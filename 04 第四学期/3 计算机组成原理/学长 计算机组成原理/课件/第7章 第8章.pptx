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7" Type="http://schemas.openxmlformats.org/officeDocument/2006/relationships/tableStyles" Target="tableStyles.xml"/><Relationship Id="rId106" Type="http://schemas.openxmlformats.org/officeDocument/2006/relationships/viewProps" Target="viewProps.xml"/><Relationship Id="rId105" Type="http://schemas.openxmlformats.org/officeDocument/2006/relationships/presProps" Target="presProps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485 646,'3'0,"0"0,0 0,0 1,-1 2,-2 0,-1 0,-2-1,0 0,0-1,0-1,0 0,0 0,6 0,0 0,0 0,0 0,0 2,-1 1,0 0,-2 0,-1 0,-2-2,0-1,0 1,0-1,0-1,1-2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520 645,'0'-3,"3"2,0 1,0 0,-1 3,-2 0,1 0,-1 0,0 0,0 0,0 0,-3-1,0 1,0-1,1 2,0-1,0-6,5 3,0 0,0 0,0 0,0 1,0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555 644,'0'3,"-1"0,1 0,-1 0,1 1,0 0,0-1,0 0,0 0,0 0,0-6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589 647,'-3'0,"0"3,2 0,1 0,0 0,0 0,0 0,2 0,1-3,0 0,0 0,0 0,-3-3,1 0,-1 0,0 0,0 0,-1 0,-1 0,-1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610 645,'-1'3,"1"0,0 0,0 0,0 0,0 0,0 0,0 0,0 0,0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610 663,'3'0,"0"0,0 0,0 0,0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629 643,'0'3,"0"0,0 0,0 0,0 0,0 0,0 0,0 0,0 0,0 0,0 0,0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597 477,'0'-3,"1"-1,1 1,-1 0,0 0,1 0,-1 0,0 0,1-2,-1 2,-1 0,1 0,-1 0,1 6,-1 0,0 1,1-1,-1 0,1 0,0 0,0 0,-1 0,0 0,1-6,-1 0,1 0,-1 0,1-1,0 1,0 0,0 0,0 0,-1 6,0 1,0-1,1 0,-1 0,1 0,0 0,-1 0,1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639 445,'-2'3,"2"0,0 0,0 0,0 0,1 0,2-3,0 0,-1-3,-2 0,1 0,-1 0,0 0,0 0,-3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647 443,'-3'-1,"0"1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657 434,'0'3,"2"0,-1 0,0 0,-1 0,0 0,0 0,0 0,0 0,0-6,1 0,-1 0,0 0,2 0,-2 0,2 0,-1 0,0 0,1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702 428,'-1'3,"1"0,0 0,-1 0,0 0,0 0,1 1,0-1,-1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704 429,'1'3,"0"0,1 0,0 0,-2 0,0 0,1 0,0 0,0 0,0 0,0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701 448,'3'0,"0"0,0-1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720 434,'1'-3,"1"0,1 3,0 0,0 0,-1 3,-2 0,1 0,-1 0,0 0,1 0,0 0,-1 0,0 0,0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745 431,'-3'1,"0"1,3 1,-3 0,3 0,-2 0,-1-1,1 1,0 0,0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753 452,'0'3,"0"0,0 0,-1 0,-2-1,0-1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774 432,'0'3,"1"0,-1 0,0 0,0 0,0 0,0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785 430,'3'-2,"0"0,0 2,0 0,-3 3,0 0,0 0,0 1,-1-1,-2-1,0 1,0-1,1 1,5-3,0 0,0 0,0 0,0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808 424,'3'0,"0"0,0 0,0 0,-2 3,-1 0,0 0,-3-1,0-1,6 0,0-1,0 3,-3 0,0 0,0 0,0 0,-3-2,0 0,0 0,0-1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812 434,'3'0,"0"0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838 423,'0'3,"0"0,0 0,-2 0,2 0,-2 0,1 0,4-3,0 0,0 0,0 0,0 0,0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842 425,'1'3,"-1"0,0 0,0 0,1 0,0 0,-1 0,1 0,-1 0,0 0,0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861 424,'0'3,"1"0,-1 0,0 0,1 0,-1 0,0 0,0 0,2 0,-1 0,-1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866 440,'3'0,"0"0,0 0,0-1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880 420,'0'3,"0"0,0 1,1-1,-1 0,1 1,-1 0,0-1,1 0,-1 0,0 0,0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213 361,'0'3,"0"0,1 0,-1 1,0 0,0-1,0 0,0 0,3-1,0-3,0 1,0-1,0 1,0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247 358,'0'3,"0"0,0 0,0 1,0-1,0 0,0 0,0 0,0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250 356,'3'0,"0"0,0 1,0 0,-1 2,-2 0,0 0,0 0,0 0,0 0,-3-1,0 1,0-1,0-1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285 354,'-1'3,"1"0,-1 1,1-1,-1 0,1 0,0 0,-1 0,1 0,-1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286 356,'1'3,"-1"0,1 0,2-1,-1 1,-1 0,0 1,1-1,-2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286 374,'3'0,"0"0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348 348,'-1'3,"1"0,0 0,0 0,-2 1,0 0,2 1,-2-2,0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352 351,'0'3,"1"0,0 0,-1 0,1 0,0 0,0 0,-1 0,0 0,2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347 368,'3'0,"0"1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658 483,'1'-3,"1"0,-1 0,-1 0,1-1,0 1,2 0,-3 0,1 0,0 0,0 0,-1 6,0 0,0 0,0 0,1 0,0 0,0 0,-1 0,1 0,0-6,-1 0,0 0,0 0,0 0,1 0,0 0,-1 0,1 6,-1 0,0 0,0 0,1 0,0 0,1 0,-1 0,0 0,-1-6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699 453,'-3'-1,"0"2,0 1,1 1,2 0,0 0,0 0,0 0,2 0,1-2,0 1,0-2,0 0,-1-3,-2 0,0 0,1 0,-1 0,0 0,0 0,0 0,-3 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713 448,'1'3,"-1"1,1-1,0 0,0 0,0 0,0 1,-1-1,1 0,0-6,-1 0,0 0,1 0,1 0,0 0,-1 0,0 0,2 1,-2-1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701 451,'3'2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761 442,'0'3,"0"0,0 0,-2 0,-1 0,3 0,-2 1,1-1,0 0,0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764 447,'0'3,"1"0,0 0,0 0,0 0,0 0,0 0,0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757 463,'3'0,"0"0,0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778 447,'3'-1,"0"-1,0 2,0 0,-1 3,-1 0,0 0,-1 0,0 0,0 0,1 0,-1 0,0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801 442,'-1'3,"0"0,-1 0,0 0,-1-1,0 0,1 1,0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807 463,'1'3,"-1"0,0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804 462,'3'0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809 470,'-1'3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809 468,'-2'3,"-1"-2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833 440,'-3'0,"0"1,0-1,3 3,3 0,-3 0,0 0,0 0,0 0,0 0,0 0,1 0,-1 0,0 0,3-4,0 0,0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845 447,'0'3,"0"0,1 0,-1 0,0 0,0 0,1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858 448,'3'-2,"-2"-1,2 3,0 2,0-2,-2 3,0 0,-1 0,0 0,-2 0,1 0,-2-1,2 1,0 0,-2-3,6 0,0-1,0 1,0 1,0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809 469,'-1'3,"-1"0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809 471,'-1'3,"0"0,0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890 445,'0'3,"0"0,0 0,0 0,0 0,0 0,0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891 457,'3'0,"0"0,0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904 441,'0'3,"0"0,0 0,0 0,0 1,0-1,0 0,0 0,0 0,0 0,0 0,0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913 445,'3'0,"0"0,-3 3,0 0,0 0,0 0,1 0,0 0,-1 0,0 0,0 0,0 0,-3-1,0-2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898 455,'3'2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905 454,'-3'0,"0"1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805 462,'1'3,"1"0,-1 0,-1 0,1-6,-1 0,0 0,-3 1,2-1,0 6,1 0,0 0,0 0,1 0,-1 0,1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805 460,'0'3,"0"0,0 0,0 0,0 0,0 0,0-7,0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804 460,'0'3,"0"0,0 0,0 0,0 0,0-7,0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804 461,'0'3,"0"0,1 1,1 0,0-1,1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809 471,'0'3,"0"0,0 0,0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809 467,'0'3,"0"0,0 0,0 0,0 0,0 0,0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807 477,'0'3,"0"0,0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808 461,'0'3,"0"0,0 0,0 0,0 0,0 0,-1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805 464,'0'3,"0"0,0 0,0 0,0 0,0 0,0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808 472,'0'3,"0"0,1 0,-1 1,0-1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807 467,'1'3,"-1"0,0 0,0 0,-3-2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804 465,'3'0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905 443,'-3'-1,"0"0,0 1,1 3,2 0,0 0,0 0,0 0,0 1,0 0,0-1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894 443,'-1'4,"1"0,0-1,0 0,0 0,0 1,0 0,0-1,0-6,0-1,0 0,0 1,-1 0,1-1,-1-1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891 443,'0'4,"0"-1,0 0,0 1,0-1,0 0,0 0,0 0,0-7,0 1,0 0,0 0,-1 0,1 0,-1-1,0 1,0 6,1 0,0 0,0 0,1 0,0 0,0 0,0 0,0-6,-1 0,0-1,0 1,0 0,0 0,0 0,0 6,0 0,0 1,0 0,0 0,0 1,0-2,0 0,0 0,1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909 431,'0'3,"0"0,0 0,0 0,1 1,1 1,0-1,-1 0,0 0,0 0,-1-1,1 0,-1-6,0 0,0 0,0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918 444,'0'3,"0"0,1 0,-1 0,0 0,1 0,-1 0,1 0,0 0,0 0,-1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923 474,'-2'-3,"1"0,1 0,0-1,0 1,-1 0,1-1,0 1,-1 0,1 0,0 6,0 0,0 0,0 0,0 0,1 1,-1-1,1 0,0 0,-1 0,1 0,-1 0,0-7,-1 1,0 0,1 0,0 0,-1-1,0 1,1 0,0 0,-1-1,1 1,-1 0,0 0,1 6,0 0,0 0,0 0,0 0,0 0,0 0,0 0,0-6,0 0,0-1,0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915 434,'0'3,"0"0,0 0,0 0,0 0,0 1,0-1,0 0,0-6,0 0,0 0,0 0,0 0,0 0,-3 1,0 2,-1 0,1-3,2 0,1 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903 440,'3'3,"0"0,-3 0,0-6,-3 1,0 0,6 0,0 3,0 0,0 0,0 0,0 0,0 0,0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901 445,'3'0,"-1"3,-1 1,1 0,-1-1,-1 0,0-6,0 0,-1 0,0 0,-2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906 444,'3'0,"0"0,0 0,0 0,0 0,0 0,-2 3,-4-2,-1 0,1 1,0 0,0-1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898 454,'3'0,"0"-2,0 0,0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904 445,'2'3,"-2"0,0 1,1-1,-1 0,0 0,0 0,0 0,0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907 457,'0'3,"0"1,0 0,0-1,0 1,0 0,0 1,0-1,0 1,0-2,0 1,0-7,0 0,0-1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907 484,'0'-3,"0"0,0 0,0-1,0 1,0 0,-1-2,1 2,-1 0,-2 1,2 6,2-1,-1 0,1 0,-1 0,1 0,0 0,0 0,-1 0,1-6,-1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904 453,'-1'-3,"1"6,0 1,0-1,0 0,0 1,0-1,1 0,0 1,-1-8,0 0,0 1,-1-1,-2 0,0 2,0-1,0 2,6 3,-2 1,2 0,0 0,-2 0,2-1,-1 1,1-1,0 2,2 0,-1-2,-1-1,-7-4,0 0,1 1,0-1,0 0,2 0,1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ffff"/>
      <inkml:brushProperty name="ignorePressure" value="0"/>
    </inkml:brush>
  </inkml:definitions>
  <inkml:trace contextRef="#ctx0" brushRef="#br0">925 475,'2'3,"-6"-4,-1-2,1 1,1 0,6 0,0 3,0 0,-1 2,0 0,-2-7,-2 1,-1 1,1-1,1 0,0 0,-1 6,2 0,3 0,0 0,0 0,-2 1,0-1,-2-6,-1 0,0 0,1 0,0 6,3 0,-1 2,-1-2,0 0,1 0,0-6,-1 0,-1-1,-1 1,1-1,1 1,-1-3,1 0,-1 2,0 1,-1-1,1 0,-1-1,1 1,0-2,0 3,-2-1,0 1,1 0,1 6,1 1,0-1,0 0,0 0,0 0,1 1,-1 3,0 1,2-1,-2-3,0 0,0 0,0 0,1 0,0 4,0-2,-1-3,0 0,1-7,-2-2,1 3,-1-1,0 0,1-2,0 1,0 0,0 1,0 0,0 1,0 6,1 2,-1-2,0 1,1-1,0 1,-1 0,0 1,2 1,-2-2,0 0,2-7,-3-2,0 1,0 1,0-1,-1-1,1 2,1 0,-1-1,1 0,-1 1,1-1,0 1,-2-1,1 1,1 6,0 1,0-1,0 0,0 0,0 0,-1 0,-2-4,3-2,-2-1,2 1,-2 0,2-1,-1 1,1 6,0 0,1 0,0 2,0-2,-1 0,1 0,-1 0,0 1,1-1,-1 0,-1-7,0 1,0 0,0 0,1 0,0 0,1 0,0 6,1 0,-1 0,2 1,-2-7,-1 0,0 0,0-2,0 2,0-1,0 1,0-1,3 2,-1 6,-2-1,1 0,0 0,0 0,-1 0,-1-7,1 0,0 1,-1 0,1-1,0 1,0-1,1 1,2 2,0 4,-3 1,1-1,0 0,0 1,1-1,-1 0,0 0,1 0,0 3,-1-2,0 1,0 1,0-3,0 0,-1 0,1 0,-1 0,-2-7,-1-3,0 2,1 2,0-1,1 1,4 5,-3 1,1 0,0 0,0 0,0 0,1 0,0 0,-2-7,-1 0,1-1,-2 2,0 0,2-1,0 1,0-1,-1 0,1 0,-1 0,0 1,-1 6,2 0,0 2,0-2,0 0,0 0,-3-2,0-1,1-3,0-3,2 1,-1 1,1 1,3 1,0 3,-3 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881 439,'3'0,"0"0,0 1,0 0,-2 2,-1 0,0 0,-3-1,0 0,0-1,6-1,0-1,0 0,-1 4,-2 0,1 0,-1 0,0 0,-3-1,0-1,0 0,0 1,3-5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918 435,'0'3,"0"0,-1 0,0 0,-1 0,-1 0,0-2,6 1,0-2,0 0,0 0,0 0,0 0,0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923 437,'0'3,"0"0,1 0,-1 0,1 1,-1-1,0 0,0 0,0 0,0 0,0 0,0 0,0 0,0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938 442,'0'3,"0"0,1 0,0 0,0 1,-1-1,0 0,0 0,0 0,0-6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944 456,'3'0,"0"0,0-2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952 439,'0'3,"1"0,-1 0,1 0,0 0,-1 0,1 0,-1 1,0-1,0 0,0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961 436,'3'2,"0"-2,0 0,0 0,-3 3,-1 0,1 0,0 0,0 0,0 0,0 0,0 0,1 0,-1 0,1 0,-2 0,-2-3,0 1,1 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682 284,'0'-3,"0"0,0 0,0-1,0 1,1-1,0 1,0 0,0 0,0 0,0 0,1 6,-2 0,1 0,1 0,-2 0,1 1,0-1,-1 0,1 0,0-6,-1 0,1-1,-1 1,1 0,0 0,0 0,-1 0,1 6,-1 0,2 0,0 1,-1-1,0 0,0 0,-1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726 254,'-3'-1,"0"1,0 0,3 3,0 0,-1 0,1 0,0 0,0 0,0 0,0 0,1 0,2-2,0-1,-1-3,-1 0,0 0,1 0,-2 0,0 0,1 0,-1 0,0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735 248,'2'3,"0"0,0 1,-2-1,0 0,2 1,-1-1,0 0,-1 0,0 0,0 0,0-6,0 0,0 0,1 0,0 0,-1 0,0 0,2 0,-1 0,0 0,1 0,-1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795 248,'-1'3,"1"0,0 0,-3 1,2 0,-1-1,0 1,0-1,1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798 252,'0'3,"0"0,1 1,0-1,0 0,0 0,0 0,-1 0,0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793 269,'3'0,"0"0,0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811 253,'0'3,"0"0,0 0,0 0,0 0,0 0,0 0,0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814 263,'3'0,"0"0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823 248,'0'3,"0"0,0 0,0 1,0 0,1 0,-1 0,1-1,-1 0,0 0,0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833 276,'3'2,"-3"1,0 0,0 0,0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856 248,'0'3,"0"1,0-1,-1 0,0 0,1 0,-1 1,1-1,0 0,-1 0,1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857 254,'1'3,"-1"0,1 0,1 0,0 0,0 0,-1 0,1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859 272,'3'0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06T13:23:3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873 254,'0'3,"0"0,0 0,0 0,0 0,0 0,0 0,0 0,0 0,3-3,0-1,0 1,0-1</inkml:trace>
</inkml:ink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0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4.png"/><Relationship Id="rId7" Type="http://schemas.openxmlformats.org/officeDocument/2006/relationships/customXml" Target="../ink/ink4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7.png"/><Relationship Id="rId13" Type="http://schemas.openxmlformats.org/officeDocument/2006/relationships/customXml" Target="../ink/ink7.xml"/><Relationship Id="rId12" Type="http://schemas.openxmlformats.org/officeDocument/2006/relationships/image" Target="../media/image6.png"/><Relationship Id="rId11" Type="http://schemas.openxmlformats.org/officeDocument/2006/relationships/customXml" Target="../ink/ink6.xml"/><Relationship Id="rId10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customXml" Target="../ink/ink12.xml"/><Relationship Id="rId8" Type="http://schemas.openxmlformats.org/officeDocument/2006/relationships/image" Target="../media/image11.png"/><Relationship Id="rId7" Type="http://schemas.openxmlformats.org/officeDocument/2006/relationships/customXml" Target="../ink/ink11.xml"/><Relationship Id="rId6" Type="http://schemas.openxmlformats.org/officeDocument/2006/relationships/image" Target="../media/image10.png"/><Relationship Id="rId5" Type="http://schemas.openxmlformats.org/officeDocument/2006/relationships/customXml" Target="../ink/ink10.xml"/><Relationship Id="rId4" Type="http://schemas.openxmlformats.org/officeDocument/2006/relationships/image" Target="../media/image9.png"/><Relationship Id="rId39" Type="http://schemas.openxmlformats.org/officeDocument/2006/relationships/slideLayout" Target="../slideLayouts/slideLayout2.xml"/><Relationship Id="rId38" Type="http://schemas.openxmlformats.org/officeDocument/2006/relationships/image" Target="../media/image26.png"/><Relationship Id="rId37" Type="http://schemas.openxmlformats.org/officeDocument/2006/relationships/customXml" Target="../ink/ink26.xml"/><Relationship Id="rId36" Type="http://schemas.openxmlformats.org/officeDocument/2006/relationships/image" Target="../media/image25.png"/><Relationship Id="rId35" Type="http://schemas.openxmlformats.org/officeDocument/2006/relationships/customXml" Target="../ink/ink25.xml"/><Relationship Id="rId34" Type="http://schemas.openxmlformats.org/officeDocument/2006/relationships/image" Target="../media/image24.png"/><Relationship Id="rId33" Type="http://schemas.openxmlformats.org/officeDocument/2006/relationships/customXml" Target="../ink/ink24.xml"/><Relationship Id="rId32" Type="http://schemas.openxmlformats.org/officeDocument/2006/relationships/image" Target="../media/image23.png"/><Relationship Id="rId31" Type="http://schemas.openxmlformats.org/officeDocument/2006/relationships/customXml" Target="../ink/ink23.xml"/><Relationship Id="rId30" Type="http://schemas.openxmlformats.org/officeDocument/2006/relationships/image" Target="../media/image22.png"/><Relationship Id="rId3" Type="http://schemas.openxmlformats.org/officeDocument/2006/relationships/customXml" Target="../ink/ink9.xml"/><Relationship Id="rId29" Type="http://schemas.openxmlformats.org/officeDocument/2006/relationships/customXml" Target="../ink/ink22.xml"/><Relationship Id="rId28" Type="http://schemas.openxmlformats.org/officeDocument/2006/relationships/image" Target="../media/image21.png"/><Relationship Id="rId27" Type="http://schemas.openxmlformats.org/officeDocument/2006/relationships/customXml" Target="../ink/ink21.xml"/><Relationship Id="rId26" Type="http://schemas.openxmlformats.org/officeDocument/2006/relationships/image" Target="../media/image20.png"/><Relationship Id="rId25" Type="http://schemas.openxmlformats.org/officeDocument/2006/relationships/customXml" Target="../ink/ink20.xml"/><Relationship Id="rId24" Type="http://schemas.openxmlformats.org/officeDocument/2006/relationships/image" Target="../media/image19.png"/><Relationship Id="rId23" Type="http://schemas.openxmlformats.org/officeDocument/2006/relationships/customXml" Target="../ink/ink19.xml"/><Relationship Id="rId22" Type="http://schemas.openxmlformats.org/officeDocument/2006/relationships/image" Target="../media/image18.png"/><Relationship Id="rId21" Type="http://schemas.openxmlformats.org/officeDocument/2006/relationships/customXml" Target="../ink/ink18.xml"/><Relationship Id="rId20" Type="http://schemas.openxmlformats.org/officeDocument/2006/relationships/image" Target="../media/image17.png"/><Relationship Id="rId2" Type="http://schemas.openxmlformats.org/officeDocument/2006/relationships/image" Target="../media/image8.png"/><Relationship Id="rId19" Type="http://schemas.openxmlformats.org/officeDocument/2006/relationships/customXml" Target="../ink/ink17.xml"/><Relationship Id="rId18" Type="http://schemas.openxmlformats.org/officeDocument/2006/relationships/image" Target="../media/image16.png"/><Relationship Id="rId17" Type="http://schemas.openxmlformats.org/officeDocument/2006/relationships/customXml" Target="../ink/ink16.xml"/><Relationship Id="rId16" Type="http://schemas.openxmlformats.org/officeDocument/2006/relationships/image" Target="../media/image15.png"/><Relationship Id="rId15" Type="http://schemas.openxmlformats.org/officeDocument/2006/relationships/customXml" Target="../ink/ink15.xml"/><Relationship Id="rId14" Type="http://schemas.openxmlformats.org/officeDocument/2006/relationships/image" Target="../media/image14.png"/><Relationship Id="rId13" Type="http://schemas.openxmlformats.org/officeDocument/2006/relationships/customXml" Target="../ink/ink14.xml"/><Relationship Id="rId12" Type="http://schemas.openxmlformats.org/officeDocument/2006/relationships/image" Target="../media/image13.png"/><Relationship Id="rId11" Type="http://schemas.openxmlformats.org/officeDocument/2006/relationships/customXml" Target="../ink/ink13.xml"/><Relationship Id="rId10" Type="http://schemas.openxmlformats.org/officeDocument/2006/relationships/image" Target="../media/image12.png"/><Relationship Id="rId1" Type="http://schemas.openxmlformats.org/officeDocument/2006/relationships/customXml" Target="../ink/ink8.xml"/></Relationships>
</file>

<file path=ppt/slides/_rels/slide20.xml.rels><?xml version="1.0" encoding="UTF-8" standalone="yes"?>
<Relationships xmlns="http://schemas.openxmlformats.org/package/2006/relationships"><Relationship Id="rId99" Type="http://schemas.openxmlformats.org/officeDocument/2006/relationships/customXml" Target="../ink/ink77.xml"/><Relationship Id="rId98" Type="http://schemas.openxmlformats.org/officeDocument/2006/relationships/image" Target="../media/image73.png"/><Relationship Id="rId97" Type="http://schemas.openxmlformats.org/officeDocument/2006/relationships/customXml" Target="../ink/ink76.xml"/><Relationship Id="rId96" Type="http://schemas.openxmlformats.org/officeDocument/2006/relationships/image" Target="../media/image72.png"/><Relationship Id="rId95" Type="http://schemas.openxmlformats.org/officeDocument/2006/relationships/customXml" Target="../ink/ink75.xml"/><Relationship Id="rId94" Type="http://schemas.openxmlformats.org/officeDocument/2006/relationships/image" Target="../media/image71.png"/><Relationship Id="rId93" Type="http://schemas.openxmlformats.org/officeDocument/2006/relationships/customXml" Target="../ink/ink74.xml"/><Relationship Id="rId92" Type="http://schemas.openxmlformats.org/officeDocument/2006/relationships/image" Target="../media/image70.png"/><Relationship Id="rId91" Type="http://schemas.openxmlformats.org/officeDocument/2006/relationships/customXml" Target="../ink/ink73.xml"/><Relationship Id="rId90" Type="http://schemas.openxmlformats.org/officeDocument/2006/relationships/image" Target="../media/image69.png"/><Relationship Id="rId9" Type="http://schemas.openxmlformats.org/officeDocument/2006/relationships/customXml" Target="../ink/ink31.xml"/><Relationship Id="rId89" Type="http://schemas.openxmlformats.org/officeDocument/2006/relationships/customXml" Target="../ink/ink72.xml"/><Relationship Id="rId88" Type="http://schemas.openxmlformats.org/officeDocument/2006/relationships/customXml" Target="../ink/ink71.xml"/><Relationship Id="rId87" Type="http://schemas.openxmlformats.org/officeDocument/2006/relationships/image" Target="../media/image68.png"/><Relationship Id="rId86" Type="http://schemas.openxmlformats.org/officeDocument/2006/relationships/customXml" Target="../ink/ink70.xml"/><Relationship Id="rId85" Type="http://schemas.openxmlformats.org/officeDocument/2006/relationships/image" Target="../media/image67.png"/><Relationship Id="rId84" Type="http://schemas.openxmlformats.org/officeDocument/2006/relationships/customXml" Target="../ink/ink69.xml"/><Relationship Id="rId83" Type="http://schemas.openxmlformats.org/officeDocument/2006/relationships/customXml" Target="../ink/ink68.xml"/><Relationship Id="rId82" Type="http://schemas.openxmlformats.org/officeDocument/2006/relationships/image" Target="../media/image66.png"/><Relationship Id="rId81" Type="http://schemas.openxmlformats.org/officeDocument/2006/relationships/customXml" Target="../ink/ink67.xml"/><Relationship Id="rId80" Type="http://schemas.openxmlformats.org/officeDocument/2006/relationships/image" Target="../media/image65.png"/><Relationship Id="rId8" Type="http://schemas.openxmlformats.org/officeDocument/2006/relationships/image" Target="../media/image30.png"/><Relationship Id="rId79" Type="http://schemas.openxmlformats.org/officeDocument/2006/relationships/customXml" Target="../ink/ink66.xml"/><Relationship Id="rId78" Type="http://schemas.openxmlformats.org/officeDocument/2006/relationships/image" Target="../media/image64.png"/><Relationship Id="rId77" Type="http://schemas.openxmlformats.org/officeDocument/2006/relationships/customXml" Target="../ink/ink65.xml"/><Relationship Id="rId76" Type="http://schemas.openxmlformats.org/officeDocument/2006/relationships/image" Target="../media/image63.png"/><Relationship Id="rId75" Type="http://schemas.openxmlformats.org/officeDocument/2006/relationships/customXml" Target="../ink/ink64.xml"/><Relationship Id="rId74" Type="http://schemas.openxmlformats.org/officeDocument/2006/relationships/image" Target="../media/image62.png"/><Relationship Id="rId73" Type="http://schemas.openxmlformats.org/officeDocument/2006/relationships/customXml" Target="../ink/ink63.xml"/><Relationship Id="rId72" Type="http://schemas.openxmlformats.org/officeDocument/2006/relationships/image" Target="../media/image61.png"/><Relationship Id="rId71" Type="http://schemas.openxmlformats.org/officeDocument/2006/relationships/customXml" Target="../ink/ink62.xml"/><Relationship Id="rId70" Type="http://schemas.openxmlformats.org/officeDocument/2006/relationships/image" Target="../media/image60.png"/><Relationship Id="rId7" Type="http://schemas.openxmlformats.org/officeDocument/2006/relationships/customXml" Target="../ink/ink30.xml"/><Relationship Id="rId69" Type="http://schemas.openxmlformats.org/officeDocument/2006/relationships/customXml" Target="../ink/ink61.xml"/><Relationship Id="rId68" Type="http://schemas.openxmlformats.org/officeDocument/2006/relationships/image" Target="../media/image59.png"/><Relationship Id="rId67" Type="http://schemas.openxmlformats.org/officeDocument/2006/relationships/customXml" Target="../ink/ink60.xml"/><Relationship Id="rId66" Type="http://schemas.openxmlformats.org/officeDocument/2006/relationships/image" Target="../media/image58.png"/><Relationship Id="rId65" Type="http://schemas.openxmlformats.org/officeDocument/2006/relationships/customXml" Target="../ink/ink59.xml"/><Relationship Id="rId64" Type="http://schemas.openxmlformats.org/officeDocument/2006/relationships/image" Target="../media/image57.png"/><Relationship Id="rId63" Type="http://schemas.openxmlformats.org/officeDocument/2006/relationships/customXml" Target="../ink/ink58.xml"/><Relationship Id="rId62" Type="http://schemas.openxmlformats.org/officeDocument/2006/relationships/image" Target="../media/image56.png"/><Relationship Id="rId61" Type="http://schemas.openxmlformats.org/officeDocument/2006/relationships/customXml" Target="../ink/ink57.xml"/><Relationship Id="rId60" Type="http://schemas.openxmlformats.org/officeDocument/2006/relationships/image" Target="../media/image55.png"/><Relationship Id="rId6" Type="http://schemas.openxmlformats.org/officeDocument/2006/relationships/image" Target="../media/image29.png"/><Relationship Id="rId59" Type="http://schemas.openxmlformats.org/officeDocument/2006/relationships/customXml" Target="../ink/ink56.xml"/><Relationship Id="rId58" Type="http://schemas.openxmlformats.org/officeDocument/2006/relationships/image" Target="../media/image54.png"/><Relationship Id="rId57" Type="http://schemas.openxmlformats.org/officeDocument/2006/relationships/customXml" Target="../ink/ink55.xml"/><Relationship Id="rId56" Type="http://schemas.openxmlformats.org/officeDocument/2006/relationships/image" Target="../media/image53.png"/><Relationship Id="rId55" Type="http://schemas.openxmlformats.org/officeDocument/2006/relationships/customXml" Target="../ink/ink54.xml"/><Relationship Id="rId54" Type="http://schemas.openxmlformats.org/officeDocument/2006/relationships/image" Target="../media/image52.png"/><Relationship Id="rId53" Type="http://schemas.openxmlformats.org/officeDocument/2006/relationships/customXml" Target="../ink/ink53.xml"/><Relationship Id="rId52" Type="http://schemas.openxmlformats.org/officeDocument/2006/relationships/image" Target="../media/image51.png"/><Relationship Id="rId51" Type="http://schemas.openxmlformats.org/officeDocument/2006/relationships/customXml" Target="../ink/ink52.xml"/><Relationship Id="rId50" Type="http://schemas.openxmlformats.org/officeDocument/2006/relationships/image" Target="../media/image50.png"/><Relationship Id="rId5" Type="http://schemas.openxmlformats.org/officeDocument/2006/relationships/customXml" Target="../ink/ink29.xml"/><Relationship Id="rId49" Type="http://schemas.openxmlformats.org/officeDocument/2006/relationships/customXml" Target="../ink/ink51.xml"/><Relationship Id="rId48" Type="http://schemas.openxmlformats.org/officeDocument/2006/relationships/image" Target="../media/image49.png"/><Relationship Id="rId47" Type="http://schemas.openxmlformats.org/officeDocument/2006/relationships/customXml" Target="../ink/ink50.xml"/><Relationship Id="rId46" Type="http://schemas.openxmlformats.org/officeDocument/2006/relationships/image" Target="../media/image48.png"/><Relationship Id="rId45" Type="http://schemas.openxmlformats.org/officeDocument/2006/relationships/customXml" Target="../ink/ink49.xml"/><Relationship Id="rId44" Type="http://schemas.openxmlformats.org/officeDocument/2006/relationships/image" Target="../media/image47.png"/><Relationship Id="rId43" Type="http://schemas.openxmlformats.org/officeDocument/2006/relationships/customXml" Target="../ink/ink48.xml"/><Relationship Id="rId42" Type="http://schemas.openxmlformats.org/officeDocument/2006/relationships/image" Target="../media/image46.png"/><Relationship Id="rId41" Type="http://schemas.openxmlformats.org/officeDocument/2006/relationships/customXml" Target="../ink/ink47.xml"/><Relationship Id="rId40" Type="http://schemas.openxmlformats.org/officeDocument/2006/relationships/image" Target="../media/image45.png"/><Relationship Id="rId4" Type="http://schemas.openxmlformats.org/officeDocument/2006/relationships/image" Target="../media/image28.png"/><Relationship Id="rId39" Type="http://schemas.openxmlformats.org/officeDocument/2006/relationships/customXml" Target="../ink/ink46.xml"/><Relationship Id="rId38" Type="http://schemas.openxmlformats.org/officeDocument/2006/relationships/image" Target="../media/image44.png"/><Relationship Id="rId37" Type="http://schemas.openxmlformats.org/officeDocument/2006/relationships/customXml" Target="../ink/ink45.xml"/><Relationship Id="rId36" Type="http://schemas.openxmlformats.org/officeDocument/2006/relationships/image" Target="../media/image43.png"/><Relationship Id="rId35" Type="http://schemas.openxmlformats.org/officeDocument/2006/relationships/customXml" Target="../ink/ink44.xml"/><Relationship Id="rId34" Type="http://schemas.openxmlformats.org/officeDocument/2006/relationships/image" Target="../media/image42.png"/><Relationship Id="rId33" Type="http://schemas.openxmlformats.org/officeDocument/2006/relationships/customXml" Target="../ink/ink43.xml"/><Relationship Id="rId32" Type="http://schemas.openxmlformats.org/officeDocument/2006/relationships/image" Target="../media/image41.png"/><Relationship Id="rId31" Type="http://schemas.openxmlformats.org/officeDocument/2006/relationships/customXml" Target="../ink/ink42.xml"/><Relationship Id="rId30" Type="http://schemas.openxmlformats.org/officeDocument/2006/relationships/image" Target="../media/image40.png"/><Relationship Id="rId3" Type="http://schemas.openxmlformats.org/officeDocument/2006/relationships/customXml" Target="../ink/ink28.xml"/><Relationship Id="rId29" Type="http://schemas.openxmlformats.org/officeDocument/2006/relationships/customXml" Target="../ink/ink41.xml"/><Relationship Id="rId28" Type="http://schemas.openxmlformats.org/officeDocument/2006/relationships/image" Target="../media/image39.png"/><Relationship Id="rId27" Type="http://schemas.openxmlformats.org/officeDocument/2006/relationships/customXml" Target="../ink/ink40.xml"/><Relationship Id="rId26" Type="http://schemas.openxmlformats.org/officeDocument/2006/relationships/image" Target="../media/image38.png"/><Relationship Id="rId25" Type="http://schemas.openxmlformats.org/officeDocument/2006/relationships/customXml" Target="../ink/ink39.xml"/><Relationship Id="rId24" Type="http://schemas.openxmlformats.org/officeDocument/2006/relationships/image" Target="../media/image37.png"/><Relationship Id="rId23" Type="http://schemas.openxmlformats.org/officeDocument/2006/relationships/customXml" Target="../ink/ink38.xml"/><Relationship Id="rId22" Type="http://schemas.openxmlformats.org/officeDocument/2006/relationships/image" Target="../media/image36.png"/><Relationship Id="rId21" Type="http://schemas.openxmlformats.org/officeDocument/2006/relationships/customXml" Target="../ink/ink37.xml"/><Relationship Id="rId20" Type="http://schemas.openxmlformats.org/officeDocument/2006/relationships/image" Target="../media/image35.png"/><Relationship Id="rId2" Type="http://schemas.openxmlformats.org/officeDocument/2006/relationships/image" Target="../media/image27.png"/><Relationship Id="rId19" Type="http://schemas.openxmlformats.org/officeDocument/2006/relationships/customXml" Target="../ink/ink36.xml"/><Relationship Id="rId18" Type="http://schemas.openxmlformats.org/officeDocument/2006/relationships/image" Target="../media/image34.png"/><Relationship Id="rId17" Type="http://schemas.openxmlformats.org/officeDocument/2006/relationships/customXml" Target="../ink/ink35.xml"/><Relationship Id="rId16" Type="http://schemas.openxmlformats.org/officeDocument/2006/relationships/image" Target="../media/image33.png"/><Relationship Id="rId15" Type="http://schemas.openxmlformats.org/officeDocument/2006/relationships/customXml" Target="../ink/ink34.xml"/><Relationship Id="rId14" Type="http://schemas.openxmlformats.org/officeDocument/2006/relationships/image" Target="../media/image32.png"/><Relationship Id="rId135" Type="http://schemas.openxmlformats.org/officeDocument/2006/relationships/slideLayout" Target="../slideLayouts/slideLayout7.xml"/><Relationship Id="rId134" Type="http://schemas.openxmlformats.org/officeDocument/2006/relationships/image" Target="../media/image91.png"/><Relationship Id="rId133" Type="http://schemas.openxmlformats.org/officeDocument/2006/relationships/customXml" Target="../ink/ink94.xml"/><Relationship Id="rId132" Type="http://schemas.openxmlformats.org/officeDocument/2006/relationships/image" Target="../media/image90.png"/><Relationship Id="rId131" Type="http://schemas.openxmlformats.org/officeDocument/2006/relationships/customXml" Target="../ink/ink93.xml"/><Relationship Id="rId130" Type="http://schemas.openxmlformats.org/officeDocument/2006/relationships/image" Target="../media/image89.png"/><Relationship Id="rId13" Type="http://schemas.openxmlformats.org/officeDocument/2006/relationships/customXml" Target="../ink/ink33.xml"/><Relationship Id="rId129" Type="http://schemas.openxmlformats.org/officeDocument/2006/relationships/customXml" Target="../ink/ink92.xml"/><Relationship Id="rId128" Type="http://schemas.openxmlformats.org/officeDocument/2006/relationships/image" Target="../media/image88.png"/><Relationship Id="rId127" Type="http://schemas.openxmlformats.org/officeDocument/2006/relationships/customXml" Target="../ink/ink91.xml"/><Relationship Id="rId126" Type="http://schemas.openxmlformats.org/officeDocument/2006/relationships/image" Target="../media/image87.png"/><Relationship Id="rId125" Type="http://schemas.openxmlformats.org/officeDocument/2006/relationships/customXml" Target="../ink/ink90.xml"/><Relationship Id="rId124" Type="http://schemas.openxmlformats.org/officeDocument/2006/relationships/image" Target="../media/image86.png"/><Relationship Id="rId123" Type="http://schemas.openxmlformats.org/officeDocument/2006/relationships/customXml" Target="../ink/ink89.xml"/><Relationship Id="rId122" Type="http://schemas.openxmlformats.org/officeDocument/2006/relationships/image" Target="../media/image85.png"/><Relationship Id="rId121" Type="http://schemas.openxmlformats.org/officeDocument/2006/relationships/customXml" Target="../ink/ink88.xml"/><Relationship Id="rId120" Type="http://schemas.openxmlformats.org/officeDocument/2006/relationships/image" Target="../media/image84.png"/><Relationship Id="rId12" Type="http://schemas.openxmlformats.org/officeDocument/2006/relationships/image" Target="../media/image21.png"/><Relationship Id="rId119" Type="http://schemas.openxmlformats.org/officeDocument/2006/relationships/customXml" Target="../ink/ink87.xml"/><Relationship Id="rId118" Type="http://schemas.openxmlformats.org/officeDocument/2006/relationships/image" Target="../media/image83.png"/><Relationship Id="rId117" Type="http://schemas.openxmlformats.org/officeDocument/2006/relationships/customXml" Target="../ink/ink86.xml"/><Relationship Id="rId116" Type="http://schemas.openxmlformats.org/officeDocument/2006/relationships/image" Target="../media/image82.png"/><Relationship Id="rId115" Type="http://schemas.openxmlformats.org/officeDocument/2006/relationships/customXml" Target="../ink/ink85.xml"/><Relationship Id="rId114" Type="http://schemas.openxmlformats.org/officeDocument/2006/relationships/image" Target="../media/image81.png"/><Relationship Id="rId113" Type="http://schemas.openxmlformats.org/officeDocument/2006/relationships/customXml" Target="../ink/ink84.xml"/><Relationship Id="rId112" Type="http://schemas.openxmlformats.org/officeDocument/2006/relationships/image" Target="../media/image80.png"/><Relationship Id="rId111" Type="http://schemas.openxmlformats.org/officeDocument/2006/relationships/customXml" Target="../ink/ink83.xml"/><Relationship Id="rId110" Type="http://schemas.openxmlformats.org/officeDocument/2006/relationships/image" Target="../media/image79.png"/><Relationship Id="rId11" Type="http://schemas.openxmlformats.org/officeDocument/2006/relationships/customXml" Target="../ink/ink32.xml"/><Relationship Id="rId109" Type="http://schemas.openxmlformats.org/officeDocument/2006/relationships/customXml" Target="../ink/ink82.xml"/><Relationship Id="rId108" Type="http://schemas.openxmlformats.org/officeDocument/2006/relationships/image" Target="../media/image78.png"/><Relationship Id="rId107" Type="http://schemas.openxmlformats.org/officeDocument/2006/relationships/customXml" Target="../ink/ink81.xml"/><Relationship Id="rId106" Type="http://schemas.openxmlformats.org/officeDocument/2006/relationships/image" Target="../media/image77.png"/><Relationship Id="rId105" Type="http://schemas.openxmlformats.org/officeDocument/2006/relationships/customXml" Target="../ink/ink80.xml"/><Relationship Id="rId104" Type="http://schemas.openxmlformats.org/officeDocument/2006/relationships/image" Target="../media/image76.png"/><Relationship Id="rId103" Type="http://schemas.openxmlformats.org/officeDocument/2006/relationships/customXml" Target="../ink/ink79.xml"/><Relationship Id="rId102" Type="http://schemas.openxmlformats.org/officeDocument/2006/relationships/image" Target="../media/image75.png"/><Relationship Id="rId101" Type="http://schemas.openxmlformats.org/officeDocument/2006/relationships/customXml" Target="../ink/ink78.xml"/><Relationship Id="rId100" Type="http://schemas.openxmlformats.org/officeDocument/2006/relationships/image" Target="../media/image74.png"/><Relationship Id="rId10" Type="http://schemas.openxmlformats.org/officeDocument/2006/relationships/image" Target="../media/image31.png"/><Relationship Id="rId1" Type="http://schemas.openxmlformats.org/officeDocument/2006/relationships/customXml" Target="../ink/ink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customXml" Target="../ink/ink99.xml"/><Relationship Id="rId8" Type="http://schemas.openxmlformats.org/officeDocument/2006/relationships/image" Target="../media/image95.png"/><Relationship Id="rId7" Type="http://schemas.openxmlformats.org/officeDocument/2006/relationships/customXml" Target="../ink/ink98.xml"/><Relationship Id="rId6" Type="http://schemas.openxmlformats.org/officeDocument/2006/relationships/image" Target="../media/image94.png"/><Relationship Id="rId5" Type="http://schemas.openxmlformats.org/officeDocument/2006/relationships/customXml" Target="../ink/ink97.xml"/><Relationship Id="rId4" Type="http://schemas.openxmlformats.org/officeDocument/2006/relationships/image" Target="../media/image93.png"/><Relationship Id="rId3" Type="http://schemas.openxmlformats.org/officeDocument/2006/relationships/customXml" Target="../ink/ink96.xml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02.png"/><Relationship Id="rId27" Type="http://schemas.openxmlformats.org/officeDocument/2006/relationships/customXml" Target="../ink/ink108.xml"/><Relationship Id="rId26" Type="http://schemas.openxmlformats.org/officeDocument/2006/relationships/image" Target="../media/image45.png"/><Relationship Id="rId25" Type="http://schemas.openxmlformats.org/officeDocument/2006/relationships/customXml" Target="../ink/ink107.xml"/><Relationship Id="rId24" Type="http://schemas.openxmlformats.org/officeDocument/2006/relationships/image" Target="../media/image101.png"/><Relationship Id="rId23" Type="http://schemas.openxmlformats.org/officeDocument/2006/relationships/customXml" Target="../ink/ink106.xml"/><Relationship Id="rId22" Type="http://schemas.openxmlformats.org/officeDocument/2006/relationships/image" Target="../media/image100.png"/><Relationship Id="rId21" Type="http://schemas.openxmlformats.org/officeDocument/2006/relationships/customXml" Target="../ink/ink105.xml"/><Relationship Id="rId20" Type="http://schemas.openxmlformats.org/officeDocument/2006/relationships/image" Target="../media/image99.png"/><Relationship Id="rId2" Type="http://schemas.openxmlformats.org/officeDocument/2006/relationships/image" Target="../media/image92.png"/><Relationship Id="rId19" Type="http://schemas.openxmlformats.org/officeDocument/2006/relationships/customXml" Target="../ink/ink104.xml"/><Relationship Id="rId18" Type="http://schemas.openxmlformats.org/officeDocument/2006/relationships/image" Target="../media/image98.png"/><Relationship Id="rId17" Type="http://schemas.openxmlformats.org/officeDocument/2006/relationships/customXml" Target="../ink/ink103.xml"/><Relationship Id="rId16" Type="http://schemas.openxmlformats.org/officeDocument/2006/relationships/image" Target="../media/image21.png"/><Relationship Id="rId15" Type="http://schemas.openxmlformats.org/officeDocument/2006/relationships/customXml" Target="../ink/ink102.xml"/><Relationship Id="rId14" Type="http://schemas.openxmlformats.org/officeDocument/2006/relationships/image" Target="../media/image97.png"/><Relationship Id="rId13" Type="http://schemas.openxmlformats.org/officeDocument/2006/relationships/customXml" Target="../ink/ink101.xml"/><Relationship Id="rId12" Type="http://schemas.openxmlformats.org/officeDocument/2006/relationships/image" Target="../media/image54.png"/><Relationship Id="rId11" Type="http://schemas.openxmlformats.org/officeDocument/2006/relationships/customXml" Target="../ink/ink100.xml"/><Relationship Id="rId10" Type="http://schemas.openxmlformats.org/officeDocument/2006/relationships/image" Target="../media/image96.png"/><Relationship Id="rId1" Type="http://schemas.openxmlformats.org/officeDocument/2006/relationships/customXml" Target="../ink/ink9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68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9906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zh-CN" altLang="en-US" b="1" dirty="0"/>
              <a:t>第７章   指 令 系 统</a:t>
            </a:r>
            <a:endParaRPr lang="zh-CN" altLang="en-US" b="1" dirty="0"/>
          </a:p>
        </p:txBody>
      </p:sp>
      <p:grpSp>
        <p:nvGrpSpPr>
          <p:cNvPr id="379907" name="Group 3"/>
          <p:cNvGrpSpPr/>
          <p:nvPr/>
        </p:nvGrpSpPr>
        <p:grpSpPr>
          <a:xfrm>
            <a:off x="4371975" y="1543050"/>
            <a:ext cx="5059363" cy="4329113"/>
            <a:chOff x="470" y="972"/>
            <a:chExt cx="3187" cy="2727"/>
          </a:xfrm>
        </p:grpSpPr>
        <p:sp>
          <p:nvSpPr>
            <p:cNvPr id="379910" name="Text Box 4"/>
            <p:cNvSpPr txBox="1"/>
            <p:nvPr/>
          </p:nvSpPr>
          <p:spPr>
            <a:xfrm>
              <a:off x="470" y="972"/>
              <a:ext cx="165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7.1 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机器指令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911" name="Text Box 5"/>
            <p:cNvSpPr txBox="1"/>
            <p:nvPr/>
          </p:nvSpPr>
          <p:spPr>
            <a:xfrm>
              <a:off x="470" y="1561"/>
              <a:ext cx="318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7.2 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操作数类型和操作类型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912" name="Text Box 6"/>
            <p:cNvSpPr txBox="1"/>
            <p:nvPr/>
          </p:nvSpPr>
          <p:spPr>
            <a:xfrm>
              <a:off x="470" y="2151"/>
              <a:ext cx="165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7.3 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寻址方式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913" name="Text Box 7"/>
            <p:cNvSpPr txBox="1"/>
            <p:nvPr/>
          </p:nvSpPr>
          <p:spPr>
            <a:xfrm>
              <a:off x="470" y="2741"/>
              <a:ext cx="216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7.4 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指令格式举例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914" name="Text Box 8"/>
            <p:cNvSpPr txBox="1"/>
            <p:nvPr/>
          </p:nvSpPr>
          <p:spPr>
            <a:xfrm>
              <a:off x="470" y="3331"/>
              <a:ext cx="181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7.5  RISC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技术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9908" name="AutoShape 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990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0930" name="Rectangle 2"/>
          <p:cNvSpPr>
            <a:spLocks noGrp="1"/>
          </p:cNvSpPr>
          <p:nvPr>
            <p:ph type="title"/>
          </p:nvPr>
        </p:nvSpPr>
        <p:spPr>
          <a:xfrm>
            <a:off x="2133600" y="762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7.1  </a:t>
            </a:r>
            <a:r>
              <a:rPr lang="zh-CN" altLang="en-US" b="1" dirty="0"/>
              <a:t>机 器 指 令</a:t>
            </a:r>
            <a:endParaRPr lang="zh-CN" altLang="en-US" b="1" dirty="0"/>
          </a:p>
        </p:txBody>
      </p:sp>
      <p:sp>
        <p:nvSpPr>
          <p:cNvPr id="380931" name="Text Box 3"/>
          <p:cNvSpPr txBox="1"/>
          <p:nvPr/>
        </p:nvSpPr>
        <p:spPr>
          <a:xfrm>
            <a:off x="1905000" y="1166813"/>
            <a:ext cx="3840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一、指令的一般格式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80932" name="Group 4"/>
          <p:cNvGrpSpPr/>
          <p:nvPr/>
        </p:nvGrpSpPr>
        <p:grpSpPr>
          <a:xfrm>
            <a:off x="3565525" y="1905000"/>
            <a:ext cx="3673475" cy="460375"/>
            <a:chOff x="1190" y="1344"/>
            <a:chExt cx="2314" cy="290"/>
          </a:xfrm>
        </p:grpSpPr>
        <p:sp>
          <p:nvSpPr>
            <p:cNvPr id="380944" name="Text Box 5"/>
            <p:cNvSpPr txBox="1"/>
            <p:nvPr/>
          </p:nvSpPr>
          <p:spPr>
            <a:xfrm>
              <a:off x="1190" y="1344"/>
              <a:ext cx="217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操作码字段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   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地址码字段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0945" name="Rectangle 6"/>
            <p:cNvSpPr/>
            <p:nvPr/>
          </p:nvSpPr>
          <p:spPr>
            <a:xfrm>
              <a:off x="1200" y="1344"/>
              <a:ext cx="2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0946" name="Line 7"/>
            <p:cNvSpPr/>
            <p:nvPr/>
          </p:nvSpPr>
          <p:spPr>
            <a:xfrm>
              <a:off x="2304" y="134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0933" name="Text Box 8"/>
          <p:cNvSpPr txBox="1"/>
          <p:nvPr/>
        </p:nvSpPr>
        <p:spPr>
          <a:xfrm>
            <a:off x="2727325" y="2643188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000" b="1" dirty="0">
                <a:latin typeface="Times New Roman" panose="02020603050405020304" pitchFamily="18" charset="0"/>
              </a:rPr>
              <a:t>1. </a:t>
            </a:r>
            <a:r>
              <a:rPr lang="zh-CN" altLang="en-US" sz="3000" b="1" dirty="0">
                <a:latin typeface="Times New Roman" panose="02020603050405020304" pitchFamily="18" charset="0"/>
              </a:rPr>
              <a:t>操作码</a:t>
            </a:r>
            <a:endParaRPr lang="zh-CN" altLang="en-US" sz="3000" b="1" dirty="0">
              <a:latin typeface="Times New Roman" panose="02020603050405020304" pitchFamily="18" charset="0"/>
            </a:endParaRPr>
          </a:p>
        </p:txBody>
      </p:sp>
      <p:sp>
        <p:nvSpPr>
          <p:cNvPr id="380934" name="Text Box 9"/>
          <p:cNvSpPr txBox="1"/>
          <p:nvPr/>
        </p:nvSpPr>
        <p:spPr>
          <a:xfrm>
            <a:off x="4632325" y="2625725"/>
            <a:ext cx="5349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反映机器做什么操作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0935" name="Text Box 10"/>
          <p:cNvSpPr txBox="1"/>
          <p:nvPr/>
        </p:nvSpPr>
        <p:spPr>
          <a:xfrm>
            <a:off x="3048000" y="3332163"/>
            <a:ext cx="312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(1)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长度固定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0936" name="Text Box 11"/>
          <p:cNvSpPr txBox="1"/>
          <p:nvPr/>
        </p:nvSpPr>
        <p:spPr>
          <a:xfrm>
            <a:off x="3048000" y="5330825"/>
            <a:ext cx="21082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(2)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长度可变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0937" name="Text Box 12"/>
          <p:cNvSpPr txBox="1"/>
          <p:nvPr/>
        </p:nvSpPr>
        <p:spPr>
          <a:xfrm>
            <a:off x="3525838" y="3976688"/>
            <a:ext cx="4094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用于指令字长较长的情况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0938" name="Text Box 13"/>
          <p:cNvSpPr txBox="1"/>
          <p:nvPr/>
        </p:nvSpPr>
        <p:spPr>
          <a:xfrm>
            <a:off x="7620000" y="3998913"/>
            <a:ext cx="13874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>RISC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80939" name="Text Box 14"/>
          <p:cNvSpPr txBox="1"/>
          <p:nvPr/>
        </p:nvSpPr>
        <p:spPr>
          <a:xfrm>
            <a:off x="3525838" y="4664075"/>
            <a:ext cx="27225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如  </a:t>
            </a:r>
            <a:r>
              <a:rPr lang="en-US" altLang="zh-CN" sz="2800" b="1" dirty="0">
                <a:latin typeface="Times New Roman" panose="02020603050405020304" pitchFamily="18" charset="0"/>
              </a:rPr>
              <a:t>IBM  370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80940" name="Text Box 15"/>
          <p:cNvSpPr txBox="1"/>
          <p:nvPr/>
        </p:nvSpPr>
        <p:spPr>
          <a:xfrm>
            <a:off x="5784850" y="4664075"/>
            <a:ext cx="2138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操作码  </a:t>
            </a:r>
            <a:r>
              <a:rPr lang="en-US" altLang="zh-CN" sz="2800" b="1" dirty="0">
                <a:latin typeface="Times New Roman" panose="02020603050405020304" pitchFamily="18" charset="0"/>
              </a:rPr>
              <a:t>8 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0941" name="Text Box 16"/>
          <p:cNvSpPr txBox="1"/>
          <p:nvPr/>
        </p:nvSpPr>
        <p:spPr>
          <a:xfrm>
            <a:off x="3525838" y="5997575"/>
            <a:ext cx="5516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操作码分散在指令字的不同字段中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0942" name="AutoShape 1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094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1954" name="Text Box 2"/>
          <p:cNvSpPr txBox="1"/>
          <p:nvPr/>
        </p:nvSpPr>
        <p:spPr>
          <a:xfrm>
            <a:off x="1828800" y="144463"/>
            <a:ext cx="40309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latin typeface="Times New Roman" panose="02020603050405020304" pitchFamily="18" charset="0"/>
              </a:rPr>
              <a:t>扩展操作码技术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81955" name="Text Box 3"/>
          <p:cNvSpPr txBox="1"/>
          <p:nvPr/>
        </p:nvSpPr>
        <p:spPr>
          <a:xfrm>
            <a:off x="2362200" y="762000"/>
            <a:ext cx="66135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操作码的位数随地址数的减少而增加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81956" name="Group 4"/>
          <p:cNvGrpSpPr/>
          <p:nvPr/>
        </p:nvGrpSpPr>
        <p:grpSpPr>
          <a:xfrm>
            <a:off x="4276725" y="1295400"/>
            <a:ext cx="3114675" cy="460375"/>
            <a:chOff x="1686" y="1056"/>
            <a:chExt cx="1920" cy="290"/>
          </a:xfrm>
        </p:grpSpPr>
        <p:sp>
          <p:nvSpPr>
            <p:cNvPr id="382040" name="Text Box 5"/>
            <p:cNvSpPr txBox="1"/>
            <p:nvPr/>
          </p:nvSpPr>
          <p:spPr>
            <a:xfrm>
              <a:off x="1736" y="1056"/>
              <a:ext cx="37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OP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41" name="Text Box 6"/>
            <p:cNvSpPr txBox="1"/>
            <p:nvPr/>
          </p:nvSpPr>
          <p:spPr>
            <a:xfrm>
              <a:off x="2214" y="1056"/>
              <a:ext cx="34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42" name="Text Box 7"/>
            <p:cNvSpPr txBox="1"/>
            <p:nvPr/>
          </p:nvSpPr>
          <p:spPr>
            <a:xfrm>
              <a:off x="2711" y="1056"/>
              <a:ext cx="34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43" name="Text Box 8"/>
            <p:cNvSpPr txBox="1"/>
            <p:nvPr/>
          </p:nvSpPr>
          <p:spPr>
            <a:xfrm>
              <a:off x="3174" y="1056"/>
              <a:ext cx="34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44" name="Rectangle 9"/>
            <p:cNvSpPr/>
            <p:nvPr/>
          </p:nvSpPr>
          <p:spPr>
            <a:xfrm>
              <a:off x="1686" y="10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2045" name="Rectangle 10"/>
            <p:cNvSpPr/>
            <p:nvPr/>
          </p:nvSpPr>
          <p:spPr>
            <a:xfrm>
              <a:off x="2168" y="10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2046" name="Rectangle 11"/>
            <p:cNvSpPr/>
            <p:nvPr/>
          </p:nvSpPr>
          <p:spPr>
            <a:xfrm>
              <a:off x="2646" y="10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2047" name="Rectangle 12"/>
            <p:cNvSpPr/>
            <p:nvPr/>
          </p:nvSpPr>
          <p:spPr>
            <a:xfrm>
              <a:off x="3128" y="10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81957" name="Group 13"/>
          <p:cNvGrpSpPr/>
          <p:nvPr/>
        </p:nvGrpSpPr>
        <p:grpSpPr>
          <a:xfrm>
            <a:off x="4276725" y="1905000"/>
            <a:ext cx="3124200" cy="1144588"/>
            <a:chOff x="1686" y="1200"/>
            <a:chExt cx="1968" cy="721"/>
          </a:xfrm>
        </p:grpSpPr>
        <p:sp>
          <p:nvSpPr>
            <p:cNvPr id="382023" name="Rectangle 14"/>
            <p:cNvSpPr/>
            <p:nvPr/>
          </p:nvSpPr>
          <p:spPr>
            <a:xfrm>
              <a:off x="1686" y="1210"/>
              <a:ext cx="196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2024" name="Text Box 15"/>
            <p:cNvSpPr txBox="1"/>
            <p:nvPr/>
          </p:nvSpPr>
          <p:spPr>
            <a:xfrm>
              <a:off x="1734" y="1200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25" name="Text Box 16"/>
            <p:cNvSpPr txBox="1"/>
            <p:nvPr/>
          </p:nvSpPr>
          <p:spPr>
            <a:xfrm>
              <a:off x="1734" y="1354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26" name="Text Box 17"/>
            <p:cNvSpPr txBox="1"/>
            <p:nvPr/>
          </p:nvSpPr>
          <p:spPr>
            <a:xfrm>
              <a:off x="1734" y="1670"/>
              <a:ext cx="41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27" name="Text Box 18"/>
            <p:cNvSpPr txBox="1"/>
            <p:nvPr/>
          </p:nvSpPr>
          <p:spPr>
            <a:xfrm>
              <a:off x="1809" y="1536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28" name="Text Box 19"/>
            <p:cNvSpPr txBox="1"/>
            <p:nvPr/>
          </p:nvSpPr>
          <p:spPr>
            <a:xfrm>
              <a:off x="2310" y="120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29" name="Text Box 20"/>
            <p:cNvSpPr txBox="1"/>
            <p:nvPr/>
          </p:nvSpPr>
          <p:spPr>
            <a:xfrm>
              <a:off x="2310" y="1344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0" name="Text Box 21"/>
            <p:cNvSpPr txBox="1"/>
            <p:nvPr/>
          </p:nvSpPr>
          <p:spPr>
            <a:xfrm>
              <a:off x="2310" y="167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1" name="Text Box 22"/>
            <p:cNvSpPr txBox="1"/>
            <p:nvPr/>
          </p:nvSpPr>
          <p:spPr>
            <a:xfrm>
              <a:off x="2309" y="1536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32" name="Text Box 23"/>
            <p:cNvSpPr txBox="1"/>
            <p:nvPr/>
          </p:nvSpPr>
          <p:spPr>
            <a:xfrm>
              <a:off x="2770" y="120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3" name="Text Box 24"/>
            <p:cNvSpPr txBox="1"/>
            <p:nvPr/>
          </p:nvSpPr>
          <p:spPr>
            <a:xfrm>
              <a:off x="2770" y="1344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4" name="Text Box 25"/>
            <p:cNvSpPr txBox="1"/>
            <p:nvPr/>
          </p:nvSpPr>
          <p:spPr>
            <a:xfrm>
              <a:off x="2770" y="167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5" name="Text Box 26"/>
            <p:cNvSpPr txBox="1"/>
            <p:nvPr/>
          </p:nvSpPr>
          <p:spPr>
            <a:xfrm>
              <a:off x="2769" y="1536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36" name="Text Box 27"/>
            <p:cNvSpPr txBox="1"/>
            <p:nvPr/>
          </p:nvSpPr>
          <p:spPr>
            <a:xfrm>
              <a:off x="3202" y="120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7" name="Text Box 28"/>
            <p:cNvSpPr txBox="1"/>
            <p:nvPr/>
          </p:nvSpPr>
          <p:spPr>
            <a:xfrm>
              <a:off x="3202" y="1344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8" name="Text Box 29"/>
            <p:cNvSpPr txBox="1"/>
            <p:nvPr/>
          </p:nvSpPr>
          <p:spPr>
            <a:xfrm>
              <a:off x="3202" y="167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39" name="Text Box 30"/>
            <p:cNvSpPr txBox="1"/>
            <p:nvPr/>
          </p:nvSpPr>
          <p:spPr>
            <a:xfrm>
              <a:off x="3201" y="1536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1958" name="Group 31"/>
          <p:cNvGrpSpPr/>
          <p:nvPr/>
        </p:nvGrpSpPr>
        <p:grpSpPr>
          <a:xfrm>
            <a:off x="4276725" y="3124200"/>
            <a:ext cx="3124200" cy="1144588"/>
            <a:chOff x="1686" y="1968"/>
            <a:chExt cx="1968" cy="721"/>
          </a:xfrm>
        </p:grpSpPr>
        <p:sp>
          <p:nvSpPr>
            <p:cNvPr id="382006" name="Rectangle 32"/>
            <p:cNvSpPr/>
            <p:nvPr/>
          </p:nvSpPr>
          <p:spPr>
            <a:xfrm>
              <a:off x="1686" y="1978"/>
              <a:ext cx="196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2007" name="Text Box 33"/>
            <p:cNvSpPr txBox="1"/>
            <p:nvPr/>
          </p:nvSpPr>
          <p:spPr>
            <a:xfrm>
              <a:off x="2770" y="1968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08" name="Text Box 34"/>
            <p:cNvSpPr txBox="1"/>
            <p:nvPr/>
          </p:nvSpPr>
          <p:spPr>
            <a:xfrm>
              <a:off x="2770" y="2112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09" name="Text Box 35"/>
            <p:cNvSpPr txBox="1"/>
            <p:nvPr/>
          </p:nvSpPr>
          <p:spPr>
            <a:xfrm>
              <a:off x="2770" y="2438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10" name="Text Box 36"/>
            <p:cNvSpPr txBox="1"/>
            <p:nvPr/>
          </p:nvSpPr>
          <p:spPr>
            <a:xfrm>
              <a:off x="2769" y="2304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11" name="Text Box 37"/>
            <p:cNvSpPr txBox="1"/>
            <p:nvPr/>
          </p:nvSpPr>
          <p:spPr>
            <a:xfrm>
              <a:off x="3202" y="1968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12" name="Text Box 38"/>
            <p:cNvSpPr txBox="1"/>
            <p:nvPr/>
          </p:nvSpPr>
          <p:spPr>
            <a:xfrm>
              <a:off x="3202" y="2112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13" name="Text Box 39"/>
            <p:cNvSpPr txBox="1"/>
            <p:nvPr/>
          </p:nvSpPr>
          <p:spPr>
            <a:xfrm>
              <a:off x="3202" y="2438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2014" name="Text Box 40"/>
            <p:cNvSpPr txBox="1"/>
            <p:nvPr/>
          </p:nvSpPr>
          <p:spPr>
            <a:xfrm>
              <a:off x="3201" y="2304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15" name="Text Box 41"/>
            <p:cNvSpPr txBox="1"/>
            <p:nvPr/>
          </p:nvSpPr>
          <p:spPr>
            <a:xfrm>
              <a:off x="1734" y="1968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2016" name="Text Box 42"/>
            <p:cNvSpPr txBox="1"/>
            <p:nvPr/>
          </p:nvSpPr>
          <p:spPr>
            <a:xfrm>
              <a:off x="1734" y="2102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2017" name="Text Box 43"/>
            <p:cNvSpPr txBox="1"/>
            <p:nvPr/>
          </p:nvSpPr>
          <p:spPr>
            <a:xfrm>
              <a:off x="1734" y="2438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2018" name="Text Box 44"/>
            <p:cNvSpPr txBox="1"/>
            <p:nvPr/>
          </p:nvSpPr>
          <p:spPr>
            <a:xfrm>
              <a:off x="1809" y="2304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2019" name="Text Box 45"/>
            <p:cNvSpPr txBox="1"/>
            <p:nvPr/>
          </p:nvSpPr>
          <p:spPr>
            <a:xfrm>
              <a:off x="2214" y="1968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20" name="Text Box 46"/>
            <p:cNvSpPr txBox="1"/>
            <p:nvPr/>
          </p:nvSpPr>
          <p:spPr>
            <a:xfrm>
              <a:off x="2214" y="2102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21" name="Text Box 47"/>
            <p:cNvSpPr txBox="1"/>
            <p:nvPr/>
          </p:nvSpPr>
          <p:spPr>
            <a:xfrm>
              <a:off x="2214" y="2438"/>
              <a:ext cx="41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22" name="Text Box 48"/>
            <p:cNvSpPr txBox="1"/>
            <p:nvPr/>
          </p:nvSpPr>
          <p:spPr>
            <a:xfrm>
              <a:off x="2289" y="2304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1959" name="Group 49"/>
          <p:cNvGrpSpPr/>
          <p:nvPr/>
        </p:nvGrpSpPr>
        <p:grpSpPr>
          <a:xfrm>
            <a:off x="4276725" y="5562600"/>
            <a:ext cx="3124200" cy="1144588"/>
            <a:chOff x="1686" y="3504"/>
            <a:chExt cx="1968" cy="721"/>
          </a:xfrm>
        </p:grpSpPr>
        <p:sp>
          <p:nvSpPr>
            <p:cNvPr id="381989" name="Rectangle 50"/>
            <p:cNvSpPr/>
            <p:nvPr/>
          </p:nvSpPr>
          <p:spPr>
            <a:xfrm>
              <a:off x="1686" y="3514"/>
              <a:ext cx="196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1990" name="Text Box 51"/>
            <p:cNvSpPr txBox="1"/>
            <p:nvPr/>
          </p:nvSpPr>
          <p:spPr>
            <a:xfrm>
              <a:off x="1734" y="3504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1" name="Text Box 52"/>
            <p:cNvSpPr txBox="1"/>
            <p:nvPr/>
          </p:nvSpPr>
          <p:spPr>
            <a:xfrm>
              <a:off x="1734" y="3638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2" name="Text Box 53"/>
            <p:cNvSpPr txBox="1"/>
            <p:nvPr/>
          </p:nvSpPr>
          <p:spPr>
            <a:xfrm>
              <a:off x="1734" y="3974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3" name="Text Box 54"/>
            <p:cNvSpPr txBox="1"/>
            <p:nvPr/>
          </p:nvSpPr>
          <p:spPr>
            <a:xfrm>
              <a:off x="1809" y="3840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4" name="Text Box 55"/>
            <p:cNvSpPr txBox="1"/>
            <p:nvPr/>
          </p:nvSpPr>
          <p:spPr>
            <a:xfrm>
              <a:off x="2214" y="3504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5" name="Text Box 56"/>
            <p:cNvSpPr txBox="1"/>
            <p:nvPr/>
          </p:nvSpPr>
          <p:spPr>
            <a:xfrm>
              <a:off x="2214" y="3638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6" name="Text Box 57"/>
            <p:cNvSpPr txBox="1"/>
            <p:nvPr/>
          </p:nvSpPr>
          <p:spPr>
            <a:xfrm>
              <a:off x="2214" y="3974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7" name="Text Box 58"/>
            <p:cNvSpPr txBox="1"/>
            <p:nvPr/>
          </p:nvSpPr>
          <p:spPr>
            <a:xfrm>
              <a:off x="2289" y="3840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8" name="Text Box 59"/>
            <p:cNvSpPr txBox="1"/>
            <p:nvPr/>
          </p:nvSpPr>
          <p:spPr>
            <a:xfrm>
              <a:off x="2690" y="3504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99" name="Text Box 60"/>
            <p:cNvSpPr txBox="1"/>
            <p:nvPr/>
          </p:nvSpPr>
          <p:spPr>
            <a:xfrm>
              <a:off x="2690" y="3638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2000" name="Text Box 61"/>
            <p:cNvSpPr txBox="1"/>
            <p:nvPr/>
          </p:nvSpPr>
          <p:spPr>
            <a:xfrm>
              <a:off x="2690" y="3974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2001" name="Text Box 62"/>
            <p:cNvSpPr txBox="1"/>
            <p:nvPr/>
          </p:nvSpPr>
          <p:spPr>
            <a:xfrm>
              <a:off x="2765" y="3840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2002" name="Text Box 63"/>
            <p:cNvSpPr txBox="1"/>
            <p:nvPr/>
          </p:nvSpPr>
          <p:spPr>
            <a:xfrm>
              <a:off x="3170" y="3504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03" name="Text Box 64"/>
            <p:cNvSpPr txBox="1"/>
            <p:nvPr/>
          </p:nvSpPr>
          <p:spPr>
            <a:xfrm>
              <a:off x="3170" y="3638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04" name="Text Box 65"/>
            <p:cNvSpPr txBox="1"/>
            <p:nvPr/>
          </p:nvSpPr>
          <p:spPr>
            <a:xfrm>
              <a:off x="3170" y="3974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005" name="Text Box 66"/>
            <p:cNvSpPr txBox="1"/>
            <p:nvPr/>
          </p:nvSpPr>
          <p:spPr>
            <a:xfrm>
              <a:off x="3245" y="3840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1960" name="Group 67"/>
          <p:cNvGrpSpPr/>
          <p:nvPr/>
        </p:nvGrpSpPr>
        <p:grpSpPr>
          <a:xfrm>
            <a:off x="4276725" y="4343400"/>
            <a:ext cx="3124200" cy="1144588"/>
            <a:chOff x="1686" y="2736"/>
            <a:chExt cx="1968" cy="721"/>
          </a:xfrm>
        </p:grpSpPr>
        <p:sp>
          <p:nvSpPr>
            <p:cNvPr id="381972" name="Rectangle 68"/>
            <p:cNvSpPr/>
            <p:nvPr/>
          </p:nvSpPr>
          <p:spPr>
            <a:xfrm>
              <a:off x="1686" y="2746"/>
              <a:ext cx="196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1973" name="Text Box 69"/>
            <p:cNvSpPr txBox="1"/>
            <p:nvPr/>
          </p:nvSpPr>
          <p:spPr>
            <a:xfrm>
              <a:off x="1734" y="2736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4" name="Text Box 70"/>
            <p:cNvSpPr txBox="1"/>
            <p:nvPr/>
          </p:nvSpPr>
          <p:spPr>
            <a:xfrm>
              <a:off x="1734" y="2870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5" name="Text Box 71"/>
            <p:cNvSpPr txBox="1"/>
            <p:nvPr/>
          </p:nvSpPr>
          <p:spPr>
            <a:xfrm>
              <a:off x="1734" y="3206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6" name="Text Box 72"/>
            <p:cNvSpPr txBox="1"/>
            <p:nvPr/>
          </p:nvSpPr>
          <p:spPr>
            <a:xfrm>
              <a:off x="1809" y="3072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7" name="Text Box 73"/>
            <p:cNvSpPr txBox="1"/>
            <p:nvPr/>
          </p:nvSpPr>
          <p:spPr>
            <a:xfrm>
              <a:off x="2214" y="2736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8" name="Text Box 74"/>
            <p:cNvSpPr txBox="1"/>
            <p:nvPr/>
          </p:nvSpPr>
          <p:spPr>
            <a:xfrm>
              <a:off x="2214" y="2870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9" name="Text Box 75"/>
            <p:cNvSpPr txBox="1"/>
            <p:nvPr/>
          </p:nvSpPr>
          <p:spPr>
            <a:xfrm>
              <a:off x="2214" y="3206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80" name="Text Box 76"/>
            <p:cNvSpPr txBox="1"/>
            <p:nvPr/>
          </p:nvSpPr>
          <p:spPr>
            <a:xfrm>
              <a:off x="2289" y="3072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81" name="Text Box 77"/>
            <p:cNvSpPr txBox="1"/>
            <p:nvPr/>
          </p:nvSpPr>
          <p:spPr>
            <a:xfrm>
              <a:off x="3202" y="2736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1982" name="Text Box 78"/>
            <p:cNvSpPr txBox="1"/>
            <p:nvPr/>
          </p:nvSpPr>
          <p:spPr>
            <a:xfrm>
              <a:off x="3202" y="288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1983" name="Text Box 79"/>
            <p:cNvSpPr txBox="1"/>
            <p:nvPr/>
          </p:nvSpPr>
          <p:spPr>
            <a:xfrm>
              <a:off x="3202" y="3206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1984" name="Text Box 80"/>
            <p:cNvSpPr txBox="1"/>
            <p:nvPr/>
          </p:nvSpPr>
          <p:spPr>
            <a:xfrm>
              <a:off x="3201" y="3072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1985" name="Text Box 81"/>
            <p:cNvSpPr txBox="1"/>
            <p:nvPr/>
          </p:nvSpPr>
          <p:spPr>
            <a:xfrm>
              <a:off x="2690" y="273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1986" name="Text Box 82"/>
            <p:cNvSpPr txBox="1"/>
            <p:nvPr/>
          </p:nvSpPr>
          <p:spPr>
            <a:xfrm>
              <a:off x="2690" y="2870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1987" name="Text Box 83"/>
            <p:cNvSpPr txBox="1"/>
            <p:nvPr/>
          </p:nvSpPr>
          <p:spPr>
            <a:xfrm>
              <a:off x="2690" y="3206"/>
              <a:ext cx="41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1988" name="Text Box 84"/>
            <p:cNvSpPr txBox="1"/>
            <p:nvPr/>
          </p:nvSpPr>
          <p:spPr>
            <a:xfrm>
              <a:off x="2765" y="3072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1961" name="Text Box 85"/>
          <p:cNvSpPr txBox="1"/>
          <p:nvPr/>
        </p:nvSpPr>
        <p:spPr>
          <a:xfrm>
            <a:off x="2641600" y="2270125"/>
            <a:ext cx="1389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4 </a:t>
            </a:r>
            <a:r>
              <a:rPr lang="zh-CN" altLang="en-US" sz="2000" b="1" dirty="0">
                <a:latin typeface="Times New Roman" panose="02020603050405020304" pitchFamily="18" charset="0"/>
              </a:rPr>
              <a:t>位操作码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1962" name="Text Box 86"/>
          <p:cNvSpPr txBox="1"/>
          <p:nvPr/>
        </p:nvSpPr>
        <p:spPr>
          <a:xfrm>
            <a:off x="2641600" y="3489325"/>
            <a:ext cx="1389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8 </a:t>
            </a:r>
            <a:r>
              <a:rPr lang="zh-CN" altLang="en-US" sz="2000" b="1" dirty="0">
                <a:latin typeface="Times New Roman" panose="02020603050405020304" pitchFamily="18" charset="0"/>
              </a:rPr>
              <a:t>位操作码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1963" name="Text Box 87"/>
          <p:cNvSpPr txBox="1"/>
          <p:nvPr/>
        </p:nvSpPr>
        <p:spPr>
          <a:xfrm>
            <a:off x="2514600" y="4724400"/>
            <a:ext cx="1516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12 </a:t>
            </a:r>
            <a:r>
              <a:rPr lang="zh-CN" altLang="en-US" sz="2000" b="1" dirty="0">
                <a:latin typeface="Times New Roman" panose="02020603050405020304" pitchFamily="18" charset="0"/>
              </a:rPr>
              <a:t>位操作码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1964" name="Text Box 88"/>
          <p:cNvSpPr txBox="1"/>
          <p:nvPr/>
        </p:nvSpPr>
        <p:spPr>
          <a:xfrm>
            <a:off x="2514600" y="5927725"/>
            <a:ext cx="1516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16 </a:t>
            </a:r>
            <a:r>
              <a:rPr lang="zh-CN" altLang="en-US" sz="2000" b="1" dirty="0">
                <a:latin typeface="Times New Roman" panose="02020603050405020304" pitchFamily="18" charset="0"/>
              </a:rPr>
              <a:t>位操作码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1965" name="Text Box 89"/>
          <p:cNvSpPr txBox="1"/>
          <p:nvPr/>
        </p:nvSpPr>
        <p:spPr>
          <a:xfrm>
            <a:off x="7553325" y="2270125"/>
            <a:ext cx="311467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最多</a:t>
            </a:r>
            <a:r>
              <a:rPr lang="en-US" altLang="zh-CN" sz="2000" b="1" dirty="0">
                <a:latin typeface="Times New Roman" panose="02020603050405020304" pitchFamily="18" charset="0"/>
              </a:rPr>
              <a:t>15</a:t>
            </a:r>
            <a:r>
              <a:rPr lang="zh-CN" altLang="en-US" sz="2000" b="1" dirty="0">
                <a:latin typeface="Times New Roman" panose="02020603050405020304" pitchFamily="18" charset="0"/>
              </a:rPr>
              <a:t>条三地址指令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1966" name="Text Box 90"/>
          <p:cNvSpPr txBox="1"/>
          <p:nvPr/>
        </p:nvSpPr>
        <p:spPr>
          <a:xfrm>
            <a:off x="7553325" y="3489325"/>
            <a:ext cx="271938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最多</a:t>
            </a:r>
            <a:r>
              <a:rPr lang="en-US" altLang="zh-CN" sz="2000" b="1" dirty="0">
                <a:latin typeface="Times New Roman" panose="02020603050405020304" pitchFamily="18" charset="0"/>
              </a:rPr>
              <a:t>15</a:t>
            </a:r>
            <a:r>
              <a:rPr lang="zh-CN" altLang="en-US" sz="2000" b="1" dirty="0">
                <a:latin typeface="Times New Roman" panose="02020603050405020304" pitchFamily="18" charset="0"/>
              </a:rPr>
              <a:t>条二地址指令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1967" name="Text Box 91"/>
          <p:cNvSpPr txBox="1"/>
          <p:nvPr/>
        </p:nvSpPr>
        <p:spPr>
          <a:xfrm>
            <a:off x="7553325" y="4724400"/>
            <a:ext cx="2646363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最多</a:t>
            </a:r>
            <a:r>
              <a:rPr lang="en-US" altLang="zh-CN" sz="2000" b="1" dirty="0">
                <a:latin typeface="Times New Roman" panose="02020603050405020304" pitchFamily="18" charset="0"/>
              </a:rPr>
              <a:t>15</a:t>
            </a:r>
            <a:r>
              <a:rPr lang="zh-CN" altLang="en-US" sz="2000" b="1" dirty="0">
                <a:latin typeface="Times New Roman" panose="02020603050405020304" pitchFamily="18" charset="0"/>
              </a:rPr>
              <a:t>条一地址指令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1968" name="Text Box 92"/>
          <p:cNvSpPr txBox="1"/>
          <p:nvPr/>
        </p:nvSpPr>
        <p:spPr>
          <a:xfrm>
            <a:off x="7553325" y="5927725"/>
            <a:ext cx="196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16</a:t>
            </a:r>
            <a:r>
              <a:rPr lang="zh-CN" altLang="en-US" sz="2000" b="1" dirty="0">
                <a:latin typeface="Times New Roman" panose="02020603050405020304" pitchFamily="18" charset="0"/>
              </a:rPr>
              <a:t>条零地址指令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21629" name="Rectangle 9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1970" name="AutoShape 9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197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82978" name="Group 2"/>
          <p:cNvGrpSpPr/>
          <p:nvPr/>
        </p:nvGrpSpPr>
        <p:grpSpPr>
          <a:xfrm>
            <a:off x="1828800" y="144463"/>
            <a:ext cx="7075488" cy="6562724"/>
            <a:chOff x="192" y="91"/>
            <a:chExt cx="4457" cy="4134"/>
          </a:xfrm>
        </p:grpSpPr>
        <p:sp>
          <p:nvSpPr>
            <p:cNvPr id="382984" name="Text Box 3"/>
            <p:cNvSpPr txBox="1"/>
            <p:nvPr/>
          </p:nvSpPr>
          <p:spPr>
            <a:xfrm>
              <a:off x="192" y="91"/>
              <a:ext cx="2539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600" b="1" dirty="0">
                  <a:latin typeface="Times New Roman" panose="02020603050405020304" pitchFamily="18" charset="0"/>
                </a:rPr>
                <a:t>(3) </a:t>
              </a:r>
              <a:r>
                <a:rPr lang="zh-CN" altLang="en-US" sz="3600" b="1" dirty="0">
                  <a:latin typeface="Times New Roman" panose="02020603050405020304" pitchFamily="18" charset="0"/>
                </a:rPr>
                <a:t>扩展操作码技术</a:t>
              </a:r>
              <a:endParaRPr lang="zh-CN" altLang="en-US" sz="3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2985" name="Text Box 4"/>
            <p:cNvSpPr txBox="1"/>
            <p:nvPr/>
          </p:nvSpPr>
          <p:spPr>
            <a:xfrm>
              <a:off x="528" y="480"/>
              <a:ext cx="412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操作码的位数随地址数的减少而增加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82986" name="Group 5"/>
            <p:cNvGrpSpPr/>
            <p:nvPr/>
          </p:nvGrpSpPr>
          <p:grpSpPr>
            <a:xfrm>
              <a:off x="624" y="816"/>
              <a:ext cx="3078" cy="3409"/>
              <a:chOff x="624" y="816"/>
              <a:chExt cx="3078" cy="3409"/>
            </a:xfrm>
          </p:grpSpPr>
          <p:grpSp>
            <p:nvGrpSpPr>
              <p:cNvPr id="382987" name="Group 6"/>
              <p:cNvGrpSpPr/>
              <p:nvPr/>
            </p:nvGrpSpPr>
            <p:grpSpPr>
              <a:xfrm>
                <a:off x="1734" y="816"/>
                <a:ext cx="1962" cy="296"/>
                <a:chOff x="1686" y="1056"/>
                <a:chExt cx="1920" cy="296"/>
              </a:xfrm>
            </p:grpSpPr>
            <p:sp>
              <p:nvSpPr>
                <p:cNvPr id="383064" name="Text Box 7"/>
                <p:cNvSpPr txBox="1"/>
                <p:nvPr/>
              </p:nvSpPr>
              <p:spPr>
                <a:xfrm>
                  <a:off x="1736" y="1056"/>
                  <a:ext cx="37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OP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5" name="Text Box 8"/>
                <p:cNvSpPr txBox="1"/>
                <p:nvPr/>
              </p:nvSpPr>
              <p:spPr>
                <a:xfrm>
                  <a:off x="2214" y="1056"/>
                  <a:ext cx="346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A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6" name="Text Box 9"/>
                <p:cNvSpPr txBox="1"/>
                <p:nvPr/>
              </p:nvSpPr>
              <p:spPr>
                <a:xfrm>
                  <a:off x="2711" y="1056"/>
                  <a:ext cx="346" cy="29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A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7" name="Text Box 10"/>
                <p:cNvSpPr txBox="1"/>
                <p:nvPr/>
              </p:nvSpPr>
              <p:spPr>
                <a:xfrm>
                  <a:off x="3174" y="1056"/>
                  <a:ext cx="346" cy="2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A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8" name="Rectangle 11"/>
                <p:cNvSpPr/>
                <p:nvPr/>
              </p:nvSpPr>
              <p:spPr>
                <a:xfrm>
                  <a:off x="1686" y="1056"/>
                  <a:ext cx="478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069" name="Rectangle 12"/>
                <p:cNvSpPr/>
                <p:nvPr/>
              </p:nvSpPr>
              <p:spPr>
                <a:xfrm>
                  <a:off x="2168" y="1056"/>
                  <a:ext cx="478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070" name="Rectangle 13"/>
                <p:cNvSpPr/>
                <p:nvPr/>
              </p:nvSpPr>
              <p:spPr>
                <a:xfrm>
                  <a:off x="2646" y="1056"/>
                  <a:ext cx="478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071" name="Rectangle 14"/>
                <p:cNvSpPr/>
                <p:nvPr/>
              </p:nvSpPr>
              <p:spPr>
                <a:xfrm>
                  <a:off x="3128" y="1056"/>
                  <a:ext cx="478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2988" name="Group 15"/>
              <p:cNvGrpSpPr/>
              <p:nvPr/>
            </p:nvGrpSpPr>
            <p:grpSpPr>
              <a:xfrm>
                <a:off x="1734" y="1200"/>
                <a:ext cx="1968" cy="722"/>
                <a:chOff x="1686" y="1200"/>
                <a:chExt cx="1968" cy="722"/>
              </a:xfrm>
            </p:grpSpPr>
            <p:sp>
              <p:nvSpPr>
                <p:cNvPr id="383047" name="Rectangle 16"/>
                <p:cNvSpPr/>
                <p:nvPr/>
              </p:nvSpPr>
              <p:spPr>
                <a:xfrm>
                  <a:off x="1686" y="1210"/>
                  <a:ext cx="1968" cy="67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048" name="Text Box 17"/>
                <p:cNvSpPr txBox="1"/>
                <p:nvPr/>
              </p:nvSpPr>
              <p:spPr>
                <a:xfrm>
                  <a:off x="1734" y="1200"/>
                  <a:ext cx="43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9" name="Text Box 18"/>
                <p:cNvSpPr txBox="1"/>
                <p:nvPr/>
              </p:nvSpPr>
              <p:spPr>
                <a:xfrm>
                  <a:off x="1734" y="1354"/>
                  <a:ext cx="43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0" name="Text Box 19"/>
                <p:cNvSpPr txBox="1"/>
                <p:nvPr/>
              </p:nvSpPr>
              <p:spPr>
                <a:xfrm>
                  <a:off x="1734" y="1670"/>
                  <a:ext cx="417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1110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1" name="Text Box 20"/>
                <p:cNvSpPr txBox="1"/>
                <p:nvPr/>
              </p:nvSpPr>
              <p:spPr>
                <a:xfrm>
                  <a:off x="1809" y="1536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2" name="Text Box 21"/>
                <p:cNvSpPr txBox="1"/>
                <p:nvPr/>
              </p:nvSpPr>
              <p:spPr>
                <a:xfrm>
                  <a:off x="2310" y="1200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3" name="Text Box 22"/>
                <p:cNvSpPr txBox="1"/>
                <p:nvPr/>
              </p:nvSpPr>
              <p:spPr>
                <a:xfrm>
                  <a:off x="2310" y="1344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4" name="Text Box 23"/>
                <p:cNvSpPr txBox="1"/>
                <p:nvPr/>
              </p:nvSpPr>
              <p:spPr>
                <a:xfrm>
                  <a:off x="2310" y="1670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1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1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5" name="Text Box 24"/>
                <p:cNvSpPr txBox="1"/>
                <p:nvPr/>
              </p:nvSpPr>
              <p:spPr>
                <a:xfrm>
                  <a:off x="2309" y="1536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6" name="Text Box 25"/>
                <p:cNvSpPr txBox="1"/>
                <p:nvPr/>
              </p:nvSpPr>
              <p:spPr>
                <a:xfrm>
                  <a:off x="2770" y="1200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7" name="Text Box 26"/>
                <p:cNvSpPr txBox="1"/>
                <p:nvPr/>
              </p:nvSpPr>
              <p:spPr>
                <a:xfrm>
                  <a:off x="2770" y="1344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8" name="Text Box 27"/>
                <p:cNvSpPr txBox="1"/>
                <p:nvPr/>
              </p:nvSpPr>
              <p:spPr>
                <a:xfrm>
                  <a:off x="2770" y="1670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1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1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59" name="Text Box 28"/>
                <p:cNvSpPr txBox="1"/>
                <p:nvPr/>
              </p:nvSpPr>
              <p:spPr>
                <a:xfrm>
                  <a:off x="2769" y="1536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0" name="Text Box 29"/>
                <p:cNvSpPr txBox="1"/>
                <p:nvPr/>
              </p:nvSpPr>
              <p:spPr>
                <a:xfrm>
                  <a:off x="3202" y="1200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1" name="Text Box 30"/>
                <p:cNvSpPr txBox="1"/>
                <p:nvPr/>
              </p:nvSpPr>
              <p:spPr>
                <a:xfrm>
                  <a:off x="3202" y="1344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2" name="Text Box 31"/>
                <p:cNvSpPr txBox="1"/>
                <p:nvPr/>
              </p:nvSpPr>
              <p:spPr>
                <a:xfrm>
                  <a:off x="3202" y="1670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1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1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63" name="Text Box 32"/>
                <p:cNvSpPr txBox="1"/>
                <p:nvPr/>
              </p:nvSpPr>
              <p:spPr>
                <a:xfrm>
                  <a:off x="3201" y="1536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2989" name="Group 33"/>
              <p:cNvGrpSpPr/>
              <p:nvPr/>
            </p:nvGrpSpPr>
            <p:grpSpPr>
              <a:xfrm>
                <a:off x="1734" y="1968"/>
                <a:ext cx="1968" cy="722"/>
                <a:chOff x="1686" y="1968"/>
                <a:chExt cx="1968" cy="722"/>
              </a:xfrm>
            </p:grpSpPr>
            <p:sp>
              <p:nvSpPr>
                <p:cNvPr id="383030" name="Rectangle 34"/>
                <p:cNvSpPr/>
                <p:nvPr/>
              </p:nvSpPr>
              <p:spPr>
                <a:xfrm>
                  <a:off x="1686" y="1978"/>
                  <a:ext cx="1968" cy="67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031" name="Text Box 35"/>
                <p:cNvSpPr txBox="1"/>
                <p:nvPr/>
              </p:nvSpPr>
              <p:spPr>
                <a:xfrm>
                  <a:off x="2770" y="1968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2" name="Text Box 36"/>
                <p:cNvSpPr txBox="1"/>
                <p:nvPr/>
              </p:nvSpPr>
              <p:spPr>
                <a:xfrm>
                  <a:off x="2770" y="211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3" name="Text Box 37"/>
                <p:cNvSpPr txBox="1"/>
                <p:nvPr/>
              </p:nvSpPr>
              <p:spPr>
                <a:xfrm>
                  <a:off x="2770" y="2438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1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1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4" name="Text Box 38"/>
                <p:cNvSpPr txBox="1"/>
                <p:nvPr/>
              </p:nvSpPr>
              <p:spPr>
                <a:xfrm>
                  <a:off x="2769" y="2304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5" name="Text Box 39"/>
                <p:cNvSpPr txBox="1"/>
                <p:nvPr/>
              </p:nvSpPr>
              <p:spPr>
                <a:xfrm>
                  <a:off x="3202" y="1968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6" name="Text Box 40"/>
                <p:cNvSpPr txBox="1"/>
                <p:nvPr/>
              </p:nvSpPr>
              <p:spPr>
                <a:xfrm>
                  <a:off x="3202" y="2112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7" name="Text Box 41"/>
                <p:cNvSpPr txBox="1"/>
                <p:nvPr/>
              </p:nvSpPr>
              <p:spPr>
                <a:xfrm>
                  <a:off x="3202" y="2438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1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1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8" name="Text Box 42"/>
                <p:cNvSpPr txBox="1"/>
                <p:nvPr/>
              </p:nvSpPr>
              <p:spPr>
                <a:xfrm>
                  <a:off x="3201" y="2304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39" name="Text Box 43"/>
                <p:cNvSpPr txBox="1"/>
                <p:nvPr/>
              </p:nvSpPr>
              <p:spPr>
                <a:xfrm>
                  <a:off x="1734" y="1968"/>
                  <a:ext cx="40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0" name="Text Box 44"/>
                <p:cNvSpPr txBox="1"/>
                <p:nvPr/>
              </p:nvSpPr>
              <p:spPr>
                <a:xfrm>
                  <a:off x="1734" y="2102"/>
                  <a:ext cx="40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1" name="Text Box 45"/>
                <p:cNvSpPr txBox="1"/>
                <p:nvPr/>
              </p:nvSpPr>
              <p:spPr>
                <a:xfrm>
                  <a:off x="1734" y="2438"/>
                  <a:ext cx="40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2" name="Text Box 46"/>
                <p:cNvSpPr txBox="1"/>
                <p:nvPr/>
              </p:nvSpPr>
              <p:spPr>
                <a:xfrm>
                  <a:off x="1809" y="2304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3" name="Text Box 47"/>
                <p:cNvSpPr txBox="1"/>
                <p:nvPr/>
              </p:nvSpPr>
              <p:spPr>
                <a:xfrm>
                  <a:off x="2214" y="1968"/>
                  <a:ext cx="435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4" name="Text Box 48"/>
                <p:cNvSpPr txBox="1"/>
                <p:nvPr/>
              </p:nvSpPr>
              <p:spPr>
                <a:xfrm>
                  <a:off x="2214" y="2102"/>
                  <a:ext cx="435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5" name="Text Box 49"/>
                <p:cNvSpPr txBox="1"/>
                <p:nvPr/>
              </p:nvSpPr>
              <p:spPr>
                <a:xfrm>
                  <a:off x="2214" y="2438"/>
                  <a:ext cx="417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1110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46" name="Text Box 50"/>
                <p:cNvSpPr txBox="1"/>
                <p:nvPr/>
              </p:nvSpPr>
              <p:spPr>
                <a:xfrm>
                  <a:off x="2289" y="2304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2990" name="Group 51"/>
              <p:cNvGrpSpPr/>
              <p:nvPr/>
            </p:nvGrpSpPr>
            <p:grpSpPr>
              <a:xfrm>
                <a:off x="1734" y="3504"/>
                <a:ext cx="1968" cy="721"/>
                <a:chOff x="1686" y="3504"/>
                <a:chExt cx="1968" cy="721"/>
              </a:xfrm>
            </p:grpSpPr>
            <p:sp>
              <p:nvSpPr>
                <p:cNvPr id="383013" name="Rectangle 52"/>
                <p:cNvSpPr/>
                <p:nvPr/>
              </p:nvSpPr>
              <p:spPr>
                <a:xfrm>
                  <a:off x="1686" y="3514"/>
                  <a:ext cx="1968" cy="67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014" name="Text Box 53"/>
                <p:cNvSpPr txBox="1"/>
                <p:nvPr/>
              </p:nvSpPr>
              <p:spPr>
                <a:xfrm>
                  <a:off x="1734" y="3504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5" name="Text Box 54"/>
                <p:cNvSpPr txBox="1"/>
                <p:nvPr/>
              </p:nvSpPr>
              <p:spPr>
                <a:xfrm>
                  <a:off x="1734" y="3638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6" name="Text Box 55"/>
                <p:cNvSpPr txBox="1"/>
                <p:nvPr/>
              </p:nvSpPr>
              <p:spPr>
                <a:xfrm>
                  <a:off x="1734" y="3974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7" name="Text Box 56"/>
                <p:cNvSpPr txBox="1"/>
                <p:nvPr/>
              </p:nvSpPr>
              <p:spPr>
                <a:xfrm>
                  <a:off x="1809" y="3840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8" name="Text Box 57"/>
                <p:cNvSpPr txBox="1"/>
                <p:nvPr/>
              </p:nvSpPr>
              <p:spPr>
                <a:xfrm>
                  <a:off x="2214" y="3504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9" name="Text Box 58"/>
                <p:cNvSpPr txBox="1"/>
                <p:nvPr/>
              </p:nvSpPr>
              <p:spPr>
                <a:xfrm>
                  <a:off x="2214" y="3638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0" name="Text Box 59"/>
                <p:cNvSpPr txBox="1"/>
                <p:nvPr/>
              </p:nvSpPr>
              <p:spPr>
                <a:xfrm>
                  <a:off x="2214" y="3974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1" name="Text Box 60"/>
                <p:cNvSpPr txBox="1"/>
                <p:nvPr/>
              </p:nvSpPr>
              <p:spPr>
                <a:xfrm>
                  <a:off x="2289" y="3840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2" name="Text Box 61"/>
                <p:cNvSpPr txBox="1"/>
                <p:nvPr/>
              </p:nvSpPr>
              <p:spPr>
                <a:xfrm>
                  <a:off x="2690" y="3504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3" name="Text Box 62"/>
                <p:cNvSpPr txBox="1"/>
                <p:nvPr/>
              </p:nvSpPr>
              <p:spPr>
                <a:xfrm>
                  <a:off x="2690" y="3638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4" name="Text Box 63"/>
                <p:cNvSpPr txBox="1"/>
                <p:nvPr/>
              </p:nvSpPr>
              <p:spPr>
                <a:xfrm>
                  <a:off x="2690" y="3974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5" name="Text Box 64"/>
                <p:cNvSpPr txBox="1"/>
                <p:nvPr/>
              </p:nvSpPr>
              <p:spPr>
                <a:xfrm>
                  <a:off x="2765" y="3840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6" name="Text Box 65"/>
                <p:cNvSpPr txBox="1"/>
                <p:nvPr/>
              </p:nvSpPr>
              <p:spPr>
                <a:xfrm>
                  <a:off x="3170" y="3504"/>
                  <a:ext cx="43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7" name="Text Box 66"/>
                <p:cNvSpPr txBox="1"/>
                <p:nvPr/>
              </p:nvSpPr>
              <p:spPr>
                <a:xfrm>
                  <a:off x="3170" y="3638"/>
                  <a:ext cx="43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8" name="Text Box 67"/>
                <p:cNvSpPr txBox="1"/>
                <p:nvPr/>
              </p:nvSpPr>
              <p:spPr>
                <a:xfrm>
                  <a:off x="3170" y="3974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29" name="Text Box 68"/>
                <p:cNvSpPr txBox="1"/>
                <p:nvPr/>
              </p:nvSpPr>
              <p:spPr>
                <a:xfrm>
                  <a:off x="3245" y="3840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2991" name="Group 69"/>
              <p:cNvGrpSpPr/>
              <p:nvPr/>
            </p:nvGrpSpPr>
            <p:grpSpPr>
              <a:xfrm>
                <a:off x="1734" y="2736"/>
                <a:ext cx="1968" cy="722"/>
                <a:chOff x="1686" y="2736"/>
                <a:chExt cx="1968" cy="722"/>
              </a:xfrm>
            </p:grpSpPr>
            <p:sp>
              <p:nvSpPr>
                <p:cNvPr id="382996" name="Rectangle 70"/>
                <p:cNvSpPr/>
                <p:nvPr/>
              </p:nvSpPr>
              <p:spPr>
                <a:xfrm>
                  <a:off x="1686" y="2746"/>
                  <a:ext cx="1968" cy="67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2997" name="Text Box 71"/>
                <p:cNvSpPr txBox="1"/>
                <p:nvPr/>
              </p:nvSpPr>
              <p:spPr>
                <a:xfrm>
                  <a:off x="1734" y="2736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2998" name="Text Box 72"/>
                <p:cNvSpPr txBox="1"/>
                <p:nvPr/>
              </p:nvSpPr>
              <p:spPr>
                <a:xfrm>
                  <a:off x="1734" y="2870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2999" name="Text Box 73"/>
                <p:cNvSpPr txBox="1"/>
                <p:nvPr/>
              </p:nvSpPr>
              <p:spPr>
                <a:xfrm>
                  <a:off x="1734" y="3206"/>
                  <a:ext cx="40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0" name="Text Box 74"/>
                <p:cNvSpPr txBox="1"/>
                <p:nvPr/>
              </p:nvSpPr>
              <p:spPr>
                <a:xfrm>
                  <a:off x="1809" y="3072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1" name="Text Box 75"/>
                <p:cNvSpPr txBox="1"/>
                <p:nvPr/>
              </p:nvSpPr>
              <p:spPr>
                <a:xfrm>
                  <a:off x="2214" y="2736"/>
                  <a:ext cx="40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2" name="Text Box 76"/>
                <p:cNvSpPr txBox="1"/>
                <p:nvPr/>
              </p:nvSpPr>
              <p:spPr>
                <a:xfrm>
                  <a:off x="2214" y="2870"/>
                  <a:ext cx="40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3" name="Text Box 77"/>
                <p:cNvSpPr txBox="1"/>
                <p:nvPr/>
              </p:nvSpPr>
              <p:spPr>
                <a:xfrm>
                  <a:off x="2214" y="3206"/>
                  <a:ext cx="40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4" name="Text Box 78"/>
                <p:cNvSpPr txBox="1"/>
                <p:nvPr/>
              </p:nvSpPr>
              <p:spPr>
                <a:xfrm>
                  <a:off x="2289" y="3072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5" name="Text Box 79"/>
                <p:cNvSpPr txBox="1"/>
                <p:nvPr/>
              </p:nvSpPr>
              <p:spPr>
                <a:xfrm>
                  <a:off x="3202" y="2736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6" name="Text Box 80"/>
                <p:cNvSpPr txBox="1"/>
                <p:nvPr/>
              </p:nvSpPr>
              <p:spPr>
                <a:xfrm>
                  <a:off x="3202" y="2880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7" name="Text Box 81"/>
                <p:cNvSpPr txBox="1"/>
                <p:nvPr/>
              </p:nvSpPr>
              <p:spPr>
                <a:xfrm>
                  <a:off x="3202" y="3206"/>
                  <a:ext cx="283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1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1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8" name="Text Box 82"/>
                <p:cNvSpPr txBox="1"/>
                <p:nvPr/>
              </p:nvSpPr>
              <p:spPr>
                <a:xfrm>
                  <a:off x="3201" y="3072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09" name="Text Box 83"/>
                <p:cNvSpPr txBox="1"/>
                <p:nvPr/>
              </p:nvSpPr>
              <p:spPr>
                <a:xfrm>
                  <a:off x="2690" y="2736"/>
                  <a:ext cx="435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0" name="Text Box 84"/>
                <p:cNvSpPr txBox="1"/>
                <p:nvPr/>
              </p:nvSpPr>
              <p:spPr>
                <a:xfrm>
                  <a:off x="2690" y="2870"/>
                  <a:ext cx="435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0001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1" name="Text Box 85"/>
                <p:cNvSpPr txBox="1"/>
                <p:nvPr/>
              </p:nvSpPr>
              <p:spPr>
                <a:xfrm>
                  <a:off x="2690" y="3206"/>
                  <a:ext cx="417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1110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3012" name="Text Box 86"/>
                <p:cNvSpPr txBox="1"/>
                <p:nvPr/>
              </p:nvSpPr>
              <p:spPr>
                <a:xfrm>
                  <a:off x="2765" y="3072"/>
                  <a:ext cx="309" cy="2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82992" name="Text Box 87"/>
              <p:cNvSpPr txBox="1"/>
              <p:nvPr/>
            </p:nvSpPr>
            <p:spPr>
              <a:xfrm>
                <a:off x="704" y="1430"/>
                <a:ext cx="8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4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位操作码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2993" name="Text Box 88"/>
              <p:cNvSpPr txBox="1"/>
              <p:nvPr/>
            </p:nvSpPr>
            <p:spPr>
              <a:xfrm>
                <a:off x="704" y="2198"/>
                <a:ext cx="8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8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位操作码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2994" name="Text Box 89"/>
              <p:cNvSpPr txBox="1"/>
              <p:nvPr/>
            </p:nvSpPr>
            <p:spPr>
              <a:xfrm>
                <a:off x="624" y="2976"/>
                <a:ext cx="9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12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位操作码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2995" name="Text Box 90"/>
              <p:cNvSpPr txBox="1"/>
              <p:nvPr/>
            </p:nvSpPr>
            <p:spPr>
              <a:xfrm>
                <a:off x="624" y="3734"/>
                <a:ext cx="9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16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位操作码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22651" name="Text Box 91"/>
          <p:cNvSpPr txBox="1"/>
          <p:nvPr/>
        </p:nvSpPr>
        <p:spPr>
          <a:xfrm>
            <a:off x="7553325" y="2493963"/>
            <a:ext cx="3114675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三地址指令操作码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每减少一种可多构成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4 </a:t>
            </a:r>
            <a:r>
              <a:rPr lang="zh-CN" altLang="en-US" sz="2000" b="1" dirty="0">
                <a:latin typeface="Times New Roman" panose="02020603050405020304" pitchFamily="18" charset="0"/>
              </a:rPr>
              <a:t>种二地址指令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22652" name="Text Box 92"/>
          <p:cNvSpPr txBox="1"/>
          <p:nvPr/>
        </p:nvSpPr>
        <p:spPr>
          <a:xfrm>
            <a:off x="7553325" y="3789363"/>
            <a:ext cx="2719388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二地址指令操作码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每减少一种可多构成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种一地址指令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2653" name="Rectangle 9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2982" name="AutoShape 9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298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2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651" grpId="0"/>
      <p:bldP spid="3226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4002" name="Text Box 2"/>
          <p:cNvSpPr txBox="1"/>
          <p:nvPr/>
        </p:nvSpPr>
        <p:spPr>
          <a:xfrm>
            <a:off x="1965325" y="152400"/>
            <a:ext cx="2759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地址码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23587" name="Text Box 3"/>
          <p:cNvSpPr txBox="1"/>
          <p:nvPr/>
        </p:nvSpPr>
        <p:spPr>
          <a:xfrm>
            <a:off x="2362200" y="762000"/>
            <a:ext cx="4800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四地址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23588" name="Text Box 4"/>
          <p:cNvSpPr txBox="1"/>
          <p:nvPr/>
        </p:nvSpPr>
        <p:spPr>
          <a:xfrm>
            <a:off x="2422525" y="4343400"/>
            <a:ext cx="5045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三地址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276600" y="1539875"/>
            <a:ext cx="3048000" cy="460375"/>
            <a:chOff x="1104" y="1066"/>
            <a:chExt cx="1920" cy="290"/>
          </a:xfrm>
        </p:grpSpPr>
        <p:grpSp>
          <p:nvGrpSpPr>
            <p:cNvPr id="384039" name="Group 6"/>
            <p:cNvGrpSpPr/>
            <p:nvPr/>
          </p:nvGrpSpPr>
          <p:grpSpPr>
            <a:xfrm>
              <a:off x="1104" y="1066"/>
              <a:ext cx="384" cy="290"/>
              <a:chOff x="1104" y="1008"/>
              <a:chExt cx="384" cy="290"/>
            </a:xfrm>
          </p:grpSpPr>
          <p:sp>
            <p:nvSpPr>
              <p:cNvPr id="384052" name="Text Box 7"/>
              <p:cNvSpPr txBox="1"/>
              <p:nvPr/>
            </p:nvSpPr>
            <p:spPr>
              <a:xfrm>
                <a:off x="1106" y="1008"/>
                <a:ext cx="38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OP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4053" name="Rectangle 8"/>
              <p:cNvSpPr/>
              <p:nvPr/>
            </p:nvSpPr>
            <p:spPr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4040" name="Group 9"/>
            <p:cNvGrpSpPr/>
            <p:nvPr/>
          </p:nvGrpSpPr>
          <p:grpSpPr>
            <a:xfrm>
              <a:off x="1488" y="1066"/>
              <a:ext cx="384" cy="290"/>
              <a:chOff x="1104" y="1008"/>
              <a:chExt cx="384" cy="290"/>
            </a:xfrm>
          </p:grpSpPr>
          <p:sp>
            <p:nvSpPr>
              <p:cNvPr id="384050" name="Text Box 10"/>
              <p:cNvSpPr txBox="1"/>
              <p:nvPr/>
            </p:nvSpPr>
            <p:spPr>
              <a:xfrm>
                <a:off x="1106" y="1008"/>
                <a:ext cx="3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4051" name="Rectangle 11"/>
              <p:cNvSpPr/>
              <p:nvPr/>
            </p:nvSpPr>
            <p:spPr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4041" name="Group 12"/>
            <p:cNvGrpSpPr/>
            <p:nvPr/>
          </p:nvGrpSpPr>
          <p:grpSpPr>
            <a:xfrm>
              <a:off x="1872" y="1066"/>
              <a:ext cx="384" cy="290"/>
              <a:chOff x="1104" y="1008"/>
              <a:chExt cx="384" cy="290"/>
            </a:xfrm>
          </p:grpSpPr>
          <p:sp>
            <p:nvSpPr>
              <p:cNvPr id="384048" name="Text Box 13"/>
              <p:cNvSpPr txBox="1"/>
              <p:nvPr/>
            </p:nvSpPr>
            <p:spPr>
              <a:xfrm>
                <a:off x="1106" y="1008"/>
                <a:ext cx="3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4049" name="Rectangle 14"/>
              <p:cNvSpPr/>
              <p:nvPr/>
            </p:nvSpPr>
            <p:spPr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4042" name="Group 15"/>
            <p:cNvGrpSpPr/>
            <p:nvPr/>
          </p:nvGrpSpPr>
          <p:grpSpPr>
            <a:xfrm>
              <a:off x="2256" y="1066"/>
              <a:ext cx="384" cy="290"/>
              <a:chOff x="1104" y="1008"/>
              <a:chExt cx="384" cy="290"/>
            </a:xfrm>
          </p:grpSpPr>
          <p:sp>
            <p:nvSpPr>
              <p:cNvPr id="384046" name="Text Box 16"/>
              <p:cNvSpPr txBox="1"/>
              <p:nvPr/>
            </p:nvSpPr>
            <p:spPr>
              <a:xfrm>
                <a:off x="1106" y="1008"/>
                <a:ext cx="3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4047" name="Rectangle 17"/>
              <p:cNvSpPr/>
              <p:nvPr/>
            </p:nvSpPr>
            <p:spPr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4043" name="Group 18"/>
            <p:cNvGrpSpPr/>
            <p:nvPr/>
          </p:nvGrpSpPr>
          <p:grpSpPr>
            <a:xfrm>
              <a:off x="2640" y="1066"/>
              <a:ext cx="384" cy="290"/>
              <a:chOff x="1104" y="1008"/>
              <a:chExt cx="384" cy="290"/>
            </a:xfrm>
          </p:grpSpPr>
          <p:sp>
            <p:nvSpPr>
              <p:cNvPr id="384044" name="Text Box 19"/>
              <p:cNvSpPr txBox="1"/>
              <p:nvPr/>
            </p:nvSpPr>
            <p:spPr>
              <a:xfrm>
                <a:off x="1106" y="1008"/>
                <a:ext cx="3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4045" name="Rectangle 20"/>
              <p:cNvSpPr/>
              <p:nvPr/>
            </p:nvSpPr>
            <p:spPr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23605" name="Text Box 21"/>
          <p:cNvSpPr txBox="1"/>
          <p:nvPr/>
        </p:nvSpPr>
        <p:spPr>
          <a:xfrm>
            <a:off x="3435350" y="1143000"/>
            <a:ext cx="2659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8       6        6       6       6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3606" name="Text Box 22"/>
          <p:cNvSpPr txBox="1"/>
          <p:nvPr/>
        </p:nvSpPr>
        <p:spPr>
          <a:xfrm>
            <a:off x="3429000" y="2133600"/>
            <a:ext cx="2895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第一操作数地址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23607" name="Text Box 23"/>
          <p:cNvSpPr txBox="1"/>
          <p:nvPr/>
        </p:nvSpPr>
        <p:spPr>
          <a:xfrm>
            <a:off x="3429000" y="2559050"/>
            <a:ext cx="2743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第二操作数地址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23608" name="Text Box 24"/>
          <p:cNvSpPr txBox="1"/>
          <p:nvPr/>
        </p:nvSpPr>
        <p:spPr>
          <a:xfrm>
            <a:off x="3429000" y="2986088"/>
            <a:ext cx="2514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结果的地址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23609" name="Text Box 25"/>
          <p:cNvSpPr txBox="1"/>
          <p:nvPr/>
        </p:nvSpPr>
        <p:spPr>
          <a:xfrm>
            <a:off x="3429000" y="3413125"/>
            <a:ext cx="2667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下一条指令地址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23610" name="Text Box 26"/>
          <p:cNvSpPr txBox="1"/>
          <p:nvPr/>
        </p:nvSpPr>
        <p:spPr>
          <a:xfrm>
            <a:off x="6764338" y="3810000"/>
            <a:ext cx="27606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若 </a:t>
            </a:r>
            <a:r>
              <a:rPr lang="en-US" altLang="zh-CN" sz="2400" b="1" dirty="0">
                <a:latin typeface="Times New Roman" panose="02020603050405020304" pitchFamily="18" charset="0"/>
              </a:rPr>
              <a:t>PC </a:t>
            </a:r>
            <a:r>
              <a:rPr lang="zh-CN" altLang="en-US" sz="2400" b="1" dirty="0">
                <a:latin typeface="Times New Roman" panose="02020603050405020304" pitchFamily="18" charset="0"/>
              </a:rPr>
              <a:t>代替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4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8" name="Group 27"/>
          <p:cNvGrpSpPr/>
          <p:nvPr/>
        </p:nvGrpSpPr>
        <p:grpSpPr>
          <a:xfrm>
            <a:off x="3336925" y="3810000"/>
            <a:ext cx="2698750" cy="460375"/>
            <a:chOff x="1142" y="2378"/>
            <a:chExt cx="1700" cy="290"/>
          </a:xfrm>
        </p:grpSpPr>
        <p:sp>
          <p:nvSpPr>
            <p:cNvPr id="384037" name="Text Box 28"/>
            <p:cNvSpPr txBox="1"/>
            <p:nvPr/>
          </p:nvSpPr>
          <p:spPr>
            <a:xfrm>
              <a:off x="1142" y="2378"/>
              <a:ext cx="170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4038" name="Line 29"/>
            <p:cNvSpPr/>
            <p:nvPr/>
          </p:nvSpPr>
          <p:spPr>
            <a:xfrm>
              <a:off x="2256" y="254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23614" name="Text Box 30"/>
          <p:cNvSpPr txBox="1"/>
          <p:nvPr/>
        </p:nvSpPr>
        <p:spPr>
          <a:xfrm>
            <a:off x="3435350" y="4800600"/>
            <a:ext cx="2913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8            8           8         8  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9" name="Group 31"/>
          <p:cNvGrpSpPr/>
          <p:nvPr/>
        </p:nvGrpSpPr>
        <p:grpSpPr>
          <a:xfrm>
            <a:off x="3276600" y="5181600"/>
            <a:ext cx="3048000" cy="460375"/>
            <a:chOff x="1104" y="3456"/>
            <a:chExt cx="1920" cy="290"/>
          </a:xfrm>
        </p:grpSpPr>
        <p:sp>
          <p:nvSpPr>
            <p:cNvPr id="384029" name="Text Box 32"/>
            <p:cNvSpPr txBox="1"/>
            <p:nvPr/>
          </p:nvSpPr>
          <p:spPr>
            <a:xfrm>
              <a:off x="1154" y="3456"/>
              <a:ext cx="38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OP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4030" name="Text Box 33"/>
            <p:cNvSpPr txBox="1"/>
            <p:nvPr/>
          </p:nvSpPr>
          <p:spPr>
            <a:xfrm>
              <a:off x="1632" y="3456"/>
              <a:ext cx="3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4031" name="Text Box 34"/>
            <p:cNvSpPr txBox="1"/>
            <p:nvPr/>
          </p:nvSpPr>
          <p:spPr>
            <a:xfrm>
              <a:off x="2129" y="3456"/>
              <a:ext cx="3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4032" name="Text Box 35"/>
            <p:cNvSpPr txBox="1"/>
            <p:nvPr/>
          </p:nvSpPr>
          <p:spPr>
            <a:xfrm>
              <a:off x="2592" y="3456"/>
              <a:ext cx="3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4033" name="Rectangle 36"/>
            <p:cNvSpPr/>
            <p:nvPr/>
          </p:nvSpPr>
          <p:spPr>
            <a:xfrm>
              <a:off x="1104" y="34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4034" name="Rectangle 37"/>
            <p:cNvSpPr/>
            <p:nvPr/>
          </p:nvSpPr>
          <p:spPr>
            <a:xfrm>
              <a:off x="1586" y="34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4035" name="Rectangle 38"/>
            <p:cNvSpPr/>
            <p:nvPr/>
          </p:nvSpPr>
          <p:spPr>
            <a:xfrm>
              <a:off x="2064" y="34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4036" name="Rectangle 39"/>
            <p:cNvSpPr/>
            <p:nvPr/>
          </p:nvSpPr>
          <p:spPr>
            <a:xfrm>
              <a:off x="2546" y="3456"/>
              <a:ext cx="47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40"/>
          <p:cNvGrpSpPr/>
          <p:nvPr/>
        </p:nvGrpSpPr>
        <p:grpSpPr>
          <a:xfrm>
            <a:off x="3352800" y="5867400"/>
            <a:ext cx="2698750" cy="460375"/>
            <a:chOff x="1142" y="2378"/>
            <a:chExt cx="1700" cy="290"/>
          </a:xfrm>
        </p:grpSpPr>
        <p:sp>
          <p:nvSpPr>
            <p:cNvPr id="384027" name="Text Box 41"/>
            <p:cNvSpPr txBox="1"/>
            <p:nvPr/>
          </p:nvSpPr>
          <p:spPr>
            <a:xfrm>
              <a:off x="1142" y="2378"/>
              <a:ext cx="170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4028" name="Line 42"/>
            <p:cNvSpPr/>
            <p:nvPr/>
          </p:nvSpPr>
          <p:spPr>
            <a:xfrm>
              <a:off x="2256" y="254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23627" name="Text Box 43"/>
          <p:cNvSpPr txBox="1"/>
          <p:nvPr/>
        </p:nvSpPr>
        <p:spPr>
          <a:xfrm>
            <a:off x="6764338" y="2662238"/>
            <a:ext cx="23796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次访存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3628" name="Text Box 44"/>
          <p:cNvSpPr txBox="1"/>
          <p:nvPr/>
        </p:nvSpPr>
        <p:spPr>
          <a:xfrm>
            <a:off x="6764338" y="5181600"/>
            <a:ext cx="22272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次访存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3629" name="Text Box 45"/>
          <p:cNvSpPr txBox="1"/>
          <p:nvPr/>
        </p:nvSpPr>
        <p:spPr>
          <a:xfrm>
            <a:off x="6764338" y="3235325"/>
            <a:ext cx="32178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寻址范围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solidFill>
                  <a:srgbClr val="0000CC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64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3630" name="Text Box 46"/>
          <p:cNvSpPr txBox="1"/>
          <p:nvPr/>
        </p:nvSpPr>
        <p:spPr>
          <a:xfrm>
            <a:off x="6764338" y="5676900"/>
            <a:ext cx="31416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寻址范围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solidFill>
                  <a:srgbClr val="0000CC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256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3631" name="Text Box 47"/>
          <p:cNvSpPr txBox="1"/>
          <p:nvPr/>
        </p:nvSpPr>
        <p:spPr>
          <a:xfrm>
            <a:off x="6764338" y="6172200"/>
            <a:ext cx="35052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latin typeface="Times New Roman" panose="02020603050405020304" pitchFamily="18" charset="0"/>
              </a:rPr>
              <a:t>用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</a:rPr>
              <a:t>或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</a:rPr>
              <a:t>代替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323632" name="Rectangle 4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Group 49"/>
          <p:cNvGrpSpPr/>
          <p:nvPr/>
        </p:nvGrpSpPr>
        <p:grpSpPr>
          <a:xfrm>
            <a:off x="6764338" y="1539875"/>
            <a:ext cx="3370262" cy="960438"/>
            <a:chOff x="3301" y="970"/>
            <a:chExt cx="2123" cy="605"/>
          </a:xfrm>
        </p:grpSpPr>
        <p:sp>
          <p:nvSpPr>
            <p:cNvPr id="384025" name="Text Box 50"/>
            <p:cNvSpPr txBox="1"/>
            <p:nvPr/>
          </p:nvSpPr>
          <p:spPr>
            <a:xfrm>
              <a:off x="3301" y="970"/>
              <a:ext cx="2123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9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设指令字长为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32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4026" name="Text Box 51"/>
            <p:cNvSpPr txBox="1"/>
            <p:nvPr/>
          </p:nvSpPr>
          <p:spPr>
            <a:xfrm>
              <a:off x="3301" y="1308"/>
              <a:ext cx="2123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9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操作码固定为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8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4023" name="AutoShape 5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4024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3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3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2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2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23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23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/>
      <p:bldP spid="323588" grpId="0"/>
      <p:bldP spid="323605" grpId="0"/>
      <p:bldP spid="323606" grpId="0"/>
      <p:bldP spid="323607" grpId="0"/>
      <p:bldP spid="323608" grpId="0"/>
      <p:bldP spid="323609" grpId="0"/>
      <p:bldP spid="323610" grpId="0"/>
      <p:bldP spid="323614" grpId="0"/>
      <p:bldP spid="323627" grpId="0"/>
      <p:bldP spid="323628" grpId="0"/>
      <p:bldP spid="323629" grpId="0"/>
      <p:bldP spid="323630" grpId="0"/>
      <p:bldP spid="3236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5026" name="Text Box 2"/>
          <p:cNvSpPr txBox="1"/>
          <p:nvPr/>
        </p:nvSpPr>
        <p:spPr>
          <a:xfrm>
            <a:off x="2057400" y="247650"/>
            <a:ext cx="2667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二地址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819400" y="1295400"/>
            <a:ext cx="3032125" cy="460375"/>
            <a:chOff x="816" y="864"/>
            <a:chExt cx="1910" cy="290"/>
          </a:xfrm>
        </p:grpSpPr>
        <p:sp>
          <p:nvSpPr>
            <p:cNvPr id="385058" name="Rectangle 4"/>
            <p:cNvSpPr/>
            <p:nvPr/>
          </p:nvSpPr>
          <p:spPr>
            <a:xfrm>
              <a:off x="816" y="864"/>
              <a:ext cx="637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5059" name="Rectangle 5"/>
            <p:cNvSpPr/>
            <p:nvPr/>
          </p:nvSpPr>
          <p:spPr>
            <a:xfrm>
              <a:off x="1453" y="864"/>
              <a:ext cx="637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5060" name="Rectangle 6"/>
            <p:cNvSpPr/>
            <p:nvPr/>
          </p:nvSpPr>
          <p:spPr>
            <a:xfrm>
              <a:off x="2089" y="864"/>
              <a:ext cx="637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5061" name="Text Box 7"/>
            <p:cNvSpPr txBox="1"/>
            <p:nvPr/>
          </p:nvSpPr>
          <p:spPr>
            <a:xfrm>
              <a:off x="927" y="864"/>
              <a:ext cx="38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OP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5062" name="Text Box 8"/>
            <p:cNvSpPr txBox="1"/>
            <p:nvPr/>
          </p:nvSpPr>
          <p:spPr>
            <a:xfrm>
              <a:off x="1597" y="864"/>
              <a:ext cx="3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5063" name="Text Box 9"/>
            <p:cNvSpPr txBox="1"/>
            <p:nvPr/>
          </p:nvSpPr>
          <p:spPr>
            <a:xfrm>
              <a:off x="2221" y="864"/>
              <a:ext cx="3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4618" name="Text Box 10"/>
          <p:cNvSpPr txBox="1"/>
          <p:nvPr/>
        </p:nvSpPr>
        <p:spPr>
          <a:xfrm>
            <a:off x="3128963" y="776288"/>
            <a:ext cx="2405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8              12           12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1"/>
          <p:cNvGrpSpPr/>
          <p:nvPr/>
        </p:nvGrpSpPr>
        <p:grpSpPr>
          <a:xfrm>
            <a:off x="3124200" y="1876425"/>
            <a:ext cx="2698750" cy="460375"/>
            <a:chOff x="1142" y="2378"/>
            <a:chExt cx="1700" cy="290"/>
          </a:xfrm>
        </p:grpSpPr>
        <p:sp>
          <p:nvSpPr>
            <p:cNvPr id="385056" name="Text Box 12"/>
            <p:cNvSpPr txBox="1"/>
            <p:nvPr/>
          </p:nvSpPr>
          <p:spPr>
            <a:xfrm>
              <a:off x="1142" y="2378"/>
              <a:ext cx="170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5057" name="Line 13"/>
            <p:cNvSpPr/>
            <p:nvPr/>
          </p:nvSpPr>
          <p:spPr>
            <a:xfrm>
              <a:off x="2256" y="254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" name="Group 14"/>
          <p:cNvGrpSpPr/>
          <p:nvPr/>
        </p:nvGrpSpPr>
        <p:grpSpPr>
          <a:xfrm>
            <a:off x="3124200" y="2457450"/>
            <a:ext cx="2698750" cy="460375"/>
            <a:chOff x="1142" y="2378"/>
            <a:chExt cx="1700" cy="290"/>
          </a:xfrm>
        </p:grpSpPr>
        <p:sp>
          <p:nvSpPr>
            <p:cNvPr id="385054" name="Text Box 15"/>
            <p:cNvSpPr txBox="1"/>
            <p:nvPr/>
          </p:nvSpPr>
          <p:spPr>
            <a:xfrm>
              <a:off x="1142" y="2378"/>
              <a:ext cx="170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5055" name="Line 16"/>
            <p:cNvSpPr/>
            <p:nvPr/>
          </p:nvSpPr>
          <p:spPr>
            <a:xfrm>
              <a:off x="2256" y="254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24625" name="Text Box 17"/>
          <p:cNvSpPr txBox="1"/>
          <p:nvPr/>
        </p:nvSpPr>
        <p:spPr>
          <a:xfrm>
            <a:off x="2514600" y="2125663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或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24626" name="Text Box 18"/>
          <p:cNvSpPr txBox="1"/>
          <p:nvPr/>
        </p:nvSpPr>
        <p:spPr>
          <a:xfrm>
            <a:off x="6765925" y="1905000"/>
            <a:ext cx="2759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次访存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4627" name="Text Box 19"/>
          <p:cNvSpPr txBox="1"/>
          <p:nvPr/>
        </p:nvSpPr>
        <p:spPr>
          <a:xfrm>
            <a:off x="6765925" y="3048000"/>
            <a:ext cx="35972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若</a:t>
            </a:r>
            <a:r>
              <a:rPr lang="en-US" altLang="zh-CN" sz="2400" b="1" dirty="0">
                <a:latin typeface="Times New Roman" panose="02020603050405020304" pitchFamily="18" charset="0"/>
              </a:rPr>
              <a:t>ACC </a:t>
            </a:r>
            <a:r>
              <a:rPr lang="zh-CN" altLang="en-US" sz="2400" b="1" dirty="0">
                <a:latin typeface="Times New Roman" panose="02020603050405020304" pitchFamily="18" charset="0"/>
              </a:rPr>
              <a:t>代替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（或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324628" name="Text Box 20"/>
          <p:cNvSpPr txBox="1"/>
          <p:nvPr/>
        </p:nvSpPr>
        <p:spPr>
          <a:xfrm>
            <a:off x="2743200" y="3038475"/>
            <a:ext cx="27489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若结果存于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ACC    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4629" name="Text Box 21"/>
          <p:cNvSpPr txBox="1"/>
          <p:nvPr/>
        </p:nvSpPr>
        <p:spPr>
          <a:xfrm>
            <a:off x="2057400" y="3687763"/>
            <a:ext cx="2895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(4) </a:t>
            </a:r>
            <a:r>
              <a:rPr lang="zh-CN" altLang="en-US" sz="3200" b="1" dirty="0">
                <a:latin typeface="Times New Roman" panose="02020603050405020304" pitchFamily="18" charset="0"/>
              </a:rPr>
              <a:t>一地址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24630" name="Text Box 22"/>
          <p:cNvSpPr txBox="1"/>
          <p:nvPr/>
        </p:nvSpPr>
        <p:spPr>
          <a:xfrm>
            <a:off x="2057400" y="6019800"/>
            <a:ext cx="2590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(5) </a:t>
            </a:r>
            <a:r>
              <a:rPr lang="zh-CN" altLang="en-US" sz="3200" b="1" dirty="0">
                <a:latin typeface="Times New Roman" panose="02020603050405020304" pitchFamily="18" charset="0"/>
              </a:rPr>
              <a:t>零地址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23"/>
          <p:cNvGrpSpPr/>
          <p:nvPr/>
        </p:nvGrpSpPr>
        <p:grpSpPr>
          <a:xfrm>
            <a:off x="2819400" y="4786313"/>
            <a:ext cx="3048000" cy="471487"/>
            <a:chOff x="912" y="2833"/>
            <a:chExt cx="1920" cy="297"/>
          </a:xfrm>
        </p:grpSpPr>
        <p:sp>
          <p:nvSpPr>
            <p:cNvPr id="385050" name="Rectangle 24"/>
            <p:cNvSpPr/>
            <p:nvPr/>
          </p:nvSpPr>
          <p:spPr>
            <a:xfrm>
              <a:off x="912" y="2842"/>
              <a:ext cx="637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5051" name="Rectangle 25"/>
            <p:cNvSpPr/>
            <p:nvPr/>
          </p:nvSpPr>
          <p:spPr>
            <a:xfrm>
              <a:off x="1549" y="2842"/>
              <a:ext cx="1283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5052" name="Text Box 26"/>
            <p:cNvSpPr txBox="1"/>
            <p:nvPr/>
          </p:nvSpPr>
          <p:spPr>
            <a:xfrm>
              <a:off x="1023" y="2833"/>
              <a:ext cx="38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OP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5053" name="Text Box 27"/>
            <p:cNvSpPr txBox="1"/>
            <p:nvPr/>
          </p:nvSpPr>
          <p:spPr>
            <a:xfrm>
              <a:off x="1985" y="2833"/>
              <a:ext cx="3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4636" name="Text Box 28"/>
          <p:cNvSpPr txBox="1"/>
          <p:nvPr/>
        </p:nvSpPr>
        <p:spPr>
          <a:xfrm>
            <a:off x="3281363" y="4327525"/>
            <a:ext cx="1897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8                     24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4637" name="Text Box 29"/>
          <p:cNvSpPr txBox="1"/>
          <p:nvPr/>
        </p:nvSpPr>
        <p:spPr>
          <a:xfrm>
            <a:off x="4556125" y="613251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无地址码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30"/>
          <p:cNvGrpSpPr/>
          <p:nvPr/>
        </p:nvGrpSpPr>
        <p:grpSpPr>
          <a:xfrm>
            <a:off x="2895600" y="5438775"/>
            <a:ext cx="3381375" cy="460375"/>
            <a:chOff x="864" y="3426"/>
            <a:chExt cx="2130" cy="290"/>
          </a:xfrm>
        </p:grpSpPr>
        <p:sp>
          <p:nvSpPr>
            <p:cNvPr id="385048" name="Text Box 31"/>
            <p:cNvSpPr txBox="1"/>
            <p:nvPr/>
          </p:nvSpPr>
          <p:spPr>
            <a:xfrm>
              <a:off x="864" y="3426"/>
              <a:ext cx="213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(ACC) OP (A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       ACC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85049" name="Line 32"/>
            <p:cNvSpPr/>
            <p:nvPr/>
          </p:nvSpPr>
          <p:spPr>
            <a:xfrm>
              <a:off x="2189" y="359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24641" name="Text Box 33"/>
          <p:cNvSpPr txBox="1"/>
          <p:nvPr/>
        </p:nvSpPr>
        <p:spPr>
          <a:xfrm>
            <a:off x="6765925" y="4800600"/>
            <a:ext cx="1325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次访存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4642" name="Text Box 34"/>
          <p:cNvSpPr txBox="1"/>
          <p:nvPr/>
        </p:nvSpPr>
        <p:spPr>
          <a:xfrm>
            <a:off x="6765925" y="2514600"/>
            <a:ext cx="3140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寻址范围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solidFill>
                  <a:srgbClr val="0000CC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4 K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4643" name="Text Box 35"/>
          <p:cNvSpPr txBox="1"/>
          <p:nvPr/>
        </p:nvSpPr>
        <p:spPr>
          <a:xfrm>
            <a:off x="6705600" y="5410200"/>
            <a:ext cx="297624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寻址范围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solidFill>
                  <a:srgbClr val="0000CC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16 M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4644" name="Text Box 36"/>
          <p:cNvSpPr txBox="1"/>
          <p:nvPr/>
        </p:nvSpPr>
        <p:spPr>
          <a:xfrm>
            <a:off x="5334000" y="3038475"/>
            <a:ext cx="18288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次访存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4645" name="Rectangle 3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5046" name="AutoShape 3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5047" name="日期占位符 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4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4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2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8" grpId="0"/>
      <p:bldP spid="324625" grpId="0"/>
      <p:bldP spid="324626" grpId="0"/>
      <p:bldP spid="324627" grpId="0"/>
      <p:bldP spid="324628" grpId="0"/>
      <p:bldP spid="324629" grpId="0"/>
      <p:bldP spid="324630" grpId="0"/>
      <p:bldP spid="324636" grpId="0"/>
      <p:bldP spid="324637" grpId="0"/>
      <p:bldP spid="324641" grpId="0"/>
      <p:bldP spid="324642" grpId="0"/>
      <p:bldP spid="324643" grpId="0"/>
      <p:bldP spid="3246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6050" name="Text Box 2"/>
          <p:cNvSpPr txBox="1"/>
          <p:nvPr/>
        </p:nvSpPr>
        <p:spPr>
          <a:xfrm>
            <a:off x="2057400" y="349250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二、指令字长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86051" name="Text Box 3"/>
          <p:cNvSpPr txBox="1"/>
          <p:nvPr/>
        </p:nvSpPr>
        <p:spPr>
          <a:xfrm>
            <a:off x="2803525" y="1876425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指令字长决定于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6052" name="Text Box 4"/>
          <p:cNvSpPr txBox="1"/>
          <p:nvPr/>
        </p:nvSpPr>
        <p:spPr>
          <a:xfrm>
            <a:off x="5645150" y="1179513"/>
            <a:ext cx="2316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操作码的长度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6053" name="Text Box 5"/>
          <p:cNvSpPr txBox="1"/>
          <p:nvPr/>
        </p:nvSpPr>
        <p:spPr>
          <a:xfrm>
            <a:off x="3511550" y="4216400"/>
            <a:ext cx="34080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指令字长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存储字长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6054" name="Text Box 6"/>
          <p:cNvSpPr txBox="1"/>
          <p:nvPr/>
        </p:nvSpPr>
        <p:spPr>
          <a:xfrm>
            <a:off x="2438400" y="5003800"/>
            <a:ext cx="3505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指令字长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可变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6055" name="Text Box 7"/>
          <p:cNvSpPr txBox="1"/>
          <p:nvPr/>
        </p:nvSpPr>
        <p:spPr>
          <a:xfrm>
            <a:off x="5645150" y="1876425"/>
            <a:ext cx="3027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操作数地址的长度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6056" name="Text Box 8"/>
          <p:cNvSpPr txBox="1"/>
          <p:nvPr/>
        </p:nvSpPr>
        <p:spPr>
          <a:xfrm>
            <a:off x="5645150" y="2528888"/>
            <a:ext cx="3027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操作数地址的个数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6057" name="Text Box 9"/>
          <p:cNvSpPr txBox="1"/>
          <p:nvPr/>
        </p:nvSpPr>
        <p:spPr>
          <a:xfrm>
            <a:off x="2438400" y="3429000"/>
            <a:ext cx="3886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指令字长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固定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6058" name="Text Box 10"/>
          <p:cNvSpPr txBox="1"/>
          <p:nvPr/>
        </p:nvSpPr>
        <p:spPr>
          <a:xfrm>
            <a:off x="3511550" y="5791200"/>
            <a:ext cx="3027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按字节的倍数变化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6059" name="AutoShape 11"/>
          <p:cNvSpPr/>
          <p:nvPr/>
        </p:nvSpPr>
        <p:spPr>
          <a:xfrm>
            <a:off x="5486400" y="1371600"/>
            <a:ext cx="152400" cy="1524000"/>
          </a:xfrm>
          <a:prstGeom prst="leftBrace">
            <a:avLst>
              <a:gd name="adj1" fmla="val 82546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5644" name="Rectangle 1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6061" name="AutoShape 1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606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7074" name="Text Box 2"/>
          <p:cNvSpPr txBox="1"/>
          <p:nvPr/>
        </p:nvSpPr>
        <p:spPr>
          <a:xfrm>
            <a:off x="2041525" y="152400"/>
            <a:ext cx="1097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小结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87075" name="Text Box 3"/>
          <p:cNvSpPr txBox="1"/>
          <p:nvPr/>
        </p:nvSpPr>
        <p:spPr>
          <a:xfrm>
            <a:off x="2286000" y="1004888"/>
            <a:ext cx="80219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当用一些硬件资源代替指令字中的地址码字段后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7076" name="Text Box 4"/>
          <p:cNvSpPr txBox="1"/>
          <p:nvPr/>
        </p:nvSpPr>
        <p:spPr>
          <a:xfrm>
            <a:off x="2286000" y="3316288"/>
            <a:ext cx="5177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当指令的地址字段为寄存器时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7077" name="Text Box 5"/>
          <p:cNvSpPr txBox="1"/>
          <p:nvPr/>
        </p:nvSpPr>
        <p:spPr>
          <a:xfrm>
            <a:off x="2574925" y="1582738"/>
            <a:ext cx="39522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可扩大指令的寻址范围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7078" name="Text Box 6"/>
          <p:cNvSpPr txBox="1"/>
          <p:nvPr/>
        </p:nvSpPr>
        <p:spPr>
          <a:xfrm>
            <a:off x="2574925" y="2160588"/>
            <a:ext cx="28854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可缩短指令字长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7079" name="Text Box 7"/>
          <p:cNvSpPr txBox="1"/>
          <p:nvPr/>
        </p:nvSpPr>
        <p:spPr>
          <a:xfrm>
            <a:off x="2574925" y="2738438"/>
            <a:ext cx="28854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可减少访存次数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7080" name="Text Box 8"/>
          <p:cNvSpPr txBox="1"/>
          <p:nvPr/>
        </p:nvSpPr>
        <p:spPr>
          <a:xfrm>
            <a:off x="2743200" y="3894138"/>
            <a:ext cx="43205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三地址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OP   R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  R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  R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387081" name="Text Box 9"/>
          <p:cNvSpPr txBox="1"/>
          <p:nvPr/>
        </p:nvSpPr>
        <p:spPr>
          <a:xfrm>
            <a:off x="2743200" y="4471988"/>
            <a:ext cx="37706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二地址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OP   R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  R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387082" name="Text Box 10"/>
          <p:cNvSpPr txBox="1"/>
          <p:nvPr/>
        </p:nvSpPr>
        <p:spPr>
          <a:xfrm>
            <a:off x="2743200" y="5049838"/>
            <a:ext cx="31629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一地址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OP   R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endParaRPr lang="en-US" altLang="zh-CN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387083" name="Text Box 11"/>
          <p:cNvSpPr txBox="1"/>
          <p:nvPr/>
        </p:nvSpPr>
        <p:spPr>
          <a:xfrm>
            <a:off x="2574925" y="6172200"/>
            <a:ext cx="35966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指令执行阶段不访存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7084" name="Text Box 12"/>
          <p:cNvSpPr txBox="1"/>
          <p:nvPr/>
        </p:nvSpPr>
        <p:spPr>
          <a:xfrm>
            <a:off x="2574925" y="5638800"/>
            <a:ext cx="28854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可缩短指令字长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26669" name="Rectangle 1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086" name="AutoShape 1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708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8098" name="Rectangle 2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7.2   </a:t>
            </a:r>
            <a:r>
              <a:rPr lang="zh-CN" altLang="en-US" b="1" dirty="0"/>
              <a:t>操作数类型和操作种类</a:t>
            </a:r>
            <a:endParaRPr lang="zh-CN" altLang="en-US" b="1" dirty="0"/>
          </a:p>
        </p:txBody>
      </p:sp>
      <p:sp>
        <p:nvSpPr>
          <p:cNvPr id="388099" name="Text Box 3"/>
          <p:cNvSpPr txBox="1"/>
          <p:nvPr/>
        </p:nvSpPr>
        <p:spPr>
          <a:xfrm>
            <a:off x="2193925" y="1363663"/>
            <a:ext cx="302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一、操作数类型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88100" name="Group 4"/>
          <p:cNvGrpSpPr/>
          <p:nvPr/>
        </p:nvGrpSpPr>
        <p:grpSpPr>
          <a:xfrm>
            <a:off x="2879725" y="1949450"/>
            <a:ext cx="1249363" cy="2122488"/>
            <a:chOff x="854" y="1228"/>
            <a:chExt cx="787" cy="1337"/>
          </a:xfrm>
        </p:grpSpPr>
        <p:sp>
          <p:nvSpPr>
            <p:cNvPr id="388136" name="Text Box 5"/>
            <p:cNvSpPr txBox="1"/>
            <p:nvPr/>
          </p:nvSpPr>
          <p:spPr>
            <a:xfrm>
              <a:off x="854" y="1228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地址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8137" name="Text Box 6"/>
            <p:cNvSpPr txBox="1"/>
            <p:nvPr/>
          </p:nvSpPr>
          <p:spPr>
            <a:xfrm>
              <a:off x="854" y="1564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数字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8138" name="Text Box 7"/>
            <p:cNvSpPr txBox="1"/>
            <p:nvPr/>
          </p:nvSpPr>
          <p:spPr>
            <a:xfrm>
              <a:off x="854" y="1900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字符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88139" name="Text Box 8"/>
            <p:cNvSpPr txBox="1"/>
            <p:nvPr/>
          </p:nvSpPr>
          <p:spPr>
            <a:xfrm>
              <a:off x="854" y="2236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逻辑数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8101" name="Text Box 9"/>
          <p:cNvSpPr txBox="1"/>
          <p:nvPr/>
        </p:nvSpPr>
        <p:spPr>
          <a:xfrm>
            <a:off x="4521200" y="194945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无符号整数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8102" name="Text Box 10"/>
          <p:cNvSpPr txBox="1"/>
          <p:nvPr/>
        </p:nvSpPr>
        <p:spPr>
          <a:xfrm>
            <a:off x="4521200" y="2482850"/>
            <a:ext cx="4450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定点数、浮点数、十进制数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8103" name="Text Box 11"/>
          <p:cNvSpPr txBox="1"/>
          <p:nvPr/>
        </p:nvSpPr>
        <p:spPr>
          <a:xfrm>
            <a:off x="4521200" y="3016250"/>
            <a:ext cx="11703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ASCII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88104" name="Text Box 12"/>
          <p:cNvSpPr txBox="1"/>
          <p:nvPr/>
        </p:nvSpPr>
        <p:spPr>
          <a:xfrm>
            <a:off x="4521200" y="354965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逻辑运算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88105" name="Text Box 13"/>
          <p:cNvSpPr txBox="1"/>
          <p:nvPr/>
        </p:nvSpPr>
        <p:spPr>
          <a:xfrm>
            <a:off x="2193925" y="4183063"/>
            <a:ext cx="5872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二、数据在存储器中的存放方式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88106" name="Text Box 14"/>
          <p:cNvSpPr txBox="1"/>
          <p:nvPr/>
        </p:nvSpPr>
        <p:spPr>
          <a:xfrm>
            <a:off x="2971800" y="6278563"/>
            <a:ext cx="2819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字地址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为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低字节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地址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88107" name="Text Box 15"/>
          <p:cNvSpPr txBox="1"/>
          <p:nvPr/>
        </p:nvSpPr>
        <p:spPr>
          <a:xfrm>
            <a:off x="7162800" y="6302375"/>
            <a:ext cx="3124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字地址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为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高字节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地址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88108" name="Group 16"/>
          <p:cNvGrpSpPr/>
          <p:nvPr/>
        </p:nvGrpSpPr>
        <p:grpSpPr>
          <a:xfrm>
            <a:off x="2097088" y="4876800"/>
            <a:ext cx="3922712" cy="1339850"/>
            <a:chOff x="361" y="3072"/>
            <a:chExt cx="2471" cy="844"/>
          </a:xfrm>
        </p:grpSpPr>
        <p:grpSp>
          <p:nvGrpSpPr>
            <p:cNvPr id="388124" name="Group 17"/>
            <p:cNvGrpSpPr/>
            <p:nvPr/>
          </p:nvGrpSpPr>
          <p:grpSpPr>
            <a:xfrm>
              <a:off x="361" y="3072"/>
              <a:ext cx="2135" cy="844"/>
              <a:chOff x="361" y="3072"/>
              <a:chExt cx="2135" cy="844"/>
            </a:xfrm>
          </p:grpSpPr>
          <p:sp>
            <p:nvSpPr>
              <p:cNvPr id="388126" name="Rectangle 18"/>
              <p:cNvSpPr/>
              <p:nvPr/>
            </p:nvSpPr>
            <p:spPr>
              <a:xfrm>
                <a:off x="960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7" name="Rectangle 19"/>
              <p:cNvSpPr/>
              <p:nvPr/>
            </p:nvSpPr>
            <p:spPr>
              <a:xfrm>
                <a:off x="960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8" name="Rectangle 20"/>
              <p:cNvSpPr/>
              <p:nvPr/>
            </p:nvSpPr>
            <p:spPr>
              <a:xfrm>
                <a:off x="1344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9" name="Rectangle 21"/>
              <p:cNvSpPr/>
              <p:nvPr/>
            </p:nvSpPr>
            <p:spPr>
              <a:xfrm>
                <a:off x="1344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30" name="Rectangle 22"/>
              <p:cNvSpPr/>
              <p:nvPr/>
            </p:nvSpPr>
            <p:spPr>
              <a:xfrm>
                <a:off x="1728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31" name="Rectangle 23"/>
              <p:cNvSpPr/>
              <p:nvPr/>
            </p:nvSpPr>
            <p:spPr>
              <a:xfrm>
                <a:off x="1728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32" name="Rectangle 24"/>
              <p:cNvSpPr/>
              <p:nvPr/>
            </p:nvSpPr>
            <p:spPr>
              <a:xfrm>
                <a:off x="2112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33" name="Rectangle 25"/>
              <p:cNvSpPr/>
              <p:nvPr/>
            </p:nvSpPr>
            <p:spPr>
              <a:xfrm>
                <a:off x="2112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34" name="Text Box 26"/>
              <p:cNvSpPr txBox="1"/>
              <p:nvPr/>
            </p:nvSpPr>
            <p:spPr>
              <a:xfrm>
                <a:off x="361" y="3072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字地址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35" name="Text Box 27"/>
              <p:cNvSpPr txBox="1"/>
              <p:nvPr/>
            </p:nvSpPr>
            <p:spPr>
              <a:xfrm>
                <a:off x="614" y="3316"/>
                <a:ext cx="227" cy="6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88125" name="Text Box 28"/>
            <p:cNvSpPr txBox="1"/>
            <p:nvPr/>
          </p:nvSpPr>
          <p:spPr>
            <a:xfrm>
              <a:off x="2064" y="3072"/>
              <a:ext cx="7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低字节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8109" name="Group 29"/>
          <p:cNvGrpSpPr/>
          <p:nvPr/>
        </p:nvGrpSpPr>
        <p:grpSpPr>
          <a:xfrm>
            <a:off x="6364288" y="4876800"/>
            <a:ext cx="3846512" cy="1339850"/>
            <a:chOff x="3049" y="3072"/>
            <a:chExt cx="2423" cy="844"/>
          </a:xfrm>
        </p:grpSpPr>
        <p:grpSp>
          <p:nvGrpSpPr>
            <p:cNvPr id="388112" name="Group 30"/>
            <p:cNvGrpSpPr/>
            <p:nvPr/>
          </p:nvGrpSpPr>
          <p:grpSpPr>
            <a:xfrm>
              <a:off x="3049" y="3082"/>
              <a:ext cx="2087" cy="834"/>
              <a:chOff x="3049" y="3082"/>
              <a:chExt cx="2087" cy="834"/>
            </a:xfrm>
          </p:grpSpPr>
          <p:sp>
            <p:nvSpPr>
              <p:cNvPr id="388114" name="Rectangle 31"/>
              <p:cNvSpPr/>
              <p:nvPr/>
            </p:nvSpPr>
            <p:spPr>
              <a:xfrm>
                <a:off x="3600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15" name="Rectangle 32"/>
              <p:cNvSpPr/>
              <p:nvPr/>
            </p:nvSpPr>
            <p:spPr>
              <a:xfrm>
                <a:off x="3600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16" name="Rectangle 33"/>
              <p:cNvSpPr/>
              <p:nvPr/>
            </p:nvSpPr>
            <p:spPr>
              <a:xfrm>
                <a:off x="3984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17" name="Rectangle 34"/>
              <p:cNvSpPr/>
              <p:nvPr/>
            </p:nvSpPr>
            <p:spPr>
              <a:xfrm>
                <a:off x="3984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18" name="Rectangle 35"/>
              <p:cNvSpPr/>
              <p:nvPr/>
            </p:nvSpPr>
            <p:spPr>
              <a:xfrm>
                <a:off x="4368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19" name="Rectangle 36"/>
              <p:cNvSpPr/>
              <p:nvPr/>
            </p:nvSpPr>
            <p:spPr>
              <a:xfrm>
                <a:off x="4368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0" name="Rectangle 37"/>
              <p:cNvSpPr/>
              <p:nvPr/>
            </p:nvSpPr>
            <p:spPr>
              <a:xfrm>
                <a:off x="4752" y="3610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1" name="Rectangle 38"/>
              <p:cNvSpPr/>
              <p:nvPr/>
            </p:nvSpPr>
            <p:spPr>
              <a:xfrm>
                <a:off x="4752" y="3322"/>
                <a:ext cx="38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2" name="Text Box 39"/>
              <p:cNvSpPr txBox="1"/>
              <p:nvPr/>
            </p:nvSpPr>
            <p:spPr>
              <a:xfrm>
                <a:off x="3049" y="3082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字地址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3" name="Text Box 40"/>
              <p:cNvSpPr txBox="1"/>
              <p:nvPr/>
            </p:nvSpPr>
            <p:spPr>
              <a:xfrm>
                <a:off x="3302" y="3316"/>
                <a:ext cx="227" cy="6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88113" name="Text Box 41"/>
            <p:cNvSpPr txBox="1"/>
            <p:nvPr/>
          </p:nvSpPr>
          <p:spPr>
            <a:xfrm>
              <a:off x="4704" y="3072"/>
              <a:ext cx="7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低字节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8110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811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3"/>
          <p:cNvSpPr>
            <a:spLocks noGrp="1"/>
          </p:cNvSpPr>
          <p:nvPr>
            <p:ph idx="1"/>
          </p:nvPr>
        </p:nvSpPr>
        <p:spPr>
          <a:xfrm>
            <a:off x="1981200" y="688340"/>
            <a:ext cx="8229600" cy="204660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小端格式 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	     在这种格式中，字数据的高字节存储在高地址中，而字数据的低字节则存放在低地址中，如图所示。</a:t>
            </a:r>
            <a:endParaRPr lang="zh-CN" altLang="en-US" dirty="0"/>
          </a:p>
        </p:txBody>
      </p:sp>
      <p:sp>
        <p:nvSpPr>
          <p:cNvPr id="36867" name="Rectangle 4"/>
          <p:cNvSpPr/>
          <p:nvPr/>
        </p:nvSpPr>
        <p:spPr>
          <a:xfrm>
            <a:off x="1787525" y="26527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/>
          <p:nvPr/>
        </p:nvGrpSpPr>
        <p:grpSpPr>
          <a:xfrm>
            <a:off x="2900363" y="3284538"/>
            <a:ext cx="1035050" cy="2316162"/>
            <a:chOff x="867" y="2069"/>
            <a:chExt cx="652" cy="1459"/>
          </a:xfrm>
        </p:grpSpPr>
        <p:sp>
          <p:nvSpPr>
            <p:cNvPr id="36869" name="Text Box 5"/>
            <p:cNvSpPr txBox="1"/>
            <p:nvPr/>
          </p:nvSpPr>
          <p:spPr>
            <a:xfrm>
              <a:off x="867" y="322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zh-CN" altLang="en-US" b="1" dirty="0">
                  <a:solidFill>
                    <a:srgbClr val="FF33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低地址</a:t>
              </a:r>
              <a:endParaRPr lang="zh-CN" altLang="en-US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70" name="Line 7"/>
            <p:cNvSpPr/>
            <p:nvPr/>
          </p:nvSpPr>
          <p:spPr>
            <a:xfrm flipV="1">
              <a:off x="1202" y="2498"/>
              <a:ext cx="3" cy="657"/>
            </a:xfrm>
            <a:prstGeom prst="line">
              <a:avLst/>
            </a:prstGeom>
            <a:ln w="762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1" name="Text Box 8"/>
            <p:cNvSpPr txBox="1"/>
            <p:nvPr/>
          </p:nvSpPr>
          <p:spPr>
            <a:xfrm>
              <a:off x="884" y="2069"/>
              <a:ext cx="635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zh-CN" altLang="en-US" b="1" dirty="0">
                  <a:solidFill>
                    <a:srgbClr val="FF33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高地址</a:t>
              </a:r>
              <a:endParaRPr lang="zh-CN" altLang="en-US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72041" name="Group 9"/>
          <p:cNvGraphicFramePr>
            <a:graphicFrameLocks noGrp="1"/>
          </p:cNvGraphicFramePr>
          <p:nvPr/>
        </p:nvGraphicFramePr>
        <p:xfrm>
          <a:off x="3863975" y="3141663"/>
          <a:ext cx="5975350" cy="2305050"/>
        </p:xfrm>
        <a:graphic>
          <a:graphicData uri="http://schemas.openxmlformats.org/drawingml/2006/table">
            <a:tbl>
              <a:tblPr/>
              <a:tblGrid>
                <a:gridCol w="1184275"/>
                <a:gridCol w="1123950"/>
                <a:gridCol w="1068705"/>
                <a:gridCol w="1066800"/>
                <a:gridCol w="1531620"/>
              </a:tblGrid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31      24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23     16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15      8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7      0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2286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字地址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vMerge="1">
                  <a:tcPr/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·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>
              <a:off x="5810250" y="5768340"/>
              <a:ext cx="169545" cy="2768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>
                <a:off x="5810250" y="5768340"/>
                <a:ext cx="169545" cy="276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6140450" y="5723890"/>
              <a:ext cx="160655" cy="3124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6140450" y="5723890"/>
                <a:ext cx="160655" cy="312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6461760" y="5750560"/>
              <a:ext cx="17780" cy="2857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6461760" y="5750560"/>
                <a:ext cx="17780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6720840" y="5768340"/>
              <a:ext cx="133985" cy="19621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6720840" y="5768340"/>
                <a:ext cx="133985" cy="196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6962140" y="5759450"/>
              <a:ext cx="8890" cy="2768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6962140" y="5759450"/>
                <a:ext cx="8890" cy="276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6971030" y="5920105"/>
              <a:ext cx="133985" cy="3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6971030" y="5920105"/>
                <a:ext cx="13398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7140575" y="5741670"/>
              <a:ext cx="360" cy="32131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7140575" y="5741670"/>
                <a:ext cx="360" cy="32131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1981200" y="592455"/>
            <a:ext cx="8229600" cy="240474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大端格式 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	     在这种格式中，字数据的高字节存储在低地址中，而字数据的低字节则存放在高地址中，如图所示。</a:t>
            </a:r>
            <a:endParaRPr lang="zh-CN" altLang="en-US" dirty="0"/>
          </a:p>
        </p:txBody>
      </p:sp>
      <p:sp>
        <p:nvSpPr>
          <p:cNvPr id="35843" name="Rectangle 8"/>
          <p:cNvSpPr/>
          <p:nvPr/>
        </p:nvSpPr>
        <p:spPr>
          <a:xfrm>
            <a:off x="1787525" y="26527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1260" name="Group 25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63975" y="3141663"/>
          <a:ext cx="5975350" cy="2305050"/>
        </p:xfrm>
        <a:graphic>
          <a:graphicData uri="http://schemas.openxmlformats.org/drawingml/2006/table">
            <a:tbl>
              <a:tblPr/>
              <a:tblGrid>
                <a:gridCol w="1184275"/>
                <a:gridCol w="1123950"/>
                <a:gridCol w="1068705"/>
                <a:gridCol w="1066800"/>
                <a:gridCol w="1531620"/>
              </a:tblGrid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31      24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23     16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15      8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7      0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2286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字地址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2860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vMerge="1">
                  <a:tcPr/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grpSp>
        <p:nvGrpSpPr>
          <p:cNvPr id="2" name="Group 254"/>
          <p:cNvGrpSpPr/>
          <p:nvPr/>
        </p:nvGrpSpPr>
        <p:grpSpPr>
          <a:xfrm>
            <a:off x="2900363" y="3284538"/>
            <a:ext cx="1035050" cy="2316162"/>
            <a:chOff x="867" y="2069"/>
            <a:chExt cx="652" cy="1459"/>
          </a:xfrm>
        </p:grpSpPr>
        <p:sp>
          <p:nvSpPr>
            <p:cNvPr id="35874" name="Text Box 255"/>
            <p:cNvSpPr txBox="1"/>
            <p:nvPr/>
          </p:nvSpPr>
          <p:spPr>
            <a:xfrm>
              <a:off x="867" y="322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zh-CN" altLang="en-US" b="1" dirty="0">
                  <a:solidFill>
                    <a:srgbClr val="FF33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低地址</a:t>
              </a:r>
              <a:endParaRPr lang="zh-CN" altLang="en-US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75" name="Line 256"/>
            <p:cNvSpPr/>
            <p:nvPr/>
          </p:nvSpPr>
          <p:spPr>
            <a:xfrm flipV="1">
              <a:off x="1202" y="2498"/>
              <a:ext cx="3" cy="657"/>
            </a:xfrm>
            <a:prstGeom prst="line">
              <a:avLst/>
            </a:prstGeom>
            <a:ln w="762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76" name="Text Box 257"/>
            <p:cNvSpPr txBox="1"/>
            <p:nvPr/>
          </p:nvSpPr>
          <p:spPr>
            <a:xfrm>
              <a:off x="884" y="2069"/>
              <a:ext cx="635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zh-CN" altLang="en-US" b="1" dirty="0">
                  <a:solidFill>
                    <a:srgbClr val="FF33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高地址</a:t>
              </a:r>
              <a:endParaRPr lang="zh-CN" altLang="en-US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22" name="Text Box 2"/>
          <p:cNvSpPr txBox="1"/>
          <p:nvPr/>
        </p:nvSpPr>
        <p:spPr>
          <a:xfrm>
            <a:off x="1676400" y="228600"/>
            <a:ext cx="8382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存储器中的数据存放（存储字长为</a:t>
            </a:r>
            <a:r>
              <a:rPr lang="zh-CN" altLang="en-US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32</a:t>
            </a:r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位）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89123" name="Group 3"/>
          <p:cNvGrpSpPr/>
          <p:nvPr/>
        </p:nvGrpSpPr>
        <p:grpSpPr>
          <a:xfrm>
            <a:off x="2057400" y="765175"/>
            <a:ext cx="8359775" cy="4143375"/>
            <a:chOff x="336" y="482"/>
            <a:chExt cx="5266" cy="2610"/>
          </a:xfrm>
        </p:grpSpPr>
        <p:grpSp>
          <p:nvGrpSpPr>
            <p:cNvPr id="389146" name="Group 4"/>
            <p:cNvGrpSpPr/>
            <p:nvPr/>
          </p:nvGrpSpPr>
          <p:grpSpPr>
            <a:xfrm>
              <a:off x="336" y="491"/>
              <a:ext cx="5266" cy="2601"/>
              <a:chOff x="336" y="491"/>
              <a:chExt cx="5266" cy="2601"/>
            </a:xfrm>
          </p:grpSpPr>
          <p:grpSp>
            <p:nvGrpSpPr>
              <p:cNvPr id="389148" name="Group 5"/>
              <p:cNvGrpSpPr/>
              <p:nvPr/>
            </p:nvGrpSpPr>
            <p:grpSpPr>
              <a:xfrm>
                <a:off x="345" y="491"/>
                <a:ext cx="5257" cy="2601"/>
                <a:chOff x="345" y="491"/>
                <a:chExt cx="5257" cy="2601"/>
              </a:xfrm>
            </p:grpSpPr>
            <p:sp>
              <p:nvSpPr>
                <p:cNvPr id="389154" name="Text Box 6"/>
                <p:cNvSpPr txBox="1"/>
                <p:nvPr/>
              </p:nvSpPr>
              <p:spPr>
                <a:xfrm>
                  <a:off x="4479" y="491"/>
                  <a:ext cx="1123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b="1" dirty="0">
                      <a:latin typeface="Times New Roman" panose="02020603050405020304" pitchFamily="18" charset="0"/>
                    </a:rPr>
                    <a:t>地址（十进制）</a:t>
                  </a:r>
                  <a:endParaRPr lang="zh-CN" altLang="en-US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155" name="Text Box 7"/>
                <p:cNvSpPr txBox="1"/>
                <p:nvPr/>
              </p:nvSpPr>
              <p:spPr>
                <a:xfrm>
                  <a:off x="5049" y="783"/>
                  <a:ext cx="275" cy="228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4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12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20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24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28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115000"/>
                    </a:lnSpc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36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89156" name="Group 8"/>
                <p:cNvGrpSpPr/>
                <p:nvPr/>
              </p:nvGrpSpPr>
              <p:grpSpPr>
                <a:xfrm>
                  <a:off x="345" y="846"/>
                  <a:ext cx="4546" cy="2246"/>
                  <a:chOff x="345" y="846"/>
                  <a:chExt cx="4546" cy="2246"/>
                </a:xfrm>
              </p:grpSpPr>
              <p:sp>
                <p:nvSpPr>
                  <p:cNvPr id="389157" name="Rectangle 9"/>
                  <p:cNvSpPr/>
                  <p:nvPr/>
                </p:nvSpPr>
                <p:spPr>
                  <a:xfrm>
                    <a:off x="569" y="2880"/>
                    <a:ext cx="4322" cy="2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双字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58" name="Rectangle 10"/>
                  <p:cNvSpPr/>
                  <p:nvPr/>
                </p:nvSpPr>
                <p:spPr>
                  <a:xfrm>
                    <a:off x="569" y="2666"/>
                    <a:ext cx="4322" cy="21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双字（地址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32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59" name="Rectangle 11"/>
                  <p:cNvSpPr/>
                  <p:nvPr/>
                </p:nvSpPr>
                <p:spPr>
                  <a:xfrm>
                    <a:off x="569" y="2440"/>
                    <a:ext cx="4322" cy="21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双字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0" name="Rectangle 12"/>
                  <p:cNvSpPr/>
                  <p:nvPr/>
                </p:nvSpPr>
                <p:spPr>
                  <a:xfrm>
                    <a:off x="569" y="2198"/>
                    <a:ext cx="4322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双字（地址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24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1" name="Rectangle 13"/>
                  <p:cNvSpPr/>
                  <p:nvPr/>
                </p:nvSpPr>
                <p:spPr>
                  <a:xfrm>
                    <a:off x="2798" y="1988"/>
                    <a:ext cx="2093" cy="2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半字（地址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20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2" name="Rectangle 14"/>
                  <p:cNvSpPr/>
                  <p:nvPr/>
                </p:nvSpPr>
                <p:spPr>
                  <a:xfrm>
                    <a:off x="569" y="1988"/>
                    <a:ext cx="2229" cy="2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半字（地址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22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3" name="Rectangle 15"/>
                  <p:cNvSpPr/>
                  <p:nvPr/>
                </p:nvSpPr>
                <p:spPr>
                  <a:xfrm>
                    <a:off x="2798" y="1773"/>
                    <a:ext cx="2093" cy="21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半字（地址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16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4" name="Rectangle 16"/>
                  <p:cNvSpPr/>
                  <p:nvPr/>
                </p:nvSpPr>
                <p:spPr>
                  <a:xfrm>
                    <a:off x="569" y="1773"/>
                    <a:ext cx="2229" cy="21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半字（地址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18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5" name="Rectangle 17"/>
                  <p:cNvSpPr/>
                  <p:nvPr/>
                </p:nvSpPr>
                <p:spPr>
                  <a:xfrm>
                    <a:off x="3798" y="1322"/>
                    <a:ext cx="1080" cy="21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字节（地址</a:t>
                    </a:r>
                    <a:r>
                      <a:rPr lang="zh-CN" altLang="en-US" sz="8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8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6" name="Rectangle 18"/>
                  <p:cNvSpPr/>
                  <p:nvPr/>
                </p:nvSpPr>
                <p:spPr>
                  <a:xfrm>
                    <a:off x="2601" y="1322"/>
                    <a:ext cx="1251" cy="21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字节（地址</a:t>
                    </a:r>
                    <a:r>
                      <a:rPr lang="zh-CN" altLang="en-US" sz="8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9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7" name="Rectangle 19"/>
                  <p:cNvSpPr/>
                  <p:nvPr/>
                </p:nvSpPr>
                <p:spPr>
                  <a:xfrm>
                    <a:off x="1510" y="1322"/>
                    <a:ext cx="1101" cy="21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字节（地址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10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8" name="Rectangle 20"/>
                  <p:cNvSpPr/>
                  <p:nvPr/>
                </p:nvSpPr>
                <p:spPr>
                  <a:xfrm>
                    <a:off x="345" y="1322"/>
                    <a:ext cx="1128" cy="21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字节（地址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11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69" name="Rectangle 21"/>
                  <p:cNvSpPr/>
                  <p:nvPr/>
                </p:nvSpPr>
                <p:spPr>
                  <a:xfrm>
                    <a:off x="569" y="1073"/>
                    <a:ext cx="4322" cy="2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字（地址 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4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0" name="Rectangle 22"/>
                  <p:cNvSpPr/>
                  <p:nvPr/>
                </p:nvSpPr>
                <p:spPr>
                  <a:xfrm>
                    <a:off x="569" y="884"/>
                    <a:ext cx="4322" cy="18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57150" tIns="0" rIns="19050" bIns="0" anchor="ctr" anchorCtr="1"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b="1" dirty="0">
                        <a:latin typeface="Arial" panose="020B0604020202020204" pitchFamily="34" charset="0"/>
                      </a:rPr>
                      <a:t>字（地址 </a:t>
                    </a:r>
                    <a:r>
                      <a:rPr lang="en-US" altLang="zh-CN" b="1" dirty="0">
                        <a:latin typeface="Arial" panose="020B0604020202020204" pitchFamily="34" charset="0"/>
                      </a:rPr>
                      <a:t>0</a:t>
                    </a:r>
                    <a:r>
                      <a:rPr lang="zh-CN" altLang="en-US" b="1" dirty="0">
                        <a:latin typeface="Arial" panose="020B0604020202020204" pitchFamily="34" charset="0"/>
                      </a:rPr>
                      <a:t>）</a:t>
                    </a:r>
                    <a:endParaRPr lang="zh-CN" altLang="en-US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1" name="Freeform 23"/>
                  <p:cNvSpPr/>
                  <p:nvPr/>
                </p:nvSpPr>
                <p:spPr>
                  <a:xfrm>
                    <a:off x="365" y="1070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2" name="Line 24"/>
                  <p:cNvSpPr/>
                  <p:nvPr/>
                </p:nvSpPr>
                <p:spPr>
                  <a:xfrm>
                    <a:off x="345" y="846"/>
                    <a:ext cx="0" cy="2246"/>
                  </a:xfrm>
                  <a:prstGeom prst="line">
                    <a:avLst/>
                  </a:prstGeom>
                  <a:ln w="28575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173" name="Line 25"/>
                  <p:cNvSpPr/>
                  <p:nvPr/>
                </p:nvSpPr>
                <p:spPr>
                  <a:xfrm>
                    <a:off x="4891" y="846"/>
                    <a:ext cx="0" cy="2246"/>
                  </a:xfrm>
                  <a:prstGeom prst="line">
                    <a:avLst/>
                  </a:prstGeom>
                  <a:ln w="28575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174" name="Freeform 26"/>
                  <p:cNvSpPr/>
                  <p:nvPr/>
                </p:nvSpPr>
                <p:spPr>
                  <a:xfrm>
                    <a:off x="345" y="846"/>
                    <a:ext cx="4546" cy="1"/>
                  </a:xfrm>
                  <a:custGeom>
                    <a:avLst/>
                    <a:gdLst>
                      <a:gd name="txL" fmla="*/ 0 w 4140"/>
                      <a:gd name="txT" fmla="*/ 0 h 1"/>
                      <a:gd name="txR" fmla="*/ 4140 w 4140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40" y="0"/>
                      </a:cxn>
                    </a:cxnLst>
                    <a:rect l="txL" t="txT" r="txR" b="txB"/>
                    <a:pathLst>
                      <a:path w="4140" h="1">
                        <a:moveTo>
                          <a:pt x="0" y="0"/>
                        </a:moveTo>
                        <a:lnTo>
                          <a:pt x="4140" y="0"/>
                        </a:lnTo>
                      </a:path>
                    </a:pathLst>
                  </a:custGeom>
                  <a:noFill/>
                  <a:ln w="28575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5" name="Freeform 27"/>
                  <p:cNvSpPr/>
                  <p:nvPr/>
                </p:nvSpPr>
                <p:spPr>
                  <a:xfrm>
                    <a:off x="1478" y="1292"/>
                    <a:ext cx="1" cy="452"/>
                  </a:xfrm>
                  <a:custGeom>
                    <a:avLst/>
                    <a:gdLst>
                      <a:gd name="txL" fmla="*/ 0 w 1"/>
                      <a:gd name="txT" fmla="*/ 0 h 432"/>
                      <a:gd name="txR" fmla="*/ 1 w 1"/>
                      <a:gd name="txB" fmla="*/ 432 h 43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32"/>
                      </a:cxn>
                    </a:cxnLst>
                    <a:rect l="txL" t="txT" r="txR" b="txB"/>
                    <a:pathLst>
                      <a:path w="1" h="432">
                        <a:moveTo>
                          <a:pt x="0" y="0"/>
                        </a:moveTo>
                        <a:lnTo>
                          <a:pt x="0" y="432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6" name="Freeform 28"/>
                  <p:cNvSpPr/>
                  <p:nvPr/>
                </p:nvSpPr>
                <p:spPr>
                  <a:xfrm>
                    <a:off x="2618" y="1297"/>
                    <a:ext cx="1" cy="903"/>
                  </a:xfrm>
                  <a:custGeom>
                    <a:avLst/>
                    <a:gdLst>
                      <a:gd name="txL" fmla="*/ 0 w 1"/>
                      <a:gd name="txT" fmla="*/ 0 h 864"/>
                      <a:gd name="txR" fmla="*/ 1 w 1"/>
                      <a:gd name="txB" fmla="*/ 864 h 864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864"/>
                      </a:cxn>
                    </a:cxnLst>
                    <a:rect l="txL" t="txT" r="txR" b="txB"/>
                    <a:pathLst>
                      <a:path w="1" h="864">
                        <a:moveTo>
                          <a:pt x="0" y="0"/>
                        </a:moveTo>
                        <a:lnTo>
                          <a:pt x="0" y="864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7" name="Freeform 29"/>
                  <p:cNvSpPr/>
                  <p:nvPr/>
                </p:nvSpPr>
                <p:spPr>
                  <a:xfrm>
                    <a:off x="345" y="1295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8" name="Freeform 30"/>
                  <p:cNvSpPr/>
                  <p:nvPr/>
                </p:nvSpPr>
                <p:spPr>
                  <a:xfrm>
                    <a:off x="345" y="1519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79" name="Freeform 31"/>
                  <p:cNvSpPr/>
                  <p:nvPr/>
                </p:nvSpPr>
                <p:spPr>
                  <a:xfrm>
                    <a:off x="345" y="1743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80" name="Freeform 32"/>
                  <p:cNvSpPr/>
                  <p:nvPr/>
                </p:nvSpPr>
                <p:spPr>
                  <a:xfrm>
                    <a:off x="345" y="1968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81" name="Freeform 33"/>
                  <p:cNvSpPr/>
                  <p:nvPr/>
                </p:nvSpPr>
                <p:spPr>
                  <a:xfrm>
                    <a:off x="345" y="2193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82" name="Freeform 34"/>
                  <p:cNvSpPr/>
                  <p:nvPr/>
                </p:nvSpPr>
                <p:spPr>
                  <a:xfrm>
                    <a:off x="352" y="2417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83" name="Freeform 35"/>
                  <p:cNvSpPr/>
                  <p:nvPr/>
                </p:nvSpPr>
                <p:spPr>
                  <a:xfrm>
                    <a:off x="345" y="2641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84" name="Freeform 36"/>
                  <p:cNvSpPr/>
                  <p:nvPr/>
                </p:nvSpPr>
                <p:spPr>
                  <a:xfrm>
                    <a:off x="345" y="2866"/>
                    <a:ext cx="4526" cy="1"/>
                  </a:xfrm>
                  <a:custGeom>
                    <a:avLst/>
                    <a:gdLst>
                      <a:gd name="txL" fmla="*/ 0 w 4122"/>
                      <a:gd name="txT" fmla="*/ 0 h 1"/>
                      <a:gd name="txR" fmla="*/ 4122 w 412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22" y="0"/>
                      </a:cxn>
                    </a:cxnLst>
                    <a:rect l="txL" t="txT" r="txR" b="tx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9185" name="Freeform 37"/>
                  <p:cNvSpPr/>
                  <p:nvPr/>
                </p:nvSpPr>
                <p:spPr>
                  <a:xfrm>
                    <a:off x="345" y="3091"/>
                    <a:ext cx="4546" cy="1"/>
                  </a:xfrm>
                  <a:custGeom>
                    <a:avLst/>
                    <a:gdLst>
                      <a:gd name="txL" fmla="*/ 0 w 4140"/>
                      <a:gd name="txT" fmla="*/ 0 h 1"/>
                      <a:gd name="txR" fmla="*/ 4140 w 4140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140" y="0"/>
                      </a:cxn>
                    </a:cxnLst>
                    <a:rect l="txL" t="txT" r="txR" b="txB"/>
                    <a:pathLst>
                      <a:path w="4140" h="1">
                        <a:moveTo>
                          <a:pt x="0" y="0"/>
                        </a:moveTo>
                        <a:lnTo>
                          <a:pt x="4140" y="0"/>
                        </a:lnTo>
                      </a:path>
                    </a:pathLst>
                  </a:custGeom>
                  <a:noFill/>
                  <a:ln w="28575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389149" name="Rectangle 38"/>
              <p:cNvSpPr/>
              <p:nvPr/>
            </p:nvSpPr>
            <p:spPr>
              <a:xfrm>
                <a:off x="1514" y="1536"/>
                <a:ext cx="1101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19050" bIns="0" anchor="ctr" anchorCtr="1"/>
              <a:p>
                <a:pPr>
                  <a:spcBef>
                    <a:spcPct val="20000"/>
                  </a:spcBef>
                </a:pPr>
                <a:r>
                  <a:rPr lang="zh-CN" altLang="en-US" b="1" dirty="0">
                    <a:latin typeface="Arial" panose="020B0604020202020204" pitchFamily="34" charset="0"/>
                  </a:rPr>
                  <a:t>字节（地址</a:t>
                </a:r>
                <a:r>
                  <a:rPr lang="en-US" altLang="zh-CN" b="1" dirty="0">
                    <a:latin typeface="Arial" panose="020B0604020202020204" pitchFamily="34" charset="0"/>
                  </a:rPr>
                  <a:t>14</a:t>
                </a:r>
                <a:r>
                  <a:rPr lang="zh-CN" altLang="en-US" b="1" dirty="0">
                    <a:latin typeface="Arial" panose="020B0604020202020204" pitchFamily="34" charset="0"/>
                  </a:rPr>
                  <a:t>）</a:t>
                </a:r>
                <a:endParaRPr lang="zh-CN" altLang="en-US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150" name="Rectangle 39"/>
              <p:cNvSpPr/>
              <p:nvPr/>
            </p:nvSpPr>
            <p:spPr>
              <a:xfrm>
                <a:off x="336" y="1536"/>
                <a:ext cx="1128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57150" tIns="0" rIns="19050" bIns="0" anchor="ctr" anchorCtr="1"/>
              <a:p>
                <a:pPr>
                  <a:spcBef>
                    <a:spcPct val="20000"/>
                  </a:spcBef>
                </a:pPr>
                <a:r>
                  <a:rPr lang="en-US" altLang="zh-CN" b="1" dirty="0">
                    <a:latin typeface="Arial" panose="020B0604020202020204" pitchFamily="34" charset="0"/>
                  </a:rPr>
                  <a:t> </a:t>
                </a:r>
                <a:r>
                  <a:rPr lang="zh-CN" altLang="en-US" b="1" dirty="0">
                    <a:latin typeface="Arial" panose="020B0604020202020204" pitchFamily="34" charset="0"/>
                  </a:rPr>
                  <a:t>字节（地址</a:t>
                </a:r>
                <a:r>
                  <a:rPr lang="en-US" altLang="zh-CN" b="1" dirty="0">
                    <a:latin typeface="Arial" panose="020B0604020202020204" pitchFamily="34" charset="0"/>
                  </a:rPr>
                  <a:t>15</a:t>
                </a:r>
                <a:r>
                  <a:rPr lang="zh-CN" altLang="en-US" b="1" dirty="0">
                    <a:latin typeface="Arial" panose="020B0604020202020204" pitchFamily="34" charset="0"/>
                  </a:rPr>
                  <a:t>）</a:t>
                </a:r>
                <a:endParaRPr lang="zh-CN" altLang="en-US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151" name="Rectangle 40"/>
              <p:cNvSpPr/>
              <p:nvPr/>
            </p:nvSpPr>
            <p:spPr>
              <a:xfrm>
                <a:off x="2664" y="1536"/>
                <a:ext cx="1118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57150" tIns="0" rIns="19050" bIns="0" anchor="ctr" anchorCtr="1"/>
              <a:p>
                <a:pPr>
                  <a:spcBef>
                    <a:spcPct val="20000"/>
                  </a:spcBef>
                </a:pPr>
                <a:r>
                  <a:rPr lang="zh-CN" altLang="en-US" b="1" dirty="0">
                    <a:latin typeface="Arial" panose="020B0604020202020204" pitchFamily="34" charset="0"/>
                  </a:rPr>
                  <a:t>字节（地址</a:t>
                </a:r>
                <a:r>
                  <a:rPr lang="en-US" altLang="zh-CN" b="1" dirty="0">
                    <a:latin typeface="Arial" panose="020B0604020202020204" pitchFamily="34" charset="0"/>
                  </a:rPr>
                  <a:t>13</a:t>
                </a:r>
                <a:r>
                  <a:rPr lang="zh-CN" altLang="en-US" b="1" dirty="0">
                    <a:latin typeface="Arial" panose="020B0604020202020204" pitchFamily="34" charset="0"/>
                  </a:rPr>
                  <a:t>）</a:t>
                </a:r>
                <a:endParaRPr lang="zh-CN" altLang="en-US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152" name="Rectangle 41"/>
              <p:cNvSpPr/>
              <p:nvPr/>
            </p:nvSpPr>
            <p:spPr>
              <a:xfrm>
                <a:off x="3807" y="1536"/>
                <a:ext cx="1080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57150" tIns="0" rIns="19050" bIns="0" anchor="ctr" anchorCtr="1"/>
              <a:p>
                <a:pPr>
                  <a:spcBef>
                    <a:spcPct val="20000"/>
                  </a:spcBef>
                </a:pPr>
                <a:r>
                  <a:rPr lang="zh-CN" altLang="en-US" b="1" dirty="0">
                    <a:latin typeface="Arial" panose="020B0604020202020204" pitchFamily="34" charset="0"/>
                  </a:rPr>
                  <a:t>字节（地址</a:t>
                </a:r>
                <a:r>
                  <a:rPr lang="en-US" altLang="zh-CN" b="1" dirty="0">
                    <a:latin typeface="Arial" panose="020B0604020202020204" pitchFamily="34" charset="0"/>
                  </a:rPr>
                  <a:t>12</a:t>
                </a:r>
                <a:r>
                  <a:rPr lang="zh-CN" altLang="en-US" b="1" dirty="0">
                    <a:latin typeface="Arial" panose="020B0604020202020204" pitchFamily="34" charset="0"/>
                  </a:rPr>
                  <a:t>）</a:t>
                </a:r>
                <a:endParaRPr lang="zh-CN" altLang="en-US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153" name="Freeform 42"/>
              <p:cNvSpPr/>
              <p:nvPr/>
            </p:nvSpPr>
            <p:spPr>
              <a:xfrm>
                <a:off x="3771" y="1292"/>
                <a:ext cx="1" cy="452"/>
              </a:xfrm>
              <a:custGeom>
                <a:avLst/>
                <a:gdLst>
                  <a:gd name="txL" fmla="*/ 0 w 1"/>
                  <a:gd name="txT" fmla="*/ 0 h 432"/>
                  <a:gd name="txR" fmla="*/ 1 w 1"/>
                  <a:gd name="txB" fmla="*/ 432 h 432"/>
                </a:gdLst>
                <a:ahLst/>
                <a:cxnLst>
                  <a:cxn ang="0">
                    <a:pos x="0" y="0"/>
                  </a:cxn>
                  <a:cxn ang="0">
                    <a:pos x="0" y="432"/>
                  </a:cxn>
                </a:cxnLst>
                <a:rect l="txL" t="txT" r="txR" b="txB"/>
                <a:pathLst>
                  <a:path w="1" h="432">
                    <a:moveTo>
                      <a:pt x="0" y="0"/>
                    </a:moveTo>
                    <a:lnTo>
                      <a:pt x="0" y="43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9147" name="Text Box 43"/>
            <p:cNvSpPr txBox="1"/>
            <p:nvPr/>
          </p:nvSpPr>
          <p:spPr>
            <a:xfrm>
              <a:off x="345" y="482"/>
              <a:ext cx="179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边界对准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44"/>
          <p:cNvGrpSpPr/>
          <p:nvPr/>
        </p:nvGrpSpPr>
        <p:grpSpPr>
          <a:xfrm>
            <a:off x="2063750" y="4953000"/>
            <a:ext cx="8297863" cy="1722438"/>
            <a:chOff x="432" y="3120"/>
            <a:chExt cx="4796" cy="1085"/>
          </a:xfrm>
        </p:grpSpPr>
        <p:grpSp>
          <p:nvGrpSpPr>
            <p:cNvPr id="389134" name="Group 45"/>
            <p:cNvGrpSpPr/>
            <p:nvPr/>
          </p:nvGrpSpPr>
          <p:grpSpPr>
            <a:xfrm>
              <a:off x="432" y="3141"/>
              <a:ext cx="4796" cy="1064"/>
              <a:chOff x="432" y="3141"/>
              <a:chExt cx="4796" cy="1064"/>
            </a:xfrm>
          </p:grpSpPr>
          <p:sp>
            <p:nvSpPr>
              <p:cNvPr id="389136" name="Text Box 46"/>
              <p:cNvSpPr txBox="1"/>
              <p:nvPr/>
            </p:nvSpPr>
            <p:spPr>
              <a:xfrm>
                <a:off x="4197" y="3141"/>
                <a:ext cx="10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地址（十进制）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137" name="Text Box 47"/>
              <p:cNvSpPr txBox="1"/>
              <p:nvPr/>
            </p:nvSpPr>
            <p:spPr>
              <a:xfrm>
                <a:off x="4796" y="3333"/>
                <a:ext cx="179" cy="8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lnSpc>
                    <a:spcPct val="14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9138" name="Group 48"/>
              <p:cNvGrpSpPr/>
              <p:nvPr/>
            </p:nvGrpSpPr>
            <p:grpSpPr>
              <a:xfrm>
                <a:off x="432" y="3408"/>
                <a:ext cx="4128" cy="768"/>
                <a:chOff x="432" y="3408"/>
                <a:chExt cx="3936" cy="768"/>
              </a:xfrm>
            </p:grpSpPr>
            <p:sp>
              <p:nvSpPr>
                <p:cNvPr id="389139" name="Rectangle 49"/>
                <p:cNvSpPr/>
                <p:nvPr/>
              </p:nvSpPr>
              <p:spPr>
                <a:xfrm>
                  <a:off x="432" y="3664"/>
                  <a:ext cx="984" cy="25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</a:rPr>
                    <a:t>字节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( </a:t>
                  </a:r>
                  <a:r>
                    <a:rPr lang="zh-CN" altLang="en-US" b="1" dirty="0">
                      <a:latin typeface="Times New Roman" panose="02020603050405020304" pitchFamily="18" charset="0"/>
                    </a:rPr>
                    <a:t>地址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7)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140" name="Rectangle 50"/>
                <p:cNvSpPr/>
                <p:nvPr/>
              </p:nvSpPr>
              <p:spPr>
                <a:xfrm>
                  <a:off x="1416" y="3664"/>
                  <a:ext cx="984" cy="25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</a:rPr>
                    <a:t>字节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( </a:t>
                  </a:r>
                  <a:r>
                    <a:rPr lang="zh-CN" altLang="en-US" b="1" dirty="0">
                      <a:latin typeface="Times New Roman" panose="02020603050405020304" pitchFamily="18" charset="0"/>
                    </a:rPr>
                    <a:t>地址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6)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141" name="Rectangle 51"/>
                <p:cNvSpPr/>
                <p:nvPr/>
              </p:nvSpPr>
              <p:spPr>
                <a:xfrm>
                  <a:off x="432" y="3408"/>
                  <a:ext cx="1968" cy="256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28575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字</a:t>
                  </a:r>
                  <a:r>
                    <a:rPr lang="en-US" altLang="zh-CN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( </a:t>
                  </a:r>
                  <a:r>
                    <a:rPr lang="zh-CN" altLang="en-US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地址</a:t>
                  </a:r>
                  <a:r>
                    <a:rPr lang="en-US" altLang="zh-CN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2)</a:t>
                  </a:r>
                  <a:endParaRPr lang="en-US" altLang="zh-CN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142" name="Rectangle 52"/>
                <p:cNvSpPr/>
                <p:nvPr/>
              </p:nvSpPr>
              <p:spPr>
                <a:xfrm>
                  <a:off x="432" y="3920"/>
                  <a:ext cx="1968" cy="25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</a:rPr>
                    <a:t>半字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( </a:t>
                  </a:r>
                  <a:r>
                    <a:rPr lang="zh-CN" altLang="en-US" b="1" dirty="0">
                      <a:latin typeface="Times New Roman" panose="02020603050405020304" pitchFamily="18" charset="0"/>
                    </a:rPr>
                    <a:t>地址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10)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143" name="Rectangle 53"/>
                <p:cNvSpPr/>
                <p:nvPr/>
              </p:nvSpPr>
              <p:spPr>
                <a:xfrm>
                  <a:off x="2400" y="3920"/>
                  <a:ext cx="1968" cy="25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</a:rPr>
                    <a:t>半字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( </a:t>
                  </a:r>
                  <a:r>
                    <a:rPr lang="zh-CN" altLang="en-US" b="1" dirty="0">
                      <a:latin typeface="Times New Roman" panose="02020603050405020304" pitchFamily="18" charset="0"/>
                    </a:rPr>
                    <a:t>地址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8)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144" name="Rectangle 54"/>
                <p:cNvSpPr/>
                <p:nvPr/>
              </p:nvSpPr>
              <p:spPr>
                <a:xfrm>
                  <a:off x="2400" y="3408"/>
                  <a:ext cx="1968" cy="25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</a:rPr>
                    <a:t>半字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( </a:t>
                  </a:r>
                  <a:r>
                    <a:rPr lang="zh-CN" altLang="en-US" b="1" dirty="0">
                      <a:latin typeface="Times New Roman" panose="02020603050405020304" pitchFamily="18" charset="0"/>
                    </a:rPr>
                    <a:t>地址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0)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145" name="Rectangle 55"/>
                <p:cNvSpPr/>
                <p:nvPr/>
              </p:nvSpPr>
              <p:spPr>
                <a:xfrm>
                  <a:off x="2400" y="3664"/>
                  <a:ext cx="1968" cy="256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28575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字</a:t>
                  </a:r>
                  <a:r>
                    <a:rPr lang="en-US" altLang="zh-CN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( </a:t>
                  </a:r>
                  <a:r>
                    <a:rPr lang="zh-CN" altLang="en-US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地址</a:t>
                  </a:r>
                  <a:r>
                    <a:rPr lang="en-US" altLang="zh-CN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4)</a:t>
                  </a:r>
                  <a:endParaRPr lang="en-US" altLang="zh-CN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89135" name="Text Box 56"/>
            <p:cNvSpPr txBox="1"/>
            <p:nvPr/>
          </p:nvSpPr>
          <p:spPr>
            <a:xfrm>
              <a:off x="432" y="3120"/>
              <a:ext cx="163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边界未对准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8761" name="Text Box 57"/>
          <p:cNvSpPr txBox="1"/>
          <p:nvPr/>
        </p:nvSpPr>
        <p:spPr>
          <a:xfrm>
            <a:off x="8375650" y="2819400"/>
            <a:ext cx="457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28762" name="Text Box 58"/>
          <p:cNvSpPr txBox="1"/>
          <p:nvPr/>
        </p:nvSpPr>
        <p:spPr>
          <a:xfrm>
            <a:off x="8375650" y="3124200"/>
            <a:ext cx="457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28763" name="Text Box 59"/>
          <p:cNvSpPr txBox="1"/>
          <p:nvPr/>
        </p:nvSpPr>
        <p:spPr>
          <a:xfrm>
            <a:off x="4876800" y="2819400"/>
            <a:ext cx="457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28764" name="Text Box 60"/>
          <p:cNvSpPr txBox="1"/>
          <p:nvPr/>
        </p:nvSpPr>
        <p:spPr>
          <a:xfrm>
            <a:off x="4876800" y="3124200"/>
            <a:ext cx="457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28765" name="Text Box 61"/>
          <p:cNvSpPr txBox="1"/>
          <p:nvPr/>
        </p:nvSpPr>
        <p:spPr>
          <a:xfrm>
            <a:off x="6562725" y="3535363"/>
            <a:ext cx="685800" cy="27559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folHlink"/>
                </a:solidFill>
                <a:latin typeface="宋体" panose="02010600030101010101" pitchFamily="2" charset="-122"/>
              </a:rPr>
              <a:t>▲</a:t>
            </a:r>
            <a:r>
              <a:rPr lang="en-US" altLang="zh-CN" sz="1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1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766" name="Text Box 62"/>
          <p:cNvSpPr txBox="1"/>
          <p:nvPr/>
        </p:nvSpPr>
        <p:spPr>
          <a:xfrm>
            <a:off x="6562725" y="4221163"/>
            <a:ext cx="685800" cy="27559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folHlink"/>
                </a:solidFill>
                <a:latin typeface="宋体" panose="02010600030101010101" pitchFamily="2" charset="-122"/>
              </a:rPr>
              <a:t>▲</a:t>
            </a:r>
            <a:r>
              <a:rPr lang="en-US" altLang="zh-CN" sz="1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1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767" name="Rectangle 6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32" name="AutoShape 6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913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61" grpId="0"/>
      <p:bldP spid="328762" grpId="0"/>
      <p:bldP spid="328763" grpId="0"/>
      <p:bldP spid="328764" grpId="0"/>
      <p:bldP spid="328765" grpId="0"/>
      <p:bldP spid="3287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0146" name="Text Box 2"/>
          <p:cNvSpPr txBox="1"/>
          <p:nvPr/>
        </p:nvSpPr>
        <p:spPr>
          <a:xfrm>
            <a:off x="1828800" y="76200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三、操作类型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90147" name="Text Box 3"/>
          <p:cNvSpPr txBox="1"/>
          <p:nvPr/>
        </p:nvSpPr>
        <p:spPr>
          <a:xfrm>
            <a:off x="2286000" y="792163"/>
            <a:ext cx="19735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1.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数据传送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90148" name="Group 4"/>
          <p:cNvGrpSpPr/>
          <p:nvPr/>
        </p:nvGrpSpPr>
        <p:grpSpPr>
          <a:xfrm>
            <a:off x="2646363" y="1419225"/>
            <a:ext cx="741363" cy="933450"/>
            <a:chOff x="707" y="912"/>
            <a:chExt cx="467" cy="588"/>
          </a:xfrm>
        </p:grpSpPr>
        <p:sp>
          <p:nvSpPr>
            <p:cNvPr id="390175" name="Text Box 5"/>
            <p:cNvSpPr txBox="1"/>
            <p:nvPr/>
          </p:nvSpPr>
          <p:spPr>
            <a:xfrm>
              <a:off x="707" y="912"/>
              <a:ext cx="291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源</a:t>
              </a:r>
              <a:endPara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176" name="Text Box 6"/>
            <p:cNvSpPr txBox="1"/>
            <p:nvPr/>
          </p:nvSpPr>
          <p:spPr>
            <a:xfrm>
              <a:off x="707" y="1229"/>
              <a:ext cx="467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目的</a:t>
              </a:r>
              <a:endPara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0149" name="Text Box 7"/>
          <p:cNvSpPr txBox="1"/>
          <p:nvPr/>
        </p:nvSpPr>
        <p:spPr>
          <a:xfrm>
            <a:off x="3849688" y="1419225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寄存器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0" name="Text Box 8"/>
          <p:cNvSpPr txBox="1"/>
          <p:nvPr/>
        </p:nvSpPr>
        <p:spPr>
          <a:xfrm>
            <a:off x="5357813" y="1419225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寄存器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1" name="Text Box 9"/>
          <p:cNvSpPr txBox="1"/>
          <p:nvPr/>
        </p:nvSpPr>
        <p:spPr>
          <a:xfrm>
            <a:off x="3849688" y="1922463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寄存器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2" name="Text Box 10"/>
          <p:cNvSpPr txBox="1"/>
          <p:nvPr/>
        </p:nvSpPr>
        <p:spPr>
          <a:xfrm>
            <a:off x="6897688" y="1922463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寄存器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3" name="Text Box 11"/>
          <p:cNvSpPr txBox="1"/>
          <p:nvPr/>
        </p:nvSpPr>
        <p:spPr>
          <a:xfrm>
            <a:off x="6897688" y="1419225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存储器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4" name="Text Box 12"/>
          <p:cNvSpPr txBox="1"/>
          <p:nvPr/>
        </p:nvSpPr>
        <p:spPr>
          <a:xfrm>
            <a:off x="8345488" y="1419225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存储器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5" name="Text Box 13"/>
          <p:cNvSpPr txBox="1"/>
          <p:nvPr/>
        </p:nvSpPr>
        <p:spPr>
          <a:xfrm>
            <a:off x="5357813" y="1922463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存储器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6" name="Text Box 14"/>
          <p:cNvSpPr txBox="1"/>
          <p:nvPr/>
        </p:nvSpPr>
        <p:spPr>
          <a:xfrm>
            <a:off x="8345488" y="1922463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存储器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0157" name="Text Box 15"/>
          <p:cNvSpPr txBox="1"/>
          <p:nvPr/>
        </p:nvSpPr>
        <p:spPr>
          <a:xfrm>
            <a:off x="2646363" y="3352800"/>
            <a:ext cx="21386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置“</a:t>
            </a:r>
            <a:r>
              <a:rPr lang="en-US" altLang="zh-CN" sz="2200" b="1" dirty="0">
                <a:latin typeface="Times New Roman" panose="02020603050405020304" pitchFamily="18" charset="0"/>
              </a:rPr>
              <a:t>1”</a:t>
            </a:r>
            <a:r>
              <a:rPr lang="zh-CN" altLang="en-US" sz="2200" b="1" dirty="0">
                <a:latin typeface="Times New Roman" panose="02020603050405020304" pitchFamily="18" charset="0"/>
              </a:rPr>
              <a:t>，清“</a:t>
            </a:r>
            <a:r>
              <a:rPr lang="en-US" altLang="zh-CN" sz="2200" b="1" dirty="0">
                <a:latin typeface="Times New Roman" panose="02020603050405020304" pitchFamily="18" charset="0"/>
              </a:rPr>
              <a:t>0”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sp>
        <p:nvSpPr>
          <p:cNvPr id="329744" name="Text Box 16"/>
          <p:cNvSpPr txBox="1"/>
          <p:nvPr/>
        </p:nvSpPr>
        <p:spPr>
          <a:xfrm>
            <a:off x="2286000" y="3976688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</a:rPr>
              <a:t>算术逻辑操作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29745" name="Text Box 17"/>
          <p:cNvSpPr txBox="1"/>
          <p:nvPr/>
        </p:nvSpPr>
        <p:spPr>
          <a:xfrm>
            <a:off x="2689225" y="4572000"/>
            <a:ext cx="75869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加、减、乘、除、增 </a:t>
            </a:r>
            <a:r>
              <a:rPr lang="en-US" altLang="zh-CN" sz="2200" b="1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、减 </a:t>
            </a:r>
            <a:r>
              <a:rPr lang="en-US" altLang="zh-CN" sz="2200" b="1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、求补、浮点运算、十进制运算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29746" name="Text Box 18"/>
          <p:cNvSpPr txBox="1"/>
          <p:nvPr/>
        </p:nvSpPr>
        <p:spPr>
          <a:xfrm>
            <a:off x="2689225" y="5059363"/>
            <a:ext cx="68884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与、或、非、异或、位操作、位测试、位清除、位求反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29747" name="Text Box 19"/>
          <p:cNvSpPr txBox="1"/>
          <p:nvPr/>
        </p:nvSpPr>
        <p:spPr>
          <a:xfrm>
            <a:off x="2047875" y="5638800"/>
            <a:ext cx="109093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如 </a:t>
            </a:r>
            <a:r>
              <a:rPr lang="en-US" altLang="zh-CN" sz="2200" b="1" dirty="0">
                <a:latin typeface="Times New Roman" panose="02020603050405020304" pitchFamily="18" charset="0"/>
              </a:rPr>
              <a:t>8086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sp>
        <p:nvSpPr>
          <p:cNvPr id="329748" name="Text Box 20"/>
          <p:cNvSpPr txBox="1"/>
          <p:nvPr/>
        </p:nvSpPr>
        <p:spPr>
          <a:xfrm>
            <a:off x="3849688" y="2470150"/>
            <a:ext cx="97345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MOVE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49" name="Text Box 21"/>
          <p:cNvSpPr txBox="1"/>
          <p:nvPr/>
        </p:nvSpPr>
        <p:spPr>
          <a:xfrm>
            <a:off x="5349875" y="2470150"/>
            <a:ext cx="103886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STORE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50" name="Text Box 22"/>
          <p:cNvSpPr txBox="1"/>
          <p:nvPr/>
        </p:nvSpPr>
        <p:spPr>
          <a:xfrm>
            <a:off x="6897688" y="2470150"/>
            <a:ext cx="91694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LOAD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51" name="Text Box 23"/>
          <p:cNvSpPr txBox="1"/>
          <p:nvPr/>
        </p:nvSpPr>
        <p:spPr>
          <a:xfrm>
            <a:off x="8345488" y="2470150"/>
            <a:ext cx="97345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MOVE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52" name="Text Box 24"/>
          <p:cNvSpPr txBox="1"/>
          <p:nvPr/>
        </p:nvSpPr>
        <p:spPr>
          <a:xfrm>
            <a:off x="5349875" y="3184525"/>
            <a:ext cx="85979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PUSH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53" name="Text Box 25"/>
          <p:cNvSpPr txBox="1"/>
          <p:nvPr/>
        </p:nvSpPr>
        <p:spPr>
          <a:xfrm>
            <a:off x="6897688" y="3184525"/>
            <a:ext cx="69024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POP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54" name="Text Box 26"/>
          <p:cNvSpPr txBox="1"/>
          <p:nvPr/>
        </p:nvSpPr>
        <p:spPr>
          <a:xfrm>
            <a:off x="2646363" y="2427288"/>
            <a:ext cx="7416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例如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9755" name="Text Box 27"/>
          <p:cNvSpPr txBox="1"/>
          <p:nvPr/>
        </p:nvSpPr>
        <p:spPr>
          <a:xfrm>
            <a:off x="5349875" y="2827338"/>
            <a:ext cx="97345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MOVE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56" name="Text Box 28"/>
          <p:cNvSpPr txBox="1"/>
          <p:nvPr/>
        </p:nvSpPr>
        <p:spPr>
          <a:xfrm>
            <a:off x="6897688" y="2827338"/>
            <a:ext cx="97345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MOVE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29757" name="Rectangle 2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758" name="Text Box 30"/>
          <p:cNvSpPr txBox="1"/>
          <p:nvPr/>
        </p:nvSpPr>
        <p:spPr>
          <a:xfrm>
            <a:off x="3276600" y="5716588"/>
            <a:ext cx="7010400" cy="7505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ADD  SUB  MUL  DIV  INC  DEC  CMP  NEG  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AAA  AAS  AAM  AAD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ts val="5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AND   OR   NOT   XOR   TEST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90173" name="AutoShape 3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017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2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2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44" grpId="0"/>
      <p:bldP spid="329745" grpId="0"/>
      <p:bldP spid="329746" grpId="0"/>
      <p:bldP spid="329747" grpId="0"/>
      <p:bldP spid="329748" grpId="0"/>
      <p:bldP spid="329749" grpId="0"/>
      <p:bldP spid="329750" grpId="0"/>
      <p:bldP spid="329751" grpId="0"/>
      <p:bldP spid="329752" grpId="0"/>
      <p:bldP spid="329753" grpId="0"/>
      <p:bldP spid="329754" grpId="0"/>
      <p:bldP spid="329755" grpId="0"/>
      <p:bldP spid="329756" grpId="0"/>
      <p:bldP spid="3297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1170" name="Text Box 2"/>
          <p:cNvSpPr txBox="1"/>
          <p:nvPr/>
        </p:nvSpPr>
        <p:spPr>
          <a:xfrm>
            <a:off x="1889125" y="349250"/>
            <a:ext cx="246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移位操作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30755" name="Text Box 3"/>
          <p:cNvSpPr txBox="1"/>
          <p:nvPr/>
        </p:nvSpPr>
        <p:spPr>
          <a:xfrm>
            <a:off x="2651125" y="101441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算术移位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0756" name="Text Box 4"/>
          <p:cNvSpPr txBox="1"/>
          <p:nvPr/>
        </p:nvSpPr>
        <p:spPr>
          <a:xfrm>
            <a:off x="1889125" y="2168525"/>
            <a:ext cx="1554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转移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30757" name="Text Box 5"/>
          <p:cNvSpPr txBox="1"/>
          <p:nvPr/>
        </p:nvSpPr>
        <p:spPr>
          <a:xfrm>
            <a:off x="2362200" y="2903538"/>
            <a:ext cx="5638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无条件转移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JMP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0758" name="Text Box 6"/>
          <p:cNvSpPr txBox="1"/>
          <p:nvPr/>
        </p:nvSpPr>
        <p:spPr>
          <a:xfrm>
            <a:off x="2362200" y="3529013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条件转移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0759" name="Text Box 7"/>
          <p:cNvSpPr txBox="1"/>
          <p:nvPr/>
        </p:nvSpPr>
        <p:spPr>
          <a:xfrm>
            <a:off x="2438400" y="4184650"/>
            <a:ext cx="42894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结果为零转    （</a:t>
            </a:r>
            <a:r>
              <a:rPr lang="en-US" altLang="zh-CN" sz="2800" b="1" dirty="0">
                <a:latin typeface="Times New Roman" panose="02020603050405020304" pitchFamily="18" charset="0"/>
              </a:rPr>
              <a:t>Z = 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zh-CN" altLang="en-US" sz="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JZ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0760" name="Text Box 8"/>
          <p:cNvSpPr txBox="1"/>
          <p:nvPr/>
        </p:nvSpPr>
        <p:spPr>
          <a:xfrm>
            <a:off x="2438400" y="4749800"/>
            <a:ext cx="43173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结果溢出转    （</a:t>
            </a:r>
            <a:r>
              <a:rPr lang="en-US" altLang="zh-CN" sz="2800" b="1" dirty="0">
                <a:latin typeface="Times New Roman" panose="02020603050405020304" pitchFamily="18" charset="0"/>
              </a:rPr>
              <a:t>O = 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JO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0761" name="Text Box 9"/>
          <p:cNvSpPr txBox="1"/>
          <p:nvPr/>
        </p:nvSpPr>
        <p:spPr>
          <a:xfrm>
            <a:off x="2438400" y="5314950"/>
            <a:ext cx="42767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结果有进位转（</a:t>
            </a:r>
            <a:r>
              <a:rPr lang="en-US" altLang="zh-CN" sz="2800" b="1" dirty="0">
                <a:latin typeface="Times New Roman" panose="02020603050405020304" pitchFamily="18" charset="0"/>
              </a:rPr>
              <a:t>C = 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JC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0762" name="Text Box 10"/>
          <p:cNvSpPr txBox="1"/>
          <p:nvPr/>
        </p:nvSpPr>
        <p:spPr>
          <a:xfrm>
            <a:off x="2438400" y="5881688"/>
            <a:ext cx="31857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跳过一条指令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SKP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0763" name="Text Box 11"/>
          <p:cNvSpPr txBox="1"/>
          <p:nvPr/>
        </p:nvSpPr>
        <p:spPr>
          <a:xfrm>
            <a:off x="2651125" y="1601788"/>
            <a:ext cx="5161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循环移位（带进位和不带进位）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0764" name="Text Box 12"/>
          <p:cNvSpPr txBox="1"/>
          <p:nvPr/>
        </p:nvSpPr>
        <p:spPr>
          <a:xfrm>
            <a:off x="7010400" y="4221163"/>
            <a:ext cx="4622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如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7086600" y="4587875"/>
            <a:ext cx="3532188" cy="1816100"/>
            <a:chOff x="3504" y="2890"/>
            <a:chExt cx="2225" cy="1144"/>
          </a:xfrm>
        </p:grpSpPr>
        <p:grpSp>
          <p:nvGrpSpPr>
            <p:cNvPr id="391187" name="Group 14"/>
            <p:cNvGrpSpPr/>
            <p:nvPr/>
          </p:nvGrpSpPr>
          <p:grpSpPr>
            <a:xfrm>
              <a:off x="3677" y="2890"/>
              <a:ext cx="2052" cy="1144"/>
              <a:chOff x="3677" y="2938"/>
              <a:chExt cx="2052" cy="1144"/>
            </a:xfrm>
          </p:grpSpPr>
          <p:sp>
            <p:nvSpPr>
              <p:cNvPr id="391189" name="Text Box 15"/>
              <p:cNvSpPr txBox="1"/>
              <p:nvPr/>
            </p:nvSpPr>
            <p:spPr>
              <a:xfrm>
                <a:off x="3677" y="2938"/>
                <a:ext cx="379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300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190" name="Text Box 16"/>
              <p:cNvSpPr txBox="1"/>
              <p:nvPr/>
            </p:nvSpPr>
            <p:spPr>
              <a:xfrm>
                <a:off x="3771" y="3174"/>
                <a:ext cx="328" cy="2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191" name="Text Box 17"/>
              <p:cNvSpPr txBox="1"/>
              <p:nvPr/>
            </p:nvSpPr>
            <p:spPr>
              <a:xfrm>
                <a:off x="3677" y="3322"/>
                <a:ext cx="379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305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192" name="Text Box 18"/>
              <p:cNvSpPr txBox="1"/>
              <p:nvPr/>
            </p:nvSpPr>
            <p:spPr>
              <a:xfrm>
                <a:off x="3677" y="3571"/>
                <a:ext cx="379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306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193" name="Text Box 19"/>
              <p:cNvSpPr txBox="1"/>
              <p:nvPr/>
            </p:nvSpPr>
            <p:spPr>
              <a:xfrm>
                <a:off x="3677" y="3811"/>
                <a:ext cx="379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307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194" name="Text Box 20"/>
              <p:cNvSpPr txBox="1"/>
              <p:nvPr/>
            </p:nvSpPr>
            <p:spPr>
              <a:xfrm>
                <a:off x="4061" y="3322"/>
                <a:ext cx="166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SKP  DZ  D = 0 </a:t>
                </a:r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则跳</a:t>
                </a:r>
                <a:endPara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1188" name="Freeform 21"/>
            <p:cNvSpPr/>
            <p:nvPr/>
          </p:nvSpPr>
          <p:spPr>
            <a:xfrm>
              <a:off x="3504" y="3408"/>
              <a:ext cx="192" cy="480"/>
            </a:xfrm>
            <a:custGeom>
              <a:avLst/>
              <a:gdLst>
                <a:gd name="txL" fmla="*/ 0 w 144"/>
                <a:gd name="txT" fmla="*/ 0 h 864"/>
                <a:gd name="txR" fmla="*/ 144 w 144"/>
                <a:gd name="txB" fmla="*/ 864 h 864"/>
              </a:gdLst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0" y="864"/>
                </a:cxn>
                <a:cxn ang="0">
                  <a:pos x="144" y="864"/>
                </a:cxn>
              </a:cxnLst>
              <a:rect l="txL" t="txT" r="txR" b="txB"/>
              <a:pathLst>
                <a:path w="144" h="864">
                  <a:moveTo>
                    <a:pt x="144" y="0"/>
                  </a:moveTo>
                  <a:lnTo>
                    <a:pt x="0" y="0"/>
                  </a:lnTo>
                  <a:lnTo>
                    <a:pt x="0" y="864"/>
                  </a:lnTo>
                  <a:lnTo>
                    <a:pt x="144" y="86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30774" name="Text Box 22"/>
          <p:cNvSpPr txBox="1"/>
          <p:nvPr/>
        </p:nvSpPr>
        <p:spPr>
          <a:xfrm>
            <a:off x="4495800" y="101441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逻辑移位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0775" name="AutoShape 23"/>
          <p:cNvSpPr/>
          <p:nvPr/>
        </p:nvSpPr>
        <p:spPr>
          <a:xfrm>
            <a:off x="8610600" y="4343400"/>
            <a:ext cx="1600200" cy="457200"/>
          </a:xfrm>
          <a:prstGeom prst="wedgeRoundRectCallout">
            <a:avLst>
              <a:gd name="adj1" fmla="val 894"/>
              <a:gd name="adj2" fmla="val 144097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完成触发器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30776" name="Rectangle 2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1185" name="AutoShape 2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118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/>
      <p:bldP spid="330756" grpId="0"/>
      <p:bldP spid="330757" grpId="0"/>
      <p:bldP spid="330758" grpId="0"/>
      <p:bldP spid="330759" grpId="0"/>
      <p:bldP spid="330760" grpId="0"/>
      <p:bldP spid="330761" grpId="0"/>
      <p:bldP spid="330762" grpId="0"/>
      <p:bldP spid="330763" grpId="0"/>
      <p:bldP spid="330764" grpId="0"/>
      <p:bldP spid="330774" grpId="0"/>
      <p:bldP spid="33077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2194" name="Text Box 2"/>
          <p:cNvSpPr txBox="1"/>
          <p:nvPr/>
        </p:nvSpPr>
        <p:spPr>
          <a:xfrm>
            <a:off x="1676400" y="152400"/>
            <a:ext cx="5211763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latin typeface="Times New Roman" panose="02020603050405020304" pitchFamily="18" charset="0"/>
              </a:rPr>
              <a:t>调用和返回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465888" y="5216525"/>
            <a:ext cx="95250" cy="973138"/>
            <a:chOff x="3113" y="3286"/>
            <a:chExt cx="60" cy="613"/>
          </a:xfrm>
        </p:grpSpPr>
        <p:sp>
          <p:nvSpPr>
            <p:cNvPr id="392270" name="Freeform 4"/>
            <p:cNvSpPr/>
            <p:nvPr/>
          </p:nvSpPr>
          <p:spPr>
            <a:xfrm>
              <a:off x="3140" y="3286"/>
              <a:ext cx="1" cy="578"/>
            </a:xfrm>
            <a:custGeom>
              <a:avLst/>
              <a:gdLst>
                <a:gd name="txL" fmla="*/ 0 w 1"/>
                <a:gd name="txT" fmla="*/ 0 h 578"/>
                <a:gd name="txR" fmla="*/ 1 w 1"/>
                <a:gd name="txB" fmla="*/ 578 h 578"/>
              </a:gdLst>
              <a:ahLst/>
              <a:cxnLst>
                <a:cxn ang="0">
                  <a:pos x="1" y="0"/>
                </a:cxn>
                <a:cxn ang="0">
                  <a:pos x="0" y="578"/>
                </a:cxn>
              </a:cxnLst>
              <a:rect l="txL" t="txT" r="txR" b="txB"/>
              <a:pathLst>
                <a:path w="1" h="578">
                  <a:moveTo>
                    <a:pt x="1" y="0"/>
                  </a:moveTo>
                  <a:lnTo>
                    <a:pt x="0" y="578"/>
                  </a:lnTo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71" name="Freeform 5"/>
            <p:cNvSpPr/>
            <p:nvPr/>
          </p:nvSpPr>
          <p:spPr>
            <a:xfrm>
              <a:off x="3113" y="3843"/>
              <a:ext cx="60" cy="56"/>
            </a:xfrm>
            <a:custGeom>
              <a:avLst/>
              <a:gdLst>
                <a:gd name="txL" fmla="*/ 0 w 60"/>
                <a:gd name="txT" fmla="*/ 0 h 50"/>
                <a:gd name="txR" fmla="*/ 60 w 60"/>
                <a:gd name="txB" fmla="*/ 50 h 50"/>
              </a:gdLst>
              <a:ahLst/>
              <a:cxnLst>
                <a:cxn ang="0">
                  <a:pos x="0" y="0"/>
                </a:cxn>
                <a:cxn ang="0">
                  <a:pos x="31" y="50"/>
                </a:cxn>
                <a:cxn ang="0">
                  <a:pos x="60" y="0"/>
                </a:cxn>
                <a:cxn ang="0">
                  <a:pos x="31" y="16"/>
                </a:cxn>
                <a:cxn ang="0">
                  <a:pos x="0" y="0"/>
                </a:cxn>
              </a:cxnLst>
              <a:rect l="txL" t="txT" r="txR" b="txB"/>
              <a:pathLst>
                <a:path w="60" h="50">
                  <a:moveTo>
                    <a:pt x="0" y="0"/>
                  </a:moveTo>
                  <a:lnTo>
                    <a:pt x="31" y="50"/>
                  </a:lnTo>
                  <a:lnTo>
                    <a:pt x="60" y="0"/>
                  </a:lnTo>
                  <a:lnTo>
                    <a:pt x="31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6488113" y="4037013"/>
            <a:ext cx="193675" cy="1179512"/>
            <a:chOff x="3127" y="2468"/>
            <a:chExt cx="122" cy="661"/>
          </a:xfrm>
        </p:grpSpPr>
        <p:sp>
          <p:nvSpPr>
            <p:cNvPr id="392268" name="Freeform 7"/>
            <p:cNvSpPr/>
            <p:nvPr/>
          </p:nvSpPr>
          <p:spPr>
            <a:xfrm>
              <a:off x="3141" y="2468"/>
              <a:ext cx="108" cy="627"/>
            </a:xfrm>
            <a:custGeom>
              <a:avLst/>
              <a:gdLst>
                <a:gd name="txL" fmla="*/ 0 w 108"/>
                <a:gd name="txT" fmla="*/ 0 h 627"/>
                <a:gd name="txR" fmla="*/ 108 w 108"/>
                <a:gd name="txB" fmla="*/ 627 h 627"/>
              </a:gdLst>
              <a:ahLst/>
              <a:cxnLst>
                <a:cxn ang="0">
                  <a:pos x="0" y="0"/>
                </a:cxn>
                <a:cxn ang="0">
                  <a:pos x="40" y="70"/>
                </a:cxn>
                <a:cxn ang="0">
                  <a:pos x="74" y="139"/>
                </a:cxn>
                <a:cxn ang="0">
                  <a:pos x="88" y="175"/>
                </a:cxn>
                <a:cxn ang="0">
                  <a:pos x="99" y="214"/>
                </a:cxn>
                <a:cxn ang="0">
                  <a:pos x="105" y="252"/>
                </a:cxn>
                <a:cxn ang="0">
                  <a:pos x="108" y="293"/>
                </a:cxn>
                <a:cxn ang="0">
                  <a:pos x="105" y="331"/>
                </a:cxn>
                <a:cxn ang="0">
                  <a:pos x="96" y="372"/>
                </a:cxn>
                <a:cxn ang="0">
                  <a:pos x="85" y="418"/>
                </a:cxn>
                <a:cxn ang="0">
                  <a:pos x="71" y="464"/>
                </a:cxn>
                <a:cxn ang="0">
                  <a:pos x="57" y="509"/>
                </a:cxn>
                <a:cxn ang="0">
                  <a:pos x="40" y="553"/>
                </a:cxn>
                <a:cxn ang="0">
                  <a:pos x="26" y="593"/>
                </a:cxn>
                <a:cxn ang="0">
                  <a:pos x="12" y="627"/>
                </a:cxn>
              </a:cxnLst>
              <a:rect l="txL" t="txT" r="txR" b="txB"/>
              <a:pathLst>
                <a:path w="108" h="627">
                  <a:moveTo>
                    <a:pt x="0" y="0"/>
                  </a:moveTo>
                  <a:lnTo>
                    <a:pt x="40" y="70"/>
                  </a:lnTo>
                  <a:lnTo>
                    <a:pt x="74" y="139"/>
                  </a:lnTo>
                  <a:lnTo>
                    <a:pt x="88" y="175"/>
                  </a:lnTo>
                  <a:lnTo>
                    <a:pt x="99" y="214"/>
                  </a:lnTo>
                  <a:lnTo>
                    <a:pt x="105" y="252"/>
                  </a:lnTo>
                  <a:lnTo>
                    <a:pt x="108" y="293"/>
                  </a:lnTo>
                  <a:lnTo>
                    <a:pt x="105" y="331"/>
                  </a:lnTo>
                  <a:lnTo>
                    <a:pt x="96" y="372"/>
                  </a:lnTo>
                  <a:lnTo>
                    <a:pt x="85" y="418"/>
                  </a:lnTo>
                  <a:lnTo>
                    <a:pt x="71" y="464"/>
                  </a:lnTo>
                  <a:lnTo>
                    <a:pt x="57" y="509"/>
                  </a:lnTo>
                  <a:lnTo>
                    <a:pt x="40" y="553"/>
                  </a:lnTo>
                  <a:lnTo>
                    <a:pt x="26" y="593"/>
                  </a:lnTo>
                  <a:lnTo>
                    <a:pt x="12" y="627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69" name="Freeform 8"/>
            <p:cNvSpPr/>
            <p:nvPr/>
          </p:nvSpPr>
          <p:spPr>
            <a:xfrm>
              <a:off x="3127" y="3073"/>
              <a:ext cx="57" cy="56"/>
            </a:xfrm>
            <a:custGeom>
              <a:avLst/>
              <a:gdLst>
                <a:gd name="txL" fmla="*/ 0 w 57"/>
                <a:gd name="txT" fmla="*/ 0 h 56"/>
                <a:gd name="txR" fmla="*/ 57 w 57"/>
                <a:gd name="txB" fmla="*/ 56 h 56"/>
              </a:gdLst>
              <a:ahLst/>
              <a:cxnLst>
                <a:cxn ang="0">
                  <a:pos x="0" y="0"/>
                </a:cxn>
                <a:cxn ang="0">
                  <a:pos x="14" y="56"/>
                </a:cxn>
                <a:cxn ang="0">
                  <a:pos x="57" y="15"/>
                </a:cxn>
                <a:cxn ang="0">
                  <a:pos x="26" y="24"/>
                </a:cxn>
                <a:cxn ang="0">
                  <a:pos x="0" y="0"/>
                </a:cxn>
              </a:cxnLst>
              <a:rect l="txL" t="txT" r="txR" b="txB"/>
              <a:pathLst>
                <a:path w="57" h="56">
                  <a:moveTo>
                    <a:pt x="0" y="0"/>
                  </a:moveTo>
                  <a:lnTo>
                    <a:pt x="14" y="56"/>
                  </a:lnTo>
                  <a:lnTo>
                    <a:pt x="57" y="15"/>
                  </a:lnTo>
                  <a:lnTo>
                    <a:pt x="26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9"/>
          <p:cNvGrpSpPr/>
          <p:nvPr/>
        </p:nvGrpSpPr>
        <p:grpSpPr>
          <a:xfrm>
            <a:off x="6510338" y="3444875"/>
            <a:ext cx="341312" cy="1771650"/>
            <a:chOff x="3141" y="2136"/>
            <a:chExt cx="215" cy="993"/>
          </a:xfrm>
        </p:grpSpPr>
        <p:sp>
          <p:nvSpPr>
            <p:cNvPr id="392266" name="Freeform 10"/>
            <p:cNvSpPr/>
            <p:nvPr/>
          </p:nvSpPr>
          <p:spPr>
            <a:xfrm>
              <a:off x="3141" y="2136"/>
              <a:ext cx="215" cy="959"/>
            </a:xfrm>
            <a:custGeom>
              <a:avLst/>
              <a:gdLst>
                <a:gd name="txL" fmla="*/ 0 w 215"/>
                <a:gd name="txT" fmla="*/ 0 h 959"/>
                <a:gd name="txR" fmla="*/ 215 w 215"/>
                <a:gd name="txB" fmla="*/ 959 h 959"/>
              </a:gdLst>
              <a:ahLst/>
              <a:cxnLst>
                <a:cxn ang="0">
                  <a:pos x="0" y="0"/>
                </a:cxn>
                <a:cxn ang="0">
                  <a:pos x="74" y="140"/>
                </a:cxn>
                <a:cxn ang="0">
                  <a:pos x="108" y="207"/>
                </a:cxn>
                <a:cxn ang="0">
                  <a:pos x="136" y="277"/>
                </a:cxn>
                <a:cxn ang="0">
                  <a:pos x="164" y="342"/>
                </a:cxn>
                <a:cxn ang="0">
                  <a:pos x="187" y="409"/>
                </a:cxn>
                <a:cxn ang="0">
                  <a:pos x="204" y="474"/>
                </a:cxn>
                <a:cxn ang="0">
                  <a:pos x="212" y="536"/>
                </a:cxn>
                <a:cxn ang="0">
                  <a:pos x="215" y="591"/>
                </a:cxn>
                <a:cxn ang="0">
                  <a:pos x="209" y="649"/>
                </a:cxn>
                <a:cxn ang="0">
                  <a:pos x="198" y="709"/>
                </a:cxn>
                <a:cxn ang="0">
                  <a:pos x="181" y="767"/>
                </a:cxn>
                <a:cxn ang="0">
                  <a:pos x="164" y="822"/>
                </a:cxn>
                <a:cxn ang="0">
                  <a:pos x="147" y="875"/>
                </a:cxn>
                <a:cxn ang="0">
                  <a:pos x="130" y="921"/>
                </a:cxn>
                <a:cxn ang="0">
                  <a:pos x="116" y="959"/>
                </a:cxn>
              </a:cxnLst>
              <a:rect l="txL" t="txT" r="txR" b="txB"/>
              <a:pathLst>
                <a:path w="215" h="959">
                  <a:moveTo>
                    <a:pt x="0" y="0"/>
                  </a:moveTo>
                  <a:lnTo>
                    <a:pt x="74" y="140"/>
                  </a:lnTo>
                  <a:lnTo>
                    <a:pt x="108" y="207"/>
                  </a:lnTo>
                  <a:lnTo>
                    <a:pt x="136" y="277"/>
                  </a:lnTo>
                  <a:lnTo>
                    <a:pt x="164" y="342"/>
                  </a:lnTo>
                  <a:lnTo>
                    <a:pt x="187" y="409"/>
                  </a:lnTo>
                  <a:lnTo>
                    <a:pt x="204" y="474"/>
                  </a:lnTo>
                  <a:lnTo>
                    <a:pt x="212" y="536"/>
                  </a:lnTo>
                  <a:lnTo>
                    <a:pt x="215" y="591"/>
                  </a:lnTo>
                  <a:lnTo>
                    <a:pt x="209" y="649"/>
                  </a:lnTo>
                  <a:lnTo>
                    <a:pt x="198" y="709"/>
                  </a:lnTo>
                  <a:lnTo>
                    <a:pt x="181" y="767"/>
                  </a:lnTo>
                  <a:lnTo>
                    <a:pt x="164" y="822"/>
                  </a:lnTo>
                  <a:lnTo>
                    <a:pt x="147" y="875"/>
                  </a:lnTo>
                  <a:lnTo>
                    <a:pt x="130" y="921"/>
                  </a:lnTo>
                  <a:lnTo>
                    <a:pt x="116" y="959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67" name="Freeform 11"/>
            <p:cNvSpPr/>
            <p:nvPr/>
          </p:nvSpPr>
          <p:spPr>
            <a:xfrm>
              <a:off x="3232" y="3073"/>
              <a:ext cx="56" cy="56"/>
            </a:xfrm>
            <a:custGeom>
              <a:avLst/>
              <a:gdLst>
                <a:gd name="txL" fmla="*/ 0 w 56"/>
                <a:gd name="txT" fmla="*/ 0 h 56"/>
                <a:gd name="txR" fmla="*/ 56 w 56"/>
                <a:gd name="txB" fmla="*/ 56 h 56"/>
              </a:gdLst>
              <a:ahLst/>
              <a:cxnLst>
                <a:cxn ang="0">
                  <a:pos x="0" y="0"/>
                </a:cxn>
                <a:cxn ang="0">
                  <a:pos x="17" y="56"/>
                </a:cxn>
                <a:cxn ang="0">
                  <a:pos x="56" y="12"/>
                </a:cxn>
                <a:cxn ang="0">
                  <a:pos x="25" y="22"/>
                </a:cxn>
                <a:cxn ang="0">
                  <a:pos x="0" y="0"/>
                </a:cxn>
              </a:cxnLst>
              <a:rect l="txL" t="txT" r="txR" b="txB"/>
              <a:pathLst>
                <a:path w="56" h="56">
                  <a:moveTo>
                    <a:pt x="0" y="0"/>
                  </a:moveTo>
                  <a:lnTo>
                    <a:pt x="17" y="56"/>
                  </a:lnTo>
                  <a:lnTo>
                    <a:pt x="56" y="12"/>
                  </a:lnTo>
                  <a:lnTo>
                    <a:pt x="25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2"/>
          <p:cNvGrpSpPr/>
          <p:nvPr/>
        </p:nvGrpSpPr>
        <p:grpSpPr>
          <a:xfrm>
            <a:off x="6172200" y="3544888"/>
            <a:ext cx="506413" cy="2644775"/>
            <a:chOff x="2930" y="2192"/>
            <a:chExt cx="319" cy="1482"/>
          </a:xfrm>
        </p:grpSpPr>
        <p:sp>
          <p:nvSpPr>
            <p:cNvPr id="392264" name="Freeform 13"/>
            <p:cNvSpPr/>
            <p:nvPr/>
          </p:nvSpPr>
          <p:spPr>
            <a:xfrm>
              <a:off x="2930" y="2223"/>
              <a:ext cx="319" cy="1451"/>
            </a:xfrm>
            <a:custGeom>
              <a:avLst/>
              <a:gdLst>
                <a:gd name="txL" fmla="*/ 0 w 319"/>
                <a:gd name="txT" fmla="*/ 0 h 1451"/>
                <a:gd name="txR" fmla="*/ 319 w 319"/>
                <a:gd name="txB" fmla="*/ 1451 h 1451"/>
              </a:gdLst>
              <a:ahLst/>
              <a:cxnLst>
                <a:cxn ang="0">
                  <a:pos x="319" y="1451"/>
                </a:cxn>
                <a:cxn ang="0">
                  <a:pos x="262" y="1350"/>
                </a:cxn>
                <a:cxn ang="0">
                  <a:pos x="209" y="1252"/>
                </a:cxn>
                <a:cxn ang="0">
                  <a:pos x="158" y="1153"/>
                </a:cxn>
                <a:cxn ang="0">
                  <a:pos x="110" y="1055"/>
                </a:cxn>
                <a:cxn ang="0">
                  <a:pos x="70" y="956"/>
                </a:cxn>
                <a:cxn ang="0">
                  <a:pos x="37" y="860"/>
                </a:cxn>
                <a:cxn ang="0">
                  <a:pos x="14" y="764"/>
                </a:cxn>
                <a:cxn ang="0">
                  <a:pos x="6" y="716"/>
                </a:cxn>
                <a:cxn ang="0">
                  <a:pos x="0" y="670"/>
                </a:cxn>
                <a:cxn ang="0">
                  <a:pos x="0" y="584"/>
                </a:cxn>
                <a:cxn ang="0">
                  <a:pos x="8" y="497"/>
                </a:cxn>
                <a:cxn ang="0">
                  <a:pos x="25" y="411"/>
                </a:cxn>
                <a:cxn ang="0">
                  <a:pos x="51" y="329"/>
                </a:cxn>
                <a:cxn ang="0">
                  <a:pos x="79" y="245"/>
                </a:cxn>
                <a:cxn ang="0">
                  <a:pos x="116" y="163"/>
                </a:cxn>
                <a:cxn ang="0">
                  <a:pos x="155" y="82"/>
                </a:cxn>
                <a:cxn ang="0">
                  <a:pos x="195" y="0"/>
                </a:cxn>
              </a:cxnLst>
              <a:rect l="txL" t="txT" r="txR" b="txB"/>
              <a:pathLst>
                <a:path w="319" h="1451">
                  <a:moveTo>
                    <a:pt x="319" y="1451"/>
                  </a:moveTo>
                  <a:lnTo>
                    <a:pt x="262" y="1350"/>
                  </a:lnTo>
                  <a:lnTo>
                    <a:pt x="209" y="1252"/>
                  </a:lnTo>
                  <a:lnTo>
                    <a:pt x="158" y="1153"/>
                  </a:lnTo>
                  <a:lnTo>
                    <a:pt x="110" y="1055"/>
                  </a:lnTo>
                  <a:lnTo>
                    <a:pt x="70" y="956"/>
                  </a:lnTo>
                  <a:lnTo>
                    <a:pt x="37" y="860"/>
                  </a:lnTo>
                  <a:lnTo>
                    <a:pt x="14" y="764"/>
                  </a:lnTo>
                  <a:lnTo>
                    <a:pt x="6" y="716"/>
                  </a:lnTo>
                  <a:lnTo>
                    <a:pt x="0" y="670"/>
                  </a:lnTo>
                  <a:lnTo>
                    <a:pt x="0" y="584"/>
                  </a:lnTo>
                  <a:lnTo>
                    <a:pt x="8" y="497"/>
                  </a:lnTo>
                  <a:lnTo>
                    <a:pt x="25" y="411"/>
                  </a:lnTo>
                  <a:lnTo>
                    <a:pt x="51" y="329"/>
                  </a:lnTo>
                  <a:lnTo>
                    <a:pt x="79" y="245"/>
                  </a:lnTo>
                  <a:lnTo>
                    <a:pt x="116" y="163"/>
                  </a:lnTo>
                  <a:lnTo>
                    <a:pt x="155" y="82"/>
                  </a:lnTo>
                  <a:lnTo>
                    <a:pt x="195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65" name="Freeform 14"/>
            <p:cNvSpPr/>
            <p:nvPr/>
          </p:nvSpPr>
          <p:spPr>
            <a:xfrm>
              <a:off x="3091" y="2192"/>
              <a:ext cx="53" cy="57"/>
            </a:xfrm>
            <a:custGeom>
              <a:avLst/>
              <a:gdLst>
                <a:gd name="txL" fmla="*/ 0 w 53"/>
                <a:gd name="txT" fmla="*/ 0 h 57"/>
                <a:gd name="txR" fmla="*/ 53 w 53"/>
                <a:gd name="txB" fmla="*/ 57 h 57"/>
              </a:gdLst>
              <a:ahLst/>
              <a:cxnLst>
                <a:cxn ang="0">
                  <a:pos x="53" y="57"/>
                </a:cxn>
                <a:cxn ang="0">
                  <a:pos x="50" y="0"/>
                </a:cxn>
                <a:cxn ang="0">
                  <a:pos x="0" y="36"/>
                </a:cxn>
                <a:cxn ang="0">
                  <a:pos x="34" y="31"/>
                </a:cxn>
                <a:cxn ang="0">
                  <a:pos x="53" y="57"/>
                </a:cxn>
              </a:cxnLst>
              <a:rect l="txL" t="txT" r="txR" b="txB"/>
              <a:pathLst>
                <a:path w="53" h="57">
                  <a:moveTo>
                    <a:pt x="53" y="57"/>
                  </a:moveTo>
                  <a:lnTo>
                    <a:pt x="50" y="0"/>
                  </a:lnTo>
                  <a:lnTo>
                    <a:pt x="0" y="36"/>
                  </a:lnTo>
                  <a:lnTo>
                    <a:pt x="34" y="31"/>
                  </a:lnTo>
                  <a:lnTo>
                    <a:pt x="53" y="57"/>
                  </a:lnTo>
                  <a:close/>
                </a:path>
              </a:pathLst>
            </a:custGeom>
            <a:solidFill>
              <a:srgbClr val="000000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15"/>
          <p:cNvGrpSpPr/>
          <p:nvPr/>
        </p:nvGrpSpPr>
        <p:grpSpPr>
          <a:xfrm>
            <a:off x="6148388" y="4191000"/>
            <a:ext cx="361950" cy="1998663"/>
            <a:chOff x="2913" y="2554"/>
            <a:chExt cx="228" cy="1120"/>
          </a:xfrm>
        </p:grpSpPr>
        <p:sp>
          <p:nvSpPr>
            <p:cNvPr id="392262" name="Freeform 16"/>
            <p:cNvSpPr/>
            <p:nvPr/>
          </p:nvSpPr>
          <p:spPr>
            <a:xfrm>
              <a:off x="2913" y="2583"/>
              <a:ext cx="228" cy="1091"/>
            </a:xfrm>
            <a:custGeom>
              <a:avLst/>
              <a:gdLst>
                <a:gd name="txL" fmla="*/ 0 w 228"/>
                <a:gd name="txT" fmla="*/ 0 h 1091"/>
                <a:gd name="txR" fmla="*/ 228 w 228"/>
                <a:gd name="txB" fmla="*/ 1091 h 1091"/>
              </a:gdLst>
              <a:ahLst/>
              <a:cxnLst>
                <a:cxn ang="0">
                  <a:pos x="228" y="1091"/>
                </a:cxn>
                <a:cxn ang="0">
                  <a:pos x="147" y="928"/>
                </a:cxn>
                <a:cxn ang="0">
                  <a:pos x="107" y="846"/>
                </a:cxn>
                <a:cxn ang="0">
                  <a:pos x="73" y="767"/>
                </a:cxn>
                <a:cxn ang="0">
                  <a:pos x="42" y="690"/>
                </a:cxn>
                <a:cxn ang="0">
                  <a:pos x="20" y="613"/>
                </a:cxn>
                <a:cxn ang="0">
                  <a:pos x="6" y="538"/>
                </a:cxn>
                <a:cxn ang="0">
                  <a:pos x="0" y="466"/>
                </a:cxn>
                <a:cxn ang="0">
                  <a:pos x="6" y="401"/>
                </a:cxn>
                <a:cxn ang="0">
                  <a:pos x="17" y="339"/>
                </a:cxn>
                <a:cxn ang="0">
                  <a:pos x="37" y="279"/>
                </a:cxn>
                <a:cxn ang="0">
                  <a:pos x="65" y="221"/>
                </a:cxn>
                <a:cxn ang="0">
                  <a:pos x="96" y="166"/>
                </a:cxn>
                <a:cxn ang="0">
                  <a:pos x="130" y="108"/>
                </a:cxn>
                <a:cxn ang="0">
                  <a:pos x="206" y="0"/>
                </a:cxn>
              </a:cxnLst>
              <a:rect l="txL" t="txT" r="txR" b="txB"/>
              <a:pathLst>
                <a:path w="228" h="1091">
                  <a:moveTo>
                    <a:pt x="228" y="1091"/>
                  </a:moveTo>
                  <a:lnTo>
                    <a:pt x="147" y="928"/>
                  </a:lnTo>
                  <a:lnTo>
                    <a:pt x="107" y="846"/>
                  </a:lnTo>
                  <a:lnTo>
                    <a:pt x="73" y="767"/>
                  </a:lnTo>
                  <a:lnTo>
                    <a:pt x="42" y="690"/>
                  </a:lnTo>
                  <a:lnTo>
                    <a:pt x="20" y="613"/>
                  </a:lnTo>
                  <a:lnTo>
                    <a:pt x="6" y="538"/>
                  </a:lnTo>
                  <a:lnTo>
                    <a:pt x="0" y="466"/>
                  </a:lnTo>
                  <a:lnTo>
                    <a:pt x="6" y="401"/>
                  </a:lnTo>
                  <a:lnTo>
                    <a:pt x="17" y="339"/>
                  </a:lnTo>
                  <a:lnTo>
                    <a:pt x="37" y="279"/>
                  </a:lnTo>
                  <a:lnTo>
                    <a:pt x="65" y="221"/>
                  </a:lnTo>
                  <a:lnTo>
                    <a:pt x="96" y="166"/>
                  </a:lnTo>
                  <a:lnTo>
                    <a:pt x="130" y="108"/>
                  </a:lnTo>
                  <a:lnTo>
                    <a:pt x="206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63" name="Freeform 17"/>
            <p:cNvSpPr/>
            <p:nvPr/>
          </p:nvSpPr>
          <p:spPr>
            <a:xfrm>
              <a:off x="3085" y="2554"/>
              <a:ext cx="56" cy="58"/>
            </a:xfrm>
            <a:custGeom>
              <a:avLst/>
              <a:gdLst>
                <a:gd name="txL" fmla="*/ 0 w 56"/>
                <a:gd name="txT" fmla="*/ 0 h 58"/>
                <a:gd name="txR" fmla="*/ 56 w 56"/>
                <a:gd name="txB" fmla="*/ 58 h 58"/>
              </a:gdLst>
              <a:ahLst/>
              <a:cxnLst>
                <a:cxn ang="0">
                  <a:pos x="51" y="58"/>
                </a:cxn>
                <a:cxn ang="0">
                  <a:pos x="56" y="0"/>
                </a:cxn>
                <a:cxn ang="0">
                  <a:pos x="0" y="29"/>
                </a:cxn>
                <a:cxn ang="0">
                  <a:pos x="34" y="29"/>
                </a:cxn>
                <a:cxn ang="0">
                  <a:pos x="51" y="58"/>
                </a:cxn>
              </a:cxnLst>
              <a:rect l="txL" t="txT" r="txR" b="txB"/>
              <a:pathLst>
                <a:path w="56" h="58">
                  <a:moveTo>
                    <a:pt x="51" y="58"/>
                  </a:moveTo>
                  <a:lnTo>
                    <a:pt x="56" y="0"/>
                  </a:lnTo>
                  <a:lnTo>
                    <a:pt x="0" y="29"/>
                  </a:lnTo>
                  <a:lnTo>
                    <a:pt x="34" y="29"/>
                  </a:lnTo>
                  <a:lnTo>
                    <a:pt x="51" y="58"/>
                  </a:lnTo>
                  <a:close/>
                </a:path>
              </a:pathLst>
            </a:custGeom>
            <a:solidFill>
              <a:srgbClr val="000000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8"/>
          <p:cNvGrpSpPr/>
          <p:nvPr/>
        </p:nvGrpSpPr>
        <p:grpSpPr>
          <a:xfrm>
            <a:off x="6148388" y="1871663"/>
            <a:ext cx="385762" cy="2924175"/>
            <a:chOff x="2913" y="1255"/>
            <a:chExt cx="243" cy="1638"/>
          </a:xfrm>
        </p:grpSpPr>
        <p:sp>
          <p:nvSpPr>
            <p:cNvPr id="392260" name="Freeform 19"/>
            <p:cNvSpPr/>
            <p:nvPr/>
          </p:nvSpPr>
          <p:spPr>
            <a:xfrm>
              <a:off x="2913" y="1286"/>
              <a:ext cx="228" cy="1607"/>
            </a:xfrm>
            <a:custGeom>
              <a:avLst/>
              <a:gdLst>
                <a:gd name="txL" fmla="*/ 0 w 228"/>
                <a:gd name="txT" fmla="*/ 0 h 1607"/>
                <a:gd name="txR" fmla="*/ 228 w 228"/>
                <a:gd name="txB" fmla="*/ 1607 h 1607"/>
              </a:gdLst>
              <a:ahLst/>
              <a:cxnLst>
                <a:cxn ang="0">
                  <a:pos x="228" y="1607"/>
                </a:cxn>
                <a:cxn ang="0">
                  <a:pos x="147" y="1372"/>
                </a:cxn>
                <a:cxn ang="0">
                  <a:pos x="107" y="1254"/>
                </a:cxn>
                <a:cxn ang="0">
                  <a:pos x="73" y="1139"/>
                </a:cxn>
                <a:cxn ang="0">
                  <a:pos x="42" y="1026"/>
                </a:cxn>
                <a:cxn ang="0">
                  <a:pos x="20" y="915"/>
                </a:cxn>
                <a:cxn ang="0">
                  <a:pos x="6" y="807"/>
                </a:cxn>
                <a:cxn ang="0">
                  <a:pos x="0" y="701"/>
                </a:cxn>
                <a:cxn ang="0">
                  <a:pos x="3" y="653"/>
                </a:cxn>
                <a:cxn ang="0">
                  <a:pos x="8" y="603"/>
                </a:cxn>
                <a:cxn ang="0">
                  <a:pos x="14" y="555"/>
                </a:cxn>
                <a:cxn ang="0">
                  <a:pos x="25" y="504"/>
                </a:cxn>
                <a:cxn ang="0">
                  <a:pos x="54" y="406"/>
                </a:cxn>
                <a:cxn ang="0">
                  <a:pos x="87" y="307"/>
                </a:cxn>
                <a:cxn ang="0">
                  <a:pos x="124" y="216"/>
                </a:cxn>
                <a:cxn ang="0">
                  <a:pos x="141" y="175"/>
                </a:cxn>
                <a:cxn ang="0">
                  <a:pos x="161" y="134"/>
                </a:cxn>
                <a:cxn ang="0">
                  <a:pos x="175" y="96"/>
                </a:cxn>
                <a:cxn ang="0">
                  <a:pos x="192" y="60"/>
                </a:cxn>
                <a:cxn ang="0">
                  <a:pos x="206" y="29"/>
                </a:cxn>
                <a:cxn ang="0">
                  <a:pos x="217" y="0"/>
                </a:cxn>
              </a:cxnLst>
              <a:rect l="txL" t="txT" r="txR" b="txB"/>
              <a:pathLst>
                <a:path w="228" h="1607">
                  <a:moveTo>
                    <a:pt x="228" y="1607"/>
                  </a:moveTo>
                  <a:lnTo>
                    <a:pt x="147" y="1372"/>
                  </a:lnTo>
                  <a:lnTo>
                    <a:pt x="107" y="1254"/>
                  </a:lnTo>
                  <a:lnTo>
                    <a:pt x="73" y="1139"/>
                  </a:lnTo>
                  <a:lnTo>
                    <a:pt x="42" y="1026"/>
                  </a:lnTo>
                  <a:lnTo>
                    <a:pt x="20" y="915"/>
                  </a:lnTo>
                  <a:lnTo>
                    <a:pt x="6" y="807"/>
                  </a:lnTo>
                  <a:lnTo>
                    <a:pt x="0" y="701"/>
                  </a:lnTo>
                  <a:lnTo>
                    <a:pt x="3" y="653"/>
                  </a:lnTo>
                  <a:lnTo>
                    <a:pt x="8" y="603"/>
                  </a:lnTo>
                  <a:lnTo>
                    <a:pt x="14" y="555"/>
                  </a:lnTo>
                  <a:lnTo>
                    <a:pt x="25" y="504"/>
                  </a:lnTo>
                  <a:lnTo>
                    <a:pt x="54" y="406"/>
                  </a:lnTo>
                  <a:lnTo>
                    <a:pt x="87" y="307"/>
                  </a:lnTo>
                  <a:lnTo>
                    <a:pt x="124" y="216"/>
                  </a:lnTo>
                  <a:lnTo>
                    <a:pt x="141" y="175"/>
                  </a:lnTo>
                  <a:lnTo>
                    <a:pt x="161" y="134"/>
                  </a:lnTo>
                  <a:lnTo>
                    <a:pt x="175" y="96"/>
                  </a:lnTo>
                  <a:lnTo>
                    <a:pt x="192" y="60"/>
                  </a:lnTo>
                  <a:lnTo>
                    <a:pt x="206" y="29"/>
                  </a:lnTo>
                  <a:lnTo>
                    <a:pt x="217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61" name="Freeform 20"/>
            <p:cNvSpPr/>
            <p:nvPr/>
          </p:nvSpPr>
          <p:spPr>
            <a:xfrm>
              <a:off x="3099" y="1255"/>
              <a:ext cx="57" cy="55"/>
            </a:xfrm>
            <a:custGeom>
              <a:avLst/>
              <a:gdLst>
                <a:gd name="txL" fmla="*/ 0 w 57"/>
                <a:gd name="txT" fmla="*/ 0 h 55"/>
                <a:gd name="txR" fmla="*/ 57 w 57"/>
                <a:gd name="txB" fmla="*/ 55 h 55"/>
              </a:gdLst>
              <a:ahLst/>
              <a:cxnLst>
                <a:cxn ang="0">
                  <a:pos x="57" y="55"/>
                </a:cxn>
                <a:cxn ang="0">
                  <a:pos x="42" y="0"/>
                </a:cxn>
                <a:cxn ang="0">
                  <a:pos x="0" y="40"/>
                </a:cxn>
                <a:cxn ang="0">
                  <a:pos x="31" y="31"/>
                </a:cxn>
                <a:cxn ang="0">
                  <a:pos x="57" y="55"/>
                </a:cxn>
              </a:cxnLst>
              <a:rect l="txL" t="txT" r="txR" b="txB"/>
              <a:pathLst>
                <a:path w="57" h="55">
                  <a:moveTo>
                    <a:pt x="57" y="55"/>
                  </a:moveTo>
                  <a:lnTo>
                    <a:pt x="42" y="0"/>
                  </a:lnTo>
                  <a:lnTo>
                    <a:pt x="0" y="40"/>
                  </a:lnTo>
                  <a:lnTo>
                    <a:pt x="31" y="31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000000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31797" name="Freeform 21"/>
          <p:cNvSpPr/>
          <p:nvPr/>
        </p:nvSpPr>
        <p:spPr>
          <a:xfrm>
            <a:off x="6510338" y="1784350"/>
            <a:ext cx="171450" cy="1201738"/>
          </a:xfrm>
          <a:custGeom>
            <a:avLst/>
            <a:gdLst>
              <a:gd name="txL" fmla="*/ 0 w 108"/>
              <a:gd name="txT" fmla="*/ 0 h 673"/>
              <a:gd name="txR" fmla="*/ 108 w 108"/>
              <a:gd name="txB" fmla="*/ 673 h 673"/>
            </a:gdLst>
            <a:ahLst/>
            <a:cxnLst>
              <a:cxn ang="0">
                <a:pos x="0" y="673"/>
              </a:cxn>
              <a:cxn ang="0">
                <a:pos x="40" y="592"/>
              </a:cxn>
              <a:cxn ang="0">
                <a:pos x="74" y="510"/>
              </a:cxn>
              <a:cxn ang="0">
                <a:pos x="88" y="469"/>
              </a:cxn>
              <a:cxn ang="0">
                <a:pos x="99" y="428"/>
              </a:cxn>
              <a:cxn ang="0">
                <a:pos x="105" y="387"/>
              </a:cxn>
              <a:cxn ang="0">
                <a:pos x="108" y="346"/>
              </a:cxn>
              <a:cxn ang="0">
                <a:pos x="105" y="301"/>
              </a:cxn>
              <a:cxn ang="0">
                <a:pos x="94" y="253"/>
              </a:cxn>
              <a:cxn ang="0">
                <a:pos x="80" y="202"/>
              </a:cxn>
              <a:cxn ang="0">
                <a:pos x="63" y="152"/>
              </a:cxn>
              <a:cxn ang="0">
                <a:pos x="43" y="106"/>
              </a:cxn>
              <a:cxn ang="0">
                <a:pos x="26" y="63"/>
              </a:cxn>
              <a:cxn ang="0">
                <a:pos x="12" y="27"/>
              </a:cxn>
              <a:cxn ang="0">
                <a:pos x="6" y="12"/>
              </a:cxn>
              <a:cxn ang="0">
                <a:pos x="0" y="0"/>
              </a:cxn>
            </a:cxnLst>
            <a:rect l="txL" t="txT" r="txR" b="txB"/>
            <a:pathLst>
              <a:path w="108" h="673">
                <a:moveTo>
                  <a:pt x="0" y="673"/>
                </a:moveTo>
                <a:lnTo>
                  <a:pt x="40" y="592"/>
                </a:lnTo>
                <a:lnTo>
                  <a:pt x="74" y="510"/>
                </a:lnTo>
                <a:lnTo>
                  <a:pt x="88" y="469"/>
                </a:lnTo>
                <a:lnTo>
                  <a:pt x="99" y="428"/>
                </a:lnTo>
                <a:lnTo>
                  <a:pt x="105" y="387"/>
                </a:lnTo>
                <a:lnTo>
                  <a:pt x="108" y="346"/>
                </a:lnTo>
                <a:lnTo>
                  <a:pt x="105" y="301"/>
                </a:lnTo>
                <a:lnTo>
                  <a:pt x="94" y="253"/>
                </a:lnTo>
                <a:lnTo>
                  <a:pt x="80" y="202"/>
                </a:lnTo>
                <a:lnTo>
                  <a:pt x="63" y="152"/>
                </a:lnTo>
                <a:lnTo>
                  <a:pt x="43" y="106"/>
                </a:lnTo>
                <a:lnTo>
                  <a:pt x="26" y="63"/>
                </a:lnTo>
                <a:lnTo>
                  <a:pt x="12" y="27"/>
                </a:lnTo>
                <a:lnTo>
                  <a:pt x="6" y="12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1798" name="Text Box 22"/>
          <p:cNvSpPr txBox="1"/>
          <p:nvPr/>
        </p:nvSpPr>
        <p:spPr>
          <a:xfrm>
            <a:off x="4127500" y="1690688"/>
            <a:ext cx="14211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b="1" dirty="0">
                <a:latin typeface="Times New Roman" panose="02020603050405020304" pitchFamily="18" charset="0"/>
              </a:rPr>
              <a:t>CALL SUB1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8" name="Group 23"/>
          <p:cNvGrpSpPr/>
          <p:nvPr/>
        </p:nvGrpSpPr>
        <p:grpSpPr>
          <a:xfrm>
            <a:off x="4691062" y="1312863"/>
            <a:ext cx="1819276" cy="465137"/>
            <a:chOff x="1995" y="827"/>
            <a:chExt cx="1146" cy="293"/>
          </a:xfrm>
        </p:grpSpPr>
        <p:sp>
          <p:nvSpPr>
            <p:cNvPr id="392258" name="Freeform 24"/>
            <p:cNvSpPr/>
            <p:nvPr/>
          </p:nvSpPr>
          <p:spPr>
            <a:xfrm>
              <a:off x="3140" y="827"/>
              <a:ext cx="1" cy="293"/>
            </a:xfrm>
            <a:custGeom>
              <a:avLst/>
              <a:gdLst>
                <a:gd name="txL" fmla="*/ 0 w 1"/>
                <a:gd name="txT" fmla="*/ 0 h 293"/>
                <a:gd name="txR" fmla="*/ 1 w 1"/>
                <a:gd name="txB" fmla="*/ 293 h 293"/>
              </a:gdLst>
              <a:ahLst/>
              <a:cxnLst>
                <a:cxn ang="0">
                  <a:pos x="1" y="0"/>
                </a:cxn>
                <a:cxn ang="0">
                  <a:pos x="0" y="293"/>
                </a:cxn>
              </a:cxnLst>
              <a:rect l="txL" t="txT" r="txR" b="txB"/>
              <a:pathLst>
                <a:path w="1" h="293">
                  <a:moveTo>
                    <a:pt x="1" y="0"/>
                  </a:moveTo>
                  <a:lnTo>
                    <a:pt x="0" y="293"/>
                  </a:lnTo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59" name="Text Box 25"/>
            <p:cNvSpPr txBox="1"/>
            <p:nvPr/>
          </p:nvSpPr>
          <p:spPr>
            <a:xfrm>
              <a:off x="1995" y="902"/>
              <a:ext cx="309" cy="1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...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26"/>
          <p:cNvGrpSpPr/>
          <p:nvPr/>
        </p:nvGrpSpPr>
        <p:grpSpPr>
          <a:xfrm>
            <a:off x="4691062" y="2000250"/>
            <a:ext cx="1870076" cy="603251"/>
            <a:chOff x="1995" y="1260"/>
            <a:chExt cx="1178" cy="380"/>
          </a:xfrm>
        </p:grpSpPr>
        <p:grpSp>
          <p:nvGrpSpPr>
            <p:cNvPr id="392253" name="Group 27"/>
            <p:cNvGrpSpPr/>
            <p:nvPr/>
          </p:nvGrpSpPr>
          <p:grpSpPr>
            <a:xfrm>
              <a:off x="3113" y="1260"/>
              <a:ext cx="60" cy="349"/>
              <a:chOff x="3113" y="1260"/>
              <a:chExt cx="60" cy="349"/>
            </a:xfrm>
          </p:grpSpPr>
          <p:sp>
            <p:nvSpPr>
              <p:cNvPr id="392256" name="Freeform 28"/>
              <p:cNvSpPr/>
              <p:nvPr/>
            </p:nvSpPr>
            <p:spPr>
              <a:xfrm>
                <a:off x="3140" y="1260"/>
                <a:ext cx="1" cy="316"/>
              </a:xfrm>
              <a:custGeom>
                <a:avLst/>
                <a:gdLst>
                  <a:gd name="txL" fmla="*/ 0 w 1"/>
                  <a:gd name="txT" fmla="*/ 0 h 316"/>
                  <a:gd name="txR" fmla="*/ 1 w 1"/>
                  <a:gd name="txB" fmla="*/ 316 h 316"/>
                </a:gdLst>
                <a:ahLst/>
                <a:cxnLst>
                  <a:cxn ang="0">
                    <a:pos x="1" y="0"/>
                  </a:cxn>
                  <a:cxn ang="0">
                    <a:pos x="0" y="316"/>
                  </a:cxn>
                </a:cxnLst>
                <a:rect l="txL" t="txT" r="txR" b="txB"/>
                <a:pathLst>
                  <a:path w="1" h="316">
                    <a:moveTo>
                      <a:pt x="1" y="0"/>
                    </a:moveTo>
                    <a:lnTo>
                      <a:pt x="0" y="316"/>
                    </a:lnTo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2257" name="Freeform 29"/>
              <p:cNvSpPr/>
              <p:nvPr/>
            </p:nvSpPr>
            <p:spPr>
              <a:xfrm>
                <a:off x="3113" y="1552"/>
                <a:ext cx="60" cy="57"/>
              </a:xfrm>
              <a:custGeom>
                <a:avLst/>
                <a:gdLst>
                  <a:gd name="txL" fmla="*/ 0 w 60"/>
                  <a:gd name="txT" fmla="*/ 0 h 51"/>
                  <a:gd name="txR" fmla="*/ 60 w 60"/>
                  <a:gd name="txB" fmla="*/ 51 h 51"/>
                </a:gdLst>
                <a:ahLst/>
                <a:cxnLst>
                  <a:cxn ang="0">
                    <a:pos x="0" y="0"/>
                  </a:cxn>
                  <a:cxn ang="0">
                    <a:pos x="31" y="51"/>
                  </a:cxn>
                  <a:cxn ang="0">
                    <a:pos x="60" y="0"/>
                  </a:cxn>
                  <a:cxn ang="0">
                    <a:pos x="31" y="17"/>
                  </a:cxn>
                  <a:cxn ang="0">
                    <a:pos x="0" y="0"/>
                  </a:cxn>
                </a:cxnLst>
                <a:rect l="txL" t="txT" r="txR" b="txB"/>
                <a:pathLst>
                  <a:path w="60" h="51">
                    <a:moveTo>
                      <a:pt x="0" y="0"/>
                    </a:moveTo>
                    <a:lnTo>
                      <a:pt x="31" y="51"/>
                    </a:lnTo>
                    <a:lnTo>
                      <a:pt x="60" y="0"/>
                    </a:lnTo>
                    <a:lnTo>
                      <a:pt x="31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2254" name="Text Box 30"/>
            <p:cNvSpPr txBox="1"/>
            <p:nvPr/>
          </p:nvSpPr>
          <p:spPr>
            <a:xfrm>
              <a:off x="1995" y="1286"/>
              <a:ext cx="309" cy="1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...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55" name="Text Box 31"/>
            <p:cNvSpPr txBox="1"/>
            <p:nvPr/>
          </p:nvSpPr>
          <p:spPr>
            <a:xfrm>
              <a:off x="2006" y="1502"/>
              <a:ext cx="309" cy="13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1808" name="Text Box 32"/>
          <p:cNvSpPr txBox="1"/>
          <p:nvPr/>
        </p:nvSpPr>
        <p:spPr>
          <a:xfrm>
            <a:off x="4114800" y="3290888"/>
            <a:ext cx="14211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b="1" dirty="0">
                <a:latin typeface="Times New Roman" panose="02020603050405020304" pitchFamily="18" charset="0"/>
              </a:rPr>
              <a:t>CALL SUB2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33"/>
          <p:cNvGrpSpPr/>
          <p:nvPr/>
        </p:nvGrpSpPr>
        <p:grpSpPr>
          <a:xfrm>
            <a:off x="4691062" y="2986088"/>
            <a:ext cx="1870076" cy="458787"/>
            <a:chOff x="1995" y="1881"/>
            <a:chExt cx="1178" cy="289"/>
          </a:xfrm>
        </p:grpSpPr>
        <p:grpSp>
          <p:nvGrpSpPr>
            <p:cNvPr id="392249" name="Group 34"/>
            <p:cNvGrpSpPr/>
            <p:nvPr/>
          </p:nvGrpSpPr>
          <p:grpSpPr>
            <a:xfrm>
              <a:off x="3113" y="1881"/>
              <a:ext cx="60" cy="289"/>
              <a:chOff x="3113" y="1881"/>
              <a:chExt cx="60" cy="289"/>
            </a:xfrm>
          </p:grpSpPr>
          <p:sp>
            <p:nvSpPr>
              <p:cNvPr id="392251" name="Freeform 35"/>
              <p:cNvSpPr/>
              <p:nvPr/>
            </p:nvSpPr>
            <p:spPr>
              <a:xfrm>
                <a:off x="3140" y="1881"/>
                <a:ext cx="1" cy="255"/>
              </a:xfrm>
              <a:custGeom>
                <a:avLst/>
                <a:gdLst>
                  <a:gd name="txL" fmla="*/ 0 w 1"/>
                  <a:gd name="txT" fmla="*/ 0 h 255"/>
                  <a:gd name="txR" fmla="*/ 1 w 1"/>
                  <a:gd name="txB" fmla="*/ 255 h 255"/>
                </a:gdLst>
                <a:ahLst/>
                <a:cxnLst>
                  <a:cxn ang="0">
                    <a:pos x="1" y="0"/>
                  </a:cxn>
                  <a:cxn ang="0">
                    <a:pos x="0" y="255"/>
                  </a:cxn>
                </a:cxnLst>
                <a:rect l="txL" t="txT" r="txR" b="txB"/>
                <a:pathLst>
                  <a:path w="1" h="255">
                    <a:moveTo>
                      <a:pt x="1" y="0"/>
                    </a:moveTo>
                    <a:lnTo>
                      <a:pt x="0" y="255"/>
                    </a:lnTo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2252" name="Freeform 36"/>
              <p:cNvSpPr/>
              <p:nvPr/>
            </p:nvSpPr>
            <p:spPr>
              <a:xfrm>
                <a:off x="3113" y="2114"/>
                <a:ext cx="60" cy="56"/>
              </a:xfrm>
              <a:custGeom>
                <a:avLst/>
                <a:gdLst>
                  <a:gd name="txL" fmla="*/ 0 w 60"/>
                  <a:gd name="txT" fmla="*/ 0 h 50"/>
                  <a:gd name="txR" fmla="*/ 60 w 60"/>
                  <a:gd name="txB" fmla="*/ 50 h 50"/>
                </a:gdLst>
                <a:ahLst/>
                <a:cxnLst>
                  <a:cxn ang="0">
                    <a:pos x="0" y="0"/>
                  </a:cxn>
                  <a:cxn ang="0">
                    <a:pos x="31" y="50"/>
                  </a:cxn>
                  <a:cxn ang="0">
                    <a:pos x="60" y="0"/>
                  </a:cxn>
                  <a:cxn ang="0">
                    <a:pos x="31" y="17"/>
                  </a:cxn>
                  <a:cxn ang="0">
                    <a:pos x="0" y="0"/>
                  </a:cxn>
                </a:cxnLst>
                <a:rect l="txL" t="txT" r="txR" b="txB"/>
                <a:pathLst>
                  <a:path w="60" h="50">
                    <a:moveTo>
                      <a:pt x="0" y="0"/>
                    </a:moveTo>
                    <a:lnTo>
                      <a:pt x="31" y="50"/>
                    </a:lnTo>
                    <a:lnTo>
                      <a:pt x="60" y="0"/>
                    </a:lnTo>
                    <a:lnTo>
                      <a:pt x="31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2250" name="Text Box 37"/>
            <p:cNvSpPr txBox="1"/>
            <p:nvPr/>
          </p:nvSpPr>
          <p:spPr>
            <a:xfrm>
              <a:off x="1995" y="1927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38"/>
          <p:cNvGrpSpPr/>
          <p:nvPr/>
        </p:nvGrpSpPr>
        <p:grpSpPr>
          <a:xfrm>
            <a:off x="4691062" y="3544888"/>
            <a:ext cx="1819276" cy="487362"/>
            <a:chOff x="1995" y="2233"/>
            <a:chExt cx="1146" cy="307"/>
          </a:xfrm>
        </p:grpSpPr>
        <p:sp>
          <p:nvSpPr>
            <p:cNvPr id="392247" name="Freeform 39"/>
            <p:cNvSpPr/>
            <p:nvPr/>
          </p:nvSpPr>
          <p:spPr>
            <a:xfrm>
              <a:off x="3140" y="2233"/>
              <a:ext cx="1" cy="307"/>
            </a:xfrm>
            <a:custGeom>
              <a:avLst/>
              <a:gdLst>
                <a:gd name="txL" fmla="*/ 0 w 1"/>
                <a:gd name="txT" fmla="*/ 0 h 307"/>
                <a:gd name="txR" fmla="*/ 1 w 1"/>
                <a:gd name="txB" fmla="*/ 307 h 307"/>
              </a:gdLst>
              <a:ahLst/>
              <a:cxnLst>
                <a:cxn ang="0">
                  <a:pos x="1" y="0"/>
                </a:cxn>
                <a:cxn ang="0">
                  <a:pos x="0" y="307"/>
                </a:cxn>
              </a:cxnLst>
              <a:rect l="txL" t="txT" r="txR" b="txB"/>
              <a:pathLst>
                <a:path w="1" h="307">
                  <a:moveTo>
                    <a:pt x="1" y="0"/>
                  </a:moveTo>
                  <a:lnTo>
                    <a:pt x="0" y="307"/>
                  </a:lnTo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48" name="Text Box 40"/>
            <p:cNvSpPr txBox="1"/>
            <p:nvPr/>
          </p:nvSpPr>
          <p:spPr>
            <a:xfrm>
              <a:off x="1995" y="2311"/>
              <a:ext cx="309" cy="1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...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1817" name="Text Box 41"/>
          <p:cNvSpPr txBox="1"/>
          <p:nvPr/>
        </p:nvSpPr>
        <p:spPr>
          <a:xfrm>
            <a:off x="4114800" y="3900488"/>
            <a:ext cx="14211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b="1" dirty="0">
                <a:latin typeface="Times New Roman" panose="02020603050405020304" pitchFamily="18" charset="0"/>
              </a:rPr>
              <a:t>CALL SUB2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42"/>
          <p:cNvGrpSpPr/>
          <p:nvPr/>
        </p:nvGrpSpPr>
        <p:grpSpPr>
          <a:xfrm>
            <a:off x="4691062" y="4191000"/>
            <a:ext cx="1870076" cy="604838"/>
            <a:chOff x="1995" y="2640"/>
            <a:chExt cx="1178" cy="381"/>
          </a:xfrm>
        </p:grpSpPr>
        <p:grpSp>
          <p:nvGrpSpPr>
            <p:cNvPr id="392243" name="Group 43"/>
            <p:cNvGrpSpPr/>
            <p:nvPr/>
          </p:nvGrpSpPr>
          <p:grpSpPr>
            <a:xfrm>
              <a:off x="3113" y="2640"/>
              <a:ext cx="60" cy="381"/>
              <a:chOff x="3113" y="2640"/>
              <a:chExt cx="60" cy="381"/>
            </a:xfrm>
          </p:grpSpPr>
          <p:sp>
            <p:nvSpPr>
              <p:cNvPr id="392245" name="Freeform 44"/>
              <p:cNvSpPr/>
              <p:nvPr/>
            </p:nvSpPr>
            <p:spPr>
              <a:xfrm>
                <a:off x="3140" y="2640"/>
                <a:ext cx="1" cy="340"/>
              </a:xfrm>
              <a:custGeom>
                <a:avLst/>
                <a:gdLst>
                  <a:gd name="txL" fmla="*/ 0 w 1"/>
                  <a:gd name="txT" fmla="*/ 0 h 340"/>
                  <a:gd name="txR" fmla="*/ 1 w 1"/>
                  <a:gd name="txB" fmla="*/ 340 h 340"/>
                </a:gdLst>
                <a:ahLst/>
                <a:cxnLst>
                  <a:cxn ang="0">
                    <a:pos x="1" y="0"/>
                  </a:cxn>
                  <a:cxn ang="0">
                    <a:pos x="0" y="340"/>
                  </a:cxn>
                </a:cxnLst>
                <a:rect l="txL" t="txT" r="txR" b="txB"/>
                <a:pathLst>
                  <a:path w="1" h="340">
                    <a:moveTo>
                      <a:pt x="1" y="0"/>
                    </a:moveTo>
                    <a:lnTo>
                      <a:pt x="0" y="340"/>
                    </a:lnTo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2246" name="Freeform 45"/>
              <p:cNvSpPr/>
              <p:nvPr/>
            </p:nvSpPr>
            <p:spPr>
              <a:xfrm>
                <a:off x="3113" y="2965"/>
                <a:ext cx="60" cy="56"/>
              </a:xfrm>
              <a:custGeom>
                <a:avLst/>
                <a:gdLst>
                  <a:gd name="txL" fmla="*/ 0 w 60"/>
                  <a:gd name="txT" fmla="*/ 0 h 50"/>
                  <a:gd name="txR" fmla="*/ 60 w 60"/>
                  <a:gd name="txB" fmla="*/ 50 h 50"/>
                </a:gdLst>
                <a:ahLst/>
                <a:cxnLst>
                  <a:cxn ang="0">
                    <a:pos x="0" y="0"/>
                  </a:cxn>
                  <a:cxn ang="0">
                    <a:pos x="31" y="50"/>
                  </a:cxn>
                  <a:cxn ang="0">
                    <a:pos x="60" y="0"/>
                  </a:cxn>
                  <a:cxn ang="0">
                    <a:pos x="31" y="17"/>
                  </a:cxn>
                  <a:cxn ang="0">
                    <a:pos x="0" y="0"/>
                  </a:cxn>
                </a:cxnLst>
                <a:rect l="txL" t="txT" r="txR" b="txB"/>
                <a:pathLst>
                  <a:path w="60" h="50">
                    <a:moveTo>
                      <a:pt x="0" y="0"/>
                    </a:moveTo>
                    <a:lnTo>
                      <a:pt x="31" y="50"/>
                    </a:lnTo>
                    <a:lnTo>
                      <a:pt x="60" y="0"/>
                    </a:lnTo>
                    <a:lnTo>
                      <a:pt x="31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2244" name="Text Box 46"/>
            <p:cNvSpPr txBox="1"/>
            <p:nvPr/>
          </p:nvSpPr>
          <p:spPr>
            <a:xfrm>
              <a:off x="1995" y="2689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1823" name="Text Box 47"/>
          <p:cNvSpPr txBox="1"/>
          <p:nvPr/>
        </p:nvSpPr>
        <p:spPr>
          <a:xfrm>
            <a:off x="4251325" y="4510088"/>
            <a:ext cx="11480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b="1" dirty="0">
                <a:latin typeface="Times New Roman" panose="02020603050405020304" pitchFamily="18" charset="0"/>
              </a:rPr>
              <a:t>RETURN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331824" name="Text Box 48"/>
          <p:cNvSpPr txBox="1"/>
          <p:nvPr/>
        </p:nvSpPr>
        <p:spPr>
          <a:xfrm>
            <a:off x="4267200" y="5881688"/>
            <a:ext cx="11480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b="1" dirty="0">
                <a:latin typeface="Times New Roman" panose="02020603050405020304" pitchFamily="18" charset="0"/>
              </a:rPr>
              <a:t>RETURN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16" name="Group 49"/>
          <p:cNvGrpSpPr/>
          <p:nvPr/>
        </p:nvGrpSpPr>
        <p:grpSpPr>
          <a:xfrm>
            <a:off x="3276600" y="914400"/>
            <a:ext cx="3992563" cy="5597525"/>
            <a:chOff x="1104" y="576"/>
            <a:chExt cx="2515" cy="3526"/>
          </a:xfrm>
        </p:grpSpPr>
        <p:sp>
          <p:nvSpPr>
            <p:cNvPr id="392222" name="Rectangle 50"/>
            <p:cNvSpPr/>
            <p:nvPr/>
          </p:nvSpPr>
          <p:spPr>
            <a:xfrm>
              <a:off x="1663" y="827"/>
              <a:ext cx="849" cy="81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23" name="Rectangle 51"/>
            <p:cNvSpPr/>
            <p:nvPr/>
          </p:nvSpPr>
          <p:spPr>
            <a:xfrm>
              <a:off x="1663" y="1881"/>
              <a:ext cx="849" cy="114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24" name="Rectangle 52"/>
            <p:cNvSpPr/>
            <p:nvPr/>
          </p:nvSpPr>
          <p:spPr>
            <a:xfrm>
              <a:off x="1663" y="3286"/>
              <a:ext cx="849" cy="61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25" name="Rectangle 53"/>
            <p:cNvSpPr/>
            <p:nvPr/>
          </p:nvSpPr>
          <p:spPr>
            <a:xfrm>
              <a:off x="2721" y="827"/>
              <a:ext cx="849" cy="81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26" name="Rectangle 54"/>
            <p:cNvSpPr/>
            <p:nvPr/>
          </p:nvSpPr>
          <p:spPr>
            <a:xfrm>
              <a:off x="2721" y="1881"/>
              <a:ext cx="849" cy="1145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27" name="Rectangle 55"/>
            <p:cNvSpPr/>
            <p:nvPr/>
          </p:nvSpPr>
          <p:spPr>
            <a:xfrm>
              <a:off x="2721" y="3286"/>
              <a:ext cx="849" cy="618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2228" name="Text Box 56"/>
            <p:cNvSpPr txBox="1"/>
            <p:nvPr/>
          </p:nvSpPr>
          <p:spPr>
            <a:xfrm>
              <a:off x="1824" y="624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主程序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29" name="Text Box 57"/>
            <p:cNvSpPr txBox="1"/>
            <p:nvPr/>
          </p:nvSpPr>
          <p:spPr>
            <a:xfrm>
              <a:off x="1104" y="576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地址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0" name="Text Box 58"/>
            <p:cNvSpPr txBox="1"/>
            <p:nvPr/>
          </p:nvSpPr>
          <p:spPr>
            <a:xfrm>
              <a:off x="1104" y="774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2000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1" name="Text Box 59"/>
            <p:cNvSpPr txBox="1"/>
            <p:nvPr/>
          </p:nvSpPr>
          <p:spPr>
            <a:xfrm>
              <a:off x="1104" y="1056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2100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2" name="Text Box 60"/>
            <p:cNvSpPr txBox="1"/>
            <p:nvPr/>
          </p:nvSpPr>
          <p:spPr>
            <a:xfrm>
              <a:off x="1104" y="1200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2101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3" name="Text Box 61"/>
            <p:cNvSpPr txBox="1"/>
            <p:nvPr/>
          </p:nvSpPr>
          <p:spPr>
            <a:xfrm>
              <a:off x="1632" y="1689"/>
              <a:ext cx="89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子程序</a:t>
              </a:r>
              <a:r>
                <a:rPr lang="en-US" altLang="zh-CN" b="1" dirty="0">
                  <a:latin typeface="Times New Roman" panose="02020603050405020304" pitchFamily="18" charset="0"/>
                </a:rPr>
                <a:t>SUB1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4" name="Text Box 62"/>
            <p:cNvSpPr txBox="1"/>
            <p:nvPr/>
          </p:nvSpPr>
          <p:spPr>
            <a:xfrm>
              <a:off x="1104" y="1824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2400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5" name="Text Box 63"/>
            <p:cNvSpPr txBox="1"/>
            <p:nvPr/>
          </p:nvSpPr>
          <p:spPr>
            <a:xfrm>
              <a:off x="1104" y="2064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2500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6" name="Text Box 64"/>
            <p:cNvSpPr txBox="1"/>
            <p:nvPr/>
          </p:nvSpPr>
          <p:spPr>
            <a:xfrm>
              <a:off x="1104" y="2208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2501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7" name="Text Box 65"/>
            <p:cNvSpPr txBox="1"/>
            <p:nvPr/>
          </p:nvSpPr>
          <p:spPr>
            <a:xfrm>
              <a:off x="1104" y="2448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2560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8" name="Text Box 66"/>
            <p:cNvSpPr txBox="1"/>
            <p:nvPr/>
          </p:nvSpPr>
          <p:spPr>
            <a:xfrm>
              <a:off x="1104" y="2592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2561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39" name="Text Box 67"/>
            <p:cNvSpPr txBox="1"/>
            <p:nvPr/>
          </p:nvSpPr>
          <p:spPr>
            <a:xfrm>
              <a:off x="1104" y="3216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2700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40" name="Text Box 68"/>
            <p:cNvSpPr txBox="1"/>
            <p:nvPr/>
          </p:nvSpPr>
          <p:spPr>
            <a:xfrm>
              <a:off x="1584" y="3870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主存空间分配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41" name="Text Box 69"/>
            <p:cNvSpPr txBox="1"/>
            <p:nvPr/>
          </p:nvSpPr>
          <p:spPr>
            <a:xfrm>
              <a:off x="2640" y="3870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程序执行流程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42" name="Text Box 70"/>
            <p:cNvSpPr txBox="1"/>
            <p:nvPr/>
          </p:nvSpPr>
          <p:spPr>
            <a:xfrm>
              <a:off x="1632" y="3081"/>
              <a:ext cx="89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子程序</a:t>
              </a:r>
              <a:r>
                <a:rPr lang="en-US" altLang="zh-CN" b="1" dirty="0">
                  <a:latin typeface="Times New Roman" panose="02020603050405020304" pitchFamily="18" charset="0"/>
                </a:rPr>
                <a:t>SUB2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1847" name="Rectangle 7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Group 72"/>
          <p:cNvGrpSpPr/>
          <p:nvPr/>
        </p:nvGrpSpPr>
        <p:grpSpPr>
          <a:xfrm>
            <a:off x="4691062" y="5216525"/>
            <a:ext cx="2035176" cy="973138"/>
            <a:chOff x="1995" y="3286"/>
            <a:chExt cx="1282" cy="613"/>
          </a:xfrm>
        </p:grpSpPr>
        <p:grpSp>
          <p:nvGrpSpPr>
            <p:cNvPr id="392217" name="Group 73"/>
            <p:cNvGrpSpPr/>
            <p:nvPr/>
          </p:nvGrpSpPr>
          <p:grpSpPr>
            <a:xfrm>
              <a:off x="3218" y="3286"/>
              <a:ext cx="59" cy="613"/>
              <a:chOff x="3218" y="3129"/>
              <a:chExt cx="59" cy="545"/>
            </a:xfrm>
          </p:grpSpPr>
          <p:sp>
            <p:nvSpPr>
              <p:cNvPr id="392220" name="Line 74"/>
              <p:cNvSpPr/>
              <p:nvPr/>
            </p:nvSpPr>
            <p:spPr>
              <a:xfrm>
                <a:off x="3249" y="3129"/>
                <a:ext cx="1" cy="516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2221" name="Freeform 75"/>
              <p:cNvSpPr/>
              <p:nvPr/>
            </p:nvSpPr>
            <p:spPr>
              <a:xfrm>
                <a:off x="3218" y="3624"/>
                <a:ext cx="59" cy="50"/>
              </a:xfrm>
              <a:custGeom>
                <a:avLst/>
                <a:gdLst>
                  <a:gd name="txL" fmla="*/ 0 w 59"/>
                  <a:gd name="txT" fmla="*/ 0 h 50"/>
                  <a:gd name="txR" fmla="*/ 59 w 59"/>
                  <a:gd name="txB" fmla="*/ 50 h 50"/>
                </a:gdLst>
                <a:ahLst/>
                <a:cxnLst>
                  <a:cxn ang="0">
                    <a:pos x="0" y="0"/>
                  </a:cxn>
                  <a:cxn ang="0">
                    <a:pos x="31" y="50"/>
                  </a:cxn>
                  <a:cxn ang="0">
                    <a:pos x="59" y="0"/>
                  </a:cxn>
                  <a:cxn ang="0">
                    <a:pos x="31" y="16"/>
                  </a:cxn>
                  <a:cxn ang="0">
                    <a:pos x="0" y="0"/>
                  </a:cxn>
                </a:cxnLst>
                <a:rect l="txL" t="txT" r="txR" b="txB"/>
                <a:pathLst>
                  <a:path w="59" h="50">
                    <a:moveTo>
                      <a:pt x="0" y="0"/>
                    </a:moveTo>
                    <a:lnTo>
                      <a:pt x="31" y="50"/>
                    </a:lnTo>
                    <a:lnTo>
                      <a:pt x="59" y="0"/>
                    </a:lnTo>
                    <a:lnTo>
                      <a:pt x="31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2218" name="Text Box 76"/>
            <p:cNvSpPr txBox="1"/>
            <p:nvPr/>
          </p:nvSpPr>
          <p:spPr>
            <a:xfrm>
              <a:off x="1995" y="3391"/>
              <a:ext cx="309" cy="1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...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2219" name="Text Box 77"/>
            <p:cNvSpPr txBox="1"/>
            <p:nvPr/>
          </p:nvSpPr>
          <p:spPr>
            <a:xfrm>
              <a:off x="2006" y="3554"/>
              <a:ext cx="309" cy="13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2215" name="AutoShape 7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2216" name="日期占位符 1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3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3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97" grpId="0" bldLvl="0" animBg="1"/>
      <p:bldP spid="331798" grpId="0"/>
      <p:bldP spid="331808" grpId="0"/>
      <p:bldP spid="331817" grpId="0"/>
      <p:bldP spid="331823" grpId="0"/>
      <p:bldP spid="3318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2802" name="Text Box 2"/>
          <p:cNvSpPr txBox="1"/>
          <p:nvPr/>
        </p:nvSpPr>
        <p:spPr>
          <a:xfrm>
            <a:off x="3970338" y="5146675"/>
            <a:ext cx="14198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IN  AX,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332803" name="Text Box 3"/>
          <p:cNvSpPr txBox="1"/>
          <p:nvPr/>
        </p:nvSpPr>
        <p:spPr>
          <a:xfrm>
            <a:off x="6172200" y="6137275"/>
            <a:ext cx="198945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OUT  DX, AL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32804" name="Text Box 4"/>
          <p:cNvSpPr txBox="1"/>
          <p:nvPr/>
        </p:nvSpPr>
        <p:spPr>
          <a:xfrm>
            <a:off x="3878263" y="6137275"/>
            <a:ext cx="173545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OUT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, AX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32805" name="Text Box 5"/>
          <p:cNvSpPr txBox="1"/>
          <p:nvPr/>
        </p:nvSpPr>
        <p:spPr>
          <a:xfrm>
            <a:off x="6188075" y="6137275"/>
            <a:ext cx="20066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OUT  DX, AX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3222" name="Text Box 6"/>
          <p:cNvSpPr txBox="1"/>
          <p:nvPr/>
        </p:nvSpPr>
        <p:spPr>
          <a:xfrm>
            <a:off x="1828800" y="2286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(4) </a:t>
            </a:r>
            <a:r>
              <a:rPr lang="zh-CN" altLang="en-US" sz="3200" b="1" dirty="0">
                <a:latin typeface="Times New Roman" panose="02020603050405020304" pitchFamily="18" charset="0"/>
              </a:rPr>
              <a:t>陷阱（</a:t>
            </a:r>
            <a:r>
              <a:rPr lang="en-US" altLang="zh-CN" sz="3200" b="1" dirty="0">
                <a:latin typeface="Times New Roman" panose="02020603050405020304" pitchFamily="18" charset="0"/>
              </a:rPr>
              <a:t>Trap</a:t>
            </a:r>
            <a:r>
              <a:rPr lang="zh-CN" altLang="en-US" sz="3200" b="1" dirty="0">
                <a:latin typeface="Times New Roman" panose="02020603050405020304" pitchFamily="18" charset="0"/>
              </a:rPr>
              <a:t>）与陷阱指令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32807" name="Text Box 7"/>
          <p:cNvSpPr txBox="1"/>
          <p:nvPr/>
        </p:nvSpPr>
        <p:spPr>
          <a:xfrm>
            <a:off x="2578100" y="806450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意外事故的中断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2808" name="Text Box 8"/>
          <p:cNvSpPr txBox="1"/>
          <p:nvPr/>
        </p:nvSpPr>
        <p:spPr>
          <a:xfrm>
            <a:off x="2193925" y="2473325"/>
            <a:ext cx="40995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设置供用户使用的陷阱指令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32809" name="Text Box 9"/>
          <p:cNvSpPr txBox="1"/>
          <p:nvPr/>
        </p:nvSpPr>
        <p:spPr>
          <a:xfrm>
            <a:off x="3101975" y="2984500"/>
            <a:ext cx="487934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如  </a:t>
            </a:r>
            <a:r>
              <a:rPr lang="en-US" altLang="zh-CN" sz="2400" b="1" dirty="0">
                <a:latin typeface="Times New Roman" panose="02020603050405020304" pitchFamily="18" charset="0"/>
              </a:rPr>
              <a:t>8086          INT   TYPE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软中断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32810" name="Text Box 10"/>
          <p:cNvSpPr txBox="1"/>
          <p:nvPr/>
        </p:nvSpPr>
        <p:spPr>
          <a:xfrm>
            <a:off x="3048000" y="3495675"/>
            <a:ext cx="5974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提供给用户使用的陷阱指令，完成系统调用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32811" name="Text Box 11"/>
          <p:cNvSpPr txBox="1"/>
          <p:nvPr/>
        </p:nvSpPr>
        <p:spPr>
          <a:xfrm>
            <a:off x="1981200" y="4005263"/>
            <a:ext cx="22148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5. </a:t>
            </a:r>
            <a:r>
              <a:rPr lang="zh-CN" altLang="en-US" sz="3200" b="1" dirty="0">
                <a:highlight>
                  <a:srgbClr val="FF0000"/>
                </a:highlight>
                <a:latin typeface="Times New Roman" panose="02020603050405020304" pitchFamily="18" charset="0"/>
              </a:rPr>
              <a:t>输入输出</a:t>
            </a:r>
            <a:endParaRPr lang="zh-CN" altLang="en-US" sz="3200" b="1" dirty="0">
              <a:highlight>
                <a:srgbClr val="FF0000"/>
              </a:highlight>
              <a:latin typeface="Times New Roman" panose="02020603050405020304" pitchFamily="18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2193925" y="1377950"/>
            <a:ext cx="7340600" cy="1044575"/>
            <a:chOff x="422" y="868"/>
            <a:chExt cx="4624" cy="658"/>
          </a:xfrm>
        </p:grpSpPr>
        <p:sp>
          <p:nvSpPr>
            <p:cNvPr id="393244" name="Text Box 13"/>
            <p:cNvSpPr txBox="1"/>
            <p:nvPr/>
          </p:nvSpPr>
          <p:spPr>
            <a:xfrm>
              <a:off x="422" y="868"/>
              <a:ext cx="258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  <a:buChar char="•"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一般不提供给用户直接使用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3245" name="Text Box 14"/>
            <p:cNvSpPr txBox="1"/>
            <p:nvPr/>
          </p:nvSpPr>
          <p:spPr>
            <a:xfrm>
              <a:off x="576" y="1236"/>
              <a:ext cx="447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在出现事故时，由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CPU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自动产生并执行（隐指令）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2815" name="Text Box 15"/>
          <p:cNvSpPr txBox="1"/>
          <p:nvPr/>
        </p:nvSpPr>
        <p:spPr>
          <a:xfrm>
            <a:off x="6156325" y="5146675"/>
            <a:ext cx="16738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IN  AL, DX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32816" name="Text Box 16"/>
          <p:cNvSpPr txBox="1"/>
          <p:nvPr/>
        </p:nvSpPr>
        <p:spPr>
          <a:xfrm>
            <a:off x="6172200" y="5146675"/>
            <a:ext cx="169100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IN  AX, DX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2727325" y="4638675"/>
            <a:ext cx="5959475" cy="460375"/>
            <a:chOff x="758" y="2922"/>
            <a:chExt cx="3754" cy="290"/>
          </a:xfrm>
        </p:grpSpPr>
        <p:sp>
          <p:nvSpPr>
            <p:cNvPr id="393242" name="Text Box 18"/>
            <p:cNvSpPr txBox="1"/>
            <p:nvPr/>
          </p:nvSpPr>
          <p:spPr>
            <a:xfrm>
              <a:off x="758" y="2922"/>
              <a:ext cx="37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入              端口地址      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CPU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的寄存器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3243" name="Line 19"/>
            <p:cNvSpPr/>
            <p:nvPr/>
          </p:nvSpPr>
          <p:spPr>
            <a:xfrm>
              <a:off x="2544" y="3072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" name="Group 20"/>
          <p:cNvGrpSpPr/>
          <p:nvPr/>
        </p:nvGrpSpPr>
        <p:grpSpPr>
          <a:xfrm>
            <a:off x="2727325" y="5661025"/>
            <a:ext cx="5883275" cy="460375"/>
            <a:chOff x="758" y="3566"/>
            <a:chExt cx="3706" cy="290"/>
          </a:xfrm>
        </p:grpSpPr>
        <p:sp>
          <p:nvSpPr>
            <p:cNvPr id="393240" name="Text Box 21"/>
            <p:cNvSpPr txBox="1"/>
            <p:nvPr/>
          </p:nvSpPr>
          <p:spPr>
            <a:xfrm>
              <a:off x="758" y="3566"/>
              <a:ext cx="370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出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CPU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的寄存器               端口地址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3241" name="Line 22"/>
            <p:cNvSpPr/>
            <p:nvPr/>
          </p:nvSpPr>
          <p:spPr>
            <a:xfrm>
              <a:off x="2544" y="3696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32823" name="Rectangle 2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2824" name="Text Box 24"/>
          <p:cNvSpPr txBox="1"/>
          <p:nvPr/>
        </p:nvSpPr>
        <p:spPr>
          <a:xfrm>
            <a:off x="3101975" y="5146675"/>
            <a:ext cx="8382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32825" name="Text Box 25"/>
          <p:cNvSpPr txBox="1"/>
          <p:nvPr/>
        </p:nvSpPr>
        <p:spPr>
          <a:xfrm>
            <a:off x="3101975" y="6137275"/>
            <a:ext cx="8382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32826" name="Text Box 26"/>
          <p:cNvSpPr txBox="1"/>
          <p:nvPr/>
        </p:nvSpPr>
        <p:spPr>
          <a:xfrm>
            <a:off x="3946525" y="5149850"/>
            <a:ext cx="14027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IN  AL,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332827" name="Text Box 27"/>
          <p:cNvSpPr txBox="1"/>
          <p:nvPr/>
        </p:nvSpPr>
        <p:spPr>
          <a:xfrm>
            <a:off x="3862388" y="6137275"/>
            <a:ext cx="171831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OUT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, AL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3238" name="AutoShape 2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3239" name="日期占位符 5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32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32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3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32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2" grpId="0"/>
      <p:bldP spid="332803" grpId="0"/>
      <p:bldP spid="332804" grpId="0"/>
      <p:bldP spid="332805" grpId="0"/>
      <p:bldP spid="332807" grpId="0"/>
      <p:bldP spid="332808" grpId="0"/>
      <p:bldP spid="332809" grpId="0"/>
      <p:bldP spid="332810" grpId="0"/>
      <p:bldP spid="332811" grpId="0"/>
      <p:bldP spid="332815" grpId="0"/>
      <p:bldP spid="332816" grpId="0"/>
      <p:bldP spid="332824" grpId="0"/>
      <p:bldP spid="332825" grpId="0"/>
      <p:bldP spid="332826" grpId="0"/>
      <p:bldP spid="3328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4242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7.3   </a:t>
            </a:r>
            <a:r>
              <a:rPr lang="zh-CN" altLang="en-US" b="1" dirty="0"/>
              <a:t>寻 址 方 式</a:t>
            </a:r>
            <a:endParaRPr lang="zh-CN" altLang="en-US" b="1" dirty="0"/>
          </a:p>
        </p:txBody>
      </p:sp>
      <p:sp>
        <p:nvSpPr>
          <p:cNvPr id="333827" name="Text Box 3"/>
          <p:cNvSpPr txBox="1"/>
          <p:nvPr/>
        </p:nvSpPr>
        <p:spPr>
          <a:xfrm>
            <a:off x="2362200" y="1600200"/>
            <a:ext cx="3352800" cy="58356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寻址方式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3828" name="Text Box 4"/>
          <p:cNvSpPr txBox="1"/>
          <p:nvPr/>
        </p:nvSpPr>
        <p:spPr>
          <a:xfrm>
            <a:off x="4343400" y="1600200"/>
            <a:ext cx="5486400" cy="95948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确定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本条指令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操作数地址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50"/>
              </a:spcBef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下一条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欲执行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指令地址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105400" y="3352800"/>
            <a:ext cx="3124200" cy="1984375"/>
            <a:chOff x="2256" y="2112"/>
            <a:chExt cx="1968" cy="1250"/>
          </a:xfrm>
        </p:grpSpPr>
        <p:sp>
          <p:nvSpPr>
            <p:cNvPr id="394250" name="Text Box 6"/>
            <p:cNvSpPr txBox="1"/>
            <p:nvPr/>
          </p:nvSpPr>
          <p:spPr>
            <a:xfrm>
              <a:off x="2256" y="2112"/>
              <a:ext cx="19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指令寻址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4251" name="Text Box 7"/>
            <p:cNvSpPr txBox="1"/>
            <p:nvPr/>
          </p:nvSpPr>
          <p:spPr>
            <a:xfrm>
              <a:off x="2256" y="3033"/>
              <a:ext cx="19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数据寻址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3832" name="AutoShape 8"/>
          <p:cNvSpPr/>
          <p:nvPr/>
        </p:nvSpPr>
        <p:spPr>
          <a:xfrm>
            <a:off x="4876800" y="3581400"/>
            <a:ext cx="228600" cy="1600200"/>
          </a:xfrm>
          <a:prstGeom prst="leftBrace">
            <a:avLst>
              <a:gd name="adj1" fmla="val 57782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3833" name="Text Box 9"/>
          <p:cNvSpPr txBox="1"/>
          <p:nvPr/>
        </p:nvSpPr>
        <p:spPr>
          <a:xfrm>
            <a:off x="3124200" y="4114800"/>
            <a:ext cx="19812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寻址方式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4248" name="AutoShape 1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4249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7" grpId="0"/>
      <p:bldP spid="333828" grpId="0"/>
      <p:bldP spid="333832" grpId="0" bldLvl="0" animBg="1"/>
      <p:bldP spid="3338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5266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7.3   </a:t>
            </a:r>
            <a:r>
              <a:rPr lang="zh-CN" altLang="en-US" b="1" dirty="0"/>
              <a:t>寻 址 方 式</a:t>
            </a:r>
            <a:endParaRPr lang="zh-CN" altLang="en-US" b="1" dirty="0"/>
          </a:p>
        </p:txBody>
      </p:sp>
      <p:sp>
        <p:nvSpPr>
          <p:cNvPr id="395267" name="Text Box 3"/>
          <p:cNvSpPr txBox="1"/>
          <p:nvPr/>
        </p:nvSpPr>
        <p:spPr>
          <a:xfrm>
            <a:off x="1812925" y="1257300"/>
            <a:ext cx="2621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一、指令寻址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95268" name="Text Box 4"/>
          <p:cNvSpPr txBox="1"/>
          <p:nvPr/>
        </p:nvSpPr>
        <p:spPr>
          <a:xfrm>
            <a:off x="2727325" y="19192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顺序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95269" name="Group 5"/>
          <p:cNvGrpSpPr/>
          <p:nvPr/>
        </p:nvGrpSpPr>
        <p:grpSpPr>
          <a:xfrm>
            <a:off x="4098925" y="1941513"/>
            <a:ext cx="3079750" cy="522287"/>
            <a:chOff x="1622" y="1223"/>
            <a:chExt cx="1940" cy="329"/>
          </a:xfrm>
        </p:grpSpPr>
        <p:sp>
          <p:nvSpPr>
            <p:cNvPr id="395320" name="Text Box 6"/>
            <p:cNvSpPr txBox="1"/>
            <p:nvPr/>
          </p:nvSpPr>
          <p:spPr>
            <a:xfrm>
              <a:off x="1622" y="1223"/>
              <a:ext cx="19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( PC ) + 1           PC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21" name="Line 7"/>
            <p:cNvSpPr/>
            <p:nvPr/>
          </p:nvSpPr>
          <p:spPr>
            <a:xfrm>
              <a:off x="2640" y="1373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95270" name="Text Box 8"/>
          <p:cNvSpPr txBox="1"/>
          <p:nvPr/>
        </p:nvSpPr>
        <p:spPr>
          <a:xfrm>
            <a:off x="2727325" y="24526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跳跃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5271" name="Text Box 9"/>
          <p:cNvSpPr txBox="1"/>
          <p:nvPr/>
        </p:nvSpPr>
        <p:spPr>
          <a:xfrm>
            <a:off x="4114800" y="2482850"/>
            <a:ext cx="3352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由转移指令指出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95272" name="Group 10"/>
          <p:cNvGrpSpPr/>
          <p:nvPr/>
        </p:nvGrpSpPr>
        <p:grpSpPr>
          <a:xfrm>
            <a:off x="2574925" y="3035300"/>
            <a:ext cx="8097838" cy="3595688"/>
            <a:chOff x="662" y="1912"/>
            <a:chExt cx="5101" cy="2265"/>
          </a:xfrm>
        </p:grpSpPr>
        <p:sp>
          <p:nvSpPr>
            <p:cNvPr id="395290" name="Rectangle 11"/>
            <p:cNvSpPr/>
            <p:nvPr/>
          </p:nvSpPr>
          <p:spPr>
            <a:xfrm>
              <a:off x="2592" y="2168"/>
              <a:ext cx="1488" cy="197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5291" name="Text Box 12"/>
            <p:cNvSpPr txBox="1"/>
            <p:nvPr/>
          </p:nvSpPr>
          <p:spPr>
            <a:xfrm>
              <a:off x="2640" y="2212"/>
              <a:ext cx="13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LDA              1000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2" name="Text Box 13"/>
            <p:cNvSpPr txBox="1"/>
            <p:nvPr/>
          </p:nvSpPr>
          <p:spPr>
            <a:xfrm>
              <a:off x="2640" y="2403"/>
              <a:ext cx="134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ADD              1001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3" name="Text Box 14"/>
            <p:cNvSpPr txBox="1"/>
            <p:nvPr/>
          </p:nvSpPr>
          <p:spPr>
            <a:xfrm>
              <a:off x="2640" y="2593"/>
              <a:ext cx="133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DEC              1200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4" name="Text Box 15"/>
            <p:cNvSpPr txBox="1"/>
            <p:nvPr/>
          </p:nvSpPr>
          <p:spPr>
            <a:xfrm>
              <a:off x="2640" y="2783"/>
              <a:ext cx="13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JMP                    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5" name="Text Box 16"/>
            <p:cNvSpPr txBox="1"/>
            <p:nvPr/>
          </p:nvSpPr>
          <p:spPr>
            <a:xfrm>
              <a:off x="2640" y="2970"/>
              <a:ext cx="13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LDA              2000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6" name="Text Box 17"/>
            <p:cNvSpPr txBox="1"/>
            <p:nvPr/>
          </p:nvSpPr>
          <p:spPr>
            <a:xfrm>
              <a:off x="2640" y="3165"/>
              <a:ext cx="13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SUB               2001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7" name="Text Box 18"/>
            <p:cNvSpPr txBox="1"/>
            <p:nvPr/>
          </p:nvSpPr>
          <p:spPr>
            <a:xfrm>
              <a:off x="2640" y="3355"/>
              <a:ext cx="40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INC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8" name="Text Box 19"/>
            <p:cNvSpPr txBox="1"/>
            <p:nvPr/>
          </p:nvSpPr>
          <p:spPr>
            <a:xfrm>
              <a:off x="2640" y="3546"/>
              <a:ext cx="128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STA              2500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299" name="Text Box 20"/>
            <p:cNvSpPr txBox="1"/>
            <p:nvPr/>
          </p:nvSpPr>
          <p:spPr>
            <a:xfrm>
              <a:off x="2640" y="3737"/>
              <a:ext cx="1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LDA             1100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0" name="Text Box 21"/>
            <p:cNvSpPr txBox="1"/>
            <p:nvPr/>
          </p:nvSpPr>
          <p:spPr>
            <a:xfrm>
              <a:off x="3167" y="3940"/>
              <a:ext cx="309" cy="1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...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1" name="Text Box 22"/>
            <p:cNvSpPr txBox="1"/>
            <p:nvPr/>
          </p:nvSpPr>
          <p:spPr>
            <a:xfrm>
              <a:off x="2198" y="221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2" name="Text Box 23"/>
            <p:cNvSpPr txBox="1"/>
            <p:nvPr/>
          </p:nvSpPr>
          <p:spPr>
            <a:xfrm>
              <a:off x="2198" y="240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3" name="Text Box 24"/>
            <p:cNvSpPr txBox="1"/>
            <p:nvPr/>
          </p:nvSpPr>
          <p:spPr>
            <a:xfrm>
              <a:off x="2198" y="259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4" name="Text Box 25"/>
            <p:cNvSpPr txBox="1"/>
            <p:nvPr/>
          </p:nvSpPr>
          <p:spPr>
            <a:xfrm>
              <a:off x="2198" y="278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5" name="Text Box 26"/>
            <p:cNvSpPr txBox="1"/>
            <p:nvPr/>
          </p:nvSpPr>
          <p:spPr>
            <a:xfrm>
              <a:off x="2198" y="297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6" name="Text Box 27"/>
            <p:cNvSpPr txBox="1"/>
            <p:nvPr/>
          </p:nvSpPr>
          <p:spPr>
            <a:xfrm>
              <a:off x="2198" y="316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7" name="Text Box 28"/>
            <p:cNvSpPr txBox="1"/>
            <p:nvPr/>
          </p:nvSpPr>
          <p:spPr>
            <a:xfrm>
              <a:off x="2198" y="335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8" name="Text Box 29"/>
            <p:cNvSpPr txBox="1"/>
            <p:nvPr/>
          </p:nvSpPr>
          <p:spPr>
            <a:xfrm>
              <a:off x="2198" y="354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09" name="Text Box 30"/>
            <p:cNvSpPr txBox="1"/>
            <p:nvPr/>
          </p:nvSpPr>
          <p:spPr>
            <a:xfrm>
              <a:off x="2198" y="373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10" name="Text Box 31"/>
            <p:cNvSpPr txBox="1"/>
            <p:nvPr/>
          </p:nvSpPr>
          <p:spPr>
            <a:xfrm>
              <a:off x="2198" y="392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11" name="Rectangle 32"/>
            <p:cNvSpPr/>
            <p:nvPr/>
          </p:nvSpPr>
          <p:spPr>
            <a:xfrm>
              <a:off x="1248" y="2168"/>
              <a:ext cx="528" cy="22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5312" name="Text Box 33"/>
            <p:cNvSpPr txBox="1"/>
            <p:nvPr/>
          </p:nvSpPr>
          <p:spPr>
            <a:xfrm>
              <a:off x="1344" y="2160"/>
              <a:ext cx="3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PC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13" name="Line 34"/>
            <p:cNvSpPr/>
            <p:nvPr/>
          </p:nvSpPr>
          <p:spPr>
            <a:xfrm flipH="1">
              <a:off x="1776" y="227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95314" name="AutoShape 35"/>
            <p:cNvSpPr/>
            <p:nvPr/>
          </p:nvSpPr>
          <p:spPr>
            <a:xfrm rot="9300000">
              <a:off x="1000" y="2243"/>
              <a:ext cx="192" cy="330"/>
            </a:xfrm>
            <a:prstGeom prst="curvedLeftArrow">
              <a:avLst>
                <a:gd name="adj1" fmla="val 25997"/>
                <a:gd name="adj2" fmla="val 62026"/>
                <a:gd name="adj3" fmla="val 445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5315" name="Text Box 36"/>
            <p:cNvSpPr txBox="1"/>
            <p:nvPr/>
          </p:nvSpPr>
          <p:spPr>
            <a:xfrm>
              <a:off x="662" y="2322"/>
              <a:ext cx="28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+1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16" name="Freeform 37"/>
            <p:cNvSpPr/>
            <p:nvPr/>
          </p:nvSpPr>
          <p:spPr>
            <a:xfrm>
              <a:off x="1488" y="1912"/>
              <a:ext cx="2880" cy="952"/>
            </a:xfrm>
            <a:custGeom>
              <a:avLst/>
              <a:gdLst>
                <a:gd name="txL" fmla="*/ 0 w 2880"/>
                <a:gd name="txT" fmla="*/ 0 h 1248"/>
                <a:gd name="txR" fmla="*/ 2880 w 2880"/>
                <a:gd name="txB" fmla="*/ 1248 h 1248"/>
              </a:gdLst>
              <a:ahLst/>
              <a:cxnLst>
                <a:cxn ang="0">
                  <a:pos x="2592" y="1248"/>
                </a:cxn>
                <a:cxn ang="0">
                  <a:pos x="2880" y="1248"/>
                </a:cxn>
                <a:cxn ang="0">
                  <a:pos x="2880" y="0"/>
                </a:cxn>
                <a:cxn ang="0">
                  <a:pos x="0" y="0"/>
                </a:cxn>
                <a:cxn ang="0">
                  <a:pos x="0" y="336"/>
                </a:cxn>
              </a:cxnLst>
              <a:rect l="txL" t="txT" r="txR" b="txB"/>
              <a:pathLst>
                <a:path w="2880" h="1248">
                  <a:moveTo>
                    <a:pt x="2592" y="1248"/>
                  </a:moveTo>
                  <a:lnTo>
                    <a:pt x="2880" y="1248"/>
                  </a:lnTo>
                  <a:lnTo>
                    <a:pt x="2880" y="0"/>
                  </a:ln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5317" name="Text Box 38"/>
            <p:cNvSpPr txBox="1"/>
            <p:nvPr/>
          </p:nvSpPr>
          <p:spPr>
            <a:xfrm>
              <a:off x="4368" y="1920"/>
              <a:ext cx="13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指令地址寻址方式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18" name="Text Box 39"/>
            <p:cNvSpPr txBox="1"/>
            <p:nvPr/>
          </p:nvSpPr>
          <p:spPr>
            <a:xfrm>
              <a:off x="1910" y="191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5319" name="Text Box 40"/>
            <p:cNvSpPr txBox="1"/>
            <p:nvPr/>
          </p:nvSpPr>
          <p:spPr>
            <a:xfrm>
              <a:off x="2966" y="1918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5273" name="Group 41"/>
          <p:cNvGrpSpPr/>
          <p:nvPr/>
        </p:nvGrpSpPr>
        <p:grpSpPr>
          <a:xfrm>
            <a:off x="4876800" y="3794125"/>
            <a:ext cx="4932363" cy="398463"/>
            <a:chOff x="2112" y="2390"/>
            <a:chExt cx="3107" cy="251"/>
          </a:xfrm>
        </p:grpSpPr>
        <p:sp>
          <p:nvSpPr>
            <p:cNvPr id="395288" name="Text Box 42"/>
            <p:cNvSpPr txBox="1"/>
            <p:nvPr/>
          </p:nvSpPr>
          <p:spPr>
            <a:xfrm>
              <a:off x="4464" y="2390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289" name="Rectangle 43"/>
            <p:cNvSpPr/>
            <p:nvPr/>
          </p:nvSpPr>
          <p:spPr>
            <a:xfrm>
              <a:off x="2112" y="2400"/>
              <a:ext cx="336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5274" name="Group 44"/>
          <p:cNvGrpSpPr/>
          <p:nvPr/>
        </p:nvGrpSpPr>
        <p:grpSpPr>
          <a:xfrm>
            <a:off x="4876800" y="4098925"/>
            <a:ext cx="4932363" cy="398463"/>
            <a:chOff x="2112" y="2582"/>
            <a:chExt cx="3107" cy="251"/>
          </a:xfrm>
        </p:grpSpPr>
        <p:sp>
          <p:nvSpPr>
            <p:cNvPr id="395286" name="Text Box 45"/>
            <p:cNvSpPr txBox="1"/>
            <p:nvPr/>
          </p:nvSpPr>
          <p:spPr>
            <a:xfrm>
              <a:off x="4464" y="2582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287" name="Rectangle 46"/>
            <p:cNvSpPr/>
            <p:nvPr/>
          </p:nvSpPr>
          <p:spPr>
            <a:xfrm>
              <a:off x="2112" y="2592"/>
              <a:ext cx="336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5275" name="Group 47"/>
          <p:cNvGrpSpPr/>
          <p:nvPr/>
        </p:nvGrpSpPr>
        <p:grpSpPr>
          <a:xfrm>
            <a:off x="4876800" y="4403725"/>
            <a:ext cx="4932363" cy="398463"/>
            <a:chOff x="2112" y="2774"/>
            <a:chExt cx="3107" cy="251"/>
          </a:xfrm>
        </p:grpSpPr>
        <p:sp>
          <p:nvSpPr>
            <p:cNvPr id="395284" name="Text Box 48"/>
            <p:cNvSpPr txBox="1"/>
            <p:nvPr/>
          </p:nvSpPr>
          <p:spPr>
            <a:xfrm>
              <a:off x="4464" y="277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285" name="Rectangle 49"/>
            <p:cNvSpPr/>
            <p:nvPr/>
          </p:nvSpPr>
          <p:spPr>
            <a:xfrm>
              <a:off x="2112" y="2784"/>
              <a:ext cx="336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5276" name="Group 50"/>
          <p:cNvGrpSpPr/>
          <p:nvPr/>
        </p:nvGrpSpPr>
        <p:grpSpPr>
          <a:xfrm>
            <a:off x="4876800" y="5622925"/>
            <a:ext cx="4932363" cy="398463"/>
            <a:chOff x="2112" y="3542"/>
            <a:chExt cx="3107" cy="251"/>
          </a:xfrm>
        </p:grpSpPr>
        <p:sp>
          <p:nvSpPr>
            <p:cNvPr id="395282" name="Text Box 51"/>
            <p:cNvSpPr txBox="1"/>
            <p:nvPr/>
          </p:nvSpPr>
          <p:spPr>
            <a:xfrm>
              <a:off x="4464" y="3542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跳跃寻址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283" name="Rectangle 52"/>
            <p:cNvSpPr/>
            <p:nvPr/>
          </p:nvSpPr>
          <p:spPr>
            <a:xfrm>
              <a:off x="2112" y="3552"/>
              <a:ext cx="336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5277" name="Group 53"/>
          <p:cNvGrpSpPr/>
          <p:nvPr/>
        </p:nvGrpSpPr>
        <p:grpSpPr>
          <a:xfrm>
            <a:off x="4876800" y="5927725"/>
            <a:ext cx="4932363" cy="398463"/>
            <a:chOff x="2112" y="3734"/>
            <a:chExt cx="3107" cy="251"/>
          </a:xfrm>
        </p:grpSpPr>
        <p:sp>
          <p:nvSpPr>
            <p:cNvPr id="395280" name="Text Box 54"/>
            <p:cNvSpPr txBox="1"/>
            <p:nvPr/>
          </p:nvSpPr>
          <p:spPr>
            <a:xfrm>
              <a:off x="4464" y="373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281" name="Rectangle 55"/>
            <p:cNvSpPr/>
            <p:nvPr/>
          </p:nvSpPr>
          <p:spPr>
            <a:xfrm>
              <a:off x="2112" y="3744"/>
              <a:ext cx="336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5278" name="AutoShape 5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527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290" name="Text Box 2"/>
          <p:cNvSpPr txBox="1"/>
          <p:nvPr/>
        </p:nvSpPr>
        <p:spPr>
          <a:xfrm>
            <a:off x="2041525" y="273050"/>
            <a:ext cx="30403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二、数据寻址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96291" name="Text Box 3"/>
          <p:cNvSpPr txBox="1"/>
          <p:nvPr/>
        </p:nvSpPr>
        <p:spPr>
          <a:xfrm>
            <a:off x="2974975" y="1828800"/>
            <a:ext cx="147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形式地址 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6292" name="Text Box 4"/>
          <p:cNvSpPr txBox="1"/>
          <p:nvPr/>
        </p:nvSpPr>
        <p:spPr>
          <a:xfrm>
            <a:off x="5062538" y="1828800"/>
            <a:ext cx="2392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指令字中的地址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6293" name="Text Box 5"/>
          <p:cNvSpPr txBox="1"/>
          <p:nvPr/>
        </p:nvSpPr>
        <p:spPr>
          <a:xfrm>
            <a:off x="2974975" y="2362200"/>
            <a:ext cx="147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有效地址 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6294" name="Text Box 6"/>
          <p:cNvSpPr txBox="1"/>
          <p:nvPr/>
        </p:nvSpPr>
        <p:spPr>
          <a:xfrm>
            <a:off x="5062538" y="2362200"/>
            <a:ext cx="2697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操作数的真实地址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6295" name="Text Box 7"/>
          <p:cNvSpPr txBox="1"/>
          <p:nvPr/>
        </p:nvSpPr>
        <p:spPr>
          <a:xfrm>
            <a:off x="2974975" y="2895600"/>
            <a:ext cx="944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约定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6296" name="Text Box 8"/>
          <p:cNvSpPr txBox="1"/>
          <p:nvPr/>
        </p:nvSpPr>
        <p:spPr>
          <a:xfrm>
            <a:off x="4022725" y="2895600"/>
            <a:ext cx="44932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指令字长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=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存储字长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=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机器字长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6297" name="Text Box 9"/>
          <p:cNvSpPr txBox="1"/>
          <p:nvPr/>
        </p:nvSpPr>
        <p:spPr>
          <a:xfrm>
            <a:off x="2193925" y="3352800"/>
            <a:ext cx="2316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立即寻址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96298" name="Text Box 10"/>
          <p:cNvSpPr txBox="1"/>
          <p:nvPr/>
        </p:nvSpPr>
        <p:spPr>
          <a:xfrm>
            <a:off x="2974975" y="5867400"/>
            <a:ext cx="31089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指令执行阶段不访存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6299" name="Text Box 11"/>
          <p:cNvSpPr txBox="1"/>
          <p:nvPr/>
        </p:nvSpPr>
        <p:spPr>
          <a:xfrm>
            <a:off x="2974975" y="6313488"/>
            <a:ext cx="42856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A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的位数限制了立即数的范围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6300" name="Group 12"/>
          <p:cNvGrpSpPr/>
          <p:nvPr/>
        </p:nvGrpSpPr>
        <p:grpSpPr>
          <a:xfrm>
            <a:off x="2971800" y="1143000"/>
            <a:ext cx="4800600" cy="533400"/>
            <a:chOff x="912" y="1056"/>
            <a:chExt cx="3024" cy="336"/>
          </a:xfrm>
        </p:grpSpPr>
        <p:sp>
          <p:nvSpPr>
            <p:cNvPr id="396318" name="Text Box 13"/>
            <p:cNvSpPr txBox="1"/>
            <p:nvPr/>
          </p:nvSpPr>
          <p:spPr>
            <a:xfrm>
              <a:off x="2966" y="1113"/>
              <a:ext cx="91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形式地址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6319" name="Rectangle 14"/>
            <p:cNvSpPr/>
            <p:nvPr/>
          </p:nvSpPr>
          <p:spPr>
            <a:xfrm>
              <a:off x="2928" y="1056"/>
              <a:ext cx="100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6320" name="Rectangle 15"/>
            <p:cNvSpPr/>
            <p:nvPr/>
          </p:nvSpPr>
          <p:spPr>
            <a:xfrm>
              <a:off x="1920" y="1056"/>
              <a:ext cx="100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6321" name="Rectangle 16"/>
            <p:cNvSpPr/>
            <p:nvPr/>
          </p:nvSpPr>
          <p:spPr>
            <a:xfrm>
              <a:off x="912" y="1056"/>
              <a:ext cx="100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6322" name="Text Box 17"/>
            <p:cNvSpPr txBox="1"/>
            <p:nvPr/>
          </p:nvSpPr>
          <p:spPr>
            <a:xfrm>
              <a:off x="1094" y="1102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操作码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6323" name="Text Box 18"/>
            <p:cNvSpPr txBox="1"/>
            <p:nvPr/>
          </p:nvSpPr>
          <p:spPr>
            <a:xfrm>
              <a:off x="2054" y="1102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寻址特征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6301" name="Group 19"/>
          <p:cNvGrpSpPr/>
          <p:nvPr/>
        </p:nvGrpSpPr>
        <p:grpSpPr>
          <a:xfrm>
            <a:off x="4264025" y="4403725"/>
            <a:ext cx="2432050" cy="1449388"/>
            <a:chOff x="1920" y="2400"/>
            <a:chExt cx="1532" cy="913"/>
          </a:xfrm>
        </p:grpSpPr>
        <p:grpSp>
          <p:nvGrpSpPr>
            <p:cNvPr id="396307" name="Group 20"/>
            <p:cNvGrpSpPr/>
            <p:nvPr/>
          </p:nvGrpSpPr>
          <p:grpSpPr>
            <a:xfrm>
              <a:off x="1920" y="2736"/>
              <a:ext cx="1440" cy="262"/>
              <a:chOff x="1920" y="2710"/>
              <a:chExt cx="1440" cy="262"/>
            </a:xfrm>
          </p:grpSpPr>
          <p:sp>
            <p:nvSpPr>
              <p:cNvPr id="396312" name="Text Box 21"/>
              <p:cNvSpPr txBox="1"/>
              <p:nvPr/>
            </p:nvSpPr>
            <p:spPr>
              <a:xfrm>
                <a:off x="2006" y="2719"/>
                <a:ext cx="33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OP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6313" name="Rectangle 22"/>
              <p:cNvSpPr/>
              <p:nvPr/>
            </p:nvSpPr>
            <p:spPr>
              <a:xfrm>
                <a:off x="1920" y="2710"/>
                <a:ext cx="48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6314" name="Text Box 23"/>
              <p:cNvSpPr txBox="1"/>
              <p:nvPr/>
            </p:nvSpPr>
            <p:spPr>
              <a:xfrm>
                <a:off x="2486" y="2719"/>
                <a:ext cx="235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#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6315" name="Rectangle 24"/>
              <p:cNvSpPr/>
              <p:nvPr/>
            </p:nvSpPr>
            <p:spPr>
              <a:xfrm>
                <a:off x="2400" y="2710"/>
                <a:ext cx="48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6316" name="Text Box 25"/>
              <p:cNvSpPr txBox="1"/>
              <p:nvPr/>
            </p:nvSpPr>
            <p:spPr>
              <a:xfrm>
                <a:off x="2966" y="2719"/>
                <a:ext cx="262" cy="2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A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6317" name="Rectangle 26"/>
              <p:cNvSpPr/>
              <p:nvPr/>
            </p:nvSpPr>
            <p:spPr>
              <a:xfrm>
                <a:off x="2880" y="2710"/>
                <a:ext cx="48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6308" name="AutoShape 27"/>
            <p:cNvSpPr/>
            <p:nvPr/>
          </p:nvSpPr>
          <p:spPr>
            <a:xfrm rot="5400000">
              <a:off x="2592" y="2448"/>
              <a:ext cx="96" cy="480"/>
            </a:xfrm>
            <a:prstGeom prst="leftBrace">
              <a:avLst>
                <a:gd name="adj1" fmla="val 41273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6309" name="AutoShape 28"/>
            <p:cNvSpPr/>
            <p:nvPr/>
          </p:nvSpPr>
          <p:spPr>
            <a:xfrm rot="-5400000">
              <a:off x="3072" y="2784"/>
              <a:ext cx="96" cy="480"/>
            </a:xfrm>
            <a:prstGeom prst="leftBrace">
              <a:avLst>
                <a:gd name="adj1" fmla="val 41273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6310" name="Text Box 29"/>
            <p:cNvSpPr txBox="1"/>
            <p:nvPr/>
          </p:nvSpPr>
          <p:spPr>
            <a:xfrm>
              <a:off x="2160" y="2400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立即寻址特征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6311" name="Text Box 30"/>
            <p:cNvSpPr txBox="1"/>
            <p:nvPr/>
          </p:nvSpPr>
          <p:spPr>
            <a:xfrm>
              <a:off x="2857" y="3062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立即数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6302" name="Text Box 31"/>
          <p:cNvSpPr txBox="1"/>
          <p:nvPr/>
        </p:nvSpPr>
        <p:spPr>
          <a:xfrm>
            <a:off x="6778625" y="5470525"/>
            <a:ext cx="18973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可正可负  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补码</a:t>
            </a:r>
            <a:endParaRPr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6303" name="Text Box 32"/>
          <p:cNvSpPr txBox="1"/>
          <p:nvPr/>
        </p:nvSpPr>
        <p:spPr>
          <a:xfrm>
            <a:off x="2974975" y="3962400"/>
            <a:ext cx="32816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形式地址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就是操作数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5905" name="Rectangle 3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6305" name="AutoShape 3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630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54825" y="3884295"/>
              <a:ext cx="259080" cy="3746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54825" y="3884295"/>
                <a:ext cx="259080" cy="374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7211695" y="3964305"/>
              <a:ext cx="89535" cy="16954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7211695" y="3964305"/>
                <a:ext cx="89535" cy="169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7247890" y="3946525"/>
              <a:ext cx="53340" cy="889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7247890" y="3946525"/>
                <a:ext cx="53340" cy="8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7390765" y="3848100"/>
              <a:ext cx="115570" cy="26797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7390765" y="3848100"/>
                <a:ext cx="115570" cy="267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6" name="墨迹 5"/>
              <p14:cNvContentPartPr/>
              <p14:nvPr/>
            </p14:nvContentPartPr>
            <p14:xfrm>
              <a:off x="7747635" y="3821430"/>
              <a:ext cx="44450" cy="25019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0"/>
            </p:blipFill>
            <p:spPr>
              <a:xfrm>
                <a:off x="7747635" y="3821430"/>
                <a:ext cx="44450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7" name="墨迹 6"/>
              <p14:cNvContentPartPr/>
              <p14:nvPr/>
            </p14:nvContentPartPr>
            <p14:xfrm>
              <a:off x="7810500" y="3830320"/>
              <a:ext cx="97790" cy="29464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2"/>
            </p:blipFill>
            <p:spPr>
              <a:xfrm>
                <a:off x="7810500" y="3830320"/>
                <a:ext cx="97790" cy="294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8" name="墨迹 7"/>
              <p14:cNvContentPartPr/>
              <p14:nvPr/>
            </p14:nvContentPartPr>
            <p14:xfrm>
              <a:off x="7783195" y="3990975"/>
              <a:ext cx="80645" cy="952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4"/>
            </p:blipFill>
            <p:spPr>
              <a:xfrm>
                <a:off x="7783195" y="3990975"/>
                <a:ext cx="8064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9" name="墨迹 8"/>
              <p14:cNvContentPartPr/>
              <p14:nvPr/>
            </p14:nvContentPartPr>
            <p14:xfrm>
              <a:off x="7953375" y="3821430"/>
              <a:ext cx="151765" cy="26797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6"/>
            </p:blipFill>
            <p:spPr>
              <a:xfrm>
                <a:off x="7953375" y="3821430"/>
                <a:ext cx="151765" cy="267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0" name="墨迹 9"/>
              <p14:cNvContentPartPr/>
              <p14:nvPr/>
            </p14:nvContentPartPr>
            <p14:xfrm>
              <a:off x="7997825" y="3848100"/>
              <a:ext cx="178435" cy="23241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8"/>
            </p:blipFill>
            <p:spPr>
              <a:xfrm>
                <a:off x="7997825" y="3848100"/>
                <a:ext cx="17843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1" name="墨迹 10"/>
              <p14:cNvContentPartPr/>
              <p14:nvPr/>
            </p14:nvContentPartPr>
            <p14:xfrm>
              <a:off x="8185150" y="4036060"/>
              <a:ext cx="62865" cy="13398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0"/>
            </p:blipFill>
            <p:spPr>
              <a:xfrm>
                <a:off x="8185150" y="4036060"/>
                <a:ext cx="62865" cy="133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2" name="墨迹 11"/>
              <p14:cNvContentPartPr/>
              <p14:nvPr/>
            </p14:nvContentPartPr>
            <p14:xfrm>
              <a:off x="8435340" y="3857625"/>
              <a:ext cx="8890" cy="18732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2"/>
            </p:blipFill>
            <p:spPr>
              <a:xfrm>
                <a:off x="8435340" y="3857625"/>
                <a:ext cx="8890" cy="187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3" name="墨迹 12"/>
              <p14:cNvContentPartPr/>
              <p14:nvPr/>
            </p14:nvContentPartPr>
            <p14:xfrm>
              <a:off x="8533765" y="3803650"/>
              <a:ext cx="133985" cy="23241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4"/>
            </p:blipFill>
            <p:spPr>
              <a:xfrm>
                <a:off x="8533765" y="3803650"/>
                <a:ext cx="13398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4" name="墨迹 13"/>
              <p14:cNvContentPartPr/>
              <p14:nvPr/>
            </p14:nvContentPartPr>
            <p14:xfrm>
              <a:off x="8738870" y="3785870"/>
              <a:ext cx="142875" cy="2768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6"/>
            </p:blipFill>
            <p:spPr>
              <a:xfrm>
                <a:off x="8738870" y="3785870"/>
                <a:ext cx="142875" cy="276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5" name="墨迹 14"/>
              <p14:cNvContentPartPr/>
              <p14:nvPr/>
            </p14:nvContentPartPr>
            <p14:xfrm>
              <a:off x="8774430" y="3875405"/>
              <a:ext cx="53975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8"/>
            </p:blipFill>
            <p:spPr>
              <a:xfrm>
                <a:off x="8774430" y="3875405"/>
                <a:ext cx="5397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6" name="墨迹 15"/>
              <p14:cNvContentPartPr/>
              <p14:nvPr/>
            </p14:nvContentPartPr>
            <p14:xfrm>
              <a:off x="8962390" y="3776980"/>
              <a:ext cx="160655" cy="18732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0"/>
            </p:blipFill>
            <p:spPr>
              <a:xfrm>
                <a:off x="8962390" y="3776980"/>
                <a:ext cx="160655" cy="187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7" name="墨迹 16"/>
              <p14:cNvContentPartPr/>
              <p14:nvPr/>
            </p14:nvContentPartPr>
            <p14:xfrm>
              <a:off x="9042400" y="3794760"/>
              <a:ext cx="35560" cy="29464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2"/>
            </p:blipFill>
            <p:spPr>
              <a:xfrm>
                <a:off x="9042400" y="3794760"/>
                <a:ext cx="35560" cy="294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8" name="墨迹 17"/>
              <p14:cNvContentPartPr/>
              <p14:nvPr/>
            </p14:nvContentPartPr>
            <p14:xfrm>
              <a:off x="9211945" y="3785870"/>
              <a:ext cx="45085" cy="29464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4"/>
            </p:blipFill>
            <p:spPr>
              <a:xfrm>
                <a:off x="9211945" y="3785870"/>
                <a:ext cx="45085" cy="294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19" name="墨迹 18"/>
              <p14:cNvContentPartPr/>
              <p14:nvPr/>
            </p14:nvContentPartPr>
            <p14:xfrm>
              <a:off x="9257030" y="3919855"/>
              <a:ext cx="106680" cy="889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6"/>
            </p:blipFill>
            <p:spPr>
              <a:xfrm>
                <a:off x="9257030" y="3919855"/>
                <a:ext cx="106680" cy="8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0" name="墨迹 19"/>
              <p14:cNvContentPartPr/>
              <p14:nvPr/>
            </p14:nvContentPartPr>
            <p14:xfrm>
              <a:off x="9382125" y="3750310"/>
              <a:ext cx="26670" cy="34798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8"/>
            </p:blipFill>
            <p:spPr>
              <a:xfrm>
                <a:off x="9382125" y="3750310"/>
                <a:ext cx="26670" cy="3479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7314" name="Text Box 2"/>
          <p:cNvSpPr txBox="1"/>
          <p:nvPr/>
        </p:nvSpPr>
        <p:spPr>
          <a:xfrm>
            <a:off x="2041525" y="273050"/>
            <a:ext cx="246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直接寻址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97315" name="Text Box 3"/>
          <p:cNvSpPr txBox="1"/>
          <p:nvPr/>
        </p:nvSpPr>
        <p:spPr>
          <a:xfrm>
            <a:off x="3184525" y="1057275"/>
            <a:ext cx="1274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EA = A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7316" name="Group 4"/>
          <p:cNvGrpSpPr/>
          <p:nvPr/>
        </p:nvGrpSpPr>
        <p:grpSpPr>
          <a:xfrm>
            <a:off x="6781800" y="1901825"/>
            <a:ext cx="1219200" cy="1831975"/>
            <a:chOff x="3312" y="1198"/>
            <a:chExt cx="768" cy="1154"/>
          </a:xfrm>
        </p:grpSpPr>
        <p:sp>
          <p:nvSpPr>
            <p:cNvPr id="397336" name="Rectangle 5"/>
            <p:cNvSpPr/>
            <p:nvPr/>
          </p:nvSpPr>
          <p:spPr>
            <a:xfrm>
              <a:off x="3312" y="1488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7337" name="Rectangle 6"/>
            <p:cNvSpPr/>
            <p:nvPr/>
          </p:nvSpPr>
          <p:spPr>
            <a:xfrm>
              <a:off x="3312" y="1776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操作数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7338" name="Rectangle 7"/>
            <p:cNvSpPr/>
            <p:nvPr/>
          </p:nvSpPr>
          <p:spPr>
            <a:xfrm>
              <a:off x="3312" y="2064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7339" name="Text Box 8"/>
            <p:cNvSpPr txBox="1"/>
            <p:nvPr/>
          </p:nvSpPr>
          <p:spPr>
            <a:xfrm>
              <a:off x="3456" y="1198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7317" name="AutoShape 9"/>
          <p:cNvSpPr/>
          <p:nvPr/>
        </p:nvSpPr>
        <p:spPr>
          <a:xfrm rot="5400000">
            <a:off x="4495800" y="190182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7318" name="Text Box 10"/>
          <p:cNvSpPr txBox="1"/>
          <p:nvPr/>
        </p:nvSpPr>
        <p:spPr>
          <a:xfrm>
            <a:off x="3962400" y="182245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97319" name="Group 11"/>
          <p:cNvGrpSpPr/>
          <p:nvPr/>
        </p:nvGrpSpPr>
        <p:grpSpPr>
          <a:xfrm>
            <a:off x="3429000" y="2359025"/>
            <a:ext cx="2286000" cy="381000"/>
            <a:chOff x="1200" y="1486"/>
            <a:chExt cx="1440" cy="240"/>
          </a:xfrm>
        </p:grpSpPr>
        <p:sp>
          <p:nvSpPr>
            <p:cNvPr id="397333" name="Rectangle 12"/>
            <p:cNvSpPr/>
            <p:nvPr/>
          </p:nvSpPr>
          <p:spPr>
            <a:xfrm>
              <a:off x="1200" y="1486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LDA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7334" name="Rectangle 13"/>
            <p:cNvSpPr/>
            <p:nvPr/>
          </p:nvSpPr>
          <p:spPr>
            <a:xfrm>
              <a:off x="1680" y="1486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7335" name="Rectangle 14"/>
            <p:cNvSpPr/>
            <p:nvPr/>
          </p:nvSpPr>
          <p:spPr>
            <a:xfrm>
              <a:off x="2160" y="1486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7320" name="AutoShape 15"/>
          <p:cNvSpPr/>
          <p:nvPr/>
        </p:nvSpPr>
        <p:spPr>
          <a:xfrm rot="16200000">
            <a:off x="5257800" y="243522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7321" name="Freeform 16"/>
          <p:cNvSpPr/>
          <p:nvPr/>
        </p:nvSpPr>
        <p:spPr>
          <a:xfrm>
            <a:off x="5334000" y="2892425"/>
            <a:ext cx="990600" cy="152400"/>
          </a:xfrm>
          <a:custGeom>
            <a:avLst/>
            <a:gdLst>
              <a:gd name="txL" fmla="*/ 0 w 624"/>
              <a:gd name="txT" fmla="*/ 0 h 96"/>
              <a:gd name="txR" fmla="*/ 624 w 624"/>
              <a:gd name="txB" fmla="*/ 96 h 96"/>
            </a:gdLst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624" y="96"/>
              </a:cxn>
            </a:cxnLst>
            <a:rect l="txL" t="txT" r="txR" b="tx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7322" name="Text Box 17"/>
          <p:cNvSpPr txBox="1"/>
          <p:nvPr/>
        </p:nvSpPr>
        <p:spPr>
          <a:xfrm>
            <a:off x="6308725" y="2833688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97323" name="AutoShape 18"/>
          <p:cNvSpPr/>
          <p:nvPr/>
        </p:nvSpPr>
        <p:spPr>
          <a:xfrm rot="5400000">
            <a:off x="7315200" y="2130425"/>
            <a:ext cx="152400" cy="1219200"/>
          </a:xfrm>
          <a:prstGeom prst="leftBrace">
            <a:avLst>
              <a:gd name="adj1" fmla="val 66037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7324" name="Rectangle 19"/>
          <p:cNvSpPr/>
          <p:nvPr/>
        </p:nvSpPr>
        <p:spPr>
          <a:xfrm>
            <a:off x="8458200" y="2816225"/>
            <a:ext cx="762000" cy="3810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ACC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97325" name="Freeform 20"/>
          <p:cNvSpPr/>
          <p:nvPr/>
        </p:nvSpPr>
        <p:spPr>
          <a:xfrm>
            <a:off x="7391400" y="2511425"/>
            <a:ext cx="1447800" cy="304800"/>
          </a:xfrm>
          <a:custGeom>
            <a:avLst/>
            <a:gdLst>
              <a:gd name="txL" fmla="*/ 0 w 960"/>
              <a:gd name="txT" fmla="*/ 0 h 192"/>
              <a:gd name="txR" fmla="*/ 960 w 960"/>
              <a:gd name="txB" fmla="*/ 192 h 192"/>
            </a:gdLst>
            <a:ahLst/>
            <a:cxnLst>
              <a:cxn ang="0">
                <a:pos x="0" y="96"/>
              </a:cxn>
              <a:cxn ang="0">
                <a:pos x="0" y="0"/>
              </a:cxn>
              <a:cxn ang="0">
                <a:pos x="960" y="0"/>
              </a:cxn>
              <a:cxn ang="0">
                <a:pos x="960" y="192"/>
              </a:cxn>
            </a:cxnLst>
            <a:rect l="txL" t="txT" r="txR" b="txB"/>
            <a:pathLst>
              <a:path w="960" h="192">
                <a:moveTo>
                  <a:pt x="0" y="96"/>
                </a:moveTo>
                <a:lnTo>
                  <a:pt x="0" y="0"/>
                </a:lnTo>
                <a:lnTo>
                  <a:pt x="960" y="0"/>
                </a:lnTo>
                <a:lnTo>
                  <a:pt x="960" y="19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7326" name="Text Box 21"/>
          <p:cNvSpPr txBox="1"/>
          <p:nvPr/>
        </p:nvSpPr>
        <p:spPr>
          <a:xfrm>
            <a:off x="2879725" y="3900488"/>
            <a:ext cx="43078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执行阶段访问一次存储器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7327" name="Text Box 22"/>
          <p:cNvSpPr txBox="1"/>
          <p:nvPr/>
        </p:nvSpPr>
        <p:spPr>
          <a:xfrm>
            <a:off x="2879725" y="4776788"/>
            <a:ext cx="67475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A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的位数决定了该指令操作数的寻址范围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7328" name="Text Box 23"/>
          <p:cNvSpPr txBox="1"/>
          <p:nvPr/>
        </p:nvSpPr>
        <p:spPr>
          <a:xfrm>
            <a:off x="2879725" y="5653088"/>
            <a:ext cx="6342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操作数的地址不易修改（必须修改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7329" name="Text Box 24"/>
          <p:cNvSpPr txBox="1"/>
          <p:nvPr/>
        </p:nvSpPr>
        <p:spPr>
          <a:xfrm>
            <a:off x="4876800" y="1066800"/>
            <a:ext cx="52578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有效地址由形式地址直接给出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6921" name="Rectangle 2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7331" name="AutoShape 2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733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425825" y="3223260"/>
              <a:ext cx="169545" cy="25019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425825" y="3223260"/>
                <a:ext cx="169545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3729355" y="3196590"/>
              <a:ext cx="360" cy="25019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3729355" y="3196590"/>
                <a:ext cx="360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3756025" y="3178810"/>
              <a:ext cx="125095" cy="25019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3756025" y="3178810"/>
                <a:ext cx="125095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4023995" y="3161030"/>
              <a:ext cx="44450" cy="2768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4023995" y="3161030"/>
                <a:ext cx="44450" cy="276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6" name="墨迹 5"/>
              <p14:cNvContentPartPr/>
              <p14:nvPr/>
            </p14:nvContentPartPr>
            <p14:xfrm>
              <a:off x="4077335" y="3178810"/>
              <a:ext cx="98425" cy="24066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0"/>
            </p:blipFill>
            <p:spPr>
              <a:xfrm>
                <a:off x="4077335" y="3178810"/>
                <a:ext cx="98425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7" name="墨迹 6"/>
              <p14:cNvContentPartPr/>
              <p14:nvPr/>
            </p14:nvContentPartPr>
            <p14:xfrm>
              <a:off x="4077335" y="3339465"/>
              <a:ext cx="53975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2"/>
            </p:blipFill>
            <p:spPr>
              <a:xfrm>
                <a:off x="4077335" y="3339465"/>
                <a:ext cx="5397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8" name="墨迹 7"/>
              <p14:cNvContentPartPr/>
              <p14:nvPr/>
            </p14:nvContentPartPr>
            <p14:xfrm>
              <a:off x="4551045" y="3107055"/>
              <a:ext cx="80010" cy="2768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4"/>
            </p:blipFill>
            <p:spPr>
              <a:xfrm>
                <a:off x="4551045" y="3107055"/>
                <a:ext cx="80010" cy="276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9" name="墨迹 8"/>
              <p14:cNvContentPartPr/>
              <p14:nvPr/>
            </p14:nvContentPartPr>
            <p14:xfrm>
              <a:off x="4667250" y="3133725"/>
              <a:ext cx="62230" cy="26797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6"/>
            </p:blipFill>
            <p:spPr>
              <a:xfrm>
                <a:off x="4667250" y="3133725"/>
                <a:ext cx="62230" cy="267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0" name="墨迹 9"/>
              <p14:cNvContentPartPr/>
              <p14:nvPr/>
            </p14:nvContentPartPr>
            <p14:xfrm>
              <a:off x="4622165" y="3286125"/>
              <a:ext cx="53975" cy="889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8"/>
            </p:blipFill>
            <p:spPr>
              <a:xfrm>
                <a:off x="4622165" y="3286125"/>
                <a:ext cx="53975" cy="8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1" name="墨迹 10"/>
              <p14:cNvContentPartPr/>
              <p14:nvPr/>
            </p14:nvContentPartPr>
            <p14:xfrm>
              <a:off x="7399655" y="4009390"/>
              <a:ext cx="231775" cy="30353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0"/>
            </p:blipFill>
            <p:spPr>
              <a:xfrm>
                <a:off x="7399655" y="4009390"/>
                <a:ext cx="231775" cy="303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2" name="墨迹 11"/>
              <p14:cNvContentPartPr/>
              <p14:nvPr/>
            </p14:nvContentPartPr>
            <p14:xfrm>
              <a:off x="7667625" y="4027170"/>
              <a:ext cx="151765" cy="22288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2"/>
            </p:blipFill>
            <p:spPr>
              <a:xfrm>
                <a:off x="7667625" y="4027170"/>
                <a:ext cx="151765" cy="2228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3" name="墨迹 12"/>
              <p14:cNvContentPartPr/>
              <p14:nvPr/>
            </p14:nvContentPartPr>
            <p14:xfrm>
              <a:off x="7890510" y="4000500"/>
              <a:ext cx="169545" cy="25844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4"/>
            </p:blipFill>
            <p:spPr>
              <a:xfrm>
                <a:off x="7890510" y="4000500"/>
                <a:ext cx="169545" cy="258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4" name="墨迹 13"/>
              <p14:cNvContentPartPr/>
              <p14:nvPr/>
            </p14:nvContentPartPr>
            <p14:xfrm>
              <a:off x="7783195" y="4027170"/>
              <a:ext cx="27305" cy="1778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6"/>
            </p:blipFill>
            <p:spPr>
              <a:xfrm>
                <a:off x="7783195" y="4027170"/>
                <a:ext cx="27305" cy="17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5" name="墨迹 14"/>
              <p14:cNvContentPartPr/>
              <p14:nvPr/>
            </p14:nvContentPartPr>
            <p14:xfrm>
              <a:off x="8229600" y="3946525"/>
              <a:ext cx="89535" cy="2768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8"/>
            </p:blipFill>
            <p:spPr>
              <a:xfrm>
                <a:off x="8229600" y="3946525"/>
                <a:ext cx="89535" cy="276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6" name="墨迹 15"/>
              <p14:cNvContentPartPr/>
              <p14:nvPr/>
            </p14:nvContentPartPr>
            <p14:xfrm>
              <a:off x="8345805" y="3990975"/>
              <a:ext cx="62865" cy="21463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0"/>
            </p:blipFill>
            <p:spPr>
              <a:xfrm>
                <a:off x="8345805" y="3990975"/>
                <a:ext cx="62865" cy="214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7" name="墨迹 16"/>
              <p14:cNvContentPartPr/>
              <p14:nvPr/>
            </p14:nvContentPartPr>
            <p14:xfrm>
              <a:off x="8283575" y="4133850"/>
              <a:ext cx="8001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2"/>
            </p:blipFill>
            <p:spPr>
              <a:xfrm>
                <a:off x="8283575" y="4133850"/>
                <a:ext cx="8001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8" name="墨迹 17"/>
              <p14:cNvContentPartPr/>
              <p14:nvPr/>
            </p14:nvContentPartPr>
            <p14:xfrm>
              <a:off x="8470900" y="3964305"/>
              <a:ext cx="151765" cy="24130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4"/>
            </p:blipFill>
            <p:spPr>
              <a:xfrm>
                <a:off x="8470900" y="3964305"/>
                <a:ext cx="151765" cy="241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19" name="墨迹 18"/>
              <p14:cNvContentPartPr/>
              <p14:nvPr/>
            </p14:nvContentPartPr>
            <p14:xfrm>
              <a:off x="8533765" y="3946525"/>
              <a:ext cx="142875" cy="1968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6"/>
            </p:blipFill>
            <p:spPr>
              <a:xfrm>
                <a:off x="8533765" y="3946525"/>
                <a:ext cx="142875" cy="196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0" name="墨迹 19"/>
              <p14:cNvContentPartPr/>
              <p14:nvPr/>
            </p14:nvContentPartPr>
            <p14:xfrm>
              <a:off x="8729980" y="4133850"/>
              <a:ext cx="8890" cy="8064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8"/>
            </p:blipFill>
            <p:spPr>
              <a:xfrm>
                <a:off x="8729980" y="4133850"/>
                <a:ext cx="8890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1" name="墨迹 20"/>
              <p14:cNvContentPartPr/>
              <p14:nvPr/>
            </p14:nvContentPartPr>
            <p14:xfrm>
              <a:off x="8703310" y="4124960"/>
              <a:ext cx="26670" cy="36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0"/>
            </p:blipFill>
            <p:spPr>
              <a:xfrm>
                <a:off x="8703310" y="4124960"/>
                <a:ext cx="2667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2" name="墨迹 21"/>
              <p14:cNvContentPartPr/>
              <p14:nvPr/>
            </p14:nvContentPartPr>
            <p14:xfrm>
              <a:off x="8738870" y="4196715"/>
              <a:ext cx="8890" cy="2667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2"/>
            </p:blipFill>
            <p:spPr>
              <a:xfrm>
                <a:off x="8738870" y="4196715"/>
                <a:ext cx="8890" cy="26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3" name="墨迹 22"/>
              <p14:cNvContentPartPr/>
              <p14:nvPr/>
            </p14:nvContentPartPr>
            <p14:xfrm>
              <a:off x="8703310" y="4178935"/>
              <a:ext cx="44450" cy="3556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4"/>
            </p:blipFill>
            <p:spPr>
              <a:xfrm>
                <a:off x="8703310" y="4178935"/>
                <a:ext cx="44450" cy="355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4" name="墨迹 23"/>
              <p14:cNvContentPartPr/>
              <p14:nvPr/>
            </p14:nvContentPartPr>
            <p14:xfrm>
              <a:off x="8881745" y="3928745"/>
              <a:ext cx="116205" cy="30353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6"/>
            </p:blipFill>
            <p:spPr>
              <a:xfrm>
                <a:off x="8881745" y="3928745"/>
                <a:ext cx="116205" cy="303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5" name="墨迹 24"/>
              <p14:cNvContentPartPr/>
              <p14:nvPr/>
            </p14:nvContentPartPr>
            <p14:xfrm>
              <a:off x="9069070" y="3990975"/>
              <a:ext cx="17780" cy="18796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8"/>
            </p:blipFill>
            <p:spPr>
              <a:xfrm>
                <a:off x="9069070" y="3990975"/>
                <a:ext cx="17780" cy="187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26" name="墨迹 25"/>
              <p14:cNvContentPartPr/>
              <p14:nvPr/>
            </p14:nvContentPartPr>
            <p14:xfrm>
              <a:off x="9185275" y="3955415"/>
              <a:ext cx="169545" cy="25908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50"/>
            </p:blipFill>
            <p:spPr>
              <a:xfrm>
                <a:off x="9185275" y="3955415"/>
                <a:ext cx="169545" cy="259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27" name="墨迹 26"/>
              <p14:cNvContentPartPr/>
              <p14:nvPr/>
            </p14:nvContentPartPr>
            <p14:xfrm>
              <a:off x="8721090" y="4187825"/>
              <a:ext cx="26670" cy="533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52"/>
            </p:blipFill>
            <p:spPr>
              <a:xfrm>
                <a:off x="8721090" y="4187825"/>
                <a:ext cx="26670" cy="533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28" name="墨迹 27"/>
              <p14:cNvContentPartPr/>
              <p14:nvPr/>
            </p14:nvContentPartPr>
            <p14:xfrm>
              <a:off x="8721090" y="4205605"/>
              <a:ext cx="26670" cy="8064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4"/>
            </p:blipFill>
            <p:spPr>
              <a:xfrm>
                <a:off x="8721090" y="4205605"/>
                <a:ext cx="26670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29" name="墨迹 28"/>
              <p14:cNvContentPartPr/>
              <p14:nvPr/>
            </p14:nvContentPartPr>
            <p14:xfrm>
              <a:off x="9471025" y="3973195"/>
              <a:ext cx="360" cy="18796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6"/>
            </p:blipFill>
            <p:spPr>
              <a:xfrm>
                <a:off x="9471025" y="3973195"/>
                <a:ext cx="360" cy="187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30" name="墨迹 29"/>
              <p14:cNvContentPartPr/>
              <p14:nvPr/>
            </p14:nvContentPartPr>
            <p14:xfrm>
              <a:off x="9479915" y="4080510"/>
              <a:ext cx="80645" cy="3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8"/>
            </p:blipFill>
            <p:spPr>
              <a:xfrm>
                <a:off x="9479915" y="4080510"/>
                <a:ext cx="8064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31" name="墨迹 30"/>
              <p14:cNvContentPartPr/>
              <p14:nvPr/>
            </p14:nvContentPartPr>
            <p14:xfrm>
              <a:off x="9596120" y="3937635"/>
              <a:ext cx="360" cy="33020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60"/>
            </p:blipFill>
            <p:spPr>
              <a:xfrm>
                <a:off x="9596120" y="3937635"/>
                <a:ext cx="360" cy="330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32" name="墨迹 31"/>
              <p14:cNvContentPartPr/>
              <p14:nvPr/>
            </p14:nvContentPartPr>
            <p14:xfrm>
              <a:off x="9676765" y="3973195"/>
              <a:ext cx="71120" cy="28575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62"/>
            </p:blipFill>
            <p:spPr>
              <a:xfrm>
                <a:off x="9676765" y="3973195"/>
                <a:ext cx="71120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33" name="墨迹 32"/>
              <p14:cNvContentPartPr/>
              <p14:nvPr/>
            </p14:nvContentPartPr>
            <p14:xfrm>
              <a:off x="9542780" y="4062730"/>
              <a:ext cx="26670" cy="1778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64"/>
            </p:blipFill>
            <p:spPr>
              <a:xfrm>
                <a:off x="9542780" y="4062730"/>
                <a:ext cx="26670" cy="17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34" name="墨迹 33"/>
              <p14:cNvContentPartPr/>
              <p14:nvPr/>
            </p14:nvContentPartPr>
            <p14:xfrm>
              <a:off x="9551670" y="4053840"/>
              <a:ext cx="53340" cy="889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6"/>
            </p:blipFill>
            <p:spPr>
              <a:xfrm>
                <a:off x="9551670" y="4053840"/>
                <a:ext cx="53340" cy="8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35" name="墨迹 34"/>
              <p14:cNvContentPartPr/>
              <p14:nvPr/>
            </p14:nvContentPartPr>
            <p14:xfrm>
              <a:off x="8712200" y="4107180"/>
              <a:ext cx="44450" cy="18796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8"/>
            </p:blipFill>
            <p:spPr>
              <a:xfrm>
                <a:off x="8712200" y="4107180"/>
                <a:ext cx="44450" cy="187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36" name="墨迹 35"/>
              <p14:cNvContentPartPr/>
              <p14:nvPr/>
            </p14:nvContentPartPr>
            <p14:xfrm>
              <a:off x="8712200" y="4107180"/>
              <a:ext cx="360" cy="16065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70"/>
            </p:blipFill>
            <p:spPr>
              <a:xfrm>
                <a:off x="8712200" y="4107180"/>
                <a:ext cx="360" cy="160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37" name="墨迹 36"/>
              <p14:cNvContentPartPr/>
              <p14:nvPr/>
            </p14:nvContentPartPr>
            <p14:xfrm>
              <a:off x="8703310" y="4107180"/>
              <a:ext cx="360" cy="13398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72"/>
            </p:blipFill>
            <p:spPr>
              <a:xfrm>
                <a:off x="8703310" y="4107180"/>
                <a:ext cx="360" cy="133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38" name="墨迹 37"/>
              <p14:cNvContentPartPr/>
              <p14:nvPr/>
            </p14:nvContentPartPr>
            <p14:xfrm>
              <a:off x="8703310" y="4116070"/>
              <a:ext cx="71120" cy="17907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74"/>
            </p:blipFill>
            <p:spPr>
              <a:xfrm>
                <a:off x="8703310" y="4116070"/>
                <a:ext cx="71120" cy="179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39" name="墨迹 38"/>
              <p14:cNvContentPartPr/>
              <p14:nvPr/>
            </p14:nvContentPartPr>
            <p14:xfrm>
              <a:off x="8747760" y="4205605"/>
              <a:ext cx="360" cy="10731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6"/>
            </p:blipFill>
            <p:spPr>
              <a:xfrm>
                <a:off x="8747760" y="4205605"/>
                <a:ext cx="360" cy="1073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40" name="墨迹 39"/>
              <p14:cNvContentPartPr/>
              <p14:nvPr/>
            </p14:nvContentPartPr>
            <p14:xfrm>
              <a:off x="8747760" y="4170045"/>
              <a:ext cx="360" cy="187325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8"/>
            </p:blipFill>
            <p:spPr>
              <a:xfrm>
                <a:off x="8747760" y="4170045"/>
                <a:ext cx="360" cy="187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1" name="墨迹 40"/>
              <p14:cNvContentPartPr/>
              <p14:nvPr/>
            </p14:nvContentPartPr>
            <p14:xfrm>
              <a:off x="8729980" y="4258945"/>
              <a:ext cx="360" cy="8064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80"/>
            </p:blipFill>
            <p:spPr>
              <a:xfrm>
                <a:off x="8729980" y="4258945"/>
                <a:ext cx="360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42" name="墨迹 41"/>
              <p14:cNvContentPartPr/>
              <p14:nvPr/>
            </p14:nvContentPartPr>
            <p14:xfrm>
              <a:off x="8729980" y="4116070"/>
              <a:ext cx="8890" cy="18796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82"/>
            </p:blipFill>
            <p:spPr>
              <a:xfrm>
                <a:off x="8729980" y="4116070"/>
                <a:ext cx="8890" cy="187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43" name="墨迹 42"/>
              <p14:cNvContentPartPr/>
              <p14:nvPr/>
            </p14:nvContentPartPr>
            <p14:xfrm>
              <a:off x="8712200" y="4143375"/>
              <a:ext cx="360" cy="18732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8"/>
            </p:blipFill>
            <p:spPr>
              <a:xfrm>
                <a:off x="8712200" y="4143375"/>
                <a:ext cx="360" cy="187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44" name="墨迹 43"/>
              <p14:cNvContentPartPr/>
              <p14:nvPr/>
            </p14:nvContentPartPr>
            <p14:xfrm>
              <a:off x="8738870" y="4214495"/>
              <a:ext cx="8890" cy="142875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85"/>
            </p:blipFill>
            <p:spPr>
              <a:xfrm>
                <a:off x="8738870" y="4214495"/>
                <a:ext cx="8890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45" name="墨迹 44"/>
              <p14:cNvContentPartPr/>
              <p14:nvPr/>
            </p14:nvContentPartPr>
            <p14:xfrm>
              <a:off x="8712200" y="4170045"/>
              <a:ext cx="26670" cy="11620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87"/>
            </p:blipFill>
            <p:spPr>
              <a:xfrm>
                <a:off x="8712200" y="4170045"/>
                <a:ext cx="2667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46" name="墨迹 45"/>
              <p14:cNvContentPartPr/>
              <p14:nvPr/>
            </p14:nvContentPartPr>
            <p14:xfrm>
              <a:off x="8703310" y="4152265"/>
              <a:ext cx="26670" cy="36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40"/>
            </p:blipFill>
            <p:spPr>
              <a:xfrm>
                <a:off x="8703310" y="4152265"/>
                <a:ext cx="2667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9" p14:bwMode="auto">
            <p14:nvContentPartPr>
              <p14:cNvPr id="47" name="墨迹 46"/>
              <p14:cNvContentPartPr/>
              <p14:nvPr/>
            </p14:nvContentPartPr>
            <p14:xfrm>
              <a:off x="9506585" y="3937635"/>
              <a:ext cx="98425" cy="23241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90"/>
            </p:blipFill>
            <p:spPr>
              <a:xfrm>
                <a:off x="9506585" y="3937635"/>
                <a:ext cx="9842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1" p14:bwMode="auto">
            <p14:nvContentPartPr>
              <p14:cNvPr id="48" name="墨迹 47"/>
              <p14:cNvContentPartPr/>
              <p14:nvPr/>
            </p14:nvContentPartPr>
            <p14:xfrm>
              <a:off x="9479915" y="3955415"/>
              <a:ext cx="26670" cy="25019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92"/>
            </p:blipFill>
            <p:spPr>
              <a:xfrm>
                <a:off x="9479915" y="3955415"/>
                <a:ext cx="26670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3" p14:bwMode="auto">
            <p14:nvContentPartPr>
              <p14:cNvPr id="49" name="墨迹 48"/>
              <p14:cNvContentPartPr/>
              <p14:nvPr/>
            </p14:nvContentPartPr>
            <p14:xfrm>
              <a:off x="9444355" y="3955415"/>
              <a:ext cx="53340" cy="330835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94"/>
            </p:blipFill>
            <p:spPr>
              <a:xfrm>
                <a:off x="9444355" y="3955415"/>
                <a:ext cx="53340" cy="3308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50" name="墨迹 49"/>
              <p14:cNvContentPartPr/>
              <p14:nvPr/>
            </p14:nvContentPartPr>
            <p14:xfrm>
              <a:off x="9640570" y="3848100"/>
              <a:ext cx="80645" cy="38417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96"/>
            </p:blipFill>
            <p:spPr>
              <a:xfrm>
                <a:off x="9640570" y="3848100"/>
                <a:ext cx="80645" cy="384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51" name="墨迹 50"/>
              <p14:cNvContentPartPr/>
              <p14:nvPr/>
            </p14:nvContentPartPr>
            <p14:xfrm>
              <a:off x="9721215" y="3964305"/>
              <a:ext cx="44450" cy="29464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98"/>
            </p:blipFill>
            <p:spPr>
              <a:xfrm>
                <a:off x="9721215" y="3964305"/>
                <a:ext cx="44450" cy="294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52" name="墨迹 51"/>
              <p14:cNvContentPartPr/>
              <p14:nvPr/>
            </p14:nvContentPartPr>
            <p14:xfrm>
              <a:off x="9694545" y="3902075"/>
              <a:ext cx="71120" cy="37465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100"/>
            </p:blipFill>
            <p:spPr>
              <a:xfrm>
                <a:off x="9694545" y="3902075"/>
                <a:ext cx="71120" cy="374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53" name="墨迹 52"/>
              <p14:cNvContentPartPr/>
              <p14:nvPr/>
            </p14:nvContentPartPr>
            <p14:xfrm>
              <a:off x="9569450" y="3866515"/>
              <a:ext cx="125095" cy="231775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102"/>
            </p:blipFill>
            <p:spPr>
              <a:xfrm>
                <a:off x="9569450" y="3866515"/>
                <a:ext cx="125095" cy="231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54" name="墨迹 53"/>
              <p14:cNvContentPartPr/>
              <p14:nvPr/>
            </p14:nvContentPartPr>
            <p14:xfrm>
              <a:off x="9587230" y="3928745"/>
              <a:ext cx="213995" cy="8064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104"/>
            </p:blipFill>
            <p:spPr>
              <a:xfrm>
                <a:off x="9587230" y="3928745"/>
                <a:ext cx="213995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5" p14:bwMode="auto">
            <p14:nvContentPartPr>
              <p14:cNvPr id="55" name="墨迹 54"/>
              <p14:cNvContentPartPr/>
              <p14:nvPr/>
            </p14:nvContentPartPr>
            <p14:xfrm>
              <a:off x="9569450" y="3973195"/>
              <a:ext cx="80010" cy="15176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106"/>
            </p:blipFill>
            <p:spPr>
              <a:xfrm>
                <a:off x="9569450" y="3973195"/>
                <a:ext cx="80010" cy="151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7" p14:bwMode="auto">
            <p14:nvContentPartPr>
              <p14:cNvPr id="56" name="墨迹 55"/>
              <p14:cNvContentPartPr/>
              <p14:nvPr/>
            </p14:nvContentPartPr>
            <p14:xfrm>
              <a:off x="9613900" y="3964305"/>
              <a:ext cx="169545" cy="8953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108"/>
            </p:blipFill>
            <p:spPr>
              <a:xfrm>
                <a:off x="9613900" y="3964305"/>
                <a:ext cx="169545" cy="895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9" p14:bwMode="auto">
            <p14:nvContentPartPr>
              <p14:cNvPr id="57" name="墨迹 56"/>
              <p14:cNvContentPartPr/>
              <p14:nvPr/>
            </p14:nvContentPartPr>
            <p14:xfrm>
              <a:off x="9542780" y="4009390"/>
              <a:ext cx="106680" cy="4445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110"/>
            </p:blipFill>
            <p:spPr>
              <a:xfrm>
                <a:off x="9542780" y="4009390"/>
                <a:ext cx="10668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1" p14:bwMode="auto">
            <p14:nvContentPartPr>
              <p14:cNvPr id="58" name="墨迹 57"/>
              <p14:cNvContentPartPr/>
              <p14:nvPr/>
            </p14:nvContentPartPr>
            <p14:xfrm>
              <a:off x="9596120" y="3973195"/>
              <a:ext cx="26670" cy="25019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12"/>
            </p:blipFill>
            <p:spPr>
              <a:xfrm>
                <a:off x="9596120" y="3973195"/>
                <a:ext cx="26670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59" name="墨迹 58"/>
              <p14:cNvContentPartPr/>
              <p14:nvPr/>
            </p14:nvContentPartPr>
            <p14:xfrm>
              <a:off x="9622790" y="4080510"/>
              <a:ext cx="360" cy="384175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114"/>
            </p:blipFill>
            <p:spPr>
              <a:xfrm>
                <a:off x="9622790" y="4080510"/>
                <a:ext cx="360" cy="384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60" name="墨迹 59"/>
              <p14:cNvContentPartPr/>
              <p14:nvPr/>
            </p14:nvContentPartPr>
            <p14:xfrm>
              <a:off x="9569450" y="4036060"/>
              <a:ext cx="53340" cy="28575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116"/>
            </p:blipFill>
            <p:spPr>
              <a:xfrm>
                <a:off x="9569450" y="4036060"/>
                <a:ext cx="53340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7" p14:bwMode="auto">
            <p14:nvContentPartPr>
              <p14:cNvPr id="61" name="墨迹 60"/>
              <p14:cNvContentPartPr/>
              <p14:nvPr/>
            </p14:nvContentPartPr>
            <p14:xfrm>
              <a:off x="9488805" y="4018280"/>
              <a:ext cx="303530" cy="303530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118"/>
            </p:blipFill>
            <p:spPr>
              <a:xfrm>
                <a:off x="9488805" y="4018280"/>
                <a:ext cx="303530" cy="303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9" p14:bwMode="auto">
            <p14:nvContentPartPr>
              <p14:cNvPr id="62" name="墨迹 61"/>
              <p14:cNvContentPartPr/>
              <p14:nvPr/>
            </p14:nvContentPartPr>
            <p14:xfrm>
              <a:off x="9453245" y="3687445"/>
              <a:ext cx="357505" cy="759460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120"/>
            </p:blipFill>
            <p:spPr>
              <a:xfrm>
                <a:off x="9453245" y="3687445"/>
                <a:ext cx="357505" cy="759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1" p14:bwMode="auto">
            <p14:nvContentPartPr>
              <p14:cNvPr id="63" name="墨迹 62"/>
              <p14:cNvContentPartPr/>
              <p14:nvPr/>
            </p14:nvContentPartPr>
            <p14:xfrm>
              <a:off x="9391015" y="3919855"/>
              <a:ext cx="142875" cy="312420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22"/>
            </p:blipFill>
            <p:spPr>
              <a:xfrm>
                <a:off x="9391015" y="3919855"/>
                <a:ext cx="142875" cy="312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3" p14:bwMode="auto">
            <p14:nvContentPartPr>
              <p14:cNvPr id="64" name="墨迹 63"/>
              <p14:cNvContentPartPr/>
              <p14:nvPr/>
            </p14:nvContentPartPr>
            <p14:xfrm>
              <a:off x="9631680" y="3884295"/>
              <a:ext cx="187960" cy="18732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24"/>
            </p:blipFill>
            <p:spPr>
              <a:xfrm>
                <a:off x="9631680" y="3884295"/>
                <a:ext cx="187960" cy="187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5" p14:bwMode="auto">
            <p14:nvContentPartPr>
              <p14:cNvPr id="65" name="墨迹 64"/>
              <p14:cNvContentPartPr/>
              <p14:nvPr/>
            </p14:nvContentPartPr>
            <p14:xfrm>
              <a:off x="9765665" y="3902075"/>
              <a:ext cx="17780" cy="384175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126"/>
            </p:blipFill>
            <p:spPr>
              <a:xfrm>
                <a:off x="9765665" y="3902075"/>
                <a:ext cx="17780" cy="384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7" p14:bwMode="auto">
            <p14:nvContentPartPr>
              <p14:cNvPr id="66" name="墨迹 65"/>
              <p14:cNvContentPartPr/>
              <p14:nvPr/>
            </p14:nvContentPartPr>
            <p14:xfrm>
              <a:off x="9899650" y="3946525"/>
              <a:ext cx="26670" cy="250190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128"/>
            </p:blipFill>
            <p:spPr>
              <a:xfrm>
                <a:off x="9899650" y="3946525"/>
                <a:ext cx="26670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9" p14:bwMode="auto">
            <p14:nvContentPartPr>
              <p14:cNvPr id="67" name="墨迹 66"/>
              <p14:cNvContentPartPr/>
              <p14:nvPr/>
            </p14:nvContentPartPr>
            <p14:xfrm>
              <a:off x="9953625" y="4053840"/>
              <a:ext cx="80010" cy="1778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130"/>
            </p:blipFill>
            <p:spPr>
              <a:xfrm>
                <a:off x="9953625" y="4053840"/>
                <a:ext cx="80010" cy="17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1" p14:bwMode="auto">
            <p14:nvContentPartPr>
              <p14:cNvPr id="68" name="墨迹 67"/>
              <p14:cNvContentPartPr/>
              <p14:nvPr/>
            </p14:nvContentPartPr>
            <p14:xfrm>
              <a:off x="10024745" y="3919855"/>
              <a:ext cx="35560" cy="303530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32"/>
            </p:blipFill>
            <p:spPr>
              <a:xfrm>
                <a:off x="10024745" y="3919855"/>
                <a:ext cx="35560" cy="303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3" p14:bwMode="auto">
            <p14:nvContentPartPr>
              <p14:cNvPr id="69" name="墨迹 68"/>
              <p14:cNvContentPartPr/>
              <p14:nvPr/>
            </p14:nvContentPartPr>
            <p14:xfrm>
              <a:off x="10105390" y="3893185"/>
              <a:ext cx="115570" cy="374650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134"/>
            </p:blipFill>
            <p:spPr>
              <a:xfrm>
                <a:off x="10105390" y="3893185"/>
                <a:ext cx="115570" cy="3746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8" name="Text Box 2"/>
          <p:cNvSpPr txBox="1"/>
          <p:nvPr/>
        </p:nvSpPr>
        <p:spPr>
          <a:xfrm>
            <a:off x="1981200" y="304800"/>
            <a:ext cx="246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隐含寻址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98339" name="Text Box 3"/>
          <p:cNvSpPr txBox="1"/>
          <p:nvPr/>
        </p:nvSpPr>
        <p:spPr>
          <a:xfrm>
            <a:off x="2438400" y="914400"/>
            <a:ext cx="4450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操作数地址隐含在操作码中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8340" name="Group 4"/>
          <p:cNvGrpSpPr/>
          <p:nvPr/>
        </p:nvGrpSpPr>
        <p:grpSpPr>
          <a:xfrm>
            <a:off x="2895600" y="2076450"/>
            <a:ext cx="2286000" cy="339725"/>
            <a:chOff x="432" y="1356"/>
            <a:chExt cx="1440" cy="214"/>
          </a:xfrm>
        </p:grpSpPr>
        <p:sp>
          <p:nvSpPr>
            <p:cNvPr id="398375" name="Rectangle 5"/>
            <p:cNvSpPr/>
            <p:nvPr/>
          </p:nvSpPr>
          <p:spPr>
            <a:xfrm>
              <a:off x="432" y="1356"/>
              <a:ext cx="480" cy="21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ADD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8376" name="Rectangle 6"/>
            <p:cNvSpPr/>
            <p:nvPr/>
          </p:nvSpPr>
          <p:spPr>
            <a:xfrm>
              <a:off x="912" y="1356"/>
              <a:ext cx="480" cy="214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8377" name="Rectangle 7"/>
            <p:cNvSpPr/>
            <p:nvPr/>
          </p:nvSpPr>
          <p:spPr>
            <a:xfrm>
              <a:off x="1392" y="1356"/>
              <a:ext cx="480" cy="21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8341" name="Group 8"/>
          <p:cNvGrpSpPr/>
          <p:nvPr/>
        </p:nvGrpSpPr>
        <p:grpSpPr>
          <a:xfrm>
            <a:off x="6162675" y="1655763"/>
            <a:ext cx="1304925" cy="1628775"/>
            <a:chOff x="2490" y="1100"/>
            <a:chExt cx="822" cy="1026"/>
          </a:xfrm>
        </p:grpSpPr>
        <p:sp>
          <p:nvSpPr>
            <p:cNvPr id="398371" name="Rectangle 9"/>
            <p:cNvSpPr/>
            <p:nvPr/>
          </p:nvSpPr>
          <p:spPr>
            <a:xfrm>
              <a:off x="2544" y="1358"/>
              <a:ext cx="768" cy="25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8372" name="Rectangle 10"/>
            <p:cNvSpPr/>
            <p:nvPr/>
          </p:nvSpPr>
          <p:spPr>
            <a:xfrm>
              <a:off x="2544" y="1614"/>
              <a:ext cx="768" cy="25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操作数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8373" name="Rectangle 11"/>
            <p:cNvSpPr/>
            <p:nvPr/>
          </p:nvSpPr>
          <p:spPr>
            <a:xfrm>
              <a:off x="2544" y="1870"/>
              <a:ext cx="768" cy="25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8374" name="Text Box 12"/>
            <p:cNvSpPr txBox="1"/>
            <p:nvPr/>
          </p:nvSpPr>
          <p:spPr>
            <a:xfrm>
              <a:off x="2490" y="1100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8342" name="AutoShape 13"/>
          <p:cNvSpPr/>
          <p:nvPr/>
        </p:nvSpPr>
        <p:spPr>
          <a:xfrm rot="5400000">
            <a:off x="3970338" y="1627188"/>
            <a:ext cx="133350" cy="762000"/>
          </a:xfrm>
          <a:prstGeom prst="leftBrace">
            <a:avLst>
              <a:gd name="adj1" fmla="val 47169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43" name="Text Box 14"/>
          <p:cNvSpPr txBox="1"/>
          <p:nvPr/>
        </p:nvSpPr>
        <p:spPr>
          <a:xfrm>
            <a:off x="3429000" y="16002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98344" name="AutoShape 15"/>
          <p:cNvSpPr/>
          <p:nvPr/>
        </p:nvSpPr>
        <p:spPr>
          <a:xfrm rot="-5400000">
            <a:off x="4730750" y="2100263"/>
            <a:ext cx="134938" cy="762000"/>
          </a:xfrm>
          <a:prstGeom prst="leftBrace">
            <a:avLst>
              <a:gd name="adj1" fmla="val 46614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45" name="Freeform 16"/>
          <p:cNvSpPr/>
          <p:nvPr/>
        </p:nvSpPr>
        <p:spPr>
          <a:xfrm>
            <a:off x="4800600" y="2551113"/>
            <a:ext cx="990600" cy="134937"/>
          </a:xfrm>
          <a:custGeom>
            <a:avLst/>
            <a:gdLst>
              <a:gd name="txL" fmla="*/ 0 w 624"/>
              <a:gd name="txT" fmla="*/ 0 h 96"/>
              <a:gd name="txR" fmla="*/ 624 w 624"/>
              <a:gd name="txB" fmla="*/ 96 h 96"/>
            </a:gdLst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624" y="96"/>
              </a:cxn>
            </a:cxnLst>
            <a:rect l="txL" t="txT" r="txR" b="tx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46" name="Text Box 17"/>
          <p:cNvSpPr txBox="1"/>
          <p:nvPr/>
        </p:nvSpPr>
        <p:spPr>
          <a:xfrm>
            <a:off x="5775325" y="2500313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98347" name="AutoShape 18"/>
          <p:cNvSpPr/>
          <p:nvPr/>
        </p:nvSpPr>
        <p:spPr>
          <a:xfrm rot="5400000">
            <a:off x="6788150" y="1792288"/>
            <a:ext cx="134938" cy="1219200"/>
          </a:xfrm>
          <a:prstGeom prst="leftBrace">
            <a:avLst>
              <a:gd name="adj1" fmla="val 74582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/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98348" name="Rectangle 19"/>
          <p:cNvSpPr/>
          <p:nvPr/>
        </p:nvSpPr>
        <p:spPr>
          <a:xfrm>
            <a:off x="8153400" y="2195513"/>
            <a:ext cx="685800" cy="338137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ACC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98349" name="Rectangle 20"/>
          <p:cNvSpPr/>
          <p:nvPr/>
        </p:nvSpPr>
        <p:spPr>
          <a:xfrm>
            <a:off x="7924800" y="4097338"/>
            <a:ext cx="685800" cy="3397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tIns="18000" anchor="ctr" anchorCtr="0"/>
          <a:p>
            <a:pPr algn="ctr"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暂存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98350" name="Group 21"/>
          <p:cNvGrpSpPr/>
          <p:nvPr/>
        </p:nvGrpSpPr>
        <p:grpSpPr>
          <a:xfrm>
            <a:off x="7696200" y="3352800"/>
            <a:ext cx="1066800" cy="514351"/>
            <a:chOff x="3888" y="2112"/>
            <a:chExt cx="672" cy="324"/>
          </a:xfrm>
        </p:grpSpPr>
        <p:sp>
          <p:nvSpPr>
            <p:cNvPr id="398369" name="Freeform 22"/>
            <p:cNvSpPr/>
            <p:nvPr/>
          </p:nvSpPr>
          <p:spPr>
            <a:xfrm>
              <a:off x="3888" y="2112"/>
              <a:ext cx="672" cy="300"/>
            </a:xfrm>
            <a:custGeom>
              <a:avLst/>
              <a:gdLst>
                <a:gd name="txL" fmla="*/ 0 w 672"/>
                <a:gd name="txT" fmla="*/ 0 h 338"/>
                <a:gd name="txR" fmla="*/ 672 w 672"/>
                <a:gd name="txB" fmla="*/ 338 h 338"/>
              </a:gdLst>
              <a:ahLst/>
              <a:cxnLst>
                <a:cxn ang="0">
                  <a:pos x="0" y="0"/>
                </a:cxn>
                <a:cxn ang="0">
                  <a:pos x="240" y="0"/>
                </a:cxn>
                <a:cxn ang="0">
                  <a:pos x="339" y="129"/>
                </a:cxn>
                <a:cxn ang="0">
                  <a:pos x="432" y="0"/>
                </a:cxn>
                <a:cxn ang="0">
                  <a:pos x="672" y="0"/>
                </a:cxn>
                <a:cxn ang="0">
                  <a:pos x="507" y="338"/>
                </a:cxn>
                <a:cxn ang="0">
                  <a:pos x="192" y="336"/>
                </a:cxn>
                <a:cxn ang="0">
                  <a:pos x="0" y="0"/>
                </a:cxn>
              </a:cxnLst>
              <a:rect l="txL" t="txT" r="txR" b="tx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8370" name="Text Box 23"/>
            <p:cNvSpPr txBox="1"/>
            <p:nvPr/>
          </p:nvSpPr>
          <p:spPr>
            <a:xfrm>
              <a:off x="4017" y="2185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ALU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8351" name="Line 24"/>
          <p:cNvSpPr/>
          <p:nvPr/>
        </p:nvSpPr>
        <p:spPr>
          <a:xfrm>
            <a:off x="8229600" y="3821113"/>
            <a:ext cx="0" cy="2714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398352" name="Freeform 25"/>
          <p:cNvSpPr/>
          <p:nvPr/>
        </p:nvSpPr>
        <p:spPr>
          <a:xfrm>
            <a:off x="8534400" y="2533650"/>
            <a:ext cx="1588" cy="793750"/>
          </a:xfrm>
          <a:custGeom>
            <a:avLst/>
            <a:gdLst>
              <a:gd name="txL" fmla="*/ 0 w 1"/>
              <a:gd name="txT" fmla="*/ 0 h 500"/>
              <a:gd name="txR" fmla="*/ 1 w 1"/>
              <a:gd name="txB" fmla="*/ 500 h 500"/>
            </a:gdLst>
            <a:ahLst/>
            <a:cxnLst>
              <a:cxn ang="0">
                <a:pos x="0" y="0"/>
              </a:cxn>
              <a:cxn ang="0">
                <a:pos x="1" y="500"/>
              </a:cxn>
            </a:cxnLst>
            <a:rect l="txL" t="txT" r="txR" b="txB"/>
            <a:pathLst>
              <a:path w="1" h="500">
                <a:moveTo>
                  <a:pt x="0" y="0"/>
                </a:moveTo>
                <a:lnTo>
                  <a:pt x="1" y="50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53" name="Text Box 26"/>
          <p:cNvSpPr txBox="1"/>
          <p:nvPr/>
        </p:nvSpPr>
        <p:spPr>
          <a:xfrm>
            <a:off x="3336925" y="2911475"/>
            <a:ext cx="2530475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另一个操作数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隐含在 </a:t>
            </a:r>
            <a:r>
              <a:rPr lang="en-US" altLang="zh-CN" sz="2000" b="1" dirty="0">
                <a:latin typeface="Times New Roman" panose="02020603050405020304" pitchFamily="18" charset="0"/>
              </a:rPr>
              <a:t>ACC </a:t>
            </a:r>
            <a:r>
              <a:rPr lang="zh-CN" altLang="en-US" sz="2000" b="1" dirty="0">
                <a:latin typeface="Times New Roman" panose="02020603050405020304" pitchFamily="18" charset="0"/>
              </a:rPr>
              <a:t>中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98354" name="Text Box 27"/>
          <p:cNvSpPr txBox="1"/>
          <p:nvPr/>
        </p:nvSpPr>
        <p:spPr>
          <a:xfrm>
            <a:off x="2405063" y="4243388"/>
            <a:ext cx="1173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如 </a:t>
            </a:r>
            <a:r>
              <a:rPr lang="en-US" altLang="zh-CN" sz="2400" b="1" dirty="0">
                <a:latin typeface="Times New Roman" panose="02020603050405020304" pitchFamily="18" charset="0"/>
              </a:rPr>
              <a:t>8086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8355" name="Text Box 28"/>
          <p:cNvSpPr txBox="1"/>
          <p:nvPr/>
        </p:nvSpPr>
        <p:spPr>
          <a:xfrm>
            <a:off x="2759075" y="4722813"/>
            <a:ext cx="144716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200" b="1" dirty="0">
                <a:latin typeface="Times New Roman" panose="02020603050405020304" pitchFamily="18" charset="0"/>
              </a:rPr>
              <a:t>MUL </a:t>
            </a:r>
            <a:r>
              <a:rPr lang="zh-CN" altLang="en-US" sz="2200" b="1" dirty="0">
                <a:latin typeface="Times New Roman" panose="02020603050405020304" pitchFamily="18" charset="0"/>
              </a:rPr>
              <a:t>指令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8356" name="Text Box 29"/>
          <p:cNvSpPr txBox="1"/>
          <p:nvPr/>
        </p:nvSpPr>
        <p:spPr>
          <a:xfrm>
            <a:off x="4359275" y="4722813"/>
            <a:ext cx="544512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被乘数隐含在 </a:t>
            </a:r>
            <a:r>
              <a:rPr lang="en-US" altLang="zh-CN" sz="2200" b="1" dirty="0">
                <a:latin typeface="Times New Roman" panose="02020603050405020304" pitchFamily="18" charset="0"/>
              </a:rPr>
              <a:t>AX</a:t>
            </a:r>
            <a:r>
              <a:rPr lang="zh-CN" altLang="en-US" sz="2200" b="1" dirty="0">
                <a:latin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Times New Roman" panose="02020603050405020304" pitchFamily="18" charset="0"/>
              </a:rPr>
              <a:t>16</a:t>
            </a:r>
            <a:r>
              <a:rPr lang="zh-CN" altLang="en-US" sz="2200" b="1" dirty="0">
                <a:latin typeface="Times New Roman" panose="02020603050405020304" pitchFamily="18" charset="0"/>
              </a:rPr>
              <a:t>位）或 </a:t>
            </a:r>
            <a:r>
              <a:rPr lang="en-US" altLang="zh-CN" sz="2200" b="1" dirty="0">
                <a:latin typeface="Times New Roman" panose="02020603050405020304" pitchFamily="18" charset="0"/>
              </a:rPr>
              <a:t>AL</a:t>
            </a:r>
            <a:r>
              <a:rPr lang="zh-CN" altLang="en-US" sz="2200" b="1" dirty="0">
                <a:latin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Times New Roman" panose="02020603050405020304" pitchFamily="18" charset="0"/>
              </a:rPr>
              <a:t>8</a:t>
            </a:r>
            <a:r>
              <a:rPr lang="zh-CN" altLang="en-US" sz="2200" b="1" dirty="0">
                <a:latin typeface="Times New Roman" panose="02020603050405020304" pitchFamily="18" charset="0"/>
              </a:rPr>
              <a:t>位）中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8357" name="Text Box 30"/>
          <p:cNvSpPr txBox="1"/>
          <p:nvPr/>
        </p:nvSpPr>
        <p:spPr>
          <a:xfrm>
            <a:off x="2571750" y="5205413"/>
            <a:ext cx="164973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200" b="1" dirty="0">
                <a:latin typeface="Times New Roman" panose="02020603050405020304" pitchFamily="18" charset="0"/>
              </a:rPr>
              <a:t>MOVS </a:t>
            </a:r>
            <a:r>
              <a:rPr lang="zh-CN" altLang="en-US" sz="2200" b="1" dirty="0">
                <a:latin typeface="Times New Roman" panose="02020603050405020304" pitchFamily="18" charset="0"/>
              </a:rPr>
              <a:t>指令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8358" name="Text Box 31"/>
          <p:cNvSpPr txBox="1"/>
          <p:nvPr/>
        </p:nvSpPr>
        <p:spPr>
          <a:xfrm>
            <a:off x="4359275" y="5205413"/>
            <a:ext cx="4098925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源操作数的地址隐含在 </a:t>
            </a:r>
            <a:r>
              <a:rPr lang="en-US" altLang="zh-CN" sz="2200" b="1" dirty="0">
                <a:latin typeface="Times New Roman" panose="02020603050405020304" pitchFamily="18" charset="0"/>
              </a:rPr>
              <a:t>SI </a:t>
            </a:r>
            <a:r>
              <a:rPr lang="zh-CN" altLang="en-US" sz="2200" b="1" dirty="0">
                <a:latin typeface="Times New Roman" panose="02020603050405020304" pitchFamily="18" charset="0"/>
              </a:rPr>
              <a:t>中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8359" name="Text Box 32"/>
          <p:cNvSpPr txBox="1"/>
          <p:nvPr/>
        </p:nvSpPr>
        <p:spPr>
          <a:xfrm>
            <a:off x="4359275" y="5688013"/>
            <a:ext cx="398589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目的操作数的地址隐含在 </a:t>
            </a:r>
            <a:r>
              <a:rPr lang="en-US" altLang="zh-CN" sz="2200" b="1" dirty="0">
                <a:latin typeface="Times New Roman" panose="02020603050405020304" pitchFamily="18" charset="0"/>
              </a:rPr>
              <a:t>DI </a:t>
            </a:r>
            <a:r>
              <a:rPr lang="zh-CN" altLang="en-US" sz="2200" b="1" dirty="0">
                <a:latin typeface="Times New Roman" panose="02020603050405020304" pitchFamily="18" charset="0"/>
              </a:rPr>
              <a:t>中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8360" name="Text Box 33"/>
          <p:cNvSpPr txBox="1"/>
          <p:nvPr/>
        </p:nvSpPr>
        <p:spPr>
          <a:xfrm>
            <a:off x="2209800" y="6172200"/>
            <a:ext cx="60083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指令字中少了一个地址字段，可缩短指令字长</a:t>
            </a:r>
            <a:endParaRPr lang="zh-CN" altLang="en-US" sz="2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8361" name="Freeform 34"/>
          <p:cNvSpPr/>
          <p:nvPr/>
        </p:nvSpPr>
        <p:spPr>
          <a:xfrm>
            <a:off x="6858000" y="1828800"/>
            <a:ext cx="990600" cy="533400"/>
          </a:xfrm>
          <a:custGeom>
            <a:avLst/>
            <a:gdLst>
              <a:gd name="txL" fmla="*/ 0 w 624"/>
              <a:gd name="txT" fmla="*/ 0 h 384"/>
              <a:gd name="txR" fmla="*/ 624 w 624"/>
              <a:gd name="txB" fmla="*/ 384 h 384"/>
            </a:gdLst>
            <a:ahLst/>
            <a:cxnLst>
              <a:cxn ang="0">
                <a:pos x="0" y="384"/>
              </a:cxn>
              <a:cxn ang="0">
                <a:pos x="0" y="0"/>
              </a:cxn>
              <a:cxn ang="0">
                <a:pos x="624" y="0"/>
              </a:cxn>
            </a:cxnLst>
            <a:rect l="txL" t="txT" r="txR" b="txB"/>
            <a:pathLst>
              <a:path w="624" h="384">
                <a:moveTo>
                  <a:pt x="0" y="384"/>
                </a:moveTo>
                <a:lnTo>
                  <a:pt x="0" y="0"/>
                </a:lnTo>
                <a:lnTo>
                  <a:pt x="624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62" name="Line 35"/>
          <p:cNvSpPr/>
          <p:nvPr/>
        </p:nvSpPr>
        <p:spPr>
          <a:xfrm>
            <a:off x="7848600" y="1828800"/>
            <a:ext cx="0" cy="1524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398363" name="Freeform 36"/>
          <p:cNvSpPr/>
          <p:nvPr/>
        </p:nvSpPr>
        <p:spPr>
          <a:xfrm>
            <a:off x="8229600" y="4419600"/>
            <a:ext cx="990600" cy="228600"/>
          </a:xfrm>
          <a:custGeom>
            <a:avLst/>
            <a:gdLst>
              <a:gd name="txL" fmla="*/ 0 w 624"/>
              <a:gd name="txT" fmla="*/ 0 h 144"/>
              <a:gd name="txR" fmla="*/ 624 w 624"/>
              <a:gd name="txB" fmla="*/ 144 h 144"/>
            </a:gdLst>
            <a:ahLst/>
            <a:cxnLst>
              <a:cxn ang="0">
                <a:pos x="0" y="0"/>
              </a:cxn>
              <a:cxn ang="0">
                <a:pos x="0" y="144"/>
              </a:cxn>
              <a:cxn ang="0">
                <a:pos x="624" y="144"/>
              </a:cxn>
            </a:cxnLst>
            <a:rect l="txL" t="txT" r="txR" b="txB"/>
            <a:pathLst>
              <a:path w="624" h="144">
                <a:moveTo>
                  <a:pt x="0" y="0"/>
                </a:moveTo>
                <a:lnTo>
                  <a:pt x="0" y="144"/>
                </a:lnTo>
                <a:lnTo>
                  <a:pt x="624" y="14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64" name="Freeform 37"/>
          <p:cNvSpPr/>
          <p:nvPr/>
        </p:nvSpPr>
        <p:spPr>
          <a:xfrm>
            <a:off x="8529638" y="1752600"/>
            <a:ext cx="690562" cy="2895600"/>
          </a:xfrm>
          <a:custGeom>
            <a:avLst/>
            <a:gdLst>
              <a:gd name="txL" fmla="*/ 0 w 435"/>
              <a:gd name="txT" fmla="*/ 0 h 1824"/>
              <a:gd name="txR" fmla="*/ 435 w 435"/>
              <a:gd name="txB" fmla="*/ 1824 h 1824"/>
            </a:gdLst>
            <a:ahLst/>
            <a:cxnLst>
              <a:cxn ang="0">
                <a:pos x="435" y="1824"/>
              </a:cxn>
              <a:cxn ang="0">
                <a:pos x="435" y="0"/>
              </a:cxn>
              <a:cxn ang="0">
                <a:pos x="0" y="0"/>
              </a:cxn>
            </a:cxnLst>
            <a:rect l="txL" t="txT" r="txR" b="txB"/>
            <a:pathLst>
              <a:path w="435" h="1824">
                <a:moveTo>
                  <a:pt x="435" y="1824"/>
                </a:moveTo>
                <a:lnTo>
                  <a:pt x="435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65" name="Line 38"/>
          <p:cNvSpPr/>
          <p:nvPr/>
        </p:nvSpPr>
        <p:spPr>
          <a:xfrm>
            <a:off x="8534400" y="1752600"/>
            <a:ext cx="0" cy="457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337959" name="Rectangle 3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8367" name="AutoShape 4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836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62" name="Text Box 2"/>
          <p:cNvSpPr txBox="1"/>
          <p:nvPr/>
        </p:nvSpPr>
        <p:spPr>
          <a:xfrm>
            <a:off x="1981200" y="304800"/>
            <a:ext cx="33226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间接寻址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99363" name="Text Box 3"/>
          <p:cNvSpPr txBox="1"/>
          <p:nvPr/>
        </p:nvSpPr>
        <p:spPr>
          <a:xfrm>
            <a:off x="3032125" y="1133475"/>
            <a:ext cx="19164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EA =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64" name="Text Box 4"/>
          <p:cNvSpPr txBox="1"/>
          <p:nvPr/>
        </p:nvSpPr>
        <p:spPr>
          <a:xfrm>
            <a:off x="5013325" y="1133475"/>
            <a:ext cx="4805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有效地址由形式地址间接提供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9365" name="Group 5"/>
          <p:cNvGrpSpPr/>
          <p:nvPr/>
        </p:nvGrpSpPr>
        <p:grpSpPr>
          <a:xfrm>
            <a:off x="1752600" y="2209800"/>
            <a:ext cx="2286000" cy="381000"/>
            <a:chOff x="144" y="1392"/>
            <a:chExt cx="1440" cy="240"/>
          </a:xfrm>
        </p:grpSpPr>
        <p:sp>
          <p:nvSpPr>
            <p:cNvPr id="399420" name="Rectangle 6"/>
            <p:cNvSpPr/>
            <p:nvPr/>
          </p:nvSpPr>
          <p:spPr>
            <a:xfrm>
              <a:off x="144" y="1392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21" name="Rectangle 7"/>
            <p:cNvSpPr/>
            <p:nvPr/>
          </p:nvSpPr>
          <p:spPr>
            <a:xfrm>
              <a:off x="624" y="1392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22" name="Rectangle 8"/>
            <p:cNvSpPr/>
            <p:nvPr/>
          </p:nvSpPr>
          <p:spPr>
            <a:xfrm>
              <a:off x="1104" y="1392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9366" name="AutoShape 9"/>
          <p:cNvSpPr/>
          <p:nvPr/>
        </p:nvSpPr>
        <p:spPr>
          <a:xfrm rot="5400000">
            <a:off x="2819400" y="1752600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67" name="Text Box 10"/>
          <p:cNvSpPr txBox="1"/>
          <p:nvPr/>
        </p:nvSpPr>
        <p:spPr>
          <a:xfrm>
            <a:off x="2286000" y="167322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99368" name="AutoShape 11"/>
          <p:cNvSpPr/>
          <p:nvPr/>
        </p:nvSpPr>
        <p:spPr>
          <a:xfrm rot="-5400000">
            <a:off x="3581400" y="2286000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69" name="Freeform 12"/>
          <p:cNvSpPr/>
          <p:nvPr/>
        </p:nvSpPr>
        <p:spPr>
          <a:xfrm>
            <a:off x="3657600" y="2743200"/>
            <a:ext cx="609600" cy="152400"/>
          </a:xfrm>
          <a:custGeom>
            <a:avLst/>
            <a:gdLst>
              <a:gd name="txL" fmla="*/ 0 w 624"/>
              <a:gd name="txT" fmla="*/ 0 h 96"/>
              <a:gd name="txR" fmla="*/ 624 w 624"/>
              <a:gd name="txB" fmla="*/ 96 h 96"/>
            </a:gdLst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624" y="96"/>
              </a:cxn>
            </a:cxnLst>
            <a:rect l="txL" t="txT" r="txR" b="tx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70" name="Text Box 13"/>
          <p:cNvSpPr txBox="1"/>
          <p:nvPr/>
        </p:nvSpPr>
        <p:spPr>
          <a:xfrm>
            <a:off x="4267200" y="2684463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99371" name="Group 14"/>
          <p:cNvGrpSpPr/>
          <p:nvPr/>
        </p:nvGrpSpPr>
        <p:grpSpPr>
          <a:xfrm>
            <a:off x="4648200" y="1752600"/>
            <a:ext cx="1219200" cy="2743200"/>
            <a:chOff x="1968" y="1104"/>
            <a:chExt cx="768" cy="1728"/>
          </a:xfrm>
        </p:grpSpPr>
        <p:sp>
          <p:nvSpPr>
            <p:cNvPr id="399414" name="Rectangle 15"/>
            <p:cNvSpPr/>
            <p:nvPr/>
          </p:nvSpPr>
          <p:spPr>
            <a:xfrm>
              <a:off x="1968" y="1394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15" name="Rectangle 16"/>
            <p:cNvSpPr/>
            <p:nvPr/>
          </p:nvSpPr>
          <p:spPr>
            <a:xfrm>
              <a:off x="1968" y="1682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EA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16" name="Rectangle 17"/>
            <p:cNvSpPr/>
            <p:nvPr/>
          </p:nvSpPr>
          <p:spPr>
            <a:xfrm>
              <a:off x="1968" y="1970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17" name="Text Box 18"/>
            <p:cNvSpPr txBox="1"/>
            <p:nvPr/>
          </p:nvSpPr>
          <p:spPr>
            <a:xfrm>
              <a:off x="2112" y="1104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18" name="Rectangle 19"/>
            <p:cNvSpPr/>
            <p:nvPr/>
          </p:nvSpPr>
          <p:spPr>
            <a:xfrm>
              <a:off x="1968" y="2256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19" name="Rectangle 20"/>
            <p:cNvSpPr/>
            <p:nvPr/>
          </p:nvSpPr>
          <p:spPr>
            <a:xfrm>
              <a:off x="1968" y="2544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99372" name="AutoShape 21"/>
          <p:cNvSpPr/>
          <p:nvPr/>
        </p:nvSpPr>
        <p:spPr>
          <a:xfrm rot="-5400000">
            <a:off x="5181600" y="2590800"/>
            <a:ext cx="152400" cy="1219200"/>
          </a:xfrm>
          <a:prstGeom prst="leftBrace">
            <a:avLst>
              <a:gd name="adj1" fmla="val 66037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73" name="Freeform 22"/>
          <p:cNvSpPr/>
          <p:nvPr/>
        </p:nvSpPr>
        <p:spPr>
          <a:xfrm>
            <a:off x="3962400" y="3276600"/>
            <a:ext cx="1295400" cy="533400"/>
          </a:xfrm>
          <a:custGeom>
            <a:avLst/>
            <a:gdLst>
              <a:gd name="txL" fmla="*/ 0 w 816"/>
              <a:gd name="txT" fmla="*/ 0 h 336"/>
              <a:gd name="txR" fmla="*/ 816 w 816"/>
              <a:gd name="txB" fmla="*/ 336 h 336"/>
            </a:gdLst>
            <a:ahLst/>
            <a:cxnLst>
              <a:cxn ang="0">
                <a:pos x="816" y="0"/>
              </a:cxn>
              <a:cxn ang="0">
                <a:pos x="816" y="96"/>
              </a:cxn>
              <a:cxn ang="0">
                <a:pos x="0" y="96"/>
              </a:cxn>
              <a:cxn ang="0">
                <a:pos x="0" y="336"/>
              </a:cxn>
              <a:cxn ang="0">
                <a:pos x="144" y="336"/>
              </a:cxn>
            </a:cxnLst>
            <a:rect l="txL" t="txT" r="txR" b="txB"/>
            <a:pathLst>
              <a:path w="816" h="336">
                <a:moveTo>
                  <a:pt x="816" y="0"/>
                </a:moveTo>
                <a:lnTo>
                  <a:pt x="816" y="96"/>
                </a:lnTo>
                <a:lnTo>
                  <a:pt x="0" y="96"/>
                </a:lnTo>
                <a:lnTo>
                  <a:pt x="0" y="336"/>
                </a:lnTo>
                <a:lnTo>
                  <a:pt x="144" y="33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74" name="Text Box 23"/>
          <p:cNvSpPr txBox="1"/>
          <p:nvPr/>
        </p:nvSpPr>
        <p:spPr>
          <a:xfrm>
            <a:off x="4186238" y="3581400"/>
            <a:ext cx="53594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EA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99375" name="AutoShape 24"/>
          <p:cNvSpPr/>
          <p:nvPr/>
        </p:nvSpPr>
        <p:spPr>
          <a:xfrm rot="-5400000">
            <a:off x="9793288" y="2782888"/>
            <a:ext cx="149225" cy="838200"/>
          </a:xfrm>
          <a:prstGeom prst="leftBrace">
            <a:avLst>
              <a:gd name="adj1" fmla="val 46366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76" name="Freeform 25"/>
          <p:cNvSpPr/>
          <p:nvPr/>
        </p:nvSpPr>
        <p:spPr>
          <a:xfrm>
            <a:off x="8382000" y="3290888"/>
            <a:ext cx="1490663" cy="522287"/>
          </a:xfrm>
          <a:custGeom>
            <a:avLst/>
            <a:gdLst>
              <a:gd name="txL" fmla="*/ 0 w 939"/>
              <a:gd name="txT" fmla="*/ 0 h 329"/>
              <a:gd name="txR" fmla="*/ 939 w 939"/>
              <a:gd name="txB" fmla="*/ 329 h 329"/>
            </a:gdLst>
            <a:ahLst/>
            <a:cxnLst>
              <a:cxn ang="0">
                <a:pos x="939" y="0"/>
              </a:cxn>
              <a:cxn ang="0">
                <a:pos x="939" y="87"/>
              </a:cxn>
              <a:cxn ang="0">
                <a:pos x="0" y="89"/>
              </a:cxn>
              <a:cxn ang="0">
                <a:pos x="0" y="329"/>
              </a:cxn>
              <a:cxn ang="0">
                <a:pos x="169" y="329"/>
              </a:cxn>
            </a:cxnLst>
            <a:rect l="txL" t="txT" r="txR" b="txB"/>
            <a:pathLst>
              <a:path w="939" h="329">
                <a:moveTo>
                  <a:pt x="939" y="0"/>
                </a:moveTo>
                <a:lnTo>
                  <a:pt x="939" y="87"/>
                </a:lnTo>
                <a:lnTo>
                  <a:pt x="0" y="89"/>
                </a:lnTo>
                <a:lnTo>
                  <a:pt x="0" y="329"/>
                </a:lnTo>
                <a:lnTo>
                  <a:pt x="169" y="329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77" name="Text Box 26"/>
          <p:cNvSpPr txBox="1"/>
          <p:nvPr/>
        </p:nvSpPr>
        <p:spPr>
          <a:xfrm>
            <a:off x="8604250" y="3675063"/>
            <a:ext cx="44894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399378" name="AutoShape 27"/>
          <p:cNvSpPr/>
          <p:nvPr/>
        </p:nvSpPr>
        <p:spPr>
          <a:xfrm rot="-5400000">
            <a:off x="9791700" y="3695700"/>
            <a:ext cx="152400" cy="838200"/>
          </a:xfrm>
          <a:prstGeom prst="leftBrace">
            <a:avLst>
              <a:gd name="adj1" fmla="val 454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79" name="Freeform 28"/>
          <p:cNvSpPr/>
          <p:nvPr/>
        </p:nvSpPr>
        <p:spPr>
          <a:xfrm>
            <a:off x="8382000" y="4191000"/>
            <a:ext cx="1490663" cy="533400"/>
          </a:xfrm>
          <a:custGeom>
            <a:avLst/>
            <a:gdLst>
              <a:gd name="txL" fmla="*/ 0 w 939"/>
              <a:gd name="txT" fmla="*/ 0 h 336"/>
              <a:gd name="txR" fmla="*/ 939 w 939"/>
              <a:gd name="txB" fmla="*/ 336 h 336"/>
            </a:gdLst>
            <a:ahLst/>
            <a:cxnLst>
              <a:cxn ang="0">
                <a:pos x="936" y="0"/>
              </a:cxn>
              <a:cxn ang="0">
                <a:pos x="939" y="99"/>
              </a:cxn>
              <a:cxn ang="0">
                <a:pos x="0" y="96"/>
              </a:cxn>
              <a:cxn ang="0">
                <a:pos x="0" y="336"/>
              </a:cxn>
              <a:cxn ang="0">
                <a:pos x="169" y="336"/>
              </a:cxn>
            </a:cxnLst>
            <a:rect l="txL" t="txT" r="txR" b="txB"/>
            <a:pathLst>
              <a:path w="939" h="336">
                <a:moveTo>
                  <a:pt x="936" y="0"/>
                </a:moveTo>
                <a:lnTo>
                  <a:pt x="939" y="99"/>
                </a:lnTo>
                <a:lnTo>
                  <a:pt x="0" y="96"/>
                </a:lnTo>
                <a:lnTo>
                  <a:pt x="0" y="336"/>
                </a:lnTo>
                <a:lnTo>
                  <a:pt x="169" y="33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80" name="Text Box 29"/>
          <p:cNvSpPr txBox="1"/>
          <p:nvPr/>
        </p:nvSpPr>
        <p:spPr>
          <a:xfrm>
            <a:off x="8605838" y="4572000"/>
            <a:ext cx="53594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EA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99381" name="Group 30"/>
          <p:cNvGrpSpPr/>
          <p:nvPr/>
        </p:nvGrpSpPr>
        <p:grpSpPr>
          <a:xfrm>
            <a:off x="9067800" y="1755775"/>
            <a:ext cx="1219200" cy="3654425"/>
            <a:chOff x="4800" y="1106"/>
            <a:chExt cx="768" cy="2302"/>
          </a:xfrm>
        </p:grpSpPr>
        <p:sp>
          <p:nvSpPr>
            <p:cNvPr id="399402" name="Rectangle 31"/>
            <p:cNvSpPr/>
            <p:nvPr/>
          </p:nvSpPr>
          <p:spPr>
            <a:xfrm>
              <a:off x="4800" y="1396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03" name="Rectangle 32"/>
            <p:cNvSpPr/>
            <p:nvPr/>
          </p:nvSpPr>
          <p:spPr>
            <a:xfrm>
              <a:off x="4800" y="1684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1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     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404" name="Rectangle 33"/>
            <p:cNvSpPr/>
            <p:nvPr/>
          </p:nvSpPr>
          <p:spPr>
            <a:xfrm>
              <a:off x="4800" y="1972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05" name="Text Box 34"/>
            <p:cNvSpPr txBox="1"/>
            <p:nvPr/>
          </p:nvSpPr>
          <p:spPr>
            <a:xfrm>
              <a:off x="4944" y="110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06" name="Rectangle 35"/>
            <p:cNvSpPr/>
            <p:nvPr/>
          </p:nvSpPr>
          <p:spPr>
            <a:xfrm>
              <a:off x="4800" y="2546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07" name="Rectangle 36"/>
            <p:cNvSpPr/>
            <p:nvPr/>
          </p:nvSpPr>
          <p:spPr>
            <a:xfrm>
              <a:off x="4800" y="2256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     EA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08" name="Rectangle 37"/>
            <p:cNvSpPr/>
            <p:nvPr/>
          </p:nvSpPr>
          <p:spPr>
            <a:xfrm>
              <a:off x="4800" y="2832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09" name="Rectangle 38"/>
            <p:cNvSpPr/>
            <p:nvPr/>
          </p:nvSpPr>
          <p:spPr>
            <a:xfrm>
              <a:off x="4800" y="3120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10" name="Line 39"/>
            <p:cNvSpPr/>
            <p:nvPr/>
          </p:nvSpPr>
          <p:spPr>
            <a:xfrm>
              <a:off x="5040" y="1680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11" name="Text Box 40"/>
            <p:cNvSpPr txBox="1"/>
            <p:nvPr/>
          </p:nvSpPr>
          <p:spPr>
            <a:xfrm>
              <a:off x="4844" y="1718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12" name="Line 41"/>
            <p:cNvSpPr/>
            <p:nvPr/>
          </p:nvSpPr>
          <p:spPr>
            <a:xfrm>
              <a:off x="5040" y="2256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13" name="Text Box 42"/>
            <p:cNvSpPr txBox="1"/>
            <p:nvPr/>
          </p:nvSpPr>
          <p:spPr>
            <a:xfrm>
              <a:off x="4844" y="229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9382" name="Text Box 43"/>
          <p:cNvSpPr txBox="1"/>
          <p:nvPr/>
        </p:nvSpPr>
        <p:spPr>
          <a:xfrm>
            <a:off x="3487738" y="4638675"/>
            <a:ext cx="40411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执行指令阶段 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次访存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83" name="Text Box 44"/>
          <p:cNvSpPr txBox="1"/>
          <p:nvPr/>
        </p:nvSpPr>
        <p:spPr>
          <a:xfrm>
            <a:off x="3487738" y="5324475"/>
            <a:ext cx="28854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可扩大寻址范围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84" name="Text Box 45"/>
          <p:cNvSpPr txBox="1"/>
          <p:nvPr/>
        </p:nvSpPr>
        <p:spPr>
          <a:xfrm>
            <a:off x="3487738" y="5934075"/>
            <a:ext cx="25298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便于编制程序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9385" name="Group 46"/>
          <p:cNvGrpSpPr/>
          <p:nvPr/>
        </p:nvGrpSpPr>
        <p:grpSpPr>
          <a:xfrm>
            <a:off x="6108700" y="2212975"/>
            <a:ext cx="2286000" cy="381000"/>
            <a:chOff x="144" y="1392"/>
            <a:chExt cx="1440" cy="240"/>
          </a:xfrm>
        </p:grpSpPr>
        <p:sp>
          <p:nvSpPr>
            <p:cNvPr id="399399" name="Rectangle 47"/>
            <p:cNvSpPr/>
            <p:nvPr/>
          </p:nvSpPr>
          <p:spPr>
            <a:xfrm>
              <a:off x="144" y="1392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00" name="Rectangle 48"/>
            <p:cNvSpPr/>
            <p:nvPr/>
          </p:nvSpPr>
          <p:spPr>
            <a:xfrm>
              <a:off x="624" y="1392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401" name="Rectangle 49"/>
            <p:cNvSpPr/>
            <p:nvPr/>
          </p:nvSpPr>
          <p:spPr>
            <a:xfrm>
              <a:off x="1104" y="1392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99386" name="AutoShape 50"/>
          <p:cNvSpPr/>
          <p:nvPr/>
        </p:nvSpPr>
        <p:spPr>
          <a:xfrm rot="5400000">
            <a:off x="7175500" y="17557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87" name="Text Box 51"/>
          <p:cNvSpPr txBox="1"/>
          <p:nvPr/>
        </p:nvSpPr>
        <p:spPr>
          <a:xfrm>
            <a:off x="6642100" y="16764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99388" name="AutoShape 52"/>
          <p:cNvSpPr/>
          <p:nvPr/>
        </p:nvSpPr>
        <p:spPr>
          <a:xfrm rot="-5400000">
            <a:off x="7937500" y="22891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89" name="Freeform 53"/>
          <p:cNvSpPr/>
          <p:nvPr/>
        </p:nvSpPr>
        <p:spPr>
          <a:xfrm>
            <a:off x="8013700" y="2746375"/>
            <a:ext cx="609600" cy="152400"/>
          </a:xfrm>
          <a:custGeom>
            <a:avLst/>
            <a:gdLst>
              <a:gd name="txL" fmla="*/ 0 w 624"/>
              <a:gd name="txT" fmla="*/ 0 h 96"/>
              <a:gd name="txR" fmla="*/ 624 w 624"/>
              <a:gd name="txB" fmla="*/ 96 h 96"/>
            </a:gdLst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624" y="96"/>
              </a:cxn>
            </a:cxnLst>
            <a:rect l="txL" t="txT" r="txR" b="tx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90" name="Text Box 54"/>
          <p:cNvSpPr txBox="1"/>
          <p:nvPr/>
        </p:nvSpPr>
        <p:spPr>
          <a:xfrm>
            <a:off x="8623300" y="2687638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99391" name="Text Box 55"/>
          <p:cNvSpPr txBox="1"/>
          <p:nvPr/>
        </p:nvSpPr>
        <p:spPr>
          <a:xfrm>
            <a:off x="2209800" y="3633788"/>
            <a:ext cx="14020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一次间址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9392" name="Text Box 56"/>
          <p:cNvSpPr txBox="1"/>
          <p:nvPr/>
        </p:nvSpPr>
        <p:spPr>
          <a:xfrm>
            <a:off x="6461125" y="3633788"/>
            <a:ext cx="14020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多次间址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9393" name="Text Box 57"/>
          <p:cNvSpPr txBox="1"/>
          <p:nvPr/>
        </p:nvSpPr>
        <p:spPr>
          <a:xfrm>
            <a:off x="4764088" y="3581400"/>
            <a:ext cx="944880" cy="39878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操作数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9394" name="Text Box 58"/>
          <p:cNvSpPr txBox="1"/>
          <p:nvPr/>
        </p:nvSpPr>
        <p:spPr>
          <a:xfrm>
            <a:off x="9220200" y="4492625"/>
            <a:ext cx="944880" cy="39878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操作数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9395" name="Text Box 59"/>
          <p:cNvSpPr txBox="1"/>
          <p:nvPr/>
        </p:nvSpPr>
        <p:spPr>
          <a:xfrm>
            <a:off x="8534400" y="5934075"/>
            <a:ext cx="20574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多次访存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9004" name="Rectangle 6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7" name="AutoShape 6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9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9970" name="Group 2"/>
          <p:cNvGraphicFramePr>
            <a:graphicFrameLocks noGrp="1"/>
          </p:cNvGraphicFramePr>
          <p:nvPr/>
        </p:nvGraphicFramePr>
        <p:xfrm>
          <a:off x="3352800" y="1600200"/>
          <a:ext cx="1981200" cy="4267200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93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0404" name="Text Box 20"/>
          <p:cNvSpPr txBox="1"/>
          <p:nvPr/>
        </p:nvSpPr>
        <p:spPr>
          <a:xfrm>
            <a:off x="4110990" y="2590800"/>
            <a:ext cx="613410" cy="1524000"/>
          </a:xfrm>
          <a:prstGeom prst="rect">
            <a:avLst/>
          </a:prstGeom>
          <a:noFill/>
          <a:ln w="2857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…     …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0405" name="Freeform 21"/>
          <p:cNvSpPr/>
          <p:nvPr/>
        </p:nvSpPr>
        <p:spPr>
          <a:xfrm>
            <a:off x="5334000" y="1695450"/>
            <a:ext cx="1333500" cy="819150"/>
          </a:xfrm>
          <a:custGeom>
            <a:avLst/>
            <a:gdLst>
              <a:gd name="txL" fmla="*/ 0 w 840"/>
              <a:gd name="txT" fmla="*/ 0 h 516"/>
              <a:gd name="txR" fmla="*/ 840 w 840"/>
              <a:gd name="txB" fmla="*/ 516 h 516"/>
            </a:gdLst>
            <a:ahLst/>
            <a:cxnLst>
              <a:cxn ang="0">
                <a:pos x="0" y="516"/>
              </a:cxn>
              <a:cxn ang="0">
                <a:pos x="840" y="0"/>
              </a:cxn>
            </a:cxnLst>
            <a:rect l="txL" t="txT" r="txR" b="txB"/>
            <a:pathLst>
              <a:path w="840" h="516">
                <a:moveTo>
                  <a:pt x="0" y="516"/>
                </a:moveTo>
                <a:lnTo>
                  <a:pt x="840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0406" name="Freeform 22"/>
          <p:cNvSpPr/>
          <p:nvPr/>
        </p:nvSpPr>
        <p:spPr>
          <a:xfrm>
            <a:off x="5353050" y="2647950"/>
            <a:ext cx="1352550" cy="2990850"/>
          </a:xfrm>
          <a:custGeom>
            <a:avLst/>
            <a:gdLst>
              <a:gd name="txL" fmla="*/ 0 w 852"/>
              <a:gd name="txT" fmla="*/ 0 h 1884"/>
              <a:gd name="txR" fmla="*/ 852 w 852"/>
              <a:gd name="txB" fmla="*/ 1884 h 1884"/>
            </a:gdLst>
            <a:ahLst/>
            <a:cxnLst>
              <a:cxn ang="0">
                <a:pos x="852" y="1884"/>
              </a:cxn>
              <a:cxn ang="0">
                <a:pos x="0" y="0"/>
              </a:cxn>
            </a:cxnLst>
            <a:rect l="txL" t="txT" r="txR" b="txB"/>
            <a:pathLst>
              <a:path w="852" h="1884">
                <a:moveTo>
                  <a:pt x="852" y="1884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0407" name="Line 23"/>
          <p:cNvSpPr/>
          <p:nvPr/>
        </p:nvSpPr>
        <p:spPr>
          <a:xfrm flipV="1">
            <a:off x="5334000" y="1676400"/>
            <a:ext cx="1371600" cy="281940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dash"/>
            <a:headEnd type="none" w="med" len="med"/>
            <a:tailEnd type="stealth" w="med" len="med"/>
          </a:ln>
        </p:spPr>
      </p:sp>
      <p:sp>
        <p:nvSpPr>
          <p:cNvPr id="400408" name="Freeform 24"/>
          <p:cNvSpPr/>
          <p:nvPr/>
        </p:nvSpPr>
        <p:spPr>
          <a:xfrm>
            <a:off x="5334000" y="4800600"/>
            <a:ext cx="1371600" cy="838200"/>
          </a:xfrm>
          <a:custGeom>
            <a:avLst/>
            <a:gdLst>
              <a:gd name="txL" fmla="*/ 0 w 864"/>
              <a:gd name="txT" fmla="*/ 0 h 528"/>
              <a:gd name="txR" fmla="*/ 864 w 864"/>
              <a:gd name="txB" fmla="*/ 528 h 528"/>
            </a:gdLst>
            <a:ahLst/>
            <a:cxnLst>
              <a:cxn ang="0">
                <a:pos x="864" y="528"/>
              </a:cxn>
              <a:cxn ang="0">
                <a:pos x="0" y="0"/>
              </a:cxn>
            </a:cxnLst>
            <a:rect l="txL" t="txT" r="txR" b="txB"/>
            <a:pathLst>
              <a:path w="864" h="528">
                <a:moveTo>
                  <a:pt x="864" y="528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dash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00409" name="Group 25"/>
          <p:cNvGrpSpPr/>
          <p:nvPr/>
        </p:nvGrpSpPr>
        <p:grpSpPr>
          <a:xfrm>
            <a:off x="3581400" y="914400"/>
            <a:ext cx="4876800" cy="460375"/>
            <a:chOff x="1296" y="576"/>
            <a:chExt cx="3072" cy="290"/>
          </a:xfrm>
        </p:grpSpPr>
        <p:sp>
          <p:nvSpPr>
            <p:cNvPr id="400448" name="Text Box 26"/>
            <p:cNvSpPr txBox="1"/>
            <p:nvPr/>
          </p:nvSpPr>
          <p:spPr>
            <a:xfrm>
              <a:off x="3360" y="576"/>
              <a:ext cx="1008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子程序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449" name="Text Box 27"/>
            <p:cNvSpPr txBox="1"/>
            <p:nvPr/>
          </p:nvSpPr>
          <p:spPr>
            <a:xfrm>
              <a:off x="1296" y="576"/>
              <a:ext cx="1008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主程序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0410" name="Text Box 28"/>
          <p:cNvSpPr txBox="1"/>
          <p:nvPr/>
        </p:nvSpPr>
        <p:spPr>
          <a:xfrm>
            <a:off x="4110990" y="1676400"/>
            <a:ext cx="613410" cy="457200"/>
          </a:xfrm>
          <a:prstGeom prst="rect">
            <a:avLst/>
          </a:prstGeom>
          <a:noFill/>
          <a:ln w="2857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…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0411" name="Group 29"/>
          <p:cNvGrpSpPr/>
          <p:nvPr/>
        </p:nvGrpSpPr>
        <p:grpSpPr>
          <a:xfrm>
            <a:off x="2743200" y="2085975"/>
            <a:ext cx="838200" cy="3194050"/>
            <a:chOff x="768" y="1314"/>
            <a:chExt cx="528" cy="2012"/>
          </a:xfrm>
        </p:grpSpPr>
        <p:sp>
          <p:nvSpPr>
            <p:cNvPr id="400444" name="Text Box 30"/>
            <p:cNvSpPr txBox="1"/>
            <p:nvPr/>
          </p:nvSpPr>
          <p:spPr>
            <a:xfrm>
              <a:off x="816" y="1314"/>
              <a:ext cx="480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445" name="Text Box 31"/>
            <p:cNvSpPr txBox="1"/>
            <p:nvPr/>
          </p:nvSpPr>
          <p:spPr>
            <a:xfrm>
              <a:off x="816" y="1659"/>
              <a:ext cx="480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446" name="Text Box 32"/>
            <p:cNvSpPr txBox="1"/>
            <p:nvPr/>
          </p:nvSpPr>
          <p:spPr>
            <a:xfrm>
              <a:off x="768" y="2676"/>
              <a:ext cx="480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447" name="Text Box 33"/>
            <p:cNvSpPr txBox="1"/>
            <p:nvPr/>
          </p:nvSpPr>
          <p:spPr>
            <a:xfrm>
              <a:off x="768" y="3036"/>
              <a:ext cx="480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0412" name="Text Box 34"/>
          <p:cNvSpPr txBox="1"/>
          <p:nvPr/>
        </p:nvSpPr>
        <p:spPr>
          <a:xfrm>
            <a:off x="3505200" y="2133600"/>
            <a:ext cx="17526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调用子程序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0413" name="Text Box 35"/>
          <p:cNvSpPr txBox="1"/>
          <p:nvPr/>
        </p:nvSpPr>
        <p:spPr>
          <a:xfrm>
            <a:off x="3505200" y="4267200"/>
            <a:ext cx="17526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调用子程序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0414" name="Text Box 36"/>
          <p:cNvSpPr txBox="1"/>
          <p:nvPr/>
        </p:nvSpPr>
        <p:spPr>
          <a:xfrm>
            <a:off x="2057400" y="182563"/>
            <a:ext cx="4419600" cy="58356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间接寻址编程举例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00415" name="Text Box 37"/>
          <p:cNvSpPr txBox="1"/>
          <p:nvPr/>
        </p:nvSpPr>
        <p:spPr>
          <a:xfrm>
            <a:off x="6934200" y="5943600"/>
            <a:ext cx="18288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(A) = 81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0416" name="Text Box 38"/>
          <p:cNvSpPr txBox="1"/>
          <p:nvPr/>
        </p:nvSpPr>
        <p:spPr>
          <a:xfrm>
            <a:off x="6934200" y="6019800"/>
            <a:ext cx="1447800" cy="521970"/>
          </a:xfrm>
          <a:prstGeom prst="rect">
            <a:avLst/>
          </a:prstGeom>
          <a:solidFill>
            <a:srgbClr val="003399"/>
          </a:solidFill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0417" name="Text Box 39"/>
          <p:cNvSpPr txBox="1"/>
          <p:nvPr/>
        </p:nvSpPr>
        <p:spPr>
          <a:xfrm>
            <a:off x="6934200" y="6019800"/>
            <a:ext cx="1828800" cy="521970"/>
          </a:xfrm>
          <a:prstGeom prst="rect">
            <a:avLst/>
          </a:prstGeom>
          <a:solidFill>
            <a:srgbClr val="000060"/>
          </a:solidFill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(A) = 202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400418" name="Group 40"/>
          <p:cNvGrpSpPr/>
          <p:nvPr/>
        </p:nvGrpSpPr>
        <p:grpSpPr>
          <a:xfrm>
            <a:off x="4111626" y="4876800"/>
            <a:ext cx="614363" cy="990600"/>
            <a:chOff x="1630" y="3024"/>
            <a:chExt cx="387" cy="624"/>
          </a:xfrm>
        </p:grpSpPr>
        <p:sp>
          <p:nvSpPr>
            <p:cNvPr id="400442" name="Text Box 41"/>
            <p:cNvSpPr txBox="1"/>
            <p:nvPr/>
          </p:nvSpPr>
          <p:spPr>
            <a:xfrm>
              <a:off x="1630" y="3360"/>
              <a:ext cx="38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443" name="Text Box 42"/>
            <p:cNvSpPr txBox="1"/>
            <p:nvPr/>
          </p:nvSpPr>
          <p:spPr>
            <a:xfrm>
              <a:off x="1631" y="3024"/>
              <a:ext cx="38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0419" name="Text Box 43"/>
          <p:cNvSpPr txBox="1"/>
          <p:nvPr/>
        </p:nvSpPr>
        <p:spPr>
          <a:xfrm>
            <a:off x="8763000" y="4572000"/>
            <a:ext cx="20574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@ </a:t>
            </a:r>
            <a:r>
              <a:rPr lang="zh-CN" altLang="en-US" sz="2400" b="1" dirty="0">
                <a:latin typeface="Times New Roman" panose="02020603050405020304" pitchFamily="18" charset="0"/>
              </a:rPr>
              <a:t>间址特征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40012" name="Rectangle 4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40013" name="Group 45"/>
          <p:cNvGraphicFramePr>
            <a:graphicFrameLocks noGrp="1"/>
          </p:cNvGraphicFramePr>
          <p:nvPr/>
        </p:nvGraphicFramePr>
        <p:xfrm>
          <a:off x="6705600" y="1600200"/>
          <a:ext cx="1981200" cy="4267200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0431" name="Text Box 55"/>
          <p:cNvSpPr txBox="1"/>
          <p:nvPr/>
        </p:nvSpPr>
        <p:spPr>
          <a:xfrm>
            <a:off x="6934200" y="5289550"/>
            <a:ext cx="1905000" cy="521970"/>
          </a:xfrm>
          <a:prstGeom prst="rect">
            <a:avLst/>
          </a:prstGeom>
          <a:noFill/>
          <a:ln w="28575">
            <a:noFill/>
          </a:ln>
        </p:spPr>
        <p:txBody>
          <a:bodyPr lIns="0"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800" dirty="0">
                <a:latin typeface="Times New Roman" panose="02020603050405020304" pitchFamily="18" charset="0"/>
              </a:rPr>
              <a:t>JMP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@ A</a:t>
            </a:r>
            <a:endParaRPr lang="en-US" altLang="zh-CN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0432" name="Group 56"/>
          <p:cNvGrpSpPr/>
          <p:nvPr/>
        </p:nvGrpSpPr>
        <p:grpSpPr>
          <a:xfrm>
            <a:off x="7466012" y="1676400"/>
            <a:ext cx="612776" cy="3200400"/>
            <a:chOff x="3743" y="1056"/>
            <a:chExt cx="386" cy="2016"/>
          </a:xfrm>
        </p:grpSpPr>
        <p:sp>
          <p:nvSpPr>
            <p:cNvPr id="400439" name="Text Box 57"/>
            <p:cNvSpPr txBox="1"/>
            <p:nvPr/>
          </p:nvSpPr>
          <p:spPr>
            <a:xfrm>
              <a:off x="3743" y="1056"/>
              <a:ext cx="38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440" name="Text Box 58"/>
            <p:cNvSpPr txBox="1"/>
            <p:nvPr/>
          </p:nvSpPr>
          <p:spPr>
            <a:xfrm>
              <a:off x="3743" y="1584"/>
              <a:ext cx="386" cy="960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　　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…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　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441" name="Text Box 59"/>
            <p:cNvSpPr txBox="1"/>
            <p:nvPr/>
          </p:nvSpPr>
          <p:spPr>
            <a:xfrm>
              <a:off x="3743" y="2784"/>
              <a:ext cx="38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0433" name="AutoShape 6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00434" name="Group 61"/>
          <p:cNvGrpSpPr/>
          <p:nvPr/>
        </p:nvGrpSpPr>
        <p:grpSpPr>
          <a:xfrm>
            <a:off x="7469187" y="1677988"/>
            <a:ext cx="612776" cy="3200400"/>
            <a:chOff x="3743" y="1056"/>
            <a:chExt cx="386" cy="2016"/>
          </a:xfrm>
        </p:grpSpPr>
        <p:sp>
          <p:nvSpPr>
            <p:cNvPr id="400436" name="Text Box 62"/>
            <p:cNvSpPr txBox="1"/>
            <p:nvPr/>
          </p:nvSpPr>
          <p:spPr>
            <a:xfrm>
              <a:off x="3743" y="1056"/>
              <a:ext cx="38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437" name="Text Box 63"/>
            <p:cNvSpPr txBox="1"/>
            <p:nvPr/>
          </p:nvSpPr>
          <p:spPr>
            <a:xfrm>
              <a:off x="3743" y="1584"/>
              <a:ext cx="386" cy="960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　　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…  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438" name="Text Box 64"/>
            <p:cNvSpPr txBox="1"/>
            <p:nvPr/>
          </p:nvSpPr>
          <p:spPr>
            <a:xfrm>
              <a:off x="3743" y="2784"/>
              <a:ext cx="38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043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10" name="Text Box 2"/>
          <p:cNvSpPr txBox="1"/>
          <p:nvPr/>
        </p:nvSpPr>
        <p:spPr>
          <a:xfrm>
            <a:off x="1965325" y="196850"/>
            <a:ext cx="34448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5. </a:t>
            </a:r>
            <a:r>
              <a:rPr lang="zh-CN" altLang="en-US" sz="3600" b="1" dirty="0">
                <a:latin typeface="Times New Roman" panose="02020603050405020304" pitchFamily="18" charset="0"/>
              </a:rPr>
              <a:t>寄存器寻址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01411" name="Text Box 3"/>
          <p:cNvSpPr txBox="1"/>
          <p:nvPr/>
        </p:nvSpPr>
        <p:spPr>
          <a:xfrm>
            <a:off x="3189288" y="838200"/>
            <a:ext cx="13582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EA = R</a:t>
            </a:r>
            <a:r>
              <a:rPr lang="en-US" altLang="zh-CN" sz="28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endParaRPr lang="en-US" altLang="zh-CN" sz="2800" b="1" i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412" name="Text Box 4"/>
          <p:cNvSpPr txBox="1"/>
          <p:nvPr/>
        </p:nvSpPr>
        <p:spPr>
          <a:xfrm>
            <a:off x="3352800" y="5715000"/>
            <a:ext cx="678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执行阶段不访存，只访问寄存器，执行速度快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1413" name="Group 5"/>
          <p:cNvGrpSpPr/>
          <p:nvPr/>
        </p:nvGrpSpPr>
        <p:grpSpPr>
          <a:xfrm>
            <a:off x="3810000" y="1984375"/>
            <a:ext cx="2286000" cy="381000"/>
            <a:chOff x="1104" y="1670"/>
            <a:chExt cx="1440" cy="240"/>
          </a:xfrm>
        </p:grpSpPr>
        <p:sp>
          <p:nvSpPr>
            <p:cNvPr id="401438" name="Rectangle 6"/>
            <p:cNvSpPr/>
            <p:nvPr/>
          </p:nvSpPr>
          <p:spPr>
            <a:xfrm>
              <a:off x="1104" y="1670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1439" name="Rectangle 7"/>
            <p:cNvSpPr/>
            <p:nvPr/>
          </p:nvSpPr>
          <p:spPr>
            <a:xfrm>
              <a:off x="1584" y="167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1440" name="Rectangle 8"/>
            <p:cNvSpPr/>
            <p:nvPr/>
          </p:nvSpPr>
          <p:spPr>
            <a:xfrm>
              <a:off x="2064" y="1670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1414" name="AutoShape 9"/>
          <p:cNvSpPr/>
          <p:nvPr/>
        </p:nvSpPr>
        <p:spPr>
          <a:xfrm rot="5400000">
            <a:off x="4876800" y="15271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1415" name="Text Box 10"/>
          <p:cNvSpPr txBox="1"/>
          <p:nvPr/>
        </p:nvSpPr>
        <p:spPr>
          <a:xfrm>
            <a:off x="4343400" y="14478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01416" name="AutoShape 11"/>
          <p:cNvSpPr/>
          <p:nvPr/>
        </p:nvSpPr>
        <p:spPr>
          <a:xfrm rot="-5400000">
            <a:off x="5638800" y="20605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1417" name="Freeform 12"/>
          <p:cNvSpPr/>
          <p:nvPr/>
        </p:nvSpPr>
        <p:spPr>
          <a:xfrm>
            <a:off x="4648200" y="2517775"/>
            <a:ext cx="1066800" cy="1905000"/>
          </a:xfrm>
          <a:custGeom>
            <a:avLst/>
            <a:gdLst>
              <a:gd name="txL" fmla="*/ 0 w 672"/>
              <a:gd name="txT" fmla="*/ 0 h 1200"/>
              <a:gd name="txR" fmla="*/ 672 w 672"/>
              <a:gd name="txB" fmla="*/ 1200 h 1200"/>
            </a:gdLst>
            <a:ahLst/>
            <a:cxnLst>
              <a:cxn ang="0">
                <a:pos x="672" y="0"/>
              </a:cxn>
              <a:cxn ang="0">
                <a:pos x="672" y="96"/>
              </a:cxn>
              <a:cxn ang="0">
                <a:pos x="0" y="96"/>
              </a:cxn>
              <a:cxn ang="0">
                <a:pos x="0" y="1200"/>
              </a:cxn>
              <a:cxn ang="0">
                <a:pos x="432" y="1200"/>
              </a:cxn>
            </a:cxnLst>
            <a:rect l="txL" t="txT" r="txR" b="txB"/>
            <a:pathLst>
              <a:path w="672" h="1200">
                <a:moveTo>
                  <a:pt x="672" y="0"/>
                </a:moveTo>
                <a:lnTo>
                  <a:pt x="672" y="96"/>
                </a:lnTo>
                <a:lnTo>
                  <a:pt x="0" y="96"/>
                </a:lnTo>
                <a:lnTo>
                  <a:pt x="0" y="1200"/>
                </a:lnTo>
                <a:lnTo>
                  <a:pt x="432" y="120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1418" name="Text Box 13"/>
          <p:cNvSpPr txBox="1"/>
          <p:nvPr/>
        </p:nvSpPr>
        <p:spPr>
          <a:xfrm>
            <a:off x="3352800" y="6248400"/>
            <a:ext cx="678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寄存器个数有限，可缩短指令字长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1419" name="Group 14"/>
          <p:cNvGrpSpPr/>
          <p:nvPr/>
        </p:nvGrpSpPr>
        <p:grpSpPr>
          <a:xfrm>
            <a:off x="5224463" y="2760663"/>
            <a:ext cx="1938338" cy="2895599"/>
            <a:chOff x="2331" y="1739"/>
            <a:chExt cx="1221" cy="1824"/>
          </a:xfrm>
        </p:grpSpPr>
        <p:grpSp>
          <p:nvGrpSpPr>
            <p:cNvPr id="401424" name="Group 15"/>
            <p:cNvGrpSpPr/>
            <p:nvPr/>
          </p:nvGrpSpPr>
          <p:grpSpPr>
            <a:xfrm>
              <a:off x="2331" y="1739"/>
              <a:ext cx="1125" cy="1586"/>
              <a:chOff x="2331" y="1739"/>
              <a:chExt cx="1125" cy="1586"/>
            </a:xfrm>
          </p:grpSpPr>
          <p:sp>
            <p:nvSpPr>
              <p:cNvPr id="401426" name="Rectangle 16"/>
              <p:cNvSpPr/>
              <p:nvPr/>
            </p:nvSpPr>
            <p:spPr>
              <a:xfrm>
                <a:off x="2688" y="2690"/>
                <a:ext cx="768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</a:rPr>
                  <a:t>操作数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27" name="Rectangle 17"/>
              <p:cNvSpPr/>
              <p:nvPr/>
            </p:nvSpPr>
            <p:spPr>
              <a:xfrm>
                <a:off x="2688" y="2978"/>
                <a:ext cx="768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1428" name="Rectangle 18"/>
              <p:cNvSpPr/>
              <p:nvPr/>
            </p:nvSpPr>
            <p:spPr>
              <a:xfrm>
                <a:off x="2688" y="1826"/>
                <a:ext cx="768" cy="86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1429" name="Text Box 19"/>
              <p:cNvSpPr txBox="1"/>
              <p:nvPr/>
            </p:nvSpPr>
            <p:spPr>
              <a:xfrm>
                <a:off x="2954" y="2115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0" name="Text Box 20"/>
              <p:cNvSpPr txBox="1"/>
              <p:nvPr/>
            </p:nvSpPr>
            <p:spPr>
              <a:xfrm>
                <a:off x="2938" y="2328"/>
                <a:ext cx="309" cy="1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endParaRPr lang="zh-CN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1" name="Text Box 21"/>
              <p:cNvSpPr txBox="1"/>
              <p:nvPr/>
            </p:nvSpPr>
            <p:spPr>
              <a:xfrm>
                <a:off x="2954" y="3009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2" name="Text Box 22"/>
              <p:cNvSpPr txBox="1"/>
              <p:nvPr/>
            </p:nvSpPr>
            <p:spPr>
              <a:xfrm>
                <a:off x="2331" y="2214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3" name="Text Box 23"/>
              <p:cNvSpPr txBox="1"/>
              <p:nvPr/>
            </p:nvSpPr>
            <p:spPr>
              <a:xfrm>
                <a:off x="2342" y="2328"/>
                <a:ext cx="309" cy="1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endParaRPr lang="zh-CN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4" name="Text Box 24"/>
              <p:cNvSpPr txBox="1"/>
              <p:nvPr/>
            </p:nvSpPr>
            <p:spPr>
              <a:xfrm>
                <a:off x="2351" y="2904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5" name="Text Box 25"/>
              <p:cNvSpPr txBox="1"/>
              <p:nvPr/>
            </p:nvSpPr>
            <p:spPr>
              <a:xfrm>
                <a:off x="2342" y="173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6" name="Text Box 26"/>
              <p:cNvSpPr txBox="1"/>
              <p:nvPr/>
            </p:nvSpPr>
            <p:spPr>
              <a:xfrm>
                <a:off x="2356" y="2680"/>
                <a:ext cx="26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b="1" i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437" name="Text Box 27"/>
              <p:cNvSpPr txBox="1"/>
              <p:nvPr/>
            </p:nvSpPr>
            <p:spPr>
              <a:xfrm>
                <a:off x="2356" y="3074"/>
                <a:ext cx="289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n</a:t>
                </a:r>
                <a:endParaRPr lang="en-US" altLang="zh-CN" sz="2000" b="1" i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01425" name="Text Box 28"/>
            <p:cNvSpPr txBox="1"/>
            <p:nvPr/>
          </p:nvSpPr>
          <p:spPr>
            <a:xfrm>
              <a:off x="2784" y="3312"/>
              <a:ext cx="768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寄存器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1420" name="Text Box 29"/>
          <p:cNvSpPr txBox="1"/>
          <p:nvPr/>
        </p:nvSpPr>
        <p:spPr>
          <a:xfrm>
            <a:off x="5029200" y="838200"/>
            <a:ext cx="44196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有效地址即为寄存器编号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1022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1422" name="AutoShape 3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142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7613650" y="2223135"/>
              <a:ext cx="241300" cy="3124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7613650" y="2223135"/>
                <a:ext cx="241300" cy="312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7917180" y="2258695"/>
              <a:ext cx="125095" cy="25019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7917180" y="2258695"/>
                <a:ext cx="125095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8086725" y="2205355"/>
              <a:ext cx="170180" cy="32131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8086725" y="2205355"/>
                <a:ext cx="170180" cy="3213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8515350" y="2214245"/>
              <a:ext cx="107315" cy="26797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8515350" y="2214245"/>
                <a:ext cx="107315" cy="267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6" name="墨迹 5"/>
              <p14:cNvContentPartPr/>
              <p14:nvPr/>
            </p14:nvContentPartPr>
            <p14:xfrm>
              <a:off x="8649335" y="2249805"/>
              <a:ext cx="45085" cy="25019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0"/>
            </p:blipFill>
            <p:spPr>
              <a:xfrm>
                <a:off x="8649335" y="2249805"/>
                <a:ext cx="45085" cy="250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7" name="墨迹 6"/>
              <p14:cNvContentPartPr/>
              <p14:nvPr/>
            </p14:nvContentPartPr>
            <p14:xfrm>
              <a:off x="8604885" y="2401570"/>
              <a:ext cx="80645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2"/>
            </p:blipFill>
            <p:spPr>
              <a:xfrm>
                <a:off x="8604885" y="2401570"/>
                <a:ext cx="8064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8" name="墨迹 7"/>
              <p14:cNvContentPartPr/>
              <p14:nvPr/>
            </p14:nvContentPartPr>
            <p14:xfrm>
              <a:off x="8765540" y="2258695"/>
              <a:ext cx="360" cy="21463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4"/>
            </p:blipFill>
            <p:spPr>
              <a:xfrm>
                <a:off x="8765540" y="2258695"/>
                <a:ext cx="360" cy="214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9" name="墨迹 8"/>
              <p14:cNvContentPartPr/>
              <p14:nvPr/>
            </p14:nvContentPartPr>
            <p14:xfrm>
              <a:off x="8792210" y="2348230"/>
              <a:ext cx="53975" cy="3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6"/>
            </p:blipFill>
            <p:spPr>
              <a:xfrm>
                <a:off x="8792210" y="2348230"/>
                <a:ext cx="5397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0" name="墨迹 9"/>
              <p14:cNvContentPartPr/>
              <p14:nvPr/>
            </p14:nvContentPartPr>
            <p14:xfrm>
              <a:off x="8872855" y="2214245"/>
              <a:ext cx="17780" cy="3302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8"/>
            </p:blipFill>
            <p:spPr>
              <a:xfrm>
                <a:off x="8872855" y="2214245"/>
                <a:ext cx="17780" cy="330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1" name="墨迹 10"/>
              <p14:cNvContentPartPr/>
              <p14:nvPr/>
            </p14:nvContentPartPr>
            <p14:xfrm>
              <a:off x="8962390" y="2464435"/>
              <a:ext cx="26670" cy="12509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0"/>
            </p:blipFill>
            <p:spPr>
              <a:xfrm>
                <a:off x="8962390" y="2464435"/>
                <a:ext cx="26670" cy="125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2" name="墨迹 11"/>
              <p14:cNvContentPartPr/>
              <p14:nvPr/>
            </p14:nvContentPartPr>
            <p14:xfrm>
              <a:off x="9131935" y="2214245"/>
              <a:ext cx="35560" cy="31242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2"/>
            </p:blipFill>
            <p:spPr>
              <a:xfrm>
                <a:off x="9131935" y="2214245"/>
                <a:ext cx="35560" cy="312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3" name="墨迹 12"/>
              <p14:cNvContentPartPr/>
              <p14:nvPr/>
            </p14:nvContentPartPr>
            <p14:xfrm>
              <a:off x="9176385" y="2267585"/>
              <a:ext cx="98425" cy="21463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4"/>
            </p:blipFill>
            <p:spPr>
              <a:xfrm>
                <a:off x="9176385" y="2267585"/>
                <a:ext cx="98425" cy="214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4" name="墨迹 13"/>
              <p14:cNvContentPartPr/>
              <p14:nvPr/>
            </p14:nvContentPartPr>
            <p14:xfrm>
              <a:off x="9194165" y="2428875"/>
              <a:ext cx="2667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6"/>
            </p:blipFill>
            <p:spPr>
              <a:xfrm>
                <a:off x="9194165" y="2428875"/>
                <a:ext cx="2667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5" name="墨迹 14"/>
              <p14:cNvContentPartPr/>
              <p14:nvPr/>
            </p14:nvContentPartPr>
            <p14:xfrm>
              <a:off x="9319260" y="2267585"/>
              <a:ext cx="107315" cy="24130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8"/>
            </p:blipFill>
            <p:spPr>
              <a:xfrm>
                <a:off x="9319260" y="2267585"/>
                <a:ext cx="107315" cy="2413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2434" name="Text Box 2"/>
          <p:cNvSpPr txBox="1"/>
          <p:nvPr/>
        </p:nvSpPr>
        <p:spPr>
          <a:xfrm>
            <a:off x="3182938" y="762000"/>
            <a:ext cx="17411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EA = ( R</a:t>
            </a:r>
            <a:r>
              <a:rPr lang="en-US" altLang="zh-CN" sz="28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435" name="Text Box 3"/>
          <p:cNvSpPr txBox="1"/>
          <p:nvPr/>
        </p:nvSpPr>
        <p:spPr>
          <a:xfrm>
            <a:off x="1965325" y="120650"/>
            <a:ext cx="3840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6. </a:t>
            </a:r>
            <a:r>
              <a:rPr lang="zh-CN" altLang="en-US" sz="3600" b="1" dirty="0">
                <a:latin typeface="Times New Roman" panose="02020603050405020304" pitchFamily="18" charset="0"/>
              </a:rPr>
              <a:t>寄存器间接寻址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02436" name="Text Box 4"/>
          <p:cNvSpPr txBox="1"/>
          <p:nvPr/>
        </p:nvSpPr>
        <p:spPr>
          <a:xfrm>
            <a:off x="2209800" y="5562600"/>
            <a:ext cx="8458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有效地址在寄存器中， 操作数在存储器中，执行阶段访存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437" name="Line 5"/>
          <p:cNvSpPr/>
          <p:nvPr/>
        </p:nvSpPr>
        <p:spPr>
          <a:xfrm>
            <a:off x="6324600" y="4438650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402438" name="Group 6"/>
          <p:cNvGrpSpPr/>
          <p:nvPr/>
        </p:nvGrpSpPr>
        <p:grpSpPr>
          <a:xfrm>
            <a:off x="7010400" y="1844675"/>
            <a:ext cx="1295400" cy="3260725"/>
            <a:chOff x="2928" y="1726"/>
            <a:chExt cx="816" cy="2054"/>
          </a:xfrm>
        </p:grpSpPr>
        <p:sp>
          <p:nvSpPr>
            <p:cNvPr id="402465" name="Rectangle 7"/>
            <p:cNvSpPr/>
            <p:nvPr/>
          </p:nvSpPr>
          <p:spPr>
            <a:xfrm>
              <a:off x="2928" y="2004"/>
              <a:ext cx="816" cy="177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2466" name="Line 8"/>
            <p:cNvSpPr/>
            <p:nvPr/>
          </p:nvSpPr>
          <p:spPr>
            <a:xfrm>
              <a:off x="2928" y="3204"/>
              <a:ext cx="81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2467" name="Line 9"/>
            <p:cNvSpPr/>
            <p:nvPr/>
          </p:nvSpPr>
          <p:spPr>
            <a:xfrm>
              <a:off x="2928" y="3492"/>
              <a:ext cx="81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2468" name="Text Box 10"/>
            <p:cNvSpPr txBox="1"/>
            <p:nvPr/>
          </p:nvSpPr>
          <p:spPr>
            <a:xfrm>
              <a:off x="3072" y="3216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操作数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2469" name="Text Box 11"/>
            <p:cNvSpPr txBox="1"/>
            <p:nvPr/>
          </p:nvSpPr>
          <p:spPr>
            <a:xfrm>
              <a:off x="3110" y="172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2439" name="Group 12"/>
          <p:cNvGrpSpPr/>
          <p:nvPr/>
        </p:nvGrpSpPr>
        <p:grpSpPr>
          <a:xfrm>
            <a:off x="3048000" y="1908175"/>
            <a:ext cx="2286000" cy="381000"/>
            <a:chOff x="1104" y="1670"/>
            <a:chExt cx="1440" cy="240"/>
          </a:xfrm>
        </p:grpSpPr>
        <p:sp>
          <p:nvSpPr>
            <p:cNvPr id="402462" name="Rectangle 13"/>
            <p:cNvSpPr/>
            <p:nvPr/>
          </p:nvSpPr>
          <p:spPr>
            <a:xfrm>
              <a:off x="1104" y="1670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2463" name="Rectangle 14"/>
            <p:cNvSpPr/>
            <p:nvPr/>
          </p:nvSpPr>
          <p:spPr>
            <a:xfrm>
              <a:off x="1584" y="167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2464" name="Rectangle 15"/>
            <p:cNvSpPr/>
            <p:nvPr/>
          </p:nvSpPr>
          <p:spPr>
            <a:xfrm>
              <a:off x="2064" y="1670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2440" name="AutoShape 16"/>
          <p:cNvSpPr/>
          <p:nvPr/>
        </p:nvSpPr>
        <p:spPr>
          <a:xfrm rot="5400000">
            <a:off x="4114800" y="14509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2441" name="Text Box 17"/>
          <p:cNvSpPr txBox="1"/>
          <p:nvPr/>
        </p:nvSpPr>
        <p:spPr>
          <a:xfrm>
            <a:off x="3581400" y="13716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02442" name="AutoShape 18"/>
          <p:cNvSpPr/>
          <p:nvPr/>
        </p:nvSpPr>
        <p:spPr>
          <a:xfrm rot="-5400000">
            <a:off x="4876800" y="19843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2443" name="Freeform 19"/>
          <p:cNvSpPr/>
          <p:nvPr/>
        </p:nvSpPr>
        <p:spPr>
          <a:xfrm>
            <a:off x="3886200" y="2441575"/>
            <a:ext cx="1066800" cy="1905000"/>
          </a:xfrm>
          <a:custGeom>
            <a:avLst/>
            <a:gdLst>
              <a:gd name="txL" fmla="*/ 0 w 672"/>
              <a:gd name="txT" fmla="*/ 0 h 1200"/>
              <a:gd name="txR" fmla="*/ 672 w 672"/>
              <a:gd name="txB" fmla="*/ 1200 h 1200"/>
            </a:gdLst>
            <a:ahLst/>
            <a:cxnLst>
              <a:cxn ang="0">
                <a:pos x="672" y="0"/>
              </a:cxn>
              <a:cxn ang="0">
                <a:pos x="672" y="96"/>
              </a:cxn>
              <a:cxn ang="0">
                <a:pos x="0" y="96"/>
              </a:cxn>
              <a:cxn ang="0">
                <a:pos x="0" y="1200"/>
              </a:cxn>
              <a:cxn ang="0">
                <a:pos x="432" y="1200"/>
              </a:cxn>
            </a:cxnLst>
            <a:rect l="txL" t="txT" r="txR" b="txB"/>
            <a:pathLst>
              <a:path w="672" h="1200">
                <a:moveTo>
                  <a:pt x="672" y="0"/>
                </a:moveTo>
                <a:lnTo>
                  <a:pt x="672" y="96"/>
                </a:lnTo>
                <a:lnTo>
                  <a:pt x="0" y="96"/>
                </a:lnTo>
                <a:lnTo>
                  <a:pt x="0" y="1200"/>
                </a:lnTo>
                <a:lnTo>
                  <a:pt x="432" y="120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2444" name="Text Box 20"/>
          <p:cNvSpPr txBox="1"/>
          <p:nvPr/>
        </p:nvSpPr>
        <p:spPr>
          <a:xfrm>
            <a:off x="2209800" y="6110288"/>
            <a:ext cx="7010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便于编制循环程序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2445" name="Group 21"/>
          <p:cNvGrpSpPr/>
          <p:nvPr/>
        </p:nvGrpSpPr>
        <p:grpSpPr>
          <a:xfrm>
            <a:off x="4479925" y="2684463"/>
            <a:ext cx="1997075" cy="2879724"/>
            <a:chOff x="1862" y="1691"/>
            <a:chExt cx="1258" cy="1814"/>
          </a:xfrm>
        </p:grpSpPr>
        <p:grpSp>
          <p:nvGrpSpPr>
            <p:cNvPr id="402450" name="Group 22"/>
            <p:cNvGrpSpPr/>
            <p:nvPr/>
          </p:nvGrpSpPr>
          <p:grpSpPr>
            <a:xfrm>
              <a:off x="1862" y="1691"/>
              <a:ext cx="1114" cy="1586"/>
              <a:chOff x="1862" y="1691"/>
              <a:chExt cx="1114" cy="1586"/>
            </a:xfrm>
          </p:grpSpPr>
          <p:sp>
            <p:nvSpPr>
              <p:cNvPr id="402452" name="Rectangle 23"/>
              <p:cNvSpPr/>
              <p:nvPr/>
            </p:nvSpPr>
            <p:spPr>
              <a:xfrm>
                <a:off x="2208" y="2642"/>
                <a:ext cx="768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</a:rPr>
                  <a:t>地址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453" name="Rectangle 24"/>
              <p:cNvSpPr/>
              <p:nvPr/>
            </p:nvSpPr>
            <p:spPr>
              <a:xfrm>
                <a:off x="2208" y="2930"/>
                <a:ext cx="768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2454" name="Rectangle 25"/>
              <p:cNvSpPr/>
              <p:nvPr/>
            </p:nvSpPr>
            <p:spPr>
              <a:xfrm>
                <a:off x="2208" y="1778"/>
                <a:ext cx="768" cy="86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2455" name="Text Box 26"/>
              <p:cNvSpPr txBox="1"/>
              <p:nvPr/>
            </p:nvSpPr>
            <p:spPr>
              <a:xfrm>
                <a:off x="2483" y="2141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456" name="Text Box 27"/>
              <p:cNvSpPr txBox="1"/>
              <p:nvPr/>
            </p:nvSpPr>
            <p:spPr>
              <a:xfrm>
                <a:off x="2483" y="2970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457" name="Text Box 28"/>
              <p:cNvSpPr txBox="1"/>
              <p:nvPr/>
            </p:nvSpPr>
            <p:spPr>
              <a:xfrm>
                <a:off x="1869" y="2141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458" name="Text Box 29"/>
              <p:cNvSpPr txBox="1"/>
              <p:nvPr/>
            </p:nvSpPr>
            <p:spPr>
              <a:xfrm>
                <a:off x="1889" y="2856"/>
                <a:ext cx="309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459" name="Text Box 30"/>
              <p:cNvSpPr txBox="1"/>
              <p:nvPr/>
            </p:nvSpPr>
            <p:spPr>
              <a:xfrm>
                <a:off x="1862" y="169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460" name="Text Box 31"/>
              <p:cNvSpPr txBox="1"/>
              <p:nvPr/>
            </p:nvSpPr>
            <p:spPr>
              <a:xfrm>
                <a:off x="1876" y="2632"/>
                <a:ext cx="26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b="1" i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461" name="Text Box 32"/>
              <p:cNvSpPr txBox="1"/>
              <p:nvPr/>
            </p:nvSpPr>
            <p:spPr>
              <a:xfrm>
                <a:off x="1876" y="3026"/>
                <a:ext cx="289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n</a:t>
                </a:r>
                <a:endParaRPr lang="en-US" altLang="zh-CN" sz="2000" b="1" i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02451" name="Text Box 33"/>
            <p:cNvSpPr txBox="1"/>
            <p:nvPr/>
          </p:nvSpPr>
          <p:spPr>
            <a:xfrm>
              <a:off x="2304" y="3254"/>
              <a:ext cx="816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寄存器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2446" name="Text Box 34"/>
          <p:cNvSpPr txBox="1"/>
          <p:nvPr/>
        </p:nvSpPr>
        <p:spPr>
          <a:xfrm>
            <a:off x="5562600" y="762000"/>
            <a:ext cx="34290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有效地址在寄存器中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2051" name="Rectangle 3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2448" name="AutoShape 3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244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3458" name="Text Box 2"/>
          <p:cNvSpPr txBox="1"/>
          <p:nvPr/>
        </p:nvSpPr>
        <p:spPr>
          <a:xfrm>
            <a:off x="2057400" y="152400"/>
            <a:ext cx="33909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7. </a:t>
            </a:r>
            <a:r>
              <a:rPr lang="zh-CN" altLang="en-US" sz="3600" b="1" dirty="0">
                <a:latin typeface="Times New Roman" panose="02020603050405020304" pitchFamily="18" charset="0"/>
              </a:rPr>
              <a:t>基址寻址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03459" name="Text Box 3"/>
          <p:cNvSpPr txBox="1"/>
          <p:nvPr/>
        </p:nvSpPr>
        <p:spPr>
          <a:xfrm>
            <a:off x="2422525" y="838200"/>
            <a:ext cx="6340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采用专用寄存器作基址寄存器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03460" name="Text Box 4"/>
          <p:cNvSpPr txBox="1"/>
          <p:nvPr/>
        </p:nvSpPr>
        <p:spPr>
          <a:xfrm>
            <a:off x="3184525" y="1371600"/>
            <a:ext cx="25628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EA = ( BR ) + A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3461" name="Text Box 5"/>
          <p:cNvSpPr txBox="1"/>
          <p:nvPr/>
        </p:nvSpPr>
        <p:spPr>
          <a:xfrm>
            <a:off x="6537325" y="1371600"/>
            <a:ext cx="2987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BR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为基址寄存器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3462" name="Group 6"/>
          <p:cNvGrpSpPr/>
          <p:nvPr/>
        </p:nvGrpSpPr>
        <p:grpSpPr>
          <a:xfrm>
            <a:off x="4495800" y="2517775"/>
            <a:ext cx="2286000" cy="381000"/>
            <a:chOff x="1584" y="1586"/>
            <a:chExt cx="1440" cy="240"/>
          </a:xfrm>
        </p:grpSpPr>
        <p:sp>
          <p:nvSpPr>
            <p:cNvPr id="403488" name="Rectangle 7"/>
            <p:cNvSpPr/>
            <p:nvPr/>
          </p:nvSpPr>
          <p:spPr>
            <a:xfrm>
              <a:off x="1584" y="1586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3489" name="Rectangle 8"/>
            <p:cNvSpPr/>
            <p:nvPr/>
          </p:nvSpPr>
          <p:spPr>
            <a:xfrm>
              <a:off x="2064" y="1586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3490" name="Rectangle 9"/>
            <p:cNvSpPr/>
            <p:nvPr/>
          </p:nvSpPr>
          <p:spPr>
            <a:xfrm>
              <a:off x="2544" y="1586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3463" name="Group 10"/>
          <p:cNvGrpSpPr/>
          <p:nvPr/>
        </p:nvGrpSpPr>
        <p:grpSpPr>
          <a:xfrm>
            <a:off x="7315200" y="2593975"/>
            <a:ext cx="1219200" cy="2435225"/>
            <a:chOff x="3360" y="1586"/>
            <a:chExt cx="768" cy="1534"/>
          </a:xfrm>
        </p:grpSpPr>
        <p:sp>
          <p:nvSpPr>
            <p:cNvPr id="403484" name="Rectangle 11"/>
            <p:cNvSpPr/>
            <p:nvPr/>
          </p:nvSpPr>
          <p:spPr>
            <a:xfrm>
              <a:off x="3360" y="2832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3485" name="Rectangle 12"/>
            <p:cNvSpPr/>
            <p:nvPr/>
          </p:nvSpPr>
          <p:spPr>
            <a:xfrm>
              <a:off x="3360" y="1824"/>
              <a:ext cx="768" cy="72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3486" name="Rectangle 13"/>
            <p:cNvSpPr/>
            <p:nvPr/>
          </p:nvSpPr>
          <p:spPr>
            <a:xfrm>
              <a:off x="3360" y="2544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操作数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3487" name="Text Box 14"/>
            <p:cNvSpPr txBox="1"/>
            <p:nvPr/>
          </p:nvSpPr>
          <p:spPr>
            <a:xfrm>
              <a:off x="3546" y="158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3464" name="AutoShape 15"/>
          <p:cNvSpPr/>
          <p:nvPr/>
        </p:nvSpPr>
        <p:spPr>
          <a:xfrm rot="5400000">
            <a:off x="5562600" y="20605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3465" name="Text Box 16"/>
          <p:cNvSpPr txBox="1"/>
          <p:nvPr/>
        </p:nvSpPr>
        <p:spPr>
          <a:xfrm>
            <a:off x="5029200" y="19812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03466" name="AutoShape 17"/>
          <p:cNvSpPr/>
          <p:nvPr/>
        </p:nvSpPr>
        <p:spPr>
          <a:xfrm rot="-5400000">
            <a:off x="6324600" y="25939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03467" name="Group 18"/>
          <p:cNvGrpSpPr/>
          <p:nvPr/>
        </p:nvGrpSpPr>
        <p:grpSpPr>
          <a:xfrm>
            <a:off x="5562600" y="3581400"/>
            <a:ext cx="1066800" cy="550863"/>
            <a:chOff x="2256" y="2256"/>
            <a:chExt cx="672" cy="347"/>
          </a:xfrm>
        </p:grpSpPr>
        <p:sp>
          <p:nvSpPr>
            <p:cNvPr id="403482" name="Freeform 19"/>
            <p:cNvSpPr/>
            <p:nvPr/>
          </p:nvSpPr>
          <p:spPr>
            <a:xfrm>
              <a:off x="2256" y="2256"/>
              <a:ext cx="672" cy="338"/>
            </a:xfrm>
            <a:custGeom>
              <a:avLst/>
              <a:gdLst>
                <a:gd name="txL" fmla="*/ 0 w 672"/>
                <a:gd name="txT" fmla="*/ 0 h 338"/>
                <a:gd name="txR" fmla="*/ 672 w 672"/>
                <a:gd name="txB" fmla="*/ 338 h 338"/>
              </a:gdLst>
              <a:ahLst/>
              <a:cxnLst>
                <a:cxn ang="0">
                  <a:pos x="0" y="0"/>
                </a:cxn>
                <a:cxn ang="0">
                  <a:pos x="240" y="0"/>
                </a:cxn>
                <a:cxn ang="0">
                  <a:pos x="339" y="129"/>
                </a:cxn>
                <a:cxn ang="0">
                  <a:pos x="432" y="0"/>
                </a:cxn>
                <a:cxn ang="0">
                  <a:pos x="672" y="0"/>
                </a:cxn>
                <a:cxn ang="0">
                  <a:pos x="507" y="338"/>
                </a:cxn>
                <a:cxn ang="0">
                  <a:pos x="192" y="336"/>
                </a:cxn>
                <a:cxn ang="0">
                  <a:pos x="0" y="0"/>
                </a:cxn>
              </a:cxnLst>
              <a:rect l="txL" t="txT" r="txR" b="tx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3483" name="Text Box 20"/>
            <p:cNvSpPr txBox="1"/>
            <p:nvPr/>
          </p:nvSpPr>
          <p:spPr>
            <a:xfrm>
              <a:off x="2377" y="2352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ALU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3468" name="Group 21"/>
          <p:cNvGrpSpPr/>
          <p:nvPr/>
        </p:nvGrpSpPr>
        <p:grpSpPr>
          <a:xfrm>
            <a:off x="3962400" y="3733800"/>
            <a:ext cx="990600" cy="398463"/>
            <a:chOff x="1248" y="2352"/>
            <a:chExt cx="624" cy="251"/>
          </a:xfrm>
        </p:grpSpPr>
        <p:sp>
          <p:nvSpPr>
            <p:cNvPr id="403480" name="Text Box 22"/>
            <p:cNvSpPr txBox="1"/>
            <p:nvPr/>
          </p:nvSpPr>
          <p:spPr>
            <a:xfrm>
              <a:off x="1382" y="2352"/>
              <a:ext cx="33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BR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3481" name="Rectangle 23"/>
            <p:cNvSpPr/>
            <p:nvPr/>
          </p:nvSpPr>
          <p:spPr>
            <a:xfrm>
              <a:off x="1248" y="2352"/>
              <a:ext cx="62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03469" name="AutoShape 24"/>
          <p:cNvSpPr/>
          <p:nvPr/>
        </p:nvSpPr>
        <p:spPr>
          <a:xfrm rot="-5400000">
            <a:off x="4343400" y="3733800"/>
            <a:ext cx="228600" cy="990600"/>
          </a:xfrm>
          <a:prstGeom prst="leftBrace">
            <a:avLst>
              <a:gd name="adj1" fmla="val 3577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3470" name="Freeform 25"/>
          <p:cNvSpPr/>
          <p:nvPr/>
        </p:nvSpPr>
        <p:spPr>
          <a:xfrm>
            <a:off x="4448175" y="3200400"/>
            <a:ext cx="1266825" cy="1376363"/>
          </a:xfrm>
          <a:custGeom>
            <a:avLst/>
            <a:gdLst>
              <a:gd name="txL" fmla="*/ 0 w 798"/>
              <a:gd name="txT" fmla="*/ 0 h 867"/>
              <a:gd name="txR" fmla="*/ 798 w 798"/>
              <a:gd name="txB" fmla="*/ 867 h 867"/>
            </a:gdLst>
            <a:ahLst/>
            <a:cxnLst>
              <a:cxn ang="0">
                <a:pos x="0" y="708"/>
              </a:cxn>
              <a:cxn ang="0">
                <a:pos x="3" y="867"/>
              </a:cxn>
              <a:cxn ang="0">
                <a:pos x="371" y="864"/>
              </a:cxn>
              <a:cxn ang="0">
                <a:pos x="371" y="0"/>
              </a:cxn>
              <a:cxn ang="0">
                <a:pos x="798" y="0"/>
              </a:cxn>
              <a:cxn ang="0">
                <a:pos x="798" y="240"/>
              </a:cxn>
            </a:cxnLst>
            <a:rect l="txL" t="txT" r="txR" b="txB"/>
            <a:pathLst>
              <a:path w="798" h="867">
                <a:moveTo>
                  <a:pt x="0" y="708"/>
                </a:moveTo>
                <a:lnTo>
                  <a:pt x="3" y="867"/>
                </a:lnTo>
                <a:lnTo>
                  <a:pt x="371" y="864"/>
                </a:lnTo>
                <a:lnTo>
                  <a:pt x="371" y="0"/>
                </a:lnTo>
                <a:lnTo>
                  <a:pt x="798" y="0"/>
                </a:lnTo>
                <a:lnTo>
                  <a:pt x="798" y="24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3471" name="Line 26"/>
          <p:cNvSpPr/>
          <p:nvPr/>
        </p:nvSpPr>
        <p:spPr>
          <a:xfrm>
            <a:off x="6400800" y="3048000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3472" name="Freeform 27"/>
          <p:cNvSpPr/>
          <p:nvPr/>
        </p:nvSpPr>
        <p:spPr>
          <a:xfrm>
            <a:off x="6096000" y="4114800"/>
            <a:ext cx="1219200" cy="228600"/>
          </a:xfrm>
          <a:custGeom>
            <a:avLst/>
            <a:gdLst>
              <a:gd name="txL" fmla="*/ 0 w 768"/>
              <a:gd name="txT" fmla="*/ 0 h 144"/>
              <a:gd name="txR" fmla="*/ 768 w 768"/>
              <a:gd name="txB" fmla="*/ 144 h 144"/>
            </a:gdLst>
            <a:ahLst/>
            <a:cxnLst>
              <a:cxn ang="0">
                <a:pos x="0" y="0"/>
              </a:cxn>
              <a:cxn ang="0">
                <a:pos x="0" y="144"/>
              </a:cxn>
              <a:cxn ang="0">
                <a:pos x="768" y="144"/>
              </a:cxn>
            </a:cxnLst>
            <a:rect l="txL" t="txT" r="txR" b="txB"/>
            <a:pathLst>
              <a:path w="768" h="144">
                <a:moveTo>
                  <a:pt x="0" y="0"/>
                </a:moveTo>
                <a:lnTo>
                  <a:pt x="0" y="144"/>
                </a:lnTo>
                <a:lnTo>
                  <a:pt x="768" y="14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3473" name="Text Box 28"/>
          <p:cNvSpPr txBox="1"/>
          <p:nvPr/>
        </p:nvSpPr>
        <p:spPr>
          <a:xfrm>
            <a:off x="2651125" y="4697413"/>
            <a:ext cx="248412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可扩大寻址范围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3474" name="Text Box 29"/>
          <p:cNvSpPr txBox="1"/>
          <p:nvPr/>
        </p:nvSpPr>
        <p:spPr>
          <a:xfrm>
            <a:off x="2651125" y="5164138"/>
            <a:ext cx="33734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有利于多道程序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3475" name="Text Box 30"/>
          <p:cNvSpPr txBox="1"/>
          <p:nvPr/>
        </p:nvSpPr>
        <p:spPr>
          <a:xfrm>
            <a:off x="2667000" y="5603875"/>
            <a:ext cx="7391400" cy="5156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BR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内容由操作系统或管理程序确定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3476" name="Text Box 31"/>
          <p:cNvSpPr txBox="1"/>
          <p:nvPr/>
        </p:nvSpPr>
        <p:spPr>
          <a:xfrm>
            <a:off x="2667000" y="6096000"/>
            <a:ext cx="8229600" cy="5156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在程序的执行过程中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BR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内容不变，形式地址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3072" name="Rectangle 3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3478" name="AutoShape 3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347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4482" name="Text Box 2"/>
          <p:cNvSpPr txBox="1"/>
          <p:nvPr/>
        </p:nvSpPr>
        <p:spPr>
          <a:xfrm>
            <a:off x="1905000" y="381000"/>
            <a:ext cx="605409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(2)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采用通用寄存器作基址寄存器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04483" name="Group 3"/>
          <p:cNvGrpSpPr/>
          <p:nvPr/>
        </p:nvGrpSpPr>
        <p:grpSpPr>
          <a:xfrm>
            <a:off x="7010400" y="2212975"/>
            <a:ext cx="1219200" cy="2435225"/>
            <a:chOff x="3456" y="1394"/>
            <a:chExt cx="768" cy="1534"/>
          </a:xfrm>
        </p:grpSpPr>
        <p:sp>
          <p:nvSpPr>
            <p:cNvPr id="404515" name="Rectangle 4"/>
            <p:cNvSpPr/>
            <p:nvPr/>
          </p:nvSpPr>
          <p:spPr>
            <a:xfrm>
              <a:off x="3456" y="1632"/>
              <a:ext cx="768" cy="72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4516" name="Rectangle 5"/>
            <p:cNvSpPr/>
            <p:nvPr/>
          </p:nvSpPr>
          <p:spPr>
            <a:xfrm>
              <a:off x="3456" y="2352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操作数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4517" name="Rectangle 6"/>
            <p:cNvSpPr/>
            <p:nvPr/>
          </p:nvSpPr>
          <p:spPr>
            <a:xfrm>
              <a:off x="3456" y="2640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4518" name="Text Box 7"/>
            <p:cNvSpPr txBox="1"/>
            <p:nvPr/>
          </p:nvSpPr>
          <p:spPr>
            <a:xfrm>
              <a:off x="3642" y="1394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4484" name="AutoShape 8"/>
          <p:cNvSpPr/>
          <p:nvPr/>
        </p:nvSpPr>
        <p:spPr>
          <a:xfrm rot="5400000">
            <a:off x="5105400" y="11461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4485" name="Text Box 9"/>
          <p:cNvSpPr txBox="1"/>
          <p:nvPr/>
        </p:nvSpPr>
        <p:spPr>
          <a:xfrm>
            <a:off x="4572000" y="10668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404486" name="Group 10"/>
          <p:cNvGrpSpPr/>
          <p:nvPr/>
        </p:nvGrpSpPr>
        <p:grpSpPr>
          <a:xfrm>
            <a:off x="5715000" y="3124200"/>
            <a:ext cx="1066800" cy="550863"/>
            <a:chOff x="2640" y="1968"/>
            <a:chExt cx="672" cy="347"/>
          </a:xfrm>
        </p:grpSpPr>
        <p:sp>
          <p:nvSpPr>
            <p:cNvPr id="404513" name="Freeform 11"/>
            <p:cNvSpPr/>
            <p:nvPr/>
          </p:nvSpPr>
          <p:spPr>
            <a:xfrm>
              <a:off x="2640" y="1968"/>
              <a:ext cx="672" cy="338"/>
            </a:xfrm>
            <a:custGeom>
              <a:avLst/>
              <a:gdLst>
                <a:gd name="txL" fmla="*/ 0 w 672"/>
                <a:gd name="txT" fmla="*/ 0 h 338"/>
                <a:gd name="txR" fmla="*/ 672 w 672"/>
                <a:gd name="txB" fmla="*/ 338 h 338"/>
              </a:gdLst>
              <a:ahLst/>
              <a:cxnLst>
                <a:cxn ang="0">
                  <a:pos x="0" y="0"/>
                </a:cxn>
                <a:cxn ang="0">
                  <a:pos x="240" y="0"/>
                </a:cxn>
                <a:cxn ang="0">
                  <a:pos x="339" y="129"/>
                </a:cxn>
                <a:cxn ang="0">
                  <a:pos x="432" y="0"/>
                </a:cxn>
                <a:cxn ang="0">
                  <a:pos x="672" y="0"/>
                </a:cxn>
                <a:cxn ang="0">
                  <a:pos x="507" y="338"/>
                </a:cxn>
                <a:cxn ang="0">
                  <a:pos x="192" y="336"/>
                </a:cxn>
                <a:cxn ang="0">
                  <a:pos x="0" y="0"/>
                </a:cxn>
              </a:cxnLst>
              <a:rect l="txL" t="txT" r="txR" b="tx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4514" name="Text Box 12"/>
            <p:cNvSpPr txBox="1"/>
            <p:nvPr/>
          </p:nvSpPr>
          <p:spPr>
            <a:xfrm>
              <a:off x="2761" y="2064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ALU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4487" name="Group 13"/>
          <p:cNvGrpSpPr/>
          <p:nvPr/>
        </p:nvGrpSpPr>
        <p:grpSpPr>
          <a:xfrm>
            <a:off x="4038600" y="1603375"/>
            <a:ext cx="2895600" cy="381000"/>
            <a:chOff x="1584" y="1010"/>
            <a:chExt cx="1824" cy="240"/>
          </a:xfrm>
        </p:grpSpPr>
        <p:sp>
          <p:nvSpPr>
            <p:cNvPr id="404509" name="Rectangle 14"/>
            <p:cNvSpPr/>
            <p:nvPr/>
          </p:nvSpPr>
          <p:spPr>
            <a:xfrm>
              <a:off x="1584" y="1010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4510" name="Rectangle 15"/>
            <p:cNvSpPr/>
            <p:nvPr/>
          </p:nvSpPr>
          <p:spPr>
            <a:xfrm>
              <a:off x="2064" y="101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4511" name="Rectangle 16"/>
            <p:cNvSpPr/>
            <p:nvPr/>
          </p:nvSpPr>
          <p:spPr>
            <a:xfrm>
              <a:off x="2544" y="1010"/>
              <a:ext cx="33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04512" name="Rectangle 17"/>
            <p:cNvSpPr/>
            <p:nvPr/>
          </p:nvSpPr>
          <p:spPr>
            <a:xfrm>
              <a:off x="2880" y="1010"/>
              <a:ext cx="52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4488" name="Line 18"/>
          <p:cNvSpPr/>
          <p:nvPr/>
        </p:nvSpPr>
        <p:spPr>
          <a:xfrm>
            <a:off x="6553200" y="1981200"/>
            <a:ext cx="0" cy="1143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4489" name="Freeform 19"/>
          <p:cNvSpPr/>
          <p:nvPr/>
        </p:nvSpPr>
        <p:spPr>
          <a:xfrm>
            <a:off x="2667000" y="1981200"/>
            <a:ext cx="3200400" cy="685800"/>
          </a:xfrm>
          <a:custGeom>
            <a:avLst/>
            <a:gdLst>
              <a:gd name="txL" fmla="*/ 0 w 2016"/>
              <a:gd name="txT" fmla="*/ 0 h 432"/>
              <a:gd name="txR" fmla="*/ 2016 w 2016"/>
              <a:gd name="txB" fmla="*/ 432 h 432"/>
            </a:gdLst>
            <a:ahLst/>
            <a:cxnLst>
              <a:cxn ang="0">
                <a:pos x="2016" y="0"/>
              </a:cxn>
              <a:cxn ang="0">
                <a:pos x="2016" y="192"/>
              </a:cxn>
              <a:cxn ang="0">
                <a:pos x="0" y="192"/>
              </a:cxn>
              <a:cxn ang="0">
                <a:pos x="0" y="432"/>
              </a:cxn>
              <a:cxn ang="0">
                <a:pos x="288" y="432"/>
              </a:cxn>
            </a:cxnLst>
            <a:rect l="txL" t="txT" r="txR" b="txB"/>
            <a:pathLst>
              <a:path w="2016" h="432">
                <a:moveTo>
                  <a:pt x="2016" y="0"/>
                </a:moveTo>
                <a:lnTo>
                  <a:pt x="2016" y="192"/>
                </a:lnTo>
                <a:lnTo>
                  <a:pt x="0" y="192"/>
                </a:lnTo>
                <a:lnTo>
                  <a:pt x="0" y="432"/>
                </a:lnTo>
                <a:lnTo>
                  <a:pt x="288" y="43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4490" name="Freeform 20"/>
          <p:cNvSpPr/>
          <p:nvPr/>
        </p:nvSpPr>
        <p:spPr>
          <a:xfrm>
            <a:off x="4419600" y="2819400"/>
            <a:ext cx="1447800" cy="304800"/>
          </a:xfrm>
          <a:custGeom>
            <a:avLst/>
            <a:gdLst>
              <a:gd name="txL" fmla="*/ 0 w 912"/>
              <a:gd name="txT" fmla="*/ 0 h 192"/>
              <a:gd name="txR" fmla="*/ 912 w 912"/>
              <a:gd name="txB" fmla="*/ 192 h 192"/>
            </a:gdLst>
            <a:ahLst/>
            <a:cxnLst>
              <a:cxn ang="0">
                <a:pos x="0" y="0"/>
              </a:cxn>
              <a:cxn ang="0">
                <a:pos x="912" y="0"/>
              </a:cxn>
              <a:cxn ang="0">
                <a:pos x="912" y="192"/>
              </a:cxn>
            </a:cxnLst>
            <a:rect l="txL" t="txT" r="txR" b="txB"/>
            <a:pathLst>
              <a:path w="912" h="192">
                <a:moveTo>
                  <a:pt x="0" y="0"/>
                </a:moveTo>
                <a:lnTo>
                  <a:pt x="912" y="0"/>
                </a:lnTo>
                <a:lnTo>
                  <a:pt x="912" y="19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oval" w="sm" len="sm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4491" name="Freeform 21"/>
          <p:cNvSpPr/>
          <p:nvPr/>
        </p:nvSpPr>
        <p:spPr>
          <a:xfrm>
            <a:off x="6248400" y="3657600"/>
            <a:ext cx="762000" cy="304800"/>
          </a:xfrm>
          <a:custGeom>
            <a:avLst/>
            <a:gdLst>
              <a:gd name="txL" fmla="*/ 0 w 480"/>
              <a:gd name="txT" fmla="*/ 0 h 192"/>
              <a:gd name="txR" fmla="*/ 480 w 480"/>
              <a:gd name="txB" fmla="*/ 192 h 192"/>
            </a:gdLst>
            <a:ahLst/>
            <a:cxnLst>
              <a:cxn ang="0">
                <a:pos x="0" y="0"/>
              </a:cxn>
              <a:cxn ang="0">
                <a:pos x="0" y="192"/>
              </a:cxn>
              <a:cxn ang="0">
                <a:pos x="480" y="192"/>
              </a:cxn>
            </a:cxnLst>
            <a:rect l="txL" t="txT" r="txR" b="txB"/>
            <a:pathLst>
              <a:path w="480" h="192">
                <a:moveTo>
                  <a:pt x="0" y="0"/>
                </a:moveTo>
                <a:lnTo>
                  <a:pt x="0" y="192"/>
                </a:lnTo>
                <a:lnTo>
                  <a:pt x="480" y="19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4492" name="Text Box 22"/>
          <p:cNvSpPr txBox="1"/>
          <p:nvPr/>
        </p:nvSpPr>
        <p:spPr>
          <a:xfrm>
            <a:off x="7543800" y="1584325"/>
            <a:ext cx="203644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作基址寄存器</a:t>
            </a:r>
            <a:endParaRPr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4493" name="Text Box 23"/>
          <p:cNvSpPr txBox="1"/>
          <p:nvPr/>
        </p:nvSpPr>
        <p:spPr>
          <a:xfrm>
            <a:off x="2514600" y="4876800"/>
            <a:ext cx="7162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由用户指定哪个通用寄存器作为基址寄存器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4494" name="Group 24"/>
          <p:cNvGrpSpPr/>
          <p:nvPr/>
        </p:nvGrpSpPr>
        <p:grpSpPr>
          <a:xfrm>
            <a:off x="2971800" y="2528888"/>
            <a:ext cx="2209800" cy="1890712"/>
            <a:chOff x="912" y="1593"/>
            <a:chExt cx="1392" cy="1191"/>
          </a:xfrm>
        </p:grpSpPr>
        <p:grpSp>
          <p:nvGrpSpPr>
            <p:cNvPr id="404500" name="Group 25"/>
            <p:cNvGrpSpPr/>
            <p:nvPr/>
          </p:nvGrpSpPr>
          <p:grpSpPr>
            <a:xfrm>
              <a:off x="912" y="1593"/>
              <a:ext cx="1392" cy="1191"/>
              <a:chOff x="912" y="1593"/>
              <a:chExt cx="1392" cy="1191"/>
            </a:xfrm>
          </p:grpSpPr>
          <p:sp>
            <p:nvSpPr>
              <p:cNvPr id="404502" name="Rectangle 26"/>
              <p:cNvSpPr/>
              <p:nvPr/>
            </p:nvSpPr>
            <p:spPr>
              <a:xfrm>
                <a:off x="1344" y="2208"/>
                <a:ext cx="96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</a:rPr>
                  <a:t>通用寄存器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4503" name="Rectangle 27"/>
              <p:cNvSpPr/>
              <p:nvPr/>
            </p:nvSpPr>
            <p:spPr>
              <a:xfrm>
                <a:off x="1344" y="2496"/>
                <a:ext cx="96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4504" name="Rectangle 28"/>
              <p:cNvSpPr/>
              <p:nvPr/>
            </p:nvSpPr>
            <p:spPr>
              <a:xfrm>
                <a:off x="1344" y="1632"/>
                <a:ext cx="960" cy="57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4505" name="Text Box 29"/>
              <p:cNvSpPr txBox="1"/>
              <p:nvPr/>
            </p:nvSpPr>
            <p:spPr>
              <a:xfrm>
                <a:off x="998" y="159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4506" name="Text Box 30"/>
              <p:cNvSpPr txBox="1"/>
              <p:nvPr/>
            </p:nvSpPr>
            <p:spPr>
              <a:xfrm>
                <a:off x="912" y="2496"/>
                <a:ext cx="37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-1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4507" name="Line 31"/>
              <p:cNvSpPr/>
              <p:nvPr/>
            </p:nvSpPr>
            <p:spPr>
              <a:xfrm>
                <a:off x="1344" y="1920"/>
                <a:ext cx="9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4508" name="Text Box 32"/>
              <p:cNvSpPr txBox="1"/>
              <p:nvPr/>
            </p:nvSpPr>
            <p:spPr>
              <a:xfrm>
                <a:off x="1008" y="1958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04501" name="Text Box 33"/>
            <p:cNvSpPr txBox="1"/>
            <p:nvPr/>
          </p:nvSpPr>
          <p:spPr>
            <a:xfrm>
              <a:off x="1006" y="2256"/>
              <a:ext cx="386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4495" name="Text Box 34"/>
          <p:cNvSpPr txBox="1"/>
          <p:nvPr/>
        </p:nvSpPr>
        <p:spPr>
          <a:xfrm>
            <a:off x="2514600" y="5448300"/>
            <a:ext cx="57912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基址寄存器的内容由操作系统确定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4496" name="Text Box 35"/>
          <p:cNvSpPr txBox="1"/>
          <p:nvPr/>
        </p:nvSpPr>
        <p:spPr>
          <a:xfrm>
            <a:off x="2514600" y="6019800"/>
            <a:ext cx="76200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在程序的执行过程中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0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内容不变，形式地址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可变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4100" name="Rectangle 3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4498" name="AutoShape 3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449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5506" name="Text Box 2"/>
          <p:cNvSpPr txBox="1"/>
          <p:nvPr/>
        </p:nvSpPr>
        <p:spPr>
          <a:xfrm>
            <a:off x="2041525" y="196850"/>
            <a:ext cx="333375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8. </a:t>
            </a:r>
            <a:r>
              <a:rPr lang="zh-CN" altLang="en-US" sz="3600" b="1" dirty="0">
                <a:latin typeface="Times New Roman" panose="02020603050405020304" pitchFamily="18" charset="0"/>
              </a:rPr>
              <a:t>变址寻址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05507" name="Text Box 3"/>
          <p:cNvSpPr txBox="1"/>
          <p:nvPr/>
        </p:nvSpPr>
        <p:spPr>
          <a:xfrm>
            <a:off x="2533650" y="838200"/>
            <a:ext cx="23945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EA = ( IX ) +A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5508" name="Group 4"/>
          <p:cNvGrpSpPr/>
          <p:nvPr/>
        </p:nvGrpSpPr>
        <p:grpSpPr>
          <a:xfrm>
            <a:off x="3429000" y="2212975"/>
            <a:ext cx="2286000" cy="381000"/>
            <a:chOff x="1200" y="1298"/>
            <a:chExt cx="1440" cy="240"/>
          </a:xfrm>
        </p:grpSpPr>
        <p:sp>
          <p:nvSpPr>
            <p:cNvPr id="405536" name="Rectangle 5"/>
            <p:cNvSpPr/>
            <p:nvPr/>
          </p:nvSpPr>
          <p:spPr>
            <a:xfrm>
              <a:off x="1200" y="1298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5537" name="Rectangle 6"/>
            <p:cNvSpPr/>
            <p:nvPr/>
          </p:nvSpPr>
          <p:spPr>
            <a:xfrm>
              <a:off x="1680" y="1298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5538" name="Rectangle 7"/>
            <p:cNvSpPr/>
            <p:nvPr/>
          </p:nvSpPr>
          <p:spPr>
            <a:xfrm>
              <a:off x="2160" y="1298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5509" name="Group 8"/>
          <p:cNvGrpSpPr/>
          <p:nvPr/>
        </p:nvGrpSpPr>
        <p:grpSpPr>
          <a:xfrm>
            <a:off x="6248400" y="2289175"/>
            <a:ext cx="1219200" cy="2435225"/>
            <a:chOff x="2976" y="1298"/>
            <a:chExt cx="768" cy="1534"/>
          </a:xfrm>
        </p:grpSpPr>
        <p:sp>
          <p:nvSpPr>
            <p:cNvPr id="405532" name="Rectangle 9"/>
            <p:cNvSpPr/>
            <p:nvPr/>
          </p:nvSpPr>
          <p:spPr>
            <a:xfrm>
              <a:off x="2976" y="1536"/>
              <a:ext cx="768" cy="72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5533" name="Rectangle 10"/>
            <p:cNvSpPr/>
            <p:nvPr/>
          </p:nvSpPr>
          <p:spPr>
            <a:xfrm>
              <a:off x="2976" y="2256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操作数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5534" name="Rectangle 11"/>
            <p:cNvSpPr/>
            <p:nvPr/>
          </p:nvSpPr>
          <p:spPr>
            <a:xfrm>
              <a:off x="2976" y="2544"/>
              <a:ext cx="76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5535" name="Text Box 12"/>
            <p:cNvSpPr txBox="1"/>
            <p:nvPr/>
          </p:nvSpPr>
          <p:spPr>
            <a:xfrm>
              <a:off x="3162" y="1298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5510" name="AutoShape 13"/>
          <p:cNvSpPr/>
          <p:nvPr/>
        </p:nvSpPr>
        <p:spPr>
          <a:xfrm rot="5400000">
            <a:off x="4495800" y="17557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5511" name="Text Box 14"/>
          <p:cNvSpPr txBox="1"/>
          <p:nvPr/>
        </p:nvSpPr>
        <p:spPr>
          <a:xfrm>
            <a:off x="3962400" y="16764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05512" name="AutoShape 15"/>
          <p:cNvSpPr/>
          <p:nvPr/>
        </p:nvSpPr>
        <p:spPr>
          <a:xfrm rot="-5400000">
            <a:off x="5257800" y="2289175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05513" name="Group 16"/>
          <p:cNvGrpSpPr/>
          <p:nvPr/>
        </p:nvGrpSpPr>
        <p:grpSpPr>
          <a:xfrm>
            <a:off x="4495800" y="3276600"/>
            <a:ext cx="1066800" cy="550863"/>
            <a:chOff x="1872" y="1968"/>
            <a:chExt cx="672" cy="347"/>
          </a:xfrm>
        </p:grpSpPr>
        <p:sp>
          <p:nvSpPr>
            <p:cNvPr id="405530" name="Freeform 17"/>
            <p:cNvSpPr/>
            <p:nvPr/>
          </p:nvSpPr>
          <p:spPr>
            <a:xfrm>
              <a:off x="1872" y="1968"/>
              <a:ext cx="672" cy="338"/>
            </a:xfrm>
            <a:custGeom>
              <a:avLst/>
              <a:gdLst>
                <a:gd name="txL" fmla="*/ 0 w 672"/>
                <a:gd name="txT" fmla="*/ 0 h 338"/>
                <a:gd name="txR" fmla="*/ 672 w 672"/>
                <a:gd name="txB" fmla="*/ 338 h 338"/>
              </a:gdLst>
              <a:ahLst/>
              <a:cxnLst>
                <a:cxn ang="0">
                  <a:pos x="0" y="0"/>
                </a:cxn>
                <a:cxn ang="0">
                  <a:pos x="240" y="0"/>
                </a:cxn>
                <a:cxn ang="0">
                  <a:pos x="339" y="129"/>
                </a:cxn>
                <a:cxn ang="0">
                  <a:pos x="432" y="0"/>
                </a:cxn>
                <a:cxn ang="0">
                  <a:pos x="672" y="0"/>
                </a:cxn>
                <a:cxn ang="0">
                  <a:pos x="507" y="338"/>
                </a:cxn>
                <a:cxn ang="0">
                  <a:pos x="192" y="336"/>
                </a:cxn>
                <a:cxn ang="0">
                  <a:pos x="0" y="0"/>
                </a:cxn>
              </a:cxnLst>
              <a:rect l="txL" t="txT" r="txR" b="tx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5531" name="Text Box 18"/>
            <p:cNvSpPr txBox="1"/>
            <p:nvPr/>
          </p:nvSpPr>
          <p:spPr>
            <a:xfrm>
              <a:off x="1993" y="2064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ALU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5514" name="Group 19"/>
          <p:cNvGrpSpPr/>
          <p:nvPr/>
        </p:nvGrpSpPr>
        <p:grpSpPr>
          <a:xfrm>
            <a:off x="2895600" y="3413125"/>
            <a:ext cx="990600" cy="398463"/>
            <a:chOff x="864" y="2054"/>
            <a:chExt cx="624" cy="251"/>
          </a:xfrm>
        </p:grpSpPr>
        <p:sp>
          <p:nvSpPr>
            <p:cNvPr id="405528" name="Text Box 20"/>
            <p:cNvSpPr txBox="1"/>
            <p:nvPr/>
          </p:nvSpPr>
          <p:spPr>
            <a:xfrm>
              <a:off x="1050" y="2054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IX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5529" name="Rectangle 21"/>
            <p:cNvSpPr/>
            <p:nvPr/>
          </p:nvSpPr>
          <p:spPr>
            <a:xfrm>
              <a:off x="864" y="2064"/>
              <a:ext cx="62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05515" name="AutoShape 22"/>
          <p:cNvSpPr/>
          <p:nvPr/>
        </p:nvSpPr>
        <p:spPr>
          <a:xfrm rot="-5400000">
            <a:off x="3276600" y="3429000"/>
            <a:ext cx="228600" cy="990600"/>
          </a:xfrm>
          <a:prstGeom prst="leftBrace">
            <a:avLst>
              <a:gd name="adj1" fmla="val 3577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5516" name="Line 23"/>
          <p:cNvSpPr/>
          <p:nvPr/>
        </p:nvSpPr>
        <p:spPr>
          <a:xfrm>
            <a:off x="5334000" y="2743200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5517" name="Freeform 24"/>
          <p:cNvSpPr/>
          <p:nvPr/>
        </p:nvSpPr>
        <p:spPr>
          <a:xfrm>
            <a:off x="5029200" y="3810000"/>
            <a:ext cx="1219200" cy="228600"/>
          </a:xfrm>
          <a:custGeom>
            <a:avLst/>
            <a:gdLst>
              <a:gd name="txL" fmla="*/ 0 w 768"/>
              <a:gd name="txT" fmla="*/ 0 h 144"/>
              <a:gd name="txR" fmla="*/ 768 w 768"/>
              <a:gd name="txB" fmla="*/ 144 h 144"/>
            </a:gdLst>
            <a:ahLst/>
            <a:cxnLst>
              <a:cxn ang="0">
                <a:pos x="0" y="0"/>
              </a:cxn>
              <a:cxn ang="0">
                <a:pos x="0" y="144"/>
              </a:cxn>
              <a:cxn ang="0">
                <a:pos x="768" y="144"/>
              </a:cxn>
            </a:cxnLst>
            <a:rect l="txL" t="txT" r="txR" b="txB"/>
            <a:pathLst>
              <a:path w="768" h="144">
                <a:moveTo>
                  <a:pt x="0" y="0"/>
                </a:moveTo>
                <a:lnTo>
                  <a:pt x="0" y="144"/>
                </a:lnTo>
                <a:lnTo>
                  <a:pt x="768" y="14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5518" name="Text Box 25"/>
          <p:cNvSpPr txBox="1"/>
          <p:nvPr/>
        </p:nvSpPr>
        <p:spPr>
          <a:xfrm>
            <a:off x="2651125" y="4786313"/>
            <a:ext cx="34448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可扩大寻址范围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5519" name="Text Box 26"/>
          <p:cNvSpPr txBox="1"/>
          <p:nvPr/>
        </p:nvSpPr>
        <p:spPr>
          <a:xfrm>
            <a:off x="2651125" y="6248400"/>
            <a:ext cx="38258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便于处理数组问题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5520" name="Text Box 27"/>
          <p:cNvSpPr txBox="1"/>
          <p:nvPr/>
        </p:nvSpPr>
        <p:spPr>
          <a:xfrm>
            <a:off x="2651125" y="5273675"/>
            <a:ext cx="7712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IX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的内容由用户给定 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5521" name="Text Box 28"/>
          <p:cNvSpPr txBox="1"/>
          <p:nvPr/>
        </p:nvSpPr>
        <p:spPr>
          <a:xfrm>
            <a:off x="5181600" y="838200"/>
            <a:ext cx="5105400" cy="42354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IX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为变址寄存器（专用）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5522" name="Text Box 29"/>
          <p:cNvSpPr txBox="1"/>
          <p:nvPr/>
        </p:nvSpPr>
        <p:spPr>
          <a:xfrm>
            <a:off x="2651125" y="5761038"/>
            <a:ext cx="7712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在程序的执行过程中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IX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内容可变，形式地址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不变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5523" name="Freeform 30"/>
          <p:cNvSpPr/>
          <p:nvPr/>
        </p:nvSpPr>
        <p:spPr>
          <a:xfrm>
            <a:off x="3387725" y="2971800"/>
            <a:ext cx="1295400" cy="1524000"/>
          </a:xfrm>
          <a:custGeom>
            <a:avLst/>
            <a:gdLst>
              <a:gd name="txL" fmla="*/ 0 w 816"/>
              <a:gd name="txT" fmla="*/ 0 h 960"/>
              <a:gd name="txR" fmla="*/ 816 w 816"/>
              <a:gd name="txB" fmla="*/ 960 h 960"/>
            </a:gdLst>
            <a:ahLst/>
            <a:cxnLst>
              <a:cxn ang="0">
                <a:pos x="0" y="720"/>
              </a:cxn>
              <a:cxn ang="0">
                <a:pos x="0" y="960"/>
              </a:cxn>
              <a:cxn ang="0">
                <a:pos x="528" y="960"/>
              </a:cxn>
              <a:cxn ang="0">
                <a:pos x="528" y="0"/>
              </a:cxn>
              <a:cxn ang="0">
                <a:pos x="816" y="0"/>
              </a:cxn>
              <a:cxn ang="0">
                <a:pos x="816" y="192"/>
              </a:cxn>
            </a:cxnLst>
            <a:rect l="txL" t="txT" r="txR" b="txB"/>
            <a:pathLst>
              <a:path w="816" h="960">
                <a:moveTo>
                  <a:pt x="0" y="720"/>
                </a:moveTo>
                <a:lnTo>
                  <a:pt x="0" y="960"/>
                </a:lnTo>
                <a:lnTo>
                  <a:pt x="528" y="960"/>
                </a:lnTo>
                <a:lnTo>
                  <a:pt x="528" y="0"/>
                </a:lnTo>
                <a:lnTo>
                  <a:pt x="816" y="0"/>
                </a:lnTo>
                <a:lnTo>
                  <a:pt x="816" y="19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5524" name="Text Box 31"/>
          <p:cNvSpPr txBox="1"/>
          <p:nvPr/>
        </p:nvSpPr>
        <p:spPr>
          <a:xfrm>
            <a:off x="5181600" y="1295400"/>
            <a:ext cx="5105400" cy="42354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通用寄存器也可以作为变址寄存器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5120" name="Rectangle 3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26" name="AutoShape 3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552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6530" name="Text Box 2"/>
          <p:cNvSpPr txBox="1"/>
          <p:nvPr/>
        </p:nvSpPr>
        <p:spPr>
          <a:xfrm>
            <a:off x="1828800" y="196850"/>
            <a:ext cx="7543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例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06531" name="Text Box 3"/>
          <p:cNvSpPr txBox="1"/>
          <p:nvPr/>
        </p:nvSpPr>
        <p:spPr>
          <a:xfrm>
            <a:off x="2590800" y="242888"/>
            <a:ext cx="66522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设数据块首地址为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，求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个数的平均值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06532" name="Text Box 4"/>
          <p:cNvSpPr txBox="1"/>
          <p:nvPr/>
        </p:nvSpPr>
        <p:spPr>
          <a:xfrm>
            <a:off x="2135188" y="1066800"/>
            <a:ext cx="20891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直接寻址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6533" name="Text Box 5"/>
          <p:cNvSpPr txBox="1"/>
          <p:nvPr/>
        </p:nvSpPr>
        <p:spPr>
          <a:xfrm>
            <a:off x="6094413" y="1066800"/>
            <a:ext cx="23066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变址寻址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6534" name="Text Box 6"/>
          <p:cNvSpPr txBox="1"/>
          <p:nvPr/>
        </p:nvSpPr>
        <p:spPr>
          <a:xfrm>
            <a:off x="2135188" y="1631950"/>
            <a:ext cx="15259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LDA    D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35" name="Text Box 7"/>
          <p:cNvSpPr txBox="1"/>
          <p:nvPr/>
        </p:nvSpPr>
        <p:spPr>
          <a:xfrm>
            <a:off x="2135188" y="2209800"/>
            <a:ext cx="21228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ADD    D + 1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36" name="Text Box 8"/>
          <p:cNvSpPr txBox="1"/>
          <p:nvPr/>
        </p:nvSpPr>
        <p:spPr>
          <a:xfrm>
            <a:off x="2135188" y="2789238"/>
            <a:ext cx="21228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ADD    D + 2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37" name="Text Box 9"/>
          <p:cNvSpPr txBox="1"/>
          <p:nvPr/>
        </p:nvSpPr>
        <p:spPr>
          <a:xfrm>
            <a:off x="2377440" y="3641725"/>
            <a:ext cx="613410" cy="828675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…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38" name="Text Box 10"/>
          <p:cNvSpPr txBox="1"/>
          <p:nvPr/>
        </p:nvSpPr>
        <p:spPr>
          <a:xfrm>
            <a:off x="2135188" y="4352925"/>
            <a:ext cx="30003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ADD    D + ( N -1 )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39" name="Text Box 11"/>
          <p:cNvSpPr txBox="1"/>
          <p:nvPr/>
        </p:nvSpPr>
        <p:spPr>
          <a:xfrm>
            <a:off x="2135188" y="4897438"/>
            <a:ext cx="18840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DIV      # N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0" name="Text Box 12"/>
          <p:cNvSpPr txBox="1"/>
          <p:nvPr/>
        </p:nvSpPr>
        <p:spPr>
          <a:xfrm>
            <a:off x="2135188" y="5441950"/>
            <a:ext cx="19634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STA     ANS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1" name="Text Box 13"/>
          <p:cNvSpPr txBox="1"/>
          <p:nvPr/>
        </p:nvSpPr>
        <p:spPr>
          <a:xfrm>
            <a:off x="6094413" y="1631950"/>
            <a:ext cx="18027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LDA     #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2" name="Text Box 14"/>
          <p:cNvSpPr txBox="1"/>
          <p:nvPr/>
        </p:nvSpPr>
        <p:spPr>
          <a:xfrm>
            <a:off x="6094413" y="2174875"/>
            <a:ext cx="18224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LDX     #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3" name="Text Box 15"/>
          <p:cNvSpPr txBox="1"/>
          <p:nvPr/>
        </p:nvSpPr>
        <p:spPr>
          <a:xfrm>
            <a:off x="6094413" y="3263900"/>
            <a:ext cx="8343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INX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4" name="Text Box 16"/>
          <p:cNvSpPr txBox="1"/>
          <p:nvPr/>
        </p:nvSpPr>
        <p:spPr>
          <a:xfrm>
            <a:off x="6094413" y="3808413"/>
            <a:ext cx="1969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CPX      # N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5" name="Text Box 17"/>
          <p:cNvSpPr txBox="1"/>
          <p:nvPr/>
        </p:nvSpPr>
        <p:spPr>
          <a:xfrm>
            <a:off x="6094413" y="4352925"/>
            <a:ext cx="17837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BNE      M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6" name="Text Box 18"/>
          <p:cNvSpPr txBox="1"/>
          <p:nvPr/>
        </p:nvSpPr>
        <p:spPr>
          <a:xfrm>
            <a:off x="6094413" y="4897438"/>
            <a:ext cx="19729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DIV       # N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7" name="Text Box 19"/>
          <p:cNvSpPr txBox="1"/>
          <p:nvPr/>
        </p:nvSpPr>
        <p:spPr>
          <a:xfrm>
            <a:off x="6094413" y="5441950"/>
            <a:ext cx="20523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STA      ANS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48" name="Text Box 20"/>
          <p:cNvSpPr txBox="1"/>
          <p:nvPr/>
        </p:nvSpPr>
        <p:spPr>
          <a:xfrm>
            <a:off x="2135188" y="5989638"/>
            <a:ext cx="25977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共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+ 2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条指令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06549" name="Text Box 21"/>
          <p:cNvSpPr txBox="1"/>
          <p:nvPr/>
        </p:nvSpPr>
        <p:spPr>
          <a:xfrm>
            <a:off x="6094413" y="5989638"/>
            <a:ext cx="25225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共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条指令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06550" name="Text Box 22"/>
          <p:cNvSpPr txBox="1"/>
          <p:nvPr/>
        </p:nvSpPr>
        <p:spPr>
          <a:xfrm>
            <a:off x="6094413" y="2719388"/>
            <a:ext cx="2087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ADD     X, D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51" name="Text Box 23"/>
          <p:cNvSpPr txBox="1"/>
          <p:nvPr/>
        </p:nvSpPr>
        <p:spPr>
          <a:xfrm>
            <a:off x="5486400" y="2713038"/>
            <a:ext cx="5187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M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6552" name="Freeform 24"/>
          <p:cNvSpPr/>
          <p:nvPr/>
        </p:nvSpPr>
        <p:spPr>
          <a:xfrm>
            <a:off x="5334000" y="3003550"/>
            <a:ext cx="533400" cy="1600200"/>
          </a:xfrm>
          <a:custGeom>
            <a:avLst/>
            <a:gdLst>
              <a:gd name="txL" fmla="*/ 0 w 336"/>
              <a:gd name="txT" fmla="*/ 0 h 1008"/>
              <a:gd name="txR" fmla="*/ 336 w 336"/>
              <a:gd name="txB" fmla="*/ 1008 h 1008"/>
            </a:gdLst>
            <a:ahLst/>
            <a:cxnLst>
              <a:cxn ang="0">
                <a:pos x="336" y="1008"/>
              </a:cxn>
              <a:cxn ang="0">
                <a:pos x="0" y="1008"/>
              </a:cxn>
              <a:cxn ang="0">
                <a:pos x="0" y="0"/>
              </a:cxn>
              <a:cxn ang="0">
                <a:pos x="120" y="0"/>
              </a:cxn>
            </a:cxnLst>
            <a:rect l="txL" t="txT" r="txR" b="txB"/>
            <a:pathLst>
              <a:path w="336" h="1008">
                <a:moveTo>
                  <a:pt x="336" y="1008"/>
                </a:moveTo>
                <a:lnTo>
                  <a:pt x="0" y="1008"/>
                </a:lnTo>
                <a:lnTo>
                  <a:pt x="0" y="0"/>
                </a:lnTo>
                <a:lnTo>
                  <a:pt x="12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6553" name="Text Box 25"/>
          <p:cNvSpPr txBox="1"/>
          <p:nvPr/>
        </p:nvSpPr>
        <p:spPr>
          <a:xfrm>
            <a:off x="8382000" y="2241550"/>
            <a:ext cx="2209800" cy="39878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X </a:t>
            </a:r>
            <a:r>
              <a:rPr lang="zh-CN" altLang="en-US" sz="2000" b="1" dirty="0">
                <a:latin typeface="Times New Roman" panose="02020603050405020304" pitchFamily="18" charset="0"/>
              </a:rPr>
              <a:t>为变址寄存器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06554" name="Text Box 26"/>
          <p:cNvSpPr txBox="1"/>
          <p:nvPr/>
        </p:nvSpPr>
        <p:spPr>
          <a:xfrm>
            <a:off x="8382000" y="2759075"/>
            <a:ext cx="2209800" cy="39878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D </a:t>
            </a:r>
            <a:r>
              <a:rPr lang="zh-CN" altLang="en-US" sz="2000" b="1" dirty="0">
                <a:latin typeface="Times New Roman" panose="02020603050405020304" pitchFamily="18" charset="0"/>
              </a:rPr>
              <a:t>为形式地址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06555" name="Text Box 27"/>
          <p:cNvSpPr txBox="1"/>
          <p:nvPr/>
        </p:nvSpPr>
        <p:spPr>
          <a:xfrm>
            <a:off x="8382000" y="3902075"/>
            <a:ext cx="2209800" cy="39878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(X) </a:t>
            </a:r>
            <a:r>
              <a:rPr lang="zh-CN" altLang="en-US" sz="2000" b="1" dirty="0">
                <a:latin typeface="Times New Roman" panose="02020603050405020304" pitchFamily="18" charset="0"/>
              </a:rPr>
              <a:t>和 </a:t>
            </a:r>
            <a:r>
              <a:rPr lang="en-US" altLang="zh-CN" sz="2000" b="1" dirty="0">
                <a:latin typeface="Times New Roman" panose="02020603050405020304" pitchFamily="18" charset="0"/>
              </a:rPr>
              <a:t>#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比较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406556" name="Group 28"/>
          <p:cNvGrpSpPr/>
          <p:nvPr/>
        </p:nvGrpSpPr>
        <p:grpSpPr>
          <a:xfrm>
            <a:off x="8382000" y="3308350"/>
            <a:ext cx="2209800" cy="398463"/>
            <a:chOff x="4224" y="2112"/>
            <a:chExt cx="1392" cy="251"/>
          </a:xfrm>
        </p:grpSpPr>
        <p:sp>
          <p:nvSpPr>
            <p:cNvPr id="406561" name="Text Box 29"/>
            <p:cNvSpPr txBox="1"/>
            <p:nvPr/>
          </p:nvSpPr>
          <p:spPr>
            <a:xfrm>
              <a:off x="4224" y="2112"/>
              <a:ext cx="139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(X) +1      X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6562" name="Line 30"/>
            <p:cNvSpPr/>
            <p:nvPr/>
          </p:nvSpPr>
          <p:spPr>
            <a:xfrm>
              <a:off x="4713" y="2221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06557" name="Text Box 31"/>
          <p:cNvSpPr txBox="1"/>
          <p:nvPr/>
        </p:nvSpPr>
        <p:spPr>
          <a:xfrm>
            <a:off x="8382000" y="4435475"/>
            <a:ext cx="2209800" cy="39878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结果不为零则转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46144" name="Rectangle 3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6559" name="AutoShape 3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65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7554" name="Text Box 2"/>
          <p:cNvSpPr txBox="1"/>
          <p:nvPr/>
        </p:nvSpPr>
        <p:spPr>
          <a:xfrm>
            <a:off x="1981200" y="76200"/>
            <a:ext cx="3394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9. </a:t>
            </a:r>
            <a:r>
              <a:rPr lang="zh-CN" altLang="en-US" sz="3200" b="1" dirty="0">
                <a:latin typeface="Times New Roman" panose="02020603050405020304" pitchFamily="18" charset="0"/>
              </a:rPr>
              <a:t>相对寻址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07555" name="Text Box 3"/>
          <p:cNvSpPr txBox="1"/>
          <p:nvPr/>
        </p:nvSpPr>
        <p:spPr>
          <a:xfrm>
            <a:off x="2330450" y="660400"/>
            <a:ext cx="22834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EA = ( PC ) + A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7556" name="Text Box 4"/>
          <p:cNvSpPr txBox="1"/>
          <p:nvPr/>
        </p:nvSpPr>
        <p:spPr>
          <a:xfrm>
            <a:off x="2330450" y="1143000"/>
            <a:ext cx="6863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是相对于当前指令的位移量（可正可负，补码）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7557" name="Text Box 5"/>
          <p:cNvSpPr txBox="1"/>
          <p:nvPr/>
        </p:nvSpPr>
        <p:spPr>
          <a:xfrm>
            <a:off x="2895600" y="5257800"/>
            <a:ext cx="422275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A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的位数决定操作数的寻址范围</a:t>
            </a:r>
            <a:endParaRPr lang="zh-CN" altLang="en-US" sz="2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7558" name="Text Box 6"/>
          <p:cNvSpPr txBox="1"/>
          <p:nvPr/>
        </p:nvSpPr>
        <p:spPr>
          <a:xfrm>
            <a:off x="2895600" y="5729288"/>
            <a:ext cx="14681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程序浮动</a:t>
            </a:r>
            <a:endParaRPr lang="zh-CN" altLang="en-US" sz="2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7559" name="Text Box 7"/>
          <p:cNvSpPr txBox="1"/>
          <p:nvPr/>
        </p:nvSpPr>
        <p:spPr>
          <a:xfrm>
            <a:off x="2895600" y="6202363"/>
            <a:ext cx="25857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Clr>
                <a:schemeClr val="folHlink"/>
              </a:buClr>
              <a:buChar char="•"/>
            </a:pP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广泛用于转移指令</a:t>
            </a:r>
            <a:endParaRPr lang="zh-CN" altLang="en-US" sz="2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7560" name="Rectangle 8"/>
          <p:cNvSpPr/>
          <p:nvPr/>
        </p:nvSpPr>
        <p:spPr>
          <a:xfrm>
            <a:off x="7232650" y="4343400"/>
            <a:ext cx="1752600" cy="3810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p>
            <a:pPr algn="ctr"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操作数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07561" name="AutoShape 9"/>
          <p:cNvSpPr/>
          <p:nvPr/>
        </p:nvSpPr>
        <p:spPr>
          <a:xfrm rot="5400000">
            <a:off x="5251450" y="1676400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7562" name="Text Box 10"/>
          <p:cNvSpPr txBox="1"/>
          <p:nvPr/>
        </p:nvSpPr>
        <p:spPr>
          <a:xfrm>
            <a:off x="4702175" y="16002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寻址特征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407563" name="Group 11"/>
          <p:cNvGrpSpPr/>
          <p:nvPr/>
        </p:nvGrpSpPr>
        <p:grpSpPr>
          <a:xfrm>
            <a:off x="5327650" y="3654425"/>
            <a:ext cx="1066800" cy="554038"/>
            <a:chOff x="2396" y="2302"/>
            <a:chExt cx="672" cy="349"/>
          </a:xfrm>
        </p:grpSpPr>
        <p:sp>
          <p:nvSpPr>
            <p:cNvPr id="407599" name="Freeform 12"/>
            <p:cNvSpPr/>
            <p:nvPr/>
          </p:nvSpPr>
          <p:spPr>
            <a:xfrm>
              <a:off x="2396" y="2302"/>
              <a:ext cx="672" cy="338"/>
            </a:xfrm>
            <a:custGeom>
              <a:avLst/>
              <a:gdLst>
                <a:gd name="txL" fmla="*/ 0 w 672"/>
                <a:gd name="txT" fmla="*/ 0 h 338"/>
                <a:gd name="txR" fmla="*/ 672 w 672"/>
                <a:gd name="txB" fmla="*/ 338 h 338"/>
              </a:gdLst>
              <a:ahLst/>
              <a:cxnLst>
                <a:cxn ang="0">
                  <a:pos x="0" y="0"/>
                </a:cxn>
                <a:cxn ang="0">
                  <a:pos x="240" y="0"/>
                </a:cxn>
                <a:cxn ang="0">
                  <a:pos x="339" y="129"/>
                </a:cxn>
                <a:cxn ang="0">
                  <a:pos x="432" y="0"/>
                </a:cxn>
                <a:cxn ang="0">
                  <a:pos x="672" y="0"/>
                </a:cxn>
                <a:cxn ang="0">
                  <a:pos x="507" y="338"/>
                </a:cxn>
                <a:cxn ang="0">
                  <a:pos x="192" y="336"/>
                </a:cxn>
                <a:cxn ang="0">
                  <a:pos x="0" y="0"/>
                </a:cxn>
              </a:cxnLst>
              <a:rect l="txL" t="txT" r="txR" b="tx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7600" name="Text Box 13"/>
            <p:cNvSpPr txBox="1"/>
            <p:nvPr/>
          </p:nvSpPr>
          <p:spPr>
            <a:xfrm>
              <a:off x="2517" y="2400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ALU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7564" name="Group 14"/>
          <p:cNvGrpSpPr/>
          <p:nvPr/>
        </p:nvGrpSpPr>
        <p:grpSpPr>
          <a:xfrm>
            <a:off x="4184650" y="2133600"/>
            <a:ext cx="2368550" cy="381000"/>
            <a:chOff x="1676" y="1344"/>
            <a:chExt cx="1492" cy="240"/>
          </a:xfrm>
        </p:grpSpPr>
        <p:sp>
          <p:nvSpPr>
            <p:cNvPr id="407596" name="Rectangle 15"/>
            <p:cNvSpPr/>
            <p:nvPr/>
          </p:nvSpPr>
          <p:spPr>
            <a:xfrm>
              <a:off x="1676" y="1344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7597" name="Rectangle 16"/>
            <p:cNvSpPr/>
            <p:nvPr/>
          </p:nvSpPr>
          <p:spPr>
            <a:xfrm>
              <a:off x="2156" y="1344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7598" name="Rectangle 17"/>
            <p:cNvSpPr/>
            <p:nvPr/>
          </p:nvSpPr>
          <p:spPr>
            <a:xfrm>
              <a:off x="2640" y="1344"/>
              <a:ext cx="52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7565" name="Freeform 18"/>
          <p:cNvSpPr/>
          <p:nvPr/>
        </p:nvSpPr>
        <p:spPr>
          <a:xfrm>
            <a:off x="6138863" y="2730500"/>
            <a:ext cx="1587" cy="889000"/>
          </a:xfrm>
          <a:custGeom>
            <a:avLst/>
            <a:gdLst>
              <a:gd name="txL" fmla="*/ 0 w 1"/>
              <a:gd name="txT" fmla="*/ 0 h 560"/>
              <a:gd name="txR" fmla="*/ 1 w 1"/>
              <a:gd name="txB" fmla="*/ 560 h 560"/>
            </a:gdLst>
            <a:ahLst/>
            <a:cxnLst>
              <a:cxn ang="0">
                <a:pos x="1" y="0"/>
              </a:cxn>
              <a:cxn ang="0">
                <a:pos x="0" y="560"/>
              </a:cxn>
            </a:cxnLst>
            <a:rect l="txL" t="txT" r="txR" b="txB"/>
            <a:pathLst>
              <a:path w="1" h="560">
                <a:moveTo>
                  <a:pt x="1" y="0"/>
                </a:moveTo>
                <a:lnTo>
                  <a:pt x="0" y="56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7566" name="Freeform 19"/>
          <p:cNvSpPr/>
          <p:nvPr/>
        </p:nvSpPr>
        <p:spPr>
          <a:xfrm>
            <a:off x="5861050" y="4191000"/>
            <a:ext cx="1371600" cy="304800"/>
          </a:xfrm>
          <a:custGeom>
            <a:avLst/>
            <a:gdLst>
              <a:gd name="txL" fmla="*/ 0 w 480"/>
              <a:gd name="txT" fmla="*/ 0 h 192"/>
              <a:gd name="txR" fmla="*/ 480 w 480"/>
              <a:gd name="txB" fmla="*/ 192 h 192"/>
            </a:gdLst>
            <a:ahLst/>
            <a:cxnLst>
              <a:cxn ang="0">
                <a:pos x="0" y="0"/>
              </a:cxn>
              <a:cxn ang="0">
                <a:pos x="0" y="192"/>
              </a:cxn>
              <a:cxn ang="0">
                <a:pos x="480" y="192"/>
              </a:cxn>
            </a:cxnLst>
            <a:rect l="txL" t="txT" r="txR" b="txB"/>
            <a:pathLst>
              <a:path w="480" h="192">
                <a:moveTo>
                  <a:pt x="0" y="0"/>
                </a:moveTo>
                <a:lnTo>
                  <a:pt x="0" y="192"/>
                </a:lnTo>
                <a:lnTo>
                  <a:pt x="480" y="19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7567" name="Text Box 20"/>
          <p:cNvSpPr txBox="1"/>
          <p:nvPr/>
        </p:nvSpPr>
        <p:spPr>
          <a:xfrm>
            <a:off x="9144000" y="3717925"/>
            <a:ext cx="14458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相对距离 </a:t>
            </a: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07568" name="AutoShape 21"/>
          <p:cNvSpPr/>
          <p:nvPr/>
        </p:nvSpPr>
        <p:spPr>
          <a:xfrm>
            <a:off x="8985250" y="3429000"/>
            <a:ext cx="158750" cy="914400"/>
          </a:xfrm>
          <a:prstGeom prst="rightBrace">
            <a:avLst>
              <a:gd name="adj1" fmla="val 480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7569" name="AutoShape 22"/>
          <p:cNvSpPr/>
          <p:nvPr/>
        </p:nvSpPr>
        <p:spPr>
          <a:xfrm rot="-5400000">
            <a:off x="6057900" y="2247900"/>
            <a:ext cx="152400" cy="838200"/>
          </a:xfrm>
          <a:prstGeom prst="leftBrace">
            <a:avLst>
              <a:gd name="adj1" fmla="val 454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7570" name="AutoShape 23"/>
          <p:cNvSpPr/>
          <p:nvPr/>
        </p:nvSpPr>
        <p:spPr>
          <a:xfrm rot="-5400000">
            <a:off x="3695700" y="2716213"/>
            <a:ext cx="152400" cy="990600"/>
          </a:xfrm>
          <a:prstGeom prst="leftBrace">
            <a:avLst>
              <a:gd name="adj1" fmla="val 53655"/>
              <a:gd name="adj2" fmla="val 50958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7571" name="Freeform 24"/>
          <p:cNvSpPr/>
          <p:nvPr/>
        </p:nvSpPr>
        <p:spPr>
          <a:xfrm>
            <a:off x="3771900" y="3324225"/>
            <a:ext cx="1752600" cy="333375"/>
          </a:xfrm>
          <a:custGeom>
            <a:avLst/>
            <a:gdLst>
              <a:gd name="txL" fmla="*/ 0 w 1104"/>
              <a:gd name="txT" fmla="*/ 0 h 210"/>
              <a:gd name="txR" fmla="*/ 1104 w 1104"/>
              <a:gd name="txB" fmla="*/ 210 h 210"/>
            </a:gdLst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1104" y="96"/>
              </a:cxn>
              <a:cxn ang="0">
                <a:pos x="1104" y="210"/>
              </a:cxn>
            </a:cxnLst>
            <a:rect l="txL" t="txT" r="txR" b="txB"/>
            <a:pathLst>
              <a:path w="1104" h="210">
                <a:moveTo>
                  <a:pt x="0" y="0"/>
                </a:moveTo>
                <a:lnTo>
                  <a:pt x="0" y="96"/>
                </a:lnTo>
                <a:lnTo>
                  <a:pt x="1104" y="96"/>
                </a:lnTo>
                <a:lnTo>
                  <a:pt x="1104" y="21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07572" name="Group 25"/>
          <p:cNvGrpSpPr/>
          <p:nvPr/>
        </p:nvGrpSpPr>
        <p:grpSpPr>
          <a:xfrm>
            <a:off x="2743200" y="2727325"/>
            <a:ext cx="1524000" cy="398463"/>
            <a:chOff x="768" y="1584"/>
            <a:chExt cx="960" cy="251"/>
          </a:xfrm>
        </p:grpSpPr>
        <p:grpSp>
          <p:nvGrpSpPr>
            <p:cNvPr id="407592" name="Group 26"/>
            <p:cNvGrpSpPr/>
            <p:nvPr/>
          </p:nvGrpSpPr>
          <p:grpSpPr>
            <a:xfrm>
              <a:off x="1104" y="1584"/>
              <a:ext cx="624" cy="251"/>
              <a:chOff x="864" y="2150"/>
              <a:chExt cx="624" cy="251"/>
            </a:xfrm>
          </p:grpSpPr>
          <p:sp>
            <p:nvSpPr>
              <p:cNvPr id="407594" name="Text Box 27"/>
              <p:cNvSpPr txBox="1"/>
              <p:nvPr/>
            </p:nvSpPr>
            <p:spPr>
              <a:xfrm>
                <a:off x="960" y="2150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1000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7595" name="Rectangle 28"/>
              <p:cNvSpPr/>
              <p:nvPr/>
            </p:nvSpPr>
            <p:spPr>
              <a:xfrm>
                <a:off x="864" y="2160"/>
                <a:ext cx="62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07593" name="Text Box 29"/>
            <p:cNvSpPr txBox="1"/>
            <p:nvPr/>
          </p:nvSpPr>
          <p:spPr>
            <a:xfrm>
              <a:off x="768" y="1584"/>
              <a:ext cx="576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PC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7573" name="Freeform 30"/>
          <p:cNvSpPr/>
          <p:nvPr/>
        </p:nvSpPr>
        <p:spPr>
          <a:xfrm>
            <a:off x="6553200" y="2301875"/>
            <a:ext cx="1524000" cy="990600"/>
          </a:xfrm>
          <a:custGeom>
            <a:avLst/>
            <a:gdLst>
              <a:gd name="txL" fmla="*/ 0 w 960"/>
              <a:gd name="txT" fmla="*/ 0 h 624"/>
              <a:gd name="txR" fmla="*/ 960 w 960"/>
              <a:gd name="txB" fmla="*/ 624 h 624"/>
            </a:gdLst>
            <a:ahLst/>
            <a:cxnLst>
              <a:cxn ang="0">
                <a:pos x="0" y="0"/>
              </a:cxn>
              <a:cxn ang="0">
                <a:pos x="960" y="0"/>
              </a:cxn>
              <a:cxn ang="0">
                <a:pos x="960" y="624"/>
              </a:cxn>
            </a:cxnLst>
            <a:rect l="txL" t="txT" r="txR" b="txB"/>
            <a:pathLst>
              <a:path w="960" h="624">
                <a:moveTo>
                  <a:pt x="0" y="0"/>
                </a:moveTo>
                <a:lnTo>
                  <a:pt x="960" y="0"/>
                </a:lnTo>
                <a:lnTo>
                  <a:pt x="960" y="62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07574" name="Group 31"/>
          <p:cNvGrpSpPr/>
          <p:nvPr/>
        </p:nvGrpSpPr>
        <p:grpSpPr>
          <a:xfrm>
            <a:off x="6546850" y="2536825"/>
            <a:ext cx="2444750" cy="2644775"/>
            <a:chOff x="3164" y="1598"/>
            <a:chExt cx="1540" cy="1666"/>
          </a:xfrm>
        </p:grpSpPr>
        <p:grpSp>
          <p:nvGrpSpPr>
            <p:cNvPr id="407578" name="Group 32"/>
            <p:cNvGrpSpPr/>
            <p:nvPr/>
          </p:nvGrpSpPr>
          <p:grpSpPr>
            <a:xfrm>
              <a:off x="3164" y="1598"/>
              <a:ext cx="1536" cy="1666"/>
              <a:chOff x="3164" y="1598"/>
              <a:chExt cx="1536" cy="1666"/>
            </a:xfrm>
          </p:grpSpPr>
          <p:sp>
            <p:nvSpPr>
              <p:cNvPr id="407581" name="Line 33"/>
              <p:cNvSpPr/>
              <p:nvPr/>
            </p:nvSpPr>
            <p:spPr>
              <a:xfrm>
                <a:off x="3596" y="2076"/>
                <a:ext cx="110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7582" name="Line 34"/>
              <p:cNvSpPr/>
              <p:nvPr/>
            </p:nvSpPr>
            <p:spPr>
              <a:xfrm>
                <a:off x="3596" y="2316"/>
                <a:ext cx="110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7583" name="Text Box 35"/>
              <p:cNvSpPr txBox="1"/>
              <p:nvPr/>
            </p:nvSpPr>
            <p:spPr>
              <a:xfrm>
                <a:off x="4059" y="2352"/>
                <a:ext cx="309" cy="3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800" b="1" dirty="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07584" name="Group 36"/>
              <p:cNvGrpSpPr/>
              <p:nvPr/>
            </p:nvGrpSpPr>
            <p:grpSpPr>
              <a:xfrm>
                <a:off x="3164" y="1598"/>
                <a:ext cx="1536" cy="1666"/>
                <a:chOff x="3164" y="1598"/>
                <a:chExt cx="1536" cy="1666"/>
              </a:xfrm>
            </p:grpSpPr>
            <p:sp>
              <p:nvSpPr>
                <p:cNvPr id="407585" name="Rectangle 37"/>
                <p:cNvSpPr/>
                <p:nvPr/>
              </p:nvSpPr>
              <p:spPr>
                <a:xfrm>
                  <a:off x="3596" y="1836"/>
                  <a:ext cx="1104" cy="9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7586" name="Rectangle 38"/>
                <p:cNvSpPr/>
                <p:nvPr/>
              </p:nvSpPr>
              <p:spPr>
                <a:xfrm>
                  <a:off x="3596" y="2976"/>
                  <a:ext cx="1104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7587" name="Text Box 39"/>
                <p:cNvSpPr txBox="1"/>
                <p:nvPr/>
              </p:nvSpPr>
              <p:spPr>
                <a:xfrm>
                  <a:off x="3696" y="1598"/>
                  <a:ext cx="43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主存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7588" name="Rectangle 40"/>
                <p:cNvSpPr/>
                <p:nvPr/>
              </p:nvSpPr>
              <p:spPr>
                <a:xfrm>
                  <a:off x="3980" y="2076"/>
                  <a:ext cx="336" cy="240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7589" name="Text Box 41"/>
                <p:cNvSpPr txBox="1"/>
                <p:nvPr/>
              </p:nvSpPr>
              <p:spPr>
                <a:xfrm>
                  <a:off x="3164" y="2085"/>
                  <a:ext cx="43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1000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7590" name="Text Box 42"/>
                <p:cNvSpPr txBox="1"/>
                <p:nvPr/>
              </p:nvSpPr>
              <p:spPr>
                <a:xfrm>
                  <a:off x="4402" y="2085"/>
                  <a:ext cx="231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7591" name="Text Box 43"/>
                <p:cNvSpPr txBox="1"/>
                <p:nvPr/>
              </p:nvSpPr>
              <p:spPr>
                <a:xfrm>
                  <a:off x="3596" y="2085"/>
                  <a:ext cx="337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OP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07579" name="Line 44"/>
            <p:cNvSpPr/>
            <p:nvPr/>
          </p:nvSpPr>
          <p:spPr>
            <a:xfrm>
              <a:off x="3593" y="2736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7580" name="Line 45"/>
            <p:cNvSpPr/>
            <p:nvPr/>
          </p:nvSpPr>
          <p:spPr>
            <a:xfrm>
              <a:off x="4704" y="2736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47182" name="Rectangle 4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7576" name="AutoShape 4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757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8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4085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7.2</a:t>
            </a:r>
            <a:endParaRPr lang="en-US" altLang="zh-CN" dirty="0"/>
          </a:p>
        </p:txBody>
      </p:sp>
      <p:sp>
        <p:nvSpPr>
          <p:cNvPr id="40858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l="26281" t="23325" r="5197" b="23551"/>
          <a:stretch>
            <a:fillRect/>
          </a:stretch>
        </p:blipFill>
        <p:spPr>
          <a:xfrm>
            <a:off x="1600200" y="1524000"/>
            <a:ext cx="8915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02" name="Text Box 2"/>
          <p:cNvSpPr txBox="1"/>
          <p:nvPr/>
        </p:nvSpPr>
        <p:spPr>
          <a:xfrm>
            <a:off x="1828800" y="152400"/>
            <a:ext cx="32981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 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相对寻址举例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09603" name="Line 3"/>
          <p:cNvSpPr/>
          <p:nvPr/>
        </p:nvSpPr>
        <p:spPr>
          <a:xfrm>
            <a:off x="6096000" y="3505200"/>
            <a:ext cx="1066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9604" name="Text Box 4"/>
          <p:cNvSpPr txBox="1"/>
          <p:nvPr/>
        </p:nvSpPr>
        <p:spPr>
          <a:xfrm>
            <a:off x="2117725" y="4867275"/>
            <a:ext cx="9083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随程序所在存储空间的位置不同而不同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09605" name="Text Box 5"/>
          <p:cNvSpPr txBox="1"/>
          <p:nvPr/>
        </p:nvSpPr>
        <p:spPr>
          <a:xfrm>
            <a:off x="4114800" y="6299200"/>
            <a:ext cx="29565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EA = ( M+3 ) – 3 = M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9606" name="Group 6"/>
          <p:cNvGrpSpPr/>
          <p:nvPr/>
        </p:nvGrpSpPr>
        <p:grpSpPr>
          <a:xfrm>
            <a:off x="7162800" y="3124200"/>
            <a:ext cx="1066800" cy="922338"/>
            <a:chOff x="3456" y="2016"/>
            <a:chExt cx="672" cy="581"/>
          </a:xfrm>
        </p:grpSpPr>
        <p:sp>
          <p:nvSpPr>
            <p:cNvPr id="409640" name="Text Box 7"/>
            <p:cNvSpPr txBox="1"/>
            <p:nvPr/>
          </p:nvSpPr>
          <p:spPr>
            <a:xfrm>
              <a:off x="3732" y="2073"/>
              <a:ext cx="396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82800">
              <a:spAutoFit/>
            </a:bodyPr>
            <a:p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– 3</a:t>
              </a:r>
              <a:endPara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641" name="Text Box 8"/>
            <p:cNvSpPr txBox="1"/>
            <p:nvPr/>
          </p:nvSpPr>
          <p:spPr>
            <a:xfrm>
              <a:off x="3456" y="2016"/>
              <a:ext cx="432" cy="58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5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5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9607" name="Group 9"/>
          <p:cNvGrpSpPr/>
          <p:nvPr/>
        </p:nvGrpSpPr>
        <p:grpSpPr>
          <a:xfrm>
            <a:off x="2590800" y="685800"/>
            <a:ext cx="3729038" cy="4113213"/>
            <a:chOff x="576" y="432"/>
            <a:chExt cx="2349" cy="2591"/>
          </a:xfrm>
        </p:grpSpPr>
        <p:sp>
          <p:nvSpPr>
            <p:cNvPr id="409627" name="Text Box 10"/>
            <p:cNvSpPr txBox="1"/>
            <p:nvPr/>
          </p:nvSpPr>
          <p:spPr>
            <a:xfrm>
              <a:off x="1554" y="432"/>
              <a:ext cx="119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LDA      #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28" name="Text Box 11"/>
            <p:cNvSpPr txBox="1"/>
            <p:nvPr/>
          </p:nvSpPr>
          <p:spPr>
            <a:xfrm>
              <a:off x="1554" y="756"/>
              <a:ext cx="120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LDX      #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29" name="Text Box 12"/>
            <p:cNvSpPr txBox="1"/>
            <p:nvPr/>
          </p:nvSpPr>
          <p:spPr>
            <a:xfrm>
              <a:off x="1554" y="1079"/>
              <a:ext cx="137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ADD      X, D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30" name="Text Box 13"/>
            <p:cNvSpPr txBox="1"/>
            <p:nvPr/>
          </p:nvSpPr>
          <p:spPr>
            <a:xfrm>
              <a:off x="1554" y="1402"/>
              <a:ext cx="52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INX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31" name="Text Box 14"/>
            <p:cNvSpPr txBox="1"/>
            <p:nvPr/>
          </p:nvSpPr>
          <p:spPr>
            <a:xfrm>
              <a:off x="1554" y="1725"/>
              <a:ext cx="124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CPX      # N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32" name="Text Box 15"/>
            <p:cNvSpPr txBox="1"/>
            <p:nvPr/>
          </p:nvSpPr>
          <p:spPr>
            <a:xfrm>
              <a:off x="1554" y="2048"/>
              <a:ext cx="11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BNE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633" name="Text Box 16"/>
            <p:cNvSpPr txBox="1"/>
            <p:nvPr/>
          </p:nvSpPr>
          <p:spPr>
            <a:xfrm>
              <a:off x="1554" y="2371"/>
              <a:ext cx="124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DIV       # N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34" name="Text Box 17"/>
            <p:cNvSpPr txBox="1"/>
            <p:nvPr/>
          </p:nvSpPr>
          <p:spPr>
            <a:xfrm>
              <a:off x="1554" y="2694"/>
              <a:ext cx="129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STA      ANS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35" name="Text Box 18"/>
            <p:cNvSpPr txBox="1"/>
            <p:nvPr/>
          </p:nvSpPr>
          <p:spPr>
            <a:xfrm>
              <a:off x="816" y="1079"/>
              <a:ext cx="3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636" name="Text Box 19"/>
            <p:cNvSpPr txBox="1"/>
            <p:nvPr/>
          </p:nvSpPr>
          <p:spPr>
            <a:xfrm>
              <a:off x="816" y="1402"/>
              <a:ext cx="56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M+1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37" name="Text Box 20"/>
            <p:cNvSpPr txBox="1"/>
            <p:nvPr/>
          </p:nvSpPr>
          <p:spPr>
            <a:xfrm>
              <a:off x="816" y="1725"/>
              <a:ext cx="56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M+2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38" name="Text Box 21"/>
            <p:cNvSpPr txBox="1"/>
            <p:nvPr/>
          </p:nvSpPr>
          <p:spPr>
            <a:xfrm>
              <a:off x="816" y="2048"/>
              <a:ext cx="56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M+3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639" name="Freeform 22"/>
            <p:cNvSpPr/>
            <p:nvPr/>
          </p:nvSpPr>
          <p:spPr>
            <a:xfrm>
              <a:off x="576" y="1248"/>
              <a:ext cx="240" cy="960"/>
            </a:xfrm>
            <a:custGeom>
              <a:avLst/>
              <a:gdLst>
                <a:gd name="txL" fmla="*/ 0 w 240"/>
                <a:gd name="txT" fmla="*/ 0 h 960"/>
                <a:gd name="txR" fmla="*/ 240 w 240"/>
                <a:gd name="txB" fmla="*/ 960 h 960"/>
              </a:gdLst>
              <a:ahLst/>
              <a:cxnLst>
                <a:cxn ang="0">
                  <a:pos x="240" y="960"/>
                </a:cxn>
                <a:cxn ang="0">
                  <a:pos x="0" y="960"/>
                </a:cxn>
                <a:cxn ang="0">
                  <a:pos x="0" y="0"/>
                </a:cxn>
                <a:cxn ang="0">
                  <a:pos x="192" y="0"/>
                </a:cxn>
              </a:cxnLst>
              <a:rect l="txL" t="txT" r="txR" b="txB"/>
              <a:pathLst>
                <a:path w="240" h="960">
                  <a:moveTo>
                    <a:pt x="240" y="960"/>
                  </a:moveTo>
                  <a:lnTo>
                    <a:pt x="0" y="960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09608" name="Group 23"/>
          <p:cNvGrpSpPr/>
          <p:nvPr/>
        </p:nvGrpSpPr>
        <p:grpSpPr>
          <a:xfrm>
            <a:off x="2117725" y="5334000"/>
            <a:ext cx="9083675" cy="768350"/>
            <a:chOff x="240" y="3360"/>
            <a:chExt cx="5722" cy="484"/>
          </a:xfrm>
        </p:grpSpPr>
        <p:sp>
          <p:nvSpPr>
            <p:cNvPr id="409623" name="Text Box 24"/>
            <p:cNvSpPr txBox="1"/>
            <p:nvPr/>
          </p:nvSpPr>
          <p:spPr>
            <a:xfrm>
              <a:off x="240" y="3408"/>
              <a:ext cx="572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而指令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BNE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与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ADD   X, D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相对位移量不变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09624" name="Group 25"/>
            <p:cNvGrpSpPr/>
            <p:nvPr/>
          </p:nvGrpSpPr>
          <p:grpSpPr>
            <a:xfrm>
              <a:off x="1380" y="3360"/>
              <a:ext cx="588" cy="484"/>
              <a:chOff x="1344" y="3360"/>
              <a:chExt cx="588" cy="484"/>
            </a:xfrm>
          </p:grpSpPr>
          <p:sp>
            <p:nvSpPr>
              <p:cNvPr id="409625" name="Text Box 26"/>
              <p:cNvSpPr txBox="1"/>
              <p:nvPr/>
            </p:nvSpPr>
            <p:spPr>
              <a:xfrm>
                <a:off x="1536" y="3385"/>
                <a:ext cx="396" cy="3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tIns="82800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– 3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626" name="Text Box 27"/>
              <p:cNvSpPr txBox="1"/>
              <p:nvPr/>
            </p:nvSpPr>
            <p:spPr>
              <a:xfrm>
                <a:off x="1344" y="3360"/>
                <a:ext cx="432" cy="48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4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r>
                  <a:rPr lang="en-US" altLang="zh-CN" sz="4400" b="1" dirty="0">
                    <a:latin typeface="Times New Roman" panose="02020603050405020304" pitchFamily="18" charset="0"/>
                  </a:rPr>
                  <a:t> </a:t>
                </a:r>
                <a:endParaRPr lang="en-US" altLang="zh-CN" sz="44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09609" name="Group 28"/>
          <p:cNvGrpSpPr/>
          <p:nvPr/>
        </p:nvGrpSpPr>
        <p:grpSpPr>
          <a:xfrm>
            <a:off x="2803525" y="5791200"/>
            <a:ext cx="5257800" cy="768350"/>
            <a:chOff x="806" y="3648"/>
            <a:chExt cx="3312" cy="484"/>
          </a:xfrm>
        </p:grpSpPr>
        <p:sp>
          <p:nvSpPr>
            <p:cNvPr id="409618" name="Text Box 29"/>
            <p:cNvSpPr txBox="1"/>
            <p:nvPr/>
          </p:nvSpPr>
          <p:spPr>
            <a:xfrm>
              <a:off x="806" y="3696"/>
              <a:ext cx="94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BNE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619" name="Text Box 30"/>
            <p:cNvSpPr txBox="1"/>
            <p:nvPr/>
          </p:nvSpPr>
          <p:spPr>
            <a:xfrm>
              <a:off x="2275" y="3696"/>
              <a:ext cx="18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操作数的有效地址为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09620" name="Group 31"/>
            <p:cNvGrpSpPr/>
            <p:nvPr/>
          </p:nvGrpSpPr>
          <p:grpSpPr>
            <a:xfrm>
              <a:off x="1764" y="3648"/>
              <a:ext cx="588" cy="484"/>
              <a:chOff x="1344" y="3360"/>
              <a:chExt cx="588" cy="484"/>
            </a:xfrm>
          </p:grpSpPr>
          <p:sp>
            <p:nvSpPr>
              <p:cNvPr id="409621" name="Text Box 32"/>
              <p:cNvSpPr txBox="1"/>
              <p:nvPr/>
            </p:nvSpPr>
            <p:spPr>
              <a:xfrm>
                <a:off x="1536" y="3385"/>
                <a:ext cx="396" cy="3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tIns="82800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– 3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622" name="Text Box 33"/>
              <p:cNvSpPr txBox="1"/>
              <p:nvPr/>
            </p:nvSpPr>
            <p:spPr>
              <a:xfrm>
                <a:off x="1344" y="3360"/>
                <a:ext cx="432" cy="48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4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r>
                  <a:rPr lang="en-US" altLang="zh-CN" sz="4400" b="1" dirty="0">
                    <a:latin typeface="Times New Roman" panose="02020603050405020304" pitchFamily="18" charset="0"/>
                  </a:rPr>
                  <a:t> </a:t>
                </a:r>
                <a:endParaRPr lang="en-US" altLang="zh-CN" sz="44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09610" name="AutoShape 34"/>
          <p:cNvSpPr/>
          <p:nvPr/>
        </p:nvSpPr>
        <p:spPr>
          <a:xfrm>
            <a:off x="5410200" y="3338513"/>
            <a:ext cx="533400" cy="381000"/>
          </a:xfrm>
          <a:prstGeom prst="wedgeRoundRectCallout">
            <a:avLst>
              <a:gd name="adj1" fmla="val -36606"/>
              <a:gd name="adj2" fmla="val 4500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9611" name="Text Box 35"/>
          <p:cNvSpPr txBox="1"/>
          <p:nvPr/>
        </p:nvSpPr>
        <p:spPr>
          <a:xfrm>
            <a:off x="7391400" y="26670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09612" name="Group 36"/>
          <p:cNvGrpSpPr/>
          <p:nvPr/>
        </p:nvGrpSpPr>
        <p:grpSpPr>
          <a:xfrm>
            <a:off x="7696200" y="2667000"/>
            <a:ext cx="2590800" cy="922338"/>
            <a:chOff x="3888" y="1552"/>
            <a:chExt cx="1632" cy="581"/>
          </a:xfrm>
        </p:grpSpPr>
        <p:sp>
          <p:nvSpPr>
            <p:cNvPr id="409616" name="Text Box 37"/>
            <p:cNvSpPr txBox="1"/>
            <p:nvPr/>
          </p:nvSpPr>
          <p:spPr>
            <a:xfrm>
              <a:off x="4128" y="1632"/>
              <a:ext cx="139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相对寻址特征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617" name="Text Box 38"/>
            <p:cNvSpPr txBox="1"/>
            <p:nvPr/>
          </p:nvSpPr>
          <p:spPr>
            <a:xfrm>
              <a:off x="3888" y="1552"/>
              <a:ext cx="624" cy="5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5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5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48199" name="Rectangle 3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14" name="AutoShape 4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961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0626" name="Text Box 2"/>
          <p:cNvSpPr txBox="1"/>
          <p:nvPr/>
        </p:nvSpPr>
        <p:spPr>
          <a:xfrm>
            <a:off x="1981200" y="323850"/>
            <a:ext cx="6994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按字节寻址的相对寻址举例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10627" name="Group 3"/>
          <p:cNvGrpSpPr/>
          <p:nvPr/>
        </p:nvGrpSpPr>
        <p:grpSpPr>
          <a:xfrm>
            <a:off x="2638425" y="1309688"/>
            <a:ext cx="2171700" cy="2805112"/>
            <a:chOff x="702" y="825"/>
            <a:chExt cx="1368" cy="1767"/>
          </a:xfrm>
        </p:grpSpPr>
        <p:grpSp>
          <p:nvGrpSpPr>
            <p:cNvPr id="410653" name="Group 4"/>
            <p:cNvGrpSpPr/>
            <p:nvPr/>
          </p:nvGrpSpPr>
          <p:grpSpPr>
            <a:xfrm>
              <a:off x="702" y="825"/>
              <a:ext cx="1368" cy="1767"/>
              <a:chOff x="702" y="825"/>
              <a:chExt cx="1368" cy="1767"/>
            </a:xfrm>
          </p:grpSpPr>
          <p:sp>
            <p:nvSpPr>
              <p:cNvPr id="410656" name="Line 5"/>
              <p:cNvSpPr/>
              <p:nvPr/>
            </p:nvSpPr>
            <p:spPr>
              <a:xfrm>
                <a:off x="1302" y="864"/>
                <a:ext cx="0" cy="172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657" name="Line 6"/>
              <p:cNvSpPr/>
              <p:nvPr/>
            </p:nvSpPr>
            <p:spPr>
              <a:xfrm>
                <a:off x="2070" y="864"/>
                <a:ext cx="0" cy="172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658" name="Line 7"/>
              <p:cNvSpPr/>
              <p:nvPr/>
            </p:nvSpPr>
            <p:spPr>
              <a:xfrm>
                <a:off x="1302" y="1056"/>
                <a:ext cx="7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659" name="Line 8"/>
              <p:cNvSpPr/>
              <p:nvPr/>
            </p:nvSpPr>
            <p:spPr>
              <a:xfrm>
                <a:off x="1302" y="2160"/>
                <a:ext cx="7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660" name="Line 9"/>
              <p:cNvSpPr/>
              <p:nvPr/>
            </p:nvSpPr>
            <p:spPr>
              <a:xfrm>
                <a:off x="1302" y="2400"/>
                <a:ext cx="7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661" name="Text Box 10"/>
              <p:cNvSpPr txBox="1"/>
              <p:nvPr/>
            </p:nvSpPr>
            <p:spPr>
              <a:xfrm>
                <a:off x="1494" y="1065"/>
                <a:ext cx="33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OP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662" name="Text Box 11"/>
              <p:cNvSpPr txBox="1"/>
              <p:nvPr/>
            </p:nvSpPr>
            <p:spPr>
              <a:xfrm>
                <a:off x="1398" y="1294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位移量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663" name="Text Box 12"/>
              <p:cNvSpPr txBox="1"/>
              <p:nvPr/>
            </p:nvSpPr>
            <p:spPr>
              <a:xfrm>
                <a:off x="702" y="1065"/>
                <a:ext cx="60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2000 H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664" name="Text Box 13"/>
              <p:cNvSpPr txBox="1"/>
              <p:nvPr/>
            </p:nvSpPr>
            <p:spPr>
              <a:xfrm>
                <a:off x="702" y="2160"/>
                <a:ext cx="60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2008 H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665" name="Line 14"/>
              <p:cNvSpPr/>
              <p:nvPr/>
            </p:nvSpPr>
            <p:spPr>
              <a:xfrm>
                <a:off x="1830" y="960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10666" name="Line 15"/>
              <p:cNvSpPr/>
              <p:nvPr/>
            </p:nvSpPr>
            <p:spPr>
              <a:xfrm rot="10800000">
                <a:off x="1302" y="960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10667" name="Text Box 16"/>
              <p:cNvSpPr txBox="1"/>
              <p:nvPr/>
            </p:nvSpPr>
            <p:spPr>
              <a:xfrm>
                <a:off x="1580" y="82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10654" name="Line 17"/>
            <p:cNvSpPr/>
            <p:nvPr/>
          </p:nvSpPr>
          <p:spPr>
            <a:xfrm>
              <a:off x="1302" y="1296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55" name="Line 18"/>
            <p:cNvSpPr/>
            <p:nvPr/>
          </p:nvSpPr>
          <p:spPr>
            <a:xfrm>
              <a:off x="1302" y="1536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0628" name="AutoShape 19"/>
          <p:cNvSpPr/>
          <p:nvPr/>
        </p:nvSpPr>
        <p:spPr>
          <a:xfrm>
            <a:off x="4810125" y="1676400"/>
            <a:ext cx="228600" cy="762000"/>
          </a:xfrm>
          <a:prstGeom prst="rightBrace">
            <a:avLst>
              <a:gd name="adj1" fmla="val 27515"/>
              <a:gd name="adj2" fmla="val 50000"/>
            </a:avLst>
          </a:prstGeom>
          <a:noFill/>
          <a:ln w="2857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0629" name="Text Box 20"/>
          <p:cNvSpPr txBox="1"/>
          <p:nvPr/>
        </p:nvSpPr>
        <p:spPr>
          <a:xfrm>
            <a:off x="5029200" y="1701800"/>
            <a:ext cx="1490980" cy="63119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JMP </a:t>
            </a:r>
            <a:r>
              <a:rPr lang="en-US" altLang="zh-CN" sz="5400" b="1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+ 8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0630" name="Group 21"/>
          <p:cNvGrpSpPr/>
          <p:nvPr/>
        </p:nvGrpSpPr>
        <p:grpSpPr>
          <a:xfrm>
            <a:off x="6896100" y="1309688"/>
            <a:ext cx="2171700" cy="2805112"/>
            <a:chOff x="3384" y="825"/>
            <a:chExt cx="1368" cy="1767"/>
          </a:xfrm>
        </p:grpSpPr>
        <p:sp>
          <p:nvSpPr>
            <p:cNvPr id="410639" name="Line 22"/>
            <p:cNvSpPr/>
            <p:nvPr/>
          </p:nvSpPr>
          <p:spPr>
            <a:xfrm>
              <a:off x="3984" y="864"/>
              <a:ext cx="0" cy="17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40" name="Line 23"/>
            <p:cNvSpPr/>
            <p:nvPr/>
          </p:nvSpPr>
          <p:spPr>
            <a:xfrm>
              <a:off x="4752" y="864"/>
              <a:ext cx="0" cy="17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41" name="Line 24"/>
            <p:cNvSpPr/>
            <p:nvPr/>
          </p:nvSpPr>
          <p:spPr>
            <a:xfrm>
              <a:off x="3984" y="1296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42" name="Line 25"/>
            <p:cNvSpPr/>
            <p:nvPr/>
          </p:nvSpPr>
          <p:spPr>
            <a:xfrm>
              <a:off x="3984" y="1056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43" name="Line 26"/>
            <p:cNvSpPr/>
            <p:nvPr/>
          </p:nvSpPr>
          <p:spPr>
            <a:xfrm>
              <a:off x="3984" y="1536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44" name="Line 27"/>
            <p:cNvSpPr/>
            <p:nvPr/>
          </p:nvSpPr>
          <p:spPr>
            <a:xfrm>
              <a:off x="3984" y="2160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45" name="Line 28"/>
            <p:cNvSpPr/>
            <p:nvPr/>
          </p:nvSpPr>
          <p:spPr>
            <a:xfrm>
              <a:off x="3984" y="2400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646" name="Text Box 29"/>
            <p:cNvSpPr txBox="1"/>
            <p:nvPr/>
          </p:nvSpPr>
          <p:spPr>
            <a:xfrm>
              <a:off x="4176" y="1065"/>
              <a:ext cx="33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647" name="Text Box 30"/>
            <p:cNvSpPr txBox="1"/>
            <p:nvPr/>
          </p:nvSpPr>
          <p:spPr>
            <a:xfrm>
              <a:off x="4168" y="1305"/>
              <a:ext cx="44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06 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648" name="Text Box 31"/>
            <p:cNvSpPr txBox="1"/>
            <p:nvPr/>
          </p:nvSpPr>
          <p:spPr>
            <a:xfrm>
              <a:off x="3384" y="1065"/>
              <a:ext cx="60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2000 H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649" name="Text Box 32"/>
            <p:cNvSpPr txBox="1"/>
            <p:nvPr/>
          </p:nvSpPr>
          <p:spPr>
            <a:xfrm>
              <a:off x="3384" y="2160"/>
              <a:ext cx="60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2008 H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650" name="Line 33"/>
            <p:cNvSpPr/>
            <p:nvPr/>
          </p:nvSpPr>
          <p:spPr>
            <a:xfrm>
              <a:off x="4512" y="96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0651" name="Line 34"/>
            <p:cNvSpPr/>
            <p:nvPr/>
          </p:nvSpPr>
          <p:spPr>
            <a:xfrm rot="10800000">
              <a:off x="3984" y="96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0652" name="Text Box 35"/>
            <p:cNvSpPr txBox="1"/>
            <p:nvPr/>
          </p:nvSpPr>
          <p:spPr>
            <a:xfrm>
              <a:off x="4262" y="82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0631" name="Text Box 36"/>
          <p:cNvSpPr txBox="1"/>
          <p:nvPr/>
        </p:nvSpPr>
        <p:spPr>
          <a:xfrm>
            <a:off x="2362200" y="4572000"/>
            <a:ext cx="480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设  当前指令地址   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PC = 2000H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632" name="Text Box 37"/>
          <p:cNvSpPr txBox="1"/>
          <p:nvPr/>
        </p:nvSpPr>
        <p:spPr>
          <a:xfrm>
            <a:off x="2819400" y="5105400"/>
            <a:ext cx="42672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转移后的目的地址为  </a:t>
            </a:r>
            <a:r>
              <a:rPr lang="zh-CN" altLang="en-US" sz="12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2008H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633" name="Text Box 38"/>
          <p:cNvSpPr txBox="1"/>
          <p:nvPr/>
        </p:nvSpPr>
        <p:spPr>
          <a:xfrm>
            <a:off x="2819400" y="5454650"/>
            <a:ext cx="6705600" cy="63119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因为  取出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JMP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5400" b="1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+ 8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后 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PC = 2002H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634" name="Text Box 39"/>
          <p:cNvSpPr txBox="1"/>
          <p:nvPr/>
        </p:nvSpPr>
        <p:spPr>
          <a:xfrm>
            <a:off x="5029200" y="2362200"/>
            <a:ext cx="1600200" cy="39878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二字节指令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635" name="Text Box 40"/>
          <p:cNvSpPr txBox="1"/>
          <p:nvPr/>
        </p:nvSpPr>
        <p:spPr>
          <a:xfrm>
            <a:off x="2819400" y="5911850"/>
            <a:ext cx="7848600" cy="63119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故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JMP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5400" b="1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+ 8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 的第二字节为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2008H - 2002H = 06H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225" name="Rectangle 4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637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063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650" name="Text Box 2"/>
          <p:cNvSpPr txBox="1"/>
          <p:nvPr/>
        </p:nvSpPr>
        <p:spPr>
          <a:xfrm>
            <a:off x="2041525" y="152400"/>
            <a:ext cx="354965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10. </a:t>
            </a:r>
            <a:r>
              <a:rPr lang="zh-CN" altLang="en-US" sz="3600" b="1" dirty="0">
                <a:latin typeface="Times New Roman" panose="02020603050405020304" pitchFamily="18" charset="0"/>
              </a:rPr>
              <a:t>堆栈寻址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1651" name="Text Box 3"/>
          <p:cNvSpPr txBox="1"/>
          <p:nvPr/>
        </p:nvSpPr>
        <p:spPr>
          <a:xfrm>
            <a:off x="2498725" y="838200"/>
            <a:ext cx="3978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堆栈的特点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1652" name="Text Box 4"/>
          <p:cNvSpPr txBox="1"/>
          <p:nvPr/>
        </p:nvSpPr>
        <p:spPr>
          <a:xfrm>
            <a:off x="2987675" y="163195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堆栈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11653" name="Group 5"/>
          <p:cNvGrpSpPr/>
          <p:nvPr/>
        </p:nvGrpSpPr>
        <p:grpSpPr>
          <a:xfrm>
            <a:off x="4098925" y="1371600"/>
            <a:ext cx="1096963" cy="1025525"/>
            <a:chOff x="1622" y="864"/>
            <a:chExt cx="691" cy="646"/>
          </a:xfrm>
        </p:grpSpPr>
        <p:sp>
          <p:nvSpPr>
            <p:cNvPr id="411722" name="Text Box 6"/>
            <p:cNvSpPr txBox="1"/>
            <p:nvPr/>
          </p:nvSpPr>
          <p:spPr>
            <a:xfrm>
              <a:off x="1622" y="864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硬堆栈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723" name="Text Box 7"/>
            <p:cNvSpPr txBox="1"/>
            <p:nvPr/>
          </p:nvSpPr>
          <p:spPr>
            <a:xfrm>
              <a:off x="1622" y="1220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软堆栈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654" name="Text Box 8"/>
          <p:cNvSpPr txBox="1"/>
          <p:nvPr/>
        </p:nvSpPr>
        <p:spPr>
          <a:xfrm>
            <a:off x="5775325" y="1371600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多个寄存器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1655" name="Text Box 9"/>
          <p:cNvSpPr txBox="1"/>
          <p:nvPr/>
        </p:nvSpPr>
        <p:spPr>
          <a:xfrm>
            <a:off x="5775325" y="193675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指定的存储空间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1656" name="Text Box 10"/>
          <p:cNvSpPr txBox="1"/>
          <p:nvPr/>
        </p:nvSpPr>
        <p:spPr>
          <a:xfrm>
            <a:off x="2987675" y="2514600"/>
            <a:ext cx="3535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先进后出</a:t>
            </a:r>
            <a:r>
              <a:rPr lang="zh-CN" altLang="en-US" sz="2400" b="1" dirty="0">
                <a:latin typeface="Times New Roman" panose="02020603050405020304" pitchFamily="18" charset="0"/>
              </a:rPr>
              <a:t>（一个入出口）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1657" name="Text Box 11"/>
          <p:cNvSpPr txBox="1"/>
          <p:nvPr/>
        </p:nvSpPr>
        <p:spPr>
          <a:xfrm>
            <a:off x="6553200" y="2514600"/>
            <a:ext cx="3276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栈顶地址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由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1658" name="Text Box 12"/>
          <p:cNvSpPr txBox="1"/>
          <p:nvPr/>
        </p:nvSpPr>
        <p:spPr>
          <a:xfrm>
            <a:off x="5342573" y="3870325"/>
            <a:ext cx="500380" cy="39878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 algn="ctr"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– 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1659" name="Text Box 13"/>
          <p:cNvSpPr txBox="1"/>
          <p:nvPr/>
        </p:nvSpPr>
        <p:spPr>
          <a:xfrm>
            <a:off x="2492375" y="4845050"/>
            <a:ext cx="972185" cy="39878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1FFFH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1660" name="Text Box 14"/>
          <p:cNvSpPr txBox="1"/>
          <p:nvPr/>
        </p:nvSpPr>
        <p:spPr>
          <a:xfrm>
            <a:off x="9015889" y="3870325"/>
            <a:ext cx="518160" cy="39878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 algn="ctr"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 +1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1661" name="Text Box 15"/>
          <p:cNvSpPr txBox="1"/>
          <p:nvPr/>
        </p:nvSpPr>
        <p:spPr>
          <a:xfrm>
            <a:off x="6226175" y="5149850"/>
            <a:ext cx="951865" cy="39878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2000 H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1662" name="AutoShape 16"/>
          <p:cNvSpPr/>
          <p:nvPr/>
        </p:nvSpPr>
        <p:spPr>
          <a:xfrm>
            <a:off x="3886200" y="1511300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1663" name="AutoShape 17"/>
          <p:cNvSpPr/>
          <p:nvPr/>
        </p:nvSpPr>
        <p:spPr>
          <a:xfrm rot="-1305426">
            <a:off x="4953000" y="3795713"/>
            <a:ext cx="381000" cy="381000"/>
          </a:xfrm>
          <a:prstGeom prst="curvedLeftArrow">
            <a:avLst>
              <a:gd name="adj1" fmla="val 20000"/>
              <a:gd name="adj2" fmla="val 40000"/>
              <a:gd name="adj3" fmla="val 33254"/>
            </a:avLst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1664" name="AutoShape 18"/>
          <p:cNvSpPr/>
          <p:nvPr/>
        </p:nvSpPr>
        <p:spPr>
          <a:xfrm rot="-1305426">
            <a:off x="8686800" y="3795713"/>
            <a:ext cx="381000" cy="381000"/>
          </a:xfrm>
          <a:prstGeom prst="curvedLeftArrow">
            <a:avLst>
              <a:gd name="adj1" fmla="val 20000"/>
              <a:gd name="adj2" fmla="val 40000"/>
              <a:gd name="adj3" fmla="val 33254"/>
            </a:avLst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11665" name="Group 19"/>
          <p:cNvGrpSpPr/>
          <p:nvPr/>
        </p:nvGrpSpPr>
        <p:grpSpPr>
          <a:xfrm>
            <a:off x="2987675" y="3124200"/>
            <a:ext cx="3255963" cy="460375"/>
            <a:chOff x="922" y="1968"/>
            <a:chExt cx="2051" cy="290"/>
          </a:xfrm>
        </p:grpSpPr>
        <p:sp>
          <p:nvSpPr>
            <p:cNvPr id="411720" name="Text Box 20"/>
            <p:cNvSpPr txBox="1"/>
            <p:nvPr/>
          </p:nvSpPr>
          <p:spPr>
            <a:xfrm>
              <a:off x="922" y="1968"/>
              <a:ext cx="2051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进栈  （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SP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）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–  1       SP</a:t>
              </a:r>
              <a:endPara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1721" name="Line 21"/>
            <p:cNvSpPr/>
            <p:nvPr/>
          </p:nvSpPr>
          <p:spPr>
            <a:xfrm>
              <a:off x="2400" y="2112"/>
              <a:ext cx="24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11666" name="Group 22"/>
          <p:cNvGrpSpPr/>
          <p:nvPr/>
        </p:nvGrpSpPr>
        <p:grpSpPr>
          <a:xfrm>
            <a:off x="6553200" y="3124200"/>
            <a:ext cx="3354388" cy="460375"/>
            <a:chOff x="3168" y="1968"/>
            <a:chExt cx="2113" cy="290"/>
          </a:xfrm>
        </p:grpSpPr>
        <p:sp>
          <p:nvSpPr>
            <p:cNvPr id="411718" name="Text Box 23"/>
            <p:cNvSpPr txBox="1"/>
            <p:nvPr/>
          </p:nvSpPr>
          <p:spPr>
            <a:xfrm>
              <a:off x="3168" y="1968"/>
              <a:ext cx="2113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出栈  （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SP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）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+  1        SP</a:t>
              </a:r>
              <a:endPara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1719" name="Line 24"/>
            <p:cNvSpPr/>
            <p:nvPr/>
          </p:nvSpPr>
          <p:spPr>
            <a:xfrm>
              <a:off x="4704" y="2112"/>
              <a:ext cx="24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11667" name="Group 25"/>
          <p:cNvGrpSpPr/>
          <p:nvPr/>
        </p:nvGrpSpPr>
        <p:grpSpPr>
          <a:xfrm>
            <a:off x="2492375" y="3946525"/>
            <a:ext cx="3128963" cy="2532063"/>
            <a:chOff x="610" y="2486"/>
            <a:chExt cx="1971" cy="1595"/>
          </a:xfrm>
        </p:grpSpPr>
        <p:sp>
          <p:nvSpPr>
            <p:cNvPr id="411706" name="Text Box 26"/>
            <p:cNvSpPr txBox="1"/>
            <p:nvPr/>
          </p:nvSpPr>
          <p:spPr>
            <a:xfrm>
              <a:off x="2146" y="3244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栈顶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707" name="Text Box 27"/>
            <p:cNvSpPr txBox="1"/>
            <p:nvPr/>
          </p:nvSpPr>
          <p:spPr>
            <a:xfrm>
              <a:off x="2146" y="3830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栈底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11708" name="Group 28"/>
            <p:cNvGrpSpPr/>
            <p:nvPr/>
          </p:nvGrpSpPr>
          <p:grpSpPr>
            <a:xfrm>
              <a:off x="610" y="2486"/>
              <a:ext cx="1536" cy="1536"/>
              <a:chOff x="610" y="2486"/>
              <a:chExt cx="1536" cy="1536"/>
            </a:xfrm>
          </p:grpSpPr>
          <p:sp>
            <p:nvSpPr>
              <p:cNvPr id="411709" name="Rectangle 29"/>
              <p:cNvSpPr/>
              <p:nvPr/>
            </p:nvSpPr>
            <p:spPr>
              <a:xfrm>
                <a:off x="1186" y="2497"/>
                <a:ext cx="960" cy="1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2000 H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10" name="Rectangle 30"/>
              <p:cNvSpPr/>
              <p:nvPr/>
            </p:nvSpPr>
            <p:spPr>
              <a:xfrm>
                <a:off x="1186" y="3274"/>
                <a:ext cx="960" cy="172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711" name="Rectangle 31"/>
              <p:cNvSpPr/>
              <p:nvPr/>
            </p:nvSpPr>
            <p:spPr>
              <a:xfrm>
                <a:off x="1186" y="3850"/>
                <a:ext cx="960" cy="1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712" name="Freeform 32"/>
              <p:cNvSpPr/>
              <p:nvPr/>
            </p:nvSpPr>
            <p:spPr>
              <a:xfrm>
                <a:off x="1187" y="2860"/>
                <a:ext cx="1" cy="1156"/>
              </a:xfrm>
              <a:custGeom>
                <a:avLst/>
                <a:gdLst>
                  <a:gd name="txL" fmla="*/ 0 w 1"/>
                  <a:gd name="txT" fmla="*/ 0 h 1156"/>
                  <a:gd name="txR" fmla="*/ 1 w 1"/>
                  <a:gd name="txB" fmla="*/ 1156 h 1156"/>
                </a:gdLst>
                <a:ahLst/>
                <a:cxnLst>
                  <a:cxn ang="0">
                    <a:pos x="1" y="0"/>
                  </a:cxn>
                  <a:cxn ang="0">
                    <a:pos x="0" y="1156"/>
                  </a:cxn>
                </a:cxnLst>
                <a:rect l="txL" t="txT" r="txR" b="tx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713" name="Text Box 33"/>
              <p:cNvSpPr txBox="1"/>
              <p:nvPr/>
            </p:nvSpPr>
            <p:spPr>
              <a:xfrm>
                <a:off x="651" y="2486"/>
                <a:ext cx="302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SP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14" name="Text Box 34"/>
              <p:cNvSpPr txBox="1"/>
              <p:nvPr/>
            </p:nvSpPr>
            <p:spPr>
              <a:xfrm>
                <a:off x="610" y="3244"/>
                <a:ext cx="600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2000 H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15" name="Text Box 35"/>
              <p:cNvSpPr txBox="1"/>
              <p:nvPr/>
            </p:nvSpPr>
            <p:spPr>
              <a:xfrm>
                <a:off x="1513" y="3532"/>
                <a:ext cx="348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16" name="Freeform 36"/>
              <p:cNvSpPr/>
              <p:nvPr/>
            </p:nvSpPr>
            <p:spPr>
              <a:xfrm>
                <a:off x="2144" y="2860"/>
                <a:ext cx="1" cy="1156"/>
              </a:xfrm>
              <a:custGeom>
                <a:avLst/>
                <a:gdLst>
                  <a:gd name="txL" fmla="*/ 0 w 1"/>
                  <a:gd name="txT" fmla="*/ 0 h 1156"/>
                  <a:gd name="txR" fmla="*/ 1 w 1"/>
                  <a:gd name="txB" fmla="*/ 1156 h 1156"/>
                </a:gdLst>
                <a:ahLst/>
                <a:cxnLst>
                  <a:cxn ang="0">
                    <a:pos x="1" y="0"/>
                  </a:cxn>
                  <a:cxn ang="0">
                    <a:pos x="0" y="1156"/>
                  </a:cxn>
                </a:cxnLst>
                <a:rect l="txL" t="txT" r="txR" b="tx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717" name="Freeform 37"/>
              <p:cNvSpPr/>
              <p:nvPr/>
            </p:nvSpPr>
            <p:spPr>
              <a:xfrm>
                <a:off x="1200" y="3099"/>
                <a:ext cx="942" cy="1"/>
              </a:xfrm>
              <a:custGeom>
                <a:avLst/>
                <a:gdLst>
                  <a:gd name="txL" fmla="*/ 0 w 942"/>
                  <a:gd name="txT" fmla="*/ 0 h 1"/>
                  <a:gd name="txR" fmla="*/ 942 w 94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942" y="0"/>
                  </a:cxn>
                </a:cxnLst>
                <a:rect l="txL" t="txT" r="txR" b="txB"/>
                <a:pathLst>
                  <a:path w="942" h="1">
                    <a:moveTo>
                      <a:pt x="0" y="0"/>
                    </a:moveTo>
                    <a:lnTo>
                      <a:pt x="942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411668" name="Group 38"/>
          <p:cNvGrpSpPr/>
          <p:nvPr/>
        </p:nvGrpSpPr>
        <p:grpSpPr>
          <a:xfrm>
            <a:off x="6226175" y="3946525"/>
            <a:ext cx="3128963" cy="2532063"/>
            <a:chOff x="2962" y="2486"/>
            <a:chExt cx="1971" cy="1595"/>
          </a:xfrm>
        </p:grpSpPr>
        <p:sp>
          <p:nvSpPr>
            <p:cNvPr id="411694" name="Text Box 39"/>
            <p:cNvSpPr txBox="1"/>
            <p:nvPr/>
          </p:nvSpPr>
          <p:spPr>
            <a:xfrm>
              <a:off x="3882" y="3532"/>
              <a:ext cx="348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11695" name="Group 40"/>
            <p:cNvGrpSpPr/>
            <p:nvPr/>
          </p:nvGrpSpPr>
          <p:grpSpPr>
            <a:xfrm>
              <a:off x="2962" y="2486"/>
              <a:ext cx="1971" cy="1595"/>
              <a:chOff x="2962" y="2486"/>
              <a:chExt cx="1971" cy="1595"/>
            </a:xfrm>
          </p:grpSpPr>
          <p:sp>
            <p:nvSpPr>
              <p:cNvPr id="411696" name="Rectangle 41"/>
              <p:cNvSpPr/>
              <p:nvPr/>
            </p:nvSpPr>
            <p:spPr>
              <a:xfrm>
                <a:off x="3538" y="2497"/>
                <a:ext cx="960" cy="1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1FFF H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697" name="Rectangle 42"/>
              <p:cNvSpPr/>
              <p:nvPr/>
            </p:nvSpPr>
            <p:spPr>
              <a:xfrm>
                <a:off x="3538" y="3100"/>
                <a:ext cx="960" cy="172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698" name="Rectangle 43"/>
              <p:cNvSpPr/>
              <p:nvPr/>
            </p:nvSpPr>
            <p:spPr>
              <a:xfrm>
                <a:off x="3538" y="3850"/>
                <a:ext cx="960" cy="1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699" name="Text Box 44"/>
              <p:cNvSpPr txBox="1"/>
              <p:nvPr/>
            </p:nvSpPr>
            <p:spPr>
              <a:xfrm>
                <a:off x="3003" y="2486"/>
                <a:ext cx="302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SP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00" name="Text Box 45"/>
              <p:cNvSpPr txBox="1"/>
              <p:nvPr/>
            </p:nvSpPr>
            <p:spPr>
              <a:xfrm>
                <a:off x="2962" y="3052"/>
                <a:ext cx="612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1FFFH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01" name="Text Box 46"/>
              <p:cNvSpPr txBox="1"/>
              <p:nvPr/>
            </p:nvSpPr>
            <p:spPr>
              <a:xfrm>
                <a:off x="4498" y="3072"/>
                <a:ext cx="43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栈顶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02" name="Text Box 47"/>
              <p:cNvSpPr txBox="1"/>
              <p:nvPr/>
            </p:nvSpPr>
            <p:spPr>
              <a:xfrm>
                <a:off x="4498" y="3830"/>
                <a:ext cx="43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栈底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03" name="Freeform 48"/>
              <p:cNvSpPr/>
              <p:nvPr/>
            </p:nvSpPr>
            <p:spPr>
              <a:xfrm>
                <a:off x="3536" y="2860"/>
                <a:ext cx="1" cy="1156"/>
              </a:xfrm>
              <a:custGeom>
                <a:avLst/>
                <a:gdLst>
                  <a:gd name="txL" fmla="*/ 0 w 1"/>
                  <a:gd name="txT" fmla="*/ 0 h 1156"/>
                  <a:gd name="txR" fmla="*/ 1 w 1"/>
                  <a:gd name="txB" fmla="*/ 1156 h 1156"/>
                </a:gdLst>
                <a:ahLst/>
                <a:cxnLst>
                  <a:cxn ang="0">
                    <a:pos x="1" y="0"/>
                  </a:cxn>
                  <a:cxn ang="0">
                    <a:pos x="0" y="1156"/>
                  </a:cxn>
                </a:cxnLst>
                <a:rect l="txL" t="txT" r="txR" b="tx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704" name="Freeform 49"/>
              <p:cNvSpPr/>
              <p:nvPr/>
            </p:nvSpPr>
            <p:spPr>
              <a:xfrm>
                <a:off x="4502" y="2860"/>
                <a:ext cx="1" cy="1156"/>
              </a:xfrm>
              <a:custGeom>
                <a:avLst/>
                <a:gdLst>
                  <a:gd name="txL" fmla="*/ 0 w 1"/>
                  <a:gd name="txT" fmla="*/ 0 h 1156"/>
                  <a:gd name="txR" fmla="*/ 1 w 1"/>
                  <a:gd name="txB" fmla="*/ 1156 h 1156"/>
                </a:gdLst>
                <a:ahLst/>
                <a:cxnLst>
                  <a:cxn ang="0">
                    <a:pos x="1" y="0"/>
                  </a:cxn>
                  <a:cxn ang="0">
                    <a:pos x="0" y="1156"/>
                  </a:cxn>
                </a:cxnLst>
                <a:rect l="txL" t="txT" r="txR" b="tx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705" name="Freeform 50"/>
              <p:cNvSpPr/>
              <p:nvPr/>
            </p:nvSpPr>
            <p:spPr>
              <a:xfrm>
                <a:off x="3552" y="3483"/>
                <a:ext cx="942" cy="1"/>
              </a:xfrm>
              <a:custGeom>
                <a:avLst/>
                <a:gdLst>
                  <a:gd name="txL" fmla="*/ 0 w 942"/>
                  <a:gd name="txT" fmla="*/ 0 h 1"/>
                  <a:gd name="txR" fmla="*/ 942 w 94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942" y="0"/>
                  </a:cxn>
                </a:cxnLst>
                <a:rect l="txL" t="txT" r="txR" b="txB"/>
                <a:pathLst>
                  <a:path w="942" h="1">
                    <a:moveTo>
                      <a:pt x="0" y="0"/>
                    </a:moveTo>
                    <a:lnTo>
                      <a:pt x="942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411669" name="Group 51"/>
          <p:cNvGrpSpPr/>
          <p:nvPr/>
        </p:nvGrpSpPr>
        <p:grpSpPr>
          <a:xfrm>
            <a:off x="4038600" y="4387850"/>
            <a:ext cx="1143000" cy="398463"/>
            <a:chOff x="1584" y="2764"/>
            <a:chExt cx="720" cy="251"/>
          </a:xfrm>
        </p:grpSpPr>
        <p:sp>
          <p:nvSpPr>
            <p:cNvPr id="411692" name="AutoShape 52"/>
            <p:cNvSpPr/>
            <p:nvPr/>
          </p:nvSpPr>
          <p:spPr>
            <a:xfrm>
              <a:off x="1584" y="2812"/>
              <a:ext cx="144" cy="192"/>
            </a:xfrm>
            <a:prstGeom prst="downArrow">
              <a:avLst>
                <a:gd name="adj1" fmla="val 50000"/>
                <a:gd name="adj2" fmla="val 33228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1693" name="Text Box 53"/>
            <p:cNvSpPr txBox="1"/>
            <p:nvPr/>
          </p:nvSpPr>
          <p:spPr>
            <a:xfrm>
              <a:off x="1776" y="2764"/>
              <a:ext cx="528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进栈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1670" name="Group 54"/>
          <p:cNvGrpSpPr/>
          <p:nvPr/>
        </p:nvGrpSpPr>
        <p:grpSpPr>
          <a:xfrm>
            <a:off x="7772400" y="4387850"/>
            <a:ext cx="1143000" cy="398463"/>
            <a:chOff x="3936" y="2764"/>
            <a:chExt cx="720" cy="251"/>
          </a:xfrm>
        </p:grpSpPr>
        <p:sp>
          <p:nvSpPr>
            <p:cNvPr id="411690" name="AutoShape 55"/>
            <p:cNvSpPr/>
            <p:nvPr/>
          </p:nvSpPr>
          <p:spPr>
            <a:xfrm rot="10800000">
              <a:off x="3936" y="2812"/>
              <a:ext cx="144" cy="192"/>
            </a:xfrm>
            <a:prstGeom prst="downArrow">
              <a:avLst>
                <a:gd name="adj1" fmla="val 50000"/>
                <a:gd name="adj2" fmla="val 33228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1691" name="Text Box 56"/>
            <p:cNvSpPr txBox="1"/>
            <p:nvPr/>
          </p:nvSpPr>
          <p:spPr>
            <a:xfrm>
              <a:off x="4128" y="2764"/>
              <a:ext cx="528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出栈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671" name="Text Box 57"/>
          <p:cNvSpPr txBox="1"/>
          <p:nvPr/>
        </p:nvSpPr>
        <p:spPr>
          <a:xfrm>
            <a:off x="3413125" y="3962400"/>
            <a:ext cx="1524000" cy="307340"/>
          </a:xfrm>
          <a:prstGeom prst="rect">
            <a:avLst/>
          </a:prstGeom>
          <a:solidFill>
            <a:srgbClr val="0032D4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     1FFF H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411672" name="Group 58"/>
          <p:cNvGrpSpPr/>
          <p:nvPr/>
        </p:nvGrpSpPr>
        <p:grpSpPr>
          <a:xfrm>
            <a:off x="3405188" y="4849813"/>
            <a:ext cx="2309812" cy="398463"/>
            <a:chOff x="1185" y="3055"/>
            <a:chExt cx="1455" cy="251"/>
          </a:xfrm>
        </p:grpSpPr>
        <p:sp>
          <p:nvSpPr>
            <p:cNvPr id="411688" name="Rectangle 59"/>
            <p:cNvSpPr/>
            <p:nvPr/>
          </p:nvSpPr>
          <p:spPr>
            <a:xfrm>
              <a:off x="1185" y="3092"/>
              <a:ext cx="960" cy="172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1689" name="Text Box 60"/>
            <p:cNvSpPr txBox="1"/>
            <p:nvPr/>
          </p:nvSpPr>
          <p:spPr>
            <a:xfrm>
              <a:off x="2160" y="3055"/>
              <a:ext cx="480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栈顶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1673" name="Group 61"/>
          <p:cNvGrpSpPr/>
          <p:nvPr/>
        </p:nvGrpSpPr>
        <p:grpSpPr>
          <a:xfrm>
            <a:off x="3405188" y="5181600"/>
            <a:ext cx="2233612" cy="522288"/>
            <a:chOff x="1185" y="3264"/>
            <a:chExt cx="1407" cy="329"/>
          </a:xfrm>
        </p:grpSpPr>
        <p:sp>
          <p:nvSpPr>
            <p:cNvPr id="411686" name="Text Box 62"/>
            <p:cNvSpPr txBox="1"/>
            <p:nvPr/>
          </p:nvSpPr>
          <p:spPr>
            <a:xfrm>
              <a:off x="1185" y="3264"/>
              <a:ext cx="960" cy="192"/>
            </a:xfrm>
            <a:prstGeom prst="rect">
              <a:avLst/>
            </a:prstGeom>
            <a:solidFill>
              <a:srgbClr val="00008C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687" name="Text Box 63"/>
            <p:cNvSpPr txBox="1"/>
            <p:nvPr/>
          </p:nvSpPr>
          <p:spPr>
            <a:xfrm>
              <a:off x="2208" y="3264"/>
              <a:ext cx="384" cy="329"/>
            </a:xfrm>
            <a:prstGeom prst="rect">
              <a:avLst/>
            </a:prstGeom>
            <a:solidFill>
              <a:srgbClr val="00008C"/>
            </a:solidFill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674" name="Text Box 64"/>
          <p:cNvSpPr txBox="1"/>
          <p:nvPr/>
        </p:nvSpPr>
        <p:spPr>
          <a:xfrm>
            <a:off x="7140575" y="3962400"/>
            <a:ext cx="1524000" cy="307340"/>
          </a:xfrm>
          <a:prstGeom prst="rect">
            <a:avLst/>
          </a:prstGeom>
          <a:solidFill>
            <a:srgbClr val="000070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      2000 H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411675" name="Group 65"/>
          <p:cNvGrpSpPr/>
          <p:nvPr/>
        </p:nvGrpSpPr>
        <p:grpSpPr>
          <a:xfrm>
            <a:off x="6324600" y="4891088"/>
            <a:ext cx="2971800" cy="522287"/>
            <a:chOff x="3024" y="3081"/>
            <a:chExt cx="1872" cy="329"/>
          </a:xfrm>
        </p:grpSpPr>
        <p:grpSp>
          <p:nvGrpSpPr>
            <p:cNvPr id="411682" name="Group 66"/>
            <p:cNvGrpSpPr/>
            <p:nvPr/>
          </p:nvGrpSpPr>
          <p:grpSpPr>
            <a:xfrm>
              <a:off x="3537" y="3081"/>
              <a:ext cx="1359" cy="329"/>
              <a:chOff x="3537" y="3081"/>
              <a:chExt cx="1359" cy="329"/>
            </a:xfrm>
          </p:grpSpPr>
          <p:sp>
            <p:nvSpPr>
              <p:cNvPr id="411684" name="Text Box 67"/>
              <p:cNvSpPr txBox="1"/>
              <p:nvPr/>
            </p:nvSpPr>
            <p:spPr>
              <a:xfrm>
                <a:off x="3537" y="3089"/>
                <a:ext cx="960" cy="192"/>
              </a:xfrm>
              <a:prstGeom prst="rect">
                <a:avLst/>
              </a:prstGeom>
              <a:solidFill>
                <a:srgbClr val="000070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>
                  <a:spcBef>
                    <a:spcPct val="50000"/>
                  </a:spcBef>
                </a:pPr>
                <a:endParaRPr lang="zh-CN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685" name="Text Box 68"/>
              <p:cNvSpPr txBox="1"/>
              <p:nvPr/>
            </p:nvSpPr>
            <p:spPr>
              <a:xfrm>
                <a:off x="4560" y="3081"/>
                <a:ext cx="336" cy="329"/>
              </a:xfrm>
              <a:prstGeom prst="rect">
                <a:avLst/>
              </a:prstGeom>
              <a:solidFill>
                <a:srgbClr val="000060"/>
              </a:solidFill>
              <a:ln w="2857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11683" name="Text Box 69"/>
            <p:cNvSpPr txBox="1"/>
            <p:nvPr/>
          </p:nvSpPr>
          <p:spPr>
            <a:xfrm>
              <a:off x="3024" y="3089"/>
              <a:ext cx="506" cy="192"/>
            </a:xfrm>
            <a:prstGeom prst="rect">
              <a:avLst/>
            </a:prstGeom>
            <a:solidFill>
              <a:srgbClr val="0000A2"/>
            </a:solidFill>
            <a:ln w="28575">
              <a:noFill/>
            </a:ln>
          </p:spPr>
          <p:txBody>
            <a:bodyPr lIns="0" tIns="0" rIns="0" bIns="0"/>
            <a:p>
              <a:pPr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1676" name="Group 70"/>
          <p:cNvGrpSpPr/>
          <p:nvPr/>
        </p:nvGrpSpPr>
        <p:grpSpPr>
          <a:xfrm>
            <a:off x="7137400" y="5181600"/>
            <a:ext cx="2311400" cy="398463"/>
            <a:chOff x="3536" y="3264"/>
            <a:chExt cx="1456" cy="251"/>
          </a:xfrm>
        </p:grpSpPr>
        <p:sp>
          <p:nvSpPr>
            <p:cNvPr id="411680" name="Rectangle 71"/>
            <p:cNvSpPr/>
            <p:nvPr/>
          </p:nvSpPr>
          <p:spPr>
            <a:xfrm>
              <a:off x="3536" y="3296"/>
              <a:ext cx="960" cy="172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1681" name="Text Box 72"/>
            <p:cNvSpPr txBox="1"/>
            <p:nvPr/>
          </p:nvSpPr>
          <p:spPr>
            <a:xfrm>
              <a:off x="4512" y="3264"/>
              <a:ext cx="480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栈顶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0281" name="Rectangle 7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1678" name="AutoShape 7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167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2674" name="Text Box 2"/>
          <p:cNvSpPr txBox="1"/>
          <p:nvPr/>
        </p:nvSpPr>
        <p:spPr>
          <a:xfrm>
            <a:off x="1965325" y="120650"/>
            <a:ext cx="4130675" cy="64516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堆栈寻址举例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752600" y="838200"/>
            <a:ext cx="4241800" cy="2516188"/>
            <a:chOff x="144" y="528"/>
            <a:chExt cx="2672" cy="1585"/>
          </a:xfrm>
        </p:grpSpPr>
        <p:sp>
          <p:nvSpPr>
            <p:cNvPr id="412725" name="Rectangle 4"/>
            <p:cNvSpPr/>
            <p:nvPr/>
          </p:nvSpPr>
          <p:spPr>
            <a:xfrm>
              <a:off x="560" y="778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26" name="Rectangle 5"/>
            <p:cNvSpPr/>
            <p:nvPr/>
          </p:nvSpPr>
          <p:spPr>
            <a:xfrm>
              <a:off x="560" y="1162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200H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27" name="Text Box 6"/>
            <p:cNvSpPr txBox="1"/>
            <p:nvPr/>
          </p:nvSpPr>
          <p:spPr>
            <a:xfrm>
              <a:off x="144" y="778"/>
              <a:ext cx="46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ACC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28" name="Text Box 7"/>
            <p:cNvSpPr txBox="1"/>
            <p:nvPr/>
          </p:nvSpPr>
          <p:spPr>
            <a:xfrm>
              <a:off x="224" y="1152"/>
              <a:ext cx="30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29" name="Rectangle 8"/>
            <p:cNvSpPr/>
            <p:nvPr/>
          </p:nvSpPr>
          <p:spPr>
            <a:xfrm>
              <a:off x="1952" y="778"/>
              <a:ext cx="864" cy="133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2730" name="Rectangle 9"/>
            <p:cNvSpPr/>
            <p:nvPr/>
          </p:nvSpPr>
          <p:spPr>
            <a:xfrm>
              <a:off x="1952" y="1258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X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31" name="Text Box 10"/>
            <p:cNvSpPr txBox="1"/>
            <p:nvPr/>
          </p:nvSpPr>
          <p:spPr>
            <a:xfrm>
              <a:off x="1520" y="1046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栈顶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32" name="Text Box 11"/>
            <p:cNvSpPr txBox="1"/>
            <p:nvPr/>
          </p:nvSpPr>
          <p:spPr>
            <a:xfrm>
              <a:off x="1488" y="1238"/>
              <a:ext cx="480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200H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33" name="Text Box 12"/>
            <p:cNvSpPr txBox="1"/>
            <p:nvPr/>
          </p:nvSpPr>
          <p:spPr>
            <a:xfrm>
              <a:off x="1520" y="1862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栈底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34" name="Text Box 13"/>
            <p:cNvSpPr txBox="1"/>
            <p:nvPr/>
          </p:nvSpPr>
          <p:spPr>
            <a:xfrm>
              <a:off x="2134" y="528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6197600" y="838200"/>
            <a:ext cx="4241800" cy="2532063"/>
            <a:chOff x="2944" y="528"/>
            <a:chExt cx="2672" cy="1595"/>
          </a:xfrm>
        </p:grpSpPr>
        <p:sp>
          <p:nvSpPr>
            <p:cNvPr id="412712" name="Rectangle 15"/>
            <p:cNvSpPr/>
            <p:nvPr/>
          </p:nvSpPr>
          <p:spPr>
            <a:xfrm>
              <a:off x="3360" y="778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13" name="Rectangle 16"/>
            <p:cNvSpPr/>
            <p:nvPr/>
          </p:nvSpPr>
          <p:spPr>
            <a:xfrm>
              <a:off x="3360" y="1162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14" name="Text Box 17"/>
            <p:cNvSpPr txBox="1"/>
            <p:nvPr/>
          </p:nvSpPr>
          <p:spPr>
            <a:xfrm>
              <a:off x="2944" y="778"/>
              <a:ext cx="46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ACC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15" name="Text Box 18"/>
            <p:cNvSpPr txBox="1"/>
            <p:nvPr/>
          </p:nvSpPr>
          <p:spPr>
            <a:xfrm>
              <a:off x="3024" y="1152"/>
              <a:ext cx="30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16" name="Rectangle 19"/>
            <p:cNvSpPr/>
            <p:nvPr/>
          </p:nvSpPr>
          <p:spPr>
            <a:xfrm>
              <a:off x="4752" y="778"/>
              <a:ext cx="864" cy="133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2717" name="Rectangle 20"/>
            <p:cNvSpPr/>
            <p:nvPr/>
          </p:nvSpPr>
          <p:spPr>
            <a:xfrm>
              <a:off x="4752" y="1066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18" name="Text Box 21"/>
            <p:cNvSpPr txBox="1"/>
            <p:nvPr/>
          </p:nvSpPr>
          <p:spPr>
            <a:xfrm>
              <a:off x="4320" y="854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栈顶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19" name="Text Box 22"/>
            <p:cNvSpPr txBox="1"/>
            <p:nvPr/>
          </p:nvSpPr>
          <p:spPr>
            <a:xfrm>
              <a:off x="4298" y="1286"/>
              <a:ext cx="480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200H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20" name="Text Box 23"/>
            <p:cNvSpPr txBox="1"/>
            <p:nvPr/>
          </p:nvSpPr>
          <p:spPr>
            <a:xfrm>
              <a:off x="4320" y="1872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栈底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21" name="Text Box 24"/>
            <p:cNvSpPr txBox="1"/>
            <p:nvPr/>
          </p:nvSpPr>
          <p:spPr>
            <a:xfrm>
              <a:off x="4752" y="528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22" name="Rectangle 25"/>
            <p:cNvSpPr/>
            <p:nvPr/>
          </p:nvSpPr>
          <p:spPr>
            <a:xfrm>
              <a:off x="4752" y="1306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X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23" name="Text Box 26"/>
            <p:cNvSpPr txBox="1"/>
            <p:nvPr/>
          </p:nvSpPr>
          <p:spPr>
            <a:xfrm>
              <a:off x="4272" y="1046"/>
              <a:ext cx="51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24" name="Freeform 27"/>
            <p:cNvSpPr/>
            <p:nvPr/>
          </p:nvSpPr>
          <p:spPr>
            <a:xfrm>
              <a:off x="3744" y="538"/>
              <a:ext cx="1488" cy="480"/>
            </a:xfrm>
            <a:custGeom>
              <a:avLst/>
              <a:gdLst>
                <a:gd name="txL" fmla="*/ 0 w 1584"/>
                <a:gd name="txT" fmla="*/ 0 h 480"/>
                <a:gd name="txR" fmla="*/ 1584 w 1584"/>
                <a:gd name="txB" fmla="*/ 480 h 480"/>
              </a:gdLst>
              <a:ahLst/>
              <a:cxnLst>
                <a:cxn ang="0">
                  <a:pos x="0" y="240"/>
                </a:cxn>
                <a:cxn ang="0">
                  <a:pos x="0" y="0"/>
                </a:cxn>
                <a:cxn ang="0">
                  <a:pos x="1584" y="0"/>
                </a:cxn>
                <a:cxn ang="0">
                  <a:pos x="1584" y="480"/>
                </a:cxn>
              </a:cxnLst>
              <a:rect l="txL" t="txT" r="txR" b="txB"/>
              <a:pathLst>
                <a:path w="1584" h="480">
                  <a:moveTo>
                    <a:pt x="0" y="240"/>
                  </a:moveTo>
                  <a:lnTo>
                    <a:pt x="0" y="0"/>
                  </a:lnTo>
                  <a:lnTo>
                    <a:pt x="1584" y="0"/>
                  </a:lnTo>
                  <a:lnTo>
                    <a:pt x="1584" y="4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51260" name="Text Box 28"/>
          <p:cNvSpPr txBox="1"/>
          <p:nvPr/>
        </p:nvSpPr>
        <p:spPr>
          <a:xfrm>
            <a:off x="1905000" y="2667000"/>
            <a:ext cx="1715135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zh-CN" sz="2400" b="1" dirty="0">
                <a:latin typeface="Times New Roman" panose="02020603050405020304" pitchFamily="18" charset="0"/>
              </a:rPr>
              <a:t>  A </a:t>
            </a:r>
            <a:r>
              <a:rPr lang="zh-CN" altLang="en-US" sz="2400" b="1" dirty="0">
                <a:latin typeface="Times New Roman" panose="02020603050405020304" pitchFamily="18" charset="0"/>
              </a:rPr>
              <a:t>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1261" name="Text Box 29"/>
          <p:cNvSpPr txBox="1"/>
          <p:nvPr/>
        </p:nvSpPr>
        <p:spPr>
          <a:xfrm>
            <a:off x="6400800" y="2667000"/>
            <a:ext cx="1715135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zh-CN" sz="2400" b="1" dirty="0">
                <a:latin typeface="Times New Roman" panose="02020603050405020304" pitchFamily="18" charset="0"/>
              </a:rPr>
              <a:t>  A </a:t>
            </a:r>
            <a:r>
              <a:rPr lang="zh-CN" altLang="en-US" sz="2400" b="1" dirty="0">
                <a:latin typeface="Times New Roman" panose="02020603050405020304" pitchFamily="18" charset="0"/>
              </a:rPr>
              <a:t>后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1262" name="Text Box 30"/>
          <p:cNvSpPr txBox="1"/>
          <p:nvPr/>
        </p:nvSpPr>
        <p:spPr>
          <a:xfrm>
            <a:off x="1905000" y="5848350"/>
            <a:ext cx="151130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POP</a:t>
            </a:r>
            <a:r>
              <a:rPr lang="en-US" altLang="zh-CN" sz="2400" b="1" dirty="0">
                <a:latin typeface="Times New Roman" panose="02020603050405020304" pitchFamily="18" charset="0"/>
              </a:rPr>
              <a:t>  A </a:t>
            </a:r>
            <a:r>
              <a:rPr lang="zh-CN" altLang="en-US" sz="2400" b="1" dirty="0">
                <a:latin typeface="Times New Roman" panose="02020603050405020304" pitchFamily="18" charset="0"/>
              </a:rPr>
              <a:t>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1263" name="Text Box 31"/>
          <p:cNvSpPr txBox="1"/>
          <p:nvPr/>
        </p:nvSpPr>
        <p:spPr>
          <a:xfrm>
            <a:off x="6376988" y="5848350"/>
            <a:ext cx="151130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POP</a:t>
            </a:r>
            <a:r>
              <a:rPr lang="en-US" altLang="zh-CN" sz="2400" b="1" dirty="0">
                <a:latin typeface="Times New Roman" panose="02020603050405020304" pitchFamily="18" charset="0"/>
              </a:rPr>
              <a:t>  A </a:t>
            </a:r>
            <a:r>
              <a:rPr lang="zh-CN" altLang="en-US" sz="2400" b="1" dirty="0">
                <a:latin typeface="Times New Roman" panose="02020603050405020304" pitchFamily="18" charset="0"/>
              </a:rPr>
              <a:t>后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32"/>
          <p:cNvGrpSpPr/>
          <p:nvPr/>
        </p:nvGrpSpPr>
        <p:grpSpPr>
          <a:xfrm>
            <a:off x="1752600" y="3962400"/>
            <a:ext cx="4241800" cy="2573338"/>
            <a:chOff x="144" y="2496"/>
            <a:chExt cx="2672" cy="1621"/>
          </a:xfrm>
        </p:grpSpPr>
        <p:sp>
          <p:nvSpPr>
            <p:cNvPr id="412700" name="Rectangle 33"/>
            <p:cNvSpPr/>
            <p:nvPr/>
          </p:nvSpPr>
          <p:spPr>
            <a:xfrm>
              <a:off x="560" y="2746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Y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01" name="Rectangle 34"/>
            <p:cNvSpPr/>
            <p:nvPr/>
          </p:nvSpPr>
          <p:spPr>
            <a:xfrm>
              <a:off x="560" y="3130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02" name="Text Box 35"/>
            <p:cNvSpPr txBox="1"/>
            <p:nvPr/>
          </p:nvSpPr>
          <p:spPr>
            <a:xfrm>
              <a:off x="144" y="2746"/>
              <a:ext cx="46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ACC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03" name="Text Box 36"/>
            <p:cNvSpPr txBox="1"/>
            <p:nvPr/>
          </p:nvSpPr>
          <p:spPr>
            <a:xfrm>
              <a:off x="224" y="3120"/>
              <a:ext cx="30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04" name="Rectangle 37"/>
            <p:cNvSpPr/>
            <p:nvPr/>
          </p:nvSpPr>
          <p:spPr>
            <a:xfrm>
              <a:off x="1952" y="2746"/>
              <a:ext cx="864" cy="137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2705" name="Rectangle 38"/>
            <p:cNvSpPr/>
            <p:nvPr/>
          </p:nvSpPr>
          <p:spPr>
            <a:xfrm>
              <a:off x="1952" y="3226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X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06" name="Text Box 39"/>
            <p:cNvSpPr txBox="1"/>
            <p:nvPr/>
          </p:nvSpPr>
          <p:spPr>
            <a:xfrm>
              <a:off x="1520" y="2784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栈顶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07" name="Text Box 40"/>
            <p:cNvSpPr txBox="1"/>
            <p:nvPr/>
          </p:nvSpPr>
          <p:spPr>
            <a:xfrm>
              <a:off x="1507" y="3229"/>
              <a:ext cx="480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200H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08" name="Text Box 41"/>
            <p:cNvSpPr txBox="1"/>
            <p:nvPr/>
          </p:nvSpPr>
          <p:spPr>
            <a:xfrm>
              <a:off x="1520" y="3866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栈底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09" name="Text Box 42"/>
            <p:cNvSpPr txBox="1"/>
            <p:nvPr/>
          </p:nvSpPr>
          <p:spPr>
            <a:xfrm>
              <a:off x="2134" y="2496"/>
              <a:ext cx="43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10" name="Rectangle 43"/>
            <p:cNvSpPr/>
            <p:nvPr/>
          </p:nvSpPr>
          <p:spPr>
            <a:xfrm>
              <a:off x="1951" y="2986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711" name="Text Box 44"/>
            <p:cNvSpPr txBox="1"/>
            <p:nvPr/>
          </p:nvSpPr>
          <p:spPr>
            <a:xfrm>
              <a:off x="1473" y="2976"/>
              <a:ext cx="51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6197600" y="3933825"/>
            <a:ext cx="4241800" cy="2573338"/>
            <a:chOff x="2944" y="2496"/>
            <a:chExt cx="2672" cy="1621"/>
          </a:xfrm>
        </p:grpSpPr>
        <p:grpSp>
          <p:nvGrpSpPr>
            <p:cNvPr id="412686" name="Group 46"/>
            <p:cNvGrpSpPr/>
            <p:nvPr/>
          </p:nvGrpSpPr>
          <p:grpSpPr>
            <a:xfrm>
              <a:off x="2944" y="2496"/>
              <a:ext cx="2672" cy="1621"/>
              <a:chOff x="2944" y="2496"/>
              <a:chExt cx="2672" cy="1621"/>
            </a:xfrm>
          </p:grpSpPr>
          <p:sp>
            <p:nvSpPr>
              <p:cNvPr id="412689" name="Rectangle 47"/>
              <p:cNvSpPr/>
              <p:nvPr/>
            </p:nvSpPr>
            <p:spPr>
              <a:xfrm>
                <a:off x="3360" y="2746"/>
                <a:ext cx="86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0" name="Rectangle 48"/>
              <p:cNvSpPr/>
              <p:nvPr/>
            </p:nvSpPr>
            <p:spPr>
              <a:xfrm>
                <a:off x="3360" y="3130"/>
                <a:ext cx="86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200H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1" name="Text Box 49"/>
              <p:cNvSpPr txBox="1"/>
              <p:nvPr/>
            </p:nvSpPr>
            <p:spPr>
              <a:xfrm>
                <a:off x="2944" y="2746"/>
                <a:ext cx="462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ACC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2" name="Text Box 50"/>
              <p:cNvSpPr txBox="1"/>
              <p:nvPr/>
            </p:nvSpPr>
            <p:spPr>
              <a:xfrm>
                <a:off x="3024" y="3120"/>
                <a:ext cx="302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SP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3" name="Rectangle 51"/>
              <p:cNvSpPr/>
              <p:nvPr/>
            </p:nvSpPr>
            <p:spPr>
              <a:xfrm>
                <a:off x="4752" y="2746"/>
                <a:ext cx="864" cy="137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2694" name="Text Box 52"/>
              <p:cNvSpPr txBox="1"/>
              <p:nvPr/>
            </p:nvSpPr>
            <p:spPr>
              <a:xfrm>
                <a:off x="4320" y="3108"/>
                <a:ext cx="43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栈顶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5" name="Text Box 53"/>
              <p:cNvSpPr txBox="1"/>
              <p:nvPr/>
            </p:nvSpPr>
            <p:spPr>
              <a:xfrm>
                <a:off x="4272" y="3274"/>
                <a:ext cx="480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200H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6" name="Text Box 54"/>
              <p:cNvSpPr txBox="1"/>
              <p:nvPr/>
            </p:nvSpPr>
            <p:spPr>
              <a:xfrm>
                <a:off x="4320" y="3866"/>
                <a:ext cx="43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栈底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7" name="Text Box 55"/>
              <p:cNvSpPr txBox="1"/>
              <p:nvPr/>
            </p:nvSpPr>
            <p:spPr>
              <a:xfrm>
                <a:off x="4752" y="2496"/>
                <a:ext cx="43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主存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8" name="Rectangle 56"/>
              <p:cNvSpPr/>
              <p:nvPr/>
            </p:nvSpPr>
            <p:spPr>
              <a:xfrm>
                <a:off x="4752" y="3274"/>
                <a:ext cx="86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X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99" name="Freeform 57"/>
              <p:cNvSpPr/>
              <p:nvPr/>
            </p:nvSpPr>
            <p:spPr>
              <a:xfrm>
                <a:off x="3744" y="2506"/>
                <a:ext cx="1488" cy="480"/>
              </a:xfrm>
              <a:custGeom>
                <a:avLst/>
                <a:gdLst>
                  <a:gd name="txL" fmla="*/ 0 w 1584"/>
                  <a:gd name="txT" fmla="*/ 0 h 480"/>
                  <a:gd name="txR" fmla="*/ 1584 w 1584"/>
                  <a:gd name="txB" fmla="*/ 480 h 480"/>
                </a:gdLst>
                <a:ahLst/>
                <a:cxnLst>
                  <a:cxn ang="0">
                    <a:pos x="0" y="240"/>
                  </a:cxn>
                  <a:cxn ang="0">
                    <a:pos x="0" y="0"/>
                  </a:cxn>
                  <a:cxn ang="0">
                    <a:pos x="1584" y="0"/>
                  </a:cxn>
                  <a:cxn ang="0">
                    <a:pos x="1584" y="480"/>
                  </a:cxn>
                </a:cxnLst>
                <a:rect l="txL" t="txT" r="txR" b="txB"/>
                <a:pathLst>
                  <a:path w="1584" h="480">
                    <a:moveTo>
                      <a:pt x="0" y="240"/>
                    </a:moveTo>
                    <a:lnTo>
                      <a:pt x="0" y="0"/>
                    </a:lnTo>
                    <a:lnTo>
                      <a:pt x="1584" y="0"/>
                    </a:lnTo>
                    <a:lnTo>
                      <a:pt x="1584" y="48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12687" name="Line 58"/>
            <p:cNvSpPr/>
            <p:nvPr/>
          </p:nvSpPr>
          <p:spPr>
            <a:xfrm>
              <a:off x="4752" y="3024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2688" name="Text Box 59"/>
            <p:cNvSpPr txBox="1"/>
            <p:nvPr/>
          </p:nvSpPr>
          <p:spPr>
            <a:xfrm>
              <a:off x="5040" y="3024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1292" name="Rectangle 6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2684" name="AutoShape 6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2685" name="日期占位符 6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60" grpId="0"/>
      <p:bldP spid="351261" grpId="0"/>
      <p:bldP spid="351262" grpId="0"/>
      <p:bldP spid="35126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3698" name="Text Box 2"/>
          <p:cNvSpPr txBox="1"/>
          <p:nvPr/>
        </p:nvSpPr>
        <p:spPr>
          <a:xfrm>
            <a:off x="1905000" y="349250"/>
            <a:ext cx="7286625" cy="64516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600" b="1" dirty="0">
                <a:latin typeface="Times New Roman" panose="02020603050405020304" pitchFamily="18" charset="0"/>
              </a:rPr>
              <a:t>(3) SP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的修改与主存编址方法有关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3699" name="Text Box 3"/>
          <p:cNvSpPr txBox="1"/>
          <p:nvPr/>
        </p:nvSpPr>
        <p:spPr>
          <a:xfrm>
            <a:off x="2270125" y="1231900"/>
            <a:ext cx="3063875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marL="495300" indent="-495300"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① </a:t>
            </a:r>
            <a:r>
              <a:rPr lang="zh-CN" altLang="en-US" sz="2800" b="1" dirty="0">
                <a:latin typeface="Times New Roman" panose="02020603050405020304" pitchFamily="18" charset="0"/>
              </a:rPr>
              <a:t>按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字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编址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3700" name="Text Box 4"/>
          <p:cNvSpPr txBox="1"/>
          <p:nvPr/>
        </p:nvSpPr>
        <p:spPr>
          <a:xfrm>
            <a:off x="5202238" y="1590675"/>
            <a:ext cx="8940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进栈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3701" name="Text Box 5"/>
          <p:cNvSpPr txBox="1"/>
          <p:nvPr/>
        </p:nvSpPr>
        <p:spPr>
          <a:xfrm>
            <a:off x="5202238" y="2330450"/>
            <a:ext cx="8940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出栈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413702" name="Group 6"/>
          <p:cNvGrpSpPr/>
          <p:nvPr/>
        </p:nvGrpSpPr>
        <p:grpSpPr>
          <a:xfrm>
            <a:off x="6161088" y="1590675"/>
            <a:ext cx="3440112" cy="522288"/>
            <a:chOff x="2921" y="1002"/>
            <a:chExt cx="2167" cy="329"/>
          </a:xfrm>
        </p:grpSpPr>
        <p:sp>
          <p:nvSpPr>
            <p:cNvPr id="413728" name="Text Box 7"/>
            <p:cNvSpPr txBox="1"/>
            <p:nvPr/>
          </p:nvSpPr>
          <p:spPr>
            <a:xfrm>
              <a:off x="2921" y="1002"/>
              <a:ext cx="216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SP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 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SP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729" name="Line 8"/>
            <p:cNvSpPr/>
            <p:nvPr/>
          </p:nvSpPr>
          <p:spPr>
            <a:xfrm>
              <a:off x="4080" y="115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13703" name="Group 9"/>
          <p:cNvGrpSpPr/>
          <p:nvPr/>
        </p:nvGrpSpPr>
        <p:grpSpPr>
          <a:xfrm>
            <a:off x="6161088" y="2330450"/>
            <a:ext cx="3440112" cy="522288"/>
            <a:chOff x="2921" y="1468"/>
            <a:chExt cx="2167" cy="329"/>
          </a:xfrm>
        </p:grpSpPr>
        <p:sp>
          <p:nvSpPr>
            <p:cNvPr id="413726" name="Text Box 10"/>
            <p:cNvSpPr txBox="1"/>
            <p:nvPr/>
          </p:nvSpPr>
          <p:spPr>
            <a:xfrm>
              <a:off x="2921" y="1468"/>
              <a:ext cx="216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SP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+ 1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SP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727" name="Line 11"/>
            <p:cNvSpPr/>
            <p:nvPr/>
          </p:nvSpPr>
          <p:spPr>
            <a:xfrm>
              <a:off x="4080" y="163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13704" name="Text Box 12"/>
          <p:cNvSpPr txBox="1"/>
          <p:nvPr/>
        </p:nvSpPr>
        <p:spPr>
          <a:xfrm>
            <a:off x="2270125" y="3070225"/>
            <a:ext cx="2987675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marL="495300" indent="-495300"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</a:rPr>
              <a:t>按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字节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编址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3705" name="Text Box 13"/>
          <p:cNvSpPr txBox="1"/>
          <p:nvPr/>
        </p:nvSpPr>
        <p:spPr>
          <a:xfrm>
            <a:off x="2525713" y="3800475"/>
            <a:ext cx="24942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存储字长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16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3706" name="Text Box 14"/>
          <p:cNvSpPr txBox="1"/>
          <p:nvPr/>
        </p:nvSpPr>
        <p:spPr>
          <a:xfrm>
            <a:off x="5202238" y="3800475"/>
            <a:ext cx="8940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进栈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3707" name="Text Box 15"/>
          <p:cNvSpPr txBox="1"/>
          <p:nvPr/>
        </p:nvSpPr>
        <p:spPr>
          <a:xfrm>
            <a:off x="5202238" y="4540250"/>
            <a:ext cx="8940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出栈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413708" name="Group 16"/>
          <p:cNvGrpSpPr/>
          <p:nvPr/>
        </p:nvGrpSpPr>
        <p:grpSpPr>
          <a:xfrm>
            <a:off x="6161088" y="3800475"/>
            <a:ext cx="3363912" cy="522288"/>
            <a:chOff x="2921" y="2394"/>
            <a:chExt cx="2119" cy="329"/>
          </a:xfrm>
        </p:grpSpPr>
        <p:sp>
          <p:nvSpPr>
            <p:cNvPr id="413724" name="Text Box 17"/>
            <p:cNvSpPr txBox="1"/>
            <p:nvPr/>
          </p:nvSpPr>
          <p:spPr>
            <a:xfrm>
              <a:off x="2921" y="2394"/>
              <a:ext cx="211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SP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 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SP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725" name="Line 18"/>
            <p:cNvSpPr/>
            <p:nvPr/>
          </p:nvSpPr>
          <p:spPr>
            <a:xfrm>
              <a:off x="4080" y="254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13709" name="Group 19"/>
          <p:cNvGrpSpPr/>
          <p:nvPr/>
        </p:nvGrpSpPr>
        <p:grpSpPr>
          <a:xfrm>
            <a:off x="6161088" y="4540250"/>
            <a:ext cx="3211512" cy="522288"/>
            <a:chOff x="2921" y="2860"/>
            <a:chExt cx="2023" cy="329"/>
          </a:xfrm>
        </p:grpSpPr>
        <p:sp>
          <p:nvSpPr>
            <p:cNvPr id="413722" name="Text Box 20"/>
            <p:cNvSpPr txBox="1"/>
            <p:nvPr/>
          </p:nvSpPr>
          <p:spPr>
            <a:xfrm>
              <a:off x="2921" y="2860"/>
              <a:ext cx="202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SP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+ 2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SP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723" name="Line 21"/>
            <p:cNvSpPr/>
            <p:nvPr/>
          </p:nvSpPr>
          <p:spPr>
            <a:xfrm>
              <a:off x="4080" y="30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13710" name="Text Box 22"/>
          <p:cNvSpPr txBox="1"/>
          <p:nvPr/>
        </p:nvSpPr>
        <p:spPr>
          <a:xfrm>
            <a:off x="2514600" y="5248275"/>
            <a:ext cx="24942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存储字长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32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3711" name="Text Box 23"/>
          <p:cNvSpPr txBox="1"/>
          <p:nvPr/>
        </p:nvSpPr>
        <p:spPr>
          <a:xfrm>
            <a:off x="5202238" y="5248275"/>
            <a:ext cx="8940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进栈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3712" name="Text Box 24"/>
          <p:cNvSpPr txBox="1"/>
          <p:nvPr/>
        </p:nvSpPr>
        <p:spPr>
          <a:xfrm>
            <a:off x="5202238" y="5988050"/>
            <a:ext cx="8940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出栈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413713" name="Group 25"/>
          <p:cNvGrpSpPr/>
          <p:nvPr/>
        </p:nvGrpSpPr>
        <p:grpSpPr>
          <a:xfrm>
            <a:off x="6161088" y="5248275"/>
            <a:ext cx="2968625" cy="522288"/>
            <a:chOff x="2921" y="3306"/>
            <a:chExt cx="1870" cy="329"/>
          </a:xfrm>
        </p:grpSpPr>
        <p:sp>
          <p:nvSpPr>
            <p:cNvPr id="413720" name="Text Box 26"/>
            <p:cNvSpPr txBox="1"/>
            <p:nvPr/>
          </p:nvSpPr>
          <p:spPr>
            <a:xfrm>
              <a:off x="2921" y="3306"/>
              <a:ext cx="187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SP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 4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SP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721" name="Line 27"/>
            <p:cNvSpPr/>
            <p:nvPr/>
          </p:nvSpPr>
          <p:spPr>
            <a:xfrm>
              <a:off x="4080" y="346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13714" name="Group 28"/>
          <p:cNvGrpSpPr/>
          <p:nvPr/>
        </p:nvGrpSpPr>
        <p:grpSpPr>
          <a:xfrm>
            <a:off x="6161088" y="5988050"/>
            <a:ext cx="2992438" cy="522288"/>
            <a:chOff x="2921" y="3772"/>
            <a:chExt cx="1885" cy="329"/>
          </a:xfrm>
        </p:grpSpPr>
        <p:sp>
          <p:nvSpPr>
            <p:cNvPr id="413718" name="Text Box 29"/>
            <p:cNvSpPr txBox="1"/>
            <p:nvPr/>
          </p:nvSpPr>
          <p:spPr>
            <a:xfrm>
              <a:off x="2921" y="3772"/>
              <a:ext cx="188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SP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+ 4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SP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719" name="Line 30"/>
            <p:cNvSpPr/>
            <p:nvPr/>
          </p:nvSpPr>
          <p:spPr>
            <a:xfrm>
              <a:off x="4080" y="393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52287" name="Rectangle 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716" name="AutoShape 3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371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4722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7.4   </a:t>
            </a:r>
            <a:r>
              <a:rPr lang="zh-CN" altLang="en-US" b="1" dirty="0"/>
              <a:t>指令格式举例</a:t>
            </a:r>
            <a:endParaRPr lang="zh-CN" altLang="en-US" b="1" dirty="0"/>
          </a:p>
        </p:txBody>
      </p:sp>
      <p:sp>
        <p:nvSpPr>
          <p:cNvPr id="414723" name="Text Box 3"/>
          <p:cNvSpPr txBox="1"/>
          <p:nvPr/>
        </p:nvSpPr>
        <p:spPr>
          <a:xfrm>
            <a:off x="1965325" y="1143000"/>
            <a:ext cx="7091680" cy="58356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一、设计指令格式时应考虑的各种因素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14724" name="Text Box 4"/>
          <p:cNvSpPr txBox="1"/>
          <p:nvPr/>
        </p:nvSpPr>
        <p:spPr>
          <a:xfrm>
            <a:off x="2346325" y="1774825"/>
            <a:ext cx="4130675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指令系统的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兼容性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5" name="Text Box 5"/>
          <p:cNvSpPr txBox="1"/>
          <p:nvPr/>
        </p:nvSpPr>
        <p:spPr>
          <a:xfrm>
            <a:off x="5927725" y="1774825"/>
            <a:ext cx="2976563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（向上兼容）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4726" name="Text Box 6"/>
          <p:cNvSpPr txBox="1"/>
          <p:nvPr/>
        </p:nvSpPr>
        <p:spPr>
          <a:xfrm>
            <a:off x="2362200" y="2376488"/>
            <a:ext cx="29718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</a:rPr>
              <a:t>其他因素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4727" name="Text Box 7"/>
          <p:cNvSpPr txBox="1"/>
          <p:nvPr/>
        </p:nvSpPr>
        <p:spPr>
          <a:xfrm>
            <a:off x="2816225" y="2947988"/>
            <a:ext cx="169545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操作类型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8" name="Text Box 8"/>
          <p:cNvSpPr txBox="1"/>
          <p:nvPr/>
        </p:nvSpPr>
        <p:spPr>
          <a:xfrm>
            <a:off x="2816225" y="3556000"/>
            <a:ext cx="1550988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数据类型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9" name="Text Box 9"/>
          <p:cNvSpPr txBox="1"/>
          <p:nvPr/>
        </p:nvSpPr>
        <p:spPr>
          <a:xfrm>
            <a:off x="2816225" y="4057650"/>
            <a:ext cx="14020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指令格式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30" name="Text Box 10"/>
          <p:cNvSpPr txBox="1"/>
          <p:nvPr/>
        </p:nvSpPr>
        <p:spPr>
          <a:xfrm>
            <a:off x="4724400" y="2947988"/>
            <a:ext cx="44500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包括指令个数及操作的难易程度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4731" name="Text Box 11"/>
          <p:cNvSpPr txBox="1"/>
          <p:nvPr/>
        </p:nvSpPr>
        <p:spPr>
          <a:xfrm>
            <a:off x="4724400" y="4038600"/>
            <a:ext cx="5086350" cy="5156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指令字长是否固定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4732" name="Text Box 12"/>
          <p:cNvSpPr txBox="1"/>
          <p:nvPr/>
        </p:nvSpPr>
        <p:spPr>
          <a:xfrm>
            <a:off x="2816225" y="5618163"/>
            <a:ext cx="1766888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寻址方式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33" name="Text Box 13"/>
          <p:cNvSpPr txBox="1"/>
          <p:nvPr/>
        </p:nvSpPr>
        <p:spPr>
          <a:xfrm>
            <a:off x="2816225" y="6151563"/>
            <a:ext cx="17068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寄存器个数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34" name="Text Box 14"/>
          <p:cNvSpPr txBox="1"/>
          <p:nvPr/>
        </p:nvSpPr>
        <p:spPr>
          <a:xfrm>
            <a:off x="4724400" y="5084763"/>
            <a:ext cx="5692775" cy="5156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地址码位数、地址个数、寻址方式类型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4735" name="Text Box 15"/>
          <p:cNvSpPr txBox="1"/>
          <p:nvPr/>
        </p:nvSpPr>
        <p:spPr>
          <a:xfrm>
            <a:off x="4724400" y="4562475"/>
            <a:ext cx="5943600" cy="5156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操作码位数、是否采用扩展操作码技术，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4736" name="Text Box 16"/>
          <p:cNvSpPr txBox="1"/>
          <p:nvPr/>
        </p:nvSpPr>
        <p:spPr>
          <a:xfrm>
            <a:off x="4727575" y="3500438"/>
            <a:ext cx="5086350" cy="5156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确定哪些数据类型可参与操作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4737" name="Text Box 17"/>
          <p:cNvSpPr txBox="1"/>
          <p:nvPr/>
        </p:nvSpPr>
        <p:spPr>
          <a:xfrm>
            <a:off x="4724400" y="5562600"/>
            <a:ext cx="5692775" cy="5156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指令寻址、操作数寻址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4738" name="Text Box 18"/>
          <p:cNvSpPr txBox="1"/>
          <p:nvPr/>
        </p:nvSpPr>
        <p:spPr>
          <a:xfrm>
            <a:off x="4724400" y="6096000"/>
            <a:ext cx="5692775" cy="5156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寄存器的多少直接影响指令的执行时间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4739" name="AutoShape 1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474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5746" name="Text Box 2"/>
          <p:cNvSpPr txBox="1"/>
          <p:nvPr/>
        </p:nvSpPr>
        <p:spPr>
          <a:xfrm>
            <a:off x="2057400" y="320675"/>
            <a:ext cx="4686300" cy="64516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二、指令格式举例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5747" name="Text Box 3"/>
          <p:cNvSpPr txBox="1"/>
          <p:nvPr/>
        </p:nvSpPr>
        <p:spPr>
          <a:xfrm>
            <a:off x="2574925" y="1233488"/>
            <a:ext cx="1743075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PDP – 8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15748" name="Text Box 4"/>
          <p:cNvSpPr txBox="1"/>
          <p:nvPr/>
        </p:nvSpPr>
        <p:spPr>
          <a:xfrm>
            <a:off x="4860925" y="1233488"/>
            <a:ext cx="3978275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指令字长固定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12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5749" name="Group 5"/>
          <p:cNvGrpSpPr/>
          <p:nvPr/>
        </p:nvGrpSpPr>
        <p:grpSpPr>
          <a:xfrm>
            <a:off x="2693988" y="2419350"/>
            <a:ext cx="5976937" cy="935038"/>
            <a:chOff x="737" y="1524"/>
            <a:chExt cx="3765" cy="589"/>
          </a:xfrm>
        </p:grpSpPr>
        <p:sp>
          <p:nvSpPr>
            <p:cNvPr id="415775" name="Text Box 6"/>
            <p:cNvSpPr txBox="1"/>
            <p:nvPr/>
          </p:nvSpPr>
          <p:spPr>
            <a:xfrm>
              <a:off x="1730" y="1583"/>
              <a:ext cx="268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操作码   </a:t>
              </a:r>
              <a:r>
                <a:rPr lang="zh-CN" altLang="en-US" sz="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间   </a:t>
              </a:r>
              <a:r>
                <a:rPr lang="zh-CN" altLang="en-US" sz="1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页               地址码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76" name="Rectangle 7"/>
            <p:cNvSpPr/>
            <p:nvPr/>
          </p:nvSpPr>
          <p:spPr>
            <a:xfrm>
              <a:off x="1692" y="1526"/>
              <a:ext cx="272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5777" name="Line 8"/>
            <p:cNvSpPr/>
            <p:nvPr/>
          </p:nvSpPr>
          <p:spPr>
            <a:xfrm>
              <a:off x="2316" y="152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5778" name="Line 9"/>
            <p:cNvSpPr/>
            <p:nvPr/>
          </p:nvSpPr>
          <p:spPr>
            <a:xfrm>
              <a:off x="2627" y="152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5779" name="Line 10"/>
            <p:cNvSpPr/>
            <p:nvPr/>
          </p:nvSpPr>
          <p:spPr>
            <a:xfrm>
              <a:off x="2940" y="152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5780" name="Text Box 11"/>
            <p:cNvSpPr txBox="1"/>
            <p:nvPr/>
          </p:nvSpPr>
          <p:spPr>
            <a:xfrm>
              <a:off x="737" y="1524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访存类指令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81" name="Text Box 12"/>
            <p:cNvSpPr txBox="1"/>
            <p:nvPr/>
          </p:nvSpPr>
          <p:spPr>
            <a:xfrm>
              <a:off x="1679" y="186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82" name="Text Box 13"/>
            <p:cNvSpPr txBox="1"/>
            <p:nvPr/>
          </p:nvSpPr>
          <p:spPr>
            <a:xfrm>
              <a:off x="2093" y="186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83" name="Text Box 14"/>
            <p:cNvSpPr txBox="1"/>
            <p:nvPr/>
          </p:nvSpPr>
          <p:spPr>
            <a:xfrm>
              <a:off x="2375" y="186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84" name="Text Box 15"/>
            <p:cNvSpPr txBox="1"/>
            <p:nvPr/>
          </p:nvSpPr>
          <p:spPr>
            <a:xfrm>
              <a:off x="2936" y="186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85" name="Text Box 16"/>
            <p:cNvSpPr txBox="1"/>
            <p:nvPr/>
          </p:nvSpPr>
          <p:spPr>
            <a:xfrm>
              <a:off x="2675" y="186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86" name="Text Box 17"/>
            <p:cNvSpPr txBox="1"/>
            <p:nvPr/>
          </p:nvSpPr>
          <p:spPr>
            <a:xfrm>
              <a:off x="4236" y="1862"/>
              <a:ext cx="2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5750" name="Group 18"/>
          <p:cNvGrpSpPr/>
          <p:nvPr/>
        </p:nvGrpSpPr>
        <p:grpSpPr>
          <a:xfrm>
            <a:off x="2438400" y="5241925"/>
            <a:ext cx="6248400" cy="1008063"/>
            <a:chOff x="576" y="3302"/>
            <a:chExt cx="3936" cy="635"/>
          </a:xfrm>
        </p:grpSpPr>
        <p:sp>
          <p:nvSpPr>
            <p:cNvPr id="415767" name="Rectangle 19"/>
            <p:cNvSpPr/>
            <p:nvPr/>
          </p:nvSpPr>
          <p:spPr>
            <a:xfrm>
              <a:off x="1692" y="3302"/>
              <a:ext cx="272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5768" name="Text Box 20"/>
            <p:cNvSpPr txBox="1"/>
            <p:nvPr/>
          </p:nvSpPr>
          <p:spPr>
            <a:xfrm>
              <a:off x="576" y="3312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寄存器类指令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69" name="Text Box 21"/>
            <p:cNvSpPr txBox="1"/>
            <p:nvPr/>
          </p:nvSpPr>
          <p:spPr>
            <a:xfrm>
              <a:off x="1730" y="3359"/>
              <a:ext cx="278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1   1   1                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辅助操作码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70" name="Line 22"/>
            <p:cNvSpPr/>
            <p:nvPr/>
          </p:nvSpPr>
          <p:spPr>
            <a:xfrm>
              <a:off x="2316" y="3302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5771" name="Text Box 23"/>
            <p:cNvSpPr txBox="1"/>
            <p:nvPr/>
          </p:nvSpPr>
          <p:spPr>
            <a:xfrm>
              <a:off x="1706" y="368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72" name="Text Box 24"/>
            <p:cNvSpPr txBox="1"/>
            <p:nvPr/>
          </p:nvSpPr>
          <p:spPr>
            <a:xfrm>
              <a:off x="2111" y="368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73" name="Text Box 25"/>
            <p:cNvSpPr txBox="1"/>
            <p:nvPr/>
          </p:nvSpPr>
          <p:spPr>
            <a:xfrm>
              <a:off x="2304" y="368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74" name="Text Box 26"/>
            <p:cNvSpPr txBox="1"/>
            <p:nvPr/>
          </p:nvSpPr>
          <p:spPr>
            <a:xfrm>
              <a:off x="4236" y="3686"/>
              <a:ext cx="2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5751" name="Group 27"/>
          <p:cNvGrpSpPr/>
          <p:nvPr/>
        </p:nvGrpSpPr>
        <p:grpSpPr>
          <a:xfrm>
            <a:off x="2776538" y="3794125"/>
            <a:ext cx="6062662" cy="931863"/>
            <a:chOff x="789" y="2390"/>
            <a:chExt cx="3819" cy="587"/>
          </a:xfrm>
        </p:grpSpPr>
        <p:sp>
          <p:nvSpPr>
            <p:cNvPr id="415756" name="Rectangle 28"/>
            <p:cNvSpPr/>
            <p:nvPr/>
          </p:nvSpPr>
          <p:spPr>
            <a:xfrm>
              <a:off x="1692" y="2390"/>
              <a:ext cx="272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5757" name="Text Box 29"/>
            <p:cNvSpPr txBox="1"/>
            <p:nvPr/>
          </p:nvSpPr>
          <p:spPr>
            <a:xfrm>
              <a:off x="789" y="2448"/>
              <a:ext cx="8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I/O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类指令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58" name="Text Box 30"/>
            <p:cNvSpPr txBox="1"/>
            <p:nvPr/>
          </p:nvSpPr>
          <p:spPr>
            <a:xfrm>
              <a:off x="1730" y="2438"/>
              <a:ext cx="287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1   1   0             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设备                操作码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59" name="Line 31"/>
            <p:cNvSpPr/>
            <p:nvPr/>
          </p:nvSpPr>
          <p:spPr>
            <a:xfrm>
              <a:off x="2316" y="2390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5760" name="Text Box 32"/>
            <p:cNvSpPr txBox="1"/>
            <p:nvPr/>
          </p:nvSpPr>
          <p:spPr>
            <a:xfrm>
              <a:off x="1680" y="272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61" name="Text Box 33"/>
            <p:cNvSpPr txBox="1"/>
            <p:nvPr/>
          </p:nvSpPr>
          <p:spPr>
            <a:xfrm>
              <a:off x="2102" y="272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62" name="Text Box 34"/>
            <p:cNvSpPr txBox="1"/>
            <p:nvPr/>
          </p:nvSpPr>
          <p:spPr>
            <a:xfrm>
              <a:off x="2304" y="272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63" name="Text Box 35"/>
            <p:cNvSpPr txBox="1"/>
            <p:nvPr/>
          </p:nvSpPr>
          <p:spPr>
            <a:xfrm>
              <a:off x="4236" y="2726"/>
              <a:ext cx="2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64" name="Line 36"/>
            <p:cNvSpPr/>
            <p:nvPr/>
          </p:nvSpPr>
          <p:spPr>
            <a:xfrm>
              <a:off x="3792" y="2400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5765" name="Text Box 37"/>
            <p:cNvSpPr txBox="1"/>
            <p:nvPr/>
          </p:nvSpPr>
          <p:spPr>
            <a:xfrm>
              <a:off x="3792" y="272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66" name="Text Box 38"/>
            <p:cNvSpPr txBox="1"/>
            <p:nvPr/>
          </p:nvSpPr>
          <p:spPr>
            <a:xfrm>
              <a:off x="3596" y="272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4343" name="Rectangle 3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5753" name="Text Box 40"/>
          <p:cNvSpPr txBox="1"/>
          <p:nvPr/>
        </p:nvSpPr>
        <p:spPr>
          <a:xfrm>
            <a:off x="4641850" y="6300788"/>
            <a:ext cx="5486400" cy="51562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采用扩展操作码技术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5754" name="AutoShape 4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575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6770" name="Text Box 2"/>
          <p:cNvSpPr txBox="1"/>
          <p:nvPr/>
        </p:nvSpPr>
        <p:spPr>
          <a:xfrm>
            <a:off x="2057400" y="152400"/>
            <a:ext cx="2392680" cy="64516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PDP – 11</a:t>
            </a:r>
            <a:endParaRPr lang="en-US" altLang="zh-CN" sz="3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16771" name="Group 3"/>
          <p:cNvGrpSpPr/>
          <p:nvPr/>
        </p:nvGrpSpPr>
        <p:grpSpPr>
          <a:xfrm>
            <a:off x="2209800" y="5373688"/>
            <a:ext cx="7848600" cy="915988"/>
            <a:chOff x="432" y="3456"/>
            <a:chExt cx="4944" cy="577"/>
          </a:xfrm>
        </p:grpSpPr>
        <p:sp>
          <p:nvSpPr>
            <p:cNvPr id="416799" name="Rectangle 4"/>
            <p:cNvSpPr/>
            <p:nvPr/>
          </p:nvSpPr>
          <p:spPr>
            <a:xfrm>
              <a:off x="720" y="3456"/>
              <a:ext cx="67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源地址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800" name="Rectangle 5"/>
            <p:cNvSpPr/>
            <p:nvPr/>
          </p:nvSpPr>
          <p:spPr>
            <a:xfrm>
              <a:off x="432" y="3456"/>
              <a:ext cx="28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801" name="Text Box 6"/>
            <p:cNvSpPr txBox="1"/>
            <p:nvPr/>
          </p:nvSpPr>
          <p:spPr>
            <a:xfrm>
              <a:off x="492" y="3782"/>
              <a:ext cx="4884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4          6               6                        16                                      16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802" name="Rectangle 7"/>
            <p:cNvSpPr/>
            <p:nvPr/>
          </p:nvSpPr>
          <p:spPr>
            <a:xfrm>
              <a:off x="1392" y="3456"/>
              <a:ext cx="67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目的地址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803" name="Rectangle 8"/>
            <p:cNvSpPr/>
            <p:nvPr/>
          </p:nvSpPr>
          <p:spPr>
            <a:xfrm>
              <a:off x="2064" y="3456"/>
              <a:ext cx="16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存储器地址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804" name="Rectangle 9"/>
            <p:cNvSpPr/>
            <p:nvPr/>
          </p:nvSpPr>
          <p:spPr>
            <a:xfrm>
              <a:off x="3696" y="3456"/>
              <a:ext cx="16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存储器地址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6772" name="Group 10"/>
          <p:cNvGrpSpPr/>
          <p:nvPr/>
        </p:nvGrpSpPr>
        <p:grpSpPr>
          <a:xfrm>
            <a:off x="2209800" y="4410075"/>
            <a:ext cx="5181600" cy="839788"/>
            <a:chOff x="432" y="2832"/>
            <a:chExt cx="3264" cy="529"/>
          </a:xfrm>
        </p:grpSpPr>
        <p:sp>
          <p:nvSpPr>
            <p:cNvPr id="416795" name="Rectangle 11"/>
            <p:cNvSpPr/>
            <p:nvPr/>
          </p:nvSpPr>
          <p:spPr>
            <a:xfrm>
              <a:off x="432" y="2832"/>
              <a:ext cx="960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96" name="Text Box 12"/>
            <p:cNvSpPr txBox="1"/>
            <p:nvPr/>
          </p:nvSpPr>
          <p:spPr>
            <a:xfrm>
              <a:off x="748" y="3110"/>
              <a:ext cx="261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10                  6                          16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97" name="Rectangle 13"/>
            <p:cNvSpPr/>
            <p:nvPr/>
          </p:nvSpPr>
          <p:spPr>
            <a:xfrm>
              <a:off x="1392" y="2832"/>
              <a:ext cx="67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目的地址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98" name="Rectangle 14"/>
            <p:cNvSpPr/>
            <p:nvPr/>
          </p:nvSpPr>
          <p:spPr>
            <a:xfrm>
              <a:off x="2064" y="2832"/>
              <a:ext cx="16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存储器地址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6773" name="Group 15"/>
          <p:cNvGrpSpPr/>
          <p:nvPr/>
        </p:nvGrpSpPr>
        <p:grpSpPr>
          <a:xfrm>
            <a:off x="2209800" y="3448050"/>
            <a:ext cx="2590800" cy="839788"/>
            <a:chOff x="432" y="2208"/>
            <a:chExt cx="1632" cy="529"/>
          </a:xfrm>
        </p:grpSpPr>
        <p:sp>
          <p:nvSpPr>
            <p:cNvPr id="416791" name="Rectangle 16"/>
            <p:cNvSpPr/>
            <p:nvPr/>
          </p:nvSpPr>
          <p:spPr>
            <a:xfrm>
              <a:off x="1392" y="2208"/>
              <a:ext cx="67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目的地址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92" name="Text Box 17"/>
            <p:cNvSpPr txBox="1"/>
            <p:nvPr/>
          </p:nvSpPr>
          <p:spPr>
            <a:xfrm>
              <a:off x="480" y="2486"/>
              <a:ext cx="135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4          6               6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93" name="Rectangle 18"/>
            <p:cNvSpPr/>
            <p:nvPr/>
          </p:nvSpPr>
          <p:spPr>
            <a:xfrm>
              <a:off x="720" y="2208"/>
              <a:ext cx="67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源地址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94" name="Rectangle 19"/>
            <p:cNvSpPr/>
            <p:nvPr/>
          </p:nvSpPr>
          <p:spPr>
            <a:xfrm>
              <a:off x="432" y="2208"/>
              <a:ext cx="28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6774" name="Group 20"/>
          <p:cNvGrpSpPr/>
          <p:nvPr/>
        </p:nvGrpSpPr>
        <p:grpSpPr>
          <a:xfrm>
            <a:off x="2209800" y="2486025"/>
            <a:ext cx="2895600" cy="839788"/>
            <a:chOff x="432" y="1584"/>
            <a:chExt cx="1824" cy="529"/>
          </a:xfrm>
        </p:grpSpPr>
        <p:sp>
          <p:nvSpPr>
            <p:cNvPr id="416788" name="Text Box 21"/>
            <p:cNvSpPr txBox="1"/>
            <p:nvPr/>
          </p:nvSpPr>
          <p:spPr>
            <a:xfrm>
              <a:off x="624" y="1862"/>
              <a:ext cx="1632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   10                6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89" name="Rectangle 22"/>
            <p:cNvSpPr/>
            <p:nvPr/>
          </p:nvSpPr>
          <p:spPr>
            <a:xfrm>
              <a:off x="1392" y="1584"/>
              <a:ext cx="67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目的地址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90" name="Rectangle 23"/>
            <p:cNvSpPr/>
            <p:nvPr/>
          </p:nvSpPr>
          <p:spPr>
            <a:xfrm>
              <a:off x="432" y="1584"/>
              <a:ext cx="960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OP-CODE</a:t>
              </a:r>
              <a:endPara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416775" name="Group 24"/>
          <p:cNvGrpSpPr/>
          <p:nvPr/>
        </p:nvGrpSpPr>
        <p:grpSpPr>
          <a:xfrm>
            <a:off x="2209800" y="1524000"/>
            <a:ext cx="2590800" cy="839788"/>
            <a:chOff x="432" y="960"/>
            <a:chExt cx="1632" cy="529"/>
          </a:xfrm>
        </p:grpSpPr>
        <p:sp>
          <p:nvSpPr>
            <p:cNvPr id="416786" name="Text Box 25"/>
            <p:cNvSpPr txBox="1"/>
            <p:nvPr/>
          </p:nvSpPr>
          <p:spPr>
            <a:xfrm>
              <a:off x="1056" y="1238"/>
              <a:ext cx="27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787" name="Rectangle 26"/>
            <p:cNvSpPr/>
            <p:nvPr/>
          </p:nvSpPr>
          <p:spPr>
            <a:xfrm>
              <a:off x="432" y="960"/>
              <a:ext cx="16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OP-CODE</a:t>
              </a:r>
              <a:endPara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416776" name="Text Box 27"/>
          <p:cNvSpPr txBox="1"/>
          <p:nvPr/>
        </p:nvSpPr>
        <p:spPr>
          <a:xfrm>
            <a:off x="2438400" y="838200"/>
            <a:ext cx="62484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指令字长有 </a:t>
            </a:r>
            <a:r>
              <a:rPr lang="en-US" altLang="zh-CN" sz="2800" b="1" dirty="0">
                <a:latin typeface="Times New Roman" panose="02020603050405020304" pitchFamily="18" charset="0"/>
              </a:rPr>
              <a:t>16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位、</a:t>
            </a:r>
            <a:r>
              <a:rPr lang="en-US" altLang="zh-CN" sz="2800" b="1" dirty="0">
                <a:latin typeface="Times New Roman" panose="02020603050405020304" pitchFamily="18" charset="0"/>
              </a:rPr>
              <a:t>32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位、</a:t>
            </a:r>
            <a:r>
              <a:rPr lang="en-US" altLang="zh-CN" sz="2800" b="1" dirty="0">
                <a:latin typeface="Times New Roman" panose="02020603050405020304" pitchFamily="18" charset="0"/>
              </a:rPr>
              <a:t>48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位三种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6777" name="Text Box 28"/>
          <p:cNvSpPr txBox="1"/>
          <p:nvPr/>
        </p:nvSpPr>
        <p:spPr>
          <a:xfrm>
            <a:off x="5181600" y="1524000"/>
            <a:ext cx="23622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零地址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(16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778" name="Text Box 29"/>
          <p:cNvSpPr txBox="1"/>
          <p:nvPr/>
        </p:nvSpPr>
        <p:spPr>
          <a:xfrm>
            <a:off x="5181600" y="2492375"/>
            <a:ext cx="23622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一地址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(16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779" name="Text Box 30"/>
          <p:cNvSpPr txBox="1"/>
          <p:nvPr/>
        </p:nvSpPr>
        <p:spPr>
          <a:xfrm>
            <a:off x="5181600" y="3429000"/>
            <a:ext cx="37338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二地址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R – R (16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780" name="Text Box 31"/>
          <p:cNvSpPr txBox="1"/>
          <p:nvPr/>
        </p:nvSpPr>
        <p:spPr>
          <a:xfrm>
            <a:off x="7467600" y="4379913"/>
            <a:ext cx="37338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二地址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R – M (32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781" name="Text Box 32"/>
          <p:cNvSpPr txBox="1"/>
          <p:nvPr/>
        </p:nvSpPr>
        <p:spPr>
          <a:xfrm>
            <a:off x="7467600" y="6124575"/>
            <a:ext cx="37338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二地址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 – M (48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782" name="Text Box 33"/>
          <p:cNvSpPr txBox="1"/>
          <p:nvPr/>
        </p:nvSpPr>
        <p:spPr>
          <a:xfrm>
            <a:off x="7391400" y="1981200"/>
            <a:ext cx="29718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扩展操作码技术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5362" name="Rectangle 3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6784" name="AutoShape 3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678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7794" name="Text Box 2"/>
          <p:cNvSpPr txBox="1"/>
          <p:nvPr/>
        </p:nvSpPr>
        <p:spPr>
          <a:xfrm>
            <a:off x="2041525" y="273050"/>
            <a:ext cx="2354580" cy="64516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IBM 360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417795" name="Group 3"/>
          <p:cNvGrpSpPr/>
          <p:nvPr/>
        </p:nvGrpSpPr>
        <p:grpSpPr>
          <a:xfrm>
            <a:off x="1676400" y="1143000"/>
            <a:ext cx="3276600" cy="879476"/>
            <a:chOff x="96" y="720"/>
            <a:chExt cx="2064" cy="554"/>
          </a:xfrm>
        </p:grpSpPr>
        <p:grpSp>
          <p:nvGrpSpPr>
            <p:cNvPr id="417849" name="Group 4"/>
            <p:cNvGrpSpPr/>
            <p:nvPr/>
          </p:nvGrpSpPr>
          <p:grpSpPr>
            <a:xfrm>
              <a:off x="528" y="816"/>
              <a:ext cx="1632" cy="240"/>
              <a:chOff x="528" y="1056"/>
              <a:chExt cx="1632" cy="240"/>
            </a:xfrm>
          </p:grpSpPr>
          <p:sp>
            <p:nvSpPr>
              <p:cNvPr id="417852" name="Rectangle 5"/>
              <p:cNvSpPr/>
              <p:nvPr/>
            </p:nvSpPr>
            <p:spPr>
              <a:xfrm>
                <a:off x="528" y="1056"/>
                <a:ext cx="86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OP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7853" name="Rectangle 6"/>
              <p:cNvSpPr/>
              <p:nvPr/>
            </p:nvSpPr>
            <p:spPr>
              <a:xfrm>
                <a:off x="1392" y="1056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baseline="-1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1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7854" name="Rectangle 7"/>
              <p:cNvSpPr/>
              <p:nvPr/>
            </p:nvSpPr>
            <p:spPr>
              <a:xfrm>
                <a:off x="1776" y="1056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baseline="-1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baseline="-1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17850" name="Text Box 8"/>
            <p:cNvSpPr txBox="1"/>
            <p:nvPr/>
          </p:nvSpPr>
          <p:spPr>
            <a:xfrm>
              <a:off x="96" y="720"/>
              <a:ext cx="435" cy="4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RR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格式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51" name="Text Box 9"/>
            <p:cNvSpPr txBox="1"/>
            <p:nvPr/>
          </p:nvSpPr>
          <p:spPr>
            <a:xfrm>
              <a:off x="864" y="1023"/>
              <a:ext cx="119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8             4        4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7796" name="Group 10"/>
          <p:cNvGrpSpPr/>
          <p:nvPr/>
        </p:nvGrpSpPr>
        <p:grpSpPr>
          <a:xfrm>
            <a:off x="1676400" y="2132013"/>
            <a:ext cx="5868988" cy="920749"/>
            <a:chOff x="96" y="1344"/>
            <a:chExt cx="3697" cy="580"/>
          </a:xfrm>
        </p:grpSpPr>
        <p:sp>
          <p:nvSpPr>
            <p:cNvPr id="417842" name="Rectangle 11"/>
            <p:cNvSpPr/>
            <p:nvPr/>
          </p:nvSpPr>
          <p:spPr>
            <a:xfrm>
              <a:off x="528" y="1464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43" name="Rectangle 12"/>
            <p:cNvSpPr/>
            <p:nvPr/>
          </p:nvSpPr>
          <p:spPr>
            <a:xfrm>
              <a:off x="1392" y="1464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44" name="Rectangle 13"/>
            <p:cNvSpPr/>
            <p:nvPr/>
          </p:nvSpPr>
          <p:spPr>
            <a:xfrm>
              <a:off x="1776" y="1464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X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45" name="Rectangle 14"/>
            <p:cNvSpPr/>
            <p:nvPr/>
          </p:nvSpPr>
          <p:spPr>
            <a:xfrm>
              <a:off x="2160" y="1464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46" name="Rectangle 15"/>
            <p:cNvSpPr/>
            <p:nvPr/>
          </p:nvSpPr>
          <p:spPr>
            <a:xfrm>
              <a:off x="2544" y="1464"/>
              <a:ext cx="1249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47" name="Text Box 16"/>
            <p:cNvSpPr txBox="1"/>
            <p:nvPr/>
          </p:nvSpPr>
          <p:spPr>
            <a:xfrm>
              <a:off x="96" y="1344"/>
              <a:ext cx="435" cy="4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RX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格式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48" name="Text Box 17"/>
            <p:cNvSpPr txBox="1"/>
            <p:nvPr/>
          </p:nvSpPr>
          <p:spPr>
            <a:xfrm>
              <a:off x="864" y="1673"/>
              <a:ext cx="239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8              4        4       4                12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7797" name="Group 18"/>
          <p:cNvGrpSpPr/>
          <p:nvPr/>
        </p:nvGrpSpPr>
        <p:grpSpPr>
          <a:xfrm>
            <a:off x="1676400" y="3162300"/>
            <a:ext cx="5868988" cy="903288"/>
            <a:chOff x="96" y="2006"/>
            <a:chExt cx="3697" cy="569"/>
          </a:xfrm>
        </p:grpSpPr>
        <p:sp>
          <p:nvSpPr>
            <p:cNvPr id="417835" name="Rectangle 19"/>
            <p:cNvSpPr/>
            <p:nvPr/>
          </p:nvSpPr>
          <p:spPr>
            <a:xfrm>
              <a:off x="528" y="2112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36" name="Rectangle 20"/>
            <p:cNvSpPr/>
            <p:nvPr/>
          </p:nvSpPr>
          <p:spPr>
            <a:xfrm>
              <a:off x="1392" y="2112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37" name="Rectangle 21"/>
            <p:cNvSpPr/>
            <p:nvPr/>
          </p:nvSpPr>
          <p:spPr>
            <a:xfrm>
              <a:off x="1776" y="2112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38" name="Rectangle 22"/>
            <p:cNvSpPr/>
            <p:nvPr/>
          </p:nvSpPr>
          <p:spPr>
            <a:xfrm>
              <a:off x="2160" y="2112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39" name="Rectangle 23"/>
            <p:cNvSpPr/>
            <p:nvPr/>
          </p:nvSpPr>
          <p:spPr>
            <a:xfrm>
              <a:off x="2544" y="2112"/>
              <a:ext cx="1249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40" name="Text Box 24"/>
            <p:cNvSpPr txBox="1"/>
            <p:nvPr/>
          </p:nvSpPr>
          <p:spPr>
            <a:xfrm>
              <a:off x="96" y="2006"/>
              <a:ext cx="435" cy="4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RS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格式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41" name="Text Box 25"/>
            <p:cNvSpPr txBox="1"/>
            <p:nvPr/>
          </p:nvSpPr>
          <p:spPr>
            <a:xfrm>
              <a:off x="864" y="2324"/>
              <a:ext cx="239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8              4        4       4                12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7798" name="Group 26"/>
          <p:cNvGrpSpPr/>
          <p:nvPr/>
        </p:nvGrpSpPr>
        <p:grpSpPr>
          <a:xfrm>
            <a:off x="1676400" y="4175125"/>
            <a:ext cx="5868988" cy="871538"/>
            <a:chOff x="96" y="2630"/>
            <a:chExt cx="3697" cy="549"/>
          </a:xfrm>
        </p:grpSpPr>
        <p:sp>
          <p:nvSpPr>
            <p:cNvPr id="417829" name="Rectangle 27"/>
            <p:cNvSpPr/>
            <p:nvPr/>
          </p:nvSpPr>
          <p:spPr>
            <a:xfrm>
              <a:off x="528" y="2712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30" name="Rectangle 28"/>
            <p:cNvSpPr/>
            <p:nvPr/>
          </p:nvSpPr>
          <p:spPr>
            <a:xfrm>
              <a:off x="2160" y="2712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31" name="Rectangle 29"/>
            <p:cNvSpPr/>
            <p:nvPr/>
          </p:nvSpPr>
          <p:spPr>
            <a:xfrm>
              <a:off x="2544" y="2712"/>
              <a:ext cx="1249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32" name="Rectangle 30"/>
            <p:cNvSpPr/>
            <p:nvPr/>
          </p:nvSpPr>
          <p:spPr>
            <a:xfrm>
              <a:off x="1392" y="2712"/>
              <a:ext cx="76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I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33" name="Text Box 31"/>
            <p:cNvSpPr txBox="1"/>
            <p:nvPr/>
          </p:nvSpPr>
          <p:spPr>
            <a:xfrm>
              <a:off x="96" y="2630"/>
              <a:ext cx="435" cy="4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SI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格式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34" name="Text Box 32"/>
            <p:cNvSpPr txBox="1"/>
            <p:nvPr/>
          </p:nvSpPr>
          <p:spPr>
            <a:xfrm>
              <a:off x="864" y="2928"/>
              <a:ext cx="239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8                   8            4                12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7799" name="Text Box 33"/>
          <p:cNvSpPr txBox="1"/>
          <p:nvPr/>
        </p:nvSpPr>
        <p:spPr>
          <a:xfrm>
            <a:off x="5181600" y="1266825"/>
            <a:ext cx="2209800" cy="42989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二地址 </a:t>
            </a:r>
            <a:r>
              <a: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R – R</a:t>
            </a:r>
            <a:endParaRPr lang="en-US" altLang="zh-CN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7800" name="Group 34"/>
          <p:cNvGrpSpPr/>
          <p:nvPr/>
        </p:nvGrpSpPr>
        <p:grpSpPr>
          <a:xfrm>
            <a:off x="7772400" y="2060575"/>
            <a:ext cx="2286000" cy="838200"/>
            <a:chOff x="3936" y="1298"/>
            <a:chExt cx="1440" cy="528"/>
          </a:xfrm>
        </p:grpSpPr>
        <p:sp>
          <p:nvSpPr>
            <p:cNvPr id="417827" name="Text Box 35"/>
            <p:cNvSpPr txBox="1"/>
            <p:nvPr/>
          </p:nvSpPr>
          <p:spPr>
            <a:xfrm>
              <a:off x="3936" y="1555"/>
              <a:ext cx="1347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基址加变址寻址</a:t>
              </a:r>
              <a:endPara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7828" name="Text Box 36"/>
            <p:cNvSpPr txBox="1"/>
            <p:nvPr/>
          </p:nvSpPr>
          <p:spPr>
            <a:xfrm>
              <a:off x="3936" y="1298"/>
              <a:ext cx="1440" cy="27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二地址 </a:t>
              </a:r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 – M</a:t>
              </a:r>
              <a:endPara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7801" name="Group 37"/>
          <p:cNvGrpSpPr/>
          <p:nvPr/>
        </p:nvGrpSpPr>
        <p:grpSpPr>
          <a:xfrm>
            <a:off x="7772400" y="3086100"/>
            <a:ext cx="2362200" cy="838200"/>
            <a:chOff x="3936" y="1944"/>
            <a:chExt cx="1488" cy="528"/>
          </a:xfrm>
        </p:grpSpPr>
        <p:sp>
          <p:nvSpPr>
            <p:cNvPr id="417825" name="Text Box 38"/>
            <p:cNvSpPr txBox="1"/>
            <p:nvPr/>
          </p:nvSpPr>
          <p:spPr>
            <a:xfrm>
              <a:off x="3936" y="1944"/>
              <a:ext cx="1488" cy="27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三地址 </a:t>
              </a:r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 – M</a:t>
              </a:r>
              <a:endPara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7826" name="Text Box 39"/>
            <p:cNvSpPr txBox="1"/>
            <p:nvPr/>
          </p:nvSpPr>
          <p:spPr>
            <a:xfrm>
              <a:off x="3936" y="2201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基址寻址</a:t>
              </a:r>
              <a:endPara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7802" name="Group 40"/>
          <p:cNvGrpSpPr/>
          <p:nvPr/>
        </p:nvGrpSpPr>
        <p:grpSpPr>
          <a:xfrm>
            <a:off x="7770813" y="5907088"/>
            <a:ext cx="2286000" cy="839787"/>
            <a:chOff x="3935" y="3721"/>
            <a:chExt cx="1440" cy="529"/>
          </a:xfrm>
        </p:grpSpPr>
        <p:sp>
          <p:nvSpPr>
            <p:cNvPr id="417823" name="Text Box 41"/>
            <p:cNvSpPr txBox="1"/>
            <p:nvPr/>
          </p:nvSpPr>
          <p:spPr>
            <a:xfrm>
              <a:off x="3935" y="3721"/>
              <a:ext cx="1440" cy="27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二地址 </a:t>
              </a:r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 – M</a:t>
              </a:r>
              <a:endPara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7824" name="Text Box 42"/>
            <p:cNvSpPr txBox="1"/>
            <p:nvPr/>
          </p:nvSpPr>
          <p:spPr>
            <a:xfrm>
              <a:off x="3935" y="3979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基址寻址</a:t>
              </a:r>
              <a:endPara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7803" name="Group 43"/>
          <p:cNvGrpSpPr/>
          <p:nvPr/>
        </p:nvGrpSpPr>
        <p:grpSpPr>
          <a:xfrm>
            <a:off x="7772400" y="4090988"/>
            <a:ext cx="1563688" cy="814387"/>
            <a:chOff x="3936" y="2577"/>
            <a:chExt cx="985" cy="513"/>
          </a:xfrm>
        </p:grpSpPr>
        <p:sp>
          <p:nvSpPr>
            <p:cNvPr id="417821" name="Text Box 44"/>
            <p:cNvSpPr txBox="1"/>
            <p:nvPr/>
          </p:nvSpPr>
          <p:spPr>
            <a:xfrm>
              <a:off x="3936" y="2819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基址寻址</a:t>
              </a:r>
              <a:endPara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7822" name="Text Box 45"/>
            <p:cNvSpPr txBox="1"/>
            <p:nvPr/>
          </p:nvSpPr>
          <p:spPr>
            <a:xfrm>
              <a:off x="3936" y="2577"/>
              <a:ext cx="985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立即数 </a:t>
              </a:r>
              <a:r>
                <a:rPr lang="zh-CN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</a:t>
              </a:r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M</a:t>
              </a:r>
              <a:endPara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56398" name="Rectangle 4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7805" name="AutoShape 4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17806" name="Group 48"/>
          <p:cNvGrpSpPr/>
          <p:nvPr/>
        </p:nvGrpSpPr>
        <p:grpSpPr>
          <a:xfrm>
            <a:off x="1676400" y="5157788"/>
            <a:ext cx="8459788" cy="888999"/>
            <a:chOff x="96" y="3312"/>
            <a:chExt cx="5329" cy="560"/>
          </a:xfrm>
        </p:grpSpPr>
        <p:sp>
          <p:nvSpPr>
            <p:cNvPr id="417808" name="Rectangle 49"/>
            <p:cNvSpPr/>
            <p:nvPr/>
          </p:nvSpPr>
          <p:spPr>
            <a:xfrm>
              <a:off x="528" y="3408"/>
              <a:ext cx="86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OP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09" name="Rectangle 50"/>
            <p:cNvSpPr/>
            <p:nvPr/>
          </p:nvSpPr>
          <p:spPr>
            <a:xfrm>
              <a:off x="2160" y="3408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10" name="Rectangle 51"/>
            <p:cNvSpPr/>
            <p:nvPr/>
          </p:nvSpPr>
          <p:spPr>
            <a:xfrm>
              <a:off x="2544" y="3408"/>
              <a:ext cx="1249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11" name="Rectangle 52"/>
            <p:cNvSpPr/>
            <p:nvPr/>
          </p:nvSpPr>
          <p:spPr>
            <a:xfrm>
              <a:off x="1392" y="3408"/>
              <a:ext cx="76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L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12" name="Rectangle 53"/>
            <p:cNvSpPr/>
            <p:nvPr/>
          </p:nvSpPr>
          <p:spPr>
            <a:xfrm>
              <a:off x="3792" y="3408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13" name="Rectangle 54"/>
            <p:cNvSpPr/>
            <p:nvPr/>
          </p:nvSpPr>
          <p:spPr>
            <a:xfrm>
              <a:off x="4176" y="3408"/>
              <a:ext cx="1249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417814" name="Text Box 55"/>
            <p:cNvSpPr txBox="1"/>
            <p:nvPr/>
          </p:nvSpPr>
          <p:spPr>
            <a:xfrm>
              <a:off x="96" y="3312"/>
              <a:ext cx="435" cy="4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SS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格式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15" name="Text Box 56"/>
            <p:cNvSpPr txBox="1"/>
            <p:nvPr/>
          </p:nvSpPr>
          <p:spPr>
            <a:xfrm>
              <a:off x="866" y="3621"/>
              <a:ext cx="2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16" name="Text Box 57"/>
            <p:cNvSpPr txBox="1"/>
            <p:nvPr/>
          </p:nvSpPr>
          <p:spPr>
            <a:xfrm>
              <a:off x="1655" y="3621"/>
              <a:ext cx="2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17" name="Text Box 58"/>
            <p:cNvSpPr txBox="1"/>
            <p:nvPr/>
          </p:nvSpPr>
          <p:spPr>
            <a:xfrm>
              <a:off x="2245" y="3621"/>
              <a:ext cx="2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18" name="Text Box 59"/>
            <p:cNvSpPr txBox="1"/>
            <p:nvPr/>
          </p:nvSpPr>
          <p:spPr>
            <a:xfrm>
              <a:off x="3007" y="3621"/>
              <a:ext cx="2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19" name="Text Box 60"/>
            <p:cNvSpPr txBox="1"/>
            <p:nvPr/>
          </p:nvSpPr>
          <p:spPr>
            <a:xfrm>
              <a:off x="3877" y="3621"/>
              <a:ext cx="2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7820" name="Text Box 61"/>
            <p:cNvSpPr txBox="1"/>
            <p:nvPr/>
          </p:nvSpPr>
          <p:spPr>
            <a:xfrm>
              <a:off x="4658" y="3621"/>
              <a:ext cx="2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780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8818" name="Text Box 2"/>
          <p:cNvSpPr txBox="1"/>
          <p:nvPr/>
        </p:nvSpPr>
        <p:spPr>
          <a:xfrm>
            <a:off x="2057400" y="273050"/>
            <a:ext cx="3429000" cy="64516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Intel 8086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418819" name="Text Box 3"/>
          <p:cNvSpPr txBox="1"/>
          <p:nvPr/>
        </p:nvSpPr>
        <p:spPr>
          <a:xfrm>
            <a:off x="2073275" y="936625"/>
            <a:ext cx="210820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指令字长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8820" name="Text Box 4"/>
          <p:cNvSpPr txBox="1"/>
          <p:nvPr/>
        </p:nvSpPr>
        <p:spPr>
          <a:xfrm>
            <a:off x="2073275" y="2590800"/>
            <a:ext cx="2193925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地址格式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8821" name="Text Box 5"/>
          <p:cNvSpPr txBox="1"/>
          <p:nvPr/>
        </p:nvSpPr>
        <p:spPr>
          <a:xfrm>
            <a:off x="4343400" y="914400"/>
            <a:ext cx="24987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~ 6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个字节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8822" name="Text Box 6"/>
          <p:cNvSpPr txBox="1"/>
          <p:nvPr/>
        </p:nvSpPr>
        <p:spPr>
          <a:xfrm>
            <a:off x="3048000" y="2057400"/>
            <a:ext cx="678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MOV    WORD  PTR[0204], 0138H      </a:t>
            </a:r>
            <a:r>
              <a:rPr lang="en-US" altLang="zh-CN" sz="2200" b="1" dirty="0">
                <a:latin typeface="Times New Roman" panose="02020603050405020304" pitchFamily="18" charset="0"/>
              </a:rPr>
              <a:t>6 </a:t>
            </a:r>
            <a:r>
              <a:rPr lang="zh-CN" altLang="en-US" sz="2200" b="1" dirty="0">
                <a:latin typeface="Times New Roman" panose="02020603050405020304" pitchFamily="18" charset="0"/>
              </a:rPr>
              <a:t>字节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23" name="Text Box 7"/>
          <p:cNvSpPr txBox="1"/>
          <p:nvPr/>
        </p:nvSpPr>
        <p:spPr>
          <a:xfrm>
            <a:off x="3048000" y="1524000"/>
            <a:ext cx="5181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INC     AX      </a:t>
            </a:r>
            <a:r>
              <a:rPr lang="en-US" altLang="zh-CN" sz="2200" b="1" dirty="0">
                <a:latin typeface="Times New Roman" panose="02020603050405020304" pitchFamily="18" charset="0"/>
              </a:rPr>
              <a:t>1 </a:t>
            </a:r>
            <a:r>
              <a:rPr lang="zh-CN" altLang="en-US" sz="2200" b="1" dirty="0">
                <a:latin typeface="Times New Roman" panose="02020603050405020304" pitchFamily="18" charset="0"/>
              </a:rPr>
              <a:t>字节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24" name="Text Box 8"/>
          <p:cNvSpPr txBox="1"/>
          <p:nvPr/>
        </p:nvSpPr>
        <p:spPr>
          <a:xfrm>
            <a:off x="2568575" y="3735388"/>
            <a:ext cx="10972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一地址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8825" name="Text Box 9"/>
          <p:cNvSpPr txBox="1"/>
          <p:nvPr/>
        </p:nvSpPr>
        <p:spPr>
          <a:xfrm>
            <a:off x="3810000" y="3200400"/>
            <a:ext cx="44196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NOP                             </a:t>
            </a:r>
            <a:r>
              <a:rPr lang="en-US" altLang="zh-CN" sz="2200" b="1" dirty="0">
                <a:latin typeface="Times New Roman" panose="02020603050405020304" pitchFamily="18" charset="0"/>
              </a:rPr>
              <a:t>1 </a:t>
            </a:r>
            <a:r>
              <a:rPr lang="zh-CN" altLang="en-US" sz="2200" b="1" dirty="0">
                <a:latin typeface="Times New Roman" panose="02020603050405020304" pitchFamily="18" charset="0"/>
              </a:rPr>
              <a:t>字节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26" name="Text Box 10"/>
          <p:cNvSpPr txBox="1"/>
          <p:nvPr/>
        </p:nvSpPr>
        <p:spPr>
          <a:xfrm>
            <a:off x="3810000" y="3733800"/>
            <a:ext cx="1029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CALL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18827" name="Group 11"/>
          <p:cNvGrpSpPr/>
          <p:nvPr/>
        </p:nvGrpSpPr>
        <p:grpSpPr>
          <a:xfrm>
            <a:off x="5105400" y="4291013"/>
            <a:ext cx="2509838" cy="434975"/>
            <a:chOff x="2256" y="2703"/>
            <a:chExt cx="1581" cy="274"/>
          </a:xfrm>
        </p:grpSpPr>
        <p:sp>
          <p:nvSpPr>
            <p:cNvPr id="418843" name="Text Box 12"/>
            <p:cNvSpPr txBox="1"/>
            <p:nvPr/>
          </p:nvSpPr>
          <p:spPr>
            <a:xfrm>
              <a:off x="2256" y="2706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段内调用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8844" name="Text Box 13"/>
            <p:cNvSpPr txBox="1"/>
            <p:nvPr/>
          </p:nvSpPr>
          <p:spPr>
            <a:xfrm>
              <a:off x="3194" y="2703"/>
              <a:ext cx="64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 3 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字节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8828" name="Text Box 14"/>
          <p:cNvSpPr txBox="1"/>
          <p:nvPr/>
        </p:nvSpPr>
        <p:spPr>
          <a:xfrm>
            <a:off x="2568575" y="3201988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零地址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8829" name="Group 15"/>
          <p:cNvGrpSpPr/>
          <p:nvPr/>
        </p:nvGrpSpPr>
        <p:grpSpPr>
          <a:xfrm>
            <a:off x="5105400" y="3757613"/>
            <a:ext cx="2509838" cy="434975"/>
            <a:chOff x="2256" y="2367"/>
            <a:chExt cx="1581" cy="274"/>
          </a:xfrm>
        </p:grpSpPr>
        <p:sp>
          <p:nvSpPr>
            <p:cNvPr id="418841" name="Text Box 16"/>
            <p:cNvSpPr txBox="1"/>
            <p:nvPr/>
          </p:nvSpPr>
          <p:spPr>
            <a:xfrm>
              <a:off x="3194" y="2367"/>
              <a:ext cx="64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 5 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字节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8842" name="Text Box 17"/>
            <p:cNvSpPr txBox="1"/>
            <p:nvPr/>
          </p:nvSpPr>
          <p:spPr>
            <a:xfrm>
              <a:off x="2256" y="2370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段间调用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8830" name="Text Box 18"/>
          <p:cNvSpPr txBox="1"/>
          <p:nvPr/>
        </p:nvSpPr>
        <p:spPr>
          <a:xfrm>
            <a:off x="7654925" y="4876800"/>
            <a:ext cx="2138680" cy="42989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寄存器 </a:t>
            </a:r>
            <a:r>
              <a:rPr lang="en-US" altLang="zh-CN" sz="2200" b="1" dirty="0">
                <a:latin typeface="Times New Roman" panose="02020603050405020304" pitchFamily="18" charset="0"/>
              </a:rPr>
              <a:t>– </a:t>
            </a:r>
            <a:r>
              <a:rPr lang="zh-CN" altLang="en-US" sz="2200" b="1" dirty="0">
                <a:latin typeface="Times New Roman" panose="02020603050405020304" pitchFamily="18" charset="0"/>
              </a:rPr>
              <a:t>寄存器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31" name="Text Box 19"/>
          <p:cNvSpPr txBox="1"/>
          <p:nvPr/>
        </p:nvSpPr>
        <p:spPr>
          <a:xfrm>
            <a:off x="7654925" y="5486400"/>
            <a:ext cx="2138680" cy="42989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寄存器 </a:t>
            </a:r>
            <a:r>
              <a:rPr lang="en-US" altLang="zh-CN" sz="2200" b="1" dirty="0">
                <a:latin typeface="Times New Roman" panose="02020603050405020304" pitchFamily="18" charset="0"/>
              </a:rPr>
              <a:t>– </a:t>
            </a:r>
            <a:r>
              <a:rPr lang="zh-CN" altLang="en-US" sz="2200" b="1" dirty="0">
                <a:latin typeface="Times New Roman" panose="02020603050405020304" pitchFamily="18" charset="0"/>
              </a:rPr>
              <a:t>立即数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32" name="Text Box 20"/>
          <p:cNvSpPr txBox="1"/>
          <p:nvPr/>
        </p:nvSpPr>
        <p:spPr>
          <a:xfrm>
            <a:off x="7654925" y="6096000"/>
            <a:ext cx="2138680" cy="42989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寄存器 </a:t>
            </a:r>
            <a:r>
              <a:rPr lang="en-US" altLang="zh-CN" sz="2200" b="1" dirty="0">
                <a:latin typeface="Times New Roman" panose="02020603050405020304" pitchFamily="18" charset="0"/>
              </a:rPr>
              <a:t>– </a:t>
            </a:r>
            <a:r>
              <a:rPr lang="zh-CN" altLang="en-US" sz="2200" b="1" dirty="0">
                <a:latin typeface="Times New Roman" panose="02020603050405020304" pitchFamily="18" charset="0"/>
              </a:rPr>
              <a:t>存储器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33" name="Text Box 21"/>
          <p:cNvSpPr txBox="1"/>
          <p:nvPr/>
        </p:nvSpPr>
        <p:spPr>
          <a:xfrm>
            <a:off x="3810000" y="4876800"/>
            <a:ext cx="419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ADD  AX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BX           </a:t>
            </a:r>
            <a:r>
              <a:rPr lang="en-US" altLang="zh-CN" sz="2200" b="1" dirty="0">
                <a:latin typeface="Times New Roman" panose="02020603050405020304" pitchFamily="18" charset="0"/>
              </a:rPr>
              <a:t>2 </a:t>
            </a:r>
            <a:r>
              <a:rPr lang="zh-CN" altLang="en-US" sz="2200" b="1" dirty="0">
                <a:latin typeface="Times New Roman" panose="02020603050405020304" pitchFamily="18" charset="0"/>
              </a:rPr>
              <a:t>字节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34" name="Text Box 22"/>
          <p:cNvSpPr txBox="1"/>
          <p:nvPr/>
        </p:nvSpPr>
        <p:spPr>
          <a:xfrm>
            <a:off x="3810000" y="6096000"/>
            <a:ext cx="3962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ADD  AX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[3048H]   </a:t>
            </a:r>
            <a:r>
              <a:rPr lang="en-US" altLang="zh-CN" sz="2200" b="1" dirty="0">
                <a:latin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Times New Roman" panose="02020603050405020304" pitchFamily="18" charset="0"/>
              </a:rPr>
              <a:t>字节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35" name="Text Box 23"/>
          <p:cNvSpPr txBox="1"/>
          <p:nvPr/>
        </p:nvSpPr>
        <p:spPr>
          <a:xfrm>
            <a:off x="3810000" y="5486400"/>
            <a:ext cx="3962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ADD  AX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3048H     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3 </a:t>
            </a:r>
            <a:r>
              <a:rPr lang="zh-CN" altLang="en-US" sz="2200" b="1" dirty="0">
                <a:latin typeface="Times New Roman" panose="02020603050405020304" pitchFamily="18" charset="0"/>
              </a:rPr>
              <a:t>字节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18836" name="Text Box 24"/>
          <p:cNvSpPr txBox="1"/>
          <p:nvPr/>
        </p:nvSpPr>
        <p:spPr>
          <a:xfrm>
            <a:off x="2568575" y="4876800"/>
            <a:ext cx="109728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二地址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8837" name="Text Box 25"/>
          <p:cNvSpPr txBox="1"/>
          <p:nvPr/>
        </p:nvSpPr>
        <p:spPr>
          <a:xfrm>
            <a:off x="3810000" y="4291013"/>
            <a:ext cx="1029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CALL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57402" name="Rectangle 2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8839" name="AutoShape 2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884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42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7.5   RISC  </a:t>
            </a:r>
            <a:r>
              <a:rPr lang="zh-CN" altLang="en-US" b="1" dirty="0"/>
              <a:t>技 术 </a:t>
            </a:r>
            <a:endParaRPr lang="zh-CN" altLang="en-US" b="1" dirty="0"/>
          </a:p>
        </p:txBody>
      </p:sp>
      <p:sp>
        <p:nvSpPr>
          <p:cNvPr id="419843" name="Text Box 3"/>
          <p:cNvSpPr txBox="1"/>
          <p:nvPr/>
        </p:nvSpPr>
        <p:spPr>
          <a:xfrm>
            <a:off x="1752600" y="1173163"/>
            <a:ext cx="4648200" cy="58356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</a:t>
            </a:r>
            <a:r>
              <a:rPr lang="en-US" altLang="zh-CN" sz="3200" b="1" dirty="0">
                <a:latin typeface="Times New Roman" panose="02020603050405020304" pitchFamily="18" charset="0"/>
              </a:rPr>
              <a:t>RISC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的产生和发展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19844" name="Text Box 4"/>
          <p:cNvSpPr txBox="1"/>
          <p:nvPr/>
        </p:nvSpPr>
        <p:spPr>
          <a:xfrm>
            <a:off x="3124200" y="3016250"/>
            <a:ext cx="2938780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80 — 20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规律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45" name="Text Box 5"/>
          <p:cNvSpPr txBox="1"/>
          <p:nvPr/>
        </p:nvSpPr>
        <p:spPr>
          <a:xfrm>
            <a:off x="2286000" y="3549650"/>
            <a:ext cx="5867400" cy="95313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典型程序中 </a:t>
            </a:r>
            <a:r>
              <a:rPr lang="en-US" altLang="zh-CN" sz="2800" b="1" dirty="0">
                <a:latin typeface="Times New Roman" panose="02020603050405020304" pitchFamily="18" charset="0"/>
              </a:rPr>
              <a:t>80%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的语句仅仅使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用处理机中 </a:t>
            </a:r>
            <a:r>
              <a:rPr lang="en-US" altLang="zh-CN" sz="2800" b="1" dirty="0">
                <a:latin typeface="Times New Roman" panose="02020603050405020304" pitchFamily="18" charset="0"/>
              </a:rPr>
              <a:t>20%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的指令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9846" name="Text Box 6"/>
          <p:cNvSpPr txBox="1"/>
          <p:nvPr/>
        </p:nvSpPr>
        <p:spPr>
          <a:xfrm>
            <a:off x="2286000" y="4572000"/>
            <a:ext cx="7543800" cy="95313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执行频度高的简单指令，因复杂指令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的存在，执行速度无法提高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9847" name="Text Box 7"/>
          <p:cNvSpPr txBox="1"/>
          <p:nvPr/>
        </p:nvSpPr>
        <p:spPr>
          <a:xfrm>
            <a:off x="2590800" y="1879600"/>
            <a:ext cx="608584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RISC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Reduced Instruction Set Computer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848" name="Text Box 8"/>
          <p:cNvSpPr txBox="1"/>
          <p:nvPr/>
        </p:nvSpPr>
        <p:spPr>
          <a:xfrm>
            <a:off x="2590800" y="2427288"/>
            <a:ext cx="6119495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CISC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Complex Instruction Set Computer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849" name="Text Box 9"/>
          <p:cNvSpPr txBox="1"/>
          <p:nvPr/>
        </p:nvSpPr>
        <p:spPr>
          <a:xfrm>
            <a:off x="7204075" y="3016250"/>
            <a:ext cx="25431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—— RISC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技术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9850" name="Group 10"/>
          <p:cNvGrpSpPr/>
          <p:nvPr/>
        </p:nvGrpSpPr>
        <p:grpSpPr>
          <a:xfrm>
            <a:off x="2209800" y="5454650"/>
            <a:ext cx="8153400" cy="1060450"/>
            <a:chOff x="432" y="3436"/>
            <a:chExt cx="5136" cy="668"/>
          </a:xfrm>
        </p:grpSpPr>
        <p:sp>
          <p:nvSpPr>
            <p:cNvPr id="419853" name="Text Box 11"/>
            <p:cNvSpPr txBox="1"/>
            <p:nvPr/>
          </p:nvSpPr>
          <p:spPr>
            <a:xfrm>
              <a:off x="432" y="3504"/>
              <a:ext cx="5136" cy="60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buFont typeface="Wingdings" panose="05000000000000000000" pitchFamily="2" charset="2"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能否用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20%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的简单指令组合不常用的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80%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的指令功能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9854" name="Text Box 12"/>
            <p:cNvSpPr txBox="1"/>
            <p:nvPr/>
          </p:nvSpPr>
          <p:spPr>
            <a:xfrm>
              <a:off x="432" y="3436"/>
              <a:ext cx="403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9851" name="AutoShape 1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0866" name="Text Box 2"/>
          <p:cNvSpPr txBox="1"/>
          <p:nvPr/>
        </p:nvSpPr>
        <p:spPr>
          <a:xfrm>
            <a:off x="1905000" y="425450"/>
            <a:ext cx="5559425" cy="64516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二、</a:t>
            </a:r>
            <a:r>
              <a:rPr lang="en-US" altLang="zh-CN" sz="3600" b="1" dirty="0">
                <a:latin typeface="Times New Roman" panose="02020603050405020304" pitchFamily="18" charset="0"/>
              </a:rPr>
              <a:t>RISC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的主要特征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20867" name="Text Box 3"/>
          <p:cNvSpPr txBox="1"/>
          <p:nvPr/>
        </p:nvSpPr>
        <p:spPr>
          <a:xfrm>
            <a:off x="2209800" y="1371600"/>
            <a:ext cx="6705600" cy="101473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选用使用频度较高的一些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简单指令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    复杂指令的功能由简单指令来组合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0868" name="Text Box 4"/>
          <p:cNvSpPr txBox="1"/>
          <p:nvPr/>
        </p:nvSpPr>
        <p:spPr>
          <a:xfrm>
            <a:off x="2209800" y="2519363"/>
            <a:ext cx="84582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长度固定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指令格式种类少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寻址方式少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869" name="Text Box 5"/>
          <p:cNvSpPr txBox="1"/>
          <p:nvPr/>
        </p:nvSpPr>
        <p:spPr>
          <a:xfrm>
            <a:off x="2209800" y="3192463"/>
            <a:ext cx="5546725" cy="52197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只有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LOAD / STORE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指令访存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0870" name="Text Box 6"/>
          <p:cNvSpPr txBox="1"/>
          <p:nvPr/>
        </p:nvSpPr>
        <p:spPr>
          <a:xfrm>
            <a:off x="2208213" y="4540250"/>
            <a:ext cx="8459787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采用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流水技术  一个时钟周期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内完成一条指令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0871" name="Text Box 7"/>
          <p:cNvSpPr txBox="1"/>
          <p:nvPr/>
        </p:nvSpPr>
        <p:spPr>
          <a:xfrm>
            <a:off x="2208213" y="5213350"/>
            <a:ext cx="6624637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采用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组合逻辑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实现控制器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0872" name="Text Box 8"/>
          <p:cNvSpPr txBox="1"/>
          <p:nvPr/>
        </p:nvSpPr>
        <p:spPr>
          <a:xfrm>
            <a:off x="2208213" y="3865563"/>
            <a:ext cx="6334125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CPU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中有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多个 </a:t>
            </a:r>
            <a:r>
              <a:rPr lang="zh-CN" altLang="en-US" sz="2800" b="1" dirty="0">
                <a:latin typeface="Times New Roman" panose="02020603050405020304" pitchFamily="18" charset="0"/>
              </a:rPr>
              <a:t>通用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寄存器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0873" name="Text Box 9"/>
          <p:cNvSpPr txBox="1"/>
          <p:nvPr/>
        </p:nvSpPr>
        <p:spPr>
          <a:xfrm>
            <a:off x="2209800" y="5888038"/>
            <a:ext cx="52578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采用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优化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编译 </a:t>
            </a:r>
            <a:r>
              <a:rPr lang="zh-CN" altLang="en-US" sz="2800" b="1" dirty="0">
                <a:latin typeface="Times New Roman" panose="02020603050405020304" pitchFamily="18" charset="0"/>
              </a:rPr>
              <a:t>程序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59434" name="Rectangle 1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0875" name="AutoShape 11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087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1890" name="Text Box 2"/>
          <p:cNvSpPr txBox="1"/>
          <p:nvPr/>
        </p:nvSpPr>
        <p:spPr>
          <a:xfrm>
            <a:off x="1905000" y="425450"/>
            <a:ext cx="5559425" cy="64516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三、</a:t>
            </a:r>
            <a:r>
              <a:rPr lang="en-US" altLang="zh-CN" sz="3600" b="1" dirty="0">
                <a:latin typeface="Times New Roman" panose="02020603050405020304" pitchFamily="18" charset="0"/>
              </a:rPr>
              <a:t>CISC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的主要特征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21891" name="Text Box 3"/>
          <p:cNvSpPr txBox="1"/>
          <p:nvPr/>
        </p:nvSpPr>
        <p:spPr>
          <a:xfrm>
            <a:off x="2209800" y="1481138"/>
            <a:ext cx="8134350" cy="58356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系统指令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复杂庞大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，各种指令使用频度相差大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1892" name="Text Box 4"/>
          <p:cNvSpPr txBox="1"/>
          <p:nvPr/>
        </p:nvSpPr>
        <p:spPr>
          <a:xfrm>
            <a:off x="2209800" y="2265363"/>
            <a:ext cx="84582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长度不固定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指令格式种类多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寻址方式多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1893" name="Text Box 5"/>
          <p:cNvSpPr txBox="1"/>
          <p:nvPr/>
        </p:nvSpPr>
        <p:spPr>
          <a:xfrm>
            <a:off x="2209800" y="2989263"/>
            <a:ext cx="47498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访存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不受限制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1894" name="Text Box 6"/>
          <p:cNvSpPr txBox="1"/>
          <p:nvPr/>
        </p:nvSpPr>
        <p:spPr>
          <a:xfrm>
            <a:off x="2208213" y="4438650"/>
            <a:ext cx="76200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大多数指令需要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多个时钟周期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执行完毕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1895" name="Text Box 7"/>
          <p:cNvSpPr txBox="1"/>
          <p:nvPr/>
        </p:nvSpPr>
        <p:spPr>
          <a:xfrm>
            <a:off x="2208213" y="5162550"/>
            <a:ext cx="46482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采用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微程序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控制器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1896" name="Text Box 8"/>
          <p:cNvSpPr txBox="1"/>
          <p:nvPr/>
        </p:nvSpPr>
        <p:spPr>
          <a:xfrm>
            <a:off x="2208213" y="3714750"/>
            <a:ext cx="6334125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CPU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中设有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专用寄存器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1897" name="Text Box 9"/>
          <p:cNvSpPr txBox="1"/>
          <p:nvPr/>
        </p:nvSpPr>
        <p:spPr>
          <a:xfrm>
            <a:off x="2209800" y="5888038"/>
            <a:ext cx="7342188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难以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优化编译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生成高效的目的代码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60458" name="Rectangle 1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1899" name="AutoShape 1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190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2914" name="Text Box 2"/>
          <p:cNvSpPr txBox="1"/>
          <p:nvPr/>
        </p:nvSpPr>
        <p:spPr>
          <a:xfrm>
            <a:off x="2030413" y="14288"/>
            <a:ext cx="7215187" cy="64516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四、</a:t>
            </a:r>
            <a:r>
              <a:rPr lang="en-US" altLang="zh-CN" sz="3600" b="1" dirty="0">
                <a:latin typeface="Times New Roman" panose="02020603050405020304" pitchFamily="18" charset="0"/>
              </a:rPr>
              <a:t>RISC</a:t>
            </a:r>
            <a:r>
              <a:rPr lang="zh-CN" altLang="en-US" sz="3600" b="1" dirty="0">
                <a:latin typeface="Times New Roman" panose="02020603050405020304" pitchFamily="18" charset="0"/>
              </a:rPr>
              <a:t>和</a:t>
            </a:r>
            <a:r>
              <a:rPr lang="en-US" altLang="zh-CN" sz="3600" b="1" dirty="0">
                <a:latin typeface="Times New Roman" panose="02020603050405020304" pitchFamily="18" charset="0"/>
              </a:rPr>
              <a:t>CISC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的比较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1524000" y="706438"/>
            <a:ext cx="9067800" cy="18148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RISC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更能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充分利用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VLSI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芯片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的面积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VLSI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"/>
              </a:rPr>
              <a:t>超大规模集成电路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(Very Large Scale Integration)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的简称，指几毫米见方的硅片上集成上万至百万晶体管、线宽在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微米以下的集成电路。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2916" name="Text Box 4"/>
          <p:cNvSpPr txBox="1"/>
          <p:nvPr/>
        </p:nvSpPr>
        <p:spPr>
          <a:xfrm>
            <a:off x="2424113" y="2505075"/>
            <a:ext cx="7847012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RISC </a:t>
            </a:r>
            <a:r>
              <a:rPr lang="zh-CN" altLang="en-US" sz="2800" b="1" dirty="0">
                <a:latin typeface="Times New Roman" panose="02020603050405020304" pitchFamily="18" charset="0"/>
              </a:rPr>
              <a:t>更能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提高计算机运算速度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2917" name="Text Box 5"/>
          <p:cNvSpPr txBox="1"/>
          <p:nvPr/>
        </p:nvSpPr>
        <p:spPr>
          <a:xfrm>
            <a:off x="2678113" y="2951163"/>
            <a:ext cx="6334125" cy="16414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指令数、指令格式、寻址方式少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通用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寄存器多</a:t>
            </a:r>
            <a:r>
              <a:rPr lang="zh-CN" altLang="en-US" sz="2800" b="1" dirty="0">
                <a:latin typeface="Times New Roman" panose="02020603050405020304" pitchFamily="18" charset="0"/>
              </a:rPr>
              <a:t>，采用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组合逻辑</a:t>
            </a:r>
            <a:r>
              <a:rPr lang="zh-CN" altLang="en-US" sz="2800" b="1" dirty="0">
                <a:latin typeface="Times New Roman" panose="02020603050405020304" pitchFamily="18" charset="0"/>
              </a:rPr>
              <a:t> 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便于实现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指令流水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2918" name="Text Box 6"/>
          <p:cNvSpPr txBox="1"/>
          <p:nvPr/>
        </p:nvSpPr>
        <p:spPr>
          <a:xfrm>
            <a:off x="2424113" y="4514850"/>
            <a:ext cx="762000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603050405020304" pitchFamily="18" charset="0"/>
              </a:rPr>
              <a:t>3. RISC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便于设计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，可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降低成本</a:t>
            </a:r>
            <a:r>
              <a:rPr lang="zh-CN" altLang="en-US" sz="2800" b="1" dirty="0">
                <a:latin typeface="Times New Roman" panose="02020603050405020304" pitchFamily="18" charset="0"/>
              </a:rPr>
              <a:t>，提高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可靠性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2919" name="Text Box 7"/>
          <p:cNvSpPr txBox="1"/>
          <p:nvPr/>
        </p:nvSpPr>
        <p:spPr>
          <a:xfrm>
            <a:off x="2424113" y="5187950"/>
            <a:ext cx="7056437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603050405020304" pitchFamily="18" charset="0"/>
              </a:rPr>
              <a:t>4. RISC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有利于编译程序代码优化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2920" name="Text Box 8"/>
          <p:cNvSpPr txBox="1"/>
          <p:nvPr/>
        </p:nvSpPr>
        <p:spPr>
          <a:xfrm>
            <a:off x="2425700" y="5862638"/>
            <a:ext cx="6838950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603050405020304" pitchFamily="18" charset="0"/>
              </a:rPr>
              <a:t>5.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RISC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不易 </a:t>
            </a:r>
            <a:r>
              <a:rPr lang="zh-CN" altLang="en-US" sz="2800" b="1" dirty="0">
                <a:latin typeface="Times New Roman" panose="02020603050405020304" pitchFamily="18" charset="0"/>
              </a:rPr>
              <a:t>实现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指令系统兼容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61481" name="Rectangle 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2922" name="AutoShape 1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292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3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423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7.4</a:t>
            </a:r>
            <a:endParaRPr lang="en-US" altLang="zh-CN" dirty="0"/>
          </a:p>
        </p:txBody>
      </p:sp>
      <p:sp>
        <p:nvSpPr>
          <p:cNvPr id="42394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4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zh-CN" altLang="en-US" dirty="0"/>
              <a:t>指令系统总结</a:t>
            </a:r>
            <a:endParaRPr lang="zh-CN" altLang="en-US" dirty="0"/>
          </a:p>
        </p:txBody>
      </p:sp>
      <p:sp>
        <p:nvSpPr>
          <p:cNvPr id="424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什么叫指令系统</a:t>
            </a:r>
            <a:endParaRPr lang="zh-CN" altLang="en-US" dirty="0"/>
          </a:p>
          <a:p>
            <a:pPr eaLnBrk="1" hangingPunct="1"/>
            <a:r>
              <a:rPr lang="zh-CN" altLang="en-US" dirty="0"/>
              <a:t>指令的格式</a:t>
            </a:r>
            <a:endParaRPr lang="zh-CN" altLang="en-US" dirty="0"/>
          </a:p>
          <a:p>
            <a:pPr eaLnBrk="1" hangingPunct="1"/>
            <a:r>
              <a:rPr lang="zh-CN" altLang="en-US" dirty="0"/>
              <a:t>寻址方式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各种寻址方式</a:t>
            </a:r>
            <a:endParaRPr lang="zh-CN" altLang="en-US" dirty="0"/>
          </a:p>
          <a:p>
            <a:pPr lvl="1"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指令设计举例</a:t>
            </a:r>
            <a:r>
              <a:rPr lang="en-US" altLang="zh-CN" dirty="0"/>
              <a:t>323</a:t>
            </a:r>
            <a:r>
              <a:rPr lang="zh-CN" altLang="en-US" dirty="0"/>
              <a:t>页</a:t>
            </a:r>
            <a:endParaRPr lang="zh-CN" altLang="en-US" dirty="0"/>
          </a:p>
          <a:p>
            <a:pPr eaLnBrk="1" hangingPunct="1"/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???</a:t>
            </a:r>
            <a:r>
              <a:rPr lang="zh-CN" altLang="en-US" dirty="0">
                <a:solidFill>
                  <a:srgbClr val="0000CC"/>
                </a:solidFill>
              </a:rPr>
              <a:t>指令系统放在哪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42496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5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zh-CN" altLang="en-US" b="1" dirty="0"/>
              <a:t>第８章   </a:t>
            </a:r>
            <a:r>
              <a:rPr lang="en-US" altLang="zh-CN" b="1" dirty="0"/>
              <a:t>CPU </a:t>
            </a:r>
            <a:r>
              <a:rPr lang="zh-CN" altLang="en-US" b="1" dirty="0"/>
              <a:t>的结构和功能</a:t>
            </a:r>
            <a:endParaRPr lang="zh-CN" altLang="en-US" b="1" dirty="0"/>
          </a:p>
        </p:txBody>
      </p:sp>
      <p:grpSp>
        <p:nvGrpSpPr>
          <p:cNvPr id="425987" name="Group 3"/>
          <p:cNvGrpSpPr/>
          <p:nvPr/>
        </p:nvGrpSpPr>
        <p:grpSpPr>
          <a:xfrm>
            <a:off x="4724400" y="1981200"/>
            <a:ext cx="5715000" cy="3175001"/>
            <a:chOff x="624" y="1248"/>
            <a:chExt cx="3600" cy="2000"/>
          </a:xfrm>
        </p:grpSpPr>
        <p:sp>
          <p:nvSpPr>
            <p:cNvPr id="425990" name="Text Box 4"/>
            <p:cNvSpPr txBox="1"/>
            <p:nvPr/>
          </p:nvSpPr>
          <p:spPr>
            <a:xfrm>
              <a:off x="624" y="1248"/>
              <a:ext cx="36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8.1  CPU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的结构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5991" name="Text Box 5"/>
            <p:cNvSpPr txBox="1"/>
            <p:nvPr/>
          </p:nvSpPr>
          <p:spPr>
            <a:xfrm>
              <a:off x="624" y="2336"/>
              <a:ext cx="36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8.3 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指令流水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5992" name="Text Box 6"/>
            <p:cNvSpPr txBox="1"/>
            <p:nvPr/>
          </p:nvSpPr>
          <p:spPr>
            <a:xfrm>
              <a:off x="624" y="1792"/>
              <a:ext cx="36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8.2 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指令周期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5993" name="Text Box 7"/>
            <p:cNvSpPr txBox="1"/>
            <p:nvPr/>
          </p:nvSpPr>
          <p:spPr>
            <a:xfrm>
              <a:off x="624" y="2880"/>
              <a:ext cx="36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  <a:hlinkClick r:id="" action="ppaction://noaction"/>
                </a:rPr>
                <a:t>8.4  </a:t>
              </a:r>
              <a:r>
                <a:rPr lang="zh-CN" altLang="en-US" sz="3200" b="1" dirty="0">
                  <a:latin typeface="Times New Roman" panose="02020603050405020304" pitchFamily="18" charset="0"/>
                  <a:hlinkClick r:id="" action="ppaction://noaction"/>
                </a:rPr>
                <a:t>中断系统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5988" name="AutoShape 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598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7010" name="Rectangle 2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8.1   CPU </a:t>
            </a:r>
            <a:r>
              <a:rPr lang="zh-CN" altLang="en-US" b="1" dirty="0"/>
              <a:t>的结构</a:t>
            </a:r>
            <a:endParaRPr lang="zh-CN" altLang="en-US" b="1" dirty="0"/>
          </a:p>
        </p:txBody>
      </p:sp>
      <p:sp>
        <p:nvSpPr>
          <p:cNvPr id="427011" name="Text Box 3"/>
          <p:cNvSpPr txBox="1"/>
          <p:nvPr/>
        </p:nvSpPr>
        <p:spPr>
          <a:xfrm>
            <a:off x="2209800" y="12192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 </a:t>
            </a:r>
            <a:r>
              <a:rPr lang="en-US" altLang="zh-CN" sz="3200" b="1" dirty="0">
                <a:latin typeface="Times New Roman" panose="02020603050405020304" pitchFamily="18" charset="0"/>
              </a:rPr>
              <a:t>CPU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的功能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7012" name="Text Box 4"/>
          <p:cNvSpPr txBox="1"/>
          <p:nvPr/>
        </p:nvSpPr>
        <p:spPr>
          <a:xfrm>
            <a:off x="3048000" y="2397125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取指令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13" name="Text Box 5"/>
          <p:cNvSpPr txBox="1"/>
          <p:nvPr/>
        </p:nvSpPr>
        <p:spPr>
          <a:xfrm>
            <a:off x="3048000" y="2925763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分析指令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14" name="Text Box 6"/>
          <p:cNvSpPr txBox="1"/>
          <p:nvPr/>
        </p:nvSpPr>
        <p:spPr>
          <a:xfrm>
            <a:off x="3048000" y="3454400"/>
            <a:ext cx="5029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执行指令，发出各种操作命令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15" name="Text Box 7"/>
          <p:cNvSpPr txBox="1"/>
          <p:nvPr/>
        </p:nvSpPr>
        <p:spPr>
          <a:xfrm>
            <a:off x="3048000" y="3981450"/>
            <a:ext cx="480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控制程序输入及结果的输出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16" name="Text Box 8"/>
          <p:cNvSpPr txBox="1"/>
          <p:nvPr/>
        </p:nvSpPr>
        <p:spPr>
          <a:xfrm>
            <a:off x="3048000" y="4510088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总线管理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17" name="Text Box 9"/>
          <p:cNvSpPr txBox="1"/>
          <p:nvPr/>
        </p:nvSpPr>
        <p:spPr>
          <a:xfrm>
            <a:off x="3048000" y="5038725"/>
            <a:ext cx="480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处理异常情况和特殊请求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18" name="Text Box 10"/>
          <p:cNvSpPr txBox="1"/>
          <p:nvPr/>
        </p:nvSpPr>
        <p:spPr>
          <a:xfrm>
            <a:off x="2590800" y="1868488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</a:rPr>
              <a:t>控制器的功能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19" name="Text Box 11"/>
          <p:cNvSpPr txBox="1"/>
          <p:nvPr/>
        </p:nvSpPr>
        <p:spPr>
          <a:xfrm>
            <a:off x="2590800" y="5567363"/>
            <a:ext cx="5410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2.  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运算器的功能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20" name="Text Box 12"/>
          <p:cNvSpPr txBox="1"/>
          <p:nvPr/>
        </p:nvSpPr>
        <p:spPr>
          <a:xfrm>
            <a:off x="2971800" y="6096000"/>
            <a:ext cx="480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实现算术运算和逻辑运算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21" name="Text Box 13"/>
          <p:cNvSpPr txBox="1"/>
          <p:nvPr/>
        </p:nvSpPr>
        <p:spPr>
          <a:xfrm>
            <a:off x="7924800" y="2438400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指令控制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22" name="Text Box 14"/>
          <p:cNvSpPr txBox="1"/>
          <p:nvPr/>
        </p:nvSpPr>
        <p:spPr>
          <a:xfrm>
            <a:off x="7924800" y="3124200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操作控制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23" name="Text Box 15"/>
          <p:cNvSpPr txBox="1"/>
          <p:nvPr/>
        </p:nvSpPr>
        <p:spPr>
          <a:xfrm>
            <a:off x="7924800" y="3810000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时间控制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24" name="Text Box 16"/>
          <p:cNvSpPr txBox="1"/>
          <p:nvPr/>
        </p:nvSpPr>
        <p:spPr>
          <a:xfrm>
            <a:off x="7924800" y="5181600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数据加工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25" name="Text Box 17"/>
          <p:cNvSpPr txBox="1"/>
          <p:nvPr/>
        </p:nvSpPr>
        <p:spPr>
          <a:xfrm>
            <a:off x="7924800" y="4495800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处理中断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26" name="AutoShape 1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702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8034" name="Text Box 2"/>
          <p:cNvSpPr txBox="1"/>
          <p:nvPr/>
        </p:nvSpPr>
        <p:spPr>
          <a:xfrm>
            <a:off x="2057400" y="152400"/>
            <a:ext cx="5715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二、</a:t>
            </a:r>
            <a:r>
              <a:rPr lang="en-US" altLang="zh-CN" sz="3600" b="1" dirty="0">
                <a:latin typeface="Times New Roman" panose="02020603050405020304" pitchFamily="18" charset="0"/>
              </a:rPr>
              <a:t>CPU </a:t>
            </a:r>
            <a:r>
              <a:rPr lang="zh-CN" altLang="en-US" sz="3600" b="1" dirty="0">
                <a:latin typeface="Times New Roman" panose="02020603050405020304" pitchFamily="18" charset="0"/>
              </a:rPr>
              <a:t>结构框图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75811" name="Text Box 3"/>
          <p:cNvSpPr txBox="1"/>
          <p:nvPr/>
        </p:nvSpPr>
        <p:spPr>
          <a:xfrm>
            <a:off x="6096000" y="1447800"/>
            <a:ext cx="27432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200" b="1" dirty="0">
                <a:latin typeface="Times New Roman" panose="02020603050405020304" pitchFamily="18" charset="0"/>
              </a:rPr>
              <a:t>PC   IR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886200" y="1447800"/>
            <a:ext cx="4800600" cy="2441575"/>
            <a:chOff x="1488" y="912"/>
            <a:chExt cx="3024" cy="1538"/>
          </a:xfrm>
        </p:grpSpPr>
        <p:sp>
          <p:nvSpPr>
            <p:cNvPr id="428069" name="Text Box 5"/>
            <p:cNvSpPr txBox="1"/>
            <p:nvPr/>
          </p:nvSpPr>
          <p:spPr>
            <a:xfrm>
              <a:off x="1488" y="912"/>
              <a:ext cx="172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指令控制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70" name="Text Box 6"/>
            <p:cNvSpPr txBox="1"/>
            <p:nvPr/>
          </p:nvSpPr>
          <p:spPr>
            <a:xfrm>
              <a:off x="1488" y="1228"/>
              <a:ext cx="172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操作控制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71" name="Text Box 7"/>
            <p:cNvSpPr txBox="1"/>
            <p:nvPr/>
          </p:nvSpPr>
          <p:spPr>
            <a:xfrm>
              <a:off x="1488" y="1545"/>
              <a:ext cx="288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时间控制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72" name="Text Box 8"/>
            <p:cNvSpPr txBox="1"/>
            <p:nvPr/>
          </p:nvSpPr>
          <p:spPr>
            <a:xfrm>
              <a:off x="1488" y="1862"/>
              <a:ext cx="302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数据加工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73" name="Text Box 9"/>
            <p:cNvSpPr txBox="1"/>
            <p:nvPr/>
          </p:nvSpPr>
          <p:spPr>
            <a:xfrm>
              <a:off x="1488" y="2179"/>
              <a:ext cx="172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处理中断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5818" name="Text Box 10"/>
          <p:cNvSpPr txBox="1"/>
          <p:nvPr/>
        </p:nvSpPr>
        <p:spPr>
          <a:xfrm>
            <a:off x="6096000" y="2955925"/>
            <a:ext cx="27432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200" b="1" dirty="0">
                <a:latin typeface="Times New Roman" panose="02020603050405020304" pitchFamily="18" charset="0"/>
              </a:rPr>
              <a:t>ALU  </a:t>
            </a:r>
            <a:r>
              <a:rPr lang="zh-CN" altLang="en-US" sz="2200" b="1" dirty="0">
                <a:latin typeface="Times New Roman" panose="02020603050405020304" pitchFamily="18" charset="0"/>
              </a:rPr>
              <a:t>寄存器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75819" name="Text Box 11"/>
          <p:cNvSpPr txBox="1"/>
          <p:nvPr/>
        </p:nvSpPr>
        <p:spPr>
          <a:xfrm>
            <a:off x="6096000" y="3459163"/>
            <a:ext cx="27432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中断系统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75820" name="Text Box 12"/>
          <p:cNvSpPr txBox="1"/>
          <p:nvPr/>
        </p:nvSpPr>
        <p:spPr>
          <a:xfrm>
            <a:off x="2667000" y="914400"/>
            <a:ext cx="3200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 CPU </a:t>
            </a:r>
            <a:r>
              <a:rPr lang="zh-CN" altLang="en-US" sz="2400" b="1" dirty="0">
                <a:latin typeface="Times New Roman" panose="02020603050405020304" pitchFamily="18" charset="0"/>
              </a:rPr>
              <a:t>与系统总线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5821" name="Text Box 13"/>
          <p:cNvSpPr txBox="1"/>
          <p:nvPr/>
        </p:nvSpPr>
        <p:spPr>
          <a:xfrm>
            <a:off x="6096000" y="2163763"/>
            <a:ext cx="2743200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200" b="1" dirty="0">
                <a:latin typeface="Times New Roman" panose="02020603050405020304" pitchFamily="18" charset="0"/>
              </a:rPr>
              <a:t>CU   </a:t>
            </a:r>
            <a:r>
              <a:rPr lang="zh-CN" altLang="en-US" sz="2200" b="1" dirty="0">
                <a:latin typeface="Times New Roman" panose="02020603050405020304" pitchFamily="18" charset="0"/>
              </a:rPr>
              <a:t>时序电路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75822" name="AutoShape 14"/>
          <p:cNvSpPr/>
          <p:nvPr/>
        </p:nvSpPr>
        <p:spPr>
          <a:xfrm>
            <a:off x="5257800" y="2239512"/>
            <a:ext cx="152400" cy="397776"/>
          </a:xfrm>
          <a:prstGeom prst="rightBrace">
            <a:avLst>
              <a:gd name="adj1" fmla="val 33018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" name="Group 15"/>
          <p:cNvGrpSpPr/>
          <p:nvPr/>
        </p:nvGrpSpPr>
        <p:grpSpPr>
          <a:xfrm>
            <a:off x="5410200" y="4572000"/>
            <a:ext cx="944563" cy="685800"/>
            <a:chOff x="2448" y="2880"/>
            <a:chExt cx="595" cy="432"/>
          </a:xfrm>
        </p:grpSpPr>
        <p:sp>
          <p:nvSpPr>
            <p:cNvPr id="428067" name="Text Box 16"/>
            <p:cNvSpPr txBox="1"/>
            <p:nvPr/>
          </p:nvSpPr>
          <p:spPr>
            <a:xfrm>
              <a:off x="2448" y="2966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寄存器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68" name="Rectangle 17"/>
            <p:cNvSpPr/>
            <p:nvPr/>
          </p:nvSpPr>
          <p:spPr>
            <a:xfrm>
              <a:off x="2473" y="2880"/>
              <a:ext cx="551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8"/>
          <p:cNvGrpSpPr/>
          <p:nvPr/>
        </p:nvGrpSpPr>
        <p:grpSpPr>
          <a:xfrm>
            <a:off x="4154488" y="4572000"/>
            <a:ext cx="874712" cy="685800"/>
            <a:chOff x="1657" y="2880"/>
            <a:chExt cx="551" cy="432"/>
          </a:xfrm>
        </p:grpSpPr>
        <p:sp>
          <p:nvSpPr>
            <p:cNvPr id="428065" name="Text Box 19"/>
            <p:cNvSpPr txBox="1"/>
            <p:nvPr/>
          </p:nvSpPr>
          <p:spPr>
            <a:xfrm>
              <a:off x="1718" y="2966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ALU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66" name="Rectangle 20"/>
            <p:cNvSpPr/>
            <p:nvPr/>
          </p:nvSpPr>
          <p:spPr>
            <a:xfrm>
              <a:off x="1657" y="2880"/>
              <a:ext cx="551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4154488" y="5546725"/>
            <a:ext cx="874712" cy="706438"/>
            <a:chOff x="1344" y="2438"/>
            <a:chExt cx="551" cy="445"/>
          </a:xfrm>
        </p:grpSpPr>
        <p:sp>
          <p:nvSpPr>
            <p:cNvPr id="428063" name="Text Box 22"/>
            <p:cNvSpPr txBox="1"/>
            <p:nvPr/>
          </p:nvSpPr>
          <p:spPr>
            <a:xfrm>
              <a:off x="1382" y="2438"/>
              <a:ext cx="45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中断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1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系统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64" name="Rectangle 23"/>
            <p:cNvSpPr/>
            <p:nvPr/>
          </p:nvSpPr>
          <p:spPr>
            <a:xfrm>
              <a:off x="1344" y="2448"/>
              <a:ext cx="551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4"/>
          <p:cNvGrpSpPr/>
          <p:nvPr/>
        </p:nvGrpSpPr>
        <p:grpSpPr>
          <a:xfrm>
            <a:off x="5410200" y="5562600"/>
            <a:ext cx="874713" cy="685800"/>
            <a:chOff x="2448" y="3504"/>
            <a:chExt cx="551" cy="432"/>
          </a:xfrm>
        </p:grpSpPr>
        <p:sp>
          <p:nvSpPr>
            <p:cNvPr id="428061" name="Text Box 25"/>
            <p:cNvSpPr txBox="1"/>
            <p:nvPr/>
          </p:nvSpPr>
          <p:spPr>
            <a:xfrm>
              <a:off x="2544" y="3600"/>
              <a:ext cx="3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62" name="Rectangle 26"/>
            <p:cNvSpPr/>
            <p:nvPr/>
          </p:nvSpPr>
          <p:spPr>
            <a:xfrm>
              <a:off x="2448" y="3504"/>
              <a:ext cx="551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27"/>
          <p:cNvGrpSpPr/>
          <p:nvPr/>
        </p:nvGrpSpPr>
        <p:grpSpPr>
          <a:xfrm>
            <a:off x="3863975" y="4114800"/>
            <a:ext cx="4441825" cy="2514600"/>
            <a:chOff x="1474" y="2592"/>
            <a:chExt cx="2798" cy="1584"/>
          </a:xfrm>
        </p:grpSpPr>
        <p:sp>
          <p:nvSpPr>
            <p:cNvPr id="428050" name="Rectangle 28"/>
            <p:cNvSpPr/>
            <p:nvPr/>
          </p:nvSpPr>
          <p:spPr>
            <a:xfrm>
              <a:off x="1488" y="2640"/>
              <a:ext cx="1728" cy="14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8051" name="Text Box 29"/>
            <p:cNvSpPr txBox="1"/>
            <p:nvPr/>
          </p:nvSpPr>
          <p:spPr>
            <a:xfrm>
              <a:off x="1474" y="2630"/>
              <a:ext cx="44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CPU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52" name="Rectangle 30"/>
            <p:cNvSpPr/>
            <p:nvPr/>
          </p:nvSpPr>
          <p:spPr>
            <a:xfrm>
              <a:off x="3840" y="2592"/>
              <a:ext cx="96" cy="158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8053" name="Rectangle 31"/>
            <p:cNvSpPr/>
            <p:nvPr/>
          </p:nvSpPr>
          <p:spPr>
            <a:xfrm>
              <a:off x="4176" y="2592"/>
              <a:ext cx="96" cy="158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8054" name="Rectangle 32"/>
            <p:cNvSpPr/>
            <p:nvPr/>
          </p:nvSpPr>
          <p:spPr>
            <a:xfrm>
              <a:off x="3504" y="2592"/>
              <a:ext cx="96" cy="158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8055" name="AutoShape 33"/>
            <p:cNvSpPr/>
            <p:nvPr/>
          </p:nvSpPr>
          <p:spPr>
            <a:xfrm>
              <a:off x="3216" y="2832"/>
              <a:ext cx="288" cy="144"/>
            </a:xfrm>
            <a:prstGeom prst="leftRightArrow">
              <a:avLst>
                <a:gd name="adj1" fmla="val 51037"/>
                <a:gd name="adj2" fmla="val 69287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8056" name="AutoShape 34"/>
            <p:cNvSpPr/>
            <p:nvPr/>
          </p:nvSpPr>
          <p:spPr>
            <a:xfrm>
              <a:off x="3216" y="3120"/>
              <a:ext cx="624" cy="144"/>
            </a:xfrm>
            <a:prstGeom prst="leftRightArrow">
              <a:avLst>
                <a:gd name="adj1" fmla="val 50000"/>
                <a:gd name="adj2" fmla="val 86325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8057" name="Text Box 35"/>
            <p:cNvSpPr txBox="1"/>
            <p:nvPr/>
          </p:nvSpPr>
          <p:spPr>
            <a:xfrm>
              <a:off x="3286" y="3513"/>
              <a:ext cx="290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控制总线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58" name="Text Box 36"/>
            <p:cNvSpPr txBox="1"/>
            <p:nvPr/>
          </p:nvSpPr>
          <p:spPr>
            <a:xfrm>
              <a:off x="3621" y="3513"/>
              <a:ext cx="290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数据总线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59" name="Text Box 37"/>
            <p:cNvSpPr txBox="1"/>
            <p:nvPr/>
          </p:nvSpPr>
          <p:spPr>
            <a:xfrm>
              <a:off x="3957" y="3513"/>
              <a:ext cx="290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地址总线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8060" name="AutoShape 38"/>
            <p:cNvSpPr/>
            <p:nvPr/>
          </p:nvSpPr>
          <p:spPr>
            <a:xfrm>
              <a:off x="3225" y="3310"/>
              <a:ext cx="960" cy="304"/>
            </a:xfrm>
            <a:prstGeom prst="rightArrow">
              <a:avLst>
                <a:gd name="adj1" fmla="val 50000"/>
                <a:gd name="adj2" fmla="val 91820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75847" name="Rectangle 3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8048" name="AutoShape 4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8049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75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7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7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1" grpId="0"/>
      <p:bldP spid="375818" grpId="0"/>
      <p:bldP spid="375819" grpId="0"/>
      <p:bldP spid="375820" grpId="0"/>
      <p:bldP spid="375821" grpId="0"/>
      <p:bldP spid="375822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9058" name="Text Box 2"/>
          <p:cNvSpPr txBox="1"/>
          <p:nvPr/>
        </p:nvSpPr>
        <p:spPr>
          <a:xfrm>
            <a:off x="2286000" y="457200"/>
            <a:ext cx="4648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CPU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的内部结构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060" name="AutoShape 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29061" name="Group 5"/>
          <p:cNvGrpSpPr/>
          <p:nvPr/>
        </p:nvGrpSpPr>
        <p:grpSpPr>
          <a:xfrm>
            <a:off x="3255963" y="1828800"/>
            <a:ext cx="4814887" cy="3754438"/>
            <a:chOff x="1091" y="1152"/>
            <a:chExt cx="3033" cy="2365"/>
          </a:xfrm>
        </p:grpSpPr>
        <p:sp>
          <p:nvSpPr>
            <p:cNvPr id="429063" name="Text Box 6"/>
            <p:cNvSpPr txBox="1"/>
            <p:nvPr/>
          </p:nvSpPr>
          <p:spPr>
            <a:xfrm>
              <a:off x="1513" y="2457"/>
              <a:ext cx="75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算术和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布尔逻辑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64" name="Rectangle 7"/>
            <p:cNvSpPr/>
            <p:nvPr/>
          </p:nvSpPr>
          <p:spPr>
            <a:xfrm>
              <a:off x="1475" y="2448"/>
              <a:ext cx="816" cy="48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65" name="Rectangle 8"/>
            <p:cNvSpPr/>
            <p:nvPr/>
          </p:nvSpPr>
          <p:spPr>
            <a:xfrm>
              <a:off x="1475" y="2112"/>
              <a:ext cx="81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66" name="Text Box 9"/>
            <p:cNvSpPr txBox="1"/>
            <p:nvPr/>
          </p:nvSpPr>
          <p:spPr>
            <a:xfrm>
              <a:off x="1661" y="2102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67" name="Rectangle 10"/>
            <p:cNvSpPr/>
            <p:nvPr/>
          </p:nvSpPr>
          <p:spPr>
            <a:xfrm>
              <a:off x="1475" y="1776"/>
              <a:ext cx="81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68" name="Text Box 11"/>
            <p:cNvSpPr txBox="1"/>
            <p:nvPr/>
          </p:nvSpPr>
          <p:spPr>
            <a:xfrm>
              <a:off x="1661" y="176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移位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69" name="Rectangle 12"/>
            <p:cNvSpPr/>
            <p:nvPr/>
          </p:nvSpPr>
          <p:spPr>
            <a:xfrm>
              <a:off x="1475" y="1440"/>
              <a:ext cx="81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70" name="Text Box 13"/>
            <p:cNvSpPr txBox="1"/>
            <p:nvPr/>
          </p:nvSpPr>
          <p:spPr>
            <a:xfrm>
              <a:off x="1513" y="1430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状态标志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71" name="Text Box 14"/>
            <p:cNvSpPr txBox="1"/>
            <p:nvPr/>
          </p:nvSpPr>
          <p:spPr>
            <a:xfrm>
              <a:off x="2757" y="1344"/>
              <a:ext cx="309" cy="153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内部             数据总线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72" name="Rectangle 15"/>
            <p:cNvSpPr/>
            <p:nvPr/>
          </p:nvSpPr>
          <p:spPr>
            <a:xfrm>
              <a:off x="2771" y="1152"/>
              <a:ext cx="288" cy="18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73" name="Text Box 16"/>
            <p:cNvSpPr txBox="1"/>
            <p:nvPr/>
          </p:nvSpPr>
          <p:spPr>
            <a:xfrm>
              <a:off x="3529" y="1536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寄存器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74" name="Rectangle 17"/>
            <p:cNvSpPr/>
            <p:nvPr/>
          </p:nvSpPr>
          <p:spPr>
            <a:xfrm>
              <a:off x="3539" y="1152"/>
              <a:ext cx="576" cy="120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75" name="Text Box 18"/>
            <p:cNvSpPr txBox="1"/>
            <p:nvPr/>
          </p:nvSpPr>
          <p:spPr>
            <a:xfrm>
              <a:off x="3635" y="2582"/>
              <a:ext cx="3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76" name="Rectangle 19"/>
            <p:cNvSpPr/>
            <p:nvPr/>
          </p:nvSpPr>
          <p:spPr>
            <a:xfrm>
              <a:off x="3539" y="2592"/>
              <a:ext cx="57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77" name="Text Box 20"/>
            <p:cNvSpPr txBox="1"/>
            <p:nvPr/>
          </p:nvSpPr>
          <p:spPr>
            <a:xfrm>
              <a:off x="3629" y="3072"/>
              <a:ext cx="43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中断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系统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78" name="Rectangle 21"/>
            <p:cNvSpPr/>
            <p:nvPr/>
          </p:nvSpPr>
          <p:spPr>
            <a:xfrm>
              <a:off x="3539" y="3082"/>
              <a:ext cx="576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79" name="Line 22"/>
            <p:cNvSpPr/>
            <p:nvPr/>
          </p:nvSpPr>
          <p:spPr>
            <a:xfrm>
              <a:off x="2291" y="1536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0" name="Line 23"/>
            <p:cNvSpPr/>
            <p:nvPr/>
          </p:nvSpPr>
          <p:spPr>
            <a:xfrm>
              <a:off x="2291" y="1872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1" name="Line 24"/>
            <p:cNvSpPr/>
            <p:nvPr/>
          </p:nvSpPr>
          <p:spPr>
            <a:xfrm>
              <a:off x="2291" y="2208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2" name="Line 25"/>
            <p:cNvSpPr/>
            <p:nvPr/>
          </p:nvSpPr>
          <p:spPr>
            <a:xfrm>
              <a:off x="2291" y="2688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3" name="Line 26"/>
            <p:cNvSpPr/>
            <p:nvPr/>
          </p:nvSpPr>
          <p:spPr>
            <a:xfrm>
              <a:off x="3059" y="1536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4" name="Line 27"/>
            <p:cNvSpPr/>
            <p:nvPr/>
          </p:nvSpPr>
          <p:spPr>
            <a:xfrm>
              <a:off x="3059" y="1680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5" name="Line 28"/>
            <p:cNvSpPr/>
            <p:nvPr/>
          </p:nvSpPr>
          <p:spPr>
            <a:xfrm>
              <a:off x="3059" y="2208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6" name="Line 29"/>
            <p:cNvSpPr/>
            <p:nvPr/>
          </p:nvSpPr>
          <p:spPr>
            <a:xfrm>
              <a:off x="1235" y="153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7" name="Line 30"/>
            <p:cNvSpPr/>
            <p:nvPr/>
          </p:nvSpPr>
          <p:spPr>
            <a:xfrm>
              <a:off x="1235" y="187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8" name="Line 31"/>
            <p:cNvSpPr/>
            <p:nvPr/>
          </p:nvSpPr>
          <p:spPr>
            <a:xfrm>
              <a:off x="1235" y="2208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89" name="Line 32"/>
            <p:cNvSpPr/>
            <p:nvPr/>
          </p:nvSpPr>
          <p:spPr>
            <a:xfrm>
              <a:off x="1235" y="2688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29090" name="Line 33"/>
            <p:cNvSpPr/>
            <p:nvPr/>
          </p:nvSpPr>
          <p:spPr>
            <a:xfrm>
              <a:off x="1235" y="1536"/>
              <a:ext cx="0" cy="117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9091" name="Rectangle 34"/>
            <p:cNvSpPr/>
            <p:nvPr/>
          </p:nvSpPr>
          <p:spPr>
            <a:xfrm>
              <a:off x="1091" y="1152"/>
              <a:ext cx="1440" cy="18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lgDashDot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92" name="Text Box 35"/>
            <p:cNvSpPr txBox="1"/>
            <p:nvPr/>
          </p:nvSpPr>
          <p:spPr>
            <a:xfrm>
              <a:off x="1513" y="1161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ALU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93" name="AutoShape 36"/>
            <p:cNvSpPr/>
            <p:nvPr/>
          </p:nvSpPr>
          <p:spPr>
            <a:xfrm>
              <a:off x="3059" y="2640"/>
              <a:ext cx="480" cy="96"/>
            </a:xfrm>
            <a:prstGeom prst="leftRightArrow">
              <a:avLst>
                <a:gd name="adj1" fmla="val 50000"/>
                <a:gd name="adj2" fmla="val 1000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94" name="AutoShape 37"/>
            <p:cNvSpPr/>
            <p:nvPr/>
          </p:nvSpPr>
          <p:spPr>
            <a:xfrm>
              <a:off x="3779" y="2832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95" name="AutoShape 38"/>
            <p:cNvSpPr/>
            <p:nvPr/>
          </p:nvSpPr>
          <p:spPr>
            <a:xfrm>
              <a:off x="3251" y="2208"/>
              <a:ext cx="109" cy="1248"/>
            </a:xfrm>
            <a:prstGeom prst="upArrow">
              <a:avLst>
                <a:gd name="adj1" fmla="val 50000"/>
                <a:gd name="adj2" fmla="val 122022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96" name="AutoShape 39"/>
            <p:cNvSpPr/>
            <p:nvPr/>
          </p:nvSpPr>
          <p:spPr>
            <a:xfrm>
              <a:off x="1667" y="3024"/>
              <a:ext cx="109" cy="432"/>
            </a:xfrm>
            <a:prstGeom prst="upArrow">
              <a:avLst>
                <a:gd name="adj1" fmla="val 50000"/>
                <a:gd name="adj2" fmla="val 9877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97" name="Rectangle 40"/>
            <p:cNvSpPr/>
            <p:nvPr/>
          </p:nvSpPr>
          <p:spPr>
            <a:xfrm>
              <a:off x="1715" y="3408"/>
              <a:ext cx="1584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098" name="Text Box 41"/>
            <p:cNvSpPr txBox="1"/>
            <p:nvPr/>
          </p:nvSpPr>
          <p:spPr>
            <a:xfrm>
              <a:off x="2099" y="3177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控制信号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099" name="Text Box 42"/>
            <p:cNvSpPr txBox="1"/>
            <p:nvPr/>
          </p:nvSpPr>
          <p:spPr>
            <a:xfrm>
              <a:off x="3204" y="1824"/>
              <a:ext cx="348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29100" name="AutoShape 43"/>
            <p:cNvSpPr/>
            <p:nvPr/>
          </p:nvSpPr>
          <p:spPr>
            <a:xfrm>
              <a:off x="3343" y="3124"/>
              <a:ext cx="234" cy="280"/>
            </a:xfrm>
            <a:prstGeom prst="leftRightArrow">
              <a:avLst>
                <a:gd name="adj1" fmla="val 50000"/>
                <a:gd name="adj2" fmla="val 40000"/>
              </a:avLst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101" name="AutoShape 44"/>
            <p:cNvSpPr/>
            <p:nvPr/>
          </p:nvSpPr>
          <p:spPr>
            <a:xfrm>
              <a:off x="3779" y="2332"/>
              <a:ext cx="96" cy="28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9102" name="Text Box 45"/>
            <p:cNvSpPr txBox="1"/>
            <p:nvPr/>
          </p:nvSpPr>
          <p:spPr>
            <a:xfrm>
              <a:off x="2762" y="1715"/>
              <a:ext cx="309" cy="5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C P 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906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82" name="Text Box 2"/>
          <p:cNvSpPr txBox="1"/>
          <p:nvPr/>
        </p:nvSpPr>
        <p:spPr>
          <a:xfrm>
            <a:off x="2057400" y="930275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</a:rPr>
              <a:t>用户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可见</a:t>
            </a:r>
            <a:r>
              <a:rPr lang="zh-CN" altLang="en-US" sz="2400" b="1" dirty="0">
                <a:latin typeface="Times New Roman" panose="02020603050405020304" pitchFamily="18" charset="0"/>
              </a:rPr>
              <a:t>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83" name="Text Box 3"/>
          <p:cNvSpPr txBox="1"/>
          <p:nvPr/>
        </p:nvSpPr>
        <p:spPr>
          <a:xfrm>
            <a:off x="2286000" y="15240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</a:rPr>
              <a:t>通用寄存器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84" name="Text Box 4"/>
          <p:cNvSpPr txBox="1"/>
          <p:nvPr/>
        </p:nvSpPr>
        <p:spPr>
          <a:xfrm>
            <a:off x="1752600" y="2286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三、 </a:t>
            </a:r>
            <a:r>
              <a:rPr lang="en-US" altLang="zh-CN" sz="3200" b="1" dirty="0">
                <a:latin typeface="Times New Roman" panose="02020603050405020304" pitchFamily="18" charset="0"/>
              </a:rPr>
              <a:t>CPU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的寄存器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30085" name="Text Box 5"/>
          <p:cNvSpPr txBox="1"/>
          <p:nvPr/>
        </p:nvSpPr>
        <p:spPr>
          <a:xfrm>
            <a:off x="4800600" y="15240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存放操作数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086" name="Text Box 6"/>
          <p:cNvSpPr txBox="1"/>
          <p:nvPr/>
        </p:nvSpPr>
        <p:spPr>
          <a:xfrm>
            <a:off x="4800600" y="20574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可作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某种寻址方式所需的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专用寄存器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087" name="Text Box 7"/>
          <p:cNvSpPr txBox="1"/>
          <p:nvPr/>
        </p:nvSpPr>
        <p:spPr>
          <a:xfrm>
            <a:off x="2286000" y="2911475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</a:rPr>
              <a:t>数据寄存器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88" name="Text Box 8"/>
          <p:cNvSpPr txBox="1"/>
          <p:nvPr/>
        </p:nvSpPr>
        <p:spPr>
          <a:xfrm>
            <a:off x="4800600" y="2911475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存放操作数</a:t>
            </a:r>
            <a:r>
              <a:rPr lang="zh-CN" altLang="en-US" sz="2400" b="1" dirty="0">
                <a:latin typeface="Times New Roman" panose="02020603050405020304" pitchFamily="18" charset="0"/>
              </a:rPr>
              <a:t>（满足各种数据类型）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89" name="Text Box 9"/>
          <p:cNvSpPr txBox="1"/>
          <p:nvPr/>
        </p:nvSpPr>
        <p:spPr>
          <a:xfrm>
            <a:off x="4800600" y="34290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两个寄存器拼接存放双倍字长数据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90" name="Text Box 10"/>
          <p:cNvSpPr txBox="1"/>
          <p:nvPr/>
        </p:nvSpPr>
        <p:spPr>
          <a:xfrm>
            <a:off x="2286000" y="4283075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zh-CN" altLang="en-US" sz="2400" b="1" dirty="0">
                <a:latin typeface="Times New Roman" panose="02020603050405020304" pitchFamily="18" charset="0"/>
              </a:rPr>
              <a:t>地址寄存器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91" name="Text Box 11"/>
          <p:cNvSpPr txBox="1"/>
          <p:nvPr/>
        </p:nvSpPr>
        <p:spPr>
          <a:xfrm>
            <a:off x="4800600" y="4283075"/>
            <a:ext cx="601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存放地址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，其位数应满足最大的地址范围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92" name="Text Box 12"/>
          <p:cNvSpPr txBox="1"/>
          <p:nvPr/>
        </p:nvSpPr>
        <p:spPr>
          <a:xfrm>
            <a:off x="4800600" y="48006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用于特殊的寻址方式    段基值    栈指针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93" name="Text Box 13"/>
          <p:cNvSpPr txBox="1"/>
          <p:nvPr/>
        </p:nvSpPr>
        <p:spPr>
          <a:xfrm>
            <a:off x="2286000" y="56388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(4) </a:t>
            </a:r>
            <a:r>
              <a:rPr lang="zh-CN" altLang="en-US" sz="2400" b="1" dirty="0">
                <a:latin typeface="Times New Roman" panose="02020603050405020304" pitchFamily="18" charset="0"/>
              </a:rPr>
              <a:t>条件码寄存器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94" name="Text Box 14"/>
          <p:cNvSpPr txBox="1"/>
          <p:nvPr/>
        </p:nvSpPr>
        <p:spPr>
          <a:xfrm>
            <a:off x="4800600" y="5638800"/>
            <a:ext cx="5791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存放条件码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，可作程序分支的依据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095" name="Text Box 15"/>
          <p:cNvSpPr txBox="1"/>
          <p:nvPr/>
        </p:nvSpPr>
        <p:spPr>
          <a:xfrm>
            <a:off x="4800600" y="61722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如 正、负、零、溢出、进位等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7872" name="Rectangle 1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097" name="AutoShape 1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09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1106" name="Text Box 2"/>
          <p:cNvSpPr txBox="1"/>
          <p:nvPr/>
        </p:nvSpPr>
        <p:spPr>
          <a:xfrm>
            <a:off x="2209800" y="3048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控制和状态寄存器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78883" name="Text Box 3"/>
          <p:cNvSpPr txBox="1"/>
          <p:nvPr/>
        </p:nvSpPr>
        <p:spPr>
          <a:xfrm>
            <a:off x="2362200" y="1066800"/>
            <a:ext cx="5715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控制寄存器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884" name="Text Box 4"/>
          <p:cNvSpPr txBox="1"/>
          <p:nvPr/>
        </p:nvSpPr>
        <p:spPr>
          <a:xfrm>
            <a:off x="2895600" y="1676400"/>
            <a:ext cx="685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PC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885" name="Text Box 5"/>
          <p:cNvSpPr txBox="1"/>
          <p:nvPr/>
        </p:nvSpPr>
        <p:spPr>
          <a:xfrm>
            <a:off x="2895600" y="23622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控制 </a:t>
            </a:r>
            <a:r>
              <a:rPr lang="en-US" altLang="zh-CN" sz="2400" b="1" dirty="0">
                <a:latin typeface="Times New Roman" panose="02020603050405020304" pitchFamily="18" charset="0"/>
              </a:rPr>
              <a:t>CPU </a:t>
            </a:r>
            <a:r>
              <a:rPr lang="zh-CN" altLang="en-US" sz="2400" b="1" dirty="0">
                <a:latin typeface="Times New Roman" panose="02020603050405020304" pitchFamily="18" charset="0"/>
              </a:rPr>
              <a:t>操作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8886" name="Text Box 6"/>
          <p:cNvSpPr txBox="1"/>
          <p:nvPr/>
        </p:nvSpPr>
        <p:spPr>
          <a:xfrm>
            <a:off x="2362200" y="3962400"/>
            <a:ext cx="5715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状态寄存器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887" name="Text Box 7"/>
          <p:cNvSpPr txBox="1"/>
          <p:nvPr/>
        </p:nvSpPr>
        <p:spPr>
          <a:xfrm>
            <a:off x="2895600" y="4648200"/>
            <a:ext cx="24653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状态寄存器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8888" name="Text Box 8"/>
          <p:cNvSpPr txBox="1"/>
          <p:nvPr/>
        </p:nvSpPr>
        <p:spPr>
          <a:xfrm>
            <a:off x="2895600" y="2879725"/>
            <a:ext cx="68008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其中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MAR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MDR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IR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用户不可见        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8889" name="Text Box 9"/>
          <p:cNvSpPr txBox="1"/>
          <p:nvPr/>
        </p:nvSpPr>
        <p:spPr>
          <a:xfrm>
            <a:off x="5257800" y="4648200"/>
            <a:ext cx="24653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存放条件码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8890" name="Text Box 10"/>
          <p:cNvSpPr txBox="1"/>
          <p:nvPr/>
        </p:nvSpPr>
        <p:spPr>
          <a:xfrm>
            <a:off x="2895600" y="5241925"/>
            <a:ext cx="24653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PSW </a:t>
            </a:r>
            <a:r>
              <a:rPr lang="zh-CN" altLang="en-US" sz="2400" b="1" dirty="0">
                <a:latin typeface="Times New Roman" panose="02020603050405020304" pitchFamily="18" charset="0"/>
              </a:rPr>
              <a:t>寄存器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8891" name="Text Box 11"/>
          <p:cNvSpPr txBox="1"/>
          <p:nvPr/>
        </p:nvSpPr>
        <p:spPr>
          <a:xfrm>
            <a:off x="5257800" y="5226050"/>
            <a:ext cx="24653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存放程序状态字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8892" name="Line 12"/>
          <p:cNvSpPr/>
          <p:nvPr/>
        </p:nvSpPr>
        <p:spPr>
          <a:xfrm>
            <a:off x="3505200" y="1905000"/>
            <a:ext cx="304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378893" name="Line 13"/>
          <p:cNvSpPr/>
          <p:nvPr/>
        </p:nvSpPr>
        <p:spPr>
          <a:xfrm>
            <a:off x="4724400" y="1905000"/>
            <a:ext cx="304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378894" name="Line 14"/>
          <p:cNvSpPr/>
          <p:nvPr/>
        </p:nvSpPr>
        <p:spPr>
          <a:xfrm>
            <a:off x="5562600" y="1905000"/>
            <a:ext cx="304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378895" name="Line 15"/>
          <p:cNvSpPr/>
          <p:nvPr/>
        </p:nvSpPr>
        <p:spPr>
          <a:xfrm>
            <a:off x="6781800" y="1905000"/>
            <a:ext cx="304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378896" name="Text Box 16"/>
          <p:cNvSpPr txBox="1"/>
          <p:nvPr/>
        </p:nvSpPr>
        <p:spPr>
          <a:xfrm>
            <a:off x="2895600" y="3429000"/>
            <a:ext cx="7086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PC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         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用户可见     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78897" name="Text Box 17"/>
          <p:cNvSpPr txBox="1"/>
          <p:nvPr/>
        </p:nvSpPr>
        <p:spPr>
          <a:xfrm>
            <a:off x="2209800" y="5821363"/>
            <a:ext cx="4343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</a:rPr>
              <a:t>举例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78898" name="Text Box 18"/>
          <p:cNvSpPr txBox="1"/>
          <p:nvPr/>
        </p:nvSpPr>
        <p:spPr>
          <a:xfrm>
            <a:off x="5257800" y="5943600"/>
            <a:ext cx="601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Z8000       8086      MC 68000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78899" name="Text Box 19"/>
          <p:cNvSpPr txBox="1"/>
          <p:nvPr/>
        </p:nvSpPr>
        <p:spPr>
          <a:xfrm>
            <a:off x="3810000" y="1676400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MAR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00" name="Text Box 20"/>
          <p:cNvSpPr txBox="1"/>
          <p:nvPr/>
        </p:nvSpPr>
        <p:spPr>
          <a:xfrm>
            <a:off x="5029200" y="1676400"/>
            <a:ext cx="685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01" name="Text Box 21"/>
          <p:cNvSpPr txBox="1"/>
          <p:nvPr/>
        </p:nvSpPr>
        <p:spPr>
          <a:xfrm>
            <a:off x="5867400" y="1676400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MDR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02" name="Text Box 22"/>
          <p:cNvSpPr txBox="1"/>
          <p:nvPr/>
        </p:nvSpPr>
        <p:spPr>
          <a:xfrm>
            <a:off x="7086600" y="1676400"/>
            <a:ext cx="838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IR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03" name="Rectangle 2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1128" name="AutoShape 2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112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37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37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7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3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37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7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7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7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7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7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78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7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3" grpId="0"/>
      <p:bldP spid="378884" grpId="0"/>
      <p:bldP spid="378885" grpId="0"/>
      <p:bldP spid="378886" grpId="0"/>
      <p:bldP spid="378887" grpId="0"/>
      <p:bldP spid="378888" grpId="0"/>
      <p:bldP spid="378889" grpId="0"/>
      <p:bldP spid="378890" grpId="0"/>
      <p:bldP spid="378891" grpId="0"/>
      <p:bldP spid="378896" grpId="0"/>
      <p:bldP spid="378897" grpId="0"/>
      <p:bldP spid="378898" grpId="0"/>
      <p:bldP spid="378899" grpId="0"/>
      <p:bldP spid="378900" grpId="0"/>
      <p:bldP spid="378901" grpId="0"/>
      <p:bldP spid="37890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2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4321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432132" name="Picture 4" descr="库图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457200"/>
            <a:ext cx="8686800" cy="6140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213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3154" name="Text Box 2"/>
          <p:cNvSpPr txBox="1"/>
          <p:nvPr/>
        </p:nvSpPr>
        <p:spPr>
          <a:xfrm>
            <a:off x="1905000" y="533400"/>
            <a:ext cx="6400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四、 控制单元 </a:t>
            </a:r>
            <a:r>
              <a:rPr lang="en-US" altLang="zh-CN" sz="3600" b="1" dirty="0">
                <a:latin typeface="Times New Roman" panose="02020603050405020304" pitchFamily="18" charset="0"/>
              </a:rPr>
              <a:t>CU </a:t>
            </a:r>
            <a:r>
              <a:rPr lang="zh-CN" altLang="en-US" sz="3600" b="1" dirty="0">
                <a:latin typeface="Times New Roman" panose="02020603050405020304" pitchFamily="18" charset="0"/>
              </a:rPr>
              <a:t>和中断系统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33155" name="Text Box 3"/>
          <p:cNvSpPr txBox="1"/>
          <p:nvPr/>
        </p:nvSpPr>
        <p:spPr>
          <a:xfrm>
            <a:off x="2286000" y="1600200"/>
            <a:ext cx="7696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1.  CU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产生全部指令的微操作命令序列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33156" name="Group 4"/>
          <p:cNvGrpSpPr/>
          <p:nvPr/>
        </p:nvGrpSpPr>
        <p:grpSpPr>
          <a:xfrm>
            <a:off x="2895600" y="2667000"/>
            <a:ext cx="3124200" cy="1298575"/>
            <a:chOff x="864" y="1680"/>
            <a:chExt cx="1968" cy="818"/>
          </a:xfrm>
        </p:grpSpPr>
        <p:sp>
          <p:nvSpPr>
            <p:cNvPr id="433168" name="Text Box 5"/>
            <p:cNvSpPr txBox="1"/>
            <p:nvPr/>
          </p:nvSpPr>
          <p:spPr>
            <a:xfrm>
              <a:off x="864" y="1680"/>
              <a:ext cx="19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组合逻辑设计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3169" name="Text Box 6"/>
            <p:cNvSpPr txBox="1"/>
            <p:nvPr/>
          </p:nvSpPr>
          <p:spPr>
            <a:xfrm>
              <a:off x="864" y="2169"/>
              <a:ext cx="18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微程序设计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3157" name="Group 7"/>
          <p:cNvGrpSpPr/>
          <p:nvPr/>
        </p:nvGrpSpPr>
        <p:grpSpPr>
          <a:xfrm>
            <a:off x="5943600" y="2681288"/>
            <a:ext cx="3276600" cy="1284287"/>
            <a:chOff x="2784" y="1689"/>
            <a:chExt cx="2064" cy="809"/>
          </a:xfrm>
        </p:grpSpPr>
        <p:sp>
          <p:nvSpPr>
            <p:cNvPr id="433166" name="Text Box 8"/>
            <p:cNvSpPr txBox="1"/>
            <p:nvPr/>
          </p:nvSpPr>
          <p:spPr>
            <a:xfrm>
              <a:off x="2784" y="1689"/>
              <a:ext cx="206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硬连线逻辑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3167" name="Text Box 9"/>
            <p:cNvSpPr txBox="1"/>
            <p:nvPr/>
          </p:nvSpPr>
          <p:spPr>
            <a:xfrm>
              <a:off x="2784" y="2169"/>
              <a:ext cx="13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存储逻辑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33158" name="Text Box 10"/>
          <p:cNvSpPr txBox="1"/>
          <p:nvPr/>
        </p:nvSpPr>
        <p:spPr>
          <a:xfrm>
            <a:off x="2286000" y="4449763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中断系统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33159" name="Text Box 11"/>
          <p:cNvSpPr txBox="1"/>
          <p:nvPr/>
        </p:nvSpPr>
        <p:spPr>
          <a:xfrm>
            <a:off x="8153400" y="3124200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参见  第４篇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3160" name="Text Box 12"/>
          <p:cNvSpPr txBox="1"/>
          <p:nvPr/>
        </p:nvSpPr>
        <p:spPr>
          <a:xfrm>
            <a:off x="1905000" y="5334000"/>
            <a:ext cx="6019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五、</a:t>
            </a:r>
            <a:r>
              <a:rPr lang="en-US" altLang="zh-CN" sz="3600" b="1" dirty="0">
                <a:latin typeface="Times New Roman" panose="02020603050405020304" pitchFamily="18" charset="0"/>
              </a:rPr>
              <a:t>ALU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33161" name="Text Box 13"/>
          <p:cNvSpPr txBox="1"/>
          <p:nvPr/>
        </p:nvSpPr>
        <p:spPr>
          <a:xfrm>
            <a:off x="8153400" y="4449763"/>
            <a:ext cx="2362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参见  </a:t>
            </a:r>
            <a:r>
              <a:rPr lang="en-US" altLang="zh-CN" sz="2400" b="1" dirty="0">
                <a:latin typeface="Times New Roman" panose="02020603050405020304" pitchFamily="18" charset="0"/>
              </a:rPr>
              <a:t>8.4 </a:t>
            </a:r>
            <a:r>
              <a:rPr lang="zh-CN" altLang="en-US" sz="2400" b="1" dirty="0">
                <a:latin typeface="Times New Roman" panose="02020603050405020304" pitchFamily="18" charset="0"/>
              </a:rPr>
              <a:t>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3162" name="Text Box 14"/>
          <p:cNvSpPr txBox="1"/>
          <p:nvPr/>
        </p:nvSpPr>
        <p:spPr>
          <a:xfrm>
            <a:off x="8153400" y="5334000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参见  第６章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79919" name="Rectangle 1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3164" name="AutoShape 1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316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4178" name="Rectangle 2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8.2   </a:t>
            </a:r>
            <a:r>
              <a:rPr lang="zh-CN" altLang="en-US" b="1" dirty="0"/>
              <a:t>指 令 周 期</a:t>
            </a:r>
            <a:endParaRPr lang="zh-CN" altLang="en-US" b="1" dirty="0"/>
          </a:p>
        </p:txBody>
      </p:sp>
      <p:sp>
        <p:nvSpPr>
          <p:cNvPr id="434179" name="Text Box 3"/>
          <p:cNvSpPr txBox="1"/>
          <p:nvPr/>
        </p:nvSpPr>
        <p:spPr>
          <a:xfrm>
            <a:off x="2057400" y="1355725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 指令周期的基本概念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34180" name="Text Box 4"/>
          <p:cNvSpPr txBox="1"/>
          <p:nvPr/>
        </p:nvSpPr>
        <p:spPr>
          <a:xfrm>
            <a:off x="2362200" y="2133600"/>
            <a:ext cx="5715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1 . 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指令周期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34181" name="Text Box 5"/>
          <p:cNvSpPr txBox="1"/>
          <p:nvPr/>
        </p:nvSpPr>
        <p:spPr>
          <a:xfrm>
            <a:off x="2895600" y="2819400"/>
            <a:ext cx="571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取出并执行一条指令所需的全部时间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4182" name="Text Box 6"/>
          <p:cNvSpPr txBox="1"/>
          <p:nvPr/>
        </p:nvSpPr>
        <p:spPr>
          <a:xfrm>
            <a:off x="2895600" y="3886200"/>
            <a:ext cx="274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完成一条指令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4183" name="AutoShape 7"/>
          <p:cNvSpPr/>
          <p:nvPr/>
        </p:nvSpPr>
        <p:spPr>
          <a:xfrm>
            <a:off x="4953000" y="3924234"/>
            <a:ext cx="139700" cy="397008"/>
          </a:xfrm>
          <a:prstGeom prst="leftBrace">
            <a:avLst>
              <a:gd name="adj1" fmla="val 35082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4184" name="Text Box 8"/>
          <p:cNvSpPr txBox="1"/>
          <p:nvPr/>
        </p:nvSpPr>
        <p:spPr>
          <a:xfrm>
            <a:off x="5129213" y="4191000"/>
            <a:ext cx="15763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执行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4185" name="Text Box 9"/>
          <p:cNvSpPr txBox="1"/>
          <p:nvPr/>
        </p:nvSpPr>
        <p:spPr>
          <a:xfrm>
            <a:off x="5105400" y="3581400"/>
            <a:ext cx="1981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取指、分析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34186" name="Group 10"/>
          <p:cNvGrpSpPr/>
          <p:nvPr/>
        </p:nvGrpSpPr>
        <p:grpSpPr>
          <a:xfrm>
            <a:off x="4191000" y="5029200"/>
            <a:ext cx="3886200" cy="1528763"/>
            <a:chOff x="1680" y="3168"/>
            <a:chExt cx="2448" cy="963"/>
          </a:xfrm>
        </p:grpSpPr>
        <p:sp>
          <p:nvSpPr>
            <p:cNvPr id="434191" name="Text Box 11"/>
            <p:cNvSpPr txBox="1"/>
            <p:nvPr/>
          </p:nvSpPr>
          <p:spPr>
            <a:xfrm>
              <a:off x="1910" y="316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取指阶段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4192" name="Text Box 12"/>
            <p:cNvSpPr txBox="1"/>
            <p:nvPr/>
          </p:nvSpPr>
          <p:spPr>
            <a:xfrm>
              <a:off x="1920" y="3400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4193" name="Text Box 13"/>
            <p:cNvSpPr txBox="1"/>
            <p:nvPr/>
          </p:nvSpPr>
          <p:spPr>
            <a:xfrm>
              <a:off x="3120" y="3170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执行阶段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4194" name="Text Box 14"/>
            <p:cNvSpPr txBox="1"/>
            <p:nvPr/>
          </p:nvSpPr>
          <p:spPr>
            <a:xfrm>
              <a:off x="3130" y="3402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4195" name="Text Box 15"/>
            <p:cNvSpPr txBox="1"/>
            <p:nvPr/>
          </p:nvSpPr>
          <p:spPr>
            <a:xfrm>
              <a:off x="1680" y="3592"/>
              <a:ext cx="12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（取指、分析）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4196" name="Text Box 16"/>
            <p:cNvSpPr txBox="1"/>
            <p:nvPr/>
          </p:nvSpPr>
          <p:spPr>
            <a:xfrm>
              <a:off x="2976" y="3592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（执行指令）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4197" name="Line 17"/>
            <p:cNvSpPr/>
            <p:nvPr/>
          </p:nvSpPr>
          <p:spPr>
            <a:xfrm>
              <a:off x="1680" y="3410"/>
              <a:ext cx="24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4198" name="Line 18"/>
            <p:cNvSpPr/>
            <p:nvPr/>
          </p:nvSpPr>
          <p:spPr>
            <a:xfrm>
              <a:off x="1680" y="3170"/>
              <a:ext cx="0" cy="9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4199" name="Line 19"/>
            <p:cNvSpPr/>
            <p:nvPr/>
          </p:nvSpPr>
          <p:spPr>
            <a:xfrm>
              <a:off x="2928" y="3170"/>
              <a:ext cx="0" cy="6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4200" name="Line 20"/>
            <p:cNvSpPr/>
            <p:nvPr/>
          </p:nvSpPr>
          <p:spPr>
            <a:xfrm>
              <a:off x="4128" y="3170"/>
              <a:ext cx="0" cy="9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4201" name="Line 21"/>
            <p:cNvSpPr/>
            <p:nvPr/>
          </p:nvSpPr>
          <p:spPr>
            <a:xfrm flipH="1">
              <a:off x="1680" y="350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4202" name="Line 22"/>
            <p:cNvSpPr/>
            <p:nvPr/>
          </p:nvSpPr>
          <p:spPr>
            <a:xfrm flipH="1">
              <a:off x="2928" y="350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4203" name="Line 23"/>
            <p:cNvSpPr/>
            <p:nvPr/>
          </p:nvSpPr>
          <p:spPr>
            <a:xfrm rot="-10800000" flipH="1">
              <a:off x="3888" y="350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4204" name="Line 24"/>
            <p:cNvSpPr/>
            <p:nvPr/>
          </p:nvSpPr>
          <p:spPr>
            <a:xfrm rot="-10800000" flipH="1">
              <a:off x="2688" y="350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4205" name="Text Box 25"/>
            <p:cNvSpPr txBox="1"/>
            <p:nvPr/>
          </p:nvSpPr>
          <p:spPr>
            <a:xfrm>
              <a:off x="2544" y="3880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指令周期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4206" name="Line 26"/>
            <p:cNvSpPr/>
            <p:nvPr/>
          </p:nvSpPr>
          <p:spPr>
            <a:xfrm>
              <a:off x="3360" y="3986"/>
              <a:ext cx="768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4207" name="Line 27"/>
            <p:cNvSpPr/>
            <p:nvPr/>
          </p:nvSpPr>
          <p:spPr>
            <a:xfrm rot="10800000">
              <a:off x="1680" y="3986"/>
              <a:ext cx="768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34187" name="Text Box 28"/>
          <p:cNvSpPr txBox="1"/>
          <p:nvPr/>
        </p:nvSpPr>
        <p:spPr>
          <a:xfrm>
            <a:off x="7315200" y="3581400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取指周期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4188" name="Text Box 29"/>
          <p:cNvSpPr txBox="1"/>
          <p:nvPr/>
        </p:nvSpPr>
        <p:spPr>
          <a:xfrm>
            <a:off x="7315200" y="4191000"/>
            <a:ext cx="1828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执行周期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4189" name="AutoShape 3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419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2" name="Text Box 2"/>
          <p:cNvSpPr txBox="1"/>
          <p:nvPr/>
        </p:nvSpPr>
        <p:spPr>
          <a:xfrm>
            <a:off x="2209800" y="5334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每条指令的指令周期不同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35203" name="Group 3"/>
          <p:cNvGrpSpPr/>
          <p:nvPr/>
        </p:nvGrpSpPr>
        <p:grpSpPr>
          <a:xfrm>
            <a:off x="2819400" y="1676400"/>
            <a:ext cx="1981200" cy="830263"/>
            <a:chOff x="816" y="1056"/>
            <a:chExt cx="1248" cy="523"/>
          </a:xfrm>
        </p:grpSpPr>
        <p:sp>
          <p:nvSpPr>
            <p:cNvPr id="435242" name="Text Box 4"/>
            <p:cNvSpPr txBox="1"/>
            <p:nvPr/>
          </p:nvSpPr>
          <p:spPr>
            <a:xfrm>
              <a:off x="1046" y="105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5243" name="Text Box 5"/>
            <p:cNvSpPr txBox="1"/>
            <p:nvPr/>
          </p:nvSpPr>
          <p:spPr>
            <a:xfrm>
              <a:off x="1056" y="128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5244" name="Line 6"/>
            <p:cNvSpPr/>
            <p:nvPr/>
          </p:nvSpPr>
          <p:spPr>
            <a:xfrm flipV="1">
              <a:off x="816" y="1296"/>
              <a:ext cx="1248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5245" name="Line 7"/>
            <p:cNvSpPr/>
            <p:nvPr/>
          </p:nvSpPr>
          <p:spPr>
            <a:xfrm>
              <a:off x="816" y="1058"/>
              <a:ext cx="0" cy="52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5246" name="Line 8"/>
            <p:cNvSpPr/>
            <p:nvPr/>
          </p:nvSpPr>
          <p:spPr>
            <a:xfrm>
              <a:off x="2064" y="1058"/>
              <a:ext cx="0" cy="52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5247" name="Line 9"/>
            <p:cNvSpPr/>
            <p:nvPr/>
          </p:nvSpPr>
          <p:spPr>
            <a:xfrm flipH="1">
              <a:off x="816" y="139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48" name="Line 10"/>
            <p:cNvSpPr/>
            <p:nvPr/>
          </p:nvSpPr>
          <p:spPr>
            <a:xfrm rot="-10800000" flipH="1">
              <a:off x="1824" y="139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49" name="Line 11"/>
            <p:cNvSpPr/>
            <p:nvPr/>
          </p:nvSpPr>
          <p:spPr>
            <a:xfrm flipH="1">
              <a:off x="816" y="120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50" name="Line 12"/>
            <p:cNvSpPr/>
            <p:nvPr/>
          </p:nvSpPr>
          <p:spPr>
            <a:xfrm rot="-10800000" flipH="1">
              <a:off x="1824" y="120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35204" name="Group 13"/>
          <p:cNvGrpSpPr/>
          <p:nvPr/>
        </p:nvGrpSpPr>
        <p:grpSpPr>
          <a:xfrm>
            <a:off x="2819400" y="2987675"/>
            <a:ext cx="3886200" cy="974725"/>
            <a:chOff x="816" y="1882"/>
            <a:chExt cx="2448" cy="614"/>
          </a:xfrm>
        </p:grpSpPr>
        <p:sp>
          <p:nvSpPr>
            <p:cNvPr id="435229" name="Text Box 14"/>
            <p:cNvSpPr txBox="1"/>
            <p:nvPr/>
          </p:nvSpPr>
          <p:spPr>
            <a:xfrm>
              <a:off x="1046" y="1882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5230" name="Text Box 15"/>
            <p:cNvSpPr txBox="1"/>
            <p:nvPr/>
          </p:nvSpPr>
          <p:spPr>
            <a:xfrm>
              <a:off x="2256" y="1895"/>
              <a:ext cx="7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5231" name="Line 16"/>
            <p:cNvSpPr/>
            <p:nvPr/>
          </p:nvSpPr>
          <p:spPr>
            <a:xfrm>
              <a:off x="816" y="2124"/>
              <a:ext cx="24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5232" name="Line 17"/>
            <p:cNvSpPr/>
            <p:nvPr/>
          </p:nvSpPr>
          <p:spPr>
            <a:xfrm>
              <a:off x="816" y="1884"/>
              <a:ext cx="0" cy="6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5233" name="Line 18"/>
            <p:cNvSpPr/>
            <p:nvPr/>
          </p:nvSpPr>
          <p:spPr>
            <a:xfrm>
              <a:off x="2064" y="1884"/>
              <a:ext cx="0" cy="23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5234" name="Line 19"/>
            <p:cNvSpPr/>
            <p:nvPr/>
          </p:nvSpPr>
          <p:spPr>
            <a:xfrm>
              <a:off x="3264" y="1884"/>
              <a:ext cx="0" cy="6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5235" name="Text Box 20"/>
            <p:cNvSpPr txBox="1"/>
            <p:nvPr/>
          </p:nvSpPr>
          <p:spPr>
            <a:xfrm>
              <a:off x="1680" y="2170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5236" name="Line 21"/>
            <p:cNvSpPr/>
            <p:nvPr/>
          </p:nvSpPr>
          <p:spPr>
            <a:xfrm>
              <a:off x="2496" y="2314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37" name="Line 22"/>
            <p:cNvSpPr/>
            <p:nvPr/>
          </p:nvSpPr>
          <p:spPr>
            <a:xfrm rot="10800000">
              <a:off x="816" y="2314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38" name="Line 23"/>
            <p:cNvSpPr/>
            <p:nvPr/>
          </p:nvSpPr>
          <p:spPr>
            <a:xfrm flipH="1">
              <a:off x="816" y="202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39" name="Line 24"/>
            <p:cNvSpPr/>
            <p:nvPr/>
          </p:nvSpPr>
          <p:spPr>
            <a:xfrm rot="-10800000" flipH="1">
              <a:off x="1824" y="202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40" name="Line 25"/>
            <p:cNvSpPr/>
            <p:nvPr/>
          </p:nvSpPr>
          <p:spPr>
            <a:xfrm flipH="1">
              <a:off x="2064" y="202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5241" name="Line 26"/>
            <p:cNvSpPr/>
            <p:nvPr/>
          </p:nvSpPr>
          <p:spPr>
            <a:xfrm rot="-10800000" flipH="1">
              <a:off x="3024" y="202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35205" name="Text Box 27"/>
          <p:cNvSpPr txBox="1"/>
          <p:nvPr/>
        </p:nvSpPr>
        <p:spPr>
          <a:xfrm>
            <a:off x="8382000" y="1828800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NOP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5206" name="Text Box 28"/>
          <p:cNvSpPr txBox="1"/>
          <p:nvPr/>
        </p:nvSpPr>
        <p:spPr>
          <a:xfrm>
            <a:off x="8382000" y="3124200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ADD   mem 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5207" name="Text Box 29"/>
          <p:cNvSpPr txBox="1"/>
          <p:nvPr/>
        </p:nvSpPr>
        <p:spPr>
          <a:xfrm>
            <a:off x="8382000" y="4876800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MUL   mem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1982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5209" name="AutoShape 3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35210" name="Group 32"/>
          <p:cNvGrpSpPr/>
          <p:nvPr/>
        </p:nvGrpSpPr>
        <p:grpSpPr>
          <a:xfrm>
            <a:off x="2819400" y="4724400"/>
            <a:ext cx="5181600" cy="914400"/>
            <a:chOff x="816" y="2976"/>
            <a:chExt cx="3264" cy="576"/>
          </a:xfrm>
        </p:grpSpPr>
        <p:grpSp>
          <p:nvGrpSpPr>
            <p:cNvPr id="435212" name="Group 33"/>
            <p:cNvGrpSpPr/>
            <p:nvPr/>
          </p:nvGrpSpPr>
          <p:grpSpPr>
            <a:xfrm>
              <a:off x="816" y="2976"/>
              <a:ext cx="3264" cy="576"/>
              <a:chOff x="816" y="2976"/>
              <a:chExt cx="3264" cy="576"/>
            </a:xfrm>
          </p:grpSpPr>
          <p:sp>
            <p:nvSpPr>
              <p:cNvPr id="435214" name="Text Box 34"/>
              <p:cNvSpPr txBox="1"/>
              <p:nvPr/>
            </p:nvSpPr>
            <p:spPr>
              <a:xfrm>
                <a:off x="1046" y="29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取指周期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5215" name="Text Box 35"/>
              <p:cNvSpPr txBox="1"/>
              <p:nvPr/>
            </p:nvSpPr>
            <p:spPr>
              <a:xfrm>
                <a:off x="2652" y="2978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执行周期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5216" name="Line 36"/>
              <p:cNvSpPr/>
              <p:nvPr/>
            </p:nvSpPr>
            <p:spPr>
              <a:xfrm flipV="1">
                <a:off x="816" y="3216"/>
                <a:ext cx="1824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5217" name="Line 37"/>
              <p:cNvSpPr/>
              <p:nvPr/>
            </p:nvSpPr>
            <p:spPr>
              <a:xfrm>
                <a:off x="816" y="2978"/>
                <a:ext cx="0" cy="57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5218" name="Line 38"/>
              <p:cNvSpPr/>
              <p:nvPr/>
            </p:nvSpPr>
            <p:spPr>
              <a:xfrm>
                <a:off x="2064" y="2978"/>
                <a:ext cx="0" cy="23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5219" name="Line 39"/>
              <p:cNvSpPr/>
              <p:nvPr/>
            </p:nvSpPr>
            <p:spPr>
              <a:xfrm>
                <a:off x="4080" y="2978"/>
                <a:ext cx="0" cy="57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5220" name="Text Box 40"/>
              <p:cNvSpPr txBox="1"/>
              <p:nvPr/>
            </p:nvSpPr>
            <p:spPr>
              <a:xfrm>
                <a:off x="2076" y="3264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指令周期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5221" name="Line 41"/>
              <p:cNvSpPr/>
              <p:nvPr/>
            </p:nvSpPr>
            <p:spPr>
              <a:xfrm>
                <a:off x="3039" y="3361"/>
                <a:ext cx="104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35222" name="Line 42"/>
              <p:cNvSpPr/>
              <p:nvPr/>
            </p:nvSpPr>
            <p:spPr>
              <a:xfrm rot="10800000">
                <a:off x="816" y="3360"/>
                <a:ext cx="104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35223" name="Line 43"/>
              <p:cNvSpPr/>
              <p:nvPr/>
            </p:nvSpPr>
            <p:spPr>
              <a:xfrm flipH="1">
                <a:off x="816" y="3120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35224" name="Line 44"/>
              <p:cNvSpPr/>
              <p:nvPr/>
            </p:nvSpPr>
            <p:spPr>
              <a:xfrm rot="-10800000" flipH="1">
                <a:off x="1824" y="3120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35225" name="Line 45"/>
              <p:cNvSpPr/>
              <p:nvPr/>
            </p:nvSpPr>
            <p:spPr>
              <a:xfrm>
                <a:off x="2688" y="3216"/>
                <a:ext cx="672" cy="0"/>
              </a:xfrm>
              <a:prstGeom prst="line">
                <a:avLst/>
              </a:prstGeom>
              <a:ln w="28575">
                <a:noFill/>
              </a:ln>
            </p:spPr>
          </p:sp>
          <p:sp>
            <p:nvSpPr>
              <p:cNvPr id="435226" name="Line 46"/>
              <p:cNvSpPr/>
              <p:nvPr/>
            </p:nvSpPr>
            <p:spPr>
              <a:xfrm>
                <a:off x="3408" y="3216"/>
                <a:ext cx="6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5227" name="Line 47"/>
              <p:cNvSpPr/>
              <p:nvPr/>
            </p:nvSpPr>
            <p:spPr>
              <a:xfrm flipH="1">
                <a:off x="2064" y="3120"/>
                <a:ext cx="46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35228" name="Line 48"/>
              <p:cNvSpPr/>
              <p:nvPr/>
            </p:nvSpPr>
            <p:spPr>
              <a:xfrm rot="-10800000" flipH="1">
                <a:off x="3611" y="3119"/>
                <a:ext cx="46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435213" name="Text Box 49"/>
            <p:cNvSpPr txBox="1"/>
            <p:nvPr/>
          </p:nvSpPr>
          <p:spPr>
            <a:xfrm>
              <a:off x="2889" y="3059"/>
              <a:ext cx="40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3521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6226" name="Text Box 2"/>
          <p:cNvSpPr txBox="1"/>
          <p:nvPr/>
        </p:nvSpPr>
        <p:spPr>
          <a:xfrm>
            <a:off x="2057400" y="4572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3.   </a:t>
            </a:r>
            <a:r>
              <a:rPr lang="zh-CN" altLang="en-US" sz="3200" b="1" dirty="0">
                <a:latin typeface="Times New Roman" panose="02020603050405020304" pitchFamily="18" charset="0"/>
              </a:rPr>
              <a:t>具有间接寻址的指令周期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36227" name="Text Box 3"/>
          <p:cNvSpPr txBox="1"/>
          <p:nvPr/>
        </p:nvSpPr>
        <p:spPr>
          <a:xfrm>
            <a:off x="1981200" y="35052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4.  </a:t>
            </a:r>
            <a:r>
              <a:rPr lang="zh-CN" altLang="en-US" sz="3200" b="1" dirty="0">
                <a:latin typeface="Times New Roman" panose="02020603050405020304" pitchFamily="18" charset="0"/>
              </a:rPr>
              <a:t>带有中断周期的指令周期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36228" name="Group 4"/>
          <p:cNvGrpSpPr/>
          <p:nvPr/>
        </p:nvGrpSpPr>
        <p:grpSpPr>
          <a:xfrm>
            <a:off x="2438400" y="1828800"/>
            <a:ext cx="5867400" cy="974725"/>
            <a:chOff x="576" y="1296"/>
            <a:chExt cx="3696" cy="614"/>
          </a:xfrm>
        </p:grpSpPr>
        <p:sp>
          <p:nvSpPr>
            <p:cNvPr id="436254" name="Text Box 5"/>
            <p:cNvSpPr txBox="1"/>
            <p:nvPr/>
          </p:nvSpPr>
          <p:spPr>
            <a:xfrm>
              <a:off x="806" y="129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6255" name="Text Box 6"/>
            <p:cNvSpPr txBox="1"/>
            <p:nvPr/>
          </p:nvSpPr>
          <p:spPr>
            <a:xfrm>
              <a:off x="2076" y="129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间址周期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6256" name="Line 7"/>
            <p:cNvSpPr/>
            <p:nvPr/>
          </p:nvSpPr>
          <p:spPr>
            <a:xfrm flipV="1">
              <a:off x="576" y="1536"/>
              <a:ext cx="3696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57" name="Line 8"/>
            <p:cNvSpPr/>
            <p:nvPr/>
          </p:nvSpPr>
          <p:spPr>
            <a:xfrm>
              <a:off x="576" y="1298"/>
              <a:ext cx="0" cy="6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58" name="Line 9"/>
            <p:cNvSpPr/>
            <p:nvPr/>
          </p:nvSpPr>
          <p:spPr>
            <a:xfrm>
              <a:off x="1824" y="1298"/>
              <a:ext cx="0" cy="23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59" name="Line 10"/>
            <p:cNvSpPr/>
            <p:nvPr/>
          </p:nvSpPr>
          <p:spPr>
            <a:xfrm>
              <a:off x="4272" y="1298"/>
              <a:ext cx="0" cy="6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60" name="Text Box 11"/>
            <p:cNvSpPr txBox="1"/>
            <p:nvPr/>
          </p:nvSpPr>
          <p:spPr>
            <a:xfrm>
              <a:off x="2028" y="158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6261" name="Line 12"/>
            <p:cNvSpPr/>
            <p:nvPr/>
          </p:nvSpPr>
          <p:spPr>
            <a:xfrm>
              <a:off x="3216" y="1680"/>
              <a:ext cx="10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62" name="Line 13"/>
            <p:cNvSpPr/>
            <p:nvPr/>
          </p:nvSpPr>
          <p:spPr>
            <a:xfrm rot="10800000">
              <a:off x="591" y="1680"/>
              <a:ext cx="10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63" name="Line 14"/>
            <p:cNvSpPr/>
            <p:nvPr/>
          </p:nvSpPr>
          <p:spPr>
            <a:xfrm flipH="1">
              <a:off x="576" y="144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64" name="Line 15"/>
            <p:cNvSpPr/>
            <p:nvPr/>
          </p:nvSpPr>
          <p:spPr>
            <a:xfrm rot="-10800000" flipH="1">
              <a:off x="1584" y="144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65" name="Line 16"/>
            <p:cNvSpPr/>
            <p:nvPr/>
          </p:nvSpPr>
          <p:spPr>
            <a:xfrm flipH="1">
              <a:off x="1824" y="144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66" name="Line 17"/>
            <p:cNvSpPr/>
            <p:nvPr/>
          </p:nvSpPr>
          <p:spPr>
            <a:xfrm rot="-10800000" flipH="1">
              <a:off x="2784" y="144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67" name="Text Box 18"/>
            <p:cNvSpPr txBox="1"/>
            <p:nvPr/>
          </p:nvSpPr>
          <p:spPr>
            <a:xfrm>
              <a:off x="3276" y="129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6268" name="Line 19"/>
            <p:cNvSpPr/>
            <p:nvPr/>
          </p:nvSpPr>
          <p:spPr>
            <a:xfrm>
              <a:off x="3024" y="1296"/>
              <a:ext cx="0" cy="23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69" name="Line 20"/>
            <p:cNvSpPr/>
            <p:nvPr/>
          </p:nvSpPr>
          <p:spPr>
            <a:xfrm flipH="1">
              <a:off x="3024" y="143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70" name="Line 21"/>
            <p:cNvSpPr/>
            <p:nvPr/>
          </p:nvSpPr>
          <p:spPr>
            <a:xfrm rot="-10800000" flipH="1">
              <a:off x="4032" y="143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36229" name="Group 22"/>
          <p:cNvGrpSpPr/>
          <p:nvPr/>
        </p:nvGrpSpPr>
        <p:grpSpPr>
          <a:xfrm>
            <a:off x="2438400" y="4648200"/>
            <a:ext cx="7772400" cy="990600"/>
            <a:chOff x="576" y="2928"/>
            <a:chExt cx="4896" cy="624"/>
          </a:xfrm>
        </p:grpSpPr>
        <p:sp>
          <p:nvSpPr>
            <p:cNvPr id="436233" name="Text Box 23"/>
            <p:cNvSpPr txBox="1"/>
            <p:nvPr/>
          </p:nvSpPr>
          <p:spPr>
            <a:xfrm>
              <a:off x="806" y="293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6234" name="Text Box 24"/>
            <p:cNvSpPr txBox="1"/>
            <p:nvPr/>
          </p:nvSpPr>
          <p:spPr>
            <a:xfrm>
              <a:off x="2076" y="2940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间址周期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6235" name="Freeform 25"/>
            <p:cNvSpPr/>
            <p:nvPr/>
          </p:nvSpPr>
          <p:spPr>
            <a:xfrm>
              <a:off x="576" y="3180"/>
              <a:ext cx="4896" cy="1"/>
            </a:xfrm>
            <a:custGeom>
              <a:avLst/>
              <a:gdLst>
                <a:gd name="txL" fmla="*/ 0 w 4896"/>
                <a:gd name="txT" fmla="*/ 0 h 1"/>
                <a:gd name="txR" fmla="*/ 4896 w 489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896" y="0"/>
                </a:cxn>
              </a:cxnLst>
              <a:rect l="txL" t="txT" r="txR" b="txB"/>
              <a:pathLst>
                <a:path w="4896" h="1">
                  <a:moveTo>
                    <a:pt x="0" y="0"/>
                  </a:moveTo>
                  <a:lnTo>
                    <a:pt x="489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6236" name="Line 26"/>
            <p:cNvSpPr/>
            <p:nvPr/>
          </p:nvSpPr>
          <p:spPr>
            <a:xfrm>
              <a:off x="576" y="2940"/>
              <a:ext cx="0" cy="6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37" name="Line 27"/>
            <p:cNvSpPr/>
            <p:nvPr/>
          </p:nvSpPr>
          <p:spPr>
            <a:xfrm>
              <a:off x="1824" y="2940"/>
              <a:ext cx="0" cy="23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38" name="Line 28"/>
            <p:cNvSpPr/>
            <p:nvPr/>
          </p:nvSpPr>
          <p:spPr>
            <a:xfrm>
              <a:off x="5472" y="2940"/>
              <a:ext cx="0" cy="6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39" name="Text Box 29"/>
            <p:cNvSpPr txBox="1"/>
            <p:nvPr/>
          </p:nvSpPr>
          <p:spPr>
            <a:xfrm>
              <a:off x="2648" y="322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6240" name="Freeform 30"/>
            <p:cNvSpPr/>
            <p:nvPr/>
          </p:nvSpPr>
          <p:spPr>
            <a:xfrm>
              <a:off x="3720" y="3323"/>
              <a:ext cx="1752" cy="1"/>
            </a:xfrm>
            <a:custGeom>
              <a:avLst/>
              <a:gdLst>
                <a:gd name="txL" fmla="*/ 0 w 1752"/>
                <a:gd name="txT" fmla="*/ 0 h 1"/>
                <a:gd name="txR" fmla="*/ 1752 w 1752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752" y="0"/>
                </a:cxn>
              </a:cxnLst>
              <a:rect l="txL" t="txT" r="txR" b="txB"/>
              <a:pathLst>
                <a:path w="1752" h="1">
                  <a:moveTo>
                    <a:pt x="0" y="1"/>
                  </a:moveTo>
                  <a:lnTo>
                    <a:pt x="1752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6241" name="Freeform 31"/>
            <p:cNvSpPr/>
            <p:nvPr/>
          </p:nvSpPr>
          <p:spPr>
            <a:xfrm>
              <a:off x="591" y="3321"/>
              <a:ext cx="1773" cy="1"/>
            </a:xfrm>
            <a:custGeom>
              <a:avLst/>
              <a:gdLst>
                <a:gd name="txL" fmla="*/ 0 w 1773"/>
                <a:gd name="txT" fmla="*/ 0 h 1"/>
                <a:gd name="txR" fmla="*/ 1773 w 1773"/>
                <a:gd name="txB" fmla="*/ 1 h 1"/>
              </a:gdLst>
              <a:ahLst/>
              <a:cxnLst>
                <a:cxn ang="0">
                  <a:pos x="1773" y="0"/>
                </a:cxn>
                <a:cxn ang="0">
                  <a:pos x="0" y="1"/>
                </a:cxn>
              </a:cxnLst>
              <a:rect l="txL" t="txT" r="txR" b="txB"/>
              <a:pathLst>
                <a:path w="1773" h="1">
                  <a:moveTo>
                    <a:pt x="1773" y="0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6242" name="Line 32"/>
            <p:cNvSpPr/>
            <p:nvPr/>
          </p:nvSpPr>
          <p:spPr>
            <a:xfrm flipH="1">
              <a:off x="576" y="3082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43" name="Line 33"/>
            <p:cNvSpPr/>
            <p:nvPr/>
          </p:nvSpPr>
          <p:spPr>
            <a:xfrm rot="-10800000" flipH="1">
              <a:off x="1584" y="3082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44" name="Line 34"/>
            <p:cNvSpPr/>
            <p:nvPr/>
          </p:nvSpPr>
          <p:spPr>
            <a:xfrm flipH="1">
              <a:off x="1824" y="3082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45" name="Line 35"/>
            <p:cNvSpPr/>
            <p:nvPr/>
          </p:nvSpPr>
          <p:spPr>
            <a:xfrm rot="-10800000" flipH="1">
              <a:off x="2784" y="3082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46" name="Text Box 36"/>
            <p:cNvSpPr txBox="1"/>
            <p:nvPr/>
          </p:nvSpPr>
          <p:spPr>
            <a:xfrm>
              <a:off x="3276" y="293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6247" name="Line 37"/>
            <p:cNvSpPr/>
            <p:nvPr/>
          </p:nvSpPr>
          <p:spPr>
            <a:xfrm>
              <a:off x="3024" y="2938"/>
              <a:ext cx="0" cy="23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48" name="Line 38"/>
            <p:cNvSpPr/>
            <p:nvPr/>
          </p:nvSpPr>
          <p:spPr>
            <a:xfrm flipH="1">
              <a:off x="3024" y="308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49" name="Line 39"/>
            <p:cNvSpPr/>
            <p:nvPr/>
          </p:nvSpPr>
          <p:spPr>
            <a:xfrm rot="-10800000" flipH="1">
              <a:off x="4032" y="308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50" name="Line 40"/>
            <p:cNvSpPr/>
            <p:nvPr/>
          </p:nvSpPr>
          <p:spPr>
            <a:xfrm>
              <a:off x="4272" y="2938"/>
              <a:ext cx="0" cy="23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6251" name="Line 41"/>
            <p:cNvSpPr/>
            <p:nvPr/>
          </p:nvSpPr>
          <p:spPr>
            <a:xfrm flipH="1">
              <a:off x="4272" y="3072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6252" name="Text Box 42"/>
            <p:cNvSpPr txBox="1"/>
            <p:nvPr/>
          </p:nvSpPr>
          <p:spPr>
            <a:xfrm>
              <a:off x="4520" y="292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中断周期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6253" name="Line 43"/>
            <p:cNvSpPr/>
            <p:nvPr/>
          </p:nvSpPr>
          <p:spPr>
            <a:xfrm rot="-10800000" flipH="1">
              <a:off x="5232" y="3072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83020" name="Rectangle 4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6231" name="AutoShape 4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623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7250" name="Text Box 2"/>
          <p:cNvSpPr txBox="1"/>
          <p:nvPr/>
        </p:nvSpPr>
        <p:spPr>
          <a:xfrm>
            <a:off x="2133600" y="3810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5.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指令周期流程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84003" name="Rectangle 3"/>
          <p:cNvSpPr/>
          <p:nvPr/>
        </p:nvSpPr>
        <p:spPr>
          <a:xfrm>
            <a:off x="4702175" y="1600200"/>
            <a:ext cx="1198880" cy="39878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取指周期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4004" name="Rectangle 4"/>
          <p:cNvSpPr/>
          <p:nvPr/>
        </p:nvSpPr>
        <p:spPr>
          <a:xfrm>
            <a:off x="4702175" y="3870325"/>
            <a:ext cx="1198880" cy="39878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执行周期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064000" y="2373313"/>
            <a:ext cx="2905126" cy="796924"/>
            <a:chOff x="836" y="1439"/>
            <a:chExt cx="1830" cy="502"/>
          </a:xfrm>
        </p:grpSpPr>
        <p:sp>
          <p:nvSpPr>
            <p:cNvPr id="437285" name="AutoShape 6"/>
            <p:cNvSpPr/>
            <p:nvPr/>
          </p:nvSpPr>
          <p:spPr>
            <a:xfrm>
              <a:off x="836" y="1439"/>
              <a:ext cx="1830" cy="502"/>
            </a:xfrm>
            <a:prstGeom prst="diamond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有间址吗？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7286" name="AutoShape 7"/>
            <p:cNvSpPr/>
            <p:nvPr/>
          </p:nvSpPr>
          <p:spPr>
            <a:xfrm>
              <a:off x="1008" y="1440"/>
              <a:ext cx="1248" cy="480"/>
            </a:xfrm>
            <a:prstGeom prst="diamond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4337050" y="4648200"/>
            <a:ext cx="1981200" cy="762000"/>
            <a:chOff x="1008" y="2496"/>
            <a:chExt cx="1248" cy="480"/>
          </a:xfrm>
        </p:grpSpPr>
        <p:sp>
          <p:nvSpPr>
            <p:cNvPr id="437283" name="AutoShape 9"/>
            <p:cNvSpPr/>
            <p:nvPr/>
          </p:nvSpPr>
          <p:spPr>
            <a:xfrm>
              <a:off x="1008" y="2496"/>
              <a:ext cx="1248" cy="480"/>
            </a:xfrm>
            <a:prstGeom prst="diamond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7284" name="Text Box 10"/>
            <p:cNvSpPr txBox="1"/>
            <p:nvPr/>
          </p:nvSpPr>
          <p:spPr>
            <a:xfrm>
              <a:off x="1200" y="2592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有中断吗？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4011" name="Rectangle 11"/>
          <p:cNvSpPr/>
          <p:nvPr/>
        </p:nvSpPr>
        <p:spPr>
          <a:xfrm>
            <a:off x="7089775" y="2986088"/>
            <a:ext cx="1198880" cy="39878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间址周期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4012" name="Text Box 12"/>
          <p:cNvSpPr txBox="1"/>
          <p:nvPr/>
        </p:nvSpPr>
        <p:spPr>
          <a:xfrm>
            <a:off x="7089775" y="5257800"/>
            <a:ext cx="1198880" cy="39878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中断周期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4013" name="Freeform 13"/>
          <p:cNvSpPr/>
          <p:nvPr/>
        </p:nvSpPr>
        <p:spPr>
          <a:xfrm>
            <a:off x="5327650" y="2019300"/>
            <a:ext cx="1588" cy="342900"/>
          </a:xfrm>
          <a:custGeom>
            <a:avLst/>
            <a:gdLst>
              <a:gd name="txL" fmla="*/ 0 w 1"/>
              <a:gd name="txT" fmla="*/ 0 h 216"/>
              <a:gd name="txR" fmla="*/ 1 w 1"/>
              <a:gd name="txB" fmla="*/ 216 h 216"/>
            </a:gdLst>
            <a:ahLst/>
            <a:cxnLst>
              <a:cxn ang="0">
                <a:pos x="0" y="0"/>
              </a:cxn>
              <a:cxn ang="0">
                <a:pos x="1" y="216"/>
              </a:cxn>
            </a:cxnLst>
            <a:rect l="txL" t="txT" r="txR" b="txB"/>
            <a:pathLst>
              <a:path w="1" h="216">
                <a:moveTo>
                  <a:pt x="0" y="0"/>
                </a:moveTo>
                <a:lnTo>
                  <a:pt x="1" y="21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4014" name="Freeform 14"/>
          <p:cNvSpPr/>
          <p:nvPr/>
        </p:nvSpPr>
        <p:spPr>
          <a:xfrm>
            <a:off x="5327650" y="1257300"/>
            <a:ext cx="1588" cy="342900"/>
          </a:xfrm>
          <a:custGeom>
            <a:avLst/>
            <a:gdLst>
              <a:gd name="txL" fmla="*/ 0 w 1"/>
              <a:gd name="txT" fmla="*/ 0 h 216"/>
              <a:gd name="txR" fmla="*/ 1 w 1"/>
              <a:gd name="txB" fmla="*/ 216 h 216"/>
            </a:gdLst>
            <a:ahLst/>
            <a:cxnLst>
              <a:cxn ang="0">
                <a:pos x="0" y="0"/>
              </a:cxn>
              <a:cxn ang="0">
                <a:pos x="1" y="216"/>
              </a:cxn>
            </a:cxnLst>
            <a:rect l="txL" t="txT" r="txR" b="txB"/>
            <a:pathLst>
              <a:path w="1" h="216">
                <a:moveTo>
                  <a:pt x="0" y="0"/>
                </a:moveTo>
                <a:lnTo>
                  <a:pt x="1" y="21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4015" name="Freeform 15"/>
          <p:cNvSpPr/>
          <p:nvPr/>
        </p:nvSpPr>
        <p:spPr>
          <a:xfrm>
            <a:off x="5327650" y="4305300"/>
            <a:ext cx="1588" cy="342900"/>
          </a:xfrm>
          <a:custGeom>
            <a:avLst/>
            <a:gdLst>
              <a:gd name="txL" fmla="*/ 0 w 1"/>
              <a:gd name="txT" fmla="*/ 0 h 216"/>
              <a:gd name="txR" fmla="*/ 1 w 1"/>
              <a:gd name="txB" fmla="*/ 216 h 216"/>
            </a:gdLst>
            <a:ahLst/>
            <a:cxnLst>
              <a:cxn ang="0">
                <a:pos x="0" y="0"/>
              </a:cxn>
              <a:cxn ang="0">
                <a:pos x="1" y="216"/>
              </a:cxn>
            </a:cxnLst>
            <a:rect l="txL" t="txT" r="txR" b="txB"/>
            <a:pathLst>
              <a:path w="1" h="216">
                <a:moveTo>
                  <a:pt x="0" y="0"/>
                </a:moveTo>
                <a:lnTo>
                  <a:pt x="1" y="21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16"/>
          <p:cNvGrpSpPr/>
          <p:nvPr/>
        </p:nvGrpSpPr>
        <p:grpSpPr>
          <a:xfrm>
            <a:off x="5327650" y="3400425"/>
            <a:ext cx="2362200" cy="268288"/>
            <a:chOff x="2396" y="2142"/>
            <a:chExt cx="1488" cy="169"/>
          </a:xfrm>
        </p:grpSpPr>
        <p:sp>
          <p:nvSpPr>
            <p:cNvPr id="437281" name="Freeform 17"/>
            <p:cNvSpPr/>
            <p:nvPr/>
          </p:nvSpPr>
          <p:spPr>
            <a:xfrm>
              <a:off x="3882" y="2142"/>
              <a:ext cx="2" cy="169"/>
            </a:xfrm>
            <a:custGeom>
              <a:avLst/>
              <a:gdLst>
                <a:gd name="txL" fmla="*/ 0 w 2"/>
                <a:gd name="txT" fmla="*/ 0 h 169"/>
                <a:gd name="txR" fmla="*/ 2 w 2"/>
                <a:gd name="txB" fmla="*/ 169 h 169"/>
              </a:gdLst>
              <a:ahLst/>
              <a:cxnLst>
                <a:cxn ang="0">
                  <a:pos x="0" y="0"/>
                </a:cxn>
                <a:cxn ang="0">
                  <a:pos x="2" y="169"/>
                </a:cxn>
              </a:cxnLst>
              <a:rect l="txL" t="txT" r="txR" b="txB"/>
              <a:pathLst>
                <a:path w="2" h="169">
                  <a:moveTo>
                    <a:pt x="0" y="0"/>
                  </a:moveTo>
                  <a:lnTo>
                    <a:pt x="2" y="16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7282" name="Line 18"/>
            <p:cNvSpPr/>
            <p:nvPr/>
          </p:nvSpPr>
          <p:spPr>
            <a:xfrm flipH="1">
              <a:off x="2396" y="2304"/>
              <a:ext cx="14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" name="Group 19"/>
          <p:cNvGrpSpPr/>
          <p:nvPr/>
        </p:nvGrpSpPr>
        <p:grpSpPr>
          <a:xfrm>
            <a:off x="6318250" y="2362200"/>
            <a:ext cx="1371600" cy="619125"/>
            <a:chOff x="3020" y="1488"/>
            <a:chExt cx="864" cy="390"/>
          </a:xfrm>
        </p:grpSpPr>
        <p:sp>
          <p:nvSpPr>
            <p:cNvPr id="437279" name="Freeform 20"/>
            <p:cNvSpPr/>
            <p:nvPr/>
          </p:nvSpPr>
          <p:spPr>
            <a:xfrm>
              <a:off x="3020" y="1728"/>
              <a:ext cx="864" cy="150"/>
            </a:xfrm>
            <a:custGeom>
              <a:avLst/>
              <a:gdLst>
                <a:gd name="txL" fmla="*/ 0 w 864"/>
                <a:gd name="txT" fmla="*/ 0 h 150"/>
                <a:gd name="txR" fmla="*/ 864 w 864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864" y="0"/>
                </a:cxn>
                <a:cxn ang="0">
                  <a:pos x="862" y="150"/>
                </a:cxn>
              </a:cxnLst>
              <a:rect l="txL" t="txT" r="txR" b="txB"/>
              <a:pathLst>
                <a:path w="864" h="150">
                  <a:moveTo>
                    <a:pt x="0" y="0"/>
                  </a:moveTo>
                  <a:lnTo>
                    <a:pt x="864" y="0"/>
                  </a:lnTo>
                  <a:lnTo>
                    <a:pt x="862" y="15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7280" name="Text Box 21"/>
            <p:cNvSpPr txBox="1"/>
            <p:nvPr/>
          </p:nvSpPr>
          <p:spPr>
            <a:xfrm>
              <a:off x="3068" y="148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2"/>
          <p:cNvGrpSpPr/>
          <p:nvPr/>
        </p:nvGrpSpPr>
        <p:grpSpPr>
          <a:xfrm>
            <a:off x="6318250" y="4632325"/>
            <a:ext cx="1371600" cy="625475"/>
            <a:chOff x="3020" y="2918"/>
            <a:chExt cx="864" cy="394"/>
          </a:xfrm>
        </p:grpSpPr>
        <p:sp>
          <p:nvSpPr>
            <p:cNvPr id="437277" name="Freeform 23"/>
            <p:cNvSpPr/>
            <p:nvPr/>
          </p:nvSpPr>
          <p:spPr>
            <a:xfrm>
              <a:off x="3020" y="3161"/>
              <a:ext cx="864" cy="151"/>
            </a:xfrm>
            <a:custGeom>
              <a:avLst/>
              <a:gdLst>
                <a:gd name="txL" fmla="*/ 0 w 864"/>
                <a:gd name="txT" fmla="*/ 0 h 151"/>
                <a:gd name="txR" fmla="*/ 864 w 864"/>
                <a:gd name="txB" fmla="*/ 151 h 151"/>
              </a:gdLst>
              <a:ahLst/>
              <a:cxnLst>
                <a:cxn ang="0">
                  <a:pos x="0" y="0"/>
                </a:cxn>
                <a:cxn ang="0">
                  <a:pos x="864" y="0"/>
                </a:cxn>
                <a:cxn ang="0">
                  <a:pos x="862" y="151"/>
                </a:cxn>
              </a:cxnLst>
              <a:rect l="txL" t="txT" r="txR" b="txB"/>
              <a:pathLst>
                <a:path w="864" h="151">
                  <a:moveTo>
                    <a:pt x="0" y="0"/>
                  </a:moveTo>
                  <a:lnTo>
                    <a:pt x="864" y="0"/>
                  </a:lnTo>
                  <a:lnTo>
                    <a:pt x="862" y="15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7278" name="Text Box 24"/>
            <p:cNvSpPr txBox="1"/>
            <p:nvPr/>
          </p:nvSpPr>
          <p:spPr>
            <a:xfrm>
              <a:off x="3068" y="291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5"/>
          <p:cNvGrpSpPr/>
          <p:nvPr/>
        </p:nvGrpSpPr>
        <p:grpSpPr>
          <a:xfrm>
            <a:off x="5327650" y="3121025"/>
            <a:ext cx="496888" cy="765175"/>
            <a:chOff x="2396" y="1966"/>
            <a:chExt cx="313" cy="482"/>
          </a:xfrm>
        </p:grpSpPr>
        <p:sp>
          <p:nvSpPr>
            <p:cNvPr id="437275" name="Freeform 26"/>
            <p:cNvSpPr/>
            <p:nvPr/>
          </p:nvSpPr>
          <p:spPr>
            <a:xfrm>
              <a:off x="2396" y="1983"/>
              <a:ext cx="1" cy="465"/>
            </a:xfrm>
            <a:custGeom>
              <a:avLst/>
              <a:gdLst>
                <a:gd name="txL" fmla="*/ 0 w 1"/>
                <a:gd name="txT" fmla="*/ 0 h 465"/>
                <a:gd name="txR" fmla="*/ 1 w 1"/>
                <a:gd name="txB" fmla="*/ 465 h 465"/>
              </a:gdLst>
              <a:ahLst/>
              <a:cxnLst>
                <a:cxn ang="0">
                  <a:pos x="0" y="0"/>
                </a:cxn>
                <a:cxn ang="0">
                  <a:pos x="1" y="465"/>
                </a:cxn>
              </a:cxnLst>
              <a:rect l="txL" t="txT" r="txR" b="txB"/>
              <a:pathLst>
                <a:path w="1" h="465">
                  <a:moveTo>
                    <a:pt x="0" y="0"/>
                  </a:moveTo>
                  <a:lnTo>
                    <a:pt x="1" y="46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7276" name="Text Box 27"/>
            <p:cNvSpPr txBox="1"/>
            <p:nvPr/>
          </p:nvSpPr>
          <p:spPr>
            <a:xfrm>
              <a:off x="2434" y="196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28"/>
          <p:cNvGrpSpPr/>
          <p:nvPr/>
        </p:nvGrpSpPr>
        <p:grpSpPr>
          <a:xfrm>
            <a:off x="5327650" y="5705475"/>
            <a:ext cx="2362200" cy="238125"/>
            <a:chOff x="2396" y="3594"/>
            <a:chExt cx="1488" cy="150"/>
          </a:xfrm>
        </p:grpSpPr>
        <p:sp>
          <p:nvSpPr>
            <p:cNvPr id="437273" name="Freeform 29"/>
            <p:cNvSpPr/>
            <p:nvPr/>
          </p:nvSpPr>
          <p:spPr>
            <a:xfrm>
              <a:off x="3882" y="3594"/>
              <a:ext cx="2" cy="150"/>
            </a:xfrm>
            <a:custGeom>
              <a:avLst/>
              <a:gdLst>
                <a:gd name="txL" fmla="*/ 0 w 2"/>
                <a:gd name="txT" fmla="*/ 0 h 150"/>
                <a:gd name="txR" fmla="*/ 2 w 2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2" y="150"/>
                </a:cxn>
              </a:cxnLst>
              <a:rect l="txL" t="txT" r="txR" b="txB"/>
              <a:pathLst>
                <a:path w="2" h="150">
                  <a:moveTo>
                    <a:pt x="0" y="0"/>
                  </a:moveTo>
                  <a:lnTo>
                    <a:pt x="2" y="15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7274" name="Line 30"/>
            <p:cNvSpPr/>
            <p:nvPr/>
          </p:nvSpPr>
          <p:spPr>
            <a:xfrm flipH="1">
              <a:off x="2396" y="3737"/>
              <a:ext cx="14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9" name="Group 31"/>
          <p:cNvGrpSpPr/>
          <p:nvPr/>
        </p:nvGrpSpPr>
        <p:grpSpPr>
          <a:xfrm>
            <a:off x="4032250" y="1371600"/>
            <a:ext cx="1808163" cy="4595813"/>
            <a:chOff x="1580" y="864"/>
            <a:chExt cx="1139" cy="2895"/>
          </a:xfrm>
        </p:grpSpPr>
        <p:grpSp>
          <p:nvGrpSpPr>
            <p:cNvPr id="437269" name="Group 32"/>
            <p:cNvGrpSpPr/>
            <p:nvPr/>
          </p:nvGrpSpPr>
          <p:grpSpPr>
            <a:xfrm>
              <a:off x="1580" y="864"/>
              <a:ext cx="817" cy="2895"/>
              <a:chOff x="1580" y="864"/>
              <a:chExt cx="817" cy="2895"/>
            </a:xfrm>
          </p:grpSpPr>
          <p:sp>
            <p:nvSpPr>
              <p:cNvPr id="437271" name="Freeform 33"/>
              <p:cNvSpPr/>
              <p:nvPr/>
            </p:nvSpPr>
            <p:spPr>
              <a:xfrm>
                <a:off x="2396" y="3408"/>
                <a:ext cx="1" cy="351"/>
              </a:xfrm>
              <a:custGeom>
                <a:avLst/>
                <a:gdLst>
                  <a:gd name="txL" fmla="*/ 0 w 1"/>
                  <a:gd name="txT" fmla="*/ 0 h 216"/>
                  <a:gd name="txR" fmla="*/ 1 w 1"/>
                  <a:gd name="txB" fmla="*/ 216 h 216"/>
                </a:gdLst>
                <a:ahLst/>
                <a:cxnLst>
                  <a:cxn ang="0">
                    <a:pos x="0" y="0"/>
                  </a:cxn>
                  <a:cxn ang="0">
                    <a:pos x="1" y="216"/>
                  </a:cxn>
                </a:cxnLst>
                <a:rect l="txL" t="txT" r="txR" b="txB"/>
                <a:pathLst>
                  <a:path w="1" h="216">
                    <a:moveTo>
                      <a:pt x="0" y="0"/>
                    </a:moveTo>
                    <a:lnTo>
                      <a:pt x="1" y="2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37272" name="Freeform 34"/>
              <p:cNvSpPr/>
              <p:nvPr/>
            </p:nvSpPr>
            <p:spPr>
              <a:xfrm>
                <a:off x="1580" y="864"/>
                <a:ext cx="816" cy="2880"/>
              </a:xfrm>
              <a:custGeom>
                <a:avLst/>
                <a:gdLst>
                  <a:gd name="txL" fmla="*/ 0 w 816"/>
                  <a:gd name="txT" fmla="*/ 0 h 2832"/>
                  <a:gd name="txR" fmla="*/ 816 w 816"/>
                  <a:gd name="txB" fmla="*/ 2832 h 2832"/>
                </a:gdLst>
                <a:ahLst/>
                <a:cxnLst>
                  <a:cxn ang="0">
                    <a:pos x="816" y="2832"/>
                  </a:cxn>
                  <a:cxn ang="0">
                    <a:pos x="0" y="2832"/>
                  </a:cxn>
                  <a:cxn ang="0">
                    <a:pos x="0" y="0"/>
                  </a:cxn>
                  <a:cxn ang="0">
                    <a:pos x="816" y="0"/>
                  </a:cxn>
                </a:cxnLst>
                <a:rect l="txL" t="txT" r="txR" b="txB"/>
                <a:pathLst>
                  <a:path w="816" h="2832">
                    <a:moveTo>
                      <a:pt x="816" y="2832"/>
                    </a:moveTo>
                    <a:lnTo>
                      <a:pt x="0" y="2832"/>
                    </a:lnTo>
                    <a:lnTo>
                      <a:pt x="0" y="0"/>
                    </a:lnTo>
                    <a:lnTo>
                      <a:pt x="816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7270" name="Text Box 35"/>
            <p:cNvSpPr txBox="1"/>
            <p:nvPr/>
          </p:nvSpPr>
          <p:spPr>
            <a:xfrm>
              <a:off x="2444" y="339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4036" name="Rectangle 3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7267" name="AutoShape 3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7268" name="日期占位符 10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8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8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84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8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384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ldLvl="0" animBg="1"/>
      <p:bldP spid="384004" grpId="0" bldLvl="0" animBg="1"/>
      <p:bldP spid="384011" grpId="0" bldLvl="0" animBg="1"/>
      <p:bldP spid="384012" grpId="0" bldLvl="0" animBg="1"/>
      <p:bldP spid="384013" grpId="0" bldLvl="0" animBg="1"/>
      <p:bldP spid="384014" grpId="0" bldLvl="0" animBg="1"/>
      <p:bldP spid="384015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8274" name="Text Box 2"/>
          <p:cNvSpPr txBox="1"/>
          <p:nvPr/>
        </p:nvSpPr>
        <p:spPr>
          <a:xfrm>
            <a:off x="2209800" y="4572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6.  CPU </a:t>
            </a:r>
            <a:r>
              <a:rPr lang="zh-CN" altLang="en-US" sz="3200" b="1" dirty="0">
                <a:latin typeface="Times New Roman" panose="02020603050405020304" pitchFamily="18" charset="0"/>
              </a:rPr>
              <a:t>工作周期的标志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38275" name="Text Box 3"/>
          <p:cNvSpPr txBox="1"/>
          <p:nvPr/>
        </p:nvSpPr>
        <p:spPr>
          <a:xfrm>
            <a:off x="2743200" y="1203325"/>
            <a:ext cx="5334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CPU </a:t>
            </a:r>
            <a:r>
              <a:rPr lang="zh-CN" altLang="en-US" sz="2800" b="1" dirty="0">
                <a:latin typeface="Times New Roman" panose="02020603050405020304" pitchFamily="18" charset="0"/>
              </a:rPr>
              <a:t>访存有四种性质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38276" name="Text Box 4"/>
          <p:cNvSpPr txBox="1"/>
          <p:nvPr/>
        </p:nvSpPr>
        <p:spPr>
          <a:xfrm>
            <a:off x="3505200" y="18288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</a:t>
            </a:r>
            <a:r>
              <a:rPr lang="zh-CN" altLang="en-US" sz="2400" b="1" dirty="0">
                <a:latin typeface="Times New Roman" panose="02020603050405020304" pitchFamily="18" charset="0"/>
              </a:rPr>
              <a:t>  指令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8277" name="Text Box 5"/>
          <p:cNvSpPr txBox="1"/>
          <p:nvPr/>
        </p:nvSpPr>
        <p:spPr>
          <a:xfrm>
            <a:off x="3505200" y="24892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</a:t>
            </a:r>
            <a:r>
              <a:rPr lang="zh-CN" altLang="en-US" sz="2400" b="1" dirty="0">
                <a:latin typeface="Times New Roman" panose="02020603050405020304" pitchFamily="18" charset="0"/>
              </a:rPr>
              <a:t>  地址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8278" name="Text Box 6"/>
          <p:cNvSpPr txBox="1"/>
          <p:nvPr/>
        </p:nvSpPr>
        <p:spPr>
          <a:xfrm>
            <a:off x="3505200" y="31496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</a:t>
            </a:r>
            <a:r>
              <a:rPr lang="zh-CN" altLang="en-US" sz="2400" b="1" dirty="0">
                <a:latin typeface="Times New Roman" panose="02020603050405020304" pitchFamily="18" charset="0"/>
              </a:rPr>
              <a:t>  操作数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8279" name="Text Box 7"/>
          <p:cNvSpPr txBox="1"/>
          <p:nvPr/>
        </p:nvSpPr>
        <p:spPr>
          <a:xfrm>
            <a:off x="3505200" y="38100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存</a:t>
            </a:r>
            <a:r>
              <a:rPr lang="zh-CN" altLang="en-US" sz="2400" b="1" dirty="0">
                <a:latin typeface="Times New Roman" panose="02020603050405020304" pitchFamily="18" charset="0"/>
              </a:rPr>
              <a:t>  程序断点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8280" name="Text Box 8"/>
          <p:cNvSpPr txBox="1"/>
          <p:nvPr/>
        </p:nvSpPr>
        <p:spPr>
          <a:xfrm>
            <a:off x="6019800" y="18288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取指周期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8281" name="Text Box 9"/>
          <p:cNvSpPr txBox="1"/>
          <p:nvPr/>
        </p:nvSpPr>
        <p:spPr>
          <a:xfrm>
            <a:off x="6019800" y="24892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间址周期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8282" name="Text Box 10"/>
          <p:cNvSpPr txBox="1"/>
          <p:nvPr/>
        </p:nvSpPr>
        <p:spPr>
          <a:xfrm>
            <a:off x="6019800" y="31496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执行周期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8283" name="Text Box 11"/>
          <p:cNvSpPr txBox="1"/>
          <p:nvPr/>
        </p:nvSpPr>
        <p:spPr>
          <a:xfrm>
            <a:off x="6019800" y="38100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中断周期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38284" name="Group 12"/>
          <p:cNvGrpSpPr/>
          <p:nvPr/>
        </p:nvGrpSpPr>
        <p:grpSpPr>
          <a:xfrm>
            <a:off x="2574925" y="4749800"/>
            <a:ext cx="6389688" cy="1728788"/>
            <a:chOff x="662" y="2992"/>
            <a:chExt cx="4025" cy="1089"/>
          </a:xfrm>
        </p:grpSpPr>
        <p:sp>
          <p:nvSpPr>
            <p:cNvPr id="438289" name="Text Box 13"/>
            <p:cNvSpPr txBox="1"/>
            <p:nvPr/>
          </p:nvSpPr>
          <p:spPr>
            <a:xfrm>
              <a:off x="1526" y="2992"/>
              <a:ext cx="36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FE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8290" name="Rectangle 14"/>
            <p:cNvSpPr/>
            <p:nvPr/>
          </p:nvSpPr>
          <p:spPr>
            <a:xfrm>
              <a:off x="1440" y="3066"/>
              <a:ext cx="528" cy="2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291" name="Text Box 15"/>
            <p:cNvSpPr txBox="1"/>
            <p:nvPr/>
          </p:nvSpPr>
          <p:spPr>
            <a:xfrm>
              <a:off x="1440" y="3206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292" name="AutoShape 16"/>
            <p:cNvSpPr/>
            <p:nvPr/>
          </p:nvSpPr>
          <p:spPr>
            <a:xfrm>
              <a:off x="1776" y="3118"/>
              <a:ext cx="96" cy="464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293" name="Line 17"/>
            <p:cNvSpPr/>
            <p:nvPr/>
          </p:nvSpPr>
          <p:spPr>
            <a:xfrm>
              <a:off x="1536" y="339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8294" name="Text Box 18"/>
            <p:cNvSpPr txBox="1"/>
            <p:nvPr/>
          </p:nvSpPr>
          <p:spPr>
            <a:xfrm>
              <a:off x="2352" y="2992"/>
              <a:ext cx="46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8295" name="Rectangle 19"/>
            <p:cNvSpPr/>
            <p:nvPr/>
          </p:nvSpPr>
          <p:spPr>
            <a:xfrm>
              <a:off x="2304" y="3066"/>
              <a:ext cx="528" cy="2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296" name="Text Box 20"/>
            <p:cNvSpPr txBox="1"/>
            <p:nvPr/>
          </p:nvSpPr>
          <p:spPr>
            <a:xfrm>
              <a:off x="2304" y="3206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297" name="AutoShape 21"/>
            <p:cNvSpPr/>
            <p:nvPr/>
          </p:nvSpPr>
          <p:spPr>
            <a:xfrm>
              <a:off x="2640" y="3118"/>
              <a:ext cx="96" cy="464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298" name="Line 22"/>
            <p:cNvSpPr/>
            <p:nvPr/>
          </p:nvSpPr>
          <p:spPr>
            <a:xfrm>
              <a:off x="2400" y="339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8299" name="Line 23"/>
            <p:cNvSpPr/>
            <p:nvPr/>
          </p:nvSpPr>
          <p:spPr>
            <a:xfrm>
              <a:off x="3264" y="339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8300" name="Text Box 24"/>
            <p:cNvSpPr txBox="1"/>
            <p:nvPr/>
          </p:nvSpPr>
          <p:spPr>
            <a:xfrm>
              <a:off x="4128" y="2992"/>
              <a:ext cx="45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8301" name="Rectangle 25"/>
            <p:cNvSpPr/>
            <p:nvPr/>
          </p:nvSpPr>
          <p:spPr>
            <a:xfrm>
              <a:off x="4080" y="3066"/>
              <a:ext cx="528" cy="2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302" name="Text Box 26"/>
            <p:cNvSpPr txBox="1"/>
            <p:nvPr/>
          </p:nvSpPr>
          <p:spPr>
            <a:xfrm>
              <a:off x="4080" y="3206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03" name="AutoShape 27"/>
            <p:cNvSpPr/>
            <p:nvPr/>
          </p:nvSpPr>
          <p:spPr>
            <a:xfrm>
              <a:off x="4416" y="3118"/>
              <a:ext cx="96" cy="464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304" name="Line 28"/>
            <p:cNvSpPr/>
            <p:nvPr/>
          </p:nvSpPr>
          <p:spPr>
            <a:xfrm>
              <a:off x="4176" y="339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8305" name="Freeform 29"/>
            <p:cNvSpPr/>
            <p:nvPr/>
          </p:nvSpPr>
          <p:spPr>
            <a:xfrm>
              <a:off x="1125" y="3635"/>
              <a:ext cx="3345" cy="3"/>
            </a:xfrm>
            <a:custGeom>
              <a:avLst/>
              <a:gdLst>
                <a:gd name="txL" fmla="*/ 0 w 3345"/>
                <a:gd name="txT" fmla="*/ 0 h 3"/>
                <a:gd name="txR" fmla="*/ 3345 w 3345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3345" y="0"/>
                </a:cxn>
              </a:cxnLst>
              <a:rect l="txL" t="txT" r="txR" b="txB"/>
              <a:pathLst>
                <a:path w="3345" h="3">
                  <a:moveTo>
                    <a:pt x="0" y="3"/>
                  </a:moveTo>
                  <a:lnTo>
                    <a:pt x="3345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306" name="Line 30"/>
            <p:cNvSpPr/>
            <p:nvPr/>
          </p:nvSpPr>
          <p:spPr>
            <a:xfrm>
              <a:off x="4464" y="339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8307" name="Line 31"/>
            <p:cNvSpPr/>
            <p:nvPr/>
          </p:nvSpPr>
          <p:spPr>
            <a:xfrm>
              <a:off x="3552" y="339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438308" name="Line 32"/>
            <p:cNvSpPr/>
            <p:nvPr/>
          </p:nvSpPr>
          <p:spPr>
            <a:xfrm>
              <a:off x="2688" y="339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438309" name="Line 33"/>
            <p:cNvSpPr/>
            <p:nvPr/>
          </p:nvSpPr>
          <p:spPr>
            <a:xfrm>
              <a:off x="1824" y="339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438310" name="Text Box 34"/>
            <p:cNvSpPr txBox="1"/>
            <p:nvPr/>
          </p:nvSpPr>
          <p:spPr>
            <a:xfrm>
              <a:off x="662" y="3566"/>
              <a:ext cx="42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CLK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11" name="Line 35"/>
            <p:cNvSpPr/>
            <p:nvPr/>
          </p:nvSpPr>
          <p:spPr>
            <a:xfrm>
              <a:off x="1440" y="3926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8312" name="Text Box 36"/>
            <p:cNvSpPr txBox="1"/>
            <p:nvPr/>
          </p:nvSpPr>
          <p:spPr>
            <a:xfrm>
              <a:off x="1300" y="381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13" name="Text Box 37"/>
            <p:cNvSpPr txBox="1"/>
            <p:nvPr/>
          </p:nvSpPr>
          <p:spPr>
            <a:xfrm>
              <a:off x="1620" y="3815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FE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14" name="Line 38"/>
            <p:cNvSpPr/>
            <p:nvPr/>
          </p:nvSpPr>
          <p:spPr>
            <a:xfrm>
              <a:off x="2283" y="3941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8315" name="Text Box 39"/>
            <p:cNvSpPr txBox="1"/>
            <p:nvPr/>
          </p:nvSpPr>
          <p:spPr>
            <a:xfrm>
              <a:off x="2143" y="383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16" name="Text Box 40"/>
            <p:cNvSpPr txBox="1"/>
            <p:nvPr/>
          </p:nvSpPr>
          <p:spPr>
            <a:xfrm>
              <a:off x="2463" y="3830"/>
              <a:ext cx="40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IND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17" name="Line 41"/>
            <p:cNvSpPr/>
            <p:nvPr/>
          </p:nvSpPr>
          <p:spPr>
            <a:xfrm>
              <a:off x="3147" y="3941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8318" name="Text Box 42"/>
            <p:cNvSpPr txBox="1"/>
            <p:nvPr/>
          </p:nvSpPr>
          <p:spPr>
            <a:xfrm>
              <a:off x="3007" y="383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19" name="Text Box 43"/>
            <p:cNvSpPr txBox="1"/>
            <p:nvPr/>
          </p:nvSpPr>
          <p:spPr>
            <a:xfrm>
              <a:off x="3327" y="3830"/>
              <a:ext cx="33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EX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20" name="Line 44"/>
            <p:cNvSpPr/>
            <p:nvPr/>
          </p:nvSpPr>
          <p:spPr>
            <a:xfrm>
              <a:off x="4107" y="3941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8321" name="Text Box 45"/>
            <p:cNvSpPr txBox="1"/>
            <p:nvPr/>
          </p:nvSpPr>
          <p:spPr>
            <a:xfrm>
              <a:off x="3967" y="383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22" name="Text Box 46"/>
            <p:cNvSpPr txBox="1"/>
            <p:nvPr/>
          </p:nvSpPr>
          <p:spPr>
            <a:xfrm>
              <a:off x="4287" y="3830"/>
              <a:ext cx="40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INT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23" name="Text Box 47"/>
            <p:cNvSpPr txBox="1"/>
            <p:nvPr/>
          </p:nvSpPr>
          <p:spPr>
            <a:xfrm>
              <a:off x="3254" y="2992"/>
              <a:ext cx="38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EX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8324" name="Rectangle 48"/>
            <p:cNvSpPr/>
            <p:nvPr/>
          </p:nvSpPr>
          <p:spPr>
            <a:xfrm>
              <a:off x="3168" y="3066"/>
              <a:ext cx="528" cy="2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8325" name="Text Box 49"/>
            <p:cNvSpPr txBox="1"/>
            <p:nvPr/>
          </p:nvSpPr>
          <p:spPr>
            <a:xfrm>
              <a:off x="3168" y="3206"/>
              <a:ext cx="219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8326" name="AutoShape 50"/>
            <p:cNvSpPr/>
            <p:nvPr/>
          </p:nvSpPr>
          <p:spPr>
            <a:xfrm>
              <a:off x="3504" y="3118"/>
              <a:ext cx="96" cy="464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38285" name="Text Box 51"/>
          <p:cNvSpPr txBox="1"/>
          <p:nvPr/>
        </p:nvSpPr>
        <p:spPr>
          <a:xfrm>
            <a:off x="7924800" y="2514600"/>
            <a:ext cx="3124200" cy="8362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5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个工作周期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5076" name="Rectangle 5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8287" name="AutoShape 5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828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9298" name="AutoShape 2"/>
          <p:cNvSpPr/>
          <p:nvPr/>
        </p:nvSpPr>
        <p:spPr>
          <a:xfrm rot="10800000">
            <a:off x="4267200" y="5603875"/>
            <a:ext cx="1143000" cy="152400"/>
          </a:xfrm>
          <a:prstGeom prst="rightArrow">
            <a:avLst>
              <a:gd name="adj1" fmla="val 50000"/>
              <a:gd name="adj2" fmla="val 133125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9299" name="AutoShape 3"/>
          <p:cNvSpPr/>
          <p:nvPr/>
        </p:nvSpPr>
        <p:spPr>
          <a:xfrm>
            <a:off x="4267200" y="3927475"/>
            <a:ext cx="1143000" cy="152400"/>
          </a:xfrm>
          <a:prstGeom prst="rightArrow">
            <a:avLst>
              <a:gd name="adj1" fmla="val 50000"/>
              <a:gd name="adj2" fmla="val 133125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9300" name="AutoShape 4"/>
          <p:cNvSpPr/>
          <p:nvPr/>
        </p:nvSpPr>
        <p:spPr>
          <a:xfrm>
            <a:off x="6400800" y="3927475"/>
            <a:ext cx="609600" cy="152400"/>
          </a:xfrm>
          <a:prstGeom prst="rightArrow">
            <a:avLst>
              <a:gd name="adj1" fmla="val 50000"/>
              <a:gd name="adj2" fmla="val 7100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9301" name="AutoShape 5"/>
          <p:cNvSpPr/>
          <p:nvPr/>
        </p:nvSpPr>
        <p:spPr>
          <a:xfrm rot="10800000">
            <a:off x="6400800" y="5562600"/>
            <a:ext cx="1143000" cy="152400"/>
          </a:xfrm>
          <a:prstGeom prst="rightArrow">
            <a:avLst>
              <a:gd name="adj1" fmla="val 50000"/>
              <a:gd name="adj2" fmla="val 133125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9302" name="Text Box 6"/>
          <p:cNvSpPr txBox="1"/>
          <p:nvPr/>
        </p:nvSpPr>
        <p:spPr>
          <a:xfrm>
            <a:off x="2971800" y="12954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取指周期数据流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39303" name="Text Box 7"/>
          <p:cNvSpPr txBox="1"/>
          <p:nvPr/>
        </p:nvSpPr>
        <p:spPr>
          <a:xfrm>
            <a:off x="2209800" y="457200"/>
            <a:ext cx="5715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二、 指令周期的数据流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39304" name="AutoShape 8"/>
          <p:cNvSpPr/>
          <p:nvPr/>
        </p:nvSpPr>
        <p:spPr>
          <a:xfrm>
            <a:off x="6400800" y="4648200"/>
            <a:ext cx="1676400" cy="152400"/>
          </a:xfrm>
          <a:prstGeom prst="rightArrow">
            <a:avLst>
              <a:gd name="adj1" fmla="val 50000"/>
              <a:gd name="adj2" fmla="val 114125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9305" name="AutoShape 9"/>
          <p:cNvSpPr/>
          <p:nvPr/>
        </p:nvSpPr>
        <p:spPr>
          <a:xfrm>
            <a:off x="7162800" y="4432300"/>
            <a:ext cx="1447800" cy="152400"/>
          </a:xfrm>
          <a:prstGeom prst="rightArrow">
            <a:avLst>
              <a:gd name="adj1" fmla="val 50000"/>
              <a:gd name="adj2" fmla="val 126314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9306" name="AutoShape 10"/>
          <p:cNvSpPr/>
          <p:nvPr/>
        </p:nvSpPr>
        <p:spPr>
          <a:xfrm rot="10800000">
            <a:off x="7696200" y="4232275"/>
            <a:ext cx="914400" cy="152400"/>
          </a:xfrm>
          <a:prstGeom prst="rightArrow">
            <a:avLst>
              <a:gd name="adj1" fmla="val 50000"/>
              <a:gd name="adj2" fmla="val 10650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9307" name="AutoShape 11"/>
          <p:cNvSpPr/>
          <p:nvPr/>
        </p:nvSpPr>
        <p:spPr>
          <a:xfrm>
            <a:off x="8153400" y="4003675"/>
            <a:ext cx="457200" cy="152400"/>
          </a:xfrm>
          <a:prstGeom prst="rightArrow">
            <a:avLst>
              <a:gd name="adj1" fmla="val 50000"/>
              <a:gd name="adj2" fmla="val 5325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39308" name="Group 12"/>
          <p:cNvGrpSpPr/>
          <p:nvPr/>
        </p:nvGrpSpPr>
        <p:grpSpPr>
          <a:xfrm>
            <a:off x="5410200" y="5451475"/>
            <a:ext cx="990600" cy="457200"/>
            <a:chOff x="2448" y="3434"/>
            <a:chExt cx="624" cy="288"/>
          </a:xfrm>
        </p:grpSpPr>
        <p:sp>
          <p:nvSpPr>
            <p:cNvPr id="439338" name="Text Box 13"/>
            <p:cNvSpPr txBox="1"/>
            <p:nvPr/>
          </p:nvSpPr>
          <p:spPr>
            <a:xfrm>
              <a:off x="2534" y="3443"/>
              <a:ext cx="49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MDR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9339" name="Rectangle 14"/>
            <p:cNvSpPr/>
            <p:nvPr/>
          </p:nvSpPr>
          <p:spPr>
            <a:xfrm>
              <a:off x="2448" y="3434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39309" name="Rectangle 15"/>
          <p:cNvSpPr/>
          <p:nvPr/>
        </p:nvSpPr>
        <p:spPr>
          <a:xfrm>
            <a:off x="5410200" y="4537075"/>
            <a:ext cx="990600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CU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39310" name="Rectangle 16"/>
          <p:cNvSpPr/>
          <p:nvPr/>
        </p:nvSpPr>
        <p:spPr>
          <a:xfrm>
            <a:off x="5410200" y="3810000"/>
            <a:ext cx="990600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MAR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39311" name="Rectangle 17"/>
          <p:cNvSpPr/>
          <p:nvPr/>
        </p:nvSpPr>
        <p:spPr>
          <a:xfrm>
            <a:off x="3276600" y="3775075"/>
            <a:ext cx="990600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PC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439312" name="Group 18"/>
          <p:cNvGrpSpPr/>
          <p:nvPr/>
        </p:nvGrpSpPr>
        <p:grpSpPr>
          <a:xfrm>
            <a:off x="3276600" y="5451475"/>
            <a:ext cx="990600" cy="457200"/>
            <a:chOff x="1104" y="3434"/>
            <a:chExt cx="624" cy="288"/>
          </a:xfrm>
        </p:grpSpPr>
        <p:sp>
          <p:nvSpPr>
            <p:cNvPr id="439336" name="Rectangle 19"/>
            <p:cNvSpPr/>
            <p:nvPr/>
          </p:nvSpPr>
          <p:spPr>
            <a:xfrm>
              <a:off x="1104" y="3434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9337" name="Text Box 20"/>
            <p:cNvSpPr txBox="1"/>
            <p:nvPr/>
          </p:nvSpPr>
          <p:spPr>
            <a:xfrm>
              <a:off x="1290" y="3443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IR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9313" name="Group 21"/>
          <p:cNvGrpSpPr/>
          <p:nvPr/>
        </p:nvGrpSpPr>
        <p:grpSpPr>
          <a:xfrm>
            <a:off x="2971800" y="2209800"/>
            <a:ext cx="6934200" cy="3851275"/>
            <a:chOff x="912" y="1392"/>
            <a:chExt cx="4368" cy="2426"/>
          </a:xfrm>
        </p:grpSpPr>
        <p:sp>
          <p:nvSpPr>
            <p:cNvPr id="439327" name="Rectangle 22"/>
            <p:cNvSpPr/>
            <p:nvPr/>
          </p:nvSpPr>
          <p:spPr>
            <a:xfrm>
              <a:off x="912" y="2090"/>
              <a:ext cx="2352" cy="17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9328" name="Rectangle 23"/>
            <p:cNvSpPr/>
            <p:nvPr/>
          </p:nvSpPr>
          <p:spPr>
            <a:xfrm>
              <a:off x="3456" y="2090"/>
              <a:ext cx="96" cy="1680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9329" name="Rectangle 24"/>
            <p:cNvSpPr/>
            <p:nvPr/>
          </p:nvSpPr>
          <p:spPr>
            <a:xfrm>
              <a:off x="3792" y="2090"/>
              <a:ext cx="96" cy="1680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9330" name="Rectangle 25"/>
            <p:cNvSpPr/>
            <p:nvPr/>
          </p:nvSpPr>
          <p:spPr>
            <a:xfrm>
              <a:off x="4128" y="2090"/>
              <a:ext cx="96" cy="1680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9331" name="Rectangle 26"/>
            <p:cNvSpPr/>
            <p:nvPr/>
          </p:nvSpPr>
          <p:spPr>
            <a:xfrm>
              <a:off x="4464" y="2463"/>
              <a:ext cx="816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存储器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9332" name="Text Box 27"/>
            <p:cNvSpPr txBox="1"/>
            <p:nvPr/>
          </p:nvSpPr>
          <p:spPr>
            <a:xfrm>
              <a:off x="1718" y="1850"/>
              <a:ext cx="44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CPU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9333" name="Text Box 28"/>
            <p:cNvSpPr txBox="1"/>
            <p:nvPr/>
          </p:nvSpPr>
          <p:spPr>
            <a:xfrm>
              <a:off x="3339" y="1392"/>
              <a:ext cx="30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地址总线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9334" name="Text Box 29"/>
            <p:cNvSpPr txBox="1"/>
            <p:nvPr/>
          </p:nvSpPr>
          <p:spPr>
            <a:xfrm>
              <a:off x="3675" y="1392"/>
              <a:ext cx="30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数据总线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9335" name="Text Box 30"/>
            <p:cNvSpPr txBox="1"/>
            <p:nvPr/>
          </p:nvSpPr>
          <p:spPr>
            <a:xfrm>
              <a:off x="4059" y="1392"/>
              <a:ext cx="30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控制总线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9314" name="Group 31"/>
          <p:cNvGrpSpPr/>
          <p:nvPr/>
        </p:nvGrpSpPr>
        <p:grpSpPr>
          <a:xfrm>
            <a:off x="3276600" y="5443538"/>
            <a:ext cx="990600" cy="457200"/>
            <a:chOff x="1104" y="3423"/>
            <a:chExt cx="624" cy="288"/>
          </a:xfrm>
        </p:grpSpPr>
        <p:sp>
          <p:nvSpPr>
            <p:cNvPr id="439325" name="Rectangle 32"/>
            <p:cNvSpPr/>
            <p:nvPr/>
          </p:nvSpPr>
          <p:spPr>
            <a:xfrm>
              <a:off x="1104" y="3423"/>
              <a:ext cx="624" cy="288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9326" name="Text Box 33"/>
            <p:cNvSpPr txBox="1"/>
            <p:nvPr/>
          </p:nvSpPr>
          <p:spPr>
            <a:xfrm>
              <a:off x="1290" y="3446"/>
              <a:ext cx="293" cy="251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IR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9315" name="Group 34"/>
          <p:cNvGrpSpPr/>
          <p:nvPr/>
        </p:nvGrpSpPr>
        <p:grpSpPr>
          <a:xfrm>
            <a:off x="3783013" y="4235450"/>
            <a:ext cx="2209800" cy="915988"/>
            <a:chOff x="1440" y="2640"/>
            <a:chExt cx="1392" cy="577"/>
          </a:xfrm>
        </p:grpSpPr>
        <p:grpSp>
          <p:nvGrpSpPr>
            <p:cNvPr id="439319" name="Group 35"/>
            <p:cNvGrpSpPr/>
            <p:nvPr/>
          </p:nvGrpSpPr>
          <p:grpSpPr>
            <a:xfrm>
              <a:off x="1440" y="2640"/>
              <a:ext cx="1392" cy="577"/>
              <a:chOff x="1440" y="2640"/>
              <a:chExt cx="1392" cy="577"/>
            </a:xfrm>
          </p:grpSpPr>
          <p:grpSp>
            <p:nvGrpSpPr>
              <p:cNvPr id="439321" name="Group 36"/>
              <p:cNvGrpSpPr/>
              <p:nvPr/>
            </p:nvGrpSpPr>
            <p:grpSpPr>
              <a:xfrm>
                <a:off x="1440" y="2640"/>
                <a:ext cx="1008" cy="336"/>
                <a:chOff x="1440" y="2666"/>
                <a:chExt cx="1008" cy="336"/>
              </a:xfrm>
            </p:grpSpPr>
            <p:sp>
              <p:nvSpPr>
                <p:cNvPr id="439323" name="Rectangle 37"/>
                <p:cNvSpPr/>
                <p:nvPr/>
              </p:nvSpPr>
              <p:spPr>
                <a:xfrm>
                  <a:off x="1488" y="2954"/>
                  <a:ext cx="960" cy="48"/>
                </a:xfrm>
                <a:prstGeom prst="rect">
                  <a:avLst/>
                </a:prstGeom>
                <a:solidFill>
                  <a:schemeClr val="folHlink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9324" name="AutoShape 38"/>
                <p:cNvSpPr/>
                <p:nvPr/>
              </p:nvSpPr>
              <p:spPr>
                <a:xfrm>
                  <a:off x="1440" y="2666"/>
                  <a:ext cx="96" cy="336"/>
                </a:xfrm>
                <a:prstGeom prst="upArrow">
                  <a:avLst>
                    <a:gd name="adj1" fmla="val 50000"/>
                    <a:gd name="adj2" fmla="val 87500"/>
                  </a:avLst>
                </a:prstGeom>
                <a:solidFill>
                  <a:schemeClr val="folHlink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39322" name="Text Box 39"/>
              <p:cNvSpPr txBox="1"/>
              <p:nvPr/>
            </p:nvSpPr>
            <p:spPr>
              <a:xfrm>
                <a:off x="1824" y="2966"/>
                <a:ext cx="100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+1      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39320" name="Rectangle 40"/>
            <p:cNvSpPr/>
            <p:nvPr/>
          </p:nvSpPr>
          <p:spPr>
            <a:xfrm rot="5400000">
              <a:off x="1484" y="2921"/>
              <a:ext cx="34" cy="2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86089" name="Rectangle 4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9317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931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22" name="Text Box 2"/>
          <p:cNvSpPr txBox="1"/>
          <p:nvPr/>
        </p:nvSpPr>
        <p:spPr>
          <a:xfrm>
            <a:off x="2667000" y="6096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间址周期数据流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40323" name="AutoShape 3"/>
          <p:cNvSpPr/>
          <p:nvPr/>
        </p:nvSpPr>
        <p:spPr>
          <a:xfrm rot="10800000">
            <a:off x="7848600" y="3962400"/>
            <a:ext cx="914400" cy="152400"/>
          </a:xfrm>
          <a:prstGeom prst="rightArrow">
            <a:avLst>
              <a:gd name="adj1" fmla="val 50000"/>
              <a:gd name="adj2" fmla="val 10650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24" name="AutoShape 4"/>
          <p:cNvSpPr/>
          <p:nvPr/>
        </p:nvSpPr>
        <p:spPr>
          <a:xfrm>
            <a:off x="6553200" y="4419600"/>
            <a:ext cx="1676400" cy="152400"/>
          </a:xfrm>
          <a:prstGeom prst="rightArrow">
            <a:avLst>
              <a:gd name="adj1" fmla="val 50000"/>
              <a:gd name="adj2" fmla="val 114125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25" name="AutoShape 5"/>
          <p:cNvSpPr/>
          <p:nvPr/>
        </p:nvSpPr>
        <p:spPr>
          <a:xfrm>
            <a:off x="6553200" y="3622675"/>
            <a:ext cx="609600" cy="152400"/>
          </a:xfrm>
          <a:prstGeom prst="rightArrow">
            <a:avLst>
              <a:gd name="adj1" fmla="val 50000"/>
              <a:gd name="adj2" fmla="val 7100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40326" name="Group 6"/>
          <p:cNvGrpSpPr/>
          <p:nvPr/>
        </p:nvGrpSpPr>
        <p:grpSpPr>
          <a:xfrm>
            <a:off x="7277100" y="4156075"/>
            <a:ext cx="1485900" cy="152400"/>
            <a:chOff x="3624" y="2618"/>
            <a:chExt cx="936" cy="96"/>
          </a:xfrm>
        </p:grpSpPr>
        <p:sp>
          <p:nvSpPr>
            <p:cNvPr id="440362" name="AutoShape 7"/>
            <p:cNvSpPr/>
            <p:nvPr/>
          </p:nvSpPr>
          <p:spPr>
            <a:xfrm>
              <a:off x="3648" y="2618"/>
              <a:ext cx="912" cy="96"/>
            </a:xfrm>
            <a:prstGeom prst="rightArrow">
              <a:avLst>
                <a:gd name="adj1" fmla="val 50000"/>
                <a:gd name="adj2" fmla="val 126314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363" name="Rectangle 8"/>
            <p:cNvSpPr/>
            <p:nvPr/>
          </p:nvSpPr>
          <p:spPr>
            <a:xfrm rot="5400000">
              <a:off x="3616" y="2624"/>
              <a:ext cx="27" cy="45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0327" name="Group 9"/>
          <p:cNvGrpSpPr/>
          <p:nvPr/>
        </p:nvGrpSpPr>
        <p:grpSpPr>
          <a:xfrm>
            <a:off x="6553200" y="5299075"/>
            <a:ext cx="1195388" cy="152400"/>
            <a:chOff x="3168" y="3338"/>
            <a:chExt cx="753" cy="96"/>
          </a:xfrm>
        </p:grpSpPr>
        <p:sp>
          <p:nvSpPr>
            <p:cNvPr id="440360" name="AutoShape 10"/>
            <p:cNvSpPr/>
            <p:nvPr/>
          </p:nvSpPr>
          <p:spPr>
            <a:xfrm rot="10800000">
              <a:off x="3168" y="3338"/>
              <a:ext cx="720" cy="96"/>
            </a:xfrm>
            <a:prstGeom prst="rightArrow">
              <a:avLst>
                <a:gd name="adj1" fmla="val 50000"/>
                <a:gd name="adj2" fmla="val 133125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361" name="Rectangle 11"/>
            <p:cNvSpPr/>
            <p:nvPr/>
          </p:nvSpPr>
          <p:spPr>
            <a:xfrm rot="5400000">
              <a:off x="3868" y="3347"/>
              <a:ext cx="27" cy="45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0328" name="Group 12"/>
          <p:cNvGrpSpPr/>
          <p:nvPr/>
        </p:nvGrpSpPr>
        <p:grpSpPr>
          <a:xfrm>
            <a:off x="4572000" y="3622675"/>
            <a:ext cx="990600" cy="1752600"/>
            <a:chOff x="1920" y="2282"/>
            <a:chExt cx="624" cy="1104"/>
          </a:xfrm>
        </p:grpSpPr>
        <p:sp>
          <p:nvSpPr>
            <p:cNvPr id="440355" name="AutoShape 13"/>
            <p:cNvSpPr/>
            <p:nvPr/>
          </p:nvSpPr>
          <p:spPr>
            <a:xfrm>
              <a:off x="1920" y="2282"/>
              <a:ext cx="624" cy="96"/>
            </a:xfrm>
            <a:prstGeom prst="rightArrow">
              <a:avLst>
                <a:gd name="adj1" fmla="val 50000"/>
                <a:gd name="adj2" fmla="val 115375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356" name="Rectangle 14"/>
            <p:cNvSpPr/>
            <p:nvPr/>
          </p:nvSpPr>
          <p:spPr>
            <a:xfrm>
              <a:off x="1920" y="3338"/>
              <a:ext cx="624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57" name="Rectangle 15"/>
            <p:cNvSpPr/>
            <p:nvPr/>
          </p:nvSpPr>
          <p:spPr>
            <a:xfrm>
              <a:off x="1920" y="2330"/>
              <a:ext cx="48" cy="105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58" name="Rectangle 16"/>
            <p:cNvSpPr/>
            <p:nvPr/>
          </p:nvSpPr>
          <p:spPr>
            <a:xfrm rot="5400000">
              <a:off x="1934" y="3348"/>
              <a:ext cx="34" cy="3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59" name="Rectangle 17"/>
            <p:cNvSpPr/>
            <p:nvPr/>
          </p:nvSpPr>
          <p:spPr>
            <a:xfrm>
              <a:off x="1926" y="2312"/>
              <a:ext cx="79" cy="3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0329" name="Group 18"/>
          <p:cNvGrpSpPr/>
          <p:nvPr/>
        </p:nvGrpSpPr>
        <p:grpSpPr>
          <a:xfrm>
            <a:off x="8291513" y="3733800"/>
            <a:ext cx="471487" cy="152400"/>
            <a:chOff x="4263" y="2352"/>
            <a:chExt cx="297" cy="96"/>
          </a:xfrm>
        </p:grpSpPr>
        <p:sp>
          <p:nvSpPr>
            <p:cNvPr id="440353" name="AutoShape 19"/>
            <p:cNvSpPr/>
            <p:nvPr/>
          </p:nvSpPr>
          <p:spPr>
            <a:xfrm>
              <a:off x="4272" y="2352"/>
              <a:ext cx="288" cy="96"/>
            </a:xfrm>
            <a:prstGeom prst="rightArrow">
              <a:avLst>
                <a:gd name="adj1" fmla="val 50000"/>
                <a:gd name="adj2" fmla="val 53250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354" name="Rectangle 20"/>
            <p:cNvSpPr/>
            <p:nvPr/>
          </p:nvSpPr>
          <p:spPr>
            <a:xfrm>
              <a:off x="4263" y="2372"/>
              <a:ext cx="45" cy="6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0330" name="Group 21"/>
          <p:cNvGrpSpPr/>
          <p:nvPr/>
        </p:nvGrpSpPr>
        <p:grpSpPr>
          <a:xfrm>
            <a:off x="3124200" y="1924050"/>
            <a:ext cx="6934200" cy="3851275"/>
            <a:chOff x="1008" y="1212"/>
            <a:chExt cx="4368" cy="2426"/>
          </a:xfrm>
        </p:grpSpPr>
        <p:sp>
          <p:nvSpPr>
            <p:cNvPr id="440337" name="Text Box 22"/>
            <p:cNvSpPr txBox="1"/>
            <p:nvPr/>
          </p:nvSpPr>
          <p:spPr>
            <a:xfrm>
              <a:off x="2630" y="3263"/>
              <a:ext cx="49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MDR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38" name="Rectangle 23"/>
            <p:cNvSpPr/>
            <p:nvPr/>
          </p:nvSpPr>
          <p:spPr>
            <a:xfrm>
              <a:off x="2544" y="3254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39" name="Rectangle 24"/>
            <p:cNvSpPr/>
            <p:nvPr/>
          </p:nvSpPr>
          <p:spPr>
            <a:xfrm>
              <a:off x="2544" y="2678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CU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40" name="Rectangle 25"/>
            <p:cNvSpPr/>
            <p:nvPr/>
          </p:nvSpPr>
          <p:spPr>
            <a:xfrm>
              <a:off x="2544" y="2198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MAR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41" name="Rectangle 26"/>
            <p:cNvSpPr/>
            <p:nvPr/>
          </p:nvSpPr>
          <p:spPr>
            <a:xfrm>
              <a:off x="3552" y="1910"/>
              <a:ext cx="96" cy="1680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42" name="Rectangle 27"/>
            <p:cNvSpPr/>
            <p:nvPr/>
          </p:nvSpPr>
          <p:spPr>
            <a:xfrm>
              <a:off x="3888" y="1910"/>
              <a:ext cx="96" cy="1680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43" name="Rectangle 28"/>
            <p:cNvSpPr/>
            <p:nvPr/>
          </p:nvSpPr>
          <p:spPr>
            <a:xfrm>
              <a:off x="4224" y="1910"/>
              <a:ext cx="96" cy="1680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44" name="Rectangle 29"/>
            <p:cNvSpPr/>
            <p:nvPr/>
          </p:nvSpPr>
          <p:spPr>
            <a:xfrm>
              <a:off x="1008" y="1910"/>
              <a:ext cx="2352" cy="17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45" name="Text Box 30"/>
            <p:cNvSpPr txBox="1"/>
            <p:nvPr/>
          </p:nvSpPr>
          <p:spPr>
            <a:xfrm>
              <a:off x="1814" y="1670"/>
              <a:ext cx="44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CPU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46" name="Text Box 31"/>
            <p:cNvSpPr txBox="1"/>
            <p:nvPr/>
          </p:nvSpPr>
          <p:spPr>
            <a:xfrm>
              <a:off x="3435" y="1212"/>
              <a:ext cx="30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地址总线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47" name="Text Box 32"/>
            <p:cNvSpPr txBox="1"/>
            <p:nvPr/>
          </p:nvSpPr>
          <p:spPr>
            <a:xfrm>
              <a:off x="3771" y="1212"/>
              <a:ext cx="30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数据总线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48" name="Text Box 33"/>
            <p:cNvSpPr txBox="1"/>
            <p:nvPr/>
          </p:nvSpPr>
          <p:spPr>
            <a:xfrm>
              <a:off x="4155" y="1212"/>
              <a:ext cx="30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控制总线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49" name="Rectangle 34"/>
            <p:cNvSpPr/>
            <p:nvPr/>
          </p:nvSpPr>
          <p:spPr>
            <a:xfrm>
              <a:off x="1152" y="2198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</a:rPr>
                <a:t>PC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50" name="Rectangle 35"/>
            <p:cNvSpPr/>
            <p:nvPr/>
          </p:nvSpPr>
          <p:spPr>
            <a:xfrm>
              <a:off x="1152" y="3254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51" name="Text Box 36"/>
            <p:cNvSpPr txBox="1"/>
            <p:nvPr/>
          </p:nvSpPr>
          <p:spPr>
            <a:xfrm>
              <a:off x="1338" y="3266"/>
              <a:ext cx="29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IR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352" name="Rectangle 37"/>
            <p:cNvSpPr/>
            <p:nvPr/>
          </p:nvSpPr>
          <p:spPr>
            <a:xfrm>
              <a:off x="4560" y="2268"/>
              <a:ext cx="816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</a:rPr>
                <a:t>存储器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40331" name="Group 38"/>
          <p:cNvGrpSpPr/>
          <p:nvPr/>
        </p:nvGrpSpPr>
        <p:grpSpPr>
          <a:xfrm>
            <a:off x="5562600" y="5170488"/>
            <a:ext cx="990600" cy="457200"/>
            <a:chOff x="2544" y="3264"/>
            <a:chExt cx="624" cy="288"/>
          </a:xfrm>
        </p:grpSpPr>
        <p:sp>
          <p:nvSpPr>
            <p:cNvPr id="440335" name="Rectangle 39"/>
            <p:cNvSpPr/>
            <p:nvPr/>
          </p:nvSpPr>
          <p:spPr>
            <a:xfrm>
              <a:off x="2544" y="3264"/>
              <a:ext cx="624" cy="288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336" name="Text Box 40"/>
            <p:cNvSpPr txBox="1"/>
            <p:nvPr/>
          </p:nvSpPr>
          <p:spPr>
            <a:xfrm>
              <a:off x="2621" y="3264"/>
              <a:ext cx="498" cy="251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7113" name="Rectangle 4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33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3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1346" name="AutoShape 2"/>
          <p:cNvSpPr/>
          <p:nvPr/>
        </p:nvSpPr>
        <p:spPr>
          <a:xfrm>
            <a:off x="6569075" y="4343400"/>
            <a:ext cx="609600" cy="152400"/>
          </a:xfrm>
          <a:prstGeom prst="rightArrow">
            <a:avLst>
              <a:gd name="adj1" fmla="val 50000"/>
              <a:gd name="adj2" fmla="val 7100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41347" name="Group 3"/>
          <p:cNvGrpSpPr/>
          <p:nvPr/>
        </p:nvGrpSpPr>
        <p:grpSpPr>
          <a:xfrm>
            <a:off x="4038600" y="5199063"/>
            <a:ext cx="1524000" cy="947737"/>
            <a:chOff x="1584" y="3275"/>
            <a:chExt cx="960" cy="597"/>
          </a:xfrm>
        </p:grpSpPr>
        <p:sp>
          <p:nvSpPr>
            <p:cNvPr id="441384" name="Rectangle 4"/>
            <p:cNvSpPr/>
            <p:nvPr/>
          </p:nvSpPr>
          <p:spPr>
            <a:xfrm>
              <a:off x="1584" y="3275"/>
              <a:ext cx="48" cy="232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385" name="AutoShape 5"/>
            <p:cNvSpPr/>
            <p:nvPr/>
          </p:nvSpPr>
          <p:spPr>
            <a:xfrm>
              <a:off x="1632" y="3776"/>
              <a:ext cx="912" cy="96"/>
            </a:xfrm>
            <a:prstGeom prst="rightArrow">
              <a:avLst>
                <a:gd name="adj1" fmla="val 50000"/>
                <a:gd name="adj2" fmla="val 168625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386" name="Rectangle 6"/>
            <p:cNvSpPr/>
            <p:nvPr/>
          </p:nvSpPr>
          <p:spPr>
            <a:xfrm rot="5400000">
              <a:off x="1613" y="3777"/>
              <a:ext cx="34" cy="57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41348" name="AutoShape 7"/>
          <p:cNvSpPr/>
          <p:nvPr/>
        </p:nvSpPr>
        <p:spPr>
          <a:xfrm>
            <a:off x="6569075" y="6019800"/>
            <a:ext cx="1127125" cy="152400"/>
          </a:xfrm>
          <a:prstGeom prst="rightArrow">
            <a:avLst>
              <a:gd name="adj1" fmla="val 50000"/>
              <a:gd name="adj2" fmla="val 130899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349" name="Text Box 8"/>
          <p:cNvSpPr txBox="1"/>
          <p:nvPr/>
        </p:nvSpPr>
        <p:spPr>
          <a:xfrm>
            <a:off x="2133600" y="4572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执行周期数据流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41350" name="Text Box 9"/>
          <p:cNvSpPr txBox="1"/>
          <p:nvPr/>
        </p:nvSpPr>
        <p:spPr>
          <a:xfrm>
            <a:off x="2133600" y="1935163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4 . </a:t>
            </a:r>
            <a:r>
              <a:rPr lang="zh-CN" altLang="en-US" sz="3200" b="1" dirty="0">
                <a:latin typeface="Times New Roman" panose="02020603050405020304" pitchFamily="18" charset="0"/>
              </a:rPr>
              <a:t>中断周期数据流 </a:t>
            </a:r>
            <a:r>
              <a:rPr lang="en-US" altLang="zh-CN" sz="3200" b="1" dirty="0">
                <a:latin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</a:rPr>
              <a:t>书</a:t>
            </a:r>
            <a:r>
              <a:rPr lang="en-US" altLang="zh-CN" sz="3200" b="1" dirty="0">
                <a:latin typeface="Times New Roman" panose="02020603050405020304" pitchFamily="18" charset="0"/>
              </a:rPr>
              <a:t>344</a:t>
            </a:r>
            <a:r>
              <a:rPr lang="zh-CN" altLang="en-US" sz="3200" b="1" dirty="0">
                <a:latin typeface="Times New Roman" panose="02020603050405020304" pitchFamily="18" charset="0"/>
              </a:rPr>
              <a:t>页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441351" name="Text Box 10"/>
          <p:cNvSpPr txBox="1"/>
          <p:nvPr/>
        </p:nvSpPr>
        <p:spPr>
          <a:xfrm>
            <a:off x="2667000" y="1127125"/>
            <a:ext cx="5334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不同指令的执行周期数据流不同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41352" name="AutoShape 11"/>
          <p:cNvSpPr/>
          <p:nvPr/>
        </p:nvSpPr>
        <p:spPr>
          <a:xfrm>
            <a:off x="7848600" y="4683125"/>
            <a:ext cx="914400" cy="152400"/>
          </a:xfrm>
          <a:prstGeom prst="rightArrow">
            <a:avLst>
              <a:gd name="adj1" fmla="val 50000"/>
              <a:gd name="adj2" fmla="val 10650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1353" name="AutoShape 12"/>
          <p:cNvSpPr/>
          <p:nvPr/>
        </p:nvSpPr>
        <p:spPr>
          <a:xfrm>
            <a:off x="6553200" y="5105400"/>
            <a:ext cx="1676400" cy="152400"/>
          </a:xfrm>
          <a:prstGeom prst="rightArrow">
            <a:avLst>
              <a:gd name="adj1" fmla="val 50000"/>
              <a:gd name="adj2" fmla="val 114125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41354" name="Group 13"/>
          <p:cNvGrpSpPr/>
          <p:nvPr/>
        </p:nvGrpSpPr>
        <p:grpSpPr>
          <a:xfrm>
            <a:off x="7277100" y="4876800"/>
            <a:ext cx="1485900" cy="152400"/>
            <a:chOff x="3624" y="3072"/>
            <a:chExt cx="936" cy="96"/>
          </a:xfrm>
        </p:grpSpPr>
        <p:sp>
          <p:nvSpPr>
            <p:cNvPr id="441382" name="AutoShape 14"/>
            <p:cNvSpPr/>
            <p:nvPr/>
          </p:nvSpPr>
          <p:spPr>
            <a:xfrm>
              <a:off x="3648" y="3072"/>
              <a:ext cx="912" cy="96"/>
            </a:xfrm>
            <a:prstGeom prst="rightArrow">
              <a:avLst>
                <a:gd name="adj1" fmla="val 50000"/>
                <a:gd name="adj2" fmla="val 126314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383" name="Rectangle 15"/>
            <p:cNvSpPr/>
            <p:nvPr/>
          </p:nvSpPr>
          <p:spPr>
            <a:xfrm rot="5400000">
              <a:off x="3616" y="3078"/>
              <a:ext cx="27" cy="45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1355" name="Group 16"/>
          <p:cNvGrpSpPr/>
          <p:nvPr/>
        </p:nvGrpSpPr>
        <p:grpSpPr>
          <a:xfrm>
            <a:off x="4294188" y="4648200"/>
            <a:ext cx="1255712" cy="609600"/>
            <a:chOff x="1745" y="2928"/>
            <a:chExt cx="791" cy="384"/>
          </a:xfrm>
        </p:grpSpPr>
        <p:sp>
          <p:nvSpPr>
            <p:cNvPr id="441379" name="AutoShape 17"/>
            <p:cNvSpPr/>
            <p:nvPr/>
          </p:nvSpPr>
          <p:spPr>
            <a:xfrm>
              <a:off x="1745" y="2928"/>
              <a:ext cx="79" cy="384"/>
            </a:xfrm>
            <a:prstGeom prst="upArrow">
              <a:avLst>
                <a:gd name="adj1" fmla="val 50000"/>
                <a:gd name="adj2" fmla="val 121136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380" name="Rectangle 18"/>
            <p:cNvSpPr/>
            <p:nvPr/>
          </p:nvSpPr>
          <p:spPr>
            <a:xfrm>
              <a:off x="1790" y="3264"/>
              <a:ext cx="746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1381" name="Rectangle 19"/>
            <p:cNvSpPr/>
            <p:nvPr/>
          </p:nvSpPr>
          <p:spPr>
            <a:xfrm rot="5400000">
              <a:off x="1752" y="3245"/>
              <a:ext cx="45" cy="45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41356" name="AutoShape 20"/>
          <p:cNvSpPr/>
          <p:nvPr/>
        </p:nvSpPr>
        <p:spPr>
          <a:xfrm>
            <a:off x="5943600" y="4583113"/>
            <a:ext cx="152400" cy="396874"/>
          </a:xfrm>
          <a:prstGeom prst="upArrow">
            <a:avLst>
              <a:gd name="adj1" fmla="val 50000"/>
              <a:gd name="adj2" fmla="val 37500"/>
            </a:avLst>
          </a:prstGeom>
          <a:solidFill>
            <a:schemeClr val="folHlink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41357" name="Group 21"/>
          <p:cNvGrpSpPr/>
          <p:nvPr/>
        </p:nvGrpSpPr>
        <p:grpSpPr>
          <a:xfrm>
            <a:off x="8291513" y="4454525"/>
            <a:ext cx="471487" cy="152400"/>
            <a:chOff x="4263" y="2806"/>
            <a:chExt cx="297" cy="96"/>
          </a:xfrm>
        </p:grpSpPr>
        <p:sp>
          <p:nvSpPr>
            <p:cNvPr id="441377" name="AutoShape 22"/>
            <p:cNvSpPr/>
            <p:nvPr/>
          </p:nvSpPr>
          <p:spPr>
            <a:xfrm>
              <a:off x="4272" y="2806"/>
              <a:ext cx="288" cy="96"/>
            </a:xfrm>
            <a:prstGeom prst="rightArrow">
              <a:avLst>
                <a:gd name="adj1" fmla="val 50000"/>
                <a:gd name="adj2" fmla="val 53250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378" name="Rectangle 23"/>
            <p:cNvSpPr/>
            <p:nvPr/>
          </p:nvSpPr>
          <p:spPr>
            <a:xfrm>
              <a:off x="4263" y="2826"/>
              <a:ext cx="45" cy="6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1358" name="Group 24"/>
          <p:cNvGrpSpPr/>
          <p:nvPr/>
        </p:nvGrpSpPr>
        <p:grpSpPr>
          <a:xfrm>
            <a:off x="3124200" y="2625725"/>
            <a:ext cx="6934200" cy="3851275"/>
            <a:chOff x="1008" y="1654"/>
            <a:chExt cx="4368" cy="2426"/>
          </a:xfrm>
        </p:grpSpPr>
        <p:sp>
          <p:nvSpPr>
            <p:cNvPr id="441362" name="Rectangle 25"/>
            <p:cNvSpPr/>
            <p:nvPr/>
          </p:nvSpPr>
          <p:spPr>
            <a:xfrm>
              <a:off x="2544" y="3696"/>
              <a:ext cx="62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41363" name="Group 26"/>
            <p:cNvGrpSpPr/>
            <p:nvPr/>
          </p:nvGrpSpPr>
          <p:grpSpPr>
            <a:xfrm>
              <a:off x="1008" y="1654"/>
              <a:ext cx="4368" cy="2426"/>
              <a:chOff x="1008" y="1654"/>
              <a:chExt cx="4368" cy="2426"/>
            </a:xfrm>
          </p:grpSpPr>
          <p:sp>
            <p:nvSpPr>
              <p:cNvPr id="441364" name="Text Box 27"/>
              <p:cNvSpPr txBox="1"/>
              <p:nvPr/>
            </p:nvSpPr>
            <p:spPr>
              <a:xfrm>
                <a:off x="2630" y="3705"/>
                <a:ext cx="49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MDR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65" name="Rectangle 28"/>
              <p:cNvSpPr/>
              <p:nvPr/>
            </p:nvSpPr>
            <p:spPr>
              <a:xfrm>
                <a:off x="2544" y="3105"/>
                <a:ext cx="62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CU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66" name="Rectangle 29"/>
              <p:cNvSpPr/>
              <p:nvPr/>
            </p:nvSpPr>
            <p:spPr>
              <a:xfrm>
                <a:off x="2544" y="2640"/>
                <a:ext cx="62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MAR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67" name="Rectangle 30"/>
              <p:cNvSpPr/>
              <p:nvPr/>
            </p:nvSpPr>
            <p:spPr>
              <a:xfrm>
                <a:off x="3552" y="2352"/>
                <a:ext cx="96" cy="1680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68" name="Rectangle 31"/>
              <p:cNvSpPr/>
              <p:nvPr/>
            </p:nvSpPr>
            <p:spPr>
              <a:xfrm>
                <a:off x="3888" y="2352"/>
                <a:ext cx="96" cy="1680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69" name="Rectangle 32"/>
              <p:cNvSpPr/>
              <p:nvPr/>
            </p:nvSpPr>
            <p:spPr>
              <a:xfrm>
                <a:off x="4224" y="2352"/>
                <a:ext cx="96" cy="1680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70" name="Rectangle 33"/>
              <p:cNvSpPr/>
              <p:nvPr/>
            </p:nvSpPr>
            <p:spPr>
              <a:xfrm>
                <a:off x="1008" y="2352"/>
                <a:ext cx="2352" cy="172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71" name="Text Box 34"/>
              <p:cNvSpPr txBox="1"/>
              <p:nvPr/>
            </p:nvSpPr>
            <p:spPr>
              <a:xfrm>
                <a:off x="1814" y="2112"/>
                <a:ext cx="44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CPU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72" name="Text Box 35"/>
              <p:cNvSpPr txBox="1"/>
              <p:nvPr/>
            </p:nvSpPr>
            <p:spPr>
              <a:xfrm>
                <a:off x="3435" y="1654"/>
                <a:ext cx="309" cy="6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地址总线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73" name="Text Box 36"/>
              <p:cNvSpPr txBox="1"/>
              <p:nvPr/>
            </p:nvSpPr>
            <p:spPr>
              <a:xfrm>
                <a:off x="3771" y="1654"/>
                <a:ext cx="309" cy="6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数据总线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74" name="Text Box 37"/>
              <p:cNvSpPr txBox="1"/>
              <p:nvPr/>
            </p:nvSpPr>
            <p:spPr>
              <a:xfrm>
                <a:off x="4155" y="1654"/>
                <a:ext cx="309" cy="6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控制总线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75" name="Rectangle 38"/>
              <p:cNvSpPr/>
              <p:nvPr/>
            </p:nvSpPr>
            <p:spPr>
              <a:xfrm>
                <a:off x="1344" y="2640"/>
                <a:ext cx="62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</a:rPr>
                  <a:t>PC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376" name="Rectangle 39"/>
              <p:cNvSpPr/>
              <p:nvPr/>
            </p:nvSpPr>
            <p:spPr>
              <a:xfrm>
                <a:off x="4560" y="2736"/>
                <a:ext cx="816" cy="52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</a:rPr>
                  <a:t>存储器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88136" name="Rectangle 4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1360" name="AutoShape 4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136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2370" name="Rectangle 2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spcAft>
                <a:spcPts val="0"/>
              </a:spcAft>
            </a:pPr>
            <a:r>
              <a:rPr lang="en-US" altLang="zh-CN" b="1" dirty="0"/>
              <a:t>8.3   </a:t>
            </a:r>
            <a:r>
              <a:rPr lang="zh-CN" altLang="en-US" b="1" dirty="0"/>
              <a:t>指 令 流 水</a:t>
            </a:r>
            <a:endParaRPr lang="zh-CN" altLang="en-US" b="1" dirty="0"/>
          </a:p>
        </p:txBody>
      </p:sp>
      <p:sp>
        <p:nvSpPr>
          <p:cNvPr id="442371" name="Rectangle 3"/>
          <p:cNvSpPr/>
          <p:nvPr/>
        </p:nvSpPr>
        <p:spPr>
          <a:xfrm>
            <a:off x="2057400" y="1219200"/>
            <a:ext cx="56388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一、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如何提高机器速度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2372" name="Rectangle 4"/>
          <p:cNvSpPr/>
          <p:nvPr/>
        </p:nvSpPr>
        <p:spPr>
          <a:xfrm>
            <a:off x="2514600" y="1916113"/>
            <a:ext cx="3962400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</a:rPr>
              <a:t>提高访存速 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73" name="Rectangle 5"/>
          <p:cNvSpPr/>
          <p:nvPr/>
        </p:nvSpPr>
        <p:spPr>
          <a:xfrm>
            <a:off x="2514600" y="3114675"/>
            <a:ext cx="67818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2.  </a:t>
            </a:r>
            <a:r>
              <a:rPr lang="zh-CN" altLang="en-US" sz="2400" b="1" dirty="0">
                <a:latin typeface="Times New Roman" panose="02020603050405020304" pitchFamily="18" charset="0"/>
              </a:rPr>
              <a:t>提高 </a:t>
            </a:r>
            <a:r>
              <a:rPr lang="en-US" altLang="zh-CN" sz="2400" b="1" dirty="0">
                <a:latin typeface="Times New Roman" panose="02020603050405020304" pitchFamily="18" charset="0"/>
              </a:rPr>
              <a:t>I/O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和主机之间的传送速度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74" name="Rectangle 6"/>
          <p:cNvSpPr/>
          <p:nvPr/>
        </p:nvSpPr>
        <p:spPr>
          <a:xfrm>
            <a:off x="2514600" y="5589588"/>
            <a:ext cx="3962400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  <a:buChar char="•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提高整机处理能力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2375" name="Rectangle 7"/>
          <p:cNvSpPr/>
          <p:nvPr/>
        </p:nvSpPr>
        <p:spPr>
          <a:xfrm>
            <a:off x="2895600" y="2428875"/>
            <a:ext cx="16764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高速芯片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76" name="Rectangle 8"/>
          <p:cNvSpPr/>
          <p:nvPr/>
        </p:nvSpPr>
        <p:spPr>
          <a:xfrm>
            <a:off x="4953000" y="2428875"/>
            <a:ext cx="16764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Cache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2377" name="Rectangle 9"/>
          <p:cNvSpPr/>
          <p:nvPr/>
        </p:nvSpPr>
        <p:spPr>
          <a:xfrm>
            <a:off x="7239000" y="2428875"/>
            <a:ext cx="16764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多体并行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78" name="Rectangle 10"/>
          <p:cNvSpPr/>
          <p:nvPr/>
        </p:nvSpPr>
        <p:spPr>
          <a:xfrm>
            <a:off x="7239000" y="3648075"/>
            <a:ext cx="14398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I/O </a:t>
            </a:r>
            <a:r>
              <a:rPr lang="zh-CN" altLang="en-US" sz="2400" b="1" dirty="0">
                <a:latin typeface="Times New Roman" panose="02020603050405020304" pitchFamily="18" charset="0"/>
              </a:rPr>
              <a:t>处理机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79" name="Rectangle 11"/>
          <p:cNvSpPr/>
          <p:nvPr/>
        </p:nvSpPr>
        <p:spPr>
          <a:xfrm>
            <a:off x="4254500" y="3648075"/>
            <a:ext cx="10795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DMA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42380" name="Rectangle 12"/>
          <p:cNvSpPr/>
          <p:nvPr/>
        </p:nvSpPr>
        <p:spPr>
          <a:xfrm>
            <a:off x="9480550" y="3648075"/>
            <a:ext cx="16764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</a:rPr>
              <a:t>多总线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81" name="Rectangle 13"/>
          <p:cNvSpPr/>
          <p:nvPr/>
        </p:nvSpPr>
        <p:spPr>
          <a:xfrm>
            <a:off x="5778500" y="3648075"/>
            <a:ext cx="10795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通 道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82" name="Rectangle 14"/>
          <p:cNvSpPr/>
          <p:nvPr/>
        </p:nvSpPr>
        <p:spPr>
          <a:xfrm>
            <a:off x="2895600" y="6143625"/>
            <a:ext cx="2879725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高速器件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2383" name="Rectangle 15"/>
          <p:cNvSpPr/>
          <p:nvPr/>
        </p:nvSpPr>
        <p:spPr>
          <a:xfrm>
            <a:off x="4953000" y="6143625"/>
            <a:ext cx="5399088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改进系统结构 ，开发系统的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并行性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2384" name="Rectangle 16"/>
          <p:cNvSpPr/>
          <p:nvPr/>
        </p:nvSpPr>
        <p:spPr>
          <a:xfrm>
            <a:off x="2895600" y="3648075"/>
            <a:ext cx="14398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中 断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2385" name="Rectangle 17"/>
          <p:cNvSpPr/>
          <p:nvPr/>
        </p:nvSpPr>
        <p:spPr>
          <a:xfrm>
            <a:off x="2514600" y="4333875"/>
            <a:ext cx="39624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3.  </a:t>
            </a:r>
            <a:r>
              <a:rPr lang="zh-CN" altLang="en-US" sz="2400" b="1" dirty="0">
                <a:latin typeface="Times New Roman" panose="02020603050405020304" pitchFamily="18" charset="0"/>
              </a:rPr>
              <a:t>提高运算器速度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86" name="Rectangle 18"/>
          <p:cNvSpPr/>
          <p:nvPr/>
        </p:nvSpPr>
        <p:spPr>
          <a:xfrm>
            <a:off x="2895600" y="4887913"/>
            <a:ext cx="1676400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高速芯片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87" name="Rectangle 19"/>
          <p:cNvSpPr/>
          <p:nvPr/>
        </p:nvSpPr>
        <p:spPr>
          <a:xfrm>
            <a:off x="4953000" y="4887913"/>
            <a:ext cx="1676400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改进算法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2388" name="Rectangle 20"/>
          <p:cNvSpPr/>
          <p:nvPr/>
        </p:nvSpPr>
        <p:spPr>
          <a:xfrm>
            <a:off x="7239000" y="4887913"/>
            <a:ext cx="1676400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快速进位链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2389" name="AutoShape 2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239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3394" name="Rectangle 2"/>
          <p:cNvSpPr/>
          <p:nvPr/>
        </p:nvSpPr>
        <p:spPr>
          <a:xfrm>
            <a:off x="1905000" y="381000"/>
            <a:ext cx="39624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二、系统的并行性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43395" name="Rectangle 3"/>
          <p:cNvSpPr/>
          <p:nvPr/>
        </p:nvSpPr>
        <p:spPr>
          <a:xfrm>
            <a:off x="6248400" y="33528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时间上互相重叠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3396" name="Rectangle 4"/>
          <p:cNvSpPr/>
          <p:nvPr/>
        </p:nvSpPr>
        <p:spPr>
          <a:xfrm>
            <a:off x="2362200" y="4135438"/>
            <a:ext cx="4678363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latin typeface="Times New Roman" panose="02020603050405020304" pitchFamily="18" charset="0"/>
              </a:rPr>
              <a:t>并行性的等 级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43397" name="Rectangle 5"/>
          <p:cNvSpPr/>
          <p:nvPr/>
        </p:nvSpPr>
        <p:spPr>
          <a:xfrm>
            <a:off x="2817813" y="5780088"/>
            <a:ext cx="3352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指令级（指令之 间）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　　　（指令内部 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3398" name="Rectangle 6"/>
          <p:cNvSpPr/>
          <p:nvPr/>
        </p:nvSpPr>
        <p:spPr>
          <a:xfrm>
            <a:off x="6076950" y="6248400"/>
            <a:ext cx="2000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43399" name="Rectangle 7"/>
          <p:cNvSpPr/>
          <p:nvPr/>
        </p:nvSpPr>
        <p:spPr>
          <a:xfrm>
            <a:off x="2817813" y="4800600"/>
            <a:ext cx="3276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过程级（程序、进 程）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3400" name="Rectangle 8"/>
          <p:cNvSpPr/>
          <p:nvPr/>
        </p:nvSpPr>
        <p:spPr>
          <a:xfrm>
            <a:off x="7924800" y="4876800"/>
            <a:ext cx="1752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43401" name="Rectangle 9"/>
          <p:cNvSpPr/>
          <p:nvPr/>
        </p:nvSpPr>
        <p:spPr>
          <a:xfrm>
            <a:off x="4722813" y="2667000"/>
            <a:ext cx="6478587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两个或两个以上事件在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同一时刻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发 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3402" name="Rectangle 10"/>
          <p:cNvSpPr/>
          <p:nvPr/>
        </p:nvSpPr>
        <p:spPr>
          <a:xfrm>
            <a:off x="4722813" y="1925638"/>
            <a:ext cx="6478587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两个或两个以上事件在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同一时间段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发 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3403" name="Rectangle 11"/>
          <p:cNvSpPr/>
          <p:nvPr/>
        </p:nvSpPr>
        <p:spPr>
          <a:xfrm>
            <a:off x="2817813" y="2154238"/>
            <a:ext cx="1220787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并行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3404" name="Text Box 12"/>
          <p:cNvSpPr txBox="1"/>
          <p:nvPr/>
        </p:nvSpPr>
        <p:spPr>
          <a:xfrm>
            <a:off x="2362200" y="1066800"/>
            <a:ext cx="4267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并行的概念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43405" name="Rectangle 13"/>
          <p:cNvSpPr/>
          <p:nvPr/>
        </p:nvSpPr>
        <p:spPr>
          <a:xfrm>
            <a:off x="6248400" y="4800600"/>
            <a:ext cx="14478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粗粒 度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3406" name="Rectangle 14"/>
          <p:cNvSpPr/>
          <p:nvPr/>
        </p:nvSpPr>
        <p:spPr>
          <a:xfrm>
            <a:off x="8077200" y="4800600"/>
            <a:ext cx="14478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软件实现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3407" name="Rectangle 15"/>
          <p:cNvSpPr/>
          <p:nvPr/>
        </p:nvSpPr>
        <p:spPr>
          <a:xfrm>
            <a:off x="6248400" y="56388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细粒 度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3408" name="Rectangle 16"/>
          <p:cNvSpPr/>
          <p:nvPr/>
        </p:nvSpPr>
        <p:spPr>
          <a:xfrm>
            <a:off x="8077200" y="56388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硬件实现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3409" name="AutoShape 17"/>
          <p:cNvSpPr/>
          <p:nvPr/>
        </p:nvSpPr>
        <p:spPr>
          <a:xfrm>
            <a:off x="3505200" y="2256466"/>
            <a:ext cx="152400" cy="405144"/>
          </a:xfrm>
          <a:prstGeom prst="leftBrace">
            <a:avLst>
              <a:gd name="adj1" fmla="val 41273"/>
              <a:gd name="adj2" fmla="val 475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43410" name="Group 18"/>
          <p:cNvGrpSpPr/>
          <p:nvPr/>
        </p:nvGrpSpPr>
        <p:grpSpPr>
          <a:xfrm>
            <a:off x="3733800" y="1905000"/>
            <a:ext cx="1600200" cy="1143000"/>
            <a:chOff x="1392" y="1200"/>
            <a:chExt cx="1008" cy="720"/>
          </a:xfrm>
        </p:grpSpPr>
        <p:sp>
          <p:nvSpPr>
            <p:cNvPr id="443414" name="Rectangle 19"/>
            <p:cNvSpPr/>
            <p:nvPr/>
          </p:nvSpPr>
          <p:spPr>
            <a:xfrm>
              <a:off x="1392" y="1200"/>
              <a:ext cx="62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并 发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15" name="Rectangle 20"/>
            <p:cNvSpPr/>
            <p:nvPr/>
          </p:nvSpPr>
          <p:spPr>
            <a:xfrm>
              <a:off x="1392" y="1632"/>
              <a:ext cx="10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同 时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0165" name="Rectangle 2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3412" name="AutoShape 2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341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44418" name="Group 2"/>
          <p:cNvGrpSpPr/>
          <p:nvPr/>
        </p:nvGrpSpPr>
        <p:grpSpPr>
          <a:xfrm>
            <a:off x="7342188" y="1524000"/>
            <a:ext cx="2730500" cy="458788"/>
            <a:chOff x="3665" y="960"/>
            <a:chExt cx="1720" cy="289"/>
          </a:xfrm>
        </p:grpSpPr>
        <p:grpSp>
          <p:nvGrpSpPr>
            <p:cNvPr id="444470" name="Group 3"/>
            <p:cNvGrpSpPr/>
            <p:nvPr/>
          </p:nvGrpSpPr>
          <p:grpSpPr>
            <a:xfrm>
              <a:off x="3665" y="960"/>
              <a:ext cx="1720" cy="289"/>
              <a:chOff x="3665" y="960"/>
              <a:chExt cx="1720" cy="289"/>
            </a:xfrm>
          </p:grpSpPr>
          <p:sp>
            <p:nvSpPr>
              <p:cNvPr id="444472" name="Text Box 4"/>
              <p:cNvSpPr txBox="1"/>
              <p:nvPr/>
            </p:nvSpPr>
            <p:spPr>
              <a:xfrm>
                <a:off x="3756" y="998"/>
                <a:ext cx="7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取指令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4473" name="Text Box 5"/>
              <p:cNvSpPr txBox="1"/>
              <p:nvPr/>
            </p:nvSpPr>
            <p:spPr>
              <a:xfrm>
                <a:off x="4510" y="998"/>
                <a:ext cx="8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执行指令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4474" name="Rectangle 6"/>
              <p:cNvSpPr/>
              <p:nvPr/>
            </p:nvSpPr>
            <p:spPr>
              <a:xfrm>
                <a:off x="3665" y="960"/>
                <a:ext cx="845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4475" name="Rectangle 7"/>
              <p:cNvSpPr/>
              <p:nvPr/>
            </p:nvSpPr>
            <p:spPr>
              <a:xfrm>
                <a:off x="4513" y="960"/>
                <a:ext cx="845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44471" name="Line 8"/>
            <p:cNvSpPr/>
            <p:nvPr/>
          </p:nvSpPr>
          <p:spPr>
            <a:xfrm>
              <a:off x="5361" y="960"/>
              <a:ext cx="0" cy="288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4419" name="Rectangle 9"/>
          <p:cNvSpPr/>
          <p:nvPr/>
        </p:nvSpPr>
        <p:spPr>
          <a:xfrm>
            <a:off x="1828800" y="228600"/>
            <a:ext cx="39624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三、指令流水原理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91178" name="Rectangle 10"/>
          <p:cNvSpPr/>
          <p:nvPr/>
        </p:nvSpPr>
        <p:spPr>
          <a:xfrm>
            <a:off x="2209800" y="3408363"/>
            <a:ext cx="4678363" cy="3603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指令的二级流水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44421" name="Rectangle 11"/>
          <p:cNvSpPr/>
          <p:nvPr/>
        </p:nvSpPr>
        <p:spPr>
          <a:xfrm>
            <a:off x="2209800" y="9144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指令的串行执行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1180" name="Rectangle 12"/>
          <p:cNvSpPr/>
          <p:nvPr/>
        </p:nvSpPr>
        <p:spPr>
          <a:xfrm>
            <a:off x="3352800" y="22860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取指令</a:t>
            </a:r>
            <a:r>
              <a:rPr lang="zh-CN" altLang="en-US" sz="24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取指令部件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200" b="1" dirty="0">
                <a:latin typeface="Times New Roman" panose="02020603050405020304" pitchFamily="18" charset="0"/>
              </a:rPr>
              <a:t>完成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1181" name="Rectangle 13"/>
          <p:cNvSpPr/>
          <p:nvPr/>
        </p:nvSpPr>
        <p:spPr>
          <a:xfrm>
            <a:off x="8001000" y="2286000"/>
            <a:ext cx="25908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总有一个部件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空闲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1182" name="Rectangle 14"/>
          <p:cNvSpPr/>
          <p:nvPr/>
        </p:nvSpPr>
        <p:spPr>
          <a:xfrm>
            <a:off x="3352800" y="54102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指令预取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391183" name="Rectangle 15"/>
          <p:cNvSpPr/>
          <p:nvPr/>
        </p:nvSpPr>
        <p:spPr>
          <a:xfrm>
            <a:off x="3352800" y="5905500"/>
            <a:ext cx="52578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若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取指</a:t>
            </a: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和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执行</a:t>
            </a: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阶段时间上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完全重叠</a:t>
            </a:r>
            <a:endParaRPr lang="zh-CN" altLang="en-US" sz="2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1184" name="Rectangle 16"/>
          <p:cNvSpPr/>
          <p:nvPr/>
        </p:nvSpPr>
        <p:spPr>
          <a:xfrm>
            <a:off x="3352800" y="64008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ctr" anchorCtr="0"/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指令周期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减半</a:t>
            </a:r>
            <a:r>
              <a:rPr lang="zh-CN" altLang="en-US" sz="2200" b="1" dirty="0">
                <a:latin typeface="Times New Roman" panose="02020603050405020304" pitchFamily="18" charset="0"/>
              </a:rPr>
              <a:t>    速度提高 </a:t>
            </a:r>
            <a:r>
              <a:rPr lang="en-US" altLang="zh-CN" sz="2200" b="1" dirty="0">
                <a:latin typeface="Times New Roman" panose="02020603050405020304" pitchFamily="18" charset="0"/>
              </a:rPr>
              <a:t>1 </a:t>
            </a:r>
            <a:r>
              <a:rPr lang="zh-CN" altLang="en-US" sz="2200" b="1" dirty="0">
                <a:latin typeface="Times New Roman" panose="02020603050405020304" pitchFamily="18" charset="0"/>
              </a:rPr>
              <a:t>倍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grpSp>
        <p:nvGrpSpPr>
          <p:cNvPr id="444427" name="Group 17"/>
          <p:cNvGrpSpPr/>
          <p:nvPr/>
        </p:nvGrpSpPr>
        <p:grpSpPr>
          <a:xfrm>
            <a:off x="9982200" y="1508125"/>
            <a:ext cx="512763" cy="473075"/>
            <a:chOff x="5328" y="950"/>
            <a:chExt cx="323" cy="298"/>
          </a:xfrm>
        </p:grpSpPr>
        <p:sp>
          <p:nvSpPr>
            <p:cNvPr id="444467" name="Text Box 18"/>
            <p:cNvSpPr txBox="1"/>
            <p:nvPr/>
          </p:nvSpPr>
          <p:spPr>
            <a:xfrm>
              <a:off x="5376" y="950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4468" name="Line 19"/>
            <p:cNvSpPr/>
            <p:nvPr/>
          </p:nvSpPr>
          <p:spPr>
            <a:xfrm>
              <a:off x="5328" y="960"/>
              <a:ext cx="2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4469" name="Line 20"/>
            <p:cNvSpPr/>
            <p:nvPr/>
          </p:nvSpPr>
          <p:spPr>
            <a:xfrm>
              <a:off x="5328" y="1248"/>
              <a:ext cx="2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1189" name="Rectangle 21"/>
          <p:cNvSpPr/>
          <p:nvPr/>
        </p:nvSpPr>
        <p:spPr>
          <a:xfrm>
            <a:off x="3352800" y="27432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>
              <a:spcAft>
                <a:spcPts val="0"/>
              </a:spcAft>
            </a:pPr>
            <a:r>
              <a:rPr lang="zh-CN" altLang="en-US" sz="2200" b="1" dirty="0">
                <a:latin typeface="Times New Roman" panose="02020603050405020304" pitchFamily="18" charset="0"/>
              </a:rPr>
              <a:t>执行指令</a:t>
            </a:r>
            <a:r>
              <a:rPr lang="zh-CN" altLang="en-US" sz="24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执行指令部件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1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完成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/>
          <p:nvPr/>
        </p:nvGrpSpPr>
        <p:grpSpPr>
          <a:xfrm>
            <a:off x="3354388" y="4038600"/>
            <a:ext cx="2695575" cy="458788"/>
            <a:chOff x="1153" y="2544"/>
            <a:chExt cx="1698" cy="289"/>
          </a:xfrm>
        </p:grpSpPr>
        <p:grpSp>
          <p:nvGrpSpPr>
            <p:cNvPr id="444461" name="Group 23"/>
            <p:cNvGrpSpPr/>
            <p:nvPr/>
          </p:nvGrpSpPr>
          <p:grpSpPr>
            <a:xfrm>
              <a:off x="1222" y="2582"/>
              <a:ext cx="1629" cy="251"/>
              <a:chOff x="1222" y="2582"/>
              <a:chExt cx="1629" cy="251"/>
            </a:xfrm>
          </p:grpSpPr>
          <p:sp>
            <p:nvSpPr>
              <p:cNvPr id="444465" name="Text Box 24"/>
              <p:cNvSpPr txBox="1"/>
              <p:nvPr/>
            </p:nvSpPr>
            <p:spPr>
              <a:xfrm>
                <a:off x="1222" y="2582"/>
                <a:ext cx="7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取指令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4466" name="Text Box 25"/>
              <p:cNvSpPr txBox="1"/>
              <p:nvPr/>
            </p:nvSpPr>
            <p:spPr>
              <a:xfrm>
                <a:off x="1976" y="2582"/>
                <a:ext cx="8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执行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44462" name="Group 26"/>
            <p:cNvGrpSpPr/>
            <p:nvPr/>
          </p:nvGrpSpPr>
          <p:grpSpPr>
            <a:xfrm>
              <a:off x="1153" y="2544"/>
              <a:ext cx="1692" cy="288"/>
              <a:chOff x="1153" y="2544"/>
              <a:chExt cx="1692" cy="288"/>
            </a:xfrm>
          </p:grpSpPr>
          <p:sp>
            <p:nvSpPr>
              <p:cNvPr id="444463" name="Rectangle 27"/>
              <p:cNvSpPr/>
              <p:nvPr/>
            </p:nvSpPr>
            <p:spPr>
              <a:xfrm>
                <a:off x="1153" y="2544"/>
                <a:ext cx="845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4464" name="Rectangle 28"/>
              <p:cNvSpPr/>
              <p:nvPr/>
            </p:nvSpPr>
            <p:spPr>
              <a:xfrm>
                <a:off x="2000" y="2544"/>
                <a:ext cx="845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Group 29"/>
          <p:cNvGrpSpPr/>
          <p:nvPr/>
        </p:nvGrpSpPr>
        <p:grpSpPr>
          <a:xfrm>
            <a:off x="4699000" y="4495800"/>
            <a:ext cx="2722563" cy="458788"/>
            <a:chOff x="2000" y="2832"/>
            <a:chExt cx="1715" cy="289"/>
          </a:xfrm>
        </p:grpSpPr>
        <p:grpSp>
          <p:nvGrpSpPr>
            <p:cNvPr id="444455" name="Group 30"/>
            <p:cNvGrpSpPr/>
            <p:nvPr/>
          </p:nvGrpSpPr>
          <p:grpSpPr>
            <a:xfrm>
              <a:off x="2087" y="2870"/>
              <a:ext cx="1628" cy="251"/>
              <a:chOff x="2087" y="2870"/>
              <a:chExt cx="1628" cy="251"/>
            </a:xfrm>
          </p:grpSpPr>
          <p:sp>
            <p:nvSpPr>
              <p:cNvPr id="444459" name="Text Box 31"/>
              <p:cNvSpPr txBox="1"/>
              <p:nvPr/>
            </p:nvSpPr>
            <p:spPr>
              <a:xfrm>
                <a:off x="2087" y="2870"/>
                <a:ext cx="7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取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4460" name="Text Box 32"/>
              <p:cNvSpPr txBox="1"/>
              <p:nvPr/>
            </p:nvSpPr>
            <p:spPr>
              <a:xfrm>
                <a:off x="2840" y="2870"/>
                <a:ext cx="8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执行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44456" name="Group 33"/>
            <p:cNvGrpSpPr/>
            <p:nvPr/>
          </p:nvGrpSpPr>
          <p:grpSpPr>
            <a:xfrm>
              <a:off x="2000" y="2832"/>
              <a:ext cx="1689" cy="288"/>
              <a:chOff x="2000" y="2832"/>
              <a:chExt cx="1689" cy="288"/>
            </a:xfrm>
          </p:grpSpPr>
          <p:sp>
            <p:nvSpPr>
              <p:cNvPr id="444457" name="Rectangle 34"/>
              <p:cNvSpPr/>
              <p:nvPr/>
            </p:nvSpPr>
            <p:spPr>
              <a:xfrm>
                <a:off x="2000" y="2832"/>
                <a:ext cx="845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4458" name="Rectangle 35"/>
              <p:cNvSpPr/>
              <p:nvPr/>
            </p:nvSpPr>
            <p:spPr>
              <a:xfrm>
                <a:off x="2843" y="2832"/>
                <a:ext cx="846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Group 36"/>
          <p:cNvGrpSpPr/>
          <p:nvPr/>
        </p:nvGrpSpPr>
        <p:grpSpPr>
          <a:xfrm>
            <a:off x="6037263" y="4953000"/>
            <a:ext cx="2709863" cy="458788"/>
            <a:chOff x="2843" y="3120"/>
            <a:chExt cx="1707" cy="289"/>
          </a:xfrm>
        </p:grpSpPr>
        <p:sp>
          <p:nvSpPr>
            <p:cNvPr id="444449" name="Rectangle 37"/>
            <p:cNvSpPr/>
            <p:nvPr/>
          </p:nvSpPr>
          <p:spPr>
            <a:xfrm>
              <a:off x="2843" y="3120"/>
              <a:ext cx="846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44450" name="Group 38"/>
            <p:cNvGrpSpPr/>
            <p:nvPr/>
          </p:nvGrpSpPr>
          <p:grpSpPr>
            <a:xfrm>
              <a:off x="2907" y="3120"/>
              <a:ext cx="1643" cy="289"/>
              <a:chOff x="2907" y="3120"/>
              <a:chExt cx="1643" cy="289"/>
            </a:xfrm>
          </p:grpSpPr>
          <p:grpSp>
            <p:nvGrpSpPr>
              <p:cNvPr id="444451" name="Group 39"/>
              <p:cNvGrpSpPr/>
              <p:nvPr/>
            </p:nvGrpSpPr>
            <p:grpSpPr>
              <a:xfrm>
                <a:off x="2907" y="3158"/>
                <a:ext cx="1643" cy="251"/>
                <a:chOff x="2907" y="3158"/>
                <a:chExt cx="1643" cy="251"/>
              </a:xfrm>
            </p:grpSpPr>
            <p:sp>
              <p:nvSpPr>
                <p:cNvPr id="444453" name="Text Box 40"/>
                <p:cNvSpPr txBox="1"/>
                <p:nvPr/>
              </p:nvSpPr>
              <p:spPr>
                <a:xfrm>
                  <a:off x="2907" y="3158"/>
                  <a:ext cx="71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取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指令 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4454" name="Text Box 41"/>
                <p:cNvSpPr txBox="1"/>
                <p:nvPr/>
              </p:nvSpPr>
              <p:spPr>
                <a:xfrm>
                  <a:off x="3675" y="3158"/>
                  <a:ext cx="8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执行指令 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4452" name="Rectangle 42"/>
              <p:cNvSpPr/>
              <p:nvPr/>
            </p:nvSpPr>
            <p:spPr>
              <a:xfrm>
                <a:off x="3688" y="3120"/>
                <a:ext cx="845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444432" name="Group 43"/>
          <p:cNvGrpSpPr/>
          <p:nvPr/>
        </p:nvGrpSpPr>
        <p:grpSpPr>
          <a:xfrm>
            <a:off x="4657725" y="1524000"/>
            <a:ext cx="2722563" cy="458788"/>
            <a:chOff x="1974" y="960"/>
            <a:chExt cx="1715" cy="289"/>
          </a:xfrm>
        </p:grpSpPr>
        <p:sp>
          <p:nvSpPr>
            <p:cNvPr id="444444" name="Text Box 44"/>
            <p:cNvSpPr txBox="1"/>
            <p:nvPr/>
          </p:nvSpPr>
          <p:spPr>
            <a:xfrm>
              <a:off x="2060" y="998"/>
              <a:ext cx="7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取指令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4445" name="Text Box 45"/>
            <p:cNvSpPr txBox="1"/>
            <p:nvPr/>
          </p:nvSpPr>
          <p:spPr>
            <a:xfrm>
              <a:off x="2814" y="998"/>
              <a:ext cx="8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执行指令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4446" name="Rectangle 46"/>
            <p:cNvSpPr/>
            <p:nvPr/>
          </p:nvSpPr>
          <p:spPr>
            <a:xfrm>
              <a:off x="1974" y="960"/>
              <a:ext cx="846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4447" name="Rectangle 47"/>
            <p:cNvSpPr/>
            <p:nvPr/>
          </p:nvSpPr>
          <p:spPr>
            <a:xfrm>
              <a:off x="2816" y="960"/>
              <a:ext cx="846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4448" name="Line 48"/>
            <p:cNvSpPr/>
            <p:nvPr/>
          </p:nvSpPr>
          <p:spPr>
            <a:xfrm>
              <a:off x="3658" y="960"/>
              <a:ext cx="0" cy="288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44433" name="Group 49"/>
          <p:cNvGrpSpPr/>
          <p:nvPr/>
        </p:nvGrpSpPr>
        <p:grpSpPr>
          <a:xfrm>
            <a:off x="1981200" y="1524000"/>
            <a:ext cx="2730500" cy="495300"/>
            <a:chOff x="288" y="948"/>
            <a:chExt cx="1720" cy="312"/>
          </a:xfrm>
        </p:grpSpPr>
        <p:sp>
          <p:nvSpPr>
            <p:cNvPr id="444437" name="Rectangle 50"/>
            <p:cNvSpPr/>
            <p:nvPr/>
          </p:nvSpPr>
          <p:spPr>
            <a:xfrm>
              <a:off x="1136" y="960"/>
              <a:ext cx="845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44438" name="Group 51"/>
            <p:cNvGrpSpPr/>
            <p:nvPr/>
          </p:nvGrpSpPr>
          <p:grpSpPr>
            <a:xfrm>
              <a:off x="288" y="948"/>
              <a:ext cx="1720" cy="312"/>
              <a:chOff x="288" y="948"/>
              <a:chExt cx="1720" cy="312"/>
            </a:xfrm>
          </p:grpSpPr>
          <p:sp>
            <p:nvSpPr>
              <p:cNvPr id="444439" name="Text Box 52"/>
              <p:cNvSpPr txBox="1"/>
              <p:nvPr/>
            </p:nvSpPr>
            <p:spPr>
              <a:xfrm>
                <a:off x="379" y="998"/>
                <a:ext cx="7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取指令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4440" name="Text Box 53"/>
              <p:cNvSpPr txBox="1"/>
              <p:nvPr/>
            </p:nvSpPr>
            <p:spPr>
              <a:xfrm>
                <a:off x="1133" y="998"/>
                <a:ext cx="8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执行指令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4441" name="Rectangle 54"/>
              <p:cNvSpPr/>
              <p:nvPr/>
            </p:nvSpPr>
            <p:spPr>
              <a:xfrm>
                <a:off x="288" y="960"/>
                <a:ext cx="845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4442" name="Line 55"/>
              <p:cNvSpPr/>
              <p:nvPr/>
            </p:nvSpPr>
            <p:spPr>
              <a:xfrm>
                <a:off x="1972" y="960"/>
                <a:ext cx="0" cy="288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4443" name="Freeform 56"/>
              <p:cNvSpPr/>
              <p:nvPr/>
            </p:nvSpPr>
            <p:spPr>
              <a:xfrm>
                <a:off x="288" y="948"/>
                <a:ext cx="1" cy="312"/>
              </a:xfrm>
              <a:custGeom>
                <a:avLst/>
                <a:gdLst>
                  <a:gd name="txL" fmla="*/ 0 w 1"/>
                  <a:gd name="txT" fmla="*/ 0 h 312"/>
                  <a:gd name="txR" fmla="*/ 1 w 1"/>
                  <a:gd name="txB" fmla="*/ 312 h 312"/>
                </a:gdLst>
                <a:ahLst/>
                <a:cxnLst>
                  <a:cxn ang="0">
                    <a:pos x="0" y="0"/>
                  </a:cxn>
                  <a:cxn ang="0">
                    <a:pos x="0" y="312"/>
                  </a:cxn>
                </a:cxnLst>
                <a:rect l="txL" t="txT" r="txR" b="txB"/>
                <a:pathLst>
                  <a:path w="1" h="312">
                    <a:moveTo>
                      <a:pt x="0" y="0"/>
                    </a:moveTo>
                    <a:lnTo>
                      <a:pt x="0" y="312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91225" name="Rectangle 5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4435" name="AutoShape 5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443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9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9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8" grpId="0"/>
      <p:bldP spid="391180" grpId="0"/>
      <p:bldP spid="391181" grpId="0"/>
      <p:bldP spid="391182" grpId="0"/>
      <p:bldP spid="391183" grpId="0"/>
      <p:bldP spid="391184" grpId="0"/>
      <p:bldP spid="39118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5442" name="Text Box 2"/>
          <p:cNvSpPr txBox="1"/>
          <p:nvPr/>
        </p:nvSpPr>
        <p:spPr>
          <a:xfrm>
            <a:off x="2762250" y="4325938"/>
            <a:ext cx="8316913" cy="13093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65000"/>
              </a:lnSpc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必须等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上条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指令执行结束，才能确定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下条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指令的地址，  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65000"/>
              </a:lnSpc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造成时间损失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5443" name="Rectangle 3"/>
          <p:cNvSpPr/>
          <p:nvPr/>
        </p:nvSpPr>
        <p:spPr>
          <a:xfrm>
            <a:off x="1992313" y="381000"/>
            <a:ext cx="6324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</a:rPr>
              <a:t>影响指令流水效率加倍的因素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45444" name="Rectangle 4"/>
          <p:cNvSpPr/>
          <p:nvPr/>
        </p:nvSpPr>
        <p:spPr>
          <a:xfrm>
            <a:off x="2457450" y="1295400"/>
            <a:ext cx="4678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执行时间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&gt;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取指时间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5445" name="Rectangle 5"/>
          <p:cNvSpPr/>
          <p:nvPr/>
        </p:nvSpPr>
        <p:spPr>
          <a:xfrm>
            <a:off x="2457450" y="3962400"/>
            <a:ext cx="6400800" cy="6858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marL="457200" indent="-457200"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条件转移指令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对指令流水的影响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45446" name="Rectangle 6"/>
          <p:cNvSpPr/>
          <p:nvPr/>
        </p:nvSpPr>
        <p:spPr>
          <a:xfrm>
            <a:off x="2457450" y="5791200"/>
            <a:ext cx="6477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解决办法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45447" name="Group 7"/>
          <p:cNvGrpSpPr/>
          <p:nvPr/>
        </p:nvGrpSpPr>
        <p:grpSpPr>
          <a:xfrm>
            <a:off x="2762250" y="2286000"/>
            <a:ext cx="6172200" cy="1079500"/>
            <a:chOff x="816" y="1440"/>
            <a:chExt cx="3888" cy="680"/>
          </a:xfrm>
        </p:grpSpPr>
        <p:sp>
          <p:nvSpPr>
            <p:cNvPr id="445452" name="Rectangle 8"/>
            <p:cNvSpPr/>
            <p:nvPr/>
          </p:nvSpPr>
          <p:spPr>
            <a:xfrm>
              <a:off x="816" y="1440"/>
              <a:ext cx="1056" cy="68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rIns="0" anchor="ctr" anchorCtr="0"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取指令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部件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5453" name="Rectangle 9"/>
            <p:cNvSpPr/>
            <p:nvPr/>
          </p:nvSpPr>
          <p:spPr>
            <a:xfrm>
              <a:off x="2208" y="1440"/>
              <a:ext cx="1056" cy="680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rIns="0" anchor="ctr" anchorCtr="0"/>
            <a:p>
              <a:pPr algn="ctr"/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指令部件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缓冲区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5454" name="Rectangle 10"/>
            <p:cNvSpPr/>
            <p:nvPr/>
          </p:nvSpPr>
          <p:spPr>
            <a:xfrm>
              <a:off x="3648" y="1440"/>
              <a:ext cx="1056" cy="68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rIns="0" anchor="ctr" anchorCtr="0"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执行指令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部件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5455" name="Freeform 11"/>
            <p:cNvSpPr/>
            <p:nvPr/>
          </p:nvSpPr>
          <p:spPr>
            <a:xfrm>
              <a:off x="1872" y="1775"/>
              <a:ext cx="336" cy="1"/>
            </a:xfrm>
            <a:custGeom>
              <a:avLst/>
              <a:gdLst>
                <a:gd name="txL" fmla="*/ 0 w 336"/>
                <a:gd name="txT" fmla="*/ 0 h 1"/>
                <a:gd name="txR" fmla="*/ 336 w 33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36" y="0"/>
                </a:cxn>
              </a:cxnLst>
              <a:rect l="txL" t="txT" r="txR" b="txB"/>
              <a:pathLst>
                <a:path w="336" h="1">
                  <a:moveTo>
                    <a:pt x="0" y="0"/>
                  </a:moveTo>
                  <a:lnTo>
                    <a:pt x="33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5456" name="Freeform 12"/>
            <p:cNvSpPr/>
            <p:nvPr/>
          </p:nvSpPr>
          <p:spPr>
            <a:xfrm>
              <a:off x="3264" y="1775"/>
              <a:ext cx="384" cy="1"/>
            </a:xfrm>
            <a:custGeom>
              <a:avLst/>
              <a:gdLst>
                <a:gd name="txL" fmla="*/ 0 w 384"/>
                <a:gd name="txT" fmla="*/ 0 h 1"/>
                <a:gd name="txR" fmla="*/ 384 w 38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84" y="0"/>
                </a:cxn>
              </a:cxnLst>
              <a:rect l="txL" t="txT" r="txR" b="txB"/>
              <a:pathLst>
                <a:path w="384" h="1">
                  <a:moveTo>
                    <a:pt x="0" y="0"/>
                  </a:moveTo>
                  <a:lnTo>
                    <a:pt x="38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45448" name="Text Box 13"/>
          <p:cNvSpPr txBox="1"/>
          <p:nvPr/>
        </p:nvSpPr>
        <p:spPr>
          <a:xfrm>
            <a:off x="5943600" y="5105400"/>
            <a:ext cx="3962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猜测法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2206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5450" name="AutoShape 1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545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6466" name="Rectangle 2"/>
          <p:cNvSpPr/>
          <p:nvPr/>
        </p:nvSpPr>
        <p:spPr>
          <a:xfrm>
            <a:off x="1905000" y="228600"/>
            <a:ext cx="4678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4.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指令的六级流水</a:t>
            </a:r>
            <a:r>
              <a:rPr lang="en-US" altLang="zh-CN" sz="3200" b="1" dirty="0">
                <a:latin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</a:rPr>
              <a:t>书</a:t>
            </a:r>
            <a:r>
              <a:rPr lang="en-US" altLang="zh-CN" sz="3200" b="1" dirty="0">
                <a:latin typeface="Times New Roman" panose="02020603050405020304" pitchFamily="18" charset="0"/>
              </a:rPr>
              <a:t>347</a:t>
            </a:r>
            <a:r>
              <a:rPr lang="zh-CN" altLang="en-US" sz="3200" b="1" dirty="0">
                <a:latin typeface="Times New Roman" panose="02020603050405020304" pitchFamily="18" charset="0"/>
              </a:rPr>
              <a:t>页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446467" name="Rectangle 3"/>
          <p:cNvSpPr/>
          <p:nvPr/>
        </p:nvSpPr>
        <p:spPr>
          <a:xfrm>
            <a:off x="3494088" y="6172200"/>
            <a:ext cx="2068512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六级流水</a:t>
            </a:r>
            <a:endParaRPr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6468" name="Rectangle 4"/>
          <p:cNvSpPr/>
          <p:nvPr/>
        </p:nvSpPr>
        <p:spPr>
          <a:xfrm>
            <a:off x="6237288" y="6172200"/>
            <a:ext cx="2590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14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个时间单位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46469" name="Rectangle 5"/>
          <p:cNvSpPr/>
          <p:nvPr/>
        </p:nvSpPr>
        <p:spPr>
          <a:xfrm>
            <a:off x="3494088" y="5715000"/>
            <a:ext cx="2297112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串行执行</a:t>
            </a:r>
            <a:endParaRPr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6470" name="Rectangle 6"/>
          <p:cNvSpPr/>
          <p:nvPr/>
        </p:nvSpPr>
        <p:spPr>
          <a:xfrm>
            <a:off x="6237288" y="5715000"/>
            <a:ext cx="3530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</a:rPr>
              <a:t>6 </a:t>
            </a:r>
            <a:r>
              <a:rPr lang="en-US" altLang="zh-CN" b="1" dirty="0">
                <a:latin typeface="Times New Roman" panose="02020603050405020304" pitchFamily="18" charset="0"/>
              </a:rPr>
              <a:t>×</a:t>
            </a:r>
            <a:r>
              <a:rPr lang="en-US" altLang="zh-CN" sz="2000" b="1" dirty="0">
                <a:latin typeface="Times New Roman" panose="02020603050405020304" pitchFamily="18" charset="0"/>
              </a:rPr>
              <a:t> 9 </a:t>
            </a:r>
            <a:r>
              <a:rPr lang="zh-CN" altLang="en-US" sz="2000" b="1" dirty="0">
                <a:latin typeface="Times New Roman" panose="02020603050405020304" pitchFamily="18" charset="0"/>
              </a:rPr>
              <a:t>＝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54</a:t>
            </a:r>
            <a:r>
              <a:rPr lang="zh-CN" altLang="en-US" sz="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000" b="1" dirty="0">
                <a:latin typeface="Times New Roman" panose="02020603050405020304" pitchFamily="18" charset="0"/>
              </a:rPr>
              <a:t>个时间单位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46471" name="Rectangle 7"/>
          <p:cNvSpPr/>
          <p:nvPr/>
        </p:nvSpPr>
        <p:spPr>
          <a:xfrm>
            <a:off x="2895600" y="5257800"/>
            <a:ext cx="3200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000" b="1" dirty="0">
                <a:latin typeface="Times New Roman" panose="02020603050405020304" pitchFamily="18" charset="0"/>
              </a:rPr>
              <a:t>完成 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一条指令</a:t>
            </a:r>
            <a:endParaRPr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6472" name="Rectangle 8"/>
          <p:cNvSpPr/>
          <p:nvPr/>
        </p:nvSpPr>
        <p:spPr>
          <a:xfrm>
            <a:off x="6237288" y="5257800"/>
            <a:ext cx="2590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6 </a:t>
            </a:r>
            <a:r>
              <a:rPr lang="zh-CN" altLang="en-US" sz="2000" b="1" dirty="0">
                <a:latin typeface="Times New Roman" panose="02020603050405020304" pitchFamily="18" charset="0"/>
              </a:rPr>
              <a:t>个时间单位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46473" name="Line 9"/>
          <p:cNvSpPr/>
          <p:nvPr/>
        </p:nvSpPr>
        <p:spPr>
          <a:xfrm>
            <a:off x="8747125" y="41624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74" name="Line 10"/>
          <p:cNvSpPr/>
          <p:nvPr/>
        </p:nvSpPr>
        <p:spPr>
          <a:xfrm>
            <a:off x="8166100" y="41624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75" name="Line 11"/>
          <p:cNvSpPr/>
          <p:nvPr/>
        </p:nvSpPr>
        <p:spPr>
          <a:xfrm>
            <a:off x="7585075" y="41624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76" name="Line 12"/>
          <p:cNvSpPr/>
          <p:nvPr/>
        </p:nvSpPr>
        <p:spPr>
          <a:xfrm>
            <a:off x="7004050" y="41624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77" name="Line 13"/>
          <p:cNvSpPr/>
          <p:nvPr/>
        </p:nvSpPr>
        <p:spPr>
          <a:xfrm>
            <a:off x="6423025" y="41624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78" name="Line 14"/>
          <p:cNvSpPr/>
          <p:nvPr/>
        </p:nvSpPr>
        <p:spPr>
          <a:xfrm>
            <a:off x="5842000" y="41624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79" name="Line 15"/>
          <p:cNvSpPr/>
          <p:nvPr/>
        </p:nvSpPr>
        <p:spPr>
          <a:xfrm>
            <a:off x="9377363" y="44846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0" name="Line 16"/>
          <p:cNvSpPr/>
          <p:nvPr/>
        </p:nvSpPr>
        <p:spPr>
          <a:xfrm>
            <a:off x="8794750" y="4484688"/>
            <a:ext cx="582613" cy="0"/>
          </a:xfrm>
          <a:prstGeom prst="line">
            <a:avLst/>
          </a:prstGeom>
          <a:ln w="28575">
            <a:noFill/>
          </a:ln>
        </p:spPr>
      </p:sp>
      <p:sp>
        <p:nvSpPr>
          <p:cNvPr id="446481" name="Line 17"/>
          <p:cNvSpPr/>
          <p:nvPr/>
        </p:nvSpPr>
        <p:spPr>
          <a:xfrm>
            <a:off x="8213725" y="44846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2" name="Line 18"/>
          <p:cNvSpPr/>
          <p:nvPr/>
        </p:nvSpPr>
        <p:spPr>
          <a:xfrm>
            <a:off x="7632700" y="44846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3" name="Line 19"/>
          <p:cNvSpPr/>
          <p:nvPr/>
        </p:nvSpPr>
        <p:spPr>
          <a:xfrm>
            <a:off x="7051675" y="44846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4" name="Line 20"/>
          <p:cNvSpPr/>
          <p:nvPr/>
        </p:nvSpPr>
        <p:spPr>
          <a:xfrm>
            <a:off x="6470650" y="44846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5" name="Line 21"/>
          <p:cNvSpPr/>
          <p:nvPr/>
        </p:nvSpPr>
        <p:spPr>
          <a:xfrm>
            <a:off x="9956800" y="4803775"/>
            <a:ext cx="582613" cy="0"/>
          </a:xfrm>
          <a:prstGeom prst="line">
            <a:avLst/>
          </a:prstGeom>
          <a:ln w="28575">
            <a:noFill/>
          </a:ln>
        </p:spPr>
      </p:sp>
      <p:sp>
        <p:nvSpPr>
          <p:cNvPr id="446486" name="Line 22"/>
          <p:cNvSpPr/>
          <p:nvPr/>
        </p:nvSpPr>
        <p:spPr>
          <a:xfrm>
            <a:off x="9375775" y="48037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7" name="Line 23"/>
          <p:cNvSpPr/>
          <p:nvPr/>
        </p:nvSpPr>
        <p:spPr>
          <a:xfrm>
            <a:off x="8794750" y="48037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8" name="Line 24"/>
          <p:cNvSpPr/>
          <p:nvPr/>
        </p:nvSpPr>
        <p:spPr>
          <a:xfrm>
            <a:off x="8213725" y="48037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89" name="Line 25"/>
          <p:cNvSpPr/>
          <p:nvPr/>
        </p:nvSpPr>
        <p:spPr>
          <a:xfrm>
            <a:off x="7632700" y="48037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0" name="Line 26"/>
          <p:cNvSpPr/>
          <p:nvPr/>
        </p:nvSpPr>
        <p:spPr>
          <a:xfrm>
            <a:off x="7051675" y="48037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1" name="Line 27"/>
          <p:cNvSpPr/>
          <p:nvPr/>
        </p:nvSpPr>
        <p:spPr>
          <a:xfrm>
            <a:off x="7004050" y="32019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2" name="Line 28"/>
          <p:cNvSpPr/>
          <p:nvPr/>
        </p:nvSpPr>
        <p:spPr>
          <a:xfrm>
            <a:off x="6423025" y="32019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3" name="Line 29"/>
          <p:cNvSpPr/>
          <p:nvPr/>
        </p:nvSpPr>
        <p:spPr>
          <a:xfrm>
            <a:off x="5842000" y="32019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4" name="Line 30"/>
          <p:cNvSpPr/>
          <p:nvPr/>
        </p:nvSpPr>
        <p:spPr>
          <a:xfrm>
            <a:off x="5260975" y="32019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5" name="Line 31"/>
          <p:cNvSpPr/>
          <p:nvPr/>
        </p:nvSpPr>
        <p:spPr>
          <a:xfrm>
            <a:off x="4679950" y="32019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6" name="Line 32"/>
          <p:cNvSpPr/>
          <p:nvPr/>
        </p:nvSpPr>
        <p:spPr>
          <a:xfrm>
            <a:off x="4098925" y="320198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7" name="Line 33"/>
          <p:cNvSpPr/>
          <p:nvPr/>
        </p:nvSpPr>
        <p:spPr>
          <a:xfrm>
            <a:off x="7634288" y="35210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498" name="Line 34"/>
          <p:cNvSpPr/>
          <p:nvPr/>
        </p:nvSpPr>
        <p:spPr>
          <a:xfrm>
            <a:off x="7051675" y="3521075"/>
            <a:ext cx="582613" cy="0"/>
          </a:xfrm>
          <a:prstGeom prst="line">
            <a:avLst/>
          </a:prstGeom>
          <a:ln w="28575">
            <a:noFill/>
          </a:ln>
        </p:spPr>
      </p:sp>
      <p:sp>
        <p:nvSpPr>
          <p:cNvPr id="446499" name="Line 35"/>
          <p:cNvSpPr/>
          <p:nvPr/>
        </p:nvSpPr>
        <p:spPr>
          <a:xfrm>
            <a:off x="6470650" y="35210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0" name="Line 36"/>
          <p:cNvSpPr/>
          <p:nvPr/>
        </p:nvSpPr>
        <p:spPr>
          <a:xfrm>
            <a:off x="5889625" y="35210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1" name="Line 37"/>
          <p:cNvSpPr/>
          <p:nvPr/>
        </p:nvSpPr>
        <p:spPr>
          <a:xfrm>
            <a:off x="5308600" y="35210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2" name="Line 38"/>
          <p:cNvSpPr/>
          <p:nvPr/>
        </p:nvSpPr>
        <p:spPr>
          <a:xfrm>
            <a:off x="4727575" y="35210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3" name="Line 39"/>
          <p:cNvSpPr/>
          <p:nvPr/>
        </p:nvSpPr>
        <p:spPr>
          <a:xfrm>
            <a:off x="8215313" y="38433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4" name="Line 40"/>
          <p:cNvSpPr/>
          <p:nvPr/>
        </p:nvSpPr>
        <p:spPr>
          <a:xfrm>
            <a:off x="7632700" y="3843338"/>
            <a:ext cx="582613" cy="0"/>
          </a:xfrm>
          <a:prstGeom prst="line">
            <a:avLst/>
          </a:prstGeom>
          <a:ln w="28575">
            <a:noFill/>
          </a:ln>
        </p:spPr>
      </p:sp>
      <p:sp>
        <p:nvSpPr>
          <p:cNvPr id="446505" name="Line 41"/>
          <p:cNvSpPr/>
          <p:nvPr/>
        </p:nvSpPr>
        <p:spPr>
          <a:xfrm>
            <a:off x="7051675" y="38433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6" name="Line 42"/>
          <p:cNvSpPr/>
          <p:nvPr/>
        </p:nvSpPr>
        <p:spPr>
          <a:xfrm>
            <a:off x="6470650" y="38433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7" name="Line 43"/>
          <p:cNvSpPr/>
          <p:nvPr/>
        </p:nvSpPr>
        <p:spPr>
          <a:xfrm>
            <a:off x="5889625" y="38433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8" name="Line 44"/>
          <p:cNvSpPr/>
          <p:nvPr/>
        </p:nvSpPr>
        <p:spPr>
          <a:xfrm>
            <a:off x="5308600" y="38433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09" name="Line 45"/>
          <p:cNvSpPr/>
          <p:nvPr/>
        </p:nvSpPr>
        <p:spPr>
          <a:xfrm>
            <a:off x="5260975" y="22383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0" name="Line 46"/>
          <p:cNvSpPr/>
          <p:nvPr/>
        </p:nvSpPr>
        <p:spPr>
          <a:xfrm>
            <a:off x="4679950" y="22383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1" name="Line 47"/>
          <p:cNvSpPr/>
          <p:nvPr/>
        </p:nvSpPr>
        <p:spPr>
          <a:xfrm>
            <a:off x="4098925" y="22383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2" name="Line 48"/>
          <p:cNvSpPr/>
          <p:nvPr/>
        </p:nvSpPr>
        <p:spPr>
          <a:xfrm>
            <a:off x="3517900" y="22383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3" name="Line 49"/>
          <p:cNvSpPr/>
          <p:nvPr/>
        </p:nvSpPr>
        <p:spPr>
          <a:xfrm>
            <a:off x="2936875" y="22383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4" name="Line 50"/>
          <p:cNvSpPr/>
          <p:nvPr/>
        </p:nvSpPr>
        <p:spPr>
          <a:xfrm>
            <a:off x="2355850" y="223837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5" name="Line 51"/>
          <p:cNvSpPr/>
          <p:nvPr/>
        </p:nvSpPr>
        <p:spPr>
          <a:xfrm>
            <a:off x="5891213" y="25606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6" name="Line 52"/>
          <p:cNvSpPr/>
          <p:nvPr/>
        </p:nvSpPr>
        <p:spPr>
          <a:xfrm>
            <a:off x="5308600" y="2560638"/>
            <a:ext cx="582613" cy="0"/>
          </a:xfrm>
          <a:prstGeom prst="line">
            <a:avLst/>
          </a:prstGeom>
          <a:ln w="28575">
            <a:noFill/>
          </a:ln>
        </p:spPr>
      </p:sp>
      <p:sp>
        <p:nvSpPr>
          <p:cNvPr id="446517" name="Line 53"/>
          <p:cNvSpPr/>
          <p:nvPr/>
        </p:nvSpPr>
        <p:spPr>
          <a:xfrm>
            <a:off x="4727575" y="25606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8" name="Line 54"/>
          <p:cNvSpPr/>
          <p:nvPr/>
        </p:nvSpPr>
        <p:spPr>
          <a:xfrm>
            <a:off x="4146550" y="25606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19" name="Line 55"/>
          <p:cNvSpPr/>
          <p:nvPr/>
        </p:nvSpPr>
        <p:spPr>
          <a:xfrm>
            <a:off x="3565525" y="25606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20" name="Line 56"/>
          <p:cNvSpPr/>
          <p:nvPr/>
        </p:nvSpPr>
        <p:spPr>
          <a:xfrm>
            <a:off x="2984500" y="2560638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21" name="Line 57"/>
          <p:cNvSpPr/>
          <p:nvPr/>
        </p:nvSpPr>
        <p:spPr>
          <a:xfrm>
            <a:off x="6472238" y="28797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22" name="Line 58"/>
          <p:cNvSpPr/>
          <p:nvPr/>
        </p:nvSpPr>
        <p:spPr>
          <a:xfrm>
            <a:off x="5889625" y="2879725"/>
            <a:ext cx="582613" cy="0"/>
          </a:xfrm>
          <a:prstGeom prst="line">
            <a:avLst/>
          </a:prstGeom>
          <a:ln w="28575">
            <a:noFill/>
          </a:ln>
        </p:spPr>
      </p:sp>
      <p:sp>
        <p:nvSpPr>
          <p:cNvPr id="446523" name="Line 59"/>
          <p:cNvSpPr/>
          <p:nvPr/>
        </p:nvSpPr>
        <p:spPr>
          <a:xfrm>
            <a:off x="5308600" y="28797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24" name="Line 60"/>
          <p:cNvSpPr/>
          <p:nvPr/>
        </p:nvSpPr>
        <p:spPr>
          <a:xfrm>
            <a:off x="4727575" y="28797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25" name="Line 61"/>
          <p:cNvSpPr/>
          <p:nvPr/>
        </p:nvSpPr>
        <p:spPr>
          <a:xfrm>
            <a:off x="4146550" y="2879725"/>
            <a:ext cx="581025" cy="0"/>
          </a:xfrm>
          <a:prstGeom prst="line">
            <a:avLst/>
          </a:prstGeom>
          <a:ln w="28575">
            <a:noFill/>
          </a:ln>
        </p:spPr>
      </p:sp>
      <p:sp>
        <p:nvSpPr>
          <p:cNvPr id="446526" name="Line 62"/>
          <p:cNvSpPr/>
          <p:nvPr/>
        </p:nvSpPr>
        <p:spPr>
          <a:xfrm>
            <a:off x="3565525" y="2879725"/>
            <a:ext cx="581025" cy="0"/>
          </a:xfrm>
          <a:prstGeom prst="line">
            <a:avLst/>
          </a:prstGeom>
          <a:ln w="28575">
            <a:noFill/>
          </a:ln>
        </p:spPr>
      </p:sp>
      <p:grpSp>
        <p:nvGrpSpPr>
          <p:cNvPr id="446527" name="Group 63"/>
          <p:cNvGrpSpPr/>
          <p:nvPr/>
        </p:nvGrpSpPr>
        <p:grpSpPr>
          <a:xfrm>
            <a:off x="1600200" y="917575"/>
            <a:ext cx="8920163" cy="4189413"/>
            <a:chOff x="48" y="578"/>
            <a:chExt cx="5619" cy="2639"/>
          </a:xfrm>
        </p:grpSpPr>
        <p:sp>
          <p:nvSpPr>
            <p:cNvPr id="446531" name="Line 64"/>
            <p:cNvSpPr/>
            <p:nvPr/>
          </p:nvSpPr>
          <p:spPr>
            <a:xfrm>
              <a:off x="2007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2" name="Line 65"/>
            <p:cNvSpPr/>
            <p:nvPr/>
          </p:nvSpPr>
          <p:spPr>
            <a:xfrm>
              <a:off x="2388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3" name="Line 66"/>
            <p:cNvSpPr/>
            <p:nvPr/>
          </p:nvSpPr>
          <p:spPr>
            <a:xfrm>
              <a:off x="2739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4" name="Line 67"/>
            <p:cNvSpPr/>
            <p:nvPr/>
          </p:nvSpPr>
          <p:spPr>
            <a:xfrm>
              <a:off x="3105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5" name="Line 68"/>
            <p:cNvSpPr/>
            <p:nvPr/>
          </p:nvSpPr>
          <p:spPr>
            <a:xfrm>
              <a:off x="3471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6" name="Line 69"/>
            <p:cNvSpPr/>
            <p:nvPr/>
          </p:nvSpPr>
          <p:spPr>
            <a:xfrm>
              <a:off x="3837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7" name="Line 70"/>
            <p:cNvSpPr/>
            <p:nvPr/>
          </p:nvSpPr>
          <p:spPr>
            <a:xfrm>
              <a:off x="4203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8" name="Line 71"/>
            <p:cNvSpPr/>
            <p:nvPr/>
          </p:nvSpPr>
          <p:spPr>
            <a:xfrm>
              <a:off x="4569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39" name="Line 72"/>
            <p:cNvSpPr/>
            <p:nvPr/>
          </p:nvSpPr>
          <p:spPr>
            <a:xfrm>
              <a:off x="4935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40" name="Line 73"/>
            <p:cNvSpPr/>
            <p:nvPr/>
          </p:nvSpPr>
          <p:spPr>
            <a:xfrm>
              <a:off x="5301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41" name="Line 74"/>
            <p:cNvSpPr/>
            <p:nvPr/>
          </p:nvSpPr>
          <p:spPr>
            <a:xfrm>
              <a:off x="5667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42" name="Line 75"/>
            <p:cNvSpPr/>
            <p:nvPr/>
          </p:nvSpPr>
          <p:spPr>
            <a:xfrm>
              <a:off x="543" y="1192"/>
              <a:ext cx="0" cy="19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43" name="Line 76"/>
            <p:cNvSpPr/>
            <p:nvPr/>
          </p:nvSpPr>
          <p:spPr>
            <a:xfrm>
              <a:off x="909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44" name="Line 77"/>
            <p:cNvSpPr/>
            <p:nvPr/>
          </p:nvSpPr>
          <p:spPr>
            <a:xfrm>
              <a:off x="1275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45" name="Line 78"/>
            <p:cNvSpPr/>
            <p:nvPr/>
          </p:nvSpPr>
          <p:spPr>
            <a:xfrm>
              <a:off x="1641" y="1192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6546" name="Text Box 79"/>
            <p:cNvSpPr txBox="1"/>
            <p:nvPr/>
          </p:nvSpPr>
          <p:spPr>
            <a:xfrm>
              <a:off x="3488" y="2551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47" name="Text Box 80"/>
            <p:cNvSpPr txBox="1"/>
            <p:nvPr/>
          </p:nvSpPr>
          <p:spPr>
            <a:xfrm>
              <a:off x="3880" y="2551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48" name="Text Box 81"/>
            <p:cNvSpPr txBox="1"/>
            <p:nvPr/>
          </p:nvSpPr>
          <p:spPr>
            <a:xfrm>
              <a:off x="4276" y="2551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49" name="Text Box 82"/>
            <p:cNvSpPr txBox="1"/>
            <p:nvPr/>
          </p:nvSpPr>
          <p:spPr>
            <a:xfrm>
              <a:off x="4571" y="2551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0" name="Text Box 83"/>
            <p:cNvSpPr txBox="1"/>
            <p:nvPr/>
          </p:nvSpPr>
          <p:spPr>
            <a:xfrm>
              <a:off x="3168" y="2551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1" name="Text Box 84"/>
            <p:cNvSpPr txBox="1"/>
            <p:nvPr/>
          </p:nvSpPr>
          <p:spPr>
            <a:xfrm>
              <a:off x="2804" y="2551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2" name="Text Box 85"/>
            <p:cNvSpPr txBox="1"/>
            <p:nvPr/>
          </p:nvSpPr>
          <p:spPr>
            <a:xfrm>
              <a:off x="3872" y="2768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3" name="Text Box 86"/>
            <p:cNvSpPr txBox="1"/>
            <p:nvPr/>
          </p:nvSpPr>
          <p:spPr>
            <a:xfrm>
              <a:off x="4252" y="2768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4" name="Text Box 87"/>
            <p:cNvSpPr txBox="1"/>
            <p:nvPr/>
          </p:nvSpPr>
          <p:spPr>
            <a:xfrm>
              <a:off x="4624" y="2768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5" name="Text Box 88"/>
            <p:cNvSpPr txBox="1"/>
            <p:nvPr/>
          </p:nvSpPr>
          <p:spPr>
            <a:xfrm>
              <a:off x="4944" y="2768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6" name="Text Box 89"/>
            <p:cNvSpPr txBox="1"/>
            <p:nvPr/>
          </p:nvSpPr>
          <p:spPr>
            <a:xfrm>
              <a:off x="3516" y="2768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7" name="Text Box 90"/>
            <p:cNvSpPr txBox="1"/>
            <p:nvPr/>
          </p:nvSpPr>
          <p:spPr>
            <a:xfrm>
              <a:off x="3176" y="2768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8" name="Text Box 91"/>
            <p:cNvSpPr txBox="1"/>
            <p:nvPr/>
          </p:nvSpPr>
          <p:spPr>
            <a:xfrm>
              <a:off x="4244" y="2985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59" name="Text Box 92"/>
            <p:cNvSpPr txBox="1"/>
            <p:nvPr/>
          </p:nvSpPr>
          <p:spPr>
            <a:xfrm>
              <a:off x="4600" y="2985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0" name="Text Box 93"/>
            <p:cNvSpPr txBox="1"/>
            <p:nvPr/>
          </p:nvSpPr>
          <p:spPr>
            <a:xfrm>
              <a:off x="4992" y="2985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1" name="Text Box 94"/>
            <p:cNvSpPr txBox="1"/>
            <p:nvPr/>
          </p:nvSpPr>
          <p:spPr>
            <a:xfrm>
              <a:off x="5292" y="2985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2" name="Text Box 95"/>
            <p:cNvSpPr txBox="1"/>
            <p:nvPr/>
          </p:nvSpPr>
          <p:spPr>
            <a:xfrm>
              <a:off x="3900" y="2985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3" name="Text Box 96"/>
            <p:cNvSpPr txBox="1"/>
            <p:nvPr/>
          </p:nvSpPr>
          <p:spPr>
            <a:xfrm>
              <a:off x="3524" y="2985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4" name="Text Box 97"/>
            <p:cNvSpPr txBox="1"/>
            <p:nvPr/>
          </p:nvSpPr>
          <p:spPr>
            <a:xfrm>
              <a:off x="2421" y="1898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5" name="Text Box 98"/>
            <p:cNvSpPr txBox="1"/>
            <p:nvPr/>
          </p:nvSpPr>
          <p:spPr>
            <a:xfrm>
              <a:off x="2776" y="1898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6" name="Text Box 99"/>
            <p:cNvSpPr txBox="1"/>
            <p:nvPr/>
          </p:nvSpPr>
          <p:spPr>
            <a:xfrm>
              <a:off x="3172" y="1898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7" name="Text Box 100"/>
            <p:cNvSpPr txBox="1"/>
            <p:nvPr/>
          </p:nvSpPr>
          <p:spPr>
            <a:xfrm>
              <a:off x="3467" y="1898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8" name="Text Box 101"/>
            <p:cNvSpPr txBox="1"/>
            <p:nvPr/>
          </p:nvSpPr>
          <p:spPr>
            <a:xfrm>
              <a:off x="2080" y="1898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69" name="Text Box 102"/>
            <p:cNvSpPr txBox="1"/>
            <p:nvPr/>
          </p:nvSpPr>
          <p:spPr>
            <a:xfrm>
              <a:off x="1716" y="1898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0" name="Text Box 103"/>
            <p:cNvSpPr txBox="1"/>
            <p:nvPr/>
          </p:nvSpPr>
          <p:spPr>
            <a:xfrm>
              <a:off x="2768" y="2116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1" name="Text Box 104"/>
            <p:cNvSpPr txBox="1"/>
            <p:nvPr/>
          </p:nvSpPr>
          <p:spPr>
            <a:xfrm>
              <a:off x="3148" y="2116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2" name="Text Box 105"/>
            <p:cNvSpPr txBox="1"/>
            <p:nvPr/>
          </p:nvSpPr>
          <p:spPr>
            <a:xfrm>
              <a:off x="3520" y="2116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3" name="Text Box 106"/>
            <p:cNvSpPr txBox="1"/>
            <p:nvPr/>
          </p:nvSpPr>
          <p:spPr>
            <a:xfrm>
              <a:off x="3852" y="2116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4" name="Text Box 107"/>
            <p:cNvSpPr txBox="1"/>
            <p:nvPr/>
          </p:nvSpPr>
          <p:spPr>
            <a:xfrm>
              <a:off x="2449" y="2116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5" name="Text Box 108"/>
            <p:cNvSpPr txBox="1"/>
            <p:nvPr/>
          </p:nvSpPr>
          <p:spPr>
            <a:xfrm>
              <a:off x="2088" y="2116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6" name="Text Box 109"/>
            <p:cNvSpPr txBox="1"/>
            <p:nvPr/>
          </p:nvSpPr>
          <p:spPr>
            <a:xfrm>
              <a:off x="3140" y="2333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7" name="Text Box 110"/>
            <p:cNvSpPr txBox="1"/>
            <p:nvPr/>
          </p:nvSpPr>
          <p:spPr>
            <a:xfrm>
              <a:off x="3496" y="2333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8" name="Text Box 111"/>
            <p:cNvSpPr txBox="1"/>
            <p:nvPr/>
          </p:nvSpPr>
          <p:spPr>
            <a:xfrm>
              <a:off x="3904" y="2333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79" name="Text Box 112"/>
            <p:cNvSpPr txBox="1"/>
            <p:nvPr/>
          </p:nvSpPr>
          <p:spPr>
            <a:xfrm>
              <a:off x="4224" y="2333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0" name="Text Box 113"/>
            <p:cNvSpPr txBox="1"/>
            <p:nvPr/>
          </p:nvSpPr>
          <p:spPr>
            <a:xfrm>
              <a:off x="2796" y="2333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1" name="Text Box 114"/>
            <p:cNvSpPr txBox="1"/>
            <p:nvPr/>
          </p:nvSpPr>
          <p:spPr>
            <a:xfrm>
              <a:off x="2457" y="2333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2" name="Text Box 115"/>
            <p:cNvSpPr txBox="1"/>
            <p:nvPr/>
          </p:nvSpPr>
          <p:spPr>
            <a:xfrm>
              <a:off x="1284" y="1248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3" name="Text Box 116"/>
            <p:cNvSpPr txBox="1"/>
            <p:nvPr/>
          </p:nvSpPr>
          <p:spPr>
            <a:xfrm>
              <a:off x="1688" y="1248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4" name="Text Box 117"/>
            <p:cNvSpPr txBox="1"/>
            <p:nvPr/>
          </p:nvSpPr>
          <p:spPr>
            <a:xfrm>
              <a:off x="2083" y="1248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5" name="Text Box 118"/>
            <p:cNvSpPr txBox="1"/>
            <p:nvPr/>
          </p:nvSpPr>
          <p:spPr>
            <a:xfrm>
              <a:off x="2400" y="1248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6" name="Text Box 119"/>
            <p:cNvSpPr txBox="1"/>
            <p:nvPr/>
          </p:nvSpPr>
          <p:spPr>
            <a:xfrm>
              <a:off x="974" y="1248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7" name="Text Box 120"/>
            <p:cNvSpPr txBox="1"/>
            <p:nvPr/>
          </p:nvSpPr>
          <p:spPr>
            <a:xfrm>
              <a:off x="606" y="1248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8" name="Text Box 121"/>
            <p:cNvSpPr txBox="1"/>
            <p:nvPr/>
          </p:nvSpPr>
          <p:spPr>
            <a:xfrm>
              <a:off x="1680" y="1461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89" name="Text Box 122"/>
            <p:cNvSpPr txBox="1"/>
            <p:nvPr/>
          </p:nvSpPr>
          <p:spPr>
            <a:xfrm>
              <a:off x="2059" y="1461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0" name="Text Box 123"/>
            <p:cNvSpPr txBox="1"/>
            <p:nvPr/>
          </p:nvSpPr>
          <p:spPr>
            <a:xfrm>
              <a:off x="2452" y="1461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1" name="Text Box 124"/>
            <p:cNvSpPr txBox="1"/>
            <p:nvPr/>
          </p:nvSpPr>
          <p:spPr>
            <a:xfrm>
              <a:off x="2748" y="1461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2" name="Text Box 125"/>
            <p:cNvSpPr txBox="1"/>
            <p:nvPr/>
          </p:nvSpPr>
          <p:spPr>
            <a:xfrm>
              <a:off x="1312" y="1461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3" name="Text Box 126"/>
            <p:cNvSpPr txBox="1"/>
            <p:nvPr/>
          </p:nvSpPr>
          <p:spPr>
            <a:xfrm>
              <a:off x="982" y="1461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4" name="Text Box 127"/>
            <p:cNvSpPr txBox="1"/>
            <p:nvPr/>
          </p:nvSpPr>
          <p:spPr>
            <a:xfrm>
              <a:off x="2052" y="1680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5" name="Text Box 128"/>
            <p:cNvSpPr txBox="1"/>
            <p:nvPr/>
          </p:nvSpPr>
          <p:spPr>
            <a:xfrm>
              <a:off x="2429" y="1680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6" name="Text Box 129"/>
            <p:cNvSpPr txBox="1"/>
            <p:nvPr/>
          </p:nvSpPr>
          <p:spPr>
            <a:xfrm>
              <a:off x="2800" y="1680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7" name="Text Box 130"/>
            <p:cNvSpPr txBox="1"/>
            <p:nvPr/>
          </p:nvSpPr>
          <p:spPr>
            <a:xfrm>
              <a:off x="3120" y="1680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8" name="Text Box 131"/>
            <p:cNvSpPr txBox="1"/>
            <p:nvPr/>
          </p:nvSpPr>
          <p:spPr>
            <a:xfrm>
              <a:off x="1708" y="1680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599" name="Text Box 132"/>
            <p:cNvSpPr txBox="1"/>
            <p:nvPr/>
          </p:nvSpPr>
          <p:spPr>
            <a:xfrm>
              <a:off x="1320" y="1680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00" name="Line 133"/>
            <p:cNvSpPr/>
            <p:nvPr/>
          </p:nvSpPr>
          <p:spPr>
            <a:xfrm>
              <a:off x="1988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1" name="Line 134"/>
            <p:cNvSpPr/>
            <p:nvPr/>
          </p:nvSpPr>
          <p:spPr>
            <a:xfrm>
              <a:off x="2354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2" name="Line 135"/>
            <p:cNvSpPr/>
            <p:nvPr/>
          </p:nvSpPr>
          <p:spPr>
            <a:xfrm>
              <a:off x="2720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3" name="Line 136"/>
            <p:cNvSpPr/>
            <p:nvPr/>
          </p:nvSpPr>
          <p:spPr>
            <a:xfrm>
              <a:off x="3086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4" name="Line 137"/>
            <p:cNvSpPr/>
            <p:nvPr/>
          </p:nvSpPr>
          <p:spPr>
            <a:xfrm>
              <a:off x="3452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5" name="Line 138"/>
            <p:cNvSpPr/>
            <p:nvPr/>
          </p:nvSpPr>
          <p:spPr>
            <a:xfrm>
              <a:off x="3818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6" name="Line 139"/>
            <p:cNvSpPr/>
            <p:nvPr/>
          </p:nvSpPr>
          <p:spPr>
            <a:xfrm>
              <a:off x="4184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7" name="Line 140"/>
            <p:cNvSpPr/>
            <p:nvPr/>
          </p:nvSpPr>
          <p:spPr>
            <a:xfrm>
              <a:off x="4550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8" name="Line 141"/>
            <p:cNvSpPr/>
            <p:nvPr/>
          </p:nvSpPr>
          <p:spPr>
            <a:xfrm>
              <a:off x="4916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09" name="Line 142"/>
            <p:cNvSpPr/>
            <p:nvPr/>
          </p:nvSpPr>
          <p:spPr>
            <a:xfrm>
              <a:off x="5282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10" name="Line 143"/>
            <p:cNvSpPr/>
            <p:nvPr/>
          </p:nvSpPr>
          <p:spPr>
            <a:xfrm>
              <a:off x="5648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11" name="Line 144"/>
            <p:cNvSpPr/>
            <p:nvPr/>
          </p:nvSpPr>
          <p:spPr>
            <a:xfrm>
              <a:off x="524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12" name="Line 145"/>
            <p:cNvSpPr/>
            <p:nvPr/>
          </p:nvSpPr>
          <p:spPr>
            <a:xfrm>
              <a:off x="890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13" name="Line 146"/>
            <p:cNvSpPr/>
            <p:nvPr/>
          </p:nvSpPr>
          <p:spPr>
            <a:xfrm>
              <a:off x="1256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14" name="Line 147"/>
            <p:cNvSpPr/>
            <p:nvPr/>
          </p:nvSpPr>
          <p:spPr>
            <a:xfrm>
              <a:off x="1622" y="887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6615" name="Freeform 148"/>
            <p:cNvSpPr/>
            <p:nvPr/>
          </p:nvSpPr>
          <p:spPr>
            <a:xfrm>
              <a:off x="517" y="1085"/>
              <a:ext cx="5128" cy="4"/>
            </a:xfrm>
            <a:custGeom>
              <a:avLst/>
              <a:gdLst>
                <a:gd name="txL" fmla="*/ 0 w 5380"/>
                <a:gd name="txT" fmla="*/ 0 h 4"/>
                <a:gd name="txR" fmla="*/ 5380 w 5380"/>
                <a:gd name="txB" fmla="*/ 4 h 4"/>
              </a:gdLst>
              <a:ahLst/>
              <a:cxnLst>
                <a:cxn ang="0">
                  <a:pos x="0" y="4"/>
                </a:cxn>
                <a:cxn ang="0">
                  <a:pos x="5380" y="0"/>
                </a:cxn>
              </a:cxnLst>
              <a:rect l="txL" t="txT" r="txR" b="txB"/>
              <a:pathLst>
                <a:path w="5380" h="4">
                  <a:moveTo>
                    <a:pt x="0" y="4"/>
                  </a:moveTo>
                  <a:lnTo>
                    <a:pt x="538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6616" name="Text Box 149"/>
            <p:cNvSpPr txBox="1"/>
            <p:nvPr/>
          </p:nvSpPr>
          <p:spPr>
            <a:xfrm>
              <a:off x="48" y="1248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17" name="Text Box 150"/>
            <p:cNvSpPr txBox="1"/>
            <p:nvPr/>
          </p:nvSpPr>
          <p:spPr>
            <a:xfrm>
              <a:off x="48" y="1461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2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18" name="Text Box 151"/>
            <p:cNvSpPr txBox="1"/>
            <p:nvPr/>
          </p:nvSpPr>
          <p:spPr>
            <a:xfrm>
              <a:off x="48" y="1680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19" name="Text Box 152"/>
            <p:cNvSpPr txBox="1"/>
            <p:nvPr/>
          </p:nvSpPr>
          <p:spPr>
            <a:xfrm>
              <a:off x="48" y="1898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4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0" name="Text Box 153"/>
            <p:cNvSpPr txBox="1"/>
            <p:nvPr/>
          </p:nvSpPr>
          <p:spPr>
            <a:xfrm>
              <a:off x="48" y="2116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1" name="Text Box 154"/>
            <p:cNvSpPr txBox="1"/>
            <p:nvPr/>
          </p:nvSpPr>
          <p:spPr>
            <a:xfrm>
              <a:off x="48" y="2333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6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2" name="Text Box 155"/>
            <p:cNvSpPr txBox="1"/>
            <p:nvPr/>
          </p:nvSpPr>
          <p:spPr>
            <a:xfrm>
              <a:off x="48" y="2551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7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3" name="Text Box 156"/>
            <p:cNvSpPr txBox="1"/>
            <p:nvPr/>
          </p:nvSpPr>
          <p:spPr>
            <a:xfrm>
              <a:off x="48" y="2768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8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4" name="Text Box 157"/>
            <p:cNvSpPr txBox="1"/>
            <p:nvPr/>
          </p:nvSpPr>
          <p:spPr>
            <a:xfrm>
              <a:off x="48" y="2985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9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5" name="Line 158"/>
            <p:cNvSpPr/>
            <p:nvPr/>
          </p:nvSpPr>
          <p:spPr>
            <a:xfrm>
              <a:off x="528" y="713"/>
              <a:ext cx="21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6626" name="Text Box 159"/>
            <p:cNvSpPr txBox="1"/>
            <p:nvPr/>
          </p:nvSpPr>
          <p:spPr>
            <a:xfrm>
              <a:off x="566" y="852"/>
              <a:ext cx="50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1        2       3       4       5        6       7       8       9       10     11     12    13      14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7" name="Text Box 160"/>
            <p:cNvSpPr txBox="1"/>
            <p:nvPr/>
          </p:nvSpPr>
          <p:spPr>
            <a:xfrm>
              <a:off x="2774" y="578"/>
              <a:ext cx="16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46628" name="Line 161"/>
            <p:cNvSpPr/>
            <p:nvPr/>
          </p:nvSpPr>
          <p:spPr>
            <a:xfrm>
              <a:off x="528" y="1433"/>
              <a:ext cx="2208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46629" name="Line 162"/>
            <p:cNvSpPr/>
            <p:nvPr/>
          </p:nvSpPr>
          <p:spPr>
            <a:xfrm>
              <a:off x="3456" y="3168"/>
              <a:ext cx="2208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</p:grpSp>
      <p:sp>
        <p:nvSpPr>
          <p:cNvPr id="393379" name="Rectangle 16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6529" name="AutoShape 16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653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743200" y="5715000"/>
            <a:ext cx="7924800" cy="855663"/>
            <a:chOff x="768" y="3600"/>
            <a:chExt cx="4992" cy="539"/>
          </a:xfrm>
        </p:grpSpPr>
        <p:sp>
          <p:nvSpPr>
            <p:cNvPr id="447602" name="Text Box 3"/>
            <p:cNvSpPr txBox="1"/>
            <p:nvPr/>
          </p:nvSpPr>
          <p:spPr>
            <a:xfrm>
              <a:off x="768" y="3600"/>
              <a:ext cx="201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与指令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4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冲突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603" name="Text Box 4"/>
            <p:cNvSpPr txBox="1"/>
            <p:nvPr/>
          </p:nvSpPr>
          <p:spPr>
            <a:xfrm>
              <a:off x="768" y="3888"/>
              <a:ext cx="201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2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与指令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5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冲突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604" name="Text Box 5"/>
            <p:cNvSpPr txBox="1"/>
            <p:nvPr/>
          </p:nvSpPr>
          <p:spPr>
            <a:xfrm>
              <a:off x="2784" y="3600"/>
              <a:ext cx="297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指令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、指令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、指令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6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冲突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605" name="Text Box 6"/>
            <p:cNvSpPr txBox="1"/>
            <p:nvPr/>
          </p:nvSpPr>
          <p:spPr>
            <a:xfrm>
              <a:off x="2784" y="3804"/>
              <a:ext cx="201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1600200" y="1371600"/>
            <a:ext cx="8920163" cy="4105275"/>
            <a:chOff x="48" y="864"/>
            <a:chExt cx="5619" cy="2586"/>
          </a:xfrm>
        </p:grpSpPr>
        <p:sp>
          <p:nvSpPr>
            <p:cNvPr id="447503" name="Line 8"/>
            <p:cNvSpPr/>
            <p:nvPr/>
          </p:nvSpPr>
          <p:spPr>
            <a:xfrm>
              <a:off x="2007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04" name="Line 9"/>
            <p:cNvSpPr/>
            <p:nvPr/>
          </p:nvSpPr>
          <p:spPr>
            <a:xfrm>
              <a:off x="2373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05" name="Line 10"/>
            <p:cNvSpPr/>
            <p:nvPr/>
          </p:nvSpPr>
          <p:spPr>
            <a:xfrm>
              <a:off x="2739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06" name="Line 11"/>
            <p:cNvSpPr/>
            <p:nvPr/>
          </p:nvSpPr>
          <p:spPr>
            <a:xfrm>
              <a:off x="3105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07" name="Line 12"/>
            <p:cNvSpPr/>
            <p:nvPr/>
          </p:nvSpPr>
          <p:spPr>
            <a:xfrm>
              <a:off x="3471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08" name="Line 13"/>
            <p:cNvSpPr/>
            <p:nvPr/>
          </p:nvSpPr>
          <p:spPr>
            <a:xfrm>
              <a:off x="3837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09" name="Line 14"/>
            <p:cNvSpPr/>
            <p:nvPr/>
          </p:nvSpPr>
          <p:spPr>
            <a:xfrm>
              <a:off x="4203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0" name="Line 15"/>
            <p:cNvSpPr/>
            <p:nvPr/>
          </p:nvSpPr>
          <p:spPr>
            <a:xfrm>
              <a:off x="4569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1" name="Line 16"/>
            <p:cNvSpPr/>
            <p:nvPr/>
          </p:nvSpPr>
          <p:spPr>
            <a:xfrm>
              <a:off x="4935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2" name="Line 17"/>
            <p:cNvSpPr/>
            <p:nvPr/>
          </p:nvSpPr>
          <p:spPr>
            <a:xfrm>
              <a:off x="5301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3" name="Line 18"/>
            <p:cNvSpPr/>
            <p:nvPr/>
          </p:nvSpPr>
          <p:spPr>
            <a:xfrm>
              <a:off x="5667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4" name="Line 19"/>
            <p:cNvSpPr/>
            <p:nvPr/>
          </p:nvSpPr>
          <p:spPr>
            <a:xfrm>
              <a:off x="543" y="1478"/>
              <a:ext cx="0" cy="19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5" name="Line 20"/>
            <p:cNvSpPr/>
            <p:nvPr/>
          </p:nvSpPr>
          <p:spPr>
            <a:xfrm>
              <a:off x="909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6" name="Line 21"/>
            <p:cNvSpPr/>
            <p:nvPr/>
          </p:nvSpPr>
          <p:spPr>
            <a:xfrm>
              <a:off x="1275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7" name="Line 22"/>
            <p:cNvSpPr/>
            <p:nvPr/>
          </p:nvSpPr>
          <p:spPr>
            <a:xfrm>
              <a:off x="1641" y="1478"/>
              <a:ext cx="0" cy="19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7518" name="Text Box 23"/>
            <p:cNvSpPr txBox="1"/>
            <p:nvPr/>
          </p:nvSpPr>
          <p:spPr>
            <a:xfrm>
              <a:off x="3488" y="2734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19" name="Text Box 24"/>
            <p:cNvSpPr txBox="1"/>
            <p:nvPr/>
          </p:nvSpPr>
          <p:spPr>
            <a:xfrm>
              <a:off x="3880" y="2734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20" name="Text Box 25"/>
            <p:cNvSpPr txBox="1"/>
            <p:nvPr/>
          </p:nvSpPr>
          <p:spPr>
            <a:xfrm>
              <a:off x="4276" y="2734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21" name="Text Box 26"/>
            <p:cNvSpPr txBox="1"/>
            <p:nvPr/>
          </p:nvSpPr>
          <p:spPr>
            <a:xfrm>
              <a:off x="4571" y="2734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22" name="Text Box 27"/>
            <p:cNvSpPr txBox="1"/>
            <p:nvPr/>
          </p:nvSpPr>
          <p:spPr>
            <a:xfrm>
              <a:off x="3168" y="2734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23" name="Text Box 28"/>
            <p:cNvSpPr txBox="1"/>
            <p:nvPr/>
          </p:nvSpPr>
          <p:spPr>
            <a:xfrm>
              <a:off x="2804" y="2734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24" name="Text Box 29"/>
            <p:cNvSpPr txBox="1"/>
            <p:nvPr/>
          </p:nvSpPr>
          <p:spPr>
            <a:xfrm>
              <a:off x="3872" y="2937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25" name="Text Box 30"/>
            <p:cNvSpPr txBox="1"/>
            <p:nvPr/>
          </p:nvSpPr>
          <p:spPr>
            <a:xfrm>
              <a:off x="4252" y="2937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26" name="Text Box 31"/>
            <p:cNvSpPr txBox="1"/>
            <p:nvPr/>
          </p:nvSpPr>
          <p:spPr>
            <a:xfrm>
              <a:off x="4624" y="2937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27" name="Text Box 32"/>
            <p:cNvSpPr txBox="1"/>
            <p:nvPr/>
          </p:nvSpPr>
          <p:spPr>
            <a:xfrm>
              <a:off x="4944" y="2937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28" name="Text Box 33"/>
            <p:cNvSpPr txBox="1"/>
            <p:nvPr/>
          </p:nvSpPr>
          <p:spPr>
            <a:xfrm>
              <a:off x="3516" y="2937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29" name="Text Box 34"/>
            <p:cNvSpPr txBox="1"/>
            <p:nvPr/>
          </p:nvSpPr>
          <p:spPr>
            <a:xfrm>
              <a:off x="3176" y="2937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30" name="Text Box 35"/>
            <p:cNvSpPr txBox="1"/>
            <p:nvPr/>
          </p:nvSpPr>
          <p:spPr>
            <a:xfrm>
              <a:off x="4244" y="3138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31" name="Text Box 36"/>
            <p:cNvSpPr txBox="1"/>
            <p:nvPr/>
          </p:nvSpPr>
          <p:spPr>
            <a:xfrm>
              <a:off x="4600" y="3138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32" name="Text Box 37"/>
            <p:cNvSpPr txBox="1"/>
            <p:nvPr/>
          </p:nvSpPr>
          <p:spPr>
            <a:xfrm>
              <a:off x="4992" y="3138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33" name="Text Box 38"/>
            <p:cNvSpPr txBox="1"/>
            <p:nvPr/>
          </p:nvSpPr>
          <p:spPr>
            <a:xfrm>
              <a:off x="5292" y="3138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34" name="Text Box 39"/>
            <p:cNvSpPr txBox="1"/>
            <p:nvPr/>
          </p:nvSpPr>
          <p:spPr>
            <a:xfrm>
              <a:off x="3900" y="3138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35" name="Text Box 40"/>
            <p:cNvSpPr txBox="1"/>
            <p:nvPr/>
          </p:nvSpPr>
          <p:spPr>
            <a:xfrm>
              <a:off x="3524" y="3138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36" name="Text Box 41"/>
            <p:cNvSpPr txBox="1"/>
            <p:nvPr/>
          </p:nvSpPr>
          <p:spPr>
            <a:xfrm>
              <a:off x="2421" y="2127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37" name="Text Box 42"/>
            <p:cNvSpPr txBox="1"/>
            <p:nvPr/>
          </p:nvSpPr>
          <p:spPr>
            <a:xfrm>
              <a:off x="2776" y="2127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38" name="Text Box 43"/>
            <p:cNvSpPr txBox="1"/>
            <p:nvPr/>
          </p:nvSpPr>
          <p:spPr>
            <a:xfrm>
              <a:off x="3172" y="2127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39" name="Text Box 44"/>
            <p:cNvSpPr txBox="1"/>
            <p:nvPr/>
          </p:nvSpPr>
          <p:spPr>
            <a:xfrm>
              <a:off x="3467" y="2127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40" name="Text Box 45"/>
            <p:cNvSpPr txBox="1"/>
            <p:nvPr/>
          </p:nvSpPr>
          <p:spPr>
            <a:xfrm>
              <a:off x="2092" y="2127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41" name="Text Box 46"/>
            <p:cNvSpPr txBox="1"/>
            <p:nvPr/>
          </p:nvSpPr>
          <p:spPr>
            <a:xfrm>
              <a:off x="1716" y="2127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42" name="Text Box 47"/>
            <p:cNvSpPr txBox="1"/>
            <p:nvPr/>
          </p:nvSpPr>
          <p:spPr>
            <a:xfrm>
              <a:off x="2768" y="2330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43" name="Text Box 48"/>
            <p:cNvSpPr txBox="1"/>
            <p:nvPr/>
          </p:nvSpPr>
          <p:spPr>
            <a:xfrm>
              <a:off x="3148" y="2330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44" name="Text Box 49"/>
            <p:cNvSpPr txBox="1"/>
            <p:nvPr/>
          </p:nvSpPr>
          <p:spPr>
            <a:xfrm>
              <a:off x="3520" y="2330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45" name="Text Box 50"/>
            <p:cNvSpPr txBox="1"/>
            <p:nvPr/>
          </p:nvSpPr>
          <p:spPr>
            <a:xfrm>
              <a:off x="3852" y="2330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46" name="Text Box 51"/>
            <p:cNvSpPr txBox="1"/>
            <p:nvPr/>
          </p:nvSpPr>
          <p:spPr>
            <a:xfrm>
              <a:off x="2449" y="2330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47" name="Text Box 52"/>
            <p:cNvSpPr txBox="1"/>
            <p:nvPr/>
          </p:nvSpPr>
          <p:spPr>
            <a:xfrm>
              <a:off x="2100" y="2330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48" name="Text Box 53"/>
            <p:cNvSpPr txBox="1"/>
            <p:nvPr/>
          </p:nvSpPr>
          <p:spPr>
            <a:xfrm>
              <a:off x="3140" y="2533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49" name="Text Box 54"/>
            <p:cNvSpPr txBox="1"/>
            <p:nvPr/>
          </p:nvSpPr>
          <p:spPr>
            <a:xfrm>
              <a:off x="3496" y="2533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50" name="Text Box 55"/>
            <p:cNvSpPr txBox="1"/>
            <p:nvPr/>
          </p:nvSpPr>
          <p:spPr>
            <a:xfrm>
              <a:off x="3904" y="2533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51" name="Text Box 56"/>
            <p:cNvSpPr txBox="1"/>
            <p:nvPr/>
          </p:nvSpPr>
          <p:spPr>
            <a:xfrm>
              <a:off x="4224" y="2533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52" name="Text Box 57"/>
            <p:cNvSpPr txBox="1"/>
            <p:nvPr/>
          </p:nvSpPr>
          <p:spPr>
            <a:xfrm>
              <a:off x="2796" y="2533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53" name="Text Box 58"/>
            <p:cNvSpPr txBox="1"/>
            <p:nvPr/>
          </p:nvSpPr>
          <p:spPr>
            <a:xfrm>
              <a:off x="2457" y="2533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54" name="Text Box 59"/>
            <p:cNvSpPr txBox="1"/>
            <p:nvPr/>
          </p:nvSpPr>
          <p:spPr>
            <a:xfrm>
              <a:off x="1284" y="1522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55" name="Text Box 60"/>
            <p:cNvSpPr txBox="1"/>
            <p:nvPr/>
          </p:nvSpPr>
          <p:spPr>
            <a:xfrm>
              <a:off x="1688" y="1522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56" name="Text Box 61"/>
            <p:cNvSpPr txBox="1"/>
            <p:nvPr/>
          </p:nvSpPr>
          <p:spPr>
            <a:xfrm>
              <a:off x="2096" y="1522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57" name="Text Box 62"/>
            <p:cNvSpPr txBox="1"/>
            <p:nvPr/>
          </p:nvSpPr>
          <p:spPr>
            <a:xfrm>
              <a:off x="2400" y="1522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58" name="Text Box 63"/>
            <p:cNvSpPr txBox="1"/>
            <p:nvPr/>
          </p:nvSpPr>
          <p:spPr>
            <a:xfrm>
              <a:off x="974" y="1522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59" name="Text Box 64"/>
            <p:cNvSpPr txBox="1"/>
            <p:nvPr/>
          </p:nvSpPr>
          <p:spPr>
            <a:xfrm>
              <a:off x="606" y="1522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60" name="Text Box 65"/>
            <p:cNvSpPr txBox="1"/>
            <p:nvPr/>
          </p:nvSpPr>
          <p:spPr>
            <a:xfrm>
              <a:off x="1680" y="1724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61" name="Text Box 66"/>
            <p:cNvSpPr txBox="1"/>
            <p:nvPr/>
          </p:nvSpPr>
          <p:spPr>
            <a:xfrm>
              <a:off x="2072" y="1724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62" name="Text Box 67"/>
            <p:cNvSpPr txBox="1"/>
            <p:nvPr/>
          </p:nvSpPr>
          <p:spPr>
            <a:xfrm>
              <a:off x="2453" y="1724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63" name="Text Box 68"/>
            <p:cNvSpPr txBox="1"/>
            <p:nvPr/>
          </p:nvSpPr>
          <p:spPr>
            <a:xfrm>
              <a:off x="2748" y="1724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64" name="Text Box 69"/>
            <p:cNvSpPr txBox="1"/>
            <p:nvPr/>
          </p:nvSpPr>
          <p:spPr>
            <a:xfrm>
              <a:off x="1312" y="1724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65" name="Text Box 70"/>
            <p:cNvSpPr txBox="1"/>
            <p:nvPr/>
          </p:nvSpPr>
          <p:spPr>
            <a:xfrm>
              <a:off x="982" y="1724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66" name="Text Box 71"/>
            <p:cNvSpPr txBox="1"/>
            <p:nvPr/>
          </p:nvSpPr>
          <p:spPr>
            <a:xfrm>
              <a:off x="2064" y="1926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CO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67" name="Text Box 72"/>
            <p:cNvSpPr txBox="1"/>
            <p:nvPr/>
          </p:nvSpPr>
          <p:spPr>
            <a:xfrm>
              <a:off x="2429" y="1926"/>
              <a:ext cx="31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68" name="Text Box 73"/>
            <p:cNvSpPr txBox="1"/>
            <p:nvPr/>
          </p:nvSpPr>
          <p:spPr>
            <a:xfrm>
              <a:off x="2800" y="1926"/>
              <a:ext cx="2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EI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69" name="Text Box 74"/>
            <p:cNvSpPr txBox="1"/>
            <p:nvPr/>
          </p:nvSpPr>
          <p:spPr>
            <a:xfrm>
              <a:off x="3120" y="1926"/>
              <a:ext cx="3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WO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7570" name="Text Box 75"/>
            <p:cNvSpPr txBox="1"/>
            <p:nvPr/>
          </p:nvSpPr>
          <p:spPr>
            <a:xfrm>
              <a:off x="1708" y="1926"/>
              <a:ext cx="2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71" name="Text Box 76"/>
            <p:cNvSpPr txBox="1"/>
            <p:nvPr/>
          </p:nvSpPr>
          <p:spPr>
            <a:xfrm>
              <a:off x="1320" y="1926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FI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72" name="Line 77"/>
            <p:cNvSpPr/>
            <p:nvPr/>
          </p:nvSpPr>
          <p:spPr>
            <a:xfrm>
              <a:off x="1988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73" name="Line 78"/>
            <p:cNvSpPr/>
            <p:nvPr/>
          </p:nvSpPr>
          <p:spPr>
            <a:xfrm>
              <a:off x="2354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74" name="Line 79"/>
            <p:cNvSpPr/>
            <p:nvPr/>
          </p:nvSpPr>
          <p:spPr>
            <a:xfrm>
              <a:off x="2720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75" name="Line 80"/>
            <p:cNvSpPr/>
            <p:nvPr/>
          </p:nvSpPr>
          <p:spPr>
            <a:xfrm>
              <a:off x="3086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76" name="Line 81"/>
            <p:cNvSpPr/>
            <p:nvPr/>
          </p:nvSpPr>
          <p:spPr>
            <a:xfrm>
              <a:off x="3452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77" name="Line 82"/>
            <p:cNvSpPr/>
            <p:nvPr/>
          </p:nvSpPr>
          <p:spPr>
            <a:xfrm>
              <a:off x="3818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78" name="Line 83"/>
            <p:cNvSpPr/>
            <p:nvPr/>
          </p:nvSpPr>
          <p:spPr>
            <a:xfrm>
              <a:off x="4184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79" name="Line 84"/>
            <p:cNvSpPr/>
            <p:nvPr/>
          </p:nvSpPr>
          <p:spPr>
            <a:xfrm>
              <a:off x="4550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0" name="Line 85"/>
            <p:cNvSpPr/>
            <p:nvPr/>
          </p:nvSpPr>
          <p:spPr>
            <a:xfrm>
              <a:off x="4916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1" name="Line 86"/>
            <p:cNvSpPr/>
            <p:nvPr/>
          </p:nvSpPr>
          <p:spPr>
            <a:xfrm>
              <a:off x="5282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2" name="Line 87"/>
            <p:cNvSpPr/>
            <p:nvPr/>
          </p:nvSpPr>
          <p:spPr>
            <a:xfrm>
              <a:off x="5648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3" name="Line 88"/>
            <p:cNvSpPr/>
            <p:nvPr/>
          </p:nvSpPr>
          <p:spPr>
            <a:xfrm>
              <a:off x="524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4" name="Line 89"/>
            <p:cNvSpPr/>
            <p:nvPr/>
          </p:nvSpPr>
          <p:spPr>
            <a:xfrm>
              <a:off x="890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5" name="Line 90"/>
            <p:cNvSpPr/>
            <p:nvPr/>
          </p:nvSpPr>
          <p:spPr>
            <a:xfrm>
              <a:off x="1256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6" name="Line 91"/>
            <p:cNvSpPr/>
            <p:nvPr/>
          </p:nvSpPr>
          <p:spPr>
            <a:xfrm>
              <a:off x="1622" y="1173"/>
              <a:ext cx="0" cy="2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7587" name="Freeform 92"/>
            <p:cNvSpPr/>
            <p:nvPr/>
          </p:nvSpPr>
          <p:spPr>
            <a:xfrm>
              <a:off x="517" y="1371"/>
              <a:ext cx="5128" cy="4"/>
            </a:xfrm>
            <a:custGeom>
              <a:avLst/>
              <a:gdLst>
                <a:gd name="txL" fmla="*/ 0 w 5380"/>
                <a:gd name="txT" fmla="*/ 0 h 4"/>
                <a:gd name="txR" fmla="*/ 5380 w 5380"/>
                <a:gd name="txB" fmla="*/ 4 h 4"/>
              </a:gdLst>
              <a:ahLst/>
              <a:cxnLst>
                <a:cxn ang="0">
                  <a:pos x="0" y="4"/>
                </a:cxn>
                <a:cxn ang="0">
                  <a:pos x="5380" y="0"/>
                </a:cxn>
              </a:cxnLst>
              <a:rect l="txL" t="txT" r="txR" b="txB"/>
              <a:pathLst>
                <a:path w="5380" h="4">
                  <a:moveTo>
                    <a:pt x="0" y="4"/>
                  </a:moveTo>
                  <a:lnTo>
                    <a:pt x="538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7588" name="Text Box 93"/>
            <p:cNvSpPr txBox="1"/>
            <p:nvPr/>
          </p:nvSpPr>
          <p:spPr>
            <a:xfrm>
              <a:off x="48" y="1522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89" name="Text Box 94"/>
            <p:cNvSpPr txBox="1"/>
            <p:nvPr/>
          </p:nvSpPr>
          <p:spPr>
            <a:xfrm>
              <a:off x="48" y="1724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2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0" name="Text Box 95"/>
            <p:cNvSpPr txBox="1"/>
            <p:nvPr/>
          </p:nvSpPr>
          <p:spPr>
            <a:xfrm>
              <a:off x="48" y="1926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1" name="Text Box 96"/>
            <p:cNvSpPr txBox="1"/>
            <p:nvPr/>
          </p:nvSpPr>
          <p:spPr>
            <a:xfrm>
              <a:off x="48" y="2127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4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2" name="Text Box 97"/>
            <p:cNvSpPr txBox="1"/>
            <p:nvPr/>
          </p:nvSpPr>
          <p:spPr>
            <a:xfrm>
              <a:off x="48" y="2330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3" name="Text Box 98"/>
            <p:cNvSpPr txBox="1"/>
            <p:nvPr/>
          </p:nvSpPr>
          <p:spPr>
            <a:xfrm>
              <a:off x="48" y="2533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6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4" name="Text Box 99"/>
            <p:cNvSpPr txBox="1"/>
            <p:nvPr/>
          </p:nvSpPr>
          <p:spPr>
            <a:xfrm>
              <a:off x="48" y="2734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7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5" name="Text Box 100"/>
            <p:cNvSpPr txBox="1"/>
            <p:nvPr/>
          </p:nvSpPr>
          <p:spPr>
            <a:xfrm>
              <a:off x="48" y="2937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8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6" name="Text Box 101"/>
            <p:cNvSpPr txBox="1"/>
            <p:nvPr/>
          </p:nvSpPr>
          <p:spPr>
            <a:xfrm>
              <a:off x="48" y="3138"/>
              <a:ext cx="5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 </a:t>
              </a:r>
              <a:r>
                <a:rPr lang="en-US" altLang="zh-CN" b="1" dirty="0">
                  <a:latin typeface="Times New Roman" panose="02020603050405020304" pitchFamily="18" charset="0"/>
                </a:rPr>
                <a:t>9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7" name="Line 102"/>
            <p:cNvSpPr/>
            <p:nvPr/>
          </p:nvSpPr>
          <p:spPr>
            <a:xfrm>
              <a:off x="528" y="999"/>
              <a:ext cx="21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7598" name="Text Box 103"/>
            <p:cNvSpPr txBox="1"/>
            <p:nvPr/>
          </p:nvSpPr>
          <p:spPr>
            <a:xfrm>
              <a:off x="566" y="1138"/>
              <a:ext cx="50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1        2       3       4       5        6       7       8       9       10     11     12    13      14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599" name="Text Box 104"/>
            <p:cNvSpPr txBox="1"/>
            <p:nvPr/>
          </p:nvSpPr>
          <p:spPr>
            <a:xfrm>
              <a:off x="2774" y="864"/>
              <a:ext cx="16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47600" name="Line 105"/>
            <p:cNvSpPr/>
            <p:nvPr/>
          </p:nvSpPr>
          <p:spPr>
            <a:xfrm>
              <a:off x="528" y="1719"/>
              <a:ext cx="2208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47601" name="Line 106"/>
            <p:cNvSpPr/>
            <p:nvPr/>
          </p:nvSpPr>
          <p:spPr>
            <a:xfrm>
              <a:off x="3456" y="3360"/>
              <a:ext cx="2208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</p:grpSp>
      <p:sp>
        <p:nvSpPr>
          <p:cNvPr id="447492" name="Rectangle 107"/>
          <p:cNvSpPr/>
          <p:nvPr/>
        </p:nvSpPr>
        <p:spPr>
          <a:xfrm>
            <a:off x="2133600" y="228600"/>
            <a:ext cx="5399088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三、影响指令流水线性能的因素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4348" name="Rectangle 108"/>
          <p:cNvSpPr/>
          <p:nvPr/>
        </p:nvSpPr>
        <p:spPr>
          <a:xfrm>
            <a:off x="2438400" y="908050"/>
            <a:ext cx="1828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</a:rPr>
              <a:t>结构相关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4349" name="Rectangle 10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4350" name="Rectangle 110"/>
          <p:cNvSpPr/>
          <p:nvPr/>
        </p:nvSpPr>
        <p:spPr>
          <a:xfrm>
            <a:off x="4367213" y="889000"/>
            <a:ext cx="6121400" cy="576263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不同指令争用同一功能部件产生资源冲突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4351" name="Rectangle 111"/>
          <p:cNvSpPr/>
          <p:nvPr/>
        </p:nvSpPr>
        <p:spPr>
          <a:xfrm>
            <a:off x="2667000" y="1066800"/>
            <a:ext cx="6934200" cy="900113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程序的相近指令之间出现某种关联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使指令流水出现停顿，影响流水线效率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4352" name="Rectangle 112"/>
          <p:cNvSpPr/>
          <p:nvPr/>
        </p:nvSpPr>
        <p:spPr>
          <a:xfrm>
            <a:off x="2819400" y="5445125"/>
            <a:ext cx="1828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解决办法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4353" name="Rectangle 113"/>
          <p:cNvSpPr/>
          <p:nvPr/>
        </p:nvSpPr>
        <p:spPr>
          <a:xfrm>
            <a:off x="4495800" y="5445125"/>
            <a:ext cx="1023938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</a:rPr>
              <a:t>停顿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94354" name="Rectangle 114"/>
          <p:cNvSpPr/>
          <p:nvPr/>
        </p:nvSpPr>
        <p:spPr>
          <a:xfrm>
            <a:off x="4495800" y="5876925"/>
            <a:ext cx="3657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</a:rPr>
              <a:t>指令存储器和数据存储器分开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47500" name="AutoShape 11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4356" name="Rectangle 116"/>
          <p:cNvSpPr/>
          <p:nvPr/>
        </p:nvSpPr>
        <p:spPr>
          <a:xfrm>
            <a:off x="4495800" y="6308725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</a:rPr>
              <a:t>指令预取技术 （适用于访存周期短的情况）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47502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4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348" grpId="0"/>
      <p:bldP spid="394350" grpId="0"/>
      <p:bldP spid="394351" grpId="0"/>
      <p:bldP spid="394352" grpId="0"/>
      <p:bldP spid="394353" grpId="0"/>
      <p:bldP spid="394354" grpId="0"/>
      <p:bldP spid="39435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8514" name="Rectangle 2"/>
          <p:cNvSpPr/>
          <p:nvPr/>
        </p:nvSpPr>
        <p:spPr>
          <a:xfrm>
            <a:off x="1905000" y="228600"/>
            <a:ext cx="5846763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</a:t>
            </a:r>
            <a:r>
              <a:rPr lang="zh-CN" altLang="en-US" sz="3200" b="1" dirty="0">
                <a:latin typeface="Times New Roman" panose="02020603050405020304" pitchFamily="18" charset="0"/>
              </a:rPr>
              <a:t>数据相关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95267" name="Text Box 3"/>
          <p:cNvSpPr txBox="1"/>
          <p:nvPr/>
        </p:nvSpPr>
        <p:spPr>
          <a:xfrm>
            <a:off x="2438400" y="1098550"/>
            <a:ext cx="876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不同指令因重叠操作，可能改变操作数的 读</a:t>
            </a:r>
            <a:r>
              <a:rPr lang="en-US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</a:rPr>
              <a:t>写 访问顺序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5268" name="Rectangle 4"/>
          <p:cNvSpPr/>
          <p:nvPr/>
        </p:nvSpPr>
        <p:spPr>
          <a:xfrm>
            <a:off x="6240463" y="6237288"/>
            <a:ext cx="3124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采用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旁路技术  见书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351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5269" name="Text Box 5"/>
          <p:cNvSpPr txBox="1"/>
          <p:nvPr/>
        </p:nvSpPr>
        <p:spPr>
          <a:xfrm>
            <a:off x="2711450" y="6237288"/>
            <a:ext cx="1828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解决办法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95270" name="Rectangle 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71" name="Text Box 7"/>
          <p:cNvSpPr txBox="1"/>
          <p:nvPr/>
        </p:nvSpPr>
        <p:spPr>
          <a:xfrm>
            <a:off x="2424113" y="1700213"/>
            <a:ext cx="876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写后读相关（</a:t>
            </a:r>
            <a:r>
              <a:rPr lang="en-US" altLang="zh-CN" sz="2400" b="1" dirty="0">
                <a:latin typeface="Times New Roman" panose="02020603050405020304" pitchFamily="18" charset="0"/>
              </a:rPr>
              <a:t>RAW</a:t>
            </a:r>
            <a:r>
              <a:rPr lang="zh-CN" altLang="en-US" sz="2400" b="1" dirty="0">
                <a:latin typeface="Times New Roman" panose="02020603050405020304" pitchFamily="18" charset="0"/>
              </a:rPr>
              <a:t>）       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见书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350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页表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8.4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216275" y="2176463"/>
            <a:ext cx="6840538" cy="965200"/>
            <a:chOff x="1066" y="1371"/>
            <a:chExt cx="4309" cy="608"/>
          </a:xfrm>
        </p:grpSpPr>
        <p:sp>
          <p:nvSpPr>
            <p:cNvPr id="448543" name="Rectangle 9"/>
            <p:cNvSpPr/>
            <p:nvPr/>
          </p:nvSpPr>
          <p:spPr>
            <a:xfrm>
              <a:off x="1066" y="1371"/>
              <a:ext cx="19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SUB 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44" name="Rectangle 10"/>
            <p:cNvSpPr/>
            <p:nvPr/>
          </p:nvSpPr>
          <p:spPr>
            <a:xfrm>
              <a:off x="1066" y="1643"/>
              <a:ext cx="187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ADD   R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4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45" name="Rectangle 11"/>
            <p:cNvSpPr/>
            <p:nvPr/>
          </p:nvSpPr>
          <p:spPr>
            <a:xfrm>
              <a:off x="3149" y="1371"/>
              <a:ext cx="22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；（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  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46" name="Rectangle 12"/>
            <p:cNvSpPr/>
            <p:nvPr/>
          </p:nvSpPr>
          <p:spPr>
            <a:xfrm>
              <a:off x="3149" y="1643"/>
              <a:ext cx="204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；（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47" name="Line 13"/>
            <p:cNvSpPr/>
            <p:nvPr/>
          </p:nvSpPr>
          <p:spPr>
            <a:xfrm>
              <a:off x="4554" y="1507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8548" name="Line 14"/>
            <p:cNvSpPr/>
            <p:nvPr/>
          </p:nvSpPr>
          <p:spPr>
            <a:xfrm>
              <a:off x="3913" y="1507"/>
              <a:ext cx="1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8549" name="Line 15"/>
            <p:cNvSpPr/>
            <p:nvPr/>
          </p:nvSpPr>
          <p:spPr>
            <a:xfrm>
              <a:off x="4554" y="1813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95280" name="Text Box 16"/>
          <p:cNvSpPr txBox="1"/>
          <p:nvPr/>
        </p:nvSpPr>
        <p:spPr>
          <a:xfrm>
            <a:off x="2424113" y="3213100"/>
            <a:ext cx="876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读后写相关（</a:t>
            </a:r>
            <a:r>
              <a:rPr lang="en-US" altLang="zh-CN" sz="2400" b="1" dirty="0">
                <a:latin typeface="Times New Roman" panose="02020603050405020304" pitchFamily="18" charset="0"/>
              </a:rPr>
              <a:t>WAR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3216275" y="3687763"/>
            <a:ext cx="7451725" cy="965200"/>
            <a:chOff x="1066" y="2323"/>
            <a:chExt cx="4694" cy="608"/>
          </a:xfrm>
        </p:grpSpPr>
        <p:sp>
          <p:nvSpPr>
            <p:cNvPr id="448537" name="Rectangle 18"/>
            <p:cNvSpPr/>
            <p:nvPr/>
          </p:nvSpPr>
          <p:spPr>
            <a:xfrm>
              <a:off x="1066" y="2323"/>
              <a:ext cx="19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STA    M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38" name="Rectangle 19"/>
            <p:cNvSpPr/>
            <p:nvPr/>
          </p:nvSpPr>
          <p:spPr>
            <a:xfrm>
              <a:off x="1066" y="2595"/>
              <a:ext cx="187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ADD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39" name="Rectangle 20"/>
            <p:cNvSpPr/>
            <p:nvPr/>
          </p:nvSpPr>
          <p:spPr>
            <a:xfrm>
              <a:off x="3149" y="2323"/>
              <a:ext cx="26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；（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M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存储单元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40" name="Rectangle 21"/>
            <p:cNvSpPr/>
            <p:nvPr/>
          </p:nvSpPr>
          <p:spPr>
            <a:xfrm>
              <a:off x="3149" y="2595"/>
              <a:ext cx="204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；（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 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8541" name="Line 22"/>
            <p:cNvSpPr/>
            <p:nvPr/>
          </p:nvSpPr>
          <p:spPr>
            <a:xfrm>
              <a:off x="3923" y="2459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8542" name="Line 23"/>
            <p:cNvSpPr/>
            <p:nvPr/>
          </p:nvSpPr>
          <p:spPr>
            <a:xfrm>
              <a:off x="4572" y="2765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395288" name="Text Box 24"/>
          <p:cNvSpPr txBox="1"/>
          <p:nvPr/>
        </p:nvSpPr>
        <p:spPr>
          <a:xfrm>
            <a:off x="2424113" y="4652963"/>
            <a:ext cx="876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写后写相关（</a:t>
            </a:r>
            <a:r>
              <a:rPr lang="en-US" altLang="zh-CN" sz="2400" b="1" dirty="0">
                <a:latin typeface="Times New Roman" panose="02020603050405020304" pitchFamily="18" charset="0"/>
              </a:rPr>
              <a:t>WAW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5289" name="Rectangle 25"/>
          <p:cNvSpPr/>
          <p:nvPr/>
        </p:nvSpPr>
        <p:spPr>
          <a:xfrm>
            <a:off x="4627563" y="6237288"/>
            <a:ext cx="3124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后推法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26"/>
          <p:cNvGrpSpPr/>
          <p:nvPr/>
        </p:nvGrpSpPr>
        <p:grpSpPr>
          <a:xfrm>
            <a:off x="3216275" y="5157788"/>
            <a:ext cx="6983413" cy="965200"/>
            <a:chOff x="1066" y="3249"/>
            <a:chExt cx="4399" cy="608"/>
          </a:xfrm>
        </p:grpSpPr>
        <p:grpSp>
          <p:nvGrpSpPr>
            <p:cNvPr id="448529" name="Group 27"/>
            <p:cNvGrpSpPr/>
            <p:nvPr/>
          </p:nvGrpSpPr>
          <p:grpSpPr>
            <a:xfrm>
              <a:off x="1066" y="3249"/>
              <a:ext cx="4399" cy="608"/>
              <a:chOff x="1066" y="3249"/>
              <a:chExt cx="4399" cy="608"/>
            </a:xfrm>
          </p:grpSpPr>
          <p:sp>
            <p:nvSpPr>
              <p:cNvPr id="448531" name="Rectangle 28"/>
              <p:cNvSpPr/>
              <p:nvPr/>
            </p:nvSpPr>
            <p:spPr>
              <a:xfrm>
                <a:off x="1066" y="3249"/>
                <a:ext cx="192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MUL    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8532" name="Rectangle 29"/>
              <p:cNvSpPr/>
              <p:nvPr/>
            </p:nvSpPr>
            <p:spPr>
              <a:xfrm>
                <a:off x="1066" y="3521"/>
                <a:ext cx="1872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SUB     </a:t>
                </a:r>
                <a:r>
                  <a:rPr lang="en-US" altLang="zh-CN" sz="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8533" name="Rectangle 30"/>
              <p:cNvSpPr/>
              <p:nvPr/>
            </p:nvSpPr>
            <p:spPr>
              <a:xfrm>
                <a:off x="3149" y="3249"/>
                <a:ext cx="222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；（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）</a:t>
                </a:r>
                <a:r>
                  <a:rPr lang="zh-CN" altLang="zh-CN" sz="1600" b="1" dirty="0">
                    <a:latin typeface="Times New Roman" panose="02020603050405020304" pitchFamily="18" charset="0"/>
                  </a:rPr>
                  <a:t>×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）     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8534" name="Rectangle 31"/>
              <p:cNvSpPr/>
              <p:nvPr/>
            </p:nvSpPr>
            <p:spPr>
              <a:xfrm>
                <a:off x="3149" y="3521"/>
                <a:ext cx="23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；（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）    （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）    </a:t>
                </a:r>
                <a:r>
                  <a:rPr lang="zh-CN" altLang="en-US" sz="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8535" name="Line 32"/>
              <p:cNvSpPr/>
              <p:nvPr/>
            </p:nvSpPr>
            <p:spPr>
              <a:xfrm>
                <a:off x="4658" y="3385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48536" name="Line 33"/>
              <p:cNvSpPr/>
              <p:nvPr/>
            </p:nvSpPr>
            <p:spPr>
              <a:xfrm>
                <a:off x="4658" y="3691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448530" name="Line 34"/>
            <p:cNvSpPr/>
            <p:nvPr/>
          </p:nvSpPr>
          <p:spPr>
            <a:xfrm>
              <a:off x="3947" y="3691"/>
              <a:ext cx="1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8526" name="AutoShape 3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8527" name="Rectangle 36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448528" name="日期占位符 5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7" grpId="0"/>
      <p:bldP spid="395268" grpId="0"/>
      <p:bldP spid="395269" grpId="0"/>
      <p:bldP spid="395271" grpId="0"/>
      <p:bldP spid="395280" grpId="0"/>
      <p:bldP spid="395288" grpId="0"/>
      <p:bldP spid="39528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9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4495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449540" name="Picture 4" descr="arch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609600"/>
            <a:ext cx="7467600" cy="5864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954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62" name="Rectangle 2"/>
          <p:cNvSpPr/>
          <p:nvPr/>
        </p:nvSpPr>
        <p:spPr>
          <a:xfrm>
            <a:off x="2133600" y="333375"/>
            <a:ext cx="5181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控制相关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96291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0564" name="Group 4"/>
          <p:cNvGrpSpPr/>
          <p:nvPr/>
        </p:nvGrpSpPr>
        <p:grpSpPr>
          <a:xfrm>
            <a:off x="2716213" y="1916113"/>
            <a:ext cx="6656387" cy="3524250"/>
            <a:chOff x="751" y="1334"/>
            <a:chExt cx="4193" cy="2220"/>
          </a:xfrm>
        </p:grpSpPr>
        <p:sp>
          <p:nvSpPr>
            <p:cNvPr id="450568" name="Rectangle 5"/>
            <p:cNvSpPr/>
            <p:nvPr/>
          </p:nvSpPr>
          <p:spPr>
            <a:xfrm>
              <a:off x="3120" y="2160"/>
              <a:ext cx="1824" cy="5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BNE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指令必须等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CPX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指令的结果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才能判断出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是转移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还是顺序执行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0569" name="Group 6"/>
            <p:cNvGrpSpPr/>
            <p:nvPr/>
          </p:nvGrpSpPr>
          <p:grpSpPr>
            <a:xfrm>
              <a:off x="751" y="1334"/>
              <a:ext cx="1586" cy="2220"/>
              <a:chOff x="2352" y="1267"/>
              <a:chExt cx="1586" cy="2220"/>
            </a:xfrm>
          </p:grpSpPr>
          <p:sp>
            <p:nvSpPr>
              <p:cNvPr id="450570" name="Text Box 7"/>
              <p:cNvSpPr txBox="1"/>
              <p:nvPr/>
            </p:nvSpPr>
            <p:spPr>
              <a:xfrm>
                <a:off x="2879" y="1267"/>
                <a:ext cx="91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LDA     # 0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571" name="Text Box 8"/>
              <p:cNvSpPr txBox="1"/>
              <p:nvPr/>
            </p:nvSpPr>
            <p:spPr>
              <a:xfrm>
                <a:off x="2879" y="1544"/>
                <a:ext cx="92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LDX     # 0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572" name="Text Box 9"/>
              <p:cNvSpPr txBox="1"/>
              <p:nvPr/>
            </p:nvSpPr>
            <p:spPr>
              <a:xfrm>
                <a:off x="2879" y="2104"/>
                <a:ext cx="43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INX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573" name="Text Box 10"/>
              <p:cNvSpPr txBox="1"/>
              <p:nvPr/>
            </p:nvSpPr>
            <p:spPr>
              <a:xfrm>
                <a:off x="2879" y="2382"/>
                <a:ext cx="10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CPX      # N</a:t>
                </a:r>
                <a:endPara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574" name="Text Box 11"/>
              <p:cNvSpPr txBox="1"/>
              <p:nvPr/>
            </p:nvSpPr>
            <p:spPr>
              <a:xfrm>
                <a:off x="2879" y="2660"/>
                <a:ext cx="90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BNE      M</a:t>
                </a:r>
                <a:endPara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575" name="Text Box 12"/>
              <p:cNvSpPr txBox="1"/>
              <p:nvPr/>
            </p:nvSpPr>
            <p:spPr>
              <a:xfrm>
                <a:off x="2879" y="2938"/>
                <a:ext cx="100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DIV       # N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576" name="Text Box 13"/>
              <p:cNvSpPr txBox="1"/>
              <p:nvPr/>
            </p:nvSpPr>
            <p:spPr>
              <a:xfrm>
                <a:off x="2879" y="3216"/>
                <a:ext cx="1041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STA      ANS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0577" name="Group 14"/>
              <p:cNvGrpSpPr/>
              <p:nvPr/>
            </p:nvGrpSpPr>
            <p:grpSpPr>
              <a:xfrm>
                <a:off x="2496" y="1822"/>
                <a:ext cx="1442" cy="275"/>
                <a:chOff x="2496" y="1756"/>
                <a:chExt cx="1442" cy="275"/>
              </a:xfrm>
            </p:grpSpPr>
            <p:sp>
              <p:nvSpPr>
                <p:cNvPr id="450579" name="Text Box 15"/>
                <p:cNvSpPr txBox="1"/>
                <p:nvPr/>
              </p:nvSpPr>
              <p:spPr>
                <a:xfrm>
                  <a:off x="2879" y="1760"/>
                  <a:ext cx="1059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200" b="1" dirty="0">
                      <a:latin typeface="Times New Roman" panose="02020603050405020304" pitchFamily="18" charset="0"/>
                    </a:rPr>
                    <a:t>ADD     X, D</a:t>
                  </a:r>
                  <a:endParaRPr lang="en-US" altLang="zh-CN" sz="2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0580" name="Text Box 16"/>
                <p:cNvSpPr txBox="1"/>
                <p:nvPr/>
              </p:nvSpPr>
              <p:spPr>
                <a:xfrm>
                  <a:off x="2496" y="1756"/>
                  <a:ext cx="281" cy="27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200" b="1" dirty="0">
                      <a:latin typeface="Times New Roman" panose="02020603050405020304" pitchFamily="18" charset="0"/>
                    </a:rPr>
                    <a:t>M</a:t>
                  </a:r>
                  <a:endParaRPr lang="en-US" altLang="zh-CN" sz="2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0578" name="Freeform 17"/>
              <p:cNvSpPr/>
              <p:nvPr/>
            </p:nvSpPr>
            <p:spPr>
              <a:xfrm>
                <a:off x="2352" y="1968"/>
                <a:ext cx="528" cy="816"/>
              </a:xfrm>
              <a:custGeom>
                <a:avLst/>
                <a:gdLst>
                  <a:gd name="txL" fmla="*/ 0 w 528"/>
                  <a:gd name="txT" fmla="*/ 0 h 816"/>
                  <a:gd name="txR" fmla="*/ 528 w 528"/>
                  <a:gd name="txB" fmla="*/ 816 h 816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816"/>
                  </a:cxn>
                  <a:cxn ang="0">
                    <a:pos x="528" y="816"/>
                  </a:cxn>
                </a:cxnLst>
                <a:rect l="txL" t="txT" r="txR" b="txB"/>
                <a:pathLst>
                  <a:path w="528" h="816">
                    <a:moveTo>
                      <a:pt x="144" y="0"/>
                    </a:moveTo>
                    <a:lnTo>
                      <a:pt x="0" y="0"/>
                    </a:lnTo>
                    <a:lnTo>
                      <a:pt x="0" y="816"/>
                    </a:lnTo>
                    <a:lnTo>
                      <a:pt x="528" y="8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50565" name="Rectangle 18"/>
          <p:cNvSpPr/>
          <p:nvPr/>
        </p:nvSpPr>
        <p:spPr>
          <a:xfrm>
            <a:off x="3084513" y="1196975"/>
            <a:ext cx="358775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由转移指令引起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0566" name="AutoShape 1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056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1586" name="Rectangle 2"/>
          <p:cNvSpPr/>
          <p:nvPr/>
        </p:nvSpPr>
        <p:spPr>
          <a:xfrm>
            <a:off x="2133600" y="228600"/>
            <a:ext cx="6553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控制相 关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97315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1588" name="Group 4"/>
          <p:cNvGrpSpPr/>
          <p:nvPr/>
        </p:nvGrpSpPr>
        <p:grpSpPr>
          <a:xfrm>
            <a:off x="1595438" y="1066800"/>
            <a:ext cx="8996362" cy="5257801"/>
            <a:chOff x="45" y="672"/>
            <a:chExt cx="5667" cy="3312"/>
          </a:xfrm>
        </p:grpSpPr>
        <p:grpSp>
          <p:nvGrpSpPr>
            <p:cNvPr id="451591" name="Group 5"/>
            <p:cNvGrpSpPr/>
            <p:nvPr/>
          </p:nvGrpSpPr>
          <p:grpSpPr>
            <a:xfrm>
              <a:off x="45" y="1152"/>
              <a:ext cx="5667" cy="2832"/>
              <a:chOff x="45" y="1152"/>
              <a:chExt cx="5667" cy="2832"/>
            </a:xfrm>
          </p:grpSpPr>
          <p:sp>
            <p:nvSpPr>
              <p:cNvPr id="451593" name="Text Box 6"/>
              <p:cNvSpPr txBox="1"/>
              <p:nvPr/>
            </p:nvSpPr>
            <p:spPr>
              <a:xfrm>
                <a:off x="5338" y="3560"/>
                <a:ext cx="37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WO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594" name="Text Box 7"/>
              <p:cNvSpPr txBox="1"/>
              <p:nvPr/>
            </p:nvSpPr>
            <p:spPr>
              <a:xfrm>
                <a:off x="5041" y="3560"/>
                <a:ext cx="26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EI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595" name="Text Box 8"/>
              <p:cNvSpPr txBox="1"/>
              <p:nvPr/>
            </p:nvSpPr>
            <p:spPr>
              <a:xfrm>
                <a:off x="4653" y="3560"/>
                <a:ext cx="31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596" name="Text Box 9"/>
              <p:cNvSpPr txBox="1"/>
              <p:nvPr/>
            </p:nvSpPr>
            <p:spPr>
              <a:xfrm>
                <a:off x="4272" y="3560"/>
                <a:ext cx="3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CO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597" name="Text Box 10"/>
              <p:cNvSpPr txBox="1"/>
              <p:nvPr/>
            </p:nvSpPr>
            <p:spPr>
              <a:xfrm>
                <a:off x="3913" y="3560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598" name="Text Box 11"/>
              <p:cNvSpPr txBox="1"/>
              <p:nvPr/>
            </p:nvSpPr>
            <p:spPr>
              <a:xfrm>
                <a:off x="4989" y="3343"/>
                <a:ext cx="37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WO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599" name="Text Box 12"/>
              <p:cNvSpPr txBox="1"/>
              <p:nvPr/>
            </p:nvSpPr>
            <p:spPr>
              <a:xfrm>
                <a:off x="4677" y="3343"/>
                <a:ext cx="26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EI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0" name="Text Box 13"/>
              <p:cNvSpPr txBox="1"/>
              <p:nvPr/>
            </p:nvSpPr>
            <p:spPr>
              <a:xfrm>
                <a:off x="4280" y="3343"/>
                <a:ext cx="31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FO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1" name="Text Box 14"/>
              <p:cNvSpPr txBox="1"/>
              <p:nvPr/>
            </p:nvSpPr>
            <p:spPr>
              <a:xfrm>
                <a:off x="3564" y="3343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2" name="Text Box 15"/>
              <p:cNvSpPr txBox="1"/>
              <p:nvPr/>
            </p:nvSpPr>
            <p:spPr>
              <a:xfrm>
                <a:off x="3213" y="3343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3" name="Text Box 16"/>
              <p:cNvSpPr txBox="1"/>
              <p:nvPr/>
            </p:nvSpPr>
            <p:spPr>
              <a:xfrm>
                <a:off x="2837" y="3126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4" name="Text Box 17"/>
              <p:cNvSpPr txBox="1"/>
              <p:nvPr/>
            </p:nvSpPr>
            <p:spPr>
              <a:xfrm>
                <a:off x="2829" y="2908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5" name="Text Box 18"/>
              <p:cNvSpPr txBox="1"/>
              <p:nvPr/>
            </p:nvSpPr>
            <p:spPr>
              <a:xfrm>
                <a:off x="2468" y="2908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6" name="Text Box 19"/>
              <p:cNvSpPr txBox="1"/>
              <p:nvPr/>
            </p:nvSpPr>
            <p:spPr>
              <a:xfrm>
                <a:off x="2801" y="2691"/>
                <a:ext cx="3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CO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7" name="Text Box 20"/>
              <p:cNvSpPr txBox="1"/>
              <p:nvPr/>
            </p:nvSpPr>
            <p:spPr>
              <a:xfrm>
                <a:off x="2104" y="2691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8" name="Text Box 21"/>
              <p:cNvSpPr txBox="1"/>
              <p:nvPr/>
            </p:nvSpPr>
            <p:spPr>
              <a:xfrm>
                <a:off x="2809" y="2472"/>
                <a:ext cx="31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09" name="Text Box 22"/>
              <p:cNvSpPr txBox="1"/>
              <p:nvPr/>
            </p:nvSpPr>
            <p:spPr>
              <a:xfrm>
                <a:off x="2432" y="2472"/>
                <a:ext cx="3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CO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0" name="Text Box 23"/>
              <p:cNvSpPr txBox="1"/>
              <p:nvPr/>
            </p:nvSpPr>
            <p:spPr>
              <a:xfrm>
                <a:off x="2096" y="2472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1" name="Text Box 24"/>
              <p:cNvSpPr txBox="1"/>
              <p:nvPr/>
            </p:nvSpPr>
            <p:spPr>
              <a:xfrm>
                <a:off x="1733" y="2472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2" name="Text Box 25"/>
              <p:cNvSpPr txBox="1"/>
              <p:nvPr/>
            </p:nvSpPr>
            <p:spPr>
              <a:xfrm>
                <a:off x="3165" y="2254"/>
                <a:ext cx="37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WO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3" name="Text Box 26"/>
              <p:cNvSpPr txBox="1"/>
              <p:nvPr/>
            </p:nvSpPr>
            <p:spPr>
              <a:xfrm>
                <a:off x="2833" y="2254"/>
                <a:ext cx="26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EI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4" name="Text Box 27"/>
              <p:cNvSpPr txBox="1"/>
              <p:nvPr/>
            </p:nvSpPr>
            <p:spPr>
              <a:xfrm>
                <a:off x="2440" y="2254"/>
                <a:ext cx="31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5" name="Text Box 28"/>
              <p:cNvSpPr txBox="1"/>
              <p:nvPr/>
            </p:nvSpPr>
            <p:spPr>
              <a:xfrm>
                <a:off x="2068" y="2254"/>
                <a:ext cx="3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CO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6" name="Text Box 29"/>
              <p:cNvSpPr txBox="1"/>
              <p:nvPr/>
            </p:nvSpPr>
            <p:spPr>
              <a:xfrm>
                <a:off x="1725" y="2254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7" name="Text Box 30"/>
              <p:cNvSpPr txBox="1"/>
              <p:nvPr/>
            </p:nvSpPr>
            <p:spPr>
              <a:xfrm>
                <a:off x="1395" y="2254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8" name="Text Box 31"/>
              <p:cNvSpPr txBox="1"/>
              <p:nvPr/>
            </p:nvSpPr>
            <p:spPr>
              <a:xfrm>
                <a:off x="1387" y="2035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19" name="Text Box 32"/>
              <p:cNvSpPr txBox="1"/>
              <p:nvPr/>
            </p:nvSpPr>
            <p:spPr>
              <a:xfrm>
                <a:off x="2076" y="2035"/>
                <a:ext cx="31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20" name="Text Box 33"/>
              <p:cNvSpPr txBox="1"/>
              <p:nvPr/>
            </p:nvSpPr>
            <p:spPr>
              <a:xfrm>
                <a:off x="2464" y="2035"/>
                <a:ext cx="26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EI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21" name="Text Box 34"/>
              <p:cNvSpPr txBox="1"/>
              <p:nvPr/>
            </p:nvSpPr>
            <p:spPr>
              <a:xfrm>
                <a:off x="2781" y="2035"/>
                <a:ext cx="37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WO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22" name="Text Box 35"/>
              <p:cNvSpPr txBox="1"/>
              <p:nvPr/>
            </p:nvSpPr>
            <p:spPr>
              <a:xfrm>
                <a:off x="2100" y="1818"/>
                <a:ext cx="26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EI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23" name="Text Box 36"/>
              <p:cNvSpPr txBox="1"/>
              <p:nvPr/>
            </p:nvSpPr>
            <p:spPr>
              <a:xfrm>
                <a:off x="1705" y="1818"/>
                <a:ext cx="31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24" name="Line 37"/>
              <p:cNvSpPr/>
              <p:nvPr/>
            </p:nvSpPr>
            <p:spPr>
              <a:xfrm>
                <a:off x="2052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25" name="Line 38"/>
              <p:cNvSpPr/>
              <p:nvPr/>
            </p:nvSpPr>
            <p:spPr>
              <a:xfrm>
                <a:off x="2418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26" name="Line 39"/>
              <p:cNvSpPr/>
              <p:nvPr/>
            </p:nvSpPr>
            <p:spPr>
              <a:xfrm>
                <a:off x="2784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27" name="Line 40"/>
              <p:cNvSpPr/>
              <p:nvPr/>
            </p:nvSpPr>
            <p:spPr>
              <a:xfrm>
                <a:off x="3150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28" name="Line 41"/>
              <p:cNvSpPr/>
              <p:nvPr/>
            </p:nvSpPr>
            <p:spPr>
              <a:xfrm>
                <a:off x="3516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29" name="Line 42"/>
              <p:cNvSpPr/>
              <p:nvPr/>
            </p:nvSpPr>
            <p:spPr>
              <a:xfrm>
                <a:off x="3882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0" name="Line 43"/>
              <p:cNvSpPr/>
              <p:nvPr/>
            </p:nvSpPr>
            <p:spPr>
              <a:xfrm>
                <a:off x="4248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1" name="Line 44"/>
              <p:cNvSpPr/>
              <p:nvPr/>
            </p:nvSpPr>
            <p:spPr>
              <a:xfrm>
                <a:off x="4614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2" name="Line 45"/>
              <p:cNvSpPr/>
              <p:nvPr/>
            </p:nvSpPr>
            <p:spPr>
              <a:xfrm>
                <a:off x="4980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3" name="Line 46"/>
              <p:cNvSpPr/>
              <p:nvPr/>
            </p:nvSpPr>
            <p:spPr>
              <a:xfrm>
                <a:off x="5346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4" name="Line 47"/>
              <p:cNvSpPr/>
              <p:nvPr/>
            </p:nvSpPr>
            <p:spPr>
              <a:xfrm>
                <a:off x="5712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5" name="Line 48"/>
              <p:cNvSpPr/>
              <p:nvPr/>
            </p:nvSpPr>
            <p:spPr>
              <a:xfrm>
                <a:off x="588" y="1766"/>
                <a:ext cx="0" cy="196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6" name="Line 49"/>
              <p:cNvSpPr/>
              <p:nvPr/>
            </p:nvSpPr>
            <p:spPr>
              <a:xfrm>
                <a:off x="954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7" name="Line 50"/>
              <p:cNvSpPr/>
              <p:nvPr/>
            </p:nvSpPr>
            <p:spPr>
              <a:xfrm>
                <a:off x="1320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8" name="Line 51"/>
              <p:cNvSpPr/>
              <p:nvPr/>
            </p:nvSpPr>
            <p:spPr>
              <a:xfrm>
                <a:off x="1686" y="1766"/>
                <a:ext cx="0" cy="19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51639" name="Text Box 52"/>
              <p:cNvSpPr txBox="1"/>
              <p:nvPr/>
            </p:nvSpPr>
            <p:spPr>
              <a:xfrm>
                <a:off x="3885" y="3343"/>
                <a:ext cx="3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CO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0" name="Text Box 53"/>
              <p:cNvSpPr txBox="1"/>
              <p:nvPr/>
            </p:nvSpPr>
            <p:spPr>
              <a:xfrm>
                <a:off x="3572" y="3560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1" name="Text Box 54"/>
              <p:cNvSpPr txBox="1"/>
              <p:nvPr/>
            </p:nvSpPr>
            <p:spPr>
              <a:xfrm>
                <a:off x="2460" y="2691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2" name="Text Box 55"/>
              <p:cNvSpPr txBox="1"/>
              <p:nvPr/>
            </p:nvSpPr>
            <p:spPr>
              <a:xfrm>
                <a:off x="1359" y="1818"/>
                <a:ext cx="3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CO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3" name="Text Box 56"/>
              <p:cNvSpPr txBox="1"/>
              <p:nvPr/>
            </p:nvSpPr>
            <p:spPr>
              <a:xfrm>
                <a:off x="2412" y="1818"/>
                <a:ext cx="37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WO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4" name="Text Box 57"/>
              <p:cNvSpPr txBox="1"/>
              <p:nvPr/>
            </p:nvSpPr>
            <p:spPr>
              <a:xfrm>
                <a:off x="1025" y="1818"/>
                <a:ext cx="27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5" name="Text Box 58"/>
              <p:cNvSpPr txBox="1"/>
              <p:nvPr/>
            </p:nvSpPr>
            <p:spPr>
              <a:xfrm>
                <a:off x="651" y="1818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6" name="Text Box 59"/>
              <p:cNvSpPr txBox="1"/>
              <p:nvPr/>
            </p:nvSpPr>
            <p:spPr>
              <a:xfrm>
                <a:off x="1697" y="2035"/>
                <a:ext cx="33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CO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7" name="Text Box 60"/>
              <p:cNvSpPr txBox="1"/>
              <p:nvPr/>
            </p:nvSpPr>
            <p:spPr>
              <a:xfrm>
                <a:off x="1033" y="2035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FI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48" name="Line 61"/>
              <p:cNvSpPr/>
              <p:nvPr/>
            </p:nvSpPr>
            <p:spPr>
              <a:xfrm>
                <a:off x="2033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49" name="Line 62"/>
              <p:cNvSpPr/>
              <p:nvPr/>
            </p:nvSpPr>
            <p:spPr>
              <a:xfrm>
                <a:off x="2399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0" name="Line 63"/>
              <p:cNvSpPr/>
              <p:nvPr/>
            </p:nvSpPr>
            <p:spPr>
              <a:xfrm>
                <a:off x="2765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1" name="Line 64"/>
              <p:cNvSpPr/>
              <p:nvPr/>
            </p:nvSpPr>
            <p:spPr>
              <a:xfrm>
                <a:off x="3131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2" name="Line 65"/>
              <p:cNvSpPr/>
              <p:nvPr/>
            </p:nvSpPr>
            <p:spPr>
              <a:xfrm>
                <a:off x="3497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3" name="Line 66"/>
              <p:cNvSpPr/>
              <p:nvPr/>
            </p:nvSpPr>
            <p:spPr>
              <a:xfrm>
                <a:off x="3863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4" name="Line 67"/>
              <p:cNvSpPr/>
              <p:nvPr/>
            </p:nvSpPr>
            <p:spPr>
              <a:xfrm>
                <a:off x="4229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5" name="Line 68"/>
              <p:cNvSpPr/>
              <p:nvPr/>
            </p:nvSpPr>
            <p:spPr>
              <a:xfrm>
                <a:off x="4595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6" name="Line 69"/>
              <p:cNvSpPr/>
              <p:nvPr/>
            </p:nvSpPr>
            <p:spPr>
              <a:xfrm>
                <a:off x="4961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7" name="Line 70"/>
              <p:cNvSpPr/>
              <p:nvPr/>
            </p:nvSpPr>
            <p:spPr>
              <a:xfrm>
                <a:off x="5327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8" name="Line 71"/>
              <p:cNvSpPr/>
              <p:nvPr/>
            </p:nvSpPr>
            <p:spPr>
              <a:xfrm>
                <a:off x="5693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59" name="Line 72"/>
              <p:cNvSpPr/>
              <p:nvPr/>
            </p:nvSpPr>
            <p:spPr>
              <a:xfrm>
                <a:off x="569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60" name="Line 73"/>
              <p:cNvSpPr/>
              <p:nvPr/>
            </p:nvSpPr>
            <p:spPr>
              <a:xfrm>
                <a:off x="935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61" name="Line 74"/>
              <p:cNvSpPr/>
              <p:nvPr/>
            </p:nvSpPr>
            <p:spPr>
              <a:xfrm>
                <a:off x="1301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62" name="Line 75"/>
              <p:cNvSpPr/>
              <p:nvPr/>
            </p:nvSpPr>
            <p:spPr>
              <a:xfrm>
                <a:off x="1667" y="1461"/>
                <a:ext cx="0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663" name="Freeform 76"/>
              <p:cNvSpPr/>
              <p:nvPr/>
            </p:nvSpPr>
            <p:spPr>
              <a:xfrm>
                <a:off x="562" y="1659"/>
                <a:ext cx="5128" cy="4"/>
              </a:xfrm>
              <a:custGeom>
                <a:avLst/>
                <a:gdLst>
                  <a:gd name="txL" fmla="*/ 0 w 5380"/>
                  <a:gd name="txT" fmla="*/ 0 h 4"/>
                  <a:gd name="txR" fmla="*/ 5380 w 5380"/>
                  <a:gd name="txB" fmla="*/ 4 h 4"/>
                </a:gdLst>
                <a:ahLst/>
                <a:cxnLst>
                  <a:cxn ang="0">
                    <a:pos x="0" y="4"/>
                  </a:cxn>
                  <a:cxn ang="0">
                    <a:pos x="5380" y="0"/>
                  </a:cxn>
                </a:cxnLst>
                <a:rect l="txL" t="txT" r="txR" b="txB"/>
                <a:pathLst>
                  <a:path w="5380" h="4">
                    <a:moveTo>
                      <a:pt x="0" y="4"/>
                    </a:moveTo>
                    <a:lnTo>
                      <a:pt x="538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51664" name="Text Box 77"/>
              <p:cNvSpPr txBox="1"/>
              <p:nvPr/>
            </p:nvSpPr>
            <p:spPr>
              <a:xfrm>
                <a:off x="45" y="1818"/>
                <a:ext cx="51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65" name="Text Box 78"/>
              <p:cNvSpPr txBox="1"/>
              <p:nvPr/>
            </p:nvSpPr>
            <p:spPr>
              <a:xfrm>
                <a:off x="45" y="2035"/>
                <a:ext cx="51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2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66" name="Text Box 79"/>
              <p:cNvSpPr txBox="1"/>
              <p:nvPr/>
            </p:nvSpPr>
            <p:spPr>
              <a:xfrm>
                <a:off x="45" y="2254"/>
                <a:ext cx="51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67" name="Text Box 80"/>
              <p:cNvSpPr txBox="1"/>
              <p:nvPr/>
            </p:nvSpPr>
            <p:spPr>
              <a:xfrm>
                <a:off x="45" y="2472"/>
                <a:ext cx="51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68" name="Text Box 81"/>
              <p:cNvSpPr txBox="1"/>
              <p:nvPr/>
            </p:nvSpPr>
            <p:spPr>
              <a:xfrm>
                <a:off x="45" y="2691"/>
                <a:ext cx="51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5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69" name="Text Box 82"/>
              <p:cNvSpPr txBox="1"/>
              <p:nvPr/>
            </p:nvSpPr>
            <p:spPr>
              <a:xfrm>
                <a:off x="45" y="2908"/>
                <a:ext cx="51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6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70" name="Text Box 83"/>
              <p:cNvSpPr txBox="1"/>
              <p:nvPr/>
            </p:nvSpPr>
            <p:spPr>
              <a:xfrm>
                <a:off x="45" y="3126"/>
                <a:ext cx="51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指令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7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71" name="Text Box 84"/>
              <p:cNvSpPr txBox="1"/>
              <p:nvPr/>
            </p:nvSpPr>
            <p:spPr>
              <a:xfrm>
                <a:off x="45" y="3343"/>
                <a:ext cx="54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指令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15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72" name="Text Box 85"/>
              <p:cNvSpPr txBox="1"/>
              <p:nvPr/>
            </p:nvSpPr>
            <p:spPr>
              <a:xfrm>
                <a:off x="45" y="3560"/>
                <a:ext cx="54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指令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16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73" name="Line 86"/>
              <p:cNvSpPr/>
              <p:nvPr/>
            </p:nvSpPr>
            <p:spPr>
              <a:xfrm>
                <a:off x="573" y="1287"/>
                <a:ext cx="21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51674" name="Text Box 87"/>
              <p:cNvSpPr txBox="1"/>
              <p:nvPr/>
            </p:nvSpPr>
            <p:spPr>
              <a:xfrm>
                <a:off x="611" y="1426"/>
                <a:ext cx="506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1        2       3       4       5        6       7       8       9       10     11     12    13      14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75" name="Line 88"/>
              <p:cNvSpPr/>
              <p:nvPr/>
            </p:nvSpPr>
            <p:spPr>
              <a:xfrm>
                <a:off x="3501" y="3975"/>
                <a:ext cx="1488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dash"/>
                <a:headEnd type="stealth" w="med" len="med"/>
                <a:tailEnd type="stealth" w="med" len="med"/>
              </a:ln>
            </p:spPr>
          </p:sp>
          <p:sp>
            <p:nvSpPr>
              <p:cNvPr id="451676" name="Text Box 89"/>
              <p:cNvSpPr txBox="1"/>
              <p:nvPr/>
            </p:nvSpPr>
            <p:spPr>
              <a:xfrm>
                <a:off x="3875" y="3733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转移损失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77" name="Text Box 90"/>
              <p:cNvSpPr txBox="1"/>
              <p:nvPr/>
            </p:nvSpPr>
            <p:spPr>
              <a:xfrm>
                <a:off x="2819" y="1152"/>
                <a:ext cx="16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78" name="Line 91"/>
              <p:cNvSpPr/>
              <p:nvPr/>
            </p:nvSpPr>
            <p:spPr>
              <a:xfrm>
                <a:off x="573" y="2007"/>
                <a:ext cx="2208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451679" name="Line 92"/>
              <p:cNvSpPr/>
              <p:nvPr/>
            </p:nvSpPr>
            <p:spPr>
              <a:xfrm>
                <a:off x="3143" y="3543"/>
                <a:ext cx="2208" cy="0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headEnd type="stealth" w="med" len="med"/>
                <a:tailEnd type="stealth" w="med" len="med"/>
              </a:ln>
            </p:spPr>
          </p:sp>
        </p:grpSp>
        <p:sp>
          <p:nvSpPr>
            <p:cNvPr id="451592" name="Text Box 93"/>
            <p:cNvSpPr txBox="1"/>
            <p:nvPr/>
          </p:nvSpPr>
          <p:spPr>
            <a:xfrm>
              <a:off x="657" y="672"/>
              <a:ext cx="206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设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指令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是转移指令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1589" name="AutoShape 9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159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2610" name="Rectangle 2"/>
          <p:cNvSpPr/>
          <p:nvPr/>
        </p:nvSpPr>
        <p:spPr>
          <a:xfrm>
            <a:off x="2133600" y="152400"/>
            <a:ext cx="5399088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四、流水线性能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52611" name="Rectangle 3"/>
          <p:cNvSpPr/>
          <p:nvPr/>
        </p:nvSpPr>
        <p:spPr>
          <a:xfrm>
            <a:off x="2667000" y="838200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</a:rPr>
              <a:t>吞吐率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2612" name="Rectangle 4"/>
          <p:cNvSpPr/>
          <p:nvPr/>
        </p:nvSpPr>
        <p:spPr>
          <a:xfrm>
            <a:off x="3084513" y="1447800"/>
            <a:ext cx="7620000" cy="541338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lr>
                <a:schemeClr val="folHlink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</a:rPr>
              <a:t>单位时间内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流水线所完成指令</a:t>
            </a:r>
            <a:r>
              <a:rPr lang="zh-CN" altLang="en-US" sz="2400" b="1" dirty="0">
                <a:latin typeface="Times New Roman" panose="02020603050405020304" pitchFamily="18" charset="0"/>
              </a:rPr>
              <a:t> 或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输出结果</a:t>
            </a:r>
            <a:r>
              <a:rPr lang="zh-CN" altLang="en-US" sz="2400" b="1" dirty="0">
                <a:latin typeface="Times New Roman" panose="02020603050405020304" pitchFamily="18" charset="0"/>
              </a:rPr>
              <a:t> 的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数量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8341" name="Rectangle 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2614" name="Rectangle 6"/>
          <p:cNvSpPr/>
          <p:nvPr/>
        </p:nvSpPr>
        <p:spPr>
          <a:xfrm>
            <a:off x="3071813" y="2997200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最大吞吐率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2615" name="Rectangle 7"/>
          <p:cNvSpPr/>
          <p:nvPr/>
        </p:nvSpPr>
        <p:spPr>
          <a:xfrm>
            <a:off x="3071813" y="4365625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实际吞吐率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2616" name="Text Box 8"/>
          <p:cNvSpPr txBox="1"/>
          <p:nvPr/>
        </p:nvSpPr>
        <p:spPr>
          <a:xfrm>
            <a:off x="3817938" y="5013325"/>
            <a:ext cx="7391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连续处理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latin typeface="Times New Roman" panose="02020603050405020304" pitchFamily="18" charset="0"/>
              </a:rPr>
              <a:t>条指令的吞吐率为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2617" name="AutoShape 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52618" name="Group 10"/>
          <p:cNvGrpSpPr/>
          <p:nvPr/>
        </p:nvGrpSpPr>
        <p:grpSpPr>
          <a:xfrm>
            <a:off x="3817938" y="2046288"/>
            <a:ext cx="5145087" cy="501650"/>
            <a:chOff x="1445" y="1289"/>
            <a:chExt cx="3241" cy="316"/>
          </a:xfrm>
        </p:grpSpPr>
        <p:sp>
          <p:nvSpPr>
            <p:cNvPr id="452635" name="Text Box 11"/>
            <p:cNvSpPr txBox="1"/>
            <p:nvPr/>
          </p:nvSpPr>
          <p:spPr>
            <a:xfrm>
              <a:off x="1445" y="1289"/>
              <a:ext cx="2887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段的流水线各段时间为</a:t>
              </a:r>
              <a:r>
                <a:rPr lang="el-GR" altLang="zh-CN" sz="4000" b="1" baseline="-10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Δ</a:t>
              </a:r>
              <a:endParaRPr lang="en-US" altLang="zh-CN" sz="4000" b="1" baseline="-10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2636" name="Text Box 12"/>
            <p:cNvSpPr txBox="1"/>
            <p:nvPr/>
          </p:nvSpPr>
          <p:spPr>
            <a:xfrm>
              <a:off x="3960" y="1315"/>
              <a:ext cx="72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t</a:t>
              </a:r>
              <a:endParaRPr lang="en-US" altLang="zh-CN" sz="2400" b="1" i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52619" name="Group 13"/>
          <p:cNvGrpSpPr/>
          <p:nvPr/>
        </p:nvGrpSpPr>
        <p:grpSpPr>
          <a:xfrm>
            <a:off x="3792538" y="3429000"/>
            <a:ext cx="2479675" cy="839788"/>
            <a:chOff x="1429" y="2160"/>
            <a:chExt cx="1562" cy="529"/>
          </a:xfrm>
        </p:grpSpPr>
        <p:grpSp>
          <p:nvGrpSpPr>
            <p:cNvPr id="452629" name="Group 14"/>
            <p:cNvGrpSpPr/>
            <p:nvPr/>
          </p:nvGrpSpPr>
          <p:grpSpPr>
            <a:xfrm>
              <a:off x="1429" y="2160"/>
              <a:ext cx="1562" cy="529"/>
              <a:chOff x="1429" y="2160"/>
              <a:chExt cx="1562" cy="529"/>
            </a:xfrm>
          </p:grpSpPr>
          <p:sp>
            <p:nvSpPr>
              <p:cNvPr id="452631" name="Text Box 15"/>
              <p:cNvSpPr txBox="1"/>
              <p:nvPr/>
            </p:nvSpPr>
            <p:spPr>
              <a:xfrm>
                <a:off x="1429" y="2236"/>
                <a:ext cx="81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pmax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632" name="Text Box 16"/>
              <p:cNvSpPr txBox="1"/>
              <p:nvPr/>
            </p:nvSpPr>
            <p:spPr>
              <a:xfrm>
                <a:off x="2064" y="2360"/>
                <a:ext cx="81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Δ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633" name="Text Box 17"/>
              <p:cNvSpPr txBox="1"/>
              <p:nvPr/>
            </p:nvSpPr>
            <p:spPr>
              <a:xfrm>
                <a:off x="2175" y="2160"/>
                <a:ext cx="81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634" name="Line 18"/>
              <p:cNvSpPr/>
              <p:nvPr/>
            </p:nvSpPr>
            <p:spPr>
              <a:xfrm>
                <a:off x="2129" y="2418"/>
                <a:ext cx="29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2630" name="Text Box 19"/>
            <p:cNvSpPr txBox="1"/>
            <p:nvPr/>
          </p:nvSpPr>
          <p:spPr>
            <a:xfrm>
              <a:off x="2223" y="2379"/>
              <a:ext cx="4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宋体" panose="02010600030101010101" pitchFamily="2" charset="-122"/>
                </a:rPr>
                <a:t>t</a:t>
              </a:r>
              <a:endParaRPr lang="en-US" altLang="zh-CN" sz="2400" b="1" i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52620" name="Group 20"/>
          <p:cNvGrpSpPr/>
          <p:nvPr/>
        </p:nvGrpSpPr>
        <p:grpSpPr>
          <a:xfrm>
            <a:off x="3792538" y="5445125"/>
            <a:ext cx="3816350" cy="950913"/>
            <a:chOff x="1429" y="3430"/>
            <a:chExt cx="2404" cy="599"/>
          </a:xfrm>
        </p:grpSpPr>
        <p:grpSp>
          <p:nvGrpSpPr>
            <p:cNvPr id="452622" name="Group 21"/>
            <p:cNvGrpSpPr/>
            <p:nvPr/>
          </p:nvGrpSpPr>
          <p:grpSpPr>
            <a:xfrm>
              <a:off x="1429" y="3430"/>
              <a:ext cx="2404" cy="593"/>
              <a:chOff x="1429" y="3430"/>
              <a:chExt cx="2404" cy="593"/>
            </a:xfrm>
          </p:grpSpPr>
          <p:sp>
            <p:nvSpPr>
              <p:cNvPr id="452625" name="Text Box 22"/>
              <p:cNvSpPr txBox="1"/>
              <p:nvPr/>
            </p:nvSpPr>
            <p:spPr>
              <a:xfrm>
                <a:off x="1429" y="3552"/>
                <a:ext cx="81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626" name="Text Box 23"/>
              <p:cNvSpPr txBox="1"/>
              <p:nvPr/>
            </p:nvSpPr>
            <p:spPr>
              <a:xfrm>
                <a:off x="1883" y="3694"/>
                <a:ext cx="1950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·</a:t>
                </a:r>
                <a:r>
                  <a:rPr lang="en-US" altLang="zh-CN" sz="4000" b="1" baseline="-10000" dirty="0">
                    <a:latin typeface="Times New Roman" panose="02020603050405020304" pitchFamily="18" charset="0"/>
                  </a:rPr>
                  <a:t>Δ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9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+ (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·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4000" b="1" baseline="-10000" dirty="0">
                    <a:latin typeface="Times New Roman" panose="02020603050405020304" pitchFamily="18" charset="0"/>
                  </a:rPr>
                  <a:t>Δ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 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627" name="Text Box 24"/>
              <p:cNvSpPr txBox="1"/>
              <p:nvPr/>
            </p:nvSpPr>
            <p:spPr>
              <a:xfrm>
                <a:off x="2518" y="3430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n</a:t>
                </a:r>
                <a:endParaRPr lang="en-US" altLang="zh-CN" sz="28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628" name="Line 25"/>
              <p:cNvSpPr/>
              <p:nvPr/>
            </p:nvSpPr>
            <p:spPr>
              <a:xfrm>
                <a:off x="1906" y="3734"/>
                <a:ext cx="163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2623" name="Text Box 26"/>
            <p:cNvSpPr txBox="1"/>
            <p:nvPr/>
          </p:nvSpPr>
          <p:spPr>
            <a:xfrm>
              <a:off x="2290" y="3739"/>
              <a:ext cx="4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宋体" panose="02010600030101010101" pitchFamily="2" charset="-122"/>
                </a:rPr>
                <a:t>t</a:t>
              </a:r>
              <a:endParaRPr lang="en-US" altLang="zh-CN" sz="2400" b="1" i="1" dirty="0">
                <a:latin typeface="宋体" panose="02010600030101010101" pitchFamily="2" charset="-122"/>
              </a:endParaRPr>
            </a:p>
          </p:txBody>
        </p:sp>
        <p:sp>
          <p:nvSpPr>
            <p:cNvPr id="452624" name="Text Box 27"/>
            <p:cNvSpPr txBox="1"/>
            <p:nvPr/>
          </p:nvSpPr>
          <p:spPr>
            <a:xfrm>
              <a:off x="3334" y="3738"/>
              <a:ext cx="4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宋体" panose="02010600030101010101" pitchFamily="2" charset="-122"/>
                </a:rPr>
                <a:t>t</a:t>
              </a:r>
              <a:endParaRPr lang="en-US" altLang="zh-CN" sz="2400" b="1" i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5262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3634" name="Rectangle 2"/>
          <p:cNvSpPr/>
          <p:nvPr/>
        </p:nvSpPr>
        <p:spPr>
          <a:xfrm>
            <a:off x="2135188" y="333375"/>
            <a:ext cx="4968875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latin typeface="Times New Roman" panose="02020603050405020304" pitchFamily="18" charset="0"/>
              </a:rPr>
              <a:t>加速比 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 i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63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3636" name="Text Box 4"/>
          <p:cNvSpPr txBox="1"/>
          <p:nvPr/>
        </p:nvSpPr>
        <p:spPr>
          <a:xfrm>
            <a:off x="2638425" y="1377950"/>
            <a:ext cx="82454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段的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流水线的速度</a:t>
            </a:r>
            <a:r>
              <a:rPr lang="zh-CN" altLang="en-US" sz="2400" b="1" dirty="0">
                <a:latin typeface="Times New Roman" panose="02020603050405020304" pitchFamily="18" charset="0"/>
              </a:rPr>
              <a:t> 与等功能的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非流水线的速度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之比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53637" name="AutoShape 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53638" name="Group 6"/>
          <p:cNvGrpSpPr/>
          <p:nvPr/>
        </p:nvGrpSpPr>
        <p:grpSpPr>
          <a:xfrm>
            <a:off x="2638425" y="1916113"/>
            <a:ext cx="4068763" cy="720725"/>
            <a:chOff x="702" y="1343"/>
            <a:chExt cx="2563" cy="454"/>
          </a:xfrm>
        </p:grpSpPr>
        <p:sp>
          <p:nvSpPr>
            <p:cNvPr id="453669" name="Text Box 7"/>
            <p:cNvSpPr txBox="1"/>
            <p:nvPr/>
          </p:nvSpPr>
          <p:spPr>
            <a:xfrm>
              <a:off x="702" y="1343"/>
              <a:ext cx="217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设流水线各段时间为 </a:t>
              </a:r>
              <a:r>
                <a:rPr lang="zh-CN" altLang="zh-CN" sz="4000" b="1" baseline="-10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Δ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3670" name="Text Box 8"/>
            <p:cNvSpPr txBox="1"/>
            <p:nvPr/>
          </p:nvSpPr>
          <p:spPr>
            <a:xfrm>
              <a:off x="2721" y="1507"/>
              <a:ext cx="5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53639" name="Group 9"/>
          <p:cNvGrpSpPr/>
          <p:nvPr/>
        </p:nvGrpSpPr>
        <p:grpSpPr>
          <a:xfrm>
            <a:off x="2638425" y="2995613"/>
            <a:ext cx="7921625" cy="1128712"/>
            <a:chOff x="702" y="1887"/>
            <a:chExt cx="4990" cy="711"/>
          </a:xfrm>
        </p:grpSpPr>
        <p:grpSp>
          <p:nvGrpSpPr>
            <p:cNvPr id="453662" name="Group 10"/>
            <p:cNvGrpSpPr/>
            <p:nvPr/>
          </p:nvGrpSpPr>
          <p:grpSpPr>
            <a:xfrm>
              <a:off x="702" y="1887"/>
              <a:ext cx="4990" cy="711"/>
              <a:chOff x="702" y="1887"/>
              <a:chExt cx="4990" cy="711"/>
            </a:xfrm>
          </p:grpSpPr>
          <p:grpSp>
            <p:nvGrpSpPr>
              <p:cNvPr id="453664" name="Group 11"/>
              <p:cNvGrpSpPr/>
              <p:nvPr/>
            </p:nvGrpSpPr>
            <p:grpSpPr>
              <a:xfrm>
                <a:off x="702" y="1887"/>
                <a:ext cx="4990" cy="700"/>
                <a:chOff x="702" y="1887"/>
                <a:chExt cx="4990" cy="700"/>
              </a:xfrm>
            </p:grpSpPr>
            <p:sp>
              <p:nvSpPr>
                <p:cNvPr id="453666" name="Text Box 12"/>
                <p:cNvSpPr txBox="1"/>
                <p:nvPr/>
              </p:nvSpPr>
              <p:spPr>
                <a:xfrm>
                  <a:off x="702" y="1887"/>
                  <a:ext cx="4990" cy="69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完成 </a:t>
                  </a:r>
                  <a:r>
                    <a:rPr lang="en-US" altLang="zh-CN" sz="2400" b="1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n 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条指令在 </a:t>
                  </a:r>
                  <a:r>
                    <a:rPr lang="en-US" altLang="zh-CN" sz="2400" b="1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段流水线上共需</a:t>
                  </a:r>
                  <a:endParaRPr lang="zh-CN" altLang="en-US" sz="2400" b="1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50000"/>
                    </a:spcBef>
                  </a:pP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              </a:t>
                  </a:r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= </a:t>
                  </a:r>
                  <a:r>
                    <a:rPr lang="en-US" altLang="zh-CN" sz="2800" b="1" i="1" dirty="0"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 </a:t>
                  </a:r>
                  <a:r>
                    <a:rPr lang="zh-CN" altLang="zh-CN" b="1" dirty="0">
                      <a:latin typeface="Times New Roman" panose="02020603050405020304" pitchFamily="18" charset="0"/>
                    </a:rPr>
                    <a:t>·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      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+ (</a:t>
                  </a:r>
                  <a:r>
                    <a:rPr lang="en-US" altLang="zh-CN" sz="2800" b="1" i="1" dirty="0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-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) </a:t>
                  </a:r>
                  <a:r>
                    <a:rPr lang="zh-CN" altLang="zh-CN" b="1" dirty="0">
                      <a:latin typeface="Times New Roman" panose="02020603050405020304" pitchFamily="18" charset="0"/>
                    </a:rPr>
                    <a:t>·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3667" name="Text Box 13"/>
                <p:cNvSpPr txBox="1"/>
                <p:nvPr/>
              </p:nvSpPr>
              <p:spPr>
                <a:xfrm>
                  <a:off x="2127" y="2296"/>
                  <a:ext cx="336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t  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3668" name="Text Box 14"/>
                <p:cNvSpPr txBox="1"/>
                <p:nvPr/>
              </p:nvSpPr>
              <p:spPr>
                <a:xfrm>
                  <a:off x="3180" y="2296"/>
                  <a:ext cx="544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t  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3665" name="Text Box 15"/>
              <p:cNvSpPr txBox="1"/>
              <p:nvPr/>
            </p:nvSpPr>
            <p:spPr>
              <a:xfrm>
                <a:off x="1927" y="2269"/>
                <a:ext cx="300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zh-CN" sz="2800" b="1" dirty="0">
                    <a:latin typeface="宋体" panose="02010600030101010101" pitchFamily="2" charset="-122"/>
                  </a:rPr>
                  <a:t>Δ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453663" name="Text Box 16"/>
            <p:cNvSpPr txBox="1"/>
            <p:nvPr/>
          </p:nvSpPr>
          <p:spPr>
            <a:xfrm>
              <a:off x="2981" y="2269"/>
              <a:ext cx="3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宋体" panose="02010600030101010101" pitchFamily="2" charset="-122"/>
                </a:rPr>
                <a:t>Δ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53640" name="Group 17"/>
          <p:cNvGrpSpPr/>
          <p:nvPr/>
        </p:nvGrpSpPr>
        <p:grpSpPr>
          <a:xfrm>
            <a:off x="2638425" y="4346575"/>
            <a:ext cx="8713788" cy="1106488"/>
            <a:chOff x="702" y="2738"/>
            <a:chExt cx="5489" cy="697"/>
          </a:xfrm>
        </p:grpSpPr>
        <p:sp>
          <p:nvSpPr>
            <p:cNvPr id="453659" name="Text Box 18"/>
            <p:cNvSpPr txBox="1"/>
            <p:nvPr/>
          </p:nvSpPr>
          <p:spPr>
            <a:xfrm>
              <a:off x="702" y="2738"/>
              <a:ext cx="5489" cy="6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完成 </a:t>
              </a:r>
              <a:r>
                <a: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条指令在等效的非流水线上共需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400" b="1" i="1" dirty="0">
                  <a:latin typeface="Times New Roman" panose="02020603050405020304" pitchFamily="18" charset="0"/>
                </a:rPr>
                <a:t>            </a:t>
              </a:r>
              <a:r>
                <a:rPr lang="zh-CN" altLang="en-US" sz="800" b="1" i="1" dirty="0">
                  <a:latin typeface="Times New Roman" panose="02020603050405020304" pitchFamily="18" charset="0"/>
                </a:rPr>
                <a:t>　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800" b="1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′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nm</a:t>
              </a:r>
              <a:r>
                <a:rPr lang="zh-CN" altLang="en-US" sz="800" b="1" i="1" dirty="0">
                  <a:latin typeface="Times New Roman" panose="02020603050405020304" pitchFamily="18" charset="0"/>
                </a:rPr>
                <a:t>　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·</a:t>
              </a:r>
              <a:endParaRPr lang="en-US" altLang="zh-CN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3660" name="Text Box 19"/>
            <p:cNvSpPr txBox="1"/>
            <p:nvPr/>
          </p:nvSpPr>
          <p:spPr>
            <a:xfrm>
              <a:off x="2335" y="3130"/>
              <a:ext cx="5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t  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3661" name="Text Box 20"/>
            <p:cNvSpPr txBox="1"/>
            <p:nvPr/>
          </p:nvSpPr>
          <p:spPr>
            <a:xfrm>
              <a:off x="2135" y="3104"/>
              <a:ext cx="3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宋体" panose="02010600030101010101" pitchFamily="2" charset="-122"/>
                </a:rPr>
                <a:t>Δ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53641" name="Group 21"/>
          <p:cNvGrpSpPr/>
          <p:nvPr/>
        </p:nvGrpSpPr>
        <p:grpSpPr>
          <a:xfrm>
            <a:off x="2638425" y="5516563"/>
            <a:ext cx="7107238" cy="966787"/>
            <a:chOff x="702" y="3566"/>
            <a:chExt cx="4477" cy="609"/>
          </a:xfrm>
        </p:grpSpPr>
        <p:grpSp>
          <p:nvGrpSpPr>
            <p:cNvPr id="453643" name="Group 22"/>
            <p:cNvGrpSpPr/>
            <p:nvPr/>
          </p:nvGrpSpPr>
          <p:grpSpPr>
            <a:xfrm>
              <a:off x="1370" y="3566"/>
              <a:ext cx="3809" cy="593"/>
              <a:chOff x="1370" y="3566"/>
              <a:chExt cx="3809" cy="593"/>
            </a:xfrm>
          </p:grpSpPr>
          <p:sp>
            <p:nvSpPr>
              <p:cNvPr id="453651" name="Text Box 23"/>
              <p:cNvSpPr txBox="1"/>
              <p:nvPr/>
            </p:nvSpPr>
            <p:spPr>
              <a:xfrm>
                <a:off x="1370" y="3705"/>
                <a:ext cx="58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                         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3652" name="Text Box 24"/>
              <p:cNvSpPr txBox="1"/>
              <p:nvPr/>
            </p:nvSpPr>
            <p:spPr>
              <a:xfrm>
                <a:off x="1869" y="3829"/>
                <a:ext cx="154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·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+(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·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 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3653" name="Text Box 25"/>
              <p:cNvSpPr txBox="1"/>
              <p:nvPr/>
            </p:nvSpPr>
            <p:spPr>
              <a:xfrm>
                <a:off x="2367" y="3566"/>
                <a:ext cx="861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nm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·</a:t>
                </a:r>
                <a:endParaRPr lang="en-US" altLang="zh-CN" b="1" i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3654" name="Line 26"/>
              <p:cNvSpPr/>
              <p:nvPr/>
            </p:nvSpPr>
            <p:spPr>
              <a:xfrm>
                <a:off x="1847" y="3887"/>
                <a:ext cx="154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3655" name="Text Box 27"/>
              <p:cNvSpPr txBox="1"/>
              <p:nvPr/>
            </p:nvSpPr>
            <p:spPr>
              <a:xfrm>
                <a:off x="3410" y="3748"/>
                <a:ext cx="363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=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3656" name="Line 28"/>
              <p:cNvSpPr/>
              <p:nvPr/>
            </p:nvSpPr>
            <p:spPr>
              <a:xfrm>
                <a:off x="3637" y="3887"/>
                <a:ext cx="86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3657" name="Text Box 29"/>
              <p:cNvSpPr txBox="1"/>
              <p:nvPr/>
            </p:nvSpPr>
            <p:spPr>
              <a:xfrm>
                <a:off x="3831" y="3566"/>
                <a:ext cx="861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nm</a:t>
                </a:r>
                <a:endParaRPr lang="en-US" altLang="zh-CN" sz="28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3658" name="Text Box 30"/>
              <p:cNvSpPr txBox="1"/>
              <p:nvPr/>
            </p:nvSpPr>
            <p:spPr>
              <a:xfrm>
                <a:off x="3638" y="3829"/>
                <a:ext cx="1541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+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n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 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3644" name="Text Box 31"/>
            <p:cNvSpPr txBox="1"/>
            <p:nvPr/>
          </p:nvSpPr>
          <p:spPr>
            <a:xfrm>
              <a:off x="2735" y="3566"/>
              <a:ext cx="3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宋体" panose="02010600030101010101" pitchFamily="2" charset="-122"/>
                </a:rPr>
                <a:t>Δ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53645" name="Text Box 32"/>
            <p:cNvSpPr txBox="1"/>
            <p:nvPr/>
          </p:nvSpPr>
          <p:spPr>
            <a:xfrm>
              <a:off x="2933" y="3603"/>
              <a:ext cx="5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t  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3646" name="Text Box 33"/>
            <p:cNvSpPr txBox="1"/>
            <p:nvPr/>
          </p:nvSpPr>
          <p:spPr>
            <a:xfrm>
              <a:off x="2082" y="3846"/>
              <a:ext cx="3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宋体" panose="02010600030101010101" pitchFamily="2" charset="-122"/>
                </a:rPr>
                <a:t>Δ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53647" name="Text Box 34"/>
            <p:cNvSpPr txBox="1"/>
            <p:nvPr/>
          </p:nvSpPr>
          <p:spPr>
            <a:xfrm>
              <a:off x="3025" y="3846"/>
              <a:ext cx="3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宋体" panose="02010600030101010101" pitchFamily="2" charset="-122"/>
                </a:rPr>
                <a:t>Δ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53648" name="Text Box 35"/>
            <p:cNvSpPr txBox="1"/>
            <p:nvPr/>
          </p:nvSpPr>
          <p:spPr>
            <a:xfrm>
              <a:off x="2291" y="3875"/>
              <a:ext cx="5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t  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3649" name="Text Box 36"/>
            <p:cNvSpPr txBox="1"/>
            <p:nvPr/>
          </p:nvSpPr>
          <p:spPr>
            <a:xfrm>
              <a:off x="3225" y="3875"/>
              <a:ext cx="5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t  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3650" name="Text Box 37"/>
            <p:cNvSpPr txBox="1"/>
            <p:nvPr/>
          </p:nvSpPr>
          <p:spPr>
            <a:xfrm>
              <a:off x="702" y="3729"/>
              <a:ext cx="54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900" b="1" dirty="0">
                  <a:latin typeface="宋体" panose="02010600030101010101" pitchFamily="2" charset="-122"/>
                </a:rPr>
                <a:t>　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则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5364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0386" name="Text Box 2"/>
          <p:cNvSpPr txBox="1"/>
          <p:nvPr/>
        </p:nvSpPr>
        <p:spPr>
          <a:xfrm>
            <a:off x="2855913" y="1954213"/>
            <a:ext cx="7272337" cy="8940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由于流水线有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建立时间</a:t>
            </a:r>
            <a:r>
              <a:rPr lang="zh-CN" altLang="en-US" sz="2400" b="1" dirty="0">
                <a:latin typeface="Times New Roman" panose="02020603050405020304" pitchFamily="18" charset="0"/>
              </a:rPr>
              <a:t> 和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排空时间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因此各功能段的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设备不可能 一直</a:t>
            </a:r>
            <a:r>
              <a:rPr lang="zh-CN" altLang="en-US" sz="2400" b="1" dirty="0">
                <a:latin typeface="Times New Roman" panose="02020603050405020304" pitchFamily="18" charset="0"/>
              </a:rPr>
              <a:t> 处于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工作</a:t>
            </a:r>
            <a:r>
              <a:rPr lang="zh-CN" altLang="en-US" sz="2400" b="1" dirty="0">
                <a:latin typeface="Times New Roman" panose="02020603050405020304" pitchFamily="18" charset="0"/>
              </a:rPr>
              <a:t> 状态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0388" name="Text Box 4"/>
          <p:cNvSpPr txBox="1"/>
          <p:nvPr/>
        </p:nvSpPr>
        <p:spPr>
          <a:xfrm>
            <a:off x="2855913" y="1196975"/>
            <a:ext cx="82454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流水线中各功能段的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利用率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4661" name="Rectangle 5"/>
          <p:cNvSpPr/>
          <p:nvPr/>
        </p:nvSpPr>
        <p:spPr>
          <a:xfrm>
            <a:off x="2063750" y="333375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3.  </a:t>
            </a:r>
            <a:r>
              <a:rPr lang="zh-CN" altLang="en-US" sz="2800" b="1" dirty="0">
                <a:latin typeface="Times New Roman" panose="02020603050405020304" pitchFamily="18" charset="0"/>
              </a:rPr>
              <a:t>效率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141663" y="3400425"/>
            <a:ext cx="6842125" cy="3270251"/>
            <a:chOff x="793" y="1846"/>
            <a:chExt cx="4310" cy="2060"/>
          </a:xfrm>
        </p:grpSpPr>
        <p:sp>
          <p:nvSpPr>
            <p:cNvPr id="454665" name="Text Box 7"/>
            <p:cNvSpPr txBox="1"/>
            <p:nvPr/>
          </p:nvSpPr>
          <p:spPr>
            <a:xfrm>
              <a:off x="1429" y="3634"/>
              <a:ext cx="861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m</a:t>
              </a:r>
              <a:r>
                <a:rPr lang="zh-CN" altLang="zh-CN" sz="1400" b="1" dirty="0">
                  <a:latin typeface="Times New Roman" panose="02020603050405020304" pitchFamily="18" charset="0"/>
                </a:rPr>
                <a:t>Δ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66" name="Text Box 8"/>
            <p:cNvSpPr txBox="1"/>
            <p:nvPr/>
          </p:nvSpPr>
          <p:spPr>
            <a:xfrm>
              <a:off x="1655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67" name="Line 9"/>
            <p:cNvSpPr/>
            <p:nvPr/>
          </p:nvSpPr>
          <p:spPr>
            <a:xfrm>
              <a:off x="1156" y="3570"/>
              <a:ext cx="340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4668" name="Line 10"/>
            <p:cNvSpPr/>
            <p:nvPr/>
          </p:nvSpPr>
          <p:spPr>
            <a:xfrm flipV="1">
              <a:off x="1156" y="2130"/>
              <a:ext cx="0" cy="14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4669" name="Line 11"/>
            <p:cNvSpPr/>
            <p:nvPr/>
          </p:nvSpPr>
          <p:spPr>
            <a:xfrm>
              <a:off x="1156" y="3343"/>
              <a:ext cx="24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0" name="Line 12"/>
            <p:cNvSpPr/>
            <p:nvPr/>
          </p:nvSpPr>
          <p:spPr>
            <a:xfrm flipV="1">
              <a:off x="1383" y="3116"/>
              <a:ext cx="0" cy="4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1" name="Line 13"/>
            <p:cNvSpPr/>
            <p:nvPr/>
          </p:nvSpPr>
          <p:spPr>
            <a:xfrm flipV="1">
              <a:off x="1610" y="2889"/>
              <a:ext cx="0" cy="6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2" name="Line 14"/>
            <p:cNvSpPr/>
            <p:nvPr/>
          </p:nvSpPr>
          <p:spPr>
            <a:xfrm flipV="1">
              <a:off x="1837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3" name="Line 15"/>
            <p:cNvSpPr/>
            <p:nvPr/>
          </p:nvSpPr>
          <p:spPr>
            <a:xfrm flipV="1">
              <a:off x="2064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4" name="Line 16"/>
            <p:cNvSpPr/>
            <p:nvPr/>
          </p:nvSpPr>
          <p:spPr>
            <a:xfrm flipV="1">
              <a:off x="2290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5" name="Line 17"/>
            <p:cNvSpPr/>
            <p:nvPr/>
          </p:nvSpPr>
          <p:spPr>
            <a:xfrm flipV="1">
              <a:off x="2517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6" name="Line 18"/>
            <p:cNvSpPr/>
            <p:nvPr/>
          </p:nvSpPr>
          <p:spPr>
            <a:xfrm flipV="1">
              <a:off x="2744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7" name="Line 19"/>
            <p:cNvSpPr/>
            <p:nvPr/>
          </p:nvSpPr>
          <p:spPr>
            <a:xfrm flipV="1">
              <a:off x="2971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8" name="Line 20"/>
            <p:cNvSpPr/>
            <p:nvPr/>
          </p:nvSpPr>
          <p:spPr>
            <a:xfrm flipV="1">
              <a:off x="3197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79" name="Line 21"/>
            <p:cNvSpPr/>
            <p:nvPr/>
          </p:nvSpPr>
          <p:spPr>
            <a:xfrm flipV="1">
              <a:off x="3424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80" name="Line 22"/>
            <p:cNvSpPr/>
            <p:nvPr/>
          </p:nvSpPr>
          <p:spPr>
            <a:xfrm flipV="1">
              <a:off x="3651" y="2663"/>
              <a:ext cx="0" cy="6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81" name="Line 23"/>
            <p:cNvSpPr/>
            <p:nvPr/>
          </p:nvSpPr>
          <p:spPr>
            <a:xfrm>
              <a:off x="1383" y="3116"/>
              <a:ext cx="24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82" name="Line 24"/>
            <p:cNvSpPr/>
            <p:nvPr/>
          </p:nvSpPr>
          <p:spPr>
            <a:xfrm>
              <a:off x="1610" y="2889"/>
              <a:ext cx="24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83" name="Line 25"/>
            <p:cNvSpPr/>
            <p:nvPr/>
          </p:nvSpPr>
          <p:spPr>
            <a:xfrm flipV="1">
              <a:off x="1837" y="2663"/>
              <a:ext cx="2268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84" name="Line 26"/>
            <p:cNvSpPr/>
            <p:nvPr/>
          </p:nvSpPr>
          <p:spPr>
            <a:xfrm flipV="1">
              <a:off x="3878" y="2663"/>
              <a:ext cx="0" cy="4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85" name="Line 27"/>
            <p:cNvSpPr/>
            <p:nvPr/>
          </p:nvSpPr>
          <p:spPr>
            <a:xfrm flipV="1">
              <a:off x="4105" y="2663"/>
              <a:ext cx="0" cy="2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686" name="Text Box 28"/>
            <p:cNvSpPr txBox="1"/>
            <p:nvPr/>
          </p:nvSpPr>
          <p:spPr>
            <a:xfrm>
              <a:off x="1202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87" name="Text Box 29"/>
            <p:cNvSpPr txBox="1"/>
            <p:nvPr/>
          </p:nvSpPr>
          <p:spPr>
            <a:xfrm>
              <a:off x="1428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88" name="Text Box 30"/>
            <p:cNvSpPr txBox="1"/>
            <p:nvPr/>
          </p:nvSpPr>
          <p:spPr>
            <a:xfrm>
              <a:off x="1882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89" name="Text Box 31"/>
            <p:cNvSpPr txBox="1"/>
            <p:nvPr/>
          </p:nvSpPr>
          <p:spPr>
            <a:xfrm>
              <a:off x="2109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0" name="Text Box 32"/>
            <p:cNvSpPr txBox="1"/>
            <p:nvPr/>
          </p:nvSpPr>
          <p:spPr>
            <a:xfrm>
              <a:off x="1882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1" name="Text Box 33"/>
            <p:cNvSpPr txBox="1"/>
            <p:nvPr/>
          </p:nvSpPr>
          <p:spPr>
            <a:xfrm>
              <a:off x="1429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2" name="Text Box 34"/>
            <p:cNvSpPr txBox="1"/>
            <p:nvPr/>
          </p:nvSpPr>
          <p:spPr>
            <a:xfrm>
              <a:off x="1655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3" name="Text Box 35"/>
            <p:cNvSpPr txBox="1"/>
            <p:nvPr/>
          </p:nvSpPr>
          <p:spPr>
            <a:xfrm>
              <a:off x="2109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4" name="Text Box 36"/>
            <p:cNvSpPr txBox="1"/>
            <p:nvPr/>
          </p:nvSpPr>
          <p:spPr>
            <a:xfrm>
              <a:off x="2336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5" name="Text Box 37"/>
            <p:cNvSpPr txBox="1"/>
            <p:nvPr/>
          </p:nvSpPr>
          <p:spPr>
            <a:xfrm>
              <a:off x="2108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6" name="Text Box 38"/>
            <p:cNvSpPr txBox="1"/>
            <p:nvPr/>
          </p:nvSpPr>
          <p:spPr>
            <a:xfrm>
              <a:off x="1655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7" name="Text Box 39"/>
            <p:cNvSpPr txBox="1"/>
            <p:nvPr/>
          </p:nvSpPr>
          <p:spPr>
            <a:xfrm>
              <a:off x="1881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8" name="Text Box 40"/>
            <p:cNvSpPr txBox="1"/>
            <p:nvPr/>
          </p:nvSpPr>
          <p:spPr>
            <a:xfrm>
              <a:off x="2335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699" name="Text Box 41"/>
            <p:cNvSpPr txBox="1"/>
            <p:nvPr/>
          </p:nvSpPr>
          <p:spPr>
            <a:xfrm>
              <a:off x="2562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00" name="Text Box 42"/>
            <p:cNvSpPr txBox="1"/>
            <p:nvPr/>
          </p:nvSpPr>
          <p:spPr>
            <a:xfrm>
              <a:off x="2335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01" name="Text Box 43"/>
            <p:cNvSpPr txBox="1"/>
            <p:nvPr/>
          </p:nvSpPr>
          <p:spPr>
            <a:xfrm>
              <a:off x="1882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02" name="Text Box 44"/>
            <p:cNvSpPr txBox="1"/>
            <p:nvPr/>
          </p:nvSpPr>
          <p:spPr>
            <a:xfrm>
              <a:off x="2108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03" name="Text Box 45"/>
            <p:cNvSpPr txBox="1"/>
            <p:nvPr/>
          </p:nvSpPr>
          <p:spPr>
            <a:xfrm>
              <a:off x="2562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04" name="Text Box 46"/>
            <p:cNvSpPr txBox="1"/>
            <p:nvPr/>
          </p:nvSpPr>
          <p:spPr>
            <a:xfrm>
              <a:off x="2789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05" name="Text Box 47"/>
            <p:cNvSpPr txBox="1"/>
            <p:nvPr/>
          </p:nvSpPr>
          <p:spPr>
            <a:xfrm>
              <a:off x="2290" y="3298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4706" name="Text Box 48"/>
            <p:cNvSpPr txBox="1"/>
            <p:nvPr/>
          </p:nvSpPr>
          <p:spPr>
            <a:xfrm>
              <a:off x="2517" y="3071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4707" name="Text Box 49"/>
            <p:cNvSpPr txBox="1"/>
            <p:nvPr/>
          </p:nvSpPr>
          <p:spPr>
            <a:xfrm>
              <a:off x="2744" y="2844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4708" name="Text Box 50"/>
            <p:cNvSpPr txBox="1"/>
            <p:nvPr/>
          </p:nvSpPr>
          <p:spPr>
            <a:xfrm>
              <a:off x="2971" y="2617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4709" name="Text Box 51"/>
            <p:cNvSpPr txBox="1"/>
            <p:nvPr/>
          </p:nvSpPr>
          <p:spPr>
            <a:xfrm>
              <a:off x="2971" y="3343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10" name="Text Box 52"/>
            <p:cNvSpPr txBox="1"/>
            <p:nvPr/>
          </p:nvSpPr>
          <p:spPr>
            <a:xfrm>
              <a:off x="3198" y="3131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11" name="Text Box 53"/>
            <p:cNvSpPr txBox="1"/>
            <p:nvPr/>
          </p:nvSpPr>
          <p:spPr>
            <a:xfrm>
              <a:off x="3425" y="2889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12" name="Text Box 54"/>
            <p:cNvSpPr txBox="1"/>
            <p:nvPr/>
          </p:nvSpPr>
          <p:spPr>
            <a:xfrm>
              <a:off x="3651" y="2663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13" name="Text Box 55"/>
            <p:cNvSpPr txBox="1"/>
            <p:nvPr/>
          </p:nvSpPr>
          <p:spPr>
            <a:xfrm>
              <a:off x="4559" y="3434"/>
              <a:ext cx="544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b="1" baseline="-25000" dirty="0">
                  <a:latin typeface="Times New Roman" panose="02020603050405020304" pitchFamily="18" charset="0"/>
                </a:rPr>
                <a:t>时间</a:t>
              </a:r>
              <a:endParaRPr lang="zh-CN" altLang="en-US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4714" name="Text Box 56"/>
            <p:cNvSpPr txBox="1"/>
            <p:nvPr/>
          </p:nvSpPr>
          <p:spPr>
            <a:xfrm>
              <a:off x="975" y="1846"/>
              <a:ext cx="453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</a:rPr>
                <a:t>S</a:t>
              </a:r>
              <a:r>
                <a:rPr lang="zh-CN" altLang="en-US" b="1" baseline="-25000" dirty="0">
                  <a:latin typeface="Times New Roman" panose="02020603050405020304" pitchFamily="18" charset="0"/>
                </a:rPr>
                <a:t>空间</a:t>
              </a:r>
              <a:endParaRPr lang="zh-CN" altLang="en-US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4715" name="Text Box 57"/>
            <p:cNvSpPr txBox="1"/>
            <p:nvPr/>
          </p:nvSpPr>
          <p:spPr>
            <a:xfrm>
              <a:off x="793" y="2164"/>
              <a:ext cx="453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400" b="1" dirty="0">
                  <a:latin typeface="Times New Roman" panose="02020603050405020304" pitchFamily="18" charset="0"/>
                </a:rPr>
                <a:t>空间</a:t>
              </a:r>
              <a:endParaRPr lang="zh-CN" altLang="en-US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4716" name="Line 58"/>
            <p:cNvSpPr/>
            <p:nvPr/>
          </p:nvSpPr>
          <p:spPr>
            <a:xfrm flipH="1">
              <a:off x="1156" y="2663"/>
              <a:ext cx="6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54717" name="Line 59"/>
            <p:cNvSpPr/>
            <p:nvPr/>
          </p:nvSpPr>
          <p:spPr>
            <a:xfrm>
              <a:off x="4105" y="2889"/>
              <a:ext cx="0" cy="6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54718" name="Text Box 60"/>
            <p:cNvSpPr txBox="1"/>
            <p:nvPr/>
          </p:nvSpPr>
          <p:spPr>
            <a:xfrm>
              <a:off x="930" y="2683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4719" name="Text Box 61"/>
            <p:cNvSpPr txBox="1"/>
            <p:nvPr/>
          </p:nvSpPr>
          <p:spPr>
            <a:xfrm>
              <a:off x="930" y="2909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4720" name="Text Box 62"/>
            <p:cNvSpPr txBox="1"/>
            <p:nvPr/>
          </p:nvSpPr>
          <p:spPr>
            <a:xfrm>
              <a:off x="930" y="3136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4721" name="Text Box 63"/>
            <p:cNvSpPr txBox="1"/>
            <p:nvPr/>
          </p:nvSpPr>
          <p:spPr>
            <a:xfrm>
              <a:off x="930" y="3363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4722" name="Line 64"/>
            <p:cNvSpPr/>
            <p:nvPr/>
          </p:nvSpPr>
          <p:spPr>
            <a:xfrm>
              <a:off x="1156" y="3615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723" name="Line 65"/>
            <p:cNvSpPr/>
            <p:nvPr/>
          </p:nvSpPr>
          <p:spPr>
            <a:xfrm>
              <a:off x="2064" y="3615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724" name="Line 66"/>
            <p:cNvSpPr/>
            <p:nvPr/>
          </p:nvSpPr>
          <p:spPr>
            <a:xfrm>
              <a:off x="4105" y="3615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4725" name="Line 67"/>
            <p:cNvSpPr/>
            <p:nvPr/>
          </p:nvSpPr>
          <p:spPr>
            <a:xfrm>
              <a:off x="1156" y="3706"/>
              <a:ext cx="9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54726" name="Line 68"/>
            <p:cNvSpPr/>
            <p:nvPr/>
          </p:nvSpPr>
          <p:spPr>
            <a:xfrm>
              <a:off x="2064" y="3706"/>
              <a:ext cx="20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54727" name="Text Box 69"/>
            <p:cNvSpPr txBox="1"/>
            <p:nvPr/>
          </p:nvSpPr>
          <p:spPr>
            <a:xfrm>
              <a:off x="2790" y="3655"/>
              <a:ext cx="861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) </a:t>
              </a:r>
              <a:r>
                <a:rPr lang="zh-CN" altLang="zh-CN" sz="1400" b="1" dirty="0">
                  <a:latin typeface="Times New Roman" panose="02020603050405020304" pitchFamily="18" charset="0"/>
                </a:rPr>
                <a:t>Δ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4663" name="AutoShape 7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4664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6" grpId="0"/>
      <p:bldP spid="40038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10" name="Rectangle 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143250" y="2708275"/>
            <a:ext cx="4248150" cy="939800"/>
            <a:chOff x="884" y="1625"/>
            <a:chExt cx="2676" cy="592"/>
          </a:xfrm>
        </p:grpSpPr>
        <p:sp>
          <p:nvSpPr>
            <p:cNvPr id="455757" name="Text Box 4"/>
            <p:cNvSpPr txBox="1"/>
            <p:nvPr/>
          </p:nvSpPr>
          <p:spPr>
            <a:xfrm>
              <a:off x="1519" y="1888"/>
              <a:ext cx="204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1) </a:t>
              </a:r>
              <a:r>
                <a:rPr lang="en-US" altLang="zh-CN" sz="2800" b="1" baseline="-2000" dirty="0">
                  <a:latin typeface="Times New Roman" panose="02020603050405020304" pitchFamily="18" charset="0"/>
                </a:rPr>
                <a:t>Δ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58" name="Text Box 5"/>
            <p:cNvSpPr txBox="1"/>
            <p:nvPr/>
          </p:nvSpPr>
          <p:spPr>
            <a:xfrm>
              <a:off x="884" y="1755"/>
              <a:ext cx="5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                            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59" name="Line 6"/>
            <p:cNvSpPr/>
            <p:nvPr/>
          </p:nvSpPr>
          <p:spPr>
            <a:xfrm>
              <a:off x="1473" y="1946"/>
              <a:ext cx="147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60" name="Text Box 7"/>
            <p:cNvSpPr txBox="1"/>
            <p:nvPr/>
          </p:nvSpPr>
          <p:spPr>
            <a:xfrm>
              <a:off x="1837" y="1625"/>
              <a:ext cx="8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mn</a:t>
              </a:r>
              <a:r>
                <a:rPr lang="en-US" altLang="zh-CN" sz="2800" b="1" baseline="-2000" dirty="0">
                  <a:latin typeface="Times New Roman" panose="02020603050405020304" pitchFamily="18" charset="0"/>
                </a:rPr>
                <a:t>Δ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2854325" y="1773238"/>
            <a:ext cx="7129463" cy="1011237"/>
            <a:chOff x="838" y="1117"/>
            <a:chExt cx="4491" cy="637"/>
          </a:xfrm>
        </p:grpSpPr>
        <p:sp>
          <p:nvSpPr>
            <p:cNvPr id="455753" name="Text Box 9"/>
            <p:cNvSpPr txBox="1"/>
            <p:nvPr/>
          </p:nvSpPr>
          <p:spPr>
            <a:xfrm>
              <a:off x="1656" y="1117"/>
              <a:ext cx="36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0" b="1" dirty="0">
                  <a:latin typeface="Times New Roman" panose="02020603050405020304" pitchFamily="18" charset="0"/>
                </a:rPr>
                <a:t>流水线各段处于工作时间的时空区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54" name="Text Box 10"/>
            <p:cNvSpPr txBox="1"/>
            <p:nvPr/>
          </p:nvSpPr>
          <p:spPr>
            <a:xfrm>
              <a:off x="2063" y="1425"/>
              <a:ext cx="299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0" b="1" dirty="0">
                  <a:latin typeface="Times New Roman" panose="02020603050405020304" pitchFamily="18" charset="0"/>
                </a:rPr>
                <a:t>流水线中各段总的时空区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55" name="Text Box 11"/>
            <p:cNvSpPr txBox="1"/>
            <p:nvPr/>
          </p:nvSpPr>
          <p:spPr>
            <a:xfrm>
              <a:off x="838" y="1247"/>
              <a:ext cx="77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效率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                            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56" name="Line 12"/>
            <p:cNvSpPr/>
            <p:nvPr/>
          </p:nvSpPr>
          <p:spPr>
            <a:xfrm>
              <a:off x="1609" y="1438"/>
              <a:ext cx="283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5685" name="Rectangle 13"/>
          <p:cNvSpPr/>
          <p:nvPr/>
        </p:nvSpPr>
        <p:spPr>
          <a:xfrm>
            <a:off x="2063750" y="333375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3.  </a:t>
            </a:r>
            <a:r>
              <a:rPr lang="zh-CN" altLang="en-US" sz="2800" b="1" dirty="0">
                <a:latin typeface="Times New Roman" panose="02020603050405020304" pitchFamily="18" charset="0"/>
              </a:rPr>
              <a:t>效率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55686" name="Group 14"/>
          <p:cNvGrpSpPr/>
          <p:nvPr/>
        </p:nvGrpSpPr>
        <p:grpSpPr>
          <a:xfrm>
            <a:off x="3141663" y="3400425"/>
            <a:ext cx="6842125" cy="3270251"/>
            <a:chOff x="793" y="1846"/>
            <a:chExt cx="4310" cy="2060"/>
          </a:xfrm>
        </p:grpSpPr>
        <p:sp>
          <p:nvSpPr>
            <p:cNvPr id="455690" name="Text Box 15"/>
            <p:cNvSpPr txBox="1"/>
            <p:nvPr/>
          </p:nvSpPr>
          <p:spPr>
            <a:xfrm>
              <a:off x="1429" y="3634"/>
              <a:ext cx="861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m</a:t>
              </a:r>
              <a:r>
                <a:rPr lang="zh-CN" altLang="zh-CN" sz="1400" b="1" dirty="0">
                  <a:latin typeface="Times New Roman" panose="02020603050405020304" pitchFamily="18" charset="0"/>
                </a:rPr>
                <a:t>Δ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691" name="Text Box 16"/>
            <p:cNvSpPr txBox="1"/>
            <p:nvPr/>
          </p:nvSpPr>
          <p:spPr>
            <a:xfrm>
              <a:off x="1655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692" name="Line 17"/>
            <p:cNvSpPr/>
            <p:nvPr/>
          </p:nvSpPr>
          <p:spPr>
            <a:xfrm>
              <a:off x="1156" y="3570"/>
              <a:ext cx="340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5693" name="Line 18"/>
            <p:cNvSpPr/>
            <p:nvPr/>
          </p:nvSpPr>
          <p:spPr>
            <a:xfrm flipV="1">
              <a:off x="1156" y="2130"/>
              <a:ext cx="0" cy="14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5694" name="Line 19"/>
            <p:cNvSpPr/>
            <p:nvPr/>
          </p:nvSpPr>
          <p:spPr>
            <a:xfrm>
              <a:off x="1156" y="3343"/>
              <a:ext cx="24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695" name="Line 20"/>
            <p:cNvSpPr/>
            <p:nvPr/>
          </p:nvSpPr>
          <p:spPr>
            <a:xfrm flipV="1">
              <a:off x="1383" y="3116"/>
              <a:ext cx="0" cy="4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696" name="Line 21"/>
            <p:cNvSpPr/>
            <p:nvPr/>
          </p:nvSpPr>
          <p:spPr>
            <a:xfrm flipV="1">
              <a:off x="1610" y="2889"/>
              <a:ext cx="0" cy="6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697" name="Line 22"/>
            <p:cNvSpPr/>
            <p:nvPr/>
          </p:nvSpPr>
          <p:spPr>
            <a:xfrm flipV="1">
              <a:off x="1837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698" name="Line 23"/>
            <p:cNvSpPr/>
            <p:nvPr/>
          </p:nvSpPr>
          <p:spPr>
            <a:xfrm flipV="1">
              <a:off x="2064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699" name="Line 24"/>
            <p:cNvSpPr/>
            <p:nvPr/>
          </p:nvSpPr>
          <p:spPr>
            <a:xfrm flipV="1">
              <a:off x="2290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0" name="Line 25"/>
            <p:cNvSpPr/>
            <p:nvPr/>
          </p:nvSpPr>
          <p:spPr>
            <a:xfrm flipV="1">
              <a:off x="2517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1" name="Line 26"/>
            <p:cNvSpPr/>
            <p:nvPr/>
          </p:nvSpPr>
          <p:spPr>
            <a:xfrm flipV="1">
              <a:off x="2744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2" name="Line 27"/>
            <p:cNvSpPr/>
            <p:nvPr/>
          </p:nvSpPr>
          <p:spPr>
            <a:xfrm flipV="1">
              <a:off x="2971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3" name="Line 28"/>
            <p:cNvSpPr/>
            <p:nvPr/>
          </p:nvSpPr>
          <p:spPr>
            <a:xfrm flipV="1">
              <a:off x="3197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4" name="Line 29"/>
            <p:cNvSpPr/>
            <p:nvPr/>
          </p:nvSpPr>
          <p:spPr>
            <a:xfrm flipV="1">
              <a:off x="3424" y="2663"/>
              <a:ext cx="0" cy="9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5" name="Line 30"/>
            <p:cNvSpPr/>
            <p:nvPr/>
          </p:nvSpPr>
          <p:spPr>
            <a:xfrm flipV="1">
              <a:off x="3651" y="2663"/>
              <a:ext cx="0" cy="6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6" name="Line 31"/>
            <p:cNvSpPr/>
            <p:nvPr/>
          </p:nvSpPr>
          <p:spPr>
            <a:xfrm>
              <a:off x="1383" y="3116"/>
              <a:ext cx="24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7" name="Line 32"/>
            <p:cNvSpPr/>
            <p:nvPr/>
          </p:nvSpPr>
          <p:spPr>
            <a:xfrm>
              <a:off x="1610" y="2889"/>
              <a:ext cx="24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8" name="Line 33"/>
            <p:cNvSpPr/>
            <p:nvPr/>
          </p:nvSpPr>
          <p:spPr>
            <a:xfrm flipV="1">
              <a:off x="1837" y="2663"/>
              <a:ext cx="2268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09" name="Line 34"/>
            <p:cNvSpPr/>
            <p:nvPr/>
          </p:nvSpPr>
          <p:spPr>
            <a:xfrm flipV="1">
              <a:off x="3878" y="2663"/>
              <a:ext cx="0" cy="4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10" name="Line 35"/>
            <p:cNvSpPr/>
            <p:nvPr/>
          </p:nvSpPr>
          <p:spPr>
            <a:xfrm flipV="1">
              <a:off x="4105" y="2663"/>
              <a:ext cx="0" cy="22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11" name="Text Box 36"/>
            <p:cNvSpPr txBox="1"/>
            <p:nvPr/>
          </p:nvSpPr>
          <p:spPr>
            <a:xfrm>
              <a:off x="1202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2" name="Text Box 37"/>
            <p:cNvSpPr txBox="1"/>
            <p:nvPr/>
          </p:nvSpPr>
          <p:spPr>
            <a:xfrm>
              <a:off x="1428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3" name="Text Box 38"/>
            <p:cNvSpPr txBox="1"/>
            <p:nvPr/>
          </p:nvSpPr>
          <p:spPr>
            <a:xfrm>
              <a:off x="1882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4" name="Text Box 39"/>
            <p:cNvSpPr txBox="1"/>
            <p:nvPr/>
          </p:nvSpPr>
          <p:spPr>
            <a:xfrm>
              <a:off x="2109" y="334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5" name="Text Box 40"/>
            <p:cNvSpPr txBox="1"/>
            <p:nvPr/>
          </p:nvSpPr>
          <p:spPr>
            <a:xfrm>
              <a:off x="1882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6" name="Text Box 41"/>
            <p:cNvSpPr txBox="1"/>
            <p:nvPr/>
          </p:nvSpPr>
          <p:spPr>
            <a:xfrm>
              <a:off x="1429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7" name="Text Box 42"/>
            <p:cNvSpPr txBox="1"/>
            <p:nvPr/>
          </p:nvSpPr>
          <p:spPr>
            <a:xfrm>
              <a:off x="1655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8" name="Text Box 43"/>
            <p:cNvSpPr txBox="1"/>
            <p:nvPr/>
          </p:nvSpPr>
          <p:spPr>
            <a:xfrm>
              <a:off x="2109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19" name="Text Box 44"/>
            <p:cNvSpPr txBox="1"/>
            <p:nvPr/>
          </p:nvSpPr>
          <p:spPr>
            <a:xfrm>
              <a:off x="2336" y="3116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0" name="Text Box 45"/>
            <p:cNvSpPr txBox="1"/>
            <p:nvPr/>
          </p:nvSpPr>
          <p:spPr>
            <a:xfrm>
              <a:off x="2108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1" name="Text Box 46"/>
            <p:cNvSpPr txBox="1"/>
            <p:nvPr/>
          </p:nvSpPr>
          <p:spPr>
            <a:xfrm>
              <a:off x="1655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2" name="Text Box 47"/>
            <p:cNvSpPr txBox="1"/>
            <p:nvPr/>
          </p:nvSpPr>
          <p:spPr>
            <a:xfrm>
              <a:off x="1881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3" name="Text Box 48"/>
            <p:cNvSpPr txBox="1"/>
            <p:nvPr/>
          </p:nvSpPr>
          <p:spPr>
            <a:xfrm>
              <a:off x="2335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4" name="Text Box 49"/>
            <p:cNvSpPr txBox="1"/>
            <p:nvPr/>
          </p:nvSpPr>
          <p:spPr>
            <a:xfrm>
              <a:off x="2562" y="2889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5" name="Text Box 50"/>
            <p:cNvSpPr txBox="1"/>
            <p:nvPr/>
          </p:nvSpPr>
          <p:spPr>
            <a:xfrm>
              <a:off x="2335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6" name="Text Box 51"/>
            <p:cNvSpPr txBox="1"/>
            <p:nvPr/>
          </p:nvSpPr>
          <p:spPr>
            <a:xfrm>
              <a:off x="1882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7" name="Text Box 52"/>
            <p:cNvSpPr txBox="1"/>
            <p:nvPr/>
          </p:nvSpPr>
          <p:spPr>
            <a:xfrm>
              <a:off x="2108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8" name="Text Box 53"/>
            <p:cNvSpPr txBox="1"/>
            <p:nvPr/>
          </p:nvSpPr>
          <p:spPr>
            <a:xfrm>
              <a:off x="2562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29" name="Text Box 54"/>
            <p:cNvSpPr txBox="1"/>
            <p:nvPr/>
          </p:nvSpPr>
          <p:spPr>
            <a:xfrm>
              <a:off x="2789" y="2663"/>
              <a:ext cx="136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30" name="Text Box 55"/>
            <p:cNvSpPr txBox="1"/>
            <p:nvPr/>
          </p:nvSpPr>
          <p:spPr>
            <a:xfrm>
              <a:off x="2290" y="3298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5731" name="Text Box 56"/>
            <p:cNvSpPr txBox="1"/>
            <p:nvPr/>
          </p:nvSpPr>
          <p:spPr>
            <a:xfrm>
              <a:off x="2517" y="3071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5732" name="Text Box 57"/>
            <p:cNvSpPr txBox="1"/>
            <p:nvPr/>
          </p:nvSpPr>
          <p:spPr>
            <a:xfrm>
              <a:off x="2744" y="2844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5733" name="Text Box 58"/>
            <p:cNvSpPr txBox="1"/>
            <p:nvPr/>
          </p:nvSpPr>
          <p:spPr>
            <a:xfrm>
              <a:off x="2971" y="2617"/>
              <a:ext cx="72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Arial" panose="020B0604020202020204" pitchFamily="34" charset="0"/>
                </a:rPr>
                <a:t>…  …  …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455734" name="Text Box 59"/>
            <p:cNvSpPr txBox="1"/>
            <p:nvPr/>
          </p:nvSpPr>
          <p:spPr>
            <a:xfrm>
              <a:off x="2971" y="3343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35" name="Text Box 60"/>
            <p:cNvSpPr txBox="1"/>
            <p:nvPr/>
          </p:nvSpPr>
          <p:spPr>
            <a:xfrm>
              <a:off x="3198" y="3131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36" name="Text Box 61"/>
            <p:cNvSpPr txBox="1"/>
            <p:nvPr/>
          </p:nvSpPr>
          <p:spPr>
            <a:xfrm>
              <a:off x="3425" y="2889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37" name="Text Box 62"/>
            <p:cNvSpPr txBox="1"/>
            <p:nvPr/>
          </p:nvSpPr>
          <p:spPr>
            <a:xfrm>
              <a:off x="3651" y="2663"/>
              <a:ext cx="544" cy="212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54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-1   </a:t>
              </a:r>
              <a:r>
                <a:rPr lang="en-US" altLang="zh-CN" sz="1600" b="1" i="1" dirty="0">
                  <a:latin typeface="Times New Roman" panose="02020603050405020304" pitchFamily="18" charset="0"/>
                </a:rPr>
                <a:t>n</a:t>
              </a:r>
              <a:endParaRPr lang="en-US" altLang="zh-CN" sz="16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38" name="Text Box 63"/>
            <p:cNvSpPr txBox="1"/>
            <p:nvPr/>
          </p:nvSpPr>
          <p:spPr>
            <a:xfrm>
              <a:off x="4559" y="3434"/>
              <a:ext cx="544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b="1" baseline="-25000" dirty="0">
                  <a:latin typeface="Times New Roman" panose="02020603050405020304" pitchFamily="18" charset="0"/>
                </a:rPr>
                <a:t>时间</a:t>
              </a:r>
              <a:endParaRPr lang="zh-CN" altLang="en-US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39" name="Text Box 64"/>
            <p:cNvSpPr txBox="1"/>
            <p:nvPr/>
          </p:nvSpPr>
          <p:spPr>
            <a:xfrm>
              <a:off x="975" y="1846"/>
              <a:ext cx="453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</a:rPr>
                <a:t>S</a:t>
              </a:r>
              <a:r>
                <a:rPr lang="zh-CN" altLang="en-US" b="1" baseline="-25000" dirty="0">
                  <a:latin typeface="Times New Roman" panose="02020603050405020304" pitchFamily="18" charset="0"/>
                </a:rPr>
                <a:t>空间</a:t>
              </a:r>
              <a:endParaRPr lang="zh-CN" altLang="en-US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40" name="Text Box 65"/>
            <p:cNvSpPr txBox="1"/>
            <p:nvPr/>
          </p:nvSpPr>
          <p:spPr>
            <a:xfrm>
              <a:off x="793" y="2164"/>
              <a:ext cx="453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400" b="1" dirty="0">
                  <a:latin typeface="Times New Roman" panose="02020603050405020304" pitchFamily="18" charset="0"/>
                </a:rPr>
                <a:t>空间</a:t>
              </a:r>
              <a:endParaRPr lang="zh-CN" altLang="en-US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5741" name="Line 66"/>
            <p:cNvSpPr/>
            <p:nvPr/>
          </p:nvSpPr>
          <p:spPr>
            <a:xfrm flipH="1">
              <a:off x="1156" y="2663"/>
              <a:ext cx="6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55742" name="Line 67"/>
            <p:cNvSpPr/>
            <p:nvPr/>
          </p:nvSpPr>
          <p:spPr>
            <a:xfrm>
              <a:off x="4105" y="2889"/>
              <a:ext cx="0" cy="6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55743" name="Text Box 68"/>
            <p:cNvSpPr txBox="1"/>
            <p:nvPr/>
          </p:nvSpPr>
          <p:spPr>
            <a:xfrm>
              <a:off x="930" y="2683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44" name="Text Box 69"/>
            <p:cNvSpPr txBox="1"/>
            <p:nvPr/>
          </p:nvSpPr>
          <p:spPr>
            <a:xfrm>
              <a:off x="930" y="2909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45" name="Text Box 70"/>
            <p:cNvSpPr txBox="1"/>
            <p:nvPr/>
          </p:nvSpPr>
          <p:spPr>
            <a:xfrm>
              <a:off x="930" y="3136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46" name="Text Box 71"/>
            <p:cNvSpPr txBox="1"/>
            <p:nvPr/>
          </p:nvSpPr>
          <p:spPr>
            <a:xfrm>
              <a:off x="930" y="3363"/>
              <a:ext cx="272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55747" name="Line 72"/>
            <p:cNvSpPr/>
            <p:nvPr/>
          </p:nvSpPr>
          <p:spPr>
            <a:xfrm>
              <a:off x="1156" y="3615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48" name="Line 73"/>
            <p:cNvSpPr/>
            <p:nvPr/>
          </p:nvSpPr>
          <p:spPr>
            <a:xfrm>
              <a:off x="2064" y="3615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49" name="Line 74"/>
            <p:cNvSpPr/>
            <p:nvPr/>
          </p:nvSpPr>
          <p:spPr>
            <a:xfrm>
              <a:off x="4105" y="3615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5750" name="Line 75"/>
            <p:cNvSpPr/>
            <p:nvPr/>
          </p:nvSpPr>
          <p:spPr>
            <a:xfrm>
              <a:off x="1156" y="3706"/>
              <a:ext cx="9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55751" name="Line 76"/>
            <p:cNvSpPr/>
            <p:nvPr/>
          </p:nvSpPr>
          <p:spPr>
            <a:xfrm>
              <a:off x="2064" y="3706"/>
              <a:ext cx="20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455752" name="Text Box 77"/>
            <p:cNvSpPr txBox="1"/>
            <p:nvPr/>
          </p:nvSpPr>
          <p:spPr>
            <a:xfrm>
              <a:off x="2790" y="3655"/>
              <a:ext cx="861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) </a:t>
              </a:r>
              <a:r>
                <a:rPr lang="zh-CN" altLang="zh-CN" sz="1400" b="1" dirty="0">
                  <a:latin typeface="Times New Roman" panose="02020603050405020304" pitchFamily="18" charset="0"/>
                </a:rPr>
                <a:t>Δ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5687" name="Text Box 78"/>
          <p:cNvSpPr txBox="1"/>
          <p:nvPr/>
        </p:nvSpPr>
        <p:spPr>
          <a:xfrm>
            <a:off x="2855913" y="1196975"/>
            <a:ext cx="82454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流水线中各功能段的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利用率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5688" name="AutoShape 7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5689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67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4567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书</a:t>
            </a:r>
            <a:r>
              <a:rPr lang="en-US" altLang="zh-CN" dirty="0"/>
              <a:t>354</a:t>
            </a:r>
            <a:r>
              <a:rPr lang="zh-CN" altLang="en-US" dirty="0"/>
              <a:t>页</a:t>
            </a:r>
            <a:endParaRPr lang="zh-CN" altLang="en-US" dirty="0"/>
          </a:p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8.1</a:t>
            </a:r>
            <a:endParaRPr lang="en-US" altLang="zh-CN" dirty="0"/>
          </a:p>
          <a:p>
            <a:pPr eaLnBrk="1" hangingPunct="1"/>
            <a:r>
              <a:rPr lang="zh-CN" altLang="en-US" dirty="0"/>
              <a:t>书</a:t>
            </a:r>
            <a:r>
              <a:rPr lang="en-US" altLang="zh-CN" dirty="0"/>
              <a:t>370</a:t>
            </a:r>
            <a:r>
              <a:rPr lang="zh-CN" altLang="en-US" dirty="0"/>
              <a:t>页  </a:t>
            </a:r>
            <a:r>
              <a:rPr lang="en-US" altLang="zh-CN" dirty="0"/>
              <a:t>8.11 8.12</a:t>
            </a:r>
            <a:endParaRPr lang="en-US" altLang="zh-CN" dirty="0"/>
          </a:p>
        </p:txBody>
      </p:sp>
      <p:sp>
        <p:nvSpPr>
          <p:cNvPr id="45670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7730" name="Rectangle 2"/>
          <p:cNvSpPr/>
          <p:nvPr/>
        </p:nvSpPr>
        <p:spPr>
          <a:xfrm>
            <a:off x="2133600" y="152400"/>
            <a:ext cx="5399088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</a:rPr>
              <a:t>五、流水线的多发技术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57731" name="Rectangle 3"/>
          <p:cNvSpPr/>
          <p:nvPr/>
        </p:nvSpPr>
        <p:spPr>
          <a:xfrm>
            <a:off x="2667000" y="838200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</a:rPr>
              <a:t>超标量技术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7732" name="Rectangle 4"/>
          <p:cNvSpPr/>
          <p:nvPr/>
        </p:nvSpPr>
        <p:spPr>
          <a:xfrm>
            <a:off x="3048000" y="14478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每个时钟周期内可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并发多条独立指令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7733" name="Rectangle 5"/>
          <p:cNvSpPr/>
          <p:nvPr/>
        </p:nvSpPr>
        <p:spPr>
          <a:xfrm>
            <a:off x="3048000" y="2667000"/>
            <a:ext cx="4495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不能调整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执行顺序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7734" name="Text Box 6"/>
          <p:cNvSpPr txBox="1"/>
          <p:nvPr/>
        </p:nvSpPr>
        <p:spPr>
          <a:xfrm>
            <a:off x="3386138" y="1981200"/>
            <a:ext cx="548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配置多个功能部件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7735" name="Text Box 7"/>
          <p:cNvSpPr txBox="1"/>
          <p:nvPr/>
        </p:nvSpPr>
        <p:spPr>
          <a:xfrm>
            <a:off x="3357563" y="3200400"/>
            <a:ext cx="7391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通过编译优化技术，把可并行执行的指令搭配起来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02440" name="Rectangle 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7737" name="Group 9"/>
          <p:cNvGrpSpPr/>
          <p:nvPr/>
        </p:nvGrpSpPr>
        <p:grpSpPr>
          <a:xfrm>
            <a:off x="2279650" y="3644900"/>
            <a:ext cx="8640763" cy="2927351"/>
            <a:chOff x="476" y="2341"/>
            <a:chExt cx="5443" cy="1844"/>
          </a:xfrm>
        </p:grpSpPr>
        <p:grpSp>
          <p:nvGrpSpPr>
            <p:cNvPr id="457740" name="Group 10"/>
            <p:cNvGrpSpPr/>
            <p:nvPr/>
          </p:nvGrpSpPr>
          <p:grpSpPr>
            <a:xfrm>
              <a:off x="1132" y="2496"/>
              <a:ext cx="4787" cy="1689"/>
              <a:chOff x="1132" y="2496"/>
              <a:chExt cx="4787" cy="1689"/>
            </a:xfrm>
          </p:grpSpPr>
          <p:grpSp>
            <p:nvGrpSpPr>
              <p:cNvPr id="457742" name="Group 11"/>
              <p:cNvGrpSpPr/>
              <p:nvPr/>
            </p:nvGrpSpPr>
            <p:grpSpPr>
              <a:xfrm>
                <a:off x="1132" y="2496"/>
                <a:ext cx="4340" cy="1689"/>
                <a:chOff x="1132" y="2496"/>
                <a:chExt cx="4340" cy="1689"/>
              </a:xfrm>
            </p:grpSpPr>
            <p:sp>
              <p:nvSpPr>
                <p:cNvPr id="457744" name="Rectangle 12"/>
                <p:cNvSpPr/>
                <p:nvPr/>
              </p:nvSpPr>
              <p:spPr>
                <a:xfrm>
                  <a:off x="1189" y="257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45" name="Rectangle 13"/>
                <p:cNvSpPr/>
                <p:nvPr/>
              </p:nvSpPr>
              <p:spPr>
                <a:xfrm>
                  <a:off x="1471" y="257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46" name="Rectangle 14"/>
                <p:cNvSpPr/>
                <p:nvPr/>
              </p:nvSpPr>
              <p:spPr>
                <a:xfrm>
                  <a:off x="1753" y="2578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47" name="Rectangle 15"/>
                <p:cNvSpPr/>
                <p:nvPr/>
              </p:nvSpPr>
              <p:spPr>
                <a:xfrm>
                  <a:off x="2035" y="257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48" name="Rectangle 16"/>
                <p:cNvSpPr/>
                <p:nvPr/>
              </p:nvSpPr>
              <p:spPr>
                <a:xfrm>
                  <a:off x="1189" y="2701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49" name="Rectangle 17"/>
                <p:cNvSpPr/>
                <p:nvPr/>
              </p:nvSpPr>
              <p:spPr>
                <a:xfrm>
                  <a:off x="1471" y="2701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0" name="Rectangle 18"/>
                <p:cNvSpPr/>
                <p:nvPr/>
              </p:nvSpPr>
              <p:spPr>
                <a:xfrm>
                  <a:off x="1753" y="2701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1" name="Rectangle 19"/>
                <p:cNvSpPr/>
                <p:nvPr/>
              </p:nvSpPr>
              <p:spPr>
                <a:xfrm>
                  <a:off x="2035" y="2701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2" name="Rectangle 20"/>
                <p:cNvSpPr/>
                <p:nvPr/>
              </p:nvSpPr>
              <p:spPr>
                <a:xfrm>
                  <a:off x="1189" y="2824"/>
                  <a:ext cx="282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3" name="Rectangle 21"/>
                <p:cNvSpPr/>
                <p:nvPr/>
              </p:nvSpPr>
              <p:spPr>
                <a:xfrm>
                  <a:off x="1471" y="2824"/>
                  <a:ext cx="282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4" name="Rectangle 22"/>
                <p:cNvSpPr/>
                <p:nvPr/>
              </p:nvSpPr>
              <p:spPr>
                <a:xfrm>
                  <a:off x="1753" y="2824"/>
                  <a:ext cx="282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5" name="Rectangle 23"/>
                <p:cNvSpPr/>
                <p:nvPr/>
              </p:nvSpPr>
              <p:spPr>
                <a:xfrm>
                  <a:off x="2035" y="2824"/>
                  <a:ext cx="282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6" name="Rectangle 24"/>
                <p:cNvSpPr/>
                <p:nvPr/>
              </p:nvSpPr>
              <p:spPr>
                <a:xfrm>
                  <a:off x="1471" y="294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7" name="Rectangle 25"/>
                <p:cNvSpPr/>
                <p:nvPr/>
              </p:nvSpPr>
              <p:spPr>
                <a:xfrm>
                  <a:off x="1753" y="294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8" name="Rectangle 26"/>
                <p:cNvSpPr/>
                <p:nvPr/>
              </p:nvSpPr>
              <p:spPr>
                <a:xfrm>
                  <a:off x="2035" y="2948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59" name="Rectangle 27"/>
                <p:cNvSpPr/>
                <p:nvPr/>
              </p:nvSpPr>
              <p:spPr>
                <a:xfrm>
                  <a:off x="2317" y="294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0" name="Rectangle 28"/>
                <p:cNvSpPr/>
                <p:nvPr/>
              </p:nvSpPr>
              <p:spPr>
                <a:xfrm>
                  <a:off x="1471" y="3071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1" name="Rectangle 29"/>
                <p:cNvSpPr/>
                <p:nvPr/>
              </p:nvSpPr>
              <p:spPr>
                <a:xfrm>
                  <a:off x="1753" y="3071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2" name="Rectangle 30"/>
                <p:cNvSpPr/>
                <p:nvPr/>
              </p:nvSpPr>
              <p:spPr>
                <a:xfrm>
                  <a:off x="2035" y="3071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3" name="Rectangle 31"/>
                <p:cNvSpPr/>
                <p:nvPr/>
              </p:nvSpPr>
              <p:spPr>
                <a:xfrm>
                  <a:off x="2317" y="3071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4" name="Rectangle 32"/>
                <p:cNvSpPr/>
                <p:nvPr/>
              </p:nvSpPr>
              <p:spPr>
                <a:xfrm>
                  <a:off x="1471" y="3194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5" name="Rectangle 33"/>
                <p:cNvSpPr/>
                <p:nvPr/>
              </p:nvSpPr>
              <p:spPr>
                <a:xfrm>
                  <a:off x="1753" y="3194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6" name="Rectangle 34"/>
                <p:cNvSpPr/>
                <p:nvPr/>
              </p:nvSpPr>
              <p:spPr>
                <a:xfrm>
                  <a:off x="2035" y="3194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7" name="Rectangle 35"/>
                <p:cNvSpPr/>
                <p:nvPr/>
              </p:nvSpPr>
              <p:spPr>
                <a:xfrm>
                  <a:off x="2317" y="3194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8" name="Rectangle 36"/>
                <p:cNvSpPr/>
                <p:nvPr/>
              </p:nvSpPr>
              <p:spPr>
                <a:xfrm>
                  <a:off x="1753" y="3317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69" name="Rectangle 37"/>
                <p:cNvSpPr/>
                <p:nvPr/>
              </p:nvSpPr>
              <p:spPr>
                <a:xfrm>
                  <a:off x="2035" y="3317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0" name="Rectangle 38"/>
                <p:cNvSpPr/>
                <p:nvPr/>
              </p:nvSpPr>
              <p:spPr>
                <a:xfrm>
                  <a:off x="2317" y="3317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1" name="Rectangle 39"/>
                <p:cNvSpPr/>
                <p:nvPr/>
              </p:nvSpPr>
              <p:spPr>
                <a:xfrm>
                  <a:off x="2599" y="3317"/>
                  <a:ext cx="281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2" name="Rectangle 40"/>
                <p:cNvSpPr/>
                <p:nvPr/>
              </p:nvSpPr>
              <p:spPr>
                <a:xfrm>
                  <a:off x="1753" y="3440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3" name="Rectangle 41"/>
                <p:cNvSpPr/>
                <p:nvPr/>
              </p:nvSpPr>
              <p:spPr>
                <a:xfrm>
                  <a:off x="2035" y="3440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4" name="Rectangle 42"/>
                <p:cNvSpPr/>
                <p:nvPr/>
              </p:nvSpPr>
              <p:spPr>
                <a:xfrm>
                  <a:off x="2317" y="3440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5" name="Rectangle 43"/>
                <p:cNvSpPr/>
                <p:nvPr/>
              </p:nvSpPr>
              <p:spPr>
                <a:xfrm>
                  <a:off x="2599" y="3440"/>
                  <a:ext cx="281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6" name="Rectangle 44"/>
                <p:cNvSpPr/>
                <p:nvPr/>
              </p:nvSpPr>
              <p:spPr>
                <a:xfrm>
                  <a:off x="1753" y="3563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7" name="Rectangle 45"/>
                <p:cNvSpPr/>
                <p:nvPr/>
              </p:nvSpPr>
              <p:spPr>
                <a:xfrm>
                  <a:off x="2035" y="3563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8" name="Rectangle 46"/>
                <p:cNvSpPr/>
                <p:nvPr/>
              </p:nvSpPr>
              <p:spPr>
                <a:xfrm>
                  <a:off x="2317" y="3564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79" name="Rectangle 47"/>
                <p:cNvSpPr/>
                <p:nvPr/>
              </p:nvSpPr>
              <p:spPr>
                <a:xfrm>
                  <a:off x="2599" y="3563"/>
                  <a:ext cx="281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80" name="Rectangle 48"/>
                <p:cNvSpPr/>
                <p:nvPr/>
              </p:nvSpPr>
              <p:spPr>
                <a:xfrm>
                  <a:off x="3397" y="257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81" name="Rectangle 49"/>
                <p:cNvSpPr/>
                <p:nvPr/>
              </p:nvSpPr>
              <p:spPr>
                <a:xfrm>
                  <a:off x="3679" y="257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82" name="Rectangle 50"/>
                <p:cNvSpPr/>
                <p:nvPr/>
              </p:nvSpPr>
              <p:spPr>
                <a:xfrm>
                  <a:off x="3961" y="2578"/>
                  <a:ext cx="282" cy="123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83" name="Rectangle 51"/>
                <p:cNvSpPr/>
                <p:nvPr/>
              </p:nvSpPr>
              <p:spPr>
                <a:xfrm>
                  <a:off x="4243" y="2578"/>
                  <a:ext cx="282" cy="123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784" name="Text Box 52"/>
                <p:cNvSpPr txBox="1"/>
                <p:nvPr/>
              </p:nvSpPr>
              <p:spPr>
                <a:xfrm>
                  <a:off x="3388" y="2749"/>
                  <a:ext cx="1187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IF   ID 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EX  </a:t>
                  </a:r>
                  <a:r>
                    <a:rPr lang="en-US" altLang="zh-CN" sz="10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WR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7785" name="Line 53"/>
                <p:cNvSpPr/>
                <p:nvPr/>
              </p:nvSpPr>
              <p:spPr>
                <a:xfrm>
                  <a:off x="1189" y="2496"/>
                  <a:ext cx="0" cy="13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57786" name="Line 54"/>
                <p:cNvSpPr/>
                <p:nvPr/>
              </p:nvSpPr>
              <p:spPr>
                <a:xfrm>
                  <a:off x="1189" y="3892"/>
                  <a:ext cx="394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57787" name="Line 55"/>
                <p:cNvSpPr/>
                <p:nvPr/>
              </p:nvSpPr>
              <p:spPr>
                <a:xfrm>
                  <a:off x="1471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88" name="Line 56"/>
                <p:cNvSpPr/>
                <p:nvPr/>
              </p:nvSpPr>
              <p:spPr>
                <a:xfrm>
                  <a:off x="1753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89" name="Line 57"/>
                <p:cNvSpPr/>
                <p:nvPr/>
              </p:nvSpPr>
              <p:spPr>
                <a:xfrm>
                  <a:off x="2035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0" name="Line 58"/>
                <p:cNvSpPr/>
                <p:nvPr/>
              </p:nvSpPr>
              <p:spPr>
                <a:xfrm>
                  <a:off x="2317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1" name="Line 59"/>
                <p:cNvSpPr/>
                <p:nvPr/>
              </p:nvSpPr>
              <p:spPr>
                <a:xfrm>
                  <a:off x="2599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2" name="Line 60"/>
                <p:cNvSpPr/>
                <p:nvPr/>
              </p:nvSpPr>
              <p:spPr>
                <a:xfrm>
                  <a:off x="2880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3" name="Line 61"/>
                <p:cNvSpPr/>
                <p:nvPr/>
              </p:nvSpPr>
              <p:spPr>
                <a:xfrm>
                  <a:off x="3162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4" name="Line 62"/>
                <p:cNvSpPr/>
                <p:nvPr/>
              </p:nvSpPr>
              <p:spPr>
                <a:xfrm>
                  <a:off x="3444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5" name="Line 63"/>
                <p:cNvSpPr/>
                <p:nvPr/>
              </p:nvSpPr>
              <p:spPr>
                <a:xfrm>
                  <a:off x="3726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6" name="Line 64"/>
                <p:cNvSpPr/>
                <p:nvPr/>
              </p:nvSpPr>
              <p:spPr>
                <a:xfrm>
                  <a:off x="4008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7" name="Line 65"/>
                <p:cNvSpPr/>
                <p:nvPr/>
              </p:nvSpPr>
              <p:spPr>
                <a:xfrm>
                  <a:off x="4290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8" name="Line 66"/>
                <p:cNvSpPr/>
                <p:nvPr/>
              </p:nvSpPr>
              <p:spPr>
                <a:xfrm>
                  <a:off x="4572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799" name="Line 67"/>
                <p:cNvSpPr/>
                <p:nvPr/>
              </p:nvSpPr>
              <p:spPr>
                <a:xfrm>
                  <a:off x="4854" y="3851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7800" name="Text Box 68"/>
                <p:cNvSpPr txBox="1"/>
                <p:nvPr/>
              </p:nvSpPr>
              <p:spPr>
                <a:xfrm>
                  <a:off x="1132" y="3953"/>
                  <a:ext cx="4340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b="1" dirty="0">
                      <a:latin typeface="Times New Roman" panose="02020603050405020304" pitchFamily="18" charset="0"/>
                    </a:rPr>
                    <a:t>0     1      2      3 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4      5 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6      7      8 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9     10   11    12     13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7743" name="Text Box 69"/>
              <p:cNvSpPr txBox="1"/>
              <p:nvPr/>
            </p:nvSpPr>
            <p:spPr>
              <a:xfrm>
                <a:off x="5148" y="3744"/>
                <a:ext cx="771" cy="4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时钟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周期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7741" name="Text Box 70"/>
            <p:cNvSpPr txBox="1"/>
            <p:nvPr/>
          </p:nvSpPr>
          <p:spPr>
            <a:xfrm>
              <a:off x="476" y="2341"/>
              <a:ext cx="7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指令序列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7738" name="AutoShape 7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773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8754" name="Rectangle 2"/>
          <p:cNvSpPr/>
          <p:nvPr/>
        </p:nvSpPr>
        <p:spPr>
          <a:xfrm>
            <a:off x="1981200" y="228600"/>
            <a:ext cx="4402138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超流水线技术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58755" name="Rectangle 3"/>
          <p:cNvSpPr/>
          <p:nvPr/>
        </p:nvSpPr>
        <p:spPr>
          <a:xfrm>
            <a:off x="2286000" y="838200"/>
            <a:ext cx="6905625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一个时钟周期 </a:t>
            </a:r>
            <a:r>
              <a:rPr lang="zh-CN" altLang="en-US" sz="2400" b="1" dirty="0">
                <a:latin typeface="Times New Roman" panose="02020603050405020304" pitchFamily="18" charset="0"/>
              </a:rPr>
              <a:t>内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再分段</a:t>
            </a:r>
            <a:r>
              <a:rPr lang="zh-CN" altLang="en-US" sz="2400" b="1" dirty="0">
                <a:latin typeface="Times New Roman" panose="02020603050405020304" pitchFamily="18" charset="0"/>
              </a:rPr>
              <a:t> （ </a:t>
            </a:r>
            <a:r>
              <a:rPr lang="en-US" altLang="zh-CN" sz="2400" b="1" dirty="0"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latin typeface="Times New Roman" panose="02020603050405020304" pitchFamily="18" charset="0"/>
              </a:rPr>
              <a:t>段）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8756" name="Rectangle 4"/>
          <p:cNvSpPr/>
          <p:nvPr/>
        </p:nvSpPr>
        <p:spPr>
          <a:xfrm>
            <a:off x="2286000" y="2286000"/>
            <a:ext cx="4495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不能调整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指令的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执行顺序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8757" name="Rectangle 5"/>
          <p:cNvSpPr/>
          <p:nvPr/>
        </p:nvSpPr>
        <p:spPr>
          <a:xfrm>
            <a:off x="2686050" y="1447800"/>
            <a:ext cx="7924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在一个时钟周期内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一个功能部件使用多次</a:t>
            </a:r>
            <a:r>
              <a:rPr lang="zh-CN" altLang="en-US" sz="2400" b="1" dirty="0">
                <a:latin typeface="Times New Roman" panose="02020603050405020304" pitchFamily="18" charset="0"/>
              </a:rPr>
              <a:t>（ </a:t>
            </a:r>
            <a:r>
              <a:rPr lang="en-US" altLang="zh-CN" sz="2400" b="1" dirty="0"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latin typeface="Times New Roman" panose="02020603050405020304" pitchFamily="18" charset="0"/>
              </a:rPr>
              <a:t>次）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8758" name="Rectangle 6"/>
          <p:cNvSpPr/>
          <p:nvPr/>
        </p:nvSpPr>
        <p:spPr>
          <a:xfrm>
            <a:off x="2714625" y="2895600"/>
            <a:ext cx="4343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靠编译程序解决优化问题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58759" name="Text Box 7"/>
          <p:cNvSpPr txBox="1"/>
          <p:nvPr/>
        </p:nvSpPr>
        <p:spPr>
          <a:xfrm>
            <a:off x="6400800" y="4953000"/>
            <a:ext cx="4267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8760" name="Text Box 8"/>
          <p:cNvSpPr txBox="1"/>
          <p:nvPr/>
        </p:nvSpPr>
        <p:spPr>
          <a:xfrm>
            <a:off x="6324600" y="4876800"/>
            <a:ext cx="4648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流水线速度是原来速度的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倍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58761" name="Group 9"/>
          <p:cNvGrpSpPr/>
          <p:nvPr/>
        </p:nvGrpSpPr>
        <p:grpSpPr>
          <a:xfrm>
            <a:off x="3457575" y="3732213"/>
            <a:ext cx="288925" cy="2419350"/>
            <a:chOff x="1218" y="2351"/>
            <a:chExt cx="182" cy="1524"/>
          </a:xfrm>
        </p:grpSpPr>
        <p:sp>
          <p:nvSpPr>
            <p:cNvPr id="458831" name="Freeform 10"/>
            <p:cNvSpPr/>
            <p:nvPr/>
          </p:nvSpPr>
          <p:spPr>
            <a:xfrm>
              <a:off x="1399" y="2351"/>
              <a:ext cx="1" cy="1524"/>
            </a:xfrm>
            <a:custGeom>
              <a:avLst/>
              <a:gdLst>
                <a:gd name="txL" fmla="*/ 0 w 1"/>
                <a:gd name="txT" fmla="*/ 0 h 1524"/>
                <a:gd name="txR" fmla="*/ 1 w 1"/>
                <a:gd name="txB" fmla="*/ 1524 h 1524"/>
              </a:gdLst>
              <a:ahLst/>
              <a:cxnLst>
                <a:cxn ang="0">
                  <a:pos x="0" y="0"/>
                </a:cxn>
                <a:cxn ang="0">
                  <a:pos x="0" y="1524"/>
                </a:cxn>
              </a:cxnLst>
              <a:rect l="txL" t="txT" r="txR" b="txB"/>
              <a:pathLst>
                <a:path w="1" h="1524">
                  <a:moveTo>
                    <a:pt x="0" y="0"/>
                  </a:moveTo>
                  <a:lnTo>
                    <a:pt x="0" y="1524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8832" name="Freeform 11"/>
            <p:cNvSpPr/>
            <p:nvPr/>
          </p:nvSpPr>
          <p:spPr>
            <a:xfrm>
              <a:off x="1218" y="2640"/>
              <a:ext cx="1" cy="294"/>
            </a:xfrm>
            <a:custGeom>
              <a:avLst/>
              <a:gdLst>
                <a:gd name="txL" fmla="*/ 0 w 1"/>
                <a:gd name="txT" fmla="*/ 0 h 294"/>
                <a:gd name="txR" fmla="*/ 1 w 1"/>
                <a:gd name="txB" fmla="*/ 294 h 294"/>
              </a:gdLst>
              <a:ahLst/>
              <a:cxnLst>
                <a:cxn ang="0">
                  <a:pos x="1" y="0"/>
                </a:cxn>
                <a:cxn ang="0">
                  <a:pos x="0" y="294"/>
                </a:cxn>
              </a:cxnLst>
              <a:rect l="txL" t="txT" r="txR" b="txB"/>
              <a:pathLst>
                <a:path w="1" h="294">
                  <a:moveTo>
                    <a:pt x="1" y="0"/>
                  </a:moveTo>
                  <a:lnTo>
                    <a:pt x="0" y="294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8833" name="Freeform 12"/>
            <p:cNvSpPr/>
            <p:nvPr/>
          </p:nvSpPr>
          <p:spPr>
            <a:xfrm>
              <a:off x="1303" y="2784"/>
              <a:ext cx="2" cy="282"/>
            </a:xfrm>
            <a:custGeom>
              <a:avLst/>
              <a:gdLst>
                <a:gd name="txL" fmla="*/ 0 w 2"/>
                <a:gd name="txT" fmla="*/ 0 h 282"/>
                <a:gd name="txR" fmla="*/ 2 w 2"/>
                <a:gd name="txB" fmla="*/ 282 h 282"/>
              </a:gdLst>
              <a:ahLst/>
              <a:cxnLst>
                <a:cxn ang="0">
                  <a:pos x="2" y="0"/>
                </a:cxn>
                <a:cxn ang="0">
                  <a:pos x="0" y="282"/>
                </a:cxn>
              </a:cxnLst>
              <a:rect l="txL" t="txT" r="txR" b="txB"/>
              <a:pathLst>
                <a:path w="2" h="282">
                  <a:moveTo>
                    <a:pt x="2" y="0"/>
                  </a:moveTo>
                  <a:lnTo>
                    <a:pt x="0" y="282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03469" name="Rectangle 1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8763" name="Group 14"/>
          <p:cNvGrpSpPr/>
          <p:nvPr/>
        </p:nvGrpSpPr>
        <p:grpSpPr>
          <a:xfrm>
            <a:off x="2128838" y="3613150"/>
            <a:ext cx="8539162" cy="3017838"/>
            <a:chOff x="381" y="2276"/>
            <a:chExt cx="5379" cy="1901"/>
          </a:xfrm>
        </p:grpSpPr>
        <p:grpSp>
          <p:nvGrpSpPr>
            <p:cNvPr id="458766" name="Group 15"/>
            <p:cNvGrpSpPr/>
            <p:nvPr/>
          </p:nvGrpSpPr>
          <p:grpSpPr>
            <a:xfrm>
              <a:off x="1072" y="2363"/>
              <a:ext cx="4688" cy="1814"/>
              <a:chOff x="1072" y="2363"/>
              <a:chExt cx="4688" cy="1814"/>
            </a:xfrm>
          </p:grpSpPr>
          <p:grpSp>
            <p:nvGrpSpPr>
              <p:cNvPr id="458768" name="Group 16"/>
              <p:cNvGrpSpPr/>
              <p:nvPr/>
            </p:nvGrpSpPr>
            <p:grpSpPr>
              <a:xfrm>
                <a:off x="1072" y="2363"/>
                <a:ext cx="3830" cy="1814"/>
                <a:chOff x="1072" y="2411"/>
                <a:chExt cx="3830" cy="1814"/>
              </a:xfrm>
            </p:grpSpPr>
            <p:sp>
              <p:nvSpPr>
                <p:cNvPr id="458770" name="Rectangle 17"/>
                <p:cNvSpPr/>
                <p:nvPr/>
              </p:nvSpPr>
              <p:spPr>
                <a:xfrm>
                  <a:off x="1126" y="2577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1" name="Rectangle 18"/>
                <p:cNvSpPr/>
                <p:nvPr/>
              </p:nvSpPr>
              <p:spPr>
                <a:xfrm>
                  <a:off x="1396" y="2577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2" name="Rectangle 19"/>
                <p:cNvSpPr/>
                <p:nvPr/>
              </p:nvSpPr>
              <p:spPr>
                <a:xfrm>
                  <a:off x="1666" y="2577"/>
                  <a:ext cx="269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3" name="Rectangle 20"/>
                <p:cNvSpPr/>
                <p:nvPr/>
              </p:nvSpPr>
              <p:spPr>
                <a:xfrm>
                  <a:off x="1935" y="2577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4" name="Rectangle 21"/>
                <p:cNvSpPr/>
                <p:nvPr/>
              </p:nvSpPr>
              <p:spPr>
                <a:xfrm>
                  <a:off x="1216" y="2701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5" name="Rectangle 22"/>
                <p:cNvSpPr/>
                <p:nvPr/>
              </p:nvSpPr>
              <p:spPr>
                <a:xfrm>
                  <a:off x="1486" y="2701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6" name="Rectangle 23"/>
                <p:cNvSpPr/>
                <p:nvPr/>
              </p:nvSpPr>
              <p:spPr>
                <a:xfrm>
                  <a:off x="1756" y="2701"/>
                  <a:ext cx="269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7" name="Rectangle 24"/>
                <p:cNvSpPr/>
                <p:nvPr/>
              </p:nvSpPr>
              <p:spPr>
                <a:xfrm>
                  <a:off x="2025" y="2701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8" name="Rectangle 25"/>
                <p:cNvSpPr/>
                <p:nvPr/>
              </p:nvSpPr>
              <p:spPr>
                <a:xfrm>
                  <a:off x="1306" y="2825"/>
                  <a:ext cx="270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79" name="Rectangle 26"/>
                <p:cNvSpPr/>
                <p:nvPr/>
              </p:nvSpPr>
              <p:spPr>
                <a:xfrm>
                  <a:off x="1576" y="2825"/>
                  <a:ext cx="270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0" name="Rectangle 27"/>
                <p:cNvSpPr/>
                <p:nvPr/>
              </p:nvSpPr>
              <p:spPr>
                <a:xfrm>
                  <a:off x="1846" y="2825"/>
                  <a:ext cx="269" cy="125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1" name="Rectangle 28"/>
                <p:cNvSpPr/>
                <p:nvPr/>
              </p:nvSpPr>
              <p:spPr>
                <a:xfrm>
                  <a:off x="2115" y="2825"/>
                  <a:ext cx="270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2" name="Rectangle 29"/>
                <p:cNvSpPr/>
                <p:nvPr/>
              </p:nvSpPr>
              <p:spPr>
                <a:xfrm>
                  <a:off x="1396" y="2950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3" name="Rectangle 30"/>
                <p:cNvSpPr/>
                <p:nvPr/>
              </p:nvSpPr>
              <p:spPr>
                <a:xfrm>
                  <a:off x="1666" y="2950"/>
                  <a:ext cx="269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4" name="Rectangle 31"/>
                <p:cNvSpPr/>
                <p:nvPr/>
              </p:nvSpPr>
              <p:spPr>
                <a:xfrm>
                  <a:off x="1935" y="2950"/>
                  <a:ext cx="270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5" name="Rectangle 32"/>
                <p:cNvSpPr/>
                <p:nvPr/>
              </p:nvSpPr>
              <p:spPr>
                <a:xfrm>
                  <a:off x="2205" y="2950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6" name="Rectangle 33"/>
                <p:cNvSpPr/>
                <p:nvPr/>
              </p:nvSpPr>
              <p:spPr>
                <a:xfrm>
                  <a:off x="1486" y="3074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7" name="Rectangle 34"/>
                <p:cNvSpPr/>
                <p:nvPr/>
              </p:nvSpPr>
              <p:spPr>
                <a:xfrm>
                  <a:off x="1756" y="3074"/>
                  <a:ext cx="269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8" name="Rectangle 35"/>
                <p:cNvSpPr/>
                <p:nvPr/>
              </p:nvSpPr>
              <p:spPr>
                <a:xfrm>
                  <a:off x="2025" y="3074"/>
                  <a:ext cx="270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89" name="Rectangle 36"/>
                <p:cNvSpPr/>
                <p:nvPr/>
              </p:nvSpPr>
              <p:spPr>
                <a:xfrm>
                  <a:off x="2295" y="3074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0" name="Rectangle 37"/>
                <p:cNvSpPr/>
                <p:nvPr/>
              </p:nvSpPr>
              <p:spPr>
                <a:xfrm>
                  <a:off x="1576" y="3198"/>
                  <a:ext cx="270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1" name="Rectangle 38"/>
                <p:cNvSpPr/>
                <p:nvPr/>
              </p:nvSpPr>
              <p:spPr>
                <a:xfrm>
                  <a:off x="1846" y="3198"/>
                  <a:ext cx="269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2" name="Rectangle 39"/>
                <p:cNvSpPr/>
                <p:nvPr/>
              </p:nvSpPr>
              <p:spPr>
                <a:xfrm>
                  <a:off x="2115" y="3198"/>
                  <a:ext cx="270" cy="125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3" name="Rectangle 40"/>
                <p:cNvSpPr/>
                <p:nvPr/>
              </p:nvSpPr>
              <p:spPr>
                <a:xfrm>
                  <a:off x="2385" y="3198"/>
                  <a:ext cx="270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4" name="Rectangle 41"/>
                <p:cNvSpPr/>
                <p:nvPr/>
              </p:nvSpPr>
              <p:spPr>
                <a:xfrm>
                  <a:off x="1666" y="3323"/>
                  <a:ext cx="269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5" name="Rectangle 42"/>
                <p:cNvSpPr/>
                <p:nvPr/>
              </p:nvSpPr>
              <p:spPr>
                <a:xfrm>
                  <a:off x="1935" y="3323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6" name="Rectangle 43"/>
                <p:cNvSpPr/>
                <p:nvPr/>
              </p:nvSpPr>
              <p:spPr>
                <a:xfrm>
                  <a:off x="2205" y="3323"/>
                  <a:ext cx="270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7" name="Rectangle 44"/>
                <p:cNvSpPr/>
                <p:nvPr/>
              </p:nvSpPr>
              <p:spPr>
                <a:xfrm>
                  <a:off x="2475" y="3323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8" name="Rectangle 45"/>
                <p:cNvSpPr/>
                <p:nvPr/>
              </p:nvSpPr>
              <p:spPr>
                <a:xfrm>
                  <a:off x="1756" y="3447"/>
                  <a:ext cx="269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799" name="Rectangle 46"/>
                <p:cNvSpPr/>
                <p:nvPr/>
              </p:nvSpPr>
              <p:spPr>
                <a:xfrm>
                  <a:off x="2025" y="3447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0" name="Rectangle 47"/>
                <p:cNvSpPr/>
                <p:nvPr/>
              </p:nvSpPr>
              <p:spPr>
                <a:xfrm>
                  <a:off x="2295" y="3447"/>
                  <a:ext cx="270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1" name="Rectangle 48"/>
                <p:cNvSpPr/>
                <p:nvPr/>
              </p:nvSpPr>
              <p:spPr>
                <a:xfrm>
                  <a:off x="2565" y="3447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2" name="Rectangle 49"/>
                <p:cNvSpPr/>
                <p:nvPr/>
              </p:nvSpPr>
              <p:spPr>
                <a:xfrm>
                  <a:off x="1846" y="3571"/>
                  <a:ext cx="269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3" name="Rectangle 50"/>
                <p:cNvSpPr/>
                <p:nvPr/>
              </p:nvSpPr>
              <p:spPr>
                <a:xfrm>
                  <a:off x="2115" y="3571"/>
                  <a:ext cx="270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4" name="Rectangle 51"/>
                <p:cNvSpPr/>
                <p:nvPr/>
              </p:nvSpPr>
              <p:spPr>
                <a:xfrm>
                  <a:off x="2385" y="3571"/>
                  <a:ext cx="270" cy="125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5" name="Rectangle 52"/>
                <p:cNvSpPr/>
                <p:nvPr/>
              </p:nvSpPr>
              <p:spPr>
                <a:xfrm>
                  <a:off x="2655" y="3571"/>
                  <a:ext cx="269" cy="12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6" name="Rectangle 53"/>
                <p:cNvSpPr/>
                <p:nvPr/>
              </p:nvSpPr>
              <p:spPr>
                <a:xfrm>
                  <a:off x="3204" y="2494"/>
                  <a:ext cx="269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7" name="Rectangle 54"/>
                <p:cNvSpPr/>
                <p:nvPr/>
              </p:nvSpPr>
              <p:spPr>
                <a:xfrm>
                  <a:off x="3473" y="2494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8" name="Rectangle 55"/>
                <p:cNvSpPr/>
                <p:nvPr/>
              </p:nvSpPr>
              <p:spPr>
                <a:xfrm>
                  <a:off x="3743" y="2494"/>
                  <a:ext cx="270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09" name="Rectangle 56"/>
                <p:cNvSpPr/>
                <p:nvPr/>
              </p:nvSpPr>
              <p:spPr>
                <a:xfrm>
                  <a:off x="4013" y="2494"/>
                  <a:ext cx="269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10" name="Text Box 57"/>
                <p:cNvSpPr txBox="1"/>
                <p:nvPr/>
              </p:nvSpPr>
              <p:spPr>
                <a:xfrm>
                  <a:off x="3194" y="2668"/>
                  <a:ext cx="116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IF   ID 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EX  WR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8811" name="Line 58"/>
                <p:cNvSpPr/>
                <p:nvPr/>
              </p:nvSpPr>
              <p:spPr>
                <a:xfrm>
                  <a:off x="1126" y="2411"/>
                  <a:ext cx="0" cy="152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58812" name="Line 59"/>
                <p:cNvSpPr/>
                <p:nvPr/>
              </p:nvSpPr>
              <p:spPr>
                <a:xfrm>
                  <a:off x="1126" y="3931"/>
                  <a:ext cx="377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58813" name="Line 60"/>
                <p:cNvSpPr/>
                <p:nvPr/>
              </p:nvSpPr>
              <p:spPr>
                <a:xfrm>
                  <a:off x="1396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14" name="Line 61"/>
                <p:cNvSpPr/>
                <p:nvPr/>
              </p:nvSpPr>
              <p:spPr>
                <a:xfrm>
                  <a:off x="1666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15" name="Line 62"/>
                <p:cNvSpPr/>
                <p:nvPr/>
              </p:nvSpPr>
              <p:spPr>
                <a:xfrm>
                  <a:off x="1935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16" name="Line 63"/>
                <p:cNvSpPr/>
                <p:nvPr/>
              </p:nvSpPr>
              <p:spPr>
                <a:xfrm>
                  <a:off x="2205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17" name="Line 64"/>
                <p:cNvSpPr/>
                <p:nvPr/>
              </p:nvSpPr>
              <p:spPr>
                <a:xfrm>
                  <a:off x="2475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18" name="Line 65"/>
                <p:cNvSpPr/>
                <p:nvPr/>
              </p:nvSpPr>
              <p:spPr>
                <a:xfrm>
                  <a:off x="2745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19" name="Line 66"/>
                <p:cNvSpPr/>
                <p:nvPr/>
              </p:nvSpPr>
              <p:spPr>
                <a:xfrm>
                  <a:off x="3014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20" name="Line 67"/>
                <p:cNvSpPr/>
                <p:nvPr/>
              </p:nvSpPr>
              <p:spPr>
                <a:xfrm>
                  <a:off x="3284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21" name="Line 68"/>
                <p:cNvSpPr/>
                <p:nvPr/>
              </p:nvSpPr>
              <p:spPr>
                <a:xfrm>
                  <a:off x="3554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22" name="Line 69"/>
                <p:cNvSpPr/>
                <p:nvPr/>
              </p:nvSpPr>
              <p:spPr>
                <a:xfrm>
                  <a:off x="3823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23" name="Line 70"/>
                <p:cNvSpPr/>
                <p:nvPr/>
              </p:nvSpPr>
              <p:spPr>
                <a:xfrm>
                  <a:off x="4093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24" name="Line 71"/>
                <p:cNvSpPr/>
                <p:nvPr/>
              </p:nvSpPr>
              <p:spPr>
                <a:xfrm>
                  <a:off x="4363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25" name="Line 72"/>
                <p:cNvSpPr/>
                <p:nvPr/>
              </p:nvSpPr>
              <p:spPr>
                <a:xfrm>
                  <a:off x="4633" y="3890"/>
                  <a:ext cx="0" cy="4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8826" name="Text Box 73"/>
                <p:cNvSpPr txBox="1"/>
                <p:nvPr/>
              </p:nvSpPr>
              <p:spPr>
                <a:xfrm>
                  <a:off x="1072" y="3993"/>
                  <a:ext cx="3695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b="1" dirty="0">
                      <a:latin typeface="Times New Roman" panose="02020603050405020304" pitchFamily="18" charset="0"/>
                    </a:rPr>
                    <a:t>0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1 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2 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3     4      5 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6     7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 8 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9    </a:t>
                  </a:r>
                  <a:r>
                    <a:rPr lang="en-US" altLang="zh-CN" sz="12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10   11    12   13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8827" name="Rectangle 74"/>
                <p:cNvSpPr/>
                <p:nvPr/>
              </p:nvSpPr>
              <p:spPr>
                <a:xfrm>
                  <a:off x="1935" y="3696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28" name="Rectangle 75"/>
                <p:cNvSpPr/>
                <p:nvPr/>
              </p:nvSpPr>
              <p:spPr>
                <a:xfrm>
                  <a:off x="2205" y="3696"/>
                  <a:ext cx="270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29" name="Rectangle 76"/>
                <p:cNvSpPr/>
                <p:nvPr/>
              </p:nvSpPr>
              <p:spPr>
                <a:xfrm>
                  <a:off x="2475" y="3696"/>
                  <a:ext cx="270" cy="12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830" name="Rectangle 77"/>
                <p:cNvSpPr/>
                <p:nvPr/>
              </p:nvSpPr>
              <p:spPr>
                <a:xfrm>
                  <a:off x="2745" y="3696"/>
                  <a:ext cx="269" cy="12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58769" name="Text Box 78"/>
              <p:cNvSpPr txBox="1"/>
              <p:nvPr/>
            </p:nvSpPr>
            <p:spPr>
              <a:xfrm>
                <a:off x="4934" y="3770"/>
                <a:ext cx="82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时钟周期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8767" name="Text Box 79"/>
            <p:cNvSpPr txBox="1"/>
            <p:nvPr/>
          </p:nvSpPr>
          <p:spPr>
            <a:xfrm>
              <a:off x="381" y="2276"/>
              <a:ext cx="82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指令序列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8764" name="AutoShape 8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876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9778" name="Rectangle 2"/>
          <p:cNvSpPr/>
          <p:nvPr/>
        </p:nvSpPr>
        <p:spPr>
          <a:xfrm>
            <a:off x="2057400" y="228600"/>
            <a:ext cx="4759325" cy="536575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</a:rPr>
              <a:t>超长指令字技术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59779" name="Rectangle 3"/>
          <p:cNvSpPr/>
          <p:nvPr/>
        </p:nvSpPr>
        <p:spPr>
          <a:xfrm>
            <a:off x="2571750" y="25908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采用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多个处理部件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59780" name="Group 4"/>
          <p:cNvGrpSpPr/>
          <p:nvPr/>
        </p:nvGrpSpPr>
        <p:grpSpPr>
          <a:xfrm>
            <a:off x="2514600" y="838200"/>
            <a:ext cx="8307388" cy="1828800"/>
            <a:chOff x="624" y="528"/>
            <a:chExt cx="5233" cy="1152"/>
          </a:xfrm>
        </p:grpSpPr>
        <p:sp>
          <p:nvSpPr>
            <p:cNvPr id="459830" name="Rectangle 5"/>
            <p:cNvSpPr/>
            <p:nvPr/>
          </p:nvSpPr>
          <p:spPr>
            <a:xfrm>
              <a:off x="912" y="1248"/>
              <a:ext cx="494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具有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多个操作码字段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超长指令字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（可达几百位）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59831" name="Rectangle 6"/>
            <p:cNvSpPr/>
            <p:nvPr/>
          </p:nvSpPr>
          <p:spPr>
            <a:xfrm>
              <a:off x="624" y="528"/>
              <a:ext cx="379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marL="457200" indent="-457200">
                <a:lnSpc>
                  <a:spcPct val="135000"/>
                </a:lnSpc>
                <a:buClr>
                  <a:schemeClr val="folHlink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由编译程序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挖掘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出指令间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潜在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并行性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9832" name="Text Box 7"/>
            <p:cNvSpPr txBox="1"/>
            <p:nvPr/>
          </p:nvSpPr>
          <p:spPr>
            <a:xfrm>
              <a:off x="876" y="871"/>
              <a:ext cx="3427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lnSpc>
                  <a:spcPct val="135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将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多条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能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并行操作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的指令组合成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一条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4488" name="Rectangle 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9782" name="Group 9"/>
          <p:cNvGrpSpPr/>
          <p:nvPr/>
        </p:nvGrpSpPr>
        <p:grpSpPr>
          <a:xfrm>
            <a:off x="1928813" y="3311525"/>
            <a:ext cx="8693150" cy="3167063"/>
            <a:chOff x="255" y="2086"/>
            <a:chExt cx="5476" cy="1995"/>
          </a:xfrm>
        </p:grpSpPr>
        <p:grpSp>
          <p:nvGrpSpPr>
            <p:cNvPr id="459785" name="Group 10"/>
            <p:cNvGrpSpPr/>
            <p:nvPr/>
          </p:nvGrpSpPr>
          <p:grpSpPr>
            <a:xfrm>
              <a:off x="912" y="2145"/>
              <a:ext cx="4819" cy="1936"/>
              <a:chOff x="912" y="2145"/>
              <a:chExt cx="4819" cy="1936"/>
            </a:xfrm>
          </p:grpSpPr>
          <p:grpSp>
            <p:nvGrpSpPr>
              <p:cNvPr id="459787" name="Group 11"/>
              <p:cNvGrpSpPr/>
              <p:nvPr/>
            </p:nvGrpSpPr>
            <p:grpSpPr>
              <a:xfrm>
                <a:off x="912" y="2145"/>
                <a:ext cx="4090" cy="1936"/>
                <a:chOff x="614" y="801"/>
                <a:chExt cx="4090" cy="1936"/>
              </a:xfrm>
            </p:grpSpPr>
            <p:sp>
              <p:nvSpPr>
                <p:cNvPr id="459789" name="Rectangle 12"/>
                <p:cNvSpPr/>
                <p:nvPr/>
              </p:nvSpPr>
              <p:spPr>
                <a:xfrm>
                  <a:off x="672" y="897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0" name="Rectangle 13"/>
                <p:cNvSpPr/>
                <p:nvPr/>
              </p:nvSpPr>
              <p:spPr>
                <a:xfrm>
                  <a:off x="960" y="897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1" name="Rectangle 14"/>
                <p:cNvSpPr/>
                <p:nvPr/>
              </p:nvSpPr>
              <p:spPr>
                <a:xfrm>
                  <a:off x="1248" y="897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2" name="Rectangle 15"/>
                <p:cNvSpPr/>
                <p:nvPr/>
              </p:nvSpPr>
              <p:spPr>
                <a:xfrm>
                  <a:off x="1536" y="897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3" name="Rectangle 16"/>
                <p:cNvSpPr/>
                <p:nvPr/>
              </p:nvSpPr>
              <p:spPr>
                <a:xfrm>
                  <a:off x="1248" y="1041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4" name="Rectangle 17"/>
                <p:cNvSpPr/>
                <p:nvPr/>
              </p:nvSpPr>
              <p:spPr>
                <a:xfrm>
                  <a:off x="1248" y="1185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5" name="Rectangle 18"/>
                <p:cNvSpPr/>
                <p:nvPr/>
              </p:nvSpPr>
              <p:spPr>
                <a:xfrm>
                  <a:off x="960" y="1329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6" name="Rectangle 19"/>
                <p:cNvSpPr/>
                <p:nvPr/>
              </p:nvSpPr>
              <p:spPr>
                <a:xfrm>
                  <a:off x="1248" y="1329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7" name="Rectangle 20"/>
                <p:cNvSpPr/>
                <p:nvPr/>
              </p:nvSpPr>
              <p:spPr>
                <a:xfrm>
                  <a:off x="1536" y="1329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8" name="Rectangle 21"/>
                <p:cNvSpPr/>
                <p:nvPr/>
              </p:nvSpPr>
              <p:spPr>
                <a:xfrm>
                  <a:off x="1824" y="1329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799" name="Rectangle 22"/>
                <p:cNvSpPr/>
                <p:nvPr/>
              </p:nvSpPr>
              <p:spPr>
                <a:xfrm>
                  <a:off x="1536" y="1473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0" name="Rectangle 23"/>
                <p:cNvSpPr/>
                <p:nvPr/>
              </p:nvSpPr>
              <p:spPr>
                <a:xfrm>
                  <a:off x="1536" y="1617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1" name="Rectangle 24"/>
                <p:cNvSpPr/>
                <p:nvPr/>
              </p:nvSpPr>
              <p:spPr>
                <a:xfrm>
                  <a:off x="1248" y="1761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2" name="Rectangle 25"/>
                <p:cNvSpPr/>
                <p:nvPr/>
              </p:nvSpPr>
              <p:spPr>
                <a:xfrm>
                  <a:off x="1536" y="1761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3" name="Rectangle 26"/>
                <p:cNvSpPr/>
                <p:nvPr/>
              </p:nvSpPr>
              <p:spPr>
                <a:xfrm>
                  <a:off x="1824" y="1761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4" name="Rectangle 27"/>
                <p:cNvSpPr/>
                <p:nvPr/>
              </p:nvSpPr>
              <p:spPr>
                <a:xfrm>
                  <a:off x="2112" y="1761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5" name="Rectangle 28"/>
                <p:cNvSpPr/>
                <p:nvPr/>
              </p:nvSpPr>
              <p:spPr>
                <a:xfrm>
                  <a:off x="1824" y="1905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6" name="Rectangle 29"/>
                <p:cNvSpPr/>
                <p:nvPr/>
              </p:nvSpPr>
              <p:spPr>
                <a:xfrm>
                  <a:off x="1824" y="2049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7" name="Rectangle 30"/>
                <p:cNvSpPr/>
                <p:nvPr/>
              </p:nvSpPr>
              <p:spPr>
                <a:xfrm>
                  <a:off x="2928" y="897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8" name="Rectangle 31"/>
                <p:cNvSpPr/>
                <p:nvPr/>
              </p:nvSpPr>
              <p:spPr>
                <a:xfrm>
                  <a:off x="3216" y="897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09" name="Rectangle 32"/>
                <p:cNvSpPr/>
                <p:nvPr/>
              </p:nvSpPr>
              <p:spPr>
                <a:xfrm>
                  <a:off x="3504" y="897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10" name="Rectangle 33"/>
                <p:cNvSpPr/>
                <p:nvPr/>
              </p:nvSpPr>
              <p:spPr>
                <a:xfrm>
                  <a:off x="3792" y="897"/>
                  <a:ext cx="288" cy="144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11" name="Text Box 34"/>
                <p:cNvSpPr txBox="1"/>
                <p:nvPr/>
              </p:nvSpPr>
              <p:spPr>
                <a:xfrm>
                  <a:off x="2918" y="1478"/>
                  <a:ext cx="120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IF   ID 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EX   WR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9812" name="Line 35"/>
                <p:cNvSpPr/>
                <p:nvPr/>
              </p:nvSpPr>
              <p:spPr>
                <a:xfrm>
                  <a:off x="672" y="801"/>
                  <a:ext cx="0" cy="163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59813" name="Line 36"/>
                <p:cNvSpPr/>
                <p:nvPr/>
              </p:nvSpPr>
              <p:spPr>
                <a:xfrm>
                  <a:off x="672" y="2433"/>
                  <a:ext cx="403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59814" name="Line 37"/>
                <p:cNvSpPr/>
                <p:nvPr/>
              </p:nvSpPr>
              <p:spPr>
                <a:xfrm>
                  <a:off x="960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15" name="Line 38"/>
                <p:cNvSpPr/>
                <p:nvPr/>
              </p:nvSpPr>
              <p:spPr>
                <a:xfrm>
                  <a:off x="1248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16" name="Line 39"/>
                <p:cNvSpPr/>
                <p:nvPr/>
              </p:nvSpPr>
              <p:spPr>
                <a:xfrm>
                  <a:off x="1536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17" name="Line 40"/>
                <p:cNvSpPr/>
                <p:nvPr/>
              </p:nvSpPr>
              <p:spPr>
                <a:xfrm>
                  <a:off x="1824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18" name="Line 41"/>
                <p:cNvSpPr/>
                <p:nvPr/>
              </p:nvSpPr>
              <p:spPr>
                <a:xfrm>
                  <a:off x="2112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19" name="Line 42"/>
                <p:cNvSpPr/>
                <p:nvPr/>
              </p:nvSpPr>
              <p:spPr>
                <a:xfrm>
                  <a:off x="2400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0" name="Line 43"/>
                <p:cNvSpPr/>
                <p:nvPr/>
              </p:nvSpPr>
              <p:spPr>
                <a:xfrm>
                  <a:off x="2688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1" name="Line 44"/>
                <p:cNvSpPr/>
                <p:nvPr/>
              </p:nvSpPr>
              <p:spPr>
                <a:xfrm>
                  <a:off x="2976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2" name="Line 45"/>
                <p:cNvSpPr/>
                <p:nvPr/>
              </p:nvSpPr>
              <p:spPr>
                <a:xfrm>
                  <a:off x="3264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3" name="Line 46"/>
                <p:cNvSpPr/>
                <p:nvPr/>
              </p:nvSpPr>
              <p:spPr>
                <a:xfrm>
                  <a:off x="3552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4" name="Line 47"/>
                <p:cNvSpPr/>
                <p:nvPr/>
              </p:nvSpPr>
              <p:spPr>
                <a:xfrm>
                  <a:off x="3840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5" name="Line 48"/>
                <p:cNvSpPr/>
                <p:nvPr/>
              </p:nvSpPr>
              <p:spPr>
                <a:xfrm>
                  <a:off x="4128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6" name="Line 49"/>
                <p:cNvSpPr/>
                <p:nvPr/>
              </p:nvSpPr>
              <p:spPr>
                <a:xfrm>
                  <a:off x="4416" y="2385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59827" name="Text Box 50"/>
                <p:cNvSpPr txBox="1"/>
                <p:nvPr/>
              </p:nvSpPr>
              <p:spPr>
                <a:xfrm>
                  <a:off x="614" y="2505"/>
                  <a:ext cx="3959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b="1" dirty="0">
                      <a:latin typeface="Times New Roman" panose="02020603050405020304" pitchFamily="18" charset="0"/>
                    </a:rPr>
                    <a:t>0     1      2      3      4      5      6      7      8      9      10    11    12    13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9828" name="Rectangle 51"/>
                <p:cNvSpPr/>
                <p:nvPr/>
              </p:nvSpPr>
              <p:spPr>
                <a:xfrm>
                  <a:off x="3504" y="1056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829" name="Rectangle 52"/>
                <p:cNvSpPr/>
                <p:nvPr/>
              </p:nvSpPr>
              <p:spPr>
                <a:xfrm>
                  <a:off x="3504" y="1200"/>
                  <a:ext cx="288" cy="144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59788" name="Text Box 53"/>
              <p:cNvSpPr txBox="1"/>
              <p:nvPr/>
            </p:nvSpPr>
            <p:spPr>
              <a:xfrm>
                <a:off x="5040" y="3758"/>
                <a:ext cx="69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</a:rPr>
                  <a:t>时钟周期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9786" name="Text Box 54"/>
            <p:cNvSpPr txBox="1"/>
            <p:nvPr/>
          </p:nvSpPr>
          <p:spPr>
            <a:xfrm>
              <a:off x="255" y="2086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指令序列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9783" name="AutoShape 5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5978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02" name="Rectangle 2"/>
          <p:cNvSpPr/>
          <p:nvPr/>
        </p:nvSpPr>
        <p:spPr>
          <a:xfrm>
            <a:off x="2133600" y="228600"/>
            <a:ext cx="5399088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3600" b="1" dirty="0">
                <a:latin typeface="Times New Roman" panose="02020603050405020304" pitchFamily="18" charset="0"/>
              </a:rPr>
              <a:t>六、流水线结构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60803" name="Rectangle 3"/>
          <p:cNvSpPr/>
          <p:nvPr/>
        </p:nvSpPr>
        <p:spPr>
          <a:xfrm>
            <a:off x="2590800" y="990600"/>
            <a:ext cx="3352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指令流水线结构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60804" name="Rectangle 4"/>
          <p:cNvSpPr/>
          <p:nvPr/>
        </p:nvSpPr>
        <p:spPr>
          <a:xfrm>
            <a:off x="3048000" y="1600200"/>
            <a:ext cx="6553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完成一条指令分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7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段</a:t>
            </a:r>
            <a:r>
              <a:rPr lang="zh-CN" altLang="en-US" sz="2400" b="1" dirty="0">
                <a:latin typeface="Times New Roman" panose="02020603050405020304" pitchFamily="18" charset="0"/>
              </a:rPr>
              <a:t>， 每段需一个时钟周期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05509" name="Rectangle 5"/>
          <p:cNvSpPr/>
          <p:nvPr/>
        </p:nvSpPr>
        <p:spPr>
          <a:xfrm>
            <a:off x="2743200" y="4876800"/>
            <a:ext cx="3352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若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流水线不出现断流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5510" name="Rectangle 6"/>
          <p:cNvSpPr/>
          <p:nvPr/>
        </p:nvSpPr>
        <p:spPr>
          <a:xfrm>
            <a:off x="6172200" y="4876800"/>
            <a:ext cx="3429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个时钟周期出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结果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05511" name="Rectangle 7"/>
          <p:cNvSpPr/>
          <p:nvPr/>
        </p:nvSpPr>
        <p:spPr>
          <a:xfrm>
            <a:off x="2743200" y="5448300"/>
            <a:ext cx="2971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不采用流水技术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5512" name="Rectangle 8"/>
          <p:cNvSpPr/>
          <p:nvPr/>
        </p:nvSpPr>
        <p:spPr>
          <a:xfrm>
            <a:off x="6172200" y="5448300"/>
            <a:ext cx="3429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7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个时钟周期出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结果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05513" name="Rectangle 9"/>
          <p:cNvSpPr/>
          <p:nvPr/>
        </p:nvSpPr>
        <p:spPr>
          <a:xfrm>
            <a:off x="2743200" y="6019800"/>
            <a:ext cx="7620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理想情况下，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7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级流水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的速度是不采用流水技术的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7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倍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4962526" y="2438400"/>
            <a:ext cx="490538" cy="2209800"/>
            <a:chOff x="2166" y="1536"/>
            <a:chExt cx="309" cy="1392"/>
          </a:xfrm>
        </p:grpSpPr>
        <p:sp>
          <p:nvSpPr>
            <p:cNvPr id="460847" name="Text Box 11"/>
            <p:cNvSpPr txBox="1"/>
            <p:nvPr/>
          </p:nvSpPr>
          <p:spPr>
            <a:xfrm>
              <a:off x="2166" y="1727"/>
              <a:ext cx="309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地址形成部件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0848" name="Rectangle 12"/>
            <p:cNvSpPr/>
            <p:nvPr/>
          </p:nvSpPr>
          <p:spPr>
            <a:xfrm>
              <a:off x="2177" y="1536"/>
              <a:ext cx="288" cy="13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4105276" y="2438400"/>
            <a:ext cx="490538" cy="2209800"/>
            <a:chOff x="1626" y="1536"/>
            <a:chExt cx="309" cy="1392"/>
          </a:xfrm>
        </p:grpSpPr>
        <p:sp>
          <p:nvSpPr>
            <p:cNvPr id="460845" name="Text Box 14"/>
            <p:cNvSpPr txBox="1"/>
            <p:nvPr/>
          </p:nvSpPr>
          <p:spPr>
            <a:xfrm>
              <a:off x="1626" y="1727"/>
              <a:ext cx="309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指令译码部件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0846" name="Rectangle 15"/>
            <p:cNvSpPr/>
            <p:nvPr/>
          </p:nvSpPr>
          <p:spPr>
            <a:xfrm>
              <a:off x="1632" y="1536"/>
              <a:ext cx="288" cy="13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5811838" y="2438400"/>
            <a:ext cx="490538" cy="2209800"/>
            <a:chOff x="2701" y="1536"/>
            <a:chExt cx="309" cy="1392"/>
          </a:xfrm>
        </p:grpSpPr>
        <p:sp>
          <p:nvSpPr>
            <p:cNvPr id="460843" name="Text Box 17"/>
            <p:cNvSpPr txBox="1"/>
            <p:nvPr/>
          </p:nvSpPr>
          <p:spPr>
            <a:xfrm>
              <a:off x="2701" y="1727"/>
              <a:ext cx="309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取操作数部件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0844" name="Rectangle 18"/>
            <p:cNvSpPr/>
            <p:nvPr/>
          </p:nvSpPr>
          <p:spPr>
            <a:xfrm>
              <a:off x="2705" y="1536"/>
              <a:ext cx="288" cy="13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9"/>
          <p:cNvGrpSpPr/>
          <p:nvPr/>
        </p:nvGrpSpPr>
        <p:grpSpPr>
          <a:xfrm>
            <a:off x="3275013" y="2438400"/>
            <a:ext cx="490538" cy="2209800"/>
            <a:chOff x="1103" y="1536"/>
            <a:chExt cx="309" cy="1392"/>
          </a:xfrm>
        </p:grpSpPr>
        <p:sp>
          <p:nvSpPr>
            <p:cNvPr id="460841" name="Text Box 20"/>
            <p:cNvSpPr txBox="1"/>
            <p:nvPr/>
          </p:nvSpPr>
          <p:spPr>
            <a:xfrm>
              <a:off x="1103" y="1825"/>
              <a:ext cx="309" cy="85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取指令部件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0842" name="Rectangle 21"/>
            <p:cNvSpPr/>
            <p:nvPr/>
          </p:nvSpPr>
          <p:spPr>
            <a:xfrm>
              <a:off x="1104" y="1536"/>
              <a:ext cx="288" cy="13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2"/>
          <p:cNvGrpSpPr/>
          <p:nvPr/>
        </p:nvGrpSpPr>
        <p:grpSpPr>
          <a:xfrm>
            <a:off x="6661151" y="2438400"/>
            <a:ext cx="490538" cy="2209800"/>
            <a:chOff x="3236" y="1536"/>
            <a:chExt cx="309" cy="1392"/>
          </a:xfrm>
        </p:grpSpPr>
        <p:sp>
          <p:nvSpPr>
            <p:cNvPr id="460839" name="Text Box 23"/>
            <p:cNvSpPr txBox="1"/>
            <p:nvPr/>
          </p:nvSpPr>
          <p:spPr>
            <a:xfrm>
              <a:off x="3236" y="1727"/>
              <a:ext cx="309" cy="119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操作执行部件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0840" name="Rectangle 24"/>
            <p:cNvSpPr/>
            <p:nvPr/>
          </p:nvSpPr>
          <p:spPr>
            <a:xfrm>
              <a:off x="3244" y="1536"/>
              <a:ext cx="288" cy="13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25"/>
          <p:cNvGrpSpPr/>
          <p:nvPr/>
        </p:nvGrpSpPr>
        <p:grpSpPr>
          <a:xfrm>
            <a:off x="7556501" y="2438400"/>
            <a:ext cx="490538" cy="2362200"/>
            <a:chOff x="3800" y="1536"/>
            <a:chExt cx="309" cy="1488"/>
          </a:xfrm>
        </p:grpSpPr>
        <p:sp>
          <p:nvSpPr>
            <p:cNvPr id="460837" name="Text Box 26"/>
            <p:cNvSpPr txBox="1"/>
            <p:nvPr/>
          </p:nvSpPr>
          <p:spPr>
            <a:xfrm>
              <a:off x="3800" y="1727"/>
              <a:ext cx="309" cy="12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回写结果部件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0838" name="Rectangle 27"/>
            <p:cNvSpPr/>
            <p:nvPr/>
          </p:nvSpPr>
          <p:spPr>
            <a:xfrm>
              <a:off x="3809" y="1536"/>
              <a:ext cx="288" cy="13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28"/>
          <p:cNvGrpSpPr/>
          <p:nvPr/>
        </p:nvGrpSpPr>
        <p:grpSpPr>
          <a:xfrm>
            <a:off x="8394701" y="2438400"/>
            <a:ext cx="490538" cy="2209800"/>
            <a:chOff x="4328" y="1536"/>
            <a:chExt cx="309" cy="1392"/>
          </a:xfrm>
        </p:grpSpPr>
        <p:sp>
          <p:nvSpPr>
            <p:cNvPr id="460835" name="Text Box 29"/>
            <p:cNvSpPr txBox="1"/>
            <p:nvPr/>
          </p:nvSpPr>
          <p:spPr>
            <a:xfrm>
              <a:off x="4328" y="1568"/>
              <a:ext cx="309" cy="133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修改指令指针部件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0836" name="Rectangle 30"/>
            <p:cNvSpPr/>
            <p:nvPr/>
          </p:nvSpPr>
          <p:spPr>
            <a:xfrm>
              <a:off x="4337" y="1536"/>
              <a:ext cx="288" cy="13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05535" name="Line 31"/>
          <p:cNvSpPr/>
          <p:nvPr/>
        </p:nvSpPr>
        <p:spPr>
          <a:xfrm>
            <a:off x="3733800" y="34290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5536" name="Line 32"/>
          <p:cNvSpPr/>
          <p:nvPr/>
        </p:nvSpPr>
        <p:spPr>
          <a:xfrm>
            <a:off x="4565650" y="34290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5537" name="Line 33"/>
          <p:cNvSpPr/>
          <p:nvPr/>
        </p:nvSpPr>
        <p:spPr>
          <a:xfrm>
            <a:off x="5434013" y="34290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5538" name="Line 34"/>
          <p:cNvSpPr/>
          <p:nvPr/>
        </p:nvSpPr>
        <p:spPr>
          <a:xfrm>
            <a:off x="6302375" y="34290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5539" name="Line 35"/>
          <p:cNvSpPr/>
          <p:nvPr/>
        </p:nvSpPr>
        <p:spPr>
          <a:xfrm>
            <a:off x="7162800" y="34290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5540" name="Line 36"/>
          <p:cNvSpPr/>
          <p:nvPr/>
        </p:nvSpPr>
        <p:spPr>
          <a:xfrm>
            <a:off x="8039100" y="34290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9" name="Group 37"/>
          <p:cNvGrpSpPr/>
          <p:nvPr/>
        </p:nvGrpSpPr>
        <p:grpSpPr>
          <a:xfrm>
            <a:off x="3732213" y="3962400"/>
            <a:ext cx="4725988" cy="587375"/>
            <a:chOff x="1391" y="2484"/>
            <a:chExt cx="2977" cy="370"/>
          </a:xfrm>
        </p:grpSpPr>
        <p:grpSp>
          <p:nvGrpSpPr>
            <p:cNvPr id="460827" name="Group 38"/>
            <p:cNvGrpSpPr/>
            <p:nvPr/>
          </p:nvGrpSpPr>
          <p:grpSpPr>
            <a:xfrm>
              <a:off x="1391" y="2484"/>
              <a:ext cx="1345" cy="358"/>
              <a:chOff x="1391" y="2484"/>
              <a:chExt cx="1345" cy="358"/>
            </a:xfrm>
          </p:grpSpPr>
          <p:sp>
            <p:nvSpPr>
              <p:cNvPr id="460832" name="Text Box 39"/>
              <p:cNvSpPr txBox="1"/>
              <p:nvPr/>
            </p:nvSpPr>
            <p:spPr>
              <a:xfrm>
                <a:off x="1391" y="2496"/>
                <a:ext cx="29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锁存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833" name="Text Box 40"/>
              <p:cNvSpPr txBox="1"/>
              <p:nvPr/>
            </p:nvSpPr>
            <p:spPr>
              <a:xfrm>
                <a:off x="1919" y="2496"/>
                <a:ext cx="29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锁存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834" name="Text Box 41"/>
              <p:cNvSpPr txBox="1"/>
              <p:nvPr/>
            </p:nvSpPr>
            <p:spPr>
              <a:xfrm>
                <a:off x="2446" y="2484"/>
                <a:ext cx="29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锁存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60828" name="Group 42"/>
            <p:cNvGrpSpPr/>
            <p:nvPr/>
          </p:nvGrpSpPr>
          <p:grpSpPr>
            <a:xfrm>
              <a:off x="2998" y="2496"/>
              <a:ext cx="1370" cy="358"/>
              <a:chOff x="2998" y="2496"/>
              <a:chExt cx="1370" cy="358"/>
            </a:xfrm>
          </p:grpSpPr>
          <p:sp>
            <p:nvSpPr>
              <p:cNvPr id="460829" name="Text Box 43"/>
              <p:cNvSpPr txBox="1"/>
              <p:nvPr/>
            </p:nvSpPr>
            <p:spPr>
              <a:xfrm>
                <a:off x="2998" y="2508"/>
                <a:ext cx="29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锁存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830" name="Text Box 44"/>
              <p:cNvSpPr txBox="1"/>
              <p:nvPr/>
            </p:nvSpPr>
            <p:spPr>
              <a:xfrm>
                <a:off x="3551" y="2508"/>
                <a:ext cx="29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锁存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0831" name="Text Box 45"/>
              <p:cNvSpPr txBox="1"/>
              <p:nvPr/>
            </p:nvSpPr>
            <p:spPr>
              <a:xfrm>
                <a:off x="4078" y="2496"/>
                <a:ext cx="29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锁存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05550" name="Rectangle 4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25" name="AutoShape 4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0826" name="日期占位符 10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40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40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40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40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0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0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0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9" grpId="0"/>
      <p:bldP spid="405510" grpId="0"/>
      <p:bldP spid="405511" grpId="0"/>
      <p:bldP spid="405512" grpId="0"/>
      <p:bldP spid="40551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1826" name="Rectangle 2"/>
          <p:cNvSpPr/>
          <p:nvPr/>
        </p:nvSpPr>
        <p:spPr>
          <a:xfrm>
            <a:off x="2209800" y="381000"/>
            <a:ext cx="3352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运算流水线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61827" name="Rectangle 3"/>
          <p:cNvSpPr/>
          <p:nvPr/>
        </p:nvSpPr>
        <p:spPr>
          <a:xfrm>
            <a:off x="3505200" y="1143000"/>
            <a:ext cx="6477000" cy="12192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完成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浮点加减 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  可分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对阶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尾数求和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规格化 </a:t>
            </a:r>
            <a:r>
              <a:rPr lang="zh-CN" altLang="en-US" sz="2400" b="1" dirty="0">
                <a:latin typeface="Times New Roman" panose="02020603050405020304" pitchFamily="18" charset="0"/>
              </a:rPr>
              <a:t>三段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06532" name="Rectangle 4"/>
          <p:cNvSpPr/>
          <p:nvPr/>
        </p:nvSpPr>
        <p:spPr>
          <a:xfrm>
            <a:off x="3505200" y="5715000"/>
            <a:ext cx="5715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分段原则     每段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操作时间 </a:t>
            </a:r>
            <a:r>
              <a:rPr lang="zh-CN" altLang="en-US" sz="2400" b="1" dirty="0">
                <a:latin typeface="Times New Roman" panose="02020603050405020304" pitchFamily="18" charset="0"/>
              </a:rPr>
              <a:t>尽量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一致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6533" name="Line 5"/>
          <p:cNvSpPr/>
          <p:nvPr/>
        </p:nvSpPr>
        <p:spPr>
          <a:xfrm>
            <a:off x="4794250" y="3654425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06534" name="Line 6"/>
          <p:cNvSpPr/>
          <p:nvPr/>
        </p:nvSpPr>
        <p:spPr>
          <a:xfrm>
            <a:off x="6530975" y="3654425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2" name="Group 7"/>
          <p:cNvGrpSpPr/>
          <p:nvPr/>
        </p:nvGrpSpPr>
        <p:grpSpPr>
          <a:xfrm>
            <a:off x="3500438" y="2663825"/>
            <a:ext cx="1452563" cy="2678113"/>
            <a:chOff x="1245" y="1678"/>
            <a:chExt cx="915" cy="1687"/>
          </a:xfrm>
        </p:grpSpPr>
        <p:sp>
          <p:nvSpPr>
            <p:cNvPr id="461861" name="Line 8"/>
            <p:cNvSpPr/>
            <p:nvPr/>
          </p:nvSpPr>
          <p:spPr>
            <a:xfrm>
              <a:off x="1248" y="316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1862" name="Group 9"/>
            <p:cNvGrpSpPr/>
            <p:nvPr/>
          </p:nvGrpSpPr>
          <p:grpSpPr>
            <a:xfrm>
              <a:off x="1245" y="1678"/>
              <a:ext cx="915" cy="1687"/>
              <a:chOff x="1245" y="1678"/>
              <a:chExt cx="915" cy="1687"/>
            </a:xfrm>
          </p:grpSpPr>
          <p:grpSp>
            <p:nvGrpSpPr>
              <p:cNvPr id="461863" name="Group 10"/>
              <p:cNvGrpSpPr/>
              <p:nvPr/>
            </p:nvGrpSpPr>
            <p:grpSpPr>
              <a:xfrm>
                <a:off x="1245" y="1678"/>
                <a:ext cx="838" cy="1392"/>
                <a:chOff x="1245" y="1678"/>
                <a:chExt cx="838" cy="1392"/>
              </a:xfrm>
            </p:grpSpPr>
            <p:grpSp>
              <p:nvGrpSpPr>
                <p:cNvPr id="461868" name="Group 11"/>
                <p:cNvGrpSpPr/>
                <p:nvPr/>
              </p:nvGrpSpPr>
              <p:grpSpPr>
                <a:xfrm>
                  <a:off x="1774" y="1678"/>
                  <a:ext cx="309" cy="1392"/>
                  <a:chOff x="1774" y="1678"/>
                  <a:chExt cx="309" cy="1392"/>
                </a:xfrm>
              </p:grpSpPr>
              <p:sp>
                <p:nvSpPr>
                  <p:cNvPr id="461873" name="Text Box 12"/>
                  <p:cNvSpPr txBox="1"/>
                  <p:nvPr/>
                </p:nvSpPr>
                <p:spPr>
                  <a:xfrm>
                    <a:off x="1774" y="2064"/>
                    <a:ext cx="309" cy="53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zh-CN" altLang="en-US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锁存器</a:t>
                    </a:r>
                    <a:endParaRPr lang="zh-CN" altLang="en-US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1874" name="Rectangle 13"/>
                  <p:cNvSpPr/>
                  <p:nvPr/>
                </p:nvSpPr>
                <p:spPr>
                  <a:xfrm>
                    <a:off x="1776" y="1678"/>
                    <a:ext cx="288" cy="1392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61869" name="Group 14"/>
                <p:cNvGrpSpPr/>
                <p:nvPr/>
              </p:nvGrpSpPr>
              <p:grpSpPr>
                <a:xfrm>
                  <a:off x="1245" y="1678"/>
                  <a:ext cx="309" cy="1392"/>
                  <a:chOff x="1245" y="1678"/>
                  <a:chExt cx="309" cy="1392"/>
                </a:xfrm>
              </p:grpSpPr>
              <p:sp>
                <p:nvSpPr>
                  <p:cNvPr id="461871" name="Text Box 15"/>
                  <p:cNvSpPr txBox="1"/>
                  <p:nvPr/>
                </p:nvSpPr>
                <p:spPr>
                  <a:xfrm>
                    <a:off x="1245" y="1856"/>
                    <a:ext cx="309" cy="101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对阶功能部件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1872" name="Rectangle 16"/>
                  <p:cNvSpPr/>
                  <p:nvPr/>
                </p:nvSpPr>
                <p:spPr>
                  <a:xfrm>
                    <a:off x="1248" y="1678"/>
                    <a:ext cx="288" cy="1392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61870" name="Line 17"/>
                <p:cNvSpPr/>
                <p:nvPr/>
              </p:nvSpPr>
              <p:spPr>
                <a:xfrm>
                  <a:off x="1536" y="2302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</p:grpSp>
          <p:sp>
            <p:nvSpPr>
              <p:cNvPr id="461864" name="Line 18"/>
              <p:cNvSpPr/>
              <p:nvPr/>
            </p:nvSpPr>
            <p:spPr>
              <a:xfrm>
                <a:off x="2160" y="3168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1865" name="Line 19"/>
              <p:cNvSpPr/>
              <p:nvPr/>
            </p:nvSpPr>
            <p:spPr>
              <a:xfrm flipH="1">
                <a:off x="1248" y="3264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1866" name="Line 20"/>
              <p:cNvSpPr/>
              <p:nvPr/>
            </p:nvSpPr>
            <p:spPr>
              <a:xfrm rot="-10800000" flipH="1">
                <a:off x="1930" y="3262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1867" name="Text Box 21"/>
              <p:cNvSpPr txBox="1"/>
              <p:nvPr/>
            </p:nvSpPr>
            <p:spPr>
              <a:xfrm>
                <a:off x="1465" y="3153"/>
                <a:ext cx="49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第一段</a:t>
                </a:r>
                <a:endParaRPr lang="zh-CN" altLang="en-US" sz="1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" name="Group 22"/>
          <p:cNvGrpSpPr/>
          <p:nvPr/>
        </p:nvGrpSpPr>
        <p:grpSpPr>
          <a:xfrm>
            <a:off x="4953000" y="2663825"/>
            <a:ext cx="1828800" cy="2670175"/>
            <a:chOff x="2160" y="1678"/>
            <a:chExt cx="1152" cy="1682"/>
          </a:xfrm>
        </p:grpSpPr>
        <p:grpSp>
          <p:nvGrpSpPr>
            <p:cNvPr id="461849" name="Group 23"/>
            <p:cNvGrpSpPr/>
            <p:nvPr/>
          </p:nvGrpSpPr>
          <p:grpSpPr>
            <a:xfrm>
              <a:off x="2315" y="1678"/>
              <a:ext cx="842" cy="1392"/>
              <a:chOff x="2315" y="1678"/>
              <a:chExt cx="842" cy="1392"/>
            </a:xfrm>
          </p:grpSpPr>
          <p:grpSp>
            <p:nvGrpSpPr>
              <p:cNvPr id="461854" name="Group 24"/>
              <p:cNvGrpSpPr/>
              <p:nvPr/>
            </p:nvGrpSpPr>
            <p:grpSpPr>
              <a:xfrm>
                <a:off x="2315" y="1678"/>
                <a:ext cx="309" cy="1392"/>
                <a:chOff x="2315" y="1678"/>
                <a:chExt cx="309" cy="1392"/>
              </a:xfrm>
            </p:grpSpPr>
            <p:sp>
              <p:nvSpPr>
                <p:cNvPr id="461859" name="Text Box 25"/>
                <p:cNvSpPr txBox="1"/>
                <p:nvPr/>
              </p:nvSpPr>
              <p:spPr>
                <a:xfrm>
                  <a:off x="2315" y="1969"/>
                  <a:ext cx="309" cy="85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尾数加部件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860" name="Rectangle 26"/>
                <p:cNvSpPr/>
                <p:nvPr/>
              </p:nvSpPr>
              <p:spPr>
                <a:xfrm>
                  <a:off x="2321" y="1678"/>
                  <a:ext cx="288" cy="139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61855" name="Group 27"/>
              <p:cNvGrpSpPr/>
              <p:nvPr/>
            </p:nvGrpSpPr>
            <p:grpSpPr>
              <a:xfrm>
                <a:off x="2848" y="1678"/>
                <a:ext cx="309" cy="1392"/>
                <a:chOff x="2848" y="1678"/>
                <a:chExt cx="309" cy="1392"/>
              </a:xfrm>
            </p:grpSpPr>
            <p:sp>
              <p:nvSpPr>
                <p:cNvPr id="461857" name="Text Box 28"/>
                <p:cNvSpPr txBox="1"/>
                <p:nvPr/>
              </p:nvSpPr>
              <p:spPr>
                <a:xfrm>
                  <a:off x="2848" y="2064"/>
                  <a:ext cx="309" cy="5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zh-CN" altLang="en-US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锁存器</a:t>
                  </a:r>
                  <a:endPara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858" name="Rectangle 29"/>
                <p:cNvSpPr/>
                <p:nvPr/>
              </p:nvSpPr>
              <p:spPr>
                <a:xfrm>
                  <a:off x="2849" y="1678"/>
                  <a:ext cx="288" cy="139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61856" name="Line 30"/>
              <p:cNvSpPr/>
              <p:nvPr/>
            </p:nvSpPr>
            <p:spPr>
              <a:xfrm>
                <a:off x="2607" y="230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461850" name="Line 31"/>
            <p:cNvSpPr/>
            <p:nvPr/>
          </p:nvSpPr>
          <p:spPr>
            <a:xfrm>
              <a:off x="3312" y="316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851" name="Line 32"/>
            <p:cNvSpPr/>
            <p:nvPr/>
          </p:nvSpPr>
          <p:spPr>
            <a:xfrm flipH="1">
              <a:off x="2160" y="3259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1852" name="Line 33"/>
            <p:cNvSpPr/>
            <p:nvPr/>
          </p:nvSpPr>
          <p:spPr>
            <a:xfrm rot="-10800000" flipH="1">
              <a:off x="3085" y="3257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1853" name="Text Box 34"/>
            <p:cNvSpPr txBox="1"/>
            <p:nvPr/>
          </p:nvSpPr>
          <p:spPr>
            <a:xfrm>
              <a:off x="2476" y="3148"/>
              <a:ext cx="499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第二段</a:t>
              </a:r>
              <a:endParaRPr lang="zh-CN" altLang="en-US" sz="1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35"/>
          <p:cNvGrpSpPr/>
          <p:nvPr/>
        </p:nvGrpSpPr>
        <p:grpSpPr>
          <a:xfrm>
            <a:off x="6781800" y="2663825"/>
            <a:ext cx="1500188" cy="2670175"/>
            <a:chOff x="3312" y="1678"/>
            <a:chExt cx="945" cy="1682"/>
          </a:xfrm>
        </p:grpSpPr>
        <p:grpSp>
          <p:nvGrpSpPr>
            <p:cNvPr id="461837" name="Group 36"/>
            <p:cNvGrpSpPr/>
            <p:nvPr/>
          </p:nvGrpSpPr>
          <p:grpSpPr>
            <a:xfrm>
              <a:off x="3381" y="1678"/>
              <a:ext cx="876" cy="1392"/>
              <a:chOff x="3381" y="1678"/>
              <a:chExt cx="876" cy="1392"/>
            </a:xfrm>
          </p:grpSpPr>
          <p:grpSp>
            <p:nvGrpSpPr>
              <p:cNvPr id="461842" name="Group 37"/>
              <p:cNvGrpSpPr/>
              <p:nvPr/>
            </p:nvGrpSpPr>
            <p:grpSpPr>
              <a:xfrm>
                <a:off x="3381" y="1678"/>
                <a:ext cx="309" cy="1392"/>
                <a:chOff x="3381" y="1678"/>
                <a:chExt cx="309" cy="1392"/>
              </a:xfrm>
            </p:grpSpPr>
            <p:sp>
              <p:nvSpPr>
                <p:cNvPr id="461847" name="Text Box 38"/>
                <p:cNvSpPr txBox="1"/>
                <p:nvPr/>
              </p:nvSpPr>
              <p:spPr>
                <a:xfrm>
                  <a:off x="3381" y="1969"/>
                  <a:ext cx="309" cy="85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规格化部件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848" name="Rectangle 39"/>
                <p:cNvSpPr/>
                <p:nvPr/>
              </p:nvSpPr>
              <p:spPr>
                <a:xfrm>
                  <a:off x="3388" y="1678"/>
                  <a:ext cx="288" cy="139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61843" name="Group 40"/>
              <p:cNvGrpSpPr/>
              <p:nvPr/>
            </p:nvGrpSpPr>
            <p:grpSpPr>
              <a:xfrm>
                <a:off x="3948" y="1678"/>
                <a:ext cx="309" cy="1392"/>
                <a:chOff x="3948" y="1678"/>
                <a:chExt cx="309" cy="1392"/>
              </a:xfrm>
            </p:grpSpPr>
            <p:sp>
              <p:nvSpPr>
                <p:cNvPr id="461845" name="Text Box 41"/>
                <p:cNvSpPr txBox="1"/>
                <p:nvPr/>
              </p:nvSpPr>
              <p:spPr>
                <a:xfrm>
                  <a:off x="3948" y="2064"/>
                  <a:ext cx="309" cy="5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 wrap="none">
                  <a:spAutoFit/>
                </a:bodyPr>
                <a:p>
                  <a:r>
                    <a:rPr lang="zh-CN" altLang="en-US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锁存器</a:t>
                  </a:r>
                  <a:endPara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846" name="Rectangle 42"/>
                <p:cNvSpPr/>
                <p:nvPr/>
              </p:nvSpPr>
              <p:spPr>
                <a:xfrm>
                  <a:off x="3953" y="1678"/>
                  <a:ext cx="288" cy="139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61844" name="Line 43"/>
              <p:cNvSpPr/>
              <p:nvPr/>
            </p:nvSpPr>
            <p:spPr>
              <a:xfrm>
                <a:off x="3696" y="230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461838" name="Line 44"/>
            <p:cNvSpPr/>
            <p:nvPr/>
          </p:nvSpPr>
          <p:spPr>
            <a:xfrm>
              <a:off x="4224" y="316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839" name="Line 45"/>
            <p:cNvSpPr/>
            <p:nvPr/>
          </p:nvSpPr>
          <p:spPr>
            <a:xfrm flipH="1">
              <a:off x="3312" y="3259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1840" name="Line 46"/>
            <p:cNvSpPr/>
            <p:nvPr/>
          </p:nvSpPr>
          <p:spPr>
            <a:xfrm rot="-10800000" flipH="1">
              <a:off x="3994" y="3257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1841" name="Text Box 47"/>
            <p:cNvSpPr txBox="1"/>
            <p:nvPr/>
          </p:nvSpPr>
          <p:spPr>
            <a:xfrm>
              <a:off x="3529" y="3148"/>
              <a:ext cx="499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第三段</a:t>
              </a:r>
              <a:endParaRPr lang="zh-CN" altLang="en-US" sz="1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6576" name="Rectangle 4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1835" name="AutoShape 4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183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Aft>
                <a:spcPts val="0"/>
              </a:spcAft>
            </a:pPr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4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2850" name="Rectangle 2"/>
          <p:cNvSpPr>
            <a:spLocks noGrp="1"/>
          </p:cNvSpPr>
          <p:nvPr>
            <p:ph type="title"/>
          </p:nvPr>
        </p:nvSpPr>
        <p:spPr>
          <a:xfrm>
            <a:off x="2209800" y="762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8.4 </a:t>
            </a:r>
            <a:r>
              <a:rPr lang="zh-CN" altLang="en-US" b="1" dirty="0"/>
              <a:t>中断系统</a:t>
            </a:r>
            <a:endParaRPr lang="zh-CN" altLang="en-US" b="1" dirty="0"/>
          </a:p>
        </p:txBody>
      </p:sp>
      <p:sp>
        <p:nvSpPr>
          <p:cNvPr id="462851" name="Rectangle 3"/>
          <p:cNvSpPr/>
          <p:nvPr/>
        </p:nvSpPr>
        <p:spPr>
          <a:xfrm>
            <a:off x="2057400" y="1066800"/>
            <a:ext cx="1752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一、概述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62852" name="Rectangle 4"/>
          <p:cNvSpPr/>
          <p:nvPr/>
        </p:nvSpPr>
        <p:spPr>
          <a:xfrm>
            <a:off x="2362200" y="17526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</a:rPr>
              <a:t>引起中断的各种因素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2853" name="Rectangle 5"/>
          <p:cNvSpPr/>
          <p:nvPr/>
        </p:nvSpPr>
        <p:spPr>
          <a:xfrm>
            <a:off x="2667000" y="22860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</a:rPr>
              <a:t>人为设置的中断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2854" name="Rectangle 6"/>
          <p:cNvSpPr/>
          <p:nvPr/>
        </p:nvSpPr>
        <p:spPr>
          <a:xfrm>
            <a:off x="2667000" y="4495800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</a:rPr>
              <a:t>程序性事故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2855" name="Rectangle 7"/>
          <p:cNvSpPr/>
          <p:nvPr/>
        </p:nvSpPr>
        <p:spPr>
          <a:xfrm>
            <a:off x="3048000" y="2819400"/>
            <a:ext cx="3124200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如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转管指令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2856" name="Rectangle 8"/>
          <p:cNvSpPr/>
          <p:nvPr/>
        </p:nvSpPr>
        <p:spPr>
          <a:xfrm>
            <a:off x="4953000" y="4495800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溢出、操作码不能识别、除法非法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2857" name="Rectangle 9"/>
          <p:cNvSpPr/>
          <p:nvPr/>
        </p:nvSpPr>
        <p:spPr>
          <a:xfrm>
            <a:off x="2667000" y="6019800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(5)  </a:t>
            </a:r>
            <a:r>
              <a:rPr lang="zh-CN" altLang="en-US" sz="2400" b="1" dirty="0">
                <a:latin typeface="Times New Roman" panose="02020603050405020304" pitchFamily="18" charset="0"/>
              </a:rPr>
              <a:t>外部事件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2858" name="Rectangle 10"/>
          <p:cNvSpPr/>
          <p:nvPr/>
        </p:nvSpPr>
        <p:spPr>
          <a:xfrm>
            <a:off x="2667000" y="5511800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(4)  I/O </a:t>
            </a:r>
            <a:r>
              <a:rPr lang="zh-CN" altLang="en-US" sz="2400" b="1" dirty="0">
                <a:latin typeface="Times New Roman" panose="02020603050405020304" pitchFamily="18" charset="0"/>
              </a:rPr>
              <a:t>设备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2859" name="Rectangle 11"/>
          <p:cNvSpPr/>
          <p:nvPr/>
        </p:nvSpPr>
        <p:spPr>
          <a:xfrm>
            <a:off x="2667000" y="5003800"/>
            <a:ext cx="2362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(3)  </a:t>
            </a:r>
            <a:r>
              <a:rPr lang="zh-CN" altLang="en-US" sz="2400" b="1" dirty="0">
                <a:latin typeface="Times New Roman" panose="02020603050405020304" pitchFamily="18" charset="0"/>
              </a:rPr>
              <a:t>硬件故障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2860" name="Rectangle 12"/>
          <p:cNvSpPr/>
          <p:nvPr/>
        </p:nvSpPr>
        <p:spPr>
          <a:xfrm>
            <a:off x="4953000" y="6019800"/>
            <a:ext cx="3352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用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键盘中断 </a:t>
            </a:r>
            <a:r>
              <a:rPr lang="zh-CN" altLang="en-US" sz="2400" b="1" dirty="0">
                <a:latin typeface="Times New Roman" panose="02020603050405020304" pitchFamily="18" charset="0"/>
              </a:rPr>
              <a:t>现行程序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62861" name="Group 13"/>
          <p:cNvGrpSpPr/>
          <p:nvPr/>
        </p:nvGrpSpPr>
        <p:grpSpPr>
          <a:xfrm>
            <a:off x="6400800" y="2286000"/>
            <a:ext cx="3352800" cy="1981200"/>
            <a:chOff x="3072" y="1440"/>
            <a:chExt cx="2112" cy="1248"/>
          </a:xfrm>
        </p:grpSpPr>
        <p:sp>
          <p:nvSpPr>
            <p:cNvPr id="462864" name="Rectangle 14"/>
            <p:cNvSpPr/>
            <p:nvPr/>
          </p:nvSpPr>
          <p:spPr>
            <a:xfrm>
              <a:off x="3072" y="1828"/>
              <a:ext cx="195" cy="2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2865" name="Line 15"/>
            <p:cNvSpPr/>
            <p:nvPr/>
          </p:nvSpPr>
          <p:spPr>
            <a:xfrm>
              <a:off x="3072" y="1920"/>
              <a:ext cx="81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866" name="Line 16"/>
            <p:cNvSpPr/>
            <p:nvPr/>
          </p:nvSpPr>
          <p:spPr>
            <a:xfrm>
              <a:off x="3072" y="2160"/>
              <a:ext cx="81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867" name="Text Box 17"/>
            <p:cNvSpPr txBox="1"/>
            <p:nvPr/>
          </p:nvSpPr>
          <p:spPr>
            <a:xfrm>
              <a:off x="3168" y="1920"/>
              <a:ext cx="76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转管指令</a:t>
              </a:r>
              <a:endPara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2868" name="Text Box 18"/>
            <p:cNvSpPr txBox="1"/>
            <p:nvPr/>
          </p:nvSpPr>
          <p:spPr>
            <a:xfrm>
              <a:off x="3358" y="1440"/>
              <a:ext cx="348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2869" name="Text Box 19"/>
            <p:cNvSpPr txBox="1"/>
            <p:nvPr/>
          </p:nvSpPr>
          <p:spPr>
            <a:xfrm>
              <a:off x="3358" y="2256"/>
              <a:ext cx="348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2870" name="Rectangle 20"/>
            <p:cNvSpPr/>
            <p:nvPr/>
          </p:nvSpPr>
          <p:spPr>
            <a:xfrm>
              <a:off x="4368" y="2044"/>
              <a:ext cx="816" cy="2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2871" name="Text Box 21"/>
            <p:cNvSpPr txBox="1"/>
            <p:nvPr/>
          </p:nvSpPr>
          <p:spPr>
            <a:xfrm>
              <a:off x="4464" y="2025"/>
              <a:ext cx="72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管理程序</a:t>
              </a:r>
              <a:endPara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2872" name="Line 22"/>
            <p:cNvSpPr/>
            <p:nvPr/>
          </p:nvSpPr>
          <p:spPr>
            <a:xfrm flipV="1">
              <a:off x="3888" y="1728"/>
              <a:ext cx="48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2873" name="Line 23"/>
            <p:cNvSpPr/>
            <p:nvPr/>
          </p:nvSpPr>
          <p:spPr>
            <a:xfrm flipH="1" flipV="1">
              <a:off x="3888" y="2160"/>
              <a:ext cx="48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62862" name="AutoShape 2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286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3874" name="Rectangle 2"/>
          <p:cNvSpPr/>
          <p:nvPr/>
        </p:nvSpPr>
        <p:spPr>
          <a:xfrm>
            <a:off x="2209800" y="228600"/>
            <a:ext cx="5943600" cy="6858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中断系统需解决的问题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63875" name="Rectangle 3"/>
          <p:cNvSpPr/>
          <p:nvPr/>
        </p:nvSpPr>
        <p:spPr>
          <a:xfrm>
            <a:off x="2819400" y="1143000"/>
            <a:ext cx="6248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(1)  </a:t>
            </a:r>
            <a:r>
              <a:rPr lang="zh-CN" altLang="en-US" sz="2400" b="1" dirty="0">
                <a:latin typeface="Times New Roman" panose="02020603050405020304" pitchFamily="18" charset="0"/>
              </a:rPr>
              <a:t>各中断源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如何 </a:t>
            </a:r>
            <a:r>
              <a:rPr lang="zh-CN" altLang="en-US" sz="2400" b="1" dirty="0">
                <a:latin typeface="Times New Roman" panose="02020603050405020304" pitchFamily="18" charset="0"/>
              </a:rPr>
              <a:t>向 </a:t>
            </a:r>
            <a:r>
              <a:rPr lang="en-US" altLang="zh-CN" sz="2400" b="1" dirty="0">
                <a:latin typeface="Times New Roman" panose="02020603050405020304" pitchFamily="18" charset="0"/>
              </a:rPr>
              <a:t>CPU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提出请求 </a:t>
            </a:r>
            <a:r>
              <a:rPr lang="zh-CN" altLang="en-US" sz="2400" b="1" dirty="0">
                <a:latin typeface="Times New Roman" panose="02020603050405020304" pitchFamily="18" charset="0"/>
              </a:rPr>
              <a:t>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3876" name="Rectangle 4"/>
          <p:cNvSpPr/>
          <p:nvPr/>
        </p:nvSpPr>
        <p:spPr>
          <a:xfrm>
            <a:off x="2819400" y="1676400"/>
            <a:ext cx="5791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(2)  </a:t>
            </a:r>
            <a:r>
              <a:rPr lang="zh-CN" altLang="en-US" sz="2400" b="1" dirty="0">
                <a:latin typeface="Times New Roman" panose="02020603050405020304" pitchFamily="18" charset="0"/>
              </a:rPr>
              <a:t>各中断源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同时 </a:t>
            </a:r>
            <a:r>
              <a:rPr lang="zh-CN" altLang="en-US" sz="2400" b="1" dirty="0">
                <a:latin typeface="Times New Roman" panose="02020603050405020304" pitchFamily="18" charset="0"/>
              </a:rPr>
              <a:t>提出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请求 </a:t>
            </a:r>
            <a:r>
              <a:rPr lang="zh-CN" altLang="en-US" sz="2400" b="1" dirty="0">
                <a:latin typeface="Times New Roman" panose="02020603050405020304" pitchFamily="18" charset="0"/>
              </a:rPr>
              <a:t>怎么办 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3877" name="Rectangle 5"/>
          <p:cNvSpPr/>
          <p:nvPr/>
        </p:nvSpPr>
        <p:spPr>
          <a:xfrm>
            <a:off x="2819400" y="3886200"/>
            <a:ext cx="4419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(5) 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如何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寻找入口地址 </a:t>
            </a:r>
            <a:r>
              <a:rPr lang="zh-CN" altLang="en-US" sz="2400" b="1" dirty="0">
                <a:latin typeface="Times New Roman" panose="02020603050405020304" pitchFamily="18" charset="0"/>
              </a:rPr>
              <a:t>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3878" name="Rectangle 6"/>
          <p:cNvSpPr/>
          <p:nvPr/>
        </p:nvSpPr>
        <p:spPr>
          <a:xfrm>
            <a:off x="2819400" y="3276600"/>
            <a:ext cx="4038600" cy="6858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(4) 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如何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保护现场 </a:t>
            </a:r>
            <a:r>
              <a:rPr lang="zh-CN" altLang="en-US" sz="2400" b="1" dirty="0">
                <a:latin typeface="Times New Roman" panose="02020603050405020304" pitchFamily="18" charset="0"/>
              </a:rPr>
              <a:t>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3879" name="Rectangle 7"/>
          <p:cNvSpPr/>
          <p:nvPr/>
        </p:nvSpPr>
        <p:spPr>
          <a:xfrm>
            <a:off x="2819400" y="2209800"/>
            <a:ext cx="7848600" cy="900113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(3)  CPU </a:t>
            </a:r>
            <a:r>
              <a:rPr lang="zh-CN" altLang="en-US" sz="2400" b="1" dirty="0">
                <a:latin typeface="Times New Roman" panose="02020603050405020304" pitchFamily="18" charset="0"/>
              </a:rPr>
              <a:t>什么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条件</a:t>
            </a:r>
            <a:r>
              <a:rPr lang="zh-CN" altLang="en-US" sz="2400" b="1" dirty="0">
                <a:latin typeface="Times New Roman" panose="02020603050405020304" pitchFamily="18" charset="0"/>
              </a:rPr>
              <a:t>、什么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时间</a:t>
            </a:r>
            <a:r>
              <a:rPr lang="zh-CN" altLang="en-US" sz="2400" b="1" dirty="0">
                <a:latin typeface="Times New Roman" panose="02020603050405020304" pitchFamily="18" charset="0"/>
              </a:rPr>
              <a:t>、以什么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方式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响应中断 </a:t>
            </a:r>
            <a:r>
              <a:rPr lang="zh-CN" altLang="en-US" sz="2400" b="1" dirty="0">
                <a:latin typeface="Times New Roman" panose="02020603050405020304" pitchFamily="18" charset="0"/>
              </a:rPr>
              <a:t>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3880" name="Rectangle 8"/>
          <p:cNvSpPr/>
          <p:nvPr/>
        </p:nvSpPr>
        <p:spPr>
          <a:xfrm>
            <a:off x="2819400" y="4495800"/>
            <a:ext cx="5181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(6) 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如何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恢复现场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，如何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返回 </a:t>
            </a:r>
            <a:r>
              <a:rPr lang="zh-CN" altLang="en-US" sz="2400" b="1" dirty="0">
                <a:latin typeface="Times New Roman" panose="02020603050405020304" pitchFamily="18" charset="0"/>
              </a:rPr>
              <a:t>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3881" name="Rectangle 9"/>
          <p:cNvSpPr/>
          <p:nvPr/>
        </p:nvSpPr>
        <p:spPr>
          <a:xfrm>
            <a:off x="2819400" y="5105400"/>
            <a:ext cx="7086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(7)  </a:t>
            </a:r>
            <a:r>
              <a:rPr lang="zh-CN" altLang="en-US" sz="2400" b="1" dirty="0">
                <a:latin typeface="Times New Roman" panose="02020603050405020304" pitchFamily="18" charset="0"/>
              </a:rPr>
              <a:t>处理中断的过程中又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出现新的中断 </a:t>
            </a:r>
            <a:r>
              <a:rPr lang="zh-CN" altLang="en-US" sz="2400" b="1" dirty="0">
                <a:latin typeface="Times New Roman" panose="02020603050405020304" pitchFamily="18" charset="0"/>
              </a:rPr>
              <a:t>怎么办 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3882" name="Rectangle 10"/>
          <p:cNvSpPr/>
          <p:nvPr/>
        </p:nvSpPr>
        <p:spPr>
          <a:xfrm>
            <a:off x="3276600" y="5715000"/>
            <a:ext cx="2590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硬件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＋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软件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8587" name="Rectangle 1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3884" name="AutoShape 1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388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4898" name="Rectangle 2"/>
          <p:cNvSpPr/>
          <p:nvPr/>
        </p:nvSpPr>
        <p:spPr>
          <a:xfrm>
            <a:off x="1752600" y="304800"/>
            <a:ext cx="7151688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3400" b="1" dirty="0">
                <a:latin typeface="Times New Roman" panose="02020603050405020304" pitchFamily="18" charset="0"/>
              </a:rPr>
              <a:t>二、中断请求标记和中断判优逻辑</a:t>
            </a:r>
            <a:endParaRPr lang="zh-CN" altLang="en-US" sz="3400" b="1" dirty="0">
              <a:latin typeface="Times New Roman" panose="02020603050405020304" pitchFamily="18" charset="0"/>
            </a:endParaRPr>
          </a:p>
        </p:txBody>
      </p:sp>
      <p:sp>
        <p:nvSpPr>
          <p:cNvPr id="464899" name="Rectangle 3"/>
          <p:cNvSpPr/>
          <p:nvPr/>
        </p:nvSpPr>
        <p:spPr>
          <a:xfrm>
            <a:off x="2209800" y="9906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000" b="1" dirty="0">
                <a:latin typeface="Times New Roman" panose="02020603050405020304" pitchFamily="18" charset="0"/>
              </a:rPr>
              <a:t>1.  </a:t>
            </a:r>
            <a:r>
              <a:rPr lang="zh-CN" altLang="en-US" sz="3000" b="1" dirty="0">
                <a:latin typeface="Times New Roman" panose="02020603050405020304" pitchFamily="18" charset="0"/>
              </a:rPr>
              <a:t>中断请求标记        </a:t>
            </a:r>
            <a:r>
              <a:rPr lang="en-US" altLang="zh-CN" sz="3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INTR</a:t>
            </a:r>
            <a:endParaRPr lang="en-US" altLang="zh-CN" sz="3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4900" name="Rectangle 4"/>
          <p:cNvSpPr/>
          <p:nvPr/>
        </p:nvSpPr>
        <p:spPr>
          <a:xfrm>
            <a:off x="2743200" y="1600200"/>
            <a:ext cx="6934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一个请求源</a:t>
            </a:r>
            <a:r>
              <a:rPr lang="zh-CN" altLang="en-US" sz="24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一个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中断请求标记触发器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4901" name="Rectangle 5"/>
          <p:cNvSpPr/>
          <p:nvPr/>
        </p:nvSpPr>
        <p:spPr>
          <a:xfrm>
            <a:off x="2743200" y="2209800"/>
            <a:ext cx="7010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多个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组成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中断请求标记寄存器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4902" name="Rectangle 6"/>
          <p:cNvSpPr/>
          <p:nvPr/>
        </p:nvSpPr>
        <p:spPr>
          <a:xfrm>
            <a:off x="2743200" y="5562600"/>
            <a:ext cx="6324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INTR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分散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在各个中断源的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接口电路中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4903" name="Rectangle 7"/>
          <p:cNvSpPr/>
          <p:nvPr/>
        </p:nvSpPr>
        <p:spPr>
          <a:xfrm>
            <a:off x="2743200" y="6096000"/>
            <a:ext cx="5029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INTR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集中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的中断系统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内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64904" name="Group 8"/>
          <p:cNvGrpSpPr/>
          <p:nvPr/>
        </p:nvGrpSpPr>
        <p:grpSpPr>
          <a:xfrm>
            <a:off x="2741612" y="2965450"/>
            <a:ext cx="6146801" cy="2509838"/>
            <a:chOff x="767" y="1868"/>
            <a:chExt cx="3872" cy="1581"/>
          </a:xfrm>
        </p:grpSpPr>
        <p:sp>
          <p:nvSpPr>
            <p:cNvPr id="464908" name="Line 9"/>
            <p:cNvSpPr/>
            <p:nvPr/>
          </p:nvSpPr>
          <p:spPr>
            <a:xfrm>
              <a:off x="768" y="1868"/>
              <a:ext cx="38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09" name="Line 10"/>
            <p:cNvSpPr/>
            <p:nvPr/>
          </p:nvSpPr>
          <p:spPr>
            <a:xfrm>
              <a:off x="768" y="2213"/>
              <a:ext cx="38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0" name="Line 11"/>
            <p:cNvSpPr/>
            <p:nvPr/>
          </p:nvSpPr>
          <p:spPr>
            <a:xfrm>
              <a:off x="768" y="1868"/>
              <a:ext cx="0" cy="34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1" name="Line 12"/>
            <p:cNvSpPr/>
            <p:nvPr/>
          </p:nvSpPr>
          <p:spPr>
            <a:xfrm>
              <a:off x="1056" y="1868"/>
              <a:ext cx="0" cy="3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2" name="Line 13"/>
            <p:cNvSpPr/>
            <p:nvPr/>
          </p:nvSpPr>
          <p:spPr>
            <a:xfrm>
              <a:off x="1344" y="1868"/>
              <a:ext cx="0" cy="3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3" name="Line 14"/>
            <p:cNvSpPr/>
            <p:nvPr/>
          </p:nvSpPr>
          <p:spPr>
            <a:xfrm>
              <a:off x="1632" y="1868"/>
              <a:ext cx="0" cy="3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4" name="Line 15"/>
            <p:cNvSpPr/>
            <p:nvPr/>
          </p:nvSpPr>
          <p:spPr>
            <a:xfrm>
              <a:off x="1920" y="1868"/>
              <a:ext cx="0" cy="3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5" name="Line 16"/>
            <p:cNvSpPr/>
            <p:nvPr/>
          </p:nvSpPr>
          <p:spPr>
            <a:xfrm>
              <a:off x="2208" y="1868"/>
              <a:ext cx="0" cy="3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6" name="Line 17"/>
            <p:cNvSpPr/>
            <p:nvPr/>
          </p:nvSpPr>
          <p:spPr>
            <a:xfrm>
              <a:off x="4032" y="1868"/>
              <a:ext cx="0" cy="3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7" name="Line 18"/>
            <p:cNvSpPr/>
            <p:nvPr/>
          </p:nvSpPr>
          <p:spPr>
            <a:xfrm>
              <a:off x="4320" y="1868"/>
              <a:ext cx="0" cy="3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8" name="Line 19"/>
            <p:cNvSpPr/>
            <p:nvPr/>
          </p:nvSpPr>
          <p:spPr>
            <a:xfrm>
              <a:off x="4608" y="1868"/>
              <a:ext cx="0" cy="34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4919" name="Text Box 20"/>
            <p:cNvSpPr txBox="1"/>
            <p:nvPr/>
          </p:nvSpPr>
          <p:spPr>
            <a:xfrm>
              <a:off x="816" y="1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0" name="Text Box 21"/>
            <p:cNvSpPr txBox="1"/>
            <p:nvPr/>
          </p:nvSpPr>
          <p:spPr>
            <a:xfrm>
              <a:off x="1104" y="1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1" name="Text Box 22"/>
            <p:cNvSpPr txBox="1"/>
            <p:nvPr/>
          </p:nvSpPr>
          <p:spPr>
            <a:xfrm>
              <a:off x="1392" y="1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2" name="Text Box 23"/>
            <p:cNvSpPr txBox="1"/>
            <p:nvPr/>
          </p:nvSpPr>
          <p:spPr>
            <a:xfrm>
              <a:off x="1680" y="1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3" name="Text Box 24"/>
            <p:cNvSpPr txBox="1"/>
            <p:nvPr/>
          </p:nvSpPr>
          <p:spPr>
            <a:xfrm>
              <a:off x="1968" y="1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4" name="Text Box 25"/>
            <p:cNvSpPr txBox="1"/>
            <p:nvPr/>
          </p:nvSpPr>
          <p:spPr>
            <a:xfrm>
              <a:off x="4364" y="1916"/>
              <a:ext cx="2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5" name="Text Box 26"/>
            <p:cNvSpPr txBox="1"/>
            <p:nvPr/>
          </p:nvSpPr>
          <p:spPr>
            <a:xfrm>
              <a:off x="767" y="2271"/>
              <a:ext cx="309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掉电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6" name="Text Box 27"/>
            <p:cNvSpPr txBox="1"/>
            <p:nvPr/>
          </p:nvSpPr>
          <p:spPr>
            <a:xfrm>
              <a:off x="1055" y="2271"/>
              <a:ext cx="309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过热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7" name="Text Box 28"/>
            <p:cNvSpPr txBox="1"/>
            <p:nvPr/>
          </p:nvSpPr>
          <p:spPr>
            <a:xfrm>
              <a:off x="1642" y="2271"/>
              <a:ext cx="309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阶上溢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8" name="Text Box 29"/>
            <p:cNvSpPr txBox="1"/>
            <p:nvPr/>
          </p:nvSpPr>
          <p:spPr>
            <a:xfrm>
              <a:off x="1323" y="2271"/>
              <a:ext cx="309" cy="11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主存读写校验错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29" name="Text Box 30"/>
            <p:cNvSpPr txBox="1"/>
            <p:nvPr/>
          </p:nvSpPr>
          <p:spPr>
            <a:xfrm>
              <a:off x="1919" y="2271"/>
              <a:ext cx="30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非法除法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30" name="Text Box 31"/>
            <p:cNvSpPr txBox="1"/>
            <p:nvPr/>
          </p:nvSpPr>
          <p:spPr>
            <a:xfrm>
              <a:off x="4042" y="2271"/>
              <a:ext cx="309" cy="751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键盘输入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4931" name="Text Box 32"/>
            <p:cNvSpPr txBox="1"/>
            <p:nvPr/>
          </p:nvSpPr>
          <p:spPr>
            <a:xfrm>
              <a:off x="4330" y="2271"/>
              <a:ext cx="309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打印机输出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9633" name="Rectangle 3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4906" name="AutoShape 3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490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5922" name="Rectangle 2"/>
          <p:cNvSpPr/>
          <p:nvPr/>
        </p:nvSpPr>
        <p:spPr>
          <a:xfrm>
            <a:off x="1905000" y="3048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中断判优逻辑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10627" name="Rectangle 3"/>
          <p:cNvSpPr/>
          <p:nvPr/>
        </p:nvSpPr>
        <p:spPr>
          <a:xfrm>
            <a:off x="2667000" y="1524000"/>
            <a:ext cx="7543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①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分散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在各个中断源的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接口电路中    链式排队器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628" name="Rectangle 4"/>
          <p:cNvSpPr/>
          <p:nvPr/>
        </p:nvSpPr>
        <p:spPr>
          <a:xfrm>
            <a:off x="2667000" y="2362200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②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集中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CPU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内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0629" name="Rectangle 5"/>
          <p:cNvSpPr/>
          <p:nvPr/>
        </p:nvSpPr>
        <p:spPr>
          <a:xfrm>
            <a:off x="2362200" y="990600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硬件实现（排队器）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505200" y="3352800"/>
            <a:ext cx="609600" cy="2197100"/>
            <a:chOff x="1248" y="2112"/>
            <a:chExt cx="384" cy="1384"/>
          </a:xfrm>
        </p:grpSpPr>
        <p:grpSp>
          <p:nvGrpSpPr>
            <p:cNvPr id="465982" name="Group 7"/>
            <p:cNvGrpSpPr/>
            <p:nvPr/>
          </p:nvGrpSpPr>
          <p:grpSpPr>
            <a:xfrm>
              <a:off x="1248" y="2112"/>
              <a:ext cx="384" cy="1384"/>
              <a:chOff x="1248" y="2112"/>
              <a:chExt cx="384" cy="1384"/>
            </a:xfrm>
          </p:grpSpPr>
          <p:sp>
            <p:nvSpPr>
              <p:cNvPr id="465984" name="Text Box 8"/>
              <p:cNvSpPr txBox="1"/>
              <p:nvPr/>
            </p:nvSpPr>
            <p:spPr>
              <a:xfrm>
                <a:off x="1305" y="2321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5985" name="Group 9"/>
              <p:cNvGrpSpPr/>
              <p:nvPr/>
            </p:nvGrpSpPr>
            <p:grpSpPr>
              <a:xfrm>
                <a:off x="1248" y="2112"/>
                <a:ext cx="384" cy="1384"/>
                <a:chOff x="1248" y="2112"/>
                <a:chExt cx="384" cy="1384"/>
              </a:xfrm>
            </p:grpSpPr>
            <p:sp>
              <p:nvSpPr>
                <p:cNvPr id="465986" name="Rectangle 10"/>
                <p:cNvSpPr/>
                <p:nvPr/>
              </p:nvSpPr>
              <p:spPr>
                <a:xfrm>
                  <a:off x="1248" y="2365"/>
                  <a:ext cx="384" cy="177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5987" name="Oval 11"/>
                <p:cNvSpPr/>
                <p:nvPr/>
              </p:nvSpPr>
              <p:spPr>
                <a:xfrm>
                  <a:off x="1415" y="2323"/>
                  <a:ext cx="48" cy="35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5988" name="Freeform 12"/>
                <p:cNvSpPr/>
                <p:nvPr/>
              </p:nvSpPr>
              <p:spPr>
                <a:xfrm>
                  <a:off x="1442" y="2540"/>
                  <a:ext cx="1" cy="256"/>
                </a:xfrm>
                <a:custGeom>
                  <a:avLst/>
                  <a:gdLst>
                    <a:gd name="txL" fmla="*/ 0 w 1"/>
                    <a:gd name="txT" fmla="*/ 0 h 345"/>
                    <a:gd name="txR" fmla="*/ 1 w 1"/>
                    <a:gd name="txB" fmla="*/ 345 h 345"/>
                  </a:gdLst>
                  <a:ahLst/>
                  <a:cxnLst>
                    <a:cxn ang="0">
                      <a:pos x="0" y="0"/>
                    </a:cxn>
                    <a:cxn ang="0">
                      <a:pos x="0" y="345"/>
                    </a:cxn>
                  </a:cxnLst>
                  <a:rect l="txL" t="txT" r="txR" b="txB"/>
                  <a:pathLst>
                    <a:path w="1" h="345">
                      <a:moveTo>
                        <a:pt x="0" y="0"/>
                      </a:moveTo>
                      <a:lnTo>
                        <a:pt x="0" y="345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5989" name="Freeform 13"/>
                <p:cNvSpPr/>
                <p:nvPr/>
              </p:nvSpPr>
              <p:spPr>
                <a:xfrm>
                  <a:off x="1439" y="2112"/>
                  <a:ext cx="3" cy="218"/>
                </a:xfrm>
                <a:custGeom>
                  <a:avLst/>
                  <a:gdLst>
                    <a:gd name="txL" fmla="*/ 0 w 3"/>
                    <a:gd name="txT" fmla="*/ 0 h 294"/>
                    <a:gd name="txR" fmla="*/ 3 w 3"/>
                    <a:gd name="txB" fmla="*/ 294 h 294"/>
                  </a:gdLst>
                  <a:ahLst/>
                  <a:cxnLst>
                    <a:cxn ang="0">
                      <a:pos x="0" y="294"/>
                    </a:cxn>
                    <a:cxn ang="0">
                      <a:pos x="3" y="0"/>
                    </a:cxn>
                  </a:cxnLst>
                  <a:rect l="txL" t="txT" r="txR" b="txB"/>
                  <a:pathLst>
                    <a:path w="3" h="294">
                      <a:moveTo>
                        <a:pt x="0" y="294"/>
                      </a:moveTo>
                      <a:lnTo>
                        <a:pt x="3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5990" name="Rectangle 14"/>
                <p:cNvSpPr/>
                <p:nvPr/>
              </p:nvSpPr>
              <p:spPr>
                <a:xfrm>
                  <a:off x="1248" y="2823"/>
                  <a:ext cx="384" cy="177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5991" name="Text Box 15"/>
                <p:cNvSpPr txBox="1"/>
                <p:nvPr/>
              </p:nvSpPr>
              <p:spPr>
                <a:xfrm>
                  <a:off x="1305" y="2784"/>
                  <a:ext cx="23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5992" name="Line 16"/>
                <p:cNvSpPr/>
                <p:nvPr/>
              </p:nvSpPr>
              <p:spPr>
                <a:xfrm>
                  <a:off x="1440" y="3002"/>
                  <a:ext cx="0" cy="49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465983" name="Oval 17"/>
            <p:cNvSpPr/>
            <p:nvPr/>
          </p:nvSpPr>
          <p:spPr>
            <a:xfrm>
              <a:off x="1415" y="2788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4978400" y="3352800"/>
            <a:ext cx="609600" cy="2197100"/>
            <a:chOff x="2176" y="2112"/>
            <a:chExt cx="384" cy="1384"/>
          </a:xfrm>
        </p:grpSpPr>
        <p:grpSp>
          <p:nvGrpSpPr>
            <p:cNvPr id="465972" name="Group 19"/>
            <p:cNvGrpSpPr/>
            <p:nvPr/>
          </p:nvGrpSpPr>
          <p:grpSpPr>
            <a:xfrm>
              <a:off x="2176" y="2112"/>
              <a:ext cx="384" cy="1384"/>
              <a:chOff x="2176" y="2112"/>
              <a:chExt cx="384" cy="1384"/>
            </a:xfrm>
          </p:grpSpPr>
          <p:sp>
            <p:nvSpPr>
              <p:cNvPr id="465974" name="Rectangle 20"/>
              <p:cNvSpPr/>
              <p:nvPr/>
            </p:nvSpPr>
            <p:spPr>
              <a:xfrm>
                <a:off x="2176" y="2365"/>
                <a:ext cx="384" cy="177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75" name="Text Box 21"/>
              <p:cNvSpPr txBox="1"/>
              <p:nvPr/>
            </p:nvSpPr>
            <p:spPr>
              <a:xfrm>
                <a:off x="2232" y="2321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5976" name="Oval 22"/>
              <p:cNvSpPr/>
              <p:nvPr/>
            </p:nvSpPr>
            <p:spPr>
              <a:xfrm>
                <a:off x="2343" y="2323"/>
                <a:ext cx="48" cy="35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77" name="Freeform 23"/>
              <p:cNvSpPr/>
              <p:nvPr/>
            </p:nvSpPr>
            <p:spPr>
              <a:xfrm>
                <a:off x="2370" y="2540"/>
                <a:ext cx="1" cy="256"/>
              </a:xfrm>
              <a:custGeom>
                <a:avLst/>
                <a:gdLst>
                  <a:gd name="txL" fmla="*/ 0 w 1"/>
                  <a:gd name="txT" fmla="*/ 0 h 345"/>
                  <a:gd name="txR" fmla="*/ 1 w 1"/>
                  <a:gd name="txB" fmla="*/ 345 h 345"/>
                </a:gdLst>
                <a:ahLst/>
                <a:cxnLst>
                  <a:cxn ang="0">
                    <a:pos x="0" y="0"/>
                  </a:cxn>
                  <a:cxn ang="0">
                    <a:pos x="0" y="345"/>
                  </a:cxn>
                </a:cxnLst>
                <a:rect l="txL" t="txT" r="txR" b="txB"/>
                <a:pathLst>
                  <a:path w="1" h="345">
                    <a:moveTo>
                      <a:pt x="0" y="0"/>
                    </a:moveTo>
                    <a:lnTo>
                      <a:pt x="0" y="345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78" name="Freeform 24"/>
              <p:cNvSpPr/>
              <p:nvPr/>
            </p:nvSpPr>
            <p:spPr>
              <a:xfrm>
                <a:off x="2367" y="2112"/>
                <a:ext cx="3" cy="218"/>
              </a:xfrm>
              <a:custGeom>
                <a:avLst/>
                <a:gdLst>
                  <a:gd name="txL" fmla="*/ 0 w 3"/>
                  <a:gd name="txT" fmla="*/ 0 h 294"/>
                  <a:gd name="txR" fmla="*/ 3 w 3"/>
                  <a:gd name="txB" fmla="*/ 294 h 294"/>
                </a:gdLst>
                <a:ahLst/>
                <a:cxnLst>
                  <a:cxn ang="0">
                    <a:pos x="0" y="294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294">
                    <a:moveTo>
                      <a:pt x="0" y="294"/>
                    </a:moveTo>
                    <a:lnTo>
                      <a:pt x="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79" name="Rectangle 25"/>
              <p:cNvSpPr/>
              <p:nvPr/>
            </p:nvSpPr>
            <p:spPr>
              <a:xfrm>
                <a:off x="2176" y="2823"/>
                <a:ext cx="384" cy="177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80" name="Text Box 26"/>
              <p:cNvSpPr txBox="1"/>
              <p:nvPr/>
            </p:nvSpPr>
            <p:spPr>
              <a:xfrm>
                <a:off x="2219" y="2799"/>
                <a:ext cx="27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 &amp;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5981" name="Line 27"/>
              <p:cNvSpPr/>
              <p:nvPr/>
            </p:nvSpPr>
            <p:spPr>
              <a:xfrm>
                <a:off x="2448" y="3002"/>
                <a:ext cx="0" cy="4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5973" name="Oval 28"/>
            <p:cNvSpPr/>
            <p:nvPr/>
          </p:nvSpPr>
          <p:spPr>
            <a:xfrm>
              <a:off x="2343" y="2788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29"/>
          <p:cNvGrpSpPr/>
          <p:nvPr/>
        </p:nvGrpSpPr>
        <p:grpSpPr>
          <a:xfrm>
            <a:off x="6477000" y="3352800"/>
            <a:ext cx="609600" cy="2197100"/>
            <a:chOff x="3120" y="2112"/>
            <a:chExt cx="384" cy="1384"/>
          </a:xfrm>
        </p:grpSpPr>
        <p:grpSp>
          <p:nvGrpSpPr>
            <p:cNvPr id="465962" name="Group 30"/>
            <p:cNvGrpSpPr/>
            <p:nvPr/>
          </p:nvGrpSpPr>
          <p:grpSpPr>
            <a:xfrm>
              <a:off x="3120" y="2112"/>
              <a:ext cx="384" cy="1384"/>
              <a:chOff x="3120" y="2112"/>
              <a:chExt cx="384" cy="1384"/>
            </a:xfrm>
          </p:grpSpPr>
          <p:sp>
            <p:nvSpPr>
              <p:cNvPr id="465964" name="Rectangle 31"/>
              <p:cNvSpPr/>
              <p:nvPr/>
            </p:nvSpPr>
            <p:spPr>
              <a:xfrm>
                <a:off x="3120" y="2365"/>
                <a:ext cx="384" cy="177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65" name="Text Box 32"/>
              <p:cNvSpPr txBox="1"/>
              <p:nvPr/>
            </p:nvSpPr>
            <p:spPr>
              <a:xfrm>
                <a:off x="3168" y="2321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5966" name="Oval 33"/>
              <p:cNvSpPr/>
              <p:nvPr/>
            </p:nvSpPr>
            <p:spPr>
              <a:xfrm>
                <a:off x="3287" y="2323"/>
                <a:ext cx="48" cy="35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67" name="Freeform 34"/>
              <p:cNvSpPr/>
              <p:nvPr/>
            </p:nvSpPr>
            <p:spPr>
              <a:xfrm>
                <a:off x="3314" y="2540"/>
                <a:ext cx="1" cy="256"/>
              </a:xfrm>
              <a:custGeom>
                <a:avLst/>
                <a:gdLst>
                  <a:gd name="txL" fmla="*/ 0 w 1"/>
                  <a:gd name="txT" fmla="*/ 0 h 345"/>
                  <a:gd name="txR" fmla="*/ 1 w 1"/>
                  <a:gd name="txB" fmla="*/ 345 h 345"/>
                </a:gdLst>
                <a:ahLst/>
                <a:cxnLst>
                  <a:cxn ang="0">
                    <a:pos x="0" y="0"/>
                  </a:cxn>
                  <a:cxn ang="0">
                    <a:pos x="0" y="345"/>
                  </a:cxn>
                </a:cxnLst>
                <a:rect l="txL" t="txT" r="txR" b="txB"/>
                <a:pathLst>
                  <a:path w="1" h="345">
                    <a:moveTo>
                      <a:pt x="0" y="0"/>
                    </a:moveTo>
                    <a:lnTo>
                      <a:pt x="0" y="345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68" name="Freeform 35"/>
              <p:cNvSpPr/>
              <p:nvPr/>
            </p:nvSpPr>
            <p:spPr>
              <a:xfrm>
                <a:off x="3311" y="2112"/>
                <a:ext cx="3" cy="218"/>
              </a:xfrm>
              <a:custGeom>
                <a:avLst/>
                <a:gdLst>
                  <a:gd name="txL" fmla="*/ 0 w 3"/>
                  <a:gd name="txT" fmla="*/ 0 h 294"/>
                  <a:gd name="txR" fmla="*/ 3 w 3"/>
                  <a:gd name="txB" fmla="*/ 294 h 294"/>
                </a:gdLst>
                <a:ahLst/>
                <a:cxnLst>
                  <a:cxn ang="0">
                    <a:pos x="0" y="294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294">
                    <a:moveTo>
                      <a:pt x="0" y="294"/>
                    </a:moveTo>
                    <a:lnTo>
                      <a:pt x="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69" name="Rectangle 36"/>
              <p:cNvSpPr/>
              <p:nvPr/>
            </p:nvSpPr>
            <p:spPr>
              <a:xfrm>
                <a:off x="3120" y="2823"/>
                <a:ext cx="384" cy="177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70" name="Text Box 37"/>
              <p:cNvSpPr txBox="1"/>
              <p:nvPr/>
            </p:nvSpPr>
            <p:spPr>
              <a:xfrm>
                <a:off x="3155" y="277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5971" name="Line 38"/>
              <p:cNvSpPr/>
              <p:nvPr/>
            </p:nvSpPr>
            <p:spPr>
              <a:xfrm>
                <a:off x="3456" y="3002"/>
                <a:ext cx="0" cy="4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5963" name="Oval 39"/>
            <p:cNvSpPr/>
            <p:nvPr/>
          </p:nvSpPr>
          <p:spPr>
            <a:xfrm>
              <a:off x="3287" y="2788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40"/>
          <p:cNvGrpSpPr/>
          <p:nvPr/>
        </p:nvGrpSpPr>
        <p:grpSpPr>
          <a:xfrm>
            <a:off x="8001000" y="3352800"/>
            <a:ext cx="609600" cy="2197100"/>
            <a:chOff x="4080" y="2112"/>
            <a:chExt cx="384" cy="1384"/>
          </a:xfrm>
        </p:grpSpPr>
        <p:grpSp>
          <p:nvGrpSpPr>
            <p:cNvPr id="465952" name="Group 41"/>
            <p:cNvGrpSpPr/>
            <p:nvPr/>
          </p:nvGrpSpPr>
          <p:grpSpPr>
            <a:xfrm>
              <a:off x="4080" y="2112"/>
              <a:ext cx="384" cy="1384"/>
              <a:chOff x="4080" y="2112"/>
              <a:chExt cx="384" cy="1384"/>
            </a:xfrm>
          </p:grpSpPr>
          <p:sp>
            <p:nvSpPr>
              <p:cNvPr id="465954" name="Rectangle 42"/>
              <p:cNvSpPr/>
              <p:nvPr/>
            </p:nvSpPr>
            <p:spPr>
              <a:xfrm>
                <a:off x="4080" y="2365"/>
                <a:ext cx="384" cy="177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55" name="Text Box 43"/>
              <p:cNvSpPr txBox="1"/>
              <p:nvPr/>
            </p:nvSpPr>
            <p:spPr>
              <a:xfrm>
                <a:off x="4137" y="2321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5956" name="Oval 44"/>
              <p:cNvSpPr/>
              <p:nvPr/>
            </p:nvSpPr>
            <p:spPr>
              <a:xfrm>
                <a:off x="4247" y="2323"/>
                <a:ext cx="48" cy="35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57" name="Freeform 45"/>
              <p:cNvSpPr/>
              <p:nvPr/>
            </p:nvSpPr>
            <p:spPr>
              <a:xfrm>
                <a:off x="4274" y="2540"/>
                <a:ext cx="1" cy="256"/>
              </a:xfrm>
              <a:custGeom>
                <a:avLst/>
                <a:gdLst>
                  <a:gd name="txL" fmla="*/ 0 w 1"/>
                  <a:gd name="txT" fmla="*/ 0 h 345"/>
                  <a:gd name="txR" fmla="*/ 1 w 1"/>
                  <a:gd name="txB" fmla="*/ 345 h 345"/>
                </a:gdLst>
                <a:ahLst/>
                <a:cxnLst>
                  <a:cxn ang="0">
                    <a:pos x="0" y="0"/>
                  </a:cxn>
                  <a:cxn ang="0">
                    <a:pos x="0" y="345"/>
                  </a:cxn>
                </a:cxnLst>
                <a:rect l="txL" t="txT" r="txR" b="txB"/>
                <a:pathLst>
                  <a:path w="1" h="345">
                    <a:moveTo>
                      <a:pt x="0" y="0"/>
                    </a:moveTo>
                    <a:lnTo>
                      <a:pt x="0" y="345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58" name="Freeform 46"/>
              <p:cNvSpPr/>
              <p:nvPr/>
            </p:nvSpPr>
            <p:spPr>
              <a:xfrm>
                <a:off x="4271" y="2112"/>
                <a:ext cx="3" cy="218"/>
              </a:xfrm>
              <a:custGeom>
                <a:avLst/>
                <a:gdLst>
                  <a:gd name="txL" fmla="*/ 0 w 3"/>
                  <a:gd name="txT" fmla="*/ 0 h 294"/>
                  <a:gd name="txR" fmla="*/ 3 w 3"/>
                  <a:gd name="txB" fmla="*/ 294 h 294"/>
                </a:gdLst>
                <a:ahLst/>
                <a:cxnLst>
                  <a:cxn ang="0">
                    <a:pos x="0" y="294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294">
                    <a:moveTo>
                      <a:pt x="0" y="294"/>
                    </a:moveTo>
                    <a:lnTo>
                      <a:pt x="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59" name="Rectangle 47"/>
              <p:cNvSpPr/>
              <p:nvPr/>
            </p:nvSpPr>
            <p:spPr>
              <a:xfrm>
                <a:off x="4080" y="2823"/>
                <a:ext cx="384" cy="177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5960" name="Text Box 48"/>
              <p:cNvSpPr txBox="1"/>
              <p:nvPr/>
            </p:nvSpPr>
            <p:spPr>
              <a:xfrm>
                <a:off x="4125" y="2792"/>
                <a:ext cx="27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 &amp;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5961" name="Line 49"/>
              <p:cNvSpPr/>
              <p:nvPr/>
            </p:nvSpPr>
            <p:spPr>
              <a:xfrm>
                <a:off x="4416" y="3002"/>
                <a:ext cx="0" cy="4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5953" name="Oval 50"/>
            <p:cNvSpPr/>
            <p:nvPr/>
          </p:nvSpPr>
          <p:spPr>
            <a:xfrm>
              <a:off x="4247" y="2788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51"/>
          <p:cNvGrpSpPr/>
          <p:nvPr/>
        </p:nvGrpSpPr>
        <p:grpSpPr>
          <a:xfrm>
            <a:off x="3810000" y="4267200"/>
            <a:ext cx="4267200" cy="762000"/>
            <a:chOff x="1200" y="2688"/>
            <a:chExt cx="2688" cy="480"/>
          </a:xfrm>
        </p:grpSpPr>
        <p:sp>
          <p:nvSpPr>
            <p:cNvPr id="465949" name="Freeform 52"/>
            <p:cNvSpPr/>
            <p:nvPr/>
          </p:nvSpPr>
          <p:spPr>
            <a:xfrm>
              <a:off x="1200" y="2688"/>
              <a:ext cx="2688" cy="480"/>
            </a:xfrm>
            <a:custGeom>
              <a:avLst/>
              <a:gdLst>
                <a:gd name="txL" fmla="*/ 0 w 2688"/>
                <a:gd name="txT" fmla="*/ 0 h 480"/>
                <a:gd name="txR" fmla="*/ 2688 w 2688"/>
                <a:gd name="txB" fmla="*/ 480 h 480"/>
              </a:gdLst>
              <a:ahLst/>
              <a:cxnLst>
                <a:cxn ang="0">
                  <a:pos x="0" y="0"/>
                </a:cxn>
                <a:cxn ang="0">
                  <a:pos x="440" y="0"/>
                </a:cxn>
                <a:cxn ang="0">
                  <a:pos x="440" y="480"/>
                </a:cxn>
                <a:cxn ang="0">
                  <a:pos x="2688" y="480"/>
                </a:cxn>
                <a:cxn ang="0">
                  <a:pos x="2688" y="312"/>
                </a:cxn>
              </a:cxnLst>
              <a:rect l="txL" t="txT" r="txR" b="txB"/>
              <a:pathLst>
                <a:path w="2688" h="480">
                  <a:moveTo>
                    <a:pt x="0" y="0"/>
                  </a:moveTo>
                  <a:lnTo>
                    <a:pt x="440" y="0"/>
                  </a:lnTo>
                  <a:lnTo>
                    <a:pt x="440" y="480"/>
                  </a:lnTo>
                  <a:lnTo>
                    <a:pt x="2688" y="480"/>
                  </a:lnTo>
                  <a:lnTo>
                    <a:pt x="2688" y="312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5950" name="Freeform 53"/>
            <p:cNvSpPr/>
            <p:nvPr/>
          </p:nvSpPr>
          <p:spPr>
            <a:xfrm>
              <a:off x="2065" y="2997"/>
              <a:ext cx="2" cy="171"/>
            </a:xfrm>
            <a:custGeom>
              <a:avLst/>
              <a:gdLst>
                <a:gd name="txL" fmla="*/ 0 w 2"/>
                <a:gd name="txT" fmla="*/ 0 h 171"/>
                <a:gd name="txR" fmla="*/ 2 w 2"/>
                <a:gd name="txB" fmla="*/ 171 h 171"/>
              </a:gdLst>
              <a:ahLst/>
              <a:cxnLst>
                <a:cxn ang="0">
                  <a:pos x="2" y="0"/>
                </a:cxn>
                <a:cxn ang="0">
                  <a:pos x="0" y="171"/>
                </a:cxn>
              </a:cxnLst>
              <a:rect l="txL" t="txT" r="txR" b="tx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5951" name="Freeform 54"/>
            <p:cNvSpPr/>
            <p:nvPr/>
          </p:nvSpPr>
          <p:spPr>
            <a:xfrm>
              <a:off x="2928" y="2997"/>
              <a:ext cx="2" cy="171"/>
            </a:xfrm>
            <a:custGeom>
              <a:avLst/>
              <a:gdLst>
                <a:gd name="txL" fmla="*/ 0 w 2"/>
                <a:gd name="txT" fmla="*/ 0 h 171"/>
                <a:gd name="txR" fmla="*/ 2 w 2"/>
                <a:gd name="txB" fmla="*/ 171 h 171"/>
              </a:gdLst>
              <a:ahLst/>
              <a:cxnLst>
                <a:cxn ang="0">
                  <a:pos x="2" y="0"/>
                </a:cxn>
                <a:cxn ang="0">
                  <a:pos x="0" y="171"/>
                </a:cxn>
              </a:cxnLst>
              <a:rect l="txL" t="txT" r="txR" b="tx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oup 55"/>
          <p:cNvGrpSpPr/>
          <p:nvPr/>
        </p:nvGrpSpPr>
        <p:grpSpPr>
          <a:xfrm>
            <a:off x="5281613" y="4267200"/>
            <a:ext cx="2952750" cy="990600"/>
            <a:chOff x="2127" y="2688"/>
            <a:chExt cx="1860" cy="624"/>
          </a:xfrm>
        </p:grpSpPr>
        <p:sp>
          <p:nvSpPr>
            <p:cNvPr id="465947" name="Freeform 56"/>
            <p:cNvSpPr/>
            <p:nvPr/>
          </p:nvSpPr>
          <p:spPr>
            <a:xfrm>
              <a:off x="2127" y="2688"/>
              <a:ext cx="1860" cy="624"/>
            </a:xfrm>
            <a:custGeom>
              <a:avLst/>
              <a:gdLst>
                <a:gd name="txL" fmla="*/ 0 w 1860"/>
                <a:gd name="txT" fmla="*/ 0 h 624"/>
                <a:gd name="txR" fmla="*/ 1860 w 1860"/>
                <a:gd name="txB" fmla="*/ 624 h 624"/>
              </a:gdLst>
              <a:ahLst/>
              <a:cxnLst>
                <a:cxn ang="0">
                  <a:pos x="0" y="0"/>
                </a:cxn>
                <a:cxn ang="0">
                  <a:pos x="417" y="0"/>
                </a:cxn>
                <a:cxn ang="0">
                  <a:pos x="417" y="624"/>
                </a:cxn>
                <a:cxn ang="0">
                  <a:pos x="1857" y="624"/>
                </a:cxn>
                <a:cxn ang="0">
                  <a:pos x="1860" y="312"/>
                </a:cxn>
              </a:cxnLst>
              <a:rect l="txL" t="txT" r="txR" b="txB"/>
              <a:pathLst>
                <a:path w="1860" h="624">
                  <a:moveTo>
                    <a:pt x="0" y="0"/>
                  </a:moveTo>
                  <a:lnTo>
                    <a:pt x="417" y="0"/>
                  </a:lnTo>
                  <a:lnTo>
                    <a:pt x="417" y="624"/>
                  </a:lnTo>
                  <a:lnTo>
                    <a:pt x="1857" y="624"/>
                  </a:lnTo>
                  <a:lnTo>
                    <a:pt x="1860" y="312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5948" name="Freeform 57"/>
            <p:cNvSpPr/>
            <p:nvPr/>
          </p:nvSpPr>
          <p:spPr>
            <a:xfrm>
              <a:off x="3073" y="3000"/>
              <a:ext cx="2" cy="312"/>
            </a:xfrm>
            <a:custGeom>
              <a:avLst/>
              <a:gdLst>
                <a:gd name="txL" fmla="*/ 0 w 2"/>
                <a:gd name="txT" fmla="*/ 0 h 312"/>
                <a:gd name="txR" fmla="*/ 2 w 2"/>
                <a:gd name="txB" fmla="*/ 312 h 312"/>
              </a:gdLst>
              <a:ahLst/>
              <a:cxnLst>
                <a:cxn ang="0">
                  <a:pos x="2" y="0"/>
                </a:cxn>
                <a:cxn ang="0">
                  <a:pos x="0" y="312"/>
                </a:cxn>
              </a:cxnLst>
              <a:rect l="txL" t="txT" r="txR" b="txB"/>
              <a:pathLst>
                <a:path w="2" h="312">
                  <a:moveTo>
                    <a:pt x="2" y="0"/>
                  </a:moveTo>
                  <a:lnTo>
                    <a:pt x="0" y="312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10682" name="Text Box 58"/>
          <p:cNvSpPr txBox="1"/>
          <p:nvPr/>
        </p:nvSpPr>
        <p:spPr>
          <a:xfrm>
            <a:off x="7772400" y="2133600"/>
            <a:ext cx="2362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参见 第五章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0683" name="Text Box 59"/>
          <p:cNvSpPr txBox="1"/>
          <p:nvPr/>
        </p:nvSpPr>
        <p:spPr>
          <a:xfrm>
            <a:off x="3429000" y="5562600"/>
            <a:ext cx="1524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410684" name="Text Box 60"/>
          <p:cNvSpPr txBox="1"/>
          <p:nvPr/>
        </p:nvSpPr>
        <p:spPr>
          <a:xfrm>
            <a:off x="5029200" y="5562600"/>
            <a:ext cx="1524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410685" name="Text Box 61"/>
          <p:cNvSpPr txBox="1"/>
          <p:nvPr/>
        </p:nvSpPr>
        <p:spPr>
          <a:xfrm>
            <a:off x="6629400" y="5562600"/>
            <a:ext cx="1524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410686" name="Text Box 62"/>
          <p:cNvSpPr txBox="1"/>
          <p:nvPr/>
        </p:nvSpPr>
        <p:spPr>
          <a:xfrm>
            <a:off x="8153400" y="5562600"/>
            <a:ext cx="1524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410687" name="Text Box 63"/>
          <p:cNvSpPr txBox="1"/>
          <p:nvPr/>
        </p:nvSpPr>
        <p:spPr>
          <a:xfrm>
            <a:off x="2895600" y="6172200"/>
            <a:ext cx="7086600" cy="66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 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INTR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优先级 </a:t>
            </a:r>
            <a:r>
              <a:rPr lang="zh-CN" altLang="en-US" sz="2000" b="1" dirty="0">
                <a:latin typeface="Times New Roman" panose="02020603050405020304" pitchFamily="18" charset="0"/>
              </a:rPr>
              <a:t>按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降序 </a:t>
            </a:r>
            <a:r>
              <a:rPr lang="zh-CN" altLang="en-US" sz="2000" b="1" dirty="0">
                <a:latin typeface="Times New Roman" panose="02020603050405020304" pitchFamily="18" charset="0"/>
              </a:rPr>
              <a:t>排列</a:t>
            </a:r>
            <a:endParaRPr lang="zh-CN" altLang="en-US" b="1" baseline="-250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 baseline="-25000" dirty="0">
                <a:latin typeface="Times New Roman" panose="02020603050405020304" pitchFamily="18" charset="0"/>
              </a:rPr>
              <a:t> </a:t>
            </a:r>
            <a:endParaRPr lang="zh-CN" altLang="en-US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410688" name="Freeform 64"/>
          <p:cNvSpPr/>
          <p:nvPr/>
        </p:nvSpPr>
        <p:spPr>
          <a:xfrm>
            <a:off x="6781800" y="4267200"/>
            <a:ext cx="1600200" cy="1219200"/>
          </a:xfrm>
          <a:custGeom>
            <a:avLst/>
            <a:gdLst>
              <a:gd name="txL" fmla="*/ 0 w 1008"/>
              <a:gd name="txT" fmla="*/ 0 h 768"/>
              <a:gd name="txR" fmla="*/ 1008 w 1008"/>
              <a:gd name="txB" fmla="*/ 768 h 768"/>
            </a:gdLst>
            <a:ahLst/>
            <a:cxnLst>
              <a:cxn ang="0">
                <a:pos x="0" y="0"/>
              </a:cxn>
              <a:cxn ang="0">
                <a:pos x="480" y="0"/>
              </a:cxn>
              <a:cxn ang="0">
                <a:pos x="480" y="768"/>
              </a:cxn>
              <a:cxn ang="0">
                <a:pos x="1008" y="768"/>
              </a:cxn>
              <a:cxn ang="0">
                <a:pos x="1008" y="318"/>
              </a:cxn>
            </a:cxnLst>
            <a:rect l="txL" t="txT" r="txR" b="txB"/>
            <a:pathLst>
              <a:path w="1008" h="768">
                <a:moveTo>
                  <a:pt x="0" y="0"/>
                </a:moveTo>
                <a:lnTo>
                  <a:pt x="480" y="0"/>
                </a:lnTo>
                <a:lnTo>
                  <a:pt x="480" y="768"/>
                </a:lnTo>
                <a:lnTo>
                  <a:pt x="1008" y="768"/>
                </a:lnTo>
                <a:lnTo>
                  <a:pt x="1008" y="318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Group 65"/>
          <p:cNvGrpSpPr/>
          <p:nvPr/>
        </p:nvGrpSpPr>
        <p:grpSpPr>
          <a:xfrm>
            <a:off x="3429000" y="2971800"/>
            <a:ext cx="5562600" cy="398463"/>
            <a:chOff x="1200" y="1872"/>
            <a:chExt cx="3504" cy="251"/>
          </a:xfrm>
        </p:grpSpPr>
        <p:sp>
          <p:nvSpPr>
            <p:cNvPr id="465943" name="Text Box 66"/>
            <p:cNvSpPr txBox="1"/>
            <p:nvPr/>
          </p:nvSpPr>
          <p:spPr>
            <a:xfrm>
              <a:off x="1200" y="1872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65944" name="Text Box 67"/>
            <p:cNvSpPr txBox="1"/>
            <p:nvPr/>
          </p:nvSpPr>
          <p:spPr>
            <a:xfrm>
              <a:off x="2112" y="1872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65945" name="Text Box 68"/>
            <p:cNvSpPr txBox="1"/>
            <p:nvPr/>
          </p:nvSpPr>
          <p:spPr>
            <a:xfrm>
              <a:off x="3072" y="1872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65946" name="Text Box 69"/>
            <p:cNvSpPr txBox="1"/>
            <p:nvPr/>
          </p:nvSpPr>
          <p:spPr>
            <a:xfrm>
              <a:off x="4032" y="1872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0694" name="Rectangle 7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5941" name="AutoShape 7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5942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41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7" grpId="0"/>
      <p:bldP spid="410628" grpId="0"/>
      <p:bldP spid="410629" grpId="0"/>
      <p:bldP spid="410682" grpId="0"/>
      <p:bldP spid="410683" grpId="0"/>
      <p:bldP spid="410684" grpId="0"/>
      <p:bldP spid="410685" grpId="0"/>
      <p:bldP spid="410686" grpId="0"/>
      <p:bldP spid="410687" grpId="0"/>
      <p:bldP spid="410688" grpId="0" bldLvl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1650" name="Rectangle 2"/>
          <p:cNvSpPr/>
          <p:nvPr/>
        </p:nvSpPr>
        <p:spPr>
          <a:xfrm>
            <a:off x="2895600" y="1066800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优先级按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降序 </a:t>
            </a:r>
            <a:r>
              <a:rPr lang="zh-CN" altLang="en-US" sz="2400" b="1" dirty="0">
                <a:latin typeface="Times New Roman" panose="02020603050405020304" pitchFamily="18" charset="0"/>
              </a:rPr>
              <a:t>排列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66947" name="Rectangle 3"/>
          <p:cNvSpPr/>
          <p:nvPr/>
        </p:nvSpPr>
        <p:spPr>
          <a:xfrm>
            <a:off x="2209800" y="381000"/>
            <a:ext cx="5257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软件实现（程序查询）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622800" y="2971800"/>
            <a:ext cx="635000" cy="457200"/>
            <a:chOff x="1952" y="1872"/>
            <a:chExt cx="400" cy="288"/>
          </a:xfrm>
        </p:grpSpPr>
        <p:sp>
          <p:nvSpPr>
            <p:cNvPr id="466982" name="Text Box 5"/>
            <p:cNvSpPr txBox="1"/>
            <p:nvPr/>
          </p:nvSpPr>
          <p:spPr>
            <a:xfrm>
              <a:off x="1968" y="1872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6983" name="Line 6"/>
            <p:cNvSpPr/>
            <p:nvPr/>
          </p:nvSpPr>
          <p:spPr>
            <a:xfrm>
              <a:off x="1952" y="187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11655" name="Text Box 7"/>
          <p:cNvSpPr txBox="1"/>
          <p:nvPr/>
        </p:nvSpPr>
        <p:spPr>
          <a:xfrm>
            <a:off x="4462780" y="6019800"/>
            <a:ext cx="490220" cy="34544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…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1656" name="Line 8"/>
          <p:cNvSpPr/>
          <p:nvPr/>
        </p:nvSpPr>
        <p:spPr>
          <a:xfrm>
            <a:off x="4622800" y="1676400"/>
            <a:ext cx="0" cy="457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66951" name="Text Box 9"/>
          <p:cNvSpPr txBox="1"/>
          <p:nvPr/>
        </p:nvSpPr>
        <p:spPr>
          <a:xfrm>
            <a:off x="8534400" y="2971800"/>
            <a:ext cx="1676400" cy="414655"/>
          </a:xfrm>
          <a:prstGeom prst="rect">
            <a:avLst/>
          </a:prstGeom>
          <a:noFill/>
          <a:ln w="9525">
            <a:noFill/>
          </a:ln>
        </p:spPr>
        <p:txBody>
          <a:bodyPr lIns="0" tIns="0">
            <a:spAutoFit/>
          </a:bodyPr>
          <a:p>
            <a:pPr>
              <a:spcBef>
                <a:spcPct val="50000"/>
              </a:spcBef>
            </a:pP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3530600" y="2184400"/>
            <a:ext cx="2278063" cy="736600"/>
            <a:chOff x="1264" y="1376"/>
            <a:chExt cx="1435" cy="464"/>
          </a:xfrm>
        </p:grpSpPr>
        <p:sp>
          <p:nvSpPr>
            <p:cNvPr id="466980" name="AutoShape 11"/>
            <p:cNvSpPr/>
            <p:nvPr/>
          </p:nvSpPr>
          <p:spPr>
            <a:xfrm>
              <a:off x="1264" y="1376"/>
              <a:ext cx="1392" cy="464"/>
            </a:xfrm>
            <a:prstGeom prst="diamond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6981" name="Text Box 12"/>
            <p:cNvSpPr txBox="1"/>
            <p:nvPr/>
          </p:nvSpPr>
          <p:spPr>
            <a:xfrm>
              <a:off x="1504" y="1507"/>
              <a:ext cx="1195" cy="22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是否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请求？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3530600" y="3479800"/>
            <a:ext cx="2349500" cy="736600"/>
            <a:chOff x="1264" y="2192"/>
            <a:chExt cx="1480" cy="464"/>
          </a:xfrm>
        </p:grpSpPr>
        <p:sp>
          <p:nvSpPr>
            <p:cNvPr id="466978" name="AutoShape 14"/>
            <p:cNvSpPr/>
            <p:nvPr/>
          </p:nvSpPr>
          <p:spPr>
            <a:xfrm>
              <a:off x="1264" y="2192"/>
              <a:ext cx="1392" cy="464"/>
            </a:xfrm>
            <a:prstGeom prst="diamond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6979" name="Text Box 15"/>
            <p:cNvSpPr txBox="1"/>
            <p:nvPr/>
          </p:nvSpPr>
          <p:spPr>
            <a:xfrm>
              <a:off x="1504" y="2323"/>
              <a:ext cx="1240" cy="22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是否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请求？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3530600" y="4775200"/>
            <a:ext cx="2420938" cy="736600"/>
            <a:chOff x="1264" y="3008"/>
            <a:chExt cx="1525" cy="464"/>
          </a:xfrm>
        </p:grpSpPr>
        <p:sp>
          <p:nvSpPr>
            <p:cNvPr id="466976" name="AutoShape 17"/>
            <p:cNvSpPr/>
            <p:nvPr/>
          </p:nvSpPr>
          <p:spPr>
            <a:xfrm>
              <a:off x="1264" y="3008"/>
              <a:ext cx="1392" cy="464"/>
            </a:xfrm>
            <a:prstGeom prst="diamond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6977" name="Text Box 18"/>
            <p:cNvSpPr txBox="1"/>
            <p:nvPr/>
          </p:nvSpPr>
          <p:spPr>
            <a:xfrm>
              <a:off x="1504" y="3139"/>
              <a:ext cx="1285" cy="22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是否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请求？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667" name="Text Box 19"/>
          <p:cNvSpPr txBox="1"/>
          <p:nvPr/>
        </p:nvSpPr>
        <p:spPr>
          <a:xfrm>
            <a:off x="6705600" y="2316163"/>
            <a:ext cx="3505200" cy="835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200" b="1" dirty="0">
                <a:latin typeface="Times New Roman" panose="02020603050405020304" pitchFamily="18" charset="0"/>
              </a:rPr>
              <a:t>转 </a:t>
            </a:r>
            <a:r>
              <a: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的服务程序</a:t>
            </a:r>
            <a:endParaRPr lang="zh-CN" altLang="en-US" sz="2200" b="1" dirty="0">
              <a:latin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668" name="Text Box 20"/>
          <p:cNvSpPr txBox="1"/>
          <p:nvPr/>
        </p:nvSpPr>
        <p:spPr>
          <a:xfrm>
            <a:off x="6705600" y="3657600"/>
            <a:ext cx="3505200" cy="835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200" b="1" dirty="0">
                <a:latin typeface="Times New Roman" panose="02020603050405020304" pitchFamily="18" charset="0"/>
              </a:rPr>
              <a:t>转 </a:t>
            </a:r>
            <a:r>
              <a: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的服务程序</a:t>
            </a:r>
            <a:endParaRPr lang="zh-CN" altLang="en-US" sz="2200" b="1" dirty="0">
              <a:latin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669" name="Text Box 21"/>
          <p:cNvSpPr txBox="1"/>
          <p:nvPr/>
        </p:nvSpPr>
        <p:spPr>
          <a:xfrm>
            <a:off x="6705600" y="4953000"/>
            <a:ext cx="3505200" cy="835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200" b="1" dirty="0">
                <a:latin typeface="Times New Roman" panose="02020603050405020304" pitchFamily="18" charset="0"/>
              </a:rPr>
              <a:t>转 </a:t>
            </a:r>
            <a:r>
              <a: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的服务程序</a:t>
            </a:r>
            <a:endParaRPr lang="zh-CN" altLang="en-US" sz="2200" b="1" dirty="0">
              <a:latin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22"/>
          <p:cNvGrpSpPr/>
          <p:nvPr/>
        </p:nvGrpSpPr>
        <p:grpSpPr>
          <a:xfrm>
            <a:off x="5715000" y="2144713"/>
            <a:ext cx="914400" cy="403225"/>
            <a:chOff x="2640" y="1351"/>
            <a:chExt cx="576" cy="254"/>
          </a:xfrm>
        </p:grpSpPr>
        <p:sp>
          <p:nvSpPr>
            <p:cNvPr id="466974" name="Line 23"/>
            <p:cNvSpPr/>
            <p:nvPr/>
          </p:nvSpPr>
          <p:spPr>
            <a:xfrm>
              <a:off x="2640" y="1605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6975" name="Text Box 24"/>
            <p:cNvSpPr txBox="1"/>
            <p:nvPr/>
          </p:nvSpPr>
          <p:spPr>
            <a:xfrm>
              <a:off x="2688" y="1351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5"/>
          <p:cNvGrpSpPr/>
          <p:nvPr/>
        </p:nvGrpSpPr>
        <p:grpSpPr>
          <a:xfrm>
            <a:off x="5715000" y="3429000"/>
            <a:ext cx="914400" cy="428625"/>
            <a:chOff x="2640" y="2160"/>
            <a:chExt cx="576" cy="270"/>
          </a:xfrm>
        </p:grpSpPr>
        <p:sp>
          <p:nvSpPr>
            <p:cNvPr id="466972" name="Line 26"/>
            <p:cNvSpPr/>
            <p:nvPr/>
          </p:nvSpPr>
          <p:spPr>
            <a:xfrm>
              <a:off x="2640" y="2430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6973" name="Text Box 27"/>
            <p:cNvSpPr txBox="1"/>
            <p:nvPr/>
          </p:nvSpPr>
          <p:spPr>
            <a:xfrm>
              <a:off x="2688" y="2160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28"/>
          <p:cNvGrpSpPr/>
          <p:nvPr/>
        </p:nvGrpSpPr>
        <p:grpSpPr>
          <a:xfrm>
            <a:off x="5715000" y="4724400"/>
            <a:ext cx="914400" cy="420688"/>
            <a:chOff x="2640" y="2976"/>
            <a:chExt cx="576" cy="265"/>
          </a:xfrm>
        </p:grpSpPr>
        <p:sp>
          <p:nvSpPr>
            <p:cNvPr id="466970" name="Line 29"/>
            <p:cNvSpPr/>
            <p:nvPr/>
          </p:nvSpPr>
          <p:spPr>
            <a:xfrm>
              <a:off x="2640" y="3241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6971" name="Text Box 30"/>
            <p:cNvSpPr txBox="1"/>
            <p:nvPr/>
          </p:nvSpPr>
          <p:spPr>
            <a:xfrm>
              <a:off x="2688" y="2976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31"/>
          <p:cNvGrpSpPr/>
          <p:nvPr/>
        </p:nvGrpSpPr>
        <p:grpSpPr>
          <a:xfrm>
            <a:off x="4622800" y="4251325"/>
            <a:ext cx="635000" cy="473075"/>
            <a:chOff x="1952" y="2678"/>
            <a:chExt cx="400" cy="298"/>
          </a:xfrm>
        </p:grpSpPr>
        <p:sp>
          <p:nvSpPr>
            <p:cNvPr id="466968" name="Line 32"/>
            <p:cNvSpPr/>
            <p:nvPr/>
          </p:nvSpPr>
          <p:spPr>
            <a:xfrm>
              <a:off x="1952" y="2688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6969" name="Text Box 33"/>
            <p:cNvSpPr txBox="1"/>
            <p:nvPr/>
          </p:nvSpPr>
          <p:spPr>
            <a:xfrm>
              <a:off x="1968" y="2678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34"/>
          <p:cNvGrpSpPr/>
          <p:nvPr/>
        </p:nvGrpSpPr>
        <p:grpSpPr>
          <a:xfrm>
            <a:off x="4622800" y="5546725"/>
            <a:ext cx="635000" cy="473075"/>
            <a:chOff x="1952" y="3494"/>
            <a:chExt cx="400" cy="298"/>
          </a:xfrm>
        </p:grpSpPr>
        <p:sp>
          <p:nvSpPr>
            <p:cNvPr id="466966" name="Line 35"/>
            <p:cNvSpPr/>
            <p:nvPr/>
          </p:nvSpPr>
          <p:spPr>
            <a:xfrm>
              <a:off x="1952" y="350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66967" name="Text Box 36"/>
            <p:cNvSpPr txBox="1"/>
            <p:nvPr/>
          </p:nvSpPr>
          <p:spPr>
            <a:xfrm>
              <a:off x="1968" y="3494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685" name="Rectangle 3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6964" name="AutoShape 3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6965" name="日期占位符 1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1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4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/>
      <p:bldP spid="411655" grpId="0"/>
      <p:bldP spid="411667" grpId="0"/>
      <p:bldP spid="411668" grpId="0"/>
      <p:bldP spid="41166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7970" name="Rectangle 2"/>
          <p:cNvSpPr/>
          <p:nvPr/>
        </p:nvSpPr>
        <p:spPr>
          <a:xfrm>
            <a:off x="1905000" y="381000"/>
            <a:ext cx="86868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3600" b="1" dirty="0">
                <a:latin typeface="Times New Roman" panose="02020603050405020304" pitchFamily="18" charset="0"/>
              </a:rPr>
              <a:t>三、中断服务程序入口地址的寻找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67971" name="Rectangle 3"/>
          <p:cNvSpPr/>
          <p:nvPr/>
        </p:nvSpPr>
        <p:spPr>
          <a:xfrm>
            <a:off x="2514600" y="11430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硬件向量法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467972" name="Group 4"/>
          <p:cNvGrpSpPr/>
          <p:nvPr/>
        </p:nvGrpSpPr>
        <p:grpSpPr>
          <a:xfrm>
            <a:off x="7696200" y="2286000"/>
            <a:ext cx="2514600" cy="2746375"/>
            <a:chOff x="4032" y="1440"/>
            <a:chExt cx="1584" cy="1730"/>
          </a:xfrm>
        </p:grpSpPr>
        <p:sp>
          <p:nvSpPr>
            <p:cNvPr id="468005" name="Text Box 5"/>
            <p:cNvSpPr txBox="1"/>
            <p:nvPr/>
          </p:nvSpPr>
          <p:spPr>
            <a:xfrm>
              <a:off x="4550" y="2056"/>
              <a:ext cx="10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入口地址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8006" name="Rectangle 6"/>
            <p:cNvSpPr/>
            <p:nvPr/>
          </p:nvSpPr>
          <p:spPr>
            <a:xfrm>
              <a:off x="4464" y="2018"/>
              <a:ext cx="115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8007" name="Text Box 7"/>
            <p:cNvSpPr txBox="1"/>
            <p:nvPr/>
          </p:nvSpPr>
          <p:spPr>
            <a:xfrm>
              <a:off x="4550" y="2344"/>
              <a:ext cx="10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入口地址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300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8008" name="Rectangle 8"/>
            <p:cNvSpPr/>
            <p:nvPr/>
          </p:nvSpPr>
          <p:spPr>
            <a:xfrm>
              <a:off x="4464" y="2306"/>
              <a:ext cx="115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8009" name="Text Box 9"/>
            <p:cNvSpPr txBox="1"/>
            <p:nvPr/>
          </p:nvSpPr>
          <p:spPr>
            <a:xfrm>
              <a:off x="4550" y="2632"/>
              <a:ext cx="10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入口地址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400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8010" name="Rectangle 10"/>
            <p:cNvSpPr/>
            <p:nvPr/>
          </p:nvSpPr>
          <p:spPr>
            <a:xfrm>
              <a:off x="4464" y="2594"/>
              <a:ext cx="115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8011" name="Rectangle 11"/>
            <p:cNvSpPr/>
            <p:nvPr/>
          </p:nvSpPr>
          <p:spPr>
            <a:xfrm>
              <a:off x="4464" y="1730"/>
              <a:ext cx="115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8012" name="Rectangle 12"/>
            <p:cNvSpPr/>
            <p:nvPr/>
          </p:nvSpPr>
          <p:spPr>
            <a:xfrm>
              <a:off x="4464" y="2882"/>
              <a:ext cx="115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68013" name="Rectangle 13"/>
            <p:cNvSpPr/>
            <p:nvPr/>
          </p:nvSpPr>
          <p:spPr>
            <a:xfrm>
              <a:off x="4032" y="2018"/>
              <a:ext cx="3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12 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8014" name="Rectangle 14"/>
            <p:cNvSpPr/>
            <p:nvPr/>
          </p:nvSpPr>
          <p:spPr>
            <a:xfrm>
              <a:off x="4032" y="2306"/>
              <a:ext cx="3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13 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8015" name="Rectangle 15"/>
            <p:cNvSpPr/>
            <p:nvPr/>
          </p:nvSpPr>
          <p:spPr>
            <a:xfrm>
              <a:off x="4032" y="2594"/>
              <a:ext cx="3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14 H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8016" name="Text Box 16"/>
            <p:cNvSpPr txBox="1"/>
            <p:nvPr/>
          </p:nvSpPr>
          <p:spPr>
            <a:xfrm>
              <a:off x="4842" y="1440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67973" name="Group 17"/>
          <p:cNvGrpSpPr/>
          <p:nvPr/>
        </p:nvGrpSpPr>
        <p:grpSpPr>
          <a:xfrm>
            <a:off x="4495800" y="2286000"/>
            <a:ext cx="2590800" cy="2743200"/>
            <a:chOff x="2016" y="1440"/>
            <a:chExt cx="1632" cy="1728"/>
          </a:xfrm>
        </p:grpSpPr>
        <p:grpSp>
          <p:nvGrpSpPr>
            <p:cNvPr id="467992" name="Group 18"/>
            <p:cNvGrpSpPr/>
            <p:nvPr/>
          </p:nvGrpSpPr>
          <p:grpSpPr>
            <a:xfrm>
              <a:off x="2016" y="1728"/>
              <a:ext cx="1632" cy="1440"/>
              <a:chOff x="2016" y="1728"/>
              <a:chExt cx="1632" cy="1440"/>
            </a:xfrm>
          </p:grpSpPr>
          <p:sp>
            <p:nvSpPr>
              <p:cNvPr id="467994" name="Rectangle 19"/>
              <p:cNvSpPr/>
              <p:nvPr/>
            </p:nvSpPr>
            <p:spPr>
              <a:xfrm>
                <a:off x="2016" y="2016"/>
                <a:ext cx="384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12 H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7995" name="Rectangle 20"/>
              <p:cNvSpPr/>
              <p:nvPr/>
            </p:nvSpPr>
            <p:spPr>
              <a:xfrm>
                <a:off x="2016" y="2304"/>
                <a:ext cx="384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13 H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7996" name="Rectangle 21"/>
              <p:cNvSpPr/>
              <p:nvPr/>
            </p:nvSpPr>
            <p:spPr>
              <a:xfrm>
                <a:off x="2016" y="2592"/>
                <a:ext cx="384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14 H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7997" name="Text Box 22"/>
              <p:cNvSpPr txBox="1"/>
              <p:nvPr/>
            </p:nvSpPr>
            <p:spPr>
              <a:xfrm>
                <a:off x="2496" y="2054"/>
                <a:ext cx="115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JMP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     200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7998" name="Rectangle 23"/>
              <p:cNvSpPr/>
              <p:nvPr/>
            </p:nvSpPr>
            <p:spPr>
              <a:xfrm>
                <a:off x="2448" y="2016"/>
                <a:ext cx="1152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7999" name="Rectangle 24"/>
              <p:cNvSpPr/>
              <p:nvPr/>
            </p:nvSpPr>
            <p:spPr>
              <a:xfrm>
                <a:off x="2448" y="2304"/>
                <a:ext cx="1152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8000" name="Rectangle 25"/>
              <p:cNvSpPr/>
              <p:nvPr/>
            </p:nvSpPr>
            <p:spPr>
              <a:xfrm>
                <a:off x="2448" y="2592"/>
                <a:ext cx="1152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8001" name="Rectangle 26"/>
              <p:cNvSpPr/>
              <p:nvPr/>
            </p:nvSpPr>
            <p:spPr>
              <a:xfrm>
                <a:off x="2448" y="1728"/>
                <a:ext cx="1152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8002" name="Rectangle 27"/>
              <p:cNvSpPr/>
              <p:nvPr/>
            </p:nvSpPr>
            <p:spPr>
              <a:xfrm>
                <a:off x="2448" y="2880"/>
                <a:ext cx="1152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8003" name="Text Box 28"/>
              <p:cNvSpPr txBox="1"/>
              <p:nvPr/>
            </p:nvSpPr>
            <p:spPr>
              <a:xfrm>
                <a:off x="2496" y="2342"/>
                <a:ext cx="115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JMP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     300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8004" name="Text Box 29"/>
              <p:cNvSpPr txBox="1"/>
              <p:nvPr/>
            </p:nvSpPr>
            <p:spPr>
              <a:xfrm>
                <a:off x="2496" y="2630"/>
                <a:ext cx="115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JMP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     400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7993" name="Text Box 30"/>
            <p:cNvSpPr txBox="1"/>
            <p:nvPr/>
          </p:nvSpPr>
          <p:spPr>
            <a:xfrm>
              <a:off x="2826" y="1440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67974" name="Group 31"/>
          <p:cNvGrpSpPr/>
          <p:nvPr/>
        </p:nvGrpSpPr>
        <p:grpSpPr>
          <a:xfrm>
            <a:off x="2057400" y="2286000"/>
            <a:ext cx="2286000" cy="3005138"/>
            <a:chOff x="336" y="1440"/>
            <a:chExt cx="1440" cy="1893"/>
          </a:xfrm>
        </p:grpSpPr>
        <p:grpSp>
          <p:nvGrpSpPr>
            <p:cNvPr id="467979" name="Group 32"/>
            <p:cNvGrpSpPr/>
            <p:nvPr/>
          </p:nvGrpSpPr>
          <p:grpSpPr>
            <a:xfrm>
              <a:off x="336" y="1738"/>
              <a:ext cx="1104" cy="1296"/>
              <a:chOff x="336" y="1738"/>
              <a:chExt cx="1104" cy="1296"/>
            </a:xfrm>
          </p:grpSpPr>
          <p:sp>
            <p:nvSpPr>
              <p:cNvPr id="467982" name="Text Box 33"/>
              <p:cNvSpPr txBox="1"/>
              <p:nvPr/>
            </p:nvSpPr>
            <p:spPr>
              <a:xfrm>
                <a:off x="518" y="2120"/>
                <a:ext cx="755" cy="4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向量地址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形成部件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7983" name="Rectangle 34"/>
              <p:cNvSpPr/>
              <p:nvPr/>
            </p:nvSpPr>
            <p:spPr>
              <a:xfrm>
                <a:off x="336" y="2074"/>
                <a:ext cx="1104" cy="62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7984" name="Line 35"/>
              <p:cNvSpPr/>
              <p:nvPr/>
            </p:nvSpPr>
            <p:spPr>
              <a:xfrm flipV="1">
                <a:off x="480" y="173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7985" name="Line 36"/>
              <p:cNvSpPr/>
              <p:nvPr/>
            </p:nvSpPr>
            <p:spPr>
              <a:xfrm flipV="1">
                <a:off x="624" y="173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7986" name="Line 37"/>
              <p:cNvSpPr/>
              <p:nvPr/>
            </p:nvSpPr>
            <p:spPr>
              <a:xfrm flipV="1">
                <a:off x="1296" y="173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7987" name="Text Box 38"/>
              <p:cNvSpPr txBox="1"/>
              <p:nvPr/>
            </p:nvSpPr>
            <p:spPr>
              <a:xfrm>
                <a:off x="827" y="1750"/>
                <a:ext cx="27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7988" name="Line 39"/>
              <p:cNvSpPr/>
              <p:nvPr/>
            </p:nvSpPr>
            <p:spPr>
              <a:xfrm flipV="1">
                <a:off x="480" y="269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7989" name="Line 40"/>
              <p:cNvSpPr/>
              <p:nvPr/>
            </p:nvSpPr>
            <p:spPr>
              <a:xfrm flipV="1">
                <a:off x="624" y="269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7990" name="Line 41"/>
              <p:cNvSpPr/>
              <p:nvPr/>
            </p:nvSpPr>
            <p:spPr>
              <a:xfrm flipV="1">
                <a:off x="1296" y="269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67991" name="Text Box 42"/>
              <p:cNvSpPr txBox="1"/>
              <p:nvPr/>
            </p:nvSpPr>
            <p:spPr>
              <a:xfrm>
                <a:off x="827" y="2710"/>
                <a:ext cx="275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7980" name="Text Box 43"/>
            <p:cNvSpPr txBox="1"/>
            <p:nvPr/>
          </p:nvSpPr>
          <p:spPr>
            <a:xfrm>
              <a:off x="480" y="1440"/>
              <a:ext cx="10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中断向量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7981" name="Text Box 44"/>
            <p:cNvSpPr txBox="1"/>
            <p:nvPr/>
          </p:nvSpPr>
          <p:spPr>
            <a:xfrm>
              <a:off x="432" y="3082"/>
              <a:ext cx="134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排队器输出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67975" name="Text Box 45"/>
          <p:cNvSpPr txBox="1"/>
          <p:nvPr/>
        </p:nvSpPr>
        <p:spPr>
          <a:xfrm>
            <a:off x="3962400" y="5486400"/>
            <a:ext cx="69342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向量地址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12H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13H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14H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200</a:t>
            </a:r>
            <a:r>
              <a:rPr lang="zh-CN" altLang="en-US" sz="2400" b="1" dirty="0">
                <a:latin typeface="Times New Roman" panose="02020603050405020304" pitchFamily="18" charset="0"/>
              </a:rPr>
              <a:t>、 </a:t>
            </a:r>
            <a:r>
              <a:rPr lang="en-US" altLang="zh-CN" sz="2400" b="1" dirty="0">
                <a:latin typeface="Times New Roman" panose="02020603050405020304" pitchFamily="18" charset="0"/>
              </a:rPr>
              <a:t>300</a:t>
            </a:r>
            <a:r>
              <a:rPr lang="zh-CN" altLang="en-US" sz="2400" b="1" dirty="0">
                <a:latin typeface="Times New Roman" panose="02020603050405020304" pitchFamily="18" charset="0"/>
              </a:rPr>
              <a:t>、 </a:t>
            </a:r>
            <a:r>
              <a:rPr lang="en-US" altLang="zh-CN" sz="2400" b="1" dirty="0">
                <a:latin typeface="Times New Roman" panose="02020603050405020304" pitchFamily="18" charset="0"/>
              </a:rPr>
              <a:t>400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12718" name="Rectangle 4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7977" name="AutoShape 4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797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8994" name="Rectangle 2"/>
          <p:cNvSpPr/>
          <p:nvPr/>
        </p:nvSpPr>
        <p:spPr>
          <a:xfrm>
            <a:off x="1828800" y="3810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软件查询法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3699" name="Rectangle 3"/>
          <p:cNvSpPr/>
          <p:nvPr/>
        </p:nvSpPr>
        <p:spPr>
          <a:xfrm>
            <a:off x="2362200" y="2819400"/>
            <a:ext cx="838200" cy="3603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   M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581400" y="3200400"/>
            <a:ext cx="5867400" cy="381000"/>
            <a:chOff x="1344" y="1968"/>
            <a:chExt cx="3696" cy="240"/>
          </a:xfrm>
        </p:grpSpPr>
        <p:sp>
          <p:nvSpPr>
            <p:cNvPr id="469036" name="Rectangle 5"/>
            <p:cNvSpPr/>
            <p:nvPr/>
          </p:nvSpPr>
          <p:spPr>
            <a:xfrm>
              <a:off x="1344" y="1968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JMP    1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SR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37" name="Rectangle 6"/>
            <p:cNvSpPr/>
            <p:nvPr/>
          </p:nvSpPr>
          <p:spPr>
            <a:xfrm>
              <a:off x="2976" y="1968"/>
              <a:ext cx="206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 = 1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转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服务程序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3581400" y="3657600"/>
            <a:ext cx="5867400" cy="762000"/>
            <a:chOff x="1344" y="2256"/>
            <a:chExt cx="3696" cy="480"/>
          </a:xfrm>
        </p:grpSpPr>
        <p:sp>
          <p:nvSpPr>
            <p:cNvPr id="469032" name="Rectangle 8"/>
            <p:cNvSpPr/>
            <p:nvPr/>
          </p:nvSpPr>
          <p:spPr>
            <a:xfrm>
              <a:off x="1344" y="2256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SKP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DZ 2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33" name="Rectangle 9"/>
            <p:cNvSpPr/>
            <p:nvPr/>
          </p:nvSpPr>
          <p:spPr>
            <a:xfrm>
              <a:off x="1344" y="2496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JMP    2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SR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34" name="Rectangle 10"/>
            <p:cNvSpPr/>
            <p:nvPr/>
          </p:nvSpPr>
          <p:spPr>
            <a:xfrm>
              <a:off x="2976" y="2256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 = 0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跳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35" name="Rectangle 11"/>
            <p:cNvSpPr/>
            <p:nvPr/>
          </p:nvSpPr>
          <p:spPr>
            <a:xfrm>
              <a:off x="2976" y="2496"/>
              <a:ext cx="206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 = 1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转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服务程序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3581400" y="5486400"/>
            <a:ext cx="5867400" cy="762000"/>
            <a:chOff x="1344" y="3408"/>
            <a:chExt cx="3696" cy="480"/>
          </a:xfrm>
        </p:grpSpPr>
        <p:sp>
          <p:nvSpPr>
            <p:cNvPr id="469028" name="Rectangle 13"/>
            <p:cNvSpPr/>
            <p:nvPr/>
          </p:nvSpPr>
          <p:spPr>
            <a:xfrm>
              <a:off x="1344" y="3408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SKP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DZ 8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29" name="Rectangle 14"/>
            <p:cNvSpPr/>
            <p:nvPr/>
          </p:nvSpPr>
          <p:spPr>
            <a:xfrm>
              <a:off x="1344" y="3648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JMP    8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SR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30" name="Rectangle 15"/>
            <p:cNvSpPr/>
            <p:nvPr/>
          </p:nvSpPr>
          <p:spPr>
            <a:xfrm>
              <a:off x="2976" y="3408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 = 0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跳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31" name="Rectangle 16"/>
            <p:cNvSpPr/>
            <p:nvPr/>
          </p:nvSpPr>
          <p:spPr>
            <a:xfrm>
              <a:off x="2976" y="3648"/>
              <a:ext cx="206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 = 1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转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#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服务程序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7"/>
          <p:cNvGrpSpPr/>
          <p:nvPr/>
        </p:nvGrpSpPr>
        <p:grpSpPr>
          <a:xfrm>
            <a:off x="2667000" y="1066800"/>
            <a:ext cx="5181600" cy="533400"/>
            <a:chOff x="720" y="672"/>
            <a:chExt cx="3264" cy="336"/>
          </a:xfrm>
        </p:grpSpPr>
        <p:sp>
          <p:nvSpPr>
            <p:cNvPr id="469026" name="Rectangle 18"/>
            <p:cNvSpPr/>
            <p:nvPr/>
          </p:nvSpPr>
          <p:spPr>
            <a:xfrm>
              <a:off x="720" y="672"/>
              <a:ext cx="326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八个中断源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  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8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按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降序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排列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69027" name="Text Box 19"/>
            <p:cNvSpPr txBox="1"/>
            <p:nvPr/>
          </p:nvSpPr>
          <p:spPr>
            <a:xfrm>
              <a:off x="2310" y="672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3716" name="Text Box 20"/>
          <p:cNvSpPr txBox="1"/>
          <p:nvPr/>
        </p:nvSpPr>
        <p:spPr>
          <a:xfrm>
            <a:off x="4324985" y="4741863"/>
            <a:ext cx="551815" cy="39624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13717" name="Rectangle 2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22"/>
          <p:cNvGrpSpPr/>
          <p:nvPr/>
        </p:nvGrpSpPr>
        <p:grpSpPr>
          <a:xfrm>
            <a:off x="3581400" y="2770188"/>
            <a:ext cx="7391400" cy="457200"/>
            <a:chOff x="1296" y="1745"/>
            <a:chExt cx="4656" cy="288"/>
          </a:xfrm>
        </p:grpSpPr>
        <p:grpSp>
          <p:nvGrpSpPr>
            <p:cNvPr id="469022" name="Group 23"/>
            <p:cNvGrpSpPr/>
            <p:nvPr/>
          </p:nvGrpSpPr>
          <p:grpSpPr>
            <a:xfrm>
              <a:off x="1296" y="1776"/>
              <a:ext cx="2976" cy="240"/>
              <a:chOff x="1296" y="1776"/>
              <a:chExt cx="2976" cy="240"/>
            </a:xfrm>
          </p:grpSpPr>
          <p:sp>
            <p:nvSpPr>
              <p:cNvPr id="469024" name="Rectangle 24"/>
              <p:cNvSpPr/>
              <p:nvPr/>
            </p:nvSpPr>
            <p:spPr>
              <a:xfrm>
                <a:off x="1296" y="1776"/>
                <a:ext cx="1344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 anchorCtr="0"/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  SKP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  DZ 1</a:t>
                </a:r>
                <a:r>
                  <a:rPr lang="en-US" altLang="zh-CN" sz="2400" b="1" baseline="30000" dirty="0">
                    <a:latin typeface="Times New Roman" panose="02020603050405020304" pitchFamily="18" charset="0"/>
                  </a:rPr>
                  <a:t>#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9025" name="Rectangle 25"/>
              <p:cNvSpPr/>
              <p:nvPr/>
            </p:nvSpPr>
            <p:spPr>
              <a:xfrm>
                <a:off x="2928" y="1776"/>
                <a:ext cx="1344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 anchorCtr="0"/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 b="1" baseline="30000" dirty="0">
                    <a:latin typeface="Times New Roman" panose="02020603050405020304" pitchFamily="18" charset="0"/>
                  </a:rPr>
                  <a:t>#   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D = 0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跳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9023" name="Rectangle 26"/>
            <p:cNvSpPr/>
            <p:nvPr/>
          </p:nvSpPr>
          <p:spPr>
            <a:xfrm>
              <a:off x="3888" y="1745"/>
              <a:ext cx="20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为完成触发器）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69003" name="AutoShape 27"/>
          <p:cNvSpPr/>
          <p:nvPr/>
        </p:nvSpPr>
        <p:spPr>
          <a:xfrm>
            <a:off x="6858000" y="2209800"/>
            <a:ext cx="2209800" cy="5334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 w="9525">
            <a:noFill/>
          </a:ln>
        </p:spPr>
        <p:txBody>
          <a:bodyPr/>
          <a:p>
            <a:pPr algn="ctr"/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69004" name="AutoShape 2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8" name="Group 29"/>
          <p:cNvGrpSpPr/>
          <p:nvPr/>
        </p:nvGrpSpPr>
        <p:grpSpPr>
          <a:xfrm>
            <a:off x="2286000" y="1676400"/>
            <a:ext cx="7553325" cy="4648200"/>
            <a:chOff x="480" y="1056"/>
            <a:chExt cx="4758" cy="2928"/>
          </a:xfrm>
        </p:grpSpPr>
        <p:grpSp>
          <p:nvGrpSpPr>
            <p:cNvPr id="469007" name="Group 30"/>
            <p:cNvGrpSpPr/>
            <p:nvPr/>
          </p:nvGrpSpPr>
          <p:grpSpPr>
            <a:xfrm>
              <a:off x="480" y="1056"/>
              <a:ext cx="4758" cy="2928"/>
              <a:chOff x="480" y="1056"/>
              <a:chExt cx="4758" cy="2928"/>
            </a:xfrm>
          </p:grpSpPr>
          <p:sp>
            <p:nvSpPr>
              <p:cNvPr id="469011" name="Rectangle 31"/>
              <p:cNvSpPr/>
              <p:nvPr/>
            </p:nvSpPr>
            <p:spPr>
              <a:xfrm>
                <a:off x="720" y="1056"/>
                <a:ext cx="1584" cy="3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中断识别程序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（入口地址 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）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9012" name="Group 32"/>
              <p:cNvGrpSpPr/>
              <p:nvPr/>
            </p:nvGrpSpPr>
            <p:grpSpPr>
              <a:xfrm>
                <a:off x="480" y="1368"/>
                <a:ext cx="4758" cy="2616"/>
                <a:chOff x="480" y="1368"/>
                <a:chExt cx="4758" cy="2616"/>
              </a:xfrm>
            </p:grpSpPr>
            <p:sp>
              <p:nvSpPr>
                <p:cNvPr id="469013" name="Freeform 33"/>
                <p:cNvSpPr/>
                <p:nvPr/>
              </p:nvSpPr>
              <p:spPr>
                <a:xfrm>
                  <a:off x="480" y="3980"/>
                  <a:ext cx="4752" cy="4"/>
                </a:xfrm>
                <a:custGeom>
                  <a:avLst/>
                  <a:gdLst>
                    <a:gd name="txL" fmla="*/ 0 w 4752"/>
                    <a:gd name="txT" fmla="*/ 0 h 4"/>
                    <a:gd name="txR" fmla="*/ 4752 w 4752"/>
                    <a:gd name="txB" fmla="*/ 4 h 4"/>
                  </a:gdLst>
                  <a:ahLst/>
                  <a:cxnLst>
                    <a:cxn ang="0">
                      <a:pos x="0" y="4"/>
                    </a:cxn>
                    <a:cxn ang="0">
                      <a:pos x="4752" y="0"/>
                    </a:cxn>
                  </a:cxnLst>
                  <a:rect l="txL" t="txT" r="txR" b="txB"/>
                  <a:pathLst>
                    <a:path w="4752" h="4">
                      <a:moveTo>
                        <a:pt x="0" y="4"/>
                      </a:moveTo>
                      <a:lnTo>
                        <a:pt x="4752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9014" name="Group 34"/>
                <p:cNvGrpSpPr/>
                <p:nvPr/>
              </p:nvGrpSpPr>
              <p:grpSpPr>
                <a:xfrm>
                  <a:off x="480" y="1368"/>
                  <a:ext cx="4758" cy="2616"/>
                  <a:chOff x="480" y="1368"/>
                  <a:chExt cx="4758" cy="2616"/>
                </a:xfrm>
              </p:grpSpPr>
              <p:sp>
                <p:nvSpPr>
                  <p:cNvPr id="469015" name="Freeform 35"/>
                  <p:cNvSpPr/>
                  <p:nvPr/>
                </p:nvSpPr>
                <p:spPr>
                  <a:xfrm>
                    <a:off x="480" y="1368"/>
                    <a:ext cx="4758" cy="6"/>
                  </a:xfrm>
                  <a:custGeom>
                    <a:avLst/>
                    <a:gdLst>
                      <a:gd name="txL" fmla="*/ 0 w 4758"/>
                      <a:gd name="txT" fmla="*/ 0 h 6"/>
                      <a:gd name="txR" fmla="*/ 4758 w 4758"/>
                      <a:gd name="txB" fmla="*/ 6 h 6"/>
                    </a:gdLst>
                    <a:ahLst/>
                    <a:cxnLst>
                      <a:cxn ang="0">
                        <a:pos x="0" y="6"/>
                      </a:cxn>
                      <a:cxn ang="0">
                        <a:pos x="4758" y="0"/>
                      </a:cxn>
                    </a:cxnLst>
                    <a:rect l="txL" t="txT" r="txR" b="txB"/>
                    <a:pathLst>
                      <a:path w="4758" h="6">
                        <a:moveTo>
                          <a:pt x="0" y="6"/>
                        </a:moveTo>
                        <a:lnTo>
                          <a:pt x="4758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69016" name="Freeform 36"/>
                  <p:cNvSpPr/>
                  <p:nvPr/>
                </p:nvSpPr>
                <p:spPr>
                  <a:xfrm>
                    <a:off x="480" y="1688"/>
                    <a:ext cx="4752" cy="1"/>
                  </a:xfrm>
                  <a:custGeom>
                    <a:avLst/>
                    <a:gdLst>
                      <a:gd name="txL" fmla="*/ 0 w 4752"/>
                      <a:gd name="txT" fmla="*/ 0 h 1"/>
                      <a:gd name="txR" fmla="*/ 4752 w 4752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752" y="0"/>
                      </a:cxn>
                    </a:cxnLst>
                    <a:rect l="txL" t="txT" r="txR" b="txB"/>
                    <a:pathLst>
                      <a:path w="4752" h="1">
                        <a:moveTo>
                          <a:pt x="0" y="1"/>
                        </a:moveTo>
                        <a:lnTo>
                          <a:pt x="4752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69017" name="Rectangle 37"/>
                  <p:cNvSpPr/>
                  <p:nvPr/>
                </p:nvSpPr>
                <p:spPr>
                  <a:xfrm>
                    <a:off x="594" y="1419"/>
                    <a:ext cx="672" cy="2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0" tIns="0" rIns="0" bIns="0" anchor="ctr" anchorCtr="0"/>
                  <a:p>
                    <a:r>
                      <a:rPr lang="zh-CN" altLang="en-US" sz="2400" b="1" dirty="0">
                        <a:latin typeface="Times New Roman" panose="02020603050405020304" pitchFamily="18" charset="0"/>
                      </a:rPr>
                      <a:t>地  址</a:t>
                    </a:r>
                    <a:endParaRPr lang="zh-CN" altLang="en-US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9018" name="Rectangle 38"/>
                  <p:cNvSpPr/>
                  <p:nvPr/>
                </p:nvSpPr>
                <p:spPr>
                  <a:xfrm>
                    <a:off x="3840" y="1419"/>
                    <a:ext cx="768" cy="2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0" tIns="0" rIns="0" bIns="0" anchor="ctr" anchorCtr="0"/>
                  <a:p>
                    <a:r>
                      <a:rPr lang="zh-CN" altLang="en-US" sz="2400" b="1" dirty="0">
                        <a:latin typeface="Times New Roman" panose="02020603050405020304" pitchFamily="18" charset="0"/>
                      </a:rPr>
                      <a:t>说   明</a:t>
                    </a:r>
                    <a:endParaRPr lang="zh-CN" altLang="en-US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9019" name="Rectangle 39"/>
                  <p:cNvSpPr/>
                  <p:nvPr/>
                </p:nvSpPr>
                <p:spPr>
                  <a:xfrm>
                    <a:off x="1776" y="1419"/>
                    <a:ext cx="816" cy="25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0" tIns="0" rIns="0" bIns="0" anchor="ctr" anchorCtr="0"/>
                  <a:p>
                    <a:r>
                      <a:rPr lang="zh-CN" altLang="en-US" sz="2400" b="1" dirty="0">
                        <a:latin typeface="Times New Roman" panose="02020603050405020304" pitchFamily="18" charset="0"/>
                      </a:rPr>
                      <a:t>指   令</a:t>
                    </a:r>
                    <a:endParaRPr lang="zh-CN" altLang="en-US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9020" name="Line 40"/>
                  <p:cNvSpPr/>
                  <p:nvPr/>
                </p:nvSpPr>
                <p:spPr>
                  <a:xfrm>
                    <a:off x="1200" y="1374"/>
                    <a:ext cx="0" cy="261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69021" name="Line 41"/>
                  <p:cNvSpPr/>
                  <p:nvPr/>
                </p:nvSpPr>
                <p:spPr>
                  <a:xfrm>
                    <a:off x="2832" y="1374"/>
                    <a:ext cx="0" cy="261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grpSp>
          <p:nvGrpSpPr>
            <p:cNvPr id="469008" name="Group 42"/>
            <p:cNvGrpSpPr/>
            <p:nvPr/>
          </p:nvGrpSpPr>
          <p:grpSpPr>
            <a:xfrm>
              <a:off x="485" y="1374"/>
              <a:ext cx="4744" cy="2610"/>
              <a:chOff x="485" y="1374"/>
              <a:chExt cx="4744" cy="2610"/>
            </a:xfrm>
          </p:grpSpPr>
          <p:sp>
            <p:nvSpPr>
              <p:cNvPr id="469009" name="Line 43"/>
              <p:cNvSpPr/>
              <p:nvPr/>
            </p:nvSpPr>
            <p:spPr>
              <a:xfrm>
                <a:off x="485" y="1374"/>
                <a:ext cx="0" cy="261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9010" name="Line 44"/>
              <p:cNvSpPr/>
              <p:nvPr/>
            </p:nvSpPr>
            <p:spPr>
              <a:xfrm>
                <a:off x="5229" y="1374"/>
                <a:ext cx="0" cy="261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69006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41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/>
      <p:bldP spid="41371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0018" name="Rectangle 2"/>
          <p:cNvSpPr/>
          <p:nvPr/>
        </p:nvSpPr>
        <p:spPr>
          <a:xfrm>
            <a:off x="1905000" y="381000"/>
            <a:ext cx="6324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3600" b="1" dirty="0">
                <a:latin typeface="Times New Roman" panose="02020603050405020304" pitchFamily="18" charset="0"/>
              </a:rPr>
              <a:t>四、中断响应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4723" name="Rectangle 3"/>
          <p:cNvSpPr/>
          <p:nvPr/>
        </p:nvSpPr>
        <p:spPr>
          <a:xfrm>
            <a:off x="2286000" y="10668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000" b="1" dirty="0">
                <a:latin typeface="Times New Roman" panose="02020603050405020304" pitchFamily="18" charset="0"/>
              </a:rPr>
              <a:t>1. </a:t>
            </a:r>
            <a:r>
              <a:rPr lang="zh-CN" altLang="en-US" sz="3000" b="1" dirty="0">
                <a:latin typeface="Times New Roman" panose="02020603050405020304" pitchFamily="18" charset="0"/>
              </a:rPr>
              <a:t>响应中断的 </a:t>
            </a:r>
            <a:r>
              <a:rPr lang="zh-CN" altLang="en-US" sz="3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条件</a:t>
            </a:r>
            <a:endParaRPr lang="zh-CN" altLang="en-US" sz="3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4" name="Rectangle 4"/>
          <p:cNvSpPr/>
          <p:nvPr/>
        </p:nvSpPr>
        <p:spPr>
          <a:xfrm>
            <a:off x="2667000" y="16510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允许中断触发器 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EINT = 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5" name="Rectangle 5"/>
          <p:cNvSpPr/>
          <p:nvPr/>
        </p:nvSpPr>
        <p:spPr>
          <a:xfrm>
            <a:off x="2286000" y="22352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000" b="1" dirty="0">
                <a:latin typeface="Times New Roman" panose="02020603050405020304" pitchFamily="18" charset="0"/>
              </a:rPr>
              <a:t>2. </a:t>
            </a:r>
            <a:r>
              <a:rPr lang="zh-CN" altLang="en-US" sz="3000" b="1" dirty="0">
                <a:latin typeface="Times New Roman" panose="02020603050405020304" pitchFamily="18" charset="0"/>
              </a:rPr>
              <a:t>响应中断的 </a:t>
            </a:r>
            <a:r>
              <a:rPr lang="zh-CN" altLang="en-US" sz="3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时间</a:t>
            </a:r>
            <a:endParaRPr lang="zh-CN" altLang="en-US" sz="3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6" name="Rectangle 6"/>
          <p:cNvSpPr/>
          <p:nvPr/>
        </p:nvSpPr>
        <p:spPr>
          <a:xfrm>
            <a:off x="2667000" y="2819400"/>
            <a:ext cx="6705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指令执行周期结束时刻由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发查询信号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962400" y="4083050"/>
            <a:ext cx="4495800" cy="457200"/>
            <a:chOff x="1536" y="2572"/>
            <a:chExt cx="2832" cy="288"/>
          </a:xfrm>
        </p:grpSpPr>
        <p:sp>
          <p:nvSpPr>
            <p:cNvPr id="470057" name="Line 8"/>
            <p:cNvSpPr/>
            <p:nvPr/>
          </p:nvSpPr>
          <p:spPr>
            <a:xfrm flipV="1">
              <a:off x="1536" y="257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70058" name="Line 9"/>
            <p:cNvSpPr/>
            <p:nvPr/>
          </p:nvSpPr>
          <p:spPr>
            <a:xfrm flipV="1">
              <a:off x="2688" y="257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70059" name="Line 10"/>
            <p:cNvSpPr/>
            <p:nvPr/>
          </p:nvSpPr>
          <p:spPr>
            <a:xfrm flipV="1">
              <a:off x="4368" y="257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3" name="Group 11"/>
          <p:cNvGrpSpPr/>
          <p:nvPr/>
        </p:nvGrpSpPr>
        <p:grpSpPr>
          <a:xfrm>
            <a:off x="3276600" y="5360988"/>
            <a:ext cx="5715000" cy="357187"/>
            <a:chOff x="1104" y="3377"/>
            <a:chExt cx="3600" cy="225"/>
          </a:xfrm>
        </p:grpSpPr>
        <p:sp>
          <p:nvSpPr>
            <p:cNvPr id="470054" name="Freeform 12"/>
            <p:cNvSpPr/>
            <p:nvPr/>
          </p:nvSpPr>
          <p:spPr>
            <a:xfrm>
              <a:off x="1104" y="3380"/>
              <a:ext cx="3600" cy="222"/>
            </a:xfrm>
            <a:custGeom>
              <a:avLst/>
              <a:gdLst>
                <a:gd name="txL" fmla="*/ 0 w 3600"/>
                <a:gd name="txT" fmla="*/ 0 h 222"/>
                <a:gd name="txR" fmla="*/ 3600 w 3600"/>
                <a:gd name="txB" fmla="*/ 222 h 222"/>
              </a:gdLst>
              <a:ahLst/>
              <a:cxnLst>
                <a:cxn ang="0">
                  <a:pos x="0" y="222"/>
                </a:cxn>
                <a:cxn ang="0">
                  <a:pos x="3600" y="222"/>
                </a:cxn>
                <a:cxn ang="0">
                  <a:pos x="3600" y="0"/>
                </a:cxn>
              </a:cxnLst>
              <a:rect l="txL" t="txT" r="txR" b="txB"/>
              <a:pathLst>
                <a:path w="3600" h="222">
                  <a:moveTo>
                    <a:pt x="0" y="222"/>
                  </a:moveTo>
                  <a:lnTo>
                    <a:pt x="3600" y="222"/>
                  </a:lnTo>
                  <a:lnTo>
                    <a:pt x="3600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55" name="Freeform 13"/>
            <p:cNvSpPr/>
            <p:nvPr/>
          </p:nvSpPr>
          <p:spPr>
            <a:xfrm>
              <a:off x="1872" y="3383"/>
              <a:ext cx="1" cy="219"/>
            </a:xfrm>
            <a:custGeom>
              <a:avLst/>
              <a:gdLst>
                <a:gd name="txL" fmla="*/ 0 w 1"/>
                <a:gd name="txT" fmla="*/ 0 h 219"/>
                <a:gd name="txR" fmla="*/ 1 w 1"/>
                <a:gd name="txB" fmla="*/ 219 h 219"/>
              </a:gdLst>
              <a:ahLst/>
              <a:cxnLst>
                <a:cxn ang="0">
                  <a:pos x="0" y="0"/>
                </a:cxn>
                <a:cxn ang="0">
                  <a:pos x="1" y="219"/>
                </a:cxn>
              </a:cxnLst>
              <a:rect l="txL" t="txT" r="txR" b="txB"/>
              <a:pathLst>
                <a:path w="1" h="219">
                  <a:moveTo>
                    <a:pt x="0" y="0"/>
                  </a:moveTo>
                  <a:lnTo>
                    <a:pt x="1" y="219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56" name="Freeform 14"/>
            <p:cNvSpPr/>
            <p:nvPr/>
          </p:nvSpPr>
          <p:spPr>
            <a:xfrm>
              <a:off x="3024" y="3377"/>
              <a:ext cx="1" cy="225"/>
            </a:xfrm>
            <a:custGeom>
              <a:avLst/>
              <a:gdLst>
                <a:gd name="txL" fmla="*/ 0 w 1"/>
                <a:gd name="txT" fmla="*/ 0 h 225"/>
                <a:gd name="txR" fmla="*/ 1 w 1"/>
                <a:gd name="txB" fmla="*/ 225 h 225"/>
              </a:gdLst>
              <a:ahLst/>
              <a:cxnLst>
                <a:cxn ang="0">
                  <a:pos x="0" y="0"/>
                </a:cxn>
                <a:cxn ang="0">
                  <a:pos x="1" y="225"/>
                </a:cxn>
              </a:cxnLst>
              <a:rect l="txL" t="txT" r="txR" b="txB"/>
              <a:pathLst>
                <a:path w="1" h="225">
                  <a:moveTo>
                    <a:pt x="0" y="0"/>
                  </a:moveTo>
                  <a:lnTo>
                    <a:pt x="1" y="225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14735" name="Text Box 15"/>
          <p:cNvSpPr txBox="1"/>
          <p:nvPr/>
        </p:nvSpPr>
        <p:spPr>
          <a:xfrm>
            <a:off x="2209800" y="5427663"/>
            <a:ext cx="1198880" cy="70675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CPU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中断查询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36" name="AutoShape 16"/>
          <p:cNvSpPr/>
          <p:nvPr/>
        </p:nvSpPr>
        <p:spPr>
          <a:xfrm rot="5400000">
            <a:off x="6096000" y="1679575"/>
            <a:ext cx="228600" cy="4495800"/>
          </a:xfrm>
          <a:prstGeom prst="leftBrace">
            <a:avLst>
              <a:gd name="adj1" fmla="val 162341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17"/>
          <p:cNvGrpSpPr/>
          <p:nvPr/>
        </p:nvGrpSpPr>
        <p:grpSpPr>
          <a:xfrm>
            <a:off x="3489325" y="4498975"/>
            <a:ext cx="5807075" cy="2227263"/>
            <a:chOff x="1238" y="2834"/>
            <a:chExt cx="3658" cy="1403"/>
          </a:xfrm>
        </p:grpSpPr>
        <p:sp>
          <p:nvSpPr>
            <p:cNvPr id="470032" name="Text Box 18"/>
            <p:cNvSpPr txBox="1"/>
            <p:nvPr/>
          </p:nvSpPr>
          <p:spPr>
            <a:xfrm>
              <a:off x="1478" y="2998"/>
              <a:ext cx="5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0033" name="Rectangle 19"/>
            <p:cNvSpPr/>
            <p:nvPr/>
          </p:nvSpPr>
          <p:spPr>
            <a:xfrm>
              <a:off x="1392" y="2854"/>
              <a:ext cx="672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34" name="Text Box 20"/>
            <p:cNvSpPr txBox="1"/>
            <p:nvPr/>
          </p:nvSpPr>
          <p:spPr>
            <a:xfrm>
              <a:off x="1424" y="3190"/>
              <a:ext cx="20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D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35" name="Text Box 21"/>
            <p:cNvSpPr txBox="1"/>
            <p:nvPr/>
          </p:nvSpPr>
          <p:spPr>
            <a:xfrm>
              <a:off x="1440" y="2834"/>
              <a:ext cx="21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Q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36" name="AutoShape 22"/>
            <p:cNvSpPr/>
            <p:nvPr/>
          </p:nvSpPr>
          <p:spPr>
            <a:xfrm>
              <a:off x="1824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37" name="Text Box 23"/>
            <p:cNvSpPr txBox="1"/>
            <p:nvPr/>
          </p:nvSpPr>
          <p:spPr>
            <a:xfrm>
              <a:off x="2630" y="2998"/>
              <a:ext cx="5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0038" name="Rectangle 24"/>
            <p:cNvSpPr/>
            <p:nvPr/>
          </p:nvSpPr>
          <p:spPr>
            <a:xfrm>
              <a:off x="2544" y="2854"/>
              <a:ext cx="672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39" name="Text Box 25"/>
            <p:cNvSpPr txBox="1"/>
            <p:nvPr/>
          </p:nvSpPr>
          <p:spPr>
            <a:xfrm>
              <a:off x="2576" y="3190"/>
              <a:ext cx="20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D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40" name="Text Box 26"/>
            <p:cNvSpPr txBox="1"/>
            <p:nvPr/>
          </p:nvSpPr>
          <p:spPr>
            <a:xfrm>
              <a:off x="2592" y="2834"/>
              <a:ext cx="21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Q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41" name="AutoShape 27"/>
            <p:cNvSpPr/>
            <p:nvPr/>
          </p:nvSpPr>
          <p:spPr>
            <a:xfrm>
              <a:off x="2976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42" name="Text Box 28"/>
            <p:cNvSpPr txBox="1"/>
            <p:nvPr/>
          </p:nvSpPr>
          <p:spPr>
            <a:xfrm>
              <a:off x="4310" y="2998"/>
              <a:ext cx="5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0043" name="Rectangle 29"/>
            <p:cNvSpPr/>
            <p:nvPr/>
          </p:nvSpPr>
          <p:spPr>
            <a:xfrm>
              <a:off x="4224" y="2854"/>
              <a:ext cx="672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44" name="Text Box 30"/>
            <p:cNvSpPr txBox="1"/>
            <p:nvPr/>
          </p:nvSpPr>
          <p:spPr>
            <a:xfrm>
              <a:off x="4256" y="3190"/>
              <a:ext cx="20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D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45" name="Text Box 31"/>
            <p:cNvSpPr txBox="1"/>
            <p:nvPr/>
          </p:nvSpPr>
          <p:spPr>
            <a:xfrm>
              <a:off x="4272" y="2834"/>
              <a:ext cx="21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Q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46" name="AutoShape 32"/>
            <p:cNvSpPr/>
            <p:nvPr/>
          </p:nvSpPr>
          <p:spPr>
            <a:xfrm>
              <a:off x="4656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47" name="Freeform 33"/>
            <p:cNvSpPr/>
            <p:nvPr/>
          </p:nvSpPr>
          <p:spPr>
            <a:xfrm>
              <a:off x="1532" y="3386"/>
              <a:ext cx="1" cy="602"/>
            </a:xfrm>
            <a:custGeom>
              <a:avLst/>
              <a:gdLst>
                <a:gd name="txL" fmla="*/ 0 w 1"/>
                <a:gd name="txT" fmla="*/ 0 h 602"/>
                <a:gd name="txR" fmla="*/ 1 w 1"/>
                <a:gd name="txB" fmla="*/ 602 h 602"/>
              </a:gdLst>
              <a:ahLst/>
              <a:cxnLst>
                <a:cxn ang="0">
                  <a:pos x="1" y="0"/>
                </a:cxn>
                <a:cxn ang="0">
                  <a:pos x="0" y="602"/>
                </a:cxn>
              </a:cxnLst>
              <a:rect l="txL" t="txT" r="txR" b="txB"/>
              <a:pathLst>
                <a:path w="1" h="602">
                  <a:moveTo>
                    <a:pt x="1" y="0"/>
                  </a:moveTo>
                  <a:lnTo>
                    <a:pt x="0" y="60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48" name="Freeform 34"/>
            <p:cNvSpPr/>
            <p:nvPr/>
          </p:nvSpPr>
          <p:spPr>
            <a:xfrm>
              <a:off x="2684" y="3383"/>
              <a:ext cx="1" cy="601"/>
            </a:xfrm>
            <a:custGeom>
              <a:avLst/>
              <a:gdLst>
                <a:gd name="txL" fmla="*/ 0 w 1"/>
                <a:gd name="txT" fmla="*/ 0 h 601"/>
                <a:gd name="txR" fmla="*/ 1 w 1"/>
                <a:gd name="txB" fmla="*/ 601 h 601"/>
              </a:gdLst>
              <a:ahLst/>
              <a:cxnLst>
                <a:cxn ang="0">
                  <a:pos x="1" y="0"/>
                </a:cxn>
                <a:cxn ang="0">
                  <a:pos x="0" y="601"/>
                </a:cxn>
              </a:cxnLst>
              <a:rect l="txL" t="txT" r="txR" b="txB"/>
              <a:pathLst>
                <a:path w="1" h="601">
                  <a:moveTo>
                    <a:pt x="1" y="0"/>
                  </a:moveTo>
                  <a:lnTo>
                    <a:pt x="0" y="60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49" name="Freeform 35"/>
            <p:cNvSpPr/>
            <p:nvPr/>
          </p:nvSpPr>
          <p:spPr>
            <a:xfrm>
              <a:off x="4364" y="3383"/>
              <a:ext cx="1" cy="601"/>
            </a:xfrm>
            <a:custGeom>
              <a:avLst/>
              <a:gdLst>
                <a:gd name="txL" fmla="*/ 0 w 1"/>
                <a:gd name="txT" fmla="*/ 0 h 601"/>
                <a:gd name="txR" fmla="*/ 1 w 1"/>
                <a:gd name="txB" fmla="*/ 601 h 601"/>
              </a:gdLst>
              <a:ahLst/>
              <a:cxnLst>
                <a:cxn ang="0">
                  <a:pos x="1" y="0"/>
                </a:cxn>
                <a:cxn ang="0">
                  <a:pos x="0" y="601"/>
                </a:cxn>
              </a:cxnLst>
              <a:rect l="txL" t="txT" r="txR" b="txB"/>
              <a:pathLst>
                <a:path w="1" h="601">
                  <a:moveTo>
                    <a:pt x="1" y="0"/>
                  </a:moveTo>
                  <a:lnTo>
                    <a:pt x="0" y="60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0050" name="Text Box 36"/>
            <p:cNvSpPr txBox="1"/>
            <p:nvPr/>
          </p:nvSpPr>
          <p:spPr>
            <a:xfrm>
              <a:off x="1238" y="3976"/>
              <a:ext cx="71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中断源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51" name="Text Box 37"/>
            <p:cNvSpPr txBox="1"/>
            <p:nvPr/>
          </p:nvSpPr>
          <p:spPr>
            <a:xfrm>
              <a:off x="2401" y="3986"/>
              <a:ext cx="715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中断源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52" name="Text Box 38"/>
            <p:cNvSpPr txBox="1"/>
            <p:nvPr/>
          </p:nvSpPr>
          <p:spPr>
            <a:xfrm>
              <a:off x="3985" y="3986"/>
              <a:ext cx="724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中断源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70053" name="Text Box 39"/>
            <p:cNvSpPr txBox="1"/>
            <p:nvPr/>
          </p:nvSpPr>
          <p:spPr>
            <a:xfrm>
              <a:off x="3494" y="2987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4760" name="Text Box 40"/>
          <p:cNvSpPr txBox="1"/>
          <p:nvPr/>
        </p:nvSpPr>
        <p:spPr>
          <a:xfrm>
            <a:off x="5651500" y="33528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至排队器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4761" name="Rectangle 4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0030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0031" name="日期占位符 5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4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1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3" grpId="0"/>
      <p:bldP spid="414724" grpId="0"/>
      <p:bldP spid="414725" grpId="0"/>
      <p:bldP spid="414726" grpId="0"/>
      <p:bldP spid="414735" grpId="0"/>
      <p:bldP spid="414736" grpId="0" bldLvl="0" animBg="1"/>
      <p:bldP spid="41476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1042" name="Rectangle 2"/>
          <p:cNvSpPr/>
          <p:nvPr/>
        </p:nvSpPr>
        <p:spPr>
          <a:xfrm>
            <a:off x="2057400" y="152400"/>
            <a:ext cx="3886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</a:rPr>
              <a:t>中断隐指令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15747" name="Rectangle 3"/>
          <p:cNvSpPr/>
          <p:nvPr/>
        </p:nvSpPr>
        <p:spPr>
          <a:xfrm>
            <a:off x="2133600" y="6858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保护程序断点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5748" name="Rectangle 4"/>
          <p:cNvSpPr/>
          <p:nvPr/>
        </p:nvSpPr>
        <p:spPr>
          <a:xfrm>
            <a:off x="2133600" y="19050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寻找服务程序入口地址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5749" name="Rectangle 5"/>
          <p:cNvSpPr/>
          <p:nvPr/>
        </p:nvSpPr>
        <p:spPr>
          <a:xfrm>
            <a:off x="2133600" y="3581400"/>
            <a:ext cx="2667000" cy="6858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latin typeface="Times New Roman" panose="02020603050405020304" pitchFamily="18" charset="0"/>
              </a:rPr>
              <a:t>硬件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关中断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181600" y="4419600"/>
            <a:ext cx="1295400" cy="762000"/>
            <a:chOff x="2304" y="2784"/>
            <a:chExt cx="816" cy="480"/>
          </a:xfrm>
        </p:grpSpPr>
        <p:sp>
          <p:nvSpPr>
            <p:cNvPr id="471111" name="Text Box 7"/>
            <p:cNvSpPr txBox="1"/>
            <p:nvPr/>
          </p:nvSpPr>
          <p:spPr>
            <a:xfrm>
              <a:off x="2364" y="2812"/>
              <a:ext cx="691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</a:rPr>
                <a:t>向量地址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r>
                <a:rPr lang="zh-CN" altLang="en-US" b="1" dirty="0">
                  <a:latin typeface="Times New Roman" panose="02020603050405020304" pitchFamily="18" charset="0"/>
                </a:rPr>
                <a:t>形成部件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112" name="Rectangle 8"/>
            <p:cNvSpPr/>
            <p:nvPr/>
          </p:nvSpPr>
          <p:spPr>
            <a:xfrm>
              <a:off x="2304" y="2784"/>
              <a:ext cx="816" cy="48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7620000" y="3733800"/>
            <a:ext cx="1066800" cy="909638"/>
            <a:chOff x="3840" y="2352"/>
            <a:chExt cx="672" cy="573"/>
          </a:xfrm>
        </p:grpSpPr>
        <p:sp>
          <p:nvSpPr>
            <p:cNvPr id="471106" name="Text Box 10"/>
            <p:cNvSpPr txBox="1"/>
            <p:nvPr/>
          </p:nvSpPr>
          <p:spPr>
            <a:xfrm>
              <a:off x="4015" y="2516"/>
              <a:ext cx="40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INT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1107" name="Rectangle 11"/>
            <p:cNvSpPr/>
            <p:nvPr/>
          </p:nvSpPr>
          <p:spPr>
            <a:xfrm>
              <a:off x="3840" y="2372"/>
              <a:ext cx="672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108" name="Text Box 12"/>
            <p:cNvSpPr txBox="1"/>
            <p:nvPr/>
          </p:nvSpPr>
          <p:spPr>
            <a:xfrm>
              <a:off x="3888" y="2693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S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109" name="Text Box 13"/>
            <p:cNvSpPr txBox="1"/>
            <p:nvPr/>
          </p:nvSpPr>
          <p:spPr>
            <a:xfrm>
              <a:off x="3888" y="2352"/>
              <a:ext cx="21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Q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110" name="Text Box 14"/>
            <p:cNvSpPr txBox="1"/>
            <p:nvPr/>
          </p:nvSpPr>
          <p:spPr>
            <a:xfrm>
              <a:off x="4272" y="2693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R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9339263" y="3733800"/>
            <a:ext cx="1066800" cy="922338"/>
            <a:chOff x="4923" y="2352"/>
            <a:chExt cx="672" cy="581"/>
          </a:xfrm>
        </p:grpSpPr>
        <p:sp>
          <p:nvSpPr>
            <p:cNvPr id="471101" name="Text Box 16"/>
            <p:cNvSpPr txBox="1"/>
            <p:nvPr/>
          </p:nvSpPr>
          <p:spPr>
            <a:xfrm>
              <a:off x="5012" y="2516"/>
              <a:ext cx="50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EINT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1102" name="Rectangle 17"/>
            <p:cNvSpPr/>
            <p:nvPr/>
          </p:nvSpPr>
          <p:spPr>
            <a:xfrm>
              <a:off x="4923" y="2372"/>
              <a:ext cx="672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103" name="Text Box 18"/>
            <p:cNvSpPr txBox="1"/>
            <p:nvPr/>
          </p:nvSpPr>
          <p:spPr>
            <a:xfrm>
              <a:off x="4971" y="2693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S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104" name="Text Box 19"/>
            <p:cNvSpPr txBox="1"/>
            <p:nvPr/>
          </p:nvSpPr>
          <p:spPr>
            <a:xfrm>
              <a:off x="4971" y="2352"/>
              <a:ext cx="21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Q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105" name="Text Box 20"/>
            <p:cNvSpPr txBox="1"/>
            <p:nvPr/>
          </p:nvSpPr>
          <p:spPr>
            <a:xfrm>
              <a:off x="5328" y="2701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R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5765" name="Rectangle 21"/>
          <p:cNvSpPr/>
          <p:nvPr/>
        </p:nvSpPr>
        <p:spPr>
          <a:xfrm>
            <a:off x="5181600" y="3810000"/>
            <a:ext cx="1295400" cy="3048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b="1" dirty="0">
                <a:latin typeface="Times New Roman" panose="02020603050405020304" pitchFamily="18" charset="0"/>
              </a:rPr>
              <a:t>PC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/>
          <p:nvPr/>
        </p:nvGrpSpPr>
        <p:grpSpPr>
          <a:xfrm>
            <a:off x="9829800" y="4868863"/>
            <a:ext cx="609600" cy="379413"/>
            <a:chOff x="5232" y="3067"/>
            <a:chExt cx="384" cy="239"/>
          </a:xfrm>
        </p:grpSpPr>
        <p:sp>
          <p:nvSpPr>
            <p:cNvPr id="471098" name="Oval 23"/>
            <p:cNvSpPr/>
            <p:nvPr/>
          </p:nvSpPr>
          <p:spPr>
            <a:xfrm>
              <a:off x="5384" y="3067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99" name="Rectangle 24"/>
            <p:cNvSpPr/>
            <p:nvPr/>
          </p:nvSpPr>
          <p:spPr>
            <a:xfrm>
              <a:off x="5232" y="3105"/>
              <a:ext cx="384" cy="177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100" name="Text Box 25"/>
            <p:cNvSpPr txBox="1"/>
            <p:nvPr/>
          </p:nvSpPr>
          <p:spPr>
            <a:xfrm>
              <a:off x="5284" y="3074"/>
              <a:ext cx="22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5770" name="Freeform 26"/>
          <p:cNvSpPr/>
          <p:nvPr/>
        </p:nvSpPr>
        <p:spPr>
          <a:xfrm>
            <a:off x="10125075" y="4610100"/>
            <a:ext cx="1588" cy="280988"/>
          </a:xfrm>
          <a:custGeom>
            <a:avLst/>
            <a:gdLst>
              <a:gd name="txL" fmla="*/ 0 w 1"/>
              <a:gd name="txT" fmla="*/ 0 h 177"/>
              <a:gd name="txR" fmla="*/ 1 w 1"/>
              <a:gd name="txB" fmla="*/ 177 h 177"/>
            </a:gdLst>
            <a:ahLst/>
            <a:cxnLst>
              <a:cxn ang="0">
                <a:pos x="0" y="0"/>
              </a:cxn>
              <a:cxn ang="0">
                <a:pos x="0" y="177"/>
              </a:cxn>
            </a:cxnLst>
            <a:rect l="txL" t="txT" r="txR" b="txB"/>
            <a:pathLst>
              <a:path w="1" h="177">
                <a:moveTo>
                  <a:pt x="0" y="0"/>
                </a:moveTo>
                <a:lnTo>
                  <a:pt x="0" y="177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6" name="Group 27"/>
          <p:cNvGrpSpPr/>
          <p:nvPr/>
        </p:nvGrpSpPr>
        <p:grpSpPr>
          <a:xfrm>
            <a:off x="7620000" y="4868863"/>
            <a:ext cx="609600" cy="374649"/>
            <a:chOff x="3840" y="3067"/>
            <a:chExt cx="384" cy="236"/>
          </a:xfrm>
        </p:grpSpPr>
        <p:sp>
          <p:nvSpPr>
            <p:cNvPr id="471095" name="Oval 28"/>
            <p:cNvSpPr/>
            <p:nvPr/>
          </p:nvSpPr>
          <p:spPr>
            <a:xfrm>
              <a:off x="4007" y="3067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96" name="Rectangle 29"/>
            <p:cNvSpPr/>
            <p:nvPr/>
          </p:nvSpPr>
          <p:spPr>
            <a:xfrm>
              <a:off x="3840" y="3105"/>
              <a:ext cx="384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97" name="Text Box 30"/>
            <p:cNvSpPr txBox="1"/>
            <p:nvPr/>
          </p:nvSpPr>
          <p:spPr>
            <a:xfrm>
              <a:off x="3888" y="3071"/>
              <a:ext cx="2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&amp;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5775" name="Freeform 31"/>
          <p:cNvSpPr/>
          <p:nvPr/>
        </p:nvSpPr>
        <p:spPr>
          <a:xfrm>
            <a:off x="7923213" y="4595813"/>
            <a:ext cx="1587" cy="290512"/>
          </a:xfrm>
          <a:custGeom>
            <a:avLst/>
            <a:gdLst>
              <a:gd name="txL" fmla="*/ 0 w 1"/>
              <a:gd name="txT" fmla="*/ 0 h 183"/>
              <a:gd name="txR" fmla="*/ 1 w 1"/>
              <a:gd name="txB" fmla="*/ 183 h 183"/>
            </a:gdLst>
            <a:ahLst/>
            <a:cxnLst>
              <a:cxn ang="0">
                <a:pos x="0" y="0"/>
              </a:cxn>
              <a:cxn ang="0">
                <a:pos x="0" y="183"/>
              </a:cxn>
            </a:cxnLst>
            <a:rect l="txL" t="txT" r="txR" b="txB"/>
            <a:pathLst>
              <a:path w="1" h="183">
                <a:moveTo>
                  <a:pt x="0" y="0"/>
                </a:moveTo>
                <a:lnTo>
                  <a:pt x="0" y="183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" name="Group 32"/>
          <p:cNvGrpSpPr/>
          <p:nvPr/>
        </p:nvGrpSpPr>
        <p:grpSpPr>
          <a:xfrm>
            <a:off x="7315200" y="5459413"/>
            <a:ext cx="914400" cy="368299"/>
            <a:chOff x="3648" y="3439"/>
            <a:chExt cx="576" cy="232"/>
          </a:xfrm>
        </p:grpSpPr>
        <p:sp>
          <p:nvSpPr>
            <p:cNvPr id="471093" name="Text Box 33"/>
            <p:cNvSpPr txBox="1"/>
            <p:nvPr/>
          </p:nvSpPr>
          <p:spPr>
            <a:xfrm>
              <a:off x="3785" y="3439"/>
              <a:ext cx="26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094" name="Rectangle 34"/>
            <p:cNvSpPr/>
            <p:nvPr/>
          </p:nvSpPr>
          <p:spPr>
            <a:xfrm>
              <a:off x="3648" y="3456"/>
              <a:ext cx="576" cy="1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7354888" y="6384925"/>
            <a:ext cx="944562" cy="398463"/>
            <a:chOff x="3673" y="4070"/>
            <a:chExt cx="595" cy="251"/>
          </a:xfrm>
        </p:grpSpPr>
        <p:sp>
          <p:nvSpPr>
            <p:cNvPr id="471091" name="Text Box 36"/>
            <p:cNvSpPr txBox="1"/>
            <p:nvPr/>
          </p:nvSpPr>
          <p:spPr>
            <a:xfrm>
              <a:off x="3673" y="4070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排队器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092" name="Rectangle 37"/>
            <p:cNvSpPr/>
            <p:nvPr/>
          </p:nvSpPr>
          <p:spPr>
            <a:xfrm>
              <a:off x="3683" y="4070"/>
              <a:ext cx="57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15782" name="AutoShape 38"/>
          <p:cNvSpPr/>
          <p:nvPr/>
        </p:nvSpPr>
        <p:spPr>
          <a:xfrm>
            <a:off x="5715000" y="4114800"/>
            <a:ext cx="152400" cy="304800"/>
          </a:xfrm>
          <a:prstGeom prst="upArrow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9" name="Group 39"/>
          <p:cNvGrpSpPr/>
          <p:nvPr/>
        </p:nvGrpSpPr>
        <p:grpSpPr>
          <a:xfrm>
            <a:off x="5334000" y="5181600"/>
            <a:ext cx="2800350" cy="1066800"/>
            <a:chOff x="2400" y="3312"/>
            <a:chExt cx="1764" cy="672"/>
          </a:xfrm>
        </p:grpSpPr>
        <p:sp>
          <p:nvSpPr>
            <p:cNvPr id="471087" name="Freeform 40"/>
            <p:cNvSpPr/>
            <p:nvPr/>
          </p:nvSpPr>
          <p:spPr>
            <a:xfrm>
              <a:off x="2976" y="3312"/>
              <a:ext cx="1188" cy="480"/>
            </a:xfrm>
            <a:custGeom>
              <a:avLst/>
              <a:gdLst>
                <a:gd name="txL" fmla="*/ 0 w 1188"/>
                <a:gd name="txT" fmla="*/ 0 h 480"/>
                <a:gd name="txR" fmla="*/ 1188 w 1188"/>
                <a:gd name="txB" fmla="*/ 480 h 480"/>
              </a:gdLst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1188" y="477"/>
                </a:cxn>
              </a:cxnLst>
              <a:rect l="txL" t="txT" r="txR" b="txB"/>
              <a:pathLst>
                <a:path w="1188" h="480">
                  <a:moveTo>
                    <a:pt x="0" y="0"/>
                  </a:moveTo>
                  <a:lnTo>
                    <a:pt x="0" y="480"/>
                  </a:lnTo>
                  <a:lnTo>
                    <a:pt x="1188" y="47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stealth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88" name="Freeform 41"/>
            <p:cNvSpPr/>
            <p:nvPr/>
          </p:nvSpPr>
          <p:spPr>
            <a:xfrm>
              <a:off x="2544" y="3312"/>
              <a:ext cx="1332" cy="576"/>
            </a:xfrm>
            <a:custGeom>
              <a:avLst/>
              <a:gdLst>
                <a:gd name="txL" fmla="*/ 0 w 1332"/>
                <a:gd name="txT" fmla="*/ 0 h 576"/>
                <a:gd name="txR" fmla="*/ 1332 w 1332"/>
                <a:gd name="txB" fmla="*/ 576 h 576"/>
              </a:gdLst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1332" y="576"/>
                </a:cxn>
              </a:cxnLst>
              <a:rect l="txL" t="txT" r="txR" b="txB"/>
              <a:pathLst>
                <a:path w="1332" h="576">
                  <a:moveTo>
                    <a:pt x="0" y="0"/>
                  </a:moveTo>
                  <a:lnTo>
                    <a:pt x="0" y="576"/>
                  </a:lnTo>
                  <a:lnTo>
                    <a:pt x="1332" y="57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stealth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89" name="Freeform 42"/>
            <p:cNvSpPr/>
            <p:nvPr/>
          </p:nvSpPr>
          <p:spPr>
            <a:xfrm>
              <a:off x="2400" y="3312"/>
              <a:ext cx="1377" cy="672"/>
            </a:xfrm>
            <a:custGeom>
              <a:avLst/>
              <a:gdLst>
                <a:gd name="txL" fmla="*/ 0 w 1377"/>
                <a:gd name="txT" fmla="*/ 0 h 672"/>
                <a:gd name="txR" fmla="*/ 1377 w 1377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0" y="672"/>
                </a:cxn>
                <a:cxn ang="0">
                  <a:pos x="1377" y="672"/>
                </a:cxn>
              </a:cxnLst>
              <a:rect l="txL" t="txT" r="txR" b="txB"/>
              <a:pathLst>
                <a:path w="1377" h="672">
                  <a:moveTo>
                    <a:pt x="0" y="0"/>
                  </a:moveTo>
                  <a:lnTo>
                    <a:pt x="0" y="672"/>
                  </a:lnTo>
                  <a:lnTo>
                    <a:pt x="1377" y="6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stealth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90" name="Text Box 43"/>
            <p:cNvSpPr txBox="1"/>
            <p:nvPr/>
          </p:nvSpPr>
          <p:spPr>
            <a:xfrm>
              <a:off x="2630" y="346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44"/>
          <p:cNvGrpSpPr/>
          <p:nvPr/>
        </p:nvGrpSpPr>
        <p:grpSpPr>
          <a:xfrm>
            <a:off x="7519988" y="5786438"/>
            <a:ext cx="614362" cy="600075"/>
            <a:chOff x="3777" y="3645"/>
            <a:chExt cx="387" cy="378"/>
          </a:xfrm>
        </p:grpSpPr>
        <p:sp>
          <p:nvSpPr>
            <p:cNvPr id="471083" name="Freeform 45"/>
            <p:cNvSpPr/>
            <p:nvPr/>
          </p:nvSpPr>
          <p:spPr>
            <a:xfrm>
              <a:off x="3777" y="3645"/>
              <a:ext cx="2" cy="375"/>
            </a:xfrm>
            <a:custGeom>
              <a:avLst/>
              <a:gdLst>
                <a:gd name="txL" fmla="*/ 0 w 2"/>
                <a:gd name="txT" fmla="*/ 0 h 375"/>
                <a:gd name="txR" fmla="*/ 2 w 2"/>
                <a:gd name="txB" fmla="*/ 375 h 375"/>
              </a:gdLst>
              <a:ahLst/>
              <a:cxnLst>
                <a:cxn ang="0">
                  <a:pos x="0" y="0"/>
                </a:cxn>
                <a:cxn ang="0">
                  <a:pos x="2" y="375"/>
                </a:cxn>
              </a:cxnLst>
              <a:rect l="txL" t="txT" r="txR" b="txB"/>
              <a:pathLst>
                <a:path w="2" h="375">
                  <a:moveTo>
                    <a:pt x="0" y="0"/>
                  </a:moveTo>
                  <a:lnTo>
                    <a:pt x="2" y="37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84" name="Freeform 46"/>
            <p:cNvSpPr/>
            <p:nvPr/>
          </p:nvSpPr>
          <p:spPr>
            <a:xfrm>
              <a:off x="3875" y="3648"/>
              <a:ext cx="1" cy="375"/>
            </a:xfrm>
            <a:custGeom>
              <a:avLst/>
              <a:gdLst>
                <a:gd name="txL" fmla="*/ 0 w 1"/>
                <a:gd name="txT" fmla="*/ 0 h 375"/>
                <a:gd name="txR" fmla="*/ 1 w 1"/>
                <a:gd name="txB" fmla="*/ 375 h 375"/>
              </a:gdLst>
              <a:ahLst/>
              <a:cxnLst>
                <a:cxn ang="0">
                  <a:pos x="1" y="0"/>
                </a:cxn>
                <a:cxn ang="0">
                  <a:pos x="0" y="375"/>
                </a:cxn>
              </a:cxnLst>
              <a:rect l="txL" t="txT" r="txR" b="txB"/>
              <a:pathLst>
                <a:path w="1" h="375">
                  <a:moveTo>
                    <a:pt x="1" y="0"/>
                  </a:moveTo>
                  <a:lnTo>
                    <a:pt x="0" y="37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85" name="Freeform 47"/>
            <p:cNvSpPr/>
            <p:nvPr/>
          </p:nvSpPr>
          <p:spPr>
            <a:xfrm>
              <a:off x="4160" y="3651"/>
              <a:ext cx="4" cy="372"/>
            </a:xfrm>
            <a:custGeom>
              <a:avLst/>
              <a:gdLst>
                <a:gd name="txL" fmla="*/ 0 w 4"/>
                <a:gd name="txT" fmla="*/ 0 h 372"/>
                <a:gd name="txR" fmla="*/ 4 w 4"/>
                <a:gd name="txB" fmla="*/ 372 h 372"/>
              </a:gdLst>
              <a:ahLst/>
              <a:cxnLst>
                <a:cxn ang="0">
                  <a:pos x="4" y="0"/>
                </a:cxn>
                <a:cxn ang="0">
                  <a:pos x="0" y="372"/>
                </a:cxn>
              </a:cxnLst>
              <a:rect l="txL" t="txT" r="txR" b="txB"/>
              <a:pathLst>
                <a:path w="4" h="372">
                  <a:moveTo>
                    <a:pt x="4" y="0"/>
                  </a:moveTo>
                  <a:lnTo>
                    <a:pt x="0" y="3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086" name="Text Box 48"/>
            <p:cNvSpPr txBox="1"/>
            <p:nvPr/>
          </p:nvSpPr>
          <p:spPr>
            <a:xfrm>
              <a:off x="3888" y="375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5793" name="Freeform 49"/>
          <p:cNvSpPr/>
          <p:nvPr/>
        </p:nvSpPr>
        <p:spPr>
          <a:xfrm>
            <a:off x="7772400" y="5210175"/>
            <a:ext cx="1588" cy="276225"/>
          </a:xfrm>
          <a:custGeom>
            <a:avLst/>
            <a:gdLst>
              <a:gd name="txL" fmla="*/ 0 w 1"/>
              <a:gd name="txT" fmla="*/ 0 h 174"/>
              <a:gd name="txR" fmla="*/ 1 w 1"/>
              <a:gd name="txB" fmla="*/ 174 h 174"/>
            </a:gdLst>
            <a:ahLst/>
            <a:cxnLst>
              <a:cxn ang="0">
                <a:pos x="0" y="0"/>
              </a:cxn>
              <a:cxn ang="0">
                <a:pos x="1" y="174"/>
              </a:cxn>
            </a:cxnLst>
            <a:rect l="txL" t="txT" r="txR" b="txB"/>
            <a:pathLst>
              <a:path w="1" h="174">
                <a:moveTo>
                  <a:pt x="0" y="0"/>
                </a:moveTo>
                <a:lnTo>
                  <a:pt x="1" y="17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5794" name="Freeform 50"/>
          <p:cNvSpPr/>
          <p:nvPr/>
        </p:nvSpPr>
        <p:spPr>
          <a:xfrm>
            <a:off x="8077200" y="3509963"/>
            <a:ext cx="1528763" cy="1828800"/>
          </a:xfrm>
          <a:custGeom>
            <a:avLst/>
            <a:gdLst>
              <a:gd name="txL" fmla="*/ 0 w 963"/>
              <a:gd name="txT" fmla="*/ 0 h 1152"/>
              <a:gd name="txR" fmla="*/ 963 w 963"/>
              <a:gd name="txB" fmla="*/ 1152 h 1152"/>
            </a:gdLst>
            <a:ahLst/>
            <a:cxnLst>
              <a:cxn ang="0">
                <a:pos x="0" y="1071"/>
              </a:cxn>
              <a:cxn ang="0">
                <a:pos x="0" y="1152"/>
              </a:cxn>
              <a:cxn ang="0">
                <a:pos x="693" y="1149"/>
              </a:cxn>
              <a:cxn ang="0">
                <a:pos x="693" y="3"/>
              </a:cxn>
              <a:cxn ang="0">
                <a:pos x="963" y="0"/>
              </a:cxn>
              <a:cxn ang="0">
                <a:pos x="963" y="156"/>
              </a:cxn>
            </a:cxnLst>
            <a:rect l="txL" t="txT" r="txR" b="txB"/>
            <a:pathLst>
              <a:path w="963" h="1152">
                <a:moveTo>
                  <a:pt x="0" y="1071"/>
                </a:moveTo>
                <a:lnTo>
                  <a:pt x="0" y="1152"/>
                </a:lnTo>
                <a:lnTo>
                  <a:pt x="693" y="1149"/>
                </a:lnTo>
                <a:lnTo>
                  <a:pt x="693" y="3"/>
                </a:lnTo>
                <a:lnTo>
                  <a:pt x="963" y="0"/>
                </a:lnTo>
                <a:lnTo>
                  <a:pt x="963" y="156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5795" name="Freeform 51"/>
          <p:cNvSpPr/>
          <p:nvPr/>
        </p:nvSpPr>
        <p:spPr>
          <a:xfrm>
            <a:off x="7848600" y="3505200"/>
            <a:ext cx="2286000" cy="2133600"/>
          </a:xfrm>
          <a:custGeom>
            <a:avLst/>
            <a:gdLst>
              <a:gd name="txL" fmla="*/ 0 w 1440"/>
              <a:gd name="txT" fmla="*/ 0 h 1344"/>
              <a:gd name="txR" fmla="*/ 1440 w 1440"/>
              <a:gd name="txB" fmla="*/ 1344 h 1344"/>
            </a:gdLst>
            <a:ahLst/>
            <a:cxnLst>
              <a:cxn ang="0">
                <a:pos x="1440" y="1080"/>
              </a:cxn>
              <a:cxn ang="0">
                <a:pos x="1440" y="1344"/>
              </a:cxn>
              <a:cxn ang="0">
                <a:pos x="672" y="1344"/>
              </a:cxn>
              <a:cxn ang="0">
                <a:pos x="672" y="0"/>
              </a:cxn>
              <a:cxn ang="0">
                <a:pos x="0" y="0"/>
              </a:cxn>
              <a:cxn ang="0">
                <a:pos x="0" y="168"/>
              </a:cxn>
            </a:cxnLst>
            <a:rect l="txL" t="txT" r="txR" b="txB"/>
            <a:pathLst>
              <a:path w="1440" h="1344">
                <a:moveTo>
                  <a:pt x="1440" y="1080"/>
                </a:moveTo>
                <a:lnTo>
                  <a:pt x="1440" y="1344"/>
                </a:lnTo>
                <a:lnTo>
                  <a:pt x="672" y="1344"/>
                </a:lnTo>
                <a:lnTo>
                  <a:pt x="672" y="0"/>
                </a:lnTo>
                <a:lnTo>
                  <a:pt x="0" y="0"/>
                </a:lnTo>
                <a:lnTo>
                  <a:pt x="0" y="168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5796" name="Text Box 52"/>
          <p:cNvSpPr txBox="1"/>
          <p:nvPr/>
        </p:nvSpPr>
        <p:spPr>
          <a:xfrm>
            <a:off x="2590800" y="1295400"/>
            <a:ext cx="5334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断点存于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特定地址</a:t>
            </a:r>
            <a:r>
              <a:rPr lang="zh-CN" altLang="en-US" sz="2400" b="1" dirty="0">
                <a:latin typeface="Times New Roman" panose="02020603050405020304" pitchFamily="18" charset="0"/>
              </a:rPr>
              <a:t>（ </a:t>
            </a:r>
            <a:r>
              <a:rPr lang="en-US" altLang="zh-CN" sz="2400" b="1" dirty="0">
                <a:latin typeface="Times New Roman" panose="02020603050405020304" pitchFamily="18" charset="0"/>
              </a:rPr>
              <a:t>0 </a:t>
            </a:r>
            <a:r>
              <a:rPr lang="zh-CN" altLang="en-US" sz="2400" b="1" dirty="0">
                <a:latin typeface="Times New Roman" panose="02020603050405020304" pitchFamily="18" charset="0"/>
              </a:rPr>
              <a:t>号地址） 内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5797" name="Text Box 53"/>
          <p:cNvSpPr txBox="1"/>
          <p:nvPr/>
        </p:nvSpPr>
        <p:spPr>
          <a:xfrm>
            <a:off x="7772400" y="1306513"/>
            <a:ext cx="2133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断点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进栈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5798" name="Text Box 54"/>
          <p:cNvSpPr txBox="1"/>
          <p:nvPr/>
        </p:nvSpPr>
        <p:spPr>
          <a:xfrm>
            <a:off x="2590800" y="4738688"/>
            <a:ext cx="170942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INT </a:t>
            </a:r>
            <a:r>
              <a:rPr lang="zh-CN" altLang="en-US" sz="2000" b="1" dirty="0">
                <a:latin typeface="Times New Roman" panose="02020603050405020304" pitchFamily="18" charset="0"/>
              </a:rPr>
              <a:t>中断标记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5799" name="Text Box 55"/>
          <p:cNvSpPr txBox="1"/>
          <p:nvPr/>
        </p:nvSpPr>
        <p:spPr>
          <a:xfrm>
            <a:off x="2590800" y="5310188"/>
            <a:ext cx="187896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EINT </a:t>
            </a:r>
            <a:r>
              <a:rPr lang="zh-CN" altLang="en-US" sz="2000" b="1" dirty="0">
                <a:latin typeface="Times New Roman" panose="02020603050405020304" pitchFamily="18" charset="0"/>
              </a:rPr>
              <a:t>允许中断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5800" name="Text Box 56"/>
          <p:cNvSpPr txBox="1"/>
          <p:nvPr/>
        </p:nvSpPr>
        <p:spPr>
          <a:xfrm>
            <a:off x="2590800" y="5856288"/>
            <a:ext cx="16014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R – </a:t>
            </a:r>
            <a:r>
              <a:rPr lang="en-US" altLang="zh-CN" sz="2200" b="1" dirty="0"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触发器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5801" name="Rectangle 5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Group 58"/>
          <p:cNvGrpSpPr/>
          <p:nvPr/>
        </p:nvGrpSpPr>
        <p:grpSpPr>
          <a:xfrm>
            <a:off x="2667000" y="2438400"/>
            <a:ext cx="6723063" cy="533400"/>
            <a:chOff x="720" y="1536"/>
            <a:chExt cx="4235" cy="336"/>
          </a:xfrm>
        </p:grpSpPr>
        <p:grpSp>
          <p:nvGrpSpPr>
            <p:cNvPr id="471078" name="Group 59"/>
            <p:cNvGrpSpPr/>
            <p:nvPr/>
          </p:nvGrpSpPr>
          <p:grpSpPr>
            <a:xfrm>
              <a:off x="720" y="1536"/>
              <a:ext cx="1488" cy="336"/>
              <a:chOff x="720" y="1536"/>
              <a:chExt cx="1488" cy="336"/>
            </a:xfrm>
          </p:grpSpPr>
          <p:sp>
            <p:nvSpPr>
              <p:cNvPr id="471080" name="Rectangle 60"/>
              <p:cNvSpPr/>
              <p:nvPr/>
            </p:nvSpPr>
            <p:spPr>
              <a:xfrm>
                <a:off x="720" y="1536"/>
                <a:ext cx="8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向量地址</a:t>
                </a:r>
                <a:endPara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081" name="Rectangle 61"/>
              <p:cNvSpPr/>
              <p:nvPr/>
            </p:nvSpPr>
            <p:spPr>
              <a:xfrm>
                <a:off x="1920" y="1536"/>
                <a:ext cx="288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PC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082" name="Line 62"/>
              <p:cNvSpPr/>
              <p:nvPr/>
            </p:nvSpPr>
            <p:spPr>
              <a:xfrm>
                <a:off x="1536" y="1728"/>
                <a:ext cx="295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471079" name="Text Box 63"/>
            <p:cNvSpPr txBox="1"/>
            <p:nvPr/>
          </p:nvSpPr>
          <p:spPr>
            <a:xfrm>
              <a:off x="2267" y="1564"/>
              <a:ext cx="268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（硬件向量法）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64"/>
          <p:cNvGrpSpPr/>
          <p:nvPr/>
        </p:nvGrpSpPr>
        <p:grpSpPr>
          <a:xfrm>
            <a:off x="2667000" y="2933700"/>
            <a:ext cx="8991600" cy="571500"/>
            <a:chOff x="720" y="1848"/>
            <a:chExt cx="5664" cy="360"/>
          </a:xfrm>
        </p:grpSpPr>
        <p:grpSp>
          <p:nvGrpSpPr>
            <p:cNvPr id="471072" name="Group 65"/>
            <p:cNvGrpSpPr/>
            <p:nvPr/>
          </p:nvGrpSpPr>
          <p:grpSpPr>
            <a:xfrm>
              <a:off x="720" y="1848"/>
              <a:ext cx="2976" cy="360"/>
              <a:chOff x="816" y="1872"/>
              <a:chExt cx="2976" cy="360"/>
            </a:xfrm>
          </p:grpSpPr>
          <p:sp>
            <p:nvSpPr>
              <p:cNvPr id="471074" name="Rectangle 66"/>
              <p:cNvSpPr/>
              <p:nvPr/>
            </p:nvSpPr>
            <p:spPr>
              <a:xfrm>
                <a:off x="816" y="1872"/>
                <a:ext cx="20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中断识别程序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入口地址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075" name="Rectangle 67"/>
              <p:cNvSpPr/>
              <p:nvPr/>
            </p:nvSpPr>
            <p:spPr>
              <a:xfrm>
                <a:off x="2880" y="1896"/>
                <a:ext cx="288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076" name="Rectangle 68"/>
              <p:cNvSpPr/>
              <p:nvPr/>
            </p:nvSpPr>
            <p:spPr>
              <a:xfrm>
                <a:off x="3504" y="1896"/>
                <a:ext cx="288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PC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077" name="Line 69"/>
              <p:cNvSpPr/>
              <p:nvPr/>
            </p:nvSpPr>
            <p:spPr>
              <a:xfrm>
                <a:off x="3120" y="2064"/>
                <a:ext cx="295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471073" name="Text Box 70"/>
            <p:cNvSpPr txBox="1"/>
            <p:nvPr/>
          </p:nvSpPr>
          <p:spPr>
            <a:xfrm>
              <a:off x="3696" y="1872"/>
              <a:ext cx="268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（软件查询法）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1070" name="AutoShape 7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071" name="日期占位符 1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1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4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41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41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1" dur="500"/>
                                        <p:tgtEl>
                                          <p:spTgt spid="41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41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5" dur="500"/>
                                        <p:tgtEl>
                                          <p:spTgt spid="41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9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7" grpId="0"/>
      <p:bldP spid="415748" grpId="0"/>
      <p:bldP spid="415749" grpId="0"/>
      <p:bldP spid="415765" grpId="0" bldLvl="0" animBg="1"/>
      <p:bldP spid="415770" grpId="0" bldLvl="0" animBg="1"/>
      <p:bldP spid="415775" grpId="0" bldLvl="0" animBg="1"/>
      <p:bldP spid="415782" grpId="0" bldLvl="0" animBg="1"/>
      <p:bldP spid="415793" grpId="0" bldLvl="0" animBg="1"/>
      <p:bldP spid="415794" grpId="0" bldLvl="0" animBg="1"/>
      <p:bldP spid="415795" grpId="0" bldLvl="0" animBg="1"/>
      <p:bldP spid="415796" grpId="0"/>
      <p:bldP spid="415797" grpId="0"/>
      <p:bldP spid="415798" grpId="0"/>
      <p:bldP spid="415799" grpId="0"/>
      <p:bldP spid="41580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2066" name="Rectangle 2"/>
          <p:cNvSpPr/>
          <p:nvPr/>
        </p:nvSpPr>
        <p:spPr>
          <a:xfrm>
            <a:off x="1828800" y="228600"/>
            <a:ext cx="6324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3600" b="1" dirty="0">
                <a:latin typeface="Times New Roman" panose="02020603050405020304" pitchFamily="18" charset="0"/>
              </a:rPr>
              <a:t>五、保护现场和恢复现场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6771" name="Rectangle 3"/>
          <p:cNvSpPr/>
          <p:nvPr/>
        </p:nvSpPr>
        <p:spPr>
          <a:xfrm>
            <a:off x="2514600" y="1143000"/>
            <a:ext cx="1752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保护现场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6772" name="Rectangle 4"/>
          <p:cNvSpPr/>
          <p:nvPr/>
        </p:nvSpPr>
        <p:spPr>
          <a:xfrm>
            <a:off x="2514600" y="2057400"/>
            <a:ext cx="1828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恢复现场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343400" y="914400"/>
            <a:ext cx="1981200" cy="1066800"/>
            <a:chOff x="1776" y="576"/>
            <a:chExt cx="1248" cy="672"/>
          </a:xfrm>
        </p:grpSpPr>
        <p:sp>
          <p:nvSpPr>
            <p:cNvPr id="472087" name="Rectangle 6"/>
            <p:cNvSpPr/>
            <p:nvPr/>
          </p:nvSpPr>
          <p:spPr>
            <a:xfrm>
              <a:off x="1776" y="912"/>
              <a:ext cx="124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寄存器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内容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2088" name="Rectangle 7"/>
            <p:cNvSpPr/>
            <p:nvPr/>
          </p:nvSpPr>
          <p:spPr>
            <a:xfrm>
              <a:off x="1776" y="576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断点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6776" name="AutoShape 8"/>
          <p:cNvSpPr/>
          <p:nvPr/>
        </p:nvSpPr>
        <p:spPr>
          <a:xfrm>
            <a:off x="4121150" y="1066800"/>
            <a:ext cx="146050" cy="685800"/>
          </a:xfrm>
          <a:prstGeom prst="leftBrace">
            <a:avLst>
              <a:gd name="adj1" fmla="val 390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6777" name="Rectangle 9"/>
          <p:cNvSpPr/>
          <p:nvPr/>
        </p:nvSpPr>
        <p:spPr>
          <a:xfrm>
            <a:off x="4572000" y="2971800"/>
            <a:ext cx="1979613" cy="6477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 anchorCtr="0"/>
          <a:p>
            <a:pPr algn="ctr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保护现场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778" name="Rectangle 10"/>
          <p:cNvSpPr/>
          <p:nvPr/>
        </p:nvSpPr>
        <p:spPr>
          <a:xfrm>
            <a:off x="4572000" y="4000500"/>
            <a:ext cx="1979613" cy="6477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 anchorCtr="0"/>
          <a:p>
            <a:pPr algn="ctr"/>
            <a:r>
              <a:rPr lang="zh-CN" altLang="en-US" sz="2400" b="1" dirty="0">
                <a:latin typeface="Times New Roman" panose="02020603050405020304" pitchFamily="18" charset="0"/>
              </a:rPr>
              <a:t>其它服务程序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6779" name="Rectangle 11"/>
          <p:cNvSpPr/>
          <p:nvPr/>
        </p:nvSpPr>
        <p:spPr>
          <a:xfrm>
            <a:off x="4572000" y="4991100"/>
            <a:ext cx="1979613" cy="6477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 anchorCtr="0"/>
          <a:p>
            <a:pPr algn="ctr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恢复现场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780" name="Rectangle 12"/>
          <p:cNvSpPr/>
          <p:nvPr/>
        </p:nvSpPr>
        <p:spPr>
          <a:xfrm>
            <a:off x="4572000" y="5981700"/>
            <a:ext cx="1979613" cy="6477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 anchorCtr="0"/>
          <a:p>
            <a:pPr algn="ctr"/>
            <a:r>
              <a:rPr lang="zh-CN" altLang="en-US" sz="2400" b="1" dirty="0">
                <a:latin typeface="Times New Roman" panose="02020603050405020304" pitchFamily="18" charset="0"/>
              </a:rPr>
              <a:t>中断返回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6781" name="Rectangle 13"/>
          <p:cNvSpPr/>
          <p:nvPr/>
        </p:nvSpPr>
        <p:spPr>
          <a:xfrm>
            <a:off x="7010400" y="3048000"/>
            <a:ext cx="1905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PUSH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16782" name="Rectangle 14"/>
          <p:cNvSpPr/>
          <p:nvPr/>
        </p:nvSpPr>
        <p:spPr>
          <a:xfrm>
            <a:off x="6934200" y="4038600"/>
            <a:ext cx="2590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视不同请求源而定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6783" name="Rectangle 15"/>
          <p:cNvSpPr/>
          <p:nvPr/>
        </p:nvSpPr>
        <p:spPr>
          <a:xfrm>
            <a:off x="7010400" y="5029200"/>
            <a:ext cx="1905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POP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16784" name="Text Box 16"/>
          <p:cNvSpPr txBox="1"/>
          <p:nvPr/>
        </p:nvSpPr>
        <p:spPr>
          <a:xfrm>
            <a:off x="4267200" y="2078038"/>
            <a:ext cx="3048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中断服务程序 </a:t>
            </a:r>
            <a:r>
              <a:rPr lang="zh-CN" altLang="en-US" sz="2400" b="1" dirty="0">
                <a:latin typeface="Times New Roman" panose="02020603050405020304" pitchFamily="18" charset="0"/>
              </a:rPr>
              <a:t>完成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6785" name="Text Box 17"/>
          <p:cNvSpPr txBox="1"/>
          <p:nvPr/>
        </p:nvSpPr>
        <p:spPr>
          <a:xfrm>
            <a:off x="3624263" y="3657600"/>
            <a:ext cx="487680" cy="23069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中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断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服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务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程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序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6786" name="AutoShape 18"/>
          <p:cNvSpPr/>
          <p:nvPr/>
        </p:nvSpPr>
        <p:spPr>
          <a:xfrm>
            <a:off x="4191000" y="4527177"/>
            <a:ext cx="506915" cy="546846"/>
          </a:xfrm>
          <a:prstGeom prst="leftBrace">
            <a:avLst>
              <a:gd name="adj1" fmla="val 1000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6787" name="Text Box 19"/>
          <p:cNvSpPr txBox="1"/>
          <p:nvPr/>
        </p:nvSpPr>
        <p:spPr>
          <a:xfrm>
            <a:off x="6400800" y="914400"/>
            <a:ext cx="3276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中断隐指令 </a:t>
            </a:r>
            <a:r>
              <a:rPr lang="zh-CN" altLang="en-US" sz="2400" b="1" dirty="0">
                <a:latin typeface="Times New Roman" panose="02020603050405020304" pitchFamily="18" charset="0"/>
              </a:rPr>
              <a:t>完成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16788" name="Rectangle 20"/>
          <p:cNvSpPr/>
          <p:nvPr/>
        </p:nvSpPr>
        <p:spPr>
          <a:xfrm>
            <a:off x="6486525" y="1447800"/>
            <a:ext cx="3810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中断服务程序 </a:t>
            </a:r>
            <a:r>
              <a:rPr lang="zh-CN" altLang="en-US" sz="2400" b="1" dirty="0">
                <a:latin typeface="Times New Roman" panose="02020603050405020304" pitchFamily="18" charset="0"/>
              </a:rPr>
              <a:t>完成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6789" name="Rectangle 2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6790" name="Rectangle 22"/>
          <p:cNvSpPr/>
          <p:nvPr/>
        </p:nvSpPr>
        <p:spPr>
          <a:xfrm>
            <a:off x="7010400" y="6019800"/>
            <a:ext cx="1905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IRET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72085" name="AutoShape 2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208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1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41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1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1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1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1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1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1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16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1" grpId="0"/>
      <p:bldP spid="416772" grpId="0"/>
      <p:bldP spid="416776" grpId="0" bldLvl="0" animBg="1"/>
      <p:bldP spid="416777" grpId="0" bldLvl="0" animBg="1"/>
      <p:bldP spid="416778" grpId="0" bldLvl="0" animBg="1"/>
      <p:bldP spid="416779" grpId="0" bldLvl="0" animBg="1"/>
      <p:bldP spid="416780" grpId="0" bldLvl="0" animBg="1"/>
      <p:bldP spid="416781" grpId="0"/>
      <p:bldP spid="416782" grpId="0"/>
      <p:bldP spid="416783" grpId="0"/>
      <p:bldP spid="416784" grpId="0"/>
      <p:bldP spid="416785" grpId="0"/>
      <p:bldP spid="416786" grpId="0" bldLvl="0" animBg="1"/>
      <p:bldP spid="416787" grpId="0"/>
      <p:bldP spid="416788" grpId="0"/>
      <p:bldP spid="416790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7794" name="Rectangle 2"/>
          <p:cNvSpPr/>
          <p:nvPr/>
        </p:nvSpPr>
        <p:spPr>
          <a:xfrm>
            <a:off x="2628900" y="12446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多重中断的概念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17795" name="Line 3"/>
          <p:cNvSpPr/>
          <p:nvPr/>
        </p:nvSpPr>
        <p:spPr>
          <a:xfrm>
            <a:off x="4648200" y="219392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7796" name="Line 4"/>
          <p:cNvSpPr/>
          <p:nvPr/>
        </p:nvSpPr>
        <p:spPr>
          <a:xfrm>
            <a:off x="5562600" y="219392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7797" name="Line 5"/>
          <p:cNvSpPr/>
          <p:nvPr/>
        </p:nvSpPr>
        <p:spPr>
          <a:xfrm flipV="1">
            <a:off x="4648200" y="2193925"/>
            <a:ext cx="9144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7798" name="Line 6"/>
          <p:cNvSpPr/>
          <p:nvPr/>
        </p:nvSpPr>
        <p:spPr>
          <a:xfrm>
            <a:off x="6477000" y="219392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7799" name="Line 7"/>
          <p:cNvSpPr/>
          <p:nvPr/>
        </p:nvSpPr>
        <p:spPr>
          <a:xfrm flipV="1">
            <a:off x="5562600" y="2193925"/>
            <a:ext cx="9144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7800" name="Line 8"/>
          <p:cNvSpPr/>
          <p:nvPr/>
        </p:nvSpPr>
        <p:spPr>
          <a:xfrm>
            <a:off x="7391400" y="2193925"/>
            <a:ext cx="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7801" name="Line 9"/>
          <p:cNvSpPr/>
          <p:nvPr/>
        </p:nvSpPr>
        <p:spPr>
          <a:xfrm flipV="1">
            <a:off x="6477000" y="2193925"/>
            <a:ext cx="9144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7802" name="Line 10"/>
          <p:cNvSpPr/>
          <p:nvPr/>
        </p:nvSpPr>
        <p:spPr>
          <a:xfrm rot="-5400000" flipV="1">
            <a:off x="6477000" y="3489325"/>
            <a:ext cx="9144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7803" name="Line 11"/>
          <p:cNvSpPr/>
          <p:nvPr/>
        </p:nvSpPr>
        <p:spPr>
          <a:xfrm>
            <a:off x="6477000" y="348932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7804" name="Line 12"/>
          <p:cNvSpPr/>
          <p:nvPr/>
        </p:nvSpPr>
        <p:spPr>
          <a:xfrm rot="-5400000" flipV="1">
            <a:off x="5562600" y="3489325"/>
            <a:ext cx="9144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7805" name="Line 13"/>
          <p:cNvSpPr/>
          <p:nvPr/>
        </p:nvSpPr>
        <p:spPr>
          <a:xfrm>
            <a:off x="5562600" y="348932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7806" name="Line 14"/>
          <p:cNvSpPr/>
          <p:nvPr/>
        </p:nvSpPr>
        <p:spPr>
          <a:xfrm rot="-5400000" flipV="1">
            <a:off x="4648200" y="3489325"/>
            <a:ext cx="91440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7807" name="Line 15"/>
          <p:cNvSpPr/>
          <p:nvPr/>
        </p:nvSpPr>
        <p:spPr>
          <a:xfrm>
            <a:off x="4648200" y="348932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7808" name="Text Box 16"/>
          <p:cNvSpPr txBox="1"/>
          <p:nvPr/>
        </p:nvSpPr>
        <p:spPr>
          <a:xfrm>
            <a:off x="4267200" y="2894013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k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417809" name="Text Box 17"/>
          <p:cNvSpPr txBox="1"/>
          <p:nvPr/>
        </p:nvSpPr>
        <p:spPr>
          <a:xfrm>
            <a:off x="5241925" y="2894013"/>
            <a:ext cx="25336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417810" name="Text Box 18"/>
          <p:cNvSpPr txBox="1"/>
          <p:nvPr/>
        </p:nvSpPr>
        <p:spPr>
          <a:xfrm>
            <a:off x="6156325" y="2894013"/>
            <a:ext cx="38036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m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417811" name="Text Box 19"/>
          <p:cNvSpPr txBox="1"/>
          <p:nvPr/>
        </p:nvSpPr>
        <p:spPr>
          <a:xfrm>
            <a:off x="4051300" y="3351213"/>
            <a:ext cx="63246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7812" name="Text Box 20"/>
          <p:cNvSpPr txBox="1"/>
          <p:nvPr/>
        </p:nvSpPr>
        <p:spPr>
          <a:xfrm>
            <a:off x="5013325" y="3351213"/>
            <a:ext cx="57594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7813" name="Text Box 21"/>
          <p:cNvSpPr txBox="1"/>
          <p:nvPr/>
        </p:nvSpPr>
        <p:spPr>
          <a:xfrm>
            <a:off x="5867400" y="3351213"/>
            <a:ext cx="70294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4191000" y="4476750"/>
            <a:ext cx="3001963" cy="709613"/>
            <a:chOff x="1680" y="2820"/>
            <a:chExt cx="1891" cy="447"/>
          </a:xfrm>
        </p:grpSpPr>
        <p:sp>
          <p:nvSpPr>
            <p:cNvPr id="473116" name="Text Box 23"/>
            <p:cNvSpPr txBox="1"/>
            <p:nvPr/>
          </p:nvSpPr>
          <p:spPr>
            <a:xfrm>
              <a:off x="1680" y="2820"/>
              <a:ext cx="59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第一次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 中断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3117" name="Text Box 24"/>
            <p:cNvSpPr txBox="1"/>
            <p:nvPr/>
          </p:nvSpPr>
          <p:spPr>
            <a:xfrm>
              <a:off x="2329" y="2822"/>
              <a:ext cx="59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第二次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 中断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3118" name="Text Box 25"/>
            <p:cNvSpPr txBox="1"/>
            <p:nvPr/>
          </p:nvSpPr>
          <p:spPr>
            <a:xfrm>
              <a:off x="2976" y="2822"/>
              <a:ext cx="59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第三次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 中断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7818" name="Text Box 26"/>
          <p:cNvSpPr txBox="1"/>
          <p:nvPr/>
        </p:nvSpPr>
        <p:spPr>
          <a:xfrm>
            <a:off x="3817938" y="5410200"/>
            <a:ext cx="44116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程序断点  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+1 ,  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+1 ,  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3112" name="Text Box 27"/>
          <p:cNvSpPr txBox="1"/>
          <p:nvPr/>
        </p:nvSpPr>
        <p:spPr>
          <a:xfrm>
            <a:off x="2057400" y="349250"/>
            <a:ext cx="3840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六、中断屏蔽技术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7820" name="Rectangle 2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3114" name="AutoShape 2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3115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7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4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1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7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4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1" dur="500"/>
                                        <p:tgtEl>
                                          <p:spTgt spid="4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41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5" dur="500"/>
                                        <p:tgtEl>
                                          <p:spTgt spid="4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1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5" dur="500"/>
                                        <p:tgtEl>
                                          <p:spTgt spid="417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41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/>
      <p:bldP spid="417808" grpId="0"/>
      <p:bldP spid="417809" grpId="0"/>
      <p:bldP spid="417810" grpId="0"/>
      <p:bldP spid="417811" grpId="0"/>
      <p:bldP spid="417812" grpId="0"/>
      <p:bldP spid="417813" grpId="0"/>
      <p:bldP spid="41781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4114" name="Rectangle 2"/>
          <p:cNvSpPr/>
          <p:nvPr/>
        </p:nvSpPr>
        <p:spPr>
          <a:xfrm>
            <a:off x="1905000" y="254000"/>
            <a:ext cx="5399088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600" b="1" dirty="0">
                <a:latin typeface="Times New Roman" panose="02020603050405020304" pitchFamily="18" charset="0"/>
              </a:rPr>
              <a:t>2.  </a:t>
            </a:r>
            <a:r>
              <a:rPr lang="zh-CN" altLang="en-US" sz="3600" b="1" dirty="0">
                <a:latin typeface="Times New Roman" panose="02020603050405020304" pitchFamily="18" charset="0"/>
              </a:rPr>
              <a:t>实现多重中断的条件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8819" name="Line 3"/>
          <p:cNvSpPr/>
          <p:nvPr/>
        </p:nvSpPr>
        <p:spPr>
          <a:xfrm>
            <a:off x="3581400" y="3170238"/>
            <a:ext cx="0" cy="65405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2" name="Group 4"/>
          <p:cNvGrpSpPr/>
          <p:nvPr/>
        </p:nvGrpSpPr>
        <p:grpSpPr>
          <a:xfrm>
            <a:off x="3581400" y="3824288"/>
            <a:ext cx="2743200" cy="0"/>
            <a:chOff x="1296" y="2409"/>
            <a:chExt cx="1728" cy="0"/>
          </a:xfrm>
        </p:grpSpPr>
        <p:sp>
          <p:nvSpPr>
            <p:cNvPr id="474177" name="Line 5"/>
            <p:cNvSpPr/>
            <p:nvPr/>
          </p:nvSpPr>
          <p:spPr>
            <a:xfrm>
              <a:off x="1296" y="2409"/>
              <a:ext cx="17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78" name="Line 6"/>
            <p:cNvSpPr/>
            <p:nvPr/>
          </p:nvSpPr>
          <p:spPr>
            <a:xfrm>
              <a:off x="2160" y="240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3581400" y="4217988"/>
            <a:ext cx="2743200" cy="0"/>
            <a:chOff x="1296" y="2657"/>
            <a:chExt cx="1728" cy="0"/>
          </a:xfrm>
        </p:grpSpPr>
        <p:sp>
          <p:nvSpPr>
            <p:cNvPr id="474175" name="Line 8"/>
            <p:cNvSpPr/>
            <p:nvPr/>
          </p:nvSpPr>
          <p:spPr>
            <a:xfrm>
              <a:off x="1296" y="2657"/>
              <a:ext cx="17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76" name="Line 9"/>
            <p:cNvSpPr/>
            <p:nvPr/>
          </p:nvSpPr>
          <p:spPr>
            <a:xfrm rot="10800000">
              <a:off x="2352" y="265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" name="Group 10"/>
          <p:cNvGrpSpPr/>
          <p:nvPr/>
        </p:nvGrpSpPr>
        <p:grpSpPr>
          <a:xfrm>
            <a:off x="3581400" y="4545013"/>
            <a:ext cx="4114800" cy="0"/>
            <a:chOff x="1296" y="2863"/>
            <a:chExt cx="2592" cy="0"/>
          </a:xfrm>
        </p:grpSpPr>
        <p:sp>
          <p:nvSpPr>
            <p:cNvPr id="474173" name="Line 11"/>
            <p:cNvSpPr/>
            <p:nvPr/>
          </p:nvSpPr>
          <p:spPr>
            <a:xfrm>
              <a:off x="1296" y="2863"/>
              <a:ext cx="25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74" name="Line 12"/>
            <p:cNvSpPr/>
            <p:nvPr/>
          </p:nvSpPr>
          <p:spPr>
            <a:xfrm>
              <a:off x="3024" y="2863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" name="Group 13"/>
          <p:cNvGrpSpPr/>
          <p:nvPr/>
        </p:nvGrpSpPr>
        <p:grpSpPr>
          <a:xfrm>
            <a:off x="3581400" y="4937125"/>
            <a:ext cx="4114800" cy="0"/>
            <a:chOff x="1296" y="3110"/>
            <a:chExt cx="2592" cy="0"/>
          </a:xfrm>
        </p:grpSpPr>
        <p:sp>
          <p:nvSpPr>
            <p:cNvPr id="474171" name="Line 14"/>
            <p:cNvSpPr/>
            <p:nvPr/>
          </p:nvSpPr>
          <p:spPr>
            <a:xfrm>
              <a:off x="1296" y="3110"/>
              <a:ext cx="25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72" name="Line 15"/>
            <p:cNvSpPr/>
            <p:nvPr/>
          </p:nvSpPr>
          <p:spPr>
            <a:xfrm rot="10800000">
              <a:off x="3216" y="311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18832" name="Freeform 16"/>
          <p:cNvSpPr/>
          <p:nvPr/>
        </p:nvSpPr>
        <p:spPr>
          <a:xfrm>
            <a:off x="3589338" y="4217988"/>
            <a:ext cx="1587" cy="315912"/>
          </a:xfrm>
          <a:custGeom>
            <a:avLst/>
            <a:gdLst>
              <a:gd name="txL" fmla="*/ 0 w 1"/>
              <a:gd name="txT" fmla="*/ 0 h 199"/>
              <a:gd name="txR" fmla="*/ 1 w 1"/>
              <a:gd name="txB" fmla="*/ 199 h 199"/>
            </a:gdLst>
            <a:ahLst/>
            <a:cxnLst>
              <a:cxn ang="0">
                <a:pos x="0" y="0"/>
              </a:cxn>
              <a:cxn ang="0">
                <a:pos x="0" y="199"/>
              </a:cxn>
            </a:cxnLst>
            <a:rect l="txL" t="txT" r="txR" b="txB"/>
            <a:pathLst>
              <a:path w="1" h="199">
                <a:moveTo>
                  <a:pt x="0" y="0"/>
                </a:moveTo>
                <a:lnTo>
                  <a:pt x="0" y="199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6" name="Group 17"/>
          <p:cNvGrpSpPr/>
          <p:nvPr/>
        </p:nvGrpSpPr>
        <p:grpSpPr>
          <a:xfrm>
            <a:off x="3581400" y="5265738"/>
            <a:ext cx="5486400" cy="0"/>
            <a:chOff x="1296" y="3317"/>
            <a:chExt cx="3456" cy="0"/>
          </a:xfrm>
        </p:grpSpPr>
        <p:sp>
          <p:nvSpPr>
            <p:cNvPr id="474169" name="Line 18"/>
            <p:cNvSpPr/>
            <p:nvPr/>
          </p:nvSpPr>
          <p:spPr>
            <a:xfrm>
              <a:off x="1296" y="3317"/>
              <a:ext cx="34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70" name="Line 19"/>
            <p:cNvSpPr/>
            <p:nvPr/>
          </p:nvSpPr>
          <p:spPr>
            <a:xfrm>
              <a:off x="3888" y="331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7" name="Group 20"/>
          <p:cNvGrpSpPr/>
          <p:nvPr/>
        </p:nvGrpSpPr>
        <p:grpSpPr>
          <a:xfrm>
            <a:off x="4953000" y="5657850"/>
            <a:ext cx="4114800" cy="0"/>
            <a:chOff x="2160" y="3564"/>
            <a:chExt cx="2592" cy="0"/>
          </a:xfrm>
        </p:grpSpPr>
        <p:sp>
          <p:nvSpPr>
            <p:cNvPr id="474167" name="Line 21"/>
            <p:cNvSpPr/>
            <p:nvPr/>
          </p:nvSpPr>
          <p:spPr>
            <a:xfrm>
              <a:off x="2160" y="3564"/>
              <a:ext cx="25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68" name="Line 22"/>
            <p:cNvSpPr/>
            <p:nvPr/>
          </p:nvSpPr>
          <p:spPr>
            <a:xfrm rot="10800000">
              <a:off x="3888" y="356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18839" name="Freeform 23"/>
          <p:cNvSpPr/>
          <p:nvPr/>
        </p:nvSpPr>
        <p:spPr>
          <a:xfrm>
            <a:off x="3589338" y="4937125"/>
            <a:ext cx="1587" cy="315913"/>
          </a:xfrm>
          <a:custGeom>
            <a:avLst/>
            <a:gdLst>
              <a:gd name="txL" fmla="*/ 0 w 1"/>
              <a:gd name="txT" fmla="*/ 0 h 199"/>
              <a:gd name="txR" fmla="*/ 1 w 1"/>
              <a:gd name="txB" fmla="*/ 199 h 199"/>
            </a:gdLst>
            <a:ahLst/>
            <a:cxnLst>
              <a:cxn ang="0">
                <a:pos x="0" y="0"/>
              </a:cxn>
              <a:cxn ang="0">
                <a:pos x="0" y="199"/>
              </a:cxn>
            </a:cxnLst>
            <a:rect l="txL" t="txT" r="txR" b="txB"/>
            <a:pathLst>
              <a:path w="1" h="199">
                <a:moveTo>
                  <a:pt x="0" y="0"/>
                </a:moveTo>
                <a:lnTo>
                  <a:pt x="0" y="199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8" name="Group 24"/>
          <p:cNvGrpSpPr/>
          <p:nvPr/>
        </p:nvGrpSpPr>
        <p:grpSpPr>
          <a:xfrm>
            <a:off x="4953000" y="5984875"/>
            <a:ext cx="4114800" cy="0"/>
            <a:chOff x="2160" y="3770"/>
            <a:chExt cx="2592" cy="0"/>
          </a:xfrm>
        </p:grpSpPr>
        <p:sp>
          <p:nvSpPr>
            <p:cNvPr id="474165" name="Line 25"/>
            <p:cNvSpPr/>
            <p:nvPr/>
          </p:nvSpPr>
          <p:spPr>
            <a:xfrm>
              <a:off x="2160" y="3770"/>
              <a:ext cx="25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66" name="Line 26"/>
            <p:cNvSpPr/>
            <p:nvPr/>
          </p:nvSpPr>
          <p:spPr>
            <a:xfrm>
              <a:off x="3024" y="377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9" name="Group 27"/>
          <p:cNvGrpSpPr/>
          <p:nvPr/>
        </p:nvGrpSpPr>
        <p:grpSpPr>
          <a:xfrm>
            <a:off x="3581400" y="6378575"/>
            <a:ext cx="5486400" cy="0"/>
            <a:chOff x="1296" y="4018"/>
            <a:chExt cx="3456" cy="0"/>
          </a:xfrm>
        </p:grpSpPr>
        <p:sp>
          <p:nvSpPr>
            <p:cNvPr id="474163" name="Line 28"/>
            <p:cNvSpPr/>
            <p:nvPr/>
          </p:nvSpPr>
          <p:spPr>
            <a:xfrm>
              <a:off x="1296" y="4018"/>
              <a:ext cx="34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4164" name="Line 29"/>
            <p:cNvSpPr/>
            <p:nvPr/>
          </p:nvSpPr>
          <p:spPr>
            <a:xfrm rot="10800000">
              <a:off x="3216" y="401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18846" name="Freeform 30"/>
          <p:cNvSpPr/>
          <p:nvPr/>
        </p:nvSpPr>
        <p:spPr>
          <a:xfrm>
            <a:off x="3589338" y="6388100"/>
            <a:ext cx="1587" cy="298450"/>
          </a:xfrm>
          <a:custGeom>
            <a:avLst/>
            <a:gdLst>
              <a:gd name="txL" fmla="*/ 0 w 1"/>
              <a:gd name="txT" fmla="*/ 0 h 188"/>
              <a:gd name="txR" fmla="*/ 1 w 1"/>
              <a:gd name="txB" fmla="*/ 188 h 188"/>
            </a:gdLst>
            <a:ahLst/>
            <a:cxnLst>
              <a:cxn ang="0">
                <a:pos x="0" y="0"/>
              </a:cxn>
              <a:cxn ang="0">
                <a:pos x="0" y="188"/>
              </a:cxn>
            </a:cxnLst>
            <a:rect l="txL" t="txT" r="txR" b="txB"/>
            <a:pathLst>
              <a:path w="1" h="188">
                <a:moveTo>
                  <a:pt x="0" y="0"/>
                </a:moveTo>
                <a:lnTo>
                  <a:pt x="0" y="188"/>
                </a:ln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0" name="Group 31"/>
          <p:cNvGrpSpPr/>
          <p:nvPr/>
        </p:nvGrpSpPr>
        <p:grpSpPr>
          <a:xfrm>
            <a:off x="2117725" y="3640138"/>
            <a:ext cx="1296988" cy="398463"/>
            <a:chOff x="374" y="2293"/>
            <a:chExt cx="817" cy="251"/>
          </a:xfrm>
        </p:grpSpPr>
        <p:sp>
          <p:nvSpPr>
            <p:cNvPr id="474161" name="Line 32"/>
            <p:cNvSpPr/>
            <p:nvPr/>
          </p:nvSpPr>
          <p:spPr>
            <a:xfrm>
              <a:off x="903" y="240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74162" name="Text Box 33"/>
            <p:cNvSpPr txBox="1"/>
            <p:nvPr/>
          </p:nvSpPr>
          <p:spPr>
            <a:xfrm>
              <a:off x="374" y="2293"/>
              <a:ext cx="49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34"/>
          <p:cNvGrpSpPr/>
          <p:nvPr/>
        </p:nvGrpSpPr>
        <p:grpSpPr>
          <a:xfrm>
            <a:off x="2590800" y="5562600"/>
            <a:ext cx="2362200" cy="398463"/>
            <a:chOff x="672" y="3504"/>
            <a:chExt cx="1488" cy="251"/>
          </a:xfrm>
        </p:grpSpPr>
        <p:sp>
          <p:nvSpPr>
            <p:cNvPr id="474157" name="Line 35"/>
            <p:cNvSpPr/>
            <p:nvPr/>
          </p:nvSpPr>
          <p:spPr>
            <a:xfrm flipH="1">
              <a:off x="1296" y="3564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474158" name="Group 36"/>
            <p:cNvGrpSpPr/>
            <p:nvPr/>
          </p:nvGrpSpPr>
          <p:grpSpPr>
            <a:xfrm>
              <a:off x="672" y="3504"/>
              <a:ext cx="528" cy="251"/>
              <a:chOff x="672" y="3489"/>
              <a:chExt cx="528" cy="251"/>
            </a:xfrm>
          </p:grpSpPr>
          <p:sp>
            <p:nvSpPr>
              <p:cNvPr id="474159" name="Line 37"/>
              <p:cNvSpPr/>
              <p:nvPr/>
            </p:nvSpPr>
            <p:spPr>
              <a:xfrm>
                <a:off x="912" y="3564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74160" name="Text Box 38"/>
              <p:cNvSpPr txBox="1"/>
              <p:nvPr/>
            </p:nvSpPr>
            <p:spPr>
              <a:xfrm>
                <a:off x="672" y="3489"/>
                <a:ext cx="231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18855" name="Text Box 39"/>
          <p:cNvSpPr txBox="1"/>
          <p:nvPr/>
        </p:nvSpPr>
        <p:spPr>
          <a:xfrm>
            <a:off x="2166938" y="2955925"/>
            <a:ext cx="69088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中断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</a:rPr>
              <a:t>请求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8856" name="Text Box 40"/>
          <p:cNvSpPr txBox="1"/>
          <p:nvPr/>
        </p:nvSpPr>
        <p:spPr>
          <a:xfrm>
            <a:off x="3087688" y="2133600"/>
            <a:ext cx="944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主程序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8857" name="Text Box 41"/>
          <p:cNvSpPr txBox="1"/>
          <p:nvPr/>
        </p:nvSpPr>
        <p:spPr>
          <a:xfrm>
            <a:off x="2065338" y="1524000"/>
            <a:ext cx="81454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优先级别高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的中断源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有权中断优先级别低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的中断源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8858" name="Text Box 42"/>
          <p:cNvSpPr txBox="1"/>
          <p:nvPr/>
        </p:nvSpPr>
        <p:spPr>
          <a:xfrm>
            <a:off x="2065338" y="914400"/>
            <a:ext cx="41068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提前 </a:t>
            </a:r>
            <a:r>
              <a:rPr lang="zh-CN" altLang="en-US" sz="2400" b="1" dirty="0">
                <a:latin typeface="Times New Roman" panose="02020603050405020304" pitchFamily="18" charset="0"/>
              </a:rPr>
              <a:t>设置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开中断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3" name="Group 43"/>
          <p:cNvGrpSpPr/>
          <p:nvPr/>
        </p:nvGrpSpPr>
        <p:grpSpPr>
          <a:xfrm>
            <a:off x="4724400" y="2133600"/>
            <a:ext cx="4586288" cy="3883025"/>
            <a:chOff x="2016" y="1344"/>
            <a:chExt cx="2889" cy="2446"/>
          </a:xfrm>
        </p:grpSpPr>
        <p:sp>
          <p:nvSpPr>
            <p:cNvPr id="474146" name="Line 44"/>
            <p:cNvSpPr/>
            <p:nvPr/>
          </p:nvSpPr>
          <p:spPr>
            <a:xfrm>
              <a:off x="2160" y="2162"/>
              <a:ext cx="0" cy="16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74147" name="Line 45"/>
            <p:cNvSpPr/>
            <p:nvPr/>
          </p:nvSpPr>
          <p:spPr>
            <a:xfrm>
              <a:off x="3024" y="2162"/>
              <a:ext cx="0" cy="16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74148" name="Line 46"/>
            <p:cNvSpPr/>
            <p:nvPr/>
          </p:nvSpPr>
          <p:spPr>
            <a:xfrm>
              <a:off x="3888" y="2162"/>
              <a:ext cx="0" cy="16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74149" name="Line 47"/>
            <p:cNvSpPr/>
            <p:nvPr/>
          </p:nvSpPr>
          <p:spPr>
            <a:xfrm>
              <a:off x="4752" y="2162"/>
              <a:ext cx="0" cy="16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74150" name="Text Box 48"/>
            <p:cNvSpPr txBox="1"/>
            <p:nvPr/>
          </p:nvSpPr>
          <p:spPr>
            <a:xfrm>
              <a:off x="2024" y="1963"/>
              <a:ext cx="23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4151" name="Text Box 49"/>
            <p:cNvSpPr txBox="1"/>
            <p:nvPr/>
          </p:nvSpPr>
          <p:spPr>
            <a:xfrm>
              <a:off x="2928" y="1963"/>
              <a:ext cx="2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4152" name="Text Box 50"/>
            <p:cNvSpPr txBox="1"/>
            <p:nvPr/>
          </p:nvSpPr>
          <p:spPr>
            <a:xfrm>
              <a:off x="3782" y="1963"/>
              <a:ext cx="23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4153" name="Text Box 51"/>
            <p:cNvSpPr txBox="1"/>
            <p:nvPr/>
          </p:nvSpPr>
          <p:spPr>
            <a:xfrm>
              <a:off x="4616" y="1963"/>
              <a:ext cx="23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4154" name="AutoShape 52"/>
            <p:cNvSpPr/>
            <p:nvPr/>
          </p:nvSpPr>
          <p:spPr>
            <a:xfrm rot="5400000">
              <a:off x="3377" y="580"/>
              <a:ext cx="123" cy="2592"/>
            </a:xfrm>
            <a:prstGeom prst="leftBrace">
              <a:avLst>
                <a:gd name="adj1" fmla="val 173951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4155" name="Text Box 53"/>
            <p:cNvSpPr txBox="1"/>
            <p:nvPr/>
          </p:nvSpPr>
          <p:spPr>
            <a:xfrm>
              <a:off x="2902" y="1344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中断服务程序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4156" name="Text Box 54"/>
            <p:cNvSpPr txBox="1"/>
            <p:nvPr/>
          </p:nvSpPr>
          <p:spPr>
            <a:xfrm>
              <a:off x="2016" y="1584"/>
              <a:ext cx="288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（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、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、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D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优先级按 </a:t>
              </a: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降序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排列）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8871" name="Line 55"/>
          <p:cNvSpPr/>
          <p:nvPr/>
        </p:nvSpPr>
        <p:spPr>
          <a:xfrm>
            <a:off x="6324600" y="3824288"/>
            <a:ext cx="0" cy="3937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8872" name="Line 56"/>
          <p:cNvSpPr/>
          <p:nvPr/>
        </p:nvSpPr>
        <p:spPr>
          <a:xfrm>
            <a:off x="9067800" y="5265738"/>
            <a:ext cx="0" cy="392112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8873" name="Freeform 57"/>
          <p:cNvSpPr/>
          <p:nvPr/>
        </p:nvSpPr>
        <p:spPr>
          <a:xfrm>
            <a:off x="4953000" y="5657850"/>
            <a:ext cx="1588" cy="319088"/>
          </a:xfrm>
          <a:custGeom>
            <a:avLst/>
            <a:gdLst>
              <a:gd name="txL" fmla="*/ 0 w 1"/>
              <a:gd name="txT" fmla="*/ 0 h 201"/>
              <a:gd name="txR" fmla="*/ 1 w 1"/>
              <a:gd name="txB" fmla="*/ 201 h 201"/>
            </a:gdLst>
            <a:ahLst/>
            <a:cxnLst>
              <a:cxn ang="0">
                <a:pos x="0" y="0"/>
              </a:cxn>
              <a:cxn ang="0">
                <a:pos x="0" y="201"/>
              </a:cxn>
            </a:cxnLst>
            <a:rect l="txL" t="txT" r="txR" b="txB"/>
            <a:pathLst>
              <a:path w="1" h="201">
                <a:moveTo>
                  <a:pt x="0" y="0"/>
                </a:moveTo>
                <a:lnTo>
                  <a:pt x="0" y="201"/>
                </a:lnTo>
              </a:path>
            </a:pathLst>
          </a:custGeom>
          <a:noFill/>
          <a:ln w="57150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8874" name="Line 58"/>
          <p:cNvSpPr/>
          <p:nvPr/>
        </p:nvSpPr>
        <p:spPr>
          <a:xfrm>
            <a:off x="9067800" y="5984875"/>
            <a:ext cx="0" cy="3937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8875" name="Line 59"/>
          <p:cNvSpPr/>
          <p:nvPr/>
        </p:nvSpPr>
        <p:spPr>
          <a:xfrm>
            <a:off x="7696200" y="4724400"/>
            <a:ext cx="0" cy="24765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14" name="Group 60"/>
          <p:cNvGrpSpPr/>
          <p:nvPr/>
        </p:nvGrpSpPr>
        <p:grpSpPr>
          <a:xfrm>
            <a:off x="2590800" y="4556125"/>
            <a:ext cx="838200" cy="398463"/>
            <a:chOff x="672" y="2870"/>
            <a:chExt cx="528" cy="251"/>
          </a:xfrm>
        </p:grpSpPr>
        <p:sp>
          <p:nvSpPr>
            <p:cNvPr id="474144" name="Line 61"/>
            <p:cNvSpPr/>
            <p:nvPr/>
          </p:nvSpPr>
          <p:spPr>
            <a:xfrm>
              <a:off x="912" y="298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74145" name="Text Box 62"/>
            <p:cNvSpPr txBox="1"/>
            <p:nvPr/>
          </p:nvSpPr>
          <p:spPr>
            <a:xfrm>
              <a:off x="672" y="2870"/>
              <a:ext cx="23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8879" name="Freeform 63"/>
          <p:cNvSpPr/>
          <p:nvPr/>
        </p:nvSpPr>
        <p:spPr>
          <a:xfrm>
            <a:off x="7696200" y="4548188"/>
            <a:ext cx="1588" cy="176212"/>
          </a:xfrm>
          <a:custGeom>
            <a:avLst/>
            <a:gdLst>
              <a:gd name="txL" fmla="*/ 0 w 1"/>
              <a:gd name="txT" fmla="*/ 0 h 111"/>
              <a:gd name="txR" fmla="*/ 1 w 1"/>
              <a:gd name="txB" fmla="*/ 111 h 111"/>
            </a:gdLst>
            <a:ahLst/>
            <a:cxnLst>
              <a:cxn ang="0">
                <a:pos x="0" y="0"/>
              </a:cxn>
              <a:cxn ang="0">
                <a:pos x="1" y="111"/>
              </a:cxn>
            </a:cxnLst>
            <a:rect l="txL" t="txT" r="txR" b="txB"/>
            <a:pathLst>
              <a:path w="1" h="111">
                <a:moveTo>
                  <a:pt x="0" y="0"/>
                </a:moveTo>
                <a:lnTo>
                  <a:pt x="1" y="111"/>
                </a:lnTo>
              </a:path>
            </a:pathLst>
          </a:custGeom>
          <a:noFill/>
          <a:ln w="5715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8880" name="Rectangle 6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4142" name="AutoShape 6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4143" name="日期占位符 1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1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41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418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41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41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3" dur="500"/>
                                        <p:tgtEl>
                                          <p:spTgt spid="41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41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8" dur="500"/>
                                        <p:tgtEl>
                                          <p:spTgt spid="41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8" dur="500"/>
                                        <p:tgtEl>
                                          <p:spTgt spid="41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41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32" grpId="0" bldLvl="0" animBg="1"/>
      <p:bldP spid="418839" grpId="0" bldLvl="0" animBg="1"/>
      <p:bldP spid="418846" grpId="0" bldLvl="0" animBg="1"/>
      <p:bldP spid="418855" grpId="0"/>
      <p:bldP spid="418856" grpId="0"/>
      <p:bldP spid="418857" grpId="0"/>
      <p:bldP spid="418858" grpId="0"/>
      <p:bldP spid="418873" grpId="0" bldLvl="0" animBg="1"/>
      <p:bldP spid="418879" grpId="0" bldLvl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557463" y="3817938"/>
            <a:ext cx="685800" cy="400049"/>
            <a:chOff x="651" y="2405"/>
            <a:chExt cx="432" cy="252"/>
          </a:xfrm>
        </p:grpSpPr>
        <p:sp>
          <p:nvSpPr>
            <p:cNvPr id="475243" name="Text Box 3"/>
            <p:cNvSpPr txBox="1"/>
            <p:nvPr/>
          </p:nvSpPr>
          <p:spPr>
            <a:xfrm>
              <a:off x="689" y="2425"/>
              <a:ext cx="291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&amp;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44" name="Rectangle 4"/>
            <p:cNvSpPr/>
            <p:nvPr/>
          </p:nvSpPr>
          <p:spPr>
            <a:xfrm>
              <a:off x="651" y="2459"/>
              <a:ext cx="432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45" name="Oval 5"/>
            <p:cNvSpPr/>
            <p:nvPr/>
          </p:nvSpPr>
          <p:spPr>
            <a:xfrm>
              <a:off x="843" y="2405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75139" name="Rectangle 6"/>
          <p:cNvSpPr/>
          <p:nvPr/>
        </p:nvSpPr>
        <p:spPr>
          <a:xfrm>
            <a:off x="2030413" y="3302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屏蔽技术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19847" name="Rectangle 7"/>
          <p:cNvSpPr/>
          <p:nvPr/>
        </p:nvSpPr>
        <p:spPr>
          <a:xfrm>
            <a:off x="1992313" y="1066800"/>
            <a:ext cx="5399087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屏蔽触发器的作用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19848" name="Rectangle 8"/>
          <p:cNvSpPr/>
          <p:nvPr/>
        </p:nvSpPr>
        <p:spPr>
          <a:xfrm>
            <a:off x="2514600" y="5588000"/>
            <a:ext cx="34290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MASK = 0</a:t>
            </a:r>
            <a:r>
              <a:rPr lang="zh-CN" altLang="en-US" sz="2400" b="1" dirty="0">
                <a:latin typeface="Times New Roman" panose="02020603050405020304" pitchFamily="18" charset="0"/>
              </a:rPr>
              <a:t>（未屏蔽）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849" name="Rectangle 9"/>
          <p:cNvSpPr/>
          <p:nvPr/>
        </p:nvSpPr>
        <p:spPr>
          <a:xfrm>
            <a:off x="2514600" y="6096000"/>
            <a:ext cx="28797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INTR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能被置 “</a:t>
            </a:r>
            <a:r>
              <a:rPr lang="en-US" altLang="zh-CN" sz="2400" b="1" dirty="0">
                <a:latin typeface="Times New Roman" panose="02020603050405020304" pitchFamily="18" charset="0"/>
              </a:rPr>
              <a:t>1”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4984750" y="1776413"/>
            <a:ext cx="5072063" cy="2935288"/>
            <a:chOff x="2180" y="1119"/>
            <a:chExt cx="3195" cy="1849"/>
          </a:xfrm>
        </p:grpSpPr>
        <p:sp>
          <p:nvSpPr>
            <p:cNvPr id="475193" name="Freeform 11"/>
            <p:cNvSpPr/>
            <p:nvPr/>
          </p:nvSpPr>
          <p:spPr>
            <a:xfrm>
              <a:off x="4245" y="1772"/>
              <a:ext cx="1" cy="256"/>
            </a:xfrm>
            <a:custGeom>
              <a:avLst/>
              <a:gdLst>
                <a:gd name="txL" fmla="*/ 0 w 1"/>
                <a:gd name="txT" fmla="*/ 0 h 345"/>
                <a:gd name="txR" fmla="*/ 1 w 1"/>
                <a:gd name="txB" fmla="*/ 345 h 345"/>
              </a:gdLst>
              <a:ahLst/>
              <a:cxnLst>
                <a:cxn ang="0">
                  <a:pos x="0" y="0"/>
                </a:cxn>
                <a:cxn ang="0">
                  <a:pos x="0" y="345"/>
                </a:cxn>
              </a:cxnLst>
              <a:rect l="txL" t="txT" r="txR" b="tx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94" name="Rectangle 12"/>
            <p:cNvSpPr/>
            <p:nvPr/>
          </p:nvSpPr>
          <p:spPr>
            <a:xfrm>
              <a:off x="4082" y="2055"/>
              <a:ext cx="323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95" name="Freeform 13"/>
            <p:cNvSpPr/>
            <p:nvPr/>
          </p:nvSpPr>
          <p:spPr>
            <a:xfrm>
              <a:off x="3452" y="1772"/>
              <a:ext cx="1" cy="256"/>
            </a:xfrm>
            <a:custGeom>
              <a:avLst/>
              <a:gdLst>
                <a:gd name="txL" fmla="*/ 0 w 1"/>
                <a:gd name="txT" fmla="*/ 0 h 345"/>
                <a:gd name="txR" fmla="*/ 1 w 1"/>
                <a:gd name="txB" fmla="*/ 345 h 345"/>
              </a:gdLst>
              <a:ahLst/>
              <a:cxnLst>
                <a:cxn ang="0">
                  <a:pos x="0" y="0"/>
                </a:cxn>
                <a:cxn ang="0">
                  <a:pos x="0" y="345"/>
                </a:cxn>
              </a:cxnLst>
              <a:rect l="txL" t="txT" r="txR" b="tx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96" name="Rectangle 14"/>
            <p:cNvSpPr/>
            <p:nvPr/>
          </p:nvSpPr>
          <p:spPr>
            <a:xfrm>
              <a:off x="3289" y="2055"/>
              <a:ext cx="323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97" name="Rectangle 15"/>
            <p:cNvSpPr/>
            <p:nvPr/>
          </p:nvSpPr>
          <p:spPr>
            <a:xfrm>
              <a:off x="2510" y="2055"/>
              <a:ext cx="322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98" name="Freeform 16"/>
            <p:cNvSpPr/>
            <p:nvPr/>
          </p:nvSpPr>
          <p:spPr>
            <a:xfrm>
              <a:off x="2673" y="1772"/>
              <a:ext cx="1" cy="256"/>
            </a:xfrm>
            <a:custGeom>
              <a:avLst/>
              <a:gdLst>
                <a:gd name="txL" fmla="*/ 0 w 1"/>
                <a:gd name="txT" fmla="*/ 0 h 345"/>
                <a:gd name="txR" fmla="*/ 1 w 1"/>
                <a:gd name="txB" fmla="*/ 345 h 345"/>
              </a:gdLst>
              <a:ahLst/>
              <a:cxnLst>
                <a:cxn ang="0">
                  <a:pos x="0" y="0"/>
                </a:cxn>
                <a:cxn ang="0">
                  <a:pos x="0" y="345"/>
                </a:cxn>
              </a:cxnLst>
              <a:rect l="txL" t="txT" r="txR" b="tx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99" name="Text Box 17"/>
            <p:cNvSpPr txBox="1"/>
            <p:nvPr/>
          </p:nvSpPr>
          <p:spPr>
            <a:xfrm>
              <a:off x="2469" y="2040"/>
              <a:ext cx="33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&amp;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00" name="Text Box 18"/>
            <p:cNvSpPr txBox="1"/>
            <p:nvPr/>
          </p:nvSpPr>
          <p:spPr>
            <a:xfrm>
              <a:off x="3249" y="2023"/>
              <a:ext cx="32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&amp;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01" name="Text Box 19"/>
            <p:cNvSpPr txBox="1"/>
            <p:nvPr/>
          </p:nvSpPr>
          <p:spPr>
            <a:xfrm>
              <a:off x="4035" y="2004"/>
              <a:ext cx="3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&amp;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02" name="Freeform 20"/>
            <p:cNvSpPr/>
            <p:nvPr/>
          </p:nvSpPr>
          <p:spPr>
            <a:xfrm>
              <a:off x="5052" y="1772"/>
              <a:ext cx="1" cy="256"/>
            </a:xfrm>
            <a:custGeom>
              <a:avLst/>
              <a:gdLst>
                <a:gd name="txL" fmla="*/ 0 w 1"/>
                <a:gd name="txT" fmla="*/ 0 h 345"/>
                <a:gd name="txR" fmla="*/ 1 w 1"/>
                <a:gd name="txB" fmla="*/ 345 h 345"/>
              </a:gdLst>
              <a:ahLst/>
              <a:cxnLst>
                <a:cxn ang="0">
                  <a:pos x="0" y="0"/>
                </a:cxn>
                <a:cxn ang="0">
                  <a:pos x="0" y="345"/>
                </a:cxn>
              </a:cxnLst>
              <a:rect l="txL" t="txT" r="txR" b="tx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03" name="Rectangle 21"/>
            <p:cNvSpPr/>
            <p:nvPr/>
          </p:nvSpPr>
          <p:spPr>
            <a:xfrm>
              <a:off x="4889" y="2055"/>
              <a:ext cx="322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04" name="Text Box 22"/>
            <p:cNvSpPr txBox="1"/>
            <p:nvPr/>
          </p:nvSpPr>
          <p:spPr>
            <a:xfrm>
              <a:off x="4848" y="2023"/>
              <a:ext cx="32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&amp;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05" name="Oval 23"/>
            <p:cNvSpPr/>
            <p:nvPr/>
          </p:nvSpPr>
          <p:spPr>
            <a:xfrm>
              <a:off x="2650" y="2017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06" name="Rectangle 24"/>
            <p:cNvSpPr/>
            <p:nvPr/>
          </p:nvSpPr>
          <p:spPr>
            <a:xfrm>
              <a:off x="2510" y="1597"/>
              <a:ext cx="322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07" name="Text Box 25"/>
            <p:cNvSpPr txBox="1"/>
            <p:nvPr/>
          </p:nvSpPr>
          <p:spPr>
            <a:xfrm>
              <a:off x="2469" y="1555"/>
              <a:ext cx="2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08" name="Oval 26"/>
            <p:cNvSpPr/>
            <p:nvPr/>
          </p:nvSpPr>
          <p:spPr>
            <a:xfrm>
              <a:off x="2650" y="1562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09" name="Freeform 27"/>
            <p:cNvSpPr/>
            <p:nvPr/>
          </p:nvSpPr>
          <p:spPr>
            <a:xfrm>
              <a:off x="2670" y="1344"/>
              <a:ext cx="3" cy="218"/>
            </a:xfrm>
            <a:custGeom>
              <a:avLst/>
              <a:gdLst>
                <a:gd name="txL" fmla="*/ 0 w 3"/>
                <a:gd name="txT" fmla="*/ 0 h 294"/>
                <a:gd name="txR" fmla="*/ 3 w 3"/>
                <a:gd name="txB" fmla="*/ 294 h 294"/>
              </a:gdLst>
              <a:ahLst/>
              <a:cxnLst>
                <a:cxn ang="0">
                  <a:pos x="0" y="294"/>
                </a:cxn>
                <a:cxn ang="0">
                  <a:pos x="3" y="0"/>
                </a:cxn>
              </a:cxnLst>
              <a:rect l="txL" t="txT" r="txR" b="tx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10" name="Line 28"/>
            <p:cNvSpPr/>
            <p:nvPr/>
          </p:nvSpPr>
          <p:spPr>
            <a:xfrm>
              <a:off x="2590" y="2234"/>
              <a:ext cx="0" cy="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211" name="Oval 29"/>
            <p:cNvSpPr/>
            <p:nvPr/>
          </p:nvSpPr>
          <p:spPr>
            <a:xfrm>
              <a:off x="3430" y="2017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12" name="Rectangle 30"/>
            <p:cNvSpPr/>
            <p:nvPr/>
          </p:nvSpPr>
          <p:spPr>
            <a:xfrm>
              <a:off x="3289" y="1597"/>
              <a:ext cx="323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13" name="Text Box 31"/>
            <p:cNvSpPr txBox="1"/>
            <p:nvPr/>
          </p:nvSpPr>
          <p:spPr>
            <a:xfrm>
              <a:off x="3249" y="1555"/>
              <a:ext cx="2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14" name="Oval 32"/>
            <p:cNvSpPr/>
            <p:nvPr/>
          </p:nvSpPr>
          <p:spPr>
            <a:xfrm>
              <a:off x="3430" y="1562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15" name="Freeform 33"/>
            <p:cNvSpPr/>
            <p:nvPr/>
          </p:nvSpPr>
          <p:spPr>
            <a:xfrm>
              <a:off x="3450" y="1344"/>
              <a:ext cx="2" cy="218"/>
            </a:xfrm>
            <a:custGeom>
              <a:avLst/>
              <a:gdLst>
                <a:gd name="txL" fmla="*/ 0 w 3"/>
                <a:gd name="txT" fmla="*/ 0 h 294"/>
                <a:gd name="txR" fmla="*/ 3 w 3"/>
                <a:gd name="txB" fmla="*/ 294 h 294"/>
              </a:gdLst>
              <a:ahLst/>
              <a:cxnLst>
                <a:cxn ang="0">
                  <a:pos x="0" y="294"/>
                </a:cxn>
                <a:cxn ang="0">
                  <a:pos x="3" y="0"/>
                </a:cxn>
              </a:cxnLst>
              <a:rect l="txL" t="txT" r="txR" b="tx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16" name="Oval 34"/>
            <p:cNvSpPr/>
            <p:nvPr/>
          </p:nvSpPr>
          <p:spPr>
            <a:xfrm>
              <a:off x="4223" y="2017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17" name="Rectangle 35"/>
            <p:cNvSpPr/>
            <p:nvPr/>
          </p:nvSpPr>
          <p:spPr>
            <a:xfrm>
              <a:off x="4082" y="1597"/>
              <a:ext cx="323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18" name="Text Box 36"/>
            <p:cNvSpPr txBox="1"/>
            <p:nvPr/>
          </p:nvSpPr>
          <p:spPr>
            <a:xfrm>
              <a:off x="4042" y="1555"/>
              <a:ext cx="2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19" name="Oval 37"/>
            <p:cNvSpPr/>
            <p:nvPr/>
          </p:nvSpPr>
          <p:spPr>
            <a:xfrm>
              <a:off x="4223" y="1562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0" name="Freeform 38"/>
            <p:cNvSpPr/>
            <p:nvPr/>
          </p:nvSpPr>
          <p:spPr>
            <a:xfrm>
              <a:off x="4243" y="1344"/>
              <a:ext cx="2" cy="218"/>
            </a:xfrm>
            <a:custGeom>
              <a:avLst/>
              <a:gdLst>
                <a:gd name="txL" fmla="*/ 0 w 3"/>
                <a:gd name="txT" fmla="*/ 0 h 294"/>
                <a:gd name="txR" fmla="*/ 3 w 3"/>
                <a:gd name="txB" fmla="*/ 294 h 294"/>
              </a:gdLst>
              <a:ahLst/>
              <a:cxnLst>
                <a:cxn ang="0">
                  <a:pos x="0" y="294"/>
                </a:cxn>
                <a:cxn ang="0">
                  <a:pos x="3" y="0"/>
                </a:cxn>
              </a:cxnLst>
              <a:rect l="txL" t="txT" r="txR" b="tx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1" name="Oval 39"/>
            <p:cNvSpPr/>
            <p:nvPr/>
          </p:nvSpPr>
          <p:spPr>
            <a:xfrm>
              <a:off x="5029" y="2017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2" name="Rectangle 40"/>
            <p:cNvSpPr/>
            <p:nvPr/>
          </p:nvSpPr>
          <p:spPr>
            <a:xfrm>
              <a:off x="4889" y="1597"/>
              <a:ext cx="322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3" name="Text Box 41"/>
            <p:cNvSpPr txBox="1"/>
            <p:nvPr/>
          </p:nvSpPr>
          <p:spPr>
            <a:xfrm>
              <a:off x="4848" y="1555"/>
              <a:ext cx="2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224" name="Oval 42"/>
            <p:cNvSpPr/>
            <p:nvPr/>
          </p:nvSpPr>
          <p:spPr>
            <a:xfrm>
              <a:off x="5029" y="1562"/>
              <a:ext cx="40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5" name="Freeform 43"/>
            <p:cNvSpPr/>
            <p:nvPr/>
          </p:nvSpPr>
          <p:spPr>
            <a:xfrm>
              <a:off x="5049" y="1344"/>
              <a:ext cx="3" cy="218"/>
            </a:xfrm>
            <a:custGeom>
              <a:avLst/>
              <a:gdLst>
                <a:gd name="txL" fmla="*/ 0 w 3"/>
                <a:gd name="txT" fmla="*/ 0 h 294"/>
                <a:gd name="txR" fmla="*/ 3 w 3"/>
                <a:gd name="txB" fmla="*/ 294 h 294"/>
              </a:gdLst>
              <a:ahLst/>
              <a:cxnLst>
                <a:cxn ang="0">
                  <a:pos x="0" y="294"/>
                </a:cxn>
                <a:cxn ang="0">
                  <a:pos x="3" y="0"/>
                </a:cxn>
              </a:cxnLst>
              <a:rect l="txL" t="txT" r="txR" b="tx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6" name="Freeform 44"/>
            <p:cNvSpPr/>
            <p:nvPr/>
          </p:nvSpPr>
          <p:spPr>
            <a:xfrm>
              <a:off x="2671" y="1920"/>
              <a:ext cx="2249" cy="480"/>
            </a:xfrm>
            <a:custGeom>
              <a:avLst/>
              <a:gdLst>
                <a:gd name="txL" fmla="*/ 0 w 2249"/>
                <a:gd name="txT" fmla="*/ 0 h 480"/>
                <a:gd name="txR" fmla="*/ 2249 w 2249"/>
                <a:gd name="txB" fmla="*/ 480 h 480"/>
              </a:gdLst>
              <a:ahLst/>
              <a:cxnLst>
                <a:cxn ang="0">
                  <a:pos x="0" y="0"/>
                </a:cxn>
                <a:cxn ang="0">
                  <a:pos x="370" y="0"/>
                </a:cxn>
                <a:cxn ang="0">
                  <a:pos x="370" y="480"/>
                </a:cxn>
                <a:cxn ang="0">
                  <a:pos x="2249" y="474"/>
                </a:cxn>
                <a:cxn ang="0">
                  <a:pos x="2249" y="312"/>
                </a:cxn>
              </a:cxnLst>
              <a:rect l="txL" t="txT" r="txR" b="txB"/>
              <a:pathLst>
                <a:path w="2249" h="480">
                  <a:moveTo>
                    <a:pt x="0" y="0"/>
                  </a:moveTo>
                  <a:lnTo>
                    <a:pt x="370" y="0"/>
                  </a:lnTo>
                  <a:lnTo>
                    <a:pt x="370" y="480"/>
                  </a:lnTo>
                  <a:lnTo>
                    <a:pt x="2249" y="474"/>
                  </a:lnTo>
                  <a:lnTo>
                    <a:pt x="2249" y="31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7" name="Freeform 45"/>
            <p:cNvSpPr/>
            <p:nvPr/>
          </p:nvSpPr>
          <p:spPr>
            <a:xfrm>
              <a:off x="3357" y="2229"/>
              <a:ext cx="1" cy="171"/>
            </a:xfrm>
            <a:custGeom>
              <a:avLst/>
              <a:gdLst>
                <a:gd name="txL" fmla="*/ 0 w 2"/>
                <a:gd name="txT" fmla="*/ 0 h 171"/>
                <a:gd name="txR" fmla="*/ 2 w 2"/>
                <a:gd name="txB" fmla="*/ 171 h 171"/>
              </a:gdLst>
              <a:ahLst/>
              <a:cxnLst>
                <a:cxn ang="0">
                  <a:pos x="2" y="0"/>
                </a:cxn>
                <a:cxn ang="0">
                  <a:pos x="0" y="171"/>
                </a:cxn>
              </a:cxnLst>
              <a:rect l="txL" t="txT" r="txR" b="tx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8" name="Freeform 46"/>
            <p:cNvSpPr/>
            <p:nvPr/>
          </p:nvSpPr>
          <p:spPr>
            <a:xfrm>
              <a:off x="4121" y="2229"/>
              <a:ext cx="2" cy="171"/>
            </a:xfrm>
            <a:custGeom>
              <a:avLst/>
              <a:gdLst>
                <a:gd name="txL" fmla="*/ 0 w 2"/>
                <a:gd name="txT" fmla="*/ 0 h 171"/>
                <a:gd name="txR" fmla="*/ 2 w 2"/>
                <a:gd name="txB" fmla="*/ 171 h 171"/>
              </a:gdLst>
              <a:ahLst/>
              <a:cxnLst>
                <a:cxn ang="0">
                  <a:pos x="2" y="0"/>
                </a:cxn>
                <a:cxn ang="0">
                  <a:pos x="0" y="171"/>
                </a:cxn>
              </a:cxnLst>
              <a:rect l="txL" t="txT" r="txR" b="tx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29" name="Freeform 47"/>
            <p:cNvSpPr/>
            <p:nvPr/>
          </p:nvSpPr>
          <p:spPr>
            <a:xfrm>
              <a:off x="3450" y="1920"/>
              <a:ext cx="1530" cy="624"/>
            </a:xfrm>
            <a:custGeom>
              <a:avLst/>
              <a:gdLst>
                <a:gd name="txL" fmla="*/ 0 w 1821"/>
                <a:gd name="txT" fmla="*/ 0 h 624"/>
                <a:gd name="txR" fmla="*/ 1821 w 1821"/>
                <a:gd name="txB" fmla="*/ 624 h 624"/>
              </a:gdLst>
              <a:ahLst/>
              <a:cxnLst>
                <a:cxn ang="0">
                  <a:pos x="0" y="0"/>
                </a:cxn>
                <a:cxn ang="0">
                  <a:pos x="417" y="0"/>
                </a:cxn>
                <a:cxn ang="0">
                  <a:pos x="417" y="624"/>
                </a:cxn>
                <a:cxn ang="0">
                  <a:pos x="1821" y="624"/>
                </a:cxn>
                <a:cxn ang="0">
                  <a:pos x="1821" y="315"/>
                </a:cxn>
              </a:cxnLst>
              <a:rect l="txL" t="txT" r="txR" b="txB"/>
              <a:pathLst>
                <a:path w="1821" h="624">
                  <a:moveTo>
                    <a:pt x="0" y="0"/>
                  </a:moveTo>
                  <a:lnTo>
                    <a:pt x="417" y="0"/>
                  </a:lnTo>
                  <a:lnTo>
                    <a:pt x="417" y="624"/>
                  </a:lnTo>
                  <a:lnTo>
                    <a:pt x="1821" y="624"/>
                  </a:lnTo>
                  <a:lnTo>
                    <a:pt x="1821" y="31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30" name="Freeform 48"/>
            <p:cNvSpPr/>
            <p:nvPr/>
          </p:nvSpPr>
          <p:spPr>
            <a:xfrm>
              <a:off x="4244" y="1920"/>
              <a:ext cx="799" cy="720"/>
            </a:xfrm>
            <a:custGeom>
              <a:avLst/>
              <a:gdLst>
                <a:gd name="txL" fmla="*/ 0 w 799"/>
                <a:gd name="txT" fmla="*/ 0 h 720"/>
                <a:gd name="txR" fmla="*/ 799 w 799"/>
                <a:gd name="txB" fmla="*/ 720 h 720"/>
              </a:gdLst>
              <a:ahLst/>
              <a:cxnLst>
                <a:cxn ang="0">
                  <a:pos x="0" y="0"/>
                </a:cxn>
                <a:cxn ang="0">
                  <a:pos x="403" y="0"/>
                </a:cxn>
                <a:cxn ang="0">
                  <a:pos x="403" y="720"/>
                </a:cxn>
                <a:cxn ang="0">
                  <a:pos x="799" y="720"/>
                </a:cxn>
                <a:cxn ang="0">
                  <a:pos x="799" y="315"/>
                </a:cxn>
              </a:cxnLst>
              <a:rect l="txL" t="txT" r="txR" b="txB"/>
              <a:pathLst>
                <a:path w="799" h="720">
                  <a:moveTo>
                    <a:pt x="0" y="0"/>
                  </a:moveTo>
                  <a:lnTo>
                    <a:pt x="403" y="0"/>
                  </a:lnTo>
                  <a:lnTo>
                    <a:pt x="403" y="720"/>
                  </a:lnTo>
                  <a:lnTo>
                    <a:pt x="799" y="720"/>
                  </a:lnTo>
                  <a:lnTo>
                    <a:pt x="799" y="31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31" name="Freeform 49"/>
            <p:cNvSpPr/>
            <p:nvPr/>
          </p:nvSpPr>
          <p:spPr>
            <a:xfrm>
              <a:off x="4202" y="2232"/>
              <a:ext cx="1" cy="312"/>
            </a:xfrm>
            <a:custGeom>
              <a:avLst/>
              <a:gdLst>
                <a:gd name="txL" fmla="*/ 0 w 2"/>
                <a:gd name="txT" fmla="*/ 0 h 312"/>
                <a:gd name="txR" fmla="*/ 2 w 2"/>
                <a:gd name="txB" fmla="*/ 312 h 312"/>
              </a:gdLst>
              <a:ahLst/>
              <a:cxnLst>
                <a:cxn ang="0">
                  <a:pos x="2" y="0"/>
                </a:cxn>
                <a:cxn ang="0">
                  <a:pos x="0" y="312"/>
                </a:cxn>
              </a:cxnLst>
              <a:rect l="txL" t="txT" r="txR" b="txB"/>
              <a:pathLst>
                <a:path w="2" h="312">
                  <a:moveTo>
                    <a:pt x="2" y="0"/>
                  </a:moveTo>
                  <a:lnTo>
                    <a:pt x="0" y="31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32" name="Freeform 50"/>
            <p:cNvSpPr/>
            <p:nvPr/>
          </p:nvSpPr>
          <p:spPr>
            <a:xfrm>
              <a:off x="3435" y="2238"/>
              <a:ext cx="3" cy="562"/>
            </a:xfrm>
            <a:custGeom>
              <a:avLst/>
              <a:gdLst>
                <a:gd name="txL" fmla="*/ 0 w 3"/>
                <a:gd name="txT" fmla="*/ 0 h 562"/>
                <a:gd name="txR" fmla="*/ 3 w 3"/>
                <a:gd name="txB" fmla="*/ 562 h 562"/>
              </a:gdLst>
              <a:ahLst/>
              <a:cxnLst>
                <a:cxn ang="0">
                  <a:pos x="0" y="0"/>
                </a:cxn>
                <a:cxn ang="0">
                  <a:pos x="3" y="562"/>
                </a:cxn>
              </a:cxnLst>
              <a:rect l="txL" t="txT" r="txR" b="txB"/>
              <a:pathLst>
                <a:path w="3" h="562">
                  <a:moveTo>
                    <a:pt x="0" y="0"/>
                  </a:moveTo>
                  <a:lnTo>
                    <a:pt x="3" y="56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233" name="Line 51"/>
            <p:cNvSpPr/>
            <p:nvPr/>
          </p:nvSpPr>
          <p:spPr>
            <a:xfrm>
              <a:off x="4284" y="2242"/>
              <a:ext cx="0" cy="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234" name="Line 52"/>
            <p:cNvSpPr/>
            <p:nvPr/>
          </p:nvSpPr>
          <p:spPr>
            <a:xfrm>
              <a:off x="5109" y="2242"/>
              <a:ext cx="0" cy="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235" name="Text Box 53"/>
            <p:cNvSpPr txBox="1"/>
            <p:nvPr/>
          </p:nvSpPr>
          <p:spPr>
            <a:xfrm>
              <a:off x="2429" y="1128"/>
              <a:ext cx="50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5236" name="Text Box 54"/>
            <p:cNvSpPr txBox="1"/>
            <p:nvPr/>
          </p:nvSpPr>
          <p:spPr>
            <a:xfrm>
              <a:off x="3236" y="1119"/>
              <a:ext cx="50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5237" name="Text Box 55"/>
            <p:cNvSpPr txBox="1"/>
            <p:nvPr/>
          </p:nvSpPr>
          <p:spPr>
            <a:xfrm>
              <a:off x="4042" y="1119"/>
              <a:ext cx="50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5238" name="Text Box 56"/>
            <p:cNvSpPr txBox="1"/>
            <p:nvPr/>
          </p:nvSpPr>
          <p:spPr>
            <a:xfrm>
              <a:off x="4869" y="1119"/>
              <a:ext cx="50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5239" name="Text Box 57"/>
            <p:cNvSpPr txBox="1"/>
            <p:nvPr/>
          </p:nvSpPr>
          <p:spPr>
            <a:xfrm>
              <a:off x="2180" y="2736"/>
              <a:ext cx="52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INTR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5240" name="Text Box 58"/>
            <p:cNvSpPr txBox="1"/>
            <p:nvPr/>
          </p:nvSpPr>
          <p:spPr>
            <a:xfrm>
              <a:off x="2996" y="2736"/>
              <a:ext cx="52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INTR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5241" name="Text Box 59"/>
            <p:cNvSpPr txBox="1"/>
            <p:nvPr/>
          </p:nvSpPr>
          <p:spPr>
            <a:xfrm>
              <a:off x="3860" y="2736"/>
              <a:ext cx="52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INTR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75242" name="Text Box 60"/>
            <p:cNvSpPr txBox="1"/>
            <p:nvPr/>
          </p:nvSpPr>
          <p:spPr>
            <a:xfrm>
              <a:off x="4676" y="2736"/>
              <a:ext cx="52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INTR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61"/>
          <p:cNvGrpSpPr/>
          <p:nvPr/>
        </p:nvGrpSpPr>
        <p:grpSpPr>
          <a:xfrm>
            <a:off x="5638800" y="3546475"/>
            <a:ext cx="4949825" cy="1789113"/>
            <a:chOff x="2592" y="2234"/>
            <a:chExt cx="3118" cy="1127"/>
          </a:xfrm>
        </p:grpSpPr>
        <p:sp>
          <p:nvSpPr>
            <p:cNvPr id="475181" name="Line 62"/>
            <p:cNvSpPr/>
            <p:nvPr/>
          </p:nvSpPr>
          <p:spPr>
            <a:xfrm>
              <a:off x="3518" y="2234"/>
              <a:ext cx="0" cy="86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182" name="Freeform 63"/>
            <p:cNvSpPr/>
            <p:nvPr/>
          </p:nvSpPr>
          <p:spPr>
            <a:xfrm>
              <a:off x="4365" y="2234"/>
              <a:ext cx="0" cy="861"/>
            </a:xfrm>
            <a:custGeom>
              <a:avLst/>
              <a:gdLst>
                <a:gd name="txL" fmla="*/ 0 w 1"/>
                <a:gd name="txT" fmla="*/ 0 h 499"/>
                <a:gd name="txR" fmla="*/ 0 w 1"/>
                <a:gd name="txB" fmla="*/ 499 h 499"/>
              </a:gdLst>
              <a:ahLst/>
              <a:cxnLst>
                <a:cxn ang="0">
                  <a:pos x="0" y="0"/>
                </a:cxn>
                <a:cxn ang="0">
                  <a:pos x="0" y="499"/>
                </a:cxn>
              </a:cxnLst>
              <a:rect l="txL" t="txT" r="txR" b="txB"/>
              <a:pathLst>
                <a:path w="1" h="499">
                  <a:moveTo>
                    <a:pt x="0" y="0"/>
                  </a:moveTo>
                  <a:lnTo>
                    <a:pt x="0" y="499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83" name="Freeform 64"/>
            <p:cNvSpPr/>
            <p:nvPr/>
          </p:nvSpPr>
          <p:spPr>
            <a:xfrm>
              <a:off x="5169" y="2234"/>
              <a:ext cx="2" cy="861"/>
            </a:xfrm>
            <a:custGeom>
              <a:avLst/>
              <a:gdLst>
                <a:gd name="txL" fmla="*/ 0 w 3"/>
                <a:gd name="txT" fmla="*/ 0 h 499"/>
                <a:gd name="txR" fmla="*/ 3 w 3"/>
                <a:gd name="txB" fmla="*/ 499 h 499"/>
              </a:gdLst>
              <a:ahLst/>
              <a:cxnLst>
                <a:cxn ang="0">
                  <a:pos x="3" y="0"/>
                </a:cxn>
                <a:cxn ang="0">
                  <a:pos x="0" y="499"/>
                </a:cxn>
              </a:cxnLst>
              <a:rect l="txL" t="txT" r="txR" b="txB"/>
              <a:pathLst>
                <a:path w="3" h="499">
                  <a:moveTo>
                    <a:pt x="3" y="0"/>
                  </a:moveTo>
                  <a:lnTo>
                    <a:pt x="0" y="499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84" name="Line 65"/>
            <p:cNvSpPr/>
            <p:nvPr/>
          </p:nvSpPr>
          <p:spPr>
            <a:xfrm>
              <a:off x="2752" y="2242"/>
              <a:ext cx="0" cy="86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185" name="Text Box 66"/>
            <p:cNvSpPr txBox="1"/>
            <p:nvPr/>
          </p:nvSpPr>
          <p:spPr>
            <a:xfrm>
              <a:off x="2592" y="3129"/>
              <a:ext cx="59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5186" name="Line 67"/>
            <p:cNvSpPr/>
            <p:nvPr/>
          </p:nvSpPr>
          <p:spPr>
            <a:xfrm>
              <a:off x="2619" y="3153"/>
              <a:ext cx="453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187" name="Text Box 68"/>
            <p:cNvSpPr txBox="1"/>
            <p:nvPr/>
          </p:nvSpPr>
          <p:spPr>
            <a:xfrm>
              <a:off x="3423" y="3120"/>
              <a:ext cx="59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5188" name="Line 69"/>
            <p:cNvSpPr/>
            <p:nvPr/>
          </p:nvSpPr>
          <p:spPr>
            <a:xfrm>
              <a:off x="3449" y="3144"/>
              <a:ext cx="453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189" name="Text Box 70"/>
            <p:cNvSpPr txBox="1"/>
            <p:nvPr/>
          </p:nvSpPr>
          <p:spPr>
            <a:xfrm>
              <a:off x="4245" y="3120"/>
              <a:ext cx="59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5190" name="Line 71"/>
            <p:cNvSpPr/>
            <p:nvPr/>
          </p:nvSpPr>
          <p:spPr>
            <a:xfrm>
              <a:off x="4272" y="3144"/>
              <a:ext cx="453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5191" name="Text Box 72"/>
            <p:cNvSpPr txBox="1"/>
            <p:nvPr/>
          </p:nvSpPr>
          <p:spPr>
            <a:xfrm>
              <a:off x="5116" y="3120"/>
              <a:ext cx="59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5192" name="Line 73"/>
            <p:cNvSpPr/>
            <p:nvPr/>
          </p:nvSpPr>
          <p:spPr>
            <a:xfrm>
              <a:off x="5142" y="3144"/>
              <a:ext cx="453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74"/>
          <p:cNvGrpSpPr/>
          <p:nvPr/>
        </p:nvGrpSpPr>
        <p:grpSpPr>
          <a:xfrm>
            <a:off x="2557463" y="4572000"/>
            <a:ext cx="1008062" cy="565150"/>
            <a:chOff x="1488" y="3504"/>
            <a:chExt cx="635" cy="356"/>
          </a:xfrm>
        </p:grpSpPr>
        <p:sp>
          <p:nvSpPr>
            <p:cNvPr id="475178" name="Rectangle 75"/>
            <p:cNvSpPr/>
            <p:nvPr/>
          </p:nvSpPr>
          <p:spPr>
            <a:xfrm>
              <a:off x="1488" y="3520"/>
              <a:ext cx="635" cy="3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79" name="Text Box 76"/>
            <p:cNvSpPr txBox="1"/>
            <p:nvPr/>
          </p:nvSpPr>
          <p:spPr>
            <a:xfrm>
              <a:off x="1738" y="3620"/>
              <a:ext cx="219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180" name="Text Box 77"/>
            <p:cNvSpPr txBox="1"/>
            <p:nvPr/>
          </p:nvSpPr>
          <p:spPr>
            <a:xfrm>
              <a:off x="1512" y="3504"/>
              <a:ext cx="215" cy="21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Q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9918" name="Freeform 78"/>
          <p:cNvSpPr/>
          <p:nvPr/>
        </p:nvSpPr>
        <p:spPr>
          <a:xfrm>
            <a:off x="2784475" y="4191000"/>
            <a:ext cx="1588" cy="409575"/>
          </a:xfrm>
          <a:custGeom>
            <a:avLst/>
            <a:gdLst>
              <a:gd name="txL" fmla="*/ 0 w 1"/>
              <a:gd name="txT" fmla="*/ 0 h 258"/>
              <a:gd name="txR" fmla="*/ 1 w 1"/>
              <a:gd name="txB" fmla="*/ 258 h 258"/>
            </a:gdLst>
            <a:ahLst/>
            <a:cxnLst>
              <a:cxn ang="0">
                <a:pos x="0" y="0"/>
              </a:cxn>
              <a:cxn ang="0">
                <a:pos x="1" y="258"/>
              </a:cxn>
            </a:cxnLst>
            <a:rect l="txL" t="txT" r="txR" b="txB"/>
            <a:pathLst>
              <a:path w="1" h="258">
                <a:moveTo>
                  <a:pt x="0" y="0"/>
                </a:moveTo>
                <a:lnTo>
                  <a:pt x="1" y="25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6" name="Group 79"/>
          <p:cNvGrpSpPr/>
          <p:nvPr/>
        </p:nvGrpSpPr>
        <p:grpSpPr>
          <a:xfrm>
            <a:off x="2557463" y="3200400"/>
            <a:ext cx="685800" cy="398463"/>
            <a:chOff x="651" y="2016"/>
            <a:chExt cx="432" cy="251"/>
          </a:xfrm>
        </p:grpSpPr>
        <p:sp>
          <p:nvSpPr>
            <p:cNvPr id="475175" name="Text Box 80"/>
            <p:cNvSpPr txBox="1"/>
            <p:nvPr/>
          </p:nvSpPr>
          <p:spPr>
            <a:xfrm>
              <a:off x="695" y="2035"/>
              <a:ext cx="259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 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176" name="Rectangle 81"/>
            <p:cNvSpPr/>
            <p:nvPr/>
          </p:nvSpPr>
          <p:spPr>
            <a:xfrm>
              <a:off x="651" y="2068"/>
              <a:ext cx="432" cy="17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77" name="Oval 82"/>
            <p:cNvSpPr/>
            <p:nvPr/>
          </p:nvSpPr>
          <p:spPr>
            <a:xfrm>
              <a:off x="843" y="2016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9923" name="Freeform 83"/>
          <p:cNvSpPr/>
          <p:nvPr/>
        </p:nvSpPr>
        <p:spPr>
          <a:xfrm>
            <a:off x="2901950" y="2890838"/>
            <a:ext cx="1588" cy="333375"/>
          </a:xfrm>
          <a:custGeom>
            <a:avLst/>
            <a:gdLst>
              <a:gd name="txL" fmla="*/ 0 w 1"/>
              <a:gd name="txT" fmla="*/ 0 h 210"/>
              <a:gd name="txR" fmla="*/ 1 w 1"/>
              <a:gd name="txB" fmla="*/ 210 h 210"/>
            </a:gdLst>
            <a:ahLst/>
            <a:cxnLst>
              <a:cxn ang="0">
                <a:pos x="0" y="0"/>
              </a:cxn>
              <a:cxn ang="0">
                <a:pos x="0" y="210"/>
              </a:cxn>
            </a:cxnLst>
            <a:rect l="txL" t="txT" r="txR" b="txB"/>
            <a:pathLst>
              <a:path w="1" h="210">
                <a:moveTo>
                  <a:pt x="0" y="0"/>
                </a:moveTo>
                <a:lnTo>
                  <a:pt x="0" y="21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24" name="Freeform 84"/>
          <p:cNvSpPr/>
          <p:nvPr/>
        </p:nvSpPr>
        <p:spPr>
          <a:xfrm>
            <a:off x="2901950" y="3562350"/>
            <a:ext cx="1588" cy="266700"/>
          </a:xfrm>
          <a:custGeom>
            <a:avLst/>
            <a:gdLst>
              <a:gd name="txL" fmla="*/ 0 w 1"/>
              <a:gd name="txT" fmla="*/ 0 h 168"/>
              <a:gd name="txR" fmla="*/ 1 w 1"/>
              <a:gd name="txB" fmla="*/ 168 h 168"/>
            </a:gdLst>
            <a:ahLst/>
            <a:cxnLst>
              <a:cxn ang="0">
                <a:pos x="0" y="0"/>
              </a:cxn>
              <a:cxn ang="0">
                <a:pos x="0" y="168"/>
              </a:cxn>
            </a:cxnLst>
            <a:rect l="txL" t="txT" r="txR" b="txB"/>
            <a:pathLst>
              <a:path w="1" h="168">
                <a:moveTo>
                  <a:pt x="0" y="0"/>
                </a:moveTo>
                <a:lnTo>
                  <a:pt x="0" y="16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25" name="Freeform 85"/>
          <p:cNvSpPr/>
          <p:nvPr/>
        </p:nvSpPr>
        <p:spPr>
          <a:xfrm>
            <a:off x="3021013" y="1981200"/>
            <a:ext cx="1749425" cy="2438400"/>
          </a:xfrm>
          <a:custGeom>
            <a:avLst/>
            <a:gdLst>
              <a:gd name="txL" fmla="*/ 0 w 1102"/>
              <a:gd name="txT" fmla="*/ 0 h 1536"/>
              <a:gd name="txR" fmla="*/ 1102 w 1102"/>
              <a:gd name="txB" fmla="*/ 1536 h 1536"/>
            </a:gdLst>
            <a:ahLst/>
            <a:cxnLst>
              <a:cxn ang="0">
                <a:pos x="0" y="1392"/>
              </a:cxn>
              <a:cxn ang="0">
                <a:pos x="1" y="1536"/>
              </a:cxn>
              <a:cxn ang="0">
                <a:pos x="483" y="1536"/>
              </a:cxn>
              <a:cxn ang="0">
                <a:pos x="482" y="0"/>
              </a:cxn>
              <a:cxn ang="0">
                <a:pos x="1102" y="0"/>
              </a:cxn>
              <a:cxn ang="0">
                <a:pos x="1101" y="189"/>
              </a:cxn>
            </a:cxnLst>
            <a:rect l="txL" t="txT" r="txR" b="txB"/>
            <a:pathLst>
              <a:path w="1102" h="1536">
                <a:moveTo>
                  <a:pt x="0" y="1392"/>
                </a:moveTo>
                <a:lnTo>
                  <a:pt x="1" y="1536"/>
                </a:lnTo>
                <a:lnTo>
                  <a:pt x="483" y="1536"/>
                </a:lnTo>
                <a:lnTo>
                  <a:pt x="482" y="0"/>
                </a:lnTo>
                <a:lnTo>
                  <a:pt x="1102" y="0"/>
                </a:lnTo>
                <a:lnTo>
                  <a:pt x="1101" y="189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" name="Group 86"/>
          <p:cNvGrpSpPr/>
          <p:nvPr/>
        </p:nvGrpSpPr>
        <p:grpSpPr>
          <a:xfrm>
            <a:off x="2557463" y="2328863"/>
            <a:ext cx="1008062" cy="598487"/>
            <a:chOff x="651" y="1467"/>
            <a:chExt cx="635" cy="377"/>
          </a:xfrm>
        </p:grpSpPr>
        <p:sp>
          <p:nvSpPr>
            <p:cNvPr id="475169" name="Text Box 87"/>
            <p:cNvSpPr txBox="1"/>
            <p:nvPr/>
          </p:nvSpPr>
          <p:spPr>
            <a:xfrm>
              <a:off x="715" y="1632"/>
              <a:ext cx="240" cy="21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 D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75170" name="Group 88"/>
            <p:cNvGrpSpPr/>
            <p:nvPr/>
          </p:nvGrpSpPr>
          <p:grpSpPr>
            <a:xfrm>
              <a:off x="651" y="1467"/>
              <a:ext cx="635" cy="352"/>
              <a:chOff x="651" y="1467"/>
              <a:chExt cx="635" cy="352"/>
            </a:xfrm>
          </p:grpSpPr>
          <p:grpSp>
            <p:nvGrpSpPr>
              <p:cNvPr id="475171" name="Group 89"/>
              <p:cNvGrpSpPr/>
              <p:nvPr/>
            </p:nvGrpSpPr>
            <p:grpSpPr>
              <a:xfrm>
                <a:off x="651" y="1467"/>
                <a:ext cx="635" cy="352"/>
                <a:chOff x="651" y="1467"/>
                <a:chExt cx="635" cy="352"/>
              </a:xfrm>
            </p:grpSpPr>
            <p:sp>
              <p:nvSpPr>
                <p:cNvPr id="475173" name="Text Box 90"/>
                <p:cNvSpPr txBox="1"/>
                <p:nvPr/>
              </p:nvSpPr>
              <p:spPr>
                <a:xfrm>
                  <a:off x="751" y="1467"/>
                  <a:ext cx="475" cy="2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b="1" dirty="0">
                      <a:latin typeface="Times New Roman" panose="02020603050405020304" pitchFamily="18" charset="0"/>
                    </a:rPr>
                    <a:t>INTR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5174" name="Rectangle 91"/>
                <p:cNvSpPr/>
                <p:nvPr/>
              </p:nvSpPr>
              <p:spPr>
                <a:xfrm>
                  <a:off x="651" y="1479"/>
                  <a:ext cx="635" cy="3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5172" name="AutoShape 92"/>
              <p:cNvSpPr/>
              <p:nvPr/>
            </p:nvSpPr>
            <p:spPr>
              <a:xfrm>
                <a:off x="1083" y="1707"/>
                <a:ext cx="120" cy="112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3"/>
          <p:cNvGrpSpPr/>
          <p:nvPr/>
        </p:nvGrpSpPr>
        <p:grpSpPr>
          <a:xfrm>
            <a:off x="3929063" y="2273300"/>
            <a:ext cx="1022350" cy="620713"/>
            <a:chOff x="1382" y="1344"/>
            <a:chExt cx="644" cy="391"/>
          </a:xfrm>
        </p:grpSpPr>
        <p:sp>
          <p:nvSpPr>
            <p:cNvPr id="475161" name="Text Box 94"/>
            <p:cNvSpPr txBox="1"/>
            <p:nvPr/>
          </p:nvSpPr>
          <p:spPr>
            <a:xfrm>
              <a:off x="1403" y="1503"/>
              <a:ext cx="563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MASK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5162" name="Rectangle 95"/>
            <p:cNvSpPr/>
            <p:nvPr/>
          </p:nvSpPr>
          <p:spPr>
            <a:xfrm>
              <a:off x="1382" y="1392"/>
              <a:ext cx="635" cy="3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63" name="Oval 96"/>
            <p:cNvSpPr/>
            <p:nvPr/>
          </p:nvSpPr>
          <p:spPr>
            <a:xfrm>
              <a:off x="1884" y="1344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75164" name="Group 97"/>
            <p:cNvGrpSpPr/>
            <p:nvPr/>
          </p:nvGrpSpPr>
          <p:grpSpPr>
            <a:xfrm>
              <a:off x="1811" y="1392"/>
              <a:ext cx="215" cy="212"/>
              <a:chOff x="3096" y="1660"/>
              <a:chExt cx="215" cy="212"/>
            </a:xfrm>
          </p:grpSpPr>
          <p:grpSp>
            <p:nvGrpSpPr>
              <p:cNvPr id="475165" name="Group 98"/>
              <p:cNvGrpSpPr/>
              <p:nvPr/>
            </p:nvGrpSpPr>
            <p:grpSpPr>
              <a:xfrm>
                <a:off x="3096" y="1660"/>
                <a:ext cx="215" cy="212"/>
                <a:chOff x="3120" y="2044"/>
                <a:chExt cx="215" cy="212"/>
              </a:xfrm>
            </p:grpSpPr>
            <p:sp>
              <p:nvSpPr>
                <p:cNvPr id="475167" name="Text Box 99"/>
                <p:cNvSpPr txBox="1"/>
                <p:nvPr/>
              </p:nvSpPr>
              <p:spPr>
                <a:xfrm>
                  <a:off x="3120" y="2044"/>
                  <a:ext cx="215" cy="21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5168" name="Line 100"/>
                <p:cNvSpPr/>
                <p:nvPr/>
              </p:nvSpPr>
              <p:spPr>
                <a:xfrm>
                  <a:off x="3168" y="2064"/>
                  <a:ext cx="144" cy="0"/>
                </a:xfrm>
                <a:prstGeom prst="line">
                  <a:avLst/>
                </a:prstGeom>
                <a:ln w="28575">
                  <a:noFill/>
                </a:ln>
              </p:spPr>
            </p:sp>
          </p:grpSp>
          <p:sp>
            <p:nvSpPr>
              <p:cNvPr id="475166" name="Line 101"/>
              <p:cNvSpPr/>
              <p:nvPr/>
            </p:nvSpPr>
            <p:spPr>
              <a:xfrm>
                <a:off x="3144" y="1700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3" name="Group 102"/>
          <p:cNvGrpSpPr/>
          <p:nvPr/>
        </p:nvGrpSpPr>
        <p:grpSpPr>
          <a:xfrm>
            <a:off x="1887538" y="2649538"/>
            <a:ext cx="1466850" cy="784225"/>
            <a:chOff x="229" y="1669"/>
            <a:chExt cx="924" cy="494"/>
          </a:xfrm>
        </p:grpSpPr>
        <p:sp>
          <p:nvSpPr>
            <p:cNvPr id="475159" name="Freeform 103"/>
            <p:cNvSpPr/>
            <p:nvPr/>
          </p:nvSpPr>
          <p:spPr>
            <a:xfrm>
              <a:off x="325" y="1818"/>
              <a:ext cx="828" cy="105"/>
            </a:xfrm>
            <a:custGeom>
              <a:avLst/>
              <a:gdLst>
                <a:gd name="txL" fmla="*/ 0 w 828"/>
                <a:gd name="txT" fmla="*/ 0 h 105"/>
                <a:gd name="txR" fmla="*/ 828 w 828"/>
                <a:gd name="txB" fmla="*/ 105 h 105"/>
              </a:gdLst>
              <a:ahLst/>
              <a:cxnLst>
                <a:cxn ang="0">
                  <a:pos x="0" y="102"/>
                </a:cxn>
                <a:cxn ang="0">
                  <a:pos x="825" y="105"/>
                </a:cxn>
                <a:cxn ang="0">
                  <a:pos x="828" y="0"/>
                </a:cxn>
              </a:cxnLst>
              <a:rect l="txL" t="txT" r="txR" b="txB"/>
              <a:pathLst>
                <a:path w="828" h="105">
                  <a:moveTo>
                    <a:pt x="0" y="102"/>
                  </a:moveTo>
                  <a:lnTo>
                    <a:pt x="825" y="105"/>
                  </a:lnTo>
                  <a:lnTo>
                    <a:pt x="82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5160" name="Text Box 104"/>
            <p:cNvSpPr txBox="1"/>
            <p:nvPr/>
          </p:nvSpPr>
          <p:spPr>
            <a:xfrm>
              <a:off x="229" y="1669"/>
              <a:ext cx="411" cy="4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lnSpc>
                  <a:spcPct val="125000"/>
                </a:lnSpc>
              </a:pPr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CPU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查询</a:t>
              </a:r>
              <a:endPara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9945" name="Text Box 105"/>
          <p:cNvSpPr txBox="1"/>
          <p:nvPr/>
        </p:nvSpPr>
        <p:spPr>
          <a:xfrm>
            <a:off x="6096000" y="5588000"/>
            <a:ext cx="3352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MASK</a:t>
            </a:r>
            <a:r>
              <a:rPr lang="en-US" altLang="zh-CN" sz="2400" b="1" i="1" baseline="-1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 </a:t>
            </a:r>
            <a:r>
              <a:rPr lang="zh-CN" altLang="en-US" sz="2400" b="1" dirty="0">
                <a:latin typeface="Times New Roman" panose="02020603050405020304" pitchFamily="18" charset="0"/>
              </a:rPr>
              <a:t>（屏蔽）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946" name="Text Box 106"/>
          <p:cNvSpPr txBox="1"/>
          <p:nvPr/>
        </p:nvSpPr>
        <p:spPr>
          <a:xfrm>
            <a:off x="6096000" y="6096000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INTP</a:t>
            </a:r>
            <a:r>
              <a:rPr lang="en-US" altLang="zh-CN" sz="2400" b="1" i="1" baseline="-1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 </a:t>
            </a:r>
            <a:r>
              <a:rPr lang="zh-CN" altLang="en-US" sz="2400" b="1" dirty="0">
                <a:latin typeface="Times New Roman" panose="02020603050405020304" pitchFamily="18" charset="0"/>
              </a:rPr>
              <a:t>（不能被排队选中）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947" name="Rectangle 10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5157" name="AutoShape 10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5158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1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1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41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41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1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1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1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7" grpId="0"/>
      <p:bldP spid="419848" grpId="0"/>
      <p:bldP spid="419849" grpId="0"/>
      <p:bldP spid="419918" grpId="0" bldLvl="0" animBg="1"/>
      <p:bldP spid="419923" grpId="0" bldLvl="0" animBg="1"/>
      <p:bldP spid="419924" grpId="0" bldLvl="0" animBg="1"/>
      <p:bldP spid="419925" grpId="0" bldLvl="0" animBg="1"/>
      <p:bldP spid="419945" grpId="0"/>
      <p:bldP spid="41994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6162" name="Rectangle 2"/>
          <p:cNvSpPr/>
          <p:nvPr/>
        </p:nvSpPr>
        <p:spPr>
          <a:xfrm>
            <a:off x="1981200" y="457200"/>
            <a:ext cx="5399088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(2)  </a:t>
            </a:r>
            <a:r>
              <a:rPr lang="zh-CN" altLang="en-US" sz="3200" b="1" dirty="0">
                <a:latin typeface="Times New Roman" panose="02020603050405020304" pitchFamily="18" charset="0"/>
              </a:rPr>
              <a:t>屏蔽字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0867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6164" name="AutoShape 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743200" y="1893888"/>
            <a:ext cx="6848475" cy="4586287"/>
            <a:chOff x="768" y="1193"/>
            <a:chExt cx="4314" cy="2889"/>
          </a:xfrm>
        </p:grpSpPr>
        <p:grpSp>
          <p:nvGrpSpPr>
            <p:cNvPr id="476170" name="Group 6"/>
            <p:cNvGrpSpPr/>
            <p:nvPr/>
          </p:nvGrpSpPr>
          <p:grpSpPr>
            <a:xfrm>
              <a:off x="768" y="1193"/>
              <a:ext cx="4314" cy="2889"/>
              <a:chOff x="768" y="1193"/>
              <a:chExt cx="4314" cy="2889"/>
            </a:xfrm>
          </p:grpSpPr>
          <p:sp>
            <p:nvSpPr>
              <p:cNvPr id="476173" name="Text Box 7"/>
              <p:cNvSpPr txBox="1"/>
              <p:nvPr/>
            </p:nvSpPr>
            <p:spPr>
              <a:xfrm>
                <a:off x="790" y="1213"/>
                <a:ext cx="75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800" b="1" dirty="0">
                    <a:latin typeface="Times New Roman" panose="02020603050405020304" pitchFamily="18" charset="0"/>
                  </a:rPr>
                  <a:t>　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优先级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74" name="Text Box 8"/>
              <p:cNvSpPr txBox="1"/>
              <p:nvPr/>
            </p:nvSpPr>
            <p:spPr>
              <a:xfrm>
                <a:off x="2390" y="1226"/>
                <a:ext cx="203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屏              蔽             字 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75" name="Line 9"/>
              <p:cNvSpPr/>
              <p:nvPr/>
            </p:nvSpPr>
            <p:spPr>
              <a:xfrm>
                <a:off x="768" y="1193"/>
                <a:ext cx="431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6176" name="Text Box 10"/>
              <p:cNvSpPr txBox="1"/>
              <p:nvPr/>
            </p:nvSpPr>
            <p:spPr>
              <a:xfrm>
                <a:off x="1831" y="1505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1  1  1  1  1  1  1  1  1  1  1  1  1  1  1  1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77" name="Text Box 11"/>
              <p:cNvSpPr txBox="1"/>
              <p:nvPr/>
            </p:nvSpPr>
            <p:spPr>
              <a:xfrm>
                <a:off x="1831" y="1771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1  1  1  1  1  1  1  1  1  1  1  1  1  1  1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78" name="Text Box 12"/>
              <p:cNvSpPr txBox="1"/>
              <p:nvPr/>
            </p:nvSpPr>
            <p:spPr>
              <a:xfrm>
                <a:off x="1831" y="2042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1  1  1  1  1  1  1  1  1  1  1  1  1  1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79" name="Text Box 13"/>
              <p:cNvSpPr txBox="1"/>
              <p:nvPr/>
            </p:nvSpPr>
            <p:spPr>
              <a:xfrm>
                <a:off x="1831" y="2305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1  1  1  1  1  1  1  1  1  1  1  1  1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80" name="Text Box 14"/>
              <p:cNvSpPr txBox="1"/>
              <p:nvPr/>
            </p:nvSpPr>
            <p:spPr>
              <a:xfrm>
                <a:off x="1831" y="2572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1  1  1  1  1  1  1  1  1  1  1  1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81" name="Text Box 15"/>
              <p:cNvSpPr txBox="1"/>
              <p:nvPr/>
            </p:nvSpPr>
            <p:spPr>
              <a:xfrm>
                <a:off x="1831" y="2839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0  0  0  0  0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1  1  1  1  1  1  1  1  1  1  1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82" name="Text Box 16"/>
              <p:cNvSpPr txBox="1"/>
              <p:nvPr/>
            </p:nvSpPr>
            <p:spPr>
              <a:xfrm>
                <a:off x="3365" y="3218"/>
                <a:ext cx="34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83" name="Text Box 17"/>
              <p:cNvSpPr txBox="1"/>
              <p:nvPr/>
            </p:nvSpPr>
            <p:spPr>
              <a:xfrm>
                <a:off x="1831" y="3552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0  0  0  0  0  0  0  0  0  0  0  0  0  0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1  1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84" name="Text Box 18"/>
              <p:cNvSpPr txBox="1"/>
              <p:nvPr/>
            </p:nvSpPr>
            <p:spPr>
              <a:xfrm>
                <a:off x="1831" y="3785"/>
                <a:ext cx="30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0  0  0  0  0  0  0  0  0  0  0  0  0  0  0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85" name="Line 19"/>
              <p:cNvSpPr/>
              <p:nvPr/>
            </p:nvSpPr>
            <p:spPr>
              <a:xfrm>
                <a:off x="768" y="1529"/>
                <a:ext cx="431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6186" name="Line 20"/>
              <p:cNvSpPr/>
              <p:nvPr/>
            </p:nvSpPr>
            <p:spPr>
              <a:xfrm>
                <a:off x="768" y="4080"/>
                <a:ext cx="431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6187" name="Freeform 21"/>
              <p:cNvSpPr/>
              <p:nvPr/>
            </p:nvSpPr>
            <p:spPr>
              <a:xfrm>
                <a:off x="1644" y="1200"/>
                <a:ext cx="1" cy="2880"/>
              </a:xfrm>
              <a:custGeom>
                <a:avLst/>
                <a:gdLst>
                  <a:gd name="txL" fmla="*/ 0 w 1"/>
                  <a:gd name="txT" fmla="*/ 0 h 2880"/>
                  <a:gd name="txR" fmla="*/ 1 w 1"/>
                  <a:gd name="txB" fmla="*/ 2880 h 2880"/>
                </a:gdLst>
                <a:ahLst/>
                <a:cxnLst>
                  <a:cxn ang="0">
                    <a:pos x="1" y="0"/>
                  </a:cxn>
                  <a:cxn ang="0">
                    <a:pos x="0" y="2880"/>
                  </a:cxn>
                </a:cxnLst>
                <a:rect l="txL" t="txT" r="txR" b="txB"/>
                <a:pathLst>
                  <a:path w="1" h="2880">
                    <a:moveTo>
                      <a:pt x="1" y="0"/>
                    </a:moveTo>
                    <a:lnTo>
                      <a:pt x="0" y="288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6188" name="Text Box 22"/>
              <p:cNvSpPr txBox="1"/>
              <p:nvPr/>
            </p:nvSpPr>
            <p:spPr>
              <a:xfrm>
                <a:off x="1082" y="1505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89" name="Text Box 23"/>
              <p:cNvSpPr txBox="1"/>
              <p:nvPr/>
            </p:nvSpPr>
            <p:spPr>
              <a:xfrm>
                <a:off x="1082" y="1771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90" name="Text Box 24"/>
              <p:cNvSpPr txBox="1"/>
              <p:nvPr/>
            </p:nvSpPr>
            <p:spPr>
              <a:xfrm>
                <a:off x="1082" y="2042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91" name="Text Box 25"/>
              <p:cNvSpPr txBox="1"/>
              <p:nvPr/>
            </p:nvSpPr>
            <p:spPr>
              <a:xfrm>
                <a:off x="1082" y="2305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92" name="Text Box 26"/>
              <p:cNvSpPr txBox="1"/>
              <p:nvPr/>
            </p:nvSpPr>
            <p:spPr>
              <a:xfrm>
                <a:off x="1082" y="2572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93" name="Text Box 27"/>
              <p:cNvSpPr txBox="1"/>
              <p:nvPr/>
            </p:nvSpPr>
            <p:spPr>
              <a:xfrm>
                <a:off x="1082" y="283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94" name="Text Box 28"/>
              <p:cNvSpPr txBox="1"/>
              <p:nvPr/>
            </p:nvSpPr>
            <p:spPr>
              <a:xfrm>
                <a:off x="1044" y="3552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95" name="Text Box 29"/>
              <p:cNvSpPr txBox="1"/>
              <p:nvPr/>
            </p:nvSpPr>
            <p:spPr>
              <a:xfrm>
                <a:off x="1044" y="3792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6196" name="Text Box 30"/>
              <p:cNvSpPr txBox="1"/>
              <p:nvPr/>
            </p:nvSpPr>
            <p:spPr>
              <a:xfrm>
                <a:off x="1063" y="3218"/>
                <a:ext cx="34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76171" name="Freeform 31"/>
            <p:cNvSpPr/>
            <p:nvPr/>
          </p:nvSpPr>
          <p:spPr>
            <a:xfrm>
              <a:off x="775" y="1200"/>
              <a:ext cx="1" cy="2880"/>
            </a:xfrm>
            <a:custGeom>
              <a:avLst/>
              <a:gdLst>
                <a:gd name="txL" fmla="*/ 0 w 1"/>
                <a:gd name="txT" fmla="*/ 0 h 2880"/>
                <a:gd name="txR" fmla="*/ 1 w 1"/>
                <a:gd name="txB" fmla="*/ 2880 h 2880"/>
              </a:gdLst>
              <a:ahLst/>
              <a:cxnLst>
                <a:cxn ang="0">
                  <a:pos x="1" y="0"/>
                </a:cxn>
                <a:cxn ang="0">
                  <a:pos x="0" y="2880"/>
                </a:cxn>
              </a:cxnLst>
              <a:rect l="txL" t="txT" r="txR" b="txB"/>
              <a:pathLst>
                <a:path w="1" h="2880">
                  <a:moveTo>
                    <a:pt x="1" y="0"/>
                  </a:moveTo>
                  <a:lnTo>
                    <a:pt x="0" y="28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6172" name="Freeform 32"/>
            <p:cNvSpPr/>
            <p:nvPr/>
          </p:nvSpPr>
          <p:spPr>
            <a:xfrm>
              <a:off x="5074" y="1200"/>
              <a:ext cx="1" cy="2880"/>
            </a:xfrm>
            <a:custGeom>
              <a:avLst/>
              <a:gdLst>
                <a:gd name="txL" fmla="*/ 0 w 1"/>
                <a:gd name="txT" fmla="*/ 0 h 2880"/>
                <a:gd name="txR" fmla="*/ 1 w 1"/>
                <a:gd name="txB" fmla="*/ 2880 h 2880"/>
              </a:gdLst>
              <a:ahLst/>
              <a:cxnLst>
                <a:cxn ang="0">
                  <a:pos x="1" y="0"/>
                </a:cxn>
                <a:cxn ang="0">
                  <a:pos x="0" y="2880"/>
                </a:cxn>
              </a:cxnLst>
              <a:rect l="txL" t="txT" r="txR" b="txB"/>
              <a:pathLst>
                <a:path w="1" h="2880">
                  <a:moveTo>
                    <a:pt x="1" y="0"/>
                  </a:moveTo>
                  <a:lnTo>
                    <a:pt x="0" y="28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33"/>
          <p:cNvGrpSpPr/>
          <p:nvPr/>
        </p:nvGrpSpPr>
        <p:grpSpPr>
          <a:xfrm>
            <a:off x="2895600" y="1017588"/>
            <a:ext cx="6781800" cy="633413"/>
            <a:chOff x="864" y="641"/>
            <a:chExt cx="4272" cy="399"/>
          </a:xfrm>
        </p:grpSpPr>
        <p:sp>
          <p:nvSpPr>
            <p:cNvPr id="476168" name="Text Box 34"/>
            <p:cNvSpPr txBox="1"/>
            <p:nvPr/>
          </p:nvSpPr>
          <p:spPr>
            <a:xfrm>
              <a:off x="864" y="672"/>
              <a:ext cx="427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16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个中断源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3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2400" b="1" baseline="18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16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按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降序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排列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76169" name="Text Box 35"/>
            <p:cNvSpPr txBox="1"/>
            <p:nvPr/>
          </p:nvSpPr>
          <p:spPr>
            <a:xfrm>
              <a:off x="2734" y="641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76167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7186" name="Rectangle 2"/>
          <p:cNvSpPr/>
          <p:nvPr/>
        </p:nvSpPr>
        <p:spPr>
          <a:xfrm>
            <a:off x="2057400" y="333375"/>
            <a:ext cx="6846888" cy="503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(3)  </a:t>
            </a:r>
            <a:r>
              <a:rPr lang="zh-CN" altLang="en-US" sz="3200" b="1" dirty="0">
                <a:latin typeface="Times New Roman" panose="02020603050405020304" pitchFamily="18" charset="0"/>
              </a:rPr>
              <a:t>屏蔽技术可改变处理优先等级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1891" name="Rectangle 3"/>
          <p:cNvSpPr/>
          <p:nvPr/>
        </p:nvSpPr>
        <p:spPr>
          <a:xfrm>
            <a:off x="2782888" y="1196975"/>
            <a:ext cx="21431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响应优先级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1892" name="Rectangle 4"/>
          <p:cNvSpPr/>
          <p:nvPr/>
        </p:nvSpPr>
        <p:spPr>
          <a:xfrm>
            <a:off x="2782888" y="5229225"/>
            <a:ext cx="63373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响应优先级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A→B→C→D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降序排列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1894" name="Rectangle 6"/>
          <p:cNvSpPr/>
          <p:nvPr/>
        </p:nvSpPr>
        <p:spPr>
          <a:xfrm>
            <a:off x="5303838" y="1196975"/>
            <a:ext cx="21431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不可改变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1895" name="Rectangle 7"/>
          <p:cNvSpPr/>
          <p:nvPr/>
        </p:nvSpPr>
        <p:spPr>
          <a:xfrm>
            <a:off x="2782888" y="1917700"/>
            <a:ext cx="21431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处理优先级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1896" name="Rectangle 8"/>
          <p:cNvSpPr/>
          <p:nvPr/>
        </p:nvSpPr>
        <p:spPr>
          <a:xfrm>
            <a:off x="5303838" y="1917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可改变（通过重新设置屏蔽字）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77193" name="表格 477192"/>
          <p:cNvGraphicFramePr/>
          <p:nvPr/>
        </p:nvGraphicFramePr>
        <p:xfrm>
          <a:off x="3503613" y="2854325"/>
          <a:ext cx="5184775" cy="1943100"/>
        </p:xfrm>
        <a:graphic>
          <a:graphicData uri="http://schemas.openxmlformats.org/drawingml/2006/table">
            <a:tbl>
              <a:tblPr/>
              <a:tblGrid>
                <a:gridCol w="1384300"/>
                <a:gridCol w="1900555"/>
                <a:gridCol w="1899920"/>
              </a:tblGrid>
              <a:tr h="503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Arial" panose="020B0604020202020204" pitchFamily="34" charset="0"/>
                        </a:rPr>
                        <a:t>中断源</a:t>
                      </a:r>
                      <a:endParaRPr lang="zh-CN" altLang="en-US" sz="20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Arial" panose="020B0604020202020204" pitchFamily="34" charset="0"/>
                        </a:rPr>
                        <a:t>原屏蔽字</a:t>
                      </a:r>
                      <a:endParaRPr lang="zh-CN" altLang="en-US" sz="20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Arial" panose="020B0604020202020204" pitchFamily="34" charset="0"/>
                        </a:rPr>
                        <a:t>新屏蔽字</a:t>
                      </a:r>
                      <a:endParaRPr lang="zh-CN" altLang="en-US" sz="20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9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A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B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C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D 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1  1  1  1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0  1  1  1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0  0  1  1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0  0  0  1 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1  1  1  1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0  1  0  0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0  1  1  0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0  1  1  1 </a:t>
                      </a:r>
                      <a:endParaRPr lang="en-US" altLang="zh-CN" sz="20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1911" name="Rectangle 23"/>
          <p:cNvSpPr/>
          <p:nvPr/>
        </p:nvSpPr>
        <p:spPr>
          <a:xfrm>
            <a:off x="2782888" y="6021388"/>
            <a:ext cx="65532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处理优先级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A→D→C→B </a:t>
            </a:r>
            <a:r>
              <a:rPr lang="zh-CN" altLang="en-US" sz="2800" b="1" dirty="0">
                <a:latin typeface="Times New Roman" panose="02020603050405020304" pitchFamily="18" charset="0"/>
              </a:rPr>
              <a:t>降序排列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77208" name="AutoShape 2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720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7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/>
      <p:bldP spid="421892" grpId="0"/>
      <p:bldP spid="421894" grpId="0"/>
      <p:bldP spid="421895" grpId="0"/>
      <p:bldP spid="421896" grpId="0"/>
      <p:bldP spid="42191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8210" name="Rectangle 2"/>
          <p:cNvSpPr/>
          <p:nvPr/>
        </p:nvSpPr>
        <p:spPr>
          <a:xfrm>
            <a:off x="2057400" y="404813"/>
            <a:ext cx="6630988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(3)  </a:t>
            </a:r>
            <a:r>
              <a:rPr lang="zh-CN" altLang="en-US" sz="3200" b="1" dirty="0">
                <a:latin typeface="Times New Roman" panose="02020603050405020304" pitchFamily="18" charset="0"/>
              </a:rPr>
              <a:t>屏蔽技术可改变处理优先等级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2915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711450" y="1484313"/>
            <a:ext cx="6913563" cy="4133850"/>
            <a:chOff x="748" y="935"/>
            <a:chExt cx="4355" cy="2604"/>
          </a:xfrm>
        </p:grpSpPr>
        <p:grpSp>
          <p:nvGrpSpPr>
            <p:cNvPr id="478215" name="Group 5"/>
            <p:cNvGrpSpPr/>
            <p:nvPr/>
          </p:nvGrpSpPr>
          <p:grpSpPr>
            <a:xfrm>
              <a:off x="748" y="935"/>
              <a:ext cx="4355" cy="1912"/>
              <a:chOff x="748" y="935"/>
              <a:chExt cx="4355" cy="1912"/>
            </a:xfrm>
          </p:grpSpPr>
          <p:sp>
            <p:nvSpPr>
              <p:cNvPr id="478217" name="Text Box 6"/>
              <p:cNvSpPr txBox="1"/>
              <p:nvPr/>
            </p:nvSpPr>
            <p:spPr>
              <a:xfrm>
                <a:off x="1050" y="935"/>
                <a:ext cx="787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zh-CN" altLang="en-US" b="1" dirty="0">
                    <a:latin typeface="Times New Roman" panose="02020603050405020304" pitchFamily="18" charset="0"/>
                  </a:rPr>
                  <a:t>服务程序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18" name="Text Box 7"/>
              <p:cNvSpPr txBox="1"/>
              <p:nvPr/>
            </p:nvSpPr>
            <p:spPr>
              <a:xfrm>
                <a:off x="2971" y="2341"/>
                <a:ext cx="702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19" name="Text Box 8"/>
              <p:cNvSpPr txBox="1"/>
              <p:nvPr/>
            </p:nvSpPr>
            <p:spPr>
              <a:xfrm>
                <a:off x="3540" y="2516"/>
                <a:ext cx="692" cy="2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20" name="Text Box 9"/>
              <p:cNvSpPr txBox="1"/>
              <p:nvPr/>
            </p:nvSpPr>
            <p:spPr>
              <a:xfrm>
                <a:off x="4124" y="2341"/>
                <a:ext cx="630" cy="2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21" name="Text Box 10"/>
              <p:cNvSpPr txBox="1"/>
              <p:nvPr/>
            </p:nvSpPr>
            <p:spPr>
              <a:xfrm>
                <a:off x="2165" y="2341"/>
                <a:ext cx="630" cy="2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22" name="Text Box 11"/>
              <p:cNvSpPr txBox="1"/>
              <p:nvPr/>
            </p:nvSpPr>
            <p:spPr>
              <a:xfrm>
                <a:off x="4811" y="2206"/>
                <a:ext cx="292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2400" b="1" i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23" name="Line 12"/>
              <p:cNvSpPr/>
              <p:nvPr/>
            </p:nvSpPr>
            <p:spPr>
              <a:xfrm>
                <a:off x="1289" y="2341"/>
                <a:ext cx="35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lg"/>
              </a:ln>
            </p:spPr>
          </p:sp>
          <p:sp>
            <p:nvSpPr>
              <p:cNvPr id="478224" name="Line 13"/>
              <p:cNvSpPr/>
              <p:nvPr/>
            </p:nvSpPr>
            <p:spPr>
              <a:xfrm>
                <a:off x="1289" y="1099"/>
                <a:ext cx="0" cy="123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stealth" w="sm" len="lg"/>
                <a:tailEnd type="none" w="med" len="med"/>
              </a:ln>
            </p:spPr>
          </p:sp>
          <p:sp>
            <p:nvSpPr>
              <p:cNvPr id="478225" name="Line 14"/>
              <p:cNvSpPr/>
              <p:nvPr/>
            </p:nvSpPr>
            <p:spPr>
              <a:xfrm>
                <a:off x="800" y="1372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26" name="Text Box 15"/>
              <p:cNvSpPr txBox="1"/>
              <p:nvPr/>
            </p:nvSpPr>
            <p:spPr>
              <a:xfrm>
                <a:off x="748" y="2165"/>
                <a:ext cx="511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zh-CN" altLang="en-US" b="1" dirty="0">
                    <a:latin typeface="Times New Roman" panose="02020603050405020304" pitchFamily="18" charset="0"/>
                  </a:rPr>
                  <a:t>主程序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27" name="Text Box 16"/>
              <p:cNvSpPr txBox="1"/>
              <p:nvPr/>
            </p:nvSpPr>
            <p:spPr>
              <a:xfrm>
                <a:off x="748" y="1868"/>
                <a:ext cx="511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28" name="Text Box 17"/>
              <p:cNvSpPr txBox="1"/>
              <p:nvPr/>
            </p:nvSpPr>
            <p:spPr>
              <a:xfrm>
                <a:off x="748" y="1649"/>
                <a:ext cx="511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29" name="Text Box 18"/>
              <p:cNvSpPr txBox="1"/>
              <p:nvPr/>
            </p:nvSpPr>
            <p:spPr>
              <a:xfrm>
                <a:off x="748" y="1411"/>
                <a:ext cx="511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30" name="Text Box 19"/>
              <p:cNvSpPr txBox="1"/>
              <p:nvPr/>
            </p:nvSpPr>
            <p:spPr>
              <a:xfrm>
                <a:off x="748" y="1158"/>
                <a:ext cx="511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31" name="Line 20"/>
              <p:cNvSpPr/>
              <p:nvPr/>
            </p:nvSpPr>
            <p:spPr>
              <a:xfrm>
                <a:off x="1842" y="2081"/>
                <a:ext cx="0" cy="25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32" name="Line 21"/>
              <p:cNvSpPr/>
              <p:nvPr/>
            </p:nvSpPr>
            <p:spPr>
              <a:xfrm>
                <a:off x="2434" y="2081"/>
                <a:ext cx="0" cy="25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sp>
            <p:nvSpPr>
              <p:cNvPr id="478233" name="Line 22"/>
              <p:cNvSpPr/>
              <p:nvPr/>
            </p:nvSpPr>
            <p:spPr>
              <a:xfrm rot="-5400000">
                <a:off x="2118" y="1770"/>
                <a:ext cx="0" cy="58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34" name="Line 23"/>
              <p:cNvSpPr/>
              <p:nvPr/>
            </p:nvSpPr>
            <p:spPr>
              <a:xfrm>
                <a:off x="2468" y="1849"/>
                <a:ext cx="0" cy="48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35" name="Line 24"/>
              <p:cNvSpPr/>
              <p:nvPr/>
            </p:nvSpPr>
            <p:spPr>
              <a:xfrm>
                <a:off x="3290" y="1851"/>
                <a:ext cx="0" cy="48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sp>
            <p:nvSpPr>
              <p:cNvPr id="478236" name="Line 25"/>
              <p:cNvSpPr/>
              <p:nvPr/>
            </p:nvSpPr>
            <p:spPr>
              <a:xfrm rot="-5400000">
                <a:off x="2861" y="1424"/>
                <a:ext cx="0" cy="81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37" name="Line 26"/>
              <p:cNvSpPr/>
              <p:nvPr/>
            </p:nvSpPr>
            <p:spPr>
              <a:xfrm rot="-5400000">
                <a:off x="3519" y="1385"/>
                <a:ext cx="0" cy="42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38" name="Line 27"/>
              <p:cNvSpPr/>
              <p:nvPr/>
            </p:nvSpPr>
            <p:spPr>
              <a:xfrm>
                <a:off x="3757" y="1615"/>
                <a:ext cx="0" cy="73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sp>
            <p:nvSpPr>
              <p:cNvPr id="478239" name="Line 28"/>
              <p:cNvSpPr/>
              <p:nvPr/>
            </p:nvSpPr>
            <p:spPr>
              <a:xfrm>
                <a:off x="3330" y="1615"/>
                <a:ext cx="0" cy="72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78240" name="Line 29"/>
              <p:cNvSpPr/>
              <p:nvPr/>
            </p:nvSpPr>
            <p:spPr>
              <a:xfrm rot="-5400000">
                <a:off x="4047" y="1083"/>
                <a:ext cx="0" cy="54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41" name="Line 30"/>
              <p:cNvSpPr/>
              <p:nvPr/>
            </p:nvSpPr>
            <p:spPr>
              <a:xfrm>
                <a:off x="4343" y="1374"/>
                <a:ext cx="0" cy="98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sp>
            <p:nvSpPr>
              <p:cNvPr id="478242" name="Line 31"/>
              <p:cNvSpPr/>
              <p:nvPr/>
            </p:nvSpPr>
            <p:spPr>
              <a:xfrm>
                <a:off x="3791" y="1374"/>
                <a:ext cx="0" cy="97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78243" name="Line 32"/>
              <p:cNvSpPr/>
              <p:nvPr/>
            </p:nvSpPr>
            <p:spPr>
              <a:xfrm>
                <a:off x="1842" y="2343"/>
                <a:ext cx="0" cy="14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stealth" w="sm" len="med"/>
                <a:tailEnd type="none" w="sm" len="med"/>
              </a:ln>
            </p:spPr>
          </p:sp>
          <p:sp>
            <p:nvSpPr>
              <p:cNvPr id="478244" name="Text Box 33"/>
              <p:cNvSpPr txBox="1"/>
              <p:nvPr/>
            </p:nvSpPr>
            <p:spPr>
              <a:xfrm>
                <a:off x="1435" y="2516"/>
                <a:ext cx="876" cy="3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D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  <a:p>
                <a:pPr algn="ctr"/>
                <a:r>
                  <a:rPr lang="zh-CN" altLang="en-US" b="1" dirty="0">
                    <a:latin typeface="Times New Roman" panose="02020603050405020304" pitchFamily="18" charset="0"/>
                  </a:rPr>
                  <a:t>同时请求中断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8245" name="Line 34"/>
              <p:cNvSpPr/>
              <p:nvPr/>
            </p:nvSpPr>
            <p:spPr>
              <a:xfrm>
                <a:off x="3748" y="2343"/>
                <a:ext cx="0" cy="14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stealth" w="sm" len="med"/>
                <a:tailEnd type="none" w="sm" len="med"/>
              </a:ln>
            </p:spPr>
          </p:sp>
          <p:sp>
            <p:nvSpPr>
              <p:cNvPr id="478246" name="Line 35"/>
              <p:cNvSpPr/>
              <p:nvPr/>
            </p:nvSpPr>
            <p:spPr>
              <a:xfrm>
                <a:off x="800" y="2079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47" name="Line 36"/>
              <p:cNvSpPr/>
              <p:nvPr/>
            </p:nvSpPr>
            <p:spPr>
              <a:xfrm>
                <a:off x="800" y="1851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8248" name="Line 37"/>
              <p:cNvSpPr/>
              <p:nvPr/>
            </p:nvSpPr>
            <p:spPr>
              <a:xfrm>
                <a:off x="800" y="1621"/>
                <a:ext cx="48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78216" name="Text Box 38"/>
            <p:cNvSpPr txBox="1"/>
            <p:nvPr/>
          </p:nvSpPr>
          <p:spPr>
            <a:xfrm>
              <a:off x="1475" y="3249"/>
              <a:ext cx="326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CPU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执行程序轨迹（原屏蔽字）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8213" name="AutoShape 3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8214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9234" name="Rectangle 2"/>
          <p:cNvSpPr/>
          <p:nvPr/>
        </p:nvSpPr>
        <p:spPr>
          <a:xfrm>
            <a:off x="2201863" y="404813"/>
            <a:ext cx="69183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(3)  </a:t>
            </a:r>
            <a:r>
              <a:rPr lang="zh-CN" altLang="en-US" sz="3200" b="1" dirty="0">
                <a:latin typeface="Times New Roman" panose="02020603050405020304" pitchFamily="18" charset="0"/>
              </a:rPr>
              <a:t>屏蔽技术可改变处理优先等级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3939" name="Rectangle 3"/>
          <p:cNvSpPr/>
          <p:nvPr/>
        </p:nvSpPr>
        <p:spPr>
          <a:xfrm>
            <a:off x="2201863" y="5084763"/>
            <a:ext cx="5399087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(4)  </a:t>
            </a:r>
            <a:r>
              <a:rPr lang="zh-CN" altLang="en-US" sz="3200" b="1" dirty="0">
                <a:latin typeface="Times New Roman" panose="02020603050405020304" pitchFamily="18" charset="0"/>
              </a:rPr>
              <a:t>屏蔽技术的其他作用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3941" name="Text Box 5"/>
          <p:cNvSpPr txBox="1"/>
          <p:nvPr/>
        </p:nvSpPr>
        <p:spPr>
          <a:xfrm>
            <a:off x="2927350" y="6213475"/>
            <a:ext cx="4027488" cy="460375"/>
          </a:xfrm>
          <a:prstGeom prst="rect">
            <a:avLst/>
          </a:prstGeom>
          <a:noFill/>
          <a:ln w="9525">
            <a:noFill/>
          </a:ln>
        </p:spPr>
        <p:txBody>
          <a:bodyPr lIns="0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便于程序控制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3942" name="Text Box 6"/>
          <p:cNvSpPr txBox="1"/>
          <p:nvPr/>
        </p:nvSpPr>
        <p:spPr>
          <a:xfrm>
            <a:off x="2927350" y="5708650"/>
            <a:ext cx="6313488" cy="460375"/>
          </a:xfrm>
          <a:prstGeom prst="rect">
            <a:avLst/>
          </a:prstGeom>
          <a:noFill/>
          <a:ln w="9525">
            <a:noFill/>
          </a:ln>
        </p:spPr>
        <p:txBody>
          <a:bodyPr lIns="0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可以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人为地屏蔽 </a:t>
            </a:r>
            <a:r>
              <a:rPr lang="zh-CN" altLang="en-US" sz="2400" b="1" dirty="0">
                <a:latin typeface="Times New Roman" panose="02020603050405020304" pitchFamily="18" charset="0"/>
              </a:rPr>
              <a:t>某个中断源的请求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2927350" y="1268413"/>
            <a:ext cx="6337300" cy="3629025"/>
            <a:chOff x="793" y="799"/>
            <a:chExt cx="3992" cy="2286"/>
          </a:xfrm>
        </p:grpSpPr>
        <p:grpSp>
          <p:nvGrpSpPr>
            <p:cNvPr id="479242" name="Group 8"/>
            <p:cNvGrpSpPr/>
            <p:nvPr/>
          </p:nvGrpSpPr>
          <p:grpSpPr>
            <a:xfrm>
              <a:off x="793" y="799"/>
              <a:ext cx="3992" cy="1859"/>
              <a:chOff x="793" y="890"/>
              <a:chExt cx="3992" cy="1859"/>
            </a:xfrm>
          </p:grpSpPr>
          <p:sp>
            <p:nvSpPr>
              <p:cNvPr id="479244" name="Text Box 9"/>
              <p:cNvSpPr txBox="1"/>
              <p:nvPr/>
            </p:nvSpPr>
            <p:spPr>
              <a:xfrm>
                <a:off x="1071" y="890"/>
                <a:ext cx="675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zh-CN" altLang="en-US" sz="1600" b="1" dirty="0">
                    <a:latin typeface="Times New Roman" panose="02020603050405020304" pitchFamily="18" charset="0"/>
                  </a:rPr>
                  <a:t>服务程序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45" name="Text Box 10"/>
              <p:cNvSpPr txBox="1"/>
              <p:nvPr/>
            </p:nvSpPr>
            <p:spPr>
              <a:xfrm>
                <a:off x="2847" y="2257"/>
                <a:ext cx="577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46" name="Text Box 11"/>
              <p:cNvSpPr txBox="1"/>
              <p:nvPr/>
            </p:nvSpPr>
            <p:spPr>
              <a:xfrm>
                <a:off x="3190" y="2426"/>
                <a:ext cx="552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47" name="Text Box 12"/>
              <p:cNvSpPr txBox="1"/>
              <p:nvPr/>
            </p:nvSpPr>
            <p:spPr>
              <a:xfrm>
                <a:off x="3763" y="2257"/>
                <a:ext cx="659" cy="2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48" name="Text Box 13"/>
              <p:cNvSpPr txBox="1"/>
              <p:nvPr/>
            </p:nvSpPr>
            <p:spPr>
              <a:xfrm>
                <a:off x="2092" y="2257"/>
                <a:ext cx="607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处理完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49" name="Text Box 14"/>
              <p:cNvSpPr txBox="1"/>
              <p:nvPr/>
            </p:nvSpPr>
            <p:spPr>
              <a:xfrm>
                <a:off x="4518" y="2126"/>
                <a:ext cx="267" cy="2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50" name="Line 15"/>
              <p:cNvSpPr/>
              <p:nvPr/>
            </p:nvSpPr>
            <p:spPr>
              <a:xfrm>
                <a:off x="1290" y="2257"/>
                <a:ext cx="327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lg"/>
              </a:ln>
            </p:spPr>
          </p:sp>
          <p:sp>
            <p:nvSpPr>
              <p:cNvPr id="479251" name="Line 16"/>
              <p:cNvSpPr/>
              <p:nvPr/>
            </p:nvSpPr>
            <p:spPr>
              <a:xfrm>
                <a:off x="1290" y="1049"/>
                <a:ext cx="0" cy="12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stealth" w="sm" len="lg"/>
                <a:tailEnd type="none" w="med" len="med"/>
              </a:ln>
            </p:spPr>
          </p:sp>
          <p:sp>
            <p:nvSpPr>
              <p:cNvPr id="479252" name="Text Box 17"/>
              <p:cNvSpPr txBox="1"/>
              <p:nvPr/>
            </p:nvSpPr>
            <p:spPr>
              <a:xfrm>
                <a:off x="793" y="2095"/>
                <a:ext cx="468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zh-CN" altLang="en-US" sz="1600" b="1" dirty="0">
                    <a:latin typeface="Times New Roman" panose="02020603050405020304" pitchFamily="18" charset="0"/>
                  </a:rPr>
                  <a:t>主程序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53" name="Text Box 18"/>
              <p:cNvSpPr txBox="1"/>
              <p:nvPr/>
            </p:nvSpPr>
            <p:spPr>
              <a:xfrm>
                <a:off x="793" y="1806"/>
                <a:ext cx="468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54" name="Text Box 19"/>
              <p:cNvSpPr txBox="1"/>
              <p:nvPr/>
            </p:nvSpPr>
            <p:spPr>
              <a:xfrm>
                <a:off x="793" y="1593"/>
                <a:ext cx="468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55" name="Text Box 20"/>
              <p:cNvSpPr txBox="1"/>
              <p:nvPr/>
            </p:nvSpPr>
            <p:spPr>
              <a:xfrm>
                <a:off x="793" y="1362"/>
                <a:ext cx="468" cy="2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56" name="Text Box 21"/>
              <p:cNvSpPr txBox="1"/>
              <p:nvPr/>
            </p:nvSpPr>
            <p:spPr>
              <a:xfrm>
                <a:off x="793" y="1130"/>
                <a:ext cx="468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程序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57" name="Line 22"/>
              <p:cNvSpPr/>
              <p:nvPr/>
            </p:nvSpPr>
            <p:spPr>
              <a:xfrm>
                <a:off x="1796" y="2004"/>
                <a:ext cx="0" cy="25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58" name="Line 23"/>
              <p:cNvSpPr/>
              <p:nvPr/>
            </p:nvSpPr>
            <p:spPr>
              <a:xfrm>
                <a:off x="2339" y="2004"/>
                <a:ext cx="0" cy="25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sp>
            <p:nvSpPr>
              <p:cNvPr id="479259" name="Line 24"/>
              <p:cNvSpPr/>
              <p:nvPr/>
            </p:nvSpPr>
            <p:spPr>
              <a:xfrm rot="-5400000">
                <a:off x="2047" y="1707"/>
                <a:ext cx="0" cy="5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60" name="Line 25"/>
              <p:cNvSpPr/>
              <p:nvPr/>
            </p:nvSpPr>
            <p:spPr>
              <a:xfrm>
                <a:off x="2369" y="1766"/>
                <a:ext cx="0" cy="48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61" name="Line 26"/>
              <p:cNvSpPr/>
              <p:nvPr/>
            </p:nvSpPr>
            <p:spPr>
              <a:xfrm>
                <a:off x="2455" y="1553"/>
                <a:ext cx="0" cy="22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79262" name="Line 27"/>
              <p:cNvSpPr/>
              <p:nvPr/>
            </p:nvSpPr>
            <p:spPr>
              <a:xfrm rot="-5400000">
                <a:off x="2411" y="1720"/>
                <a:ext cx="0" cy="10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63" name="Line 28"/>
              <p:cNvSpPr/>
              <p:nvPr/>
            </p:nvSpPr>
            <p:spPr>
              <a:xfrm rot="-5400000">
                <a:off x="3204" y="1370"/>
                <a:ext cx="0" cy="32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64" name="Line 29"/>
              <p:cNvSpPr/>
              <p:nvPr/>
            </p:nvSpPr>
            <p:spPr>
              <a:xfrm rot="-5400000">
                <a:off x="2786" y="1054"/>
                <a:ext cx="0" cy="50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65" name="Line 30"/>
              <p:cNvSpPr/>
              <p:nvPr/>
            </p:nvSpPr>
            <p:spPr>
              <a:xfrm>
                <a:off x="3973" y="1773"/>
                <a:ext cx="0" cy="48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sp>
            <p:nvSpPr>
              <p:cNvPr id="479266" name="Line 31"/>
              <p:cNvSpPr/>
              <p:nvPr/>
            </p:nvSpPr>
            <p:spPr>
              <a:xfrm>
                <a:off x="1796" y="225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stealth" w="sm" len="med"/>
                <a:tailEnd type="none" w="sm" len="med"/>
              </a:ln>
            </p:spPr>
          </p:sp>
          <p:sp>
            <p:nvSpPr>
              <p:cNvPr id="479267" name="Text Box 32"/>
              <p:cNvSpPr txBox="1"/>
              <p:nvPr/>
            </p:nvSpPr>
            <p:spPr>
              <a:xfrm>
                <a:off x="1424" y="2426"/>
                <a:ext cx="912" cy="3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600" b="1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  <a:p>
                <a:pPr algn="ctr"/>
                <a:r>
                  <a:rPr lang="zh-CN" altLang="en-US" sz="1600" b="1" dirty="0">
                    <a:latin typeface="Times New Roman" panose="02020603050405020304" pitchFamily="18" charset="0"/>
                  </a:rPr>
                  <a:t>同时请求中断</a:t>
                </a:r>
                <a:endParaRPr lang="zh-CN" altLang="en-US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9268" name="Line 33"/>
              <p:cNvSpPr/>
              <p:nvPr/>
            </p:nvSpPr>
            <p:spPr>
              <a:xfrm>
                <a:off x="3391" y="225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stealth" w="sm" len="med"/>
                <a:tailEnd type="none" w="sm" len="med"/>
              </a:ln>
            </p:spPr>
          </p:sp>
          <p:sp>
            <p:nvSpPr>
              <p:cNvPr id="479269" name="Line 34"/>
              <p:cNvSpPr/>
              <p:nvPr/>
            </p:nvSpPr>
            <p:spPr>
              <a:xfrm rot="-5400000">
                <a:off x="2509" y="1506"/>
                <a:ext cx="0" cy="10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70" name="Line 35"/>
              <p:cNvSpPr/>
              <p:nvPr/>
            </p:nvSpPr>
            <p:spPr>
              <a:xfrm>
                <a:off x="2551" y="1326"/>
                <a:ext cx="0" cy="22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79271" name="Line 36"/>
              <p:cNvSpPr/>
              <p:nvPr/>
            </p:nvSpPr>
            <p:spPr>
              <a:xfrm>
                <a:off x="3057" y="1326"/>
                <a:ext cx="0" cy="22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79272" name="Line 37"/>
              <p:cNvSpPr/>
              <p:nvPr/>
            </p:nvSpPr>
            <p:spPr>
              <a:xfrm>
                <a:off x="3381" y="1553"/>
                <a:ext cx="0" cy="22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79273" name="Line 38"/>
              <p:cNvSpPr/>
              <p:nvPr/>
            </p:nvSpPr>
            <p:spPr>
              <a:xfrm rot="-5400000">
                <a:off x="3682" y="1475"/>
                <a:ext cx="0" cy="5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74" name="Line 39"/>
              <p:cNvSpPr/>
              <p:nvPr/>
            </p:nvSpPr>
            <p:spPr>
              <a:xfrm>
                <a:off x="3391" y="1783"/>
                <a:ext cx="0" cy="4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sm" len="med"/>
              </a:ln>
            </p:spPr>
          </p:sp>
          <p:sp>
            <p:nvSpPr>
              <p:cNvPr id="479275" name="Line 40"/>
              <p:cNvSpPr/>
              <p:nvPr/>
            </p:nvSpPr>
            <p:spPr>
              <a:xfrm>
                <a:off x="3059" y="1543"/>
                <a:ext cx="0" cy="73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sm" len="med"/>
              </a:ln>
            </p:spPr>
          </p:sp>
          <p:sp>
            <p:nvSpPr>
              <p:cNvPr id="479276" name="Line 41"/>
              <p:cNvSpPr/>
              <p:nvPr/>
            </p:nvSpPr>
            <p:spPr>
              <a:xfrm>
                <a:off x="839" y="2002"/>
                <a:ext cx="4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77" name="Line 42"/>
              <p:cNvSpPr/>
              <p:nvPr/>
            </p:nvSpPr>
            <p:spPr>
              <a:xfrm>
                <a:off x="839" y="1780"/>
                <a:ext cx="4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78" name="Line 43"/>
              <p:cNvSpPr/>
              <p:nvPr/>
            </p:nvSpPr>
            <p:spPr>
              <a:xfrm>
                <a:off x="839" y="1557"/>
                <a:ext cx="4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9279" name="Line 44"/>
              <p:cNvSpPr/>
              <p:nvPr/>
            </p:nvSpPr>
            <p:spPr>
              <a:xfrm>
                <a:off x="839" y="1314"/>
                <a:ext cx="4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79243" name="Text Box 45"/>
            <p:cNvSpPr txBox="1"/>
            <p:nvPr/>
          </p:nvSpPr>
          <p:spPr>
            <a:xfrm>
              <a:off x="1293" y="2795"/>
              <a:ext cx="326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CPU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执行程序轨迹（新屏蔽字）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9240" name="AutoShape 4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9241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/>
      <p:bldP spid="423941" grpId="0"/>
      <p:bldP spid="42394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25986" name="Rectangle 2"/>
          <p:cNvSpPr/>
          <p:nvPr/>
        </p:nvSpPr>
        <p:spPr>
          <a:xfrm>
            <a:off x="2220913" y="1295400"/>
            <a:ext cx="5399087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断点进栈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5987" name="Rectangle 3"/>
          <p:cNvSpPr/>
          <p:nvPr/>
        </p:nvSpPr>
        <p:spPr>
          <a:xfrm>
            <a:off x="2220913" y="1981200"/>
            <a:ext cx="43180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断点存入“ </a:t>
            </a:r>
            <a:r>
              <a:rPr lang="en-US" altLang="zh-CN" sz="2800" b="1" dirty="0">
                <a:latin typeface="Times New Roman" panose="02020603050405020304" pitchFamily="18" charset="0"/>
              </a:rPr>
              <a:t>0 ” </a:t>
            </a:r>
            <a:r>
              <a:rPr lang="zh-CN" altLang="en-US" sz="2800" b="1" dirty="0">
                <a:latin typeface="Times New Roman" panose="02020603050405020304" pitchFamily="18" charset="0"/>
              </a:rPr>
              <a:t>地址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5988" name="Rectangle 4"/>
          <p:cNvSpPr/>
          <p:nvPr/>
        </p:nvSpPr>
        <p:spPr>
          <a:xfrm>
            <a:off x="6477000" y="1981200"/>
            <a:ext cx="28797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中断隐指令 </a:t>
            </a:r>
            <a:r>
              <a:rPr lang="zh-CN" altLang="en-US" sz="2800" b="1" dirty="0">
                <a:latin typeface="Times New Roman" panose="02020603050405020304" pitchFamily="18" charset="0"/>
              </a:rPr>
              <a:t>完成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5989" name="Rectangle 5"/>
          <p:cNvSpPr/>
          <p:nvPr/>
        </p:nvSpPr>
        <p:spPr>
          <a:xfrm>
            <a:off x="2743200" y="2819400"/>
            <a:ext cx="18002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中断周期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5990" name="Rectangle 6"/>
          <p:cNvSpPr/>
          <p:nvPr/>
        </p:nvSpPr>
        <p:spPr>
          <a:xfrm>
            <a:off x="4648200" y="3411538"/>
            <a:ext cx="21590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命令存储器写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4648200" y="2819400"/>
            <a:ext cx="1800225" cy="431800"/>
            <a:chOff x="1968" y="1776"/>
            <a:chExt cx="1134" cy="272"/>
          </a:xfrm>
        </p:grpSpPr>
        <p:sp>
          <p:nvSpPr>
            <p:cNvPr id="480282" name="Rectangle 8"/>
            <p:cNvSpPr/>
            <p:nvPr/>
          </p:nvSpPr>
          <p:spPr>
            <a:xfrm>
              <a:off x="1968" y="1776"/>
              <a:ext cx="113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        MAR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0283" name="Line 9"/>
            <p:cNvSpPr/>
            <p:nvPr/>
          </p:nvSpPr>
          <p:spPr>
            <a:xfrm>
              <a:off x="2201" y="1908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3" name="Group 10"/>
          <p:cNvGrpSpPr/>
          <p:nvPr/>
        </p:nvGrpSpPr>
        <p:grpSpPr>
          <a:xfrm>
            <a:off x="4648200" y="4003675"/>
            <a:ext cx="2159000" cy="431800"/>
            <a:chOff x="1968" y="2522"/>
            <a:chExt cx="1360" cy="272"/>
          </a:xfrm>
        </p:grpSpPr>
        <p:sp>
          <p:nvSpPr>
            <p:cNvPr id="480280" name="Rectangle 11"/>
            <p:cNvSpPr/>
            <p:nvPr/>
          </p:nvSpPr>
          <p:spPr>
            <a:xfrm>
              <a:off x="1968" y="2522"/>
              <a:ext cx="136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         MDR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0281" name="Line 12"/>
            <p:cNvSpPr/>
            <p:nvPr/>
          </p:nvSpPr>
          <p:spPr>
            <a:xfrm>
              <a:off x="2393" y="2654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" name="Group 13"/>
          <p:cNvGrpSpPr/>
          <p:nvPr/>
        </p:nvGrpSpPr>
        <p:grpSpPr>
          <a:xfrm>
            <a:off x="4648200" y="4597400"/>
            <a:ext cx="4318000" cy="431800"/>
            <a:chOff x="1968" y="2896"/>
            <a:chExt cx="2720" cy="272"/>
          </a:xfrm>
        </p:grpSpPr>
        <p:sp>
          <p:nvSpPr>
            <p:cNvPr id="480278" name="Rectangle 14"/>
            <p:cNvSpPr/>
            <p:nvPr/>
          </p:nvSpPr>
          <p:spPr>
            <a:xfrm>
              <a:off x="1968" y="2896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(MDR)        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存入存储器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0279" name="Line 15"/>
            <p:cNvSpPr/>
            <p:nvPr/>
          </p:nvSpPr>
          <p:spPr>
            <a:xfrm>
              <a:off x="2729" y="3028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26000" name="Rectangle 16"/>
          <p:cNvSpPr/>
          <p:nvPr/>
        </p:nvSpPr>
        <p:spPr>
          <a:xfrm>
            <a:off x="2743200" y="5283200"/>
            <a:ext cx="6478588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三次中断，三个断点都存入 “ </a:t>
            </a:r>
            <a:r>
              <a:rPr lang="en-US" altLang="zh-CN" sz="2800" b="1" dirty="0">
                <a:latin typeface="Times New Roman" panose="02020603050405020304" pitchFamily="18" charset="0"/>
              </a:rPr>
              <a:t>0 ” </a:t>
            </a:r>
            <a:r>
              <a:rPr lang="zh-CN" altLang="en-US" sz="2800" b="1" dirty="0">
                <a:latin typeface="Times New Roman" panose="02020603050405020304" pitchFamily="18" charset="0"/>
              </a:rPr>
              <a:t>地址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80267" name="Text Box 17"/>
          <p:cNvSpPr txBox="1"/>
          <p:nvPr/>
        </p:nvSpPr>
        <p:spPr>
          <a:xfrm>
            <a:off x="1752600" y="425450"/>
            <a:ext cx="5638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多重中断的断点保护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18"/>
          <p:cNvGrpSpPr/>
          <p:nvPr/>
        </p:nvGrpSpPr>
        <p:grpSpPr>
          <a:xfrm>
            <a:off x="7146925" y="4003675"/>
            <a:ext cx="2206626" cy="460375"/>
            <a:chOff x="3542" y="2522"/>
            <a:chExt cx="1390" cy="290"/>
          </a:xfrm>
        </p:grpSpPr>
        <p:sp>
          <p:nvSpPr>
            <p:cNvPr id="480276" name="Text Box 19"/>
            <p:cNvSpPr txBox="1"/>
            <p:nvPr/>
          </p:nvSpPr>
          <p:spPr>
            <a:xfrm>
              <a:off x="3542" y="2522"/>
              <a:ext cx="139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断点 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MDR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80277" name="Line 20"/>
            <p:cNvSpPr/>
            <p:nvPr/>
          </p:nvSpPr>
          <p:spPr>
            <a:xfrm>
              <a:off x="4032" y="266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" name="Group 21"/>
          <p:cNvGrpSpPr/>
          <p:nvPr/>
        </p:nvGrpSpPr>
        <p:grpSpPr>
          <a:xfrm>
            <a:off x="2743200" y="5881688"/>
            <a:ext cx="4271963" cy="522287"/>
            <a:chOff x="768" y="3705"/>
            <a:chExt cx="2691" cy="329"/>
          </a:xfrm>
        </p:grpSpPr>
        <p:sp>
          <p:nvSpPr>
            <p:cNvPr id="480274" name="Rectangle 22"/>
            <p:cNvSpPr/>
            <p:nvPr/>
          </p:nvSpPr>
          <p:spPr>
            <a:xfrm>
              <a:off x="768" y="3760"/>
              <a:ext cx="38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zh-CN" altLang="en-US" sz="4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80275" name="Text Box 23"/>
            <p:cNvSpPr txBox="1"/>
            <p:nvPr/>
          </p:nvSpPr>
          <p:spPr>
            <a:xfrm>
              <a:off x="1104" y="3705"/>
              <a:ext cx="235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如何保证断点不丢失？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6008" name="Rectangle 24"/>
          <p:cNvSpPr/>
          <p:nvPr/>
        </p:nvSpPr>
        <p:spPr>
          <a:xfrm>
            <a:off x="6477000" y="1295400"/>
            <a:ext cx="2879725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中断隐指令 </a:t>
            </a:r>
            <a:r>
              <a:rPr lang="zh-CN" altLang="en-US" sz="2800" b="1" dirty="0">
                <a:latin typeface="Times New Roman" panose="02020603050405020304" pitchFamily="18" charset="0"/>
              </a:rPr>
              <a:t>完成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0272" name="AutoShape 26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0273" name="日期占位符 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6" grpId="0"/>
      <p:bldP spid="425987" grpId="0"/>
      <p:bldP spid="425988" grpId="0"/>
      <p:bldP spid="425989" grpId="0"/>
      <p:bldP spid="425990" grpId="0"/>
      <p:bldP spid="426000" grpId="0"/>
      <p:bldP spid="42600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81282" name="Text Box 2"/>
          <p:cNvSpPr txBox="1"/>
          <p:nvPr/>
        </p:nvSpPr>
        <p:spPr>
          <a:xfrm>
            <a:off x="1905000" y="323850"/>
            <a:ext cx="7696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(3)  </a:t>
            </a:r>
            <a:r>
              <a:rPr lang="zh-CN" altLang="en-US" sz="3200" b="1" dirty="0">
                <a:latin typeface="Times New Roman" panose="02020603050405020304" pitchFamily="18" charset="0"/>
              </a:rPr>
              <a:t>程序断点存入 “ </a:t>
            </a:r>
            <a:r>
              <a:rPr lang="en-US" altLang="zh-CN" sz="3200" b="1" dirty="0">
                <a:latin typeface="Times New Roman" panose="02020603050405020304" pitchFamily="18" charset="0"/>
              </a:rPr>
              <a:t>0 ” </a:t>
            </a:r>
            <a:r>
              <a:rPr lang="zh-CN" altLang="en-US" sz="3200" b="1" dirty="0">
                <a:latin typeface="Times New Roman" panose="02020603050405020304" pitchFamily="18" charset="0"/>
              </a:rPr>
              <a:t>地址的断点保护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936875" y="1571625"/>
            <a:ext cx="3200400" cy="381000"/>
            <a:chOff x="890" y="1008"/>
            <a:chExt cx="2016" cy="240"/>
          </a:xfrm>
        </p:grpSpPr>
        <p:sp>
          <p:nvSpPr>
            <p:cNvPr id="481337" name="Rectangle 4"/>
            <p:cNvSpPr/>
            <p:nvPr/>
          </p:nvSpPr>
          <p:spPr>
            <a:xfrm>
              <a:off x="1562" y="1008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81338" name="Rectangle 5"/>
            <p:cNvSpPr/>
            <p:nvPr/>
          </p:nvSpPr>
          <p:spPr>
            <a:xfrm>
              <a:off x="890" y="1008"/>
              <a:ext cx="453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2936875" y="1905000"/>
            <a:ext cx="3200400" cy="381000"/>
            <a:chOff x="890" y="1200"/>
            <a:chExt cx="2016" cy="240"/>
          </a:xfrm>
        </p:grpSpPr>
        <p:sp>
          <p:nvSpPr>
            <p:cNvPr id="481335" name="Rectangle 7"/>
            <p:cNvSpPr/>
            <p:nvPr/>
          </p:nvSpPr>
          <p:spPr>
            <a:xfrm>
              <a:off x="890" y="1200"/>
              <a:ext cx="453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36" name="Rectangle 8"/>
            <p:cNvSpPr/>
            <p:nvPr/>
          </p:nvSpPr>
          <p:spPr>
            <a:xfrm>
              <a:off x="1562" y="1200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JMP   SERVE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9"/>
          <p:cNvGrpSpPr/>
          <p:nvPr/>
        </p:nvGrpSpPr>
        <p:grpSpPr>
          <a:xfrm>
            <a:off x="2479675" y="5791200"/>
            <a:ext cx="3581400" cy="457200"/>
            <a:chOff x="602" y="3648"/>
            <a:chExt cx="2256" cy="288"/>
          </a:xfrm>
        </p:grpSpPr>
        <p:sp>
          <p:nvSpPr>
            <p:cNvPr id="481333" name="Rectangle 10"/>
            <p:cNvSpPr/>
            <p:nvPr/>
          </p:nvSpPr>
          <p:spPr>
            <a:xfrm>
              <a:off x="1514" y="3696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81334" name="Rectangle 11"/>
            <p:cNvSpPr/>
            <p:nvPr/>
          </p:nvSpPr>
          <p:spPr>
            <a:xfrm>
              <a:off x="602" y="3648"/>
              <a:ext cx="793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SAVE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2"/>
          <p:cNvGrpSpPr/>
          <p:nvPr/>
        </p:nvGrpSpPr>
        <p:grpSpPr>
          <a:xfrm>
            <a:off x="2403475" y="6161088"/>
            <a:ext cx="3657600" cy="415925"/>
            <a:chOff x="554" y="3888"/>
            <a:chExt cx="2304" cy="262"/>
          </a:xfrm>
        </p:grpSpPr>
        <p:sp>
          <p:nvSpPr>
            <p:cNvPr id="481331" name="Rectangle 13"/>
            <p:cNvSpPr/>
            <p:nvPr/>
          </p:nvSpPr>
          <p:spPr>
            <a:xfrm>
              <a:off x="1514" y="3910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81332" name="Rectangle 14"/>
            <p:cNvSpPr/>
            <p:nvPr/>
          </p:nvSpPr>
          <p:spPr>
            <a:xfrm>
              <a:off x="554" y="3888"/>
              <a:ext cx="793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RETURN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15"/>
          <p:cNvGrpSpPr/>
          <p:nvPr/>
        </p:nvGrpSpPr>
        <p:grpSpPr>
          <a:xfrm>
            <a:off x="4003675" y="2438400"/>
            <a:ext cx="2133600" cy="838200"/>
            <a:chOff x="1562" y="1536"/>
            <a:chExt cx="1344" cy="528"/>
          </a:xfrm>
        </p:grpSpPr>
        <p:sp>
          <p:nvSpPr>
            <p:cNvPr id="481329" name="Rectangle 16"/>
            <p:cNvSpPr/>
            <p:nvPr/>
          </p:nvSpPr>
          <p:spPr>
            <a:xfrm>
              <a:off x="1562" y="1536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STA   SAVE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81330" name="Text Box 17"/>
            <p:cNvSpPr txBox="1"/>
            <p:nvPr/>
          </p:nvSpPr>
          <p:spPr>
            <a:xfrm>
              <a:off x="1716" y="1814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18"/>
          <p:cNvGrpSpPr/>
          <p:nvPr/>
        </p:nvGrpSpPr>
        <p:grpSpPr>
          <a:xfrm>
            <a:off x="6888163" y="3354388"/>
            <a:ext cx="2327275" cy="608012"/>
            <a:chOff x="3379" y="2113"/>
            <a:chExt cx="1466" cy="383"/>
          </a:xfrm>
        </p:grpSpPr>
        <p:sp>
          <p:nvSpPr>
            <p:cNvPr id="481327" name="AutoShape 19"/>
            <p:cNvSpPr/>
            <p:nvPr/>
          </p:nvSpPr>
          <p:spPr>
            <a:xfrm>
              <a:off x="3379" y="2113"/>
              <a:ext cx="70" cy="383"/>
            </a:xfrm>
            <a:prstGeom prst="rightBrace">
              <a:avLst>
                <a:gd name="adj1" fmla="val 45164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0" bIns="0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328" name="Text Box 20"/>
            <p:cNvSpPr txBox="1"/>
            <p:nvPr/>
          </p:nvSpPr>
          <p:spPr>
            <a:xfrm>
              <a:off x="3542" y="2179"/>
              <a:ext cx="130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</a:t>
              </a:r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地址内容转存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21"/>
          <p:cNvGrpSpPr/>
          <p:nvPr/>
        </p:nvGrpSpPr>
        <p:grpSpPr>
          <a:xfrm>
            <a:off x="6888163" y="4419600"/>
            <a:ext cx="2117725" cy="533400"/>
            <a:chOff x="3379" y="2784"/>
            <a:chExt cx="1334" cy="336"/>
          </a:xfrm>
        </p:grpSpPr>
        <p:sp>
          <p:nvSpPr>
            <p:cNvPr id="481325" name="AutoShape 22"/>
            <p:cNvSpPr/>
            <p:nvPr/>
          </p:nvSpPr>
          <p:spPr>
            <a:xfrm>
              <a:off x="3379" y="2784"/>
              <a:ext cx="70" cy="336"/>
            </a:xfrm>
            <a:prstGeom prst="rightBrace">
              <a:avLst>
                <a:gd name="adj1" fmla="val 400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0" bIns="0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326" name="Text Box 23"/>
            <p:cNvSpPr txBox="1"/>
            <p:nvPr/>
          </p:nvSpPr>
          <p:spPr>
            <a:xfrm>
              <a:off x="3542" y="2803"/>
              <a:ext cx="1171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其他服务内容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7032" name="Rectangle 24"/>
          <p:cNvSpPr/>
          <p:nvPr/>
        </p:nvSpPr>
        <p:spPr>
          <a:xfrm>
            <a:off x="2479675" y="2438400"/>
            <a:ext cx="1258888" cy="381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SERVE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33" name="Rectangle 25"/>
          <p:cNvSpPr/>
          <p:nvPr/>
        </p:nvSpPr>
        <p:spPr>
          <a:xfrm>
            <a:off x="4003675" y="4983163"/>
            <a:ext cx="2133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LDA   SAVE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27034" name="Rectangle 26"/>
          <p:cNvSpPr/>
          <p:nvPr/>
        </p:nvSpPr>
        <p:spPr>
          <a:xfrm>
            <a:off x="4003675" y="5410200"/>
            <a:ext cx="2519363" cy="381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JMP  @  RETURN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35" name="Text Box 27"/>
          <p:cNvSpPr txBox="1"/>
          <p:nvPr/>
        </p:nvSpPr>
        <p:spPr>
          <a:xfrm>
            <a:off x="7146925" y="1524000"/>
            <a:ext cx="15798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存程序断点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27036" name="Text Box 28"/>
          <p:cNvSpPr txBox="1"/>
          <p:nvPr/>
        </p:nvSpPr>
        <p:spPr>
          <a:xfrm>
            <a:off x="7146925" y="1905000"/>
            <a:ext cx="178943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latin typeface="Times New Roman" panose="02020603050405020304" pitchFamily="18" charset="0"/>
              </a:rPr>
              <a:t>5 </a:t>
            </a:r>
            <a:r>
              <a:rPr lang="zh-CN" altLang="en-US" sz="2200" b="1" dirty="0">
                <a:latin typeface="Times New Roman" panose="02020603050405020304" pitchFamily="18" charset="0"/>
              </a:rPr>
              <a:t>为向量地址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427037" name="Text Box 29"/>
          <p:cNvSpPr txBox="1"/>
          <p:nvPr/>
        </p:nvSpPr>
        <p:spPr>
          <a:xfrm>
            <a:off x="4248785" y="4479925"/>
            <a:ext cx="551815" cy="39624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27038" name="Text Box 30"/>
          <p:cNvSpPr txBox="1"/>
          <p:nvPr/>
        </p:nvSpPr>
        <p:spPr>
          <a:xfrm>
            <a:off x="7146925" y="2392363"/>
            <a:ext cx="13004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保护现场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39" name="Text Box 31"/>
          <p:cNvSpPr txBox="1"/>
          <p:nvPr/>
        </p:nvSpPr>
        <p:spPr>
          <a:xfrm>
            <a:off x="7146925" y="4983163"/>
            <a:ext cx="13004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恢复现场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40" name="Text Box 32"/>
          <p:cNvSpPr txBox="1"/>
          <p:nvPr/>
        </p:nvSpPr>
        <p:spPr>
          <a:xfrm>
            <a:off x="7146925" y="5410200"/>
            <a:ext cx="13004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间址返回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41" name="Text Box 33"/>
          <p:cNvSpPr txBox="1"/>
          <p:nvPr/>
        </p:nvSpPr>
        <p:spPr>
          <a:xfrm>
            <a:off x="7146925" y="5791200"/>
            <a:ext cx="2606675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存放 </a:t>
            </a:r>
            <a:r>
              <a:rPr lang="en-US" altLang="zh-CN" sz="2200" b="1" dirty="0">
                <a:latin typeface="Times New Roman" panose="02020603050405020304" pitchFamily="18" charset="0"/>
              </a:rPr>
              <a:t>ACC </a:t>
            </a:r>
            <a:r>
              <a:rPr lang="zh-CN" altLang="en-US" sz="2200" b="1" dirty="0">
                <a:latin typeface="Times New Roman" panose="02020603050405020304" pitchFamily="18" charset="0"/>
              </a:rPr>
              <a:t>内容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42" name="Text Box 34"/>
          <p:cNvSpPr txBox="1"/>
          <p:nvPr/>
        </p:nvSpPr>
        <p:spPr>
          <a:xfrm>
            <a:off x="7146925" y="6161088"/>
            <a:ext cx="21386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转存 </a:t>
            </a:r>
            <a:r>
              <a:rPr lang="en-US" altLang="zh-CN" sz="2200" b="1" dirty="0">
                <a:latin typeface="Times New Roman" panose="02020603050405020304" pitchFamily="18" charset="0"/>
              </a:rPr>
              <a:t>0 </a:t>
            </a:r>
            <a:r>
              <a:rPr lang="zh-CN" altLang="en-US" sz="2200" b="1" dirty="0">
                <a:latin typeface="Times New Roman" panose="02020603050405020304" pitchFamily="18" charset="0"/>
              </a:rPr>
              <a:t>地址内容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27043" name="Text Box 35"/>
          <p:cNvSpPr txBox="1"/>
          <p:nvPr/>
        </p:nvSpPr>
        <p:spPr>
          <a:xfrm>
            <a:off x="7146925" y="3992563"/>
            <a:ext cx="10210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开中断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7044" name="Text Box 36"/>
          <p:cNvSpPr txBox="1"/>
          <p:nvPr/>
        </p:nvSpPr>
        <p:spPr>
          <a:xfrm>
            <a:off x="3886200" y="3992563"/>
            <a:ext cx="7251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ENI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Group 37"/>
          <p:cNvGrpSpPr/>
          <p:nvPr/>
        </p:nvGrpSpPr>
        <p:grpSpPr>
          <a:xfrm>
            <a:off x="3886200" y="3276600"/>
            <a:ext cx="2252663" cy="803275"/>
            <a:chOff x="1488" y="2064"/>
            <a:chExt cx="1419" cy="506"/>
          </a:xfrm>
        </p:grpSpPr>
        <p:sp>
          <p:nvSpPr>
            <p:cNvPr id="481323" name="Rectangle 38"/>
            <p:cNvSpPr/>
            <p:nvPr/>
          </p:nvSpPr>
          <p:spPr>
            <a:xfrm>
              <a:off x="1536" y="2064"/>
              <a:ext cx="134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LDA  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81324" name="Text Box 39"/>
            <p:cNvSpPr txBox="1"/>
            <p:nvPr/>
          </p:nvSpPr>
          <p:spPr>
            <a:xfrm>
              <a:off x="1488" y="2280"/>
              <a:ext cx="141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STA   RETURN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40"/>
          <p:cNvGrpSpPr/>
          <p:nvPr/>
        </p:nvGrpSpPr>
        <p:grpSpPr>
          <a:xfrm>
            <a:off x="2362200" y="3505200"/>
            <a:ext cx="1981200" cy="533400"/>
            <a:chOff x="528" y="2208"/>
            <a:chExt cx="1248" cy="336"/>
          </a:xfrm>
        </p:grpSpPr>
        <p:sp>
          <p:nvSpPr>
            <p:cNvPr id="481321" name="Text Box 41"/>
            <p:cNvSpPr txBox="1"/>
            <p:nvPr/>
          </p:nvSpPr>
          <p:spPr>
            <a:xfrm>
              <a:off x="528" y="2208"/>
              <a:ext cx="124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置屏蔽字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22" name="Line 42"/>
            <p:cNvSpPr/>
            <p:nvPr/>
          </p:nvSpPr>
          <p:spPr>
            <a:xfrm>
              <a:off x="1056" y="2544"/>
              <a:ext cx="52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27051" name="Rectangle 4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06" name="AutoShape 44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1" name="Group 45"/>
          <p:cNvGrpSpPr/>
          <p:nvPr/>
        </p:nvGrpSpPr>
        <p:grpSpPr>
          <a:xfrm>
            <a:off x="2133600" y="990600"/>
            <a:ext cx="7845425" cy="5664200"/>
            <a:chOff x="384" y="624"/>
            <a:chExt cx="4942" cy="3568"/>
          </a:xfrm>
        </p:grpSpPr>
        <p:grpSp>
          <p:nvGrpSpPr>
            <p:cNvPr id="481309" name="Group 46"/>
            <p:cNvGrpSpPr/>
            <p:nvPr/>
          </p:nvGrpSpPr>
          <p:grpSpPr>
            <a:xfrm>
              <a:off x="384" y="624"/>
              <a:ext cx="4942" cy="3559"/>
              <a:chOff x="384" y="624"/>
              <a:chExt cx="4942" cy="3559"/>
            </a:xfrm>
          </p:grpSpPr>
          <p:sp>
            <p:nvSpPr>
              <p:cNvPr id="481313" name="Rectangle 47"/>
              <p:cNvSpPr/>
              <p:nvPr/>
            </p:nvSpPr>
            <p:spPr>
              <a:xfrm>
                <a:off x="672" y="672"/>
                <a:ext cx="52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 anchorCtr="0"/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地   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314" name="Rectangle 48"/>
              <p:cNvSpPr/>
              <p:nvPr/>
            </p:nvSpPr>
            <p:spPr>
              <a:xfrm>
                <a:off x="1968" y="672"/>
                <a:ext cx="52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ctr" anchorCtr="0"/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内     容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81315" name="Group 49"/>
              <p:cNvGrpSpPr/>
              <p:nvPr/>
            </p:nvGrpSpPr>
            <p:grpSpPr>
              <a:xfrm>
                <a:off x="384" y="624"/>
                <a:ext cx="4942" cy="3559"/>
                <a:chOff x="384" y="624"/>
                <a:chExt cx="4942" cy="3559"/>
              </a:xfrm>
            </p:grpSpPr>
            <p:sp>
              <p:nvSpPr>
                <p:cNvPr id="481317" name="Line 50"/>
                <p:cNvSpPr/>
                <p:nvPr/>
              </p:nvSpPr>
              <p:spPr>
                <a:xfrm>
                  <a:off x="384" y="624"/>
                  <a:ext cx="494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1318" name="Line 51"/>
                <p:cNvSpPr/>
                <p:nvPr/>
              </p:nvSpPr>
              <p:spPr>
                <a:xfrm>
                  <a:off x="384" y="960"/>
                  <a:ext cx="494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1319" name="Line 52"/>
                <p:cNvSpPr/>
                <p:nvPr/>
              </p:nvSpPr>
              <p:spPr>
                <a:xfrm>
                  <a:off x="1440" y="624"/>
                  <a:ext cx="0" cy="355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81320" name="Line 53"/>
                <p:cNvSpPr/>
                <p:nvPr/>
              </p:nvSpPr>
              <p:spPr>
                <a:xfrm>
                  <a:off x="3216" y="624"/>
                  <a:ext cx="0" cy="355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1316" name="Text Box 54"/>
              <p:cNvSpPr txBox="1"/>
              <p:nvPr/>
            </p:nvSpPr>
            <p:spPr>
              <a:xfrm>
                <a:off x="3861" y="669"/>
                <a:ext cx="78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说      明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81310" name="Line 55"/>
            <p:cNvSpPr/>
            <p:nvPr/>
          </p:nvSpPr>
          <p:spPr>
            <a:xfrm>
              <a:off x="384" y="4192"/>
              <a:ext cx="494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311" name="Line 56"/>
            <p:cNvSpPr/>
            <p:nvPr/>
          </p:nvSpPr>
          <p:spPr>
            <a:xfrm>
              <a:off x="395" y="624"/>
              <a:ext cx="0" cy="355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312" name="Line 57"/>
            <p:cNvSpPr/>
            <p:nvPr/>
          </p:nvSpPr>
          <p:spPr>
            <a:xfrm>
              <a:off x="5320" y="624"/>
              <a:ext cx="0" cy="355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81308" name="日期占位符 1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2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2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2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2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32" grpId="0"/>
      <p:bldP spid="427033" grpId="0"/>
      <p:bldP spid="427034" grpId="0"/>
      <p:bldP spid="427035" grpId="0"/>
      <p:bldP spid="427036" grpId="0"/>
      <p:bldP spid="427037" grpId="0"/>
      <p:bldP spid="427038" grpId="0"/>
      <p:bldP spid="427039" grpId="0"/>
      <p:bldP spid="427040" grpId="0"/>
      <p:bldP spid="427041" grpId="0"/>
      <p:bldP spid="427042" grpId="0"/>
      <p:bldP spid="427043" grpId="0"/>
      <p:bldP spid="427044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ABLE_BEAUTIFY" val="smartTable{88b2b0d3-a4b0-429f-ba93-1fbd4aba7837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16563</Words>
  <Application>WPS 演示</Application>
  <PresentationFormat>宽屏</PresentationFormat>
  <Paragraphs>4741</Paragraphs>
  <Slides>102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102</vt:i4>
      </vt:variant>
    </vt:vector>
  </HeadingPairs>
  <TitlesOfParts>
    <vt:vector size="1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Arial</vt:lpstr>
      <vt:lpstr>Office 主题​​</vt:lpstr>
      <vt:lpstr>第７章   指 令 系 统</vt:lpstr>
      <vt:lpstr>7.1  机 器 指 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7.2   操作数类型和操作种类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7.3   寻 址 方 式</vt:lpstr>
      <vt:lpstr>7.3   寻 址 方 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7.4   指令格式举例</vt:lpstr>
      <vt:lpstr>PowerPoint 演示文稿</vt:lpstr>
      <vt:lpstr>PowerPoint 演示文稿</vt:lpstr>
      <vt:lpstr>PowerPoint 演示文稿</vt:lpstr>
      <vt:lpstr>PowerPoint 演示文稿</vt:lpstr>
      <vt:lpstr>7.5   RISC  技 术 </vt:lpstr>
      <vt:lpstr>PowerPoint 演示文稿</vt:lpstr>
      <vt:lpstr>PowerPoint 演示文稿</vt:lpstr>
      <vt:lpstr>PowerPoint 演示文稿</vt:lpstr>
      <vt:lpstr>PowerPoint 演示文稿</vt:lpstr>
      <vt:lpstr>指令系统总结</vt:lpstr>
      <vt:lpstr>第８章   CPU 的结构和功能</vt:lpstr>
      <vt:lpstr>8.1   CPU 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   指 令 周 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   指 令 流 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 中断系统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fish</cp:lastModifiedBy>
  <cp:revision>173</cp:revision>
  <dcterms:created xsi:type="dcterms:W3CDTF">2019-06-19T02:08:00Z</dcterms:created>
  <dcterms:modified xsi:type="dcterms:W3CDTF">2022-04-06T05:25:39Z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7D2023E77C294B33BAC5ED2016082B8A</vt:lpwstr>
  </property>
</Properties>
</file>