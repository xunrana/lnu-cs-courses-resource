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1" r:id="rId4"/>
  </p:sldMasterIdLst>
  <p:notesMasterIdLst>
    <p:notesMasterId r:id="rId8"/>
  </p:notesMasterIdLst>
  <p:handoutMasterIdLst>
    <p:handoutMasterId r:id="rId9"/>
  </p:handoutMasterIdLst>
  <p:sldIdLst>
    <p:sldId id="257" r:id="rId5"/>
    <p:sldId id="259" r:id="rId6"/>
    <p:sldId id="261" r:id="rId7"/>
  </p:sldIdLst>
  <p:sldSz cx="9144000" cy="6858000" type="screen4x3"/>
  <p:notesSz cx="6934200" cy="9398000"/>
  <p:custDataLst>
    <p:tags r:id="rId13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C0FF"/>
    <a:srgbClr val="FF0000"/>
    <a:srgbClr val="CCECFF"/>
    <a:srgbClr val="99CCFF"/>
    <a:srgbClr val="CC99FF"/>
    <a:srgbClr val="3399FF"/>
    <a:srgbClr val="FFCCFF"/>
    <a:srgbClr val="9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3"/>
    <p:restoredTop sz="94608"/>
  </p:normalViewPr>
  <p:slideViewPr>
    <p:cSldViewPr showGuides="1">
      <p:cViewPr varScale="1">
        <p:scale>
          <a:sx n="80" d="100"/>
          <a:sy n="80" d="100"/>
        </p:scale>
        <p:origin x="-1188" y="-96"/>
      </p:cViewPr>
      <p:guideLst>
        <p:guide orient="horz" pos="2160"/>
        <p:guide pos="28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rgbClr val="FFFFFF"/>
                </a:solidFill>
              </a:rPr>
            </a:fld>
            <a:endParaRPr lang="zh-CN" altLang="en-US" sz="1200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7" name="Rectangle 3"/>
          <p:cNvSpPr>
            <a:spLocks noGrp="1" noRot="1" noChangeAspect="1"/>
          </p:cNvSpPr>
          <p:nvPr>
            <p:ph type="sldImg"/>
          </p:nvPr>
        </p:nvSpPr>
        <p:spPr>
          <a:xfrm>
            <a:off x="1079500" y="685800"/>
            <a:ext cx="4775200" cy="358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95800"/>
            <a:ext cx="5105400" cy="419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115888"/>
            <a:ext cx="1943100" cy="5903912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15888"/>
            <a:ext cx="5676900" cy="5903912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115888"/>
            <a:ext cx="7772400" cy="5903912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115888"/>
            <a:ext cx="1943100" cy="5903912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15888"/>
            <a:ext cx="5676900" cy="5903912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115888"/>
            <a:ext cx="1943100" cy="5903912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15888"/>
            <a:ext cx="5676900" cy="5903912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115888"/>
            <a:ext cx="7772400" cy="5903912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/>
          </p:cNvSpPr>
          <p:nvPr>
            <p:ph type="body"/>
          </p:nvPr>
        </p:nvSpPr>
        <p:spPr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lnSpc>
                <a:spcPct val="100000"/>
              </a:lnSpc>
              <a:buFontTx/>
              <a:buNone/>
              <a:defRPr kumimoji="1" sz="1400" b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lnSpc>
                <a:spcPct val="100000"/>
              </a:lnSpc>
              <a:buFontTx/>
              <a:buNone/>
              <a:defRPr kumimoji="1" sz="1400" b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0" name="Rectangle 16"/>
          <p:cNvSpPr>
            <a:spLocks noGrp="1"/>
          </p:cNvSpPr>
          <p:nvPr>
            <p:ph type="title"/>
          </p:nvPr>
        </p:nvSpPr>
        <p:spPr>
          <a:xfrm>
            <a:off x="685800" y="115888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1031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2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>
              <a:gd name="T0" fmla="*/ 350 w 351"/>
              <a:gd name="T1" fmla="*/ 1 h 219"/>
              <a:gd name="T2" fmla="*/ 101 w 351"/>
              <a:gd name="T3" fmla="*/ 0 h 219"/>
              <a:gd name="T4" fmla="*/ 81 w 351"/>
              <a:gd name="T5" fmla="*/ 2 h 219"/>
              <a:gd name="T6" fmla="*/ 67 w 351"/>
              <a:gd name="T7" fmla="*/ 6 h 219"/>
              <a:gd name="T8" fmla="*/ 51 w 351"/>
              <a:gd name="T9" fmla="*/ 15 h 219"/>
              <a:gd name="T10" fmla="*/ 38 w 351"/>
              <a:gd name="T11" fmla="*/ 25 h 219"/>
              <a:gd name="T12" fmla="*/ 28 w 351"/>
              <a:gd name="T13" fmla="*/ 35 h 219"/>
              <a:gd name="T14" fmla="*/ 19 w 351"/>
              <a:gd name="T15" fmla="*/ 48 h 219"/>
              <a:gd name="T16" fmla="*/ 12 w 351"/>
              <a:gd name="T17" fmla="*/ 59 h 219"/>
              <a:gd name="T18" fmla="*/ 6 w 351"/>
              <a:gd name="T19" fmla="*/ 73 h 219"/>
              <a:gd name="T20" fmla="*/ 1 w 351"/>
              <a:gd name="T21" fmla="*/ 89 h 219"/>
              <a:gd name="T22" fmla="*/ 1 w 351"/>
              <a:gd name="T23" fmla="*/ 99 h 219"/>
              <a:gd name="T24" fmla="*/ 0 w 351"/>
              <a:gd name="T25" fmla="*/ 119 h 219"/>
              <a:gd name="T26" fmla="*/ 2 w 351"/>
              <a:gd name="T27" fmla="*/ 136 h 219"/>
              <a:gd name="T28" fmla="*/ 9 w 351"/>
              <a:gd name="T29" fmla="*/ 150 h 219"/>
              <a:gd name="T30" fmla="*/ 15 w 351"/>
              <a:gd name="T31" fmla="*/ 164 h 219"/>
              <a:gd name="T32" fmla="*/ 24 w 351"/>
              <a:gd name="T33" fmla="*/ 176 h 219"/>
              <a:gd name="T34" fmla="*/ 33 w 351"/>
              <a:gd name="T35" fmla="*/ 189 h 219"/>
              <a:gd name="T36" fmla="*/ 46 w 351"/>
              <a:gd name="T37" fmla="*/ 198 h 219"/>
              <a:gd name="T38" fmla="*/ 59 w 351"/>
              <a:gd name="T39" fmla="*/ 207 h 219"/>
              <a:gd name="T40" fmla="*/ 72 w 351"/>
              <a:gd name="T41" fmla="*/ 212 h 219"/>
              <a:gd name="T42" fmla="*/ 90 w 351"/>
              <a:gd name="T43" fmla="*/ 218 h 219"/>
              <a:gd name="T44" fmla="*/ 350 w 351"/>
              <a:gd name="T45" fmla="*/ 218 h 219"/>
              <a:gd name="T46" fmla="*/ 35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>
              <a:gd name="T0" fmla="*/ 0 w 351"/>
              <a:gd name="T1" fmla="*/ 1 h 219"/>
              <a:gd name="T2" fmla="*/ 249 w 351"/>
              <a:gd name="T3" fmla="*/ 0 h 219"/>
              <a:gd name="T4" fmla="*/ 268 w 351"/>
              <a:gd name="T5" fmla="*/ 3 h 219"/>
              <a:gd name="T6" fmla="*/ 283 w 351"/>
              <a:gd name="T7" fmla="*/ 6 h 219"/>
              <a:gd name="T8" fmla="*/ 298 w 351"/>
              <a:gd name="T9" fmla="*/ 16 h 219"/>
              <a:gd name="T10" fmla="*/ 311 w 351"/>
              <a:gd name="T11" fmla="*/ 26 h 219"/>
              <a:gd name="T12" fmla="*/ 321 w 351"/>
              <a:gd name="T13" fmla="*/ 35 h 219"/>
              <a:gd name="T14" fmla="*/ 331 w 351"/>
              <a:gd name="T15" fmla="*/ 48 h 219"/>
              <a:gd name="T16" fmla="*/ 337 w 351"/>
              <a:gd name="T17" fmla="*/ 60 h 219"/>
              <a:gd name="T18" fmla="*/ 344 w 351"/>
              <a:gd name="T19" fmla="*/ 74 h 219"/>
              <a:gd name="T20" fmla="*/ 349 w 351"/>
              <a:gd name="T21" fmla="*/ 90 h 219"/>
              <a:gd name="T22" fmla="*/ 349 w 351"/>
              <a:gd name="T23" fmla="*/ 100 h 219"/>
              <a:gd name="T24" fmla="*/ 350 w 351"/>
              <a:gd name="T25" fmla="*/ 119 h 219"/>
              <a:gd name="T26" fmla="*/ 347 w 351"/>
              <a:gd name="T27" fmla="*/ 136 h 219"/>
              <a:gd name="T28" fmla="*/ 341 w 351"/>
              <a:gd name="T29" fmla="*/ 151 h 219"/>
              <a:gd name="T30" fmla="*/ 334 w 351"/>
              <a:gd name="T31" fmla="*/ 165 h 219"/>
              <a:gd name="T32" fmla="*/ 325 w 351"/>
              <a:gd name="T33" fmla="*/ 176 h 219"/>
              <a:gd name="T34" fmla="*/ 316 w 351"/>
              <a:gd name="T35" fmla="*/ 189 h 219"/>
              <a:gd name="T36" fmla="*/ 303 w 351"/>
              <a:gd name="T37" fmla="*/ 199 h 219"/>
              <a:gd name="T38" fmla="*/ 290 w 351"/>
              <a:gd name="T39" fmla="*/ 208 h 219"/>
              <a:gd name="T40" fmla="*/ 277 w 351"/>
              <a:gd name="T41" fmla="*/ 213 h 219"/>
              <a:gd name="T42" fmla="*/ 259 w 351"/>
              <a:gd name="T43" fmla="*/ 218 h 219"/>
              <a:gd name="T44" fmla="*/ 0 w 351"/>
              <a:gd name="T45" fmla="*/ 218 h 219"/>
              <a:gd name="T46" fmla="*/ 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w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9"/>
          <p:cNvSpPr>
            <a:spLocks noGrp="1"/>
          </p:cNvSpPr>
          <p:nvPr>
            <p:ph type="body"/>
          </p:nvPr>
        </p:nvSpPr>
        <p:spPr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lnSpc>
                <a:spcPct val="100000"/>
              </a:lnSpc>
              <a:buFontTx/>
              <a:buNone/>
              <a:defRPr kumimoji="1" sz="1400" b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lnSpc>
                <a:spcPct val="100000"/>
              </a:lnSpc>
              <a:buFontTx/>
              <a:buNone/>
              <a:defRPr kumimoji="1" sz="1400" b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54" name="Rectangle 16"/>
          <p:cNvSpPr>
            <a:spLocks noGrp="1"/>
          </p:cNvSpPr>
          <p:nvPr>
            <p:ph type="title"/>
          </p:nvPr>
        </p:nvSpPr>
        <p:spPr>
          <a:xfrm>
            <a:off x="685800" y="115888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2055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056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/>
            <a:ahLst/>
            <a:cxnLst>
              <a:cxn ang="0">
                <a:pos x="350" y="1"/>
              </a:cxn>
              <a:cxn ang="0">
                <a:pos x="101" y="0"/>
              </a:cxn>
              <a:cxn ang="0">
                <a:pos x="81" y="2"/>
              </a:cxn>
              <a:cxn ang="0">
                <a:pos x="67" y="6"/>
              </a:cxn>
              <a:cxn ang="0">
                <a:pos x="51" y="15"/>
              </a:cxn>
              <a:cxn ang="0">
                <a:pos x="38" y="25"/>
              </a:cxn>
              <a:cxn ang="0">
                <a:pos x="28" y="35"/>
              </a:cxn>
              <a:cxn ang="0">
                <a:pos x="19" y="48"/>
              </a:cxn>
              <a:cxn ang="0">
                <a:pos x="12" y="59"/>
              </a:cxn>
              <a:cxn ang="0">
                <a:pos x="6" y="73"/>
              </a:cxn>
              <a:cxn ang="0">
                <a:pos x="1" y="89"/>
              </a:cxn>
              <a:cxn ang="0">
                <a:pos x="1" y="99"/>
              </a:cxn>
              <a:cxn ang="0">
                <a:pos x="0" y="119"/>
              </a:cxn>
              <a:cxn ang="0">
                <a:pos x="2" y="136"/>
              </a:cxn>
              <a:cxn ang="0">
                <a:pos x="9" y="150"/>
              </a:cxn>
              <a:cxn ang="0">
                <a:pos x="15" y="164"/>
              </a:cxn>
              <a:cxn ang="0">
                <a:pos x="24" y="176"/>
              </a:cxn>
              <a:cxn ang="0">
                <a:pos x="33" y="189"/>
              </a:cxn>
              <a:cxn ang="0">
                <a:pos x="46" y="198"/>
              </a:cxn>
              <a:cxn ang="0">
                <a:pos x="59" y="207"/>
              </a:cxn>
              <a:cxn ang="0">
                <a:pos x="72" y="212"/>
              </a:cxn>
              <a:cxn ang="0">
                <a:pos x="90" y="218"/>
              </a:cxn>
              <a:cxn ang="0">
                <a:pos x="350" y="218"/>
              </a:cxn>
              <a:cxn ang="0">
                <a:pos x="350" y="1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/>
            <a:ahLst/>
            <a:cxnLst>
              <a:cxn ang="0">
                <a:pos x="0" y="1"/>
              </a:cxn>
              <a:cxn ang="0">
                <a:pos x="249" y="0"/>
              </a:cxn>
              <a:cxn ang="0">
                <a:pos x="268" y="3"/>
              </a:cxn>
              <a:cxn ang="0">
                <a:pos x="283" y="6"/>
              </a:cxn>
              <a:cxn ang="0">
                <a:pos x="298" y="16"/>
              </a:cxn>
              <a:cxn ang="0">
                <a:pos x="311" y="26"/>
              </a:cxn>
              <a:cxn ang="0">
                <a:pos x="321" y="35"/>
              </a:cxn>
              <a:cxn ang="0">
                <a:pos x="331" y="48"/>
              </a:cxn>
              <a:cxn ang="0">
                <a:pos x="337" y="60"/>
              </a:cxn>
              <a:cxn ang="0">
                <a:pos x="344" y="74"/>
              </a:cxn>
              <a:cxn ang="0">
                <a:pos x="349" y="90"/>
              </a:cxn>
              <a:cxn ang="0">
                <a:pos x="349" y="100"/>
              </a:cxn>
              <a:cxn ang="0">
                <a:pos x="350" y="119"/>
              </a:cxn>
              <a:cxn ang="0">
                <a:pos x="347" y="136"/>
              </a:cxn>
              <a:cxn ang="0">
                <a:pos x="341" y="151"/>
              </a:cxn>
              <a:cxn ang="0">
                <a:pos x="334" y="165"/>
              </a:cxn>
              <a:cxn ang="0">
                <a:pos x="325" y="176"/>
              </a:cxn>
              <a:cxn ang="0">
                <a:pos x="316" y="189"/>
              </a:cxn>
              <a:cxn ang="0">
                <a:pos x="303" y="199"/>
              </a:cxn>
              <a:cxn ang="0">
                <a:pos x="290" y="208"/>
              </a:cxn>
              <a:cxn ang="0">
                <a:pos x="277" y="213"/>
              </a:cxn>
              <a:cxn ang="0">
                <a:pos x="259" y="218"/>
              </a:cxn>
              <a:cxn ang="0">
                <a:pos x="0" y="218"/>
              </a:cxn>
              <a:cxn ang="0">
                <a:pos x="0" y="1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w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/>
          </p:cNvSpPr>
          <p:nvPr>
            <p:ph type="body"/>
          </p:nvPr>
        </p:nvSpPr>
        <p:spPr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lnSpc>
                <a:spcPct val="100000"/>
              </a:lnSpc>
              <a:buFontTx/>
              <a:buNone/>
              <a:defRPr kumimoji="1" sz="1400" b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lnSpc>
                <a:spcPct val="100000"/>
              </a:lnSpc>
              <a:buFontTx/>
              <a:buNone/>
              <a:defRPr kumimoji="1" sz="1400" b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0" name="Rectangle 16"/>
          <p:cNvSpPr>
            <a:spLocks noGrp="1"/>
          </p:cNvSpPr>
          <p:nvPr>
            <p:ph type="title"/>
          </p:nvPr>
        </p:nvSpPr>
        <p:spPr>
          <a:xfrm>
            <a:off x="685800" y="115888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1031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2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>
              <a:gd name="T0" fmla="*/ 350 w 351"/>
              <a:gd name="T1" fmla="*/ 1 h 219"/>
              <a:gd name="T2" fmla="*/ 101 w 351"/>
              <a:gd name="T3" fmla="*/ 0 h 219"/>
              <a:gd name="T4" fmla="*/ 81 w 351"/>
              <a:gd name="T5" fmla="*/ 2 h 219"/>
              <a:gd name="T6" fmla="*/ 67 w 351"/>
              <a:gd name="T7" fmla="*/ 6 h 219"/>
              <a:gd name="T8" fmla="*/ 51 w 351"/>
              <a:gd name="T9" fmla="*/ 15 h 219"/>
              <a:gd name="T10" fmla="*/ 38 w 351"/>
              <a:gd name="T11" fmla="*/ 25 h 219"/>
              <a:gd name="T12" fmla="*/ 28 w 351"/>
              <a:gd name="T13" fmla="*/ 35 h 219"/>
              <a:gd name="T14" fmla="*/ 19 w 351"/>
              <a:gd name="T15" fmla="*/ 48 h 219"/>
              <a:gd name="T16" fmla="*/ 12 w 351"/>
              <a:gd name="T17" fmla="*/ 59 h 219"/>
              <a:gd name="T18" fmla="*/ 6 w 351"/>
              <a:gd name="T19" fmla="*/ 73 h 219"/>
              <a:gd name="T20" fmla="*/ 1 w 351"/>
              <a:gd name="T21" fmla="*/ 89 h 219"/>
              <a:gd name="T22" fmla="*/ 1 w 351"/>
              <a:gd name="T23" fmla="*/ 99 h 219"/>
              <a:gd name="T24" fmla="*/ 0 w 351"/>
              <a:gd name="T25" fmla="*/ 119 h 219"/>
              <a:gd name="T26" fmla="*/ 2 w 351"/>
              <a:gd name="T27" fmla="*/ 136 h 219"/>
              <a:gd name="T28" fmla="*/ 9 w 351"/>
              <a:gd name="T29" fmla="*/ 150 h 219"/>
              <a:gd name="T30" fmla="*/ 15 w 351"/>
              <a:gd name="T31" fmla="*/ 164 h 219"/>
              <a:gd name="T32" fmla="*/ 24 w 351"/>
              <a:gd name="T33" fmla="*/ 176 h 219"/>
              <a:gd name="T34" fmla="*/ 33 w 351"/>
              <a:gd name="T35" fmla="*/ 189 h 219"/>
              <a:gd name="T36" fmla="*/ 46 w 351"/>
              <a:gd name="T37" fmla="*/ 198 h 219"/>
              <a:gd name="T38" fmla="*/ 59 w 351"/>
              <a:gd name="T39" fmla="*/ 207 h 219"/>
              <a:gd name="T40" fmla="*/ 72 w 351"/>
              <a:gd name="T41" fmla="*/ 212 h 219"/>
              <a:gd name="T42" fmla="*/ 90 w 351"/>
              <a:gd name="T43" fmla="*/ 218 h 219"/>
              <a:gd name="T44" fmla="*/ 350 w 351"/>
              <a:gd name="T45" fmla="*/ 218 h 219"/>
              <a:gd name="T46" fmla="*/ 35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>
              <a:gd name="T0" fmla="*/ 0 w 351"/>
              <a:gd name="T1" fmla="*/ 1 h 219"/>
              <a:gd name="T2" fmla="*/ 249 w 351"/>
              <a:gd name="T3" fmla="*/ 0 h 219"/>
              <a:gd name="T4" fmla="*/ 268 w 351"/>
              <a:gd name="T5" fmla="*/ 3 h 219"/>
              <a:gd name="T6" fmla="*/ 283 w 351"/>
              <a:gd name="T7" fmla="*/ 6 h 219"/>
              <a:gd name="T8" fmla="*/ 298 w 351"/>
              <a:gd name="T9" fmla="*/ 16 h 219"/>
              <a:gd name="T10" fmla="*/ 311 w 351"/>
              <a:gd name="T11" fmla="*/ 26 h 219"/>
              <a:gd name="T12" fmla="*/ 321 w 351"/>
              <a:gd name="T13" fmla="*/ 35 h 219"/>
              <a:gd name="T14" fmla="*/ 331 w 351"/>
              <a:gd name="T15" fmla="*/ 48 h 219"/>
              <a:gd name="T16" fmla="*/ 337 w 351"/>
              <a:gd name="T17" fmla="*/ 60 h 219"/>
              <a:gd name="T18" fmla="*/ 344 w 351"/>
              <a:gd name="T19" fmla="*/ 74 h 219"/>
              <a:gd name="T20" fmla="*/ 349 w 351"/>
              <a:gd name="T21" fmla="*/ 90 h 219"/>
              <a:gd name="T22" fmla="*/ 349 w 351"/>
              <a:gd name="T23" fmla="*/ 100 h 219"/>
              <a:gd name="T24" fmla="*/ 350 w 351"/>
              <a:gd name="T25" fmla="*/ 119 h 219"/>
              <a:gd name="T26" fmla="*/ 347 w 351"/>
              <a:gd name="T27" fmla="*/ 136 h 219"/>
              <a:gd name="T28" fmla="*/ 341 w 351"/>
              <a:gd name="T29" fmla="*/ 151 h 219"/>
              <a:gd name="T30" fmla="*/ 334 w 351"/>
              <a:gd name="T31" fmla="*/ 165 h 219"/>
              <a:gd name="T32" fmla="*/ 325 w 351"/>
              <a:gd name="T33" fmla="*/ 176 h 219"/>
              <a:gd name="T34" fmla="*/ 316 w 351"/>
              <a:gd name="T35" fmla="*/ 189 h 219"/>
              <a:gd name="T36" fmla="*/ 303 w 351"/>
              <a:gd name="T37" fmla="*/ 199 h 219"/>
              <a:gd name="T38" fmla="*/ 290 w 351"/>
              <a:gd name="T39" fmla="*/ 208 h 219"/>
              <a:gd name="T40" fmla="*/ 277 w 351"/>
              <a:gd name="T41" fmla="*/ 213 h 219"/>
              <a:gd name="T42" fmla="*/ 259 w 351"/>
              <a:gd name="T43" fmla="*/ 218 h 219"/>
              <a:gd name="T44" fmla="*/ 0 w 351"/>
              <a:gd name="T45" fmla="*/ 218 h 219"/>
              <a:gd name="T46" fmla="*/ 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w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/>
          <p:nvPr/>
        </p:nvSpPr>
        <p:spPr>
          <a:xfrm>
            <a:off x="250825" y="333375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endParaRPr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79" name="Rectangle 4"/>
          <p:cNvSpPr>
            <a:spLocks noGrp="1"/>
          </p:cNvSpPr>
          <p:nvPr>
            <p:ph type="title"/>
          </p:nvPr>
        </p:nvSpPr>
        <p:spPr>
          <a:xfrm>
            <a:off x="381000" y="333375"/>
            <a:ext cx="7772400" cy="809625"/>
          </a:xfrm>
        </p:spPr>
        <p:txBody>
          <a:bodyPr vert="horz" wrap="square" lIns="92075" tIns="46038" rIns="92075" bIns="46038" anchor="b"/>
          <a:lstStyle/>
          <a:p>
            <a:r>
              <a:rPr lang="zh-CN" altLang="en-US" sz="40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实验</a:t>
            </a:r>
            <a:r>
              <a:rPr lang="en-US" altLang="zh-CN" sz="40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en-US" altLang="zh-CN" sz="40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40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回溯法应用</a:t>
            </a:r>
            <a:endParaRPr lang="zh-CN" altLang="en-US" sz="4000" dirty="0">
              <a:solidFill>
                <a:schemeClr val="bg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580" name="矩形 1"/>
          <p:cNvSpPr/>
          <p:nvPr/>
        </p:nvSpPr>
        <p:spPr>
          <a:xfrm>
            <a:off x="261938" y="1629728"/>
            <a:ext cx="8494712" cy="37839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实验题目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1】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请使用回溯法解决下列问题</a:t>
            </a:r>
            <a:endParaRPr lang="zh-CN" altLang="en-US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、给定若干个正整数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b="1" baseline="-25000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0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,a</a:t>
            </a:r>
            <a:r>
              <a:rPr lang="en-US" altLang="zh-CN" b="1" baseline="-25000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,……,a</a:t>
            </a:r>
            <a:r>
              <a:rPr lang="en-US" altLang="zh-CN" b="1" baseline="-25000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n-1</a:t>
            </a:r>
            <a:r>
              <a:rPr lang="zh-CN" altLang="en-US" b="1" baseline="-25000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从中选择若干个数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，使它们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的和正好等于</a:t>
            </a:r>
            <a:r>
              <a:rPr lang="en-US" altLang="zh-CN" b="1" i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</a:pPr>
            <a:endParaRPr lang="zh-CN" altLang="en-US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</a:pPr>
            <a:endParaRPr lang="zh-CN" altLang="en-US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、采用递归回溯法设计一个算法，求从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1~n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的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个整数中取出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m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个元素的排列，要求每个数据元素只能取一次。例如：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n=3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m=2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的输出结果是（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1,2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）（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1,3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）（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2,1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）（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2,3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）（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3,1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）（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3,2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</a:pPr>
            <a:endParaRPr lang="zh-CN" altLang="en-US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/>
          <p:nvPr/>
        </p:nvSpPr>
        <p:spPr>
          <a:xfrm>
            <a:off x="250825" y="333375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endParaRPr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79" name="Rectangle 4"/>
          <p:cNvSpPr>
            <a:spLocks noGrp="1"/>
          </p:cNvSpPr>
          <p:nvPr>
            <p:ph type="title"/>
          </p:nvPr>
        </p:nvSpPr>
        <p:spPr>
          <a:xfrm>
            <a:off x="381000" y="333375"/>
            <a:ext cx="7772400" cy="809625"/>
          </a:xfrm>
        </p:spPr>
        <p:txBody>
          <a:bodyPr vert="horz" wrap="square" lIns="92075" tIns="46038" rIns="92075" bIns="46038" anchor="b"/>
          <a:lstStyle/>
          <a:p>
            <a:r>
              <a:rPr lang="zh-CN" altLang="en-US" sz="40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实验</a:t>
            </a:r>
            <a:r>
              <a:rPr lang="en-US" altLang="zh-CN" sz="40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5——</a:t>
            </a:r>
            <a:r>
              <a:rPr lang="zh-CN" altLang="en-US" sz="40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回溯法应用</a:t>
            </a:r>
            <a:endParaRPr lang="zh-CN" altLang="en-US" sz="4000" dirty="0">
              <a:solidFill>
                <a:schemeClr val="bg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580" name="矩形 1"/>
          <p:cNvSpPr/>
          <p:nvPr/>
        </p:nvSpPr>
        <p:spPr>
          <a:xfrm>
            <a:off x="261938" y="1629728"/>
            <a:ext cx="8494712" cy="14230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</a:pP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实验题目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2】</a:t>
            </a:r>
            <a:endParaRPr lang="zh-CN" altLang="en-US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</a:pP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请使用回溯算法求解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皇后问题：即 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N*N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棋盘上放置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个皇后，每个皇后不同列、不同行、不同左右对角线。</a:t>
            </a:r>
            <a:endParaRPr lang="zh-CN" altLang="en-US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/>
          <p:nvPr/>
        </p:nvSpPr>
        <p:spPr>
          <a:xfrm>
            <a:off x="250825" y="333375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endParaRPr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79" name="Rectangle 4"/>
          <p:cNvSpPr>
            <a:spLocks noGrp="1"/>
          </p:cNvSpPr>
          <p:nvPr>
            <p:ph type="title"/>
          </p:nvPr>
        </p:nvSpPr>
        <p:spPr>
          <a:xfrm>
            <a:off x="381000" y="333375"/>
            <a:ext cx="7772400" cy="809625"/>
          </a:xfrm>
        </p:spPr>
        <p:txBody>
          <a:bodyPr vert="horz" wrap="square" lIns="92075" tIns="46038" rIns="92075" bIns="46038" anchor="b"/>
          <a:lstStyle/>
          <a:p>
            <a:r>
              <a:rPr lang="zh-CN" altLang="en-US" sz="40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实验</a:t>
            </a:r>
            <a:r>
              <a:rPr lang="en-US" altLang="zh-CN" sz="40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5</a:t>
            </a:r>
            <a:r>
              <a:rPr lang="en-US" altLang="zh-CN" sz="40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——</a:t>
            </a:r>
            <a:r>
              <a:rPr lang="zh-CN" altLang="en-US" sz="40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回溯法应用</a:t>
            </a:r>
            <a:endParaRPr lang="zh-CN" altLang="en-US" sz="4000" dirty="0">
              <a:solidFill>
                <a:schemeClr val="bg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580" name="矩形 1"/>
          <p:cNvSpPr/>
          <p:nvPr/>
        </p:nvSpPr>
        <p:spPr>
          <a:xfrm>
            <a:off x="190500" y="1773555"/>
            <a:ext cx="878903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</a:pP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实验题目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】</a:t>
            </a:r>
            <a:endParaRPr lang="en-US" altLang="zh-CN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20 4"/>
          <p:cNvPicPr>
            <a:picLocks noChangeAspect="1"/>
          </p:cNvPicPr>
          <p:nvPr/>
        </p:nvPicPr>
        <p:blipFill rotWithShape="1">
          <a:blip r:embed="rId1"/>
          <a:srcRect b="44397"/>
          <a:stretch>
            <a:fillRect/>
          </a:stretch>
        </p:blipFill>
        <p:spPr>
          <a:xfrm>
            <a:off x="1899485" y="2708920"/>
            <a:ext cx="4924425" cy="2579243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DEFINEDINNAVIGATOR" val="True"/>
  <p:tag name="HOTSPOTTYPE" val="DefinedInNavigator"/>
  <p:tag name="BRANCHTO" val="257"/>
</p:tagLst>
</file>

<file path=ppt/theme/theme1.xml><?xml version="1.0" encoding="utf-8"?>
<a:theme xmlns:a="http://schemas.openxmlformats.org/drawingml/2006/main" name="1_个人主页 (标准)">
  <a:themeElements>
    <a:clrScheme name="个人主页 (标准) 4">
      <a:dk1>
        <a:srgbClr val="000000"/>
      </a:dk1>
      <a:lt1>
        <a:srgbClr val="FFFFFF"/>
      </a:lt1>
      <a:dk2>
        <a:srgbClr val="1E2E53"/>
      </a:dk2>
      <a:lt2>
        <a:srgbClr val="FFCC00"/>
      </a:lt2>
      <a:accent1>
        <a:srgbClr val="FF9933"/>
      </a:accent1>
      <a:accent2>
        <a:srgbClr val="336699"/>
      </a:accent2>
      <a:accent3>
        <a:srgbClr val="ABADB3"/>
      </a:accent3>
      <a:accent4>
        <a:srgbClr val="DADADA"/>
      </a:accent4>
      <a:accent5>
        <a:srgbClr val="FFCAAD"/>
      </a:accent5>
      <a:accent6>
        <a:srgbClr val="2D5C8A"/>
      </a:accent6>
      <a:hlink>
        <a:srgbClr val="0000FF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914400" marR="0" indent="0" algn="l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defRPr kumimoji="0" lang="en-US" altLang="zh-CN" sz="2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914400" marR="0" indent="0" algn="l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defRPr kumimoji="0" lang="en-US" altLang="zh-CN" sz="2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0000FF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个人主页 (标准)">
  <a:themeElements>
    <a:clrScheme name="个人主页 (标准) 4">
      <a:dk1>
        <a:srgbClr val="000000"/>
      </a:dk1>
      <a:lt1>
        <a:srgbClr val="FFFFFF"/>
      </a:lt1>
      <a:dk2>
        <a:srgbClr val="1E2E53"/>
      </a:dk2>
      <a:lt2>
        <a:srgbClr val="FFCC00"/>
      </a:lt2>
      <a:accent1>
        <a:srgbClr val="FF9933"/>
      </a:accent1>
      <a:accent2>
        <a:srgbClr val="336699"/>
      </a:accent2>
      <a:accent3>
        <a:srgbClr val="ABADB3"/>
      </a:accent3>
      <a:accent4>
        <a:srgbClr val="DADADA"/>
      </a:accent4>
      <a:accent5>
        <a:srgbClr val="FFCAAD"/>
      </a:accent5>
      <a:accent6>
        <a:srgbClr val="2D5C8A"/>
      </a:accent6>
      <a:hlink>
        <a:srgbClr val="0000FF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914400" marR="0" indent="0" algn="l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defRPr kumimoji="0" lang="en-US" sz="2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914400" marR="0" indent="0" algn="l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defRPr kumimoji="0" lang="en-US" sz="2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0000FF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个人主页 (标准)">
  <a:themeElements>
    <a:clrScheme name="个人主页 (标准) 4">
      <a:dk1>
        <a:srgbClr val="000000"/>
      </a:dk1>
      <a:lt1>
        <a:srgbClr val="FFFFFF"/>
      </a:lt1>
      <a:dk2>
        <a:srgbClr val="1E2E53"/>
      </a:dk2>
      <a:lt2>
        <a:srgbClr val="FFCC00"/>
      </a:lt2>
      <a:accent1>
        <a:srgbClr val="FF9933"/>
      </a:accent1>
      <a:accent2>
        <a:srgbClr val="336699"/>
      </a:accent2>
      <a:accent3>
        <a:srgbClr val="ABADB3"/>
      </a:accent3>
      <a:accent4>
        <a:srgbClr val="DADADA"/>
      </a:accent4>
      <a:accent5>
        <a:srgbClr val="FFCAAD"/>
      </a:accent5>
      <a:accent6>
        <a:srgbClr val="2D5C8A"/>
      </a:accent6>
      <a:hlink>
        <a:srgbClr val="0000FF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914400" marR="0" indent="0" algn="l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defRPr kumimoji="0" lang="en-US" altLang="zh-CN" sz="2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914400" marR="0" indent="0" algn="l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defRPr kumimoji="0" lang="en-US" altLang="zh-CN" sz="2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0000FF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Office\Templates\演示文稿\个人主页 (标准).pot</Template>
  <TotalTime>0</TotalTime>
  <Words>254</Words>
  <Application>WPS 演示</Application>
  <PresentationFormat>全屏显示(4:3)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宋体</vt:lpstr>
      <vt:lpstr>Wingdings</vt:lpstr>
      <vt:lpstr>Times New Roman</vt:lpstr>
      <vt:lpstr>楷体_GB2312</vt:lpstr>
      <vt:lpstr>新宋体</vt:lpstr>
      <vt:lpstr>楷体</vt:lpstr>
      <vt:lpstr>微软雅黑</vt:lpstr>
      <vt:lpstr>Arial Unicode MS</vt:lpstr>
      <vt:lpstr>1_个人主页 (标准)</vt:lpstr>
      <vt:lpstr>个人主页 (标准)</vt:lpstr>
      <vt:lpstr>2_个人主页 (标准)</vt:lpstr>
      <vt:lpstr>实验4——回溯法应用</vt:lpstr>
      <vt:lpstr>实验4——回溯法应用</vt:lpstr>
      <vt:lpstr>实验4——回溯法应用</vt:lpstr>
    </vt:vector>
  </TitlesOfParts>
  <Company>NEU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数据库系统原理</dc:title>
  <dc:creator>songby</dc:creator>
  <cp:lastModifiedBy>红艳</cp:lastModifiedBy>
  <cp:revision>919</cp:revision>
  <cp:lastPrinted>1995-12-08T18:33:00Z</cp:lastPrinted>
  <dcterms:created xsi:type="dcterms:W3CDTF">2000-10-31T09:27:00Z</dcterms:created>
  <dcterms:modified xsi:type="dcterms:W3CDTF">2021-11-25T23:20:50Z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2052-11.1.0.11115</vt:lpwstr>
  </property>
  <property fmtid="{D5CDD505-2E9C-101B-9397-08002B2CF9AE}" pid="3" name="ICV">
    <vt:lpwstr>CBE8A2EAF3D849B98142EC64D1F08FC4</vt:lpwstr>
  </property>
</Properties>
</file>