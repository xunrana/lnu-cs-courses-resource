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handoutMasterIdLst>
    <p:handoutMasterId r:id="rId43"/>
  </p:handoutMasterIdLst>
  <p:sldIdLst>
    <p:sldId id="530" r:id="rId3"/>
    <p:sldId id="531" r:id="rId4"/>
    <p:sldId id="493" r:id="rId5"/>
    <p:sldId id="494" r:id="rId6"/>
    <p:sldId id="495" r:id="rId7"/>
    <p:sldId id="496" r:id="rId8"/>
    <p:sldId id="497" r:id="rId9"/>
    <p:sldId id="498" r:id="rId10"/>
    <p:sldId id="499" r:id="rId11"/>
    <p:sldId id="500" r:id="rId12"/>
    <p:sldId id="501" r:id="rId13"/>
    <p:sldId id="502" r:id="rId14"/>
    <p:sldId id="503" r:id="rId15"/>
    <p:sldId id="504" r:id="rId16"/>
    <p:sldId id="505" r:id="rId17"/>
    <p:sldId id="506" r:id="rId18"/>
    <p:sldId id="507" r:id="rId19"/>
    <p:sldId id="508" r:id="rId20"/>
    <p:sldId id="509" r:id="rId21"/>
    <p:sldId id="510" r:id="rId22"/>
    <p:sldId id="511"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1" r:id="rId38"/>
    <p:sldId id="492" r:id="rId39"/>
    <p:sldId id="512" r:id="rId40"/>
    <p:sldId id="513" r:id="rId41"/>
  </p:sldIdLst>
  <p:sldSz cx="9144000" cy="6858000" type="screen4x3"/>
  <p:notesSz cx="6934200" cy="9398000"/>
  <p:custDataLst>
    <p:tags r:id="rId47"/>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0099"/>
    <a:srgbClr val="CCCCFF"/>
    <a:srgbClr val="CC99FF"/>
    <a:srgbClr val="FFCCFF"/>
    <a:srgbClr val="CCECFF"/>
    <a:srgbClr val="DFC0FF"/>
    <a:srgbClr val="90D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3"/>
    <p:restoredTop sz="94608"/>
  </p:normalViewPr>
  <p:slideViewPr>
    <p:cSldViewPr showGuides="1">
      <p:cViewPr varScale="1">
        <p:scale>
          <a:sx n="80" d="100"/>
          <a:sy n="80" d="100"/>
        </p:scale>
        <p:origin x="-118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7" Type="http://schemas.openxmlformats.org/officeDocument/2006/relationships/tags" Target="tags/tag1.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5" name="Rectangle 3"/>
          <p:cNvSpPr>
            <a:spLocks noGrp="1" noChangeArrowheads="1"/>
          </p:cNvSpPr>
          <p:nvPr>
            <p:ph type="dt" sz="quarter"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Grp="1" noChangeArrowheads="1"/>
          </p:cNvSpPr>
          <p:nvPr>
            <p:ph type="ftr" sz="quarter" idx="2"/>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7" name="Rectangle 5"/>
          <p:cNvSpPr>
            <a:spLocks noGrp="1" noChangeArrowheads="1"/>
          </p:cNvSpPr>
          <p:nvPr>
            <p:ph type="sldNum" sz="quarter" idx="3"/>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Rot="1" noChangeAspect="1"/>
          </p:cNvSpPr>
          <p:nvPr>
            <p:ph type="sldImg" idx="2"/>
          </p:nvPr>
        </p:nvSpPr>
        <p:spPr>
          <a:xfrm>
            <a:off x="1079500" y="685800"/>
            <a:ext cx="4775200" cy="3581400"/>
          </a:xfrm>
          <a:prstGeom prst="rect">
            <a:avLst/>
          </a:prstGeom>
          <a:noFill/>
          <a:ln w="9525" cap="flat" cmpd="sng">
            <a:solidFill>
              <a:srgbClr val="000000"/>
            </a:solidFill>
            <a:prstDash val="solid"/>
            <a:miter/>
            <a:headEnd type="none" w="med" len="med"/>
            <a:tailEnd type="none" w="med" len="med"/>
          </a:ln>
        </p:spPr>
      </p:sp>
      <p:sp>
        <p:nvSpPr>
          <p:cNvPr id="2052" name="Rectangle 4"/>
          <p:cNvSpPr>
            <a:spLocks noGrp="1" noChangeArrowheads="1"/>
          </p:cNvSpPr>
          <p:nvPr>
            <p:ph type="body" sz="quarter" idx="3"/>
          </p:nvPr>
        </p:nvSpPr>
        <p:spPr bwMode="auto">
          <a:xfrm>
            <a:off x="914400" y="4495800"/>
            <a:ext cx="51054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5"/>
          <p:cNvSpPr>
            <a:spLocks noGrp="1" noChangeArrowheads="1"/>
          </p:cNvSpPr>
          <p:nvPr>
            <p:ph type="dt" idx="1"/>
          </p:nvPr>
        </p:nvSpPr>
        <p:spPr bwMode="auto">
          <a:xfrm>
            <a:off x="39624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915400"/>
            <a:ext cx="2971800" cy="457200"/>
          </a:xfrm>
          <a:prstGeom prst="rect">
            <a:avLst/>
          </a:prstGeom>
          <a:noFill/>
          <a:ln>
            <a:noFill/>
          </a:ln>
          <a:effectLst/>
        </p:spPr>
        <p:txBody>
          <a:bodyPr vert="horz" wrap="square" lIns="91440" tIns="45720" rIns="91440" bIns="45720" numCol="1" anchor="b" anchorCtr="0" compatLnSpc="1"/>
          <a:lstStyle>
            <a:lvl1pPr eaLnBrk="1" hangingPunct="1">
              <a:defRPr kumimoji="0"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962400" y="8915400"/>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19" name="AutoShape 23"/>
          <p:cNvSpPr>
            <a:spLocks noChangeArrowheads="1"/>
          </p:cNvSpPr>
          <p:nvPr/>
        </p:nvSpPr>
        <p:spPr bwMode="auto">
          <a:xfrm rot="20940000">
            <a:off x="1828800" y="304800"/>
            <a:ext cx="457200" cy="4572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AutoShape 24"/>
          <p:cNvSpPr>
            <a:spLocks noChangeArrowheads="1"/>
          </p:cNvSpPr>
          <p:nvPr/>
        </p:nvSpPr>
        <p:spPr bwMode="auto">
          <a:xfrm>
            <a:off x="2609850" y="171450"/>
            <a:ext cx="419100" cy="419100"/>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AutoShape 25"/>
          <p:cNvSpPr>
            <a:spLocks noChangeArrowheads="1"/>
          </p:cNvSpPr>
          <p:nvPr/>
        </p:nvSpPr>
        <p:spPr bwMode="auto">
          <a:xfrm rot="20940000">
            <a:off x="1752600" y="228600"/>
            <a:ext cx="457200" cy="4572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AutoShape 26"/>
          <p:cNvSpPr>
            <a:spLocks noChangeArrowheads="1"/>
          </p:cNvSpPr>
          <p:nvPr/>
        </p:nvSpPr>
        <p:spPr bwMode="auto">
          <a:xfrm>
            <a:off x="2533650" y="19050"/>
            <a:ext cx="419100" cy="41910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4" name="Group 27"/>
          <p:cNvGrpSpPr/>
          <p:nvPr/>
        </p:nvGrpSpPr>
        <p:grpSpPr>
          <a:xfrm>
            <a:off x="6934200" y="5181600"/>
            <a:ext cx="2033588" cy="1219200"/>
            <a:chOff x="4368" y="3264"/>
            <a:chExt cx="1281" cy="768"/>
          </a:xfrm>
        </p:grpSpPr>
        <p:sp>
          <p:nvSpPr>
            <p:cNvPr id="24" name="AutoShape 28"/>
            <p:cNvSpPr>
              <a:spLocks noChangeArrowheads="1"/>
            </p:cNvSpPr>
            <p:nvPr/>
          </p:nvSpPr>
          <p:spPr bwMode="auto">
            <a:xfrm rot="20940000">
              <a:off x="4368" y="3681"/>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AutoShape 29"/>
            <p:cNvSpPr>
              <a:spLocks noChangeArrowheads="1"/>
            </p:cNvSpPr>
            <p:nvPr/>
          </p:nvSpPr>
          <p:spPr bwMode="auto">
            <a:xfrm>
              <a:off x="4845" y="3324"/>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AutoShape 30"/>
            <p:cNvSpPr>
              <a:spLocks noChangeArrowheads="1"/>
            </p:cNvSpPr>
            <p:nvPr/>
          </p:nvSpPr>
          <p:spPr bwMode="auto">
            <a:xfrm rot="1320000">
              <a:off x="5217" y="3264"/>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AutoShape 31"/>
            <p:cNvSpPr>
              <a:spLocks noChangeArrowheads="1"/>
            </p:cNvSpPr>
            <p:nvPr/>
          </p:nvSpPr>
          <p:spPr bwMode="auto">
            <a:xfrm rot="20940000">
              <a:off x="4449" y="3744"/>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32"/>
            <p:cNvSpPr>
              <a:spLocks noChangeArrowheads="1"/>
            </p:cNvSpPr>
            <p:nvPr/>
          </p:nvSpPr>
          <p:spPr bwMode="auto">
            <a:xfrm>
              <a:off x="4893" y="3372"/>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AutoShape 33"/>
            <p:cNvSpPr>
              <a:spLocks noChangeArrowheads="1"/>
            </p:cNvSpPr>
            <p:nvPr/>
          </p:nvSpPr>
          <p:spPr bwMode="auto">
            <a:xfrm rot="1320000">
              <a:off x="5265" y="3360"/>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30" name="AutoShape 34"/>
          <p:cNvSpPr>
            <a:spLocks noChangeArrowheads="1"/>
          </p:cNvSpPr>
          <p:nvPr/>
        </p:nvSpPr>
        <p:spPr bwMode="auto">
          <a:xfrm rot="1320000">
            <a:off x="168275" y="244475"/>
            <a:ext cx="882650" cy="882650"/>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7" name="Rectangle 15"/>
          <p:cNvSpPr>
            <a:spLocks noGrp="1" noChangeArrowheads="1"/>
          </p:cNvSpPr>
          <p:nvPr>
            <p:ph type="subTitle" sz="quarter" idx="1"/>
          </p:nvPr>
        </p:nvSpPr>
        <p:spPr>
          <a:xfrm>
            <a:off x="1371600" y="2667000"/>
            <a:ext cx="6400800" cy="3276600"/>
          </a:xfrm>
        </p:spPr>
        <p:txBody>
          <a:bodyPr anchor="ct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3091" name="Rectangle 19"/>
          <p:cNvSpPr>
            <a:spLocks noGrp="1" noChangeArrowheads="1"/>
          </p:cNvSpPr>
          <p:nvPr>
            <p:ph type="ctrTitle" sz="quarter"/>
          </p:nvPr>
        </p:nvSpPr>
        <p:spPr>
          <a:xfrm>
            <a:off x="685800" y="914400"/>
            <a:ext cx="7772400" cy="1143000"/>
          </a:xfrm>
        </p:spPr>
        <p:txBody>
          <a:bodyPr/>
          <a:lstStyle>
            <a:lvl1pPr algn="ctr">
              <a:defRPr/>
            </a:lvl1pPr>
          </a:lstStyle>
          <a:p>
            <a:pPr lvl="0"/>
            <a:r>
              <a:rPr lang="zh-CN" altLang="en-US" noProof="0" smtClean="0"/>
              <a:t>单击此处编辑母版标题样式</a:t>
            </a:r>
            <a:endParaRPr lang="zh-CN" altLang="en-US" noProof="0" smtClean="0"/>
          </a:p>
        </p:txBody>
      </p:sp>
      <p:sp>
        <p:nvSpPr>
          <p:cNvPr id="31" name="Rectangle 16"/>
          <p:cNvSpPr>
            <a:spLocks noGrp="1" noChangeArrowheads="1"/>
          </p:cNvSpPr>
          <p:nvPr>
            <p:ph type="dt" sz="quarter" idx="2"/>
          </p:nvPr>
        </p:nvSpPr>
        <p:spPr bwMode="auto">
          <a:xfrm>
            <a:off x="76200" y="6323013"/>
            <a:ext cx="1905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324600"/>
            <a:ext cx="2895600" cy="457200"/>
          </a:xfrm>
          <a:prstGeom prst="rect">
            <a:avLst/>
          </a:prstGeom>
        </p:spPr>
        <p:txBody>
          <a:bodyPr vert="horz" wrap="none" lIns="92075" tIns="46038" rIns="92075" bIns="46038"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7162800" y="6324600"/>
            <a:ext cx="1905000" cy="457200"/>
          </a:xfrm>
          <a:prstGeom prst="rect">
            <a:avLst/>
          </a:prstGeom>
        </p:spPr>
        <p:txBody>
          <a:bodyPr vert="horz" wrap="none" lIns="92075" tIns="46038" rIns="92075" bIns="46038" numCol="1" anchor="ctr" anchorCtr="0" compatLnSpc="1"/>
          <a:lstStyle/>
          <a:p>
            <a:pPr algn="r"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20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28600"/>
            <a:ext cx="567690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228600"/>
            <a:ext cx="7772400" cy="579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9"/>
          <p:cNvSpPr>
            <a:spLocks noGrp="1"/>
          </p:cNvSpPr>
          <p:nvPr>
            <p:ph type="body" idx="1"/>
          </p:nvPr>
        </p:nvSpPr>
        <p:spPr>
          <a:xfrm>
            <a:off x="685800" y="1905000"/>
            <a:ext cx="7772400" cy="4114800"/>
          </a:xfrm>
          <a:prstGeom prst="rect">
            <a:avLst/>
          </a:prstGeom>
          <a:noFill/>
          <a:ln w="9525">
            <a:noFill/>
          </a:ln>
        </p:spPr>
        <p:txBody>
          <a:bodyPr lIns="92075" tIns="46038" rIns="92075" bIns="46038"/>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4" name="Rectangle 10"/>
          <p:cNvSpPr>
            <a:spLocks noGrp="1" noChangeArrowheads="1"/>
          </p:cNvSpPr>
          <p:nvPr>
            <p:ph type="dt" sz="half" idx="2"/>
          </p:nvPr>
        </p:nvSpPr>
        <p:spPr bwMode="auto">
          <a:xfrm>
            <a:off x="2209800" y="6400800"/>
            <a:ext cx="1905000" cy="457200"/>
          </a:xfrm>
          <a:prstGeom prst="rect">
            <a:avLst/>
          </a:prstGeom>
          <a:noFill/>
          <a:ln>
            <a:noFill/>
          </a:ln>
          <a:effectLst/>
        </p:spPr>
        <p:txBody>
          <a:bodyPr vert="horz" wrap="none" lIns="92075" tIns="46038" rIns="92075" bIns="46038" numCol="1" anchor="ctr"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5" name="Rectangle 11"/>
          <p:cNvSpPr>
            <a:spLocks noGrp="1" noChangeArrowheads="1"/>
          </p:cNvSpPr>
          <p:nvPr>
            <p:ph type="ftr" sz="quarter" idx="3"/>
          </p:nvPr>
        </p:nvSpPr>
        <p:spPr bwMode="auto">
          <a:xfrm>
            <a:off x="4191000" y="6400800"/>
            <a:ext cx="2895600" cy="457200"/>
          </a:xfrm>
          <a:prstGeom prst="rect">
            <a:avLst/>
          </a:prstGeom>
          <a:noFill/>
          <a:ln>
            <a:noFill/>
          </a:ln>
          <a:effectLst/>
        </p:spPr>
        <p:txBody>
          <a:bodyPr vert="horz" wrap="none" lIns="92075" tIns="46038" rIns="92075" bIns="46038" numCol="1" anchor="ctr"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12"/>
          <p:cNvSpPr>
            <a:spLocks noGrp="1" noChangeArrowheads="1"/>
          </p:cNvSpPr>
          <p:nvPr>
            <p:ph type="sldNum" sz="quarter" idx="4"/>
          </p:nvPr>
        </p:nvSpPr>
        <p:spPr bwMode="auto">
          <a:xfrm>
            <a:off x="7162800" y="6324600"/>
            <a:ext cx="1905000" cy="457200"/>
          </a:xfrm>
          <a:prstGeom prst="rect">
            <a:avLst/>
          </a:prstGeom>
          <a:noFill/>
          <a:ln>
            <a:noFill/>
          </a:ln>
          <a:effectLst/>
        </p:spPr>
        <p:txBody>
          <a:bodyPr vert="horz" wrap="none" lIns="92075" tIns="46038" rIns="92075" bIns="46038" numCol="1" anchor="ctr" anchorCtr="0" compatLnSpc="1"/>
          <a:lstStyle>
            <a:lvl1pPr algn="r">
              <a:defRPr sz="1400"/>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30" name="Rectangle 16"/>
          <p:cNvSpPr>
            <a:spLocks noGrp="1"/>
          </p:cNvSpPr>
          <p:nvPr>
            <p:ph type="title"/>
          </p:nvPr>
        </p:nvSpPr>
        <p:spPr>
          <a:xfrm>
            <a:off x="685800" y="228600"/>
            <a:ext cx="7772400" cy="1143000"/>
          </a:xfrm>
          <a:prstGeom prst="rect">
            <a:avLst/>
          </a:prstGeom>
          <a:noFill/>
          <a:ln w="9525">
            <a:noFill/>
          </a:ln>
        </p:spPr>
        <p:txBody>
          <a:bodyPr lIns="92075" tIns="46038" rIns="92075" bIns="46038" anchor="b"/>
          <a:lstStyle/>
          <a:p>
            <a:pPr lvl="0"/>
            <a:r>
              <a:rPr lang="zh-CN" altLang="en-US" dirty="0"/>
              <a:t>单击此处编辑母版标题样式</a:t>
            </a:r>
            <a:endParaRPr lang="zh-CN" altLang="en-US" dirty="0"/>
          </a:p>
        </p:txBody>
      </p:sp>
      <p:grpSp>
        <p:nvGrpSpPr>
          <p:cNvPr id="1031" name="Group 20"/>
          <p:cNvGrpSpPr/>
          <p:nvPr/>
        </p:nvGrpSpPr>
        <p:grpSpPr>
          <a:xfrm>
            <a:off x="6934200" y="5257800"/>
            <a:ext cx="2033588" cy="1219200"/>
            <a:chOff x="4368" y="3312"/>
            <a:chExt cx="1281" cy="768"/>
          </a:xfrm>
        </p:grpSpPr>
        <p:sp>
          <p:nvSpPr>
            <p:cNvPr id="1045" name="AutoShape 21"/>
            <p:cNvSpPr>
              <a:spLocks noChangeArrowheads="1"/>
            </p:cNvSpPr>
            <p:nvPr/>
          </p:nvSpPr>
          <p:spPr bwMode="auto">
            <a:xfrm rot="20940000">
              <a:off x="4368" y="3729"/>
              <a:ext cx="288" cy="288"/>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6" name="AutoShape 22"/>
            <p:cNvSpPr>
              <a:spLocks noChangeArrowheads="1"/>
            </p:cNvSpPr>
            <p:nvPr/>
          </p:nvSpPr>
          <p:spPr bwMode="auto">
            <a:xfrm>
              <a:off x="4845" y="3372"/>
              <a:ext cx="264" cy="26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7" name="AutoShape 23"/>
            <p:cNvSpPr>
              <a:spLocks noChangeArrowheads="1"/>
            </p:cNvSpPr>
            <p:nvPr/>
          </p:nvSpPr>
          <p:spPr bwMode="auto">
            <a:xfrm rot="1320000">
              <a:off x="5217" y="3312"/>
              <a:ext cx="384" cy="384"/>
            </a:xfrm>
            <a:prstGeom prst="star5">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8" name="AutoShape 24"/>
            <p:cNvSpPr>
              <a:spLocks noChangeArrowheads="1"/>
            </p:cNvSpPr>
            <p:nvPr/>
          </p:nvSpPr>
          <p:spPr bwMode="auto">
            <a:xfrm rot="20940000">
              <a:off x="4449" y="3792"/>
              <a:ext cx="288" cy="288"/>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9" name="AutoShape 25"/>
            <p:cNvSpPr>
              <a:spLocks noChangeArrowheads="1"/>
            </p:cNvSpPr>
            <p:nvPr/>
          </p:nvSpPr>
          <p:spPr bwMode="auto">
            <a:xfrm>
              <a:off x="4893" y="3420"/>
              <a:ext cx="264" cy="26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0" name="AutoShape 26"/>
            <p:cNvSpPr>
              <a:spLocks noChangeArrowheads="1"/>
            </p:cNvSpPr>
            <p:nvPr/>
          </p:nvSpPr>
          <p:spPr bwMode="auto">
            <a:xfrm rot="1320000">
              <a:off x="5265" y="3408"/>
              <a:ext cx="384" cy="384"/>
            </a:xfrm>
            <a:prstGeom prst="star5">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wrap="none" lIns="92075" tIns="46038" rIns="92075" bIns="46038"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1032" name="Group 27"/>
          <p:cNvGrpSpPr/>
          <p:nvPr/>
        </p:nvGrpSpPr>
        <p:grpSpPr>
          <a:xfrm>
            <a:off x="381000" y="1219200"/>
            <a:ext cx="8305800" cy="381000"/>
            <a:chOff x="240" y="768"/>
            <a:chExt cx="5232" cy="240"/>
          </a:xfrm>
        </p:grpSpPr>
        <p:sp>
          <p:nvSpPr>
            <p:cNvPr id="1052" name="Rectangle 28"/>
            <p:cNvSpPr>
              <a:spLocks noChangeArrowheads="1"/>
            </p:cNvSpPr>
            <p:nvPr/>
          </p:nvSpPr>
          <p:spPr bwMode="auto">
            <a:xfrm>
              <a:off x="384" y="912"/>
              <a:ext cx="5088" cy="96"/>
            </a:xfrm>
            <a:prstGeom prst="rect">
              <a:avLst/>
            </a:prstGeom>
            <a:gradFill rotWithShape="0">
              <a:gsLst>
                <a:gs pos="0">
                  <a:schemeClr val="hlink"/>
                </a:gs>
                <a:gs pos="100000">
                  <a:schemeClr val="hlink">
                    <a:gamma/>
                    <a:shade val="46275"/>
                    <a:invGamma/>
                  </a:schemeClr>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3" name="Rectangle 29"/>
            <p:cNvSpPr>
              <a:spLocks noChangeArrowheads="1"/>
            </p:cNvSpPr>
            <p:nvPr/>
          </p:nvSpPr>
          <p:spPr bwMode="auto">
            <a:xfrm>
              <a:off x="240" y="768"/>
              <a:ext cx="5088" cy="96"/>
            </a:xfrm>
            <a:prstGeom prst="rect">
              <a:avLst/>
            </a:prstGeom>
            <a:gradFill rotWithShape="0">
              <a:gsLst>
                <a:gs pos="0">
                  <a:schemeClr val="bg1">
                    <a:gamma/>
                    <a:shade val="46275"/>
                    <a:invGamma/>
                  </a:schemeClr>
                </a:gs>
                <a:gs pos="100000">
                  <a:schemeClr val="bg1"/>
                </a:gs>
              </a:gsLst>
              <a:path path="shape">
                <a:fillToRect l="50000" t="50000" r="50000" b="50000"/>
              </a:path>
            </a:gradFill>
            <a:ln>
              <a:noFill/>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054" name="Freeform 30">
            <a:hlinkClick r:id="" action="ppaction://hlinkshowjump?jump=previousslide"/>
          </p:cNvPr>
          <p:cNvSpPr/>
          <p:nvPr/>
        </p:nvSpPr>
        <p:spPr bwMode="auto">
          <a:xfrm>
            <a:off x="781050" y="6416675"/>
            <a:ext cx="557213" cy="347663"/>
          </a:xfrm>
          <a:custGeom>
            <a:avLst/>
            <a:gdLst>
              <a:gd name="T0" fmla="*/ 350 w 351"/>
              <a:gd name="T1" fmla="*/ 1 h 219"/>
              <a:gd name="T2" fmla="*/ 101 w 351"/>
              <a:gd name="T3" fmla="*/ 0 h 219"/>
              <a:gd name="T4" fmla="*/ 81 w 351"/>
              <a:gd name="T5" fmla="*/ 2 h 219"/>
              <a:gd name="T6" fmla="*/ 67 w 351"/>
              <a:gd name="T7" fmla="*/ 6 h 219"/>
              <a:gd name="T8" fmla="*/ 51 w 351"/>
              <a:gd name="T9" fmla="*/ 15 h 219"/>
              <a:gd name="T10" fmla="*/ 38 w 351"/>
              <a:gd name="T11" fmla="*/ 25 h 219"/>
              <a:gd name="T12" fmla="*/ 28 w 351"/>
              <a:gd name="T13" fmla="*/ 35 h 219"/>
              <a:gd name="T14" fmla="*/ 19 w 351"/>
              <a:gd name="T15" fmla="*/ 48 h 219"/>
              <a:gd name="T16" fmla="*/ 12 w 351"/>
              <a:gd name="T17" fmla="*/ 59 h 219"/>
              <a:gd name="T18" fmla="*/ 6 w 351"/>
              <a:gd name="T19" fmla="*/ 73 h 219"/>
              <a:gd name="T20" fmla="*/ 1 w 351"/>
              <a:gd name="T21" fmla="*/ 89 h 219"/>
              <a:gd name="T22" fmla="*/ 1 w 351"/>
              <a:gd name="T23" fmla="*/ 99 h 219"/>
              <a:gd name="T24" fmla="*/ 0 w 351"/>
              <a:gd name="T25" fmla="*/ 119 h 219"/>
              <a:gd name="T26" fmla="*/ 2 w 351"/>
              <a:gd name="T27" fmla="*/ 136 h 219"/>
              <a:gd name="T28" fmla="*/ 9 w 351"/>
              <a:gd name="T29" fmla="*/ 150 h 219"/>
              <a:gd name="T30" fmla="*/ 15 w 351"/>
              <a:gd name="T31" fmla="*/ 164 h 219"/>
              <a:gd name="T32" fmla="*/ 24 w 351"/>
              <a:gd name="T33" fmla="*/ 176 h 219"/>
              <a:gd name="T34" fmla="*/ 33 w 351"/>
              <a:gd name="T35" fmla="*/ 189 h 219"/>
              <a:gd name="T36" fmla="*/ 46 w 351"/>
              <a:gd name="T37" fmla="*/ 198 h 219"/>
              <a:gd name="T38" fmla="*/ 59 w 351"/>
              <a:gd name="T39" fmla="*/ 207 h 219"/>
              <a:gd name="T40" fmla="*/ 72 w 351"/>
              <a:gd name="T41" fmla="*/ 212 h 219"/>
              <a:gd name="T42" fmla="*/ 90 w 351"/>
              <a:gd name="T43" fmla="*/ 218 h 219"/>
              <a:gd name="T44" fmla="*/ 350 w 351"/>
              <a:gd name="T45" fmla="*/ 218 h 219"/>
              <a:gd name="T46" fmla="*/ 35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350" y="1"/>
                </a:moveTo>
                <a:lnTo>
                  <a:pt x="101" y="0"/>
                </a:lnTo>
                <a:lnTo>
                  <a:pt x="81" y="2"/>
                </a:lnTo>
                <a:lnTo>
                  <a:pt x="67" y="6"/>
                </a:lnTo>
                <a:lnTo>
                  <a:pt x="51" y="15"/>
                </a:lnTo>
                <a:lnTo>
                  <a:pt x="38" y="25"/>
                </a:lnTo>
                <a:lnTo>
                  <a:pt x="28" y="35"/>
                </a:lnTo>
                <a:lnTo>
                  <a:pt x="19" y="48"/>
                </a:lnTo>
                <a:lnTo>
                  <a:pt x="12" y="59"/>
                </a:lnTo>
                <a:lnTo>
                  <a:pt x="6" y="73"/>
                </a:lnTo>
                <a:lnTo>
                  <a:pt x="1" y="89"/>
                </a:lnTo>
                <a:lnTo>
                  <a:pt x="1" y="99"/>
                </a:lnTo>
                <a:lnTo>
                  <a:pt x="0" y="119"/>
                </a:lnTo>
                <a:lnTo>
                  <a:pt x="2" y="136"/>
                </a:lnTo>
                <a:lnTo>
                  <a:pt x="9" y="150"/>
                </a:lnTo>
                <a:lnTo>
                  <a:pt x="15" y="164"/>
                </a:lnTo>
                <a:lnTo>
                  <a:pt x="24" y="176"/>
                </a:lnTo>
                <a:lnTo>
                  <a:pt x="33" y="189"/>
                </a:lnTo>
                <a:lnTo>
                  <a:pt x="46" y="198"/>
                </a:lnTo>
                <a:lnTo>
                  <a:pt x="59" y="207"/>
                </a:lnTo>
                <a:lnTo>
                  <a:pt x="72" y="212"/>
                </a:lnTo>
                <a:lnTo>
                  <a:pt x="90" y="218"/>
                </a:lnTo>
                <a:lnTo>
                  <a:pt x="350" y="218"/>
                </a:lnTo>
                <a:lnTo>
                  <a:pt x="35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5" name="Freeform 31">
            <a:hlinkClick r:id="" action="ppaction://hlinkshowjump?jump=nextslide"/>
          </p:cNvPr>
          <p:cNvSpPr/>
          <p:nvPr/>
        </p:nvSpPr>
        <p:spPr bwMode="auto">
          <a:xfrm>
            <a:off x="1447800" y="6416675"/>
            <a:ext cx="557213" cy="347663"/>
          </a:xfrm>
          <a:custGeom>
            <a:avLst/>
            <a:gdLst>
              <a:gd name="T0" fmla="*/ 0 w 351"/>
              <a:gd name="T1" fmla="*/ 1 h 219"/>
              <a:gd name="T2" fmla="*/ 249 w 351"/>
              <a:gd name="T3" fmla="*/ 0 h 219"/>
              <a:gd name="T4" fmla="*/ 268 w 351"/>
              <a:gd name="T5" fmla="*/ 3 h 219"/>
              <a:gd name="T6" fmla="*/ 283 w 351"/>
              <a:gd name="T7" fmla="*/ 6 h 219"/>
              <a:gd name="T8" fmla="*/ 298 w 351"/>
              <a:gd name="T9" fmla="*/ 16 h 219"/>
              <a:gd name="T10" fmla="*/ 311 w 351"/>
              <a:gd name="T11" fmla="*/ 26 h 219"/>
              <a:gd name="T12" fmla="*/ 321 w 351"/>
              <a:gd name="T13" fmla="*/ 35 h 219"/>
              <a:gd name="T14" fmla="*/ 331 w 351"/>
              <a:gd name="T15" fmla="*/ 48 h 219"/>
              <a:gd name="T16" fmla="*/ 337 w 351"/>
              <a:gd name="T17" fmla="*/ 60 h 219"/>
              <a:gd name="T18" fmla="*/ 344 w 351"/>
              <a:gd name="T19" fmla="*/ 74 h 219"/>
              <a:gd name="T20" fmla="*/ 349 w 351"/>
              <a:gd name="T21" fmla="*/ 90 h 219"/>
              <a:gd name="T22" fmla="*/ 349 w 351"/>
              <a:gd name="T23" fmla="*/ 100 h 219"/>
              <a:gd name="T24" fmla="*/ 350 w 351"/>
              <a:gd name="T25" fmla="*/ 119 h 219"/>
              <a:gd name="T26" fmla="*/ 347 w 351"/>
              <a:gd name="T27" fmla="*/ 136 h 219"/>
              <a:gd name="T28" fmla="*/ 341 w 351"/>
              <a:gd name="T29" fmla="*/ 151 h 219"/>
              <a:gd name="T30" fmla="*/ 334 w 351"/>
              <a:gd name="T31" fmla="*/ 165 h 219"/>
              <a:gd name="T32" fmla="*/ 325 w 351"/>
              <a:gd name="T33" fmla="*/ 176 h 219"/>
              <a:gd name="T34" fmla="*/ 316 w 351"/>
              <a:gd name="T35" fmla="*/ 189 h 219"/>
              <a:gd name="T36" fmla="*/ 303 w 351"/>
              <a:gd name="T37" fmla="*/ 199 h 219"/>
              <a:gd name="T38" fmla="*/ 290 w 351"/>
              <a:gd name="T39" fmla="*/ 208 h 219"/>
              <a:gd name="T40" fmla="*/ 277 w 351"/>
              <a:gd name="T41" fmla="*/ 213 h 219"/>
              <a:gd name="T42" fmla="*/ 259 w 351"/>
              <a:gd name="T43" fmla="*/ 218 h 219"/>
              <a:gd name="T44" fmla="*/ 0 w 351"/>
              <a:gd name="T45" fmla="*/ 218 h 219"/>
              <a:gd name="T46" fmla="*/ 0 w 351"/>
              <a:gd name="T47" fmla="*/ 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51" h="219">
                <a:moveTo>
                  <a:pt x="0" y="1"/>
                </a:moveTo>
                <a:lnTo>
                  <a:pt x="249" y="0"/>
                </a:lnTo>
                <a:lnTo>
                  <a:pt x="268" y="3"/>
                </a:lnTo>
                <a:lnTo>
                  <a:pt x="283" y="6"/>
                </a:lnTo>
                <a:lnTo>
                  <a:pt x="298" y="16"/>
                </a:lnTo>
                <a:lnTo>
                  <a:pt x="311" y="26"/>
                </a:lnTo>
                <a:lnTo>
                  <a:pt x="321" y="35"/>
                </a:lnTo>
                <a:lnTo>
                  <a:pt x="331" y="48"/>
                </a:lnTo>
                <a:lnTo>
                  <a:pt x="337" y="60"/>
                </a:lnTo>
                <a:lnTo>
                  <a:pt x="344" y="74"/>
                </a:lnTo>
                <a:lnTo>
                  <a:pt x="349" y="90"/>
                </a:lnTo>
                <a:lnTo>
                  <a:pt x="349" y="100"/>
                </a:lnTo>
                <a:lnTo>
                  <a:pt x="350" y="119"/>
                </a:lnTo>
                <a:lnTo>
                  <a:pt x="347" y="136"/>
                </a:lnTo>
                <a:lnTo>
                  <a:pt x="341" y="151"/>
                </a:lnTo>
                <a:lnTo>
                  <a:pt x="334" y="165"/>
                </a:lnTo>
                <a:lnTo>
                  <a:pt x="325" y="176"/>
                </a:lnTo>
                <a:lnTo>
                  <a:pt x="316" y="189"/>
                </a:lnTo>
                <a:lnTo>
                  <a:pt x="303" y="199"/>
                </a:lnTo>
                <a:lnTo>
                  <a:pt x="290" y="208"/>
                </a:lnTo>
                <a:lnTo>
                  <a:pt x="277" y="213"/>
                </a:lnTo>
                <a:lnTo>
                  <a:pt x="259" y="218"/>
                </a:lnTo>
                <a:lnTo>
                  <a:pt x="0" y="218"/>
                </a:lnTo>
                <a:lnTo>
                  <a:pt x="0" y="1"/>
                </a:lnTo>
              </a:path>
            </a:pathLst>
          </a:custGeom>
          <a:gradFill rotWithShape="0">
            <a:gsLst>
              <a:gs pos="0">
                <a:schemeClr val="hlink"/>
              </a:gs>
              <a:gs pos="100000">
                <a:schemeClr val="hlink">
                  <a:gamma/>
                  <a:shade val="46275"/>
                  <a:invGamma/>
                </a:schemeClr>
              </a:gs>
            </a:gsLst>
            <a:path path="rect">
              <a:fillToRect l="50000" t="50000" r="50000" b="50000"/>
            </a:path>
          </a:grad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kumimoji="1" sz="44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5pPr>
      <a:lvl6pPr marL="25146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6pPr>
      <a:lvl7pPr marL="29718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7pPr>
      <a:lvl8pPr marL="34290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8pPr>
      <a:lvl9pPr marL="3886200" indent="-228600" algn="l" rtl="0" fontAlgn="base">
        <a:spcBef>
          <a:spcPct val="20000"/>
        </a:spcBef>
        <a:spcAft>
          <a:spcPct val="0"/>
        </a:spcAft>
        <a:buClr>
          <a:schemeClr val="accent2"/>
        </a:buClr>
        <a:buSzPct val="70000"/>
        <a:buFont typeface="Wingdings" panose="05000000000000000000" pitchFamily="2" charset="2"/>
        <a:buChar char="l"/>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6.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6.xml"/><Relationship Id="rId4" Type="http://schemas.openxmlformats.org/officeDocument/2006/relationships/image" Target="../media/image12.wmf"/><Relationship Id="rId3" Type="http://schemas.openxmlformats.org/officeDocument/2006/relationships/oleObject" Target="../embeddings/oleObject5.bin"/><Relationship Id="rId2" Type="http://schemas.openxmlformats.org/officeDocument/2006/relationships/image" Target="../media/image11.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6.xml"/><Relationship Id="rId4" Type="http://schemas.openxmlformats.org/officeDocument/2006/relationships/image" Target="../media/image14.wmf"/><Relationship Id="rId3" Type="http://schemas.openxmlformats.org/officeDocument/2006/relationships/oleObject" Target="../embeddings/oleObject7.bin"/><Relationship Id="rId2" Type="http://schemas.openxmlformats.org/officeDocument/2006/relationships/image" Target="../media/image13.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sz="4000" b="1" dirty="0">
                <a:solidFill>
                  <a:srgbClr val="C00000"/>
                </a:solidFill>
                <a:latin typeface="Times New Roman" panose="02020603050405020304" pitchFamily="18" charset="0"/>
              </a:rPr>
              <a:t>内容回顾</a:t>
            </a:r>
            <a:endParaRPr lang="zh-CN" sz="4000" b="1" dirty="0">
              <a:solidFill>
                <a:srgbClr val="C00000"/>
              </a:solidFill>
            </a:endParaRPr>
          </a:p>
        </p:txBody>
      </p:sp>
      <p:sp>
        <p:nvSpPr>
          <p:cNvPr id="2" name="文本框 1"/>
          <p:cNvSpPr txBox="1"/>
          <p:nvPr/>
        </p:nvSpPr>
        <p:spPr>
          <a:xfrm>
            <a:off x="457200" y="1673225"/>
            <a:ext cx="8129905" cy="452183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l"/>
            </a:pPr>
            <a:r>
              <a:rPr lang="zh-CN" altLang="en-US" dirty="0">
                <a:solidFill>
                  <a:schemeClr val="bg2"/>
                </a:solidFill>
              </a:rPr>
              <a:t>复习内容</a:t>
            </a:r>
            <a:r>
              <a:rPr lang="en-US" altLang="zh-CN" dirty="0">
                <a:solidFill>
                  <a:schemeClr val="bg2"/>
                </a:solidFill>
              </a:rPr>
              <a:t>1</a:t>
            </a:r>
            <a:r>
              <a:rPr lang="zh-CN" altLang="en-US" dirty="0">
                <a:solidFill>
                  <a:schemeClr val="bg2"/>
                </a:solidFill>
              </a:rPr>
              <a:t>：算法设计的任务</a:t>
            </a:r>
            <a:endParaRPr lang="zh-CN" altLang="en-US" dirty="0">
              <a:solidFill>
                <a:schemeClr val="bg2"/>
              </a:solidFill>
            </a:endParaRPr>
          </a:p>
          <a:p>
            <a:pPr>
              <a:lnSpc>
                <a:spcPct val="120000"/>
              </a:lnSpc>
              <a:spcBef>
                <a:spcPts val="0"/>
              </a:spcBef>
              <a:spcAft>
                <a:spcPts val="0"/>
              </a:spcAft>
              <a:buFont typeface="Wingdings" panose="05000000000000000000" charset="0"/>
            </a:pPr>
            <a:r>
              <a:rPr lang="zh-CN" altLang="en-US" dirty="0">
                <a:solidFill>
                  <a:schemeClr val="bg2"/>
                </a:solidFill>
              </a:rPr>
              <a:t>（</a:t>
            </a:r>
            <a:r>
              <a:rPr lang="en-US" altLang="zh-CN" dirty="0">
                <a:solidFill>
                  <a:schemeClr val="bg2"/>
                </a:solidFill>
              </a:rPr>
              <a:t>1</a:t>
            </a:r>
            <a:r>
              <a:rPr lang="zh-CN" altLang="en-US" dirty="0">
                <a:solidFill>
                  <a:schemeClr val="bg2"/>
                </a:solidFill>
              </a:rPr>
              <a:t>）通过两个具体的实例：调度问题、资源分配问题来理解算法设计的任务</a:t>
            </a:r>
            <a:endParaRPr lang="zh-CN" altLang="en-US" dirty="0">
              <a:solidFill>
                <a:schemeClr val="bg2"/>
              </a:solidFill>
            </a:endParaRPr>
          </a:p>
          <a:p>
            <a:pPr>
              <a:lnSpc>
                <a:spcPct val="120000"/>
              </a:lnSpc>
              <a:spcBef>
                <a:spcPts val="0"/>
              </a:spcBef>
              <a:spcAft>
                <a:spcPts val="0"/>
              </a:spcAft>
              <a:buFont typeface="Wingdings" panose="05000000000000000000" charset="0"/>
            </a:pPr>
            <a:r>
              <a:rPr lang="zh-CN" altLang="en-US" dirty="0">
                <a:solidFill>
                  <a:schemeClr val="bg2"/>
                </a:solidFill>
              </a:rPr>
              <a:t>（</a:t>
            </a:r>
            <a:r>
              <a:rPr lang="en-US" altLang="zh-CN" dirty="0">
                <a:solidFill>
                  <a:schemeClr val="bg2"/>
                </a:solidFill>
              </a:rPr>
              <a:t>2</a:t>
            </a:r>
            <a:r>
              <a:rPr lang="zh-CN" altLang="en-US" dirty="0">
                <a:solidFill>
                  <a:schemeClr val="bg2"/>
                </a:solidFill>
              </a:rPr>
              <a:t>）算法设计的具体任务</a:t>
            </a:r>
            <a:endParaRPr lang="zh-CN" altLang="en-US" dirty="0">
              <a:solidFill>
                <a:schemeClr val="bg2"/>
              </a:solidFill>
            </a:endParaRPr>
          </a:p>
          <a:p>
            <a:pPr marL="800100" lvl="1" indent="-342900">
              <a:lnSpc>
                <a:spcPct val="120000"/>
              </a:lnSpc>
              <a:spcBef>
                <a:spcPts val="0"/>
              </a:spcBef>
              <a:spcAft>
                <a:spcPts val="0"/>
              </a:spcAft>
              <a:buFont typeface="Wingdings" panose="05000000000000000000" charset="0"/>
              <a:buChar char="l"/>
            </a:pPr>
            <a:r>
              <a:rPr lang="zh-CN" altLang="en-US" dirty="0">
                <a:solidFill>
                  <a:schemeClr val="bg2"/>
                </a:solidFill>
              </a:rPr>
              <a:t>建模：以形式化或半形式化形式给出问题的输入、输出描述，若是求解优化问题，还要给出问题的目标函数和约束条件。</a:t>
            </a:r>
            <a:endParaRPr lang="zh-CN" altLang="en-US" dirty="0">
              <a:solidFill>
                <a:schemeClr val="bg2"/>
              </a:solidFill>
            </a:endParaRPr>
          </a:p>
          <a:p>
            <a:pPr marL="800100" lvl="1" indent="-342900">
              <a:lnSpc>
                <a:spcPct val="120000"/>
              </a:lnSpc>
              <a:spcBef>
                <a:spcPts val="0"/>
              </a:spcBef>
              <a:spcAft>
                <a:spcPts val="0"/>
              </a:spcAft>
              <a:buFont typeface="Wingdings" panose="05000000000000000000" charset="0"/>
              <a:buChar char="l"/>
            </a:pPr>
            <a:r>
              <a:rPr lang="zh-CN" altLang="en-US" dirty="0">
                <a:solidFill>
                  <a:schemeClr val="bg2"/>
                </a:solidFill>
              </a:rPr>
              <a:t>为算法找出恰当的算法解决策略。</a:t>
            </a:r>
            <a:endParaRPr lang="zh-CN" altLang="en-US" dirty="0">
              <a:solidFill>
                <a:schemeClr val="bg2"/>
              </a:solidFill>
            </a:endParaRPr>
          </a:p>
          <a:p>
            <a:pPr marL="800100" lvl="1" indent="-342900">
              <a:lnSpc>
                <a:spcPct val="120000"/>
              </a:lnSpc>
              <a:spcBef>
                <a:spcPts val="0"/>
              </a:spcBef>
              <a:spcAft>
                <a:spcPts val="0"/>
              </a:spcAft>
              <a:buFont typeface="Wingdings" panose="05000000000000000000" charset="0"/>
              <a:buChar char="l"/>
            </a:pPr>
            <a:r>
              <a:rPr lang="zh-CN" altLang="en-US" dirty="0">
                <a:solidFill>
                  <a:schemeClr val="bg2"/>
                </a:solidFill>
              </a:rPr>
              <a:t>对算法策略的正确性进行证明</a:t>
            </a:r>
            <a:endParaRPr lang="zh-CN" altLang="en-US" dirty="0">
              <a:solidFill>
                <a:schemeClr val="bg2"/>
              </a:solidFill>
            </a:endParaRPr>
          </a:p>
          <a:p>
            <a:pPr marL="800100" lvl="1" indent="-342900">
              <a:lnSpc>
                <a:spcPct val="120000"/>
              </a:lnSpc>
              <a:spcBef>
                <a:spcPts val="0"/>
              </a:spcBef>
              <a:spcAft>
                <a:spcPts val="0"/>
              </a:spcAft>
              <a:buFont typeface="Wingdings" panose="05000000000000000000" charset="0"/>
              <a:buChar char="l"/>
            </a:pPr>
            <a:r>
              <a:rPr lang="zh-CN" altLang="en-US" dirty="0">
                <a:solidFill>
                  <a:schemeClr val="bg2"/>
                </a:solidFill>
              </a:rPr>
              <a:t>对算法的复杂性进行分析</a:t>
            </a:r>
            <a:endParaRPr lang="zh-CN" altLang="en-US" dirty="0">
              <a:solidFill>
                <a:schemeClr val="bg2"/>
              </a:solidFill>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left)">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left)">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zh-CN" sz="4000" b="1" dirty="0">
                <a:solidFill>
                  <a:srgbClr val="C00000"/>
                </a:solidFill>
                <a:latin typeface="Times New Roman" panose="02020603050405020304" pitchFamily="18" charset="0"/>
              </a:rPr>
              <a:t>内容回顾</a:t>
            </a:r>
            <a:endParaRPr lang="zh-CN" sz="4000" b="1" dirty="0">
              <a:solidFill>
                <a:srgbClr val="C00000"/>
              </a:solidFill>
            </a:endParaRPr>
          </a:p>
        </p:txBody>
      </p:sp>
      <p:sp>
        <p:nvSpPr>
          <p:cNvPr id="2" name="文本框 1"/>
          <p:cNvSpPr txBox="1"/>
          <p:nvPr/>
        </p:nvSpPr>
        <p:spPr>
          <a:xfrm>
            <a:off x="457200" y="1673225"/>
            <a:ext cx="8129905" cy="2749550"/>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l"/>
            </a:pPr>
            <a:r>
              <a:rPr lang="zh-CN" altLang="en-US" dirty="0">
                <a:solidFill>
                  <a:schemeClr val="bg2"/>
                </a:solidFill>
              </a:rPr>
              <a:t>复习内容</a:t>
            </a:r>
            <a:r>
              <a:rPr lang="en-US" altLang="zh-CN" dirty="0">
                <a:solidFill>
                  <a:schemeClr val="bg2"/>
                </a:solidFill>
              </a:rPr>
              <a:t>2</a:t>
            </a:r>
            <a:r>
              <a:rPr lang="zh-CN" altLang="en-US" dirty="0">
                <a:solidFill>
                  <a:schemeClr val="bg2"/>
                </a:solidFill>
              </a:rPr>
              <a:t>：问题计算复杂性的界定</a:t>
            </a:r>
            <a:endParaRPr lang="zh-CN" altLang="en-US" dirty="0">
              <a:solidFill>
                <a:schemeClr val="bg2"/>
              </a:solidFill>
            </a:endParaRPr>
          </a:p>
          <a:p>
            <a:pPr>
              <a:lnSpc>
                <a:spcPct val="120000"/>
              </a:lnSpc>
              <a:spcBef>
                <a:spcPts val="0"/>
              </a:spcBef>
              <a:spcAft>
                <a:spcPts val="0"/>
              </a:spcAft>
              <a:buFont typeface="Wingdings" panose="05000000000000000000" charset="0"/>
            </a:pPr>
            <a:r>
              <a:rPr lang="zh-CN" altLang="en-US" dirty="0">
                <a:solidFill>
                  <a:schemeClr val="bg2"/>
                </a:solidFill>
              </a:rPr>
              <a:t>（</a:t>
            </a:r>
            <a:r>
              <a:rPr lang="en-US" altLang="zh-CN" dirty="0">
                <a:solidFill>
                  <a:schemeClr val="bg2"/>
                </a:solidFill>
              </a:rPr>
              <a:t>1</a:t>
            </a:r>
            <a:r>
              <a:rPr lang="zh-CN" altLang="en-US" dirty="0">
                <a:solidFill>
                  <a:schemeClr val="bg2"/>
                </a:solidFill>
              </a:rPr>
              <a:t>）</a:t>
            </a:r>
            <a:r>
              <a:rPr lang="zh-CN" altLang="en-US" dirty="0">
                <a:solidFill>
                  <a:schemeClr val="bg2"/>
                </a:solidFill>
                <a:sym typeface="+mn-ea"/>
              </a:rPr>
              <a:t>问题计算复杂性的界定：</a:t>
            </a:r>
            <a:r>
              <a:rPr lang="zh-CN" altLang="en-US" noProof="0" dirty="0" smtClean="0">
                <a:ln>
                  <a:noFill/>
                </a:ln>
                <a:solidFill>
                  <a:schemeClr val="bg2"/>
                </a:solidFill>
                <a:effectLst/>
                <a:uLnTx/>
                <a:uFillTx/>
                <a:latin typeface="+mj-ea"/>
                <a:ea typeface="+mj-ea"/>
                <a:cs typeface="+mj-ea"/>
                <a:sym typeface="+mn-ea"/>
              </a:rPr>
              <a:t>解决同一类问题采用的不同策略进行效率分析。</a:t>
            </a:r>
            <a:endParaRPr lang="zh-CN" altLang="en-US" noProof="0" dirty="0" smtClean="0">
              <a:ln>
                <a:noFill/>
              </a:ln>
              <a:solidFill>
                <a:schemeClr val="bg2"/>
              </a:solidFill>
              <a:effectLst/>
              <a:uLnTx/>
              <a:uFillTx/>
              <a:latin typeface="+mj-ea"/>
              <a:ea typeface="+mj-ea"/>
              <a:cs typeface="+mj-ea"/>
              <a:sym typeface="+mn-ea"/>
            </a:endParaRPr>
          </a:p>
          <a:p>
            <a:pPr>
              <a:lnSpc>
                <a:spcPct val="120000"/>
              </a:lnSpc>
              <a:spcBef>
                <a:spcPts val="0"/>
              </a:spcBef>
              <a:spcAft>
                <a:spcPts val="0"/>
              </a:spcAft>
              <a:buFont typeface="Wingdings" panose="05000000000000000000" charset="0"/>
            </a:pPr>
            <a:r>
              <a:rPr lang="zh-CN" altLang="en-US" noProof="0" dirty="0" smtClean="0">
                <a:ln>
                  <a:noFill/>
                </a:ln>
                <a:solidFill>
                  <a:schemeClr val="bg2"/>
                </a:solidFill>
                <a:effectLst/>
                <a:uLnTx/>
                <a:uFillTx/>
                <a:latin typeface="+mj-ea"/>
                <a:ea typeface="+mj-ea"/>
                <a:cs typeface="+mj-ea"/>
                <a:sym typeface="+mn-ea"/>
              </a:rPr>
              <a:t>（</a:t>
            </a:r>
            <a:r>
              <a:rPr lang="en-US" altLang="zh-CN" noProof="0" dirty="0" smtClean="0">
                <a:ln>
                  <a:noFill/>
                </a:ln>
                <a:solidFill>
                  <a:schemeClr val="bg2"/>
                </a:solidFill>
                <a:effectLst/>
                <a:uLnTx/>
                <a:uFillTx/>
                <a:latin typeface="+mj-ea"/>
                <a:ea typeface="+mj-ea"/>
                <a:cs typeface="+mj-ea"/>
                <a:sym typeface="+mn-ea"/>
              </a:rPr>
              <a:t>2</a:t>
            </a:r>
            <a:r>
              <a:rPr lang="zh-CN" altLang="en-US" noProof="0" dirty="0" smtClean="0">
                <a:ln>
                  <a:noFill/>
                </a:ln>
                <a:solidFill>
                  <a:schemeClr val="bg2"/>
                </a:solidFill>
                <a:effectLst/>
                <a:uLnTx/>
                <a:uFillTx/>
                <a:latin typeface="+mj-ea"/>
                <a:ea typeface="+mj-ea"/>
                <a:cs typeface="+mj-ea"/>
                <a:sym typeface="+mn-ea"/>
              </a:rPr>
              <a:t>）</a:t>
            </a:r>
            <a:r>
              <a:rPr lang="zh-CN" altLang="en-US" dirty="0">
                <a:solidFill>
                  <a:schemeClr val="bg2"/>
                </a:solidFill>
              </a:rPr>
              <a:t>实例：排序算法</a:t>
            </a:r>
            <a:endParaRPr lang="zh-CN" altLang="en-US" dirty="0">
              <a:solidFill>
                <a:schemeClr val="bg2"/>
              </a:solidFill>
            </a:endParaRPr>
          </a:p>
          <a:p>
            <a:pPr>
              <a:lnSpc>
                <a:spcPct val="120000"/>
              </a:lnSpc>
              <a:spcBef>
                <a:spcPts val="0"/>
              </a:spcBef>
              <a:spcAft>
                <a:spcPts val="0"/>
              </a:spcAft>
              <a:buFont typeface="Wingdings" panose="05000000000000000000" charset="0"/>
            </a:pPr>
            <a:r>
              <a:rPr lang="zh-CN" altLang="en-US" dirty="0">
                <a:solidFill>
                  <a:schemeClr val="bg2"/>
                </a:solidFill>
              </a:rPr>
              <a:t>（</a:t>
            </a:r>
            <a:r>
              <a:rPr lang="en-US" altLang="zh-CN" dirty="0">
                <a:solidFill>
                  <a:schemeClr val="bg2"/>
                </a:solidFill>
              </a:rPr>
              <a:t>3</a:t>
            </a:r>
            <a:r>
              <a:rPr lang="zh-CN" altLang="en-US" dirty="0">
                <a:solidFill>
                  <a:schemeClr val="bg2"/>
                </a:solidFill>
              </a:rPr>
              <a:t>）研究的内容：</a:t>
            </a:r>
            <a:r>
              <a:rPr lang="zh-CN" altLang="en-US">
                <a:solidFill>
                  <a:schemeClr val="bg2"/>
                </a:solidFill>
                <a:sym typeface="+mn-ea"/>
              </a:rPr>
              <a:t>是否可找到更好的、效率更高的排序算法？</a:t>
            </a:r>
            <a:endParaRPr lang="zh-CN" altLang="en-US" dirty="0">
              <a:solidFill>
                <a:schemeClr val="bg2"/>
              </a:solidFill>
            </a:endParaRPr>
          </a:p>
        </p:txBody>
      </p:sp>
      <p:sp>
        <p:nvSpPr>
          <p:cNvPr id="3" name="文本框 2"/>
          <p:cNvSpPr txBox="1"/>
          <p:nvPr/>
        </p:nvSpPr>
        <p:spPr>
          <a:xfrm>
            <a:off x="466725" y="4436110"/>
            <a:ext cx="8129905" cy="1863725"/>
          </a:xfrm>
          <a:prstGeom prst="rect">
            <a:avLst/>
          </a:prstGeom>
          <a:solidFill>
            <a:schemeClr val="tx1"/>
          </a:solidFill>
        </p:spPr>
        <p:txBody>
          <a:bodyPr wrap="square" rtlCol="0" anchor="t">
            <a:spAutoFit/>
          </a:bodyPr>
          <a:p>
            <a:pPr marL="342900" indent="-342900">
              <a:lnSpc>
                <a:spcPct val="120000"/>
              </a:lnSpc>
              <a:spcBef>
                <a:spcPts val="0"/>
              </a:spcBef>
              <a:spcAft>
                <a:spcPts val="0"/>
              </a:spcAft>
              <a:buFont typeface="Wingdings" panose="05000000000000000000" charset="0"/>
              <a:buChar char="l"/>
            </a:pPr>
            <a:r>
              <a:rPr lang="zh-CN" altLang="en-US" dirty="0">
                <a:solidFill>
                  <a:schemeClr val="bg2"/>
                </a:solidFill>
              </a:rPr>
              <a:t>复习内容</a:t>
            </a:r>
            <a:r>
              <a:rPr lang="en-US" altLang="zh-CN" dirty="0">
                <a:solidFill>
                  <a:schemeClr val="bg2"/>
                </a:solidFill>
              </a:rPr>
              <a:t>3</a:t>
            </a:r>
            <a:r>
              <a:rPr lang="zh-CN" altLang="en-US" dirty="0">
                <a:solidFill>
                  <a:schemeClr val="bg2"/>
                </a:solidFill>
              </a:rPr>
              <a:t>：</a:t>
            </a:r>
            <a:r>
              <a:rPr lang="zh-CN" altLang="en-US">
                <a:solidFill>
                  <a:schemeClr val="bg2"/>
                </a:solidFill>
                <a:uFillTx/>
                <a:latin typeface="+mn-ea"/>
                <a:ea typeface="+mn-ea"/>
                <a:sym typeface="+mn-ea"/>
              </a:rPr>
              <a:t>计算复杂性理论</a:t>
            </a:r>
            <a:endParaRPr lang="zh-CN" altLang="en-US">
              <a:solidFill>
                <a:schemeClr val="bg2"/>
              </a:solidFill>
              <a:uFillTx/>
              <a:latin typeface="+mn-ea"/>
              <a:ea typeface="+mn-ea"/>
              <a:sym typeface="+mn-ea"/>
            </a:endParaRPr>
          </a:p>
          <a:p>
            <a:pPr>
              <a:lnSpc>
                <a:spcPct val="120000"/>
              </a:lnSpc>
              <a:spcBef>
                <a:spcPts val="0"/>
              </a:spcBef>
              <a:spcAft>
                <a:spcPts val="0"/>
              </a:spcAft>
              <a:buFont typeface="Wingdings" panose="05000000000000000000" charset="0"/>
            </a:pPr>
            <a:r>
              <a:rPr lang="zh-CN" altLang="en-US" dirty="0">
                <a:solidFill>
                  <a:schemeClr val="bg2"/>
                </a:solidFill>
                <a:uFillTx/>
                <a:latin typeface="+mn-ea"/>
                <a:ea typeface="+mn-ea"/>
                <a:sym typeface="+mn-ea"/>
              </a:rPr>
              <a:t>（</a:t>
            </a:r>
            <a:r>
              <a:rPr lang="en-US" altLang="zh-CN" dirty="0">
                <a:solidFill>
                  <a:schemeClr val="bg2"/>
                </a:solidFill>
                <a:uFillTx/>
                <a:latin typeface="+mn-ea"/>
                <a:ea typeface="+mn-ea"/>
                <a:sym typeface="+mn-ea"/>
              </a:rPr>
              <a:t>1</a:t>
            </a:r>
            <a:r>
              <a:rPr lang="zh-CN" altLang="en-US" dirty="0">
                <a:solidFill>
                  <a:schemeClr val="bg2"/>
                </a:solidFill>
                <a:uFillTx/>
                <a:latin typeface="+mn-ea"/>
                <a:ea typeface="+mn-ea"/>
                <a:sym typeface="+mn-ea"/>
              </a:rPr>
              <a:t>）通过三个具体的实例理解</a:t>
            </a:r>
            <a:r>
              <a:rPr lang="en-US" altLang="zh-CN" dirty="0">
                <a:solidFill>
                  <a:schemeClr val="bg2"/>
                </a:solidFill>
                <a:uFillTx/>
                <a:latin typeface="+mn-ea"/>
                <a:ea typeface="+mn-ea"/>
                <a:sym typeface="+mn-ea"/>
              </a:rPr>
              <a:t>NP</a:t>
            </a:r>
            <a:r>
              <a:rPr lang="zh-CN" altLang="en-US" dirty="0">
                <a:solidFill>
                  <a:schemeClr val="bg2"/>
                </a:solidFill>
                <a:uFillTx/>
                <a:latin typeface="+mn-ea"/>
                <a:ea typeface="+mn-ea"/>
                <a:sym typeface="+mn-ea"/>
              </a:rPr>
              <a:t>难问题：旅行商问题、背包问题、双机调度问题</a:t>
            </a:r>
            <a:endParaRPr lang="zh-CN" altLang="en-US" dirty="0">
              <a:solidFill>
                <a:schemeClr val="bg2"/>
              </a:solidFill>
              <a:uFillTx/>
              <a:latin typeface="+mn-ea"/>
              <a:ea typeface="+mn-ea"/>
              <a:sym typeface="+mn-ea"/>
            </a:endParaRPr>
          </a:p>
          <a:p>
            <a:pPr>
              <a:lnSpc>
                <a:spcPct val="120000"/>
              </a:lnSpc>
              <a:spcBef>
                <a:spcPts val="0"/>
              </a:spcBef>
              <a:spcAft>
                <a:spcPts val="0"/>
              </a:spcAft>
              <a:buFont typeface="Wingdings" panose="05000000000000000000" charset="0"/>
            </a:pPr>
            <a:r>
              <a:rPr lang="zh-CN" altLang="en-US" dirty="0">
                <a:solidFill>
                  <a:schemeClr val="bg2"/>
                </a:solidFill>
                <a:uFillTx/>
                <a:latin typeface="+mn-ea"/>
                <a:ea typeface="+mn-ea"/>
                <a:sym typeface="+mn-ea"/>
              </a:rPr>
              <a:t>（</a:t>
            </a:r>
            <a:r>
              <a:rPr lang="en-US" altLang="zh-CN" dirty="0">
                <a:solidFill>
                  <a:schemeClr val="bg2"/>
                </a:solidFill>
                <a:uFillTx/>
                <a:latin typeface="+mn-ea"/>
                <a:ea typeface="+mn-ea"/>
                <a:sym typeface="+mn-ea"/>
              </a:rPr>
              <a:t>2</a:t>
            </a:r>
            <a:r>
              <a:rPr lang="zh-CN" altLang="en-US" dirty="0">
                <a:solidFill>
                  <a:schemeClr val="bg2"/>
                </a:solidFill>
                <a:uFillTx/>
                <a:latin typeface="+mn-ea"/>
                <a:ea typeface="+mn-ea"/>
                <a:sym typeface="+mn-ea"/>
              </a:rPr>
              <a:t>）研究内容：证明</a:t>
            </a:r>
            <a:r>
              <a:rPr lang="en-US" altLang="zh-CN" dirty="0">
                <a:solidFill>
                  <a:schemeClr val="bg2"/>
                </a:solidFill>
                <a:uFillTx/>
                <a:latin typeface="+mn-ea"/>
                <a:ea typeface="+mn-ea"/>
                <a:sym typeface="+mn-ea"/>
              </a:rPr>
              <a:t>NP</a:t>
            </a:r>
            <a:r>
              <a:rPr lang="zh-CN" altLang="en-US" dirty="0">
                <a:solidFill>
                  <a:schemeClr val="bg2"/>
                </a:solidFill>
                <a:uFillTx/>
                <a:latin typeface="+mn-ea"/>
                <a:ea typeface="+mn-ea"/>
                <a:sym typeface="+mn-ea"/>
              </a:rPr>
              <a:t>难问题有</a:t>
            </a:r>
            <a:r>
              <a:rPr lang="en-US" altLang="zh-CN" dirty="0">
                <a:solidFill>
                  <a:schemeClr val="bg2"/>
                </a:solidFill>
                <a:uFillTx/>
                <a:latin typeface="+mn-ea"/>
                <a:ea typeface="+mn-ea"/>
                <a:sym typeface="+mn-ea"/>
              </a:rPr>
              <a:t>/</a:t>
            </a:r>
            <a:r>
              <a:rPr lang="zh-CN" altLang="en-US" dirty="0">
                <a:solidFill>
                  <a:schemeClr val="bg2"/>
                </a:solidFill>
                <a:uFillTx/>
                <a:latin typeface="+mn-ea"/>
                <a:ea typeface="+mn-ea"/>
                <a:sym typeface="+mn-ea"/>
              </a:rPr>
              <a:t>没有多项式时间算法。</a:t>
            </a:r>
            <a:endParaRPr lang="zh-CN" altLang="en-US" dirty="0">
              <a:solidFill>
                <a:schemeClr val="bg2"/>
              </a:solidFill>
              <a:uFillTx/>
              <a:latin typeface="+mn-ea"/>
              <a:ea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ldLvl="0" animBg="1"/>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2" name="文本框 1"/>
          <p:cNvSpPr txBox="1"/>
          <p:nvPr/>
        </p:nvSpPr>
        <p:spPr>
          <a:xfrm>
            <a:off x="457200" y="1673225"/>
            <a:ext cx="7626350" cy="460375"/>
          </a:xfrm>
          <a:prstGeom prst="rect">
            <a:avLst/>
          </a:prstGeom>
          <a:noFill/>
        </p:spPr>
        <p:txBody>
          <a:bodyPr wrap="square" rtlCol="0" anchor="t">
            <a:spAutoFit/>
          </a:bodyPr>
          <a:lstStyle/>
          <a:p>
            <a:r>
              <a:rPr lang="zh-CN" altLang="en-US" dirty="0">
                <a:solidFill>
                  <a:schemeClr val="bg2"/>
                </a:solidFill>
              </a:rPr>
              <a:t>Algorithm + Data Structure= </a:t>
            </a:r>
            <a:r>
              <a:rPr lang="zh-CN" altLang="en-US" b="1" dirty="0">
                <a:solidFill>
                  <a:srgbClr val="FF0000"/>
                </a:solidFill>
              </a:rPr>
              <a:t>Programming</a:t>
            </a:r>
            <a:endParaRPr lang="zh-CN" altLang="en-US" b="1" dirty="0">
              <a:solidFill>
                <a:srgbClr val="FF0000"/>
              </a:solidFill>
            </a:endParaRPr>
          </a:p>
        </p:txBody>
      </p:sp>
      <p:sp>
        <p:nvSpPr>
          <p:cNvPr id="3" name="文本框 2"/>
          <p:cNvSpPr txBox="1"/>
          <p:nvPr/>
        </p:nvSpPr>
        <p:spPr>
          <a:xfrm>
            <a:off x="485775" y="2123440"/>
            <a:ext cx="5044440" cy="1353185"/>
          </a:xfrm>
          <a:prstGeom prst="rect">
            <a:avLst/>
          </a:prstGeom>
          <a:noFill/>
        </p:spPr>
        <p:txBody>
          <a:bodyPr wrap="square" rtlCol="0" anchor="t">
            <a:spAutoFit/>
          </a:bodyPr>
          <a:lstStyle/>
          <a:p>
            <a:pPr marL="342900" indent="-342900">
              <a:lnSpc>
                <a:spcPct val="100000"/>
              </a:lnSpc>
              <a:spcBef>
                <a:spcPts val="600"/>
              </a:spcBef>
              <a:spcAft>
                <a:spcPts val="0"/>
              </a:spcAft>
              <a:buFont typeface="Arial" panose="020B0604020202020204" pitchFamily="34" charset="0"/>
              <a:buChar char="•"/>
            </a:pPr>
            <a:r>
              <a:rPr lang="zh-CN" altLang="en-US" dirty="0">
                <a:solidFill>
                  <a:schemeClr val="bg2"/>
                </a:solidFill>
              </a:rPr>
              <a:t>好的算法</a:t>
            </a:r>
            <a:endParaRPr lang="zh-CN" altLang="en-US" dirty="0">
              <a:solidFill>
                <a:schemeClr val="bg2"/>
              </a:solidFill>
            </a:endParaRPr>
          </a:p>
          <a:p>
            <a:pPr>
              <a:lnSpc>
                <a:spcPct val="100000"/>
              </a:lnSpc>
              <a:spcBef>
                <a:spcPts val="600"/>
              </a:spcBef>
              <a:spcAft>
                <a:spcPts val="0"/>
              </a:spcAft>
            </a:pPr>
            <a:r>
              <a:rPr lang="zh-CN" altLang="en-US" dirty="0">
                <a:solidFill>
                  <a:schemeClr val="bg2"/>
                </a:solidFill>
              </a:rPr>
              <a:t>（</a:t>
            </a:r>
            <a:r>
              <a:rPr lang="en-US" altLang="zh-CN" dirty="0">
                <a:solidFill>
                  <a:schemeClr val="bg2"/>
                </a:solidFill>
              </a:rPr>
              <a:t>1</a:t>
            </a:r>
            <a:r>
              <a:rPr lang="zh-CN" altLang="en-US" dirty="0">
                <a:solidFill>
                  <a:schemeClr val="bg2"/>
                </a:solidFill>
              </a:rPr>
              <a:t>）提高求解问题的效率</a:t>
            </a:r>
            <a:endParaRPr lang="zh-CN" altLang="en-US" dirty="0">
              <a:solidFill>
                <a:schemeClr val="bg2"/>
              </a:solidFill>
            </a:endParaRPr>
          </a:p>
          <a:p>
            <a:pPr>
              <a:lnSpc>
                <a:spcPct val="100000"/>
              </a:lnSpc>
              <a:spcBef>
                <a:spcPts val="600"/>
              </a:spcBef>
              <a:spcAft>
                <a:spcPts val="0"/>
              </a:spcAft>
            </a:pPr>
            <a:r>
              <a:rPr lang="zh-CN" altLang="en-US" dirty="0">
                <a:solidFill>
                  <a:schemeClr val="bg2"/>
                </a:solidFill>
              </a:rPr>
              <a:t>（</a:t>
            </a:r>
            <a:r>
              <a:rPr lang="en-US" altLang="zh-CN" dirty="0">
                <a:solidFill>
                  <a:schemeClr val="bg2"/>
                </a:solidFill>
              </a:rPr>
              <a:t>2</a:t>
            </a:r>
            <a:r>
              <a:rPr lang="zh-CN" altLang="en-US" dirty="0">
                <a:solidFill>
                  <a:schemeClr val="bg2"/>
                </a:solidFill>
              </a:rPr>
              <a:t>）节省存储空间</a:t>
            </a:r>
            <a:endParaRPr lang="zh-CN" altLang="en-US" dirty="0">
              <a:solidFill>
                <a:schemeClr val="bg2"/>
              </a:solidFill>
            </a:endParaRPr>
          </a:p>
        </p:txBody>
      </p:sp>
      <p:sp>
        <p:nvSpPr>
          <p:cNvPr id="4" name="文本框 3"/>
          <p:cNvSpPr txBox="1"/>
          <p:nvPr/>
        </p:nvSpPr>
        <p:spPr>
          <a:xfrm>
            <a:off x="457200" y="3627755"/>
            <a:ext cx="7364095" cy="2306320"/>
          </a:xfrm>
          <a:prstGeom prst="rect">
            <a:avLst/>
          </a:prstGeom>
          <a:noFill/>
        </p:spPr>
        <p:txBody>
          <a:bodyPr wrap="square" rtlCol="0" anchor="t">
            <a:spAutoFit/>
          </a:bodyPr>
          <a:lstStyle/>
          <a:p>
            <a:pPr marL="457200" indent="-457200">
              <a:lnSpc>
                <a:spcPct val="120000"/>
              </a:lnSpc>
              <a:spcBef>
                <a:spcPts val="0"/>
              </a:spcBef>
              <a:spcAft>
                <a:spcPts val="0"/>
              </a:spcAft>
              <a:buFont typeface="Arial" panose="020B0604020202020204" pitchFamily="34" charset="0"/>
              <a:buChar char="•"/>
            </a:pPr>
            <a:r>
              <a:rPr lang="zh-CN" altLang="en-US" dirty="0">
                <a:solidFill>
                  <a:schemeClr val="bg2"/>
                </a:solidFill>
              </a:rPr>
              <a:t>算法的研究目标</a:t>
            </a:r>
            <a:endParaRPr lang="zh-CN" altLang="en-US" dirty="0">
              <a:solidFill>
                <a:schemeClr val="bg2"/>
              </a:solidFill>
            </a:endParaRPr>
          </a:p>
          <a:p>
            <a:pPr>
              <a:lnSpc>
                <a:spcPct val="120000"/>
              </a:lnSpc>
              <a:spcBef>
                <a:spcPts val="0"/>
              </a:spcBef>
              <a:spcAft>
                <a:spcPts val="0"/>
              </a:spcAft>
            </a:pPr>
            <a:r>
              <a:rPr lang="zh-CN" altLang="en-US" dirty="0">
                <a:solidFill>
                  <a:schemeClr val="bg2"/>
                </a:solidFill>
              </a:rPr>
              <a:t>（</a:t>
            </a:r>
            <a:r>
              <a:rPr lang="en-US" altLang="zh-CN" dirty="0">
                <a:solidFill>
                  <a:schemeClr val="bg2"/>
                </a:solidFill>
              </a:rPr>
              <a:t>1</a:t>
            </a:r>
            <a:r>
              <a:rPr lang="zh-CN" altLang="en-US" dirty="0">
                <a:solidFill>
                  <a:schemeClr val="bg2"/>
                </a:solidFill>
              </a:rPr>
              <a:t>）实际问题→建模并寻找算法</a:t>
            </a:r>
            <a:endParaRPr lang="zh-CN" altLang="en-US" dirty="0">
              <a:solidFill>
                <a:schemeClr val="bg2"/>
              </a:solidFill>
            </a:endParaRPr>
          </a:p>
          <a:p>
            <a:pPr>
              <a:lnSpc>
                <a:spcPct val="120000"/>
              </a:lnSpc>
              <a:spcBef>
                <a:spcPts val="0"/>
              </a:spcBef>
              <a:spcAft>
                <a:spcPts val="0"/>
              </a:spcAft>
            </a:pPr>
            <a:r>
              <a:rPr lang="zh-CN" altLang="en-US" dirty="0">
                <a:solidFill>
                  <a:schemeClr val="bg2"/>
                </a:solidFill>
              </a:rPr>
              <a:t>（</a:t>
            </a:r>
            <a:r>
              <a:rPr lang="en-US" altLang="zh-CN" dirty="0">
                <a:solidFill>
                  <a:schemeClr val="bg2"/>
                </a:solidFill>
              </a:rPr>
              <a:t>2</a:t>
            </a:r>
            <a:r>
              <a:rPr lang="zh-CN" altLang="en-US" dirty="0">
                <a:solidFill>
                  <a:schemeClr val="bg2"/>
                </a:solidFill>
              </a:rPr>
              <a:t>）设计的算法→算法的评价</a:t>
            </a:r>
            <a:endParaRPr lang="zh-CN" altLang="en-US" dirty="0">
              <a:solidFill>
                <a:schemeClr val="bg2"/>
              </a:solidFill>
            </a:endParaRPr>
          </a:p>
          <a:p>
            <a:pPr>
              <a:lnSpc>
                <a:spcPct val="120000"/>
              </a:lnSpc>
              <a:spcBef>
                <a:spcPts val="0"/>
              </a:spcBef>
              <a:spcAft>
                <a:spcPts val="0"/>
              </a:spcAft>
            </a:pPr>
            <a:r>
              <a:rPr lang="zh-CN" altLang="en-US" dirty="0">
                <a:solidFill>
                  <a:schemeClr val="bg2"/>
                </a:solidFill>
              </a:rPr>
              <a:t>（</a:t>
            </a:r>
            <a:r>
              <a:rPr lang="en-US" altLang="zh-CN" dirty="0">
                <a:solidFill>
                  <a:schemeClr val="bg2"/>
                </a:solidFill>
              </a:rPr>
              <a:t>3</a:t>
            </a:r>
            <a:r>
              <a:rPr lang="zh-CN" altLang="en-US" dirty="0">
                <a:solidFill>
                  <a:schemeClr val="bg2"/>
                </a:solidFill>
              </a:rPr>
              <a:t>）算法类（排序）→问题复杂度估计</a:t>
            </a:r>
            <a:endParaRPr lang="zh-CN" altLang="en-US" dirty="0">
              <a:solidFill>
                <a:schemeClr val="bg2"/>
              </a:solidFill>
            </a:endParaRPr>
          </a:p>
          <a:p>
            <a:pPr>
              <a:lnSpc>
                <a:spcPct val="120000"/>
              </a:lnSpc>
              <a:spcBef>
                <a:spcPts val="0"/>
              </a:spcBef>
              <a:spcAft>
                <a:spcPts val="0"/>
              </a:spcAft>
            </a:pPr>
            <a:r>
              <a:rPr lang="zh-CN" altLang="en-US" dirty="0">
                <a:solidFill>
                  <a:schemeClr val="bg2"/>
                </a:solidFill>
              </a:rPr>
              <a:t>（</a:t>
            </a:r>
            <a:r>
              <a:rPr lang="en-US" altLang="zh-CN" dirty="0">
                <a:solidFill>
                  <a:schemeClr val="bg2"/>
                </a:solidFill>
              </a:rPr>
              <a:t>4</a:t>
            </a:r>
            <a:r>
              <a:rPr lang="zh-CN" altLang="en-US" dirty="0">
                <a:solidFill>
                  <a:schemeClr val="bg2"/>
                </a:solidFill>
              </a:rPr>
              <a:t>）问题类</a:t>
            </a:r>
            <a:r>
              <a:rPr lang="en-US" altLang="zh-CN" dirty="0">
                <a:solidFill>
                  <a:schemeClr val="bg2"/>
                </a:solidFill>
              </a:rPr>
              <a:t>(NP</a:t>
            </a:r>
            <a:r>
              <a:rPr lang="zh-CN" altLang="en-US" dirty="0">
                <a:solidFill>
                  <a:schemeClr val="bg2"/>
                </a:solidFill>
              </a:rPr>
              <a:t>难</a:t>
            </a:r>
            <a:r>
              <a:rPr lang="en-US" altLang="zh-CN" dirty="0">
                <a:solidFill>
                  <a:schemeClr val="bg2"/>
                </a:solidFill>
              </a:rPr>
              <a:t>)</a:t>
            </a:r>
            <a:r>
              <a:rPr lang="zh-CN" altLang="en-US" dirty="0">
                <a:solidFill>
                  <a:schemeClr val="bg2"/>
                </a:solidFill>
              </a:rPr>
              <a:t>→能够求解的边界</a:t>
            </a:r>
            <a:endParaRPr lang="zh-CN" altLang="en-US" dirty="0">
              <a:solidFill>
                <a:schemeClr val="bg2"/>
              </a:solidFill>
            </a:endParaRPr>
          </a:p>
        </p:txBody>
      </p:sp>
      <p:pic>
        <p:nvPicPr>
          <p:cNvPr id="5" name="20 4"/>
          <p:cNvPicPr>
            <a:picLocks noChangeAspect="1"/>
          </p:cNvPicPr>
          <p:nvPr/>
        </p:nvPicPr>
        <p:blipFill>
          <a:blip r:embed="rId1"/>
          <a:stretch>
            <a:fillRect/>
          </a:stretch>
        </p:blipFill>
        <p:spPr>
          <a:xfrm>
            <a:off x="5904230" y="4135120"/>
            <a:ext cx="2179320" cy="17989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457200" y="1668145"/>
            <a:ext cx="8200390" cy="4323080"/>
          </a:xfrm>
          <a:prstGeom prst="rect">
            <a:avLst/>
          </a:prstGeom>
          <a:solidFill>
            <a:schemeClr val="tx1"/>
          </a:solidFill>
        </p:spPr>
        <p:txBody>
          <a:bodyPr wrap="square" rtlCol="0" anchor="t">
            <a:spAutoFit/>
          </a:bodyPr>
          <a:lstStyle/>
          <a:p>
            <a:pPr marL="457200">
              <a:lnSpc>
                <a:spcPct val="125000"/>
              </a:lnSpc>
              <a:spcBef>
                <a:spcPts val="0"/>
              </a:spcBef>
              <a:spcAft>
                <a:spcPts val="0"/>
              </a:spcAft>
              <a:buFont typeface="Wingdings" panose="05000000000000000000" charset="0"/>
              <a:buChar char="n"/>
            </a:pPr>
            <a:r>
              <a:rPr lang="zh-CN" altLang="zh-CN" sz="2800">
                <a:solidFill>
                  <a:schemeClr val="bg1"/>
                </a:solidFill>
                <a:uFillTx/>
                <a:latin typeface="黑体" panose="02010609060101010101" pitchFamily="49" charset="-122"/>
                <a:ea typeface="黑体" panose="02010609060101010101" pitchFamily="49" charset="-122"/>
                <a:sym typeface="+mn-ea"/>
              </a:rPr>
              <a:t>算法及时间复杂度估算</a:t>
            </a:r>
            <a:endParaRPr lang="zh-CN" altLang="zh-CN" sz="2800">
              <a:solidFill>
                <a:schemeClr val="bg1"/>
              </a:solidFill>
              <a:uFillTx/>
              <a:latin typeface="黑体" panose="02010609060101010101" pitchFamily="49" charset="-122"/>
              <a:ea typeface="黑体" panose="02010609060101010101" pitchFamily="49" charset="-122"/>
              <a:sym typeface="+mn-ea"/>
            </a:endParaRPr>
          </a:p>
          <a:p>
            <a:pPr marL="914400" lvl="1">
              <a:lnSpc>
                <a:spcPct val="125000"/>
              </a:lnSpc>
              <a:spcBef>
                <a:spcPts val="0"/>
              </a:spcBef>
              <a:spcAft>
                <a:spcPts val="0"/>
              </a:spcAft>
              <a:buFont typeface="Wingdings" panose="05000000000000000000" charset="0"/>
              <a:buChar char="Ø"/>
            </a:pPr>
            <a:r>
              <a:rPr lang="zh-CN" altLang="zh-CN">
                <a:solidFill>
                  <a:schemeClr val="bg2"/>
                </a:solidFill>
                <a:uFillTx/>
                <a:sym typeface="+mn-ea"/>
              </a:rPr>
              <a:t>算法中涉及的基本概念</a:t>
            </a:r>
            <a:endParaRPr lang="zh-CN" altLang="zh-CN">
              <a:solidFill>
                <a:schemeClr val="bg2"/>
              </a:solidFill>
              <a:uFillTx/>
              <a:sym typeface="+mn-ea"/>
            </a:endParaRPr>
          </a:p>
          <a:p>
            <a:pPr lvl="1">
              <a:lnSpc>
                <a:spcPct val="125000"/>
              </a:lnSpc>
              <a:spcBef>
                <a:spcPts val="0"/>
              </a:spcBef>
              <a:spcAft>
                <a:spcPts val="0"/>
              </a:spcAft>
              <a:buFont typeface="Arial" panose="020B0604020202020204" pitchFamily="34" charset="0"/>
            </a:pPr>
            <a:r>
              <a:rPr lang="en-US" altLang="zh-CN">
                <a:solidFill>
                  <a:schemeClr val="bg2"/>
                </a:solidFill>
                <a:uFillTx/>
                <a:sym typeface="+mn-ea"/>
              </a:rPr>
              <a:t>(1) </a:t>
            </a:r>
            <a:r>
              <a:rPr lang="zh-CN" altLang="en-US">
                <a:solidFill>
                  <a:schemeClr val="bg2"/>
                </a:solidFill>
                <a:uFillTx/>
                <a:sym typeface="+mn-ea"/>
              </a:rPr>
              <a:t>问题：需要回答的一般性提问，通常含若干参数。</a:t>
            </a:r>
            <a:endParaRPr lang="zh-CN" altLang="en-US">
              <a:solidFill>
                <a:schemeClr val="bg2"/>
              </a:solidFill>
              <a:uFillTx/>
              <a:sym typeface="+mn-ea"/>
            </a:endParaRPr>
          </a:p>
          <a:p>
            <a:pPr lvl="1">
              <a:lnSpc>
                <a:spcPct val="125000"/>
              </a:lnSpc>
              <a:spcBef>
                <a:spcPts val="0"/>
              </a:spcBef>
              <a:spcAft>
                <a:spcPts val="0"/>
              </a:spcAft>
              <a:buFont typeface="Arial" panose="020B0604020202020204" pitchFamily="34" charset="0"/>
            </a:pPr>
            <a:r>
              <a:rPr lang="en-US" altLang="zh-CN">
                <a:solidFill>
                  <a:schemeClr val="bg2"/>
                </a:solidFill>
                <a:uFillTx/>
                <a:sym typeface="+mn-ea"/>
              </a:rPr>
              <a:t>(2) </a:t>
            </a:r>
            <a:r>
              <a:rPr lang="zh-CN" altLang="en-US">
                <a:solidFill>
                  <a:schemeClr val="bg2"/>
                </a:solidFill>
                <a:uFillTx/>
                <a:sym typeface="+mn-ea"/>
              </a:rPr>
              <a:t>问题描述</a:t>
            </a:r>
            <a:endParaRPr lang="zh-CN" altLang="en-US">
              <a:solidFill>
                <a:schemeClr val="bg2"/>
              </a:solidFill>
              <a:uFillTx/>
              <a:sym typeface="+mn-ea"/>
            </a:endParaRPr>
          </a:p>
          <a:p>
            <a:pPr marL="1371600" lvl="2">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定义问题参数(集合,变量,函数,序列等)</a:t>
            </a:r>
            <a:endParaRPr lang="zh-CN" altLang="en-US">
              <a:solidFill>
                <a:schemeClr val="bg2"/>
              </a:solidFill>
              <a:uFillTx/>
              <a:sym typeface="+mn-ea"/>
            </a:endParaRPr>
          </a:p>
          <a:p>
            <a:pPr marL="1371600" lvl="2">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说明每个参数的取值范围及参数间的关系</a:t>
            </a:r>
            <a:endParaRPr lang="zh-CN" altLang="en-US">
              <a:solidFill>
                <a:schemeClr val="bg2"/>
              </a:solidFill>
              <a:uFillTx/>
              <a:sym typeface="+mn-ea"/>
            </a:endParaRPr>
          </a:p>
          <a:p>
            <a:pPr marL="1371600" lvl="2">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定义问题的解</a:t>
            </a:r>
            <a:endParaRPr lang="zh-CN" altLang="en-US">
              <a:solidFill>
                <a:schemeClr val="bg2"/>
              </a:solidFill>
              <a:uFillTx/>
              <a:sym typeface="+mn-ea"/>
            </a:endParaRPr>
          </a:p>
          <a:p>
            <a:pPr marL="1371600" lvl="2">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说明解满足的条件(优化目标或约束条件)</a:t>
            </a:r>
            <a:endParaRPr lang="zh-CN" altLang="en-US">
              <a:solidFill>
                <a:schemeClr val="bg2"/>
              </a:solidFill>
              <a:uFillTx/>
              <a:sym typeface="+mn-ea"/>
            </a:endParaRPr>
          </a:p>
          <a:p>
            <a:pPr marL="457200" lvl="2">
              <a:lnSpc>
                <a:spcPct val="125000"/>
              </a:lnSpc>
              <a:spcBef>
                <a:spcPts val="0"/>
              </a:spcBef>
              <a:spcAft>
                <a:spcPts val="0"/>
              </a:spcAft>
              <a:buFont typeface="Arial" panose="020B0604020202020204" pitchFamily="34" charset="0"/>
            </a:pPr>
            <a:r>
              <a:rPr lang="en-US" altLang="zh-CN">
                <a:solidFill>
                  <a:schemeClr val="bg2"/>
                </a:solidFill>
                <a:uFillTx/>
                <a:sym typeface="+mn-ea"/>
              </a:rPr>
              <a:t>(3) 问题实例</a:t>
            </a:r>
            <a:r>
              <a:rPr lang="zh-CN" altLang="en-US">
                <a:solidFill>
                  <a:schemeClr val="bg2"/>
                </a:solidFill>
                <a:uFillTx/>
                <a:sym typeface="+mn-ea"/>
              </a:rPr>
              <a:t>：参数的一组赋值可得到问题的一个实例。</a:t>
            </a:r>
            <a:endParaRPr lang="zh-CN" altLang="en-US">
              <a:solidFill>
                <a:schemeClr val="bg2"/>
              </a:solidFill>
              <a:uFillTx/>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left)">
                                      <p:cBhvr>
                                        <p:cTn id="25" dur="500"/>
                                        <p:tgtEl>
                                          <p:spTgt spid="3">
                                            <p:txEl>
                                              <p:pRg st="5" end="5"/>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left)">
                                      <p:cBhvr>
                                        <p:cTn id="28" dur="500"/>
                                        <p:tgtEl>
                                          <p:spTgt spid="3">
                                            <p:txEl>
                                              <p:pRg st="6" end="6"/>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wipe(left)">
                                      <p:cBhvr>
                                        <p:cTn id="31" dur="500"/>
                                        <p:tgtEl>
                                          <p:spTgt spid="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wipe(left)">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457200" y="1668145"/>
            <a:ext cx="8200390" cy="3476625"/>
          </a:xfrm>
          <a:prstGeom prst="rect">
            <a:avLst/>
          </a:prstGeom>
          <a:solidFill>
            <a:schemeClr val="tx1"/>
          </a:solidFill>
        </p:spPr>
        <p:txBody>
          <a:bodyPr wrap="square" rtlCol="0" anchor="t">
            <a:spAutoFit/>
          </a:bodyPr>
          <a:lstStyle/>
          <a:p>
            <a:pPr lvl="1">
              <a:lnSpc>
                <a:spcPct val="125000"/>
              </a:lnSpc>
              <a:spcBef>
                <a:spcPts val="0"/>
              </a:spcBef>
              <a:spcAft>
                <a:spcPts val="0"/>
              </a:spcAft>
              <a:buFont typeface="Wingdings" panose="05000000000000000000" charset="0"/>
            </a:pPr>
            <a:r>
              <a:rPr lang="en-US" altLang="zh-CN">
                <a:solidFill>
                  <a:schemeClr val="bg2"/>
                </a:solidFill>
                <a:uFillTx/>
                <a:sym typeface="+mn-ea"/>
              </a:rPr>
              <a:t>(4) </a:t>
            </a:r>
            <a:r>
              <a:rPr lang="zh-CN" altLang="en-US">
                <a:solidFill>
                  <a:schemeClr val="bg2"/>
                </a:solidFill>
                <a:uFillTx/>
                <a:sym typeface="+mn-ea"/>
              </a:rPr>
              <a:t>算法：有限条指令的序列，这个指令序列确定了解决某个问题的一系列运算或操作。</a:t>
            </a:r>
            <a:endParaRPr lang="zh-CN" altLang="en-US">
              <a:solidFill>
                <a:schemeClr val="bg2"/>
              </a:solidFill>
              <a:uFillTx/>
              <a:sym typeface="+mn-ea"/>
            </a:endParaRPr>
          </a:p>
          <a:p>
            <a:pPr lvl="1">
              <a:lnSpc>
                <a:spcPct val="125000"/>
              </a:lnSpc>
              <a:spcBef>
                <a:spcPts val="1200"/>
              </a:spcBef>
              <a:spcAft>
                <a:spcPts val="0"/>
              </a:spcAft>
              <a:buFont typeface="Wingdings" panose="05000000000000000000" charset="0"/>
            </a:pPr>
            <a:r>
              <a:rPr lang="en-US" altLang="zh-CN">
                <a:solidFill>
                  <a:schemeClr val="bg2"/>
                </a:solidFill>
                <a:uFillTx/>
                <a:sym typeface="+mn-ea"/>
              </a:rPr>
              <a:t>(5) </a:t>
            </a:r>
            <a:r>
              <a:rPr lang="zh-CN" altLang="en-US">
                <a:solidFill>
                  <a:schemeClr val="bg2"/>
                </a:solidFill>
                <a:uFillTx/>
                <a:sym typeface="+mn-ea"/>
              </a:rPr>
              <a:t>算法 A 解问题 P</a:t>
            </a:r>
            <a:endParaRPr lang="zh-CN" altLang="en-US">
              <a:solidFill>
                <a:schemeClr val="bg2"/>
              </a:solidFill>
              <a:uFillTx/>
              <a:sym typeface="+mn-ea"/>
            </a:endParaRPr>
          </a:p>
          <a:p>
            <a:pPr marL="1371600" lvl="2" indent="-457200">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把问题 P 的</a:t>
            </a:r>
            <a:r>
              <a:rPr lang="zh-CN" altLang="en-US" b="1">
                <a:solidFill>
                  <a:srgbClr val="FF0000"/>
                </a:solidFill>
                <a:uFillTx/>
                <a:sym typeface="+mn-ea"/>
              </a:rPr>
              <a:t>任何实例</a:t>
            </a:r>
            <a:r>
              <a:rPr lang="zh-CN" altLang="en-US">
                <a:solidFill>
                  <a:schemeClr val="bg2"/>
                </a:solidFill>
                <a:uFillTx/>
                <a:sym typeface="+mn-ea"/>
              </a:rPr>
              <a:t>作为算法 A 的输入</a:t>
            </a:r>
            <a:endParaRPr lang="zh-CN" altLang="en-US">
              <a:solidFill>
                <a:schemeClr val="bg2"/>
              </a:solidFill>
              <a:uFillTx/>
              <a:sym typeface="+mn-ea"/>
            </a:endParaRPr>
          </a:p>
          <a:p>
            <a:pPr marL="1371600" lvl="2" indent="-457200">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每步计算是确定性的</a:t>
            </a:r>
            <a:endParaRPr lang="zh-CN" altLang="en-US">
              <a:solidFill>
                <a:schemeClr val="bg2"/>
              </a:solidFill>
              <a:uFillTx/>
              <a:sym typeface="+mn-ea"/>
            </a:endParaRPr>
          </a:p>
          <a:p>
            <a:pPr marL="1371600" lvl="2" indent="-457200">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A 能够在有限步停机</a:t>
            </a:r>
            <a:endParaRPr lang="zh-CN" altLang="en-US">
              <a:solidFill>
                <a:schemeClr val="bg2"/>
              </a:solidFill>
              <a:uFillTx/>
              <a:sym typeface="+mn-ea"/>
            </a:endParaRPr>
          </a:p>
          <a:p>
            <a:pPr marL="1371600" lvl="2" indent="-457200">
              <a:lnSpc>
                <a:spcPct val="125000"/>
              </a:lnSpc>
              <a:spcBef>
                <a:spcPts val="0"/>
              </a:spcBef>
              <a:spcAft>
                <a:spcPts val="0"/>
              </a:spcAft>
              <a:buFont typeface="Arial" panose="020B0604020202020204" pitchFamily="34" charset="0"/>
              <a:buChar char="•"/>
            </a:pPr>
            <a:r>
              <a:rPr lang="zh-CN" altLang="en-US">
                <a:solidFill>
                  <a:schemeClr val="bg2"/>
                </a:solidFill>
                <a:uFillTx/>
                <a:sym typeface="+mn-ea"/>
              </a:rPr>
              <a:t>输出该实例的正确的解</a:t>
            </a:r>
            <a:endParaRPr lang="zh-CN" altLang="en-US">
              <a:solidFill>
                <a:schemeClr val="bg2"/>
              </a:solidFill>
              <a:uFillTx/>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left)">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596390"/>
            <a:ext cx="8373110" cy="2017395"/>
          </a:xfrm>
          <a:prstGeom prst="rect">
            <a:avLst/>
          </a:prstGeom>
          <a:solidFill>
            <a:schemeClr val="tx1"/>
          </a:solidFill>
        </p:spPr>
        <p:txBody>
          <a:bodyPr wrap="square" rtlCol="0" anchor="t">
            <a:spAutoFit/>
          </a:bodyPr>
          <a:lstStyle/>
          <a:p>
            <a:pPr marL="914400" lvl="1" indent="-457200">
              <a:lnSpc>
                <a:spcPct val="120000"/>
              </a:lnSpc>
              <a:spcBef>
                <a:spcPts val="600"/>
              </a:spcBef>
              <a:spcAft>
                <a:spcPts val="0"/>
              </a:spcAft>
              <a:buFont typeface="Wingdings" panose="05000000000000000000" charset="0"/>
              <a:buChar char="Ø"/>
            </a:pPr>
            <a:r>
              <a:rPr lang="zh-CN" altLang="zh-CN">
                <a:solidFill>
                  <a:schemeClr val="bg2"/>
                </a:solidFill>
                <a:uFillTx/>
                <a:sym typeface="+mn-ea"/>
              </a:rPr>
              <a:t>算法时间复杂度估算</a:t>
            </a:r>
            <a:endParaRPr lang="zh-CN" altLang="zh-CN">
              <a:solidFill>
                <a:schemeClr val="bg2"/>
              </a:solidFill>
              <a:uFillTx/>
              <a:sym typeface="+mn-ea"/>
            </a:endParaRPr>
          </a:p>
          <a:p>
            <a:pPr lvl="1">
              <a:lnSpc>
                <a:spcPct val="120000"/>
              </a:lnSpc>
              <a:spcBef>
                <a:spcPts val="600"/>
              </a:spcBef>
              <a:spcAft>
                <a:spcPts val="0"/>
              </a:spcAft>
              <a:buFont typeface="Arial" panose="020B0604020202020204" pitchFamily="34" charset="0"/>
            </a:pPr>
            <a:r>
              <a:rPr lang="en-US" altLang="zh-CN">
                <a:solidFill>
                  <a:schemeClr val="bg2"/>
                </a:solidFill>
                <a:uFillTx/>
                <a:sym typeface="+mn-ea"/>
              </a:rPr>
              <a:t>(1) </a:t>
            </a:r>
            <a:r>
              <a:rPr lang="zh-CN" altLang="en-US">
                <a:solidFill>
                  <a:schemeClr val="bg2"/>
                </a:solidFill>
                <a:uFillTx/>
                <a:sym typeface="+mn-ea"/>
              </a:rPr>
              <a:t>算法时间复杂度: 针对指定</a:t>
            </a:r>
            <a:r>
              <a:rPr lang="zh-CN" altLang="en-US">
                <a:solidFill>
                  <a:srgbClr val="FF0000"/>
                </a:solidFill>
                <a:uFillTx/>
                <a:sym typeface="+mn-ea"/>
              </a:rPr>
              <a:t>基本运算</a:t>
            </a:r>
            <a:r>
              <a:rPr lang="zh-CN" altLang="en-US">
                <a:solidFill>
                  <a:schemeClr val="bg2"/>
                </a:solidFill>
                <a:uFillTx/>
                <a:sym typeface="+mn-ea"/>
              </a:rPr>
              <a:t>，计数算法所做该运算的次数，通常是</a:t>
            </a:r>
            <a:r>
              <a:rPr lang="zh-CN" altLang="en-US">
                <a:solidFill>
                  <a:srgbClr val="FF0000"/>
                </a:solidFill>
                <a:uFillTx/>
                <a:sym typeface="+mn-ea"/>
              </a:rPr>
              <a:t>问题输入规模</a:t>
            </a:r>
            <a:r>
              <a:rPr lang="zh-CN" altLang="en-US">
                <a:solidFill>
                  <a:schemeClr val="bg2"/>
                </a:solidFill>
                <a:uFillTx/>
                <a:sym typeface="+mn-ea"/>
              </a:rPr>
              <a:t>的函数。</a:t>
            </a:r>
            <a:endParaRPr lang="zh-CN" altLang="en-US">
              <a:solidFill>
                <a:schemeClr val="bg2"/>
              </a:solidFill>
              <a:uFillTx/>
              <a:sym typeface="+mn-ea"/>
            </a:endParaRPr>
          </a:p>
          <a:p>
            <a:pPr lvl="1">
              <a:lnSpc>
                <a:spcPct val="120000"/>
              </a:lnSpc>
              <a:spcBef>
                <a:spcPts val="600"/>
              </a:spcBef>
              <a:spcAft>
                <a:spcPts val="0"/>
              </a:spcAft>
              <a:buFont typeface="Arial" panose="020B0604020202020204" pitchFamily="34" charset="0"/>
            </a:pPr>
            <a:r>
              <a:rPr lang="en-US" altLang="zh-CN">
                <a:solidFill>
                  <a:schemeClr val="bg2"/>
                </a:solidFill>
                <a:uFillTx/>
                <a:sym typeface="+mn-ea"/>
              </a:rPr>
              <a:t>(2) 输入规模：输入串编码长度</a:t>
            </a:r>
            <a:r>
              <a:rPr lang="zh-CN" altLang="en-US">
                <a:solidFill>
                  <a:schemeClr val="bg2"/>
                </a:solidFill>
                <a:uFillTx/>
                <a:sym typeface="+mn-ea"/>
              </a:rPr>
              <a:t>。例如：</a:t>
            </a:r>
            <a:endParaRPr lang="zh-CN" altLang="en-US">
              <a:solidFill>
                <a:schemeClr val="bg2"/>
              </a:solidFill>
              <a:uFillTx/>
              <a:sym typeface="+mn-ea"/>
            </a:endParaRPr>
          </a:p>
        </p:txBody>
      </p:sp>
      <p:sp>
        <p:nvSpPr>
          <p:cNvPr id="4" name="文本框 3"/>
          <p:cNvSpPr txBox="1"/>
          <p:nvPr/>
        </p:nvSpPr>
        <p:spPr>
          <a:xfrm>
            <a:off x="1305560" y="3621405"/>
            <a:ext cx="6388735" cy="2399665"/>
          </a:xfrm>
          <a:prstGeom prst="rect">
            <a:avLst/>
          </a:prstGeom>
          <a:noFill/>
        </p:spPr>
        <p:txBody>
          <a:bodyPr wrap="square" rtlCol="0" anchor="t">
            <a:spAutoFit/>
          </a:bodyPr>
          <a:lstStyle/>
          <a:p>
            <a:pPr marL="457200" indent="-457200">
              <a:lnSpc>
                <a:spcPct val="125000"/>
              </a:lnSpc>
              <a:spcBef>
                <a:spcPts val="0"/>
              </a:spcBef>
              <a:spcAft>
                <a:spcPts val="0"/>
              </a:spcAft>
              <a:buFont typeface="Arial" panose="020B0604020202020204" pitchFamily="34" charset="0"/>
              <a:buChar char="•"/>
            </a:pPr>
            <a:r>
              <a:rPr lang="zh-CN" altLang="en-US">
                <a:solidFill>
                  <a:schemeClr val="bg2"/>
                </a:solidFill>
              </a:rPr>
              <a:t>排序：数组中元素个数 </a:t>
            </a:r>
            <a:r>
              <a:rPr lang="zh-CN" altLang="en-US" b="1" i="1">
                <a:solidFill>
                  <a:schemeClr val="bg2"/>
                </a:solidFill>
              </a:rPr>
              <a:t>n</a:t>
            </a:r>
            <a:r>
              <a:rPr lang="zh-CN" altLang="en-US">
                <a:solidFill>
                  <a:schemeClr val="bg2"/>
                </a:solidFill>
              </a:rPr>
              <a:t> </a:t>
            </a:r>
            <a:endParaRPr lang="zh-CN" altLang="en-US">
              <a:solidFill>
                <a:schemeClr val="bg2"/>
              </a:solidFill>
            </a:endParaRPr>
          </a:p>
          <a:p>
            <a:pPr marL="457200" indent="-457200">
              <a:lnSpc>
                <a:spcPct val="125000"/>
              </a:lnSpc>
              <a:spcBef>
                <a:spcPts val="0"/>
              </a:spcBef>
              <a:spcAft>
                <a:spcPts val="0"/>
              </a:spcAft>
              <a:buFont typeface="Arial" panose="020B0604020202020204" pitchFamily="34" charset="0"/>
              <a:buChar char="•"/>
            </a:pPr>
            <a:r>
              <a:rPr lang="zh-CN" altLang="en-US">
                <a:solidFill>
                  <a:schemeClr val="bg2"/>
                </a:solidFill>
              </a:rPr>
              <a:t>检索：被检索数组的元素个数 </a:t>
            </a:r>
            <a:r>
              <a:rPr lang="zh-CN" altLang="en-US" b="1" i="1">
                <a:solidFill>
                  <a:schemeClr val="bg2"/>
                </a:solidFill>
              </a:rPr>
              <a:t>n</a:t>
            </a:r>
            <a:endParaRPr lang="zh-CN" altLang="en-US">
              <a:solidFill>
                <a:schemeClr val="bg2"/>
              </a:solidFill>
            </a:endParaRPr>
          </a:p>
          <a:p>
            <a:pPr marL="457200" indent="-457200">
              <a:lnSpc>
                <a:spcPct val="125000"/>
              </a:lnSpc>
              <a:spcBef>
                <a:spcPts val="0"/>
              </a:spcBef>
              <a:spcAft>
                <a:spcPts val="0"/>
              </a:spcAft>
              <a:buFont typeface="Arial" panose="020B0604020202020204" pitchFamily="34" charset="0"/>
              <a:buChar char="•"/>
            </a:pPr>
            <a:r>
              <a:rPr lang="zh-CN" altLang="en-US">
                <a:solidFill>
                  <a:schemeClr val="bg2"/>
                </a:solidFill>
              </a:rPr>
              <a:t>整数乘法：两个整数的位数 </a:t>
            </a:r>
            <a:r>
              <a:rPr lang="zh-CN" altLang="en-US" b="1" i="1">
                <a:solidFill>
                  <a:schemeClr val="bg2"/>
                </a:solidFill>
              </a:rPr>
              <a:t>m</a:t>
            </a:r>
            <a:r>
              <a:rPr lang="zh-CN" altLang="en-US">
                <a:solidFill>
                  <a:schemeClr val="bg2"/>
                </a:solidFill>
              </a:rPr>
              <a:t>, </a:t>
            </a:r>
            <a:r>
              <a:rPr lang="zh-CN" altLang="en-US" b="1" i="1">
                <a:solidFill>
                  <a:schemeClr val="bg2"/>
                </a:solidFill>
              </a:rPr>
              <a:t>n</a:t>
            </a:r>
            <a:endParaRPr lang="zh-CN" altLang="en-US">
              <a:solidFill>
                <a:schemeClr val="bg2"/>
              </a:solidFill>
            </a:endParaRPr>
          </a:p>
          <a:p>
            <a:pPr marL="457200" indent="-457200">
              <a:lnSpc>
                <a:spcPct val="125000"/>
              </a:lnSpc>
              <a:spcBef>
                <a:spcPts val="0"/>
              </a:spcBef>
              <a:spcAft>
                <a:spcPts val="0"/>
              </a:spcAft>
              <a:buFont typeface="Arial" panose="020B0604020202020204" pitchFamily="34" charset="0"/>
              <a:buChar char="•"/>
            </a:pPr>
            <a:r>
              <a:rPr lang="zh-CN" altLang="en-US">
                <a:solidFill>
                  <a:schemeClr val="bg2"/>
                </a:solidFill>
              </a:rPr>
              <a:t>矩阵相乘：矩阵的行列数 </a:t>
            </a:r>
            <a:r>
              <a:rPr lang="zh-CN" altLang="en-US" b="1" i="1">
                <a:solidFill>
                  <a:schemeClr val="bg2"/>
                </a:solidFill>
              </a:rPr>
              <a:t>i</a:t>
            </a:r>
            <a:r>
              <a:rPr lang="zh-CN" altLang="en-US">
                <a:solidFill>
                  <a:schemeClr val="bg2"/>
                </a:solidFill>
              </a:rPr>
              <a:t>, </a:t>
            </a:r>
            <a:r>
              <a:rPr lang="zh-CN" altLang="en-US" b="1" i="1">
                <a:solidFill>
                  <a:schemeClr val="bg2"/>
                </a:solidFill>
              </a:rPr>
              <a:t>j,</a:t>
            </a:r>
            <a:r>
              <a:rPr lang="zh-CN" altLang="en-US">
                <a:solidFill>
                  <a:schemeClr val="bg2"/>
                </a:solidFill>
              </a:rPr>
              <a:t> </a:t>
            </a:r>
            <a:r>
              <a:rPr lang="zh-CN" altLang="en-US" b="1" i="1">
                <a:solidFill>
                  <a:schemeClr val="bg2"/>
                </a:solidFill>
              </a:rPr>
              <a:t>k</a:t>
            </a:r>
            <a:endParaRPr lang="zh-CN" altLang="en-US">
              <a:solidFill>
                <a:schemeClr val="bg2"/>
              </a:solidFill>
            </a:endParaRPr>
          </a:p>
          <a:p>
            <a:pPr marL="457200" indent="-457200">
              <a:lnSpc>
                <a:spcPct val="125000"/>
              </a:lnSpc>
              <a:spcBef>
                <a:spcPts val="0"/>
              </a:spcBef>
              <a:spcAft>
                <a:spcPts val="0"/>
              </a:spcAft>
              <a:buFont typeface="Arial" panose="020B0604020202020204" pitchFamily="34" charset="0"/>
              <a:buChar char="•"/>
            </a:pPr>
            <a:r>
              <a:rPr lang="zh-CN" altLang="en-US">
                <a:solidFill>
                  <a:schemeClr val="bg2"/>
                </a:solidFill>
              </a:rPr>
              <a:t>图的遍历：图的顶点数 </a:t>
            </a:r>
            <a:r>
              <a:rPr lang="zh-CN" altLang="en-US" b="1" i="1">
                <a:solidFill>
                  <a:schemeClr val="bg2"/>
                </a:solidFill>
              </a:rPr>
              <a:t>n</a:t>
            </a:r>
            <a:r>
              <a:rPr lang="zh-CN" altLang="en-US">
                <a:solidFill>
                  <a:schemeClr val="bg2"/>
                </a:solidFill>
              </a:rPr>
              <a:t>, 边数 </a:t>
            </a:r>
            <a:r>
              <a:rPr lang="zh-CN" altLang="en-US" b="1" i="1">
                <a:solidFill>
                  <a:schemeClr val="bg2"/>
                </a:solidFill>
              </a:rPr>
              <a:t>m</a:t>
            </a:r>
            <a:endParaRPr lang="zh-CN" altLang="en-US" b="1" i="1">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508760"/>
            <a:ext cx="8373110" cy="829945"/>
          </a:xfrm>
          <a:prstGeom prst="rect">
            <a:avLst/>
          </a:prstGeom>
          <a:solidFill>
            <a:schemeClr val="tx1"/>
          </a:solidFill>
        </p:spPr>
        <p:txBody>
          <a:bodyPr wrap="square" rtlCol="0" anchor="t">
            <a:spAutoFit/>
          </a:bodyPr>
          <a:lstStyle/>
          <a:p>
            <a:pPr lvl="1">
              <a:buFont typeface="Arial" panose="020B0604020202020204" pitchFamily="34" charset="0"/>
            </a:pPr>
            <a:r>
              <a:rPr lang="en-US" altLang="zh-CN">
                <a:solidFill>
                  <a:schemeClr val="bg2"/>
                </a:solidFill>
                <a:uFillTx/>
                <a:sym typeface="+mn-ea"/>
              </a:rPr>
              <a:t>(3) </a:t>
            </a:r>
            <a:r>
              <a:rPr lang="zh-CN" altLang="en-US">
                <a:solidFill>
                  <a:schemeClr val="bg2"/>
                </a:solidFill>
                <a:uFillTx/>
                <a:sym typeface="+mn-ea"/>
              </a:rPr>
              <a:t>基本运算：比较、 加法、乘法、置指针, 交换，赋值</a:t>
            </a:r>
            <a:r>
              <a:rPr lang="en-US" altLang="zh-CN">
                <a:solidFill>
                  <a:schemeClr val="bg2"/>
                </a:solidFill>
                <a:uFillTx/>
                <a:sym typeface="+mn-ea"/>
              </a:rPr>
              <a:t>…</a:t>
            </a:r>
            <a:r>
              <a:rPr lang="zh-CN" altLang="en-US">
                <a:solidFill>
                  <a:schemeClr val="bg2"/>
                </a:solidFill>
                <a:uFillTx/>
                <a:sym typeface="+mn-ea"/>
              </a:rPr>
              <a:t>例如：</a:t>
            </a:r>
            <a:endParaRPr lang="zh-CN" altLang="en-US">
              <a:solidFill>
                <a:schemeClr val="bg2"/>
              </a:solidFill>
              <a:uFillTx/>
              <a:sym typeface="+mn-ea"/>
            </a:endParaRPr>
          </a:p>
        </p:txBody>
      </p:sp>
      <p:sp>
        <p:nvSpPr>
          <p:cNvPr id="2" name="文本框 1"/>
          <p:cNvSpPr txBox="1"/>
          <p:nvPr/>
        </p:nvSpPr>
        <p:spPr>
          <a:xfrm>
            <a:off x="457200" y="5368925"/>
            <a:ext cx="8069580" cy="977265"/>
          </a:xfrm>
          <a:prstGeom prst="rect">
            <a:avLst/>
          </a:prstGeom>
          <a:solidFill>
            <a:schemeClr val="tx1"/>
          </a:solidFill>
        </p:spPr>
        <p:txBody>
          <a:bodyPr wrap="square" rtlCol="0" anchor="t">
            <a:spAutoFit/>
          </a:bodyPr>
          <a:lstStyle/>
          <a:p>
            <a:pPr lvl="1">
              <a:lnSpc>
                <a:spcPct val="120000"/>
              </a:lnSpc>
              <a:spcBef>
                <a:spcPts val="0"/>
              </a:spcBef>
              <a:spcAft>
                <a:spcPts val="0"/>
              </a:spcAft>
              <a:buFont typeface="Arial" panose="020B0604020202020204" pitchFamily="34" charset="0"/>
            </a:pPr>
            <a:r>
              <a:rPr lang="en-US" altLang="zh-CN" dirty="0">
                <a:solidFill>
                  <a:schemeClr val="bg2"/>
                </a:solidFill>
                <a:uFillTx/>
                <a:sym typeface="+mn-ea"/>
              </a:rPr>
              <a:t>(4)  </a:t>
            </a:r>
            <a:r>
              <a:rPr lang="en-US" altLang="zh-CN" dirty="0" err="1">
                <a:solidFill>
                  <a:schemeClr val="bg2"/>
                </a:solidFill>
                <a:uFillTx/>
                <a:sym typeface="+mn-ea"/>
              </a:rPr>
              <a:t>算法基本运算次数可表为输入规模的函数</a:t>
            </a:r>
            <a:r>
              <a:rPr lang="zh-CN" altLang="en-US" dirty="0">
                <a:solidFill>
                  <a:schemeClr val="bg2"/>
                </a:solidFill>
                <a:uFillTx/>
                <a:sym typeface="+mn-ea"/>
              </a:rPr>
              <a:t>。</a:t>
            </a:r>
            <a:endParaRPr lang="zh-CN" altLang="en-US" dirty="0">
              <a:solidFill>
                <a:schemeClr val="bg2"/>
              </a:solidFill>
              <a:uFillTx/>
              <a:sym typeface="+mn-ea"/>
            </a:endParaRPr>
          </a:p>
          <a:p>
            <a:pPr lvl="1">
              <a:lnSpc>
                <a:spcPct val="120000"/>
              </a:lnSpc>
              <a:spcBef>
                <a:spcPts val="0"/>
              </a:spcBef>
              <a:spcAft>
                <a:spcPts val="0"/>
              </a:spcAft>
              <a:buFont typeface="Arial" panose="020B0604020202020204" pitchFamily="34" charset="0"/>
            </a:pPr>
            <a:r>
              <a:rPr lang="en-US" altLang="zh-CN" dirty="0">
                <a:solidFill>
                  <a:schemeClr val="bg2"/>
                </a:solidFill>
                <a:uFillTx/>
                <a:sym typeface="+mn-ea"/>
              </a:rPr>
              <a:t>(5)  </a:t>
            </a:r>
            <a:r>
              <a:rPr lang="en-US" altLang="zh-CN" dirty="0" err="1">
                <a:solidFill>
                  <a:schemeClr val="bg2"/>
                </a:solidFill>
                <a:uFillTx/>
                <a:sym typeface="+mn-ea"/>
              </a:rPr>
              <a:t>给定问题和基本运算就决定了一个算法类</a:t>
            </a:r>
            <a:r>
              <a:rPr lang="zh-CN" altLang="en-US" dirty="0">
                <a:solidFill>
                  <a:schemeClr val="bg2"/>
                </a:solidFill>
                <a:uFillTx/>
                <a:sym typeface="+mn-ea"/>
              </a:rPr>
              <a:t>。</a:t>
            </a:r>
            <a:endParaRPr lang="zh-CN" altLang="en-US" dirty="0"/>
          </a:p>
        </p:txBody>
      </p:sp>
      <p:sp>
        <p:nvSpPr>
          <p:cNvPr id="4" name="文本框 3"/>
          <p:cNvSpPr txBox="1"/>
          <p:nvPr/>
        </p:nvSpPr>
        <p:spPr>
          <a:xfrm>
            <a:off x="960755" y="2266950"/>
            <a:ext cx="7910830" cy="3192780"/>
          </a:xfrm>
          <a:prstGeom prst="rect">
            <a:avLst/>
          </a:prstGeom>
          <a:noFill/>
        </p:spPr>
        <p:txBody>
          <a:bodyPr wrap="square" rtlCol="0" anchor="t">
            <a:spAutoFit/>
          </a:bodyPr>
          <a:lstStyle/>
          <a:p>
            <a:pPr marL="342900" indent="-342900">
              <a:lnSpc>
                <a:spcPct val="120000"/>
              </a:lnSpc>
              <a:spcBef>
                <a:spcPts val="0"/>
              </a:spcBef>
              <a:spcAft>
                <a:spcPts val="0"/>
              </a:spcAft>
              <a:buFont typeface="Arial" panose="020B0604020202020204" pitchFamily="34" charset="0"/>
              <a:buChar char="•"/>
            </a:pPr>
            <a:r>
              <a:rPr lang="zh-CN" altLang="en-US">
                <a:solidFill>
                  <a:schemeClr val="bg1"/>
                </a:solidFill>
              </a:rPr>
              <a:t>排序: 元素之间的</a:t>
            </a:r>
            <a:r>
              <a:rPr lang="zh-CN" altLang="en-US">
                <a:solidFill>
                  <a:srgbClr val="FF0000"/>
                </a:solidFill>
              </a:rPr>
              <a:t>比较</a:t>
            </a:r>
            <a:endParaRPr lang="zh-CN" altLang="en-US">
              <a:solidFill>
                <a:schemeClr val="bg1"/>
              </a:solidFill>
            </a:endParaRPr>
          </a:p>
          <a:p>
            <a:pPr marL="342900" indent="-342900">
              <a:lnSpc>
                <a:spcPct val="120000"/>
              </a:lnSpc>
              <a:spcBef>
                <a:spcPts val="0"/>
              </a:spcBef>
              <a:spcAft>
                <a:spcPts val="0"/>
              </a:spcAft>
              <a:buFont typeface="Arial" panose="020B0604020202020204" pitchFamily="34" charset="0"/>
              <a:buChar char="•"/>
            </a:pPr>
            <a:r>
              <a:rPr lang="zh-CN" altLang="en-US">
                <a:solidFill>
                  <a:schemeClr val="bg1"/>
                </a:solidFill>
              </a:rPr>
              <a:t>检索: 被检索元素 x与数组元素的</a:t>
            </a:r>
            <a:r>
              <a:rPr lang="zh-CN" altLang="en-US">
                <a:solidFill>
                  <a:srgbClr val="FF0000"/>
                </a:solidFill>
              </a:rPr>
              <a:t>比较</a:t>
            </a:r>
            <a:endParaRPr lang="zh-CN" altLang="en-US">
              <a:solidFill>
                <a:schemeClr val="bg1"/>
              </a:solidFill>
            </a:endParaRPr>
          </a:p>
          <a:p>
            <a:pPr marL="342900" indent="-342900">
              <a:lnSpc>
                <a:spcPct val="120000"/>
              </a:lnSpc>
              <a:spcBef>
                <a:spcPts val="0"/>
              </a:spcBef>
              <a:spcAft>
                <a:spcPts val="0"/>
              </a:spcAft>
              <a:buFont typeface="Arial" panose="020B0604020202020204" pitchFamily="34" charset="0"/>
              <a:buChar char="•"/>
            </a:pPr>
            <a:r>
              <a:rPr lang="zh-CN" altLang="en-US">
                <a:solidFill>
                  <a:schemeClr val="bg1"/>
                </a:solidFill>
              </a:rPr>
              <a:t>整数乘法: 每位数字相乘(位乘) 1 次 </a:t>
            </a:r>
            <a:r>
              <a:rPr lang="zh-CN" altLang="en-US" b="1" i="1">
                <a:solidFill>
                  <a:schemeClr val="bg1"/>
                </a:solidFill>
              </a:rPr>
              <a:t>m</a:t>
            </a:r>
            <a:r>
              <a:rPr lang="zh-CN" altLang="en-US">
                <a:solidFill>
                  <a:schemeClr val="bg1"/>
                </a:solidFill>
              </a:rPr>
              <a:t>位和</a:t>
            </a:r>
            <a:r>
              <a:rPr lang="zh-CN" altLang="en-US" b="1" i="1">
                <a:solidFill>
                  <a:schemeClr val="bg1"/>
                </a:solidFill>
              </a:rPr>
              <a:t>n</a:t>
            </a:r>
            <a:r>
              <a:rPr lang="zh-CN" altLang="en-US">
                <a:solidFill>
                  <a:schemeClr val="bg1"/>
                </a:solidFill>
              </a:rPr>
              <a:t>位整数相乘要做</a:t>
            </a:r>
            <a:r>
              <a:rPr lang="zh-CN" altLang="en-US" b="1" i="1">
                <a:solidFill>
                  <a:schemeClr val="bg1"/>
                </a:solidFill>
              </a:rPr>
              <a:t>mn</a:t>
            </a:r>
            <a:r>
              <a:rPr lang="zh-CN" altLang="en-US">
                <a:solidFill>
                  <a:schemeClr val="bg1"/>
                </a:solidFill>
              </a:rPr>
              <a:t>次</a:t>
            </a:r>
            <a:r>
              <a:rPr lang="zh-CN" altLang="en-US">
                <a:solidFill>
                  <a:srgbClr val="FF0000"/>
                </a:solidFill>
              </a:rPr>
              <a:t>位乘</a:t>
            </a:r>
            <a:endParaRPr lang="zh-CN" altLang="en-US">
              <a:solidFill>
                <a:schemeClr val="bg1"/>
              </a:solidFill>
            </a:endParaRPr>
          </a:p>
          <a:p>
            <a:pPr marL="342900" indent="-342900">
              <a:lnSpc>
                <a:spcPct val="120000"/>
              </a:lnSpc>
              <a:spcBef>
                <a:spcPts val="0"/>
              </a:spcBef>
              <a:spcAft>
                <a:spcPts val="0"/>
              </a:spcAft>
              <a:buFont typeface="Arial" panose="020B0604020202020204" pitchFamily="34" charset="0"/>
              <a:buChar char="•"/>
            </a:pPr>
            <a:r>
              <a:rPr lang="zh-CN" altLang="en-US">
                <a:solidFill>
                  <a:schemeClr val="bg1"/>
                </a:solidFill>
              </a:rPr>
              <a:t>矩阵相乘: 每对元素乘 1 次 </a:t>
            </a:r>
            <a:r>
              <a:rPr lang="zh-CN" altLang="en-US" b="1" i="1">
                <a:solidFill>
                  <a:schemeClr val="bg1"/>
                </a:solidFill>
              </a:rPr>
              <a:t>i</a:t>
            </a:r>
            <a:r>
              <a:rPr lang="zh-CN" altLang="en-US">
                <a:solidFill>
                  <a:schemeClr val="bg1"/>
                </a:solidFill>
              </a:rPr>
              <a:t>×</a:t>
            </a:r>
            <a:r>
              <a:rPr lang="zh-CN" altLang="en-US" b="1" i="1">
                <a:solidFill>
                  <a:schemeClr val="bg1"/>
                </a:solidFill>
              </a:rPr>
              <a:t>j</a:t>
            </a:r>
            <a:r>
              <a:rPr lang="zh-CN" altLang="en-US">
                <a:solidFill>
                  <a:schemeClr val="bg1"/>
                </a:solidFill>
              </a:rPr>
              <a:t>矩阵与</a:t>
            </a:r>
            <a:r>
              <a:rPr lang="zh-CN" altLang="en-US" b="1" i="1">
                <a:solidFill>
                  <a:schemeClr val="bg1"/>
                </a:solidFill>
              </a:rPr>
              <a:t> j</a:t>
            </a:r>
            <a:r>
              <a:rPr lang="zh-CN" altLang="en-US">
                <a:solidFill>
                  <a:schemeClr val="bg1"/>
                </a:solidFill>
              </a:rPr>
              <a:t>×</a:t>
            </a:r>
            <a:r>
              <a:rPr lang="zh-CN" altLang="en-US" b="1" i="1">
                <a:solidFill>
                  <a:schemeClr val="bg1"/>
                </a:solidFill>
              </a:rPr>
              <a:t>k</a:t>
            </a:r>
            <a:r>
              <a:rPr lang="zh-CN" altLang="en-US">
                <a:solidFill>
                  <a:schemeClr val="bg1"/>
                </a:solidFill>
              </a:rPr>
              <a:t> 矩阵相乘要做 </a:t>
            </a:r>
            <a:r>
              <a:rPr lang="zh-CN" altLang="en-US" b="1" i="1">
                <a:solidFill>
                  <a:schemeClr val="bg1"/>
                </a:solidFill>
              </a:rPr>
              <a:t>i jk </a:t>
            </a:r>
            <a:r>
              <a:rPr lang="zh-CN" altLang="en-US">
                <a:solidFill>
                  <a:schemeClr val="bg1"/>
                </a:solidFill>
              </a:rPr>
              <a:t>次</a:t>
            </a:r>
            <a:r>
              <a:rPr lang="zh-CN" altLang="en-US">
                <a:solidFill>
                  <a:srgbClr val="FF0000"/>
                </a:solidFill>
              </a:rPr>
              <a:t>乘法</a:t>
            </a:r>
            <a:endParaRPr lang="zh-CN" altLang="en-US">
              <a:solidFill>
                <a:schemeClr val="bg1"/>
              </a:solidFill>
            </a:endParaRPr>
          </a:p>
          <a:p>
            <a:pPr marL="342900" indent="-342900">
              <a:lnSpc>
                <a:spcPct val="120000"/>
              </a:lnSpc>
              <a:spcBef>
                <a:spcPts val="0"/>
              </a:spcBef>
              <a:spcAft>
                <a:spcPts val="0"/>
              </a:spcAft>
              <a:buFont typeface="Arial" panose="020B0604020202020204" pitchFamily="34" charset="0"/>
              <a:buChar char="•"/>
            </a:pPr>
            <a:r>
              <a:rPr lang="zh-CN" altLang="en-US">
                <a:solidFill>
                  <a:schemeClr val="bg1"/>
                </a:solidFill>
              </a:rPr>
              <a:t>图的遍历: </a:t>
            </a:r>
            <a:r>
              <a:rPr lang="zh-CN" altLang="en-US">
                <a:solidFill>
                  <a:srgbClr val="FF0000"/>
                </a:solidFill>
              </a:rPr>
              <a:t>置指针</a:t>
            </a:r>
            <a:endParaRPr lang="zh-CN" altLang="en-US">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animBg="1"/>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668145"/>
            <a:ext cx="8373110" cy="3322955"/>
          </a:xfrm>
          <a:prstGeom prst="rect">
            <a:avLst/>
          </a:prstGeom>
          <a:solidFill>
            <a:schemeClr val="tx1"/>
          </a:solidFill>
        </p:spPr>
        <p:txBody>
          <a:bodyPr wrap="square" rtlCol="0" anchor="t">
            <a:spAutoFit/>
          </a:bodyPr>
          <a:lstStyle/>
          <a:p>
            <a:pPr lvl="1">
              <a:lnSpc>
                <a:spcPct val="125000"/>
              </a:lnSpc>
              <a:spcBef>
                <a:spcPts val="0"/>
              </a:spcBef>
              <a:spcAft>
                <a:spcPts val="0"/>
              </a:spcAft>
              <a:buFont typeface="Arial" panose="020B0604020202020204" pitchFamily="34" charset="0"/>
            </a:pPr>
            <a:r>
              <a:rPr lang="en-US" altLang="zh-CN" dirty="0">
                <a:solidFill>
                  <a:schemeClr val="bg2"/>
                </a:solidFill>
                <a:uFillTx/>
                <a:sym typeface="+mn-ea"/>
              </a:rPr>
              <a:t>(6) </a:t>
            </a:r>
            <a:r>
              <a:rPr lang="zh-CN" altLang="en-US" dirty="0">
                <a:solidFill>
                  <a:schemeClr val="bg2"/>
                </a:solidFill>
                <a:uFillTx/>
                <a:sym typeface="+mn-ea"/>
              </a:rPr>
              <a:t>算法时间复杂度估算方法</a:t>
            </a:r>
            <a:endParaRPr lang="zh-CN" altLang="en-US" dirty="0">
              <a:solidFill>
                <a:schemeClr val="bg2"/>
              </a:solidFill>
              <a:uFillTx/>
              <a:sym typeface="+mn-ea"/>
            </a:endParaRPr>
          </a:p>
          <a:p>
            <a:pPr marL="1211580" lvl="2" algn="just">
              <a:lnSpc>
                <a:spcPct val="125000"/>
              </a:lnSpc>
              <a:spcBef>
                <a:spcPts val="0"/>
              </a:spcBef>
              <a:spcAft>
                <a:spcPts val="0"/>
              </a:spcAft>
              <a:buFont typeface="Arial" panose="020B0604020202020204" pitchFamily="34" charset="0"/>
              <a:buChar char="•"/>
            </a:pPr>
            <a:r>
              <a:rPr lang="zh-CN" altLang="en-US" dirty="0">
                <a:solidFill>
                  <a:schemeClr val="bg2"/>
                </a:solidFill>
                <a:uFillTx/>
                <a:sym typeface="+mn-ea"/>
              </a:rPr>
              <a:t>方法</a:t>
            </a:r>
            <a:r>
              <a:rPr lang="en-US" altLang="zh-CN" dirty="0">
                <a:solidFill>
                  <a:schemeClr val="bg2"/>
                </a:solidFill>
                <a:uFillTx/>
                <a:sym typeface="+mn-ea"/>
              </a:rPr>
              <a:t>1</a:t>
            </a:r>
            <a:r>
              <a:rPr lang="zh-CN" altLang="en-US" dirty="0">
                <a:solidFill>
                  <a:schemeClr val="bg2"/>
                </a:solidFill>
                <a:uFillTx/>
                <a:sym typeface="+mn-ea"/>
              </a:rPr>
              <a:t>：相同输入规模的</a:t>
            </a:r>
            <a:r>
              <a:rPr lang="zh-CN" altLang="en-US" b="1" dirty="0">
                <a:solidFill>
                  <a:srgbClr val="FF0000"/>
                </a:solidFill>
                <a:uFillTx/>
                <a:sym typeface="+mn-ea"/>
              </a:rPr>
              <a:t>不同实例</a:t>
            </a:r>
            <a:r>
              <a:rPr lang="zh-CN" altLang="en-US" dirty="0">
                <a:solidFill>
                  <a:schemeClr val="bg2"/>
                </a:solidFill>
                <a:uFillTx/>
                <a:sym typeface="+mn-ea"/>
              </a:rPr>
              <a:t>，算法的基本运算次数也不一样，可分析如下三种时间复杂度：</a:t>
            </a:r>
            <a:endParaRPr lang="zh-CN" altLang="en-US" dirty="0">
              <a:solidFill>
                <a:schemeClr val="bg2"/>
              </a:solidFill>
              <a:uFillTx/>
              <a:sym typeface="+mn-ea"/>
            </a:endParaRPr>
          </a:p>
          <a:p>
            <a:pPr marL="1791970" lvl="3">
              <a:lnSpc>
                <a:spcPct val="125000"/>
              </a:lnSpc>
              <a:spcBef>
                <a:spcPts val="0"/>
              </a:spcBef>
              <a:spcAft>
                <a:spcPts val="0"/>
              </a:spcAft>
              <a:buFont typeface="微软雅黑" panose="020B0503020204020204" charset="-122"/>
              <a:buChar char="*"/>
            </a:pPr>
            <a:r>
              <a:rPr lang="zh-CN" altLang="en-US" b="1" dirty="0">
                <a:solidFill>
                  <a:srgbClr val="FF0000"/>
                </a:solidFill>
                <a:uFillTx/>
                <a:sym typeface="+mn-ea"/>
              </a:rPr>
              <a:t>最好</a:t>
            </a:r>
            <a:r>
              <a:rPr lang="zh-CN" altLang="en-US" dirty="0">
                <a:solidFill>
                  <a:schemeClr val="bg2"/>
                </a:solidFill>
                <a:uFillTx/>
                <a:sym typeface="+mn-ea"/>
              </a:rPr>
              <a:t>时间复杂度</a:t>
            </a:r>
            <a:endParaRPr lang="zh-CN" altLang="en-US" dirty="0">
              <a:solidFill>
                <a:schemeClr val="bg2"/>
              </a:solidFill>
              <a:uFillTx/>
              <a:sym typeface="+mn-ea"/>
            </a:endParaRPr>
          </a:p>
          <a:p>
            <a:pPr marL="1791970" lvl="3">
              <a:lnSpc>
                <a:spcPct val="125000"/>
              </a:lnSpc>
              <a:spcBef>
                <a:spcPts val="0"/>
              </a:spcBef>
              <a:spcAft>
                <a:spcPts val="0"/>
              </a:spcAft>
              <a:buFont typeface="微软雅黑" panose="020B0503020204020204" charset="-122"/>
              <a:buChar char="*"/>
            </a:pPr>
            <a:r>
              <a:rPr lang="zh-CN" altLang="en-US" b="1" dirty="0">
                <a:solidFill>
                  <a:srgbClr val="FF0000"/>
                </a:solidFill>
                <a:uFillTx/>
                <a:sym typeface="+mn-ea"/>
              </a:rPr>
              <a:t>最坏</a:t>
            </a:r>
            <a:r>
              <a:rPr lang="zh-CN" altLang="en-US" dirty="0">
                <a:solidFill>
                  <a:schemeClr val="bg2"/>
                </a:solidFill>
                <a:uFillTx/>
                <a:sym typeface="+mn-ea"/>
              </a:rPr>
              <a:t>时间复杂度</a:t>
            </a:r>
            <a:endParaRPr lang="zh-CN" altLang="en-US" dirty="0">
              <a:solidFill>
                <a:schemeClr val="bg2"/>
              </a:solidFill>
              <a:uFillTx/>
              <a:sym typeface="+mn-ea"/>
            </a:endParaRPr>
          </a:p>
          <a:p>
            <a:pPr marL="1791970" lvl="3">
              <a:lnSpc>
                <a:spcPct val="125000"/>
              </a:lnSpc>
              <a:spcBef>
                <a:spcPts val="0"/>
              </a:spcBef>
              <a:spcAft>
                <a:spcPts val="0"/>
              </a:spcAft>
              <a:buFont typeface="微软雅黑" panose="020B0503020204020204" charset="-122"/>
              <a:buChar char="*"/>
            </a:pPr>
            <a:r>
              <a:rPr lang="zh-CN" altLang="en-US" b="1" dirty="0">
                <a:solidFill>
                  <a:srgbClr val="FF0000"/>
                </a:solidFill>
                <a:uFillTx/>
                <a:sym typeface="+mn-ea"/>
              </a:rPr>
              <a:t>平均</a:t>
            </a:r>
            <a:r>
              <a:rPr lang="zh-CN" altLang="en-US" dirty="0">
                <a:solidFill>
                  <a:schemeClr val="bg2"/>
                </a:solidFill>
                <a:uFillTx/>
                <a:sym typeface="+mn-ea"/>
              </a:rPr>
              <a:t>时间复杂度</a:t>
            </a:r>
            <a:endParaRPr lang="zh-CN" altLang="en-US" dirty="0">
              <a:solidFill>
                <a:schemeClr val="bg2"/>
              </a:solidFill>
              <a:uFillTx/>
              <a:sym typeface="+mn-ea"/>
            </a:endParaRPr>
          </a:p>
          <a:p>
            <a:pPr marL="1259205" lvl="2">
              <a:lnSpc>
                <a:spcPct val="125000"/>
              </a:lnSpc>
              <a:spcBef>
                <a:spcPts val="0"/>
              </a:spcBef>
              <a:spcAft>
                <a:spcPts val="0"/>
              </a:spcAft>
              <a:buFont typeface="Arial" panose="020B0604020202020204" pitchFamily="34" charset="0"/>
              <a:buChar char="•"/>
            </a:pPr>
            <a:r>
              <a:rPr lang="zh-CN" altLang="en-US" dirty="0">
                <a:solidFill>
                  <a:schemeClr val="bg2"/>
                </a:solidFill>
                <a:uFillTx/>
                <a:sym typeface="+mn-ea"/>
              </a:rPr>
              <a:t>方法</a:t>
            </a:r>
            <a:r>
              <a:rPr lang="en-US" altLang="zh-CN" dirty="0">
                <a:solidFill>
                  <a:schemeClr val="bg2"/>
                </a:solidFill>
                <a:uFillTx/>
                <a:sym typeface="+mn-ea"/>
              </a:rPr>
              <a:t>2</a:t>
            </a:r>
            <a:r>
              <a:rPr lang="zh-CN" altLang="en-US" dirty="0">
                <a:solidFill>
                  <a:schemeClr val="bg2"/>
                </a:solidFill>
                <a:uFillTx/>
                <a:sym typeface="+mn-ea"/>
              </a:rPr>
              <a:t>：渐进时间复杂度（</a:t>
            </a:r>
            <a:r>
              <a:rPr lang="en-US" altLang="zh-CN" dirty="0">
                <a:solidFill>
                  <a:schemeClr val="bg2"/>
                </a:solidFill>
                <a:uFillTx/>
                <a:sym typeface="+mn-ea"/>
              </a:rPr>
              <a:t>1.3</a:t>
            </a:r>
            <a:r>
              <a:rPr lang="zh-CN" altLang="en-US" dirty="0">
                <a:solidFill>
                  <a:schemeClr val="bg2"/>
                </a:solidFill>
                <a:uFillTx/>
                <a:sym typeface="+mn-ea"/>
              </a:rPr>
              <a:t>节）</a:t>
            </a:r>
            <a:endParaRPr lang="zh-CN" altLang="en-US" dirty="0">
              <a:solidFill>
                <a:schemeClr val="bg2"/>
              </a:solidFill>
              <a:uFillTx/>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ipe(left)">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47106" name="Rectangle 2"/>
          <p:cNvSpPr>
            <a:spLocks noChangeArrowheads="1"/>
          </p:cNvSpPr>
          <p:nvPr/>
        </p:nvSpPr>
        <p:spPr bwMode="auto">
          <a:xfrm>
            <a:off x="395288" y="1619250"/>
            <a:ext cx="828040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Arial" panose="020B0604020202020204" pitchFamily="34" charset="0"/>
              <a:buChar char="•"/>
            </a:pPr>
            <a:r>
              <a:rPr lang="zh-CN" altLang="en-US" dirty="0">
                <a:solidFill>
                  <a:schemeClr val="bg2"/>
                </a:solidFill>
                <a:latin typeface="宋体" panose="02010600030101010101" pitchFamily="2" charset="-122"/>
                <a:cs typeface="Consolas" panose="020B0609020204030204" pitchFamily="49" charset="0"/>
              </a:rPr>
              <a:t>设一个算法的输入规模为</a:t>
            </a:r>
            <a:r>
              <a:rPr lang="en-US" altLang="zh-CN" b="1" i="1" dirty="0">
                <a:solidFill>
                  <a:schemeClr val="bg2"/>
                </a:solidFill>
                <a:cs typeface="Times New Roman" panose="02020603050405020304" pitchFamily="18" charset="0"/>
              </a:rPr>
              <a:t>n</a:t>
            </a:r>
            <a:r>
              <a:rPr lang="zh-CN" altLang="en-US" dirty="0">
                <a:solidFill>
                  <a:schemeClr val="bg2"/>
                </a:solidFill>
                <a:latin typeface="宋体" panose="02010600030101010101" pitchFamily="2" charset="-122"/>
                <a:cs typeface="Consolas" panose="020B0609020204030204" pitchFamily="49" charset="0"/>
              </a:rPr>
              <a:t>，</a:t>
            </a:r>
            <a:r>
              <a:rPr lang="en-US" altLang="zh-CN" b="1" i="1" dirty="0">
                <a:solidFill>
                  <a:schemeClr val="bg2"/>
                </a:solidFill>
                <a:cs typeface="Times New Roman" panose="02020603050405020304" pitchFamily="18" charset="0"/>
              </a:rPr>
              <a:t>D</a:t>
            </a:r>
            <a:r>
              <a:rPr lang="en-US" altLang="zh-CN" b="1" i="1" baseline="-25000" dirty="0">
                <a:solidFill>
                  <a:schemeClr val="bg2"/>
                </a:solidFill>
                <a:cs typeface="Times New Roman" panose="02020603050405020304" pitchFamily="18" charset="0"/>
              </a:rPr>
              <a:t>n</a:t>
            </a:r>
            <a:r>
              <a:rPr lang="zh-CN" altLang="en-US" dirty="0">
                <a:solidFill>
                  <a:schemeClr val="bg2"/>
                </a:solidFill>
                <a:latin typeface="宋体" panose="02010600030101010101" pitchFamily="2" charset="-122"/>
                <a:cs typeface="Consolas" panose="020B0609020204030204" pitchFamily="49" charset="0"/>
              </a:rPr>
              <a:t>是所有输入的集合，任一输入</a:t>
            </a:r>
            <a:r>
              <a:rPr lang="en-US" altLang="zh-CN" b="1" i="1" dirty="0">
                <a:solidFill>
                  <a:schemeClr val="bg2"/>
                </a:solidFill>
                <a:cs typeface="Times New Roman" panose="02020603050405020304" pitchFamily="18" charset="0"/>
              </a:rPr>
              <a:t>I</a:t>
            </a:r>
            <a:r>
              <a:rPr lang="en-US" altLang="zh-CN" b="1" dirty="0">
                <a:solidFill>
                  <a:schemeClr val="bg2"/>
                </a:solidFill>
                <a:cs typeface="Times New Roman" panose="02020603050405020304" pitchFamily="18" charset="0"/>
              </a:rPr>
              <a:t>∈</a:t>
            </a:r>
            <a:r>
              <a:rPr lang="en-US" altLang="zh-CN" b="1" i="1" dirty="0">
                <a:solidFill>
                  <a:schemeClr val="bg2"/>
                </a:solidFill>
                <a:cs typeface="Times New Roman" panose="02020603050405020304" pitchFamily="18" charset="0"/>
              </a:rPr>
              <a:t>D</a:t>
            </a:r>
            <a:r>
              <a:rPr lang="en-US" altLang="zh-CN" b="1" i="1" baseline="-25000" dirty="0">
                <a:solidFill>
                  <a:schemeClr val="bg2"/>
                </a:solidFill>
                <a:cs typeface="Times New Roman" panose="02020603050405020304" pitchFamily="18" charset="0"/>
              </a:rPr>
              <a:t>n</a:t>
            </a:r>
            <a:r>
              <a:rPr lang="zh-CN" altLang="en-US" dirty="0">
                <a:solidFill>
                  <a:schemeClr val="bg2"/>
                </a:solidFill>
                <a:latin typeface="宋体" panose="02010600030101010101" pitchFamily="2" charset="-122"/>
                <a:cs typeface="Consolas" panose="020B0609020204030204" pitchFamily="49" charset="0"/>
              </a:rPr>
              <a:t>，</a:t>
            </a:r>
            <a:r>
              <a:rPr lang="en-US" altLang="zh-CN" b="1" i="1" dirty="0">
                <a:solidFill>
                  <a:schemeClr val="bg2"/>
                </a:solidFill>
                <a:cs typeface="Times New Roman" panose="02020603050405020304" pitchFamily="18" charset="0"/>
              </a:rPr>
              <a:t>P(I)</a:t>
            </a:r>
            <a:r>
              <a:rPr lang="zh-CN" altLang="en-US" dirty="0">
                <a:solidFill>
                  <a:schemeClr val="bg2"/>
                </a:solidFill>
                <a:latin typeface="宋体" panose="02010600030101010101" pitchFamily="2" charset="-122"/>
                <a:cs typeface="Consolas" panose="020B0609020204030204" pitchFamily="49" charset="0"/>
              </a:rPr>
              <a:t>是</a:t>
            </a:r>
            <a:r>
              <a:rPr lang="en-US" altLang="zh-CN" b="1" i="1" dirty="0">
                <a:solidFill>
                  <a:schemeClr val="bg2"/>
                </a:solidFill>
                <a:cs typeface="Times New Roman" panose="02020603050405020304" pitchFamily="18" charset="0"/>
              </a:rPr>
              <a:t>I</a:t>
            </a:r>
            <a:r>
              <a:rPr lang="zh-CN" altLang="en-US" dirty="0">
                <a:solidFill>
                  <a:schemeClr val="bg2"/>
                </a:solidFill>
                <a:latin typeface="宋体" panose="02010600030101010101" pitchFamily="2" charset="-122"/>
                <a:cs typeface="Consolas" panose="020B0609020204030204" pitchFamily="49" charset="0"/>
              </a:rPr>
              <a:t>出现的概率，有       </a:t>
            </a:r>
            <a:r>
              <a:rPr lang="en-US" altLang="zh-CN" dirty="0">
                <a:solidFill>
                  <a:schemeClr val="bg2"/>
                </a:solidFill>
                <a:latin typeface="宋体" panose="02010600030101010101" pitchFamily="2" charset="-122"/>
                <a:cs typeface="Consolas" panose="020B0609020204030204" pitchFamily="49" charset="0"/>
              </a:rPr>
              <a:t>=1</a:t>
            </a:r>
            <a:r>
              <a:rPr lang="zh-CN" altLang="en-US" dirty="0">
                <a:solidFill>
                  <a:schemeClr val="bg2"/>
                </a:solidFill>
                <a:latin typeface="宋体" panose="02010600030101010101" pitchFamily="2" charset="-122"/>
                <a:cs typeface="Consolas" panose="020B0609020204030204" pitchFamily="49" charset="0"/>
              </a:rPr>
              <a:t>，</a:t>
            </a:r>
            <a:r>
              <a:rPr lang="en-US" altLang="zh-CN" b="1" i="1" dirty="0">
                <a:solidFill>
                  <a:schemeClr val="bg2"/>
                </a:solidFill>
                <a:cs typeface="Times New Roman" panose="02020603050405020304" pitchFamily="18" charset="0"/>
              </a:rPr>
              <a:t>T(I)</a:t>
            </a:r>
            <a:r>
              <a:rPr lang="zh-CN" altLang="en-US" dirty="0">
                <a:solidFill>
                  <a:schemeClr val="bg2"/>
                </a:solidFill>
                <a:latin typeface="宋体" panose="02010600030101010101" pitchFamily="2" charset="-122"/>
                <a:cs typeface="Consolas" panose="020B0609020204030204" pitchFamily="49" charset="0"/>
              </a:rPr>
              <a:t>是算法在输入</a:t>
            </a:r>
            <a:r>
              <a:rPr lang="en-US" altLang="zh-CN" b="1" i="1" dirty="0">
                <a:solidFill>
                  <a:schemeClr val="bg2"/>
                </a:solidFill>
                <a:cs typeface="Times New Roman" panose="02020603050405020304" pitchFamily="18" charset="0"/>
              </a:rPr>
              <a:t>I</a:t>
            </a:r>
            <a:r>
              <a:rPr lang="zh-CN" altLang="en-US" dirty="0">
                <a:solidFill>
                  <a:schemeClr val="bg2"/>
                </a:solidFill>
                <a:latin typeface="宋体" panose="02010600030101010101" pitchFamily="2" charset="-122"/>
                <a:cs typeface="Consolas" panose="020B0609020204030204" pitchFamily="49" charset="0"/>
              </a:rPr>
              <a:t>下所执行的基本语句次数，则：</a:t>
            </a:r>
            <a:endParaRPr lang="zh-CN" altLang="en-US" dirty="0">
              <a:solidFill>
                <a:schemeClr val="bg2"/>
              </a:solidFill>
              <a:latin typeface="宋体" panose="02010600030101010101" pitchFamily="2" charset="-122"/>
              <a:ea typeface="Consolas" panose="020B0609020204030204" pitchFamily="49" charset="0"/>
            </a:endParaRPr>
          </a:p>
        </p:txBody>
      </p:sp>
      <p:graphicFrame>
        <p:nvGraphicFramePr>
          <p:cNvPr id="38916" name="对象 1"/>
          <p:cNvGraphicFramePr>
            <a:graphicFrameLocks noChangeAspect="1"/>
          </p:cNvGraphicFramePr>
          <p:nvPr/>
        </p:nvGraphicFramePr>
        <p:xfrm>
          <a:off x="5552758" y="2306955"/>
          <a:ext cx="935037" cy="488950"/>
        </p:xfrm>
        <a:graphic>
          <a:graphicData uri="http://schemas.openxmlformats.org/presentationml/2006/ole">
            <mc:AlternateContent xmlns:mc="http://schemas.openxmlformats.org/markup-compatibility/2006">
              <mc:Choice xmlns:v="urn:schemas-microsoft-com:vml" Requires="v">
                <p:oleObj spid="_x0000_s4259" name="" r:id="rId1" imgW="419100" imgH="215900" progId="Equation.3">
                  <p:embed/>
                </p:oleObj>
              </mc:Choice>
              <mc:Fallback>
                <p:oleObj name="" r:id="rId1" imgW="419100" imgH="215900" progId="Equation.3">
                  <p:embed/>
                  <p:pic>
                    <p:nvPicPr>
                      <p:cNvPr id="0" name="20 3092"/>
                      <p:cNvPicPr/>
                      <p:nvPr/>
                    </p:nvPicPr>
                    <p:blipFill>
                      <a:blip r:embed="rId2"/>
                      <a:stretch>
                        <a:fillRect/>
                      </a:stretch>
                    </p:blipFill>
                    <p:spPr>
                      <a:xfrm>
                        <a:off x="5552758" y="2306955"/>
                        <a:ext cx="935037" cy="488950"/>
                      </a:xfrm>
                      <a:prstGeom prst="rect">
                        <a:avLst/>
                      </a:prstGeom>
                      <a:noFill/>
                      <a:ln w="38100">
                        <a:noFill/>
                        <a:miter/>
                      </a:ln>
                    </p:spPr>
                  </p:pic>
                </p:oleObj>
              </mc:Fallback>
            </mc:AlternateContent>
          </a:graphicData>
        </a:graphic>
      </p:graphicFrame>
      <p:sp>
        <p:nvSpPr>
          <p:cNvPr id="39939" name="Text Box 2"/>
          <p:cNvSpPr txBox="1"/>
          <p:nvPr/>
        </p:nvSpPr>
        <p:spPr>
          <a:xfrm>
            <a:off x="503555" y="3372168"/>
            <a:ext cx="8135938" cy="2306955"/>
          </a:xfrm>
          <a:prstGeom prst="rect">
            <a:avLst/>
          </a:prstGeom>
          <a:noFill/>
          <a:ln w="9525">
            <a:noFill/>
          </a:ln>
        </p:spPr>
        <p:txBody>
          <a:bodyPr>
            <a:spAutoFit/>
          </a:bodyPr>
          <a:lstStyle/>
          <a:p>
            <a:pPr>
              <a:lnSpc>
                <a:spcPct val="150000"/>
              </a:lnSpc>
              <a:spcBef>
                <a:spcPts val="0"/>
              </a:spcBef>
              <a:spcAft>
                <a:spcPts val="0"/>
              </a:spcAft>
              <a:buFont typeface="Arial" panose="020B0604020202020204" pitchFamily="34" charset="0"/>
            </a:pPr>
            <a:r>
              <a:rPr lang="en-US" altLang="zh-CN" dirty="0">
                <a:solidFill>
                  <a:schemeClr val="bg2"/>
                </a:solidFill>
                <a:latin typeface="宋体" panose="02010600030101010101" pitchFamily="2" charset="-122"/>
                <a:cs typeface="宋体" panose="02010600030101010101" pitchFamily="2" charset="-122"/>
              </a:rPr>
              <a:t>(1) </a:t>
            </a:r>
            <a:r>
              <a:rPr lang="zh-CN" altLang="en-US" dirty="0">
                <a:solidFill>
                  <a:schemeClr val="bg2"/>
                </a:solidFill>
                <a:latin typeface="宋体" panose="02010600030101010101" pitchFamily="2" charset="-122"/>
                <a:cs typeface="宋体" panose="02010600030101010101" pitchFamily="2" charset="-122"/>
              </a:rPr>
              <a:t>算法的</a:t>
            </a:r>
            <a:r>
              <a:rPr lang="zh-CN" altLang="en-US" dirty="0">
                <a:solidFill>
                  <a:srgbClr val="FF0000"/>
                </a:solidFill>
                <a:latin typeface="宋体" panose="02010600030101010101" pitchFamily="2" charset="-122"/>
                <a:cs typeface="宋体" panose="02010600030101010101" pitchFamily="2" charset="-122"/>
              </a:rPr>
              <a:t>最好情况</a:t>
            </a:r>
            <a:r>
              <a:rPr lang="zh-CN" altLang="en-US" dirty="0">
                <a:solidFill>
                  <a:schemeClr val="bg2"/>
                </a:solidFill>
                <a:latin typeface="宋体" panose="02010600030101010101" pitchFamily="2" charset="-122"/>
                <a:cs typeface="宋体" panose="02010600030101010101" pitchFamily="2" charset="-122"/>
              </a:rPr>
              <a:t>为： </a:t>
            </a:r>
            <a:r>
              <a:rPr lang="en-US" altLang="zh-CN" b="1" i="1" dirty="0">
                <a:solidFill>
                  <a:schemeClr val="bg2"/>
                </a:solidFill>
                <a:cs typeface="Times New Roman" panose="02020603050405020304" pitchFamily="18" charset="0"/>
              </a:rPr>
              <a:t>G</a:t>
            </a:r>
            <a:r>
              <a:rPr lang="en-US" altLang="zh-CN" b="1" dirty="0">
                <a:solidFill>
                  <a:schemeClr val="bg2"/>
                </a:solidFill>
                <a:cs typeface="Times New Roman" panose="02020603050405020304" pitchFamily="18" charset="0"/>
              </a:rPr>
              <a:t>(</a:t>
            </a:r>
            <a:r>
              <a:rPr lang="en-US" altLang="zh-CN" b="1" i="1" dirty="0">
                <a:solidFill>
                  <a:schemeClr val="bg2"/>
                </a:solidFill>
                <a:cs typeface="Times New Roman" panose="02020603050405020304" pitchFamily="18" charset="0"/>
              </a:rPr>
              <a:t>n</a:t>
            </a:r>
            <a:r>
              <a:rPr lang="en-US" altLang="zh-CN" b="1" dirty="0">
                <a:solidFill>
                  <a:schemeClr val="bg2"/>
                </a:solidFill>
                <a:cs typeface="Times New Roman" panose="02020603050405020304" pitchFamily="18" charset="0"/>
              </a:rPr>
              <a:t>)</a:t>
            </a:r>
            <a:r>
              <a:rPr lang="en-US" altLang="zh-CN" dirty="0">
                <a:solidFill>
                  <a:schemeClr val="bg2"/>
                </a:solidFill>
                <a:cs typeface="Times New Roman" panose="02020603050405020304" pitchFamily="18" charset="0"/>
              </a:rPr>
              <a:t>=           </a:t>
            </a:r>
            <a:r>
              <a:rPr lang="zh-CN" altLang="en-US" dirty="0">
                <a:solidFill>
                  <a:schemeClr val="bg2"/>
                </a:solidFill>
                <a:latin typeface="宋体" panose="02010600030101010101" pitchFamily="2" charset="-122"/>
                <a:cs typeface="宋体" panose="02010600030101010101" pitchFamily="2" charset="-122"/>
              </a:rPr>
              <a:t>　　　，是指算法在所有输入</a:t>
            </a:r>
            <a:r>
              <a:rPr lang="en-US" altLang="zh-CN" b="1" i="1" dirty="0">
                <a:solidFill>
                  <a:schemeClr val="bg2"/>
                </a:solidFill>
                <a:cs typeface="Times New Roman" panose="02020603050405020304" pitchFamily="18" charset="0"/>
              </a:rPr>
              <a:t>I</a:t>
            </a:r>
            <a:r>
              <a:rPr lang="zh-CN" altLang="en-US" dirty="0">
                <a:solidFill>
                  <a:schemeClr val="bg2"/>
                </a:solidFill>
                <a:latin typeface="宋体" panose="02010600030101010101" pitchFamily="2" charset="-122"/>
                <a:cs typeface="宋体" panose="02010600030101010101" pitchFamily="2" charset="-122"/>
              </a:rPr>
              <a:t>下所执行基本语句的最少次数。</a:t>
            </a:r>
            <a:endParaRPr lang="zh-CN" altLang="en-US" dirty="0">
              <a:solidFill>
                <a:schemeClr val="bg2"/>
              </a:solidFill>
              <a:latin typeface="宋体" panose="02010600030101010101" pitchFamily="2" charset="-122"/>
              <a:cs typeface="宋体" panose="02010600030101010101" pitchFamily="2" charset="-122"/>
            </a:endParaRPr>
          </a:p>
          <a:p>
            <a:pPr>
              <a:lnSpc>
                <a:spcPct val="150000"/>
              </a:lnSpc>
              <a:spcBef>
                <a:spcPts val="0"/>
              </a:spcBef>
              <a:spcAft>
                <a:spcPts val="0"/>
              </a:spcAft>
              <a:buFont typeface="Arial" panose="020B0604020202020204" pitchFamily="34" charset="0"/>
            </a:pPr>
            <a:r>
              <a:rPr lang="en-US" altLang="zh-CN" dirty="0">
                <a:solidFill>
                  <a:schemeClr val="bg2"/>
                </a:solidFill>
                <a:latin typeface="宋体" panose="02010600030101010101" pitchFamily="2" charset="-122"/>
                <a:cs typeface="宋体" panose="02010600030101010101" pitchFamily="2" charset="-122"/>
              </a:rPr>
              <a:t>(2</a:t>
            </a:r>
            <a:r>
              <a:rPr lang="zh-CN" altLang="en-US" dirty="0">
                <a:solidFill>
                  <a:schemeClr val="bg2"/>
                </a:solidFill>
                <a:latin typeface="宋体" panose="02010600030101010101" pitchFamily="2" charset="-122"/>
                <a:cs typeface="宋体" panose="02010600030101010101" pitchFamily="2" charset="-122"/>
              </a:rPr>
              <a:t>）算法的</a:t>
            </a:r>
            <a:r>
              <a:rPr lang="zh-CN" altLang="en-US" dirty="0">
                <a:solidFill>
                  <a:srgbClr val="FF0000"/>
                </a:solidFill>
                <a:latin typeface="宋体" panose="02010600030101010101" pitchFamily="2" charset="-122"/>
                <a:cs typeface="宋体" panose="02010600030101010101" pitchFamily="2" charset="-122"/>
              </a:rPr>
              <a:t>最坏情况</a:t>
            </a:r>
            <a:r>
              <a:rPr lang="zh-CN" altLang="en-US" dirty="0">
                <a:solidFill>
                  <a:schemeClr val="bg2"/>
                </a:solidFill>
                <a:latin typeface="宋体" panose="02010600030101010101" pitchFamily="2" charset="-122"/>
                <a:cs typeface="宋体" panose="02010600030101010101" pitchFamily="2" charset="-122"/>
              </a:rPr>
              <a:t>为：</a:t>
            </a:r>
            <a:r>
              <a:rPr lang="en-US" altLang="zh-CN" b="1" i="1" dirty="0">
                <a:solidFill>
                  <a:schemeClr val="bg2"/>
                </a:solidFill>
                <a:cs typeface="Times New Roman" panose="02020603050405020304" pitchFamily="18" charset="0"/>
              </a:rPr>
              <a:t>W(n)</a:t>
            </a:r>
            <a:r>
              <a:rPr lang="en-US" altLang="zh-CN" dirty="0">
                <a:solidFill>
                  <a:schemeClr val="bg2"/>
                </a:solidFill>
                <a:latin typeface="宋体" panose="02010600030101010101" pitchFamily="2" charset="-122"/>
                <a:cs typeface="宋体" panose="02010600030101010101" pitchFamily="2" charset="-122"/>
              </a:rPr>
              <a:t>=</a:t>
            </a:r>
            <a:r>
              <a:rPr lang="zh-CN" altLang="en-US" dirty="0">
                <a:solidFill>
                  <a:schemeClr val="bg2"/>
                </a:solidFill>
                <a:latin typeface="宋体" panose="02010600030101010101" pitchFamily="2" charset="-122"/>
                <a:cs typeface="宋体" panose="02010600030101010101" pitchFamily="2" charset="-122"/>
              </a:rPr>
              <a:t>　　　　　　，是指算法在所有输入</a:t>
            </a:r>
            <a:r>
              <a:rPr lang="en-US" altLang="zh-CN" b="1" i="1" dirty="0">
                <a:solidFill>
                  <a:schemeClr val="bg2"/>
                </a:solidFill>
                <a:cs typeface="Times New Roman" panose="02020603050405020304" pitchFamily="18" charset="0"/>
                <a:sym typeface="+mn-ea"/>
              </a:rPr>
              <a:t>I</a:t>
            </a:r>
            <a:r>
              <a:rPr lang="zh-CN" altLang="en-US" dirty="0">
                <a:solidFill>
                  <a:schemeClr val="bg2"/>
                </a:solidFill>
                <a:latin typeface="宋体" panose="02010600030101010101" pitchFamily="2" charset="-122"/>
                <a:cs typeface="宋体" panose="02010600030101010101" pitchFamily="2" charset="-122"/>
              </a:rPr>
              <a:t>下所执行基本语句的最大次数。</a:t>
            </a:r>
            <a:endParaRPr lang="zh-CN" altLang="en-US" dirty="0">
              <a:solidFill>
                <a:schemeClr val="bg2"/>
              </a:solidFill>
              <a:latin typeface="宋体" panose="02010600030101010101" pitchFamily="2" charset="-122"/>
              <a:cs typeface="宋体" panose="02010600030101010101" pitchFamily="2" charset="-122"/>
            </a:endParaRPr>
          </a:p>
        </p:txBody>
      </p:sp>
      <p:graphicFrame>
        <p:nvGraphicFramePr>
          <p:cNvPr id="39941" name="Object 3"/>
          <p:cNvGraphicFramePr>
            <a:graphicFrameLocks noChangeAspect="1"/>
          </p:cNvGraphicFramePr>
          <p:nvPr/>
        </p:nvGraphicFramePr>
        <p:xfrm>
          <a:off x="4792345" y="3444240"/>
          <a:ext cx="1791335" cy="631190"/>
        </p:xfrm>
        <a:graphic>
          <a:graphicData uri="http://schemas.openxmlformats.org/presentationml/2006/ole">
            <mc:AlternateContent xmlns:mc="http://schemas.openxmlformats.org/markup-compatibility/2006">
              <mc:Choice xmlns:v="urn:schemas-microsoft-com:vml" Requires="v">
                <p:oleObj spid="_x0000_s4260" name="" r:id="rId3" imgW="762000" imgH="266700" progId="Equation.3">
                  <p:embed/>
                </p:oleObj>
              </mc:Choice>
              <mc:Fallback>
                <p:oleObj name="" r:id="rId3" imgW="762000" imgH="266700" progId="Equation.3">
                  <p:embed/>
                  <p:pic>
                    <p:nvPicPr>
                      <p:cNvPr id="0" name="20 3093"/>
                      <p:cNvPicPr/>
                      <p:nvPr/>
                    </p:nvPicPr>
                    <p:blipFill>
                      <a:blip r:embed="rId4"/>
                      <a:stretch>
                        <a:fillRect/>
                      </a:stretch>
                    </p:blipFill>
                    <p:spPr>
                      <a:xfrm>
                        <a:off x="4792345" y="3444240"/>
                        <a:ext cx="1791335" cy="631190"/>
                      </a:xfrm>
                      <a:prstGeom prst="rect">
                        <a:avLst/>
                      </a:prstGeom>
                      <a:noFill/>
                      <a:ln w="38100">
                        <a:noFill/>
                        <a:miter/>
                      </a:ln>
                    </p:spPr>
                  </p:pic>
                </p:oleObj>
              </mc:Fallback>
            </mc:AlternateContent>
          </a:graphicData>
        </a:graphic>
      </p:graphicFrame>
      <p:graphicFrame>
        <p:nvGraphicFramePr>
          <p:cNvPr id="39943" name="Object 5"/>
          <p:cNvGraphicFramePr>
            <a:graphicFrameLocks noChangeAspect="1"/>
          </p:cNvGraphicFramePr>
          <p:nvPr/>
        </p:nvGraphicFramePr>
        <p:xfrm>
          <a:off x="4831715" y="4489450"/>
          <a:ext cx="1751965" cy="656590"/>
        </p:xfrm>
        <a:graphic>
          <a:graphicData uri="http://schemas.openxmlformats.org/presentationml/2006/ole">
            <mc:AlternateContent xmlns:mc="http://schemas.openxmlformats.org/markup-compatibility/2006">
              <mc:Choice xmlns:v="urn:schemas-microsoft-com:vml" Requires="v">
                <p:oleObj spid="_x0000_s4261" name="" r:id="rId5" imgW="685800" imgH="254000" progId="Equation.3">
                  <p:embed/>
                </p:oleObj>
              </mc:Choice>
              <mc:Fallback>
                <p:oleObj name="" r:id="rId5" imgW="685800" imgH="254000" progId="Equation.3">
                  <p:embed/>
                  <p:pic>
                    <p:nvPicPr>
                      <p:cNvPr id="0" name="20 3094"/>
                      <p:cNvPicPr/>
                      <p:nvPr/>
                    </p:nvPicPr>
                    <p:blipFill>
                      <a:blip r:embed="rId6"/>
                      <a:stretch>
                        <a:fillRect/>
                      </a:stretch>
                    </p:blipFill>
                    <p:spPr>
                      <a:xfrm>
                        <a:off x="4831715" y="4489450"/>
                        <a:ext cx="1751965" cy="656590"/>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par>
                                <p:cTn id="8" presetID="22" presetClass="entr" presetSubtype="8" fill="hold" nodeType="withEffect">
                                  <p:stCondLst>
                                    <p:cond delay="0"/>
                                  </p:stCondLst>
                                  <p:childTnLst>
                                    <p:set>
                                      <p:cBhvr>
                                        <p:cTn id="9" dur="1" fill="hold">
                                          <p:stCondLst>
                                            <p:cond delay="0"/>
                                          </p:stCondLst>
                                        </p:cTn>
                                        <p:tgtEl>
                                          <p:spTgt spid="38916"/>
                                        </p:tgtEl>
                                        <p:attrNameLst>
                                          <p:attrName>style.visibility</p:attrName>
                                        </p:attrNameLst>
                                      </p:cBhvr>
                                      <p:to>
                                        <p:strVal val="visible"/>
                                      </p:to>
                                    </p:set>
                                    <p:animEffect transition="in" filter="wipe(left)">
                                      <p:cBhvr>
                                        <p:cTn id="10" dur="500"/>
                                        <p:tgtEl>
                                          <p:spTgt spid="389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9939">
                                            <p:txEl>
                                              <p:pRg st="0" end="0"/>
                                            </p:txEl>
                                          </p:spTgt>
                                        </p:tgtEl>
                                        <p:attrNameLst>
                                          <p:attrName>style.visibility</p:attrName>
                                        </p:attrNameLst>
                                      </p:cBhvr>
                                      <p:to>
                                        <p:strVal val="visible"/>
                                      </p:to>
                                    </p:set>
                                    <p:animEffect transition="in" filter="wipe(left)">
                                      <p:cBhvr>
                                        <p:cTn id="15" dur="500"/>
                                        <p:tgtEl>
                                          <p:spTgt spid="39939">
                                            <p:txEl>
                                              <p:pRg st="0" end="0"/>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9941"/>
                                        </p:tgtEl>
                                        <p:attrNameLst>
                                          <p:attrName>style.visibility</p:attrName>
                                        </p:attrNameLst>
                                      </p:cBhvr>
                                      <p:to>
                                        <p:strVal val="visible"/>
                                      </p:to>
                                    </p:set>
                                    <p:animEffect transition="in" filter="wipe(left)">
                                      <p:cBhvr>
                                        <p:cTn id="18" dur="500"/>
                                        <p:tgtEl>
                                          <p:spTgt spid="3994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9939">
                                            <p:txEl>
                                              <p:pRg st="1" end="1"/>
                                            </p:txEl>
                                          </p:spTgt>
                                        </p:tgtEl>
                                        <p:attrNameLst>
                                          <p:attrName>style.visibility</p:attrName>
                                        </p:attrNameLst>
                                      </p:cBhvr>
                                      <p:to>
                                        <p:strVal val="visible"/>
                                      </p:to>
                                    </p:set>
                                    <p:animEffect transition="in" filter="wipe(left)">
                                      <p:cBhvr>
                                        <p:cTn id="23" dur="500"/>
                                        <p:tgtEl>
                                          <p:spTgt spid="39939">
                                            <p:txEl>
                                              <p:pRg st="1" end="1"/>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39943"/>
                                        </p:tgtEl>
                                        <p:attrNameLst>
                                          <p:attrName>style.visibility</p:attrName>
                                        </p:attrNameLst>
                                      </p:cBhvr>
                                      <p:to>
                                        <p:strVal val="visible"/>
                                      </p:to>
                                    </p:set>
                                    <p:animEffect transition="in" filter="wipe(left)">
                                      <p:cBhvr>
                                        <p:cTn id="26"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06"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47106" name="Rectangle 2"/>
          <p:cNvSpPr>
            <a:spLocks noChangeArrowheads="1"/>
          </p:cNvSpPr>
          <p:nvPr/>
        </p:nvSpPr>
        <p:spPr bwMode="auto">
          <a:xfrm>
            <a:off x="303530" y="1619250"/>
            <a:ext cx="8382635"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buFont typeface="Arial" panose="020B0604020202020204" pitchFamily="34" charset="0"/>
            </a:pPr>
            <a:r>
              <a:rPr lang="zh-CN" altLang="en-US" dirty="0">
                <a:solidFill>
                  <a:schemeClr val="bg2"/>
                </a:solidFill>
                <a:latin typeface="宋体" panose="02010600030101010101" pitchFamily="2" charset="-122"/>
                <a:cs typeface="Consolas" panose="020B0609020204030204" pitchFamily="49" charset="0"/>
              </a:rPr>
              <a:t>（</a:t>
            </a:r>
            <a:r>
              <a:rPr lang="en-US" altLang="zh-CN" dirty="0">
                <a:solidFill>
                  <a:schemeClr val="bg2"/>
                </a:solidFill>
                <a:latin typeface="宋体" panose="02010600030101010101" pitchFamily="2" charset="-122"/>
                <a:cs typeface="Consolas" panose="020B0609020204030204" pitchFamily="49" charset="0"/>
              </a:rPr>
              <a:t>3) </a:t>
            </a:r>
            <a:r>
              <a:rPr lang="zh-CN" altLang="en-US" dirty="0">
                <a:solidFill>
                  <a:schemeClr val="bg2"/>
                </a:solidFill>
                <a:latin typeface="宋体" panose="02010600030101010101" pitchFamily="2" charset="-122"/>
                <a:cs typeface="Consolas" panose="020B0609020204030204" pitchFamily="49" charset="0"/>
              </a:rPr>
              <a:t>该算法的平均执行时间为</a:t>
            </a:r>
            <a:endParaRPr lang="zh-CN" altLang="en-US" dirty="0">
              <a:solidFill>
                <a:schemeClr val="bg2"/>
              </a:solidFill>
              <a:latin typeface="宋体" panose="02010600030101010101" pitchFamily="2" charset="-122"/>
              <a:cs typeface="Consolas" panose="020B0609020204030204" pitchFamily="49" charset="0"/>
            </a:endParaRPr>
          </a:p>
          <a:p>
            <a:pPr>
              <a:lnSpc>
                <a:spcPct val="150000"/>
              </a:lnSpc>
              <a:buFont typeface="Arial" panose="020B0604020202020204" pitchFamily="34" charset="0"/>
            </a:pPr>
            <a:r>
              <a:rPr lang="zh-CN" altLang="en-US" dirty="0">
                <a:solidFill>
                  <a:schemeClr val="bg2"/>
                </a:solidFill>
                <a:latin typeface="宋体" panose="02010600030101010101" pitchFamily="2" charset="-122"/>
                <a:cs typeface="Consolas" panose="020B0609020204030204" pitchFamily="49" charset="0"/>
              </a:rPr>
              <a:t>                    </a:t>
            </a:r>
            <a:r>
              <a:rPr lang="en-US" altLang="zh-CN" b="1" i="1" dirty="0">
                <a:solidFill>
                  <a:schemeClr val="bg2"/>
                </a:solidFill>
                <a:cs typeface="Times New Roman" panose="02020603050405020304" pitchFamily="18" charset="0"/>
              </a:rPr>
              <a:t>A(n)</a:t>
            </a:r>
            <a:r>
              <a:rPr lang="en-US" altLang="zh-CN" dirty="0">
                <a:solidFill>
                  <a:schemeClr val="bg2"/>
                </a:solidFill>
                <a:latin typeface="宋体" panose="02010600030101010101" pitchFamily="2" charset="-122"/>
                <a:cs typeface="Consolas" panose="020B0609020204030204" pitchFamily="49" charset="0"/>
              </a:rPr>
              <a:t>=</a:t>
            </a:r>
            <a:r>
              <a:rPr lang="zh-CN" altLang="en-US" dirty="0">
                <a:solidFill>
                  <a:schemeClr val="bg2"/>
                </a:solidFill>
                <a:latin typeface="宋体" panose="02010600030101010101" pitchFamily="2" charset="-122"/>
                <a:cs typeface="Consolas" panose="020B0609020204030204" pitchFamily="49" charset="0"/>
              </a:rPr>
              <a:t>　　　　　　</a:t>
            </a:r>
            <a:endParaRPr lang="en-US" altLang="zh-CN" dirty="0">
              <a:solidFill>
                <a:schemeClr val="bg2"/>
              </a:solidFill>
              <a:latin typeface="宋体" panose="02010600030101010101" pitchFamily="2" charset="-122"/>
              <a:cs typeface="Consolas" panose="020B0609020204030204" pitchFamily="49" charset="0"/>
            </a:endParaRPr>
          </a:p>
          <a:p>
            <a:pPr marL="800100" lvl="1" indent="-342900">
              <a:lnSpc>
                <a:spcPct val="150000"/>
              </a:lnSpc>
              <a:buFont typeface="微软雅黑" panose="020B0503020204020204" charset="-122"/>
              <a:buChar char="*"/>
            </a:pPr>
            <a:r>
              <a:rPr lang="zh-CN" altLang="en-US" dirty="0">
                <a:solidFill>
                  <a:schemeClr val="bg2"/>
                </a:solidFill>
                <a:latin typeface="宋体" panose="02010600030101010101" pitchFamily="2" charset="-122"/>
                <a:cs typeface="Consolas" panose="020B0609020204030204" pitchFamily="49" charset="0"/>
              </a:rPr>
              <a:t>也就是说算法的平均情况是指用各种可能输入下的基本语句执行次数的带权平均值。</a:t>
            </a:r>
            <a:endParaRPr lang="en-US" altLang="zh-CN" dirty="0">
              <a:solidFill>
                <a:schemeClr val="bg2"/>
              </a:solidFill>
              <a:latin typeface="宋体" panose="02010600030101010101" pitchFamily="2" charset="-122"/>
              <a:cs typeface="Consolas" panose="020B0609020204030204" pitchFamily="49" charset="0"/>
            </a:endParaRPr>
          </a:p>
          <a:p>
            <a:pPr marL="800100" lvl="1" indent="-342900">
              <a:lnSpc>
                <a:spcPct val="150000"/>
              </a:lnSpc>
              <a:buFont typeface="微软雅黑" panose="020B0503020204020204" charset="-122"/>
              <a:buChar char="*"/>
            </a:pPr>
            <a:r>
              <a:rPr lang="zh-CN" altLang="en-US" dirty="0">
                <a:solidFill>
                  <a:schemeClr val="bg2"/>
                </a:solidFill>
                <a:latin typeface="宋体" panose="02010600030101010101" pitchFamily="2" charset="-122"/>
                <a:cs typeface="Consolas" panose="020B0609020204030204" pitchFamily="49" charset="0"/>
              </a:rPr>
              <a:t>必须知道所有输入实例出现的概率，即所有输入的分布情况。通常假定输入是平均分布的（等概率）。</a:t>
            </a:r>
            <a:endParaRPr lang="zh-CN" altLang="en-US" dirty="0">
              <a:solidFill>
                <a:schemeClr val="bg2"/>
              </a:solidFill>
              <a:latin typeface="宋体" panose="02010600030101010101" pitchFamily="2" charset="-122"/>
              <a:ea typeface="Consolas" panose="020B0609020204030204" pitchFamily="49" charset="0"/>
            </a:endParaRPr>
          </a:p>
        </p:txBody>
      </p:sp>
      <p:graphicFrame>
        <p:nvGraphicFramePr>
          <p:cNvPr id="38917" name="对象 2"/>
          <p:cNvGraphicFramePr>
            <a:graphicFrameLocks noChangeAspect="1"/>
          </p:cNvGraphicFramePr>
          <p:nvPr/>
        </p:nvGraphicFramePr>
        <p:xfrm>
          <a:off x="4334193" y="2241868"/>
          <a:ext cx="1511300" cy="612775"/>
        </p:xfrm>
        <a:graphic>
          <a:graphicData uri="http://schemas.openxmlformats.org/presentationml/2006/ole">
            <mc:AlternateContent xmlns:mc="http://schemas.openxmlformats.org/markup-compatibility/2006">
              <mc:Choice xmlns:v="urn:schemas-microsoft-com:vml" Requires="v">
                <p:oleObj spid="_x0000_s5179" name="" r:id="rId1" imgW="660400" imgH="266700" progId="Equation.3">
                  <p:embed/>
                </p:oleObj>
              </mc:Choice>
              <mc:Fallback>
                <p:oleObj name="" r:id="rId1" imgW="660400" imgH="266700" progId="Equation.3">
                  <p:embed/>
                  <p:pic>
                    <p:nvPicPr>
                      <p:cNvPr id="0" name="20 3091"/>
                      <p:cNvPicPr/>
                      <p:nvPr/>
                    </p:nvPicPr>
                    <p:blipFill>
                      <a:blip r:embed="rId2"/>
                      <a:stretch>
                        <a:fillRect/>
                      </a:stretch>
                    </p:blipFill>
                    <p:spPr>
                      <a:xfrm>
                        <a:off x="4334193" y="2241868"/>
                        <a:ext cx="1511300" cy="6127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106">
                                            <p:txEl>
                                              <p:pRg st="1" end="1"/>
                                            </p:txEl>
                                          </p:spTgt>
                                        </p:tgtEl>
                                        <p:attrNameLst>
                                          <p:attrName>style.visibility</p:attrName>
                                        </p:attrNameLst>
                                      </p:cBhvr>
                                      <p:to>
                                        <p:strVal val="visible"/>
                                      </p:to>
                                    </p:set>
                                    <p:animEffect transition="in" filter="wipe(left)">
                                      <p:cBhvr>
                                        <p:cTn id="7" dur="500"/>
                                        <p:tgtEl>
                                          <p:spTgt spid="4710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8917"/>
                                        </p:tgtEl>
                                        <p:attrNameLst>
                                          <p:attrName>style.visibility</p:attrName>
                                        </p:attrNameLst>
                                      </p:cBhvr>
                                      <p:to>
                                        <p:strVal val="visible"/>
                                      </p:to>
                                    </p:set>
                                    <p:animEffect transition="in" filter="wipe(left)">
                                      <p:cBhvr>
                                        <p:cTn id="10" dur="500"/>
                                        <p:tgtEl>
                                          <p:spTgt spid="389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7106">
                                            <p:txEl>
                                              <p:pRg st="2" end="2"/>
                                            </p:txEl>
                                          </p:spTgt>
                                        </p:tgtEl>
                                        <p:attrNameLst>
                                          <p:attrName>style.visibility</p:attrName>
                                        </p:attrNameLst>
                                      </p:cBhvr>
                                      <p:to>
                                        <p:strVal val="visible"/>
                                      </p:to>
                                    </p:set>
                                    <p:animEffect transition="in" filter="wipe(left)">
                                      <p:cBhvr>
                                        <p:cTn id="15" dur="500"/>
                                        <p:tgtEl>
                                          <p:spTgt spid="4710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7106">
                                            <p:txEl>
                                              <p:pRg st="3" end="3"/>
                                            </p:txEl>
                                          </p:spTgt>
                                        </p:tgtEl>
                                        <p:attrNameLst>
                                          <p:attrName>style.visibility</p:attrName>
                                        </p:attrNameLst>
                                      </p:cBhvr>
                                      <p:to>
                                        <p:strVal val="visible"/>
                                      </p:to>
                                    </p:set>
                                    <p:animEffect transition="in" filter="wipe(left)">
                                      <p:cBhvr>
                                        <p:cTn id="20" dur="500"/>
                                        <p:tgtEl>
                                          <p:spTgt spid="471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596390"/>
            <a:ext cx="8373110" cy="1205230"/>
          </a:xfrm>
          <a:prstGeom prst="rect">
            <a:avLst/>
          </a:prstGeom>
          <a:solidFill>
            <a:schemeClr val="tx1"/>
          </a:solidFill>
        </p:spPr>
        <p:txBody>
          <a:bodyPr wrap="square" rtlCol="0" anchor="t">
            <a:spAutoFit/>
          </a:bodyPr>
          <a:lstStyle/>
          <a:p>
            <a:pPr marL="457200" lvl="0" indent="-457200">
              <a:lnSpc>
                <a:spcPct val="120000"/>
              </a:lnSpc>
              <a:spcBef>
                <a:spcPts val="0"/>
              </a:spcBef>
              <a:spcAft>
                <a:spcPts val="0"/>
              </a:spcAft>
              <a:buFont typeface="Wingdings" panose="05000000000000000000" charset="0"/>
              <a:buChar char="l"/>
            </a:pPr>
            <a:r>
              <a:rPr lang="zh-CN" altLang="en-US">
                <a:solidFill>
                  <a:schemeClr val="bg2"/>
                </a:solidFill>
                <a:uFillTx/>
                <a:sym typeface="+mn-ea"/>
              </a:rPr>
              <a:t>最好、最坏、平均时间复杂度举例</a:t>
            </a:r>
            <a:endParaRPr lang="zh-CN" altLang="en-US">
              <a:solidFill>
                <a:schemeClr val="bg2"/>
              </a:solidFill>
              <a:uFillTx/>
              <a:sym typeface="+mn-ea"/>
            </a:endParaRPr>
          </a:p>
          <a:p>
            <a:pPr lvl="0">
              <a:lnSpc>
                <a:spcPct val="120000"/>
              </a:lnSpc>
              <a:spcBef>
                <a:spcPts val="1200"/>
              </a:spcBef>
              <a:spcAft>
                <a:spcPts val="0"/>
              </a:spcAft>
              <a:buFont typeface="Wingdings" panose="05000000000000000000" charset="0"/>
            </a:pPr>
            <a:r>
              <a:rPr lang="zh-CN" altLang="en-US" sz="2800">
                <a:solidFill>
                  <a:schemeClr val="bg2"/>
                </a:solidFill>
                <a:uFillTx/>
                <a:sym typeface="+mn-ea"/>
              </a:rPr>
              <a:t>  </a:t>
            </a:r>
            <a:r>
              <a:rPr lang="zh-CN" altLang="en-US">
                <a:solidFill>
                  <a:schemeClr val="bg2"/>
                </a:solidFill>
                <a:uFillTx/>
                <a:sym typeface="+mn-ea"/>
              </a:rPr>
              <a:t>例题</a:t>
            </a:r>
            <a:r>
              <a:rPr lang="en-US" altLang="zh-CN">
                <a:solidFill>
                  <a:schemeClr val="bg2"/>
                </a:solidFill>
                <a:uFillTx/>
                <a:sym typeface="+mn-ea"/>
              </a:rPr>
              <a:t>8</a:t>
            </a:r>
            <a:r>
              <a:rPr lang="zh-CN" altLang="en-US">
                <a:solidFill>
                  <a:schemeClr val="bg2"/>
                </a:solidFill>
                <a:uFillTx/>
                <a:sym typeface="+mn-ea"/>
              </a:rPr>
              <a:t>：检索问题</a:t>
            </a:r>
            <a:r>
              <a:rPr lang="en-US" altLang="zh-CN">
                <a:solidFill>
                  <a:schemeClr val="bg2"/>
                </a:solidFill>
                <a:uFillTx/>
                <a:sym typeface="+mn-ea"/>
              </a:rPr>
              <a:t>——</a:t>
            </a:r>
            <a:r>
              <a:rPr lang="zh-CN" altLang="en-US">
                <a:solidFill>
                  <a:schemeClr val="bg2"/>
                </a:solidFill>
                <a:uFillTx/>
                <a:sym typeface="+mn-ea"/>
              </a:rPr>
              <a:t>线性检索法</a:t>
            </a:r>
            <a:endParaRPr lang="zh-CN" altLang="en-US">
              <a:solidFill>
                <a:schemeClr val="bg2"/>
              </a:solidFill>
              <a:uFillTx/>
              <a:sym typeface="+mn-ea"/>
            </a:endParaRPr>
          </a:p>
        </p:txBody>
      </p:sp>
      <p:sp>
        <p:nvSpPr>
          <p:cNvPr id="2" name="文本框 1"/>
          <p:cNvSpPr txBox="1"/>
          <p:nvPr/>
        </p:nvSpPr>
        <p:spPr>
          <a:xfrm>
            <a:off x="652780" y="2904490"/>
            <a:ext cx="8186420" cy="2325370"/>
          </a:xfrm>
          <a:prstGeom prst="rect">
            <a:avLst/>
          </a:prstGeom>
          <a:noFill/>
        </p:spPr>
        <p:txBody>
          <a:bodyPr wrap="square" rtlCol="0" anchor="t">
            <a:spAutoFit/>
          </a:bodyPr>
          <a:lstStyle/>
          <a:p>
            <a:pPr>
              <a:lnSpc>
                <a:spcPct val="120000"/>
              </a:lnSpc>
              <a:spcBef>
                <a:spcPts val="1200"/>
              </a:spcBef>
              <a:spcAft>
                <a:spcPts val="0"/>
              </a:spcAft>
            </a:pPr>
            <a:r>
              <a:rPr lang="zh-CN" altLang="en-US">
                <a:solidFill>
                  <a:schemeClr val="bg1"/>
                </a:solidFill>
              </a:rPr>
              <a:t>输入：</a:t>
            </a:r>
            <a:r>
              <a:rPr lang="zh-CN" altLang="en-US" b="1">
                <a:solidFill>
                  <a:srgbClr val="FF0000"/>
                </a:solidFill>
              </a:rPr>
              <a:t>非降顺序排列</a:t>
            </a:r>
            <a:r>
              <a:rPr lang="zh-CN" altLang="en-US">
                <a:solidFill>
                  <a:schemeClr val="bg1"/>
                </a:solidFill>
              </a:rPr>
              <a:t>的数组</a:t>
            </a:r>
            <a:r>
              <a:rPr lang="zh-CN" altLang="en-US" b="1" i="1">
                <a:solidFill>
                  <a:schemeClr val="bg1"/>
                </a:solidFill>
              </a:rPr>
              <a:t> L</a:t>
            </a:r>
            <a:r>
              <a:rPr lang="zh-CN" altLang="en-US">
                <a:solidFill>
                  <a:schemeClr val="bg1"/>
                </a:solidFill>
              </a:rPr>
              <a:t>,元素个数 </a:t>
            </a:r>
            <a:r>
              <a:rPr lang="zh-CN" altLang="en-US" b="1" i="1">
                <a:solidFill>
                  <a:schemeClr val="bg1"/>
                </a:solidFill>
              </a:rPr>
              <a:t>n</a:t>
            </a:r>
            <a:r>
              <a:rPr lang="zh-CN" altLang="en-US">
                <a:solidFill>
                  <a:schemeClr val="bg1"/>
                </a:solidFill>
              </a:rPr>
              <a:t>，待检索数 </a:t>
            </a:r>
            <a:r>
              <a:rPr lang="zh-CN" altLang="en-US" b="1" i="1">
                <a:solidFill>
                  <a:schemeClr val="bg1"/>
                </a:solidFill>
              </a:rPr>
              <a:t>x</a:t>
            </a:r>
            <a:endParaRPr lang="zh-CN" altLang="en-US">
              <a:solidFill>
                <a:schemeClr val="bg1"/>
              </a:solidFill>
            </a:endParaRPr>
          </a:p>
          <a:p>
            <a:pPr>
              <a:lnSpc>
                <a:spcPct val="120000"/>
              </a:lnSpc>
              <a:spcBef>
                <a:spcPts val="1200"/>
              </a:spcBef>
              <a:spcAft>
                <a:spcPts val="0"/>
              </a:spcAft>
            </a:pPr>
            <a:r>
              <a:rPr lang="zh-CN" altLang="en-US">
                <a:solidFill>
                  <a:schemeClr val="bg1"/>
                </a:solidFill>
              </a:rPr>
              <a:t>输出：位置</a:t>
            </a:r>
            <a:r>
              <a:rPr lang="en-US" altLang="zh-CN" b="1" i="1">
                <a:solidFill>
                  <a:schemeClr val="bg1"/>
                </a:solidFill>
                <a:cs typeface="Times New Roman" panose="02020603050405020304" pitchFamily="18" charset="0"/>
              </a:rPr>
              <a:t>i</a:t>
            </a:r>
            <a:r>
              <a:rPr lang="zh-CN" altLang="en-US" b="1" i="1">
                <a:solidFill>
                  <a:schemeClr val="bg1"/>
                </a:solidFill>
                <a:cs typeface="Times New Roman" panose="02020603050405020304" pitchFamily="18" charset="0"/>
              </a:rPr>
              <a:t> </a:t>
            </a:r>
            <a:r>
              <a:rPr lang="zh-CN" altLang="en-US">
                <a:solidFill>
                  <a:schemeClr val="bg1"/>
                </a:solidFill>
              </a:rPr>
              <a:t>，若</a:t>
            </a:r>
            <a:r>
              <a:rPr lang="zh-CN" altLang="en-US" b="1" i="1">
                <a:solidFill>
                  <a:schemeClr val="bg1"/>
                </a:solidFill>
              </a:rPr>
              <a:t> x</a:t>
            </a:r>
            <a:r>
              <a:rPr lang="zh-CN" altLang="en-US">
                <a:solidFill>
                  <a:schemeClr val="bg1"/>
                </a:solidFill>
              </a:rPr>
              <a:t> 在 </a:t>
            </a:r>
            <a:r>
              <a:rPr lang="zh-CN" altLang="en-US" b="1" i="1">
                <a:solidFill>
                  <a:schemeClr val="bg1"/>
                </a:solidFill>
              </a:rPr>
              <a:t>L</a:t>
            </a:r>
            <a:r>
              <a:rPr lang="zh-CN" altLang="en-US">
                <a:solidFill>
                  <a:schemeClr val="bg1"/>
                </a:solidFill>
              </a:rPr>
              <a:t>中, </a:t>
            </a:r>
            <a:r>
              <a:rPr lang="en-US" altLang="zh-CN" b="1" i="1">
                <a:solidFill>
                  <a:schemeClr val="bg1"/>
                </a:solidFill>
              </a:rPr>
              <a:t>i</a:t>
            </a:r>
            <a:r>
              <a:rPr lang="zh-CN" altLang="en-US">
                <a:solidFill>
                  <a:schemeClr val="bg1"/>
                </a:solidFill>
              </a:rPr>
              <a:t>是</a:t>
            </a:r>
            <a:r>
              <a:rPr lang="zh-CN" altLang="en-US" b="1" i="1">
                <a:solidFill>
                  <a:schemeClr val="bg1"/>
                </a:solidFill>
              </a:rPr>
              <a:t>x</a:t>
            </a:r>
            <a:r>
              <a:rPr lang="zh-CN" altLang="en-US">
                <a:solidFill>
                  <a:schemeClr val="bg1"/>
                </a:solidFill>
              </a:rPr>
              <a:t>首次出现的下标； </a:t>
            </a:r>
            <a:endParaRPr lang="zh-CN" altLang="en-US">
              <a:solidFill>
                <a:schemeClr val="bg1"/>
              </a:solidFill>
            </a:endParaRPr>
          </a:p>
          <a:p>
            <a:pPr>
              <a:lnSpc>
                <a:spcPct val="120000"/>
              </a:lnSpc>
              <a:spcBef>
                <a:spcPts val="1200"/>
              </a:spcBef>
              <a:spcAft>
                <a:spcPts val="0"/>
              </a:spcAft>
            </a:pPr>
            <a:r>
              <a:rPr lang="zh-CN" altLang="en-US">
                <a:solidFill>
                  <a:schemeClr val="bg1"/>
                </a:solidFill>
              </a:rPr>
              <a:t>            否则</a:t>
            </a:r>
            <a:r>
              <a:rPr lang="en-US" altLang="zh-CN" b="1" i="1">
                <a:solidFill>
                  <a:schemeClr val="bg1"/>
                </a:solidFill>
              </a:rPr>
              <a:t>i</a:t>
            </a:r>
            <a:r>
              <a:rPr lang="zh-CN" altLang="en-US" b="1" i="1">
                <a:solidFill>
                  <a:schemeClr val="bg1"/>
                </a:solidFill>
              </a:rPr>
              <a:t> </a:t>
            </a:r>
            <a:r>
              <a:rPr lang="zh-CN" altLang="en-US">
                <a:solidFill>
                  <a:schemeClr val="bg1"/>
                </a:solidFill>
              </a:rPr>
              <a:t>= 0     </a:t>
            </a:r>
            <a:endParaRPr lang="zh-CN" altLang="en-US">
              <a:solidFill>
                <a:schemeClr val="bg1"/>
              </a:solidFill>
            </a:endParaRPr>
          </a:p>
          <a:p>
            <a:pPr>
              <a:lnSpc>
                <a:spcPct val="120000"/>
              </a:lnSpc>
              <a:spcBef>
                <a:spcPts val="1200"/>
              </a:spcBef>
              <a:spcAft>
                <a:spcPts val="0"/>
              </a:spcAft>
            </a:pPr>
            <a:r>
              <a:rPr lang="zh-CN" altLang="en-US">
                <a:solidFill>
                  <a:schemeClr val="bg1"/>
                </a:solidFill>
              </a:rPr>
              <a:t>基本运算：</a:t>
            </a:r>
            <a:r>
              <a:rPr lang="zh-CN" altLang="en-US" b="1" i="1">
                <a:solidFill>
                  <a:schemeClr val="bg1"/>
                </a:solidFill>
              </a:rPr>
              <a:t>x</a:t>
            </a:r>
            <a:r>
              <a:rPr lang="zh-CN" altLang="en-US">
                <a:solidFill>
                  <a:schemeClr val="bg1"/>
                </a:solidFill>
              </a:rPr>
              <a:t> 与 </a:t>
            </a:r>
            <a:r>
              <a:rPr lang="zh-CN" altLang="en-US" b="1" i="1">
                <a:solidFill>
                  <a:schemeClr val="bg1"/>
                </a:solidFill>
              </a:rPr>
              <a:t>L </a:t>
            </a:r>
            <a:r>
              <a:rPr lang="zh-CN" altLang="en-US">
                <a:solidFill>
                  <a:schemeClr val="bg1"/>
                </a:solidFill>
              </a:rPr>
              <a:t>中元素的比较运算</a:t>
            </a:r>
            <a:endParaRPr lang="en-US" altLang="zh-CN">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left)">
                                      <p:cBhvr>
                                        <p:cTn id="2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596390"/>
            <a:ext cx="8373110" cy="534035"/>
          </a:xfrm>
          <a:prstGeom prst="rect">
            <a:avLst/>
          </a:prstGeom>
          <a:solidFill>
            <a:schemeClr val="tx1"/>
          </a:solidFill>
        </p:spPr>
        <p:txBody>
          <a:bodyPr wrap="square" rtlCol="0" anchor="t">
            <a:spAutoFit/>
          </a:bodyPr>
          <a:lstStyle/>
          <a:p>
            <a:pPr marL="457200" lvl="0" indent="-457200">
              <a:lnSpc>
                <a:spcPct val="120000"/>
              </a:lnSpc>
              <a:spcBef>
                <a:spcPts val="0"/>
              </a:spcBef>
              <a:spcAft>
                <a:spcPts val="0"/>
              </a:spcAft>
              <a:buFont typeface="Arial" panose="020B0604020202020204" pitchFamily="34" charset="0"/>
              <a:buChar char="•"/>
            </a:pPr>
            <a:r>
              <a:rPr lang="zh-CN" altLang="en-US">
                <a:solidFill>
                  <a:schemeClr val="bg2"/>
                </a:solidFill>
                <a:uFillTx/>
                <a:sym typeface="+mn-ea"/>
              </a:rPr>
              <a:t>实现算法</a:t>
            </a:r>
            <a:r>
              <a:rPr lang="en-US" altLang="zh-CN">
                <a:solidFill>
                  <a:schemeClr val="bg2"/>
                </a:solidFill>
                <a:uFillTx/>
                <a:sym typeface="+mn-ea"/>
              </a:rPr>
              <a:t>1</a:t>
            </a:r>
            <a:endParaRPr lang="zh-CN" altLang="en-US">
              <a:solidFill>
                <a:schemeClr val="bg2"/>
              </a:solidFill>
              <a:uFillTx/>
              <a:sym typeface="+mn-ea"/>
            </a:endParaRPr>
          </a:p>
        </p:txBody>
      </p:sp>
      <p:sp>
        <p:nvSpPr>
          <p:cNvPr id="2" name="文本框 1"/>
          <p:cNvSpPr txBox="1"/>
          <p:nvPr/>
        </p:nvSpPr>
        <p:spPr>
          <a:xfrm>
            <a:off x="614680" y="2184400"/>
            <a:ext cx="8072120" cy="1420495"/>
          </a:xfrm>
          <a:prstGeom prst="rect">
            <a:avLst/>
          </a:prstGeom>
          <a:noFill/>
        </p:spPr>
        <p:txBody>
          <a:bodyPr wrap="square" rtlCol="0" anchor="t">
            <a:spAutoFit/>
          </a:bodyPr>
          <a:lstStyle/>
          <a:p>
            <a:pPr>
              <a:lnSpc>
                <a:spcPct val="120000"/>
              </a:lnSpc>
              <a:spcBef>
                <a:spcPts val="0"/>
              </a:spcBef>
              <a:spcAft>
                <a:spcPts val="0"/>
              </a:spcAft>
            </a:pPr>
            <a:r>
              <a:rPr lang="en-US" altLang="zh-CN" b="1" i="1">
                <a:solidFill>
                  <a:schemeClr val="bg1"/>
                </a:solidFill>
              </a:rPr>
              <a:t>i</a:t>
            </a:r>
            <a:r>
              <a:rPr lang="zh-CN" altLang="en-US">
                <a:solidFill>
                  <a:schemeClr val="bg1"/>
                </a:solidFill>
              </a:rPr>
              <a:t>=1, 将</a:t>
            </a:r>
            <a:r>
              <a:rPr lang="en-US" altLang="zh-CN" b="1" i="1">
                <a:solidFill>
                  <a:schemeClr val="bg1"/>
                </a:solidFill>
              </a:rPr>
              <a:t>x</a:t>
            </a:r>
            <a:r>
              <a:rPr lang="zh-CN" altLang="en-US">
                <a:solidFill>
                  <a:schemeClr val="bg1"/>
                </a:solidFill>
              </a:rPr>
              <a:t>与</a:t>
            </a:r>
            <a:r>
              <a:rPr lang="en-US" altLang="zh-CN" b="1" i="1">
                <a:solidFill>
                  <a:schemeClr val="bg1"/>
                </a:solidFill>
              </a:rPr>
              <a:t>L</a:t>
            </a:r>
            <a:r>
              <a:rPr lang="zh-CN" altLang="en-US">
                <a:solidFill>
                  <a:schemeClr val="bg1"/>
                </a:solidFill>
              </a:rPr>
              <a:t>[</a:t>
            </a:r>
            <a:r>
              <a:rPr lang="en-US" altLang="zh-CN" b="1" i="1">
                <a:solidFill>
                  <a:schemeClr val="bg1"/>
                </a:solidFill>
              </a:rPr>
              <a:t>i</a:t>
            </a:r>
            <a:r>
              <a:rPr lang="zh-CN" altLang="en-US">
                <a:solidFill>
                  <a:schemeClr val="bg1"/>
                </a:solidFill>
              </a:rPr>
              <a:t>]比较. 如果 </a:t>
            </a:r>
            <a:r>
              <a:rPr lang="en-US" altLang="zh-CN" b="1" i="1">
                <a:solidFill>
                  <a:schemeClr val="bg1"/>
                </a:solidFill>
              </a:rPr>
              <a:t>x</a:t>
            </a:r>
            <a:r>
              <a:rPr lang="zh-CN" altLang="en-US">
                <a:solidFill>
                  <a:schemeClr val="bg1"/>
                </a:solidFill>
              </a:rPr>
              <a:t>=</a:t>
            </a:r>
            <a:r>
              <a:rPr lang="en-US" altLang="zh-CN" b="1" i="1">
                <a:solidFill>
                  <a:schemeClr val="bg1"/>
                </a:solidFill>
              </a:rPr>
              <a:t>L</a:t>
            </a:r>
            <a:r>
              <a:rPr lang="zh-CN" altLang="en-US">
                <a:solidFill>
                  <a:schemeClr val="bg1"/>
                </a:solidFill>
              </a:rPr>
              <a:t>[</a:t>
            </a:r>
            <a:r>
              <a:rPr lang="en-US" altLang="zh-CN" b="1" i="1">
                <a:solidFill>
                  <a:schemeClr val="bg1"/>
                </a:solidFill>
              </a:rPr>
              <a:t>i</a:t>
            </a:r>
            <a:r>
              <a:rPr lang="zh-CN" altLang="en-US">
                <a:solidFill>
                  <a:schemeClr val="bg1"/>
                </a:solidFill>
              </a:rPr>
              <a:t>]，则算法停止，输出 </a:t>
            </a:r>
            <a:r>
              <a:rPr lang="en-US" altLang="zh-CN" b="1" i="1">
                <a:solidFill>
                  <a:schemeClr val="bg1"/>
                </a:solidFill>
              </a:rPr>
              <a:t>i</a:t>
            </a:r>
            <a:r>
              <a:rPr lang="zh-CN" altLang="en-US">
                <a:solidFill>
                  <a:schemeClr val="bg1"/>
                </a:solidFill>
              </a:rPr>
              <a:t>；如果不等，则把</a:t>
            </a:r>
            <a:r>
              <a:rPr lang="en-US" altLang="zh-CN" b="1" i="1">
                <a:solidFill>
                  <a:schemeClr val="bg1"/>
                </a:solidFill>
              </a:rPr>
              <a:t>i </a:t>
            </a:r>
            <a:r>
              <a:rPr lang="zh-CN" altLang="en-US">
                <a:solidFill>
                  <a:schemeClr val="bg1"/>
                </a:solidFill>
              </a:rPr>
              <a:t>加1，继续</a:t>
            </a:r>
            <a:r>
              <a:rPr lang="en-US" altLang="zh-CN" b="1" i="1">
                <a:solidFill>
                  <a:schemeClr val="bg1"/>
                </a:solidFill>
              </a:rPr>
              <a:t>x</a:t>
            </a:r>
            <a:r>
              <a:rPr lang="zh-CN" altLang="en-US">
                <a:solidFill>
                  <a:schemeClr val="bg1"/>
                </a:solidFill>
              </a:rPr>
              <a:t> 与</a:t>
            </a:r>
            <a:r>
              <a:rPr lang="en-US" altLang="zh-CN" b="1" i="1">
                <a:solidFill>
                  <a:schemeClr val="bg1"/>
                </a:solidFill>
              </a:rPr>
              <a:t>L</a:t>
            </a:r>
            <a:r>
              <a:rPr lang="zh-CN" altLang="en-US">
                <a:solidFill>
                  <a:schemeClr val="bg1"/>
                </a:solidFill>
              </a:rPr>
              <a:t>[</a:t>
            </a:r>
            <a:r>
              <a:rPr lang="en-US" altLang="zh-CN" b="1" i="1">
                <a:solidFill>
                  <a:schemeClr val="bg1"/>
                </a:solidFill>
              </a:rPr>
              <a:t>i</a:t>
            </a:r>
            <a:r>
              <a:rPr lang="zh-CN" altLang="en-US">
                <a:solidFill>
                  <a:schemeClr val="bg1"/>
                </a:solidFill>
              </a:rPr>
              <a:t>]的比较，如果 </a:t>
            </a:r>
            <a:r>
              <a:rPr lang="en-US" altLang="zh-CN" b="1" i="1">
                <a:solidFill>
                  <a:schemeClr val="bg1"/>
                </a:solidFill>
              </a:rPr>
              <a:t>i</a:t>
            </a:r>
            <a:r>
              <a:rPr lang="zh-CN" altLang="en-US">
                <a:solidFill>
                  <a:schemeClr val="bg1"/>
                </a:solidFill>
              </a:rPr>
              <a:t>&gt;</a:t>
            </a:r>
            <a:r>
              <a:rPr lang="en-US" altLang="zh-CN" b="1" i="1">
                <a:solidFill>
                  <a:schemeClr val="bg1"/>
                </a:solidFill>
              </a:rPr>
              <a:t>n</a:t>
            </a:r>
            <a:r>
              <a:rPr lang="zh-CN" altLang="en-US">
                <a:solidFill>
                  <a:schemeClr val="bg1"/>
                </a:solidFill>
              </a:rPr>
              <a:t>，则停机并输出0.</a:t>
            </a:r>
            <a:endParaRPr lang="zh-CN" altLang="en-US">
              <a:solidFill>
                <a:schemeClr val="bg1"/>
              </a:solidFill>
            </a:endParaRPr>
          </a:p>
        </p:txBody>
      </p:sp>
      <p:pic>
        <p:nvPicPr>
          <p:cNvPr id="5" name="20 4"/>
          <p:cNvPicPr>
            <a:picLocks noChangeAspect="1"/>
          </p:cNvPicPr>
          <p:nvPr/>
        </p:nvPicPr>
        <p:blipFill>
          <a:blip r:embed="rId1"/>
          <a:srcRect t="26126"/>
          <a:stretch>
            <a:fillRect/>
          </a:stretch>
        </p:blipFill>
        <p:spPr>
          <a:xfrm>
            <a:off x="1440180" y="3605024"/>
            <a:ext cx="6120765" cy="716786"/>
          </a:xfrm>
          <a:prstGeom prst="rect">
            <a:avLst/>
          </a:prstGeom>
        </p:spPr>
      </p:pic>
      <p:pic>
        <p:nvPicPr>
          <p:cNvPr id="6" name="20 5"/>
          <p:cNvPicPr>
            <a:picLocks noChangeAspect="1"/>
          </p:cNvPicPr>
          <p:nvPr/>
        </p:nvPicPr>
        <p:blipFill>
          <a:blip r:embed="rId2"/>
          <a:stretch>
            <a:fillRect/>
          </a:stretch>
        </p:blipFill>
        <p:spPr>
          <a:xfrm>
            <a:off x="1720215" y="4321810"/>
            <a:ext cx="1574800" cy="697230"/>
          </a:xfrm>
          <a:prstGeom prst="rect">
            <a:avLst/>
          </a:prstGeom>
        </p:spPr>
      </p:pic>
      <p:pic>
        <p:nvPicPr>
          <p:cNvPr id="7" name="20 6"/>
          <p:cNvPicPr>
            <a:picLocks noChangeAspect="1"/>
          </p:cNvPicPr>
          <p:nvPr/>
        </p:nvPicPr>
        <p:blipFill>
          <a:blip r:embed="rId3"/>
          <a:stretch>
            <a:fillRect/>
          </a:stretch>
        </p:blipFill>
        <p:spPr>
          <a:xfrm>
            <a:off x="3391535" y="4416008"/>
            <a:ext cx="2352040" cy="603250"/>
          </a:xfrm>
          <a:prstGeom prst="rect">
            <a:avLst/>
          </a:prstGeom>
        </p:spPr>
      </p:pic>
      <p:pic>
        <p:nvPicPr>
          <p:cNvPr id="8" name="20 7"/>
          <p:cNvPicPr>
            <a:picLocks noChangeAspect="1"/>
          </p:cNvPicPr>
          <p:nvPr/>
        </p:nvPicPr>
        <p:blipFill>
          <a:blip r:embed="rId4"/>
          <a:stretch>
            <a:fillRect/>
          </a:stretch>
        </p:blipFill>
        <p:spPr>
          <a:xfrm>
            <a:off x="1720215" y="5296753"/>
            <a:ext cx="1657985" cy="509270"/>
          </a:xfrm>
          <a:prstGeom prst="rect">
            <a:avLst/>
          </a:prstGeom>
        </p:spPr>
      </p:pic>
      <p:pic>
        <p:nvPicPr>
          <p:cNvPr id="10" name="20 9"/>
          <p:cNvPicPr>
            <a:picLocks noChangeAspect="1"/>
          </p:cNvPicPr>
          <p:nvPr/>
        </p:nvPicPr>
        <p:blipFill>
          <a:blip r:embed="rId5"/>
          <a:stretch>
            <a:fillRect/>
          </a:stretch>
        </p:blipFill>
        <p:spPr>
          <a:xfrm>
            <a:off x="3400425" y="5240873"/>
            <a:ext cx="2343150" cy="53276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9" name="Text Box 3"/>
          <p:cNvSpPr txBox="1">
            <a:spLocks noChangeArrowheads="1"/>
          </p:cNvSpPr>
          <p:nvPr/>
        </p:nvSpPr>
        <p:spPr bwMode="auto">
          <a:xfrm>
            <a:off x="1256487" y="1916832"/>
            <a:ext cx="6675755" cy="3610610"/>
          </a:xfrm>
          <a:prstGeom prst="rect">
            <a:avLst/>
          </a:prstGeom>
          <a:solidFill>
            <a:schemeClr val="accent2">
              <a:lumMod val="40000"/>
              <a:lumOff val="60000"/>
            </a:schemeClr>
          </a:solid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44000" tIns="144000" bIns="144000">
            <a:spAutoFit/>
          </a:bodyPr>
          <a:lstStyle/>
          <a:p>
            <a:pPr marR="0" defTabSz="914400">
              <a:buClrTx/>
              <a:buSzTx/>
              <a:buFontTx/>
              <a:defRPr/>
            </a:pP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Find1(double L[],</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n,double</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x)</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i=1;</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while (i&lt;=n)</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  if (L[</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]==x) break;</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if (i&lt;=n) return i;</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else return 0;</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a:t>
            </a:r>
            <a:endParaRPr kumimoji="1" lang="zh-CN" altLang="en-US" b="1" i="1" kern="1200" cap="none" spc="0" normalizeH="0" baseline="0" noProof="0" dirty="0">
              <a:solidFill>
                <a:srgbClr val="000000"/>
              </a:solidFill>
              <a:ea typeface="仿宋"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1" name="Text Box 4"/>
          <p:cNvSpPr txBox="1"/>
          <p:nvPr/>
        </p:nvSpPr>
        <p:spPr>
          <a:xfrm>
            <a:off x="467544" y="1655856"/>
            <a:ext cx="8208912" cy="3928110"/>
          </a:xfrm>
          <a:prstGeom prst="rect">
            <a:avLst/>
          </a:prstGeom>
          <a:noFill/>
          <a:ln w="9525">
            <a:noFill/>
          </a:ln>
        </p:spPr>
        <p:txBody>
          <a:bodyPr wrap="square">
            <a:spAutoFit/>
          </a:bodyPr>
          <a:lstStyle/>
          <a:p>
            <a:pPr>
              <a:lnSpc>
                <a:spcPct val="130000"/>
              </a:lnSpc>
            </a:pPr>
            <a:r>
              <a:rPr lang="en-US" altLang="zh-CN" dirty="0" smtClean="0">
                <a:solidFill>
                  <a:schemeClr val="bg2"/>
                </a:solidFill>
                <a:cs typeface="宋体" panose="02010600030101010101" pitchFamily="2" charset="-122"/>
              </a:rPr>
              <a:t>(1) </a:t>
            </a:r>
            <a:r>
              <a:rPr lang="zh-CN" altLang="en-US" dirty="0" smtClean="0">
                <a:solidFill>
                  <a:schemeClr val="bg2"/>
                </a:solidFill>
                <a:cs typeface="宋体" panose="02010600030101010101" pitchFamily="2" charset="-122"/>
              </a:rPr>
              <a:t>分析</a:t>
            </a:r>
            <a:r>
              <a:rPr lang="zh-CN" altLang="en-US" dirty="0">
                <a:solidFill>
                  <a:schemeClr val="bg2"/>
                </a:solidFill>
                <a:cs typeface="宋体" panose="02010600030101010101" pitchFamily="2" charset="-122"/>
              </a:rPr>
              <a:t>该算法在等概率情况下</a:t>
            </a:r>
            <a:r>
              <a:rPr lang="zh-CN" altLang="en-US" b="1" dirty="0">
                <a:solidFill>
                  <a:srgbClr val="FF0000"/>
                </a:solidFill>
                <a:cs typeface="宋体" panose="02010600030101010101" pitchFamily="2" charset="-122"/>
              </a:rPr>
              <a:t>成功查找</a:t>
            </a:r>
            <a:r>
              <a:rPr lang="zh-CN" altLang="en-US" dirty="0">
                <a:solidFill>
                  <a:schemeClr val="bg2"/>
                </a:solidFill>
                <a:cs typeface="宋体" panose="02010600030101010101" pitchFamily="2" charset="-122"/>
              </a:rPr>
              <a:t>到值为</a:t>
            </a:r>
            <a:r>
              <a:rPr lang="en-US" altLang="zh-CN" i="1" dirty="0">
                <a:solidFill>
                  <a:schemeClr val="bg2"/>
                </a:solidFill>
                <a:cs typeface="宋体" panose="02010600030101010101" pitchFamily="2" charset="-122"/>
              </a:rPr>
              <a:t>x</a:t>
            </a:r>
            <a:r>
              <a:rPr lang="zh-CN" altLang="en-US" dirty="0">
                <a:solidFill>
                  <a:schemeClr val="bg2"/>
                </a:solidFill>
                <a:cs typeface="宋体" panose="02010600030101010101" pitchFamily="2" charset="-122"/>
              </a:rPr>
              <a:t>的元素</a:t>
            </a:r>
            <a:r>
              <a:rPr lang="zh-CN" altLang="en-US" dirty="0" smtClean="0">
                <a:solidFill>
                  <a:schemeClr val="bg2"/>
                </a:solidFill>
                <a:cs typeface="宋体" panose="02010600030101010101" pitchFamily="2" charset="-122"/>
              </a:rPr>
              <a:t>的</a:t>
            </a:r>
            <a:endParaRPr lang="en-US" altLang="zh-CN" dirty="0" smtClean="0">
              <a:solidFill>
                <a:schemeClr val="bg2"/>
              </a:solidFill>
              <a:cs typeface="宋体" panose="02010600030101010101" pitchFamily="2" charset="-122"/>
            </a:endParaRPr>
          </a:p>
          <a:p>
            <a:pPr marL="800100" lvl="1" indent="-342900">
              <a:lnSpc>
                <a:spcPct val="130000"/>
              </a:lnSpc>
              <a:buFont typeface="Wingdings" panose="05000000000000000000" pitchFamily="2" charset="2"/>
              <a:buChar char="ü"/>
            </a:pPr>
            <a:r>
              <a:rPr lang="zh-CN" altLang="en-US" dirty="0">
                <a:solidFill>
                  <a:schemeClr val="bg2"/>
                </a:solidFill>
                <a:cs typeface="宋体" panose="02010600030101010101" pitchFamily="2" charset="-122"/>
              </a:rPr>
              <a:t>最好时间复杂</a:t>
            </a:r>
            <a:r>
              <a:rPr lang="zh-CN" altLang="en-US" dirty="0" smtClean="0">
                <a:solidFill>
                  <a:schemeClr val="bg2"/>
                </a:solidFill>
                <a:cs typeface="宋体" panose="02010600030101010101" pitchFamily="2" charset="-122"/>
              </a:rPr>
              <a:t>度</a:t>
            </a:r>
            <a:endParaRPr lang="en-US" altLang="zh-CN" dirty="0" smtClean="0">
              <a:solidFill>
                <a:schemeClr val="bg2"/>
              </a:solidFill>
              <a:cs typeface="宋体" panose="02010600030101010101" pitchFamily="2" charset="-122"/>
            </a:endParaRPr>
          </a:p>
          <a:p>
            <a:pPr lvl="1">
              <a:lnSpc>
                <a:spcPct val="130000"/>
              </a:lnSpc>
            </a:pPr>
            <a:r>
              <a:rPr lang="zh-CN" altLang="en-US" dirty="0">
                <a:solidFill>
                  <a:srgbClr val="0000FF"/>
                </a:solidFill>
                <a:cs typeface="宋体" panose="02010600030101010101" pitchFamily="2" charset="-122"/>
              </a:rPr>
              <a:t>第一个</a:t>
            </a:r>
            <a:r>
              <a:rPr lang="zh-CN" altLang="en-US" dirty="0" smtClean="0">
                <a:solidFill>
                  <a:srgbClr val="0000FF"/>
                </a:solidFill>
                <a:cs typeface="宋体" panose="02010600030101010101" pitchFamily="2" charset="-122"/>
              </a:rPr>
              <a:t>元素</a:t>
            </a:r>
            <a:r>
              <a:rPr lang="en-US" altLang="zh-CN" i="1" dirty="0">
                <a:solidFill>
                  <a:srgbClr val="0000FF"/>
                </a:solidFill>
                <a:cs typeface="宋体" panose="02010600030101010101" pitchFamily="2" charset="-122"/>
              </a:rPr>
              <a:t>L</a:t>
            </a:r>
            <a:r>
              <a:rPr lang="en-US" altLang="zh-CN" i="1" dirty="0" smtClean="0">
                <a:solidFill>
                  <a:srgbClr val="0000FF"/>
                </a:solidFill>
                <a:cs typeface="宋体" panose="02010600030101010101" pitchFamily="2" charset="-122"/>
              </a:rPr>
              <a:t> </a:t>
            </a:r>
            <a:r>
              <a:rPr lang="en-US" altLang="zh-CN" dirty="0" smtClean="0">
                <a:solidFill>
                  <a:srgbClr val="0000FF"/>
                </a:solidFill>
                <a:cs typeface="宋体" panose="02010600030101010101" pitchFamily="2" charset="-122"/>
              </a:rPr>
              <a:t>[1]</a:t>
            </a:r>
            <a:r>
              <a:rPr lang="zh-CN" altLang="en-US" dirty="0">
                <a:solidFill>
                  <a:srgbClr val="0000FF"/>
                </a:solidFill>
                <a:cs typeface="宋体" panose="02010600030101010101" pitchFamily="2" charset="-122"/>
              </a:rPr>
              <a:t>等于</a:t>
            </a:r>
            <a:r>
              <a:rPr lang="en-US" altLang="zh-CN" i="1" dirty="0">
                <a:solidFill>
                  <a:srgbClr val="0000FF"/>
                </a:solidFill>
                <a:cs typeface="宋体" panose="02010600030101010101" pitchFamily="2" charset="-122"/>
              </a:rPr>
              <a:t>x</a:t>
            </a:r>
            <a:r>
              <a:rPr lang="zh-CN" altLang="en-US" dirty="0">
                <a:solidFill>
                  <a:srgbClr val="0000FF"/>
                </a:solidFill>
                <a:cs typeface="宋体" panose="02010600030101010101" pitchFamily="2" charset="-122"/>
              </a:rPr>
              <a:t>，此时基本语句仅执行一次，此时呈现</a:t>
            </a:r>
            <a:r>
              <a:rPr lang="zh-CN" altLang="en-US" dirty="0">
                <a:solidFill>
                  <a:srgbClr val="C00000"/>
                </a:solidFill>
                <a:cs typeface="宋体" panose="02010600030101010101" pitchFamily="2" charset="-122"/>
              </a:rPr>
              <a:t>最好的情况</a:t>
            </a:r>
            <a:r>
              <a:rPr lang="zh-CN" altLang="en-US" dirty="0">
                <a:solidFill>
                  <a:srgbClr val="0000FF"/>
                </a:solidFill>
                <a:cs typeface="宋体" panose="02010600030101010101" pitchFamily="2" charset="-122"/>
              </a:rPr>
              <a:t>，即</a:t>
            </a:r>
            <a:r>
              <a:rPr lang="en-US" altLang="zh-CN" i="1" dirty="0">
                <a:solidFill>
                  <a:srgbClr val="0000FF"/>
                </a:solidFill>
                <a:cs typeface="宋体" panose="02010600030101010101" pitchFamily="2" charset="-122"/>
              </a:rPr>
              <a:t>G</a:t>
            </a:r>
            <a:r>
              <a:rPr lang="en-US" altLang="zh-CN" dirty="0">
                <a:solidFill>
                  <a:srgbClr val="0000FF"/>
                </a:solidFill>
                <a:cs typeface="宋体" panose="02010600030101010101" pitchFamily="2" charset="-122"/>
              </a:rPr>
              <a:t>(</a:t>
            </a:r>
            <a:r>
              <a:rPr lang="en-US" altLang="zh-CN" i="1" dirty="0">
                <a:solidFill>
                  <a:srgbClr val="0000FF"/>
                </a:solidFill>
                <a:cs typeface="宋体" panose="02010600030101010101" pitchFamily="2" charset="-122"/>
              </a:rPr>
              <a:t>n</a:t>
            </a:r>
            <a:r>
              <a:rPr lang="en-US" altLang="zh-CN" dirty="0">
                <a:solidFill>
                  <a:srgbClr val="0000FF"/>
                </a:solidFill>
                <a:cs typeface="宋体" panose="02010600030101010101" pitchFamily="2" charset="-122"/>
              </a:rPr>
              <a:t>)=</a:t>
            </a:r>
            <a:r>
              <a:rPr lang="en-US" altLang="zh-CN" i="1" dirty="0">
                <a:solidFill>
                  <a:srgbClr val="0000FF"/>
                </a:solidFill>
                <a:cs typeface="宋体" panose="02010600030101010101" pitchFamily="2" charset="-122"/>
              </a:rPr>
              <a:t>O</a:t>
            </a:r>
            <a:r>
              <a:rPr lang="en-US" altLang="zh-CN" dirty="0">
                <a:solidFill>
                  <a:srgbClr val="0000FF"/>
                </a:solidFill>
                <a:cs typeface="宋体" panose="02010600030101010101" pitchFamily="2" charset="-122"/>
              </a:rPr>
              <a:t>(1)</a:t>
            </a:r>
            <a:endParaRPr lang="en-US" altLang="zh-CN" dirty="0" smtClean="0">
              <a:solidFill>
                <a:schemeClr val="bg2"/>
              </a:solidFill>
              <a:cs typeface="宋体" panose="02010600030101010101" pitchFamily="2" charset="-122"/>
            </a:endParaRPr>
          </a:p>
          <a:p>
            <a:pPr marL="800100" lvl="1" indent="-342900">
              <a:lnSpc>
                <a:spcPct val="130000"/>
              </a:lnSpc>
              <a:buFont typeface="Wingdings" panose="05000000000000000000" pitchFamily="2" charset="2"/>
              <a:buChar char="ü"/>
            </a:pPr>
            <a:r>
              <a:rPr lang="zh-CN" altLang="en-US" dirty="0">
                <a:solidFill>
                  <a:schemeClr val="bg2"/>
                </a:solidFill>
                <a:cs typeface="宋体" panose="02010600030101010101" pitchFamily="2" charset="-122"/>
              </a:rPr>
              <a:t>最坏时间复杂</a:t>
            </a:r>
            <a:r>
              <a:rPr lang="zh-CN" altLang="en-US" dirty="0" smtClean="0">
                <a:solidFill>
                  <a:schemeClr val="bg2"/>
                </a:solidFill>
                <a:cs typeface="宋体" panose="02010600030101010101" pitchFamily="2" charset="-122"/>
              </a:rPr>
              <a:t>度</a:t>
            </a:r>
            <a:endParaRPr lang="en-US" altLang="zh-CN" dirty="0" smtClean="0">
              <a:solidFill>
                <a:schemeClr val="bg2"/>
              </a:solidFill>
              <a:cs typeface="宋体" panose="02010600030101010101" pitchFamily="2" charset="-122"/>
            </a:endParaRPr>
          </a:p>
          <a:p>
            <a:pPr lvl="1">
              <a:lnSpc>
                <a:spcPct val="130000"/>
              </a:lnSpc>
            </a:pPr>
            <a:r>
              <a:rPr lang="zh-CN" altLang="en-US" dirty="0" smtClean="0">
                <a:solidFill>
                  <a:srgbClr val="0000FF"/>
                </a:solidFill>
                <a:cs typeface="宋体" panose="02010600030101010101" pitchFamily="2" charset="-122"/>
              </a:rPr>
              <a:t>当</a:t>
            </a:r>
            <a:r>
              <a:rPr lang="en-US" altLang="zh-CN" i="1" dirty="0">
                <a:solidFill>
                  <a:srgbClr val="0000FF"/>
                </a:solidFill>
                <a:cs typeface="宋体" panose="02010600030101010101" pitchFamily="2" charset="-122"/>
              </a:rPr>
              <a:t>L</a:t>
            </a:r>
            <a:r>
              <a:rPr lang="zh-CN" altLang="en-US" dirty="0" smtClean="0">
                <a:solidFill>
                  <a:srgbClr val="0000FF"/>
                </a:solidFill>
                <a:cs typeface="宋体" panose="02010600030101010101" pitchFamily="2" charset="-122"/>
              </a:rPr>
              <a:t>中</a:t>
            </a:r>
            <a:r>
              <a:rPr lang="zh-CN" altLang="en-US" dirty="0">
                <a:solidFill>
                  <a:srgbClr val="0000FF"/>
                </a:solidFill>
                <a:cs typeface="宋体" panose="02010600030101010101" pitchFamily="2" charset="-122"/>
              </a:rPr>
              <a:t>最后一个</a:t>
            </a:r>
            <a:r>
              <a:rPr lang="zh-CN" altLang="en-US" dirty="0" smtClean="0">
                <a:solidFill>
                  <a:srgbClr val="0000FF"/>
                </a:solidFill>
                <a:cs typeface="宋体" panose="02010600030101010101" pitchFamily="2" charset="-122"/>
              </a:rPr>
              <a:t>元素</a:t>
            </a:r>
            <a:r>
              <a:rPr lang="en-US" altLang="zh-CN" i="1" dirty="0" smtClean="0">
                <a:solidFill>
                  <a:srgbClr val="0000FF"/>
                </a:solidFill>
                <a:cs typeface="宋体" panose="02010600030101010101" pitchFamily="2" charset="-122"/>
              </a:rPr>
              <a:t>L</a:t>
            </a:r>
            <a:r>
              <a:rPr lang="en-US" altLang="zh-CN" dirty="0" smtClean="0">
                <a:solidFill>
                  <a:srgbClr val="0000FF"/>
                </a:solidFill>
                <a:cs typeface="宋体" panose="02010600030101010101" pitchFamily="2" charset="-122"/>
              </a:rPr>
              <a:t>[</a:t>
            </a:r>
            <a:r>
              <a:rPr lang="en-US" altLang="zh-CN" i="1" dirty="0">
                <a:solidFill>
                  <a:srgbClr val="0000FF"/>
                </a:solidFill>
                <a:cs typeface="宋体" panose="02010600030101010101" pitchFamily="2" charset="-122"/>
              </a:rPr>
              <a:t>n</a:t>
            </a:r>
            <a:r>
              <a:rPr lang="en-US" altLang="zh-CN" dirty="0" smtClean="0">
                <a:solidFill>
                  <a:srgbClr val="0000FF"/>
                </a:solidFill>
                <a:cs typeface="宋体" panose="02010600030101010101" pitchFamily="2" charset="-122"/>
              </a:rPr>
              <a:t>-1</a:t>
            </a:r>
            <a:r>
              <a:rPr lang="en-US" altLang="zh-CN" dirty="0">
                <a:solidFill>
                  <a:srgbClr val="0000FF"/>
                </a:solidFill>
                <a:cs typeface="宋体" panose="02010600030101010101" pitchFamily="2" charset="-122"/>
              </a:rPr>
              <a:t>]</a:t>
            </a:r>
            <a:r>
              <a:rPr lang="zh-CN" altLang="en-US" dirty="0">
                <a:solidFill>
                  <a:srgbClr val="0000FF"/>
                </a:solidFill>
                <a:cs typeface="宋体" panose="02010600030101010101" pitchFamily="2" charset="-122"/>
              </a:rPr>
              <a:t>等于</a:t>
            </a:r>
            <a:r>
              <a:rPr lang="en-US" altLang="zh-CN" i="1" dirty="0">
                <a:solidFill>
                  <a:srgbClr val="0000FF"/>
                </a:solidFill>
                <a:cs typeface="宋体" panose="02010600030101010101" pitchFamily="2" charset="-122"/>
              </a:rPr>
              <a:t>x</a:t>
            </a:r>
            <a:r>
              <a:rPr lang="zh-CN" altLang="en-US" dirty="0">
                <a:solidFill>
                  <a:srgbClr val="0000FF"/>
                </a:solidFill>
                <a:cs typeface="宋体" panose="02010600030101010101" pitchFamily="2" charset="-122"/>
              </a:rPr>
              <a:t>，此时基本语句执行</a:t>
            </a:r>
            <a:r>
              <a:rPr lang="en-US" altLang="zh-CN" i="1" dirty="0">
                <a:solidFill>
                  <a:srgbClr val="0000FF"/>
                </a:solidFill>
                <a:cs typeface="宋体" panose="02010600030101010101" pitchFamily="2" charset="-122"/>
              </a:rPr>
              <a:t>n</a:t>
            </a:r>
            <a:r>
              <a:rPr lang="zh-CN" altLang="en-US" dirty="0">
                <a:solidFill>
                  <a:srgbClr val="0000FF"/>
                </a:solidFill>
                <a:cs typeface="宋体" panose="02010600030101010101" pitchFamily="2" charset="-122"/>
              </a:rPr>
              <a:t>次，此时呈现</a:t>
            </a:r>
            <a:r>
              <a:rPr lang="zh-CN" altLang="en-US" dirty="0">
                <a:solidFill>
                  <a:srgbClr val="C00000"/>
                </a:solidFill>
                <a:cs typeface="宋体" panose="02010600030101010101" pitchFamily="2" charset="-122"/>
              </a:rPr>
              <a:t>最坏的情况</a:t>
            </a:r>
            <a:r>
              <a:rPr lang="zh-CN" altLang="en-US" dirty="0">
                <a:solidFill>
                  <a:srgbClr val="0000FF"/>
                </a:solidFill>
                <a:cs typeface="宋体" panose="02010600030101010101" pitchFamily="2" charset="-122"/>
              </a:rPr>
              <a:t>，即</a:t>
            </a:r>
            <a:r>
              <a:rPr lang="en-US" altLang="zh-CN" i="1" dirty="0">
                <a:solidFill>
                  <a:srgbClr val="0000FF"/>
                </a:solidFill>
                <a:cs typeface="宋体" panose="02010600030101010101" pitchFamily="2" charset="-122"/>
              </a:rPr>
              <a:t>W(n)</a:t>
            </a:r>
            <a:r>
              <a:rPr lang="en-US" altLang="zh-CN" dirty="0">
                <a:solidFill>
                  <a:srgbClr val="0000FF"/>
                </a:solidFill>
                <a:cs typeface="宋体" panose="02010600030101010101" pitchFamily="2" charset="-122"/>
              </a:rPr>
              <a:t>=</a:t>
            </a:r>
            <a:r>
              <a:rPr lang="en-US" altLang="zh-CN" i="1" dirty="0">
                <a:solidFill>
                  <a:srgbClr val="0000FF"/>
                </a:solidFill>
                <a:cs typeface="宋体" panose="02010600030101010101" pitchFamily="2" charset="-122"/>
              </a:rPr>
              <a:t>O(n)</a:t>
            </a:r>
            <a:r>
              <a:rPr lang="zh-CN" altLang="en-US" dirty="0" smtClean="0">
                <a:solidFill>
                  <a:srgbClr val="0000FF"/>
                </a:solidFill>
                <a:cs typeface="宋体" panose="02010600030101010101" pitchFamily="2" charset="-122"/>
              </a:rPr>
              <a:t>。</a:t>
            </a:r>
            <a:endParaRPr lang="en-US" altLang="zh-CN" dirty="0" smtClean="0">
              <a:solidFill>
                <a:schemeClr val="bg2"/>
              </a:solidFill>
              <a:cs typeface="宋体" panose="02010600030101010101" pitchFamily="2" charset="-122"/>
            </a:endParaRPr>
          </a:p>
          <a:p>
            <a:pPr marL="800100" lvl="1" indent="-342900">
              <a:lnSpc>
                <a:spcPct val="130000"/>
              </a:lnSpc>
              <a:buFont typeface="Wingdings" panose="05000000000000000000" pitchFamily="2" charset="2"/>
              <a:buChar char="ü"/>
            </a:pPr>
            <a:r>
              <a:rPr lang="zh-CN" altLang="en-US" dirty="0" smtClean="0">
                <a:solidFill>
                  <a:schemeClr val="bg2"/>
                </a:solidFill>
                <a:cs typeface="宋体" panose="02010600030101010101" pitchFamily="2" charset="-122"/>
              </a:rPr>
              <a:t>平均</a:t>
            </a:r>
            <a:r>
              <a:rPr lang="zh-CN" altLang="en-US" dirty="0">
                <a:solidFill>
                  <a:schemeClr val="bg2"/>
                </a:solidFill>
                <a:cs typeface="宋体" panose="02010600030101010101" pitchFamily="2" charset="-122"/>
              </a:rPr>
              <a:t>时间复杂</a:t>
            </a:r>
            <a:r>
              <a:rPr lang="zh-CN" altLang="en-US" dirty="0" smtClean="0">
                <a:solidFill>
                  <a:schemeClr val="bg2"/>
                </a:solidFill>
                <a:cs typeface="宋体" panose="02010600030101010101" pitchFamily="2" charset="-122"/>
              </a:rPr>
              <a:t>度</a:t>
            </a:r>
            <a:endParaRPr lang="zh-CN" altLang="en-US" dirty="0">
              <a:solidFill>
                <a:schemeClr val="bg2"/>
              </a:solidFill>
              <a:cs typeface="宋体" panose="02010600030101010101" pitchFamily="2" charset="-122"/>
            </a:endParaRPr>
          </a:p>
        </p:txBody>
      </p:sp>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991">
                                            <p:txEl>
                                              <p:pRg st="2" end="2"/>
                                            </p:txEl>
                                          </p:spTgt>
                                        </p:tgtEl>
                                        <p:attrNameLst>
                                          <p:attrName>style.visibility</p:attrName>
                                        </p:attrNameLst>
                                      </p:cBhvr>
                                      <p:to>
                                        <p:strVal val="visible"/>
                                      </p:to>
                                    </p:set>
                                    <p:animEffect transition="in" filter="wipe(left)">
                                      <p:cBhvr>
                                        <p:cTn id="7" dur="500"/>
                                        <p:tgtEl>
                                          <p:spTgt spid="4199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991">
                                            <p:txEl>
                                              <p:pRg st="4" end="4"/>
                                            </p:txEl>
                                          </p:spTgt>
                                        </p:tgtEl>
                                        <p:attrNameLst>
                                          <p:attrName>style.visibility</p:attrName>
                                        </p:attrNameLst>
                                      </p:cBhvr>
                                      <p:to>
                                        <p:strVal val="visible"/>
                                      </p:to>
                                    </p:set>
                                    <p:animEffect transition="in" filter="wipe(left)">
                                      <p:cBhvr>
                                        <p:cTn id="12" dur="500"/>
                                        <p:tgtEl>
                                          <p:spTgt spid="419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1" name="Text Box 4"/>
          <p:cNvSpPr txBox="1"/>
          <p:nvPr/>
        </p:nvSpPr>
        <p:spPr>
          <a:xfrm>
            <a:off x="354236" y="1647150"/>
            <a:ext cx="7848600" cy="570865"/>
          </a:xfrm>
          <a:prstGeom prst="rect">
            <a:avLst/>
          </a:prstGeom>
          <a:noFill/>
          <a:ln w="9525">
            <a:noFill/>
          </a:ln>
        </p:spPr>
        <p:txBody>
          <a:bodyPr>
            <a:spAutoFit/>
          </a:bodyPr>
          <a:lstStyle/>
          <a:p>
            <a:pPr marL="800100" lvl="1" indent="-342900">
              <a:lnSpc>
                <a:spcPct val="130000"/>
              </a:lnSpc>
              <a:buFont typeface="Wingdings" panose="05000000000000000000" pitchFamily="2" charset="2"/>
              <a:buChar char="ü"/>
            </a:pPr>
            <a:r>
              <a:rPr lang="zh-CN" altLang="en-US" dirty="0" smtClean="0">
                <a:solidFill>
                  <a:schemeClr val="bg2"/>
                </a:solidFill>
                <a:latin typeface="宋体" panose="02010600030101010101" pitchFamily="2" charset="-122"/>
              </a:rPr>
              <a:t>平均</a:t>
            </a:r>
            <a:r>
              <a:rPr lang="zh-CN" altLang="en-US" dirty="0">
                <a:solidFill>
                  <a:schemeClr val="bg2"/>
                </a:solidFill>
                <a:latin typeface="宋体" panose="02010600030101010101" pitchFamily="2" charset="-122"/>
              </a:rPr>
              <a:t>时间复杂</a:t>
            </a:r>
            <a:r>
              <a:rPr lang="zh-CN" altLang="en-US" dirty="0" smtClean="0">
                <a:solidFill>
                  <a:schemeClr val="bg2"/>
                </a:solidFill>
                <a:latin typeface="宋体" panose="02010600030101010101" pitchFamily="2" charset="-122"/>
              </a:rPr>
              <a:t>度</a:t>
            </a:r>
            <a:endParaRPr lang="zh-CN" altLang="en-US" dirty="0">
              <a:solidFill>
                <a:schemeClr val="bg2"/>
              </a:solidFill>
              <a:latin typeface="宋体" panose="02010600030101010101" pitchFamily="2" charset="-122"/>
            </a:endParaRPr>
          </a:p>
        </p:txBody>
      </p:sp>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4" name="Text Box 3"/>
          <p:cNvSpPr txBox="1">
            <a:spLocks noChangeArrowheads="1"/>
          </p:cNvSpPr>
          <p:nvPr/>
        </p:nvSpPr>
        <p:spPr bwMode="auto">
          <a:xfrm>
            <a:off x="354236" y="3065802"/>
            <a:ext cx="8709025" cy="160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lang="zh-CN" altLang="en-US" dirty="0" smtClean="0">
                <a:solidFill>
                  <a:srgbClr val="0000FF"/>
                </a:solidFill>
                <a:uFillTx/>
                <a:cs typeface="Consolas" panose="020B0609020204030204" pitchFamily="49" charset="0"/>
              </a:rPr>
              <a:t>对于</a:t>
            </a:r>
            <a:r>
              <a:rPr lang="zh-CN" altLang="en-US" dirty="0">
                <a:solidFill>
                  <a:srgbClr val="0000FF"/>
                </a:solidFill>
                <a:uFillTx/>
                <a:cs typeface="Consolas" panose="020B0609020204030204" pitchFamily="49" charset="0"/>
              </a:rPr>
              <a:t>其他情况，假设查找每个元素的概率相同，则</a:t>
            </a:r>
            <a:r>
              <a:rPr lang="en-US" altLang="zh-CN" i="1" dirty="0" smtClean="0">
                <a:solidFill>
                  <a:srgbClr val="0000FF"/>
                </a:solidFill>
                <a:uFillTx/>
                <a:cs typeface="Times New Roman" panose="02020603050405020304" pitchFamily="18" charset="0"/>
              </a:rPr>
              <a:t>P</a:t>
            </a:r>
            <a:r>
              <a:rPr lang="en-US" altLang="zh-CN" dirty="0" smtClean="0">
                <a:solidFill>
                  <a:srgbClr val="0000FF"/>
                </a:solidFill>
                <a:uFillTx/>
                <a:cs typeface="Consolas" panose="020B0609020204030204" pitchFamily="49" charset="0"/>
              </a:rPr>
              <a:t>(</a:t>
            </a:r>
            <a:r>
              <a:rPr lang="en-US" altLang="zh-CN" i="1" dirty="0">
                <a:solidFill>
                  <a:srgbClr val="0000FF"/>
                </a:solidFill>
                <a:uFillTx/>
                <a:cs typeface="Times New Roman" panose="02020603050405020304" pitchFamily="18" charset="0"/>
              </a:rPr>
              <a:t>L</a:t>
            </a:r>
            <a:r>
              <a:rPr lang="en-US" altLang="zh-CN" dirty="0" smtClean="0">
                <a:solidFill>
                  <a:srgbClr val="0000FF"/>
                </a:solidFill>
                <a:uFillTx/>
                <a:cs typeface="Consolas" panose="020B0609020204030204" pitchFamily="49" charset="0"/>
              </a:rPr>
              <a:t>[</a:t>
            </a:r>
            <a:r>
              <a:rPr lang="en-US" altLang="zh-CN" i="1" dirty="0" err="1">
                <a:solidFill>
                  <a:srgbClr val="0000FF"/>
                </a:solidFill>
                <a:uFillTx/>
                <a:cs typeface="Times New Roman" panose="02020603050405020304" pitchFamily="18" charset="0"/>
              </a:rPr>
              <a:t>i</a:t>
            </a:r>
            <a:r>
              <a:rPr lang="en-US" altLang="zh-CN" dirty="0">
                <a:solidFill>
                  <a:srgbClr val="0000FF"/>
                </a:solidFill>
                <a:uFillTx/>
                <a:cs typeface="Consolas" panose="020B0609020204030204" pitchFamily="49" charset="0"/>
              </a:rPr>
              <a:t>])=</a:t>
            </a:r>
            <a:r>
              <a:rPr lang="en-US" altLang="zh-CN" dirty="0" smtClean="0">
                <a:solidFill>
                  <a:srgbClr val="0000FF"/>
                </a:solidFill>
                <a:uFillTx/>
                <a:cs typeface="Consolas" panose="020B0609020204030204" pitchFamily="49" charset="0"/>
              </a:rPr>
              <a:t>1/</a:t>
            </a:r>
            <a:r>
              <a:rPr lang="en-US" altLang="zh-CN" i="1" dirty="0" smtClean="0">
                <a:solidFill>
                  <a:srgbClr val="0000FF"/>
                </a:solidFill>
                <a:uFillTx/>
                <a:cs typeface="Times New Roman" panose="02020603050405020304" pitchFamily="18" charset="0"/>
              </a:rPr>
              <a:t>n</a:t>
            </a:r>
            <a:endParaRPr lang="en-US" altLang="zh-CN" i="1" dirty="0" smtClean="0">
              <a:solidFill>
                <a:srgbClr val="0000FF"/>
              </a:solidFill>
              <a:uFillTx/>
              <a:cs typeface="Times New Roman" panose="02020603050405020304" pitchFamily="18" charset="0"/>
            </a:endParaRPr>
          </a:p>
          <a:p>
            <a:pPr>
              <a:lnSpc>
                <a:spcPct val="120000"/>
              </a:lnSpc>
              <a:spcBef>
                <a:spcPct val="50000"/>
              </a:spcBef>
            </a:pPr>
            <a:r>
              <a:rPr lang="zh-CN" altLang="en-US" dirty="0" smtClean="0">
                <a:solidFill>
                  <a:srgbClr val="0000FF"/>
                </a:solidFill>
                <a:uFillTx/>
                <a:cs typeface="Consolas" panose="020B0609020204030204" pitchFamily="49" charset="0"/>
              </a:rPr>
              <a:t>（</a:t>
            </a:r>
            <a:r>
              <a:rPr lang="en-US" altLang="zh-CN" i="1" dirty="0">
                <a:solidFill>
                  <a:srgbClr val="0000FF"/>
                </a:solidFill>
                <a:uFillTx/>
                <a:cs typeface="Times New Roman" panose="02020603050405020304" pitchFamily="18" charset="0"/>
              </a:rPr>
              <a:t>1≤i≤n</a:t>
            </a:r>
            <a:r>
              <a:rPr lang="zh-CN" altLang="en-US" dirty="0" smtClean="0">
                <a:solidFill>
                  <a:srgbClr val="0000FF"/>
                </a:solidFill>
                <a:uFillTx/>
              </a:rPr>
              <a:t>），</a:t>
            </a:r>
            <a:r>
              <a:rPr lang="zh-CN" altLang="en-US" dirty="0">
                <a:solidFill>
                  <a:srgbClr val="0000FF"/>
                </a:solidFill>
                <a:uFillTx/>
              </a:rPr>
              <a:t>而成功</a:t>
            </a:r>
            <a:r>
              <a:rPr lang="zh-CN" altLang="en-US" dirty="0" smtClean="0">
                <a:solidFill>
                  <a:srgbClr val="0000FF"/>
                </a:solidFill>
                <a:uFillTx/>
              </a:rPr>
              <a:t>找到</a:t>
            </a:r>
            <a:r>
              <a:rPr lang="en-US" altLang="zh-CN" i="1" dirty="0">
                <a:solidFill>
                  <a:srgbClr val="0000FF"/>
                </a:solidFill>
                <a:uFillTx/>
                <a:cs typeface="Times New Roman" panose="02020603050405020304" pitchFamily="18" charset="0"/>
              </a:rPr>
              <a:t>L</a:t>
            </a:r>
            <a:r>
              <a:rPr lang="en-US" altLang="zh-CN" dirty="0" smtClean="0">
                <a:solidFill>
                  <a:srgbClr val="0000FF"/>
                </a:solidFill>
                <a:uFillTx/>
              </a:rPr>
              <a:t>[</a:t>
            </a:r>
            <a:r>
              <a:rPr lang="en-US" altLang="zh-CN" i="1" dirty="0" err="1">
                <a:solidFill>
                  <a:srgbClr val="0000FF"/>
                </a:solidFill>
                <a:uFillTx/>
                <a:cs typeface="Times New Roman" panose="02020603050405020304" pitchFamily="18" charset="0"/>
              </a:rPr>
              <a:t>i</a:t>
            </a:r>
            <a:r>
              <a:rPr lang="en-US" altLang="zh-CN" dirty="0">
                <a:solidFill>
                  <a:srgbClr val="0000FF"/>
                </a:solidFill>
                <a:uFillTx/>
              </a:rPr>
              <a:t>]</a:t>
            </a:r>
            <a:r>
              <a:rPr lang="zh-CN" altLang="en-US" dirty="0">
                <a:solidFill>
                  <a:srgbClr val="0000FF"/>
                </a:solidFill>
                <a:uFillTx/>
              </a:rPr>
              <a:t>元素时基本语句正好执行</a:t>
            </a:r>
            <a:r>
              <a:rPr lang="en-US" altLang="zh-CN" i="1" dirty="0" err="1">
                <a:solidFill>
                  <a:srgbClr val="0000FF"/>
                </a:solidFill>
                <a:uFillTx/>
                <a:cs typeface="Times New Roman" panose="02020603050405020304" pitchFamily="18" charset="0"/>
              </a:rPr>
              <a:t>i</a:t>
            </a:r>
            <a:r>
              <a:rPr lang="zh-CN" altLang="en-US" dirty="0" smtClean="0">
                <a:solidFill>
                  <a:srgbClr val="0000FF"/>
                </a:solidFill>
                <a:uFillTx/>
              </a:rPr>
              <a:t>次</a:t>
            </a:r>
            <a:r>
              <a:rPr lang="zh-CN" altLang="en-US" dirty="0">
                <a:solidFill>
                  <a:srgbClr val="0000FF"/>
                </a:solidFill>
                <a:uFillTx/>
              </a:rPr>
              <a:t>，所以：</a:t>
            </a:r>
            <a:endParaRPr lang="zh-CN" altLang="en-US" dirty="0">
              <a:solidFill>
                <a:srgbClr val="0000FF"/>
              </a:solidFill>
              <a:uFillTx/>
            </a:endParaRPr>
          </a:p>
        </p:txBody>
      </p:sp>
      <p:sp>
        <p:nvSpPr>
          <p:cNvPr id="6" name="Rectangle 6"/>
          <p:cNvSpPr>
            <a:spLocks noChangeArrowheads="1"/>
          </p:cNvSpPr>
          <p:nvPr/>
        </p:nvSpPr>
        <p:spPr bwMode="auto">
          <a:xfrm>
            <a:off x="197971" y="2736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pic>
        <p:nvPicPr>
          <p:cNvPr id="8" name="20 7"/>
          <p:cNvPicPr>
            <a:picLocks noChangeAspect="1"/>
          </p:cNvPicPr>
          <p:nvPr/>
        </p:nvPicPr>
        <p:blipFill rotWithShape="1">
          <a:blip r:embed="rId1"/>
          <a:srcRect t="26450"/>
          <a:stretch>
            <a:fillRect/>
          </a:stretch>
        </p:blipFill>
        <p:spPr>
          <a:xfrm>
            <a:off x="1566709" y="2361435"/>
            <a:ext cx="6120765" cy="713637"/>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3261296" y="3192082"/>
                <a:ext cx="2621280" cy="4737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a:fld id="{A014E3AA-ED43-4096-A193-A1A0533394C9}" type="mathplaceholder">
                        <a:rPr lang="zh-CN" altLang="en-US" i="1">
                          <a:latin typeface="Cambria Math" panose="02040503050406030204" charset="0"/>
                          <a:cs typeface="Cambria Math" panose="02040503050406030204" charset="0"/>
                        </a:rPr>
                        <a:t>在此处键入公式。</a:t>
                      </a:fld>
                    </m:oMath>
                  </m:oMathPara>
                </a14:m>
                <a:endParaRPr lang="zh-CN" altLang="en-US"/>
              </a:p>
            </p:txBody>
          </p:sp>
        </mc:Choice>
        <mc:Fallback>
          <p:sp>
            <p:nvSpPr>
              <p:cNvPr id="2" name="文本框 1"/>
              <p:cNvSpPr txBox="1">
                <a:spLocks noRot="1" noChangeAspect="1" noMove="1" noResize="1" noEditPoints="1" noAdjustHandles="1" noChangeArrowheads="1" noChangeShapeType="1" noTextEdit="1"/>
              </p:cNvSpPr>
              <p:nvPr/>
            </p:nvSpPr>
            <p:spPr>
              <a:xfrm>
                <a:off x="3261296" y="3192082"/>
                <a:ext cx="2621280" cy="473710"/>
              </a:xfrm>
              <a:prstGeom prst="rect">
                <a:avLst/>
              </a:prstGeom>
              <a:blipFill rotWithShape="1">
                <a:blip r:embed="rId2"/>
                <a:stretch>
                  <a:fillRect l="-22" t="-121" r="22" b="121"/>
                </a:stretch>
              </a:blipFill>
            </p:spPr>
            <p:txBody>
              <a:bodyPr/>
              <a:lstStyle/>
              <a:p>
                <a:r>
                  <a:rPr lang="zh-CN" altLang="en-US">
                    <a:noFill/>
                  </a:rPr>
                  <a:t> </a:t>
                </a:r>
              </a:p>
            </p:txBody>
          </p:sp>
        </mc:Fallback>
      </mc:AlternateContent>
      <p:graphicFrame>
        <p:nvGraphicFramePr>
          <p:cNvPr id="5" name="对象 4">
            <a:hlinkClick r:id="" action="ppaction://ole?verb="/>
          </p:cNvPr>
          <p:cNvGraphicFramePr>
            <a:graphicFrameLocks noChangeAspect="1"/>
          </p:cNvGraphicFramePr>
          <p:nvPr/>
        </p:nvGraphicFramePr>
        <p:xfrm>
          <a:off x="828040" y="4653915"/>
          <a:ext cx="7741285" cy="1110615"/>
        </p:xfrm>
        <a:graphic>
          <a:graphicData uri="http://schemas.openxmlformats.org/presentationml/2006/ole">
            <mc:AlternateContent xmlns:mc="http://schemas.openxmlformats.org/markup-compatibility/2006">
              <mc:Choice xmlns:v="urn:schemas-microsoft-com:vml" Requires="v">
                <p:oleObj spid="_x0000_s1025" name="" r:id="rId3" imgW="3009900" imgH="431800" progId="Equation.KSEE3">
                  <p:embed/>
                </p:oleObj>
              </mc:Choice>
              <mc:Fallback>
                <p:oleObj name="" r:id="rId3" imgW="3009900" imgH="431800" progId="Equation.KSEE3">
                  <p:embed/>
                  <p:pic>
                    <p:nvPicPr>
                      <p:cNvPr id="0" name="20 1024"/>
                      <p:cNvPicPr/>
                      <p:nvPr/>
                    </p:nvPicPr>
                    <p:blipFill>
                      <a:blip r:embed="rId4"/>
                      <a:stretch>
                        <a:fillRect/>
                      </a:stretch>
                    </p:blipFill>
                    <p:spPr>
                      <a:xfrm>
                        <a:off x="828040" y="4653915"/>
                        <a:ext cx="7741285" cy="1110615"/>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1640329"/>
            <a:ext cx="7193280" cy="570865"/>
          </a:xfrm>
          <a:prstGeom prst="rect">
            <a:avLst/>
          </a:prstGeom>
          <a:noFill/>
        </p:spPr>
        <p:txBody>
          <a:bodyPr wrap="none" rtlCol="0" anchor="t">
            <a:spAutoFit/>
          </a:bodyPr>
          <a:lstStyle/>
          <a:p>
            <a:pPr>
              <a:lnSpc>
                <a:spcPct val="130000"/>
              </a:lnSpc>
            </a:pPr>
            <a:r>
              <a:rPr lang="en-US" altLang="zh-CN" dirty="0" smtClean="0">
                <a:solidFill>
                  <a:schemeClr val="bg2"/>
                </a:solidFill>
                <a:latin typeface="宋体" panose="02010600030101010101" pitchFamily="2" charset="-122"/>
                <a:cs typeface="宋体" panose="02010600030101010101" pitchFamily="2" charset="-122"/>
                <a:sym typeface="+mn-ea"/>
              </a:rPr>
              <a:t>(2) </a:t>
            </a:r>
            <a:r>
              <a:rPr lang="zh-CN" altLang="en-US" dirty="0" smtClean="0">
                <a:solidFill>
                  <a:schemeClr val="bg2"/>
                </a:solidFill>
                <a:latin typeface="宋体" panose="02010600030101010101" pitchFamily="2" charset="-122"/>
                <a:cs typeface="宋体" panose="02010600030101010101" pitchFamily="2" charset="-122"/>
                <a:sym typeface="+mn-ea"/>
              </a:rPr>
              <a:t>该问题可设计多少个输入实例进行复杂度分析？</a:t>
            </a:r>
            <a:endParaRPr lang="zh-CN" altLang="en-US" dirty="0">
              <a:latin typeface="宋体" panose="02010600030101010101" pitchFamily="2" charset="-122"/>
              <a:cs typeface="宋体" panose="02010600030101010101" pitchFamily="2" charset="-122"/>
            </a:endParaRPr>
          </a:p>
        </p:txBody>
      </p:sp>
      <p:sp>
        <p:nvSpPr>
          <p:cNvPr id="3"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4" name="矩形 3"/>
          <p:cNvSpPr/>
          <p:nvPr/>
        </p:nvSpPr>
        <p:spPr>
          <a:xfrm>
            <a:off x="651459" y="2732167"/>
            <a:ext cx="5075452" cy="1198880"/>
          </a:xfrm>
          <a:prstGeom prst="rect">
            <a:avLst/>
          </a:prstGeom>
        </p:spPr>
        <p:txBody>
          <a:bodyPr wrap="square">
            <a:spAutoFit/>
          </a:bodyPr>
          <a:lstStyle/>
          <a:p>
            <a:pPr>
              <a:lnSpc>
                <a:spcPct val="150000"/>
              </a:lnSpc>
            </a:pPr>
            <a:r>
              <a:rPr lang="zh-CN" altLang="en-US" dirty="0" smtClean="0">
                <a:solidFill>
                  <a:schemeClr val="bg2"/>
                </a:solidFill>
                <a:uFillTx/>
              </a:rPr>
              <a:t>查找成功：</a:t>
            </a:r>
            <a:endParaRPr lang="en-US" altLang="zh-CN" dirty="0" smtClean="0">
              <a:solidFill>
                <a:schemeClr val="bg2"/>
              </a:solidFill>
              <a:uFillTx/>
            </a:endParaRPr>
          </a:p>
          <a:p>
            <a:pPr>
              <a:lnSpc>
                <a:spcPct val="150000"/>
              </a:lnSpc>
            </a:pPr>
            <a:r>
              <a:rPr lang="en-US" altLang="zh-CN" b="1" i="1" dirty="0">
                <a:solidFill>
                  <a:schemeClr val="bg2"/>
                </a:solidFill>
                <a:uFillTx/>
              </a:rPr>
              <a:t> </a:t>
            </a:r>
            <a:r>
              <a:rPr lang="en-US" altLang="zh-CN" b="1" i="1" dirty="0" smtClean="0">
                <a:solidFill>
                  <a:schemeClr val="bg2"/>
                </a:solidFill>
                <a:uFillTx/>
              </a:rPr>
              <a:t>   </a:t>
            </a:r>
            <a:r>
              <a:rPr lang="pt-BR" altLang="zh-CN" b="1" i="1" dirty="0" smtClean="0">
                <a:solidFill>
                  <a:schemeClr val="bg2"/>
                </a:solidFill>
                <a:uFillTx/>
              </a:rPr>
              <a:t>x </a:t>
            </a:r>
            <a:r>
              <a:rPr lang="pt-BR" altLang="zh-CN" b="1" dirty="0">
                <a:solidFill>
                  <a:schemeClr val="bg2"/>
                </a:solidFill>
                <a:uFillTx/>
              </a:rPr>
              <a:t>= </a:t>
            </a:r>
            <a:r>
              <a:rPr lang="pt-BR" altLang="zh-CN" b="1" i="1" dirty="0">
                <a:solidFill>
                  <a:schemeClr val="bg2"/>
                </a:solidFill>
                <a:uFillTx/>
              </a:rPr>
              <a:t>L</a:t>
            </a:r>
            <a:r>
              <a:rPr lang="pt-BR" altLang="zh-CN" b="1" dirty="0">
                <a:solidFill>
                  <a:schemeClr val="bg2"/>
                </a:solidFill>
                <a:uFillTx/>
              </a:rPr>
              <a:t>[1], </a:t>
            </a:r>
            <a:r>
              <a:rPr lang="pt-BR" altLang="zh-CN" b="1" dirty="0" smtClean="0">
                <a:solidFill>
                  <a:schemeClr val="bg2"/>
                </a:solidFill>
                <a:uFillTx/>
              </a:rPr>
              <a:t> </a:t>
            </a:r>
            <a:r>
              <a:rPr lang="pt-BR" altLang="zh-CN" b="1" i="1" dirty="0" smtClean="0">
                <a:solidFill>
                  <a:schemeClr val="bg2"/>
                </a:solidFill>
                <a:uFillTx/>
              </a:rPr>
              <a:t>x </a:t>
            </a:r>
            <a:r>
              <a:rPr lang="pt-BR" altLang="zh-CN" b="1" dirty="0">
                <a:solidFill>
                  <a:schemeClr val="bg2"/>
                </a:solidFill>
                <a:uFillTx/>
              </a:rPr>
              <a:t>= </a:t>
            </a:r>
            <a:r>
              <a:rPr lang="pt-BR" altLang="zh-CN" b="1" i="1" dirty="0">
                <a:solidFill>
                  <a:schemeClr val="bg2"/>
                </a:solidFill>
                <a:uFillTx/>
              </a:rPr>
              <a:t>L</a:t>
            </a:r>
            <a:r>
              <a:rPr lang="pt-BR" altLang="zh-CN" b="1" dirty="0">
                <a:solidFill>
                  <a:schemeClr val="bg2"/>
                </a:solidFill>
                <a:uFillTx/>
              </a:rPr>
              <a:t>[2], </a:t>
            </a:r>
            <a:r>
              <a:rPr lang="pt-BR" altLang="zh-CN" b="1" dirty="0" smtClean="0">
                <a:solidFill>
                  <a:schemeClr val="bg2"/>
                </a:solidFill>
                <a:uFillTx/>
              </a:rPr>
              <a:t> ...  ,  </a:t>
            </a:r>
            <a:r>
              <a:rPr lang="pt-BR" altLang="zh-CN" b="1" i="1" dirty="0" smtClean="0">
                <a:solidFill>
                  <a:schemeClr val="bg2"/>
                </a:solidFill>
                <a:uFillTx/>
              </a:rPr>
              <a:t>x </a:t>
            </a:r>
            <a:r>
              <a:rPr lang="pt-BR" altLang="zh-CN" b="1" dirty="0">
                <a:solidFill>
                  <a:schemeClr val="bg2"/>
                </a:solidFill>
                <a:uFillTx/>
              </a:rPr>
              <a:t>= </a:t>
            </a:r>
            <a:r>
              <a:rPr lang="pt-BR" altLang="zh-CN" b="1" i="1" dirty="0">
                <a:solidFill>
                  <a:schemeClr val="bg2"/>
                </a:solidFill>
                <a:uFillTx/>
              </a:rPr>
              <a:t>L</a:t>
            </a:r>
            <a:r>
              <a:rPr lang="pt-BR" altLang="zh-CN" b="1" dirty="0">
                <a:solidFill>
                  <a:schemeClr val="bg2"/>
                </a:solidFill>
                <a:uFillTx/>
              </a:rPr>
              <a:t>[</a:t>
            </a:r>
            <a:r>
              <a:rPr lang="pt-BR" altLang="zh-CN" b="1" i="1" dirty="0">
                <a:solidFill>
                  <a:schemeClr val="bg2"/>
                </a:solidFill>
                <a:uFillTx/>
              </a:rPr>
              <a:t>n</a:t>
            </a:r>
            <a:r>
              <a:rPr lang="pt-BR" altLang="zh-CN" b="1" dirty="0">
                <a:solidFill>
                  <a:schemeClr val="bg2"/>
                </a:solidFill>
                <a:uFillTx/>
              </a:rPr>
              <a:t>]</a:t>
            </a:r>
            <a:r>
              <a:rPr lang="pt-BR" altLang="zh-CN" dirty="0">
                <a:solidFill>
                  <a:schemeClr val="bg2"/>
                </a:solidFill>
                <a:uFillTx/>
              </a:rPr>
              <a:t> </a:t>
            </a:r>
            <a:endParaRPr lang="pt-BR" altLang="zh-CN" dirty="0">
              <a:solidFill>
                <a:schemeClr val="bg2"/>
              </a:solidFill>
              <a:uFillTx/>
            </a:endParaRPr>
          </a:p>
        </p:txBody>
      </p:sp>
      <p:sp>
        <p:nvSpPr>
          <p:cNvPr id="5" name="文本框 1"/>
          <p:cNvSpPr txBox="1"/>
          <p:nvPr/>
        </p:nvSpPr>
        <p:spPr>
          <a:xfrm>
            <a:off x="2258885" y="2803965"/>
            <a:ext cx="3191510" cy="570865"/>
          </a:xfrm>
          <a:prstGeom prst="rect">
            <a:avLst/>
          </a:prstGeom>
          <a:noFill/>
        </p:spPr>
        <p:txBody>
          <a:bodyPr wrap="none" rtlCol="0" anchor="t">
            <a:spAutoFit/>
          </a:bodyPr>
          <a:lstStyle/>
          <a:p>
            <a:pPr>
              <a:lnSpc>
                <a:spcPct val="130000"/>
              </a:lnSpc>
            </a:pPr>
            <a:r>
              <a:rPr lang="en-US" altLang="zh-CN" b="1" i="1" dirty="0" smtClean="0">
                <a:solidFill>
                  <a:schemeClr val="accent2"/>
                </a:solidFill>
                <a:uFillTx/>
                <a:cs typeface="Times New Roman" panose="02020603050405020304" pitchFamily="18" charset="0"/>
              </a:rPr>
              <a:t>n</a:t>
            </a:r>
            <a:r>
              <a:rPr lang="zh-CN" altLang="en-US" b="1" dirty="0" smtClean="0">
                <a:solidFill>
                  <a:schemeClr val="accent2"/>
                </a:solidFill>
                <a:uFillTx/>
              </a:rPr>
              <a:t>个实例，比较次数为</a:t>
            </a:r>
            <a:r>
              <a:rPr lang="en-US" altLang="zh-CN" b="1" i="1" dirty="0" err="1" smtClean="0">
                <a:solidFill>
                  <a:schemeClr val="accent2"/>
                </a:solidFill>
                <a:uFillTx/>
                <a:cs typeface="Times New Roman" panose="02020603050405020304" pitchFamily="18" charset="0"/>
              </a:rPr>
              <a:t>i</a:t>
            </a:r>
            <a:endParaRPr lang="en-US" altLang="zh-CN" b="1" i="1" dirty="0" err="1" smtClean="0">
              <a:solidFill>
                <a:schemeClr val="accent2"/>
              </a:solidFill>
              <a:uFillTx/>
              <a:cs typeface="Times New Roman" panose="02020603050405020304" pitchFamily="18" charset="0"/>
            </a:endParaRPr>
          </a:p>
        </p:txBody>
      </p:sp>
      <p:sp>
        <p:nvSpPr>
          <p:cNvPr id="6" name="矩形 5"/>
          <p:cNvSpPr/>
          <p:nvPr/>
        </p:nvSpPr>
        <p:spPr>
          <a:xfrm>
            <a:off x="651459" y="3931538"/>
            <a:ext cx="6515612" cy="1198880"/>
          </a:xfrm>
          <a:prstGeom prst="rect">
            <a:avLst/>
          </a:prstGeom>
        </p:spPr>
        <p:txBody>
          <a:bodyPr wrap="square">
            <a:spAutoFit/>
          </a:bodyPr>
          <a:lstStyle/>
          <a:p>
            <a:pPr>
              <a:lnSpc>
                <a:spcPct val="150000"/>
              </a:lnSpc>
            </a:pPr>
            <a:r>
              <a:rPr lang="zh-CN" altLang="en-US" dirty="0" smtClean="0">
                <a:solidFill>
                  <a:schemeClr val="bg2"/>
                </a:solidFill>
                <a:uFillTx/>
              </a:rPr>
              <a:t>查找不成功：</a:t>
            </a:r>
            <a:endParaRPr lang="en-US" altLang="zh-CN" dirty="0" smtClean="0">
              <a:solidFill>
                <a:schemeClr val="bg2"/>
              </a:solidFill>
              <a:uFillTx/>
            </a:endParaRPr>
          </a:p>
          <a:p>
            <a:pPr>
              <a:lnSpc>
                <a:spcPct val="150000"/>
              </a:lnSpc>
            </a:pPr>
            <a:r>
              <a:rPr lang="en-US" altLang="zh-CN" b="1" i="1" dirty="0">
                <a:solidFill>
                  <a:schemeClr val="bg2"/>
                </a:solidFill>
                <a:uFillTx/>
              </a:rPr>
              <a:t>  </a:t>
            </a:r>
            <a:r>
              <a:rPr lang="pt-BR" altLang="zh-CN" b="1" i="1" dirty="0" smtClean="0">
                <a:solidFill>
                  <a:schemeClr val="bg2"/>
                </a:solidFill>
                <a:uFillTx/>
              </a:rPr>
              <a:t>x</a:t>
            </a:r>
            <a:r>
              <a:rPr lang="pt-BR" altLang="zh-CN" b="1" dirty="0" smtClean="0">
                <a:solidFill>
                  <a:schemeClr val="bg2"/>
                </a:solidFill>
                <a:uFillTx/>
              </a:rPr>
              <a:t>&lt;</a:t>
            </a:r>
            <a:r>
              <a:rPr lang="pt-BR" altLang="zh-CN" b="1" i="1" dirty="0" smtClean="0">
                <a:solidFill>
                  <a:schemeClr val="bg2"/>
                </a:solidFill>
                <a:uFillTx/>
              </a:rPr>
              <a:t>L</a:t>
            </a:r>
            <a:r>
              <a:rPr lang="pt-BR" altLang="zh-CN" b="1" dirty="0" smtClean="0">
                <a:solidFill>
                  <a:schemeClr val="bg2"/>
                </a:solidFill>
                <a:uFillTx/>
              </a:rPr>
              <a:t>[1</a:t>
            </a:r>
            <a:r>
              <a:rPr lang="pt-BR" altLang="zh-CN" b="1" dirty="0">
                <a:solidFill>
                  <a:schemeClr val="bg2"/>
                </a:solidFill>
                <a:uFillTx/>
              </a:rPr>
              <a:t>], </a:t>
            </a:r>
            <a:r>
              <a:rPr lang="pt-BR" altLang="zh-CN" b="1" i="1" dirty="0">
                <a:solidFill>
                  <a:schemeClr val="bg2"/>
                </a:solidFill>
                <a:uFillTx/>
              </a:rPr>
              <a:t>L</a:t>
            </a:r>
            <a:r>
              <a:rPr lang="pt-BR" altLang="zh-CN" b="1" dirty="0">
                <a:solidFill>
                  <a:schemeClr val="bg2"/>
                </a:solidFill>
                <a:uFillTx/>
              </a:rPr>
              <a:t>[1]&lt;</a:t>
            </a:r>
            <a:r>
              <a:rPr lang="pt-BR" altLang="zh-CN" b="1" i="1" dirty="0">
                <a:solidFill>
                  <a:schemeClr val="bg2"/>
                </a:solidFill>
                <a:uFillTx/>
              </a:rPr>
              <a:t>x</a:t>
            </a:r>
            <a:r>
              <a:rPr lang="pt-BR" altLang="zh-CN" b="1" dirty="0">
                <a:solidFill>
                  <a:schemeClr val="bg2"/>
                </a:solidFill>
                <a:uFillTx/>
              </a:rPr>
              <a:t>&lt;</a:t>
            </a:r>
            <a:r>
              <a:rPr lang="pt-BR" altLang="zh-CN" b="1" i="1" dirty="0">
                <a:solidFill>
                  <a:schemeClr val="bg2"/>
                </a:solidFill>
                <a:uFillTx/>
              </a:rPr>
              <a:t>L</a:t>
            </a:r>
            <a:r>
              <a:rPr lang="pt-BR" altLang="zh-CN" b="1" dirty="0">
                <a:solidFill>
                  <a:schemeClr val="bg2"/>
                </a:solidFill>
                <a:uFillTx/>
              </a:rPr>
              <a:t>[2], </a:t>
            </a:r>
            <a:r>
              <a:rPr lang="pt-BR" altLang="zh-CN" b="1" i="1" dirty="0">
                <a:solidFill>
                  <a:schemeClr val="bg2"/>
                </a:solidFill>
                <a:uFillTx/>
              </a:rPr>
              <a:t>L</a:t>
            </a:r>
            <a:r>
              <a:rPr lang="pt-BR" altLang="zh-CN" b="1" dirty="0">
                <a:solidFill>
                  <a:schemeClr val="bg2"/>
                </a:solidFill>
                <a:uFillTx/>
              </a:rPr>
              <a:t>[2]&lt;</a:t>
            </a:r>
            <a:r>
              <a:rPr lang="pt-BR" altLang="zh-CN" b="1" i="1" dirty="0">
                <a:solidFill>
                  <a:schemeClr val="bg2"/>
                </a:solidFill>
                <a:uFillTx/>
              </a:rPr>
              <a:t>x</a:t>
            </a:r>
            <a:r>
              <a:rPr lang="pt-BR" altLang="zh-CN" b="1" dirty="0">
                <a:solidFill>
                  <a:schemeClr val="bg2"/>
                </a:solidFill>
                <a:uFillTx/>
              </a:rPr>
              <a:t>&lt;</a:t>
            </a:r>
            <a:r>
              <a:rPr lang="pt-BR" altLang="zh-CN" b="1" i="1" dirty="0">
                <a:solidFill>
                  <a:schemeClr val="bg2"/>
                </a:solidFill>
                <a:uFillTx/>
              </a:rPr>
              <a:t>L</a:t>
            </a:r>
            <a:r>
              <a:rPr lang="pt-BR" altLang="zh-CN" b="1" dirty="0">
                <a:solidFill>
                  <a:schemeClr val="bg2"/>
                </a:solidFill>
                <a:uFillTx/>
              </a:rPr>
              <a:t>[3], ... , </a:t>
            </a:r>
            <a:r>
              <a:rPr lang="pt-BR" altLang="zh-CN" b="1" i="1" dirty="0">
                <a:solidFill>
                  <a:schemeClr val="bg2"/>
                </a:solidFill>
                <a:uFillTx/>
              </a:rPr>
              <a:t>L</a:t>
            </a:r>
            <a:r>
              <a:rPr lang="pt-BR" altLang="zh-CN" b="1" dirty="0">
                <a:solidFill>
                  <a:schemeClr val="bg2"/>
                </a:solidFill>
                <a:uFillTx/>
              </a:rPr>
              <a:t>[</a:t>
            </a:r>
            <a:r>
              <a:rPr lang="pt-BR" altLang="zh-CN" b="1" i="1" dirty="0">
                <a:solidFill>
                  <a:schemeClr val="bg2"/>
                </a:solidFill>
                <a:uFillTx/>
              </a:rPr>
              <a:t>n</a:t>
            </a:r>
            <a:r>
              <a:rPr lang="pt-BR" altLang="zh-CN" b="1" dirty="0">
                <a:solidFill>
                  <a:schemeClr val="bg2"/>
                </a:solidFill>
                <a:uFillTx/>
              </a:rPr>
              <a:t>]&lt;</a:t>
            </a:r>
            <a:r>
              <a:rPr lang="pt-BR" altLang="zh-CN" b="1" i="1" dirty="0">
                <a:solidFill>
                  <a:schemeClr val="bg2"/>
                </a:solidFill>
                <a:uFillTx/>
              </a:rPr>
              <a:t>x</a:t>
            </a:r>
            <a:r>
              <a:rPr lang="pt-BR" altLang="zh-CN" dirty="0">
                <a:solidFill>
                  <a:schemeClr val="bg2"/>
                </a:solidFill>
                <a:uFillTx/>
              </a:rPr>
              <a:t> </a:t>
            </a:r>
            <a:endParaRPr lang="pt-BR" altLang="zh-CN" dirty="0">
              <a:solidFill>
                <a:schemeClr val="bg2"/>
              </a:solidFill>
              <a:uFillTx/>
            </a:endParaRPr>
          </a:p>
        </p:txBody>
      </p:sp>
      <p:sp>
        <p:nvSpPr>
          <p:cNvPr id="7" name="文本框 1"/>
          <p:cNvSpPr txBox="1"/>
          <p:nvPr/>
        </p:nvSpPr>
        <p:spPr>
          <a:xfrm>
            <a:off x="2530231" y="3986754"/>
            <a:ext cx="3909060" cy="570865"/>
          </a:xfrm>
          <a:prstGeom prst="rect">
            <a:avLst/>
          </a:prstGeom>
          <a:noFill/>
        </p:spPr>
        <p:txBody>
          <a:bodyPr wrap="none" rtlCol="0" anchor="t">
            <a:spAutoFit/>
          </a:bodyPr>
          <a:lstStyle/>
          <a:p>
            <a:pPr>
              <a:lnSpc>
                <a:spcPct val="130000"/>
              </a:lnSpc>
            </a:pPr>
            <a:r>
              <a:rPr lang="en-US" altLang="zh-CN" b="1" i="1" dirty="0" smtClean="0">
                <a:solidFill>
                  <a:schemeClr val="accent2"/>
                </a:solidFill>
                <a:uFillTx/>
                <a:cs typeface="Times New Roman" panose="02020603050405020304" pitchFamily="18" charset="0"/>
              </a:rPr>
              <a:t>n+</a:t>
            </a:r>
            <a:r>
              <a:rPr lang="en-US" altLang="zh-CN" b="1" dirty="0" smtClean="0">
                <a:solidFill>
                  <a:schemeClr val="accent2"/>
                </a:solidFill>
                <a:uFillTx/>
                <a:cs typeface="Times New Roman" panose="02020603050405020304" pitchFamily="18" charset="0"/>
              </a:rPr>
              <a:t>1</a:t>
            </a:r>
            <a:r>
              <a:rPr lang="zh-CN" altLang="en-US" b="1" dirty="0" smtClean="0">
                <a:solidFill>
                  <a:schemeClr val="accent2"/>
                </a:solidFill>
                <a:uFillTx/>
              </a:rPr>
              <a:t>个实例，比较次数均为</a:t>
            </a:r>
            <a:r>
              <a:rPr lang="en-US" altLang="zh-CN" b="1" i="1" dirty="0" smtClean="0">
                <a:solidFill>
                  <a:schemeClr val="accent2"/>
                </a:solidFill>
                <a:uFillTx/>
                <a:cs typeface="Times New Roman" panose="02020603050405020304" pitchFamily="18" charset="0"/>
              </a:rPr>
              <a:t>n</a:t>
            </a:r>
            <a:endParaRPr lang="en-US" altLang="zh-CN" b="1" i="1" dirty="0" smtClean="0">
              <a:solidFill>
                <a:schemeClr val="accent2"/>
              </a:solidFill>
              <a:uFillTx/>
              <a:cs typeface="Times New Roman" panose="02020603050405020304" pitchFamily="18" charset="0"/>
            </a:endParaRPr>
          </a:p>
        </p:txBody>
      </p:sp>
      <p:sp>
        <p:nvSpPr>
          <p:cNvPr id="8" name="矩形 7"/>
          <p:cNvSpPr/>
          <p:nvPr/>
        </p:nvSpPr>
        <p:spPr>
          <a:xfrm>
            <a:off x="723867" y="5131867"/>
            <a:ext cx="7522312" cy="1014730"/>
          </a:xfrm>
          <a:prstGeom prst="rect">
            <a:avLst/>
          </a:prstGeom>
          <a:solidFill>
            <a:schemeClr val="tx1"/>
          </a:solidFill>
        </p:spPr>
        <p:txBody>
          <a:bodyPr wrap="square">
            <a:spAutoFit/>
          </a:bodyPr>
          <a:lstStyle/>
          <a:p>
            <a:pPr>
              <a:lnSpc>
                <a:spcPct val="125000"/>
              </a:lnSpc>
            </a:pPr>
            <a:r>
              <a:rPr lang="zh-CN" altLang="en-US" dirty="0">
                <a:solidFill>
                  <a:schemeClr val="bg2"/>
                </a:solidFill>
                <a:uFillTx/>
              </a:rPr>
              <a:t>最坏情况下时间： </a:t>
            </a:r>
            <a:r>
              <a:rPr lang="en-US" altLang="zh-CN" b="1" i="1" dirty="0">
                <a:solidFill>
                  <a:schemeClr val="bg2"/>
                </a:solidFill>
                <a:uFillTx/>
              </a:rPr>
              <a:t>W</a:t>
            </a:r>
            <a:r>
              <a:rPr lang="en-US" altLang="zh-CN" b="1" dirty="0">
                <a:solidFill>
                  <a:schemeClr val="bg2"/>
                </a:solidFill>
                <a:uFillTx/>
              </a:rPr>
              <a:t>(</a:t>
            </a:r>
            <a:r>
              <a:rPr lang="en-US" altLang="zh-CN" b="1" i="1" dirty="0">
                <a:solidFill>
                  <a:schemeClr val="bg2"/>
                </a:solidFill>
                <a:uFillTx/>
              </a:rPr>
              <a:t>n</a:t>
            </a:r>
            <a:r>
              <a:rPr lang="en-US" altLang="zh-CN" b="1" dirty="0">
                <a:solidFill>
                  <a:schemeClr val="bg2"/>
                </a:solidFill>
                <a:uFillTx/>
              </a:rPr>
              <a:t>) = </a:t>
            </a:r>
            <a:r>
              <a:rPr lang="en-US" altLang="zh-CN" b="1" i="1" dirty="0">
                <a:solidFill>
                  <a:schemeClr val="bg2"/>
                </a:solidFill>
                <a:uFillTx/>
              </a:rPr>
              <a:t>n</a:t>
            </a:r>
            <a:br>
              <a:rPr lang="en-US" altLang="zh-CN" b="1" i="1" dirty="0">
                <a:solidFill>
                  <a:schemeClr val="bg2"/>
                </a:solidFill>
                <a:uFillTx/>
              </a:rPr>
            </a:br>
            <a:r>
              <a:rPr lang="zh-CN" altLang="en-US" dirty="0">
                <a:solidFill>
                  <a:schemeClr val="bg2"/>
                </a:solidFill>
                <a:uFillTx/>
              </a:rPr>
              <a:t>最坏的输入： </a:t>
            </a:r>
            <a:r>
              <a:rPr lang="en-US" altLang="zh-CN" b="1" i="1" dirty="0">
                <a:solidFill>
                  <a:schemeClr val="bg2"/>
                </a:solidFill>
                <a:uFillTx/>
              </a:rPr>
              <a:t>x </a:t>
            </a:r>
            <a:r>
              <a:rPr lang="zh-CN" altLang="en-US" dirty="0">
                <a:solidFill>
                  <a:schemeClr val="bg2"/>
                </a:solidFill>
                <a:uFillTx/>
              </a:rPr>
              <a:t>不在 </a:t>
            </a:r>
            <a:r>
              <a:rPr lang="en-US" altLang="zh-CN" b="1" i="1" dirty="0">
                <a:solidFill>
                  <a:schemeClr val="bg2"/>
                </a:solidFill>
                <a:uFillTx/>
              </a:rPr>
              <a:t>L</a:t>
            </a:r>
            <a:r>
              <a:rPr lang="zh-CN" altLang="en-US" dirty="0">
                <a:solidFill>
                  <a:schemeClr val="bg2"/>
                </a:solidFill>
                <a:uFillTx/>
              </a:rPr>
              <a:t>中或 </a:t>
            </a:r>
            <a:r>
              <a:rPr lang="en-US" altLang="zh-CN" b="1" i="1" dirty="0">
                <a:solidFill>
                  <a:schemeClr val="bg2"/>
                </a:solidFill>
                <a:uFillTx/>
              </a:rPr>
              <a:t>x </a:t>
            </a:r>
            <a:r>
              <a:rPr lang="en-US" altLang="zh-CN" b="1" dirty="0">
                <a:solidFill>
                  <a:schemeClr val="bg2"/>
                </a:solidFill>
                <a:uFillTx/>
              </a:rPr>
              <a:t>= </a:t>
            </a:r>
            <a:r>
              <a:rPr lang="en-US" altLang="zh-CN" b="1" i="1" dirty="0" smtClean="0">
                <a:solidFill>
                  <a:schemeClr val="bg2"/>
                </a:solidFill>
                <a:uFillTx/>
              </a:rPr>
              <a:t>L</a:t>
            </a:r>
            <a:r>
              <a:rPr lang="en-US" altLang="zh-CN" b="1" dirty="0" smtClean="0">
                <a:solidFill>
                  <a:schemeClr val="bg2"/>
                </a:solidFill>
                <a:uFillTx/>
              </a:rPr>
              <a:t>[</a:t>
            </a:r>
            <a:r>
              <a:rPr lang="en-US" altLang="zh-CN" b="1" i="1" dirty="0" smtClean="0">
                <a:solidFill>
                  <a:schemeClr val="bg2"/>
                </a:solidFill>
                <a:uFillTx/>
              </a:rPr>
              <a:t>n</a:t>
            </a:r>
            <a:r>
              <a:rPr lang="en-US" altLang="zh-CN" b="1" dirty="0" smtClean="0">
                <a:solidFill>
                  <a:schemeClr val="bg2"/>
                </a:solidFill>
                <a:uFillTx/>
              </a:rPr>
              <a:t>]</a:t>
            </a:r>
            <a:r>
              <a:rPr lang="zh-CN" altLang="en-US" b="1" dirty="0" smtClean="0">
                <a:solidFill>
                  <a:schemeClr val="bg2"/>
                </a:solidFill>
                <a:uFillTx/>
              </a:rPr>
              <a:t>，</a:t>
            </a:r>
            <a:r>
              <a:rPr lang="zh-CN" altLang="en-US" dirty="0" smtClean="0">
                <a:solidFill>
                  <a:schemeClr val="bg2"/>
                </a:solidFill>
                <a:uFillTx/>
              </a:rPr>
              <a:t>要</a:t>
            </a:r>
            <a:r>
              <a:rPr lang="zh-CN" altLang="en-US" dirty="0">
                <a:solidFill>
                  <a:schemeClr val="bg2"/>
                </a:solidFill>
                <a:uFillTx/>
              </a:rPr>
              <a:t>做 </a:t>
            </a:r>
            <a:r>
              <a:rPr lang="en-US" altLang="zh-CN" b="1" i="1" dirty="0">
                <a:solidFill>
                  <a:schemeClr val="bg2"/>
                </a:solidFill>
                <a:uFillTx/>
              </a:rPr>
              <a:t>n </a:t>
            </a:r>
            <a:r>
              <a:rPr lang="zh-CN" altLang="en-US" dirty="0">
                <a:solidFill>
                  <a:schemeClr val="bg2"/>
                </a:solidFill>
                <a:uFillTx/>
              </a:rPr>
              <a:t>次比较 </a:t>
            </a:r>
            <a:endParaRPr lang="zh-CN" altLang="en-US" dirty="0">
              <a:solidFill>
                <a:schemeClr val="bg2"/>
              </a:solidFill>
              <a:uFillTx/>
            </a:endParaRPr>
          </a:p>
        </p:txBody>
      </p:sp>
      <p:pic>
        <p:nvPicPr>
          <p:cNvPr id="9" name="20 8"/>
          <p:cNvPicPr>
            <a:picLocks noChangeAspect="1"/>
          </p:cNvPicPr>
          <p:nvPr/>
        </p:nvPicPr>
        <p:blipFill rotWithShape="1">
          <a:blip r:embed="rId1"/>
          <a:srcRect t="26450"/>
          <a:stretch>
            <a:fillRect/>
          </a:stretch>
        </p:blipFill>
        <p:spPr>
          <a:xfrm>
            <a:off x="1296670" y="2211070"/>
            <a:ext cx="5986145" cy="69786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P spid="7" grpId="0"/>
      <p:bldP spid="7" grpId="1"/>
      <p:bldP spid="8" grpId="0" bldLvl="0" animBg="1"/>
      <p:bldP spid="8"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6370" y="1560392"/>
            <a:ext cx="8463280" cy="570865"/>
          </a:xfrm>
          <a:prstGeom prst="rect">
            <a:avLst/>
          </a:prstGeom>
          <a:noFill/>
        </p:spPr>
        <p:txBody>
          <a:bodyPr wrap="none" rtlCol="0" anchor="t">
            <a:spAutoFit/>
          </a:bodyPr>
          <a:lstStyle/>
          <a:p>
            <a:pPr>
              <a:lnSpc>
                <a:spcPct val="130000"/>
              </a:lnSpc>
            </a:pPr>
            <a:r>
              <a:rPr lang="en-US" altLang="zh-CN" dirty="0" smtClean="0">
                <a:solidFill>
                  <a:schemeClr val="bg2"/>
                </a:solidFill>
                <a:uFillTx/>
                <a:sym typeface="+mn-ea"/>
              </a:rPr>
              <a:t>(3)  </a:t>
            </a:r>
            <a:r>
              <a:rPr lang="zh-CN" altLang="en-US" dirty="0" smtClean="0">
                <a:solidFill>
                  <a:schemeClr val="bg2"/>
                </a:solidFill>
                <a:uFillTx/>
                <a:sym typeface="+mn-ea"/>
              </a:rPr>
              <a:t>假设</a:t>
            </a:r>
            <a:r>
              <a:rPr lang="zh-CN" altLang="en-US" dirty="0">
                <a:solidFill>
                  <a:schemeClr val="bg2"/>
                </a:solidFill>
                <a:uFillTx/>
                <a:sym typeface="+mn-ea"/>
              </a:rPr>
              <a:t>被查值</a:t>
            </a:r>
            <a:r>
              <a:rPr lang="en-US" altLang="zh-CN" i="1" dirty="0">
                <a:solidFill>
                  <a:schemeClr val="bg2"/>
                </a:solidFill>
                <a:uFillTx/>
                <a:cs typeface="Times New Roman" panose="02020603050405020304" pitchFamily="18" charset="0"/>
                <a:sym typeface="+mn-ea"/>
              </a:rPr>
              <a:t>x</a:t>
            </a:r>
            <a:r>
              <a:rPr lang="zh-CN" altLang="en-US" dirty="0">
                <a:solidFill>
                  <a:schemeClr val="bg2"/>
                </a:solidFill>
                <a:uFillTx/>
                <a:sym typeface="+mn-ea"/>
              </a:rPr>
              <a:t>在</a:t>
            </a:r>
            <a:r>
              <a:rPr lang="zh-CN" altLang="en-US" dirty="0" smtClean="0">
                <a:solidFill>
                  <a:schemeClr val="bg2"/>
                </a:solidFill>
                <a:uFillTx/>
                <a:sym typeface="+mn-ea"/>
              </a:rPr>
              <a:t>数组</a:t>
            </a:r>
            <a:r>
              <a:rPr lang="en-US" altLang="zh-CN" i="1" dirty="0">
                <a:solidFill>
                  <a:schemeClr val="bg2"/>
                </a:solidFill>
                <a:uFillTx/>
                <a:cs typeface="Times New Roman" panose="02020603050405020304" pitchFamily="18" charset="0"/>
                <a:sym typeface="+mn-ea"/>
              </a:rPr>
              <a:t>L</a:t>
            </a:r>
            <a:r>
              <a:rPr lang="zh-CN" altLang="en-US" dirty="0" smtClean="0">
                <a:solidFill>
                  <a:schemeClr val="bg2"/>
                </a:solidFill>
                <a:uFillTx/>
                <a:sym typeface="+mn-ea"/>
              </a:rPr>
              <a:t>中</a:t>
            </a:r>
            <a:r>
              <a:rPr lang="zh-CN" altLang="en-US" dirty="0">
                <a:solidFill>
                  <a:schemeClr val="bg2"/>
                </a:solidFill>
                <a:uFillTx/>
                <a:sym typeface="+mn-ea"/>
              </a:rPr>
              <a:t>的概率是</a:t>
            </a:r>
            <a:r>
              <a:rPr lang="en-US" altLang="zh-CN" i="1" dirty="0">
                <a:solidFill>
                  <a:schemeClr val="bg2"/>
                </a:solidFill>
                <a:uFillTx/>
                <a:cs typeface="Times New Roman" panose="02020603050405020304" pitchFamily="18" charset="0"/>
                <a:sym typeface="+mn-ea"/>
              </a:rPr>
              <a:t>q</a:t>
            </a:r>
            <a:r>
              <a:rPr lang="zh-CN" altLang="en-US" dirty="0">
                <a:solidFill>
                  <a:schemeClr val="bg2"/>
                </a:solidFill>
                <a:uFillTx/>
                <a:sym typeface="+mn-ea"/>
              </a:rPr>
              <a:t>，求算法的时间复杂度。</a:t>
            </a:r>
            <a:endParaRPr lang="zh-CN" altLang="en-US" dirty="0">
              <a:solidFill>
                <a:schemeClr val="bg2"/>
              </a:solidFill>
              <a:uFillTx/>
              <a:sym typeface="+mn-ea"/>
            </a:endParaRPr>
          </a:p>
        </p:txBody>
      </p:sp>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矩形 2"/>
          <p:cNvSpPr/>
          <p:nvPr/>
        </p:nvSpPr>
        <p:spPr>
          <a:xfrm>
            <a:off x="539552" y="2132603"/>
            <a:ext cx="8208912" cy="1940560"/>
          </a:xfrm>
          <a:prstGeom prst="rect">
            <a:avLst/>
          </a:prstGeom>
        </p:spPr>
        <p:txBody>
          <a:bodyPr wrap="square">
            <a:spAutoFit/>
          </a:bodyPr>
          <a:lstStyle/>
          <a:p>
            <a:pPr marL="342900" indent="-342900" algn="just">
              <a:lnSpc>
                <a:spcPct val="120000"/>
              </a:lnSpc>
              <a:spcBef>
                <a:spcPts val="600"/>
              </a:spcBef>
              <a:spcAft>
                <a:spcPts val="0"/>
              </a:spcAft>
              <a:buFont typeface="Arial" panose="020B0604020202020204" pitchFamily="34" charset="0"/>
              <a:buChar char="•"/>
              <a:defRPr/>
            </a:pPr>
            <a:r>
              <a:rPr lang="zh-CN" altLang="en-US" dirty="0">
                <a:solidFill>
                  <a:schemeClr val="bg2"/>
                </a:solidFill>
                <a:uFillTx/>
                <a:cs typeface="Consolas" panose="020B0609020204030204" pitchFamily="49" charset="0"/>
              </a:rPr>
              <a:t>对于成功查找</a:t>
            </a:r>
            <a:r>
              <a:rPr lang="zh-CN" altLang="en-US" dirty="0" smtClean="0">
                <a:solidFill>
                  <a:schemeClr val="bg2"/>
                </a:solidFill>
                <a:uFillTx/>
                <a:cs typeface="Consolas" panose="020B0609020204030204" pitchFamily="49" charset="0"/>
              </a:rPr>
              <a:t>，等</a:t>
            </a:r>
            <a:r>
              <a:rPr lang="zh-CN" altLang="en-US" dirty="0">
                <a:solidFill>
                  <a:schemeClr val="bg2"/>
                </a:solidFill>
                <a:uFillTx/>
                <a:cs typeface="Consolas" panose="020B0609020204030204" pitchFamily="49" charset="0"/>
              </a:rPr>
              <a:t>概率</a:t>
            </a:r>
            <a:r>
              <a:rPr lang="zh-CN" altLang="en-US" dirty="0" smtClean="0">
                <a:solidFill>
                  <a:schemeClr val="bg2"/>
                </a:solidFill>
                <a:uFillTx/>
                <a:cs typeface="Consolas" panose="020B0609020204030204" pitchFamily="49" charset="0"/>
              </a:rPr>
              <a:t>情况</a:t>
            </a:r>
            <a:r>
              <a:rPr lang="zh-CN" altLang="en-US" dirty="0">
                <a:solidFill>
                  <a:schemeClr val="bg2"/>
                </a:solidFill>
                <a:uFillTx/>
                <a:cs typeface="Consolas" panose="020B0609020204030204" pitchFamily="49" charset="0"/>
              </a:rPr>
              <a:t>下</a:t>
            </a:r>
            <a:r>
              <a:rPr lang="zh-CN" altLang="en-US" dirty="0" smtClean="0">
                <a:solidFill>
                  <a:schemeClr val="bg2"/>
                </a:solidFill>
                <a:uFillTx/>
                <a:cs typeface="Consolas" panose="020B0609020204030204" pitchFamily="49" charset="0"/>
              </a:rPr>
              <a:t>元素</a:t>
            </a:r>
            <a:r>
              <a:rPr lang="en-US" altLang="zh-CN" i="1" dirty="0" smtClean="0">
                <a:solidFill>
                  <a:schemeClr val="bg2"/>
                </a:solidFill>
                <a:uFillTx/>
                <a:cs typeface="Times New Roman" panose="02020603050405020304" pitchFamily="18" charset="0"/>
              </a:rPr>
              <a:t>L</a:t>
            </a:r>
            <a:r>
              <a:rPr lang="en-US" altLang="zh-CN" dirty="0" smtClean="0">
                <a:solidFill>
                  <a:schemeClr val="bg2"/>
                </a:solidFill>
                <a:uFillTx/>
                <a:cs typeface="Consolas" panose="020B0609020204030204" pitchFamily="49" charset="0"/>
              </a:rPr>
              <a:t>[</a:t>
            </a:r>
            <a:r>
              <a:rPr lang="en-US" altLang="zh-CN" i="1" dirty="0" err="1" smtClean="0">
                <a:solidFill>
                  <a:schemeClr val="bg2"/>
                </a:solidFill>
                <a:uFillTx/>
                <a:cs typeface="Times New Roman" panose="02020603050405020304" pitchFamily="18" charset="0"/>
              </a:rPr>
              <a:t>i</a:t>
            </a:r>
            <a:r>
              <a:rPr lang="en-US" altLang="zh-CN" dirty="0">
                <a:solidFill>
                  <a:schemeClr val="bg2"/>
                </a:solidFill>
                <a:uFillTx/>
                <a:cs typeface="Consolas" panose="020B0609020204030204" pitchFamily="49" charset="0"/>
              </a:rPr>
              <a:t>]</a:t>
            </a:r>
            <a:r>
              <a:rPr lang="zh-CN" altLang="en-US" dirty="0">
                <a:solidFill>
                  <a:schemeClr val="bg2"/>
                </a:solidFill>
                <a:uFillTx/>
                <a:cs typeface="Consolas" panose="020B0609020204030204" pitchFamily="49" charset="0"/>
              </a:rPr>
              <a:t>被查找到的概率</a:t>
            </a:r>
            <a:r>
              <a:rPr lang="en-US" altLang="zh-CN" i="1" dirty="0" smtClean="0">
                <a:solidFill>
                  <a:schemeClr val="bg2"/>
                </a:solidFill>
                <a:uFillTx/>
                <a:cs typeface="Times New Roman" panose="02020603050405020304" pitchFamily="18" charset="0"/>
              </a:rPr>
              <a:t>P</a:t>
            </a:r>
            <a:r>
              <a:rPr lang="en-US" altLang="zh-CN" dirty="0" smtClean="0">
                <a:solidFill>
                  <a:schemeClr val="bg2"/>
                </a:solidFill>
                <a:uFillTx/>
                <a:cs typeface="Consolas" panose="020B0609020204030204" pitchFamily="49" charset="0"/>
              </a:rPr>
              <a:t>(</a:t>
            </a:r>
            <a:r>
              <a:rPr lang="en-US" altLang="zh-CN" i="1" dirty="0">
                <a:solidFill>
                  <a:schemeClr val="bg2"/>
                </a:solidFill>
                <a:uFillTx/>
                <a:cs typeface="Times New Roman" panose="02020603050405020304" pitchFamily="18" charset="0"/>
              </a:rPr>
              <a:t>L</a:t>
            </a:r>
            <a:r>
              <a:rPr lang="en-US" altLang="zh-CN" dirty="0" smtClean="0">
                <a:solidFill>
                  <a:schemeClr val="bg2"/>
                </a:solidFill>
                <a:uFillTx/>
                <a:cs typeface="Consolas" panose="020B0609020204030204" pitchFamily="49" charset="0"/>
              </a:rPr>
              <a:t>[</a:t>
            </a:r>
            <a:r>
              <a:rPr lang="en-US" altLang="zh-CN" i="1" dirty="0" err="1" smtClean="0">
                <a:solidFill>
                  <a:schemeClr val="bg2"/>
                </a:solidFill>
                <a:uFillTx/>
                <a:cs typeface="Times New Roman" panose="02020603050405020304" pitchFamily="18" charset="0"/>
              </a:rPr>
              <a:t>i</a:t>
            </a:r>
            <a:r>
              <a:rPr lang="en-US" altLang="zh-CN" dirty="0">
                <a:solidFill>
                  <a:schemeClr val="bg2"/>
                </a:solidFill>
                <a:uFillTx/>
                <a:cs typeface="Consolas" panose="020B0609020204030204" pitchFamily="49" charset="0"/>
              </a:rPr>
              <a:t>])=</a:t>
            </a:r>
            <a:r>
              <a:rPr lang="en-US" altLang="zh-CN" i="1" dirty="0">
                <a:solidFill>
                  <a:schemeClr val="bg2"/>
                </a:solidFill>
                <a:uFillTx/>
                <a:cs typeface="Times New Roman" panose="02020603050405020304" pitchFamily="18" charset="0"/>
              </a:rPr>
              <a:t>q</a:t>
            </a:r>
            <a:r>
              <a:rPr lang="en-US" altLang="zh-CN" dirty="0">
                <a:solidFill>
                  <a:schemeClr val="bg2"/>
                </a:solidFill>
                <a:uFillTx/>
                <a:cs typeface="Consolas" panose="020B0609020204030204" pitchFamily="49" charset="0"/>
              </a:rPr>
              <a:t>/</a:t>
            </a:r>
            <a:r>
              <a:rPr lang="en-US" altLang="zh-CN" i="1" dirty="0">
                <a:solidFill>
                  <a:schemeClr val="bg2"/>
                </a:solidFill>
                <a:uFillTx/>
                <a:cs typeface="Times New Roman" panose="02020603050405020304" pitchFamily="18" charset="0"/>
              </a:rPr>
              <a:t>n</a:t>
            </a:r>
            <a:r>
              <a:rPr lang="zh-CN" altLang="en-US" dirty="0">
                <a:solidFill>
                  <a:schemeClr val="bg2"/>
                </a:solidFill>
                <a:uFillTx/>
                <a:cs typeface="Consolas" panose="020B0609020204030204" pitchFamily="49" charset="0"/>
              </a:rPr>
              <a:t>，成功</a:t>
            </a:r>
            <a:r>
              <a:rPr lang="zh-CN" altLang="en-US" dirty="0" smtClean="0">
                <a:solidFill>
                  <a:schemeClr val="bg2"/>
                </a:solidFill>
                <a:uFillTx/>
                <a:cs typeface="Consolas" panose="020B0609020204030204" pitchFamily="49" charset="0"/>
              </a:rPr>
              <a:t>找到</a:t>
            </a:r>
            <a:r>
              <a:rPr lang="en-US" altLang="zh-CN" i="1" dirty="0">
                <a:solidFill>
                  <a:schemeClr val="bg2"/>
                </a:solidFill>
                <a:uFillTx/>
                <a:cs typeface="Times New Roman" panose="02020603050405020304" pitchFamily="18" charset="0"/>
              </a:rPr>
              <a:t>L </a:t>
            </a:r>
            <a:r>
              <a:rPr lang="en-US" altLang="zh-CN" dirty="0" smtClean="0">
                <a:solidFill>
                  <a:schemeClr val="bg2"/>
                </a:solidFill>
                <a:uFillTx/>
                <a:cs typeface="Times New Roman" panose="02020603050405020304" pitchFamily="18" charset="0"/>
              </a:rPr>
              <a:t>[</a:t>
            </a:r>
            <a:r>
              <a:rPr lang="en-US" altLang="zh-CN" i="1" dirty="0" err="1">
                <a:solidFill>
                  <a:schemeClr val="bg2"/>
                </a:solidFill>
                <a:uFillTx/>
                <a:cs typeface="Times New Roman" panose="02020603050405020304" pitchFamily="18" charset="0"/>
              </a:rPr>
              <a:t>i</a:t>
            </a:r>
            <a:r>
              <a:rPr lang="en-US" altLang="zh-CN" dirty="0">
                <a:solidFill>
                  <a:schemeClr val="bg2"/>
                </a:solidFill>
                <a:uFillTx/>
                <a:cs typeface="Consolas" panose="020B0609020204030204" pitchFamily="49" charset="0"/>
              </a:rPr>
              <a:t>]</a:t>
            </a:r>
            <a:r>
              <a:rPr lang="zh-CN" altLang="en-US" dirty="0">
                <a:solidFill>
                  <a:schemeClr val="bg2"/>
                </a:solidFill>
                <a:uFillTx/>
                <a:cs typeface="Consolas" panose="020B0609020204030204" pitchFamily="49" charset="0"/>
              </a:rPr>
              <a:t>元素时</a:t>
            </a:r>
            <a:r>
              <a:rPr lang="zh-CN" altLang="en-US" dirty="0" smtClean="0">
                <a:solidFill>
                  <a:schemeClr val="bg2"/>
                </a:solidFill>
                <a:uFillTx/>
                <a:cs typeface="Consolas" panose="020B0609020204030204" pitchFamily="49" charset="0"/>
              </a:rPr>
              <a:t>基本操作正好</a:t>
            </a:r>
            <a:r>
              <a:rPr lang="zh-CN" altLang="en-US" dirty="0">
                <a:solidFill>
                  <a:schemeClr val="bg2"/>
                </a:solidFill>
                <a:uFillTx/>
                <a:cs typeface="Consolas" panose="020B0609020204030204" pitchFamily="49" charset="0"/>
              </a:rPr>
              <a:t>执行</a:t>
            </a:r>
            <a:r>
              <a:rPr lang="en-US" altLang="zh-CN" i="1" dirty="0" err="1" smtClean="0">
                <a:solidFill>
                  <a:schemeClr val="bg2"/>
                </a:solidFill>
                <a:uFillTx/>
                <a:cs typeface="Times New Roman" panose="02020603050405020304" pitchFamily="18" charset="0"/>
              </a:rPr>
              <a:t>i</a:t>
            </a:r>
            <a:r>
              <a:rPr lang="zh-CN" altLang="en-US" dirty="0" smtClean="0">
                <a:solidFill>
                  <a:schemeClr val="bg2"/>
                </a:solidFill>
                <a:uFillTx/>
                <a:cs typeface="Consolas" panose="020B0609020204030204" pitchFamily="49" charset="0"/>
              </a:rPr>
              <a:t>次。</a:t>
            </a:r>
            <a:endParaRPr lang="en-US" altLang="zh-CN" dirty="0" smtClean="0">
              <a:solidFill>
                <a:schemeClr val="bg2"/>
              </a:solidFill>
              <a:uFillTx/>
              <a:cs typeface="Consolas" panose="020B0609020204030204" pitchFamily="49" charset="0"/>
            </a:endParaRPr>
          </a:p>
          <a:p>
            <a:pPr marL="342900" indent="-342900">
              <a:lnSpc>
                <a:spcPct val="120000"/>
              </a:lnSpc>
              <a:spcBef>
                <a:spcPts val="600"/>
              </a:spcBef>
              <a:spcAft>
                <a:spcPts val="0"/>
              </a:spcAft>
              <a:buFont typeface="Arial" panose="020B0604020202020204" pitchFamily="34" charset="0"/>
              <a:buChar char="•"/>
              <a:defRPr/>
            </a:pPr>
            <a:r>
              <a:rPr lang="zh-CN" altLang="en-US" dirty="0" smtClean="0">
                <a:solidFill>
                  <a:schemeClr val="bg2"/>
                </a:solidFill>
                <a:uFillTx/>
                <a:cs typeface="Consolas" panose="020B0609020204030204" pitchFamily="49" charset="0"/>
              </a:rPr>
              <a:t>对于</a:t>
            </a:r>
            <a:r>
              <a:rPr lang="zh-CN" altLang="en-US" dirty="0">
                <a:solidFill>
                  <a:schemeClr val="bg2"/>
                </a:solidFill>
                <a:uFillTx/>
                <a:cs typeface="Consolas" panose="020B0609020204030204" pitchFamily="49" charset="0"/>
              </a:rPr>
              <a:t>不成功查找，其概率为</a:t>
            </a:r>
            <a:r>
              <a:rPr lang="en-US" altLang="zh-CN" dirty="0">
                <a:solidFill>
                  <a:schemeClr val="bg2"/>
                </a:solidFill>
                <a:uFillTx/>
                <a:cs typeface="Consolas" panose="020B0609020204030204" pitchFamily="49" charset="0"/>
              </a:rPr>
              <a:t>1-</a:t>
            </a:r>
            <a:r>
              <a:rPr lang="en-US" altLang="zh-CN" i="1" dirty="0">
                <a:solidFill>
                  <a:schemeClr val="bg2"/>
                </a:solidFill>
                <a:uFillTx/>
                <a:cs typeface="Times New Roman" panose="02020603050405020304" pitchFamily="18" charset="0"/>
              </a:rPr>
              <a:t>q</a:t>
            </a:r>
            <a:r>
              <a:rPr lang="zh-CN" altLang="en-US" dirty="0">
                <a:solidFill>
                  <a:schemeClr val="bg2"/>
                </a:solidFill>
                <a:uFillTx/>
                <a:cs typeface="Consolas" panose="020B0609020204030204" pitchFamily="49" charset="0"/>
              </a:rPr>
              <a:t>，不成功查找时</a:t>
            </a:r>
            <a:r>
              <a:rPr lang="zh-CN" altLang="en-US" dirty="0" smtClean="0">
                <a:solidFill>
                  <a:schemeClr val="bg2"/>
                </a:solidFill>
                <a:uFillTx/>
                <a:cs typeface="Consolas" panose="020B0609020204030204" pitchFamily="49" charset="0"/>
              </a:rPr>
              <a:t>基本操作正好</a:t>
            </a:r>
            <a:r>
              <a:rPr lang="zh-CN" altLang="en-US" dirty="0">
                <a:solidFill>
                  <a:schemeClr val="bg2"/>
                </a:solidFill>
                <a:uFillTx/>
                <a:cs typeface="Consolas" panose="020B0609020204030204" pitchFamily="49" charset="0"/>
              </a:rPr>
              <a:t>执行</a:t>
            </a:r>
            <a:r>
              <a:rPr lang="en-US" altLang="zh-CN" i="1" dirty="0">
                <a:solidFill>
                  <a:schemeClr val="bg2"/>
                </a:solidFill>
                <a:uFillTx/>
                <a:cs typeface="Times New Roman" panose="02020603050405020304" pitchFamily="18" charset="0"/>
              </a:rPr>
              <a:t>n</a:t>
            </a:r>
            <a:r>
              <a:rPr lang="zh-CN" altLang="en-US" dirty="0">
                <a:solidFill>
                  <a:schemeClr val="bg2"/>
                </a:solidFill>
                <a:uFillTx/>
                <a:cs typeface="Consolas" panose="020B0609020204030204" pitchFamily="49" charset="0"/>
              </a:rPr>
              <a:t>次</a:t>
            </a:r>
            <a:r>
              <a:rPr lang="zh-CN" altLang="en-US" dirty="0" smtClean="0">
                <a:solidFill>
                  <a:schemeClr val="bg2"/>
                </a:solidFill>
                <a:uFillTx/>
                <a:cs typeface="Consolas" panose="020B0609020204030204" pitchFamily="49" charset="0"/>
              </a:rPr>
              <a:t>。</a:t>
            </a:r>
            <a:endParaRPr lang="zh-CN" altLang="en-US" dirty="0" smtClean="0">
              <a:solidFill>
                <a:schemeClr val="bg2"/>
              </a:solidFill>
              <a:uFillTx/>
              <a:cs typeface="Consolas" panose="020B0609020204030204" pitchFamily="49" charset="0"/>
            </a:endParaRPr>
          </a:p>
        </p:txBody>
      </p:sp>
      <p:sp>
        <p:nvSpPr>
          <p:cNvPr id="5" name="Text Box 3"/>
          <p:cNvSpPr txBox="1">
            <a:spLocks noChangeArrowheads="1"/>
          </p:cNvSpPr>
          <p:nvPr/>
        </p:nvSpPr>
        <p:spPr bwMode="auto">
          <a:xfrm>
            <a:off x="1008380" y="4004310"/>
            <a:ext cx="7493000"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200"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en-US" altLang="zh-CN" sz="22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2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2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endParaRPr lang="en-US" altLang="zh-CN" sz="22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spcBef>
                <a:spcPct val="50000"/>
              </a:spcBef>
            </a:pPr>
            <a:endParaRPr lang="en-US" altLang="zh-CN" sz="2200" dirty="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spcBef>
                <a:spcPct val="50000"/>
              </a:spcBef>
            </a:pPr>
            <a:r>
              <a:rPr lang="en-US" altLang="zh-CN" sz="22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2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en-US" altLang="zh-CN" sz="22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6" name="Object 4"/>
          <p:cNvGraphicFramePr>
            <a:graphicFrameLocks noChangeAspect="1"/>
          </p:cNvGraphicFramePr>
          <p:nvPr/>
        </p:nvGraphicFramePr>
        <p:xfrm>
          <a:off x="2186305" y="3931920"/>
          <a:ext cx="1885950" cy="752475"/>
        </p:xfrm>
        <a:graphic>
          <a:graphicData uri="http://schemas.openxmlformats.org/presentationml/2006/ole">
            <mc:AlternateContent xmlns:mc="http://schemas.openxmlformats.org/markup-compatibility/2006">
              <mc:Choice xmlns:v="urn:schemas-microsoft-com:vml" Requires="v">
                <p:oleObj spid="_x0000_s7283" name="Equation" r:id="rId1" imgW="927100" imgH="368300" progId="Equation.3">
                  <p:embed/>
                </p:oleObj>
              </mc:Choice>
              <mc:Fallback>
                <p:oleObj name="Equation" r:id="rId1" imgW="927100" imgH="368300" progId="Equation.3">
                  <p:embed/>
                  <p:pic>
                    <p:nvPicPr>
                      <p:cNvPr id="0" name="20 718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305" y="3931920"/>
                        <a:ext cx="18859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8"/>
          <p:cNvSpPr txBox="1">
            <a:spLocks noChangeArrowheads="1"/>
          </p:cNvSpPr>
          <p:nvPr/>
        </p:nvSpPr>
        <p:spPr bwMode="auto">
          <a:xfrm>
            <a:off x="605730" y="5590222"/>
            <a:ext cx="82867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dirty="0" smtClean="0">
                <a:solidFill>
                  <a:schemeClr val="bg2"/>
                </a:solidFill>
                <a:latin typeface="Consolas" panose="020B0609020204030204" pitchFamily="49" charset="0"/>
                <a:ea typeface="楷体" panose="02010609060101010101" pitchFamily="49" charset="-122"/>
                <a:cs typeface="Consolas" panose="020B0609020204030204" pitchFamily="49" charset="0"/>
              </a:rPr>
              <a:t>若</a:t>
            </a:r>
            <a:r>
              <a:rPr lang="en-US" altLang="zh-CN" sz="2200" i="1" dirty="0">
                <a:solidFill>
                  <a:schemeClr val="bg2"/>
                </a:solidFill>
                <a:ea typeface="楷体" panose="02010609060101010101" pitchFamily="49" charset="-122"/>
                <a:cs typeface="Times New Roman" panose="02020603050405020304" pitchFamily="18" charset="0"/>
              </a:rPr>
              <a:t>q</a:t>
            </a:r>
            <a:r>
              <a:rPr lang="en-US" altLang="zh-CN" dirty="0" smtClean="0">
                <a:solidFill>
                  <a:schemeClr val="bg2"/>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dirty="0">
                <a:solidFill>
                  <a:schemeClr val="bg2"/>
                </a:solidFill>
                <a:ea typeface="楷体" panose="02010609060101010101" pitchFamily="49" charset="-122"/>
                <a:cs typeface="Times New Roman" panose="02020603050405020304" pitchFamily="18" charset="0"/>
              </a:rPr>
              <a:t>1/2</a:t>
            </a:r>
            <a:r>
              <a:rPr lang="zh-CN" altLang="en-US" dirty="0">
                <a:solidFill>
                  <a:schemeClr val="bg2"/>
                </a:solidFill>
                <a:latin typeface="Consolas" panose="020B0609020204030204" pitchFamily="49" charset="0"/>
                <a:ea typeface="楷体" panose="02010609060101010101" pitchFamily="49" charset="-122"/>
                <a:cs typeface="Consolas" panose="020B0609020204030204" pitchFamily="49" charset="0"/>
              </a:rPr>
              <a:t>，则</a:t>
            </a:r>
            <a:r>
              <a:rPr lang="en-US" altLang="zh-CN" sz="2200" i="1" dirty="0">
                <a:solidFill>
                  <a:schemeClr val="bg2"/>
                </a:solidFill>
                <a:ea typeface="楷体" panose="02010609060101010101" pitchFamily="49" charset="-122"/>
                <a:cs typeface="Times New Roman" panose="02020603050405020304" pitchFamily="18" charset="0"/>
              </a:rPr>
              <a:t>A</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dirty="0">
                <a:solidFill>
                  <a:schemeClr val="bg2"/>
                </a:solidFill>
                <a:ea typeface="楷体" panose="02010609060101010101" pitchFamily="49" charset="-122"/>
                <a:cs typeface="Times New Roman" panose="02020603050405020304" pitchFamily="18" charset="0"/>
              </a:rPr>
              <a:t>n</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a:t>
            </a:r>
            <a:r>
              <a:rPr lang="en-US" altLang="zh-CN" sz="2200" i="1" dirty="0">
                <a:solidFill>
                  <a:schemeClr val="bg2"/>
                </a:solidFill>
                <a:ea typeface="楷体" panose="02010609060101010101" pitchFamily="49" charset="-122"/>
                <a:cs typeface="Times New Roman" panose="02020603050405020304" pitchFamily="18" charset="0"/>
              </a:rPr>
              <a:t>n</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+1)/4]+</a:t>
            </a:r>
            <a:r>
              <a:rPr lang="en-US" altLang="zh-CN" sz="2200" i="1" dirty="0">
                <a:solidFill>
                  <a:schemeClr val="bg2"/>
                </a:solidFill>
                <a:ea typeface="楷体" panose="02010609060101010101" pitchFamily="49" charset="-122"/>
                <a:cs typeface="Times New Roman" panose="02020603050405020304" pitchFamily="18" charset="0"/>
              </a:rPr>
              <a:t>n</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/2≈3</a:t>
            </a:r>
            <a:r>
              <a:rPr lang="en-US" altLang="zh-CN" sz="2200" i="1" dirty="0">
                <a:solidFill>
                  <a:schemeClr val="bg2"/>
                </a:solidFill>
                <a:ea typeface="楷体" panose="02010609060101010101" pitchFamily="49" charset="-122"/>
                <a:cs typeface="Times New Roman" panose="02020603050405020304" pitchFamily="18" charset="0"/>
              </a:rPr>
              <a:t>n</a:t>
            </a:r>
            <a:r>
              <a:rPr lang="en-US" altLang="zh-CN" dirty="0">
                <a:solidFill>
                  <a:schemeClr val="bg2"/>
                </a:solidFill>
                <a:latin typeface="Consolas" panose="020B0609020204030204" pitchFamily="49" charset="0"/>
                <a:ea typeface="楷体" panose="02010609060101010101" pitchFamily="49" charset="-122"/>
                <a:cs typeface="Consolas" panose="020B0609020204030204" pitchFamily="49" charset="0"/>
              </a:rPr>
              <a:t>/4</a:t>
            </a:r>
            <a:r>
              <a:rPr lang="zh-CN" altLang="en-US" dirty="0">
                <a:solidFill>
                  <a:schemeClr val="bg2"/>
                </a:solidFill>
                <a:latin typeface="Consolas" panose="020B0609020204030204" pitchFamily="49" charset="0"/>
                <a:ea typeface="楷体" panose="02010609060101010101" pitchFamily="49" charset="-122"/>
                <a:cs typeface="Consolas" panose="020B0609020204030204" pitchFamily="49" charset="0"/>
              </a:rPr>
              <a:t>。</a:t>
            </a:r>
            <a:endParaRPr lang="zh-CN" altLang="en-US" dirty="0">
              <a:solidFill>
                <a:schemeClr val="bg2"/>
              </a:solidFill>
              <a:latin typeface="Consolas" panose="020B0609020204030204" pitchFamily="49" charset="0"/>
              <a:ea typeface="楷体" panose="02010609060101010101" pitchFamily="49" charset="-122"/>
              <a:cs typeface="Consolas" panose="020B0609020204030204" pitchFamily="49" charset="0"/>
            </a:endParaRPr>
          </a:p>
        </p:txBody>
      </p:sp>
      <p:graphicFrame>
        <p:nvGraphicFramePr>
          <p:cNvPr id="7" name="对象 6">
            <a:hlinkClick r:id="" action="ppaction://ole?verb="/>
          </p:cNvPr>
          <p:cNvGraphicFramePr>
            <a:graphicFrameLocks noChangeAspect="1"/>
          </p:cNvGraphicFramePr>
          <p:nvPr/>
        </p:nvGraphicFramePr>
        <p:xfrm>
          <a:off x="2123440" y="4869180"/>
          <a:ext cx="5816600" cy="800735"/>
        </p:xfrm>
        <a:graphic>
          <a:graphicData uri="http://schemas.openxmlformats.org/presentationml/2006/ole">
            <mc:AlternateContent xmlns:mc="http://schemas.openxmlformats.org/markup-compatibility/2006">
              <mc:Choice xmlns:v="urn:schemas-microsoft-com:vml" Requires="v">
                <p:oleObj spid="_x0000_s2049" name="" r:id="rId3" imgW="3136900" imgH="431800" progId="Equation.KSEE3">
                  <p:embed/>
                </p:oleObj>
              </mc:Choice>
              <mc:Fallback>
                <p:oleObj name="" r:id="rId3" imgW="3136900" imgH="431800" progId="Equation.KSEE3">
                  <p:embed/>
                  <p:pic>
                    <p:nvPicPr>
                      <p:cNvPr id="0" name="20 2048"/>
                      <p:cNvPicPr/>
                      <p:nvPr/>
                    </p:nvPicPr>
                    <p:blipFill>
                      <a:blip r:embed="rId4"/>
                      <a:stretch>
                        <a:fillRect/>
                      </a:stretch>
                    </p:blipFill>
                    <p:spPr>
                      <a:xfrm>
                        <a:off x="2123440" y="4869180"/>
                        <a:ext cx="5816600" cy="800735"/>
                      </a:xfrm>
                      <a:prstGeom prst="rect">
                        <a:avLst/>
                      </a:prstGeom>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wipe(down)">
                                      <p:cBhvr>
                                        <p:cTn id="26" dur="500"/>
                                        <p:tgtEl>
                                          <p:spTgt spid="5">
                                            <p:txEl>
                                              <p:pRg st="2" end="2"/>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文本框 2"/>
          <p:cNvSpPr txBox="1"/>
          <p:nvPr/>
        </p:nvSpPr>
        <p:spPr>
          <a:xfrm>
            <a:off x="313690" y="1596390"/>
            <a:ext cx="8373110" cy="607695"/>
          </a:xfrm>
          <a:prstGeom prst="rect">
            <a:avLst/>
          </a:prstGeom>
          <a:solidFill>
            <a:schemeClr val="tx1"/>
          </a:solidFill>
        </p:spPr>
        <p:txBody>
          <a:bodyPr wrap="square" rtlCol="0" anchor="t">
            <a:spAutoFit/>
          </a:bodyPr>
          <a:lstStyle/>
          <a:p>
            <a:pPr marL="457200" indent="-457200">
              <a:lnSpc>
                <a:spcPct val="120000"/>
              </a:lnSpc>
              <a:spcBef>
                <a:spcPts val="0"/>
              </a:spcBef>
              <a:spcAft>
                <a:spcPts val="0"/>
              </a:spcAft>
              <a:buFont typeface="Arial" panose="020B0604020202020204" pitchFamily="34" charset="0"/>
              <a:buChar char="•"/>
            </a:pPr>
            <a:r>
              <a:rPr lang="zh-CN" altLang="en-US" sz="2800" dirty="0">
                <a:solidFill>
                  <a:schemeClr val="bg2"/>
                </a:solidFill>
                <a:uFillTx/>
                <a:sym typeface="+mn-ea"/>
              </a:rPr>
              <a:t>实现</a:t>
            </a:r>
            <a:r>
              <a:rPr lang="zh-CN" altLang="en-US" sz="2800" dirty="0" smtClean="0">
                <a:solidFill>
                  <a:schemeClr val="bg2"/>
                </a:solidFill>
                <a:uFillTx/>
                <a:sym typeface="+mn-ea"/>
              </a:rPr>
              <a:t>算法</a:t>
            </a:r>
            <a:r>
              <a:rPr lang="en-US" altLang="zh-CN" sz="2800" dirty="0" smtClean="0">
                <a:solidFill>
                  <a:schemeClr val="bg2"/>
                </a:solidFill>
                <a:uFillTx/>
                <a:sym typeface="+mn-ea"/>
              </a:rPr>
              <a:t>2——</a:t>
            </a:r>
            <a:r>
              <a:rPr lang="zh-CN" altLang="en-US" sz="2800" dirty="0">
                <a:solidFill>
                  <a:schemeClr val="bg2"/>
                </a:solidFill>
              </a:rPr>
              <a:t> 利用</a:t>
            </a:r>
            <a:r>
              <a:rPr lang="zh-CN" altLang="en-US" sz="2800" b="1" dirty="0">
                <a:solidFill>
                  <a:srgbClr val="FF0000"/>
                </a:solidFill>
              </a:rPr>
              <a:t>非降序排列</a:t>
            </a:r>
            <a:r>
              <a:rPr lang="zh-CN" altLang="en-US" sz="2800" dirty="0">
                <a:solidFill>
                  <a:schemeClr val="bg2"/>
                </a:solidFill>
              </a:rPr>
              <a:t>的特性</a:t>
            </a:r>
            <a:endParaRPr lang="zh-CN" altLang="en-US" sz="2800" dirty="0">
              <a:solidFill>
                <a:schemeClr val="bg2"/>
              </a:solidFill>
            </a:endParaRPr>
          </a:p>
        </p:txBody>
      </p:sp>
      <p:sp>
        <p:nvSpPr>
          <p:cNvPr id="2" name="文本框 1"/>
          <p:cNvSpPr txBox="1"/>
          <p:nvPr/>
        </p:nvSpPr>
        <p:spPr>
          <a:xfrm>
            <a:off x="614680" y="2184400"/>
            <a:ext cx="8072120" cy="1420495"/>
          </a:xfrm>
          <a:prstGeom prst="rect">
            <a:avLst/>
          </a:prstGeom>
          <a:noFill/>
        </p:spPr>
        <p:txBody>
          <a:bodyPr wrap="square" rtlCol="0" anchor="t">
            <a:spAutoFit/>
          </a:bodyPr>
          <a:lstStyle/>
          <a:p>
            <a:pPr>
              <a:lnSpc>
                <a:spcPct val="120000"/>
              </a:lnSpc>
              <a:spcBef>
                <a:spcPts val="0"/>
              </a:spcBef>
              <a:spcAft>
                <a:spcPts val="0"/>
              </a:spcAft>
            </a:pPr>
            <a:r>
              <a:rPr lang="en-US" altLang="zh-CN" b="1" i="1" dirty="0">
                <a:solidFill>
                  <a:schemeClr val="bg1"/>
                </a:solidFill>
              </a:rPr>
              <a:t>j</a:t>
            </a:r>
            <a:r>
              <a:rPr lang="en-US" altLang="zh-CN" b="1" dirty="0">
                <a:solidFill>
                  <a:schemeClr val="bg1"/>
                </a:solidFill>
              </a:rPr>
              <a:t>=1, </a:t>
            </a:r>
            <a:r>
              <a:rPr lang="zh-CN" altLang="en-US" dirty="0">
                <a:solidFill>
                  <a:schemeClr val="bg1"/>
                </a:solidFill>
              </a:rPr>
              <a:t>将 </a:t>
            </a:r>
            <a:r>
              <a:rPr lang="en-US" altLang="zh-CN" b="1" i="1" dirty="0">
                <a:solidFill>
                  <a:schemeClr val="bg1"/>
                </a:solidFill>
              </a:rPr>
              <a:t>x</a:t>
            </a:r>
            <a:r>
              <a:rPr lang="zh-CN" altLang="en-US" dirty="0">
                <a:solidFill>
                  <a:schemeClr val="bg1"/>
                </a:solidFill>
              </a:rPr>
              <a:t>与</a:t>
            </a:r>
            <a:r>
              <a:rPr lang="en-US" altLang="zh-CN" b="1" i="1" dirty="0">
                <a:solidFill>
                  <a:schemeClr val="bg1"/>
                </a:solidFill>
              </a:rPr>
              <a:t>L</a:t>
            </a:r>
            <a:r>
              <a:rPr lang="en-US" altLang="zh-CN" b="1" dirty="0">
                <a:solidFill>
                  <a:schemeClr val="bg1"/>
                </a:solidFill>
              </a:rPr>
              <a:t>[</a:t>
            </a:r>
            <a:r>
              <a:rPr lang="en-US" altLang="zh-CN" b="1" i="1" dirty="0">
                <a:solidFill>
                  <a:schemeClr val="bg1"/>
                </a:solidFill>
              </a:rPr>
              <a:t>j</a:t>
            </a:r>
            <a:r>
              <a:rPr lang="en-US" altLang="zh-CN" b="1" dirty="0">
                <a:solidFill>
                  <a:schemeClr val="bg1"/>
                </a:solidFill>
              </a:rPr>
              <a:t>]</a:t>
            </a:r>
            <a:r>
              <a:rPr lang="zh-CN" altLang="en-US" dirty="0">
                <a:solidFill>
                  <a:schemeClr val="bg1"/>
                </a:solidFill>
              </a:rPr>
              <a:t>比较</a:t>
            </a:r>
            <a:r>
              <a:rPr lang="en-US" altLang="zh-CN" b="1" dirty="0">
                <a:solidFill>
                  <a:schemeClr val="bg1"/>
                </a:solidFill>
              </a:rPr>
              <a:t>. </a:t>
            </a:r>
            <a:r>
              <a:rPr lang="zh-CN" altLang="en-US" dirty="0">
                <a:solidFill>
                  <a:schemeClr val="bg1"/>
                </a:solidFill>
              </a:rPr>
              <a:t>如果 </a:t>
            </a:r>
            <a:r>
              <a:rPr lang="en-US" altLang="zh-CN" b="1" i="1" dirty="0">
                <a:solidFill>
                  <a:schemeClr val="bg1"/>
                </a:solidFill>
              </a:rPr>
              <a:t>x</a:t>
            </a:r>
            <a:r>
              <a:rPr lang="en-US" altLang="zh-CN" b="1" dirty="0">
                <a:solidFill>
                  <a:schemeClr val="bg1"/>
                </a:solidFill>
              </a:rPr>
              <a:t>=</a:t>
            </a:r>
            <a:r>
              <a:rPr lang="en-US" altLang="zh-CN" b="1" i="1" dirty="0">
                <a:solidFill>
                  <a:schemeClr val="bg1"/>
                </a:solidFill>
              </a:rPr>
              <a:t>L</a:t>
            </a:r>
            <a:r>
              <a:rPr lang="en-US" altLang="zh-CN" b="1" dirty="0">
                <a:solidFill>
                  <a:schemeClr val="bg1"/>
                </a:solidFill>
              </a:rPr>
              <a:t>[</a:t>
            </a:r>
            <a:r>
              <a:rPr lang="en-US" altLang="zh-CN" b="1" i="1" dirty="0">
                <a:solidFill>
                  <a:schemeClr val="bg1"/>
                </a:solidFill>
              </a:rPr>
              <a:t>j</a:t>
            </a:r>
            <a:r>
              <a:rPr lang="en-US" altLang="zh-CN" b="1" dirty="0">
                <a:solidFill>
                  <a:schemeClr val="bg1"/>
                </a:solidFill>
              </a:rPr>
              <a:t>]</a:t>
            </a:r>
            <a:r>
              <a:rPr lang="zh-CN" altLang="en-US" dirty="0">
                <a:solidFill>
                  <a:schemeClr val="bg1"/>
                </a:solidFill>
              </a:rPr>
              <a:t>，则算法</a:t>
            </a:r>
            <a:r>
              <a:rPr lang="zh-CN" altLang="en-US" dirty="0" smtClean="0">
                <a:solidFill>
                  <a:schemeClr val="bg1"/>
                </a:solidFill>
              </a:rPr>
              <a:t>停止</a:t>
            </a:r>
            <a:r>
              <a:rPr lang="zh-CN" altLang="en-US" dirty="0">
                <a:solidFill>
                  <a:schemeClr val="bg1"/>
                </a:solidFill>
              </a:rPr>
              <a:t>，输出 </a:t>
            </a:r>
            <a:r>
              <a:rPr lang="en-US" altLang="zh-CN" b="1" i="1" dirty="0">
                <a:solidFill>
                  <a:schemeClr val="bg1"/>
                </a:solidFill>
              </a:rPr>
              <a:t>j</a:t>
            </a:r>
            <a:r>
              <a:rPr lang="zh-CN" altLang="en-US" dirty="0">
                <a:solidFill>
                  <a:schemeClr val="bg1"/>
                </a:solidFill>
              </a:rPr>
              <a:t>；如果 </a:t>
            </a:r>
            <a:r>
              <a:rPr lang="en-US" altLang="zh-CN" b="1" i="1" dirty="0">
                <a:solidFill>
                  <a:schemeClr val="bg1"/>
                </a:solidFill>
              </a:rPr>
              <a:t>x </a:t>
            </a:r>
            <a:r>
              <a:rPr lang="en-US" altLang="zh-CN" b="1" dirty="0">
                <a:solidFill>
                  <a:schemeClr val="bg1"/>
                </a:solidFill>
              </a:rPr>
              <a:t>&gt;</a:t>
            </a:r>
            <a:r>
              <a:rPr lang="en-US" altLang="zh-CN" b="1" i="1" dirty="0">
                <a:solidFill>
                  <a:schemeClr val="bg1"/>
                </a:solidFill>
              </a:rPr>
              <a:t>L</a:t>
            </a:r>
            <a:r>
              <a:rPr lang="en-US" altLang="zh-CN" b="1" dirty="0">
                <a:solidFill>
                  <a:schemeClr val="bg1"/>
                </a:solidFill>
              </a:rPr>
              <a:t>[</a:t>
            </a:r>
            <a:r>
              <a:rPr lang="en-US" altLang="zh-CN" b="1" i="1" dirty="0">
                <a:solidFill>
                  <a:schemeClr val="bg1"/>
                </a:solidFill>
              </a:rPr>
              <a:t>j</a:t>
            </a:r>
            <a:r>
              <a:rPr lang="en-US" altLang="zh-CN" b="1" dirty="0">
                <a:solidFill>
                  <a:schemeClr val="bg1"/>
                </a:solidFill>
              </a:rPr>
              <a:t>]</a:t>
            </a:r>
            <a:r>
              <a:rPr lang="zh-CN" altLang="en-US" dirty="0">
                <a:solidFill>
                  <a:schemeClr val="bg1"/>
                </a:solidFill>
              </a:rPr>
              <a:t>，则把 </a:t>
            </a:r>
            <a:r>
              <a:rPr lang="en-US" altLang="zh-CN" b="1" i="1" dirty="0">
                <a:solidFill>
                  <a:schemeClr val="bg1"/>
                </a:solidFill>
              </a:rPr>
              <a:t>j </a:t>
            </a:r>
            <a:r>
              <a:rPr lang="zh-CN" altLang="en-US" dirty="0">
                <a:solidFill>
                  <a:schemeClr val="bg1"/>
                </a:solidFill>
              </a:rPr>
              <a:t>加</a:t>
            </a:r>
            <a:r>
              <a:rPr lang="en-US" altLang="zh-CN" b="1" dirty="0">
                <a:solidFill>
                  <a:schemeClr val="bg1"/>
                </a:solidFill>
              </a:rPr>
              <a:t>1</a:t>
            </a:r>
            <a:r>
              <a:rPr lang="zh-CN" altLang="en-US" dirty="0">
                <a:solidFill>
                  <a:schemeClr val="bg1"/>
                </a:solidFill>
              </a:rPr>
              <a:t>，</a:t>
            </a:r>
            <a:r>
              <a:rPr lang="zh-CN" altLang="en-US" dirty="0" smtClean="0">
                <a:solidFill>
                  <a:schemeClr val="bg1"/>
                </a:solidFill>
              </a:rPr>
              <a:t>继续 </a:t>
            </a:r>
            <a:r>
              <a:rPr lang="en-US" altLang="zh-CN" b="1" i="1" dirty="0">
                <a:solidFill>
                  <a:schemeClr val="bg1"/>
                </a:solidFill>
              </a:rPr>
              <a:t>x</a:t>
            </a:r>
            <a:r>
              <a:rPr lang="zh-CN" altLang="en-US" dirty="0">
                <a:solidFill>
                  <a:schemeClr val="bg1"/>
                </a:solidFill>
              </a:rPr>
              <a:t>与 </a:t>
            </a:r>
            <a:r>
              <a:rPr lang="en-US" altLang="zh-CN" b="1" i="1" dirty="0">
                <a:solidFill>
                  <a:schemeClr val="bg1"/>
                </a:solidFill>
              </a:rPr>
              <a:t>L</a:t>
            </a:r>
            <a:r>
              <a:rPr lang="en-US" altLang="zh-CN" b="1" dirty="0">
                <a:solidFill>
                  <a:schemeClr val="bg1"/>
                </a:solidFill>
              </a:rPr>
              <a:t>[</a:t>
            </a:r>
            <a:r>
              <a:rPr lang="en-US" altLang="zh-CN" b="1" i="1" dirty="0">
                <a:solidFill>
                  <a:schemeClr val="bg1"/>
                </a:solidFill>
              </a:rPr>
              <a:t>j</a:t>
            </a:r>
            <a:r>
              <a:rPr lang="en-US" altLang="zh-CN" b="1" dirty="0">
                <a:solidFill>
                  <a:schemeClr val="bg1"/>
                </a:solidFill>
              </a:rPr>
              <a:t>]</a:t>
            </a:r>
            <a:r>
              <a:rPr lang="zh-CN" altLang="en-US" dirty="0">
                <a:solidFill>
                  <a:schemeClr val="bg1"/>
                </a:solidFill>
              </a:rPr>
              <a:t>的比较；如果 </a:t>
            </a:r>
            <a:r>
              <a:rPr lang="en-US" altLang="zh-CN" b="1" i="1" dirty="0">
                <a:solidFill>
                  <a:schemeClr val="bg1"/>
                </a:solidFill>
              </a:rPr>
              <a:t>x </a:t>
            </a:r>
            <a:r>
              <a:rPr lang="en-US" altLang="zh-CN" b="1" dirty="0">
                <a:solidFill>
                  <a:schemeClr val="bg1"/>
                </a:solidFill>
              </a:rPr>
              <a:t>&lt; </a:t>
            </a:r>
            <a:r>
              <a:rPr lang="en-US" altLang="zh-CN" b="1" i="1" dirty="0">
                <a:solidFill>
                  <a:schemeClr val="bg1"/>
                </a:solidFill>
              </a:rPr>
              <a:t>L</a:t>
            </a:r>
            <a:r>
              <a:rPr lang="en-US" altLang="zh-CN" b="1" dirty="0">
                <a:solidFill>
                  <a:schemeClr val="bg1"/>
                </a:solidFill>
              </a:rPr>
              <a:t>[</a:t>
            </a:r>
            <a:r>
              <a:rPr lang="en-US" altLang="zh-CN" b="1" i="1" dirty="0">
                <a:solidFill>
                  <a:schemeClr val="bg1"/>
                </a:solidFill>
              </a:rPr>
              <a:t>j</a:t>
            </a:r>
            <a:r>
              <a:rPr lang="en-US" altLang="zh-CN" b="1" dirty="0">
                <a:solidFill>
                  <a:schemeClr val="bg1"/>
                </a:solidFill>
              </a:rPr>
              <a:t>]</a:t>
            </a:r>
            <a:r>
              <a:rPr lang="zh-CN" altLang="en-US" dirty="0">
                <a:solidFill>
                  <a:schemeClr val="bg1"/>
                </a:solidFill>
              </a:rPr>
              <a:t>，则</a:t>
            </a:r>
            <a:r>
              <a:rPr lang="zh-CN" altLang="en-US" dirty="0" smtClean="0">
                <a:solidFill>
                  <a:schemeClr val="bg1"/>
                </a:solidFill>
              </a:rPr>
              <a:t>停机并</a:t>
            </a:r>
            <a:r>
              <a:rPr lang="zh-CN" altLang="en-US" dirty="0">
                <a:solidFill>
                  <a:schemeClr val="bg1"/>
                </a:solidFill>
              </a:rPr>
              <a:t>输出</a:t>
            </a:r>
            <a:r>
              <a:rPr lang="en-US" altLang="zh-CN" b="1" dirty="0">
                <a:solidFill>
                  <a:schemeClr val="bg1"/>
                </a:solidFill>
              </a:rPr>
              <a:t>0. </a:t>
            </a:r>
            <a:r>
              <a:rPr lang="zh-CN" altLang="en-US" dirty="0">
                <a:solidFill>
                  <a:schemeClr val="bg1"/>
                </a:solidFill>
              </a:rPr>
              <a:t>如果 </a:t>
            </a:r>
            <a:r>
              <a:rPr lang="en-US" altLang="zh-CN" b="1" i="1" dirty="0">
                <a:solidFill>
                  <a:schemeClr val="bg1"/>
                </a:solidFill>
              </a:rPr>
              <a:t>j </a:t>
            </a:r>
            <a:r>
              <a:rPr lang="en-US" altLang="zh-CN" b="1" dirty="0">
                <a:solidFill>
                  <a:schemeClr val="bg1"/>
                </a:solidFill>
              </a:rPr>
              <a:t>&gt;</a:t>
            </a:r>
            <a:r>
              <a:rPr lang="en-US" altLang="zh-CN" b="1" i="1" dirty="0">
                <a:solidFill>
                  <a:schemeClr val="bg1"/>
                </a:solidFill>
              </a:rPr>
              <a:t>n</a:t>
            </a:r>
            <a:r>
              <a:rPr lang="zh-CN" altLang="en-US" dirty="0">
                <a:solidFill>
                  <a:schemeClr val="bg1"/>
                </a:solidFill>
              </a:rPr>
              <a:t>，则停机并输出 </a:t>
            </a:r>
            <a:r>
              <a:rPr lang="en-US" altLang="zh-CN" b="1" dirty="0">
                <a:solidFill>
                  <a:schemeClr val="bg1"/>
                </a:solidFill>
              </a:rPr>
              <a:t>0.</a:t>
            </a:r>
            <a:r>
              <a:rPr lang="zh-CN" altLang="en-US" dirty="0">
                <a:solidFill>
                  <a:schemeClr val="bg1"/>
                </a:solidFill>
              </a:rPr>
              <a:t> </a:t>
            </a:r>
            <a:endParaRPr lang="zh-CN" altLang="en-US" dirty="0">
              <a:solidFill>
                <a:schemeClr val="bg1"/>
              </a:solidFill>
            </a:endParaRPr>
          </a:p>
        </p:txBody>
      </p:sp>
      <p:pic>
        <p:nvPicPr>
          <p:cNvPr id="5" name="20 4"/>
          <p:cNvPicPr>
            <a:picLocks noChangeAspect="1"/>
          </p:cNvPicPr>
          <p:nvPr/>
        </p:nvPicPr>
        <p:blipFill rotWithShape="1">
          <a:blip r:embed="rId1"/>
          <a:srcRect t="29950"/>
          <a:stretch>
            <a:fillRect/>
          </a:stretch>
        </p:blipFill>
        <p:spPr>
          <a:xfrm>
            <a:off x="1440179" y="3860823"/>
            <a:ext cx="6120765" cy="679681"/>
          </a:xfrm>
          <a:prstGeom prst="rect">
            <a:avLst/>
          </a:prstGeom>
        </p:spPr>
      </p:pic>
      <p:pic>
        <p:nvPicPr>
          <p:cNvPr id="6" name="20 5"/>
          <p:cNvPicPr>
            <a:picLocks noChangeAspect="1"/>
          </p:cNvPicPr>
          <p:nvPr/>
        </p:nvPicPr>
        <p:blipFill>
          <a:blip r:embed="rId2"/>
          <a:stretch>
            <a:fillRect/>
          </a:stretch>
        </p:blipFill>
        <p:spPr>
          <a:xfrm>
            <a:off x="1648460" y="4598035"/>
            <a:ext cx="1536700" cy="680085"/>
          </a:xfrm>
          <a:prstGeom prst="rect">
            <a:avLst/>
          </a:prstGeom>
        </p:spPr>
      </p:pic>
      <p:pic>
        <p:nvPicPr>
          <p:cNvPr id="7" name="20 6"/>
          <p:cNvPicPr>
            <a:picLocks noChangeAspect="1"/>
          </p:cNvPicPr>
          <p:nvPr/>
        </p:nvPicPr>
        <p:blipFill>
          <a:blip r:embed="rId3"/>
          <a:stretch>
            <a:fillRect/>
          </a:stretch>
        </p:blipFill>
        <p:spPr>
          <a:xfrm>
            <a:off x="3420110" y="4674870"/>
            <a:ext cx="2352040" cy="603250"/>
          </a:xfrm>
          <a:prstGeom prst="rect">
            <a:avLst/>
          </a:prstGeom>
        </p:spPr>
      </p:pic>
      <p:pic>
        <p:nvPicPr>
          <p:cNvPr id="8" name="20 7"/>
          <p:cNvPicPr>
            <a:picLocks noChangeAspect="1"/>
          </p:cNvPicPr>
          <p:nvPr/>
        </p:nvPicPr>
        <p:blipFill>
          <a:blip r:embed="rId4"/>
          <a:stretch>
            <a:fillRect/>
          </a:stretch>
        </p:blipFill>
        <p:spPr>
          <a:xfrm>
            <a:off x="1648460" y="5445125"/>
            <a:ext cx="1657985" cy="509270"/>
          </a:xfrm>
          <a:prstGeom prst="rect">
            <a:avLst/>
          </a:prstGeom>
        </p:spPr>
      </p:pic>
      <p:sp>
        <p:nvSpPr>
          <p:cNvPr id="4" name="矩形 3"/>
          <p:cNvSpPr/>
          <p:nvPr/>
        </p:nvSpPr>
        <p:spPr>
          <a:xfrm>
            <a:off x="3420110" y="5432425"/>
            <a:ext cx="2852420" cy="521970"/>
          </a:xfrm>
          <a:prstGeom prst="rect">
            <a:avLst/>
          </a:prstGeom>
        </p:spPr>
        <p:txBody>
          <a:bodyPr wrap="square">
            <a:spAutoFit/>
          </a:bodyPr>
          <a:lstStyle/>
          <a:p>
            <a:r>
              <a:rPr lang="zh-CN" altLang="en-US" sz="2800" b="1" dirty="0">
                <a:solidFill>
                  <a:schemeClr val="bg2"/>
                </a:solidFill>
                <a:effectLst>
                  <a:outerShdw blurRad="38100" dist="38100" dir="2700000" algn="tl">
                    <a:srgbClr val="000000">
                      <a:alpha val="43137"/>
                    </a:srgbClr>
                  </a:outerShdw>
                </a:effectLst>
                <a:latin typeface="+mj-ea"/>
                <a:ea typeface="+mj-ea"/>
              </a:rPr>
              <a:t>需要比较 </a:t>
            </a:r>
            <a:r>
              <a:rPr lang="en-US" altLang="zh-CN" sz="2800" b="1" dirty="0">
                <a:solidFill>
                  <a:schemeClr val="bg2"/>
                </a:solidFill>
                <a:effectLst>
                  <a:outerShdw blurRad="38100" dist="38100" dir="2700000" algn="tl">
                    <a:srgbClr val="000000">
                      <a:alpha val="43137"/>
                    </a:srgbClr>
                  </a:outerShdw>
                </a:effectLst>
                <a:latin typeface="+mj-ea"/>
                <a:ea typeface="+mj-ea"/>
              </a:rPr>
              <a:t>3 </a:t>
            </a:r>
            <a:r>
              <a:rPr lang="zh-CN" altLang="en-US" sz="2800" b="1" dirty="0">
                <a:solidFill>
                  <a:schemeClr val="bg2"/>
                </a:solidFill>
                <a:effectLst>
                  <a:outerShdw blurRad="38100" dist="38100" dir="2700000" algn="tl">
                    <a:srgbClr val="000000">
                      <a:alpha val="43137"/>
                    </a:srgbClr>
                  </a:outerShdw>
                </a:effectLst>
                <a:latin typeface="+mj-ea"/>
                <a:ea typeface="+mj-ea"/>
              </a:rPr>
              <a:t>次 </a:t>
            </a:r>
            <a:endParaRPr lang="zh-CN" altLang="en-US" sz="2800" b="1" dirty="0">
              <a:solidFill>
                <a:schemeClr val="bg2"/>
              </a:solidFill>
              <a:effectLst>
                <a:outerShdw blurRad="38100" dist="38100" dir="2700000" algn="tl">
                  <a:srgbClr val="000000">
                    <a:alpha val="43137"/>
                  </a:srgbClr>
                </a:outerShdw>
              </a:effectLst>
              <a:latin typeface="+mj-ea"/>
              <a:ea typeface="+mj-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4" name="Text Box 3"/>
          <p:cNvSpPr txBox="1">
            <a:spLocks noChangeArrowheads="1"/>
          </p:cNvSpPr>
          <p:nvPr/>
        </p:nvSpPr>
        <p:spPr bwMode="auto">
          <a:xfrm>
            <a:off x="1234262" y="2029758"/>
            <a:ext cx="6675755" cy="3610610"/>
          </a:xfrm>
          <a:prstGeom prst="rect">
            <a:avLst/>
          </a:prstGeom>
          <a:solidFill>
            <a:schemeClr val="accent2">
              <a:lumMod val="40000"/>
              <a:lumOff val="60000"/>
            </a:schemeClr>
          </a:solid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44000" tIns="144000" bIns="144000">
            <a:spAutoFit/>
          </a:bodyPr>
          <a:lstStyle/>
          <a:p>
            <a:pPr marR="0" defTabSz="914400">
              <a:buClrTx/>
              <a:buSzTx/>
              <a:buFontTx/>
              <a:defRPr/>
            </a:pP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Find</a:t>
            </a:r>
            <a:r>
              <a:rPr kumimoji="1" lang="en-US" altLang="zh-CN" b="1" i="1" kern="1200" cap="none" spc="0" normalizeH="0" baseline="0" noProof="0" dirty="0" smtClean="0">
                <a:solidFill>
                  <a:srgbClr val="000000"/>
                </a:solidFill>
                <a:ea typeface="仿宋" panose="02010609060101010101" pitchFamily="49" charset="-122"/>
                <a:cs typeface="Times New Roman" panose="02020603050405020304" pitchFamily="18" charset="0"/>
              </a:rPr>
              <a:t>2</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(double L[],</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n,double</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x)</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int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i=1;</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while (i&lt;=n)</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  if (L[</a:t>
            </a:r>
            <a:r>
              <a:rPr kumimoji="1" lang="en-US" b="1" i="1" kern="1200" cap="none" spc="0" normalizeH="0" baseline="0" noProof="0" dirty="0" err="1" smtClean="0">
                <a:solidFill>
                  <a:srgbClr val="000000"/>
                </a:solidFill>
                <a:ea typeface="仿宋" panose="02010609060101010101" pitchFamily="49" charset="-122"/>
                <a:cs typeface="Times New Roman" panose="02020603050405020304" pitchFamily="18" charset="0"/>
              </a:rPr>
              <a:t>i</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a:t>
            </a:r>
            <a:r>
              <a:rPr kumimoji="1" lang="en-US" b="1" i="1" dirty="0">
                <a:solidFill>
                  <a:srgbClr val="FF0000"/>
                </a:solidFill>
                <a:ea typeface="仿宋" panose="02010609060101010101" pitchFamily="49" charset="-122"/>
                <a:cs typeface="Times New Roman" panose="02020603050405020304" pitchFamily="18" charset="0"/>
              </a:rPr>
              <a:t>&gt;</a:t>
            </a:r>
            <a:r>
              <a:rPr kumimoji="1" lang="en-US" b="1" i="1" kern="1200" cap="none" spc="0" normalizeH="0" baseline="0" noProof="0" dirty="0" smtClean="0">
                <a:solidFill>
                  <a:srgbClr val="FF0000"/>
                </a:solidFill>
                <a:ea typeface="仿宋" panose="02010609060101010101" pitchFamily="49" charset="-122"/>
                <a:cs typeface="Times New Roman" panose="02020603050405020304" pitchFamily="18" charset="0"/>
              </a:rPr>
              <a:t>=</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x) break;</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if (</a:t>
            </a:r>
            <a:r>
              <a:rPr kumimoji="1" lang="en-US" b="1" i="1" noProof="0" dirty="0" smtClean="0">
                <a:solidFill>
                  <a:schemeClr val="bg2"/>
                </a:solidFill>
                <a:ea typeface="仿宋" panose="02010609060101010101" pitchFamily="49" charset="-122"/>
                <a:cs typeface="Times New Roman" panose="02020603050405020304" pitchFamily="18" charset="0"/>
                <a:sym typeface="+mn-ea"/>
              </a:rPr>
              <a:t>i&lt;=n</a:t>
            </a:r>
            <a:r>
              <a:rPr kumimoji="1" lang="en-US" b="1" i="1" noProof="0" dirty="0" smtClean="0">
                <a:solidFill>
                  <a:srgbClr val="000000"/>
                </a:solidFill>
                <a:ea typeface="仿宋" panose="02010609060101010101" pitchFamily="49" charset="-122"/>
                <a:cs typeface="Times New Roman" panose="02020603050405020304" pitchFamily="18" charset="0"/>
                <a:sym typeface="+mn-ea"/>
              </a:rPr>
              <a:t>&amp;&amp;</a:t>
            </a:r>
            <a:r>
              <a:rPr kumimoji="1" lang="en-US" altLang="zh-CN" b="1" i="1" dirty="0">
                <a:solidFill>
                  <a:srgbClr val="FF0000"/>
                </a:solidFill>
                <a:ea typeface="仿宋" panose="02010609060101010101" pitchFamily="49" charset="-122"/>
                <a:cs typeface="Times New Roman" panose="02020603050405020304" pitchFamily="18" charset="0"/>
              </a:rPr>
              <a:t>L[</a:t>
            </a:r>
            <a:r>
              <a:rPr kumimoji="1" lang="en-US" altLang="zh-CN" b="1" i="1" dirty="0" err="1">
                <a:solidFill>
                  <a:srgbClr val="FF0000"/>
                </a:solidFill>
                <a:ea typeface="仿宋" panose="02010609060101010101" pitchFamily="49" charset="-122"/>
                <a:cs typeface="Times New Roman" panose="02020603050405020304" pitchFamily="18" charset="0"/>
              </a:rPr>
              <a:t>i</a:t>
            </a:r>
            <a:r>
              <a:rPr kumimoji="1" lang="en-US" altLang="zh-CN" b="1" i="1" dirty="0" smtClean="0">
                <a:solidFill>
                  <a:srgbClr val="FF0000"/>
                </a:solidFill>
                <a:ea typeface="仿宋" panose="02010609060101010101" pitchFamily="49" charset="-122"/>
                <a:cs typeface="Times New Roman" panose="02020603050405020304" pitchFamily="18" charset="0"/>
              </a:rPr>
              <a:t>]==</a:t>
            </a:r>
            <a:r>
              <a:rPr kumimoji="1" lang="en-US" altLang="zh-CN" b="1" i="1" dirty="0">
                <a:solidFill>
                  <a:srgbClr val="FF0000"/>
                </a:solidFill>
                <a:ea typeface="仿宋" panose="02010609060101010101" pitchFamily="49" charset="-122"/>
                <a:cs typeface="Times New Roman" panose="02020603050405020304" pitchFamily="18" charset="0"/>
              </a:rPr>
              <a:t>x</a:t>
            </a: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return i;</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   else return 0;</a:t>
            </a:r>
            <a:endParaRPr kumimoji="1" lang="zh-CN" altLang="en-US" b="1" i="1" kern="1200" cap="none" spc="0" normalizeH="0" baseline="0" noProof="0" dirty="0" smtClean="0">
              <a:solidFill>
                <a:srgbClr val="000000"/>
              </a:solidFill>
              <a:ea typeface="仿宋" panose="02010609060101010101" pitchFamily="49" charset="-122"/>
              <a:cs typeface="Times New Roman" panose="02020603050405020304" pitchFamily="18" charset="0"/>
            </a:endParaRPr>
          </a:p>
          <a:p>
            <a:pPr marR="0" defTabSz="914400">
              <a:buClrTx/>
              <a:buSzTx/>
              <a:buFontTx/>
              <a:defRPr/>
            </a:pPr>
            <a:r>
              <a:rPr kumimoji="1" lang="en-US" b="1" i="1" kern="1200" cap="none" spc="0" normalizeH="0" baseline="0" noProof="0" dirty="0" smtClean="0">
                <a:solidFill>
                  <a:srgbClr val="000000"/>
                </a:solidFill>
                <a:ea typeface="仿宋" panose="02010609060101010101" pitchFamily="49" charset="-122"/>
                <a:cs typeface="Times New Roman" panose="02020603050405020304" pitchFamily="18" charset="0"/>
              </a:rPr>
              <a:t>}</a:t>
            </a:r>
            <a:endParaRPr kumimoji="1" lang="zh-CN" altLang="en-US" b="1" i="1" kern="1200" cap="none" spc="0" normalizeH="0" baseline="0" noProof="0" dirty="0">
              <a:solidFill>
                <a:srgbClr val="000000"/>
              </a:solidFill>
              <a:ea typeface="仿宋"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3" name="矩形 2"/>
          <p:cNvSpPr/>
          <p:nvPr/>
        </p:nvSpPr>
        <p:spPr>
          <a:xfrm>
            <a:off x="395536" y="1700808"/>
            <a:ext cx="4572000" cy="460375"/>
          </a:xfrm>
          <a:prstGeom prst="rect">
            <a:avLst/>
          </a:prstGeom>
        </p:spPr>
        <p:txBody>
          <a:bodyPr>
            <a:spAutoFit/>
          </a:bodyPr>
          <a:lstStyle/>
          <a:p>
            <a:r>
              <a:rPr lang="zh-CN" altLang="en-US" dirty="0" smtClean="0">
                <a:solidFill>
                  <a:schemeClr val="bg1"/>
                </a:solidFill>
              </a:rPr>
              <a:t>检索算法</a:t>
            </a:r>
            <a:r>
              <a:rPr lang="en-US" altLang="zh-CN" dirty="0" smtClean="0">
                <a:solidFill>
                  <a:schemeClr val="bg1"/>
                </a:solidFill>
              </a:rPr>
              <a:t>2</a:t>
            </a:r>
            <a:r>
              <a:rPr lang="zh-CN" altLang="en-US" dirty="0" smtClean="0">
                <a:solidFill>
                  <a:schemeClr val="bg1"/>
                </a:solidFill>
              </a:rPr>
              <a:t>的时间估计 </a:t>
            </a:r>
            <a:endParaRPr lang="zh-CN" altLang="en-US" dirty="0">
              <a:solidFill>
                <a:schemeClr val="bg1"/>
              </a:solidFill>
            </a:endParaRPr>
          </a:p>
        </p:txBody>
      </p:sp>
      <p:sp>
        <p:nvSpPr>
          <p:cNvPr id="4" name="矩形 3"/>
          <p:cNvSpPr/>
          <p:nvPr/>
        </p:nvSpPr>
        <p:spPr>
          <a:xfrm>
            <a:off x="1475656" y="3201585"/>
            <a:ext cx="6984776" cy="461665"/>
          </a:xfrm>
          <a:prstGeom prst="rect">
            <a:avLst/>
          </a:prstGeom>
        </p:spPr>
        <p:txBody>
          <a:bodyPr wrap="square">
            <a:spAutoFit/>
          </a:bodyPr>
          <a:lstStyle/>
          <a:p>
            <a:r>
              <a:rPr lang="zh-CN" altLang="en-US" dirty="0">
                <a:solidFill>
                  <a:schemeClr val="bg1"/>
                </a:solidFill>
              </a:rPr>
              <a:t>最坏情况下</a:t>
            </a:r>
            <a:r>
              <a:rPr lang="zh-CN" altLang="en-US" dirty="0" smtClean="0">
                <a:solidFill>
                  <a:schemeClr val="bg1"/>
                </a:solidFill>
              </a:rPr>
              <a:t>：</a:t>
            </a:r>
            <a:r>
              <a:rPr lang="pt-BR" altLang="zh-CN" b="1" i="1" dirty="0">
                <a:solidFill>
                  <a:schemeClr val="bg2"/>
                </a:solidFill>
              </a:rPr>
              <a:t> x </a:t>
            </a:r>
            <a:r>
              <a:rPr lang="pt-BR" altLang="zh-CN" b="1" dirty="0">
                <a:solidFill>
                  <a:schemeClr val="bg2"/>
                </a:solidFill>
              </a:rPr>
              <a:t>= </a:t>
            </a:r>
            <a:r>
              <a:rPr lang="pt-BR" altLang="zh-CN" b="1" i="1" dirty="0" smtClean="0">
                <a:solidFill>
                  <a:schemeClr val="bg2"/>
                </a:solidFill>
              </a:rPr>
              <a:t>L</a:t>
            </a:r>
            <a:r>
              <a:rPr lang="pt-BR" altLang="zh-CN" b="1" dirty="0" smtClean="0">
                <a:solidFill>
                  <a:schemeClr val="bg2"/>
                </a:solidFill>
              </a:rPr>
              <a:t>[</a:t>
            </a:r>
            <a:r>
              <a:rPr lang="pt-BR" altLang="zh-CN" b="1" i="1" dirty="0" smtClean="0">
                <a:solidFill>
                  <a:schemeClr val="bg2"/>
                </a:solidFill>
              </a:rPr>
              <a:t>n</a:t>
            </a:r>
            <a:r>
              <a:rPr lang="pt-BR" altLang="zh-CN" b="1" dirty="0" smtClean="0">
                <a:solidFill>
                  <a:schemeClr val="bg2"/>
                </a:solidFill>
              </a:rPr>
              <a:t>]</a:t>
            </a:r>
            <a:r>
              <a:rPr lang="zh-CN" altLang="en-US" b="1" dirty="0" smtClean="0">
                <a:solidFill>
                  <a:schemeClr val="bg2"/>
                </a:solidFill>
              </a:rPr>
              <a:t>，</a:t>
            </a:r>
            <a:r>
              <a:rPr lang="pt-BR" altLang="zh-CN" b="1" i="1" dirty="0" smtClean="0">
                <a:solidFill>
                  <a:schemeClr val="bg2"/>
                </a:solidFill>
              </a:rPr>
              <a:t>L</a:t>
            </a:r>
            <a:r>
              <a:rPr lang="pt-BR" altLang="zh-CN" b="1" dirty="0" smtClean="0">
                <a:solidFill>
                  <a:schemeClr val="bg2"/>
                </a:solidFill>
              </a:rPr>
              <a:t>[</a:t>
            </a:r>
            <a:r>
              <a:rPr lang="pt-BR" altLang="zh-CN" b="1" i="1" dirty="0" smtClean="0">
                <a:solidFill>
                  <a:schemeClr val="bg2"/>
                </a:solidFill>
              </a:rPr>
              <a:t>n</a:t>
            </a:r>
            <a:r>
              <a:rPr lang="pt-BR" altLang="zh-CN" b="1" dirty="0" smtClean="0">
                <a:solidFill>
                  <a:schemeClr val="bg2"/>
                </a:solidFill>
              </a:rPr>
              <a:t>-1]&lt;</a:t>
            </a:r>
            <a:r>
              <a:rPr lang="pt-BR" altLang="zh-CN" b="1" i="1" dirty="0" smtClean="0">
                <a:solidFill>
                  <a:schemeClr val="bg2"/>
                </a:solidFill>
              </a:rPr>
              <a:t>x</a:t>
            </a:r>
            <a:r>
              <a:rPr lang="pt-BR" altLang="zh-CN" b="1" dirty="0" smtClean="0">
                <a:solidFill>
                  <a:schemeClr val="bg2"/>
                </a:solidFill>
              </a:rPr>
              <a:t>&lt;</a:t>
            </a:r>
            <a:r>
              <a:rPr lang="pt-BR" altLang="zh-CN" b="1" i="1" dirty="0" smtClean="0">
                <a:solidFill>
                  <a:schemeClr val="bg2"/>
                </a:solidFill>
              </a:rPr>
              <a:t>L</a:t>
            </a:r>
            <a:r>
              <a:rPr lang="pt-BR" altLang="zh-CN" b="1" dirty="0" smtClean="0">
                <a:solidFill>
                  <a:schemeClr val="bg2"/>
                </a:solidFill>
              </a:rPr>
              <a:t>[</a:t>
            </a:r>
            <a:r>
              <a:rPr lang="pt-BR" altLang="zh-CN" b="1" i="1" dirty="0" smtClean="0">
                <a:solidFill>
                  <a:schemeClr val="bg2"/>
                </a:solidFill>
              </a:rPr>
              <a:t>n</a:t>
            </a:r>
            <a:r>
              <a:rPr lang="pt-BR" altLang="zh-CN" b="1" dirty="0" smtClean="0">
                <a:solidFill>
                  <a:schemeClr val="bg2"/>
                </a:solidFill>
              </a:rPr>
              <a:t>],  </a:t>
            </a:r>
            <a:r>
              <a:rPr lang="pt-BR" altLang="zh-CN" b="1" i="1" dirty="0">
                <a:solidFill>
                  <a:schemeClr val="bg2"/>
                </a:solidFill>
              </a:rPr>
              <a:t>L</a:t>
            </a:r>
            <a:r>
              <a:rPr lang="pt-BR" altLang="zh-CN" b="1" dirty="0">
                <a:solidFill>
                  <a:schemeClr val="bg2"/>
                </a:solidFill>
              </a:rPr>
              <a:t>[</a:t>
            </a:r>
            <a:r>
              <a:rPr lang="pt-BR" altLang="zh-CN" b="1" i="1" dirty="0">
                <a:solidFill>
                  <a:schemeClr val="bg2"/>
                </a:solidFill>
              </a:rPr>
              <a:t>n</a:t>
            </a:r>
            <a:r>
              <a:rPr lang="pt-BR" altLang="zh-CN" b="1" dirty="0">
                <a:solidFill>
                  <a:schemeClr val="bg2"/>
                </a:solidFill>
              </a:rPr>
              <a:t>]&lt;</a:t>
            </a:r>
            <a:r>
              <a:rPr lang="pt-BR" altLang="zh-CN" b="1" i="1" dirty="0">
                <a:solidFill>
                  <a:schemeClr val="bg2"/>
                </a:solidFill>
              </a:rPr>
              <a:t>x</a:t>
            </a:r>
            <a:r>
              <a:rPr lang="zh-CN" altLang="en-US" dirty="0" smtClean="0">
                <a:solidFill>
                  <a:schemeClr val="bg1"/>
                </a:solidFill>
              </a:rPr>
              <a:t> </a:t>
            </a:r>
            <a:endParaRPr lang="en-US" altLang="zh-CN" dirty="0" smtClean="0">
              <a:solidFill>
                <a:schemeClr val="bg1"/>
              </a:solidFill>
            </a:endParaRPr>
          </a:p>
        </p:txBody>
      </p:sp>
      <p:sp>
        <p:nvSpPr>
          <p:cNvPr id="5" name="矩形 4"/>
          <p:cNvSpPr/>
          <p:nvPr/>
        </p:nvSpPr>
        <p:spPr>
          <a:xfrm>
            <a:off x="2555776" y="3645024"/>
            <a:ext cx="1483932" cy="461665"/>
          </a:xfrm>
          <a:prstGeom prst="rect">
            <a:avLst/>
          </a:prstGeom>
        </p:spPr>
        <p:txBody>
          <a:bodyPr wrap="none">
            <a:spAutoFit/>
          </a:bodyPr>
          <a:lstStyle/>
          <a:p>
            <a:r>
              <a:rPr lang="en-US" altLang="zh-CN" b="1" i="1" dirty="0">
                <a:solidFill>
                  <a:schemeClr val="bg1"/>
                </a:solidFill>
              </a:rPr>
              <a:t> W</a:t>
            </a:r>
            <a:r>
              <a:rPr lang="en-US" altLang="zh-CN" b="1" dirty="0">
                <a:solidFill>
                  <a:schemeClr val="bg1"/>
                </a:solidFill>
              </a:rPr>
              <a:t>(</a:t>
            </a:r>
            <a:r>
              <a:rPr lang="en-US" altLang="zh-CN" b="1" i="1" dirty="0">
                <a:solidFill>
                  <a:schemeClr val="bg1"/>
                </a:solidFill>
              </a:rPr>
              <a:t>n</a:t>
            </a:r>
            <a:r>
              <a:rPr lang="en-US" altLang="zh-CN" b="1" dirty="0">
                <a:solidFill>
                  <a:schemeClr val="bg1"/>
                </a:solidFill>
              </a:rPr>
              <a:t>) = </a:t>
            </a:r>
            <a:r>
              <a:rPr lang="en-US" altLang="zh-CN" b="1" i="1" dirty="0">
                <a:solidFill>
                  <a:schemeClr val="bg1"/>
                </a:solidFill>
              </a:rPr>
              <a:t>n</a:t>
            </a:r>
            <a:r>
              <a:rPr lang="en-US" altLang="zh-CN" dirty="0">
                <a:solidFill>
                  <a:schemeClr val="bg1"/>
                </a:solidFill>
              </a:rPr>
              <a:t> </a:t>
            </a:r>
            <a:endParaRPr lang="zh-CN" altLang="en-US" dirty="0"/>
          </a:p>
        </p:txBody>
      </p:sp>
      <p:sp>
        <p:nvSpPr>
          <p:cNvPr id="6" name="矩形 5"/>
          <p:cNvSpPr/>
          <p:nvPr/>
        </p:nvSpPr>
        <p:spPr>
          <a:xfrm>
            <a:off x="1431713" y="2276619"/>
            <a:ext cx="6984776" cy="461665"/>
          </a:xfrm>
          <a:prstGeom prst="rect">
            <a:avLst/>
          </a:prstGeom>
        </p:spPr>
        <p:txBody>
          <a:bodyPr wrap="square">
            <a:spAutoFit/>
          </a:bodyPr>
          <a:lstStyle/>
          <a:p>
            <a:r>
              <a:rPr lang="zh-CN" altLang="en-US" dirty="0" smtClean="0">
                <a:solidFill>
                  <a:schemeClr val="bg1"/>
                </a:solidFill>
              </a:rPr>
              <a:t>最好情况</a:t>
            </a:r>
            <a:r>
              <a:rPr lang="zh-CN" altLang="en-US" dirty="0">
                <a:solidFill>
                  <a:schemeClr val="bg1"/>
                </a:solidFill>
              </a:rPr>
              <a:t>下</a:t>
            </a:r>
            <a:r>
              <a:rPr lang="zh-CN" altLang="en-US" dirty="0" smtClean="0">
                <a:solidFill>
                  <a:schemeClr val="bg1"/>
                </a:solidFill>
              </a:rPr>
              <a:t>：</a:t>
            </a:r>
            <a:r>
              <a:rPr lang="pt-BR" altLang="zh-CN" b="1" i="1" dirty="0">
                <a:solidFill>
                  <a:schemeClr val="bg2"/>
                </a:solidFill>
              </a:rPr>
              <a:t> x </a:t>
            </a:r>
            <a:r>
              <a:rPr lang="pt-BR" altLang="zh-CN" b="1" dirty="0">
                <a:solidFill>
                  <a:schemeClr val="bg2"/>
                </a:solidFill>
              </a:rPr>
              <a:t>= </a:t>
            </a:r>
            <a:r>
              <a:rPr lang="pt-BR" altLang="zh-CN" b="1" i="1" dirty="0" smtClean="0">
                <a:solidFill>
                  <a:schemeClr val="bg2"/>
                </a:solidFill>
              </a:rPr>
              <a:t>L</a:t>
            </a:r>
            <a:r>
              <a:rPr lang="pt-BR" altLang="zh-CN" b="1" dirty="0" smtClean="0">
                <a:solidFill>
                  <a:schemeClr val="bg2"/>
                </a:solidFill>
              </a:rPr>
              <a:t>[</a:t>
            </a:r>
            <a:r>
              <a:rPr lang="en-US" altLang="zh-CN" b="1" dirty="0" smtClean="0">
                <a:solidFill>
                  <a:schemeClr val="bg2"/>
                </a:solidFill>
              </a:rPr>
              <a:t>1</a:t>
            </a:r>
            <a:r>
              <a:rPr lang="pt-BR" altLang="zh-CN" b="1" dirty="0" smtClean="0">
                <a:solidFill>
                  <a:schemeClr val="bg2"/>
                </a:solidFill>
              </a:rPr>
              <a:t>]</a:t>
            </a:r>
            <a:r>
              <a:rPr lang="zh-CN" altLang="en-US" b="1" dirty="0" smtClean="0">
                <a:solidFill>
                  <a:schemeClr val="bg2"/>
                </a:solidFill>
              </a:rPr>
              <a:t>，</a:t>
            </a:r>
            <a:r>
              <a:rPr lang="pt-BR" altLang="zh-CN" b="1" i="1" dirty="0" smtClean="0">
                <a:solidFill>
                  <a:schemeClr val="bg2"/>
                </a:solidFill>
              </a:rPr>
              <a:t>x</a:t>
            </a:r>
            <a:r>
              <a:rPr lang="pt-BR" altLang="zh-CN" b="1" dirty="0" smtClean="0">
                <a:solidFill>
                  <a:schemeClr val="bg2"/>
                </a:solidFill>
              </a:rPr>
              <a:t>&lt;</a:t>
            </a:r>
            <a:r>
              <a:rPr lang="pt-BR" altLang="zh-CN" b="1" i="1" dirty="0" smtClean="0">
                <a:solidFill>
                  <a:schemeClr val="bg2"/>
                </a:solidFill>
              </a:rPr>
              <a:t>L</a:t>
            </a:r>
            <a:r>
              <a:rPr lang="pt-BR" altLang="zh-CN" b="1" dirty="0" smtClean="0">
                <a:solidFill>
                  <a:schemeClr val="bg2"/>
                </a:solidFill>
              </a:rPr>
              <a:t>[</a:t>
            </a:r>
            <a:r>
              <a:rPr lang="en-US" altLang="zh-CN" b="1" dirty="0" smtClean="0">
                <a:solidFill>
                  <a:schemeClr val="bg2"/>
                </a:solidFill>
              </a:rPr>
              <a:t>1]</a:t>
            </a:r>
            <a:endParaRPr lang="en-US" altLang="zh-CN" dirty="0" smtClean="0">
              <a:solidFill>
                <a:schemeClr val="bg1"/>
              </a:solidFill>
            </a:endParaRPr>
          </a:p>
        </p:txBody>
      </p:sp>
      <p:sp>
        <p:nvSpPr>
          <p:cNvPr id="7" name="矩形 6"/>
          <p:cNvSpPr/>
          <p:nvPr/>
        </p:nvSpPr>
        <p:spPr>
          <a:xfrm>
            <a:off x="2583841" y="2708667"/>
            <a:ext cx="1420582" cy="461665"/>
          </a:xfrm>
          <a:prstGeom prst="rect">
            <a:avLst/>
          </a:prstGeom>
        </p:spPr>
        <p:txBody>
          <a:bodyPr wrap="none">
            <a:spAutoFit/>
          </a:bodyPr>
          <a:lstStyle/>
          <a:p>
            <a:r>
              <a:rPr lang="en-US" altLang="zh-CN" b="1" i="1" dirty="0">
                <a:solidFill>
                  <a:schemeClr val="bg1"/>
                </a:solidFill>
              </a:rPr>
              <a:t> </a:t>
            </a:r>
            <a:r>
              <a:rPr lang="en-US" altLang="zh-CN" b="1" i="1" dirty="0" smtClean="0">
                <a:solidFill>
                  <a:schemeClr val="bg1"/>
                </a:solidFill>
              </a:rPr>
              <a:t>G</a:t>
            </a:r>
            <a:r>
              <a:rPr lang="en-US" altLang="zh-CN" b="1" dirty="0" smtClean="0">
                <a:solidFill>
                  <a:schemeClr val="bg1"/>
                </a:solidFill>
              </a:rPr>
              <a:t>(</a:t>
            </a:r>
            <a:r>
              <a:rPr lang="en-US" altLang="zh-CN" b="1" i="1" dirty="0" smtClean="0">
                <a:solidFill>
                  <a:schemeClr val="bg1"/>
                </a:solidFill>
              </a:rPr>
              <a:t>n</a:t>
            </a:r>
            <a:r>
              <a:rPr lang="en-US" altLang="zh-CN" b="1" dirty="0">
                <a:solidFill>
                  <a:schemeClr val="bg1"/>
                </a:solidFill>
              </a:rPr>
              <a:t>) = </a:t>
            </a:r>
            <a:r>
              <a:rPr lang="en-US" altLang="zh-CN" b="1" dirty="0" smtClean="0">
                <a:solidFill>
                  <a:schemeClr val="bg1"/>
                </a:solidFill>
              </a:rPr>
              <a:t>1</a:t>
            </a:r>
            <a:r>
              <a:rPr lang="en-US" altLang="zh-CN" dirty="0" smtClean="0">
                <a:solidFill>
                  <a:schemeClr val="bg1"/>
                </a:solidFill>
              </a:rPr>
              <a:t> </a:t>
            </a:r>
            <a:endParaRPr lang="zh-CN" altLang="en-US" dirty="0"/>
          </a:p>
        </p:txBody>
      </p:sp>
      <p:sp>
        <p:nvSpPr>
          <p:cNvPr id="8" name="矩形 7"/>
          <p:cNvSpPr/>
          <p:nvPr/>
        </p:nvSpPr>
        <p:spPr>
          <a:xfrm>
            <a:off x="1475656" y="4226565"/>
            <a:ext cx="6480720" cy="1200329"/>
          </a:xfrm>
          <a:prstGeom prst="rect">
            <a:avLst/>
          </a:prstGeom>
        </p:spPr>
        <p:txBody>
          <a:bodyPr wrap="square">
            <a:spAutoFit/>
          </a:bodyPr>
          <a:lstStyle/>
          <a:p>
            <a:r>
              <a:rPr lang="zh-CN" altLang="en-US" dirty="0">
                <a:solidFill>
                  <a:schemeClr val="bg1"/>
                </a:solidFill>
              </a:rPr>
              <a:t>平均情况</a:t>
            </a:r>
            <a:r>
              <a:rPr lang="zh-CN" altLang="en-US" dirty="0" smtClean="0">
                <a:solidFill>
                  <a:schemeClr val="bg1"/>
                </a:solidFill>
              </a:rPr>
              <a:t>下：输入</a:t>
            </a:r>
            <a:r>
              <a:rPr lang="zh-CN" altLang="en-US" dirty="0">
                <a:solidFill>
                  <a:schemeClr val="bg1"/>
                </a:solidFill>
              </a:rPr>
              <a:t>实例的概率分布：假设 </a:t>
            </a:r>
            <a:r>
              <a:rPr lang="en-US" altLang="zh-CN" b="1" i="1" dirty="0">
                <a:solidFill>
                  <a:schemeClr val="bg1"/>
                </a:solidFill>
              </a:rPr>
              <a:t>x </a:t>
            </a:r>
            <a:r>
              <a:rPr lang="zh-CN" altLang="en-US" dirty="0">
                <a:solidFill>
                  <a:schemeClr val="bg1"/>
                </a:solidFill>
              </a:rPr>
              <a:t>在 </a:t>
            </a:r>
            <a:r>
              <a:rPr lang="en-US" altLang="zh-CN" b="1" i="1" dirty="0">
                <a:solidFill>
                  <a:schemeClr val="bg1"/>
                </a:solidFill>
              </a:rPr>
              <a:t>L </a:t>
            </a:r>
            <a:r>
              <a:rPr lang="zh-CN" altLang="en-US" dirty="0">
                <a:solidFill>
                  <a:schemeClr val="bg1"/>
                </a:solidFill>
              </a:rPr>
              <a:t>中</a:t>
            </a:r>
            <a:r>
              <a:rPr lang="zh-CN" altLang="en-US" dirty="0" smtClean="0">
                <a:solidFill>
                  <a:schemeClr val="bg1"/>
                </a:solidFill>
              </a:rPr>
              <a:t>每个位置（成功）与空隙（不成功）的</a:t>
            </a:r>
            <a:r>
              <a:rPr lang="zh-CN" altLang="en-US" dirty="0">
                <a:solidFill>
                  <a:schemeClr val="bg1"/>
                </a:solidFill>
              </a:rPr>
              <a:t>概率都相等 </a:t>
            </a:r>
            <a:endParaRPr lang="zh-CN" altLang="en-US" dirty="0">
              <a:solidFill>
                <a:schemeClr val="bg1"/>
              </a:solidFill>
            </a:endParaRPr>
          </a:p>
        </p:txBody>
      </p:sp>
      <p:sp>
        <p:nvSpPr>
          <p:cNvPr id="9" name="矩形 8"/>
          <p:cNvSpPr/>
          <p:nvPr/>
        </p:nvSpPr>
        <p:spPr>
          <a:xfrm>
            <a:off x="1487088" y="5559623"/>
            <a:ext cx="5266564" cy="461665"/>
          </a:xfrm>
          <a:prstGeom prst="rect">
            <a:avLst/>
          </a:prstGeom>
        </p:spPr>
        <p:txBody>
          <a:bodyPr wrap="square">
            <a:spAutoFit/>
          </a:bodyPr>
          <a:lstStyle/>
          <a:p>
            <a:r>
              <a:rPr lang="zh-CN" altLang="en-US" dirty="0">
                <a:solidFill>
                  <a:srgbClr val="7030A0"/>
                </a:solidFill>
              </a:rPr>
              <a:t>改进检索算法平均时间复杂度是多少</a:t>
            </a:r>
            <a:r>
              <a:rPr lang="en-US" altLang="zh-CN" b="1" dirty="0">
                <a:solidFill>
                  <a:srgbClr val="7030A0"/>
                </a:solidFill>
              </a:rPr>
              <a:t>?</a:t>
            </a:r>
            <a:r>
              <a:rPr lang="zh-CN" altLang="en-US" dirty="0">
                <a:solidFill>
                  <a:srgbClr val="7030A0"/>
                </a:solidFill>
              </a:rPr>
              <a:t> </a:t>
            </a:r>
            <a:endParaRPr lang="zh-CN" altLang="en-US" dirty="0">
              <a:solidFill>
                <a:srgbClr val="7030A0"/>
              </a:solidFill>
            </a:endParaRPr>
          </a:p>
        </p:txBody>
      </p:sp>
      <p:pic>
        <p:nvPicPr>
          <p:cNvPr id="10" name="20 9"/>
          <p:cNvPicPr>
            <a:picLocks noChangeAspect="1"/>
          </p:cNvPicPr>
          <p:nvPr/>
        </p:nvPicPr>
        <p:blipFill>
          <a:blip r:embed="rId1"/>
          <a:stretch>
            <a:fillRect/>
          </a:stretch>
        </p:blipFill>
        <p:spPr>
          <a:xfrm>
            <a:off x="869103" y="5380544"/>
            <a:ext cx="562610" cy="71755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par>
                                <p:cTn id="33" presetID="22" presetClass="entr" presetSubtype="8"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 grpId="0"/>
      <p:bldP spid="6" grpId="1"/>
      <p:bldP spid="7" grpId="0"/>
      <p:bldP spid="7" grpId="1"/>
      <p:bldP spid="8" grpId="0"/>
      <p:bldP spid="8" grpId="1"/>
      <p:bldP spid="9" grpId="0"/>
      <p:bldP spid="9"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1.1 </a:t>
            </a:r>
            <a:r>
              <a:rPr lang="zh-CN" altLang="en-US" sz="4000" b="1" dirty="0">
                <a:solidFill>
                  <a:srgbClr val="C00000"/>
                </a:solidFill>
              </a:rPr>
              <a:t>有关算法的基本概念</a:t>
            </a:r>
            <a:endParaRPr lang="zh-CN" altLang="en-US" sz="4000" b="1" dirty="0">
              <a:solidFill>
                <a:srgbClr val="C00000"/>
              </a:solidFill>
            </a:endParaRPr>
          </a:p>
        </p:txBody>
      </p:sp>
      <p:sp>
        <p:nvSpPr>
          <p:cNvPr id="11" name="文本框 10"/>
          <p:cNvSpPr txBox="1"/>
          <p:nvPr/>
        </p:nvSpPr>
        <p:spPr>
          <a:xfrm>
            <a:off x="358140" y="1697990"/>
            <a:ext cx="8068310" cy="1420495"/>
          </a:xfrm>
          <a:prstGeom prst="rect">
            <a:avLst/>
          </a:prstGeom>
          <a:noFill/>
        </p:spPr>
        <p:txBody>
          <a:bodyPr wrap="square" rtlCol="0" anchor="t">
            <a:spAutoFit/>
          </a:bodyPr>
          <a:lstStyle/>
          <a:p>
            <a:pPr>
              <a:lnSpc>
                <a:spcPct val="120000"/>
              </a:lnSpc>
              <a:spcBef>
                <a:spcPts val="0"/>
              </a:spcBef>
              <a:spcAft>
                <a:spcPts val="0"/>
              </a:spcAft>
            </a:pPr>
            <a:r>
              <a:rPr lang="zh-CN" altLang="en-US" b="1">
                <a:solidFill>
                  <a:schemeClr val="bg2"/>
                </a:solidFill>
              </a:rPr>
              <a:t>小结：</a:t>
            </a:r>
            <a:endParaRPr lang="zh-CN" altLang="en-US" b="1">
              <a:solidFill>
                <a:schemeClr val="bg2"/>
              </a:solidFill>
            </a:endParaRPr>
          </a:p>
          <a:p>
            <a:pPr>
              <a:lnSpc>
                <a:spcPct val="120000"/>
              </a:lnSpc>
              <a:spcBef>
                <a:spcPts val="0"/>
              </a:spcBef>
              <a:spcAft>
                <a:spcPts val="0"/>
              </a:spcAft>
            </a:pPr>
            <a:r>
              <a:rPr lang="zh-CN" altLang="en-US">
                <a:solidFill>
                  <a:schemeClr val="bg2"/>
                </a:solidFill>
              </a:rPr>
              <a:t>• 算法最好、最坏和平均情况下的时间复杂度定义</a:t>
            </a:r>
            <a:endParaRPr lang="zh-CN" altLang="en-US">
              <a:solidFill>
                <a:schemeClr val="bg2"/>
              </a:solidFill>
            </a:endParaRPr>
          </a:p>
          <a:p>
            <a:pPr>
              <a:lnSpc>
                <a:spcPct val="120000"/>
              </a:lnSpc>
              <a:spcBef>
                <a:spcPts val="0"/>
              </a:spcBef>
              <a:spcAft>
                <a:spcPts val="0"/>
              </a:spcAft>
            </a:pPr>
            <a:r>
              <a:rPr lang="zh-CN" altLang="en-US">
                <a:solidFill>
                  <a:schemeClr val="bg2"/>
                </a:solidFill>
              </a:rPr>
              <a:t>• 如何计算上述时间复杂度</a:t>
            </a:r>
            <a:endParaRPr lang="zh-CN" altLang="en-US">
              <a:solidFill>
                <a:schemeClr val="bg2"/>
              </a:solidFill>
            </a:endParaRPr>
          </a:p>
        </p:txBody>
      </p:sp>
      <p:sp>
        <p:nvSpPr>
          <p:cNvPr id="12" name="文本框 11"/>
          <p:cNvSpPr txBox="1"/>
          <p:nvPr/>
        </p:nvSpPr>
        <p:spPr>
          <a:xfrm>
            <a:off x="457200" y="3178175"/>
            <a:ext cx="8068310" cy="977265"/>
          </a:xfrm>
          <a:prstGeom prst="rect">
            <a:avLst/>
          </a:prstGeom>
          <a:noFill/>
        </p:spPr>
        <p:txBody>
          <a:bodyPr wrap="square" rtlCol="0" anchor="t">
            <a:spAutoFit/>
          </a:bodyPr>
          <a:lstStyle/>
          <a:p>
            <a:pPr>
              <a:lnSpc>
                <a:spcPct val="120000"/>
              </a:lnSpc>
              <a:spcBef>
                <a:spcPts val="0"/>
              </a:spcBef>
              <a:spcAft>
                <a:spcPts val="0"/>
              </a:spcAft>
            </a:pPr>
            <a:r>
              <a:rPr lang="zh-CN" altLang="en-US" b="1">
                <a:solidFill>
                  <a:schemeClr val="bg2"/>
                </a:solidFill>
              </a:rPr>
              <a:t>练习：</a:t>
            </a:r>
            <a:endParaRPr lang="zh-CN" altLang="en-US" b="1">
              <a:solidFill>
                <a:schemeClr val="bg2"/>
              </a:solidFill>
            </a:endParaRPr>
          </a:p>
          <a:p>
            <a:pPr>
              <a:lnSpc>
                <a:spcPct val="120000"/>
              </a:lnSpc>
              <a:spcBef>
                <a:spcPts val="0"/>
              </a:spcBef>
              <a:spcAft>
                <a:spcPts val="0"/>
              </a:spcAft>
            </a:pPr>
            <a:r>
              <a:rPr lang="zh-CN" altLang="en-US">
                <a:solidFill>
                  <a:schemeClr val="bg2"/>
                </a:solidFill>
              </a:rPr>
              <a:t>• 请给出一个效率最高的百钱买百鸡问题的求解方案</a:t>
            </a:r>
            <a:endParaRPr lang="en-US" altLang="zh-CN">
              <a:solidFill>
                <a:schemeClr val="bg2"/>
              </a:solidFill>
            </a:endParaRPr>
          </a:p>
        </p:txBody>
      </p:sp>
      <p:sp>
        <p:nvSpPr>
          <p:cNvPr id="13" name="文本框 12"/>
          <p:cNvSpPr txBox="1"/>
          <p:nvPr/>
        </p:nvSpPr>
        <p:spPr>
          <a:xfrm>
            <a:off x="701675" y="4263390"/>
            <a:ext cx="7005320" cy="1198880"/>
          </a:xfrm>
          <a:prstGeom prst="rect">
            <a:avLst/>
          </a:prstGeom>
          <a:noFill/>
        </p:spPr>
        <p:txBody>
          <a:bodyPr wrap="square" rtlCol="0" anchor="t">
            <a:spAutoFit/>
          </a:bodyPr>
          <a:lstStyle/>
          <a:p>
            <a:r>
              <a:rPr kumimoji="1" lang="zh-CN" altLang="en-US" b="1" noProof="0"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问题叙述：“鸡翁一，值钱五；鸡母一，值钱三；鸡雏三，值钱一。百钱买百鸡，问鸡翁、母、雏各几何？”</a:t>
            </a:r>
            <a:endParaRPr kumimoji="1" lang="zh-CN" altLang="en-US" b="1" noProof="0"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3" grpId="0"/>
      <p:bldP spid="1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11" name="文本框 10"/>
          <p:cNvSpPr txBox="1"/>
          <p:nvPr/>
        </p:nvSpPr>
        <p:spPr>
          <a:xfrm>
            <a:off x="429895" y="1626235"/>
            <a:ext cx="8068310" cy="97726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l"/>
            </a:pPr>
            <a:r>
              <a:rPr lang="zh-CN" altLang="en-US">
                <a:solidFill>
                  <a:schemeClr val="bg2"/>
                </a:solidFill>
              </a:rPr>
              <a:t>伪码不是程序代码，只是用于描述算法的主要步骤。</a:t>
            </a:r>
            <a:endParaRPr lang="zh-CN" altLang="en-US">
              <a:solidFill>
                <a:schemeClr val="bg2"/>
              </a:solidFill>
            </a:endParaRPr>
          </a:p>
          <a:p>
            <a:pPr marL="342900" indent="-342900">
              <a:lnSpc>
                <a:spcPct val="120000"/>
              </a:lnSpc>
              <a:spcBef>
                <a:spcPts val="0"/>
              </a:spcBef>
              <a:spcAft>
                <a:spcPts val="0"/>
              </a:spcAft>
              <a:buFont typeface="Wingdings" panose="05000000000000000000" charset="0"/>
              <a:buChar char="l"/>
            </a:pPr>
            <a:r>
              <a:rPr lang="zh-CN" altLang="en-US">
                <a:solidFill>
                  <a:schemeClr val="bg2"/>
                </a:solidFill>
              </a:rPr>
              <a:t>伪码中的关键字</a:t>
            </a:r>
            <a:endParaRPr lang="zh-CN" altLang="en-US">
              <a:solidFill>
                <a:schemeClr val="bg2"/>
              </a:solidFill>
            </a:endParaRPr>
          </a:p>
        </p:txBody>
      </p:sp>
      <p:sp>
        <p:nvSpPr>
          <p:cNvPr id="3" name="文本框 2"/>
          <p:cNvSpPr txBox="1"/>
          <p:nvPr/>
        </p:nvSpPr>
        <p:spPr>
          <a:xfrm>
            <a:off x="2047240" y="2590800"/>
            <a:ext cx="5334000" cy="3448685"/>
          </a:xfrm>
          <a:prstGeom prst="rect">
            <a:avLst/>
          </a:prstGeom>
          <a:noFill/>
        </p:spPr>
        <p:txBody>
          <a:bodyPr wrap="square" rtlCol="0" anchor="t">
            <a:spAutoFit/>
          </a:bodyPr>
          <a:lstStyle/>
          <a:p>
            <a:pPr>
              <a:lnSpc>
                <a:spcPct val="130000"/>
              </a:lnSpc>
              <a:spcBef>
                <a:spcPts val="0"/>
              </a:spcBef>
              <a:spcAft>
                <a:spcPts val="0"/>
              </a:spcAft>
            </a:pPr>
            <a:r>
              <a:rPr lang="zh-CN" altLang="en-US" b="1" dirty="0">
                <a:solidFill>
                  <a:schemeClr val="bg2"/>
                </a:solidFill>
                <a:uFillTx/>
              </a:rPr>
              <a:t>赋值语句</a:t>
            </a:r>
            <a:r>
              <a:rPr lang="zh-CN" altLang="en-US" dirty="0">
                <a:solidFill>
                  <a:schemeClr val="bg2"/>
                </a:solidFill>
                <a:uFillTx/>
              </a:rPr>
              <a:t>：←</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分支语句</a:t>
            </a:r>
            <a:r>
              <a:rPr lang="zh-CN" altLang="en-US" dirty="0">
                <a:solidFill>
                  <a:schemeClr val="bg2"/>
                </a:solidFill>
                <a:uFillTx/>
              </a:rPr>
              <a:t>：if …then … [else…]</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循环语句</a:t>
            </a:r>
            <a:r>
              <a:rPr lang="zh-CN" altLang="en-US" dirty="0">
                <a:solidFill>
                  <a:schemeClr val="bg2"/>
                </a:solidFill>
                <a:uFillTx/>
              </a:rPr>
              <a:t>：while, for，repeat until </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转向语句</a:t>
            </a:r>
            <a:r>
              <a:rPr lang="zh-CN" altLang="en-US" dirty="0">
                <a:solidFill>
                  <a:schemeClr val="bg2"/>
                </a:solidFill>
                <a:uFillTx/>
              </a:rPr>
              <a:t>：goto</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输出语句</a:t>
            </a:r>
            <a:r>
              <a:rPr lang="zh-CN" altLang="en-US" dirty="0">
                <a:solidFill>
                  <a:schemeClr val="bg2"/>
                </a:solidFill>
                <a:uFillTx/>
              </a:rPr>
              <a:t>：return</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调用</a:t>
            </a:r>
            <a:r>
              <a:rPr lang="zh-CN" altLang="en-US" dirty="0">
                <a:solidFill>
                  <a:schemeClr val="bg2"/>
                </a:solidFill>
                <a:uFillTx/>
              </a:rPr>
              <a:t>：直接写过程的名字</a:t>
            </a:r>
            <a:endParaRPr lang="zh-CN" altLang="en-US" dirty="0">
              <a:solidFill>
                <a:schemeClr val="bg2"/>
              </a:solidFill>
              <a:uFillTx/>
            </a:endParaRPr>
          </a:p>
          <a:p>
            <a:pPr>
              <a:lnSpc>
                <a:spcPct val="130000"/>
              </a:lnSpc>
              <a:spcBef>
                <a:spcPts val="0"/>
              </a:spcBef>
              <a:spcAft>
                <a:spcPts val="0"/>
              </a:spcAft>
            </a:pPr>
            <a:r>
              <a:rPr lang="zh-CN" altLang="en-US" b="1" dirty="0">
                <a:solidFill>
                  <a:schemeClr val="bg2"/>
                </a:solidFill>
                <a:uFillTx/>
              </a:rPr>
              <a:t>注释</a:t>
            </a:r>
            <a:r>
              <a:rPr lang="zh-CN" altLang="en-US" dirty="0">
                <a:solidFill>
                  <a:schemeClr val="bg2"/>
                </a:solidFill>
                <a:uFillTx/>
              </a:rPr>
              <a:t>：//…</a:t>
            </a:r>
            <a:endParaRPr lang="zh-CN" altLang="en-US" dirty="0">
              <a:solidFill>
                <a:schemeClr val="bg2"/>
              </a:solidFill>
              <a:uFillTx/>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11" name="文本框 10"/>
          <p:cNvSpPr txBox="1"/>
          <p:nvPr/>
        </p:nvSpPr>
        <p:spPr>
          <a:xfrm>
            <a:off x="429895" y="1626235"/>
            <a:ext cx="8068310" cy="534035"/>
          </a:xfrm>
          <a:prstGeom prst="rect">
            <a:avLst/>
          </a:prstGeom>
          <a:noFill/>
        </p:spPr>
        <p:txBody>
          <a:bodyPr wrap="square" rtlCol="0" anchor="t">
            <a:spAutoFit/>
          </a:bodyPr>
          <a:lstStyle/>
          <a:p>
            <a:pPr marL="342900" indent="-342900">
              <a:lnSpc>
                <a:spcPct val="120000"/>
              </a:lnSpc>
              <a:spcBef>
                <a:spcPts val="0"/>
              </a:spcBef>
              <a:spcAft>
                <a:spcPts val="0"/>
              </a:spcAft>
              <a:buFont typeface="Wingdings" panose="05000000000000000000" charset="0"/>
              <a:buChar char="l"/>
            </a:pPr>
            <a:r>
              <a:rPr lang="zh-CN" altLang="en-US">
                <a:solidFill>
                  <a:schemeClr val="bg2"/>
                </a:solidFill>
              </a:rPr>
              <a:t>使用伪码描述算法举例</a:t>
            </a:r>
            <a:endParaRPr lang="zh-CN" altLang="en-US">
              <a:solidFill>
                <a:schemeClr val="bg2"/>
              </a:solidFill>
            </a:endParaRPr>
          </a:p>
        </p:txBody>
      </p:sp>
      <p:sp>
        <p:nvSpPr>
          <p:cNvPr id="27650" name="内容占位符 2"/>
          <p:cNvSpPr>
            <a:spLocks noGrp="1"/>
          </p:cNvSpPr>
          <p:nvPr>
            <p:ph idx="1"/>
          </p:nvPr>
        </p:nvSpPr>
        <p:spPr>
          <a:xfrm>
            <a:off x="1321435" y="2626995"/>
            <a:ext cx="6040755" cy="3689350"/>
          </a:xfrm>
        </p:spPr>
        <p:txBody>
          <a:bodyPr vert="horz" wrap="square" lIns="91440" tIns="45720" rIns="91440" bIns="45720" anchor="t"/>
          <a:lstStyle/>
          <a:p>
            <a:pPr eaLnBrk="1" hangingPunct="1">
              <a:buNone/>
            </a:pPr>
            <a:r>
              <a:rPr lang="zh-CN" altLang="en-US" sz="2400" b="1" dirty="0">
                <a:solidFill>
                  <a:schemeClr val="bg2"/>
                </a:solidFill>
                <a:latin typeface="Times New Roman" panose="02020603050405020304" pitchFamily="18" charset="0"/>
              </a:rPr>
              <a:t>算法</a:t>
            </a:r>
            <a:r>
              <a:rPr lang="en-US" altLang="zh-CN" sz="2400" b="1" dirty="0">
                <a:solidFill>
                  <a:schemeClr val="bg2"/>
                </a:solidFill>
                <a:latin typeface="Times New Roman" panose="02020603050405020304" pitchFamily="18" charset="0"/>
              </a:rPr>
              <a:t>1.1</a:t>
            </a:r>
            <a:r>
              <a:rPr lang="en-US" altLang="zh-CN" sz="2800" b="1"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rPr>
              <a:t>Euclid(</a:t>
            </a:r>
            <a:r>
              <a:rPr lang="en-US" altLang="zh-CN" sz="2400" b="1" i="1" dirty="0">
                <a:solidFill>
                  <a:schemeClr val="bg2"/>
                </a:solidFill>
                <a:latin typeface="Times New Roman" panose="02020603050405020304" pitchFamily="18" charset="0"/>
              </a:rPr>
              <a:t>m,n</a:t>
            </a:r>
            <a:r>
              <a:rPr lang="en-US" altLang="zh-CN" sz="2400" b="1" dirty="0">
                <a:solidFill>
                  <a:schemeClr val="bg2"/>
                </a:solidFill>
                <a:latin typeface="Times New Roman" panose="02020603050405020304" pitchFamily="18" charset="0"/>
              </a:rPr>
              <a:t>) </a:t>
            </a:r>
            <a:endParaRPr lang="zh-CN" altLang="en-US" sz="2400" b="1" dirty="0">
              <a:solidFill>
                <a:schemeClr val="bg2"/>
              </a:solidFill>
              <a:latin typeface="Times New Roman" panose="02020603050405020304" pitchFamily="18" charset="0"/>
            </a:endParaRPr>
          </a:p>
          <a:p>
            <a:pPr eaLnBrk="1" hangingPunct="1">
              <a:buNone/>
            </a:pPr>
            <a:r>
              <a:rPr lang="zh-CN" altLang="en-US" sz="2400" b="1" dirty="0">
                <a:solidFill>
                  <a:schemeClr val="bg2"/>
                </a:solidFill>
                <a:latin typeface="Times New Roman" panose="02020603050405020304" pitchFamily="18" charset="0"/>
              </a:rPr>
              <a:t>输入：非负整数 </a:t>
            </a:r>
            <a:r>
              <a:rPr lang="en-US" altLang="zh-CN" sz="2400" b="1" i="1" dirty="0">
                <a:solidFill>
                  <a:schemeClr val="bg2"/>
                </a:solidFill>
                <a:latin typeface="Times New Roman" panose="02020603050405020304" pitchFamily="18" charset="0"/>
              </a:rPr>
              <a:t>m, n</a:t>
            </a:r>
            <a:r>
              <a:rPr lang="zh-CN" altLang="en-US" sz="2400" b="1" dirty="0">
                <a:solidFill>
                  <a:schemeClr val="bg2"/>
                </a:solidFill>
                <a:latin typeface="Times New Roman" panose="02020603050405020304" pitchFamily="18" charset="0"/>
              </a:rPr>
              <a:t>，其中</a:t>
            </a:r>
            <a:r>
              <a:rPr lang="en-US" altLang="zh-CN" sz="2400" b="1" i="1" dirty="0">
                <a:solidFill>
                  <a:schemeClr val="bg2"/>
                </a:solidFill>
                <a:latin typeface="Times New Roman" panose="02020603050405020304" pitchFamily="18" charset="0"/>
              </a:rPr>
              <a:t>m</a:t>
            </a:r>
            <a:r>
              <a:rPr lang="zh-CN" altLang="en-US" sz="2400" b="1" dirty="0">
                <a:solidFill>
                  <a:schemeClr val="bg2"/>
                </a:solidFill>
                <a:latin typeface="Times New Roman" panose="02020603050405020304" pitchFamily="18" charset="0"/>
              </a:rPr>
              <a:t>与</a:t>
            </a:r>
            <a:r>
              <a:rPr lang="en-US" altLang="zh-CN" sz="2400" b="1" i="1" dirty="0">
                <a:solidFill>
                  <a:schemeClr val="bg2"/>
                </a:solidFill>
                <a:latin typeface="Times New Roman" panose="02020603050405020304" pitchFamily="18" charset="0"/>
              </a:rPr>
              <a:t>n</a:t>
            </a:r>
            <a:r>
              <a:rPr lang="zh-CN" altLang="en-US" sz="2400" b="1" dirty="0">
                <a:solidFill>
                  <a:schemeClr val="bg2"/>
                </a:solidFill>
                <a:latin typeface="Times New Roman" panose="02020603050405020304" pitchFamily="18" charset="0"/>
              </a:rPr>
              <a:t>不全为</a:t>
            </a:r>
            <a:r>
              <a:rPr lang="en-US" altLang="zh-CN" sz="2400" b="1" dirty="0">
                <a:solidFill>
                  <a:schemeClr val="bg2"/>
                </a:solidFill>
                <a:latin typeface="Times New Roman" panose="02020603050405020304" pitchFamily="18" charset="0"/>
              </a:rPr>
              <a:t>0</a:t>
            </a:r>
            <a:endParaRPr lang="zh-CN" altLang="en-US" sz="2400" b="1" dirty="0">
              <a:solidFill>
                <a:schemeClr val="bg2"/>
              </a:solidFill>
              <a:latin typeface="Times New Roman" panose="02020603050405020304" pitchFamily="18" charset="0"/>
            </a:endParaRPr>
          </a:p>
          <a:p>
            <a:pPr eaLnBrk="1" hangingPunct="1">
              <a:buNone/>
            </a:pPr>
            <a:r>
              <a:rPr lang="zh-CN" altLang="en-US" sz="2400" b="1" dirty="0">
                <a:solidFill>
                  <a:schemeClr val="bg2"/>
                </a:solidFill>
                <a:latin typeface="Times New Roman" panose="02020603050405020304" pitchFamily="18" charset="0"/>
              </a:rPr>
              <a:t>输出：</a:t>
            </a:r>
            <a:r>
              <a:rPr lang="en-US" altLang="zh-CN" sz="2400" b="1" i="1" dirty="0">
                <a:solidFill>
                  <a:schemeClr val="bg2"/>
                </a:solidFill>
                <a:latin typeface="Times New Roman" panose="02020603050405020304" pitchFamily="18" charset="0"/>
              </a:rPr>
              <a:t>m </a:t>
            </a:r>
            <a:r>
              <a:rPr lang="zh-CN" altLang="en-US" sz="2400" b="1" dirty="0">
                <a:solidFill>
                  <a:schemeClr val="bg2"/>
                </a:solidFill>
                <a:latin typeface="Times New Roman" panose="02020603050405020304" pitchFamily="18" charset="0"/>
              </a:rPr>
              <a:t>与 </a:t>
            </a:r>
            <a:r>
              <a:rPr lang="en-US" altLang="zh-CN" sz="2400" b="1" i="1" dirty="0">
                <a:solidFill>
                  <a:schemeClr val="bg2"/>
                </a:solidFill>
                <a:latin typeface="Times New Roman" panose="02020603050405020304" pitchFamily="18" charset="0"/>
              </a:rPr>
              <a:t>n </a:t>
            </a:r>
            <a:r>
              <a:rPr lang="zh-CN" altLang="en-US" sz="2400" b="1" dirty="0">
                <a:solidFill>
                  <a:schemeClr val="bg2"/>
                </a:solidFill>
                <a:latin typeface="Times New Roman" panose="02020603050405020304" pitchFamily="18" charset="0"/>
              </a:rPr>
              <a:t>的最大公约数</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1. while </a:t>
            </a:r>
            <a:r>
              <a:rPr lang="en-US" altLang="zh-CN" sz="2400" b="1" i="1" dirty="0">
                <a:solidFill>
                  <a:schemeClr val="bg2"/>
                </a:solidFill>
                <a:latin typeface="Times New Roman" panose="02020603050405020304" pitchFamily="18" charset="0"/>
              </a:rPr>
              <a:t>m</a:t>
            </a:r>
            <a:r>
              <a:rPr lang="en-US" altLang="zh-CN" sz="2400" b="1" dirty="0">
                <a:solidFill>
                  <a:schemeClr val="bg2"/>
                </a:solidFill>
                <a:latin typeface="Times New Roman" panose="02020603050405020304" pitchFamily="18" charset="0"/>
              </a:rPr>
              <a:t>&gt;0 do</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2.      </a:t>
            </a:r>
            <a:r>
              <a:rPr lang="en-US" altLang="zh-CN" sz="2400" b="1" i="1" dirty="0">
                <a:solidFill>
                  <a:schemeClr val="bg2"/>
                </a:solidFill>
                <a:latin typeface="Times New Roman" panose="02020603050405020304" pitchFamily="18" charset="0"/>
              </a:rPr>
              <a:t>r </a:t>
            </a:r>
            <a:r>
              <a:rPr lang="en-US" altLang="zh-CN" sz="2400" b="1" dirty="0">
                <a:solidFill>
                  <a:schemeClr val="bg2"/>
                </a:solidFill>
                <a:latin typeface="Times New Roman" panose="02020603050405020304" pitchFamily="18" charset="0"/>
                <a:sym typeface="Symbol" panose="05050102010706020507" pitchFamily="18" charset="2"/>
              </a:rPr>
              <a:t> </a:t>
            </a:r>
            <a:r>
              <a:rPr lang="en-US" altLang="zh-CN" sz="2400" b="1" i="1" dirty="0">
                <a:solidFill>
                  <a:schemeClr val="bg2"/>
                </a:solidFill>
                <a:latin typeface="Times New Roman" panose="02020603050405020304" pitchFamily="18" charset="0"/>
              </a:rPr>
              <a:t>n </a:t>
            </a:r>
            <a:r>
              <a:rPr lang="en-US" altLang="zh-CN" sz="2400" b="1" dirty="0">
                <a:solidFill>
                  <a:schemeClr val="bg2"/>
                </a:solidFill>
                <a:latin typeface="Times New Roman" panose="02020603050405020304" pitchFamily="18" charset="0"/>
              </a:rPr>
              <a:t>mod </a:t>
            </a:r>
            <a:r>
              <a:rPr lang="en-US" altLang="zh-CN" sz="2400" b="1" i="1" dirty="0">
                <a:solidFill>
                  <a:schemeClr val="bg2"/>
                </a:solidFill>
                <a:latin typeface="Times New Roman" panose="02020603050405020304" pitchFamily="18" charset="0"/>
              </a:rPr>
              <a:t>m</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3.      </a:t>
            </a:r>
            <a:r>
              <a:rPr lang="en-US" altLang="zh-CN" sz="2400" b="1" i="1" dirty="0">
                <a:solidFill>
                  <a:schemeClr val="bg2"/>
                </a:solidFill>
                <a:latin typeface="Times New Roman" panose="02020603050405020304" pitchFamily="18" charset="0"/>
              </a:rPr>
              <a:t>n </a:t>
            </a:r>
            <a:r>
              <a:rPr lang="en-US" altLang="zh-CN" sz="2400" b="1" dirty="0">
                <a:solidFill>
                  <a:schemeClr val="bg2"/>
                </a:solidFill>
                <a:latin typeface="Times New Roman" panose="02020603050405020304" pitchFamily="18" charset="0"/>
                <a:sym typeface="Symbol" panose="05050102010706020507" pitchFamily="18" charset="2"/>
              </a:rPr>
              <a:t> </a:t>
            </a:r>
            <a:r>
              <a:rPr lang="en-US" altLang="zh-CN" sz="2400" b="1" i="1" dirty="0">
                <a:solidFill>
                  <a:schemeClr val="bg2"/>
                </a:solidFill>
                <a:latin typeface="Times New Roman" panose="02020603050405020304" pitchFamily="18" charset="0"/>
              </a:rPr>
              <a:t>m</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4.      </a:t>
            </a:r>
            <a:r>
              <a:rPr lang="en-US" altLang="zh-CN" sz="2400" b="1" i="1" dirty="0">
                <a:solidFill>
                  <a:schemeClr val="bg2"/>
                </a:solidFill>
                <a:latin typeface="Times New Roman" panose="02020603050405020304" pitchFamily="18" charset="0"/>
              </a:rPr>
              <a:t>m </a:t>
            </a:r>
            <a:r>
              <a:rPr lang="en-US" altLang="zh-CN" sz="2400" b="1" dirty="0">
                <a:solidFill>
                  <a:schemeClr val="bg2"/>
                </a:solidFill>
                <a:latin typeface="Times New Roman" panose="02020603050405020304" pitchFamily="18" charset="0"/>
                <a:sym typeface="Symbol" panose="05050102010706020507" pitchFamily="18" charset="2"/>
              </a:rPr>
              <a:t> </a:t>
            </a:r>
            <a:r>
              <a:rPr lang="en-US" altLang="zh-CN" sz="2400" b="1" i="1" dirty="0">
                <a:solidFill>
                  <a:schemeClr val="bg2"/>
                </a:solidFill>
                <a:latin typeface="Times New Roman" panose="02020603050405020304" pitchFamily="18" charset="0"/>
              </a:rPr>
              <a:t>r</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5. return </a:t>
            </a:r>
            <a:r>
              <a:rPr lang="en-US" altLang="zh-CN" sz="2400" b="1" i="1" dirty="0">
                <a:solidFill>
                  <a:schemeClr val="bg2"/>
                </a:solidFill>
                <a:latin typeface="Times New Roman" panose="02020603050405020304" pitchFamily="18" charset="0"/>
              </a:rPr>
              <a:t>n </a:t>
            </a:r>
            <a:r>
              <a:rPr lang="en-US" altLang="zh-CN" sz="2400" b="1" dirty="0">
                <a:solidFill>
                  <a:schemeClr val="bg2"/>
                </a:solidFill>
                <a:latin typeface="Times New Roman" panose="02020603050405020304" pitchFamily="18" charset="0"/>
              </a:rPr>
              <a:t>  </a:t>
            </a:r>
            <a:endParaRPr lang="zh-CN" altLang="en-US" sz="2400" b="1" dirty="0">
              <a:solidFill>
                <a:schemeClr val="bg2"/>
              </a:solidFill>
              <a:latin typeface="Times New Roman" panose="02020603050405020304" pitchFamily="18" charset="0"/>
            </a:endParaRPr>
          </a:p>
        </p:txBody>
      </p:sp>
      <p:sp>
        <p:nvSpPr>
          <p:cNvPr id="4" name="文本框 3"/>
          <p:cNvSpPr txBox="1"/>
          <p:nvPr/>
        </p:nvSpPr>
        <p:spPr>
          <a:xfrm>
            <a:off x="933450" y="2160270"/>
            <a:ext cx="5274310" cy="460375"/>
          </a:xfrm>
          <a:prstGeom prst="rect">
            <a:avLst/>
          </a:prstGeom>
          <a:noFill/>
        </p:spPr>
        <p:txBody>
          <a:bodyPr wrap="square" rtlCol="0" anchor="t">
            <a:spAutoFit/>
          </a:bodyPr>
          <a:lstStyle/>
          <a:p>
            <a:r>
              <a:rPr lang="zh-CN" altLang="en-US" dirty="0">
                <a:solidFill>
                  <a:schemeClr val="bg2"/>
                </a:solidFill>
              </a:rPr>
              <a:t>例</a:t>
            </a:r>
            <a:r>
              <a:rPr lang="en-US" altLang="zh-CN" dirty="0">
                <a:solidFill>
                  <a:schemeClr val="bg2"/>
                </a:solidFill>
              </a:rPr>
              <a:t>1</a:t>
            </a:r>
            <a:r>
              <a:rPr lang="zh-CN" altLang="en-US" dirty="0">
                <a:solidFill>
                  <a:schemeClr val="bg2"/>
                </a:solidFill>
              </a:rPr>
              <a:t>：求最大公约数</a:t>
            </a:r>
            <a:r>
              <a:rPr lang="en-US" altLang="zh-CN" dirty="0">
                <a:solidFill>
                  <a:schemeClr val="bg2"/>
                </a:solidFill>
              </a:rPr>
              <a:t>—</a:t>
            </a:r>
            <a:r>
              <a:rPr lang="zh-CN" altLang="en-US" dirty="0">
                <a:solidFill>
                  <a:schemeClr val="bg2"/>
                </a:solidFill>
              </a:rPr>
              <a:t>辗转相除法</a:t>
            </a:r>
            <a:endParaRPr lang="zh-CN" altLang="en-US" dirty="0">
              <a:solidFill>
                <a:schemeClr val="bg2"/>
              </a:solidFill>
            </a:endParaRP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4" name="文本框 3"/>
          <p:cNvSpPr txBox="1"/>
          <p:nvPr/>
        </p:nvSpPr>
        <p:spPr>
          <a:xfrm>
            <a:off x="933450" y="1801495"/>
            <a:ext cx="5274310" cy="460375"/>
          </a:xfrm>
          <a:prstGeom prst="rect">
            <a:avLst/>
          </a:prstGeom>
          <a:noFill/>
        </p:spPr>
        <p:txBody>
          <a:bodyPr wrap="square" rtlCol="0" anchor="t">
            <a:spAutoFit/>
          </a:bodyPr>
          <a:lstStyle/>
          <a:p>
            <a:r>
              <a:rPr lang="zh-CN" altLang="en-US">
                <a:solidFill>
                  <a:schemeClr val="bg2"/>
                </a:solidFill>
              </a:rPr>
              <a:t>例</a:t>
            </a:r>
            <a:r>
              <a:rPr lang="en-US" altLang="zh-CN">
                <a:solidFill>
                  <a:schemeClr val="bg2"/>
                </a:solidFill>
              </a:rPr>
              <a:t>2</a:t>
            </a:r>
            <a:r>
              <a:rPr lang="zh-CN" altLang="en-US">
                <a:solidFill>
                  <a:schemeClr val="bg2"/>
                </a:solidFill>
              </a:rPr>
              <a:t>：</a:t>
            </a:r>
            <a:r>
              <a:rPr>
                <a:solidFill>
                  <a:schemeClr val="bg2"/>
                </a:solidFill>
              </a:rPr>
              <a:t>改进的顺序检索</a:t>
            </a:r>
            <a:endParaRPr>
              <a:solidFill>
                <a:schemeClr val="bg2"/>
              </a:solidFill>
            </a:endParaRPr>
          </a:p>
        </p:txBody>
      </p:sp>
      <p:sp>
        <p:nvSpPr>
          <p:cNvPr id="28674" name="内容占位符 2"/>
          <p:cNvSpPr>
            <a:spLocks noGrp="1"/>
          </p:cNvSpPr>
          <p:nvPr>
            <p:ph idx="1"/>
          </p:nvPr>
        </p:nvSpPr>
        <p:spPr>
          <a:xfrm>
            <a:off x="933450" y="2324735"/>
            <a:ext cx="7482840" cy="3196590"/>
          </a:xfrm>
        </p:spPr>
        <p:txBody>
          <a:bodyPr vert="horz" wrap="square" lIns="91440" tIns="45720" rIns="91440" bIns="45720" anchor="t"/>
          <a:lstStyle/>
          <a:p>
            <a:pPr eaLnBrk="1" hangingPunct="1">
              <a:buNone/>
            </a:pPr>
            <a:r>
              <a:rPr lang="zh-CN" altLang="en-US" sz="2400" b="1" dirty="0">
                <a:solidFill>
                  <a:schemeClr val="bg2"/>
                </a:solidFill>
                <a:latin typeface="Times New Roman" panose="02020603050405020304" pitchFamily="18" charset="0"/>
              </a:rPr>
              <a:t>算法</a:t>
            </a:r>
            <a:r>
              <a:rPr lang="en-US" altLang="zh-CN" sz="2400" b="1" dirty="0">
                <a:solidFill>
                  <a:schemeClr val="bg2"/>
                </a:solidFill>
                <a:latin typeface="Times New Roman" panose="02020603050405020304" pitchFamily="18" charset="0"/>
              </a:rPr>
              <a:t>1.2</a:t>
            </a:r>
            <a:r>
              <a:rPr lang="en-US" altLang="zh-CN" sz="2800" b="1" dirty="0">
                <a:solidFill>
                  <a:schemeClr val="bg2"/>
                </a:solidFill>
                <a:latin typeface="Times New Roman" panose="02020603050405020304" pitchFamily="18" charset="0"/>
              </a:rPr>
              <a:t>  </a:t>
            </a:r>
            <a:r>
              <a:rPr lang="en-US" altLang="zh-CN" sz="2400" b="1" dirty="0">
                <a:solidFill>
                  <a:schemeClr val="bg2"/>
                </a:solidFill>
                <a:latin typeface="Times New Roman" panose="02020603050405020304" pitchFamily="18" charset="0"/>
              </a:rPr>
              <a:t>Search(</a:t>
            </a:r>
            <a:r>
              <a:rPr lang="en-US" altLang="zh-CN" sz="2400" b="1" i="1" dirty="0">
                <a:solidFill>
                  <a:schemeClr val="bg2"/>
                </a:solidFill>
                <a:latin typeface="Times New Roman" panose="02020603050405020304" pitchFamily="18" charset="0"/>
              </a:rPr>
              <a:t>L,x</a:t>
            </a:r>
            <a:r>
              <a:rPr lang="en-US" altLang="zh-CN" sz="2400" b="1" dirty="0">
                <a:solidFill>
                  <a:schemeClr val="bg2"/>
                </a:solidFill>
                <a:latin typeface="Times New Roman" panose="02020603050405020304" pitchFamily="18" charset="0"/>
              </a:rPr>
              <a:t>)</a:t>
            </a:r>
            <a:endParaRPr lang="zh-CN" altLang="en-US" sz="2400" b="1" dirty="0">
              <a:solidFill>
                <a:schemeClr val="bg2"/>
              </a:solidFill>
              <a:latin typeface="Times New Roman" panose="02020603050405020304" pitchFamily="18" charset="0"/>
            </a:endParaRPr>
          </a:p>
          <a:p>
            <a:pPr eaLnBrk="1" hangingPunct="1">
              <a:buNone/>
            </a:pPr>
            <a:r>
              <a:rPr lang="zh-CN" altLang="en-US" sz="2400" b="1" dirty="0">
                <a:solidFill>
                  <a:schemeClr val="bg2"/>
                </a:solidFill>
                <a:latin typeface="Times New Roman" panose="02020603050405020304" pitchFamily="18" charset="0"/>
              </a:rPr>
              <a:t>输入：数组</a:t>
            </a:r>
            <a:r>
              <a:rPr lang="en-US" altLang="zh-CN" sz="2400" b="1" i="1" dirty="0">
                <a:solidFill>
                  <a:schemeClr val="bg2"/>
                </a:solidFill>
                <a:latin typeface="Times New Roman" panose="02020603050405020304" pitchFamily="18" charset="0"/>
              </a:rPr>
              <a:t>L</a:t>
            </a:r>
            <a:r>
              <a:rPr lang="en-US" altLang="zh-CN" sz="2400" b="1" dirty="0">
                <a:solidFill>
                  <a:schemeClr val="bg2"/>
                </a:solidFill>
                <a:latin typeface="Times New Roman" panose="02020603050405020304" pitchFamily="18" charset="0"/>
              </a:rPr>
              <a:t>[1..</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a:t>
            </a:r>
            <a:r>
              <a:rPr lang="zh-CN" altLang="en-US" sz="2400" b="1" dirty="0">
                <a:solidFill>
                  <a:schemeClr val="bg2"/>
                </a:solidFill>
                <a:latin typeface="Times New Roman" panose="02020603050405020304" pitchFamily="18" charset="0"/>
              </a:rPr>
              <a:t>，其元素按照从小到大排列，数 </a:t>
            </a:r>
            <a:r>
              <a:rPr lang="en-US" altLang="zh-CN" sz="2400" b="1" i="1" dirty="0">
                <a:solidFill>
                  <a:schemeClr val="bg2"/>
                </a:solidFill>
                <a:latin typeface="Times New Roman" panose="02020603050405020304" pitchFamily="18" charset="0"/>
              </a:rPr>
              <a:t>x. </a:t>
            </a:r>
            <a:endParaRPr lang="zh-CN" altLang="en-US" sz="2400" b="1" dirty="0">
              <a:solidFill>
                <a:schemeClr val="bg2"/>
              </a:solidFill>
              <a:latin typeface="Times New Roman" panose="02020603050405020304" pitchFamily="18" charset="0"/>
            </a:endParaRPr>
          </a:p>
          <a:p>
            <a:pPr eaLnBrk="1" hangingPunct="1">
              <a:buNone/>
            </a:pPr>
            <a:r>
              <a:rPr lang="zh-CN" altLang="en-US" sz="2400" b="1" dirty="0">
                <a:solidFill>
                  <a:schemeClr val="bg2"/>
                </a:solidFill>
                <a:latin typeface="Times New Roman" panose="02020603050405020304" pitchFamily="18" charset="0"/>
              </a:rPr>
              <a:t>输出：若 </a:t>
            </a:r>
            <a:r>
              <a:rPr lang="en-US" altLang="zh-CN" sz="2400" b="1" i="1" dirty="0">
                <a:solidFill>
                  <a:schemeClr val="bg2"/>
                </a:solidFill>
                <a:latin typeface="Times New Roman" panose="02020603050405020304" pitchFamily="18" charset="0"/>
              </a:rPr>
              <a:t>x </a:t>
            </a:r>
            <a:r>
              <a:rPr lang="zh-CN" altLang="en-US" sz="2400" b="1" dirty="0">
                <a:solidFill>
                  <a:schemeClr val="bg2"/>
                </a:solidFill>
                <a:latin typeface="Times New Roman" panose="02020603050405020304" pitchFamily="18" charset="0"/>
              </a:rPr>
              <a:t>在</a:t>
            </a:r>
            <a:r>
              <a:rPr lang="en-US" altLang="zh-CN" sz="2400" b="1" i="1" dirty="0">
                <a:solidFill>
                  <a:schemeClr val="bg2"/>
                </a:solidFill>
                <a:latin typeface="Times New Roman" panose="02020603050405020304" pitchFamily="18" charset="0"/>
              </a:rPr>
              <a:t>L</a:t>
            </a:r>
            <a:r>
              <a:rPr lang="zh-CN" altLang="en-US" sz="2400" b="1" dirty="0">
                <a:solidFill>
                  <a:schemeClr val="bg2"/>
                </a:solidFill>
                <a:latin typeface="Times New Roman" panose="02020603050405020304" pitchFamily="18" charset="0"/>
              </a:rPr>
              <a:t>中，输出 </a:t>
            </a:r>
            <a:r>
              <a:rPr lang="en-US" altLang="zh-CN" sz="2400" b="1" i="1" dirty="0">
                <a:solidFill>
                  <a:schemeClr val="bg2"/>
                </a:solidFill>
                <a:latin typeface="Times New Roman" panose="02020603050405020304" pitchFamily="18" charset="0"/>
              </a:rPr>
              <a:t>x </a:t>
            </a:r>
            <a:r>
              <a:rPr lang="zh-CN" altLang="en-US" sz="2400" b="1" dirty="0">
                <a:solidFill>
                  <a:schemeClr val="bg2"/>
                </a:solidFill>
                <a:latin typeface="Times New Roman" panose="02020603050405020304" pitchFamily="18" charset="0"/>
              </a:rPr>
              <a:t>的位置下标 </a:t>
            </a:r>
            <a:r>
              <a:rPr lang="en-US" altLang="zh-CN" sz="2400" b="1" i="1" dirty="0">
                <a:solidFill>
                  <a:schemeClr val="bg2"/>
                </a:solidFill>
                <a:latin typeface="Times New Roman" panose="02020603050405020304" pitchFamily="18" charset="0"/>
              </a:rPr>
              <a:t>j</a:t>
            </a:r>
            <a:r>
              <a:rPr lang="zh-CN" altLang="en-US" sz="2400" b="1" dirty="0">
                <a:solidFill>
                  <a:schemeClr val="bg2"/>
                </a:solidFill>
                <a:latin typeface="Times New Roman" panose="02020603050405020304" pitchFamily="18" charset="0"/>
              </a:rPr>
              <a:t>；否则输出</a:t>
            </a:r>
            <a:r>
              <a:rPr lang="en-US" altLang="zh-CN" sz="2400" b="1" dirty="0">
                <a:solidFill>
                  <a:schemeClr val="bg2"/>
                </a:solidFill>
                <a:latin typeface="Times New Roman" panose="02020603050405020304" pitchFamily="18" charset="0"/>
              </a:rPr>
              <a:t>0. </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1.</a:t>
            </a:r>
            <a:r>
              <a:rPr lang="en-US" altLang="zh-CN" sz="2400" b="1" i="1" dirty="0">
                <a:solidFill>
                  <a:schemeClr val="bg2"/>
                </a:solidFill>
                <a:latin typeface="Times New Roman" panose="02020603050405020304" pitchFamily="18" charset="0"/>
              </a:rPr>
              <a:t>  j</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rPr>
              <a:t>1</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2.  while </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rPr>
              <a:t>n</a:t>
            </a:r>
            <a:r>
              <a:rPr lang="en-US" altLang="zh-CN" sz="2400" b="1" dirty="0">
                <a:solidFill>
                  <a:schemeClr val="bg2"/>
                </a:solidFill>
                <a:latin typeface="Times New Roman" panose="02020603050405020304" pitchFamily="18" charset="0"/>
              </a:rPr>
              <a:t> and </a:t>
            </a:r>
            <a:r>
              <a:rPr lang="en-US" altLang="zh-CN" sz="2400" b="1" i="1" dirty="0">
                <a:solidFill>
                  <a:schemeClr val="bg2"/>
                </a:solidFill>
                <a:latin typeface="Times New Roman" panose="02020603050405020304" pitchFamily="18" charset="0"/>
              </a:rPr>
              <a:t>x</a:t>
            </a:r>
            <a:r>
              <a:rPr lang="en-US" altLang="zh-CN" sz="2400" b="1" dirty="0">
                <a:solidFill>
                  <a:schemeClr val="bg2"/>
                </a:solidFill>
                <a:latin typeface="Times New Roman" panose="02020603050405020304" pitchFamily="18" charset="0"/>
              </a:rPr>
              <a:t>&gt;</a:t>
            </a:r>
            <a:r>
              <a:rPr lang="en-US" altLang="zh-CN" sz="2400" b="1" i="1" dirty="0">
                <a:solidFill>
                  <a:schemeClr val="bg2"/>
                </a:solidFill>
                <a:latin typeface="Times New Roman" panose="02020603050405020304" pitchFamily="18" charset="0"/>
              </a:rPr>
              <a:t>L</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rPr>
              <a:t>] do</a:t>
            </a:r>
            <a:r>
              <a:rPr lang="en-US" altLang="zh-CN" sz="2400" b="1" i="1" dirty="0">
                <a:solidFill>
                  <a:schemeClr val="bg2"/>
                </a:solidFill>
                <a:latin typeface="Times New Roman" panose="02020603050405020304" pitchFamily="18" charset="0"/>
              </a:rPr>
              <a:t> j</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rPr>
              <a:t>+1</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3.  if </a:t>
            </a:r>
            <a:r>
              <a:rPr lang="en-US" altLang="zh-CN" sz="2400" b="1" i="1" dirty="0">
                <a:solidFill>
                  <a:schemeClr val="bg2"/>
                </a:solidFill>
                <a:latin typeface="Times New Roman" panose="02020603050405020304" pitchFamily="18" charset="0"/>
              </a:rPr>
              <a:t>x</a:t>
            </a:r>
            <a:r>
              <a:rPr lang="en-US" altLang="zh-CN" sz="2400" b="1" dirty="0">
                <a:solidFill>
                  <a:schemeClr val="bg2"/>
                </a:solidFill>
                <a:latin typeface="Times New Roman" panose="02020603050405020304" pitchFamily="18" charset="0"/>
              </a:rPr>
              <a:t>&lt;</a:t>
            </a:r>
            <a:r>
              <a:rPr lang="en-US" altLang="zh-CN" sz="2400" b="1" i="1" dirty="0">
                <a:solidFill>
                  <a:schemeClr val="bg2"/>
                </a:solidFill>
                <a:latin typeface="Times New Roman" panose="02020603050405020304" pitchFamily="18" charset="0"/>
              </a:rPr>
              <a:t>L</a:t>
            </a:r>
            <a:r>
              <a:rPr lang="en-US" altLang="zh-CN" sz="2400" b="1" dirty="0">
                <a:solidFill>
                  <a:schemeClr val="bg2"/>
                </a:solidFill>
                <a:latin typeface="Times New Roman" panose="02020603050405020304" pitchFamily="18" charset="0"/>
              </a:rPr>
              <a:t>[</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rPr>
              <a:t>] or </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rPr>
              <a:t>&gt;</a:t>
            </a:r>
            <a:r>
              <a:rPr lang="en-US" altLang="zh-CN" sz="2400" b="1" i="1" dirty="0">
                <a:solidFill>
                  <a:schemeClr val="bg2"/>
                </a:solidFill>
                <a:latin typeface="Times New Roman" panose="02020603050405020304" pitchFamily="18" charset="0"/>
              </a:rPr>
              <a:t>n </a:t>
            </a:r>
            <a:r>
              <a:rPr lang="en-US" altLang="zh-CN" sz="2400" b="1" dirty="0">
                <a:solidFill>
                  <a:schemeClr val="bg2"/>
                </a:solidFill>
                <a:latin typeface="Times New Roman" panose="02020603050405020304" pitchFamily="18" charset="0"/>
              </a:rPr>
              <a:t>then </a:t>
            </a:r>
            <a:r>
              <a:rPr lang="en-US" altLang="zh-CN" sz="2400" b="1" i="1" dirty="0">
                <a:solidFill>
                  <a:schemeClr val="bg2"/>
                </a:solidFill>
                <a:latin typeface="Times New Roman" panose="02020603050405020304" pitchFamily="18" charset="0"/>
              </a:rPr>
              <a:t>j</a:t>
            </a:r>
            <a:r>
              <a:rPr lang="en-US" altLang="zh-CN" sz="2400" b="1" dirty="0">
                <a:solidFill>
                  <a:schemeClr val="bg2"/>
                </a:solidFill>
                <a:latin typeface="Times New Roman" panose="02020603050405020304" pitchFamily="18" charset="0"/>
                <a:sym typeface="Symbol" panose="05050102010706020507" pitchFamily="18" charset="2"/>
              </a:rPr>
              <a:t></a:t>
            </a:r>
            <a:r>
              <a:rPr lang="en-US" altLang="zh-CN" sz="2400" b="1" dirty="0">
                <a:solidFill>
                  <a:schemeClr val="bg2"/>
                </a:solidFill>
                <a:latin typeface="Times New Roman" panose="02020603050405020304" pitchFamily="18" charset="0"/>
              </a:rPr>
              <a:t>0</a:t>
            </a:r>
            <a:endParaRPr lang="zh-CN" altLang="en-US" sz="2400" b="1" dirty="0">
              <a:solidFill>
                <a:schemeClr val="bg2"/>
              </a:solidFill>
              <a:latin typeface="Times New Roman" panose="02020603050405020304" pitchFamily="18" charset="0"/>
            </a:endParaRPr>
          </a:p>
          <a:p>
            <a:pPr eaLnBrk="1" hangingPunct="1">
              <a:buNone/>
            </a:pPr>
            <a:r>
              <a:rPr lang="en-US" altLang="zh-CN" sz="2400" b="1" dirty="0">
                <a:solidFill>
                  <a:schemeClr val="bg2"/>
                </a:solidFill>
                <a:latin typeface="Times New Roman" panose="02020603050405020304" pitchFamily="18" charset="0"/>
              </a:rPr>
              <a:t>4.  return </a:t>
            </a:r>
            <a:r>
              <a:rPr lang="en-US" altLang="zh-CN" sz="2400" b="1" i="1" dirty="0">
                <a:solidFill>
                  <a:schemeClr val="bg2"/>
                </a:solidFill>
                <a:latin typeface="Times New Roman" panose="02020603050405020304" pitchFamily="18" charset="0"/>
              </a:rPr>
              <a:t>j</a:t>
            </a:r>
            <a:endParaRPr lang="zh-CN" altLang="en-US" sz="2400" b="1" dirty="0">
              <a:solidFill>
                <a:schemeClr val="bg2"/>
              </a:solidFill>
              <a:latin typeface="Times New Roman" panose="02020603050405020304" pitchFamily="18" charset="0"/>
            </a:endParaRPr>
          </a:p>
          <a:p>
            <a:pPr eaLnBrk="1" hangingPunct="1">
              <a:buNone/>
            </a:pPr>
            <a:endParaRPr lang="zh-CN" altLang="en-US" sz="2400" b="1" dirty="0">
              <a:solidFill>
                <a:schemeClr val="bg2"/>
              </a:solidFill>
              <a:latin typeface="Times New Roman" panose="02020603050405020304" pitchFamily="18" charset="0"/>
              <a:ea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4" name="文本框 3"/>
          <p:cNvSpPr txBox="1"/>
          <p:nvPr/>
        </p:nvSpPr>
        <p:spPr>
          <a:xfrm>
            <a:off x="574675" y="1586230"/>
            <a:ext cx="5274310" cy="460375"/>
          </a:xfrm>
          <a:prstGeom prst="rect">
            <a:avLst/>
          </a:prstGeom>
          <a:noFill/>
        </p:spPr>
        <p:txBody>
          <a:bodyPr wrap="square" rtlCol="0" anchor="t">
            <a:spAutoFit/>
          </a:bodyPr>
          <a:lstStyle/>
          <a:p>
            <a:r>
              <a:rPr lang="zh-CN" altLang="en-US">
                <a:solidFill>
                  <a:schemeClr val="bg2"/>
                </a:solidFill>
              </a:rPr>
              <a:t>例</a:t>
            </a:r>
            <a:r>
              <a:rPr lang="en-US" altLang="zh-CN">
                <a:solidFill>
                  <a:schemeClr val="bg2"/>
                </a:solidFill>
              </a:rPr>
              <a:t>3</a:t>
            </a:r>
            <a:r>
              <a:rPr lang="zh-CN" altLang="en-US">
                <a:solidFill>
                  <a:schemeClr val="bg2"/>
                </a:solidFill>
              </a:rPr>
              <a:t>：</a:t>
            </a:r>
            <a:r>
              <a:rPr>
                <a:solidFill>
                  <a:schemeClr val="bg2"/>
                </a:solidFill>
              </a:rPr>
              <a:t>插入排序</a:t>
            </a:r>
            <a:endParaRPr>
              <a:solidFill>
                <a:schemeClr val="bg2"/>
              </a:solidFill>
            </a:endParaRPr>
          </a:p>
        </p:txBody>
      </p:sp>
      <p:sp>
        <p:nvSpPr>
          <p:cNvPr id="28674" name="内容占位符 2"/>
          <p:cNvSpPr>
            <a:spLocks noGrp="1"/>
          </p:cNvSpPr>
          <p:nvPr>
            <p:ph idx="1"/>
          </p:nvPr>
        </p:nvSpPr>
        <p:spPr>
          <a:xfrm>
            <a:off x="933450" y="2037715"/>
            <a:ext cx="7482840" cy="4331335"/>
          </a:xfrm>
        </p:spPr>
        <p:txBody>
          <a:bodyPr vert="horz" wrap="square" lIns="91440" tIns="45720" rIns="91440" bIns="45720" anchor="t"/>
          <a:lstStyle/>
          <a:p>
            <a:pPr eaLnBrk="1" hangingPunct="1">
              <a:buNone/>
            </a:pPr>
            <a:r>
              <a:rPr sz="2400" b="1" dirty="0">
                <a:solidFill>
                  <a:schemeClr val="bg2"/>
                </a:solidFill>
                <a:latin typeface="Times New Roman" panose="02020603050405020304" pitchFamily="18" charset="0"/>
              </a:rPr>
              <a:t>算法</a:t>
            </a:r>
            <a:r>
              <a:rPr lang="en-US" sz="2400" b="1" dirty="0">
                <a:solidFill>
                  <a:schemeClr val="bg2"/>
                </a:solidFill>
                <a:latin typeface="Times New Roman" panose="02020603050405020304" pitchFamily="18" charset="0"/>
              </a:rPr>
              <a:t>1.3</a:t>
            </a:r>
            <a:r>
              <a:rPr sz="2400" b="1" dirty="0">
                <a:solidFill>
                  <a:schemeClr val="bg2"/>
                </a:solidFill>
                <a:latin typeface="Times New Roman" panose="02020603050405020304" pitchFamily="18" charset="0"/>
              </a:rPr>
              <a:t> Insert Sort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n</a:t>
            </a:r>
            <a:r>
              <a:rPr sz="2400" b="1" dirty="0">
                <a:solidFill>
                  <a:schemeClr val="bg2"/>
                </a:solidFill>
                <a:latin typeface="Times New Roman" panose="02020603050405020304" pitchFamily="18" charset="0"/>
              </a:rPr>
              <a:t>) </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输入：</a:t>
            </a:r>
            <a:r>
              <a:rPr sz="2400" b="1" i="1" dirty="0">
                <a:solidFill>
                  <a:schemeClr val="bg2"/>
                </a:solidFill>
                <a:latin typeface="Times New Roman" panose="02020603050405020304" pitchFamily="18" charset="0"/>
              </a:rPr>
              <a:t>n</a:t>
            </a:r>
            <a:r>
              <a:rPr sz="2400" b="1" dirty="0">
                <a:solidFill>
                  <a:schemeClr val="bg2"/>
                </a:solidFill>
                <a:latin typeface="Times New Roman" panose="02020603050405020304" pitchFamily="18" charset="0"/>
              </a:rPr>
              <a:t>个数的数组 </a:t>
            </a:r>
            <a:r>
              <a:rPr sz="2400" b="1" i="1" dirty="0">
                <a:solidFill>
                  <a:schemeClr val="bg2"/>
                </a:solidFill>
                <a:latin typeface="Times New Roman" panose="02020603050405020304" pitchFamily="18" charset="0"/>
              </a:rPr>
              <a:t>A</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输出：按照递增顺序排好序的数组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1. for </a:t>
            </a:r>
            <a:r>
              <a:rPr sz="2400" b="1" i="1" dirty="0">
                <a:solidFill>
                  <a:schemeClr val="bg2"/>
                </a:solidFill>
                <a:latin typeface="Times New Roman" panose="02020603050405020304" pitchFamily="18" charset="0"/>
              </a:rPr>
              <a:t>j</a:t>
            </a:r>
            <a:r>
              <a:rPr sz="2400" b="1" dirty="0">
                <a:solidFill>
                  <a:schemeClr val="bg2"/>
                </a:solidFill>
                <a:latin typeface="Times New Roman" panose="02020603050405020304" pitchFamily="18" charset="0"/>
              </a:rPr>
              <a:t>←2 to </a:t>
            </a:r>
            <a:r>
              <a:rPr sz="2400" b="1" i="1" dirty="0">
                <a:solidFill>
                  <a:schemeClr val="bg2"/>
                </a:solidFill>
                <a:latin typeface="Times New Roman" panose="02020603050405020304" pitchFamily="18" charset="0"/>
              </a:rPr>
              <a:t>n</a:t>
            </a:r>
            <a:r>
              <a:rPr sz="2400" b="1" dirty="0">
                <a:solidFill>
                  <a:schemeClr val="bg2"/>
                </a:solidFill>
                <a:latin typeface="Times New Roman" panose="02020603050405020304" pitchFamily="18" charset="0"/>
              </a:rPr>
              <a:t> do</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2.      </a:t>
            </a:r>
            <a:r>
              <a:rPr sz="2400" b="1" i="1" dirty="0">
                <a:solidFill>
                  <a:schemeClr val="bg2"/>
                </a:solidFill>
                <a:latin typeface="Times New Roman" panose="02020603050405020304" pitchFamily="18" charset="0"/>
              </a:rPr>
              <a:t>x</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j</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3.      </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j</a:t>
            </a:r>
            <a:r>
              <a:rPr sz="2400" b="1" dirty="0">
                <a:solidFill>
                  <a:schemeClr val="bg2"/>
                </a:solidFill>
                <a:latin typeface="Times New Roman" panose="02020603050405020304" pitchFamily="18" charset="0"/>
              </a:rPr>
              <a:t>−1 //3-7 行把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j</a:t>
            </a:r>
            <a:r>
              <a:rPr sz="2400" b="1" dirty="0">
                <a:solidFill>
                  <a:schemeClr val="bg2"/>
                </a:solidFill>
                <a:latin typeface="Times New Roman" panose="02020603050405020304" pitchFamily="18" charset="0"/>
              </a:rPr>
              <a:t>] 插入</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1</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j</a:t>
            </a:r>
            <a:r>
              <a:rPr sz="2400" b="1" dirty="0">
                <a:solidFill>
                  <a:schemeClr val="bg2"/>
                </a:solidFill>
                <a:latin typeface="Times New Roman" panose="02020603050405020304" pitchFamily="18" charset="0"/>
              </a:rPr>
              <a:t>−1] </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4.      while </a:t>
            </a:r>
            <a:r>
              <a:rPr sz="2400" b="1" i="1" dirty="0">
                <a:solidFill>
                  <a:schemeClr val="bg2"/>
                </a:solidFill>
                <a:latin typeface="Times New Roman" panose="02020603050405020304" pitchFamily="18" charset="0"/>
              </a:rPr>
              <a:t>i </a:t>
            </a:r>
            <a:r>
              <a:rPr sz="2400" b="1" dirty="0">
                <a:solidFill>
                  <a:schemeClr val="bg2"/>
                </a:solidFill>
                <a:latin typeface="Times New Roman" panose="02020603050405020304" pitchFamily="18" charset="0"/>
              </a:rPr>
              <a:t>&gt;0 and </a:t>
            </a:r>
            <a:r>
              <a:rPr sz="2400" b="1" i="1" dirty="0">
                <a:solidFill>
                  <a:schemeClr val="bg2"/>
                </a:solidFill>
                <a:latin typeface="Times New Roman" panose="02020603050405020304" pitchFamily="18" charset="0"/>
              </a:rPr>
              <a:t>x</a:t>
            </a:r>
            <a:r>
              <a:rPr sz="2400" b="1" dirty="0">
                <a:solidFill>
                  <a:schemeClr val="bg2"/>
                </a:solidFill>
                <a:latin typeface="Times New Roman" panose="02020603050405020304" pitchFamily="18" charset="0"/>
              </a:rPr>
              <a:t>&lt;</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 do</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5.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+1]←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 </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6.           </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−1</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7.     </a:t>
            </a:r>
            <a:r>
              <a:rPr lang="en-US" sz="2400" b="1" dirty="0" smtClean="0">
                <a:solidFill>
                  <a:schemeClr val="bg2"/>
                </a:solidFill>
                <a:latin typeface="Times New Roman" panose="02020603050405020304" pitchFamily="18" charset="0"/>
              </a:rPr>
              <a:t> </a:t>
            </a:r>
            <a:r>
              <a:rPr sz="2400" b="1" i="1" dirty="0" smtClean="0">
                <a:solidFill>
                  <a:schemeClr val="bg2"/>
                </a:solidFill>
                <a:latin typeface="Times New Roman" panose="02020603050405020304" pitchFamily="18" charset="0"/>
              </a:rPr>
              <a:t>A</a:t>
            </a:r>
            <a:r>
              <a:rPr sz="2400" b="1" dirty="0" smtClean="0">
                <a:solidFill>
                  <a:schemeClr val="bg2"/>
                </a:solidFill>
                <a:latin typeface="Times New Roman" panose="02020603050405020304" pitchFamily="18" charset="0"/>
              </a:rPr>
              <a:t>[</a:t>
            </a:r>
            <a:r>
              <a:rPr sz="2400" b="1" i="1" dirty="0" smtClean="0">
                <a:solidFill>
                  <a:schemeClr val="bg2"/>
                </a:solidFill>
                <a:latin typeface="Times New Roman" panose="02020603050405020304" pitchFamily="18" charset="0"/>
              </a:rPr>
              <a:t>i</a:t>
            </a:r>
            <a:r>
              <a:rPr sz="2400" b="1" dirty="0" smtClean="0">
                <a:solidFill>
                  <a:schemeClr val="bg2"/>
                </a:solidFill>
                <a:latin typeface="Times New Roman" panose="02020603050405020304" pitchFamily="18" charset="0"/>
              </a:rPr>
              <a:t>+1</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x</a:t>
            </a:r>
            <a:endParaRPr sz="2400" b="1" dirty="0">
              <a:solidFill>
                <a:schemeClr val="bg2"/>
              </a:solidFill>
              <a:latin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4" name="文本框 3"/>
          <p:cNvSpPr txBox="1"/>
          <p:nvPr/>
        </p:nvSpPr>
        <p:spPr>
          <a:xfrm>
            <a:off x="574675" y="1586230"/>
            <a:ext cx="5274310" cy="460375"/>
          </a:xfrm>
          <a:prstGeom prst="rect">
            <a:avLst/>
          </a:prstGeom>
          <a:noFill/>
        </p:spPr>
        <p:txBody>
          <a:bodyPr wrap="square" rtlCol="0" anchor="t">
            <a:spAutoFit/>
          </a:bodyPr>
          <a:lstStyle/>
          <a:p>
            <a:r>
              <a:rPr lang="zh-CN" altLang="en-US">
                <a:solidFill>
                  <a:schemeClr val="bg2"/>
                </a:solidFill>
              </a:rPr>
              <a:t>例</a:t>
            </a:r>
            <a:r>
              <a:rPr lang="en-US" altLang="zh-CN">
                <a:solidFill>
                  <a:schemeClr val="bg2"/>
                </a:solidFill>
              </a:rPr>
              <a:t>4</a:t>
            </a:r>
            <a:r>
              <a:rPr lang="zh-CN" altLang="en-US">
                <a:solidFill>
                  <a:schemeClr val="bg2"/>
                </a:solidFill>
              </a:rPr>
              <a:t>：</a:t>
            </a:r>
            <a:r>
              <a:rPr>
                <a:solidFill>
                  <a:schemeClr val="bg2"/>
                </a:solidFill>
              </a:rPr>
              <a:t>二分归并排序</a:t>
            </a:r>
            <a:endParaRPr>
              <a:solidFill>
                <a:schemeClr val="bg2"/>
              </a:solidFill>
            </a:endParaRPr>
          </a:p>
        </p:txBody>
      </p:sp>
      <p:sp>
        <p:nvSpPr>
          <p:cNvPr id="28674" name="内容占位符 2"/>
          <p:cNvSpPr>
            <a:spLocks noGrp="1"/>
          </p:cNvSpPr>
          <p:nvPr>
            <p:ph idx="1"/>
          </p:nvPr>
        </p:nvSpPr>
        <p:spPr>
          <a:xfrm>
            <a:off x="830580" y="2046605"/>
            <a:ext cx="7720965" cy="3585210"/>
          </a:xfrm>
          <a:solidFill>
            <a:schemeClr val="tx1"/>
          </a:solidFill>
          <a:ln>
            <a:solidFill>
              <a:schemeClr val="tx1"/>
            </a:solidFill>
          </a:ln>
        </p:spPr>
        <p:txBody>
          <a:bodyPr vert="horz" wrap="square" lIns="91440" tIns="45720" rIns="91440" bIns="45720" anchor="t"/>
          <a:lstStyle/>
          <a:p>
            <a:pPr eaLnBrk="1" hangingPunct="1">
              <a:buNone/>
            </a:pPr>
            <a:r>
              <a:rPr sz="2400" b="1" dirty="0">
                <a:solidFill>
                  <a:schemeClr val="bg2"/>
                </a:solidFill>
                <a:latin typeface="Times New Roman" panose="02020603050405020304" pitchFamily="18" charset="0"/>
              </a:rPr>
              <a:t>算法</a:t>
            </a:r>
            <a:r>
              <a:rPr lang="en-US" sz="2400" b="1" dirty="0">
                <a:solidFill>
                  <a:schemeClr val="bg2"/>
                </a:solidFill>
                <a:latin typeface="Times New Roman" panose="02020603050405020304" pitchFamily="18" charset="0"/>
              </a:rPr>
              <a:t>1.4</a:t>
            </a:r>
            <a:r>
              <a:rPr sz="2400" b="1" dirty="0">
                <a:solidFill>
                  <a:schemeClr val="bg2"/>
                </a:solidFill>
                <a:latin typeface="Times New Roman" panose="02020603050405020304" pitchFamily="18" charset="0"/>
              </a:rPr>
              <a:t> MergeSort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r</a:t>
            </a:r>
            <a:r>
              <a:rPr sz="2400" b="1" dirty="0">
                <a:solidFill>
                  <a:schemeClr val="bg2"/>
                </a:solidFill>
                <a:latin typeface="Times New Roman" panose="02020603050405020304" pitchFamily="18" charset="0"/>
              </a:rPr>
              <a:t>) </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输入：数组</a:t>
            </a:r>
            <a:r>
              <a:rPr sz="2400" b="1" i="1" dirty="0">
                <a:solidFill>
                  <a:schemeClr val="bg2"/>
                </a:solidFill>
                <a:latin typeface="Times New Roman" panose="02020603050405020304" pitchFamily="18" charset="0"/>
              </a:rPr>
              <a:t> A</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r</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输出：按递增顺序排序的数组 </a:t>
            </a:r>
            <a:r>
              <a:rPr sz="2400" b="1" i="1" dirty="0">
                <a:solidFill>
                  <a:schemeClr val="bg2"/>
                </a:solidFill>
                <a:latin typeface="Times New Roman" panose="02020603050405020304" pitchFamily="18" charset="0"/>
              </a:rPr>
              <a:t>A</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1. if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 &lt; </a:t>
            </a:r>
            <a:r>
              <a:rPr sz="2400" b="1" i="1" dirty="0">
                <a:solidFill>
                  <a:schemeClr val="bg2"/>
                </a:solidFill>
                <a:latin typeface="Times New Roman" panose="02020603050405020304" pitchFamily="18" charset="0"/>
              </a:rPr>
              <a:t>r</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2. then </a:t>
            </a:r>
            <a:r>
              <a:rPr sz="2400" b="1" i="1" dirty="0">
                <a:solidFill>
                  <a:schemeClr val="bg2"/>
                </a:solidFill>
                <a:latin typeface="Times New Roman" panose="02020603050405020304" pitchFamily="18" charset="0"/>
              </a:rPr>
              <a:t>q</a:t>
            </a:r>
            <a:r>
              <a:rPr sz="2400" b="1" dirty="0">
                <a:solidFill>
                  <a:schemeClr val="bg2"/>
                </a:solidFill>
                <a:latin typeface="Times New Roman" panose="02020603050405020304" pitchFamily="18" charset="0"/>
              </a:rPr>
              <a:t>←</a:t>
            </a:r>
            <a:r>
              <a:rPr lang="en-US" sz="2400" b="1" dirty="0">
                <a:solidFill>
                  <a:schemeClr val="bg2"/>
                </a:solidFill>
                <a:latin typeface="Times New Roman" panose="02020603050405020304" pitchFamily="18" charset="0"/>
              </a:rPr>
              <a:t>int(</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r</a:t>
            </a:r>
            <a:r>
              <a:rPr sz="2400" b="1" dirty="0">
                <a:solidFill>
                  <a:schemeClr val="bg2"/>
                </a:solidFill>
                <a:latin typeface="Times New Roman" panose="02020603050405020304" pitchFamily="18" charset="0"/>
              </a:rPr>
              <a:t>)/2</a:t>
            </a:r>
            <a:r>
              <a:rPr lang="en-US" sz="2400" b="1" dirty="0">
                <a:solidFill>
                  <a:schemeClr val="bg2"/>
                </a:solidFill>
                <a:latin typeface="Times New Roman" panose="02020603050405020304" pitchFamily="18" charset="0"/>
              </a:rPr>
              <a:t>)</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3.         MergeSort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q</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4.         MergeSort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q</a:t>
            </a:r>
            <a:r>
              <a:rPr sz="2400" b="1" dirty="0">
                <a:solidFill>
                  <a:schemeClr val="bg2"/>
                </a:solidFill>
                <a:latin typeface="Times New Roman" panose="02020603050405020304" pitchFamily="18" charset="0"/>
              </a:rPr>
              <a:t>+1, </a:t>
            </a:r>
            <a:r>
              <a:rPr sz="2400" b="1" i="1" dirty="0">
                <a:solidFill>
                  <a:schemeClr val="bg2"/>
                </a:solidFill>
                <a:latin typeface="Times New Roman" panose="02020603050405020304" pitchFamily="18" charset="0"/>
              </a:rPr>
              <a:t>r</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5.         Merge (</a:t>
            </a:r>
            <a:r>
              <a:rPr sz="2400" b="1" i="1" dirty="0">
                <a:solidFill>
                  <a:schemeClr val="bg2"/>
                </a:solidFill>
                <a:latin typeface="Times New Roman" panose="02020603050405020304" pitchFamily="18" charset="0"/>
              </a:rPr>
              <a:t>A</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q</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r</a:t>
            </a:r>
            <a:r>
              <a:rPr sz="2400" b="1" dirty="0">
                <a:solidFill>
                  <a:schemeClr val="bg2"/>
                </a:solidFill>
                <a:latin typeface="Times New Roman" panose="02020603050405020304" pitchFamily="18" charset="0"/>
              </a:rPr>
              <a:t>)</a:t>
            </a:r>
            <a:endParaRPr sz="2400" b="1" dirty="0">
              <a:solidFill>
                <a:schemeClr val="bg2"/>
              </a:solidFill>
              <a:latin typeface="Times New Roman" panose="02020603050405020304" pitchFamily="18" charset="0"/>
            </a:endParaRPr>
          </a:p>
          <a:p>
            <a:pPr marL="24130" indent="268605" eaLnBrk="1" hangingPunct="1">
              <a:buNone/>
            </a:pPr>
            <a:endParaRPr lang="zh-CN" sz="2400" b="1" dirty="0">
              <a:solidFill>
                <a:schemeClr val="bg2"/>
              </a:solidFill>
              <a:latin typeface="Times New Roman" panose="02020603050405020304" pitchFamily="18" charset="0"/>
              <a:sym typeface="+mn-ea"/>
            </a:endParaRPr>
          </a:p>
        </p:txBody>
      </p:sp>
      <p:sp>
        <p:nvSpPr>
          <p:cNvPr id="3" name="文本框 2"/>
          <p:cNvSpPr txBox="1"/>
          <p:nvPr/>
        </p:nvSpPr>
        <p:spPr>
          <a:xfrm>
            <a:off x="672465" y="5560060"/>
            <a:ext cx="8228965" cy="829945"/>
          </a:xfrm>
          <a:prstGeom prst="rect">
            <a:avLst/>
          </a:prstGeom>
          <a:solidFill>
            <a:schemeClr val="tx1"/>
          </a:solidFill>
        </p:spPr>
        <p:txBody>
          <a:bodyPr wrap="square" rtlCol="0" anchor="t">
            <a:spAutoFit/>
          </a:bodyPr>
          <a:lstStyle/>
          <a:p>
            <a:pPr marL="24130" indent="-24130" eaLnBrk="1" hangingPunct="1">
              <a:buNone/>
            </a:pPr>
            <a:r>
              <a:rPr dirty="0">
                <a:solidFill>
                  <a:schemeClr val="bg2"/>
                </a:solidFill>
                <a:sym typeface="+mn-ea"/>
              </a:rPr>
              <a:t>MergeSort有递归调用</a:t>
            </a:r>
            <a:r>
              <a:rPr lang="zh-CN" dirty="0">
                <a:solidFill>
                  <a:schemeClr val="bg2"/>
                </a:solidFill>
                <a:sym typeface="+mn-ea"/>
              </a:rPr>
              <a:t>，</a:t>
            </a:r>
            <a:r>
              <a:rPr dirty="0">
                <a:solidFill>
                  <a:schemeClr val="bg2"/>
                </a:solidFill>
                <a:sym typeface="+mn-ea"/>
              </a:rPr>
              <a:t>也调用Merge过程</a:t>
            </a:r>
            <a:r>
              <a:rPr lang="zh-CN" dirty="0">
                <a:solidFill>
                  <a:schemeClr val="bg2"/>
                </a:solidFill>
                <a:sym typeface="+mn-ea"/>
              </a:rPr>
              <a:t>，</a:t>
            </a:r>
            <a:r>
              <a:rPr dirty="0">
                <a:solidFill>
                  <a:schemeClr val="bg2"/>
                </a:solidFill>
                <a:sym typeface="+mn-ea"/>
              </a:rPr>
              <a:t>Merge过程</a:t>
            </a:r>
            <a:r>
              <a:rPr lang="zh-CN" dirty="0">
                <a:solidFill>
                  <a:schemeClr val="bg2"/>
                </a:solidFill>
                <a:sym typeface="+mn-ea"/>
              </a:rPr>
              <a:t>另行定义。</a:t>
            </a:r>
            <a:endParaRPr lang="zh-CN" altLang="en-US"/>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a:solidFill>
                  <a:srgbClr val="C00000"/>
                </a:solidFill>
                <a:latin typeface="Times New Roman" panose="02020603050405020304" pitchFamily="18" charset="0"/>
              </a:rPr>
              <a:t>1.2 </a:t>
            </a:r>
            <a:r>
              <a:rPr kumimoji="0" lang="zh-CN" altLang="en-US" sz="4000" kern="1200" noProof="0" dirty="0" smtClean="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rPr>
              <a:t>算法的伪码描述（自学）</a:t>
            </a:r>
            <a:endParaRPr lang="zh-CN" altLang="en-US" sz="4000" b="1" dirty="0">
              <a:solidFill>
                <a:srgbClr val="C00000"/>
              </a:solidFill>
            </a:endParaRPr>
          </a:p>
        </p:txBody>
      </p:sp>
      <p:sp>
        <p:nvSpPr>
          <p:cNvPr id="4" name="文本框 3"/>
          <p:cNvSpPr txBox="1"/>
          <p:nvPr/>
        </p:nvSpPr>
        <p:spPr>
          <a:xfrm>
            <a:off x="574675" y="1586230"/>
            <a:ext cx="5274310" cy="460375"/>
          </a:xfrm>
          <a:prstGeom prst="rect">
            <a:avLst/>
          </a:prstGeom>
          <a:noFill/>
        </p:spPr>
        <p:txBody>
          <a:bodyPr wrap="square" rtlCol="0" anchor="t">
            <a:spAutoFit/>
          </a:bodyPr>
          <a:lstStyle/>
          <a:p>
            <a:r>
              <a:rPr lang="zh-CN" altLang="en-US">
                <a:solidFill>
                  <a:schemeClr val="bg2"/>
                </a:solidFill>
              </a:rPr>
              <a:t>例</a:t>
            </a:r>
            <a:r>
              <a:rPr lang="en-US" altLang="zh-CN">
                <a:solidFill>
                  <a:schemeClr val="bg2"/>
                </a:solidFill>
              </a:rPr>
              <a:t>5</a:t>
            </a:r>
            <a:r>
              <a:rPr lang="zh-CN" altLang="en-US">
                <a:solidFill>
                  <a:schemeClr val="bg2"/>
                </a:solidFill>
              </a:rPr>
              <a:t>：分析算法</a:t>
            </a:r>
            <a:r>
              <a:rPr lang="en-US" altLang="zh-CN">
                <a:solidFill>
                  <a:schemeClr val="bg2"/>
                </a:solidFill>
              </a:rPr>
              <a:t>1.5 </a:t>
            </a:r>
            <a:r>
              <a:rPr lang="zh-CN" altLang="en-US">
                <a:solidFill>
                  <a:schemeClr val="bg2"/>
                </a:solidFill>
              </a:rPr>
              <a:t>的功能</a:t>
            </a:r>
            <a:endParaRPr lang="zh-CN" altLang="en-US">
              <a:solidFill>
                <a:schemeClr val="bg2"/>
              </a:solidFill>
            </a:endParaRPr>
          </a:p>
        </p:txBody>
      </p:sp>
      <p:sp>
        <p:nvSpPr>
          <p:cNvPr id="28674" name="内容占位符 2"/>
          <p:cNvSpPr>
            <a:spLocks noGrp="1"/>
          </p:cNvSpPr>
          <p:nvPr>
            <p:ph idx="1"/>
          </p:nvPr>
        </p:nvSpPr>
        <p:spPr>
          <a:xfrm>
            <a:off x="830580" y="2046605"/>
            <a:ext cx="7720965" cy="3585210"/>
          </a:xfrm>
          <a:solidFill>
            <a:schemeClr val="tx1"/>
          </a:solidFill>
          <a:ln>
            <a:solidFill>
              <a:schemeClr val="tx1"/>
            </a:solidFill>
          </a:ln>
        </p:spPr>
        <p:txBody>
          <a:bodyPr vert="horz" wrap="square" lIns="91440" tIns="45720" rIns="91440" bIns="45720" anchor="t"/>
          <a:lstStyle/>
          <a:p>
            <a:pPr eaLnBrk="1" hangingPunct="1">
              <a:buNone/>
            </a:pPr>
            <a:r>
              <a:rPr sz="2400" b="1" dirty="0">
                <a:solidFill>
                  <a:schemeClr val="bg2"/>
                </a:solidFill>
                <a:latin typeface="Times New Roman" panose="02020603050405020304" pitchFamily="18" charset="0"/>
              </a:rPr>
              <a:t>算法</a:t>
            </a:r>
            <a:r>
              <a:rPr lang="en-US" sz="2400" b="1" dirty="0">
                <a:solidFill>
                  <a:schemeClr val="bg2"/>
                </a:solidFill>
                <a:latin typeface="Times New Roman" panose="02020603050405020304" pitchFamily="18" charset="0"/>
              </a:rPr>
              <a:t>1.5</a:t>
            </a:r>
            <a:r>
              <a:rPr sz="2400" b="1" dirty="0">
                <a:solidFill>
                  <a:schemeClr val="bg2"/>
                </a:solidFill>
                <a:latin typeface="Times New Roman" panose="02020603050405020304" pitchFamily="18" charset="0"/>
              </a:rPr>
              <a:t> </a:t>
            </a:r>
            <a:r>
              <a:rPr lang="zh-CN" altLang="en-US" sz="2400" b="1" dirty="0" smtClean="0">
                <a:solidFill>
                  <a:schemeClr val="bg2"/>
                </a:solidFill>
                <a:latin typeface="Times New Roman" panose="02020603050405020304" pitchFamily="18" charset="0"/>
              </a:rPr>
              <a:t>：</a:t>
            </a:r>
            <a:r>
              <a:rPr sz="2400" b="1" dirty="0" smtClean="0">
                <a:solidFill>
                  <a:schemeClr val="bg2"/>
                </a:solidFill>
                <a:latin typeface="Times New Roman" panose="02020603050405020304" pitchFamily="18" charset="0"/>
              </a:rPr>
              <a:t>A</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输入：实数的数组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[0..</a:t>
            </a:r>
            <a:r>
              <a:rPr sz="2400" b="1" i="1" dirty="0">
                <a:solidFill>
                  <a:schemeClr val="bg2"/>
                </a:solidFill>
                <a:latin typeface="Times New Roman" panose="02020603050405020304" pitchFamily="18" charset="0"/>
              </a:rPr>
              <a:t>n</a:t>
            </a:r>
            <a:r>
              <a:rPr sz="2400" b="1" dirty="0">
                <a:solidFill>
                  <a:schemeClr val="bg2"/>
                </a:solidFill>
                <a:latin typeface="Times New Roman" panose="02020603050405020304" pitchFamily="18" charset="0"/>
              </a:rPr>
              <a:t>]，实数 </a:t>
            </a:r>
            <a:r>
              <a:rPr sz="2400" b="1" i="1" dirty="0">
                <a:solidFill>
                  <a:schemeClr val="bg2"/>
                </a:solidFill>
                <a:latin typeface="Times New Roman" panose="02020603050405020304" pitchFamily="18" charset="0"/>
              </a:rPr>
              <a:t>x</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输出：</a:t>
            </a:r>
            <a:r>
              <a:rPr sz="2400" b="1" i="1" dirty="0">
                <a:solidFill>
                  <a:schemeClr val="bg2"/>
                </a:solidFill>
                <a:latin typeface="Times New Roman" panose="02020603050405020304" pitchFamily="18" charset="0"/>
              </a:rPr>
              <a:t>y</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1. </a:t>
            </a:r>
            <a:r>
              <a:rPr sz="2400" b="1" i="1" dirty="0">
                <a:solidFill>
                  <a:schemeClr val="bg2"/>
                </a:solidFill>
                <a:latin typeface="Times New Roman" panose="02020603050405020304" pitchFamily="18" charset="0"/>
              </a:rPr>
              <a:t>y</a:t>
            </a:r>
            <a:r>
              <a:rPr sz="2400" b="1" dirty="0">
                <a:solidFill>
                  <a:schemeClr val="bg2"/>
                </a:solidFill>
                <a:latin typeface="Times New Roman" panose="02020603050405020304" pitchFamily="18" charset="0"/>
              </a:rPr>
              <a:t> ←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[0]；</a:t>
            </a:r>
            <a:r>
              <a:rPr sz="2400" b="1" i="1" dirty="0">
                <a:solidFill>
                  <a:schemeClr val="bg2"/>
                </a:solidFill>
                <a:latin typeface="Times New Roman" panose="02020603050405020304" pitchFamily="18" charset="0"/>
              </a:rPr>
              <a:t>power </a:t>
            </a:r>
            <a:r>
              <a:rPr sz="2400" b="1" dirty="0">
                <a:solidFill>
                  <a:schemeClr val="bg2"/>
                </a:solidFill>
                <a:latin typeface="Times New Roman" panose="02020603050405020304" pitchFamily="18" charset="0"/>
              </a:rPr>
              <a:t>← 1</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2. for </a:t>
            </a:r>
            <a:r>
              <a:rPr sz="2400" b="1" i="1" dirty="0">
                <a:solidFill>
                  <a:schemeClr val="bg2"/>
                </a:solidFill>
                <a:latin typeface="Times New Roman" panose="02020603050405020304" pitchFamily="18" charset="0"/>
              </a:rPr>
              <a:t>i </a:t>
            </a:r>
            <a:r>
              <a:rPr sz="2400" b="1" dirty="0">
                <a:solidFill>
                  <a:schemeClr val="bg2"/>
                </a:solidFill>
                <a:latin typeface="Times New Roman" panose="02020603050405020304" pitchFamily="18" charset="0"/>
              </a:rPr>
              <a:t>←1 to </a:t>
            </a:r>
            <a:r>
              <a:rPr sz="2400" b="1" i="1" dirty="0">
                <a:solidFill>
                  <a:schemeClr val="bg2"/>
                </a:solidFill>
                <a:latin typeface="Times New Roman" panose="02020603050405020304" pitchFamily="18" charset="0"/>
              </a:rPr>
              <a:t>n</a:t>
            </a:r>
            <a:r>
              <a:rPr sz="2400" b="1" dirty="0">
                <a:solidFill>
                  <a:schemeClr val="bg2"/>
                </a:solidFill>
                <a:latin typeface="Times New Roman" panose="02020603050405020304" pitchFamily="18" charset="0"/>
              </a:rPr>
              <a:t> do</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3.      </a:t>
            </a:r>
            <a:r>
              <a:rPr sz="2400" b="1" i="1" dirty="0">
                <a:solidFill>
                  <a:schemeClr val="bg2"/>
                </a:solidFill>
                <a:latin typeface="Times New Roman" panose="02020603050405020304" pitchFamily="18" charset="0"/>
              </a:rPr>
              <a:t>power</a:t>
            </a:r>
            <a:r>
              <a:rPr sz="2400" b="1" dirty="0">
                <a:solidFill>
                  <a:schemeClr val="bg2"/>
                </a:solidFill>
                <a:latin typeface="Times New Roman" panose="02020603050405020304" pitchFamily="18" charset="0"/>
              </a:rPr>
              <a:t> ← </a:t>
            </a:r>
            <a:r>
              <a:rPr sz="2400" b="1" i="1" dirty="0">
                <a:solidFill>
                  <a:schemeClr val="bg2"/>
                </a:solidFill>
                <a:latin typeface="Times New Roman" panose="02020603050405020304" pitchFamily="18" charset="0"/>
              </a:rPr>
              <a:t>power</a:t>
            </a:r>
            <a:r>
              <a:rPr sz="2400" b="1" dirty="0">
                <a:solidFill>
                  <a:schemeClr val="bg2"/>
                </a:solidFill>
                <a:latin typeface="Times New Roman" panose="02020603050405020304" pitchFamily="18" charset="0"/>
              </a:rPr>
              <a:t> ∗ </a:t>
            </a:r>
            <a:r>
              <a:rPr sz="2400" b="1" i="1" dirty="0">
                <a:solidFill>
                  <a:schemeClr val="bg2"/>
                </a:solidFill>
                <a:latin typeface="Times New Roman" panose="02020603050405020304" pitchFamily="18" charset="0"/>
              </a:rPr>
              <a:t>x</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4.      </a:t>
            </a:r>
            <a:r>
              <a:rPr sz="2400" b="1" i="1" dirty="0">
                <a:solidFill>
                  <a:schemeClr val="bg2"/>
                </a:solidFill>
                <a:latin typeface="Times New Roman" panose="02020603050405020304" pitchFamily="18" charset="0"/>
              </a:rPr>
              <a:t>y</a:t>
            </a:r>
            <a:r>
              <a:rPr sz="2400" b="1" dirty="0">
                <a:solidFill>
                  <a:schemeClr val="bg2"/>
                </a:solidFill>
                <a:latin typeface="Times New Roman" panose="02020603050405020304" pitchFamily="18" charset="0"/>
              </a:rPr>
              <a:t> ← </a:t>
            </a:r>
            <a:r>
              <a:rPr sz="2400" b="1" i="1" dirty="0">
                <a:solidFill>
                  <a:schemeClr val="bg2"/>
                </a:solidFill>
                <a:latin typeface="Times New Roman" panose="02020603050405020304" pitchFamily="18" charset="0"/>
              </a:rPr>
              <a:t>y</a:t>
            </a:r>
            <a:r>
              <a:rPr sz="2400" b="1" dirty="0">
                <a:solidFill>
                  <a:schemeClr val="bg2"/>
                </a:solidFill>
                <a:latin typeface="Times New Roman" panose="02020603050405020304" pitchFamily="18" charset="0"/>
              </a:rPr>
              <a:t> + </a:t>
            </a:r>
            <a:r>
              <a:rPr sz="2400" b="1" i="1" dirty="0">
                <a:solidFill>
                  <a:schemeClr val="bg2"/>
                </a:solidFill>
                <a:latin typeface="Times New Roman" panose="02020603050405020304" pitchFamily="18" charset="0"/>
              </a:rPr>
              <a:t>P</a:t>
            </a:r>
            <a:r>
              <a:rPr sz="2400" b="1" dirty="0">
                <a:solidFill>
                  <a:schemeClr val="bg2"/>
                </a:solidFill>
                <a:latin typeface="Times New Roman" panose="02020603050405020304" pitchFamily="18" charset="0"/>
              </a:rPr>
              <a:t>[</a:t>
            </a:r>
            <a:r>
              <a:rPr sz="2400" b="1" i="1" dirty="0">
                <a:solidFill>
                  <a:schemeClr val="bg2"/>
                </a:solidFill>
                <a:latin typeface="Times New Roman" panose="02020603050405020304" pitchFamily="18" charset="0"/>
              </a:rPr>
              <a:t>i</a:t>
            </a:r>
            <a:r>
              <a:rPr sz="2400" b="1" dirty="0">
                <a:solidFill>
                  <a:schemeClr val="bg2"/>
                </a:solidFill>
                <a:latin typeface="Times New Roman" panose="02020603050405020304" pitchFamily="18" charset="0"/>
              </a:rPr>
              <a:t>] ∗</a:t>
            </a:r>
            <a:r>
              <a:rPr sz="2400" b="1" i="1" dirty="0">
                <a:solidFill>
                  <a:schemeClr val="bg2"/>
                </a:solidFill>
                <a:latin typeface="Times New Roman" panose="02020603050405020304" pitchFamily="18" charset="0"/>
              </a:rPr>
              <a:t>power</a:t>
            </a:r>
            <a:endParaRPr sz="2400" b="1" dirty="0">
              <a:solidFill>
                <a:schemeClr val="bg2"/>
              </a:solidFill>
              <a:latin typeface="Times New Roman" panose="02020603050405020304" pitchFamily="18" charset="0"/>
            </a:endParaRPr>
          </a:p>
          <a:p>
            <a:pPr eaLnBrk="1" hangingPunct="1">
              <a:buNone/>
            </a:pPr>
            <a:r>
              <a:rPr sz="2400" b="1" dirty="0">
                <a:solidFill>
                  <a:schemeClr val="bg2"/>
                </a:solidFill>
                <a:latin typeface="Times New Roman" panose="02020603050405020304" pitchFamily="18" charset="0"/>
              </a:rPr>
              <a:t>5. return </a:t>
            </a:r>
            <a:r>
              <a:rPr sz="2400" b="1" i="1" dirty="0">
                <a:solidFill>
                  <a:schemeClr val="bg2"/>
                </a:solidFill>
                <a:latin typeface="Times New Roman" panose="02020603050405020304" pitchFamily="18" charset="0"/>
              </a:rPr>
              <a:t>y</a:t>
            </a:r>
            <a:endParaRPr sz="2400" b="1" dirty="0">
              <a:solidFill>
                <a:schemeClr val="bg2"/>
              </a:solidFill>
              <a:latin typeface="Times New Roman" panose="02020603050405020304" pitchFamily="18" charset="0"/>
            </a:endParaRPr>
          </a:p>
        </p:txBody>
      </p:sp>
      <p:sp>
        <p:nvSpPr>
          <p:cNvPr id="5" name="文本框 4"/>
          <p:cNvSpPr txBox="1"/>
          <p:nvPr/>
        </p:nvSpPr>
        <p:spPr>
          <a:xfrm>
            <a:off x="4930775" y="3341370"/>
            <a:ext cx="4213225" cy="1822743"/>
          </a:xfrm>
          <a:prstGeom prst="rect">
            <a:avLst/>
          </a:prstGeom>
          <a:noFill/>
        </p:spPr>
        <p:txBody>
          <a:bodyPr wrap="square" rtlCol="0" anchor="t">
            <a:spAutoFit/>
          </a:bodyPr>
          <a:lstStyle/>
          <a:p>
            <a:pPr marL="342900" indent="-342900">
              <a:lnSpc>
                <a:spcPct val="120000"/>
              </a:lnSpc>
              <a:buFont typeface="Arial" panose="020B0604020202020204" pitchFamily="34" charset="0"/>
              <a:buChar char="•"/>
            </a:pPr>
            <a:r>
              <a:rPr lang="zh-CN" altLang="en-US" dirty="0">
                <a:solidFill>
                  <a:schemeClr val="bg2"/>
                </a:solidFill>
              </a:rPr>
              <a:t>输入 </a:t>
            </a:r>
            <a:r>
              <a:rPr lang="zh-CN" altLang="en-US" b="1" i="1" dirty="0">
                <a:solidFill>
                  <a:schemeClr val="bg2"/>
                </a:solidFill>
              </a:rPr>
              <a:t>P</a:t>
            </a:r>
            <a:r>
              <a:rPr lang="zh-CN" altLang="en-US" dirty="0">
                <a:solidFill>
                  <a:schemeClr val="bg2"/>
                </a:solidFill>
              </a:rPr>
              <a:t>[0..</a:t>
            </a:r>
            <a:r>
              <a:rPr lang="zh-CN" altLang="en-US" b="1" i="1" dirty="0">
                <a:solidFill>
                  <a:schemeClr val="bg2"/>
                </a:solidFill>
              </a:rPr>
              <a:t>n</a:t>
            </a:r>
            <a:r>
              <a:rPr lang="zh-CN" altLang="en-US" dirty="0">
                <a:solidFill>
                  <a:schemeClr val="bg2"/>
                </a:solidFill>
              </a:rPr>
              <a:t>]是 </a:t>
            </a:r>
            <a:r>
              <a:rPr lang="zh-CN" altLang="en-US" b="1" i="1" dirty="0">
                <a:solidFill>
                  <a:schemeClr val="bg2"/>
                </a:solidFill>
              </a:rPr>
              <a:t>n</a:t>
            </a:r>
            <a:r>
              <a:rPr lang="zh-CN" altLang="en-US" dirty="0">
                <a:solidFill>
                  <a:schemeClr val="bg2"/>
                </a:solidFill>
              </a:rPr>
              <a:t> 次多项式 </a:t>
            </a:r>
            <a:r>
              <a:rPr lang="zh-CN" altLang="en-US" b="1" i="1" dirty="0">
                <a:solidFill>
                  <a:schemeClr val="bg2"/>
                </a:solidFill>
              </a:rPr>
              <a:t>P</a:t>
            </a:r>
            <a:r>
              <a:rPr lang="zh-CN" altLang="en-US" dirty="0">
                <a:solidFill>
                  <a:schemeClr val="bg2"/>
                </a:solidFill>
              </a:rPr>
              <a:t>(</a:t>
            </a:r>
            <a:r>
              <a:rPr lang="zh-CN" altLang="en-US" b="1" i="1" dirty="0">
                <a:solidFill>
                  <a:schemeClr val="bg2"/>
                </a:solidFill>
              </a:rPr>
              <a:t>x</a:t>
            </a:r>
            <a:r>
              <a:rPr lang="zh-CN" altLang="en-US" dirty="0">
                <a:solidFill>
                  <a:schemeClr val="bg2"/>
                </a:solidFill>
              </a:rPr>
              <a:t>)的系数</a:t>
            </a:r>
            <a:endParaRPr lang="zh-CN" altLang="en-US" dirty="0">
              <a:solidFill>
                <a:schemeClr val="bg2"/>
              </a:solidFill>
            </a:endParaRPr>
          </a:p>
          <a:p>
            <a:pPr marL="342900" indent="-342900">
              <a:lnSpc>
                <a:spcPct val="120000"/>
              </a:lnSpc>
              <a:buFont typeface="Arial" panose="020B0604020202020204" pitchFamily="34" charset="0"/>
              <a:buChar char="•"/>
            </a:pPr>
            <a:r>
              <a:rPr lang="zh-CN" altLang="en-US" dirty="0">
                <a:solidFill>
                  <a:schemeClr val="bg2"/>
                </a:solidFill>
              </a:rPr>
              <a:t>算法 </a:t>
            </a:r>
            <a:r>
              <a:rPr lang="zh-CN" altLang="en-US" b="1" dirty="0">
                <a:solidFill>
                  <a:schemeClr val="bg2"/>
                </a:solidFill>
              </a:rPr>
              <a:t>A</a:t>
            </a:r>
            <a:r>
              <a:rPr lang="zh-CN" altLang="en-US" dirty="0">
                <a:solidFill>
                  <a:schemeClr val="bg2"/>
                </a:solidFill>
              </a:rPr>
              <a:t> 计算该多项式在 </a:t>
            </a:r>
            <a:r>
              <a:rPr lang="zh-CN" altLang="en-US" b="1" i="1" dirty="0">
                <a:solidFill>
                  <a:schemeClr val="bg2"/>
                </a:solidFill>
              </a:rPr>
              <a:t>x</a:t>
            </a:r>
            <a:r>
              <a:rPr lang="zh-CN" altLang="en-US" dirty="0">
                <a:solidFill>
                  <a:schemeClr val="bg2"/>
                </a:solidFill>
              </a:rPr>
              <a:t> 的值</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文本框 3"/>
          <p:cNvSpPr txBox="1"/>
          <p:nvPr/>
        </p:nvSpPr>
        <p:spPr>
          <a:xfrm>
            <a:off x="395536" y="1599183"/>
            <a:ext cx="5274310" cy="461665"/>
          </a:xfrm>
          <a:prstGeom prst="rect">
            <a:avLst/>
          </a:prstGeom>
          <a:noFill/>
        </p:spPr>
        <p:txBody>
          <a:bodyPr wrap="square" rtlCol="0" anchor="t">
            <a:spAutoFit/>
          </a:bodyPr>
          <a:lstStyle/>
          <a:p>
            <a:pPr marL="342900" indent="-342900">
              <a:buFont typeface="Wingdings" panose="05000000000000000000" pitchFamily="2" charset="2"/>
              <a:buChar char="n"/>
            </a:pPr>
            <a:r>
              <a:rPr lang="zh-CN" altLang="en-US" b="1" dirty="0">
                <a:solidFill>
                  <a:schemeClr val="bg2"/>
                </a:solidFill>
              </a:rPr>
              <a:t>函数的渐近的界</a:t>
            </a:r>
            <a:endParaRPr dirty="0">
              <a:solidFill>
                <a:schemeClr val="bg2"/>
              </a:solidFill>
            </a:endParaRPr>
          </a:p>
        </p:txBody>
      </p:sp>
      <p:sp>
        <p:nvSpPr>
          <p:cNvPr id="5" name="矩形 4"/>
          <p:cNvSpPr/>
          <p:nvPr/>
        </p:nvSpPr>
        <p:spPr>
          <a:xfrm>
            <a:off x="539552" y="2060848"/>
            <a:ext cx="2286000" cy="461665"/>
          </a:xfrm>
          <a:prstGeom prst="rect">
            <a:avLst/>
          </a:prstGeom>
        </p:spPr>
        <p:txBody>
          <a:bodyPr wrap="square">
            <a:spAutoFit/>
          </a:bodyPr>
          <a:lstStyle/>
          <a:p>
            <a:r>
              <a:rPr lang="zh-CN" altLang="en-US" dirty="0" smtClean="0">
                <a:solidFill>
                  <a:schemeClr val="bg2"/>
                </a:solidFill>
              </a:rPr>
              <a:t>（</a:t>
            </a:r>
            <a:r>
              <a:rPr lang="en-US" altLang="zh-CN" dirty="0" smtClean="0">
                <a:solidFill>
                  <a:schemeClr val="bg2"/>
                </a:solidFill>
              </a:rPr>
              <a:t>1</a:t>
            </a:r>
            <a:r>
              <a:rPr lang="zh-CN" altLang="en-US" dirty="0" smtClean="0">
                <a:solidFill>
                  <a:schemeClr val="bg2"/>
                </a:solidFill>
              </a:rPr>
              <a:t>）大</a:t>
            </a:r>
            <a:r>
              <a:rPr lang="en-US" altLang="zh-CN" b="1" i="1" dirty="0">
                <a:solidFill>
                  <a:schemeClr val="bg2"/>
                </a:solidFill>
              </a:rPr>
              <a:t>O</a:t>
            </a:r>
            <a:r>
              <a:rPr lang="zh-CN" altLang="en-US" dirty="0" smtClean="0">
                <a:solidFill>
                  <a:schemeClr val="bg2"/>
                </a:solidFill>
              </a:rPr>
              <a:t>符号</a:t>
            </a:r>
            <a:endParaRPr lang="zh-CN" altLang="en-US" dirty="0">
              <a:solidFill>
                <a:schemeClr val="bg2"/>
              </a:solidFill>
            </a:endParaRPr>
          </a:p>
        </p:txBody>
      </p:sp>
      <p:sp>
        <p:nvSpPr>
          <p:cNvPr id="6" name="矩形 5"/>
          <p:cNvSpPr/>
          <p:nvPr/>
        </p:nvSpPr>
        <p:spPr>
          <a:xfrm>
            <a:off x="827584" y="2492896"/>
            <a:ext cx="5256584" cy="1421928"/>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rgbClr val="C00000"/>
                </a:solidFill>
                <a:latin typeface="宋体" panose="02010600030101010101" pitchFamily="2" charset="-122"/>
              </a:rPr>
              <a:t>定义</a:t>
            </a:r>
            <a:r>
              <a:rPr lang="zh-CN" altLang="en-US" dirty="0">
                <a:solidFill>
                  <a:srgbClr val="000000"/>
                </a:solidFill>
                <a:latin typeface="宋体" panose="02010600030101010101" pitchFamily="2" charset="-122"/>
              </a:rPr>
              <a:t>：</a:t>
            </a:r>
            <a:r>
              <a:rPr lang="zh-CN" altLang="en-US" dirty="0" smtClean="0">
                <a:solidFill>
                  <a:srgbClr val="000000"/>
                </a:solidFill>
                <a:latin typeface="宋体" panose="02010600030101010101" pitchFamily="2" charset="-122"/>
              </a:rPr>
              <a:t>设</a:t>
            </a:r>
            <a:r>
              <a:rPr lang="en-US" altLang="zh-CN" b="1" i="1" dirty="0" smtClean="0">
                <a:solidFill>
                  <a:srgbClr val="000000"/>
                </a:solidFill>
                <a:latin typeface="Times New Roman" panose="02020603050405020304"/>
              </a:rPr>
              <a:t>f </a:t>
            </a:r>
            <a:r>
              <a:rPr lang="zh-CN" altLang="en-US" dirty="0" smtClean="0">
                <a:solidFill>
                  <a:srgbClr val="000000"/>
                </a:solidFill>
                <a:latin typeface="宋体" panose="02010600030101010101" pitchFamily="2" charset="-122"/>
              </a:rPr>
              <a:t>和</a:t>
            </a:r>
            <a:r>
              <a:rPr lang="en-US" altLang="zh-CN" b="1" i="1" dirty="0" smtClean="0">
                <a:solidFill>
                  <a:srgbClr val="000000"/>
                </a:solidFill>
                <a:latin typeface="Times New Roman" panose="02020603050405020304"/>
              </a:rPr>
              <a:t>g</a:t>
            </a:r>
            <a:r>
              <a:rPr lang="zh-CN" altLang="en-US" dirty="0">
                <a:solidFill>
                  <a:srgbClr val="000000"/>
                </a:solidFill>
                <a:latin typeface="宋体" panose="02010600030101010101" pitchFamily="2" charset="-122"/>
              </a:rPr>
              <a:t>是定义域为自然数</a:t>
            </a:r>
            <a:r>
              <a:rPr lang="zh-CN" altLang="en-US" dirty="0" smtClean="0">
                <a:solidFill>
                  <a:srgbClr val="000000"/>
                </a:solidFill>
                <a:latin typeface="宋体" panose="02010600030101010101" pitchFamily="2" charset="-122"/>
              </a:rPr>
              <a:t>集</a:t>
            </a:r>
            <a:r>
              <a:rPr lang="en-US" altLang="zh-CN" b="1" i="1" dirty="0" smtClean="0">
                <a:solidFill>
                  <a:srgbClr val="000000"/>
                </a:solidFill>
                <a:latin typeface="Times New Roman" panose="02020603050405020304"/>
              </a:rPr>
              <a:t>N</a:t>
            </a:r>
            <a:r>
              <a:rPr lang="zh-CN" altLang="en-US" dirty="0">
                <a:solidFill>
                  <a:srgbClr val="000000"/>
                </a:solidFill>
                <a:latin typeface="宋体" panose="02010600030101010101" pitchFamily="2" charset="-122"/>
              </a:rPr>
              <a:t>上的</a:t>
            </a:r>
            <a:r>
              <a:rPr lang="zh-CN" altLang="en-US" dirty="0" smtClean="0">
                <a:solidFill>
                  <a:srgbClr val="000000"/>
                </a:solidFill>
                <a:latin typeface="宋体" panose="02010600030101010101" pitchFamily="2" charset="-122"/>
              </a:rPr>
              <a:t>函数。</a:t>
            </a:r>
            <a:r>
              <a:rPr lang="en-US" altLang="zh-CN" b="1" dirty="0" smtClean="0">
                <a:solidFill>
                  <a:srgbClr val="000000"/>
                </a:solidFill>
                <a:latin typeface="Times New Roman" panose="02020603050405020304"/>
              </a:rPr>
              <a:t> </a:t>
            </a:r>
            <a:r>
              <a:rPr lang="zh-CN" altLang="en-US" dirty="0">
                <a:solidFill>
                  <a:srgbClr val="000000"/>
                </a:solidFill>
                <a:latin typeface="宋体" panose="02010600030101010101" pitchFamily="2" charset="-122"/>
              </a:rPr>
              <a:t>若存在</a:t>
            </a:r>
            <a:r>
              <a:rPr lang="zh-CN" altLang="en-US" dirty="0" smtClean="0">
                <a:solidFill>
                  <a:srgbClr val="000000"/>
                </a:solidFill>
                <a:latin typeface="宋体" panose="02010600030101010101" pitchFamily="2" charset="-122"/>
              </a:rPr>
              <a:t>正数</a:t>
            </a:r>
            <a:r>
              <a:rPr lang="en-US" altLang="zh-CN" b="1" i="1" dirty="0" smtClean="0">
                <a:solidFill>
                  <a:srgbClr val="000000"/>
                </a:solidFill>
                <a:latin typeface="Times New Roman" panose="02020603050405020304"/>
              </a:rPr>
              <a:t>c </a:t>
            </a:r>
            <a:r>
              <a:rPr lang="zh-CN" altLang="en-US" dirty="0" smtClean="0">
                <a:solidFill>
                  <a:srgbClr val="000000"/>
                </a:solidFill>
                <a:latin typeface="宋体" panose="02010600030101010101" pitchFamily="2" charset="-122"/>
              </a:rPr>
              <a:t>和</a:t>
            </a:r>
            <a:r>
              <a:rPr lang="en-US" altLang="zh-CN" b="1" i="1" dirty="0" smtClean="0">
                <a:solidFill>
                  <a:srgbClr val="000000"/>
                </a:solidFill>
                <a:latin typeface="Times New Roman" panose="02020603050405020304"/>
              </a:rPr>
              <a:t>n</a:t>
            </a:r>
            <a:r>
              <a:rPr lang="en-US" altLang="zh-CN" b="1" baseline="-25000" dirty="0" smtClean="0">
                <a:solidFill>
                  <a:srgbClr val="000000"/>
                </a:solidFill>
                <a:latin typeface="Times New Roman" panose="02020603050405020304"/>
              </a:rPr>
              <a:t>0</a:t>
            </a:r>
            <a:r>
              <a:rPr lang="zh-CN" altLang="en-US" dirty="0" smtClean="0">
                <a:solidFill>
                  <a:srgbClr val="000000"/>
                </a:solidFill>
                <a:latin typeface="宋体" panose="02010600030101010101" pitchFamily="2" charset="-122"/>
              </a:rPr>
              <a:t>，使得对</a:t>
            </a:r>
            <a:r>
              <a:rPr lang="zh-CN" altLang="en-US" dirty="0">
                <a:solidFill>
                  <a:srgbClr val="000000"/>
                </a:solidFill>
                <a:latin typeface="宋体" panose="02010600030101010101" pitchFamily="2" charset="-122"/>
              </a:rPr>
              <a:t>一切 </a:t>
            </a:r>
            <a:r>
              <a:rPr lang="en-US" altLang="zh-CN" b="1" i="1" dirty="0">
                <a:solidFill>
                  <a:srgbClr val="000000"/>
                </a:solidFill>
                <a:latin typeface="Times New Roman" panose="02020603050405020304"/>
              </a:rPr>
              <a:t>n </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n</a:t>
            </a:r>
            <a:r>
              <a:rPr lang="en-US" altLang="zh-CN" b="1" baseline="-25000" dirty="0">
                <a:solidFill>
                  <a:srgbClr val="000000"/>
                </a:solidFill>
                <a:latin typeface="Times New Roman" panose="02020603050405020304"/>
              </a:rPr>
              <a:t>0</a:t>
            </a:r>
            <a:r>
              <a:rPr lang="zh-CN" altLang="en-US" dirty="0" smtClean="0">
                <a:solidFill>
                  <a:srgbClr val="000000"/>
                </a:solidFill>
                <a:latin typeface="宋体" panose="02010600030101010101" pitchFamily="2" charset="-122"/>
              </a:rPr>
              <a:t>有</a:t>
            </a:r>
            <a:endParaRPr lang="zh-CN" altLang="en-US" dirty="0"/>
          </a:p>
        </p:txBody>
      </p:sp>
      <p:sp>
        <p:nvSpPr>
          <p:cNvPr id="7" name="矩形 6"/>
          <p:cNvSpPr/>
          <p:nvPr/>
        </p:nvSpPr>
        <p:spPr>
          <a:xfrm>
            <a:off x="1693652" y="3961807"/>
            <a:ext cx="2592288" cy="461665"/>
          </a:xfrm>
          <a:prstGeom prst="rect">
            <a:avLst/>
          </a:prstGeom>
        </p:spPr>
        <p:txBody>
          <a:bodyPr wrap="square">
            <a:spAutoFit/>
          </a:bodyPr>
          <a:lstStyle/>
          <a:p>
            <a:r>
              <a:rPr lang="en-US" altLang="zh-CN" b="1" dirty="0">
                <a:solidFill>
                  <a:srgbClr val="000000"/>
                </a:solidFill>
                <a:latin typeface="Times New Roman" panose="02020603050405020304"/>
              </a:rPr>
              <a:t>0 </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en-US" altLang="zh-CN" b="1" dirty="0">
                <a:solidFill>
                  <a:srgbClr val="FF0000"/>
                </a:solidFill>
                <a:latin typeface="Symbol" panose="05050102010706020507"/>
              </a:rPr>
              <a:t></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c 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dirty="0"/>
              <a:t> </a:t>
            </a:r>
            <a:endParaRPr lang="zh-CN" altLang="en-US" dirty="0"/>
          </a:p>
        </p:txBody>
      </p:sp>
      <p:sp>
        <p:nvSpPr>
          <p:cNvPr id="8" name="矩形 7"/>
          <p:cNvSpPr/>
          <p:nvPr/>
        </p:nvSpPr>
        <p:spPr>
          <a:xfrm>
            <a:off x="827584" y="4581128"/>
            <a:ext cx="5382142" cy="978729"/>
          </a:xfrm>
          <a:prstGeom prst="rect">
            <a:avLst/>
          </a:prstGeom>
        </p:spPr>
        <p:txBody>
          <a:bodyPr wrap="square">
            <a:spAutoFit/>
          </a:bodyPr>
          <a:lstStyle/>
          <a:p>
            <a:pPr>
              <a:lnSpc>
                <a:spcPct val="120000"/>
              </a:lnSpc>
            </a:pPr>
            <a:r>
              <a:rPr lang="zh-CN" altLang="en-US" dirty="0">
                <a:solidFill>
                  <a:srgbClr val="000000"/>
                </a:solidFill>
                <a:latin typeface="宋体" panose="02010600030101010101" pitchFamily="2" charset="-122"/>
              </a:rPr>
              <a:t>成立</a:t>
            </a:r>
            <a:r>
              <a:rPr lang="en-US" altLang="zh-CN" b="1" dirty="0">
                <a:solidFill>
                  <a:srgbClr val="000000"/>
                </a:solidFill>
                <a:latin typeface="Times New Roman" panose="02020603050405020304"/>
              </a:rPr>
              <a:t>, </a:t>
            </a:r>
            <a:r>
              <a:rPr lang="zh-CN" altLang="en-US" dirty="0">
                <a:solidFill>
                  <a:srgbClr val="000000"/>
                </a:solidFill>
                <a:latin typeface="宋体" panose="02010600030101010101" pitchFamily="2" charset="-122"/>
              </a:rPr>
              <a:t>则称 </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zh-CN" altLang="en-US" dirty="0">
                <a:solidFill>
                  <a:srgbClr val="000000"/>
                </a:solidFill>
                <a:latin typeface="宋体" panose="02010600030101010101" pitchFamily="2" charset="-122"/>
              </a:rPr>
              <a:t>的渐近的上界是 </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smtClean="0">
                <a:solidFill>
                  <a:srgbClr val="000000"/>
                </a:solidFill>
                <a:latin typeface="宋体" panose="02010600030101010101" pitchFamily="2" charset="-122"/>
              </a:rPr>
              <a:t>，记作</a:t>
            </a:r>
            <a:r>
              <a:rPr lang="en-US" altLang="zh-CN" b="1" i="1" dirty="0" smtClean="0">
                <a:solidFill>
                  <a:srgbClr val="000000"/>
                </a:solidFill>
                <a:latin typeface="Times New Roman" panose="02020603050405020304"/>
              </a:rPr>
              <a:t>f </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 </a:t>
            </a:r>
            <a:r>
              <a:rPr lang="en-US" altLang="zh-CN" b="1" i="1" dirty="0">
                <a:solidFill>
                  <a:srgbClr val="000000"/>
                </a:solidFill>
                <a:latin typeface="Times New Roman" panose="02020603050405020304"/>
              </a:rPr>
              <a:t>O</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dirty="0"/>
              <a:t> </a:t>
            </a:r>
            <a:endParaRPr lang="zh-CN" altLang="en-US" dirty="0"/>
          </a:p>
        </p:txBody>
      </p:sp>
      <p:pic>
        <p:nvPicPr>
          <p:cNvPr id="1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4412" t="7445" r="33544"/>
          <a:stretch>
            <a:fillRect/>
          </a:stretch>
        </p:blipFill>
        <p:spPr bwMode="auto">
          <a:xfrm>
            <a:off x="6084168" y="2528784"/>
            <a:ext cx="2880320" cy="3564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6" name="矩形 5"/>
          <p:cNvSpPr/>
          <p:nvPr/>
        </p:nvSpPr>
        <p:spPr>
          <a:xfrm>
            <a:off x="827584" y="1647032"/>
            <a:ext cx="5256584" cy="493148"/>
          </a:xfrm>
          <a:prstGeom prst="rect">
            <a:avLst/>
          </a:prstGeom>
        </p:spPr>
        <p:txBody>
          <a:bodyPr wrap="square">
            <a:spAutoFit/>
          </a:bodyPr>
          <a:lstStyle/>
          <a:p>
            <a:pPr>
              <a:lnSpc>
                <a:spcPct val="120000"/>
              </a:lnSpc>
              <a:buFont typeface="Arial" panose="020B0604020202020204" pitchFamily="34" charset="0"/>
              <a:buChar char="•"/>
            </a:pPr>
            <a:r>
              <a:rPr lang="zh-CN" altLang="en-US" dirty="0">
                <a:solidFill>
                  <a:schemeClr val="bg2"/>
                </a:solidFill>
              </a:rPr>
              <a:t>大</a:t>
            </a:r>
            <a:r>
              <a:rPr lang="en-US" altLang="zh-CN" b="1" i="1" dirty="0">
                <a:solidFill>
                  <a:schemeClr val="bg2"/>
                </a:solidFill>
              </a:rPr>
              <a:t>O</a:t>
            </a:r>
            <a:r>
              <a:rPr lang="zh-CN" altLang="en-US" dirty="0" smtClean="0">
                <a:solidFill>
                  <a:schemeClr val="bg2"/>
                </a:solidFill>
              </a:rPr>
              <a:t>符号</a:t>
            </a:r>
            <a:r>
              <a:rPr lang="zh-CN" altLang="en-US" dirty="0" smtClean="0">
                <a:solidFill>
                  <a:srgbClr val="FF0000"/>
                </a:solidFill>
                <a:latin typeface="宋体" panose="02010600030101010101" pitchFamily="2" charset="-122"/>
              </a:rPr>
              <a:t>举例</a:t>
            </a:r>
            <a:endParaRPr lang="zh-CN" altLang="en-US" dirty="0"/>
          </a:p>
        </p:txBody>
      </p:sp>
      <p:sp>
        <p:nvSpPr>
          <p:cNvPr id="11" name="矩形 10"/>
          <p:cNvSpPr/>
          <p:nvPr/>
        </p:nvSpPr>
        <p:spPr>
          <a:xfrm>
            <a:off x="1115616" y="2204864"/>
            <a:ext cx="2356735" cy="461665"/>
          </a:xfrm>
          <a:prstGeom prst="rect">
            <a:avLst/>
          </a:prstGeom>
        </p:spPr>
        <p:txBody>
          <a:bodyPr wrap="none">
            <a:spAutoFit/>
          </a:bodyPr>
          <a:lstStyle/>
          <a:p>
            <a:r>
              <a:rPr lang="en-US" altLang="zh-CN" b="1" i="1" dirty="0" smtClean="0">
                <a:solidFill>
                  <a:srgbClr val="000000"/>
                </a:solidFill>
                <a:latin typeface="Times New Roman" panose="02020603050405020304"/>
              </a:rPr>
              <a:t>f</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a:solidFill>
                  <a:srgbClr val="000000"/>
                </a:solidFill>
                <a:latin typeface="Times New Roman" panose="02020603050405020304"/>
              </a:rPr>
              <a:t>) = </a:t>
            </a:r>
            <a:r>
              <a:rPr lang="en-US" altLang="zh-CN" b="1" i="1" dirty="0">
                <a:solidFill>
                  <a:srgbClr val="000000"/>
                </a:solidFill>
                <a:latin typeface="Times New Roman" panose="02020603050405020304"/>
              </a:rPr>
              <a:t>n</a:t>
            </a:r>
            <a:r>
              <a:rPr lang="en-US" altLang="zh-CN" sz="1600" b="1" baseline="30000" dirty="0">
                <a:solidFill>
                  <a:srgbClr val="000000"/>
                </a:solidFill>
                <a:latin typeface="Times New Roman" panose="02020603050405020304"/>
              </a:rPr>
              <a:t>2</a:t>
            </a:r>
            <a:r>
              <a:rPr lang="en-US" altLang="zh-CN" sz="1600" b="1" dirty="0">
                <a:solidFill>
                  <a:srgbClr val="000000"/>
                </a:solidFill>
                <a:latin typeface="Times New Roman" panose="02020603050405020304"/>
              </a:rPr>
              <a:t> </a:t>
            </a:r>
            <a:r>
              <a:rPr lang="en-US" altLang="zh-CN" b="1" dirty="0">
                <a:solidFill>
                  <a:srgbClr val="000000"/>
                </a:solidFill>
                <a:latin typeface="Times New Roman" panose="02020603050405020304"/>
              </a:rPr>
              <a:t>+ </a:t>
            </a:r>
            <a:r>
              <a:rPr lang="en-US" altLang="zh-CN" b="1" i="1" dirty="0">
                <a:solidFill>
                  <a:srgbClr val="000000"/>
                </a:solidFill>
                <a:latin typeface="Times New Roman" panose="02020603050405020304"/>
              </a:rPr>
              <a:t>n</a:t>
            </a:r>
            <a:r>
              <a:rPr lang="zh-CN" altLang="en-US" dirty="0">
                <a:solidFill>
                  <a:srgbClr val="000000"/>
                </a:solidFill>
                <a:latin typeface="宋体" panose="02010600030101010101" pitchFamily="2" charset="-122"/>
              </a:rPr>
              <a:t>，则</a:t>
            </a:r>
            <a:endParaRPr lang="zh-CN" altLang="en-US" dirty="0"/>
          </a:p>
        </p:txBody>
      </p:sp>
      <p:sp>
        <p:nvSpPr>
          <p:cNvPr id="12" name="矩形 11"/>
          <p:cNvSpPr/>
          <p:nvPr/>
        </p:nvSpPr>
        <p:spPr>
          <a:xfrm>
            <a:off x="1259632" y="2664436"/>
            <a:ext cx="6984776" cy="1052596"/>
          </a:xfrm>
          <a:prstGeom prst="rect">
            <a:avLst/>
          </a:prstGeom>
        </p:spPr>
        <p:txBody>
          <a:bodyPr wrap="square">
            <a:spAutoFit/>
          </a:bodyPr>
          <a:lstStyle/>
          <a:p>
            <a:pPr marL="342900" indent="-342900">
              <a:lnSpc>
                <a:spcPct val="130000"/>
              </a:lnSpc>
              <a:buFont typeface="Symbol" panose="05050102010706020507" pitchFamily="18" charset="2"/>
              <a:buChar char=""/>
            </a:pPr>
            <a:r>
              <a:rPr lang="en-US" altLang="zh-CN" b="1" i="1" dirty="0">
                <a:solidFill>
                  <a:srgbClr val="000000"/>
                </a:solidFill>
                <a:latin typeface="Times New Roman" panose="02020603050405020304"/>
              </a:rPr>
              <a:t>g</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sz="1600" b="1" baseline="30000" dirty="0" smtClean="0">
                <a:solidFill>
                  <a:srgbClr val="000000"/>
                </a:solidFill>
                <a:latin typeface="Times New Roman" panose="02020603050405020304"/>
              </a:rPr>
              <a:t>2</a:t>
            </a:r>
            <a:r>
              <a:rPr lang="zh-CN" altLang="en-US" dirty="0" smtClean="0">
                <a:solidFill>
                  <a:srgbClr val="000000"/>
                </a:solidFill>
                <a:latin typeface="宋体" panose="02010600030101010101" pitchFamily="2" charset="-122"/>
              </a:rPr>
              <a:t>，</a:t>
            </a:r>
            <a:r>
              <a:rPr lang="en-US" altLang="zh-CN" b="1" i="1" dirty="0" smtClean="0">
                <a:solidFill>
                  <a:srgbClr val="000000"/>
                </a:solidFill>
                <a:latin typeface="Times New Roman" panose="02020603050405020304"/>
              </a:rPr>
              <a:t>f</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b="1" i="1" dirty="0" smtClean="0">
                <a:solidFill>
                  <a:srgbClr val="000000"/>
                </a:solidFill>
                <a:latin typeface="Times New Roman" panose="02020603050405020304"/>
              </a:rPr>
              <a:t>O</a:t>
            </a:r>
            <a:r>
              <a:rPr lang="en-US" altLang="zh-CN" b="1" dirty="0" smtClean="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b="1" dirty="0" smtClean="0">
                <a:solidFill>
                  <a:srgbClr val="000000"/>
                </a:solidFill>
                <a:latin typeface="Times New Roman" panose="02020603050405020304"/>
              </a:rPr>
              <a:t>)</a:t>
            </a:r>
            <a:r>
              <a:rPr lang="zh-CN" altLang="en-US" dirty="0">
                <a:solidFill>
                  <a:srgbClr val="000000"/>
                </a:solidFill>
                <a:latin typeface="宋体" panose="02010600030101010101" pitchFamily="2" charset="-122"/>
              </a:rPr>
              <a:t>，取 </a:t>
            </a:r>
            <a:r>
              <a:rPr lang="en-US" altLang="zh-CN" b="1" i="1" dirty="0">
                <a:solidFill>
                  <a:srgbClr val="000000"/>
                </a:solidFill>
                <a:latin typeface="Times New Roman" panose="02020603050405020304"/>
              </a:rPr>
              <a:t>c </a:t>
            </a:r>
            <a:r>
              <a:rPr lang="en-US" altLang="zh-CN" b="1" dirty="0">
                <a:solidFill>
                  <a:srgbClr val="000000"/>
                </a:solidFill>
                <a:latin typeface="Times New Roman" panose="02020603050405020304"/>
              </a:rPr>
              <a:t>= 2</a:t>
            </a:r>
            <a:r>
              <a:rPr lang="zh-CN" altLang="en-US" dirty="0">
                <a:solidFill>
                  <a:srgbClr val="000000"/>
                </a:solidFill>
                <a:latin typeface="宋体" panose="02010600030101010101" pitchFamily="2" charset="-122"/>
              </a:rPr>
              <a:t>， </a:t>
            </a:r>
            <a:r>
              <a:rPr lang="en-US" altLang="zh-CN" b="1" i="1" dirty="0">
                <a:solidFill>
                  <a:srgbClr val="000000"/>
                </a:solidFill>
                <a:latin typeface="Times New Roman" panose="02020603050405020304"/>
              </a:rPr>
              <a:t>n</a:t>
            </a:r>
            <a:r>
              <a:rPr lang="en-US" altLang="zh-CN" sz="1600" b="1" baseline="-25000" dirty="0">
                <a:solidFill>
                  <a:srgbClr val="000000"/>
                </a:solidFill>
                <a:latin typeface="Times New Roman" panose="02020603050405020304"/>
              </a:rPr>
              <a:t>0</a:t>
            </a:r>
            <a:r>
              <a:rPr lang="en-US" altLang="zh-CN" sz="1600" b="1" dirty="0">
                <a:solidFill>
                  <a:srgbClr val="000000"/>
                </a:solidFill>
                <a:latin typeface="Times New Roman" panose="02020603050405020304"/>
              </a:rPr>
              <a:t> </a:t>
            </a:r>
            <a:r>
              <a:rPr lang="en-US" altLang="zh-CN" b="1" dirty="0">
                <a:solidFill>
                  <a:srgbClr val="000000"/>
                </a:solidFill>
                <a:latin typeface="Times New Roman" panose="02020603050405020304"/>
              </a:rPr>
              <a:t>=1 </a:t>
            </a:r>
            <a:r>
              <a:rPr lang="zh-CN" altLang="en-US" dirty="0">
                <a:solidFill>
                  <a:srgbClr val="000000"/>
                </a:solidFill>
                <a:latin typeface="宋体" panose="02010600030101010101" pitchFamily="2" charset="-122"/>
              </a:rPr>
              <a:t>即</a:t>
            </a:r>
            <a:r>
              <a:rPr lang="zh-CN" altLang="en-US" dirty="0" smtClean="0">
                <a:solidFill>
                  <a:srgbClr val="000000"/>
                </a:solidFill>
                <a:latin typeface="宋体" panose="02010600030101010101" pitchFamily="2" charset="-122"/>
              </a:rPr>
              <a:t>可。</a:t>
            </a:r>
            <a:endParaRPr lang="en-US" altLang="zh-CN" dirty="0" smtClean="0">
              <a:solidFill>
                <a:srgbClr val="000000"/>
              </a:solidFill>
              <a:latin typeface="宋体" panose="02010600030101010101" pitchFamily="2" charset="-122"/>
            </a:endParaRPr>
          </a:p>
          <a:p>
            <a:pPr marL="342900" indent="-342900">
              <a:lnSpc>
                <a:spcPct val="130000"/>
              </a:lnSpc>
              <a:buFont typeface="Symbol" panose="05050102010706020507" pitchFamily="18" charset="2"/>
              <a:buChar char=""/>
            </a:pP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i="1" baseline="30000" dirty="0" smtClean="0">
                <a:solidFill>
                  <a:srgbClr val="000000"/>
                </a:solidFill>
                <a:latin typeface="Times New Roman" panose="02020603050405020304"/>
              </a:rPr>
              <a:t>3</a:t>
            </a:r>
            <a:r>
              <a:rPr lang="zh-CN" altLang="en-US" dirty="0" smtClean="0">
                <a:solidFill>
                  <a:srgbClr val="000000"/>
                </a:solidFill>
                <a:latin typeface="宋体" panose="02010600030101010101" pitchFamily="2" charset="-122"/>
              </a:rPr>
              <a:t>，</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O</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a:solidFill>
                  <a:srgbClr val="000000"/>
                </a:solidFill>
                <a:latin typeface="宋体" panose="02010600030101010101" pitchFamily="2" charset="-122"/>
              </a:rPr>
              <a:t>，取 </a:t>
            </a:r>
            <a:r>
              <a:rPr lang="en-US" altLang="zh-CN" b="1" i="1" dirty="0">
                <a:solidFill>
                  <a:srgbClr val="000000"/>
                </a:solidFill>
                <a:latin typeface="Times New Roman" panose="02020603050405020304"/>
              </a:rPr>
              <a:t>c </a:t>
            </a:r>
            <a:r>
              <a:rPr lang="en-US" altLang="zh-CN" b="1" dirty="0">
                <a:solidFill>
                  <a:srgbClr val="000000"/>
                </a:solidFill>
                <a:latin typeface="Times New Roman" panose="02020603050405020304"/>
              </a:rPr>
              <a:t>= </a:t>
            </a:r>
            <a:r>
              <a:rPr lang="en-US" altLang="zh-CN" b="1" dirty="0" smtClean="0">
                <a:solidFill>
                  <a:srgbClr val="000000"/>
                </a:solidFill>
                <a:latin typeface="Times New Roman" panose="02020603050405020304"/>
              </a:rPr>
              <a:t>1</a:t>
            </a:r>
            <a:r>
              <a:rPr lang="zh-CN" altLang="en-US" dirty="0" smtClean="0">
                <a:solidFill>
                  <a:srgbClr val="000000"/>
                </a:solidFill>
                <a:latin typeface="宋体" panose="02010600030101010101" pitchFamily="2" charset="-122"/>
              </a:rPr>
              <a:t>， </a:t>
            </a:r>
            <a:r>
              <a:rPr lang="en-US" altLang="zh-CN" b="1" i="1" dirty="0">
                <a:solidFill>
                  <a:srgbClr val="000000"/>
                </a:solidFill>
                <a:latin typeface="Times New Roman" panose="02020603050405020304"/>
              </a:rPr>
              <a:t>n</a:t>
            </a:r>
            <a:r>
              <a:rPr lang="en-US" altLang="zh-CN" sz="1600" b="1" baseline="-25000" dirty="0">
                <a:solidFill>
                  <a:srgbClr val="000000"/>
                </a:solidFill>
                <a:latin typeface="Times New Roman" panose="02020603050405020304"/>
              </a:rPr>
              <a:t>0</a:t>
            </a:r>
            <a:r>
              <a:rPr lang="en-US" altLang="zh-CN" sz="1600" b="1" dirty="0">
                <a:solidFill>
                  <a:srgbClr val="000000"/>
                </a:solidFill>
                <a:latin typeface="Times New Roman" panose="02020603050405020304"/>
              </a:rPr>
              <a:t> </a:t>
            </a:r>
            <a:r>
              <a:rPr lang="en-US" altLang="zh-CN" b="1" dirty="0" smtClean="0">
                <a:solidFill>
                  <a:srgbClr val="000000"/>
                </a:solidFill>
                <a:latin typeface="Times New Roman" panose="02020603050405020304"/>
              </a:rPr>
              <a:t>=2 </a:t>
            </a:r>
            <a:r>
              <a:rPr lang="zh-CN" altLang="en-US" dirty="0">
                <a:solidFill>
                  <a:srgbClr val="000000"/>
                </a:solidFill>
                <a:latin typeface="宋体" panose="02010600030101010101" pitchFamily="2" charset="-122"/>
              </a:rPr>
              <a:t>即可</a:t>
            </a:r>
            <a:r>
              <a:rPr lang="zh-CN" altLang="en-US" dirty="0" smtClean="0">
                <a:solidFill>
                  <a:srgbClr val="000000"/>
                </a:solidFill>
                <a:latin typeface="宋体" panose="02010600030101010101" pitchFamily="2" charset="-122"/>
              </a:rPr>
              <a:t>。</a:t>
            </a:r>
            <a:endParaRPr lang="zh-CN" altLang="en-US" dirty="0"/>
          </a:p>
        </p:txBody>
      </p:sp>
      <p:sp>
        <p:nvSpPr>
          <p:cNvPr id="13" name="矩形 12"/>
          <p:cNvSpPr/>
          <p:nvPr/>
        </p:nvSpPr>
        <p:spPr>
          <a:xfrm>
            <a:off x="1091984" y="3868130"/>
            <a:ext cx="6864392" cy="1865126"/>
          </a:xfrm>
          <a:prstGeom prst="rect">
            <a:avLst/>
          </a:prstGeom>
        </p:spPr>
        <p:txBody>
          <a:bodyPr wrap="square">
            <a:spAutoFit/>
          </a:bodyPr>
          <a:lstStyle/>
          <a:p>
            <a:pPr marL="342900" indent="-342900">
              <a:lnSpc>
                <a:spcPct val="120000"/>
              </a:lnSpc>
              <a:buFont typeface="Wingdings" panose="05000000000000000000" pitchFamily="2" charset="2"/>
              <a:buChar char="Ø"/>
            </a:pPr>
            <a:r>
              <a:rPr lang="en-US" altLang="zh-CN" b="1" i="1" dirty="0" smtClean="0">
                <a:solidFill>
                  <a:srgbClr val="000000"/>
                </a:solidFill>
                <a:latin typeface="Times New Roman" panose="02020603050405020304"/>
              </a:rPr>
              <a:t>f </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 </a:t>
            </a:r>
            <a:r>
              <a:rPr lang="en-US" altLang="zh-CN" b="1" i="1" dirty="0">
                <a:solidFill>
                  <a:srgbClr val="000000"/>
                </a:solidFill>
                <a:latin typeface="Times New Roman" panose="02020603050405020304"/>
              </a:rPr>
              <a:t>O</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zh-CN" altLang="en-US" dirty="0" smtClean="0">
                <a:solidFill>
                  <a:srgbClr val="000000"/>
                </a:solidFill>
                <a:latin typeface="宋体" panose="02010600030101010101" pitchFamily="2" charset="-122"/>
              </a:rPr>
              <a:t>，</a:t>
            </a:r>
            <a:r>
              <a:rPr lang="en-US" altLang="zh-CN" b="1" i="1" dirty="0" smtClean="0">
                <a:solidFill>
                  <a:srgbClr val="000000"/>
                </a:solidFill>
                <a:latin typeface="Times New Roman" panose="02020603050405020304"/>
              </a:rPr>
              <a:t>f</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a:solidFill>
                  <a:srgbClr val="000000"/>
                </a:solidFill>
                <a:latin typeface="宋体" panose="02010600030101010101" pitchFamily="2" charset="-122"/>
              </a:rPr>
              <a:t>的</a:t>
            </a:r>
            <a:r>
              <a:rPr lang="zh-CN" altLang="en-US" b="1" dirty="0">
                <a:solidFill>
                  <a:srgbClr val="FF0000"/>
                </a:solidFill>
                <a:latin typeface="宋体" panose="02010600030101010101" pitchFamily="2" charset="-122"/>
              </a:rPr>
              <a:t>阶不高于</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a:solidFill>
                  <a:srgbClr val="000000"/>
                </a:solidFill>
                <a:latin typeface="宋体" panose="02010600030101010101" pitchFamily="2" charset="-122"/>
              </a:rPr>
              <a:t>的</a:t>
            </a:r>
            <a:r>
              <a:rPr lang="zh-CN" altLang="en-US" dirty="0" smtClean="0">
                <a:solidFill>
                  <a:srgbClr val="000000"/>
                </a:solidFill>
                <a:latin typeface="宋体" panose="02010600030101010101" pitchFamily="2" charset="-122"/>
              </a:rPr>
              <a:t>阶</a:t>
            </a:r>
            <a:r>
              <a:rPr lang="zh-CN" altLang="en-US" dirty="0" smtClean="0"/>
              <a:t> </a:t>
            </a:r>
            <a:r>
              <a:rPr lang="zh-CN" altLang="en-US" dirty="0" smtClean="0">
                <a:solidFill>
                  <a:schemeClr val="bg1"/>
                </a:solidFill>
              </a:rPr>
              <a:t>。</a:t>
            </a:r>
            <a:endParaRPr lang="en-US" altLang="zh-CN" dirty="0" smtClean="0">
              <a:solidFill>
                <a:srgbClr val="000000"/>
              </a:solidFill>
              <a:latin typeface="宋体" panose="02010600030101010101" pitchFamily="2" charset="-122"/>
            </a:endParaRPr>
          </a:p>
          <a:p>
            <a:pPr marL="342900" indent="-342900">
              <a:lnSpc>
                <a:spcPct val="120000"/>
              </a:lnSpc>
              <a:buFont typeface="Wingdings" panose="05000000000000000000" pitchFamily="2" charset="2"/>
              <a:buChar char="Ø"/>
            </a:pPr>
            <a:r>
              <a:rPr lang="zh-CN" altLang="en-US" dirty="0" smtClean="0">
                <a:solidFill>
                  <a:srgbClr val="000000"/>
                </a:solidFill>
                <a:latin typeface="宋体" panose="02010600030101010101" pitchFamily="2" charset="-122"/>
              </a:rPr>
              <a:t>可能</a:t>
            </a:r>
            <a:r>
              <a:rPr lang="zh-CN" altLang="en-US" dirty="0">
                <a:solidFill>
                  <a:srgbClr val="000000"/>
                </a:solidFill>
                <a:latin typeface="宋体" panose="02010600030101010101" pitchFamily="2" charset="-122"/>
              </a:rPr>
              <a:t>存在多个正数</a:t>
            </a:r>
            <a:r>
              <a:rPr lang="en-US" altLang="zh-CN" b="1" i="1" dirty="0">
                <a:solidFill>
                  <a:srgbClr val="000000"/>
                </a:solidFill>
                <a:latin typeface="Times New Roman" panose="02020603050405020304"/>
              </a:rPr>
              <a:t>c</a:t>
            </a:r>
            <a:r>
              <a:rPr lang="zh-CN" altLang="en-US" dirty="0">
                <a:solidFill>
                  <a:srgbClr val="000000"/>
                </a:solidFill>
                <a:latin typeface="宋体" panose="02010600030101010101" pitchFamily="2" charset="-122"/>
              </a:rPr>
              <a:t>，只要指出一个即</a:t>
            </a:r>
            <a:r>
              <a:rPr lang="zh-CN" altLang="en-US" dirty="0" smtClean="0">
                <a:solidFill>
                  <a:srgbClr val="000000"/>
                </a:solidFill>
                <a:latin typeface="宋体" panose="02010600030101010101" pitchFamily="2" charset="-122"/>
              </a:rPr>
              <a:t>可。</a:t>
            </a:r>
            <a:endParaRPr lang="en-US" altLang="zh-CN" dirty="0" smtClean="0">
              <a:solidFill>
                <a:srgbClr val="000000"/>
              </a:solidFill>
              <a:latin typeface="宋体" panose="02010600030101010101" pitchFamily="2" charset="-122"/>
            </a:endParaRPr>
          </a:p>
          <a:p>
            <a:pPr marL="342900" indent="-342900">
              <a:lnSpc>
                <a:spcPct val="120000"/>
              </a:lnSpc>
              <a:buFont typeface="Wingdings" panose="05000000000000000000" pitchFamily="2" charset="2"/>
              <a:buChar char="Ø"/>
            </a:pPr>
            <a:r>
              <a:rPr lang="en-US" altLang="zh-CN" b="1" dirty="0" smtClean="0">
                <a:solidFill>
                  <a:srgbClr val="000000"/>
                </a:solidFill>
                <a:latin typeface="Times New Roman" panose="02020603050405020304"/>
              </a:rPr>
              <a:t> </a:t>
            </a:r>
            <a:r>
              <a:rPr lang="zh-CN" altLang="en-US" dirty="0" smtClean="0">
                <a:solidFill>
                  <a:srgbClr val="000000"/>
                </a:solidFill>
                <a:latin typeface="宋体" panose="02010600030101010101" pitchFamily="2" charset="-122"/>
              </a:rPr>
              <a:t>对</a:t>
            </a:r>
            <a:r>
              <a:rPr lang="en-US" altLang="zh-CN" b="1" i="1" dirty="0">
                <a:solidFill>
                  <a:srgbClr val="000000"/>
                </a:solidFill>
                <a:latin typeface="Times New Roman" panose="02020603050405020304"/>
              </a:rPr>
              <a:t>n</a:t>
            </a:r>
            <a:r>
              <a:rPr lang="en-US" altLang="zh-CN" b="1" baseline="-25000" dirty="0">
                <a:solidFill>
                  <a:srgbClr val="000000"/>
                </a:solidFill>
                <a:latin typeface="Times New Roman" panose="02020603050405020304"/>
              </a:rPr>
              <a:t>0</a:t>
            </a:r>
            <a:r>
              <a:rPr lang="zh-CN" altLang="en-US" dirty="0" smtClean="0">
                <a:solidFill>
                  <a:srgbClr val="000000"/>
                </a:solidFill>
                <a:latin typeface="宋体" panose="02010600030101010101" pitchFamily="2" charset="-122"/>
              </a:rPr>
              <a:t>前面</a:t>
            </a:r>
            <a:r>
              <a:rPr lang="zh-CN" altLang="en-US" dirty="0">
                <a:solidFill>
                  <a:srgbClr val="000000"/>
                </a:solidFill>
                <a:latin typeface="宋体" panose="02010600030101010101" pitchFamily="2" charset="-122"/>
              </a:rPr>
              <a:t>有限</a:t>
            </a:r>
            <a:r>
              <a:rPr lang="zh-CN" altLang="en-US" dirty="0" smtClean="0">
                <a:solidFill>
                  <a:srgbClr val="000000"/>
                </a:solidFill>
                <a:latin typeface="宋体" panose="02010600030101010101" pitchFamily="2" charset="-122"/>
              </a:rPr>
              <a:t>个</a:t>
            </a:r>
            <a:r>
              <a:rPr lang="en-US" altLang="zh-CN" b="1" i="1" dirty="0">
                <a:solidFill>
                  <a:srgbClr val="000000"/>
                </a:solidFill>
                <a:latin typeface="Times New Roman" panose="02020603050405020304"/>
              </a:rPr>
              <a:t>n</a:t>
            </a:r>
            <a:r>
              <a:rPr lang="zh-CN" altLang="en-US" dirty="0" smtClean="0">
                <a:solidFill>
                  <a:srgbClr val="000000"/>
                </a:solidFill>
                <a:latin typeface="宋体" panose="02010600030101010101" pitchFamily="2" charset="-122"/>
              </a:rPr>
              <a:t>值</a:t>
            </a:r>
            <a:r>
              <a:rPr lang="zh-CN" altLang="en-US" dirty="0">
                <a:solidFill>
                  <a:srgbClr val="000000"/>
                </a:solidFill>
                <a:latin typeface="宋体" panose="02010600030101010101" pitchFamily="2" charset="-122"/>
              </a:rPr>
              <a:t>可以不满足</a:t>
            </a:r>
            <a:r>
              <a:rPr lang="zh-CN" altLang="en-US" dirty="0" smtClean="0">
                <a:solidFill>
                  <a:srgbClr val="000000"/>
                </a:solidFill>
                <a:latin typeface="宋体" panose="02010600030101010101" pitchFamily="2" charset="-122"/>
              </a:rPr>
              <a:t>不等式。</a:t>
            </a:r>
            <a:endParaRPr lang="en-US" altLang="zh-CN" b="1" dirty="0" smtClean="0">
              <a:solidFill>
                <a:srgbClr val="000000"/>
              </a:solidFill>
              <a:latin typeface="Times New Roman" panose="02020603050405020304"/>
            </a:endParaRPr>
          </a:p>
          <a:p>
            <a:pPr marL="342900" indent="-342900">
              <a:lnSpc>
                <a:spcPct val="120000"/>
              </a:lnSpc>
              <a:buFont typeface="Wingdings" panose="05000000000000000000" pitchFamily="2" charset="2"/>
              <a:buChar char="Ø"/>
            </a:pPr>
            <a:r>
              <a:rPr lang="en-US" altLang="zh-CN" b="1" dirty="0" smtClean="0">
                <a:solidFill>
                  <a:srgbClr val="000000"/>
                </a:solidFill>
                <a:latin typeface="Times New Roman" panose="02020603050405020304"/>
              </a:rPr>
              <a:t> </a:t>
            </a:r>
            <a:r>
              <a:rPr lang="zh-CN" altLang="en-US" dirty="0">
                <a:solidFill>
                  <a:srgbClr val="000000"/>
                </a:solidFill>
                <a:latin typeface="宋体" panose="02010600030101010101" pitchFamily="2" charset="-122"/>
              </a:rPr>
              <a:t>常</a:t>
            </a:r>
            <a:r>
              <a:rPr lang="zh-CN" altLang="en-US" dirty="0" smtClean="0">
                <a:solidFill>
                  <a:srgbClr val="000000"/>
                </a:solidFill>
                <a:latin typeface="宋体" panose="02010600030101010101" pitchFamily="2" charset="-122"/>
              </a:rPr>
              <a:t>函数（循环次数已知）可以</a:t>
            </a:r>
            <a:r>
              <a:rPr lang="zh-CN" altLang="en-US" dirty="0">
                <a:solidFill>
                  <a:srgbClr val="000000"/>
                </a:solidFill>
                <a:latin typeface="宋体" panose="02010600030101010101" pitchFamily="2" charset="-122"/>
              </a:rPr>
              <a:t>写作</a:t>
            </a:r>
            <a:r>
              <a:rPr lang="en-US" altLang="zh-CN" b="1" i="1" dirty="0">
                <a:solidFill>
                  <a:srgbClr val="000000"/>
                </a:solidFill>
                <a:latin typeface="Times New Roman" panose="02020603050405020304"/>
              </a:rPr>
              <a:t>O</a:t>
            </a:r>
            <a:r>
              <a:rPr lang="en-US" altLang="zh-CN" b="1" dirty="0">
                <a:solidFill>
                  <a:srgbClr val="000000"/>
                </a:solidFill>
                <a:latin typeface="Times New Roman" panose="02020603050405020304"/>
              </a:rPr>
              <a:t>(1</a:t>
            </a:r>
            <a:r>
              <a:rPr lang="en-US" altLang="zh-CN" b="1" dirty="0" smtClean="0">
                <a:solidFill>
                  <a:srgbClr val="000000"/>
                </a:solidFill>
                <a:latin typeface="Times New Roman" panose="02020603050405020304"/>
              </a:rPr>
              <a:t>)</a:t>
            </a:r>
            <a:r>
              <a:rPr lang="zh-CN" altLang="en-US" dirty="0" smtClean="0">
                <a:solidFill>
                  <a:srgbClr val="000000"/>
                </a:solidFill>
                <a:latin typeface="Times New Roman" panose="02020603050405020304"/>
              </a:rPr>
              <a:t>。</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wipe(left)">
                                      <p:cBhvr>
                                        <p:cTn id="22" dur="500"/>
                                        <p:tgtEl>
                                          <p:spTgt spid="1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wipe(left)">
                                      <p:cBhvr>
                                        <p:cTn id="27" dur="500"/>
                                        <p:tgtEl>
                                          <p:spTgt spid="1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3" end="3"/>
                                            </p:txEl>
                                          </p:spTgt>
                                        </p:tgtEl>
                                        <p:attrNameLst>
                                          <p:attrName>style.visibility</p:attrName>
                                        </p:attrNameLst>
                                      </p:cBhvr>
                                      <p:to>
                                        <p:strVal val="visible"/>
                                      </p:to>
                                    </p:set>
                                    <p:animEffect transition="in" filter="wipe(left)">
                                      <p:cBhvr>
                                        <p:cTn id="3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755576" y="1797889"/>
            <a:ext cx="7837218" cy="3502497"/>
          </a:xfrm>
          <a:prstGeom prst="rect">
            <a:avLst/>
          </a:prstGeom>
        </p:spPr>
        <p:txBody>
          <a:bodyPr wrap="square">
            <a:spAutoFit/>
          </a:bodyPr>
          <a:lstStyle/>
          <a:p>
            <a:pPr marL="342900" indent="-342900" algn="just">
              <a:lnSpc>
                <a:spcPct val="120000"/>
              </a:lnSpc>
              <a:spcBef>
                <a:spcPts val="1200"/>
              </a:spcBef>
              <a:buFont typeface="Wingdings" panose="05000000000000000000" pitchFamily="2" charset="2"/>
              <a:buChar char="Ø"/>
            </a:pPr>
            <a:r>
              <a:rPr lang="zh-CN" altLang="en-US" dirty="0">
                <a:solidFill>
                  <a:schemeClr val="bg2"/>
                </a:solidFill>
                <a:cs typeface="Consolas" panose="020B0609020204030204" pitchFamily="49" charset="0"/>
              </a:rPr>
              <a:t>大</a:t>
            </a:r>
            <a:r>
              <a:rPr lang="en-US" altLang="zh-CN" b="1" i="1" dirty="0">
                <a:solidFill>
                  <a:schemeClr val="bg2"/>
                </a:solidFill>
                <a:cs typeface="Consolas" panose="020B0609020204030204" pitchFamily="49" charset="0"/>
              </a:rPr>
              <a:t>O</a:t>
            </a:r>
            <a:r>
              <a:rPr lang="zh-CN" altLang="en-US" dirty="0">
                <a:solidFill>
                  <a:schemeClr val="bg2"/>
                </a:solidFill>
                <a:cs typeface="Consolas" panose="020B0609020204030204" pitchFamily="49" charset="0"/>
              </a:rPr>
              <a:t>符号用来描述增长率的上界，表示</a:t>
            </a:r>
            <a:r>
              <a:rPr lang="en-US" altLang="zh-CN" b="1" i="1" dirty="0">
                <a:solidFill>
                  <a:schemeClr val="bg2"/>
                </a:solidFill>
                <a:cs typeface="Consolas" panose="020B0609020204030204" pitchFamily="49" charset="0"/>
              </a:rPr>
              <a:t>f(n)</a:t>
            </a:r>
            <a:r>
              <a:rPr lang="zh-CN" altLang="en-US" dirty="0">
                <a:solidFill>
                  <a:schemeClr val="bg2"/>
                </a:solidFill>
                <a:cs typeface="Consolas" panose="020B0609020204030204" pitchFamily="49" charset="0"/>
              </a:rPr>
              <a:t>的增长最多像</a:t>
            </a:r>
            <a:r>
              <a:rPr lang="en-US" altLang="zh-CN" b="1" i="1" dirty="0">
                <a:solidFill>
                  <a:schemeClr val="bg2"/>
                </a:solidFill>
                <a:cs typeface="Consolas" panose="020B0609020204030204" pitchFamily="49" charset="0"/>
              </a:rPr>
              <a:t>g(n)</a:t>
            </a:r>
            <a:r>
              <a:rPr lang="en-US" altLang="zh-CN" dirty="0">
                <a:solidFill>
                  <a:schemeClr val="bg2"/>
                </a:solidFill>
                <a:cs typeface="Consolas" panose="020B0609020204030204" pitchFamily="49" charset="0"/>
              </a:rPr>
              <a:t> </a:t>
            </a:r>
            <a:r>
              <a:rPr lang="zh-CN" altLang="en-US" dirty="0">
                <a:solidFill>
                  <a:schemeClr val="bg2"/>
                </a:solidFill>
                <a:cs typeface="Consolas" panose="020B0609020204030204" pitchFamily="49" charset="0"/>
              </a:rPr>
              <a:t>增长的那样快，也就是说，当输入规模为</a:t>
            </a:r>
            <a:r>
              <a:rPr lang="en-US" altLang="zh-CN" b="1" i="1" dirty="0">
                <a:solidFill>
                  <a:schemeClr val="bg2"/>
                </a:solidFill>
                <a:cs typeface="Consolas" panose="020B0609020204030204" pitchFamily="49" charset="0"/>
              </a:rPr>
              <a:t>n</a:t>
            </a:r>
            <a:r>
              <a:rPr lang="zh-CN" altLang="en-US" dirty="0">
                <a:solidFill>
                  <a:schemeClr val="bg2"/>
                </a:solidFill>
                <a:cs typeface="Consolas" panose="020B0609020204030204" pitchFamily="49" charset="0"/>
              </a:rPr>
              <a:t>时，算法消耗时间的最大值</a:t>
            </a:r>
            <a:r>
              <a:rPr lang="zh-CN" altLang="en-US" dirty="0" smtClean="0">
                <a:solidFill>
                  <a:schemeClr val="bg2"/>
                </a:solidFill>
                <a:cs typeface="Consolas" panose="020B0609020204030204" pitchFamily="49" charset="0"/>
              </a:rPr>
              <a:t>。</a:t>
            </a:r>
            <a:endParaRPr lang="en-US" altLang="zh-CN" dirty="0" smtClean="0">
              <a:solidFill>
                <a:schemeClr val="bg2"/>
              </a:solidFill>
              <a:cs typeface="Consolas" panose="020B0609020204030204" pitchFamily="49" charset="0"/>
            </a:endParaRPr>
          </a:p>
          <a:p>
            <a:pPr marL="342900" indent="-342900" algn="just">
              <a:lnSpc>
                <a:spcPct val="120000"/>
              </a:lnSpc>
              <a:spcBef>
                <a:spcPts val="1200"/>
              </a:spcBef>
              <a:buFont typeface="Wingdings" panose="05000000000000000000" pitchFamily="2" charset="2"/>
              <a:buChar char="Ø"/>
            </a:pPr>
            <a:r>
              <a:rPr lang="zh-CN" altLang="en-US" dirty="0" smtClean="0">
                <a:solidFill>
                  <a:schemeClr val="bg2"/>
                </a:solidFill>
                <a:cs typeface="Consolas" panose="020B0609020204030204" pitchFamily="49" charset="0"/>
              </a:rPr>
              <a:t>这个</a:t>
            </a:r>
            <a:r>
              <a:rPr lang="zh-CN" altLang="en-US" dirty="0">
                <a:solidFill>
                  <a:schemeClr val="bg2"/>
                </a:solidFill>
                <a:cs typeface="Consolas" panose="020B0609020204030204" pitchFamily="49" charset="0"/>
              </a:rPr>
              <a:t>上界的阶越</a:t>
            </a:r>
            <a:r>
              <a:rPr lang="zh-CN" altLang="en-US" dirty="0" smtClean="0">
                <a:solidFill>
                  <a:schemeClr val="bg2"/>
                </a:solidFill>
                <a:cs typeface="Consolas" panose="020B0609020204030204" pitchFamily="49" charset="0"/>
              </a:rPr>
              <a:t>低结果</a:t>
            </a:r>
            <a:r>
              <a:rPr lang="zh-CN" altLang="en-US" dirty="0">
                <a:solidFill>
                  <a:schemeClr val="bg2"/>
                </a:solidFill>
                <a:cs typeface="Consolas" panose="020B0609020204030204" pitchFamily="49" charset="0"/>
              </a:rPr>
              <a:t>就越</a:t>
            </a:r>
            <a:r>
              <a:rPr lang="zh-CN" altLang="en-US" dirty="0" smtClean="0">
                <a:solidFill>
                  <a:schemeClr val="bg2"/>
                </a:solidFill>
                <a:cs typeface="Consolas" panose="020B0609020204030204" pitchFamily="49" charset="0"/>
              </a:rPr>
              <a:t>有价值。所以</a:t>
            </a:r>
            <a:r>
              <a:rPr lang="zh-CN" altLang="en-US" dirty="0">
                <a:solidFill>
                  <a:schemeClr val="bg2"/>
                </a:solidFill>
                <a:cs typeface="Consolas" panose="020B0609020204030204" pitchFamily="49" charset="0"/>
              </a:rPr>
              <a:t>，</a:t>
            </a:r>
            <a:r>
              <a:rPr lang="zh-CN" altLang="en-US" dirty="0" smtClean="0">
                <a:solidFill>
                  <a:schemeClr val="bg2"/>
                </a:solidFill>
                <a:cs typeface="Consolas" panose="020B0609020204030204" pitchFamily="49" charset="0"/>
              </a:rPr>
              <a:t>对于多项式</a:t>
            </a:r>
            <a:r>
              <a:rPr lang="en-US" altLang="zh-CN" dirty="0" smtClean="0">
                <a:solidFill>
                  <a:schemeClr val="bg2"/>
                </a:solidFill>
                <a:cs typeface="Consolas" panose="020B0609020204030204" pitchFamily="49" charset="0"/>
              </a:rPr>
              <a:t>10</a:t>
            </a:r>
            <a:r>
              <a:rPr lang="en-US" altLang="zh-CN" i="1" dirty="0" smtClean="0">
                <a:solidFill>
                  <a:schemeClr val="bg2"/>
                </a:solidFill>
                <a:cs typeface="Consolas" panose="020B0609020204030204" pitchFamily="49" charset="0"/>
              </a:rPr>
              <a:t>n</a:t>
            </a:r>
            <a:r>
              <a:rPr lang="en-US" altLang="zh-CN" baseline="30000" dirty="0" smtClean="0">
                <a:solidFill>
                  <a:schemeClr val="bg2"/>
                </a:solidFill>
                <a:cs typeface="Consolas" panose="020B0609020204030204" pitchFamily="49" charset="0"/>
              </a:rPr>
              <a:t>2</a:t>
            </a:r>
            <a:r>
              <a:rPr lang="en-US" altLang="zh-CN" dirty="0" smtClean="0">
                <a:solidFill>
                  <a:schemeClr val="bg2"/>
                </a:solidFill>
                <a:cs typeface="Consolas" panose="020B0609020204030204" pitchFamily="49" charset="0"/>
              </a:rPr>
              <a:t>+4</a:t>
            </a:r>
            <a:r>
              <a:rPr lang="en-US" altLang="zh-CN" i="1" dirty="0" smtClean="0">
                <a:solidFill>
                  <a:schemeClr val="bg2"/>
                </a:solidFill>
                <a:cs typeface="Consolas" panose="020B0609020204030204" pitchFamily="49" charset="0"/>
              </a:rPr>
              <a:t>n</a:t>
            </a:r>
            <a:r>
              <a:rPr lang="en-US" altLang="zh-CN" dirty="0" smtClean="0">
                <a:solidFill>
                  <a:schemeClr val="bg2"/>
                </a:solidFill>
                <a:cs typeface="Consolas" panose="020B0609020204030204" pitchFamily="49" charset="0"/>
              </a:rPr>
              <a:t>+2</a:t>
            </a:r>
            <a:r>
              <a:rPr lang="zh-CN" altLang="en-US" dirty="0">
                <a:solidFill>
                  <a:schemeClr val="bg2"/>
                </a:solidFill>
                <a:cs typeface="Consolas" panose="020B0609020204030204" pitchFamily="49" charset="0"/>
              </a:rPr>
              <a:t>，</a:t>
            </a:r>
            <a:r>
              <a:rPr lang="en-US" altLang="zh-CN" b="1" i="1" dirty="0">
                <a:solidFill>
                  <a:schemeClr val="bg2"/>
                </a:solidFill>
                <a:cs typeface="Consolas" panose="020B0609020204030204" pitchFamily="49" charset="0"/>
              </a:rPr>
              <a:t>O</a:t>
            </a:r>
            <a:r>
              <a:rPr lang="en-US" altLang="zh-CN" dirty="0">
                <a:solidFill>
                  <a:schemeClr val="bg2"/>
                </a:solidFill>
                <a:cs typeface="Consolas" panose="020B0609020204030204" pitchFamily="49" charset="0"/>
              </a:rPr>
              <a:t>(</a:t>
            </a:r>
            <a:r>
              <a:rPr lang="en-US" altLang="zh-CN" i="1" dirty="0">
                <a:solidFill>
                  <a:schemeClr val="bg2"/>
                </a:solidFill>
                <a:cs typeface="Consolas" panose="020B0609020204030204" pitchFamily="49" charset="0"/>
              </a:rPr>
              <a:t>n</a:t>
            </a:r>
            <a:r>
              <a:rPr lang="en-US" altLang="zh-CN" baseline="30000" dirty="0">
                <a:solidFill>
                  <a:schemeClr val="bg2"/>
                </a:solidFill>
                <a:cs typeface="Consolas" panose="020B0609020204030204" pitchFamily="49" charset="0"/>
              </a:rPr>
              <a:t>2</a:t>
            </a:r>
            <a:r>
              <a:rPr lang="en-US" altLang="zh-CN" dirty="0">
                <a:solidFill>
                  <a:schemeClr val="bg2"/>
                </a:solidFill>
                <a:cs typeface="Consolas" panose="020B0609020204030204" pitchFamily="49" charset="0"/>
              </a:rPr>
              <a:t>)</a:t>
            </a:r>
            <a:r>
              <a:rPr lang="zh-CN" altLang="en-US" dirty="0">
                <a:solidFill>
                  <a:schemeClr val="bg2"/>
                </a:solidFill>
                <a:cs typeface="Consolas" panose="020B0609020204030204" pitchFamily="49" charset="0"/>
              </a:rPr>
              <a:t>比</a:t>
            </a:r>
            <a:r>
              <a:rPr lang="en-US" altLang="zh-CN" b="1" i="1" dirty="0">
                <a:solidFill>
                  <a:schemeClr val="bg2"/>
                </a:solidFill>
                <a:cs typeface="Consolas" panose="020B0609020204030204" pitchFamily="49" charset="0"/>
              </a:rPr>
              <a:t>O</a:t>
            </a:r>
            <a:r>
              <a:rPr lang="en-US" altLang="zh-CN" dirty="0">
                <a:solidFill>
                  <a:schemeClr val="bg2"/>
                </a:solidFill>
                <a:cs typeface="Consolas" panose="020B0609020204030204" pitchFamily="49" charset="0"/>
              </a:rPr>
              <a:t>(</a:t>
            </a:r>
            <a:r>
              <a:rPr lang="en-US" altLang="zh-CN" i="1" dirty="0">
                <a:solidFill>
                  <a:schemeClr val="bg2"/>
                </a:solidFill>
                <a:cs typeface="Consolas" panose="020B0609020204030204" pitchFamily="49" charset="0"/>
              </a:rPr>
              <a:t>n</a:t>
            </a:r>
            <a:r>
              <a:rPr lang="en-US" altLang="zh-CN" baseline="30000" dirty="0">
                <a:solidFill>
                  <a:schemeClr val="bg2"/>
                </a:solidFill>
                <a:cs typeface="Consolas" panose="020B0609020204030204" pitchFamily="49" charset="0"/>
              </a:rPr>
              <a:t>4</a:t>
            </a:r>
            <a:r>
              <a:rPr lang="en-US" altLang="zh-CN" dirty="0">
                <a:solidFill>
                  <a:schemeClr val="bg2"/>
                </a:solidFill>
                <a:cs typeface="Consolas" panose="020B0609020204030204" pitchFamily="49" charset="0"/>
              </a:rPr>
              <a:t>) </a:t>
            </a:r>
            <a:r>
              <a:rPr lang="zh-CN" altLang="en-US" dirty="0">
                <a:solidFill>
                  <a:schemeClr val="bg2"/>
                </a:solidFill>
                <a:cs typeface="Consolas" panose="020B0609020204030204" pitchFamily="49" charset="0"/>
              </a:rPr>
              <a:t>有价值</a:t>
            </a:r>
            <a:r>
              <a:rPr lang="zh-CN" altLang="en-US" dirty="0" smtClean="0">
                <a:solidFill>
                  <a:schemeClr val="bg2"/>
                </a:solidFill>
                <a:cs typeface="Consolas" panose="020B0609020204030204" pitchFamily="49" charset="0"/>
              </a:rPr>
              <a:t>。</a:t>
            </a:r>
            <a:endParaRPr lang="en-US" altLang="zh-CN" dirty="0" smtClean="0">
              <a:solidFill>
                <a:schemeClr val="bg2"/>
              </a:solidFill>
              <a:cs typeface="Consolas" panose="020B0609020204030204" pitchFamily="49" charset="0"/>
            </a:endParaRPr>
          </a:p>
          <a:p>
            <a:pPr marL="342900" indent="-342900" algn="just">
              <a:lnSpc>
                <a:spcPct val="120000"/>
              </a:lnSpc>
              <a:spcBef>
                <a:spcPts val="1200"/>
              </a:spcBef>
              <a:buFont typeface="Wingdings" panose="05000000000000000000" pitchFamily="2" charset="2"/>
              <a:buChar char="Ø"/>
            </a:pPr>
            <a:r>
              <a:rPr lang="zh-CN" altLang="en-US" dirty="0" smtClean="0">
                <a:solidFill>
                  <a:schemeClr val="bg2"/>
                </a:solidFill>
                <a:cs typeface="Consolas" panose="020B0609020204030204" pitchFamily="49" charset="0"/>
              </a:rPr>
              <a:t>一</a:t>
            </a:r>
            <a:r>
              <a:rPr lang="zh-CN" altLang="en-US" dirty="0">
                <a:solidFill>
                  <a:schemeClr val="bg2"/>
                </a:solidFill>
                <a:cs typeface="Consolas" panose="020B0609020204030204" pitchFamily="49" charset="0"/>
              </a:rPr>
              <a:t>个算法的时间用大</a:t>
            </a:r>
            <a:r>
              <a:rPr lang="en-US" altLang="zh-CN" b="1" i="1" dirty="0">
                <a:solidFill>
                  <a:schemeClr val="bg2"/>
                </a:solidFill>
                <a:cs typeface="Consolas" panose="020B0609020204030204" pitchFamily="49" charset="0"/>
              </a:rPr>
              <a:t>O</a:t>
            </a:r>
            <a:r>
              <a:rPr lang="zh-CN" altLang="en-US" dirty="0">
                <a:solidFill>
                  <a:schemeClr val="bg2"/>
                </a:solidFill>
                <a:cs typeface="Consolas" panose="020B0609020204030204" pitchFamily="49" charset="0"/>
              </a:rPr>
              <a:t>符号表示时，总是采用最有价值的</a:t>
            </a:r>
            <a:r>
              <a:rPr lang="en-US" altLang="zh-CN" b="1" i="1" dirty="0">
                <a:solidFill>
                  <a:schemeClr val="bg2"/>
                </a:solidFill>
                <a:cs typeface="Consolas" panose="020B0609020204030204" pitchFamily="49" charset="0"/>
              </a:rPr>
              <a:t>g(n)</a:t>
            </a:r>
            <a:r>
              <a:rPr lang="zh-CN" altLang="en-US" dirty="0">
                <a:solidFill>
                  <a:schemeClr val="bg2"/>
                </a:solidFill>
                <a:cs typeface="Consolas" panose="020B0609020204030204" pitchFamily="49" charset="0"/>
              </a:rPr>
              <a:t>表示，称之为“紧凑上界”或“紧确上界”。</a:t>
            </a:r>
            <a:endParaRPr lang="en-US" altLang="zh-CN" dirty="0">
              <a:solidFill>
                <a:schemeClr val="bg2"/>
              </a:solidFill>
              <a:cs typeface="Consolas" panose="020B0609020204030204" pitchFamily="49"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矩形 4"/>
          <p:cNvSpPr/>
          <p:nvPr/>
        </p:nvSpPr>
        <p:spPr>
          <a:xfrm>
            <a:off x="539552" y="1772816"/>
            <a:ext cx="2286000" cy="461665"/>
          </a:xfrm>
          <a:prstGeom prst="rect">
            <a:avLst/>
          </a:prstGeom>
        </p:spPr>
        <p:txBody>
          <a:bodyPr wrap="square">
            <a:spAutoFit/>
          </a:bodyPr>
          <a:lstStyle/>
          <a:p>
            <a:r>
              <a:rPr lang="zh-CN" altLang="en-US" dirty="0" smtClean="0">
                <a:solidFill>
                  <a:schemeClr val="bg2"/>
                </a:solidFill>
              </a:rPr>
              <a:t>（</a:t>
            </a:r>
            <a:r>
              <a:rPr lang="en-US" altLang="zh-CN" dirty="0" smtClean="0">
                <a:solidFill>
                  <a:schemeClr val="bg2"/>
                </a:solidFill>
              </a:rPr>
              <a:t>2</a:t>
            </a:r>
            <a:r>
              <a:rPr lang="zh-CN" altLang="en-US" dirty="0" smtClean="0">
                <a:solidFill>
                  <a:schemeClr val="bg2"/>
                </a:solidFill>
              </a:rPr>
              <a:t>）大</a:t>
            </a:r>
            <a:r>
              <a:rPr lang="en-US" altLang="zh-CN" b="1" i="1" dirty="0">
                <a:solidFill>
                  <a:schemeClr val="bg1"/>
                </a:solidFill>
                <a:sym typeface="Symbol" panose="05050102010706020507" pitchFamily="18" charset="2"/>
              </a:rPr>
              <a:t></a:t>
            </a:r>
            <a:r>
              <a:rPr lang="zh-CN" altLang="en-US" dirty="0" smtClean="0">
                <a:solidFill>
                  <a:schemeClr val="bg2"/>
                </a:solidFill>
              </a:rPr>
              <a:t>符号</a:t>
            </a:r>
            <a:endParaRPr lang="zh-CN" altLang="en-US" dirty="0">
              <a:solidFill>
                <a:schemeClr val="bg2"/>
              </a:solidFill>
            </a:endParaRPr>
          </a:p>
        </p:txBody>
      </p:sp>
      <p:sp>
        <p:nvSpPr>
          <p:cNvPr id="6" name="矩形 5"/>
          <p:cNvSpPr/>
          <p:nvPr/>
        </p:nvSpPr>
        <p:spPr>
          <a:xfrm>
            <a:off x="827584" y="2276872"/>
            <a:ext cx="5256584" cy="1421928"/>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rgbClr val="C00000"/>
                </a:solidFill>
                <a:latin typeface="宋体" panose="02010600030101010101" pitchFamily="2" charset="-122"/>
              </a:rPr>
              <a:t>定义</a:t>
            </a:r>
            <a:r>
              <a:rPr lang="zh-CN" altLang="en-US" dirty="0">
                <a:solidFill>
                  <a:srgbClr val="000000"/>
                </a:solidFill>
                <a:latin typeface="宋体" panose="02010600030101010101" pitchFamily="2" charset="-122"/>
              </a:rPr>
              <a:t>：</a:t>
            </a:r>
            <a:r>
              <a:rPr lang="zh-CN" altLang="en-US" dirty="0" smtClean="0">
                <a:solidFill>
                  <a:srgbClr val="000000"/>
                </a:solidFill>
                <a:latin typeface="宋体" panose="02010600030101010101" pitchFamily="2" charset="-122"/>
              </a:rPr>
              <a:t>设</a:t>
            </a:r>
            <a:r>
              <a:rPr lang="en-US" altLang="zh-CN" b="1" i="1" dirty="0" smtClean="0">
                <a:solidFill>
                  <a:srgbClr val="000000"/>
                </a:solidFill>
                <a:latin typeface="Times New Roman" panose="02020603050405020304"/>
              </a:rPr>
              <a:t>f </a:t>
            </a:r>
            <a:r>
              <a:rPr lang="zh-CN" altLang="en-US" dirty="0" smtClean="0">
                <a:solidFill>
                  <a:srgbClr val="000000"/>
                </a:solidFill>
                <a:latin typeface="宋体" panose="02010600030101010101" pitchFamily="2" charset="-122"/>
              </a:rPr>
              <a:t>和</a:t>
            </a:r>
            <a:r>
              <a:rPr lang="en-US" altLang="zh-CN" b="1" i="1" dirty="0" smtClean="0">
                <a:solidFill>
                  <a:srgbClr val="000000"/>
                </a:solidFill>
                <a:latin typeface="Times New Roman" panose="02020603050405020304"/>
              </a:rPr>
              <a:t>g</a:t>
            </a:r>
            <a:r>
              <a:rPr lang="zh-CN" altLang="en-US" dirty="0">
                <a:solidFill>
                  <a:srgbClr val="000000"/>
                </a:solidFill>
                <a:latin typeface="宋体" panose="02010600030101010101" pitchFamily="2" charset="-122"/>
              </a:rPr>
              <a:t>是定义域为自然数</a:t>
            </a:r>
            <a:r>
              <a:rPr lang="zh-CN" altLang="en-US" dirty="0" smtClean="0">
                <a:solidFill>
                  <a:srgbClr val="000000"/>
                </a:solidFill>
                <a:latin typeface="宋体" panose="02010600030101010101" pitchFamily="2" charset="-122"/>
              </a:rPr>
              <a:t>集</a:t>
            </a:r>
            <a:r>
              <a:rPr lang="en-US" altLang="zh-CN" b="1" i="1" dirty="0" smtClean="0">
                <a:solidFill>
                  <a:srgbClr val="000000"/>
                </a:solidFill>
                <a:latin typeface="Times New Roman" panose="02020603050405020304"/>
              </a:rPr>
              <a:t>N</a:t>
            </a:r>
            <a:r>
              <a:rPr lang="zh-CN" altLang="en-US" dirty="0">
                <a:solidFill>
                  <a:srgbClr val="000000"/>
                </a:solidFill>
                <a:latin typeface="宋体" panose="02010600030101010101" pitchFamily="2" charset="-122"/>
              </a:rPr>
              <a:t>上的</a:t>
            </a:r>
            <a:r>
              <a:rPr lang="zh-CN" altLang="en-US" dirty="0" smtClean="0">
                <a:solidFill>
                  <a:srgbClr val="000000"/>
                </a:solidFill>
                <a:latin typeface="宋体" panose="02010600030101010101" pitchFamily="2" charset="-122"/>
              </a:rPr>
              <a:t>函数。</a:t>
            </a:r>
            <a:r>
              <a:rPr lang="en-US" altLang="zh-CN" b="1" dirty="0" smtClean="0">
                <a:solidFill>
                  <a:srgbClr val="000000"/>
                </a:solidFill>
                <a:latin typeface="Times New Roman" panose="02020603050405020304"/>
              </a:rPr>
              <a:t> </a:t>
            </a:r>
            <a:r>
              <a:rPr lang="zh-CN" altLang="en-US" dirty="0">
                <a:solidFill>
                  <a:srgbClr val="000000"/>
                </a:solidFill>
                <a:latin typeface="宋体" panose="02010600030101010101" pitchFamily="2" charset="-122"/>
              </a:rPr>
              <a:t>若存在</a:t>
            </a:r>
            <a:r>
              <a:rPr lang="zh-CN" altLang="en-US" dirty="0" smtClean="0">
                <a:solidFill>
                  <a:srgbClr val="000000"/>
                </a:solidFill>
                <a:latin typeface="宋体" panose="02010600030101010101" pitchFamily="2" charset="-122"/>
              </a:rPr>
              <a:t>正数</a:t>
            </a:r>
            <a:r>
              <a:rPr lang="en-US" altLang="zh-CN" b="1" i="1" dirty="0" smtClean="0">
                <a:solidFill>
                  <a:srgbClr val="000000"/>
                </a:solidFill>
                <a:latin typeface="Times New Roman" panose="02020603050405020304"/>
              </a:rPr>
              <a:t>c </a:t>
            </a:r>
            <a:r>
              <a:rPr lang="zh-CN" altLang="en-US" dirty="0" smtClean="0">
                <a:solidFill>
                  <a:srgbClr val="000000"/>
                </a:solidFill>
                <a:latin typeface="宋体" panose="02010600030101010101" pitchFamily="2" charset="-122"/>
              </a:rPr>
              <a:t>和</a:t>
            </a:r>
            <a:r>
              <a:rPr lang="en-US" altLang="zh-CN" b="1" i="1" dirty="0" smtClean="0">
                <a:solidFill>
                  <a:srgbClr val="000000"/>
                </a:solidFill>
                <a:latin typeface="Times New Roman" panose="02020603050405020304"/>
              </a:rPr>
              <a:t>n</a:t>
            </a:r>
            <a:r>
              <a:rPr lang="en-US" altLang="zh-CN" b="1" baseline="-25000" dirty="0" smtClean="0">
                <a:solidFill>
                  <a:srgbClr val="000000"/>
                </a:solidFill>
                <a:latin typeface="Times New Roman" panose="02020603050405020304"/>
              </a:rPr>
              <a:t>0</a:t>
            </a:r>
            <a:r>
              <a:rPr lang="zh-CN" altLang="en-US" dirty="0" smtClean="0">
                <a:solidFill>
                  <a:srgbClr val="000000"/>
                </a:solidFill>
                <a:latin typeface="宋体" panose="02010600030101010101" pitchFamily="2" charset="-122"/>
              </a:rPr>
              <a:t>，使得对</a:t>
            </a:r>
            <a:r>
              <a:rPr lang="zh-CN" altLang="en-US" dirty="0">
                <a:solidFill>
                  <a:srgbClr val="000000"/>
                </a:solidFill>
                <a:latin typeface="宋体" panose="02010600030101010101" pitchFamily="2" charset="-122"/>
              </a:rPr>
              <a:t>一切 </a:t>
            </a:r>
            <a:r>
              <a:rPr lang="en-US" altLang="zh-CN" b="1" i="1" dirty="0">
                <a:solidFill>
                  <a:srgbClr val="000000"/>
                </a:solidFill>
                <a:latin typeface="Times New Roman" panose="02020603050405020304"/>
              </a:rPr>
              <a:t>n </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n</a:t>
            </a:r>
            <a:r>
              <a:rPr lang="en-US" altLang="zh-CN" b="1" baseline="-25000" dirty="0">
                <a:solidFill>
                  <a:srgbClr val="000000"/>
                </a:solidFill>
                <a:latin typeface="Times New Roman" panose="02020603050405020304"/>
              </a:rPr>
              <a:t>0</a:t>
            </a:r>
            <a:r>
              <a:rPr lang="zh-CN" altLang="en-US" dirty="0" smtClean="0">
                <a:solidFill>
                  <a:srgbClr val="000000"/>
                </a:solidFill>
                <a:latin typeface="宋体" panose="02010600030101010101" pitchFamily="2" charset="-122"/>
              </a:rPr>
              <a:t>有</a:t>
            </a:r>
            <a:endParaRPr lang="zh-CN" altLang="en-US" dirty="0"/>
          </a:p>
        </p:txBody>
      </p:sp>
      <p:sp>
        <p:nvSpPr>
          <p:cNvPr id="7" name="矩形 6"/>
          <p:cNvSpPr/>
          <p:nvPr/>
        </p:nvSpPr>
        <p:spPr>
          <a:xfrm>
            <a:off x="1693652" y="3831431"/>
            <a:ext cx="2878348" cy="461665"/>
          </a:xfrm>
          <a:prstGeom prst="rect">
            <a:avLst/>
          </a:prstGeom>
        </p:spPr>
        <p:txBody>
          <a:bodyPr wrap="square">
            <a:spAutoFit/>
          </a:bodyPr>
          <a:lstStyle/>
          <a:p>
            <a:r>
              <a:rPr lang="en-US" altLang="zh-CN" b="1" dirty="0">
                <a:solidFill>
                  <a:srgbClr val="000000"/>
                </a:solidFill>
                <a:latin typeface="Times New Roman" panose="02020603050405020304"/>
              </a:rPr>
              <a:t>0 </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cg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en-US" altLang="zh-CN" dirty="0">
                <a:solidFill>
                  <a:srgbClr val="000000"/>
                </a:solidFill>
                <a:latin typeface="Symbol" panose="05050102010706020507"/>
              </a:rPr>
              <a:t> </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smtClean="0">
                <a:solidFill>
                  <a:srgbClr val="000000"/>
                </a:solidFill>
                <a:latin typeface="Times New Roman" panose="02020603050405020304"/>
              </a:rPr>
              <a:t>)</a:t>
            </a:r>
            <a:endParaRPr lang="zh-CN" altLang="en-US" dirty="0"/>
          </a:p>
        </p:txBody>
      </p:sp>
      <p:sp>
        <p:nvSpPr>
          <p:cNvPr id="8" name="矩形 7"/>
          <p:cNvSpPr/>
          <p:nvPr/>
        </p:nvSpPr>
        <p:spPr>
          <a:xfrm>
            <a:off x="827584" y="4581128"/>
            <a:ext cx="5382142" cy="978729"/>
          </a:xfrm>
          <a:prstGeom prst="rect">
            <a:avLst/>
          </a:prstGeom>
        </p:spPr>
        <p:txBody>
          <a:bodyPr wrap="square">
            <a:spAutoFit/>
          </a:bodyPr>
          <a:lstStyle/>
          <a:p>
            <a:pPr>
              <a:lnSpc>
                <a:spcPct val="120000"/>
              </a:lnSpc>
            </a:pPr>
            <a:r>
              <a:rPr lang="zh-CN" altLang="en-US" dirty="0">
                <a:solidFill>
                  <a:srgbClr val="000000"/>
                </a:solidFill>
                <a:latin typeface="宋体" panose="02010600030101010101" pitchFamily="2" charset="-122"/>
              </a:rPr>
              <a:t>成立</a:t>
            </a:r>
            <a:r>
              <a:rPr lang="en-US" altLang="zh-CN" b="1" dirty="0">
                <a:solidFill>
                  <a:srgbClr val="000000"/>
                </a:solidFill>
                <a:latin typeface="Times New Roman" panose="02020603050405020304"/>
              </a:rPr>
              <a:t>, </a:t>
            </a:r>
            <a:r>
              <a:rPr lang="zh-CN" altLang="en-US" dirty="0">
                <a:solidFill>
                  <a:srgbClr val="000000"/>
                </a:solidFill>
                <a:latin typeface="宋体" panose="02010600030101010101" pitchFamily="2" charset="-122"/>
              </a:rPr>
              <a:t>则称 </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zh-CN" altLang="en-US" dirty="0">
                <a:solidFill>
                  <a:srgbClr val="000000"/>
                </a:solidFill>
                <a:latin typeface="宋体" panose="02010600030101010101" pitchFamily="2" charset="-122"/>
              </a:rPr>
              <a:t>的渐近</a:t>
            </a:r>
            <a:r>
              <a:rPr lang="zh-CN" altLang="en-US" dirty="0" smtClean="0">
                <a:solidFill>
                  <a:srgbClr val="000000"/>
                </a:solidFill>
                <a:latin typeface="宋体" panose="02010600030101010101" pitchFamily="2" charset="-122"/>
              </a:rPr>
              <a:t>的下界</a:t>
            </a:r>
            <a:r>
              <a:rPr lang="zh-CN" altLang="en-US" dirty="0">
                <a:solidFill>
                  <a:srgbClr val="000000"/>
                </a:solidFill>
                <a:latin typeface="宋体" panose="02010600030101010101" pitchFamily="2" charset="-122"/>
              </a:rPr>
              <a:t>是 </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smtClean="0">
                <a:solidFill>
                  <a:srgbClr val="000000"/>
                </a:solidFill>
                <a:latin typeface="宋体" panose="02010600030101010101" pitchFamily="2" charset="-122"/>
              </a:rPr>
              <a:t>，记作</a:t>
            </a:r>
            <a:r>
              <a:rPr lang="en-US" altLang="zh-CN" b="1" i="1" dirty="0" smtClean="0">
                <a:solidFill>
                  <a:srgbClr val="000000"/>
                </a:solidFill>
                <a:latin typeface="Times New Roman" panose="02020603050405020304"/>
              </a:rPr>
              <a:t>f </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 </a:t>
            </a:r>
            <a:r>
              <a:rPr lang="en-US" altLang="zh-CN" b="1" dirty="0">
                <a:solidFill>
                  <a:schemeClr val="bg1"/>
                </a:solidFill>
                <a:latin typeface="Times New Roman" panose="02020603050405020304"/>
              </a:rPr>
              <a:t>= </a:t>
            </a:r>
            <a:r>
              <a:rPr lang="en-US" altLang="zh-CN" b="1" i="1" dirty="0">
                <a:solidFill>
                  <a:schemeClr val="bg2"/>
                </a:solidFill>
                <a:sym typeface="Symbol" panose="05050102010706020507" pitchFamily="18" charset="2"/>
              </a:rPr>
              <a:t></a:t>
            </a:r>
            <a:r>
              <a:rPr lang="en-US" altLang="zh-CN" b="1" i="1" dirty="0">
                <a:solidFill>
                  <a:schemeClr val="bg1"/>
                </a:solidFill>
                <a:sym typeface="Symbol" panose="05050102010706020507" pitchFamily="18" charset="2"/>
              </a:rPr>
              <a:t> </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g</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dirty="0"/>
              <a:t> </a:t>
            </a:r>
            <a:endParaRPr lang="zh-CN" altLang="en-US" dirty="0"/>
          </a:p>
        </p:txBody>
      </p:sp>
      <p:pic>
        <p:nvPicPr>
          <p:cNvPr id="9"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69343" t="5886"/>
          <a:stretch>
            <a:fillRect/>
          </a:stretch>
        </p:blipFill>
        <p:spPr bwMode="auto">
          <a:xfrm>
            <a:off x="6209726" y="2206470"/>
            <a:ext cx="2635824" cy="389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6" name="矩形 5"/>
          <p:cNvSpPr/>
          <p:nvPr/>
        </p:nvSpPr>
        <p:spPr>
          <a:xfrm>
            <a:off x="827584" y="1647032"/>
            <a:ext cx="5256584" cy="535531"/>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chemeClr val="bg2"/>
                </a:solidFill>
              </a:rPr>
              <a:t>大</a:t>
            </a:r>
            <a:r>
              <a:rPr lang="en-US" altLang="zh-CN" b="1" i="1" dirty="0">
                <a:solidFill>
                  <a:schemeClr val="bg2"/>
                </a:solidFill>
                <a:sym typeface="Symbol" panose="05050102010706020507" pitchFamily="18" charset="2"/>
              </a:rPr>
              <a:t></a:t>
            </a:r>
            <a:r>
              <a:rPr lang="zh-CN" altLang="en-US" dirty="0" smtClean="0">
                <a:solidFill>
                  <a:schemeClr val="bg2"/>
                </a:solidFill>
              </a:rPr>
              <a:t>符号</a:t>
            </a:r>
            <a:r>
              <a:rPr lang="zh-CN" altLang="en-US" dirty="0" smtClean="0">
                <a:solidFill>
                  <a:srgbClr val="FF0000"/>
                </a:solidFill>
                <a:latin typeface="宋体" panose="02010600030101010101" pitchFamily="2" charset="-122"/>
              </a:rPr>
              <a:t>举例</a:t>
            </a:r>
            <a:endParaRPr lang="zh-CN" altLang="en-US" dirty="0"/>
          </a:p>
        </p:txBody>
      </p:sp>
      <p:sp>
        <p:nvSpPr>
          <p:cNvPr id="11" name="矩形 10"/>
          <p:cNvSpPr/>
          <p:nvPr/>
        </p:nvSpPr>
        <p:spPr>
          <a:xfrm>
            <a:off x="1115616" y="2276872"/>
            <a:ext cx="2356735" cy="461665"/>
          </a:xfrm>
          <a:prstGeom prst="rect">
            <a:avLst/>
          </a:prstGeom>
        </p:spPr>
        <p:txBody>
          <a:bodyPr wrap="none">
            <a:spAutoFit/>
          </a:bodyPr>
          <a:lstStyle/>
          <a:p>
            <a:r>
              <a:rPr lang="en-US" altLang="zh-CN" b="1" i="1" dirty="0" smtClean="0">
                <a:solidFill>
                  <a:srgbClr val="000000"/>
                </a:solidFill>
                <a:latin typeface="Times New Roman" panose="02020603050405020304"/>
              </a:rPr>
              <a:t>f</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a:solidFill>
                  <a:srgbClr val="000000"/>
                </a:solidFill>
                <a:latin typeface="Times New Roman" panose="02020603050405020304"/>
              </a:rPr>
              <a:t>) = </a:t>
            </a:r>
            <a:r>
              <a:rPr lang="en-US" altLang="zh-CN" b="1" i="1" dirty="0">
                <a:solidFill>
                  <a:srgbClr val="000000"/>
                </a:solidFill>
                <a:latin typeface="Times New Roman" panose="02020603050405020304"/>
              </a:rPr>
              <a:t>n</a:t>
            </a:r>
            <a:r>
              <a:rPr lang="en-US" altLang="zh-CN" sz="1600" b="1" baseline="30000" dirty="0">
                <a:solidFill>
                  <a:srgbClr val="000000"/>
                </a:solidFill>
                <a:latin typeface="Times New Roman" panose="02020603050405020304"/>
              </a:rPr>
              <a:t>2</a:t>
            </a:r>
            <a:r>
              <a:rPr lang="en-US" altLang="zh-CN" sz="1600" b="1" dirty="0">
                <a:solidFill>
                  <a:srgbClr val="000000"/>
                </a:solidFill>
                <a:latin typeface="Times New Roman" panose="02020603050405020304"/>
              </a:rPr>
              <a:t> </a:t>
            </a:r>
            <a:r>
              <a:rPr lang="en-US" altLang="zh-CN" b="1" dirty="0">
                <a:solidFill>
                  <a:srgbClr val="000000"/>
                </a:solidFill>
                <a:latin typeface="Times New Roman" panose="02020603050405020304"/>
              </a:rPr>
              <a:t>+ </a:t>
            </a:r>
            <a:r>
              <a:rPr lang="en-US" altLang="zh-CN" b="1" i="1" dirty="0">
                <a:solidFill>
                  <a:srgbClr val="000000"/>
                </a:solidFill>
                <a:latin typeface="Times New Roman" panose="02020603050405020304"/>
              </a:rPr>
              <a:t>n</a:t>
            </a:r>
            <a:r>
              <a:rPr lang="zh-CN" altLang="en-US" dirty="0">
                <a:solidFill>
                  <a:srgbClr val="000000"/>
                </a:solidFill>
                <a:latin typeface="宋体" panose="02010600030101010101" pitchFamily="2" charset="-122"/>
              </a:rPr>
              <a:t>，则</a:t>
            </a:r>
            <a:endParaRPr lang="zh-CN" altLang="en-US" dirty="0"/>
          </a:p>
        </p:txBody>
      </p:sp>
      <p:sp>
        <p:nvSpPr>
          <p:cNvPr id="12" name="矩形 11"/>
          <p:cNvSpPr/>
          <p:nvPr/>
        </p:nvSpPr>
        <p:spPr>
          <a:xfrm>
            <a:off x="1403648" y="2787313"/>
            <a:ext cx="7344816" cy="1052596"/>
          </a:xfrm>
          <a:prstGeom prst="rect">
            <a:avLst/>
          </a:prstGeom>
        </p:spPr>
        <p:txBody>
          <a:bodyPr wrap="square">
            <a:spAutoFit/>
          </a:bodyPr>
          <a:lstStyle/>
          <a:p>
            <a:pPr marL="342900" indent="-342900">
              <a:lnSpc>
                <a:spcPct val="130000"/>
              </a:lnSpc>
              <a:buFont typeface="Symbol" panose="05050102010706020507" pitchFamily="18" charset="2"/>
              <a:buChar char=""/>
            </a:pPr>
            <a:r>
              <a:rPr lang="en-US" altLang="zh-CN" b="1" i="1" dirty="0">
                <a:solidFill>
                  <a:srgbClr val="000000"/>
                </a:solidFill>
                <a:latin typeface="Times New Roman" panose="02020603050405020304"/>
              </a:rPr>
              <a:t>g</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sz="1600" b="1" baseline="30000" dirty="0" smtClean="0">
                <a:solidFill>
                  <a:srgbClr val="000000"/>
                </a:solidFill>
                <a:latin typeface="Times New Roman" panose="02020603050405020304"/>
              </a:rPr>
              <a:t>2</a:t>
            </a:r>
            <a:r>
              <a:rPr lang="zh-CN" altLang="en-US" dirty="0" smtClean="0">
                <a:solidFill>
                  <a:srgbClr val="000000"/>
                </a:solidFill>
                <a:latin typeface="宋体" panose="02010600030101010101" pitchFamily="2" charset="-122"/>
              </a:rPr>
              <a:t>，</a:t>
            </a:r>
            <a:r>
              <a:rPr lang="en-US" altLang="zh-CN" b="1" i="1" dirty="0" smtClean="0">
                <a:solidFill>
                  <a:srgbClr val="000000"/>
                </a:solidFill>
                <a:latin typeface="Times New Roman" panose="02020603050405020304"/>
              </a:rPr>
              <a:t>f</a:t>
            </a:r>
            <a:r>
              <a:rPr lang="en-US" altLang="zh-CN" b="1" dirty="0" smtClean="0">
                <a:solidFill>
                  <a:srgbClr val="000000"/>
                </a:solidFill>
                <a:latin typeface="Times New Roman" panose="02020603050405020304"/>
              </a:rPr>
              <a:t>(</a:t>
            </a:r>
            <a:r>
              <a:rPr lang="en-US" altLang="zh-CN" b="1" i="1" dirty="0" smtClean="0">
                <a:solidFill>
                  <a:srgbClr val="000000"/>
                </a:solidFill>
                <a:latin typeface="Times New Roman" panose="02020603050405020304"/>
              </a:rPr>
              <a:t>n</a:t>
            </a:r>
            <a:r>
              <a:rPr lang="en-US" altLang="zh-CN" b="1" dirty="0" smtClean="0">
                <a:solidFill>
                  <a:srgbClr val="000000"/>
                </a:solidFill>
                <a:latin typeface="Times New Roman" panose="02020603050405020304"/>
              </a:rPr>
              <a:t>)=</a:t>
            </a:r>
            <a:r>
              <a:rPr lang="en-US" altLang="zh-CN" b="1" i="1" dirty="0">
                <a:solidFill>
                  <a:schemeClr val="bg2"/>
                </a:solidFill>
                <a:sym typeface="Symbol" panose="05050102010706020507" pitchFamily="18" charset="2"/>
              </a:rPr>
              <a:t> </a:t>
            </a:r>
            <a:r>
              <a:rPr lang="en-US" altLang="zh-CN" b="1" dirty="0" smtClean="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en-US" altLang="zh-CN" b="1" dirty="0" smtClean="0">
                <a:solidFill>
                  <a:srgbClr val="000000"/>
                </a:solidFill>
                <a:latin typeface="Times New Roman" panose="02020603050405020304"/>
              </a:rPr>
              <a:t>)</a:t>
            </a:r>
            <a:r>
              <a:rPr lang="zh-CN" altLang="en-US" dirty="0">
                <a:solidFill>
                  <a:srgbClr val="000000"/>
                </a:solidFill>
                <a:latin typeface="宋体" panose="02010600030101010101" pitchFamily="2" charset="-122"/>
              </a:rPr>
              <a:t>，</a:t>
            </a:r>
            <a:r>
              <a:rPr lang="zh-CN" altLang="en-US" dirty="0" smtClean="0">
                <a:solidFill>
                  <a:srgbClr val="000000"/>
                </a:solidFill>
                <a:latin typeface="宋体" panose="02010600030101010101" pitchFamily="2" charset="-122"/>
              </a:rPr>
              <a:t>取</a:t>
            </a:r>
            <a:r>
              <a:rPr lang="en-US" altLang="zh-CN" b="1" i="1" dirty="0" smtClean="0">
                <a:solidFill>
                  <a:srgbClr val="000000"/>
                </a:solidFill>
                <a:latin typeface="Times New Roman" panose="02020603050405020304"/>
              </a:rPr>
              <a:t>c </a:t>
            </a:r>
            <a:r>
              <a:rPr lang="en-US" altLang="zh-CN" b="1" dirty="0">
                <a:solidFill>
                  <a:srgbClr val="000000"/>
                </a:solidFill>
                <a:latin typeface="Times New Roman" panose="02020603050405020304"/>
              </a:rPr>
              <a:t>= </a:t>
            </a:r>
            <a:r>
              <a:rPr lang="en-US" altLang="zh-CN" b="1" dirty="0" smtClean="0">
                <a:solidFill>
                  <a:srgbClr val="000000"/>
                </a:solidFill>
                <a:latin typeface="Times New Roman" panose="02020603050405020304"/>
              </a:rPr>
              <a:t>1</a:t>
            </a:r>
            <a:r>
              <a:rPr lang="zh-CN" altLang="en-US" dirty="0">
                <a:solidFill>
                  <a:srgbClr val="000000"/>
                </a:solidFill>
                <a:latin typeface="宋体" panose="02010600030101010101" pitchFamily="2" charset="-122"/>
              </a:rPr>
              <a:t>，</a:t>
            </a:r>
            <a:r>
              <a:rPr lang="en-US" altLang="zh-CN" b="1" i="1" dirty="0" smtClean="0">
                <a:solidFill>
                  <a:srgbClr val="000000"/>
                </a:solidFill>
                <a:latin typeface="Times New Roman" panose="02020603050405020304"/>
              </a:rPr>
              <a:t>n</a:t>
            </a:r>
            <a:r>
              <a:rPr lang="en-US" altLang="zh-CN" sz="1600" b="1" baseline="-25000" dirty="0" smtClean="0">
                <a:solidFill>
                  <a:srgbClr val="000000"/>
                </a:solidFill>
                <a:latin typeface="Times New Roman" panose="02020603050405020304"/>
              </a:rPr>
              <a:t>0</a:t>
            </a:r>
            <a:r>
              <a:rPr lang="en-US" altLang="zh-CN" sz="1600" b="1" dirty="0" smtClean="0">
                <a:solidFill>
                  <a:srgbClr val="000000"/>
                </a:solidFill>
                <a:latin typeface="Times New Roman" panose="02020603050405020304"/>
              </a:rPr>
              <a:t> </a:t>
            </a:r>
            <a:r>
              <a:rPr lang="en-US" altLang="zh-CN" b="1" dirty="0" smtClean="0">
                <a:solidFill>
                  <a:srgbClr val="000000"/>
                </a:solidFill>
                <a:latin typeface="Times New Roman" panose="02020603050405020304"/>
              </a:rPr>
              <a:t>=0 </a:t>
            </a:r>
            <a:r>
              <a:rPr lang="zh-CN" altLang="en-US" dirty="0">
                <a:solidFill>
                  <a:srgbClr val="000000"/>
                </a:solidFill>
                <a:latin typeface="宋体" panose="02010600030101010101" pitchFamily="2" charset="-122"/>
              </a:rPr>
              <a:t>即</a:t>
            </a:r>
            <a:r>
              <a:rPr lang="zh-CN" altLang="en-US" dirty="0" smtClean="0">
                <a:solidFill>
                  <a:srgbClr val="000000"/>
                </a:solidFill>
                <a:latin typeface="宋体" panose="02010600030101010101" pitchFamily="2" charset="-122"/>
              </a:rPr>
              <a:t>可。</a:t>
            </a:r>
            <a:endParaRPr lang="en-US" altLang="zh-CN" dirty="0" smtClean="0">
              <a:solidFill>
                <a:srgbClr val="000000"/>
              </a:solidFill>
              <a:latin typeface="宋体" panose="02010600030101010101" pitchFamily="2" charset="-122"/>
            </a:endParaRPr>
          </a:p>
          <a:p>
            <a:pPr marL="342900" indent="-342900">
              <a:lnSpc>
                <a:spcPct val="130000"/>
              </a:lnSpc>
              <a:buFont typeface="Symbol" panose="05050102010706020507" pitchFamily="18" charset="2"/>
              <a:buChar char=""/>
            </a:pP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smtClean="0">
                <a:solidFill>
                  <a:srgbClr val="000000"/>
                </a:solidFill>
                <a:latin typeface="Times New Roman" panose="02020603050405020304"/>
              </a:rPr>
              <a:t>)=100</a:t>
            </a:r>
            <a:r>
              <a:rPr lang="en-US" altLang="zh-CN" b="1" i="1" dirty="0" smtClean="0">
                <a:solidFill>
                  <a:srgbClr val="000000"/>
                </a:solidFill>
                <a:latin typeface="Times New Roman" panose="02020603050405020304"/>
              </a:rPr>
              <a:t>n</a:t>
            </a:r>
            <a:r>
              <a:rPr lang="zh-CN" altLang="en-US" dirty="0" smtClean="0">
                <a:solidFill>
                  <a:srgbClr val="000000"/>
                </a:solidFill>
                <a:latin typeface="宋体" panose="02010600030101010101" pitchFamily="2" charset="-122"/>
              </a:rPr>
              <a:t>，</a:t>
            </a:r>
            <a:r>
              <a:rPr lang="en-US" altLang="zh-CN" b="1" i="1" dirty="0">
                <a:solidFill>
                  <a:srgbClr val="000000"/>
                </a:solidFill>
                <a:latin typeface="Times New Roman" panose="02020603050405020304"/>
              </a:rPr>
              <a:t>f</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smtClean="0">
                <a:solidFill>
                  <a:srgbClr val="000000"/>
                </a:solidFill>
                <a:latin typeface="Times New Roman" panose="02020603050405020304"/>
              </a:rPr>
              <a:t>)=</a:t>
            </a:r>
            <a:r>
              <a:rPr lang="en-US" altLang="zh-CN" b="1" i="1" dirty="0">
                <a:solidFill>
                  <a:schemeClr val="bg2"/>
                </a:solidFill>
                <a:sym typeface="Symbol" panose="05050102010706020507" pitchFamily="18" charset="2"/>
              </a:rPr>
              <a:t> </a:t>
            </a:r>
            <a:r>
              <a:rPr lang="en-US" altLang="zh-CN" b="1" dirty="0" smtClean="0">
                <a:solidFill>
                  <a:srgbClr val="000000"/>
                </a:solidFill>
                <a:latin typeface="Times New Roman" panose="02020603050405020304"/>
              </a:rPr>
              <a:t>(</a:t>
            </a:r>
            <a:r>
              <a:rPr lang="en-US" altLang="zh-CN" b="1" i="1" dirty="0">
                <a:solidFill>
                  <a:srgbClr val="000000"/>
                </a:solidFill>
                <a:latin typeface="Times New Roman" panose="02020603050405020304"/>
              </a:rPr>
              <a:t>g</a:t>
            </a:r>
            <a:r>
              <a:rPr lang="en-US" altLang="zh-CN" b="1" dirty="0">
                <a:solidFill>
                  <a:srgbClr val="000000"/>
                </a:solidFill>
                <a:latin typeface="Times New Roman" panose="02020603050405020304"/>
              </a:rPr>
              <a:t>(</a:t>
            </a:r>
            <a:r>
              <a:rPr lang="en-US" altLang="zh-CN" b="1" i="1" dirty="0">
                <a:solidFill>
                  <a:srgbClr val="000000"/>
                </a:solidFill>
                <a:latin typeface="Times New Roman" panose="02020603050405020304"/>
              </a:rPr>
              <a:t>n</a:t>
            </a:r>
            <a:r>
              <a:rPr lang="en-US" altLang="zh-CN" b="1" dirty="0">
                <a:solidFill>
                  <a:srgbClr val="000000"/>
                </a:solidFill>
                <a:latin typeface="Times New Roman" panose="02020603050405020304"/>
              </a:rPr>
              <a:t>))</a:t>
            </a:r>
            <a:r>
              <a:rPr lang="zh-CN" altLang="en-US" dirty="0">
                <a:solidFill>
                  <a:srgbClr val="000000"/>
                </a:solidFill>
                <a:latin typeface="宋体" panose="02010600030101010101" pitchFamily="2" charset="-122"/>
              </a:rPr>
              <a:t>，</a:t>
            </a:r>
            <a:r>
              <a:rPr lang="zh-CN" altLang="en-US" dirty="0" smtClean="0">
                <a:solidFill>
                  <a:srgbClr val="000000"/>
                </a:solidFill>
                <a:latin typeface="宋体" panose="02010600030101010101" pitchFamily="2" charset="-122"/>
              </a:rPr>
              <a:t>取</a:t>
            </a:r>
            <a:r>
              <a:rPr lang="en-US" altLang="zh-CN" b="1" i="1" dirty="0" smtClean="0">
                <a:solidFill>
                  <a:srgbClr val="000000"/>
                </a:solidFill>
                <a:latin typeface="Times New Roman" panose="02020603050405020304"/>
              </a:rPr>
              <a:t>c </a:t>
            </a:r>
            <a:r>
              <a:rPr lang="en-US" altLang="zh-CN" b="1" dirty="0">
                <a:solidFill>
                  <a:srgbClr val="000000"/>
                </a:solidFill>
                <a:latin typeface="Times New Roman" panose="02020603050405020304"/>
              </a:rPr>
              <a:t>= </a:t>
            </a:r>
            <a:r>
              <a:rPr lang="en-US" altLang="zh-CN" b="1" dirty="0" smtClean="0">
                <a:solidFill>
                  <a:srgbClr val="000000"/>
                </a:solidFill>
                <a:latin typeface="Times New Roman" panose="02020603050405020304"/>
              </a:rPr>
              <a:t>1/100</a:t>
            </a:r>
            <a:r>
              <a:rPr lang="zh-CN" altLang="en-US" dirty="0" smtClean="0">
                <a:solidFill>
                  <a:srgbClr val="000000"/>
                </a:solidFill>
                <a:latin typeface="宋体" panose="02010600030101010101" pitchFamily="2" charset="-122"/>
              </a:rPr>
              <a:t>，</a:t>
            </a:r>
            <a:r>
              <a:rPr lang="en-US" altLang="zh-CN" b="1" i="1" dirty="0" smtClean="0">
                <a:solidFill>
                  <a:srgbClr val="000000"/>
                </a:solidFill>
                <a:latin typeface="Times New Roman" panose="02020603050405020304"/>
              </a:rPr>
              <a:t>n</a:t>
            </a:r>
            <a:r>
              <a:rPr lang="en-US" altLang="zh-CN" sz="1600" b="1" baseline="-25000" dirty="0" smtClean="0">
                <a:solidFill>
                  <a:srgbClr val="000000"/>
                </a:solidFill>
                <a:latin typeface="Times New Roman" panose="02020603050405020304"/>
              </a:rPr>
              <a:t>0</a:t>
            </a:r>
            <a:r>
              <a:rPr lang="en-US" altLang="zh-CN" sz="1600" b="1" dirty="0" smtClean="0">
                <a:solidFill>
                  <a:srgbClr val="000000"/>
                </a:solidFill>
                <a:latin typeface="Times New Roman" panose="02020603050405020304"/>
              </a:rPr>
              <a:t> </a:t>
            </a:r>
            <a:r>
              <a:rPr lang="en-US" altLang="zh-CN" b="1" dirty="0">
                <a:solidFill>
                  <a:srgbClr val="000000"/>
                </a:solidFill>
                <a:latin typeface="Times New Roman" panose="02020603050405020304"/>
              </a:rPr>
              <a:t>=1 </a:t>
            </a:r>
            <a:r>
              <a:rPr lang="zh-CN" altLang="en-US" dirty="0">
                <a:solidFill>
                  <a:srgbClr val="000000"/>
                </a:solidFill>
                <a:latin typeface="宋体" panose="02010600030101010101" pitchFamily="2" charset="-122"/>
              </a:rPr>
              <a:t>即</a:t>
            </a:r>
            <a:r>
              <a:rPr lang="zh-CN" altLang="en-US" dirty="0" smtClean="0">
                <a:solidFill>
                  <a:srgbClr val="000000"/>
                </a:solidFill>
                <a:latin typeface="宋体" panose="02010600030101010101" pitchFamily="2" charset="-122"/>
              </a:rPr>
              <a:t>可</a:t>
            </a:r>
            <a:endParaRPr lang="zh-CN" altLang="en-US" dirty="0"/>
          </a:p>
        </p:txBody>
      </p:sp>
      <p:sp>
        <p:nvSpPr>
          <p:cNvPr id="13" name="矩形 12"/>
          <p:cNvSpPr/>
          <p:nvPr/>
        </p:nvSpPr>
        <p:spPr>
          <a:xfrm>
            <a:off x="1091984" y="3933056"/>
            <a:ext cx="6864392" cy="1532727"/>
          </a:xfrm>
          <a:prstGeom prst="rect">
            <a:avLst/>
          </a:prstGeom>
        </p:spPr>
        <p:txBody>
          <a:bodyPr wrap="square">
            <a:spAutoFit/>
          </a:bodyPr>
          <a:lstStyle/>
          <a:p>
            <a:pPr marL="342900" indent="-342900">
              <a:lnSpc>
                <a:spcPct val="130000"/>
              </a:lnSpc>
              <a:buFont typeface="Wingdings" panose="05000000000000000000" pitchFamily="2" charset="2"/>
              <a:buChar char="Ø"/>
            </a:pP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的阶</a:t>
            </a:r>
            <a:r>
              <a:rPr lang="zh-CN" altLang="en-US" b="1" dirty="0">
                <a:solidFill>
                  <a:srgbClr val="FF0000"/>
                </a:solidFill>
              </a:rPr>
              <a:t>不低于</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的</a:t>
            </a:r>
            <a:r>
              <a:rPr lang="zh-CN" altLang="en-US" dirty="0" smtClean="0">
                <a:solidFill>
                  <a:schemeClr val="bg2"/>
                </a:solidFill>
              </a:rPr>
              <a:t>阶。 </a:t>
            </a:r>
            <a:endParaRPr lang="en-US" altLang="zh-CN" dirty="0" smtClean="0">
              <a:solidFill>
                <a:schemeClr val="bg2"/>
              </a:solidFill>
              <a:latin typeface="宋体" panose="02010600030101010101" pitchFamily="2" charset="-122"/>
            </a:endParaRPr>
          </a:p>
          <a:p>
            <a:pPr marL="342900" indent="-342900">
              <a:lnSpc>
                <a:spcPct val="130000"/>
              </a:lnSpc>
              <a:buFont typeface="Wingdings" panose="05000000000000000000" pitchFamily="2" charset="2"/>
              <a:buChar char="Ø"/>
            </a:pPr>
            <a:r>
              <a:rPr lang="zh-CN" altLang="en-US" dirty="0" smtClean="0">
                <a:solidFill>
                  <a:schemeClr val="bg2"/>
                </a:solidFill>
                <a:latin typeface="宋体" panose="02010600030101010101" pitchFamily="2" charset="-122"/>
              </a:rPr>
              <a:t>可能</a:t>
            </a:r>
            <a:r>
              <a:rPr lang="zh-CN" altLang="en-US" dirty="0">
                <a:solidFill>
                  <a:schemeClr val="bg2"/>
                </a:solidFill>
                <a:latin typeface="宋体" panose="02010600030101010101" pitchFamily="2" charset="-122"/>
              </a:rPr>
              <a:t>存在多个正数</a:t>
            </a:r>
            <a:r>
              <a:rPr lang="en-US" altLang="zh-CN" b="1" i="1" dirty="0">
                <a:solidFill>
                  <a:schemeClr val="bg2"/>
                </a:solidFill>
                <a:latin typeface="Times New Roman" panose="02020603050405020304"/>
              </a:rPr>
              <a:t>c</a:t>
            </a:r>
            <a:r>
              <a:rPr lang="zh-CN" altLang="en-US" dirty="0">
                <a:solidFill>
                  <a:schemeClr val="bg2"/>
                </a:solidFill>
                <a:latin typeface="宋体" panose="02010600030101010101" pitchFamily="2" charset="-122"/>
              </a:rPr>
              <a:t>，只要指出一个即</a:t>
            </a:r>
            <a:r>
              <a:rPr lang="zh-CN" altLang="en-US" dirty="0" smtClean="0">
                <a:solidFill>
                  <a:schemeClr val="bg2"/>
                </a:solidFill>
                <a:latin typeface="宋体" panose="02010600030101010101" pitchFamily="2" charset="-122"/>
              </a:rPr>
              <a:t>可。</a:t>
            </a:r>
            <a:endParaRPr lang="en-US" altLang="zh-CN" dirty="0" smtClean="0">
              <a:solidFill>
                <a:schemeClr val="bg2"/>
              </a:solidFill>
              <a:latin typeface="宋体" panose="02010600030101010101" pitchFamily="2" charset="-122"/>
            </a:endParaRPr>
          </a:p>
          <a:p>
            <a:pPr marL="342900" indent="-342900">
              <a:lnSpc>
                <a:spcPct val="130000"/>
              </a:lnSpc>
              <a:buFont typeface="Wingdings" panose="05000000000000000000" pitchFamily="2" charset="2"/>
              <a:buChar char="Ø"/>
            </a:pPr>
            <a:r>
              <a:rPr lang="en-US" altLang="zh-CN" b="1" dirty="0" smtClean="0">
                <a:solidFill>
                  <a:schemeClr val="bg2"/>
                </a:solidFill>
                <a:latin typeface="Times New Roman" panose="02020603050405020304"/>
              </a:rPr>
              <a:t> </a:t>
            </a:r>
            <a:r>
              <a:rPr lang="zh-CN" altLang="en-US" dirty="0" smtClean="0">
                <a:solidFill>
                  <a:schemeClr val="bg2"/>
                </a:solidFill>
                <a:latin typeface="宋体" panose="02010600030101010101" pitchFamily="2" charset="-122"/>
              </a:rPr>
              <a:t>对</a:t>
            </a:r>
            <a:r>
              <a:rPr lang="en-US" altLang="zh-CN" b="1" i="1" dirty="0">
                <a:solidFill>
                  <a:schemeClr val="bg2"/>
                </a:solidFill>
                <a:latin typeface="Times New Roman" panose="02020603050405020304"/>
              </a:rPr>
              <a:t>n</a:t>
            </a:r>
            <a:r>
              <a:rPr lang="en-US" altLang="zh-CN" b="1" baseline="-25000" dirty="0">
                <a:solidFill>
                  <a:schemeClr val="bg2"/>
                </a:solidFill>
                <a:latin typeface="Times New Roman" panose="02020603050405020304"/>
              </a:rPr>
              <a:t>0</a:t>
            </a:r>
            <a:r>
              <a:rPr lang="zh-CN" altLang="en-US" dirty="0" smtClean="0">
                <a:solidFill>
                  <a:schemeClr val="bg2"/>
                </a:solidFill>
                <a:latin typeface="宋体" panose="02010600030101010101" pitchFamily="2" charset="-122"/>
              </a:rPr>
              <a:t>前面</a:t>
            </a:r>
            <a:r>
              <a:rPr lang="zh-CN" altLang="en-US" dirty="0">
                <a:solidFill>
                  <a:schemeClr val="bg2"/>
                </a:solidFill>
                <a:latin typeface="宋体" panose="02010600030101010101" pitchFamily="2" charset="-122"/>
              </a:rPr>
              <a:t>有限</a:t>
            </a:r>
            <a:r>
              <a:rPr lang="zh-CN" altLang="en-US" dirty="0" smtClean="0">
                <a:solidFill>
                  <a:schemeClr val="bg2"/>
                </a:solidFill>
                <a:latin typeface="宋体" panose="02010600030101010101" pitchFamily="2" charset="-122"/>
              </a:rPr>
              <a:t>个</a:t>
            </a:r>
            <a:r>
              <a:rPr lang="en-US" altLang="zh-CN" b="1" i="1" dirty="0">
                <a:solidFill>
                  <a:schemeClr val="bg2"/>
                </a:solidFill>
                <a:latin typeface="Times New Roman" panose="02020603050405020304"/>
              </a:rPr>
              <a:t>n</a:t>
            </a:r>
            <a:r>
              <a:rPr lang="zh-CN" altLang="en-US" dirty="0" smtClean="0">
                <a:solidFill>
                  <a:schemeClr val="bg2"/>
                </a:solidFill>
                <a:latin typeface="宋体" panose="02010600030101010101" pitchFamily="2" charset="-122"/>
              </a:rPr>
              <a:t>值</a:t>
            </a:r>
            <a:r>
              <a:rPr lang="zh-CN" altLang="en-US" dirty="0">
                <a:solidFill>
                  <a:schemeClr val="bg2"/>
                </a:solidFill>
                <a:latin typeface="宋体" panose="02010600030101010101" pitchFamily="2" charset="-122"/>
              </a:rPr>
              <a:t>可以不满足</a:t>
            </a:r>
            <a:r>
              <a:rPr lang="zh-CN" altLang="en-US" dirty="0" smtClean="0">
                <a:solidFill>
                  <a:schemeClr val="bg2"/>
                </a:solidFill>
                <a:latin typeface="宋体" panose="02010600030101010101" pitchFamily="2" charset="-122"/>
              </a:rPr>
              <a:t>不等式。</a:t>
            </a:r>
            <a:endParaRPr lang="en-US" altLang="zh-CN" b="1" dirty="0" smtClean="0">
              <a:solidFill>
                <a:schemeClr val="bg2"/>
              </a:solidFill>
              <a:latin typeface="Times New Roman" panose="02020603050405020304"/>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wipe(left)">
                                      <p:cBhvr>
                                        <p:cTn id="22" dur="500"/>
                                        <p:tgtEl>
                                          <p:spTgt spid="1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wipe(left)">
                                      <p:cBhvr>
                                        <p:cTn id="2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3" name="矩形 2"/>
          <p:cNvSpPr/>
          <p:nvPr/>
        </p:nvSpPr>
        <p:spPr>
          <a:xfrm>
            <a:off x="539552" y="1700808"/>
            <a:ext cx="8064896" cy="3502497"/>
          </a:xfrm>
          <a:prstGeom prst="rect">
            <a:avLst/>
          </a:prstGeom>
        </p:spPr>
        <p:txBody>
          <a:bodyPr wrap="square">
            <a:spAutoFit/>
          </a:bodyPr>
          <a:lstStyle/>
          <a:p>
            <a:pPr marL="457200" indent="-457200" algn="just">
              <a:lnSpc>
                <a:spcPct val="120000"/>
              </a:lnSpc>
              <a:spcBef>
                <a:spcPts val="1200"/>
              </a:spcBef>
              <a:buFont typeface="Wingdings" panose="05000000000000000000" pitchFamily="2" charset="2"/>
              <a:buChar char="Ø"/>
              <a:defRPr/>
            </a:pPr>
            <a:r>
              <a:rPr lang="zh-CN" altLang="en-US" dirty="0">
                <a:solidFill>
                  <a:schemeClr val="bg2"/>
                </a:solidFill>
                <a:cs typeface="Consolas" panose="020B0609020204030204" pitchFamily="49" charset="0"/>
              </a:rPr>
              <a:t>大</a:t>
            </a:r>
            <a:r>
              <a:rPr lang="en-US" altLang="zh-CN" b="1" i="1" dirty="0">
                <a:solidFill>
                  <a:schemeClr val="bg2"/>
                </a:solidFill>
                <a:cs typeface="Consolas" panose="020B0609020204030204" pitchFamily="49" charset="0"/>
                <a:sym typeface="Symbol" panose="05050102010706020507"/>
              </a:rPr>
              <a:t></a:t>
            </a:r>
            <a:r>
              <a:rPr lang="zh-CN" altLang="en-US" dirty="0">
                <a:solidFill>
                  <a:schemeClr val="bg2"/>
                </a:solidFill>
                <a:cs typeface="Consolas" panose="020B0609020204030204" pitchFamily="49" charset="0"/>
              </a:rPr>
              <a:t>符号用来描述增长率的下界，表示</a:t>
            </a:r>
            <a:r>
              <a:rPr lang="en-US" altLang="zh-CN" b="1" i="1" dirty="0">
                <a:solidFill>
                  <a:schemeClr val="bg2"/>
                </a:solidFill>
                <a:cs typeface="Consolas" panose="020B0609020204030204" pitchFamily="49" charset="0"/>
              </a:rPr>
              <a:t>f</a:t>
            </a:r>
            <a:r>
              <a:rPr lang="en-US" altLang="zh-CN" dirty="0">
                <a:solidFill>
                  <a:schemeClr val="bg2"/>
                </a:solidFill>
                <a:cs typeface="Consolas" panose="020B0609020204030204" pitchFamily="49" charset="0"/>
              </a:rPr>
              <a:t>(</a:t>
            </a:r>
            <a:r>
              <a:rPr lang="en-US" altLang="zh-CN" b="1" i="1" dirty="0">
                <a:solidFill>
                  <a:schemeClr val="bg2"/>
                </a:solidFill>
                <a:cs typeface="Consolas" panose="020B0609020204030204" pitchFamily="49" charset="0"/>
              </a:rPr>
              <a:t>n</a:t>
            </a:r>
            <a:r>
              <a:rPr lang="en-US" altLang="zh-CN" dirty="0">
                <a:solidFill>
                  <a:schemeClr val="bg2"/>
                </a:solidFill>
                <a:cs typeface="Consolas" panose="020B0609020204030204" pitchFamily="49" charset="0"/>
              </a:rPr>
              <a:t>)</a:t>
            </a:r>
            <a:r>
              <a:rPr lang="zh-CN" altLang="en-US" dirty="0">
                <a:solidFill>
                  <a:schemeClr val="bg2"/>
                </a:solidFill>
                <a:cs typeface="Consolas" panose="020B0609020204030204" pitchFamily="49" charset="0"/>
              </a:rPr>
              <a:t>的增长最少像</a:t>
            </a:r>
            <a:r>
              <a:rPr lang="en-US" altLang="zh-CN" b="1" i="1" dirty="0">
                <a:solidFill>
                  <a:schemeClr val="bg2"/>
                </a:solidFill>
                <a:cs typeface="Consolas" panose="020B0609020204030204" pitchFamily="49" charset="0"/>
              </a:rPr>
              <a:t>g</a:t>
            </a:r>
            <a:r>
              <a:rPr lang="en-US" altLang="zh-CN" dirty="0">
                <a:solidFill>
                  <a:schemeClr val="bg2"/>
                </a:solidFill>
                <a:cs typeface="Consolas" panose="020B0609020204030204" pitchFamily="49" charset="0"/>
              </a:rPr>
              <a:t>(</a:t>
            </a:r>
            <a:r>
              <a:rPr lang="en-US" altLang="zh-CN" b="1" i="1" dirty="0">
                <a:solidFill>
                  <a:schemeClr val="bg2"/>
                </a:solidFill>
                <a:cs typeface="Consolas" panose="020B0609020204030204" pitchFamily="49" charset="0"/>
              </a:rPr>
              <a:t>n</a:t>
            </a:r>
            <a:r>
              <a:rPr lang="en-US" altLang="zh-CN" dirty="0">
                <a:solidFill>
                  <a:schemeClr val="bg2"/>
                </a:solidFill>
                <a:cs typeface="Consolas" panose="020B0609020204030204" pitchFamily="49" charset="0"/>
              </a:rPr>
              <a:t>) </a:t>
            </a:r>
            <a:r>
              <a:rPr lang="zh-CN" altLang="en-US" dirty="0">
                <a:solidFill>
                  <a:schemeClr val="bg2"/>
                </a:solidFill>
                <a:cs typeface="Consolas" panose="020B0609020204030204" pitchFamily="49" charset="0"/>
              </a:rPr>
              <a:t>增长的那样快，也就是说，当输入规模为</a:t>
            </a:r>
            <a:r>
              <a:rPr lang="en-US" altLang="zh-CN" b="1" i="1" dirty="0">
                <a:solidFill>
                  <a:schemeClr val="bg2"/>
                </a:solidFill>
                <a:cs typeface="Consolas" panose="020B0609020204030204" pitchFamily="49" charset="0"/>
              </a:rPr>
              <a:t>n</a:t>
            </a:r>
            <a:r>
              <a:rPr lang="zh-CN" altLang="en-US" dirty="0">
                <a:solidFill>
                  <a:schemeClr val="bg2"/>
                </a:solidFill>
                <a:cs typeface="Consolas" panose="020B0609020204030204" pitchFamily="49" charset="0"/>
              </a:rPr>
              <a:t>时，算法消耗时间的最小值。</a:t>
            </a:r>
            <a:endParaRPr lang="en-US" altLang="zh-CN" dirty="0">
              <a:solidFill>
                <a:schemeClr val="bg2"/>
              </a:solidFill>
              <a:cs typeface="Consolas" panose="020B0609020204030204" pitchFamily="49" charset="0"/>
            </a:endParaRPr>
          </a:p>
          <a:p>
            <a:pPr marL="457200" indent="-457200" algn="just">
              <a:lnSpc>
                <a:spcPct val="120000"/>
              </a:lnSpc>
              <a:spcBef>
                <a:spcPts val="1200"/>
              </a:spcBef>
              <a:buFont typeface="Wingdings" panose="05000000000000000000" pitchFamily="2" charset="2"/>
              <a:buChar char="Ø"/>
              <a:defRPr/>
            </a:pPr>
            <a:r>
              <a:rPr lang="zh-CN" altLang="en-US" dirty="0">
                <a:solidFill>
                  <a:schemeClr val="bg2"/>
                </a:solidFill>
                <a:cs typeface="Consolas" panose="020B0609020204030204" pitchFamily="49" charset="0"/>
              </a:rPr>
              <a:t>这个下界的阶越</a:t>
            </a:r>
            <a:r>
              <a:rPr lang="zh-CN" altLang="en-US" dirty="0" smtClean="0">
                <a:solidFill>
                  <a:schemeClr val="bg2"/>
                </a:solidFill>
                <a:cs typeface="Consolas" panose="020B0609020204030204" pitchFamily="49" charset="0"/>
              </a:rPr>
              <a:t>高结果</a:t>
            </a:r>
            <a:r>
              <a:rPr lang="zh-CN" altLang="en-US" dirty="0">
                <a:solidFill>
                  <a:schemeClr val="bg2"/>
                </a:solidFill>
                <a:cs typeface="Consolas" panose="020B0609020204030204" pitchFamily="49" charset="0"/>
              </a:rPr>
              <a:t>就越有价值，所以，</a:t>
            </a:r>
            <a:r>
              <a:rPr lang="zh-CN" altLang="en-US" dirty="0" smtClean="0">
                <a:solidFill>
                  <a:schemeClr val="bg2"/>
                </a:solidFill>
                <a:cs typeface="Consolas" panose="020B0609020204030204" pitchFamily="49" charset="0"/>
              </a:rPr>
              <a:t>对于多项式</a:t>
            </a:r>
            <a:r>
              <a:rPr lang="en-US" altLang="zh-CN" dirty="0" smtClean="0">
                <a:solidFill>
                  <a:schemeClr val="bg2"/>
                </a:solidFill>
                <a:cs typeface="Consolas" panose="020B0609020204030204" pitchFamily="49" charset="0"/>
              </a:rPr>
              <a:t>10</a:t>
            </a:r>
            <a:r>
              <a:rPr lang="en-US" altLang="zh-CN" i="1" dirty="0" smtClean="0">
                <a:solidFill>
                  <a:schemeClr val="bg2"/>
                </a:solidFill>
                <a:cs typeface="Consolas" panose="020B0609020204030204" pitchFamily="49" charset="0"/>
              </a:rPr>
              <a:t>n</a:t>
            </a:r>
            <a:r>
              <a:rPr lang="en-US" altLang="zh-CN" baseline="30000" dirty="0" smtClean="0">
                <a:solidFill>
                  <a:schemeClr val="bg2"/>
                </a:solidFill>
                <a:cs typeface="Consolas" panose="020B0609020204030204" pitchFamily="49" charset="0"/>
              </a:rPr>
              <a:t>2</a:t>
            </a:r>
            <a:r>
              <a:rPr lang="en-US" altLang="zh-CN" dirty="0" smtClean="0">
                <a:solidFill>
                  <a:schemeClr val="bg2"/>
                </a:solidFill>
                <a:cs typeface="Consolas" panose="020B0609020204030204" pitchFamily="49" charset="0"/>
              </a:rPr>
              <a:t>+4</a:t>
            </a:r>
            <a:r>
              <a:rPr lang="en-US" altLang="zh-CN" i="1" dirty="0" smtClean="0">
                <a:solidFill>
                  <a:schemeClr val="bg2"/>
                </a:solidFill>
                <a:cs typeface="Consolas" panose="020B0609020204030204" pitchFamily="49" charset="0"/>
              </a:rPr>
              <a:t>n</a:t>
            </a:r>
            <a:r>
              <a:rPr lang="en-US" altLang="zh-CN" dirty="0" smtClean="0">
                <a:solidFill>
                  <a:schemeClr val="bg2"/>
                </a:solidFill>
                <a:cs typeface="Consolas" panose="020B0609020204030204" pitchFamily="49" charset="0"/>
              </a:rPr>
              <a:t>+2</a:t>
            </a:r>
            <a:r>
              <a:rPr lang="zh-CN" altLang="en-US" dirty="0">
                <a:solidFill>
                  <a:schemeClr val="bg2"/>
                </a:solidFill>
                <a:cs typeface="Consolas" panose="020B0609020204030204" pitchFamily="49" charset="0"/>
              </a:rPr>
              <a:t>，</a:t>
            </a:r>
            <a:r>
              <a:rPr lang="en-US" altLang="zh-CN" dirty="0">
                <a:solidFill>
                  <a:schemeClr val="bg2"/>
                </a:solidFill>
                <a:cs typeface="Consolas" panose="020B0609020204030204" pitchFamily="49" charset="0"/>
                <a:sym typeface="Symbol" panose="05050102010706020507"/>
              </a:rPr>
              <a:t></a:t>
            </a:r>
            <a:r>
              <a:rPr lang="en-US" altLang="zh-CN" dirty="0">
                <a:solidFill>
                  <a:schemeClr val="bg2"/>
                </a:solidFill>
                <a:cs typeface="Consolas" panose="020B0609020204030204" pitchFamily="49" charset="0"/>
              </a:rPr>
              <a:t>(</a:t>
            </a:r>
            <a:r>
              <a:rPr lang="en-US" altLang="zh-CN" i="1" dirty="0">
                <a:solidFill>
                  <a:schemeClr val="bg2"/>
                </a:solidFill>
                <a:cs typeface="Consolas" panose="020B0609020204030204" pitchFamily="49" charset="0"/>
              </a:rPr>
              <a:t>n</a:t>
            </a:r>
            <a:r>
              <a:rPr lang="en-US" altLang="zh-CN" baseline="30000" dirty="0">
                <a:solidFill>
                  <a:schemeClr val="bg2"/>
                </a:solidFill>
                <a:cs typeface="Consolas" panose="020B0609020204030204" pitchFamily="49" charset="0"/>
              </a:rPr>
              <a:t>2</a:t>
            </a:r>
            <a:r>
              <a:rPr lang="en-US" altLang="zh-CN" dirty="0">
                <a:solidFill>
                  <a:schemeClr val="bg2"/>
                </a:solidFill>
                <a:cs typeface="Consolas" panose="020B0609020204030204" pitchFamily="49" charset="0"/>
              </a:rPr>
              <a:t>)</a:t>
            </a:r>
            <a:r>
              <a:rPr lang="zh-CN" altLang="en-US" dirty="0">
                <a:solidFill>
                  <a:schemeClr val="bg2"/>
                </a:solidFill>
                <a:cs typeface="Consolas" panose="020B0609020204030204" pitchFamily="49" charset="0"/>
              </a:rPr>
              <a:t>比</a:t>
            </a:r>
            <a:r>
              <a:rPr lang="en-US" altLang="zh-CN" dirty="0">
                <a:solidFill>
                  <a:schemeClr val="bg2"/>
                </a:solidFill>
                <a:cs typeface="Consolas" panose="020B0609020204030204" pitchFamily="49" charset="0"/>
                <a:sym typeface="Symbol" panose="05050102010706020507"/>
              </a:rPr>
              <a:t></a:t>
            </a:r>
            <a:r>
              <a:rPr lang="en-US" altLang="zh-CN" dirty="0">
                <a:solidFill>
                  <a:schemeClr val="bg2"/>
                </a:solidFill>
                <a:cs typeface="Consolas" panose="020B0609020204030204" pitchFamily="49" charset="0"/>
              </a:rPr>
              <a:t>(</a:t>
            </a:r>
            <a:r>
              <a:rPr lang="en-US" altLang="zh-CN" i="1" dirty="0">
                <a:solidFill>
                  <a:schemeClr val="bg2"/>
                </a:solidFill>
                <a:cs typeface="Consolas" panose="020B0609020204030204" pitchFamily="49" charset="0"/>
              </a:rPr>
              <a:t>n</a:t>
            </a:r>
            <a:r>
              <a:rPr lang="en-US" altLang="zh-CN" dirty="0">
                <a:solidFill>
                  <a:schemeClr val="bg2"/>
                </a:solidFill>
                <a:cs typeface="Consolas" panose="020B0609020204030204" pitchFamily="49" charset="0"/>
              </a:rPr>
              <a:t>) </a:t>
            </a:r>
            <a:r>
              <a:rPr lang="zh-CN" altLang="en-US" dirty="0">
                <a:solidFill>
                  <a:schemeClr val="bg2"/>
                </a:solidFill>
                <a:cs typeface="Consolas" panose="020B0609020204030204" pitchFamily="49" charset="0"/>
              </a:rPr>
              <a:t>有价值。</a:t>
            </a:r>
            <a:endParaRPr lang="en-US" altLang="zh-CN" dirty="0">
              <a:solidFill>
                <a:schemeClr val="bg2"/>
              </a:solidFill>
              <a:cs typeface="Consolas" panose="020B0609020204030204" pitchFamily="49" charset="0"/>
            </a:endParaRPr>
          </a:p>
          <a:p>
            <a:pPr marL="457200" indent="-457200" algn="just">
              <a:lnSpc>
                <a:spcPct val="120000"/>
              </a:lnSpc>
              <a:spcBef>
                <a:spcPts val="1200"/>
              </a:spcBef>
              <a:buFont typeface="Wingdings" panose="05000000000000000000" pitchFamily="2" charset="2"/>
              <a:buChar char="Ø"/>
              <a:defRPr/>
            </a:pPr>
            <a:r>
              <a:rPr lang="zh-CN" altLang="en-US" dirty="0">
                <a:solidFill>
                  <a:schemeClr val="bg2"/>
                </a:solidFill>
                <a:cs typeface="Consolas" panose="020B0609020204030204" pitchFamily="49" charset="0"/>
              </a:rPr>
              <a:t>一个算法的时间用大</a:t>
            </a:r>
            <a:r>
              <a:rPr lang="en-US" altLang="zh-CN" b="1" i="1" dirty="0">
                <a:solidFill>
                  <a:schemeClr val="bg2"/>
                </a:solidFill>
                <a:cs typeface="Consolas" panose="020B0609020204030204" pitchFamily="49" charset="0"/>
                <a:sym typeface="Symbol" panose="05050102010706020507"/>
              </a:rPr>
              <a:t></a:t>
            </a:r>
            <a:r>
              <a:rPr lang="zh-CN" altLang="en-US" dirty="0">
                <a:solidFill>
                  <a:schemeClr val="bg2"/>
                </a:solidFill>
                <a:cs typeface="Consolas" panose="020B0609020204030204" pitchFamily="49" charset="0"/>
              </a:rPr>
              <a:t>符号表示时，总是采用最有价值的</a:t>
            </a:r>
            <a:r>
              <a:rPr lang="en-US" altLang="zh-CN" i="1" dirty="0">
                <a:solidFill>
                  <a:schemeClr val="bg2"/>
                </a:solidFill>
                <a:cs typeface="Consolas" panose="020B0609020204030204" pitchFamily="49" charset="0"/>
              </a:rPr>
              <a:t>g</a:t>
            </a:r>
            <a:r>
              <a:rPr lang="en-US" altLang="zh-CN" dirty="0">
                <a:solidFill>
                  <a:schemeClr val="bg2"/>
                </a:solidFill>
                <a:cs typeface="Consolas" panose="020B0609020204030204" pitchFamily="49" charset="0"/>
              </a:rPr>
              <a:t>(</a:t>
            </a:r>
            <a:r>
              <a:rPr lang="en-US" altLang="zh-CN" i="1" dirty="0">
                <a:solidFill>
                  <a:schemeClr val="bg2"/>
                </a:solidFill>
                <a:cs typeface="Consolas" panose="020B0609020204030204" pitchFamily="49" charset="0"/>
              </a:rPr>
              <a:t>n</a:t>
            </a:r>
            <a:r>
              <a:rPr lang="en-US" altLang="zh-CN" dirty="0">
                <a:solidFill>
                  <a:schemeClr val="bg2"/>
                </a:solidFill>
                <a:cs typeface="Consolas" panose="020B0609020204030204" pitchFamily="49" charset="0"/>
              </a:rPr>
              <a:t>)</a:t>
            </a:r>
            <a:r>
              <a:rPr lang="zh-CN" altLang="en-US" dirty="0">
                <a:solidFill>
                  <a:schemeClr val="bg2"/>
                </a:solidFill>
                <a:cs typeface="Consolas" panose="020B0609020204030204" pitchFamily="49" charset="0"/>
              </a:rPr>
              <a:t>表示，称之为“紧凑下界”或“紧确下界”。 </a:t>
            </a:r>
            <a:endParaRPr lang="en-US" altLang="zh-CN" dirty="0">
              <a:solidFill>
                <a:schemeClr val="bg2"/>
              </a:solidFill>
              <a:cs typeface="Consolas" panose="020B0609020204030204" pitchFamily="49"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矩形 4"/>
          <p:cNvSpPr/>
          <p:nvPr/>
        </p:nvSpPr>
        <p:spPr>
          <a:xfrm>
            <a:off x="539552" y="1772816"/>
            <a:ext cx="2286000" cy="461665"/>
          </a:xfrm>
          <a:prstGeom prst="rect">
            <a:avLst/>
          </a:prstGeom>
        </p:spPr>
        <p:txBody>
          <a:bodyPr wrap="square">
            <a:spAutoFit/>
          </a:bodyPr>
          <a:lstStyle/>
          <a:p>
            <a:r>
              <a:rPr lang="zh-CN" altLang="en-US" dirty="0" smtClean="0">
                <a:solidFill>
                  <a:schemeClr val="bg2"/>
                </a:solidFill>
              </a:rPr>
              <a:t>（</a:t>
            </a:r>
            <a:r>
              <a:rPr lang="en-US" altLang="zh-CN" dirty="0" smtClean="0">
                <a:solidFill>
                  <a:schemeClr val="bg2"/>
                </a:solidFill>
              </a:rPr>
              <a:t>3</a:t>
            </a:r>
            <a:r>
              <a:rPr lang="zh-CN" altLang="en-US" dirty="0" smtClean="0">
                <a:solidFill>
                  <a:schemeClr val="bg2"/>
                </a:solidFill>
              </a:rPr>
              <a:t>）</a:t>
            </a:r>
            <a:r>
              <a:rPr lang="en-US" altLang="zh-CN" b="1" i="1" dirty="0">
                <a:solidFill>
                  <a:schemeClr val="bg2"/>
                </a:solidFill>
                <a:sym typeface="Symbol" panose="05050102010706020507" pitchFamily="18" charset="2"/>
              </a:rPr>
              <a:t>  </a:t>
            </a:r>
            <a:r>
              <a:rPr lang="zh-CN" altLang="en-US" dirty="0" smtClean="0">
                <a:solidFill>
                  <a:schemeClr val="bg2"/>
                </a:solidFill>
              </a:rPr>
              <a:t>符号</a:t>
            </a:r>
            <a:endParaRPr lang="zh-CN" altLang="en-US" dirty="0">
              <a:solidFill>
                <a:schemeClr val="bg2"/>
              </a:solidFill>
            </a:endParaRPr>
          </a:p>
        </p:txBody>
      </p:sp>
      <p:sp>
        <p:nvSpPr>
          <p:cNvPr id="6" name="矩形 5"/>
          <p:cNvSpPr/>
          <p:nvPr/>
        </p:nvSpPr>
        <p:spPr>
          <a:xfrm>
            <a:off x="827584" y="2276872"/>
            <a:ext cx="5256584" cy="936347"/>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rgbClr val="C00000"/>
                </a:solidFill>
                <a:latin typeface="宋体" panose="02010600030101010101" pitchFamily="2" charset="-122"/>
              </a:rPr>
              <a:t>定义：</a:t>
            </a:r>
            <a:r>
              <a:rPr lang="zh-CN" altLang="en-US" dirty="0">
                <a:solidFill>
                  <a:schemeClr val="bg2"/>
                </a:solidFill>
              </a:rPr>
              <a:t>若 </a:t>
            </a: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O </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zh-CN" altLang="en-US" dirty="0">
                <a:solidFill>
                  <a:schemeClr val="bg2"/>
                </a:solidFill>
              </a:rPr>
              <a:t>且 </a:t>
            </a: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sym typeface="Symbol" panose="05050102010706020507" pitchFamily="18" charset="2"/>
              </a:rPr>
              <a:t> </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r>
              <a:rPr lang="zh-CN" altLang="en-US" b="1" dirty="0" smtClean="0">
                <a:solidFill>
                  <a:schemeClr val="bg2"/>
                </a:solidFill>
              </a:rPr>
              <a:t>，</a:t>
            </a:r>
            <a:r>
              <a:rPr lang="zh-CN" altLang="en-US" dirty="0" smtClean="0">
                <a:solidFill>
                  <a:schemeClr val="bg2"/>
                </a:solidFill>
              </a:rPr>
              <a:t>则</a:t>
            </a:r>
            <a:r>
              <a:rPr lang="zh-CN" altLang="en-US" dirty="0">
                <a:solidFill>
                  <a:schemeClr val="bg2"/>
                </a:solidFill>
              </a:rPr>
              <a:t>记作</a:t>
            </a: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sym typeface="Symbol" panose="05050102010706020507" pitchFamily="18" charset="2"/>
              </a:rPr>
              <a:t> </a:t>
            </a:r>
            <a:r>
              <a:rPr lang="en-US" altLang="zh-CN" dirty="0">
                <a:solidFill>
                  <a:schemeClr val="bg2"/>
                </a:solidFill>
              </a:rPr>
              <a:t> </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b="1" dirty="0" smtClean="0">
                <a:solidFill>
                  <a:schemeClr val="bg2"/>
                </a:solidFill>
              </a:rPr>
              <a:t>。</a:t>
            </a:r>
            <a:endParaRPr lang="en-US" altLang="zh-CN" b="1" dirty="0">
              <a:solidFill>
                <a:schemeClr val="bg2"/>
              </a:solidFill>
            </a:endParaRPr>
          </a:p>
        </p:txBody>
      </p:sp>
      <p:sp>
        <p:nvSpPr>
          <p:cNvPr id="4" name="矩形 3"/>
          <p:cNvSpPr/>
          <p:nvPr/>
        </p:nvSpPr>
        <p:spPr>
          <a:xfrm>
            <a:off x="837947" y="3429000"/>
            <a:ext cx="5102205" cy="830997"/>
          </a:xfrm>
          <a:prstGeom prst="rect">
            <a:avLst/>
          </a:prstGeom>
        </p:spPr>
        <p:txBody>
          <a:bodyPr wrap="square">
            <a:spAutoFit/>
          </a:bodyPr>
          <a:lstStyle/>
          <a:p>
            <a:r>
              <a:rPr lang="zh-CN" altLang="en-US" dirty="0" smtClean="0">
                <a:solidFill>
                  <a:schemeClr val="bg2"/>
                </a:solidFill>
              </a:rPr>
              <a:t>例子</a:t>
            </a:r>
            <a:r>
              <a:rPr lang="zh-CN" altLang="en-US" dirty="0">
                <a:solidFill>
                  <a:schemeClr val="bg2"/>
                </a:solidFill>
              </a:rPr>
              <a:t>：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 + </a:t>
            </a:r>
            <a:r>
              <a:rPr lang="en-US" altLang="zh-CN" b="1" i="1" dirty="0">
                <a:solidFill>
                  <a:schemeClr val="bg2"/>
                </a:solidFill>
              </a:rPr>
              <a:t>n</a:t>
            </a:r>
            <a:r>
              <a:rPr lang="en-US" altLang="zh-CN" b="1" dirty="0">
                <a:solidFill>
                  <a:schemeClr val="bg2"/>
                </a:solidFill>
              </a:rPr>
              <a:t>, </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en-US" altLang="zh-CN" b="1" dirty="0" smtClean="0">
                <a:solidFill>
                  <a:schemeClr val="bg2"/>
                </a:solidFill>
              </a:rPr>
              <a:t>=</a:t>
            </a:r>
            <a:r>
              <a:rPr lang="en-US" altLang="zh-CN" b="1" i="1" dirty="0" smtClean="0">
                <a:solidFill>
                  <a:schemeClr val="bg2"/>
                </a:solidFill>
              </a:rPr>
              <a:t>n</a:t>
            </a:r>
            <a:r>
              <a:rPr lang="en-US" altLang="zh-CN" b="1" baseline="30000" dirty="0" smtClean="0">
                <a:solidFill>
                  <a:schemeClr val="bg2"/>
                </a:solidFill>
              </a:rPr>
              <a:t>2</a:t>
            </a:r>
            <a:r>
              <a:rPr lang="zh-CN" altLang="en-US" dirty="0">
                <a:solidFill>
                  <a:schemeClr val="bg2"/>
                </a:solidFill>
              </a:rPr>
              <a:t>，那么</a:t>
            </a:r>
            <a:r>
              <a:rPr lang="zh-CN" altLang="en-US" dirty="0" smtClean="0">
                <a:solidFill>
                  <a:schemeClr val="bg2"/>
                </a:solidFill>
              </a:rPr>
              <a:t>有</a:t>
            </a:r>
            <a:r>
              <a:rPr lang="en-US" altLang="zh-CN" b="1" i="1" dirty="0" smtClean="0">
                <a:solidFill>
                  <a:schemeClr val="bg2"/>
                </a:solidFill>
              </a:rPr>
              <a:t>f</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a:solidFill>
                  <a:schemeClr val="bg2"/>
                </a:solidFill>
                <a:sym typeface="Symbol" panose="05050102010706020507" pitchFamily="18" charset="2"/>
              </a:rPr>
              <a:t> </a:t>
            </a:r>
            <a:r>
              <a:rPr lang="en-US" altLang="zh-CN" dirty="0" smtClean="0">
                <a:solidFill>
                  <a:schemeClr val="bg2"/>
                </a:solidFill>
              </a:rPr>
              <a:t> </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endParaRPr lang="zh-CN" altLang="en-US" dirty="0">
              <a:solidFill>
                <a:schemeClr val="bg2"/>
              </a:solidFill>
            </a:endParaRPr>
          </a:p>
        </p:txBody>
      </p:sp>
      <p:sp>
        <p:nvSpPr>
          <p:cNvPr id="10" name="矩形 9"/>
          <p:cNvSpPr/>
          <p:nvPr/>
        </p:nvSpPr>
        <p:spPr>
          <a:xfrm>
            <a:off x="794004" y="4437112"/>
            <a:ext cx="5290164" cy="1052596"/>
          </a:xfrm>
          <a:prstGeom prst="rect">
            <a:avLst/>
          </a:prstGeom>
        </p:spPr>
        <p:txBody>
          <a:bodyPr wrap="square">
            <a:spAutoFit/>
          </a:bodyPr>
          <a:lstStyle/>
          <a:p>
            <a:pPr>
              <a:lnSpc>
                <a:spcPct val="130000"/>
              </a:lnSpc>
            </a:pPr>
            <a:r>
              <a:rPr lang="en-US" altLang="zh-CN" b="1" dirty="0">
                <a:solidFill>
                  <a:schemeClr val="bg2"/>
                </a:solidFill>
              </a:rPr>
              <a:t>1.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zh-CN" altLang="en-US" dirty="0">
                <a:solidFill>
                  <a:schemeClr val="bg2"/>
                </a:solidFill>
              </a:rPr>
              <a:t>的阶与 </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zh-CN" altLang="en-US" dirty="0">
                <a:solidFill>
                  <a:schemeClr val="bg2"/>
                </a:solidFill>
              </a:rPr>
              <a:t>的阶</a:t>
            </a:r>
            <a:r>
              <a:rPr lang="zh-CN" altLang="en-US" b="1" dirty="0">
                <a:solidFill>
                  <a:srgbClr val="FF0000"/>
                </a:solidFill>
              </a:rPr>
              <a:t>相等</a:t>
            </a:r>
            <a:r>
              <a:rPr lang="en-US" altLang="zh-CN" b="1" dirty="0">
                <a:solidFill>
                  <a:schemeClr val="bg2"/>
                </a:solidFill>
              </a:rPr>
              <a:t>.</a:t>
            </a:r>
            <a:br>
              <a:rPr lang="en-US" altLang="zh-CN" b="1" dirty="0">
                <a:solidFill>
                  <a:schemeClr val="bg2"/>
                </a:solidFill>
              </a:rPr>
            </a:br>
            <a:r>
              <a:rPr lang="en-US" altLang="zh-CN" b="1" dirty="0">
                <a:solidFill>
                  <a:schemeClr val="bg2"/>
                </a:solidFill>
              </a:rPr>
              <a:t>2</a:t>
            </a:r>
            <a:r>
              <a:rPr lang="en-US" altLang="zh-CN" b="1" dirty="0" smtClean="0">
                <a:solidFill>
                  <a:schemeClr val="bg2"/>
                </a:solidFill>
              </a:rPr>
              <a:t>.</a:t>
            </a:r>
            <a:r>
              <a:rPr lang="zh-CN" altLang="en-US" dirty="0">
                <a:solidFill>
                  <a:schemeClr val="bg2"/>
                </a:solidFill>
                <a:latin typeface="宋体" panose="02010600030101010101" pitchFamily="2" charset="-122"/>
              </a:rPr>
              <a:t>对</a:t>
            </a:r>
            <a:r>
              <a:rPr lang="en-US" altLang="zh-CN" b="1" i="1" dirty="0">
                <a:solidFill>
                  <a:schemeClr val="bg2"/>
                </a:solidFill>
                <a:latin typeface="Times New Roman" panose="02020603050405020304"/>
              </a:rPr>
              <a:t>n</a:t>
            </a:r>
            <a:r>
              <a:rPr lang="en-US" altLang="zh-CN" b="1" baseline="-25000" dirty="0">
                <a:solidFill>
                  <a:schemeClr val="bg2"/>
                </a:solidFill>
                <a:latin typeface="Times New Roman" panose="02020603050405020304"/>
              </a:rPr>
              <a:t>0</a:t>
            </a:r>
            <a:r>
              <a:rPr lang="zh-CN" altLang="en-US" dirty="0">
                <a:solidFill>
                  <a:schemeClr val="bg2"/>
                </a:solidFill>
                <a:latin typeface="宋体" panose="02010600030101010101" pitchFamily="2" charset="-122"/>
              </a:rPr>
              <a:t>前面有限个</a:t>
            </a:r>
            <a:r>
              <a:rPr lang="en-US" altLang="zh-CN" b="1" i="1" dirty="0">
                <a:solidFill>
                  <a:schemeClr val="bg2"/>
                </a:solidFill>
                <a:latin typeface="Times New Roman" panose="02020603050405020304"/>
              </a:rPr>
              <a:t>n</a:t>
            </a:r>
            <a:r>
              <a:rPr lang="zh-CN" altLang="en-US" dirty="0">
                <a:solidFill>
                  <a:schemeClr val="bg2"/>
                </a:solidFill>
                <a:latin typeface="宋体" panose="02010600030101010101" pitchFamily="2" charset="-122"/>
              </a:rPr>
              <a:t>值</a:t>
            </a:r>
            <a:r>
              <a:rPr lang="zh-CN" altLang="en-US" dirty="0" smtClean="0">
                <a:solidFill>
                  <a:schemeClr val="bg2"/>
                </a:solidFill>
              </a:rPr>
              <a:t>可以</a:t>
            </a:r>
            <a:r>
              <a:rPr lang="zh-CN" altLang="en-US" dirty="0">
                <a:solidFill>
                  <a:schemeClr val="bg2"/>
                </a:solidFill>
              </a:rPr>
              <a:t>不满足条件</a:t>
            </a:r>
            <a:r>
              <a:rPr lang="en-US" altLang="zh-CN" b="1" dirty="0" smtClean="0">
                <a:solidFill>
                  <a:schemeClr val="bg2"/>
                </a:solidFill>
              </a:rPr>
              <a:t>.</a:t>
            </a:r>
            <a:endParaRPr lang="zh-CN" altLang="en-US" dirty="0"/>
          </a:p>
        </p:txBody>
      </p:sp>
      <p:pic>
        <p:nvPicPr>
          <p:cNvPr id="11"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66969"/>
          <a:stretch>
            <a:fillRect/>
          </a:stretch>
        </p:blipFill>
        <p:spPr bwMode="auto">
          <a:xfrm>
            <a:off x="5975686" y="1758193"/>
            <a:ext cx="2839934"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6" name="矩形 5"/>
          <p:cNvSpPr/>
          <p:nvPr/>
        </p:nvSpPr>
        <p:spPr>
          <a:xfrm>
            <a:off x="593304" y="1526823"/>
            <a:ext cx="5256584" cy="493148"/>
          </a:xfrm>
          <a:prstGeom prst="rect">
            <a:avLst/>
          </a:prstGeom>
        </p:spPr>
        <p:txBody>
          <a:bodyPr wrap="square">
            <a:spAutoFit/>
          </a:bodyPr>
          <a:lstStyle/>
          <a:p>
            <a:pPr>
              <a:lnSpc>
                <a:spcPct val="120000"/>
              </a:lnSpc>
              <a:buFont typeface="Arial" panose="020B0604020202020204" pitchFamily="34" charset="0"/>
              <a:buChar char="•"/>
            </a:pPr>
            <a:r>
              <a:rPr lang="en-US" altLang="zh-CN" b="1" i="1" dirty="0">
                <a:solidFill>
                  <a:schemeClr val="bg2"/>
                </a:solidFill>
                <a:sym typeface="Symbol" panose="05050102010706020507" pitchFamily="18" charset="2"/>
              </a:rPr>
              <a:t></a:t>
            </a:r>
            <a:r>
              <a:rPr lang="zh-CN" altLang="en-US" dirty="0" smtClean="0">
                <a:solidFill>
                  <a:schemeClr val="bg2"/>
                </a:solidFill>
              </a:rPr>
              <a:t>符号</a:t>
            </a:r>
            <a:r>
              <a:rPr lang="zh-CN" altLang="en-US" dirty="0" smtClean="0">
                <a:solidFill>
                  <a:srgbClr val="FF0000"/>
                </a:solidFill>
                <a:latin typeface="宋体" panose="02010600030101010101" pitchFamily="2" charset="-122"/>
              </a:rPr>
              <a:t>举例：</a:t>
            </a:r>
            <a:r>
              <a:rPr lang="zh-CN" altLang="en-US" dirty="0">
                <a:solidFill>
                  <a:schemeClr val="bg2"/>
                </a:solidFill>
              </a:rPr>
              <a:t>素数</a:t>
            </a:r>
            <a:r>
              <a:rPr lang="zh-CN" altLang="en-US" dirty="0" smtClean="0">
                <a:solidFill>
                  <a:schemeClr val="bg2"/>
                </a:solidFill>
              </a:rPr>
              <a:t>测试</a:t>
            </a:r>
            <a:endParaRPr lang="zh-CN" altLang="en-US" dirty="0">
              <a:solidFill>
                <a:schemeClr val="bg2"/>
              </a:solidFill>
            </a:endParaRPr>
          </a:p>
        </p:txBody>
      </p:sp>
      <p:sp>
        <p:nvSpPr>
          <p:cNvPr id="4" name="矩形 3"/>
          <p:cNvSpPr/>
          <p:nvPr/>
        </p:nvSpPr>
        <p:spPr>
          <a:xfrm>
            <a:off x="737320" y="1940639"/>
            <a:ext cx="4176464" cy="3303597"/>
          </a:xfrm>
          <a:prstGeom prst="rect">
            <a:avLst/>
          </a:prstGeom>
        </p:spPr>
        <p:txBody>
          <a:bodyPr wrap="square">
            <a:spAutoFit/>
          </a:bodyPr>
          <a:lstStyle/>
          <a:p>
            <a:pPr>
              <a:lnSpc>
                <a:spcPct val="120000"/>
              </a:lnSpc>
            </a:pPr>
            <a:r>
              <a:rPr lang="zh-CN" altLang="en-US" sz="2200" dirty="0">
                <a:solidFill>
                  <a:schemeClr val="bg2"/>
                </a:solidFill>
              </a:rPr>
              <a:t>算法</a:t>
            </a:r>
            <a:r>
              <a:rPr lang="en-US" altLang="zh-CN" sz="2200" b="1" dirty="0" err="1">
                <a:solidFill>
                  <a:schemeClr val="bg2"/>
                </a:solidFill>
              </a:rPr>
              <a:t>PrimalityTest</a:t>
            </a:r>
            <a:r>
              <a:rPr lang="en-US" altLang="zh-CN" sz="2200" b="1" dirty="0">
                <a:solidFill>
                  <a:schemeClr val="bg2"/>
                </a:solidFill>
              </a:rPr>
              <a:t>(</a:t>
            </a:r>
            <a:r>
              <a:rPr lang="en-US" altLang="zh-CN" sz="2200" b="1" i="1" dirty="0">
                <a:solidFill>
                  <a:schemeClr val="bg2"/>
                </a:solidFill>
              </a:rPr>
              <a:t>n</a:t>
            </a:r>
            <a:r>
              <a:rPr lang="en-US" altLang="zh-CN" sz="2200" b="1" dirty="0">
                <a:solidFill>
                  <a:schemeClr val="bg2"/>
                </a:solidFill>
              </a:rPr>
              <a:t>)</a:t>
            </a:r>
            <a:br>
              <a:rPr lang="en-US" altLang="zh-CN" sz="2200" b="1" dirty="0">
                <a:solidFill>
                  <a:schemeClr val="bg2"/>
                </a:solidFill>
              </a:rPr>
            </a:br>
            <a:r>
              <a:rPr lang="zh-CN" altLang="en-US" sz="2200" dirty="0">
                <a:solidFill>
                  <a:schemeClr val="bg2"/>
                </a:solidFill>
              </a:rPr>
              <a:t>输入： </a:t>
            </a:r>
            <a:r>
              <a:rPr lang="en-US" altLang="zh-CN" sz="2200" b="1" i="1" dirty="0">
                <a:solidFill>
                  <a:schemeClr val="bg2"/>
                </a:solidFill>
              </a:rPr>
              <a:t>n</a:t>
            </a:r>
            <a:r>
              <a:rPr lang="en-US" altLang="zh-CN" sz="2200" b="1" dirty="0">
                <a:solidFill>
                  <a:schemeClr val="bg2"/>
                </a:solidFill>
              </a:rPr>
              <a:t>,</a:t>
            </a:r>
            <a:r>
              <a:rPr lang="zh-CN" altLang="en-US" sz="2200" dirty="0">
                <a:solidFill>
                  <a:schemeClr val="bg2"/>
                </a:solidFill>
              </a:rPr>
              <a:t>大于</a:t>
            </a:r>
            <a:r>
              <a:rPr lang="en-US" altLang="zh-CN" sz="2200" b="1" dirty="0">
                <a:solidFill>
                  <a:schemeClr val="bg2"/>
                </a:solidFill>
              </a:rPr>
              <a:t>2</a:t>
            </a:r>
            <a:r>
              <a:rPr lang="zh-CN" altLang="en-US" sz="2200" dirty="0">
                <a:solidFill>
                  <a:schemeClr val="bg2"/>
                </a:solidFill>
              </a:rPr>
              <a:t>的奇整数</a:t>
            </a:r>
            <a:br>
              <a:rPr lang="zh-CN" altLang="en-US" sz="2200" dirty="0">
                <a:solidFill>
                  <a:schemeClr val="bg2"/>
                </a:solidFill>
              </a:rPr>
            </a:br>
            <a:r>
              <a:rPr lang="zh-CN" altLang="en-US" sz="2200" dirty="0">
                <a:solidFill>
                  <a:schemeClr val="bg2"/>
                </a:solidFill>
              </a:rPr>
              <a:t>输出： </a:t>
            </a:r>
            <a:r>
              <a:rPr lang="en-US" altLang="zh-CN" sz="2200" b="1" dirty="0">
                <a:solidFill>
                  <a:schemeClr val="bg2"/>
                </a:solidFill>
              </a:rPr>
              <a:t>true </a:t>
            </a:r>
            <a:r>
              <a:rPr lang="zh-CN" altLang="en-US" sz="2200" dirty="0">
                <a:solidFill>
                  <a:schemeClr val="bg2"/>
                </a:solidFill>
              </a:rPr>
              <a:t>或者</a:t>
            </a:r>
            <a:r>
              <a:rPr lang="en-US" altLang="zh-CN" sz="2200" b="1" dirty="0">
                <a:solidFill>
                  <a:schemeClr val="bg2"/>
                </a:solidFill>
              </a:rPr>
              <a:t>false</a:t>
            </a:r>
            <a:br>
              <a:rPr lang="en-US" altLang="zh-CN" sz="2200" b="1" dirty="0">
                <a:solidFill>
                  <a:schemeClr val="bg2"/>
                </a:solidFill>
              </a:rPr>
            </a:br>
            <a:r>
              <a:rPr lang="en-US" altLang="zh-CN" sz="2200" b="1" dirty="0">
                <a:solidFill>
                  <a:schemeClr val="bg2"/>
                </a:solidFill>
              </a:rPr>
              <a:t>1</a:t>
            </a:r>
            <a:r>
              <a:rPr lang="zh-CN" altLang="en-US" sz="2200" dirty="0">
                <a:solidFill>
                  <a:schemeClr val="bg2"/>
                </a:solidFill>
              </a:rPr>
              <a:t>． </a:t>
            </a:r>
            <a:r>
              <a:rPr lang="en-US" altLang="zh-CN" sz="2200" b="1" i="1" dirty="0" err="1" smtClean="0">
                <a:solidFill>
                  <a:schemeClr val="bg2"/>
                </a:solidFill>
              </a:rPr>
              <a:t>s←</a:t>
            </a:r>
            <a:r>
              <a:rPr lang="en-US" altLang="zh-CN" sz="2200" b="1" dirty="0" err="1" smtClean="0">
                <a:solidFill>
                  <a:schemeClr val="bg2"/>
                </a:solidFill>
              </a:rPr>
              <a:t>int</a:t>
            </a:r>
            <a:r>
              <a:rPr lang="en-US" altLang="zh-CN" sz="2200" b="1" i="1" dirty="0" smtClean="0">
                <a:solidFill>
                  <a:schemeClr val="bg2"/>
                </a:solidFill>
              </a:rPr>
              <a:t>(n</a:t>
            </a:r>
            <a:r>
              <a:rPr lang="en-US" altLang="zh-CN" sz="2200" b="1" baseline="30000" dirty="0" smtClean="0">
                <a:solidFill>
                  <a:schemeClr val="bg2"/>
                </a:solidFill>
              </a:rPr>
              <a:t>1/2</a:t>
            </a:r>
            <a:r>
              <a:rPr lang="en-US" altLang="zh-CN" sz="2200" b="1" dirty="0" smtClean="0">
                <a:solidFill>
                  <a:schemeClr val="bg2"/>
                </a:solidFill>
              </a:rPr>
              <a:t>)</a:t>
            </a:r>
            <a:r>
              <a:rPr lang="en-US" altLang="zh-CN" sz="2200" dirty="0" smtClean="0">
                <a:solidFill>
                  <a:schemeClr val="bg2"/>
                </a:solidFill>
              </a:rPr>
              <a:t></a:t>
            </a:r>
            <a:br>
              <a:rPr lang="en-US" altLang="zh-CN" sz="2200" dirty="0">
                <a:solidFill>
                  <a:schemeClr val="bg2"/>
                </a:solidFill>
              </a:rPr>
            </a:br>
            <a:r>
              <a:rPr lang="en-US" altLang="zh-CN" sz="2200" b="1" dirty="0">
                <a:solidFill>
                  <a:schemeClr val="bg2"/>
                </a:solidFill>
              </a:rPr>
              <a:t>2</a:t>
            </a:r>
            <a:r>
              <a:rPr lang="zh-CN" altLang="en-US" sz="2200" dirty="0">
                <a:solidFill>
                  <a:schemeClr val="bg2"/>
                </a:solidFill>
              </a:rPr>
              <a:t>． </a:t>
            </a:r>
            <a:r>
              <a:rPr lang="en-US" altLang="zh-CN" sz="2200" b="1" dirty="0">
                <a:solidFill>
                  <a:schemeClr val="bg2"/>
                </a:solidFill>
              </a:rPr>
              <a:t>for </a:t>
            </a:r>
            <a:r>
              <a:rPr lang="en-US" altLang="zh-CN" sz="2200" b="1" i="1" dirty="0" smtClean="0">
                <a:solidFill>
                  <a:schemeClr val="bg2"/>
                </a:solidFill>
              </a:rPr>
              <a:t>j</a:t>
            </a:r>
            <a:r>
              <a:rPr lang="en-US" altLang="zh-CN" sz="2200" b="1" i="1" dirty="0">
                <a:solidFill>
                  <a:schemeClr val="bg2"/>
                </a:solidFill>
              </a:rPr>
              <a:t> ← </a:t>
            </a:r>
            <a:r>
              <a:rPr lang="en-US" altLang="zh-CN" sz="2200" b="1" dirty="0" smtClean="0">
                <a:solidFill>
                  <a:schemeClr val="bg2"/>
                </a:solidFill>
              </a:rPr>
              <a:t>2 </a:t>
            </a:r>
            <a:r>
              <a:rPr lang="en-US" altLang="zh-CN" sz="2200" b="1" dirty="0">
                <a:solidFill>
                  <a:schemeClr val="bg2"/>
                </a:solidFill>
              </a:rPr>
              <a:t>to </a:t>
            </a:r>
            <a:r>
              <a:rPr lang="en-US" altLang="zh-CN" sz="2200" b="1" i="1" dirty="0">
                <a:solidFill>
                  <a:schemeClr val="bg2"/>
                </a:solidFill>
              </a:rPr>
              <a:t>s</a:t>
            </a:r>
            <a:br>
              <a:rPr lang="en-US" altLang="zh-CN" sz="2200" b="1" i="1" dirty="0">
                <a:solidFill>
                  <a:schemeClr val="bg2"/>
                </a:solidFill>
              </a:rPr>
            </a:br>
            <a:r>
              <a:rPr lang="en-US" altLang="zh-CN" sz="2200" b="1" dirty="0">
                <a:solidFill>
                  <a:schemeClr val="bg2"/>
                </a:solidFill>
              </a:rPr>
              <a:t>3</a:t>
            </a:r>
            <a:r>
              <a:rPr lang="zh-CN" altLang="en-US" sz="2200" dirty="0">
                <a:solidFill>
                  <a:schemeClr val="bg2"/>
                </a:solidFill>
              </a:rPr>
              <a:t>． </a:t>
            </a:r>
            <a:r>
              <a:rPr lang="zh-CN" altLang="en-US" sz="2200" dirty="0" smtClean="0">
                <a:solidFill>
                  <a:schemeClr val="bg2"/>
                </a:solidFill>
              </a:rPr>
              <a:t>      </a:t>
            </a:r>
            <a:r>
              <a:rPr lang="en-US" altLang="zh-CN" sz="2200" b="1" dirty="0" smtClean="0">
                <a:solidFill>
                  <a:schemeClr val="bg2"/>
                </a:solidFill>
              </a:rPr>
              <a:t>if  </a:t>
            </a:r>
            <a:r>
              <a:rPr lang="en-US" altLang="zh-CN" sz="2200" b="1" i="1" dirty="0" smtClean="0">
                <a:solidFill>
                  <a:schemeClr val="bg2"/>
                </a:solidFill>
              </a:rPr>
              <a:t>j </a:t>
            </a:r>
            <a:r>
              <a:rPr lang="zh-CN" altLang="en-US" sz="2200" dirty="0">
                <a:solidFill>
                  <a:schemeClr val="bg2"/>
                </a:solidFill>
              </a:rPr>
              <a:t>整除 </a:t>
            </a:r>
            <a:r>
              <a:rPr lang="en-US" altLang="zh-CN" sz="2200" b="1" i="1" dirty="0">
                <a:solidFill>
                  <a:schemeClr val="bg2"/>
                </a:solidFill>
              </a:rPr>
              <a:t>n</a:t>
            </a:r>
            <a:br>
              <a:rPr lang="en-US" altLang="zh-CN" sz="2200" b="1" i="1" dirty="0">
                <a:solidFill>
                  <a:schemeClr val="bg2"/>
                </a:solidFill>
              </a:rPr>
            </a:br>
            <a:r>
              <a:rPr lang="en-US" altLang="zh-CN" sz="2200" b="1" dirty="0">
                <a:solidFill>
                  <a:schemeClr val="bg2"/>
                </a:solidFill>
              </a:rPr>
              <a:t>4</a:t>
            </a:r>
            <a:r>
              <a:rPr lang="zh-CN" altLang="en-US" sz="2200" dirty="0">
                <a:solidFill>
                  <a:schemeClr val="bg2"/>
                </a:solidFill>
              </a:rPr>
              <a:t>． </a:t>
            </a:r>
            <a:r>
              <a:rPr lang="zh-CN" altLang="en-US" sz="2200" dirty="0" smtClean="0">
                <a:solidFill>
                  <a:schemeClr val="bg2"/>
                </a:solidFill>
              </a:rPr>
              <a:t>            </a:t>
            </a:r>
            <a:r>
              <a:rPr lang="en-US" altLang="zh-CN" sz="2200" b="1" dirty="0" smtClean="0">
                <a:solidFill>
                  <a:schemeClr val="bg2"/>
                </a:solidFill>
              </a:rPr>
              <a:t>then </a:t>
            </a:r>
            <a:r>
              <a:rPr lang="en-US" altLang="zh-CN" sz="2200" b="1" dirty="0">
                <a:solidFill>
                  <a:schemeClr val="bg2"/>
                </a:solidFill>
              </a:rPr>
              <a:t>return false</a:t>
            </a:r>
            <a:br>
              <a:rPr lang="en-US" altLang="zh-CN" sz="2200" b="1" dirty="0">
                <a:solidFill>
                  <a:schemeClr val="bg2"/>
                </a:solidFill>
              </a:rPr>
            </a:br>
            <a:r>
              <a:rPr lang="en-US" altLang="zh-CN" sz="2200" b="1" dirty="0">
                <a:solidFill>
                  <a:schemeClr val="bg2"/>
                </a:solidFill>
              </a:rPr>
              <a:t>5</a:t>
            </a:r>
            <a:r>
              <a:rPr lang="zh-CN" altLang="en-US" sz="2200" dirty="0">
                <a:solidFill>
                  <a:schemeClr val="bg2"/>
                </a:solidFill>
              </a:rPr>
              <a:t>． </a:t>
            </a:r>
            <a:r>
              <a:rPr lang="en-US" altLang="zh-CN" sz="2200" b="1" dirty="0">
                <a:solidFill>
                  <a:schemeClr val="bg2"/>
                </a:solidFill>
              </a:rPr>
              <a:t>return true</a:t>
            </a:r>
            <a:r>
              <a:rPr lang="en-US" altLang="zh-CN" sz="2200" dirty="0">
                <a:solidFill>
                  <a:schemeClr val="bg2"/>
                </a:solidFill>
              </a:rPr>
              <a:t> </a:t>
            </a:r>
            <a:endParaRPr lang="zh-CN" altLang="en-US" sz="2200" dirty="0">
              <a:solidFill>
                <a:schemeClr val="bg2"/>
              </a:solidFill>
            </a:endParaRPr>
          </a:p>
        </p:txBody>
      </p:sp>
      <p:sp>
        <p:nvSpPr>
          <p:cNvPr id="7" name="矩形 6"/>
          <p:cNvSpPr/>
          <p:nvPr/>
        </p:nvSpPr>
        <p:spPr>
          <a:xfrm>
            <a:off x="5057800" y="1796623"/>
            <a:ext cx="3168352" cy="3194721"/>
          </a:xfrm>
          <a:prstGeom prst="rect">
            <a:avLst/>
          </a:prstGeom>
        </p:spPr>
        <p:txBody>
          <a:bodyPr wrap="square">
            <a:spAutoFit/>
          </a:bodyPr>
          <a:lstStyle/>
          <a:p>
            <a:pPr>
              <a:lnSpc>
                <a:spcPct val="120000"/>
              </a:lnSpc>
            </a:pPr>
            <a:r>
              <a:rPr lang="zh-CN" altLang="en-US" dirty="0">
                <a:solidFill>
                  <a:schemeClr val="bg2"/>
                </a:solidFill>
              </a:rPr>
              <a:t>问题：</a:t>
            </a:r>
            <a:br>
              <a:rPr lang="zh-CN" altLang="en-US" dirty="0">
                <a:solidFill>
                  <a:schemeClr val="bg2"/>
                </a:solidFill>
              </a:rPr>
            </a:br>
            <a:r>
              <a:rPr lang="zh-CN" altLang="en-US" dirty="0">
                <a:solidFill>
                  <a:schemeClr val="bg2"/>
                </a:solidFill>
              </a:rPr>
              <a:t>若</a:t>
            </a:r>
            <a:r>
              <a:rPr lang="en-US" altLang="zh-CN" b="1" i="1" dirty="0">
                <a:solidFill>
                  <a:schemeClr val="bg2"/>
                </a:solidFill>
              </a:rPr>
              <a:t>n</a:t>
            </a:r>
            <a:r>
              <a:rPr lang="en-US" altLang="zh-CN" b="1" baseline="30000" dirty="0">
                <a:solidFill>
                  <a:schemeClr val="bg2"/>
                </a:solidFill>
              </a:rPr>
              <a:t>1/2</a:t>
            </a:r>
            <a:r>
              <a:rPr lang="en-US" altLang="zh-CN" b="1" dirty="0">
                <a:solidFill>
                  <a:schemeClr val="bg2"/>
                </a:solidFill>
              </a:rPr>
              <a:t> </a:t>
            </a:r>
            <a:r>
              <a:rPr lang="zh-CN" altLang="en-US" dirty="0">
                <a:solidFill>
                  <a:schemeClr val="bg2"/>
                </a:solidFill>
              </a:rPr>
              <a:t>可在</a:t>
            </a:r>
            <a:r>
              <a:rPr lang="en-US" altLang="zh-CN" b="1" i="1" dirty="0">
                <a:solidFill>
                  <a:schemeClr val="bg2"/>
                </a:solidFill>
              </a:rPr>
              <a:t>O</a:t>
            </a:r>
            <a:r>
              <a:rPr lang="en-US" altLang="zh-CN" b="1" dirty="0">
                <a:solidFill>
                  <a:schemeClr val="bg2"/>
                </a:solidFill>
              </a:rPr>
              <a:t>(1</a:t>
            </a:r>
            <a:r>
              <a:rPr lang="en-US" altLang="zh-CN" b="1" dirty="0" smtClean="0">
                <a:solidFill>
                  <a:schemeClr val="bg2"/>
                </a:solidFill>
              </a:rPr>
              <a:t>)</a:t>
            </a:r>
            <a:r>
              <a:rPr lang="zh-CN" altLang="en-US" dirty="0" smtClean="0">
                <a:solidFill>
                  <a:schemeClr val="bg2"/>
                </a:solidFill>
              </a:rPr>
              <a:t>计算，基本运算是整除</a:t>
            </a:r>
            <a:r>
              <a:rPr lang="zh-CN" altLang="en-US" b="1" dirty="0">
                <a:solidFill>
                  <a:schemeClr val="bg2"/>
                </a:solidFill>
              </a:rPr>
              <a:t>，</a:t>
            </a:r>
            <a:r>
              <a:rPr lang="zh-CN" altLang="en-US" dirty="0" smtClean="0">
                <a:solidFill>
                  <a:schemeClr val="bg2"/>
                </a:solidFill>
              </a:rPr>
              <a:t>以下表示</a:t>
            </a:r>
            <a:r>
              <a:rPr lang="zh-CN" altLang="en-US" dirty="0">
                <a:solidFill>
                  <a:schemeClr val="bg2"/>
                </a:solidFill>
              </a:rPr>
              <a:t>是否正确</a:t>
            </a:r>
            <a:r>
              <a:rPr lang="zh-CN" altLang="en-US" dirty="0" smtClean="0">
                <a:solidFill>
                  <a:schemeClr val="bg2"/>
                </a:solidFill>
              </a:rPr>
              <a:t>？</a:t>
            </a:r>
            <a:br>
              <a:rPr lang="zh-CN" altLang="en-US" dirty="0">
                <a:solidFill>
                  <a:schemeClr val="bg2"/>
                </a:solidFill>
              </a:rPr>
            </a:br>
            <a:r>
              <a:rPr lang="zh-CN" altLang="en-US" dirty="0" smtClean="0">
                <a:solidFill>
                  <a:schemeClr val="bg2"/>
                </a:solidFill>
              </a:rPr>
              <a:t>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a:t>
            </a:r>
            <a:r>
              <a:rPr lang="en-US" altLang="zh-CN" b="1" i="1" dirty="0">
                <a:solidFill>
                  <a:schemeClr val="bg2"/>
                </a:solidFill>
              </a:rPr>
              <a:t>O</a:t>
            </a:r>
            <a:r>
              <a:rPr lang="en-US" altLang="zh-CN" b="1" dirty="0">
                <a:solidFill>
                  <a:schemeClr val="bg2"/>
                </a:solidFill>
              </a:rPr>
              <a:t>(</a:t>
            </a:r>
            <a:r>
              <a:rPr lang="en-US" altLang="zh-CN" b="1" i="1" dirty="0">
                <a:solidFill>
                  <a:schemeClr val="bg2"/>
                </a:solidFill>
              </a:rPr>
              <a:t>n</a:t>
            </a:r>
            <a:r>
              <a:rPr lang="en-US" altLang="zh-CN" b="1" baseline="30000" dirty="0">
                <a:solidFill>
                  <a:schemeClr val="bg2"/>
                </a:solidFill>
              </a:rPr>
              <a:t>1/2</a:t>
            </a:r>
            <a:r>
              <a:rPr lang="en-US" altLang="zh-CN" b="1" dirty="0" smtClean="0">
                <a:solidFill>
                  <a:schemeClr val="bg2"/>
                </a:solidFill>
              </a:rPr>
              <a:t>)</a:t>
            </a:r>
            <a:endParaRPr lang="en-US" altLang="zh-CN" b="1" dirty="0" smtClean="0">
              <a:solidFill>
                <a:schemeClr val="bg2"/>
              </a:solidFill>
            </a:endParaRPr>
          </a:p>
          <a:p>
            <a:pPr>
              <a:lnSpc>
                <a:spcPct val="120000"/>
              </a:lnSpc>
            </a:pPr>
            <a:r>
              <a:rPr lang="en-US" altLang="zh-CN" b="1" i="1" dirty="0" smtClean="0">
                <a:solidFill>
                  <a:schemeClr val="bg2"/>
                </a:solidFill>
              </a:rPr>
              <a:t>    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cs typeface="Consolas" panose="020B0609020204030204" pitchFamily="49" charset="0"/>
                <a:sym typeface="Symbol" panose="05050102010706020507"/>
              </a:rPr>
              <a:t></a:t>
            </a:r>
            <a:r>
              <a:rPr lang="en-US" altLang="zh-CN" b="1" dirty="0" smtClean="0">
                <a:solidFill>
                  <a:schemeClr val="bg2"/>
                </a:solidFill>
              </a:rPr>
              <a:t>(</a:t>
            </a:r>
            <a:r>
              <a:rPr lang="en-US" altLang="zh-CN" b="1" i="1" dirty="0">
                <a:solidFill>
                  <a:schemeClr val="bg2"/>
                </a:solidFill>
              </a:rPr>
              <a:t>n</a:t>
            </a:r>
            <a:r>
              <a:rPr lang="en-US" altLang="zh-CN" b="1" baseline="30000" dirty="0">
                <a:solidFill>
                  <a:schemeClr val="bg2"/>
                </a:solidFill>
              </a:rPr>
              <a:t>1/2</a:t>
            </a:r>
            <a:r>
              <a:rPr lang="en-US" altLang="zh-CN" b="1" dirty="0" smtClean="0">
                <a:solidFill>
                  <a:schemeClr val="bg2"/>
                </a:solidFill>
              </a:rPr>
              <a:t>)</a:t>
            </a:r>
            <a:br>
              <a:rPr lang="en-US" altLang="zh-CN" b="1" dirty="0">
                <a:solidFill>
                  <a:schemeClr val="bg2"/>
                </a:solidFill>
              </a:rPr>
            </a:br>
            <a:r>
              <a:rPr lang="en-US" altLang="zh-CN" b="1" dirty="0" smtClean="0">
                <a:solidFill>
                  <a:schemeClr val="bg2"/>
                </a:solidFill>
              </a:rPr>
              <a:t>    </a:t>
            </a:r>
            <a:r>
              <a:rPr lang="en-US" altLang="zh-CN" b="1" i="1" dirty="0" smtClean="0">
                <a:solidFill>
                  <a:schemeClr val="bg2"/>
                </a:solidFill>
              </a:rPr>
              <a:t>W</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sym typeface="Symbol" panose="05050102010706020507" pitchFamily="18" charset="2"/>
              </a:rPr>
              <a:t> </a:t>
            </a:r>
            <a:r>
              <a:rPr lang="en-US" altLang="zh-CN" b="1" dirty="0" smtClean="0">
                <a:solidFill>
                  <a:schemeClr val="bg2"/>
                </a:solidFill>
              </a:rPr>
              <a:t>(</a:t>
            </a:r>
            <a:r>
              <a:rPr lang="en-US" altLang="zh-CN" b="1" i="1" dirty="0">
                <a:solidFill>
                  <a:schemeClr val="bg2"/>
                </a:solidFill>
              </a:rPr>
              <a:t>n</a:t>
            </a:r>
            <a:r>
              <a:rPr lang="en-US" altLang="zh-CN" b="1" baseline="30000" dirty="0">
                <a:solidFill>
                  <a:schemeClr val="bg2"/>
                </a:solidFill>
              </a:rPr>
              <a:t>1/2</a:t>
            </a:r>
            <a:r>
              <a:rPr lang="en-US" altLang="zh-CN" b="1" dirty="0">
                <a:solidFill>
                  <a:schemeClr val="bg2"/>
                </a:solidFill>
              </a:rPr>
              <a:t>)</a:t>
            </a:r>
            <a:r>
              <a:rPr lang="en-US" altLang="zh-CN" dirty="0">
                <a:solidFill>
                  <a:schemeClr val="bg2"/>
                </a:solidFill>
              </a:rPr>
              <a:t> </a:t>
            </a:r>
            <a:endParaRPr lang="zh-CN" altLang="en-US" dirty="0">
              <a:solidFill>
                <a:schemeClr val="bg2"/>
              </a:solidFill>
            </a:endParaRPr>
          </a:p>
        </p:txBody>
      </p:sp>
      <p:sp>
        <p:nvSpPr>
          <p:cNvPr id="8" name="矩形 7"/>
          <p:cNvSpPr/>
          <p:nvPr/>
        </p:nvSpPr>
        <p:spPr>
          <a:xfrm>
            <a:off x="539552" y="5186575"/>
            <a:ext cx="8118648" cy="978729"/>
          </a:xfrm>
          <a:prstGeom prst="rect">
            <a:avLst/>
          </a:prstGeom>
          <a:solidFill>
            <a:schemeClr val="tx1"/>
          </a:solidFill>
        </p:spPr>
        <p:txBody>
          <a:bodyPr wrap="square">
            <a:spAutoFit/>
          </a:bodyPr>
          <a:lstStyle/>
          <a:p>
            <a:pPr>
              <a:lnSpc>
                <a:spcPct val="120000"/>
              </a:lnSpc>
            </a:pPr>
            <a:r>
              <a:rPr lang="en-US" altLang="zh-CN" b="1" i="1" dirty="0" smtClean="0">
                <a:solidFill>
                  <a:schemeClr val="bg2"/>
                </a:solidFill>
                <a:sym typeface="Symbol" panose="05050102010706020507" pitchFamily="18" charset="2"/>
              </a:rPr>
              <a:t></a:t>
            </a:r>
            <a:r>
              <a:rPr lang="zh-CN" altLang="en-US" dirty="0" smtClean="0">
                <a:solidFill>
                  <a:schemeClr val="bg2"/>
                </a:solidFill>
                <a:cs typeface="Consolas" panose="020B0609020204030204" pitchFamily="49" charset="0"/>
              </a:rPr>
              <a:t>符号</a:t>
            </a:r>
            <a:r>
              <a:rPr lang="zh-CN" altLang="en-US" dirty="0">
                <a:solidFill>
                  <a:schemeClr val="bg2"/>
                </a:solidFill>
                <a:cs typeface="Consolas" panose="020B0609020204030204" pitchFamily="49" charset="0"/>
              </a:rPr>
              <a:t>比</a:t>
            </a:r>
            <a:r>
              <a:rPr lang="zh-CN" altLang="en-US" dirty="0" smtClean="0">
                <a:solidFill>
                  <a:schemeClr val="bg2"/>
                </a:solidFill>
                <a:cs typeface="Consolas" panose="020B0609020204030204" pitchFamily="49" charset="0"/>
              </a:rPr>
              <a:t>大</a:t>
            </a:r>
            <a:r>
              <a:rPr lang="en-US" altLang="zh-CN" b="1" i="1" dirty="0">
                <a:solidFill>
                  <a:schemeClr val="bg2"/>
                </a:solidFill>
              </a:rPr>
              <a:t>O</a:t>
            </a:r>
            <a:r>
              <a:rPr lang="zh-CN" altLang="en-US" dirty="0" smtClean="0">
                <a:solidFill>
                  <a:schemeClr val="bg2"/>
                </a:solidFill>
                <a:cs typeface="Consolas" panose="020B0609020204030204" pitchFamily="49" charset="0"/>
              </a:rPr>
              <a:t>符号</a:t>
            </a:r>
            <a:r>
              <a:rPr lang="zh-CN" altLang="pt-BR" dirty="0">
                <a:solidFill>
                  <a:schemeClr val="bg2"/>
                </a:solidFill>
                <a:cs typeface="Consolas" panose="020B0609020204030204" pitchFamily="49" charset="0"/>
              </a:rPr>
              <a:t>和</a:t>
            </a:r>
            <a:r>
              <a:rPr lang="zh-CN" altLang="pt-BR" dirty="0" smtClean="0">
                <a:solidFill>
                  <a:schemeClr val="bg2"/>
                </a:solidFill>
                <a:cs typeface="Consolas" panose="020B0609020204030204" pitchFamily="49" charset="0"/>
              </a:rPr>
              <a:t>大</a:t>
            </a:r>
            <a:r>
              <a:rPr lang="en-US" altLang="zh-CN" b="1" i="1" dirty="0">
                <a:solidFill>
                  <a:schemeClr val="bg2"/>
                </a:solidFill>
                <a:cs typeface="Consolas" panose="020B0609020204030204" pitchFamily="49" charset="0"/>
                <a:sym typeface="Symbol" panose="05050102010706020507"/>
              </a:rPr>
              <a:t></a:t>
            </a:r>
            <a:r>
              <a:rPr lang="zh-CN" altLang="en-US" dirty="0" smtClean="0">
                <a:solidFill>
                  <a:schemeClr val="bg2"/>
                </a:solidFill>
                <a:cs typeface="Consolas" panose="020B0609020204030204" pitchFamily="49" charset="0"/>
              </a:rPr>
              <a:t>符号</a:t>
            </a:r>
            <a:r>
              <a:rPr lang="zh-CN" altLang="en-US" dirty="0">
                <a:solidFill>
                  <a:schemeClr val="bg2"/>
                </a:solidFill>
                <a:cs typeface="Consolas" panose="020B0609020204030204" pitchFamily="49" charset="0"/>
              </a:rPr>
              <a:t>都精确</a:t>
            </a:r>
            <a:r>
              <a:rPr lang="zh-CN" altLang="pt-BR"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f</a:t>
            </a:r>
            <a:r>
              <a:rPr lang="pt-BR" altLang="zh-CN"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n</a:t>
            </a:r>
            <a:r>
              <a:rPr lang="pt-BR" altLang="zh-CN" dirty="0" smtClean="0">
                <a:solidFill>
                  <a:schemeClr val="bg2"/>
                </a:solidFill>
                <a:cs typeface="Consolas" panose="020B0609020204030204" pitchFamily="49" charset="0"/>
              </a:rPr>
              <a:t>)=</a:t>
            </a:r>
            <a:r>
              <a:rPr lang="en-US" altLang="zh-CN" b="1" i="1" dirty="0">
                <a:solidFill>
                  <a:schemeClr val="bg2"/>
                </a:solidFill>
                <a:sym typeface="Symbol" panose="05050102010706020507" pitchFamily="18" charset="2"/>
              </a:rPr>
              <a:t> </a:t>
            </a:r>
            <a:r>
              <a:rPr lang="pt-BR" altLang="zh-CN" dirty="0" smtClean="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g</a:t>
            </a:r>
            <a:r>
              <a:rPr lang="pt-BR" altLang="zh-CN"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n</a:t>
            </a:r>
            <a:r>
              <a:rPr lang="pt-BR" altLang="zh-CN" dirty="0">
                <a:solidFill>
                  <a:schemeClr val="bg2"/>
                </a:solidFill>
                <a:cs typeface="Consolas" panose="020B0609020204030204" pitchFamily="49" charset="0"/>
              </a:rPr>
              <a:t>)</a:t>
            </a:r>
            <a:r>
              <a:rPr lang="zh-CN" altLang="pt-BR" dirty="0">
                <a:solidFill>
                  <a:schemeClr val="bg2"/>
                </a:solidFill>
                <a:cs typeface="Consolas" panose="020B0609020204030204" pitchFamily="49" charset="0"/>
              </a:rPr>
              <a:t>，当且仅当</a:t>
            </a:r>
            <a:r>
              <a:rPr lang="pt-BR" altLang="zh-CN" i="1" dirty="0">
                <a:solidFill>
                  <a:schemeClr val="bg2"/>
                </a:solidFill>
                <a:cs typeface="Consolas" panose="020B0609020204030204" pitchFamily="49" charset="0"/>
              </a:rPr>
              <a:t>g</a:t>
            </a:r>
            <a:r>
              <a:rPr lang="pt-BR" altLang="zh-CN"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n</a:t>
            </a:r>
            <a:r>
              <a:rPr lang="pt-BR" altLang="zh-CN" dirty="0">
                <a:solidFill>
                  <a:schemeClr val="bg2"/>
                </a:solidFill>
                <a:cs typeface="Consolas" panose="020B0609020204030204" pitchFamily="49" charset="0"/>
              </a:rPr>
              <a:t>)</a:t>
            </a:r>
            <a:r>
              <a:rPr lang="zh-CN" altLang="pt-BR" dirty="0">
                <a:solidFill>
                  <a:schemeClr val="bg2"/>
                </a:solidFill>
                <a:cs typeface="Consolas" panose="020B0609020204030204" pitchFamily="49" charset="0"/>
              </a:rPr>
              <a:t>既是</a:t>
            </a:r>
            <a:r>
              <a:rPr lang="pt-BR" altLang="zh-CN" i="1" dirty="0">
                <a:solidFill>
                  <a:schemeClr val="bg2"/>
                </a:solidFill>
                <a:cs typeface="Consolas" panose="020B0609020204030204" pitchFamily="49" charset="0"/>
              </a:rPr>
              <a:t>f</a:t>
            </a:r>
            <a:r>
              <a:rPr lang="pt-BR" altLang="zh-CN"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n</a:t>
            </a:r>
            <a:r>
              <a:rPr lang="pt-BR" altLang="zh-CN" dirty="0">
                <a:solidFill>
                  <a:schemeClr val="bg2"/>
                </a:solidFill>
                <a:cs typeface="Consolas" panose="020B0609020204030204" pitchFamily="49" charset="0"/>
              </a:rPr>
              <a:t>)</a:t>
            </a:r>
            <a:r>
              <a:rPr lang="zh-CN" altLang="pt-BR" dirty="0">
                <a:solidFill>
                  <a:schemeClr val="bg2"/>
                </a:solidFill>
                <a:cs typeface="Consolas" panose="020B0609020204030204" pitchFamily="49" charset="0"/>
              </a:rPr>
              <a:t>的上界又是</a:t>
            </a:r>
            <a:r>
              <a:rPr lang="pt-BR" altLang="zh-CN" i="1" dirty="0">
                <a:solidFill>
                  <a:schemeClr val="bg2"/>
                </a:solidFill>
                <a:cs typeface="Consolas" panose="020B0609020204030204" pitchFamily="49" charset="0"/>
              </a:rPr>
              <a:t>f</a:t>
            </a:r>
            <a:r>
              <a:rPr lang="pt-BR" altLang="zh-CN" dirty="0">
                <a:solidFill>
                  <a:schemeClr val="bg2"/>
                </a:solidFill>
                <a:cs typeface="Consolas" panose="020B0609020204030204" pitchFamily="49" charset="0"/>
              </a:rPr>
              <a:t>(</a:t>
            </a:r>
            <a:r>
              <a:rPr lang="pt-BR" altLang="zh-CN" i="1" dirty="0">
                <a:solidFill>
                  <a:schemeClr val="bg2"/>
                </a:solidFill>
                <a:cs typeface="Consolas" panose="020B0609020204030204" pitchFamily="49" charset="0"/>
              </a:rPr>
              <a:t>n</a:t>
            </a:r>
            <a:r>
              <a:rPr lang="pt-BR" altLang="zh-CN" dirty="0">
                <a:solidFill>
                  <a:schemeClr val="bg2"/>
                </a:solidFill>
                <a:cs typeface="Consolas" panose="020B0609020204030204" pitchFamily="49" charset="0"/>
              </a:rPr>
              <a:t>)</a:t>
            </a:r>
            <a:r>
              <a:rPr lang="zh-CN" altLang="pt-BR" dirty="0">
                <a:solidFill>
                  <a:schemeClr val="bg2"/>
                </a:solidFill>
                <a:cs typeface="Consolas" panose="020B0609020204030204" pitchFamily="49" charset="0"/>
              </a:rPr>
              <a:t>的下界。</a:t>
            </a:r>
            <a:endParaRPr lang="zh-CN" altLang="en-US" dirty="0">
              <a:solidFill>
                <a:schemeClr val="bg2"/>
              </a:solidFill>
              <a:cs typeface="Consolas" panose="020B0609020204030204" pitchFamily="49"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矩形 4"/>
          <p:cNvSpPr/>
          <p:nvPr/>
        </p:nvSpPr>
        <p:spPr>
          <a:xfrm>
            <a:off x="539552" y="1772816"/>
            <a:ext cx="2286000" cy="461665"/>
          </a:xfrm>
          <a:prstGeom prst="rect">
            <a:avLst/>
          </a:prstGeom>
        </p:spPr>
        <p:txBody>
          <a:bodyPr wrap="square">
            <a:spAutoFit/>
          </a:bodyPr>
          <a:lstStyle/>
          <a:p>
            <a:r>
              <a:rPr lang="zh-CN" altLang="en-US" dirty="0" smtClean="0">
                <a:solidFill>
                  <a:schemeClr val="bg2"/>
                </a:solidFill>
              </a:rPr>
              <a:t>（</a:t>
            </a:r>
            <a:r>
              <a:rPr lang="en-US" altLang="zh-CN" dirty="0" smtClean="0">
                <a:solidFill>
                  <a:schemeClr val="bg2"/>
                </a:solidFill>
              </a:rPr>
              <a:t>4</a:t>
            </a:r>
            <a:r>
              <a:rPr lang="zh-CN" altLang="en-US" dirty="0" smtClean="0">
                <a:solidFill>
                  <a:schemeClr val="bg2"/>
                </a:solidFill>
              </a:rPr>
              <a:t>）</a:t>
            </a:r>
            <a:r>
              <a:rPr lang="zh-CN" altLang="en-US" dirty="0">
                <a:solidFill>
                  <a:schemeClr val="bg2"/>
                </a:solidFill>
              </a:rPr>
              <a:t>小</a:t>
            </a:r>
            <a:r>
              <a:rPr lang="en-US" altLang="zh-CN" b="1" i="1" dirty="0">
                <a:solidFill>
                  <a:schemeClr val="bg2"/>
                </a:solidFill>
              </a:rPr>
              <a:t>o</a:t>
            </a:r>
            <a:r>
              <a:rPr lang="zh-CN" altLang="en-US" dirty="0">
                <a:solidFill>
                  <a:schemeClr val="bg2"/>
                </a:solidFill>
              </a:rPr>
              <a:t>符号 </a:t>
            </a:r>
            <a:endParaRPr lang="zh-CN" altLang="en-US" dirty="0">
              <a:solidFill>
                <a:schemeClr val="bg2"/>
              </a:solidFill>
            </a:endParaRPr>
          </a:p>
        </p:txBody>
      </p:sp>
      <p:sp>
        <p:nvSpPr>
          <p:cNvPr id="6" name="矩形 5"/>
          <p:cNvSpPr/>
          <p:nvPr/>
        </p:nvSpPr>
        <p:spPr>
          <a:xfrm>
            <a:off x="827584" y="2276872"/>
            <a:ext cx="7560840" cy="978729"/>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chemeClr val="bg2"/>
                </a:solidFill>
                <a:latin typeface="宋体" panose="02010600030101010101" pitchFamily="2" charset="-122"/>
              </a:rPr>
              <a:t>定义：</a:t>
            </a:r>
            <a:r>
              <a:rPr lang="zh-CN" altLang="en-US" dirty="0">
                <a:solidFill>
                  <a:schemeClr val="bg2"/>
                </a:solidFill>
              </a:rPr>
              <a:t>设 </a:t>
            </a:r>
            <a:r>
              <a:rPr lang="en-US" altLang="zh-CN" b="1" i="1" dirty="0">
                <a:solidFill>
                  <a:schemeClr val="bg2"/>
                </a:solidFill>
              </a:rPr>
              <a:t>f </a:t>
            </a:r>
            <a:r>
              <a:rPr lang="zh-CN" altLang="en-US" dirty="0">
                <a:solidFill>
                  <a:schemeClr val="bg2"/>
                </a:solidFill>
              </a:rPr>
              <a:t>和 </a:t>
            </a:r>
            <a:r>
              <a:rPr lang="en-US" altLang="zh-CN" b="1" i="1" dirty="0">
                <a:solidFill>
                  <a:schemeClr val="bg2"/>
                </a:solidFill>
              </a:rPr>
              <a:t>g</a:t>
            </a:r>
            <a:r>
              <a:rPr lang="zh-CN" altLang="en-US" dirty="0">
                <a:solidFill>
                  <a:schemeClr val="bg2"/>
                </a:solidFill>
              </a:rPr>
              <a:t>是定义域为自然数集 </a:t>
            </a:r>
            <a:r>
              <a:rPr lang="en-US" altLang="zh-CN" b="1" dirty="0">
                <a:solidFill>
                  <a:schemeClr val="bg2"/>
                </a:solidFill>
              </a:rPr>
              <a:t>N</a:t>
            </a:r>
            <a:r>
              <a:rPr lang="zh-CN" altLang="en-US" dirty="0" smtClean="0">
                <a:solidFill>
                  <a:schemeClr val="bg2"/>
                </a:solidFill>
              </a:rPr>
              <a:t>上的函数。</a:t>
            </a:r>
            <a:r>
              <a:rPr lang="en-US" altLang="zh-CN" b="1" dirty="0" smtClean="0">
                <a:solidFill>
                  <a:schemeClr val="bg2"/>
                </a:solidFill>
              </a:rPr>
              <a:t> </a:t>
            </a:r>
            <a:r>
              <a:rPr lang="zh-CN" altLang="en-US" dirty="0">
                <a:solidFill>
                  <a:schemeClr val="bg2"/>
                </a:solidFill>
              </a:rPr>
              <a:t>若对于</a:t>
            </a:r>
            <a:r>
              <a:rPr lang="zh-CN" altLang="en-US" b="1" dirty="0" smtClean="0">
                <a:solidFill>
                  <a:srgbClr val="FF0000"/>
                </a:solidFill>
              </a:rPr>
              <a:t>任意正数 </a:t>
            </a:r>
            <a:r>
              <a:rPr lang="en-US" altLang="zh-CN" b="1" i="1" dirty="0">
                <a:solidFill>
                  <a:schemeClr val="bg2"/>
                </a:solidFill>
              </a:rPr>
              <a:t>c </a:t>
            </a:r>
            <a:r>
              <a:rPr lang="zh-CN" altLang="en-US" dirty="0">
                <a:solidFill>
                  <a:schemeClr val="bg2"/>
                </a:solidFill>
              </a:rPr>
              <a:t>都存在 </a:t>
            </a:r>
            <a:r>
              <a:rPr lang="en-US" altLang="zh-CN" b="1" i="1" dirty="0">
                <a:solidFill>
                  <a:schemeClr val="bg2"/>
                </a:solidFill>
              </a:rPr>
              <a:t>n</a:t>
            </a:r>
            <a:r>
              <a:rPr lang="en-US" altLang="zh-CN" b="1" baseline="-25000" dirty="0">
                <a:solidFill>
                  <a:schemeClr val="bg2"/>
                </a:solidFill>
              </a:rPr>
              <a:t>0</a:t>
            </a:r>
            <a:r>
              <a:rPr lang="zh-CN" altLang="en-US" dirty="0">
                <a:solidFill>
                  <a:schemeClr val="bg2"/>
                </a:solidFill>
              </a:rPr>
              <a:t>， </a:t>
            </a:r>
            <a:r>
              <a:rPr lang="zh-CN" altLang="en-US" dirty="0" smtClean="0">
                <a:solidFill>
                  <a:schemeClr val="bg2"/>
                </a:solidFill>
              </a:rPr>
              <a:t>使得</a:t>
            </a:r>
            <a:r>
              <a:rPr lang="zh-CN" altLang="en-US" dirty="0">
                <a:solidFill>
                  <a:schemeClr val="bg2"/>
                </a:solidFill>
              </a:rPr>
              <a:t>对一切 </a:t>
            </a:r>
            <a:r>
              <a:rPr lang="en-US" altLang="zh-CN" b="1" i="1" dirty="0" smtClean="0">
                <a:solidFill>
                  <a:schemeClr val="bg2"/>
                </a:solidFill>
              </a:rPr>
              <a:t>n</a:t>
            </a:r>
            <a:r>
              <a:rPr lang="en-US" altLang="zh-CN" dirty="0">
                <a:solidFill>
                  <a:srgbClr val="000000"/>
                </a:solidFill>
                <a:latin typeface="Symbol" panose="05050102010706020507"/>
              </a:rPr>
              <a:t> </a:t>
            </a:r>
            <a:r>
              <a:rPr lang="en-US" altLang="zh-CN" dirty="0" smtClean="0">
                <a:solidFill>
                  <a:srgbClr val="000000"/>
                </a:solidFill>
                <a:latin typeface="Symbol" panose="05050102010706020507"/>
              </a:rPr>
              <a:t></a:t>
            </a:r>
            <a:r>
              <a:rPr lang="en-US" altLang="zh-CN" b="1" i="1" dirty="0" smtClean="0">
                <a:solidFill>
                  <a:schemeClr val="bg2"/>
                </a:solidFill>
              </a:rPr>
              <a:t>n</a:t>
            </a:r>
            <a:r>
              <a:rPr lang="en-US" altLang="zh-CN" b="1" baseline="-25000" dirty="0" smtClean="0">
                <a:solidFill>
                  <a:schemeClr val="bg2"/>
                </a:solidFill>
              </a:rPr>
              <a:t>0</a:t>
            </a:r>
            <a:r>
              <a:rPr lang="zh-CN" altLang="en-US" dirty="0" smtClean="0">
                <a:solidFill>
                  <a:schemeClr val="bg2"/>
                </a:solidFill>
              </a:rPr>
              <a:t>有</a:t>
            </a:r>
            <a:endParaRPr lang="en-US" altLang="zh-CN" b="1" dirty="0">
              <a:solidFill>
                <a:schemeClr val="bg2"/>
              </a:solidFill>
            </a:endParaRPr>
          </a:p>
        </p:txBody>
      </p:sp>
      <p:sp>
        <p:nvSpPr>
          <p:cNvPr id="3" name="矩形 2"/>
          <p:cNvSpPr/>
          <p:nvPr/>
        </p:nvSpPr>
        <p:spPr>
          <a:xfrm>
            <a:off x="2249442" y="3284984"/>
            <a:ext cx="2358562" cy="461665"/>
          </a:xfrm>
          <a:prstGeom prst="rect">
            <a:avLst/>
          </a:prstGeom>
        </p:spPr>
        <p:txBody>
          <a:bodyPr wrap="square">
            <a:spAutoFit/>
          </a:bodyPr>
          <a:lstStyle/>
          <a:p>
            <a:r>
              <a:rPr lang="en-US" altLang="zh-CN" b="1" dirty="0">
                <a:solidFill>
                  <a:schemeClr val="bg2"/>
                </a:solidFill>
              </a:rPr>
              <a:t>0 </a:t>
            </a:r>
            <a:r>
              <a:rPr lang="en-US" altLang="zh-CN" dirty="0" smtClean="0">
                <a:solidFill>
                  <a:srgbClr val="000000"/>
                </a:solidFill>
                <a:latin typeface="Symbol" panose="05050102010706020507"/>
              </a:rPr>
              <a:t> </a:t>
            </a:r>
            <a:r>
              <a:rPr lang="en-US" altLang="zh-CN" b="1" i="1" dirty="0" smtClean="0">
                <a:solidFill>
                  <a:schemeClr val="bg2"/>
                </a:solidFill>
              </a:rPr>
              <a:t>f</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 </a:t>
            </a:r>
            <a:r>
              <a:rPr lang="en-US" altLang="zh-CN" b="1" dirty="0">
                <a:solidFill>
                  <a:srgbClr val="FF0000"/>
                </a:solidFill>
              </a:rPr>
              <a:t>&lt;</a:t>
            </a:r>
            <a:r>
              <a:rPr lang="en-US" altLang="zh-CN" b="1" dirty="0">
                <a:solidFill>
                  <a:schemeClr val="bg2"/>
                </a:solidFill>
              </a:rPr>
              <a:t> </a:t>
            </a:r>
            <a:r>
              <a:rPr lang="en-US" altLang="zh-CN" b="1" i="1" dirty="0">
                <a:solidFill>
                  <a:schemeClr val="bg2"/>
                </a:solidFill>
              </a:rPr>
              <a:t>c 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endParaRPr lang="zh-CN" altLang="en-US" dirty="0">
              <a:solidFill>
                <a:schemeClr val="bg2"/>
              </a:solidFill>
            </a:endParaRPr>
          </a:p>
        </p:txBody>
      </p:sp>
      <p:sp>
        <p:nvSpPr>
          <p:cNvPr id="7" name="矩形 6"/>
          <p:cNvSpPr/>
          <p:nvPr/>
        </p:nvSpPr>
        <p:spPr>
          <a:xfrm>
            <a:off x="899592" y="3818657"/>
            <a:ext cx="5760640" cy="461665"/>
          </a:xfrm>
          <a:prstGeom prst="rect">
            <a:avLst/>
          </a:prstGeom>
        </p:spPr>
        <p:txBody>
          <a:bodyPr wrap="square">
            <a:spAutoFit/>
          </a:bodyPr>
          <a:lstStyle/>
          <a:p>
            <a:r>
              <a:rPr lang="zh-CN" altLang="en-US" dirty="0">
                <a:solidFill>
                  <a:schemeClr val="bg2"/>
                </a:solidFill>
              </a:rPr>
              <a:t>成立</a:t>
            </a:r>
            <a:r>
              <a:rPr lang="en-US" altLang="zh-CN" b="1" dirty="0">
                <a:solidFill>
                  <a:schemeClr val="bg2"/>
                </a:solidFill>
              </a:rPr>
              <a:t>, </a:t>
            </a:r>
            <a:r>
              <a:rPr lang="zh-CN" altLang="en-US" dirty="0">
                <a:solidFill>
                  <a:schemeClr val="bg2"/>
                </a:solidFill>
              </a:rPr>
              <a:t>则记</a:t>
            </a:r>
            <a:r>
              <a:rPr lang="zh-CN" altLang="en-US" dirty="0" smtClean="0">
                <a:solidFill>
                  <a:schemeClr val="bg2"/>
                </a:solidFill>
              </a:rPr>
              <a:t>作：</a:t>
            </a:r>
            <a:r>
              <a:rPr lang="en-US" altLang="zh-CN" b="1" i="1" dirty="0" smtClean="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o</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4" name="矩形 3"/>
          <p:cNvSpPr/>
          <p:nvPr/>
        </p:nvSpPr>
        <p:spPr>
          <a:xfrm>
            <a:off x="683568" y="1772816"/>
            <a:ext cx="7560840" cy="460375"/>
          </a:xfrm>
          <a:prstGeom prst="rect">
            <a:avLst/>
          </a:prstGeom>
        </p:spPr>
        <p:txBody>
          <a:bodyPr wrap="square">
            <a:spAutoFit/>
          </a:bodyPr>
          <a:lstStyle/>
          <a:p>
            <a:r>
              <a:rPr lang="zh-CN" altLang="en-US" dirty="0">
                <a:solidFill>
                  <a:schemeClr val="bg2"/>
                </a:solidFill>
              </a:rPr>
              <a:t>例子：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a:t>
            </a:r>
            <a:r>
              <a:rPr lang="en-US" altLang="zh-CN" b="1" i="1" dirty="0">
                <a:solidFill>
                  <a:schemeClr val="bg2"/>
                </a:solidFill>
              </a:rPr>
              <a:t>n</a:t>
            </a:r>
            <a:r>
              <a:rPr lang="zh-CN" altLang="en-US" dirty="0" smtClean="0">
                <a:solidFill>
                  <a:schemeClr val="bg2"/>
                </a:solidFill>
              </a:rPr>
              <a:t>，</a:t>
            </a:r>
            <a:r>
              <a:rPr lang="en-US" altLang="zh-CN" b="1" i="1" dirty="0" smtClean="0">
                <a:solidFill>
                  <a:schemeClr val="bg2"/>
                </a:solidFill>
              </a:rPr>
              <a:t>g</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rPr>
              <a:t>n</a:t>
            </a:r>
            <a:r>
              <a:rPr lang="en-US" altLang="zh-CN" b="1" i="1" baseline="30000" dirty="0" smtClean="0">
                <a:solidFill>
                  <a:schemeClr val="bg2"/>
                </a:solidFill>
              </a:rPr>
              <a:t>3</a:t>
            </a:r>
            <a:r>
              <a:rPr lang="en-US" altLang="zh-CN" b="1" baseline="30000" dirty="0" smtClean="0">
                <a:solidFill>
                  <a:schemeClr val="bg2"/>
                </a:solidFill>
              </a:rPr>
              <a:t>       </a:t>
            </a:r>
            <a:r>
              <a:rPr lang="zh-CN" altLang="en-US" dirty="0" smtClean="0">
                <a:solidFill>
                  <a:schemeClr val="bg2"/>
                </a:solidFill>
              </a:rPr>
              <a:t>则    </a:t>
            </a:r>
            <a:r>
              <a:rPr lang="en-US" altLang="zh-CN" b="1" i="1" dirty="0" smtClean="0">
                <a:solidFill>
                  <a:schemeClr val="bg2"/>
                </a:solidFill>
              </a:rPr>
              <a:t>f</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a:solidFill>
                  <a:schemeClr val="bg2"/>
                </a:solidFill>
                <a:sym typeface="Symbol" panose="05050102010706020507" pitchFamily="18" charset="2"/>
              </a:rPr>
              <a:t> o</a:t>
            </a:r>
            <a:r>
              <a:rPr lang="en-US" altLang="zh-CN" b="1" dirty="0" smtClean="0">
                <a:solidFill>
                  <a:schemeClr val="bg2"/>
                </a:solidFill>
              </a:rPr>
              <a:t>(</a:t>
            </a:r>
            <a:r>
              <a:rPr lang="en-US" altLang="zh-CN" b="1" i="1" dirty="0" smtClean="0">
                <a:solidFill>
                  <a:schemeClr val="bg2"/>
                </a:solidFill>
              </a:rPr>
              <a:t>g</a:t>
            </a:r>
            <a:r>
              <a:rPr lang="en-US" altLang="zh-CN" b="1" dirty="0" smtClean="0">
                <a:solidFill>
                  <a:schemeClr val="bg2"/>
                </a:solidFill>
              </a:rPr>
              <a:t>(</a:t>
            </a:r>
            <a:r>
              <a:rPr lang="en-US" altLang="zh-CN" b="1" i="1" dirty="0" smtClean="0">
                <a:solidFill>
                  <a:schemeClr val="bg2"/>
                </a:solidFill>
              </a:rPr>
              <a:t>n</a:t>
            </a:r>
            <a:r>
              <a:rPr lang="en-US" altLang="zh-CN" b="1" dirty="0">
                <a:solidFill>
                  <a:schemeClr val="bg2"/>
                </a:solidFill>
              </a:rPr>
              <a:t>))</a:t>
            </a:r>
            <a:endParaRPr lang="zh-CN" altLang="en-US" dirty="0">
              <a:solidFill>
                <a:schemeClr val="bg2"/>
              </a:solidFill>
            </a:endParaRPr>
          </a:p>
        </p:txBody>
      </p:sp>
      <p:sp>
        <p:nvSpPr>
          <p:cNvPr id="3" name="矩形 2"/>
          <p:cNvSpPr/>
          <p:nvPr/>
        </p:nvSpPr>
        <p:spPr>
          <a:xfrm>
            <a:off x="899592" y="2276872"/>
            <a:ext cx="7200800" cy="1052596"/>
          </a:xfrm>
          <a:prstGeom prst="rect">
            <a:avLst/>
          </a:prstGeom>
        </p:spPr>
        <p:txBody>
          <a:bodyPr wrap="square">
            <a:spAutoFit/>
          </a:bodyPr>
          <a:lstStyle/>
          <a:p>
            <a:pPr marL="342900" indent="-342900">
              <a:lnSpc>
                <a:spcPct val="130000"/>
              </a:lnSpc>
              <a:buFont typeface="Arial" panose="020B0604020202020204" pitchFamily="34" charset="0"/>
              <a:buChar char="•"/>
            </a:pPr>
            <a:r>
              <a:rPr lang="en-US" altLang="zh-CN" b="1" i="1" dirty="0" smtClean="0">
                <a:solidFill>
                  <a:schemeClr val="bg2"/>
                </a:solidFill>
              </a:rPr>
              <a:t>c</a:t>
            </a:r>
            <a:r>
              <a:rPr lang="en-US" altLang="zh-CN" b="1" dirty="0" smtClean="0">
                <a:solidFill>
                  <a:schemeClr val="bg2"/>
                </a:solidFill>
              </a:rPr>
              <a:t>≥1</a:t>
            </a:r>
            <a:r>
              <a:rPr lang="zh-CN" altLang="en-US" b="1" dirty="0">
                <a:solidFill>
                  <a:schemeClr val="bg2"/>
                </a:solidFill>
              </a:rPr>
              <a:t>显然成立，因为</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&lt;</a:t>
            </a:r>
            <a:r>
              <a:rPr lang="en-US" altLang="zh-CN" b="1" i="1" dirty="0">
                <a:solidFill>
                  <a:schemeClr val="bg2"/>
                </a:solidFill>
              </a:rPr>
              <a:t>cn</a:t>
            </a:r>
            <a:r>
              <a:rPr lang="en-US" altLang="zh-CN" b="1" baseline="30000" dirty="0">
                <a:solidFill>
                  <a:schemeClr val="bg2"/>
                </a:solidFill>
              </a:rPr>
              <a:t>3</a:t>
            </a:r>
            <a:r>
              <a:rPr lang="zh-CN" altLang="en-US" b="1" dirty="0">
                <a:solidFill>
                  <a:schemeClr val="bg2"/>
                </a:solidFill>
              </a:rPr>
              <a:t>（</a:t>
            </a:r>
            <a:r>
              <a:rPr lang="en-US" altLang="zh-CN" b="1" i="1" dirty="0">
                <a:solidFill>
                  <a:schemeClr val="bg2"/>
                </a:solidFill>
              </a:rPr>
              <a:t>n</a:t>
            </a:r>
            <a:r>
              <a:rPr lang="en-US" altLang="zh-CN" b="1" baseline="-25000" dirty="0">
                <a:solidFill>
                  <a:schemeClr val="bg2"/>
                </a:solidFill>
              </a:rPr>
              <a:t>0</a:t>
            </a:r>
            <a:r>
              <a:rPr lang="en-US" altLang="zh-CN" b="1" i="1" dirty="0">
                <a:solidFill>
                  <a:schemeClr val="bg2"/>
                </a:solidFill>
              </a:rPr>
              <a:t>=</a:t>
            </a:r>
            <a:r>
              <a:rPr lang="en-US" altLang="zh-CN" b="1" dirty="0">
                <a:solidFill>
                  <a:schemeClr val="bg2"/>
                </a:solidFill>
              </a:rPr>
              <a:t>2</a:t>
            </a:r>
            <a:r>
              <a:rPr lang="zh-CN" altLang="en-US" b="1" dirty="0" smtClean="0">
                <a:solidFill>
                  <a:schemeClr val="bg2"/>
                </a:solidFill>
              </a:rPr>
              <a:t>）</a:t>
            </a:r>
            <a:endParaRPr lang="en-US" altLang="zh-CN" b="1" dirty="0" smtClean="0">
              <a:solidFill>
                <a:schemeClr val="bg2"/>
              </a:solidFill>
            </a:endParaRPr>
          </a:p>
          <a:p>
            <a:pPr marL="342900" indent="-342900">
              <a:lnSpc>
                <a:spcPct val="130000"/>
              </a:lnSpc>
              <a:buFont typeface="Arial" panose="020B0604020202020204" pitchFamily="34" charset="0"/>
              <a:buChar char="•"/>
            </a:pPr>
            <a:r>
              <a:rPr lang="zh-CN" altLang="en-US" b="1" dirty="0">
                <a:solidFill>
                  <a:schemeClr val="bg2"/>
                </a:solidFill>
              </a:rPr>
              <a:t>任给</a:t>
            </a:r>
            <a:r>
              <a:rPr lang="en-US" altLang="zh-CN" b="1" dirty="0">
                <a:solidFill>
                  <a:schemeClr val="bg2"/>
                </a:solidFill>
              </a:rPr>
              <a:t>1&gt;</a:t>
            </a:r>
            <a:r>
              <a:rPr lang="en-US" altLang="zh-CN" b="1" i="1" dirty="0">
                <a:solidFill>
                  <a:schemeClr val="bg2"/>
                </a:solidFill>
              </a:rPr>
              <a:t>c </a:t>
            </a:r>
            <a:r>
              <a:rPr lang="en-US" altLang="zh-CN" b="1" dirty="0">
                <a:solidFill>
                  <a:schemeClr val="bg2"/>
                </a:solidFill>
              </a:rPr>
              <a:t>&gt;</a:t>
            </a:r>
            <a:r>
              <a:rPr lang="en-US" altLang="zh-CN" b="1" dirty="0" smtClean="0">
                <a:solidFill>
                  <a:schemeClr val="bg2"/>
                </a:solidFill>
              </a:rPr>
              <a:t>0</a:t>
            </a:r>
            <a:r>
              <a:rPr lang="zh-CN" altLang="en-US" b="1" dirty="0" smtClean="0">
                <a:solidFill>
                  <a:schemeClr val="bg2"/>
                </a:solidFill>
              </a:rPr>
              <a:t>，取 </a:t>
            </a:r>
            <a:r>
              <a:rPr lang="en-US" altLang="zh-CN" b="1" i="1" dirty="0" smtClean="0">
                <a:solidFill>
                  <a:schemeClr val="bg2"/>
                </a:solidFill>
              </a:rPr>
              <a:t>n</a:t>
            </a:r>
            <a:r>
              <a:rPr lang="en-US" altLang="zh-CN" b="1" baseline="-25000" dirty="0" smtClean="0">
                <a:solidFill>
                  <a:schemeClr val="bg2"/>
                </a:solidFill>
              </a:rPr>
              <a:t>0</a:t>
            </a:r>
            <a:r>
              <a:rPr lang="en-US" altLang="zh-CN" b="1" dirty="0" smtClean="0">
                <a:solidFill>
                  <a:schemeClr val="bg2"/>
                </a:solidFill>
              </a:rPr>
              <a:t> = </a:t>
            </a:r>
            <a:r>
              <a:rPr lang="en-US" altLang="zh-CN" b="1" baseline="30000" dirty="0" smtClean="0">
                <a:solidFill>
                  <a:schemeClr val="bg2"/>
                </a:solidFill>
              </a:rPr>
              <a:t>┌</a:t>
            </a:r>
            <a:r>
              <a:rPr lang="en-US" altLang="zh-CN" b="1" i="1" dirty="0" smtClean="0">
                <a:solidFill>
                  <a:schemeClr val="bg2"/>
                </a:solidFill>
              </a:rPr>
              <a:t>2</a:t>
            </a:r>
            <a:r>
              <a:rPr lang="en-US" altLang="zh-CN" b="1" dirty="0" smtClean="0">
                <a:solidFill>
                  <a:schemeClr val="bg2"/>
                </a:solidFill>
              </a:rPr>
              <a:t>/</a:t>
            </a:r>
            <a:r>
              <a:rPr lang="en-US" altLang="zh-CN" b="1" i="1" dirty="0" smtClean="0">
                <a:solidFill>
                  <a:schemeClr val="bg2"/>
                </a:solidFill>
              </a:rPr>
              <a:t>c</a:t>
            </a:r>
            <a:r>
              <a:rPr lang="en-US" altLang="zh-CN" b="1" baseline="30000" dirty="0" smtClean="0">
                <a:solidFill>
                  <a:schemeClr val="bg2"/>
                </a:solidFill>
              </a:rPr>
              <a:t>┐</a:t>
            </a:r>
            <a:r>
              <a:rPr lang="en-US" altLang="zh-CN" b="1" dirty="0" smtClean="0">
                <a:solidFill>
                  <a:schemeClr val="bg2"/>
                </a:solidFill>
              </a:rPr>
              <a:t> ,</a:t>
            </a:r>
            <a:r>
              <a:rPr lang="zh-CN" altLang="en-US" b="1" dirty="0" smtClean="0">
                <a:solidFill>
                  <a:schemeClr val="bg2"/>
                </a:solidFill>
              </a:rPr>
              <a:t>（即</a:t>
            </a:r>
            <a:r>
              <a:rPr lang="en-US" altLang="zh-CN" b="1" i="1" dirty="0">
                <a:solidFill>
                  <a:schemeClr val="bg2"/>
                </a:solidFill>
              </a:rPr>
              <a:t>n</a:t>
            </a:r>
            <a:r>
              <a:rPr lang="en-US" altLang="zh-CN" b="1" baseline="-25000" dirty="0">
                <a:solidFill>
                  <a:schemeClr val="bg2"/>
                </a:solidFill>
              </a:rPr>
              <a:t>0 </a:t>
            </a:r>
            <a:r>
              <a:rPr lang="en-US" altLang="zh-CN" b="1" dirty="0" smtClean="0">
                <a:solidFill>
                  <a:schemeClr val="bg2"/>
                </a:solidFill>
              </a:rPr>
              <a:t>&gt;2</a:t>
            </a:r>
            <a:r>
              <a:rPr lang="zh-CN" altLang="en-US" b="1" dirty="0" smtClean="0">
                <a:solidFill>
                  <a:schemeClr val="bg2"/>
                </a:solidFill>
              </a:rPr>
              <a:t>）</a:t>
            </a:r>
            <a:endParaRPr lang="zh-CN" altLang="en-US" dirty="0">
              <a:solidFill>
                <a:schemeClr val="bg2"/>
              </a:solidFill>
            </a:endParaRPr>
          </a:p>
        </p:txBody>
      </p:sp>
      <p:sp>
        <p:nvSpPr>
          <p:cNvPr id="7" name="矩形 6"/>
          <p:cNvSpPr/>
          <p:nvPr/>
        </p:nvSpPr>
        <p:spPr>
          <a:xfrm>
            <a:off x="971600" y="4509120"/>
            <a:ext cx="7704856" cy="1532727"/>
          </a:xfrm>
          <a:prstGeom prst="rect">
            <a:avLst/>
          </a:prstGeom>
        </p:spPr>
        <p:txBody>
          <a:bodyPr wrap="square">
            <a:spAutoFit/>
          </a:bodyPr>
          <a:lstStyle/>
          <a:p>
            <a:pPr>
              <a:lnSpc>
                <a:spcPct val="130000"/>
              </a:lnSpc>
            </a:pPr>
            <a:r>
              <a:rPr lang="en-US" altLang="zh-CN" b="1" dirty="0">
                <a:solidFill>
                  <a:schemeClr val="bg2"/>
                </a:solidFill>
              </a:rPr>
              <a:t>1. </a:t>
            </a:r>
            <a:r>
              <a:rPr lang="en-US" altLang="zh-CN" b="1" dirty="0" smtClean="0">
                <a:solidFill>
                  <a:schemeClr val="bg2"/>
                </a:solidFill>
              </a:rPr>
              <a:t> </a:t>
            </a:r>
            <a:r>
              <a:rPr lang="en-US" altLang="zh-CN" b="1" i="1" dirty="0" smtClean="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o</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zh-CN" altLang="en-US" b="1" dirty="0" smtClean="0">
                <a:solidFill>
                  <a:schemeClr val="bg2"/>
                </a:solidFill>
              </a:rPr>
              <a:t>，</a:t>
            </a:r>
            <a:r>
              <a:rPr lang="en-US" altLang="zh-CN" b="1" i="1" dirty="0" smtClean="0">
                <a:solidFill>
                  <a:schemeClr val="bg2"/>
                </a:solidFill>
              </a:rPr>
              <a:t>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的阶低于</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dirty="0">
                <a:solidFill>
                  <a:schemeClr val="bg2"/>
                </a:solidFill>
              </a:rPr>
              <a:t>的</a:t>
            </a:r>
            <a:r>
              <a:rPr lang="zh-CN" altLang="en-US" dirty="0" smtClean="0">
                <a:solidFill>
                  <a:schemeClr val="bg2"/>
                </a:solidFill>
              </a:rPr>
              <a:t>阶。</a:t>
            </a:r>
            <a:br>
              <a:rPr lang="zh-CN" altLang="en-US" dirty="0">
                <a:solidFill>
                  <a:schemeClr val="bg2"/>
                </a:solidFill>
              </a:rPr>
            </a:br>
            <a:r>
              <a:rPr lang="en-US" altLang="zh-CN" b="1" dirty="0">
                <a:solidFill>
                  <a:schemeClr val="bg2"/>
                </a:solidFill>
              </a:rPr>
              <a:t>2. </a:t>
            </a:r>
            <a:r>
              <a:rPr lang="en-US" altLang="zh-CN" b="1" dirty="0" smtClean="0">
                <a:solidFill>
                  <a:schemeClr val="bg2"/>
                </a:solidFill>
              </a:rPr>
              <a:t> </a:t>
            </a:r>
            <a:r>
              <a:rPr lang="zh-CN" altLang="en-US" dirty="0" smtClean="0">
                <a:solidFill>
                  <a:schemeClr val="bg2"/>
                </a:solidFill>
              </a:rPr>
              <a:t>对</a:t>
            </a:r>
            <a:r>
              <a:rPr lang="zh-CN" altLang="en-US" dirty="0">
                <a:solidFill>
                  <a:schemeClr val="bg2"/>
                </a:solidFill>
              </a:rPr>
              <a:t>不同正数</a:t>
            </a:r>
            <a:r>
              <a:rPr lang="en-US" altLang="zh-CN" b="1" i="1" dirty="0" smtClean="0">
                <a:solidFill>
                  <a:schemeClr val="bg2"/>
                </a:solidFill>
              </a:rPr>
              <a:t>c</a:t>
            </a:r>
            <a:r>
              <a:rPr lang="zh-CN" altLang="en-US" b="1" i="1" dirty="0" smtClean="0">
                <a:solidFill>
                  <a:schemeClr val="bg2"/>
                </a:solidFill>
              </a:rPr>
              <a:t>，</a:t>
            </a:r>
            <a:r>
              <a:rPr lang="en-US" altLang="zh-CN" b="1" dirty="0" smtClean="0">
                <a:solidFill>
                  <a:schemeClr val="bg2"/>
                </a:solidFill>
              </a:rPr>
              <a:t> </a:t>
            </a:r>
            <a:r>
              <a:rPr lang="en-US" altLang="zh-CN" b="1" i="1" dirty="0">
                <a:solidFill>
                  <a:schemeClr val="bg2"/>
                </a:solidFill>
              </a:rPr>
              <a:t>n</a:t>
            </a:r>
            <a:r>
              <a:rPr lang="en-US" altLang="zh-CN" b="1" baseline="-25000" dirty="0">
                <a:solidFill>
                  <a:schemeClr val="bg2"/>
                </a:solidFill>
              </a:rPr>
              <a:t>0</a:t>
            </a:r>
            <a:r>
              <a:rPr lang="zh-CN" altLang="en-US" dirty="0" smtClean="0">
                <a:solidFill>
                  <a:schemeClr val="bg2"/>
                </a:solidFill>
              </a:rPr>
              <a:t>不一样。</a:t>
            </a:r>
            <a:r>
              <a:rPr lang="en-US" altLang="zh-CN" b="1" dirty="0" smtClean="0">
                <a:solidFill>
                  <a:schemeClr val="bg2"/>
                </a:solidFill>
              </a:rPr>
              <a:t> </a:t>
            </a:r>
            <a:r>
              <a:rPr lang="en-US" altLang="zh-CN" b="1" i="1" dirty="0">
                <a:solidFill>
                  <a:schemeClr val="bg2"/>
                </a:solidFill>
              </a:rPr>
              <a:t>c</a:t>
            </a:r>
            <a:r>
              <a:rPr lang="zh-CN" altLang="en-US" dirty="0">
                <a:solidFill>
                  <a:schemeClr val="bg2"/>
                </a:solidFill>
              </a:rPr>
              <a:t>越小</a:t>
            </a:r>
            <a:r>
              <a:rPr lang="en-US" altLang="zh-CN" b="1" i="1" dirty="0">
                <a:solidFill>
                  <a:schemeClr val="bg2"/>
                </a:solidFill>
              </a:rPr>
              <a:t>n</a:t>
            </a:r>
            <a:r>
              <a:rPr lang="en-US" altLang="zh-CN" b="1" baseline="-25000" dirty="0">
                <a:solidFill>
                  <a:schemeClr val="bg2"/>
                </a:solidFill>
              </a:rPr>
              <a:t>0</a:t>
            </a:r>
            <a:r>
              <a:rPr lang="zh-CN" altLang="en-US" dirty="0">
                <a:solidFill>
                  <a:schemeClr val="bg2"/>
                </a:solidFill>
              </a:rPr>
              <a:t>越</a:t>
            </a:r>
            <a:r>
              <a:rPr lang="zh-CN" altLang="en-US" dirty="0" smtClean="0">
                <a:solidFill>
                  <a:schemeClr val="bg2"/>
                </a:solidFill>
              </a:rPr>
              <a:t>大。</a:t>
            </a:r>
            <a:br>
              <a:rPr lang="en-US" altLang="zh-CN" b="1" dirty="0">
                <a:solidFill>
                  <a:schemeClr val="bg2"/>
                </a:solidFill>
              </a:rPr>
            </a:br>
            <a:r>
              <a:rPr lang="en-US" altLang="zh-CN" b="1" dirty="0">
                <a:solidFill>
                  <a:schemeClr val="bg2"/>
                </a:solidFill>
              </a:rPr>
              <a:t>3. </a:t>
            </a:r>
            <a:r>
              <a:rPr lang="en-US" altLang="zh-CN" b="1" dirty="0" smtClean="0">
                <a:solidFill>
                  <a:schemeClr val="bg2"/>
                </a:solidFill>
              </a:rPr>
              <a:t> </a:t>
            </a:r>
            <a:r>
              <a:rPr lang="zh-CN" altLang="en-US" dirty="0" smtClean="0">
                <a:solidFill>
                  <a:schemeClr val="bg2"/>
                </a:solidFill>
              </a:rPr>
              <a:t>对</a:t>
            </a:r>
            <a:r>
              <a:rPr lang="en-US" altLang="zh-CN" b="1" i="1" dirty="0">
                <a:solidFill>
                  <a:schemeClr val="bg2"/>
                </a:solidFill>
              </a:rPr>
              <a:t>n</a:t>
            </a:r>
            <a:r>
              <a:rPr lang="en-US" altLang="zh-CN" b="1" baseline="-25000" dirty="0">
                <a:solidFill>
                  <a:schemeClr val="bg2"/>
                </a:solidFill>
              </a:rPr>
              <a:t>0</a:t>
            </a:r>
            <a:r>
              <a:rPr lang="zh-CN" altLang="en-US" dirty="0" smtClean="0">
                <a:solidFill>
                  <a:schemeClr val="bg2"/>
                </a:solidFill>
              </a:rPr>
              <a:t>前面</a:t>
            </a:r>
            <a:r>
              <a:rPr lang="zh-CN" altLang="en-US" dirty="0">
                <a:solidFill>
                  <a:schemeClr val="bg2"/>
                </a:solidFill>
              </a:rPr>
              <a:t>有限个 </a:t>
            </a:r>
            <a:r>
              <a:rPr lang="en-US" altLang="zh-CN" b="1" i="1" dirty="0">
                <a:solidFill>
                  <a:schemeClr val="bg2"/>
                </a:solidFill>
              </a:rPr>
              <a:t>n </a:t>
            </a:r>
            <a:r>
              <a:rPr lang="zh-CN" altLang="en-US" dirty="0">
                <a:solidFill>
                  <a:schemeClr val="bg2"/>
                </a:solidFill>
              </a:rPr>
              <a:t>值可以不满足</a:t>
            </a:r>
            <a:r>
              <a:rPr lang="zh-CN" altLang="en-US" dirty="0" smtClean="0">
                <a:solidFill>
                  <a:schemeClr val="bg2"/>
                </a:solidFill>
              </a:rPr>
              <a:t>不等式。 </a:t>
            </a:r>
            <a:endParaRPr lang="zh-CN" altLang="en-US" dirty="0">
              <a:solidFill>
                <a:schemeClr val="bg2"/>
              </a:solidFill>
            </a:endParaRPr>
          </a:p>
        </p:txBody>
      </p:sp>
      <p:sp>
        <p:nvSpPr>
          <p:cNvPr id="10" name="矩形 9"/>
          <p:cNvSpPr/>
          <p:nvPr/>
        </p:nvSpPr>
        <p:spPr>
          <a:xfrm>
            <a:off x="1259632" y="3356992"/>
            <a:ext cx="3916457" cy="461665"/>
          </a:xfrm>
          <a:prstGeom prst="rect">
            <a:avLst/>
          </a:prstGeom>
        </p:spPr>
        <p:txBody>
          <a:bodyPr wrap="none">
            <a:spAutoFit/>
          </a:bodyPr>
          <a:lstStyle/>
          <a:p>
            <a:r>
              <a:rPr lang="zh-CN" altLang="en-US" b="1" dirty="0">
                <a:solidFill>
                  <a:schemeClr val="bg2"/>
                </a:solidFill>
              </a:rPr>
              <a:t>当</a:t>
            </a:r>
            <a:r>
              <a:rPr lang="en-US" altLang="zh-CN" b="1" i="1" dirty="0" smtClean="0">
                <a:solidFill>
                  <a:schemeClr val="bg2"/>
                </a:solidFill>
              </a:rPr>
              <a:t>n</a:t>
            </a:r>
            <a:r>
              <a:rPr lang="en-US" altLang="zh-CN" b="1" dirty="0">
                <a:solidFill>
                  <a:schemeClr val="bg2"/>
                </a:solidFill>
              </a:rPr>
              <a:t> ≥ </a:t>
            </a:r>
            <a:r>
              <a:rPr lang="en-US" altLang="zh-CN" b="1" i="1" dirty="0" smtClean="0">
                <a:solidFill>
                  <a:schemeClr val="bg2"/>
                </a:solidFill>
              </a:rPr>
              <a:t>n</a:t>
            </a:r>
            <a:r>
              <a:rPr lang="en-US" altLang="zh-CN" b="1" baseline="-25000" dirty="0" smtClean="0">
                <a:solidFill>
                  <a:schemeClr val="bg2"/>
                </a:solidFill>
              </a:rPr>
              <a:t>0</a:t>
            </a:r>
            <a:r>
              <a:rPr lang="zh-CN" altLang="en-US" b="1" dirty="0" smtClean="0">
                <a:solidFill>
                  <a:schemeClr val="bg2"/>
                </a:solidFill>
              </a:rPr>
              <a:t>时，</a:t>
            </a:r>
            <a:r>
              <a:rPr lang="en-US" altLang="zh-CN" b="1" i="1" dirty="0">
                <a:solidFill>
                  <a:schemeClr val="bg2"/>
                </a:solidFill>
              </a:rPr>
              <a:t> </a:t>
            </a:r>
            <a:r>
              <a:rPr lang="en-US" altLang="zh-CN" b="1" i="1" dirty="0" err="1" smtClean="0">
                <a:solidFill>
                  <a:schemeClr val="bg2"/>
                </a:solidFill>
              </a:rPr>
              <a:t>cn</a:t>
            </a:r>
            <a:r>
              <a:rPr lang="en-US" altLang="zh-CN" b="1" dirty="0">
                <a:solidFill>
                  <a:schemeClr val="bg2"/>
                </a:solidFill>
              </a:rPr>
              <a:t> ≥</a:t>
            </a:r>
            <a:r>
              <a:rPr lang="en-US" altLang="zh-CN" b="1" dirty="0" smtClean="0">
                <a:solidFill>
                  <a:schemeClr val="bg2"/>
                </a:solidFill>
              </a:rPr>
              <a:t> </a:t>
            </a:r>
            <a:r>
              <a:rPr lang="en-US" altLang="zh-CN" b="1" i="1" dirty="0">
                <a:solidFill>
                  <a:schemeClr val="bg2"/>
                </a:solidFill>
              </a:rPr>
              <a:t>cn</a:t>
            </a:r>
            <a:r>
              <a:rPr lang="en-US" altLang="zh-CN" b="1" baseline="-25000" dirty="0">
                <a:solidFill>
                  <a:schemeClr val="bg2"/>
                </a:solidFill>
              </a:rPr>
              <a:t>0</a:t>
            </a:r>
            <a:r>
              <a:rPr lang="en-US" altLang="zh-CN" b="1" dirty="0">
                <a:solidFill>
                  <a:schemeClr val="bg2"/>
                </a:solidFill>
              </a:rPr>
              <a:t> &gt; 2</a:t>
            </a:r>
            <a:r>
              <a:rPr lang="zh-CN" altLang="en-US" b="1" dirty="0" smtClean="0">
                <a:solidFill>
                  <a:schemeClr val="bg2"/>
                </a:solidFill>
              </a:rPr>
              <a:t>     </a:t>
            </a:r>
            <a:endParaRPr lang="zh-CN" altLang="en-US" dirty="0">
              <a:solidFill>
                <a:schemeClr val="bg2"/>
              </a:solidFill>
            </a:endParaRPr>
          </a:p>
        </p:txBody>
      </p:sp>
      <p:sp>
        <p:nvSpPr>
          <p:cNvPr id="11" name="矩形 10"/>
          <p:cNvSpPr/>
          <p:nvPr/>
        </p:nvSpPr>
        <p:spPr>
          <a:xfrm>
            <a:off x="1237640" y="4005064"/>
            <a:ext cx="6646728" cy="461665"/>
          </a:xfrm>
          <a:prstGeom prst="rect">
            <a:avLst/>
          </a:prstGeom>
        </p:spPr>
        <p:txBody>
          <a:bodyPr wrap="square">
            <a:spAutoFit/>
          </a:bodyPr>
          <a:lstStyle/>
          <a:p>
            <a:r>
              <a:rPr lang="zh-CN" altLang="en-US" b="1" dirty="0" smtClean="0">
                <a:solidFill>
                  <a:schemeClr val="bg2"/>
                </a:solidFill>
              </a:rPr>
              <a:t>所以，</a:t>
            </a:r>
            <a:r>
              <a:rPr lang="zh-CN" altLang="en-US" dirty="0" smtClean="0">
                <a:solidFill>
                  <a:schemeClr val="bg2"/>
                </a:solidFill>
              </a:rPr>
              <a:t> </a:t>
            </a:r>
            <a:r>
              <a:rPr lang="en-US" altLang="zh-CN" b="1" i="1" dirty="0" smtClean="0">
                <a:solidFill>
                  <a:schemeClr val="bg2"/>
                </a:solidFill>
              </a:rPr>
              <a:t>n</a:t>
            </a:r>
            <a:r>
              <a:rPr lang="en-US" altLang="zh-CN" b="1" baseline="30000" dirty="0" smtClean="0">
                <a:solidFill>
                  <a:schemeClr val="bg2"/>
                </a:solidFill>
              </a:rPr>
              <a:t>2</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 </a:t>
            </a:r>
            <a:r>
              <a:rPr lang="en-US" altLang="zh-CN" b="1" dirty="0">
                <a:solidFill>
                  <a:schemeClr val="bg2"/>
                </a:solidFill>
              </a:rPr>
              <a:t>&lt; </a:t>
            </a:r>
            <a:r>
              <a:rPr lang="en-US" altLang="zh-CN" b="1" dirty="0">
                <a:solidFill>
                  <a:srgbClr val="FF0000"/>
                </a:solidFill>
              </a:rPr>
              <a:t>2</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 &lt; </a:t>
            </a:r>
            <a:r>
              <a:rPr lang="en-US" altLang="zh-CN" b="1" i="1" dirty="0" smtClean="0">
                <a:solidFill>
                  <a:srgbClr val="FF0000"/>
                </a:solidFill>
              </a:rPr>
              <a:t>cn</a:t>
            </a:r>
            <a:r>
              <a:rPr lang="en-US" altLang="zh-CN" dirty="0" smtClean="0">
                <a:solidFill>
                  <a:schemeClr val="bg2"/>
                </a:solidFill>
                <a:latin typeface="楷体" panose="02010609060101010101" pitchFamily="49" charset="-122"/>
                <a:ea typeface="楷体" panose="02010609060101010101" pitchFamily="49" charset="-122"/>
                <a:cs typeface="Times New Roman" panose="02020603050405020304" pitchFamily="18" charset="0"/>
              </a:rPr>
              <a:t>ⅹ</a:t>
            </a:r>
            <a:r>
              <a:rPr lang="en-US" altLang="zh-CN" b="1" i="1" dirty="0" smtClean="0">
                <a:solidFill>
                  <a:schemeClr val="bg2"/>
                </a:solidFill>
              </a:rPr>
              <a:t>n</a:t>
            </a:r>
            <a:r>
              <a:rPr lang="en-US" altLang="zh-CN" b="1" baseline="30000" dirty="0" smtClean="0">
                <a:solidFill>
                  <a:schemeClr val="bg2"/>
                </a:solidFill>
              </a:rPr>
              <a:t>2</a:t>
            </a:r>
            <a:r>
              <a:rPr lang="en-US" altLang="zh-CN" b="1" dirty="0" smtClean="0">
                <a:solidFill>
                  <a:schemeClr val="bg2"/>
                </a:solidFill>
              </a:rPr>
              <a:t>=</a:t>
            </a:r>
            <a:r>
              <a:rPr lang="en-US" altLang="zh-CN" b="1" i="1" dirty="0" smtClean="0">
                <a:solidFill>
                  <a:schemeClr val="bg2"/>
                </a:solidFill>
              </a:rPr>
              <a:t>cn</a:t>
            </a:r>
            <a:r>
              <a:rPr lang="en-US" altLang="zh-CN" b="1" baseline="30000" dirty="0" smtClean="0">
                <a:solidFill>
                  <a:schemeClr val="bg2"/>
                </a:solidFill>
              </a:rPr>
              <a:t>3</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left)">
                                      <p:cBhvr>
                                        <p:cTn id="2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ldLvl="3" build="p"/>
      <p:bldP spid="10"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5" name="矩形 4"/>
          <p:cNvSpPr/>
          <p:nvPr/>
        </p:nvSpPr>
        <p:spPr>
          <a:xfrm>
            <a:off x="539552" y="1772816"/>
            <a:ext cx="2286000" cy="471668"/>
          </a:xfrm>
          <a:prstGeom prst="rect">
            <a:avLst/>
          </a:prstGeom>
        </p:spPr>
        <p:txBody>
          <a:bodyPr wrap="square">
            <a:spAutoFit/>
          </a:bodyPr>
          <a:lstStyle/>
          <a:p>
            <a:r>
              <a:rPr lang="zh-CN" altLang="en-US" dirty="0" smtClean="0">
                <a:solidFill>
                  <a:schemeClr val="bg2"/>
                </a:solidFill>
              </a:rPr>
              <a:t>（</a:t>
            </a:r>
            <a:r>
              <a:rPr lang="en-US" altLang="zh-CN" dirty="0" smtClean="0">
                <a:solidFill>
                  <a:schemeClr val="bg2"/>
                </a:solidFill>
              </a:rPr>
              <a:t>5</a:t>
            </a:r>
            <a:r>
              <a:rPr lang="zh-CN" altLang="en-US" dirty="0" smtClean="0">
                <a:solidFill>
                  <a:schemeClr val="bg2"/>
                </a:solidFill>
              </a:rPr>
              <a:t>）小</a:t>
            </a:r>
            <a:r>
              <a:rPr lang="en-US" altLang="zh-CN" b="1" i="1" dirty="0">
                <a:solidFill>
                  <a:schemeClr val="bg2"/>
                </a:solidFill>
                <a:sym typeface="Symbol" panose="05050102010706020507" pitchFamily="18" charset="2"/>
              </a:rPr>
              <a:t></a:t>
            </a:r>
            <a:r>
              <a:rPr lang="zh-CN" altLang="en-US" dirty="0" smtClean="0">
                <a:solidFill>
                  <a:schemeClr val="bg2"/>
                </a:solidFill>
              </a:rPr>
              <a:t>符号 </a:t>
            </a:r>
            <a:endParaRPr lang="zh-CN" altLang="en-US" dirty="0">
              <a:solidFill>
                <a:schemeClr val="bg2"/>
              </a:solidFill>
            </a:endParaRPr>
          </a:p>
        </p:txBody>
      </p:sp>
      <p:sp>
        <p:nvSpPr>
          <p:cNvPr id="6" name="矩形 5"/>
          <p:cNvSpPr/>
          <p:nvPr/>
        </p:nvSpPr>
        <p:spPr>
          <a:xfrm>
            <a:off x="827584" y="2276872"/>
            <a:ext cx="7560840" cy="978729"/>
          </a:xfrm>
          <a:prstGeom prst="rect">
            <a:avLst/>
          </a:prstGeom>
        </p:spPr>
        <p:txBody>
          <a:bodyPr wrap="square">
            <a:spAutoFit/>
          </a:bodyPr>
          <a:lstStyle/>
          <a:p>
            <a:pPr>
              <a:lnSpc>
                <a:spcPct val="120000"/>
              </a:lnSpc>
              <a:buFont typeface="Arial" panose="020B0604020202020204" pitchFamily="34" charset="0"/>
              <a:buChar char="•"/>
            </a:pPr>
            <a:r>
              <a:rPr lang="zh-CN" altLang="en-US" dirty="0" smtClean="0">
                <a:solidFill>
                  <a:schemeClr val="bg2"/>
                </a:solidFill>
                <a:latin typeface="宋体" panose="02010600030101010101" pitchFamily="2" charset="-122"/>
              </a:rPr>
              <a:t>定义：</a:t>
            </a:r>
            <a:r>
              <a:rPr lang="zh-CN" altLang="en-US" dirty="0">
                <a:solidFill>
                  <a:schemeClr val="bg2"/>
                </a:solidFill>
              </a:rPr>
              <a:t>设 </a:t>
            </a:r>
            <a:r>
              <a:rPr lang="en-US" altLang="zh-CN" b="1" i="1" dirty="0">
                <a:solidFill>
                  <a:schemeClr val="bg2"/>
                </a:solidFill>
              </a:rPr>
              <a:t>f </a:t>
            </a:r>
            <a:r>
              <a:rPr lang="zh-CN" altLang="en-US" dirty="0">
                <a:solidFill>
                  <a:schemeClr val="bg2"/>
                </a:solidFill>
              </a:rPr>
              <a:t>和 </a:t>
            </a:r>
            <a:r>
              <a:rPr lang="en-US" altLang="zh-CN" b="1" i="1" dirty="0">
                <a:solidFill>
                  <a:schemeClr val="bg2"/>
                </a:solidFill>
              </a:rPr>
              <a:t>g</a:t>
            </a:r>
            <a:r>
              <a:rPr lang="zh-CN" altLang="en-US" dirty="0">
                <a:solidFill>
                  <a:schemeClr val="bg2"/>
                </a:solidFill>
              </a:rPr>
              <a:t>是定义域为自然数集 </a:t>
            </a:r>
            <a:r>
              <a:rPr lang="en-US" altLang="zh-CN" b="1" dirty="0">
                <a:solidFill>
                  <a:schemeClr val="bg2"/>
                </a:solidFill>
              </a:rPr>
              <a:t>N</a:t>
            </a:r>
            <a:r>
              <a:rPr lang="zh-CN" altLang="en-US" dirty="0" smtClean="0">
                <a:solidFill>
                  <a:schemeClr val="bg2"/>
                </a:solidFill>
              </a:rPr>
              <a:t>上的函数。</a:t>
            </a:r>
            <a:r>
              <a:rPr lang="en-US" altLang="zh-CN" b="1" dirty="0" smtClean="0">
                <a:solidFill>
                  <a:schemeClr val="bg2"/>
                </a:solidFill>
              </a:rPr>
              <a:t> </a:t>
            </a:r>
            <a:r>
              <a:rPr lang="zh-CN" altLang="en-US" dirty="0">
                <a:solidFill>
                  <a:schemeClr val="bg2"/>
                </a:solidFill>
              </a:rPr>
              <a:t>若对于</a:t>
            </a:r>
            <a:r>
              <a:rPr lang="zh-CN" altLang="en-US" b="1" dirty="0">
                <a:solidFill>
                  <a:srgbClr val="FF0000"/>
                </a:solidFill>
              </a:rPr>
              <a:t>任意正数 </a:t>
            </a:r>
            <a:r>
              <a:rPr lang="en-US" altLang="zh-CN" b="1" i="1" dirty="0">
                <a:solidFill>
                  <a:schemeClr val="bg2"/>
                </a:solidFill>
              </a:rPr>
              <a:t>c </a:t>
            </a:r>
            <a:r>
              <a:rPr lang="zh-CN" altLang="en-US" dirty="0">
                <a:solidFill>
                  <a:schemeClr val="bg2"/>
                </a:solidFill>
              </a:rPr>
              <a:t>都存在 </a:t>
            </a:r>
            <a:r>
              <a:rPr lang="en-US" altLang="zh-CN" b="1" i="1" dirty="0">
                <a:solidFill>
                  <a:schemeClr val="bg2"/>
                </a:solidFill>
              </a:rPr>
              <a:t>n</a:t>
            </a:r>
            <a:r>
              <a:rPr lang="en-US" altLang="zh-CN" b="1" baseline="-25000" dirty="0">
                <a:solidFill>
                  <a:schemeClr val="bg2"/>
                </a:solidFill>
              </a:rPr>
              <a:t>0</a:t>
            </a:r>
            <a:r>
              <a:rPr lang="zh-CN" altLang="en-US" dirty="0">
                <a:solidFill>
                  <a:schemeClr val="bg2"/>
                </a:solidFill>
              </a:rPr>
              <a:t>， </a:t>
            </a:r>
            <a:r>
              <a:rPr lang="zh-CN" altLang="en-US" dirty="0" smtClean="0">
                <a:solidFill>
                  <a:schemeClr val="bg2"/>
                </a:solidFill>
              </a:rPr>
              <a:t>使得</a:t>
            </a:r>
            <a:r>
              <a:rPr lang="zh-CN" altLang="en-US" dirty="0">
                <a:solidFill>
                  <a:schemeClr val="bg2"/>
                </a:solidFill>
              </a:rPr>
              <a:t>对一切 </a:t>
            </a:r>
            <a:r>
              <a:rPr lang="en-US" altLang="zh-CN" b="1" i="1" dirty="0" smtClean="0">
                <a:solidFill>
                  <a:schemeClr val="bg2"/>
                </a:solidFill>
              </a:rPr>
              <a:t>n</a:t>
            </a:r>
            <a:r>
              <a:rPr lang="en-US" altLang="zh-CN" dirty="0">
                <a:solidFill>
                  <a:srgbClr val="000000"/>
                </a:solidFill>
                <a:latin typeface="Symbol" panose="05050102010706020507"/>
              </a:rPr>
              <a:t> </a:t>
            </a:r>
            <a:r>
              <a:rPr lang="en-US" altLang="zh-CN" dirty="0" smtClean="0">
                <a:solidFill>
                  <a:srgbClr val="000000"/>
                </a:solidFill>
                <a:latin typeface="Symbol" panose="05050102010706020507"/>
              </a:rPr>
              <a:t></a:t>
            </a:r>
            <a:r>
              <a:rPr lang="en-US" altLang="zh-CN" b="1" i="1" dirty="0" smtClean="0">
                <a:solidFill>
                  <a:schemeClr val="bg2"/>
                </a:solidFill>
              </a:rPr>
              <a:t>n</a:t>
            </a:r>
            <a:r>
              <a:rPr lang="en-US" altLang="zh-CN" b="1" baseline="-25000" dirty="0" smtClean="0">
                <a:solidFill>
                  <a:schemeClr val="bg2"/>
                </a:solidFill>
              </a:rPr>
              <a:t>0</a:t>
            </a:r>
            <a:r>
              <a:rPr lang="zh-CN" altLang="en-US" dirty="0" smtClean="0">
                <a:solidFill>
                  <a:schemeClr val="bg2"/>
                </a:solidFill>
              </a:rPr>
              <a:t>有</a:t>
            </a:r>
            <a:endParaRPr lang="en-US" altLang="zh-CN" b="1" dirty="0">
              <a:solidFill>
                <a:schemeClr val="bg2"/>
              </a:solidFill>
            </a:endParaRPr>
          </a:p>
        </p:txBody>
      </p:sp>
      <p:sp>
        <p:nvSpPr>
          <p:cNvPr id="3" name="矩形 2"/>
          <p:cNvSpPr/>
          <p:nvPr/>
        </p:nvSpPr>
        <p:spPr>
          <a:xfrm>
            <a:off x="2249442" y="3284984"/>
            <a:ext cx="4554806" cy="461665"/>
          </a:xfrm>
          <a:prstGeom prst="rect">
            <a:avLst/>
          </a:prstGeom>
        </p:spPr>
        <p:txBody>
          <a:bodyPr wrap="square">
            <a:spAutoFit/>
          </a:bodyPr>
          <a:lstStyle/>
          <a:p>
            <a:r>
              <a:rPr lang="en-US" altLang="zh-CN" b="1" dirty="0">
                <a:solidFill>
                  <a:schemeClr val="bg2"/>
                </a:solidFill>
              </a:rPr>
              <a:t>0 </a:t>
            </a:r>
            <a:r>
              <a:rPr lang="en-US" altLang="zh-CN" dirty="0" smtClean="0">
                <a:solidFill>
                  <a:srgbClr val="000000"/>
                </a:solidFill>
                <a:latin typeface="Symbol" panose="05050102010706020507"/>
              </a:rPr>
              <a:t> </a:t>
            </a:r>
            <a:r>
              <a:rPr lang="en-US" altLang="zh-CN" b="1" i="1" dirty="0" smtClean="0">
                <a:solidFill>
                  <a:schemeClr val="bg2"/>
                </a:solidFill>
              </a:rPr>
              <a:t>cg</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 </a:t>
            </a:r>
            <a:r>
              <a:rPr lang="en-US" altLang="zh-CN" b="1" dirty="0">
                <a:solidFill>
                  <a:srgbClr val="FF0000"/>
                </a:solidFill>
              </a:rPr>
              <a:t>&lt;</a:t>
            </a:r>
            <a:r>
              <a:rPr lang="en-US" altLang="zh-CN" b="1" dirty="0">
                <a:solidFill>
                  <a:schemeClr val="bg2"/>
                </a:solidFill>
              </a:rPr>
              <a:t>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endParaRPr lang="zh-CN" altLang="en-US" dirty="0">
              <a:solidFill>
                <a:schemeClr val="bg2"/>
              </a:solidFill>
            </a:endParaRPr>
          </a:p>
        </p:txBody>
      </p:sp>
      <p:sp>
        <p:nvSpPr>
          <p:cNvPr id="7" name="矩形 6"/>
          <p:cNvSpPr/>
          <p:nvPr/>
        </p:nvSpPr>
        <p:spPr>
          <a:xfrm>
            <a:off x="899592" y="3818657"/>
            <a:ext cx="5760640" cy="461665"/>
          </a:xfrm>
          <a:prstGeom prst="rect">
            <a:avLst/>
          </a:prstGeom>
        </p:spPr>
        <p:txBody>
          <a:bodyPr wrap="square">
            <a:spAutoFit/>
          </a:bodyPr>
          <a:lstStyle/>
          <a:p>
            <a:r>
              <a:rPr lang="zh-CN" altLang="en-US" dirty="0">
                <a:solidFill>
                  <a:schemeClr val="bg2"/>
                </a:solidFill>
              </a:rPr>
              <a:t>成立</a:t>
            </a:r>
            <a:r>
              <a:rPr lang="en-US" altLang="zh-CN" b="1" dirty="0">
                <a:solidFill>
                  <a:schemeClr val="bg2"/>
                </a:solidFill>
              </a:rPr>
              <a:t>, </a:t>
            </a:r>
            <a:r>
              <a:rPr lang="zh-CN" altLang="en-US" dirty="0">
                <a:solidFill>
                  <a:schemeClr val="bg2"/>
                </a:solidFill>
              </a:rPr>
              <a:t>则记</a:t>
            </a:r>
            <a:r>
              <a:rPr lang="zh-CN" altLang="en-US" dirty="0" smtClean="0">
                <a:solidFill>
                  <a:schemeClr val="bg2"/>
                </a:solidFill>
              </a:rPr>
              <a:t>作：</a:t>
            </a:r>
            <a:r>
              <a:rPr lang="en-US" altLang="zh-CN" b="1" i="1" dirty="0" smtClean="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 </a:t>
            </a:r>
            <a:r>
              <a:rPr lang="en-US" altLang="zh-CN" b="1" i="1" dirty="0">
                <a:solidFill>
                  <a:schemeClr val="bg2"/>
                </a:solidFill>
                <a:sym typeface="Symbol" panose="05050102010706020507" pitchFamily="18" charset="2"/>
              </a:rPr>
              <a:t></a:t>
            </a:r>
            <a:r>
              <a:rPr lang="en-US" altLang="zh-CN" b="1" dirty="0" smtClean="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endParaRPr lang="zh-CN" altLang="en-US" dirty="0">
              <a:solidFill>
                <a:schemeClr val="bg2"/>
              </a:solidFill>
            </a:endParaRPr>
          </a:p>
        </p:txBody>
      </p:sp>
      <p:sp>
        <p:nvSpPr>
          <p:cNvPr id="9" name="矩形 8"/>
          <p:cNvSpPr/>
          <p:nvPr/>
        </p:nvSpPr>
        <p:spPr>
          <a:xfrm>
            <a:off x="683568" y="4420320"/>
            <a:ext cx="7560840" cy="460375"/>
          </a:xfrm>
          <a:prstGeom prst="rect">
            <a:avLst/>
          </a:prstGeom>
        </p:spPr>
        <p:txBody>
          <a:bodyPr wrap="square">
            <a:spAutoFit/>
          </a:bodyPr>
          <a:lstStyle/>
          <a:p>
            <a:r>
              <a:rPr lang="zh-CN" altLang="en-US" dirty="0">
                <a:solidFill>
                  <a:schemeClr val="bg2"/>
                </a:solidFill>
              </a:rPr>
              <a:t>例子： </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a:t>
            </a:r>
            <a:r>
              <a:rPr lang="en-US" altLang="zh-CN" b="1" i="1" dirty="0">
                <a:solidFill>
                  <a:schemeClr val="bg2"/>
                </a:solidFill>
              </a:rPr>
              <a:t>n</a:t>
            </a:r>
            <a:r>
              <a:rPr lang="zh-CN" altLang="en-US" dirty="0" smtClean="0">
                <a:solidFill>
                  <a:schemeClr val="bg2"/>
                </a:solidFill>
              </a:rPr>
              <a:t>，</a:t>
            </a:r>
            <a:r>
              <a:rPr lang="en-US" altLang="zh-CN" b="1" i="1" dirty="0" smtClean="0">
                <a:solidFill>
                  <a:schemeClr val="bg2"/>
                </a:solidFill>
              </a:rPr>
              <a:t>g</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rPr>
              <a:t>n</a:t>
            </a:r>
            <a:r>
              <a:rPr lang="en-US" altLang="zh-CN" b="1" baseline="30000" dirty="0" smtClean="0">
                <a:solidFill>
                  <a:schemeClr val="bg2"/>
                </a:solidFill>
              </a:rPr>
              <a:t>       </a:t>
            </a:r>
            <a:r>
              <a:rPr lang="zh-CN" altLang="en-US" dirty="0" smtClean="0">
                <a:solidFill>
                  <a:schemeClr val="bg2"/>
                </a:solidFill>
              </a:rPr>
              <a:t>则    </a:t>
            </a:r>
            <a:r>
              <a:rPr lang="en-US" altLang="zh-CN" b="1" i="1" dirty="0" smtClean="0">
                <a:solidFill>
                  <a:schemeClr val="bg2"/>
                </a:solidFill>
              </a:rPr>
              <a:t>f</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en-US" altLang="zh-CN" b="1" i="1" dirty="0" smtClean="0">
                <a:solidFill>
                  <a:schemeClr val="bg2"/>
                </a:solidFill>
                <a:sym typeface="Symbol" panose="05050102010706020507" pitchFamily="18" charset="2"/>
              </a:rPr>
              <a:t></a:t>
            </a:r>
            <a:r>
              <a:rPr lang="en-US" altLang="zh-CN" b="1" dirty="0" smtClean="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endParaRPr lang="zh-CN" altLang="en-US" dirty="0">
              <a:solidFill>
                <a:schemeClr val="bg2"/>
              </a:solidFill>
            </a:endParaRPr>
          </a:p>
        </p:txBody>
      </p:sp>
      <p:sp>
        <p:nvSpPr>
          <p:cNvPr id="10" name="矩形 9"/>
          <p:cNvSpPr/>
          <p:nvPr/>
        </p:nvSpPr>
        <p:spPr>
          <a:xfrm>
            <a:off x="899592" y="4924376"/>
            <a:ext cx="7200800" cy="520848"/>
          </a:xfrm>
          <a:prstGeom prst="rect">
            <a:avLst/>
          </a:prstGeom>
        </p:spPr>
        <p:txBody>
          <a:bodyPr wrap="square">
            <a:spAutoFit/>
          </a:bodyPr>
          <a:lstStyle/>
          <a:p>
            <a:pPr marL="342900" indent="-342900">
              <a:lnSpc>
                <a:spcPct val="130000"/>
              </a:lnSpc>
              <a:buFont typeface="Arial" panose="020B0604020202020204" pitchFamily="34" charset="0"/>
              <a:buChar char="•"/>
            </a:pPr>
            <a:r>
              <a:rPr lang="zh-CN" altLang="en-US" b="1" dirty="0" smtClean="0">
                <a:solidFill>
                  <a:schemeClr val="bg2"/>
                </a:solidFill>
              </a:rPr>
              <a:t>对于任意</a:t>
            </a:r>
            <a:r>
              <a:rPr lang="en-US" altLang="zh-CN" b="1" i="1" dirty="0" smtClean="0">
                <a:solidFill>
                  <a:schemeClr val="bg2"/>
                </a:solidFill>
              </a:rPr>
              <a:t>c </a:t>
            </a:r>
            <a:r>
              <a:rPr lang="en-US" altLang="zh-CN" b="1" dirty="0">
                <a:solidFill>
                  <a:schemeClr val="bg2"/>
                </a:solidFill>
              </a:rPr>
              <a:t>&gt;</a:t>
            </a:r>
            <a:r>
              <a:rPr lang="en-US" altLang="zh-CN" b="1" dirty="0" smtClean="0">
                <a:solidFill>
                  <a:schemeClr val="bg2"/>
                </a:solidFill>
              </a:rPr>
              <a:t>0</a:t>
            </a:r>
            <a:r>
              <a:rPr lang="zh-CN" altLang="en-US" b="1" dirty="0" smtClean="0">
                <a:solidFill>
                  <a:schemeClr val="bg2"/>
                </a:solidFill>
              </a:rPr>
              <a:t>，取 </a:t>
            </a:r>
            <a:r>
              <a:rPr lang="en-US" altLang="zh-CN" b="1" i="1" dirty="0" smtClean="0">
                <a:solidFill>
                  <a:schemeClr val="bg2"/>
                </a:solidFill>
              </a:rPr>
              <a:t>n</a:t>
            </a:r>
            <a:r>
              <a:rPr lang="en-US" altLang="zh-CN" b="1" baseline="-25000" dirty="0" smtClean="0">
                <a:solidFill>
                  <a:schemeClr val="bg2"/>
                </a:solidFill>
              </a:rPr>
              <a:t>0</a:t>
            </a:r>
            <a:r>
              <a:rPr lang="en-US" altLang="zh-CN" b="1" dirty="0" smtClean="0">
                <a:solidFill>
                  <a:schemeClr val="bg2"/>
                </a:solidFill>
              </a:rPr>
              <a:t> =</a:t>
            </a:r>
            <a:r>
              <a:rPr lang="en-US" altLang="zh-CN" b="1" i="1" dirty="0" smtClean="0">
                <a:solidFill>
                  <a:schemeClr val="bg2"/>
                </a:solidFill>
              </a:rPr>
              <a:t>c</a:t>
            </a:r>
            <a:r>
              <a:rPr lang="zh-CN" altLang="en-US" b="1" dirty="0" smtClean="0">
                <a:solidFill>
                  <a:schemeClr val="bg2"/>
                </a:solidFill>
              </a:rPr>
              <a:t>，</a:t>
            </a:r>
            <a:r>
              <a:rPr lang="zh-CN" altLang="en-US" b="1" dirty="0">
                <a:solidFill>
                  <a:schemeClr val="bg2"/>
                </a:solidFill>
              </a:rPr>
              <a:t>当</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en-US" altLang="zh-CN" b="1" baseline="-25000" dirty="0">
                <a:solidFill>
                  <a:schemeClr val="bg2"/>
                </a:solidFill>
              </a:rPr>
              <a:t>0</a:t>
            </a:r>
            <a:r>
              <a:rPr lang="zh-CN" altLang="en-US" b="1" dirty="0" smtClean="0">
                <a:solidFill>
                  <a:schemeClr val="bg2"/>
                </a:solidFill>
              </a:rPr>
              <a:t>时</a:t>
            </a:r>
            <a:endParaRPr lang="zh-CN" altLang="en-US" b="1" dirty="0">
              <a:solidFill>
                <a:schemeClr val="bg2"/>
              </a:solidFill>
            </a:endParaRPr>
          </a:p>
        </p:txBody>
      </p:sp>
      <p:sp>
        <p:nvSpPr>
          <p:cNvPr id="11" name="矩形 10"/>
          <p:cNvSpPr/>
          <p:nvPr/>
        </p:nvSpPr>
        <p:spPr>
          <a:xfrm>
            <a:off x="1331640" y="5500440"/>
            <a:ext cx="5280613" cy="520848"/>
          </a:xfrm>
          <a:prstGeom prst="rect">
            <a:avLst/>
          </a:prstGeom>
        </p:spPr>
        <p:txBody>
          <a:bodyPr wrap="none">
            <a:spAutoFit/>
          </a:bodyPr>
          <a:lstStyle/>
          <a:p>
            <a:pPr>
              <a:lnSpc>
                <a:spcPct val="130000"/>
              </a:lnSpc>
            </a:pPr>
            <a:r>
              <a:rPr lang="zh-CN" altLang="en-US" b="1" dirty="0">
                <a:solidFill>
                  <a:schemeClr val="bg2"/>
                </a:solidFill>
              </a:rPr>
              <a:t>当</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en-US" altLang="zh-CN" b="1" baseline="-25000" dirty="0">
                <a:solidFill>
                  <a:schemeClr val="bg2"/>
                </a:solidFill>
              </a:rPr>
              <a:t>0</a:t>
            </a:r>
            <a:r>
              <a:rPr lang="zh-CN" altLang="en-US" b="1" dirty="0" smtClean="0">
                <a:solidFill>
                  <a:schemeClr val="bg2"/>
                </a:solidFill>
              </a:rPr>
              <a:t>时，</a:t>
            </a:r>
            <a:r>
              <a:rPr lang="en-US" altLang="zh-CN" b="1" i="1" dirty="0">
                <a:solidFill>
                  <a:schemeClr val="bg2"/>
                </a:solidFill>
              </a:rPr>
              <a:t> </a:t>
            </a:r>
            <a:r>
              <a:rPr lang="en-US" altLang="zh-CN" b="1" i="1" dirty="0" smtClean="0">
                <a:solidFill>
                  <a:schemeClr val="bg2"/>
                </a:solidFill>
              </a:rPr>
              <a:t>n</a:t>
            </a:r>
            <a:r>
              <a:rPr lang="en-US" altLang="zh-CN" b="1" baseline="30000" dirty="0" smtClean="0">
                <a:solidFill>
                  <a:schemeClr val="bg2"/>
                </a:solidFill>
              </a:rPr>
              <a:t>2</a:t>
            </a:r>
            <a:r>
              <a:rPr lang="en-US" altLang="zh-CN" b="1" dirty="0" smtClean="0">
                <a:solidFill>
                  <a:schemeClr val="bg2"/>
                </a:solidFill>
              </a:rPr>
              <a:t>+</a:t>
            </a:r>
            <a:r>
              <a:rPr lang="en-US" altLang="zh-CN" b="1" i="1" dirty="0" smtClean="0">
                <a:solidFill>
                  <a:schemeClr val="bg2"/>
                </a:solidFill>
              </a:rPr>
              <a:t>n&gt;</a:t>
            </a:r>
            <a:r>
              <a:rPr lang="en-US" altLang="zh-CN" b="1" i="1" dirty="0" err="1" smtClean="0">
                <a:solidFill>
                  <a:schemeClr val="bg2"/>
                </a:solidFill>
              </a:rPr>
              <a:t>cn</a:t>
            </a:r>
            <a:r>
              <a:rPr lang="zh-CN" altLang="en-US" b="1" dirty="0" smtClean="0">
                <a:solidFill>
                  <a:schemeClr val="bg2"/>
                </a:solidFill>
              </a:rPr>
              <a:t>，即</a:t>
            </a:r>
            <a:r>
              <a:rPr lang="en-US" altLang="zh-CN" b="1" i="1" dirty="0">
                <a:solidFill>
                  <a:schemeClr val="bg2"/>
                </a:solidFill>
              </a:rPr>
              <a:t>f</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en-US" altLang="zh-CN" b="1" i="1" dirty="0">
                <a:solidFill>
                  <a:schemeClr val="bg2"/>
                </a:solidFill>
                <a:sym typeface="Symbol" panose="05050102010706020507" pitchFamily="18" charset="2"/>
              </a:rPr>
              <a:t></a:t>
            </a:r>
            <a:r>
              <a:rPr lang="en-US" altLang="zh-CN" b="1" dirty="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7" grpId="0"/>
      <p:bldP spid="9" grpId="0"/>
      <p:bldP spid="10"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5603"/>
            <a:ext cx="8229600" cy="706437"/>
          </a:xfrm>
        </p:spPr>
        <p:txBody>
          <a:bodyPr vert="horz" wrap="square" lIns="91440" tIns="45720" rIns="91440" bIns="45720" anchor="ctr"/>
          <a:lstStyle/>
          <a:p>
            <a:pPr algn="l" eaLnBrk="1" hangingPunct="1"/>
            <a:r>
              <a:rPr lang="en-US" altLang="zh-CN" sz="4000" b="1" dirty="0" smtClean="0">
                <a:solidFill>
                  <a:srgbClr val="C00000"/>
                </a:solidFill>
                <a:latin typeface="Times New Roman" panose="02020603050405020304" pitchFamily="18" charset="0"/>
              </a:rPr>
              <a:t>1.3  </a:t>
            </a:r>
            <a:r>
              <a:rPr kumimoji="0" lang="zh-CN" altLang="en-US" sz="4000" kern="1200" dirty="0" smtClean="0">
                <a:solidFill>
                  <a:srgbClr val="C00000"/>
                </a:solidFill>
                <a:latin typeface="Times New Roman" panose="02020603050405020304" pitchFamily="18" charset="0"/>
                <a:ea typeface="+mn-ea"/>
                <a:cs typeface="Times New Roman" panose="02020603050405020304" pitchFamily="18" charset="0"/>
                <a:sym typeface="+mn-ea"/>
              </a:rPr>
              <a:t>算法</a:t>
            </a:r>
            <a:r>
              <a:rPr kumimoji="0" lang="zh-CN" altLang="en-US" sz="4000" kern="1200" dirty="0">
                <a:solidFill>
                  <a:srgbClr val="C00000"/>
                </a:solidFill>
                <a:latin typeface="Times New Roman" panose="02020603050405020304" pitchFamily="18" charset="0"/>
                <a:ea typeface="+mn-ea"/>
                <a:cs typeface="Times New Roman" panose="02020603050405020304" pitchFamily="18" charset="0"/>
                <a:sym typeface="+mn-ea"/>
              </a:rPr>
              <a:t>的数学基础</a:t>
            </a:r>
            <a:endParaRPr lang="zh-CN" altLang="en-US" sz="4000" b="1" dirty="0">
              <a:solidFill>
                <a:srgbClr val="C00000"/>
              </a:solidFill>
            </a:endParaRPr>
          </a:p>
        </p:txBody>
      </p:sp>
      <p:sp>
        <p:nvSpPr>
          <p:cNvPr id="13" name="矩形 12"/>
          <p:cNvSpPr/>
          <p:nvPr/>
        </p:nvSpPr>
        <p:spPr>
          <a:xfrm>
            <a:off x="899592" y="1628800"/>
            <a:ext cx="7920880" cy="2492990"/>
          </a:xfrm>
          <a:prstGeom prst="rect">
            <a:avLst/>
          </a:prstGeom>
          <a:solidFill>
            <a:schemeClr val="tx1"/>
          </a:solidFill>
        </p:spPr>
        <p:txBody>
          <a:bodyPr wrap="square">
            <a:spAutoFit/>
          </a:bodyPr>
          <a:lstStyle/>
          <a:p>
            <a:pPr marL="342900" indent="-342900">
              <a:lnSpc>
                <a:spcPct val="130000"/>
              </a:lnSpc>
              <a:buFont typeface="Arial" panose="020B0604020202020204" pitchFamily="34" charset="0"/>
              <a:buChar char="•"/>
            </a:pPr>
            <a:r>
              <a:rPr lang="zh-CN" altLang="en-US" b="1" dirty="0">
                <a:solidFill>
                  <a:schemeClr val="bg2"/>
                </a:solidFill>
              </a:rPr>
              <a:t>注意</a:t>
            </a:r>
            <a:r>
              <a:rPr lang="zh-CN" altLang="en-US" b="1" dirty="0" smtClean="0">
                <a:solidFill>
                  <a:schemeClr val="bg2"/>
                </a:solidFill>
              </a:rPr>
              <a:t>：</a:t>
            </a:r>
            <a:r>
              <a:rPr lang="zh-CN" altLang="en-US" b="1" dirty="0">
                <a:solidFill>
                  <a:schemeClr val="bg2"/>
                </a:solidFill>
              </a:rPr>
              <a:t>不能写</a:t>
            </a:r>
            <a:r>
              <a:rPr lang="zh-CN" altLang="en-US" b="1" i="1" dirty="0">
                <a:solidFill>
                  <a:schemeClr val="bg2"/>
                </a:solidFill>
              </a:rPr>
              <a:t> </a:t>
            </a: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en-US" altLang="zh-CN" b="1" dirty="0" smtClean="0">
                <a:solidFill>
                  <a:schemeClr val="bg2"/>
                </a:solidFill>
              </a:rPr>
              <a:t>=</a:t>
            </a:r>
            <a:r>
              <a:rPr lang="en-US" altLang="zh-CN" b="1" i="1" dirty="0">
                <a:solidFill>
                  <a:schemeClr val="bg2"/>
                </a:solidFill>
                <a:sym typeface="Symbol" panose="05050102010706020507" pitchFamily="18" charset="2"/>
              </a:rPr>
              <a:t> </a:t>
            </a:r>
            <a:r>
              <a:rPr lang="en-US" altLang="zh-CN" b="1" i="1" dirty="0">
                <a:solidFill>
                  <a:srgbClr val="FF0000"/>
                </a:solidFill>
                <a:sym typeface="Symbol" panose="05050102010706020507" pitchFamily="18" charset="2"/>
              </a:rPr>
              <a:t></a:t>
            </a:r>
            <a:r>
              <a:rPr lang="en-US" altLang="zh-CN" b="1" i="1" dirty="0" smtClean="0">
                <a:solidFill>
                  <a:schemeClr val="bg2"/>
                </a:solidFill>
              </a:rPr>
              <a:t> </a:t>
            </a:r>
            <a:r>
              <a:rPr lang="en-US" altLang="zh-CN" b="1" dirty="0">
                <a:solidFill>
                  <a:schemeClr val="bg2"/>
                </a:solidFill>
              </a:rPr>
              <a:t>(</a:t>
            </a:r>
            <a:r>
              <a:rPr lang="en-US" altLang="zh-CN" b="1" i="1" dirty="0">
                <a:solidFill>
                  <a:schemeClr val="bg2"/>
                </a:solidFill>
              </a:rPr>
              <a:t>n</a:t>
            </a:r>
            <a:r>
              <a:rPr lang="en-US" altLang="zh-CN" b="1" baseline="30000" dirty="0">
                <a:solidFill>
                  <a:schemeClr val="bg2"/>
                </a:solidFill>
              </a:rPr>
              <a:t>2</a:t>
            </a:r>
            <a:r>
              <a:rPr lang="en-US" altLang="zh-CN" b="1" dirty="0">
                <a:solidFill>
                  <a:schemeClr val="bg2"/>
                </a:solidFill>
              </a:rPr>
              <a:t>)</a:t>
            </a:r>
            <a:r>
              <a:rPr lang="zh-CN" altLang="en-US" b="1" dirty="0" smtClean="0">
                <a:solidFill>
                  <a:schemeClr val="bg2"/>
                </a:solidFill>
              </a:rPr>
              <a:t>，因为</a:t>
            </a:r>
            <a:endParaRPr lang="en-US" altLang="zh-CN" b="1" dirty="0" smtClean="0">
              <a:solidFill>
                <a:schemeClr val="bg2"/>
              </a:solidFill>
            </a:endParaRPr>
          </a:p>
          <a:p>
            <a:pPr>
              <a:lnSpc>
                <a:spcPct val="130000"/>
              </a:lnSpc>
            </a:pPr>
            <a:r>
              <a:rPr lang="zh-CN" altLang="en-US" b="1" dirty="0" smtClean="0">
                <a:solidFill>
                  <a:schemeClr val="bg2"/>
                </a:solidFill>
              </a:rPr>
              <a:t>（</a:t>
            </a:r>
            <a:r>
              <a:rPr lang="en-US" altLang="zh-CN" b="1" dirty="0" smtClean="0">
                <a:solidFill>
                  <a:schemeClr val="bg2"/>
                </a:solidFill>
              </a:rPr>
              <a:t>1</a:t>
            </a:r>
            <a:r>
              <a:rPr lang="zh-CN" altLang="en-US" b="1" dirty="0" smtClean="0">
                <a:solidFill>
                  <a:schemeClr val="bg2"/>
                </a:solidFill>
              </a:rPr>
              <a:t>）</a:t>
            </a:r>
            <a:r>
              <a:rPr lang="en-US" altLang="zh-CN" b="1" i="1" dirty="0" smtClean="0">
                <a:solidFill>
                  <a:schemeClr val="bg2"/>
                </a:solidFill>
              </a:rPr>
              <a:t>c</a:t>
            </a:r>
            <a:r>
              <a:rPr lang="en-US" altLang="zh-CN" b="1" dirty="0" smtClean="0">
                <a:solidFill>
                  <a:schemeClr val="bg2"/>
                </a:solidFill>
              </a:rPr>
              <a:t>=1</a:t>
            </a:r>
            <a:r>
              <a:rPr lang="zh-CN" altLang="en-US" b="1" dirty="0" smtClean="0">
                <a:solidFill>
                  <a:schemeClr val="bg2"/>
                </a:solidFill>
              </a:rPr>
              <a:t>时，取</a:t>
            </a:r>
            <a:r>
              <a:rPr lang="en-US" altLang="zh-CN" b="1" i="1" dirty="0">
                <a:solidFill>
                  <a:schemeClr val="bg2"/>
                </a:solidFill>
              </a:rPr>
              <a:t>n</a:t>
            </a:r>
            <a:r>
              <a:rPr lang="en-US" altLang="zh-CN" b="1" baseline="-25000" dirty="0">
                <a:solidFill>
                  <a:schemeClr val="bg2"/>
                </a:solidFill>
              </a:rPr>
              <a:t>0</a:t>
            </a:r>
            <a:r>
              <a:rPr lang="en-US" altLang="zh-CN" b="1" dirty="0">
                <a:solidFill>
                  <a:schemeClr val="bg2"/>
                </a:solidFill>
              </a:rPr>
              <a:t> </a:t>
            </a:r>
            <a:r>
              <a:rPr lang="en-US" altLang="zh-CN" b="1" dirty="0" smtClean="0">
                <a:solidFill>
                  <a:schemeClr val="bg2"/>
                </a:solidFill>
              </a:rPr>
              <a:t>=1</a:t>
            </a:r>
            <a:r>
              <a:rPr lang="zh-CN" altLang="en-US" b="1" dirty="0" smtClean="0">
                <a:solidFill>
                  <a:schemeClr val="bg2"/>
                </a:solidFill>
              </a:rPr>
              <a:t>，</a:t>
            </a:r>
            <a:r>
              <a:rPr lang="zh-CN" altLang="en-US" b="1" dirty="0">
                <a:solidFill>
                  <a:schemeClr val="bg2"/>
                </a:solidFill>
              </a:rPr>
              <a:t>当</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en-US" altLang="zh-CN" b="1" baseline="-25000" dirty="0">
                <a:solidFill>
                  <a:schemeClr val="bg2"/>
                </a:solidFill>
              </a:rPr>
              <a:t>0</a:t>
            </a:r>
            <a:r>
              <a:rPr lang="zh-CN" altLang="en-US" b="1" dirty="0">
                <a:solidFill>
                  <a:schemeClr val="bg2"/>
                </a:solidFill>
              </a:rPr>
              <a:t>时，</a:t>
            </a:r>
            <a:r>
              <a:rPr lang="en-US" altLang="zh-CN" b="1" i="1" dirty="0">
                <a:solidFill>
                  <a:schemeClr val="bg2"/>
                </a:solidFill>
              </a:rPr>
              <a:t> </a:t>
            </a:r>
            <a:r>
              <a:rPr lang="en-US" altLang="zh-CN" b="1" i="1" dirty="0" smtClean="0">
                <a:solidFill>
                  <a:schemeClr val="bg2"/>
                </a:solidFill>
              </a:rPr>
              <a:t>n</a:t>
            </a:r>
            <a:r>
              <a:rPr lang="en-US" altLang="zh-CN" b="1" baseline="30000" dirty="0" smtClean="0">
                <a:solidFill>
                  <a:schemeClr val="bg2"/>
                </a:solidFill>
              </a:rPr>
              <a:t>2</a:t>
            </a:r>
            <a:r>
              <a:rPr lang="en-US" altLang="zh-CN" b="1" dirty="0" smtClean="0">
                <a:solidFill>
                  <a:schemeClr val="bg2"/>
                </a:solidFill>
              </a:rPr>
              <a:t>+</a:t>
            </a:r>
            <a:r>
              <a:rPr lang="en-US" altLang="zh-CN" b="1" i="1" dirty="0" smtClean="0">
                <a:solidFill>
                  <a:schemeClr val="bg2"/>
                </a:solidFill>
              </a:rPr>
              <a:t>n&gt;cn</a:t>
            </a:r>
            <a:r>
              <a:rPr lang="en-US" altLang="zh-CN" b="1" baseline="30000" dirty="0" smtClean="0">
                <a:solidFill>
                  <a:schemeClr val="bg2"/>
                </a:solidFill>
              </a:rPr>
              <a:t>2</a:t>
            </a:r>
            <a:r>
              <a:rPr lang="en-US" altLang="zh-CN" b="1" dirty="0" smtClean="0">
                <a:solidFill>
                  <a:schemeClr val="bg2"/>
                </a:solidFill>
              </a:rPr>
              <a:t>=</a:t>
            </a:r>
            <a:r>
              <a:rPr lang="en-US" altLang="zh-CN" b="1" i="1" dirty="0">
                <a:solidFill>
                  <a:schemeClr val="bg2"/>
                </a:solidFill>
              </a:rPr>
              <a:t>n</a:t>
            </a:r>
            <a:r>
              <a:rPr lang="en-US" altLang="zh-CN" b="1" baseline="30000" dirty="0">
                <a:solidFill>
                  <a:schemeClr val="bg2"/>
                </a:solidFill>
              </a:rPr>
              <a:t>2</a:t>
            </a:r>
            <a:endParaRPr lang="en-US" altLang="zh-CN" b="1" dirty="0" smtClean="0">
              <a:solidFill>
                <a:schemeClr val="bg2"/>
              </a:solidFill>
            </a:endParaRPr>
          </a:p>
          <a:p>
            <a:pPr>
              <a:lnSpc>
                <a:spcPct val="130000"/>
              </a:lnSpc>
            </a:pPr>
            <a:r>
              <a:rPr lang="zh-CN" altLang="en-US" b="1" dirty="0" smtClean="0">
                <a:solidFill>
                  <a:schemeClr val="bg2"/>
                </a:solidFill>
              </a:rPr>
              <a:t>（</a:t>
            </a:r>
            <a:r>
              <a:rPr lang="en-US" altLang="zh-CN" b="1" dirty="0" smtClean="0">
                <a:solidFill>
                  <a:schemeClr val="bg2"/>
                </a:solidFill>
              </a:rPr>
              <a:t>2</a:t>
            </a:r>
            <a:r>
              <a:rPr lang="zh-CN" altLang="en-US" b="1" dirty="0" smtClean="0">
                <a:solidFill>
                  <a:schemeClr val="bg2"/>
                </a:solidFill>
              </a:rPr>
              <a:t>）</a:t>
            </a:r>
            <a:r>
              <a:rPr lang="en-US" altLang="zh-CN" b="1" i="1" dirty="0">
                <a:solidFill>
                  <a:schemeClr val="bg2"/>
                </a:solidFill>
              </a:rPr>
              <a:t> </a:t>
            </a:r>
            <a:r>
              <a:rPr lang="en-US" altLang="zh-CN" b="1" i="1" dirty="0" smtClean="0">
                <a:solidFill>
                  <a:schemeClr val="bg2"/>
                </a:solidFill>
              </a:rPr>
              <a:t>c</a:t>
            </a:r>
            <a:r>
              <a:rPr lang="en-US" altLang="zh-CN" b="1" dirty="0" smtClean="0">
                <a:solidFill>
                  <a:schemeClr val="bg2"/>
                </a:solidFill>
              </a:rPr>
              <a:t>=2</a:t>
            </a:r>
            <a:r>
              <a:rPr lang="zh-CN" altLang="en-US" b="1" dirty="0" smtClean="0">
                <a:solidFill>
                  <a:schemeClr val="bg2"/>
                </a:solidFill>
              </a:rPr>
              <a:t>时，不存在</a:t>
            </a:r>
            <a:r>
              <a:rPr lang="en-US" altLang="zh-CN" b="1" i="1" dirty="0" smtClean="0">
                <a:solidFill>
                  <a:schemeClr val="bg2"/>
                </a:solidFill>
              </a:rPr>
              <a:t>n</a:t>
            </a:r>
            <a:r>
              <a:rPr lang="en-US" altLang="zh-CN" b="1" baseline="-25000" dirty="0" smtClean="0">
                <a:solidFill>
                  <a:schemeClr val="bg2"/>
                </a:solidFill>
              </a:rPr>
              <a:t>0</a:t>
            </a:r>
            <a:r>
              <a:rPr lang="en-US" altLang="zh-CN" b="1" dirty="0" smtClean="0">
                <a:solidFill>
                  <a:schemeClr val="bg2"/>
                </a:solidFill>
              </a:rPr>
              <a:t> </a:t>
            </a:r>
            <a:r>
              <a:rPr lang="zh-CN" altLang="en-US" b="1" dirty="0" smtClean="0">
                <a:solidFill>
                  <a:schemeClr val="bg2"/>
                </a:solidFill>
              </a:rPr>
              <a:t>，使得当</a:t>
            </a:r>
            <a:r>
              <a:rPr lang="en-US" altLang="zh-CN" b="1" i="1" dirty="0">
                <a:solidFill>
                  <a:schemeClr val="bg2"/>
                </a:solidFill>
              </a:rPr>
              <a:t>n</a:t>
            </a:r>
            <a:r>
              <a:rPr lang="en-US" altLang="zh-CN" b="1" dirty="0">
                <a:solidFill>
                  <a:schemeClr val="bg2"/>
                </a:solidFill>
              </a:rPr>
              <a:t> ≥ </a:t>
            </a:r>
            <a:r>
              <a:rPr lang="en-US" altLang="zh-CN" b="1" i="1" dirty="0">
                <a:solidFill>
                  <a:schemeClr val="bg2"/>
                </a:solidFill>
              </a:rPr>
              <a:t>n</a:t>
            </a:r>
            <a:r>
              <a:rPr lang="en-US" altLang="zh-CN" b="1" baseline="-25000" dirty="0">
                <a:solidFill>
                  <a:schemeClr val="bg2"/>
                </a:solidFill>
              </a:rPr>
              <a:t>0</a:t>
            </a:r>
            <a:r>
              <a:rPr lang="zh-CN" altLang="en-US" b="1" dirty="0">
                <a:solidFill>
                  <a:schemeClr val="bg2"/>
                </a:solidFill>
              </a:rPr>
              <a:t>时，</a:t>
            </a:r>
            <a:r>
              <a:rPr lang="en-US" altLang="zh-CN" b="1" i="1" dirty="0">
                <a:solidFill>
                  <a:schemeClr val="bg2"/>
                </a:solidFill>
              </a:rPr>
              <a:t> </a:t>
            </a:r>
            <a:r>
              <a:rPr lang="en-US" altLang="zh-CN" b="1" i="1" dirty="0" smtClean="0">
                <a:solidFill>
                  <a:schemeClr val="bg2"/>
                </a:solidFill>
              </a:rPr>
              <a:t>n</a:t>
            </a:r>
            <a:r>
              <a:rPr lang="en-US" altLang="zh-CN" b="1" baseline="30000" dirty="0" smtClean="0">
                <a:solidFill>
                  <a:schemeClr val="bg2"/>
                </a:solidFill>
              </a:rPr>
              <a:t>2</a:t>
            </a:r>
            <a:r>
              <a:rPr lang="en-US" altLang="zh-CN" b="1" dirty="0" smtClean="0">
                <a:solidFill>
                  <a:schemeClr val="bg2"/>
                </a:solidFill>
              </a:rPr>
              <a:t>+</a:t>
            </a:r>
            <a:r>
              <a:rPr lang="en-US" altLang="zh-CN" b="1" i="1" dirty="0" smtClean="0">
                <a:solidFill>
                  <a:schemeClr val="bg2"/>
                </a:solidFill>
              </a:rPr>
              <a:t>n&gt;cn</a:t>
            </a:r>
            <a:r>
              <a:rPr lang="en-US" altLang="zh-CN" b="1" baseline="30000" dirty="0" smtClean="0">
                <a:solidFill>
                  <a:schemeClr val="bg2"/>
                </a:solidFill>
              </a:rPr>
              <a:t>2</a:t>
            </a:r>
            <a:r>
              <a:rPr lang="en-US" altLang="zh-CN" b="1" dirty="0" smtClean="0">
                <a:solidFill>
                  <a:schemeClr val="bg2"/>
                </a:solidFill>
              </a:rPr>
              <a:t>=2</a:t>
            </a:r>
            <a:r>
              <a:rPr lang="en-US" altLang="zh-CN" b="1" i="1" dirty="0" smtClean="0">
                <a:solidFill>
                  <a:schemeClr val="bg2"/>
                </a:solidFill>
              </a:rPr>
              <a:t>n</a:t>
            </a:r>
            <a:r>
              <a:rPr lang="en-US" altLang="zh-CN" b="1" baseline="30000" dirty="0" smtClean="0">
                <a:solidFill>
                  <a:schemeClr val="bg2"/>
                </a:solidFill>
              </a:rPr>
              <a:t>2</a:t>
            </a:r>
            <a:endParaRPr lang="en-US" altLang="zh-CN" b="1" baseline="30000" dirty="0" smtClean="0">
              <a:solidFill>
                <a:schemeClr val="bg2"/>
              </a:solidFill>
            </a:endParaRPr>
          </a:p>
          <a:p>
            <a:pPr>
              <a:lnSpc>
                <a:spcPct val="130000"/>
              </a:lnSpc>
            </a:pPr>
            <a:r>
              <a:rPr lang="en-US" altLang="zh-CN" b="1" baseline="30000" dirty="0">
                <a:solidFill>
                  <a:schemeClr val="bg2"/>
                </a:solidFill>
              </a:rPr>
              <a:t> </a:t>
            </a:r>
            <a:r>
              <a:rPr lang="en-US" altLang="zh-CN" b="1" baseline="30000" dirty="0" smtClean="0">
                <a:solidFill>
                  <a:schemeClr val="bg2"/>
                </a:solidFill>
              </a:rPr>
              <a:t>   </a:t>
            </a:r>
            <a:r>
              <a:rPr lang="en-US" altLang="zh-CN" b="1" dirty="0" smtClean="0">
                <a:solidFill>
                  <a:schemeClr val="bg2"/>
                </a:solidFill>
              </a:rPr>
              <a:t>……</a:t>
            </a:r>
            <a:endParaRPr lang="en-US" altLang="zh-CN" b="1" dirty="0" smtClean="0">
              <a:solidFill>
                <a:schemeClr val="bg2"/>
              </a:solidFill>
            </a:endParaRPr>
          </a:p>
          <a:p>
            <a:pPr>
              <a:lnSpc>
                <a:spcPct val="130000"/>
              </a:lnSpc>
            </a:pPr>
            <a:r>
              <a:rPr lang="en-US" altLang="zh-CN" b="1" dirty="0">
                <a:solidFill>
                  <a:schemeClr val="bg2"/>
                </a:solidFill>
              </a:rPr>
              <a:t> </a:t>
            </a:r>
            <a:r>
              <a:rPr lang="en-US" altLang="zh-CN" b="1" dirty="0" smtClean="0">
                <a:solidFill>
                  <a:schemeClr val="bg2"/>
                </a:solidFill>
              </a:rPr>
              <a:t>  </a:t>
            </a:r>
            <a:r>
              <a:rPr lang="zh-CN" altLang="en-US" b="1" dirty="0" smtClean="0">
                <a:solidFill>
                  <a:schemeClr val="bg2"/>
                </a:solidFill>
              </a:rPr>
              <a:t>不满足对任意</a:t>
            </a:r>
            <a:r>
              <a:rPr lang="en-US" altLang="zh-CN" b="1" i="1" dirty="0" smtClean="0">
                <a:solidFill>
                  <a:schemeClr val="bg2"/>
                </a:solidFill>
              </a:rPr>
              <a:t>c</a:t>
            </a:r>
            <a:r>
              <a:rPr lang="zh-CN" altLang="en-US" b="1" dirty="0" smtClean="0">
                <a:solidFill>
                  <a:schemeClr val="bg2"/>
                </a:solidFill>
              </a:rPr>
              <a:t>都存在</a:t>
            </a:r>
            <a:r>
              <a:rPr lang="en-US" altLang="zh-CN" b="1" i="1" dirty="0" smtClean="0">
                <a:solidFill>
                  <a:schemeClr val="bg2"/>
                </a:solidFill>
              </a:rPr>
              <a:t>n</a:t>
            </a:r>
            <a:r>
              <a:rPr lang="en-US" altLang="zh-CN" b="1" baseline="-25000" dirty="0" smtClean="0">
                <a:solidFill>
                  <a:schemeClr val="bg2"/>
                </a:solidFill>
              </a:rPr>
              <a:t>0 </a:t>
            </a:r>
            <a:r>
              <a:rPr lang="zh-CN" altLang="en-US" b="1" dirty="0" smtClean="0">
                <a:solidFill>
                  <a:schemeClr val="bg2"/>
                </a:solidFill>
              </a:rPr>
              <a:t>，使得</a:t>
            </a:r>
            <a:r>
              <a:rPr lang="en-US" altLang="zh-CN" b="1" i="1" dirty="0" smtClean="0">
                <a:solidFill>
                  <a:schemeClr val="bg2"/>
                </a:solidFill>
              </a:rPr>
              <a:t>n</a:t>
            </a:r>
            <a:r>
              <a:rPr lang="en-US" altLang="zh-CN" b="1" dirty="0" smtClean="0">
                <a:solidFill>
                  <a:schemeClr val="bg2"/>
                </a:solidFill>
              </a:rPr>
              <a:t> </a:t>
            </a:r>
            <a:r>
              <a:rPr lang="en-US" altLang="zh-CN" b="1" dirty="0">
                <a:solidFill>
                  <a:schemeClr val="bg2"/>
                </a:solidFill>
              </a:rPr>
              <a:t>≥ </a:t>
            </a:r>
            <a:r>
              <a:rPr lang="en-US" altLang="zh-CN" b="1" i="1" dirty="0" smtClean="0">
                <a:solidFill>
                  <a:schemeClr val="bg2"/>
                </a:solidFill>
              </a:rPr>
              <a:t>n</a:t>
            </a:r>
            <a:r>
              <a:rPr lang="en-US" altLang="zh-CN" b="1" baseline="-25000" dirty="0" smtClean="0">
                <a:solidFill>
                  <a:schemeClr val="bg2"/>
                </a:solidFill>
              </a:rPr>
              <a:t>0</a:t>
            </a:r>
            <a:r>
              <a:rPr lang="zh-CN" altLang="en-US" b="1" dirty="0">
                <a:solidFill>
                  <a:schemeClr val="bg2"/>
                </a:solidFill>
              </a:rPr>
              <a:t>，</a:t>
            </a:r>
            <a:r>
              <a:rPr lang="en-US" altLang="zh-CN" b="1" i="1" dirty="0" smtClean="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en-US" altLang="zh-CN" b="1" dirty="0" smtClean="0">
                <a:solidFill>
                  <a:schemeClr val="bg2"/>
                </a:solidFill>
              </a:rPr>
              <a:t>&gt;</a:t>
            </a:r>
            <a:r>
              <a:rPr lang="en-US" altLang="zh-CN" b="1" i="1" dirty="0" smtClean="0">
                <a:solidFill>
                  <a:schemeClr val="bg2"/>
                </a:solidFill>
              </a:rPr>
              <a:t>cg</a:t>
            </a:r>
            <a:r>
              <a:rPr lang="en-US" altLang="zh-CN" b="1" dirty="0" smtClean="0">
                <a:solidFill>
                  <a:schemeClr val="bg2"/>
                </a:solidFill>
              </a:rPr>
              <a:t>(</a:t>
            </a:r>
            <a:r>
              <a:rPr lang="en-US" altLang="zh-CN" b="1" i="1" dirty="0" smtClean="0">
                <a:solidFill>
                  <a:schemeClr val="bg2"/>
                </a:solidFill>
              </a:rPr>
              <a:t>n</a:t>
            </a:r>
            <a:r>
              <a:rPr lang="en-US" altLang="zh-CN" b="1" dirty="0" smtClean="0">
                <a:solidFill>
                  <a:schemeClr val="bg2"/>
                </a:solidFill>
              </a:rPr>
              <a:t>)</a:t>
            </a:r>
            <a:r>
              <a:rPr lang="zh-CN" altLang="en-US" b="1" dirty="0" smtClean="0">
                <a:solidFill>
                  <a:schemeClr val="bg2"/>
                </a:solidFill>
              </a:rPr>
              <a:t>成立</a:t>
            </a:r>
            <a:endParaRPr lang="zh-CN" altLang="en-US" dirty="0">
              <a:solidFill>
                <a:schemeClr val="bg2"/>
              </a:solidFill>
            </a:endParaRPr>
          </a:p>
        </p:txBody>
      </p:sp>
      <p:sp>
        <p:nvSpPr>
          <p:cNvPr id="8" name="矩形 7"/>
          <p:cNvSpPr/>
          <p:nvPr/>
        </p:nvSpPr>
        <p:spPr>
          <a:xfrm>
            <a:off x="1127760" y="4149358"/>
            <a:ext cx="7332672" cy="1532727"/>
          </a:xfrm>
          <a:prstGeom prst="rect">
            <a:avLst/>
          </a:prstGeom>
        </p:spPr>
        <p:txBody>
          <a:bodyPr wrap="square">
            <a:spAutoFit/>
          </a:bodyPr>
          <a:lstStyle/>
          <a:p>
            <a:pPr>
              <a:lnSpc>
                <a:spcPct val="130000"/>
              </a:lnSpc>
            </a:pPr>
            <a:r>
              <a:rPr lang="en-US" altLang="zh-CN" b="1" dirty="0">
                <a:solidFill>
                  <a:schemeClr val="bg2"/>
                </a:solidFill>
              </a:rPr>
              <a:t>1. </a:t>
            </a:r>
            <a:r>
              <a:rPr lang="en-US" altLang="zh-CN" b="1" i="1" dirty="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r>
              <a:rPr lang="en-US" altLang="zh-CN" b="1" i="1" dirty="0" smtClean="0">
                <a:solidFill>
                  <a:schemeClr val="bg2"/>
                </a:solidFill>
                <a:sym typeface="Symbol" panose="05050102010706020507" pitchFamily="18" charset="2"/>
              </a:rPr>
              <a:t></a:t>
            </a:r>
            <a:r>
              <a:rPr lang="en-US" altLang="zh-CN" b="1" dirty="0" smtClean="0">
                <a:solidFill>
                  <a:schemeClr val="bg2"/>
                </a:solidFill>
              </a:rPr>
              <a:t>(</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smtClean="0">
                <a:solidFill>
                  <a:schemeClr val="bg2"/>
                </a:solidFill>
              </a:rPr>
              <a:t>))</a:t>
            </a:r>
            <a:r>
              <a:rPr lang="zh-CN" altLang="en-US" b="1" dirty="0" smtClean="0">
                <a:solidFill>
                  <a:schemeClr val="bg2"/>
                </a:solidFill>
              </a:rPr>
              <a:t>，</a:t>
            </a:r>
            <a:r>
              <a:rPr lang="en-US" altLang="zh-CN" b="1" i="1" dirty="0" smtClean="0">
                <a:solidFill>
                  <a:schemeClr val="bg2"/>
                </a:solidFill>
              </a:rPr>
              <a:t>f </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a:t>
            </a:r>
            <a:r>
              <a:rPr lang="zh-CN" altLang="en-US" b="1" dirty="0">
                <a:solidFill>
                  <a:schemeClr val="bg2"/>
                </a:solidFill>
              </a:rPr>
              <a:t>的阶</a:t>
            </a:r>
            <a:r>
              <a:rPr lang="zh-CN" altLang="en-US" b="1" dirty="0">
                <a:solidFill>
                  <a:srgbClr val="FF0000"/>
                </a:solidFill>
              </a:rPr>
              <a:t>高于</a:t>
            </a:r>
            <a:r>
              <a:rPr lang="en-US" altLang="zh-CN" b="1" i="1" dirty="0">
                <a:solidFill>
                  <a:schemeClr val="bg2"/>
                </a:solidFill>
              </a:rPr>
              <a:t>g</a:t>
            </a:r>
            <a:r>
              <a:rPr lang="en-US" altLang="zh-CN" b="1" dirty="0">
                <a:solidFill>
                  <a:schemeClr val="bg2"/>
                </a:solidFill>
              </a:rPr>
              <a:t>(</a:t>
            </a:r>
            <a:r>
              <a:rPr lang="en-US" altLang="zh-CN" b="1" i="1" dirty="0">
                <a:solidFill>
                  <a:schemeClr val="bg2"/>
                </a:solidFill>
              </a:rPr>
              <a:t>n</a:t>
            </a:r>
            <a:r>
              <a:rPr lang="en-US" altLang="zh-CN" b="1" dirty="0">
                <a:solidFill>
                  <a:schemeClr val="bg2"/>
                </a:solidFill>
              </a:rPr>
              <a:t>) </a:t>
            </a:r>
            <a:r>
              <a:rPr lang="zh-CN" altLang="en-US" b="1" dirty="0">
                <a:solidFill>
                  <a:schemeClr val="bg2"/>
                </a:solidFill>
              </a:rPr>
              <a:t>的</a:t>
            </a:r>
            <a:r>
              <a:rPr lang="zh-CN" altLang="en-US" b="1" dirty="0" smtClean="0">
                <a:solidFill>
                  <a:schemeClr val="bg2"/>
                </a:solidFill>
              </a:rPr>
              <a:t>阶。</a:t>
            </a:r>
            <a:endParaRPr lang="zh-CN" altLang="en-US" dirty="0">
              <a:solidFill>
                <a:schemeClr val="bg2"/>
              </a:solidFill>
            </a:endParaRPr>
          </a:p>
          <a:p>
            <a:pPr>
              <a:lnSpc>
                <a:spcPct val="130000"/>
              </a:lnSpc>
            </a:pPr>
            <a:r>
              <a:rPr lang="en-US" altLang="zh-CN" b="1" dirty="0">
                <a:solidFill>
                  <a:schemeClr val="bg2"/>
                </a:solidFill>
              </a:rPr>
              <a:t>2. </a:t>
            </a:r>
            <a:r>
              <a:rPr lang="zh-CN" altLang="en-US" b="1" dirty="0">
                <a:solidFill>
                  <a:schemeClr val="bg2"/>
                </a:solidFill>
              </a:rPr>
              <a:t>对不同的正数</a:t>
            </a:r>
            <a:r>
              <a:rPr lang="en-US" altLang="zh-CN" b="1" i="1" dirty="0" smtClean="0">
                <a:solidFill>
                  <a:schemeClr val="bg2"/>
                </a:solidFill>
              </a:rPr>
              <a:t>c</a:t>
            </a:r>
            <a:r>
              <a:rPr lang="zh-CN" altLang="en-US" b="1" i="1" dirty="0" smtClean="0">
                <a:solidFill>
                  <a:schemeClr val="bg2"/>
                </a:solidFill>
              </a:rPr>
              <a:t>，</a:t>
            </a:r>
            <a:r>
              <a:rPr lang="en-US" altLang="zh-CN" b="1" i="1" dirty="0" smtClean="0">
                <a:solidFill>
                  <a:schemeClr val="bg2"/>
                </a:solidFill>
              </a:rPr>
              <a:t>n</a:t>
            </a:r>
            <a:r>
              <a:rPr lang="en-US" altLang="zh-CN" b="1" baseline="-25000" dirty="0" smtClean="0">
                <a:solidFill>
                  <a:schemeClr val="bg2"/>
                </a:solidFill>
              </a:rPr>
              <a:t>0</a:t>
            </a:r>
            <a:r>
              <a:rPr lang="zh-CN" altLang="en-US" b="1" dirty="0">
                <a:solidFill>
                  <a:schemeClr val="bg2"/>
                </a:solidFill>
              </a:rPr>
              <a:t>不等，</a:t>
            </a:r>
            <a:r>
              <a:rPr lang="en-US" altLang="zh-CN" b="1" i="1" dirty="0">
                <a:solidFill>
                  <a:schemeClr val="bg2"/>
                </a:solidFill>
              </a:rPr>
              <a:t>c </a:t>
            </a:r>
            <a:r>
              <a:rPr lang="zh-CN" altLang="en-US" b="1" dirty="0">
                <a:solidFill>
                  <a:schemeClr val="bg2"/>
                </a:solidFill>
              </a:rPr>
              <a:t>越大</a:t>
            </a:r>
            <a:r>
              <a:rPr lang="en-US" altLang="zh-CN" b="1" i="1" dirty="0">
                <a:solidFill>
                  <a:schemeClr val="bg2"/>
                </a:solidFill>
              </a:rPr>
              <a:t>n</a:t>
            </a:r>
            <a:r>
              <a:rPr lang="en-US" altLang="zh-CN" b="1" baseline="-25000" dirty="0">
                <a:solidFill>
                  <a:schemeClr val="bg2"/>
                </a:solidFill>
              </a:rPr>
              <a:t>0</a:t>
            </a:r>
            <a:r>
              <a:rPr lang="en-US" altLang="zh-CN" b="1" dirty="0">
                <a:solidFill>
                  <a:schemeClr val="bg2"/>
                </a:solidFill>
              </a:rPr>
              <a:t> </a:t>
            </a:r>
            <a:r>
              <a:rPr lang="zh-CN" altLang="en-US" b="1" dirty="0">
                <a:solidFill>
                  <a:schemeClr val="bg2"/>
                </a:solidFill>
              </a:rPr>
              <a:t>越</a:t>
            </a:r>
            <a:r>
              <a:rPr lang="zh-CN" altLang="en-US" b="1" dirty="0" smtClean="0">
                <a:solidFill>
                  <a:schemeClr val="bg2"/>
                </a:solidFill>
              </a:rPr>
              <a:t>大。</a:t>
            </a:r>
            <a:r>
              <a:rPr lang="en-US" altLang="zh-CN" b="1" dirty="0" smtClean="0">
                <a:solidFill>
                  <a:schemeClr val="bg2"/>
                </a:solidFill>
              </a:rPr>
              <a:t> </a:t>
            </a:r>
            <a:endParaRPr lang="zh-CN" altLang="en-US" dirty="0">
              <a:solidFill>
                <a:schemeClr val="bg2"/>
              </a:solidFill>
            </a:endParaRPr>
          </a:p>
          <a:p>
            <a:pPr>
              <a:lnSpc>
                <a:spcPct val="130000"/>
              </a:lnSpc>
            </a:pPr>
            <a:r>
              <a:rPr lang="en-US" altLang="zh-CN" b="1" dirty="0">
                <a:solidFill>
                  <a:schemeClr val="bg2"/>
                </a:solidFill>
              </a:rPr>
              <a:t>3. </a:t>
            </a:r>
            <a:r>
              <a:rPr lang="zh-CN" altLang="en-US" b="1" dirty="0" smtClean="0">
                <a:solidFill>
                  <a:schemeClr val="bg2"/>
                </a:solidFill>
              </a:rPr>
              <a:t>对</a:t>
            </a:r>
            <a:r>
              <a:rPr lang="en-US" altLang="zh-CN" b="1" i="1" dirty="0">
                <a:solidFill>
                  <a:schemeClr val="bg2"/>
                </a:solidFill>
              </a:rPr>
              <a:t>n</a:t>
            </a:r>
            <a:r>
              <a:rPr lang="en-US" altLang="zh-CN" b="1" baseline="-25000" dirty="0">
                <a:solidFill>
                  <a:schemeClr val="bg2"/>
                </a:solidFill>
              </a:rPr>
              <a:t>0</a:t>
            </a:r>
            <a:r>
              <a:rPr lang="zh-CN" altLang="en-US" b="1" dirty="0" smtClean="0">
                <a:solidFill>
                  <a:schemeClr val="bg2"/>
                </a:solidFill>
              </a:rPr>
              <a:t>前面</a:t>
            </a:r>
            <a:r>
              <a:rPr lang="zh-CN" altLang="en-US" b="1" dirty="0">
                <a:solidFill>
                  <a:schemeClr val="bg2"/>
                </a:solidFill>
              </a:rPr>
              <a:t>有限个 </a:t>
            </a:r>
            <a:r>
              <a:rPr lang="en-US" altLang="zh-CN" b="1" i="1" dirty="0">
                <a:solidFill>
                  <a:schemeClr val="bg2"/>
                </a:solidFill>
              </a:rPr>
              <a:t>n </a:t>
            </a:r>
            <a:r>
              <a:rPr lang="zh-CN" altLang="en-US" b="1" dirty="0">
                <a:solidFill>
                  <a:schemeClr val="bg2"/>
                </a:solidFill>
              </a:rPr>
              <a:t>值可以 不满足</a:t>
            </a:r>
            <a:r>
              <a:rPr lang="zh-CN" altLang="en-US" b="1" dirty="0" smtClean="0">
                <a:solidFill>
                  <a:schemeClr val="bg2"/>
                </a:solidFill>
              </a:rPr>
              <a:t>不等式。</a:t>
            </a:r>
            <a:endParaRPr lang="zh-CN" altLang="en-US" dirty="0">
              <a:solidFill>
                <a:schemeClr val="bg2"/>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8" grpId="0"/>
    </p:bldLst>
  </p:timing>
</p:sld>
</file>

<file path=ppt/tags/tag1.xml><?xml version="1.0" encoding="utf-8"?>
<p:tagLst xmlns:p="http://schemas.openxmlformats.org/presentationml/2006/main">
  <p:tag name="DEFINEDINNAVIGATOR" val="True"/>
  <p:tag name="HOTSPOTTYPE" val="DefinedInNavigator"/>
  <p:tag name="BRANCHTO" val="257"/>
</p:tagLst>
</file>

<file path=ppt/theme/theme1.xml><?xml version="1.0" encoding="utf-8"?>
<a:theme xmlns:a="http://schemas.openxmlformats.org/drawingml/2006/main" name="个人主页 (标准)">
  <a:themeElements>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fontScheme name="个人主页 (标准)">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个人主页 (标准) 1">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EAEAEA"/>
        </a:hlink>
        <a:folHlink>
          <a:srgbClr val="A73737"/>
        </a:folHlink>
      </a:clrScheme>
      <a:clrMap bg1="dk2" tx1="lt1" bg2="dk1" tx2="lt2" accent1="accent1" accent2="accent2" accent3="accent3" accent4="accent4" accent5="accent5" accent6="accent6" hlink="hlink" folHlink="folHlink"/>
    </a:extraClrScheme>
    <a:extraClrScheme>
      <a:clrScheme name="个人主页 (标准) 2">
        <a:dk1>
          <a:srgbClr val="663300"/>
        </a:dk1>
        <a:lt1>
          <a:srgbClr val="FFFFFF"/>
        </a:lt1>
        <a:dk2>
          <a:srgbClr val="996633"/>
        </a:dk2>
        <a:lt2>
          <a:srgbClr val="868686"/>
        </a:lt2>
        <a:accent1>
          <a:srgbClr val="FF9900"/>
        </a:accent1>
        <a:accent2>
          <a:srgbClr val="CC6600"/>
        </a:accent2>
        <a:accent3>
          <a:srgbClr val="FFFFFF"/>
        </a:accent3>
        <a:accent4>
          <a:srgbClr val="562A00"/>
        </a:accent4>
        <a:accent5>
          <a:srgbClr val="FFCAAA"/>
        </a:accent5>
        <a:accent6>
          <a:srgbClr val="B95C00"/>
        </a:accent6>
        <a:hlink>
          <a:srgbClr val="FFCC00"/>
        </a:hlink>
        <a:folHlink>
          <a:srgbClr val="CCCCCC"/>
        </a:folHlink>
      </a:clrScheme>
      <a:clrMap bg1="lt1" tx1="dk1" bg2="lt2" tx2="dk2" accent1="accent1" accent2="accent2" accent3="accent3" accent4="accent4" accent5="accent5" accent6="accent6" hlink="hlink" folHlink="folHlink"/>
    </a:extraClrScheme>
    <a:extraClrScheme>
      <a:clrScheme name="个人主页 (标准)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个人主页 (标准) 4">
        <a:dk1>
          <a:srgbClr val="000000"/>
        </a:dk1>
        <a:lt1>
          <a:srgbClr val="FFFFFF"/>
        </a:lt1>
        <a:dk2>
          <a:srgbClr val="1E2E53"/>
        </a:dk2>
        <a:lt2>
          <a:srgbClr val="FFCC00"/>
        </a:lt2>
        <a:accent1>
          <a:srgbClr val="FF9933"/>
        </a:accent1>
        <a:accent2>
          <a:srgbClr val="336699"/>
        </a:accent2>
        <a:accent3>
          <a:srgbClr val="ABADB3"/>
        </a:accent3>
        <a:accent4>
          <a:srgbClr val="DADADA"/>
        </a:accent4>
        <a:accent5>
          <a:srgbClr val="FFCAAD"/>
        </a:accent5>
        <a:accent6>
          <a:srgbClr val="2D5C8A"/>
        </a:accent6>
        <a:hlink>
          <a:srgbClr val="0000FF"/>
        </a:hlink>
        <a:folHlink>
          <a:srgbClr val="A73737"/>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Office\Templates\演示文稿\个人主页 (标准).pot</Template>
  <TotalTime>0</TotalTime>
  <Words>6762</Words>
  <Application>WPS 演示</Application>
  <PresentationFormat>全屏显示(4:3)</PresentationFormat>
  <Paragraphs>447</Paragraphs>
  <Slides>39</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7</vt:i4>
      </vt:variant>
      <vt:variant>
        <vt:lpstr>幻灯片标题</vt:lpstr>
      </vt:variant>
      <vt:variant>
        <vt:i4>39</vt:i4>
      </vt:variant>
    </vt:vector>
  </HeadingPairs>
  <TitlesOfParts>
    <vt:vector size="62" baseType="lpstr">
      <vt:lpstr>Arial</vt:lpstr>
      <vt:lpstr>宋体</vt:lpstr>
      <vt:lpstr>Wingdings</vt:lpstr>
      <vt:lpstr>Times New Roman</vt:lpstr>
      <vt:lpstr>Wingdings</vt:lpstr>
      <vt:lpstr>黑体</vt:lpstr>
      <vt:lpstr>微软雅黑</vt:lpstr>
      <vt:lpstr>Consolas</vt:lpstr>
      <vt:lpstr>Arial Unicode MS</vt:lpstr>
      <vt:lpstr>仿宋</vt:lpstr>
      <vt:lpstr>Cambria Math</vt:lpstr>
      <vt:lpstr>楷体</vt:lpstr>
      <vt:lpstr>Symbol</vt:lpstr>
      <vt:lpstr>Times New Roman</vt:lpstr>
      <vt:lpstr>Symbol</vt:lpstr>
      <vt:lpstr>个人主页 (标准)</vt:lpstr>
      <vt:lpstr>Equation.3</vt:lpstr>
      <vt:lpstr>Equation.3</vt:lpstr>
      <vt:lpstr>Equation.3</vt:lpstr>
      <vt:lpstr>Equation.3</vt:lpstr>
      <vt:lpstr>Equation.KSEE3</vt:lpstr>
      <vt:lpstr>Equation.3</vt:lpstr>
      <vt:lpstr>Equation.KSEE3</vt:lpstr>
      <vt:lpstr>内容回顾</vt:lpstr>
      <vt:lpstr>内容回顾</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1.1 有关算法的基本概念</vt:lpstr>
      <vt:lpstr>1.2 算法的伪码描述（自学）</vt:lpstr>
      <vt:lpstr>1.2 算法的伪码描述（自学）</vt:lpstr>
      <vt:lpstr>1.2 算法的伪码描述（自学）</vt:lpstr>
      <vt:lpstr>1.2 算法的伪码描述（自学）</vt:lpstr>
      <vt:lpstr>1.2 算法的伪码描述（自学）</vt:lpstr>
      <vt:lpstr>1.2 算法的伪码描述（自学）</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lpstr>1.3  算法的数学基础</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数据库系统原理</dc:title>
  <dc:creator>songby</dc:creator>
  <cp:lastModifiedBy>冯勇</cp:lastModifiedBy>
  <cp:revision>968</cp:revision>
  <cp:lastPrinted>1995-12-08T18:33:00Z</cp:lastPrinted>
  <dcterms:created xsi:type="dcterms:W3CDTF">2000-10-31T09:27:00Z</dcterms:created>
  <dcterms:modified xsi:type="dcterms:W3CDTF">2021-09-02T04:02:45Z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2052-11.1.0.10503</vt:lpwstr>
  </property>
  <property fmtid="{D5CDD505-2E9C-101B-9397-08002B2CF9AE}" pid="3" name="ICV">
    <vt:lpwstr>92E042248BF34B51874F8CA48D072EDD</vt:lpwstr>
  </property>
</Properties>
</file>