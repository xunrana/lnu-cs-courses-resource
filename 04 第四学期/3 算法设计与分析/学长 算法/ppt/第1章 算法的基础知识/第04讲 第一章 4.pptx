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handoutMasterIdLst>
    <p:handoutMasterId r:id="rId49"/>
  </p:handoutMasterIdLst>
  <p:sldIdLst>
    <p:sldId id="639" r:id="rId3"/>
    <p:sldId id="640" r:id="rId4"/>
    <p:sldId id="641" r:id="rId5"/>
    <p:sldId id="642" r:id="rId6"/>
    <p:sldId id="643" r:id="rId7"/>
    <p:sldId id="644" r:id="rId8"/>
    <p:sldId id="645" r:id="rId9"/>
    <p:sldId id="569" r:id="rId10"/>
    <p:sldId id="570" r:id="rId11"/>
    <p:sldId id="571" r:id="rId12"/>
    <p:sldId id="572" r:id="rId13"/>
    <p:sldId id="573" r:id="rId14"/>
    <p:sldId id="574" r:id="rId15"/>
    <p:sldId id="575" r:id="rId16"/>
    <p:sldId id="576" r:id="rId17"/>
    <p:sldId id="577" r:id="rId18"/>
    <p:sldId id="610" r:id="rId19"/>
    <p:sldId id="580" r:id="rId20"/>
    <p:sldId id="612" r:id="rId21"/>
    <p:sldId id="611" r:id="rId22"/>
    <p:sldId id="578" r:id="rId23"/>
    <p:sldId id="581" r:id="rId24"/>
    <p:sldId id="582" r:id="rId25"/>
    <p:sldId id="583" r:id="rId26"/>
    <p:sldId id="584" r:id="rId27"/>
    <p:sldId id="579" r:id="rId28"/>
    <p:sldId id="585" r:id="rId29"/>
    <p:sldId id="590" r:id="rId30"/>
    <p:sldId id="586" r:id="rId31"/>
    <p:sldId id="592" r:id="rId32"/>
    <p:sldId id="591" r:id="rId33"/>
    <p:sldId id="594" r:id="rId34"/>
    <p:sldId id="595" r:id="rId35"/>
    <p:sldId id="596" r:id="rId36"/>
    <p:sldId id="598" r:id="rId37"/>
    <p:sldId id="600" r:id="rId38"/>
    <p:sldId id="597" r:id="rId39"/>
    <p:sldId id="601" r:id="rId40"/>
    <p:sldId id="602" r:id="rId41"/>
    <p:sldId id="613" r:id="rId42"/>
    <p:sldId id="614" r:id="rId43"/>
    <p:sldId id="615" r:id="rId44"/>
    <p:sldId id="616" r:id="rId45"/>
    <p:sldId id="617" r:id="rId46"/>
    <p:sldId id="618" r:id="rId47"/>
  </p:sldIdLst>
  <p:sldSz cx="9144000" cy="6858000" type="screen4x3"/>
  <p:notesSz cx="6934200" cy="9398000"/>
  <p:custDataLst>
    <p:tags r:id="rId53"/>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0099"/>
    <a:srgbClr val="CCCCFF"/>
    <a:srgbClr val="CC99FF"/>
    <a:srgbClr val="FFCCFF"/>
    <a:srgbClr val="CCECFF"/>
    <a:srgbClr val="DFC0FF"/>
    <a:srgbClr val="90D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35" autoAdjust="0"/>
    <p:restoredTop sz="94608"/>
  </p:normalViewPr>
  <p:slideViewPr>
    <p:cSldViewPr showGuides="1">
      <p:cViewPr varScale="1">
        <p:scale>
          <a:sx n="80" d="100"/>
          <a:sy n="80" d="100"/>
        </p:scale>
        <p:origin x="-738" y="-96"/>
      </p:cViewPr>
      <p:guideLst>
        <p:guide orient="horz" pos="2159"/>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notesMaster" Target="notesMasters/notesMaster1.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7" Type="http://schemas.openxmlformats.org/officeDocument/2006/relationships/image" Target="../media/image43.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5" name="Rectangle 3"/>
          <p:cNvSpPr>
            <a:spLocks noGrp="1" noChangeArrowheads="1"/>
          </p:cNvSpPr>
          <p:nvPr>
            <p:ph type="dt" sz="quarter"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Grp="1" noChangeArrowheads="1"/>
          </p:cNvSpPr>
          <p:nvPr>
            <p:ph type="ftr" sz="quarter" idx="2"/>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Rot="1" noChangeAspect="1"/>
          </p:cNvSpPr>
          <p:nvPr>
            <p:ph type="sldImg" idx="2"/>
          </p:nvPr>
        </p:nvSpPr>
        <p:spPr>
          <a:xfrm>
            <a:off x="1079500" y="685800"/>
            <a:ext cx="4775200" cy="3581400"/>
          </a:xfrm>
          <a:prstGeom prst="rect">
            <a:avLst/>
          </a:prstGeom>
          <a:noFill/>
          <a:ln w="9525" cap="flat" cmpd="sng">
            <a:solidFill>
              <a:srgbClr val="000000"/>
            </a:solidFill>
            <a:prstDash val="solid"/>
            <a:miter/>
            <a:headEnd type="none" w="med" len="med"/>
            <a:tailEnd type="none" w="med" len="med"/>
          </a:ln>
        </p:spPr>
      </p:sp>
      <p:sp>
        <p:nvSpPr>
          <p:cNvPr id="2052" name="Rectangle 4"/>
          <p:cNvSpPr>
            <a:spLocks noGrp="1" noChangeArrowheads="1"/>
          </p:cNvSpPr>
          <p:nvPr>
            <p:ph type="body" sz="quarter" idx="3"/>
          </p:nvPr>
        </p:nvSpPr>
        <p:spPr bwMode="auto">
          <a:xfrm>
            <a:off x="914400" y="4495800"/>
            <a:ext cx="5105400" cy="41910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noChangeArrowheads="1"/>
          </p:cNvSpPr>
          <p:nvPr>
            <p:ph type="dt"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tx1"/>
        </a:solidFill>
        <a:effectLst/>
      </p:bgPr>
    </p:bg>
    <p:spTree>
      <p:nvGrpSpPr>
        <p:cNvPr id="1" name=""/>
        <p:cNvGrpSpPr/>
        <p:nvPr/>
      </p:nvGrpSpPr>
      <p:grpSpPr>
        <a:xfrm>
          <a:off x="0" y="0"/>
          <a:ext cx="0" cy="0"/>
          <a:chOff x="0" y="0"/>
          <a:chExt cx="0" cy="0"/>
        </a:xfrm>
      </p:grpSpPr>
      <p:sp>
        <p:nvSpPr>
          <p:cNvPr id="19" name="AutoShape 23"/>
          <p:cNvSpPr>
            <a:spLocks noChangeArrowheads="1"/>
          </p:cNvSpPr>
          <p:nvPr/>
        </p:nvSpPr>
        <p:spPr bwMode="auto">
          <a:xfrm rot="20940000">
            <a:off x="1828800" y="304800"/>
            <a:ext cx="457200" cy="4572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AutoShape 24"/>
          <p:cNvSpPr>
            <a:spLocks noChangeArrowheads="1"/>
          </p:cNvSpPr>
          <p:nvPr/>
        </p:nvSpPr>
        <p:spPr bwMode="auto">
          <a:xfrm>
            <a:off x="2609850" y="171450"/>
            <a:ext cx="419100" cy="4191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AutoShape 25"/>
          <p:cNvSpPr>
            <a:spLocks noChangeArrowheads="1"/>
          </p:cNvSpPr>
          <p:nvPr/>
        </p:nvSpPr>
        <p:spPr bwMode="auto">
          <a:xfrm rot="20940000">
            <a:off x="1752600" y="228600"/>
            <a:ext cx="457200" cy="4572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AutoShape 26"/>
          <p:cNvSpPr>
            <a:spLocks noChangeArrowheads="1"/>
          </p:cNvSpPr>
          <p:nvPr/>
        </p:nvSpPr>
        <p:spPr bwMode="auto">
          <a:xfrm>
            <a:off x="2533650" y="19050"/>
            <a:ext cx="419100" cy="4191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4" name="Group 27"/>
          <p:cNvGrpSpPr/>
          <p:nvPr/>
        </p:nvGrpSpPr>
        <p:grpSpPr>
          <a:xfrm>
            <a:off x="6934200" y="5181600"/>
            <a:ext cx="2033588" cy="1219200"/>
            <a:chOff x="4368" y="3264"/>
            <a:chExt cx="1281" cy="768"/>
          </a:xfrm>
        </p:grpSpPr>
        <p:sp>
          <p:nvSpPr>
            <p:cNvPr id="24" name="AutoShape 28"/>
            <p:cNvSpPr>
              <a:spLocks noChangeArrowheads="1"/>
            </p:cNvSpPr>
            <p:nvPr/>
          </p:nvSpPr>
          <p:spPr bwMode="auto">
            <a:xfrm rot="20940000">
              <a:off x="4368" y="3681"/>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AutoShape 29"/>
            <p:cNvSpPr>
              <a:spLocks noChangeArrowheads="1"/>
            </p:cNvSpPr>
            <p:nvPr/>
          </p:nvSpPr>
          <p:spPr bwMode="auto">
            <a:xfrm>
              <a:off x="4845" y="3324"/>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AutoShape 30"/>
            <p:cNvSpPr>
              <a:spLocks noChangeArrowheads="1"/>
            </p:cNvSpPr>
            <p:nvPr/>
          </p:nvSpPr>
          <p:spPr bwMode="auto">
            <a:xfrm rot="1320000">
              <a:off x="5217" y="3264"/>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AutoShape 31"/>
            <p:cNvSpPr>
              <a:spLocks noChangeArrowheads="1"/>
            </p:cNvSpPr>
            <p:nvPr/>
          </p:nvSpPr>
          <p:spPr bwMode="auto">
            <a:xfrm rot="20940000">
              <a:off x="4449" y="3744"/>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AutoShape 32"/>
            <p:cNvSpPr>
              <a:spLocks noChangeArrowheads="1"/>
            </p:cNvSpPr>
            <p:nvPr/>
          </p:nvSpPr>
          <p:spPr bwMode="auto">
            <a:xfrm>
              <a:off x="4893" y="3372"/>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AutoShape 33"/>
            <p:cNvSpPr>
              <a:spLocks noChangeArrowheads="1"/>
            </p:cNvSpPr>
            <p:nvPr/>
          </p:nvSpPr>
          <p:spPr bwMode="auto">
            <a:xfrm rot="1320000">
              <a:off x="5265" y="3360"/>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0" name="AutoShape 34"/>
          <p:cNvSpPr>
            <a:spLocks noChangeArrowheads="1"/>
          </p:cNvSpPr>
          <p:nvPr/>
        </p:nvSpPr>
        <p:spPr bwMode="auto">
          <a:xfrm rot="1320000">
            <a:off x="168275" y="244475"/>
            <a:ext cx="882650" cy="88265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7" name="Rectangle 15"/>
          <p:cNvSpPr>
            <a:spLocks noGrp="1" noChangeArrowheads="1"/>
          </p:cNvSpPr>
          <p:nvPr>
            <p:ph type="subTitle" sz="quarter" idx="1"/>
          </p:nvPr>
        </p:nvSpPr>
        <p:spPr>
          <a:xfrm>
            <a:off x="1371600" y="2667000"/>
            <a:ext cx="6400800" cy="3276600"/>
          </a:xfrm>
        </p:spPr>
        <p:txBody>
          <a:bodyPr anchor="ct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3091" name="Rectangle 19"/>
          <p:cNvSpPr>
            <a:spLocks noGrp="1" noChangeArrowheads="1"/>
          </p:cNvSpPr>
          <p:nvPr>
            <p:ph type="ctrTitle" sz="quarter"/>
          </p:nvPr>
        </p:nvSpPr>
        <p:spPr>
          <a:xfrm>
            <a:off x="685800" y="914400"/>
            <a:ext cx="7772400" cy="1143000"/>
          </a:xfrm>
        </p:spPr>
        <p:txBody>
          <a:bodyPr/>
          <a:lstStyle>
            <a:lvl1pPr algn="ctr">
              <a:defRPr/>
            </a:lvl1pPr>
          </a:lstStyle>
          <a:p>
            <a:pPr lvl="0"/>
            <a:r>
              <a:rPr lang="zh-CN" altLang="en-US" noProof="0" smtClean="0"/>
              <a:t>单击此处编辑母版标题样式</a:t>
            </a:r>
            <a:endParaRPr lang="zh-CN" altLang="en-US" noProof="0" smtClean="0"/>
          </a:p>
        </p:txBody>
      </p:sp>
      <p:sp>
        <p:nvSpPr>
          <p:cNvPr id="31" name="Rectangle 16"/>
          <p:cNvSpPr>
            <a:spLocks noGrp="1" noChangeArrowheads="1"/>
          </p:cNvSpPr>
          <p:nvPr>
            <p:ph type="dt" sz="quarter" idx="2"/>
          </p:nvPr>
        </p:nvSpPr>
        <p:spPr bwMode="auto">
          <a:xfrm>
            <a:off x="76200" y="6323013"/>
            <a:ext cx="1905000" cy="457200"/>
          </a:xfrm>
          <a:prstGeom prst="rect">
            <a:avLst/>
          </a:prstGeom>
        </p:spPr>
        <p:txBody>
          <a:bodyPr vert="horz" wrap="non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324600"/>
            <a:ext cx="2895600" cy="457200"/>
          </a:xfrm>
          <a:prstGeom prst="rect">
            <a:avLst/>
          </a:prstGeom>
        </p:spPr>
        <p:txBody>
          <a:bodyPr vert="horz" wrap="none" lIns="92075" tIns="46038" rIns="92075" bIns="46038"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7162800" y="6324600"/>
            <a:ext cx="1905000" cy="457200"/>
          </a:xfrm>
          <a:prstGeom prst="rect">
            <a:avLst/>
          </a:prstGeom>
        </p:spPr>
        <p:txBody>
          <a:bodyPr vert="horz" wrap="none" lIns="92075" tIns="46038" rIns="92075" bIns="46038" numCol="1" anchor="ctr" anchorCtr="0" compatLnSpc="1"/>
          <a:lstStyle/>
          <a:p>
            <a:pPr algn="r"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20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228600"/>
            <a:ext cx="5676900" cy="5791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228600"/>
            <a:ext cx="7772400" cy="579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9"/>
          <p:cNvSpPr>
            <a:spLocks noGrp="1"/>
          </p:cNvSpPr>
          <p:nvPr>
            <p:ph type="body" idx="1"/>
          </p:nvPr>
        </p:nvSpPr>
        <p:spPr>
          <a:xfrm>
            <a:off x="685800" y="1905000"/>
            <a:ext cx="7772400" cy="4114800"/>
          </a:xfrm>
          <a:prstGeom prst="rect">
            <a:avLst/>
          </a:prstGeom>
          <a:noFill/>
          <a:ln w="9525">
            <a:noFill/>
          </a:ln>
        </p:spPr>
        <p:txBody>
          <a:bodyPr lIns="92075" tIns="46038" rIns="92075" bIns="46038"/>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4" name="Rectangle 10"/>
          <p:cNvSpPr>
            <a:spLocks noGrp="1" noChangeArrowheads="1"/>
          </p:cNvSpPr>
          <p:nvPr>
            <p:ph type="dt" sz="half" idx="2"/>
          </p:nvPr>
        </p:nvSpPr>
        <p:spPr bwMode="auto">
          <a:xfrm>
            <a:off x="2209800" y="6400800"/>
            <a:ext cx="1905000" cy="457200"/>
          </a:xfrm>
          <a:prstGeom prst="rect">
            <a:avLst/>
          </a:prstGeom>
          <a:noFill/>
          <a:ln>
            <a:noFill/>
          </a:ln>
          <a:effectLst/>
        </p:spPr>
        <p:txBody>
          <a:bodyPr vert="horz" wrap="none" lIns="92075" tIns="46038" rIns="92075" bIns="46038" numCol="1" anchor="ctr" anchorCtr="0" compatLnSpc="1"/>
          <a:lstStyle>
            <a:lvl1pPr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5" name="Rectangle 11"/>
          <p:cNvSpPr>
            <a:spLocks noGrp="1" noChangeArrowheads="1"/>
          </p:cNvSpPr>
          <p:nvPr>
            <p:ph type="ftr" sz="quarter" idx="3"/>
          </p:nvPr>
        </p:nvSpPr>
        <p:spPr bwMode="auto">
          <a:xfrm>
            <a:off x="4191000" y="6400800"/>
            <a:ext cx="2895600" cy="457200"/>
          </a:xfrm>
          <a:prstGeom prst="rect">
            <a:avLst/>
          </a:prstGeom>
          <a:noFill/>
          <a:ln>
            <a:noFill/>
          </a:ln>
          <a:effectLst/>
        </p:spPr>
        <p:txBody>
          <a:bodyPr vert="horz" wrap="none" lIns="92075" tIns="46038" rIns="92075" bIns="46038" numCol="1" anchor="ctr"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12"/>
          <p:cNvSpPr>
            <a:spLocks noGrp="1" noChangeArrowheads="1"/>
          </p:cNvSpPr>
          <p:nvPr>
            <p:ph type="sldNum" sz="quarter" idx="4"/>
          </p:nvPr>
        </p:nvSpPr>
        <p:spPr bwMode="auto">
          <a:xfrm>
            <a:off x="7162800" y="6324600"/>
            <a:ext cx="19050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1030" name="Rectangle 16"/>
          <p:cNvSpPr>
            <a:spLocks noGrp="1"/>
          </p:cNvSpPr>
          <p:nvPr>
            <p:ph type="title"/>
          </p:nvPr>
        </p:nvSpPr>
        <p:spPr>
          <a:xfrm>
            <a:off x="685800" y="228600"/>
            <a:ext cx="7772400" cy="1143000"/>
          </a:xfrm>
          <a:prstGeom prst="rect">
            <a:avLst/>
          </a:prstGeom>
          <a:noFill/>
          <a:ln w="9525">
            <a:noFill/>
          </a:ln>
        </p:spPr>
        <p:txBody>
          <a:bodyPr lIns="92075" tIns="46038" rIns="92075" bIns="46038" anchor="b"/>
          <a:lstStyle/>
          <a:p>
            <a:pPr lvl="0"/>
            <a:r>
              <a:rPr lang="zh-CN" altLang="en-US" dirty="0"/>
              <a:t>单击此处编辑母版标题样式</a:t>
            </a:r>
            <a:endParaRPr lang="zh-CN" altLang="en-US" dirty="0"/>
          </a:p>
        </p:txBody>
      </p:sp>
      <p:grpSp>
        <p:nvGrpSpPr>
          <p:cNvPr id="1031" name="Group 20"/>
          <p:cNvGrpSpPr/>
          <p:nvPr/>
        </p:nvGrpSpPr>
        <p:grpSpPr>
          <a:xfrm>
            <a:off x="6934200" y="5257800"/>
            <a:ext cx="2033588" cy="1219200"/>
            <a:chOff x="4368" y="3312"/>
            <a:chExt cx="1281" cy="768"/>
          </a:xfrm>
        </p:grpSpPr>
        <p:sp>
          <p:nvSpPr>
            <p:cNvPr id="1045" name="AutoShape 21"/>
            <p:cNvSpPr>
              <a:spLocks noChangeArrowheads="1"/>
            </p:cNvSpPr>
            <p:nvPr/>
          </p:nvSpPr>
          <p:spPr bwMode="auto">
            <a:xfrm rot="20940000">
              <a:off x="4368" y="3729"/>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6" name="AutoShape 22"/>
            <p:cNvSpPr>
              <a:spLocks noChangeArrowheads="1"/>
            </p:cNvSpPr>
            <p:nvPr/>
          </p:nvSpPr>
          <p:spPr bwMode="auto">
            <a:xfrm>
              <a:off x="4845" y="3372"/>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7" name="AutoShape 23"/>
            <p:cNvSpPr>
              <a:spLocks noChangeArrowheads="1"/>
            </p:cNvSpPr>
            <p:nvPr/>
          </p:nvSpPr>
          <p:spPr bwMode="auto">
            <a:xfrm rot="1320000">
              <a:off x="5217" y="3312"/>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 name="AutoShape 24"/>
            <p:cNvSpPr>
              <a:spLocks noChangeArrowheads="1"/>
            </p:cNvSpPr>
            <p:nvPr/>
          </p:nvSpPr>
          <p:spPr bwMode="auto">
            <a:xfrm rot="20940000">
              <a:off x="4449" y="3792"/>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9" name="AutoShape 25"/>
            <p:cNvSpPr>
              <a:spLocks noChangeArrowheads="1"/>
            </p:cNvSpPr>
            <p:nvPr/>
          </p:nvSpPr>
          <p:spPr bwMode="auto">
            <a:xfrm>
              <a:off x="4893" y="3420"/>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0" name="AutoShape 26"/>
            <p:cNvSpPr>
              <a:spLocks noChangeArrowheads="1"/>
            </p:cNvSpPr>
            <p:nvPr/>
          </p:nvSpPr>
          <p:spPr bwMode="auto">
            <a:xfrm rot="1320000">
              <a:off x="5265" y="3408"/>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32" name="Group 27"/>
          <p:cNvGrpSpPr/>
          <p:nvPr/>
        </p:nvGrpSpPr>
        <p:grpSpPr>
          <a:xfrm>
            <a:off x="381000" y="1219200"/>
            <a:ext cx="8305800" cy="381000"/>
            <a:chOff x="240" y="768"/>
            <a:chExt cx="5232" cy="240"/>
          </a:xfrm>
        </p:grpSpPr>
        <p:sp>
          <p:nvSpPr>
            <p:cNvPr id="1052" name="Rectangle 28"/>
            <p:cNvSpPr>
              <a:spLocks noChangeArrowheads="1"/>
            </p:cNvSpPr>
            <p:nvPr/>
          </p:nvSpPr>
          <p:spPr bwMode="auto">
            <a:xfrm>
              <a:off x="384" y="912"/>
              <a:ext cx="5088" cy="96"/>
            </a:xfrm>
            <a:prstGeom prst="rect">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3" name="Rectangle 29"/>
            <p:cNvSpPr>
              <a:spLocks noChangeArrowheads="1"/>
            </p:cNvSpPr>
            <p:nvPr/>
          </p:nvSpPr>
          <p:spPr bwMode="auto">
            <a:xfrm>
              <a:off x="240" y="768"/>
              <a:ext cx="5088" cy="96"/>
            </a:xfrm>
            <a:prstGeom prst="rect">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54" name="Freeform 30">
            <a:hlinkClick r:id="" action="ppaction://hlinkshowjump?jump=previousslide"/>
          </p:cNvPr>
          <p:cNvSpPr/>
          <p:nvPr/>
        </p:nvSpPr>
        <p:spPr bwMode="auto">
          <a:xfrm>
            <a:off x="781050" y="6416675"/>
            <a:ext cx="557213" cy="347663"/>
          </a:xfrm>
          <a:custGeom>
            <a:avLst/>
            <a:gdLst>
              <a:gd name="T0" fmla="*/ 350 w 351"/>
              <a:gd name="T1" fmla="*/ 1 h 219"/>
              <a:gd name="T2" fmla="*/ 101 w 351"/>
              <a:gd name="T3" fmla="*/ 0 h 219"/>
              <a:gd name="T4" fmla="*/ 81 w 351"/>
              <a:gd name="T5" fmla="*/ 2 h 219"/>
              <a:gd name="T6" fmla="*/ 67 w 351"/>
              <a:gd name="T7" fmla="*/ 6 h 219"/>
              <a:gd name="T8" fmla="*/ 51 w 351"/>
              <a:gd name="T9" fmla="*/ 15 h 219"/>
              <a:gd name="T10" fmla="*/ 38 w 351"/>
              <a:gd name="T11" fmla="*/ 25 h 219"/>
              <a:gd name="T12" fmla="*/ 28 w 351"/>
              <a:gd name="T13" fmla="*/ 35 h 219"/>
              <a:gd name="T14" fmla="*/ 19 w 351"/>
              <a:gd name="T15" fmla="*/ 48 h 219"/>
              <a:gd name="T16" fmla="*/ 12 w 351"/>
              <a:gd name="T17" fmla="*/ 59 h 219"/>
              <a:gd name="T18" fmla="*/ 6 w 351"/>
              <a:gd name="T19" fmla="*/ 73 h 219"/>
              <a:gd name="T20" fmla="*/ 1 w 351"/>
              <a:gd name="T21" fmla="*/ 89 h 219"/>
              <a:gd name="T22" fmla="*/ 1 w 351"/>
              <a:gd name="T23" fmla="*/ 99 h 219"/>
              <a:gd name="T24" fmla="*/ 0 w 351"/>
              <a:gd name="T25" fmla="*/ 119 h 219"/>
              <a:gd name="T26" fmla="*/ 2 w 351"/>
              <a:gd name="T27" fmla="*/ 136 h 219"/>
              <a:gd name="T28" fmla="*/ 9 w 351"/>
              <a:gd name="T29" fmla="*/ 150 h 219"/>
              <a:gd name="T30" fmla="*/ 15 w 351"/>
              <a:gd name="T31" fmla="*/ 164 h 219"/>
              <a:gd name="T32" fmla="*/ 24 w 351"/>
              <a:gd name="T33" fmla="*/ 176 h 219"/>
              <a:gd name="T34" fmla="*/ 33 w 351"/>
              <a:gd name="T35" fmla="*/ 189 h 219"/>
              <a:gd name="T36" fmla="*/ 46 w 351"/>
              <a:gd name="T37" fmla="*/ 198 h 219"/>
              <a:gd name="T38" fmla="*/ 59 w 351"/>
              <a:gd name="T39" fmla="*/ 207 h 219"/>
              <a:gd name="T40" fmla="*/ 72 w 351"/>
              <a:gd name="T41" fmla="*/ 212 h 219"/>
              <a:gd name="T42" fmla="*/ 90 w 351"/>
              <a:gd name="T43" fmla="*/ 218 h 219"/>
              <a:gd name="T44" fmla="*/ 350 w 351"/>
              <a:gd name="T45" fmla="*/ 218 h 219"/>
              <a:gd name="T46" fmla="*/ 35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350" y="1"/>
                </a:moveTo>
                <a:lnTo>
                  <a:pt x="101" y="0"/>
                </a:lnTo>
                <a:lnTo>
                  <a:pt x="81" y="2"/>
                </a:lnTo>
                <a:lnTo>
                  <a:pt x="67" y="6"/>
                </a:lnTo>
                <a:lnTo>
                  <a:pt x="51" y="15"/>
                </a:lnTo>
                <a:lnTo>
                  <a:pt x="38" y="25"/>
                </a:lnTo>
                <a:lnTo>
                  <a:pt x="28" y="35"/>
                </a:lnTo>
                <a:lnTo>
                  <a:pt x="19" y="48"/>
                </a:lnTo>
                <a:lnTo>
                  <a:pt x="12" y="59"/>
                </a:lnTo>
                <a:lnTo>
                  <a:pt x="6" y="73"/>
                </a:lnTo>
                <a:lnTo>
                  <a:pt x="1" y="89"/>
                </a:lnTo>
                <a:lnTo>
                  <a:pt x="1" y="99"/>
                </a:lnTo>
                <a:lnTo>
                  <a:pt x="0" y="119"/>
                </a:lnTo>
                <a:lnTo>
                  <a:pt x="2" y="136"/>
                </a:lnTo>
                <a:lnTo>
                  <a:pt x="9" y="150"/>
                </a:lnTo>
                <a:lnTo>
                  <a:pt x="15" y="164"/>
                </a:lnTo>
                <a:lnTo>
                  <a:pt x="24" y="176"/>
                </a:lnTo>
                <a:lnTo>
                  <a:pt x="33" y="189"/>
                </a:lnTo>
                <a:lnTo>
                  <a:pt x="46" y="198"/>
                </a:lnTo>
                <a:lnTo>
                  <a:pt x="59" y="207"/>
                </a:lnTo>
                <a:lnTo>
                  <a:pt x="72" y="212"/>
                </a:lnTo>
                <a:lnTo>
                  <a:pt x="90" y="218"/>
                </a:lnTo>
                <a:lnTo>
                  <a:pt x="350" y="218"/>
                </a:lnTo>
                <a:lnTo>
                  <a:pt x="35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5" name="Freeform 31">
            <a:hlinkClick r:id="" action="ppaction://hlinkshowjump?jump=nextslide"/>
          </p:cNvPr>
          <p:cNvSpPr/>
          <p:nvPr/>
        </p:nvSpPr>
        <p:spPr bwMode="auto">
          <a:xfrm>
            <a:off x="1447800" y="6416675"/>
            <a:ext cx="557213" cy="347663"/>
          </a:xfrm>
          <a:custGeom>
            <a:avLst/>
            <a:gdLst>
              <a:gd name="T0" fmla="*/ 0 w 351"/>
              <a:gd name="T1" fmla="*/ 1 h 219"/>
              <a:gd name="T2" fmla="*/ 249 w 351"/>
              <a:gd name="T3" fmla="*/ 0 h 219"/>
              <a:gd name="T4" fmla="*/ 268 w 351"/>
              <a:gd name="T5" fmla="*/ 3 h 219"/>
              <a:gd name="T6" fmla="*/ 283 w 351"/>
              <a:gd name="T7" fmla="*/ 6 h 219"/>
              <a:gd name="T8" fmla="*/ 298 w 351"/>
              <a:gd name="T9" fmla="*/ 16 h 219"/>
              <a:gd name="T10" fmla="*/ 311 w 351"/>
              <a:gd name="T11" fmla="*/ 26 h 219"/>
              <a:gd name="T12" fmla="*/ 321 w 351"/>
              <a:gd name="T13" fmla="*/ 35 h 219"/>
              <a:gd name="T14" fmla="*/ 331 w 351"/>
              <a:gd name="T15" fmla="*/ 48 h 219"/>
              <a:gd name="T16" fmla="*/ 337 w 351"/>
              <a:gd name="T17" fmla="*/ 60 h 219"/>
              <a:gd name="T18" fmla="*/ 344 w 351"/>
              <a:gd name="T19" fmla="*/ 74 h 219"/>
              <a:gd name="T20" fmla="*/ 349 w 351"/>
              <a:gd name="T21" fmla="*/ 90 h 219"/>
              <a:gd name="T22" fmla="*/ 349 w 351"/>
              <a:gd name="T23" fmla="*/ 100 h 219"/>
              <a:gd name="T24" fmla="*/ 350 w 351"/>
              <a:gd name="T25" fmla="*/ 119 h 219"/>
              <a:gd name="T26" fmla="*/ 347 w 351"/>
              <a:gd name="T27" fmla="*/ 136 h 219"/>
              <a:gd name="T28" fmla="*/ 341 w 351"/>
              <a:gd name="T29" fmla="*/ 151 h 219"/>
              <a:gd name="T30" fmla="*/ 334 w 351"/>
              <a:gd name="T31" fmla="*/ 165 h 219"/>
              <a:gd name="T32" fmla="*/ 325 w 351"/>
              <a:gd name="T33" fmla="*/ 176 h 219"/>
              <a:gd name="T34" fmla="*/ 316 w 351"/>
              <a:gd name="T35" fmla="*/ 189 h 219"/>
              <a:gd name="T36" fmla="*/ 303 w 351"/>
              <a:gd name="T37" fmla="*/ 199 h 219"/>
              <a:gd name="T38" fmla="*/ 290 w 351"/>
              <a:gd name="T39" fmla="*/ 208 h 219"/>
              <a:gd name="T40" fmla="*/ 277 w 351"/>
              <a:gd name="T41" fmla="*/ 213 h 219"/>
              <a:gd name="T42" fmla="*/ 259 w 351"/>
              <a:gd name="T43" fmla="*/ 218 h 219"/>
              <a:gd name="T44" fmla="*/ 0 w 351"/>
              <a:gd name="T45" fmla="*/ 218 h 219"/>
              <a:gd name="T46" fmla="*/ 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0" y="1"/>
                </a:moveTo>
                <a:lnTo>
                  <a:pt x="249" y="0"/>
                </a:lnTo>
                <a:lnTo>
                  <a:pt x="268" y="3"/>
                </a:lnTo>
                <a:lnTo>
                  <a:pt x="283" y="6"/>
                </a:lnTo>
                <a:lnTo>
                  <a:pt x="298" y="16"/>
                </a:lnTo>
                <a:lnTo>
                  <a:pt x="311" y="26"/>
                </a:lnTo>
                <a:lnTo>
                  <a:pt x="321" y="35"/>
                </a:lnTo>
                <a:lnTo>
                  <a:pt x="331" y="48"/>
                </a:lnTo>
                <a:lnTo>
                  <a:pt x="337" y="60"/>
                </a:lnTo>
                <a:lnTo>
                  <a:pt x="344" y="74"/>
                </a:lnTo>
                <a:lnTo>
                  <a:pt x="349" y="90"/>
                </a:lnTo>
                <a:lnTo>
                  <a:pt x="349" y="100"/>
                </a:lnTo>
                <a:lnTo>
                  <a:pt x="350" y="119"/>
                </a:lnTo>
                <a:lnTo>
                  <a:pt x="347" y="136"/>
                </a:lnTo>
                <a:lnTo>
                  <a:pt x="341" y="151"/>
                </a:lnTo>
                <a:lnTo>
                  <a:pt x="334" y="165"/>
                </a:lnTo>
                <a:lnTo>
                  <a:pt x="325" y="176"/>
                </a:lnTo>
                <a:lnTo>
                  <a:pt x="316" y="189"/>
                </a:lnTo>
                <a:lnTo>
                  <a:pt x="303" y="199"/>
                </a:lnTo>
                <a:lnTo>
                  <a:pt x="290" y="208"/>
                </a:lnTo>
                <a:lnTo>
                  <a:pt x="277" y="213"/>
                </a:lnTo>
                <a:lnTo>
                  <a:pt x="259" y="218"/>
                </a:lnTo>
                <a:lnTo>
                  <a:pt x="0" y="218"/>
                </a:lnTo>
                <a:lnTo>
                  <a:pt x="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6.xml"/><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6.xml"/><Relationship Id="rId4" Type="http://schemas.openxmlformats.org/officeDocument/2006/relationships/image" Target="../media/image6.wmf"/><Relationship Id="rId3" Type="http://schemas.openxmlformats.org/officeDocument/2006/relationships/oleObject" Target="../embeddings/oleObject6.bin"/><Relationship Id="rId2" Type="http://schemas.openxmlformats.org/officeDocument/2006/relationships/image" Target="../media/image5.wmf"/><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11.wmf"/><Relationship Id="rId1"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11.wmf"/><Relationship Id="rId1"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13.wmf"/><Relationship Id="rId1" Type="http://schemas.openxmlformats.org/officeDocument/2006/relationships/oleObject" Target="../embeddings/oleObject9.bin"/></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8.png"/><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3.xml"/><Relationship Id="rId2" Type="http://schemas.openxmlformats.org/officeDocument/2006/relationships/image" Target="../media/image20.png"/><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wmf"/></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38.wmf"/><Relationship Id="rId3" Type="http://schemas.openxmlformats.org/officeDocument/2006/relationships/oleObject" Target="../embeddings/oleObject11.bin"/><Relationship Id="rId2" Type="http://schemas.openxmlformats.org/officeDocument/2006/relationships/image" Target="../media/image37.wmf"/><Relationship Id="rId1"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40.wmf"/><Relationship Id="rId7" Type="http://schemas.openxmlformats.org/officeDocument/2006/relationships/oleObject" Target="../embeddings/oleObject15.bin"/><Relationship Id="rId6" Type="http://schemas.openxmlformats.org/officeDocument/2006/relationships/image" Target="../media/image39.wmf"/><Relationship Id="rId5" Type="http://schemas.openxmlformats.org/officeDocument/2006/relationships/oleObject" Target="../embeddings/oleObject14.bin"/><Relationship Id="rId4" Type="http://schemas.openxmlformats.org/officeDocument/2006/relationships/image" Target="../media/image38.wmf"/><Relationship Id="rId3" Type="http://schemas.openxmlformats.org/officeDocument/2006/relationships/oleObject" Target="../embeddings/oleObject13.bin"/><Relationship Id="rId2" Type="http://schemas.openxmlformats.org/officeDocument/2006/relationships/image" Target="../media/image37.wmf"/><Relationship Id="rId18" Type="http://schemas.openxmlformats.org/officeDocument/2006/relationships/vmlDrawing" Target="../drawings/vmlDrawing9.vml"/><Relationship Id="rId17" Type="http://schemas.openxmlformats.org/officeDocument/2006/relationships/slideLayout" Target="../slideLayouts/slideLayout2.xml"/><Relationship Id="rId16" Type="http://schemas.openxmlformats.org/officeDocument/2006/relationships/image" Target="../media/image43.wmf"/><Relationship Id="rId15" Type="http://schemas.openxmlformats.org/officeDocument/2006/relationships/oleObject" Target="../embeddings/oleObject20.bin"/><Relationship Id="rId14" Type="http://schemas.openxmlformats.org/officeDocument/2006/relationships/oleObject" Target="../embeddings/oleObject19.bin"/><Relationship Id="rId13" Type="http://schemas.openxmlformats.org/officeDocument/2006/relationships/oleObject" Target="../embeddings/oleObject18.bin"/><Relationship Id="rId12" Type="http://schemas.openxmlformats.org/officeDocument/2006/relationships/image" Target="../media/image42.wmf"/><Relationship Id="rId11" Type="http://schemas.openxmlformats.org/officeDocument/2006/relationships/oleObject" Target="../embeddings/oleObject17.bin"/><Relationship Id="rId10" Type="http://schemas.openxmlformats.org/officeDocument/2006/relationships/image" Target="../media/image41.wmf"/><Relationship Id="rId1" Type="http://schemas.openxmlformats.org/officeDocument/2006/relationships/oleObject" Target="../embeddings/oleObject1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4" name="文本框 3"/>
          <p:cNvSpPr txBox="1"/>
          <p:nvPr/>
        </p:nvSpPr>
        <p:spPr>
          <a:xfrm>
            <a:off x="395536" y="1599183"/>
            <a:ext cx="5274310" cy="460375"/>
          </a:xfrm>
          <a:prstGeom prst="rect">
            <a:avLst/>
          </a:prstGeom>
          <a:noFill/>
        </p:spPr>
        <p:txBody>
          <a:bodyPr wrap="square" rtlCol="0" anchor="t">
            <a:spAutoFit/>
          </a:bodyPr>
          <a:lstStyle/>
          <a:p>
            <a:pPr marL="342900" indent="-342900">
              <a:buFont typeface="Wingdings" panose="05000000000000000000" pitchFamily="2" charset="2"/>
              <a:buChar char="l"/>
            </a:pPr>
            <a:r>
              <a:rPr lang="zh-CN" altLang="en-US" dirty="0">
                <a:solidFill>
                  <a:schemeClr val="bg2"/>
                </a:solidFill>
                <a:latin typeface="+mn-ea"/>
                <a:ea typeface="+mn-ea"/>
              </a:rPr>
              <a:t>递归</a:t>
            </a:r>
            <a:r>
              <a:rPr lang="zh-CN" altLang="en-US" dirty="0" smtClean="0">
                <a:solidFill>
                  <a:schemeClr val="bg2"/>
                </a:solidFill>
                <a:latin typeface="+mn-ea"/>
                <a:ea typeface="+mn-ea"/>
              </a:rPr>
              <a:t>算法时间复杂度分析</a:t>
            </a:r>
            <a:endParaRPr lang="zh-CN" altLang="en-US" dirty="0">
              <a:solidFill>
                <a:schemeClr val="bg2"/>
              </a:solidFill>
              <a:latin typeface="+mn-ea"/>
              <a:ea typeface="+mn-ea"/>
            </a:endParaRPr>
          </a:p>
        </p:txBody>
      </p:sp>
      <p:sp>
        <p:nvSpPr>
          <p:cNvPr id="3" name="矩形 2"/>
          <p:cNvSpPr/>
          <p:nvPr/>
        </p:nvSpPr>
        <p:spPr>
          <a:xfrm>
            <a:off x="690676" y="1964050"/>
            <a:ext cx="7697747" cy="493148"/>
          </a:xfrm>
          <a:prstGeom prst="rect">
            <a:avLst/>
          </a:prstGeom>
        </p:spPr>
        <p:txBody>
          <a:bodyPr wrap="square">
            <a:spAutoFit/>
          </a:bodyPr>
          <a:lstStyle/>
          <a:p>
            <a:pPr marL="342900" indent="-342900">
              <a:lnSpc>
                <a:spcPct val="120000"/>
              </a:lnSpc>
              <a:buFont typeface="Arial" panose="020B0604020202020204" pitchFamily="34" charset="0"/>
              <a:buChar char="•"/>
            </a:pPr>
            <a:r>
              <a:rPr lang="zh-CN" altLang="en-US" dirty="0" smtClean="0">
                <a:solidFill>
                  <a:schemeClr val="bg2"/>
                </a:solidFill>
              </a:rPr>
              <a:t>递归算法的时间复杂度也通常以递归的形式表示</a:t>
            </a:r>
            <a:endParaRPr lang="en-US" altLang="zh-CN" dirty="0" smtClean="0">
              <a:solidFill>
                <a:schemeClr val="bg2"/>
              </a:solidFill>
            </a:endParaRPr>
          </a:p>
        </p:txBody>
      </p:sp>
      <p:sp>
        <p:nvSpPr>
          <p:cNvPr id="7" name="矩形 6"/>
          <p:cNvSpPr/>
          <p:nvPr/>
        </p:nvSpPr>
        <p:spPr>
          <a:xfrm>
            <a:off x="956897" y="2420888"/>
            <a:ext cx="7165304" cy="535531"/>
          </a:xfrm>
          <a:prstGeom prst="rect">
            <a:avLst/>
          </a:prstGeom>
        </p:spPr>
        <p:txBody>
          <a:bodyPr wrap="square">
            <a:spAutoFit/>
          </a:bodyPr>
          <a:lstStyle/>
          <a:p>
            <a:pPr marL="0" lvl="1">
              <a:lnSpc>
                <a:spcPct val="120000"/>
              </a:lnSpc>
            </a:pPr>
            <a:r>
              <a:rPr lang="zh-CN" altLang="en-US" dirty="0" smtClean="0">
                <a:solidFill>
                  <a:schemeClr val="bg2"/>
                </a:solidFill>
              </a:rPr>
              <a:t>举例</a:t>
            </a:r>
            <a:r>
              <a:rPr lang="en-US" altLang="zh-CN" dirty="0" smtClean="0">
                <a:solidFill>
                  <a:schemeClr val="bg2"/>
                </a:solidFill>
              </a:rPr>
              <a:t>1</a:t>
            </a:r>
            <a:r>
              <a:rPr lang="zh-CN" altLang="en-US" dirty="0" smtClean="0">
                <a:solidFill>
                  <a:schemeClr val="bg2"/>
                </a:solidFill>
              </a:rPr>
              <a:t>：求</a:t>
            </a:r>
            <a:r>
              <a:rPr lang="en-US" altLang="zh-CN" b="1" i="1" dirty="0" smtClean="0">
                <a:solidFill>
                  <a:schemeClr val="bg2"/>
                </a:solidFill>
              </a:rPr>
              <a:t>n</a:t>
            </a:r>
            <a:r>
              <a:rPr lang="en-US" altLang="zh-CN" dirty="0" smtClean="0">
                <a:solidFill>
                  <a:schemeClr val="bg2"/>
                </a:solidFill>
              </a:rPr>
              <a:t>!</a:t>
            </a:r>
            <a:endParaRPr lang="zh-CN" altLang="en-US" b="1" dirty="0">
              <a:solidFill>
                <a:srgbClr val="1E2E53"/>
              </a:solidFill>
              <a:latin typeface="楷体_GB2312" pitchFamily="49" charset="-122"/>
              <a:ea typeface="楷体_GB2312" pitchFamily="49" charset="-122"/>
            </a:endParaRPr>
          </a:p>
        </p:txBody>
      </p:sp>
      <p:sp>
        <p:nvSpPr>
          <p:cNvPr id="8" name="Rectangle 1"/>
          <p:cNvSpPr>
            <a:spLocks noChangeArrowheads="1"/>
          </p:cNvSpPr>
          <p:nvPr/>
        </p:nvSpPr>
        <p:spPr bwMode="auto">
          <a:xfrm>
            <a:off x="1259631" y="2852936"/>
            <a:ext cx="2081019" cy="293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eaLnBrk="1" hangingPunct="1">
              <a:lnSpc>
                <a:spcPct val="120000"/>
              </a:lnSpc>
            </a:pPr>
            <a:r>
              <a:rPr kumimoji="0" lang="zh-CN" sz="2200" b="0" i="0" u="none" strike="noStrike" cap="none" normalizeH="0" baseline="0" dirty="0" smtClean="0">
                <a:ln>
                  <a:noFill/>
                </a:ln>
                <a:solidFill>
                  <a:srgbClr val="000000"/>
                </a:solidFill>
                <a:effectLst/>
                <a:latin typeface="黑体" panose="02010609060101010101" pitchFamily="49" charset="-122"/>
                <a:ea typeface="黑体" panose="02010609060101010101" pitchFamily="49" charset="-122"/>
                <a:cs typeface="宋体" panose="02010600030101010101" pitchFamily="2" charset="-122"/>
              </a:rPr>
              <a:t>算法</a:t>
            </a:r>
            <a:r>
              <a:rPr kumimoji="0" lang="en-US" altLang="zh-CN" sz="2200" b="0" i="0" u="none" strike="noStrike" cap="none" normalizeH="0" baseline="0" dirty="0" smtClean="0">
                <a:ln>
                  <a:noFill/>
                </a:ln>
                <a:solidFill>
                  <a:srgbClr val="000000"/>
                </a:solidFill>
                <a:effectLst/>
                <a:latin typeface="黑体" panose="02010609060101010101" pitchFamily="49" charset="-122"/>
                <a:ea typeface="黑体" panose="02010609060101010101" pitchFamily="49" charset="-122"/>
                <a:cs typeface="宋体" panose="02010600030101010101" pitchFamily="2" charset="-122"/>
              </a:rPr>
              <a:t>1</a:t>
            </a:r>
            <a:r>
              <a:rPr kumimoji="0" lang="zh-CN" sz="2200" b="0" i="0" u="none" strike="noStrike" cap="none" normalizeH="0" baseline="0" dirty="0" smtClean="0">
                <a:ln>
                  <a:noFill/>
                </a:ln>
                <a:solidFill>
                  <a:srgbClr val="000000"/>
                </a:solidFill>
                <a:effectLst/>
                <a:latin typeface="黑体" panose="02010609060101010101" pitchFamily="49" charset="-122"/>
                <a:ea typeface="黑体" panose="02010609060101010101" pitchFamily="49" charset="-122"/>
                <a:cs typeface="宋体" panose="02010600030101010101" pitchFamily="2" charset="-122"/>
              </a:rPr>
              <a:t> </a:t>
            </a:r>
            <a:r>
              <a:rPr lang="en-US" altLang="zh-CN" sz="2200" b="1" dirty="0" err="1" smtClean="0">
                <a:solidFill>
                  <a:srgbClr val="000000"/>
                </a:solidFill>
                <a:cs typeface="Times New Roman" panose="02020603050405020304" pitchFamily="18" charset="0"/>
              </a:rPr>
              <a:t>fac</a:t>
            </a:r>
            <a:r>
              <a:rPr kumimoji="0" lang="zh-CN" altLang="zh-CN" sz="2200" b="1" i="0" u="none" strike="noStrike" cap="none" normalizeH="0" baseline="0" dirty="0" smtClean="0">
                <a:ln>
                  <a:noFill/>
                </a:ln>
                <a:solidFill>
                  <a:srgbClr val="000000"/>
                </a:solidFill>
                <a:effectLst/>
                <a:cs typeface="Times New Roman" panose="02020603050405020304" pitchFamily="18" charset="0"/>
              </a:rPr>
              <a:t> (</a:t>
            </a:r>
            <a:r>
              <a:rPr kumimoji="0" lang="en-US" altLang="zh-CN" sz="2200" b="1" i="1" u="none" strike="noStrike" cap="none" normalizeH="0" baseline="0" dirty="0" smtClean="0">
                <a:ln>
                  <a:noFill/>
                </a:ln>
                <a:solidFill>
                  <a:srgbClr val="000000"/>
                </a:solidFill>
                <a:effectLst/>
                <a:cs typeface="Times New Roman" panose="02020603050405020304" pitchFamily="18" charset="0"/>
              </a:rPr>
              <a:t>n</a:t>
            </a:r>
            <a:r>
              <a:rPr kumimoji="0" lang="zh-CN" altLang="zh-CN" sz="2200" b="1" i="0" u="none" strike="noStrike" cap="none" normalizeH="0" baseline="0" dirty="0" smtClean="0">
                <a:ln>
                  <a:noFill/>
                </a:ln>
                <a:solidFill>
                  <a:srgbClr val="000000"/>
                </a:solidFill>
                <a:effectLst/>
                <a:cs typeface="Times New Roman" panose="02020603050405020304" pitchFamily="18" charset="0"/>
              </a:rPr>
              <a:t>)</a:t>
            </a:r>
            <a:br>
              <a:rPr kumimoji="0" lang="zh-CN" altLang="zh-CN" sz="2200" b="1" i="0" u="none" strike="noStrike" cap="none" normalizeH="0" baseline="0" dirty="0" smtClean="0">
                <a:ln>
                  <a:noFill/>
                </a:ln>
                <a:solidFill>
                  <a:srgbClr val="000000"/>
                </a:solidFill>
                <a:effectLst/>
                <a:cs typeface="Times New Roman" panose="02020603050405020304" pitchFamily="18" charset="0"/>
              </a:rPr>
            </a:br>
            <a:r>
              <a:rPr kumimoji="0" lang="zh-CN" sz="2200" b="0" i="0" u="none" strike="noStrike" cap="none" normalizeH="0" baseline="0" dirty="0" smtClean="0">
                <a:ln>
                  <a:noFill/>
                </a:ln>
                <a:solidFill>
                  <a:srgbClr val="000000"/>
                </a:solidFill>
                <a:effectLst/>
                <a:latin typeface="宋体" panose="02010600030101010101" pitchFamily="2" charset="-122"/>
                <a:cs typeface="宋体" panose="02010600030101010101" pitchFamily="2" charset="-122"/>
              </a:rPr>
              <a:t>输入：</a:t>
            </a:r>
            <a:r>
              <a:rPr lang="zh-CN" altLang="en-US" sz="2200" dirty="0" smtClean="0">
                <a:solidFill>
                  <a:srgbClr val="000000"/>
                </a:solidFill>
                <a:latin typeface="宋体" panose="02010600030101010101" pitchFamily="2" charset="-122"/>
                <a:cs typeface="宋体" panose="02010600030101010101" pitchFamily="2" charset="-122"/>
              </a:rPr>
              <a:t>整</a:t>
            </a:r>
            <a:r>
              <a:rPr kumimoji="0" lang="zh-CN" sz="2200" b="0" i="0" u="none" strike="noStrike" cap="none" normalizeH="0" baseline="0" dirty="0" smtClean="0">
                <a:ln>
                  <a:noFill/>
                </a:ln>
                <a:solidFill>
                  <a:srgbClr val="000000"/>
                </a:solidFill>
                <a:effectLst/>
                <a:latin typeface="宋体" panose="02010600030101010101" pitchFamily="2" charset="-122"/>
                <a:cs typeface="宋体" panose="02010600030101010101" pitchFamily="2" charset="-122"/>
              </a:rPr>
              <a:t>数</a:t>
            </a:r>
            <a:r>
              <a:rPr lang="en-US" altLang="zh-CN" sz="2200" b="1" i="1" dirty="0">
                <a:solidFill>
                  <a:srgbClr val="000000"/>
                </a:solidFill>
                <a:cs typeface="Times New Roman" panose="02020603050405020304" pitchFamily="18" charset="0"/>
              </a:rPr>
              <a:t>n</a:t>
            </a:r>
            <a:br>
              <a:rPr kumimoji="0" lang="zh-CN" altLang="zh-CN" sz="2200" b="1" i="1" u="none" strike="noStrike" cap="none" normalizeH="0" baseline="0" dirty="0" smtClean="0">
                <a:ln>
                  <a:noFill/>
                </a:ln>
                <a:solidFill>
                  <a:srgbClr val="000000"/>
                </a:solidFill>
                <a:effectLst/>
                <a:cs typeface="Times New Roman" panose="02020603050405020304" pitchFamily="18" charset="0"/>
              </a:rPr>
            </a:br>
            <a:r>
              <a:rPr kumimoji="0" lang="zh-CN" sz="2200" b="0" i="0" u="none" strike="noStrike" cap="none" normalizeH="0" baseline="0" dirty="0" smtClean="0">
                <a:ln>
                  <a:noFill/>
                </a:ln>
                <a:solidFill>
                  <a:srgbClr val="000000"/>
                </a:solidFill>
                <a:effectLst/>
                <a:latin typeface="宋体" panose="02010600030101010101" pitchFamily="2" charset="-122"/>
                <a:cs typeface="宋体" panose="02010600030101010101" pitchFamily="2" charset="-122"/>
              </a:rPr>
              <a:t>输出： </a:t>
            </a:r>
            <a:r>
              <a:rPr lang="en-US" altLang="zh-CN" sz="2200" b="1" i="1" dirty="0" smtClean="0">
                <a:solidFill>
                  <a:srgbClr val="000000"/>
                </a:solidFill>
                <a:cs typeface="Times New Roman" panose="02020603050405020304" pitchFamily="18" charset="0"/>
              </a:rPr>
              <a:t>n</a:t>
            </a:r>
            <a:r>
              <a:rPr lang="zh-CN" altLang="en-US" sz="2200" dirty="0" smtClean="0">
                <a:solidFill>
                  <a:srgbClr val="000000"/>
                </a:solidFill>
                <a:cs typeface="Times New Roman" panose="02020603050405020304" pitchFamily="18" charset="0"/>
              </a:rPr>
              <a:t>！</a:t>
            </a:r>
            <a:br>
              <a:rPr kumimoji="0" lang="zh-CN" altLang="zh-CN" sz="2200" b="1" i="1" u="none" strike="noStrike" cap="none" normalizeH="0" baseline="0" dirty="0" smtClean="0">
                <a:ln>
                  <a:noFill/>
                </a:ln>
                <a:solidFill>
                  <a:srgbClr val="000000"/>
                </a:solidFill>
                <a:effectLst/>
                <a:cs typeface="Times New Roman" panose="02020603050405020304" pitchFamily="18" charset="0"/>
              </a:rPr>
            </a:br>
            <a:r>
              <a:rPr kumimoji="0" lang="zh-CN" altLang="zh-CN" sz="2200" b="1" i="0" u="none" strike="noStrike" cap="none" normalizeH="0" baseline="0" dirty="0" smtClean="0">
                <a:ln>
                  <a:noFill/>
                </a:ln>
                <a:solidFill>
                  <a:srgbClr val="000000"/>
                </a:solidFill>
                <a:effectLst/>
                <a:cs typeface="Times New Roman" panose="02020603050405020304" pitchFamily="18" charset="0"/>
              </a:rPr>
              <a:t>1. </a:t>
            </a:r>
            <a:r>
              <a:rPr kumimoji="0" lang="en-US" altLang="zh-CN" sz="2200" b="1" i="1" u="none" strike="noStrike" cap="none" normalizeH="0" baseline="0" dirty="0" smtClean="0">
                <a:ln>
                  <a:noFill/>
                </a:ln>
                <a:solidFill>
                  <a:srgbClr val="000000"/>
                </a:solidFill>
                <a:effectLst/>
                <a:cs typeface="Times New Roman" panose="02020603050405020304" pitchFamily="18" charset="0"/>
              </a:rPr>
              <a:t>f</a:t>
            </a:r>
            <a:r>
              <a:rPr kumimoji="0" lang="zh-CN" altLang="zh-CN" sz="2200" b="1" i="1" u="none" strike="noStrike" cap="none" normalizeH="0" baseline="0" dirty="0" smtClean="0">
                <a:ln>
                  <a:noFill/>
                </a:ln>
                <a:solidFill>
                  <a:srgbClr val="000000"/>
                </a:solidFill>
                <a:effectLst/>
                <a:cs typeface="Times New Roman" panose="02020603050405020304" pitchFamily="18" charset="0"/>
              </a:rPr>
              <a:t> </a:t>
            </a:r>
            <a:r>
              <a:rPr kumimoji="0" lang="zh-CN" altLang="zh-CN" sz="2200" b="0" i="0" u="none" strike="noStrike" cap="none" normalizeH="0" baseline="0" dirty="0" smtClean="0">
                <a:ln>
                  <a:noFill/>
                </a:ln>
                <a:solidFill>
                  <a:srgbClr val="000000"/>
                </a:solidFill>
                <a:effectLst/>
                <a:latin typeface="Symbol" panose="05050102010706020507" pitchFamily="18" charset="2"/>
                <a:cs typeface="宋体" panose="02010600030101010101" pitchFamily="2" charset="-122"/>
              </a:rPr>
              <a:t> </a:t>
            </a:r>
            <a:r>
              <a:rPr kumimoji="0" lang="zh-CN" altLang="zh-CN" sz="2200" b="1" i="0" u="none" strike="noStrike" cap="none" normalizeH="0" baseline="0" dirty="0" smtClean="0">
                <a:ln>
                  <a:noFill/>
                </a:ln>
                <a:solidFill>
                  <a:srgbClr val="000000"/>
                </a:solidFill>
                <a:effectLst/>
                <a:cs typeface="Times New Roman" panose="02020603050405020304" pitchFamily="18" charset="0"/>
              </a:rPr>
              <a:t>1; </a:t>
            </a:r>
            <a:r>
              <a:rPr kumimoji="0" lang="en-US" altLang="zh-CN" sz="2200" b="1" i="1" u="none" strike="noStrike" cap="none" normalizeH="0" baseline="0" dirty="0" err="1" smtClean="0">
                <a:ln>
                  <a:noFill/>
                </a:ln>
                <a:solidFill>
                  <a:srgbClr val="000000"/>
                </a:solidFill>
                <a:effectLst/>
                <a:cs typeface="Times New Roman" panose="02020603050405020304" pitchFamily="18" charset="0"/>
              </a:rPr>
              <a:t>i</a:t>
            </a:r>
            <a:r>
              <a:rPr kumimoji="0" lang="zh-CN" altLang="zh-CN" sz="2200" b="1" i="1" u="none" strike="noStrike" cap="none" normalizeH="0" baseline="0" dirty="0" smtClean="0">
                <a:ln>
                  <a:noFill/>
                </a:ln>
                <a:solidFill>
                  <a:srgbClr val="000000"/>
                </a:solidFill>
                <a:effectLst/>
                <a:cs typeface="Times New Roman" panose="02020603050405020304" pitchFamily="18" charset="0"/>
              </a:rPr>
              <a:t> </a:t>
            </a:r>
            <a:r>
              <a:rPr kumimoji="0" lang="zh-CN" altLang="zh-CN" sz="2200" b="0" i="0" u="none" strike="noStrike" cap="none" normalizeH="0" baseline="0" dirty="0" smtClean="0">
                <a:ln>
                  <a:noFill/>
                </a:ln>
                <a:solidFill>
                  <a:srgbClr val="000000"/>
                </a:solidFill>
                <a:effectLst/>
                <a:latin typeface="Symbol" panose="05050102010706020507" pitchFamily="18" charset="2"/>
                <a:cs typeface="宋体" panose="02010600030101010101" pitchFamily="2" charset="-122"/>
              </a:rPr>
              <a:t> </a:t>
            </a:r>
            <a:r>
              <a:rPr kumimoji="0" lang="en-US" altLang="zh-CN" sz="2200" b="1" i="1" u="none" strike="noStrike" cap="none" normalizeH="0" baseline="0" dirty="0" smtClean="0">
                <a:ln>
                  <a:noFill/>
                </a:ln>
                <a:solidFill>
                  <a:srgbClr val="000000"/>
                </a:solidFill>
                <a:effectLst/>
                <a:cs typeface="Times New Roman" panose="02020603050405020304" pitchFamily="18" charset="0"/>
              </a:rPr>
              <a:t>1</a:t>
            </a:r>
            <a:br>
              <a:rPr kumimoji="0" lang="zh-CN" altLang="zh-CN" sz="2200" b="1" i="1" u="none" strike="noStrike" cap="none" normalizeH="0" baseline="0" dirty="0" smtClean="0">
                <a:ln>
                  <a:noFill/>
                </a:ln>
                <a:solidFill>
                  <a:srgbClr val="000000"/>
                </a:solidFill>
                <a:effectLst/>
                <a:cs typeface="Times New Roman" panose="02020603050405020304" pitchFamily="18" charset="0"/>
              </a:rPr>
            </a:br>
            <a:r>
              <a:rPr kumimoji="0" lang="zh-CN" altLang="zh-CN" sz="2200" b="1" i="0" u="none" strike="noStrike" cap="none" normalizeH="0" baseline="0" dirty="0" smtClean="0">
                <a:ln>
                  <a:noFill/>
                </a:ln>
                <a:solidFill>
                  <a:srgbClr val="000000"/>
                </a:solidFill>
                <a:effectLst/>
                <a:cs typeface="Times New Roman" panose="02020603050405020304" pitchFamily="18" charset="0"/>
              </a:rPr>
              <a:t>2. while </a:t>
            </a:r>
            <a:r>
              <a:rPr kumimoji="0" lang="en-US" altLang="zh-CN" sz="2200" b="1" i="1" u="none" strike="noStrike" cap="none" normalizeH="0" baseline="0" dirty="0" err="1" smtClean="0">
                <a:ln>
                  <a:noFill/>
                </a:ln>
                <a:solidFill>
                  <a:srgbClr val="000000"/>
                </a:solidFill>
                <a:effectLst/>
                <a:cs typeface="Times New Roman" panose="02020603050405020304" pitchFamily="18" charset="0"/>
              </a:rPr>
              <a:t>i</a:t>
            </a:r>
            <a:r>
              <a:rPr kumimoji="0" lang="zh-CN" altLang="zh-CN" sz="2200" b="1" i="1" u="none" strike="noStrike" cap="none" normalizeH="0" baseline="0" dirty="0" smtClean="0">
                <a:ln>
                  <a:noFill/>
                </a:ln>
                <a:solidFill>
                  <a:srgbClr val="000000"/>
                </a:solidFill>
                <a:effectLst/>
                <a:cs typeface="Times New Roman" panose="02020603050405020304" pitchFamily="18" charset="0"/>
              </a:rPr>
              <a:t> </a:t>
            </a:r>
            <a:r>
              <a:rPr kumimoji="0" lang="zh-CN" altLang="zh-CN" sz="2200" b="0" i="0" u="none" strike="noStrike" cap="none" normalizeH="0" baseline="0" dirty="0" smtClean="0">
                <a:ln>
                  <a:noFill/>
                </a:ln>
                <a:solidFill>
                  <a:srgbClr val="000000"/>
                </a:solidFill>
                <a:effectLst/>
                <a:latin typeface="Symbol" panose="05050102010706020507" pitchFamily="18" charset="2"/>
                <a:cs typeface="宋体" panose="02010600030101010101" pitchFamily="2" charset="-122"/>
              </a:rPr>
              <a:t> </a:t>
            </a:r>
            <a:r>
              <a:rPr kumimoji="0" lang="en-US" altLang="zh-CN" sz="2200" b="1" i="1" u="none" strike="noStrike" cap="none" normalizeH="0" baseline="0" dirty="0" smtClean="0">
                <a:ln>
                  <a:noFill/>
                </a:ln>
                <a:solidFill>
                  <a:srgbClr val="000000"/>
                </a:solidFill>
                <a:effectLst/>
                <a:cs typeface="Times New Roman" panose="02020603050405020304" pitchFamily="18" charset="0"/>
              </a:rPr>
              <a:t>n</a:t>
            </a:r>
            <a:r>
              <a:rPr kumimoji="0" lang="zh-CN" altLang="zh-CN" sz="2200" b="1" i="1" u="none" strike="noStrike" cap="none" normalizeH="0" baseline="0" dirty="0" smtClean="0">
                <a:ln>
                  <a:noFill/>
                </a:ln>
                <a:solidFill>
                  <a:srgbClr val="000000"/>
                </a:solidFill>
                <a:effectLst/>
                <a:cs typeface="Times New Roman" panose="02020603050405020304" pitchFamily="18" charset="0"/>
              </a:rPr>
              <a:t> </a:t>
            </a:r>
            <a:r>
              <a:rPr kumimoji="0" lang="zh-CN" altLang="zh-CN" sz="2200" b="1" i="0" u="none" strike="noStrike" cap="none" normalizeH="0" baseline="0" dirty="0" smtClean="0">
                <a:ln>
                  <a:noFill/>
                </a:ln>
                <a:solidFill>
                  <a:srgbClr val="000000"/>
                </a:solidFill>
                <a:effectLst/>
                <a:cs typeface="Times New Roman" panose="02020603050405020304" pitchFamily="18" charset="0"/>
              </a:rPr>
              <a:t>do</a:t>
            </a:r>
            <a:br>
              <a:rPr kumimoji="0" lang="zh-CN" altLang="zh-CN" sz="2200" b="1" i="0" u="none" strike="noStrike" cap="none" normalizeH="0" baseline="0" dirty="0" smtClean="0">
                <a:ln>
                  <a:noFill/>
                </a:ln>
                <a:solidFill>
                  <a:srgbClr val="000000"/>
                </a:solidFill>
                <a:effectLst/>
                <a:cs typeface="Times New Roman" panose="02020603050405020304" pitchFamily="18" charset="0"/>
              </a:rPr>
            </a:br>
            <a:r>
              <a:rPr kumimoji="0" lang="zh-CN" altLang="zh-CN" sz="2200" b="1" i="0" u="none" strike="noStrike" cap="none" normalizeH="0" baseline="0" dirty="0" smtClean="0">
                <a:ln>
                  <a:noFill/>
                </a:ln>
                <a:solidFill>
                  <a:srgbClr val="000000"/>
                </a:solidFill>
                <a:effectLst/>
                <a:cs typeface="Times New Roman" panose="02020603050405020304" pitchFamily="18" charset="0"/>
              </a:rPr>
              <a:t>3. </a:t>
            </a:r>
            <a:r>
              <a:rPr kumimoji="0" lang="en-US" altLang="zh-CN" sz="2200" b="1" i="0" u="none" strike="noStrike" cap="none" normalizeH="0" baseline="0" dirty="0" smtClean="0">
                <a:ln>
                  <a:noFill/>
                </a:ln>
                <a:solidFill>
                  <a:srgbClr val="000000"/>
                </a:solidFill>
                <a:effectLst/>
                <a:cs typeface="Times New Roman" panose="02020603050405020304" pitchFamily="18" charset="0"/>
              </a:rPr>
              <a:t>     </a:t>
            </a:r>
            <a:r>
              <a:rPr kumimoji="0" lang="en-US" altLang="zh-CN" sz="2200" b="1" i="1" u="none" strike="noStrike" cap="none" normalizeH="0" baseline="0" dirty="0" smtClean="0">
                <a:ln>
                  <a:noFill/>
                </a:ln>
                <a:solidFill>
                  <a:srgbClr val="000000"/>
                </a:solidFill>
                <a:effectLst/>
                <a:cs typeface="Times New Roman" panose="02020603050405020304" pitchFamily="18" charset="0"/>
              </a:rPr>
              <a:t>f</a:t>
            </a:r>
            <a:r>
              <a:rPr kumimoji="0" lang="zh-CN" altLang="zh-CN" sz="2200" b="1" i="1" u="none" strike="noStrike" cap="none" normalizeH="0" baseline="0" dirty="0" smtClean="0">
                <a:ln>
                  <a:noFill/>
                </a:ln>
                <a:solidFill>
                  <a:srgbClr val="000000"/>
                </a:solidFill>
                <a:effectLst/>
                <a:cs typeface="Times New Roman" panose="02020603050405020304" pitchFamily="18" charset="0"/>
              </a:rPr>
              <a:t> </a:t>
            </a:r>
            <a:r>
              <a:rPr kumimoji="0" lang="zh-CN" altLang="zh-CN" sz="2200" b="0" i="0" u="none" strike="noStrike" cap="none" normalizeH="0" baseline="0" dirty="0" smtClean="0">
                <a:ln>
                  <a:noFill/>
                </a:ln>
                <a:solidFill>
                  <a:srgbClr val="000000"/>
                </a:solidFill>
                <a:effectLst/>
                <a:latin typeface="Symbol" panose="05050102010706020507" pitchFamily="18" charset="2"/>
                <a:cs typeface="宋体" panose="02010600030101010101" pitchFamily="2" charset="-122"/>
              </a:rPr>
              <a:t> </a:t>
            </a:r>
            <a:r>
              <a:rPr lang="en-US" altLang="zh-CN" sz="2200" b="1" i="1" dirty="0" smtClean="0">
                <a:solidFill>
                  <a:srgbClr val="000000"/>
                </a:solidFill>
                <a:cs typeface="Times New Roman" panose="02020603050405020304" pitchFamily="18" charset="0"/>
              </a:rPr>
              <a:t>f*</a:t>
            </a:r>
            <a:r>
              <a:rPr lang="en-US" altLang="zh-CN" sz="2200" b="1" i="1" dirty="0" err="1" smtClean="0">
                <a:solidFill>
                  <a:srgbClr val="000000"/>
                </a:solidFill>
                <a:cs typeface="Times New Roman" panose="02020603050405020304" pitchFamily="18" charset="0"/>
              </a:rPr>
              <a:t>i</a:t>
            </a:r>
            <a:br>
              <a:rPr kumimoji="0" lang="zh-CN" altLang="zh-CN" sz="2200" b="0" i="0" u="none" strike="noStrike" cap="none" normalizeH="0" baseline="0" dirty="0" smtClean="0">
                <a:ln>
                  <a:noFill/>
                </a:ln>
                <a:solidFill>
                  <a:srgbClr val="000000"/>
                </a:solidFill>
                <a:effectLst/>
                <a:latin typeface="Symbol" panose="05050102010706020507" pitchFamily="18" charset="2"/>
                <a:cs typeface="宋体" panose="02010600030101010101" pitchFamily="2" charset="-122"/>
              </a:rPr>
            </a:br>
            <a:r>
              <a:rPr kumimoji="0" lang="zh-CN" altLang="zh-CN" sz="2200" b="1" i="0" u="none" strike="noStrike" cap="none" normalizeH="0" baseline="0" dirty="0" smtClean="0">
                <a:ln>
                  <a:noFill/>
                </a:ln>
                <a:solidFill>
                  <a:srgbClr val="000000"/>
                </a:solidFill>
                <a:effectLst/>
                <a:cs typeface="Times New Roman" panose="02020603050405020304" pitchFamily="18" charset="0"/>
              </a:rPr>
              <a:t>4. return </a:t>
            </a:r>
            <a:r>
              <a:rPr kumimoji="0" lang="en-US" altLang="zh-CN" sz="2200" b="1" i="1" u="none" strike="noStrike" cap="none" normalizeH="0" baseline="0" dirty="0" smtClean="0">
                <a:ln>
                  <a:noFill/>
                </a:ln>
                <a:solidFill>
                  <a:srgbClr val="000000"/>
                </a:solidFill>
                <a:effectLst/>
                <a:cs typeface="Times New Roman" panose="02020603050405020304" pitchFamily="18" charset="0"/>
              </a:rPr>
              <a:t>f</a:t>
            </a:r>
            <a:endParaRPr kumimoji="0" lang="zh-CN" altLang="zh-CN" sz="2200" b="0" i="0" u="none" strike="noStrike" cap="none" normalizeH="0" baseline="0" dirty="0" smtClean="0">
              <a:ln>
                <a:noFill/>
              </a:ln>
              <a:solidFill>
                <a:schemeClr val="tx1"/>
              </a:solidFill>
              <a:effectLst/>
              <a:latin typeface="Arial" panose="020B0604020202020204" pitchFamily="34" charset="0"/>
              <a:cs typeface="宋体" panose="02010600030101010101" pitchFamily="2" charset="-122"/>
            </a:endParaRPr>
          </a:p>
        </p:txBody>
      </p:sp>
      <p:sp>
        <p:nvSpPr>
          <p:cNvPr id="9" name="Rectangle 1"/>
          <p:cNvSpPr>
            <a:spLocks noChangeArrowheads="1"/>
          </p:cNvSpPr>
          <p:nvPr/>
        </p:nvSpPr>
        <p:spPr bwMode="auto">
          <a:xfrm>
            <a:off x="4788024" y="2611213"/>
            <a:ext cx="3150870" cy="252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eaLnBrk="1" hangingPunct="1">
              <a:lnSpc>
                <a:spcPct val="120000"/>
              </a:lnSpc>
            </a:pPr>
            <a:r>
              <a:rPr kumimoji="0" lang="zh-CN" sz="2200" b="0" i="0" u="none" strike="noStrike" cap="none" normalizeH="0" baseline="0" dirty="0" smtClean="0">
                <a:ln>
                  <a:noFill/>
                </a:ln>
                <a:solidFill>
                  <a:srgbClr val="000000"/>
                </a:solidFill>
                <a:effectLst/>
                <a:latin typeface="黑体" panose="02010609060101010101" pitchFamily="49" charset="-122"/>
                <a:ea typeface="黑体" panose="02010609060101010101" pitchFamily="49" charset="-122"/>
                <a:cs typeface="宋体" panose="02010600030101010101" pitchFamily="2" charset="-122"/>
              </a:rPr>
              <a:t>算法</a:t>
            </a:r>
            <a:r>
              <a:rPr kumimoji="0" lang="en-US" altLang="zh-CN" sz="2200" b="0" i="0" u="none" strike="noStrike" cap="none" normalizeH="0" baseline="0" dirty="0" smtClean="0">
                <a:ln>
                  <a:noFill/>
                </a:ln>
                <a:solidFill>
                  <a:srgbClr val="000000"/>
                </a:solidFill>
                <a:effectLst/>
                <a:latin typeface="黑体" panose="02010609060101010101" pitchFamily="49" charset="-122"/>
                <a:ea typeface="黑体" panose="02010609060101010101" pitchFamily="49" charset="-122"/>
                <a:cs typeface="宋体" panose="02010600030101010101" pitchFamily="2" charset="-122"/>
              </a:rPr>
              <a:t>2</a:t>
            </a:r>
            <a:r>
              <a:rPr kumimoji="0" lang="zh-CN" sz="2200" b="0" i="0" u="none" strike="noStrike" cap="none" normalizeH="0" baseline="0" dirty="0" smtClean="0">
                <a:ln>
                  <a:noFill/>
                </a:ln>
                <a:solidFill>
                  <a:srgbClr val="000000"/>
                </a:solidFill>
                <a:effectLst/>
                <a:latin typeface="黑体" panose="02010609060101010101" pitchFamily="49" charset="-122"/>
                <a:ea typeface="黑体" panose="02010609060101010101" pitchFamily="49" charset="-122"/>
                <a:cs typeface="宋体" panose="02010600030101010101" pitchFamily="2" charset="-122"/>
              </a:rPr>
              <a:t> </a:t>
            </a:r>
            <a:r>
              <a:rPr lang="en-US" altLang="zh-CN" sz="2200" b="1" dirty="0" err="1" smtClean="0">
                <a:solidFill>
                  <a:srgbClr val="000000"/>
                </a:solidFill>
                <a:cs typeface="Times New Roman" panose="02020603050405020304" pitchFamily="18" charset="0"/>
              </a:rPr>
              <a:t>fac</a:t>
            </a:r>
            <a:r>
              <a:rPr kumimoji="0" lang="zh-CN" altLang="zh-CN" sz="2200" b="1" i="0" u="none" strike="noStrike" cap="none" normalizeH="0" baseline="0" dirty="0" smtClean="0">
                <a:ln>
                  <a:noFill/>
                </a:ln>
                <a:solidFill>
                  <a:srgbClr val="000000"/>
                </a:solidFill>
                <a:effectLst/>
                <a:cs typeface="Times New Roman" panose="02020603050405020304" pitchFamily="18" charset="0"/>
              </a:rPr>
              <a:t> (</a:t>
            </a:r>
            <a:r>
              <a:rPr kumimoji="0" lang="en-US" altLang="zh-CN" sz="2200" b="1" i="1" u="none" strike="noStrike" cap="none" normalizeH="0" baseline="0" dirty="0" smtClean="0">
                <a:ln>
                  <a:noFill/>
                </a:ln>
                <a:solidFill>
                  <a:srgbClr val="000000"/>
                </a:solidFill>
                <a:effectLst/>
                <a:cs typeface="Times New Roman" panose="02020603050405020304" pitchFamily="18" charset="0"/>
              </a:rPr>
              <a:t>n</a:t>
            </a:r>
            <a:r>
              <a:rPr kumimoji="0" lang="zh-CN" altLang="zh-CN" sz="2200" b="1" i="0" u="none" strike="noStrike" cap="none" normalizeH="0" baseline="0" dirty="0" smtClean="0">
                <a:ln>
                  <a:noFill/>
                </a:ln>
                <a:solidFill>
                  <a:srgbClr val="000000"/>
                </a:solidFill>
                <a:effectLst/>
                <a:cs typeface="Times New Roman" panose="02020603050405020304" pitchFamily="18" charset="0"/>
              </a:rPr>
              <a:t>)</a:t>
            </a:r>
            <a:br>
              <a:rPr kumimoji="0" lang="zh-CN" altLang="zh-CN" sz="2200" b="1" i="0" u="none" strike="noStrike" cap="none" normalizeH="0" baseline="0" dirty="0" smtClean="0">
                <a:ln>
                  <a:noFill/>
                </a:ln>
                <a:solidFill>
                  <a:srgbClr val="000000"/>
                </a:solidFill>
                <a:effectLst/>
                <a:cs typeface="Times New Roman" panose="02020603050405020304" pitchFamily="18" charset="0"/>
              </a:rPr>
            </a:br>
            <a:r>
              <a:rPr kumimoji="0" lang="zh-CN" sz="2200" b="0" i="0" u="none" strike="noStrike" cap="none" normalizeH="0" baseline="0" dirty="0" smtClean="0">
                <a:ln>
                  <a:noFill/>
                </a:ln>
                <a:solidFill>
                  <a:srgbClr val="000000"/>
                </a:solidFill>
                <a:effectLst/>
                <a:latin typeface="宋体" panose="02010600030101010101" pitchFamily="2" charset="-122"/>
                <a:cs typeface="宋体" panose="02010600030101010101" pitchFamily="2" charset="-122"/>
              </a:rPr>
              <a:t>输入：</a:t>
            </a:r>
            <a:r>
              <a:rPr lang="zh-CN" altLang="en-US" sz="2200" dirty="0" smtClean="0">
                <a:solidFill>
                  <a:srgbClr val="000000"/>
                </a:solidFill>
                <a:latin typeface="宋体" panose="02010600030101010101" pitchFamily="2" charset="-122"/>
                <a:cs typeface="宋体" panose="02010600030101010101" pitchFamily="2" charset="-122"/>
              </a:rPr>
              <a:t>整</a:t>
            </a:r>
            <a:r>
              <a:rPr kumimoji="0" lang="zh-CN" sz="2200" b="0" i="0" u="none" strike="noStrike" cap="none" normalizeH="0" baseline="0" dirty="0" smtClean="0">
                <a:ln>
                  <a:noFill/>
                </a:ln>
                <a:solidFill>
                  <a:srgbClr val="000000"/>
                </a:solidFill>
                <a:effectLst/>
                <a:latin typeface="宋体" panose="02010600030101010101" pitchFamily="2" charset="-122"/>
                <a:cs typeface="宋体" panose="02010600030101010101" pitchFamily="2" charset="-122"/>
              </a:rPr>
              <a:t>数</a:t>
            </a:r>
            <a:r>
              <a:rPr lang="en-US" altLang="zh-CN" sz="2200" b="1" i="1" dirty="0">
                <a:solidFill>
                  <a:srgbClr val="000000"/>
                </a:solidFill>
                <a:cs typeface="Times New Roman" panose="02020603050405020304" pitchFamily="18" charset="0"/>
              </a:rPr>
              <a:t>n</a:t>
            </a:r>
            <a:br>
              <a:rPr kumimoji="0" lang="zh-CN" altLang="zh-CN" sz="2200" b="1" i="1" u="none" strike="noStrike" cap="none" normalizeH="0" baseline="0" dirty="0" smtClean="0">
                <a:ln>
                  <a:noFill/>
                </a:ln>
                <a:solidFill>
                  <a:srgbClr val="000000"/>
                </a:solidFill>
                <a:effectLst/>
                <a:cs typeface="Times New Roman" panose="02020603050405020304" pitchFamily="18" charset="0"/>
              </a:rPr>
            </a:br>
            <a:r>
              <a:rPr kumimoji="0" lang="zh-CN" sz="2200" b="0" i="0" u="none" strike="noStrike" cap="none" normalizeH="0" baseline="0" dirty="0" smtClean="0">
                <a:ln>
                  <a:noFill/>
                </a:ln>
                <a:solidFill>
                  <a:srgbClr val="000000"/>
                </a:solidFill>
                <a:effectLst/>
                <a:latin typeface="宋体" panose="02010600030101010101" pitchFamily="2" charset="-122"/>
                <a:cs typeface="宋体" panose="02010600030101010101" pitchFamily="2" charset="-122"/>
              </a:rPr>
              <a:t>输出： </a:t>
            </a:r>
            <a:r>
              <a:rPr lang="en-US" altLang="zh-CN" sz="2200" b="1" i="1" dirty="0" smtClean="0">
                <a:solidFill>
                  <a:srgbClr val="000000"/>
                </a:solidFill>
                <a:cs typeface="Times New Roman" panose="02020603050405020304" pitchFamily="18" charset="0"/>
              </a:rPr>
              <a:t>n</a:t>
            </a:r>
            <a:r>
              <a:rPr lang="zh-CN" altLang="en-US" sz="2200" dirty="0" smtClean="0">
                <a:solidFill>
                  <a:srgbClr val="000000"/>
                </a:solidFill>
                <a:cs typeface="Times New Roman" panose="02020603050405020304" pitchFamily="18" charset="0"/>
              </a:rPr>
              <a:t>！</a:t>
            </a:r>
            <a:br>
              <a:rPr kumimoji="0" lang="zh-CN" altLang="zh-CN" sz="2200" b="1" i="1" u="none" strike="noStrike" cap="none" normalizeH="0" baseline="0" dirty="0" smtClean="0">
                <a:ln>
                  <a:noFill/>
                </a:ln>
                <a:solidFill>
                  <a:srgbClr val="000000"/>
                </a:solidFill>
                <a:effectLst/>
                <a:cs typeface="Times New Roman" panose="02020603050405020304" pitchFamily="18" charset="0"/>
              </a:rPr>
            </a:br>
            <a:r>
              <a:rPr kumimoji="0" lang="zh-CN" altLang="zh-CN" sz="2200" b="1" i="0" u="none" strike="noStrike" cap="none" normalizeH="0" baseline="0" dirty="0" smtClean="0">
                <a:ln>
                  <a:noFill/>
                </a:ln>
                <a:solidFill>
                  <a:srgbClr val="000000"/>
                </a:solidFill>
                <a:effectLst/>
                <a:cs typeface="Times New Roman" panose="02020603050405020304" pitchFamily="18" charset="0"/>
              </a:rPr>
              <a:t>1. </a:t>
            </a:r>
            <a:r>
              <a:rPr kumimoji="0" lang="en-US" altLang="zh-CN" sz="2200" b="1" i="0" u="none" strike="noStrike" cap="none" normalizeH="0" baseline="0" dirty="0" smtClean="0">
                <a:ln>
                  <a:noFill/>
                </a:ln>
                <a:solidFill>
                  <a:srgbClr val="000000"/>
                </a:solidFill>
                <a:effectLst/>
                <a:cs typeface="Times New Roman" panose="02020603050405020304" pitchFamily="18" charset="0"/>
              </a:rPr>
              <a:t>if </a:t>
            </a:r>
            <a:r>
              <a:rPr lang="en-US" altLang="zh-CN" sz="2200" b="1" i="1" dirty="0">
                <a:solidFill>
                  <a:srgbClr val="000000"/>
                </a:solidFill>
                <a:cs typeface="Times New Roman" panose="02020603050405020304" pitchFamily="18" charset="0"/>
              </a:rPr>
              <a:t>n</a:t>
            </a:r>
            <a:r>
              <a:rPr kumimoji="0" lang="en-US" altLang="zh-CN" sz="2200" b="1" i="0" u="none" strike="noStrike" cap="none" normalizeH="0" baseline="0" dirty="0" smtClean="0">
                <a:ln>
                  <a:noFill/>
                </a:ln>
                <a:solidFill>
                  <a:srgbClr val="000000"/>
                </a:solidFill>
                <a:effectLst/>
                <a:cs typeface="Times New Roman" panose="02020603050405020304" pitchFamily="18" charset="0"/>
              </a:rPr>
              <a:t>=1</a:t>
            </a:r>
            <a:r>
              <a:rPr kumimoji="0" lang="en-US" altLang="zh-CN" sz="2200" b="1" i="0" u="none" strike="noStrike" cap="none" normalizeH="0" dirty="0" smtClean="0">
                <a:ln>
                  <a:noFill/>
                </a:ln>
                <a:solidFill>
                  <a:srgbClr val="000000"/>
                </a:solidFill>
                <a:effectLst/>
                <a:cs typeface="Times New Roman" panose="02020603050405020304" pitchFamily="18" charset="0"/>
              </a:rPr>
              <a:t>   </a:t>
            </a:r>
            <a:endParaRPr kumimoji="0" lang="en-US" altLang="zh-CN" sz="2200" b="1" i="0" u="none" strike="noStrike" cap="none" normalizeH="0" dirty="0" smtClean="0">
              <a:ln>
                <a:noFill/>
              </a:ln>
              <a:solidFill>
                <a:srgbClr val="000000"/>
              </a:solidFill>
              <a:effectLst/>
              <a:cs typeface="Times New Roman" panose="02020603050405020304" pitchFamily="18" charset="0"/>
            </a:endParaRPr>
          </a:p>
          <a:p>
            <a:pPr lvl="0" eaLnBrk="1" hangingPunct="1">
              <a:lnSpc>
                <a:spcPct val="120000"/>
              </a:lnSpc>
            </a:pPr>
            <a:r>
              <a:rPr lang="en-US" altLang="zh-CN" sz="2200" b="1" dirty="0" smtClean="0">
                <a:solidFill>
                  <a:srgbClr val="000000"/>
                </a:solidFill>
                <a:cs typeface="Times New Roman" panose="02020603050405020304" pitchFamily="18" charset="0"/>
              </a:rPr>
              <a:t>2. </a:t>
            </a:r>
            <a:r>
              <a:rPr kumimoji="0" lang="en-US" altLang="zh-CN" sz="2200" b="1" i="0" u="none" strike="noStrike" cap="none" normalizeH="0" dirty="0" smtClean="0">
                <a:ln>
                  <a:noFill/>
                </a:ln>
                <a:solidFill>
                  <a:srgbClr val="000000"/>
                </a:solidFill>
                <a:effectLst/>
                <a:cs typeface="Times New Roman" panose="02020603050405020304" pitchFamily="18" charset="0"/>
              </a:rPr>
              <a:t>then return 1</a:t>
            </a:r>
            <a:endParaRPr kumimoji="0" lang="en-US" altLang="zh-CN" sz="2200" b="1" i="0" u="none" strike="noStrike" cap="none" normalizeH="0" baseline="0" dirty="0" smtClean="0">
              <a:ln>
                <a:noFill/>
              </a:ln>
              <a:solidFill>
                <a:srgbClr val="000000"/>
              </a:solidFill>
              <a:effectLst/>
              <a:cs typeface="Times New Roman" panose="02020603050405020304" pitchFamily="18" charset="0"/>
            </a:endParaRPr>
          </a:p>
          <a:p>
            <a:pPr lvl="0" eaLnBrk="1" hangingPunct="1">
              <a:lnSpc>
                <a:spcPct val="120000"/>
              </a:lnSpc>
            </a:pPr>
            <a:r>
              <a:rPr kumimoji="0" lang="en-US" altLang="zh-CN" sz="2200" b="1" i="0" u="none" strike="noStrike" cap="none" normalizeH="0" baseline="0" dirty="0" smtClean="0">
                <a:ln>
                  <a:noFill/>
                </a:ln>
                <a:solidFill>
                  <a:srgbClr val="000000"/>
                </a:solidFill>
                <a:effectLst/>
                <a:cs typeface="Times New Roman" panose="02020603050405020304" pitchFamily="18" charset="0"/>
              </a:rPr>
              <a:t>3</a:t>
            </a:r>
            <a:r>
              <a:rPr kumimoji="0" lang="zh-CN" altLang="zh-CN" sz="2200" b="1" i="0" u="none" strike="noStrike" cap="none" normalizeH="0" baseline="0" dirty="0" smtClean="0">
                <a:ln>
                  <a:noFill/>
                </a:ln>
                <a:solidFill>
                  <a:srgbClr val="000000"/>
                </a:solidFill>
                <a:effectLst/>
                <a:cs typeface="Times New Roman" panose="02020603050405020304" pitchFamily="18" charset="0"/>
              </a:rPr>
              <a:t>. </a:t>
            </a:r>
            <a:r>
              <a:rPr kumimoji="0" lang="en-US" altLang="zh-CN" sz="2200" b="1" i="0" u="none" strike="noStrike" cap="none" normalizeH="0" baseline="0" dirty="0" smtClean="0">
                <a:ln>
                  <a:noFill/>
                </a:ln>
                <a:solidFill>
                  <a:srgbClr val="000000"/>
                </a:solidFill>
                <a:effectLst/>
                <a:cs typeface="Times New Roman" panose="02020603050405020304" pitchFamily="18" charset="0"/>
              </a:rPr>
              <a:t>else return(</a:t>
            </a:r>
            <a:r>
              <a:rPr lang="en-US" altLang="zh-CN" sz="2200" b="1" i="1" dirty="0">
                <a:solidFill>
                  <a:srgbClr val="000000"/>
                </a:solidFill>
                <a:cs typeface="Times New Roman" panose="02020603050405020304" pitchFamily="18" charset="0"/>
              </a:rPr>
              <a:t>n</a:t>
            </a:r>
            <a:r>
              <a:rPr kumimoji="0" lang="en-US" altLang="zh-CN" sz="2200" b="1" i="0" u="none" strike="noStrike" cap="none" normalizeH="0" baseline="0" dirty="0" smtClean="0">
                <a:ln>
                  <a:noFill/>
                </a:ln>
                <a:solidFill>
                  <a:srgbClr val="000000"/>
                </a:solidFill>
                <a:effectLst/>
                <a:cs typeface="Times New Roman" panose="02020603050405020304" pitchFamily="18" charset="0"/>
              </a:rPr>
              <a:t>*</a:t>
            </a:r>
            <a:r>
              <a:rPr kumimoji="0" lang="en-US" altLang="zh-CN" sz="2200" b="1" i="0" u="none" strike="noStrike" cap="none" normalizeH="0" baseline="0" dirty="0" err="1" smtClean="0">
                <a:ln>
                  <a:noFill/>
                </a:ln>
                <a:solidFill>
                  <a:srgbClr val="000000"/>
                </a:solidFill>
                <a:effectLst/>
                <a:cs typeface="Times New Roman" panose="02020603050405020304" pitchFamily="18" charset="0"/>
              </a:rPr>
              <a:t>fac</a:t>
            </a:r>
            <a:r>
              <a:rPr kumimoji="0" lang="en-US" altLang="zh-CN" sz="2200" b="1" i="0" u="none" strike="noStrike" cap="none" normalizeH="0" baseline="0" dirty="0" smtClean="0">
                <a:ln>
                  <a:noFill/>
                </a:ln>
                <a:solidFill>
                  <a:srgbClr val="000000"/>
                </a:solidFill>
                <a:effectLst/>
                <a:cs typeface="Times New Roman" panose="02020603050405020304" pitchFamily="18" charset="0"/>
              </a:rPr>
              <a:t>(</a:t>
            </a:r>
            <a:r>
              <a:rPr lang="en-US" altLang="zh-CN" sz="2200" b="1" i="1" dirty="0" smtClean="0">
                <a:solidFill>
                  <a:srgbClr val="000000"/>
                </a:solidFill>
                <a:cs typeface="Times New Roman" panose="02020603050405020304" pitchFamily="18" charset="0"/>
              </a:rPr>
              <a:t>n</a:t>
            </a:r>
            <a:r>
              <a:rPr kumimoji="0" lang="en-US" altLang="zh-CN" sz="2200" b="1" i="0" u="none" strike="noStrike" cap="none" normalizeH="0" baseline="0" dirty="0" smtClean="0">
                <a:ln>
                  <a:noFill/>
                </a:ln>
                <a:solidFill>
                  <a:srgbClr val="000000"/>
                </a:solidFill>
                <a:effectLst/>
                <a:cs typeface="Times New Roman" panose="02020603050405020304" pitchFamily="18" charset="0"/>
              </a:rPr>
              <a:t>-1))</a:t>
            </a:r>
            <a:endParaRPr kumimoji="0" lang="zh-CN" altLang="zh-CN" sz="2200" b="0" i="0" u="none" strike="noStrike" cap="none" normalizeH="0" baseline="0" dirty="0" smtClean="0">
              <a:ln>
                <a:noFill/>
              </a:ln>
              <a:solidFill>
                <a:schemeClr val="tx1"/>
              </a:solidFill>
              <a:effectLst/>
              <a:latin typeface="Arial" panose="020B0604020202020204" pitchFamily="34" charset="0"/>
              <a:cs typeface="宋体" panose="02010600030101010101" pitchFamily="2" charset="-122"/>
            </a:endParaRPr>
          </a:p>
        </p:txBody>
      </p:sp>
      <p:sp>
        <p:nvSpPr>
          <p:cNvPr id="10" name="TextBox 9"/>
          <p:cNvSpPr txBox="1"/>
          <p:nvPr/>
        </p:nvSpPr>
        <p:spPr>
          <a:xfrm>
            <a:off x="2948555" y="5439674"/>
            <a:ext cx="784189" cy="461665"/>
          </a:xfrm>
          <a:prstGeom prst="rect">
            <a:avLst/>
          </a:prstGeom>
          <a:noFill/>
        </p:spPr>
        <p:txBody>
          <a:bodyPr wrap="none" rtlCol="0">
            <a:spAutoFit/>
          </a:bodyPr>
          <a:lstStyle/>
          <a:p>
            <a:r>
              <a:rPr lang="en-US" altLang="zh-CN" b="1" i="1" dirty="0" smtClean="0">
                <a:solidFill>
                  <a:srgbClr val="FF0000"/>
                </a:solidFill>
              </a:rPr>
              <a:t>O</a:t>
            </a:r>
            <a:r>
              <a:rPr lang="en-US" altLang="zh-CN" dirty="0" smtClean="0">
                <a:solidFill>
                  <a:srgbClr val="FF0000"/>
                </a:solidFill>
              </a:rPr>
              <a:t>(</a:t>
            </a:r>
            <a:r>
              <a:rPr lang="en-US" altLang="zh-CN" b="1" i="1" dirty="0" smtClean="0">
                <a:solidFill>
                  <a:srgbClr val="FF0000"/>
                </a:solidFill>
              </a:rPr>
              <a:t>n</a:t>
            </a:r>
            <a:r>
              <a:rPr lang="en-US" altLang="zh-CN" dirty="0" smtClean="0">
                <a:solidFill>
                  <a:srgbClr val="FF0000"/>
                </a:solidFill>
              </a:rPr>
              <a:t>)</a:t>
            </a:r>
            <a:endParaRPr lang="zh-CN" altLang="en-US" dirty="0">
              <a:solidFill>
                <a:srgbClr val="FF0000"/>
              </a:solidFill>
            </a:endParaRPr>
          </a:p>
        </p:txBody>
      </p:sp>
      <p:graphicFrame>
        <p:nvGraphicFramePr>
          <p:cNvPr id="5" name="对象 4">
            <a:hlinkClick r:id="" action="ppaction://ole?verb="/>
          </p:cNvPr>
          <p:cNvGraphicFramePr>
            <a:graphicFrameLocks noChangeAspect="1"/>
          </p:cNvGraphicFramePr>
          <p:nvPr/>
        </p:nvGraphicFramePr>
        <p:xfrm>
          <a:off x="4499610" y="5261610"/>
          <a:ext cx="3357245" cy="833120"/>
        </p:xfrm>
        <a:graphic>
          <a:graphicData uri="http://schemas.openxmlformats.org/presentationml/2006/ole">
            <mc:AlternateContent xmlns:mc="http://schemas.openxmlformats.org/markup-compatibility/2006">
              <mc:Choice xmlns:v="urn:schemas-microsoft-com:vml" Requires="v">
                <p:oleObj spid="_x0000_s7169" name="" r:id="rId1" imgW="1841500" imgH="457200" progId="Equation.KSEE3">
                  <p:embed/>
                </p:oleObj>
              </mc:Choice>
              <mc:Fallback>
                <p:oleObj name="" r:id="rId1" imgW="1841500" imgH="457200" progId="Equation.KSEE3">
                  <p:embed/>
                  <p:pic>
                    <p:nvPicPr>
                      <p:cNvPr id="0" name="20 7168"/>
                      <p:cNvPicPr/>
                      <p:nvPr/>
                    </p:nvPicPr>
                    <p:blipFill>
                      <a:blip r:embed="rId2"/>
                      <a:stretch>
                        <a:fillRect/>
                      </a:stretch>
                    </p:blipFill>
                    <p:spPr>
                      <a:xfrm>
                        <a:off x="4499610" y="5261610"/>
                        <a:ext cx="3357245" cy="833120"/>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8" grpId="0" bldLvl="0" animBg="1"/>
      <p:bldP spid="8" grpId="1" animBg="1"/>
      <p:bldP spid="9" grpId="0" bldLvl="0" animBg="1"/>
      <p:bldP spid="9" grpId="1" animBg="1"/>
      <p:bldP spid="10" grpId="0"/>
      <p:bldP spid="10"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7" name="矩形 6"/>
          <p:cNvSpPr/>
          <p:nvPr/>
        </p:nvSpPr>
        <p:spPr>
          <a:xfrm>
            <a:off x="611560" y="1700808"/>
            <a:ext cx="7165304" cy="535531"/>
          </a:xfrm>
          <a:prstGeom prst="rect">
            <a:avLst/>
          </a:prstGeom>
        </p:spPr>
        <p:txBody>
          <a:bodyPr wrap="square">
            <a:spAutoFit/>
          </a:bodyPr>
          <a:lstStyle/>
          <a:p>
            <a:pPr marL="0" lvl="1">
              <a:lnSpc>
                <a:spcPct val="120000"/>
              </a:lnSpc>
            </a:pPr>
            <a:r>
              <a:rPr lang="zh-CN" altLang="en-US" dirty="0" smtClean="0">
                <a:solidFill>
                  <a:schemeClr val="bg2"/>
                </a:solidFill>
              </a:rPr>
              <a:t>举例</a:t>
            </a:r>
            <a:r>
              <a:rPr lang="en-US" altLang="zh-CN" dirty="0" smtClean="0">
                <a:solidFill>
                  <a:schemeClr val="bg2"/>
                </a:solidFill>
              </a:rPr>
              <a:t>2</a:t>
            </a:r>
            <a:r>
              <a:rPr lang="zh-CN" altLang="en-US" dirty="0" smtClean="0">
                <a:solidFill>
                  <a:schemeClr val="bg2"/>
                </a:solidFill>
              </a:rPr>
              <a:t>：</a:t>
            </a:r>
            <a:r>
              <a:rPr lang="en-US" altLang="zh-CN" dirty="0" err="1" smtClean="0">
                <a:solidFill>
                  <a:schemeClr val="bg2"/>
                </a:solidFill>
              </a:rPr>
              <a:t>Hanio</a:t>
            </a:r>
            <a:r>
              <a:rPr lang="zh-CN" altLang="en-US" dirty="0" smtClean="0">
                <a:solidFill>
                  <a:schemeClr val="bg2"/>
                </a:solidFill>
              </a:rPr>
              <a:t>问题</a:t>
            </a:r>
            <a:endParaRPr lang="zh-CN" altLang="en-US" b="1" dirty="0">
              <a:solidFill>
                <a:srgbClr val="1E2E53"/>
              </a:solidFill>
              <a:latin typeface="楷体_GB2312" pitchFamily="49" charset="-122"/>
              <a:ea typeface="楷体_GB2312" pitchFamily="49" charset="-122"/>
            </a:endParaRPr>
          </a:p>
        </p:txBody>
      </p:sp>
      <p:sp>
        <p:nvSpPr>
          <p:cNvPr id="5" name="矩形 4"/>
          <p:cNvSpPr/>
          <p:nvPr/>
        </p:nvSpPr>
        <p:spPr>
          <a:xfrm>
            <a:off x="1313892" y="2244628"/>
            <a:ext cx="5760640" cy="2308324"/>
          </a:xfrm>
          <a:prstGeom prst="rect">
            <a:avLst/>
          </a:prstGeom>
        </p:spPr>
        <p:txBody>
          <a:bodyPr wrap="square">
            <a:spAutoFit/>
          </a:bodyPr>
          <a:lstStyle/>
          <a:p>
            <a:pPr>
              <a:lnSpc>
                <a:spcPct val="120000"/>
              </a:lnSpc>
            </a:pPr>
            <a:r>
              <a:rPr lang="zh-CN" altLang="en-US" dirty="0">
                <a:solidFill>
                  <a:schemeClr val="bg2"/>
                </a:solidFill>
              </a:rPr>
              <a:t>算法 </a:t>
            </a:r>
            <a:r>
              <a:rPr lang="en-US" altLang="zh-CN" b="1" dirty="0">
                <a:solidFill>
                  <a:schemeClr val="bg2"/>
                </a:solidFill>
              </a:rPr>
              <a:t>Hanoi (</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 </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n</a:t>
            </a:r>
            <a:r>
              <a:rPr lang="zh-CN" altLang="en-US" dirty="0">
                <a:solidFill>
                  <a:schemeClr val="bg2"/>
                </a:solidFill>
              </a:rPr>
              <a:t>个盘子</a:t>
            </a:r>
            <a:r>
              <a:rPr lang="en-US" altLang="zh-CN" b="1" i="1" dirty="0">
                <a:solidFill>
                  <a:schemeClr val="bg2"/>
                </a:solidFill>
              </a:rPr>
              <a:t>A</a:t>
            </a:r>
            <a:r>
              <a:rPr lang="zh-CN" altLang="en-US" dirty="0">
                <a:solidFill>
                  <a:schemeClr val="bg2"/>
                </a:solidFill>
              </a:rPr>
              <a:t>到</a:t>
            </a:r>
            <a:r>
              <a:rPr lang="en-US" altLang="zh-CN" b="1" i="1" dirty="0">
                <a:solidFill>
                  <a:schemeClr val="bg2"/>
                </a:solidFill>
              </a:rPr>
              <a:t>C</a:t>
            </a:r>
            <a:br>
              <a:rPr lang="en-US" altLang="zh-CN" b="1" i="1" dirty="0">
                <a:solidFill>
                  <a:schemeClr val="bg2"/>
                </a:solidFill>
              </a:rPr>
            </a:br>
            <a:r>
              <a:rPr lang="en-US" altLang="zh-CN" b="1" dirty="0">
                <a:solidFill>
                  <a:schemeClr val="bg2"/>
                </a:solidFill>
              </a:rPr>
              <a:t>1. if </a:t>
            </a:r>
            <a:r>
              <a:rPr lang="en-US" altLang="zh-CN" b="1" i="1" dirty="0">
                <a:solidFill>
                  <a:schemeClr val="bg2"/>
                </a:solidFill>
              </a:rPr>
              <a:t>n</a:t>
            </a:r>
            <a:r>
              <a:rPr lang="en-US" altLang="zh-CN" b="1" dirty="0">
                <a:solidFill>
                  <a:schemeClr val="bg2"/>
                </a:solidFill>
              </a:rPr>
              <a:t>=1 then move (</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 // 1</a:t>
            </a:r>
            <a:r>
              <a:rPr lang="zh-CN" altLang="en-US" dirty="0">
                <a:solidFill>
                  <a:schemeClr val="bg2"/>
                </a:solidFill>
              </a:rPr>
              <a:t>个盘子</a:t>
            </a:r>
            <a:r>
              <a:rPr lang="en-US" altLang="zh-CN" b="1" i="1" dirty="0">
                <a:solidFill>
                  <a:schemeClr val="bg2"/>
                </a:solidFill>
              </a:rPr>
              <a:t>A</a:t>
            </a:r>
            <a:r>
              <a:rPr lang="zh-CN" altLang="en-US" dirty="0">
                <a:solidFill>
                  <a:schemeClr val="bg2"/>
                </a:solidFill>
              </a:rPr>
              <a:t>到</a:t>
            </a:r>
            <a:r>
              <a:rPr lang="en-US" altLang="zh-CN" b="1" i="1" dirty="0">
                <a:solidFill>
                  <a:schemeClr val="bg2"/>
                </a:solidFill>
              </a:rPr>
              <a:t>C</a:t>
            </a:r>
            <a:br>
              <a:rPr lang="en-US" altLang="zh-CN" b="1" i="1" dirty="0">
                <a:solidFill>
                  <a:schemeClr val="bg2"/>
                </a:solidFill>
              </a:rPr>
            </a:br>
            <a:r>
              <a:rPr lang="en-US" altLang="zh-CN" b="1" dirty="0">
                <a:solidFill>
                  <a:schemeClr val="bg2"/>
                </a:solidFill>
              </a:rPr>
              <a:t>2. else Hanoi (</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B</a:t>
            </a:r>
            <a:r>
              <a:rPr lang="en-US" altLang="zh-CN" b="1" dirty="0">
                <a:solidFill>
                  <a:schemeClr val="bg2"/>
                </a:solidFill>
              </a:rPr>
              <a:t>, </a:t>
            </a:r>
            <a:r>
              <a:rPr lang="en-US" altLang="zh-CN" b="1" i="1" dirty="0" smtClean="0">
                <a:solidFill>
                  <a:schemeClr val="bg2"/>
                </a:solidFill>
              </a:rPr>
              <a:t>n-</a:t>
            </a:r>
            <a:r>
              <a:rPr lang="en-US" altLang="zh-CN" b="1" dirty="0" smtClean="0">
                <a:solidFill>
                  <a:schemeClr val="bg2"/>
                </a:solidFill>
              </a:rPr>
              <a:t>1</a:t>
            </a:r>
            <a:r>
              <a:rPr lang="en-US" altLang="zh-CN" b="1" dirty="0">
                <a:solidFill>
                  <a:schemeClr val="bg2"/>
                </a:solidFill>
              </a:rPr>
              <a:t>)</a:t>
            </a:r>
            <a:br>
              <a:rPr lang="en-US" altLang="zh-CN" b="1" dirty="0">
                <a:solidFill>
                  <a:schemeClr val="bg2"/>
                </a:solidFill>
              </a:rPr>
            </a:br>
            <a:r>
              <a:rPr lang="en-US" altLang="zh-CN" b="1" dirty="0">
                <a:solidFill>
                  <a:schemeClr val="bg2"/>
                </a:solidFill>
              </a:rPr>
              <a:t>3. </a:t>
            </a:r>
            <a:r>
              <a:rPr lang="en-US" altLang="zh-CN" b="1" dirty="0" smtClean="0">
                <a:solidFill>
                  <a:schemeClr val="bg2"/>
                </a:solidFill>
              </a:rPr>
              <a:t>       move </a:t>
            </a:r>
            <a:r>
              <a:rPr lang="en-US" altLang="zh-CN" b="1" dirty="0">
                <a:solidFill>
                  <a:schemeClr val="bg2"/>
                </a:solidFill>
              </a:rPr>
              <a:t>(</a:t>
            </a:r>
            <a:r>
              <a:rPr lang="en-US" altLang="zh-CN" b="1" i="1" dirty="0">
                <a:solidFill>
                  <a:schemeClr val="bg2"/>
                </a:solidFill>
              </a:rPr>
              <a:t>A</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a:t>
            </a:r>
            <a:br>
              <a:rPr lang="en-US" altLang="zh-CN" b="1" dirty="0">
                <a:solidFill>
                  <a:schemeClr val="bg2"/>
                </a:solidFill>
              </a:rPr>
            </a:br>
            <a:r>
              <a:rPr lang="en-US" altLang="zh-CN" b="1" dirty="0">
                <a:solidFill>
                  <a:schemeClr val="bg2"/>
                </a:solidFill>
              </a:rPr>
              <a:t>4. </a:t>
            </a:r>
            <a:r>
              <a:rPr lang="en-US" altLang="zh-CN" b="1" dirty="0" smtClean="0">
                <a:solidFill>
                  <a:schemeClr val="bg2"/>
                </a:solidFill>
              </a:rPr>
              <a:t>       Hanoi </a:t>
            </a:r>
            <a:r>
              <a:rPr lang="en-US" altLang="zh-CN" b="1" dirty="0">
                <a:solidFill>
                  <a:schemeClr val="bg2"/>
                </a:solidFill>
              </a:rPr>
              <a:t>(</a:t>
            </a:r>
            <a:r>
              <a:rPr lang="en-US" altLang="zh-CN" b="1" i="1" dirty="0">
                <a:solidFill>
                  <a:schemeClr val="bg2"/>
                </a:solidFill>
              </a:rPr>
              <a:t>B</a:t>
            </a:r>
            <a:r>
              <a:rPr lang="en-US" altLang="zh-CN" b="1" dirty="0">
                <a:solidFill>
                  <a:schemeClr val="bg2"/>
                </a:solidFill>
              </a:rPr>
              <a:t>, </a:t>
            </a:r>
            <a:r>
              <a:rPr lang="en-US" altLang="zh-CN" b="1" i="1" dirty="0">
                <a:solidFill>
                  <a:schemeClr val="bg2"/>
                </a:solidFill>
              </a:rPr>
              <a:t>C</a:t>
            </a:r>
            <a:r>
              <a:rPr lang="en-US" altLang="zh-CN" b="1" dirty="0">
                <a:solidFill>
                  <a:schemeClr val="bg2"/>
                </a:solidFill>
              </a:rPr>
              <a:t>, </a:t>
            </a:r>
            <a:r>
              <a:rPr lang="en-US" altLang="zh-CN" b="1" i="1" dirty="0" smtClean="0">
                <a:solidFill>
                  <a:schemeClr val="bg2"/>
                </a:solidFill>
              </a:rPr>
              <a:t>n-</a:t>
            </a:r>
            <a:r>
              <a:rPr lang="en-US" altLang="zh-CN" b="1" dirty="0" smtClean="0">
                <a:solidFill>
                  <a:schemeClr val="bg2"/>
                </a:solidFill>
              </a:rPr>
              <a:t>1</a:t>
            </a:r>
            <a:r>
              <a:rPr lang="en-US" altLang="zh-CN" b="1" dirty="0">
                <a:solidFill>
                  <a:schemeClr val="bg2"/>
                </a:solidFill>
              </a:rPr>
              <a:t>)</a:t>
            </a:r>
            <a:r>
              <a:rPr lang="en-US" altLang="zh-CN" dirty="0">
                <a:solidFill>
                  <a:schemeClr val="bg2"/>
                </a:solidFill>
              </a:rPr>
              <a:t> </a:t>
            </a:r>
            <a:endParaRPr lang="zh-CN" altLang="en-US" dirty="0">
              <a:solidFill>
                <a:schemeClr val="bg2"/>
              </a:solidFill>
            </a:endParaRPr>
          </a:p>
        </p:txBody>
      </p:sp>
      <p:graphicFrame>
        <p:nvGraphicFramePr>
          <p:cNvPr id="3" name="对象 2">
            <a:hlinkClick r:id="" action="ppaction://ole?verb="/>
          </p:cNvPr>
          <p:cNvGraphicFramePr>
            <a:graphicFrameLocks noChangeAspect="1"/>
          </p:cNvGraphicFramePr>
          <p:nvPr/>
        </p:nvGraphicFramePr>
        <p:xfrm>
          <a:off x="2771775" y="4869180"/>
          <a:ext cx="3756025" cy="895350"/>
        </p:xfrm>
        <a:graphic>
          <a:graphicData uri="http://schemas.openxmlformats.org/presentationml/2006/ole">
            <mc:AlternateContent xmlns:mc="http://schemas.openxmlformats.org/markup-compatibility/2006">
              <mc:Choice xmlns:v="urn:schemas-microsoft-com:vml" Requires="v">
                <p:oleObj spid="_x0000_s7169" name="" r:id="rId1" imgW="1917065" imgH="457200" progId="Equation.KSEE3">
                  <p:embed/>
                </p:oleObj>
              </mc:Choice>
              <mc:Fallback>
                <p:oleObj name="" r:id="rId1" imgW="1917065" imgH="457200" progId="Equation.KSEE3">
                  <p:embed/>
                  <p:pic>
                    <p:nvPicPr>
                      <p:cNvPr id="0" name="20 7168"/>
                      <p:cNvPicPr/>
                      <p:nvPr/>
                    </p:nvPicPr>
                    <p:blipFill>
                      <a:blip r:embed="rId2"/>
                      <a:stretch>
                        <a:fillRect/>
                      </a:stretch>
                    </p:blipFill>
                    <p:spPr>
                      <a:xfrm>
                        <a:off x="2771775" y="4869180"/>
                        <a:ext cx="3756025" cy="895350"/>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7" name="矩形 6"/>
          <p:cNvSpPr/>
          <p:nvPr/>
        </p:nvSpPr>
        <p:spPr>
          <a:xfrm>
            <a:off x="611560" y="1700808"/>
            <a:ext cx="7165304" cy="535531"/>
          </a:xfrm>
          <a:prstGeom prst="rect">
            <a:avLst/>
          </a:prstGeom>
        </p:spPr>
        <p:txBody>
          <a:bodyPr wrap="square">
            <a:spAutoFit/>
          </a:bodyPr>
          <a:lstStyle/>
          <a:p>
            <a:pPr marL="0" lvl="1">
              <a:lnSpc>
                <a:spcPct val="120000"/>
              </a:lnSpc>
            </a:pPr>
            <a:r>
              <a:rPr lang="zh-CN" altLang="en-US" dirty="0" smtClean="0">
                <a:solidFill>
                  <a:schemeClr val="bg2"/>
                </a:solidFill>
              </a:rPr>
              <a:t>举例</a:t>
            </a:r>
            <a:r>
              <a:rPr lang="en-US" altLang="zh-CN" dirty="0" smtClean="0">
                <a:solidFill>
                  <a:schemeClr val="bg2"/>
                </a:solidFill>
              </a:rPr>
              <a:t>3</a:t>
            </a:r>
            <a:r>
              <a:rPr lang="zh-CN" altLang="en-US" dirty="0" smtClean="0">
                <a:solidFill>
                  <a:schemeClr val="bg2"/>
                </a:solidFill>
              </a:rPr>
              <a:t>：直接插入排序</a:t>
            </a:r>
            <a:endParaRPr lang="zh-CN" altLang="en-US" b="1" dirty="0">
              <a:solidFill>
                <a:srgbClr val="1E2E53"/>
              </a:solidFill>
              <a:latin typeface="楷体_GB2312" pitchFamily="49" charset="-122"/>
              <a:ea typeface="楷体_GB2312" pitchFamily="49" charset="-122"/>
            </a:endParaRPr>
          </a:p>
        </p:txBody>
      </p:sp>
      <p:sp>
        <p:nvSpPr>
          <p:cNvPr id="8" name="Rectangle 1"/>
          <p:cNvSpPr>
            <a:spLocks noChangeArrowheads="1"/>
          </p:cNvSpPr>
          <p:nvPr/>
        </p:nvSpPr>
        <p:spPr bwMode="auto">
          <a:xfrm>
            <a:off x="251520" y="2236339"/>
            <a:ext cx="428466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indent="278130"/>
            <a:r>
              <a:rPr lang="zh-CN" altLang="zh-CN" sz="2400" b="1" dirty="0" smtClean="0">
                <a:solidFill>
                  <a:schemeClr val="bg2"/>
                </a:solidFill>
                <a:latin typeface="Times New Roman" panose="02020603050405020304" pitchFamily="18" charset="0"/>
              </a:rPr>
              <a:t>算法</a:t>
            </a:r>
            <a:r>
              <a:rPr lang="en-US" altLang="zh-CN" sz="2400" b="1" dirty="0" smtClean="0">
                <a:solidFill>
                  <a:schemeClr val="bg2"/>
                </a:solidFill>
                <a:latin typeface="Times New Roman" panose="02020603050405020304" pitchFamily="18" charset="0"/>
              </a:rPr>
              <a:t>1 </a:t>
            </a:r>
            <a:r>
              <a:rPr lang="en-US" altLang="zh-CN" sz="2400" dirty="0" smtClean="0">
                <a:solidFill>
                  <a:schemeClr val="bg2"/>
                </a:solidFill>
                <a:latin typeface="Times New Roman" panose="02020603050405020304" pitchFamily="18" charset="0"/>
              </a:rPr>
              <a:t> </a:t>
            </a:r>
            <a:r>
              <a:rPr lang="en-US" altLang="zh-CN" sz="2400" b="1" dirty="0" err="1">
                <a:solidFill>
                  <a:schemeClr val="bg2"/>
                </a:solidFill>
                <a:latin typeface="Times New Roman" panose="02020603050405020304" pitchFamily="18" charset="0"/>
                <a:ea typeface="黑体" panose="02010609060101010101" pitchFamily="49" charset="-122"/>
              </a:rPr>
              <a:t>InsertSort</a:t>
            </a:r>
            <a:r>
              <a:rPr lang="en-US" altLang="zh-CN" sz="2400" b="1" dirty="0">
                <a:solidFill>
                  <a:schemeClr val="bg2"/>
                </a:solidFill>
                <a:latin typeface="Times New Roman" panose="02020603050405020304" pitchFamily="18" charset="0"/>
                <a:ea typeface="黑体" panose="02010609060101010101" pitchFamily="49" charset="-122"/>
              </a:rPr>
              <a:t>(</a:t>
            </a:r>
            <a:r>
              <a:rPr lang="en-US" altLang="zh-CN" sz="2400" b="1" i="1" dirty="0" err="1">
                <a:solidFill>
                  <a:schemeClr val="bg2"/>
                </a:solidFill>
                <a:latin typeface="Times New Roman" panose="02020603050405020304" pitchFamily="18" charset="0"/>
                <a:ea typeface="黑体" panose="02010609060101010101" pitchFamily="49" charset="-122"/>
              </a:rPr>
              <a:t>A,n</a:t>
            </a:r>
            <a:r>
              <a:rPr lang="en-US" altLang="zh-CN" sz="2400" b="1" dirty="0">
                <a:solidFill>
                  <a:schemeClr val="bg2"/>
                </a:solidFill>
                <a:latin typeface="Times New Roman" panose="02020603050405020304" pitchFamily="18" charset="0"/>
                <a:ea typeface="黑体" panose="02010609060101010101" pitchFamily="49" charset="-122"/>
              </a:rPr>
              <a:t>) </a:t>
            </a:r>
            <a:endParaRPr lang="en-US" altLang="zh-CN" sz="2400" b="1" dirty="0" smtClean="0">
              <a:solidFill>
                <a:schemeClr val="bg2"/>
              </a:solidFill>
              <a:latin typeface="Times New Roman" panose="02020603050405020304" pitchFamily="18" charset="0"/>
              <a:ea typeface="黑体" panose="02010609060101010101" pitchFamily="49" charset="-122"/>
            </a:endParaRPr>
          </a:p>
          <a:p>
            <a:pPr indent="278130"/>
            <a:r>
              <a:rPr lang="en-US" altLang="zh-CN" sz="2400" b="1" dirty="0" smtClean="0">
                <a:solidFill>
                  <a:schemeClr val="bg2"/>
                </a:solidFill>
                <a:latin typeface="Times New Roman" panose="02020603050405020304" pitchFamily="18" charset="0"/>
                <a:ea typeface="黑体" panose="02010609060101010101" pitchFamily="49" charset="-122"/>
              </a:rPr>
              <a:t>1</a:t>
            </a:r>
            <a:r>
              <a:rPr lang="en-US" altLang="zh-CN" sz="2400" b="1" dirty="0">
                <a:solidFill>
                  <a:schemeClr val="bg2"/>
                </a:solidFill>
                <a:latin typeface="Times New Roman" panose="02020603050405020304" pitchFamily="18" charset="0"/>
                <a:ea typeface="黑体" panose="02010609060101010101" pitchFamily="49" charset="-122"/>
              </a:rPr>
              <a:t>. for</a:t>
            </a:r>
            <a:r>
              <a:rPr lang="en-US" altLang="zh-CN" sz="2400" b="1" i="1" dirty="0">
                <a:solidFill>
                  <a:schemeClr val="bg2"/>
                </a:solidFill>
                <a:latin typeface="Times New Roman" panose="02020603050405020304" pitchFamily="18" charset="0"/>
                <a:ea typeface="黑体" panose="02010609060101010101" pitchFamily="49" charset="-122"/>
              </a:rPr>
              <a:t>  j</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dirty="0">
                <a:solidFill>
                  <a:schemeClr val="bg2"/>
                </a:solidFill>
                <a:latin typeface="Times New Roman" panose="02020603050405020304" pitchFamily="18" charset="0"/>
                <a:ea typeface="黑体" panose="02010609060101010101" pitchFamily="49" charset="-122"/>
              </a:rPr>
              <a:t>2  to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n </a:t>
            </a:r>
            <a:r>
              <a:rPr lang="en-US" altLang="zh-CN" sz="2400" b="1" dirty="0">
                <a:solidFill>
                  <a:schemeClr val="bg2"/>
                </a:solidFill>
                <a:ea typeface="黑体" panose="02010609060101010101" pitchFamily="49" charset="-122"/>
                <a:sym typeface="Symbol" panose="05050102010706020507" pitchFamily="18" charset="2"/>
              </a:rPr>
              <a:t>do</a:t>
            </a:r>
            <a:endParaRPr lang="en-US" altLang="zh-CN" sz="2400"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2.     </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x</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rPr>
              <a:t>A</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j</a:t>
            </a:r>
            <a:r>
              <a:rPr lang="en-US" altLang="zh-CN" sz="2400" b="1" dirty="0">
                <a:solidFill>
                  <a:schemeClr val="bg2"/>
                </a:solidFill>
                <a:ea typeface="黑体" panose="02010609060101010101" pitchFamily="49" charset="-122"/>
                <a:sym typeface="Symbol" panose="05050102010706020507" pitchFamily="18" charset="2"/>
              </a:rPr>
              <a:t>]</a:t>
            </a:r>
            <a:endParaRPr lang="en-US" altLang="zh-CN" sz="2400"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3.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j</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dirty="0" smtClean="0">
                <a:solidFill>
                  <a:schemeClr val="bg2"/>
                </a:solidFill>
                <a:latin typeface="Times New Roman" panose="02020603050405020304" pitchFamily="18" charset="0"/>
                <a:ea typeface="黑体" panose="02010609060101010101" pitchFamily="49" charset="-122"/>
              </a:rPr>
              <a:t>1</a:t>
            </a:r>
            <a:endParaRPr lang="zh-CN" altLang="en-US" sz="2400" b="1" dirty="0">
              <a:solidFill>
                <a:schemeClr val="bg2"/>
              </a:solidFill>
              <a:latin typeface="Times New Roman" panose="02020603050405020304" pitchFamily="18" charset="0"/>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4.     while </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&gt;0 and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x</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&lt;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A</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ea typeface="黑体" panose="02010609060101010101" pitchFamily="49" charset="-122"/>
                <a:sym typeface="Symbol" panose="05050102010706020507" pitchFamily="18" charset="2"/>
              </a:rPr>
              <a:t>] do</a:t>
            </a:r>
            <a:endParaRPr lang="en-US" altLang="zh-CN" sz="2400"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5.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A</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a:t>
            </a:r>
            <a:r>
              <a:rPr lang="en-US" altLang="zh-CN" sz="2400" b="1" i="1" dirty="0">
                <a:solidFill>
                  <a:schemeClr val="bg2"/>
                </a:solidFill>
                <a:latin typeface="Times New Roman" panose="02020603050405020304" pitchFamily="18" charset="0"/>
                <a:ea typeface="黑体" panose="02010609060101010101" pitchFamily="49" charset="-122"/>
              </a:rPr>
              <a:t>A</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ea typeface="黑体" panose="02010609060101010101" pitchFamily="49" charset="-122"/>
                <a:sym typeface="Symbol" panose="05050102010706020507" pitchFamily="18" charset="2"/>
              </a:rPr>
              <a:t>] </a:t>
            </a:r>
            <a:endParaRPr lang="en-US" altLang="zh-CN" sz="2400"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6.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dirty="0">
                <a:solidFill>
                  <a:schemeClr val="bg2"/>
                </a:solidFill>
                <a:ea typeface="黑体" panose="02010609060101010101" pitchFamily="49" charset="-122"/>
              </a:rPr>
              <a:t>1</a:t>
            </a:r>
            <a:endParaRPr lang="en-US" altLang="zh-CN" sz="2400"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7.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A</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a:t>
            </a:r>
            <a:r>
              <a:rPr lang="en-US" altLang="zh-CN" sz="2400" b="1" i="1" dirty="0">
                <a:solidFill>
                  <a:schemeClr val="bg2"/>
                </a:solidFill>
                <a:latin typeface="Times New Roman" panose="02020603050405020304" pitchFamily="18" charset="0"/>
                <a:ea typeface="黑体" panose="02010609060101010101" pitchFamily="49" charset="-122"/>
              </a:rPr>
              <a:t>x</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9" name="Rectangle 1"/>
          <p:cNvSpPr>
            <a:spLocks noChangeArrowheads="1"/>
          </p:cNvSpPr>
          <p:nvPr/>
        </p:nvSpPr>
        <p:spPr bwMode="auto">
          <a:xfrm>
            <a:off x="4356100" y="1957705"/>
            <a:ext cx="4606290" cy="4892675"/>
          </a:xfrm>
          <a:prstGeom prst="rect">
            <a:avLst/>
          </a:prstGeom>
          <a:solidFill>
            <a:schemeClr val="tx1"/>
          </a:solidFill>
          <a:ln w="9525">
            <a:solidFill>
              <a:schemeClr val="tx1"/>
            </a:solidFill>
            <a:miter lim="800000"/>
          </a:ln>
        </p:spPr>
        <p:txBody>
          <a:bodyPr wrap="square" anchor="ctr">
            <a:spAutoFit/>
          </a:bodyPr>
          <a:lstStyle/>
          <a:p>
            <a:pPr indent="278130"/>
            <a:r>
              <a:rPr lang="zh-CN" altLang="zh-CN" sz="2400" b="1" dirty="0" smtClean="0">
                <a:solidFill>
                  <a:schemeClr val="bg2"/>
                </a:solidFill>
                <a:latin typeface="Times New Roman" panose="02020603050405020304" pitchFamily="18" charset="0"/>
              </a:rPr>
              <a:t>算法</a:t>
            </a:r>
            <a:r>
              <a:rPr lang="en-US" altLang="zh-CN" sz="2400" b="1" dirty="0" smtClean="0">
                <a:solidFill>
                  <a:schemeClr val="bg2"/>
                </a:solidFill>
                <a:latin typeface="Times New Roman" panose="02020603050405020304" pitchFamily="18" charset="0"/>
              </a:rPr>
              <a:t>2 </a:t>
            </a:r>
            <a:r>
              <a:rPr lang="en-US" altLang="zh-CN" sz="2400" dirty="0" smtClean="0">
                <a:solidFill>
                  <a:schemeClr val="bg2"/>
                </a:solidFill>
                <a:latin typeface="Times New Roman" panose="02020603050405020304" pitchFamily="18" charset="0"/>
              </a:rPr>
              <a:t> </a:t>
            </a:r>
            <a:r>
              <a:rPr lang="en-US" altLang="zh-CN" sz="2400" b="1" dirty="0" err="1">
                <a:solidFill>
                  <a:schemeClr val="bg2"/>
                </a:solidFill>
                <a:latin typeface="Times New Roman" panose="02020603050405020304" pitchFamily="18" charset="0"/>
                <a:ea typeface="黑体" panose="02010609060101010101" pitchFamily="49" charset="-122"/>
              </a:rPr>
              <a:t>InsertSort</a:t>
            </a:r>
            <a:r>
              <a:rPr lang="en-US" altLang="zh-CN" sz="2400" b="1" dirty="0">
                <a:solidFill>
                  <a:schemeClr val="bg2"/>
                </a:solidFill>
                <a:latin typeface="Times New Roman" panose="02020603050405020304" pitchFamily="18" charset="0"/>
                <a:ea typeface="黑体" panose="02010609060101010101" pitchFamily="49" charset="-122"/>
              </a:rPr>
              <a:t>(</a:t>
            </a:r>
            <a:r>
              <a:rPr lang="en-US" altLang="zh-CN" sz="2400" b="1" i="1" dirty="0" err="1">
                <a:solidFill>
                  <a:schemeClr val="bg2"/>
                </a:solidFill>
                <a:latin typeface="Times New Roman" panose="02020603050405020304" pitchFamily="18" charset="0"/>
                <a:ea typeface="黑体" panose="02010609060101010101" pitchFamily="49" charset="-122"/>
              </a:rPr>
              <a:t>A,n</a:t>
            </a:r>
            <a:r>
              <a:rPr lang="en-US" altLang="zh-CN" sz="2400" b="1" dirty="0">
                <a:solidFill>
                  <a:schemeClr val="bg2"/>
                </a:solidFill>
                <a:latin typeface="Times New Roman" panose="02020603050405020304" pitchFamily="18" charset="0"/>
                <a:ea typeface="黑体" panose="02010609060101010101" pitchFamily="49" charset="-122"/>
              </a:rPr>
              <a:t>) </a:t>
            </a:r>
            <a:endParaRPr lang="en-US" altLang="zh-CN" sz="2400" b="1" dirty="0" smtClean="0">
              <a:solidFill>
                <a:schemeClr val="bg2"/>
              </a:solidFill>
              <a:latin typeface="Times New Roman" panose="02020603050405020304" pitchFamily="18" charset="0"/>
              <a:ea typeface="黑体" panose="02010609060101010101" pitchFamily="49" charset="-122"/>
            </a:endParaRPr>
          </a:p>
          <a:p>
            <a:r>
              <a:rPr lang="en-US" altLang="zh-CN" sz="2400" b="1" dirty="0" smtClean="0">
                <a:solidFill>
                  <a:schemeClr val="bg2"/>
                </a:solidFill>
                <a:latin typeface="Times New Roman" panose="02020603050405020304" pitchFamily="18" charset="0"/>
                <a:ea typeface="黑体" panose="02010609060101010101" pitchFamily="49" charset="-122"/>
              </a:rPr>
              <a:t>   1. if </a:t>
            </a:r>
            <a:r>
              <a:rPr lang="en-US" altLang="zh-CN" sz="2400" b="1" i="1" dirty="0" smtClean="0">
                <a:solidFill>
                  <a:schemeClr val="bg2"/>
                </a:solidFill>
                <a:latin typeface="Times New Roman" panose="02020603050405020304" pitchFamily="18" charset="0"/>
                <a:ea typeface="黑体" panose="02010609060101010101" pitchFamily="49" charset="-122"/>
              </a:rPr>
              <a:t>n</a:t>
            </a:r>
            <a:r>
              <a:rPr lang="en-US" altLang="zh-CN" sz="2400" b="1" dirty="0" smtClean="0">
                <a:solidFill>
                  <a:schemeClr val="bg2"/>
                </a:solidFill>
                <a:latin typeface="Times New Roman" panose="02020603050405020304" pitchFamily="18" charset="0"/>
                <a:ea typeface="黑体" panose="02010609060101010101" pitchFamily="49" charset="-122"/>
              </a:rPr>
              <a:t>&gt;1</a:t>
            </a:r>
            <a:endParaRPr lang="en-US" altLang="zh-CN" sz="2400" b="1" dirty="0" smtClean="0">
              <a:solidFill>
                <a:schemeClr val="bg2"/>
              </a:solidFill>
              <a:latin typeface="Times New Roman" panose="02020603050405020304" pitchFamily="18" charset="0"/>
              <a:ea typeface="黑体" panose="02010609060101010101" pitchFamily="49" charset="-122"/>
            </a:endParaRPr>
          </a:p>
          <a:p>
            <a:r>
              <a:rPr lang="en-US" altLang="zh-CN" sz="2400" b="1" dirty="0" smtClean="0">
                <a:solidFill>
                  <a:schemeClr val="bg2"/>
                </a:solidFill>
                <a:latin typeface="Times New Roman" panose="02020603050405020304" pitchFamily="18" charset="0"/>
                <a:ea typeface="黑体" panose="02010609060101010101" pitchFamily="49" charset="-122"/>
                <a:sym typeface="Symbol" panose="05050102010706020507" pitchFamily="18" charset="2"/>
              </a:rPr>
              <a:t>   2</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r>
              <a:rPr lang="en-US" altLang="zh-CN" b="1" dirty="0" smtClean="0">
                <a:solidFill>
                  <a:schemeClr val="bg2"/>
                </a:solidFill>
                <a:ea typeface="黑体" panose="02010609060101010101" pitchFamily="49" charset="-122"/>
                <a:sym typeface="Symbol" panose="05050102010706020507" pitchFamily="18" charset="2"/>
              </a:rPr>
              <a:t>then </a:t>
            </a:r>
            <a:r>
              <a:rPr lang="en-US" altLang="zh-CN" b="1" dirty="0" err="1" smtClean="0">
                <a:solidFill>
                  <a:schemeClr val="bg2"/>
                </a:solidFill>
                <a:ea typeface="黑体" panose="02010609060101010101" pitchFamily="49" charset="-122"/>
              </a:rPr>
              <a:t>InsertSort</a:t>
            </a:r>
            <a:r>
              <a:rPr lang="en-US" altLang="zh-CN" b="1" dirty="0" smtClean="0">
                <a:solidFill>
                  <a:schemeClr val="bg2"/>
                </a:solidFill>
                <a:ea typeface="黑体" panose="02010609060101010101" pitchFamily="49" charset="-122"/>
              </a:rPr>
              <a:t>(</a:t>
            </a:r>
            <a:r>
              <a:rPr lang="en-US" altLang="zh-CN" b="1" i="1" dirty="0" smtClean="0">
                <a:solidFill>
                  <a:schemeClr val="bg2"/>
                </a:solidFill>
                <a:ea typeface="黑体" panose="02010609060101010101" pitchFamily="49" charset="-122"/>
              </a:rPr>
              <a:t>A,n</a:t>
            </a:r>
            <a:r>
              <a:rPr lang="en-US" altLang="zh-CN" b="1" dirty="0" smtClean="0">
                <a:solidFill>
                  <a:schemeClr val="bg2"/>
                </a:solidFill>
                <a:ea typeface="黑体" panose="02010609060101010101" pitchFamily="49" charset="-122"/>
              </a:rPr>
              <a:t>-1) </a:t>
            </a:r>
            <a:endParaRPr lang="en-US" altLang="zh-CN" b="1" dirty="0" smtClean="0">
              <a:solidFill>
                <a:schemeClr val="bg2"/>
              </a:solidFill>
              <a:ea typeface="黑体" panose="02010609060101010101" pitchFamily="49" charset="-122"/>
            </a:endParaRPr>
          </a:p>
          <a:p>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400" b="1" dirty="0" smtClean="0">
                <a:solidFill>
                  <a:schemeClr val="bg2"/>
                </a:solidFill>
                <a:latin typeface="Times New Roman" panose="02020603050405020304" pitchFamily="18" charset="0"/>
                <a:ea typeface="黑体" panose="02010609060101010101" pitchFamily="49" charset="-122"/>
                <a:sym typeface="Symbol" panose="05050102010706020507" pitchFamily="18" charset="2"/>
              </a:rPr>
              <a:t>  3</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400" b="1" dirty="0" smtClean="0">
                <a:solidFill>
                  <a:schemeClr val="bg2"/>
                </a:solidFill>
                <a:latin typeface="Times New Roman" panose="02020603050405020304" pitchFamily="18" charset="0"/>
                <a:ea typeface="黑体" panose="02010609060101010101" pitchFamily="49" charset="-122"/>
                <a:sym typeface="Symbol" panose="05050102010706020507" pitchFamily="18" charset="2"/>
              </a:rPr>
              <a:t>   </a:t>
            </a:r>
            <a:r>
              <a:rPr lang="en-US" altLang="zh-CN" b="1" dirty="0" smtClean="0">
                <a:solidFill>
                  <a:schemeClr val="bg2"/>
                </a:solidFill>
                <a:ea typeface="黑体" panose="02010609060101010101" pitchFamily="49" charset="-122"/>
                <a:sym typeface="Symbol" panose="05050102010706020507" pitchFamily="18" charset="2"/>
              </a:rPr>
              <a:t>     </a:t>
            </a:r>
            <a:r>
              <a:rPr lang="en-US" altLang="zh-CN" b="1" i="1" dirty="0" err="1">
                <a:solidFill>
                  <a:schemeClr val="bg2"/>
                </a:solidFill>
                <a:ea typeface="黑体" panose="02010609060101010101" pitchFamily="49" charset="-122"/>
                <a:sym typeface="Symbol" panose="05050102010706020507" pitchFamily="18" charset="2"/>
              </a:rPr>
              <a:t>x</a:t>
            </a:r>
            <a:r>
              <a:rPr lang="en-US" altLang="zh-CN" b="1" dirty="0" err="1">
                <a:solidFill>
                  <a:schemeClr val="bg2"/>
                </a:solidFill>
                <a:ea typeface="黑体" panose="02010609060101010101" pitchFamily="49" charset="-122"/>
                <a:sym typeface="Symbol" panose="05050102010706020507" pitchFamily="18" charset="2"/>
              </a:rPr>
              <a:t></a:t>
            </a:r>
            <a:r>
              <a:rPr lang="en-US" altLang="zh-CN" b="1" i="1" dirty="0" err="1" smtClean="0">
                <a:solidFill>
                  <a:schemeClr val="bg2"/>
                </a:solidFill>
                <a:ea typeface="黑体" panose="02010609060101010101" pitchFamily="49" charset="-122"/>
              </a:rPr>
              <a:t>A</a:t>
            </a:r>
            <a:r>
              <a:rPr lang="en-US" altLang="zh-CN" b="1" dirty="0" smtClean="0">
                <a:solidFill>
                  <a:schemeClr val="bg2"/>
                </a:solidFill>
                <a:ea typeface="黑体" panose="02010609060101010101" pitchFamily="49" charset="-122"/>
                <a:sym typeface="Symbol" panose="05050102010706020507" pitchFamily="18" charset="2"/>
              </a:rPr>
              <a:t>[</a:t>
            </a:r>
            <a:r>
              <a:rPr lang="en-US" altLang="zh-CN" b="1" i="1" dirty="0" smtClean="0">
                <a:solidFill>
                  <a:schemeClr val="bg2"/>
                </a:solidFill>
                <a:ea typeface="黑体" panose="02010609060101010101" pitchFamily="49" charset="-122"/>
                <a:sym typeface="Symbol" panose="05050102010706020507" pitchFamily="18" charset="2"/>
              </a:rPr>
              <a:t>n</a:t>
            </a:r>
            <a:r>
              <a:rPr lang="en-US" altLang="zh-CN" b="1" dirty="0" smtClean="0">
                <a:solidFill>
                  <a:schemeClr val="bg2"/>
                </a:solidFill>
                <a:ea typeface="黑体" panose="02010609060101010101" pitchFamily="49" charset="-122"/>
                <a:sym typeface="Symbol" panose="05050102010706020507" pitchFamily="18" charset="2"/>
              </a:rPr>
              <a:t>]</a:t>
            </a:r>
            <a:endParaRPr lang="en-US" altLang="zh-CN"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a:r>
              <a:rPr lang="en-US" altLang="zh-CN" b="1" dirty="0">
                <a:solidFill>
                  <a:schemeClr val="bg2"/>
                </a:solidFill>
                <a:ea typeface="黑体" panose="02010609060101010101" pitchFamily="49" charset="-122"/>
                <a:sym typeface="Symbol" panose="05050102010706020507" pitchFamily="18" charset="2"/>
              </a:rPr>
              <a:t>3.    </a:t>
            </a:r>
            <a:r>
              <a:rPr lang="en-US" altLang="zh-CN" b="1" dirty="0" smtClean="0">
                <a:solidFill>
                  <a:schemeClr val="bg2"/>
                </a:solidFill>
                <a:ea typeface="黑体" panose="02010609060101010101" pitchFamily="49" charset="-122"/>
                <a:sym typeface="Symbol" panose="05050102010706020507" pitchFamily="18" charset="2"/>
              </a:rPr>
              <a:t>    </a:t>
            </a:r>
            <a:r>
              <a:rPr lang="en-US" altLang="zh-CN" b="1" i="1" dirty="0">
                <a:solidFill>
                  <a:schemeClr val="bg2"/>
                </a:solidFill>
                <a:ea typeface="黑体" panose="02010609060101010101" pitchFamily="49" charset="-122"/>
                <a:sym typeface="Symbol" panose="05050102010706020507" pitchFamily="18" charset="2"/>
              </a:rPr>
              <a:t>i</a:t>
            </a:r>
            <a:r>
              <a:rPr lang="en-US" altLang="zh-CN" b="1" dirty="0" smtClean="0">
                <a:solidFill>
                  <a:schemeClr val="bg2"/>
                </a:solidFill>
                <a:ea typeface="黑体" panose="02010609060101010101" pitchFamily="49" charset="-122"/>
                <a:sym typeface="Symbol" panose="05050102010706020507" pitchFamily="18" charset="2"/>
              </a:rPr>
              <a:t></a:t>
            </a:r>
            <a:r>
              <a:rPr lang="en-US" altLang="zh-CN" b="1" i="1" dirty="0" smtClean="0">
                <a:solidFill>
                  <a:schemeClr val="bg2"/>
                </a:solidFill>
                <a:ea typeface="黑体" panose="02010609060101010101" pitchFamily="49" charset="-122"/>
              </a:rPr>
              <a:t>n</a:t>
            </a:r>
            <a:r>
              <a:rPr lang="en-US" altLang="zh-CN" b="1" dirty="0" smtClean="0">
                <a:solidFill>
                  <a:schemeClr val="bg2"/>
                </a:solidFill>
                <a:ea typeface="黑体" panose="02010609060101010101" pitchFamily="49" charset="-122"/>
                <a:sym typeface="Symbol" panose="05050102010706020507" pitchFamily="18" charset="2"/>
              </a:rPr>
              <a:t></a:t>
            </a:r>
            <a:r>
              <a:rPr lang="en-US" altLang="zh-CN" b="1" dirty="0">
                <a:solidFill>
                  <a:schemeClr val="bg2"/>
                </a:solidFill>
                <a:ea typeface="黑体" panose="02010609060101010101" pitchFamily="49" charset="-122"/>
              </a:rPr>
              <a:t>1</a:t>
            </a:r>
            <a:endParaRPr lang="zh-CN" altLang="en-US" b="1" dirty="0">
              <a:solidFill>
                <a:schemeClr val="bg2"/>
              </a:solidFill>
              <a:sym typeface="Symbol" panose="05050102010706020507" pitchFamily="18" charset="2"/>
            </a:endParaRPr>
          </a:p>
          <a:p>
            <a:pPr indent="278130"/>
            <a:r>
              <a:rPr lang="en-US" altLang="zh-CN" b="1" dirty="0">
                <a:solidFill>
                  <a:schemeClr val="bg2"/>
                </a:solidFill>
                <a:ea typeface="黑体" panose="02010609060101010101" pitchFamily="49" charset="-122"/>
                <a:sym typeface="Symbol" panose="05050102010706020507" pitchFamily="18" charset="2"/>
              </a:rPr>
              <a:t>4.     </a:t>
            </a:r>
            <a:r>
              <a:rPr lang="en-US" altLang="zh-CN" b="1" dirty="0" smtClean="0">
                <a:solidFill>
                  <a:schemeClr val="bg2"/>
                </a:solidFill>
                <a:ea typeface="黑体" panose="02010609060101010101" pitchFamily="49" charset="-122"/>
                <a:sym typeface="Symbol" panose="05050102010706020507" pitchFamily="18" charset="2"/>
              </a:rPr>
              <a:t>  while </a:t>
            </a:r>
            <a:r>
              <a:rPr lang="en-US" altLang="zh-CN" b="1" i="1" dirty="0" err="1">
                <a:solidFill>
                  <a:schemeClr val="bg2"/>
                </a:solidFill>
                <a:ea typeface="黑体" panose="02010609060101010101" pitchFamily="49" charset="-122"/>
                <a:sym typeface="Symbol" panose="05050102010706020507" pitchFamily="18" charset="2"/>
              </a:rPr>
              <a:t>i</a:t>
            </a:r>
            <a:r>
              <a:rPr lang="en-US" altLang="zh-CN" b="1" dirty="0">
                <a:solidFill>
                  <a:schemeClr val="bg2"/>
                </a:solidFill>
                <a:ea typeface="黑体" panose="02010609060101010101" pitchFamily="49" charset="-122"/>
                <a:sym typeface="Symbol" panose="05050102010706020507" pitchFamily="18" charset="2"/>
              </a:rPr>
              <a:t>&gt;0 and </a:t>
            </a:r>
            <a:r>
              <a:rPr lang="en-US" altLang="zh-CN" b="1" i="1" dirty="0">
                <a:solidFill>
                  <a:schemeClr val="bg2"/>
                </a:solidFill>
                <a:ea typeface="黑体" panose="02010609060101010101" pitchFamily="49" charset="-122"/>
                <a:sym typeface="Symbol" panose="05050102010706020507" pitchFamily="18" charset="2"/>
              </a:rPr>
              <a:t>x</a:t>
            </a:r>
            <a:r>
              <a:rPr lang="en-US" altLang="zh-CN" b="1" dirty="0">
                <a:solidFill>
                  <a:schemeClr val="bg2"/>
                </a:solidFill>
                <a:ea typeface="黑体" panose="02010609060101010101" pitchFamily="49" charset="-122"/>
                <a:sym typeface="Symbol" panose="05050102010706020507" pitchFamily="18" charset="2"/>
              </a:rPr>
              <a:t>&lt;</a:t>
            </a:r>
            <a:r>
              <a:rPr lang="en-US" altLang="zh-CN" b="1" i="1" dirty="0">
                <a:solidFill>
                  <a:schemeClr val="bg2"/>
                </a:solidFill>
                <a:ea typeface="黑体" panose="02010609060101010101" pitchFamily="49" charset="-122"/>
                <a:sym typeface="Symbol" panose="05050102010706020507" pitchFamily="18" charset="2"/>
              </a:rPr>
              <a:t>A</a:t>
            </a:r>
            <a:r>
              <a:rPr lang="en-US" altLang="zh-CN" b="1" dirty="0">
                <a:solidFill>
                  <a:schemeClr val="bg2"/>
                </a:solidFill>
                <a:ea typeface="黑体" panose="02010609060101010101" pitchFamily="49" charset="-122"/>
                <a:sym typeface="Symbol" panose="05050102010706020507" pitchFamily="18" charset="2"/>
              </a:rPr>
              <a:t>[</a:t>
            </a:r>
            <a:r>
              <a:rPr lang="en-US" altLang="zh-CN" b="1" i="1" dirty="0" err="1">
                <a:solidFill>
                  <a:schemeClr val="bg2"/>
                </a:solidFill>
                <a:ea typeface="黑体" panose="02010609060101010101" pitchFamily="49" charset="-122"/>
                <a:sym typeface="Symbol" panose="05050102010706020507" pitchFamily="18" charset="2"/>
              </a:rPr>
              <a:t>i</a:t>
            </a:r>
            <a:r>
              <a:rPr lang="en-US" altLang="zh-CN" b="1" dirty="0">
                <a:solidFill>
                  <a:schemeClr val="bg2"/>
                </a:solidFill>
                <a:ea typeface="黑体" panose="02010609060101010101" pitchFamily="49" charset="-122"/>
                <a:sym typeface="Symbol" panose="05050102010706020507" pitchFamily="18" charset="2"/>
              </a:rPr>
              <a:t>] do</a:t>
            </a:r>
            <a:endParaRPr lang="en-US" altLang="zh-CN"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a:r>
              <a:rPr lang="en-US" altLang="zh-CN" b="1" dirty="0">
                <a:solidFill>
                  <a:schemeClr val="bg2"/>
                </a:solidFill>
                <a:ea typeface="黑体" panose="02010609060101010101" pitchFamily="49" charset="-122"/>
                <a:sym typeface="Symbol" panose="05050102010706020507" pitchFamily="18" charset="2"/>
              </a:rPr>
              <a:t>5.         </a:t>
            </a:r>
            <a:r>
              <a:rPr lang="en-US" altLang="zh-CN" b="1" dirty="0" smtClean="0">
                <a:solidFill>
                  <a:schemeClr val="bg2"/>
                </a:solidFill>
                <a:ea typeface="黑体" panose="02010609060101010101" pitchFamily="49" charset="-122"/>
                <a:sym typeface="Symbol" panose="05050102010706020507" pitchFamily="18" charset="2"/>
              </a:rPr>
              <a:t>   </a:t>
            </a:r>
            <a:r>
              <a:rPr lang="en-US" altLang="zh-CN" b="1" i="1" dirty="0" smtClean="0">
                <a:solidFill>
                  <a:schemeClr val="bg2"/>
                </a:solidFill>
                <a:ea typeface="黑体" panose="02010609060101010101" pitchFamily="49" charset="-122"/>
                <a:sym typeface="Symbol" panose="05050102010706020507" pitchFamily="18" charset="2"/>
              </a:rPr>
              <a:t>A</a:t>
            </a:r>
            <a:r>
              <a:rPr lang="en-US" altLang="zh-CN" b="1" dirty="0" smtClean="0">
                <a:solidFill>
                  <a:schemeClr val="bg2"/>
                </a:solidFill>
                <a:ea typeface="黑体" panose="02010609060101010101" pitchFamily="49" charset="-122"/>
                <a:sym typeface="Symbol" panose="05050102010706020507" pitchFamily="18" charset="2"/>
              </a:rPr>
              <a:t>[</a:t>
            </a:r>
            <a:r>
              <a:rPr lang="en-US" altLang="zh-CN" b="1" i="1" dirty="0" smtClean="0">
                <a:solidFill>
                  <a:schemeClr val="bg2"/>
                </a:solidFill>
                <a:ea typeface="黑体" panose="02010609060101010101" pitchFamily="49" charset="-122"/>
                <a:sym typeface="Symbol" panose="05050102010706020507" pitchFamily="18" charset="2"/>
              </a:rPr>
              <a:t>i+</a:t>
            </a:r>
            <a:r>
              <a:rPr lang="en-US" altLang="zh-CN" b="1" dirty="0" smtClean="0">
                <a:solidFill>
                  <a:schemeClr val="bg2"/>
                </a:solidFill>
                <a:ea typeface="黑体" panose="02010609060101010101" pitchFamily="49" charset="-122"/>
                <a:sym typeface="Symbol" panose="05050102010706020507" pitchFamily="18" charset="2"/>
              </a:rPr>
              <a:t>1</a:t>
            </a:r>
            <a:r>
              <a:rPr lang="en-US" altLang="zh-CN" b="1" dirty="0">
                <a:solidFill>
                  <a:schemeClr val="bg2"/>
                </a:solidFill>
                <a:ea typeface="黑体" panose="02010609060101010101" pitchFamily="49" charset="-122"/>
                <a:sym typeface="Symbol" panose="05050102010706020507" pitchFamily="18" charset="2"/>
              </a:rPr>
              <a:t>]</a:t>
            </a:r>
            <a:r>
              <a:rPr lang="en-US" altLang="zh-CN" b="1" i="1" dirty="0">
                <a:solidFill>
                  <a:schemeClr val="bg2"/>
                </a:solidFill>
                <a:ea typeface="黑体" panose="02010609060101010101" pitchFamily="49" charset="-122"/>
              </a:rPr>
              <a:t>A</a:t>
            </a:r>
            <a:r>
              <a:rPr lang="en-US" altLang="zh-CN" b="1" dirty="0">
                <a:solidFill>
                  <a:schemeClr val="bg2"/>
                </a:solidFill>
                <a:ea typeface="黑体" panose="02010609060101010101" pitchFamily="49" charset="-122"/>
                <a:sym typeface="Symbol" panose="05050102010706020507" pitchFamily="18" charset="2"/>
              </a:rPr>
              <a:t>[</a:t>
            </a:r>
            <a:r>
              <a:rPr lang="en-US" altLang="zh-CN" b="1" i="1" dirty="0" err="1">
                <a:solidFill>
                  <a:schemeClr val="bg2"/>
                </a:solidFill>
                <a:ea typeface="黑体" panose="02010609060101010101" pitchFamily="49" charset="-122"/>
                <a:sym typeface="Symbol" panose="05050102010706020507" pitchFamily="18" charset="2"/>
              </a:rPr>
              <a:t>i</a:t>
            </a:r>
            <a:r>
              <a:rPr lang="en-US" altLang="zh-CN" b="1" dirty="0">
                <a:solidFill>
                  <a:schemeClr val="bg2"/>
                </a:solidFill>
                <a:ea typeface="黑体" panose="02010609060101010101" pitchFamily="49" charset="-122"/>
                <a:sym typeface="Symbol" panose="05050102010706020507" pitchFamily="18" charset="2"/>
              </a:rPr>
              <a:t>] </a:t>
            </a:r>
            <a:endParaRPr lang="en-US" altLang="zh-CN"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a:r>
              <a:rPr lang="en-US" altLang="zh-CN" b="1" dirty="0">
                <a:solidFill>
                  <a:schemeClr val="bg2"/>
                </a:solidFill>
                <a:ea typeface="黑体" panose="02010609060101010101" pitchFamily="49" charset="-122"/>
                <a:sym typeface="Symbol" panose="05050102010706020507" pitchFamily="18" charset="2"/>
              </a:rPr>
              <a:t>6.         </a:t>
            </a:r>
            <a:r>
              <a:rPr lang="en-US" altLang="zh-CN" b="1" dirty="0" smtClean="0">
                <a:solidFill>
                  <a:schemeClr val="bg2"/>
                </a:solidFill>
                <a:ea typeface="黑体" panose="02010609060101010101" pitchFamily="49" charset="-122"/>
                <a:sym typeface="Symbol" panose="05050102010706020507" pitchFamily="18" charset="2"/>
              </a:rPr>
              <a:t>   </a:t>
            </a:r>
            <a:r>
              <a:rPr lang="en-US" altLang="zh-CN" b="1" i="1" dirty="0" smtClean="0">
                <a:solidFill>
                  <a:schemeClr val="bg2"/>
                </a:solidFill>
                <a:ea typeface="黑体" panose="02010609060101010101" pitchFamily="49" charset="-122"/>
                <a:sym typeface="Symbol" panose="05050102010706020507" pitchFamily="18" charset="2"/>
              </a:rPr>
              <a:t>i</a:t>
            </a:r>
            <a:r>
              <a:rPr lang="en-US" altLang="zh-CN" b="1" dirty="0">
                <a:solidFill>
                  <a:schemeClr val="bg2"/>
                </a:solidFill>
                <a:ea typeface="黑体" panose="02010609060101010101" pitchFamily="49" charset="-122"/>
                <a:sym typeface="Symbol" panose="05050102010706020507" pitchFamily="18" charset="2"/>
              </a:rPr>
              <a:t></a:t>
            </a:r>
            <a:r>
              <a:rPr lang="en-US" altLang="zh-CN" b="1" i="1" dirty="0">
                <a:solidFill>
                  <a:schemeClr val="bg2"/>
                </a:solidFill>
                <a:ea typeface="黑体" panose="02010609060101010101" pitchFamily="49" charset="-122"/>
              </a:rPr>
              <a:t>i</a:t>
            </a:r>
            <a:r>
              <a:rPr lang="en-US" altLang="zh-CN" b="1" dirty="0">
                <a:solidFill>
                  <a:schemeClr val="bg2"/>
                </a:solidFill>
                <a:ea typeface="黑体" panose="02010609060101010101" pitchFamily="49" charset="-122"/>
                <a:sym typeface="Symbol" panose="05050102010706020507" pitchFamily="18" charset="2"/>
              </a:rPr>
              <a:t></a:t>
            </a:r>
            <a:r>
              <a:rPr lang="en-US" altLang="zh-CN" b="1" dirty="0">
                <a:solidFill>
                  <a:schemeClr val="bg2"/>
                </a:solidFill>
                <a:ea typeface="黑体" panose="02010609060101010101" pitchFamily="49" charset="-122"/>
              </a:rPr>
              <a:t>1</a:t>
            </a:r>
            <a:endParaRPr lang="en-US" altLang="zh-CN"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a:r>
              <a:rPr lang="en-US" altLang="zh-CN" b="1" dirty="0">
                <a:solidFill>
                  <a:schemeClr val="bg2"/>
                </a:solidFill>
                <a:ea typeface="黑体" panose="02010609060101010101" pitchFamily="49" charset="-122"/>
                <a:sym typeface="Symbol" panose="05050102010706020507" pitchFamily="18" charset="2"/>
              </a:rPr>
              <a:t>7.     </a:t>
            </a:r>
            <a:r>
              <a:rPr lang="en-US" altLang="zh-CN" b="1" dirty="0" smtClean="0">
                <a:solidFill>
                  <a:schemeClr val="bg2"/>
                </a:solidFill>
                <a:ea typeface="黑体" panose="02010609060101010101" pitchFamily="49" charset="-122"/>
                <a:sym typeface="Symbol" panose="05050102010706020507" pitchFamily="18" charset="2"/>
              </a:rPr>
              <a:t>  </a:t>
            </a:r>
            <a:r>
              <a:rPr lang="en-US" altLang="zh-CN" b="1" i="1" dirty="0" smtClean="0">
                <a:solidFill>
                  <a:schemeClr val="bg2"/>
                </a:solidFill>
                <a:ea typeface="黑体" panose="02010609060101010101" pitchFamily="49" charset="-122"/>
                <a:sym typeface="Symbol" panose="05050102010706020507" pitchFamily="18" charset="2"/>
              </a:rPr>
              <a:t>A</a:t>
            </a:r>
            <a:r>
              <a:rPr lang="en-US" altLang="zh-CN" b="1" dirty="0" smtClean="0">
                <a:solidFill>
                  <a:schemeClr val="bg2"/>
                </a:solidFill>
                <a:ea typeface="黑体" panose="02010609060101010101" pitchFamily="49" charset="-122"/>
                <a:sym typeface="Symbol" panose="05050102010706020507" pitchFamily="18" charset="2"/>
              </a:rPr>
              <a:t>[</a:t>
            </a:r>
            <a:r>
              <a:rPr lang="en-US" altLang="zh-CN" b="1" i="1" dirty="0" smtClean="0">
                <a:solidFill>
                  <a:schemeClr val="bg2"/>
                </a:solidFill>
                <a:ea typeface="黑体" panose="02010609060101010101" pitchFamily="49" charset="-122"/>
                <a:sym typeface="Symbol" panose="05050102010706020507" pitchFamily="18" charset="2"/>
              </a:rPr>
              <a:t>i</a:t>
            </a:r>
            <a:r>
              <a:rPr lang="en-US" altLang="zh-CN" b="1" dirty="0" smtClean="0">
                <a:solidFill>
                  <a:schemeClr val="bg2"/>
                </a:solidFill>
                <a:ea typeface="黑体" panose="02010609060101010101" pitchFamily="49" charset="-122"/>
                <a:sym typeface="Symbol" panose="05050102010706020507" pitchFamily="18" charset="2"/>
              </a:rPr>
              <a:t>+1</a:t>
            </a:r>
            <a:r>
              <a:rPr lang="en-US" altLang="zh-CN" b="1" dirty="0">
                <a:solidFill>
                  <a:schemeClr val="bg2"/>
                </a:solidFill>
                <a:ea typeface="黑体" panose="02010609060101010101" pitchFamily="49" charset="-122"/>
                <a:sym typeface="Symbol" panose="05050102010706020507" pitchFamily="18" charset="2"/>
              </a:rPr>
              <a:t>]</a:t>
            </a:r>
            <a:r>
              <a:rPr lang="en-US" altLang="zh-CN" b="1" i="1" dirty="0">
                <a:solidFill>
                  <a:schemeClr val="bg2"/>
                </a:solidFill>
                <a:ea typeface="黑体" panose="02010609060101010101" pitchFamily="49" charset="-122"/>
              </a:rPr>
              <a:t>x</a:t>
            </a:r>
            <a:endParaRPr lang="en-US" altLang="zh-CN" b="1" i="1" dirty="0">
              <a:solidFill>
                <a:schemeClr val="bg2"/>
              </a:solidFill>
              <a:ea typeface="黑体" panose="02010609060101010101" pitchFamily="49" charset="-122"/>
            </a:endParaRPr>
          </a:p>
          <a:p>
            <a:pPr indent="278130"/>
            <a:endPar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a:endPar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a:endPar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5" name="对象 4">
            <a:hlinkClick r:id="" action="ppaction://ole?verb="/>
          </p:cNvPr>
          <p:cNvGraphicFramePr>
            <a:graphicFrameLocks noChangeAspect="1"/>
          </p:cNvGraphicFramePr>
          <p:nvPr/>
        </p:nvGraphicFramePr>
        <p:xfrm>
          <a:off x="289878" y="5589270"/>
          <a:ext cx="3944620" cy="767080"/>
        </p:xfrm>
        <a:graphic>
          <a:graphicData uri="http://schemas.openxmlformats.org/presentationml/2006/ole">
            <mc:AlternateContent xmlns:mc="http://schemas.openxmlformats.org/markup-compatibility/2006">
              <mc:Choice xmlns:v="urn:schemas-microsoft-com:vml" Requires="v">
                <p:oleObj spid="_x0000_s7169" name="" r:id="rId1" imgW="2349500" imgH="457200" progId="Equation.KSEE3">
                  <p:embed/>
                </p:oleObj>
              </mc:Choice>
              <mc:Fallback>
                <p:oleObj name="" r:id="rId1" imgW="2349500" imgH="457200" progId="Equation.KSEE3">
                  <p:embed/>
                  <p:pic>
                    <p:nvPicPr>
                      <p:cNvPr id="0" name="20 7168"/>
                      <p:cNvPicPr/>
                      <p:nvPr/>
                    </p:nvPicPr>
                    <p:blipFill>
                      <a:blip r:embed="rId2"/>
                      <a:stretch>
                        <a:fillRect/>
                      </a:stretch>
                    </p:blipFill>
                    <p:spPr>
                      <a:xfrm>
                        <a:off x="289878" y="5589270"/>
                        <a:ext cx="3944620" cy="76708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4261485" y="5517515"/>
          <a:ext cx="4713605" cy="839470"/>
        </p:xfrm>
        <a:graphic>
          <a:graphicData uri="http://schemas.openxmlformats.org/presentationml/2006/ole">
            <mc:AlternateContent xmlns:mc="http://schemas.openxmlformats.org/markup-compatibility/2006">
              <mc:Choice xmlns:v="urn:schemas-microsoft-com:vml" Requires="v">
                <p:oleObj spid="_x0000_s6" name="" r:id="rId3" imgW="2565400" imgH="457200" progId="Equation.KSEE3">
                  <p:embed/>
                </p:oleObj>
              </mc:Choice>
              <mc:Fallback>
                <p:oleObj name="" r:id="rId3" imgW="2565400" imgH="457200" progId="Equation.KSEE3">
                  <p:embed/>
                  <p:pic>
                    <p:nvPicPr>
                      <p:cNvPr id="0" name="20 7168"/>
                      <p:cNvPicPr/>
                      <p:nvPr/>
                    </p:nvPicPr>
                    <p:blipFill>
                      <a:blip r:embed="rId4"/>
                      <a:stretch>
                        <a:fillRect/>
                      </a:stretch>
                    </p:blipFill>
                    <p:spPr>
                      <a:xfrm>
                        <a:off x="4261485" y="5517515"/>
                        <a:ext cx="4713605" cy="839470"/>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bldLvl="0" animBg="1"/>
      <p:bldP spid="9"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7" name="矩形 6"/>
          <p:cNvSpPr/>
          <p:nvPr/>
        </p:nvSpPr>
        <p:spPr>
          <a:xfrm>
            <a:off x="611560" y="1700808"/>
            <a:ext cx="7165304" cy="535531"/>
          </a:xfrm>
          <a:prstGeom prst="rect">
            <a:avLst/>
          </a:prstGeom>
        </p:spPr>
        <p:txBody>
          <a:bodyPr wrap="square">
            <a:spAutoFit/>
          </a:bodyPr>
          <a:lstStyle/>
          <a:p>
            <a:pPr marL="0" lvl="1">
              <a:lnSpc>
                <a:spcPct val="120000"/>
              </a:lnSpc>
            </a:pPr>
            <a:r>
              <a:rPr lang="zh-CN" altLang="en-US" dirty="0" smtClean="0">
                <a:solidFill>
                  <a:schemeClr val="bg2"/>
                </a:solidFill>
              </a:rPr>
              <a:t>举例</a:t>
            </a:r>
            <a:r>
              <a:rPr lang="en-US" altLang="zh-CN" dirty="0" smtClean="0">
                <a:solidFill>
                  <a:schemeClr val="bg2"/>
                </a:solidFill>
              </a:rPr>
              <a:t>4</a:t>
            </a:r>
            <a:r>
              <a:rPr lang="zh-CN" altLang="en-US" dirty="0" smtClean="0">
                <a:solidFill>
                  <a:schemeClr val="bg2"/>
                </a:solidFill>
              </a:rPr>
              <a:t>：</a:t>
            </a:r>
            <a:r>
              <a:rPr lang="zh-CN" altLang="en-US" dirty="0">
                <a:solidFill>
                  <a:schemeClr val="bg2"/>
                </a:solidFill>
              </a:rPr>
              <a:t>二</a:t>
            </a:r>
            <a:r>
              <a:rPr lang="zh-CN" altLang="en-US" dirty="0" smtClean="0">
                <a:solidFill>
                  <a:schemeClr val="bg2"/>
                </a:solidFill>
              </a:rPr>
              <a:t>路归并排序</a:t>
            </a:r>
            <a:endParaRPr lang="zh-CN" altLang="en-US" b="1" dirty="0">
              <a:solidFill>
                <a:srgbClr val="1E2E53"/>
              </a:solidFill>
              <a:latin typeface="楷体_GB2312" pitchFamily="49" charset="-122"/>
              <a:ea typeface="楷体_GB2312" pitchFamily="49" charset="-122"/>
            </a:endParaRPr>
          </a:p>
        </p:txBody>
      </p:sp>
      <p:sp>
        <p:nvSpPr>
          <p:cNvPr id="11" name="Rectangle 1"/>
          <p:cNvSpPr>
            <a:spLocks noChangeArrowheads="1"/>
          </p:cNvSpPr>
          <p:nvPr/>
        </p:nvSpPr>
        <p:spPr bwMode="auto">
          <a:xfrm>
            <a:off x="323850" y="2492896"/>
            <a:ext cx="8280400" cy="269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78130"/>
            <a:r>
              <a:rPr lang="zh-CN" altLang="zh-CN" sz="2400" b="1" dirty="0" smtClean="0">
                <a:solidFill>
                  <a:schemeClr val="bg2"/>
                </a:solidFill>
                <a:latin typeface="Times New Roman" panose="02020603050405020304" pitchFamily="18" charset="0"/>
              </a:rPr>
              <a:t>算法</a:t>
            </a:r>
            <a:r>
              <a:rPr lang="en-US" altLang="zh-CN" sz="2400" b="1" dirty="0" smtClean="0">
                <a:solidFill>
                  <a:schemeClr val="bg2"/>
                </a:solidFill>
                <a:latin typeface="Times New Roman" panose="02020603050405020304" pitchFamily="18" charset="0"/>
              </a:rPr>
              <a:t>  </a:t>
            </a:r>
            <a:r>
              <a:rPr lang="en-US" altLang="zh-CN" sz="2400" b="1" dirty="0" err="1">
                <a:solidFill>
                  <a:schemeClr val="bg2"/>
                </a:solidFill>
                <a:latin typeface="Times New Roman" panose="02020603050405020304" pitchFamily="18" charset="0"/>
                <a:ea typeface="黑体" panose="02010609060101010101" pitchFamily="49" charset="-122"/>
              </a:rPr>
              <a:t>MergeSort</a:t>
            </a:r>
            <a:r>
              <a:rPr lang="en-US" altLang="zh-CN" sz="2400" b="1" dirty="0">
                <a:solidFill>
                  <a:schemeClr val="bg2"/>
                </a:solidFill>
                <a:latin typeface="Times New Roman" panose="02020603050405020304" pitchFamily="18" charset="0"/>
                <a:ea typeface="黑体" panose="02010609060101010101" pitchFamily="49" charset="-122"/>
              </a:rPr>
              <a:t>(</a:t>
            </a:r>
            <a:r>
              <a:rPr lang="en-US" altLang="zh-CN" sz="2400" b="1" i="1" dirty="0">
                <a:solidFill>
                  <a:schemeClr val="bg2"/>
                </a:solidFill>
                <a:latin typeface="Times New Roman" panose="02020603050405020304" pitchFamily="18" charset="0"/>
                <a:ea typeface="黑体" panose="02010609060101010101" pitchFamily="49" charset="-122"/>
              </a:rPr>
              <a:t>A</a:t>
            </a:r>
            <a:r>
              <a:rPr lang="en-US" altLang="zh-CN" sz="2400" b="1" dirty="0">
                <a:solidFill>
                  <a:schemeClr val="bg2"/>
                </a:solidFill>
                <a:latin typeface="Times New Roman" panose="02020603050405020304" pitchFamily="18" charset="0"/>
                <a:ea typeface="黑体" panose="02010609060101010101" pitchFamily="49" charset="-122"/>
              </a:rPr>
              <a:t>, </a:t>
            </a:r>
            <a:r>
              <a:rPr lang="en-US" altLang="zh-CN" sz="2400" b="1" i="1" dirty="0">
                <a:solidFill>
                  <a:schemeClr val="bg2"/>
                </a:solidFill>
                <a:latin typeface="Times New Roman" panose="02020603050405020304" pitchFamily="18" charset="0"/>
                <a:ea typeface="黑体" panose="02010609060101010101" pitchFamily="49" charset="-122"/>
              </a:rPr>
              <a:t>p</a:t>
            </a:r>
            <a:r>
              <a:rPr lang="en-US" altLang="zh-CN" sz="2400" b="1" dirty="0">
                <a:solidFill>
                  <a:schemeClr val="bg2"/>
                </a:solidFill>
                <a:latin typeface="Times New Roman" panose="02020603050405020304" pitchFamily="18" charset="0"/>
                <a:ea typeface="黑体" panose="02010609060101010101" pitchFamily="49" charset="-122"/>
              </a:rPr>
              <a:t>, </a:t>
            </a:r>
            <a:r>
              <a:rPr lang="en-US" altLang="zh-CN" sz="2400" b="1" i="1" dirty="0">
                <a:solidFill>
                  <a:schemeClr val="bg2"/>
                </a:solidFill>
                <a:latin typeface="Times New Roman" panose="02020603050405020304" pitchFamily="18" charset="0"/>
                <a:ea typeface="黑体" panose="02010609060101010101" pitchFamily="49" charset="-122"/>
              </a:rPr>
              <a:t>r</a:t>
            </a:r>
            <a:r>
              <a:rPr lang="en-US" altLang="zh-CN" sz="2400" b="1" dirty="0">
                <a:solidFill>
                  <a:schemeClr val="bg2"/>
                </a:solidFill>
                <a:latin typeface="Times New Roman" panose="02020603050405020304" pitchFamily="18" charset="0"/>
                <a:ea typeface="黑体" panose="02010609060101010101" pitchFamily="49" charset="-122"/>
              </a:rPr>
              <a:t>)   // </a:t>
            </a:r>
            <a:r>
              <a:rPr lang="zh-CN" altLang="en-US" sz="2400" b="1" dirty="0">
                <a:solidFill>
                  <a:schemeClr val="bg2"/>
                </a:solidFill>
                <a:latin typeface="Times New Roman" panose="02020603050405020304" pitchFamily="18" charset="0"/>
              </a:rPr>
              <a:t>归并排序数组 </a:t>
            </a:r>
            <a:r>
              <a:rPr lang="en-US" altLang="zh-CN" sz="2400" b="1" i="1" dirty="0">
                <a:solidFill>
                  <a:schemeClr val="bg2"/>
                </a:solidFill>
                <a:latin typeface="Times New Roman" panose="02020603050405020304" pitchFamily="18" charset="0"/>
              </a:rPr>
              <a:t>A</a:t>
            </a:r>
            <a:r>
              <a:rPr lang="en-US" altLang="zh-CN" sz="2400" b="1" dirty="0">
                <a:solidFill>
                  <a:schemeClr val="bg2"/>
                </a:solidFill>
                <a:latin typeface="Times New Roman" panose="02020603050405020304" pitchFamily="18" charset="0"/>
              </a:rPr>
              <a:t>[</a:t>
            </a:r>
            <a:r>
              <a:rPr lang="en-US" altLang="zh-CN" sz="2400" b="1" i="1" dirty="0" err="1">
                <a:solidFill>
                  <a:schemeClr val="bg2"/>
                </a:solidFill>
                <a:latin typeface="Times New Roman" panose="02020603050405020304" pitchFamily="18" charset="0"/>
              </a:rPr>
              <a:t>p</a:t>
            </a:r>
            <a:r>
              <a:rPr lang="en-US" altLang="zh-CN" sz="2400" b="1" dirty="0" err="1">
                <a:solidFill>
                  <a:schemeClr val="bg2"/>
                </a:solidFill>
                <a:latin typeface="Times New Roman" panose="02020603050405020304" pitchFamily="18" charset="0"/>
              </a:rPr>
              <a:t>..</a:t>
            </a:r>
            <a:r>
              <a:rPr lang="en-US" altLang="zh-CN" sz="2400" b="1" i="1" dirty="0" err="1">
                <a:solidFill>
                  <a:schemeClr val="bg2"/>
                </a:solidFill>
                <a:latin typeface="Times New Roman" panose="02020603050405020304" pitchFamily="18" charset="0"/>
              </a:rPr>
              <a:t>r</a:t>
            </a:r>
            <a:r>
              <a:rPr lang="en-US" altLang="zh-CN" sz="2400" b="1" dirty="0">
                <a:solidFill>
                  <a:schemeClr val="bg2"/>
                </a:solidFill>
                <a:latin typeface="Times New Roman" panose="02020603050405020304" pitchFamily="18" charset="0"/>
              </a:rPr>
              <a:t>] </a:t>
            </a:r>
            <a:endParaRPr lang="en-US" altLang="zh-CN" sz="2400" b="1" dirty="0">
              <a:solidFill>
                <a:schemeClr val="bg2"/>
              </a:solidFill>
              <a:latin typeface="Times New Roman" panose="02020603050405020304" pitchFamily="18" charset="0"/>
            </a:endParaRPr>
          </a:p>
          <a:p>
            <a:pPr indent="278130" eaLnBrk="0" hangingPunct="0">
              <a:spcBef>
                <a:spcPts val="600"/>
              </a:spcBef>
            </a:pPr>
            <a:r>
              <a:rPr lang="en-US" altLang="zh-CN" sz="2400" b="1" dirty="0">
                <a:solidFill>
                  <a:schemeClr val="bg2"/>
                </a:solidFill>
                <a:latin typeface="Times New Roman" panose="02020603050405020304" pitchFamily="18" charset="0"/>
                <a:ea typeface="黑体" panose="02010609060101010101" pitchFamily="49" charset="-122"/>
              </a:rPr>
              <a:t>1. if </a:t>
            </a:r>
            <a:r>
              <a:rPr lang="en-US" altLang="zh-CN" sz="2400" b="1" i="1" dirty="0">
                <a:solidFill>
                  <a:schemeClr val="bg2"/>
                </a:solidFill>
                <a:latin typeface="Times New Roman" panose="02020603050405020304" pitchFamily="18" charset="0"/>
                <a:ea typeface="黑体" panose="02010609060101010101" pitchFamily="49" charset="-122"/>
              </a:rPr>
              <a:t>p</a:t>
            </a:r>
            <a:r>
              <a:rPr lang="en-US" altLang="zh-CN" sz="2400" b="1" dirty="0">
                <a:solidFill>
                  <a:schemeClr val="bg2"/>
                </a:solidFill>
                <a:latin typeface="Times New Roman" panose="02020603050405020304" pitchFamily="18" charset="0"/>
                <a:ea typeface="黑体" panose="02010609060101010101" pitchFamily="49" charset="-122"/>
              </a:rPr>
              <a:t>&lt;</a:t>
            </a:r>
            <a:r>
              <a:rPr lang="en-US" altLang="zh-CN" sz="2400" b="1" i="1" dirty="0">
                <a:solidFill>
                  <a:schemeClr val="bg2"/>
                </a:solidFill>
                <a:ea typeface="黑体" panose="02010609060101010101" pitchFamily="49" charset="-122"/>
              </a:rPr>
              <a:t>r</a:t>
            </a:r>
            <a:endParaRPr lang="en-US" altLang="zh-CN" sz="2400" b="1" dirty="0">
              <a:solidFill>
                <a:schemeClr val="bg2"/>
              </a:solidFill>
              <a:latin typeface="Calibri" panose="020F0502020204030204" pitchFamily="34" charset="0"/>
              <a:ea typeface="黑体" panose="02010609060101010101" pitchFamily="49" charset="-122"/>
            </a:endParaRPr>
          </a:p>
          <a:p>
            <a:pPr indent="278130" eaLnBrk="0" hangingPunct="0">
              <a:spcBef>
                <a:spcPts val="600"/>
              </a:spcBef>
            </a:pPr>
            <a:r>
              <a:rPr lang="en-US" altLang="zh-CN" sz="2400" b="1" dirty="0">
                <a:solidFill>
                  <a:schemeClr val="bg2"/>
                </a:solidFill>
                <a:latin typeface="Times New Roman" panose="02020603050405020304" pitchFamily="18" charset="0"/>
                <a:ea typeface="黑体" panose="02010609060101010101" pitchFamily="49" charset="-122"/>
              </a:rPr>
              <a:t>2.  then </a:t>
            </a:r>
            <a:r>
              <a:rPr lang="en-US" altLang="zh-CN" sz="2400" b="1" i="1" dirty="0">
                <a:solidFill>
                  <a:schemeClr val="bg2"/>
                </a:solidFill>
                <a:latin typeface="Times New Roman" panose="02020603050405020304" pitchFamily="18" charset="0"/>
                <a:ea typeface="黑体" panose="02010609060101010101" pitchFamily="49" charset="-122"/>
              </a:rPr>
              <a:t>q</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dirty="0">
                <a:solidFill>
                  <a:schemeClr val="bg2"/>
                </a:solidFill>
                <a:latin typeface="Times New Roman" panose="02020603050405020304" pitchFamily="18" charset="0"/>
                <a:ea typeface="黑体" panose="02010609060101010101" pitchFamily="49" charset="-122"/>
              </a:rPr>
              <a:t>(</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p+r</a:t>
            </a:r>
            <a:r>
              <a:rPr lang="en-US" altLang="zh-CN" sz="2400" b="1" dirty="0">
                <a:solidFill>
                  <a:schemeClr val="bg2"/>
                </a:solidFill>
                <a:ea typeface="黑体" panose="02010609060101010101" pitchFamily="49" charset="-122"/>
                <a:sym typeface="Symbol" panose="05050102010706020507" pitchFamily="18" charset="2"/>
              </a:rPr>
              <a:t>)/2</a:t>
            </a:r>
            <a:endParaRPr lang="en-US" altLang="zh-CN" sz="2400" b="1" dirty="0">
              <a:solidFill>
                <a:schemeClr val="bg2"/>
              </a:solidFill>
              <a:latin typeface="Calibri" panose="020F0502020204030204" pitchFamily="34" charset="0"/>
              <a:ea typeface="黑体" panose="02010609060101010101" pitchFamily="49" charset="-122"/>
            </a:endParaRPr>
          </a:p>
          <a:p>
            <a:pPr indent="278130" eaLnBrk="0" hangingPunct="0">
              <a:spcBef>
                <a:spcPts val="600"/>
              </a:spcBef>
            </a:pP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3.         </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MergeSort</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A,p,q</a:t>
            </a:r>
            <a:r>
              <a:rPr lang="en-US" altLang="zh-CN" sz="2400" b="1" dirty="0">
                <a:solidFill>
                  <a:schemeClr val="bg2"/>
                </a:solidFill>
                <a:ea typeface="黑体" panose="02010609060101010101" pitchFamily="49" charset="-122"/>
                <a:sym typeface="Symbol" panose="05050102010706020507" pitchFamily="18" charset="2"/>
              </a:rPr>
              <a:t>)   </a:t>
            </a:r>
            <a:endParaRPr lang="en-US" altLang="zh-CN" sz="2400"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eaLnBrk="0" hangingPunct="0">
              <a:spcBef>
                <a:spcPts val="600"/>
              </a:spcBef>
            </a:pP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4.         </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MergeSort</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A,q</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r</a:t>
            </a:r>
            <a:r>
              <a:rPr lang="en-US" altLang="zh-CN" sz="2400" b="1" dirty="0">
                <a:solidFill>
                  <a:schemeClr val="bg2"/>
                </a:solidFill>
                <a:ea typeface="黑体" panose="02010609060101010101" pitchFamily="49" charset="-122"/>
                <a:sym typeface="Symbol" panose="05050102010706020507" pitchFamily="18" charset="2"/>
              </a:rPr>
              <a:t>)</a:t>
            </a:r>
            <a:endParaRPr lang="en-US" altLang="zh-CN" sz="2400" b="1" dirty="0">
              <a:solidFill>
                <a:schemeClr val="bg2"/>
              </a:solidFill>
              <a:latin typeface="Calibri" panose="020F0502020204030204" pitchFamily="34" charset="0"/>
              <a:ea typeface="黑体" panose="02010609060101010101" pitchFamily="49" charset="-122"/>
              <a:sym typeface="Symbol" panose="05050102010706020507" pitchFamily="18" charset="2"/>
            </a:endParaRPr>
          </a:p>
          <a:p>
            <a:pPr indent="278130" eaLnBrk="0" hangingPunct="0">
              <a:spcBef>
                <a:spcPts val="600"/>
              </a:spcBef>
            </a:pP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5.         Merge(</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A,p,q,r</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5" name="Rectangle 2"/>
          <p:cNvSpPr>
            <a:spLocks noChangeArrowheads="1"/>
          </p:cNvSpPr>
          <p:nvPr/>
        </p:nvSpPr>
        <p:spPr bwMode="auto">
          <a:xfrm>
            <a:off x="143767" y="1262782"/>
            <a:ext cx="8748713" cy="5262562"/>
          </a:xfrm>
          <a:prstGeom prst="rect">
            <a:avLst/>
          </a:prstGeom>
          <a:solidFill>
            <a:schemeClr val="tx1"/>
          </a:solidFill>
          <a:ln>
            <a:noFill/>
          </a:ln>
        </p:spPr>
        <p:txBody>
          <a:bodyPr anchor="ctr">
            <a:spAutoFit/>
          </a:bodyPr>
          <a:lstStyle/>
          <a:p>
            <a:pPr indent="278130"/>
            <a:r>
              <a:rPr lang="zh-CN" altLang="zh-CN" sz="2400" b="1" dirty="0">
                <a:solidFill>
                  <a:schemeClr val="bg2"/>
                </a:solidFill>
                <a:latin typeface="Times New Roman" panose="02020603050405020304" pitchFamily="18" charset="0"/>
              </a:rPr>
              <a:t>算法</a:t>
            </a:r>
            <a:r>
              <a:rPr lang="en-US" altLang="zh-CN" sz="2400" b="1" dirty="0">
                <a:solidFill>
                  <a:schemeClr val="bg2"/>
                </a:solidFill>
                <a:latin typeface="Times New Roman" panose="02020603050405020304" pitchFamily="18" charset="0"/>
                <a:ea typeface="黑体" panose="02010609060101010101" pitchFamily="49" charset="-122"/>
              </a:rPr>
              <a:t>1.6  Merge(</a:t>
            </a:r>
            <a:r>
              <a:rPr lang="en-US" altLang="zh-CN" sz="2400" b="1" i="1" dirty="0" err="1">
                <a:solidFill>
                  <a:schemeClr val="bg2"/>
                </a:solidFill>
                <a:latin typeface="Times New Roman" panose="02020603050405020304" pitchFamily="18" charset="0"/>
                <a:ea typeface="黑体" panose="02010609060101010101" pitchFamily="49" charset="-122"/>
              </a:rPr>
              <a:t>A,p,q,r</a:t>
            </a:r>
            <a:r>
              <a:rPr lang="en-US" altLang="zh-CN" sz="2400" b="1" dirty="0">
                <a:solidFill>
                  <a:schemeClr val="bg2"/>
                </a:solidFill>
                <a:latin typeface="Times New Roman" panose="02020603050405020304" pitchFamily="18" charset="0"/>
                <a:ea typeface="黑体" panose="02010609060101010101" pitchFamily="49" charset="-122"/>
              </a:rPr>
              <a:t>)    // </a:t>
            </a:r>
            <a:r>
              <a:rPr lang="zh-CN" altLang="en-US" sz="2400" b="1" dirty="0">
                <a:solidFill>
                  <a:schemeClr val="bg2"/>
                </a:solidFill>
                <a:latin typeface="Times New Roman" panose="02020603050405020304" pitchFamily="18" charset="0"/>
                <a:ea typeface="黑体" panose="02010609060101010101" pitchFamily="49" charset="-122"/>
              </a:rPr>
              <a:t>将排序数组</a:t>
            </a:r>
            <a:r>
              <a:rPr lang="en-US" altLang="zh-CN" sz="2400" b="1" i="1" dirty="0">
                <a:solidFill>
                  <a:schemeClr val="bg2"/>
                </a:solidFill>
                <a:latin typeface="Times New Roman" panose="02020603050405020304" pitchFamily="18" charset="0"/>
                <a:ea typeface="黑体" panose="02010609060101010101" pitchFamily="49" charset="-122"/>
              </a:rPr>
              <a:t>A</a:t>
            </a:r>
            <a:r>
              <a:rPr lang="en-US" altLang="zh-CN" sz="2400" b="1" dirty="0">
                <a:solidFill>
                  <a:schemeClr val="bg2"/>
                </a:solidFill>
                <a:latin typeface="Times New Roman" panose="02020603050405020304" pitchFamily="18" charset="0"/>
                <a:ea typeface="黑体" panose="02010609060101010101" pitchFamily="49" charset="-122"/>
              </a:rPr>
              <a:t>[</a:t>
            </a:r>
            <a:r>
              <a:rPr lang="en-US" altLang="zh-CN" sz="2400" b="1" i="1" dirty="0" err="1">
                <a:solidFill>
                  <a:schemeClr val="bg2"/>
                </a:solidFill>
                <a:latin typeface="Times New Roman" panose="02020603050405020304" pitchFamily="18" charset="0"/>
                <a:ea typeface="黑体" panose="02010609060101010101" pitchFamily="49" charset="-122"/>
              </a:rPr>
              <a:t>p..q</a:t>
            </a:r>
            <a:r>
              <a:rPr lang="en-US" altLang="zh-CN" sz="2400" b="1" dirty="0">
                <a:solidFill>
                  <a:schemeClr val="bg2"/>
                </a:solidFill>
                <a:latin typeface="Times New Roman" panose="02020603050405020304" pitchFamily="18" charset="0"/>
                <a:ea typeface="黑体" panose="02010609060101010101" pitchFamily="49" charset="-122"/>
              </a:rPr>
              <a:t>]</a:t>
            </a:r>
            <a:r>
              <a:rPr lang="zh-CN" altLang="en-US" sz="2400" b="1" dirty="0">
                <a:solidFill>
                  <a:schemeClr val="bg2"/>
                </a:solidFill>
                <a:latin typeface="Times New Roman" panose="02020603050405020304" pitchFamily="18" charset="0"/>
                <a:ea typeface="黑体" panose="02010609060101010101" pitchFamily="49" charset="-122"/>
              </a:rPr>
              <a:t>与</a:t>
            </a:r>
            <a:r>
              <a:rPr lang="en-US" altLang="zh-CN" sz="2400" b="1" i="1" dirty="0">
                <a:solidFill>
                  <a:schemeClr val="bg2"/>
                </a:solidFill>
                <a:latin typeface="Times New Roman" panose="02020603050405020304" pitchFamily="18" charset="0"/>
                <a:ea typeface="黑体" panose="02010609060101010101" pitchFamily="49" charset="-122"/>
              </a:rPr>
              <a:t>A</a:t>
            </a:r>
            <a:r>
              <a:rPr lang="en-US" altLang="zh-CN" sz="2400" b="1" dirty="0">
                <a:solidFill>
                  <a:schemeClr val="bg2"/>
                </a:solidFill>
                <a:latin typeface="Times New Roman" panose="02020603050405020304" pitchFamily="18" charset="0"/>
                <a:ea typeface="黑体" panose="02010609060101010101" pitchFamily="49" charset="-122"/>
              </a:rPr>
              <a:t>[</a:t>
            </a:r>
            <a:r>
              <a:rPr lang="en-US" altLang="zh-CN" sz="2400" b="1" i="1" dirty="0">
                <a:solidFill>
                  <a:schemeClr val="bg2"/>
                </a:solidFill>
                <a:latin typeface="Times New Roman" panose="02020603050405020304" pitchFamily="18" charset="0"/>
                <a:ea typeface="黑体" panose="02010609060101010101" pitchFamily="49" charset="-122"/>
              </a:rPr>
              <a:t>q</a:t>
            </a:r>
            <a:r>
              <a:rPr lang="en-US" altLang="zh-CN" sz="2400" b="1" dirty="0">
                <a:solidFill>
                  <a:schemeClr val="bg2"/>
                </a:solidFill>
                <a:latin typeface="Times New Roman" panose="02020603050405020304" pitchFamily="18" charset="0"/>
                <a:ea typeface="黑体" panose="02010609060101010101" pitchFamily="49" charset="-122"/>
              </a:rPr>
              <a:t>+1,</a:t>
            </a:r>
            <a:r>
              <a:rPr lang="en-US" altLang="zh-CN" sz="2400" b="1" i="1" dirty="0">
                <a:solidFill>
                  <a:schemeClr val="bg2"/>
                </a:solidFill>
                <a:latin typeface="Times New Roman" panose="02020603050405020304" pitchFamily="18" charset="0"/>
                <a:ea typeface="黑体" panose="02010609060101010101" pitchFamily="49" charset="-122"/>
              </a:rPr>
              <a:t>r</a:t>
            </a:r>
            <a:r>
              <a:rPr lang="en-US" altLang="zh-CN" sz="2400" b="1" dirty="0">
                <a:solidFill>
                  <a:schemeClr val="bg2"/>
                </a:solidFill>
                <a:latin typeface="Times New Roman" panose="02020603050405020304" pitchFamily="18" charset="0"/>
                <a:ea typeface="黑体" panose="02010609060101010101" pitchFamily="49" charset="-122"/>
              </a:rPr>
              <a:t>]</a:t>
            </a:r>
            <a:r>
              <a:rPr lang="zh-CN" altLang="en-US" sz="2400" b="1" dirty="0">
                <a:solidFill>
                  <a:schemeClr val="bg2"/>
                </a:solidFill>
                <a:latin typeface="Times New Roman" panose="02020603050405020304" pitchFamily="18" charset="0"/>
                <a:ea typeface="黑体" panose="02010609060101010101" pitchFamily="49" charset="-122"/>
              </a:rPr>
              <a:t>合并</a:t>
            </a:r>
            <a:endParaRPr lang="zh-CN" altLang="en-US" sz="2400" b="1" dirty="0">
              <a:solidFill>
                <a:schemeClr val="bg2"/>
              </a:solidFill>
              <a:latin typeface="Times New Roman" panose="02020603050405020304" pitchFamily="18" charset="0"/>
              <a:ea typeface="黑体" panose="02010609060101010101" pitchFamily="49" charset="-12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rPr>
              <a:t>1.  </a:t>
            </a:r>
            <a:r>
              <a:rPr lang="en-US" altLang="zh-CN" sz="2400" b="1" i="1" dirty="0">
                <a:solidFill>
                  <a:schemeClr val="bg2"/>
                </a:solidFill>
                <a:latin typeface="Times New Roman" panose="02020603050405020304" pitchFamily="18" charset="0"/>
                <a:ea typeface="黑体" panose="02010609060101010101" pitchFamily="49" charset="-122"/>
              </a:rPr>
              <a:t>x</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q</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p</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 </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y</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rPr>
              <a:t>r</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rPr>
              <a:t>q</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x</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y</a:t>
            </a:r>
            <a:r>
              <a:rPr lang="zh-CN" altLang="en-US" sz="2400" b="1" dirty="0">
                <a:solidFill>
                  <a:schemeClr val="bg2"/>
                </a:solidFill>
                <a:latin typeface="宋体" panose="02010600030101010101" pitchFamily="2" charset="-122"/>
                <a:sym typeface="Symbol" panose="05050102010706020507" pitchFamily="18" charset="2"/>
              </a:rPr>
              <a:t>分别为两个子数组的元素数</a:t>
            </a:r>
            <a:endParaRPr lang="zh-CN" altLang="en-US" sz="2400" b="1" dirty="0">
              <a:solidFill>
                <a:schemeClr val="bg2"/>
              </a:solidFill>
              <a:latin typeface="宋体" panose="02010600030101010101" pitchFamily="2"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2. </a:t>
            </a:r>
            <a:r>
              <a:rPr lang="zh-CN" altLang="en-US" sz="2400" b="1" dirty="0">
                <a:solidFill>
                  <a:schemeClr val="bg2"/>
                </a:solidFill>
                <a:latin typeface="Times New Roman" panose="02020603050405020304" pitchFamily="18" charset="0"/>
                <a:sym typeface="Symbol" panose="05050102010706020507" pitchFamily="18" charset="2"/>
              </a:rPr>
              <a:t>将</a:t>
            </a:r>
            <a:r>
              <a:rPr lang="en-US" altLang="zh-CN" sz="2400" b="1" i="1" dirty="0">
                <a:solidFill>
                  <a:schemeClr val="bg2"/>
                </a:solidFill>
                <a:latin typeface="Times New Roman" panose="02020603050405020304" pitchFamily="18" charset="0"/>
                <a:sym typeface="Symbol" panose="05050102010706020507" pitchFamily="18" charset="2"/>
              </a:rPr>
              <a:t>A</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p</a:t>
            </a:r>
            <a:r>
              <a:rPr lang="en-US" altLang="zh-CN" sz="2400" b="1" dirty="0" err="1">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q</a:t>
            </a:r>
            <a:r>
              <a:rPr lang="en-US" altLang="zh-CN" sz="2400" b="1" dirty="0">
                <a:solidFill>
                  <a:schemeClr val="bg2"/>
                </a:solidFill>
                <a:latin typeface="Times New Roman" panose="02020603050405020304" pitchFamily="18" charset="0"/>
                <a:sym typeface="Symbol" panose="05050102010706020507" pitchFamily="18" charset="2"/>
              </a:rPr>
              <a:t>]</a:t>
            </a:r>
            <a:r>
              <a:rPr lang="zh-CN" altLang="en-US" sz="2400" b="1" dirty="0">
                <a:solidFill>
                  <a:schemeClr val="bg2"/>
                </a:solidFill>
                <a:latin typeface="Times New Roman" panose="02020603050405020304" pitchFamily="18" charset="0"/>
                <a:sym typeface="Symbol" panose="05050102010706020507" pitchFamily="18" charset="2"/>
              </a:rPr>
              <a:t>复制到</a:t>
            </a:r>
            <a:r>
              <a:rPr lang="en-US" altLang="zh-CN" sz="2400" b="1" i="1" dirty="0">
                <a:solidFill>
                  <a:schemeClr val="bg2"/>
                </a:solidFill>
                <a:latin typeface="Times New Roman" panose="02020603050405020304" pitchFamily="18" charset="0"/>
                <a:sym typeface="Symbol" panose="05050102010706020507" pitchFamily="18" charset="2"/>
              </a:rPr>
              <a:t>B</a:t>
            </a:r>
            <a:r>
              <a:rPr lang="en-US" altLang="zh-CN" sz="2400" b="1" dirty="0">
                <a:solidFill>
                  <a:schemeClr val="bg2"/>
                </a:solidFill>
                <a:latin typeface="Times New Roman" panose="02020603050405020304" pitchFamily="18" charset="0"/>
                <a:sym typeface="Symbol" panose="05050102010706020507" pitchFamily="18" charset="2"/>
              </a:rPr>
              <a:t>[1..</a:t>
            </a:r>
            <a:r>
              <a:rPr lang="en-US" altLang="zh-CN" sz="2400" b="1" i="1" dirty="0">
                <a:solidFill>
                  <a:schemeClr val="bg2"/>
                </a:solidFill>
                <a:latin typeface="Times New Roman" panose="02020603050405020304" pitchFamily="18" charset="0"/>
                <a:sym typeface="Symbol" panose="05050102010706020507" pitchFamily="18" charset="2"/>
              </a:rPr>
              <a:t>x</a:t>
            </a:r>
            <a:r>
              <a:rPr lang="en-US" altLang="zh-CN" sz="2400" b="1" dirty="0">
                <a:solidFill>
                  <a:schemeClr val="bg2"/>
                </a:solidFill>
                <a:latin typeface="Times New Roman" panose="02020603050405020304" pitchFamily="18" charset="0"/>
                <a:sym typeface="Symbol" panose="05050102010706020507" pitchFamily="18" charset="2"/>
              </a:rPr>
              <a:t>],  </a:t>
            </a:r>
            <a:r>
              <a:rPr lang="zh-CN" altLang="en-US" sz="2400" b="1" dirty="0">
                <a:solidFill>
                  <a:schemeClr val="bg2"/>
                </a:solidFill>
                <a:latin typeface="Times New Roman" panose="02020603050405020304" pitchFamily="18" charset="0"/>
                <a:sym typeface="Symbol" panose="05050102010706020507" pitchFamily="18" charset="2"/>
              </a:rPr>
              <a:t>将</a:t>
            </a:r>
            <a:r>
              <a:rPr lang="en-US" altLang="zh-CN" sz="2400" b="1" i="1" dirty="0">
                <a:solidFill>
                  <a:schemeClr val="bg2"/>
                </a:solidFill>
                <a:latin typeface="Times New Roman" panose="02020603050405020304" pitchFamily="18" charset="0"/>
                <a:sym typeface="Symbol" panose="05050102010706020507" pitchFamily="18" charset="2"/>
              </a:rPr>
              <a:t>A</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a:solidFill>
                  <a:schemeClr val="bg2"/>
                </a:solidFill>
                <a:latin typeface="Times New Roman" panose="02020603050405020304" pitchFamily="18" charset="0"/>
                <a:sym typeface="Symbol" panose="05050102010706020507" pitchFamily="18" charset="2"/>
              </a:rPr>
              <a:t>q</a:t>
            </a:r>
            <a:r>
              <a:rPr lang="en-US" altLang="zh-CN" sz="2400" b="1" dirty="0">
                <a:solidFill>
                  <a:schemeClr val="bg2"/>
                </a:solidFill>
                <a:latin typeface="Times New Roman" panose="02020603050405020304" pitchFamily="18" charset="0"/>
                <a:sym typeface="Symbol" panose="05050102010706020507" pitchFamily="18" charset="2"/>
              </a:rPr>
              <a:t>+1..</a:t>
            </a:r>
            <a:r>
              <a:rPr lang="en-US" altLang="zh-CN" sz="2400" b="1" i="1" dirty="0">
                <a:solidFill>
                  <a:schemeClr val="bg2"/>
                </a:solidFill>
                <a:latin typeface="Times New Roman" panose="02020603050405020304" pitchFamily="18" charset="0"/>
                <a:sym typeface="Symbol" panose="05050102010706020507" pitchFamily="18" charset="2"/>
              </a:rPr>
              <a:t>r</a:t>
            </a:r>
            <a:r>
              <a:rPr lang="en-US" altLang="zh-CN" sz="2400" b="1" dirty="0">
                <a:solidFill>
                  <a:schemeClr val="bg2"/>
                </a:solidFill>
                <a:latin typeface="Times New Roman" panose="02020603050405020304" pitchFamily="18" charset="0"/>
                <a:sym typeface="Symbol" panose="05050102010706020507" pitchFamily="18" charset="2"/>
              </a:rPr>
              <a:t>]</a:t>
            </a:r>
            <a:r>
              <a:rPr lang="zh-CN" altLang="en-US" sz="2400" b="1" dirty="0">
                <a:solidFill>
                  <a:schemeClr val="bg2"/>
                </a:solidFill>
                <a:latin typeface="Times New Roman" panose="02020603050405020304" pitchFamily="18" charset="0"/>
                <a:sym typeface="Symbol" panose="05050102010706020507" pitchFamily="18" charset="2"/>
              </a:rPr>
              <a:t>复制到</a:t>
            </a:r>
            <a:r>
              <a:rPr lang="en-US" altLang="zh-CN" sz="2400" b="1" i="1" dirty="0">
                <a:solidFill>
                  <a:schemeClr val="bg2"/>
                </a:solidFill>
                <a:latin typeface="Times New Roman" panose="02020603050405020304" pitchFamily="18" charset="0"/>
                <a:sym typeface="Symbol" panose="05050102010706020507" pitchFamily="18" charset="2"/>
              </a:rPr>
              <a:t>C</a:t>
            </a:r>
            <a:r>
              <a:rPr lang="en-US" altLang="zh-CN" sz="2400" b="1" dirty="0">
                <a:solidFill>
                  <a:schemeClr val="bg2"/>
                </a:solidFill>
                <a:latin typeface="Times New Roman" panose="02020603050405020304" pitchFamily="18" charset="0"/>
                <a:sym typeface="Symbol" panose="05050102010706020507" pitchFamily="18" charset="2"/>
              </a:rPr>
              <a:t>[1..</a:t>
            </a:r>
            <a:r>
              <a:rPr lang="en-US" altLang="zh-CN" sz="2400" b="1" i="1" dirty="0">
                <a:solidFill>
                  <a:schemeClr val="bg2"/>
                </a:solidFill>
                <a:latin typeface="Times New Roman" panose="02020603050405020304" pitchFamily="18" charset="0"/>
                <a:sym typeface="Symbol" panose="05050102010706020507" pitchFamily="18" charset="2"/>
              </a:rPr>
              <a:t>y</a:t>
            </a:r>
            <a:r>
              <a:rPr lang="en-US" altLang="zh-CN" sz="2400" b="1" dirty="0">
                <a:solidFill>
                  <a:schemeClr val="bg2"/>
                </a:solidFill>
                <a:latin typeface="Times New Roman" panose="02020603050405020304" pitchFamily="18" charset="0"/>
                <a:sym typeface="Symbol" panose="05050102010706020507" pitchFamily="18" charset="2"/>
              </a:rPr>
              <a:t>]</a:t>
            </a:r>
            <a:endParaRPr lang="en-US" altLang="zh-CN" sz="2400" b="1" dirty="0">
              <a:solidFill>
                <a:schemeClr val="bg2"/>
              </a:solidFill>
              <a:latin typeface="Times New Roman" panose="02020603050405020304" pitchFamily="18" charset="0"/>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3.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dirty="0">
                <a:solidFill>
                  <a:schemeClr val="bg2"/>
                </a:solidFill>
                <a:latin typeface="Times New Roman" panose="02020603050405020304" pitchFamily="18" charset="0"/>
                <a:ea typeface="黑体" panose="02010609060101010101" pitchFamily="49" charset="-122"/>
              </a:rPr>
              <a:t>1,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j</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dirty="0">
                <a:solidFill>
                  <a:schemeClr val="bg2"/>
                </a:solidFill>
                <a:latin typeface="Times New Roman" panose="02020603050405020304" pitchFamily="18" charset="0"/>
                <a:ea typeface="黑体" panose="02010609060101010101" pitchFamily="49" charset="-122"/>
              </a:rPr>
              <a:t>1, </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k</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rPr>
              <a:t>p</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4.  While </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rPr>
              <a:t>x</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and </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j</a:t>
            </a:r>
            <a:r>
              <a:rPr lang="en-US" altLang="zh-CN" sz="2400" b="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rPr>
              <a:t>y</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do</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5.      if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B</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C</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j</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B</a:t>
            </a:r>
            <a:r>
              <a:rPr lang="zh-CN" altLang="en-US" sz="2400" b="1" dirty="0">
                <a:solidFill>
                  <a:schemeClr val="bg2"/>
                </a:solidFill>
                <a:latin typeface="Times New Roman" panose="02020603050405020304" pitchFamily="18" charset="0"/>
                <a:sym typeface="Symbol" panose="05050102010706020507" pitchFamily="18" charset="2"/>
              </a:rPr>
              <a:t>的首元素不大于</a:t>
            </a:r>
            <a:r>
              <a:rPr lang="en-US" altLang="zh-CN" sz="2400" b="1" i="1" dirty="0">
                <a:solidFill>
                  <a:schemeClr val="bg2"/>
                </a:solidFill>
                <a:latin typeface="Times New Roman" panose="02020603050405020304" pitchFamily="18" charset="0"/>
                <a:sym typeface="Symbol" panose="05050102010706020507" pitchFamily="18" charset="2"/>
              </a:rPr>
              <a:t>C</a:t>
            </a:r>
            <a:r>
              <a:rPr lang="zh-CN" altLang="en-US" sz="2400" b="1" dirty="0">
                <a:solidFill>
                  <a:schemeClr val="bg2"/>
                </a:solidFill>
                <a:latin typeface="Times New Roman" panose="02020603050405020304" pitchFamily="18" charset="0"/>
                <a:sym typeface="Symbol" panose="05050102010706020507" pitchFamily="18" charset="2"/>
              </a:rPr>
              <a:t>的首元素</a:t>
            </a:r>
            <a:endParaRPr lang="zh-CN" altLang="en-US" sz="2400" b="1" dirty="0">
              <a:solidFill>
                <a:schemeClr val="bg2"/>
              </a:solidFill>
              <a:latin typeface="Times New Roman" panose="02020603050405020304" pitchFamily="18" charset="0"/>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6.      then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A</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k</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B</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err="1">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 </a:t>
            </a:r>
            <a:r>
              <a:rPr lang="zh-CN" altLang="en-US" sz="2400" b="1" dirty="0">
                <a:solidFill>
                  <a:schemeClr val="bg2"/>
                </a:solidFill>
                <a:latin typeface="Times New Roman" panose="02020603050405020304" pitchFamily="18" charset="0"/>
                <a:sym typeface="Symbol" panose="05050102010706020507" pitchFamily="18" charset="2"/>
              </a:rPr>
              <a:t>将</a:t>
            </a:r>
            <a:r>
              <a:rPr lang="en-US" altLang="zh-CN" sz="2400" b="1" i="1" dirty="0">
                <a:solidFill>
                  <a:schemeClr val="bg2"/>
                </a:solidFill>
                <a:latin typeface="Times New Roman" panose="02020603050405020304" pitchFamily="18" charset="0"/>
                <a:sym typeface="Symbol" panose="05050102010706020507" pitchFamily="18" charset="2"/>
              </a:rPr>
              <a:t>B</a:t>
            </a:r>
            <a:r>
              <a:rPr lang="zh-CN" altLang="en-US" sz="2400" b="1" dirty="0">
                <a:solidFill>
                  <a:schemeClr val="bg2"/>
                </a:solidFill>
                <a:latin typeface="Times New Roman" panose="02020603050405020304" pitchFamily="18" charset="0"/>
                <a:sym typeface="Symbol" panose="05050102010706020507" pitchFamily="18" charset="2"/>
              </a:rPr>
              <a:t>的首元素放到</a:t>
            </a:r>
            <a:r>
              <a:rPr lang="en-US" altLang="zh-CN" sz="2400" b="1" i="1" dirty="0">
                <a:solidFill>
                  <a:schemeClr val="bg2"/>
                </a:solidFill>
                <a:latin typeface="Times New Roman" panose="02020603050405020304" pitchFamily="18" charset="0"/>
                <a:sym typeface="Symbol" panose="05050102010706020507" pitchFamily="18" charset="2"/>
              </a:rPr>
              <a:t>A</a:t>
            </a:r>
            <a:r>
              <a:rPr lang="zh-CN" altLang="en-US" sz="2400" b="1" dirty="0">
                <a:solidFill>
                  <a:schemeClr val="bg2"/>
                </a:solidFill>
                <a:latin typeface="Times New Roman" panose="02020603050405020304" pitchFamily="18" charset="0"/>
                <a:sym typeface="Symbol" panose="05050102010706020507" pitchFamily="18" charset="2"/>
              </a:rPr>
              <a:t>中</a:t>
            </a:r>
            <a:r>
              <a:rPr lang="zh-CN" altLang="en-US"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endParaRPr lang="zh-CN" altLang="en-US"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7.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i</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8.      else </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9.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A</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k</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C</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j</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       </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10.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j</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j</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11.     </a:t>
            </a:r>
            <a:r>
              <a:rPr lang="en-US" altLang="zh-CN" sz="2400" b="1" i="1" dirty="0">
                <a:solidFill>
                  <a:schemeClr val="bg2"/>
                </a:solidFill>
                <a:latin typeface="Times New Roman" panose="02020603050405020304" pitchFamily="18" charset="0"/>
                <a:ea typeface="黑体" panose="02010609060101010101" pitchFamily="49" charset="-122"/>
                <a:sym typeface="Symbol" panose="05050102010706020507" pitchFamily="18" charset="2"/>
              </a:rPr>
              <a:t>k</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b="1" i="1" dirty="0">
                <a:solidFill>
                  <a:schemeClr val="bg2"/>
                </a:solidFill>
                <a:latin typeface="Times New Roman" panose="02020603050405020304" pitchFamily="18" charset="0"/>
                <a:ea typeface="黑体" panose="02010609060101010101" pitchFamily="49" charset="-122"/>
              </a:rPr>
              <a:t>k</a:t>
            </a:r>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ea typeface="黑体" panose="02010609060101010101" pitchFamily="49" charset="-122"/>
                <a:sym typeface="Symbol" panose="05050102010706020507" pitchFamily="18" charset="2"/>
              </a:rPr>
              <a:t>12. </a:t>
            </a:r>
            <a:r>
              <a:rPr lang="en-US" altLang="zh-CN" sz="2400" b="1" dirty="0">
                <a:solidFill>
                  <a:schemeClr val="bg2"/>
                </a:solidFill>
                <a:latin typeface="Times New Roman" panose="02020603050405020304" pitchFamily="18" charset="0"/>
                <a:sym typeface="Symbol" panose="05050102010706020507" pitchFamily="18" charset="2"/>
              </a:rPr>
              <a:t>if </a:t>
            </a:r>
            <a:r>
              <a:rPr lang="en-US" altLang="zh-CN" sz="2400" b="1" i="1" dirty="0" err="1">
                <a:solidFill>
                  <a:schemeClr val="bg2"/>
                </a:solidFill>
                <a:latin typeface="Times New Roman" panose="02020603050405020304" pitchFamily="18" charset="0"/>
                <a:sym typeface="Symbol" panose="05050102010706020507" pitchFamily="18" charset="2"/>
              </a:rPr>
              <a:t>i</a:t>
            </a:r>
            <a:r>
              <a:rPr lang="en-US" altLang="zh-CN" sz="2400" b="1" dirty="0">
                <a:solidFill>
                  <a:schemeClr val="bg2"/>
                </a:solidFill>
                <a:latin typeface="Times New Roman" panose="02020603050405020304" pitchFamily="18" charset="0"/>
                <a:sym typeface="Symbol" panose="05050102010706020507" pitchFamily="18" charset="2"/>
              </a:rPr>
              <a:t>&gt;</a:t>
            </a:r>
            <a:r>
              <a:rPr lang="en-US" altLang="zh-CN" sz="2400" b="1" i="1" dirty="0">
                <a:solidFill>
                  <a:schemeClr val="bg2"/>
                </a:solidFill>
                <a:latin typeface="Times New Roman" panose="02020603050405020304" pitchFamily="18" charset="0"/>
                <a:sym typeface="Symbol" panose="05050102010706020507" pitchFamily="18" charset="2"/>
              </a:rPr>
              <a:t>x </a:t>
            </a:r>
            <a:r>
              <a:rPr lang="en-US" altLang="zh-CN" sz="2400" b="1" dirty="0">
                <a:solidFill>
                  <a:schemeClr val="bg2"/>
                </a:solidFill>
                <a:latin typeface="Times New Roman" panose="02020603050405020304" pitchFamily="18" charset="0"/>
                <a:sym typeface="Symbol" panose="05050102010706020507" pitchFamily="18" charset="2"/>
              </a:rPr>
              <a:t>then </a:t>
            </a:r>
            <a:r>
              <a:rPr lang="zh-CN" altLang="en-US" sz="2400" b="1" dirty="0">
                <a:solidFill>
                  <a:schemeClr val="bg2"/>
                </a:solidFill>
                <a:latin typeface="Times New Roman" panose="02020603050405020304" pitchFamily="18" charset="0"/>
                <a:sym typeface="Symbol" panose="05050102010706020507" pitchFamily="18" charset="2"/>
              </a:rPr>
              <a:t>将</a:t>
            </a:r>
            <a:r>
              <a:rPr lang="en-US" altLang="zh-CN" sz="2400" b="1" i="1" dirty="0">
                <a:solidFill>
                  <a:schemeClr val="bg2"/>
                </a:solidFill>
                <a:latin typeface="Times New Roman" panose="02020603050405020304" pitchFamily="18" charset="0"/>
                <a:sym typeface="Symbol" panose="05050102010706020507" pitchFamily="18" charset="2"/>
              </a:rPr>
              <a:t>C</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j</a:t>
            </a:r>
            <a:r>
              <a:rPr lang="en-US" altLang="zh-CN" sz="2400" b="1" dirty="0" err="1">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y</a:t>
            </a:r>
            <a:r>
              <a:rPr lang="en-US" altLang="zh-CN" sz="2400" b="1" dirty="0">
                <a:solidFill>
                  <a:schemeClr val="bg2"/>
                </a:solidFill>
                <a:latin typeface="Times New Roman" panose="02020603050405020304" pitchFamily="18" charset="0"/>
                <a:sym typeface="Symbol" panose="05050102010706020507" pitchFamily="18" charset="2"/>
              </a:rPr>
              <a:t>]</a:t>
            </a:r>
            <a:r>
              <a:rPr lang="zh-CN" altLang="en-US" sz="2400" b="1" dirty="0">
                <a:solidFill>
                  <a:schemeClr val="bg2"/>
                </a:solidFill>
                <a:latin typeface="Times New Roman" panose="02020603050405020304" pitchFamily="18" charset="0"/>
                <a:sym typeface="Symbol" panose="05050102010706020507" pitchFamily="18" charset="2"/>
              </a:rPr>
              <a:t>复制到</a:t>
            </a:r>
            <a:r>
              <a:rPr lang="en-US" altLang="zh-CN" sz="2400" b="1" i="1" dirty="0">
                <a:solidFill>
                  <a:schemeClr val="bg2"/>
                </a:solidFill>
                <a:latin typeface="Times New Roman" panose="02020603050405020304" pitchFamily="18" charset="0"/>
                <a:sym typeface="Symbol" panose="05050102010706020507" pitchFamily="18" charset="2"/>
              </a:rPr>
              <a:t>A</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k</a:t>
            </a:r>
            <a:r>
              <a:rPr lang="en-US" altLang="zh-CN" sz="2400" b="1" dirty="0" err="1">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r</a:t>
            </a:r>
            <a:r>
              <a:rPr lang="en-US" altLang="zh-CN" sz="2400" b="1" dirty="0">
                <a:solidFill>
                  <a:schemeClr val="bg2"/>
                </a:solidFill>
                <a:latin typeface="Times New Roman" panose="02020603050405020304" pitchFamily="18" charset="0"/>
                <a:sym typeface="Symbol" panose="05050102010706020507" pitchFamily="18" charset="2"/>
              </a:rPr>
              <a:t>]     // </a:t>
            </a:r>
            <a:r>
              <a:rPr lang="en-US" altLang="zh-CN" sz="2400" b="1" i="1" dirty="0">
                <a:solidFill>
                  <a:schemeClr val="bg2"/>
                </a:solidFill>
                <a:latin typeface="Times New Roman" panose="02020603050405020304" pitchFamily="18" charset="0"/>
                <a:sym typeface="Symbol" panose="05050102010706020507" pitchFamily="18" charset="2"/>
              </a:rPr>
              <a:t>B</a:t>
            </a:r>
            <a:r>
              <a:rPr lang="zh-CN" altLang="en-US" sz="2400" b="1" dirty="0">
                <a:solidFill>
                  <a:schemeClr val="bg2"/>
                </a:solidFill>
                <a:latin typeface="Times New Roman" panose="02020603050405020304" pitchFamily="18" charset="0"/>
                <a:sym typeface="Symbol" panose="05050102010706020507" pitchFamily="18" charset="2"/>
              </a:rPr>
              <a:t>已经是空数组</a:t>
            </a:r>
            <a:endParaRPr lang="zh-CN" altLang="en-US" sz="2400" b="1" dirty="0">
              <a:solidFill>
                <a:schemeClr val="bg2"/>
              </a:solidFill>
              <a:latin typeface="Times New Roman" panose="02020603050405020304" pitchFamily="18" charset="0"/>
              <a:sym typeface="Symbol" panose="05050102010706020507" pitchFamily="18" charset="2"/>
            </a:endParaRPr>
          </a:p>
          <a:p>
            <a:pPr indent="278130" eaLnBrk="0" hangingPunct="0"/>
            <a:r>
              <a:rPr lang="en-US" altLang="zh-CN" sz="2400" b="1" dirty="0">
                <a:solidFill>
                  <a:schemeClr val="bg2"/>
                </a:solidFill>
                <a:latin typeface="Times New Roman" panose="02020603050405020304" pitchFamily="18" charset="0"/>
                <a:sym typeface="Symbol" panose="05050102010706020507" pitchFamily="18" charset="2"/>
              </a:rPr>
              <a:t>13. else </a:t>
            </a:r>
            <a:r>
              <a:rPr lang="zh-CN" altLang="en-US" sz="2400" b="1" dirty="0">
                <a:solidFill>
                  <a:schemeClr val="bg2"/>
                </a:solidFill>
                <a:latin typeface="Times New Roman" panose="02020603050405020304" pitchFamily="18" charset="0"/>
                <a:sym typeface="Symbol" panose="05050102010706020507" pitchFamily="18" charset="2"/>
              </a:rPr>
              <a:t>将</a:t>
            </a:r>
            <a:r>
              <a:rPr lang="en-US" altLang="zh-CN" sz="2400" b="1" i="1" dirty="0">
                <a:solidFill>
                  <a:schemeClr val="bg2"/>
                </a:solidFill>
                <a:latin typeface="Times New Roman" panose="02020603050405020304" pitchFamily="18" charset="0"/>
                <a:sym typeface="Symbol" panose="05050102010706020507" pitchFamily="18" charset="2"/>
              </a:rPr>
              <a:t>B</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i</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a:solidFill>
                  <a:schemeClr val="bg2"/>
                </a:solidFill>
                <a:latin typeface="Times New Roman" panose="02020603050405020304" pitchFamily="18" charset="0"/>
                <a:sym typeface="Symbol" panose="05050102010706020507" pitchFamily="18" charset="2"/>
              </a:rPr>
              <a:t>x</a:t>
            </a:r>
            <a:r>
              <a:rPr lang="en-US" altLang="zh-CN" sz="2400" b="1" dirty="0">
                <a:solidFill>
                  <a:schemeClr val="bg2"/>
                </a:solidFill>
                <a:latin typeface="Times New Roman" panose="02020603050405020304" pitchFamily="18" charset="0"/>
                <a:sym typeface="Symbol" panose="05050102010706020507" pitchFamily="18" charset="2"/>
              </a:rPr>
              <a:t>]</a:t>
            </a:r>
            <a:r>
              <a:rPr lang="zh-CN" altLang="en-US" sz="2400" b="1" dirty="0">
                <a:solidFill>
                  <a:schemeClr val="bg2"/>
                </a:solidFill>
                <a:latin typeface="Times New Roman" panose="02020603050405020304" pitchFamily="18" charset="0"/>
                <a:sym typeface="Symbol" panose="05050102010706020507" pitchFamily="18" charset="2"/>
              </a:rPr>
              <a:t>复制到</a:t>
            </a:r>
            <a:r>
              <a:rPr lang="en-US" altLang="zh-CN" sz="2400" b="1" i="1" dirty="0">
                <a:solidFill>
                  <a:schemeClr val="bg2"/>
                </a:solidFill>
                <a:latin typeface="Times New Roman" panose="02020603050405020304" pitchFamily="18" charset="0"/>
                <a:sym typeface="Symbol" panose="05050102010706020507" pitchFamily="18" charset="2"/>
              </a:rPr>
              <a:t>A</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k</a:t>
            </a:r>
            <a:r>
              <a:rPr lang="en-US" altLang="zh-CN" sz="2400" b="1" dirty="0" err="1">
                <a:solidFill>
                  <a:schemeClr val="bg2"/>
                </a:solidFill>
                <a:latin typeface="Times New Roman" panose="02020603050405020304" pitchFamily="18" charset="0"/>
                <a:sym typeface="Symbol" panose="05050102010706020507" pitchFamily="18" charset="2"/>
              </a:rPr>
              <a:t>..</a:t>
            </a:r>
            <a:r>
              <a:rPr lang="en-US" altLang="zh-CN" sz="2400" b="1" i="1" dirty="0" err="1">
                <a:solidFill>
                  <a:schemeClr val="bg2"/>
                </a:solidFill>
                <a:latin typeface="Times New Roman" panose="02020603050405020304" pitchFamily="18" charset="0"/>
                <a:sym typeface="Symbol" panose="05050102010706020507" pitchFamily="18" charset="2"/>
              </a:rPr>
              <a:t>r</a:t>
            </a:r>
            <a:r>
              <a:rPr lang="en-US" altLang="zh-CN" sz="2400" b="1" dirty="0">
                <a:solidFill>
                  <a:schemeClr val="bg2"/>
                </a:solidFill>
                <a:latin typeface="Times New Roman" panose="02020603050405020304" pitchFamily="18" charset="0"/>
                <a:sym typeface="Symbol" panose="05050102010706020507" pitchFamily="18" charset="2"/>
              </a:rPr>
              <a:t>]                // </a:t>
            </a:r>
            <a:r>
              <a:rPr lang="en-US" altLang="zh-CN" sz="2400" b="1" i="1" dirty="0">
                <a:solidFill>
                  <a:schemeClr val="bg2"/>
                </a:solidFill>
                <a:latin typeface="Times New Roman" panose="02020603050405020304" pitchFamily="18" charset="0"/>
                <a:sym typeface="Symbol" panose="05050102010706020507" pitchFamily="18" charset="2"/>
              </a:rPr>
              <a:t>C</a:t>
            </a:r>
            <a:r>
              <a:rPr lang="zh-CN" altLang="en-US" sz="2400" b="1" dirty="0">
                <a:solidFill>
                  <a:schemeClr val="bg2"/>
                </a:solidFill>
                <a:latin typeface="Times New Roman" panose="02020603050405020304" pitchFamily="18" charset="0"/>
                <a:sym typeface="Symbol" panose="05050102010706020507" pitchFamily="18" charset="2"/>
              </a:rPr>
              <a:t>已经是空数组</a:t>
            </a:r>
            <a:endParaRPr lang="zh-CN" altLang="en-US" sz="2400" b="1" dirty="0">
              <a:solidFill>
                <a:schemeClr val="bg2"/>
              </a:solidFill>
              <a:latin typeface="Times New Roman" panose="02020603050405020304" pitchFamily="18" charset="0"/>
              <a:cs typeface="Times New Roman" panose="02020603050405020304" pitchFamily="18" charset="0"/>
              <a:sym typeface="Symbol" panose="05050102010706020507" pitchFamily="18" charset="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5" name="TextBox 4"/>
          <p:cNvSpPr txBox="1"/>
          <p:nvPr/>
        </p:nvSpPr>
        <p:spPr>
          <a:xfrm>
            <a:off x="899592" y="1844824"/>
            <a:ext cx="1723549" cy="461665"/>
          </a:xfrm>
          <a:prstGeom prst="rect">
            <a:avLst/>
          </a:prstGeom>
          <a:noFill/>
        </p:spPr>
        <p:txBody>
          <a:bodyPr wrap="none" rtlCol="0">
            <a:spAutoFit/>
          </a:bodyPr>
          <a:lstStyle/>
          <a:p>
            <a:r>
              <a:rPr lang="zh-CN" altLang="en-US" dirty="0" smtClean="0">
                <a:solidFill>
                  <a:schemeClr val="bg2"/>
                </a:solidFill>
              </a:rPr>
              <a:t>最好情况：</a:t>
            </a:r>
            <a:endParaRPr lang="zh-CN" altLang="en-US" dirty="0">
              <a:solidFill>
                <a:schemeClr val="bg2"/>
              </a:solidFill>
            </a:endParaRPr>
          </a:p>
        </p:txBody>
      </p:sp>
      <p:sp>
        <p:nvSpPr>
          <p:cNvPr id="8" name="TextBox 7"/>
          <p:cNvSpPr txBox="1"/>
          <p:nvPr/>
        </p:nvSpPr>
        <p:spPr>
          <a:xfrm>
            <a:off x="904235" y="3501008"/>
            <a:ext cx="1723549" cy="461665"/>
          </a:xfrm>
          <a:prstGeom prst="rect">
            <a:avLst/>
          </a:prstGeom>
          <a:noFill/>
        </p:spPr>
        <p:txBody>
          <a:bodyPr wrap="none" rtlCol="0">
            <a:spAutoFit/>
          </a:bodyPr>
          <a:lstStyle/>
          <a:p>
            <a:r>
              <a:rPr lang="zh-CN" altLang="en-US" dirty="0" smtClean="0">
                <a:solidFill>
                  <a:schemeClr val="bg2"/>
                </a:solidFill>
              </a:rPr>
              <a:t>最坏情况：</a:t>
            </a:r>
            <a:endParaRPr lang="zh-CN" altLang="en-US" dirty="0">
              <a:solidFill>
                <a:schemeClr val="bg2"/>
              </a:solidFill>
            </a:endParaRPr>
          </a:p>
        </p:txBody>
      </p:sp>
      <p:graphicFrame>
        <p:nvGraphicFramePr>
          <p:cNvPr id="6" name="对象 5">
            <a:hlinkClick r:id="" action="ppaction://ole?verb="/>
          </p:cNvPr>
          <p:cNvGraphicFramePr>
            <a:graphicFrameLocks noChangeAspect="1"/>
          </p:cNvGraphicFramePr>
          <p:nvPr/>
        </p:nvGraphicFramePr>
        <p:xfrm>
          <a:off x="1403985" y="2348865"/>
          <a:ext cx="4453255" cy="965200"/>
        </p:xfrm>
        <a:graphic>
          <a:graphicData uri="http://schemas.openxmlformats.org/presentationml/2006/ole">
            <mc:AlternateContent xmlns:mc="http://schemas.openxmlformats.org/markup-compatibility/2006">
              <mc:Choice xmlns:v="urn:schemas-microsoft-com:vml" Requires="v">
                <p:oleObj spid="_x0000_s7169" name="" r:id="rId1" imgW="2108200" imgH="457200" progId="Equation.KSEE3">
                  <p:embed/>
                </p:oleObj>
              </mc:Choice>
              <mc:Fallback>
                <p:oleObj name="" r:id="rId1" imgW="2108200" imgH="457200" progId="Equation.KSEE3">
                  <p:embed/>
                  <p:pic>
                    <p:nvPicPr>
                      <p:cNvPr id="0" name="20 7168"/>
                      <p:cNvPicPr/>
                      <p:nvPr/>
                    </p:nvPicPr>
                    <p:blipFill>
                      <a:blip r:embed="rId2"/>
                      <a:stretch>
                        <a:fillRect/>
                      </a:stretch>
                    </p:blipFill>
                    <p:spPr>
                      <a:xfrm>
                        <a:off x="1403985" y="2348865"/>
                        <a:ext cx="4453255" cy="96520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1430655" y="4293235"/>
          <a:ext cx="4540250" cy="989965"/>
        </p:xfrm>
        <a:graphic>
          <a:graphicData uri="http://schemas.openxmlformats.org/presentationml/2006/ole">
            <mc:AlternateContent xmlns:mc="http://schemas.openxmlformats.org/markup-compatibility/2006">
              <mc:Choice xmlns:v="urn:schemas-microsoft-com:vml" Requires="v">
                <p:oleObj spid="_x0000_s9" name="" r:id="rId3" imgW="2095500" imgH="457200" progId="Equation.KSEE3">
                  <p:embed/>
                </p:oleObj>
              </mc:Choice>
              <mc:Fallback>
                <p:oleObj name="" r:id="rId3" imgW="2095500" imgH="457200" progId="Equation.KSEE3">
                  <p:embed/>
                  <p:pic>
                    <p:nvPicPr>
                      <p:cNvPr id="0" name="20 7168"/>
                      <p:cNvPicPr/>
                      <p:nvPr/>
                    </p:nvPicPr>
                    <p:blipFill>
                      <a:blip r:embed="rId4"/>
                      <a:stretch>
                        <a:fillRect/>
                      </a:stretch>
                    </p:blipFill>
                    <p:spPr>
                      <a:xfrm>
                        <a:off x="1430655" y="4293235"/>
                        <a:ext cx="4540250" cy="989965"/>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690676" y="1628800"/>
            <a:ext cx="7697747" cy="2968625"/>
          </a:xfrm>
          <a:prstGeom prst="rect">
            <a:avLst/>
          </a:prstGeom>
        </p:spPr>
        <p:txBody>
          <a:bodyPr wrap="square">
            <a:spAutoFit/>
          </a:bodyPr>
          <a:lstStyle/>
          <a:p>
            <a:pPr marL="469900" indent="-408305">
              <a:lnSpc>
                <a:spcPct val="130000"/>
              </a:lnSpc>
              <a:buFont typeface="Arial" panose="020B0604020202020204" pitchFamily="34" charset="0"/>
              <a:buChar char="•"/>
            </a:pPr>
            <a:r>
              <a:rPr lang="zh-CN" altLang="en-US" dirty="0" smtClean="0">
                <a:solidFill>
                  <a:schemeClr val="bg2"/>
                </a:solidFill>
              </a:rPr>
              <a:t>求解递归方程的方法</a:t>
            </a:r>
            <a:endParaRPr lang="en-US" altLang="zh-CN" dirty="0" smtClean="0">
              <a:solidFill>
                <a:schemeClr val="bg2"/>
              </a:solidFill>
            </a:endParaRPr>
          </a:p>
          <a:p>
            <a:pPr>
              <a:lnSpc>
                <a:spcPct val="130000"/>
              </a:lnSpc>
            </a:pPr>
            <a:r>
              <a:rPr lang="zh-CN" altLang="en-US" dirty="0">
                <a:solidFill>
                  <a:schemeClr val="bg2"/>
                </a:solidFill>
              </a:rPr>
              <a:t>（</a:t>
            </a:r>
            <a:r>
              <a:rPr lang="en-US" altLang="zh-CN" dirty="0">
                <a:solidFill>
                  <a:schemeClr val="bg2"/>
                </a:solidFill>
              </a:rPr>
              <a:t>1</a:t>
            </a:r>
            <a:r>
              <a:rPr lang="zh-CN" altLang="en-US" dirty="0" smtClean="0">
                <a:solidFill>
                  <a:schemeClr val="bg2"/>
                </a:solidFill>
              </a:rPr>
              <a:t>）</a:t>
            </a:r>
            <a:r>
              <a:rPr lang="zh-CN" altLang="en-US" b="1" dirty="0" smtClean="0">
                <a:solidFill>
                  <a:srgbClr val="FF0000"/>
                </a:solidFill>
              </a:rPr>
              <a:t>迭代法（递推法）</a:t>
            </a:r>
            <a:endParaRPr lang="en-US" altLang="zh-CN" b="1" dirty="0" smtClean="0">
              <a:solidFill>
                <a:srgbClr val="FF0000"/>
              </a:solidFill>
            </a:endParaRPr>
          </a:p>
          <a:p>
            <a:pPr>
              <a:lnSpc>
                <a:spcPct val="130000"/>
              </a:lnSpc>
            </a:pPr>
            <a:r>
              <a:rPr lang="zh-CN" altLang="en-US" dirty="0">
                <a:solidFill>
                  <a:schemeClr val="bg2"/>
                </a:solidFill>
              </a:rPr>
              <a:t>（</a:t>
            </a:r>
            <a:r>
              <a:rPr lang="en-US" altLang="zh-CN" dirty="0">
                <a:solidFill>
                  <a:schemeClr val="bg2"/>
                </a:solidFill>
              </a:rPr>
              <a:t>2</a:t>
            </a:r>
            <a:r>
              <a:rPr lang="zh-CN" altLang="en-US" dirty="0" smtClean="0">
                <a:solidFill>
                  <a:schemeClr val="bg2"/>
                </a:solidFill>
              </a:rPr>
              <a:t>）生成函数求解</a:t>
            </a:r>
            <a:endParaRPr lang="en-US" altLang="zh-CN" dirty="0" smtClean="0">
              <a:solidFill>
                <a:schemeClr val="bg2"/>
              </a:solidFill>
            </a:endParaRPr>
          </a:p>
          <a:p>
            <a:pPr>
              <a:lnSpc>
                <a:spcPct val="130000"/>
              </a:lnSpc>
            </a:pPr>
            <a:r>
              <a:rPr lang="zh-CN" altLang="en-US" dirty="0">
                <a:solidFill>
                  <a:schemeClr val="bg2"/>
                </a:solidFill>
              </a:rPr>
              <a:t>（</a:t>
            </a:r>
            <a:r>
              <a:rPr lang="en-US" altLang="zh-CN" dirty="0">
                <a:solidFill>
                  <a:schemeClr val="bg2"/>
                </a:solidFill>
              </a:rPr>
              <a:t>3</a:t>
            </a:r>
            <a:r>
              <a:rPr lang="zh-CN" altLang="en-US" dirty="0" smtClean="0">
                <a:solidFill>
                  <a:schemeClr val="bg2"/>
                </a:solidFill>
              </a:rPr>
              <a:t>）特征方程求解</a:t>
            </a:r>
            <a:endParaRPr lang="en-US" altLang="zh-CN" dirty="0" smtClean="0">
              <a:solidFill>
                <a:schemeClr val="bg2"/>
              </a:solidFill>
            </a:endParaRPr>
          </a:p>
          <a:p>
            <a:pPr>
              <a:lnSpc>
                <a:spcPct val="130000"/>
              </a:lnSpc>
            </a:pPr>
            <a:r>
              <a:rPr lang="zh-CN" altLang="en-US" dirty="0">
                <a:solidFill>
                  <a:schemeClr val="bg2"/>
                </a:solidFill>
              </a:rPr>
              <a:t>（</a:t>
            </a:r>
            <a:r>
              <a:rPr lang="en-US" altLang="zh-CN" dirty="0">
                <a:solidFill>
                  <a:schemeClr val="bg2"/>
                </a:solidFill>
              </a:rPr>
              <a:t>4</a:t>
            </a:r>
            <a:r>
              <a:rPr lang="zh-CN" altLang="en-US" dirty="0" smtClean="0">
                <a:solidFill>
                  <a:schemeClr val="bg2"/>
                </a:solidFill>
              </a:rPr>
              <a:t>）</a:t>
            </a:r>
            <a:r>
              <a:rPr lang="zh-CN" altLang="en-US" b="1" dirty="0" smtClean="0">
                <a:solidFill>
                  <a:srgbClr val="FF0000"/>
                </a:solidFill>
              </a:rPr>
              <a:t>递归树</a:t>
            </a:r>
            <a:endParaRPr lang="en-US" altLang="zh-CN" b="1" dirty="0" smtClean="0">
              <a:solidFill>
                <a:srgbClr val="FF0000"/>
              </a:solidFill>
            </a:endParaRPr>
          </a:p>
          <a:p>
            <a:pPr>
              <a:lnSpc>
                <a:spcPct val="130000"/>
              </a:lnSpc>
            </a:pPr>
            <a:r>
              <a:rPr lang="zh-CN" altLang="en-US" dirty="0">
                <a:solidFill>
                  <a:schemeClr val="bg2"/>
                </a:solidFill>
              </a:rPr>
              <a:t>（</a:t>
            </a:r>
            <a:r>
              <a:rPr lang="en-US" altLang="zh-CN" dirty="0">
                <a:solidFill>
                  <a:schemeClr val="bg2"/>
                </a:solidFill>
              </a:rPr>
              <a:t>5</a:t>
            </a:r>
            <a:r>
              <a:rPr lang="zh-CN" altLang="en-US" dirty="0" smtClean="0">
                <a:solidFill>
                  <a:schemeClr val="bg2"/>
                </a:solidFill>
              </a:rPr>
              <a:t>）</a:t>
            </a:r>
            <a:r>
              <a:rPr lang="zh-CN" altLang="en-US" b="1" dirty="0" smtClean="0">
                <a:solidFill>
                  <a:srgbClr val="FF0000"/>
                </a:solidFill>
              </a:rPr>
              <a:t>主方法</a:t>
            </a:r>
            <a:endParaRPr lang="en-US" altLang="zh-CN" b="1"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385445" y="1628775"/>
            <a:ext cx="8131175" cy="534035"/>
          </a:xfrm>
          <a:prstGeom prst="rect">
            <a:avLst/>
          </a:prstGeom>
        </p:spPr>
        <p:txBody>
          <a:bodyPr wrap="square">
            <a:spAutoFit/>
          </a:bodyPr>
          <a:lstStyle/>
          <a:p>
            <a:pPr marL="342900" indent="-342900">
              <a:lnSpc>
                <a:spcPct val="120000"/>
              </a:lnSpc>
              <a:buClr>
                <a:srgbClr val="000000"/>
              </a:buClr>
              <a:buFont typeface="Wingdings" panose="05000000000000000000" charset="0"/>
              <a:buChar char="l"/>
            </a:pPr>
            <a:r>
              <a:rPr lang="zh-CN" altLang="zh-CN" b="1" dirty="0" smtClean="0">
                <a:solidFill>
                  <a:schemeClr val="bg2"/>
                </a:solidFill>
              </a:rPr>
              <a:t>迭代法（递推法）求解递归方程</a:t>
            </a:r>
            <a:endParaRPr lang="zh-CN" altLang="zh-CN" b="1" dirty="0" smtClean="0">
              <a:solidFill>
                <a:schemeClr val="bg2"/>
              </a:solidFill>
            </a:endParaRPr>
          </a:p>
        </p:txBody>
      </p:sp>
      <p:sp>
        <p:nvSpPr>
          <p:cNvPr id="4" name="文本框 3"/>
          <p:cNvSpPr txBox="1"/>
          <p:nvPr/>
        </p:nvSpPr>
        <p:spPr>
          <a:xfrm>
            <a:off x="679450" y="2162810"/>
            <a:ext cx="7785100" cy="829945"/>
          </a:xfrm>
          <a:prstGeom prst="rect">
            <a:avLst/>
          </a:prstGeom>
          <a:noFill/>
        </p:spPr>
        <p:txBody>
          <a:bodyPr wrap="square" rtlCol="0" anchor="t">
            <a:spAutoFit/>
          </a:bodyPr>
          <a:lstStyle/>
          <a:p>
            <a:pPr marL="342900" lvl="1" indent="-342900">
              <a:buFont typeface="Arial" panose="020B0604020202020204" pitchFamily="34" charset="0"/>
              <a:buChar char="•"/>
            </a:pPr>
            <a:r>
              <a:rPr lang="zh-CN" altLang="en-US" dirty="0">
                <a:solidFill>
                  <a:schemeClr val="bg2"/>
                </a:solidFill>
                <a:latin typeface="楷体_GB2312" pitchFamily="49" charset="-122"/>
                <a:ea typeface="楷体_GB2312" pitchFamily="49" charset="-122"/>
                <a:sym typeface="+mn-ea"/>
              </a:rPr>
              <a:t>直接从递归方程出发，一层一层地往前递推，直到最前面的初始条件为止，就得到了问题的解。</a:t>
            </a:r>
            <a:endParaRPr lang="zh-CN" altLang="en-US">
              <a:solidFill>
                <a:schemeClr val="bg2"/>
              </a:solidFill>
            </a:endParaRPr>
          </a:p>
        </p:txBody>
      </p:sp>
      <mc:AlternateContent xmlns:mc="http://schemas.openxmlformats.org/markup-compatibility/2006">
        <mc:Choice xmlns:a14="http://schemas.microsoft.com/office/drawing/2010/main" Requires="a14">
          <p:sp>
            <p:nvSpPr>
              <p:cNvPr id="5" name="文本框 4"/>
              <p:cNvSpPr txBox="1"/>
              <p:nvPr/>
            </p:nvSpPr>
            <p:spPr>
              <a:xfrm>
                <a:off x="2195766" y="3477197"/>
                <a:ext cx="4687570" cy="79756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solidFill>
                            <a:schemeClr val="bg2"/>
                          </a:solidFill>
                          <a:latin typeface="Cambria Math" panose="02040503050406030204" charset="0"/>
                          <a:cs typeface="Cambria Math" panose="02040503050406030204" charset="0"/>
                        </a:rPr>
                        <m:t>(</m:t>
                      </m:r>
                      <m:r>
                        <a:rPr lang="en-US" altLang="zh-CN" i="1">
                          <a:solidFill>
                            <a:schemeClr val="bg2"/>
                          </a:solidFill>
                          <a:latin typeface="Cambria Math" panose="02040503050406030204" charset="0"/>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𝑇</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m:t>
                      </m:r>
                      <m:d>
                        <m:dPr>
                          <m:begChr m:val="{"/>
                          <m:endChr m:val=""/>
                          <m:ctrlPr>
                            <a:rPr lang="en-US" altLang="zh-CN" i="1">
                              <a:solidFill>
                                <a:schemeClr val="bg2"/>
                              </a:solidFill>
                              <a:latin typeface="Cambria Math" panose="02040503050406030204" charset="0"/>
                              <a:ea typeface="MS Mincho" panose="02020609040205080304" charset="-128"/>
                              <a:cs typeface="Cambria Math" panose="02040503050406030204" charset="0"/>
                            </a:rPr>
                          </m:ctrlPr>
                        </m:dPr>
                        <m:e>
                          <m:eqArr>
                            <m:eqArrPr>
                              <m:ctrlPr>
                                <a:rPr lang="en-US" altLang="zh-CN" i="1">
                                  <a:solidFill>
                                    <a:schemeClr val="bg2"/>
                                  </a:solidFill>
                                  <a:latin typeface="Cambria Math" panose="02040503050406030204" charset="0"/>
                                  <a:ea typeface="MS Mincho" panose="02020609040205080304" charset="-128"/>
                                  <a:cs typeface="Cambria Math" panose="02040503050406030204" charset="0"/>
                                </a:rPr>
                              </m:ctrlPr>
                            </m:eqArrPr>
                            <m:e>
                              <m:r>
                                <a:rPr lang="en-US" altLang="zh-CN" i="1">
                                  <a:solidFill>
                                    <a:schemeClr val="bg2"/>
                                  </a:solidFill>
                                  <a:latin typeface="Cambria Math" panose="02040503050406030204" charset="0"/>
                                  <a:ea typeface="MS Mincho" panose="02020609040205080304" charset="-128"/>
                                  <a:cs typeface="Cambria Math" panose="02040503050406030204" charset="0"/>
                                </a:rPr>
                                <m:t>𝑇</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   (</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&gt;</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m:t>
                              </m:r>
                            </m:e>
                            <m:e>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          (</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m:t>
                              </m:r>
                            </m:e>
                          </m:eqArr>
                        </m:e>
                      </m:d>
                    </m:oMath>
                  </m:oMathPara>
                </a14:m>
                <a:endParaRPr lang="en-US" altLang="zh-CN" i="1">
                  <a:solidFill>
                    <a:schemeClr val="bg2"/>
                  </a:solidFill>
                  <a:latin typeface="Cambria Math" panose="02040503050406030204" charset="0"/>
                  <a:ea typeface="MS Mincho" panose="02020609040205080304" charset="-128"/>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195766" y="3477197"/>
                <a:ext cx="4687570" cy="797560"/>
              </a:xfrm>
              <a:prstGeom prst="rect">
                <a:avLst/>
              </a:prstGeom>
              <a:blipFill rotWithShape="1">
                <a:blip r:embed="rId1"/>
                <a:stretch>
                  <a:fillRect l="-12" t="-72" r="12" b="7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124011" y="5013262"/>
                <a:ext cx="4772025" cy="79756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solidFill>
                            <a:schemeClr val="bg2"/>
                          </a:solidFill>
                          <a:latin typeface="Cambria Math" panose="02040503050406030204" charset="0"/>
                          <a:cs typeface="Cambria Math" panose="02040503050406030204" charset="0"/>
                        </a:rPr>
                        <m:t>(</m:t>
                      </m:r>
                      <m:r>
                        <a:rPr lang="en-US" altLang="zh-CN" i="1">
                          <a:solidFill>
                            <a:schemeClr val="bg2"/>
                          </a:solidFill>
                          <a:latin typeface="Cambria Math" panose="02040503050406030204" charset="0"/>
                          <a:cs typeface="Cambria Math" panose="02040503050406030204" charset="0"/>
                        </a:rPr>
                        <m:t>2</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𝑇</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m:t>
                      </m:r>
                      <m:d>
                        <m:dPr>
                          <m:begChr m:val="{"/>
                          <m:endChr m:val=""/>
                          <m:ctrlPr>
                            <a:rPr lang="en-US" altLang="zh-CN" i="1">
                              <a:solidFill>
                                <a:schemeClr val="bg2"/>
                              </a:solidFill>
                              <a:latin typeface="Cambria Math" panose="02040503050406030204" charset="0"/>
                              <a:ea typeface="MS Mincho" panose="02020609040205080304" charset="-128"/>
                              <a:cs typeface="Cambria Math" panose="02040503050406030204" charset="0"/>
                            </a:rPr>
                          </m:ctrlPr>
                        </m:dPr>
                        <m:e>
                          <m:eqArr>
                            <m:eqArrPr>
                              <m:ctrlPr>
                                <a:rPr lang="en-US" altLang="zh-CN" i="1">
                                  <a:solidFill>
                                    <a:schemeClr val="bg2"/>
                                  </a:solidFill>
                                  <a:latin typeface="Cambria Math" panose="02040503050406030204" charset="0"/>
                                  <a:ea typeface="MS Mincho" panose="02020609040205080304" charset="-128"/>
                                  <a:cs typeface="Cambria Math" panose="02040503050406030204" charset="0"/>
                                </a:rPr>
                              </m:ctrlPr>
                            </m:eqArrPr>
                            <m:e>
                              <m:r>
                                <a:rPr lang="en-US" altLang="zh-CN" i="1">
                                  <a:solidFill>
                                    <a:schemeClr val="bg2"/>
                                  </a:solidFill>
                                  <a:latin typeface="Cambria Math" panose="02040503050406030204" charset="0"/>
                                  <a:ea typeface="MS Mincho" panose="02020609040205080304" charset="-128"/>
                                  <a:cs typeface="Cambria Math" panose="02040503050406030204" charset="0"/>
                                </a:rPr>
                                <m:t>2</m:t>
                              </m:r>
                              <m:r>
                                <a:rPr lang="en-US" altLang="zh-CN" i="1">
                                  <a:solidFill>
                                    <a:schemeClr val="bg2"/>
                                  </a:solidFill>
                                  <a:latin typeface="Cambria Math" panose="02040503050406030204" charset="0"/>
                                  <a:ea typeface="MS Mincho" panose="02020609040205080304" charset="-128"/>
                                  <a:cs typeface="Cambria Math" panose="02040503050406030204" charset="0"/>
                                </a:rPr>
                                <m:t>𝑇</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   (</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&gt;</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m:t>
                              </m:r>
                            </m:e>
                            <m:e>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          (</m:t>
                              </m:r>
                              <m:r>
                                <a:rPr lang="en-US" altLang="zh-CN" i="1">
                                  <a:solidFill>
                                    <a:schemeClr val="bg2"/>
                                  </a:solidFill>
                                  <a:latin typeface="Cambria Math" panose="02040503050406030204" charset="0"/>
                                  <a:ea typeface="MS Mincho" panose="02020609040205080304" charset="-128"/>
                                  <a:cs typeface="Cambria Math" panose="02040503050406030204" charset="0"/>
                                </a:rPr>
                                <m:t>𝑛</m:t>
                              </m:r>
                              <m:r>
                                <a:rPr lang="en-US" altLang="zh-CN" i="1">
                                  <a:solidFill>
                                    <a:schemeClr val="bg2"/>
                                  </a:solidFill>
                                  <a:latin typeface="Cambria Math" panose="02040503050406030204" charset="0"/>
                                  <a:ea typeface="MS Mincho" panose="02020609040205080304" charset="-128"/>
                                  <a:cs typeface="Cambria Math" panose="02040503050406030204" charset="0"/>
                                </a:rPr>
                                <m:t>=</m:t>
                              </m:r>
                              <m:r>
                                <a:rPr lang="en-US" altLang="zh-CN" i="1">
                                  <a:solidFill>
                                    <a:schemeClr val="bg2"/>
                                  </a:solidFill>
                                  <a:latin typeface="Cambria Math" panose="02040503050406030204" charset="0"/>
                                  <a:ea typeface="MS Mincho" panose="02020609040205080304" charset="-128"/>
                                  <a:cs typeface="Cambria Math" panose="02040503050406030204" charset="0"/>
                                </a:rPr>
                                <m:t>1</m:t>
                              </m:r>
                              <m:r>
                                <a:rPr lang="en-US" altLang="zh-CN" i="1">
                                  <a:solidFill>
                                    <a:schemeClr val="bg2"/>
                                  </a:solidFill>
                                  <a:latin typeface="Cambria Math" panose="02040503050406030204" charset="0"/>
                                  <a:ea typeface="MS Mincho" panose="02020609040205080304" charset="-128"/>
                                  <a:cs typeface="Cambria Math" panose="02040503050406030204" charset="0"/>
                                </a:rPr>
                                <m:t>)</m:t>
                              </m:r>
                            </m:e>
                          </m:eqArr>
                        </m:e>
                      </m:d>
                    </m:oMath>
                  </m:oMathPara>
                </a14:m>
                <a:endParaRPr lang="en-US" altLang="zh-CN" i="1">
                  <a:solidFill>
                    <a:schemeClr val="bg2"/>
                  </a:solidFill>
                  <a:latin typeface="Cambria Math" panose="02040503050406030204" charset="0"/>
                  <a:ea typeface="MS Mincho" panose="02020609040205080304" charset="-128"/>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124011" y="5013262"/>
                <a:ext cx="4772025" cy="797560"/>
              </a:xfrm>
              <a:prstGeom prst="rect">
                <a:avLst/>
              </a:prstGeom>
              <a:blipFill rotWithShape="1">
                <a:blip r:embed="rId2"/>
                <a:stretch>
                  <a:fillRect l="-12" t="-72" r="12" b="72"/>
                </a:stretch>
              </a:blipFill>
            </p:spPr>
            <p:txBody>
              <a:bodyPr/>
              <a:lstStyle/>
              <a:p>
                <a:r>
                  <a:rPr lang="zh-CN" altLang="en-US">
                    <a:noFill/>
                  </a:rPr>
                  <a:t> </a:t>
                </a:r>
              </a:p>
            </p:txBody>
          </p:sp>
        </mc:Fallback>
      </mc:AlternateContent>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pic>
        <p:nvPicPr>
          <p:cNvPr id="5" name="20 4"/>
          <p:cNvPicPr>
            <a:picLocks noChangeAspect="1"/>
          </p:cNvPicPr>
          <p:nvPr/>
        </p:nvPicPr>
        <p:blipFill>
          <a:blip r:embed="rId1"/>
          <a:stretch>
            <a:fillRect/>
          </a:stretch>
        </p:blipFill>
        <p:spPr>
          <a:xfrm>
            <a:off x="1047115" y="1743710"/>
            <a:ext cx="6403975" cy="4398645"/>
          </a:xfrm>
          <a:prstGeom prst="rect">
            <a:avLst/>
          </a:prstGeom>
        </p:spPr>
      </p:pic>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pic>
        <p:nvPicPr>
          <p:cNvPr id="5" name="20 4"/>
          <p:cNvPicPr>
            <a:picLocks noChangeAspect="1"/>
          </p:cNvPicPr>
          <p:nvPr/>
        </p:nvPicPr>
        <p:blipFill>
          <a:blip r:embed="rId1"/>
          <a:stretch>
            <a:fillRect/>
          </a:stretch>
        </p:blipFill>
        <p:spPr>
          <a:xfrm>
            <a:off x="1268730" y="1682115"/>
            <a:ext cx="6605905" cy="4681220"/>
          </a:xfrm>
          <a:prstGeom prst="rect">
            <a:avLst/>
          </a:prstGeom>
        </p:spPr>
      </p:pic>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899592" y="2893763"/>
            <a:ext cx="7848872" cy="2012859"/>
          </a:xfrm>
          <a:prstGeom prst="rect">
            <a:avLst/>
          </a:prstGeom>
        </p:spPr>
        <p:txBody>
          <a:bodyPr wrap="square">
            <a:spAutoFit/>
          </a:bodyPr>
          <a:lstStyle/>
          <a:p>
            <a:pPr marL="342900" indent="-342900">
              <a:lnSpc>
                <a:spcPct val="130000"/>
              </a:lnSpc>
              <a:buFont typeface="Wingdings" panose="05000000000000000000" pitchFamily="2" charset="2"/>
              <a:buChar char="p"/>
            </a:pPr>
            <a:r>
              <a:rPr lang="zh-CN" altLang="en-US" b="1" dirty="0">
                <a:solidFill>
                  <a:schemeClr val="bg2"/>
                </a:solidFill>
              </a:rPr>
              <a:t>换元迭代 </a:t>
            </a:r>
            <a:endParaRPr lang="zh-CN" altLang="en-US" dirty="0">
              <a:solidFill>
                <a:schemeClr val="bg2"/>
              </a:solidFill>
            </a:endParaRPr>
          </a:p>
          <a:p>
            <a:pPr>
              <a:lnSpc>
                <a:spcPct val="130000"/>
              </a:lnSpc>
            </a:pPr>
            <a:r>
              <a:rPr lang="en-US" altLang="zh-CN" dirty="0">
                <a:solidFill>
                  <a:schemeClr val="bg2"/>
                </a:solidFill>
              </a:rPr>
              <a:t>•</a:t>
            </a:r>
            <a:r>
              <a:rPr lang="zh-CN" altLang="en-US" b="1" dirty="0">
                <a:solidFill>
                  <a:schemeClr val="bg2"/>
                </a:solidFill>
              </a:rPr>
              <a:t> 将对 </a:t>
            </a:r>
            <a:r>
              <a:rPr lang="en-US" altLang="zh-CN" b="1" i="1" dirty="0">
                <a:solidFill>
                  <a:schemeClr val="bg2"/>
                </a:solidFill>
              </a:rPr>
              <a:t>n </a:t>
            </a:r>
            <a:r>
              <a:rPr lang="zh-CN" altLang="en-US" b="1" dirty="0">
                <a:solidFill>
                  <a:schemeClr val="bg2"/>
                </a:solidFill>
              </a:rPr>
              <a:t>的递推式换成对其他变</a:t>
            </a:r>
            <a:r>
              <a:rPr lang="zh-CN" altLang="en-US" b="1" dirty="0" smtClean="0">
                <a:solidFill>
                  <a:schemeClr val="bg2"/>
                </a:solidFill>
              </a:rPr>
              <a:t>元</a:t>
            </a:r>
            <a:r>
              <a:rPr lang="en-US" altLang="zh-CN" b="1" i="1" dirty="0" smtClean="0">
                <a:solidFill>
                  <a:schemeClr val="bg2"/>
                </a:solidFill>
              </a:rPr>
              <a:t>k </a:t>
            </a:r>
            <a:r>
              <a:rPr lang="zh-CN" altLang="en-US" b="1" dirty="0">
                <a:solidFill>
                  <a:schemeClr val="bg2"/>
                </a:solidFill>
              </a:rPr>
              <a:t>的递推式 </a:t>
            </a:r>
            <a:endParaRPr lang="zh-CN" altLang="en-US" dirty="0">
              <a:solidFill>
                <a:schemeClr val="bg2"/>
              </a:solidFill>
            </a:endParaRPr>
          </a:p>
          <a:p>
            <a:pPr>
              <a:lnSpc>
                <a:spcPct val="130000"/>
              </a:lnSpc>
            </a:pPr>
            <a:r>
              <a:rPr lang="en-US" altLang="zh-CN" dirty="0">
                <a:solidFill>
                  <a:schemeClr val="bg2"/>
                </a:solidFill>
              </a:rPr>
              <a:t>•</a:t>
            </a:r>
            <a:r>
              <a:rPr lang="zh-CN" altLang="en-US" b="1" dirty="0">
                <a:solidFill>
                  <a:schemeClr val="bg2"/>
                </a:solidFill>
              </a:rPr>
              <a:t> 对 </a:t>
            </a:r>
            <a:r>
              <a:rPr lang="en-US" altLang="zh-CN" b="1" i="1" dirty="0">
                <a:solidFill>
                  <a:schemeClr val="bg2"/>
                </a:solidFill>
              </a:rPr>
              <a:t>k </a:t>
            </a:r>
            <a:r>
              <a:rPr lang="zh-CN" altLang="en-US" b="1" dirty="0">
                <a:solidFill>
                  <a:schemeClr val="bg2"/>
                </a:solidFill>
              </a:rPr>
              <a:t>直接迭代 </a:t>
            </a:r>
            <a:endParaRPr lang="zh-CN" altLang="en-US" dirty="0">
              <a:solidFill>
                <a:schemeClr val="bg2"/>
              </a:solidFill>
            </a:endParaRPr>
          </a:p>
          <a:p>
            <a:pPr>
              <a:lnSpc>
                <a:spcPct val="130000"/>
              </a:lnSpc>
            </a:pPr>
            <a:r>
              <a:rPr lang="en-US" altLang="zh-CN" dirty="0">
                <a:solidFill>
                  <a:schemeClr val="bg2"/>
                </a:solidFill>
              </a:rPr>
              <a:t>•</a:t>
            </a:r>
            <a:r>
              <a:rPr lang="zh-CN" altLang="en-US" b="1" dirty="0">
                <a:solidFill>
                  <a:schemeClr val="bg2"/>
                </a:solidFill>
              </a:rPr>
              <a:t> 将解 </a:t>
            </a:r>
            <a:r>
              <a:rPr lang="en-US" altLang="zh-CN" b="1" dirty="0">
                <a:solidFill>
                  <a:schemeClr val="bg2"/>
                </a:solidFill>
              </a:rPr>
              <a:t>(</a:t>
            </a:r>
            <a:r>
              <a:rPr lang="zh-CN" altLang="en-US" b="1" dirty="0">
                <a:solidFill>
                  <a:schemeClr val="bg2"/>
                </a:solidFill>
              </a:rPr>
              <a:t>关于 </a:t>
            </a:r>
            <a:r>
              <a:rPr lang="en-US" altLang="zh-CN" b="1" i="1" dirty="0">
                <a:solidFill>
                  <a:schemeClr val="bg2"/>
                </a:solidFill>
              </a:rPr>
              <a:t>k </a:t>
            </a:r>
            <a:r>
              <a:rPr lang="zh-CN" altLang="en-US" b="1" dirty="0">
                <a:solidFill>
                  <a:schemeClr val="bg2"/>
                </a:solidFill>
              </a:rPr>
              <a:t>的函数</a:t>
            </a:r>
            <a:r>
              <a:rPr lang="en-US" altLang="zh-CN" b="1" dirty="0">
                <a:solidFill>
                  <a:schemeClr val="bg2"/>
                </a:solidFill>
              </a:rPr>
              <a:t>) </a:t>
            </a:r>
            <a:r>
              <a:rPr lang="zh-CN" altLang="en-US" b="1" dirty="0">
                <a:solidFill>
                  <a:schemeClr val="bg2"/>
                </a:solidFill>
              </a:rPr>
              <a:t>转换成关于 </a:t>
            </a:r>
            <a:r>
              <a:rPr lang="en-US" altLang="zh-CN" b="1" i="1" dirty="0" smtClean="0">
                <a:solidFill>
                  <a:schemeClr val="bg2"/>
                </a:solidFill>
              </a:rPr>
              <a:t>n </a:t>
            </a:r>
            <a:r>
              <a:rPr lang="zh-CN" altLang="en-US" b="1" dirty="0">
                <a:solidFill>
                  <a:schemeClr val="bg2"/>
                </a:solidFill>
              </a:rPr>
              <a:t>的函数</a:t>
            </a:r>
            <a:endParaRPr lang="zh-CN" altLang="en-US" dirty="0">
              <a:solidFill>
                <a:schemeClr val="bg2"/>
              </a:solidFill>
            </a:endParaRPr>
          </a:p>
        </p:txBody>
      </p:sp>
      <p:graphicFrame>
        <p:nvGraphicFramePr>
          <p:cNvPr id="4" name="对象 3">
            <a:hlinkClick r:id="" action="ppaction://ole?verb="/>
          </p:cNvPr>
          <p:cNvGraphicFramePr>
            <a:graphicFrameLocks noChangeAspect="1"/>
          </p:cNvGraphicFramePr>
          <p:nvPr/>
        </p:nvGraphicFramePr>
        <p:xfrm>
          <a:off x="2267585" y="1701165"/>
          <a:ext cx="4991735" cy="1116330"/>
        </p:xfrm>
        <a:graphic>
          <a:graphicData uri="http://schemas.openxmlformats.org/presentationml/2006/ole">
            <mc:AlternateContent xmlns:mc="http://schemas.openxmlformats.org/markup-compatibility/2006">
              <mc:Choice xmlns:v="urn:schemas-microsoft-com:vml" Requires="v">
                <p:oleObj spid="_x0000_s1025" name="" r:id="rId1" imgW="2044700" imgH="457200" progId="Equation.KSEE3">
                  <p:embed/>
                </p:oleObj>
              </mc:Choice>
              <mc:Fallback>
                <p:oleObj name="" r:id="rId1" imgW="2044700" imgH="457200" progId="Equation.KSEE3">
                  <p:embed/>
                  <p:pic>
                    <p:nvPicPr>
                      <p:cNvPr id="0" name="20 1024"/>
                      <p:cNvPicPr/>
                      <p:nvPr/>
                    </p:nvPicPr>
                    <p:blipFill>
                      <a:blip r:embed="rId2"/>
                      <a:stretch>
                        <a:fillRect/>
                      </a:stretch>
                    </p:blipFill>
                    <p:spPr>
                      <a:xfrm>
                        <a:off x="2267585" y="1701165"/>
                        <a:ext cx="4991735" cy="1116330"/>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4" name="矩形 3"/>
          <p:cNvSpPr/>
          <p:nvPr/>
        </p:nvSpPr>
        <p:spPr>
          <a:xfrm>
            <a:off x="1259632" y="2852936"/>
            <a:ext cx="5472608" cy="2973122"/>
          </a:xfrm>
          <a:prstGeom prst="rect">
            <a:avLst/>
          </a:prstGeom>
        </p:spPr>
        <p:txBody>
          <a:bodyPr wrap="square">
            <a:spAutoFit/>
          </a:bodyPr>
          <a:lstStyle/>
          <a:p>
            <a:pPr>
              <a:lnSpc>
                <a:spcPct val="130000"/>
              </a:lnSpc>
            </a:pPr>
            <a:r>
              <a:rPr lang="zh-CN" altLang="en-US" b="1" dirty="0">
                <a:solidFill>
                  <a:schemeClr val="bg2"/>
                </a:solidFill>
              </a:rPr>
              <a:t>假设 </a:t>
            </a:r>
            <a:r>
              <a:rPr lang="en-US" altLang="zh-CN" b="1" i="1" dirty="0">
                <a:solidFill>
                  <a:schemeClr val="bg2"/>
                </a:solidFill>
              </a:rPr>
              <a:t>n</a:t>
            </a:r>
            <a:r>
              <a:rPr lang="en-US" altLang="zh-CN" b="1" dirty="0">
                <a:solidFill>
                  <a:schemeClr val="bg2"/>
                </a:solidFill>
              </a:rPr>
              <a:t>=2</a:t>
            </a:r>
            <a:r>
              <a:rPr lang="en-US" altLang="zh-CN" b="1" i="1" baseline="30000" dirty="0">
                <a:solidFill>
                  <a:schemeClr val="bg2"/>
                </a:solidFill>
              </a:rPr>
              <a:t>k</a:t>
            </a:r>
            <a:r>
              <a:rPr lang="en-US" altLang="zh-CN" b="1" i="1" dirty="0">
                <a:solidFill>
                  <a:schemeClr val="bg2"/>
                </a:solidFill>
              </a:rPr>
              <a:t> </a:t>
            </a:r>
            <a:r>
              <a:rPr lang="en-US" altLang="zh-CN" b="1" dirty="0">
                <a:solidFill>
                  <a:schemeClr val="bg2"/>
                </a:solidFill>
              </a:rPr>
              <a:t>, </a:t>
            </a:r>
            <a:r>
              <a:rPr lang="zh-CN" altLang="en-US" b="1" dirty="0">
                <a:solidFill>
                  <a:schemeClr val="bg2"/>
                </a:solidFill>
              </a:rPr>
              <a:t>递推方程如下： </a:t>
            </a:r>
            <a:endParaRPr lang="zh-CN" altLang="en-US" dirty="0">
              <a:solidFill>
                <a:schemeClr val="bg2"/>
              </a:solidFill>
            </a:endParaRPr>
          </a:p>
          <a:p>
            <a:pPr>
              <a:lnSpc>
                <a:spcPct val="130000"/>
              </a:lnSpc>
            </a:pPr>
            <a:r>
              <a:rPr lang="en-US" altLang="zh-CN" b="1" i="1" dirty="0" smtClean="0">
                <a:solidFill>
                  <a:schemeClr val="bg2"/>
                </a:solidFill>
              </a:rPr>
              <a:t>        F</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a:t>
            </a:r>
            <a:r>
              <a:rPr lang="en-US" altLang="zh-CN" b="1" dirty="0" smtClean="0">
                <a:solidFill>
                  <a:schemeClr val="bg2"/>
                </a:solidFill>
              </a:rPr>
              <a:t>2</a:t>
            </a:r>
            <a:r>
              <a:rPr lang="en-US" altLang="zh-CN" b="1" i="1" dirty="0" smtClean="0">
                <a:solidFill>
                  <a:schemeClr val="bg2"/>
                </a:solidFill>
              </a:rPr>
              <a:t>F</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/2</a:t>
            </a:r>
            <a:r>
              <a:rPr lang="en-US" altLang="zh-CN" b="1" dirty="0">
                <a:solidFill>
                  <a:schemeClr val="bg2"/>
                </a:solidFill>
              </a:rPr>
              <a:t>)+</a:t>
            </a:r>
            <a:r>
              <a:rPr lang="en-US" altLang="zh-CN" b="1" i="1" dirty="0" smtClean="0">
                <a:solidFill>
                  <a:schemeClr val="bg2"/>
                </a:solidFill>
              </a:rPr>
              <a:t>n</a:t>
            </a:r>
            <a:r>
              <a:rPr lang="en-US" altLang="zh-CN" b="1" dirty="0" smtClean="0">
                <a:solidFill>
                  <a:schemeClr val="bg2"/>
                </a:solidFill>
              </a:rPr>
              <a:t>-1      (</a:t>
            </a:r>
            <a:r>
              <a:rPr lang="en-US" altLang="zh-CN" b="1" i="1" dirty="0" smtClean="0">
                <a:solidFill>
                  <a:schemeClr val="bg2"/>
                </a:solidFill>
              </a:rPr>
              <a:t>n</a:t>
            </a:r>
            <a:r>
              <a:rPr lang="en-US" altLang="zh-CN" b="1" dirty="0" smtClean="0">
                <a:solidFill>
                  <a:schemeClr val="bg2"/>
                </a:solidFill>
              </a:rPr>
              <a:t>&gt;1)</a:t>
            </a:r>
            <a:endParaRPr lang="en-US" altLang="zh-CN" dirty="0">
              <a:solidFill>
                <a:schemeClr val="bg2"/>
              </a:solidFill>
            </a:endParaRPr>
          </a:p>
          <a:p>
            <a:pPr>
              <a:lnSpc>
                <a:spcPct val="130000"/>
              </a:lnSpc>
            </a:pPr>
            <a:r>
              <a:rPr lang="en-US" altLang="zh-CN" b="1" i="1" dirty="0" smtClean="0">
                <a:solidFill>
                  <a:schemeClr val="bg2"/>
                </a:solidFill>
              </a:rPr>
              <a:t>        F</a:t>
            </a:r>
            <a:r>
              <a:rPr lang="en-US" altLang="zh-CN" b="1" dirty="0" smtClean="0">
                <a:solidFill>
                  <a:schemeClr val="bg2"/>
                </a:solidFill>
              </a:rPr>
              <a:t>(1</a:t>
            </a:r>
            <a:r>
              <a:rPr lang="en-US" altLang="zh-CN" b="1" dirty="0">
                <a:solidFill>
                  <a:schemeClr val="bg2"/>
                </a:solidFill>
              </a:rPr>
              <a:t>)=0 </a:t>
            </a:r>
            <a:r>
              <a:rPr lang="en-US" altLang="zh-CN" b="1" dirty="0" smtClean="0">
                <a:solidFill>
                  <a:schemeClr val="bg2"/>
                </a:solidFill>
              </a:rPr>
              <a:t>                        (</a:t>
            </a:r>
            <a:r>
              <a:rPr lang="en-US" altLang="zh-CN" b="1" i="1" dirty="0" smtClean="0">
                <a:solidFill>
                  <a:schemeClr val="bg2"/>
                </a:solidFill>
              </a:rPr>
              <a:t>n</a:t>
            </a:r>
            <a:r>
              <a:rPr lang="en-US" altLang="zh-CN" b="1" dirty="0" smtClean="0">
                <a:solidFill>
                  <a:schemeClr val="bg2"/>
                </a:solidFill>
              </a:rPr>
              <a:t>=1)</a:t>
            </a:r>
            <a:endParaRPr lang="en-US" altLang="zh-CN" dirty="0">
              <a:solidFill>
                <a:schemeClr val="bg2"/>
              </a:solidFill>
            </a:endParaRPr>
          </a:p>
          <a:p>
            <a:pPr>
              <a:lnSpc>
                <a:spcPct val="130000"/>
              </a:lnSpc>
            </a:pPr>
            <a:r>
              <a:rPr lang="zh-CN" altLang="en-US" b="1" dirty="0">
                <a:solidFill>
                  <a:srgbClr val="FF0000"/>
                </a:solidFill>
              </a:rPr>
              <a:t>换元： </a:t>
            </a:r>
            <a:endParaRPr lang="zh-CN" altLang="en-US" dirty="0">
              <a:solidFill>
                <a:srgbClr val="FF0000"/>
              </a:solidFill>
            </a:endParaRPr>
          </a:p>
          <a:p>
            <a:pPr>
              <a:lnSpc>
                <a:spcPct val="130000"/>
              </a:lnSpc>
            </a:pPr>
            <a:r>
              <a:rPr lang="en-US" altLang="zh-CN" b="1" i="1" dirty="0" smtClean="0">
                <a:solidFill>
                  <a:srgbClr val="FF0000"/>
                </a:solidFill>
              </a:rPr>
              <a:t>        F</a:t>
            </a:r>
            <a:r>
              <a:rPr lang="en-US" altLang="zh-CN" b="1" dirty="0" smtClean="0">
                <a:solidFill>
                  <a:srgbClr val="FF0000"/>
                </a:solidFill>
              </a:rPr>
              <a:t>(2</a:t>
            </a:r>
            <a:r>
              <a:rPr lang="en-US" altLang="zh-CN" b="1" i="1" baseline="30000" dirty="0" smtClean="0">
                <a:solidFill>
                  <a:srgbClr val="FF0000"/>
                </a:solidFill>
              </a:rPr>
              <a:t>k</a:t>
            </a:r>
            <a:r>
              <a:rPr lang="en-US" altLang="zh-CN" b="1" i="1" dirty="0" smtClean="0">
                <a:solidFill>
                  <a:srgbClr val="FF0000"/>
                </a:solidFill>
              </a:rPr>
              <a:t> </a:t>
            </a:r>
            <a:r>
              <a:rPr lang="en-US" altLang="zh-CN" b="1" dirty="0">
                <a:solidFill>
                  <a:srgbClr val="FF0000"/>
                </a:solidFill>
              </a:rPr>
              <a:t>) = </a:t>
            </a:r>
            <a:r>
              <a:rPr lang="en-US" altLang="zh-CN" b="1" dirty="0" smtClean="0">
                <a:solidFill>
                  <a:srgbClr val="FF0000"/>
                </a:solidFill>
              </a:rPr>
              <a:t>2</a:t>
            </a:r>
            <a:r>
              <a:rPr lang="en-US" altLang="zh-CN" b="1" i="1" dirty="0" smtClean="0">
                <a:solidFill>
                  <a:srgbClr val="FF0000"/>
                </a:solidFill>
              </a:rPr>
              <a:t>F</a:t>
            </a:r>
            <a:r>
              <a:rPr lang="en-US" altLang="zh-CN" b="1" dirty="0" smtClean="0">
                <a:solidFill>
                  <a:srgbClr val="FF0000"/>
                </a:solidFill>
              </a:rPr>
              <a:t>(2</a:t>
            </a:r>
            <a:r>
              <a:rPr lang="en-US" altLang="zh-CN" b="1" i="1" baseline="30000" dirty="0" smtClean="0">
                <a:solidFill>
                  <a:srgbClr val="FF0000"/>
                </a:solidFill>
              </a:rPr>
              <a:t>k-1</a:t>
            </a:r>
            <a:r>
              <a:rPr lang="en-US" altLang="zh-CN" b="1" dirty="0" smtClean="0">
                <a:solidFill>
                  <a:srgbClr val="FF0000"/>
                </a:solidFill>
              </a:rPr>
              <a:t> </a:t>
            </a:r>
            <a:r>
              <a:rPr lang="en-US" altLang="zh-CN" b="1" dirty="0">
                <a:solidFill>
                  <a:srgbClr val="FF0000"/>
                </a:solidFill>
              </a:rPr>
              <a:t>) + </a:t>
            </a:r>
            <a:r>
              <a:rPr lang="en-US" altLang="zh-CN" b="1" dirty="0" smtClean="0">
                <a:solidFill>
                  <a:srgbClr val="FF0000"/>
                </a:solidFill>
              </a:rPr>
              <a:t>2</a:t>
            </a:r>
            <a:r>
              <a:rPr lang="en-US" altLang="zh-CN" b="1" i="1" baseline="30000" dirty="0" smtClean="0">
                <a:solidFill>
                  <a:srgbClr val="FF0000"/>
                </a:solidFill>
              </a:rPr>
              <a:t>k</a:t>
            </a:r>
            <a:r>
              <a:rPr lang="en-US" altLang="zh-CN" b="1" dirty="0" smtClean="0">
                <a:solidFill>
                  <a:srgbClr val="FF0000"/>
                </a:solidFill>
              </a:rPr>
              <a:t>-1 </a:t>
            </a:r>
            <a:endParaRPr lang="en-US" altLang="zh-CN" dirty="0">
              <a:solidFill>
                <a:srgbClr val="FF0000"/>
              </a:solidFill>
            </a:endParaRPr>
          </a:p>
          <a:p>
            <a:pPr>
              <a:lnSpc>
                <a:spcPct val="130000"/>
              </a:lnSpc>
            </a:pPr>
            <a:r>
              <a:rPr lang="en-US" altLang="zh-CN" b="1" i="1" dirty="0" smtClean="0">
                <a:solidFill>
                  <a:srgbClr val="FF0000"/>
                </a:solidFill>
              </a:rPr>
              <a:t>        F</a:t>
            </a:r>
            <a:r>
              <a:rPr lang="en-US" altLang="zh-CN" b="1" dirty="0" smtClean="0">
                <a:solidFill>
                  <a:srgbClr val="FF0000"/>
                </a:solidFill>
              </a:rPr>
              <a:t>(0</a:t>
            </a:r>
            <a:r>
              <a:rPr lang="en-US" altLang="zh-CN" b="1" dirty="0">
                <a:solidFill>
                  <a:srgbClr val="FF0000"/>
                </a:solidFill>
              </a:rPr>
              <a:t>) = 0</a:t>
            </a:r>
            <a:endParaRPr lang="en-US" altLang="zh-CN" b="1" dirty="0">
              <a:solidFill>
                <a:srgbClr val="FF0000"/>
              </a:solidFill>
            </a:endParaRPr>
          </a:p>
        </p:txBody>
      </p:sp>
      <p:graphicFrame>
        <p:nvGraphicFramePr>
          <p:cNvPr id="3" name="对象 2">
            <a:hlinkClick r:id="" action="ppaction://ole?verb="/>
          </p:cNvPr>
          <p:cNvGraphicFramePr>
            <a:graphicFrameLocks noChangeAspect="1"/>
          </p:cNvGraphicFramePr>
          <p:nvPr/>
        </p:nvGraphicFramePr>
        <p:xfrm>
          <a:off x="2267585" y="1701165"/>
          <a:ext cx="4991735" cy="1116330"/>
        </p:xfrm>
        <a:graphic>
          <a:graphicData uri="http://schemas.openxmlformats.org/presentationml/2006/ole">
            <mc:AlternateContent xmlns:mc="http://schemas.openxmlformats.org/markup-compatibility/2006">
              <mc:Choice xmlns:v="urn:schemas-microsoft-com:vml" Requires="v">
                <p:oleObj spid="_x0000_s1025" name="" r:id="rId1" imgW="2044700" imgH="457200" progId="Equation.KSEE3">
                  <p:embed/>
                </p:oleObj>
              </mc:Choice>
              <mc:Fallback>
                <p:oleObj name="" r:id="rId1" imgW="2044700" imgH="457200" progId="Equation.KSEE3">
                  <p:embed/>
                  <p:pic>
                    <p:nvPicPr>
                      <p:cNvPr id="0" name="20 1024"/>
                      <p:cNvPicPr/>
                      <p:nvPr/>
                    </p:nvPicPr>
                    <p:blipFill>
                      <a:blip r:embed="rId2"/>
                      <a:stretch>
                        <a:fillRect/>
                      </a:stretch>
                    </p:blipFill>
                    <p:spPr>
                      <a:xfrm>
                        <a:off x="2267585" y="1701165"/>
                        <a:ext cx="4991735" cy="1116330"/>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wipe(left)">
                                      <p:cBhvr>
                                        <p:cTn id="7" dur="500"/>
                                        <p:tgtEl>
                                          <p:spTgt spid="4">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wipe(left)">
                                      <p:cBhvr>
                                        <p:cTn id="10" dur="500"/>
                                        <p:tgtEl>
                                          <p:spTgt spid="4">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wipe(left)">
                                      <p:cBhvr>
                                        <p:cTn id="13"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pic>
        <p:nvPicPr>
          <p:cNvPr id="317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9632" y="1717184"/>
            <a:ext cx="6984776" cy="470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wipe(left)">
                                      <p:cBhvr>
                                        <p:cTn id="7" dur="500"/>
                                        <p:tgtEl>
                                          <p:spTgt spid="31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4" name="矩形 3"/>
          <p:cNvSpPr/>
          <p:nvPr/>
        </p:nvSpPr>
        <p:spPr>
          <a:xfrm>
            <a:off x="631736" y="1628800"/>
            <a:ext cx="7416824" cy="4413516"/>
          </a:xfrm>
          <a:prstGeom prst="rect">
            <a:avLst/>
          </a:prstGeom>
        </p:spPr>
        <p:txBody>
          <a:bodyPr wrap="square">
            <a:spAutoFit/>
          </a:bodyPr>
          <a:lstStyle/>
          <a:p>
            <a:pPr>
              <a:lnSpc>
                <a:spcPct val="130000"/>
              </a:lnSpc>
            </a:pPr>
            <a:r>
              <a:rPr lang="zh-CN" altLang="en-US" b="1" dirty="0">
                <a:solidFill>
                  <a:schemeClr val="bg2"/>
                </a:solidFill>
              </a:rPr>
              <a:t>解的</a:t>
            </a:r>
            <a:r>
              <a:rPr lang="zh-CN" altLang="en-US" b="1" dirty="0" smtClean="0">
                <a:solidFill>
                  <a:schemeClr val="bg2"/>
                </a:solidFill>
              </a:rPr>
              <a:t>正确性</a:t>
            </a:r>
            <a:r>
              <a:rPr lang="en-US" altLang="zh-CN" b="1" dirty="0" smtClean="0">
                <a:solidFill>
                  <a:schemeClr val="bg2"/>
                </a:solidFill>
              </a:rPr>
              <a:t>——</a:t>
            </a:r>
            <a:r>
              <a:rPr lang="zh-CN" altLang="en-US" b="1" dirty="0" smtClean="0">
                <a:solidFill>
                  <a:schemeClr val="bg2"/>
                </a:solidFill>
              </a:rPr>
              <a:t>归纳法验证 </a:t>
            </a:r>
            <a:endParaRPr lang="zh-CN" altLang="en-US" dirty="0">
              <a:solidFill>
                <a:schemeClr val="bg2"/>
              </a:solidFill>
            </a:endParaRPr>
          </a:p>
          <a:p>
            <a:pPr>
              <a:lnSpc>
                <a:spcPct val="130000"/>
              </a:lnSpc>
            </a:pPr>
            <a:r>
              <a:rPr lang="zh-CN" altLang="en-US" b="1" dirty="0">
                <a:solidFill>
                  <a:schemeClr val="bg2"/>
                </a:solidFill>
              </a:rPr>
              <a:t>证明</a:t>
            </a:r>
            <a:r>
              <a:rPr lang="en-US" altLang="zh-CN" b="1" dirty="0">
                <a:solidFill>
                  <a:schemeClr val="bg2"/>
                </a:solidFill>
              </a:rPr>
              <a:t>:</a:t>
            </a:r>
            <a:r>
              <a:rPr lang="zh-CN" altLang="en-US" b="1" dirty="0">
                <a:solidFill>
                  <a:schemeClr val="bg2"/>
                </a:solidFill>
              </a:rPr>
              <a:t>下述递推</a:t>
            </a:r>
            <a:r>
              <a:rPr lang="zh-CN" altLang="en-US" b="1" dirty="0" smtClean="0">
                <a:solidFill>
                  <a:schemeClr val="bg2"/>
                </a:solidFill>
              </a:rPr>
              <a:t>方程     </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1</a:t>
            </a:r>
            <a:r>
              <a:rPr lang="en-US" altLang="zh-CN" b="1" dirty="0">
                <a:solidFill>
                  <a:schemeClr val="bg2"/>
                </a:solidFill>
              </a:rPr>
              <a:t>)+</a:t>
            </a:r>
            <a:r>
              <a:rPr lang="en-US" altLang="zh-CN" b="1" i="1" dirty="0" smtClean="0">
                <a:solidFill>
                  <a:schemeClr val="bg2"/>
                </a:solidFill>
              </a:rPr>
              <a:t>n</a:t>
            </a:r>
            <a:r>
              <a:rPr lang="en-US" altLang="zh-CN" b="1" dirty="0">
                <a:solidFill>
                  <a:schemeClr val="bg2"/>
                </a:solidFill>
              </a:rPr>
              <a:t>-</a:t>
            </a:r>
            <a:r>
              <a:rPr lang="en-US" altLang="zh-CN" b="1" dirty="0" smtClean="0">
                <a:solidFill>
                  <a:schemeClr val="bg2"/>
                </a:solidFill>
              </a:rPr>
              <a:t>1 </a:t>
            </a:r>
            <a:endParaRPr lang="en-US" altLang="zh-CN" dirty="0">
              <a:solidFill>
                <a:schemeClr val="bg2"/>
              </a:solidFill>
            </a:endParaRPr>
          </a:p>
          <a:p>
            <a:pPr lvl="5">
              <a:lnSpc>
                <a:spcPct val="130000"/>
              </a:lnSpc>
            </a:pPr>
            <a:r>
              <a:rPr lang="en-US" altLang="zh-CN" b="1" i="1" dirty="0" smtClean="0">
                <a:solidFill>
                  <a:schemeClr val="bg2"/>
                </a:solidFill>
              </a:rPr>
              <a:t>        W</a:t>
            </a:r>
            <a:r>
              <a:rPr lang="en-US" altLang="zh-CN" b="1" dirty="0" smtClean="0">
                <a:solidFill>
                  <a:schemeClr val="bg2"/>
                </a:solidFill>
              </a:rPr>
              <a:t>(1</a:t>
            </a:r>
            <a:r>
              <a:rPr lang="en-US" altLang="zh-CN" b="1" dirty="0">
                <a:solidFill>
                  <a:schemeClr val="bg2"/>
                </a:solidFill>
              </a:rPr>
              <a:t>)=0 </a:t>
            </a:r>
            <a:endParaRPr lang="en-US" altLang="zh-CN" b="1" dirty="0">
              <a:solidFill>
                <a:schemeClr val="bg2"/>
              </a:solidFill>
            </a:endParaRPr>
          </a:p>
          <a:p>
            <a:pPr lvl="5" indent="-1478280">
              <a:lnSpc>
                <a:spcPct val="130000"/>
              </a:lnSpc>
            </a:pPr>
            <a:r>
              <a:rPr lang="zh-CN" altLang="en-US" b="1" dirty="0" smtClean="0">
                <a:solidFill>
                  <a:schemeClr val="bg2"/>
                </a:solidFill>
              </a:rPr>
              <a:t>的</a:t>
            </a:r>
            <a:r>
              <a:rPr lang="zh-CN" altLang="en-US" b="1" dirty="0">
                <a:solidFill>
                  <a:schemeClr val="bg2"/>
                </a:solidFill>
              </a:rPr>
              <a:t>解是 </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1)/</a:t>
            </a:r>
            <a:r>
              <a:rPr lang="en-US" altLang="zh-CN" b="1" dirty="0" smtClean="0">
                <a:solidFill>
                  <a:schemeClr val="bg2"/>
                </a:solidFill>
              </a:rPr>
              <a:t>2</a:t>
            </a:r>
            <a:endParaRPr lang="en-US" altLang="zh-CN" dirty="0">
              <a:solidFill>
                <a:schemeClr val="bg2"/>
              </a:solidFill>
            </a:endParaRPr>
          </a:p>
          <a:p>
            <a:pPr>
              <a:lnSpc>
                <a:spcPct val="130000"/>
              </a:lnSpc>
            </a:pPr>
            <a:r>
              <a:rPr lang="zh-CN" altLang="en-US" b="1" dirty="0">
                <a:solidFill>
                  <a:schemeClr val="bg2"/>
                </a:solidFill>
              </a:rPr>
              <a:t>方法：数学归纳法 </a:t>
            </a:r>
            <a:endParaRPr lang="zh-CN" altLang="en-US" dirty="0">
              <a:solidFill>
                <a:schemeClr val="bg2"/>
              </a:solidFill>
            </a:endParaRPr>
          </a:p>
          <a:p>
            <a:pPr>
              <a:lnSpc>
                <a:spcPct val="130000"/>
              </a:lnSpc>
            </a:pPr>
            <a:r>
              <a:rPr lang="zh-CN" altLang="en-US" b="1" dirty="0">
                <a:solidFill>
                  <a:schemeClr val="bg2"/>
                </a:solidFill>
              </a:rPr>
              <a:t>证 </a:t>
            </a:r>
            <a:r>
              <a:rPr lang="en-US" altLang="zh-CN" b="1" i="1" dirty="0">
                <a:solidFill>
                  <a:schemeClr val="bg2"/>
                </a:solidFill>
              </a:rPr>
              <a:t>n</a:t>
            </a:r>
            <a:r>
              <a:rPr lang="en-US" altLang="zh-CN" b="1" dirty="0">
                <a:solidFill>
                  <a:schemeClr val="bg2"/>
                </a:solidFill>
              </a:rPr>
              <a:t>=1</a:t>
            </a:r>
            <a:r>
              <a:rPr lang="zh-CN" altLang="en-US" b="1" dirty="0">
                <a:solidFill>
                  <a:schemeClr val="bg2"/>
                </a:solidFill>
              </a:rPr>
              <a:t>，</a:t>
            </a:r>
            <a:r>
              <a:rPr lang="en-US" altLang="zh-CN" b="1" i="1" dirty="0">
                <a:solidFill>
                  <a:schemeClr val="bg2"/>
                </a:solidFill>
              </a:rPr>
              <a:t>W</a:t>
            </a:r>
            <a:r>
              <a:rPr lang="en-US" altLang="zh-CN" b="1" dirty="0">
                <a:solidFill>
                  <a:schemeClr val="bg2"/>
                </a:solidFill>
              </a:rPr>
              <a:t>(1)=</a:t>
            </a:r>
            <a:r>
              <a:rPr lang="en-US" altLang="zh-CN" b="1" dirty="0" smtClean="0">
                <a:solidFill>
                  <a:schemeClr val="bg2"/>
                </a:solidFill>
              </a:rPr>
              <a:t>1</a:t>
            </a:r>
            <a:r>
              <a:rPr lang="zh-CN" altLang="en-US" b="1" dirty="0" smtClean="0">
                <a:solidFill>
                  <a:schemeClr val="bg2"/>
                </a:solidFill>
              </a:rPr>
              <a:t>*</a:t>
            </a:r>
            <a:r>
              <a:rPr lang="en-US" altLang="zh-CN" b="1" dirty="0" smtClean="0">
                <a:solidFill>
                  <a:schemeClr val="bg2"/>
                </a:solidFill>
              </a:rPr>
              <a:t>(1-1</a:t>
            </a:r>
            <a:r>
              <a:rPr lang="en-US" altLang="zh-CN" b="1" dirty="0">
                <a:solidFill>
                  <a:schemeClr val="bg2"/>
                </a:solidFill>
              </a:rPr>
              <a:t>)/2 = 0 </a:t>
            </a:r>
            <a:r>
              <a:rPr lang="zh-CN" altLang="en-US" b="1" dirty="0" smtClean="0">
                <a:solidFill>
                  <a:schemeClr val="bg2"/>
                </a:solidFill>
              </a:rPr>
              <a:t>，</a:t>
            </a:r>
            <a:endParaRPr lang="en-US" altLang="zh-CN" b="1" dirty="0" smtClean="0">
              <a:solidFill>
                <a:schemeClr val="bg2"/>
              </a:solidFill>
            </a:endParaRPr>
          </a:p>
          <a:p>
            <a:pPr>
              <a:lnSpc>
                <a:spcPct val="130000"/>
              </a:lnSpc>
            </a:pPr>
            <a:r>
              <a:rPr lang="zh-CN" altLang="en-US" b="1" dirty="0" smtClean="0">
                <a:solidFill>
                  <a:schemeClr val="bg2"/>
                </a:solidFill>
              </a:rPr>
              <a:t>假设</a:t>
            </a:r>
            <a:r>
              <a:rPr lang="zh-CN" altLang="en-US" b="1" dirty="0">
                <a:solidFill>
                  <a:schemeClr val="bg2"/>
                </a:solidFill>
              </a:rPr>
              <a:t>对于</a:t>
            </a:r>
            <a:r>
              <a:rPr lang="en-US" altLang="zh-CN" b="1" i="1" dirty="0">
                <a:solidFill>
                  <a:schemeClr val="bg2"/>
                </a:solidFill>
              </a:rPr>
              <a:t>n , </a:t>
            </a:r>
            <a:r>
              <a:rPr lang="zh-CN" altLang="en-US" b="1" dirty="0">
                <a:solidFill>
                  <a:schemeClr val="bg2"/>
                </a:solidFill>
              </a:rPr>
              <a:t>解满足方程，则 </a:t>
            </a:r>
            <a:endParaRPr lang="zh-CN" altLang="en-US" dirty="0">
              <a:solidFill>
                <a:schemeClr val="bg2"/>
              </a:solidFill>
            </a:endParaRPr>
          </a:p>
          <a:p>
            <a:pPr>
              <a:lnSpc>
                <a:spcPct val="130000"/>
              </a:lnSpc>
            </a:pP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 = </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n-1</a:t>
            </a:r>
            <a:r>
              <a:rPr lang="en-US" altLang="zh-CN" b="1" dirty="0" smtClean="0">
                <a:solidFill>
                  <a:schemeClr val="bg2"/>
                </a:solidFill>
              </a:rPr>
              <a:t>)+</a:t>
            </a:r>
            <a:r>
              <a:rPr lang="en-US" altLang="zh-CN" b="1" i="1" dirty="0" smtClean="0">
                <a:solidFill>
                  <a:schemeClr val="bg2"/>
                </a:solidFill>
              </a:rPr>
              <a:t>n-1 </a:t>
            </a:r>
            <a:r>
              <a:rPr lang="en-US" altLang="zh-CN" b="1" dirty="0">
                <a:solidFill>
                  <a:schemeClr val="bg2"/>
                </a:solidFill>
              </a:rPr>
              <a:t>= </a:t>
            </a:r>
            <a:r>
              <a:rPr lang="en-US" altLang="zh-CN" b="1" dirty="0" smtClean="0">
                <a:solidFill>
                  <a:schemeClr val="bg2"/>
                </a:solidFill>
              </a:rPr>
              <a:t>(</a:t>
            </a:r>
            <a:r>
              <a:rPr lang="en-US" altLang="zh-CN" b="1" i="1" dirty="0" smtClean="0">
                <a:solidFill>
                  <a:schemeClr val="bg2"/>
                </a:solidFill>
              </a:rPr>
              <a:t>n-2)</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1</a:t>
            </a:r>
            <a:r>
              <a:rPr lang="en-US" altLang="zh-CN" b="1" dirty="0">
                <a:solidFill>
                  <a:schemeClr val="bg2"/>
                </a:solidFill>
              </a:rPr>
              <a:t>)/2 + </a:t>
            </a:r>
            <a:r>
              <a:rPr lang="en-US" altLang="zh-CN" b="1" i="1" dirty="0">
                <a:solidFill>
                  <a:schemeClr val="bg2"/>
                </a:solidFill>
              </a:rPr>
              <a:t>n </a:t>
            </a:r>
            <a:r>
              <a:rPr lang="en-US" altLang="zh-CN" b="1" dirty="0" smtClean="0">
                <a:solidFill>
                  <a:schemeClr val="bg2"/>
                </a:solidFill>
              </a:rPr>
              <a:t>-1</a:t>
            </a:r>
            <a:endParaRPr lang="en-US" altLang="zh-CN" dirty="0">
              <a:solidFill>
                <a:schemeClr val="bg2"/>
              </a:solidFill>
            </a:endParaRPr>
          </a:p>
          <a:p>
            <a:pPr>
              <a:lnSpc>
                <a:spcPct val="130000"/>
              </a:lnSpc>
            </a:pPr>
            <a:r>
              <a:rPr lang="en-US" altLang="zh-CN" b="1" dirty="0">
                <a:solidFill>
                  <a:schemeClr val="bg2"/>
                </a:solidFill>
              </a:rPr>
              <a:t>= </a:t>
            </a:r>
            <a:r>
              <a:rPr lang="en-US" altLang="zh-CN" b="1" dirty="0" smtClean="0">
                <a:solidFill>
                  <a:schemeClr val="bg2"/>
                </a:solidFill>
              </a:rPr>
              <a:t>(</a:t>
            </a:r>
            <a:r>
              <a:rPr lang="en-US" altLang="zh-CN" b="1" i="1" dirty="0" smtClean="0">
                <a:solidFill>
                  <a:schemeClr val="bg2"/>
                </a:solidFill>
              </a:rPr>
              <a:t>n</a:t>
            </a:r>
            <a:r>
              <a:rPr lang="en-US" altLang="zh-CN" b="1" i="1" baseline="30000" dirty="0" smtClean="0">
                <a:solidFill>
                  <a:schemeClr val="bg2"/>
                </a:solidFill>
              </a:rPr>
              <a:t>2</a:t>
            </a:r>
            <a:r>
              <a:rPr lang="en-US" altLang="zh-CN" b="1" i="1" dirty="0" smtClean="0">
                <a:solidFill>
                  <a:schemeClr val="bg2"/>
                </a:solidFill>
              </a:rPr>
              <a:t>-n</a:t>
            </a:r>
            <a:r>
              <a:rPr lang="en-US" altLang="zh-CN" b="1" dirty="0" smtClean="0">
                <a:solidFill>
                  <a:schemeClr val="bg2"/>
                </a:solidFill>
              </a:rPr>
              <a:t>)</a:t>
            </a:r>
            <a:r>
              <a:rPr lang="en-US" altLang="zh-CN" b="1" i="1" dirty="0" smtClean="0">
                <a:solidFill>
                  <a:schemeClr val="bg2"/>
                </a:solidFill>
              </a:rPr>
              <a:t>/2=n(n-</a:t>
            </a:r>
            <a:r>
              <a:rPr lang="en-US" altLang="zh-CN" b="1" dirty="0" smtClean="0">
                <a:solidFill>
                  <a:schemeClr val="bg2"/>
                </a:solidFill>
              </a:rPr>
              <a:t>1)/2</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wipe(left)">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wipe(left)">
                                      <p:cBhvr>
                                        <p:cTn id="12" dur="500"/>
                                        <p:tgtEl>
                                          <p:spTgt spid="4">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wipe(left)">
                                      <p:cBhvr>
                                        <p:cTn id="17" dur="500"/>
                                        <p:tgtEl>
                                          <p:spTgt spid="4">
                                            <p:txEl>
                                              <p:pRg st="6" end="6"/>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4">
                                            <p:txEl>
                                              <p:pRg st="7" end="7"/>
                                            </p:txEl>
                                          </p:spTgt>
                                        </p:tgtEl>
                                        <p:attrNameLst>
                                          <p:attrName>style.visibility</p:attrName>
                                        </p:attrNameLst>
                                      </p:cBhvr>
                                      <p:to>
                                        <p:strVal val="visible"/>
                                      </p:to>
                                    </p:set>
                                    <p:animEffect transition="in" filter="wipe(left)">
                                      <p:cBhvr>
                                        <p:cTn id="20" dur="500"/>
                                        <p:tgtEl>
                                          <p:spTgt spid="4">
                                            <p:txEl>
                                              <p:pRg st="7" end="7"/>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animEffect transition="in" filter="wipe(left)">
                                      <p:cBhvr>
                                        <p:cTn id="23"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4" name="矩形 3"/>
          <p:cNvSpPr/>
          <p:nvPr/>
        </p:nvSpPr>
        <p:spPr>
          <a:xfrm>
            <a:off x="631736" y="1628800"/>
            <a:ext cx="7416824" cy="3453253"/>
          </a:xfrm>
          <a:prstGeom prst="rect">
            <a:avLst/>
          </a:prstGeom>
        </p:spPr>
        <p:txBody>
          <a:bodyPr wrap="square">
            <a:spAutoFit/>
          </a:bodyPr>
          <a:lstStyle/>
          <a:p>
            <a:pPr>
              <a:lnSpc>
                <a:spcPct val="130000"/>
              </a:lnSpc>
            </a:pPr>
            <a:r>
              <a:rPr lang="zh-CN" altLang="en-US" b="1" dirty="0" smtClean="0">
                <a:solidFill>
                  <a:schemeClr val="bg2"/>
                </a:solidFill>
              </a:rPr>
              <a:t>证明</a:t>
            </a:r>
            <a:r>
              <a:rPr lang="en-US" altLang="zh-CN" b="1" dirty="0">
                <a:solidFill>
                  <a:schemeClr val="bg2"/>
                </a:solidFill>
              </a:rPr>
              <a:t>:</a:t>
            </a:r>
            <a:r>
              <a:rPr lang="zh-CN" altLang="en-US" b="1" dirty="0">
                <a:solidFill>
                  <a:schemeClr val="bg2"/>
                </a:solidFill>
              </a:rPr>
              <a:t>下述递推</a:t>
            </a:r>
            <a:r>
              <a:rPr lang="zh-CN" altLang="en-US" b="1" dirty="0" smtClean="0">
                <a:solidFill>
                  <a:schemeClr val="bg2"/>
                </a:solidFill>
              </a:rPr>
              <a:t>方程     </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)=2</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n/2</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a:t>
            </a:r>
            <a:r>
              <a:rPr lang="en-US" altLang="zh-CN" b="1" dirty="0" smtClean="0">
                <a:solidFill>
                  <a:schemeClr val="bg2"/>
                </a:solidFill>
              </a:rPr>
              <a:t>1 </a:t>
            </a:r>
            <a:endParaRPr lang="en-US" altLang="zh-CN" dirty="0">
              <a:solidFill>
                <a:schemeClr val="bg2"/>
              </a:solidFill>
            </a:endParaRPr>
          </a:p>
          <a:p>
            <a:pPr lvl="5">
              <a:lnSpc>
                <a:spcPct val="130000"/>
              </a:lnSpc>
            </a:pPr>
            <a:r>
              <a:rPr lang="en-US" altLang="zh-CN" b="1" i="1" dirty="0" smtClean="0">
                <a:solidFill>
                  <a:schemeClr val="bg2"/>
                </a:solidFill>
              </a:rPr>
              <a:t>        W</a:t>
            </a:r>
            <a:r>
              <a:rPr lang="en-US" altLang="zh-CN" b="1" dirty="0" smtClean="0">
                <a:solidFill>
                  <a:schemeClr val="bg2"/>
                </a:solidFill>
              </a:rPr>
              <a:t>(1</a:t>
            </a:r>
            <a:r>
              <a:rPr lang="en-US" altLang="zh-CN" b="1" dirty="0">
                <a:solidFill>
                  <a:schemeClr val="bg2"/>
                </a:solidFill>
              </a:rPr>
              <a:t>)=0 </a:t>
            </a:r>
            <a:endParaRPr lang="en-US" altLang="zh-CN" b="1" dirty="0" smtClean="0">
              <a:solidFill>
                <a:schemeClr val="bg2"/>
              </a:solidFill>
            </a:endParaRPr>
          </a:p>
          <a:p>
            <a:pPr lvl="5" indent="-1478280">
              <a:lnSpc>
                <a:spcPct val="130000"/>
              </a:lnSpc>
            </a:pPr>
            <a:r>
              <a:rPr lang="zh-CN" altLang="en-US" b="1" dirty="0">
                <a:solidFill>
                  <a:schemeClr val="bg2"/>
                </a:solidFill>
              </a:rPr>
              <a:t>的解是 </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log</a:t>
            </a:r>
            <a:r>
              <a:rPr lang="en-US" altLang="zh-CN" b="1" i="1" dirty="0">
                <a:solidFill>
                  <a:schemeClr val="bg2"/>
                </a:solidFill>
              </a:rPr>
              <a:t>n</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+1</a:t>
            </a:r>
            <a:endParaRPr lang="en-US" altLang="zh-CN" dirty="0">
              <a:solidFill>
                <a:schemeClr val="bg2"/>
              </a:solidFill>
            </a:endParaRPr>
          </a:p>
          <a:p>
            <a:pPr>
              <a:lnSpc>
                <a:spcPct val="130000"/>
              </a:lnSpc>
            </a:pPr>
            <a:r>
              <a:rPr lang="zh-CN" altLang="en-US" b="1" dirty="0">
                <a:solidFill>
                  <a:schemeClr val="bg2"/>
                </a:solidFill>
              </a:rPr>
              <a:t>方法：数学归纳法 </a:t>
            </a:r>
            <a:endParaRPr lang="zh-CN" altLang="en-US" dirty="0">
              <a:solidFill>
                <a:schemeClr val="bg2"/>
              </a:solidFill>
            </a:endParaRPr>
          </a:p>
          <a:p>
            <a:pPr>
              <a:lnSpc>
                <a:spcPct val="130000"/>
              </a:lnSpc>
            </a:pPr>
            <a:r>
              <a:rPr lang="zh-CN" altLang="en-US" b="1" dirty="0">
                <a:solidFill>
                  <a:schemeClr val="bg2"/>
                </a:solidFill>
              </a:rPr>
              <a:t>证 </a:t>
            </a:r>
            <a:r>
              <a:rPr lang="en-US" altLang="zh-CN" b="1" i="1" dirty="0">
                <a:solidFill>
                  <a:schemeClr val="bg2"/>
                </a:solidFill>
              </a:rPr>
              <a:t>n</a:t>
            </a:r>
            <a:r>
              <a:rPr lang="en-US" altLang="zh-CN" b="1" dirty="0">
                <a:solidFill>
                  <a:schemeClr val="bg2"/>
                </a:solidFill>
              </a:rPr>
              <a:t>=1</a:t>
            </a:r>
            <a:r>
              <a:rPr lang="zh-CN" altLang="en-US" b="1" dirty="0">
                <a:solidFill>
                  <a:schemeClr val="bg2"/>
                </a:solidFill>
              </a:rPr>
              <a:t>，</a:t>
            </a:r>
            <a:r>
              <a:rPr lang="en-US" altLang="zh-CN" b="1" i="1" dirty="0">
                <a:solidFill>
                  <a:schemeClr val="bg2"/>
                </a:solidFill>
              </a:rPr>
              <a:t>W</a:t>
            </a:r>
            <a:r>
              <a:rPr lang="en-US" altLang="zh-CN" b="1" dirty="0">
                <a:solidFill>
                  <a:schemeClr val="bg2"/>
                </a:solidFill>
              </a:rPr>
              <a:t>(1)=</a:t>
            </a:r>
            <a:r>
              <a:rPr lang="en-US" altLang="zh-CN" b="1" dirty="0" smtClean="0">
                <a:solidFill>
                  <a:schemeClr val="bg2"/>
                </a:solidFill>
              </a:rPr>
              <a:t>1</a:t>
            </a:r>
            <a:r>
              <a:rPr lang="zh-CN" altLang="en-US" b="1" dirty="0" smtClean="0">
                <a:solidFill>
                  <a:schemeClr val="bg2"/>
                </a:solidFill>
              </a:rPr>
              <a:t>*</a:t>
            </a:r>
            <a:r>
              <a:rPr lang="en-US" altLang="zh-CN" b="1" dirty="0" smtClean="0">
                <a:solidFill>
                  <a:schemeClr val="bg2"/>
                </a:solidFill>
              </a:rPr>
              <a:t>log1-1+1 </a:t>
            </a:r>
            <a:r>
              <a:rPr lang="en-US" altLang="zh-CN" b="1" dirty="0">
                <a:solidFill>
                  <a:schemeClr val="bg2"/>
                </a:solidFill>
              </a:rPr>
              <a:t>= 0 </a:t>
            </a:r>
            <a:r>
              <a:rPr lang="zh-CN" altLang="en-US" b="1" dirty="0" smtClean="0">
                <a:solidFill>
                  <a:schemeClr val="bg2"/>
                </a:solidFill>
              </a:rPr>
              <a:t>，</a:t>
            </a:r>
            <a:endParaRPr lang="en-US" altLang="zh-CN" b="1" dirty="0" smtClean="0">
              <a:solidFill>
                <a:schemeClr val="bg2"/>
              </a:solidFill>
            </a:endParaRPr>
          </a:p>
          <a:p>
            <a:pPr>
              <a:lnSpc>
                <a:spcPct val="130000"/>
              </a:lnSpc>
            </a:pPr>
            <a:r>
              <a:rPr lang="zh-CN" altLang="en-US" b="1" dirty="0" smtClean="0">
                <a:solidFill>
                  <a:schemeClr val="bg2"/>
                </a:solidFill>
              </a:rPr>
              <a:t>假设</a:t>
            </a:r>
            <a:r>
              <a:rPr lang="zh-CN" altLang="en-US" b="1" dirty="0">
                <a:solidFill>
                  <a:schemeClr val="bg2"/>
                </a:solidFill>
              </a:rPr>
              <a:t>对于</a:t>
            </a:r>
            <a:r>
              <a:rPr lang="en-US" altLang="zh-CN" b="1" i="1" dirty="0">
                <a:solidFill>
                  <a:schemeClr val="bg2"/>
                </a:solidFill>
              </a:rPr>
              <a:t>n , </a:t>
            </a:r>
            <a:r>
              <a:rPr lang="zh-CN" altLang="en-US" b="1" dirty="0">
                <a:solidFill>
                  <a:schemeClr val="bg2"/>
                </a:solidFill>
              </a:rPr>
              <a:t>解满足方程，则 </a:t>
            </a:r>
            <a:endParaRPr lang="zh-CN" altLang="en-US" dirty="0">
              <a:solidFill>
                <a:schemeClr val="bg2"/>
              </a:solidFill>
            </a:endParaRPr>
          </a:p>
          <a:p>
            <a:pPr>
              <a:lnSpc>
                <a:spcPct val="130000"/>
              </a:lnSpc>
            </a:pP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 = </a:t>
            </a:r>
            <a:r>
              <a:rPr lang="en-US" altLang="zh-CN" b="1" dirty="0">
                <a:solidFill>
                  <a:schemeClr val="bg2"/>
                </a:solidFill>
              </a:rPr>
              <a:t>2</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n/2</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-1 </a:t>
            </a:r>
            <a:r>
              <a:rPr lang="en-US" altLang="zh-CN" b="1" dirty="0" smtClean="0">
                <a:solidFill>
                  <a:schemeClr val="bg2"/>
                </a:solidFill>
              </a:rPr>
              <a:t>= </a:t>
            </a:r>
            <a:endParaRPr lang="en-US" altLang="zh-CN" dirty="0">
              <a:solidFill>
                <a:schemeClr val="bg2"/>
              </a:solidFill>
            </a:endParaRPr>
          </a:p>
        </p:txBody>
      </p:sp>
      <p:graphicFrame>
        <p:nvGraphicFramePr>
          <p:cNvPr id="3" name="对象 2"/>
          <p:cNvGraphicFramePr>
            <a:graphicFrameLocks noChangeAspect="1"/>
          </p:cNvGraphicFramePr>
          <p:nvPr/>
        </p:nvGraphicFramePr>
        <p:xfrm>
          <a:off x="3779912" y="4509120"/>
          <a:ext cx="3943581" cy="2088232"/>
        </p:xfrm>
        <a:graphic>
          <a:graphicData uri="http://schemas.openxmlformats.org/presentationml/2006/ole">
            <mc:AlternateContent xmlns:mc="http://schemas.openxmlformats.org/markup-compatibility/2006">
              <mc:Choice xmlns:v="urn:schemas-microsoft-com:vml" Requires="v">
                <p:oleObj spid="_x0000_s33810" name="Equation" r:id="rId1" imgW="46634400" imgH="24688800" progId="Equation.DSMT4">
                  <p:embed/>
                </p:oleObj>
              </mc:Choice>
              <mc:Fallback>
                <p:oleObj name="Equation" r:id="rId1" imgW="46634400" imgH="24688800" progId="Equation.DSMT4">
                  <p:embed/>
                  <p:pic>
                    <p:nvPicPr>
                      <p:cNvPr id="0" name="20 33798"/>
                      <p:cNvPicPr/>
                      <p:nvPr/>
                    </p:nvPicPr>
                    <p:blipFill>
                      <a:blip r:embed="rId2"/>
                      <a:stretch>
                        <a:fillRect/>
                      </a:stretch>
                    </p:blipFill>
                    <p:spPr>
                      <a:xfrm>
                        <a:off x="3779912" y="4509120"/>
                        <a:ext cx="3943581" cy="2088232"/>
                      </a:xfrm>
                      <a:prstGeom prst="rect">
                        <a:avLst/>
                      </a:prstGeom>
                      <a:solidFill>
                        <a:schemeClr val="tx1"/>
                      </a:solidFill>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wipe(left)">
                                      <p:cBhvr>
                                        <p:cTn id="7" dur="500"/>
                                        <p:tgtEl>
                                          <p:spTgt spid="4">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wipe(left)">
                                      <p:cBhvr>
                                        <p:cTn id="10" dur="500"/>
                                        <p:tgtEl>
                                          <p:spTgt spid="4">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Effect transition="in" filter="wipe(left)">
                                      <p:cBhvr>
                                        <p:cTn id="15" dur="500"/>
                                        <p:tgtEl>
                                          <p:spTgt spid="4">
                                            <p:txEl>
                                              <p:pRg st="5" end="5"/>
                                            </p:txEl>
                                          </p:spTgt>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Effect transition="in" filter="wipe(left)">
                                      <p:cBhvr>
                                        <p:cTn id="19" dur="500"/>
                                        <p:tgtEl>
                                          <p:spTgt spid="4">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5" name="TextBox 12"/>
          <p:cNvSpPr txBox="1"/>
          <p:nvPr/>
        </p:nvSpPr>
        <p:spPr>
          <a:xfrm>
            <a:off x="457199" y="1674195"/>
            <a:ext cx="3230880" cy="460375"/>
          </a:xfrm>
          <a:prstGeom prst="rect">
            <a:avLst/>
          </a:prstGeom>
          <a:noFill/>
          <a:ln w="9525">
            <a:noFill/>
          </a:ln>
        </p:spPr>
        <p:txBody>
          <a:bodyPr wrap="non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chemeClr val="bg2"/>
                </a:solidFill>
                <a:latin typeface="Calibri" panose="020F0502020204030204" pitchFamily="34" charset="0"/>
                <a:ea typeface="宋体" panose="02010600030101010101" pitchFamily="2" charset="-122"/>
              </a:rPr>
              <a:t>快速排序平均时间分析</a:t>
            </a:r>
            <a:endParaRPr lang="zh-CN" altLang="en-US" sz="2400" dirty="0">
              <a:solidFill>
                <a:schemeClr val="bg2"/>
              </a:solidFill>
              <a:latin typeface="Calibri" panose="020F0502020204030204" pitchFamily="34" charset="0"/>
              <a:ea typeface="宋体" panose="02010600030101010101" pitchFamily="2" charset="-122"/>
            </a:endParaRPr>
          </a:p>
        </p:txBody>
      </p:sp>
      <p:sp>
        <p:nvSpPr>
          <p:cNvPr id="4" name="TextBox 12"/>
          <p:cNvSpPr txBox="1"/>
          <p:nvPr/>
        </p:nvSpPr>
        <p:spPr>
          <a:xfrm>
            <a:off x="631189" y="2062815"/>
            <a:ext cx="7736840" cy="1938020"/>
          </a:xfrm>
          <a:prstGeom prst="rect">
            <a:avLst/>
          </a:prstGeom>
          <a:noFill/>
          <a:ln w="9525">
            <a:noFill/>
          </a:ln>
        </p:spPr>
        <p:txBody>
          <a:bodyPr wrap="non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dirty="0">
                <a:solidFill>
                  <a:schemeClr val="bg2"/>
                </a:solidFill>
                <a:latin typeface="Calibri" panose="020F0502020204030204" pitchFamily="34" charset="0"/>
                <a:ea typeface="宋体" panose="02010600030101010101" pitchFamily="2" charset="-122"/>
              </a:rPr>
              <a:t>（</a:t>
            </a:r>
            <a:r>
              <a:rPr lang="en-US" altLang="zh-CN" sz="2400" dirty="0">
                <a:solidFill>
                  <a:schemeClr val="bg2"/>
                </a:solidFill>
                <a:latin typeface="Calibri" panose="020F0502020204030204" pitchFamily="34" charset="0"/>
                <a:ea typeface="宋体" panose="02010600030101010101" pitchFamily="2" charset="-122"/>
              </a:rPr>
              <a:t>1</a:t>
            </a:r>
            <a:r>
              <a:rPr lang="zh-CN" altLang="en-US" sz="2400" dirty="0">
                <a:solidFill>
                  <a:schemeClr val="bg2"/>
                </a:solidFill>
                <a:latin typeface="Calibri" panose="020F0502020204030204" pitchFamily="34" charset="0"/>
                <a:ea typeface="宋体" panose="02010600030101010101" pitchFamily="2" charset="-122"/>
              </a:rPr>
              <a:t>）快速排序的时间构成：</a:t>
            </a:r>
            <a:endParaRPr lang="zh-CN" altLang="en-US" sz="2400" dirty="0">
              <a:solidFill>
                <a:schemeClr val="bg2"/>
              </a:solidFill>
              <a:latin typeface="Calibri" panose="020F0502020204030204" pitchFamily="34" charset="0"/>
              <a:ea typeface="宋体" panose="02010600030101010101" pitchFamily="2" charset="-122"/>
            </a:endParaRPr>
          </a:p>
          <a:p>
            <a:pPr algn="l"/>
            <a:r>
              <a:rPr lang="zh-CN" altLang="en-US" sz="2400" dirty="0">
                <a:solidFill>
                  <a:schemeClr val="bg2"/>
                </a:solidFill>
                <a:latin typeface="Calibri" panose="020F0502020204030204" pitchFamily="34" charset="0"/>
                <a:ea typeface="宋体" panose="02010600030101010101" pitchFamily="2" charset="-122"/>
              </a:rPr>
              <a:t>                    分划的时间</a:t>
            </a:r>
            <a:r>
              <a:rPr lang="en-US" altLang="zh-CN" sz="2400" dirty="0">
                <a:solidFill>
                  <a:schemeClr val="bg2"/>
                </a:solidFill>
                <a:latin typeface="Calibri" panose="020F0502020204030204" pitchFamily="34" charset="0"/>
                <a:ea typeface="宋体" panose="02010600030101010101" pitchFamily="2" charset="-122"/>
              </a:rPr>
              <a:t>(</a:t>
            </a:r>
            <a:r>
              <a:rPr lang="zh-CN" altLang="en-US" sz="2400" dirty="0">
                <a:solidFill>
                  <a:schemeClr val="bg2"/>
                </a:solidFill>
                <a:latin typeface="Calibri" panose="020F0502020204030204" pitchFamily="34" charset="0"/>
                <a:ea typeface="宋体" panose="02010600030101010101" pitchFamily="2" charset="-122"/>
              </a:rPr>
              <a:t>找元素</a:t>
            </a:r>
            <a:r>
              <a:rPr lang="en-US" altLang="zh-CN" sz="2400" i="1"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solidFill>
                  <a:schemeClr val="bg2"/>
                </a:solidFill>
                <a:latin typeface="Calibri" panose="020F0502020204030204" pitchFamily="34" charset="0"/>
                <a:ea typeface="宋体" panose="02010600030101010101" pitchFamily="2" charset="-122"/>
              </a:rPr>
              <a:t>最终位置的时间</a:t>
            </a:r>
            <a:r>
              <a:rPr lang="en-US" altLang="zh-CN" sz="2400" dirty="0">
                <a:solidFill>
                  <a:schemeClr val="bg2"/>
                </a:solidFill>
                <a:latin typeface="Calibri" panose="020F0502020204030204" pitchFamily="34" charset="0"/>
                <a:ea typeface="宋体" panose="02010600030101010101" pitchFamily="2" charset="-122"/>
              </a:rPr>
              <a:t>)</a:t>
            </a:r>
            <a:endParaRPr lang="en-US" altLang="zh-CN" sz="2400" dirty="0">
              <a:solidFill>
                <a:schemeClr val="bg2"/>
              </a:solidFill>
              <a:latin typeface="Calibri" panose="020F0502020204030204" pitchFamily="34" charset="0"/>
              <a:ea typeface="宋体" panose="02010600030101010101" pitchFamily="2" charset="-122"/>
            </a:endParaRPr>
          </a:p>
          <a:p>
            <a:pPr algn="l"/>
            <a:r>
              <a:rPr lang="en-US" altLang="zh-CN" sz="2400" dirty="0">
                <a:solidFill>
                  <a:schemeClr val="bg2"/>
                </a:solidFill>
                <a:latin typeface="Calibri" panose="020F0502020204030204" pitchFamily="34" charset="0"/>
                <a:ea typeface="宋体" panose="02010600030101010101" pitchFamily="2" charset="-122"/>
              </a:rPr>
              <a:t>                 + </a:t>
            </a:r>
            <a:r>
              <a:rPr lang="zh-CN" altLang="en-US" sz="2400" dirty="0">
                <a:solidFill>
                  <a:schemeClr val="bg2"/>
                </a:solidFill>
                <a:latin typeface="Calibri" panose="020F0502020204030204" pitchFamily="34" charset="0"/>
                <a:ea typeface="宋体" panose="02010600030101010101" pitchFamily="2" charset="-122"/>
              </a:rPr>
              <a:t>处理子问题</a:t>
            </a:r>
            <a:r>
              <a:rPr lang="en-US" altLang="zh-CN" sz="2400" dirty="0">
                <a:solidFill>
                  <a:schemeClr val="bg2"/>
                </a:solidFill>
                <a:latin typeface="Calibri" panose="020F0502020204030204" pitchFamily="34" charset="0"/>
                <a:ea typeface="宋体" panose="02010600030101010101" pitchFamily="2" charset="-122"/>
              </a:rPr>
              <a:t>1</a:t>
            </a:r>
            <a:r>
              <a:rPr lang="zh-CN" altLang="en-US" sz="2400" dirty="0">
                <a:solidFill>
                  <a:schemeClr val="bg2"/>
                </a:solidFill>
                <a:latin typeface="Calibri" panose="020F0502020204030204" pitchFamily="34" charset="0"/>
                <a:ea typeface="宋体" panose="02010600030101010101" pitchFamily="2" charset="-122"/>
              </a:rPr>
              <a:t>的时间</a:t>
            </a:r>
            <a:endParaRPr lang="zh-CN" altLang="en-US" sz="2400" dirty="0">
              <a:solidFill>
                <a:schemeClr val="bg2"/>
              </a:solidFill>
              <a:latin typeface="Calibri" panose="020F0502020204030204" pitchFamily="34" charset="0"/>
              <a:ea typeface="宋体" panose="02010600030101010101" pitchFamily="2" charset="-122"/>
            </a:endParaRPr>
          </a:p>
          <a:p>
            <a:pPr algn="l"/>
            <a:r>
              <a:rPr lang="zh-CN" altLang="en-US" sz="2400" dirty="0">
                <a:solidFill>
                  <a:schemeClr val="bg2"/>
                </a:solidFill>
                <a:latin typeface="Calibri" panose="020F0502020204030204" pitchFamily="34" charset="0"/>
                <a:ea typeface="宋体" panose="02010600030101010101" pitchFamily="2" charset="-122"/>
              </a:rPr>
              <a:t>                 </a:t>
            </a:r>
            <a:r>
              <a:rPr lang="en-US" altLang="zh-CN" sz="2400" dirty="0">
                <a:solidFill>
                  <a:schemeClr val="bg2"/>
                </a:solidFill>
                <a:latin typeface="Calibri" panose="020F0502020204030204" pitchFamily="34" charset="0"/>
                <a:ea typeface="宋体" panose="02010600030101010101" pitchFamily="2" charset="-122"/>
              </a:rPr>
              <a:t>+ </a:t>
            </a:r>
            <a:r>
              <a:rPr lang="zh-CN" altLang="en-US" sz="2400" dirty="0">
                <a:solidFill>
                  <a:schemeClr val="bg2"/>
                </a:solidFill>
                <a:latin typeface="Calibri" panose="020F0502020204030204" pitchFamily="34" charset="0"/>
                <a:ea typeface="宋体" panose="02010600030101010101" pitchFamily="2" charset="-122"/>
              </a:rPr>
              <a:t>处理子问题</a:t>
            </a:r>
            <a:r>
              <a:rPr lang="en-US" altLang="zh-CN" sz="2400" dirty="0">
                <a:solidFill>
                  <a:schemeClr val="bg2"/>
                </a:solidFill>
                <a:latin typeface="Calibri" panose="020F0502020204030204" pitchFamily="34" charset="0"/>
                <a:ea typeface="宋体" panose="02010600030101010101" pitchFamily="2" charset="-122"/>
              </a:rPr>
              <a:t>2</a:t>
            </a:r>
            <a:r>
              <a:rPr lang="zh-CN" altLang="en-US" sz="2400" dirty="0">
                <a:solidFill>
                  <a:schemeClr val="bg2"/>
                </a:solidFill>
                <a:latin typeface="Calibri" panose="020F0502020204030204" pitchFamily="34" charset="0"/>
                <a:ea typeface="宋体" panose="02010600030101010101" pitchFamily="2" charset="-122"/>
              </a:rPr>
              <a:t>的时间</a:t>
            </a:r>
            <a:endParaRPr lang="zh-CN" altLang="en-US" sz="2400" dirty="0">
              <a:solidFill>
                <a:schemeClr val="bg2"/>
              </a:solidFill>
              <a:latin typeface="Calibri" panose="020F0502020204030204" pitchFamily="34" charset="0"/>
              <a:ea typeface="宋体" panose="02010600030101010101" pitchFamily="2" charset="-122"/>
            </a:endParaRPr>
          </a:p>
          <a:p>
            <a:pPr algn="l"/>
            <a:r>
              <a:rPr lang="zh-CN" altLang="en-US" sz="2400" dirty="0">
                <a:solidFill>
                  <a:schemeClr val="bg2"/>
                </a:solidFill>
                <a:latin typeface="Calibri" panose="020F0502020204030204" pitchFamily="34" charset="0"/>
                <a:ea typeface="宋体" panose="02010600030101010101" pitchFamily="2" charset="-122"/>
              </a:rPr>
              <a:t>（</a:t>
            </a:r>
            <a:r>
              <a:rPr lang="en-US" altLang="zh-CN" sz="2400" dirty="0">
                <a:solidFill>
                  <a:schemeClr val="bg2"/>
                </a:solidFill>
                <a:latin typeface="Calibri" panose="020F0502020204030204" pitchFamily="34" charset="0"/>
                <a:ea typeface="宋体" panose="02010600030101010101" pitchFamily="2" charset="-122"/>
              </a:rPr>
              <a:t>2</a:t>
            </a:r>
            <a:r>
              <a:rPr lang="zh-CN" altLang="en-US" sz="2400" dirty="0">
                <a:solidFill>
                  <a:schemeClr val="bg2"/>
                </a:solidFill>
                <a:latin typeface="Calibri" panose="020F0502020204030204" pitchFamily="34" charset="0"/>
                <a:ea typeface="宋体" panose="02010600030101010101" pitchFamily="2" charset="-122"/>
              </a:rPr>
              <a:t>）</a:t>
            </a:r>
            <a:r>
              <a:rPr lang="zh-CN" altLang="en-US" sz="2400" dirty="0">
                <a:solidFill>
                  <a:schemeClr val="bg2"/>
                </a:solidFill>
                <a:latin typeface="Calibri" panose="020F0502020204030204" pitchFamily="34" charset="0"/>
                <a:ea typeface="宋体" panose="02010600030101010101" pitchFamily="2" charset="-122"/>
                <a:sym typeface="+mn-ea"/>
              </a:rPr>
              <a:t>元素</a:t>
            </a:r>
            <a:r>
              <a:rPr lang="en-US" altLang="zh-CN" sz="2400" i="1"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24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4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在数组的任何位置都有可能，因此概率为</a:t>
            </a:r>
            <a:r>
              <a:rPr lang="en-US" altLang="zh-CN" sz="24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400" i="1"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n</a:t>
            </a:r>
            <a:endParaRPr lang="en-US" altLang="zh-CN" sz="2400" i="1"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aphicFrame>
        <p:nvGraphicFramePr>
          <p:cNvPr id="7" name="表格 6"/>
          <p:cNvGraphicFramePr/>
          <p:nvPr>
            <p:custDataLst>
              <p:tags r:id="rId1"/>
            </p:custDataLst>
          </p:nvPr>
        </p:nvGraphicFramePr>
        <p:xfrm>
          <a:off x="789940" y="4046855"/>
          <a:ext cx="7593965" cy="2194560"/>
        </p:xfrm>
        <a:graphic>
          <a:graphicData uri="http://schemas.openxmlformats.org/drawingml/2006/table">
            <a:tbl>
              <a:tblPr firstRow="1" bandRow="1">
                <a:tableStyleId>{5C22544A-7EE6-4342-B048-85BDC9FD1C3A}</a:tableStyleId>
              </a:tblPr>
              <a:tblGrid>
                <a:gridCol w="1937385"/>
                <a:gridCol w="1623060"/>
                <a:gridCol w="1780540"/>
                <a:gridCol w="2252980"/>
              </a:tblGrid>
              <a:tr h="365760">
                <a:tc>
                  <a:txBody>
                    <a:bodyPr/>
                    <a:lstStyle/>
                    <a:p>
                      <a:pPr algn="ctr">
                        <a:buNone/>
                      </a:pPr>
                      <a:r>
                        <a:rPr lang="en-US" altLang="zh-CN" sz="1800" b="1" i="1"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1800" b="1"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1800" b="1"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rPr>
                        <a:t>排序后的位置</a:t>
                      </a:r>
                      <a:endParaRPr lang="zh-CN" altLang="en-US" sz="1800" b="1" dirty="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a:tc>
                <a:tc>
                  <a:txBody>
                    <a:bodyPr/>
                    <a:lstStyle/>
                    <a:p>
                      <a:pPr algn="ctr">
                        <a:buNone/>
                      </a:pPr>
                      <a:r>
                        <a:rPr lang="zh-CN" altLang="en-US" b="1">
                          <a:solidFill>
                            <a:schemeClr val="bg2"/>
                          </a:solidFill>
                          <a:latin typeface="Times New Roman" panose="02020603050405020304" pitchFamily="18" charset="0"/>
                        </a:rPr>
                        <a:t>子问题规模</a:t>
                      </a:r>
                      <a:endParaRPr lang="zh-CN" altLang="en-US" b="1">
                        <a:solidFill>
                          <a:schemeClr val="bg2"/>
                        </a:solidFill>
                        <a:latin typeface="Times New Roman" panose="02020603050405020304" pitchFamily="18" charset="0"/>
                      </a:endParaRPr>
                    </a:p>
                  </a:txBody>
                  <a:tcPr/>
                </a:tc>
                <a:tc>
                  <a:txBody>
                    <a:bodyPr/>
                    <a:lstStyle/>
                    <a:p>
                      <a:pPr algn="ctr">
                        <a:buNone/>
                      </a:pPr>
                      <a:r>
                        <a:rPr lang="zh-CN" altLang="en-US" b="1">
                          <a:solidFill>
                            <a:schemeClr val="bg2"/>
                          </a:solidFill>
                          <a:latin typeface="Times New Roman" panose="02020603050405020304" pitchFamily="18" charset="0"/>
                          <a:cs typeface="Times New Roman" panose="02020603050405020304" pitchFamily="18" charset="0"/>
                        </a:rPr>
                        <a:t>子问题</a:t>
                      </a:r>
                      <a:r>
                        <a:rPr lang="en-US" altLang="zh-CN" b="1">
                          <a:solidFill>
                            <a:schemeClr val="bg2"/>
                          </a:solidFill>
                          <a:latin typeface="Times New Roman" panose="02020603050405020304" pitchFamily="18" charset="0"/>
                          <a:cs typeface="Times New Roman" panose="02020603050405020304" pitchFamily="18" charset="0"/>
                        </a:rPr>
                        <a:t>2</a:t>
                      </a:r>
                      <a:r>
                        <a:rPr lang="zh-CN" altLang="en-US" b="1">
                          <a:solidFill>
                            <a:schemeClr val="bg2"/>
                          </a:solidFill>
                          <a:latin typeface="Times New Roman" panose="02020603050405020304" pitchFamily="18" charset="0"/>
                          <a:cs typeface="Times New Roman" panose="02020603050405020304" pitchFamily="18" charset="0"/>
                        </a:rPr>
                        <a:t>规模</a:t>
                      </a:r>
                      <a:endParaRPr lang="zh-CN" altLang="en-US"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zh-CN" altLang="en-US" b="1">
                          <a:solidFill>
                            <a:schemeClr val="bg2"/>
                          </a:solidFill>
                          <a:latin typeface="Times New Roman" panose="02020603050405020304" pitchFamily="18" charset="0"/>
                        </a:rPr>
                        <a:t>划分的比较次数</a:t>
                      </a:r>
                      <a:endParaRPr lang="zh-CN" altLang="en-US" b="1">
                        <a:solidFill>
                          <a:schemeClr val="bg2"/>
                        </a:solidFill>
                        <a:latin typeface="Times New Roman" panose="02020603050405020304" pitchFamily="18" charset="0"/>
                      </a:endParaRPr>
                    </a:p>
                  </a:txBody>
                  <a:tcPr/>
                </a:tc>
              </a:tr>
              <a:tr h="381000">
                <a:tc>
                  <a:txBody>
                    <a:bodyPr/>
                    <a:lstStyle/>
                    <a:p>
                      <a:pPr algn="ctr">
                        <a:buNone/>
                      </a:pPr>
                      <a:r>
                        <a:rPr lang="en-US" altLang="zh-CN" sz="2400" b="1">
                          <a:solidFill>
                            <a:schemeClr val="bg2"/>
                          </a:solidFill>
                          <a:latin typeface="Times New Roman" panose="02020603050405020304" pitchFamily="18" charset="0"/>
                          <a:cs typeface="Times New Roman" panose="02020603050405020304" pitchFamily="18" charset="0"/>
                        </a:rPr>
                        <a:t>1</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a:solidFill>
                            <a:schemeClr val="bg2"/>
                          </a:solidFill>
                          <a:latin typeface="Times New Roman" panose="02020603050405020304" pitchFamily="18" charset="0"/>
                          <a:cs typeface="Times New Roman" panose="02020603050405020304" pitchFamily="18" charset="0"/>
                        </a:rPr>
                        <a:t>0</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i="1">
                          <a:solidFill>
                            <a:schemeClr val="bg2"/>
                          </a:solidFill>
                          <a:latin typeface="Times New Roman" panose="02020603050405020304" pitchFamily="18" charset="0"/>
                          <a:cs typeface="Times New Roman" panose="02020603050405020304" pitchFamily="18" charset="0"/>
                        </a:rPr>
                        <a:t>n</a:t>
                      </a:r>
                      <a:r>
                        <a:rPr lang="en-US" altLang="zh-CN" sz="2400" b="1">
                          <a:solidFill>
                            <a:schemeClr val="bg2"/>
                          </a:solidFill>
                          <a:latin typeface="Times New Roman" panose="02020603050405020304" pitchFamily="18" charset="0"/>
                          <a:cs typeface="Times New Roman" panose="02020603050405020304" pitchFamily="18" charset="0"/>
                        </a:rPr>
                        <a:t>-1</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i="1">
                          <a:solidFill>
                            <a:schemeClr val="bg2"/>
                          </a:solidFill>
                          <a:latin typeface="Times New Roman" panose="02020603050405020304" pitchFamily="18" charset="0"/>
                          <a:cs typeface="Times New Roman" panose="02020603050405020304" pitchFamily="18" charset="0"/>
                        </a:rPr>
                        <a:t>n</a:t>
                      </a:r>
                      <a:r>
                        <a:rPr lang="en-US" altLang="zh-CN" sz="2400" b="1">
                          <a:solidFill>
                            <a:schemeClr val="bg2"/>
                          </a:solidFill>
                          <a:latin typeface="Times New Roman" panose="02020603050405020304" pitchFamily="18" charset="0"/>
                          <a:cs typeface="Times New Roman" panose="02020603050405020304" pitchFamily="18" charset="0"/>
                        </a:rPr>
                        <a:t>-1</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r>
              <a:tr h="381000">
                <a:tc>
                  <a:txBody>
                    <a:bodyPr/>
                    <a:lstStyle/>
                    <a:p>
                      <a:pPr algn="ctr">
                        <a:buNone/>
                      </a:pPr>
                      <a:r>
                        <a:rPr lang="en-US" altLang="zh-CN" sz="2400" b="1">
                          <a:solidFill>
                            <a:schemeClr val="bg2"/>
                          </a:solidFill>
                          <a:latin typeface="Times New Roman" panose="02020603050405020304" pitchFamily="18" charset="0"/>
                          <a:cs typeface="Times New Roman" panose="02020603050405020304" pitchFamily="18" charset="0"/>
                        </a:rPr>
                        <a:t>2</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a:solidFill>
                            <a:schemeClr val="bg2"/>
                          </a:solidFill>
                          <a:latin typeface="Times New Roman" panose="02020603050405020304" pitchFamily="18" charset="0"/>
                          <a:cs typeface="Times New Roman" panose="02020603050405020304" pitchFamily="18" charset="0"/>
                        </a:rPr>
                        <a:t>1</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i="1">
                          <a:solidFill>
                            <a:schemeClr val="bg2"/>
                          </a:solidFill>
                          <a:latin typeface="Times New Roman" panose="02020603050405020304" pitchFamily="18" charset="0"/>
                          <a:cs typeface="Times New Roman" panose="02020603050405020304" pitchFamily="18" charset="0"/>
                        </a:rPr>
                        <a:t>n</a:t>
                      </a:r>
                      <a:r>
                        <a:rPr lang="en-US" altLang="zh-CN" sz="2400" b="1">
                          <a:solidFill>
                            <a:schemeClr val="bg2"/>
                          </a:solidFill>
                          <a:latin typeface="Times New Roman" panose="02020603050405020304" pitchFamily="18" charset="0"/>
                          <a:cs typeface="Times New Roman" panose="02020603050405020304" pitchFamily="18" charset="0"/>
                        </a:rPr>
                        <a:t>-2</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i="1">
                          <a:solidFill>
                            <a:schemeClr val="bg2"/>
                          </a:solidFill>
                          <a:latin typeface="Times New Roman" panose="02020603050405020304" pitchFamily="18" charset="0"/>
                          <a:cs typeface="Times New Roman" panose="02020603050405020304" pitchFamily="18" charset="0"/>
                        </a:rPr>
                        <a:t>n</a:t>
                      </a:r>
                      <a:r>
                        <a:rPr lang="en-US" altLang="zh-CN" sz="2400" b="1">
                          <a:solidFill>
                            <a:schemeClr val="bg2"/>
                          </a:solidFill>
                          <a:latin typeface="Times New Roman" panose="02020603050405020304" pitchFamily="18" charset="0"/>
                          <a:cs typeface="Times New Roman" panose="02020603050405020304" pitchFamily="18" charset="0"/>
                        </a:rPr>
                        <a:t>-1</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r>
              <a:tr h="381000">
                <a:tc>
                  <a:txBody>
                    <a:bodyPr/>
                    <a:lstStyle/>
                    <a:p>
                      <a:pPr algn="ctr">
                        <a:buNone/>
                      </a:pPr>
                      <a:r>
                        <a:rPr lang="en-US" altLang="zh-CN" sz="2400" b="1">
                          <a:solidFill>
                            <a:schemeClr val="bg2"/>
                          </a:solidFill>
                          <a:latin typeface="Times New Roman" panose="02020603050405020304" pitchFamily="18" charset="0"/>
                          <a:cs typeface="Times New Roman" panose="02020603050405020304" pitchFamily="18" charset="0"/>
                        </a:rPr>
                        <a:t>……</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endParaRPr lang="zh-CN" altLang="en-US"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endParaRPr lang="zh-CN" altLang="en-US"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endParaRPr lang="zh-CN" altLang="en-US" sz="2400" b="1">
                        <a:solidFill>
                          <a:schemeClr val="bg2"/>
                        </a:solidFill>
                        <a:latin typeface="Times New Roman" panose="02020603050405020304" pitchFamily="18" charset="0"/>
                        <a:cs typeface="Times New Roman" panose="02020603050405020304" pitchFamily="18" charset="0"/>
                      </a:endParaRPr>
                    </a:p>
                  </a:txBody>
                  <a:tcPr/>
                </a:tc>
              </a:tr>
              <a:tr h="381000">
                <a:tc>
                  <a:txBody>
                    <a:bodyPr/>
                    <a:lstStyle/>
                    <a:p>
                      <a:pPr algn="ctr">
                        <a:buNone/>
                      </a:pPr>
                      <a:r>
                        <a:rPr lang="en-US" altLang="zh-CN" sz="2400" b="1" i="1">
                          <a:solidFill>
                            <a:schemeClr val="bg2"/>
                          </a:solidFill>
                          <a:latin typeface="Times New Roman" panose="02020603050405020304" pitchFamily="18" charset="0"/>
                          <a:cs typeface="Times New Roman" panose="02020603050405020304" pitchFamily="18" charset="0"/>
                          <a:sym typeface="+mn-ea"/>
                        </a:rPr>
                        <a:t>n</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i="1">
                          <a:solidFill>
                            <a:schemeClr val="bg2"/>
                          </a:solidFill>
                          <a:latin typeface="Times New Roman" panose="02020603050405020304" pitchFamily="18" charset="0"/>
                          <a:cs typeface="Times New Roman" panose="02020603050405020304" pitchFamily="18" charset="0"/>
                          <a:sym typeface="+mn-ea"/>
                        </a:rPr>
                        <a:t>n-</a:t>
                      </a:r>
                      <a:r>
                        <a:rPr lang="en-US" altLang="zh-CN" sz="2400" b="1">
                          <a:solidFill>
                            <a:schemeClr val="bg2"/>
                          </a:solidFill>
                          <a:latin typeface="Times New Roman" panose="02020603050405020304" pitchFamily="18" charset="0"/>
                          <a:cs typeface="Times New Roman" panose="02020603050405020304" pitchFamily="18" charset="0"/>
                          <a:sym typeface="+mn-ea"/>
                        </a:rPr>
                        <a:t>1</a:t>
                      </a:r>
                      <a:endParaRPr lang="en-US" altLang="zh-CN" sz="2400" b="1">
                        <a:solidFill>
                          <a:schemeClr val="bg2"/>
                        </a:solidFill>
                        <a:latin typeface="Times New Roman" panose="02020603050405020304" pitchFamily="18" charset="0"/>
                        <a:cs typeface="Times New Roman" panose="02020603050405020304" pitchFamily="18" charset="0"/>
                        <a:sym typeface="+mn-ea"/>
                      </a:endParaRPr>
                    </a:p>
                  </a:txBody>
                  <a:tcPr/>
                </a:tc>
                <a:tc>
                  <a:txBody>
                    <a:bodyPr/>
                    <a:lstStyle/>
                    <a:p>
                      <a:pPr algn="ctr">
                        <a:buNone/>
                      </a:pPr>
                      <a:r>
                        <a:rPr lang="en-US" altLang="zh-CN" sz="2400" b="1">
                          <a:solidFill>
                            <a:schemeClr val="bg2"/>
                          </a:solidFill>
                          <a:latin typeface="Times New Roman" panose="02020603050405020304" pitchFamily="18" charset="0"/>
                          <a:cs typeface="Times New Roman" panose="02020603050405020304" pitchFamily="18" charset="0"/>
                        </a:rPr>
                        <a:t>0</a:t>
                      </a:r>
                      <a:endParaRPr lang="en-US" altLang="zh-CN" sz="2400" b="1">
                        <a:solidFill>
                          <a:schemeClr val="bg2"/>
                        </a:solidFill>
                        <a:latin typeface="Times New Roman" panose="02020603050405020304" pitchFamily="18" charset="0"/>
                        <a:cs typeface="Times New Roman" panose="02020603050405020304" pitchFamily="18" charset="0"/>
                      </a:endParaRPr>
                    </a:p>
                  </a:txBody>
                  <a:tcPr/>
                </a:tc>
                <a:tc>
                  <a:txBody>
                    <a:bodyPr/>
                    <a:lstStyle/>
                    <a:p>
                      <a:pPr algn="ctr">
                        <a:buNone/>
                      </a:pPr>
                      <a:r>
                        <a:rPr lang="en-US" altLang="zh-CN" sz="2400" b="1" i="1">
                          <a:solidFill>
                            <a:schemeClr val="bg2"/>
                          </a:solidFill>
                          <a:latin typeface="Times New Roman" panose="02020603050405020304" pitchFamily="18" charset="0"/>
                          <a:cs typeface="Times New Roman" panose="02020603050405020304" pitchFamily="18" charset="0"/>
                          <a:sym typeface="+mn-ea"/>
                        </a:rPr>
                        <a:t>n</a:t>
                      </a:r>
                      <a:r>
                        <a:rPr lang="en-US" altLang="zh-CN" sz="2400" b="1">
                          <a:solidFill>
                            <a:schemeClr val="bg2"/>
                          </a:solidFill>
                          <a:latin typeface="Times New Roman" panose="02020603050405020304" pitchFamily="18" charset="0"/>
                          <a:cs typeface="Times New Roman" panose="02020603050405020304" pitchFamily="18" charset="0"/>
                          <a:sym typeface="+mn-ea"/>
                        </a:rPr>
                        <a:t>-1</a:t>
                      </a:r>
                      <a:endParaRPr lang="zh-CN" altLang="en-US" sz="2400" b="1">
                        <a:solidFill>
                          <a:schemeClr val="bg2"/>
                        </a:solidFill>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5070475" y="1752600"/>
            <a:ext cx="3725545" cy="829945"/>
          </a:xfrm>
          <a:prstGeom prst="rect">
            <a:avLst/>
          </a:prstGeom>
        </p:spPr>
        <p:txBody>
          <a:bodyPr wrap="square">
            <a:spAutoFit/>
          </a:bodyPr>
          <a:lstStyle/>
          <a:p>
            <a:pPr eaLnBrk="1" hangingPunct="1"/>
            <a:r>
              <a:rPr lang="zh-CN" altLang="en-US" b="1" dirty="0">
                <a:solidFill>
                  <a:schemeClr val="bg2"/>
                </a:solidFill>
              </a:rPr>
              <a:t>差消化简后迭代</a:t>
            </a:r>
            <a:r>
              <a:rPr lang="en-US" altLang="zh-CN" b="1" dirty="0">
                <a:solidFill>
                  <a:schemeClr val="bg2"/>
                </a:solidFill>
              </a:rPr>
              <a:t>—</a:t>
            </a:r>
            <a:r>
              <a:rPr lang="zh-CN" altLang="en-US" b="1" dirty="0">
                <a:solidFill>
                  <a:schemeClr val="bg2"/>
                </a:solidFill>
              </a:rPr>
              <a:t>高阶化简为一阶</a:t>
            </a:r>
            <a:endParaRPr lang="zh-CN" altLang="en-US" b="1" dirty="0">
              <a:solidFill>
                <a:schemeClr val="bg2"/>
              </a:solidFill>
            </a:endParaRPr>
          </a:p>
        </p:txBody>
      </p:sp>
      <p:sp>
        <p:nvSpPr>
          <p:cNvPr id="5" name="TextBox 12"/>
          <p:cNvSpPr txBox="1"/>
          <p:nvPr/>
        </p:nvSpPr>
        <p:spPr>
          <a:xfrm>
            <a:off x="457199" y="1674195"/>
            <a:ext cx="3262313" cy="460375"/>
          </a:xfrm>
          <a:prstGeom prst="rect">
            <a:avLst/>
          </a:prstGeom>
          <a:noFill/>
          <a:ln w="9525">
            <a:noFill/>
          </a:ln>
        </p:spPr>
        <p:txBody>
          <a:bodyPr wrap="non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chemeClr val="bg2"/>
                </a:solidFill>
                <a:latin typeface="Calibri" panose="020F0502020204030204" pitchFamily="34" charset="0"/>
                <a:ea typeface="宋体" panose="02010600030101010101" pitchFamily="2" charset="-122"/>
              </a:rPr>
              <a:t>快速排序平均时间分析</a:t>
            </a:r>
            <a:endParaRPr lang="zh-CN" altLang="en-US" sz="2400" b="1" dirty="0">
              <a:solidFill>
                <a:schemeClr val="bg2"/>
              </a:solidFill>
              <a:latin typeface="Calibri" panose="020F0502020204030204" pitchFamily="34" charset="0"/>
              <a:ea typeface="宋体" panose="02010600030101010101" pitchFamily="2" charset="-122"/>
            </a:endParaRPr>
          </a:p>
        </p:txBody>
      </p:sp>
      <p:pic>
        <p:nvPicPr>
          <p:cNvPr id="32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4694" y="2135075"/>
            <a:ext cx="4307185" cy="1284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2878931"/>
            <a:ext cx="5160314" cy="3544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771"/>
                                        </p:tgtEl>
                                        <p:attrNameLst>
                                          <p:attrName>style.visibility</p:attrName>
                                        </p:attrNameLst>
                                      </p:cBhvr>
                                      <p:to>
                                        <p:strVal val="visible"/>
                                      </p:to>
                                    </p:set>
                                    <p:animEffect transition="in" filter="wipe(left)">
                                      <p:cBhvr>
                                        <p:cTn id="12" dur="500"/>
                                        <p:tgtEl>
                                          <p:spTgt spid="32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385445" y="1628775"/>
            <a:ext cx="8131175" cy="535531"/>
          </a:xfrm>
          <a:prstGeom prst="rect">
            <a:avLst/>
          </a:prstGeom>
        </p:spPr>
        <p:txBody>
          <a:bodyPr wrap="square">
            <a:spAutoFit/>
          </a:bodyPr>
          <a:lstStyle/>
          <a:p>
            <a:pPr marL="342900" indent="-342900">
              <a:lnSpc>
                <a:spcPct val="120000"/>
              </a:lnSpc>
              <a:buClr>
                <a:srgbClr val="000000"/>
              </a:buClr>
              <a:buFont typeface="Wingdings" panose="05000000000000000000" charset="0"/>
              <a:buChar char="l"/>
            </a:pPr>
            <a:r>
              <a:rPr lang="zh-CN" altLang="en-US" b="1" dirty="0">
                <a:solidFill>
                  <a:schemeClr val="bg2"/>
                </a:solidFill>
              </a:rPr>
              <a:t>递归</a:t>
            </a:r>
            <a:r>
              <a:rPr lang="zh-CN" altLang="en-US" b="1" dirty="0" smtClean="0">
                <a:solidFill>
                  <a:schemeClr val="bg2"/>
                </a:solidFill>
              </a:rPr>
              <a:t>树</a:t>
            </a:r>
            <a:r>
              <a:rPr lang="zh-CN" altLang="zh-CN" b="1" dirty="0" smtClean="0">
                <a:solidFill>
                  <a:schemeClr val="bg2"/>
                </a:solidFill>
              </a:rPr>
              <a:t>求解递归方程</a:t>
            </a:r>
            <a:endParaRPr lang="zh-CN" altLang="zh-CN" b="1" dirty="0" smtClean="0">
              <a:solidFill>
                <a:schemeClr val="bg2"/>
              </a:solidFill>
            </a:endParaRPr>
          </a:p>
        </p:txBody>
      </p:sp>
      <p:sp>
        <p:nvSpPr>
          <p:cNvPr id="7" name="矩形 6"/>
          <p:cNvSpPr/>
          <p:nvPr/>
        </p:nvSpPr>
        <p:spPr>
          <a:xfrm>
            <a:off x="778624" y="2166226"/>
            <a:ext cx="7737996" cy="2489200"/>
          </a:xfrm>
          <a:prstGeom prst="rect">
            <a:avLst/>
          </a:prstGeom>
        </p:spPr>
        <p:txBody>
          <a:bodyPr wrap="square">
            <a:spAutoFit/>
          </a:bodyPr>
          <a:lstStyle/>
          <a:p>
            <a:pPr marL="342900" indent="-342900">
              <a:lnSpc>
                <a:spcPct val="130000"/>
              </a:lnSpc>
              <a:buFont typeface="Wingdings" panose="05000000000000000000" pitchFamily="2" charset="2"/>
              <a:buChar char="u"/>
            </a:pPr>
            <a:r>
              <a:rPr lang="zh-CN" altLang="en-US" b="1" dirty="0">
                <a:solidFill>
                  <a:schemeClr val="bg2"/>
                </a:solidFill>
              </a:rPr>
              <a:t>递归树的概念</a:t>
            </a:r>
            <a:endParaRPr lang="zh-CN" altLang="en-US" b="1" dirty="0">
              <a:solidFill>
                <a:schemeClr val="bg2"/>
              </a:solidFill>
            </a:endParaRPr>
          </a:p>
          <a:p>
            <a:pPr lvl="1">
              <a:lnSpc>
                <a:spcPct val="130000"/>
              </a:lnSpc>
            </a:pPr>
            <a:r>
              <a:rPr lang="en-US" altLang="zh-CN" b="1" dirty="0">
                <a:solidFill>
                  <a:schemeClr val="bg2"/>
                </a:solidFill>
              </a:rPr>
              <a:t>• </a:t>
            </a:r>
            <a:r>
              <a:rPr b="1" dirty="0">
                <a:solidFill>
                  <a:schemeClr val="bg2"/>
                </a:solidFill>
              </a:rPr>
              <a:t>递归树是迭代计算的模型</a:t>
            </a:r>
            <a:endParaRPr b="1" dirty="0">
              <a:solidFill>
                <a:schemeClr val="bg2"/>
              </a:solidFill>
            </a:endParaRPr>
          </a:p>
          <a:p>
            <a:pPr lvl="1">
              <a:lnSpc>
                <a:spcPct val="130000"/>
              </a:lnSpc>
            </a:pPr>
            <a:r>
              <a:rPr lang="en-US" altLang="zh-CN" b="1" dirty="0">
                <a:solidFill>
                  <a:schemeClr val="bg2"/>
                </a:solidFill>
              </a:rPr>
              <a:t>• </a:t>
            </a:r>
            <a:r>
              <a:rPr lang="zh-CN" altLang="en-US" b="1" dirty="0">
                <a:solidFill>
                  <a:schemeClr val="bg2"/>
                </a:solidFill>
              </a:rPr>
              <a:t>递归树的生成过程与迭代过程一致 </a:t>
            </a:r>
            <a:endParaRPr lang="zh-CN" altLang="en-US" b="1" dirty="0">
              <a:solidFill>
                <a:schemeClr val="bg2"/>
              </a:solidFill>
            </a:endParaRPr>
          </a:p>
          <a:p>
            <a:pPr lvl="1">
              <a:lnSpc>
                <a:spcPct val="130000"/>
              </a:lnSpc>
            </a:pPr>
            <a:r>
              <a:rPr lang="en-US" altLang="zh-CN" b="1" dirty="0">
                <a:solidFill>
                  <a:schemeClr val="bg2"/>
                </a:solidFill>
              </a:rPr>
              <a:t>• </a:t>
            </a:r>
            <a:r>
              <a:rPr b="1" dirty="0">
                <a:solidFill>
                  <a:schemeClr val="bg2"/>
                </a:solidFill>
              </a:rPr>
              <a:t>递归树上所有项恰好是迭代之后产生和式中的项</a:t>
            </a:r>
            <a:endParaRPr b="1" dirty="0">
              <a:solidFill>
                <a:schemeClr val="bg2"/>
              </a:solidFill>
            </a:endParaRPr>
          </a:p>
          <a:p>
            <a:pPr lvl="1">
              <a:lnSpc>
                <a:spcPct val="130000"/>
              </a:lnSpc>
            </a:pPr>
            <a:r>
              <a:rPr lang="en-US" altLang="zh-CN" b="1" dirty="0">
                <a:solidFill>
                  <a:schemeClr val="bg2"/>
                </a:solidFill>
                <a:sym typeface="+mn-ea"/>
              </a:rPr>
              <a:t>• </a:t>
            </a:r>
            <a:r>
              <a:rPr lang="en-US" altLang="zh-CN" b="1" dirty="0">
                <a:solidFill>
                  <a:schemeClr val="bg2"/>
                </a:solidFill>
              </a:rPr>
              <a:t>对递归树上的项求和就是迭代后方</a:t>
            </a:r>
            <a:r>
              <a:rPr lang="zh-CN" altLang="en-US" b="1" dirty="0">
                <a:solidFill>
                  <a:schemeClr val="bg2"/>
                </a:solidFill>
              </a:rPr>
              <a:t>程的解</a:t>
            </a:r>
            <a:endParaRPr lang="zh-CN" altLang="en-US" b="1"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left)">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left)">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wipe(left)">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wipe(left)">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7" name="矩形 6"/>
          <p:cNvSpPr/>
          <p:nvPr/>
        </p:nvSpPr>
        <p:spPr>
          <a:xfrm>
            <a:off x="559549" y="1598536"/>
            <a:ext cx="7737996" cy="570865"/>
          </a:xfrm>
          <a:prstGeom prst="rect">
            <a:avLst/>
          </a:prstGeom>
        </p:spPr>
        <p:txBody>
          <a:bodyPr wrap="square">
            <a:spAutoFit/>
          </a:bodyPr>
          <a:lstStyle/>
          <a:p>
            <a:pPr marL="342900" indent="-342900">
              <a:lnSpc>
                <a:spcPct val="130000"/>
              </a:lnSpc>
              <a:buFont typeface="Wingdings" panose="05000000000000000000" pitchFamily="2" charset="2"/>
              <a:buChar char="u"/>
            </a:pPr>
            <a:r>
              <a:rPr lang="zh-CN" altLang="en-US" b="1" dirty="0">
                <a:solidFill>
                  <a:schemeClr val="bg2"/>
                </a:solidFill>
              </a:rPr>
              <a:t>迭代在递归树中的表示</a:t>
            </a:r>
            <a:endParaRPr lang="zh-CN" altLang="en-US" b="1" dirty="0">
              <a:solidFill>
                <a:schemeClr val="bg2"/>
              </a:solidFill>
            </a:endParaRPr>
          </a:p>
        </p:txBody>
      </p:sp>
      <p:pic>
        <p:nvPicPr>
          <p:cNvPr id="4" name="20 3"/>
          <p:cNvPicPr>
            <a:picLocks noChangeAspect="1"/>
          </p:cNvPicPr>
          <p:nvPr/>
        </p:nvPicPr>
        <p:blipFill>
          <a:blip r:embed="rId1"/>
          <a:srcRect l="18028" t="34792" r="41430" b="36910"/>
          <a:stretch>
            <a:fillRect/>
          </a:stretch>
        </p:blipFill>
        <p:spPr>
          <a:xfrm>
            <a:off x="555625" y="2101215"/>
            <a:ext cx="5274945" cy="2070100"/>
          </a:xfrm>
          <a:prstGeom prst="rect">
            <a:avLst/>
          </a:prstGeom>
        </p:spPr>
      </p:pic>
      <p:pic>
        <p:nvPicPr>
          <p:cNvPr id="5" name="20 4"/>
          <p:cNvPicPr>
            <a:picLocks noChangeAspect="1"/>
          </p:cNvPicPr>
          <p:nvPr/>
        </p:nvPicPr>
        <p:blipFill>
          <a:blip r:embed="rId1"/>
          <a:srcRect l="18028" t="60773" r="41430" b="6259"/>
          <a:stretch>
            <a:fillRect/>
          </a:stretch>
        </p:blipFill>
        <p:spPr>
          <a:xfrm>
            <a:off x="2628900" y="4217670"/>
            <a:ext cx="5274945" cy="241173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385445" y="1628775"/>
            <a:ext cx="8131175" cy="535531"/>
          </a:xfrm>
          <a:prstGeom prst="rect">
            <a:avLst/>
          </a:prstGeom>
        </p:spPr>
        <p:txBody>
          <a:bodyPr wrap="square">
            <a:spAutoFit/>
          </a:bodyPr>
          <a:lstStyle/>
          <a:p>
            <a:pPr marL="342900" indent="-342900">
              <a:lnSpc>
                <a:spcPct val="120000"/>
              </a:lnSpc>
              <a:buClr>
                <a:srgbClr val="000000"/>
              </a:buClr>
              <a:buFont typeface="Wingdings" panose="05000000000000000000" charset="0"/>
              <a:buChar char="l"/>
            </a:pPr>
            <a:r>
              <a:rPr lang="zh-CN" altLang="en-US" b="1" dirty="0">
                <a:solidFill>
                  <a:schemeClr val="bg2"/>
                </a:solidFill>
              </a:rPr>
              <a:t>递归</a:t>
            </a:r>
            <a:r>
              <a:rPr lang="zh-CN" altLang="en-US" b="1" dirty="0" smtClean="0">
                <a:solidFill>
                  <a:schemeClr val="bg2"/>
                </a:solidFill>
              </a:rPr>
              <a:t>树</a:t>
            </a:r>
            <a:r>
              <a:rPr lang="zh-CN" altLang="zh-CN" b="1" dirty="0" smtClean="0">
                <a:solidFill>
                  <a:schemeClr val="bg2"/>
                </a:solidFill>
              </a:rPr>
              <a:t>求解递归方程</a:t>
            </a:r>
            <a:endParaRPr lang="zh-CN" altLang="zh-CN" b="1" dirty="0" smtClean="0">
              <a:solidFill>
                <a:schemeClr val="bg2"/>
              </a:solidFill>
            </a:endParaRPr>
          </a:p>
        </p:txBody>
      </p:sp>
      <p:sp>
        <p:nvSpPr>
          <p:cNvPr id="7" name="矩形 6"/>
          <p:cNvSpPr/>
          <p:nvPr/>
        </p:nvSpPr>
        <p:spPr>
          <a:xfrm>
            <a:off x="778624" y="2166226"/>
            <a:ext cx="7737996" cy="2973122"/>
          </a:xfrm>
          <a:prstGeom prst="rect">
            <a:avLst/>
          </a:prstGeom>
        </p:spPr>
        <p:txBody>
          <a:bodyPr wrap="square">
            <a:spAutoFit/>
          </a:bodyPr>
          <a:lstStyle/>
          <a:p>
            <a:pPr marL="342900" indent="-342900">
              <a:lnSpc>
                <a:spcPct val="130000"/>
              </a:lnSpc>
              <a:buFont typeface="Wingdings" panose="05000000000000000000" pitchFamily="2" charset="2"/>
              <a:buChar char="u"/>
            </a:pPr>
            <a:r>
              <a:rPr lang="zh-CN" altLang="en-US" b="1" dirty="0">
                <a:solidFill>
                  <a:schemeClr val="bg2"/>
                </a:solidFill>
              </a:rPr>
              <a:t>递归树的生成规则 </a:t>
            </a:r>
            <a:endParaRPr lang="zh-CN" altLang="en-US" dirty="0">
              <a:solidFill>
                <a:schemeClr val="bg2"/>
              </a:solidFill>
            </a:endParaRPr>
          </a:p>
          <a:p>
            <a:pPr>
              <a:lnSpc>
                <a:spcPct val="130000"/>
              </a:lnSpc>
            </a:pPr>
            <a:r>
              <a:rPr lang="en-US" altLang="zh-CN" dirty="0">
                <a:solidFill>
                  <a:schemeClr val="bg2"/>
                </a:solidFill>
              </a:rPr>
              <a:t>• </a:t>
            </a:r>
            <a:r>
              <a:rPr lang="zh-CN" altLang="en-US" b="1" dirty="0">
                <a:solidFill>
                  <a:schemeClr val="bg2"/>
                </a:solidFill>
              </a:rPr>
              <a:t>初始，递归树只有根结点</a:t>
            </a:r>
            <a:r>
              <a:rPr lang="en-US" altLang="zh-CN" b="1" dirty="0">
                <a:solidFill>
                  <a:schemeClr val="bg2"/>
                </a:solidFill>
              </a:rPr>
              <a:t>, </a:t>
            </a:r>
            <a:r>
              <a:rPr lang="zh-CN" altLang="en-US" b="1" dirty="0">
                <a:solidFill>
                  <a:schemeClr val="bg2"/>
                </a:solidFill>
              </a:rPr>
              <a:t>其值为</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endParaRPr lang="zh-CN" altLang="en-US" dirty="0">
              <a:solidFill>
                <a:schemeClr val="bg2"/>
              </a:solidFill>
            </a:endParaRPr>
          </a:p>
          <a:p>
            <a:pPr>
              <a:lnSpc>
                <a:spcPct val="130000"/>
              </a:lnSpc>
            </a:pPr>
            <a:r>
              <a:rPr lang="en-US" altLang="zh-CN" dirty="0">
                <a:solidFill>
                  <a:schemeClr val="bg2"/>
                </a:solidFill>
              </a:rPr>
              <a:t>• </a:t>
            </a:r>
            <a:r>
              <a:rPr lang="zh-CN" altLang="en-US" b="1" dirty="0">
                <a:solidFill>
                  <a:schemeClr val="bg2"/>
                </a:solidFill>
              </a:rPr>
              <a:t>不断继续下述过程： </a:t>
            </a:r>
            <a:endParaRPr lang="zh-CN" altLang="en-US" dirty="0">
              <a:solidFill>
                <a:schemeClr val="bg2"/>
              </a:solidFill>
            </a:endParaRPr>
          </a:p>
          <a:p>
            <a:pPr lvl="2">
              <a:lnSpc>
                <a:spcPct val="130000"/>
              </a:lnSpc>
            </a:pPr>
            <a:r>
              <a:rPr lang="zh-CN" altLang="en-US" b="1" dirty="0">
                <a:solidFill>
                  <a:schemeClr val="bg2"/>
                </a:solidFill>
              </a:rPr>
              <a:t>将函数项叶结点的迭代式</a:t>
            </a:r>
            <a:r>
              <a:rPr lang="en-US" altLang="zh-CN" b="1" i="1" dirty="0">
                <a:solidFill>
                  <a:schemeClr val="bg2"/>
                </a:solidFill>
              </a:rPr>
              <a:t>W</a:t>
            </a:r>
            <a:r>
              <a:rPr lang="en-US" altLang="zh-CN" b="1" dirty="0">
                <a:solidFill>
                  <a:schemeClr val="bg2"/>
                </a:solidFill>
              </a:rPr>
              <a:t>(</a:t>
            </a:r>
            <a:r>
              <a:rPr lang="en-US" altLang="zh-CN" b="1" i="1" dirty="0">
                <a:solidFill>
                  <a:schemeClr val="bg2"/>
                </a:solidFill>
              </a:rPr>
              <a:t>m</a:t>
            </a:r>
            <a:r>
              <a:rPr lang="en-US" altLang="zh-CN" b="1" dirty="0">
                <a:solidFill>
                  <a:schemeClr val="bg2"/>
                </a:solidFill>
              </a:rPr>
              <a:t>)</a:t>
            </a:r>
            <a:r>
              <a:rPr lang="zh-CN" altLang="en-US" b="1" dirty="0">
                <a:solidFill>
                  <a:schemeClr val="bg2"/>
                </a:solidFill>
              </a:rPr>
              <a:t>表示成</a:t>
            </a:r>
            <a:r>
              <a:rPr lang="zh-CN" altLang="en-US" b="1" dirty="0" smtClean="0">
                <a:solidFill>
                  <a:schemeClr val="bg2"/>
                </a:solidFill>
              </a:rPr>
              <a:t>二层</a:t>
            </a:r>
            <a:r>
              <a:rPr lang="zh-CN" altLang="en-US" b="1" dirty="0">
                <a:solidFill>
                  <a:schemeClr val="bg2"/>
                </a:solidFill>
              </a:rPr>
              <a:t>子树 </a:t>
            </a:r>
            <a:endParaRPr lang="zh-CN" altLang="en-US" dirty="0">
              <a:solidFill>
                <a:schemeClr val="bg2"/>
              </a:solidFill>
            </a:endParaRPr>
          </a:p>
          <a:p>
            <a:pPr lvl="2">
              <a:lnSpc>
                <a:spcPct val="130000"/>
              </a:lnSpc>
            </a:pPr>
            <a:r>
              <a:rPr lang="zh-CN" altLang="en-US" b="1" dirty="0">
                <a:solidFill>
                  <a:schemeClr val="bg2"/>
                </a:solidFill>
              </a:rPr>
              <a:t>用该子树替换该叶结点 </a:t>
            </a:r>
            <a:endParaRPr lang="zh-CN" altLang="en-US" dirty="0">
              <a:solidFill>
                <a:schemeClr val="bg2"/>
              </a:solidFill>
            </a:endParaRPr>
          </a:p>
          <a:p>
            <a:pPr>
              <a:lnSpc>
                <a:spcPct val="130000"/>
              </a:lnSpc>
            </a:pPr>
            <a:r>
              <a:rPr lang="en-US" altLang="zh-CN" dirty="0">
                <a:solidFill>
                  <a:schemeClr val="bg2"/>
                </a:solidFill>
              </a:rPr>
              <a:t>• </a:t>
            </a:r>
            <a:r>
              <a:rPr lang="zh-CN" altLang="en-US" b="1" dirty="0">
                <a:solidFill>
                  <a:schemeClr val="bg2"/>
                </a:solidFill>
              </a:rPr>
              <a:t>继续递归树的生成，直到树中无函数项 </a:t>
            </a:r>
            <a:r>
              <a:rPr lang="en-US" altLang="zh-CN" b="1" dirty="0" smtClean="0">
                <a:solidFill>
                  <a:schemeClr val="bg2"/>
                </a:solidFill>
              </a:rPr>
              <a:t>(</a:t>
            </a:r>
            <a:r>
              <a:rPr lang="zh-CN" altLang="en-US" b="1" dirty="0">
                <a:solidFill>
                  <a:schemeClr val="bg2"/>
                </a:solidFill>
              </a:rPr>
              <a:t>只有初值</a:t>
            </a:r>
            <a:r>
              <a:rPr lang="en-US" altLang="zh-CN" b="1" dirty="0">
                <a:solidFill>
                  <a:schemeClr val="bg2"/>
                </a:solidFill>
              </a:rPr>
              <a:t>)</a:t>
            </a:r>
            <a:r>
              <a:rPr lang="zh-CN" altLang="en-US" b="1" dirty="0" smtClean="0">
                <a:solidFill>
                  <a:schemeClr val="bg2"/>
                </a:solidFill>
              </a:rPr>
              <a:t>为止</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left)">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left)">
                                      <p:cBhvr>
                                        <p:cTn id="12" dur="500"/>
                                        <p:tgtEl>
                                          <p:spTgt spid="7">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wipe(left)">
                                      <p:cBhvr>
                                        <p:cTn id="15" dur="500"/>
                                        <p:tgtEl>
                                          <p:spTgt spid="7">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wipe(left)">
                                      <p:cBhvr>
                                        <p:cTn id="18" dur="500"/>
                                        <p:tgtEl>
                                          <p:spTgt spid="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Effect transition="in" filter="wipe(left)">
                                      <p:cBhvr>
                                        <p:cTn id="23"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385445" y="1628775"/>
            <a:ext cx="8131175" cy="535531"/>
          </a:xfrm>
          <a:prstGeom prst="rect">
            <a:avLst/>
          </a:prstGeom>
        </p:spPr>
        <p:txBody>
          <a:bodyPr wrap="square">
            <a:spAutoFit/>
          </a:bodyPr>
          <a:lstStyle/>
          <a:p>
            <a:pPr marL="342900" indent="-342900">
              <a:lnSpc>
                <a:spcPct val="120000"/>
              </a:lnSpc>
              <a:buClr>
                <a:srgbClr val="000000"/>
              </a:buClr>
              <a:buFont typeface="Wingdings" panose="05000000000000000000" charset="0"/>
              <a:buChar char="l"/>
            </a:pPr>
            <a:r>
              <a:rPr lang="zh-CN" altLang="en-US" b="1" dirty="0">
                <a:solidFill>
                  <a:schemeClr val="bg2"/>
                </a:solidFill>
              </a:rPr>
              <a:t>递归</a:t>
            </a:r>
            <a:r>
              <a:rPr lang="zh-CN" altLang="en-US" b="1" dirty="0" smtClean="0">
                <a:solidFill>
                  <a:schemeClr val="bg2"/>
                </a:solidFill>
              </a:rPr>
              <a:t>树</a:t>
            </a:r>
            <a:r>
              <a:rPr lang="zh-CN" altLang="zh-CN" b="1" dirty="0" smtClean="0">
                <a:solidFill>
                  <a:schemeClr val="bg2"/>
                </a:solidFill>
              </a:rPr>
              <a:t>求解递归方程</a:t>
            </a:r>
            <a:endParaRPr lang="zh-CN" altLang="zh-CN" b="1" dirty="0" smtClean="0">
              <a:solidFill>
                <a:schemeClr val="bg2"/>
              </a:solidFill>
            </a:endParaRPr>
          </a:p>
        </p:txBody>
      </p:sp>
      <p:pic>
        <p:nvPicPr>
          <p:cNvPr id="3481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69585"/>
          <a:stretch>
            <a:fillRect/>
          </a:stretch>
        </p:blipFill>
        <p:spPr bwMode="auto">
          <a:xfrm>
            <a:off x="542256" y="2348880"/>
            <a:ext cx="3124200" cy="921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36956"/>
          <a:stretch>
            <a:fillRect/>
          </a:stretch>
        </p:blipFill>
        <p:spPr bwMode="auto">
          <a:xfrm>
            <a:off x="1907704" y="3212976"/>
            <a:ext cx="3124200" cy="1909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2" name="组合 11"/>
          <p:cNvGrpSpPr/>
          <p:nvPr/>
        </p:nvGrpSpPr>
        <p:grpSpPr>
          <a:xfrm>
            <a:off x="542256" y="3814852"/>
            <a:ext cx="835485" cy="720080"/>
            <a:chOff x="1504267" y="3717032"/>
            <a:chExt cx="835485" cy="720080"/>
          </a:xfrm>
        </p:grpSpPr>
        <p:sp>
          <p:nvSpPr>
            <p:cNvPr id="8" name="椭圆 7"/>
            <p:cNvSpPr/>
            <p:nvPr/>
          </p:nvSpPr>
          <p:spPr bwMode="auto">
            <a:xfrm>
              <a:off x="1763688" y="4224923"/>
              <a:ext cx="216024" cy="212189"/>
            </a:xfrm>
            <a:prstGeom prst="ellipse">
              <a:avLst/>
            </a:prstGeom>
            <a:noFill/>
            <a:ln w="28575" cap="sq" cmpd="sng" algn="ctr">
              <a:solidFill>
                <a:schemeClr val="bg2"/>
              </a:solidFill>
              <a:prstDash val="solid"/>
              <a:round/>
              <a:headEnd type="none" w="sm" len="sm"/>
              <a:tailEnd type="none" w="sm" len="sm"/>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9" name="TextBox 8"/>
            <p:cNvSpPr txBox="1"/>
            <p:nvPr/>
          </p:nvSpPr>
          <p:spPr>
            <a:xfrm>
              <a:off x="1504267" y="3717032"/>
              <a:ext cx="835485" cy="461665"/>
            </a:xfrm>
            <a:prstGeom prst="rect">
              <a:avLst/>
            </a:prstGeom>
            <a:noFill/>
          </p:spPr>
          <p:txBody>
            <a:bodyPr wrap="none" rtlCol="0">
              <a:spAutoFit/>
            </a:bodyPr>
            <a:lstStyle/>
            <a:p>
              <a:r>
                <a:rPr lang="en-US" altLang="zh-CN" b="1" i="1" dirty="0" smtClean="0">
                  <a:solidFill>
                    <a:schemeClr val="bg2"/>
                  </a:solidFill>
                </a:rPr>
                <a:t>W</a:t>
              </a:r>
              <a:r>
                <a:rPr lang="en-US" altLang="zh-CN" dirty="0" smtClean="0">
                  <a:solidFill>
                    <a:schemeClr val="bg2"/>
                  </a:solidFill>
                </a:rPr>
                <a:t>(</a:t>
              </a:r>
              <a:r>
                <a:rPr lang="en-US" altLang="zh-CN" b="1" i="1" dirty="0" smtClean="0">
                  <a:solidFill>
                    <a:schemeClr val="bg2"/>
                  </a:solidFill>
                </a:rPr>
                <a:t>n</a:t>
              </a:r>
              <a:r>
                <a:rPr lang="en-US" altLang="zh-CN" dirty="0" smtClean="0">
                  <a:solidFill>
                    <a:schemeClr val="bg2"/>
                  </a:solidFill>
                </a:rPr>
                <a:t>)</a:t>
              </a:r>
              <a:endParaRPr lang="zh-CN" altLang="en-US" dirty="0">
                <a:solidFill>
                  <a:schemeClr val="bg2"/>
                </a:solidFill>
              </a:endParaRPr>
            </a:p>
          </p:txBody>
        </p:sp>
      </p:grpSp>
      <p:sp>
        <p:nvSpPr>
          <p:cNvPr id="13" name="右箭头 12"/>
          <p:cNvSpPr/>
          <p:nvPr/>
        </p:nvSpPr>
        <p:spPr bwMode="auto">
          <a:xfrm>
            <a:off x="1356117" y="3968940"/>
            <a:ext cx="1703715" cy="255984"/>
          </a:xfrm>
          <a:prstGeom prst="rightArrow">
            <a:avLst/>
          </a:prstGeom>
          <a:solidFill>
            <a:schemeClr val="accent1"/>
          </a:solidFill>
          <a:ln w="12700" cap="sq" cmpd="sng" algn="ctr">
            <a:solidFill>
              <a:schemeClr val="tx1"/>
            </a:solidFill>
            <a:prstDash val="solid"/>
            <a:round/>
            <a:headEnd type="none" w="sm" len="sm"/>
            <a:tailEnd type="none" w="sm" len="sm"/>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3381950"/>
            <a:ext cx="360045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右箭头 15"/>
          <p:cNvSpPr/>
          <p:nvPr/>
        </p:nvSpPr>
        <p:spPr bwMode="auto">
          <a:xfrm>
            <a:off x="4427984" y="3933056"/>
            <a:ext cx="1263109" cy="255984"/>
          </a:xfrm>
          <a:prstGeom prst="rightArrow">
            <a:avLst/>
          </a:prstGeom>
          <a:solidFill>
            <a:schemeClr val="accent1"/>
          </a:solidFill>
          <a:ln w="12700" cap="sq" cmpd="sng" algn="ctr">
            <a:solidFill>
              <a:schemeClr val="tx1"/>
            </a:solidFill>
            <a:prstDash val="solid"/>
            <a:round/>
            <a:headEnd type="none" w="sm" len="sm"/>
            <a:tailEnd type="none" w="sm" len="sm"/>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3" presetID="2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500"/>
                                        <p:tgtEl>
                                          <p:spTgt spid="16"/>
                                        </p:tgtEl>
                                      </p:cBhvr>
                                    </p:animEffect>
                                  </p:childTnLst>
                                </p:cTn>
                              </p:par>
                              <p:par>
                                <p:cTn id="21" presetID="22" presetClass="entr" presetSubtype="8" fill="hold" nodeType="withEffect">
                                  <p:stCondLst>
                                    <p:cond delay="0"/>
                                  </p:stCondLst>
                                  <p:childTnLst>
                                    <p:set>
                                      <p:cBhvr>
                                        <p:cTn id="22" dur="1" fill="hold">
                                          <p:stCondLst>
                                            <p:cond delay="0"/>
                                          </p:stCondLst>
                                        </p:cTn>
                                        <p:tgtEl>
                                          <p:spTgt spid="34819"/>
                                        </p:tgtEl>
                                        <p:attrNameLst>
                                          <p:attrName>style.visibility</p:attrName>
                                        </p:attrNameLst>
                                      </p:cBhvr>
                                      <p:to>
                                        <p:strVal val="visible"/>
                                      </p:to>
                                    </p:set>
                                    <p:animEffect transition="in" filter="wipe(left)">
                                      <p:cBhvr>
                                        <p:cTn id="23" dur="500"/>
                                        <p:tgtEl>
                                          <p:spTgt spid="34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6" grpId="0" animBg="1"/>
      <p:bldP spid="1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pic>
        <p:nvPicPr>
          <p:cNvPr id="35842"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158" t="4302"/>
          <a:stretch>
            <a:fillRect/>
          </a:stretch>
        </p:blipFill>
        <p:spPr bwMode="auto">
          <a:xfrm>
            <a:off x="899592" y="1772816"/>
            <a:ext cx="6840760" cy="4413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箭头连接符 4"/>
          <p:cNvCxnSpPr/>
          <p:nvPr/>
        </p:nvCxnSpPr>
        <p:spPr bwMode="auto">
          <a:xfrm>
            <a:off x="1115616" y="3717032"/>
            <a:ext cx="5688632" cy="0"/>
          </a:xfrm>
          <a:prstGeom prst="straightConnector1">
            <a:avLst/>
          </a:prstGeom>
          <a:solidFill>
            <a:schemeClr val="accent1"/>
          </a:solidFill>
          <a:ln w="38100" cap="sq" cmpd="sng" algn="ctr">
            <a:solidFill>
              <a:srgbClr val="FF0000"/>
            </a:solidFill>
            <a:prstDash val="solid"/>
            <a:round/>
            <a:headEnd type="none" w="sm" len="sm"/>
            <a:tailEnd type="arrow"/>
          </a:ln>
        </p:spPr>
      </p:cxnSp>
      <p:cxnSp>
        <p:nvCxnSpPr>
          <p:cNvPr id="17" name="直接箭头连接符 16"/>
          <p:cNvCxnSpPr/>
          <p:nvPr/>
        </p:nvCxnSpPr>
        <p:spPr bwMode="auto">
          <a:xfrm>
            <a:off x="7740352" y="2035595"/>
            <a:ext cx="0" cy="3888432"/>
          </a:xfrm>
          <a:prstGeom prst="straightConnector1">
            <a:avLst/>
          </a:prstGeom>
          <a:solidFill>
            <a:schemeClr val="accent1"/>
          </a:solidFill>
          <a:ln w="38100" cap="sq" cmpd="sng" algn="ctr">
            <a:solidFill>
              <a:schemeClr val="accent6"/>
            </a:solidFill>
            <a:prstDash val="solid"/>
            <a:round/>
            <a:headEnd type="none" w="sm" len="sm"/>
            <a:tailEnd type="arrow"/>
          </a:ln>
        </p:spPr>
      </p:cxnSp>
      <p:sp>
        <p:nvSpPr>
          <p:cNvPr id="3" name="文本框 2"/>
          <p:cNvSpPr txBox="1"/>
          <p:nvPr/>
        </p:nvSpPr>
        <p:spPr>
          <a:xfrm>
            <a:off x="5350510" y="3256915"/>
            <a:ext cx="1106170" cy="460375"/>
          </a:xfrm>
          <a:prstGeom prst="rect">
            <a:avLst/>
          </a:prstGeom>
          <a:noFill/>
        </p:spPr>
        <p:txBody>
          <a:bodyPr wrap="square" rtlCol="0">
            <a:spAutoFit/>
          </a:bodyPr>
          <a:lstStyle/>
          <a:p>
            <a:r>
              <a:rPr lang="zh-CN" altLang="en-US">
                <a:solidFill>
                  <a:srgbClr val="FF0000"/>
                </a:solidFill>
              </a:rPr>
              <a:t>求层和</a:t>
            </a:r>
            <a:endParaRPr lang="zh-CN" altLang="en-US">
              <a:solidFill>
                <a:srgbClr val="FF0000"/>
              </a:solidFill>
            </a:endParaRPr>
          </a:p>
        </p:txBody>
      </p:sp>
      <p:sp>
        <p:nvSpPr>
          <p:cNvPr id="4" name="文本框 3"/>
          <p:cNvSpPr txBox="1"/>
          <p:nvPr/>
        </p:nvSpPr>
        <p:spPr>
          <a:xfrm>
            <a:off x="7853045" y="3010535"/>
            <a:ext cx="464185" cy="1938020"/>
          </a:xfrm>
          <a:prstGeom prst="rect">
            <a:avLst/>
          </a:prstGeom>
          <a:noFill/>
        </p:spPr>
        <p:txBody>
          <a:bodyPr wrap="square" rtlCol="0">
            <a:spAutoFit/>
          </a:bodyPr>
          <a:lstStyle/>
          <a:p>
            <a:r>
              <a:rPr lang="zh-CN" altLang="en-US" b="1">
                <a:solidFill>
                  <a:schemeClr val="accent6"/>
                </a:solidFill>
              </a:rPr>
              <a:t>各层和</a:t>
            </a:r>
            <a:endParaRPr lang="zh-CN" altLang="en-US" b="1">
              <a:solidFill>
                <a:schemeClr val="accent6"/>
              </a:solidFill>
            </a:endParaRPr>
          </a:p>
          <a:p>
            <a:r>
              <a:rPr lang="zh-CN" altLang="en-US" b="1">
                <a:solidFill>
                  <a:schemeClr val="accent6"/>
                </a:solidFill>
              </a:rPr>
              <a:t>求和</a:t>
            </a:r>
            <a:endParaRPr lang="zh-CN" altLang="en-US" b="1">
              <a:solidFill>
                <a:schemeClr val="accent6"/>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up)">
                                      <p:cBhvr>
                                        <p:cTn id="16" dur="500"/>
                                        <p:tgtEl>
                                          <p:spTgt spid="17"/>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pic>
        <p:nvPicPr>
          <p:cNvPr id="36866"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b="57143"/>
          <a:stretch>
            <a:fillRect/>
          </a:stretch>
        </p:blipFill>
        <p:spPr bwMode="auto">
          <a:xfrm>
            <a:off x="1403350" y="1700530"/>
            <a:ext cx="5688330" cy="161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custDataLst>
              <p:tags r:id="rId3"/>
            </p:custDataLst>
          </p:nvPr>
        </p:nvPicPr>
        <p:blipFill>
          <a:blip r:embed="rId2">
            <a:extLst>
              <a:ext uri="{28A0092B-C50C-407E-A947-70E740481C1C}">
                <a14:useLocalDpi xmlns:a14="http://schemas.microsoft.com/office/drawing/2010/main" val="0"/>
              </a:ext>
            </a:extLst>
          </a:blip>
          <a:srcRect t="45216"/>
          <a:stretch>
            <a:fillRect/>
          </a:stretch>
        </p:blipFill>
        <p:spPr bwMode="auto">
          <a:xfrm>
            <a:off x="1522730" y="3598267"/>
            <a:ext cx="5688330" cy="206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pic>
        <p:nvPicPr>
          <p:cNvPr id="3789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86568"/>
          <a:stretch>
            <a:fillRect/>
          </a:stretch>
        </p:blipFill>
        <p:spPr bwMode="auto">
          <a:xfrm>
            <a:off x="1095024" y="1556792"/>
            <a:ext cx="6192688" cy="637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13925"/>
          <a:stretch>
            <a:fillRect/>
          </a:stretch>
        </p:blipFill>
        <p:spPr bwMode="auto">
          <a:xfrm>
            <a:off x="1259632" y="2240272"/>
            <a:ext cx="6192688" cy="4086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4" name="矩形 3"/>
          <p:cNvSpPr/>
          <p:nvPr/>
        </p:nvSpPr>
        <p:spPr>
          <a:xfrm>
            <a:off x="359568" y="1737518"/>
            <a:ext cx="8424863" cy="4194175"/>
          </a:xfrm>
          <a:prstGeom prst="rect">
            <a:avLst/>
          </a:prstGeom>
          <a:noFill/>
          <a:ln w="9525">
            <a:noFill/>
          </a:ln>
        </p:spPr>
        <p:txBody>
          <a:bodyPr>
            <a:spAutoFit/>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marL="262255" indent="-262255" defTabSz="914400" eaLnBrk="1" hangingPunct="1">
              <a:lnSpc>
                <a:spcPct val="120000"/>
              </a:lnSpc>
              <a:buFont typeface="Wingdings" panose="05000000000000000000" pitchFamily="2" charset="2"/>
              <a:tabLst>
                <a:tab pos="803275" algn="l"/>
                <a:tab pos="987425" algn="l"/>
              </a:tabLst>
            </a:pPr>
            <a:r>
              <a:rPr lang="zh-CN" altLang="en-US" sz="2800" dirty="0">
                <a:solidFill>
                  <a:srgbClr val="4B4B4B"/>
                </a:solidFill>
                <a:latin typeface="Verdana" panose="020B0604030504040204" pitchFamily="34" charset="0"/>
                <a:ea typeface="楷体_GB2312" pitchFamily="49" charset="-122"/>
              </a:rPr>
              <a:t>可见每层的值都</a:t>
            </a:r>
            <a:r>
              <a:rPr lang="zh-CN" altLang="en-US" sz="2800" dirty="0" smtClean="0">
                <a:solidFill>
                  <a:srgbClr val="4B4B4B"/>
                </a:solidFill>
                <a:latin typeface="Verdana" panose="020B0604030504040204" pitchFamily="34" charset="0"/>
                <a:ea typeface="楷体_GB2312" pitchFamily="49" charset="-122"/>
              </a:rPr>
              <a:t>为</a:t>
            </a:r>
            <a:r>
              <a:rPr lang="en-US" altLang="zh-CN" sz="2800" b="1" i="1" dirty="0" smtClean="0">
                <a:solidFill>
                  <a:srgbClr val="4B4B4B"/>
                </a:solidFill>
                <a:latin typeface="Times New Roman" panose="02020603050405020304" pitchFamily="18" charset="0"/>
                <a:ea typeface="楷体_GB2312" pitchFamily="49" charset="-122"/>
                <a:cs typeface="Times New Roman" panose="02020603050405020304" pitchFamily="18" charset="0"/>
              </a:rPr>
              <a:t>n</a:t>
            </a:r>
            <a:r>
              <a:rPr lang="zh-CN" altLang="en-US" sz="2800" dirty="0" smtClean="0">
                <a:solidFill>
                  <a:srgbClr val="4B4B4B"/>
                </a:solidFill>
                <a:latin typeface="Verdana" panose="020B0604030504040204" pitchFamily="34" charset="0"/>
                <a:ea typeface="楷体_GB2312" pitchFamily="49" charset="-122"/>
              </a:rPr>
              <a:t>，</a:t>
            </a:r>
            <a:r>
              <a:rPr lang="zh-CN" altLang="en-US" sz="2800" dirty="0">
                <a:solidFill>
                  <a:srgbClr val="4B4B4B"/>
                </a:solidFill>
                <a:latin typeface="Verdana" panose="020B0604030504040204" pitchFamily="34" charset="0"/>
                <a:ea typeface="楷体_GB2312" pitchFamily="49" charset="-122"/>
              </a:rPr>
              <a:t>从根到叶节点的最长路径是：</a:t>
            </a:r>
            <a:endParaRPr lang="zh-CN" altLang="en-US" sz="2800" dirty="0">
              <a:solidFill>
                <a:srgbClr val="4B4B4B"/>
              </a:solidFill>
              <a:latin typeface="Verdana" panose="020B0604030504040204" pitchFamily="34" charset="0"/>
              <a:ea typeface="楷体_GB2312" pitchFamily="49" charset="-122"/>
            </a:endParaRPr>
          </a:p>
          <a:p>
            <a:pPr marL="262255" indent="-262255" defTabSz="914400" eaLnBrk="1" hangingPunct="1">
              <a:lnSpc>
                <a:spcPct val="120000"/>
              </a:lnSpc>
              <a:buFont typeface="Wingdings" panose="05000000000000000000" pitchFamily="2" charset="2"/>
              <a:tabLst>
                <a:tab pos="803275" algn="l"/>
                <a:tab pos="987425" algn="l"/>
              </a:tabLst>
            </a:pPr>
            <a:endParaRPr lang="zh-CN" altLang="en-US" sz="2800" dirty="0">
              <a:solidFill>
                <a:srgbClr val="4B4B4B"/>
              </a:solidFill>
              <a:latin typeface="Verdana" panose="020B0604030504040204" pitchFamily="34" charset="0"/>
              <a:ea typeface="楷体_GB2312" pitchFamily="49" charset="-122"/>
            </a:endParaRPr>
          </a:p>
          <a:p>
            <a:pPr marL="262255" indent="-262255" defTabSz="914400" eaLnBrk="1" hangingPunct="1">
              <a:lnSpc>
                <a:spcPct val="120000"/>
              </a:lnSpc>
              <a:buFont typeface="Wingdings" panose="05000000000000000000" pitchFamily="2" charset="2"/>
              <a:tabLst>
                <a:tab pos="803275" algn="l"/>
                <a:tab pos="987425" algn="l"/>
              </a:tabLst>
            </a:pPr>
            <a:endParaRPr lang="zh-CN" altLang="en-US" sz="2800" dirty="0">
              <a:solidFill>
                <a:srgbClr val="4B4B4B"/>
              </a:solidFill>
              <a:latin typeface="Verdana" panose="020B0604030504040204" pitchFamily="34" charset="0"/>
              <a:ea typeface="楷体_GB2312" pitchFamily="49" charset="-122"/>
            </a:endParaRPr>
          </a:p>
          <a:p>
            <a:pPr marL="262255" indent="-262255" defTabSz="914400" eaLnBrk="1" hangingPunct="1">
              <a:lnSpc>
                <a:spcPct val="120000"/>
              </a:lnSpc>
              <a:buFont typeface="Wingdings" panose="05000000000000000000" pitchFamily="2" charset="2"/>
              <a:tabLst>
                <a:tab pos="803275" algn="l"/>
                <a:tab pos="987425" algn="l"/>
              </a:tabLst>
            </a:pPr>
            <a:r>
              <a:rPr lang="zh-CN" altLang="en-US" sz="2800" dirty="0">
                <a:solidFill>
                  <a:srgbClr val="4B4B4B"/>
                </a:solidFill>
                <a:latin typeface="Verdana" panose="020B0604030504040204" pitchFamily="34" charset="0"/>
                <a:ea typeface="楷体_GB2312" pitchFamily="49" charset="-122"/>
              </a:rPr>
              <a:t>因为最后递归的停止是在</a:t>
            </a:r>
            <a:r>
              <a:rPr lang="en-US" altLang="zh-CN" sz="2800" dirty="0">
                <a:solidFill>
                  <a:srgbClr val="4B4B4B"/>
                </a:solidFill>
                <a:latin typeface="Times New Roman" panose="02020603050405020304" pitchFamily="18" charset="0"/>
                <a:ea typeface="楷体_GB2312" pitchFamily="49" charset="-122"/>
                <a:cs typeface="Times New Roman" panose="02020603050405020304" pitchFamily="18" charset="0"/>
              </a:rPr>
              <a:t>(2/3)</a:t>
            </a:r>
            <a:r>
              <a:rPr lang="en-US" altLang="zh-CN" sz="2800" b="1" i="1" baseline="30000" dirty="0" err="1">
                <a:solidFill>
                  <a:srgbClr val="4B4B4B"/>
                </a:solidFill>
                <a:latin typeface="Times New Roman" panose="02020603050405020304" pitchFamily="18" charset="0"/>
                <a:ea typeface="楷体_GB2312" pitchFamily="49" charset="-122"/>
                <a:cs typeface="Times New Roman" panose="02020603050405020304" pitchFamily="18" charset="0"/>
              </a:rPr>
              <a:t>k</a:t>
            </a:r>
            <a:r>
              <a:rPr lang="en-US" altLang="zh-CN" sz="2800" b="1" i="1" dirty="0" err="1">
                <a:solidFill>
                  <a:srgbClr val="4B4B4B"/>
                </a:solidFill>
                <a:latin typeface="Times New Roman" panose="02020603050405020304" pitchFamily="18" charset="0"/>
                <a:ea typeface="楷体_GB2312" pitchFamily="49" charset="-122"/>
                <a:cs typeface="Times New Roman" panose="02020603050405020304" pitchFamily="18" charset="0"/>
              </a:rPr>
              <a:t>n</a:t>
            </a:r>
            <a:r>
              <a:rPr lang="en-US" altLang="zh-CN" sz="2800" dirty="0">
                <a:solidFill>
                  <a:srgbClr val="4B4B4B"/>
                </a:solidFill>
                <a:latin typeface="Times New Roman" panose="02020603050405020304" pitchFamily="18" charset="0"/>
                <a:ea typeface="楷体_GB2312" pitchFamily="49" charset="-122"/>
                <a:cs typeface="Times New Roman" panose="02020603050405020304" pitchFamily="18" charset="0"/>
              </a:rPr>
              <a:t> == 1</a:t>
            </a:r>
            <a:r>
              <a:rPr lang="en-US" altLang="zh-CN" sz="2800" dirty="0">
                <a:solidFill>
                  <a:srgbClr val="4B4B4B"/>
                </a:solidFill>
                <a:latin typeface="Verdana" panose="020B0604030504040204" pitchFamily="34" charset="0"/>
                <a:ea typeface="楷体_GB2312" pitchFamily="49" charset="-122"/>
              </a:rPr>
              <a:t>.</a:t>
            </a:r>
            <a:r>
              <a:rPr lang="zh-CN" altLang="en-US" sz="2800" dirty="0">
                <a:solidFill>
                  <a:srgbClr val="4B4B4B"/>
                </a:solidFill>
                <a:latin typeface="Verdana" panose="020B0604030504040204" pitchFamily="34" charset="0"/>
                <a:ea typeface="楷体_GB2312" pitchFamily="49" charset="-122"/>
              </a:rPr>
              <a:t>则</a:t>
            </a:r>
            <a:endParaRPr lang="zh-CN" altLang="en-US" sz="2800" dirty="0">
              <a:solidFill>
                <a:srgbClr val="4B4B4B"/>
              </a:solidFill>
              <a:latin typeface="Verdana" panose="020B0604030504040204" pitchFamily="34" charset="0"/>
              <a:ea typeface="楷体_GB2312" pitchFamily="49" charset="-122"/>
            </a:endParaRPr>
          </a:p>
          <a:p>
            <a:pPr marL="262255" indent="-262255" defTabSz="914400" eaLnBrk="1" hangingPunct="1">
              <a:lnSpc>
                <a:spcPct val="120000"/>
              </a:lnSpc>
              <a:buFont typeface="Wingdings" panose="05000000000000000000" pitchFamily="2" charset="2"/>
              <a:tabLst>
                <a:tab pos="803275" algn="l"/>
                <a:tab pos="987425" algn="l"/>
              </a:tabLst>
            </a:pPr>
            <a:endParaRPr lang="zh-CN" altLang="en-US" sz="2800" dirty="0">
              <a:solidFill>
                <a:srgbClr val="4B4B4B"/>
              </a:solidFill>
              <a:latin typeface="Verdana" panose="020B0604030504040204" pitchFamily="34" charset="0"/>
              <a:ea typeface="楷体_GB2312" pitchFamily="49" charset="-122"/>
            </a:endParaRPr>
          </a:p>
          <a:p>
            <a:pPr marL="262255" indent="-262255" defTabSz="914400" eaLnBrk="1" hangingPunct="1">
              <a:lnSpc>
                <a:spcPct val="120000"/>
              </a:lnSpc>
              <a:buFont typeface="Wingdings" panose="05000000000000000000" pitchFamily="2" charset="2"/>
              <a:tabLst>
                <a:tab pos="803275" algn="l"/>
                <a:tab pos="987425" algn="l"/>
              </a:tabLst>
            </a:pPr>
            <a:endParaRPr lang="zh-CN" altLang="en-US" sz="2800" dirty="0">
              <a:solidFill>
                <a:srgbClr val="4B4B4B"/>
              </a:solidFill>
              <a:latin typeface="Verdana" panose="020B0604030504040204" pitchFamily="34" charset="0"/>
              <a:ea typeface="楷体_GB2312" pitchFamily="49" charset="-122"/>
            </a:endParaRPr>
          </a:p>
          <a:p>
            <a:pPr marL="262255" indent="-262255" defTabSz="914400" eaLnBrk="1" hangingPunct="1">
              <a:lnSpc>
                <a:spcPct val="120000"/>
              </a:lnSpc>
              <a:buFont typeface="Wingdings" panose="05000000000000000000" pitchFamily="2" charset="2"/>
              <a:tabLst>
                <a:tab pos="803275" algn="l"/>
                <a:tab pos="987425" algn="l"/>
              </a:tabLst>
            </a:pPr>
            <a:endParaRPr lang="zh-CN" altLang="en-US" sz="2800" dirty="0">
              <a:solidFill>
                <a:srgbClr val="4B4B4B"/>
              </a:solidFill>
              <a:latin typeface="Verdana" panose="020B0604030504040204" pitchFamily="34" charset="0"/>
              <a:ea typeface="楷体_GB2312" pitchFamily="49" charset="-122"/>
            </a:endParaRPr>
          </a:p>
          <a:p>
            <a:pPr marL="262255" indent="-262255" defTabSz="914400" eaLnBrk="1" hangingPunct="1">
              <a:lnSpc>
                <a:spcPct val="120000"/>
              </a:lnSpc>
              <a:buFont typeface="Wingdings" panose="05000000000000000000" pitchFamily="2" charset="2"/>
              <a:tabLst>
                <a:tab pos="803275" algn="l"/>
                <a:tab pos="987425" algn="l"/>
              </a:tabLst>
            </a:pPr>
            <a:r>
              <a:rPr lang="zh-CN" altLang="en-US" sz="2800" dirty="0">
                <a:solidFill>
                  <a:schemeClr val="bg2"/>
                </a:solidFill>
                <a:latin typeface="楷体_GB2312" pitchFamily="49" charset="-122"/>
                <a:ea typeface="楷体_GB2312" pitchFamily="49" charset="-122"/>
              </a:rPr>
              <a:t>即</a:t>
            </a:r>
            <a:r>
              <a:rPr lang="en-US" altLang="zh-CN" sz="2800" b="1" i="1" dirty="0">
                <a:solidFill>
                  <a:schemeClr val="bg2"/>
                </a:solidFill>
                <a:latin typeface="Times New Roman" panose="02020603050405020304" pitchFamily="18" charset="0"/>
                <a:ea typeface="楷体_GB2312" pitchFamily="49" charset="-122"/>
                <a:cs typeface="Times New Roman" panose="02020603050405020304" pitchFamily="18" charset="0"/>
              </a:rPr>
              <a:t>T</a:t>
            </a:r>
            <a:r>
              <a:rPr lang="en-US" altLang="zh-CN" sz="2800" dirty="0">
                <a:solidFill>
                  <a:schemeClr val="bg2"/>
                </a:solidFill>
                <a:latin typeface="Times New Roman" panose="02020603050405020304" pitchFamily="18" charset="0"/>
                <a:ea typeface="楷体_GB2312" pitchFamily="49" charset="-122"/>
                <a:cs typeface="Times New Roman" panose="02020603050405020304" pitchFamily="18" charset="0"/>
              </a:rPr>
              <a:t>(</a:t>
            </a:r>
            <a:r>
              <a:rPr lang="en-US" altLang="zh-CN" sz="2800" b="1" i="1" dirty="0">
                <a:solidFill>
                  <a:schemeClr val="bg2"/>
                </a:solidFill>
                <a:latin typeface="Times New Roman" panose="02020603050405020304" pitchFamily="18" charset="0"/>
                <a:ea typeface="楷体_GB2312" pitchFamily="49" charset="-122"/>
                <a:cs typeface="Times New Roman" panose="02020603050405020304" pitchFamily="18" charset="0"/>
              </a:rPr>
              <a:t>n</a:t>
            </a:r>
            <a:r>
              <a:rPr lang="en-US" altLang="zh-CN" sz="2800" dirty="0">
                <a:solidFill>
                  <a:schemeClr val="bg2"/>
                </a:solidFill>
                <a:latin typeface="Times New Roman" panose="02020603050405020304" pitchFamily="18" charset="0"/>
                <a:ea typeface="楷体_GB2312" pitchFamily="49" charset="-122"/>
                <a:cs typeface="Times New Roman" panose="02020603050405020304" pitchFamily="18" charset="0"/>
              </a:rPr>
              <a:t>)=</a:t>
            </a:r>
            <a:r>
              <a:rPr lang="en-US" altLang="zh-CN" sz="2800" b="1" i="1" dirty="0">
                <a:solidFill>
                  <a:schemeClr val="bg2"/>
                </a:solidFill>
                <a:latin typeface="Times New Roman" panose="02020603050405020304" pitchFamily="18" charset="0"/>
                <a:ea typeface="楷体_GB2312" pitchFamily="49" charset="-122"/>
                <a:cs typeface="Times New Roman" panose="02020603050405020304" pitchFamily="18" charset="0"/>
              </a:rPr>
              <a:t>O</a:t>
            </a:r>
            <a:r>
              <a:rPr lang="en-US" altLang="zh-CN" sz="2800" dirty="0">
                <a:solidFill>
                  <a:schemeClr val="bg2"/>
                </a:solidFill>
                <a:latin typeface="Times New Roman" panose="02020603050405020304" pitchFamily="18" charset="0"/>
                <a:ea typeface="楷体_GB2312" pitchFamily="49" charset="-122"/>
                <a:cs typeface="Times New Roman" panose="02020603050405020304" pitchFamily="18" charset="0"/>
              </a:rPr>
              <a:t>(</a:t>
            </a:r>
            <a:r>
              <a:rPr lang="en-US" altLang="zh-CN" sz="2800" b="1" i="1" dirty="0" err="1">
                <a:solidFill>
                  <a:schemeClr val="bg2"/>
                </a:solidFill>
                <a:latin typeface="Times New Roman" panose="02020603050405020304" pitchFamily="18" charset="0"/>
                <a:ea typeface="楷体_GB2312" pitchFamily="49" charset="-122"/>
                <a:cs typeface="Times New Roman" panose="02020603050405020304" pitchFamily="18" charset="0"/>
              </a:rPr>
              <a:t>n</a:t>
            </a:r>
            <a:r>
              <a:rPr lang="en-US" altLang="zh-CN" sz="2800" dirty="0" err="1">
                <a:solidFill>
                  <a:schemeClr val="bg2"/>
                </a:solidFill>
                <a:latin typeface="Times New Roman" panose="02020603050405020304" pitchFamily="18" charset="0"/>
                <a:ea typeface="楷体_GB2312" pitchFamily="49" charset="-122"/>
                <a:cs typeface="Times New Roman" panose="02020603050405020304" pitchFamily="18" charset="0"/>
              </a:rPr>
              <a:t>log</a:t>
            </a:r>
            <a:r>
              <a:rPr lang="en-US" altLang="zh-CN" sz="2800" b="1" i="1" dirty="0" err="1">
                <a:solidFill>
                  <a:schemeClr val="bg2"/>
                </a:solidFill>
                <a:latin typeface="Times New Roman" panose="02020603050405020304" pitchFamily="18" charset="0"/>
                <a:ea typeface="楷体_GB2312" pitchFamily="49" charset="-122"/>
                <a:cs typeface="Times New Roman" panose="02020603050405020304" pitchFamily="18" charset="0"/>
              </a:rPr>
              <a:t>n</a:t>
            </a:r>
            <a:r>
              <a:rPr lang="en-US" altLang="zh-CN" sz="2800" dirty="0">
                <a:solidFill>
                  <a:schemeClr val="bg2"/>
                </a:solidFill>
                <a:latin typeface="Times New Roman" panose="02020603050405020304" pitchFamily="18" charset="0"/>
                <a:ea typeface="楷体_GB2312" pitchFamily="49" charset="-122"/>
                <a:cs typeface="Times New Roman" panose="02020603050405020304" pitchFamily="18" charset="0"/>
              </a:rPr>
              <a:t>)</a:t>
            </a:r>
            <a:r>
              <a:rPr lang="zh-CN" altLang="en-US" sz="2800" dirty="0">
                <a:solidFill>
                  <a:schemeClr val="bg2"/>
                </a:solidFill>
                <a:latin typeface="Times New Roman" panose="02020603050405020304" pitchFamily="18" charset="0"/>
                <a:ea typeface="楷体_GB2312" pitchFamily="49" charset="-122"/>
                <a:cs typeface="Times New Roman" panose="02020603050405020304" pitchFamily="18" charset="0"/>
              </a:rPr>
              <a:t>  </a:t>
            </a:r>
            <a:endParaRPr lang="zh-CN" altLang="en-US" sz="2800" dirty="0">
              <a:solidFill>
                <a:schemeClr val="bg2"/>
              </a:solidFill>
              <a:latin typeface="Times New Roman" panose="02020603050405020304" pitchFamily="18" charset="0"/>
              <a:ea typeface="楷体_GB2312" pitchFamily="49" charset="-122"/>
              <a:cs typeface="Times New Roman" panose="02020603050405020304" pitchFamily="18" charset="0"/>
            </a:endParaRPr>
          </a:p>
        </p:txBody>
      </p:sp>
      <p:pic>
        <p:nvPicPr>
          <p:cNvPr id="5" name="20 4" descr="2010122111104433"/>
          <p:cNvPicPr>
            <a:picLocks noChangeAspect="1"/>
          </p:cNvPicPr>
          <p:nvPr/>
        </p:nvPicPr>
        <p:blipFill>
          <a:blip r:embed="rId1"/>
          <a:stretch>
            <a:fillRect/>
          </a:stretch>
        </p:blipFill>
        <p:spPr>
          <a:xfrm>
            <a:off x="1728786" y="2420888"/>
            <a:ext cx="3959225" cy="868363"/>
          </a:xfrm>
          <a:prstGeom prst="rect">
            <a:avLst/>
          </a:prstGeom>
          <a:noFill/>
          <a:ln w="9525">
            <a:noFill/>
          </a:ln>
        </p:spPr>
      </p:pic>
      <p:pic>
        <p:nvPicPr>
          <p:cNvPr id="6" name="20 5" descr="2010122111430244"/>
          <p:cNvPicPr>
            <a:picLocks noChangeAspect="1"/>
          </p:cNvPicPr>
          <p:nvPr/>
        </p:nvPicPr>
        <p:blipFill>
          <a:blip r:embed="rId2"/>
          <a:stretch>
            <a:fillRect/>
          </a:stretch>
        </p:blipFill>
        <p:spPr>
          <a:xfrm>
            <a:off x="2520156" y="3789040"/>
            <a:ext cx="2376487" cy="687387"/>
          </a:xfrm>
          <a:prstGeom prst="rect">
            <a:avLst/>
          </a:prstGeom>
          <a:noFill/>
          <a:ln w="9525">
            <a:noFill/>
          </a:ln>
        </p:spPr>
      </p:pic>
      <p:pic>
        <p:nvPicPr>
          <p:cNvPr id="7" name="20 6" descr="2010122111434841"/>
          <p:cNvPicPr>
            <a:picLocks noChangeAspect="1"/>
          </p:cNvPicPr>
          <p:nvPr/>
        </p:nvPicPr>
        <p:blipFill>
          <a:blip r:embed="rId3"/>
          <a:stretch>
            <a:fillRect/>
          </a:stretch>
        </p:blipFill>
        <p:spPr>
          <a:xfrm>
            <a:off x="2159793" y="4365104"/>
            <a:ext cx="5158866" cy="1043881"/>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left)">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wipe(left)">
                                      <p:cBhvr>
                                        <p:cTn id="2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385445" y="1628775"/>
            <a:ext cx="8131175" cy="535531"/>
          </a:xfrm>
          <a:prstGeom prst="rect">
            <a:avLst/>
          </a:prstGeom>
        </p:spPr>
        <p:txBody>
          <a:bodyPr wrap="square">
            <a:spAutoFit/>
          </a:bodyPr>
          <a:lstStyle/>
          <a:p>
            <a:pPr marL="342900" indent="-342900">
              <a:lnSpc>
                <a:spcPct val="120000"/>
              </a:lnSpc>
              <a:buClr>
                <a:srgbClr val="000000"/>
              </a:buClr>
              <a:buFont typeface="Wingdings" panose="05000000000000000000" charset="0"/>
              <a:buChar char="l"/>
            </a:pPr>
            <a:r>
              <a:rPr lang="zh-CN" altLang="en-US" b="1" dirty="0" smtClean="0">
                <a:solidFill>
                  <a:schemeClr val="bg2"/>
                </a:solidFill>
              </a:rPr>
              <a:t>主</a:t>
            </a:r>
            <a:r>
              <a:rPr lang="zh-CN" altLang="en-US" b="1" dirty="0">
                <a:solidFill>
                  <a:schemeClr val="bg2"/>
                </a:solidFill>
              </a:rPr>
              <a:t>定理</a:t>
            </a:r>
            <a:r>
              <a:rPr lang="zh-CN" altLang="en-US" b="1" dirty="0" smtClean="0">
                <a:solidFill>
                  <a:schemeClr val="bg2"/>
                </a:solidFill>
              </a:rPr>
              <a:t>（</a:t>
            </a:r>
            <a:r>
              <a:rPr lang="en-US" altLang="zh-CN" b="1" dirty="0" smtClean="0">
                <a:solidFill>
                  <a:schemeClr val="bg2"/>
                </a:solidFill>
              </a:rPr>
              <a:t>Master Method</a:t>
            </a:r>
            <a:r>
              <a:rPr lang="zh-CN" altLang="en-US" b="1" dirty="0" smtClean="0">
                <a:solidFill>
                  <a:schemeClr val="bg2"/>
                </a:solidFill>
              </a:rPr>
              <a:t>）</a:t>
            </a:r>
            <a:r>
              <a:rPr lang="zh-CN" altLang="zh-CN" b="1" dirty="0" smtClean="0">
                <a:solidFill>
                  <a:schemeClr val="bg2"/>
                </a:solidFill>
              </a:rPr>
              <a:t>求解递归方程</a:t>
            </a:r>
            <a:endParaRPr lang="zh-CN" altLang="zh-CN" b="1" dirty="0" smtClean="0">
              <a:solidFill>
                <a:schemeClr val="bg2"/>
              </a:solidFill>
            </a:endParaRPr>
          </a:p>
        </p:txBody>
      </p:sp>
      <p:sp>
        <p:nvSpPr>
          <p:cNvPr id="4" name="Rectangle 2"/>
          <p:cNvSpPr>
            <a:spLocks noChangeArrowheads="1"/>
          </p:cNvSpPr>
          <p:nvPr/>
        </p:nvSpPr>
        <p:spPr bwMode="auto">
          <a:xfrm>
            <a:off x="312792" y="2170975"/>
            <a:ext cx="8411210" cy="1353185"/>
          </a:xfrm>
          <a:prstGeom prst="rect">
            <a:avLst/>
          </a:prstGeom>
          <a:noFill/>
          <a:ln w="9525">
            <a:noFill/>
            <a:miter lim="800000"/>
          </a:ln>
          <a:effectLst/>
        </p:spPr>
        <p:txBody>
          <a:bodyPr wrap="non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276225" algn="l" defTabSz="914400" rtl="0" eaLnBrk="1" fontAlgn="auto" latinLnBrk="0" hangingPunct="1">
              <a:lnSpc>
                <a:spcPct val="100000"/>
              </a:lnSpc>
              <a:spcBef>
                <a:spcPts val="0"/>
              </a:spcBef>
              <a:spcAft>
                <a:spcPts val="0"/>
              </a:spcAft>
              <a:buClrTx/>
              <a:buSzTx/>
              <a:buFontTx/>
              <a:buNone/>
              <a:defRPr/>
            </a:pPr>
            <a:r>
              <a:rPr kumimoji="0" lang="zh-CN" sz="2400" b="1" i="0" u="none" strike="noStrike" kern="1200" cap="none" spc="0" normalizeH="0" baseline="0" noProof="0" dirty="0">
                <a:ln>
                  <a:noFill/>
                </a:ln>
                <a:solidFill>
                  <a:schemeClr val="bg2"/>
                </a:solidFill>
                <a:effectLst/>
                <a:uLnTx/>
                <a:uFillTx/>
                <a:latin typeface="+mn-ea"/>
                <a:ea typeface="+mn-ea"/>
                <a:cs typeface="Times New Roman" panose="02020603050405020304" pitchFamily="18" charset="0"/>
              </a:rPr>
              <a:t>定理</a:t>
            </a:r>
            <a:r>
              <a:rPr kumimoji="0" lang="zh-CN" altLang="en-US" sz="2400" b="1" i="0" u="none" strike="noStrike" kern="1200" cap="none" spc="0" normalizeH="0" baseline="0" noProof="0" dirty="0">
                <a:ln>
                  <a:noFill/>
                </a:ln>
                <a:solidFill>
                  <a:schemeClr val="bg2"/>
                </a:solidFill>
                <a:effectLst/>
                <a:uLnTx/>
                <a:uFillTx/>
                <a:latin typeface="+mn-ea"/>
                <a:ea typeface="+mn-ea"/>
                <a:cs typeface="Times New Roman" panose="02020603050405020304" pitchFamily="18" charset="0"/>
              </a:rPr>
              <a:t>：</a:t>
            </a:r>
            <a:r>
              <a:rPr kumimoji="0" lang="zh-CN" altLang="fr-FR"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设</a:t>
            </a:r>
            <a:r>
              <a:rPr kumimoji="0" lang="en-US" altLang="zh-CN" sz="2400" b="1" i="1"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r>
              <a:rPr kumimoji="0" lang="en-US" altLang="zh-CN" sz="2400" b="1" i="1"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&gt;1</a:t>
            </a:r>
            <a:r>
              <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为常数，</a:t>
            </a:r>
            <a:r>
              <a:rPr kumimoji="0" lang="en-US" altLang="zh-CN" sz="2400" b="1" i="1"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为函数，</a:t>
            </a:r>
            <a:r>
              <a:rPr kumimoji="0" lang="en-US" altLang="zh-CN" sz="2400" b="1" i="1"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T</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为非负整数，且</a:t>
            </a:r>
            <a:endPar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marR="0" lvl="0" indent="276225" algn="l" defTabSz="914400" rtl="0" eaLnBrk="0" fontAlgn="auto" latinLnBrk="0" hangingPunct="0">
              <a:lnSpc>
                <a:spcPct val="100000"/>
              </a:lnSpc>
              <a:spcBef>
                <a:spcPts val="600"/>
              </a:spcBef>
              <a:spcAft>
                <a:spcPts val="0"/>
              </a:spcAft>
              <a:buClrTx/>
              <a:buSzTx/>
              <a:buFontTx/>
              <a:buNone/>
              <a:defRPr/>
            </a:pPr>
            <a:r>
              <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T</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分治策略</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marR="0" lvl="0" indent="276225" algn="l" defTabSz="914400" rtl="0" eaLnBrk="0" fontAlgn="auto" latinLnBrk="0" hangingPunct="0">
              <a:lnSpc>
                <a:spcPct val="100000"/>
              </a:lnSpc>
              <a:spcBef>
                <a:spcPts val="600"/>
              </a:spcBef>
              <a:spcAft>
                <a:spcPts val="0"/>
              </a:spcAft>
              <a:buClrTx/>
              <a:buSzTx/>
              <a:buFontTx/>
              <a:buNone/>
              <a:defRPr/>
            </a:pPr>
            <a:r>
              <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则有以下结果：</a:t>
            </a:r>
            <a:endPar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p:txBody>
      </p:sp>
      <p:pic>
        <p:nvPicPr>
          <p:cNvPr id="5" name="Object 1"/>
          <p:cNvPicPr>
            <a:picLocks noChangeAspect="1"/>
          </p:cNvPicPr>
          <p:nvPr/>
        </p:nvPicPr>
        <p:blipFill>
          <a:blip r:embed="rId1"/>
          <a:stretch>
            <a:fillRect/>
          </a:stretch>
        </p:blipFill>
        <p:spPr>
          <a:xfrm>
            <a:off x="960492" y="3573016"/>
            <a:ext cx="6754812" cy="1457325"/>
          </a:xfrm>
          <a:prstGeom prst="rect">
            <a:avLst/>
          </a:prstGeom>
          <a:noFill/>
          <a:ln w="38100">
            <a:noFill/>
            <a:miter/>
          </a:ln>
        </p:spPr>
      </p:pic>
      <p:sp>
        <p:nvSpPr>
          <p:cNvPr id="6" name="TextBox 6"/>
          <p:cNvSpPr txBox="1"/>
          <p:nvPr/>
        </p:nvSpPr>
        <p:spPr>
          <a:xfrm>
            <a:off x="1388482" y="4582228"/>
            <a:ext cx="7127875" cy="1323975"/>
          </a:xfrm>
          <a:prstGeom prst="rect">
            <a:avLst/>
          </a:prstGeom>
          <a:noFill/>
          <a:ln w="9525">
            <a:noFill/>
          </a:ln>
        </p:spPr>
        <p:txBody>
          <a:bodyPr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3200"/>
              </a:lnSpc>
            </a:pPr>
            <a:r>
              <a:rPr lang="zh-CN" altLang="en-US" sz="2400" b="1" dirty="0">
                <a:solidFill>
                  <a:schemeClr val="bg2"/>
                </a:solidFill>
                <a:latin typeface="Times New Roman" panose="02020603050405020304" pitchFamily="18" charset="0"/>
                <a:ea typeface="宋体" panose="02010600030101010101" pitchFamily="2" charset="-122"/>
              </a:rPr>
              <a:t>                                               且对某个常数 </a:t>
            </a:r>
            <a:r>
              <a:rPr lang="en-US" altLang="zh-CN" sz="2400" b="1" i="1" dirty="0">
                <a:solidFill>
                  <a:schemeClr val="bg2"/>
                </a:solidFill>
                <a:latin typeface="Times New Roman" panose="02020603050405020304" pitchFamily="18" charset="0"/>
                <a:ea typeface="宋体" panose="02010600030101010101" pitchFamily="2" charset="-122"/>
              </a:rPr>
              <a:t>c </a:t>
            </a:r>
            <a:r>
              <a:rPr lang="en-US" altLang="zh-CN" sz="2400" b="1" dirty="0">
                <a:solidFill>
                  <a:schemeClr val="bg2"/>
                </a:solidFill>
                <a:latin typeface="Times New Roman" panose="02020603050405020304" pitchFamily="18" charset="0"/>
                <a:ea typeface="宋体" panose="02010600030101010101" pitchFamily="2" charset="-122"/>
              </a:rPr>
              <a:t>&lt;1</a:t>
            </a:r>
            <a:r>
              <a:rPr lang="zh-CN" altLang="en-US" sz="2400" b="1" dirty="0">
                <a:solidFill>
                  <a:schemeClr val="bg2"/>
                </a:solidFill>
                <a:latin typeface="Times New Roman" panose="02020603050405020304" pitchFamily="18" charset="0"/>
                <a:ea typeface="宋体" panose="02010600030101010101" pitchFamily="2" charset="-122"/>
              </a:rPr>
              <a:t>和所有充分大的 </a:t>
            </a:r>
            <a:r>
              <a:rPr lang="en-US" altLang="zh-CN" sz="2400" b="1" i="1" dirty="0">
                <a:solidFill>
                  <a:schemeClr val="bg2"/>
                </a:solidFill>
                <a:latin typeface="Times New Roman" panose="02020603050405020304" pitchFamily="18" charset="0"/>
                <a:ea typeface="宋体" panose="02010600030101010101" pitchFamily="2" charset="-122"/>
              </a:rPr>
              <a:t>n </a:t>
            </a:r>
            <a:r>
              <a:rPr lang="zh-CN" altLang="en-US" sz="2400" b="1" dirty="0" smtClean="0">
                <a:solidFill>
                  <a:schemeClr val="bg2"/>
                </a:solidFill>
                <a:latin typeface="Times New Roman" panose="02020603050405020304" pitchFamily="18" charset="0"/>
                <a:ea typeface="宋体" panose="02010600030101010101" pitchFamily="2" charset="-122"/>
              </a:rPr>
              <a:t>有</a:t>
            </a:r>
            <a:r>
              <a:rPr lang="en-US" altLang="zh-CN" sz="2400" b="1" i="1" dirty="0" smtClean="0">
                <a:solidFill>
                  <a:schemeClr val="bg2"/>
                </a:solidFill>
                <a:latin typeface="Times New Roman" panose="02020603050405020304" pitchFamily="18" charset="0"/>
                <a:ea typeface="宋体" panose="02010600030101010101" pitchFamily="2" charset="-122"/>
              </a:rPr>
              <a:t>a </a:t>
            </a:r>
            <a:r>
              <a:rPr lang="en-US" altLang="zh-CN" sz="2400" b="1" i="1" dirty="0">
                <a:solidFill>
                  <a:schemeClr val="bg2"/>
                </a:solidFill>
                <a:latin typeface="Times New Roman" panose="02020603050405020304" pitchFamily="18" charset="0"/>
                <a:ea typeface="宋体" panose="02010600030101010101" pitchFamily="2" charset="-122"/>
              </a:rPr>
              <a:t>f</a:t>
            </a:r>
            <a:r>
              <a:rPr lang="en-US" altLang="zh-CN" sz="2400" b="1" dirty="0">
                <a:solidFill>
                  <a:schemeClr val="bg2"/>
                </a:solidFill>
                <a:latin typeface="Times New Roman" panose="02020603050405020304" pitchFamily="18" charset="0"/>
                <a:ea typeface="宋体" panose="02010600030101010101" pitchFamily="2" charset="-122"/>
              </a:rPr>
              <a:t>(</a:t>
            </a:r>
            <a:r>
              <a:rPr lang="en-US" altLang="zh-CN" sz="2400" b="1" i="1" dirty="0">
                <a:solidFill>
                  <a:schemeClr val="bg2"/>
                </a:solidFill>
                <a:latin typeface="Times New Roman" panose="02020603050405020304" pitchFamily="18" charset="0"/>
                <a:ea typeface="宋体" panose="02010600030101010101" pitchFamily="2" charset="-122"/>
              </a:rPr>
              <a:t>n/b</a:t>
            </a:r>
            <a:r>
              <a:rPr lang="en-US" altLang="zh-CN" sz="2400" b="1" dirty="0">
                <a:solidFill>
                  <a:schemeClr val="bg2"/>
                </a:solidFill>
                <a:latin typeface="Times New Roman" panose="02020603050405020304" pitchFamily="18" charset="0"/>
                <a:ea typeface="宋体" panose="02010600030101010101" pitchFamily="2" charset="-122"/>
              </a:rPr>
              <a:t>) </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c f</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n</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，那么              </a:t>
            </a:r>
            <a:endPar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endParaRPr>
          </a:p>
          <a:p>
            <a:pPr>
              <a:lnSpc>
                <a:spcPts val="3200"/>
              </a:lnSpc>
            </a:pP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T</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n</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f</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n</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400" b="1" dirty="0">
              <a:solidFill>
                <a:schemeClr val="bg2"/>
              </a:solidFill>
              <a:latin typeface="Times New Roman" panose="02020603050405020304" pitchFamily="18" charset="0"/>
              <a:ea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6" grpId="0"/>
      <p:bldP spid="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76672"/>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7" name="内容占位符 18"/>
          <p:cNvSpPr>
            <a:spLocks noGrp="1"/>
          </p:cNvSpPr>
          <p:nvPr/>
        </p:nvSpPr>
        <p:spPr>
          <a:xfrm>
            <a:off x="395605" y="1875155"/>
            <a:ext cx="8229600" cy="2434590"/>
          </a:xfrm>
          <a:prstGeom prst="rect">
            <a:avLst/>
          </a:prstGeom>
          <a:noFill/>
          <a:ln w="9525">
            <a:noFill/>
          </a:ln>
        </p:spPr>
        <p:txBody>
          <a:bodyPr vert="horz" wrap="square" lIns="91440" tIns="45720" rIns="91440" bIns="45720" numCol="1" rtlCol="0" anchor="t" anchorCtr="0" compatLnSpc="1">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例</a:t>
            </a:r>
            <a:r>
              <a:rPr kumimoji="0" lang="en-US" altLang="zh-CN"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9  </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求解递推方程</a:t>
            </a:r>
            <a:endParaRPr kumimoji="0" lang="zh-CN" altLang="en-US" sz="2400" b="1" i="0" u="none" strike="noStrike" kern="1200" cap="none" spc="0" normalizeH="0" baseline="0" noProof="0" dirty="0" smtClean="0">
              <a:ln>
                <a:noFill/>
              </a:ln>
              <a:solidFill>
                <a:schemeClr val="bg2"/>
              </a:solidFill>
              <a:effectLst/>
              <a:uLnTx/>
              <a:uFillTx/>
              <a:latin typeface="+mn-lt"/>
              <a:ea typeface="+mn-ea"/>
              <a:cs typeface="+mn-cs"/>
            </a:endParaRPr>
          </a:p>
          <a:p>
            <a:pPr marL="323850" marR="0" lvl="0" indent="-342900" algn="l" defTabSz="914400" rtl="0" eaLnBrk="1" fontAlgn="auto" latinLnBrk="0" hangingPunct="1">
              <a:lnSpc>
                <a:spcPct val="100000"/>
              </a:lnSpc>
              <a:spcBef>
                <a:spcPts val="12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解：上述递推方程中的</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                                  </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那么</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 </a:t>
            </a:r>
            <a:endParaRPr kumimoji="0" lang="zh-CN" altLang="en-US"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altLang="zh-CN"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相当于主定理的第一种情况，其中</a:t>
            </a:r>
            <a:r>
              <a:rPr kumimoji="0" lang="en-US" sz="2400" b="1" i="1" u="none" strike="noStrike" kern="1200" cap="none" spc="0" normalizeH="0" baseline="0" noProof="0" dirty="0" smtClean="0">
                <a:ln>
                  <a:noFill/>
                </a:ln>
                <a:solidFill>
                  <a:schemeClr val="bg2"/>
                </a:solidFill>
                <a:effectLst/>
                <a:uLnTx/>
                <a:uFillTx/>
                <a:latin typeface="+mn-lt"/>
                <a:ea typeface="+mn-ea"/>
                <a:cs typeface="+mn-cs"/>
                <a:sym typeface="Symbol" panose="05050102010706020507"/>
              </a:rPr>
              <a:t> </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=1. </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根据定理得到</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 </a:t>
            </a:r>
            <a:endParaRPr kumimoji="0" lang="zh-CN" altLang="en-US" sz="2400" b="1" i="0" u="none" strike="noStrike" kern="1200" cap="none" spc="0" normalizeH="0" baseline="0" noProof="0" dirty="0" smtClean="0">
              <a:ln>
                <a:noFill/>
              </a:ln>
              <a:solidFill>
                <a:schemeClr val="bg2"/>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None/>
              <a:defRPr/>
            </a:pPr>
            <a:endParaRPr kumimoji="0" lang="en-US"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400" b="1" i="0" u="none" strike="noStrike" kern="1200" cap="none" spc="0" normalizeH="0" baseline="0" noProof="0" dirty="0" smtClean="0">
              <a:ln>
                <a:noFill/>
              </a:ln>
              <a:solidFill>
                <a:schemeClr val="bg2"/>
              </a:solidFill>
              <a:effectLst/>
              <a:uLnTx/>
              <a:uFillTx/>
              <a:latin typeface="+mn-lt"/>
              <a:ea typeface="+mn-ea"/>
              <a:cs typeface="+mn-cs"/>
            </a:endParaRPr>
          </a:p>
        </p:txBody>
      </p:sp>
      <p:pic>
        <p:nvPicPr>
          <p:cNvPr id="9" name="Object 16"/>
          <p:cNvPicPr>
            <a:picLocks noChangeAspect="1"/>
          </p:cNvPicPr>
          <p:nvPr/>
        </p:nvPicPr>
        <p:blipFill>
          <a:blip r:embed="rId1"/>
          <a:stretch>
            <a:fillRect/>
          </a:stretch>
        </p:blipFill>
        <p:spPr>
          <a:xfrm>
            <a:off x="3132138" y="1946483"/>
            <a:ext cx="2484437" cy="398463"/>
          </a:xfrm>
          <a:prstGeom prst="rect">
            <a:avLst/>
          </a:prstGeom>
          <a:noFill/>
          <a:ln w="38100">
            <a:noFill/>
            <a:miter/>
          </a:ln>
        </p:spPr>
      </p:pic>
      <p:pic>
        <p:nvPicPr>
          <p:cNvPr id="11" name="Object 18"/>
          <p:cNvPicPr>
            <a:picLocks noChangeAspect="1"/>
          </p:cNvPicPr>
          <p:nvPr/>
        </p:nvPicPr>
        <p:blipFill>
          <a:blip r:embed="rId2"/>
          <a:stretch>
            <a:fillRect/>
          </a:stretch>
        </p:blipFill>
        <p:spPr>
          <a:xfrm>
            <a:off x="3563938" y="2451308"/>
            <a:ext cx="2463800" cy="358775"/>
          </a:xfrm>
          <a:prstGeom prst="rect">
            <a:avLst/>
          </a:prstGeom>
          <a:noFill/>
          <a:ln w="38100">
            <a:noFill/>
            <a:miter/>
          </a:ln>
        </p:spPr>
      </p:pic>
      <p:pic>
        <p:nvPicPr>
          <p:cNvPr id="16" name="Object 24"/>
          <p:cNvPicPr>
            <a:picLocks noChangeAspect="1"/>
          </p:cNvPicPr>
          <p:nvPr/>
        </p:nvPicPr>
        <p:blipFill>
          <a:blip r:embed="rId3"/>
          <a:stretch>
            <a:fillRect/>
          </a:stretch>
        </p:blipFill>
        <p:spPr>
          <a:xfrm>
            <a:off x="2195513" y="2810083"/>
            <a:ext cx="3598862" cy="433388"/>
          </a:xfrm>
          <a:prstGeom prst="rect">
            <a:avLst/>
          </a:prstGeom>
          <a:noFill/>
          <a:ln w="38100">
            <a:noFill/>
            <a:miter/>
          </a:ln>
        </p:spPr>
      </p:pic>
      <p:pic>
        <p:nvPicPr>
          <p:cNvPr id="22" name="Object 30"/>
          <p:cNvPicPr>
            <a:picLocks noChangeAspect="1"/>
          </p:cNvPicPr>
          <p:nvPr/>
        </p:nvPicPr>
        <p:blipFill>
          <a:blip r:embed="rId4"/>
          <a:stretch>
            <a:fillRect/>
          </a:stretch>
        </p:blipFill>
        <p:spPr>
          <a:xfrm>
            <a:off x="2791599" y="3668127"/>
            <a:ext cx="1800225" cy="469900"/>
          </a:xfrm>
          <a:prstGeom prst="rect">
            <a:avLst/>
          </a:prstGeom>
          <a:noFill/>
          <a:ln w="38100">
            <a:noFill/>
            <a:miter/>
          </a:ln>
        </p:spPr>
      </p:pic>
      <p:sp>
        <p:nvSpPr>
          <p:cNvPr id="3" name="文本框 2"/>
          <p:cNvSpPr txBox="1"/>
          <p:nvPr/>
        </p:nvSpPr>
        <p:spPr>
          <a:xfrm>
            <a:off x="1552575" y="4930140"/>
            <a:ext cx="4885690" cy="460375"/>
          </a:xfrm>
          <a:prstGeom prst="rect">
            <a:avLst/>
          </a:prstGeom>
          <a:noFill/>
        </p:spPr>
        <p:txBody>
          <a:bodyPr wrap="square" rtlCol="0" anchor="t">
            <a:spAutoFit/>
          </a:bodyPr>
          <a:lstStyle/>
          <a:p>
            <a:pPr>
              <a:spcBef>
                <a:spcPct val="50000"/>
              </a:spcBef>
            </a:pPr>
            <a:r>
              <a:rPr lang="zh-CN" altLang="en-US" err="1">
                <a:solidFill>
                  <a:schemeClr val="bg2"/>
                </a:solidFill>
                <a:sym typeface="+mn-ea"/>
              </a:rPr>
              <a:t>练习：</a:t>
            </a:r>
            <a:r>
              <a:rPr lang="en-US" altLang="zh-CN" b="1" i="1" err="1">
                <a:solidFill>
                  <a:schemeClr val="bg2"/>
                </a:solidFill>
                <a:sym typeface="+mn-ea"/>
              </a:rPr>
              <a:t>T</a:t>
            </a:r>
            <a:r>
              <a:rPr lang="en-US" altLang="zh-CN" err="1">
                <a:solidFill>
                  <a:schemeClr val="bg2"/>
                </a:solidFill>
                <a:sym typeface="+mn-ea"/>
              </a:rPr>
              <a:t>(</a:t>
            </a:r>
            <a:r>
              <a:rPr lang="en-US" altLang="zh-CN" b="1" i="1" err="1">
                <a:solidFill>
                  <a:schemeClr val="bg2"/>
                </a:solidFill>
                <a:sym typeface="+mn-ea"/>
              </a:rPr>
              <a:t>n</a:t>
            </a:r>
            <a:r>
              <a:rPr lang="en-US" altLang="zh-CN">
                <a:solidFill>
                  <a:schemeClr val="bg2"/>
                </a:solidFill>
                <a:sym typeface="+mn-ea"/>
              </a:rPr>
              <a:t>)=5</a:t>
            </a:r>
            <a:r>
              <a:rPr lang="en-US" altLang="zh-CN" b="1" i="1">
                <a:solidFill>
                  <a:schemeClr val="bg2"/>
                </a:solidFill>
                <a:sym typeface="+mn-ea"/>
              </a:rPr>
              <a:t>T</a:t>
            </a:r>
            <a:r>
              <a:rPr lang="en-US" altLang="zh-CN">
                <a:solidFill>
                  <a:schemeClr val="bg2"/>
                </a:solidFill>
                <a:sym typeface="+mn-ea"/>
              </a:rPr>
              <a:t>(</a:t>
            </a:r>
            <a:r>
              <a:rPr lang="en-US" altLang="zh-CN" b="1" i="1">
                <a:solidFill>
                  <a:schemeClr val="bg2"/>
                </a:solidFill>
                <a:sym typeface="+mn-ea"/>
              </a:rPr>
              <a:t>n</a:t>
            </a:r>
            <a:r>
              <a:rPr lang="en-US" altLang="zh-CN">
                <a:solidFill>
                  <a:schemeClr val="bg2"/>
                </a:solidFill>
                <a:sym typeface="+mn-ea"/>
              </a:rPr>
              <a:t>/2)+ </a:t>
            </a:r>
            <a:r>
              <a:rPr lang="en-US" altLang="zh-CN" b="1" i="1">
                <a:solidFill>
                  <a:schemeClr val="bg2"/>
                </a:solidFill>
                <a:sym typeface="+mn-ea"/>
              </a:rPr>
              <a:t>Θ</a:t>
            </a:r>
            <a:r>
              <a:rPr lang="en-US" altLang="zh-CN">
                <a:solidFill>
                  <a:schemeClr val="bg2"/>
                </a:solidFill>
                <a:sym typeface="+mn-ea"/>
              </a:rPr>
              <a:t>(</a:t>
            </a:r>
            <a:r>
              <a:rPr lang="en-US" altLang="zh-CN" b="1" i="1">
                <a:solidFill>
                  <a:schemeClr val="bg2"/>
                </a:solidFill>
                <a:sym typeface="+mn-ea"/>
              </a:rPr>
              <a:t>n</a:t>
            </a:r>
            <a:r>
              <a:rPr lang="en-US" altLang="zh-CN" baseline="30000">
                <a:solidFill>
                  <a:schemeClr val="bg2"/>
                </a:solidFill>
                <a:sym typeface="+mn-ea"/>
              </a:rPr>
              <a:t>2</a:t>
            </a:r>
            <a:r>
              <a:rPr lang="en-US" altLang="zh-CN">
                <a:solidFill>
                  <a:schemeClr val="bg2"/>
                </a:solidFill>
                <a:sym typeface="+mn-ea"/>
              </a:rPr>
              <a:t>)</a:t>
            </a:r>
            <a:endParaRPr lang="zh-CN" altLang="en-US"/>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76672"/>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7" name="内容占位符 18"/>
          <p:cNvSpPr>
            <a:spLocks noGrp="1"/>
          </p:cNvSpPr>
          <p:nvPr/>
        </p:nvSpPr>
        <p:spPr>
          <a:xfrm>
            <a:off x="395605" y="1946910"/>
            <a:ext cx="8229600" cy="2628900"/>
          </a:xfrm>
          <a:prstGeom prst="rect">
            <a:avLst/>
          </a:prstGeom>
          <a:noFill/>
          <a:ln w="9525">
            <a:noFill/>
          </a:ln>
        </p:spPr>
        <p:txBody>
          <a:bodyPr vert="horz" wrap="square" lIns="91440" tIns="45720" rIns="91440" bIns="45720" numCol="1" rtlCol="0" anchor="t" anchorCtr="0" compatLnSpc="1">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例</a:t>
            </a:r>
            <a:r>
              <a:rPr kumimoji="0" 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1</a:t>
            </a:r>
            <a:r>
              <a:rPr kumimoji="0" lang="en-US" altLang="zh-CN"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0 </a:t>
            </a:r>
            <a:r>
              <a:rPr kumimoji="0" lang="en-US" altLang="zh-CN" sz="2400" b="1" i="0" u="none" strike="noStrike" kern="1200" cap="none" spc="0" normalizeH="0" baseline="0" noProof="0" dirty="0" smtClean="0">
                <a:ln>
                  <a:noFill/>
                </a:ln>
                <a:solidFill>
                  <a:schemeClr val="bg2"/>
                </a:solidFill>
                <a:effectLst/>
                <a:uLnTx/>
                <a:uFillTx/>
                <a:latin typeface="+mn-lt"/>
                <a:ea typeface="+mn-ea"/>
                <a:cs typeface="+mn-cs"/>
              </a:rPr>
              <a:t> </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求解递推方程</a:t>
            </a:r>
            <a:endParaRPr kumimoji="0" lang="zh-CN" altLang="en-US"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解</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  </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上述递推方程中的 </a:t>
            </a:r>
            <a:r>
              <a:rPr kumimoji="0" lang="en-US"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a:t>
            </a:r>
            <a:r>
              <a:rPr kumimoji="0" 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=1, </a:t>
            </a:r>
            <a:r>
              <a:rPr kumimoji="0" lang="en-US"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b</a:t>
            </a:r>
            <a:r>
              <a:rPr kumimoji="0" 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=3/2, </a:t>
            </a:r>
            <a:r>
              <a:rPr kumimoji="0" lang="en-US"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f</a:t>
            </a:r>
            <a:r>
              <a:rPr kumimoji="0" 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en-US"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n</a:t>
            </a:r>
            <a:r>
              <a:rPr kumimoji="0" 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，那么</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 </a:t>
            </a:r>
            <a:endParaRPr kumimoji="0" lang="zh-CN" altLang="en-US"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相当于主定理的第二种情况</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 </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根据定理得到</a:t>
            </a:r>
            <a:r>
              <a:rPr kumimoji="0" lang="en-US" sz="2400" b="1" i="0" u="none" strike="noStrike" kern="1200" cap="none" spc="0" normalizeH="0" baseline="0" noProof="0" dirty="0" smtClean="0">
                <a:ln>
                  <a:noFill/>
                </a:ln>
                <a:solidFill>
                  <a:schemeClr val="bg2"/>
                </a:solidFill>
                <a:effectLst/>
                <a:uLnTx/>
                <a:uFillTx/>
                <a:latin typeface="+mn-lt"/>
                <a:ea typeface="+mn-ea"/>
                <a:cs typeface="+mn-cs"/>
              </a:rPr>
              <a:t> .</a:t>
            </a:r>
            <a:endParaRPr kumimoji="0" lang="zh-CN" altLang="en-US"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zh-CN" altLang="en-US" sz="3200" b="0" i="0" u="none" strike="noStrike" kern="1200" cap="none" spc="0" normalizeH="0" baseline="0" noProof="0" dirty="0">
              <a:ln>
                <a:noFill/>
              </a:ln>
              <a:solidFill>
                <a:schemeClr val="bg2"/>
              </a:solidFill>
              <a:effectLst/>
              <a:uLnTx/>
              <a:uFillTx/>
              <a:latin typeface="+mn-lt"/>
              <a:ea typeface="+mn-ea"/>
              <a:cs typeface="+mn-cs"/>
            </a:endParaRPr>
          </a:p>
        </p:txBody>
      </p:sp>
      <p:pic>
        <p:nvPicPr>
          <p:cNvPr id="14" name="Object 22"/>
          <p:cNvPicPr>
            <a:picLocks noChangeAspect="1"/>
          </p:cNvPicPr>
          <p:nvPr/>
        </p:nvPicPr>
        <p:blipFill>
          <a:blip r:embed="rId1"/>
          <a:stretch>
            <a:fillRect/>
          </a:stretch>
        </p:blipFill>
        <p:spPr>
          <a:xfrm>
            <a:off x="3276600" y="2059836"/>
            <a:ext cx="2205038" cy="360363"/>
          </a:xfrm>
          <a:prstGeom prst="rect">
            <a:avLst/>
          </a:prstGeom>
          <a:noFill/>
          <a:ln w="38100">
            <a:noFill/>
            <a:miter/>
          </a:ln>
        </p:spPr>
      </p:pic>
      <p:pic>
        <p:nvPicPr>
          <p:cNvPr id="18" name="Object 26"/>
          <p:cNvPicPr>
            <a:picLocks noChangeAspect="1"/>
          </p:cNvPicPr>
          <p:nvPr/>
        </p:nvPicPr>
        <p:blipFill>
          <a:blip r:embed="rId2"/>
          <a:stretch>
            <a:fillRect/>
          </a:stretch>
        </p:blipFill>
        <p:spPr>
          <a:xfrm>
            <a:off x="1691680" y="2851924"/>
            <a:ext cx="3441700" cy="503237"/>
          </a:xfrm>
          <a:prstGeom prst="rect">
            <a:avLst/>
          </a:prstGeom>
          <a:noFill/>
          <a:ln w="38100">
            <a:noFill/>
            <a:miter/>
          </a:ln>
        </p:spPr>
      </p:pic>
      <p:pic>
        <p:nvPicPr>
          <p:cNvPr id="20" name="Object 28"/>
          <p:cNvPicPr>
            <a:picLocks noChangeAspect="1"/>
          </p:cNvPicPr>
          <p:nvPr/>
        </p:nvPicPr>
        <p:blipFill>
          <a:blip r:embed="rId3"/>
          <a:stretch>
            <a:fillRect/>
          </a:stretch>
        </p:blipFill>
        <p:spPr>
          <a:xfrm>
            <a:off x="1907704" y="3932044"/>
            <a:ext cx="3816350" cy="473075"/>
          </a:xfrm>
          <a:prstGeom prst="rect">
            <a:avLst/>
          </a:prstGeom>
          <a:noFill/>
          <a:ln w="38100">
            <a:noFill/>
            <a:miter/>
          </a:ln>
        </p:spPr>
      </p:pic>
      <p:sp>
        <p:nvSpPr>
          <p:cNvPr id="3" name="文本框 2"/>
          <p:cNvSpPr txBox="1"/>
          <p:nvPr/>
        </p:nvSpPr>
        <p:spPr>
          <a:xfrm>
            <a:off x="1691640" y="4873625"/>
            <a:ext cx="4855845" cy="460375"/>
          </a:xfrm>
          <a:prstGeom prst="rect">
            <a:avLst/>
          </a:prstGeom>
          <a:noFill/>
        </p:spPr>
        <p:txBody>
          <a:bodyPr wrap="square" rtlCol="0" anchor="t">
            <a:spAutoFit/>
          </a:bodyPr>
          <a:lstStyle/>
          <a:p>
            <a:pPr>
              <a:spcBef>
                <a:spcPct val="50000"/>
              </a:spcBef>
            </a:pPr>
            <a:r>
              <a:rPr lang="zh-CN" altLang="en-US" dirty="0">
                <a:solidFill>
                  <a:schemeClr val="bg2"/>
                </a:solidFill>
                <a:sym typeface="+mn-ea"/>
              </a:rPr>
              <a:t>练习：</a:t>
            </a:r>
            <a:r>
              <a:rPr lang="en-US" altLang="zh-CN" b="1" i="1" dirty="0">
                <a:solidFill>
                  <a:schemeClr val="bg2"/>
                </a:solidFill>
                <a:sym typeface="+mn-ea"/>
              </a:rPr>
              <a:t>T</a:t>
            </a:r>
            <a:r>
              <a:rPr lang="en-US" altLang="zh-CN" dirty="0">
                <a:solidFill>
                  <a:schemeClr val="bg2"/>
                </a:solidFill>
                <a:sym typeface="+mn-ea"/>
              </a:rPr>
              <a:t>(</a:t>
            </a:r>
            <a:r>
              <a:rPr lang="en-US" altLang="zh-CN" b="1" i="1" dirty="0">
                <a:solidFill>
                  <a:schemeClr val="bg2"/>
                </a:solidFill>
                <a:sym typeface="+mn-ea"/>
              </a:rPr>
              <a:t>n</a:t>
            </a:r>
            <a:r>
              <a:rPr lang="en-US" altLang="zh-CN" dirty="0">
                <a:solidFill>
                  <a:schemeClr val="bg2"/>
                </a:solidFill>
                <a:sym typeface="+mn-ea"/>
              </a:rPr>
              <a:t>)=2</a:t>
            </a:r>
            <a:r>
              <a:rPr lang="en-US" altLang="zh-CN" b="1" i="1" dirty="0">
                <a:solidFill>
                  <a:schemeClr val="bg2"/>
                </a:solidFill>
                <a:sym typeface="+mn-ea"/>
              </a:rPr>
              <a:t>T</a:t>
            </a:r>
            <a:r>
              <a:rPr lang="en-US" altLang="zh-CN" dirty="0">
                <a:solidFill>
                  <a:schemeClr val="bg2"/>
                </a:solidFill>
                <a:sym typeface="+mn-ea"/>
              </a:rPr>
              <a:t>(</a:t>
            </a:r>
            <a:r>
              <a:rPr lang="en-US" altLang="zh-CN" b="1" i="1" dirty="0">
                <a:solidFill>
                  <a:schemeClr val="bg2"/>
                </a:solidFill>
                <a:sym typeface="+mn-ea"/>
              </a:rPr>
              <a:t>n</a:t>
            </a:r>
            <a:r>
              <a:rPr lang="en-US" altLang="zh-CN" dirty="0">
                <a:solidFill>
                  <a:schemeClr val="bg2"/>
                </a:solidFill>
                <a:sym typeface="+mn-ea"/>
              </a:rPr>
              <a:t>/2)+ </a:t>
            </a:r>
            <a:r>
              <a:rPr lang="el-GR" altLang="zh-CN" b="1" i="1" dirty="0">
                <a:solidFill>
                  <a:schemeClr val="bg2"/>
                </a:solidFill>
                <a:sym typeface="+mn-ea"/>
              </a:rPr>
              <a:t>Θ</a:t>
            </a:r>
            <a:r>
              <a:rPr lang="en-US" altLang="zh-CN" dirty="0">
                <a:solidFill>
                  <a:schemeClr val="bg2"/>
                </a:solidFill>
                <a:sym typeface="+mn-ea"/>
              </a:rPr>
              <a:t>(</a:t>
            </a:r>
            <a:r>
              <a:rPr lang="en-US" altLang="zh-CN" b="1" i="1" dirty="0">
                <a:solidFill>
                  <a:schemeClr val="bg2"/>
                </a:solidFill>
                <a:sym typeface="+mn-ea"/>
              </a:rPr>
              <a:t>n</a:t>
            </a:r>
            <a:r>
              <a:rPr lang="en-US" altLang="zh-CN" dirty="0">
                <a:solidFill>
                  <a:schemeClr val="bg2"/>
                </a:solidFill>
                <a:sym typeface="+mn-ea"/>
              </a:rPr>
              <a:t>)</a:t>
            </a:r>
            <a:endParaRPr lang="zh-CN" altLang="en-US" dirty="0"/>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7" name="内容占位符 2"/>
          <p:cNvSpPr>
            <a:spLocks noGrp="1"/>
          </p:cNvSpPr>
          <p:nvPr/>
        </p:nvSpPr>
        <p:spPr>
          <a:xfrm>
            <a:off x="457200" y="1693887"/>
            <a:ext cx="8229600" cy="4525963"/>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None/>
            </a:pPr>
            <a:r>
              <a:rPr lang="zh-CN" altLang="en-US" sz="2400" b="1" dirty="0">
                <a:solidFill>
                  <a:schemeClr val="bg2"/>
                </a:solidFill>
              </a:rPr>
              <a:t>例</a:t>
            </a:r>
            <a:r>
              <a:rPr lang="en-US" altLang="zh-CN" sz="2400" b="1" dirty="0">
                <a:solidFill>
                  <a:schemeClr val="bg2"/>
                </a:solidFill>
                <a:latin typeface="Times New Roman" panose="02020603050405020304" pitchFamily="18" charset="0"/>
              </a:rPr>
              <a:t>11 </a:t>
            </a:r>
            <a:r>
              <a:rPr lang="zh-CN" altLang="en-US" sz="2400" b="1" dirty="0">
                <a:solidFill>
                  <a:schemeClr val="bg2"/>
                </a:solidFill>
              </a:rPr>
              <a:t>求解递推方程</a:t>
            </a:r>
            <a:r>
              <a:rPr lang="en-US" altLang="zh-CN" sz="2400" b="1" dirty="0">
                <a:solidFill>
                  <a:schemeClr val="bg2"/>
                </a:solidFill>
              </a:rPr>
              <a:t> </a:t>
            </a:r>
            <a:endParaRPr lang="zh-CN" altLang="en-US" sz="2400" b="1" dirty="0">
              <a:solidFill>
                <a:schemeClr val="bg2"/>
              </a:solidFill>
            </a:endParaRPr>
          </a:p>
          <a:p>
            <a:pPr eaLnBrk="1" hangingPunct="1">
              <a:buNone/>
            </a:pPr>
            <a:r>
              <a:rPr lang="en-US" altLang="zh-CN" sz="2400" b="1" dirty="0">
                <a:solidFill>
                  <a:schemeClr val="bg2"/>
                </a:solidFill>
              </a:rPr>
              <a:t>                   </a:t>
            </a:r>
            <a:endParaRPr lang="zh-CN" altLang="en-US" sz="2400" b="1" dirty="0">
              <a:solidFill>
                <a:schemeClr val="bg2"/>
              </a:solidFill>
            </a:endParaRPr>
          </a:p>
          <a:p>
            <a:pPr eaLnBrk="1" hangingPunct="1">
              <a:buNone/>
            </a:pPr>
            <a:r>
              <a:rPr lang="zh-CN" altLang="en-US" sz="2400" b="1" dirty="0">
                <a:solidFill>
                  <a:schemeClr val="bg2"/>
                </a:solidFill>
              </a:rPr>
              <a:t>解</a:t>
            </a:r>
            <a:r>
              <a:rPr lang="en-US" altLang="zh-CN" sz="2400" b="1" dirty="0">
                <a:solidFill>
                  <a:schemeClr val="bg2"/>
                </a:solidFill>
              </a:rPr>
              <a:t>  </a:t>
            </a:r>
            <a:r>
              <a:rPr lang="zh-CN" altLang="en-US" sz="2400" b="1" dirty="0">
                <a:solidFill>
                  <a:schemeClr val="bg2"/>
                </a:solidFill>
              </a:rPr>
              <a:t>上述递推方程中的</a:t>
            </a:r>
            <a:r>
              <a:rPr lang="en-US" altLang="zh-CN" sz="2400" b="1" i="1" dirty="0">
                <a:solidFill>
                  <a:schemeClr val="bg2"/>
                </a:solidFill>
                <a:latin typeface="Times New Roman" panose="02020603050405020304" pitchFamily="18" charset="0"/>
              </a:rPr>
              <a:t>a</a:t>
            </a:r>
            <a:r>
              <a:rPr lang="en-US" altLang="zh-CN" sz="2400" b="1" dirty="0">
                <a:solidFill>
                  <a:schemeClr val="bg2"/>
                </a:solidFill>
                <a:latin typeface="Times New Roman" panose="02020603050405020304" pitchFamily="18" charset="0"/>
              </a:rPr>
              <a:t>=3, </a:t>
            </a:r>
            <a:r>
              <a:rPr lang="en-US" altLang="zh-CN" sz="2400" b="1" i="1" dirty="0">
                <a:solidFill>
                  <a:schemeClr val="bg2"/>
                </a:solidFill>
                <a:latin typeface="Times New Roman" panose="02020603050405020304" pitchFamily="18" charset="0"/>
              </a:rPr>
              <a:t>b</a:t>
            </a:r>
            <a:r>
              <a:rPr lang="en-US" altLang="zh-CN" sz="2400" b="1" dirty="0">
                <a:solidFill>
                  <a:schemeClr val="bg2"/>
                </a:solidFill>
                <a:latin typeface="Times New Roman" panose="02020603050405020304" pitchFamily="18" charset="0"/>
              </a:rPr>
              <a:t>=4, </a:t>
            </a:r>
            <a:r>
              <a:rPr lang="en-US" altLang="zh-CN" sz="2400" b="1" i="1" dirty="0">
                <a:solidFill>
                  <a:schemeClr val="bg2"/>
                </a:solidFill>
                <a:latin typeface="Times New Roman" panose="02020603050405020304" pitchFamily="18" charset="0"/>
              </a:rPr>
              <a:t>f</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log</a:t>
            </a:r>
            <a:r>
              <a:rPr lang="en-US" altLang="zh-CN" sz="2400" b="1" i="1" dirty="0">
                <a:solidFill>
                  <a:schemeClr val="bg2"/>
                </a:solidFill>
                <a:latin typeface="Times New Roman" panose="02020603050405020304" pitchFamily="18" charset="0"/>
              </a:rPr>
              <a:t>n</a:t>
            </a:r>
            <a:r>
              <a:rPr lang="zh-CN" altLang="en-US" sz="2400" b="1" dirty="0">
                <a:solidFill>
                  <a:schemeClr val="bg2"/>
                </a:solidFill>
              </a:rPr>
              <a:t>，那么</a:t>
            </a:r>
            <a:endParaRPr lang="zh-CN" altLang="en-US" sz="2400" b="1" dirty="0">
              <a:solidFill>
                <a:schemeClr val="bg2"/>
              </a:solidFill>
            </a:endParaRPr>
          </a:p>
          <a:p>
            <a:pPr eaLnBrk="1" hangingPunct="1">
              <a:buNone/>
            </a:pPr>
            <a:r>
              <a:rPr lang="en-US" altLang="zh-CN" sz="2400" b="1" dirty="0">
                <a:solidFill>
                  <a:schemeClr val="bg2"/>
                </a:solidFill>
              </a:rPr>
              <a:t>                                                                                       </a:t>
            </a:r>
            <a:r>
              <a:rPr lang="zh-CN" altLang="en-US" sz="2400" b="1" dirty="0">
                <a:solidFill>
                  <a:schemeClr val="bg2"/>
                </a:solidFill>
              </a:rPr>
              <a:t>，</a:t>
            </a:r>
            <a:r>
              <a:rPr lang="en-US" altLang="zh-CN" sz="2400" b="1" dirty="0">
                <a:solidFill>
                  <a:schemeClr val="bg2"/>
                </a:solidFill>
                <a:sym typeface="Symbol" panose="05050102010706020507" pitchFamily="18" charset="2"/>
              </a:rPr>
              <a:t></a:t>
            </a:r>
            <a:r>
              <a:rPr lang="en-US" altLang="zh-CN" sz="2400" b="1" dirty="0">
                <a:solidFill>
                  <a:schemeClr val="bg2"/>
                </a:solidFill>
              </a:rPr>
              <a:t>0.2 </a:t>
            </a:r>
            <a:endParaRPr lang="zh-CN" altLang="en-US" sz="2400" b="1" dirty="0">
              <a:solidFill>
                <a:schemeClr val="bg2"/>
              </a:solidFill>
            </a:endParaRPr>
          </a:p>
          <a:p>
            <a:pPr eaLnBrk="1" hangingPunct="1">
              <a:buNone/>
            </a:pPr>
            <a:r>
              <a:rPr lang="zh-CN" altLang="en-US" sz="2400" b="1" dirty="0">
                <a:solidFill>
                  <a:schemeClr val="bg2"/>
                </a:solidFill>
              </a:rPr>
              <a:t>此外，要使 </a:t>
            </a:r>
            <a:r>
              <a:rPr lang="en-US" altLang="zh-CN" sz="2400" b="1" i="1" dirty="0">
                <a:solidFill>
                  <a:schemeClr val="bg2"/>
                </a:solidFill>
                <a:latin typeface="Times New Roman" panose="02020603050405020304" pitchFamily="18" charset="0"/>
              </a:rPr>
              <a:t>a f</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b</a:t>
            </a:r>
            <a:r>
              <a:rPr lang="en-US" altLang="zh-CN" sz="2400" b="1" dirty="0">
                <a:solidFill>
                  <a:schemeClr val="bg2"/>
                </a:solidFill>
                <a:latin typeface="Times New Roman" panose="02020603050405020304" pitchFamily="18" charset="0"/>
              </a:rPr>
              <a:t>) </a:t>
            </a:r>
            <a:r>
              <a:rPr lang="en-US" altLang="zh-CN" sz="2400" b="1" dirty="0">
                <a:solidFill>
                  <a:schemeClr val="bg2"/>
                </a:solidFill>
                <a:latin typeface="Times New Roman" panose="02020603050405020304" pitchFamily="18" charset="0"/>
                <a:sym typeface="Symbol" panose="05050102010706020507" pitchFamily="18" charset="2"/>
              </a:rPr>
              <a:t> </a:t>
            </a:r>
            <a:r>
              <a:rPr lang="en-US" altLang="zh-CN" sz="2400" b="1" i="1" dirty="0">
                <a:solidFill>
                  <a:schemeClr val="bg2"/>
                </a:solidFill>
                <a:latin typeface="Times New Roman" panose="02020603050405020304" pitchFamily="18" charset="0"/>
              </a:rPr>
              <a:t>cf</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a:t>
            </a:r>
            <a:r>
              <a:rPr lang="zh-CN" altLang="en-US" sz="2400" b="1" dirty="0">
                <a:solidFill>
                  <a:schemeClr val="bg2"/>
                </a:solidFill>
              </a:rPr>
              <a:t>成立，代入 </a:t>
            </a:r>
            <a:r>
              <a:rPr lang="en-US" altLang="zh-CN" sz="2400" b="1" i="1" dirty="0">
                <a:solidFill>
                  <a:schemeClr val="bg2"/>
                </a:solidFill>
                <a:latin typeface="Times New Roman" panose="02020603050405020304" pitchFamily="18" charset="0"/>
              </a:rPr>
              <a:t>f</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log</a:t>
            </a:r>
            <a:r>
              <a:rPr lang="en-US" altLang="zh-CN" sz="2400" b="1" i="1" dirty="0">
                <a:solidFill>
                  <a:schemeClr val="bg2"/>
                </a:solidFill>
                <a:latin typeface="Times New Roman" panose="02020603050405020304" pitchFamily="18" charset="0"/>
              </a:rPr>
              <a:t>n</a:t>
            </a:r>
            <a:r>
              <a:rPr lang="zh-CN" altLang="en-US" sz="2400" b="1" dirty="0">
                <a:solidFill>
                  <a:schemeClr val="bg2"/>
                </a:solidFill>
              </a:rPr>
              <a:t>，得到</a:t>
            </a:r>
            <a:endParaRPr lang="zh-CN" altLang="en-US" sz="2400" b="1" dirty="0">
              <a:solidFill>
                <a:schemeClr val="bg2"/>
              </a:solidFill>
            </a:endParaRPr>
          </a:p>
          <a:p>
            <a:pPr eaLnBrk="1" hangingPunct="1">
              <a:buNone/>
            </a:pPr>
            <a:r>
              <a:rPr lang="en-US" altLang="zh-CN" sz="2400" b="1" dirty="0">
                <a:solidFill>
                  <a:schemeClr val="bg2"/>
                </a:solidFill>
              </a:rPr>
              <a:t> </a:t>
            </a:r>
            <a:endParaRPr lang="zh-CN" altLang="en-US" sz="2400" b="1" dirty="0">
              <a:solidFill>
                <a:schemeClr val="bg2"/>
              </a:solidFill>
            </a:endParaRPr>
          </a:p>
          <a:p>
            <a:pPr eaLnBrk="1" hangingPunct="1">
              <a:buNone/>
            </a:pPr>
            <a:endParaRPr lang="en-US" altLang="zh-CN" sz="2400" b="1" dirty="0">
              <a:solidFill>
                <a:schemeClr val="bg2"/>
              </a:solidFill>
            </a:endParaRPr>
          </a:p>
          <a:p>
            <a:pPr eaLnBrk="1" hangingPunct="1">
              <a:buNone/>
            </a:pPr>
            <a:r>
              <a:rPr lang="zh-CN" altLang="en-US" sz="2400" b="1" dirty="0">
                <a:solidFill>
                  <a:schemeClr val="bg2"/>
                </a:solidFill>
              </a:rPr>
              <a:t>显然只要 </a:t>
            </a:r>
            <a:r>
              <a:rPr lang="en-US" altLang="zh-CN" sz="2400" b="1" i="1" dirty="0">
                <a:solidFill>
                  <a:schemeClr val="bg2"/>
                </a:solidFill>
                <a:latin typeface="Times New Roman" panose="02020603050405020304" pitchFamily="18" charset="0"/>
              </a:rPr>
              <a:t>c </a:t>
            </a:r>
            <a:r>
              <a:rPr lang="en-US" altLang="zh-CN" sz="2400" b="1" dirty="0">
                <a:solidFill>
                  <a:schemeClr val="bg2"/>
                </a:solidFill>
                <a:latin typeface="Times New Roman" panose="02020603050405020304" pitchFamily="18" charset="0"/>
                <a:sym typeface="Symbol" panose="05050102010706020507" pitchFamily="18" charset="2"/>
              </a:rPr>
              <a:t> </a:t>
            </a:r>
            <a:r>
              <a:rPr lang="en-US" altLang="zh-CN" sz="2400" b="1" dirty="0">
                <a:solidFill>
                  <a:schemeClr val="bg2"/>
                </a:solidFill>
                <a:latin typeface="Times New Roman" panose="02020603050405020304" pitchFamily="18" charset="0"/>
              </a:rPr>
              <a:t>3/4</a:t>
            </a:r>
            <a:r>
              <a:rPr lang="zh-CN" altLang="en-US" sz="2400" b="1" dirty="0">
                <a:solidFill>
                  <a:schemeClr val="bg2"/>
                </a:solidFill>
              </a:rPr>
              <a:t>，上述不等式就可以对充分大的</a:t>
            </a:r>
            <a:r>
              <a:rPr lang="en-US" altLang="zh-CN" sz="2400" b="1" i="1" dirty="0">
                <a:solidFill>
                  <a:schemeClr val="bg2"/>
                </a:solidFill>
                <a:latin typeface="Times New Roman" panose="02020603050405020304" pitchFamily="18" charset="0"/>
              </a:rPr>
              <a:t>n</a:t>
            </a:r>
            <a:r>
              <a:rPr lang="zh-CN" altLang="en-US" sz="2400" b="1" dirty="0">
                <a:solidFill>
                  <a:schemeClr val="bg2"/>
                </a:solidFill>
              </a:rPr>
              <a:t>成立</a:t>
            </a:r>
            <a:r>
              <a:rPr lang="en-US" altLang="zh-CN" sz="2400" b="1" dirty="0">
                <a:solidFill>
                  <a:schemeClr val="bg2"/>
                </a:solidFill>
              </a:rPr>
              <a:t>. </a:t>
            </a:r>
            <a:endParaRPr lang="en-US" altLang="zh-CN" sz="2400" b="1" dirty="0">
              <a:solidFill>
                <a:schemeClr val="bg2"/>
              </a:solidFill>
            </a:endParaRPr>
          </a:p>
          <a:p>
            <a:pPr eaLnBrk="1" hangingPunct="1">
              <a:buNone/>
            </a:pPr>
            <a:r>
              <a:rPr lang="zh-CN" altLang="en-US" sz="2400" b="1" dirty="0">
                <a:solidFill>
                  <a:schemeClr val="bg2"/>
                </a:solidFill>
              </a:rPr>
              <a:t>相当于主定理的第三种情况</a:t>
            </a:r>
            <a:r>
              <a:rPr lang="en-US" altLang="zh-CN" sz="2400" b="1" dirty="0">
                <a:solidFill>
                  <a:schemeClr val="bg2"/>
                </a:solidFill>
              </a:rPr>
              <a:t>. </a:t>
            </a:r>
            <a:r>
              <a:rPr lang="zh-CN" altLang="en-US" sz="2400" b="1" dirty="0">
                <a:solidFill>
                  <a:schemeClr val="bg2"/>
                </a:solidFill>
              </a:rPr>
              <a:t>因此有 </a:t>
            </a:r>
            <a:r>
              <a:rPr lang="en-US" altLang="zh-CN" sz="2400" b="1" dirty="0">
                <a:solidFill>
                  <a:schemeClr val="bg2"/>
                </a:solidFill>
              </a:rPr>
              <a:t> </a:t>
            </a:r>
            <a:endParaRPr lang="zh-CN" altLang="en-US" sz="2400" b="1" dirty="0">
              <a:solidFill>
                <a:schemeClr val="bg2"/>
              </a:solidFill>
            </a:endParaRPr>
          </a:p>
          <a:p>
            <a:pPr eaLnBrk="1" hangingPunct="1">
              <a:buNone/>
            </a:pPr>
            <a:endParaRPr lang="zh-CN" altLang="en-US" sz="2400" b="1" dirty="0">
              <a:solidFill>
                <a:schemeClr val="bg2"/>
              </a:solidFill>
            </a:endParaRPr>
          </a:p>
        </p:txBody>
      </p:sp>
      <p:pic>
        <p:nvPicPr>
          <p:cNvPr id="8" name="Object 3"/>
          <p:cNvPicPr>
            <a:picLocks noChangeAspect="1"/>
          </p:cNvPicPr>
          <p:nvPr/>
        </p:nvPicPr>
        <p:blipFill>
          <a:blip r:embed="rId1"/>
          <a:stretch>
            <a:fillRect/>
          </a:stretch>
        </p:blipFill>
        <p:spPr>
          <a:xfrm>
            <a:off x="2627313" y="2125687"/>
            <a:ext cx="3097212" cy="396875"/>
          </a:xfrm>
          <a:prstGeom prst="rect">
            <a:avLst/>
          </a:prstGeom>
          <a:noFill/>
          <a:ln w="38100">
            <a:noFill/>
            <a:miter/>
          </a:ln>
        </p:spPr>
      </p:pic>
      <p:pic>
        <p:nvPicPr>
          <p:cNvPr id="9" name="Object 5"/>
          <p:cNvPicPr>
            <a:picLocks noChangeAspect="1"/>
          </p:cNvPicPr>
          <p:nvPr/>
        </p:nvPicPr>
        <p:blipFill>
          <a:blip r:embed="rId2"/>
          <a:stretch>
            <a:fillRect/>
          </a:stretch>
        </p:blipFill>
        <p:spPr>
          <a:xfrm>
            <a:off x="2165350" y="2990875"/>
            <a:ext cx="4246563" cy="503237"/>
          </a:xfrm>
          <a:prstGeom prst="rect">
            <a:avLst/>
          </a:prstGeom>
          <a:noFill/>
          <a:ln w="38100">
            <a:noFill/>
            <a:miter/>
          </a:ln>
        </p:spPr>
      </p:pic>
      <p:pic>
        <p:nvPicPr>
          <p:cNvPr id="10" name="Object 7"/>
          <p:cNvPicPr>
            <a:picLocks noChangeAspect="1"/>
          </p:cNvPicPr>
          <p:nvPr/>
        </p:nvPicPr>
        <p:blipFill>
          <a:blip r:embed="rId3"/>
          <a:stretch>
            <a:fillRect/>
          </a:stretch>
        </p:blipFill>
        <p:spPr>
          <a:xfrm>
            <a:off x="2771775" y="4221013"/>
            <a:ext cx="2376488" cy="792163"/>
          </a:xfrm>
          <a:prstGeom prst="rect">
            <a:avLst/>
          </a:prstGeom>
          <a:noFill/>
          <a:ln w="38100">
            <a:noFill/>
            <a:miter/>
          </a:ln>
        </p:spPr>
      </p:pic>
      <p:pic>
        <p:nvPicPr>
          <p:cNvPr id="11" name="Object 9"/>
          <p:cNvPicPr>
            <a:picLocks noChangeAspect="1"/>
          </p:cNvPicPr>
          <p:nvPr/>
        </p:nvPicPr>
        <p:blipFill>
          <a:blip r:embed="rId4"/>
          <a:stretch>
            <a:fillRect/>
          </a:stretch>
        </p:blipFill>
        <p:spPr>
          <a:xfrm>
            <a:off x="2484438" y="6015186"/>
            <a:ext cx="3455987" cy="438150"/>
          </a:xfrm>
          <a:prstGeom prst="rect">
            <a:avLst/>
          </a:prstGeom>
          <a:noFill/>
          <a:ln w="38100">
            <a:noFill/>
            <a:miter/>
          </a:ln>
        </p:spPr>
      </p:pic>
      <p:sp>
        <p:nvSpPr>
          <p:cNvPr id="3" name="文本框 2"/>
          <p:cNvSpPr txBox="1"/>
          <p:nvPr/>
        </p:nvSpPr>
        <p:spPr>
          <a:xfrm>
            <a:off x="5250180" y="499110"/>
            <a:ext cx="3640455" cy="460375"/>
          </a:xfrm>
          <a:prstGeom prst="rect">
            <a:avLst/>
          </a:prstGeom>
          <a:noFill/>
        </p:spPr>
        <p:txBody>
          <a:bodyPr wrap="none" rtlCol="0" anchor="t">
            <a:spAutoFit/>
          </a:bodyPr>
          <a:lstStyle/>
          <a:p>
            <a:pPr>
              <a:spcBef>
                <a:spcPct val="50000"/>
              </a:spcBef>
            </a:pPr>
            <a:r>
              <a:rPr lang="zh-CN" altLang="en-US" err="1">
                <a:solidFill>
                  <a:schemeClr val="bg2"/>
                </a:solidFill>
                <a:sym typeface="+mn-ea"/>
              </a:rPr>
              <a:t>练习：</a:t>
            </a:r>
            <a:r>
              <a:rPr lang="en-US" altLang="zh-CN" b="1" i="1" err="1">
                <a:solidFill>
                  <a:schemeClr val="bg2"/>
                </a:solidFill>
                <a:sym typeface="+mn-ea"/>
              </a:rPr>
              <a:t>T</a:t>
            </a:r>
            <a:r>
              <a:rPr lang="en-US" altLang="zh-CN" err="1">
                <a:solidFill>
                  <a:schemeClr val="bg2"/>
                </a:solidFill>
                <a:sym typeface="+mn-ea"/>
              </a:rPr>
              <a:t>(</a:t>
            </a:r>
            <a:r>
              <a:rPr lang="en-US" altLang="zh-CN" b="1" i="1" err="1">
                <a:solidFill>
                  <a:schemeClr val="bg2"/>
                </a:solidFill>
                <a:sym typeface="+mn-ea"/>
              </a:rPr>
              <a:t>n</a:t>
            </a:r>
            <a:r>
              <a:rPr lang="en-US" altLang="zh-CN">
                <a:solidFill>
                  <a:schemeClr val="bg2"/>
                </a:solidFill>
                <a:sym typeface="+mn-ea"/>
              </a:rPr>
              <a:t>)=5</a:t>
            </a:r>
            <a:r>
              <a:rPr lang="en-US" altLang="zh-CN" b="1" i="1" err="1">
                <a:solidFill>
                  <a:schemeClr val="bg2"/>
                </a:solidFill>
                <a:sym typeface="+mn-ea"/>
              </a:rPr>
              <a:t>T</a:t>
            </a:r>
            <a:r>
              <a:rPr lang="en-US" altLang="zh-CN">
                <a:solidFill>
                  <a:schemeClr val="bg2"/>
                </a:solidFill>
                <a:sym typeface="+mn-ea"/>
              </a:rPr>
              <a:t>(</a:t>
            </a:r>
            <a:r>
              <a:rPr lang="en-US" altLang="zh-CN" b="1" i="1" err="1">
                <a:solidFill>
                  <a:schemeClr val="bg2"/>
                </a:solidFill>
                <a:sym typeface="+mn-ea"/>
              </a:rPr>
              <a:t>n</a:t>
            </a:r>
            <a:r>
              <a:rPr lang="en-US" altLang="zh-CN">
                <a:solidFill>
                  <a:schemeClr val="bg2"/>
                </a:solidFill>
                <a:sym typeface="+mn-ea"/>
              </a:rPr>
              <a:t>/2)+</a:t>
            </a:r>
            <a:r>
              <a:rPr lang="en-US" altLang="zh-CN" b="1" i="1" err="1">
                <a:solidFill>
                  <a:schemeClr val="bg2"/>
                </a:solidFill>
                <a:sym typeface="+mn-ea"/>
              </a:rPr>
              <a:t>Θ</a:t>
            </a:r>
            <a:r>
              <a:rPr lang="en-US" altLang="zh-CN">
                <a:solidFill>
                  <a:schemeClr val="bg2"/>
                </a:solidFill>
                <a:sym typeface="+mn-ea"/>
              </a:rPr>
              <a:t>(</a:t>
            </a:r>
            <a:r>
              <a:rPr lang="en-US" altLang="zh-CN" b="1" i="1" err="1">
                <a:solidFill>
                  <a:schemeClr val="bg2"/>
                </a:solidFill>
                <a:sym typeface="+mn-ea"/>
              </a:rPr>
              <a:t>n</a:t>
            </a:r>
            <a:r>
              <a:rPr lang="en-US" altLang="zh-CN" baseline="30000">
                <a:solidFill>
                  <a:schemeClr val="bg2"/>
                </a:solidFill>
                <a:sym typeface="+mn-ea"/>
              </a:rPr>
              <a:t>3</a:t>
            </a:r>
            <a:r>
              <a:rPr lang="en-US" altLang="zh-CN">
                <a:solidFill>
                  <a:schemeClr val="bg2"/>
                </a:solidFill>
                <a:sym typeface="+mn-ea"/>
              </a:rPr>
              <a:t>)</a:t>
            </a:r>
            <a:endParaRPr lang="zh-CN" altLang="en-US"/>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p:cNvSpPr>
          <p:nvPr>
            <p:ph type="title"/>
          </p:nvPr>
        </p:nvSpPr>
        <p:spPr>
          <a:xfrm>
            <a:off x="457200" y="2016096"/>
            <a:ext cx="8229600" cy="777875"/>
          </a:xfrm>
          <a:ln>
            <a:noFill/>
          </a:ln>
        </p:spPr>
        <p:txBody>
          <a:bodyPr vert="horz" wrap="square" lIns="91440" tIns="45720" rIns="91440" bIns="45720" anchor="ctr"/>
          <a:lstStyle/>
          <a:p>
            <a:pPr eaLnBrk="1" hangingPunct="1"/>
            <a:r>
              <a:rPr lang="zh-CN" altLang="en-US" sz="2400" b="1" dirty="0">
                <a:solidFill>
                  <a:schemeClr val="bg2"/>
                </a:solidFill>
              </a:rPr>
              <a:t> 不能使用主定理的例子</a:t>
            </a:r>
            <a:endParaRPr lang="zh-CN" altLang="en-US" sz="2400" b="1" dirty="0">
              <a:solidFill>
                <a:schemeClr val="bg2"/>
              </a:solidFill>
            </a:endParaRPr>
          </a:p>
        </p:txBody>
      </p:sp>
      <p:sp>
        <p:nvSpPr>
          <p:cNvPr id="31757" name="内容占位符 2"/>
          <p:cNvSpPr>
            <a:spLocks noGrp="1"/>
          </p:cNvSpPr>
          <p:nvPr>
            <p:ph idx="1"/>
          </p:nvPr>
        </p:nvSpPr>
        <p:spPr>
          <a:xfrm>
            <a:off x="468313" y="2793971"/>
            <a:ext cx="8229600" cy="1439863"/>
          </a:xfrm>
          <a:ln>
            <a:noFill/>
          </a:ln>
        </p:spPr>
        <p:txBody>
          <a:bodyPr vert="horz" wrap="square" lIns="91440" tIns="45720" rIns="91440" bIns="45720" numCol="1" rtlCol="0"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例</a:t>
            </a:r>
            <a:r>
              <a:rPr kumimoji="0" lang="en-US" altLang="zh-CN"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12</a:t>
            </a:r>
            <a:r>
              <a:rPr kumimoji="0" lang="en-US" altLang="zh-CN" sz="2800" b="1" i="0" u="none" strike="noStrike" kern="1200" cap="none" spc="0" normalizeH="0" baseline="0" noProof="0" dirty="0" smtClean="0">
                <a:ln>
                  <a:noFill/>
                </a:ln>
                <a:solidFill>
                  <a:schemeClr val="bg2"/>
                </a:solidFill>
                <a:effectLst/>
                <a:uLnTx/>
                <a:uFillTx/>
                <a:latin typeface="+mn-lt"/>
                <a:ea typeface="+mn-ea"/>
                <a:cs typeface="+mn-cs"/>
              </a:rPr>
              <a:t>  </a:t>
            </a:r>
            <a:r>
              <a:rPr kumimoji="0" lang="zh-CN" altLang="en-US" sz="2400" b="1" i="0" u="none" strike="noStrike" kern="1200" cap="none" spc="0" normalizeH="0" baseline="0" noProof="0" dirty="0" smtClean="0">
                <a:ln>
                  <a:noFill/>
                </a:ln>
                <a:solidFill>
                  <a:schemeClr val="bg2"/>
                </a:solidFill>
                <a:effectLst/>
                <a:uLnTx/>
                <a:uFillTx/>
                <a:latin typeface="+mn-lt"/>
                <a:ea typeface="+mn-ea"/>
                <a:cs typeface="+mn-cs"/>
              </a:rPr>
              <a:t>求解</a:t>
            </a:r>
            <a:endParaRPr kumimoji="0" lang="en-US" altLang="zh-CN" sz="2400" b="1" i="0" u="none" strike="noStrike" kern="1200" cap="none" spc="0" normalizeH="0" baseline="0" noProof="0" dirty="0" smtClean="0">
              <a:ln>
                <a:noFill/>
              </a:ln>
              <a:solidFill>
                <a:schemeClr val="bg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800" b="1" i="1" u="none" strike="noStrike" kern="1200" cap="none" spc="0" normalizeH="0" baseline="0" noProof="0" dirty="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a:t>
            </a:r>
            <a:r>
              <a:rPr kumimoji="0" lang="en-US" altLang="zh-CN" sz="28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en-US" altLang="zh-CN" sz="28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b</a:t>
            </a:r>
            <a:r>
              <a:rPr kumimoji="0" lang="en-US" altLang="zh-CN" sz="28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=2,                   </a:t>
            </a:r>
            <a:r>
              <a:rPr kumimoji="0" lang="zh-CN" altLang="en-US" sz="28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en-US" sz="2800" b="1" i="0" u="none" strike="noStrike" kern="1200" cap="none" spc="0" normalizeH="0" baseline="0" noProof="0" dirty="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f</a:t>
            </a:r>
            <a:r>
              <a:rPr kumimoji="0" lang="en-US" altLang="zh-CN" sz="28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en-US" altLang="zh-CN" sz="28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n</a:t>
            </a:r>
            <a:r>
              <a:rPr kumimoji="0" lang="en-US" altLang="zh-CN" sz="28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en-US" altLang="zh-CN" sz="2800" b="1" i="1" u="none" strike="noStrike" kern="1200" cap="none" spc="0" normalizeH="0" baseline="0" noProof="0" dirty="0" err="1" smtClean="0">
                <a:ln>
                  <a:noFill/>
                </a:ln>
                <a:solidFill>
                  <a:schemeClr val="bg2"/>
                </a:solidFill>
                <a:effectLst/>
                <a:uLnTx/>
                <a:uFillTx/>
                <a:latin typeface="Times New Roman" panose="02020603050405020304" pitchFamily="18" charset="0"/>
                <a:ea typeface="+mn-ea"/>
                <a:cs typeface="Times New Roman" panose="02020603050405020304" pitchFamily="18" charset="0"/>
              </a:rPr>
              <a:t>n</a:t>
            </a:r>
            <a:r>
              <a:rPr kumimoji="0" lang="en-US" altLang="zh-CN" sz="2800" b="1" i="0" u="none" strike="noStrike" kern="1200" cap="none" spc="0" normalizeH="0" baseline="0" noProof="0" dirty="0" err="1" smtClean="0">
                <a:ln>
                  <a:noFill/>
                </a:ln>
                <a:solidFill>
                  <a:schemeClr val="bg2"/>
                </a:solidFill>
                <a:effectLst/>
                <a:uLnTx/>
                <a:uFillTx/>
                <a:latin typeface="Times New Roman" panose="02020603050405020304" pitchFamily="18" charset="0"/>
                <a:ea typeface="+mn-ea"/>
                <a:cs typeface="Times New Roman" panose="02020603050405020304" pitchFamily="18" charset="0"/>
              </a:rPr>
              <a:t>log</a:t>
            </a:r>
            <a:r>
              <a:rPr kumimoji="0" lang="en-US" altLang="zh-CN" sz="2800" b="1" i="1" u="none" strike="noStrike" kern="1200" cap="none" spc="0" normalizeH="0" baseline="0" noProof="0" dirty="0" err="1" smtClean="0">
                <a:ln>
                  <a:noFill/>
                </a:ln>
                <a:solidFill>
                  <a:schemeClr val="bg2"/>
                </a:solidFill>
                <a:effectLst/>
                <a:uLnTx/>
                <a:uFillTx/>
                <a:latin typeface="Times New Roman" panose="02020603050405020304" pitchFamily="18" charset="0"/>
                <a:ea typeface="+mn-ea"/>
                <a:cs typeface="Times New Roman" panose="02020603050405020304" pitchFamily="18" charset="0"/>
              </a:rPr>
              <a:t>n</a:t>
            </a:r>
            <a:r>
              <a:rPr kumimoji="0" lang="en-US" altLang="zh-CN" sz="28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 </a:t>
            </a:r>
            <a:endParaRPr kumimoji="0" lang="en-US" altLang="zh-CN" sz="28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sym typeface="Symbol" panose="05050102010706020507" pitchFamily="18" charset="2"/>
              </a:rPr>
              <a:t>不存在</a:t>
            </a:r>
            <a:r>
              <a:rPr kumimoji="0" lang="en-US"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en-US" altLang="zh-CN"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&gt; 0 </a:t>
            </a:r>
            <a:r>
              <a:rPr kumimoji="0" lang="zh-CN" alt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使得 </a:t>
            </a:r>
            <a:r>
              <a:rPr kumimoji="0" lang="en-US" altLang="zh-CN" sz="2400" b="1" i="1" u="none" strike="noStrike" kern="1200" cap="none" spc="0" normalizeH="0" baseline="0" noProof="0" dirty="0" err="1" smtClean="0">
                <a:ln>
                  <a:noFill/>
                </a:ln>
                <a:solidFill>
                  <a:schemeClr val="bg2"/>
                </a:solidFill>
                <a:effectLst/>
                <a:uLnTx/>
                <a:uFillTx/>
                <a:latin typeface="Times New Roman" panose="02020603050405020304" pitchFamily="18" charset="0"/>
                <a:ea typeface="+mn-ea"/>
                <a:cs typeface="Times New Roman" panose="02020603050405020304" pitchFamily="18" charset="0"/>
              </a:rPr>
              <a:t>n</a:t>
            </a:r>
            <a:r>
              <a:rPr kumimoji="0" lang="en-US" altLang="zh-CN" sz="2400" b="1" i="0" u="none" strike="noStrike" kern="1200" cap="none" spc="0" normalizeH="0" baseline="0" noProof="0" dirty="0" err="1" smtClean="0">
                <a:ln>
                  <a:noFill/>
                </a:ln>
                <a:solidFill>
                  <a:schemeClr val="bg2"/>
                </a:solidFill>
                <a:effectLst/>
                <a:uLnTx/>
                <a:uFillTx/>
                <a:latin typeface="Times New Roman" panose="02020603050405020304" pitchFamily="18" charset="0"/>
                <a:ea typeface="+mn-ea"/>
                <a:cs typeface="Times New Roman" panose="02020603050405020304" pitchFamily="18" charset="0"/>
              </a:rPr>
              <a:t>log</a:t>
            </a:r>
            <a:r>
              <a:rPr kumimoji="0" lang="en-US" altLang="zh-CN" sz="2400" b="1" i="1" u="none" strike="noStrike" kern="1200" cap="none" spc="0" normalizeH="0" baseline="0" noProof="0" dirty="0" err="1" smtClean="0">
                <a:ln>
                  <a:noFill/>
                </a:ln>
                <a:solidFill>
                  <a:schemeClr val="bg2"/>
                </a:solidFill>
                <a:effectLst/>
                <a:uLnTx/>
                <a:uFillTx/>
                <a:latin typeface="Times New Roman" panose="02020603050405020304" pitchFamily="18" charset="0"/>
                <a:ea typeface="+mn-ea"/>
                <a:cs typeface="Times New Roman" panose="02020603050405020304" pitchFamily="18" charset="0"/>
              </a:rPr>
              <a:t>n</a:t>
            </a:r>
            <a:r>
              <a:rPr kumimoji="0" lang="en-US" altLang="zh-CN"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en-US" altLang="zh-CN"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sym typeface="Symbol" panose="05050102010706020507" pitchFamily="18" charset="2"/>
              </a:rPr>
              <a:t></a:t>
            </a:r>
            <a:r>
              <a:rPr kumimoji="0" lang="en-US" altLang="zh-CN"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en-US" altLang="zh-CN" sz="2400" b="1" i="1"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n</a:t>
            </a:r>
            <a:r>
              <a:rPr kumimoji="0" lang="en-US" altLang="zh-CN" sz="2400" b="1" i="0" u="none" strike="noStrike" kern="1200" cap="none" spc="0" normalizeH="0" baseline="3000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1+</a:t>
            </a:r>
            <a:r>
              <a:rPr kumimoji="0" lang="en-US" altLang="zh-CN" sz="2400" b="1" i="1" u="none" strike="noStrike" kern="1200" cap="none" spc="0" normalizeH="0" baseline="3000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sym typeface="Symbol" panose="05050102010706020507" pitchFamily="18" charset="2"/>
              </a:rPr>
              <a:t></a:t>
            </a:r>
            <a:r>
              <a:rPr kumimoji="0" lang="en-US" altLang="zh-CN"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成立，</a:t>
            </a:r>
            <a:endParaRPr kumimoji="0" lang="zh-CN" altLang="en-US" sz="2400" b="1" i="0" u="none" strike="noStrike" kern="120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63492" name="Object 1"/>
          <p:cNvGraphicFramePr>
            <a:graphicFrameLocks noChangeAspect="1"/>
          </p:cNvGraphicFramePr>
          <p:nvPr/>
        </p:nvGraphicFramePr>
        <p:xfrm>
          <a:off x="2555875" y="2866996"/>
          <a:ext cx="3262313" cy="412750"/>
        </p:xfrm>
        <a:graphic>
          <a:graphicData uri="http://schemas.openxmlformats.org/presentationml/2006/ole">
            <mc:AlternateContent xmlns:mc="http://schemas.openxmlformats.org/markup-compatibility/2006">
              <mc:Choice xmlns:v="urn:schemas-microsoft-com:vml" Requires="v">
                <p:oleObj spid="_x0000_s38932" name="" r:id="rId1" imgW="1586865" imgH="203200" progId="Equation.3">
                  <p:embed/>
                </p:oleObj>
              </mc:Choice>
              <mc:Fallback>
                <p:oleObj name="" r:id="rId1" imgW="1586865" imgH="203200" progId="Equation.3">
                  <p:embed/>
                  <p:pic>
                    <p:nvPicPr>
                      <p:cNvPr id="0" name="20 38915"/>
                      <p:cNvPicPr/>
                      <p:nvPr/>
                    </p:nvPicPr>
                    <p:blipFill>
                      <a:blip r:embed="rId2"/>
                      <a:stretch>
                        <a:fillRect/>
                      </a:stretch>
                    </p:blipFill>
                    <p:spPr>
                      <a:xfrm>
                        <a:off x="2555875" y="2866996"/>
                        <a:ext cx="3262313" cy="412750"/>
                      </a:xfrm>
                      <a:prstGeom prst="rect">
                        <a:avLst/>
                      </a:prstGeom>
                      <a:noFill/>
                      <a:ln w="38100">
                        <a:noFill/>
                        <a:miter/>
                      </a:ln>
                    </p:spPr>
                  </p:pic>
                </p:oleObj>
              </mc:Fallback>
            </mc:AlternateContent>
          </a:graphicData>
        </a:graphic>
      </p:graphicFrame>
      <p:graphicFrame>
        <p:nvGraphicFramePr>
          <p:cNvPr id="63495" name="Object 5"/>
          <p:cNvGraphicFramePr>
            <a:graphicFrameLocks noChangeAspect="1"/>
          </p:cNvGraphicFramePr>
          <p:nvPr/>
        </p:nvGraphicFramePr>
        <p:xfrm>
          <a:off x="1908175" y="3225771"/>
          <a:ext cx="1444625" cy="503237"/>
        </p:xfrm>
        <a:graphic>
          <a:graphicData uri="http://schemas.openxmlformats.org/presentationml/2006/ole">
            <mc:AlternateContent xmlns:mc="http://schemas.openxmlformats.org/markup-compatibility/2006">
              <mc:Choice xmlns:v="urn:schemas-microsoft-com:vml" Requires="v">
                <p:oleObj spid="_x0000_s38933" name="" r:id="rId3" imgW="609600" imgH="215900" progId="Equation.3">
                  <p:embed/>
                </p:oleObj>
              </mc:Choice>
              <mc:Fallback>
                <p:oleObj name="" r:id="rId3" imgW="609600" imgH="215900" progId="Equation.3">
                  <p:embed/>
                  <p:pic>
                    <p:nvPicPr>
                      <p:cNvPr id="0" name="20 38916"/>
                      <p:cNvPicPr/>
                      <p:nvPr/>
                    </p:nvPicPr>
                    <p:blipFill>
                      <a:blip r:embed="rId4"/>
                      <a:stretch>
                        <a:fillRect/>
                      </a:stretch>
                    </p:blipFill>
                    <p:spPr>
                      <a:xfrm>
                        <a:off x="1908175" y="3225771"/>
                        <a:ext cx="1444625" cy="503237"/>
                      </a:xfrm>
                      <a:prstGeom prst="rect">
                        <a:avLst/>
                      </a:prstGeom>
                      <a:noFill/>
                      <a:ln w="38100">
                        <a:noFill/>
                        <a:miter/>
                      </a:ln>
                    </p:spPr>
                  </p:pic>
                </p:oleObj>
              </mc:Fallback>
            </mc:AlternateContent>
          </a:graphicData>
        </a:graphic>
      </p:graphicFrame>
      <p:sp>
        <p:nvSpPr>
          <p:cNvPr id="26" name="标题 1"/>
          <p:cNvSpPr txBox="1"/>
          <p:nvPr/>
        </p:nvSpPr>
        <p:spPr>
          <a:xfrm>
            <a:off x="457200" y="375603"/>
            <a:ext cx="8229600" cy="706437"/>
          </a:xfrm>
          <a:prstGeom prst="rect">
            <a:avLst/>
          </a:prstGeom>
          <a:noFill/>
          <a:ln w="9525">
            <a:noFill/>
          </a:ln>
        </p:spPr>
        <p:txBody>
          <a:bodyPr vert="horz" wrap="square" lIns="91440" tIns="45720" rIns="91440" bIns="45720"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pPr eaLnBrk="1" hangingPunct="1"/>
            <a:r>
              <a:rPr lang="en-US" altLang="zh-CN" sz="4000"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算法的数学基础</a:t>
            </a:r>
            <a:endParaRPr lang="zh-CN" altLang="en-US" sz="4000" dirty="0">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349696" y="-171400"/>
            <a:ext cx="184731" cy="369332"/>
          </a:xfrm>
          <a:prstGeom prst="rect">
            <a:avLst/>
          </a:prstGeom>
          <a:noFill/>
          <a:ln w="9525">
            <a:solidFill>
              <a:schemeClr val="bg2"/>
            </a:solid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2"/>
              </a:solidFill>
              <a:effectLst/>
              <a:uLnTx/>
              <a:uFillTx/>
              <a:latin typeface="+mn-lt"/>
              <a:ea typeface="+mn-ea"/>
              <a:cs typeface="+mn-cs"/>
            </a:endParaRPr>
          </a:p>
        </p:txBody>
      </p:sp>
      <p:graphicFrame>
        <p:nvGraphicFramePr>
          <p:cNvPr id="63492" name="Object 1"/>
          <p:cNvGraphicFramePr>
            <a:graphicFrameLocks noChangeAspect="1"/>
          </p:cNvGraphicFramePr>
          <p:nvPr/>
        </p:nvGraphicFramePr>
        <p:xfrm>
          <a:off x="2555875" y="1714868"/>
          <a:ext cx="3262313" cy="412750"/>
        </p:xfrm>
        <a:graphic>
          <a:graphicData uri="http://schemas.openxmlformats.org/presentationml/2006/ole">
            <mc:AlternateContent xmlns:mc="http://schemas.openxmlformats.org/markup-compatibility/2006">
              <mc:Choice xmlns:v="urn:schemas-microsoft-com:vml" Requires="v">
                <p:oleObj spid="_x0000_s40005" name="" r:id="rId1" imgW="1586865" imgH="203200" progId="Equation.3">
                  <p:embed/>
                </p:oleObj>
              </mc:Choice>
              <mc:Fallback>
                <p:oleObj name="" r:id="rId1" imgW="1586865" imgH="203200" progId="Equation.3">
                  <p:embed/>
                  <p:pic>
                    <p:nvPicPr>
                      <p:cNvPr id="0" name="20 39946"/>
                      <p:cNvPicPr/>
                      <p:nvPr/>
                    </p:nvPicPr>
                    <p:blipFill>
                      <a:blip r:embed="rId2"/>
                      <a:stretch>
                        <a:fillRect/>
                      </a:stretch>
                    </p:blipFill>
                    <p:spPr>
                      <a:xfrm>
                        <a:off x="2555875" y="1714868"/>
                        <a:ext cx="3262313" cy="412750"/>
                      </a:xfrm>
                      <a:prstGeom prst="rect">
                        <a:avLst/>
                      </a:prstGeom>
                      <a:noFill/>
                      <a:ln w="38100">
                        <a:noFill/>
                        <a:miter/>
                      </a:ln>
                    </p:spPr>
                  </p:pic>
                </p:oleObj>
              </mc:Fallback>
            </mc:AlternateContent>
          </a:graphicData>
        </a:graphic>
      </p:graphicFrame>
      <p:sp>
        <p:nvSpPr>
          <p:cNvPr id="70660" name="Rectangle 4"/>
          <p:cNvSpPr>
            <a:spLocks noChangeArrowheads="1"/>
          </p:cNvSpPr>
          <p:nvPr/>
        </p:nvSpPr>
        <p:spPr bwMode="auto">
          <a:xfrm>
            <a:off x="349696" y="-171400"/>
            <a:ext cx="184731" cy="369332"/>
          </a:xfrm>
          <a:prstGeom prst="rect">
            <a:avLst/>
          </a:prstGeom>
          <a:noFill/>
          <a:ln w="9525">
            <a:solidFill>
              <a:schemeClr val="bg2"/>
            </a:solid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2"/>
              </a:solidFill>
              <a:effectLst/>
              <a:uLnTx/>
              <a:uFillTx/>
              <a:latin typeface="+mn-lt"/>
              <a:ea typeface="+mn-ea"/>
              <a:cs typeface="+mn-cs"/>
            </a:endParaRPr>
          </a:p>
        </p:txBody>
      </p:sp>
      <p:sp>
        <p:nvSpPr>
          <p:cNvPr id="70662" name="Rectangle 6"/>
          <p:cNvSpPr>
            <a:spLocks noChangeArrowheads="1"/>
          </p:cNvSpPr>
          <p:nvPr/>
        </p:nvSpPr>
        <p:spPr bwMode="auto">
          <a:xfrm>
            <a:off x="349696" y="-171400"/>
            <a:ext cx="184731" cy="369332"/>
          </a:xfrm>
          <a:prstGeom prst="rect">
            <a:avLst/>
          </a:prstGeom>
          <a:noFill/>
          <a:ln w="9525">
            <a:solidFill>
              <a:schemeClr val="bg2"/>
            </a:solid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2"/>
              </a:solidFill>
              <a:effectLst/>
              <a:uLnTx/>
              <a:uFillTx/>
              <a:latin typeface="+mn-lt"/>
              <a:ea typeface="+mn-ea"/>
              <a:cs typeface="+mn-cs"/>
            </a:endParaRPr>
          </a:p>
        </p:txBody>
      </p:sp>
      <p:graphicFrame>
        <p:nvGraphicFramePr>
          <p:cNvPr id="63495" name="Object 5"/>
          <p:cNvGraphicFramePr>
            <a:graphicFrameLocks noChangeAspect="1"/>
          </p:cNvGraphicFramePr>
          <p:nvPr/>
        </p:nvGraphicFramePr>
        <p:xfrm>
          <a:off x="1908175" y="2073643"/>
          <a:ext cx="1444625" cy="503237"/>
        </p:xfrm>
        <a:graphic>
          <a:graphicData uri="http://schemas.openxmlformats.org/presentationml/2006/ole">
            <mc:AlternateContent xmlns:mc="http://schemas.openxmlformats.org/markup-compatibility/2006">
              <mc:Choice xmlns:v="urn:schemas-microsoft-com:vml" Requires="v">
                <p:oleObj spid="_x0000_s40006" name="" r:id="rId3" imgW="609600" imgH="215900" progId="Equation.3">
                  <p:embed/>
                </p:oleObj>
              </mc:Choice>
              <mc:Fallback>
                <p:oleObj name="" r:id="rId3" imgW="609600" imgH="215900" progId="Equation.3">
                  <p:embed/>
                  <p:pic>
                    <p:nvPicPr>
                      <p:cNvPr id="0" name="20 39947"/>
                      <p:cNvPicPr/>
                      <p:nvPr/>
                    </p:nvPicPr>
                    <p:blipFill>
                      <a:blip r:embed="rId4"/>
                      <a:stretch>
                        <a:fillRect/>
                      </a:stretch>
                    </p:blipFill>
                    <p:spPr>
                      <a:xfrm>
                        <a:off x="1908175" y="2073643"/>
                        <a:ext cx="1444625" cy="503237"/>
                      </a:xfrm>
                      <a:prstGeom prst="rect">
                        <a:avLst/>
                      </a:prstGeom>
                      <a:noFill/>
                      <a:ln w="38100">
                        <a:noFill/>
                        <a:miter/>
                      </a:ln>
                    </p:spPr>
                  </p:pic>
                </p:oleObj>
              </mc:Fallback>
            </mc:AlternateContent>
          </a:graphicData>
        </a:graphic>
      </p:graphicFrame>
      <p:grpSp>
        <p:nvGrpSpPr>
          <p:cNvPr id="63496" name="组合 127"/>
          <p:cNvGrpSpPr/>
          <p:nvPr/>
        </p:nvGrpSpPr>
        <p:grpSpPr>
          <a:xfrm>
            <a:off x="1392684" y="2650104"/>
            <a:ext cx="5761037" cy="2478050"/>
            <a:chOff x="1043608" y="2852936"/>
            <a:chExt cx="5760640" cy="2477852"/>
          </a:xfrm>
        </p:grpSpPr>
        <p:sp>
          <p:nvSpPr>
            <p:cNvPr id="63497" name="TextBox 75"/>
            <p:cNvSpPr txBox="1"/>
            <p:nvPr/>
          </p:nvSpPr>
          <p:spPr>
            <a:xfrm>
              <a:off x="3259837" y="2852936"/>
              <a:ext cx="808107" cy="400110"/>
            </a:xfrm>
            <a:prstGeom prst="rect">
              <a:avLst/>
            </a:prstGeom>
            <a:noFill/>
            <a:ln w="9525">
              <a:solidFill>
                <a:schemeClr val="bg2"/>
              </a:solidFill>
            </a:ln>
          </p:spPr>
          <p:txBody>
            <a:bodyPr anchor="t">
              <a:spAutoFit/>
            </a:bodyPr>
            <a:lstStyle/>
            <a:p>
              <a:r>
                <a:rPr lang="en-US" altLang="zh-CN" sz="2000" b="1" i="1" dirty="0">
                  <a:solidFill>
                    <a:schemeClr val="bg2"/>
                  </a:solidFill>
                  <a:latin typeface="Times New Roman" panose="02020603050405020304" pitchFamily="18" charset="0"/>
                  <a:ea typeface="宋体" panose="02010600030101010101" pitchFamily="2" charset="-122"/>
                </a:rPr>
                <a:t>n</a:t>
              </a:r>
              <a:r>
                <a:rPr lang="en-US" altLang="zh-CN" sz="2000" b="1" dirty="0">
                  <a:solidFill>
                    <a:schemeClr val="bg2"/>
                  </a:solidFill>
                  <a:latin typeface="Times New Roman" panose="02020603050405020304" pitchFamily="18" charset="0"/>
                  <a:ea typeface="宋体" panose="02010600030101010101" pitchFamily="2" charset="-122"/>
                </a:rPr>
                <a:t>log</a:t>
              </a:r>
              <a:r>
                <a:rPr lang="en-US" altLang="zh-CN" sz="2000" b="1" i="1" dirty="0">
                  <a:solidFill>
                    <a:schemeClr val="bg2"/>
                  </a:solidFill>
                  <a:latin typeface="Times New Roman" panose="02020603050405020304" pitchFamily="18" charset="0"/>
                </a:rPr>
                <a:t>n</a:t>
              </a:r>
              <a:endParaRPr lang="zh-CN" altLang="en-US" sz="2000" b="1" i="1" dirty="0">
                <a:solidFill>
                  <a:schemeClr val="bg2"/>
                </a:solidFill>
                <a:latin typeface="Times New Roman" panose="02020603050405020304" pitchFamily="18" charset="0"/>
                <a:ea typeface="Times New Roman" panose="02020603050405020304" pitchFamily="18" charset="0"/>
              </a:endParaRPr>
            </a:p>
          </p:txBody>
        </p:sp>
        <p:graphicFrame>
          <p:nvGraphicFramePr>
            <p:cNvPr id="63498" name="Object 73"/>
            <p:cNvGraphicFramePr>
              <a:graphicFrameLocks noChangeAspect="1"/>
            </p:cNvGraphicFramePr>
            <p:nvPr/>
          </p:nvGraphicFramePr>
          <p:xfrm>
            <a:off x="2195736" y="3501008"/>
            <a:ext cx="1296145" cy="648072"/>
          </p:xfrm>
          <a:graphic>
            <a:graphicData uri="http://schemas.openxmlformats.org/presentationml/2006/ole">
              <mc:AlternateContent xmlns:mc="http://schemas.openxmlformats.org/markup-compatibility/2006">
                <mc:Choice xmlns:v="urn:schemas-microsoft-com:vml" Requires="v">
                  <p:oleObj spid="_x0000_s40007" name="" r:id="rId5" imgW="761365" imgH="406400" progId="Equation.3">
                    <p:embed/>
                  </p:oleObj>
                </mc:Choice>
                <mc:Fallback>
                  <p:oleObj name="" r:id="rId5" imgW="761365" imgH="406400" progId="Equation.3">
                    <p:embed/>
                    <p:pic>
                      <p:nvPicPr>
                        <p:cNvPr id="0" name="20 39948"/>
                        <p:cNvPicPr/>
                        <p:nvPr/>
                      </p:nvPicPr>
                      <p:blipFill>
                        <a:blip r:embed="rId6"/>
                        <a:stretch>
                          <a:fillRect/>
                        </a:stretch>
                      </p:blipFill>
                      <p:spPr>
                        <a:xfrm>
                          <a:off x="2195736" y="3501008"/>
                          <a:ext cx="1296145" cy="648072"/>
                        </a:xfrm>
                        <a:prstGeom prst="rect">
                          <a:avLst/>
                        </a:prstGeom>
                        <a:noFill/>
                        <a:ln w="38100">
                          <a:noFill/>
                          <a:miter/>
                        </a:ln>
                      </p:spPr>
                    </p:pic>
                  </p:oleObj>
                </mc:Fallback>
              </mc:AlternateContent>
            </a:graphicData>
          </a:graphic>
        </p:graphicFrame>
        <p:graphicFrame>
          <p:nvGraphicFramePr>
            <p:cNvPr id="63499" name="Object 74"/>
            <p:cNvGraphicFramePr>
              <a:graphicFrameLocks noChangeAspect="1"/>
            </p:cNvGraphicFramePr>
            <p:nvPr/>
          </p:nvGraphicFramePr>
          <p:xfrm>
            <a:off x="4139952" y="3501380"/>
            <a:ext cx="1296987" cy="647700"/>
          </p:xfrm>
          <a:graphic>
            <a:graphicData uri="http://schemas.openxmlformats.org/presentationml/2006/ole">
              <mc:AlternateContent xmlns:mc="http://schemas.openxmlformats.org/markup-compatibility/2006">
                <mc:Choice xmlns:v="urn:schemas-microsoft-com:vml" Requires="v">
                  <p:oleObj spid="_x0000_s40008" name="" r:id="rId7" imgW="761365" imgH="406400" progId="Equation.3">
                    <p:embed/>
                  </p:oleObj>
                </mc:Choice>
                <mc:Fallback>
                  <p:oleObj name="" r:id="rId7" imgW="761365" imgH="406400" progId="Equation.3">
                    <p:embed/>
                    <p:pic>
                      <p:nvPicPr>
                        <p:cNvPr id="0" name="20 39949"/>
                        <p:cNvPicPr/>
                        <p:nvPr/>
                      </p:nvPicPr>
                      <p:blipFill>
                        <a:blip r:embed="rId8"/>
                        <a:stretch>
                          <a:fillRect/>
                        </a:stretch>
                      </p:blipFill>
                      <p:spPr>
                        <a:xfrm>
                          <a:off x="4139952" y="3501380"/>
                          <a:ext cx="1296987" cy="647700"/>
                        </a:xfrm>
                        <a:prstGeom prst="rect">
                          <a:avLst/>
                        </a:prstGeom>
                        <a:noFill/>
                        <a:ln w="38100">
                          <a:noFill/>
                          <a:miter/>
                        </a:ln>
                      </p:spPr>
                    </p:pic>
                  </p:oleObj>
                </mc:Fallback>
              </mc:AlternateContent>
            </a:graphicData>
          </a:graphic>
        </p:graphicFrame>
        <p:cxnSp>
          <p:nvCxnSpPr>
            <p:cNvPr id="80" name="直接连接符 79"/>
            <p:cNvCxnSpPr/>
            <p:nvPr/>
          </p:nvCxnSpPr>
          <p:spPr>
            <a:xfrm rot="10800000" flipV="1">
              <a:off x="3059594" y="3284701"/>
              <a:ext cx="288905" cy="215883"/>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4067587" y="3284701"/>
              <a:ext cx="288905" cy="215883"/>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63502" name="Object 75"/>
            <p:cNvGraphicFramePr>
              <a:graphicFrameLocks noChangeAspect="1"/>
            </p:cNvGraphicFramePr>
            <p:nvPr/>
          </p:nvGraphicFramePr>
          <p:xfrm>
            <a:off x="2483768" y="4365104"/>
            <a:ext cx="1319213" cy="649288"/>
          </p:xfrm>
          <a:graphic>
            <a:graphicData uri="http://schemas.openxmlformats.org/presentationml/2006/ole">
              <mc:AlternateContent xmlns:mc="http://schemas.openxmlformats.org/markup-compatibility/2006">
                <mc:Choice xmlns:v="urn:schemas-microsoft-com:vml" Requires="v">
                  <p:oleObj spid="_x0000_s40009" name="" r:id="rId9" imgW="774065" imgH="406400" progId="Equation.3">
                    <p:embed/>
                  </p:oleObj>
                </mc:Choice>
                <mc:Fallback>
                  <p:oleObj name="" r:id="rId9" imgW="774065" imgH="406400" progId="Equation.3">
                    <p:embed/>
                    <p:pic>
                      <p:nvPicPr>
                        <p:cNvPr id="0" name="20 39950"/>
                        <p:cNvPicPr/>
                        <p:nvPr/>
                      </p:nvPicPr>
                      <p:blipFill>
                        <a:blip r:embed="rId10"/>
                        <a:stretch>
                          <a:fillRect/>
                        </a:stretch>
                      </p:blipFill>
                      <p:spPr>
                        <a:xfrm>
                          <a:off x="2483768" y="4365104"/>
                          <a:ext cx="1319213" cy="649288"/>
                        </a:xfrm>
                        <a:prstGeom prst="rect">
                          <a:avLst/>
                        </a:prstGeom>
                        <a:noFill/>
                        <a:ln w="38100">
                          <a:noFill/>
                          <a:miter/>
                        </a:ln>
                      </p:spPr>
                    </p:pic>
                  </p:oleObj>
                </mc:Fallback>
              </mc:AlternateContent>
            </a:graphicData>
          </a:graphic>
        </p:graphicFrame>
        <p:graphicFrame>
          <p:nvGraphicFramePr>
            <p:cNvPr id="63503" name="Object 76"/>
            <p:cNvGraphicFramePr>
              <a:graphicFrameLocks noChangeAspect="1"/>
            </p:cNvGraphicFramePr>
            <p:nvPr/>
          </p:nvGraphicFramePr>
          <p:xfrm>
            <a:off x="1043608" y="4365104"/>
            <a:ext cx="1319213" cy="649288"/>
          </p:xfrm>
          <a:graphic>
            <a:graphicData uri="http://schemas.openxmlformats.org/presentationml/2006/ole">
              <mc:AlternateContent xmlns:mc="http://schemas.openxmlformats.org/markup-compatibility/2006">
                <mc:Choice xmlns:v="urn:schemas-microsoft-com:vml" Requires="v">
                  <p:oleObj spid="_x0000_s40010" name="" r:id="rId11" imgW="774065" imgH="406400" progId="Equation.3">
                    <p:embed/>
                  </p:oleObj>
                </mc:Choice>
                <mc:Fallback>
                  <p:oleObj name="" r:id="rId11" imgW="774065" imgH="406400" progId="Equation.3">
                    <p:embed/>
                    <p:pic>
                      <p:nvPicPr>
                        <p:cNvPr id="0" name="20 39951"/>
                        <p:cNvPicPr/>
                        <p:nvPr/>
                      </p:nvPicPr>
                      <p:blipFill>
                        <a:blip r:embed="rId12"/>
                        <a:stretch>
                          <a:fillRect/>
                        </a:stretch>
                      </p:blipFill>
                      <p:spPr>
                        <a:xfrm>
                          <a:off x="1043608" y="4365104"/>
                          <a:ext cx="1319213" cy="649288"/>
                        </a:xfrm>
                        <a:prstGeom prst="rect">
                          <a:avLst/>
                        </a:prstGeom>
                        <a:noFill/>
                        <a:ln w="38100">
                          <a:noFill/>
                          <a:miter/>
                        </a:ln>
                      </p:spPr>
                    </p:pic>
                  </p:oleObj>
                </mc:Fallback>
              </mc:AlternateContent>
            </a:graphicData>
          </a:graphic>
        </p:graphicFrame>
        <p:graphicFrame>
          <p:nvGraphicFramePr>
            <p:cNvPr id="63504" name="Object 77"/>
            <p:cNvGraphicFramePr>
              <a:graphicFrameLocks noChangeAspect="1"/>
            </p:cNvGraphicFramePr>
            <p:nvPr/>
          </p:nvGraphicFramePr>
          <p:xfrm>
            <a:off x="3972867" y="4365104"/>
            <a:ext cx="1319213" cy="649288"/>
          </p:xfrm>
          <a:graphic>
            <a:graphicData uri="http://schemas.openxmlformats.org/presentationml/2006/ole">
              <mc:AlternateContent xmlns:mc="http://schemas.openxmlformats.org/markup-compatibility/2006">
                <mc:Choice xmlns:v="urn:schemas-microsoft-com:vml" Requires="v">
                  <p:oleObj spid="_x0000_s40011" name="" r:id="rId13" imgW="774065" imgH="406400" progId="Equation.3">
                    <p:embed/>
                  </p:oleObj>
                </mc:Choice>
                <mc:Fallback>
                  <p:oleObj name="" r:id="rId13" imgW="774065" imgH="406400" progId="Equation.3">
                    <p:embed/>
                    <p:pic>
                      <p:nvPicPr>
                        <p:cNvPr id="0" name="20 39952"/>
                        <p:cNvPicPr/>
                        <p:nvPr/>
                      </p:nvPicPr>
                      <p:blipFill>
                        <a:blip r:embed="rId12"/>
                        <a:stretch>
                          <a:fillRect/>
                        </a:stretch>
                      </p:blipFill>
                      <p:spPr>
                        <a:xfrm>
                          <a:off x="3972867" y="4365104"/>
                          <a:ext cx="1319213" cy="649288"/>
                        </a:xfrm>
                        <a:prstGeom prst="rect">
                          <a:avLst/>
                        </a:prstGeom>
                        <a:noFill/>
                        <a:ln w="38100">
                          <a:noFill/>
                          <a:miter/>
                        </a:ln>
                      </p:spPr>
                    </p:pic>
                  </p:oleObj>
                </mc:Fallback>
              </mc:AlternateContent>
            </a:graphicData>
          </a:graphic>
        </p:graphicFrame>
        <p:graphicFrame>
          <p:nvGraphicFramePr>
            <p:cNvPr id="63505" name="Object 78"/>
            <p:cNvGraphicFramePr>
              <a:graphicFrameLocks noChangeAspect="1"/>
            </p:cNvGraphicFramePr>
            <p:nvPr/>
          </p:nvGraphicFramePr>
          <p:xfrm>
            <a:off x="5485035" y="4365104"/>
            <a:ext cx="1319213" cy="649288"/>
          </p:xfrm>
          <a:graphic>
            <a:graphicData uri="http://schemas.openxmlformats.org/presentationml/2006/ole">
              <mc:AlternateContent xmlns:mc="http://schemas.openxmlformats.org/markup-compatibility/2006">
                <mc:Choice xmlns:v="urn:schemas-microsoft-com:vml" Requires="v">
                  <p:oleObj spid="_x0000_s40012" name="" r:id="rId14" imgW="774065" imgH="406400" progId="Equation.3">
                    <p:embed/>
                  </p:oleObj>
                </mc:Choice>
                <mc:Fallback>
                  <p:oleObj name="" r:id="rId14" imgW="774065" imgH="406400" progId="Equation.3">
                    <p:embed/>
                    <p:pic>
                      <p:nvPicPr>
                        <p:cNvPr id="0" name="20 39953"/>
                        <p:cNvPicPr/>
                        <p:nvPr/>
                      </p:nvPicPr>
                      <p:blipFill>
                        <a:blip r:embed="rId12"/>
                        <a:stretch>
                          <a:fillRect/>
                        </a:stretch>
                      </p:blipFill>
                      <p:spPr>
                        <a:xfrm>
                          <a:off x="5485035" y="4365104"/>
                          <a:ext cx="1319213" cy="649288"/>
                        </a:xfrm>
                        <a:prstGeom prst="rect">
                          <a:avLst/>
                        </a:prstGeom>
                        <a:noFill/>
                        <a:ln w="38100">
                          <a:noFill/>
                          <a:miter/>
                        </a:ln>
                      </p:spPr>
                    </p:pic>
                  </p:oleObj>
                </mc:Fallback>
              </mc:AlternateContent>
            </a:graphicData>
          </a:graphic>
        </p:graphicFrame>
        <p:cxnSp>
          <p:nvCxnSpPr>
            <p:cNvPr id="89" name="直接连接符 88"/>
            <p:cNvCxnSpPr/>
            <p:nvPr/>
          </p:nvCxnSpPr>
          <p:spPr>
            <a:xfrm rot="10800000" flipV="1">
              <a:off x="1980168" y="4149819"/>
              <a:ext cx="287317" cy="215883"/>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2988161" y="4149819"/>
              <a:ext cx="287318" cy="215883"/>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rot="10800000" flipV="1">
              <a:off x="4285060" y="4149819"/>
              <a:ext cx="287317" cy="215883"/>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5293052" y="4149819"/>
              <a:ext cx="287318" cy="215883"/>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63510" name="TextBox 92"/>
            <p:cNvSpPr txBox="1"/>
            <p:nvPr/>
          </p:nvSpPr>
          <p:spPr>
            <a:xfrm>
              <a:off x="3275856" y="4869160"/>
              <a:ext cx="824208" cy="461628"/>
            </a:xfrm>
            <a:prstGeom prst="rect">
              <a:avLst/>
            </a:prstGeom>
            <a:noFill/>
            <a:ln w="9525">
              <a:solidFill>
                <a:schemeClr val="bg2"/>
              </a:solidFill>
            </a:ln>
          </p:spPr>
          <p:txBody>
            <a:bodyPr wrap="none" anchor="t">
              <a:spAutoFit/>
            </a:bodyPr>
            <a:lstStyle/>
            <a:p>
              <a:r>
                <a:rPr lang="en-US" altLang="zh-CN" sz="2400" dirty="0">
                  <a:solidFill>
                    <a:schemeClr val="bg2"/>
                  </a:solidFill>
                  <a:latin typeface="Calibri" panose="020F0502020204030204" pitchFamily="34" charset="0"/>
                  <a:ea typeface="宋体" panose="02010600030101010101" pitchFamily="2" charset="-122"/>
                </a:rPr>
                <a:t>………</a:t>
              </a:r>
              <a:endParaRPr lang="zh-CN" altLang="en-US" sz="2400" dirty="0">
                <a:solidFill>
                  <a:schemeClr val="bg2"/>
                </a:solidFill>
                <a:latin typeface="Calibri" panose="020F0502020204030204" pitchFamily="34" charset="0"/>
                <a:ea typeface="宋体" panose="02010600030101010101" pitchFamily="2" charset="-122"/>
              </a:endParaRPr>
            </a:p>
          </p:txBody>
        </p:sp>
      </p:grpSp>
      <p:sp>
        <p:nvSpPr>
          <p:cNvPr id="63511" name="Text Box 110"/>
          <p:cNvSpPr txBox="1"/>
          <p:nvPr/>
        </p:nvSpPr>
        <p:spPr>
          <a:xfrm>
            <a:off x="7298184" y="2650104"/>
            <a:ext cx="1584325" cy="2185987"/>
          </a:xfrm>
          <a:prstGeom prst="rect">
            <a:avLst/>
          </a:prstGeom>
          <a:solidFill>
            <a:srgbClr val="FFFFFF"/>
          </a:solidFill>
          <a:ln w="9525" cap="flat" cmpd="sng">
            <a:noFill/>
            <a:prstDash val="solid"/>
            <a:miter/>
            <a:headEnd type="none" w="med" len="med"/>
            <a:tailEnd type="none" w="med" len="med"/>
          </a:ln>
        </p:spPr>
        <p:txBody>
          <a:bodyPr anchor="t"/>
          <a:lstStyle/>
          <a:p>
            <a:pPr algn="just"/>
            <a:r>
              <a:rPr lang="fr-FR" altLang="zh-CN" sz="2000" b="1" i="1" dirty="0">
                <a:solidFill>
                  <a:schemeClr val="bg2"/>
                </a:solidFill>
                <a:latin typeface="Times New Roman" panose="02020603050405020304" pitchFamily="18" charset="0"/>
                <a:ea typeface="宋体" panose="02010600030101010101" pitchFamily="2" charset="-122"/>
              </a:rPr>
              <a:t>n</a:t>
            </a:r>
            <a:r>
              <a:rPr lang="fr-FR" altLang="zh-CN" sz="2000" b="1" dirty="0">
                <a:solidFill>
                  <a:schemeClr val="bg2"/>
                </a:solidFill>
                <a:latin typeface="Times New Roman" panose="02020603050405020304" pitchFamily="18" charset="0"/>
                <a:ea typeface="宋体" panose="02010600030101010101" pitchFamily="2" charset="-122"/>
              </a:rPr>
              <a:t>log</a:t>
            </a:r>
            <a:r>
              <a:rPr lang="fr-FR" altLang="zh-CN" sz="2000" b="1" i="1" dirty="0">
                <a:solidFill>
                  <a:schemeClr val="bg2"/>
                </a:solidFill>
                <a:latin typeface="Times New Roman" panose="02020603050405020304" pitchFamily="18" charset="0"/>
                <a:ea typeface="宋体" panose="02010600030101010101" pitchFamily="2" charset="-122"/>
              </a:rPr>
              <a:t>n</a:t>
            </a:r>
            <a:endParaRPr lang="fr-FR" altLang="zh-CN" sz="2000" b="1" i="1" dirty="0">
              <a:solidFill>
                <a:schemeClr val="bg2"/>
              </a:solidFill>
              <a:latin typeface="Times New Roman" panose="02020603050405020304" pitchFamily="18" charset="0"/>
              <a:ea typeface="宋体" panose="02010600030101010101" pitchFamily="2" charset="-122"/>
            </a:endParaRPr>
          </a:p>
          <a:p>
            <a:pPr algn="just"/>
            <a:endParaRPr lang="fr-FR" altLang="zh-CN" sz="2000" b="1" dirty="0">
              <a:solidFill>
                <a:schemeClr val="bg2"/>
              </a:solidFill>
              <a:latin typeface="Times New Roman" panose="02020603050405020304" pitchFamily="18" charset="0"/>
              <a:ea typeface="宋体" panose="02010600030101010101" pitchFamily="2" charset="-122"/>
            </a:endParaRPr>
          </a:p>
          <a:p>
            <a:pPr algn="just">
              <a:spcBef>
                <a:spcPts val="600"/>
              </a:spcBef>
            </a:pPr>
            <a:r>
              <a:rPr lang="fr-FR" altLang="zh-CN" sz="2000" b="1" i="1" dirty="0">
                <a:solidFill>
                  <a:schemeClr val="bg2"/>
                </a:solidFill>
                <a:latin typeface="Times New Roman" panose="02020603050405020304" pitchFamily="18" charset="0"/>
                <a:ea typeface="宋体" panose="02010600030101010101" pitchFamily="2" charset="-122"/>
              </a:rPr>
              <a:t>n</a:t>
            </a:r>
            <a:r>
              <a:rPr lang="fr-FR" altLang="zh-CN" sz="2000" b="1" dirty="0">
                <a:solidFill>
                  <a:schemeClr val="bg2"/>
                </a:solidFill>
                <a:latin typeface="Times New Roman" panose="02020603050405020304" pitchFamily="18" charset="0"/>
                <a:ea typeface="宋体" panose="02010600030101010101" pitchFamily="2" charset="-122"/>
              </a:rPr>
              <a:t>(log</a:t>
            </a:r>
            <a:r>
              <a:rPr lang="fr-FR" altLang="zh-CN" sz="2000" b="1" i="1" dirty="0">
                <a:solidFill>
                  <a:schemeClr val="bg2"/>
                </a:solidFill>
                <a:latin typeface="Times New Roman" panose="02020603050405020304" pitchFamily="18" charset="0"/>
                <a:ea typeface="宋体" panose="02010600030101010101" pitchFamily="2" charset="-122"/>
              </a:rPr>
              <a:t>n</a:t>
            </a:r>
            <a:r>
              <a:rPr lang="en-US" altLang="zh-CN" sz="20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fr-FR" altLang="zh-CN" sz="2000" b="1" dirty="0">
                <a:solidFill>
                  <a:schemeClr val="bg2"/>
                </a:solidFill>
                <a:latin typeface="Times New Roman" panose="02020603050405020304" pitchFamily="18" charset="0"/>
                <a:ea typeface="宋体" panose="02010600030101010101" pitchFamily="2" charset="-122"/>
              </a:rPr>
              <a:t>1)</a:t>
            </a:r>
            <a:endParaRPr lang="fr-FR" altLang="zh-CN" sz="2000" b="1" dirty="0">
              <a:solidFill>
                <a:schemeClr val="bg2"/>
              </a:solidFill>
              <a:latin typeface="Times New Roman" panose="02020603050405020304" pitchFamily="18" charset="0"/>
              <a:ea typeface="宋体" panose="02010600030101010101" pitchFamily="2" charset="-122"/>
            </a:endParaRPr>
          </a:p>
          <a:p>
            <a:pPr algn="just"/>
            <a:endParaRPr lang="fr-FR" altLang="zh-CN" sz="2000" b="1" dirty="0">
              <a:solidFill>
                <a:schemeClr val="bg2"/>
              </a:solidFill>
              <a:latin typeface="Times New Roman" panose="02020603050405020304" pitchFamily="18" charset="0"/>
              <a:ea typeface="宋体" panose="02010600030101010101" pitchFamily="2" charset="-122"/>
            </a:endParaRPr>
          </a:p>
          <a:p>
            <a:pPr algn="just"/>
            <a:endParaRPr lang="fr-FR" altLang="zh-CN" sz="2000" b="1" i="1" dirty="0">
              <a:solidFill>
                <a:schemeClr val="bg2"/>
              </a:solidFill>
              <a:latin typeface="Times New Roman" panose="02020603050405020304" pitchFamily="18" charset="0"/>
              <a:ea typeface="宋体" panose="02010600030101010101" pitchFamily="2" charset="-122"/>
            </a:endParaRPr>
          </a:p>
          <a:p>
            <a:pPr algn="just"/>
            <a:r>
              <a:rPr lang="fr-FR" altLang="zh-CN" sz="2000" b="1" i="1" dirty="0">
                <a:solidFill>
                  <a:schemeClr val="bg2"/>
                </a:solidFill>
                <a:latin typeface="Times New Roman" panose="02020603050405020304" pitchFamily="18" charset="0"/>
                <a:ea typeface="宋体" panose="02010600030101010101" pitchFamily="2" charset="-122"/>
              </a:rPr>
              <a:t>n</a:t>
            </a:r>
            <a:r>
              <a:rPr lang="fr-FR" altLang="zh-CN" sz="2000" b="1" dirty="0">
                <a:solidFill>
                  <a:schemeClr val="bg2"/>
                </a:solidFill>
                <a:latin typeface="Times New Roman" panose="02020603050405020304" pitchFamily="18" charset="0"/>
                <a:ea typeface="宋体" panose="02010600030101010101" pitchFamily="2" charset="-122"/>
              </a:rPr>
              <a:t>(log</a:t>
            </a:r>
            <a:r>
              <a:rPr lang="fr-FR" altLang="zh-CN" sz="2000" b="1" i="1" dirty="0">
                <a:solidFill>
                  <a:schemeClr val="bg2"/>
                </a:solidFill>
                <a:latin typeface="Times New Roman" panose="02020603050405020304" pitchFamily="18" charset="0"/>
                <a:ea typeface="宋体" panose="02010600030101010101" pitchFamily="2" charset="-122"/>
              </a:rPr>
              <a:t>n</a:t>
            </a:r>
            <a:r>
              <a:rPr lang="en-US" altLang="zh-CN" sz="20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fr-FR" altLang="zh-CN" sz="2000" b="1" dirty="0">
                <a:solidFill>
                  <a:schemeClr val="bg2"/>
                </a:solidFill>
                <a:latin typeface="Times New Roman" panose="02020603050405020304" pitchFamily="18" charset="0"/>
                <a:ea typeface="宋体" panose="02010600030101010101" pitchFamily="2" charset="-122"/>
              </a:rPr>
              <a:t>2)</a:t>
            </a:r>
            <a:endParaRPr lang="fr-FR" altLang="zh-CN" sz="2000" b="1" dirty="0">
              <a:solidFill>
                <a:schemeClr val="bg2"/>
              </a:solidFill>
              <a:latin typeface="Times New Roman" panose="02020603050405020304" pitchFamily="18" charset="0"/>
              <a:ea typeface="宋体" panose="02010600030101010101" pitchFamily="2" charset="-122"/>
            </a:endParaRPr>
          </a:p>
          <a:p>
            <a:pPr algn="just"/>
            <a:endParaRPr lang="fr-FR" altLang="zh-CN" sz="1000" dirty="0">
              <a:solidFill>
                <a:schemeClr val="bg2"/>
              </a:solidFill>
              <a:latin typeface="Calibri" panose="020F0502020204030204" pitchFamily="34" charset="0"/>
              <a:ea typeface="宋体" panose="02010600030101010101" pitchFamily="2" charset="-122"/>
            </a:endParaRPr>
          </a:p>
          <a:p>
            <a:pPr algn="just"/>
            <a:endParaRPr lang="fr-FR" altLang="zh-CN" sz="1000" dirty="0">
              <a:solidFill>
                <a:schemeClr val="bg2"/>
              </a:solidFill>
              <a:latin typeface="Calibri" panose="020F0502020204030204" pitchFamily="34" charset="0"/>
              <a:ea typeface="宋体" panose="02010600030101010101" pitchFamily="2" charset="-122"/>
            </a:endParaRPr>
          </a:p>
          <a:p>
            <a:pPr algn="just"/>
            <a:endParaRPr lang="fr-FR" altLang="zh-CN" sz="1000" dirty="0">
              <a:solidFill>
                <a:schemeClr val="bg2"/>
              </a:solidFill>
              <a:latin typeface="Calibri" panose="020F0502020204030204" pitchFamily="34" charset="0"/>
              <a:ea typeface="宋体" panose="02010600030101010101" pitchFamily="2" charset="-122"/>
            </a:endParaRPr>
          </a:p>
          <a:p>
            <a:pPr algn="just"/>
            <a:endParaRPr lang="fr-FR" altLang="zh-CN" sz="1000" dirty="0">
              <a:solidFill>
                <a:schemeClr val="bg2"/>
              </a:solidFill>
              <a:latin typeface="Calibri" panose="020F0502020204030204" pitchFamily="34" charset="0"/>
              <a:ea typeface="宋体" panose="02010600030101010101" pitchFamily="2" charset="-122"/>
            </a:endParaRPr>
          </a:p>
          <a:p>
            <a:endParaRPr lang="zh-CN" altLang="zh-CN" dirty="0">
              <a:solidFill>
                <a:schemeClr val="bg2"/>
              </a:solidFill>
              <a:latin typeface="Calibri" panose="020F0502020204030204" pitchFamily="34" charset="0"/>
              <a:ea typeface="宋体" panose="02010600030101010101" pitchFamily="2" charset="-122"/>
            </a:endParaRPr>
          </a:p>
        </p:txBody>
      </p:sp>
      <p:graphicFrame>
        <p:nvGraphicFramePr>
          <p:cNvPr id="63512" name="Object 112"/>
          <p:cNvGraphicFramePr>
            <a:graphicFrameLocks noChangeAspect="1"/>
          </p:cNvGraphicFramePr>
          <p:nvPr/>
        </p:nvGraphicFramePr>
        <p:xfrm>
          <a:off x="1033909" y="5342504"/>
          <a:ext cx="6486525" cy="1195387"/>
        </p:xfrm>
        <a:graphic>
          <a:graphicData uri="http://schemas.openxmlformats.org/presentationml/2006/ole">
            <mc:AlternateContent xmlns:mc="http://schemas.openxmlformats.org/markup-compatibility/2006">
              <mc:Choice xmlns:v="urn:schemas-microsoft-com:vml" Requires="v">
                <p:oleObj spid="_x0000_s40013" name="" r:id="rId15" imgW="3898900" imgH="685800" progId="Equation.3">
                  <p:embed/>
                </p:oleObj>
              </mc:Choice>
              <mc:Fallback>
                <p:oleObj name="" r:id="rId15" imgW="3898900" imgH="685800" progId="Equation.3">
                  <p:embed/>
                  <p:pic>
                    <p:nvPicPr>
                      <p:cNvPr id="0" name="20 39954"/>
                      <p:cNvPicPr/>
                      <p:nvPr/>
                    </p:nvPicPr>
                    <p:blipFill>
                      <a:blip r:embed="rId16"/>
                      <a:stretch>
                        <a:fillRect/>
                      </a:stretch>
                    </p:blipFill>
                    <p:spPr>
                      <a:xfrm>
                        <a:off x="1033909" y="5342504"/>
                        <a:ext cx="6486525" cy="1195387"/>
                      </a:xfrm>
                      <a:prstGeom prst="rect">
                        <a:avLst/>
                      </a:prstGeom>
                      <a:noFill/>
                      <a:ln w="38100">
                        <a:noFill/>
                        <a:miter/>
                      </a:ln>
                    </p:spPr>
                  </p:pic>
                </p:oleObj>
              </mc:Fallback>
            </mc:AlternateContent>
          </a:graphicData>
        </a:graphic>
      </p:graphicFrame>
      <p:sp>
        <p:nvSpPr>
          <p:cNvPr id="28" name="标题 1"/>
          <p:cNvSpPr txBox="1"/>
          <p:nvPr/>
        </p:nvSpPr>
        <p:spPr>
          <a:xfrm>
            <a:off x="395536" y="346299"/>
            <a:ext cx="8229600" cy="706437"/>
          </a:xfrm>
          <a:prstGeom prst="rect">
            <a:avLst/>
          </a:prstGeom>
          <a:noFill/>
          <a:ln w="9525">
            <a:noFill/>
          </a:ln>
        </p:spPr>
        <p:txBody>
          <a:bodyPr vert="horz" wrap="square" lIns="91440" tIns="45720" rIns="91440" bIns="45720"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pPr eaLnBrk="1" hangingPunct="1"/>
            <a:r>
              <a:rPr lang="en-US" altLang="zh-CN" sz="4000"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算法的数学基础</a:t>
            </a:r>
            <a:endParaRPr lang="zh-CN" altLang="en-US" sz="4000" dirty="0">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3496"/>
                                        </p:tgtEl>
                                        <p:attrNameLst>
                                          <p:attrName>style.visibility</p:attrName>
                                        </p:attrNameLst>
                                      </p:cBhvr>
                                      <p:to>
                                        <p:strVal val="visible"/>
                                      </p:to>
                                    </p:set>
                                    <p:animEffect transition="in" filter="wipe(left)">
                                      <p:cBhvr>
                                        <p:cTn id="7" dur="500"/>
                                        <p:tgtEl>
                                          <p:spTgt spid="634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511"/>
                                        </p:tgtEl>
                                        <p:attrNameLst>
                                          <p:attrName>style.visibility</p:attrName>
                                        </p:attrNameLst>
                                      </p:cBhvr>
                                      <p:to>
                                        <p:strVal val="visible"/>
                                      </p:to>
                                    </p:set>
                                    <p:animEffect transition="in" filter="wipe(left)">
                                      <p:cBhvr>
                                        <p:cTn id="12" dur="500"/>
                                        <p:tgtEl>
                                          <p:spTgt spid="635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3512"/>
                                        </p:tgtEl>
                                        <p:attrNameLst>
                                          <p:attrName>style.visibility</p:attrName>
                                        </p:attrNameLst>
                                      </p:cBhvr>
                                      <p:to>
                                        <p:strVal val="visible"/>
                                      </p:to>
                                    </p:set>
                                    <p:animEffect transition="in" filter="wipe(left)">
                                      <p:cBhvr>
                                        <p:cTn id="17" dur="500"/>
                                        <p:tgtEl>
                                          <p:spTgt spid="63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105" y="1628775"/>
            <a:ext cx="8282305" cy="4692650"/>
          </a:xfrm>
          <a:prstGeom prst="rect">
            <a:avLst/>
          </a:prstGeom>
          <a:solidFill>
            <a:schemeClr val="tx1"/>
          </a:solidFill>
        </p:spPr>
        <p:txBody>
          <a:bodyPr wrap="square">
            <a:spAutoFit/>
          </a:bodyPr>
          <a:lstStyle/>
          <a:p>
            <a:pPr marL="342900" indent="-342900">
              <a:lnSpc>
                <a:spcPct val="100000"/>
              </a:lnSpc>
              <a:spcBef>
                <a:spcPts val="600"/>
              </a:spcBef>
              <a:buFont typeface="Wingdings" panose="05000000000000000000" charset="0"/>
              <a:buChar char="n"/>
            </a:pPr>
            <a:r>
              <a:rPr lang="zh-CN" altLang="en-US" b="1" dirty="0" smtClean="0">
                <a:solidFill>
                  <a:schemeClr val="bg1"/>
                </a:solidFill>
              </a:rPr>
              <a:t>有关算法的基本概念</a:t>
            </a:r>
            <a:endParaRPr lang="zh-CN" altLang="en-US" b="1" dirty="0" smtClean="0">
              <a:solidFill>
                <a:schemeClr val="bg1"/>
              </a:solidFill>
            </a:endParaRPr>
          </a:p>
          <a:p>
            <a:pPr marL="800100" lvl="1" indent="-342900">
              <a:lnSpc>
                <a:spcPct val="100000"/>
              </a:lnSpc>
              <a:spcBef>
                <a:spcPts val="600"/>
              </a:spcBef>
              <a:buFont typeface="Wingdings" panose="05000000000000000000" charset="0"/>
              <a:buChar char="p"/>
            </a:pPr>
            <a:r>
              <a:rPr lang="zh-CN" altLang="en-US" b="1" noProof="0" dirty="0" smtClean="0">
                <a:ln>
                  <a:noFill/>
                </a:ln>
                <a:solidFill>
                  <a:srgbClr val="FF0000"/>
                </a:solidFill>
                <a:effectLst/>
                <a:uLnTx/>
                <a:uFillTx/>
                <a:latin typeface="+mj-ea"/>
                <a:ea typeface="+mj-ea"/>
                <a:cs typeface="+mj-ea"/>
                <a:sym typeface="+mn-ea"/>
              </a:rPr>
              <a:t>算法设计的任务</a:t>
            </a:r>
            <a:endParaRPr lang="zh-CN" altLang="en-US" b="1" noProof="0" dirty="0" smtClean="0">
              <a:ln>
                <a:noFill/>
              </a:ln>
              <a:solidFill>
                <a:schemeClr val="bg2"/>
              </a:solidFill>
              <a:effectLst/>
              <a:uLnTx/>
              <a:uFillTx/>
              <a:latin typeface="+mj-ea"/>
              <a:ea typeface="+mj-ea"/>
              <a:cs typeface="+mj-ea"/>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1</a:t>
            </a:r>
            <a:r>
              <a:rPr lang="zh-CN" altLang="en-US" b="1" dirty="0" smtClean="0">
                <a:solidFill>
                  <a:schemeClr val="bg1"/>
                </a:solidFill>
              </a:rPr>
              <a:t>）相关举例：</a:t>
            </a:r>
            <a:r>
              <a:rPr lang="zh-CN" altLang="en-US" dirty="0">
                <a:solidFill>
                  <a:schemeClr val="bg1"/>
                </a:solidFill>
                <a:sym typeface="+mn-ea"/>
              </a:rPr>
              <a:t>调度问题、</a:t>
            </a:r>
            <a:r>
              <a:rPr lang="zh-CN" altLang="en-US">
                <a:solidFill>
                  <a:schemeClr val="bg1"/>
                </a:solidFill>
                <a:sym typeface="+mn-ea"/>
              </a:rPr>
              <a:t>任务分配问题</a:t>
            </a:r>
            <a:endParaRPr lang="zh-CN" altLang="en-US" b="1">
              <a:solidFill>
                <a:schemeClr val="bg1"/>
              </a:solidFill>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2</a:t>
            </a:r>
            <a:r>
              <a:rPr lang="zh-CN" altLang="en-US" b="1" dirty="0" smtClean="0">
                <a:solidFill>
                  <a:schemeClr val="bg1"/>
                </a:solidFill>
              </a:rPr>
              <a:t>）具体任务</a:t>
            </a:r>
            <a:endParaRPr lang="zh-CN" altLang="en-US" b="1" dirty="0" smtClean="0">
              <a:solidFill>
                <a:schemeClr val="bg1"/>
              </a:solidFill>
            </a:endParaRPr>
          </a:p>
          <a:p>
            <a:pPr marL="1047115" lvl="2" indent="-132080" algn="just">
              <a:lnSpc>
                <a:spcPct val="100000"/>
              </a:lnSpc>
              <a:spcBef>
                <a:spcPts val="600"/>
              </a:spcBef>
              <a:spcAft>
                <a:spcPts val="0"/>
              </a:spcAft>
              <a:buFont typeface="Arial" panose="020B0604020202020204" pitchFamily="34" charset="0"/>
              <a:buChar char="•"/>
            </a:pPr>
            <a:r>
              <a:rPr lang="zh-CN" altLang="en-US" b="1">
                <a:solidFill>
                  <a:srgbClr val="002060"/>
                </a:solidFill>
                <a:uFillTx/>
                <a:sym typeface="+mn-ea"/>
              </a:rPr>
              <a:t>建模</a:t>
            </a:r>
            <a:r>
              <a:rPr lang="zh-CN" altLang="en-US">
                <a:solidFill>
                  <a:schemeClr val="bg2"/>
                </a:solidFill>
                <a:uFillTx/>
                <a:sym typeface="+mn-ea"/>
              </a:rPr>
              <a:t>：对输入参数和解给出形式化或半形式化的描述，分析问题的目标函数、约束函数等。</a:t>
            </a:r>
            <a:endParaRPr lang="zh-CN" altLang="en-US">
              <a:solidFill>
                <a:schemeClr val="bg2"/>
              </a:solidFill>
              <a:uFillTx/>
              <a:sym typeface="+mn-ea"/>
            </a:endParaRPr>
          </a:p>
          <a:p>
            <a:pPr marL="1047115" lvl="2" indent="-132080" algn="just">
              <a:lnSpc>
                <a:spcPct val="100000"/>
              </a:lnSpc>
              <a:spcBef>
                <a:spcPts val="600"/>
              </a:spcBef>
              <a:spcAft>
                <a:spcPts val="0"/>
              </a:spcAft>
              <a:buFont typeface="Arial" panose="020B0604020202020204" pitchFamily="34" charset="0"/>
              <a:buChar char="•"/>
            </a:pPr>
            <a:r>
              <a:rPr lang="zh-CN" altLang="en-US" b="1">
                <a:solidFill>
                  <a:srgbClr val="002060"/>
                </a:solidFill>
                <a:uFillTx/>
                <a:sym typeface="+mn-ea"/>
              </a:rPr>
              <a:t>设计算法</a:t>
            </a:r>
            <a:r>
              <a:rPr lang="zh-CN" altLang="en-US">
                <a:solidFill>
                  <a:schemeClr val="bg2"/>
                </a:solidFill>
                <a:uFillTx/>
                <a:sym typeface="+mn-ea"/>
              </a:rPr>
              <a:t>：选择</a:t>
            </a:r>
            <a:r>
              <a:rPr lang="zh-CN" altLang="en-US" b="1">
                <a:solidFill>
                  <a:srgbClr val="FF0000"/>
                </a:solidFill>
                <a:uFillTx/>
                <a:sym typeface="+mn-ea"/>
              </a:rPr>
              <a:t>恰当的算法策略</a:t>
            </a:r>
            <a:r>
              <a:rPr lang="zh-CN" altLang="en-US">
                <a:solidFill>
                  <a:schemeClr val="bg2"/>
                </a:solidFill>
                <a:uFillTx/>
                <a:sym typeface="+mn-ea"/>
              </a:rPr>
              <a:t>进行设计</a:t>
            </a:r>
            <a:endParaRPr lang="zh-CN" altLang="en-US">
              <a:solidFill>
                <a:schemeClr val="bg2"/>
              </a:solidFill>
              <a:uFillTx/>
              <a:sym typeface="+mn-ea"/>
            </a:endParaRPr>
          </a:p>
          <a:p>
            <a:pPr marL="1047115" lvl="2" indent="-132080" algn="just">
              <a:lnSpc>
                <a:spcPct val="100000"/>
              </a:lnSpc>
              <a:spcBef>
                <a:spcPts val="600"/>
              </a:spcBef>
              <a:spcAft>
                <a:spcPts val="0"/>
              </a:spcAft>
              <a:buFont typeface="Arial" panose="020B0604020202020204" pitchFamily="34" charset="0"/>
              <a:buChar char="•"/>
            </a:pPr>
            <a:r>
              <a:rPr lang="zh-CN" altLang="en-US" b="1">
                <a:solidFill>
                  <a:srgbClr val="002060"/>
                </a:solidFill>
                <a:uFillTx/>
                <a:sym typeface="+mn-ea"/>
              </a:rPr>
              <a:t>分析算法的正确性</a:t>
            </a:r>
            <a:r>
              <a:rPr lang="zh-CN" altLang="en-US">
                <a:solidFill>
                  <a:schemeClr val="bg2"/>
                </a:solidFill>
                <a:uFillTx/>
                <a:sym typeface="+mn-ea"/>
              </a:rPr>
              <a:t>：是否对所有的实例都得到正确的解（尤其贪心策略一定要证明）</a:t>
            </a:r>
            <a:endParaRPr lang="zh-CN" altLang="en-US">
              <a:solidFill>
                <a:schemeClr val="bg2"/>
              </a:solidFill>
              <a:uFillTx/>
              <a:sym typeface="+mn-ea"/>
            </a:endParaRPr>
          </a:p>
          <a:p>
            <a:pPr marL="1047115" lvl="2" indent="-132080" algn="just">
              <a:lnSpc>
                <a:spcPct val="100000"/>
              </a:lnSpc>
              <a:spcBef>
                <a:spcPts val="600"/>
              </a:spcBef>
              <a:spcAft>
                <a:spcPts val="0"/>
              </a:spcAft>
              <a:buFont typeface="Arial" panose="020B0604020202020204" pitchFamily="34" charset="0"/>
              <a:buChar char="•"/>
            </a:pPr>
            <a:r>
              <a:rPr lang="zh-CN" altLang="en-US" b="1">
                <a:solidFill>
                  <a:srgbClr val="002060"/>
                </a:solidFill>
                <a:uFillTx/>
                <a:sym typeface="+mn-ea"/>
              </a:rPr>
              <a:t>分析算法效率</a:t>
            </a:r>
            <a:r>
              <a:rPr lang="zh-CN" altLang="en-US">
                <a:solidFill>
                  <a:schemeClr val="bg2"/>
                </a:solidFill>
                <a:uFillTx/>
                <a:sym typeface="+mn-ea"/>
              </a:rPr>
              <a:t>：是否为指数级的（</a:t>
            </a:r>
            <a:r>
              <a:rPr lang="en-US" altLang="zh-CN">
                <a:solidFill>
                  <a:schemeClr val="bg2"/>
                </a:solidFill>
                <a:uFillTx/>
                <a:sym typeface="+mn-ea"/>
              </a:rPr>
              <a:t>NP</a:t>
            </a:r>
            <a:r>
              <a:rPr lang="zh-CN" altLang="en-US">
                <a:solidFill>
                  <a:schemeClr val="bg2"/>
                </a:solidFill>
                <a:uFillTx/>
                <a:sym typeface="+mn-ea"/>
              </a:rPr>
              <a:t>难问题），若是，能否为其找到近似多项式阶的解。</a:t>
            </a:r>
            <a:endParaRPr lang="zh-CN" altLang="en-US" b="1"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left)">
                                      <p:cBhvr>
                                        <p:cTn id="18" dur="500"/>
                                        <p:tgtEl>
                                          <p:spTgt spid="3">
                                            <p:txEl>
                                              <p:pRg st="5" end="5"/>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wipe(left)">
                                      <p:cBhvr>
                                        <p:cTn id="21" dur="500"/>
                                        <p:tgtEl>
                                          <p:spTgt spid="3">
                                            <p:txEl>
                                              <p:pRg st="6" end="6"/>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wipe(left)">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105" y="1628775"/>
            <a:ext cx="8282305" cy="2614930"/>
          </a:xfrm>
          <a:prstGeom prst="rect">
            <a:avLst/>
          </a:prstGeom>
          <a:solidFill>
            <a:schemeClr val="tx1"/>
          </a:solidFill>
        </p:spPr>
        <p:txBody>
          <a:bodyPr wrap="square">
            <a:spAutoFit/>
          </a:bodyPr>
          <a:lstStyle/>
          <a:p>
            <a:pPr marL="800100" lvl="1" indent="-342900">
              <a:lnSpc>
                <a:spcPct val="100000"/>
              </a:lnSpc>
              <a:spcBef>
                <a:spcPts val="600"/>
              </a:spcBef>
              <a:buFont typeface="Wingdings" panose="05000000000000000000" charset="0"/>
              <a:buChar char="p"/>
            </a:pPr>
            <a:r>
              <a:rPr lang="zh-CN" altLang="en-US">
                <a:solidFill>
                  <a:schemeClr val="bg2"/>
                </a:solidFill>
                <a:uFillTx/>
                <a:latin typeface="黑体" panose="02010609060101010101" pitchFamily="49" charset="-122"/>
                <a:ea typeface="黑体" panose="02010609060101010101" pitchFamily="49" charset="-122"/>
                <a:sym typeface="+mn-ea"/>
              </a:rPr>
              <a:t>问题计算复杂度的界定</a:t>
            </a:r>
            <a:endParaRPr lang="zh-CN" altLang="en-US" b="1" noProof="0" dirty="0" smtClean="0">
              <a:ln>
                <a:noFill/>
              </a:ln>
              <a:solidFill>
                <a:schemeClr val="bg2"/>
              </a:solidFill>
              <a:effectLst/>
              <a:uLnTx/>
              <a:uFillTx/>
              <a:latin typeface="+mj-ea"/>
              <a:ea typeface="+mj-ea"/>
              <a:cs typeface="+mj-ea"/>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1</a:t>
            </a:r>
            <a:r>
              <a:rPr lang="zh-CN" altLang="en-US" b="1" dirty="0" smtClean="0">
                <a:solidFill>
                  <a:schemeClr val="bg1"/>
                </a:solidFill>
              </a:rPr>
              <a:t>）相关举例：排序</a:t>
            </a:r>
            <a:r>
              <a:rPr lang="zh-CN" altLang="en-US">
                <a:solidFill>
                  <a:schemeClr val="bg1"/>
                </a:solidFill>
                <a:sym typeface="+mn-ea"/>
              </a:rPr>
              <a:t>问题</a:t>
            </a:r>
            <a:endParaRPr lang="zh-CN" altLang="en-US" b="1">
              <a:solidFill>
                <a:schemeClr val="bg1"/>
              </a:solidFill>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2</a:t>
            </a:r>
            <a:r>
              <a:rPr lang="zh-CN" altLang="en-US" b="1" dirty="0" smtClean="0">
                <a:solidFill>
                  <a:schemeClr val="bg1"/>
                </a:solidFill>
              </a:rPr>
              <a:t>）研究内容</a:t>
            </a:r>
            <a:endParaRPr lang="zh-CN" altLang="en-US" b="1" dirty="0" smtClean="0">
              <a:solidFill>
                <a:schemeClr val="bg1"/>
              </a:solidFill>
            </a:endParaRPr>
          </a:p>
          <a:p>
            <a:pPr marL="1047115" lvl="2" indent="-132080" algn="just">
              <a:lnSpc>
                <a:spcPct val="100000"/>
              </a:lnSpc>
              <a:spcBef>
                <a:spcPts val="600"/>
              </a:spcBef>
              <a:spcAft>
                <a:spcPts val="0"/>
              </a:spcAft>
              <a:buFont typeface="Arial" panose="020B0604020202020204" pitchFamily="34" charset="0"/>
              <a:buChar char="•"/>
            </a:pPr>
            <a:r>
              <a:rPr lang="zh-CN" altLang="en-US" noProof="0" dirty="0" smtClean="0">
                <a:ln>
                  <a:noFill/>
                </a:ln>
                <a:solidFill>
                  <a:schemeClr val="bg2"/>
                </a:solidFill>
                <a:effectLst/>
                <a:uLnTx/>
                <a:uFillTx/>
                <a:latin typeface="+mj-ea"/>
                <a:ea typeface="+mj-ea"/>
                <a:cs typeface="+mj-ea"/>
                <a:sym typeface="+mn-ea"/>
              </a:rPr>
              <a:t>对解决同一类问题（排序类、查找类等）的不同算法策略进行效率分析。</a:t>
            </a:r>
            <a:endParaRPr lang="zh-CN" altLang="en-US" noProof="0" dirty="0" smtClean="0">
              <a:ln>
                <a:noFill/>
              </a:ln>
              <a:solidFill>
                <a:schemeClr val="bg2"/>
              </a:solidFill>
              <a:effectLst/>
              <a:uLnTx/>
              <a:uFillTx/>
              <a:latin typeface="+mj-ea"/>
              <a:ea typeface="+mj-ea"/>
              <a:cs typeface="+mj-ea"/>
              <a:sym typeface="+mn-ea"/>
            </a:endParaRPr>
          </a:p>
          <a:p>
            <a:pPr marL="1047115" lvl="2" indent="-132080" algn="just">
              <a:lnSpc>
                <a:spcPct val="100000"/>
              </a:lnSpc>
              <a:spcBef>
                <a:spcPts val="600"/>
              </a:spcBef>
              <a:spcAft>
                <a:spcPts val="0"/>
              </a:spcAft>
              <a:buFont typeface="Arial" panose="020B0604020202020204" pitchFamily="34" charset="0"/>
              <a:buChar char="•"/>
            </a:pPr>
            <a:r>
              <a:rPr lang="zh-CN" altLang="en-US">
                <a:solidFill>
                  <a:schemeClr val="bg2"/>
                </a:solidFill>
                <a:sym typeface="+mn-ea"/>
              </a:rPr>
              <a:t>是否可找到更好的、效率更高的解决该类问题算法</a:t>
            </a:r>
            <a:endParaRPr lang="zh-CN" altLang="en-US" b="1"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105" y="1628775"/>
            <a:ext cx="8282305" cy="4615815"/>
          </a:xfrm>
          <a:prstGeom prst="rect">
            <a:avLst/>
          </a:prstGeom>
          <a:solidFill>
            <a:schemeClr val="tx1"/>
          </a:solidFill>
        </p:spPr>
        <p:txBody>
          <a:bodyPr wrap="square">
            <a:spAutoFit/>
          </a:bodyPr>
          <a:lstStyle/>
          <a:p>
            <a:pPr marL="800100" lvl="1" indent="-342900">
              <a:lnSpc>
                <a:spcPct val="100000"/>
              </a:lnSpc>
              <a:spcBef>
                <a:spcPts val="600"/>
              </a:spcBef>
              <a:buFont typeface="Wingdings" panose="05000000000000000000" charset="0"/>
              <a:buChar char="p"/>
            </a:pPr>
            <a:r>
              <a:rPr lang="zh-CN" altLang="en-US">
                <a:solidFill>
                  <a:schemeClr val="bg2"/>
                </a:solidFill>
                <a:uFillTx/>
                <a:latin typeface="黑体" panose="02010609060101010101" pitchFamily="49" charset="-122"/>
                <a:ea typeface="黑体" panose="02010609060101010101" pitchFamily="49" charset="-122"/>
                <a:sym typeface="+mn-ea"/>
              </a:rPr>
              <a:t>计算复杂性理论</a:t>
            </a:r>
            <a:endParaRPr lang="zh-CN" altLang="en-US" b="1" noProof="0" dirty="0" smtClean="0">
              <a:ln>
                <a:noFill/>
              </a:ln>
              <a:solidFill>
                <a:schemeClr val="bg2"/>
              </a:solidFill>
              <a:effectLst/>
              <a:uLnTx/>
              <a:uFillTx/>
              <a:latin typeface="+mj-ea"/>
              <a:ea typeface="+mj-ea"/>
              <a:cs typeface="+mj-ea"/>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1</a:t>
            </a:r>
            <a:r>
              <a:rPr lang="zh-CN" altLang="en-US" b="1" dirty="0" smtClean="0">
                <a:solidFill>
                  <a:schemeClr val="bg1"/>
                </a:solidFill>
              </a:rPr>
              <a:t>）</a:t>
            </a:r>
            <a:r>
              <a:rPr lang="en-US" altLang="zh-CN" b="1" dirty="0" smtClean="0">
                <a:solidFill>
                  <a:schemeClr val="bg1"/>
                </a:solidFill>
              </a:rPr>
              <a:t>NP</a:t>
            </a:r>
            <a:r>
              <a:rPr lang="zh-CN" altLang="en-US" b="1" dirty="0" smtClean="0">
                <a:solidFill>
                  <a:schemeClr val="bg1"/>
                </a:solidFill>
              </a:rPr>
              <a:t>难举例：货郎</a:t>
            </a:r>
            <a:r>
              <a:rPr lang="zh-CN" altLang="en-US">
                <a:solidFill>
                  <a:schemeClr val="bg1"/>
                </a:solidFill>
                <a:sym typeface="+mn-ea"/>
              </a:rPr>
              <a:t>问题、背包问题、双机调度问题</a:t>
            </a:r>
            <a:endParaRPr lang="zh-CN" altLang="en-US" b="1">
              <a:solidFill>
                <a:schemeClr val="bg1"/>
              </a:solidFill>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2</a:t>
            </a:r>
            <a:r>
              <a:rPr lang="zh-CN" altLang="en-US" b="1" dirty="0" smtClean="0">
                <a:solidFill>
                  <a:schemeClr val="bg1"/>
                </a:solidFill>
              </a:rPr>
              <a:t>）研究内容</a:t>
            </a:r>
            <a:endParaRPr lang="zh-CN" altLang="en-US" b="1" dirty="0" smtClean="0">
              <a:solidFill>
                <a:schemeClr val="bg1"/>
              </a:solidFill>
            </a:endParaRPr>
          </a:p>
          <a:p>
            <a:pPr marL="1047115" lvl="2" indent="-132080" algn="just">
              <a:lnSpc>
                <a:spcPct val="100000"/>
              </a:lnSpc>
              <a:spcBef>
                <a:spcPts val="600"/>
              </a:spcBef>
              <a:spcAft>
                <a:spcPts val="0"/>
              </a:spcAft>
              <a:buFont typeface="Arial" panose="020B0604020202020204" pitchFamily="34" charset="0"/>
              <a:buChar char="•"/>
            </a:pPr>
            <a:r>
              <a:rPr lang="en-US" altLang="zh-CN">
                <a:solidFill>
                  <a:schemeClr val="bg2"/>
                </a:solidFill>
                <a:sym typeface="+mn-ea"/>
              </a:rPr>
              <a:t>这样的问题有数千个，大量存在于各</a:t>
            </a:r>
            <a:r>
              <a:rPr lang="zh-CN" altLang="en-US">
                <a:solidFill>
                  <a:schemeClr val="bg2"/>
                </a:solidFill>
                <a:sym typeface="+mn-ea"/>
              </a:rPr>
              <a:t>个应用领域。</a:t>
            </a:r>
            <a:endParaRPr lang="zh-CN" altLang="en-US">
              <a:solidFill>
                <a:schemeClr val="bg2"/>
              </a:solidFill>
              <a:sym typeface="+mn-ea"/>
            </a:endParaRPr>
          </a:p>
          <a:p>
            <a:pPr marL="1047115" lvl="2" indent="-132080" algn="just">
              <a:lnSpc>
                <a:spcPct val="100000"/>
              </a:lnSpc>
              <a:spcBef>
                <a:spcPts val="600"/>
              </a:spcBef>
              <a:spcAft>
                <a:spcPts val="0"/>
              </a:spcAft>
              <a:buFont typeface="Arial" panose="020B0604020202020204" pitchFamily="34" charset="0"/>
              <a:buChar char="•"/>
            </a:pPr>
            <a:r>
              <a:rPr lang="en-US" altLang="zh-CN">
                <a:solidFill>
                  <a:schemeClr val="bg2"/>
                </a:solidFill>
                <a:sym typeface="+mn-ea"/>
              </a:rPr>
              <a:t>至今没找到有效算法：现有的算法的运行时间是输入规模的指数或更高阶函数</a:t>
            </a:r>
            <a:r>
              <a:rPr lang="zh-CN" altLang="en-US">
                <a:solidFill>
                  <a:schemeClr val="bg2"/>
                </a:solidFill>
                <a:sym typeface="+mn-ea"/>
              </a:rPr>
              <a:t>。</a:t>
            </a:r>
            <a:endParaRPr lang="zh-CN" altLang="en-US">
              <a:solidFill>
                <a:schemeClr val="bg2"/>
              </a:solidFill>
              <a:sym typeface="+mn-ea"/>
            </a:endParaRPr>
          </a:p>
          <a:p>
            <a:pPr marL="1047115" lvl="2" indent="-132080" algn="just">
              <a:lnSpc>
                <a:spcPct val="100000"/>
              </a:lnSpc>
              <a:spcBef>
                <a:spcPts val="600"/>
              </a:spcBef>
              <a:spcAft>
                <a:spcPts val="0"/>
              </a:spcAft>
              <a:buFont typeface="Arial" panose="020B0604020202020204" pitchFamily="34" charset="0"/>
              <a:buChar char="•"/>
            </a:pPr>
            <a:r>
              <a:rPr lang="en-US" altLang="zh-CN">
                <a:solidFill>
                  <a:schemeClr val="bg2"/>
                </a:solidFill>
                <a:sym typeface="+mn-ea"/>
              </a:rPr>
              <a:t>至今没有人能够证明对于这类问题不存在多项式时间的算法</a:t>
            </a:r>
            <a:r>
              <a:rPr lang="zh-CN" altLang="en-US">
                <a:solidFill>
                  <a:schemeClr val="bg2"/>
                </a:solidFill>
                <a:sym typeface="+mn-ea"/>
              </a:rPr>
              <a:t>。</a:t>
            </a:r>
            <a:endParaRPr lang="zh-CN" altLang="en-US">
              <a:solidFill>
                <a:schemeClr val="bg2"/>
              </a:solidFill>
              <a:sym typeface="+mn-ea"/>
            </a:endParaRPr>
          </a:p>
          <a:p>
            <a:pPr marL="1047115" lvl="2" indent="-132080" algn="just">
              <a:lnSpc>
                <a:spcPct val="100000"/>
              </a:lnSpc>
              <a:spcBef>
                <a:spcPts val="600"/>
              </a:spcBef>
              <a:spcAft>
                <a:spcPts val="0"/>
              </a:spcAft>
              <a:buFont typeface="Arial" panose="020B0604020202020204" pitchFamily="34" charset="0"/>
              <a:buChar char="•"/>
            </a:pPr>
            <a:r>
              <a:rPr lang="en-US" altLang="zh-CN">
                <a:solidFill>
                  <a:schemeClr val="bg2"/>
                </a:solidFill>
                <a:sym typeface="+mn-ea"/>
              </a:rPr>
              <a:t>从是否存在多项式时间算法的角度</a:t>
            </a:r>
            <a:r>
              <a:rPr lang="zh-CN" altLang="en-US">
                <a:solidFill>
                  <a:schemeClr val="bg2"/>
                </a:solidFill>
                <a:sym typeface="+mn-ea"/>
              </a:rPr>
              <a:t>看，这数千个</a:t>
            </a:r>
            <a:r>
              <a:rPr lang="en-US" altLang="zh-CN">
                <a:solidFill>
                  <a:schemeClr val="bg2"/>
                </a:solidFill>
                <a:sym typeface="+mn-ea"/>
              </a:rPr>
              <a:t>NP</a:t>
            </a:r>
            <a:r>
              <a:rPr lang="zh-CN" altLang="en-US">
                <a:solidFill>
                  <a:schemeClr val="bg2"/>
                </a:solidFill>
                <a:sym typeface="+mn-ea"/>
              </a:rPr>
              <a:t>难问题彼此是等价的。 若一个</a:t>
            </a:r>
            <a:r>
              <a:rPr lang="en-US" altLang="zh-CN">
                <a:solidFill>
                  <a:schemeClr val="bg2"/>
                </a:solidFill>
                <a:sym typeface="+mn-ea"/>
              </a:rPr>
              <a:t>NP</a:t>
            </a:r>
            <a:r>
              <a:rPr lang="zh-CN" altLang="en-US">
                <a:solidFill>
                  <a:schemeClr val="bg2"/>
                </a:solidFill>
                <a:sym typeface="+mn-ea"/>
              </a:rPr>
              <a:t>难问题存在多项式时间，则这些问题的难度处于可有效计算的边界。</a:t>
            </a:r>
            <a:endParaRPr lang="zh-CN" altLang="en-US" b="1"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left)">
                                      <p:cBhvr>
                                        <p:cTn id="21" dur="500"/>
                                        <p:tgtEl>
                                          <p:spTgt spid="3">
                                            <p:txEl>
                                              <p:pRg st="5" end="5"/>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left)">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105" y="1628775"/>
            <a:ext cx="8282305" cy="4692650"/>
          </a:xfrm>
          <a:prstGeom prst="rect">
            <a:avLst/>
          </a:prstGeom>
          <a:solidFill>
            <a:schemeClr val="tx1"/>
          </a:solidFill>
        </p:spPr>
        <p:txBody>
          <a:bodyPr wrap="square">
            <a:spAutoFit/>
          </a:bodyPr>
          <a:lstStyle/>
          <a:p>
            <a:pPr marL="800100" lvl="1" indent="-342900">
              <a:lnSpc>
                <a:spcPct val="100000"/>
              </a:lnSpc>
              <a:spcBef>
                <a:spcPts val="600"/>
              </a:spcBef>
              <a:buFont typeface="Wingdings" panose="05000000000000000000" charset="0"/>
              <a:buChar char="p"/>
            </a:pPr>
            <a:r>
              <a:rPr lang="zh-CN" altLang="zh-CN">
                <a:solidFill>
                  <a:schemeClr val="bg1"/>
                </a:solidFill>
                <a:uFillTx/>
                <a:latin typeface="黑体" panose="02010609060101010101" pitchFamily="49" charset="-122"/>
                <a:ea typeface="黑体" panose="02010609060101010101" pitchFamily="49" charset="-122"/>
                <a:sym typeface="+mn-ea"/>
              </a:rPr>
              <a:t>算法及时间复杂度估算</a:t>
            </a:r>
            <a:endParaRPr lang="zh-CN" altLang="en-US" b="1" noProof="0" dirty="0" smtClean="0">
              <a:ln>
                <a:noFill/>
              </a:ln>
              <a:solidFill>
                <a:schemeClr val="bg2"/>
              </a:solidFill>
              <a:effectLst/>
              <a:uLnTx/>
              <a:uFillTx/>
              <a:latin typeface="+mj-ea"/>
              <a:ea typeface="+mj-ea"/>
              <a:cs typeface="+mj-ea"/>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1</a:t>
            </a:r>
            <a:r>
              <a:rPr lang="zh-CN" altLang="en-US" b="1" dirty="0" smtClean="0">
                <a:solidFill>
                  <a:schemeClr val="bg1"/>
                </a:solidFill>
              </a:rPr>
              <a:t>）</a:t>
            </a:r>
            <a:r>
              <a:rPr lang="zh-CN" altLang="zh-CN">
                <a:solidFill>
                  <a:schemeClr val="bg2"/>
                </a:solidFill>
                <a:uFillTx/>
                <a:sym typeface="+mn-ea"/>
              </a:rPr>
              <a:t>算法中涉及的基本概念：问题、问题描述、问题实例、算法、算法</a:t>
            </a:r>
            <a:r>
              <a:rPr lang="en-US" altLang="zh-CN">
                <a:solidFill>
                  <a:schemeClr val="bg2"/>
                </a:solidFill>
                <a:uFillTx/>
                <a:sym typeface="+mn-ea"/>
              </a:rPr>
              <a:t>A</a:t>
            </a:r>
            <a:r>
              <a:rPr lang="zh-CN" altLang="en-US">
                <a:solidFill>
                  <a:schemeClr val="bg2"/>
                </a:solidFill>
                <a:uFillTx/>
                <a:sym typeface="+mn-ea"/>
              </a:rPr>
              <a:t>解决问题</a:t>
            </a:r>
            <a:r>
              <a:rPr lang="en-US" altLang="zh-CN">
                <a:solidFill>
                  <a:schemeClr val="bg2"/>
                </a:solidFill>
                <a:uFillTx/>
                <a:sym typeface="+mn-ea"/>
              </a:rPr>
              <a:t>P</a:t>
            </a:r>
            <a:r>
              <a:rPr lang="zh-CN" altLang="en-US">
                <a:solidFill>
                  <a:schemeClr val="bg2"/>
                </a:solidFill>
                <a:uFillTx/>
                <a:sym typeface="+mn-ea"/>
              </a:rPr>
              <a:t>。</a:t>
            </a:r>
            <a:endParaRPr lang="zh-CN" altLang="en-US" b="1">
              <a:solidFill>
                <a:schemeClr val="bg1"/>
              </a:solidFill>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2</a:t>
            </a:r>
            <a:r>
              <a:rPr lang="zh-CN" altLang="en-US" b="1" dirty="0" smtClean="0">
                <a:solidFill>
                  <a:schemeClr val="bg1"/>
                </a:solidFill>
              </a:rPr>
              <a:t>）</a:t>
            </a:r>
            <a:r>
              <a:rPr lang="zh-CN" altLang="en-US">
                <a:solidFill>
                  <a:schemeClr val="bg2"/>
                </a:solidFill>
                <a:uFillTx/>
                <a:sym typeface="+mn-ea"/>
              </a:rPr>
              <a:t>算法时间复杂度: 针对指定</a:t>
            </a:r>
            <a:r>
              <a:rPr lang="zh-CN" altLang="en-US">
                <a:solidFill>
                  <a:srgbClr val="FF0000"/>
                </a:solidFill>
                <a:uFillTx/>
                <a:sym typeface="+mn-ea"/>
              </a:rPr>
              <a:t>基本运算</a:t>
            </a:r>
            <a:r>
              <a:rPr lang="zh-CN" altLang="en-US">
                <a:solidFill>
                  <a:schemeClr val="bg2"/>
                </a:solidFill>
                <a:uFillTx/>
                <a:sym typeface="+mn-ea"/>
              </a:rPr>
              <a:t>，计数算法所做该运算的次数，通常是</a:t>
            </a:r>
            <a:r>
              <a:rPr lang="zh-CN" altLang="en-US">
                <a:solidFill>
                  <a:srgbClr val="FF0000"/>
                </a:solidFill>
                <a:uFillTx/>
                <a:sym typeface="+mn-ea"/>
              </a:rPr>
              <a:t>问题输入规模</a:t>
            </a:r>
            <a:r>
              <a:rPr lang="zh-CN" altLang="en-US">
                <a:solidFill>
                  <a:schemeClr val="bg2"/>
                </a:solidFill>
                <a:uFillTx/>
                <a:sym typeface="+mn-ea"/>
              </a:rPr>
              <a:t>的函数。</a:t>
            </a:r>
            <a:endParaRPr lang="zh-CN" altLang="en-US">
              <a:solidFill>
                <a:schemeClr val="bg2"/>
              </a:solidFill>
              <a:uFillTx/>
              <a:sym typeface="+mn-ea"/>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rPr>
              <a:t>基本运算的确定</a:t>
            </a:r>
            <a:endParaRPr lang="zh-CN" altLang="en-US" dirty="0" smtClean="0">
              <a:solidFill>
                <a:schemeClr val="bg1"/>
              </a:solidFill>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rPr>
              <a:t>问题输入规模的确定</a:t>
            </a:r>
            <a:endParaRPr lang="zh-CN" altLang="en-US" b="1" dirty="0" smtClean="0">
              <a:solidFill>
                <a:schemeClr val="bg1"/>
              </a:solidFill>
            </a:endParaRPr>
          </a:p>
          <a:p>
            <a:pPr lvl="1">
              <a:lnSpc>
                <a:spcPct val="100000"/>
              </a:lnSpc>
              <a:spcBef>
                <a:spcPts val="600"/>
              </a:spcBef>
              <a:buFont typeface="Wingdings" panose="05000000000000000000" charset="0"/>
            </a:pPr>
            <a:r>
              <a:rPr lang="zh-CN" altLang="en-US" b="1" dirty="0" smtClean="0">
                <a:solidFill>
                  <a:schemeClr val="bg1"/>
                </a:solidFill>
                <a:sym typeface="+mn-ea"/>
              </a:rPr>
              <a:t>（</a:t>
            </a:r>
            <a:r>
              <a:rPr lang="en-US" altLang="zh-CN" b="1" dirty="0" smtClean="0">
                <a:solidFill>
                  <a:schemeClr val="bg1"/>
                </a:solidFill>
                <a:sym typeface="+mn-ea"/>
              </a:rPr>
              <a:t>3</a:t>
            </a:r>
            <a:r>
              <a:rPr lang="zh-CN" altLang="en-US" b="1" dirty="0" smtClean="0">
                <a:solidFill>
                  <a:schemeClr val="bg1"/>
                </a:solidFill>
                <a:sym typeface="+mn-ea"/>
              </a:rPr>
              <a:t>）</a:t>
            </a:r>
            <a:r>
              <a:rPr lang="zh-CN" altLang="en-US" dirty="0" smtClean="0">
                <a:solidFill>
                  <a:schemeClr val="bg1"/>
                </a:solidFill>
                <a:sym typeface="+mn-ea"/>
              </a:rPr>
              <a:t>算法时间复杂度的估算方法</a:t>
            </a:r>
            <a:endParaRPr lang="zh-CN" altLang="en-US" dirty="0" smtClean="0">
              <a:solidFill>
                <a:schemeClr val="bg1"/>
              </a:solidFill>
              <a:sym typeface="+mn-ea"/>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rPr>
              <a:t>根据相同规模的不同输入实例估算：最好、最坏及平均时间复杂度</a:t>
            </a:r>
            <a:endParaRPr lang="zh-CN" altLang="en-US" dirty="0" smtClean="0">
              <a:solidFill>
                <a:schemeClr val="bg1"/>
              </a:solidFill>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rPr>
              <a:t>渐进时间复杂度：</a:t>
            </a:r>
            <a:r>
              <a:rPr lang="zh-CN" altLang="en-US" b="1" dirty="0" smtClean="0">
                <a:solidFill>
                  <a:srgbClr val="FF0000"/>
                </a:solidFill>
              </a:rPr>
              <a:t>上界</a:t>
            </a:r>
            <a:r>
              <a:rPr lang="zh-CN" altLang="en-US" b="1" dirty="0" smtClean="0">
                <a:solidFill>
                  <a:schemeClr val="bg1"/>
                </a:solidFill>
              </a:rPr>
              <a:t>、</a:t>
            </a:r>
            <a:r>
              <a:rPr lang="zh-CN" altLang="en-US" dirty="0" smtClean="0">
                <a:solidFill>
                  <a:schemeClr val="bg2"/>
                </a:solidFill>
              </a:rPr>
              <a:t>下界</a:t>
            </a:r>
            <a:r>
              <a:rPr lang="zh-CN" altLang="en-US" b="1" dirty="0" smtClean="0">
                <a:solidFill>
                  <a:schemeClr val="bg1"/>
                </a:solidFill>
              </a:rPr>
              <a:t>、</a:t>
            </a:r>
            <a:r>
              <a:rPr lang="zh-CN" altLang="en-US" b="1" dirty="0" smtClean="0">
                <a:solidFill>
                  <a:srgbClr val="FF0000"/>
                </a:solidFill>
              </a:rPr>
              <a:t>准确界</a:t>
            </a:r>
            <a:r>
              <a:rPr lang="en-US" altLang="zh-CN" b="1" dirty="0" smtClean="0">
                <a:solidFill>
                  <a:schemeClr val="bg1"/>
                </a:solidFill>
              </a:rPr>
              <a:t>……</a:t>
            </a:r>
            <a:r>
              <a:rPr lang="en-US" altLang="zh-CN" dirty="0" smtClean="0">
                <a:solidFill>
                  <a:schemeClr val="bg1"/>
                </a:solidFill>
              </a:rPr>
              <a:t>(1.3</a:t>
            </a:r>
            <a:r>
              <a:rPr lang="zh-CN" altLang="en-US" dirty="0" smtClean="0">
                <a:solidFill>
                  <a:schemeClr val="bg1"/>
                </a:solidFill>
              </a:rPr>
              <a:t>节</a:t>
            </a:r>
            <a:r>
              <a:rPr lang="en-US" altLang="zh-CN" dirty="0" smtClean="0">
                <a:solidFill>
                  <a:schemeClr val="bg1"/>
                </a:solidFill>
              </a:rPr>
              <a:t>)</a:t>
            </a:r>
            <a:endParaRPr lang="en-US" altLang="zh-CN"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left)">
                                      <p:cBhvr>
                                        <p:cTn id="23" dur="500"/>
                                        <p:tgtEl>
                                          <p:spTgt spid="3">
                                            <p:txEl>
                                              <p:pRg st="5" end="5"/>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wipe(left)">
                                      <p:cBhvr>
                                        <p:cTn id="26" dur="500"/>
                                        <p:tgtEl>
                                          <p:spTgt spid="3">
                                            <p:txEl>
                                              <p:pRg st="6" end="6"/>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wipe(left)">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105" y="1772285"/>
            <a:ext cx="8282305" cy="3584575"/>
          </a:xfrm>
          <a:prstGeom prst="rect">
            <a:avLst/>
          </a:prstGeom>
          <a:solidFill>
            <a:schemeClr val="tx1"/>
          </a:solidFill>
        </p:spPr>
        <p:txBody>
          <a:bodyPr wrap="square">
            <a:spAutoFit/>
          </a:bodyPr>
          <a:lstStyle/>
          <a:p>
            <a:pPr marL="800100" lvl="1" indent="-342900">
              <a:lnSpc>
                <a:spcPct val="100000"/>
              </a:lnSpc>
              <a:spcBef>
                <a:spcPts val="600"/>
              </a:spcBef>
              <a:buFont typeface="Wingdings" panose="05000000000000000000" charset="0"/>
              <a:buChar char="p"/>
            </a:pPr>
            <a:r>
              <a:rPr lang="zh-CN" altLang="zh-CN">
                <a:solidFill>
                  <a:schemeClr val="bg1"/>
                </a:solidFill>
                <a:uFillTx/>
                <a:latin typeface="黑体" panose="02010609060101010101" pitchFamily="49" charset="-122"/>
                <a:ea typeface="黑体" panose="02010609060101010101" pitchFamily="49" charset="-122"/>
                <a:sym typeface="+mn-ea"/>
              </a:rPr>
              <a:t>算法最好、最坏及平均时间复杂度计算</a:t>
            </a:r>
            <a:endParaRPr lang="zh-CN" altLang="en-US" b="1" noProof="0" dirty="0" smtClean="0">
              <a:ln>
                <a:noFill/>
              </a:ln>
              <a:solidFill>
                <a:schemeClr val="bg2"/>
              </a:solidFill>
              <a:effectLst/>
              <a:uLnTx/>
              <a:uFillTx/>
              <a:latin typeface="+mj-ea"/>
              <a:ea typeface="+mj-ea"/>
              <a:cs typeface="+mj-ea"/>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1</a:t>
            </a:r>
            <a:r>
              <a:rPr lang="zh-CN" altLang="en-US" b="1" dirty="0" smtClean="0">
                <a:solidFill>
                  <a:schemeClr val="bg1"/>
                </a:solidFill>
              </a:rPr>
              <a:t>）</a:t>
            </a:r>
            <a:r>
              <a:rPr lang="zh-CN" altLang="en-US" dirty="0" smtClean="0">
                <a:solidFill>
                  <a:schemeClr val="bg1"/>
                </a:solidFill>
              </a:rPr>
              <a:t>最好、最坏及平均时间复杂度定义</a:t>
            </a:r>
            <a:endParaRPr lang="zh-CN" altLang="en-US" b="1">
              <a:solidFill>
                <a:schemeClr val="bg1"/>
              </a:solidFill>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2</a:t>
            </a:r>
            <a:r>
              <a:rPr lang="zh-CN" altLang="en-US" b="1" dirty="0" smtClean="0">
                <a:solidFill>
                  <a:schemeClr val="bg1"/>
                </a:solidFill>
              </a:rPr>
              <a:t>）相关举例：</a:t>
            </a:r>
            <a:r>
              <a:rPr lang="zh-CN" altLang="en-US" dirty="0" smtClean="0">
                <a:solidFill>
                  <a:schemeClr val="bg1"/>
                </a:solidFill>
              </a:rPr>
              <a:t>非递减有序序列的</a:t>
            </a:r>
            <a:r>
              <a:rPr lang="zh-CN" altLang="en-US">
                <a:solidFill>
                  <a:schemeClr val="bg2"/>
                </a:solidFill>
                <a:uFillTx/>
                <a:sym typeface="+mn-ea"/>
              </a:rPr>
              <a:t>线性检索</a:t>
            </a:r>
            <a:endParaRPr lang="zh-CN" altLang="en-US">
              <a:solidFill>
                <a:schemeClr val="bg2"/>
              </a:solidFill>
              <a:uFillTx/>
              <a:sym typeface="+mn-ea"/>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rPr>
              <a:t>算法</a:t>
            </a:r>
            <a:r>
              <a:rPr lang="en-US" altLang="zh-CN" dirty="0" smtClean="0">
                <a:solidFill>
                  <a:schemeClr val="bg1"/>
                </a:solidFill>
              </a:rPr>
              <a:t>1</a:t>
            </a:r>
            <a:r>
              <a:rPr lang="zh-CN" altLang="en-US" dirty="0" smtClean="0">
                <a:solidFill>
                  <a:schemeClr val="bg1"/>
                </a:solidFill>
              </a:rPr>
              <a:t>：未考虑非递减有序特性</a:t>
            </a:r>
            <a:endParaRPr lang="zh-CN" altLang="en-US" dirty="0" smtClean="0">
              <a:solidFill>
                <a:schemeClr val="bg1"/>
              </a:solidFill>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sym typeface="+mn-ea"/>
              </a:rPr>
              <a:t>算法</a:t>
            </a:r>
            <a:r>
              <a:rPr lang="en-US" altLang="zh-CN" dirty="0" smtClean="0">
                <a:solidFill>
                  <a:schemeClr val="bg1"/>
                </a:solidFill>
                <a:sym typeface="+mn-ea"/>
              </a:rPr>
              <a:t>2</a:t>
            </a:r>
            <a:r>
              <a:rPr lang="zh-CN" altLang="en-US" dirty="0" smtClean="0">
                <a:solidFill>
                  <a:schemeClr val="bg1"/>
                </a:solidFill>
                <a:sym typeface="+mn-ea"/>
              </a:rPr>
              <a:t>：考虑非递减有序特性</a:t>
            </a:r>
            <a:endParaRPr lang="zh-CN" altLang="en-US" b="1" dirty="0" smtClean="0">
              <a:solidFill>
                <a:schemeClr val="bg1"/>
              </a:solidFill>
            </a:endParaRPr>
          </a:p>
          <a:p>
            <a:pPr lvl="1">
              <a:lnSpc>
                <a:spcPct val="100000"/>
              </a:lnSpc>
              <a:spcBef>
                <a:spcPts val="600"/>
              </a:spcBef>
              <a:buFont typeface="Wingdings" panose="05000000000000000000" charset="0"/>
            </a:pPr>
            <a:r>
              <a:rPr lang="zh-CN" altLang="en-US" b="1" dirty="0" smtClean="0">
                <a:solidFill>
                  <a:schemeClr val="bg1"/>
                </a:solidFill>
                <a:sym typeface="+mn-ea"/>
              </a:rPr>
              <a:t>（</a:t>
            </a:r>
            <a:r>
              <a:rPr lang="en-US" altLang="zh-CN" b="1" dirty="0" smtClean="0">
                <a:solidFill>
                  <a:schemeClr val="bg1"/>
                </a:solidFill>
                <a:sym typeface="+mn-ea"/>
              </a:rPr>
              <a:t>3</a:t>
            </a:r>
            <a:r>
              <a:rPr lang="zh-CN" altLang="en-US" b="1" dirty="0" smtClean="0">
                <a:solidFill>
                  <a:schemeClr val="bg1"/>
                </a:solidFill>
                <a:sym typeface="+mn-ea"/>
              </a:rPr>
              <a:t>）研究任务</a:t>
            </a:r>
            <a:endParaRPr lang="zh-CN" altLang="en-US" dirty="0" smtClean="0">
              <a:solidFill>
                <a:schemeClr val="bg1"/>
              </a:solidFill>
              <a:sym typeface="+mn-ea"/>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rPr>
              <a:t>根据具体的问题，给出算法描述</a:t>
            </a:r>
            <a:endParaRPr lang="zh-CN" altLang="en-US" dirty="0" smtClean="0">
              <a:solidFill>
                <a:schemeClr val="bg1"/>
              </a:solidFill>
            </a:endParaRPr>
          </a:p>
          <a:p>
            <a:pPr marL="1257300" lvl="2" indent="-342900">
              <a:lnSpc>
                <a:spcPct val="100000"/>
              </a:lnSpc>
              <a:spcBef>
                <a:spcPts val="600"/>
              </a:spcBef>
              <a:buFont typeface="Arial" panose="020B0604020202020204" pitchFamily="34" charset="0"/>
              <a:buChar char="•"/>
            </a:pPr>
            <a:r>
              <a:rPr lang="zh-CN" altLang="en-US" dirty="0" smtClean="0">
                <a:solidFill>
                  <a:schemeClr val="bg1"/>
                </a:solidFill>
              </a:rPr>
              <a:t>分析所设计算法的最好、最坏及平均时间复杂度。</a:t>
            </a:r>
            <a:endParaRPr lang="en-US" altLang="zh-CN" dirty="0" smtClean="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left)">
                                      <p:cBhvr>
                                        <p:cTn id="23" dur="500"/>
                                        <p:tgtEl>
                                          <p:spTgt spid="3">
                                            <p:txEl>
                                              <p:pRg st="5" end="5"/>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wipe(left)">
                                      <p:cBhvr>
                                        <p:cTn id="26" dur="500"/>
                                        <p:tgtEl>
                                          <p:spTgt spid="3">
                                            <p:txEl>
                                              <p:pRg st="6" end="6"/>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wipe(left)">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740" y="1659890"/>
            <a:ext cx="8486140" cy="4692650"/>
          </a:xfrm>
          <a:prstGeom prst="rect">
            <a:avLst/>
          </a:prstGeom>
          <a:solidFill>
            <a:schemeClr val="tx1"/>
          </a:solidFill>
        </p:spPr>
        <p:txBody>
          <a:bodyPr wrap="square">
            <a:spAutoFit/>
          </a:bodyPr>
          <a:lstStyle/>
          <a:p>
            <a:pPr marL="342900" indent="-342900">
              <a:lnSpc>
                <a:spcPct val="100000"/>
              </a:lnSpc>
              <a:spcBef>
                <a:spcPts val="600"/>
              </a:spcBef>
              <a:buFont typeface="Wingdings" panose="05000000000000000000" charset="0"/>
              <a:buChar char="n"/>
            </a:pPr>
            <a:r>
              <a:rPr lang="zh-CN" altLang="en-US" b="1" dirty="0" smtClean="0">
                <a:solidFill>
                  <a:schemeClr val="bg1"/>
                </a:solidFill>
              </a:rPr>
              <a:t>算法的数学基础</a:t>
            </a:r>
            <a:endParaRPr lang="zh-CN" altLang="en-US" b="1" dirty="0" smtClean="0">
              <a:solidFill>
                <a:schemeClr val="bg1"/>
              </a:solidFill>
            </a:endParaRPr>
          </a:p>
          <a:p>
            <a:pPr marL="800100" lvl="1" indent="-342900">
              <a:lnSpc>
                <a:spcPct val="100000"/>
              </a:lnSpc>
              <a:spcBef>
                <a:spcPts val="600"/>
              </a:spcBef>
              <a:buFont typeface="Wingdings" panose="05000000000000000000" charset="0"/>
              <a:buChar char="p"/>
            </a:pPr>
            <a:r>
              <a:rPr lang="zh-CN" altLang="en-US" b="1" dirty="0">
                <a:solidFill>
                  <a:schemeClr val="bg2"/>
                </a:solidFill>
                <a:sym typeface="+mn-ea"/>
              </a:rPr>
              <a:t>函数的渐近的界</a:t>
            </a:r>
            <a:endParaRPr lang="zh-CN" altLang="en-US" b="1" noProof="0" dirty="0" smtClean="0">
              <a:ln>
                <a:noFill/>
              </a:ln>
              <a:solidFill>
                <a:schemeClr val="bg2"/>
              </a:solidFill>
              <a:effectLst/>
              <a:uLnTx/>
              <a:uFillTx/>
              <a:latin typeface="+mj-ea"/>
              <a:ea typeface="+mj-ea"/>
              <a:cs typeface="+mj-ea"/>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1</a:t>
            </a:r>
            <a:r>
              <a:rPr lang="zh-CN" altLang="en-US" b="1" dirty="0" smtClean="0">
                <a:solidFill>
                  <a:schemeClr val="bg1"/>
                </a:solidFill>
              </a:rPr>
              <a:t>）</a:t>
            </a:r>
            <a:r>
              <a:rPr lang="zh-CN" altLang="en-US" b="1" dirty="0">
                <a:solidFill>
                  <a:schemeClr val="bg2"/>
                </a:solidFill>
                <a:sym typeface="+mn-ea"/>
              </a:rPr>
              <a:t>函数渐近界的符号定义</a:t>
            </a:r>
            <a:r>
              <a:rPr lang="zh-CN" altLang="en-US" b="1" dirty="0" smtClean="0">
                <a:solidFill>
                  <a:schemeClr val="bg1"/>
                </a:solidFill>
              </a:rPr>
              <a:t>：</a:t>
            </a:r>
            <a:r>
              <a:rPr lang="en-US" altLang="zh-CN" b="1" i="1" dirty="0">
                <a:solidFill>
                  <a:schemeClr val="bg2"/>
                </a:solidFill>
                <a:sym typeface="+mn-ea"/>
              </a:rPr>
              <a:t>O</a:t>
            </a:r>
            <a:r>
              <a:rPr lang="zh-CN" altLang="en-US" b="1" i="1" dirty="0">
                <a:solidFill>
                  <a:schemeClr val="bg2"/>
                </a:solidFill>
                <a:sym typeface="+mn-ea"/>
              </a:rPr>
              <a:t>、</a:t>
            </a:r>
            <a:r>
              <a:rPr lang="en-US" altLang="zh-CN" b="1" i="1" dirty="0">
                <a:solidFill>
                  <a:schemeClr val="bg1"/>
                </a:solidFill>
                <a:sym typeface="Symbol" panose="05050102010706020507" pitchFamily="18" charset="2"/>
              </a:rPr>
              <a:t></a:t>
            </a:r>
            <a:r>
              <a:rPr lang="zh-CN" altLang="en-US" b="1" i="1" dirty="0">
                <a:solidFill>
                  <a:schemeClr val="bg1"/>
                </a:solidFill>
                <a:sym typeface="Symbol" panose="05050102010706020507" pitchFamily="18" charset="2"/>
              </a:rPr>
              <a:t>、</a:t>
            </a:r>
            <a:r>
              <a:rPr lang="en-US" altLang="zh-CN" b="1" i="1" dirty="0">
                <a:solidFill>
                  <a:schemeClr val="bg2"/>
                </a:solidFill>
                <a:sym typeface="Symbol" panose="05050102010706020507" pitchFamily="18" charset="2"/>
              </a:rPr>
              <a:t></a:t>
            </a:r>
            <a:r>
              <a:rPr lang="zh-CN" altLang="en-US" b="1" i="1" dirty="0">
                <a:solidFill>
                  <a:schemeClr val="bg2"/>
                </a:solidFill>
                <a:sym typeface="Symbol" panose="05050102010706020507" pitchFamily="18" charset="2"/>
              </a:rPr>
              <a:t>、</a:t>
            </a:r>
            <a:r>
              <a:rPr lang="en-US" altLang="zh-CN" b="1" i="1" dirty="0">
                <a:solidFill>
                  <a:schemeClr val="bg2"/>
                </a:solidFill>
                <a:sym typeface="+mn-ea"/>
              </a:rPr>
              <a:t>o</a:t>
            </a:r>
            <a:r>
              <a:rPr lang="zh-CN" altLang="en-US" b="1" i="1" dirty="0">
                <a:solidFill>
                  <a:schemeClr val="bg2"/>
                </a:solidFill>
                <a:sym typeface="+mn-ea"/>
              </a:rPr>
              <a:t>、</a:t>
            </a:r>
            <a:r>
              <a:rPr lang="en-US" altLang="zh-CN" b="1" i="1" dirty="0">
                <a:solidFill>
                  <a:schemeClr val="bg2"/>
                </a:solidFill>
                <a:sym typeface="Symbol" panose="05050102010706020507" pitchFamily="18" charset="2"/>
              </a:rPr>
              <a:t></a:t>
            </a:r>
            <a:endParaRPr lang="zh-CN" altLang="en-US" b="1">
              <a:solidFill>
                <a:schemeClr val="bg1"/>
              </a:solidFill>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2</a:t>
            </a:r>
            <a:r>
              <a:rPr lang="zh-CN" altLang="en-US" b="1" dirty="0" smtClean="0">
                <a:solidFill>
                  <a:schemeClr val="bg1"/>
                </a:solidFill>
              </a:rPr>
              <a:t>）</a:t>
            </a:r>
            <a:r>
              <a:rPr lang="zh-CN" altLang="en-US" b="1" dirty="0">
                <a:solidFill>
                  <a:schemeClr val="bg2"/>
                </a:solidFill>
                <a:latin typeface="黑体" panose="02010609060101010101" pitchFamily="49" charset="-122"/>
                <a:ea typeface="黑体" panose="02010609060101010101" pitchFamily="49" charset="-122"/>
                <a:sym typeface="+mn-ea"/>
              </a:rPr>
              <a:t>函数</a:t>
            </a:r>
            <a:r>
              <a:rPr lang="zh-CN" altLang="en-US" b="1" dirty="0" smtClean="0">
                <a:solidFill>
                  <a:schemeClr val="bg2"/>
                </a:solidFill>
                <a:latin typeface="黑体" panose="02010609060101010101" pitchFamily="49" charset="-122"/>
                <a:ea typeface="黑体" panose="02010609060101010101" pitchFamily="49" charset="-122"/>
                <a:sym typeface="+mn-ea"/>
              </a:rPr>
              <a:t>渐近</a:t>
            </a:r>
            <a:r>
              <a:rPr lang="zh-CN" altLang="en-US" b="1" dirty="0">
                <a:solidFill>
                  <a:schemeClr val="bg2"/>
                </a:solidFill>
                <a:latin typeface="黑体" panose="02010609060101010101" pitchFamily="49" charset="-122"/>
                <a:ea typeface="黑体" panose="02010609060101010101" pitchFamily="49" charset="-122"/>
                <a:sym typeface="+mn-ea"/>
              </a:rPr>
              <a:t>的界的定理</a:t>
            </a:r>
            <a:r>
              <a:rPr lang="en-US" altLang="zh-CN" b="1" dirty="0">
                <a:solidFill>
                  <a:schemeClr val="bg2"/>
                </a:solidFill>
                <a:latin typeface="黑体" panose="02010609060101010101" pitchFamily="49" charset="-122"/>
                <a:ea typeface="黑体" panose="02010609060101010101" pitchFamily="49" charset="-122"/>
                <a:sym typeface="+mn-ea"/>
              </a:rPr>
              <a:t>1.1</a:t>
            </a:r>
            <a:r>
              <a:rPr lang="zh-CN" altLang="en-US" b="1" dirty="0">
                <a:solidFill>
                  <a:schemeClr val="bg2"/>
                </a:solidFill>
                <a:latin typeface="黑体" panose="02010609060101010101" pitchFamily="49" charset="-122"/>
                <a:ea typeface="黑体" panose="02010609060101010101" pitchFamily="49" charset="-122"/>
                <a:sym typeface="+mn-ea"/>
              </a:rPr>
              <a:t>、</a:t>
            </a:r>
            <a:r>
              <a:rPr lang="en-US" altLang="zh-CN" b="1" dirty="0">
                <a:solidFill>
                  <a:schemeClr val="bg2"/>
                </a:solidFill>
                <a:latin typeface="黑体" panose="02010609060101010101" pitchFamily="49" charset="-122"/>
                <a:ea typeface="黑体" panose="02010609060101010101" pitchFamily="49" charset="-122"/>
                <a:sym typeface="+mn-ea"/>
              </a:rPr>
              <a:t>1.2</a:t>
            </a:r>
            <a:r>
              <a:rPr lang="zh-CN" altLang="en-US" b="1" dirty="0">
                <a:solidFill>
                  <a:schemeClr val="bg2"/>
                </a:solidFill>
                <a:latin typeface="黑体" panose="02010609060101010101" pitchFamily="49" charset="-122"/>
                <a:ea typeface="黑体" panose="02010609060101010101" pitchFamily="49" charset="-122"/>
                <a:sym typeface="+mn-ea"/>
              </a:rPr>
              <a:t>、</a:t>
            </a:r>
            <a:r>
              <a:rPr lang="en-US" altLang="zh-CN" b="1" dirty="0">
                <a:solidFill>
                  <a:schemeClr val="bg2"/>
                </a:solidFill>
                <a:latin typeface="黑体" panose="02010609060101010101" pitchFamily="49" charset="-122"/>
                <a:ea typeface="黑体" panose="02010609060101010101" pitchFamily="49" charset="-122"/>
                <a:sym typeface="+mn-ea"/>
              </a:rPr>
              <a:t>1.3</a:t>
            </a:r>
            <a:endParaRPr lang="en-US" altLang="zh-CN" b="1" dirty="0">
              <a:solidFill>
                <a:schemeClr val="bg2"/>
              </a:solidFill>
              <a:latin typeface="黑体" panose="02010609060101010101" pitchFamily="49" charset="-122"/>
              <a:ea typeface="黑体" panose="02010609060101010101" pitchFamily="49" charset="-122"/>
              <a:sym typeface="+mn-ea"/>
            </a:endParaRPr>
          </a:p>
          <a:p>
            <a:pPr lvl="1">
              <a:lnSpc>
                <a:spcPct val="100000"/>
              </a:lnSpc>
              <a:spcBef>
                <a:spcPts val="600"/>
              </a:spcBef>
              <a:buFont typeface="Wingdings" panose="05000000000000000000" charset="0"/>
            </a:pPr>
            <a:r>
              <a:rPr lang="zh-CN" altLang="en-US" b="1" dirty="0">
                <a:solidFill>
                  <a:schemeClr val="bg2"/>
                </a:solidFill>
                <a:sym typeface="+mn-ea"/>
              </a:rPr>
              <a:t>（3）研究内容</a:t>
            </a:r>
            <a:endParaRPr lang="zh-CN" altLang="en-US" b="1" dirty="0">
              <a:solidFill>
                <a:schemeClr val="bg2"/>
              </a:solidFill>
              <a:sym typeface="+mn-ea"/>
            </a:endParaRPr>
          </a:p>
          <a:p>
            <a:pPr marL="1257300" lvl="2" indent="-342900" algn="just">
              <a:lnSpc>
                <a:spcPct val="100000"/>
              </a:lnSpc>
              <a:spcBef>
                <a:spcPts val="600"/>
              </a:spcBef>
              <a:buFont typeface="Arial" panose="020B0604020202020204" pitchFamily="34" charset="0"/>
              <a:buChar char="•"/>
            </a:pPr>
            <a:r>
              <a:rPr lang="zh-CN" altLang="en-US" dirty="0">
                <a:solidFill>
                  <a:schemeClr val="bg2"/>
                </a:solidFill>
                <a:sym typeface="+mn-ea"/>
              </a:rPr>
              <a:t>分析函数之间满足的关系，例如</a:t>
            </a:r>
            <a:r>
              <a:rPr lang="en-US" altLang="zh-CN" i="1" dirty="0">
                <a:solidFill>
                  <a:schemeClr val="bg2"/>
                </a:solidFill>
                <a:sym typeface="+mn-ea"/>
              </a:rPr>
              <a:t>f</a:t>
            </a:r>
            <a:r>
              <a:rPr lang="en-US" altLang="zh-CN" dirty="0">
                <a:solidFill>
                  <a:schemeClr val="bg2"/>
                </a:solidFill>
                <a:sym typeface="+mn-ea"/>
              </a:rPr>
              <a:t>(</a:t>
            </a:r>
            <a:r>
              <a:rPr lang="en-US" altLang="zh-CN" i="1" dirty="0">
                <a:solidFill>
                  <a:schemeClr val="bg2"/>
                </a:solidFill>
                <a:sym typeface="+mn-ea"/>
              </a:rPr>
              <a:t>n</a:t>
            </a:r>
            <a:r>
              <a:rPr lang="en-US" altLang="zh-CN" dirty="0">
                <a:solidFill>
                  <a:schemeClr val="bg2"/>
                </a:solidFill>
                <a:sym typeface="+mn-ea"/>
              </a:rPr>
              <a:t>)</a:t>
            </a:r>
            <a:r>
              <a:rPr lang="zh-CN" altLang="en-US" dirty="0">
                <a:solidFill>
                  <a:schemeClr val="bg2"/>
                </a:solidFill>
                <a:sym typeface="+mn-ea"/>
              </a:rPr>
              <a:t>表示算法的执行时间，证明：</a:t>
            </a:r>
            <a:r>
              <a:rPr lang="en-US" altLang="zh-CN" i="1" dirty="0">
                <a:solidFill>
                  <a:schemeClr val="bg2"/>
                </a:solidFill>
                <a:sym typeface="+mn-ea"/>
              </a:rPr>
              <a:t> f</a:t>
            </a:r>
            <a:r>
              <a:rPr lang="en-US" altLang="zh-CN" dirty="0">
                <a:solidFill>
                  <a:schemeClr val="bg2"/>
                </a:solidFill>
                <a:sym typeface="+mn-ea"/>
              </a:rPr>
              <a:t>(</a:t>
            </a:r>
            <a:r>
              <a:rPr lang="en-US" altLang="zh-CN" i="1" dirty="0">
                <a:solidFill>
                  <a:schemeClr val="bg2"/>
                </a:solidFill>
                <a:sym typeface="+mn-ea"/>
              </a:rPr>
              <a:t>n</a:t>
            </a:r>
            <a:r>
              <a:rPr lang="en-US" altLang="zh-CN" dirty="0">
                <a:solidFill>
                  <a:schemeClr val="bg2"/>
                </a:solidFill>
                <a:sym typeface="+mn-ea"/>
              </a:rPr>
              <a:t>)=</a:t>
            </a:r>
            <a:r>
              <a:rPr lang="en-US" altLang="zh-CN" i="1" dirty="0">
                <a:solidFill>
                  <a:schemeClr val="bg2"/>
                </a:solidFill>
                <a:sym typeface="+mn-ea"/>
              </a:rPr>
              <a:t>O</a:t>
            </a:r>
            <a:r>
              <a:rPr lang="en-US" altLang="zh-CN" dirty="0">
                <a:solidFill>
                  <a:schemeClr val="bg2"/>
                </a:solidFill>
                <a:sym typeface="+mn-ea"/>
              </a:rPr>
              <a:t>(</a:t>
            </a:r>
            <a:r>
              <a:rPr lang="en-US" altLang="zh-CN" i="1" dirty="0">
                <a:solidFill>
                  <a:schemeClr val="bg2"/>
                </a:solidFill>
                <a:sym typeface="+mn-ea"/>
              </a:rPr>
              <a:t>g</a:t>
            </a:r>
            <a:r>
              <a:rPr lang="en-US" altLang="zh-CN" dirty="0">
                <a:solidFill>
                  <a:schemeClr val="bg2"/>
                </a:solidFill>
                <a:sym typeface="+mn-ea"/>
              </a:rPr>
              <a:t>(</a:t>
            </a:r>
            <a:r>
              <a:rPr lang="en-US" altLang="zh-CN" i="1" dirty="0">
                <a:solidFill>
                  <a:schemeClr val="bg2"/>
                </a:solidFill>
                <a:sym typeface="+mn-ea"/>
              </a:rPr>
              <a:t>n</a:t>
            </a:r>
            <a:r>
              <a:rPr lang="en-US" altLang="zh-CN" dirty="0">
                <a:solidFill>
                  <a:schemeClr val="bg2"/>
                </a:solidFill>
                <a:sym typeface="+mn-ea"/>
              </a:rPr>
              <a:t>))</a:t>
            </a:r>
            <a:r>
              <a:rPr lang="zh-CN" altLang="en-US" dirty="0">
                <a:solidFill>
                  <a:schemeClr val="bg2"/>
                </a:solidFill>
                <a:sym typeface="+mn-ea"/>
              </a:rPr>
              <a:t>，</a:t>
            </a:r>
            <a:r>
              <a:rPr lang="en-US" altLang="zh-CN" i="1" dirty="0">
                <a:solidFill>
                  <a:schemeClr val="bg2"/>
                </a:solidFill>
                <a:sym typeface="+mn-ea"/>
              </a:rPr>
              <a:t> f</a:t>
            </a:r>
            <a:r>
              <a:rPr lang="en-US" altLang="zh-CN" dirty="0">
                <a:solidFill>
                  <a:schemeClr val="bg2"/>
                </a:solidFill>
                <a:sym typeface="+mn-ea"/>
              </a:rPr>
              <a:t>(</a:t>
            </a:r>
            <a:r>
              <a:rPr lang="en-US" altLang="zh-CN" i="1" dirty="0">
                <a:solidFill>
                  <a:schemeClr val="bg2"/>
                </a:solidFill>
                <a:sym typeface="+mn-ea"/>
              </a:rPr>
              <a:t>n</a:t>
            </a:r>
            <a:r>
              <a:rPr lang="en-US" altLang="zh-CN" dirty="0">
                <a:solidFill>
                  <a:schemeClr val="bg2"/>
                </a:solidFill>
                <a:sym typeface="+mn-ea"/>
              </a:rPr>
              <a:t>)=</a:t>
            </a:r>
            <a:r>
              <a:rPr lang="en-US" altLang="zh-CN" b="1" i="1" dirty="0">
                <a:solidFill>
                  <a:schemeClr val="bg2"/>
                </a:solidFill>
                <a:sym typeface="Symbol" panose="05050102010706020507" pitchFamily="18" charset="2"/>
              </a:rPr>
              <a:t></a:t>
            </a:r>
            <a:r>
              <a:rPr lang="en-US" altLang="zh-CN" dirty="0">
                <a:solidFill>
                  <a:schemeClr val="bg2"/>
                </a:solidFill>
                <a:sym typeface="+mn-ea"/>
              </a:rPr>
              <a:t>(</a:t>
            </a:r>
            <a:r>
              <a:rPr lang="en-US" altLang="zh-CN" i="1" dirty="0">
                <a:solidFill>
                  <a:schemeClr val="bg2"/>
                </a:solidFill>
                <a:sym typeface="+mn-ea"/>
              </a:rPr>
              <a:t>g</a:t>
            </a:r>
            <a:r>
              <a:rPr lang="en-US" altLang="zh-CN" dirty="0">
                <a:solidFill>
                  <a:schemeClr val="bg2"/>
                </a:solidFill>
                <a:sym typeface="+mn-ea"/>
              </a:rPr>
              <a:t>(</a:t>
            </a:r>
            <a:r>
              <a:rPr lang="en-US" altLang="zh-CN" i="1" dirty="0">
                <a:solidFill>
                  <a:schemeClr val="bg2"/>
                </a:solidFill>
                <a:sym typeface="+mn-ea"/>
              </a:rPr>
              <a:t>n</a:t>
            </a:r>
            <a:r>
              <a:rPr lang="en-US" altLang="zh-CN" dirty="0">
                <a:solidFill>
                  <a:schemeClr val="bg2"/>
                </a:solidFill>
                <a:sym typeface="+mn-ea"/>
              </a:rPr>
              <a:t>)) ……——</a:t>
            </a:r>
            <a:r>
              <a:rPr lang="zh-CN" altLang="en-US" b="1" dirty="0">
                <a:solidFill>
                  <a:schemeClr val="bg2"/>
                </a:solidFill>
                <a:sym typeface="+mn-ea"/>
              </a:rPr>
              <a:t>函数渐近界的符号定义、定理</a:t>
            </a:r>
            <a:r>
              <a:rPr lang="en-US" altLang="zh-CN" b="1" dirty="0">
                <a:solidFill>
                  <a:schemeClr val="bg2"/>
                </a:solidFill>
                <a:sym typeface="+mn-ea"/>
              </a:rPr>
              <a:t>1.1</a:t>
            </a:r>
            <a:r>
              <a:rPr lang="zh-CN" altLang="en-US" dirty="0">
                <a:solidFill>
                  <a:schemeClr val="bg2"/>
                </a:solidFill>
                <a:sym typeface="+mn-ea"/>
              </a:rPr>
              <a:t>。</a:t>
            </a:r>
            <a:endParaRPr lang="zh-CN" altLang="en-US" dirty="0">
              <a:solidFill>
                <a:schemeClr val="bg2"/>
              </a:solidFill>
              <a:sym typeface="+mn-ea"/>
            </a:endParaRPr>
          </a:p>
          <a:p>
            <a:pPr marL="1257300" lvl="2" indent="-342900">
              <a:lnSpc>
                <a:spcPct val="100000"/>
              </a:lnSpc>
              <a:spcBef>
                <a:spcPts val="600"/>
              </a:spcBef>
              <a:buFont typeface="Arial" panose="020B0604020202020204" pitchFamily="34" charset="0"/>
              <a:buChar char="•"/>
            </a:pPr>
            <a:r>
              <a:rPr lang="zh-CN" altLang="en-US" b="1" dirty="0" smtClean="0">
                <a:solidFill>
                  <a:schemeClr val="bg2"/>
                </a:solidFill>
                <a:sym typeface="+mn-ea"/>
              </a:rPr>
              <a:t>定理</a:t>
            </a:r>
            <a:r>
              <a:rPr lang="en-US" altLang="zh-CN" b="1" dirty="0" smtClean="0">
                <a:solidFill>
                  <a:schemeClr val="bg2"/>
                </a:solidFill>
                <a:sym typeface="+mn-ea"/>
              </a:rPr>
              <a:t>1.2—</a:t>
            </a:r>
            <a:r>
              <a:rPr lang="zh-CN" altLang="en-US" dirty="0" smtClean="0">
                <a:solidFill>
                  <a:schemeClr val="bg2"/>
                </a:solidFill>
                <a:sym typeface="+mn-ea"/>
              </a:rPr>
              <a:t>函数</a:t>
            </a:r>
            <a:r>
              <a:rPr lang="zh-CN" altLang="en-US" dirty="0">
                <a:solidFill>
                  <a:schemeClr val="bg2"/>
                </a:solidFill>
                <a:sym typeface="+mn-ea"/>
              </a:rPr>
              <a:t>的阶之间的关系具有传递性</a:t>
            </a:r>
            <a:endParaRPr lang="zh-CN" altLang="en-US" dirty="0">
              <a:solidFill>
                <a:schemeClr val="bg2"/>
              </a:solidFill>
              <a:sym typeface="+mn-ea"/>
            </a:endParaRPr>
          </a:p>
          <a:p>
            <a:pPr marL="1257300" lvl="2" indent="-342900">
              <a:lnSpc>
                <a:spcPct val="100000"/>
              </a:lnSpc>
              <a:spcBef>
                <a:spcPts val="600"/>
              </a:spcBef>
              <a:buFont typeface="Arial" panose="020B0604020202020204" pitchFamily="34" charset="0"/>
              <a:buChar char="•"/>
            </a:pPr>
            <a:r>
              <a:rPr lang="zh-CN" altLang="en-US" b="1" dirty="0">
                <a:solidFill>
                  <a:schemeClr val="bg2"/>
                </a:solidFill>
                <a:sym typeface="+mn-ea"/>
              </a:rPr>
              <a:t>定理</a:t>
            </a:r>
            <a:r>
              <a:rPr lang="en-US" altLang="zh-CN" b="1" dirty="0">
                <a:solidFill>
                  <a:schemeClr val="bg2"/>
                </a:solidFill>
                <a:sym typeface="+mn-ea"/>
              </a:rPr>
              <a:t>1.3—</a:t>
            </a:r>
            <a:r>
              <a:rPr lang="zh-CN" altLang="en-US" dirty="0">
                <a:solidFill>
                  <a:schemeClr val="bg2"/>
                </a:solidFill>
                <a:sym typeface="+mn-ea"/>
              </a:rPr>
              <a:t>若每一步的时间</a:t>
            </a:r>
            <a:r>
              <a:rPr lang="zh-CN" altLang="en-US" dirty="0" smtClean="0">
                <a:solidFill>
                  <a:schemeClr val="bg2"/>
                </a:solidFill>
                <a:sym typeface="+mn-ea"/>
              </a:rPr>
              <a:t>复杂</a:t>
            </a:r>
            <a:r>
              <a:rPr lang="zh-CN" altLang="en-US" dirty="0">
                <a:solidFill>
                  <a:schemeClr val="bg2"/>
                </a:solidFill>
                <a:sym typeface="+mn-ea"/>
              </a:rPr>
              <a:t>度函数的上界</a:t>
            </a:r>
            <a:r>
              <a:rPr lang="zh-CN" altLang="en-US" dirty="0" smtClean="0">
                <a:solidFill>
                  <a:schemeClr val="bg2"/>
                </a:solidFill>
                <a:sym typeface="+mn-ea"/>
              </a:rPr>
              <a:t>都是</a:t>
            </a:r>
            <a:r>
              <a:rPr lang="en-US" altLang="zh-CN" i="1" dirty="0" smtClean="0">
                <a:solidFill>
                  <a:schemeClr val="bg2"/>
                </a:solidFill>
                <a:sym typeface="+mn-ea"/>
              </a:rPr>
              <a:t>h</a:t>
            </a:r>
            <a:r>
              <a:rPr lang="en-US" altLang="zh-CN" dirty="0" smtClean="0">
                <a:solidFill>
                  <a:schemeClr val="bg2"/>
                </a:solidFill>
                <a:sym typeface="+mn-ea"/>
              </a:rPr>
              <a:t>(</a:t>
            </a:r>
            <a:r>
              <a:rPr lang="en-US" altLang="zh-CN" i="1" dirty="0" smtClean="0">
                <a:solidFill>
                  <a:schemeClr val="bg2"/>
                </a:solidFill>
                <a:sym typeface="+mn-ea"/>
              </a:rPr>
              <a:t>n</a:t>
            </a:r>
            <a:r>
              <a:rPr lang="en-US" altLang="zh-CN" dirty="0">
                <a:solidFill>
                  <a:schemeClr val="bg2"/>
                </a:solidFill>
                <a:sym typeface="+mn-ea"/>
              </a:rPr>
              <a:t>)</a:t>
            </a:r>
            <a:r>
              <a:rPr lang="zh-CN" altLang="en-US" dirty="0">
                <a:solidFill>
                  <a:schemeClr val="bg2"/>
                </a:solidFill>
                <a:sym typeface="+mn-ea"/>
              </a:rPr>
              <a:t>，那么该算法的 </a:t>
            </a:r>
            <a:r>
              <a:rPr lang="zh-CN" altLang="en-US" dirty="0" smtClean="0">
                <a:solidFill>
                  <a:schemeClr val="bg2"/>
                </a:solidFill>
                <a:sym typeface="+mn-ea"/>
              </a:rPr>
              <a:t>时间</a:t>
            </a:r>
            <a:r>
              <a:rPr lang="zh-CN" altLang="en-US" dirty="0">
                <a:solidFill>
                  <a:schemeClr val="bg2"/>
                </a:solidFill>
                <a:sym typeface="+mn-ea"/>
              </a:rPr>
              <a:t>复杂度函数可以写作 </a:t>
            </a:r>
            <a:r>
              <a:rPr lang="en-US" altLang="zh-CN" i="1" dirty="0">
                <a:solidFill>
                  <a:schemeClr val="bg2"/>
                </a:solidFill>
                <a:sym typeface="+mn-ea"/>
              </a:rPr>
              <a:t>O</a:t>
            </a:r>
            <a:r>
              <a:rPr lang="en-US" altLang="zh-CN" dirty="0">
                <a:solidFill>
                  <a:schemeClr val="bg2"/>
                </a:solidFill>
                <a:sym typeface="+mn-ea"/>
              </a:rPr>
              <a:t>(</a:t>
            </a:r>
            <a:r>
              <a:rPr lang="en-US" altLang="zh-CN" i="1" dirty="0">
                <a:solidFill>
                  <a:schemeClr val="bg2"/>
                </a:solidFill>
                <a:sym typeface="+mn-ea"/>
              </a:rPr>
              <a:t>h</a:t>
            </a:r>
            <a:r>
              <a:rPr lang="en-US" altLang="zh-CN" dirty="0">
                <a:solidFill>
                  <a:schemeClr val="bg2"/>
                </a:solidFill>
                <a:sym typeface="+mn-ea"/>
              </a:rPr>
              <a:t>(</a:t>
            </a:r>
            <a:r>
              <a:rPr lang="en-US" altLang="zh-CN" i="1" dirty="0">
                <a:solidFill>
                  <a:schemeClr val="bg2"/>
                </a:solidFill>
                <a:sym typeface="+mn-ea"/>
              </a:rPr>
              <a:t>n</a:t>
            </a:r>
            <a:r>
              <a:rPr lang="en-US" altLang="zh-CN" dirty="0">
                <a:solidFill>
                  <a:schemeClr val="bg2"/>
                </a:solidFill>
                <a:sym typeface="+mn-ea"/>
              </a:rPr>
              <a:t>)). </a:t>
            </a:r>
            <a:endParaRPr lang="zh-CN" altLang="en-US" dirty="0">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wipe(left)">
                                      <p:cBhvr>
                                        <p:cTn id="20" dur="500"/>
                                        <p:tgtEl>
                                          <p:spTgt spid="3">
                                            <p:txEl>
                                              <p:pRg st="5" end="5"/>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wipe(left)">
                                      <p:cBhvr>
                                        <p:cTn id="23" dur="500"/>
                                        <p:tgtEl>
                                          <p:spTgt spid="3">
                                            <p:txEl>
                                              <p:pRg st="6" end="6"/>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wipe(left)">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740" y="1659890"/>
            <a:ext cx="8486140" cy="3876675"/>
          </a:xfrm>
          <a:prstGeom prst="rect">
            <a:avLst/>
          </a:prstGeom>
          <a:solidFill>
            <a:schemeClr val="tx1"/>
          </a:solidFill>
        </p:spPr>
        <p:txBody>
          <a:bodyPr wrap="square">
            <a:spAutoFit/>
          </a:bodyPr>
          <a:lstStyle/>
          <a:p>
            <a:pPr marL="800100" lvl="1" indent="-342900">
              <a:lnSpc>
                <a:spcPct val="100000"/>
              </a:lnSpc>
              <a:spcBef>
                <a:spcPts val="600"/>
              </a:spcBef>
              <a:buFont typeface="Wingdings" panose="05000000000000000000" charset="0"/>
              <a:buChar char="p"/>
            </a:pPr>
            <a:r>
              <a:rPr lang="zh-CN" altLang="en-US" b="1" noProof="0" dirty="0" smtClean="0">
                <a:ln>
                  <a:noFill/>
                </a:ln>
                <a:solidFill>
                  <a:schemeClr val="bg2"/>
                </a:solidFill>
                <a:effectLst/>
                <a:uLnTx/>
                <a:uFillTx/>
                <a:latin typeface="+mj-ea"/>
                <a:ea typeface="+mj-ea"/>
                <a:cs typeface="+mj-ea"/>
                <a:sym typeface="+mn-ea"/>
              </a:rPr>
              <a:t>算法时间复杂度估算</a:t>
            </a:r>
            <a:endParaRPr lang="zh-CN" altLang="en-US" b="1" noProof="0" dirty="0" smtClean="0">
              <a:ln>
                <a:noFill/>
              </a:ln>
              <a:solidFill>
                <a:schemeClr val="bg2"/>
              </a:solidFill>
              <a:effectLst/>
              <a:uLnTx/>
              <a:uFillTx/>
              <a:latin typeface="+mj-ea"/>
              <a:ea typeface="+mj-ea"/>
              <a:cs typeface="+mj-ea"/>
              <a:sym typeface="+mn-ea"/>
            </a:endParaRPr>
          </a:p>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1</a:t>
            </a:r>
            <a:r>
              <a:rPr lang="zh-CN" altLang="en-US" b="1" dirty="0" smtClean="0">
                <a:solidFill>
                  <a:schemeClr val="bg1"/>
                </a:solidFill>
              </a:rPr>
              <a:t>）循环类（迭代）算法：</a:t>
            </a:r>
            <a:r>
              <a:rPr lang="zh-CN" altLang="en-US" dirty="0" smtClean="0">
                <a:solidFill>
                  <a:schemeClr val="bg2"/>
                </a:solidFill>
                <a:sym typeface="+mn-ea"/>
              </a:rPr>
              <a:t>算法中基本运算的执行次数的累加和。</a:t>
            </a:r>
            <a:endParaRPr lang="zh-CN" altLang="en-US" dirty="0" smtClean="0">
              <a:solidFill>
                <a:schemeClr val="bg2"/>
              </a:solidFill>
              <a:sym typeface="+mn-ea"/>
            </a:endParaRPr>
          </a:p>
          <a:p>
            <a:pPr marL="1257300" lvl="2" indent="-342900">
              <a:lnSpc>
                <a:spcPct val="100000"/>
              </a:lnSpc>
              <a:spcBef>
                <a:spcPts val="600"/>
              </a:spcBef>
              <a:buFont typeface="Arial" panose="020B0604020202020204" pitchFamily="34" charset="0"/>
              <a:buChar char="•"/>
            </a:pPr>
            <a:r>
              <a:rPr lang="zh-CN" altLang="en-US" dirty="0">
                <a:solidFill>
                  <a:schemeClr val="bg2"/>
                </a:solidFill>
                <a:sym typeface="+mn-ea"/>
              </a:rPr>
              <a:t>举例：冒泡排序、</a:t>
            </a:r>
            <a:r>
              <a:rPr lang="zh-CN" altLang="en-US" dirty="0">
                <a:solidFill>
                  <a:srgbClr val="1E2E53"/>
                </a:solidFill>
                <a:latin typeface="楷体_GB2312" pitchFamily="49" charset="-122"/>
                <a:ea typeface="楷体_GB2312" pitchFamily="49" charset="-122"/>
                <a:sym typeface="+mn-ea"/>
              </a:rPr>
              <a:t>选手的竞技淘汰比赛、洗牌程序、</a:t>
            </a:r>
            <a:r>
              <a:rPr lang="zh-CN" altLang="en-US" dirty="0" smtClean="0">
                <a:solidFill>
                  <a:schemeClr val="bg2"/>
                </a:solidFill>
                <a:sym typeface="+mn-ea"/>
              </a:rPr>
              <a:t>二分检索算法</a:t>
            </a:r>
            <a:endParaRPr lang="zh-CN" altLang="en-US" dirty="0" smtClean="0">
              <a:solidFill>
                <a:schemeClr val="bg2"/>
              </a:solidFill>
              <a:sym typeface="+mn-ea"/>
            </a:endParaRPr>
          </a:p>
          <a:p>
            <a:pPr marL="1257300" lvl="2" indent="-342900">
              <a:lnSpc>
                <a:spcPct val="100000"/>
              </a:lnSpc>
              <a:spcBef>
                <a:spcPts val="600"/>
              </a:spcBef>
              <a:buFont typeface="Arial" panose="020B0604020202020204" pitchFamily="34" charset="0"/>
              <a:buChar char="•"/>
            </a:pPr>
            <a:r>
              <a:rPr lang="zh-CN" altLang="en-US" dirty="0">
                <a:solidFill>
                  <a:schemeClr val="bg2"/>
                </a:solidFill>
                <a:sym typeface="+mn-ea"/>
              </a:rPr>
              <a:t>求和方法：</a:t>
            </a:r>
            <a:endParaRPr lang="zh-CN" altLang="en-US" dirty="0">
              <a:solidFill>
                <a:schemeClr val="bg2"/>
              </a:solidFill>
              <a:sym typeface="+mn-ea"/>
            </a:endParaRPr>
          </a:p>
          <a:p>
            <a:pPr marL="1714500" lvl="3" indent="-342900">
              <a:lnSpc>
                <a:spcPct val="100000"/>
              </a:lnSpc>
              <a:spcBef>
                <a:spcPts val="600"/>
              </a:spcBef>
              <a:buFont typeface="Wingdings" panose="05000000000000000000" charset="0"/>
              <a:buChar char="ü"/>
            </a:pPr>
            <a:r>
              <a:rPr lang="zh-CN" altLang="en-US" dirty="0">
                <a:solidFill>
                  <a:schemeClr val="bg2"/>
                </a:solidFill>
                <a:sym typeface="+mn-ea"/>
              </a:rPr>
              <a:t>求和公式：等差数列、等比数列、调和级数</a:t>
            </a:r>
            <a:endParaRPr lang="zh-CN" altLang="en-US" dirty="0">
              <a:solidFill>
                <a:schemeClr val="bg2"/>
              </a:solidFill>
              <a:sym typeface="+mn-ea"/>
            </a:endParaRPr>
          </a:p>
          <a:p>
            <a:pPr marL="1714500" lvl="3" indent="-342900">
              <a:lnSpc>
                <a:spcPct val="100000"/>
              </a:lnSpc>
              <a:spcBef>
                <a:spcPts val="600"/>
              </a:spcBef>
              <a:buFont typeface="Wingdings" panose="05000000000000000000" charset="0"/>
              <a:buChar char="ü"/>
            </a:pPr>
            <a:r>
              <a:rPr lang="zh-CN" altLang="en-US" dirty="0">
                <a:solidFill>
                  <a:schemeClr val="bg2"/>
                </a:solidFill>
                <a:sym typeface="+mn-ea"/>
              </a:rPr>
              <a:t>放大法估计累加和的上界</a:t>
            </a:r>
            <a:endParaRPr lang="zh-CN" altLang="en-US" dirty="0">
              <a:solidFill>
                <a:schemeClr val="bg2"/>
              </a:solidFill>
              <a:sym typeface="+mn-ea"/>
            </a:endParaRPr>
          </a:p>
          <a:p>
            <a:pPr marL="1714500" lvl="3" indent="-342900">
              <a:lnSpc>
                <a:spcPct val="100000"/>
              </a:lnSpc>
              <a:spcBef>
                <a:spcPts val="600"/>
              </a:spcBef>
              <a:buFont typeface="Wingdings" panose="05000000000000000000" charset="0"/>
              <a:buChar char="ü"/>
            </a:pPr>
            <a:r>
              <a:rPr lang="zh-CN" altLang="en-US" dirty="0" smtClean="0">
                <a:solidFill>
                  <a:schemeClr val="bg2"/>
                </a:solidFill>
                <a:sym typeface="+mn-ea"/>
              </a:rPr>
              <a:t>利用积分求出累加和的渐进的界</a:t>
            </a:r>
            <a:endParaRPr lang="zh-CN" altLang="en-US" dirty="0">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left)">
                                      <p:cBhvr>
                                        <p:cTn id="18" dur="500"/>
                                        <p:tgtEl>
                                          <p:spTgt spid="3">
                                            <p:txEl>
                                              <p:pRg st="5" end="5"/>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wipe(left)">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altLang="en-US" sz="4000" b="1" dirty="0">
                <a:solidFill>
                  <a:srgbClr val="C00000"/>
                </a:solidFill>
              </a:rPr>
              <a:t>第一章 小结</a:t>
            </a:r>
            <a:endParaRPr lang="zh-CN" altLang="en-US" sz="4000" b="1" dirty="0">
              <a:solidFill>
                <a:srgbClr val="C00000"/>
              </a:solidFill>
            </a:endParaRPr>
          </a:p>
        </p:txBody>
      </p:sp>
      <p:sp>
        <p:nvSpPr>
          <p:cNvPr id="3" name="矩形 2"/>
          <p:cNvSpPr/>
          <p:nvPr/>
        </p:nvSpPr>
        <p:spPr>
          <a:xfrm>
            <a:off x="332740" y="1659890"/>
            <a:ext cx="8486140" cy="3954145"/>
          </a:xfrm>
          <a:prstGeom prst="rect">
            <a:avLst/>
          </a:prstGeom>
          <a:solidFill>
            <a:schemeClr val="tx1"/>
          </a:solidFill>
        </p:spPr>
        <p:txBody>
          <a:bodyPr wrap="square">
            <a:spAutoFit/>
          </a:bodyPr>
          <a:lstStyle/>
          <a:p>
            <a:pPr lvl="1">
              <a:lnSpc>
                <a:spcPct val="100000"/>
              </a:lnSpc>
              <a:spcBef>
                <a:spcPts val="600"/>
              </a:spcBef>
              <a:buFont typeface="Wingdings" panose="05000000000000000000" charset="0"/>
            </a:pPr>
            <a:r>
              <a:rPr lang="zh-CN" altLang="en-US" b="1" dirty="0" smtClean="0">
                <a:solidFill>
                  <a:schemeClr val="bg1"/>
                </a:solidFill>
              </a:rPr>
              <a:t>（</a:t>
            </a:r>
            <a:r>
              <a:rPr lang="en-US" altLang="zh-CN" b="1" dirty="0" smtClean="0">
                <a:solidFill>
                  <a:schemeClr val="bg1"/>
                </a:solidFill>
              </a:rPr>
              <a:t>2</a:t>
            </a:r>
            <a:r>
              <a:rPr lang="zh-CN" altLang="en-US" b="1" dirty="0" smtClean="0">
                <a:solidFill>
                  <a:schemeClr val="bg1"/>
                </a:solidFill>
              </a:rPr>
              <a:t>）递归类算法：</a:t>
            </a:r>
            <a:r>
              <a:rPr lang="zh-CN" altLang="en-US" dirty="0" smtClean="0">
                <a:solidFill>
                  <a:schemeClr val="bg1"/>
                </a:solidFill>
              </a:rPr>
              <a:t>该类</a:t>
            </a:r>
            <a:r>
              <a:rPr lang="zh-CN" altLang="en-US" dirty="0" smtClean="0">
                <a:solidFill>
                  <a:schemeClr val="bg2"/>
                </a:solidFill>
                <a:sym typeface="+mn-ea"/>
              </a:rPr>
              <a:t>算法的执行时间也表示为递推形式</a:t>
            </a:r>
            <a:endParaRPr lang="zh-CN" altLang="en-US" dirty="0" smtClean="0">
              <a:solidFill>
                <a:schemeClr val="bg2"/>
              </a:solidFill>
              <a:sym typeface="+mn-ea"/>
            </a:endParaRPr>
          </a:p>
          <a:p>
            <a:pPr marL="1257300" lvl="2" indent="-342900">
              <a:lnSpc>
                <a:spcPct val="100000"/>
              </a:lnSpc>
              <a:spcBef>
                <a:spcPts val="600"/>
              </a:spcBef>
              <a:buFont typeface="Arial" panose="020B0604020202020204" pitchFamily="34" charset="0"/>
              <a:buChar char="•"/>
            </a:pPr>
            <a:r>
              <a:rPr lang="zh-CN" altLang="en-US" dirty="0">
                <a:solidFill>
                  <a:schemeClr val="bg2"/>
                </a:solidFill>
                <a:sym typeface="+mn-ea"/>
              </a:rPr>
              <a:t>举例：求</a:t>
            </a:r>
            <a:r>
              <a:rPr lang="en-US" altLang="zh-CN" i="1" dirty="0">
                <a:solidFill>
                  <a:schemeClr val="bg2"/>
                </a:solidFill>
                <a:sym typeface="+mn-ea"/>
              </a:rPr>
              <a:t>n</a:t>
            </a:r>
            <a:r>
              <a:rPr lang="en-US" altLang="zh-CN" dirty="0">
                <a:solidFill>
                  <a:schemeClr val="bg2"/>
                </a:solidFill>
                <a:sym typeface="+mn-ea"/>
              </a:rPr>
              <a:t>!</a:t>
            </a:r>
            <a:r>
              <a:rPr lang="zh-CN" altLang="en-US" dirty="0">
                <a:solidFill>
                  <a:schemeClr val="bg2"/>
                </a:solidFill>
                <a:sym typeface="+mn-ea"/>
              </a:rPr>
              <a:t>、</a:t>
            </a:r>
            <a:r>
              <a:rPr lang="en-US" altLang="zh-CN" dirty="0">
                <a:solidFill>
                  <a:schemeClr val="bg2"/>
                </a:solidFill>
                <a:sym typeface="+mn-ea"/>
              </a:rPr>
              <a:t>Hanio</a:t>
            </a:r>
            <a:r>
              <a:rPr lang="zh-CN" altLang="en-US" dirty="0">
                <a:solidFill>
                  <a:schemeClr val="bg2"/>
                </a:solidFill>
                <a:sym typeface="+mn-ea"/>
              </a:rPr>
              <a:t>塔、直接插入排序、二路归并排序</a:t>
            </a:r>
            <a:endParaRPr lang="zh-CN" altLang="en-US" dirty="0">
              <a:solidFill>
                <a:schemeClr val="bg2"/>
              </a:solidFill>
              <a:sym typeface="+mn-ea"/>
            </a:endParaRPr>
          </a:p>
          <a:p>
            <a:pPr marL="1257300" lvl="2" indent="-342900">
              <a:lnSpc>
                <a:spcPct val="100000"/>
              </a:lnSpc>
              <a:spcBef>
                <a:spcPts val="600"/>
              </a:spcBef>
              <a:buFont typeface="Arial" panose="020B0604020202020204" pitchFamily="34" charset="0"/>
              <a:buChar char="•"/>
            </a:pPr>
            <a:r>
              <a:rPr lang="zh-CN" altLang="en-US" dirty="0">
                <a:solidFill>
                  <a:schemeClr val="bg2"/>
                </a:solidFill>
                <a:sym typeface="+mn-ea"/>
              </a:rPr>
              <a:t>求解递归方程的方法：</a:t>
            </a:r>
            <a:endParaRPr lang="zh-CN" altLang="en-US" dirty="0">
              <a:solidFill>
                <a:schemeClr val="bg2"/>
              </a:solidFill>
              <a:sym typeface="+mn-ea"/>
            </a:endParaRPr>
          </a:p>
          <a:p>
            <a:pPr marL="1714500" lvl="3" indent="-342900">
              <a:lnSpc>
                <a:spcPct val="100000"/>
              </a:lnSpc>
              <a:spcBef>
                <a:spcPts val="600"/>
              </a:spcBef>
              <a:buFont typeface="Wingdings" panose="05000000000000000000" charset="0"/>
              <a:buChar char="ü"/>
            </a:pPr>
            <a:r>
              <a:rPr lang="zh-CN" altLang="en-US" b="1" dirty="0">
                <a:solidFill>
                  <a:srgbClr val="FF0000"/>
                </a:solidFill>
                <a:sym typeface="+mn-ea"/>
              </a:rPr>
              <a:t>迭代法</a:t>
            </a:r>
            <a:endParaRPr lang="zh-CN" altLang="en-US" dirty="0">
              <a:solidFill>
                <a:schemeClr val="bg2"/>
              </a:solidFill>
              <a:sym typeface="+mn-ea"/>
            </a:endParaRPr>
          </a:p>
          <a:p>
            <a:pPr marL="1714500" lvl="3" indent="-342900">
              <a:lnSpc>
                <a:spcPct val="100000"/>
              </a:lnSpc>
              <a:spcBef>
                <a:spcPts val="600"/>
              </a:spcBef>
              <a:buFont typeface="Wingdings" panose="05000000000000000000" charset="0"/>
              <a:buChar char="ü"/>
            </a:pPr>
            <a:r>
              <a:rPr lang="zh-CN" altLang="en-US" dirty="0">
                <a:solidFill>
                  <a:schemeClr val="bg2"/>
                </a:solidFill>
                <a:sym typeface="+mn-ea"/>
              </a:rPr>
              <a:t>生成函数</a:t>
            </a:r>
            <a:endParaRPr lang="zh-CN" altLang="en-US" dirty="0">
              <a:solidFill>
                <a:schemeClr val="bg2"/>
              </a:solidFill>
              <a:sym typeface="+mn-ea"/>
            </a:endParaRPr>
          </a:p>
          <a:p>
            <a:pPr marL="1714500" lvl="3" indent="-342900">
              <a:lnSpc>
                <a:spcPct val="100000"/>
              </a:lnSpc>
              <a:spcBef>
                <a:spcPts val="600"/>
              </a:spcBef>
              <a:buFont typeface="Wingdings" panose="05000000000000000000" charset="0"/>
              <a:buChar char="ü"/>
            </a:pPr>
            <a:r>
              <a:rPr lang="zh-CN" altLang="en-US" dirty="0">
                <a:solidFill>
                  <a:schemeClr val="bg2"/>
                </a:solidFill>
                <a:sym typeface="+mn-ea"/>
              </a:rPr>
              <a:t>特征方程</a:t>
            </a:r>
            <a:endParaRPr lang="zh-CN" altLang="en-US" dirty="0">
              <a:solidFill>
                <a:schemeClr val="bg2"/>
              </a:solidFill>
              <a:sym typeface="+mn-ea"/>
            </a:endParaRPr>
          </a:p>
          <a:p>
            <a:pPr marL="1714500" lvl="3" indent="-342900">
              <a:lnSpc>
                <a:spcPct val="100000"/>
              </a:lnSpc>
              <a:spcBef>
                <a:spcPts val="600"/>
              </a:spcBef>
              <a:buFont typeface="Wingdings" panose="05000000000000000000" charset="0"/>
              <a:buChar char="ü"/>
            </a:pPr>
            <a:r>
              <a:rPr lang="zh-CN" altLang="en-US" b="1" dirty="0">
                <a:solidFill>
                  <a:srgbClr val="FF0000"/>
                </a:solidFill>
                <a:sym typeface="+mn-ea"/>
              </a:rPr>
              <a:t>递归树</a:t>
            </a:r>
            <a:endParaRPr lang="zh-CN" altLang="en-US" b="1" dirty="0">
              <a:solidFill>
                <a:srgbClr val="FF0000"/>
              </a:solidFill>
              <a:sym typeface="+mn-ea"/>
            </a:endParaRPr>
          </a:p>
          <a:p>
            <a:pPr marL="1714500" lvl="3" indent="-342900">
              <a:lnSpc>
                <a:spcPct val="100000"/>
              </a:lnSpc>
              <a:spcBef>
                <a:spcPts val="600"/>
              </a:spcBef>
              <a:buFont typeface="Wingdings" panose="05000000000000000000" charset="0"/>
              <a:buChar char="ü"/>
            </a:pPr>
            <a:r>
              <a:rPr lang="zh-CN" altLang="en-US" b="1" dirty="0">
                <a:solidFill>
                  <a:srgbClr val="FF0000"/>
                </a:solidFill>
                <a:sym typeface="+mn-ea"/>
              </a:rPr>
              <a:t>主方法</a:t>
            </a:r>
            <a:endParaRPr lang="zh-CN" altLang="en-US" b="1" dirty="0">
              <a:solidFill>
                <a:srgbClr val="FF0000"/>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left)">
                                      <p:cBhvr>
                                        <p:cTn id="21" dur="500"/>
                                        <p:tgtEl>
                                          <p:spTgt spid="3">
                                            <p:txEl>
                                              <p:pRg st="5" end="5"/>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left)">
                                      <p:cBhvr>
                                        <p:cTn id="24" dur="500"/>
                                        <p:tgtEl>
                                          <p:spTgt spid="3">
                                            <p:txEl>
                                              <p:pRg st="6" end="6"/>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left)">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txBox="1">
            <a:spLocks noGrp="1"/>
          </p:cNvSpPr>
          <p:nvPr>
            <p:ph type="title"/>
          </p:nvPr>
        </p:nvSpPr>
        <p:spPr>
          <a:xfrm>
            <a:off x="611188" y="476250"/>
            <a:ext cx="7772400" cy="638175"/>
          </a:xfrm>
          <a:noFill/>
          <a:ln w="9525">
            <a:noFill/>
          </a:ln>
        </p:spPr>
        <p:txBody>
          <a:bodyPr vert="horz" wrap="square" lIns="91440" tIns="45720" rIns="91440" bIns="45720" anchor="ctr">
            <a:noAutofit/>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sz="4000" kern="1200" dirty="0" smtClean="0">
                <a:solidFill>
                  <a:srgbClr val="C00000"/>
                </a:solidFill>
                <a:latin typeface="Times New Roman" panose="02020603050405020304" pitchFamily="18" charset="0"/>
                <a:sym typeface="+mn-ea"/>
              </a:rPr>
              <a:t>补充：算法空间复杂度的分析</a:t>
            </a:r>
            <a:endParaRPr lang="en-US" altLang="zh-CN" sz="4000" kern="1200" dirty="0" smtClean="0">
              <a:solidFill>
                <a:srgbClr val="C00000"/>
              </a:solidFill>
              <a:latin typeface="Times New Roman" panose="02020603050405020304" pitchFamily="18" charset="0"/>
              <a:sym typeface="+mn-ea"/>
            </a:endParaRPr>
          </a:p>
        </p:txBody>
      </p:sp>
      <p:sp>
        <p:nvSpPr>
          <p:cNvPr id="645123" name="Rectangle 3"/>
          <p:cNvSpPr>
            <a:spLocks noGrp="1" noChangeArrowheads="1"/>
          </p:cNvSpPr>
          <p:nvPr>
            <p:ph idx="1"/>
          </p:nvPr>
        </p:nvSpPr>
        <p:spPr>
          <a:xfrm>
            <a:off x="179705" y="1852930"/>
            <a:ext cx="8714105" cy="291211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rPr>
              <a:t>一个算法的存储量包括形参所占空间和临时变量所占空间。在对算法进行存储空间分析时，只考察临时变量所占空间。</a:t>
            </a:r>
            <a:endParaRPr kumimoji="0" lang="en-US" altLang="zh-CN" sz="2400" b="0" i="0"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endParaRPr>
          </a:p>
          <a:p>
            <a:pPr marL="342900" marR="0" lvl="0" indent="-342900" algn="l" defTabSz="914400" rtl="0" eaLnBrk="0" fontAlgn="base" latinLnBrk="0" hangingPunct="0">
              <a:lnSpc>
                <a:spcPct val="100000"/>
              </a:lnSpc>
              <a:spcBef>
                <a:spcPct val="50000"/>
              </a:spcBef>
              <a:spcAft>
                <a:spcPct val="0"/>
              </a:spcAft>
              <a:buClr>
                <a:schemeClr val="accent2"/>
              </a:buClr>
              <a:buSzPct val="8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rPr>
              <a:t>所以，空间复杂度是对一个算法在运行过程中临时占用的存储空间大小的量度，一般也作为问题规模</a:t>
            </a:r>
            <a:r>
              <a:rPr kumimoji="0" lang="en-US" altLang="zh-CN" sz="2400" b="0" i="1"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rPr>
              <a:t>n</a:t>
            </a:r>
            <a:r>
              <a:rPr kumimoji="0" lang="zh-CN" altLang="en-US" sz="2400" b="0" i="0"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rPr>
              <a:t>的函数，以数量级形式给出，记作：</a:t>
            </a:r>
            <a:endParaRPr kumimoji="0" lang="en-US" altLang="zh-CN" sz="2400" b="0" i="0"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endParaRPr>
          </a:p>
          <a:p>
            <a:pPr marL="0" marR="0" lvl="0" indent="0" algn="l" defTabSz="914400" rtl="0" eaLnBrk="0" fontAlgn="base" latinLnBrk="0" hangingPunct="0">
              <a:lnSpc>
                <a:spcPct val="100000"/>
              </a:lnSpc>
              <a:spcBef>
                <a:spcPct val="50000"/>
              </a:spcBef>
              <a:spcAft>
                <a:spcPct val="0"/>
              </a:spcAft>
              <a:buClr>
                <a:schemeClr val="accent2"/>
              </a:buClr>
              <a:buSzPct val="80000"/>
              <a:buFont typeface="Wingdings" panose="05000000000000000000" pitchFamily="2" charset="2"/>
              <a:buNone/>
              <a:defRPr/>
            </a:pPr>
            <a:r>
              <a:rPr kumimoji="0" lang="en-US" altLang="zh-CN" sz="2400" b="1" i="1"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rPr>
              <a:t>         </a:t>
            </a:r>
            <a:r>
              <a:rPr kumimoji="0" lang="en-US" altLang="zh-CN" sz="2400" b="0" i="1"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S(n)=O(g(n))</a:t>
            </a:r>
            <a:r>
              <a:rPr kumimoji="0" lang="zh-CN" altLang="en-US" sz="2400" b="0" i="1"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a:t>
            </a:r>
            <a:r>
              <a:rPr kumimoji="0" lang="zh-CN" altLang="en-US" sz="2400" b="0" i="1"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sym typeface="Symbol" panose="05050102010706020507" pitchFamily="18" charset="2"/>
              </a:rPr>
              <a:t></a:t>
            </a:r>
            <a:r>
              <a:rPr kumimoji="0" lang="en-US" altLang="zh-CN" sz="2400" b="0" i="1"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(g(n))</a:t>
            </a:r>
            <a:r>
              <a:rPr kumimoji="0" lang="zh-CN" altLang="en-US" sz="2400" b="0" i="0"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或</a:t>
            </a:r>
            <a:r>
              <a:rPr kumimoji="0" lang="zh-CN" altLang="en-US" sz="2400" b="0" i="1"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sym typeface="Symbol" panose="05050102010706020507" pitchFamily="18" charset="2"/>
              </a:rPr>
              <a:t></a:t>
            </a:r>
            <a:r>
              <a:rPr kumimoji="0" lang="en-US" altLang="zh-CN" sz="2400" b="0" i="1"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rPr>
              <a:t>(g(n))</a:t>
            </a:r>
            <a:endParaRPr kumimoji="0" lang="en-US" altLang="zh-CN" sz="2400" b="0" i="1" u="none" strike="noStrike" kern="0" cap="none" spc="0" normalizeH="0" baseline="0" noProof="0" dirty="0" smtClean="0">
              <a:ln>
                <a:noFill/>
              </a:ln>
              <a:solidFill>
                <a:schemeClr val="bg2"/>
              </a:solidFill>
              <a:effectLst/>
              <a:uLnTx/>
              <a:uFillTx/>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539750" y="5075238"/>
            <a:ext cx="6985000" cy="461963"/>
          </a:xfrm>
          <a:prstGeom prst="rect">
            <a:avLst/>
          </a:prstGeom>
        </p:spPr>
        <p:txBody>
          <a:bodyPr>
            <a:spAutoFit/>
          </a:body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bg2"/>
                </a:solidFill>
                <a:effectLst/>
                <a:uLnTx/>
                <a:uFillTx/>
                <a:latin typeface="+mn-ea"/>
                <a:ea typeface="+mn-ea"/>
                <a:cs typeface="Consolas" panose="020B0609020204030204" pitchFamily="49" charset="0"/>
              </a:rPr>
              <a:t>其中渐进符号的含义与时间复杂度中的含义相同</a:t>
            </a:r>
            <a:endParaRPr kumimoji="0" lang="zh-CN" altLang="en-US" sz="2400" b="0" i="0" u="none" strike="noStrike" kern="1200" cap="none" spc="0" normalizeH="0" baseline="0" noProof="0" dirty="0">
              <a:ln>
                <a:noFill/>
              </a:ln>
              <a:solidFill>
                <a:schemeClr val="bg2"/>
              </a:solidFill>
              <a:effectLst/>
              <a:uLnTx/>
              <a:uFillTx/>
              <a:latin typeface="+mn-ea"/>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2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611188" y="476250"/>
            <a:ext cx="7772400" cy="638175"/>
          </a:xfrm>
        </p:spPr>
        <p:txBody>
          <a:bodyPr vert="horz" wrap="square" lIns="92075" tIns="46038" rIns="92075" bIns="46038" anchor="b"/>
          <a:lstStyle/>
          <a:p>
            <a:r>
              <a:rPr lang="zh-CN" altLang="en-US" sz="4000" dirty="0">
                <a:solidFill>
                  <a:schemeClr val="bg2"/>
                </a:solidFill>
              </a:rPr>
              <a:t>算法空间复杂度的分析</a:t>
            </a:r>
            <a:endParaRPr lang="zh-CN" altLang="en-US" sz="4000" dirty="0">
              <a:solidFill>
                <a:schemeClr val="bg2"/>
              </a:solidFill>
            </a:endParaRPr>
          </a:p>
        </p:txBody>
      </p:sp>
      <p:sp>
        <p:nvSpPr>
          <p:cNvPr id="6" name="TextBox 5"/>
          <p:cNvSpPr txBox="1"/>
          <p:nvPr/>
        </p:nvSpPr>
        <p:spPr>
          <a:xfrm>
            <a:off x="539750" y="2049463"/>
            <a:ext cx="4679950" cy="2676525"/>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lvl1pPr marL="0" algn="l" rtl="0" eaLnBrk="1" latinLnBrk="0" hangingPunct="1">
              <a:defRPr kumimoji="0" kern="1200">
                <a:solidFill>
                  <a:schemeClr val="dk1"/>
                </a:solidFill>
                <a:latin typeface="+mn-lt"/>
                <a:ea typeface="+mn-ea"/>
                <a:cs typeface="+mn-cs"/>
              </a:defRPr>
            </a:lvl1pPr>
            <a:lvl2pPr marL="457200" algn="l" rtl="0" eaLnBrk="1" latinLnBrk="0" hangingPunct="1">
              <a:defRPr kumimoji="0" kern="1200">
                <a:solidFill>
                  <a:schemeClr val="dk1"/>
                </a:solidFill>
                <a:latin typeface="+mn-lt"/>
                <a:ea typeface="+mn-ea"/>
                <a:cs typeface="+mn-cs"/>
              </a:defRPr>
            </a:lvl2pPr>
            <a:lvl3pPr marL="914400" algn="l" rtl="0" eaLnBrk="1" latinLnBrk="0" hangingPunct="1">
              <a:defRPr kumimoji="0" kern="1200">
                <a:solidFill>
                  <a:schemeClr val="dk1"/>
                </a:solidFill>
                <a:latin typeface="+mn-lt"/>
                <a:ea typeface="+mn-ea"/>
                <a:cs typeface="+mn-cs"/>
              </a:defRPr>
            </a:lvl3pPr>
            <a:lvl4pPr marL="1371600" algn="l" rtl="0" eaLnBrk="1" latinLnBrk="0" hangingPunct="1">
              <a:defRPr kumimoji="0" kern="1200">
                <a:solidFill>
                  <a:schemeClr val="dk1"/>
                </a:solidFill>
                <a:latin typeface="+mn-lt"/>
                <a:ea typeface="+mn-ea"/>
                <a:cs typeface="+mn-cs"/>
              </a:defRPr>
            </a:lvl4pPr>
            <a:lvl5pPr marL="1828800" algn="l" rtl="0" eaLnBrk="1" latinLnBrk="0" hangingPunct="1">
              <a:defRPr kumimoji="0" kern="1200">
                <a:solidFill>
                  <a:schemeClr val="dk1"/>
                </a:solidFill>
                <a:latin typeface="+mn-lt"/>
                <a:ea typeface="+mn-ea"/>
                <a:cs typeface="+mn-cs"/>
              </a:defRPr>
            </a:lvl5pPr>
            <a:lvl6pPr marL="2286000" algn="l" rtl="0" eaLnBrk="1" latinLnBrk="0" hangingPunct="1">
              <a:defRPr kumimoji="0" kern="1200">
                <a:solidFill>
                  <a:schemeClr val="dk1"/>
                </a:solidFill>
                <a:latin typeface="+mn-lt"/>
                <a:ea typeface="+mn-ea"/>
                <a:cs typeface="+mn-cs"/>
              </a:defRPr>
            </a:lvl6pPr>
            <a:lvl7pPr marL="2743200" algn="l" rtl="0" eaLnBrk="1" latinLnBrk="0" hangingPunct="1">
              <a:defRPr kumimoji="0" kern="1200">
                <a:solidFill>
                  <a:schemeClr val="dk1"/>
                </a:solidFill>
                <a:latin typeface="+mn-lt"/>
                <a:ea typeface="+mn-ea"/>
                <a:cs typeface="+mn-cs"/>
              </a:defRPr>
            </a:lvl7pPr>
            <a:lvl8pPr marL="3200400" algn="l" rtl="0" eaLnBrk="1" latinLnBrk="0" hangingPunct="1">
              <a:defRPr kumimoji="0" kern="1200">
                <a:solidFill>
                  <a:schemeClr val="dk1"/>
                </a:solidFill>
                <a:latin typeface="+mn-lt"/>
                <a:ea typeface="+mn-ea"/>
                <a:cs typeface="+mn-cs"/>
              </a:defRPr>
            </a:lvl8pPr>
            <a:lvl9pPr marL="3657600" algn="l" rtl="0" eaLnBrk="1" latinLnBrk="0" hangingPunct="1">
              <a:defRPr kumimoji="0" kern="1200">
                <a:solidFill>
                  <a:schemeClr val="dk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err="1"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en-US" altLang="zh-CN" sz="2400" b="0" i="1" u="none" strike="noStrike" kern="1200" cap="none" spc="0" normalizeH="0" baseline="0" noProof="0" dirty="0"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max(</a:t>
            </a:r>
            <a:r>
              <a:rPr kumimoji="0" lang="en-US" altLang="zh-CN" sz="2400" b="0" i="1" u="none" strike="noStrike" kern="1200" cap="none" spc="0" normalizeH="0" baseline="0" noProof="0" dirty="0" err="1"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en-US" altLang="zh-CN" sz="2400" b="0" i="1" u="none" strike="noStrike" kern="1200" cap="none" spc="0" normalizeH="0" baseline="0" noProof="0" dirty="0"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a[]</a:t>
            </a:r>
            <a:r>
              <a:rPr kumimoji="0" lang="zh-CN" altLang="zh-CN" sz="2400" b="0" i="1" u="none" strike="noStrike" kern="1200" cap="none" spc="0" normalizeH="0" baseline="0" noProof="0" dirty="0"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0" i="1" u="none" strike="noStrike" kern="1200" cap="none" spc="0" normalizeH="0" baseline="0" noProof="0" dirty="0" err="1"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en-US" altLang="zh-CN" sz="2400" b="0" i="1" u="none" strike="noStrike" kern="1200" cap="none" spc="0" normalizeH="0" baseline="0" noProof="0" dirty="0"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n)</a:t>
            </a:r>
            <a:endParaRPr kumimoji="0" lang="zh-CN" altLang="zh-CN" sz="2400" b="0" i="1" u="none" strike="noStrike" kern="1200" cap="none" spc="0" normalizeH="0" baseline="0" noProof="0" dirty="0" smtClean="0">
              <a:ln>
                <a:noFill/>
              </a:ln>
              <a:solidFill>
                <a:srgbClr val="99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0" i="1" u="none" strike="noStrike" kern="1200" cap="none" spc="0" normalizeH="0" baseline="0" noProof="0" dirty="0" err="1"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i</a:t>
            </a:r>
            <a:r>
              <a:rPr kumimoji="0" lang="zh-CN"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maxi=0;</a:t>
            </a:r>
            <a:endParaRPr kumimoji="0" lang="zh-CN"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nb-NO"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(i=1;i&lt;=n;i++)</a:t>
            </a:r>
            <a:endParaRPr kumimoji="0" lang="zh-CN"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nb-NO"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if (a[i]&gt;a[maxi])</a:t>
            </a:r>
            <a:endParaRPr kumimoji="0" lang="zh-CN"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maxi=i;</a:t>
            </a:r>
            <a:endParaRPr kumimoji="0" lang="zh-CN"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a[maxi];</a:t>
            </a:r>
            <a:endParaRPr kumimoji="0" lang="zh-CN"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2400" b="0" i="1" u="none" strike="noStrike" kern="1200" cap="none" spc="0" normalizeH="0" baseline="0" noProof="0" dirty="0" smtClean="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035" name="矩形 3"/>
          <p:cNvSpPr/>
          <p:nvPr/>
        </p:nvSpPr>
        <p:spPr>
          <a:xfrm>
            <a:off x="585788" y="5057775"/>
            <a:ext cx="4572000" cy="831850"/>
          </a:xfrm>
          <a:prstGeom prst="rect">
            <a:avLst/>
          </a:prstGeom>
          <a:noFill/>
          <a:ln w="9525">
            <a:noFill/>
          </a:ln>
        </p:spPr>
        <p:txBody>
          <a:bodyPr>
            <a:spAutoFit/>
          </a:bodyPr>
          <a:lstStyle/>
          <a:p>
            <a:r>
              <a:rPr lang="zh-CN" altLang="en-US" dirty="0">
                <a:solidFill>
                  <a:schemeClr val="bg2"/>
                </a:solidFill>
                <a:latin typeface="Consolas" panose="020B0609020204030204" pitchFamily="49" charset="0"/>
                <a:ea typeface="楷体" panose="02010609060101010101" pitchFamily="49" charset="-122"/>
              </a:rPr>
              <a:t>算法中临时空间为变量</a:t>
            </a:r>
            <a:r>
              <a:rPr lang="en-US" altLang="zh-CN" i="1" dirty="0">
                <a:solidFill>
                  <a:schemeClr val="bg2"/>
                </a:solidFill>
                <a:latin typeface="Consolas" panose="020B0609020204030204" pitchFamily="49" charset="0"/>
                <a:ea typeface="楷体" panose="02010609060101010101" pitchFamily="49" charset="-122"/>
              </a:rPr>
              <a:t>i</a:t>
            </a:r>
            <a:r>
              <a:rPr lang="zh-CN" altLang="en-US" dirty="0">
                <a:solidFill>
                  <a:schemeClr val="bg2"/>
                </a:solidFill>
                <a:latin typeface="Consolas" panose="020B0609020204030204" pitchFamily="49" charset="0"/>
                <a:ea typeface="楷体" panose="02010609060101010101" pitchFamily="49" charset="-122"/>
              </a:rPr>
              <a:t>、</a:t>
            </a:r>
            <a:r>
              <a:rPr lang="en-US" altLang="zh-CN" dirty="0">
                <a:solidFill>
                  <a:schemeClr val="bg2"/>
                </a:solidFill>
                <a:latin typeface="Consolas" panose="020B0609020204030204" pitchFamily="49" charset="0"/>
                <a:ea typeface="楷体" panose="02010609060101010101" pitchFamily="49" charset="-122"/>
              </a:rPr>
              <a:t>maxi</a:t>
            </a:r>
            <a:r>
              <a:rPr lang="zh-CN" altLang="en-US" dirty="0">
                <a:solidFill>
                  <a:schemeClr val="bg2"/>
                </a:solidFill>
                <a:latin typeface="Consolas" panose="020B0609020204030204" pitchFamily="49" charset="0"/>
                <a:ea typeface="楷体" panose="02010609060101010101" pitchFamily="49" charset="-122"/>
              </a:rPr>
              <a:t>占用的空间</a:t>
            </a:r>
            <a:endParaRPr lang="zh-CN" altLang="en-US" dirty="0">
              <a:solidFill>
                <a:schemeClr val="bg2"/>
              </a:solidFill>
              <a:latin typeface="Times New Roman" panose="02020603050405020304" pitchFamily="18" charset="0"/>
            </a:endParaRPr>
          </a:p>
        </p:txBody>
      </p:sp>
      <p:sp>
        <p:nvSpPr>
          <p:cNvPr id="8" name="右大括号 7"/>
          <p:cNvSpPr/>
          <p:nvPr/>
        </p:nvSpPr>
        <p:spPr>
          <a:xfrm>
            <a:off x="5219700" y="2039938"/>
            <a:ext cx="285750" cy="2686050"/>
          </a:xfrm>
          <a:prstGeom prst="rightBrace">
            <a:avLst/>
          </a:prstGeom>
        </p:spPr>
        <p:style>
          <a:lnRef idx="2">
            <a:schemeClr val="dk1"/>
          </a:lnRef>
          <a:fillRef idx="0">
            <a:schemeClr val="dk1"/>
          </a:fillRef>
          <a:effectRef idx="1">
            <a:schemeClr val="dk1"/>
          </a:effectRef>
          <a:fontRef idx="minor">
            <a:schemeClr val="tx1"/>
          </a:fontRef>
        </p:style>
        <p:txBody>
          <a:bodyPr anchor="ctr"/>
          <a:lst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44037" name="TextBox 7"/>
          <p:cNvSpPr txBox="1"/>
          <p:nvPr/>
        </p:nvSpPr>
        <p:spPr>
          <a:xfrm>
            <a:off x="5553075" y="2414588"/>
            <a:ext cx="3479800" cy="1938337"/>
          </a:xfrm>
          <a:prstGeom prst="rect">
            <a:avLst/>
          </a:prstGeom>
          <a:noFill/>
          <a:ln w="9525">
            <a:noFill/>
          </a:ln>
        </p:spPr>
        <p:txBody>
          <a:bodyPr>
            <a:spAutoFit/>
          </a:bodyPr>
          <a:lstStyle/>
          <a:p>
            <a:r>
              <a:rPr lang="zh-CN" altLang="zh-CN" dirty="0">
                <a:solidFill>
                  <a:srgbClr val="0000FF"/>
                </a:solidFill>
                <a:latin typeface="Consolas" panose="020B0609020204030204" pitchFamily="49" charset="0"/>
                <a:ea typeface="楷体" panose="02010609060101010101" pitchFamily="49" charset="-122"/>
              </a:rPr>
              <a:t>函数体内分配的变量空间为临时空间，不计形参占用的空间，这里的仅计</a:t>
            </a:r>
            <a:r>
              <a:rPr lang="en-US" altLang="zh-CN" i="1" dirty="0">
                <a:solidFill>
                  <a:srgbClr val="0000FF"/>
                </a:solidFill>
                <a:latin typeface="Consolas" panose="020B0609020204030204" pitchFamily="49" charset="0"/>
                <a:ea typeface="楷体" panose="02010609060101010101" pitchFamily="49" charset="-122"/>
              </a:rPr>
              <a:t>i</a:t>
            </a:r>
            <a:r>
              <a:rPr lang="zh-CN" altLang="zh-CN" dirty="0">
                <a:solidFill>
                  <a:srgbClr val="0000FF"/>
                </a:solidFill>
                <a:latin typeface="Consolas" panose="020B0609020204030204" pitchFamily="49" charset="0"/>
                <a:ea typeface="楷体" panose="02010609060101010101" pitchFamily="49" charset="-122"/>
              </a:rPr>
              <a:t>、</a:t>
            </a:r>
            <a:r>
              <a:rPr lang="en-US" altLang="zh-CN" dirty="0">
                <a:solidFill>
                  <a:srgbClr val="0000FF"/>
                </a:solidFill>
                <a:latin typeface="Consolas" panose="020B0609020204030204" pitchFamily="49" charset="0"/>
                <a:ea typeface="楷体" panose="02010609060101010101" pitchFamily="49" charset="-122"/>
              </a:rPr>
              <a:t>maxi</a:t>
            </a:r>
            <a:r>
              <a:rPr lang="zh-CN" altLang="zh-CN" dirty="0">
                <a:solidFill>
                  <a:srgbClr val="0000FF"/>
                </a:solidFill>
                <a:latin typeface="Consolas" panose="020B0609020204030204" pitchFamily="49" charset="0"/>
                <a:ea typeface="楷体" panose="02010609060101010101" pitchFamily="49" charset="-122"/>
              </a:rPr>
              <a:t>变量的空间，其空间复杂度为</a:t>
            </a:r>
            <a:r>
              <a:rPr lang="en-US" altLang="zh-CN" dirty="0">
                <a:solidFill>
                  <a:srgbClr val="FF0000"/>
                </a:solidFill>
                <a:latin typeface="Consolas" panose="020B0609020204030204" pitchFamily="49" charset="0"/>
                <a:ea typeface="楷体" panose="02010609060101010101" pitchFamily="49" charset="-122"/>
              </a:rPr>
              <a:t>O(1)</a:t>
            </a:r>
            <a:r>
              <a:rPr lang="zh-CN" altLang="zh-CN" dirty="0">
                <a:solidFill>
                  <a:srgbClr val="0000FF"/>
                </a:solidFill>
                <a:latin typeface="Consolas" panose="020B0609020204030204" pitchFamily="49" charset="0"/>
                <a:ea typeface="楷体" panose="02010609060101010101" pitchFamily="49" charset="-122"/>
              </a:rPr>
              <a:t>。</a:t>
            </a:r>
            <a:endParaRPr lang="zh-CN" altLang="zh-CN" dirty="0">
              <a:solidFill>
                <a:srgbClr val="0000FF"/>
              </a:solidFill>
              <a:latin typeface="Consolas" panose="020B0609020204030204" pitchFamily="49" charset="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0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p:bldP spid="8" grpId="0" bldLvl="0" animBg="1"/>
      <p:bldP spid="4403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611188" y="476250"/>
            <a:ext cx="7772400" cy="638175"/>
          </a:xfrm>
        </p:spPr>
        <p:txBody>
          <a:bodyPr vert="horz" wrap="square" lIns="92075" tIns="46038" rIns="92075" bIns="46038" anchor="b"/>
          <a:lstStyle/>
          <a:p>
            <a:r>
              <a:rPr lang="zh-CN" altLang="en-US" sz="4000" dirty="0">
                <a:solidFill>
                  <a:schemeClr val="bg2"/>
                </a:solidFill>
              </a:rPr>
              <a:t>算法空间复杂度的分析</a:t>
            </a:r>
            <a:endParaRPr lang="zh-CN" altLang="en-US" sz="4000" dirty="0">
              <a:solidFill>
                <a:schemeClr val="bg2"/>
              </a:solidFill>
            </a:endParaRPr>
          </a:p>
        </p:txBody>
      </p:sp>
      <p:sp>
        <p:nvSpPr>
          <p:cNvPr id="44035" name="Rectangle 3"/>
          <p:cNvSpPr>
            <a:spLocks noGrp="1"/>
          </p:cNvSpPr>
          <p:nvPr>
            <p:ph idx="1"/>
          </p:nvPr>
        </p:nvSpPr>
        <p:spPr>
          <a:xfrm>
            <a:off x="250825" y="1628775"/>
            <a:ext cx="8713788" cy="1223963"/>
          </a:xfrm>
        </p:spPr>
        <p:txBody>
          <a:bodyPr vert="horz" wrap="square" lIns="92075" tIns="46038" rIns="92075" bIns="46038" anchor="t"/>
          <a:lstStyle/>
          <a:p>
            <a:r>
              <a:rPr lang="zh-CN" altLang="en-US" sz="2400" dirty="0">
                <a:solidFill>
                  <a:schemeClr val="bg2"/>
                </a:solidFill>
                <a:latin typeface="Consolas" panose="020B0609020204030204" pitchFamily="49" charset="0"/>
                <a:ea typeface="楷体" panose="02010609060101010101" pitchFamily="49" charset="-122"/>
              </a:rPr>
              <a:t>为什么算法占用的空间只考虑临时空间，而不必考虑形参的空间呢？这是因为形参的空间会在调用该算法的算法中考虑，例如，以下</a:t>
            </a:r>
            <a:r>
              <a:rPr lang="en-US" altLang="zh-CN" sz="2400" dirty="0">
                <a:solidFill>
                  <a:schemeClr val="bg2"/>
                </a:solidFill>
                <a:latin typeface="Consolas" panose="020B0609020204030204" pitchFamily="49" charset="0"/>
                <a:ea typeface="楷体" panose="02010609060101010101" pitchFamily="49" charset="-122"/>
              </a:rPr>
              <a:t>maxfun</a:t>
            </a:r>
            <a:r>
              <a:rPr lang="zh-CN" altLang="en-US" sz="2400" dirty="0">
                <a:solidFill>
                  <a:schemeClr val="bg2"/>
                </a:solidFill>
                <a:latin typeface="Consolas" panose="020B0609020204030204" pitchFamily="49" charset="0"/>
                <a:ea typeface="楷体" panose="02010609060101010101" pitchFamily="49" charset="-122"/>
              </a:rPr>
              <a:t>算法调用</a:t>
            </a:r>
            <a:r>
              <a:rPr lang="en-US" altLang="zh-CN" sz="2400" dirty="0">
                <a:solidFill>
                  <a:schemeClr val="bg2"/>
                </a:solidFill>
                <a:latin typeface="Consolas" panose="020B0609020204030204" pitchFamily="49" charset="0"/>
                <a:ea typeface="楷体" panose="02010609060101010101" pitchFamily="49" charset="-122"/>
              </a:rPr>
              <a:t>max</a:t>
            </a:r>
            <a:r>
              <a:rPr lang="zh-CN" altLang="en-US" sz="2400" dirty="0">
                <a:solidFill>
                  <a:schemeClr val="bg2"/>
                </a:solidFill>
                <a:latin typeface="Consolas" panose="020B0609020204030204" pitchFamily="49" charset="0"/>
                <a:ea typeface="楷体" panose="02010609060101010101" pitchFamily="49" charset="-122"/>
              </a:rPr>
              <a:t>算法：</a:t>
            </a:r>
            <a:endParaRPr lang="en-US" altLang="zh-CN" sz="2400" b="0" i="1" dirty="0">
              <a:solidFill>
                <a:schemeClr val="bg2"/>
              </a:solidFill>
              <a:latin typeface="Times New Roman" panose="02020603050405020304" pitchFamily="18" charset="0"/>
              <a:ea typeface="Times New Roman" panose="02020603050405020304" pitchFamily="18" charset="0"/>
            </a:endParaRPr>
          </a:p>
        </p:txBody>
      </p:sp>
      <p:sp>
        <p:nvSpPr>
          <p:cNvPr id="5" name="Text Box 3"/>
          <p:cNvSpPr txBox="1">
            <a:spLocks noChangeArrowheads="1"/>
          </p:cNvSpPr>
          <p:nvPr/>
        </p:nvSpPr>
        <p:spPr bwMode="auto">
          <a:xfrm>
            <a:off x="323529" y="2852936"/>
            <a:ext cx="4392488" cy="1471511"/>
          </a:xfrm>
          <a:prstGeom prst="rect">
            <a:avLst/>
          </a:prstGeom>
          <a:solidFill>
            <a:schemeClr val="accent1"/>
          </a:solidFill>
          <a:ln w="9525">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180000" tIns="180000" bIns="180000">
            <a:spAutoFit/>
          </a:bodyPr>
          <a:lst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void </a:t>
            </a:r>
            <a:r>
              <a:rPr kumimoji="0" lang="en-US" altLang="zh-CN" sz="1800" b="0" i="0" u="none" strike="noStrike" kern="1200" cap="none" spc="0" normalizeH="0" baseline="0" noProof="0" err="1">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maxfun</a:t>
            </a:r>
            <a:r>
              <a:rPr kumimoji="0" lang="en-US"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pt-BR"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pt-BR"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pt-BR" altLang="zh-CN" sz="1800" b="0" i="0" u="none" strike="noStrike" kern="1200" cap="none" spc="0" normalizeH="0" baseline="0" noProof="0" smtClean="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 int </a:t>
            </a:r>
            <a:r>
              <a:rPr kumimoji="0" lang="pt-BR"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b[]={1,2,3,4,5},n=5;</a:t>
            </a:r>
            <a:endParaRPr kumimoji="0" lang="pt-BR"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pt-BR"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pt-BR"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printf("Max=%d\n",max(b,n));</a:t>
            </a:r>
            <a:endParaRPr kumimoji="0" lang="pt-BR"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pt-BR"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en-US" altLang="zh-CN" sz="1800" b="0" i="0" u="none" strike="noStrike" kern="1200" cap="none" spc="0" normalizeH="0" baseline="0" noProof="0">
              <a:ln>
                <a:noFill/>
              </a:ln>
              <a:solidFill>
                <a:schemeClr val="bg2"/>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6" name="TextBox 4"/>
          <p:cNvSpPr txBox="1"/>
          <p:nvPr/>
        </p:nvSpPr>
        <p:spPr>
          <a:xfrm>
            <a:off x="468313" y="4627563"/>
            <a:ext cx="3429000" cy="2032000"/>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lvl1pPr marL="0" algn="l" rtl="0" eaLnBrk="1" latinLnBrk="0" hangingPunct="1">
              <a:defRPr kumimoji="0" kern="1200">
                <a:solidFill>
                  <a:schemeClr val="dk1"/>
                </a:solidFill>
                <a:latin typeface="+mn-lt"/>
                <a:ea typeface="+mn-ea"/>
                <a:cs typeface="+mn-cs"/>
              </a:defRPr>
            </a:lvl1pPr>
            <a:lvl2pPr marL="457200" algn="l" rtl="0" eaLnBrk="1" latinLnBrk="0" hangingPunct="1">
              <a:defRPr kumimoji="0" kern="1200">
                <a:solidFill>
                  <a:schemeClr val="dk1"/>
                </a:solidFill>
                <a:latin typeface="+mn-lt"/>
                <a:ea typeface="+mn-ea"/>
                <a:cs typeface="+mn-cs"/>
              </a:defRPr>
            </a:lvl2pPr>
            <a:lvl3pPr marL="914400" algn="l" rtl="0" eaLnBrk="1" latinLnBrk="0" hangingPunct="1">
              <a:defRPr kumimoji="0" kern="1200">
                <a:solidFill>
                  <a:schemeClr val="dk1"/>
                </a:solidFill>
                <a:latin typeface="+mn-lt"/>
                <a:ea typeface="+mn-ea"/>
                <a:cs typeface="+mn-cs"/>
              </a:defRPr>
            </a:lvl3pPr>
            <a:lvl4pPr marL="1371600" algn="l" rtl="0" eaLnBrk="1" latinLnBrk="0" hangingPunct="1">
              <a:defRPr kumimoji="0" kern="1200">
                <a:solidFill>
                  <a:schemeClr val="dk1"/>
                </a:solidFill>
                <a:latin typeface="+mn-lt"/>
                <a:ea typeface="+mn-ea"/>
                <a:cs typeface="+mn-cs"/>
              </a:defRPr>
            </a:lvl4pPr>
            <a:lvl5pPr marL="1828800" algn="l" rtl="0" eaLnBrk="1" latinLnBrk="0" hangingPunct="1">
              <a:defRPr kumimoji="0" kern="1200">
                <a:solidFill>
                  <a:schemeClr val="dk1"/>
                </a:solidFill>
                <a:latin typeface="+mn-lt"/>
                <a:ea typeface="+mn-ea"/>
                <a:cs typeface="+mn-cs"/>
              </a:defRPr>
            </a:lvl5pPr>
            <a:lvl6pPr marL="2286000" algn="l" rtl="0" eaLnBrk="1" latinLnBrk="0" hangingPunct="1">
              <a:defRPr kumimoji="0" kern="1200">
                <a:solidFill>
                  <a:schemeClr val="dk1"/>
                </a:solidFill>
                <a:latin typeface="+mn-lt"/>
                <a:ea typeface="+mn-ea"/>
                <a:cs typeface="+mn-cs"/>
              </a:defRPr>
            </a:lvl6pPr>
            <a:lvl7pPr marL="2743200" algn="l" rtl="0" eaLnBrk="1" latinLnBrk="0" hangingPunct="1">
              <a:defRPr kumimoji="0" kern="1200">
                <a:solidFill>
                  <a:schemeClr val="dk1"/>
                </a:solidFill>
                <a:latin typeface="+mn-lt"/>
                <a:ea typeface="+mn-ea"/>
                <a:cs typeface="+mn-cs"/>
              </a:defRPr>
            </a:lvl7pPr>
            <a:lvl8pPr marL="3200400" algn="l" rtl="0" eaLnBrk="1" latinLnBrk="0" hangingPunct="1">
              <a:defRPr kumimoji="0" kern="1200">
                <a:solidFill>
                  <a:schemeClr val="dk1"/>
                </a:solidFill>
                <a:latin typeface="+mn-lt"/>
                <a:ea typeface="+mn-ea"/>
                <a:cs typeface="+mn-cs"/>
              </a:defRPr>
            </a:lvl8pPr>
            <a:lvl9pPr marL="3657600" algn="l" rtl="0" eaLnBrk="1" latinLnBrk="0" hangingPunct="1">
              <a:defRPr kumimoji="0" kern="1200">
                <a:solidFill>
                  <a:schemeClr val="dk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err="1" smtClean="0">
                <a:ln>
                  <a:noFill/>
                </a:ln>
                <a:solidFill>
                  <a:srgbClr val="9900FF"/>
                </a:solidFill>
                <a:effectLst/>
                <a:uLnTx/>
                <a:uFillTx/>
                <a:latin typeface="Consolas" panose="020B0609020204030204" pitchFamily="49" charset="0"/>
                <a:ea typeface="+mn-ea"/>
                <a:cs typeface="Consolas" panose="020B0609020204030204" pitchFamily="49" charset="0"/>
              </a:rPr>
              <a:t>int</a:t>
            </a:r>
            <a:r>
              <a:rPr kumimoji="0" lang="en-US" altLang="zh-CN" sz="1800" b="0" i="0" u="none" strike="noStrike" kern="1200" cap="none" spc="0" normalizeH="0" baseline="0" noProof="0" dirty="0" smtClean="0">
                <a:ln>
                  <a:noFill/>
                </a:ln>
                <a:solidFill>
                  <a:srgbClr val="9900FF"/>
                </a:solidFill>
                <a:effectLst/>
                <a:uLnTx/>
                <a:uFillTx/>
                <a:latin typeface="Consolas" panose="020B0609020204030204" pitchFamily="49" charset="0"/>
                <a:ea typeface="+mn-ea"/>
                <a:cs typeface="Consolas" panose="020B0609020204030204" pitchFamily="49" charset="0"/>
              </a:rPr>
              <a:t> max(</a:t>
            </a:r>
            <a:r>
              <a:rPr kumimoji="0" lang="en-US" altLang="zh-CN" sz="1800" b="0" i="0" u="none" strike="noStrike" kern="1200" cap="none" spc="0" normalizeH="0" baseline="0" noProof="0" dirty="0" err="1" smtClean="0">
                <a:ln>
                  <a:noFill/>
                </a:ln>
                <a:solidFill>
                  <a:srgbClr val="9900FF"/>
                </a:solidFill>
                <a:effectLst/>
                <a:uLnTx/>
                <a:uFillTx/>
                <a:latin typeface="Consolas" panose="020B0609020204030204" pitchFamily="49" charset="0"/>
                <a:ea typeface="+mn-ea"/>
                <a:cs typeface="Consolas" panose="020B0609020204030204" pitchFamily="49" charset="0"/>
              </a:rPr>
              <a:t>int</a:t>
            </a:r>
            <a:r>
              <a:rPr kumimoji="0" lang="en-US" altLang="zh-CN" sz="1800" b="0" i="0" u="none" strike="noStrike" kern="1200" cap="none" spc="0" normalizeH="0" baseline="0" noProof="0" dirty="0" smtClean="0">
                <a:ln>
                  <a:noFill/>
                </a:ln>
                <a:solidFill>
                  <a:srgbClr val="9900FF"/>
                </a:solidFill>
                <a:effectLst/>
                <a:uLnTx/>
                <a:uFillTx/>
                <a:latin typeface="Consolas" panose="020B0609020204030204" pitchFamily="49" charset="0"/>
                <a:ea typeface="+mn-ea"/>
                <a:cs typeface="Consolas" panose="020B0609020204030204" pitchFamily="49" charset="0"/>
              </a:rPr>
              <a:t> a[]</a:t>
            </a:r>
            <a:r>
              <a:rPr kumimoji="0" lang="zh-CN" altLang="zh-CN" sz="1800" b="0" i="0" u="none" strike="noStrike" kern="1200" cap="none" spc="0" normalizeH="0" baseline="0" noProof="0" dirty="0" smtClean="0">
                <a:ln>
                  <a:noFill/>
                </a:ln>
                <a:solidFill>
                  <a:srgbClr val="9900FF"/>
                </a:solidFill>
                <a:effectLst/>
                <a:uLnTx/>
                <a:uFillTx/>
                <a:latin typeface="Consolas" panose="020B0609020204030204" pitchFamily="49" charset="0"/>
                <a:ea typeface="+mn-ea"/>
                <a:cs typeface="Consolas" panose="020B0609020204030204" pitchFamily="49" charset="0"/>
              </a:rPr>
              <a:t>，</a:t>
            </a:r>
            <a:r>
              <a:rPr kumimoji="0" lang="en-US" altLang="zh-CN" sz="1800" b="0" i="0" u="none" strike="noStrike" kern="1200" cap="none" spc="0" normalizeH="0" baseline="0" noProof="0" dirty="0" err="1" smtClean="0">
                <a:ln>
                  <a:noFill/>
                </a:ln>
                <a:solidFill>
                  <a:srgbClr val="9900FF"/>
                </a:solidFill>
                <a:effectLst/>
                <a:uLnTx/>
                <a:uFillTx/>
                <a:latin typeface="Consolas" panose="020B0609020204030204" pitchFamily="49" charset="0"/>
                <a:ea typeface="+mn-ea"/>
                <a:cs typeface="Consolas" panose="020B0609020204030204" pitchFamily="49" charset="0"/>
              </a:rPr>
              <a:t>int</a:t>
            </a:r>
            <a:r>
              <a:rPr kumimoji="0" lang="en-US" altLang="zh-CN" sz="1800" b="0" i="0" u="none" strike="noStrike" kern="1200" cap="none" spc="0" normalizeH="0" baseline="0" noProof="0" dirty="0" smtClean="0">
                <a:ln>
                  <a:noFill/>
                </a:ln>
                <a:solidFill>
                  <a:srgbClr val="9900FF"/>
                </a:solidFill>
                <a:effectLst/>
                <a:uLnTx/>
                <a:uFillTx/>
                <a:latin typeface="Consolas" panose="020B0609020204030204" pitchFamily="49" charset="0"/>
                <a:ea typeface="+mn-ea"/>
                <a:cs typeface="Consolas" panose="020B0609020204030204" pitchFamily="49" charset="0"/>
              </a:rPr>
              <a:t> n)</a:t>
            </a:r>
            <a:endParaRPr kumimoji="0" lang="zh-CN" altLang="zh-CN" sz="1800" b="0" i="0" u="none" strike="noStrike" kern="1200" cap="none" spc="0" normalizeH="0" baseline="0" noProof="0" dirty="0" smtClean="0">
              <a:ln>
                <a:noFill/>
              </a:ln>
              <a:solidFill>
                <a:srgbClr val="99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t>
            </a:r>
            <a:r>
              <a:rPr kumimoji="0" lang="en-US" altLang="zh-CN" sz="18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int</a:t>
            </a: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i</a:t>
            </a:r>
            <a:r>
              <a:rPr kumimoji="0" lang="zh-CN"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maxi=0;</a:t>
            </a:r>
            <a:endParaRPr kumimoji="0" lang="zh-CN"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t>
            </a:r>
            <a:r>
              <a:rPr kumimoji="0" lang="nb-NO"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for (i=1;i&lt;=n;i++)</a:t>
            </a:r>
            <a:endParaRPr kumimoji="0" lang="zh-CN"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nb-NO"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t>
            </a: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if (a[i]&gt;a[maxi])</a:t>
            </a:r>
            <a:endParaRPr kumimoji="0" lang="zh-CN"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maxi=i;</a:t>
            </a:r>
            <a:endParaRPr kumimoji="0" lang="zh-CN"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return a[maxi];</a:t>
            </a:r>
            <a:endParaRPr kumimoji="0" lang="zh-CN"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a:t>
            </a:r>
            <a:endParaRPr kumimoji="0" lang="zh-CN" altLang="zh-CN" sz="18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p:txBody>
      </p:sp>
      <p:sp>
        <p:nvSpPr>
          <p:cNvPr id="7" name="左弧形箭头 6"/>
          <p:cNvSpPr/>
          <p:nvPr/>
        </p:nvSpPr>
        <p:spPr>
          <a:xfrm>
            <a:off x="323850" y="3735388"/>
            <a:ext cx="285750" cy="1133475"/>
          </a:xfrm>
          <a:prstGeom prst="curvedRightArrow">
            <a:avLst/>
          </a:prstGeom>
        </p:spPr>
        <p:style>
          <a:lnRef idx="1">
            <a:schemeClr val="accent2"/>
          </a:lnRef>
          <a:fillRef idx="3">
            <a:schemeClr val="accent2"/>
          </a:fillRef>
          <a:effectRef idx="2">
            <a:schemeClr val="accent2"/>
          </a:effectRef>
          <a:fontRef idx="minor">
            <a:schemeClr val="lt1"/>
          </a:fontRef>
        </p:style>
        <p:txBody>
          <a:bodyPr anchor="ctr"/>
          <a:lstStyle>
            <a:lvl1pPr marL="0" algn="l" rtl="0" eaLnBrk="1" latinLnBrk="0" hangingPunct="1">
              <a:defRPr kumimoji="0" kern="1200">
                <a:solidFill>
                  <a:schemeClr val="lt1"/>
                </a:solidFill>
                <a:latin typeface="+mn-lt"/>
                <a:ea typeface="+mn-ea"/>
                <a:cs typeface="+mn-cs"/>
              </a:defRPr>
            </a:lvl1pPr>
            <a:lvl2pPr marL="457200" algn="l" rtl="0" eaLnBrk="1" latinLnBrk="0" hangingPunct="1">
              <a:defRPr kumimoji="0" kern="1200">
                <a:solidFill>
                  <a:schemeClr val="lt1"/>
                </a:solidFill>
                <a:latin typeface="+mn-lt"/>
                <a:ea typeface="+mn-ea"/>
                <a:cs typeface="+mn-cs"/>
              </a:defRPr>
            </a:lvl2pPr>
            <a:lvl3pPr marL="914400" algn="l" rtl="0" eaLnBrk="1" latinLnBrk="0" hangingPunct="1">
              <a:defRPr kumimoji="0" kern="1200">
                <a:solidFill>
                  <a:schemeClr val="lt1"/>
                </a:solidFill>
                <a:latin typeface="+mn-lt"/>
                <a:ea typeface="+mn-ea"/>
                <a:cs typeface="+mn-cs"/>
              </a:defRPr>
            </a:lvl3pPr>
            <a:lvl4pPr marL="1371600" algn="l" rtl="0" eaLnBrk="1" latinLnBrk="0" hangingPunct="1">
              <a:defRPr kumimoji="0" kern="1200">
                <a:solidFill>
                  <a:schemeClr val="lt1"/>
                </a:solidFill>
                <a:latin typeface="+mn-lt"/>
                <a:ea typeface="+mn-ea"/>
                <a:cs typeface="+mn-cs"/>
              </a:defRPr>
            </a:lvl4pPr>
            <a:lvl5pPr marL="1828800" algn="l" rtl="0" eaLnBrk="1" latinLnBrk="0" hangingPunct="1">
              <a:defRPr kumimoji="0" kern="1200">
                <a:solidFill>
                  <a:schemeClr val="lt1"/>
                </a:solidFill>
                <a:latin typeface="+mn-lt"/>
                <a:ea typeface="+mn-ea"/>
                <a:cs typeface="+mn-cs"/>
              </a:defRPr>
            </a:lvl5pPr>
            <a:lvl6pPr marL="2286000" algn="l" rtl="0" eaLnBrk="1" latinLnBrk="0" hangingPunct="1">
              <a:defRPr kumimoji="0" kern="1200">
                <a:solidFill>
                  <a:schemeClr val="lt1"/>
                </a:solidFill>
                <a:latin typeface="+mn-lt"/>
                <a:ea typeface="+mn-ea"/>
                <a:cs typeface="+mn-cs"/>
              </a:defRPr>
            </a:lvl6pPr>
            <a:lvl7pPr marL="2743200" algn="l" rtl="0" eaLnBrk="1" latinLnBrk="0" hangingPunct="1">
              <a:defRPr kumimoji="0" kern="1200">
                <a:solidFill>
                  <a:schemeClr val="lt1"/>
                </a:solidFill>
                <a:latin typeface="+mn-lt"/>
                <a:ea typeface="+mn-ea"/>
                <a:cs typeface="+mn-cs"/>
              </a:defRPr>
            </a:lvl7pPr>
            <a:lvl8pPr marL="3200400" algn="l" rtl="0" eaLnBrk="1" latinLnBrk="0" hangingPunct="1">
              <a:defRPr kumimoji="0" kern="1200">
                <a:solidFill>
                  <a:schemeClr val="lt1"/>
                </a:solidFill>
                <a:latin typeface="+mn-lt"/>
                <a:ea typeface="+mn-ea"/>
                <a:cs typeface="+mn-cs"/>
              </a:defRPr>
            </a:lvl8pPr>
            <a:lvl9pPr marL="3657600" algn="l" rtl="0" eaLnBrk="1" latinLnBrk="0" hangingPunct="1">
              <a:defRPr kumimoji="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45062" name="Text Box 4"/>
          <p:cNvSpPr txBox="1"/>
          <p:nvPr/>
        </p:nvSpPr>
        <p:spPr>
          <a:xfrm>
            <a:off x="4926013" y="3303588"/>
            <a:ext cx="3729037" cy="2308225"/>
          </a:xfrm>
          <a:prstGeom prst="rect">
            <a:avLst/>
          </a:prstGeom>
          <a:noFill/>
          <a:ln w="9525">
            <a:noFill/>
          </a:ln>
        </p:spPr>
        <p:txBody>
          <a:bodyPr>
            <a:spAutoFit/>
          </a:bodyPr>
          <a:lstStyle/>
          <a:p>
            <a:pPr>
              <a:spcBef>
                <a:spcPct val="50000"/>
              </a:spcBef>
            </a:pPr>
            <a:r>
              <a:rPr lang="pt-BR" altLang="zh-CN" dirty="0">
                <a:solidFill>
                  <a:schemeClr val="bg2"/>
                </a:solidFill>
                <a:latin typeface="Consolas" panose="020B0609020204030204" pitchFamily="49" charset="0"/>
                <a:ea typeface="楷体" panose="02010609060101010101" pitchFamily="49" charset="-122"/>
              </a:rPr>
              <a:t>maxfun</a:t>
            </a:r>
            <a:r>
              <a:rPr lang="zh-CN" altLang="pt-BR" dirty="0">
                <a:solidFill>
                  <a:schemeClr val="bg2"/>
                </a:solidFill>
                <a:latin typeface="Consolas" panose="020B0609020204030204" pitchFamily="49" charset="0"/>
                <a:ea typeface="楷体" panose="02010609060101010101" pitchFamily="49" charset="-122"/>
              </a:rPr>
              <a:t>算法中为</a:t>
            </a:r>
            <a:r>
              <a:rPr lang="pt-BR" altLang="zh-CN" i="1" dirty="0">
                <a:solidFill>
                  <a:schemeClr val="bg2"/>
                </a:solidFill>
                <a:latin typeface="Consolas" panose="020B0609020204030204" pitchFamily="49" charset="0"/>
                <a:ea typeface="楷体" panose="02010609060101010101" pitchFamily="49" charset="-122"/>
              </a:rPr>
              <a:t>b</a:t>
            </a:r>
            <a:r>
              <a:rPr lang="zh-CN" altLang="pt-BR" dirty="0">
                <a:solidFill>
                  <a:schemeClr val="bg2"/>
                </a:solidFill>
                <a:latin typeface="Consolas" panose="020B0609020204030204" pitchFamily="49" charset="0"/>
                <a:ea typeface="楷体" panose="02010609060101010101" pitchFamily="49" charset="-122"/>
              </a:rPr>
              <a:t>数组分配了相应的内存空间，其空间复杂度为</a:t>
            </a:r>
            <a:r>
              <a:rPr lang="pt-BR" altLang="zh-CN" dirty="0">
                <a:solidFill>
                  <a:schemeClr val="bg2"/>
                </a:solidFill>
                <a:latin typeface="Consolas" panose="020B0609020204030204" pitchFamily="49" charset="0"/>
                <a:ea typeface="楷体" panose="02010609060101010101" pitchFamily="49" charset="-122"/>
              </a:rPr>
              <a:t>O(</a:t>
            </a:r>
            <a:r>
              <a:rPr lang="pt-BR" altLang="zh-CN" i="1" dirty="0">
                <a:solidFill>
                  <a:schemeClr val="bg2"/>
                </a:solidFill>
                <a:latin typeface="Consolas" panose="020B0609020204030204" pitchFamily="49" charset="0"/>
                <a:ea typeface="楷体" panose="02010609060101010101" pitchFamily="49" charset="-122"/>
              </a:rPr>
              <a:t>n</a:t>
            </a:r>
            <a:r>
              <a:rPr lang="pt-BR" altLang="zh-CN" dirty="0">
                <a:solidFill>
                  <a:schemeClr val="bg2"/>
                </a:solidFill>
                <a:latin typeface="Consolas" panose="020B0609020204030204" pitchFamily="49" charset="0"/>
                <a:ea typeface="楷体" panose="02010609060101010101" pitchFamily="49" charset="-122"/>
              </a:rPr>
              <a:t>)</a:t>
            </a:r>
            <a:r>
              <a:rPr lang="zh-CN" altLang="pt-BR" dirty="0">
                <a:solidFill>
                  <a:schemeClr val="bg2"/>
                </a:solidFill>
                <a:latin typeface="Consolas" panose="020B0609020204030204" pitchFamily="49" charset="0"/>
                <a:ea typeface="楷体" panose="02010609060101010101" pitchFamily="49" charset="-122"/>
              </a:rPr>
              <a:t>，如果在</a:t>
            </a:r>
            <a:r>
              <a:rPr lang="pt-BR" altLang="zh-CN" dirty="0">
                <a:solidFill>
                  <a:schemeClr val="bg2"/>
                </a:solidFill>
                <a:latin typeface="Consolas" panose="020B0609020204030204" pitchFamily="49" charset="0"/>
                <a:ea typeface="楷体" panose="02010609060101010101" pitchFamily="49" charset="-122"/>
              </a:rPr>
              <a:t>max</a:t>
            </a:r>
            <a:r>
              <a:rPr lang="zh-CN" altLang="pt-BR" dirty="0">
                <a:solidFill>
                  <a:schemeClr val="bg2"/>
                </a:solidFill>
                <a:latin typeface="Consolas" panose="020B0609020204030204" pitchFamily="49" charset="0"/>
                <a:ea typeface="楷体" panose="02010609060101010101" pitchFamily="49" charset="-122"/>
              </a:rPr>
              <a:t>算法中再考虑形参</a:t>
            </a:r>
            <a:r>
              <a:rPr lang="pt-BR" altLang="zh-CN" i="1" dirty="0">
                <a:solidFill>
                  <a:schemeClr val="bg2"/>
                </a:solidFill>
                <a:latin typeface="Consolas" panose="020B0609020204030204" pitchFamily="49" charset="0"/>
                <a:ea typeface="楷体" panose="02010609060101010101" pitchFamily="49" charset="-122"/>
              </a:rPr>
              <a:t>a</a:t>
            </a:r>
            <a:r>
              <a:rPr lang="zh-CN" altLang="pt-BR" dirty="0">
                <a:solidFill>
                  <a:schemeClr val="bg2"/>
                </a:solidFill>
                <a:latin typeface="Consolas" panose="020B0609020204030204" pitchFamily="49" charset="0"/>
                <a:ea typeface="楷体" panose="02010609060101010101" pitchFamily="49" charset="-122"/>
              </a:rPr>
              <a:t>的空间，这样重复计算了占用的空间。</a:t>
            </a:r>
            <a:endParaRPr lang="zh-CN" altLang="en-US" dirty="0">
              <a:solidFill>
                <a:schemeClr val="bg2"/>
              </a:solidFill>
              <a:latin typeface="Consolas" panose="020B0609020204030204" pitchFamily="49" charset="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4506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611188" y="476250"/>
            <a:ext cx="7772400" cy="638175"/>
          </a:xfrm>
        </p:spPr>
        <p:txBody>
          <a:bodyPr vert="horz" wrap="square" lIns="92075" tIns="46038" rIns="92075" bIns="46038" anchor="b"/>
          <a:lstStyle/>
          <a:p>
            <a:r>
              <a:rPr lang="zh-CN" altLang="en-US" sz="4000" dirty="0">
                <a:solidFill>
                  <a:schemeClr val="bg2"/>
                </a:solidFill>
              </a:rPr>
              <a:t>算法空间复杂度的分析</a:t>
            </a:r>
            <a:endParaRPr lang="zh-CN" altLang="en-US" sz="4000" dirty="0">
              <a:solidFill>
                <a:schemeClr val="bg2"/>
              </a:solidFill>
            </a:endParaRPr>
          </a:p>
        </p:txBody>
      </p:sp>
      <p:sp>
        <p:nvSpPr>
          <p:cNvPr id="645123" name="Rectangle 3"/>
          <p:cNvSpPr>
            <a:spLocks noGrp="1" noChangeArrowheads="1"/>
          </p:cNvSpPr>
          <p:nvPr>
            <p:ph idx="1"/>
          </p:nvPr>
        </p:nvSpPr>
        <p:spPr>
          <a:xfrm>
            <a:off x="179388" y="1773238"/>
            <a:ext cx="8713788" cy="935038"/>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rPr>
              <a:t>算法空间复杂度的分析方法与前面介绍的时间复杂度分析方法相似。</a:t>
            </a:r>
            <a:endParaRPr kumimoji="0" lang="zh-CN" altLang="en-US" sz="2400" b="0" i="0" u="none" strike="noStrike" kern="0" cap="none" spc="0" normalizeH="0" baseline="0" noProof="0" dirty="0" smtClean="0">
              <a:ln>
                <a:noFill/>
              </a:ln>
              <a:solidFill>
                <a:schemeClr val="bg2"/>
              </a:solidFill>
              <a:effectLst/>
              <a:uLnTx/>
              <a:uFillTx/>
              <a:latin typeface="+mn-ea"/>
              <a:ea typeface="+mn-ea"/>
              <a:cs typeface="Times New Roman" panose="02020603050405020304" pitchFamily="18" charset="0"/>
            </a:endParaRPr>
          </a:p>
        </p:txBody>
      </p:sp>
      <p:sp>
        <p:nvSpPr>
          <p:cNvPr id="45060" name="Text Box 3"/>
          <p:cNvSpPr txBox="1"/>
          <p:nvPr/>
        </p:nvSpPr>
        <p:spPr>
          <a:xfrm>
            <a:off x="431800" y="2781300"/>
            <a:ext cx="4932363" cy="531813"/>
          </a:xfrm>
          <a:prstGeom prst="rect">
            <a:avLst/>
          </a:prstGeom>
          <a:noFill/>
          <a:ln w="9525">
            <a:noFill/>
          </a:ln>
        </p:spPr>
        <p:txBody>
          <a:bodyPr>
            <a:spAutoFit/>
          </a:bodyPr>
          <a:lstStyle/>
          <a:p>
            <a:pPr>
              <a:lnSpc>
                <a:spcPct val="130000"/>
              </a:lnSpc>
            </a:pPr>
            <a:r>
              <a:rPr lang="en-US" altLang="zh-CN" sz="2200" dirty="0">
                <a:solidFill>
                  <a:srgbClr val="FF0000"/>
                </a:solidFill>
                <a:latin typeface="Consolas" panose="020B0609020204030204" pitchFamily="49" charset="0"/>
                <a:ea typeface="楷体" panose="02010609060101010101" pitchFamily="49" charset="-122"/>
              </a:rPr>
              <a:t>【</a:t>
            </a:r>
            <a:r>
              <a:rPr lang="zh-CN" altLang="en-US" sz="2200" dirty="0">
                <a:solidFill>
                  <a:srgbClr val="FF0000"/>
                </a:solidFill>
                <a:latin typeface="Consolas" panose="020B0609020204030204" pitchFamily="49" charset="0"/>
                <a:ea typeface="楷体" panose="02010609060101010101" pitchFamily="49" charset="-122"/>
              </a:rPr>
              <a:t>例</a:t>
            </a:r>
            <a:r>
              <a:rPr lang="en-US" altLang="zh-CN" sz="2200" dirty="0">
                <a:solidFill>
                  <a:srgbClr val="FF0000"/>
                </a:solidFill>
                <a:latin typeface="Consolas" panose="020B0609020204030204" pitchFamily="49" charset="0"/>
                <a:ea typeface="楷体" panose="02010609060101010101" pitchFamily="49" charset="-122"/>
              </a:rPr>
              <a:t>】</a:t>
            </a:r>
            <a:r>
              <a:rPr lang="zh-CN" altLang="en-US" sz="2200" dirty="0">
                <a:solidFill>
                  <a:srgbClr val="0000FF"/>
                </a:solidFill>
                <a:latin typeface="Consolas" panose="020B0609020204030204" pitchFamily="49" charset="0"/>
                <a:ea typeface="楷体" panose="02010609060101010101" pitchFamily="49" charset="-122"/>
              </a:rPr>
              <a:t>分析下面算法的空间复杂度。</a:t>
            </a:r>
            <a:r>
              <a:rPr lang="zh-CN" altLang="en-US" sz="2200" dirty="0">
                <a:latin typeface="Consolas" panose="020B0609020204030204" pitchFamily="49" charset="0"/>
                <a:ea typeface="楷体" panose="02010609060101010101" pitchFamily="49" charset="-122"/>
              </a:rPr>
              <a:t>　　</a:t>
            </a:r>
            <a:endParaRPr lang="zh-CN" altLang="en-US" sz="2200" dirty="0">
              <a:latin typeface="Consolas" panose="020B0609020204030204" pitchFamily="49" charset="0"/>
              <a:ea typeface="楷体" panose="02010609060101010101" pitchFamily="49" charset="-122"/>
            </a:endParaRPr>
          </a:p>
        </p:txBody>
      </p:sp>
      <p:sp>
        <p:nvSpPr>
          <p:cNvPr id="6" name="Text Box 3"/>
          <p:cNvSpPr txBox="1">
            <a:spLocks noChangeArrowheads="1"/>
          </p:cNvSpPr>
          <p:nvPr/>
        </p:nvSpPr>
        <p:spPr bwMode="auto">
          <a:xfrm>
            <a:off x="683568" y="3346621"/>
            <a:ext cx="3817936" cy="2944495"/>
          </a:xfrm>
          <a:prstGeom prst="rect">
            <a:avLst/>
          </a:prstGeom>
          <a:solidFill>
            <a:schemeClr val="accent4">
              <a:lumMod val="40000"/>
              <a:lumOff val="60000"/>
            </a:schemeClr>
          </a:solidFill>
          <a:ln w="9525">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180000" tIns="180000" bIns="180000">
            <a:spAutoFit/>
          </a:bodyPr>
          <a:lst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void </a:t>
            </a:r>
            <a:r>
              <a:rPr kumimoji="0" lang="en-US" altLang="zh-CN" b="0" i="0" u="none" strike="noStrike" kern="1200" cap="none" spc="0" normalizeH="0" baseline="0" noProof="0" err="1">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func</a:t>
            </a:r>
            <a:r>
              <a:rPr kumimoji="0" lang="en-US" altLang="zh-CN"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en-US" altLang="zh-CN" b="0" i="0" u="none" strike="noStrike" kern="1200" cap="none" spc="0" normalizeH="0" baseline="0" noProof="0" err="1">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int</a:t>
            </a:r>
            <a:r>
              <a:rPr kumimoji="0" lang="en-US" altLang="zh-CN"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 n)</a:t>
            </a:r>
            <a:endParaRPr kumimoji="0" lang="en-US" altLang="zh-CN"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b="0" i="0" u="none" strike="noStrike" kern="1200" cap="none" spc="0" normalizeH="0" baseline="0" noProof="0" smtClean="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a:t>
            </a:r>
            <a:r>
              <a:rPr kumimoji="0" lang="en-US" altLang="zh-CN" b="0" i="0" u="none" strike="noStrike" kern="1200" cap="none" spc="0" normalizeH="0" baseline="0" noProof="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en-US" altLang="zh-CN" b="0" i="0" u="none" strike="noStrike" kern="1200" cap="none" spc="0" normalizeH="0" baseline="0" noProof="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1,k</a:t>
            </a: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=100;</a:t>
            </a:r>
            <a:endPar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b="0" i="0" u="none" strike="noStrike" kern="1200" cap="none" spc="0" normalizeH="0" baseline="0" noProof="0" smtClean="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while </a:t>
            </a: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en-US" altLang="zh-CN" b="0" i="0" u="none" strike="noStrike" kern="1200" cap="none" spc="0" normalizeH="0" baseline="0" noProof="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&lt;=n)</a:t>
            </a:r>
            <a:endPar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b="0" i="0" u="none" strike="noStrike" kern="1200" cap="none" spc="0" normalizeH="0" baseline="0" noProof="0" smtClean="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k++;</a:t>
            </a:r>
            <a:endPar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b="0" i="0" u="none" strike="noStrike" kern="1200" cap="none" spc="0" normalizeH="0" baseline="0" noProof="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+=2;</a:t>
            </a:r>
            <a:endPar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b="0" i="0" u="none" strike="noStrike" kern="1200" cap="none" spc="0" normalizeH="0" baseline="0" noProof="0" smtClean="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en-US" altLang="zh-CN"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46085" name="Text Box 3"/>
          <p:cNvSpPr txBox="1"/>
          <p:nvPr/>
        </p:nvSpPr>
        <p:spPr>
          <a:xfrm>
            <a:off x="5029200" y="3158808"/>
            <a:ext cx="3455988" cy="2968625"/>
          </a:xfrm>
          <a:prstGeom prst="rect">
            <a:avLst/>
          </a:prstGeom>
          <a:solidFill>
            <a:schemeClr val="tx1"/>
          </a:solidFill>
          <a:ln w="9525">
            <a:noFill/>
          </a:ln>
        </p:spPr>
        <p:txBody>
          <a:bodyPr>
            <a:spAutoFit/>
          </a:bodyPr>
          <a:lstStyle/>
          <a:p>
            <a:pPr>
              <a:lnSpc>
                <a:spcPct val="130000"/>
              </a:lnSpc>
            </a:pPr>
            <a:r>
              <a:rPr lang="zh-CN" altLang="en-US" dirty="0">
                <a:latin typeface="Consolas" panose="020B0609020204030204" pitchFamily="49" charset="0"/>
                <a:ea typeface="楷体" panose="02010609060101010101" pitchFamily="49" charset="-122"/>
              </a:rPr>
              <a:t>　　</a:t>
            </a:r>
            <a:r>
              <a:rPr lang="zh-CN" altLang="en-US" dirty="0">
                <a:solidFill>
                  <a:srgbClr val="FF0000"/>
                </a:solidFill>
                <a:latin typeface="Consolas" panose="020B0609020204030204" pitchFamily="49" charset="0"/>
                <a:ea typeface="楷体" panose="02010609060101010101" pitchFamily="49" charset="-122"/>
              </a:rPr>
              <a:t>解：</a:t>
            </a:r>
            <a:r>
              <a:rPr lang="zh-CN" altLang="en-US" dirty="0">
                <a:solidFill>
                  <a:srgbClr val="0000FF"/>
                </a:solidFill>
                <a:latin typeface="Consolas" panose="020B0609020204030204" pitchFamily="49" charset="0"/>
                <a:ea typeface="楷体" panose="02010609060101010101" pitchFamily="49" charset="-122"/>
              </a:rPr>
              <a:t>该算法是一个非递归算法，其中只临时分配了</a:t>
            </a:r>
            <a:r>
              <a:rPr lang="en-US" altLang="zh-CN" i="1" dirty="0">
                <a:solidFill>
                  <a:srgbClr val="0000FF"/>
                </a:solidFill>
                <a:latin typeface="Consolas" panose="020B0609020204030204" pitchFamily="49" charset="0"/>
                <a:ea typeface="楷体" panose="02010609060101010101" pitchFamily="49" charset="-122"/>
              </a:rPr>
              <a:t>i</a:t>
            </a:r>
            <a:r>
              <a:rPr lang="zh-CN" altLang="en-US" dirty="0">
                <a:solidFill>
                  <a:srgbClr val="0000FF"/>
                </a:solidFill>
                <a:latin typeface="Consolas" panose="020B0609020204030204" pitchFamily="49" charset="0"/>
                <a:ea typeface="楷体" panose="02010609060101010101" pitchFamily="49" charset="-122"/>
              </a:rPr>
              <a:t>、</a:t>
            </a:r>
            <a:r>
              <a:rPr lang="en-US" altLang="zh-CN" i="1" dirty="0">
                <a:solidFill>
                  <a:srgbClr val="0000FF"/>
                </a:solidFill>
                <a:latin typeface="Consolas" panose="020B0609020204030204" pitchFamily="49" charset="0"/>
                <a:ea typeface="楷体" panose="02010609060101010101" pitchFamily="49" charset="-122"/>
              </a:rPr>
              <a:t>k</a:t>
            </a:r>
            <a:r>
              <a:rPr lang="zh-CN" altLang="en-US" dirty="0">
                <a:solidFill>
                  <a:srgbClr val="0000FF"/>
                </a:solidFill>
                <a:latin typeface="Consolas" panose="020B0609020204030204" pitchFamily="49" charset="0"/>
                <a:ea typeface="楷体" panose="02010609060101010101" pitchFamily="49" charset="-122"/>
              </a:rPr>
              <a:t>两个变量的空间，它与问题规模</a:t>
            </a:r>
            <a:r>
              <a:rPr lang="en-US" altLang="zh-CN" i="1" dirty="0">
                <a:solidFill>
                  <a:srgbClr val="0000FF"/>
                </a:solidFill>
                <a:latin typeface="Consolas" panose="020B0609020204030204" pitchFamily="49" charset="0"/>
                <a:ea typeface="楷体" panose="02010609060101010101" pitchFamily="49" charset="-122"/>
              </a:rPr>
              <a:t>n</a:t>
            </a:r>
            <a:r>
              <a:rPr lang="zh-CN" altLang="en-US" dirty="0">
                <a:solidFill>
                  <a:srgbClr val="0000FF"/>
                </a:solidFill>
                <a:latin typeface="Consolas" panose="020B0609020204030204" pitchFamily="49" charset="0"/>
                <a:ea typeface="楷体" panose="02010609060101010101" pitchFamily="49" charset="-122"/>
              </a:rPr>
              <a:t>无关，所以其空间复杂度均为</a:t>
            </a:r>
            <a:r>
              <a:rPr lang="en-US" altLang="zh-CN" dirty="0">
                <a:solidFill>
                  <a:srgbClr val="FF0000"/>
                </a:solidFill>
                <a:latin typeface="Consolas" panose="020B0609020204030204" pitchFamily="49" charset="0"/>
                <a:ea typeface="楷体" panose="02010609060101010101" pitchFamily="49" charset="-122"/>
              </a:rPr>
              <a:t>O(1)</a:t>
            </a:r>
            <a:r>
              <a:rPr lang="zh-CN" altLang="en-US" dirty="0">
                <a:solidFill>
                  <a:srgbClr val="0000FF"/>
                </a:solidFill>
                <a:latin typeface="Consolas" panose="020B0609020204030204" pitchFamily="49" charset="0"/>
                <a:ea typeface="楷体" panose="02010609060101010101" pitchFamily="49" charset="-122"/>
              </a:rPr>
              <a:t> 。</a:t>
            </a:r>
            <a:endParaRPr lang="zh-CN" altLang="en-US" dirty="0">
              <a:solidFill>
                <a:srgbClr val="0000FF"/>
              </a:solidFill>
              <a:latin typeface="Consolas" panose="020B0609020204030204" pitchFamily="49" charset="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611188" y="476250"/>
            <a:ext cx="7772400" cy="638175"/>
          </a:xfrm>
        </p:spPr>
        <p:txBody>
          <a:bodyPr vert="horz" wrap="square" lIns="92075" tIns="46038" rIns="92075" bIns="46038" anchor="b"/>
          <a:lstStyle/>
          <a:p>
            <a:r>
              <a:rPr lang="zh-CN" altLang="en-US" sz="4000" dirty="0">
                <a:solidFill>
                  <a:schemeClr val="bg2"/>
                </a:solidFill>
              </a:rPr>
              <a:t>算法空间复杂度的分析</a:t>
            </a:r>
            <a:endParaRPr lang="zh-CN" altLang="en-US" sz="4000" dirty="0">
              <a:solidFill>
                <a:schemeClr val="bg2"/>
              </a:solidFill>
            </a:endParaRPr>
          </a:p>
        </p:txBody>
      </p:sp>
      <p:sp>
        <p:nvSpPr>
          <p:cNvPr id="46083" name="Text Box 2"/>
          <p:cNvSpPr txBox="1"/>
          <p:nvPr/>
        </p:nvSpPr>
        <p:spPr>
          <a:xfrm>
            <a:off x="447675" y="1325563"/>
            <a:ext cx="8280400" cy="1198880"/>
          </a:xfrm>
          <a:prstGeom prst="rect">
            <a:avLst/>
          </a:prstGeom>
          <a:solidFill>
            <a:srgbClr val="DDDDDD"/>
          </a:solidFill>
          <a:ln w="9525">
            <a:noFill/>
          </a:ln>
        </p:spPr>
        <p:txBody>
          <a:bodyPr>
            <a:spAutoFit/>
          </a:bodyPr>
          <a:lstStyle/>
          <a:p>
            <a:pPr>
              <a:lnSpc>
                <a:spcPct val="150000"/>
              </a:lnSpc>
            </a:pPr>
            <a:r>
              <a:rPr lang="en-US" altLang="zh-CN" dirty="0">
                <a:solidFill>
                  <a:srgbClr val="FF0000"/>
                </a:solidFill>
                <a:latin typeface="Consolas" panose="020B0609020204030204" pitchFamily="49" charset="0"/>
                <a:ea typeface="楷体" panose="02010609060101010101" pitchFamily="49" charset="-122"/>
              </a:rPr>
              <a:t>【</a:t>
            </a:r>
            <a:r>
              <a:rPr lang="zh-CN" altLang="en-US" dirty="0">
                <a:solidFill>
                  <a:srgbClr val="FF0000"/>
                </a:solidFill>
                <a:latin typeface="Consolas" panose="020B0609020204030204" pitchFamily="49" charset="0"/>
                <a:ea typeface="楷体" panose="02010609060101010101" pitchFamily="49" charset="-122"/>
              </a:rPr>
              <a:t>例</a:t>
            </a:r>
            <a:r>
              <a:rPr lang="en-US" altLang="zh-CN" dirty="0">
                <a:solidFill>
                  <a:srgbClr val="FF0000"/>
                </a:solidFill>
                <a:latin typeface="Consolas" panose="020B0609020204030204" pitchFamily="49" charset="0"/>
                <a:ea typeface="楷体" panose="02010609060101010101" pitchFamily="49" charset="-122"/>
              </a:rPr>
              <a:t>】</a:t>
            </a:r>
            <a:r>
              <a:rPr lang="zh-CN" altLang="en-US" dirty="0">
                <a:solidFill>
                  <a:srgbClr val="0000FF"/>
                </a:solidFill>
                <a:latin typeface="Consolas" panose="020B0609020204030204" pitchFamily="49" charset="0"/>
                <a:ea typeface="楷体" panose="02010609060101010101" pitchFamily="49" charset="-122"/>
              </a:rPr>
              <a:t>有如下递归算法，分析调用</a:t>
            </a:r>
            <a:r>
              <a:rPr lang="en-US" altLang="zh-CN" dirty="0">
                <a:solidFill>
                  <a:srgbClr val="9900FF"/>
                </a:solidFill>
                <a:latin typeface="Consolas" panose="020B0609020204030204" pitchFamily="49" charset="0"/>
                <a:ea typeface="楷体" panose="02010609060101010101" pitchFamily="49" charset="-122"/>
              </a:rPr>
              <a:t>maxelem(</a:t>
            </a:r>
            <a:r>
              <a:rPr lang="en-US" altLang="zh-CN" i="1" dirty="0">
                <a:solidFill>
                  <a:srgbClr val="9900FF"/>
                </a:solidFill>
                <a:latin typeface="Consolas" panose="020B0609020204030204" pitchFamily="49" charset="0"/>
                <a:ea typeface="楷体" panose="02010609060101010101" pitchFamily="49" charset="-122"/>
              </a:rPr>
              <a:t>a,</a:t>
            </a:r>
            <a:r>
              <a:rPr lang="en-US" altLang="zh-CN" dirty="0">
                <a:solidFill>
                  <a:srgbClr val="9900FF"/>
                </a:solidFill>
                <a:latin typeface="Consolas" panose="020B0609020204030204" pitchFamily="49" charset="0"/>
                <a:ea typeface="楷体" panose="02010609060101010101" pitchFamily="49" charset="-122"/>
              </a:rPr>
              <a:t>0,</a:t>
            </a:r>
            <a:r>
              <a:rPr lang="en-US" altLang="zh-CN" i="1" dirty="0">
                <a:solidFill>
                  <a:srgbClr val="9900FF"/>
                </a:solidFill>
                <a:latin typeface="Consolas" panose="020B0609020204030204" pitchFamily="49" charset="0"/>
                <a:ea typeface="楷体" panose="02010609060101010101" pitchFamily="49" charset="-122"/>
              </a:rPr>
              <a:t>n</a:t>
            </a:r>
            <a:r>
              <a:rPr lang="en-US" altLang="zh-CN" dirty="0">
                <a:solidFill>
                  <a:srgbClr val="9900FF"/>
                </a:solidFill>
                <a:latin typeface="Consolas" panose="020B0609020204030204" pitchFamily="49" charset="0"/>
                <a:ea typeface="楷体" panose="02010609060101010101" pitchFamily="49" charset="-122"/>
              </a:rPr>
              <a:t>-1)</a:t>
            </a:r>
            <a:endParaRPr lang="en-US" altLang="zh-CN" dirty="0">
              <a:solidFill>
                <a:srgbClr val="9900FF"/>
              </a:solidFill>
              <a:latin typeface="Consolas" panose="020B0609020204030204" pitchFamily="49" charset="0"/>
              <a:ea typeface="楷体" panose="02010609060101010101" pitchFamily="49" charset="-122"/>
            </a:endParaRPr>
          </a:p>
          <a:p>
            <a:pPr>
              <a:lnSpc>
                <a:spcPct val="150000"/>
              </a:lnSpc>
            </a:pPr>
            <a:r>
              <a:rPr lang="zh-CN" altLang="en-US" dirty="0">
                <a:solidFill>
                  <a:srgbClr val="0000FF"/>
                </a:solidFill>
                <a:latin typeface="Consolas" panose="020B0609020204030204" pitchFamily="49" charset="0"/>
                <a:ea typeface="楷体" panose="02010609060101010101" pitchFamily="49" charset="-122"/>
              </a:rPr>
              <a:t>的空间复杂度。</a:t>
            </a:r>
            <a:endParaRPr lang="zh-CN" altLang="en-US" dirty="0">
              <a:solidFill>
                <a:srgbClr val="0000FF"/>
              </a:solidFill>
              <a:latin typeface="Consolas" panose="020B0609020204030204" pitchFamily="49" charset="0"/>
              <a:ea typeface="楷体" panose="02010609060101010101" pitchFamily="49" charset="-122"/>
            </a:endParaRPr>
          </a:p>
        </p:txBody>
      </p:sp>
      <p:sp>
        <p:nvSpPr>
          <p:cNvPr id="9" name="TextBox 3"/>
          <p:cNvSpPr txBox="1"/>
          <p:nvPr/>
        </p:nvSpPr>
        <p:spPr>
          <a:xfrm>
            <a:off x="1619885" y="2637155"/>
            <a:ext cx="6276975" cy="340614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a:spAutoFit/>
          </a:bodyPr>
          <a:lstStyle>
            <a:lvl1pPr marL="0" algn="l" rtl="0" eaLnBrk="1" latinLnBrk="0" hangingPunct="1">
              <a:defRPr kumimoji="0" kern="1200">
                <a:solidFill>
                  <a:schemeClr val="dk1"/>
                </a:solidFill>
                <a:latin typeface="+mn-lt"/>
                <a:ea typeface="+mn-ea"/>
                <a:cs typeface="+mn-cs"/>
              </a:defRPr>
            </a:lvl1pPr>
            <a:lvl2pPr marL="457200" algn="l" rtl="0" eaLnBrk="1" latinLnBrk="0" hangingPunct="1">
              <a:defRPr kumimoji="0" kern="1200">
                <a:solidFill>
                  <a:schemeClr val="dk1"/>
                </a:solidFill>
                <a:latin typeface="+mn-lt"/>
                <a:ea typeface="+mn-ea"/>
                <a:cs typeface="+mn-cs"/>
              </a:defRPr>
            </a:lvl2pPr>
            <a:lvl3pPr marL="914400" algn="l" rtl="0" eaLnBrk="1" latinLnBrk="0" hangingPunct="1">
              <a:defRPr kumimoji="0" kern="1200">
                <a:solidFill>
                  <a:schemeClr val="dk1"/>
                </a:solidFill>
                <a:latin typeface="+mn-lt"/>
                <a:ea typeface="+mn-ea"/>
                <a:cs typeface="+mn-cs"/>
              </a:defRPr>
            </a:lvl3pPr>
            <a:lvl4pPr marL="1371600" algn="l" rtl="0" eaLnBrk="1" latinLnBrk="0" hangingPunct="1">
              <a:defRPr kumimoji="0" kern="1200">
                <a:solidFill>
                  <a:schemeClr val="dk1"/>
                </a:solidFill>
                <a:latin typeface="+mn-lt"/>
                <a:ea typeface="+mn-ea"/>
                <a:cs typeface="+mn-cs"/>
              </a:defRPr>
            </a:lvl4pPr>
            <a:lvl5pPr marL="1828800" algn="l" rtl="0" eaLnBrk="1" latinLnBrk="0" hangingPunct="1">
              <a:defRPr kumimoji="0" kern="1200">
                <a:solidFill>
                  <a:schemeClr val="dk1"/>
                </a:solidFill>
                <a:latin typeface="+mn-lt"/>
                <a:ea typeface="+mn-ea"/>
                <a:cs typeface="+mn-cs"/>
              </a:defRPr>
            </a:lvl5pPr>
            <a:lvl6pPr marL="2286000" algn="l" rtl="0" eaLnBrk="1" latinLnBrk="0" hangingPunct="1">
              <a:defRPr kumimoji="0" kern="1200">
                <a:solidFill>
                  <a:schemeClr val="dk1"/>
                </a:solidFill>
                <a:latin typeface="+mn-lt"/>
                <a:ea typeface="+mn-ea"/>
                <a:cs typeface="+mn-cs"/>
              </a:defRPr>
            </a:lvl6pPr>
            <a:lvl7pPr marL="2743200" algn="l" rtl="0" eaLnBrk="1" latinLnBrk="0" hangingPunct="1">
              <a:defRPr kumimoji="0" kern="1200">
                <a:solidFill>
                  <a:schemeClr val="dk1"/>
                </a:solidFill>
                <a:latin typeface="+mn-lt"/>
                <a:ea typeface="+mn-ea"/>
                <a:cs typeface="+mn-cs"/>
              </a:defRPr>
            </a:lvl7pPr>
            <a:lvl8pPr marL="3200400" algn="l" rtl="0" eaLnBrk="1" latinLnBrk="0" hangingPunct="1">
              <a:defRPr kumimoji="0" kern="1200">
                <a:solidFill>
                  <a:schemeClr val="dk1"/>
                </a:solidFill>
                <a:latin typeface="+mn-lt"/>
                <a:ea typeface="+mn-ea"/>
                <a:cs typeface="+mn-cs"/>
              </a:defRPr>
            </a:lvl8pPr>
            <a:lvl9pPr marL="3657600" algn="l" rtl="0" eaLnBrk="1" latinLnBrk="0" hangingPunct="1">
              <a:defRPr kumimoji="0" kern="1200">
                <a:solidFill>
                  <a:schemeClr val="dk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int</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dirty="0" err="1" smtClean="0">
                <a:ln>
                  <a:noFill/>
                </a:ln>
                <a:solidFill>
                  <a:srgbClr val="FF0000"/>
                </a:solidFill>
                <a:effectLst/>
                <a:uLnTx/>
                <a:uFillTx/>
                <a:latin typeface="Consolas" panose="020B0609020204030204" pitchFamily="49" charset="0"/>
                <a:ea typeface="+mn-ea"/>
                <a:cs typeface="Consolas" panose="020B0609020204030204" pitchFamily="49" charset="0"/>
              </a:rPr>
              <a:t>maxelem</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int</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a:t>
            </a:r>
            <a:r>
              <a:rPr kumimoji="0" lang="en-US" sz="22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int</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i,int</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j)</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t>
            </a:r>
            <a:r>
              <a:rPr kumimoji="0" lang="en-US" sz="22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int</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mid=(</a:t>
            </a:r>
            <a:r>
              <a:rPr kumimoji="0" lang="en-US" sz="22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i+j</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)/2,max1,max2;</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if (i&lt;j)</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	max1=</a:t>
            </a:r>
            <a:r>
              <a:rPr kumimoji="0" lang="en-US" sz="2200" b="0" i="0" u="none" strike="noStrike" kern="1200" cap="none" spc="0" normalizeH="0" baseline="0" noProof="0" dirty="0" err="1" smtClean="0">
                <a:ln>
                  <a:noFill/>
                </a:ln>
                <a:solidFill>
                  <a:srgbClr val="FF0000"/>
                </a:solidFill>
                <a:effectLst/>
                <a:uLnTx/>
                <a:uFillTx/>
                <a:latin typeface="Consolas" panose="020B0609020204030204" pitchFamily="49" charset="0"/>
                <a:ea typeface="+mn-ea"/>
                <a:cs typeface="Consolas" panose="020B0609020204030204" pitchFamily="49" charset="0"/>
              </a:rPr>
              <a:t>maxelem</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a:t>
            </a:r>
            <a:r>
              <a:rPr kumimoji="0" lang="en-US" sz="2200" b="0" i="0" u="none" strike="noStrike" kern="1200" cap="none" spc="0" normalizeH="0" baseline="0" noProof="0" dirty="0" err="1" smtClean="0">
                <a:ln>
                  <a:noFill/>
                </a:ln>
                <a:solidFill>
                  <a:srgbClr val="0000FF"/>
                </a:solidFill>
                <a:effectLst/>
                <a:uLnTx/>
                <a:uFillTx/>
                <a:latin typeface="Consolas" panose="020B0609020204030204" pitchFamily="49" charset="0"/>
                <a:ea typeface="+mn-ea"/>
                <a:cs typeface="Consolas" panose="020B0609020204030204" pitchFamily="49" charset="0"/>
              </a:rPr>
              <a:t>a,i,mid</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max2=</a:t>
            </a:r>
            <a:r>
              <a:rPr kumimoji="0" lang="en-US" sz="2200" b="0" i="0" u="none" strike="noStrike" kern="1200" cap="none" spc="0" normalizeH="0" baseline="0" noProof="0" dirty="0" err="1" smtClean="0">
                <a:ln>
                  <a:noFill/>
                </a:ln>
                <a:solidFill>
                  <a:srgbClr val="FF0000"/>
                </a:solidFill>
                <a:effectLst/>
                <a:uLnTx/>
                <a:uFillTx/>
                <a:latin typeface="Consolas" panose="020B0609020204030204" pitchFamily="49" charset="0"/>
                <a:ea typeface="+mn-ea"/>
                <a:cs typeface="Consolas" panose="020B0609020204030204" pitchFamily="49" charset="0"/>
              </a:rPr>
              <a:t>maxelem</a:t>
            </a: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(a,mid+1,j);</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return (max1&gt;max2)?max1:max2;</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    else return a[i];</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rPr>
              <a:t>}</a:t>
            </a:r>
            <a:endParaRPr kumimoji="0" lang="zh-CN" altLang="en-US" sz="2200" b="0" i="0" u="none" strike="noStrike" kern="1200" cap="none" spc="0" normalizeH="0" baseline="0" noProof="0" dirty="0" smtClean="0">
              <a:ln>
                <a:noFill/>
              </a:ln>
              <a:solidFill>
                <a:srgbClr val="0000FF"/>
              </a:solidFill>
              <a:effectLst/>
              <a:uLnTx/>
              <a:uFillTx/>
              <a:latin typeface="Consolas" panose="020B0609020204030204" pitchFamily="49" charset="0"/>
              <a:ea typeface="+mn-ea"/>
              <a:cs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extBox 1"/>
          <p:cNvSpPr txBox="1"/>
          <p:nvPr/>
        </p:nvSpPr>
        <p:spPr>
          <a:xfrm>
            <a:off x="142875" y="142875"/>
            <a:ext cx="4643438" cy="2400300"/>
          </a:xfrm>
          <a:prstGeom prst="rect">
            <a:avLst/>
          </a:prstGeom>
          <a:solidFill>
            <a:srgbClr val="FFEBD6"/>
          </a:solidFill>
          <a:ln w="9525">
            <a:noFill/>
          </a:ln>
        </p:spPr>
        <p:txBody>
          <a:bodyPr>
            <a:spAutoFit/>
          </a:bodyPr>
          <a:lstStyle/>
          <a:p>
            <a:pPr>
              <a:lnSpc>
                <a:spcPct val="150000"/>
              </a:lnSpc>
            </a:pPr>
            <a:r>
              <a:rPr lang="zh-CN" altLang="en-US" sz="2000" dirty="0">
                <a:solidFill>
                  <a:srgbClr val="FF0000"/>
                </a:solidFill>
                <a:latin typeface="Consolas" panose="020B0609020204030204" pitchFamily="49" charset="0"/>
                <a:ea typeface="楷体" panose="02010609060101010101" pitchFamily="49" charset="-122"/>
              </a:rPr>
              <a:t>   解：</a:t>
            </a:r>
            <a:r>
              <a:rPr lang="zh-CN" altLang="en-US" sz="2000" dirty="0">
                <a:solidFill>
                  <a:srgbClr val="0000FF"/>
                </a:solidFill>
                <a:latin typeface="Consolas" panose="020B0609020204030204" pitchFamily="49" charset="0"/>
                <a:ea typeface="楷体" panose="02010609060101010101" pitchFamily="49" charset="-122"/>
              </a:rPr>
              <a:t>执行该递归算法需要多次调用自身，每次调用只临时分配</a:t>
            </a:r>
            <a:r>
              <a:rPr lang="en-US" altLang="zh-CN" sz="2000" dirty="0">
                <a:solidFill>
                  <a:srgbClr val="0000FF"/>
                </a:solidFill>
                <a:latin typeface="Consolas" panose="020B0609020204030204" pitchFamily="49" charset="0"/>
                <a:ea typeface="楷体" panose="02010609060101010101" pitchFamily="49" charset="-122"/>
              </a:rPr>
              <a:t>3</a:t>
            </a:r>
            <a:r>
              <a:rPr lang="zh-CN" altLang="en-US" sz="2000" dirty="0">
                <a:solidFill>
                  <a:srgbClr val="0000FF"/>
                </a:solidFill>
                <a:latin typeface="Consolas" panose="020B0609020204030204" pitchFamily="49" charset="0"/>
                <a:ea typeface="楷体" panose="02010609060101010101" pitchFamily="49" charset="-122"/>
              </a:rPr>
              <a:t>个整型变量的空间（</a:t>
            </a:r>
            <a:r>
              <a:rPr lang="en-US" altLang="zh-CN" sz="2000" dirty="0">
                <a:solidFill>
                  <a:srgbClr val="0000FF"/>
                </a:solidFill>
                <a:latin typeface="Consolas" panose="020B0609020204030204" pitchFamily="49" charset="0"/>
                <a:ea typeface="楷体" panose="02010609060101010101" pitchFamily="49" charset="-122"/>
              </a:rPr>
              <a:t>O(1)</a:t>
            </a:r>
            <a:r>
              <a:rPr lang="zh-CN" altLang="en-US" sz="2000" dirty="0">
                <a:solidFill>
                  <a:srgbClr val="0000FF"/>
                </a:solidFill>
                <a:latin typeface="Consolas" panose="020B0609020204030204" pitchFamily="49" charset="0"/>
                <a:ea typeface="楷体" panose="02010609060101010101" pitchFamily="49" charset="-122"/>
              </a:rPr>
              <a:t>）。</a:t>
            </a:r>
            <a:endParaRPr lang="en-US" altLang="zh-CN" sz="2000" dirty="0">
              <a:solidFill>
                <a:srgbClr val="0000FF"/>
              </a:solidFill>
              <a:latin typeface="Consolas" panose="020B0609020204030204" pitchFamily="49" charset="0"/>
              <a:ea typeface="楷体" panose="02010609060101010101" pitchFamily="49" charset="-122"/>
            </a:endParaRPr>
          </a:p>
          <a:p>
            <a:pPr>
              <a:lnSpc>
                <a:spcPct val="150000"/>
              </a:lnSpc>
            </a:pPr>
            <a:r>
              <a:rPr lang="zh-CN" altLang="en-US" sz="2000" dirty="0">
                <a:latin typeface="Consolas" panose="020B0609020204030204" pitchFamily="49" charset="0"/>
                <a:ea typeface="楷体" panose="02010609060101010101" pitchFamily="49" charset="-122"/>
              </a:rPr>
              <a:t>   </a:t>
            </a:r>
            <a:r>
              <a:rPr lang="zh-CN" altLang="en-US" sz="2000" dirty="0">
                <a:solidFill>
                  <a:srgbClr val="0000FF"/>
                </a:solidFill>
                <a:latin typeface="Consolas" panose="020B0609020204030204" pitchFamily="49" charset="0"/>
                <a:ea typeface="楷体" panose="02010609060101010101" pitchFamily="49" charset="-122"/>
              </a:rPr>
              <a:t>设调用</a:t>
            </a:r>
            <a:r>
              <a:rPr lang="en-US" altLang="zh-CN" sz="2000" dirty="0">
                <a:solidFill>
                  <a:srgbClr val="9900FF"/>
                </a:solidFill>
                <a:latin typeface="Consolas" panose="020B0609020204030204" pitchFamily="49" charset="0"/>
                <a:ea typeface="楷体" panose="02010609060101010101" pitchFamily="49" charset="-122"/>
              </a:rPr>
              <a:t>maxelem(</a:t>
            </a:r>
            <a:r>
              <a:rPr lang="en-US" altLang="zh-CN" sz="2000" i="1" dirty="0">
                <a:solidFill>
                  <a:srgbClr val="9900FF"/>
                </a:solidFill>
                <a:latin typeface="Consolas" panose="020B0609020204030204" pitchFamily="49" charset="0"/>
                <a:ea typeface="楷体" panose="02010609060101010101" pitchFamily="49" charset="-122"/>
              </a:rPr>
              <a:t>a</a:t>
            </a:r>
            <a:r>
              <a:rPr lang="zh-CN" altLang="en-US" sz="2000" dirty="0">
                <a:solidFill>
                  <a:srgbClr val="9900FF"/>
                </a:solidFill>
                <a:latin typeface="Consolas" panose="020B0609020204030204" pitchFamily="49" charset="0"/>
                <a:ea typeface="楷体" panose="02010609060101010101" pitchFamily="49" charset="-122"/>
              </a:rPr>
              <a:t>，</a:t>
            </a:r>
            <a:r>
              <a:rPr lang="en-US" altLang="zh-CN" sz="2000" dirty="0">
                <a:solidFill>
                  <a:srgbClr val="9900FF"/>
                </a:solidFill>
                <a:latin typeface="Consolas" panose="020B0609020204030204" pitchFamily="49" charset="0"/>
                <a:ea typeface="楷体" panose="02010609060101010101" pitchFamily="49" charset="-122"/>
              </a:rPr>
              <a:t>0</a:t>
            </a:r>
            <a:r>
              <a:rPr lang="zh-CN" altLang="en-US" sz="2000" dirty="0">
                <a:solidFill>
                  <a:srgbClr val="9900FF"/>
                </a:solidFill>
                <a:latin typeface="Consolas" panose="020B0609020204030204" pitchFamily="49" charset="0"/>
                <a:ea typeface="楷体" panose="02010609060101010101" pitchFamily="49" charset="-122"/>
              </a:rPr>
              <a:t>，</a:t>
            </a:r>
            <a:r>
              <a:rPr lang="en-US" altLang="zh-CN" sz="2000" i="1" dirty="0">
                <a:solidFill>
                  <a:srgbClr val="9900FF"/>
                </a:solidFill>
                <a:latin typeface="Consolas" panose="020B0609020204030204" pitchFamily="49" charset="0"/>
                <a:ea typeface="楷体" panose="02010609060101010101" pitchFamily="49" charset="-122"/>
              </a:rPr>
              <a:t>n</a:t>
            </a:r>
            <a:r>
              <a:rPr lang="en-US" altLang="zh-CN" sz="2000" dirty="0">
                <a:solidFill>
                  <a:srgbClr val="9900FF"/>
                </a:solidFill>
                <a:latin typeface="Consolas" panose="020B0609020204030204" pitchFamily="49" charset="0"/>
                <a:ea typeface="楷体" panose="02010609060101010101" pitchFamily="49" charset="-122"/>
              </a:rPr>
              <a:t>-1)</a:t>
            </a:r>
            <a:r>
              <a:rPr lang="zh-CN" altLang="en-US" sz="2000" dirty="0">
                <a:solidFill>
                  <a:srgbClr val="0000FF"/>
                </a:solidFill>
                <a:latin typeface="Consolas" panose="020B0609020204030204" pitchFamily="49" charset="0"/>
                <a:ea typeface="楷体" panose="02010609060101010101" pitchFamily="49" charset="-122"/>
              </a:rPr>
              <a:t>的空间为</a:t>
            </a:r>
            <a:r>
              <a:rPr lang="en-US" altLang="zh-CN" sz="2000" i="1" dirty="0">
                <a:solidFill>
                  <a:srgbClr val="0000FF"/>
                </a:solidFill>
                <a:latin typeface="Consolas" panose="020B0609020204030204" pitchFamily="49" charset="0"/>
                <a:ea typeface="楷体" panose="02010609060101010101" pitchFamily="49" charset="-122"/>
              </a:rPr>
              <a:t>S</a:t>
            </a:r>
            <a:r>
              <a:rPr lang="en-US" altLang="zh-CN" sz="2000" dirty="0">
                <a:solidFill>
                  <a:srgbClr val="0000FF"/>
                </a:solidFill>
                <a:latin typeface="Consolas" panose="020B0609020204030204" pitchFamily="49" charset="0"/>
                <a:ea typeface="楷体" panose="02010609060101010101" pitchFamily="49" charset="-122"/>
              </a:rPr>
              <a:t>(</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a:t>
            </a:r>
            <a:r>
              <a:rPr lang="zh-CN" altLang="en-US" sz="2000" dirty="0">
                <a:solidFill>
                  <a:srgbClr val="0000FF"/>
                </a:solidFill>
                <a:latin typeface="Consolas" panose="020B0609020204030204" pitchFamily="49" charset="0"/>
                <a:ea typeface="楷体" panose="02010609060101010101" pitchFamily="49" charset="-122"/>
              </a:rPr>
              <a:t>，有</a:t>
            </a:r>
            <a:r>
              <a:rPr lang="zh-CN" altLang="en-US" sz="2000" dirty="0">
                <a:latin typeface="Consolas" panose="020B0609020204030204" pitchFamily="49" charset="0"/>
                <a:ea typeface="楷体" panose="02010609060101010101" pitchFamily="49" charset="-122"/>
              </a:rPr>
              <a:t>：</a:t>
            </a:r>
            <a:endParaRPr lang="zh-CN" altLang="en-US" sz="2000" dirty="0">
              <a:latin typeface="Consolas" panose="020B0609020204030204" pitchFamily="49" charset="0"/>
              <a:ea typeface="楷体" panose="02010609060101010101" pitchFamily="49" charset="-122"/>
            </a:endParaRPr>
          </a:p>
        </p:txBody>
      </p:sp>
      <p:sp>
        <p:nvSpPr>
          <p:cNvPr id="4" name="TextBox 3"/>
          <p:cNvSpPr txBox="1"/>
          <p:nvPr/>
        </p:nvSpPr>
        <p:spPr>
          <a:xfrm>
            <a:off x="500063" y="2649538"/>
            <a:ext cx="5429250" cy="844550"/>
          </a:xfrm>
          <a:prstGeom prst="rect">
            <a:avLst/>
          </a:prstGeom>
        </p:spPr>
        <p:style>
          <a:lnRef idx="2">
            <a:schemeClr val="accent2"/>
          </a:lnRef>
          <a:fillRef idx="1">
            <a:schemeClr val="lt1"/>
          </a:fillRef>
          <a:effectRef idx="0">
            <a:schemeClr val="accent2"/>
          </a:effectRef>
          <a:fontRef idx="minor">
            <a:schemeClr val="dk1"/>
          </a:fontRef>
        </p:style>
        <p:txBody>
          <a:bodyPr lIns="180000" tIns="144000" bIns="1440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n</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)=O(1)			</a:t>
            </a:r>
            <a:r>
              <a:rPr kumimoji="0" lang="zh-CN" altLang="en-US"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当</a:t>
            </a: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n</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a:t>
            </a:r>
            <a:endPar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n</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)=2</a:t>
            </a: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n</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/2)+O(1)		</a:t>
            </a:r>
            <a:r>
              <a:rPr kumimoji="0" lang="zh-CN" altLang="en-US"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当</a:t>
            </a:r>
            <a:r>
              <a:rPr kumimoji="0" lang="en-US" altLang="zh-CN" sz="18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n</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&gt;1</a:t>
            </a:r>
            <a:endParaRPr kumimoji="0" lang="zh-CN" altLang="en-US"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500063" y="3824288"/>
            <a:ext cx="7786687" cy="431800"/>
          </a:xfrm>
          <a:prstGeom prst="rect">
            <a:avLst/>
          </a:prstGeom>
          <a:noFill/>
          <a:ln w="9525">
            <a:noFill/>
          </a:ln>
        </p:spPr>
        <p:txBody>
          <a:bodyPr>
            <a:spAutoFit/>
          </a:bodyPr>
          <a:lstStyle/>
          <a:p>
            <a:r>
              <a:rPr lang="zh-CN" altLang="en-US" sz="2200" dirty="0">
                <a:solidFill>
                  <a:srgbClr val="0000FF"/>
                </a:solidFill>
                <a:latin typeface="Consolas" panose="020B0609020204030204" pitchFamily="49" charset="0"/>
                <a:ea typeface="楷体" panose="02010609060101010101" pitchFamily="49" charset="-122"/>
              </a:rPr>
              <a:t>则：</a:t>
            </a:r>
            <a:r>
              <a:rPr lang="en-US" altLang="zh-CN" sz="2000" i="1" dirty="0">
                <a:solidFill>
                  <a:srgbClr val="0000FF"/>
                </a:solidFill>
                <a:latin typeface="Consolas" panose="020B0609020204030204" pitchFamily="49" charset="0"/>
                <a:ea typeface="楷体" panose="02010609060101010101" pitchFamily="49" charset="-122"/>
              </a:rPr>
              <a:t>S</a:t>
            </a:r>
            <a:r>
              <a:rPr lang="en-US" altLang="zh-CN" sz="2000" dirty="0">
                <a:solidFill>
                  <a:srgbClr val="0000FF"/>
                </a:solidFill>
                <a:latin typeface="Consolas" panose="020B0609020204030204" pitchFamily="49" charset="0"/>
                <a:ea typeface="楷体" panose="02010609060101010101" pitchFamily="49" charset="-122"/>
              </a:rPr>
              <a:t>(</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 = 2</a:t>
            </a:r>
            <a:r>
              <a:rPr lang="en-US" altLang="zh-CN" sz="2000" i="1" dirty="0">
                <a:solidFill>
                  <a:srgbClr val="0000FF"/>
                </a:solidFill>
                <a:latin typeface="Consolas" panose="020B0609020204030204" pitchFamily="49" charset="0"/>
                <a:ea typeface="楷体" panose="02010609060101010101" pitchFamily="49" charset="-122"/>
              </a:rPr>
              <a:t>S</a:t>
            </a:r>
            <a:r>
              <a:rPr lang="en-US" altLang="zh-CN" sz="2000" dirty="0">
                <a:solidFill>
                  <a:srgbClr val="0000FF"/>
                </a:solidFill>
                <a:latin typeface="Consolas" panose="020B0609020204030204" pitchFamily="49" charset="0"/>
                <a:ea typeface="楷体" panose="02010609060101010101" pitchFamily="49" charset="-122"/>
              </a:rPr>
              <a:t>(</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/2)+1=2[2</a:t>
            </a:r>
            <a:r>
              <a:rPr lang="en-US" altLang="zh-CN" sz="2000" i="1" dirty="0">
                <a:solidFill>
                  <a:srgbClr val="0000FF"/>
                </a:solidFill>
                <a:latin typeface="Consolas" panose="020B0609020204030204" pitchFamily="49" charset="0"/>
                <a:ea typeface="楷体" panose="02010609060101010101" pitchFamily="49" charset="-122"/>
              </a:rPr>
              <a:t>S</a:t>
            </a:r>
            <a:r>
              <a:rPr lang="en-US" altLang="zh-CN" sz="2000" dirty="0">
                <a:solidFill>
                  <a:srgbClr val="0000FF"/>
                </a:solidFill>
                <a:latin typeface="Consolas" panose="020B0609020204030204" pitchFamily="49" charset="0"/>
                <a:ea typeface="楷体" panose="02010609060101010101" pitchFamily="49" charset="-122"/>
              </a:rPr>
              <a:t>(</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baseline="30000" dirty="0">
                <a:solidFill>
                  <a:srgbClr val="0000FF"/>
                </a:solidFill>
                <a:latin typeface="Consolas" panose="020B0609020204030204" pitchFamily="49" charset="0"/>
                <a:ea typeface="楷体" panose="02010609060101010101" pitchFamily="49" charset="-122"/>
              </a:rPr>
              <a:t>2</a:t>
            </a:r>
            <a:r>
              <a:rPr lang="en-US" altLang="zh-CN" sz="2000" dirty="0">
                <a:solidFill>
                  <a:srgbClr val="0000FF"/>
                </a:solidFill>
                <a:latin typeface="Consolas" panose="020B0609020204030204" pitchFamily="49" charset="0"/>
                <a:ea typeface="楷体" panose="02010609060101010101" pitchFamily="49" charset="-122"/>
              </a:rPr>
              <a:t>)+1]+1=2</a:t>
            </a:r>
            <a:r>
              <a:rPr lang="en-US" altLang="zh-CN" sz="2000" baseline="30000" dirty="0">
                <a:solidFill>
                  <a:srgbClr val="0000FF"/>
                </a:solidFill>
                <a:latin typeface="Consolas" panose="020B0609020204030204" pitchFamily="49" charset="0"/>
                <a:ea typeface="楷体" panose="02010609060101010101" pitchFamily="49" charset="-122"/>
              </a:rPr>
              <a:t>2</a:t>
            </a:r>
            <a:r>
              <a:rPr lang="en-US" altLang="zh-CN" sz="2000" i="1" dirty="0">
                <a:solidFill>
                  <a:srgbClr val="0000FF"/>
                </a:solidFill>
                <a:latin typeface="Consolas" panose="020B0609020204030204" pitchFamily="49" charset="0"/>
                <a:ea typeface="楷体" panose="02010609060101010101" pitchFamily="49" charset="-122"/>
              </a:rPr>
              <a:t>S</a:t>
            </a:r>
            <a:r>
              <a:rPr lang="en-US" altLang="zh-CN" sz="2000" dirty="0">
                <a:solidFill>
                  <a:srgbClr val="0000FF"/>
                </a:solidFill>
                <a:latin typeface="Consolas" panose="020B0609020204030204" pitchFamily="49" charset="0"/>
                <a:ea typeface="楷体" panose="02010609060101010101" pitchFamily="49" charset="-122"/>
              </a:rPr>
              <a:t>(</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baseline="30000" dirty="0">
                <a:solidFill>
                  <a:srgbClr val="0000FF"/>
                </a:solidFill>
                <a:latin typeface="Consolas" panose="020B0609020204030204" pitchFamily="49" charset="0"/>
                <a:ea typeface="楷体" panose="02010609060101010101" pitchFamily="49" charset="-122"/>
              </a:rPr>
              <a:t>2</a:t>
            </a:r>
            <a:r>
              <a:rPr lang="en-US" altLang="zh-CN" sz="2000" dirty="0">
                <a:solidFill>
                  <a:srgbClr val="0000FF"/>
                </a:solidFill>
                <a:latin typeface="Consolas" panose="020B0609020204030204" pitchFamily="49" charset="0"/>
                <a:ea typeface="楷体" panose="02010609060101010101" pitchFamily="49" charset="-122"/>
              </a:rPr>
              <a:t>)+1+2</a:t>
            </a:r>
            <a:r>
              <a:rPr lang="en-US" altLang="zh-CN" sz="2000" baseline="30000" dirty="0">
                <a:solidFill>
                  <a:srgbClr val="0000FF"/>
                </a:solidFill>
                <a:latin typeface="Consolas" panose="020B0609020204030204" pitchFamily="49" charset="0"/>
                <a:ea typeface="楷体" panose="02010609060101010101" pitchFamily="49" charset="-122"/>
              </a:rPr>
              <a:t>1</a:t>
            </a:r>
            <a:endParaRPr lang="zh-CN" altLang="en-US" sz="2000" baseline="30000" dirty="0">
              <a:solidFill>
                <a:srgbClr val="0000FF"/>
              </a:solidFill>
              <a:latin typeface="Consolas" panose="020B0609020204030204" pitchFamily="49" charset="0"/>
              <a:ea typeface="楷体" panose="02010609060101010101" pitchFamily="49" charset="-122"/>
            </a:endParaRPr>
          </a:p>
        </p:txBody>
      </p:sp>
      <p:sp>
        <p:nvSpPr>
          <p:cNvPr id="6" name="TextBox 5"/>
          <p:cNvSpPr txBox="1"/>
          <p:nvPr/>
        </p:nvSpPr>
        <p:spPr>
          <a:xfrm>
            <a:off x="1739900" y="4281488"/>
            <a:ext cx="2928938" cy="400050"/>
          </a:xfrm>
          <a:prstGeom prst="rect">
            <a:avLst/>
          </a:prstGeom>
          <a:noFill/>
          <a:ln w="9525">
            <a:noFill/>
          </a:ln>
        </p:spPr>
        <p:txBody>
          <a:bodyPr>
            <a:spAutoFit/>
          </a:bodyPr>
          <a:lstStyle/>
          <a:p>
            <a:r>
              <a:rPr lang="en-US" altLang="zh-CN" sz="2000" dirty="0">
                <a:solidFill>
                  <a:srgbClr val="0000FF"/>
                </a:solidFill>
                <a:latin typeface="Consolas" panose="020B0609020204030204" pitchFamily="49" charset="0"/>
                <a:ea typeface="楷体" panose="02010609060101010101" pitchFamily="49" charset="-122"/>
              </a:rPr>
              <a:t>= 2</a:t>
            </a:r>
            <a:r>
              <a:rPr lang="en-US" altLang="zh-CN" sz="2000" baseline="30000" dirty="0">
                <a:solidFill>
                  <a:srgbClr val="0000FF"/>
                </a:solidFill>
                <a:latin typeface="Consolas" panose="020B0609020204030204" pitchFamily="49" charset="0"/>
                <a:ea typeface="楷体" panose="02010609060101010101" pitchFamily="49" charset="-122"/>
              </a:rPr>
              <a:t>3</a:t>
            </a:r>
            <a:r>
              <a:rPr lang="en-US" altLang="zh-CN" sz="2000" i="1" dirty="0">
                <a:solidFill>
                  <a:srgbClr val="0000FF"/>
                </a:solidFill>
                <a:latin typeface="Consolas" panose="020B0609020204030204" pitchFamily="49" charset="0"/>
                <a:ea typeface="楷体" panose="02010609060101010101" pitchFamily="49" charset="-122"/>
              </a:rPr>
              <a:t>S</a:t>
            </a:r>
            <a:r>
              <a:rPr lang="en-US" altLang="zh-CN" sz="2000" dirty="0">
                <a:solidFill>
                  <a:srgbClr val="0000FF"/>
                </a:solidFill>
                <a:latin typeface="Consolas" panose="020B0609020204030204" pitchFamily="49" charset="0"/>
                <a:ea typeface="楷体" panose="02010609060101010101" pitchFamily="49" charset="-122"/>
              </a:rPr>
              <a:t>(</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baseline="30000" dirty="0">
                <a:solidFill>
                  <a:srgbClr val="0000FF"/>
                </a:solidFill>
                <a:latin typeface="Consolas" panose="020B0609020204030204" pitchFamily="49" charset="0"/>
                <a:ea typeface="楷体" panose="02010609060101010101" pitchFamily="49" charset="-122"/>
              </a:rPr>
              <a:t>3</a:t>
            </a:r>
            <a:r>
              <a:rPr lang="en-US" altLang="zh-CN" sz="2000" dirty="0">
                <a:solidFill>
                  <a:srgbClr val="0000FF"/>
                </a:solidFill>
                <a:latin typeface="Consolas" panose="020B0609020204030204" pitchFamily="49" charset="0"/>
                <a:ea typeface="楷体" panose="02010609060101010101" pitchFamily="49" charset="-122"/>
              </a:rPr>
              <a:t>)+1+2</a:t>
            </a:r>
            <a:r>
              <a:rPr lang="en-US" altLang="zh-CN" sz="2000" baseline="30000" dirty="0">
                <a:solidFill>
                  <a:srgbClr val="0000FF"/>
                </a:solidFill>
                <a:latin typeface="Consolas" panose="020B0609020204030204" pitchFamily="49" charset="0"/>
                <a:ea typeface="楷体" panose="02010609060101010101" pitchFamily="49" charset="-122"/>
              </a:rPr>
              <a:t>1</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baseline="30000" dirty="0">
                <a:solidFill>
                  <a:srgbClr val="0000FF"/>
                </a:solidFill>
                <a:latin typeface="Consolas" panose="020B0609020204030204" pitchFamily="49" charset="0"/>
                <a:ea typeface="楷体" panose="02010609060101010101" pitchFamily="49" charset="-122"/>
              </a:rPr>
              <a:t>2</a:t>
            </a:r>
            <a:endParaRPr lang="zh-CN" altLang="en-US" sz="2000" baseline="30000" dirty="0">
              <a:solidFill>
                <a:srgbClr val="0000FF"/>
              </a:solidFill>
              <a:latin typeface="Consolas" panose="020B0609020204030204" pitchFamily="49" charset="0"/>
              <a:ea typeface="楷体" panose="02010609060101010101" pitchFamily="49" charset="-122"/>
            </a:endParaRPr>
          </a:p>
        </p:txBody>
      </p:sp>
      <p:sp>
        <p:nvSpPr>
          <p:cNvPr id="7" name="TextBox 6"/>
          <p:cNvSpPr txBox="1"/>
          <p:nvPr/>
        </p:nvSpPr>
        <p:spPr>
          <a:xfrm>
            <a:off x="1746250" y="4752975"/>
            <a:ext cx="1214438" cy="400050"/>
          </a:xfrm>
          <a:prstGeom prst="rect">
            <a:avLst/>
          </a:prstGeom>
          <a:noFill/>
          <a:ln w="9525">
            <a:noFill/>
          </a:ln>
        </p:spPr>
        <p:txBody>
          <a:bodyPr>
            <a:spAutoFit/>
          </a:bodyPr>
          <a:lstStyle/>
          <a:p>
            <a:r>
              <a:rPr lang="en-US" altLang="zh-CN" sz="2000" dirty="0">
                <a:solidFill>
                  <a:srgbClr val="0000FF"/>
                </a:solidFill>
                <a:latin typeface="Consolas" panose="020B0609020204030204" pitchFamily="49" charset="0"/>
                <a:ea typeface="楷体" panose="02010609060101010101" pitchFamily="49" charset="-122"/>
              </a:rPr>
              <a:t>= …</a:t>
            </a:r>
            <a:endParaRPr lang="zh-CN" altLang="en-US" sz="2000" dirty="0">
              <a:solidFill>
                <a:srgbClr val="0000FF"/>
              </a:solidFill>
              <a:latin typeface="Consolas" panose="020B0609020204030204" pitchFamily="49" charset="0"/>
              <a:ea typeface="楷体" panose="02010609060101010101" pitchFamily="49" charset="-122"/>
            </a:endParaRPr>
          </a:p>
        </p:txBody>
      </p:sp>
      <p:sp>
        <p:nvSpPr>
          <p:cNvPr id="8" name="TextBox 7"/>
          <p:cNvSpPr txBox="1"/>
          <p:nvPr/>
        </p:nvSpPr>
        <p:spPr>
          <a:xfrm>
            <a:off x="1754188" y="5253038"/>
            <a:ext cx="6389687" cy="400050"/>
          </a:xfrm>
          <a:prstGeom prst="rect">
            <a:avLst/>
          </a:prstGeom>
          <a:noFill/>
          <a:ln w="9525">
            <a:noFill/>
          </a:ln>
        </p:spPr>
        <p:txBody>
          <a:bodyPr>
            <a:spAutoFit/>
          </a:bodyPr>
          <a:lstStyle/>
          <a:p>
            <a:r>
              <a:rPr lang="en-US" altLang="zh-CN" sz="2000" dirty="0">
                <a:solidFill>
                  <a:srgbClr val="0000FF"/>
                </a:solidFill>
                <a:latin typeface="Consolas" panose="020B0609020204030204" pitchFamily="49" charset="0"/>
                <a:ea typeface="楷体" panose="02010609060101010101" pitchFamily="49" charset="-122"/>
              </a:rPr>
              <a:t>= 2</a:t>
            </a:r>
            <a:r>
              <a:rPr lang="en-US" altLang="zh-CN" sz="2000" i="1" baseline="30000" dirty="0">
                <a:solidFill>
                  <a:srgbClr val="0000FF"/>
                </a:solidFill>
                <a:latin typeface="Consolas" panose="020B0609020204030204" pitchFamily="49" charset="0"/>
                <a:ea typeface="楷体" panose="02010609060101010101" pitchFamily="49" charset="-122"/>
              </a:rPr>
              <a:t>k</a:t>
            </a:r>
            <a:r>
              <a:rPr lang="en-US" altLang="zh-CN" sz="2000" i="1" dirty="0">
                <a:solidFill>
                  <a:srgbClr val="0000FF"/>
                </a:solidFill>
                <a:latin typeface="Consolas" panose="020B0609020204030204" pitchFamily="49" charset="0"/>
                <a:ea typeface="楷体" panose="02010609060101010101" pitchFamily="49" charset="-122"/>
              </a:rPr>
              <a:t>S</a:t>
            </a:r>
            <a:r>
              <a:rPr lang="en-US" altLang="zh-CN" sz="2000" dirty="0">
                <a:solidFill>
                  <a:srgbClr val="0000FF"/>
                </a:solidFill>
                <a:latin typeface="Consolas" panose="020B0609020204030204" pitchFamily="49" charset="0"/>
                <a:ea typeface="楷体" panose="02010609060101010101" pitchFamily="49" charset="-122"/>
              </a:rPr>
              <a:t>(</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i="1" baseline="30000" dirty="0">
                <a:solidFill>
                  <a:srgbClr val="0000FF"/>
                </a:solidFill>
                <a:latin typeface="Consolas" panose="020B0609020204030204" pitchFamily="49" charset="0"/>
                <a:ea typeface="楷体" panose="02010609060101010101" pitchFamily="49" charset="-122"/>
              </a:rPr>
              <a:t>k</a:t>
            </a:r>
            <a:r>
              <a:rPr lang="en-US" altLang="zh-CN" sz="2000" dirty="0">
                <a:solidFill>
                  <a:srgbClr val="0000FF"/>
                </a:solidFill>
                <a:latin typeface="Consolas" panose="020B0609020204030204" pitchFamily="49" charset="0"/>
                <a:ea typeface="楷体" panose="02010609060101010101" pitchFamily="49" charset="-122"/>
              </a:rPr>
              <a:t>)+1+2</a:t>
            </a:r>
            <a:r>
              <a:rPr lang="en-US" altLang="zh-CN" sz="2000" baseline="30000" dirty="0">
                <a:solidFill>
                  <a:srgbClr val="0000FF"/>
                </a:solidFill>
                <a:latin typeface="Consolas" panose="020B0609020204030204" pitchFamily="49" charset="0"/>
                <a:ea typeface="楷体" panose="02010609060101010101" pitchFamily="49" charset="-122"/>
              </a:rPr>
              <a:t>1</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baseline="30000" dirty="0">
                <a:solidFill>
                  <a:srgbClr val="0000FF"/>
                </a:solidFill>
                <a:latin typeface="Consolas" panose="020B0609020204030204" pitchFamily="49" charset="0"/>
                <a:ea typeface="楷体" panose="02010609060101010101" pitchFamily="49" charset="-122"/>
              </a:rPr>
              <a:t>2</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i="1" baseline="30000" dirty="0">
                <a:solidFill>
                  <a:srgbClr val="0000FF"/>
                </a:solidFill>
                <a:latin typeface="Consolas" panose="020B0609020204030204" pitchFamily="49" charset="0"/>
                <a:ea typeface="楷体" panose="02010609060101010101" pitchFamily="49" charset="-122"/>
              </a:rPr>
              <a:t>k</a:t>
            </a:r>
            <a:r>
              <a:rPr lang="en-US" altLang="zh-CN" sz="2000" baseline="30000" dirty="0">
                <a:solidFill>
                  <a:srgbClr val="0000FF"/>
                </a:solidFill>
                <a:latin typeface="Consolas" panose="020B0609020204030204" pitchFamily="49" charset="0"/>
                <a:ea typeface="楷体" panose="02010609060101010101" pitchFamily="49" charset="-122"/>
              </a:rPr>
              <a:t>-1</a:t>
            </a:r>
            <a:r>
              <a:rPr lang="zh-CN" altLang="en-US" sz="2000" dirty="0">
                <a:solidFill>
                  <a:srgbClr val="0000FF"/>
                </a:solidFill>
                <a:latin typeface="Consolas" panose="020B0609020204030204" pitchFamily="49" charset="0"/>
                <a:ea typeface="楷体" panose="02010609060101010101" pitchFamily="49" charset="-122"/>
              </a:rPr>
              <a:t>（设</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=2</a:t>
            </a:r>
            <a:r>
              <a:rPr lang="en-US" altLang="zh-CN" sz="2000" i="1" baseline="30000" dirty="0">
                <a:solidFill>
                  <a:srgbClr val="0000FF"/>
                </a:solidFill>
                <a:latin typeface="Consolas" panose="020B0609020204030204" pitchFamily="49" charset="0"/>
                <a:ea typeface="楷体" panose="02010609060101010101" pitchFamily="49" charset="-122"/>
              </a:rPr>
              <a:t>k</a:t>
            </a:r>
            <a:r>
              <a:rPr lang="zh-CN" altLang="en-US" sz="2000" dirty="0">
                <a:solidFill>
                  <a:srgbClr val="0000FF"/>
                </a:solidFill>
                <a:latin typeface="Consolas" panose="020B0609020204030204" pitchFamily="49" charset="0"/>
                <a:ea typeface="楷体" panose="02010609060101010101" pitchFamily="49" charset="-122"/>
              </a:rPr>
              <a:t>，即</a:t>
            </a:r>
            <a:r>
              <a:rPr lang="en-US" altLang="zh-CN" sz="2000" i="1" dirty="0">
                <a:solidFill>
                  <a:srgbClr val="0000FF"/>
                </a:solidFill>
                <a:latin typeface="Consolas" panose="020B0609020204030204" pitchFamily="49" charset="0"/>
                <a:ea typeface="楷体" panose="02010609060101010101" pitchFamily="49" charset="-122"/>
              </a:rPr>
              <a:t>k</a:t>
            </a:r>
            <a:r>
              <a:rPr lang="en-US" altLang="zh-CN" sz="2000" dirty="0">
                <a:solidFill>
                  <a:srgbClr val="0000FF"/>
                </a:solidFill>
                <a:latin typeface="Consolas" panose="020B0609020204030204" pitchFamily="49" charset="0"/>
                <a:ea typeface="楷体" panose="02010609060101010101" pitchFamily="49" charset="-122"/>
              </a:rPr>
              <a:t>=log</a:t>
            </a:r>
            <a:r>
              <a:rPr lang="en-US" altLang="zh-CN" sz="2000" baseline="-25000" dirty="0">
                <a:solidFill>
                  <a:srgbClr val="0000FF"/>
                </a:solidFill>
                <a:latin typeface="Consolas" panose="020B0609020204030204" pitchFamily="49" charset="0"/>
                <a:ea typeface="楷体" panose="02010609060101010101" pitchFamily="49" charset="-122"/>
              </a:rPr>
              <a:t>2</a:t>
            </a:r>
            <a:r>
              <a:rPr lang="en-US" altLang="zh-CN" sz="2000" i="1" dirty="0">
                <a:solidFill>
                  <a:srgbClr val="0000FF"/>
                </a:solidFill>
                <a:latin typeface="Consolas" panose="020B0609020204030204" pitchFamily="49" charset="0"/>
                <a:ea typeface="楷体" panose="02010609060101010101" pitchFamily="49" charset="-122"/>
              </a:rPr>
              <a:t>n</a:t>
            </a:r>
            <a:r>
              <a:rPr lang="zh-CN" altLang="en-US" sz="2000" dirty="0">
                <a:solidFill>
                  <a:srgbClr val="0000FF"/>
                </a:solidFill>
                <a:latin typeface="Consolas" panose="020B0609020204030204" pitchFamily="49" charset="0"/>
                <a:ea typeface="楷体" panose="02010609060101010101" pitchFamily="49" charset="-122"/>
              </a:rPr>
              <a:t>）</a:t>
            </a:r>
            <a:endParaRPr lang="zh-CN" altLang="en-US" sz="2000" dirty="0">
              <a:solidFill>
                <a:srgbClr val="0000FF"/>
              </a:solidFill>
              <a:latin typeface="Consolas" panose="020B0609020204030204" pitchFamily="49" charset="0"/>
              <a:ea typeface="楷体" panose="02010609060101010101" pitchFamily="49" charset="-122"/>
            </a:endParaRPr>
          </a:p>
        </p:txBody>
      </p:sp>
      <p:sp>
        <p:nvSpPr>
          <p:cNvPr id="9" name="TextBox 8"/>
          <p:cNvSpPr txBox="1"/>
          <p:nvPr/>
        </p:nvSpPr>
        <p:spPr>
          <a:xfrm>
            <a:off x="1785938" y="5753100"/>
            <a:ext cx="3500437" cy="461963"/>
          </a:xfrm>
          <a:prstGeom prst="rect">
            <a:avLst/>
          </a:prstGeom>
          <a:noFill/>
          <a:ln w="9525">
            <a:noFill/>
          </a:ln>
        </p:spPr>
        <p:txBody>
          <a:bodyPr>
            <a:spAutoFit/>
          </a:bodyPr>
          <a:lstStyle/>
          <a:p>
            <a:r>
              <a:rPr lang="en-US" altLang="zh-CN" sz="2000" dirty="0">
                <a:solidFill>
                  <a:srgbClr val="0000FF"/>
                </a:solidFill>
                <a:latin typeface="Consolas" panose="020B0609020204030204" pitchFamily="49" charset="0"/>
                <a:ea typeface="楷体" panose="02010609060101010101" pitchFamily="49" charset="-122"/>
              </a:rPr>
              <a:t>= </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*1+2</a:t>
            </a:r>
            <a:r>
              <a:rPr lang="en-US" altLang="zh-CN" sz="2000" i="1" baseline="30000" dirty="0">
                <a:solidFill>
                  <a:srgbClr val="0000FF"/>
                </a:solidFill>
                <a:latin typeface="Consolas" panose="020B0609020204030204" pitchFamily="49" charset="0"/>
                <a:ea typeface="楷体" panose="02010609060101010101" pitchFamily="49" charset="-122"/>
              </a:rPr>
              <a:t>k</a:t>
            </a:r>
            <a:r>
              <a:rPr lang="en-US" altLang="zh-CN" sz="2000" dirty="0">
                <a:solidFill>
                  <a:srgbClr val="0000FF"/>
                </a:solidFill>
                <a:latin typeface="Consolas" panose="020B0609020204030204" pitchFamily="49" charset="0"/>
                <a:ea typeface="楷体" panose="02010609060101010101" pitchFamily="49" charset="-122"/>
              </a:rPr>
              <a:t>-1 = 2</a:t>
            </a:r>
            <a:r>
              <a:rPr lang="en-US" altLang="zh-CN" sz="2000" i="1" dirty="0">
                <a:solidFill>
                  <a:srgbClr val="0000FF"/>
                </a:solidFill>
                <a:latin typeface="Consolas" panose="020B0609020204030204" pitchFamily="49" charset="0"/>
                <a:ea typeface="楷体" panose="02010609060101010101" pitchFamily="49" charset="-122"/>
              </a:rPr>
              <a:t>n</a:t>
            </a:r>
            <a:r>
              <a:rPr lang="en-US" altLang="zh-CN" sz="2000" dirty="0">
                <a:solidFill>
                  <a:srgbClr val="0000FF"/>
                </a:solidFill>
                <a:latin typeface="Consolas" panose="020B0609020204030204" pitchFamily="49" charset="0"/>
                <a:ea typeface="楷体" panose="02010609060101010101" pitchFamily="49" charset="-122"/>
              </a:rPr>
              <a:t>-1 = </a:t>
            </a:r>
            <a:r>
              <a:rPr lang="en-US" altLang="zh-CN" dirty="0">
                <a:solidFill>
                  <a:srgbClr val="FF0000"/>
                </a:solidFill>
                <a:latin typeface="Consolas" panose="020B0609020204030204" pitchFamily="49" charset="0"/>
                <a:ea typeface="楷体" panose="02010609060101010101" pitchFamily="49" charset="-122"/>
              </a:rPr>
              <a:t>O(</a:t>
            </a:r>
            <a:r>
              <a:rPr lang="en-US" altLang="zh-CN" i="1" dirty="0">
                <a:solidFill>
                  <a:srgbClr val="FF0000"/>
                </a:solidFill>
                <a:latin typeface="Consolas" panose="020B0609020204030204" pitchFamily="49" charset="0"/>
                <a:ea typeface="楷体" panose="02010609060101010101" pitchFamily="49" charset="-122"/>
              </a:rPr>
              <a:t>n</a:t>
            </a:r>
            <a:r>
              <a:rPr lang="en-US" altLang="zh-CN" dirty="0">
                <a:solidFill>
                  <a:srgbClr val="FF0000"/>
                </a:solidFill>
                <a:latin typeface="Consolas" panose="020B0609020204030204" pitchFamily="49" charset="0"/>
                <a:ea typeface="楷体" panose="02010609060101010101" pitchFamily="49" charset="-122"/>
              </a:rPr>
              <a:t>)</a:t>
            </a:r>
            <a:endParaRPr lang="zh-CN" altLang="en-US" dirty="0">
              <a:solidFill>
                <a:srgbClr val="FF0000"/>
              </a:solidFill>
              <a:latin typeface="Consolas" panose="020B0609020204030204" pitchFamily="49" charset="0"/>
              <a:ea typeface="楷体" panose="02010609060101010101" pitchFamily="49" charset="-122"/>
            </a:endParaRPr>
          </a:p>
        </p:txBody>
      </p:sp>
      <p:sp>
        <p:nvSpPr>
          <p:cNvPr id="11" name="TextBox 10"/>
          <p:cNvSpPr txBox="1"/>
          <p:nvPr/>
        </p:nvSpPr>
        <p:spPr>
          <a:xfrm>
            <a:off x="4867276" y="54922"/>
            <a:ext cx="4205318" cy="230250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int </a:t>
            </a:r>
            <a:r>
              <a:rPr kumimoji="0" lang="en-US" sz="1400" b="0" i="0" u="none" strike="noStrike" kern="1200" cap="none" spc="0" normalizeH="0" baseline="0" noProof="0">
                <a:ln>
                  <a:noFill/>
                </a:ln>
                <a:solidFill>
                  <a:srgbClr val="FF0000"/>
                </a:solidFill>
                <a:effectLst/>
                <a:uLnTx/>
                <a:uFillTx/>
                <a:latin typeface="Consolas" panose="020B0609020204030204" pitchFamily="49" charset="0"/>
                <a:ea typeface="+mn-ea"/>
                <a:cs typeface="Consolas" panose="020B0609020204030204" pitchFamily="49" charset="0"/>
              </a:rPr>
              <a:t>maxelem</a:t>
            </a: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(int a[],int i,int j)</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int mid=(i+j)/2,max1,max2;</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if (i&lt;j)</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	max1=</a:t>
            </a:r>
            <a:r>
              <a:rPr kumimoji="0" lang="en-US" sz="1400" b="0" i="0" u="none" strike="noStrike" kern="1200" cap="none" spc="0" normalizeH="0" baseline="0" noProof="0">
                <a:ln>
                  <a:noFill/>
                </a:ln>
                <a:solidFill>
                  <a:srgbClr val="FF0000"/>
                </a:solidFill>
                <a:effectLst/>
                <a:uLnTx/>
                <a:uFillTx/>
                <a:latin typeface="Consolas" panose="020B0609020204030204" pitchFamily="49" charset="0"/>
                <a:ea typeface="+mn-ea"/>
                <a:cs typeface="Consolas" panose="020B0609020204030204" pitchFamily="49" charset="0"/>
              </a:rPr>
              <a:t>maxelem</a:t>
            </a: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(a,i,mid);</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max2=</a:t>
            </a:r>
            <a:r>
              <a:rPr kumimoji="0" lang="en-US" sz="1400" b="0" i="0" u="none" strike="noStrike" kern="1200" cap="none" spc="0" normalizeH="0" baseline="0" noProof="0">
                <a:ln>
                  <a:noFill/>
                </a:ln>
                <a:solidFill>
                  <a:srgbClr val="FF0000"/>
                </a:solidFill>
                <a:effectLst/>
                <a:uLnTx/>
                <a:uFillTx/>
                <a:latin typeface="Consolas" panose="020B0609020204030204" pitchFamily="49" charset="0"/>
                <a:ea typeface="+mn-ea"/>
                <a:cs typeface="Consolas" panose="020B0609020204030204" pitchFamily="49" charset="0"/>
              </a:rPr>
              <a:t>maxelem</a:t>
            </a: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(a,mid+1,j);</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return (max1&gt;max2)?max1:max2;</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    else return a[i];</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rPr>
              <a:t>}</a:t>
            </a:r>
            <a:endParaRPr kumimoji="0" lang="zh-CN" altLang="en-US" sz="1400" b="0" i="0" u="none" strike="noStrike" kern="1200" cap="none" spc="0" normalizeH="0" baseline="0" noProof="0">
              <a:ln>
                <a:noFill/>
              </a:ln>
              <a:solidFill>
                <a:srgbClr val="0000FF"/>
              </a:solidFill>
              <a:effectLst/>
              <a:uLnTx/>
              <a:uFillTx/>
              <a:latin typeface="Consolas" panose="020B0609020204030204" pitchFamily="49" charset="0"/>
              <a:ea typeface="+mn-ea"/>
              <a:cs typeface="Consolas" panose="020B0609020204030204" pitchFamily="49" charset="0"/>
            </a:endParaRPr>
          </a:p>
        </p:txBody>
      </p:sp>
      <p:sp>
        <p:nvSpPr>
          <p:cNvPr id="12" name="右弧形箭头 11"/>
          <p:cNvSpPr/>
          <p:nvPr/>
        </p:nvSpPr>
        <p:spPr>
          <a:xfrm>
            <a:off x="5929313" y="2428875"/>
            <a:ext cx="357188" cy="642938"/>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9" grpId="0" bldLvl="0" animBg="1"/>
      <p:bldP spid="4" grpId="0" bldLvl="0" animBg="1"/>
      <p:bldP spid="5" grpId="0"/>
      <p:bldP spid="6" grpId="0"/>
      <p:bldP spid="7" grpId="0"/>
      <p:bldP spid="8" grpId="0"/>
      <p:bldP spid="9" grpId="0"/>
      <p:bldP spid="12" grpId="0" bldLvl="0" animBg="1"/>
    </p:bldLst>
  </p:timing>
</p:sld>
</file>

<file path=ppt/tags/tag1.xml><?xml version="1.0" encoding="utf-8"?>
<p:tagLst xmlns:p="http://schemas.openxmlformats.org/presentationml/2006/main">
  <p:tag name="KSO_WM_UNIT_TABLE_BEAUTIFY" val="smartTable{5bd5f6d7-259b-4260-8c5f-16f7af4aa8a0}"/>
</p:tagLst>
</file>

<file path=ppt/tags/tag2.xml><?xml version="1.0" encoding="utf-8"?>
<p:tagLst xmlns:p="http://schemas.openxmlformats.org/presentationml/2006/main">
  <p:tag name="KSO_WM_UNIT_PLACING_PICTURE_USER_VIEWPORT" val="{&quot;height&quot;:5935.222047244094,&quot;width&quot;:8958.4755905511811}"/>
</p:tagLst>
</file>

<file path=ppt/tags/tag3.xml><?xml version="1.0" encoding="utf-8"?>
<p:tagLst xmlns:p="http://schemas.openxmlformats.org/presentationml/2006/main">
  <p:tag name="KSO_WM_UNIT_PLACING_PICTURE_USER_VIEWPORT" val="{&quot;height&quot;:5935.222047244094,&quot;width&quot;:8958.4755905511811}"/>
</p:tagLst>
</file>

<file path=ppt/tags/tag4.xml><?xml version="1.0" encoding="utf-8"?>
<p:tagLst xmlns:p="http://schemas.openxmlformats.org/presentationml/2006/main">
  <p:tag name="DEFINEDINNAVIGATOR" val="True"/>
  <p:tag name="HOTSPOTTYPE" val="DefinedInNavigator"/>
  <p:tag name="BRANCHTO" val="257"/>
</p:tagLst>
</file>

<file path=ppt/theme/theme1.xml><?xml version="1.0" encoding="utf-8"?>
<a:theme xmlns:a="http://schemas.openxmlformats.org/drawingml/2006/main" name="个人主页 (标准)">
  <a:themeElements>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fontScheme name="个人主页 (标准)">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个人主页 (标准) 1">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EAEAEA"/>
        </a:hlink>
        <a:folHlink>
          <a:srgbClr val="A73737"/>
        </a:folHlink>
      </a:clrScheme>
      <a:clrMap bg1="dk2" tx1="lt1" bg2="dk1" tx2="lt2" accent1="accent1" accent2="accent2" accent3="accent3" accent4="accent4" accent5="accent5" accent6="accent6" hlink="hlink" folHlink="folHlink"/>
    </a:extraClrScheme>
    <a:extraClrScheme>
      <a:clrScheme name="个人主页 (标准) 2">
        <a:dk1>
          <a:srgbClr val="663300"/>
        </a:dk1>
        <a:lt1>
          <a:srgbClr val="FFFFFF"/>
        </a:lt1>
        <a:dk2>
          <a:srgbClr val="996633"/>
        </a:dk2>
        <a:lt2>
          <a:srgbClr val="868686"/>
        </a:lt2>
        <a:accent1>
          <a:srgbClr val="FF9900"/>
        </a:accent1>
        <a:accent2>
          <a:srgbClr val="CC6600"/>
        </a:accent2>
        <a:accent3>
          <a:srgbClr val="FFFFFF"/>
        </a:accent3>
        <a:accent4>
          <a:srgbClr val="562A00"/>
        </a:accent4>
        <a:accent5>
          <a:srgbClr val="FFCAAA"/>
        </a:accent5>
        <a:accent6>
          <a:srgbClr val="B95C00"/>
        </a:accent6>
        <a:hlink>
          <a:srgbClr val="FFCC00"/>
        </a:hlink>
        <a:folHlink>
          <a:srgbClr val="CCCCCC"/>
        </a:folHlink>
      </a:clrScheme>
      <a:clrMap bg1="lt1" tx1="dk1" bg2="lt2" tx2="dk2" accent1="accent1" accent2="accent2" accent3="accent3" accent4="accent4" accent5="accent5" accent6="accent6" hlink="hlink" folHlink="folHlink"/>
    </a:extraClrScheme>
    <a:extraClrScheme>
      <a:clrScheme name="个人主页 (标准)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0</TotalTime>
  <Words>6692</Words>
  <Application>WPS 演示</Application>
  <PresentationFormat>全屏显示(4:3)</PresentationFormat>
  <Paragraphs>503</Paragraphs>
  <Slides>45</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20</vt:i4>
      </vt:variant>
      <vt:variant>
        <vt:lpstr>幻灯片标题</vt:lpstr>
      </vt:variant>
      <vt:variant>
        <vt:i4>45</vt:i4>
      </vt:variant>
    </vt:vector>
  </HeadingPairs>
  <TitlesOfParts>
    <vt:vector size="84" baseType="lpstr">
      <vt:lpstr>Arial</vt:lpstr>
      <vt:lpstr>宋体</vt:lpstr>
      <vt:lpstr>Wingdings</vt:lpstr>
      <vt:lpstr>Times New Roman</vt:lpstr>
      <vt:lpstr>Wingdings</vt:lpstr>
      <vt:lpstr>楷体_GB2312</vt:lpstr>
      <vt:lpstr>新宋体</vt:lpstr>
      <vt:lpstr>Calibri</vt:lpstr>
      <vt:lpstr>微软雅黑</vt:lpstr>
      <vt:lpstr>Arial Unicode MS</vt:lpstr>
      <vt:lpstr>Verdana</vt:lpstr>
      <vt:lpstr>Symbol</vt:lpstr>
      <vt:lpstr>Symbol</vt:lpstr>
      <vt:lpstr>黑体</vt:lpstr>
      <vt:lpstr>Consolas</vt:lpstr>
      <vt:lpstr>楷体</vt:lpstr>
      <vt:lpstr>Cambria Math</vt:lpstr>
      <vt:lpstr>MS Mincho</vt:lpstr>
      <vt:lpstr>个人主页 (标准)</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Equation.KSEE3</vt:lpstr>
      <vt:lpstr>Equation.KSEE3</vt:lpstr>
      <vt:lpstr>Equation.KSEE3</vt:lpstr>
      <vt:lpstr>Equation.KSEE3</vt:lpstr>
      <vt:lpstr>Equation.KSEE3</vt:lpstr>
      <vt:lpstr>Equation.KSEE3</vt:lpstr>
      <vt:lpstr>Equation.DSMT4</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 不能使用主定理的例子</vt:lpstr>
      <vt:lpstr>PowerPoint 演示文稿</vt:lpstr>
      <vt:lpstr>第一章 小结</vt:lpstr>
      <vt:lpstr>第一章 小结</vt:lpstr>
      <vt:lpstr>第一章 小结</vt:lpstr>
      <vt:lpstr>第一章 小结</vt:lpstr>
      <vt:lpstr>第一章 小结</vt:lpstr>
      <vt:lpstr>第一章 小结</vt:lpstr>
      <vt:lpstr>第一章 小结</vt:lpstr>
      <vt:lpstr>第一章 小结</vt:lpstr>
      <vt:lpstr>补充：算法空间复杂度的分析</vt:lpstr>
      <vt:lpstr>算法空间复杂度的分析</vt:lpstr>
      <vt:lpstr>算法空间复杂度的分析</vt:lpstr>
      <vt:lpstr>算法空间复杂度的分析</vt:lpstr>
      <vt:lpstr>算法空间复杂度的分析</vt:lpstr>
      <vt:lpstr>PowerPoint 演示文稿</vt:lpstr>
    </vt:vector>
  </TitlesOfParts>
  <Company>NEU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songby</dc:creator>
  <cp:lastModifiedBy>冯勇</cp:lastModifiedBy>
  <cp:revision>1003</cp:revision>
  <cp:lastPrinted>1995-12-08T18:33:00Z</cp:lastPrinted>
  <dcterms:created xsi:type="dcterms:W3CDTF">2000-10-31T09:27:00Z</dcterms:created>
  <dcterms:modified xsi:type="dcterms:W3CDTF">2022-03-15T04:01:50Z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AD43F303CCFA43FA9644C20C3E3D42DA</vt:lpwstr>
  </property>
</Properties>
</file>