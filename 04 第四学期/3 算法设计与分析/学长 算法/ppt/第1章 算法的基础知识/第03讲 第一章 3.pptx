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567" r:id="rId3"/>
    <p:sldId id="568" r:id="rId4"/>
    <p:sldId id="569" r:id="rId5"/>
    <p:sldId id="570" r:id="rId6"/>
    <p:sldId id="571" r:id="rId7"/>
    <p:sldId id="572" r:id="rId8"/>
    <p:sldId id="573" r:id="rId9"/>
    <p:sldId id="574" r:id="rId10"/>
    <p:sldId id="575" r:id="rId11"/>
    <p:sldId id="576" r:id="rId12"/>
    <p:sldId id="577" r:id="rId13"/>
    <p:sldId id="578" r:id="rId14"/>
    <p:sldId id="514" r:id="rId15"/>
    <p:sldId id="532" r:id="rId16"/>
    <p:sldId id="533" r:id="rId17"/>
    <p:sldId id="534" r:id="rId18"/>
    <p:sldId id="535" r:id="rId19"/>
    <p:sldId id="536" r:id="rId20"/>
    <p:sldId id="538" r:id="rId21"/>
    <p:sldId id="537" r:id="rId22"/>
    <p:sldId id="539" r:id="rId23"/>
    <p:sldId id="542" r:id="rId24"/>
    <p:sldId id="543" r:id="rId25"/>
    <p:sldId id="549" r:id="rId26"/>
    <p:sldId id="544" r:id="rId27"/>
    <p:sldId id="545" r:id="rId28"/>
    <p:sldId id="550" r:id="rId29"/>
    <p:sldId id="546" r:id="rId30"/>
    <p:sldId id="551" r:id="rId31"/>
    <p:sldId id="548" r:id="rId32"/>
    <p:sldId id="547" r:id="rId33"/>
    <p:sldId id="552" r:id="rId34"/>
    <p:sldId id="553" r:id="rId35"/>
    <p:sldId id="554" r:id="rId36"/>
    <p:sldId id="555" r:id="rId37"/>
    <p:sldId id="556" r:id="rId38"/>
    <p:sldId id="557" r:id="rId39"/>
    <p:sldId id="558" r:id="rId40"/>
    <p:sldId id="559" r:id="rId41"/>
    <p:sldId id="560" r:id="rId42"/>
    <p:sldId id="561" r:id="rId43"/>
  </p:sldIdLst>
  <p:sldSz cx="9144000" cy="6858000" type="screen4x3"/>
  <p:notesSz cx="6934200" cy="9398000"/>
  <p:custDataLst>
    <p:tags r:id="rId4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99"/>
    <a:srgbClr val="CCCCFF"/>
    <a:srgbClr val="CC99FF"/>
    <a:srgbClr val="FFCC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4608"/>
  </p:normalViewPr>
  <p:slideViewPr>
    <p:cSldViewPr showGuides="1">
      <p:cViewPr varScale="1">
        <p:scale>
          <a:sx n="62" d="100"/>
          <a:sy n="62" d="100"/>
        </p:scale>
        <p:origin x="-1560" y="-84"/>
      </p:cViewPr>
      <p:guideLst>
        <p:guide orient="horz" pos="215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5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1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2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7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4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13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32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8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17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20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1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2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8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99183"/>
            <a:ext cx="527431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bg2"/>
                </a:solidFill>
              </a:rPr>
              <a:t>函数的渐近的界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2060848"/>
            <a:ext cx="228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）大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zh-CN" altLang="en-US" dirty="0" smtClean="0">
                <a:solidFill>
                  <a:schemeClr val="bg2"/>
                </a:solidFill>
              </a:rPr>
              <a:t>符号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2492896"/>
            <a:ext cx="5256584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定义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设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是定义域为自然数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集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上的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函数。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若存在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正数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c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baseline="-25000" dirty="0" smtClean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，使得对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一切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 </a:t>
            </a:r>
            <a:r>
              <a:rPr lang="en-US" altLang="zh-CN" dirty="0">
                <a:solidFill>
                  <a:srgbClr val="000000"/>
                </a:solidFill>
                <a:latin typeface="Symbol" panose="05050102010706020507"/>
              </a:rPr>
              <a:t>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有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693652" y="3961807"/>
            <a:ext cx="2592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0 </a:t>
            </a:r>
            <a:r>
              <a:rPr lang="en-US" altLang="zh-CN" dirty="0">
                <a:solidFill>
                  <a:srgbClr val="000000"/>
                </a:solidFill>
                <a:latin typeface="Symbol" panose="05050102010706020507"/>
              </a:rPr>
              <a:t>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</a:t>
            </a:r>
            <a:r>
              <a:rPr lang="en-US" altLang="zh-CN" b="1" dirty="0">
                <a:solidFill>
                  <a:srgbClr val="FF0000"/>
                </a:solidFill>
                <a:latin typeface="Symbol" panose="05050102010706020507"/>
              </a:rPr>
              <a:t></a:t>
            </a:r>
            <a:r>
              <a:rPr lang="en-US" altLang="zh-CN" dirty="0">
                <a:solidFill>
                  <a:srgbClr val="000000"/>
                </a:solidFill>
                <a:latin typeface="Symbol" panose="05050102010706020507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c 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27584" y="4581128"/>
            <a:ext cx="5382142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成立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则称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的渐近的上界是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，记作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O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))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2" t="7445" r="33544"/>
          <a:stretch>
            <a:fillRect/>
          </a:stretch>
        </p:blipFill>
        <p:spPr bwMode="auto">
          <a:xfrm>
            <a:off x="6084168" y="2528784"/>
            <a:ext cx="2880320" cy="3564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1647032"/>
            <a:ext cx="5256584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大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zh-CN" altLang="en-US" dirty="0" smtClean="0">
                <a:solidFill>
                  <a:schemeClr val="bg2"/>
                </a:solidFill>
              </a:rPr>
              <a:t>符号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举例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115616" y="2204864"/>
            <a:ext cx="23567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sz="1600" b="1" baseline="30000" dirty="0">
                <a:solidFill>
                  <a:srgbClr val="000000"/>
                </a:solidFill>
                <a:latin typeface="Times New Roman" panose="02020603050405020304"/>
              </a:rPr>
              <a:t>2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，则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59632" y="2664436"/>
            <a:ext cx="6984776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Symbol" panose="05050102010706020507" pitchFamily="18" charset="2"/>
              <a:buChar char=""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)=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sz="1600" b="1" baseline="30000" dirty="0" smtClean="0">
                <a:solidFill>
                  <a:srgbClr val="000000"/>
                </a:solidFill>
                <a:latin typeface="Times New Roman" panose="02020603050405020304"/>
              </a:rPr>
              <a:t>2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)=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O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，取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c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= 2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sz="1600" b="1" baseline="-25000" dirty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=1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可。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Symbol" panose="05050102010706020507" pitchFamily="18" charset="2"/>
              <a:buChar char=""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)=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i="1" baseline="30000" dirty="0" smtClean="0">
                <a:solidFill>
                  <a:srgbClr val="000000"/>
                </a:solidFill>
                <a:latin typeface="Times New Roman" panose="02020603050405020304"/>
              </a:rPr>
              <a:t>3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)=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O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，取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c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=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sz="1600" b="1" baseline="-25000" dirty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=2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即可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091984" y="3868130"/>
            <a:ext cx="6864392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O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))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阶不高于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阶</a:t>
            </a:r>
            <a:r>
              <a:rPr lang="zh-CN" altLang="en-US" dirty="0" smtClean="0"/>
              <a:t> </a:t>
            </a:r>
            <a:r>
              <a:rPr lang="zh-CN" altLang="en-US" dirty="0" smtClean="0">
                <a:solidFill>
                  <a:schemeClr val="bg1"/>
                </a:solidFill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可能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存在多个正数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c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，只要指出一个即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可。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对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前面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有限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值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可以不满足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不等式。</a:t>
            </a:r>
            <a:endParaRPr lang="en-US" altLang="zh-CN" b="1" dirty="0" smtClean="0">
              <a:solidFill>
                <a:srgbClr val="000000"/>
              </a:solidFill>
              <a:latin typeface="Times New Roman" panose="02020603050405020304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函数（循环次数已知）可以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写作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O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(1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1797889"/>
            <a:ext cx="7837218" cy="350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大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O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符号用来描述增长率的上界，表示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f(n)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的增长最多像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g(n)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增长的那样快，也就是说，当输入规模为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时，算法消耗时间的最大值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。</a:t>
            </a:r>
            <a:endParaRPr lang="en-US" altLang="zh-CN" dirty="0" smtClean="0">
              <a:solidFill>
                <a:schemeClr val="bg2"/>
              </a:solidFill>
              <a:cs typeface="Consolas" panose="020B0609020204030204" pitchFamily="49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这个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上界的阶越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低结果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就越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有价值。所以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，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对于多项式</a:t>
            </a:r>
            <a:r>
              <a:rPr lang="en-US" altLang="zh-CN" dirty="0" smtClean="0">
                <a:solidFill>
                  <a:schemeClr val="bg2"/>
                </a:solidFill>
                <a:cs typeface="Consolas" panose="020B0609020204030204" pitchFamily="49" charset="0"/>
              </a:rPr>
              <a:t>10</a:t>
            </a:r>
            <a:r>
              <a:rPr lang="en-US" altLang="zh-CN" i="1" dirty="0" smtClean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baseline="30000" dirty="0" smtClean="0">
                <a:solidFill>
                  <a:schemeClr val="bg2"/>
                </a:solidFill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cs typeface="Consolas" panose="020B0609020204030204" pitchFamily="49" charset="0"/>
              </a:rPr>
              <a:t>+4</a:t>
            </a:r>
            <a:r>
              <a:rPr lang="en-US" altLang="zh-CN" i="1" dirty="0" smtClean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dirty="0" smtClean="0">
                <a:solidFill>
                  <a:schemeClr val="bg2"/>
                </a:solidFill>
                <a:cs typeface="Consolas" panose="020B0609020204030204" pitchFamily="49" charset="0"/>
              </a:rPr>
              <a:t>+2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O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en-US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baseline="30000" dirty="0">
                <a:solidFill>
                  <a:schemeClr val="bg2"/>
                </a:solidFill>
                <a:cs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比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O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en-US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baseline="30000" dirty="0">
                <a:solidFill>
                  <a:schemeClr val="bg2"/>
                </a:solidFill>
                <a:cs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) 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有价值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。</a:t>
            </a:r>
            <a:endParaRPr lang="en-US" altLang="zh-CN" dirty="0" smtClean="0">
              <a:solidFill>
                <a:schemeClr val="bg2"/>
              </a:solidFill>
              <a:cs typeface="Consolas" panose="020B0609020204030204" pitchFamily="49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一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个算法的时间用大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O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符号表示时，总是采用最有价值的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g(n)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表示，称之为“紧凑上界”或“紧确上界”。</a:t>
            </a:r>
            <a:endParaRPr lang="en-US" altLang="zh-CN" dirty="0">
              <a:solidFill>
                <a:schemeClr val="bg2"/>
              </a:solidFill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1772816"/>
            <a:ext cx="228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）大</a:t>
            </a:r>
            <a:r>
              <a:rPr lang="en-US" altLang="zh-CN" b="1" i="1" dirty="0">
                <a:solidFill>
                  <a:schemeClr val="bg1"/>
                </a:solidFill>
                <a:sym typeface="Symbol" panose="05050102010706020507" pitchFamily="18" charset="2"/>
              </a:rPr>
              <a:t></a:t>
            </a:r>
            <a:r>
              <a:rPr lang="zh-CN" altLang="en-US" dirty="0" smtClean="0">
                <a:solidFill>
                  <a:schemeClr val="bg2"/>
                </a:solidFill>
              </a:rPr>
              <a:t>符号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2276872"/>
            <a:ext cx="5256584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定义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设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是定义域为自然数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集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上的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函数。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若存在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正数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c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baseline="-25000" dirty="0" smtClean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，使得对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一切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 </a:t>
            </a:r>
            <a:r>
              <a:rPr lang="en-US" altLang="zh-CN" dirty="0">
                <a:solidFill>
                  <a:srgbClr val="000000"/>
                </a:solidFill>
                <a:latin typeface="Symbol" panose="05050102010706020507"/>
              </a:rPr>
              <a:t>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有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693652" y="3831431"/>
            <a:ext cx="28783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0 </a:t>
            </a:r>
            <a:r>
              <a:rPr lang="en-US" altLang="zh-CN" dirty="0">
                <a:solidFill>
                  <a:srgbClr val="000000"/>
                </a:solidFill>
                <a:latin typeface="Symbol" panose="05050102010706020507"/>
              </a:rPr>
              <a:t>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cg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</a:t>
            </a:r>
            <a:r>
              <a:rPr lang="en-US" altLang="zh-CN" dirty="0">
                <a:solidFill>
                  <a:srgbClr val="000000"/>
                </a:solidFill>
                <a:latin typeface="Symbol" panose="05050102010706020507"/>
              </a:rPr>
              <a:t>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27584" y="4581128"/>
            <a:ext cx="5382142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成立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则称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的渐近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的下界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是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，记作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/>
              </a:rPr>
              <a:t>= 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</a:t>
            </a:r>
            <a:r>
              <a:rPr lang="en-US" altLang="zh-CN" b="1" i="1" dirty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))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43" t="5886"/>
          <a:stretch>
            <a:fillRect/>
          </a:stretch>
        </p:blipFill>
        <p:spPr bwMode="auto">
          <a:xfrm>
            <a:off x="6209726" y="2206470"/>
            <a:ext cx="2635824" cy="389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1647032"/>
            <a:ext cx="525658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大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</a:t>
            </a:r>
            <a:r>
              <a:rPr lang="zh-CN" altLang="en-US" dirty="0" smtClean="0">
                <a:solidFill>
                  <a:schemeClr val="bg2"/>
                </a:solidFill>
              </a:rPr>
              <a:t>符号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举例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115616" y="2276872"/>
            <a:ext cx="23567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 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sz="1600" b="1" baseline="30000" dirty="0">
                <a:solidFill>
                  <a:srgbClr val="000000"/>
                </a:solidFill>
                <a:latin typeface="Times New Roman" panose="02020603050405020304"/>
              </a:rPr>
              <a:t>2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，则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403648" y="2787313"/>
            <a:ext cx="7344816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Symbol" panose="05050102010706020507" pitchFamily="18" charset="2"/>
              <a:buChar char=""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)=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sz="1600" b="1" baseline="30000" dirty="0" smtClean="0">
                <a:solidFill>
                  <a:srgbClr val="000000"/>
                </a:solidFill>
                <a:latin typeface="Times New Roman" panose="02020603050405020304"/>
              </a:rPr>
              <a:t>2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 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取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c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=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sz="1600" b="1" baseline="-25000" dirty="0" smtClean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=0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可。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Symbol" panose="05050102010706020507" pitchFamily="18" charset="2"/>
              <a:buChar char=""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)=100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 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))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取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c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=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anose="02020603050405020304"/>
              </a:rPr>
              <a:t>1/100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anose="02020603050405020304"/>
              </a:rPr>
              <a:t>n</a:t>
            </a:r>
            <a:r>
              <a:rPr lang="en-US" altLang="zh-CN" sz="1600" b="1" baseline="-25000" dirty="0" smtClean="0">
                <a:solidFill>
                  <a:srgbClr val="000000"/>
                </a:solidFill>
                <a:latin typeface="Times New Roman" panose="02020603050405020304"/>
              </a:rPr>
              <a:t>0</a:t>
            </a: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=1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可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091984" y="3933056"/>
            <a:ext cx="6864392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))</a:t>
            </a:r>
            <a:r>
              <a:rPr lang="zh-CN" altLang="en-US" dirty="0">
                <a:solidFill>
                  <a:schemeClr val="bg2"/>
                </a:solidFill>
              </a:rPr>
              <a:t>， </a:t>
            </a:r>
            <a:r>
              <a:rPr lang="en-US" altLang="zh-CN" b="1" i="1" dirty="0">
                <a:solidFill>
                  <a:schemeClr val="bg2"/>
                </a:solidFill>
              </a:rPr>
              <a:t>f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zh-CN" altLang="en-US" dirty="0">
                <a:solidFill>
                  <a:schemeClr val="bg2"/>
                </a:solidFill>
              </a:rPr>
              <a:t>的阶</a:t>
            </a:r>
            <a:r>
              <a:rPr lang="zh-CN" altLang="en-US" b="1" dirty="0">
                <a:solidFill>
                  <a:srgbClr val="FF0000"/>
                </a:solidFill>
              </a:rPr>
              <a:t>不低于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zh-CN" altLang="en-US" dirty="0">
                <a:solidFill>
                  <a:schemeClr val="bg2"/>
                </a:solidFill>
              </a:rPr>
              <a:t>的</a:t>
            </a:r>
            <a:r>
              <a:rPr lang="zh-CN" altLang="en-US" dirty="0" smtClean="0">
                <a:solidFill>
                  <a:schemeClr val="bg2"/>
                </a:solidFill>
              </a:rPr>
              <a:t>阶。 </a:t>
            </a:r>
            <a:endParaRPr lang="en-US" altLang="zh-CN" dirty="0" smtClean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可能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</a:rPr>
              <a:t>存在多个正数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/>
              </a:rPr>
              <a:t>c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</a:rPr>
              <a:t>，只要指出一个即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可。</a:t>
            </a:r>
            <a:endParaRPr lang="en-US" altLang="zh-CN" dirty="0" smtClean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chemeClr val="bg2"/>
                </a:solidFill>
                <a:latin typeface="Times New Roman" panose="02020603050405020304"/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对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/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前面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</a:rPr>
              <a:t>有限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/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值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</a:rPr>
              <a:t>可以不满足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不等式。</a:t>
            </a:r>
            <a:endParaRPr lang="en-US" altLang="zh-CN" b="1" dirty="0" smtClean="0">
              <a:solidFill>
                <a:schemeClr val="bg2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1700808"/>
            <a:ext cx="8064896" cy="350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大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  <a:sym typeface="Symbol" panose="05050102010706020507"/>
              </a:rPr>
              <a:t>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符号用来描述增长率的下界，表示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的增长最少像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g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) 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增长的那样快，也就是说，当输入规模为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时，算法消耗时间的最小值。</a:t>
            </a:r>
            <a:endParaRPr lang="en-US" altLang="zh-CN" dirty="0">
              <a:solidFill>
                <a:schemeClr val="bg2"/>
              </a:solidFill>
              <a:cs typeface="Consolas" panose="020B0609020204030204" pitchFamily="49" charset="0"/>
            </a:endParaRPr>
          </a:p>
          <a:p>
            <a:pPr marL="457200" indent="-457200" algn="just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这个下界的阶越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高结果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就越有价值，所以，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对于多项式</a:t>
            </a:r>
            <a:r>
              <a:rPr lang="en-US" altLang="zh-CN" dirty="0" smtClean="0">
                <a:solidFill>
                  <a:schemeClr val="bg2"/>
                </a:solidFill>
                <a:cs typeface="Consolas" panose="020B0609020204030204" pitchFamily="49" charset="0"/>
              </a:rPr>
              <a:t>10</a:t>
            </a:r>
            <a:r>
              <a:rPr lang="en-US" altLang="zh-CN" i="1" dirty="0" smtClean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baseline="30000" dirty="0" smtClean="0">
                <a:solidFill>
                  <a:schemeClr val="bg2"/>
                </a:solidFill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cs typeface="Consolas" panose="020B0609020204030204" pitchFamily="49" charset="0"/>
              </a:rPr>
              <a:t>+4</a:t>
            </a:r>
            <a:r>
              <a:rPr lang="en-US" altLang="zh-CN" i="1" dirty="0" smtClean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dirty="0" smtClean="0">
                <a:solidFill>
                  <a:schemeClr val="bg2"/>
                </a:solidFill>
                <a:cs typeface="Consolas" panose="020B0609020204030204" pitchFamily="49" charset="0"/>
              </a:rPr>
              <a:t>+2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，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  <a:sym typeface="Symbol" panose="05050102010706020507"/>
              </a:rPr>
              <a:t>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en-US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baseline="30000" dirty="0">
                <a:solidFill>
                  <a:schemeClr val="bg2"/>
                </a:solidFill>
                <a:cs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比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  <a:sym typeface="Symbol" panose="05050102010706020507"/>
              </a:rPr>
              <a:t>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en-US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) 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有价值。</a:t>
            </a:r>
            <a:endParaRPr lang="en-US" altLang="zh-CN" dirty="0">
              <a:solidFill>
                <a:schemeClr val="bg2"/>
              </a:solidFill>
              <a:cs typeface="Consolas" panose="020B0609020204030204" pitchFamily="49" charset="0"/>
            </a:endParaRPr>
          </a:p>
          <a:p>
            <a:pPr marL="457200" indent="-457200" algn="just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一个算法的时间用大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  <a:sym typeface="Symbol" panose="05050102010706020507"/>
              </a:rPr>
              <a:t>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符号表示时，总是采用最有价值的</a:t>
            </a:r>
            <a:r>
              <a:rPr lang="en-US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g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en-US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altLang="zh-CN" dirty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表示，称之为“紧凑下界”或“紧确下界”。 </a:t>
            </a:r>
            <a:endParaRPr lang="en-US" altLang="zh-CN" dirty="0">
              <a:solidFill>
                <a:schemeClr val="bg2"/>
              </a:solidFill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1772816"/>
            <a:ext cx="228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  </a:t>
            </a:r>
            <a:r>
              <a:rPr lang="zh-CN" altLang="en-US" dirty="0" smtClean="0">
                <a:solidFill>
                  <a:schemeClr val="bg2"/>
                </a:solidFill>
              </a:rPr>
              <a:t>符号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2276872"/>
            <a:ext cx="5256584" cy="936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定义：</a:t>
            </a:r>
            <a:r>
              <a:rPr lang="zh-CN" altLang="en-US" dirty="0">
                <a:solidFill>
                  <a:schemeClr val="bg2"/>
                </a:solidFill>
              </a:rPr>
              <a:t>若 </a:t>
            </a:r>
            <a:r>
              <a:rPr lang="en-US" altLang="zh-CN" b="1" i="1" dirty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= </a:t>
            </a:r>
            <a:r>
              <a:rPr lang="en-US" altLang="zh-CN" b="1" i="1" dirty="0">
                <a:solidFill>
                  <a:schemeClr val="bg2"/>
                </a:solidFill>
              </a:rPr>
              <a:t>O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)) </a:t>
            </a:r>
            <a:r>
              <a:rPr lang="zh-CN" altLang="en-US" dirty="0">
                <a:solidFill>
                  <a:schemeClr val="bg2"/>
                </a:solidFill>
              </a:rPr>
              <a:t>且 </a:t>
            </a:r>
            <a:r>
              <a:rPr lang="en-US" altLang="zh-CN" b="1" i="1" dirty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= 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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))</a:t>
            </a:r>
            <a:r>
              <a:rPr lang="zh-CN" altLang="en-US" b="1" dirty="0" smtClean="0">
                <a:solidFill>
                  <a:schemeClr val="bg2"/>
                </a:solidFill>
              </a:rPr>
              <a:t>，</a:t>
            </a:r>
            <a:r>
              <a:rPr lang="zh-CN" altLang="en-US" dirty="0" smtClean="0">
                <a:solidFill>
                  <a:schemeClr val="bg2"/>
                </a:solidFill>
              </a:rPr>
              <a:t>则</a:t>
            </a:r>
            <a:r>
              <a:rPr lang="zh-CN" altLang="en-US" dirty="0">
                <a:solidFill>
                  <a:schemeClr val="bg2"/>
                </a:solidFill>
              </a:rPr>
              <a:t>记作</a:t>
            </a:r>
            <a:r>
              <a:rPr lang="en-US" altLang="zh-CN" b="1" i="1" dirty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= 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 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))</a:t>
            </a:r>
            <a:r>
              <a:rPr lang="zh-CN" altLang="en-US" b="1" dirty="0" smtClean="0">
                <a:solidFill>
                  <a:schemeClr val="bg2"/>
                </a:solidFill>
              </a:rPr>
              <a:t>。</a:t>
            </a:r>
            <a:endParaRPr lang="en-US" altLang="zh-CN" b="1" dirty="0">
              <a:solidFill>
                <a:schemeClr val="bg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7947" y="3429000"/>
            <a:ext cx="51022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例子</a:t>
            </a:r>
            <a:r>
              <a:rPr lang="zh-CN" altLang="en-US" dirty="0">
                <a:solidFill>
                  <a:schemeClr val="bg2"/>
                </a:solidFill>
              </a:rPr>
              <a:t>： </a:t>
            </a:r>
            <a:r>
              <a:rPr lang="en-US" altLang="zh-CN" b="1" i="1" dirty="0">
                <a:solidFill>
                  <a:schemeClr val="bg2"/>
                </a:solidFill>
              </a:rPr>
              <a:t>f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=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 +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</a:t>
            </a:r>
            <a:r>
              <a:rPr lang="en-US" altLang="zh-CN" b="1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r>
              <a:rPr lang="zh-CN" altLang="en-US" dirty="0">
                <a:solidFill>
                  <a:schemeClr val="bg2"/>
                </a:solidFill>
              </a:rPr>
              <a:t>，那么</a:t>
            </a:r>
            <a:r>
              <a:rPr lang="zh-CN" altLang="en-US" dirty="0" smtClean="0">
                <a:solidFill>
                  <a:schemeClr val="bg2"/>
                </a:solidFill>
              </a:rPr>
              <a:t>有</a:t>
            </a:r>
            <a:r>
              <a:rPr lang="en-US" altLang="zh-CN" b="1" i="1" dirty="0" smtClean="0">
                <a:solidFill>
                  <a:schemeClr val="bg2"/>
                </a:solidFill>
              </a:rPr>
              <a:t>f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 </a:t>
            </a:r>
            <a:r>
              <a:rPr lang="en-US" altLang="zh-CN" dirty="0" smtClean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))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4004" y="4437112"/>
            <a:ext cx="5290164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1. </a:t>
            </a:r>
            <a:r>
              <a:rPr lang="en-US" altLang="zh-CN" b="1" i="1" dirty="0">
                <a:solidFill>
                  <a:schemeClr val="bg2"/>
                </a:solidFill>
              </a:rPr>
              <a:t>f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</a:t>
            </a:r>
            <a:r>
              <a:rPr lang="zh-CN" altLang="en-US" dirty="0">
                <a:solidFill>
                  <a:schemeClr val="bg2"/>
                </a:solidFill>
              </a:rPr>
              <a:t>的阶与 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</a:t>
            </a:r>
            <a:r>
              <a:rPr lang="zh-CN" altLang="en-US" dirty="0">
                <a:solidFill>
                  <a:schemeClr val="bg2"/>
                </a:solidFill>
              </a:rPr>
              <a:t>的阶</a:t>
            </a:r>
            <a:r>
              <a:rPr lang="zh-CN" altLang="en-US" b="1" dirty="0">
                <a:solidFill>
                  <a:srgbClr val="FF0000"/>
                </a:solidFill>
              </a:rPr>
              <a:t>相等</a:t>
            </a:r>
            <a:r>
              <a:rPr lang="en-US" altLang="zh-CN" b="1" dirty="0">
                <a:solidFill>
                  <a:schemeClr val="bg2"/>
                </a:solidFill>
              </a:rPr>
              <a:t>.</a:t>
            </a:r>
            <a:br>
              <a:rPr lang="en-US" altLang="zh-CN" b="1" dirty="0">
                <a:solidFill>
                  <a:schemeClr val="bg2"/>
                </a:solidFill>
              </a:rPr>
            </a:br>
            <a:r>
              <a:rPr lang="en-US" altLang="zh-CN" b="1" dirty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.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</a:rPr>
              <a:t>对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/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  <a:latin typeface="Times New Roman" panose="02020603050405020304"/>
              </a:rPr>
              <a:t>0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</a:rPr>
              <a:t>前面有限个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/>
              </a:rPr>
              <a:t>n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</a:rPr>
              <a:t>值</a:t>
            </a:r>
            <a:r>
              <a:rPr lang="zh-CN" altLang="en-US" dirty="0" smtClean="0">
                <a:solidFill>
                  <a:schemeClr val="bg2"/>
                </a:solidFill>
              </a:rPr>
              <a:t>可以</a:t>
            </a:r>
            <a:r>
              <a:rPr lang="zh-CN" altLang="en-US" dirty="0">
                <a:solidFill>
                  <a:schemeClr val="bg2"/>
                </a:solidFill>
              </a:rPr>
              <a:t>不满足条件</a:t>
            </a:r>
            <a:r>
              <a:rPr lang="en-US" altLang="zh-CN" b="1" dirty="0" smtClean="0">
                <a:solidFill>
                  <a:schemeClr val="bg2"/>
                </a:solidFill>
              </a:rPr>
              <a:t>.</a:t>
            </a:r>
            <a:endParaRPr lang="zh-CN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69"/>
          <a:stretch>
            <a:fillRect/>
          </a:stretch>
        </p:blipFill>
        <p:spPr bwMode="auto">
          <a:xfrm>
            <a:off x="5975686" y="1758193"/>
            <a:ext cx="2839934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3304" y="1526823"/>
            <a:ext cx="5256584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</a:t>
            </a:r>
            <a:r>
              <a:rPr lang="zh-CN" altLang="en-US" dirty="0" smtClean="0">
                <a:solidFill>
                  <a:schemeClr val="bg2"/>
                </a:solidFill>
              </a:rPr>
              <a:t>符号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举例：</a:t>
            </a:r>
            <a:r>
              <a:rPr lang="zh-CN" altLang="en-US" dirty="0">
                <a:solidFill>
                  <a:schemeClr val="bg2"/>
                </a:solidFill>
              </a:rPr>
              <a:t>素数</a:t>
            </a:r>
            <a:r>
              <a:rPr lang="zh-CN" altLang="en-US" dirty="0" smtClean="0">
                <a:solidFill>
                  <a:schemeClr val="bg2"/>
                </a:solidFill>
              </a:rPr>
              <a:t>测试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7320" y="1940639"/>
            <a:ext cx="4176464" cy="3303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solidFill>
                  <a:schemeClr val="bg2"/>
                </a:solidFill>
              </a:rPr>
              <a:t>算法</a:t>
            </a:r>
            <a:r>
              <a:rPr lang="en-US" altLang="zh-CN" sz="2200" b="1" dirty="0" err="1">
                <a:solidFill>
                  <a:schemeClr val="bg2"/>
                </a:solidFill>
              </a:rPr>
              <a:t>PrimalityTest</a:t>
            </a:r>
            <a:r>
              <a:rPr lang="en-US" altLang="zh-CN" sz="2200" b="1" dirty="0">
                <a:solidFill>
                  <a:schemeClr val="bg2"/>
                </a:solidFill>
              </a:rPr>
              <a:t>(</a:t>
            </a:r>
            <a:r>
              <a:rPr lang="en-US" altLang="zh-CN" sz="2200" b="1" i="1" dirty="0">
                <a:solidFill>
                  <a:schemeClr val="bg2"/>
                </a:solidFill>
              </a:rPr>
              <a:t>n</a:t>
            </a:r>
            <a:r>
              <a:rPr lang="en-US" altLang="zh-CN" sz="2200" b="1" dirty="0">
                <a:solidFill>
                  <a:schemeClr val="bg2"/>
                </a:solidFill>
              </a:rPr>
              <a:t>)</a:t>
            </a:r>
            <a:br>
              <a:rPr lang="en-US" altLang="zh-CN" sz="2200" b="1" dirty="0">
                <a:solidFill>
                  <a:schemeClr val="bg2"/>
                </a:solidFill>
              </a:rPr>
            </a:br>
            <a:r>
              <a:rPr lang="zh-CN" altLang="en-US" sz="2200" dirty="0">
                <a:solidFill>
                  <a:schemeClr val="bg2"/>
                </a:solidFill>
              </a:rPr>
              <a:t>输入： </a:t>
            </a:r>
            <a:r>
              <a:rPr lang="en-US" altLang="zh-CN" sz="2200" b="1" i="1" dirty="0">
                <a:solidFill>
                  <a:schemeClr val="bg2"/>
                </a:solidFill>
              </a:rPr>
              <a:t>n</a:t>
            </a:r>
            <a:r>
              <a:rPr lang="en-US" altLang="zh-CN" sz="2200" b="1" dirty="0">
                <a:solidFill>
                  <a:schemeClr val="bg2"/>
                </a:solidFill>
              </a:rPr>
              <a:t>,</a:t>
            </a:r>
            <a:r>
              <a:rPr lang="zh-CN" altLang="en-US" sz="2200" dirty="0">
                <a:solidFill>
                  <a:schemeClr val="bg2"/>
                </a:solidFill>
              </a:rPr>
              <a:t>大于</a:t>
            </a:r>
            <a:r>
              <a:rPr lang="en-US" altLang="zh-CN" sz="2200" b="1" dirty="0">
                <a:solidFill>
                  <a:schemeClr val="bg2"/>
                </a:solidFill>
              </a:rPr>
              <a:t>2</a:t>
            </a:r>
            <a:r>
              <a:rPr lang="zh-CN" altLang="en-US" sz="2200" dirty="0">
                <a:solidFill>
                  <a:schemeClr val="bg2"/>
                </a:solidFill>
              </a:rPr>
              <a:t>的奇整数</a:t>
            </a:r>
            <a:br>
              <a:rPr lang="zh-CN" altLang="en-US" sz="2200" dirty="0">
                <a:solidFill>
                  <a:schemeClr val="bg2"/>
                </a:solidFill>
              </a:rPr>
            </a:br>
            <a:r>
              <a:rPr lang="zh-CN" altLang="en-US" sz="2200" dirty="0">
                <a:solidFill>
                  <a:schemeClr val="bg2"/>
                </a:solidFill>
              </a:rPr>
              <a:t>输出： </a:t>
            </a:r>
            <a:r>
              <a:rPr lang="en-US" altLang="zh-CN" sz="2200" b="1" dirty="0">
                <a:solidFill>
                  <a:schemeClr val="bg2"/>
                </a:solidFill>
              </a:rPr>
              <a:t>true </a:t>
            </a:r>
            <a:r>
              <a:rPr lang="zh-CN" altLang="en-US" sz="2200" dirty="0">
                <a:solidFill>
                  <a:schemeClr val="bg2"/>
                </a:solidFill>
              </a:rPr>
              <a:t>或者</a:t>
            </a:r>
            <a:r>
              <a:rPr lang="en-US" altLang="zh-CN" sz="2200" b="1" dirty="0">
                <a:solidFill>
                  <a:schemeClr val="bg2"/>
                </a:solidFill>
              </a:rPr>
              <a:t>false</a:t>
            </a:r>
            <a:br>
              <a:rPr lang="en-US" altLang="zh-CN" sz="2200" b="1" dirty="0">
                <a:solidFill>
                  <a:schemeClr val="bg2"/>
                </a:solidFill>
              </a:rPr>
            </a:br>
            <a:r>
              <a:rPr lang="en-US" altLang="zh-CN" sz="2200" b="1" dirty="0">
                <a:solidFill>
                  <a:schemeClr val="bg2"/>
                </a:solidFill>
              </a:rPr>
              <a:t>1</a:t>
            </a:r>
            <a:r>
              <a:rPr lang="zh-CN" altLang="en-US" sz="2200" dirty="0">
                <a:solidFill>
                  <a:schemeClr val="bg2"/>
                </a:solidFill>
              </a:rPr>
              <a:t>． </a:t>
            </a:r>
            <a:r>
              <a:rPr lang="en-US" altLang="zh-CN" sz="2200" b="1" i="1" dirty="0" err="1" smtClean="0">
                <a:solidFill>
                  <a:schemeClr val="bg2"/>
                </a:solidFill>
              </a:rPr>
              <a:t>s←</a:t>
            </a:r>
            <a:r>
              <a:rPr lang="en-US" altLang="zh-CN" sz="2200" b="1" dirty="0" err="1" smtClean="0">
                <a:solidFill>
                  <a:schemeClr val="bg2"/>
                </a:solidFill>
              </a:rPr>
              <a:t>int</a:t>
            </a:r>
            <a:r>
              <a:rPr lang="en-US" altLang="zh-CN" sz="2200" b="1" i="1" dirty="0" smtClean="0">
                <a:solidFill>
                  <a:schemeClr val="bg2"/>
                </a:solidFill>
              </a:rPr>
              <a:t>(n</a:t>
            </a:r>
            <a:r>
              <a:rPr lang="en-US" altLang="zh-CN" sz="2200" b="1" baseline="30000" dirty="0" smtClean="0">
                <a:solidFill>
                  <a:schemeClr val="bg2"/>
                </a:solidFill>
              </a:rPr>
              <a:t>1/2</a:t>
            </a:r>
            <a:r>
              <a:rPr lang="en-US" altLang="zh-CN" sz="2200" b="1" dirty="0" smtClean="0">
                <a:solidFill>
                  <a:schemeClr val="bg2"/>
                </a:solidFill>
              </a:rPr>
              <a:t>)</a:t>
            </a:r>
            <a:r>
              <a:rPr lang="en-US" altLang="zh-CN" sz="2200" dirty="0" smtClean="0">
                <a:solidFill>
                  <a:schemeClr val="bg2"/>
                </a:solidFill>
              </a:rPr>
              <a:t></a:t>
            </a:r>
            <a:br>
              <a:rPr lang="en-US" altLang="zh-CN" sz="2200" dirty="0">
                <a:solidFill>
                  <a:schemeClr val="bg2"/>
                </a:solidFill>
              </a:rPr>
            </a:br>
            <a:r>
              <a:rPr lang="en-US" altLang="zh-CN" sz="2200" b="1" dirty="0">
                <a:solidFill>
                  <a:schemeClr val="bg2"/>
                </a:solidFill>
              </a:rPr>
              <a:t>2</a:t>
            </a:r>
            <a:r>
              <a:rPr lang="zh-CN" altLang="en-US" sz="2200" dirty="0">
                <a:solidFill>
                  <a:schemeClr val="bg2"/>
                </a:solidFill>
              </a:rPr>
              <a:t>． </a:t>
            </a:r>
            <a:r>
              <a:rPr lang="en-US" altLang="zh-CN" sz="2200" b="1" dirty="0">
                <a:solidFill>
                  <a:schemeClr val="bg2"/>
                </a:solidFill>
              </a:rPr>
              <a:t>for </a:t>
            </a:r>
            <a:r>
              <a:rPr lang="en-US" altLang="zh-CN" sz="2200" b="1" i="1" dirty="0" smtClean="0">
                <a:solidFill>
                  <a:schemeClr val="bg2"/>
                </a:solidFill>
              </a:rPr>
              <a:t>j</a:t>
            </a:r>
            <a:r>
              <a:rPr lang="en-US" altLang="zh-CN" sz="2200" b="1" i="1" dirty="0">
                <a:solidFill>
                  <a:schemeClr val="bg2"/>
                </a:solidFill>
              </a:rPr>
              <a:t> ← </a:t>
            </a:r>
            <a:r>
              <a:rPr lang="en-US" altLang="zh-CN" sz="2200" b="1" dirty="0" smtClean="0">
                <a:solidFill>
                  <a:schemeClr val="bg2"/>
                </a:solidFill>
              </a:rPr>
              <a:t>2 </a:t>
            </a:r>
            <a:r>
              <a:rPr lang="en-US" altLang="zh-CN" sz="2200" b="1" dirty="0">
                <a:solidFill>
                  <a:schemeClr val="bg2"/>
                </a:solidFill>
              </a:rPr>
              <a:t>to </a:t>
            </a:r>
            <a:r>
              <a:rPr lang="en-US" altLang="zh-CN" sz="2200" b="1" i="1" dirty="0">
                <a:solidFill>
                  <a:schemeClr val="bg2"/>
                </a:solidFill>
              </a:rPr>
              <a:t>s</a:t>
            </a:r>
            <a:br>
              <a:rPr lang="en-US" altLang="zh-CN" sz="2200" b="1" i="1" dirty="0">
                <a:solidFill>
                  <a:schemeClr val="bg2"/>
                </a:solidFill>
              </a:rPr>
            </a:br>
            <a:r>
              <a:rPr lang="en-US" altLang="zh-CN" sz="2200" b="1" dirty="0">
                <a:solidFill>
                  <a:schemeClr val="bg2"/>
                </a:solidFill>
              </a:rPr>
              <a:t>3</a:t>
            </a:r>
            <a:r>
              <a:rPr lang="zh-CN" altLang="en-US" sz="2200" dirty="0">
                <a:solidFill>
                  <a:schemeClr val="bg2"/>
                </a:solidFill>
              </a:rPr>
              <a:t>． </a:t>
            </a:r>
            <a:r>
              <a:rPr lang="zh-CN" altLang="en-US" sz="2200" dirty="0" smtClean="0">
                <a:solidFill>
                  <a:schemeClr val="bg2"/>
                </a:solidFill>
              </a:rPr>
              <a:t>      </a:t>
            </a:r>
            <a:r>
              <a:rPr lang="en-US" altLang="zh-CN" sz="2200" b="1" dirty="0" smtClean="0">
                <a:solidFill>
                  <a:schemeClr val="bg2"/>
                </a:solidFill>
              </a:rPr>
              <a:t>if  </a:t>
            </a:r>
            <a:r>
              <a:rPr lang="en-US" altLang="zh-CN" sz="2200" b="1" i="1" dirty="0" smtClean="0">
                <a:solidFill>
                  <a:schemeClr val="bg2"/>
                </a:solidFill>
              </a:rPr>
              <a:t>j </a:t>
            </a:r>
            <a:r>
              <a:rPr lang="zh-CN" altLang="en-US" sz="2200" dirty="0">
                <a:solidFill>
                  <a:schemeClr val="bg2"/>
                </a:solidFill>
              </a:rPr>
              <a:t>整除 </a:t>
            </a:r>
            <a:r>
              <a:rPr lang="en-US" altLang="zh-CN" sz="2200" b="1" i="1" dirty="0">
                <a:solidFill>
                  <a:schemeClr val="bg2"/>
                </a:solidFill>
              </a:rPr>
              <a:t>n</a:t>
            </a:r>
            <a:br>
              <a:rPr lang="en-US" altLang="zh-CN" sz="2200" b="1" i="1" dirty="0">
                <a:solidFill>
                  <a:schemeClr val="bg2"/>
                </a:solidFill>
              </a:rPr>
            </a:br>
            <a:r>
              <a:rPr lang="en-US" altLang="zh-CN" sz="2200" b="1" dirty="0">
                <a:solidFill>
                  <a:schemeClr val="bg2"/>
                </a:solidFill>
              </a:rPr>
              <a:t>4</a:t>
            </a:r>
            <a:r>
              <a:rPr lang="zh-CN" altLang="en-US" sz="2200" dirty="0">
                <a:solidFill>
                  <a:schemeClr val="bg2"/>
                </a:solidFill>
              </a:rPr>
              <a:t>． </a:t>
            </a:r>
            <a:r>
              <a:rPr lang="zh-CN" altLang="en-US" sz="2200" dirty="0" smtClean="0">
                <a:solidFill>
                  <a:schemeClr val="bg2"/>
                </a:solidFill>
              </a:rPr>
              <a:t>            </a:t>
            </a:r>
            <a:r>
              <a:rPr lang="en-US" altLang="zh-CN" sz="2200" b="1" dirty="0" smtClean="0">
                <a:solidFill>
                  <a:schemeClr val="bg2"/>
                </a:solidFill>
              </a:rPr>
              <a:t>then </a:t>
            </a:r>
            <a:r>
              <a:rPr lang="en-US" altLang="zh-CN" sz="2200" b="1" dirty="0">
                <a:solidFill>
                  <a:schemeClr val="bg2"/>
                </a:solidFill>
              </a:rPr>
              <a:t>return false</a:t>
            </a:r>
            <a:br>
              <a:rPr lang="en-US" altLang="zh-CN" sz="2200" b="1" dirty="0">
                <a:solidFill>
                  <a:schemeClr val="bg2"/>
                </a:solidFill>
              </a:rPr>
            </a:br>
            <a:r>
              <a:rPr lang="en-US" altLang="zh-CN" sz="2200" b="1" dirty="0">
                <a:solidFill>
                  <a:schemeClr val="bg2"/>
                </a:solidFill>
              </a:rPr>
              <a:t>5</a:t>
            </a:r>
            <a:r>
              <a:rPr lang="zh-CN" altLang="en-US" sz="2200" dirty="0">
                <a:solidFill>
                  <a:schemeClr val="bg2"/>
                </a:solidFill>
              </a:rPr>
              <a:t>． </a:t>
            </a:r>
            <a:r>
              <a:rPr lang="en-US" altLang="zh-CN" sz="2200" b="1" dirty="0">
                <a:solidFill>
                  <a:schemeClr val="bg2"/>
                </a:solidFill>
              </a:rPr>
              <a:t>return true</a:t>
            </a:r>
            <a:r>
              <a:rPr lang="en-US" altLang="zh-CN" sz="2200" dirty="0">
                <a:solidFill>
                  <a:schemeClr val="bg2"/>
                </a:solidFill>
              </a:rPr>
              <a:t> </a:t>
            </a:r>
            <a:endParaRPr lang="zh-CN" altLang="en-US" sz="2200" dirty="0">
              <a:solidFill>
                <a:schemeClr val="bg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57800" y="1796623"/>
            <a:ext cx="3168352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问题：</a:t>
            </a:r>
            <a:br>
              <a:rPr lang="zh-CN" altLang="en-US" dirty="0">
                <a:solidFill>
                  <a:schemeClr val="bg2"/>
                </a:solidFill>
              </a:rPr>
            </a:br>
            <a:r>
              <a:rPr lang="zh-CN" altLang="en-US" dirty="0">
                <a:solidFill>
                  <a:schemeClr val="bg2"/>
                </a:solidFill>
              </a:rPr>
              <a:t>若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1/2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可在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en-US" altLang="zh-CN" b="1" dirty="0">
                <a:solidFill>
                  <a:schemeClr val="bg2"/>
                </a:solidFill>
              </a:rPr>
              <a:t>(1</a:t>
            </a:r>
            <a:r>
              <a:rPr lang="en-US" altLang="zh-CN" b="1" dirty="0" smtClean="0">
                <a:solidFill>
                  <a:schemeClr val="bg2"/>
                </a:solidFill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</a:rPr>
              <a:t>计算，基本运算是整除</a:t>
            </a:r>
            <a:r>
              <a:rPr lang="zh-CN" altLang="en-US" b="1" dirty="0">
                <a:solidFill>
                  <a:schemeClr val="bg2"/>
                </a:solidFill>
              </a:rPr>
              <a:t>，</a:t>
            </a:r>
            <a:r>
              <a:rPr lang="zh-CN" altLang="en-US" dirty="0" smtClean="0">
                <a:solidFill>
                  <a:schemeClr val="bg2"/>
                </a:solidFill>
              </a:rPr>
              <a:t>以下表示</a:t>
            </a:r>
            <a:r>
              <a:rPr lang="zh-CN" altLang="en-US" dirty="0">
                <a:solidFill>
                  <a:schemeClr val="bg2"/>
                </a:solidFill>
              </a:rPr>
              <a:t>是否正确</a:t>
            </a:r>
            <a:r>
              <a:rPr lang="zh-CN" altLang="en-US" dirty="0" smtClean="0">
                <a:solidFill>
                  <a:schemeClr val="bg2"/>
                </a:solidFill>
              </a:rPr>
              <a:t>？</a:t>
            </a:r>
            <a:br>
              <a:rPr lang="zh-CN" altLang="en-US" dirty="0">
                <a:solidFill>
                  <a:schemeClr val="bg2"/>
                </a:solidFill>
              </a:rPr>
            </a:br>
            <a:r>
              <a:rPr lang="zh-CN" altLang="en-US" dirty="0" smtClean="0">
                <a:solidFill>
                  <a:schemeClr val="bg2"/>
                </a:solidFill>
              </a:rPr>
              <a:t>    </a:t>
            </a:r>
            <a:r>
              <a:rPr lang="en-US" altLang="zh-CN" b="1" i="1" dirty="0" smtClean="0">
                <a:solidFill>
                  <a:schemeClr val="bg2"/>
                </a:solidFill>
              </a:rPr>
              <a:t>W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1/2</a:t>
            </a:r>
            <a:r>
              <a:rPr lang="en-US" altLang="zh-CN" b="1" dirty="0" smtClean="0">
                <a:solidFill>
                  <a:schemeClr val="bg2"/>
                </a:solidFill>
              </a:rPr>
              <a:t>)</a:t>
            </a:r>
            <a:endParaRPr lang="en-US" altLang="zh-CN" b="1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b="1" i="1" dirty="0" smtClean="0">
                <a:solidFill>
                  <a:schemeClr val="bg2"/>
                </a:solidFill>
              </a:rPr>
              <a:t>    W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</a:t>
            </a:r>
            <a:r>
              <a:rPr lang="en-US" altLang="zh-CN" b="1" i="1" dirty="0" smtClean="0">
                <a:solidFill>
                  <a:schemeClr val="bg2"/>
                </a:solidFill>
                <a:cs typeface="Consolas" panose="020B0609020204030204" pitchFamily="49" charset="0"/>
                <a:sym typeface="Symbol" panose="05050102010706020507"/>
              </a:rPr>
              <a:t>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1/2</a:t>
            </a:r>
            <a:r>
              <a:rPr lang="en-US" altLang="zh-CN" b="1" dirty="0" smtClean="0">
                <a:solidFill>
                  <a:schemeClr val="bg2"/>
                </a:solidFill>
              </a:rPr>
              <a:t>)</a:t>
            </a:r>
            <a:br>
              <a:rPr lang="en-US" altLang="zh-CN" b="1" dirty="0">
                <a:solidFill>
                  <a:schemeClr val="bg2"/>
                </a:solidFill>
              </a:rPr>
            </a:br>
            <a:r>
              <a:rPr lang="en-US" altLang="zh-CN" b="1" dirty="0" smtClean="0">
                <a:solidFill>
                  <a:schemeClr val="bg2"/>
                </a:solidFill>
              </a:rPr>
              <a:t>    </a:t>
            </a:r>
            <a:r>
              <a:rPr lang="en-US" altLang="zh-CN" b="1" i="1" dirty="0" smtClean="0">
                <a:solidFill>
                  <a:schemeClr val="bg2"/>
                </a:solidFill>
              </a:rPr>
              <a:t>W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</a:t>
            </a:r>
            <a:r>
              <a:rPr lang="en-US" altLang="zh-CN" b="1" i="1" dirty="0" smtClean="0">
                <a:solidFill>
                  <a:schemeClr val="bg2"/>
                </a:solidFill>
                <a:sym typeface="Symbol" panose="05050102010706020507" pitchFamily="18" charset="2"/>
              </a:rPr>
              <a:t> 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1/2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9552" y="5186575"/>
            <a:ext cx="8118648" cy="9787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i="1" dirty="0" smtClean="0">
                <a:solidFill>
                  <a:schemeClr val="bg2"/>
                </a:solidFill>
                <a:sym typeface="Symbol" panose="05050102010706020507" pitchFamily="18" charset="2"/>
              </a:rPr>
              <a:t>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符号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比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大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符号</a:t>
            </a:r>
            <a:r>
              <a:rPr lang="zh-CN" altLang="pt-BR" dirty="0">
                <a:solidFill>
                  <a:schemeClr val="bg2"/>
                </a:solidFill>
                <a:cs typeface="Consolas" panose="020B0609020204030204" pitchFamily="49" charset="0"/>
              </a:rPr>
              <a:t>和</a:t>
            </a:r>
            <a:r>
              <a:rPr lang="zh-CN" altLang="pt-BR" dirty="0" smtClean="0">
                <a:solidFill>
                  <a:schemeClr val="bg2"/>
                </a:solidFill>
                <a:cs typeface="Consolas" panose="020B0609020204030204" pitchFamily="49" charset="0"/>
              </a:rPr>
              <a:t>大</a:t>
            </a:r>
            <a:r>
              <a:rPr lang="en-US" altLang="zh-CN" b="1" i="1" dirty="0">
                <a:solidFill>
                  <a:schemeClr val="bg2"/>
                </a:solidFill>
                <a:cs typeface="Consolas" panose="020B0609020204030204" pitchFamily="49" charset="0"/>
                <a:sym typeface="Symbol" panose="05050102010706020507"/>
              </a:rPr>
              <a:t></a:t>
            </a:r>
            <a:r>
              <a:rPr lang="zh-CN" altLang="en-US" dirty="0" smtClean="0">
                <a:solidFill>
                  <a:schemeClr val="bg2"/>
                </a:solidFill>
                <a:cs typeface="Consolas" panose="020B0609020204030204" pitchFamily="49" charset="0"/>
              </a:rPr>
              <a:t>符号</a:t>
            </a:r>
            <a:r>
              <a:rPr lang="zh-CN" altLang="en-US" dirty="0">
                <a:solidFill>
                  <a:schemeClr val="bg2"/>
                </a:solidFill>
                <a:cs typeface="Consolas" panose="020B0609020204030204" pitchFamily="49" charset="0"/>
              </a:rPr>
              <a:t>都精确</a:t>
            </a:r>
            <a:r>
              <a:rPr lang="zh-CN" altLang="pt-BR" dirty="0">
                <a:solidFill>
                  <a:schemeClr val="bg2"/>
                </a:solidFill>
                <a:cs typeface="Consolas" panose="020B0609020204030204" pitchFamily="49" charset="0"/>
              </a:rPr>
              <a:t>，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f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pt-BR" altLang="zh-CN" dirty="0" smtClean="0">
                <a:solidFill>
                  <a:schemeClr val="bg2"/>
                </a:solidFill>
                <a:cs typeface="Consolas" panose="020B0609020204030204" pitchFamily="49" charset="0"/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 </a:t>
            </a:r>
            <a:r>
              <a:rPr lang="pt-BR" altLang="zh-CN" dirty="0" smtClean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g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pt-BR" dirty="0">
                <a:solidFill>
                  <a:schemeClr val="bg2"/>
                </a:solidFill>
                <a:cs typeface="Consolas" panose="020B0609020204030204" pitchFamily="49" charset="0"/>
              </a:rPr>
              <a:t>，当且仅当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g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pt-BR" dirty="0">
                <a:solidFill>
                  <a:schemeClr val="bg2"/>
                </a:solidFill>
                <a:cs typeface="Consolas" panose="020B0609020204030204" pitchFamily="49" charset="0"/>
              </a:rPr>
              <a:t>既是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f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pt-BR" dirty="0">
                <a:solidFill>
                  <a:schemeClr val="bg2"/>
                </a:solidFill>
                <a:cs typeface="Consolas" panose="020B0609020204030204" pitchFamily="49" charset="0"/>
              </a:rPr>
              <a:t>的上界又是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f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pt-BR" altLang="zh-CN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pt-BR" altLang="zh-CN" dirty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pt-BR" dirty="0">
                <a:solidFill>
                  <a:schemeClr val="bg2"/>
                </a:solidFill>
                <a:cs typeface="Consolas" panose="020B0609020204030204" pitchFamily="49" charset="0"/>
              </a:rPr>
              <a:t>的下界。</a:t>
            </a:r>
            <a:endParaRPr lang="zh-CN" altLang="en-US" dirty="0">
              <a:solidFill>
                <a:schemeClr val="bg2"/>
              </a:solidFill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1772816"/>
            <a:ext cx="228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</a:rPr>
              <a:t>）</a:t>
            </a:r>
            <a:r>
              <a:rPr lang="zh-CN" altLang="en-US" dirty="0">
                <a:solidFill>
                  <a:schemeClr val="bg2"/>
                </a:solidFill>
              </a:rPr>
              <a:t>小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zh-CN" altLang="en-US" dirty="0">
                <a:solidFill>
                  <a:schemeClr val="bg2"/>
                </a:solidFill>
              </a:rPr>
              <a:t>符号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2276872"/>
            <a:ext cx="756084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定义：</a:t>
            </a:r>
            <a:r>
              <a:rPr lang="zh-CN" altLang="en-US" dirty="0">
                <a:solidFill>
                  <a:schemeClr val="bg2"/>
                </a:solidFill>
              </a:rPr>
              <a:t>设 </a:t>
            </a:r>
            <a:r>
              <a:rPr lang="en-US" altLang="zh-CN" b="1" i="1" dirty="0">
                <a:solidFill>
                  <a:schemeClr val="bg2"/>
                </a:solidFill>
              </a:rPr>
              <a:t>f </a:t>
            </a:r>
            <a:r>
              <a:rPr lang="zh-CN" altLang="en-US" dirty="0">
                <a:solidFill>
                  <a:schemeClr val="bg2"/>
                </a:solidFill>
              </a:rPr>
              <a:t>和 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zh-CN" altLang="en-US" dirty="0">
                <a:solidFill>
                  <a:schemeClr val="bg2"/>
                </a:solidFill>
              </a:rPr>
              <a:t>是定义域为自然数集 </a:t>
            </a:r>
            <a:r>
              <a:rPr lang="en-US" altLang="zh-CN" b="1" dirty="0">
                <a:solidFill>
                  <a:schemeClr val="bg2"/>
                </a:solidFill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</a:rPr>
              <a:t>上的函数。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若对于</a:t>
            </a:r>
            <a:r>
              <a:rPr lang="zh-CN" altLang="en-US" b="1" dirty="0" smtClean="0">
                <a:solidFill>
                  <a:srgbClr val="FF0000"/>
                </a:solidFill>
              </a:rPr>
              <a:t>任意正数 </a:t>
            </a:r>
            <a:r>
              <a:rPr lang="en-US" altLang="zh-CN" b="1" i="1" dirty="0">
                <a:solidFill>
                  <a:schemeClr val="bg2"/>
                </a:solidFill>
              </a:rPr>
              <a:t>c </a:t>
            </a:r>
            <a:r>
              <a:rPr lang="zh-CN" altLang="en-US" dirty="0">
                <a:solidFill>
                  <a:schemeClr val="bg2"/>
                </a:solidFill>
              </a:rPr>
              <a:t>都存在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dirty="0">
                <a:solidFill>
                  <a:schemeClr val="bg2"/>
                </a:solidFill>
              </a:rPr>
              <a:t>， </a:t>
            </a:r>
            <a:r>
              <a:rPr lang="zh-CN" altLang="en-US" dirty="0" smtClean="0">
                <a:solidFill>
                  <a:schemeClr val="bg2"/>
                </a:solidFill>
              </a:rPr>
              <a:t>使得</a:t>
            </a:r>
            <a:r>
              <a:rPr lang="zh-CN" altLang="en-US" dirty="0">
                <a:solidFill>
                  <a:schemeClr val="bg2"/>
                </a:solidFill>
              </a:rPr>
              <a:t>对一切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Symbol" panose="05050102010706020507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Symbol" panose="05050102010706020507"/>
              </a:rPr>
              <a:t>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</a:rPr>
              <a:t>有</a:t>
            </a:r>
            <a:endParaRPr lang="en-US" altLang="zh-CN" b="1" dirty="0">
              <a:solidFill>
                <a:schemeClr val="bg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49442" y="3284984"/>
            <a:ext cx="2358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</a:rPr>
              <a:t>0 </a:t>
            </a:r>
            <a:r>
              <a:rPr lang="en-US" altLang="zh-CN" dirty="0" smtClean="0">
                <a:solidFill>
                  <a:srgbClr val="000000"/>
                </a:solidFill>
                <a:latin typeface="Symbol" panose="05050102010706020507"/>
              </a:rPr>
              <a:t> </a:t>
            </a:r>
            <a:r>
              <a:rPr lang="en-US" altLang="zh-CN" b="1" i="1" dirty="0" smtClean="0">
                <a:solidFill>
                  <a:schemeClr val="bg2"/>
                </a:solidFill>
              </a:rPr>
              <a:t>f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c 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9592" y="3818657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成立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zh-CN" altLang="en-US" dirty="0">
                <a:solidFill>
                  <a:schemeClr val="bg2"/>
                </a:solidFill>
              </a:rPr>
              <a:t>则记</a:t>
            </a:r>
            <a:r>
              <a:rPr lang="zh-CN" altLang="en-US" dirty="0" smtClean="0">
                <a:solidFill>
                  <a:schemeClr val="bg2"/>
                </a:solidFill>
              </a:rPr>
              <a:t>作：</a:t>
            </a:r>
            <a:r>
              <a:rPr lang="en-US" altLang="zh-CN" b="1" i="1" dirty="0" smtClean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= 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))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568" y="1772816"/>
            <a:ext cx="75608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例子： </a:t>
            </a:r>
            <a:r>
              <a:rPr lang="en-US" altLang="zh-CN" b="1" i="1" dirty="0">
                <a:solidFill>
                  <a:schemeClr val="bg2"/>
                </a:solidFill>
              </a:rPr>
              <a:t>f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+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</a:rPr>
              <a:t>g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i="1" baseline="30000" dirty="0" smtClean="0">
                <a:solidFill>
                  <a:schemeClr val="bg2"/>
                </a:solidFill>
              </a:rPr>
              <a:t>3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       </a:t>
            </a:r>
            <a:r>
              <a:rPr lang="zh-CN" altLang="en-US" dirty="0" smtClean="0">
                <a:solidFill>
                  <a:schemeClr val="bg2"/>
                </a:solidFill>
              </a:rPr>
              <a:t>则    </a:t>
            </a:r>
            <a:r>
              <a:rPr lang="en-US" altLang="zh-CN" b="1" i="1" dirty="0" smtClean="0">
                <a:solidFill>
                  <a:schemeClr val="bg2"/>
                </a:solidFill>
              </a:rPr>
              <a:t>f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 o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g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))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9592" y="2276872"/>
            <a:ext cx="720080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1" i="1" dirty="0" smtClean="0">
                <a:solidFill>
                  <a:schemeClr val="bg2"/>
                </a:solidFill>
              </a:rPr>
              <a:t>c</a:t>
            </a:r>
            <a:r>
              <a:rPr lang="en-US" altLang="zh-CN" b="1" dirty="0" smtClean="0">
                <a:solidFill>
                  <a:schemeClr val="bg2"/>
                </a:solidFill>
              </a:rPr>
              <a:t>≥1</a:t>
            </a:r>
            <a:r>
              <a:rPr lang="zh-CN" altLang="en-US" b="1" dirty="0">
                <a:solidFill>
                  <a:schemeClr val="bg2"/>
                </a:solidFill>
              </a:rPr>
              <a:t>显然成立，因为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+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&lt;</a:t>
            </a:r>
            <a:r>
              <a:rPr lang="en-US" altLang="zh-CN" b="1" i="1" dirty="0">
                <a:solidFill>
                  <a:schemeClr val="bg2"/>
                </a:solidFill>
              </a:rPr>
              <a:t>cn</a:t>
            </a:r>
            <a:r>
              <a:rPr lang="en-US" altLang="zh-CN" b="1" baseline="30000" dirty="0">
                <a:solidFill>
                  <a:schemeClr val="bg2"/>
                </a:solidFill>
              </a:rPr>
              <a:t>3</a:t>
            </a:r>
            <a:r>
              <a:rPr lang="zh-CN" altLang="en-US" b="1" dirty="0">
                <a:solidFill>
                  <a:schemeClr val="bg2"/>
                </a:solidFill>
              </a:rPr>
              <a:t>（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en-US" altLang="zh-CN" b="1" i="1" dirty="0">
                <a:solidFill>
                  <a:schemeClr val="bg2"/>
                </a:solidFill>
              </a:rPr>
              <a:t>=</a:t>
            </a:r>
            <a:r>
              <a:rPr lang="en-US" altLang="zh-CN" b="1" dirty="0">
                <a:solidFill>
                  <a:schemeClr val="bg2"/>
                </a:solidFill>
              </a:rPr>
              <a:t>2</a:t>
            </a:r>
            <a:r>
              <a:rPr lang="zh-CN" altLang="en-US" b="1" dirty="0" smtClean="0">
                <a:solidFill>
                  <a:schemeClr val="bg2"/>
                </a:solidFill>
              </a:rPr>
              <a:t>）</a:t>
            </a:r>
            <a:endParaRPr lang="en-US" altLang="zh-CN" b="1" dirty="0" smtClean="0">
              <a:solidFill>
                <a:schemeClr val="bg2"/>
              </a:solidFill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2"/>
                </a:solidFill>
              </a:rPr>
              <a:t>任给</a:t>
            </a:r>
            <a:r>
              <a:rPr lang="en-US" altLang="zh-CN" b="1" dirty="0">
                <a:solidFill>
                  <a:schemeClr val="bg2"/>
                </a:solidFill>
              </a:rPr>
              <a:t>1&gt;</a:t>
            </a:r>
            <a:r>
              <a:rPr lang="en-US" altLang="zh-CN" b="1" i="1" dirty="0">
                <a:solidFill>
                  <a:schemeClr val="bg2"/>
                </a:solidFill>
              </a:rPr>
              <a:t>c </a:t>
            </a:r>
            <a:r>
              <a:rPr lang="en-US" altLang="zh-CN" b="1" dirty="0">
                <a:solidFill>
                  <a:schemeClr val="bg2"/>
                </a:solidFill>
              </a:rPr>
              <a:t>&gt;</a:t>
            </a:r>
            <a:r>
              <a:rPr lang="en-US" altLang="zh-CN" b="1" dirty="0" smtClean="0">
                <a:solidFill>
                  <a:schemeClr val="bg2"/>
                </a:solidFill>
              </a:rPr>
              <a:t>0</a:t>
            </a:r>
            <a:r>
              <a:rPr lang="zh-CN" altLang="en-US" b="1" dirty="0" smtClean="0">
                <a:solidFill>
                  <a:schemeClr val="bg2"/>
                </a:solidFill>
              </a:rPr>
              <a:t>，取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en-US" altLang="zh-CN" b="1" dirty="0" smtClean="0">
                <a:solidFill>
                  <a:schemeClr val="bg2"/>
                </a:solidFill>
              </a:rPr>
              <a:t> = 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┌</a:t>
            </a:r>
            <a:r>
              <a:rPr lang="en-US" altLang="zh-CN" b="1" i="1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/</a:t>
            </a:r>
            <a:r>
              <a:rPr lang="en-US" altLang="zh-CN" b="1" i="1" dirty="0" smtClean="0">
                <a:solidFill>
                  <a:schemeClr val="bg2"/>
                </a:solidFill>
              </a:rPr>
              <a:t>c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┐</a:t>
            </a:r>
            <a:r>
              <a:rPr lang="en-US" altLang="zh-CN" b="1" dirty="0" smtClean="0">
                <a:solidFill>
                  <a:schemeClr val="bg2"/>
                </a:solidFill>
              </a:rPr>
              <a:t> ,</a:t>
            </a:r>
            <a:r>
              <a:rPr lang="zh-CN" altLang="en-US" b="1" dirty="0" smtClean="0">
                <a:solidFill>
                  <a:schemeClr val="bg2"/>
                </a:solidFill>
              </a:rPr>
              <a:t>（即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 </a:t>
            </a:r>
            <a:r>
              <a:rPr lang="en-US" altLang="zh-CN" b="1" dirty="0" smtClean="0">
                <a:solidFill>
                  <a:schemeClr val="bg2"/>
                </a:solidFill>
              </a:rPr>
              <a:t>&gt;2</a:t>
            </a:r>
            <a:r>
              <a:rPr lang="zh-CN" altLang="en-US" b="1" dirty="0" smtClean="0">
                <a:solidFill>
                  <a:schemeClr val="bg2"/>
                </a:solidFill>
              </a:rPr>
              <a:t>）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71600" y="4509120"/>
            <a:ext cx="7704856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1. 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en-US" altLang="zh-CN" b="1" i="1" dirty="0" smtClean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= 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)) </a:t>
            </a:r>
            <a:r>
              <a:rPr lang="zh-CN" altLang="en-US" b="1" dirty="0" smtClean="0">
                <a:solidFill>
                  <a:schemeClr val="bg2"/>
                </a:solidFill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f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zh-CN" altLang="en-US" dirty="0">
                <a:solidFill>
                  <a:schemeClr val="bg2"/>
                </a:solidFill>
              </a:rPr>
              <a:t>的阶低于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zh-CN" altLang="en-US" dirty="0">
                <a:solidFill>
                  <a:schemeClr val="bg2"/>
                </a:solidFill>
              </a:rPr>
              <a:t>的</a:t>
            </a:r>
            <a:r>
              <a:rPr lang="zh-CN" altLang="en-US" dirty="0" smtClean="0">
                <a:solidFill>
                  <a:schemeClr val="bg2"/>
                </a:solidFill>
              </a:rPr>
              <a:t>阶。</a:t>
            </a:r>
            <a:br>
              <a:rPr lang="zh-CN" altLang="en-US" dirty="0">
                <a:solidFill>
                  <a:schemeClr val="bg2"/>
                </a:solidFill>
              </a:rPr>
            </a:br>
            <a:r>
              <a:rPr lang="en-US" altLang="zh-CN" b="1" dirty="0">
                <a:solidFill>
                  <a:schemeClr val="bg2"/>
                </a:solidFill>
              </a:rPr>
              <a:t>2. 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</a:rPr>
              <a:t>对</a:t>
            </a:r>
            <a:r>
              <a:rPr lang="zh-CN" altLang="en-US" dirty="0">
                <a:solidFill>
                  <a:schemeClr val="bg2"/>
                </a:solidFill>
              </a:rPr>
              <a:t>不同正数</a:t>
            </a:r>
            <a:r>
              <a:rPr lang="en-US" altLang="zh-CN" b="1" i="1" dirty="0" smtClean="0">
                <a:solidFill>
                  <a:schemeClr val="bg2"/>
                </a:solidFill>
              </a:rPr>
              <a:t>c</a:t>
            </a:r>
            <a:r>
              <a:rPr lang="zh-CN" altLang="en-US" b="1" i="1" dirty="0" smtClean="0">
                <a:solidFill>
                  <a:schemeClr val="bg2"/>
                </a:solidFill>
              </a:rPr>
              <a:t>，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</a:rPr>
              <a:t>不一样。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c</a:t>
            </a:r>
            <a:r>
              <a:rPr lang="zh-CN" altLang="en-US" dirty="0">
                <a:solidFill>
                  <a:schemeClr val="bg2"/>
                </a:solidFill>
              </a:rPr>
              <a:t>越小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dirty="0">
                <a:solidFill>
                  <a:schemeClr val="bg2"/>
                </a:solidFill>
              </a:rPr>
              <a:t>越</a:t>
            </a:r>
            <a:r>
              <a:rPr lang="zh-CN" altLang="en-US" dirty="0" smtClean="0">
                <a:solidFill>
                  <a:schemeClr val="bg2"/>
                </a:solidFill>
              </a:rPr>
              <a:t>大。</a:t>
            </a:r>
            <a:br>
              <a:rPr lang="en-US" altLang="zh-CN" b="1" dirty="0">
                <a:solidFill>
                  <a:schemeClr val="bg2"/>
                </a:solidFill>
              </a:rPr>
            </a:br>
            <a:r>
              <a:rPr lang="en-US" altLang="zh-CN" b="1" dirty="0">
                <a:solidFill>
                  <a:schemeClr val="bg2"/>
                </a:solidFill>
              </a:rPr>
              <a:t>3. 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</a:rPr>
              <a:t>对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</a:rPr>
              <a:t>前面</a:t>
            </a:r>
            <a:r>
              <a:rPr lang="zh-CN" altLang="en-US" dirty="0">
                <a:solidFill>
                  <a:schemeClr val="bg2"/>
                </a:solidFill>
              </a:rPr>
              <a:t>有限个 </a:t>
            </a:r>
            <a:r>
              <a:rPr lang="en-US" altLang="zh-CN" b="1" i="1" dirty="0">
                <a:solidFill>
                  <a:schemeClr val="bg2"/>
                </a:solidFill>
              </a:rPr>
              <a:t>n </a:t>
            </a:r>
            <a:r>
              <a:rPr lang="zh-CN" altLang="en-US" dirty="0">
                <a:solidFill>
                  <a:schemeClr val="bg2"/>
                </a:solidFill>
              </a:rPr>
              <a:t>值可以不满足</a:t>
            </a:r>
            <a:r>
              <a:rPr lang="zh-CN" altLang="en-US" dirty="0" smtClean="0">
                <a:solidFill>
                  <a:schemeClr val="bg2"/>
                </a:solidFill>
              </a:rPr>
              <a:t>不等式。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59632" y="3356992"/>
            <a:ext cx="3916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当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 ≥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zh-CN" altLang="en-US" b="1" dirty="0" smtClean="0">
                <a:solidFill>
                  <a:schemeClr val="bg2"/>
                </a:solidFill>
              </a:rPr>
              <a:t>时，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cn</a:t>
            </a:r>
            <a:r>
              <a:rPr lang="en-US" altLang="zh-CN" b="1" dirty="0">
                <a:solidFill>
                  <a:schemeClr val="bg2"/>
                </a:solidFill>
              </a:rPr>
              <a:t> ≥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cn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en-US" altLang="zh-CN" b="1" dirty="0">
                <a:solidFill>
                  <a:schemeClr val="bg2"/>
                </a:solidFill>
              </a:rPr>
              <a:t> &gt; 2</a:t>
            </a:r>
            <a:r>
              <a:rPr lang="zh-CN" altLang="en-US" b="1" dirty="0" smtClean="0">
                <a:solidFill>
                  <a:schemeClr val="bg2"/>
                </a:solidFill>
              </a:rPr>
              <a:t>    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37640" y="4005064"/>
            <a:ext cx="6646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所以，</a:t>
            </a:r>
            <a:r>
              <a:rPr lang="zh-CN" altLang="en-US" dirty="0" smtClean="0">
                <a:solidFill>
                  <a:schemeClr val="bg2"/>
                </a:solidFill>
              </a:rPr>
              <a:t>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+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&lt; 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 &lt; </a:t>
            </a:r>
            <a:r>
              <a:rPr lang="en-US" altLang="zh-CN" b="1" i="1" dirty="0" smtClean="0">
                <a:solidFill>
                  <a:srgbClr val="FF0000"/>
                </a:solidFill>
              </a:rPr>
              <a:t>cn</a:t>
            </a:r>
            <a:r>
              <a:rPr lang="en-US" altLang="zh-CN" dirty="0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ⅹ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smtClean="0">
                <a:solidFill>
                  <a:schemeClr val="bg2"/>
                </a:solidFill>
              </a:rPr>
              <a:t>cn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ldLvl="3" build="p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1772816"/>
            <a:ext cx="2286000" cy="471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</a:rPr>
              <a:t>）小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</a:t>
            </a:r>
            <a:r>
              <a:rPr lang="zh-CN" altLang="en-US" dirty="0" smtClean="0">
                <a:solidFill>
                  <a:schemeClr val="bg2"/>
                </a:solidFill>
              </a:rPr>
              <a:t>符号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2276872"/>
            <a:ext cx="756084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</a:rPr>
              <a:t>定义：</a:t>
            </a:r>
            <a:r>
              <a:rPr lang="zh-CN" altLang="en-US" dirty="0">
                <a:solidFill>
                  <a:schemeClr val="bg2"/>
                </a:solidFill>
              </a:rPr>
              <a:t>设 </a:t>
            </a:r>
            <a:r>
              <a:rPr lang="en-US" altLang="zh-CN" b="1" i="1" dirty="0">
                <a:solidFill>
                  <a:schemeClr val="bg2"/>
                </a:solidFill>
              </a:rPr>
              <a:t>f </a:t>
            </a:r>
            <a:r>
              <a:rPr lang="zh-CN" altLang="en-US" dirty="0">
                <a:solidFill>
                  <a:schemeClr val="bg2"/>
                </a:solidFill>
              </a:rPr>
              <a:t>和 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zh-CN" altLang="en-US" dirty="0">
                <a:solidFill>
                  <a:schemeClr val="bg2"/>
                </a:solidFill>
              </a:rPr>
              <a:t>是定义域为自然数集 </a:t>
            </a:r>
            <a:r>
              <a:rPr lang="en-US" altLang="zh-CN" b="1" dirty="0">
                <a:solidFill>
                  <a:schemeClr val="bg2"/>
                </a:solidFill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</a:rPr>
              <a:t>上的函数。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若对于</a:t>
            </a:r>
            <a:r>
              <a:rPr lang="zh-CN" altLang="en-US" b="1" dirty="0">
                <a:solidFill>
                  <a:srgbClr val="FF0000"/>
                </a:solidFill>
              </a:rPr>
              <a:t>任意正数 </a:t>
            </a:r>
            <a:r>
              <a:rPr lang="en-US" altLang="zh-CN" b="1" i="1" dirty="0">
                <a:solidFill>
                  <a:schemeClr val="bg2"/>
                </a:solidFill>
              </a:rPr>
              <a:t>c </a:t>
            </a:r>
            <a:r>
              <a:rPr lang="zh-CN" altLang="en-US" dirty="0">
                <a:solidFill>
                  <a:schemeClr val="bg2"/>
                </a:solidFill>
              </a:rPr>
              <a:t>都存在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dirty="0">
                <a:solidFill>
                  <a:schemeClr val="bg2"/>
                </a:solidFill>
              </a:rPr>
              <a:t>， </a:t>
            </a:r>
            <a:r>
              <a:rPr lang="zh-CN" altLang="en-US" dirty="0" smtClean="0">
                <a:solidFill>
                  <a:schemeClr val="bg2"/>
                </a:solidFill>
              </a:rPr>
              <a:t>使得</a:t>
            </a:r>
            <a:r>
              <a:rPr lang="zh-CN" altLang="en-US" dirty="0">
                <a:solidFill>
                  <a:schemeClr val="bg2"/>
                </a:solidFill>
              </a:rPr>
              <a:t>对一切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Symbol" panose="05050102010706020507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Symbol" panose="05050102010706020507"/>
              </a:rPr>
              <a:t>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</a:rPr>
              <a:t>有</a:t>
            </a:r>
            <a:endParaRPr lang="en-US" altLang="zh-CN" b="1" dirty="0">
              <a:solidFill>
                <a:schemeClr val="bg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49442" y="3284984"/>
            <a:ext cx="4554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</a:rPr>
              <a:t>0 </a:t>
            </a:r>
            <a:r>
              <a:rPr lang="en-US" altLang="zh-CN" dirty="0" smtClean="0">
                <a:solidFill>
                  <a:srgbClr val="000000"/>
                </a:solidFill>
                <a:latin typeface="Symbol" panose="05050102010706020507"/>
              </a:rPr>
              <a:t> </a:t>
            </a:r>
            <a:r>
              <a:rPr lang="en-US" altLang="zh-CN" b="1" i="1" dirty="0" smtClean="0">
                <a:solidFill>
                  <a:schemeClr val="bg2"/>
                </a:solidFill>
              </a:rPr>
              <a:t>cg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 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f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9592" y="3818657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成立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zh-CN" altLang="en-US" dirty="0">
                <a:solidFill>
                  <a:schemeClr val="bg2"/>
                </a:solidFill>
              </a:rPr>
              <a:t>则记</a:t>
            </a:r>
            <a:r>
              <a:rPr lang="zh-CN" altLang="en-US" dirty="0" smtClean="0">
                <a:solidFill>
                  <a:schemeClr val="bg2"/>
                </a:solidFill>
              </a:rPr>
              <a:t>作：</a:t>
            </a:r>
            <a:r>
              <a:rPr lang="en-US" altLang="zh-CN" b="1" i="1" dirty="0" smtClean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= 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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))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3568" y="4420320"/>
            <a:ext cx="75608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例子： </a:t>
            </a:r>
            <a:r>
              <a:rPr lang="en-US" altLang="zh-CN" b="1" i="1" dirty="0">
                <a:solidFill>
                  <a:schemeClr val="bg2"/>
                </a:solidFill>
              </a:rPr>
              <a:t>f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+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</a:rPr>
              <a:t>g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       </a:t>
            </a:r>
            <a:r>
              <a:rPr lang="zh-CN" altLang="en-US" dirty="0" smtClean="0">
                <a:solidFill>
                  <a:schemeClr val="bg2"/>
                </a:solidFill>
              </a:rPr>
              <a:t>则    </a:t>
            </a:r>
            <a:r>
              <a:rPr lang="en-US" altLang="zh-CN" b="1" i="1" dirty="0" smtClean="0">
                <a:solidFill>
                  <a:schemeClr val="bg2"/>
                </a:solidFill>
              </a:rPr>
              <a:t>f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</a:t>
            </a:r>
            <a:r>
              <a:rPr lang="en-US" altLang="zh-CN" b="1" i="1" dirty="0" smtClean="0">
                <a:solidFill>
                  <a:schemeClr val="bg2"/>
                </a:solidFill>
                <a:sym typeface="Symbol" panose="05050102010706020507" pitchFamily="18" charset="2"/>
              </a:rPr>
              <a:t>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))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9592" y="4924376"/>
            <a:ext cx="7200800" cy="520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bg2"/>
                </a:solidFill>
              </a:rPr>
              <a:t>对于任意</a:t>
            </a:r>
            <a:r>
              <a:rPr lang="en-US" altLang="zh-CN" b="1" i="1" dirty="0" smtClean="0">
                <a:solidFill>
                  <a:schemeClr val="bg2"/>
                </a:solidFill>
              </a:rPr>
              <a:t>c </a:t>
            </a:r>
            <a:r>
              <a:rPr lang="en-US" altLang="zh-CN" b="1" dirty="0">
                <a:solidFill>
                  <a:schemeClr val="bg2"/>
                </a:solidFill>
              </a:rPr>
              <a:t>&gt;</a:t>
            </a:r>
            <a:r>
              <a:rPr lang="en-US" altLang="zh-CN" b="1" dirty="0" smtClean="0">
                <a:solidFill>
                  <a:schemeClr val="bg2"/>
                </a:solidFill>
              </a:rPr>
              <a:t>0</a:t>
            </a:r>
            <a:r>
              <a:rPr lang="zh-CN" altLang="en-US" b="1" dirty="0" smtClean="0">
                <a:solidFill>
                  <a:schemeClr val="bg2"/>
                </a:solidFill>
              </a:rPr>
              <a:t>，取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en-US" altLang="zh-CN" b="1" dirty="0" smtClean="0">
                <a:solidFill>
                  <a:schemeClr val="bg2"/>
                </a:solidFill>
              </a:rPr>
              <a:t> =</a:t>
            </a:r>
            <a:r>
              <a:rPr lang="en-US" altLang="zh-CN" b="1" i="1" dirty="0" smtClean="0">
                <a:solidFill>
                  <a:schemeClr val="bg2"/>
                </a:solidFill>
              </a:rPr>
              <a:t>c</a:t>
            </a:r>
            <a:r>
              <a:rPr lang="zh-CN" altLang="en-US" b="1" dirty="0" smtClean="0">
                <a:solidFill>
                  <a:schemeClr val="bg2"/>
                </a:solidFill>
              </a:rPr>
              <a:t>，</a:t>
            </a:r>
            <a:r>
              <a:rPr lang="zh-CN" altLang="en-US" b="1" dirty="0">
                <a:solidFill>
                  <a:schemeClr val="bg2"/>
                </a:solidFill>
              </a:rPr>
              <a:t>当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 ≥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b="1" dirty="0" smtClean="0">
                <a:solidFill>
                  <a:schemeClr val="bg2"/>
                </a:solidFill>
              </a:rPr>
              <a:t>时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31640" y="5500440"/>
            <a:ext cx="5280613" cy="520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当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 ≥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b="1" dirty="0" smtClean="0">
                <a:solidFill>
                  <a:schemeClr val="bg2"/>
                </a:solidFill>
              </a:rPr>
              <a:t>时，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+</a:t>
            </a:r>
            <a:r>
              <a:rPr lang="en-US" altLang="zh-CN" b="1" i="1" dirty="0" smtClean="0">
                <a:solidFill>
                  <a:schemeClr val="bg2"/>
                </a:solidFill>
              </a:rPr>
              <a:t>n&gt;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cn</a:t>
            </a:r>
            <a:r>
              <a:rPr lang="zh-CN" altLang="en-US" b="1" dirty="0" smtClean="0">
                <a:solidFill>
                  <a:schemeClr val="bg2"/>
                </a:solidFill>
              </a:rPr>
              <a:t>，即</a:t>
            </a:r>
            <a:r>
              <a:rPr lang="en-US" altLang="zh-CN" b="1" i="1" dirty="0">
                <a:solidFill>
                  <a:schemeClr val="bg2"/>
                </a:solidFill>
              </a:rPr>
              <a:t>f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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))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7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99592" y="1628800"/>
            <a:ext cx="7920880" cy="24929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2"/>
                </a:solidFill>
              </a:rPr>
              <a:t>注意</a:t>
            </a:r>
            <a:r>
              <a:rPr lang="zh-CN" altLang="en-US" b="1" dirty="0" smtClean="0">
                <a:solidFill>
                  <a:schemeClr val="bg2"/>
                </a:solidFill>
              </a:rPr>
              <a:t>：</a:t>
            </a:r>
            <a:r>
              <a:rPr lang="zh-CN" altLang="en-US" b="1" dirty="0">
                <a:solidFill>
                  <a:schemeClr val="bg2"/>
                </a:solidFill>
              </a:rPr>
              <a:t>不能写</a:t>
            </a:r>
            <a:r>
              <a:rPr lang="zh-CN" altLang="en-US" b="1" i="1" dirty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</a:t>
            </a:r>
            <a:r>
              <a:rPr lang="en-US" altLang="zh-CN" b="1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en-US" altLang="zh-CN" b="1" i="1" dirty="0" smtClean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zh-CN" altLang="en-US" b="1" dirty="0" smtClean="0">
                <a:solidFill>
                  <a:schemeClr val="bg2"/>
                </a:solidFill>
              </a:rPr>
              <a:t>，因为</a:t>
            </a:r>
            <a:endParaRPr lang="en-US" altLang="zh-CN" b="1" dirty="0" smtClean="0">
              <a:solidFill>
                <a:schemeClr val="bg2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chemeClr val="bg2"/>
                </a:solidFill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</a:rPr>
              <a:t>1</a:t>
            </a:r>
            <a:r>
              <a:rPr lang="zh-CN" altLang="en-US" b="1" dirty="0" smtClean="0">
                <a:solidFill>
                  <a:schemeClr val="bg2"/>
                </a:solidFill>
              </a:rPr>
              <a:t>）</a:t>
            </a:r>
            <a:r>
              <a:rPr lang="en-US" altLang="zh-CN" b="1" i="1" dirty="0" smtClean="0">
                <a:solidFill>
                  <a:schemeClr val="bg2"/>
                </a:solidFill>
              </a:rPr>
              <a:t>c</a:t>
            </a:r>
            <a:r>
              <a:rPr lang="en-US" altLang="zh-CN" b="1" dirty="0" smtClean="0">
                <a:solidFill>
                  <a:schemeClr val="bg2"/>
                </a:solidFill>
              </a:rPr>
              <a:t>=1</a:t>
            </a:r>
            <a:r>
              <a:rPr lang="zh-CN" altLang="en-US" b="1" dirty="0" smtClean="0">
                <a:solidFill>
                  <a:schemeClr val="bg2"/>
                </a:solidFill>
              </a:rPr>
              <a:t>时，取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b="1" dirty="0" smtClean="0">
                <a:solidFill>
                  <a:schemeClr val="bg2"/>
                </a:solidFill>
              </a:rPr>
              <a:t>=1</a:t>
            </a:r>
            <a:r>
              <a:rPr lang="zh-CN" altLang="en-US" b="1" dirty="0" smtClean="0">
                <a:solidFill>
                  <a:schemeClr val="bg2"/>
                </a:solidFill>
              </a:rPr>
              <a:t>，</a:t>
            </a:r>
            <a:r>
              <a:rPr lang="zh-CN" altLang="en-US" b="1" dirty="0">
                <a:solidFill>
                  <a:schemeClr val="bg2"/>
                </a:solidFill>
              </a:rPr>
              <a:t>当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 ≥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b="1" dirty="0">
                <a:solidFill>
                  <a:schemeClr val="bg2"/>
                </a:solidFill>
              </a:rPr>
              <a:t>时，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+</a:t>
            </a:r>
            <a:r>
              <a:rPr lang="en-US" altLang="zh-CN" b="1" i="1" dirty="0" smtClean="0">
                <a:solidFill>
                  <a:schemeClr val="bg2"/>
                </a:solidFill>
              </a:rPr>
              <a:t>n&gt;cn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endParaRPr lang="en-US" altLang="zh-CN" b="1" dirty="0" smtClean="0">
              <a:solidFill>
                <a:schemeClr val="bg2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chemeClr val="bg2"/>
                </a:solidFill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</a:rPr>
              <a:t>2</a:t>
            </a:r>
            <a:r>
              <a:rPr lang="zh-CN" altLang="en-US" b="1" dirty="0" smtClean="0">
                <a:solidFill>
                  <a:schemeClr val="bg2"/>
                </a:solidFill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i="1" dirty="0" smtClean="0">
                <a:solidFill>
                  <a:schemeClr val="bg2"/>
                </a:solidFill>
              </a:rPr>
              <a:t>c</a:t>
            </a:r>
            <a:r>
              <a:rPr lang="en-US" altLang="zh-CN" b="1" dirty="0" smtClean="0">
                <a:solidFill>
                  <a:schemeClr val="bg2"/>
                </a:solidFill>
              </a:rPr>
              <a:t>=2</a:t>
            </a:r>
            <a:r>
              <a:rPr lang="zh-CN" altLang="en-US" b="1" dirty="0" smtClean="0">
                <a:solidFill>
                  <a:schemeClr val="bg2"/>
                </a:solidFill>
              </a:rPr>
              <a:t>时，不存在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zh-CN" altLang="en-US" b="1" dirty="0" smtClean="0">
                <a:solidFill>
                  <a:schemeClr val="bg2"/>
                </a:solidFill>
              </a:rPr>
              <a:t>，使得当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 ≥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b="1" dirty="0">
                <a:solidFill>
                  <a:schemeClr val="bg2"/>
                </a:solidFill>
              </a:rPr>
              <a:t>时，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+</a:t>
            </a:r>
            <a:r>
              <a:rPr lang="en-US" altLang="zh-CN" b="1" i="1" dirty="0" smtClean="0">
                <a:solidFill>
                  <a:schemeClr val="bg2"/>
                </a:solidFill>
              </a:rPr>
              <a:t>n&gt;cn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=2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2</a:t>
            </a:r>
            <a:endParaRPr lang="en-US" altLang="zh-CN" b="1" baseline="30000" dirty="0" smtClean="0">
              <a:solidFill>
                <a:schemeClr val="bg2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baseline="30000" dirty="0">
                <a:solidFill>
                  <a:schemeClr val="bg2"/>
                </a:solidFill>
              </a:rPr>
              <a:t> </a:t>
            </a:r>
            <a:r>
              <a:rPr lang="en-US" altLang="zh-CN" b="1" baseline="30000" dirty="0" smtClean="0">
                <a:solidFill>
                  <a:schemeClr val="bg2"/>
                </a:solidFill>
              </a:rPr>
              <a:t>   </a:t>
            </a:r>
            <a:r>
              <a:rPr lang="en-US" altLang="zh-CN" b="1" dirty="0" smtClean="0">
                <a:solidFill>
                  <a:schemeClr val="bg2"/>
                </a:solidFill>
              </a:rPr>
              <a:t>……</a:t>
            </a:r>
            <a:endParaRPr lang="en-US" altLang="zh-CN" b="1" dirty="0" smtClean="0">
              <a:solidFill>
                <a:schemeClr val="bg2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b="1" dirty="0" smtClean="0">
                <a:solidFill>
                  <a:schemeClr val="bg2"/>
                </a:solidFill>
              </a:rPr>
              <a:t>  </a:t>
            </a:r>
            <a:r>
              <a:rPr lang="zh-CN" altLang="en-US" b="1" dirty="0" smtClean="0">
                <a:solidFill>
                  <a:schemeClr val="bg2"/>
                </a:solidFill>
              </a:rPr>
              <a:t>不满足对任意</a:t>
            </a:r>
            <a:r>
              <a:rPr lang="en-US" altLang="zh-CN" b="1" i="1" dirty="0" smtClean="0">
                <a:solidFill>
                  <a:schemeClr val="bg2"/>
                </a:solidFill>
              </a:rPr>
              <a:t>c</a:t>
            </a:r>
            <a:r>
              <a:rPr lang="zh-CN" altLang="en-US" b="1" dirty="0" smtClean="0">
                <a:solidFill>
                  <a:schemeClr val="bg2"/>
                </a:solidFill>
              </a:rPr>
              <a:t>都存在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 </a:t>
            </a:r>
            <a:r>
              <a:rPr lang="zh-CN" altLang="en-US" b="1" dirty="0" smtClean="0">
                <a:solidFill>
                  <a:schemeClr val="bg2"/>
                </a:solidFill>
              </a:rPr>
              <a:t>，使得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≥ 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zh-CN" altLang="en-US" b="1" dirty="0">
                <a:solidFill>
                  <a:schemeClr val="bg2"/>
                </a:solidFill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</a:t>
            </a:r>
            <a:r>
              <a:rPr lang="en-US" altLang="zh-CN" b="1" dirty="0" smtClean="0">
                <a:solidFill>
                  <a:schemeClr val="bg2"/>
                </a:solidFill>
              </a:rPr>
              <a:t>&gt;</a:t>
            </a:r>
            <a:r>
              <a:rPr lang="en-US" altLang="zh-CN" b="1" i="1" dirty="0" smtClean="0">
                <a:solidFill>
                  <a:schemeClr val="bg2"/>
                </a:solidFill>
              </a:rPr>
              <a:t>cg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</a:t>
            </a:r>
            <a:r>
              <a:rPr lang="zh-CN" altLang="en-US" b="1" dirty="0" smtClean="0">
                <a:solidFill>
                  <a:schemeClr val="bg2"/>
                </a:solidFill>
              </a:rPr>
              <a:t>成立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27760" y="4149358"/>
            <a:ext cx="7332672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1. </a:t>
            </a:r>
            <a:r>
              <a:rPr lang="en-US" altLang="zh-CN" b="1" i="1" dirty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)=</a:t>
            </a:r>
            <a:r>
              <a:rPr lang="en-US" altLang="zh-CN" b="1" i="1" dirty="0" smtClean="0">
                <a:solidFill>
                  <a:schemeClr val="bg2"/>
                </a:solidFill>
                <a:sym typeface="Symbol" panose="05050102010706020507" pitchFamily="18" charset="2"/>
              </a:rPr>
              <a:t>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</a:rPr>
              <a:t>))</a:t>
            </a:r>
            <a:r>
              <a:rPr lang="zh-CN" altLang="en-US" b="1" dirty="0" smtClean="0">
                <a:solidFill>
                  <a:schemeClr val="bg2"/>
                </a:solidFill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</a:rPr>
              <a:t>f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zh-CN" altLang="en-US" b="1" dirty="0">
                <a:solidFill>
                  <a:schemeClr val="bg2"/>
                </a:solidFill>
              </a:rPr>
              <a:t>的阶</a:t>
            </a:r>
            <a:r>
              <a:rPr lang="zh-CN" altLang="en-US" b="1" dirty="0">
                <a:solidFill>
                  <a:srgbClr val="FF0000"/>
                </a:solidFill>
              </a:rPr>
              <a:t>高于</a:t>
            </a:r>
            <a:r>
              <a:rPr lang="en-US" altLang="zh-CN" b="1" i="1" dirty="0">
                <a:solidFill>
                  <a:schemeClr val="bg2"/>
                </a:solidFill>
              </a:rPr>
              <a:t>g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</a:t>
            </a:r>
            <a:r>
              <a:rPr lang="zh-CN" altLang="en-US" b="1" dirty="0">
                <a:solidFill>
                  <a:schemeClr val="bg2"/>
                </a:solidFill>
              </a:rPr>
              <a:t>的</a:t>
            </a:r>
            <a:r>
              <a:rPr lang="zh-CN" altLang="en-US" b="1" dirty="0" smtClean="0">
                <a:solidFill>
                  <a:schemeClr val="bg2"/>
                </a:solidFill>
              </a:rPr>
              <a:t>阶。</a:t>
            </a:r>
            <a:endParaRPr lang="zh-CN" altLang="en-US" dirty="0">
              <a:solidFill>
                <a:schemeClr val="bg2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2. </a:t>
            </a:r>
            <a:r>
              <a:rPr lang="zh-CN" altLang="en-US" b="1" dirty="0">
                <a:solidFill>
                  <a:schemeClr val="bg2"/>
                </a:solidFill>
              </a:rPr>
              <a:t>对不同的正数</a:t>
            </a:r>
            <a:r>
              <a:rPr lang="en-US" altLang="zh-CN" b="1" i="1" dirty="0" smtClean="0">
                <a:solidFill>
                  <a:schemeClr val="bg2"/>
                </a:solidFill>
              </a:rPr>
              <a:t>c</a:t>
            </a:r>
            <a:r>
              <a:rPr lang="zh-CN" altLang="en-US" b="1" i="1" dirty="0" smtClean="0">
                <a:solidFill>
                  <a:schemeClr val="bg2"/>
                </a:solidFill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zh-CN" altLang="en-US" b="1" dirty="0">
                <a:solidFill>
                  <a:schemeClr val="bg2"/>
                </a:solidFill>
              </a:rPr>
              <a:t>不等，</a:t>
            </a:r>
            <a:r>
              <a:rPr lang="en-US" altLang="zh-CN" b="1" i="1" dirty="0">
                <a:solidFill>
                  <a:schemeClr val="bg2"/>
                </a:solidFill>
              </a:rPr>
              <a:t>c </a:t>
            </a:r>
            <a:r>
              <a:rPr lang="zh-CN" altLang="en-US" b="1" dirty="0">
                <a:solidFill>
                  <a:schemeClr val="bg2"/>
                </a:solidFill>
              </a:rPr>
              <a:t>越大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zh-CN" altLang="en-US" b="1" dirty="0">
                <a:solidFill>
                  <a:schemeClr val="bg2"/>
                </a:solidFill>
              </a:rPr>
              <a:t>越</a:t>
            </a:r>
            <a:r>
              <a:rPr lang="zh-CN" altLang="en-US" b="1" dirty="0" smtClean="0">
                <a:solidFill>
                  <a:schemeClr val="bg2"/>
                </a:solidFill>
              </a:rPr>
              <a:t>大。</a:t>
            </a:r>
            <a:r>
              <a:rPr lang="en-US" altLang="zh-CN" b="1" dirty="0" smtClean="0">
                <a:solidFill>
                  <a:schemeClr val="bg2"/>
                </a:solidFill>
              </a:rPr>
              <a:t> </a:t>
            </a:r>
            <a:endParaRPr lang="zh-CN" altLang="en-US" dirty="0">
              <a:solidFill>
                <a:schemeClr val="bg2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3. </a:t>
            </a:r>
            <a:r>
              <a:rPr lang="zh-CN" altLang="en-US" b="1" dirty="0" smtClean="0">
                <a:solidFill>
                  <a:schemeClr val="bg2"/>
                </a:solidFill>
              </a:rPr>
              <a:t>对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-25000" dirty="0">
                <a:solidFill>
                  <a:schemeClr val="bg2"/>
                </a:solidFill>
              </a:rPr>
              <a:t>0</a:t>
            </a:r>
            <a:r>
              <a:rPr lang="zh-CN" altLang="en-US" b="1" dirty="0" smtClean="0">
                <a:solidFill>
                  <a:schemeClr val="bg2"/>
                </a:solidFill>
              </a:rPr>
              <a:t>前面</a:t>
            </a:r>
            <a:r>
              <a:rPr lang="zh-CN" altLang="en-US" b="1" dirty="0">
                <a:solidFill>
                  <a:schemeClr val="bg2"/>
                </a:solidFill>
              </a:rPr>
              <a:t>有限个 </a:t>
            </a:r>
            <a:r>
              <a:rPr lang="en-US" altLang="zh-CN" b="1" i="1" dirty="0">
                <a:solidFill>
                  <a:schemeClr val="bg2"/>
                </a:solidFill>
              </a:rPr>
              <a:t>n </a:t>
            </a:r>
            <a:r>
              <a:rPr lang="zh-CN" altLang="en-US" b="1" dirty="0">
                <a:solidFill>
                  <a:schemeClr val="bg2"/>
                </a:solidFill>
              </a:rPr>
              <a:t>值可以 不满足</a:t>
            </a:r>
            <a:r>
              <a:rPr lang="zh-CN" altLang="en-US" b="1" dirty="0" smtClean="0">
                <a:solidFill>
                  <a:schemeClr val="bg2"/>
                </a:solidFill>
              </a:rPr>
              <a:t>不等式。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99183"/>
            <a:ext cx="527431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有关函数</a:t>
            </a:r>
            <a:r>
              <a:rPr lang="zh-CN" altLang="en-US" b="1" dirty="0" smtClean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渐近</a:t>
            </a:r>
            <a:r>
              <a:rPr lang="zh-CN" altLang="en-US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的界的定理</a:t>
            </a:r>
            <a:endParaRPr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23056" y="2118061"/>
            <a:ext cx="8353400" cy="374429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定理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1.1  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 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 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是定义域为自然数集合的函数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AutoNum type="arabicParenBoth"/>
              <a:defRPr/>
            </a:pP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                   </a:t>
            </a:r>
            <a:r>
              <a:rPr lang="zh-CN" altLang="en-US" sz="2400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≠ ∞</a:t>
            </a: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 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AutoNum type="arabicParenBoth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                  </a:t>
            </a:r>
            <a:r>
              <a:rPr kumimoji="0" lang="zh-CN" altLang="en-US" sz="2400" i="0" u="none" strike="noStrike" kern="1200" cap="none" spc="0" normalizeH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≠ 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 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b="1" i="1" dirty="0">
                <a:solidFill>
                  <a:schemeClr val="bg2"/>
                </a:solidFill>
                <a:cs typeface="Consolas" panose="020B0609020204030204" pitchFamily="49" charset="0"/>
                <a:sym typeface="Symbol" panose="05050102010706020507"/>
              </a:rPr>
              <a:t> 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0" lang="en-US" altLang="zh-CN" sz="24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AutoNum type="arabicParenBoth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                </a:t>
            </a: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400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常数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&gt;0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那么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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fontAlgn="auto" hangingPunct="1"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AutoNum type="arabicParenBoth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                     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，那么 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))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(5) 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                          ，那么 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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))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ea typeface="+mn-ea"/>
            </a:endParaRPr>
          </a:p>
        </p:txBody>
      </p:sp>
      <p:pic>
        <p:nvPicPr>
          <p:cNvPr id="12" name="20 11"/>
          <p:cNvPicPr/>
          <p:nvPr/>
        </p:nvPicPr>
        <p:blipFill>
          <a:blip r:embed="rId1"/>
          <a:stretch>
            <a:fillRect/>
          </a:stretch>
        </p:blipFill>
        <p:spPr>
          <a:xfrm>
            <a:off x="1547664" y="2566213"/>
            <a:ext cx="1152128" cy="646763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13" name="20 12"/>
          <p:cNvPicPr/>
          <p:nvPr/>
        </p:nvPicPr>
        <p:blipFill>
          <a:blip r:embed="rId2"/>
          <a:stretch>
            <a:fillRect/>
          </a:stretch>
        </p:blipFill>
        <p:spPr>
          <a:xfrm>
            <a:off x="1567830" y="4581128"/>
            <a:ext cx="1636018" cy="648072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14" name="20 13"/>
          <p:cNvPicPr/>
          <p:nvPr/>
        </p:nvPicPr>
        <p:blipFill>
          <a:blip r:embed="rId3"/>
          <a:stretch>
            <a:fillRect/>
          </a:stretch>
        </p:blipFill>
        <p:spPr>
          <a:xfrm>
            <a:off x="1475657" y="5314819"/>
            <a:ext cx="1728191" cy="634461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8" name="20 7"/>
          <p:cNvPicPr/>
          <p:nvPr/>
        </p:nvPicPr>
        <p:blipFill>
          <a:blip r:embed="rId1"/>
          <a:stretch>
            <a:fillRect/>
          </a:stretch>
        </p:blipFill>
        <p:spPr>
          <a:xfrm>
            <a:off x="1567830" y="3288479"/>
            <a:ext cx="1275978" cy="644577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10" name="20 9"/>
          <p:cNvPicPr/>
          <p:nvPr/>
        </p:nvPicPr>
        <p:blipFill>
          <a:blip r:embed="rId1"/>
          <a:stretch>
            <a:fillRect/>
          </a:stretch>
        </p:blipFill>
        <p:spPr>
          <a:xfrm>
            <a:off x="1450083" y="3928252"/>
            <a:ext cx="1105693" cy="652876"/>
          </a:xfrm>
          <a:prstGeom prst="rect">
            <a:avLst/>
          </a:prstGeom>
          <a:noFill/>
          <a:ln w="38100">
            <a:noFill/>
            <a:miter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231616" y="1738331"/>
            <a:ext cx="8353400" cy="374429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定理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1.1</a:t>
            </a:r>
            <a:r>
              <a:rPr kumimoji="0" 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的应用</a:t>
            </a: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——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估计函数的阶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395605" y="2327275"/>
            <a:ext cx="8497570" cy="2376805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   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         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， 证明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</a:t>
            </a:r>
            <a:r>
              <a:rPr lang="en-US" altLang="zh-CN" sz="2400" i="1" dirty="0">
                <a:solidFill>
                  <a:schemeClr val="bg2"/>
                </a:solidFill>
                <a:sym typeface="Symbol" panose="05050102010706020507" pitchFamily="18" charset="2"/>
              </a:rPr>
              <a:t>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).   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证  因为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                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根据定理</a:t>
            </a:r>
            <a:r>
              <a:rPr lang="fr-FR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1.1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有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 =</a:t>
            </a:r>
            <a:r>
              <a:rPr lang="en-US" altLang="zh-CN" sz="2400" i="1" dirty="0">
                <a:solidFill>
                  <a:schemeClr val="bg2"/>
                </a:solidFill>
                <a:sym typeface="Symbol" panose="05050102010706020507" pitchFamily="18" charset="2"/>
              </a:rPr>
              <a:t>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).  </a:t>
            </a:r>
            <a:r>
              <a:rPr lang="fr-FR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endParaRPr lang="fr-FR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3796" name="Object 1"/>
          <p:cNvGraphicFramePr>
            <a:graphicFrameLocks noChangeAspect="1"/>
          </p:cNvGraphicFramePr>
          <p:nvPr/>
        </p:nvGraphicFramePr>
        <p:xfrm>
          <a:off x="1979930" y="2904490"/>
          <a:ext cx="3465195" cy="100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1" imgW="1968500" imgH="571500" progId="Equation.3">
                  <p:embed/>
                </p:oleObj>
              </mc:Choice>
              <mc:Fallback>
                <p:oleObj name="" r:id="rId1" imgW="1968500" imgH="571500" progId="Equation.3">
                  <p:embed/>
                  <p:pic>
                    <p:nvPicPr>
                      <p:cNvPr id="0" name="20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9930" y="2904490"/>
                        <a:ext cx="3465195" cy="10077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2"/>
          <p:cNvGraphicFramePr>
            <a:graphicFrameLocks noChangeAspect="1"/>
          </p:cNvGraphicFramePr>
          <p:nvPr/>
        </p:nvGraphicFramePr>
        <p:xfrm>
          <a:off x="1692275" y="2183130"/>
          <a:ext cx="198945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3" imgW="1168400" imgH="419100" progId="Equation.3">
                  <p:embed/>
                </p:oleObj>
              </mc:Choice>
              <mc:Fallback>
                <p:oleObj name="" r:id="rId3" imgW="1168400" imgH="419100" progId="Equation.3">
                  <p:embed/>
                  <p:pic>
                    <p:nvPicPr>
                      <p:cNvPr id="0" name="20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2275" y="2183130"/>
                        <a:ext cx="1989455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231616" y="1738331"/>
            <a:ext cx="8353400" cy="374429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一些重要结论：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可以证明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33802" name="矩形 14"/>
          <p:cNvSpPr/>
          <p:nvPr/>
        </p:nvSpPr>
        <p:spPr>
          <a:xfrm>
            <a:off x="611505" y="2204864"/>
            <a:ext cx="7920355" cy="9772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）多项式函数的阶低于指数函数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n</a:t>
            </a:r>
            <a:r>
              <a:rPr lang="en-US" altLang="zh-CN" b="1" i="1" baseline="30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i="1" baseline="30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&gt;1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&gt;0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1505" y="4221088"/>
            <a:ext cx="49792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</a:rPr>
              <a:t>2</a:t>
            </a:r>
            <a:r>
              <a:rPr lang="zh-CN" altLang="en-US" b="1" dirty="0" smtClean="0">
                <a:solidFill>
                  <a:schemeClr val="bg2"/>
                </a:solidFill>
              </a:rPr>
              <a:t>）对数函数</a:t>
            </a:r>
            <a:r>
              <a:rPr lang="zh-CN" altLang="en-US" b="1" dirty="0">
                <a:solidFill>
                  <a:schemeClr val="bg2"/>
                </a:solidFill>
              </a:rPr>
              <a:t>的阶低于幂函数的阶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79712" y="4653136"/>
            <a:ext cx="2802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b="1" dirty="0">
                <a:solidFill>
                  <a:schemeClr val="bg2"/>
                </a:solidFill>
              </a:rPr>
              <a:t>ln </a:t>
            </a:r>
            <a:r>
              <a:rPr lang="pt-BR" altLang="zh-CN" b="1" i="1" dirty="0">
                <a:solidFill>
                  <a:schemeClr val="bg2"/>
                </a:solidFill>
              </a:rPr>
              <a:t>n </a:t>
            </a:r>
            <a:r>
              <a:rPr lang="pt-BR" altLang="zh-CN" b="1" dirty="0">
                <a:solidFill>
                  <a:schemeClr val="bg2"/>
                </a:solidFill>
              </a:rPr>
              <a:t>= </a:t>
            </a:r>
            <a:r>
              <a:rPr lang="pt-BR" altLang="zh-CN" b="1" i="1" dirty="0">
                <a:solidFill>
                  <a:schemeClr val="bg2"/>
                </a:solidFill>
              </a:rPr>
              <a:t>o 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nd </a:t>
            </a:r>
            <a:r>
              <a:rPr lang="pt-BR" altLang="zh-CN" b="1" dirty="0">
                <a:solidFill>
                  <a:schemeClr val="bg2"/>
                </a:solidFill>
              </a:rPr>
              <a:t>)</a:t>
            </a:r>
            <a:r>
              <a:rPr lang="zh-CN" altLang="pt-BR" b="1" dirty="0">
                <a:solidFill>
                  <a:schemeClr val="bg2"/>
                </a:solidFill>
              </a:rPr>
              <a:t>，</a:t>
            </a:r>
            <a:r>
              <a:rPr lang="pt-BR" altLang="zh-CN" b="1" i="1" dirty="0">
                <a:solidFill>
                  <a:schemeClr val="bg2"/>
                </a:solidFill>
              </a:rPr>
              <a:t>d </a:t>
            </a:r>
            <a:r>
              <a:rPr lang="pt-BR" altLang="zh-CN" b="1" dirty="0">
                <a:solidFill>
                  <a:schemeClr val="bg2"/>
                </a:solidFill>
              </a:rPr>
              <a:t>&gt; 0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34444" y="3147586"/>
            <a:ext cx="7464258" cy="778323"/>
            <a:chOff x="834444" y="3356992"/>
            <a:chExt cx="7464258" cy="778323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444" y="3391535"/>
              <a:ext cx="4378158" cy="743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9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2602" y="3356992"/>
              <a:ext cx="3086100" cy="771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819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7" t="17160"/>
          <a:stretch>
            <a:fillRect/>
          </a:stretch>
        </p:blipFill>
        <p:spPr bwMode="auto">
          <a:xfrm>
            <a:off x="5436096" y="3861048"/>
            <a:ext cx="2010771" cy="93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2090259" y="5157192"/>
            <a:ext cx="4711123" cy="1104900"/>
            <a:chOff x="2090259" y="5296192"/>
            <a:chExt cx="4711123" cy="1104900"/>
          </a:xfrm>
        </p:grpSpPr>
        <p:pic>
          <p:nvPicPr>
            <p:cNvPr id="8197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0259" y="5296192"/>
              <a:ext cx="2581275" cy="1104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98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2082" y="5553367"/>
              <a:ext cx="2019300" cy="847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23056" y="1772816"/>
            <a:ext cx="8353400" cy="208823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f, g, h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是定义域为自然数集合的函数，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chemeClr val="bg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，那么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).</a:t>
            </a:r>
            <a:endParaRPr lang="en-US" altLang="zh-CN" sz="2400" b="1" dirty="0">
              <a:solidFill>
                <a:schemeClr val="bg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那么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altLang="zh-CN" sz="2400" b="1" i="1" dirty="0">
              <a:solidFill>
                <a:schemeClr val="bg2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lvl="0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如果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那么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6649" y="3794641"/>
            <a:ext cx="6447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chemeClr val="bg2"/>
                </a:solidFill>
                <a:cs typeface="Times New Roman" panose="02020603050405020304" pitchFamily="18" charset="0"/>
              </a:rPr>
              <a:t>定理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1.2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说明：</a:t>
            </a:r>
            <a:r>
              <a:rPr lang="zh-CN" altLang="en-US" b="1" dirty="0" smtClean="0">
                <a:solidFill>
                  <a:schemeClr val="bg2"/>
                </a:solidFill>
              </a:rPr>
              <a:t>函数</a:t>
            </a:r>
            <a:r>
              <a:rPr lang="zh-CN" altLang="en-US" b="1" dirty="0">
                <a:solidFill>
                  <a:schemeClr val="bg2"/>
                </a:solidFill>
              </a:rPr>
              <a:t>的阶之间的关系具有传递性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231616" y="1738331"/>
            <a:ext cx="8353400" cy="374429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定理</a:t>
            </a: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</a:t>
            </a:r>
            <a:r>
              <a:rPr kumimoji="0" 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的应用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3794" name="内容占位符 2"/>
          <p:cNvSpPr>
            <a:spLocks noGrp="1"/>
          </p:cNvSpPr>
          <p:nvPr>
            <p:ph idx="4294967295"/>
          </p:nvPr>
        </p:nvSpPr>
        <p:spPr>
          <a:xfrm>
            <a:off x="617552" y="2278058"/>
            <a:ext cx="5826656" cy="50287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dirty="0" smtClean="0">
                <a:solidFill>
                  <a:schemeClr val="bg2"/>
                </a:solidFill>
              </a:rPr>
              <a:t>按照</a:t>
            </a:r>
            <a:r>
              <a:rPr lang="zh-CN" altLang="en-US" sz="2400" dirty="0">
                <a:solidFill>
                  <a:schemeClr val="bg2"/>
                </a:solidFill>
              </a:rPr>
              <a:t>阶从高到低排序以下</a:t>
            </a:r>
            <a:r>
              <a:rPr lang="zh-CN" altLang="en-US" sz="2400" dirty="0" smtClean="0">
                <a:solidFill>
                  <a:schemeClr val="bg2"/>
                </a:solidFill>
              </a:rPr>
              <a:t>函数</a:t>
            </a:r>
            <a:endParaRPr lang="fr-FR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31640" y="277948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altLang="zh-CN" b="1" i="1" dirty="0">
                <a:solidFill>
                  <a:schemeClr val="bg2"/>
                </a:solidFill>
              </a:rPr>
              <a:t>f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)=(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baseline="30000" dirty="0">
                <a:solidFill>
                  <a:schemeClr val="bg2"/>
                </a:solidFill>
              </a:rPr>
              <a:t>2</a:t>
            </a:r>
            <a:r>
              <a:rPr lang="pt-BR" altLang="zh-CN" b="1" dirty="0">
                <a:solidFill>
                  <a:schemeClr val="bg2"/>
                </a:solidFill>
              </a:rPr>
              <a:t>+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)/2</a:t>
            </a:r>
            <a:r>
              <a:rPr lang="zh-CN" altLang="pt-BR" b="1" dirty="0">
                <a:solidFill>
                  <a:schemeClr val="bg2"/>
                </a:solidFill>
              </a:rPr>
              <a:t>，</a:t>
            </a:r>
            <a:r>
              <a:rPr lang="pt-BR" altLang="zh-CN" b="1" i="1" dirty="0">
                <a:solidFill>
                  <a:schemeClr val="bg2"/>
                </a:solidFill>
              </a:rPr>
              <a:t>g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)=10</a:t>
            </a:r>
            <a:r>
              <a:rPr lang="pt-BR" altLang="zh-CN" b="1" i="1" dirty="0">
                <a:solidFill>
                  <a:schemeClr val="bg2"/>
                </a:solidFill>
              </a:rPr>
              <a:t>n </a:t>
            </a:r>
            <a:endParaRPr lang="pt-BR" altLang="zh-CN" dirty="0">
              <a:solidFill>
                <a:schemeClr val="bg2"/>
              </a:solidFill>
            </a:endParaRPr>
          </a:p>
          <a:p>
            <a:r>
              <a:rPr lang="pt-BR" altLang="zh-CN" b="1" i="1" dirty="0">
                <a:solidFill>
                  <a:schemeClr val="bg2"/>
                </a:solidFill>
              </a:rPr>
              <a:t>h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)=1.5</a:t>
            </a:r>
            <a:r>
              <a:rPr lang="pt-BR" altLang="zh-CN" b="1" i="1" baseline="30000" dirty="0">
                <a:solidFill>
                  <a:schemeClr val="bg2"/>
                </a:solidFill>
              </a:rPr>
              <a:t>n</a:t>
            </a:r>
            <a:r>
              <a:rPr lang="pt-BR" altLang="zh-CN" b="1" i="1" dirty="0">
                <a:solidFill>
                  <a:schemeClr val="bg2"/>
                </a:solidFill>
              </a:rPr>
              <a:t> </a:t>
            </a:r>
            <a:r>
              <a:rPr lang="zh-CN" altLang="pt-BR" b="1" dirty="0">
                <a:solidFill>
                  <a:schemeClr val="bg2"/>
                </a:solidFill>
              </a:rPr>
              <a:t>， </a:t>
            </a:r>
            <a:r>
              <a:rPr lang="pt-BR" altLang="zh-CN" b="1" i="1" dirty="0">
                <a:solidFill>
                  <a:schemeClr val="bg2"/>
                </a:solidFill>
              </a:rPr>
              <a:t>t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)=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baseline="30000" dirty="0">
                <a:solidFill>
                  <a:schemeClr val="bg2"/>
                </a:solidFill>
              </a:rPr>
              <a:t>1/2</a:t>
            </a:r>
            <a:endParaRPr lang="zh-CN" altLang="en-US" baseline="30000" dirty="0">
              <a:solidFill>
                <a:schemeClr val="bg2"/>
              </a:solidFill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83568" y="3765713"/>
            <a:ext cx="6455410" cy="5028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解：根据定理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1.1</a:t>
            </a: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，可给出如下函数关系</a:t>
            </a:r>
            <a:endParaRPr lang="fr-FR" altLang="zh-CN" sz="240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5409" y="4365104"/>
            <a:ext cx="2865864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pt-BR" altLang="zh-CN" b="1" i="1" dirty="0">
                <a:solidFill>
                  <a:schemeClr val="bg2"/>
                </a:solidFill>
              </a:rPr>
              <a:t>h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 = </a:t>
            </a:r>
            <a:r>
              <a:rPr lang="pt-BR" altLang="zh-CN" b="1" i="1" dirty="0">
                <a:solidFill>
                  <a:schemeClr val="bg2"/>
                </a:solidFill>
              </a:rPr>
              <a:t>ω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f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))</a:t>
            </a:r>
            <a:r>
              <a:rPr lang="zh-CN" altLang="pt-BR" b="1" dirty="0">
                <a:solidFill>
                  <a:schemeClr val="bg2"/>
                </a:solidFill>
              </a:rPr>
              <a:t>， </a:t>
            </a:r>
            <a:endParaRPr lang="pt-BR" altLang="zh-CN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pt-BR" altLang="zh-CN" b="1" i="1" dirty="0">
                <a:solidFill>
                  <a:schemeClr val="bg2"/>
                </a:solidFill>
              </a:rPr>
              <a:t>f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 = </a:t>
            </a:r>
            <a:r>
              <a:rPr lang="pt-BR" altLang="zh-CN" b="1" i="1" dirty="0">
                <a:solidFill>
                  <a:schemeClr val="bg2"/>
                </a:solidFill>
              </a:rPr>
              <a:t>ω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g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)), </a:t>
            </a:r>
            <a:endParaRPr lang="pt-BR" altLang="zh-CN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pt-BR" altLang="zh-CN" b="1" i="1" dirty="0">
                <a:solidFill>
                  <a:schemeClr val="bg2"/>
                </a:solidFill>
              </a:rPr>
              <a:t>g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 = </a:t>
            </a:r>
            <a:r>
              <a:rPr lang="pt-BR" altLang="zh-CN" b="1" i="1" dirty="0">
                <a:solidFill>
                  <a:schemeClr val="bg2"/>
                </a:solidFill>
              </a:rPr>
              <a:t>ω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t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)),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20189" y="4607894"/>
            <a:ext cx="4366901" cy="9363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pt-BR" b="1" dirty="0" smtClean="0">
                <a:solidFill>
                  <a:schemeClr val="bg2"/>
                </a:solidFill>
              </a:rPr>
              <a:t>排序</a:t>
            </a:r>
            <a:r>
              <a:rPr lang="zh-CN" altLang="en-US" b="1" dirty="0" smtClean="0">
                <a:solidFill>
                  <a:schemeClr val="bg2"/>
                </a:solidFill>
              </a:rPr>
              <a:t>结果：</a:t>
            </a:r>
            <a:r>
              <a:rPr lang="zh-CN" altLang="pt-BR" b="1" dirty="0" smtClean="0">
                <a:solidFill>
                  <a:schemeClr val="bg2"/>
                </a:solidFill>
              </a:rPr>
              <a:t> </a:t>
            </a:r>
            <a:r>
              <a:rPr lang="pt-BR" altLang="zh-CN" b="1" i="1" dirty="0">
                <a:solidFill>
                  <a:schemeClr val="bg2"/>
                </a:solidFill>
              </a:rPr>
              <a:t>h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), </a:t>
            </a:r>
            <a:r>
              <a:rPr lang="pt-BR" altLang="zh-CN" b="1" i="1" dirty="0">
                <a:solidFill>
                  <a:schemeClr val="bg2"/>
                </a:solidFill>
              </a:rPr>
              <a:t>f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), </a:t>
            </a:r>
            <a:r>
              <a:rPr lang="pt-BR" altLang="zh-CN" b="1" i="1" dirty="0">
                <a:solidFill>
                  <a:schemeClr val="bg2"/>
                </a:solidFill>
              </a:rPr>
              <a:t>g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), </a:t>
            </a:r>
            <a:r>
              <a:rPr lang="pt-BR" altLang="zh-CN" b="1" i="1" dirty="0">
                <a:solidFill>
                  <a:schemeClr val="bg2"/>
                </a:solidFill>
              </a:rPr>
              <a:t>t</a:t>
            </a:r>
            <a:r>
              <a:rPr lang="pt-BR" altLang="zh-CN" b="1" dirty="0">
                <a:solidFill>
                  <a:schemeClr val="bg2"/>
                </a:solidFill>
              </a:rPr>
              <a:t>(</a:t>
            </a:r>
            <a:r>
              <a:rPr lang="pt-BR" altLang="zh-CN" b="1" i="1" dirty="0">
                <a:solidFill>
                  <a:schemeClr val="bg2"/>
                </a:solidFill>
              </a:rPr>
              <a:t>n</a:t>
            </a:r>
            <a:r>
              <a:rPr lang="pt-BR" altLang="zh-CN" b="1" dirty="0">
                <a:solidFill>
                  <a:schemeClr val="bg2"/>
                </a:solidFill>
              </a:rPr>
              <a:t>) </a:t>
            </a:r>
            <a:endParaRPr lang="pt-BR" altLang="zh-CN" b="1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chemeClr val="bg2"/>
                </a:solidFill>
              </a:rPr>
              <a:t>定理</a:t>
            </a:r>
            <a:r>
              <a:rPr lang="en-US" altLang="zh-CN" b="1" dirty="0" smtClean="0">
                <a:solidFill>
                  <a:schemeClr val="bg2"/>
                </a:solidFill>
              </a:rPr>
              <a:t>1.2   </a:t>
            </a:r>
            <a:r>
              <a:rPr lang="zh-CN" altLang="en-US" b="1" dirty="0" smtClean="0">
                <a:solidFill>
                  <a:schemeClr val="bg2"/>
                </a:solidFill>
              </a:rPr>
              <a:t>传递性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23056" y="1772816"/>
            <a:ext cx="8353400" cy="1044116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2"/>
                </a:solidFill>
              </a:rPr>
              <a:t>定理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1.3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 假设函数</a:t>
            </a:r>
            <a:r>
              <a:rPr lang="en-US" altLang="zh-CN" sz="2400" b="1" i="1" dirty="0" smtClean="0">
                <a:solidFill>
                  <a:schemeClr val="bg2"/>
                </a:solidFill>
              </a:rPr>
              <a:t>f 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和</a:t>
            </a:r>
            <a:r>
              <a:rPr lang="en-US" altLang="zh-CN" sz="2400" b="1" i="1" dirty="0" smtClean="0">
                <a:solidFill>
                  <a:schemeClr val="bg2"/>
                </a:solidFill>
              </a:rPr>
              <a:t>g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的定义域为自然数集，若对某个其它函数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, 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有 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=O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(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) 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和 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(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)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， 那么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+ g = O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3528" y="2924944"/>
            <a:ext cx="8208912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2"/>
                </a:solidFill>
              </a:rPr>
              <a:t>定理</a:t>
            </a:r>
            <a:r>
              <a:rPr lang="en-US" altLang="zh-CN" b="1" dirty="0">
                <a:solidFill>
                  <a:schemeClr val="bg2"/>
                </a:solidFill>
              </a:rPr>
              <a:t>1.3</a:t>
            </a:r>
            <a:r>
              <a:rPr lang="zh-CN" altLang="en-US" b="1" dirty="0" smtClean="0">
                <a:solidFill>
                  <a:schemeClr val="bg2"/>
                </a:solidFill>
              </a:rPr>
              <a:t>可以</a:t>
            </a:r>
            <a:r>
              <a:rPr lang="zh-CN" altLang="en-US" b="1" dirty="0">
                <a:solidFill>
                  <a:schemeClr val="bg2"/>
                </a:solidFill>
              </a:rPr>
              <a:t>推广到有限个</a:t>
            </a:r>
            <a:r>
              <a:rPr lang="zh-CN" altLang="en-US" b="1" dirty="0" smtClean="0">
                <a:solidFill>
                  <a:schemeClr val="bg2"/>
                </a:solidFill>
              </a:rPr>
              <a:t>函数：算法</a:t>
            </a:r>
            <a:r>
              <a:rPr lang="zh-CN" altLang="en-US" b="1" dirty="0">
                <a:solidFill>
                  <a:schemeClr val="bg2"/>
                </a:solidFill>
              </a:rPr>
              <a:t>由有限步骤构成</a:t>
            </a:r>
            <a:r>
              <a:rPr lang="en-US" altLang="zh-CN" b="1" dirty="0">
                <a:solidFill>
                  <a:schemeClr val="bg2"/>
                </a:solidFill>
              </a:rPr>
              <a:t>. </a:t>
            </a:r>
            <a:r>
              <a:rPr lang="zh-CN" altLang="en-US" b="1" dirty="0">
                <a:solidFill>
                  <a:schemeClr val="bg2"/>
                </a:solidFill>
              </a:rPr>
              <a:t>若每一步的时间</a:t>
            </a:r>
            <a:r>
              <a:rPr lang="zh-CN" altLang="en-US" b="1" dirty="0" smtClean="0">
                <a:solidFill>
                  <a:schemeClr val="bg2"/>
                </a:solidFill>
              </a:rPr>
              <a:t>复杂</a:t>
            </a:r>
            <a:r>
              <a:rPr lang="zh-CN" altLang="en-US" b="1" dirty="0">
                <a:solidFill>
                  <a:schemeClr val="bg2"/>
                </a:solidFill>
              </a:rPr>
              <a:t>度函数的上界</a:t>
            </a:r>
            <a:r>
              <a:rPr lang="zh-CN" altLang="en-US" b="1" dirty="0" smtClean="0">
                <a:solidFill>
                  <a:schemeClr val="bg2"/>
                </a:solidFill>
              </a:rPr>
              <a:t>都是</a:t>
            </a:r>
            <a:r>
              <a:rPr lang="en-US" altLang="zh-CN" b="1" i="1" dirty="0" smtClean="0">
                <a:solidFill>
                  <a:schemeClr val="bg2"/>
                </a:solidFill>
              </a:rPr>
              <a:t>h</a:t>
            </a:r>
            <a:r>
              <a:rPr lang="en-US" altLang="zh-CN" b="1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zh-CN" altLang="en-US" b="1" dirty="0">
                <a:solidFill>
                  <a:schemeClr val="bg2"/>
                </a:solidFill>
              </a:rPr>
              <a:t>，那么该算法的 </a:t>
            </a:r>
            <a:r>
              <a:rPr lang="zh-CN" altLang="en-US" b="1" dirty="0" smtClean="0">
                <a:solidFill>
                  <a:schemeClr val="bg2"/>
                </a:solidFill>
              </a:rPr>
              <a:t>时间</a:t>
            </a:r>
            <a:r>
              <a:rPr lang="zh-CN" altLang="en-US" b="1" dirty="0">
                <a:solidFill>
                  <a:schemeClr val="bg2"/>
                </a:solidFill>
              </a:rPr>
              <a:t>复杂度函数可以写作 </a:t>
            </a:r>
            <a:r>
              <a:rPr lang="en-US" altLang="zh-CN" b="1" i="1" dirty="0">
                <a:solidFill>
                  <a:schemeClr val="bg2"/>
                </a:solidFill>
              </a:rPr>
              <a:t>O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h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)). </a:t>
            </a:r>
            <a:endParaRPr lang="en-US" altLang="zh-CN" b="1" dirty="0" smtClean="0">
              <a:solidFill>
                <a:schemeClr val="bg2"/>
              </a:solidFill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bg2"/>
                </a:solidFill>
              </a:rPr>
              <a:t>算法</a:t>
            </a:r>
            <a:r>
              <a:rPr lang="zh-CN" altLang="en-US" b="1" dirty="0">
                <a:solidFill>
                  <a:schemeClr val="bg2"/>
                </a:solidFill>
              </a:rPr>
              <a:t>的时间复杂度是各步操作时间</a:t>
            </a:r>
            <a:r>
              <a:rPr lang="zh-CN" altLang="en-US" b="1" dirty="0" smtClean="0">
                <a:solidFill>
                  <a:schemeClr val="bg2"/>
                </a:solidFill>
              </a:rPr>
              <a:t>之和</a:t>
            </a:r>
            <a:r>
              <a:rPr lang="zh-CN" altLang="en-US" b="1" dirty="0">
                <a:solidFill>
                  <a:schemeClr val="bg2"/>
                </a:solidFill>
              </a:rPr>
              <a:t>，在常数步的情况下取最高阶的函 </a:t>
            </a:r>
            <a:r>
              <a:rPr lang="zh-CN" altLang="en-US" b="1" dirty="0" smtClean="0">
                <a:solidFill>
                  <a:schemeClr val="bg2"/>
                </a:solidFill>
              </a:rPr>
              <a:t>数</a:t>
            </a:r>
            <a:r>
              <a:rPr lang="zh-CN" altLang="en-US" b="1" dirty="0">
                <a:solidFill>
                  <a:schemeClr val="bg2"/>
                </a:solidFill>
              </a:rPr>
              <a:t>即可</a:t>
            </a:r>
            <a:r>
              <a:rPr lang="en-US" altLang="zh-CN" b="1" dirty="0">
                <a:solidFill>
                  <a:schemeClr val="bg2"/>
                </a:solidFill>
              </a:rPr>
              <a:t>. 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99183"/>
            <a:ext cx="527431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几类重要的函数</a:t>
            </a:r>
            <a:r>
              <a:rPr lang="en-US" altLang="zh-CN" b="1" dirty="0" smtClean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 smtClean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自学</a:t>
            </a:r>
            <a:endParaRPr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9592" y="2348880"/>
            <a:ext cx="74168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阶的高低 </a:t>
            </a:r>
            <a:endParaRPr lang="zh-CN" altLang="en-US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至少指数级： </a:t>
            </a:r>
            <a:r>
              <a:rPr lang="en-US" altLang="zh-CN" b="1" dirty="0">
                <a:solidFill>
                  <a:schemeClr val="bg2"/>
                </a:solidFill>
              </a:rPr>
              <a:t>2</a:t>
            </a:r>
            <a:r>
              <a:rPr lang="en-US" altLang="zh-CN" b="1" baseline="30000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, 3</a:t>
            </a:r>
            <a:r>
              <a:rPr lang="en-US" altLang="zh-CN" b="1" baseline="30000" dirty="0">
                <a:solidFill>
                  <a:schemeClr val="bg2"/>
                </a:solidFill>
              </a:rPr>
              <a:t>n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!, … </a:t>
            </a:r>
            <a:endParaRPr lang="en-US" altLang="zh-CN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多项式级：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 , </a:t>
            </a:r>
            <a:r>
              <a:rPr lang="en-US" altLang="zh-CN" b="1" i="1" dirty="0" err="1">
                <a:solidFill>
                  <a:schemeClr val="bg2"/>
                </a:solidFill>
              </a:rPr>
              <a:t>n</a:t>
            </a:r>
            <a:r>
              <a:rPr lang="en-US" altLang="zh-CN" b="1" dirty="0" err="1">
                <a:solidFill>
                  <a:schemeClr val="bg2"/>
                </a:solidFill>
              </a:rPr>
              <a:t>log</a:t>
            </a:r>
            <a:r>
              <a:rPr lang="en-US" altLang="zh-CN" b="1" i="1" dirty="0" err="1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baseline="30000" dirty="0">
                <a:solidFill>
                  <a:schemeClr val="bg2"/>
                </a:solidFill>
              </a:rPr>
              <a:t>1/2 </a:t>
            </a:r>
            <a:r>
              <a:rPr lang="en-US" altLang="zh-CN" b="1" dirty="0">
                <a:solidFill>
                  <a:schemeClr val="bg2"/>
                </a:solidFill>
              </a:rPr>
              <a:t>, … </a:t>
            </a:r>
            <a:endParaRPr lang="en-US" altLang="zh-CN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对数多项式级： </a:t>
            </a:r>
            <a:r>
              <a:rPr lang="en-US" altLang="zh-CN" b="1" dirty="0" err="1">
                <a:solidFill>
                  <a:schemeClr val="bg2"/>
                </a:solidFill>
              </a:rPr>
              <a:t>log</a:t>
            </a:r>
            <a:r>
              <a:rPr lang="en-US" altLang="zh-CN" b="1" i="1" dirty="0" err="1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, log</a:t>
            </a:r>
            <a:r>
              <a:rPr lang="en-US" altLang="zh-CN" b="1" baseline="30000" dirty="0">
                <a:solidFill>
                  <a:schemeClr val="bg2"/>
                </a:solidFill>
              </a:rPr>
              <a:t>2</a:t>
            </a:r>
            <a:r>
              <a:rPr lang="en-US" altLang="zh-CN" b="1" i="1" dirty="0">
                <a:solidFill>
                  <a:schemeClr val="bg2"/>
                </a:solidFill>
              </a:rPr>
              <a:t>n, </a:t>
            </a:r>
            <a:r>
              <a:rPr lang="en-US" altLang="zh-CN" b="1" dirty="0" err="1">
                <a:solidFill>
                  <a:schemeClr val="bg2"/>
                </a:solidFill>
              </a:rPr>
              <a:t>loglog</a:t>
            </a:r>
            <a:r>
              <a:rPr lang="en-US" altLang="zh-CN" b="1" i="1" dirty="0" err="1">
                <a:solidFill>
                  <a:schemeClr val="bg2"/>
                </a:solidFill>
              </a:rPr>
              <a:t>n</a:t>
            </a:r>
            <a:r>
              <a:rPr lang="en-US" altLang="zh-CN" b="1" i="1" dirty="0">
                <a:solidFill>
                  <a:schemeClr val="bg2"/>
                </a:solidFill>
              </a:rPr>
              <a:t>, …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23056" y="1772816"/>
            <a:ext cx="8353400" cy="52205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常见函数的阶从高到低的排序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80927"/>
            <a:ext cx="6364287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23056" y="1772816"/>
            <a:ext cx="8353400" cy="52205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小结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608" y="2276872"/>
            <a:ext cx="62646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2"/>
                </a:solidFill>
              </a:rPr>
              <a:t>几类常用函数的阶的性质 </a:t>
            </a:r>
            <a:endParaRPr lang="zh-CN" altLang="en-US" dirty="0">
              <a:solidFill>
                <a:schemeClr val="bg2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2"/>
                </a:solidFill>
              </a:rPr>
              <a:t>对数函数 </a:t>
            </a:r>
            <a:endParaRPr lang="zh-CN" altLang="en-US" dirty="0">
              <a:solidFill>
                <a:schemeClr val="bg2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2"/>
                </a:solidFill>
              </a:rPr>
              <a:t>指数函数 </a:t>
            </a:r>
            <a:endParaRPr lang="zh-CN" altLang="en-US" dirty="0">
              <a:solidFill>
                <a:schemeClr val="bg2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2"/>
                </a:solidFill>
              </a:rPr>
              <a:t>阶乘函数 </a:t>
            </a:r>
            <a:endParaRPr lang="zh-CN" altLang="en-US" dirty="0">
              <a:solidFill>
                <a:schemeClr val="bg2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2"/>
                </a:solidFill>
              </a:rPr>
              <a:t>取整函数 </a:t>
            </a:r>
            <a:endParaRPr lang="zh-CN" altLang="en-US" dirty="0">
              <a:solidFill>
                <a:schemeClr val="bg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2"/>
                </a:solidFill>
              </a:rPr>
              <a:t>•</a:t>
            </a:r>
            <a:r>
              <a:rPr lang="zh-CN" altLang="en-US" b="1" dirty="0" smtClean="0">
                <a:solidFill>
                  <a:schemeClr val="bg2"/>
                </a:solidFill>
              </a:rPr>
              <a:t>如何</a:t>
            </a:r>
            <a:r>
              <a:rPr lang="zh-CN" altLang="en-US" b="1" dirty="0">
                <a:solidFill>
                  <a:schemeClr val="bg2"/>
                </a:solidFill>
              </a:rPr>
              <a:t>利用上述性质估计函数的阶？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99183"/>
            <a:ext cx="52743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算法复杂度分析方法</a:t>
            </a:r>
            <a:endParaRPr lang="zh-CN" altLang="en-US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0676" y="2035805"/>
            <a:ext cx="7697747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算法分类</a:t>
            </a:r>
            <a:endParaRPr lang="zh-CN" altLang="en-US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1</a:t>
            </a:r>
            <a:r>
              <a:rPr lang="zh-CN" altLang="en-US" dirty="0">
                <a:solidFill>
                  <a:schemeClr val="bg2"/>
                </a:solidFill>
              </a:rPr>
              <a:t>）循环类（迭代）</a:t>
            </a:r>
            <a:r>
              <a:rPr lang="zh-CN" altLang="en-US" dirty="0" smtClean="0">
                <a:solidFill>
                  <a:schemeClr val="bg2"/>
                </a:solidFill>
              </a:rPr>
              <a:t>算法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该</a:t>
            </a:r>
            <a:r>
              <a:rPr lang="zh-CN" altLang="en-US" dirty="0">
                <a:solidFill>
                  <a:schemeClr val="bg2"/>
                </a:solidFill>
              </a:rPr>
              <a:t>类算法的时间复杂度通常表现</a:t>
            </a:r>
            <a:r>
              <a:rPr lang="zh-CN" altLang="en-US" dirty="0" smtClean="0">
                <a:solidFill>
                  <a:schemeClr val="bg2"/>
                </a:solidFill>
              </a:rPr>
              <a:t>为算法中基本运算的执行次数的累加和。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2</a:t>
            </a:r>
            <a:r>
              <a:rPr lang="zh-CN" altLang="en-US" dirty="0">
                <a:solidFill>
                  <a:schemeClr val="bg2"/>
                </a:solidFill>
              </a:rPr>
              <a:t>）递归类</a:t>
            </a:r>
            <a:r>
              <a:rPr lang="zh-CN" altLang="en-US" dirty="0" smtClean="0">
                <a:solidFill>
                  <a:schemeClr val="bg2"/>
                </a:solidFill>
              </a:rPr>
              <a:t>算法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该</a:t>
            </a:r>
            <a:r>
              <a:rPr lang="zh-CN" altLang="en-US" dirty="0" smtClean="0">
                <a:solidFill>
                  <a:schemeClr val="bg2"/>
                </a:solidFill>
              </a:rPr>
              <a:t>类算法的时执行时间通常表示为递归方程形式，因此需要对递归方程进行求解，找出算法的时间复杂度表示。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99183"/>
            <a:ext cx="52743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</a:rPr>
              <a:t>循环类算法时间复杂度分析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0676" y="2035805"/>
            <a:ext cx="7697747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循序次数直接依赖问题规模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</a:rPr>
              <a:t>：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 smtClean="0">
              <a:solidFill>
                <a:schemeClr val="bg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640" y="2483253"/>
            <a:ext cx="4572000" cy="252992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lnSpc>
                <a:spcPct val="110000"/>
              </a:lnSpc>
            </a:pPr>
            <a:r>
              <a:rPr lang="en-US" altLang="zh-CN" b="1" i="1" dirty="0" smtClean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 x=0</a:t>
            </a: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endParaRPr lang="en-US" altLang="zh-CN" b="1" i="1" dirty="0">
              <a:solidFill>
                <a:srgbClr val="1E2E53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      for(k=1;</a:t>
            </a:r>
            <a:r>
              <a:rPr lang="en-US" altLang="zh-CN" b="1" i="1" dirty="0">
                <a:solidFill>
                  <a:srgbClr val="FF00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k&lt;=</a:t>
            </a:r>
            <a:r>
              <a:rPr lang="en-US" altLang="zh-CN" b="1" i="1" dirty="0" err="1">
                <a:solidFill>
                  <a:srgbClr val="FF00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</a:t>
            </a:r>
            <a:r>
              <a:rPr lang="en-US" altLang="zh-CN" b="1" i="1" dirty="0" err="1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;k</a:t>
            </a: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++)</a:t>
            </a:r>
            <a:endParaRPr lang="en-US" altLang="zh-CN" b="1" i="1" dirty="0">
              <a:solidFill>
                <a:srgbClr val="1E2E53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         </a:t>
            </a:r>
            <a:r>
              <a:rPr lang="en-US" altLang="zh-CN" b="1" i="1" dirty="0" smtClean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x=x+1;</a:t>
            </a:r>
            <a:endParaRPr lang="en-US" altLang="zh-CN" b="1" i="1" dirty="0">
              <a:solidFill>
                <a:srgbClr val="1E2E53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      for(</a:t>
            </a:r>
            <a:r>
              <a:rPr lang="en-US" altLang="zh-CN" b="1" i="1" dirty="0" err="1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=1;</a:t>
            </a:r>
            <a:r>
              <a:rPr lang="en-US" altLang="zh-CN" b="1" i="1" dirty="0">
                <a:solidFill>
                  <a:srgbClr val="FF00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i&lt;=</a:t>
            </a:r>
            <a:r>
              <a:rPr lang="en-US" altLang="zh-CN" b="1" i="1" dirty="0" err="1">
                <a:solidFill>
                  <a:srgbClr val="FF00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</a:t>
            </a:r>
            <a:r>
              <a:rPr lang="en-US" altLang="zh-CN" b="1" i="1" dirty="0" err="1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;i</a:t>
            </a: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++)</a:t>
            </a:r>
            <a:endParaRPr lang="en-US" altLang="zh-CN" b="1" i="1" dirty="0">
              <a:solidFill>
                <a:srgbClr val="1E2E53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       </a:t>
            </a:r>
            <a:r>
              <a:rPr lang="en-US" altLang="zh-CN" b="1" i="1" dirty="0" smtClean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for(j=1;</a:t>
            </a:r>
            <a:r>
              <a:rPr lang="en-US" altLang="zh-CN" b="1" i="1" dirty="0">
                <a:solidFill>
                  <a:srgbClr val="FF00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j&lt;=</a:t>
            </a:r>
            <a:r>
              <a:rPr lang="en-US" altLang="zh-CN" b="1" i="1" dirty="0" err="1">
                <a:solidFill>
                  <a:srgbClr val="FF00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n</a:t>
            </a:r>
            <a:r>
              <a:rPr lang="en-US" altLang="zh-CN" b="1" i="1" dirty="0" err="1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;j</a:t>
            </a:r>
            <a:r>
              <a:rPr lang="en-US" altLang="zh-CN" b="1" i="1" dirty="0">
                <a:solidFill>
                  <a:srgbClr val="1E2E53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++)</a:t>
            </a:r>
            <a:endParaRPr lang="en-US" altLang="zh-CN" b="1" i="1" dirty="0">
              <a:solidFill>
                <a:srgbClr val="1E2E53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i="1" dirty="0">
                <a:solidFill>
                  <a:schemeClr val="bg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altLang="zh-CN" b="1" i="1" dirty="0" smtClean="0">
                <a:solidFill>
                  <a:schemeClr val="bg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bg2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y=y+1;  </a:t>
            </a:r>
            <a:endParaRPr lang="zh-CN" altLang="en-US" b="1" i="1" dirty="0">
              <a:solidFill>
                <a:schemeClr val="bg2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42988" y="5084763"/>
            <a:ext cx="5832475" cy="100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最内层语句执行次数：</a:t>
            </a: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baseline="30000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endParaRPr lang="en-US" altLang="zh-CN" b="1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时间复杂度：</a:t>
            </a:r>
            <a:r>
              <a:rPr lang="en-US" altLang="zh-CN" b="1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O(</a:t>
            </a:r>
            <a:r>
              <a:rPr lang="en-US" altLang="zh-CN" b="1" i="1" dirty="0">
                <a:solidFill>
                  <a:srgbClr val="1E2E53"/>
                </a:solidFill>
              </a:rPr>
              <a:t>n</a:t>
            </a:r>
            <a:r>
              <a:rPr lang="en-US" altLang="zh-CN" b="1" baseline="30000" dirty="0">
                <a:solidFill>
                  <a:srgbClr val="1E2E53"/>
                </a:solidFill>
              </a:rPr>
              <a:t>2</a:t>
            </a:r>
            <a:r>
              <a:rPr lang="en-US" altLang="zh-CN" b="1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7697747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循环次数间接依赖问题规模</a:t>
            </a:r>
            <a:r>
              <a:rPr lang="en-US" altLang="zh-CN" b="1" i="1" dirty="0">
                <a:solidFill>
                  <a:schemeClr val="bg2"/>
                </a:solidFill>
              </a:rPr>
              <a:t>n 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31640" y="198884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lnSpc>
                <a:spcPct val="12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x=1;</a:t>
            </a:r>
            <a:endParaRPr lang="en-US" altLang="zh-CN" b="1" i="1" dirty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for(</a:t>
            </a:r>
            <a:r>
              <a:rPr lang="en-US" altLang="zh-CN" b="1" i="1" dirty="0" err="1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=1;i&lt;=</a:t>
            </a:r>
            <a:r>
              <a:rPr lang="en-US" altLang="zh-CN" b="1" i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i="1" dirty="0" err="1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;i</a:t>
            </a: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++)</a:t>
            </a:r>
            <a:endParaRPr lang="en-US" altLang="zh-CN" b="1" i="1" dirty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   for(j=1;j&lt;=</a:t>
            </a:r>
            <a:r>
              <a:rPr lang="en-US" altLang="zh-CN" b="1" i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i="1" dirty="0" err="1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;j</a:t>
            </a: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++)</a:t>
            </a:r>
            <a:endParaRPr lang="en-US" altLang="zh-CN" b="1" i="1" dirty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      for(k=1;k&lt;=</a:t>
            </a:r>
            <a:r>
              <a:rPr lang="en-US" altLang="zh-CN" b="1" i="1" dirty="0" err="1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i="1" dirty="0" err="1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;k</a:t>
            </a: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++)</a:t>
            </a:r>
            <a:endParaRPr lang="en-US" altLang="zh-CN" b="1" i="1" dirty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b="1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             x=x+1;</a:t>
            </a:r>
            <a:endParaRPr lang="en-US" altLang="zh-CN" b="1" i="1" dirty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134028" y="5949280"/>
            <a:ext cx="27430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时间</a:t>
            </a:r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复杂度：</a:t>
            </a:r>
            <a:r>
              <a:rPr lang="en-US" altLang="zh-CN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O(n</a:t>
            </a:r>
            <a:r>
              <a:rPr lang="en-US" altLang="zh-CN" b="1" i="1" baseline="30000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lang="zh-CN" altLang="en-US" b="1" i="1" dirty="0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3805" y="4220845"/>
          <a:ext cx="6021070" cy="172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009900" imgH="862965" progId="Equation.KSEE3">
                  <p:embed/>
                </p:oleObj>
              </mc:Choice>
              <mc:Fallback>
                <p:oleObj name="" r:id="rId1" imgW="3009900" imgH="862965" progId="Equation.KSEE3">
                  <p:embed/>
                  <p:pic>
                    <p:nvPicPr>
                      <p:cNvPr id="0" name="20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33805" y="4220845"/>
                        <a:ext cx="6021070" cy="1726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28092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：冒泡排序：</a:t>
            </a:r>
            <a:r>
              <a:rPr lang="zh-CN" altLang="en-US" b="1" dirty="0" smtClean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数组</a:t>
            </a:r>
            <a:r>
              <a:rPr lang="zh-CN" altLang="en-US" b="1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en-US" altLang="zh-CN" b="1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个元素由小到大进行</a:t>
            </a:r>
            <a:r>
              <a:rPr lang="zh-CN" altLang="en-US" b="1" dirty="0" smtClean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排序</a:t>
            </a:r>
            <a:endParaRPr lang="zh-CN" altLang="en-US" b="1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2133044"/>
            <a:ext cx="4243387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1. template &lt;class T&gt;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2. void bubble(Type A[],</a:t>
            </a:r>
            <a:r>
              <a:rPr lang="en-US" altLang="zh-CN" sz="2200" b="1" i="1" dirty="0" err="1">
                <a:solidFill>
                  <a:schemeClr val="bg2"/>
                </a:solidFill>
              </a:rPr>
              <a:t>int</a:t>
            </a:r>
            <a:r>
              <a:rPr lang="en-US" altLang="zh-CN" sz="2200" b="1" i="1" dirty="0">
                <a:solidFill>
                  <a:schemeClr val="bg2"/>
                </a:solidFill>
              </a:rPr>
              <a:t> n)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3. {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4.     </a:t>
            </a:r>
            <a:r>
              <a:rPr lang="en-US" altLang="zh-CN" sz="2200" b="1" i="1" dirty="0" err="1">
                <a:solidFill>
                  <a:schemeClr val="bg2"/>
                </a:solidFill>
              </a:rPr>
              <a:t>int</a:t>
            </a:r>
            <a:r>
              <a:rPr lang="en-US" altLang="zh-CN" sz="2200" b="1" i="1" dirty="0">
                <a:solidFill>
                  <a:schemeClr val="bg2"/>
                </a:solidFill>
              </a:rPr>
              <a:t> </a:t>
            </a:r>
            <a:r>
              <a:rPr lang="en-US" altLang="zh-CN" sz="2200" b="1" i="1" dirty="0" err="1">
                <a:solidFill>
                  <a:schemeClr val="bg2"/>
                </a:solidFill>
              </a:rPr>
              <a:t>i,k</a:t>
            </a:r>
            <a:r>
              <a:rPr lang="en-US" altLang="zh-CN" sz="2200" b="1" i="1" dirty="0">
                <a:solidFill>
                  <a:schemeClr val="bg2"/>
                </a:solidFill>
              </a:rPr>
              <a:t>;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5.     for (k=n-1;k&gt;0;k--) {       </a:t>
            </a:r>
            <a:endParaRPr lang="zh-CN" altLang="en-US" sz="2200" b="1" i="1" dirty="0">
              <a:solidFill>
                <a:schemeClr val="bg2"/>
              </a:solidFill>
            </a:endParaRPr>
          </a:p>
          <a:p>
            <a:pPr marL="457200" indent="-457200">
              <a:buFontTx/>
              <a:buAutoNum type="arabicPeriod" startAt="6"/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      for (i=0;i&lt;</a:t>
            </a:r>
            <a:r>
              <a:rPr lang="en-US" altLang="zh-CN" sz="2200" b="1" i="1" dirty="0" err="1">
                <a:solidFill>
                  <a:schemeClr val="bg2"/>
                </a:solidFill>
              </a:rPr>
              <a:t>k;i</a:t>
            </a:r>
            <a:r>
              <a:rPr lang="en-US" altLang="zh-CN" sz="2200" b="1" i="1" dirty="0">
                <a:solidFill>
                  <a:schemeClr val="bg2"/>
                </a:solidFill>
              </a:rPr>
              <a:t>++) 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 marL="457200" indent="-457200">
              <a:buFontTx/>
              <a:buAutoNum type="arabicPeriod" startAt="6"/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          if (A[i] &gt; A[i+1]) {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8.                  swap(A[i],A[i+1]);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9.              }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10.         }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11.     }</a:t>
            </a:r>
            <a:endParaRPr lang="en-US" altLang="zh-CN" sz="2200" b="1" i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200" b="1" i="1" dirty="0">
                <a:solidFill>
                  <a:schemeClr val="bg2"/>
                </a:solidFill>
              </a:rPr>
              <a:t>12. }</a:t>
            </a:r>
            <a:endParaRPr lang="en-US" altLang="zh-CN" sz="2200" b="1" i="1" dirty="0">
              <a:solidFill>
                <a:schemeClr val="bg2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350359" y="4509120"/>
            <a:ext cx="27430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时间</a:t>
            </a:r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复杂度：</a:t>
            </a:r>
            <a:r>
              <a:rPr lang="en-US" altLang="zh-CN" b="1" i="1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O(n</a:t>
            </a:r>
            <a:r>
              <a:rPr lang="en-US" altLang="zh-CN" b="1" i="1" baseline="30000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 smtClean="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lang="zh-CN" altLang="en-US" b="1" i="1" dirty="0">
              <a:solidFill>
                <a:srgbClr val="00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76190" y="2710815"/>
          <a:ext cx="2961640" cy="142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1270000" imgH="609600" progId="Equation.KSEE3">
                  <p:embed/>
                </p:oleObj>
              </mc:Choice>
              <mc:Fallback>
                <p:oleObj name="" r:id="rId1" imgW="1270000" imgH="609600" progId="Equation.KSEE3">
                  <p:embed/>
                  <p:pic>
                    <p:nvPicPr>
                      <p:cNvPr id="0" name="20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76190" y="2710815"/>
                        <a:ext cx="2961640" cy="1421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1628800"/>
            <a:ext cx="7697747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：</a:t>
            </a:r>
            <a:r>
              <a:rPr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选手的竞技淘汰比赛</a:t>
            </a:r>
            <a:r>
              <a:rPr lang="en-US" altLang="zh-CN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锦标赛排序</a:t>
            </a:r>
            <a:endParaRPr lang="zh-CN" altLang="en-US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99993" y="2348880"/>
            <a:ext cx="7776864" cy="1865126"/>
            <a:chOff x="506354" y="2609215"/>
            <a:chExt cx="7776864" cy="1865126"/>
          </a:xfrm>
        </p:grpSpPr>
        <p:sp>
          <p:nvSpPr>
            <p:cNvPr id="4" name="矩形 3"/>
            <p:cNvSpPr/>
            <p:nvPr/>
          </p:nvSpPr>
          <p:spPr>
            <a:xfrm>
              <a:off x="506354" y="2609215"/>
              <a:ext cx="7776864" cy="1865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eaLnBrk="1" hangingPunct="1">
                <a:lnSpc>
                  <a:spcPct val="120000"/>
                </a:lnSpc>
              </a:pPr>
              <a:r>
                <a:rPr lang="zh-CN" altLang="en-US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有      位选手进行竞技淘汰比赛，最后决出冠军的选手。假定函数：</a:t>
              </a:r>
              <a:r>
                <a:rPr lang="en-US" altLang="zh-CN" b="1" i="1" dirty="0" err="1">
                  <a:solidFill>
                    <a:srgbClr val="1E2E53"/>
                  </a:solidFill>
                  <a:ea typeface="楷体_GB2312" pitchFamily="49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b="1" i="1" dirty="0">
                  <a:solidFill>
                    <a:srgbClr val="1E2E53"/>
                  </a:solidFill>
                  <a:ea typeface="楷体_GB2312" pitchFamily="49" charset="-122"/>
                  <a:cs typeface="Times New Roman" panose="02020603050405020304" pitchFamily="18" charset="0"/>
                </a:rPr>
                <a:t> comp(Type mem1,Type mem2)</a:t>
              </a:r>
              <a:r>
                <a:rPr lang="zh-CN" altLang="en-US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模拟两位选手的比赛，若</a:t>
              </a:r>
              <a:r>
                <a:rPr lang="en-US" altLang="zh-CN" b="1" i="1" dirty="0">
                  <a:solidFill>
                    <a:srgbClr val="1E2E53"/>
                  </a:solidFill>
                  <a:ea typeface="楷体_GB2312" pitchFamily="49" charset="-122"/>
                </a:rPr>
                <a:t>mem1</a:t>
              </a:r>
              <a:r>
                <a:rPr lang="zh-CN" altLang="en-US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胜则返回</a:t>
              </a:r>
              <a:r>
                <a:rPr lang="en-US" altLang="zh-CN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zh-CN" altLang="en-US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，否则返回</a:t>
              </a:r>
              <a:r>
                <a:rPr lang="en-US" altLang="zh-CN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0</a:t>
              </a:r>
              <a:r>
                <a:rPr lang="zh-CN" altLang="en-US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。并假定可以在常数时间</a:t>
              </a:r>
              <a:r>
                <a:rPr lang="en-US" altLang="zh-CN" b="1" i="1" dirty="0">
                  <a:solidFill>
                    <a:srgbClr val="1E2E53"/>
                  </a:solidFill>
                  <a:ea typeface="楷体_GB2312" pitchFamily="49" charset="-122"/>
                </a:rPr>
                <a:t>c</a:t>
              </a:r>
              <a:r>
                <a:rPr lang="zh-CN" altLang="en-US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内完成函数</a:t>
              </a:r>
              <a:r>
                <a:rPr lang="en-US" altLang="zh-CN" b="1" i="1" dirty="0">
                  <a:solidFill>
                    <a:srgbClr val="1E2E53"/>
                  </a:solidFill>
                  <a:ea typeface="楷体_GB2312" pitchFamily="49" charset="-122"/>
                </a:rPr>
                <a:t>comp</a:t>
              </a:r>
              <a:r>
                <a:rPr lang="zh-CN" altLang="en-US" b="1" dirty="0">
                  <a:solidFill>
                    <a:srgbClr val="1E2E53"/>
                  </a:solidFill>
                  <a:latin typeface="楷体_GB2312" pitchFamily="49" charset="-122"/>
                  <a:ea typeface="楷体_GB2312" pitchFamily="49" charset="-122"/>
                </a:rPr>
                <a:t>的执行。            </a:t>
              </a:r>
              <a:endParaRPr lang="zh-CN" altLang="en-US" b="1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/>
          </p:nvGraphicFramePr>
          <p:xfrm>
            <a:off x="1338001" y="2609215"/>
            <a:ext cx="911225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5" name="Equation" r:id="rId1" imgW="316865" imgH="165100" progId="Equation.DSMT4">
                    <p:embed/>
                  </p:oleObj>
                </mc:Choice>
                <mc:Fallback>
                  <p:oleObj name="Equation" r:id="rId1" imgW="316865" imgH="165100" progId="Equation.DSMT4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001" y="2609215"/>
                          <a:ext cx="911225" cy="503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468313" y="1628795"/>
            <a:ext cx="6623967" cy="4002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1. Type game(Type group[],</a:t>
            </a:r>
            <a:r>
              <a:rPr lang="en-US" altLang="zh-CN" sz="2200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 n)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2. {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3.     </a:t>
            </a:r>
            <a:r>
              <a:rPr lang="en-US" altLang="zh-CN" sz="2200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j,i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 = n;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4.     while (</a:t>
            </a:r>
            <a:r>
              <a:rPr lang="en-US" altLang="zh-CN" sz="2200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&gt;1) {   /*n=2</a:t>
            </a:r>
            <a:r>
              <a:rPr lang="en-US" altLang="zh-CN" sz="2200" b="1" i="1" baseline="30000" dirty="0">
                <a:solidFill>
                  <a:schemeClr val="bg2"/>
                </a:solidFill>
                <a:cs typeface="Times New Roman" panose="02020603050405020304" pitchFamily="18" charset="0"/>
              </a:rPr>
              <a:t>k </a:t>
            </a:r>
            <a:r>
              <a:rPr lang="zh-CN" altLang="en-US" sz="2200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共</a:t>
            </a:r>
            <a:r>
              <a:rPr lang="zh-CN" altLang="en-US" sz="2200" b="1" dirty="0">
                <a:solidFill>
                  <a:schemeClr val="bg2"/>
                </a:solidFill>
                <a:cs typeface="Times New Roman" panose="02020603050405020304" pitchFamily="18" charset="0"/>
              </a:rPr>
              <a:t>进行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k</a:t>
            </a:r>
            <a:r>
              <a:rPr lang="zh-CN" altLang="en-US" sz="2200" b="1" dirty="0">
                <a:solidFill>
                  <a:schemeClr val="bg2"/>
                </a:solidFill>
                <a:cs typeface="Times New Roman" panose="02020603050405020304" pitchFamily="18" charset="0"/>
              </a:rPr>
              <a:t>次循环</a:t>
            </a:r>
            <a:r>
              <a:rPr lang="zh-CN" altLang="en-US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/</a:t>
            </a:r>
            <a:endParaRPr lang="zh-CN" altLang="en-US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5</a:t>
            </a:r>
            <a:r>
              <a:rPr lang="en-US" altLang="zh-CN" sz="22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.         </a:t>
            </a:r>
            <a:r>
              <a:rPr lang="en-US" altLang="zh-CN" sz="22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= </a:t>
            </a:r>
            <a:r>
              <a:rPr lang="en-US" altLang="zh-CN" sz="22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/ 2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;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6.         for (j=0;</a:t>
            </a:r>
            <a:r>
              <a:rPr lang="en-US" altLang="zh-CN" sz="22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j&lt;</a:t>
            </a:r>
            <a:r>
              <a:rPr lang="en-US" altLang="zh-CN" sz="22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;j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++)  /*</a:t>
            </a:r>
            <a:r>
              <a:rPr lang="zh-CN" altLang="en-US" sz="2200" b="1" dirty="0">
                <a:solidFill>
                  <a:schemeClr val="bg2"/>
                </a:solidFill>
                <a:cs typeface="Times New Roman" panose="02020603050405020304" pitchFamily="18" charset="0"/>
              </a:rPr>
              <a:t>每一轮需要进行</a:t>
            </a:r>
            <a:r>
              <a:rPr lang="en-US" altLang="zh-CN" sz="2200" b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chemeClr val="bg2"/>
                </a:solidFill>
                <a:cs typeface="Times New Roman" panose="02020603050405020304" pitchFamily="18" charset="0"/>
              </a:rPr>
              <a:t>/2</a:t>
            </a:r>
            <a:r>
              <a:rPr lang="zh-CN" altLang="en-US" sz="2200" b="1" dirty="0">
                <a:solidFill>
                  <a:schemeClr val="bg2"/>
                </a:solidFill>
                <a:cs typeface="Times New Roman" panose="02020603050405020304" pitchFamily="18" charset="0"/>
              </a:rPr>
              <a:t>次比赛</a:t>
            </a:r>
            <a:r>
              <a:rPr lang="zh-CN" altLang="en-US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/</a:t>
            </a:r>
            <a:endParaRPr lang="zh-CN" altLang="en-US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7.              if (comp(group[</a:t>
            </a:r>
            <a:r>
              <a:rPr lang="en-US" altLang="zh-CN" sz="2200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j+i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],group[j]))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8.                     group[j] = group[</a:t>
            </a:r>
            <a:r>
              <a:rPr lang="en-US" altLang="zh-CN" sz="2200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j+i</a:t>
            </a: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];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9.    }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10.     return group[0];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11. }</a:t>
            </a:r>
            <a:endParaRPr lang="en-US" altLang="zh-CN" sz="2200" i="1" dirty="0">
              <a:solidFill>
                <a:schemeClr val="bg2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63395" y="5229225"/>
          <a:ext cx="6068695" cy="101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2590800" imgH="431800" progId="Equation.KSEE3">
                  <p:embed/>
                </p:oleObj>
              </mc:Choice>
              <mc:Fallback>
                <p:oleObj name="" r:id="rId1" imgW="2590800" imgH="431800" progId="Equation.KSEE3">
                  <p:embed/>
                  <p:pic>
                    <p:nvPicPr>
                      <p:cNvPr id="0" name="20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395" y="5229225"/>
                        <a:ext cx="6068695" cy="1011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1628800"/>
            <a:ext cx="7697747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</a:rPr>
              <a:t>：洗牌程序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535" y="2276872"/>
            <a:ext cx="8090339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0" lang="zh-CN" altLang="en-US" dirty="0" smtClean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kumimoji="0" lang="en-US" altLang="zh-CN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张牌进行</a:t>
            </a:r>
            <a:r>
              <a:rPr kumimoji="0" lang="en-US" altLang="zh-CN" i="1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次洗牌，洗牌规则如下：在第</a:t>
            </a:r>
            <a:r>
              <a:rPr kumimoji="0" lang="en-US" altLang="zh-CN" i="1" dirty="0">
                <a:solidFill>
                  <a:srgbClr val="1E2E53"/>
                </a:solidFill>
                <a:ea typeface="楷体_GB2312" pitchFamily="49" charset="-122"/>
              </a:rPr>
              <a:t>k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次洗牌时（</a:t>
            </a:r>
            <a:r>
              <a:rPr kumimoji="0" lang="en-US" altLang="zh-CN" i="1" dirty="0">
                <a:solidFill>
                  <a:srgbClr val="1E2E53"/>
                </a:solidFill>
                <a:ea typeface="楷体_GB2312" pitchFamily="49" charset="-122"/>
              </a:rPr>
              <a:t>k=1,…,n</a:t>
            </a:r>
            <a:r>
              <a:rPr kumimoji="0" lang="zh-CN" altLang="en-US" i="1" dirty="0">
                <a:solidFill>
                  <a:srgbClr val="1E2E53"/>
                </a:solidFill>
                <a:ea typeface="楷体_GB2312" pitchFamily="49" charset="-122"/>
              </a:rPr>
              <a:t>），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对第</a:t>
            </a:r>
            <a:r>
              <a:rPr kumimoji="0" lang="en-US" altLang="zh-CN" i="1" dirty="0" err="1">
                <a:solidFill>
                  <a:srgbClr val="1E2E53"/>
                </a:solidFill>
                <a:ea typeface="楷体_GB2312" pitchFamily="49" charset="-122"/>
              </a:rPr>
              <a:t>i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张牌（</a:t>
            </a:r>
            <a:r>
              <a:rPr kumimoji="0" lang="en-US" altLang="zh-CN" i="1" dirty="0" err="1">
                <a:solidFill>
                  <a:srgbClr val="1E2E53"/>
                </a:solidFill>
                <a:ea typeface="楷体_GB2312" pitchFamily="49" charset="-122"/>
              </a:rPr>
              <a:t>i</a:t>
            </a:r>
            <a:r>
              <a:rPr kumimoji="0" lang="en-US" altLang="zh-CN" i="1" dirty="0">
                <a:solidFill>
                  <a:srgbClr val="1E2E53"/>
                </a:solidFill>
                <a:ea typeface="楷体_GB2312" pitchFamily="49" charset="-122"/>
              </a:rPr>
              <a:t>=1,…,n/k </a:t>
            </a:r>
            <a:r>
              <a:rPr kumimoji="0" lang="zh-CN" altLang="en-US" i="1" dirty="0">
                <a:solidFill>
                  <a:srgbClr val="1E2E53"/>
                </a:solidFill>
                <a:ea typeface="楷体_GB2312" pitchFamily="49" charset="-122"/>
              </a:rPr>
              <a:t>）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随机地产生一个小于</a:t>
            </a:r>
            <a:r>
              <a:rPr kumimoji="0" lang="en-US" altLang="zh-CN" i="1" dirty="0">
                <a:solidFill>
                  <a:srgbClr val="1E2E53"/>
                </a:solidFill>
                <a:ea typeface="楷体_GB2312" pitchFamily="49" charset="-122"/>
              </a:rPr>
              <a:t>n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的正整数</a:t>
            </a:r>
            <a:r>
              <a:rPr kumimoji="0" lang="en-US" altLang="zh-CN" i="1" dirty="0">
                <a:solidFill>
                  <a:srgbClr val="1E2E53"/>
                </a:solidFill>
                <a:ea typeface="楷体_GB2312" pitchFamily="49" charset="-122"/>
              </a:rPr>
              <a:t>d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，互换第</a:t>
            </a:r>
            <a:r>
              <a:rPr kumimoji="0" lang="en-US" altLang="zh-CN" i="1" dirty="0" err="1">
                <a:solidFill>
                  <a:srgbClr val="1E2E53"/>
                </a:solidFill>
                <a:ea typeface="楷体_GB2312" pitchFamily="49" charset="-122"/>
              </a:rPr>
              <a:t>i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张牌和第</a:t>
            </a:r>
            <a:r>
              <a:rPr kumimoji="0" lang="en-US" altLang="zh-CN" i="1" dirty="0">
                <a:solidFill>
                  <a:srgbClr val="1E2E53"/>
                </a:solidFill>
                <a:ea typeface="楷体_GB2312" pitchFamily="49" charset="-122"/>
              </a:rPr>
              <a:t>d</a:t>
            </a:r>
            <a:r>
              <a:rPr kumimoji="0" lang="zh-CN" altLang="en-US" dirty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张牌的位置。</a:t>
            </a:r>
            <a:endParaRPr kumimoji="0" lang="zh-CN" altLang="en-US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539750" y="1628775"/>
            <a:ext cx="838835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1. void shuffle(Type A[],</a:t>
            </a:r>
            <a:r>
              <a:rPr lang="en-US" altLang="zh-CN" sz="22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 n)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2. {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3.     </a:t>
            </a:r>
            <a:r>
              <a:rPr lang="en-US" altLang="zh-CN" sz="22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2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i,k,m,d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;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4.     </a:t>
            </a:r>
            <a:r>
              <a:rPr lang="en-US" altLang="zh-CN" sz="22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random_seed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(0);        /*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初始化随机数的种子</a:t>
            </a:r>
            <a:r>
              <a:rPr lang="zh-CN" altLang="en-US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/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5.     for (k=1;k&lt;=</a:t>
            </a:r>
            <a:r>
              <a:rPr lang="en-US" altLang="zh-CN" sz="22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n;k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++) {          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6.         </a:t>
            </a:r>
            <a:r>
              <a:rPr lang="en-US" altLang="zh-CN" sz="22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m = n / k 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;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7.         for (</a:t>
            </a:r>
            <a:r>
              <a:rPr lang="en-US" altLang="zh-CN" sz="22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=1;i&lt;=</a:t>
            </a:r>
            <a:r>
              <a:rPr lang="en-US" altLang="zh-CN" sz="22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m</a:t>
            </a:r>
            <a:r>
              <a:rPr lang="en-US" altLang="zh-CN" sz="22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;i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++) {      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8.             d = random()%n;    /*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生成一个小于</a:t>
            </a:r>
            <a:r>
              <a:rPr lang="en-US" altLang="zh-CN" sz="2200" dirty="0">
                <a:solidFill>
                  <a:schemeClr val="bg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的随机数</a:t>
            </a:r>
            <a:r>
              <a:rPr lang="zh-CN" altLang="en-US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/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9.             swap(A[</a:t>
            </a:r>
            <a:r>
              <a:rPr lang="en-US" altLang="zh-CN" sz="22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],A[d]);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10.         }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11.     }</a:t>
            </a:r>
            <a:endParaRPr lang="en-US" altLang="zh-CN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12. }</a:t>
            </a:r>
            <a:endParaRPr lang="zh-CN" altLang="en-US" sz="22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91865" y="4941570"/>
          <a:ext cx="2807335" cy="963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1257300" imgH="431800" progId="Equation.KSEE3">
                  <p:embed/>
                </p:oleObj>
              </mc:Choice>
              <mc:Fallback>
                <p:oleObj name="" r:id="rId1" imgW="1257300" imgH="431800" progId="Equation.KSEE3">
                  <p:embed/>
                  <p:pic>
                    <p:nvPicPr>
                      <p:cNvPr id="0" name="20 4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91865" y="4941570"/>
                        <a:ext cx="2807335" cy="963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1628800"/>
            <a:ext cx="7697747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</a:rPr>
              <a:t>：二分检索算法（假设</a:t>
            </a:r>
            <a:r>
              <a:rPr lang="en-US" altLang="zh-CN" i="1" dirty="0" smtClean="0">
                <a:solidFill>
                  <a:schemeClr val="bg2"/>
                </a:solidFill>
              </a:rPr>
              <a:t>n</a:t>
            </a:r>
            <a:r>
              <a:rPr lang="en-US" altLang="zh-CN" dirty="0" smtClean="0">
                <a:solidFill>
                  <a:schemeClr val="bg2"/>
                </a:solidFill>
              </a:rPr>
              <a:t>=2</a:t>
            </a:r>
            <a:r>
              <a:rPr lang="en-US" altLang="zh-CN" i="1" baseline="30000" dirty="0" smtClean="0">
                <a:solidFill>
                  <a:schemeClr val="bg2"/>
                </a:solidFill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</a:rPr>
              <a:t>-1)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11560" y="2164331"/>
            <a:ext cx="4834721" cy="3306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算法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BinarySearch (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T, l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x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b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输入：数组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</a:t>
            </a: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， 下标从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l </a:t>
            </a: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到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</a:t>
            </a: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；数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x</a:t>
            </a:r>
            <a:b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输出：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j</a:t>
            </a:r>
            <a:b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1.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l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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1;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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n</a:t>
            </a:r>
            <a:b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2. while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l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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do</a:t>
            </a:r>
            <a:b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3.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m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 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l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+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)/2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</a:t>
            </a:r>
            <a:b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4. if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[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m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]=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x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then return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m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//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x</a:t>
            </a: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中位元素</a:t>
            </a:r>
            <a:b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5. else if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[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m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] &gt;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x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then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 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m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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</a:t>
            </a:r>
            <a:endParaRPr kumimoji="0" lang="zh-CN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宋体" panose="02010600030101010101" pitchFamily="2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508103" y="1951321"/>
            <a:ext cx="3456385" cy="319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77800" lvl="1" indent="-177800" algn="just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0" lang="zh-CN" altLang="en-US" dirty="0" smtClean="0">
                <a:solidFill>
                  <a:srgbClr val="1E2E53"/>
                </a:solidFill>
                <a:latin typeface="楷体_GB2312" pitchFamily="49" charset="-122"/>
                <a:ea typeface="楷体_GB2312" pitchFamily="49" charset="-122"/>
              </a:rPr>
              <a:t>实例个数：</a:t>
            </a:r>
            <a:r>
              <a:rPr kumimoji="0" lang="en-US" altLang="zh-CN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i="1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+1</a:t>
            </a:r>
            <a:endParaRPr kumimoji="0" lang="en-US" altLang="zh-CN" dirty="0" smtClean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177800" lvl="1" indent="-177800" algn="just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0" lang="zh-CN" altLang="en-US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查找概率：</a:t>
            </a:r>
            <a:r>
              <a:rPr kumimoji="0" lang="en-US" altLang="zh-CN" i="1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kumimoji="0" lang="en-US" altLang="zh-CN" i="1" baseline="-25000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=1/(</a:t>
            </a:r>
            <a:r>
              <a:rPr lang="en-US" altLang="zh-CN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+1)</a:t>
            </a:r>
            <a:endParaRPr lang="en-US" altLang="zh-CN" dirty="0" smtClean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177800" lvl="1" indent="-177800" algn="just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查找</a:t>
            </a:r>
            <a:r>
              <a:rPr lang="zh-CN" altLang="en-US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成功比较次数</a:t>
            </a:r>
            <a:endParaRPr lang="en-US" altLang="zh-CN" dirty="0" smtClean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177800" lvl="1" indent="-177800" algn="just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dirty="0" smtClean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177800" lvl="1" indent="-177800" algn="just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177800" lvl="1" indent="-177800" algn="just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1E2E53"/>
                </a:solidFill>
                <a:ea typeface="楷体_GB2312" pitchFamily="49" charset="-122"/>
                <a:cs typeface="Times New Roman" panose="02020603050405020304" pitchFamily="18" charset="0"/>
              </a:rPr>
              <a:t>查找不成功比较次数：</a:t>
            </a:r>
            <a:endParaRPr lang="en-US" altLang="zh-CN" dirty="0" smtClean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177800" lvl="1" indent="-177800" algn="just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1E2E53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215063" y="4652963"/>
          <a:ext cx="10350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0" name="Equation" r:id="rId1" imgW="10668000" imgH="4572000" progId="Equation.DSMT4">
                  <p:embed/>
                </p:oleObj>
              </mc:Choice>
              <mc:Fallback>
                <p:oleObj name="Equation" r:id="rId1" imgW="10668000" imgH="4572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4652963"/>
                        <a:ext cx="1035050" cy="5016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72225" y="3357245"/>
          <a:ext cx="946150" cy="846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r:id="rId3" imgW="482600" imgH="431800" progId="Equation.KSEE3">
                  <p:embed/>
                </p:oleObj>
              </mc:Choice>
              <mc:Fallback>
                <p:oleObj name="" r:id="rId3" imgW="482600" imgH="431800" progId="Equation.KSEE3">
                  <p:embed/>
                  <p:pic>
                    <p:nvPicPr>
                      <p:cNvPr id="0" name="20 5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72225" y="3357245"/>
                        <a:ext cx="946150" cy="846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46300" y="5470525"/>
          <a:ext cx="485203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1993900" imgH="431800" progId="Equation.KSEE3">
                  <p:embed/>
                </p:oleObj>
              </mc:Choice>
              <mc:Fallback>
                <p:oleObj name="" r:id="rId5" imgW="1993900" imgH="431800" progId="Equation.KSEE3">
                  <p:embed/>
                  <p:pic>
                    <p:nvPicPr>
                      <p:cNvPr id="0" name="20 51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6300" y="5470525"/>
                        <a:ext cx="4852035" cy="105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1628800"/>
            <a:ext cx="7697747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求和的方法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）等差、等比数列和调合级数求和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8" t="34803" r="36186" b="14663"/>
          <a:stretch>
            <a:fillRect/>
          </a:stretch>
        </p:blipFill>
        <p:spPr bwMode="auto">
          <a:xfrm>
            <a:off x="1403648" y="2780928"/>
            <a:ext cx="5400600" cy="3026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03948" y="512757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调合级数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27584" y="4221088"/>
            <a:ext cx="7992888" cy="18651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优点：简单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缺点：放大后求得的和可能与原数列的和差距过大。但如果放大后所求得的和函数的阶与原公式的阶保持不变，这种放大还是有意义的。</a:t>
            </a:r>
            <a:endParaRPr lang="en-US" altLang="zh-CN" dirty="0" smtClean="0">
              <a:solidFill>
                <a:schemeClr val="bg2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424936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）某些求和公式，求不出精确的值，可以</a:t>
            </a:r>
            <a:r>
              <a:rPr lang="zh-CN" altLang="en-US" dirty="0" smtClean="0">
                <a:solidFill>
                  <a:srgbClr val="FF0000"/>
                </a:solidFill>
              </a:rPr>
              <a:t>估计和的上界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535305" lvl="1" indent="-26225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具体方法：使用放大法，使数列中的某些项放大，使数列变成一个类似于等比或等差数列的形式，然后再求和。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 marL="535305" lvl="1" indent="-26225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放大方法</a:t>
            </a:r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：用序列中的最大项替代每一项</a:t>
            </a:r>
            <a:endParaRPr lang="en-US" altLang="zh-CN" dirty="0" smtClean="0">
              <a:solidFill>
                <a:schemeClr val="bg2"/>
              </a:solidFill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15920" y="3374390"/>
          <a:ext cx="2716530" cy="923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r:id="rId1" imgW="1270000" imgH="431800" progId="Equation.KSEE3">
                  <p:embed/>
                </p:oleObj>
              </mc:Choice>
              <mc:Fallback>
                <p:oleObj name="" r:id="rId1" imgW="1270000" imgH="431800" progId="Equation.KSEE3">
                  <p:embed/>
                  <p:pic>
                    <p:nvPicPr>
                      <p:cNvPr id="0" name="20 5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5920" y="3374390"/>
                        <a:ext cx="2716530" cy="923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4249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5305" lvl="1" indent="-26225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方大方法</a:t>
            </a:r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：等比级数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568" y="2319263"/>
            <a:ext cx="7848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假设存在常数 </a:t>
            </a:r>
            <a:r>
              <a:rPr lang="en-US" altLang="zh-CN" b="1" i="1" dirty="0">
                <a:solidFill>
                  <a:schemeClr val="bg2"/>
                </a:solidFill>
              </a:rPr>
              <a:t>r </a:t>
            </a:r>
            <a:r>
              <a:rPr lang="en-US" altLang="zh-CN" b="1" dirty="0">
                <a:solidFill>
                  <a:schemeClr val="bg2"/>
                </a:solidFill>
              </a:rPr>
              <a:t>&lt;1</a:t>
            </a:r>
            <a:r>
              <a:rPr lang="zh-CN" altLang="en-US" dirty="0">
                <a:solidFill>
                  <a:schemeClr val="bg2"/>
                </a:solidFill>
              </a:rPr>
              <a:t>，使得 对</a:t>
            </a:r>
            <a:r>
              <a:rPr lang="zh-CN" altLang="en-US" dirty="0" smtClean="0">
                <a:solidFill>
                  <a:schemeClr val="bg2"/>
                </a:solidFill>
              </a:rPr>
              <a:t>一切</a:t>
            </a:r>
            <a:r>
              <a:rPr lang="en-US" altLang="zh-CN" b="1" i="1" dirty="0" smtClean="0">
                <a:solidFill>
                  <a:schemeClr val="bg2"/>
                </a:solidFill>
              </a:rPr>
              <a:t>k</a:t>
            </a:r>
            <a:r>
              <a:rPr lang="en-US" altLang="zh-CN" b="1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≥</a:t>
            </a:r>
            <a:r>
              <a:rPr lang="en-US" altLang="zh-CN" dirty="0" smtClean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0</a:t>
            </a:r>
            <a:r>
              <a:rPr lang="zh-CN" altLang="en-US" dirty="0">
                <a:solidFill>
                  <a:schemeClr val="bg2"/>
                </a:solidFill>
              </a:rPr>
              <a:t>有 </a:t>
            </a:r>
            <a:r>
              <a:rPr lang="en-US" altLang="zh-CN" b="1" i="1" dirty="0" smtClean="0">
                <a:solidFill>
                  <a:schemeClr val="bg2"/>
                </a:solidFill>
              </a:rPr>
              <a:t>a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k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+1</a:t>
            </a:r>
            <a:r>
              <a:rPr lang="en-US" altLang="zh-CN" b="1" dirty="0" smtClean="0">
                <a:solidFill>
                  <a:schemeClr val="bg2"/>
                </a:solidFill>
              </a:rPr>
              <a:t>/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a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k</a:t>
            </a:r>
            <a:r>
              <a:rPr lang="en-US" altLang="zh-CN" b="1" dirty="0" err="1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≤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r</a:t>
            </a:r>
            <a:r>
              <a:rPr lang="en-US" altLang="zh-CN" b="1" i="1" dirty="0" smtClean="0">
                <a:solidFill>
                  <a:schemeClr val="bg2"/>
                </a:solidFill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</a:rPr>
              <a:t>成立。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412013" y="5084931"/>
          <a:ext cx="3476625" cy="457200"/>
        </p:xfrm>
        <a:graphic>
          <a:graphicData uri="http://schemas.openxmlformats.org/drawingml/2006/table">
            <a:tbl>
              <a:tblPr/>
              <a:tblGrid>
                <a:gridCol w="3476625"/>
              </a:tblGrid>
              <a:tr h="415280">
                <a:tc>
                  <a:txBody>
                    <a:bodyPr/>
                    <a:lstStyle/>
                    <a:p>
                      <a:r>
                        <a:rPr lang="pt-BR" sz="2400" b="1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a</a:t>
                      </a:r>
                      <a:r>
                        <a:rPr lang="pt-BR" sz="1600" b="1" i="0" baseline="-250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1</a:t>
                      </a:r>
                      <a:r>
                        <a:rPr lang="pt-BR" sz="16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 </a:t>
                      </a:r>
                      <a:r>
                        <a:rPr lang="pt-BR" sz="2400" b="0" i="0" dirty="0">
                          <a:solidFill>
                            <a:srgbClr val="0070C0"/>
                          </a:solidFill>
                          <a:effectLst/>
                          <a:latin typeface="Symbol" panose="05050102010706020507"/>
                        </a:rPr>
                        <a:t> </a:t>
                      </a:r>
                      <a:r>
                        <a:rPr lang="pt-BR" sz="2400" b="1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a</a:t>
                      </a:r>
                      <a:r>
                        <a:rPr lang="pt-BR" sz="1600" b="1" i="0" kern="1200" baseline="-250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+mn-ea"/>
                          <a:cs typeface="+mn-cs"/>
                        </a:rPr>
                        <a:t>0</a:t>
                      </a:r>
                      <a:r>
                        <a:rPr lang="pt-BR" sz="2400" b="1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r </a:t>
                      </a:r>
                      <a:r>
                        <a:rPr lang="pt-BR" sz="24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, </a:t>
                      </a:r>
                      <a:r>
                        <a:rPr lang="pt-BR" sz="2400" b="1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a</a:t>
                      </a:r>
                      <a:r>
                        <a:rPr lang="pt-BR" sz="1600" b="1" i="0" kern="1200" baseline="-250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+mn-ea"/>
                          <a:cs typeface="+mn-cs"/>
                        </a:rPr>
                        <a:t>2</a:t>
                      </a:r>
                      <a:r>
                        <a:rPr lang="pt-BR" sz="16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 </a:t>
                      </a:r>
                      <a:r>
                        <a:rPr lang="pt-BR" sz="2400" b="0" i="0" dirty="0">
                          <a:solidFill>
                            <a:srgbClr val="0070C0"/>
                          </a:solidFill>
                          <a:effectLst/>
                          <a:latin typeface="Symbol" panose="05050102010706020507"/>
                        </a:rPr>
                        <a:t> </a:t>
                      </a:r>
                      <a:r>
                        <a:rPr lang="pt-BR" sz="2400" b="1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a</a:t>
                      </a:r>
                      <a:r>
                        <a:rPr lang="pt-BR" sz="1600" b="1" i="0" kern="1200" baseline="-250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+mn-ea"/>
                          <a:cs typeface="+mn-cs"/>
                        </a:rPr>
                        <a:t>1</a:t>
                      </a:r>
                      <a:r>
                        <a:rPr lang="pt-BR" sz="2400" b="1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r </a:t>
                      </a:r>
                      <a:r>
                        <a:rPr lang="pt-BR" sz="2400" b="0" i="0" dirty="0">
                          <a:solidFill>
                            <a:srgbClr val="0070C0"/>
                          </a:solidFill>
                          <a:effectLst/>
                          <a:latin typeface="Symbol" panose="05050102010706020507"/>
                        </a:rPr>
                        <a:t> </a:t>
                      </a:r>
                      <a:r>
                        <a:rPr lang="pt-BR" sz="2400" b="1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a</a:t>
                      </a:r>
                      <a:r>
                        <a:rPr lang="pt-BR" sz="1600" b="1" i="0" kern="1200" baseline="-250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+mn-ea"/>
                          <a:cs typeface="+mn-cs"/>
                        </a:rPr>
                        <a:t>0</a:t>
                      </a:r>
                      <a:r>
                        <a:rPr lang="pt-BR" sz="2400" b="1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r</a:t>
                      </a:r>
                      <a:r>
                        <a:rPr lang="pt-BR" sz="1600" b="1" i="0" kern="1200" baseline="300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+mn-ea"/>
                          <a:cs typeface="+mn-cs"/>
                        </a:rPr>
                        <a:t>2</a:t>
                      </a:r>
                      <a:r>
                        <a:rPr lang="pt-BR" sz="24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</a:rPr>
                        <a:t>, ...</a:t>
                      </a:r>
                      <a:endParaRPr lang="pt-BR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833688" y="3733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88085" y="3373120"/>
          <a:ext cx="6356350" cy="1119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r:id="rId1" imgW="2451100" imgH="431800" progId="Equation.KSEE3">
                  <p:embed/>
                </p:oleObj>
              </mc:Choice>
              <mc:Fallback>
                <p:oleObj name="" r:id="rId1" imgW="2451100" imgH="431800" progId="Equation.KSEE3">
                  <p:embed/>
                  <p:pic>
                    <p:nvPicPr>
                      <p:cNvPr id="0" name="20 5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8085" y="3373120"/>
                        <a:ext cx="6356350" cy="1119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/>
          <p:cNvSpPr txBox="1">
            <a:spLocks noChangeArrowheads="1"/>
          </p:cNvSpPr>
          <p:nvPr/>
        </p:nvSpPr>
        <p:spPr>
          <a:xfrm>
            <a:off x="323528" y="1916856"/>
            <a:ext cx="8229600" cy="28082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>
                <a:solidFill>
                  <a:schemeClr val="bg2"/>
                </a:solidFill>
              </a:rPr>
              <a:t>例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7 </a:t>
            </a:r>
            <a:r>
              <a:rPr lang="en-US" altLang="zh-CN" sz="2400" dirty="0" smtClean="0">
                <a:solidFill>
                  <a:schemeClr val="bg2"/>
                </a:solidFill>
              </a:rPr>
              <a:t> </a:t>
            </a:r>
            <a:r>
              <a:rPr lang="zh-CN" altLang="en-US" sz="2400" dirty="0" smtClean="0">
                <a:solidFill>
                  <a:schemeClr val="bg2"/>
                </a:solidFill>
              </a:rPr>
              <a:t>估计</a:t>
            </a:r>
            <a:r>
              <a:rPr lang="en-US" altLang="zh-CN" sz="2400" dirty="0" smtClean="0">
                <a:solidFill>
                  <a:schemeClr val="bg2"/>
                </a:solidFill>
              </a:rPr>
              <a:t>             </a:t>
            </a:r>
            <a:r>
              <a:rPr lang="zh-CN" altLang="en-US" sz="2400" dirty="0" smtClean="0">
                <a:solidFill>
                  <a:schemeClr val="bg2"/>
                </a:solidFill>
              </a:rPr>
              <a:t>的上界</a:t>
            </a:r>
            <a:r>
              <a:rPr lang="en-US" altLang="zh-CN" sz="2400" dirty="0" smtClean="0">
                <a:solidFill>
                  <a:schemeClr val="bg2"/>
                </a:solidFill>
              </a:rPr>
              <a:t>. </a:t>
            </a:r>
            <a:endParaRPr lang="zh-CN" altLang="en-US" sz="2400" dirty="0" smtClean="0">
              <a:solidFill>
                <a:schemeClr val="bg2"/>
              </a:solidFill>
            </a:endParaRPr>
          </a:p>
          <a:p>
            <a:pPr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sz="2400" dirty="0" smtClean="0">
                <a:solidFill>
                  <a:schemeClr val="bg2"/>
                </a:solidFill>
              </a:rPr>
              <a:t>解：  </a:t>
            </a:r>
            <a:endParaRPr lang="en-US" altLang="zh-CN" sz="2400" dirty="0" smtClean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400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得</a:t>
            </a:r>
            <a:endParaRPr lang="zh-CN" altLang="zh-CN" sz="1800" dirty="0" smtClean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sz="2400" dirty="0" smtClean="0">
              <a:solidFill>
                <a:schemeClr val="bg2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36083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</a:endParaRPr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/>
        </p:nvGraphicFramePr>
        <p:xfrm>
          <a:off x="1763688" y="1702271"/>
          <a:ext cx="7905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8" name="" r:id="rId1" imgW="406400" imgH="431800" progId="Equation.3">
                  <p:embed/>
                </p:oleObj>
              </mc:Choice>
              <mc:Fallback>
                <p:oleObj name="" r:id="rId1" imgW="406400" imgH="431800" progId="Equation.3">
                  <p:embed/>
                  <p:pic>
                    <p:nvPicPr>
                      <p:cNvPr id="0" name="20 195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702271"/>
                        <a:ext cx="79057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403350" y="2636912"/>
          <a:ext cx="33321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9" name="" r:id="rId3" imgW="1447165" imgH="406400" progId="Equation.3">
                  <p:embed/>
                </p:oleObj>
              </mc:Choice>
              <mc:Fallback>
                <p:oleObj name="" r:id="rId3" imgW="1447165" imgH="406400" progId="Equation.3">
                  <p:embed/>
                  <p:pic>
                    <p:nvPicPr>
                      <p:cNvPr id="0" name="20 195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636912"/>
                        <a:ext cx="33321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36083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</a:endParaRP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/>
        </p:nvGraphicFramePr>
        <p:xfrm>
          <a:off x="1692275" y="4942358"/>
          <a:ext cx="4037013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1" name="" r:id="rId5" imgW="2095500" imgH="596900" progId="Equation.3">
                  <p:embed/>
                </p:oleObj>
              </mc:Choice>
              <mc:Fallback>
                <p:oleObj name="" r:id="rId5" imgW="2095500" imgH="596900" progId="Equation.3">
                  <p:embed/>
                  <p:pic>
                    <p:nvPicPr>
                      <p:cNvPr id="0" name="20 195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942358"/>
                        <a:ext cx="4037013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87450" y="3687445"/>
          <a:ext cx="326517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r:id="rId7" imgW="1333500" imgH="431800" progId="Equation.KSEE3">
                  <p:embed/>
                </p:oleObj>
              </mc:Choice>
              <mc:Fallback>
                <p:oleObj name="" r:id="rId7" imgW="1333500" imgH="431800" progId="Equation.KSEE3">
                  <p:embed/>
                  <p:pic>
                    <p:nvPicPr>
                      <p:cNvPr id="0" name="20 614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450" y="3687445"/>
                        <a:ext cx="3265170" cy="1057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520" y="1556792"/>
            <a:ext cx="84249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5305" lvl="1" indent="-26225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方大方法</a:t>
            </a:r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</a:rPr>
              <a:t>：利用积分求出累加和的渐进的界</a:t>
            </a:r>
            <a:r>
              <a:rPr lang="en-US" altLang="zh-CN" dirty="0">
                <a:solidFill>
                  <a:schemeClr val="bg2"/>
                </a:solidFill>
              </a:rPr>
              <a:t>—</a:t>
            </a:r>
            <a:r>
              <a:rPr lang="zh-CN" altLang="en-US" dirty="0" smtClean="0">
                <a:solidFill>
                  <a:schemeClr val="bg2"/>
                </a:solidFill>
              </a:rPr>
              <a:t>调合级数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39749" y="2204219"/>
            <a:ext cx="8229600" cy="72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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>
                <a:solidFill>
                  <a:schemeClr val="bg2"/>
                </a:solidFill>
              </a:rPr>
              <a:t>估计         的渐近的界</a:t>
            </a:r>
            <a:r>
              <a:rPr lang="en-US" altLang="zh-CN" sz="2400" dirty="0" smtClean="0">
                <a:solidFill>
                  <a:schemeClr val="bg2"/>
                </a:solidFill>
              </a:rPr>
              <a:t>.</a:t>
            </a:r>
            <a:endParaRPr lang="zh-CN" altLang="en-US" sz="2400" dirty="0" smtClean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1258887" y="2060203"/>
          <a:ext cx="5762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5" name="" r:id="rId1" imgW="342900" imgH="431800" progId="Equation.3">
                  <p:embed/>
                </p:oleObj>
              </mc:Choice>
              <mc:Fallback>
                <p:oleObj name="" r:id="rId1" imgW="342900" imgH="431800" progId="Equation.3">
                  <p:embed/>
                  <p:pic>
                    <p:nvPicPr>
                      <p:cNvPr id="0" name="20 205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7" y="2060203"/>
                        <a:ext cx="57626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827087" y="2852936"/>
          <a:ext cx="185578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6" name="" r:id="rId3" imgW="927100" imgH="660400" progId="Equation.3">
                  <p:embed/>
                </p:oleObj>
              </mc:Choice>
              <mc:Fallback>
                <p:oleObj name="" r:id="rId3" imgW="927100" imgH="660400" progId="Equation.3">
                  <p:embed/>
                  <p:pic>
                    <p:nvPicPr>
                      <p:cNvPr id="0" name="20 205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7" y="2852936"/>
                        <a:ext cx="1855787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9" descr="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348880"/>
            <a:ext cx="418147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" descr="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437112"/>
            <a:ext cx="4249738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827584" y="4365104"/>
          <a:ext cx="1833562" cy="185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7" name="" r:id="rId7" imgW="1054100" imgH="1092200" progId="Equation.3">
                  <p:embed/>
                </p:oleObj>
              </mc:Choice>
              <mc:Fallback>
                <p:oleObj name="" r:id="rId7" imgW="1054100" imgH="1092200" progId="Equation.3">
                  <p:embed/>
                  <p:pic>
                    <p:nvPicPr>
                      <p:cNvPr id="0" name="20 205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365104"/>
                        <a:ext cx="1833562" cy="185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99183"/>
            <a:ext cx="52743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递归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</a:rPr>
              <a:t>算法时间复杂度分析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0676" y="1964050"/>
            <a:ext cx="7697747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递归算法的时间复杂度也通常以递归的形式表示</a:t>
            </a:r>
            <a:endParaRPr lang="en-US" altLang="zh-CN" dirty="0" smtClean="0">
              <a:solidFill>
                <a:schemeClr val="bg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56897" y="2420888"/>
            <a:ext cx="716530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：求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dirty="0" smtClean="0">
                <a:solidFill>
                  <a:schemeClr val="bg2"/>
                </a:solidFill>
              </a:rPr>
              <a:t>!</a:t>
            </a:r>
            <a:endParaRPr lang="zh-CN" altLang="en-US" b="1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259631" y="2852936"/>
            <a:ext cx="2081019" cy="293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 eaLnBrk="1" hangingPunct="1">
              <a:lnSpc>
                <a:spcPct val="120000"/>
              </a:lnSpc>
            </a:pP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算法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fac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kumimoji="0" lang="en-US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n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b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输入：</a:t>
            </a:r>
            <a:r>
              <a:rPr lang="zh-CN" altLang="en-US" sz="2200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整</a:t>
            </a: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lang="en-US" altLang="zh-CN" sz="22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b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输出： </a:t>
            </a:r>
            <a:r>
              <a:rPr lang="en-US" altLang="zh-CN" sz="2200" b="1" i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！</a:t>
            </a:r>
            <a:b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1. </a:t>
            </a:r>
            <a:r>
              <a:rPr kumimoji="0" lang="en-US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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1; </a:t>
            </a:r>
            <a:r>
              <a:rPr kumimoji="0" lang="en-US" altLang="zh-CN" sz="2200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 </a:t>
            </a:r>
            <a:r>
              <a:rPr kumimoji="0" lang="en-US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</a:t>
            </a:r>
            <a:b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2. while </a:t>
            </a:r>
            <a:r>
              <a:rPr kumimoji="0" lang="en-US" altLang="zh-CN" sz="2200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 </a:t>
            </a:r>
            <a:r>
              <a:rPr kumimoji="0" lang="en-US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n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do</a:t>
            </a:r>
            <a:b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3. 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    </a:t>
            </a:r>
            <a:r>
              <a:rPr kumimoji="0" lang="en-US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</a:t>
            </a:r>
            <a: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  <a:t> </a:t>
            </a:r>
            <a:r>
              <a:rPr lang="en-US" altLang="zh-CN" sz="2200" b="1" i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f*</a:t>
            </a:r>
            <a:r>
              <a:rPr lang="en-US" altLang="zh-CN" sz="2200" b="1" i="1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br>
              <a:rPr kumimoji="0" lang="zh-CN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cs typeface="宋体" panose="02010600030101010101" pitchFamily="2" charset="-122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4. return </a:t>
            </a:r>
            <a:r>
              <a:rPr kumimoji="0" lang="en-US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</a:t>
            </a:r>
            <a:endParaRPr kumimoji="0" lang="zh-CN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宋体" panose="02010600030101010101" pitchFamily="2" charset="-122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788024" y="2611213"/>
            <a:ext cx="3150870" cy="252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 eaLnBrk="1" hangingPunct="1">
              <a:lnSpc>
                <a:spcPct val="120000"/>
              </a:lnSpc>
            </a:pP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算法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fac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kumimoji="0" lang="en-US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n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b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输入：</a:t>
            </a:r>
            <a:r>
              <a:rPr lang="zh-CN" altLang="en-US" sz="2200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整</a:t>
            </a: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lang="en-US" altLang="zh-CN" sz="22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b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输出： </a:t>
            </a:r>
            <a:r>
              <a:rPr lang="en-US" altLang="zh-CN" sz="2200" b="1" i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2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！</a:t>
            </a:r>
            <a:br>
              <a:rPr kumimoji="0" lang="zh-CN" altLang="zh-CN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</a:b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1. 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if </a:t>
            </a:r>
            <a:r>
              <a:rPr lang="en-US" altLang="zh-CN" sz="22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=1</a:t>
            </a:r>
            <a:r>
              <a:rPr kumimoji="0" lang="en-US" altLang="zh-CN" sz="2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  </a:t>
            </a:r>
            <a:endParaRPr kumimoji="0" lang="en-US" altLang="zh-CN" sz="22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lvl="0" eaLnBrk="1" hangingPunct="1">
              <a:lnSpc>
                <a:spcPct val="120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2. </a:t>
            </a:r>
            <a:r>
              <a:rPr kumimoji="0" lang="en-US" altLang="zh-CN" sz="22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then return 1</a:t>
            </a:r>
            <a:endParaRPr kumimoji="0" lang="en-US" altLang="zh-CN" sz="2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lvl="0" eaLnBrk="1" hangingPunct="1">
              <a:lnSpc>
                <a:spcPct val="120000"/>
              </a:lnSpc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3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. 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else return(</a:t>
            </a:r>
            <a:r>
              <a:rPr lang="en-US" altLang="zh-CN" sz="22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*</a:t>
            </a:r>
            <a:r>
              <a:rPr kumimoji="0" lang="en-US" altLang="zh-CN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fac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-1))</a:t>
            </a:r>
            <a:endParaRPr kumimoji="0" lang="zh-CN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48555" y="543967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O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b="1" i="1" dirty="0" smtClean="0">
                <a:solidFill>
                  <a:srgbClr val="FF0000"/>
                </a:solidFill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99610" y="5261610"/>
          <a:ext cx="3357245" cy="83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1841500" imgH="457200" progId="Equation.KSEE3">
                  <p:embed/>
                </p:oleObj>
              </mc:Choice>
              <mc:Fallback>
                <p:oleObj name="" r:id="rId1" imgW="1841500" imgH="457200" progId="Equation.KSEE3">
                  <p:embed/>
                  <p:pic>
                    <p:nvPicPr>
                      <p:cNvPr id="0" name="20 7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99610" y="5261610"/>
                        <a:ext cx="3357245" cy="83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 animBg="1"/>
      <p:bldP spid="8" grpId="1" animBg="1"/>
      <p:bldP spid="9" grpId="0" bldLvl="0" animBg="1"/>
      <p:bldP spid="9" grpId="1" animBg="1"/>
      <p:bldP spid="10" grpId="0"/>
      <p:bldP spid="10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1560" y="1700808"/>
            <a:ext cx="716530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：</a:t>
            </a:r>
            <a:r>
              <a:rPr lang="en-US" altLang="zh-CN" dirty="0" err="1" smtClean="0">
                <a:solidFill>
                  <a:schemeClr val="bg2"/>
                </a:solidFill>
              </a:rPr>
              <a:t>Hanio</a:t>
            </a:r>
            <a:r>
              <a:rPr lang="zh-CN" altLang="en-US" dirty="0" smtClean="0">
                <a:solidFill>
                  <a:schemeClr val="bg2"/>
                </a:solidFill>
              </a:rPr>
              <a:t>问题</a:t>
            </a:r>
            <a:endParaRPr lang="zh-CN" altLang="en-US" b="1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13892" y="2244628"/>
            <a:ext cx="57606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算法 </a:t>
            </a:r>
            <a:r>
              <a:rPr lang="en-US" altLang="zh-CN" b="1" dirty="0">
                <a:solidFill>
                  <a:schemeClr val="bg2"/>
                </a:solidFill>
              </a:rPr>
              <a:t>Hanoi (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C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) //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zh-CN" altLang="en-US" dirty="0">
                <a:solidFill>
                  <a:schemeClr val="bg2"/>
                </a:solidFill>
              </a:rPr>
              <a:t>个盘子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zh-CN" altLang="en-US" dirty="0">
                <a:solidFill>
                  <a:schemeClr val="bg2"/>
                </a:solidFill>
              </a:rPr>
              <a:t>到</a:t>
            </a:r>
            <a:r>
              <a:rPr lang="en-US" altLang="zh-CN" b="1" i="1" dirty="0">
                <a:solidFill>
                  <a:schemeClr val="bg2"/>
                </a:solidFill>
              </a:rPr>
              <a:t>C</a:t>
            </a:r>
            <a:br>
              <a:rPr lang="en-US" altLang="zh-CN" b="1" i="1" dirty="0">
                <a:solidFill>
                  <a:schemeClr val="bg2"/>
                </a:solidFill>
              </a:rPr>
            </a:br>
            <a:r>
              <a:rPr lang="en-US" altLang="zh-CN" b="1" dirty="0">
                <a:solidFill>
                  <a:schemeClr val="bg2"/>
                </a:solidFill>
              </a:rPr>
              <a:t>1. if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=1 then move (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C</a:t>
            </a:r>
            <a:r>
              <a:rPr lang="en-US" altLang="zh-CN" b="1" dirty="0">
                <a:solidFill>
                  <a:schemeClr val="bg2"/>
                </a:solidFill>
              </a:rPr>
              <a:t>) // 1</a:t>
            </a:r>
            <a:r>
              <a:rPr lang="zh-CN" altLang="en-US" dirty="0">
                <a:solidFill>
                  <a:schemeClr val="bg2"/>
                </a:solidFill>
              </a:rPr>
              <a:t>个盘子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zh-CN" altLang="en-US" dirty="0">
                <a:solidFill>
                  <a:schemeClr val="bg2"/>
                </a:solidFill>
              </a:rPr>
              <a:t>到</a:t>
            </a:r>
            <a:r>
              <a:rPr lang="en-US" altLang="zh-CN" b="1" i="1" dirty="0">
                <a:solidFill>
                  <a:schemeClr val="bg2"/>
                </a:solidFill>
              </a:rPr>
              <a:t>C</a:t>
            </a:r>
            <a:br>
              <a:rPr lang="en-US" altLang="zh-CN" b="1" i="1" dirty="0">
                <a:solidFill>
                  <a:schemeClr val="bg2"/>
                </a:solidFill>
              </a:rPr>
            </a:br>
            <a:r>
              <a:rPr lang="en-US" altLang="zh-CN" b="1" dirty="0">
                <a:solidFill>
                  <a:schemeClr val="bg2"/>
                </a:solidFill>
              </a:rPr>
              <a:t>2. else Hanoi (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 smtClean="0">
                <a:solidFill>
                  <a:schemeClr val="bg2"/>
                </a:solidFill>
              </a:rPr>
              <a:t>n-</a:t>
            </a:r>
            <a:r>
              <a:rPr lang="en-US" altLang="zh-CN" b="1" dirty="0" smtClean="0">
                <a:solidFill>
                  <a:schemeClr val="bg2"/>
                </a:solidFill>
              </a:rPr>
              <a:t>1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br>
              <a:rPr lang="en-US" altLang="zh-CN" b="1" dirty="0">
                <a:solidFill>
                  <a:schemeClr val="bg2"/>
                </a:solidFill>
              </a:rPr>
            </a:br>
            <a:r>
              <a:rPr lang="en-US" altLang="zh-CN" b="1" dirty="0">
                <a:solidFill>
                  <a:schemeClr val="bg2"/>
                </a:solidFill>
              </a:rPr>
              <a:t>3. </a:t>
            </a:r>
            <a:r>
              <a:rPr lang="en-US" altLang="zh-CN" b="1" dirty="0" smtClean="0">
                <a:solidFill>
                  <a:schemeClr val="bg2"/>
                </a:solidFill>
              </a:rPr>
              <a:t>       move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C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br>
              <a:rPr lang="en-US" altLang="zh-CN" b="1" dirty="0">
                <a:solidFill>
                  <a:schemeClr val="bg2"/>
                </a:solidFill>
              </a:rPr>
            </a:br>
            <a:r>
              <a:rPr lang="en-US" altLang="zh-CN" b="1" dirty="0">
                <a:solidFill>
                  <a:schemeClr val="bg2"/>
                </a:solidFill>
              </a:rPr>
              <a:t>4. </a:t>
            </a:r>
            <a:r>
              <a:rPr lang="en-US" altLang="zh-CN" b="1" dirty="0" smtClean="0">
                <a:solidFill>
                  <a:schemeClr val="bg2"/>
                </a:solidFill>
              </a:rPr>
              <a:t>       Hanoi </a:t>
            </a:r>
            <a:r>
              <a:rPr lang="en-US" altLang="zh-CN" b="1" dirty="0">
                <a:solidFill>
                  <a:schemeClr val="bg2"/>
                </a:solidFill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C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 smtClean="0">
                <a:solidFill>
                  <a:schemeClr val="bg2"/>
                </a:solidFill>
              </a:rPr>
              <a:t>n-</a:t>
            </a:r>
            <a:r>
              <a:rPr lang="en-US" altLang="zh-CN" b="1" dirty="0" smtClean="0">
                <a:solidFill>
                  <a:schemeClr val="bg2"/>
                </a:solidFill>
              </a:rPr>
              <a:t>1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71775" y="4869180"/>
          <a:ext cx="37560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1917065" imgH="457200" progId="Equation.KSEE3">
                  <p:embed/>
                </p:oleObj>
              </mc:Choice>
              <mc:Fallback>
                <p:oleObj name="" r:id="rId1" imgW="1917065" imgH="457200" progId="Equation.KSEE3">
                  <p:embed/>
                  <p:pic>
                    <p:nvPicPr>
                      <p:cNvPr id="0" name="20 7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4869180"/>
                        <a:ext cx="3756025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1560" y="1700808"/>
            <a:ext cx="716530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</a:rPr>
              <a:t>：直接插入排序</a:t>
            </a:r>
            <a:endParaRPr lang="zh-CN" altLang="en-US" b="1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51520" y="2236339"/>
            <a:ext cx="4284663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278130"/>
            <a:r>
              <a:rPr lang="zh-CN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算法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InsertSort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A,n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endParaRPr lang="en-US" altLang="zh-CN" sz="2400" b="1" dirty="0" smtClean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indent="278130"/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for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 to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 </a:t>
            </a:r>
            <a:r>
              <a:rPr lang="en-US" altLang="zh-CN" sz="2400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do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2.    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]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3.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4.     while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&gt;0 and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&lt;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] do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5.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i+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1]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] 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6.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bg2"/>
                </a:solidFill>
                <a:ea typeface="黑体" panose="02010609060101010101" pitchFamily="49" charset="-122"/>
              </a:rPr>
              <a:t>1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7.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+1]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356100" y="1957705"/>
            <a:ext cx="4606290" cy="4892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square" anchor="ctr">
            <a:spAutoFit/>
          </a:bodyPr>
          <a:lstStyle/>
          <a:p>
            <a:pPr indent="278130"/>
            <a:r>
              <a:rPr lang="zh-CN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算法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InsertSort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A,n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endParaRPr lang="en-US" altLang="zh-CN" sz="2400" b="1" dirty="0" smtClean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1. if </a:t>
            </a:r>
            <a:r>
              <a:rPr lang="en-US" altLang="zh-CN" sz="2400" b="1" i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&gt;1</a:t>
            </a:r>
            <a:endParaRPr lang="en-US" altLang="zh-CN" sz="2400" b="1" dirty="0" smtClean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. 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then </a:t>
            </a:r>
            <a:r>
              <a:rPr lang="en-US" altLang="zh-CN" b="1" dirty="0" err="1" smtClean="0">
                <a:solidFill>
                  <a:schemeClr val="bg2"/>
                </a:solidFill>
                <a:ea typeface="黑体" panose="02010609060101010101" pitchFamily="49" charset="-122"/>
              </a:rPr>
              <a:t>InsertSort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ea typeface="黑体" panose="02010609060101010101" pitchFamily="49" charset="-122"/>
              </a:rPr>
              <a:t>A,n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</a:rPr>
              <a:t>-1) </a:t>
            </a:r>
            <a:endParaRPr lang="en-US" altLang="zh-CN" b="1" dirty="0" smtClean="0">
              <a:solidFill>
                <a:schemeClr val="bg2"/>
              </a:solidFill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3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. 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  </a:t>
            </a:r>
            <a:r>
              <a:rPr lang="en-US" altLang="zh-CN" b="1" i="1" dirty="0" err="1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CN" b="1" dirty="0" err="1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b="1" i="1" dirty="0" err="1" smtClean="0">
                <a:solidFill>
                  <a:schemeClr val="bg2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]</a:t>
            </a:r>
            <a:endParaRPr lang="en-US" altLang="zh-CN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/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3.    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 </a:t>
            </a:r>
            <a:r>
              <a:rPr lang="en-US" altLang="zh-CN" b="1" i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b="1" i="1" dirty="0" smtClean="0">
                <a:solidFill>
                  <a:schemeClr val="bg2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</a:rPr>
              <a:t>1</a:t>
            </a:r>
            <a:endParaRPr lang="zh-CN" altLang="en-US" b="1" dirty="0">
              <a:solidFill>
                <a:schemeClr val="bg2"/>
              </a:solidFill>
              <a:sym typeface="Symbol" panose="05050102010706020507" pitchFamily="18" charset="2"/>
            </a:endParaRPr>
          </a:p>
          <a:p>
            <a:pPr indent="278130"/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4.     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while </a:t>
            </a:r>
            <a:r>
              <a:rPr lang="en-US" altLang="zh-CN" b="1" i="1" dirty="0" err="1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&gt;0 and </a:t>
            </a:r>
            <a:r>
              <a:rPr lang="en-US" altLang="zh-CN" b="1" i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&lt;</a:t>
            </a:r>
            <a:r>
              <a:rPr lang="en-US" altLang="zh-CN" b="1" i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b="1" i="1" dirty="0" err="1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] do</a:t>
            </a:r>
            <a:endParaRPr lang="en-US" altLang="zh-CN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/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5.         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b="1" i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i+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]</a:t>
            </a:r>
            <a:r>
              <a:rPr lang="en-US" altLang="zh-CN" b="1" i="1" dirty="0">
                <a:solidFill>
                  <a:schemeClr val="bg2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b="1" i="1" dirty="0" err="1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] </a:t>
            </a:r>
            <a:endParaRPr lang="en-US" altLang="zh-CN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/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6.         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b="1" i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b="1" i="1" dirty="0">
                <a:solidFill>
                  <a:schemeClr val="bg2"/>
                </a:solidFill>
                <a:ea typeface="黑体" panose="02010609060101010101" pitchFamily="49" charset="-122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</a:rPr>
              <a:t>1</a:t>
            </a:r>
            <a:endParaRPr lang="en-US" altLang="zh-CN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/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7.     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b="1" i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b="1" dirty="0" smtClean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+1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]</a:t>
            </a:r>
            <a:r>
              <a:rPr lang="en-US" altLang="zh-CN" b="1" i="1" dirty="0">
                <a:solidFill>
                  <a:schemeClr val="bg2"/>
                </a:solidFill>
                <a:ea typeface="黑体" panose="02010609060101010101" pitchFamily="49" charset="-122"/>
              </a:rPr>
              <a:t>x</a:t>
            </a:r>
            <a:endParaRPr lang="en-US" altLang="zh-CN" b="1" i="1" dirty="0">
              <a:solidFill>
                <a:schemeClr val="bg2"/>
              </a:solidFill>
              <a:ea typeface="黑体" panose="02010609060101010101" pitchFamily="49" charset="-122"/>
            </a:endParaRPr>
          </a:p>
          <a:p>
            <a:pPr indent="278130"/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/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/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/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1945" y="5589270"/>
          <a:ext cx="3880485" cy="767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2311400" imgH="457200" progId="Equation.KSEE3">
                  <p:embed/>
                </p:oleObj>
              </mc:Choice>
              <mc:Fallback>
                <p:oleObj name="" r:id="rId1" imgW="2311400" imgH="457200" progId="Equation.KSEE3">
                  <p:embed/>
                  <p:pic>
                    <p:nvPicPr>
                      <p:cNvPr id="0" name="20 7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945" y="5589270"/>
                        <a:ext cx="3880485" cy="767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19905" y="5517515"/>
          <a:ext cx="4596765" cy="839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2501900" imgH="457200" progId="Equation.KSEE3">
                  <p:embed/>
                </p:oleObj>
              </mc:Choice>
              <mc:Fallback>
                <p:oleObj name="" r:id="rId3" imgW="2501900" imgH="457200" progId="Equation.KSEE3">
                  <p:embed/>
                  <p:pic>
                    <p:nvPicPr>
                      <p:cNvPr id="0" name="20 71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19905" y="5517515"/>
                        <a:ext cx="4596765" cy="839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 bldLvl="0" animBg="1"/>
      <p:bldP spid="9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1560" y="1700808"/>
            <a:ext cx="716530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举例</a:t>
            </a:r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</a:rPr>
              <a:t>：</a:t>
            </a:r>
            <a:r>
              <a:rPr lang="zh-CN" altLang="en-US" dirty="0">
                <a:solidFill>
                  <a:schemeClr val="bg2"/>
                </a:solidFill>
              </a:rPr>
              <a:t>二</a:t>
            </a:r>
            <a:r>
              <a:rPr lang="zh-CN" altLang="en-US" dirty="0" smtClean="0">
                <a:solidFill>
                  <a:schemeClr val="bg2"/>
                </a:solidFill>
              </a:rPr>
              <a:t>路归并排序</a:t>
            </a:r>
            <a:endParaRPr lang="zh-CN" altLang="en-US" b="1" dirty="0">
              <a:solidFill>
                <a:srgbClr val="1E2E5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323850" y="2492896"/>
            <a:ext cx="8280400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278130"/>
            <a:r>
              <a:rPr lang="zh-CN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算法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MergeSort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  //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归并排序数组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..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]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indent="278130" eaLnBrk="0" hangingPunct="0">
              <a:spcBef>
                <a:spcPts val="6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if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</a:t>
            </a:r>
            <a:r>
              <a:rPr lang="en-US" altLang="zh-CN" sz="2400" b="1" i="1" dirty="0">
                <a:solidFill>
                  <a:schemeClr val="bg2"/>
                </a:solidFill>
                <a:ea typeface="黑体" panose="02010609060101010101" pitchFamily="49" charset="-122"/>
              </a:rPr>
              <a:t>r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indent="278130" eaLnBrk="0" hangingPunct="0">
              <a:spcBef>
                <a:spcPts val="6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 then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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p+r</a:t>
            </a:r>
            <a:r>
              <a:rPr lang="en-US" altLang="zh-CN" sz="2400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)/2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indent="278130" eaLnBrk="0" hangingPunct="0">
              <a:spcBef>
                <a:spcPts val="6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3.         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MergeSort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A,p,q</a:t>
            </a:r>
            <a:r>
              <a:rPr lang="en-US" altLang="zh-CN" sz="2400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)   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>
              <a:spcBef>
                <a:spcPts val="6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4.         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MergeSort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A,q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+1,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chemeClr val="bg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chemeClr val="bg2"/>
              </a:solidFill>
              <a:latin typeface="Calibri" panose="020F0502020204030204" pitchFamily="34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>
              <a:spcBef>
                <a:spcPts val="6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5.         Merge(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A,p,q,r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3767" y="1262782"/>
            <a:ext cx="8748713" cy="52625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>
            <a:spAutoFit/>
          </a:bodyPr>
          <a:lstStyle/>
          <a:p>
            <a:pPr indent="278130"/>
            <a:r>
              <a:rPr lang="zh-CN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算法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1.6  Merge(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A,p,q,r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   //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将排序数组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p..q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]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+1,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]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合并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+1,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y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  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//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分别为两个子数组的元素数</a:t>
            </a: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2.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..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复制到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[1..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], 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+1..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复制到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[1..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3.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1,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4.  While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and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do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5.      if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]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]                 //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的首元素不大于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的首元素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6.      then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]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]                //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的首元素放到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 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7.       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+1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8.      else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9.      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]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]      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10.    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+1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11.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+1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12.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 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..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复制到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..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    //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已经是空数组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indent="278130" eaLnBrk="0" hangingPunct="0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13. else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..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复制到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..</a:t>
            </a:r>
            <a:r>
              <a:rPr lang="en-US" altLang="zh-CN" sz="2400" b="1" i="1" dirty="0" err="1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               //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已经是空数组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75603"/>
            <a:ext cx="8229600" cy="706437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1.3  </a:t>
            </a:r>
            <a:r>
              <a:rPr kumimoji="0" lang="zh-CN" altLang="en-US" sz="4000" kern="12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算法</a:t>
            </a:r>
            <a:r>
              <a:rPr kumimoji="0" lang="zh-CN" alt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的数学基础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84482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最好情况：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4235" y="350100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最坏情况：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03985" y="2348865"/>
          <a:ext cx="445325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2108200" imgH="457200" progId="Equation.KSEE3">
                  <p:embed/>
                </p:oleObj>
              </mc:Choice>
              <mc:Fallback>
                <p:oleObj name="" r:id="rId1" imgW="2108200" imgH="457200" progId="Equation.KSEE3">
                  <p:embed/>
                  <p:pic>
                    <p:nvPicPr>
                      <p:cNvPr id="0" name="20 7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03985" y="2348865"/>
                        <a:ext cx="445325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30655" y="4293235"/>
          <a:ext cx="4540250" cy="989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2095500" imgH="457200" progId="Equation.KSEE3">
                  <p:embed/>
                </p:oleObj>
              </mc:Choice>
              <mc:Fallback>
                <p:oleObj name="" r:id="rId3" imgW="2095500" imgH="457200" progId="Equation.KSEE3">
                  <p:embed/>
                  <p:pic>
                    <p:nvPicPr>
                      <p:cNvPr id="0" name="20 71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0655" y="4293235"/>
                        <a:ext cx="4540250" cy="989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7307</Words>
  <Application>WPS 演示</Application>
  <PresentationFormat>全屏显示(4:3)</PresentationFormat>
  <Paragraphs>465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25</vt:i4>
      </vt:variant>
      <vt:variant>
        <vt:lpstr>幻灯片标题</vt:lpstr>
      </vt:variant>
      <vt:variant>
        <vt:i4>41</vt:i4>
      </vt:variant>
    </vt:vector>
  </HeadingPairs>
  <TitlesOfParts>
    <vt:vector size="83" baseType="lpstr">
      <vt:lpstr>Arial</vt:lpstr>
      <vt:lpstr>宋体</vt:lpstr>
      <vt:lpstr>Wingdings</vt:lpstr>
      <vt:lpstr>Times New Roman</vt:lpstr>
      <vt:lpstr>黑体</vt:lpstr>
      <vt:lpstr>微软雅黑</vt:lpstr>
      <vt:lpstr>Consolas</vt:lpstr>
      <vt:lpstr>Symbol</vt:lpstr>
      <vt:lpstr>Symbol</vt:lpstr>
      <vt:lpstr>Arial Unicode MS</vt:lpstr>
      <vt:lpstr>Tahoma</vt:lpstr>
      <vt:lpstr>楷体_GB2312</vt:lpstr>
      <vt:lpstr>新宋体</vt:lpstr>
      <vt:lpstr>Times New Roman</vt:lpstr>
      <vt:lpstr>Calibri</vt:lpstr>
      <vt:lpstr>楷体</vt:lpstr>
      <vt:lpstr>个人主页 (标准)</vt:lpstr>
      <vt:lpstr>Equation.3</vt:lpstr>
      <vt:lpstr>Equation.KSEE3</vt:lpstr>
      <vt:lpstr>Equation.KSEE3</vt:lpstr>
      <vt:lpstr>Equation.KSEE3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Equation.DSMT4</vt:lpstr>
      <vt:lpstr>Equation.KSEE3</vt:lpstr>
      <vt:lpstr>Equation.KSEE3</vt:lpstr>
      <vt:lpstr>Equation.DSMT4</vt:lpstr>
      <vt:lpstr>Equation.KSEE3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  <vt:lpstr>1.3  算法的数学基础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994</cp:revision>
  <cp:lastPrinted>1995-12-08T18:33:00Z</cp:lastPrinted>
  <dcterms:created xsi:type="dcterms:W3CDTF">2000-10-31T09:27:00Z</dcterms:created>
  <dcterms:modified xsi:type="dcterms:W3CDTF">2022-03-08T13:23:38Z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3EAB809BA4B64FC584E946EA9D4F1749</vt:lpwstr>
  </property>
</Properties>
</file>