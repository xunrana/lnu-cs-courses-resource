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3"/>
  </p:notesMasterIdLst>
  <p:handoutMasterIdLst>
    <p:handoutMasterId r:id="rId34"/>
  </p:handoutMasterIdLst>
  <p:sldIdLst>
    <p:sldId id="324" r:id="rId3"/>
    <p:sldId id="258" r:id="rId4"/>
    <p:sldId id="362" r:id="rId5"/>
    <p:sldId id="430" r:id="rId6"/>
    <p:sldId id="363" r:id="rId7"/>
    <p:sldId id="364" r:id="rId8"/>
    <p:sldId id="366" r:id="rId9"/>
    <p:sldId id="389" r:id="rId10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90" r:id="rId21"/>
    <p:sldId id="377" r:id="rId22"/>
    <p:sldId id="391" r:id="rId23"/>
    <p:sldId id="378" r:id="rId24"/>
    <p:sldId id="379" r:id="rId25"/>
    <p:sldId id="380" r:id="rId26"/>
    <p:sldId id="381" r:id="rId27"/>
    <p:sldId id="382" r:id="rId28"/>
    <p:sldId id="392" r:id="rId29"/>
    <p:sldId id="393" r:id="rId30"/>
    <p:sldId id="394" r:id="rId31"/>
    <p:sldId id="383" r:id="rId32"/>
  </p:sldIdLst>
  <p:sldSz cx="9144000" cy="6858000" type="screen4x3"/>
  <p:notesSz cx="6934200" cy="9398000"/>
  <p:custDataLst>
    <p:tags r:id="rId35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99"/>
    <a:srgbClr val="CCCCFF"/>
    <a:srgbClr val="CC99FF"/>
    <a:srgbClr val="FFCCFF"/>
    <a:srgbClr val="CCECFF"/>
    <a:srgbClr val="DFC0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/>
    <p:restoredTop sz="94608"/>
  </p:normalViewPr>
  <p:slideViewPr>
    <p:cSldViewPr showGuides="1">
      <p:cViewPr varScale="1">
        <p:scale>
          <a:sx n="62" d="100"/>
          <a:sy n="62" d="100"/>
        </p:scale>
        <p:origin x="-1512" y="-84"/>
      </p:cViewPr>
      <p:guideLst>
        <p:guide orient="horz" pos="2129"/>
        <p:guide pos="28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95162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867558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7772400" cy="579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7772400" cy="579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/>
          </p:cNvSpPr>
          <p:nvPr>
            <p:ph type="ctrTitle" sz="quarter"/>
          </p:nvPr>
        </p:nvSpPr>
        <p:spPr>
          <a:xfrm>
            <a:off x="611188" y="1916113"/>
            <a:ext cx="7772400" cy="782637"/>
          </a:xfrm>
        </p:spPr>
        <p:txBody>
          <a:bodyPr vert="horz" wrap="square" lIns="92075" tIns="46038" rIns="92075" bIns="46038" anchor="b"/>
          <a:lstStyle/>
          <a:p>
            <a:pPr eaLnBrk="1" hangingPunct="1">
              <a:buClrTx/>
              <a:buSzTx/>
              <a:buFontTx/>
            </a:pPr>
            <a:r>
              <a:rPr kumimoji="1" lang="zh-CN" altLang="en-US" dirty="0">
                <a:solidFill>
                  <a:schemeClr val="bg1"/>
                </a:solidFill>
                <a:latin typeface="+mj-lt"/>
                <a:ea typeface="楷体_GB2312" pitchFamily="49" charset="-122"/>
                <a:cs typeface="+mj-cs"/>
              </a:rPr>
              <a:t>算法设计与分析</a:t>
            </a:r>
          </a:p>
        </p:txBody>
      </p:sp>
      <p:sp>
        <p:nvSpPr>
          <p:cNvPr id="3075" name="Rectangle 4"/>
          <p:cNvSpPr>
            <a:spLocks noGrp="1"/>
          </p:cNvSpPr>
          <p:nvPr>
            <p:ph type="subTitle" sz="quarter" idx="1"/>
          </p:nvPr>
        </p:nvSpPr>
        <p:spPr>
          <a:xfrm>
            <a:off x="1258888" y="3429000"/>
            <a:ext cx="6400800" cy="1655763"/>
          </a:xfrm>
        </p:spPr>
        <p:txBody>
          <a:bodyPr vert="horz" wrap="square" lIns="92075" tIns="46038" rIns="92075" bIns="46038" anchor="ctr"/>
          <a:lstStyle/>
          <a:p>
            <a:pPr eaLnBrk="1" hangingPunct="1">
              <a:lnSpc>
                <a:spcPct val="120000"/>
              </a:lnSpc>
              <a:buSzPct val="80000"/>
            </a:pPr>
            <a:r>
              <a:rPr kumimoji="1" lang="zh-CN" altLang="en-US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主讲教师：徐红艳</a:t>
            </a:r>
            <a:endParaRPr kumimoji="1" lang="en-US" altLang="zh-CN" dirty="0">
              <a:solidFill>
                <a:schemeClr val="bg2"/>
              </a:solidFill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120000"/>
              </a:lnSpc>
              <a:buSzPct val="80000"/>
            </a:pPr>
            <a:r>
              <a:rPr kumimoji="1" lang="zh-CN" altLang="en-US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20：</a:t>
            </a:r>
            <a:r>
              <a:rPr kumimoji="1" lang="en-US" altLang="zh-CN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13840597032</a:t>
            </a:r>
            <a:endParaRPr kumimoji="1" lang="zh-CN" altLang="en-US" dirty="0">
              <a:solidFill>
                <a:schemeClr val="bg2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2234565" y="2696845"/>
            <a:ext cx="4674870" cy="1905"/>
          </a:xfrm>
          <a:prstGeom prst="line">
            <a:avLst/>
          </a:prstGeom>
          <a:solidFill>
            <a:schemeClr val="accent1"/>
          </a:solidFill>
          <a:ln w="28575" cap="sq" cmpd="thickThin" algn="ctr">
            <a:solidFill>
              <a:schemeClr val="accent1">
                <a:shade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直接连接符 2"/>
          <p:cNvCxnSpPr/>
          <p:nvPr/>
        </p:nvCxnSpPr>
        <p:spPr>
          <a:xfrm>
            <a:off x="2361565" y="2752090"/>
            <a:ext cx="4674870" cy="1905"/>
          </a:xfrm>
          <a:prstGeom prst="line">
            <a:avLst/>
          </a:prstGeom>
          <a:solidFill>
            <a:schemeClr val="accent1"/>
          </a:solidFill>
          <a:ln w="28575" cap="sq" cmpd="thickThin" algn="ctr">
            <a:solidFill>
              <a:schemeClr val="accent1">
                <a:shade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/>
          <p:nvPr/>
        </p:nvSpPr>
        <p:spPr>
          <a:xfrm>
            <a:off x="314325" y="1547813"/>
            <a:ext cx="8424863" cy="4397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chemeClr val="bg1"/>
                </a:solidFill>
                <a:latin typeface="华文行楷" panose="02010800040101010101" pitchFamily="2" charset="-122"/>
                <a:ea typeface="楷体_GB2312" pitchFamily="49" charset="-122"/>
              </a:rPr>
              <a:t>计算机系统中的任何软件（系统软件、应用软件）都是按照特定的</a:t>
            </a:r>
            <a:r>
              <a:rPr lang="zh-CN" altLang="en-US" sz="2800" b="1" dirty="0">
                <a:solidFill>
                  <a:srgbClr val="FF0000"/>
                </a:solidFill>
                <a:latin typeface="华文行楷" panose="02010800040101010101" pitchFamily="2" charset="-122"/>
                <a:ea typeface="楷体_GB2312" pitchFamily="49" charset="-122"/>
              </a:rPr>
              <a:t>算法</a:t>
            </a:r>
            <a:r>
              <a:rPr lang="zh-CN" altLang="en-US" sz="2800" b="1" dirty="0">
                <a:solidFill>
                  <a:schemeClr val="bg1"/>
                </a:solidFill>
                <a:latin typeface="华文行楷" panose="02010800040101010101" pitchFamily="2" charset="-122"/>
                <a:ea typeface="楷体_GB2312" pitchFamily="49" charset="-122"/>
              </a:rPr>
              <a:t>来实现的。</a:t>
            </a:r>
            <a:endParaRPr lang="en-US" altLang="zh-CN" sz="2800" b="1" dirty="0">
              <a:solidFill>
                <a:schemeClr val="bg1"/>
              </a:solidFill>
              <a:latin typeface="华文行楷" panose="02010800040101010101" pitchFamily="2" charset="-122"/>
              <a:ea typeface="楷体_GB2312" pitchFamily="49" charset="-122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bg1"/>
                </a:solidFill>
                <a:latin typeface="华文行楷" panose="02010800040101010101" pitchFamily="2" charset="-122"/>
                <a:ea typeface="楷体_GB2312" pitchFamily="49" charset="-122"/>
              </a:rPr>
              <a:t>设计：求解问题的一系列步骤的设计，用来将输入数据转换成输出结果。</a:t>
            </a:r>
            <a:endParaRPr lang="en-US" altLang="zh-CN" sz="2800" b="1" dirty="0">
              <a:solidFill>
                <a:schemeClr val="bg1"/>
              </a:solidFill>
              <a:latin typeface="华文行楷" panose="02010800040101010101" pitchFamily="2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endParaRPr lang="en-US" altLang="zh-CN" sz="2800" b="1" dirty="0">
              <a:solidFill>
                <a:schemeClr val="bg1"/>
              </a:solidFill>
              <a:latin typeface="华文行楷" panose="02010800040101010101" pitchFamily="2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endParaRPr lang="zh-CN" altLang="en-US" b="1" dirty="0">
              <a:solidFill>
                <a:schemeClr val="bg1"/>
              </a:solidFill>
              <a:latin typeface="华文行楷" panose="02010800040101010101" pitchFamily="2" charset="-122"/>
              <a:ea typeface="楷体_GB2312" pitchFamily="49" charset="-122"/>
            </a:endParaRPr>
          </a:p>
          <a:p>
            <a:pPr marL="914400" lvl="1" indent="-457200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bg1"/>
                </a:solidFill>
                <a:latin typeface="华文行楷" panose="02010800040101010101" pitchFamily="2" charset="-122"/>
                <a:ea typeface="楷体_GB2312" pitchFamily="49" charset="-122"/>
              </a:rPr>
              <a:t>分析：算法</a:t>
            </a:r>
            <a:r>
              <a:rPr lang="zh-CN" altLang="en-US" sz="2800" b="1" dirty="0">
                <a:solidFill>
                  <a:srgbClr val="FF0000"/>
                </a:solidFill>
                <a:latin typeface="华文行楷" panose="02010800040101010101" pitchFamily="2" charset="-122"/>
                <a:ea typeface="楷体_GB2312" pitchFamily="49" charset="-122"/>
              </a:rPr>
              <a:t>性能</a:t>
            </a:r>
            <a:r>
              <a:rPr lang="zh-CN" altLang="en-US" sz="2800" b="1" dirty="0">
                <a:solidFill>
                  <a:schemeClr val="bg1"/>
                </a:solidFill>
                <a:latin typeface="华文行楷" panose="02010800040101010101" pitchFamily="2" charset="-122"/>
                <a:ea typeface="楷体_GB2312" pitchFamily="49" charset="-122"/>
              </a:rPr>
              <a:t>的好坏直接决定所实现软件的优劣。</a:t>
            </a:r>
          </a:p>
        </p:txBody>
      </p:sp>
      <p:sp>
        <p:nvSpPr>
          <p:cNvPr id="4099" name="Rectangle 5"/>
          <p:cNvSpPr>
            <a:spLocks noGrp="1"/>
          </p:cNvSpPr>
          <p:nvPr>
            <p:ph type="title"/>
          </p:nvPr>
        </p:nvSpPr>
        <p:spPr>
          <a:xfrm>
            <a:off x="323850" y="260350"/>
            <a:ext cx="7921625" cy="792163"/>
          </a:xfrm>
        </p:spPr>
        <p:txBody>
          <a:bodyPr vert="horz" wrap="square" lIns="92075" tIns="46038" rIns="92075" bIns="46038" anchor="b"/>
          <a:lstStyle/>
          <a:p>
            <a:pPr eaLnBrk="1" hangingPunct="1"/>
            <a:r>
              <a:rPr lang="zh-CN" altLang="en-US" dirty="0">
                <a:solidFill>
                  <a:srgbClr val="CC0099"/>
                </a:solidFill>
                <a:ea typeface="楷体_GB2312" pitchFamily="49" charset="-122"/>
              </a:rPr>
              <a:t>课程简介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3563739" y="3852331"/>
            <a:ext cx="1584325" cy="79216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rgbClr val="CC99FF"/>
            </a:solidFill>
            <a:miter lim="800000"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算法</a:t>
            </a:r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2605088" y="4141788"/>
            <a:ext cx="719138" cy="287338"/>
          </a:xfrm>
          <a:prstGeom prst="rightArrow">
            <a:avLst>
              <a:gd name="adj1" fmla="val 50000"/>
              <a:gd name="adj2" fmla="val 6256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02" name="Text Box 8"/>
          <p:cNvSpPr txBox="1"/>
          <p:nvPr/>
        </p:nvSpPr>
        <p:spPr>
          <a:xfrm>
            <a:off x="1730375" y="4013200"/>
            <a:ext cx="863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5138738" y="4141788"/>
            <a:ext cx="719138" cy="287338"/>
          </a:xfrm>
          <a:prstGeom prst="rightArrow">
            <a:avLst>
              <a:gd name="adj1" fmla="val 50000"/>
              <a:gd name="adj2" fmla="val 6256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04" name="Text Box 10"/>
          <p:cNvSpPr txBox="1"/>
          <p:nvPr/>
        </p:nvSpPr>
        <p:spPr>
          <a:xfrm>
            <a:off x="6088063" y="4087813"/>
            <a:ext cx="10001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4102" grpId="0"/>
      <p:bldP spid="7" grpId="0" animBg="1"/>
      <p:bldP spid="410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5"/>
          <p:cNvSpPr>
            <a:spLocks noGrp="1"/>
          </p:cNvSpPr>
          <p:nvPr>
            <p:ph type="title"/>
          </p:nvPr>
        </p:nvSpPr>
        <p:spPr>
          <a:xfrm>
            <a:off x="323850" y="260350"/>
            <a:ext cx="7921625" cy="792163"/>
          </a:xfrm>
        </p:spPr>
        <p:txBody>
          <a:bodyPr vert="horz" wrap="square" lIns="92075" tIns="46038" rIns="92075" bIns="46038" anchor="b"/>
          <a:lstStyle/>
          <a:p>
            <a:pPr eaLnBrk="1" hangingPunct="1"/>
            <a:r>
              <a:rPr lang="zh-CN" altLang="en-US" dirty="0">
                <a:solidFill>
                  <a:srgbClr val="CC0099"/>
                </a:solidFill>
                <a:ea typeface="楷体_GB2312" pitchFamily="49" charset="-122"/>
              </a:rPr>
              <a:t>课程简介</a:t>
            </a:r>
            <a:endParaRPr lang="zh-CN" altLang="en-US" dirty="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6013" y="5515610"/>
            <a:ext cx="4176713" cy="5032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数学基础、数据结构</a:t>
            </a:r>
          </a:p>
        </p:txBody>
      </p:sp>
      <p:sp>
        <p:nvSpPr>
          <p:cNvPr id="9" name="矩形 8"/>
          <p:cNvSpPr/>
          <p:nvPr/>
        </p:nvSpPr>
        <p:spPr>
          <a:xfrm>
            <a:off x="1116013" y="4652010"/>
            <a:ext cx="935038" cy="863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分治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策略</a:t>
            </a:r>
          </a:p>
        </p:txBody>
      </p:sp>
      <p:sp>
        <p:nvSpPr>
          <p:cNvPr id="10" name="矩形 9"/>
          <p:cNvSpPr/>
          <p:nvPr/>
        </p:nvSpPr>
        <p:spPr>
          <a:xfrm>
            <a:off x="2051050" y="4652010"/>
            <a:ext cx="865188" cy="863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动态规划</a:t>
            </a:r>
          </a:p>
        </p:txBody>
      </p:sp>
      <p:sp>
        <p:nvSpPr>
          <p:cNvPr id="11" name="矩形 10"/>
          <p:cNvSpPr/>
          <p:nvPr/>
        </p:nvSpPr>
        <p:spPr>
          <a:xfrm>
            <a:off x="2916238" y="4652010"/>
            <a:ext cx="863600" cy="863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贪心算法</a:t>
            </a:r>
          </a:p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79838" y="4652010"/>
            <a:ext cx="1512888" cy="863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回溯与</a:t>
            </a:r>
          </a:p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分支限界</a:t>
            </a:r>
          </a:p>
        </p:txBody>
      </p:sp>
      <p:sp>
        <p:nvSpPr>
          <p:cNvPr id="13" name="矩形 12"/>
          <p:cNvSpPr/>
          <p:nvPr/>
        </p:nvSpPr>
        <p:spPr>
          <a:xfrm>
            <a:off x="1116013" y="2851785"/>
            <a:ext cx="4176713" cy="6477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完全理论</a:t>
            </a:r>
          </a:p>
        </p:txBody>
      </p:sp>
      <p:sp>
        <p:nvSpPr>
          <p:cNvPr id="14" name="矩形 13"/>
          <p:cNvSpPr/>
          <p:nvPr/>
        </p:nvSpPr>
        <p:spPr>
          <a:xfrm>
            <a:off x="1116013" y="1915160"/>
            <a:ext cx="1152525" cy="936625"/>
          </a:xfrm>
          <a:prstGeom prst="rect">
            <a:avLst/>
          </a:prstGeom>
          <a:solidFill>
            <a:srgbClr val="7EC234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近似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算法</a:t>
            </a:r>
          </a:p>
        </p:txBody>
      </p:sp>
      <p:sp>
        <p:nvSpPr>
          <p:cNvPr id="15" name="矩形 14"/>
          <p:cNvSpPr/>
          <p:nvPr/>
        </p:nvSpPr>
        <p:spPr>
          <a:xfrm>
            <a:off x="2268538" y="1915160"/>
            <a:ext cx="1150938" cy="936625"/>
          </a:xfrm>
          <a:prstGeom prst="rect">
            <a:avLst/>
          </a:prstGeom>
          <a:solidFill>
            <a:srgbClr val="7EC234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随机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算法</a:t>
            </a:r>
          </a:p>
        </p:txBody>
      </p:sp>
      <p:sp>
        <p:nvSpPr>
          <p:cNvPr id="16" name="矩形 15"/>
          <p:cNvSpPr/>
          <p:nvPr/>
        </p:nvSpPr>
        <p:spPr>
          <a:xfrm>
            <a:off x="3419475" y="1915160"/>
            <a:ext cx="1873250" cy="936625"/>
          </a:xfrm>
          <a:prstGeom prst="rect">
            <a:avLst/>
          </a:prstGeom>
          <a:solidFill>
            <a:srgbClr val="7EC234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处理难解问题的策略</a:t>
            </a:r>
          </a:p>
        </p:txBody>
      </p:sp>
      <p:sp>
        <p:nvSpPr>
          <p:cNvPr id="17" name="矩形 16"/>
          <p:cNvSpPr/>
          <p:nvPr/>
        </p:nvSpPr>
        <p:spPr>
          <a:xfrm>
            <a:off x="1116013" y="3499485"/>
            <a:ext cx="4176713" cy="5762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算法分析与问题的计算复杂性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5963" y="4507548"/>
            <a:ext cx="204152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SzTx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算法设计技术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5963" y="5485448"/>
            <a:ext cx="2305050" cy="4619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buSzTx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基础知识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5963" y="3570923"/>
            <a:ext cx="204152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SzTx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算法分析方法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5963" y="2923223"/>
            <a:ext cx="2447925" cy="4619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buSzTx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计算复杂性理论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5963" y="2131060"/>
            <a:ext cx="2160587" cy="4619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buSzTx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问题处理策略</a:t>
            </a:r>
          </a:p>
        </p:txBody>
      </p:sp>
      <p:sp>
        <p:nvSpPr>
          <p:cNvPr id="24" name="矩形 23"/>
          <p:cNvSpPr/>
          <p:nvPr/>
        </p:nvSpPr>
        <p:spPr>
          <a:xfrm>
            <a:off x="1116013" y="4117023"/>
            <a:ext cx="2016125" cy="57626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线性规划</a:t>
            </a:r>
          </a:p>
        </p:txBody>
      </p:sp>
      <p:sp>
        <p:nvSpPr>
          <p:cNvPr id="25" name="矩形 24"/>
          <p:cNvSpPr/>
          <p:nvPr/>
        </p:nvSpPr>
        <p:spPr>
          <a:xfrm>
            <a:off x="3132138" y="4117023"/>
            <a:ext cx="2160588" cy="57626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网络流算法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/>
          <p:nvPr/>
        </p:nvSpPr>
        <p:spPr>
          <a:xfrm>
            <a:off x="314325" y="1628800"/>
            <a:ext cx="8424863" cy="35216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参考书目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en-US" altLang="zh-CN" b="1" dirty="0" smtClean="0">
                <a:solidFill>
                  <a:schemeClr val="bg1"/>
                </a:solidFill>
                <a:ea typeface="+mn-ea"/>
                <a:cs typeface="Times New Roman" panose="02020603050405020304" pitchFamily="18" charset="0"/>
              </a:rPr>
              <a:t>MOOC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资源</a:t>
            </a:r>
            <a:endParaRPr lang="en-US" altLang="zh-CN" b="1" dirty="0" smtClean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1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）屈婉玲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.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算法设计与分析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(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第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版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). 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清华大学出版社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. </a:t>
            </a:r>
            <a:endParaRPr lang="en-US" altLang="zh-CN" b="1" dirty="0" smtClean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2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）李春葆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.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算法设计与分析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(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第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2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版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).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清华大学出版社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.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3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）</a:t>
            </a:r>
            <a:r>
              <a:rPr lang="en-US" altLang="zh-CN" b="1" dirty="0" err="1" smtClean="0">
                <a:solidFill>
                  <a:schemeClr val="bg1"/>
                </a:solidFill>
                <a:ea typeface="+mn-ea"/>
                <a:cs typeface="Times New Roman" panose="02020603050405020304" pitchFamily="18" charset="0"/>
              </a:rPr>
              <a:t>Anany</a:t>
            </a:r>
            <a:r>
              <a:rPr lang="en-US" altLang="zh-CN" b="1" dirty="0" smtClean="0">
                <a:solidFill>
                  <a:schemeClr val="bg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b="1" dirty="0" err="1" smtClean="0">
                <a:solidFill>
                  <a:schemeClr val="bg1"/>
                </a:solidFill>
                <a:ea typeface="+mn-ea"/>
                <a:cs typeface="Times New Roman" panose="02020603050405020304" pitchFamily="18" charset="0"/>
              </a:rPr>
              <a:t>Levitin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著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,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潘彦译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算法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设计与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分析基础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.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清华大学出版社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.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4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）师智斌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.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算法分析与设计及案例教程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清华大学出版社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.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5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）中国大学</a:t>
            </a:r>
            <a:r>
              <a:rPr lang="en-US" altLang="zh-CN" b="1" dirty="0" smtClean="0">
                <a:solidFill>
                  <a:schemeClr val="bg1"/>
                </a:solidFill>
                <a:ea typeface="+mn-ea"/>
                <a:cs typeface="Times New Roman" panose="02020603050405020304" pitchFamily="18" charset="0"/>
              </a:rPr>
              <a:t>MOOC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，算法设计与分析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,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ea typeface="+mn-ea"/>
              </a:rPr>
              <a:t>屈婉玲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zh-CN" alt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99" name="Rectangle 5"/>
          <p:cNvSpPr>
            <a:spLocks noGrp="1"/>
          </p:cNvSpPr>
          <p:nvPr>
            <p:ph type="title"/>
          </p:nvPr>
        </p:nvSpPr>
        <p:spPr>
          <a:xfrm>
            <a:off x="323850" y="260350"/>
            <a:ext cx="7921625" cy="792163"/>
          </a:xfrm>
        </p:spPr>
        <p:txBody>
          <a:bodyPr vert="horz" wrap="square" lIns="92075" tIns="46038" rIns="92075" bIns="46038" anchor="b"/>
          <a:lstStyle/>
          <a:p>
            <a:pPr eaLnBrk="1" hangingPunct="1"/>
            <a:r>
              <a:rPr lang="zh-CN" altLang="en-US" dirty="0">
                <a:solidFill>
                  <a:srgbClr val="CC0099"/>
                </a:solidFill>
                <a:ea typeface="楷体_GB2312" pitchFamily="49" charset="-122"/>
              </a:rPr>
              <a:t>课程简介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zh-CN" altLang="en-US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第</a:t>
            </a:r>
            <a:r>
              <a:rPr kumimoji="0" lang="en-US" altLang="zh-CN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kumimoji="0" lang="zh-CN" altLang="en-US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章   基础知识</a:t>
            </a:r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xfrm>
            <a:off x="395536" y="1628800"/>
            <a:ext cx="8640960" cy="4841324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1.1 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有关算法的基本概念</a:t>
            </a:r>
          </a:p>
          <a:p>
            <a:pPr lvl="2" eaLnBrk="1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算法设计的任务</a:t>
            </a: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——</a:t>
            </a:r>
            <a:r>
              <a:rPr kumimoji="0" lang="zh-CN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调度问题、任务分配</a:t>
            </a:r>
          </a:p>
          <a:p>
            <a:pPr lvl="2" eaLnBrk="1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问题计算复杂度的界定</a:t>
            </a: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——</a:t>
            </a:r>
            <a:r>
              <a:rPr kumimoji="0" lang="zh-CN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排序问题</a:t>
            </a:r>
          </a:p>
          <a:p>
            <a:pPr lvl="2" eaLnBrk="1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计算复杂性理论</a:t>
            </a: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——</a:t>
            </a:r>
            <a:r>
              <a:rPr kumimoji="0" lang="zh-CN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货郎问题、背包问题、双机调度</a:t>
            </a:r>
          </a:p>
          <a:p>
            <a:pPr lvl="2" eaLnBrk="1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算法及其时间复杂度</a:t>
            </a: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——</a:t>
            </a:r>
            <a:r>
              <a:rPr kumimoji="0" lang="zh-CN" altLang="en-US" b="1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线性检索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  <a:p>
            <a:pPr marL="342900" marR="0" lvl="0" indent="-342900" algn="l" defTabSz="914400" rtl="0" eaLnBrk="1" fontAlgn="base" latinLnBrk="0" hangingPunct="1"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1.2 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算法的伪码表示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      </a:t>
            </a:r>
          </a:p>
          <a:p>
            <a:pPr marL="342900" marR="0" lvl="0" indent="-342900" algn="l" defTabSz="914400" rtl="0" eaLnBrk="1" fontAlgn="base" latinLnBrk="0" hangingPunct="1"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1.3 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数学基础知识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</a:t>
            </a:r>
          </a:p>
          <a:p>
            <a:pPr marL="342900" marR="0" lvl="0" indent="-360045" algn="l" defTabSz="914400" rtl="0" eaLnBrk="1" fontAlgn="base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      1.3.1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函数渐近的界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  <a:p>
            <a:pPr marL="342900" marR="0" lvl="0" indent="-360045" algn="l" defTabSz="914400" rtl="0" eaLnBrk="1" fontAlgn="base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      1.3.2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求和的方法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  <a:p>
            <a:pPr marL="342900" marR="0" lvl="0" indent="-360045" algn="l" defTabSz="914400" rtl="0" eaLnBrk="1" fontAlgn="base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      1.3.3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递推方程求解方法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34328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9552" y="2103239"/>
            <a:ext cx="264477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例1：调度问题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98145" y="2564904"/>
            <a:ext cx="8348345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zh-CN" altLang="en-US" b="1" dirty="0">
                <a:solidFill>
                  <a:schemeClr val="accent6"/>
                </a:solidFill>
              </a:rPr>
              <a:t>问题描述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zh-CN" altLang="en-US" dirty="0" smtClean="0">
                <a:solidFill>
                  <a:schemeClr val="bg1"/>
                </a:solidFill>
              </a:rPr>
              <a:t>有</a:t>
            </a:r>
            <a:r>
              <a:rPr lang="zh-CN" altLang="en-US" i="1" dirty="0" smtClean="0">
                <a:solidFill>
                  <a:schemeClr val="bg1"/>
                </a:solidFill>
              </a:rPr>
              <a:t>n</a:t>
            </a:r>
            <a:r>
              <a:rPr lang="zh-CN" altLang="en-US" dirty="0" smtClean="0">
                <a:solidFill>
                  <a:schemeClr val="bg1"/>
                </a:solidFill>
              </a:rPr>
              <a:t>项</a:t>
            </a:r>
            <a:r>
              <a:rPr lang="zh-CN" altLang="en-US" dirty="0">
                <a:solidFill>
                  <a:schemeClr val="bg1"/>
                </a:solidFill>
              </a:rPr>
              <a:t>任务，每项任务加工时间已知。从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chemeClr val="bg1"/>
                </a:solidFill>
              </a:rPr>
              <a:t>时刻开始陆续安排到一台机器上加工。每个任务的完成时间是</a:t>
            </a:r>
            <a:r>
              <a:rPr lang="zh-CN" altLang="en-US" dirty="0" smtClean="0">
                <a:solidFill>
                  <a:schemeClr val="bg1"/>
                </a:solidFill>
              </a:rPr>
              <a:t>从0 </a:t>
            </a:r>
            <a:r>
              <a:rPr lang="zh-CN" altLang="en-US" dirty="0">
                <a:solidFill>
                  <a:schemeClr val="bg1"/>
                </a:solidFill>
              </a:rPr>
              <a:t>时刻</a:t>
            </a:r>
            <a:r>
              <a:rPr lang="zh-CN" altLang="en-US" dirty="0" smtClean="0">
                <a:solidFill>
                  <a:schemeClr val="bg1"/>
                </a:solidFill>
              </a:rPr>
              <a:t>到</a:t>
            </a:r>
            <a:r>
              <a:rPr lang="zh-CN" altLang="en-US" dirty="0">
                <a:solidFill>
                  <a:schemeClr val="bg1"/>
                </a:solidFill>
              </a:rPr>
              <a:t>该</a:t>
            </a:r>
            <a:r>
              <a:rPr lang="zh-CN" altLang="en-US" dirty="0" smtClean="0">
                <a:solidFill>
                  <a:schemeClr val="bg1"/>
                </a:solidFill>
              </a:rPr>
              <a:t>任务</a:t>
            </a:r>
            <a:r>
              <a:rPr lang="zh-CN" altLang="en-US" dirty="0">
                <a:solidFill>
                  <a:schemeClr val="bg1"/>
                </a:solidFill>
              </a:rPr>
              <a:t>加工截止的时间。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7544" y="3801840"/>
            <a:ext cx="827894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buClrTx/>
              <a:buSzTx/>
              <a:buFontTx/>
            </a:pPr>
            <a:r>
              <a:rPr lang="zh-CN" altLang="en-US" b="1" dirty="0">
                <a:solidFill>
                  <a:schemeClr val="accent6"/>
                </a:solidFill>
                <a:sym typeface="+mn-ea"/>
              </a:rPr>
              <a:t>求解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: 总完成时间（所有任务完成时间之和）最短的安排</a:t>
            </a:r>
            <a:r>
              <a:rPr lang="zh-CN" altLang="en-US" dirty="0" smtClean="0">
                <a:solidFill>
                  <a:schemeClr val="bg1"/>
                </a:solidFill>
                <a:sym typeface="+mn-ea"/>
              </a:rPr>
              <a:t>方案</a:t>
            </a:r>
            <a:endParaRPr lang="zh-CN" altLang="en-US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544" y="4365104"/>
            <a:ext cx="7723505" cy="9787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accent6"/>
                </a:solidFill>
              </a:rPr>
              <a:t>实例</a:t>
            </a:r>
            <a:r>
              <a:rPr lang="zh-CN" altLang="en-US" dirty="0">
                <a:solidFill>
                  <a:schemeClr val="bg1"/>
                </a:solidFill>
              </a:rPr>
              <a:t>：任务集 </a:t>
            </a:r>
            <a:r>
              <a:rPr lang="zh-CN" altLang="en-US" i="1" dirty="0">
                <a:solidFill>
                  <a:schemeClr val="bg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= {1, 2, 3, 4, 5}，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</a:rPr>
              <a:t>加工时间: </a:t>
            </a:r>
            <a:r>
              <a:rPr lang="zh-CN" altLang="en-US" i="1" dirty="0">
                <a:solidFill>
                  <a:schemeClr val="bg1"/>
                </a:solidFill>
                <a:cs typeface="Times New Roman" panose="02020603050405020304" pitchFamily="18" charset="0"/>
              </a:rPr>
              <a:t>t</a:t>
            </a:r>
            <a:r>
              <a:rPr lang="zh-CN" altLang="en-US" baseline="-25000" dirty="0">
                <a:solidFill>
                  <a:schemeClr val="bg1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=3, </a:t>
            </a:r>
            <a:r>
              <a:rPr lang="zh-CN" altLang="en-US" i="1" dirty="0">
                <a:solidFill>
                  <a:schemeClr val="bg1"/>
                </a:solidFill>
                <a:cs typeface="Times New Roman" panose="02020603050405020304" pitchFamily="18" charset="0"/>
              </a:rPr>
              <a:t>t</a:t>
            </a:r>
            <a:r>
              <a:rPr lang="zh-CN" altLang="en-US" baseline="-25000" dirty="0">
                <a:solidFill>
                  <a:schemeClr val="bg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=8, </a:t>
            </a:r>
            <a:r>
              <a:rPr lang="zh-CN" altLang="en-US" i="1" dirty="0">
                <a:solidFill>
                  <a:schemeClr val="bg1"/>
                </a:solidFill>
                <a:cs typeface="Times New Roman" panose="02020603050405020304" pitchFamily="18" charset="0"/>
              </a:rPr>
              <a:t>t</a:t>
            </a:r>
            <a:r>
              <a:rPr lang="zh-CN" altLang="en-US" i="1" baseline="-25000" dirty="0">
                <a:solidFill>
                  <a:schemeClr val="bg1"/>
                </a:solidFill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=5, </a:t>
            </a:r>
            <a:r>
              <a:rPr lang="zh-CN" altLang="en-US" i="1" dirty="0">
                <a:solidFill>
                  <a:schemeClr val="bg1"/>
                </a:solidFill>
                <a:cs typeface="Times New Roman" panose="02020603050405020304" pitchFamily="18" charset="0"/>
              </a:rPr>
              <a:t>t</a:t>
            </a:r>
            <a:r>
              <a:rPr lang="zh-CN" altLang="en-US" baseline="-25000" dirty="0">
                <a:solidFill>
                  <a:schemeClr val="bg1"/>
                </a:solidFill>
                <a:cs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=10, </a:t>
            </a:r>
            <a:r>
              <a:rPr lang="zh-CN" altLang="en-US" i="1" dirty="0">
                <a:solidFill>
                  <a:schemeClr val="bg1"/>
                </a:solidFill>
                <a:cs typeface="Times New Roman" panose="02020603050405020304" pitchFamily="18" charset="0"/>
              </a:rPr>
              <a:t>t</a:t>
            </a:r>
            <a:r>
              <a:rPr lang="zh-CN" altLang="en-US" baseline="-25000" dirty="0">
                <a:solidFill>
                  <a:schemeClr val="bg1"/>
                </a:solidFill>
                <a:cs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=15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57200" y="1581423"/>
            <a:ext cx="5027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算法设计的任务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43275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09930" y="1837055"/>
            <a:ext cx="7723505" cy="1353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  <a:t>求解策略（算法）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</a:p>
          <a:p>
            <a:pPr>
              <a:spcBef>
                <a:spcPts val="1200"/>
              </a:spcBef>
            </a:pPr>
            <a:r>
              <a:rPr lang="zh-CN" altLang="en-US" dirty="0">
                <a:solidFill>
                  <a:schemeClr val="bg1"/>
                </a:solidFill>
              </a:rPr>
              <a:t>按加工时间 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(3,8,5,10,15) </a:t>
            </a:r>
            <a:r>
              <a:rPr lang="zh-CN" altLang="en-US" dirty="0">
                <a:solidFill>
                  <a:schemeClr val="bg1"/>
                </a:solidFill>
              </a:rPr>
              <a:t>从小到大安排，即按照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1, 3, 2, 4, 5</a:t>
            </a:r>
            <a:r>
              <a:rPr lang="zh-CN" altLang="en-US" dirty="0">
                <a:solidFill>
                  <a:schemeClr val="bg1"/>
                </a:solidFill>
              </a:rPr>
              <a:t>的顺序调度任务。</a:t>
            </a: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2"/>
          <a:srcRect t="9878"/>
          <a:stretch>
            <a:fillRect/>
          </a:stretch>
        </p:blipFill>
        <p:spPr>
          <a:xfrm>
            <a:off x="724517" y="3212976"/>
            <a:ext cx="6886406" cy="86306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44237" y="4307612"/>
            <a:ext cx="7040131" cy="156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总完成时间：</a:t>
            </a:r>
          </a:p>
          <a:p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t 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= 3+(3+5)+(3+5+8)+(3+5+8+10)+(3+5+8+10+15)</a:t>
            </a:r>
          </a:p>
          <a:p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  = 3×5 + 5×4 + 8×3 + 10×2 + 15</a:t>
            </a:r>
          </a:p>
          <a:p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  = 94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62984" y="1826910"/>
            <a:ext cx="20173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贪心策略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5" grpId="0"/>
      <p:bldP spid="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98145" y="1625600"/>
            <a:ext cx="8348345" cy="2022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zh-CN" altLang="en-US" b="1">
                <a:solidFill>
                  <a:schemeClr val="bg2"/>
                </a:solidFill>
                <a:uFillTx/>
              </a:rPr>
              <a:t>问题建模</a:t>
            </a:r>
            <a:r>
              <a:rPr lang="zh-CN" altLang="en-US">
                <a:solidFill>
                  <a:schemeClr val="bg2"/>
                </a:solidFill>
                <a:uFillTx/>
              </a:rPr>
              <a:t>：</a:t>
            </a:r>
          </a:p>
          <a:p>
            <a:pPr algn="just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uFillTx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</a:rPr>
              <a:t>1</a:t>
            </a:r>
            <a:r>
              <a:rPr lang="zh-CN" altLang="en-US">
                <a:solidFill>
                  <a:schemeClr val="bg2"/>
                </a:solidFill>
                <a:uFillTx/>
              </a:rPr>
              <a:t>）</a:t>
            </a:r>
            <a:r>
              <a:rPr lang="zh-CN" altLang="en-US" b="1">
                <a:solidFill>
                  <a:srgbClr val="0070C0"/>
                </a:solidFill>
                <a:uFillTx/>
              </a:rPr>
              <a:t>输入</a:t>
            </a:r>
            <a:r>
              <a:rPr lang="zh-CN" altLang="en-US">
                <a:solidFill>
                  <a:schemeClr val="bg2"/>
                </a:solidFill>
                <a:uFillTx/>
              </a:rPr>
              <a:t>：</a:t>
            </a:r>
            <a:r>
              <a:rPr lang="zh-CN" altLang="en-US" b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任务集 </a:t>
            </a:r>
            <a:r>
              <a:rPr lang="en-US" altLang="zh-CN" b="1" i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S=</a:t>
            </a:r>
            <a:r>
              <a:rPr lang="en-US" altLang="zh-CN" b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{1, 2, … , </a:t>
            </a:r>
            <a:r>
              <a:rPr lang="en-US" altLang="zh-CN" b="1" i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b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}</a:t>
            </a:r>
            <a:r>
              <a:rPr lang="zh-CN" altLang="en-US" b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第</a:t>
            </a:r>
            <a:r>
              <a:rPr lang="en-US" altLang="zh-CN" b="1" i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>
                <a:solidFill>
                  <a:schemeClr val="bg2"/>
                </a:solidFill>
                <a:uFillTx/>
              </a:rPr>
              <a:t>项任务加工时间：</a:t>
            </a:r>
            <a:r>
              <a:rPr lang="en-US" altLang="zh-CN" b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i="1" noProof="0" dirty="0" err="1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zh-CN" b="1" i="1" baseline="-25000" noProof="0" dirty="0" err="1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i="1" baseline="-2500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b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Symbol" panose="05050102010706020507" pitchFamily="18" charset="2"/>
              </a:rPr>
              <a:t>Z</a:t>
            </a:r>
            <a:r>
              <a:rPr lang="en-US" altLang="zh-CN" b="1" baseline="3000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b="1" i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=1, 2 ,…, </a:t>
            </a:r>
            <a:r>
              <a:rPr lang="en-US" altLang="zh-CN" b="1" i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n</a:t>
            </a:r>
            <a:endParaRPr lang="zh-CN" altLang="en-US">
              <a:solidFill>
                <a:schemeClr val="bg2"/>
              </a:solidFill>
              <a:uFillTx/>
            </a:endParaRPr>
          </a:p>
          <a:p>
            <a:pPr algn="just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uFillTx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</a:rPr>
              <a:t>2</a:t>
            </a:r>
            <a:r>
              <a:rPr lang="zh-CN" altLang="en-US">
                <a:solidFill>
                  <a:schemeClr val="bg2"/>
                </a:solidFill>
                <a:uFillTx/>
              </a:rPr>
              <a:t>）</a:t>
            </a:r>
            <a:r>
              <a:rPr lang="zh-CN" altLang="en-US" b="1">
                <a:solidFill>
                  <a:srgbClr val="0070C0"/>
                </a:solidFill>
                <a:uFillTx/>
              </a:rPr>
              <a:t>输出</a:t>
            </a:r>
            <a:r>
              <a:rPr lang="zh-CN" altLang="en-US">
                <a:solidFill>
                  <a:schemeClr val="bg2"/>
                </a:solidFill>
                <a:uFillTx/>
              </a:rPr>
              <a:t>：调度策略</a:t>
            </a:r>
            <a:r>
              <a:rPr lang="en-US" altLang="zh-CN" b="1" i="1">
                <a:solidFill>
                  <a:schemeClr val="bg2"/>
                </a:solidFill>
                <a:uFillTx/>
              </a:rPr>
              <a:t>I</a:t>
            </a:r>
            <a:r>
              <a:rPr lang="zh-CN" altLang="en-US">
                <a:solidFill>
                  <a:schemeClr val="bg2"/>
                </a:solidFill>
                <a:uFillTx/>
              </a:rPr>
              <a:t>，应为</a:t>
            </a:r>
            <a:r>
              <a:rPr lang="en-US" altLang="zh-CN" b="1" i="1">
                <a:solidFill>
                  <a:schemeClr val="bg2"/>
                </a:solidFill>
                <a:uFillTx/>
              </a:rPr>
              <a:t>S</a:t>
            </a:r>
            <a:r>
              <a:rPr lang="zh-CN" altLang="en-US">
                <a:solidFill>
                  <a:schemeClr val="bg2"/>
                </a:solidFill>
                <a:uFillTx/>
              </a:rPr>
              <a:t>的排列</a:t>
            </a:r>
            <a:r>
              <a:rPr lang="zh-CN" altLang="en-US" b="1" i="1">
                <a:solidFill>
                  <a:schemeClr val="bg2"/>
                </a:solidFill>
                <a:uFillTx/>
                <a:cs typeface="Times New Roman" panose="02020603050405020304" pitchFamily="18" charset="0"/>
              </a:rPr>
              <a:t>i</a:t>
            </a:r>
            <a:r>
              <a:rPr lang="zh-CN" altLang="en-US" b="1" baseline="-25000">
                <a:solidFill>
                  <a:schemeClr val="bg2"/>
                </a:solidFill>
                <a:uFillTx/>
              </a:rPr>
              <a:t>1</a:t>
            </a:r>
            <a:r>
              <a:rPr lang="zh-CN" altLang="en-US" b="1">
                <a:solidFill>
                  <a:schemeClr val="bg2"/>
                </a:solidFill>
                <a:uFillTx/>
              </a:rPr>
              <a:t>, </a:t>
            </a:r>
            <a:r>
              <a:rPr lang="zh-CN" altLang="en-US" b="1" i="1">
                <a:solidFill>
                  <a:schemeClr val="bg2"/>
                </a:solidFill>
                <a:uFillTx/>
                <a:cs typeface="Times New Roman" panose="02020603050405020304" pitchFamily="18" charset="0"/>
              </a:rPr>
              <a:t>i</a:t>
            </a:r>
            <a:r>
              <a:rPr lang="zh-CN" altLang="en-US" b="1" baseline="-25000">
                <a:solidFill>
                  <a:schemeClr val="bg2"/>
                </a:solidFill>
                <a:uFillTx/>
              </a:rPr>
              <a:t>2</a:t>
            </a:r>
            <a:r>
              <a:rPr lang="zh-CN" altLang="en-US" b="1">
                <a:solidFill>
                  <a:schemeClr val="bg2"/>
                </a:solidFill>
                <a:uFillTx/>
              </a:rPr>
              <a:t>, …, </a:t>
            </a:r>
            <a:r>
              <a:rPr lang="zh-CN" altLang="en-US" b="1" i="1">
                <a:solidFill>
                  <a:schemeClr val="bg2"/>
                </a:solidFill>
                <a:uFillTx/>
                <a:cs typeface="Times New Roman" panose="02020603050405020304" pitchFamily="18" charset="0"/>
              </a:rPr>
              <a:t>i</a:t>
            </a:r>
            <a:r>
              <a:rPr lang="zh-CN" altLang="en-US" b="1" i="1" baseline="-25000">
                <a:solidFill>
                  <a:schemeClr val="bg2"/>
                </a:solidFill>
                <a:uFillTx/>
              </a:rPr>
              <a:t>n</a:t>
            </a:r>
          </a:p>
        </p:txBody>
      </p:sp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34328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5445" y="3799205"/>
            <a:ext cx="58140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）目标函数：</a:t>
            </a:r>
            <a:r>
              <a:rPr lang="zh-CN" altLang="en-US" i="1" dirty="0">
                <a:solidFill>
                  <a:schemeClr val="bg2"/>
                </a:solidFill>
                <a:sym typeface="+mn-ea"/>
              </a:rPr>
              <a:t>I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 的完成时间，</a:t>
            </a: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825" y="3655695"/>
            <a:ext cx="2809240" cy="8274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5445" y="4483100"/>
            <a:ext cx="76161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）解：设为</a:t>
            </a:r>
            <a:r>
              <a:rPr lang="zh-CN" altLang="en-US" i="1" dirty="0">
                <a:solidFill>
                  <a:schemeClr val="bg2"/>
                </a:solidFill>
                <a:sym typeface="+mn-ea"/>
              </a:rPr>
              <a:t>I</a:t>
            </a:r>
            <a:r>
              <a:rPr lang="en-US" altLang="zh-CN" i="1" dirty="0">
                <a:solidFill>
                  <a:schemeClr val="bg2"/>
                </a:solidFill>
                <a:sym typeface="+mn-ea"/>
              </a:rPr>
              <a:t>*</a:t>
            </a:r>
            <a:r>
              <a:rPr lang="zh-CN" altLang="en-US" i="1" dirty="0">
                <a:solidFill>
                  <a:schemeClr val="bg2"/>
                </a:solidFill>
                <a:sym typeface="+mn-ea"/>
              </a:rPr>
              <a:t>，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使得 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t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</a:t>
            </a:r>
            <a:r>
              <a:rPr lang="zh-CN" altLang="en-US" i="1" dirty="0">
                <a:solidFill>
                  <a:schemeClr val="bg2"/>
                </a:solidFill>
                <a:sym typeface="+mn-ea"/>
              </a:rPr>
              <a:t>I</a:t>
            </a:r>
            <a:r>
              <a:rPr lang="en-US" altLang="zh-CN" i="1" dirty="0">
                <a:solidFill>
                  <a:schemeClr val="bg2"/>
                </a:solidFill>
                <a:sym typeface="+mn-ea"/>
              </a:rPr>
              <a:t>*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)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的值达到最小，即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980565" y="5179695"/>
            <a:ext cx="4425950" cy="521970"/>
            <a:chOff x="2703" y="8181"/>
            <a:chExt cx="6970" cy="822"/>
          </a:xfrm>
        </p:grpSpPr>
        <p:graphicFrame>
          <p:nvGraphicFramePr>
            <p:cNvPr id="20484" name="Object 4"/>
            <p:cNvGraphicFramePr>
              <a:graphicFrameLocks noChangeAspect="1"/>
            </p:cNvGraphicFramePr>
            <p:nvPr/>
          </p:nvGraphicFramePr>
          <p:xfrm>
            <a:off x="4441" y="8208"/>
            <a:ext cx="5232" cy="7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r:id="rId4" imgW="1485900" imgH="215900" progId="Equation.3">
                    <p:embed/>
                  </p:oleObj>
                </mc:Choice>
                <mc:Fallback>
                  <p:oleObj r:id="rId4" imgW="1485900" imgH="215900" progId="Equation.3">
                    <p:embed/>
                    <p:pic>
                      <p:nvPicPr>
                        <p:cNvPr id="0" name="20 3078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441" y="8208"/>
                          <a:ext cx="5232" cy="7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5"/>
            <p:cNvSpPr txBox="1"/>
            <p:nvPr/>
          </p:nvSpPr>
          <p:spPr>
            <a:xfrm>
              <a:off x="2703" y="8181"/>
              <a:ext cx="1738" cy="82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2800" dirty="0">
                  <a:solidFill>
                    <a:schemeClr val="bg2"/>
                  </a:solidFill>
                  <a:sym typeface="+mn-ea"/>
                </a:rPr>
                <a:t> </a:t>
              </a:r>
              <a:r>
                <a:rPr lang="en-US" altLang="zh-CN" sz="2800" b="1" i="1" dirty="0">
                  <a:solidFill>
                    <a:schemeClr val="bg2"/>
                  </a:solidFill>
                  <a:sym typeface="+mn-ea"/>
                </a:rPr>
                <a:t>t</a:t>
              </a:r>
              <a:r>
                <a:rPr lang="en-US" altLang="zh-CN" sz="2800" dirty="0">
                  <a:solidFill>
                    <a:schemeClr val="bg2"/>
                  </a:solidFill>
                  <a:sym typeface="+mn-ea"/>
                </a:rPr>
                <a:t>(</a:t>
              </a:r>
              <a:r>
                <a:rPr lang="zh-CN" altLang="en-US" sz="2800" i="1" dirty="0">
                  <a:solidFill>
                    <a:schemeClr val="bg2"/>
                  </a:solidFill>
                  <a:sym typeface="+mn-ea"/>
                </a:rPr>
                <a:t>I</a:t>
              </a:r>
              <a:r>
                <a:rPr lang="en-US" altLang="zh-CN" sz="2800" i="1" dirty="0">
                  <a:solidFill>
                    <a:schemeClr val="bg2"/>
                  </a:solidFill>
                  <a:sym typeface="+mn-ea"/>
                </a:rPr>
                <a:t>*</a:t>
              </a:r>
              <a:r>
                <a:rPr lang="en-US" altLang="zh-CN" sz="2800" dirty="0">
                  <a:solidFill>
                    <a:schemeClr val="bg2"/>
                  </a:solidFill>
                  <a:sym typeface="+mn-ea"/>
                </a:rPr>
                <a:t>)=</a:t>
              </a:r>
              <a:endParaRPr lang="zh-CN" altLang="en-US" sz="2800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" grpId="0"/>
      <p:bldP spid="2" grpId="1"/>
      <p:bldP spid="4" grpId="0"/>
      <p:bldP spid="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40608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98145" y="1625600"/>
            <a:ext cx="8348345" cy="1308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b="1">
                <a:solidFill>
                  <a:schemeClr val="bg2"/>
                </a:solidFill>
                <a:uFillTx/>
              </a:rPr>
              <a:t>选择策略</a:t>
            </a:r>
            <a:r>
              <a:rPr lang="zh-CN" altLang="en-US">
                <a:solidFill>
                  <a:schemeClr val="bg2"/>
                </a:solidFill>
                <a:uFillTx/>
              </a:rPr>
              <a:t>：贪心策略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uFillTx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</a:rPr>
              <a:t>1</a:t>
            </a:r>
            <a:r>
              <a:rPr lang="zh-CN" altLang="en-US">
                <a:solidFill>
                  <a:schemeClr val="bg2"/>
                </a:solidFill>
                <a:uFillTx/>
              </a:rPr>
              <a:t>）设计策略：加工时间短的先做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uFillTx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</a:rPr>
              <a:t>2</a:t>
            </a:r>
            <a:r>
              <a:rPr lang="zh-CN" altLang="en-US">
                <a:solidFill>
                  <a:schemeClr val="bg2"/>
                </a:solidFill>
                <a:uFillTx/>
              </a:rPr>
              <a:t>）设计算法：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989455" y="3001645"/>
            <a:ext cx="5622290" cy="332295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chemeClr val="bg2"/>
                </a:solidFill>
              </a:rPr>
              <a:t>long TaskArrange(TASK taskset[],int n)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chemeClr val="bg2"/>
                </a:solidFill>
              </a:rPr>
              <a:t>{ Sort(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taskset</a:t>
            </a:r>
            <a:r>
              <a:rPr lang="en-US" altLang="zh-CN" b="1" i="1">
                <a:solidFill>
                  <a:schemeClr val="bg2"/>
                </a:solidFill>
              </a:rPr>
              <a:t>); //</a:t>
            </a:r>
            <a:r>
              <a:rPr lang="zh-CN" altLang="en-US" b="1" i="1">
                <a:solidFill>
                  <a:schemeClr val="bg2"/>
                </a:solidFill>
              </a:rPr>
              <a:t>按照时间成员进行排序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i="1">
                <a:solidFill>
                  <a:schemeClr val="bg2"/>
                </a:solidFill>
              </a:rPr>
              <a:t>  </a:t>
            </a:r>
            <a:r>
              <a:rPr lang="en-US" altLang="zh-CN" b="1" i="1">
                <a:solidFill>
                  <a:schemeClr val="bg2"/>
                </a:solidFill>
              </a:rPr>
              <a:t>sum=0; item=0;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i="1">
                <a:solidFill>
                  <a:schemeClr val="bg2"/>
                </a:solidFill>
              </a:rPr>
              <a:t>  </a:t>
            </a:r>
            <a:r>
              <a:rPr lang="en-US" altLang="zh-CN" b="1" i="1">
                <a:solidFill>
                  <a:schemeClr val="bg2"/>
                </a:solidFill>
              </a:rPr>
              <a:t>for(i=1;i&lt;=n;i++)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chemeClr val="bg2"/>
                </a:solidFill>
              </a:rPr>
              <a:t>    { item=item+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taskset.t[i];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i="1">
                <a:solidFill>
                  <a:schemeClr val="bg2"/>
                </a:solidFill>
                <a:sym typeface="+mn-ea"/>
              </a:rPr>
              <a:t>     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sum=sum+item;}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chemeClr val="bg2"/>
                </a:solidFill>
                <a:sym typeface="+mn-ea"/>
              </a:rPr>
              <a:t>  return(sum);}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5" grpId="1"/>
      <p:bldP spid="2" grpId="0" bldLvl="0" animBg="1"/>
      <p:bldP spid="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98145" y="1697355"/>
            <a:ext cx="8348345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b="1">
                <a:solidFill>
                  <a:schemeClr val="bg2"/>
                </a:solidFill>
                <a:uFillTx/>
              </a:rPr>
              <a:t>算法正确性验证：</a:t>
            </a:r>
            <a:r>
              <a:rPr lang="zh-CN" altLang="en-US">
                <a:solidFill>
                  <a:schemeClr val="bg2"/>
                </a:solidFill>
                <a:uFillTx/>
              </a:rPr>
              <a:t>对所有输入实例都得到最优解</a:t>
            </a:r>
          </a:p>
        </p:txBody>
      </p:sp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40608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" y="2190750"/>
            <a:ext cx="6545580" cy="1062990"/>
          </a:xfrm>
          <a:prstGeom prst="rect">
            <a:avLst/>
          </a:prstGeom>
        </p:spPr>
      </p:pic>
      <p:pic>
        <p:nvPicPr>
          <p:cNvPr id="3" name="20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0745"/>
            <a:ext cx="7117080" cy="1216025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55" y="5026025"/>
            <a:ext cx="6579870" cy="49720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34328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200" y="1677670"/>
            <a:ext cx="37744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例</a:t>
            </a:r>
            <a:r>
              <a:rPr lang="en-US" altLang="zh-CN" b="1">
                <a:solidFill>
                  <a:schemeClr val="bg1"/>
                </a:solidFill>
              </a:rPr>
              <a:t>2</a:t>
            </a:r>
            <a:r>
              <a:rPr lang="zh-CN" altLang="en-US" b="1">
                <a:solidFill>
                  <a:schemeClr val="bg1"/>
                </a:solidFill>
              </a:rPr>
              <a:t>：任务分配问题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98145" y="2343150"/>
            <a:ext cx="8348345" cy="1353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b="1">
                <a:solidFill>
                  <a:schemeClr val="accent6"/>
                </a:solidFill>
              </a:rPr>
              <a:t>(1) </a:t>
            </a:r>
            <a:r>
              <a:rPr lang="zh-CN" altLang="en-US" b="1">
                <a:solidFill>
                  <a:schemeClr val="accent6"/>
                </a:solidFill>
              </a:rPr>
              <a:t>问题描述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zh-CN" altLang="en-US" b="1" i="1">
                <a:solidFill>
                  <a:schemeClr val="bg1"/>
                </a:solidFill>
              </a:rPr>
              <a:t>m</a:t>
            </a:r>
            <a:r>
              <a:rPr lang="zh-CN" altLang="en-US">
                <a:solidFill>
                  <a:schemeClr val="bg1"/>
                </a:solidFill>
              </a:rPr>
              <a:t>元钱，投资</a:t>
            </a:r>
            <a:r>
              <a:rPr lang="zh-CN" altLang="en-US" b="1" i="1">
                <a:solidFill>
                  <a:schemeClr val="bg1"/>
                </a:solidFill>
              </a:rPr>
              <a:t> n</a:t>
            </a:r>
            <a:r>
              <a:rPr lang="zh-CN" altLang="en-US">
                <a:solidFill>
                  <a:schemeClr val="bg1"/>
                </a:solidFill>
              </a:rPr>
              <a:t> 个项目. 效益函数 </a:t>
            </a:r>
            <a:r>
              <a:rPr lang="zh-CN" altLang="en-US" b="1" i="1">
                <a:solidFill>
                  <a:schemeClr val="bg1"/>
                </a:solidFill>
              </a:rPr>
              <a:t>f</a:t>
            </a:r>
            <a:r>
              <a:rPr lang="zh-CN" altLang="en-US" b="1" i="1" baseline="-25000">
                <a:solidFill>
                  <a:schemeClr val="bg1"/>
                </a:solidFill>
              </a:rPr>
              <a:t>i</a:t>
            </a:r>
            <a:r>
              <a:rPr lang="zh-CN" altLang="en-US" b="1" i="1">
                <a:solidFill>
                  <a:schemeClr val="bg1"/>
                </a:solidFill>
              </a:rPr>
              <a:t> </a:t>
            </a:r>
            <a:r>
              <a:rPr lang="zh-CN" altLang="en-US" b="1">
                <a:solidFill>
                  <a:schemeClr val="bg1"/>
                </a:solidFill>
              </a:rPr>
              <a:t>(</a:t>
            </a:r>
            <a:r>
              <a:rPr lang="zh-CN" altLang="en-US" b="1" i="1">
                <a:solidFill>
                  <a:schemeClr val="bg1"/>
                </a:solidFill>
              </a:rPr>
              <a:t>x</a:t>
            </a:r>
            <a:r>
              <a:rPr lang="zh-CN" altLang="en-US" b="1">
                <a:solidFill>
                  <a:schemeClr val="bg1"/>
                </a:solidFill>
              </a:rPr>
              <a:t>)</a:t>
            </a:r>
            <a:r>
              <a:rPr lang="zh-CN" altLang="en-US">
                <a:solidFill>
                  <a:schemeClr val="bg1"/>
                </a:solidFill>
              </a:rPr>
              <a:t>，表示第 </a:t>
            </a:r>
            <a:r>
              <a:rPr lang="zh-CN" altLang="en-US" b="1" i="1">
                <a:solidFill>
                  <a:schemeClr val="bg1"/>
                </a:solidFill>
              </a:rPr>
              <a:t>i</a:t>
            </a:r>
            <a:r>
              <a:rPr lang="zh-CN" altLang="en-US">
                <a:solidFill>
                  <a:schemeClr val="bg1"/>
                </a:solidFill>
              </a:rPr>
              <a:t> 个项目投 </a:t>
            </a:r>
            <a:r>
              <a:rPr lang="zh-CN" altLang="en-US" b="1" i="1">
                <a:solidFill>
                  <a:schemeClr val="bg1"/>
                </a:solidFill>
              </a:rPr>
              <a:t>x</a:t>
            </a:r>
            <a:r>
              <a:rPr lang="zh-CN" altLang="en-US">
                <a:solidFill>
                  <a:schemeClr val="bg1"/>
                </a:solidFill>
              </a:rPr>
              <a:t> 元的效益，</a:t>
            </a:r>
            <a:r>
              <a:rPr lang="zh-CN" altLang="en-US" b="1" i="1">
                <a:solidFill>
                  <a:schemeClr val="bg1"/>
                </a:solidFill>
              </a:rPr>
              <a:t> i</a:t>
            </a:r>
            <a:r>
              <a:rPr lang="zh-CN" altLang="en-US">
                <a:solidFill>
                  <a:schemeClr val="bg1"/>
                </a:solidFill>
              </a:rPr>
              <a:t> =</a:t>
            </a:r>
            <a:r>
              <a:rPr lang="zh-CN" altLang="en-US">
                <a:solidFill>
                  <a:schemeClr val="bg1"/>
                </a:solidFill>
                <a:cs typeface="Times New Roman" panose="02020603050405020304" pitchFamily="18" charset="0"/>
              </a:rPr>
              <a:t>1, 2, …, </a:t>
            </a:r>
            <a:r>
              <a:rPr lang="zh-CN" altLang="en-US" b="1" i="1">
                <a:solidFill>
                  <a:schemeClr val="bg1"/>
                </a:solidFill>
                <a:cs typeface="Times New Roman" panose="02020603050405020304" pitchFamily="18" charset="0"/>
              </a:rPr>
              <a:t>n。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b="1">
                <a:solidFill>
                  <a:schemeClr val="accent6"/>
                </a:solidFill>
              </a:rPr>
              <a:t>(2) </a:t>
            </a:r>
            <a:r>
              <a:rPr lang="zh-CN" altLang="en-US" b="1">
                <a:solidFill>
                  <a:schemeClr val="accent6"/>
                </a:solidFill>
              </a:rPr>
              <a:t>求解</a:t>
            </a:r>
            <a:r>
              <a:rPr lang="zh-CN" altLang="en-US">
                <a:solidFill>
                  <a:schemeClr val="bg1"/>
                </a:solidFill>
              </a:rPr>
              <a:t>：如何分配每个项目的钱数使得总效益最大？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23545" y="3894455"/>
            <a:ext cx="82632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>
                <a:solidFill>
                  <a:schemeClr val="accent6"/>
                </a:solidFill>
              </a:rPr>
              <a:t>(3) 实例</a:t>
            </a:r>
            <a:r>
              <a:rPr lang="zh-CN" altLang="en-US">
                <a:solidFill>
                  <a:schemeClr val="bg2"/>
                </a:solidFill>
              </a:rPr>
              <a:t>： 5 万元，投资给 4 个项目，效益函数如下表所示：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" grpId="0"/>
      <p:bldP spid="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34328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pic>
        <p:nvPicPr>
          <p:cNvPr id="2" name="20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79525" y="2491105"/>
            <a:ext cx="5561330" cy="30137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64540" y="1837055"/>
            <a:ext cx="63023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zh-CN" altLang="en-US">
                <a:solidFill>
                  <a:schemeClr val="bg2"/>
                </a:solidFill>
              </a:rPr>
              <a:t>投资金额</a:t>
            </a:r>
            <a:r>
              <a:rPr lang="zh-CN" altLang="en-US" b="1" i="1">
                <a:solidFill>
                  <a:schemeClr val="bg1"/>
                </a:solidFill>
              </a:rPr>
              <a:t>m</a:t>
            </a:r>
            <a:r>
              <a:rPr lang="en-US" altLang="zh-CN" b="1" i="1">
                <a:solidFill>
                  <a:schemeClr val="bg1"/>
                </a:solidFill>
              </a:rPr>
              <a:t>=5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zh-CN" altLang="en-US" b="1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2"/>
                </a:solidFill>
              </a:rPr>
              <a:t>项目数</a:t>
            </a:r>
            <a:r>
              <a:rPr lang="zh-CN" altLang="en-US" b="1" i="1">
                <a:solidFill>
                  <a:schemeClr val="bg1"/>
                </a:solidFill>
              </a:rPr>
              <a:t>n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=4</a:t>
            </a:r>
            <a:r>
              <a:rPr lang="zh-CN" altLang="en-US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85445" y="1606550"/>
            <a:ext cx="8348345" cy="20974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zh-CN" altLang="en-US" b="1">
                <a:solidFill>
                  <a:schemeClr val="bg2"/>
                </a:solidFill>
                <a:uFillTx/>
              </a:rPr>
              <a:t>问题建模</a:t>
            </a:r>
            <a:r>
              <a:rPr lang="zh-CN" altLang="en-US">
                <a:solidFill>
                  <a:schemeClr val="bg2"/>
                </a:solidFill>
                <a:uFillTx/>
              </a:rPr>
              <a:t>：</a:t>
            </a:r>
          </a:p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uFillTx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</a:rPr>
              <a:t>1</a:t>
            </a:r>
            <a:r>
              <a:rPr lang="zh-CN" altLang="en-US">
                <a:solidFill>
                  <a:schemeClr val="bg2"/>
                </a:solidFill>
                <a:uFillTx/>
              </a:rPr>
              <a:t>）</a:t>
            </a:r>
            <a:r>
              <a:rPr lang="zh-CN" altLang="en-US" b="1">
                <a:solidFill>
                  <a:schemeClr val="bg1">
                    <a:lumMod val="60000"/>
                    <a:lumOff val="40000"/>
                  </a:schemeClr>
                </a:solidFill>
                <a:uFillTx/>
              </a:rPr>
              <a:t>输入</a:t>
            </a:r>
            <a:r>
              <a:rPr lang="zh-CN" altLang="en-US">
                <a:solidFill>
                  <a:schemeClr val="bg2"/>
                </a:solidFill>
                <a:uFillTx/>
              </a:rPr>
              <a:t>：</a:t>
            </a:r>
            <a:r>
              <a:rPr b="1" i="1">
                <a:solidFill>
                  <a:schemeClr val="bg2"/>
                </a:solidFill>
                <a:uFillTx/>
              </a:rPr>
              <a:t>n</a:t>
            </a:r>
            <a:r>
              <a:rPr>
                <a:solidFill>
                  <a:schemeClr val="bg2"/>
                </a:solidFill>
                <a:uFillTx/>
              </a:rPr>
              <a:t>, </a:t>
            </a:r>
            <a:r>
              <a:rPr b="1" i="1">
                <a:solidFill>
                  <a:schemeClr val="bg2"/>
                </a:solidFill>
                <a:uFillTx/>
              </a:rPr>
              <a:t>m</a:t>
            </a:r>
            <a:r>
              <a:rPr>
                <a:solidFill>
                  <a:schemeClr val="bg2"/>
                </a:solidFill>
                <a:uFillTx/>
              </a:rPr>
              <a:t>, </a:t>
            </a:r>
            <a:r>
              <a:rPr b="1" i="1">
                <a:solidFill>
                  <a:schemeClr val="bg2"/>
                </a:solidFill>
                <a:uFillTx/>
              </a:rPr>
              <a:t>f</a:t>
            </a:r>
            <a:r>
              <a:rPr b="1" i="1" baseline="-25000">
                <a:solidFill>
                  <a:schemeClr val="bg2"/>
                </a:solidFill>
                <a:uFillTx/>
              </a:rPr>
              <a:t>i</a:t>
            </a:r>
            <a:r>
              <a:rPr>
                <a:solidFill>
                  <a:schemeClr val="bg2"/>
                </a:solidFill>
                <a:uFillTx/>
              </a:rPr>
              <a:t>(</a:t>
            </a:r>
            <a:r>
              <a:rPr b="1" i="1">
                <a:solidFill>
                  <a:schemeClr val="bg2"/>
                </a:solidFill>
                <a:uFillTx/>
              </a:rPr>
              <a:t>x</a:t>
            </a:r>
            <a:r>
              <a:rPr>
                <a:solidFill>
                  <a:schemeClr val="bg2"/>
                </a:solidFill>
                <a:uFillTx/>
              </a:rPr>
              <a:t>), </a:t>
            </a:r>
            <a:r>
              <a:rPr b="1" i="1">
                <a:solidFill>
                  <a:schemeClr val="bg2"/>
                </a:solidFill>
                <a:uFillTx/>
              </a:rPr>
              <a:t>i</a:t>
            </a:r>
            <a:r>
              <a:rPr>
                <a:solidFill>
                  <a:schemeClr val="bg2"/>
                </a:solidFill>
                <a:uFillTx/>
              </a:rPr>
              <a:t> =1,2, ..., </a:t>
            </a:r>
            <a:r>
              <a:rPr b="1" i="1">
                <a:solidFill>
                  <a:schemeClr val="bg2"/>
                </a:solidFill>
                <a:uFillTx/>
              </a:rPr>
              <a:t>n</a:t>
            </a:r>
            <a:r>
              <a:rPr>
                <a:solidFill>
                  <a:schemeClr val="bg2"/>
                </a:solidFill>
                <a:uFillTx/>
              </a:rPr>
              <a:t>, </a:t>
            </a:r>
            <a:r>
              <a:rPr b="1" i="1">
                <a:solidFill>
                  <a:schemeClr val="bg2"/>
                </a:solidFill>
                <a:uFillTx/>
              </a:rPr>
              <a:t>x</a:t>
            </a:r>
            <a:r>
              <a:rPr>
                <a:solidFill>
                  <a:schemeClr val="bg2"/>
                </a:solidFill>
                <a:uFillTx/>
              </a:rPr>
              <a:t> = 1,2, ..., </a:t>
            </a:r>
            <a:r>
              <a:rPr b="1" i="1">
                <a:solidFill>
                  <a:schemeClr val="bg2"/>
                </a:solidFill>
                <a:uFillTx/>
              </a:rPr>
              <a:t>m</a:t>
            </a:r>
            <a:endParaRPr>
              <a:solidFill>
                <a:schemeClr val="bg2"/>
              </a:solidFill>
              <a:uFillTx/>
            </a:endParaRPr>
          </a:p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uFillTx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</a:rPr>
              <a:t>2</a:t>
            </a:r>
            <a:r>
              <a:rPr lang="zh-CN" altLang="en-US">
                <a:solidFill>
                  <a:schemeClr val="bg2"/>
                </a:solidFill>
                <a:uFillTx/>
              </a:rPr>
              <a:t>）</a:t>
            </a:r>
            <a:r>
              <a:rPr lang="zh-CN" altLang="en-US" b="1">
                <a:solidFill>
                  <a:schemeClr val="bg1">
                    <a:lumMod val="60000"/>
                    <a:lumOff val="40000"/>
                  </a:schemeClr>
                </a:solidFill>
                <a:uFillTx/>
              </a:rPr>
              <a:t>输出</a:t>
            </a:r>
            <a:r>
              <a:rPr lang="zh-CN" altLang="en-US">
                <a:solidFill>
                  <a:schemeClr val="bg2"/>
                </a:solidFill>
                <a:uFillTx/>
              </a:rPr>
              <a:t>：</a:t>
            </a:r>
            <a:r>
              <a:rPr lang="zh-CN" altLang="en-US" b="1" i="1">
                <a:solidFill>
                  <a:schemeClr val="bg2"/>
                </a:solidFill>
                <a:uFillTx/>
              </a:rPr>
              <a:t>n</a:t>
            </a:r>
            <a:r>
              <a:rPr lang="zh-CN" altLang="en-US">
                <a:solidFill>
                  <a:schemeClr val="bg2"/>
                </a:solidFill>
                <a:uFillTx/>
              </a:rPr>
              <a:t> 维向量&lt;</a:t>
            </a:r>
            <a:r>
              <a:rPr lang="zh-CN" altLang="en-US" b="1" i="1">
                <a:solidFill>
                  <a:schemeClr val="bg2"/>
                </a:solidFill>
                <a:uFillTx/>
              </a:rPr>
              <a:t>x</a:t>
            </a:r>
            <a:r>
              <a:rPr lang="zh-CN" altLang="en-US" baseline="-25000">
                <a:solidFill>
                  <a:schemeClr val="bg2"/>
                </a:solidFill>
                <a:uFillTx/>
              </a:rPr>
              <a:t>1</a:t>
            </a:r>
            <a:r>
              <a:rPr lang="zh-CN" altLang="en-US">
                <a:solidFill>
                  <a:schemeClr val="bg2"/>
                </a:solidFill>
                <a:uFillTx/>
              </a:rPr>
              <a:t>, </a:t>
            </a:r>
            <a:r>
              <a:rPr lang="zh-CN" altLang="en-US" b="1" i="1">
                <a:solidFill>
                  <a:schemeClr val="bg2"/>
                </a:solidFill>
                <a:uFillTx/>
              </a:rPr>
              <a:t>x</a:t>
            </a:r>
            <a:r>
              <a:rPr lang="zh-CN" altLang="en-US" b="1" baseline="-25000">
                <a:solidFill>
                  <a:schemeClr val="bg2"/>
                </a:solidFill>
                <a:uFillTx/>
              </a:rPr>
              <a:t>2</a:t>
            </a:r>
            <a:r>
              <a:rPr lang="zh-CN" altLang="en-US">
                <a:solidFill>
                  <a:schemeClr val="bg2"/>
                </a:solidFill>
                <a:uFillTx/>
              </a:rPr>
              <a:t>, … , </a:t>
            </a:r>
            <a:r>
              <a:rPr lang="zh-CN" altLang="en-US" b="1" i="1">
                <a:solidFill>
                  <a:schemeClr val="bg2"/>
                </a:solidFill>
                <a:uFillTx/>
              </a:rPr>
              <a:t>x</a:t>
            </a:r>
            <a:r>
              <a:rPr lang="zh-CN" altLang="en-US" b="1" i="1" baseline="-25000">
                <a:solidFill>
                  <a:schemeClr val="bg2"/>
                </a:solidFill>
                <a:uFillTx/>
              </a:rPr>
              <a:t>n</a:t>
            </a:r>
            <a:r>
              <a:rPr lang="zh-CN" altLang="en-US">
                <a:solidFill>
                  <a:schemeClr val="bg2"/>
                </a:solidFill>
                <a:uFillTx/>
              </a:rPr>
              <a:t>&gt;, </a:t>
            </a:r>
            <a:r>
              <a:rPr lang="zh-CN" altLang="en-US" b="1" i="1">
                <a:solidFill>
                  <a:schemeClr val="bg2"/>
                </a:solidFill>
                <a:uFillTx/>
              </a:rPr>
              <a:t>x</a:t>
            </a:r>
            <a:r>
              <a:rPr lang="zh-CN" altLang="en-US" b="1" i="1" baseline="-25000">
                <a:solidFill>
                  <a:schemeClr val="bg2"/>
                </a:solidFill>
                <a:uFillTx/>
              </a:rPr>
              <a:t>i</a:t>
            </a:r>
            <a:r>
              <a:rPr lang="zh-CN" altLang="en-US">
                <a:solidFill>
                  <a:schemeClr val="bg2"/>
                </a:solidFill>
                <a:uFillTx/>
              </a:rPr>
              <a:t> 是第</a:t>
            </a:r>
            <a:r>
              <a:rPr lang="zh-CN" altLang="en-US" b="1" i="1">
                <a:solidFill>
                  <a:schemeClr val="bg2"/>
                </a:solidFill>
                <a:uFillTx/>
              </a:rPr>
              <a:t> i </a:t>
            </a:r>
            <a:r>
              <a:rPr lang="zh-CN" altLang="en-US">
                <a:solidFill>
                  <a:schemeClr val="bg2"/>
                </a:solidFill>
                <a:uFillTx/>
              </a:rPr>
              <a:t>个项目分到的钱数，使得下述条件满足：</a:t>
            </a:r>
          </a:p>
        </p:txBody>
      </p:sp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34328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2"/>
          <a:srcRect b="54340"/>
          <a:stretch>
            <a:fillRect/>
          </a:stretch>
        </p:blipFill>
        <p:spPr>
          <a:xfrm>
            <a:off x="1325245" y="3907790"/>
            <a:ext cx="5942330" cy="998855"/>
          </a:xfrm>
          <a:prstGeom prst="rect">
            <a:avLst/>
          </a:prstGeom>
        </p:spPr>
      </p:pic>
      <p:pic>
        <p:nvPicPr>
          <p:cNvPr id="3" name="20 2"/>
          <p:cNvPicPr>
            <a:picLocks noChangeAspect="1"/>
          </p:cNvPicPr>
          <p:nvPr/>
        </p:nvPicPr>
        <p:blipFill>
          <a:blip r:embed="rId2"/>
          <a:srcRect t="47228"/>
          <a:stretch>
            <a:fillRect/>
          </a:stretch>
        </p:blipFill>
        <p:spPr>
          <a:xfrm>
            <a:off x="1325245" y="4906645"/>
            <a:ext cx="5942330" cy="115443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98145" y="1553845"/>
            <a:ext cx="8348345" cy="1346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zh-CN" altLang="en-US">
                <a:solidFill>
                  <a:schemeClr val="bg2"/>
                </a:solidFill>
                <a:uFillTx/>
              </a:rPr>
              <a:t>选择策略：蛮力策略（穷举策略）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uFillTx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</a:rPr>
              <a:t>1</a:t>
            </a:r>
            <a:r>
              <a:rPr lang="zh-CN" altLang="en-US">
                <a:solidFill>
                  <a:schemeClr val="bg2"/>
                </a:solidFill>
                <a:uFillTx/>
              </a:rPr>
              <a:t>）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设计策略</a:t>
            </a:r>
            <a:r>
              <a:rPr lang="zh-CN" altLang="en-US">
                <a:solidFill>
                  <a:schemeClr val="bg2"/>
                </a:solidFill>
                <a:uFillTx/>
              </a:rPr>
              <a:t>：从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所有可行策略</a:t>
            </a:r>
            <a:r>
              <a:rPr lang="zh-CN" altLang="en-US">
                <a:solidFill>
                  <a:schemeClr val="bg2"/>
                </a:solidFill>
                <a:uFillTx/>
              </a:rPr>
              <a:t>中选择出效益最大的方案。</a:t>
            </a:r>
            <a:endParaRPr>
              <a:solidFill>
                <a:schemeClr val="bg2"/>
              </a:solidFill>
              <a:uFillTx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uFillTx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</a:rPr>
              <a:t>2</a:t>
            </a:r>
            <a:r>
              <a:rPr lang="zh-CN" altLang="en-US">
                <a:solidFill>
                  <a:schemeClr val="bg2"/>
                </a:solidFill>
                <a:uFillTx/>
              </a:rPr>
              <a:t>）设计算法</a:t>
            </a:r>
          </a:p>
        </p:txBody>
      </p:sp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98145" y="2900680"/>
            <a:ext cx="8348345" cy="37439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chemeClr val="bg2"/>
                </a:solidFill>
              </a:rPr>
              <a:t>status MaxBonus(int m,int n,int Bonus[m+1][n])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chemeClr val="bg2"/>
                </a:solidFill>
              </a:rPr>
              <a:t>{  for(i=0;i&lt;=m;i++)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chemeClr val="bg2"/>
                </a:solidFill>
              </a:rPr>
              <a:t>      for(j=0;j&lt;=n-i;j++)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chemeClr val="bg2"/>
                </a:solidFill>
              </a:rPr>
              <a:t>         for(k=0;k&lt;=n-i-j;k++)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chemeClr val="bg2"/>
                </a:solidFill>
              </a:rPr>
              <a:t>             { l=n-i-j-k;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chemeClr val="bg2"/>
                </a:solidFill>
              </a:rPr>
              <a:t>               f=Bonus[i][0]+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Bonus[j][1]+Bonus[k][2]+Bonus[l][3];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chemeClr val="bg2"/>
                </a:solidFill>
                <a:sym typeface="+mn-ea"/>
              </a:rPr>
              <a:t>              if(maxf&lt;f){ maxf=f; t[]={i,j,k,l};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chemeClr val="bg2"/>
                </a:solidFill>
                <a:sym typeface="+mn-ea"/>
              </a:rPr>
              <a:t>             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chemeClr val="bg2"/>
                </a:solidFill>
                <a:sym typeface="+mn-ea"/>
              </a:rPr>
              <a:t>     return(maxf,t);</a:t>
            </a:r>
            <a:r>
              <a:rPr lang="en-US" altLang="zh-CN" b="1" i="1">
                <a:solidFill>
                  <a:schemeClr val="bg2"/>
                </a:solidFill>
              </a:rPr>
              <a:t>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}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" grpId="0" animBg="1"/>
      <p:bldP spid="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2"/>
          <a:srcRect t="5128"/>
          <a:stretch>
            <a:fillRect/>
          </a:stretch>
        </p:blipFill>
        <p:spPr>
          <a:xfrm>
            <a:off x="1127125" y="2160905"/>
            <a:ext cx="6889750" cy="32188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57200" y="1638935"/>
            <a:ext cx="2540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bg2"/>
                </a:solidFill>
              </a:rPr>
              <a:t>实例计算</a:t>
            </a: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125" y="5451475"/>
            <a:ext cx="4340860" cy="9239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9084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98145" y="1697355"/>
            <a:ext cx="8348345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b="1">
                <a:solidFill>
                  <a:schemeClr val="bg2"/>
                </a:solidFill>
                <a:uFillTx/>
              </a:rPr>
              <a:t>算法正确性验证：</a:t>
            </a:r>
            <a:r>
              <a:rPr lang="zh-CN" altLang="en-US">
                <a:solidFill>
                  <a:schemeClr val="bg2"/>
                </a:solidFill>
                <a:uFillTx/>
              </a:rPr>
              <a:t>因为是从所有的可行解中找出的最佳方案，因此所得的解一定是最优的。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57200" y="2664460"/>
            <a:ext cx="8348345" cy="2274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b="1">
                <a:solidFill>
                  <a:schemeClr val="bg2"/>
                </a:solidFill>
                <a:uFillTx/>
              </a:rPr>
              <a:t>算法分析：</a:t>
            </a:r>
          </a:p>
          <a:p>
            <a:pPr algn="just">
              <a:lnSpc>
                <a:spcPct val="110000"/>
              </a:lnSpc>
            </a:pPr>
            <a:r>
              <a:rPr lang="zh-CN" altLang="en-US" b="1">
                <a:solidFill>
                  <a:schemeClr val="bg2"/>
                </a:solidFill>
                <a:uFillTx/>
              </a:rPr>
              <a:t>（</a:t>
            </a:r>
            <a:r>
              <a:rPr lang="en-US" altLang="zh-CN" b="1">
                <a:solidFill>
                  <a:schemeClr val="bg2"/>
                </a:solidFill>
                <a:uFillTx/>
              </a:rPr>
              <a:t>1</a:t>
            </a:r>
            <a:r>
              <a:rPr lang="zh-CN" altLang="en-US" b="1">
                <a:solidFill>
                  <a:schemeClr val="bg2"/>
                </a:solidFill>
                <a:uFillTx/>
              </a:rPr>
              <a:t>）效率分析：</a:t>
            </a:r>
            <a:r>
              <a:rPr lang="zh-CN" altLang="en-US">
                <a:solidFill>
                  <a:schemeClr val="bg2"/>
                </a:solidFill>
                <a:uFillTx/>
              </a:rPr>
              <a:t>循环的层数与任务数</a:t>
            </a:r>
            <a:r>
              <a:rPr lang="en-US" altLang="zh-CN" b="1" i="1">
                <a:solidFill>
                  <a:schemeClr val="bg2"/>
                </a:solidFill>
                <a:uFillTx/>
              </a:rPr>
              <a:t>n</a:t>
            </a:r>
            <a:r>
              <a:rPr lang="zh-CN" altLang="en-US">
                <a:solidFill>
                  <a:schemeClr val="bg2"/>
                </a:solidFill>
                <a:uFillTx/>
              </a:rPr>
              <a:t>相关，所以当</a:t>
            </a:r>
            <a:r>
              <a:rPr lang="en-US" altLang="zh-CN" b="1" i="1">
                <a:solidFill>
                  <a:schemeClr val="bg2"/>
                </a:solidFill>
                <a:uFillTx/>
              </a:rPr>
              <a:t>m</a:t>
            </a:r>
            <a:r>
              <a:rPr lang="zh-CN" altLang="en-US">
                <a:solidFill>
                  <a:schemeClr val="bg2"/>
                </a:solidFill>
                <a:uFillTx/>
              </a:rPr>
              <a:t>、</a:t>
            </a:r>
            <a:r>
              <a:rPr lang="en-US" altLang="zh-CN" b="1" i="1">
                <a:solidFill>
                  <a:schemeClr val="bg2"/>
                </a:solidFill>
                <a:uFillTx/>
              </a:rPr>
              <a:t>n</a:t>
            </a:r>
            <a:r>
              <a:rPr lang="zh-CN" altLang="en-US">
                <a:solidFill>
                  <a:schemeClr val="bg2"/>
                </a:solidFill>
                <a:uFillTx/>
              </a:rPr>
              <a:t>规模很大时，算法的效率是非常低下的。</a:t>
            </a:r>
          </a:p>
          <a:p>
            <a:pPr algn="just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bg2"/>
                </a:solidFill>
                <a:uFillTx/>
              </a:rPr>
              <a:t>（</a:t>
            </a:r>
            <a:r>
              <a:rPr lang="en-US" altLang="zh-CN" b="1">
                <a:solidFill>
                  <a:schemeClr val="bg2"/>
                </a:solidFill>
                <a:uFillTx/>
              </a:rPr>
              <a:t>2</a:t>
            </a:r>
            <a:r>
              <a:rPr lang="zh-CN" altLang="en-US" b="1">
                <a:solidFill>
                  <a:schemeClr val="bg2"/>
                </a:solidFill>
                <a:uFillTx/>
              </a:rPr>
              <a:t>）实现可行性分析</a:t>
            </a:r>
            <a:r>
              <a:rPr lang="zh-CN" altLang="en-US">
                <a:solidFill>
                  <a:schemeClr val="bg2"/>
                </a:solidFill>
                <a:uFillTx/>
              </a:rPr>
              <a:t>：因没有控制循环层数的机制，因此算法的实现很困难。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7200" y="5095240"/>
            <a:ext cx="5339715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b="1">
                <a:solidFill>
                  <a:schemeClr val="bg2"/>
                </a:solidFill>
                <a:uFillTx/>
              </a:rPr>
              <a:t>思考</a:t>
            </a:r>
            <a:r>
              <a:rPr lang="zh-CN" altLang="en-US">
                <a:solidFill>
                  <a:schemeClr val="bg2"/>
                </a:solidFill>
                <a:uFillTx/>
              </a:rPr>
              <a:t>：有没有更好的实现策略？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229100" y="5660390"/>
            <a:ext cx="2529205" cy="56515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800" b="1">
                <a:solidFill>
                  <a:srgbClr val="002060"/>
                </a:solidFill>
                <a:uFillTx/>
              </a:rPr>
              <a:t>动态规划策略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" grpId="0" uiExpand="1" build="p"/>
      <p:bldP spid="2" grpId="1"/>
      <p:bldP spid="3" grpId="0"/>
      <p:bldP spid="3" grpId="1"/>
      <p:bldP spid="4" grpId="0" bldLvl="0" animBg="1"/>
      <p:bldP spid="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9084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98145" y="1625600"/>
            <a:ext cx="8348345" cy="4184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bg2"/>
                </a:solidFill>
                <a:uFillTx/>
              </a:rPr>
              <a:t>小结：通过上述两个例子的分析，我们可知</a:t>
            </a:r>
            <a:r>
              <a:rPr lang="zh-CN" altLang="en-US" b="1">
                <a:solidFill>
                  <a:srgbClr val="FF0000"/>
                </a:solidFill>
                <a:uFillTx/>
              </a:rPr>
              <a:t>算法设计的任务</a:t>
            </a:r>
            <a:r>
              <a:rPr lang="zh-CN" altLang="en-US" b="1">
                <a:solidFill>
                  <a:schemeClr val="bg2"/>
                </a:solidFill>
                <a:uFillTx/>
              </a:rPr>
              <a:t>是：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uFillTx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</a:rPr>
              <a:t>1</a:t>
            </a:r>
            <a:r>
              <a:rPr lang="zh-CN" altLang="en-US">
                <a:solidFill>
                  <a:schemeClr val="bg2"/>
                </a:solidFill>
                <a:uFillTx/>
              </a:rPr>
              <a:t>）</a:t>
            </a:r>
            <a:r>
              <a:rPr lang="zh-CN" altLang="en-US" b="1">
                <a:solidFill>
                  <a:srgbClr val="002060"/>
                </a:solidFill>
                <a:uFillTx/>
              </a:rPr>
              <a:t>建模</a:t>
            </a:r>
            <a:r>
              <a:rPr lang="zh-CN" altLang="en-US">
                <a:solidFill>
                  <a:schemeClr val="bg2"/>
                </a:solidFill>
                <a:uFillTx/>
              </a:rPr>
              <a:t>：对输入参数和解给出形式化或半形式化的描述，分析问题的目标函数、约束函数等。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uFillTx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</a:rPr>
              <a:t>2</a:t>
            </a:r>
            <a:r>
              <a:rPr lang="zh-CN" altLang="en-US">
                <a:solidFill>
                  <a:schemeClr val="bg2"/>
                </a:solidFill>
                <a:uFillTx/>
              </a:rPr>
              <a:t>）</a:t>
            </a:r>
            <a:r>
              <a:rPr lang="zh-CN" altLang="en-US" b="1">
                <a:solidFill>
                  <a:srgbClr val="002060"/>
                </a:solidFill>
                <a:uFillTx/>
              </a:rPr>
              <a:t>设计算法</a:t>
            </a:r>
            <a:r>
              <a:rPr lang="zh-CN" altLang="en-US">
                <a:solidFill>
                  <a:schemeClr val="bg2"/>
                </a:solidFill>
                <a:uFillTx/>
              </a:rPr>
              <a:t>：选择</a:t>
            </a:r>
            <a:r>
              <a:rPr lang="zh-CN" altLang="en-US" b="1">
                <a:solidFill>
                  <a:srgbClr val="FF0000"/>
                </a:solidFill>
                <a:uFillTx/>
              </a:rPr>
              <a:t>恰当的算法策略</a:t>
            </a:r>
            <a:r>
              <a:rPr lang="zh-CN" altLang="en-US">
                <a:solidFill>
                  <a:schemeClr val="bg2"/>
                </a:solidFill>
                <a:uFillTx/>
              </a:rPr>
              <a:t>进行设计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uFillTx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</a:rPr>
              <a:t>3</a:t>
            </a:r>
            <a:r>
              <a:rPr lang="zh-CN" altLang="en-US">
                <a:solidFill>
                  <a:schemeClr val="bg2"/>
                </a:solidFill>
                <a:uFillTx/>
              </a:rPr>
              <a:t>）</a:t>
            </a:r>
            <a:r>
              <a:rPr lang="zh-CN" altLang="en-US" b="1">
                <a:solidFill>
                  <a:srgbClr val="002060"/>
                </a:solidFill>
                <a:uFillTx/>
              </a:rPr>
              <a:t>分析算法的正确性</a:t>
            </a:r>
            <a:r>
              <a:rPr lang="zh-CN" altLang="en-US">
                <a:solidFill>
                  <a:schemeClr val="bg2"/>
                </a:solidFill>
                <a:uFillTx/>
              </a:rPr>
              <a:t>：是否对所有的实例都得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uFillTx/>
              </a:rPr>
              <a:t>到正确的解（尤其贪心策略一定要证明）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uFillTx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</a:rPr>
              <a:t>4</a:t>
            </a:r>
            <a:r>
              <a:rPr lang="zh-CN" altLang="en-US">
                <a:solidFill>
                  <a:schemeClr val="bg2"/>
                </a:solidFill>
                <a:uFillTx/>
              </a:rPr>
              <a:t>）</a:t>
            </a:r>
            <a:r>
              <a:rPr lang="zh-CN" altLang="en-US" b="1">
                <a:solidFill>
                  <a:srgbClr val="002060"/>
                </a:solidFill>
                <a:uFillTx/>
                <a:sym typeface="+mn-ea"/>
              </a:rPr>
              <a:t>分析</a:t>
            </a:r>
            <a:r>
              <a:rPr lang="zh-CN" altLang="en-US" b="1">
                <a:solidFill>
                  <a:srgbClr val="002060"/>
                </a:solidFill>
                <a:uFillTx/>
              </a:rPr>
              <a:t>算法效率</a:t>
            </a:r>
            <a:r>
              <a:rPr lang="zh-CN" altLang="en-US">
                <a:solidFill>
                  <a:schemeClr val="bg2"/>
                </a:solidFill>
                <a:uFillTx/>
              </a:rPr>
              <a:t>：是否为指数级的（</a:t>
            </a:r>
            <a:r>
              <a:rPr lang="en-US" altLang="zh-CN">
                <a:solidFill>
                  <a:schemeClr val="bg2"/>
                </a:solidFill>
                <a:uFillTx/>
              </a:rPr>
              <a:t>NP</a:t>
            </a:r>
            <a:r>
              <a:rPr lang="zh-CN" altLang="en-US">
                <a:solidFill>
                  <a:schemeClr val="bg2"/>
                </a:solidFill>
                <a:uFillTx/>
              </a:rPr>
              <a:t>难问题），若是，能否为其找到近似多项式阶的解。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7200" y="1686560"/>
            <a:ext cx="324231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>
                <a:solidFill>
                  <a:schemeClr val="bg2"/>
                </a:solidFill>
                <a:uFillTx/>
                <a:sym typeface="+mn-ea"/>
              </a:rPr>
              <a:t>何谓</a:t>
            </a:r>
            <a:r>
              <a:rPr lang="en-US" altLang="zh-CN" b="1">
                <a:solidFill>
                  <a:srgbClr val="FF0000"/>
                </a:solidFill>
                <a:uFillTx/>
                <a:sym typeface="+mn-ea"/>
              </a:rPr>
              <a:t>“</a:t>
            </a:r>
            <a:r>
              <a:rPr lang="zh-CN" altLang="en-US" b="1" u="sng">
                <a:solidFill>
                  <a:schemeClr val="accent6"/>
                </a:solidFill>
                <a:uFillTx/>
                <a:sym typeface="+mn-ea"/>
              </a:rPr>
              <a:t>恰当的</a:t>
            </a:r>
            <a:r>
              <a:rPr lang="zh-CN" altLang="en-US" b="1">
                <a:solidFill>
                  <a:srgbClr val="FF0000"/>
                </a:solidFill>
                <a:uFillTx/>
                <a:sym typeface="+mn-ea"/>
              </a:rPr>
              <a:t>算法策略</a:t>
            </a:r>
            <a:r>
              <a:rPr lang="en-US" altLang="zh-CN" b="1">
                <a:solidFill>
                  <a:srgbClr val="FF0000"/>
                </a:solidFill>
                <a:uFillTx/>
                <a:sym typeface="+mn-ea"/>
              </a:rPr>
              <a:t>”</a:t>
            </a:r>
          </a:p>
        </p:txBody>
      </p:sp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9084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7200" y="2136775"/>
            <a:ext cx="8382000" cy="1353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chemeClr val="bg2"/>
                </a:solidFill>
                <a:uFillTx/>
                <a:sym typeface="+mn-ea"/>
              </a:rPr>
              <a:t>例</a:t>
            </a:r>
            <a:r>
              <a:rPr lang="en-US" altLang="zh-CN" b="1">
                <a:solidFill>
                  <a:schemeClr val="bg2"/>
                </a:solidFill>
                <a:uFillTx/>
                <a:sym typeface="+mn-ea"/>
              </a:rPr>
              <a:t>3</a:t>
            </a:r>
            <a:r>
              <a:rPr lang="zh-CN" altLang="en-US" b="1">
                <a:solidFill>
                  <a:schemeClr val="bg2"/>
                </a:solidFill>
                <a:uFillTx/>
                <a:sym typeface="+mn-ea"/>
              </a:rPr>
              <a:t>：硬币找零问题</a:t>
            </a:r>
          </a:p>
          <a:p>
            <a:pPr>
              <a:spcBef>
                <a:spcPts val="1200"/>
              </a:spcBef>
            </a:pPr>
            <a:r>
              <a:rPr lang="zh-CN" altLang="en-US" b="1">
                <a:solidFill>
                  <a:schemeClr val="bg2"/>
                </a:solidFill>
                <a:uFillTx/>
                <a:sym typeface="+mn-ea"/>
              </a:rPr>
              <a:t>（</a:t>
            </a:r>
            <a:r>
              <a:rPr lang="en-US" altLang="zh-CN" b="1">
                <a:solidFill>
                  <a:schemeClr val="bg2"/>
                </a:solidFill>
                <a:uFillTx/>
                <a:sym typeface="+mn-ea"/>
              </a:rPr>
              <a:t>1</a:t>
            </a:r>
            <a:r>
              <a:rPr lang="zh-CN" altLang="en-US" b="1">
                <a:solidFill>
                  <a:schemeClr val="bg2"/>
                </a:solidFill>
                <a:uFillTx/>
                <a:sym typeface="+mn-ea"/>
              </a:rPr>
              <a:t>）情形</a:t>
            </a:r>
            <a:r>
              <a:rPr lang="en-US" altLang="zh-CN" b="1">
                <a:solidFill>
                  <a:schemeClr val="bg2"/>
                </a:solidFill>
                <a:uFillTx/>
                <a:sym typeface="+mn-ea"/>
              </a:rPr>
              <a:t>1</a:t>
            </a:r>
            <a:r>
              <a:rPr lang="zh-CN" altLang="en-US" b="1">
                <a:solidFill>
                  <a:schemeClr val="bg2"/>
                </a:solidFill>
                <a:uFillTx/>
                <a:sym typeface="+mn-ea"/>
              </a:rPr>
              <a:t>：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若某国的币种如下：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100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、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50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、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20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、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10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、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5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、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2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、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1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，请给出发放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140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元的最少张数。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5465" y="3520440"/>
            <a:ext cx="8053705" cy="1506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dirty="0">
                <a:solidFill>
                  <a:schemeClr val="bg2"/>
                </a:solidFill>
                <a:uFillTx/>
                <a:sym typeface="+mn-ea"/>
              </a:rPr>
              <a:t>使用</a:t>
            </a:r>
            <a:r>
              <a:rPr lang="zh-CN" altLang="en-US" dirty="0">
                <a:solidFill>
                  <a:srgbClr val="FF0000"/>
                </a:solidFill>
                <a:uFillTx/>
                <a:sym typeface="+mn-ea"/>
              </a:rPr>
              <a:t>贪心策略</a:t>
            </a:r>
            <a:r>
              <a:rPr lang="zh-CN" altLang="en-US" dirty="0">
                <a:solidFill>
                  <a:schemeClr val="bg2"/>
                </a:solidFill>
                <a:uFillTx/>
                <a:sym typeface="+mn-ea"/>
              </a:rPr>
              <a:t>实现：</a:t>
            </a:r>
          </a:p>
          <a:p>
            <a:pPr>
              <a:spcBef>
                <a:spcPts val="1200"/>
              </a:spcBef>
            </a:pPr>
            <a:r>
              <a:rPr lang="zh-CN" altLang="en-US" dirty="0">
                <a:solidFill>
                  <a:schemeClr val="bg2"/>
                </a:solidFill>
                <a:uFillTx/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uFillTx/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uFillTx/>
                <a:sym typeface="+mn-ea"/>
              </a:rPr>
              <a:t>）将所有的币</a:t>
            </a:r>
            <a:r>
              <a:rPr lang="zh-CN" altLang="en-US" dirty="0" smtClean="0">
                <a:solidFill>
                  <a:schemeClr val="bg2"/>
                </a:solidFill>
                <a:uFillTx/>
                <a:sym typeface="+mn-ea"/>
              </a:rPr>
              <a:t>种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降序</a:t>
            </a:r>
            <a:r>
              <a:rPr lang="zh-CN" altLang="en-US" dirty="0" smtClean="0">
                <a:solidFill>
                  <a:schemeClr val="bg2"/>
                </a:solidFill>
                <a:uFillTx/>
                <a:sym typeface="+mn-ea"/>
              </a:rPr>
              <a:t>序</a:t>
            </a:r>
            <a:r>
              <a:rPr lang="zh-CN" altLang="en-US" dirty="0">
                <a:solidFill>
                  <a:schemeClr val="bg2"/>
                </a:solidFill>
                <a:uFillTx/>
                <a:sym typeface="+mn-ea"/>
              </a:rPr>
              <a:t>排列。</a:t>
            </a:r>
          </a:p>
          <a:p>
            <a:pPr>
              <a:spcBef>
                <a:spcPts val="1200"/>
              </a:spcBef>
            </a:pPr>
            <a:r>
              <a:rPr lang="zh-CN" altLang="en-US" dirty="0">
                <a:solidFill>
                  <a:schemeClr val="bg2"/>
                </a:solidFill>
                <a:uFillTx/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uFillTx/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uFillTx/>
                <a:sym typeface="+mn-ea"/>
              </a:rPr>
              <a:t>）尽可能多的选择币种最大的构成问题的解。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62305" y="5047615"/>
            <a:ext cx="418465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问题的解：</a:t>
            </a:r>
            <a:r>
              <a:rPr lang="en-US" altLang="zh-CN">
                <a:solidFill>
                  <a:srgbClr val="FF0000"/>
                </a:solidFill>
                <a:uFillTx/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uFillTx/>
                <a:sym typeface="+mn-ea"/>
              </a:rPr>
              <a:t>张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100+</a:t>
            </a:r>
            <a:r>
              <a:rPr lang="en-US" altLang="zh-CN">
                <a:solidFill>
                  <a:srgbClr val="FF0000"/>
                </a:solidFill>
                <a:uFillTx/>
                <a:sym typeface="+mn-ea"/>
              </a:rPr>
              <a:t>2</a:t>
            </a:r>
            <a:r>
              <a:rPr lang="zh-CN" altLang="en-US">
                <a:solidFill>
                  <a:srgbClr val="FF0000"/>
                </a:solidFill>
                <a:uFillTx/>
                <a:sym typeface="+mn-ea"/>
              </a:rPr>
              <a:t>张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20=3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张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74040" y="5579745"/>
            <a:ext cx="8025130" cy="82994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可以证明，对于上述币种，任何给定的数值使用贪心策略均能找到最优解。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  <p:bldP spid="7" grpId="0"/>
      <p:bldP spid="7" grpId="1"/>
      <p:bldP spid="8" grpId="0" bldLvl="0" animBg="1"/>
      <p:bldP spid="8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9084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7200" y="1785620"/>
            <a:ext cx="815848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chemeClr val="bg2"/>
                </a:solidFill>
                <a:uFillTx/>
                <a:sym typeface="+mn-ea"/>
              </a:rPr>
              <a:t>（</a:t>
            </a:r>
            <a:r>
              <a:rPr lang="en-US" altLang="zh-CN" b="1">
                <a:solidFill>
                  <a:schemeClr val="bg2"/>
                </a:solidFill>
                <a:uFillTx/>
                <a:sym typeface="+mn-ea"/>
              </a:rPr>
              <a:t>2</a:t>
            </a:r>
            <a:r>
              <a:rPr lang="zh-CN" altLang="en-US" b="1">
                <a:solidFill>
                  <a:schemeClr val="bg2"/>
                </a:solidFill>
                <a:uFillTx/>
                <a:sym typeface="+mn-ea"/>
              </a:rPr>
              <a:t>）情形</a:t>
            </a:r>
            <a:r>
              <a:rPr lang="en-US" altLang="zh-CN" b="1">
                <a:solidFill>
                  <a:schemeClr val="bg2"/>
                </a:solidFill>
                <a:uFillTx/>
                <a:sym typeface="+mn-ea"/>
              </a:rPr>
              <a:t>2</a:t>
            </a:r>
            <a:r>
              <a:rPr lang="zh-CN" altLang="en-US" b="1">
                <a:solidFill>
                  <a:schemeClr val="bg2"/>
                </a:solidFill>
                <a:uFillTx/>
                <a:sym typeface="+mn-ea"/>
              </a:rPr>
              <a:t>：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若某国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有下列面值硬币（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25,10,1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），请给出找回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30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分对应的最少硬币方案：</a:t>
            </a:r>
            <a:endParaRPr lang="zh-CN" altLang="en-US">
              <a:solidFill>
                <a:schemeClr val="bg2"/>
              </a:solidFill>
              <a:uFillTx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0550" y="2894330"/>
            <a:ext cx="78701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使用贪心策略实现：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枚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25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分，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枚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分，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合计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枚</a:t>
            </a:r>
            <a:endParaRPr lang="zh-CN" altLang="en-US" b="1" dirty="0">
              <a:solidFill>
                <a:srgbClr val="FF0000"/>
              </a:solidFill>
              <a:uFillTx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1670" y="4382770"/>
            <a:ext cx="8025130" cy="46037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情形</a:t>
            </a:r>
            <a:r>
              <a:rPr lang="en-US" altLang="zh-CN">
                <a:solidFill>
                  <a:schemeClr val="bg2"/>
                </a:solidFill>
              </a:rPr>
              <a:t>2</a:t>
            </a:r>
            <a:r>
              <a:rPr lang="zh-CN" altLang="en-US">
                <a:solidFill>
                  <a:schemeClr val="bg2"/>
                </a:solidFill>
              </a:rPr>
              <a:t>的求解策略：动态规划策略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8170" y="3531870"/>
            <a:ext cx="4772025" cy="5708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7940" lvl="1" indent="-14605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Arial" panose="020B0604020202020204" pitchFamily="34" charset="0"/>
            </a:pP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问题的最优解：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枚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10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分，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合计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61670" y="5158105"/>
            <a:ext cx="8025130" cy="46037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结论：为解决的问题选择</a:t>
            </a:r>
            <a:r>
              <a:rPr lang="zh-CN" altLang="en-US" b="1">
                <a:solidFill>
                  <a:srgbClr val="FF0000"/>
                </a:solidFill>
              </a:rPr>
              <a:t>恰当的算法策略</a:t>
            </a:r>
            <a:r>
              <a:rPr lang="zh-CN" altLang="en-US">
                <a:solidFill>
                  <a:schemeClr val="bg2"/>
                </a:solidFill>
              </a:rPr>
              <a:t>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 animBg="1"/>
      <p:bldP spid="8" grpId="1" animBg="1"/>
      <p:bldP spid="4" grpId="0"/>
      <p:bldP spid="4" grpId="1"/>
      <p:bldP spid="9" grpId="0" animBg="1"/>
      <p:bldP spid="9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9084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9405" y="1626870"/>
            <a:ext cx="81584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>
                <a:solidFill>
                  <a:schemeClr val="bg2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问题计算复杂度的界定：排序问题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9405" y="2148840"/>
            <a:ext cx="81584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bg2"/>
                </a:solidFill>
                <a:uFillTx/>
                <a:sym typeface="+mn-ea"/>
              </a:rPr>
              <a:t>数据结构中研究的排序方法</a:t>
            </a: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540" y="2670810"/>
            <a:ext cx="6271895" cy="362966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9084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67005" y="1730375"/>
            <a:ext cx="86258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bg2"/>
                </a:solidFill>
                <a:uFillTx/>
                <a:sym typeface="+mn-ea"/>
              </a:rPr>
              <a:t>例</a:t>
            </a:r>
            <a:r>
              <a:rPr lang="en-US" altLang="zh-CN" sz="2800">
                <a:solidFill>
                  <a:schemeClr val="bg2"/>
                </a:solidFill>
                <a:uFillTx/>
                <a:sym typeface="+mn-ea"/>
              </a:rPr>
              <a:t>4</a:t>
            </a:r>
            <a:r>
              <a:rPr lang="zh-CN" altLang="en-US" sz="2800">
                <a:solidFill>
                  <a:schemeClr val="bg2"/>
                </a:solidFill>
                <a:uFillTx/>
                <a:sym typeface="+mn-ea"/>
              </a:rPr>
              <a:t>：根据实例分析每种排序方法的实现过程</a:t>
            </a: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" y="2252345"/>
            <a:ext cx="6524625" cy="897890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135" y="5505450"/>
            <a:ext cx="5480685" cy="5505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8360" y="5523865"/>
            <a:ext cx="7950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bg2"/>
                </a:solidFill>
              </a:rPr>
              <a:t>输出</a:t>
            </a:r>
          </a:p>
        </p:txBody>
      </p:sp>
      <p:sp>
        <p:nvSpPr>
          <p:cNvPr id="8" name="下箭头 7"/>
          <p:cNvSpPr/>
          <p:nvPr/>
        </p:nvSpPr>
        <p:spPr>
          <a:xfrm>
            <a:off x="2628265" y="2997200"/>
            <a:ext cx="215900" cy="2592070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44165" y="3909695"/>
            <a:ext cx="7950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bg2"/>
                </a:solidFill>
              </a:rPr>
              <a:t>排序</a:t>
            </a:r>
          </a:p>
        </p:txBody>
      </p:sp>
      <p:sp>
        <p:nvSpPr>
          <p:cNvPr id="12" name="右箭头 11"/>
          <p:cNvSpPr/>
          <p:nvPr/>
        </p:nvSpPr>
        <p:spPr>
          <a:xfrm>
            <a:off x="3564255" y="4077335"/>
            <a:ext cx="603250" cy="144145"/>
          </a:xfrm>
          <a:prstGeom prst="rightArrow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058285" y="3018790"/>
            <a:ext cx="2019300" cy="248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bg2"/>
                </a:solidFill>
              </a:rPr>
              <a:t>插入排序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bg2"/>
                </a:solidFill>
              </a:rPr>
              <a:t>冒泡排序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bg2"/>
                </a:solidFill>
              </a:rPr>
              <a:t>快速排序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bg2"/>
                </a:solidFill>
              </a:rPr>
              <a:t>堆排序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bg2"/>
                </a:solidFill>
              </a:rPr>
              <a:t>二分归并排序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 animBg="1"/>
      <p:bldP spid="8" grpId="1" animBg="1"/>
      <p:bldP spid="9" grpId="0"/>
      <p:bldP spid="9" grpId="1"/>
      <p:bldP spid="12" grpId="0" animBg="1"/>
      <p:bldP spid="12" grpId="1" animBg="1"/>
      <p:bldP spid="13" grpId="0"/>
      <p:bldP spid="1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9084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5445" y="1634490"/>
            <a:ext cx="830135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-266700">
              <a:buFont typeface="Arial" panose="020B0604020202020204" pitchFamily="34" charset="0"/>
              <a:buChar char="•"/>
            </a:pPr>
            <a:r>
              <a:rPr lang="zh-CN" altLang="en-US" b="1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  <a:sym typeface="+mn-ea"/>
              </a:rPr>
              <a:t>问题计算复杂度的界定：</a:t>
            </a:r>
            <a:r>
              <a:rPr lang="zh-CN" altLang="en-US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  <a:sym typeface="+mn-ea"/>
              </a:rPr>
              <a:t>解决同一类问题采用的不同策略进行效率分析。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3575" y="2587625"/>
            <a:ext cx="78892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Arial" panose="020B0604020202020204" pitchFamily="34" charset="0"/>
            </a:pPr>
            <a:r>
              <a:rPr lang="zh-CN" altLang="en-US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  <a:sym typeface="+mn-ea"/>
              </a:rPr>
              <a:t>针对排序问题：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02335" y="3716020"/>
            <a:ext cx="42335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哪个排序算法效率最高？</a:t>
            </a: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120" y="2587625"/>
            <a:ext cx="2438400" cy="1428115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120" y="4015740"/>
            <a:ext cx="2462530" cy="10274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73125" y="5278755"/>
            <a:ext cx="7038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是否可找到更好的、效率更高的排序算法？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8" grpId="0"/>
      <p:bldP spid="8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9084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9405" y="1642110"/>
            <a:ext cx="81584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>
                <a:solidFill>
                  <a:schemeClr val="bg2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计算复杂性理论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9405" y="2205990"/>
            <a:ext cx="81584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例题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5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：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NP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难问题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1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：货郎问题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19405" y="2690495"/>
            <a:ext cx="8509000" cy="1353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（</a:t>
            </a:r>
            <a:r>
              <a:rPr lang="en-US" altLang="zh-CN">
                <a:solidFill>
                  <a:schemeClr val="bg2"/>
                </a:solidFill>
              </a:rPr>
              <a:t>1</a:t>
            </a:r>
            <a:r>
              <a:rPr lang="zh-CN" altLang="en-US">
                <a:solidFill>
                  <a:schemeClr val="bg2"/>
                </a:solidFill>
              </a:rPr>
              <a:t>）问题描述：有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个城市，已知任两个城市之间的距离（</a:t>
            </a:r>
            <a:r>
              <a:rPr lang="zh-CN" altLang="en-US">
                <a:solidFill>
                  <a:schemeClr val="bg2"/>
                </a:solidFill>
                <a:latin typeface="华文楷体" panose="02010600040101010101" charset="-122"/>
                <a:ea typeface="华文楷体" panose="02010600040101010101" charset="-122"/>
              </a:rPr>
              <a:t>图的存储：邻接表、邻接矩阵</a:t>
            </a:r>
            <a:r>
              <a:rPr lang="zh-CN" altLang="en-US">
                <a:solidFill>
                  <a:schemeClr val="bg2"/>
                </a:solidFill>
              </a:rPr>
              <a:t>）。 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（</a:t>
            </a:r>
            <a:r>
              <a:rPr lang="en-US" altLang="zh-CN">
                <a:solidFill>
                  <a:schemeClr val="bg2"/>
                </a:solidFill>
              </a:rPr>
              <a:t>2</a:t>
            </a:r>
            <a:r>
              <a:rPr lang="zh-CN" altLang="en-US">
                <a:solidFill>
                  <a:schemeClr val="bg2"/>
                </a:solidFill>
              </a:rPr>
              <a:t>）求一条每个城市恰好经过1次的回路，使得总长度最小。</a:t>
            </a: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495" y="4001770"/>
            <a:ext cx="3924300" cy="27336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 uiExpand="1" build="p"/>
      <p:bldP spid="4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9084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49885" y="1680845"/>
            <a:ext cx="81584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问题建模</a:t>
            </a: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25" y="2202815"/>
            <a:ext cx="7213600" cy="1523365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30" y="3797935"/>
            <a:ext cx="6184265" cy="182943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5" y="5501640"/>
            <a:ext cx="6144260" cy="6635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328035" y="1872615"/>
            <a:ext cx="40735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7030A0"/>
                </a:solidFill>
              </a:rPr>
              <a:t>排列问题，复杂度为：</a:t>
            </a:r>
            <a:r>
              <a:rPr lang="en-US" altLang="zh-CN" sz="2800" b="1">
                <a:solidFill>
                  <a:srgbClr val="7030A0"/>
                </a:solidFill>
              </a:rPr>
              <a:t>n!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4645" y="1650365"/>
            <a:ext cx="81584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例题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6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：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NP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难问题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2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：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0-1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背包问题</a:t>
            </a:r>
          </a:p>
        </p:txBody>
      </p:sp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9084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5445" y="2183765"/>
            <a:ext cx="830135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1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）问题描述：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有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n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个件物品要装入背包，第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i 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件物品的重量 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w</a:t>
            </a:r>
            <a:r>
              <a:rPr i="1" baseline="-25000">
                <a:solidFill>
                  <a:schemeClr val="bg2"/>
                </a:solidFill>
                <a:uFillTx/>
                <a:sym typeface="+mn-ea"/>
              </a:rPr>
              <a:t>i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, 价值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v</a:t>
            </a:r>
            <a:r>
              <a:rPr b="1" i="1" baseline="-25000">
                <a:solidFill>
                  <a:schemeClr val="bg2"/>
                </a:solidFill>
                <a:uFillTx/>
                <a:sym typeface="+mn-ea"/>
              </a:rPr>
              <a:t>i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，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i=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1,2,…,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n</a:t>
            </a:r>
            <a:r>
              <a:rPr lang="zh-CN">
                <a:solidFill>
                  <a:schemeClr val="bg2"/>
                </a:solidFill>
                <a:uFillTx/>
                <a:sym typeface="+mn-ea"/>
              </a:rPr>
              <a:t>。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 背包最多允许装入的重量为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B</a:t>
            </a:r>
            <a:r>
              <a:rPr lang="zh-CN">
                <a:solidFill>
                  <a:schemeClr val="bg2"/>
                </a:solidFill>
                <a:uFillTx/>
                <a:sym typeface="+mn-ea"/>
              </a:rPr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06400" y="3093085"/>
            <a:ext cx="83013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2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）求解：如何选择装</a:t>
            </a:r>
            <a:r>
              <a:rPr lang="zh-CN">
                <a:solidFill>
                  <a:schemeClr val="bg2"/>
                </a:solidFill>
                <a:uFillTx/>
                <a:sym typeface="+mn-ea"/>
              </a:rPr>
              <a:t>入背包的物品，使得总价值达到最大</a:t>
            </a: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205" y="3737610"/>
            <a:ext cx="6185535" cy="229997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9084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56565" y="1644650"/>
            <a:ext cx="81584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问题建模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7200" y="2248535"/>
            <a:ext cx="81584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1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）输入：</a:t>
            </a:r>
            <a:r>
              <a:rPr lang="en-US" altLang="zh-CN" b="1" i="1">
                <a:solidFill>
                  <a:schemeClr val="bg2"/>
                </a:solidFill>
                <a:uFillTx/>
                <a:sym typeface="+mn-ea"/>
              </a:rPr>
              <a:t>n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个物品的重量</a:t>
            </a:r>
            <a:r>
              <a:rPr lang="en-US" altLang="zh-CN" b="1" i="1">
                <a:solidFill>
                  <a:schemeClr val="bg2"/>
                </a:solidFill>
                <a:uFillTx/>
                <a:sym typeface="+mn-ea"/>
              </a:rPr>
              <a:t>w</a:t>
            </a:r>
            <a:r>
              <a:rPr lang="en-US" altLang="zh-CN" b="1" i="1" baseline="-25000">
                <a:solidFill>
                  <a:schemeClr val="bg2"/>
                </a:solidFill>
                <a:uFillTx/>
                <a:sym typeface="+mn-ea"/>
              </a:rPr>
              <a:t>i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与价值</a:t>
            </a:r>
            <a:r>
              <a:rPr lang="en-US" altLang="zh-CN" b="1" i="1">
                <a:solidFill>
                  <a:schemeClr val="bg2"/>
                </a:solidFill>
                <a:uFillTx/>
                <a:sym typeface="+mn-ea"/>
              </a:rPr>
              <a:t>v</a:t>
            </a:r>
            <a:r>
              <a:rPr lang="en-US" altLang="zh-CN" b="1" i="1" baseline="-25000">
                <a:solidFill>
                  <a:schemeClr val="bg2"/>
                </a:solidFill>
                <a:uFillTx/>
                <a:sym typeface="+mn-ea"/>
              </a:rPr>
              <a:t>i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6565" y="2770505"/>
            <a:ext cx="81584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（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2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）问题的解：</a:t>
            </a:r>
            <a:endParaRPr lang="zh-CN" altLang="en-US" b="1" i="1" baseline="-25000">
              <a:solidFill>
                <a:schemeClr val="bg2"/>
              </a:solidFill>
              <a:uFillTx/>
              <a:sym typeface="+mn-ea"/>
            </a:endParaRP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775" y="2770505"/>
            <a:ext cx="3804285" cy="1080770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335" y="3793490"/>
            <a:ext cx="5979160" cy="24511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606800" y="1726565"/>
            <a:ext cx="40640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7030A0"/>
                </a:solidFill>
              </a:rPr>
              <a:t>子集问题，复杂度为：</a:t>
            </a:r>
            <a:r>
              <a:rPr lang="en-US" altLang="zh-CN" sz="2800" b="1">
                <a:solidFill>
                  <a:srgbClr val="7030A0"/>
                </a:solidFill>
              </a:rPr>
              <a:t>2</a:t>
            </a:r>
            <a:r>
              <a:rPr lang="en-US" altLang="zh-CN" sz="2800" b="1" baseline="30000">
                <a:solidFill>
                  <a:srgbClr val="7030A0"/>
                </a:solidFill>
              </a:rPr>
              <a:t>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7" grpId="0"/>
      <p:bldP spid="7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4645" y="1722120"/>
            <a:ext cx="81584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例题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7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：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NP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难问题</a:t>
            </a:r>
            <a:r>
              <a:rPr lang="en-US" altLang="zh-CN">
                <a:solidFill>
                  <a:schemeClr val="bg2"/>
                </a:solidFill>
                <a:uFillTx/>
                <a:sym typeface="+mn-ea"/>
              </a:rPr>
              <a:t>3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：双机调度问题</a:t>
            </a:r>
          </a:p>
        </p:txBody>
      </p:sp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9084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7200" y="2244090"/>
            <a:ext cx="84588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 b="1">
                <a:solidFill>
                  <a:schemeClr val="bg1">
                    <a:lumMod val="60000"/>
                    <a:lumOff val="40000"/>
                  </a:schemeClr>
                </a:solidFill>
                <a:uFillTx/>
                <a:sym typeface="+mn-ea"/>
              </a:rPr>
              <a:t>（</a:t>
            </a:r>
            <a:r>
              <a:rPr lang="en-US" altLang="zh-CN" b="1">
                <a:solidFill>
                  <a:schemeClr val="bg1">
                    <a:lumMod val="60000"/>
                    <a:lumOff val="40000"/>
                  </a:schemeClr>
                </a:solidFill>
                <a:uFillTx/>
                <a:sym typeface="+mn-ea"/>
              </a:rPr>
              <a:t>1</a:t>
            </a:r>
            <a:r>
              <a:rPr lang="zh-CN" altLang="en-US" b="1">
                <a:solidFill>
                  <a:schemeClr val="bg1">
                    <a:lumMod val="60000"/>
                    <a:lumOff val="40000"/>
                  </a:schemeClr>
                </a:solidFill>
                <a:uFillTx/>
                <a:sym typeface="+mn-ea"/>
              </a:rPr>
              <a:t>）问题描述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：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有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n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项任务, 任务 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i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 的加工时间为 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t</a:t>
            </a:r>
            <a:r>
              <a:rPr b="1" i="1" baseline="-25000">
                <a:solidFill>
                  <a:schemeClr val="bg2"/>
                </a:solidFill>
                <a:uFillTx/>
                <a:sym typeface="+mn-ea"/>
              </a:rPr>
              <a:t>i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 , 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t</a:t>
            </a:r>
            <a:r>
              <a:rPr b="1" i="1" baseline="-25000">
                <a:solidFill>
                  <a:schemeClr val="bg2"/>
                </a:solidFill>
                <a:uFillTx/>
                <a:sym typeface="+mn-ea"/>
              </a:rPr>
              <a:t>i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 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∈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Z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+, 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i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=1,2,…,</a:t>
            </a:r>
            <a:r>
              <a:rPr b="1" i="1">
                <a:solidFill>
                  <a:schemeClr val="bg2"/>
                </a:solidFill>
                <a:uFillTx/>
                <a:sym typeface="+mn-ea"/>
              </a:rPr>
              <a:t>n</a:t>
            </a:r>
            <a:r>
              <a:rPr lang="zh-CN">
                <a:solidFill>
                  <a:schemeClr val="bg2"/>
                </a:solidFill>
                <a:uFillTx/>
                <a:sym typeface="+mn-ea"/>
              </a:rPr>
              <a:t>。</a:t>
            </a:r>
            <a:r>
              <a:rPr>
                <a:solidFill>
                  <a:schemeClr val="bg2"/>
                </a:solidFill>
                <a:uFillTx/>
                <a:sym typeface="+mn-ea"/>
              </a:rPr>
              <a:t> 用两台相同的机器加工，从0时刻开始计时，完成时间是后停止加工机器的停机时间.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06400" y="3595370"/>
            <a:ext cx="830135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 b="1">
                <a:solidFill>
                  <a:schemeClr val="bg1">
                    <a:lumMod val="60000"/>
                    <a:lumOff val="40000"/>
                  </a:schemeClr>
                </a:solidFill>
                <a:uFillTx/>
                <a:sym typeface="+mn-ea"/>
              </a:rPr>
              <a:t>（</a:t>
            </a:r>
            <a:r>
              <a:rPr lang="en-US" altLang="zh-CN" b="1">
                <a:solidFill>
                  <a:schemeClr val="bg1">
                    <a:lumMod val="60000"/>
                    <a:lumOff val="40000"/>
                  </a:schemeClr>
                </a:solidFill>
                <a:uFillTx/>
                <a:sym typeface="+mn-ea"/>
              </a:rPr>
              <a:t>2</a:t>
            </a:r>
            <a:r>
              <a:rPr lang="zh-CN" altLang="en-US" b="1">
                <a:solidFill>
                  <a:schemeClr val="bg1">
                    <a:lumMod val="60000"/>
                    <a:lumOff val="40000"/>
                  </a:schemeClr>
                </a:solidFill>
                <a:uFillTx/>
                <a:sym typeface="+mn-ea"/>
              </a:rPr>
              <a:t>）求解：</a:t>
            </a:r>
            <a:r>
              <a:rPr lang="zh-CN">
                <a:solidFill>
                  <a:schemeClr val="bg2"/>
                </a:solidFill>
                <a:uFillTx/>
                <a:sym typeface="+mn-ea"/>
              </a:rPr>
              <a:t>问如何把这些任务分配到两台机器上，使得完成时间达到最小？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1"/>
      <p:bldP spid="4" grpId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9084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7205"/>
            <a:ext cx="6363335" cy="1054100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10" y="3229610"/>
            <a:ext cx="5572760" cy="115443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" y="4796790"/>
            <a:ext cx="6918960" cy="52514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9084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35" y="2260600"/>
            <a:ext cx="6891020" cy="1148715"/>
          </a:xfrm>
          <a:prstGeom prst="rect">
            <a:avLst/>
          </a:prstGeom>
        </p:spPr>
      </p:pic>
      <p:pic>
        <p:nvPicPr>
          <p:cNvPr id="3" name="20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59810"/>
            <a:ext cx="6758940" cy="1527175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307330"/>
            <a:ext cx="562610" cy="7175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529080" y="5476875"/>
            <a:ext cx="61817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chemeClr val="bg2"/>
                </a:solidFill>
              </a:rPr>
              <a:t>思考：目标函数与约束条件是什么？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05435" y="1738630"/>
            <a:ext cx="62001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bg2"/>
                </a:solidFill>
              </a:rPr>
              <a:t>问题建模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1.1 </a:t>
            </a:r>
            <a:r>
              <a:rPr lang="zh-CN" altLang="en-US" sz="4000" b="1" dirty="0">
                <a:solidFill>
                  <a:srgbClr val="C00000"/>
                </a:solidFill>
              </a:rPr>
              <a:t>有关算法的基本概念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57200" y="1645285"/>
            <a:ext cx="8084185" cy="40309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NP-hard</a:t>
            </a:r>
            <a:r>
              <a:rPr lang="zh-CN" altLang="en-US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问题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altLang="zh-CN">
                <a:solidFill>
                  <a:schemeClr val="bg2"/>
                </a:solidFill>
              </a:rPr>
              <a:t>(1) 这样的问题有数千个，大量存在于各</a:t>
            </a:r>
            <a:r>
              <a:rPr lang="zh-CN" altLang="en-US">
                <a:solidFill>
                  <a:schemeClr val="bg2"/>
                </a:solidFill>
              </a:rPr>
              <a:t>个应用领域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altLang="zh-CN">
                <a:solidFill>
                  <a:schemeClr val="bg2"/>
                </a:solidFill>
              </a:rPr>
              <a:t>(2) 至今没找到有效算法：现有的算法的运行时间是输入规模的指数或更高阶函数</a:t>
            </a:r>
            <a:r>
              <a:rPr lang="zh-CN" altLang="en-US">
                <a:solidFill>
                  <a:schemeClr val="bg2"/>
                </a:solidFill>
              </a:rPr>
              <a:t>。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altLang="zh-CN">
                <a:solidFill>
                  <a:schemeClr val="bg2"/>
                </a:solidFill>
              </a:rPr>
              <a:t>(3) 至今没有人能够证明对于这类问题不存在多项式时间的算法</a:t>
            </a:r>
            <a:r>
              <a:rPr lang="zh-CN" altLang="en-US">
                <a:solidFill>
                  <a:schemeClr val="bg2"/>
                </a:solidFill>
              </a:rPr>
              <a:t>。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altLang="zh-CN">
                <a:solidFill>
                  <a:schemeClr val="bg2"/>
                </a:solidFill>
              </a:rPr>
              <a:t>(4) 从是否存在多项式时间算法的角度</a:t>
            </a:r>
            <a:r>
              <a:rPr lang="zh-CN" altLang="en-US">
                <a:solidFill>
                  <a:schemeClr val="bg2"/>
                </a:solidFill>
              </a:rPr>
              <a:t>看，这数千个</a:t>
            </a:r>
            <a:r>
              <a:rPr lang="en-US" altLang="zh-CN">
                <a:solidFill>
                  <a:schemeClr val="bg2"/>
                </a:solidFill>
              </a:rPr>
              <a:t>NP</a:t>
            </a:r>
            <a:r>
              <a:rPr lang="zh-CN" altLang="en-US">
                <a:solidFill>
                  <a:schemeClr val="bg2"/>
                </a:solidFill>
              </a:rPr>
              <a:t>难问题彼此是等价的。 若一个</a:t>
            </a:r>
            <a:r>
              <a:rPr lang="en-US" altLang="zh-CN">
                <a:solidFill>
                  <a:schemeClr val="bg2"/>
                </a:solidFill>
              </a:rPr>
              <a:t>NP</a:t>
            </a:r>
            <a:r>
              <a:rPr lang="zh-CN" altLang="en-US">
                <a:solidFill>
                  <a:schemeClr val="bg2"/>
                </a:solidFill>
              </a:rPr>
              <a:t>难问题存在多项式时间，则这些问题的难度处于可有效计算的边界。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nimBg="1"/>
      <p:bldP spid="2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INEDINNAVIGATOR" val="True"/>
  <p:tag name="HOTSPOTTYPE" val="DefinedInNavigator"/>
  <p:tag name="BRANCHTO" val="25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690,&quot;width&quot;:6810}"/>
</p:tagLst>
</file>

<file path=ppt/theme/theme1.xml><?xml version="1.0" encoding="utf-8"?>
<a:theme xmlns:a="http://schemas.openxmlformats.org/drawingml/2006/main" name="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12</TotalTime>
  <Words>1828</Words>
  <Application>Microsoft Office PowerPoint</Application>
  <PresentationFormat>全屏显示(4:3)</PresentationFormat>
  <Paragraphs>191</Paragraphs>
  <Slides>30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3" baseType="lpstr">
      <vt:lpstr>个人主页 (标准)</vt:lpstr>
      <vt:lpstr>1_个人主页 (标准)</vt:lpstr>
      <vt:lpstr>Microsoft 公式 3.0</vt:lpstr>
      <vt:lpstr>算法设计与分析</vt:lpstr>
      <vt:lpstr>课程简介</vt:lpstr>
      <vt:lpstr>课程简介</vt:lpstr>
      <vt:lpstr>课程简介</vt:lpstr>
      <vt:lpstr>第1章   基础知识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  <vt:lpstr>1.1 有关算法的基本概念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FY</cp:lastModifiedBy>
  <cp:revision>885</cp:revision>
  <cp:lastPrinted>1995-12-08T18:33:00Z</cp:lastPrinted>
  <dcterms:created xsi:type="dcterms:W3CDTF">2000-10-31T09:27:00Z</dcterms:created>
  <dcterms:modified xsi:type="dcterms:W3CDTF">2021-08-29T15:14:37Z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