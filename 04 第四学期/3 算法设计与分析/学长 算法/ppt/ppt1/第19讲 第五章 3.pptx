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487" r:id="rId3"/>
    <p:sldId id="488" r:id="rId4"/>
    <p:sldId id="489" r:id="rId5"/>
    <p:sldId id="490" r:id="rId6"/>
    <p:sldId id="491" r:id="rId7"/>
    <p:sldId id="492" r:id="rId8"/>
    <p:sldId id="497" r:id="rId9"/>
    <p:sldId id="493" r:id="rId10"/>
    <p:sldId id="494" r:id="rId11"/>
    <p:sldId id="495" r:id="rId12"/>
    <p:sldId id="531" r:id="rId13"/>
    <p:sldId id="533" r:id="rId14"/>
    <p:sldId id="535" r:id="rId15"/>
    <p:sldId id="536" r:id="rId16"/>
    <p:sldId id="537" r:id="rId17"/>
    <p:sldId id="538" r:id="rId18"/>
    <p:sldId id="539" r:id="rId19"/>
    <p:sldId id="540" r:id="rId20"/>
    <p:sldId id="541" r:id="rId21"/>
    <p:sldId id="542" r:id="rId22"/>
    <p:sldId id="543" r:id="rId23"/>
    <p:sldId id="544" r:id="rId24"/>
    <p:sldId id="545" r:id="rId25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561" r:id="rId41"/>
  </p:sldIdLst>
  <p:sldSz cx="9144000" cy="6858000" type="screen4x3"/>
  <p:notesSz cx="6934200" cy="9398000"/>
  <p:custDataLst>
    <p:tags r:id="rId4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FF"/>
    <a:srgbClr val="CC0099"/>
    <a:srgbClr val="CCCCFF"/>
    <a:srgbClr val="CC99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696" y="-96"/>
      </p:cViewPr>
      <p:guideLst>
        <p:guide orient="horz" pos="2128"/>
        <p:guide pos="29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kern="12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kern="12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1"/>
          <a:srcRect b="75552"/>
          <a:stretch>
            <a:fillRect/>
          </a:stretch>
        </p:blipFill>
        <p:spPr>
          <a:xfrm>
            <a:off x="1909445" y="1695028"/>
            <a:ext cx="5324475" cy="1145708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 rotWithShape="1">
          <a:blip r:embed="rId1"/>
          <a:srcRect t="83976"/>
          <a:stretch>
            <a:fillRect/>
          </a:stretch>
        </p:blipFill>
        <p:spPr>
          <a:xfrm>
            <a:off x="1979711" y="5661248"/>
            <a:ext cx="5324475" cy="750972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1"/>
          <a:srcRect t="24918" b="44155"/>
          <a:stretch>
            <a:fillRect/>
          </a:stretch>
        </p:blipFill>
        <p:spPr>
          <a:xfrm>
            <a:off x="1979712" y="2924944"/>
            <a:ext cx="5324475" cy="1449336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 rotWithShape="1">
          <a:blip r:embed="rId1"/>
          <a:srcRect t="59373" b="17993"/>
          <a:stretch>
            <a:fillRect/>
          </a:stretch>
        </p:blipFill>
        <p:spPr>
          <a:xfrm>
            <a:off x="1990368" y="4509120"/>
            <a:ext cx="5324475" cy="1060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7865" y="1731010"/>
            <a:ext cx="5095875" cy="4181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110" y="1694815"/>
            <a:ext cx="5238750" cy="4505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110" y="1694815"/>
            <a:ext cx="5238750" cy="4505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030" y="1624330"/>
            <a:ext cx="495300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370" y="1725295"/>
            <a:ext cx="5762625" cy="394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4" y="1662269"/>
            <a:ext cx="5934075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590" y="1992213"/>
            <a:ext cx="5686425" cy="4029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120" y="1837690"/>
            <a:ext cx="5334000" cy="3590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5.3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回溯算法的效率估计和改进途径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760" y="1688465"/>
            <a:ext cx="5505450" cy="3762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095" y="1604645"/>
            <a:ext cx="851979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zh-CN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分支限界法是回溯法的变种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，用于求解组合优化问题。</a:t>
            </a:r>
            <a:endParaRPr lang="zh-CN" altLang="en-US" dirty="0" smtClean="0">
              <a:solidFill>
                <a:schemeClr val="bg2"/>
              </a:solidFill>
              <a:latin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分支限界法实现的核心：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设计合适的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代价函数（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限界函数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）</a:t>
            </a:r>
            <a:endParaRPr lang="zh-CN" altLang="en-US" b="1" dirty="0" smtClean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  <a:sym typeface="+mn-ea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92760" y="2581910"/>
            <a:ext cx="8007350" cy="2755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marL="342900" indent="-342900" algn="just">
              <a:lnSpc>
                <a:spcPct val="120000"/>
              </a:lnSpc>
              <a:spcBef>
                <a:spcPts val="5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使用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代价函数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在搜索树的每个结点处计算该结点的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代价值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（即在最理想情况下，以该结点为根的子树能达到的最优值）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5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在搜索解空间树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时，若某个结点的代价值不比已经求得的当前最优解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（界）</a:t>
            </a:r>
            <a:r>
              <a:rPr lang="zh-CN" altLang="en-US" b="1" dirty="0" smtClean="0">
                <a:solidFill>
                  <a:schemeClr val="bg2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好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，则可以将以该结点为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根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的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  <a:sym typeface="+mn-ea"/>
              </a:rPr>
              <a:t>子树剪枝，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从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而提高搜索效率。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51520" y="1615346"/>
            <a:ext cx="8245163" cy="1050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zh-CN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代价函数设计难以找出通用的方法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需根据具体问题来分析。一般地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先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要确定问题解的特性</a:t>
            </a:r>
            <a:r>
              <a:rPr lang="zh-CN" altLang="en-US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 smtClean="0">
              <a:solidFill>
                <a:srgbClr val="0000FF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71690" y="3102610"/>
            <a:ext cx="624205" cy="2094865"/>
            <a:chOff x="8072462" y="3143248"/>
            <a:chExt cx="428628" cy="1928826"/>
          </a:xfrm>
        </p:grpSpPr>
        <p:sp>
          <p:nvSpPr>
            <p:cNvPr id="7" name="椭圆 6"/>
            <p:cNvSpPr/>
            <p:nvPr/>
          </p:nvSpPr>
          <p:spPr>
            <a:xfrm>
              <a:off x="8072462" y="314324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altLang="zh-CN" sz="2000" i="1" dirty="0" err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altLang="zh-CN" sz="2000" i="1" baseline="-25000" dirty="0" err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endParaRPr lang="zh-CN" altLang="en-US" sz="2000" i="1" baseline="-25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8072462" y="4572008"/>
              <a:ext cx="428628" cy="500066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altLang="zh-CN" sz="20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altLang="zh-CN" sz="2000" i="1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0" name="直接箭头连接符 9"/>
            <p:cNvCxnSpPr>
              <a:stCxn id="7" idx="4"/>
              <a:endCxn id="8" idx="0"/>
            </p:cNvCxnSpPr>
            <p:nvPr/>
          </p:nvCxnSpPr>
          <p:spPr>
            <a:xfrm rot="5400000">
              <a:off x="7822429" y="4107661"/>
              <a:ext cx="9286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5"/>
          <p:cNvSpPr txBox="1"/>
          <p:nvPr/>
        </p:nvSpPr>
        <p:spPr>
          <a:xfrm>
            <a:off x="539115" y="2807970"/>
            <a:ext cx="5869305" cy="22053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p>
            <a:pPr marL="457200" indent="-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Blip>
                <a:blip r:embed="rId1"/>
              </a:buBlip>
            </a:pPr>
            <a:r>
              <a:rPr lang="zh-CN" altLang="zh-CN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目标函数是求</a:t>
            </a:r>
            <a:r>
              <a:rPr lang="zh-CN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最小值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则设计</a:t>
            </a:r>
            <a:r>
              <a:rPr lang="zh-CN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下界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代价函数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lb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的双亲结点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应满足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≤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当找到一个可行解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将所有大于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的结点剪枝。</a:t>
            </a:r>
            <a:endParaRPr lang="zh-CN" altLang="zh-CN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t="5691"/>
          <a:stretch>
            <a:fillRect/>
          </a:stretch>
        </p:blipFill>
        <p:spPr>
          <a:xfrm>
            <a:off x="1917065" y="3643630"/>
            <a:ext cx="5054600" cy="2241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960" y="1630680"/>
            <a:ext cx="8035290" cy="17252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Blip>
                <a:blip r:embed="rId2"/>
              </a:buBlip>
            </a:pPr>
            <a:r>
              <a:rPr lang="zh-CN" altLang="zh-CN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目标函数是求最大值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则设计</a:t>
            </a:r>
            <a:r>
              <a:rPr lang="zh-CN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上界</a:t>
            </a:r>
            <a:r>
              <a:rPr lang="zh-CN" altLang="zh-CN" dirty="0" smtClean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代价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ub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的双亲结点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应满足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当找到一个可行解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将所有上界小于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ub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的结点剪枝。</a:t>
            </a:r>
            <a:endParaRPr lang="zh-CN" altLang="zh-CN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68889"/>
          <a:stretch>
            <a:fillRect/>
          </a:stretch>
        </p:blipFill>
        <p:spPr>
          <a:xfrm>
            <a:off x="1394460" y="1649095"/>
            <a:ext cx="5524500" cy="153797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49159" b="38780"/>
          <a:stretch>
            <a:fillRect/>
          </a:stretch>
        </p:blipFill>
        <p:spPr>
          <a:xfrm>
            <a:off x="1394460" y="4060825"/>
            <a:ext cx="5524500" cy="59626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34502" b="49120"/>
          <a:stretch>
            <a:fillRect/>
          </a:stretch>
        </p:blipFill>
        <p:spPr>
          <a:xfrm>
            <a:off x="1394460" y="3322955"/>
            <a:ext cx="5524500" cy="80962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1"/>
          <a:srcRect t="60231" r="12276"/>
          <a:stretch>
            <a:fillRect/>
          </a:stretch>
        </p:blipFill>
        <p:spPr>
          <a:xfrm>
            <a:off x="1733550" y="4689475"/>
            <a:ext cx="4846320" cy="1965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t="3098" b="45212"/>
          <a:stretch>
            <a:fillRect/>
          </a:stretch>
        </p:blipFill>
        <p:spPr>
          <a:xfrm>
            <a:off x="1876425" y="1678305"/>
            <a:ext cx="5391150" cy="243713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58330"/>
          <a:stretch>
            <a:fillRect/>
          </a:stretch>
        </p:blipFill>
        <p:spPr>
          <a:xfrm>
            <a:off x="1820545" y="4339590"/>
            <a:ext cx="5391150" cy="1964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36823"/>
          <a:stretch>
            <a:fillRect/>
          </a:stretch>
        </p:blipFill>
        <p:spPr>
          <a:xfrm>
            <a:off x="1882140" y="1689100"/>
            <a:ext cx="5267325" cy="282829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68667"/>
          <a:stretch>
            <a:fillRect/>
          </a:stretch>
        </p:blipFill>
        <p:spPr>
          <a:xfrm>
            <a:off x="1882140" y="4735830"/>
            <a:ext cx="5267325" cy="1402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179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61481"/>
          <a:stretch>
            <a:fillRect/>
          </a:stretch>
        </p:blipFill>
        <p:spPr>
          <a:xfrm>
            <a:off x="1809750" y="1640205"/>
            <a:ext cx="5524500" cy="175006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40349" b="46122"/>
          <a:stretch>
            <a:fillRect/>
          </a:stretch>
        </p:blipFill>
        <p:spPr>
          <a:xfrm>
            <a:off x="1809750" y="3462020"/>
            <a:ext cx="5524500" cy="61468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53990"/>
          <a:stretch>
            <a:fillRect/>
          </a:stretch>
        </p:blipFill>
        <p:spPr>
          <a:xfrm>
            <a:off x="1809115" y="4076700"/>
            <a:ext cx="5524500" cy="2090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54481"/>
          <a:stretch>
            <a:fillRect/>
          </a:stretch>
        </p:blipFill>
        <p:spPr>
          <a:xfrm>
            <a:off x="1886585" y="1617980"/>
            <a:ext cx="5257800" cy="211582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62978"/>
          <a:stretch>
            <a:fillRect/>
          </a:stretch>
        </p:blipFill>
        <p:spPr>
          <a:xfrm>
            <a:off x="2159000" y="4507865"/>
            <a:ext cx="5257800" cy="172085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46093" b="35792"/>
          <a:stretch>
            <a:fillRect/>
          </a:stretch>
        </p:blipFill>
        <p:spPr>
          <a:xfrm>
            <a:off x="2170430" y="3733800"/>
            <a:ext cx="5257800" cy="842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46372"/>
          <a:stretch>
            <a:fillRect/>
          </a:stretch>
        </p:blipFill>
        <p:spPr>
          <a:xfrm>
            <a:off x="2001520" y="1664335"/>
            <a:ext cx="5029200" cy="231394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84901"/>
          <a:stretch>
            <a:fillRect/>
          </a:stretch>
        </p:blipFill>
        <p:spPr>
          <a:xfrm>
            <a:off x="2057400" y="4205605"/>
            <a:ext cx="5029200" cy="651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/>
          <p:nvPr/>
        </p:nvGraphicFramePr>
        <p:xfrm>
          <a:off x="1511935" y="2277110"/>
          <a:ext cx="6329680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6324600" imgH="4371975" progId="Paint.Picture">
                  <p:embed/>
                </p:oleObj>
              </mc:Choice>
              <mc:Fallback>
                <p:oleObj name="" r:id="rId1" imgW="6324600" imgH="4371975" progId="Paint.Picture">
                  <p:embed/>
                  <p:pic>
                    <p:nvPicPr>
                      <p:cNvPr id="0" name="20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1935" y="2277110"/>
                        <a:ext cx="6329680" cy="437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3"/>
          <a:srcRect b="84499"/>
          <a:stretch>
            <a:fillRect/>
          </a:stretch>
        </p:blipFill>
        <p:spPr>
          <a:xfrm>
            <a:off x="1355090" y="1588770"/>
            <a:ext cx="6320790" cy="80073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3"/>
          <a:srcRect l="78190" t="15378" r="3056" b="70424"/>
          <a:stretch>
            <a:fillRect/>
          </a:stretch>
        </p:blipFill>
        <p:spPr>
          <a:xfrm>
            <a:off x="6663055" y="2277110"/>
            <a:ext cx="1056005" cy="653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220" y="1710690"/>
            <a:ext cx="5067300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75044"/>
          <a:stretch>
            <a:fillRect/>
          </a:stretch>
        </p:blipFill>
        <p:spPr>
          <a:xfrm>
            <a:off x="1805940" y="1668145"/>
            <a:ext cx="5419725" cy="115760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25339" b="50842"/>
          <a:stretch>
            <a:fillRect/>
          </a:stretch>
        </p:blipFill>
        <p:spPr>
          <a:xfrm>
            <a:off x="1805940" y="2825750"/>
            <a:ext cx="5419725" cy="110490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70595"/>
          <a:stretch>
            <a:fillRect/>
          </a:stretch>
        </p:blipFill>
        <p:spPr>
          <a:xfrm>
            <a:off x="1805940" y="4813935"/>
            <a:ext cx="5419725" cy="136398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1"/>
          <a:srcRect t="51266" b="31937"/>
          <a:stretch>
            <a:fillRect/>
          </a:stretch>
        </p:blipFill>
        <p:spPr>
          <a:xfrm>
            <a:off x="1862455" y="4034790"/>
            <a:ext cx="5419725" cy="779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56175"/>
          <a:stretch>
            <a:fillRect/>
          </a:stretch>
        </p:blipFill>
        <p:spPr>
          <a:xfrm>
            <a:off x="1612900" y="1617980"/>
            <a:ext cx="5562600" cy="203708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45833" b="36762"/>
          <a:stretch>
            <a:fillRect/>
          </a:stretch>
        </p:blipFill>
        <p:spPr>
          <a:xfrm>
            <a:off x="1612900" y="3676650"/>
            <a:ext cx="5562600" cy="80899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63934"/>
          <a:stretch>
            <a:fillRect/>
          </a:stretch>
        </p:blipFill>
        <p:spPr>
          <a:xfrm>
            <a:off x="1762125" y="4485640"/>
            <a:ext cx="55626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63613"/>
          <a:stretch>
            <a:fillRect/>
          </a:stretch>
        </p:blipFill>
        <p:spPr>
          <a:xfrm>
            <a:off x="1834515" y="1704340"/>
            <a:ext cx="5362575" cy="169481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38500"/>
          <a:stretch>
            <a:fillRect/>
          </a:stretch>
        </p:blipFill>
        <p:spPr>
          <a:xfrm>
            <a:off x="1819275" y="3474720"/>
            <a:ext cx="5362575" cy="2864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61670"/>
          <a:stretch>
            <a:fillRect/>
          </a:stretch>
        </p:blipFill>
        <p:spPr>
          <a:xfrm>
            <a:off x="1862455" y="1652905"/>
            <a:ext cx="5419725" cy="177800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38166" b="16619"/>
          <a:stretch>
            <a:fillRect/>
          </a:stretch>
        </p:blipFill>
        <p:spPr>
          <a:xfrm>
            <a:off x="1877695" y="3359150"/>
            <a:ext cx="5419725" cy="209740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83559"/>
          <a:stretch>
            <a:fillRect/>
          </a:stretch>
        </p:blipFill>
        <p:spPr>
          <a:xfrm>
            <a:off x="1862455" y="5551170"/>
            <a:ext cx="5419725" cy="762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57926"/>
          <a:stretch>
            <a:fillRect/>
          </a:stretch>
        </p:blipFill>
        <p:spPr>
          <a:xfrm>
            <a:off x="1647190" y="1600200"/>
            <a:ext cx="5305425" cy="198374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69966"/>
          <a:stretch>
            <a:fillRect/>
          </a:stretch>
        </p:blipFill>
        <p:spPr>
          <a:xfrm>
            <a:off x="1575435" y="4779645"/>
            <a:ext cx="5305425" cy="141605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45010" b="33845"/>
          <a:stretch>
            <a:fillRect/>
          </a:stretch>
        </p:blipFill>
        <p:spPr>
          <a:xfrm>
            <a:off x="1647190" y="3655695"/>
            <a:ext cx="5305425" cy="996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35296"/>
          <a:stretch>
            <a:fillRect/>
          </a:stretch>
        </p:blipFill>
        <p:spPr>
          <a:xfrm>
            <a:off x="1976755" y="1687195"/>
            <a:ext cx="5191125" cy="274256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69169"/>
          <a:stretch>
            <a:fillRect/>
          </a:stretch>
        </p:blipFill>
        <p:spPr>
          <a:xfrm>
            <a:off x="1976755" y="4682490"/>
            <a:ext cx="5191125" cy="1306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52594"/>
          <a:stretch>
            <a:fillRect/>
          </a:stretch>
        </p:blipFill>
        <p:spPr>
          <a:xfrm>
            <a:off x="1609725" y="1621155"/>
            <a:ext cx="5514975" cy="207708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49565" b="21305"/>
          <a:stretch>
            <a:fillRect/>
          </a:stretch>
        </p:blipFill>
        <p:spPr>
          <a:xfrm>
            <a:off x="1609725" y="3849370"/>
            <a:ext cx="5514975" cy="127635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83608" b="-5333"/>
          <a:stretch>
            <a:fillRect/>
          </a:stretch>
        </p:blipFill>
        <p:spPr>
          <a:xfrm>
            <a:off x="1527810" y="5125720"/>
            <a:ext cx="5514975" cy="951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195" y="1639570"/>
            <a:ext cx="4752975" cy="48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75" y="1672590"/>
            <a:ext cx="5886450" cy="4781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420" y="1788795"/>
            <a:ext cx="4962525" cy="409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580" y="1794510"/>
            <a:ext cx="53721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58181"/>
          <a:stretch>
            <a:fillRect/>
          </a:stretch>
        </p:blipFill>
        <p:spPr>
          <a:xfrm>
            <a:off x="1872615" y="1783715"/>
            <a:ext cx="5286375" cy="186817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67235"/>
          <a:stretch>
            <a:fillRect/>
          </a:stretch>
        </p:blipFill>
        <p:spPr>
          <a:xfrm>
            <a:off x="1872615" y="4759325"/>
            <a:ext cx="5286375" cy="146367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43767" b="35849"/>
          <a:stretch>
            <a:fillRect/>
          </a:stretch>
        </p:blipFill>
        <p:spPr>
          <a:xfrm>
            <a:off x="1872615" y="3723640"/>
            <a:ext cx="5286375" cy="910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65984"/>
          <a:stretch>
            <a:fillRect/>
          </a:stretch>
        </p:blipFill>
        <p:spPr>
          <a:xfrm>
            <a:off x="2011045" y="1670050"/>
            <a:ext cx="5010150" cy="164592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35052"/>
          <a:stretch>
            <a:fillRect/>
          </a:stretch>
        </p:blipFill>
        <p:spPr>
          <a:xfrm>
            <a:off x="1948180" y="3260090"/>
            <a:ext cx="5010150" cy="3142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1335" y="1686560"/>
            <a:ext cx="5448300" cy="4391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740" y="1730375"/>
            <a:ext cx="5572125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310" y="1710055"/>
            <a:ext cx="5086350" cy="4676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1704975"/>
            <a:ext cx="4962525" cy="3448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5918" y="368077"/>
            <a:ext cx="8240395" cy="70053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4000" dirty="0" smtClean="0">
                <a:solidFill>
                  <a:schemeClr val="accent2"/>
                </a:solidFill>
                <a:sym typeface="+mn-ea"/>
              </a:rPr>
              <a:t>5.4 </a:t>
            </a:r>
            <a:r>
              <a:rPr kumimoji="0" lang="zh-CN" altLang="en-US" sz="4000" dirty="0" smtClean="0">
                <a:solidFill>
                  <a:schemeClr val="accent2"/>
                </a:solidFill>
                <a:sym typeface="+mn-ea"/>
              </a:rPr>
              <a:t>分支限界</a:t>
            </a:r>
            <a:endParaRPr kumimoji="0" lang="zh-CN" altLang="en-US" sz="4000" kern="1200" dirty="0" smtClean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205" y="1695450"/>
            <a:ext cx="5133975" cy="346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790</Words>
  <Application>WPS 演示</Application>
  <PresentationFormat>全屏显示(4:3)</PresentationFormat>
  <Paragraphs>94</Paragraphs>
  <Slides>39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Arial</vt:lpstr>
      <vt:lpstr>宋体</vt:lpstr>
      <vt:lpstr>Wingdings</vt:lpstr>
      <vt:lpstr>Times New Roman</vt:lpstr>
      <vt:lpstr>微软雅黑</vt:lpstr>
      <vt:lpstr>Arial Unicode MS</vt:lpstr>
      <vt:lpstr>Wingdings</vt:lpstr>
      <vt:lpstr>Consolas</vt:lpstr>
      <vt:lpstr>1_个人主页 (标准)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1196</cp:revision>
  <cp:lastPrinted>1995-12-08T18:33:00Z</cp:lastPrinted>
  <dcterms:created xsi:type="dcterms:W3CDTF">2000-10-31T09:27:00Z</dcterms:created>
  <dcterms:modified xsi:type="dcterms:W3CDTF">2021-06-07T11:56:51Z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  <property fmtid="{D5CDD505-2E9C-101B-9397-08002B2CF9AE}" pid="3" name="ICV">
    <vt:lpwstr>D97091215E3244AD96003C13B13EF2B1</vt:lpwstr>
  </property>
</Properties>
</file>