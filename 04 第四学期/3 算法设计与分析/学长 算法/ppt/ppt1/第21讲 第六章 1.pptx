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3"/>
  </p:notesMasterIdLst>
  <p:handoutMasterIdLst>
    <p:handoutMasterId r:id="rId64"/>
  </p:handoutMasterIdLst>
  <p:sldIdLst>
    <p:sldId id="428" r:id="rId2"/>
    <p:sldId id="430" r:id="rId3"/>
    <p:sldId id="429" r:id="rId4"/>
    <p:sldId id="431" r:id="rId5"/>
    <p:sldId id="432" r:id="rId6"/>
    <p:sldId id="433" r:id="rId7"/>
    <p:sldId id="434" r:id="rId8"/>
    <p:sldId id="435" r:id="rId9"/>
    <p:sldId id="436" r:id="rId10"/>
    <p:sldId id="437" r:id="rId11"/>
    <p:sldId id="438" r:id="rId12"/>
    <p:sldId id="439" r:id="rId13"/>
    <p:sldId id="440" r:id="rId14"/>
    <p:sldId id="441" r:id="rId15"/>
    <p:sldId id="442" r:id="rId16"/>
    <p:sldId id="443" r:id="rId17"/>
    <p:sldId id="444" r:id="rId18"/>
    <p:sldId id="445" r:id="rId19"/>
    <p:sldId id="448" r:id="rId20"/>
    <p:sldId id="446" r:id="rId21"/>
    <p:sldId id="447" r:id="rId22"/>
    <p:sldId id="452" r:id="rId23"/>
    <p:sldId id="514" r:id="rId24"/>
    <p:sldId id="454" r:id="rId25"/>
    <p:sldId id="455" r:id="rId26"/>
    <p:sldId id="456" r:id="rId27"/>
    <p:sldId id="457" r:id="rId28"/>
    <p:sldId id="460" r:id="rId29"/>
    <p:sldId id="461" r:id="rId30"/>
    <p:sldId id="462" r:id="rId31"/>
    <p:sldId id="463" r:id="rId32"/>
    <p:sldId id="467" r:id="rId33"/>
    <p:sldId id="466" r:id="rId34"/>
    <p:sldId id="464" r:id="rId35"/>
    <p:sldId id="465" r:id="rId36"/>
    <p:sldId id="468" r:id="rId37"/>
    <p:sldId id="469" r:id="rId38"/>
    <p:sldId id="470" r:id="rId39"/>
    <p:sldId id="471" r:id="rId40"/>
    <p:sldId id="472" r:id="rId41"/>
    <p:sldId id="473" r:id="rId42"/>
    <p:sldId id="474" r:id="rId43"/>
    <p:sldId id="475" r:id="rId44"/>
    <p:sldId id="476" r:id="rId45"/>
    <p:sldId id="477" r:id="rId46"/>
    <p:sldId id="511" r:id="rId47"/>
    <p:sldId id="512" r:id="rId48"/>
    <p:sldId id="513" r:id="rId49"/>
    <p:sldId id="480" r:id="rId50"/>
    <p:sldId id="515" r:id="rId51"/>
    <p:sldId id="516" r:id="rId52"/>
    <p:sldId id="517" r:id="rId53"/>
    <p:sldId id="518" r:id="rId54"/>
    <p:sldId id="519" r:id="rId55"/>
    <p:sldId id="520" r:id="rId56"/>
    <p:sldId id="521" r:id="rId57"/>
    <p:sldId id="524" r:id="rId58"/>
    <p:sldId id="525" r:id="rId59"/>
    <p:sldId id="526" r:id="rId60"/>
    <p:sldId id="527" r:id="rId61"/>
    <p:sldId id="528" r:id="rId62"/>
  </p:sldIdLst>
  <p:sldSz cx="9144000" cy="6858000" type="screen4x3"/>
  <p:notesSz cx="6934200" cy="9398000"/>
  <p:custDataLst>
    <p:tags r:id="rId65"/>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38CC04"/>
    <a:srgbClr val="CC0099"/>
    <a:srgbClr val="FFCCFF"/>
    <a:srgbClr val="CCCCFF"/>
    <a:srgbClr val="CC99FF"/>
    <a:srgbClr val="CCECFF"/>
    <a:srgbClr val="DFC0FF"/>
    <a:srgbClr val="90D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7" autoAdjust="0"/>
    <p:restoredTop sz="94659" autoAdjust="0"/>
  </p:normalViewPr>
  <p:slideViewPr>
    <p:cSldViewPr showGuides="1">
      <p:cViewPr varScale="1">
        <p:scale>
          <a:sx n="63" d="100"/>
          <a:sy n="63" d="100"/>
        </p:scale>
        <p:origin x="-954" y="-108"/>
      </p:cViewPr>
      <p:guideLst>
        <p:guide orient="horz" pos="2169"/>
        <p:guide pos="297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36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4"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image" Target="../media/image28.wmf"/><Relationship Id="rId7" Type="http://schemas.openxmlformats.org/officeDocument/2006/relationships/image" Target="../media/image32.wmf"/><Relationship Id="rId2" Type="http://schemas.openxmlformats.org/officeDocument/2006/relationships/image" Target="../media/image27.wmf"/><Relationship Id="rId1" Type="http://schemas.openxmlformats.org/officeDocument/2006/relationships/image" Target="../media/image26.wmf"/><Relationship Id="rId6" Type="http://schemas.openxmlformats.org/officeDocument/2006/relationships/image" Target="../media/image31.wmf"/><Relationship Id="rId5" Type="http://schemas.openxmlformats.org/officeDocument/2006/relationships/image" Target="../media/image30.wmf"/><Relationship Id="rId10" Type="http://schemas.openxmlformats.org/officeDocument/2006/relationships/image" Target="../media/image35.wmf"/><Relationship Id="rId4" Type="http://schemas.openxmlformats.org/officeDocument/2006/relationships/image" Target="../media/image29.wmf"/><Relationship Id="rId9" Type="http://schemas.openxmlformats.org/officeDocument/2006/relationships/image" Target="../media/image34.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34.wmf"/><Relationship Id="rId1" Type="http://schemas.openxmlformats.org/officeDocument/2006/relationships/image" Target="../media/image27.wmf"/><Relationship Id="rId4" Type="http://schemas.openxmlformats.org/officeDocument/2006/relationships/image" Target="../media/image3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5" name="Rectangle 3"/>
          <p:cNvSpPr>
            <a:spLocks noGrp="1" noChangeArrowheads="1"/>
          </p:cNvSpPr>
          <p:nvPr>
            <p:ph type="dt" sz="quarter" idx="1"/>
          </p:nvPr>
        </p:nvSpPr>
        <p:spPr bwMode="auto">
          <a:xfrm>
            <a:off x="39624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6" name="Rectangle 4"/>
          <p:cNvSpPr>
            <a:spLocks noGrp="1" noChangeArrowheads="1"/>
          </p:cNvSpPr>
          <p:nvPr>
            <p:ph type="ftr" sz="quarter" idx="2"/>
          </p:nvPr>
        </p:nvSpPr>
        <p:spPr bwMode="auto">
          <a:xfrm>
            <a:off x="0" y="8915400"/>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7" name="Rectangle 5"/>
          <p:cNvSpPr>
            <a:spLocks noGrp="1" noChangeArrowheads="1"/>
          </p:cNvSpPr>
          <p:nvPr>
            <p:ph type="sldNum" sz="quarter" idx="3"/>
          </p:nvPr>
        </p:nvSpPr>
        <p:spPr bwMode="auto">
          <a:xfrm>
            <a:off x="3962400" y="8915400"/>
            <a:ext cx="2971800" cy="457200"/>
          </a:xfrm>
          <a:prstGeom prst="rect">
            <a:avLst/>
          </a:prstGeom>
          <a:noFill/>
          <a:ln>
            <a:noFill/>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t>‹#›</a:t>
            </a:fld>
            <a:endParaRPr lang="zh-CN" altLang="en-US" sz="1200" dirty="0"/>
          </a:p>
        </p:txBody>
      </p:sp>
    </p:spTree>
    <p:extLst>
      <p:ext uri="{BB962C8B-B14F-4D97-AF65-F5344CB8AC3E}">
        <p14:creationId xmlns:p14="http://schemas.microsoft.com/office/powerpoint/2010/main" val="7427557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kumimoji="0"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Rot="1" noChangeAspect="1"/>
          </p:cNvSpPr>
          <p:nvPr>
            <p:ph type="sldImg" idx="2"/>
          </p:nvPr>
        </p:nvSpPr>
        <p:spPr>
          <a:xfrm>
            <a:off x="1079500" y="685800"/>
            <a:ext cx="4775200" cy="3581400"/>
          </a:xfrm>
          <a:prstGeom prst="rect">
            <a:avLst/>
          </a:prstGeom>
          <a:noFill/>
          <a:ln w="9525" cap="flat" cmpd="sng">
            <a:solidFill>
              <a:srgbClr val="000000"/>
            </a:solidFill>
            <a:prstDash val="solid"/>
            <a:miter/>
            <a:headEnd type="none" w="med" len="med"/>
            <a:tailEnd type="none" w="med" len="med"/>
          </a:ln>
        </p:spPr>
      </p:sp>
      <p:sp>
        <p:nvSpPr>
          <p:cNvPr id="2052" name="Rectangle 4"/>
          <p:cNvSpPr>
            <a:spLocks noGrp="1" noChangeArrowheads="1"/>
          </p:cNvSpPr>
          <p:nvPr>
            <p:ph type="body" sz="quarter" idx="3"/>
          </p:nvPr>
        </p:nvSpPr>
        <p:spPr bwMode="auto">
          <a:xfrm>
            <a:off x="914400" y="4495800"/>
            <a:ext cx="5105400" cy="41910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2053" name="Rectangle 5"/>
          <p:cNvSpPr>
            <a:spLocks noGrp="1" noChangeArrowheads="1"/>
          </p:cNvSpPr>
          <p:nvPr>
            <p:ph type="dt" idx="1"/>
          </p:nvPr>
        </p:nvSpPr>
        <p:spPr bwMode="auto">
          <a:xfrm>
            <a:off x="39624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kumimoji="0"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8915400"/>
            <a:ext cx="2971800" cy="457200"/>
          </a:xfrm>
          <a:prstGeom prst="rect">
            <a:avLst/>
          </a:prstGeom>
          <a:noFill/>
          <a:ln>
            <a:noFill/>
          </a:ln>
          <a:effectLst/>
        </p:spPr>
        <p:txBody>
          <a:bodyPr vert="horz" wrap="square" lIns="91440" tIns="45720" rIns="91440" bIns="45720" numCol="1" anchor="b" anchorCtr="0" compatLnSpc="1"/>
          <a:lstStyle>
            <a:lvl1pPr eaLnBrk="1" hangingPunct="1">
              <a:defRPr kumimoji="0"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962400" y="8915400"/>
            <a:ext cx="2971800" cy="457200"/>
          </a:xfrm>
          <a:prstGeom prst="rect">
            <a:avLst/>
          </a:prstGeom>
          <a:noFill/>
          <a:ln>
            <a:noFill/>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t>‹#›</a:t>
            </a:fld>
            <a:endParaRPr lang="zh-CN" altLang="en-US" sz="1200" dirty="0"/>
          </a:p>
        </p:txBody>
      </p:sp>
    </p:spTree>
    <p:extLst>
      <p:ext uri="{BB962C8B-B14F-4D97-AF65-F5344CB8AC3E}">
        <p14:creationId xmlns:p14="http://schemas.microsoft.com/office/powerpoint/2010/main" val="2597282280"/>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tx1"/>
        </a:solidFill>
        <a:effectLst/>
      </p:bgPr>
    </p:bg>
    <p:spTree>
      <p:nvGrpSpPr>
        <p:cNvPr id="1" name=""/>
        <p:cNvGrpSpPr/>
        <p:nvPr/>
      </p:nvGrpSpPr>
      <p:grpSpPr>
        <a:xfrm>
          <a:off x="0" y="0"/>
          <a:ext cx="0" cy="0"/>
          <a:chOff x="0" y="0"/>
          <a:chExt cx="0" cy="0"/>
        </a:xfrm>
      </p:grpSpPr>
      <p:sp>
        <p:nvSpPr>
          <p:cNvPr id="19" name="AutoShape 23"/>
          <p:cNvSpPr>
            <a:spLocks noChangeArrowheads="1"/>
          </p:cNvSpPr>
          <p:nvPr/>
        </p:nvSpPr>
        <p:spPr bwMode="auto">
          <a:xfrm rot="20940000">
            <a:off x="1828800" y="304800"/>
            <a:ext cx="457200" cy="457200"/>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AutoShape 24"/>
          <p:cNvSpPr>
            <a:spLocks noChangeArrowheads="1"/>
          </p:cNvSpPr>
          <p:nvPr/>
        </p:nvSpPr>
        <p:spPr bwMode="auto">
          <a:xfrm>
            <a:off x="2609850" y="171450"/>
            <a:ext cx="419100" cy="419100"/>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AutoShape 25"/>
          <p:cNvSpPr>
            <a:spLocks noChangeArrowheads="1"/>
          </p:cNvSpPr>
          <p:nvPr/>
        </p:nvSpPr>
        <p:spPr bwMode="auto">
          <a:xfrm rot="20940000">
            <a:off x="1752600" y="228600"/>
            <a:ext cx="457200" cy="457200"/>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AutoShape 26"/>
          <p:cNvSpPr>
            <a:spLocks noChangeArrowheads="1"/>
          </p:cNvSpPr>
          <p:nvPr/>
        </p:nvSpPr>
        <p:spPr bwMode="auto">
          <a:xfrm>
            <a:off x="2533650" y="19050"/>
            <a:ext cx="419100" cy="419100"/>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054" name="Group 27"/>
          <p:cNvGrpSpPr/>
          <p:nvPr/>
        </p:nvGrpSpPr>
        <p:grpSpPr>
          <a:xfrm>
            <a:off x="6934200" y="5181600"/>
            <a:ext cx="2033588" cy="1219200"/>
            <a:chOff x="4368" y="3264"/>
            <a:chExt cx="1281" cy="768"/>
          </a:xfrm>
        </p:grpSpPr>
        <p:sp>
          <p:nvSpPr>
            <p:cNvPr id="24" name="AutoShape 28"/>
            <p:cNvSpPr>
              <a:spLocks noChangeArrowheads="1"/>
            </p:cNvSpPr>
            <p:nvPr/>
          </p:nvSpPr>
          <p:spPr bwMode="auto">
            <a:xfrm rot="20940000">
              <a:off x="4368" y="3681"/>
              <a:ext cx="288" cy="288"/>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AutoShape 29"/>
            <p:cNvSpPr>
              <a:spLocks noChangeArrowheads="1"/>
            </p:cNvSpPr>
            <p:nvPr/>
          </p:nvSpPr>
          <p:spPr bwMode="auto">
            <a:xfrm>
              <a:off x="4845" y="3324"/>
              <a:ext cx="264" cy="26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AutoShape 30"/>
            <p:cNvSpPr>
              <a:spLocks noChangeArrowheads="1"/>
            </p:cNvSpPr>
            <p:nvPr/>
          </p:nvSpPr>
          <p:spPr bwMode="auto">
            <a:xfrm rot="1320000">
              <a:off x="5217" y="3264"/>
              <a:ext cx="384" cy="38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AutoShape 31"/>
            <p:cNvSpPr>
              <a:spLocks noChangeArrowheads="1"/>
            </p:cNvSpPr>
            <p:nvPr/>
          </p:nvSpPr>
          <p:spPr bwMode="auto">
            <a:xfrm rot="20940000">
              <a:off x="4449" y="3744"/>
              <a:ext cx="288" cy="288"/>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AutoShape 32"/>
            <p:cNvSpPr>
              <a:spLocks noChangeArrowheads="1"/>
            </p:cNvSpPr>
            <p:nvPr/>
          </p:nvSpPr>
          <p:spPr bwMode="auto">
            <a:xfrm>
              <a:off x="4893" y="3372"/>
              <a:ext cx="264" cy="26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AutoShape 33"/>
            <p:cNvSpPr>
              <a:spLocks noChangeArrowheads="1"/>
            </p:cNvSpPr>
            <p:nvPr/>
          </p:nvSpPr>
          <p:spPr bwMode="auto">
            <a:xfrm rot="1320000">
              <a:off x="5265" y="3360"/>
              <a:ext cx="384" cy="38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30" name="AutoShape 34"/>
          <p:cNvSpPr>
            <a:spLocks noChangeArrowheads="1"/>
          </p:cNvSpPr>
          <p:nvPr/>
        </p:nvSpPr>
        <p:spPr bwMode="auto">
          <a:xfrm rot="1320000">
            <a:off x="168275" y="244475"/>
            <a:ext cx="882650" cy="882650"/>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87" name="Rectangle 15"/>
          <p:cNvSpPr>
            <a:spLocks noGrp="1" noChangeArrowheads="1"/>
          </p:cNvSpPr>
          <p:nvPr>
            <p:ph type="subTitle" sz="quarter" idx="1"/>
          </p:nvPr>
        </p:nvSpPr>
        <p:spPr>
          <a:xfrm>
            <a:off x="1371600" y="2667000"/>
            <a:ext cx="6400800" cy="3276600"/>
          </a:xfrm>
        </p:spPr>
        <p:txBody>
          <a:bodyPr anchor="ctr"/>
          <a:lstStyle>
            <a:lvl1pPr marL="0" indent="0" algn="ctr">
              <a:buFont typeface="Wingdings" panose="05000000000000000000" pitchFamily="2" charset="2"/>
              <a:buNone/>
              <a:defRPr/>
            </a:lvl1pPr>
          </a:lstStyle>
          <a:p>
            <a:pPr lvl="0"/>
            <a:r>
              <a:rPr lang="zh-CN" altLang="en-US" noProof="0" smtClean="0"/>
              <a:t>单击此处编辑母版副标题样式</a:t>
            </a:r>
          </a:p>
        </p:txBody>
      </p:sp>
      <p:sp>
        <p:nvSpPr>
          <p:cNvPr id="3091" name="Rectangle 19"/>
          <p:cNvSpPr>
            <a:spLocks noGrp="1" noChangeArrowheads="1"/>
          </p:cNvSpPr>
          <p:nvPr>
            <p:ph type="ctrTitle" sz="quarter"/>
          </p:nvPr>
        </p:nvSpPr>
        <p:spPr>
          <a:xfrm>
            <a:off x="685800" y="914400"/>
            <a:ext cx="7772400" cy="1143000"/>
          </a:xfrm>
        </p:spPr>
        <p:txBody>
          <a:bodyPr/>
          <a:lstStyle>
            <a:lvl1pPr algn="ctr">
              <a:defRPr/>
            </a:lvl1pPr>
          </a:lstStyle>
          <a:p>
            <a:pPr lvl="0"/>
            <a:r>
              <a:rPr lang="zh-CN" altLang="en-US" noProof="0" smtClean="0"/>
              <a:t>单击此处编辑母版标题样式</a:t>
            </a:r>
          </a:p>
        </p:txBody>
      </p:sp>
      <p:sp>
        <p:nvSpPr>
          <p:cNvPr id="31" name="Rectangle 16"/>
          <p:cNvSpPr>
            <a:spLocks noGrp="1" noChangeArrowheads="1"/>
          </p:cNvSpPr>
          <p:nvPr>
            <p:ph type="dt" sz="quarter" idx="2"/>
          </p:nvPr>
        </p:nvSpPr>
        <p:spPr bwMode="auto">
          <a:xfrm>
            <a:off x="76200" y="6323013"/>
            <a:ext cx="1905000" cy="457200"/>
          </a:xfrm>
          <a:prstGeom prst="rect">
            <a:avLst/>
          </a:prstGeom>
        </p:spPr>
        <p:txBody>
          <a:bodyPr vert="horz" wrap="none" lIns="92075" tIns="46038" rIns="92075" bIns="46038"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324600"/>
            <a:ext cx="2895600" cy="457200"/>
          </a:xfrm>
          <a:prstGeom prst="rect">
            <a:avLst/>
          </a:prstGeom>
        </p:spPr>
        <p:txBody>
          <a:bodyPr vert="horz" wrap="none" lIns="92075" tIns="46038" rIns="92075" bIns="46038"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7162800" y="6324600"/>
            <a:ext cx="1905000" cy="457200"/>
          </a:xfrm>
          <a:prstGeom prst="rect">
            <a:avLst/>
          </a:prstGeom>
        </p:spPr>
        <p:txBody>
          <a:bodyPr vert="horz" wrap="none" lIns="92075" tIns="46038" rIns="92075" bIns="46038" numCol="1" anchor="ctr" anchorCtr="0" compatLnSpc="1"/>
          <a:lstStyle/>
          <a:p>
            <a:pPr algn="r" eaLnBrk="1" hangingPunct="1">
              <a:buNone/>
            </a:pPr>
            <a:fld id="{9A0DB2DC-4C9A-4742-B13C-FB6460FD3503}" type="slidenum">
              <a:rPr lang="zh-CN" altLang="en-US" dirty="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20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defRPr/>
            </a:pPr>
            <a:endParaRPr kumimoji="1"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228600"/>
            <a:ext cx="1943100"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228600"/>
            <a:ext cx="5676900" cy="5791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228600"/>
            <a:ext cx="7772400" cy="579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9"/>
          <p:cNvSpPr>
            <a:spLocks noGrp="1"/>
          </p:cNvSpPr>
          <p:nvPr>
            <p:ph type="body" idx="1"/>
          </p:nvPr>
        </p:nvSpPr>
        <p:spPr>
          <a:xfrm>
            <a:off x="685800" y="1905000"/>
            <a:ext cx="7772400" cy="4114800"/>
          </a:xfrm>
          <a:prstGeom prst="rect">
            <a:avLst/>
          </a:prstGeom>
          <a:noFill/>
          <a:ln w="9525">
            <a:noFill/>
          </a:ln>
        </p:spPr>
        <p:txBody>
          <a:bodyPr lIns="92075" tIns="46038" rIns="92075" bIns="46038"/>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34" name="Rectangle 10"/>
          <p:cNvSpPr>
            <a:spLocks noGrp="1" noChangeArrowheads="1"/>
          </p:cNvSpPr>
          <p:nvPr>
            <p:ph type="dt" sz="half" idx="2"/>
          </p:nvPr>
        </p:nvSpPr>
        <p:spPr bwMode="auto">
          <a:xfrm>
            <a:off x="2209800" y="6400800"/>
            <a:ext cx="1905000" cy="457200"/>
          </a:xfrm>
          <a:prstGeom prst="rect">
            <a:avLst/>
          </a:prstGeom>
          <a:noFill/>
          <a:ln>
            <a:noFill/>
          </a:ln>
          <a:effectLst/>
        </p:spPr>
        <p:txBody>
          <a:bodyPr vert="horz" wrap="none" lIns="92075" tIns="46038" rIns="92075" bIns="46038" numCol="1" anchor="ctr" anchorCtr="0" compatLnSpc="1"/>
          <a:lstStyle>
            <a:lvl1pPr eaLnBrk="1" hangingPunct="1">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5" name="Rectangle 11"/>
          <p:cNvSpPr>
            <a:spLocks noGrp="1" noChangeArrowheads="1"/>
          </p:cNvSpPr>
          <p:nvPr>
            <p:ph type="ftr" sz="quarter" idx="3"/>
          </p:nvPr>
        </p:nvSpPr>
        <p:spPr bwMode="auto">
          <a:xfrm>
            <a:off x="4191000" y="6400800"/>
            <a:ext cx="2895600" cy="457200"/>
          </a:xfrm>
          <a:prstGeom prst="rect">
            <a:avLst/>
          </a:prstGeom>
          <a:noFill/>
          <a:ln>
            <a:noFill/>
          </a:ln>
          <a:effectLst/>
        </p:spPr>
        <p:txBody>
          <a:bodyPr vert="horz" wrap="none" lIns="92075" tIns="46038" rIns="92075" bIns="46038" numCol="1" anchor="ctr" anchorCtr="0" compatLnSpc="1"/>
          <a:lstStyle>
            <a:lvl1pPr algn="ctr" eaLnBrk="1" hangingPunct="1">
              <a:defRPr sz="14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6" name="Rectangle 12"/>
          <p:cNvSpPr>
            <a:spLocks noGrp="1" noChangeArrowheads="1"/>
          </p:cNvSpPr>
          <p:nvPr>
            <p:ph type="sldNum" sz="quarter" idx="4"/>
          </p:nvPr>
        </p:nvSpPr>
        <p:spPr bwMode="auto">
          <a:xfrm>
            <a:off x="7162800" y="6324600"/>
            <a:ext cx="1905000" cy="457200"/>
          </a:xfrm>
          <a:prstGeom prst="rect">
            <a:avLst/>
          </a:prstGeom>
          <a:noFill/>
          <a:ln>
            <a:noFill/>
          </a:ln>
          <a:effectLst/>
        </p:spPr>
        <p:txBody>
          <a:bodyPr vert="horz" wrap="none" lIns="92075" tIns="46038" rIns="92075" bIns="46038" numCol="1" anchor="ctr" anchorCtr="0" compatLnSpc="1"/>
          <a:lstStyle>
            <a:lvl1pPr algn="r">
              <a:defRPr sz="1400"/>
            </a:lvl1pPr>
          </a:lstStyle>
          <a:p>
            <a:pPr lvl="0" eaLnBrk="1" hangingPunct="1">
              <a:buNone/>
            </a:pPr>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
        <p:nvSpPr>
          <p:cNvPr id="1030" name="Rectangle 16"/>
          <p:cNvSpPr>
            <a:spLocks noGrp="1"/>
          </p:cNvSpPr>
          <p:nvPr>
            <p:ph type="title"/>
          </p:nvPr>
        </p:nvSpPr>
        <p:spPr>
          <a:xfrm>
            <a:off x="685800" y="228600"/>
            <a:ext cx="7772400" cy="1143000"/>
          </a:xfrm>
          <a:prstGeom prst="rect">
            <a:avLst/>
          </a:prstGeom>
          <a:noFill/>
          <a:ln w="9525">
            <a:noFill/>
          </a:ln>
        </p:spPr>
        <p:txBody>
          <a:bodyPr lIns="92075" tIns="46038" rIns="92075" bIns="46038" anchor="b"/>
          <a:lstStyle/>
          <a:p>
            <a:pPr lvl="0"/>
            <a:r>
              <a:rPr lang="zh-CN" altLang="en-US" dirty="0"/>
              <a:t>单击此处编辑母版标题样式</a:t>
            </a:r>
          </a:p>
        </p:txBody>
      </p:sp>
      <p:grpSp>
        <p:nvGrpSpPr>
          <p:cNvPr id="1031" name="Group 20"/>
          <p:cNvGrpSpPr/>
          <p:nvPr/>
        </p:nvGrpSpPr>
        <p:grpSpPr>
          <a:xfrm>
            <a:off x="6934200" y="5257800"/>
            <a:ext cx="2033588" cy="1219200"/>
            <a:chOff x="4368" y="3312"/>
            <a:chExt cx="1281" cy="768"/>
          </a:xfrm>
        </p:grpSpPr>
        <p:sp>
          <p:nvSpPr>
            <p:cNvPr id="1045" name="AutoShape 21"/>
            <p:cNvSpPr>
              <a:spLocks noChangeArrowheads="1"/>
            </p:cNvSpPr>
            <p:nvPr/>
          </p:nvSpPr>
          <p:spPr bwMode="auto">
            <a:xfrm rot="20940000">
              <a:off x="4368" y="3729"/>
              <a:ext cx="288" cy="288"/>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6" name="AutoShape 22"/>
            <p:cNvSpPr>
              <a:spLocks noChangeArrowheads="1"/>
            </p:cNvSpPr>
            <p:nvPr/>
          </p:nvSpPr>
          <p:spPr bwMode="auto">
            <a:xfrm>
              <a:off x="4845" y="3372"/>
              <a:ext cx="264" cy="26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7" name="AutoShape 23"/>
            <p:cNvSpPr>
              <a:spLocks noChangeArrowheads="1"/>
            </p:cNvSpPr>
            <p:nvPr/>
          </p:nvSpPr>
          <p:spPr bwMode="auto">
            <a:xfrm rot="1320000">
              <a:off x="5217" y="3312"/>
              <a:ext cx="384" cy="38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 name="AutoShape 24"/>
            <p:cNvSpPr>
              <a:spLocks noChangeArrowheads="1"/>
            </p:cNvSpPr>
            <p:nvPr/>
          </p:nvSpPr>
          <p:spPr bwMode="auto">
            <a:xfrm rot="20940000">
              <a:off x="4449" y="3792"/>
              <a:ext cx="288" cy="288"/>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9" name="AutoShape 25"/>
            <p:cNvSpPr>
              <a:spLocks noChangeArrowheads="1"/>
            </p:cNvSpPr>
            <p:nvPr/>
          </p:nvSpPr>
          <p:spPr bwMode="auto">
            <a:xfrm>
              <a:off x="4893" y="3420"/>
              <a:ext cx="264" cy="26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0" name="AutoShape 26"/>
            <p:cNvSpPr>
              <a:spLocks noChangeArrowheads="1"/>
            </p:cNvSpPr>
            <p:nvPr/>
          </p:nvSpPr>
          <p:spPr bwMode="auto">
            <a:xfrm rot="1320000">
              <a:off x="5265" y="3408"/>
              <a:ext cx="384" cy="38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032" name="Group 27"/>
          <p:cNvGrpSpPr/>
          <p:nvPr/>
        </p:nvGrpSpPr>
        <p:grpSpPr>
          <a:xfrm>
            <a:off x="381000" y="1219200"/>
            <a:ext cx="8305800" cy="381000"/>
            <a:chOff x="240" y="768"/>
            <a:chExt cx="5232" cy="240"/>
          </a:xfrm>
        </p:grpSpPr>
        <p:sp>
          <p:nvSpPr>
            <p:cNvPr id="1052" name="Rectangle 28"/>
            <p:cNvSpPr>
              <a:spLocks noChangeArrowheads="1"/>
            </p:cNvSpPr>
            <p:nvPr/>
          </p:nvSpPr>
          <p:spPr bwMode="auto">
            <a:xfrm>
              <a:off x="384" y="912"/>
              <a:ext cx="5088" cy="96"/>
            </a:xfrm>
            <a:prstGeom prst="rect">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3" name="Rectangle 29"/>
            <p:cNvSpPr>
              <a:spLocks noChangeArrowheads="1"/>
            </p:cNvSpPr>
            <p:nvPr/>
          </p:nvSpPr>
          <p:spPr bwMode="auto">
            <a:xfrm>
              <a:off x="240" y="768"/>
              <a:ext cx="5088" cy="96"/>
            </a:xfrm>
            <a:prstGeom prst="rect">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054" name="Freeform 30">
            <a:hlinkClick r:id="" action="ppaction://hlinkshowjump?jump=previousslide"/>
          </p:cNvPr>
          <p:cNvSpPr/>
          <p:nvPr/>
        </p:nvSpPr>
        <p:spPr bwMode="auto">
          <a:xfrm>
            <a:off x="781050" y="6416675"/>
            <a:ext cx="557213" cy="347663"/>
          </a:xfrm>
          <a:custGeom>
            <a:avLst/>
            <a:gdLst>
              <a:gd name="T0" fmla="*/ 350 w 351"/>
              <a:gd name="T1" fmla="*/ 1 h 219"/>
              <a:gd name="T2" fmla="*/ 101 w 351"/>
              <a:gd name="T3" fmla="*/ 0 h 219"/>
              <a:gd name="T4" fmla="*/ 81 w 351"/>
              <a:gd name="T5" fmla="*/ 2 h 219"/>
              <a:gd name="T6" fmla="*/ 67 w 351"/>
              <a:gd name="T7" fmla="*/ 6 h 219"/>
              <a:gd name="T8" fmla="*/ 51 w 351"/>
              <a:gd name="T9" fmla="*/ 15 h 219"/>
              <a:gd name="T10" fmla="*/ 38 w 351"/>
              <a:gd name="T11" fmla="*/ 25 h 219"/>
              <a:gd name="T12" fmla="*/ 28 w 351"/>
              <a:gd name="T13" fmla="*/ 35 h 219"/>
              <a:gd name="T14" fmla="*/ 19 w 351"/>
              <a:gd name="T15" fmla="*/ 48 h 219"/>
              <a:gd name="T16" fmla="*/ 12 w 351"/>
              <a:gd name="T17" fmla="*/ 59 h 219"/>
              <a:gd name="T18" fmla="*/ 6 w 351"/>
              <a:gd name="T19" fmla="*/ 73 h 219"/>
              <a:gd name="T20" fmla="*/ 1 w 351"/>
              <a:gd name="T21" fmla="*/ 89 h 219"/>
              <a:gd name="T22" fmla="*/ 1 w 351"/>
              <a:gd name="T23" fmla="*/ 99 h 219"/>
              <a:gd name="T24" fmla="*/ 0 w 351"/>
              <a:gd name="T25" fmla="*/ 119 h 219"/>
              <a:gd name="T26" fmla="*/ 2 w 351"/>
              <a:gd name="T27" fmla="*/ 136 h 219"/>
              <a:gd name="T28" fmla="*/ 9 w 351"/>
              <a:gd name="T29" fmla="*/ 150 h 219"/>
              <a:gd name="T30" fmla="*/ 15 w 351"/>
              <a:gd name="T31" fmla="*/ 164 h 219"/>
              <a:gd name="T32" fmla="*/ 24 w 351"/>
              <a:gd name="T33" fmla="*/ 176 h 219"/>
              <a:gd name="T34" fmla="*/ 33 w 351"/>
              <a:gd name="T35" fmla="*/ 189 h 219"/>
              <a:gd name="T36" fmla="*/ 46 w 351"/>
              <a:gd name="T37" fmla="*/ 198 h 219"/>
              <a:gd name="T38" fmla="*/ 59 w 351"/>
              <a:gd name="T39" fmla="*/ 207 h 219"/>
              <a:gd name="T40" fmla="*/ 72 w 351"/>
              <a:gd name="T41" fmla="*/ 212 h 219"/>
              <a:gd name="T42" fmla="*/ 90 w 351"/>
              <a:gd name="T43" fmla="*/ 218 h 219"/>
              <a:gd name="T44" fmla="*/ 350 w 351"/>
              <a:gd name="T45" fmla="*/ 218 h 219"/>
              <a:gd name="T46" fmla="*/ 350 w 351"/>
              <a:gd name="T47" fmla="*/ 1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51" h="219">
                <a:moveTo>
                  <a:pt x="350" y="1"/>
                </a:moveTo>
                <a:lnTo>
                  <a:pt x="101" y="0"/>
                </a:lnTo>
                <a:lnTo>
                  <a:pt x="81" y="2"/>
                </a:lnTo>
                <a:lnTo>
                  <a:pt x="67" y="6"/>
                </a:lnTo>
                <a:lnTo>
                  <a:pt x="51" y="15"/>
                </a:lnTo>
                <a:lnTo>
                  <a:pt x="38" y="25"/>
                </a:lnTo>
                <a:lnTo>
                  <a:pt x="28" y="35"/>
                </a:lnTo>
                <a:lnTo>
                  <a:pt x="19" y="48"/>
                </a:lnTo>
                <a:lnTo>
                  <a:pt x="12" y="59"/>
                </a:lnTo>
                <a:lnTo>
                  <a:pt x="6" y="73"/>
                </a:lnTo>
                <a:lnTo>
                  <a:pt x="1" y="89"/>
                </a:lnTo>
                <a:lnTo>
                  <a:pt x="1" y="99"/>
                </a:lnTo>
                <a:lnTo>
                  <a:pt x="0" y="119"/>
                </a:lnTo>
                <a:lnTo>
                  <a:pt x="2" y="136"/>
                </a:lnTo>
                <a:lnTo>
                  <a:pt x="9" y="150"/>
                </a:lnTo>
                <a:lnTo>
                  <a:pt x="15" y="164"/>
                </a:lnTo>
                <a:lnTo>
                  <a:pt x="24" y="176"/>
                </a:lnTo>
                <a:lnTo>
                  <a:pt x="33" y="189"/>
                </a:lnTo>
                <a:lnTo>
                  <a:pt x="46" y="198"/>
                </a:lnTo>
                <a:lnTo>
                  <a:pt x="59" y="207"/>
                </a:lnTo>
                <a:lnTo>
                  <a:pt x="72" y="212"/>
                </a:lnTo>
                <a:lnTo>
                  <a:pt x="90" y="218"/>
                </a:lnTo>
                <a:lnTo>
                  <a:pt x="350" y="218"/>
                </a:lnTo>
                <a:lnTo>
                  <a:pt x="350" y="1"/>
                </a:lnTo>
              </a:path>
            </a:pathLst>
          </a:custGeom>
          <a:gradFill rotWithShape="0">
            <a:gsLst>
              <a:gs pos="0">
                <a:schemeClr val="hlink"/>
              </a:gs>
              <a:gs pos="100000">
                <a:schemeClr val="hlink">
                  <a:gamma/>
                  <a:shade val="46275"/>
                  <a:invGamma/>
                </a:schemeClr>
              </a:gs>
            </a:gsLst>
            <a:path path="rect">
              <a:fillToRect l="50000" t="50000" r="50000" b="50000"/>
            </a:path>
          </a:gradFill>
          <a:ln>
            <a:noFill/>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5" name="Freeform 31">
            <a:hlinkClick r:id="" action="ppaction://hlinkshowjump?jump=nextslide"/>
          </p:cNvPr>
          <p:cNvSpPr/>
          <p:nvPr/>
        </p:nvSpPr>
        <p:spPr bwMode="auto">
          <a:xfrm>
            <a:off x="1447800" y="6416675"/>
            <a:ext cx="557213" cy="347663"/>
          </a:xfrm>
          <a:custGeom>
            <a:avLst/>
            <a:gdLst>
              <a:gd name="T0" fmla="*/ 0 w 351"/>
              <a:gd name="T1" fmla="*/ 1 h 219"/>
              <a:gd name="T2" fmla="*/ 249 w 351"/>
              <a:gd name="T3" fmla="*/ 0 h 219"/>
              <a:gd name="T4" fmla="*/ 268 w 351"/>
              <a:gd name="T5" fmla="*/ 3 h 219"/>
              <a:gd name="T6" fmla="*/ 283 w 351"/>
              <a:gd name="T7" fmla="*/ 6 h 219"/>
              <a:gd name="T8" fmla="*/ 298 w 351"/>
              <a:gd name="T9" fmla="*/ 16 h 219"/>
              <a:gd name="T10" fmla="*/ 311 w 351"/>
              <a:gd name="T11" fmla="*/ 26 h 219"/>
              <a:gd name="T12" fmla="*/ 321 w 351"/>
              <a:gd name="T13" fmla="*/ 35 h 219"/>
              <a:gd name="T14" fmla="*/ 331 w 351"/>
              <a:gd name="T15" fmla="*/ 48 h 219"/>
              <a:gd name="T16" fmla="*/ 337 w 351"/>
              <a:gd name="T17" fmla="*/ 60 h 219"/>
              <a:gd name="T18" fmla="*/ 344 w 351"/>
              <a:gd name="T19" fmla="*/ 74 h 219"/>
              <a:gd name="T20" fmla="*/ 349 w 351"/>
              <a:gd name="T21" fmla="*/ 90 h 219"/>
              <a:gd name="T22" fmla="*/ 349 w 351"/>
              <a:gd name="T23" fmla="*/ 100 h 219"/>
              <a:gd name="T24" fmla="*/ 350 w 351"/>
              <a:gd name="T25" fmla="*/ 119 h 219"/>
              <a:gd name="T26" fmla="*/ 347 w 351"/>
              <a:gd name="T27" fmla="*/ 136 h 219"/>
              <a:gd name="T28" fmla="*/ 341 w 351"/>
              <a:gd name="T29" fmla="*/ 151 h 219"/>
              <a:gd name="T30" fmla="*/ 334 w 351"/>
              <a:gd name="T31" fmla="*/ 165 h 219"/>
              <a:gd name="T32" fmla="*/ 325 w 351"/>
              <a:gd name="T33" fmla="*/ 176 h 219"/>
              <a:gd name="T34" fmla="*/ 316 w 351"/>
              <a:gd name="T35" fmla="*/ 189 h 219"/>
              <a:gd name="T36" fmla="*/ 303 w 351"/>
              <a:gd name="T37" fmla="*/ 199 h 219"/>
              <a:gd name="T38" fmla="*/ 290 w 351"/>
              <a:gd name="T39" fmla="*/ 208 h 219"/>
              <a:gd name="T40" fmla="*/ 277 w 351"/>
              <a:gd name="T41" fmla="*/ 213 h 219"/>
              <a:gd name="T42" fmla="*/ 259 w 351"/>
              <a:gd name="T43" fmla="*/ 218 h 219"/>
              <a:gd name="T44" fmla="*/ 0 w 351"/>
              <a:gd name="T45" fmla="*/ 218 h 219"/>
              <a:gd name="T46" fmla="*/ 0 w 351"/>
              <a:gd name="T47" fmla="*/ 1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51" h="219">
                <a:moveTo>
                  <a:pt x="0" y="1"/>
                </a:moveTo>
                <a:lnTo>
                  <a:pt x="249" y="0"/>
                </a:lnTo>
                <a:lnTo>
                  <a:pt x="268" y="3"/>
                </a:lnTo>
                <a:lnTo>
                  <a:pt x="283" y="6"/>
                </a:lnTo>
                <a:lnTo>
                  <a:pt x="298" y="16"/>
                </a:lnTo>
                <a:lnTo>
                  <a:pt x="311" y="26"/>
                </a:lnTo>
                <a:lnTo>
                  <a:pt x="321" y="35"/>
                </a:lnTo>
                <a:lnTo>
                  <a:pt x="331" y="48"/>
                </a:lnTo>
                <a:lnTo>
                  <a:pt x="337" y="60"/>
                </a:lnTo>
                <a:lnTo>
                  <a:pt x="344" y="74"/>
                </a:lnTo>
                <a:lnTo>
                  <a:pt x="349" y="90"/>
                </a:lnTo>
                <a:lnTo>
                  <a:pt x="349" y="100"/>
                </a:lnTo>
                <a:lnTo>
                  <a:pt x="350" y="119"/>
                </a:lnTo>
                <a:lnTo>
                  <a:pt x="347" y="136"/>
                </a:lnTo>
                <a:lnTo>
                  <a:pt x="341" y="151"/>
                </a:lnTo>
                <a:lnTo>
                  <a:pt x="334" y="165"/>
                </a:lnTo>
                <a:lnTo>
                  <a:pt x="325" y="176"/>
                </a:lnTo>
                <a:lnTo>
                  <a:pt x="316" y="189"/>
                </a:lnTo>
                <a:lnTo>
                  <a:pt x="303" y="199"/>
                </a:lnTo>
                <a:lnTo>
                  <a:pt x="290" y="208"/>
                </a:lnTo>
                <a:lnTo>
                  <a:pt x="277" y="213"/>
                </a:lnTo>
                <a:lnTo>
                  <a:pt x="259" y="218"/>
                </a:lnTo>
                <a:lnTo>
                  <a:pt x="0" y="218"/>
                </a:lnTo>
                <a:lnTo>
                  <a:pt x="0" y="1"/>
                </a:lnTo>
              </a:path>
            </a:pathLst>
          </a:custGeom>
          <a:gradFill rotWithShape="0">
            <a:gsLst>
              <a:gs pos="0">
                <a:schemeClr val="hlink"/>
              </a:gs>
              <a:gs pos="100000">
                <a:schemeClr val="hlink">
                  <a:gamma/>
                  <a:shade val="46275"/>
                  <a:invGamma/>
                </a:schemeClr>
              </a:gs>
            </a:gsLst>
            <a:path path="rect">
              <a:fillToRect l="50000" t="50000" r="50000" b="50000"/>
            </a:path>
          </a:gradFill>
          <a:ln>
            <a:noFill/>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vl6pPr marL="25146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6pPr>
      <a:lvl7pPr marL="29718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7pPr>
      <a:lvl8pPr marL="34290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8pPr>
      <a:lvl9pPr marL="38862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2.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slideLayout" Target="../slideLayouts/slideLayout7.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oleObject" Target="../embeddings/oleObject1.bin"/><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slideLayout" Target="../slideLayouts/slideLayout7.xml"/><Relationship Id="rId2" Type="http://schemas.openxmlformats.org/officeDocument/2006/relationships/tags" Target="../tags/tag12.xml"/><Relationship Id="rId1" Type="http://schemas.openxmlformats.org/officeDocument/2006/relationships/vmlDrawing" Target="../drawings/vmlDrawing1.v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image" Target="../media/image2.png"/><Relationship Id="rId10" Type="http://schemas.openxmlformats.org/officeDocument/2006/relationships/tags" Target="../tags/tag20.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image" Target="../media/image6.wmf"/></Relationships>
</file>

<file path=ppt/slides/_rels/slide29.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oleObject" Target="../embeddings/oleObject2.bin"/><Relationship Id="rId3" Type="http://schemas.openxmlformats.org/officeDocument/2006/relationships/tags" Target="../tags/tag23.xml"/><Relationship Id="rId7" Type="http://schemas.openxmlformats.org/officeDocument/2006/relationships/tags" Target="../tags/tag27.xml"/><Relationship Id="rId12" Type="http://schemas.openxmlformats.org/officeDocument/2006/relationships/slideLayout" Target="../slideLayouts/slideLayout7.xml"/><Relationship Id="rId2" Type="http://schemas.openxmlformats.org/officeDocument/2006/relationships/tags" Target="../tags/tag22.xml"/><Relationship Id="rId1" Type="http://schemas.openxmlformats.org/officeDocument/2006/relationships/vmlDrawing" Target="../drawings/vmlDrawing2.vml"/><Relationship Id="rId6" Type="http://schemas.openxmlformats.org/officeDocument/2006/relationships/tags" Target="../tags/tag26.xml"/><Relationship Id="rId11" Type="http://schemas.openxmlformats.org/officeDocument/2006/relationships/tags" Target="../tags/tag31.xml"/><Relationship Id="rId5" Type="http://schemas.openxmlformats.org/officeDocument/2006/relationships/tags" Target="../tags/tag25.xml"/><Relationship Id="rId15" Type="http://schemas.openxmlformats.org/officeDocument/2006/relationships/image" Target="../media/image2.png"/><Relationship Id="rId10" Type="http://schemas.openxmlformats.org/officeDocument/2006/relationships/tags" Target="../tags/tag30.xml"/><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image" Target="../media/image7.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9.wmf"/><Relationship Id="rId4" Type="http://schemas.openxmlformats.org/officeDocument/2006/relationships/oleObject" Target="../embeddings/oleObject3.bin"/></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tags" Target="../tags/tag40.xml"/><Relationship Id="rId3" Type="http://schemas.openxmlformats.org/officeDocument/2006/relationships/tags" Target="../tags/tag35.xml"/><Relationship Id="rId7" Type="http://schemas.openxmlformats.org/officeDocument/2006/relationships/tags" Target="../tags/tag39.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image" Target="../media/image2.png"/><Relationship Id="rId5" Type="http://schemas.openxmlformats.org/officeDocument/2006/relationships/tags" Target="../tags/tag37.xml"/><Relationship Id="rId10" Type="http://schemas.openxmlformats.org/officeDocument/2006/relationships/slideLayout" Target="../slideLayouts/slideLayout7.xml"/><Relationship Id="rId4" Type="http://schemas.openxmlformats.org/officeDocument/2006/relationships/tags" Target="../tags/tag36.xml"/><Relationship Id="rId9" Type="http://schemas.openxmlformats.org/officeDocument/2006/relationships/tags" Target="../tags/tag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3.wmf"/><Relationship Id="rId5" Type="http://schemas.openxmlformats.org/officeDocument/2006/relationships/oleObject" Target="../embeddings/oleObject5.bin"/><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7.bin"/></Relationships>
</file>

<file path=ppt/slides/_rels/slide53.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oleObject" Target="../embeddings/oleObject13.bin"/><Relationship Id="rId18" Type="http://schemas.openxmlformats.org/officeDocument/2006/relationships/image" Target="../media/image33.wmf"/><Relationship Id="rId3" Type="http://schemas.openxmlformats.org/officeDocument/2006/relationships/oleObject" Target="../embeddings/oleObject8.bin"/><Relationship Id="rId21" Type="http://schemas.openxmlformats.org/officeDocument/2006/relationships/oleObject" Target="../embeddings/oleObject17.bin"/><Relationship Id="rId7" Type="http://schemas.openxmlformats.org/officeDocument/2006/relationships/oleObject" Target="../embeddings/oleObject10.bin"/><Relationship Id="rId12" Type="http://schemas.openxmlformats.org/officeDocument/2006/relationships/image" Target="../media/image30.wmf"/><Relationship Id="rId17" Type="http://schemas.openxmlformats.org/officeDocument/2006/relationships/oleObject" Target="../embeddings/oleObject15.bin"/><Relationship Id="rId2" Type="http://schemas.openxmlformats.org/officeDocument/2006/relationships/slideLayout" Target="../slideLayouts/slideLayout2.xml"/><Relationship Id="rId16" Type="http://schemas.openxmlformats.org/officeDocument/2006/relationships/image" Target="../media/image32.wmf"/><Relationship Id="rId20" Type="http://schemas.openxmlformats.org/officeDocument/2006/relationships/image" Target="../media/image34.wmf"/><Relationship Id="rId1" Type="http://schemas.openxmlformats.org/officeDocument/2006/relationships/vmlDrawing" Target="../drawings/vmlDrawing5.vml"/><Relationship Id="rId6" Type="http://schemas.openxmlformats.org/officeDocument/2006/relationships/image" Target="../media/image27.wmf"/><Relationship Id="rId11" Type="http://schemas.openxmlformats.org/officeDocument/2006/relationships/oleObject" Target="../embeddings/oleObject12.bin"/><Relationship Id="rId5" Type="http://schemas.openxmlformats.org/officeDocument/2006/relationships/oleObject" Target="../embeddings/oleObject9.bin"/><Relationship Id="rId15" Type="http://schemas.openxmlformats.org/officeDocument/2006/relationships/oleObject" Target="../embeddings/oleObject14.bin"/><Relationship Id="rId10" Type="http://schemas.openxmlformats.org/officeDocument/2006/relationships/image" Target="../media/image29.wmf"/><Relationship Id="rId19" Type="http://schemas.openxmlformats.org/officeDocument/2006/relationships/oleObject" Target="../embeddings/oleObject16.bin"/><Relationship Id="rId4" Type="http://schemas.openxmlformats.org/officeDocument/2006/relationships/image" Target="../media/image26.wmf"/><Relationship Id="rId9" Type="http://schemas.openxmlformats.org/officeDocument/2006/relationships/oleObject" Target="../embeddings/oleObject11.bin"/><Relationship Id="rId14" Type="http://schemas.openxmlformats.org/officeDocument/2006/relationships/image" Target="../media/image31.wmf"/><Relationship Id="rId22" Type="http://schemas.openxmlformats.org/officeDocument/2006/relationships/image" Target="../media/image35.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37.wmf"/><Relationship Id="rId5" Type="http://schemas.openxmlformats.org/officeDocument/2006/relationships/oleObject" Target="../embeddings/oleObject19.bin"/><Relationship Id="rId4" Type="http://schemas.openxmlformats.org/officeDocument/2006/relationships/image" Target="../media/image36.wmf"/></Relationships>
</file>

<file path=ppt/slides/_rels/slide55.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4.wmf"/><Relationship Id="rId5" Type="http://schemas.openxmlformats.org/officeDocument/2006/relationships/oleObject" Target="../embeddings/oleObject21.bin"/><Relationship Id="rId10" Type="http://schemas.openxmlformats.org/officeDocument/2006/relationships/image" Target="../media/image35.wmf"/><Relationship Id="rId4" Type="http://schemas.openxmlformats.org/officeDocument/2006/relationships/image" Target="../media/image27.wmf"/><Relationship Id="rId9" Type="http://schemas.openxmlformats.org/officeDocument/2006/relationships/oleObject" Target="../embeddings/oleObject23.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tags" Target="../tags/tag54.xml"/><Relationship Id="rId18" Type="http://schemas.openxmlformats.org/officeDocument/2006/relationships/image" Target="../media/image44.png"/><Relationship Id="rId3" Type="http://schemas.openxmlformats.org/officeDocument/2006/relationships/tags" Target="../tags/tag44.xml"/><Relationship Id="rId7" Type="http://schemas.openxmlformats.org/officeDocument/2006/relationships/tags" Target="../tags/tag48.xml"/><Relationship Id="rId12" Type="http://schemas.openxmlformats.org/officeDocument/2006/relationships/tags" Target="../tags/tag53.xml"/><Relationship Id="rId17" Type="http://schemas.openxmlformats.org/officeDocument/2006/relationships/image" Target="../media/image43.wmf"/><Relationship Id="rId2" Type="http://schemas.openxmlformats.org/officeDocument/2006/relationships/tags" Target="../tags/tag43.xml"/><Relationship Id="rId16" Type="http://schemas.openxmlformats.org/officeDocument/2006/relationships/slideLayout" Target="../slideLayouts/slideLayout7.xml"/><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5" Type="http://schemas.openxmlformats.org/officeDocument/2006/relationships/tags" Target="../tags/tag46.xml"/><Relationship Id="rId15" Type="http://schemas.openxmlformats.org/officeDocument/2006/relationships/tags" Target="../tags/tag56.xml"/><Relationship Id="rId10" Type="http://schemas.openxmlformats.org/officeDocument/2006/relationships/tags" Target="../tags/tag51.xml"/><Relationship Id="rId19" Type="http://schemas.openxmlformats.org/officeDocument/2006/relationships/image" Target="../media/image2.png"/><Relationship Id="rId4" Type="http://schemas.openxmlformats.org/officeDocument/2006/relationships/tags" Target="../tags/tag45.xml"/><Relationship Id="rId9" Type="http://schemas.openxmlformats.org/officeDocument/2006/relationships/tags" Target="../tags/tag50.xml"/><Relationship Id="rId14" Type="http://schemas.openxmlformats.org/officeDocument/2006/relationships/tags" Target="../tags/tag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60648"/>
            <a:ext cx="8105140" cy="844550"/>
          </a:xfrm>
        </p:spPr>
        <p:txBody>
          <a:bodyPr/>
          <a:lstStyle/>
          <a:p>
            <a:r>
              <a:rPr kumimoji="0" lang="zh-CN" altLang="en-US" kern="1200" noProof="0" dirty="0" smtClean="0">
                <a:solidFill>
                  <a:schemeClr val="accent2"/>
                </a:solidFill>
                <a:sym typeface="+mn-ea"/>
              </a:rPr>
              <a:t>第</a:t>
            </a:r>
            <a:r>
              <a:rPr kumimoji="0" lang="en-US" altLang="zh-CN" kern="1200" noProof="0" dirty="0" smtClean="0">
                <a:solidFill>
                  <a:schemeClr val="accent2"/>
                </a:solidFill>
                <a:sym typeface="+mn-ea"/>
              </a:rPr>
              <a:t>6</a:t>
            </a:r>
            <a:r>
              <a:rPr kumimoji="0" lang="zh-CN" altLang="en-US" kern="1200" noProof="0" dirty="0" smtClean="0">
                <a:solidFill>
                  <a:schemeClr val="accent2"/>
                </a:solidFill>
                <a:sym typeface="+mn-ea"/>
              </a:rPr>
              <a:t>章  线性规划</a:t>
            </a:r>
            <a:r>
              <a:rPr kumimoji="0" lang="en-US" altLang="zh-CN" sz="2400" kern="1200" dirty="0">
                <a:solidFill>
                  <a:schemeClr val="accent2"/>
                </a:solidFill>
                <a:sym typeface="+mn-ea"/>
              </a:rPr>
              <a:t>(Linear Programming(LP</a:t>
            </a:r>
            <a:r>
              <a:rPr kumimoji="0" lang="en-US" altLang="zh-CN" sz="2400" kern="1200" dirty="0" smtClean="0">
                <a:solidFill>
                  <a:schemeClr val="accent2"/>
                </a:solidFill>
                <a:sym typeface="+mn-ea"/>
              </a:rPr>
              <a:t>))</a:t>
            </a:r>
            <a:endParaRPr kumimoji="0" lang="en-US" altLang="zh-CN" sz="2400" kern="1200" noProof="0" dirty="0" smtClean="0">
              <a:ln>
                <a:noFill/>
              </a:ln>
              <a:solidFill>
                <a:schemeClr val="accent2"/>
              </a:solidFill>
              <a:effectLst/>
              <a:uLnTx/>
              <a:uFillTx/>
              <a:sym typeface="+mn-ea"/>
            </a:endParaRPr>
          </a:p>
        </p:txBody>
      </p:sp>
      <p:sp>
        <p:nvSpPr>
          <p:cNvPr id="3" name="TextBox 2"/>
          <p:cNvSpPr txBox="1"/>
          <p:nvPr/>
        </p:nvSpPr>
        <p:spPr>
          <a:xfrm>
            <a:off x="323528" y="1652139"/>
            <a:ext cx="8352928" cy="3928110"/>
          </a:xfrm>
          <a:prstGeom prst="rect">
            <a:avLst/>
          </a:prstGeom>
          <a:solidFill>
            <a:schemeClr val="tx1"/>
          </a:solidFill>
        </p:spPr>
        <p:txBody>
          <a:bodyPr wrap="square" rtlCol="0">
            <a:spAutoFit/>
          </a:bodyPr>
          <a:lstStyle/>
          <a:p>
            <a:pPr marL="342900" indent="-342900">
              <a:lnSpc>
                <a:spcPct val="130000"/>
              </a:lnSpc>
              <a:buFont typeface="Wingdings" panose="05000000000000000000" pitchFamily="2" charset="2"/>
              <a:buChar char="l"/>
            </a:pPr>
            <a:r>
              <a:rPr lang="zh-CN" altLang="en-US" b="1" dirty="0" smtClean="0">
                <a:solidFill>
                  <a:schemeClr val="bg1"/>
                </a:solidFill>
              </a:rPr>
              <a:t>组合优化问题</a:t>
            </a:r>
            <a:endParaRPr lang="en-US" altLang="zh-CN" b="1" dirty="0" smtClean="0">
              <a:solidFill>
                <a:schemeClr val="bg1"/>
              </a:solidFill>
            </a:endParaRPr>
          </a:p>
          <a:p>
            <a:pPr marL="800100" lvl="1" indent="-342900">
              <a:lnSpc>
                <a:spcPct val="130000"/>
              </a:lnSpc>
              <a:buFont typeface="Wingdings" panose="05000000000000000000" pitchFamily="2" charset="2"/>
              <a:buChar char="Ø"/>
            </a:pPr>
            <a:r>
              <a:rPr lang="zh-CN" altLang="en-US" dirty="0" smtClean="0">
                <a:solidFill>
                  <a:schemeClr val="bg1"/>
                </a:solidFill>
              </a:rPr>
              <a:t>目标：从</a:t>
            </a:r>
            <a:r>
              <a:rPr lang="zh-CN" altLang="en-US" dirty="0">
                <a:solidFill>
                  <a:schemeClr val="bg1"/>
                </a:solidFill>
              </a:rPr>
              <a:t>问题的可行解</a:t>
            </a:r>
            <a:r>
              <a:rPr lang="zh-CN" altLang="en-US" dirty="0" smtClean="0">
                <a:solidFill>
                  <a:schemeClr val="bg1"/>
                </a:solidFill>
              </a:rPr>
              <a:t>集合中找出最优解。</a:t>
            </a:r>
            <a:endParaRPr lang="en-US" altLang="zh-CN" dirty="0" smtClean="0">
              <a:solidFill>
                <a:schemeClr val="bg1"/>
              </a:solidFill>
            </a:endParaRPr>
          </a:p>
          <a:p>
            <a:pPr marL="800100" lvl="1" indent="-342900">
              <a:lnSpc>
                <a:spcPct val="130000"/>
              </a:lnSpc>
              <a:buFont typeface="Wingdings" panose="05000000000000000000" pitchFamily="2" charset="2"/>
              <a:buChar char="Ø"/>
            </a:pPr>
            <a:r>
              <a:rPr lang="zh-CN" altLang="en-US" dirty="0" smtClean="0">
                <a:solidFill>
                  <a:schemeClr val="bg1"/>
                </a:solidFill>
              </a:rPr>
              <a:t>相关概念</a:t>
            </a:r>
            <a:endParaRPr lang="en-US" altLang="zh-CN" dirty="0" smtClean="0">
              <a:solidFill>
                <a:schemeClr val="bg1"/>
              </a:solidFill>
            </a:endParaRPr>
          </a:p>
          <a:p>
            <a:pPr marL="1257300" lvl="2" indent="-342900">
              <a:lnSpc>
                <a:spcPct val="130000"/>
              </a:lnSpc>
              <a:buFont typeface="Arial" panose="020B0604020202020204" pitchFamily="34" charset="0"/>
              <a:buChar char="•"/>
            </a:pPr>
            <a:r>
              <a:rPr lang="zh-CN" altLang="en-US" dirty="0" smtClean="0">
                <a:solidFill>
                  <a:schemeClr val="bg1"/>
                </a:solidFill>
              </a:rPr>
              <a:t>目标函数：问题要达到的最大化和最小化的目标</a:t>
            </a:r>
            <a:endParaRPr lang="en-US" altLang="zh-CN" dirty="0" smtClean="0">
              <a:solidFill>
                <a:schemeClr val="bg1"/>
              </a:solidFill>
            </a:endParaRPr>
          </a:p>
          <a:p>
            <a:pPr marL="1257300" lvl="2" indent="-342900">
              <a:lnSpc>
                <a:spcPct val="130000"/>
              </a:lnSpc>
              <a:buFont typeface="Arial" panose="020B0604020202020204" pitchFamily="34" charset="0"/>
              <a:buChar char="•"/>
            </a:pPr>
            <a:r>
              <a:rPr lang="zh-CN" altLang="en-US" dirty="0" smtClean="0">
                <a:solidFill>
                  <a:schemeClr val="bg1"/>
                </a:solidFill>
              </a:rPr>
              <a:t>约束条件：问题的解需要满足的条件</a:t>
            </a:r>
            <a:endParaRPr lang="en-US" altLang="zh-CN" dirty="0" smtClean="0">
              <a:solidFill>
                <a:schemeClr val="bg1"/>
              </a:solidFill>
            </a:endParaRPr>
          </a:p>
          <a:p>
            <a:pPr marL="1257300" lvl="2" indent="-342900">
              <a:lnSpc>
                <a:spcPct val="130000"/>
              </a:lnSpc>
              <a:buFont typeface="Arial" panose="020B0604020202020204" pitchFamily="34" charset="0"/>
              <a:buChar char="•"/>
            </a:pPr>
            <a:r>
              <a:rPr lang="zh-CN" altLang="en-US" dirty="0" smtClean="0">
                <a:solidFill>
                  <a:schemeClr val="bg1"/>
                </a:solidFill>
              </a:rPr>
              <a:t>可行解：搜索空间中，满足约束条件的解</a:t>
            </a:r>
            <a:endParaRPr lang="en-US" altLang="zh-CN" dirty="0" smtClean="0">
              <a:solidFill>
                <a:schemeClr val="bg1"/>
              </a:solidFill>
            </a:endParaRPr>
          </a:p>
          <a:p>
            <a:pPr marL="1257300" lvl="2" indent="-342900">
              <a:lnSpc>
                <a:spcPct val="130000"/>
              </a:lnSpc>
              <a:buFont typeface="Arial" panose="020B0604020202020204" pitchFamily="34" charset="0"/>
              <a:buChar char="•"/>
            </a:pPr>
            <a:r>
              <a:rPr lang="zh-CN" altLang="en-US" dirty="0" smtClean="0">
                <a:solidFill>
                  <a:schemeClr val="bg1"/>
                </a:solidFill>
              </a:rPr>
              <a:t>最优解</a:t>
            </a:r>
            <a:r>
              <a:rPr lang="zh-CN" altLang="en-US" dirty="0">
                <a:solidFill>
                  <a:schemeClr val="bg1"/>
                </a:solidFill>
              </a:rPr>
              <a:t>：使得目标函数达到极大 </a:t>
            </a:r>
            <a:r>
              <a:rPr lang="en-US" altLang="zh-CN" dirty="0">
                <a:solidFill>
                  <a:schemeClr val="bg1"/>
                </a:solidFill>
              </a:rPr>
              <a:t>(</a:t>
            </a:r>
            <a:r>
              <a:rPr lang="zh-CN" altLang="en-US" dirty="0">
                <a:solidFill>
                  <a:schemeClr val="bg1"/>
                </a:solidFill>
              </a:rPr>
              <a:t>或</a:t>
            </a:r>
            <a:r>
              <a:rPr lang="zh-CN" altLang="en-US" dirty="0" smtClean="0">
                <a:solidFill>
                  <a:schemeClr val="bg1"/>
                </a:solidFill>
              </a:rPr>
              <a:t>极小</a:t>
            </a:r>
            <a:r>
              <a:rPr lang="en-US" altLang="zh-CN" dirty="0" smtClean="0">
                <a:solidFill>
                  <a:schemeClr val="bg1"/>
                </a:solidFill>
              </a:rPr>
              <a:t>)</a:t>
            </a:r>
            <a:r>
              <a:rPr lang="zh-CN" altLang="en-US" dirty="0">
                <a:solidFill>
                  <a:schemeClr val="bg1"/>
                </a:solidFill>
              </a:rPr>
              <a:t>的</a:t>
            </a:r>
            <a:r>
              <a:rPr lang="zh-CN" altLang="en-US" dirty="0" smtClean="0">
                <a:solidFill>
                  <a:schemeClr val="bg1"/>
                </a:solidFill>
              </a:rPr>
              <a:t>可行解</a:t>
            </a:r>
          </a:p>
          <a:p>
            <a:pPr marL="800100" lvl="1" indent="-342900">
              <a:lnSpc>
                <a:spcPct val="130000"/>
              </a:lnSpc>
              <a:buFont typeface="Wingdings" panose="05000000000000000000" pitchFamily="2" charset="2"/>
              <a:buChar char="Ø"/>
            </a:pPr>
            <a:r>
              <a:rPr lang="zh-CN" altLang="en-US" dirty="0" smtClean="0">
                <a:solidFill>
                  <a:schemeClr val="bg1"/>
                </a:solidFill>
              </a:rPr>
              <a:t>求解方法：动态规划、贪心、回溯及分支限界</a:t>
            </a:r>
            <a:endParaRPr lang="en-US" altLang="zh-CN" dirty="0" smtClean="0">
              <a:solidFill>
                <a:schemeClr val="bg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left)">
                                      <p:cBhvr>
                                        <p:cTn id="20" dur="500"/>
                                        <p:tgtEl>
                                          <p:spTgt spid="3">
                                            <p:txEl>
                                              <p:pRg st="4" end="4"/>
                                            </p:txEl>
                                          </p:spTgt>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left)">
                                      <p:cBhvr>
                                        <p:cTn id="24" dur="500"/>
                                        <p:tgtEl>
                                          <p:spTgt spid="3">
                                            <p:txEl>
                                              <p:pRg st="5" end="5"/>
                                            </p:txEl>
                                          </p:spTgt>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wipe(left)">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wipe(left)">
                                      <p:cBhvr>
                                        <p:cTn id="3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8105140" cy="844550"/>
          </a:xfrm>
        </p:spPr>
        <p:txBody>
          <a:bodyPr/>
          <a:lstStyle/>
          <a:p>
            <a:r>
              <a:rPr kumimoji="0" lang="zh-CN" altLang="en-US" kern="1200" noProof="0" dirty="0" smtClean="0">
                <a:solidFill>
                  <a:schemeClr val="accent2"/>
                </a:solidFill>
                <a:sym typeface="+mn-ea"/>
              </a:rPr>
              <a:t>第</a:t>
            </a:r>
            <a:r>
              <a:rPr kumimoji="0" lang="en-US" altLang="zh-CN" kern="1200" noProof="0" dirty="0" smtClean="0">
                <a:solidFill>
                  <a:schemeClr val="accent2"/>
                </a:solidFill>
                <a:sym typeface="+mn-ea"/>
              </a:rPr>
              <a:t>6</a:t>
            </a:r>
            <a:r>
              <a:rPr kumimoji="0" lang="zh-CN" altLang="en-US" kern="1200" noProof="0" dirty="0" smtClean="0">
                <a:solidFill>
                  <a:schemeClr val="accent2"/>
                </a:solidFill>
                <a:sym typeface="+mn-ea"/>
              </a:rPr>
              <a:t>章  线性规划</a:t>
            </a:r>
            <a:endParaRPr kumimoji="0" lang="en-US" altLang="zh-CN" kern="1200" noProof="0" dirty="0" smtClean="0">
              <a:ln>
                <a:noFill/>
              </a:ln>
              <a:solidFill>
                <a:schemeClr val="accent2"/>
              </a:solidFill>
              <a:effectLst/>
              <a:uLnTx/>
              <a:uFillTx/>
              <a:sym typeface="+mn-ea"/>
            </a:endParaRPr>
          </a:p>
        </p:txBody>
      </p:sp>
      <p:sp>
        <p:nvSpPr>
          <p:cNvPr id="3" name="TextBox 2"/>
          <p:cNvSpPr txBox="1"/>
          <p:nvPr/>
        </p:nvSpPr>
        <p:spPr>
          <a:xfrm>
            <a:off x="323528" y="1628800"/>
            <a:ext cx="8352928" cy="4521835"/>
          </a:xfrm>
          <a:prstGeom prst="rect">
            <a:avLst/>
          </a:prstGeom>
          <a:solidFill>
            <a:schemeClr val="tx1"/>
          </a:solidFill>
        </p:spPr>
        <p:txBody>
          <a:bodyPr wrap="square" rtlCol="0">
            <a:spAutoFit/>
          </a:bodyPr>
          <a:lstStyle/>
          <a:p>
            <a:pPr marL="800100" lvl="1" indent="-342900" algn="just">
              <a:lnSpc>
                <a:spcPct val="120000"/>
              </a:lnSpc>
              <a:buFont typeface="Wingdings" panose="05000000000000000000" pitchFamily="2" charset="2"/>
              <a:buChar char="Ø"/>
            </a:pPr>
            <a:r>
              <a:rPr lang="zh-CN" altLang="en-US" dirty="0" smtClean="0">
                <a:solidFill>
                  <a:schemeClr val="bg2"/>
                </a:solidFill>
              </a:rPr>
              <a:t>典型实例：完全背包问题</a:t>
            </a:r>
            <a:endParaRPr lang="en-US" altLang="zh-CN" dirty="0" smtClean="0">
              <a:solidFill>
                <a:schemeClr val="bg2"/>
              </a:solidFill>
            </a:endParaRPr>
          </a:p>
          <a:p>
            <a:pPr marL="1257300" lvl="2" indent="-342900" algn="just">
              <a:lnSpc>
                <a:spcPct val="120000"/>
              </a:lnSpc>
              <a:buFont typeface="Arial" panose="020B0604020202020204" pitchFamily="34" charset="0"/>
              <a:buChar char="•"/>
            </a:pPr>
            <a:r>
              <a:rPr lang="zh-CN" altLang="en-US" dirty="0" smtClean="0">
                <a:solidFill>
                  <a:schemeClr val="bg2"/>
                </a:solidFill>
              </a:rPr>
              <a:t>问题描述：有</a:t>
            </a:r>
            <a:r>
              <a:rPr lang="en-US" altLang="zh-CN" dirty="0" smtClean="0">
                <a:solidFill>
                  <a:schemeClr val="bg2"/>
                </a:solidFill>
              </a:rPr>
              <a:t>4</a:t>
            </a:r>
            <a:r>
              <a:rPr lang="zh-CN" altLang="en-US" dirty="0" smtClean="0">
                <a:solidFill>
                  <a:schemeClr val="bg2"/>
                </a:solidFill>
              </a:rPr>
              <a:t>个物品，每个物品数量充足，物品的重量为</a:t>
            </a:r>
            <a:r>
              <a:rPr lang="en-US" altLang="zh-CN" i="1" dirty="0" smtClean="0">
                <a:solidFill>
                  <a:schemeClr val="bg2"/>
                </a:solidFill>
              </a:rPr>
              <a:t>w</a:t>
            </a:r>
            <a:r>
              <a:rPr lang="en-US" altLang="zh-CN" dirty="0" smtClean="0">
                <a:solidFill>
                  <a:schemeClr val="bg2"/>
                </a:solidFill>
              </a:rPr>
              <a:t>={2,3,4,7}</a:t>
            </a:r>
            <a:r>
              <a:rPr lang="zh-CN" altLang="en-US" dirty="0" smtClean="0">
                <a:solidFill>
                  <a:schemeClr val="bg2"/>
                </a:solidFill>
              </a:rPr>
              <a:t>，价值为</a:t>
            </a:r>
            <a:r>
              <a:rPr lang="en-US" altLang="zh-CN" i="1" dirty="0" smtClean="0">
                <a:solidFill>
                  <a:schemeClr val="bg2"/>
                </a:solidFill>
              </a:rPr>
              <a:t>v</a:t>
            </a:r>
            <a:r>
              <a:rPr lang="en-US" altLang="zh-CN" dirty="0" smtClean="0">
                <a:solidFill>
                  <a:schemeClr val="bg2"/>
                </a:solidFill>
              </a:rPr>
              <a:t>={1,3,5,9}</a:t>
            </a:r>
            <a:r>
              <a:rPr lang="zh-CN" altLang="en-US" dirty="0" smtClean="0">
                <a:solidFill>
                  <a:schemeClr val="bg2"/>
                </a:solidFill>
              </a:rPr>
              <a:t>，背包的容量</a:t>
            </a:r>
            <a:r>
              <a:rPr lang="en-US" altLang="zh-CN" i="1" dirty="0" smtClean="0">
                <a:solidFill>
                  <a:schemeClr val="bg2"/>
                </a:solidFill>
              </a:rPr>
              <a:t>W</a:t>
            </a:r>
            <a:r>
              <a:rPr lang="zh-CN" altLang="en-US" dirty="0" smtClean="0">
                <a:solidFill>
                  <a:schemeClr val="bg2"/>
                </a:solidFill>
              </a:rPr>
              <a:t>为</a:t>
            </a:r>
            <a:r>
              <a:rPr lang="en-US" altLang="zh-CN" dirty="0" smtClean="0">
                <a:solidFill>
                  <a:schemeClr val="bg2"/>
                </a:solidFill>
              </a:rPr>
              <a:t>10</a:t>
            </a:r>
            <a:r>
              <a:rPr lang="zh-CN" altLang="en-US" dirty="0" smtClean="0">
                <a:solidFill>
                  <a:schemeClr val="bg2"/>
                </a:solidFill>
              </a:rPr>
              <a:t>。</a:t>
            </a:r>
            <a:r>
              <a:rPr lang="zh-CN" altLang="en-US" b="1" dirty="0" smtClean="0">
                <a:solidFill>
                  <a:srgbClr val="7030A0"/>
                </a:solidFill>
              </a:rPr>
              <a:t>求解：</a:t>
            </a:r>
            <a:r>
              <a:rPr lang="zh-CN" altLang="en-US" dirty="0" smtClean="0">
                <a:solidFill>
                  <a:schemeClr val="bg2"/>
                </a:solidFill>
              </a:rPr>
              <a:t>在背包容量不超重的情况下，装入背包物品的</a:t>
            </a:r>
            <a:r>
              <a:rPr lang="zh-CN" altLang="en-US" b="1" dirty="0" smtClean="0">
                <a:solidFill>
                  <a:srgbClr val="7030A0"/>
                </a:solidFill>
              </a:rPr>
              <a:t>最大价值</a:t>
            </a:r>
            <a:r>
              <a:rPr lang="zh-CN" altLang="en-US" dirty="0" smtClean="0">
                <a:solidFill>
                  <a:schemeClr val="bg2"/>
                </a:solidFill>
              </a:rPr>
              <a:t>。</a:t>
            </a:r>
            <a:endParaRPr lang="en-US" altLang="zh-CN" dirty="0" smtClean="0">
              <a:solidFill>
                <a:schemeClr val="bg2"/>
              </a:solidFill>
            </a:endParaRPr>
          </a:p>
          <a:p>
            <a:pPr marL="1257300" lvl="2" indent="-342900" algn="just">
              <a:lnSpc>
                <a:spcPct val="120000"/>
              </a:lnSpc>
              <a:buFont typeface="Arial" panose="020B0604020202020204" pitchFamily="34" charset="0"/>
              <a:buChar char="•"/>
            </a:pPr>
            <a:r>
              <a:rPr lang="zh-CN" altLang="en-US" dirty="0">
                <a:solidFill>
                  <a:schemeClr val="bg2"/>
                </a:solidFill>
              </a:rPr>
              <a:t>解</a:t>
            </a:r>
            <a:r>
              <a:rPr lang="zh-CN" altLang="en-US" dirty="0" smtClean="0">
                <a:solidFill>
                  <a:schemeClr val="bg2"/>
                </a:solidFill>
              </a:rPr>
              <a:t>集合</a:t>
            </a:r>
            <a:r>
              <a:rPr lang="en-US" altLang="zh-CN" i="1" dirty="0" smtClean="0">
                <a:solidFill>
                  <a:schemeClr val="bg2"/>
                </a:solidFill>
              </a:rPr>
              <a:t>X</a:t>
            </a:r>
            <a:r>
              <a:rPr lang="en-US" altLang="zh-CN" dirty="0" smtClean="0">
                <a:solidFill>
                  <a:schemeClr val="bg2"/>
                </a:solidFill>
              </a:rPr>
              <a:t>={</a:t>
            </a:r>
            <a:r>
              <a:rPr lang="en-US" altLang="zh-CN" i="1" dirty="0">
                <a:solidFill>
                  <a:schemeClr val="bg2"/>
                </a:solidFill>
              </a:rPr>
              <a:t>x</a:t>
            </a:r>
            <a:r>
              <a:rPr lang="en-US" altLang="zh-CN" baseline="-25000" dirty="0">
                <a:solidFill>
                  <a:schemeClr val="bg2"/>
                </a:solidFill>
              </a:rPr>
              <a:t>1</a:t>
            </a:r>
            <a:r>
              <a:rPr lang="en-US" altLang="zh-CN" i="1" dirty="0">
                <a:solidFill>
                  <a:schemeClr val="bg2"/>
                </a:solidFill>
              </a:rPr>
              <a:t>,x</a:t>
            </a:r>
            <a:r>
              <a:rPr lang="en-US" altLang="zh-CN" baseline="-25000" dirty="0">
                <a:solidFill>
                  <a:schemeClr val="bg2"/>
                </a:solidFill>
              </a:rPr>
              <a:t>2</a:t>
            </a:r>
            <a:r>
              <a:rPr lang="en-US" altLang="zh-CN" i="1" dirty="0">
                <a:solidFill>
                  <a:schemeClr val="bg2"/>
                </a:solidFill>
              </a:rPr>
              <a:t>,x</a:t>
            </a:r>
            <a:r>
              <a:rPr lang="en-US" altLang="zh-CN" baseline="-25000" dirty="0">
                <a:solidFill>
                  <a:schemeClr val="bg2"/>
                </a:solidFill>
              </a:rPr>
              <a:t>3</a:t>
            </a:r>
            <a:r>
              <a:rPr lang="en-US" altLang="zh-CN" i="1" dirty="0">
                <a:solidFill>
                  <a:schemeClr val="bg2"/>
                </a:solidFill>
              </a:rPr>
              <a:t>,x</a:t>
            </a:r>
            <a:r>
              <a:rPr lang="en-US" altLang="zh-CN" baseline="-25000" dirty="0">
                <a:solidFill>
                  <a:schemeClr val="bg2"/>
                </a:solidFill>
              </a:rPr>
              <a:t>4</a:t>
            </a:r>
            <a:r>
              <a:rPr lang="en-US" altLang="zh-CN" dirty="0" smtClean="0">
                <a:solidFill>
                  <a:schemeClr val="bg2"/>
                </a:solidFill>
              </a:rPr>
              <a:t>}</a:t>
            </a:r>
            <a:r>
              <a:rPr lang="zh-CN" altLang="en-US" dirty="0" smtClean="0">
                <a:solidFill>
                  <a:schemeClr val="bg2"/>
                </a:solidFill>
              </a:rPr>
              <a:t>，其中</a:t>
            </a:r>
            <a:r>
              <a:rPr lang="en-US" altLang="zh-CN" i="1" dirty="0">
                <a:solidFill>
                  <a:schemeClr val="bg2"/>
                </a:solidFill>
              </a:rPr>
              <a:t>x</a:t>
            </a:r>
            <a:r>
              <a:rPr lang="en-US" altLang="zh-CN" i="1" baseline="-25000" dirty="0">
                <a:solidFill>
                  <a:schemeClr val="bg2"/>
                </a:solidFill>
              </a:rPr>
              <a:t>i</a:t>
            </a:r>
            <a:r>
              <a:rPr lang="en-US" altLang="zh-CN" dirty="0" smtClean="0">
                <a:solidFill>
                  <a:schemeClr val="bg2"/>
                </a:solidFill>
              </a:rPr>
              <a:t>≥0</a:t>
            </a:r>
            <a:r>
              <a:rPr lang="zh-CN" altLang="en-US" dirty="0" smtClean="0">
                <a:solidFill>
                  <a:schemeClr val="bg2"/>
                </a:solidFill>
              </a:rPr>
              <a:t>，代表背包中</a:t>
            </a:r>
            <a:r>
              <a:rPr lang="zh-CN" altLang="en-US" dirty="0">
                <a:solidFill>
                  <a:schemeClr val="bg2"/>
                </a:solidFill>
              </a:rPr>
              <a:t>装入</a:t>
            </a:r>
            <a:r>
              <a:rPr lang="zh-CN" altLang="en-US" dirty="0" smtClean="0">
                <a:solidFill>
                  <a:schemeClr val="bg2"/>
                </a:solidFill>
              </a:rPr>
              <a:t>物品</a:t>
            </a:r>
            <a:r>
              <a:rPr lang="en-US" altLang="zh-CN" i="1" dirty="0" smtClean="0">
                <a:solidFill>
                  <a:schemeClr val="bg2"/>
                </a:solidFill>
              </a:rPr>
              <a:t>i</a:t>
            </a:r>
            <a:r>
              <a:rPr lang="zh-CN" altLang="en-US" dirty="0" smtClean="0">
                <a:solidFill>
                  <a:schemeClr val="bg2"/>
                </a:solidFill>
              </a:rPr>
              <a:t>的数量（</a:t>
            </a:r>
            <a:r>
              <a:rPr lang="en-US" altLang="zh-CN" i="1" dirty="0">
                <a:solidFill>
                  <a:schemeClr val="bg2"/>
                </a:solidFill>
              </a:rPr>
              <a:t>i</a:t>
            </a:r>
            <a:r>
              <a:rPr lang="en-US" altLang="zh-CN" dirty="0" smtClean="0">
                <a:solidFill>
                  <a:schemeClr val="bg2"/>
                </a:solidFill>
              </a:rPr>
              <a:t>=1,2,3,4</a:t>
            </a:r>
            <a:r>
              <a:rPr lang="zh-CN" altLang="en-US" dirty="0" smtClean="0">
                <a:solidFill>
                  <a:schemeClr val="bg2"/>
                </a:solidFill>
              </a:rPr>
              <a:t>）</a:t>
            </a:r>
            <a:endParaRPr lang="en-US" altLang="zh-CN" dirty="0" smtClean="0">
              <a:solidFill>
                <a:schemeClr val="bg2"/>
              </a:solidFill>
            </a:endParaRPr>
          </a:p>
          <a:p>
            <a:pPr marL="1257300" lvl="2" indent="-342900" algn="just">
              <a:lnSpc>
                <a:spcPct val="120000"/>
              </a:lnSpc>
              <a:buFont typeface="Arial" panose="020B0604020202020204" pitchFamily="34" charset="0"/>
              <a:buChar char="•"/>
            </a:pPr>
            <a:r>
              <a:rPr lang="zh-CN" altLang="en-US" dirty="0" smtClean="0">
                <a:solidFill>
                  <a:schemeClr val="bg2"/>
                </a:solidFill>
              </a:rPr>
              <a:t>目标函数：</a:t>
            </a:r>
            <a:r>
              <a:rPr lang="en-US" altLang="zh-CN" dirty="0" smtClean="0">
                <a:solidFill>
                  <a:schemeClr val="bg2"/>
                </a:solidFill>
              </a:rPr>
              <a:t>max </a:t>
            </a:r>
            <a:r>
              <a:rPr lang="en-US" altLang="zh-CN" i="1" dirty="0" smtClean="0">
                <a:solidFill>
                  <a:schemeClr val="bg2"/>
                </a:solidFill>
              </a:rPr>
              <a:t>x</a:t>
            </a:r>
            <a:r>
              <a:rPr lang="en-US" altLang="zh-CN" baseline="-25000" dirty="0" smtClean="0">
                <a:solidFill>
                  <a:schemeClr val="bg2"/>
                </a:solidFill>
              </a:rPr>
              <a:t>1</a:t>
            </a:r>
            <a:r>
              <a:rPr lang="en-US" altLang="zh-CN" dirty="0" smtClean="0">
                <a:solidFill>
                  <a:schemeClr val="bg2"/>
                </a:solidFill>
              </a:rPr>
              <a:t>+3</a:t>
            </a:r>
            <a:r>
              <a:rPr lang="en-US" altLang="zh-CN" i="1" dirty="0" smtClean="0">
                <a:solidFill>
                  <a:schemeClr val="bg2"/>
                </a:solidFill>
              </a:rPr>
              <a:t>x</a:t>
            </a:r>
            <a:r>
              <a:rPr lang="en-US" altLang="zh-CN" baseline="-25000" dirty="0" smtClean="0">
                <a:solidFill>
                  <a:schemeClr val="bg2"/>
                </a:solidFill>
              </a:rPr>
              <a:t>2</a:t>
            </a:r>
            <a:r>
              <a:rPr lang="en-US" altLang="zh-CN" dirty="0" smtClean="0">
                <a:solidFill>
                  <a:schemeClr val="bg2"/>
                </a:solidFill>
              </a:rPr>
              <a:t>+5</a:t>
            </a:r>
            <a:r>
              <a:rPr lang="en-US" altLang="zh-CN" i="1" dirty="0" smtClean="0">
                <a:solidFill>
                  <a:schemeClr val="bg2"/>
                </a:solidFill>
              </a:rPr>
              <a:t>x</a:t>
            </a:r>
            <a:r>
              <a:rPr lang="en-US" altLang="zh-CN" baseline="-25000" dirty="0" smtClean="0">
                <a:solidFill>
                  <a:schemeClr val="bg2"/>
                </a:solidFill>
              </a:rPr>
              <a:t>3</a:t>
            </a:r>
            <a:r>
              <a:rPr lang="en-US" altLang="zh-CN" dirty="0" smtClean="0">
                <a:solidFill>
                  <a:schemeClr val="bg2"/>
                </a:solidFill>
              </a:rPr>
              <a:t>+9</a:t>
            </a:r>
            <a:r>
              <a:rPr lang="en-US" altLang="zh-CN" i="1" dirty="0" smtClean="0">
                <a:solidFill>
                  <a:schemeClr val="bg2"/>
                </a:solidFill>
              </a:rPr>
              <a:t>x</a:t>
            </a:r>
            <a:r>
              <a:rPr lang="en-US" altLang="zh-CN" baseline="-25000" dirty="0" smtClean="0">
                <a:solidFill>
                  <a:schemeClr val="bg2"/>
                </a:solidFill>
              </a:rPr>
              <a:t>4</a:t>
            </a:r>
          </a:p>
          <a:p>
            <a:pPr marL="1257300" lvl="2" indent="-342900" algn="just">
              <a:lnSpc>
                <a:spcPct val="120000"/>
              </a:lnSpc>
              <a:buFont typeface="Arial" panose="020B0604020202020204" pitchFamily="34" charset="0"/>
              <a:buChar char="•"/>
            </a:pPr>
            <a:r>
              <a:rPr lang="zh-CN" altLang="en-US" dirty="0" smtClean="0">
                <a:solidFill>
                  <a:schemeClr val="bg2"/>
                </a:solidFill>
              </a:rPr>
              <a:t>约束条件：      </a:t>
            </a:r>
            <a:r>
              <a:rPr lang="en-US" altLang="zh-CN" dirty="0" smtClean="0">
                <a:solidFill>
                  <a:schemeClr val="bg2"/>
                </a:solidFill>
              </a:rPr>
              <a:t>2</a:t>
            </a:r>
            <a:r>
              <a:rPr lang="en-US" altLang="zh-CN" i="1" dirty="0" smtClean="0">
                <a:solidFill>
                  <a:schemeClr val="bg2"/>
                </a:solidFill>
              </a:rPr>
              <a:t>x</a:t>
            </a:r>
            <a:r>
              <a:rPr lang="en-US" altLang="zh-CN" baseline="-25000" dirty="0" smtClean="0">
                <a:solidFill>
                  <a:schemeClr val="bg2"/>
                </a:solidFill>
              </a:rPr>
              <a:t>1</a:t>
            </a:r>
            <a:r>
              <a:rPr lang="en-US" altLang="zh-CN" dirty="0" smtClean="0">
                <a:solidFill>
                  <a:schemeClr val="bg2"/>
                </a:solidFill>
              </a:rPr>
              <a:t>+3</a:t>
            </a:r>
            <a:r>
              <a:rPr lang="en-US" altLang="zh-CN" i="1" dirty="0" smtClean="0">
                <a:solidFill>
                  <a:schemeClr val="bg2"/>
                </a:solidFill>
              </a:rPr>
              <a:t>x</a:t>
            </a:r>
            <a:r>
              <a:rPr lang="en-US" altLang="zh-CN" baseline="-25000" dirty="0" smtClean="0">
                <a:solidFill>
                  <a:schemeClr val="bg2"/>
                </a:solidFill>
              </a:rPr>
              <a:t>2</a:t>
            </a:r>
            <a:r>
              <a:rPr lang="en-US" altLang="zh-CN" dirty="0" smtClean="0">
                <a:solidFill>
                  <a:schemeClr val="bg2"/>
                </a:solidFill>
              </a:rPr>
              <a:t>+4</a:t>
            </a:r>
            <a:r>
              <a:rPr lang="en-US" altLang="zh-CN" i="1" dirty="0" smtClean="0">
                <a:solidFill>
                  <a:schemeClr val="bg2"/>
                </a:solidFill>
              </a:rPr>
              <a:t>x</a:t>
            </a:r>
            <a:r>
              <a:rPr lang="en-US" altLang="zh-CN" baseline="-25000" dirty="0" smtClean="0">
                <a:solidFill>
                  <a:schemeClr val="bg2"/>
                </a:solidFill>
              </a:rPr>
              <a:t>3</a:t>
            </a:r>
            <a:r>
              <a:rPr lang="en-US" altLang="zh-CN" dirty="0" smtClean="0">
                <a:solidFill>
                  <a:schemeClr val="bg2"/>
                </a:solidFill>
              </a:rPr>
              <a:t>+7</a:t>
            </a:r>
            <a:r>
              <a:rPr lang="en-US" altLang="zh-CN" i="1" dirty="0" smtClean="0">
                <a:solidFill>
                  <a:schemeClr val="bg2"/>
                </a:solidFill>
              </a:rPr>
              <a:t>x</a:t>
            </a:r>
            <a:r>
              <a:rPr lang="en-US" altLang="zh-CN" baseline="-25000" dirty="0" smtClean="0">
                <a:solidFill>
                  <a:schemeClr val="bg2"/>
                </a:solidFill>
              </a:rPr>
              <a:t>4</a:t>
            </a:r>
            <a:r>
              <a:rPr lang="en-US" altLang="zh-CN" dirty="0" smtClean="0">
                <a:solidFill>
                  <a:schemeClr val="bg2"/>
                </a:solidFill>
              </a:rPr>
              <a:t>≤10</a:t>
            </a:r>
          </a:p>
          <a:p>
            <a:pPr marL="1257300" lvl="2" indent="-342900" algn="just">
              <a:lnSpc>
                <a:spcPct val="120000"/>
              </a:lnSpc>
              <a:buFont typeface="Arial" panose="020B0604020202020204" pitchFamily="34" charset="0"/>
              <a:buChar char="•"/>
            </a:pPr>
            <a:r>
              <a:rPr lang="zh-CN" altLang="en-US" dirty="0" smtClean="0">
                <a:solidFill>
                  <a:schemeClr val="bg2"/>
                </a:solidFill>
              </a:rPr>
              <a:t>求解方法：动态规划、分支限界、</a:t>
            </a:r>
            <a:r>
              <a:rPr lang="zh-CN" altLang="en-US" b="1" dirty="0" smtClean="0">
                <a:solidFill>
                  <a:srgbClr val="FF0000"/>
                </a:solidFill>
              </a:rPr>
              <a:t>线性规划</a:t>
            </a:r>
            <a:endParaRPr lang="en-US" altLang="zh-CN" b="1" dirty="0">
              <a:solidFill>
                <a:srgbClr val="FF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left)">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left)">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8105140" cy="844550"/>
          </a:xfrm>
        </p:spPr>
        <p:txBody>
          <a:bodyPr/>
          <a:lstStyle/>
          <a:p>
            <a:r>
              <a:rPr kumimoji="0" lang="zh-CN" altLang="en-US" kern="1200" noProof="0" dirty="0" smtClean="0">
                <a:solidFill>
                  <a:schemeClr val="accent2"/>
                </a:solidFill>
                <a:sym typeface="+mn-ea"/>
              </a:rPr>
              <a:t>第</a:t>
            </a:r>
            <a:r>
              <a:rPr kumimoji="0" lang="en-US" altLang="zh-CN" kern="1200" noProof="0" dirty="0" smtClean="0">
                <a:solidFill>
                  <a:schemeClr val="accent2"/>
                </a:solidFill>
                <a:sym typeface="+mn-ea"/>
              </a:rPr>
              <a:t>6</a:t>
            </a:r>
            <a:r>
              <a:rPr kumimoji="0" lang="zh-CN" altLang="en-US" kern="1200" noProof="0" dirty="0" smtClean="0">
                <a:solidFill>
                  <a:schemeClr val="accent2"/>
                </a:solidFill>
                <a:sym typeface="+mn-ea"/>
              </a:rPr>
              <a:t>章  线性规划</a:t>
            </a:r>
            <a:endParaRPr kumimoji="0" lang="en-US" altLang="zh-CN" kern="1200" noProof="0" dirty="0" smtClean="0">
              <a:ln>
                <a:noFill/>
              </a:ln>
              <a:solidFill>
                <a:schemeClr val="accent2"/>
              </a:solidFill>
              <a:effectLst/>
              <a:uLnTx/>
              <a:uFillTx/>
              <a:sym typeface="+mn-ea"/>
            </a:endParaRPr>
          </a:p>
        </p:txBody>
      </p:sp>
      <p:sp>
        <p:nvSpPr>
          <p:cNvPr id="3" name="TextBox 2"/>
          <p:cNvSpPr txBox="1"/>
          <p:nvPr/>
        </p:nvSpPr>
        <p:spPr>
          <a:xfrm>
            <a:off x="323528" y="1628800"/>
            <a:ext cx="8568952" cy="4521835"/>
          </a:xfrm>
          <a:prstGeom prst="rect">
            <a:avLst/>
          </a:prstGeom>
          <a:noFill/>
        </p:spPr>
        <p:txBody>
          <a:bodyPr wrap="square" rtlCol="0">
            <a:spAutoFit/>
          </a:bodyPr>
          <a:lstStyle/>
          <a:p>
            <a:pPr marL="342900" indent="-342900">
              <a:lnSpc>
                <a:spcPct val="120000"/>
              </a:lnSpc>
              <a:buFont typeface="Wingdings" panose="05000000000000000000" pitchFamily="2" charset="2"/>
              <a:buChar char="l"/>
            </a:pPr>
            <a:r>
              <a:rPr lang="zh-CN" altLang="en-US" b="1" dirty="0" smtClean="0">
                <a:solidFill>
                  <a:schemeClr val="bg1"/>
                </a:solidFill>
              </a:rPr>
              <a:t>线性规划</a:t>
            </a:r>
            <a:r>
              <a:rPr lang="en-US" altLang="zh-CN" b="1" dirty="0" smtClean="0">
                <a:solidFill>
                  <a:schemeClr val="bg1"/>
                </a:solidFill>
              </a:rPr>
              <a:t>——</a:t>
            </a:r>
            <a:r>
              <a:rPr lang="en-US" altLang="zh-CN" dirty="0">
                <a:solidFill>
                  <a:schemeClr val="bg1"/>
                </a:solidFill>
              </a:rPr>
              <a:t>《</a:t>
            </a:r>
            <a:r>
              <a:rPr lang="zh-CN" altLang="en-US" dirty="0">
                <a:solidFill>
                  <a:schemeClr val="bg1"/>
                </a:solidFill>
              </a:rPr>
              <a:t>运筹学</a:t>
            </a:r>
            <a:r>
              <a:rPr lang="en-US" altLang="zh-CN" dirty="0">
                <a:solidFill>
                  <a:schemeClr val="bg1"/>
                </a:solidFill>
              </a:rPr>
              <a:t>》</a:t>
            </a:r>
            <a:r>
              <a:rPr lang="zh-CN" altLang="en-US" dirty="0">
                <a:solidFill>
                  <a:schemeClr val="bg1"/>
                </a:solidFill>
              </a:rPr>
              <a:t>课程中的重要研究内容</a:t>
            </a:r>
            <a:endParaRPr lang="en-US" altLang="zh-CN" b="1" dirty="0" smtClean="0">
              <a:solidFill>
                <a:schemeClr val="bg1"/>
              </a:solidFill>
            </a:endParaRPr>
          </a:p>
          <a:p>
            <a:pPr marL="716280" lvl="1" indent="-259080">
              <a:lnSpc>
                <a:spcPct val="120000"/>
              </a:lnSpc>
              <a:buFont typeface="Arial" panose="020B0604020202020204" pitchFamily="34" charset="0"/>
              <a:buChar char="•"/>
            </a:pPr>
            <a:r>
              <a:rPr lang="zh-CN" altLang="en-US" dirty="0" smtClean="0">
                <a:solidFill>
                  <a:schemeClr val="bg1"/>
                </a:solidFill>
              </a:rPr>
              <a:t>目前应用最为广泛的、求解</a:t>
            </a:r>
            <a:r>
              <a:rPr lang="zh-CN" altLang="en-US" b="1" dirty="0" smtClean="0">
                <a:solidFill>
                  <a:srgbClr val="FF0000"/>
                </a:solidFill>
              </a:rPr>
              <a:t>组合优化问题</a:t>
            </a:r>
            <a:r>
              <a:rPr lang="zh-CN" altLang="en-US" dirty="0" smtClean="0">
                <a:solidFill>
                  <a:schemeClr val="bg1"/>
                </a:solidFill>
              </a:rPr>
              <a:t>的数学模型。</a:t>
            </a:r>
            <a:endParaRPr lang="en-US" altLang="zh-CN" dirty="0" smtClean="0">
              <a:solidFill>
                <a:schemeClr val="bg1"/>
              </a:solidFill>
            </a:endParaRPr>
          </a:p>
          <a:p>
            <a:pPr marL="716280" lvl="1" indent="-259080">
              <a:lnSpc>
                <a:spcPct val="120000"/>
              </a:lnSpc>
              <a:buFont typeface="Arial" panose="020B0604020202020204" pitchFamily="34" charset="0"/>
              <a:buChar char="•"/>
            </a:pPr>
            <a:r>
              <a:rPr lang="zh-CN" altLang="en-US" dirty="0">
                <a:solidFill>
                  <a:schemeClr val="bg1"/>
                </a:solidFill>
              </a:rPr>
              <a:t>规划</a:t>
            </a:r>
            <a:r>
              <a:rPr lang="zh-CN" altLang="en-US" dirty="0" smtClean="0">
                <a:solidFill>
                  <a:schemeClr val="bg1"/>
                </a:solidFill>
              </a:rPr>
              <a:t>：</a:t>
            </a:r>
            <a:r>
              <a:rPr lang="zh-CN" altLang="en-US" b="1" dirty="0" smtClean="0">
                <a:solidFill>
                  <a:srgbClr val="FF0000"/>
                </a:solidFill>
              </a:rPr>
              <a:t>合理</a:t>
            </a:r>
            <a:r>
              <a:rPr lang="zh-CN" altLang="en-US" b="1" dirty="0">
                <a:solidFill>
                  <a:srgbClr val="FF0000"/>
                </a:solidFill>
              </a:rPr>
              <a:t>地</a:t>
            </a:r>
            <a:r>
              <a:rPr lang="zh-CN" altLang="en-US" dirty="0">
                <a:solidFill>
                  <a:schemeClr val="bg1"/>
                </a:solidFill>
              </a:rPr>
              <a:t>利用有限的人力、物力、财力等资源，以便得到</a:t>
            </a:r>
            <a:r>
              <a:rPr lang="zh-CN" altLang="en-US" dirty="0">
                <a:solidFill>
                  <a:srgbClr val="FF0000"/>
                </a:solidFill>
              </a:rPr>
              <a:t>最好的经济效果</a:t>
            </a:r>
            <a:r>
              <a:rPr lang="zh-CN" altLang="en-US" dirty="0" smtClean="0">
                <a:solidFill>
                  <a:schemeClr val="bg1"/>
                </a:solidFill>
              </a:rPr>
              <a:t>。</a:t>
            </a:r>
            <a:endParaRPr lang="en-US" altLang="zh-CN" dirty="0" smtClean="0">
              <a:solidFill>
                <a:schemeClr val="bg1"/>
              </a:solidFill>
            </a:endParaRPr>
          </a:p>
          <a:p>
            <a:pPr marL="716280" lvl="1" indent="-259080">
              <a:lnSpc>
                <a:spcPct val="120000"/>
              </a:lnSpc>
              <a:buFont typeface="Arial" panose="020B0604020202020204" pitchFamily="34" charset="0"/>
              <a:buChar char="•"/>
            </a:pPr>
            <a:r>
              <a:rPr lang="zh-CN" altLang="en-US" dirty="0" smtClean="0">
                <a:solidFill>
                  <a:schemeClr val="bg1"/>
                </a:solidFill>
              </a:rPr>
              <a:t>线性规划：问题的</a:t>
            </a:r>
            <a:r>
              <a:rPr lang="zh-CN" altLang="en-US" dirty="0" smtClean="0">
                <a:solidFill>
                  <a:srgbClr val="FF0000"/>
                </a:solidFill>
              </a:rPr>
              <a:t>目标函数</a:t>
            </a:r>
            <a:r>
              <a:rPr lang="zh-CN" altLang="en-US" dirty="0" smtClean="0">
                <a:solidFill>
                  <a:schemeClr val="bg1"/>
                </a:solidFill>
              </a:rPr>
              <a:t>和</a:t>
            </a:r>
            <a:r>
              <a:rPr lang="zh-CN" altLang="en-US" dirty="0" smtClean="0">
                <a:solidFill>
                  <a:srgbClr val="FF0000"/>
                </a:solidFill>
              </a:rPr>
              <a:t>约束条件</a:t>
            </a:r>
            <a:r>
              <a:rPr lang="zh-CN" altLang="en-US" dirty="0" smtClean="0">
                <a:solidFill>
                  <a:schemeClr val="bg1"/>
                </a:solidFill>
              </a:rPr>
              <a:t>由问题的未知量（决策变量）构成的线性函数。</a:t>
            </a:r>
            <a:endParaRPr lang="en-US" altLang="zh-CN" dirty="0" smtClean="0">
              <a:solidFill>
                <a:schemeClr val="bg1"/>
              </a:solidFill>
            </a:endParaRPr>
          </a:p>
          <a:p>
            <a:pPr marL="716280" lvl="1" indent="-259080">
              <a:lnSpc>
                <a:spcPct val="120000"/>
              </a:lnSpc>
              <a:buFont typeface="Arial" panose="020B0604020202020204" pitchFamily="34" charset="0"/>
              <a:buChar char="•"/>
            </a:pPr>
            <a:r>
              <a:rPr lang="zh-CN" altLang="en-US" dirty="0" smtClean="0">
                <a:solidFill>
                  <a:schemeClr val="bg1"/>
                </a:solidFill>
              </a:rPr>
              <a:t>求解线性规划的算法</a:t>
            </a:r>
            <a:endParaRPr lang="en-US" altLang="zh-CN" dirty="0" smtClean="0">
              <a:solidFill>
                <a:schemeClr val="bg1"/>
              </a:solidFill>
            </a:endParaRPr>
          </a:p>
          <a:p>
            <a:pPr marL="1257300" lvl="2" indent="-342900">
              <a:lnSpc>
                <a:spcPct val="120000"/>
              </a:lnSpc>
              <a:buFont typeface="Times New Roman" panose="02020603050405020304" pitchFamily="18" charset="0"/>
              <a:buChar char="−"/>
            </a:pPr>
            <a:r>
              <a:rPr lang="zh-CN" altLang="en-US" dirty="0" smtClean="0">
                <a:solidFill>
                  <a:schemeClr val="bg1"/>
                </a:solidFill>
              </a:rPr>
              <a:t>椭球算法：多项式时间可解，但实际运行速度很慢。</a:t>
            </a:r>
            <a:endParaRPr lang="en-US" altLang="zh-CN" dirty="0" smtClean="0">
              <a:solidFill>
                <a:schemeClr val="bg1"/>
              </a:solidFill>
            </a:endParaRPr>
          </a:p>
          <a:p>
            <a:pPr marL="1257300" lvl="2" indent="-342900">
              <a:lnSpc>
                <a:spcPct val="120000"/>
              </a:lnSpc>
              <a:buFont typeface="Times New Roman" panose="02020603050405020304" pitchFamily="18" charset="0"/>
              <a:buChar char="−"/>
            </a:pPr>
            <a:r>
              <a:rPr lang="zh-CN" altLang="en-US" dirty="0" smtClean="0">
                <a:solidFill>
                  <a:schemeClr val="bg1"/>
                </a:solidFill>
              </a:rPr>
              <a:t>投影算法：</a:t>
            </a:r>
            <a:r>
              <a:rPr lang="zh-CN" altLang="en-US" dirty="0">
                <a:solidFill>
                  <a:schemeClr val="bg1"/>
                </a:solidFill>
              </a:rPr>
              <a:t>多项式时间可解</a:t>
            </a:r>
            <a:r>
              <a:rPr lang="zh-CN" altLang="en-US" dirty="0" smtClean="0">
                <a:solidFill>
                  <a:schemeClr val="bg1"/>
                </a:solidFill>
              </a:rPr>
              <a:t>，优于椭球算法。</a:t>
            </a:r>
            <a:endParaRPr lang="en-US" altLang="zh-CN" dirty="0" smtClean="0">
              <a:solidFill>
                <a:schemeClr val="bg1"/>
              </a:solidFill>
            </a:endParaRPr>
          </a:p>
          <a:p>
            <a:pPr marL="1257300" lvl="2" indent="-342900">
              <a:lnSpc>
                <a:spcPct val="120000"/>
              </a:lnSpc>
              <a:buFont typeface="Times New Roman" panose="02020603050405020304" pitchFamily="18" charset="0"/>
              <a:buChar char="−"/>
            </a:pPr>
            <a:r>
              <a:rPr lang="zh-CN" altLang="en-US" b="1" dirty="0" smtClean="0">
                <a:solidFill>
                  <a:srgbClr val="FF0000"/>
                </a:solidFill>
              </a:rPr>
              <a:t>单纯形法：</a:t>
            </a:r>
            <a:endParaRPr lang="zh-CN" altLang="en-US" b="1" dirty="0">
              <a:solidFill>
                <a:srgbClr val="FF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left)">
                                      <p:cBhvr>
                                        <p:cTn id="26" dur="500"/>
                                        <p:tgtEl>
                                          <p:spTgt spid="3">
                                            <p:txEl>
                                              <p:pRg st="5" end="5"/>
                                            </p:txEl>
                                          </p:spTgt>
                                        </p:tgtEl>
                                      </p:cBhvr>
                                    </p:animEffect>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wipe(left)">
                                      <p:cBhvr>
                                        <p:cTn id="30" dur="500"/>
                                        <p:tgtEl>
                                          <p:spTgt spid="3">
                                            <p:txEl>
                                              <p:pRg st="6" end="6"/>
                                            </p:txEl>
                                          </p:spTgt>
                                        </p:tgtEl>
                                      </p:cBhvr>
                                    </p:animEffect>
                                  </p:childTnLst>
                                </p:cTn>
                              </p:par>
                            </p:childTnLst>
                          </p:cTn>
                        </p:par>
                        <p:par>
                          <p:cTn id="31" fill="hold">
                            <p:stCondLst>
                              <p:cond delay="1500"/>
                            </p:stCondLst>
                            <p:childTnLst>
                              <p:par>
                                <p:cTn id="32" presetID="22" presetClass="entr" presetSubtype="8" fill="hold" nodeType="after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wipe(left)">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8105140" cy="844550"/>
          </a:xfrm>
        </p:spPr>
        <p:txBody>
          <a:bodyPr/>
          <a:lstStyle/>
          <a:p>
            <a:r>
              <a:rPr kumimoji="0" lang="zh-CN" altLang="en-US" kern="1200" noProof="0" dirty="0" smtClean="0">
                <a:solidFill>
                  <a:schemeClr val="accent2"/>
                </a:solidFill>
                <a:sym typeface="+mn-ea"/>
              </a:rPr>
              <a:t>第</a:t>
            </a:r>
            <a:r>
              <a:rPr kumimoji="0" lang="en-US" altLang="zh-CN" kern="1200" noProof="0" dirty="0" smtClean="0">
                <a:solidFill>
                  <a:schemeClr val="accent2"/>
                </a:solidFill>
                <a:sym typeface="+mn-ea"/>
              </a:rPr>
              <a:t>6</a:t>
            </a:r>
            <a:r>
              <a:rPr kumimoji="0" lang="zh-CN" altLang="en-US" kern="1200" noProof="0" dirty="0" smtClean="0">
                <a:solidFill>
                  <a:schemeClr val="accent2"/>
                </a:solidFill>
                <a:sym typeface="+mn-ea"/>
              </a:rPr>
              <a:t>章  线性规划</a:t>
            </a:r>
            <a:endParaRPr kumimoji="0" lang="en-US" altLang="zh-CN" kern="1200" noProof="0" dirty="0" smtClean="0">
              <a:ln>
                <a:noFill/>
              </a:ln>
              <a:solidFill>
                <a:schemeClr val="accent2"/>
              </a:solidFill>
              <a:effectLst/>
              <a:uLnTx/>
              <a:uFillTx/>
              <a:sym typeface="+mn-ea"/>
            </a:endParaRPr>
          </a:p>
        </p:txBody>
      </p:sp>
      <p:sp>
        <p:nvSpPr>
          <p:cNvPr id="3" name="TextBox 2"/>
          <p:cNvSpPr txBox="1"/>
          <p:nvPr/>
        </p:nvSpPr>
        <p:spPr>
          <a:xfrm>
            <a:off x="323528" y="1628800"/>
            <a:ext cx="8568952" cy="4524315"/>
          </a:xfrm>
          <a:prstGeom prst="rect">
            <a:avLst/>
          </a:prstGeom>
          <a:noFill/>
        </p:spPr>
        <p:txBody>
          <a:bodyPr wrap="square" rtlCol="0">
            <a:spAutoFit/>
          </a:bodyPr>
          <a:lstStyle/>
          <a:p>
            <a:pPr marL="342900" indent="-342900">
              <a:lnSpc>
                <a:spcPct val="120000"/>
              </a:lnSpc>
              <a:buFont typeface="Wingdings" panose="05000000000000000000" pitchFamily="2" charset="2"/>
              <a:buChar char="l"/>
            </a:pPr>
            <a:r>
              <a:rPr lang="zh-CN" altLang="en-US" dirty="0" smtClean="0">
                <a:solidFill>
                  <a:schemeClr val="bg2"/>
                </a:solidFill>
              </a:rPr>
              <a:t>本节课研究的主要内容</a:t>
            </a:r>
            <a:endParaRPr lang="en-US" altLang="zh-CN" dirty="0" smtClean="0">
              <a:solidFill>
                <a:schemeClr val="bg2"/>
              </a:solidFill>
            </a:endParaRPr>
          </a:p>
          <a:p>
            <a:pPr marL="800100" lvl="1" indent="-342900">
              <a:lnSpc>
                <a:spcPct val="120000"/>
              </a:lnSpc>
              <a:buFont typeface="Wingdings" panose="05000000000000000000" pitchFamily="2" charset="2"/>
              <a:buChar char="Ø"/>
            </a:pPr>
            <a:r>
              <a:rPr lang="zh-CN" altLang="en-US" dirty="0" smtClean="0">
                <a:solidFill>
                  <a:schemeClr val="bg2"/>
                </a:solidFill>
              </a:rPr>
              <a:t>线性规划模型</a:t>
            </a:r>
            <a:endParaRPr lang="en-US" altLang="zh-CN" dirty="0" smtClean="0">
              <a:solidFill>
                <a:schemeClr val="bg2"/>
              </a:solidFill>
            </a:endParaRPr>
          </a:p>
          <a:p>
            <a:pPr marL="1257300" lvl="2" indent="-342900">
              <a:lnSpc>
                <a:spcPct val="120000"/>
              </a:lnSpc>
              <a:buFont typeface="Arial" panose="020B0604020202020204" pitchFamily="34" charset="0"/>
              <a:buChar char="•"/>
            </a:pPr>
            <a:r>
              <a:rPr lang="zh-CN" altLang="en-US" dirty="0" smtClean="0">
                <a:solidFill>
                  <a:schemeClr val="bg2"/>
                </a:solidFill>
              </a:rPr>
              <a:t>生活中的线性规划问题</a:t>
            </a:r>
            <a:endParaRPr lang="en-US" altLang="zh-CN" dirty="0" smtClean="0">
              <a:solidFill>
                <a:schemeClr val="bg2"/>
              </a:solidFill>
            </a:endParaRPr>
          </a:p>
          <a:p>
            <a:pPr marL="1257300" lvl="2" indent="-342900">
              <a:lnSpc>
                <a:spcPct val="120000"/>
              </a:lnSpc>
              <a:buFont typeface="Arial" panose="020B0604020202020204" pitchFamily="34" charset="0"/>
              <a:buChar char="•"/>
            </a:pPr>
            <a:r>
              <a:rPr lang="zh-CN" altLang="en-US" dirty="0" smtClean="0">
                <a:solidFill>
                  <a:schemeClr val="bg2"/>
                </a:solidFill>
              </a:rPr>
              <a:t>建立相应问题线性规划模型</a:t>
            </a:r>
            <a:endParaRPr lang="en-US" altLang="zh-CN" dirty="0" smtClean="0">
              <a:solidFill>
                <a:schemeClr val="bg2"/>
              </a:solidFill>
            </a:endParaRPr>
          </a:p>
          <a:p>
            <a:pPr marL="800100" lvl="1" indent="-342900">
              <a:lnSpc>
                <a:spcPct val="120000"/>
              </a:lnSpc>
              <a:buFont typeface="Wingdings" panose="05000000000000000000" pitchFamily="2" charset="2"/>
              <a:buChar char="Ø"/>
            </a:pPr>
            <a:r>
              <a:rPr lang="zh-CN" altLang="en-US" dirty="0">
                <a:solidFill>
                  <a:schemeClr val="bg2"/>
                </a:solidFill>
              </a:rPr>
              <a:t>二</a:t>
            </a:r>
            <a:r>
              <a:rPr lang="zh-CN" altLang="en-US" dirty="0" smtClean="0">
                <a:solidFill>
                  <a:schemeClr val="bg2"/>
                </a:solidFill>
              </a:rPr>
              <a:t>维线性规划的图解法</a:t>
            </a:r>
            <a:endParaRPr lang="en-US" altLang="zh-CN" dirty="0" smtClean="0">
              <a:solidFill>
                <a:schemeClr val="bg2"/>
              </a:solidFill>
            </a:endParaRPr>
          </a:p>
          <a:p>
            <a:pPr marL="1257300" lvl="2" indent="-342900">
              <a:lnSpc>
                <a:spcPct val="120000"/>
              </a:lnSpc>
              <a:buFont typeface="Arial" panose="020B0604020202020204" pitchFamily="34" charset="0"/>
              <a:buChar char="•"/>
            </a:pPr>
            <a:r>
              <a:rPr lang="zh-CN" altLang="en-US" dirty="0" smtClean="0">
                <a:solidFill>
                  <a:schemeClr val="bg2"/>
                </a:solidFill>
              </a:rPr>
              <a:t>图解法求解</a:t>
            </a:r>
            <a:r>
              <a:rPr lang="zh-CN" altLang="en-US" dirty="0">
                <a:solidFill>
                  <a:schemeClr val="bg2"/>
                </a:solidFill>
              </a:rPr>
              <a:t>二维线性规划</a:t>
            </a:r>
            <a:r>
              <a:rPr lang="zh-CN" altLang="en-US" dirty="0" smtClean="0">
                <a:solidFill>
                  <a:schemeClr val="bg2"/>
                </a:solidFill>
              </a:rPr>
              <a:t>问题</a:t>
            </a:r>
            <a:endParaRPr lang="en-US" altLang="zh-CN" dirty="0" smtClean="0">
              <a:solidFill>
                <a:schemeClr val="bg2"/>
              </a:solidFill>
            </a:endParaRPr>
          </a:p>
          <a:p>
            <a:pPr marL="1257300" lvl="2" indent="-342900">
              <a:lnSpc>
                <a:spcPct val="120000"/>
              </a:lnSpc>
              <a:buFont typeface="Arial" panose="020B0604020202020204" pitchFamily="34" charset="0"/>
              <a:buChar char="•"/>
            </a:pPr>
            <a:r>
              <a:rPr lang="zh-CN" altLang="en-US" dirty="0" smtClean="0">
                <a:solidFill>
                  <a:schemeClr val="bg2"/>
                </a:solidFill>
              </a:rPr>
              <a:t>图解法求得解的四种情况</a:t>
            </a:r>
            <a:endParaRPr lang="en-US" altLang="zh-CN" dirty="0" smtClean="0">
              <a:solidFill>
                <a:schemeClr val="bg2"/>
              </a:solidFill>
            </a:endParaRPr>
          </a:p>
          <a:p>
            <a:pPr marL="800100" lvl="1" indent="-342900">
              <a:lnSpc>
                <a:spcPct val="120000"/>
              </a:lnSpc>
              <a:buFont typeface="Wingdings" panose="05000000000000000000" pitchFamily="2" charset="2"/>
              <a:buChar char="Ø"/>
            </a:pPr>
            <a:r>
              <a:rPr lang="zh-CN" altLang="en-US" dirty="0" smtClean="0">
                <a:solidFill>
                  <a:schemeClr val="bg2"/>
                </a:solidFill>
              </a:rPr>
              <a:t>标准形</a:t>
            </a:r>
            <a:endParaRPr lang="en-US" altLang="zh-CN" dirty="0" smtClean="0">
              <a:solidFill>
                <a:schemeClr val="bg2"/>
              </a:solidFill>
            </a:endParaRPr>
          </a:p>
          <a:p>
            <a:pPr marL="1257300" lvl="2" indent="-342900">
              <a:lnSpc>
                <a:spcPct val="120000"/>
              </a:lnSpc>
              <a:buFont typeface="Arial" panose="020B0604020202020204" pitchFamily="34" charset="0"/>
              <a:buChar char="•"/>
            </a:pPr>
            <a:r>
              <a:rPr lang="zh-CN" altLang="en-US" dirty="0" smtClean="0">
                <a:solidFill>
                  <a:schemeClr val="bg2"/>
                </a:solidFill>
              </a:rPr>
              <a:t>标准形基本概念</a:t>
            </a:r>
            <a:endParaRPr lang="en-US" altLang="zh-CN" dirty="0" smtClean="0">
              <a:solidFill>
                <a:schemeClr val="bg2"/>
              </a:solidFill>
            </a:endParaRPr>
          </a:p>
          <a:p>
            <a:pPr marL="1257300" lvl="2" indent="-342900">
              <a:lnSpc>
                <a:spcPct val="120000"/>
              </a:lnSpc>
              <a:buFont typeface="Arial" panose="020B0604020202020204" pitchFamily="34" charset="0"/>
              <a:buChar char="•"/>
            </a:pPr>
            <a:r>
              <a:rPr lang="zh-CN" altLang="en-US" dirty="0" smtClean="0">
                <a:solidFill>
                  <a:schemeClr val="bg2"/>
                </a:solidFill>
              </a:rPr>
              <a:t>写出线性规划模型的标准形</a:t>
            </a:r>
            <a:endParaRPr lang="en-US" altLang="zh-CN" dirty="0" smtClean="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left)">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wipe(left)">
                                      <p:cBhvr>
                                        <p:cTn id="15" dur="500"/>
                                        <p:tgtEl>
                                          <p:spTgt spid="3">
                                            <p:txEl>
                                              <p:pRg st="5" end="5"/>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wipe(left)">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wipe(left)">
                                      <p:cBhvr>
                                        <p:cTn id="23" dur="500"/>
                                        <p:tgtEl>
                                          <p:spTgt spid="3">
                                            <p:txEl>
                                              <p:pRg st="8" end="8"/>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wipe(left)">
                                      <p:cBhvr>
                                        <p:cTn id="2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8105140" cy="844550"/>
          </a:xfrm>
        </p:spPr>
        <p:txBody>
          <a:bodyPr/>
          <a:lstStyle/>
          <a:p>
            <a:r>
              <a:rPr kumimoji="0" lang="en-US" altLang="zh-CN" kern="1200" noProof="0" dirty="0" smtClean="0">
                <a:solidFill>
                  <a:schemeClr val="accent2"/>
                </a:solidFill>
                <a:sym typeface="+mn-ea"/>
              </a:rPr>
              <a:t>6.1 </a:t>
            </a:r>
            <a:r>
              <a:rPr kumimoji="0" lang="zh-CN" altLang="en-US" kern="1200" noProof="0" dirty="0" smtClean="0">
                <a:solidFill>
                  <a:schemeClr val="accent2"/>
                </a:solidFill>
                <a:sym typeface="+mn-ea"/>
              </a:rPr>
              <a:t>线性规划</a:t>
            </a:r>
            <a:r>
              <a:rPr kumimoji="0" lang="zh-CN" altLang="en-US" kern="1200" dirty="0">
                <a:solidFill>
                  <a:schemeClr val="accent2"/>
                </a:solidFill>
                <a:sym typeface="+mn-ea"/>
              </a:rPr>
              <a:t>模型</a:t>
            </a:r>
            <a:endParaRPr kumimoji="0" lang="en-US" altLang="zh-CN" kern="1200" noProof="0" dirty="0" smtClean="0">
              <a:ln>
                <a:noFill/>
              </a:ln>
              <a:solidFill>
                <a:schemeClr val="accent2"/>
              </a:solidFill>
              <a:effectLst/>
              <a:uLnTx/>
              <a:uFillTx/>
              <a:sym typeface="+mn-ea"/>
            </a:endParaRPr>
          </a:p>
        </p:txBody>
      </p:sp>
      <p:sp>
        <p:nvSpPr>
          <p:cNvPr id="3" name="TextBox 2"/>
          <p:cNvSpPr txBox="1"/>
          <p:nvPr/>
        </p:nvSpPr>
        <p:spPr>
          <a:xfrm>
            <a:off x="323528" y="1628800"/>
            <a:ext cx="8568952" cy="4232910"/>
          </a:xfrm>
          <a:prstGeom prst="rect">
            <a:avLst/>
          </a:prstGeom>
          <a:noFill/>
        </p:spPr>
        <p:txBody>
          <a:bodyPr wrap="square" rtlCol="0">
            <a:spAutoFit/>
          </a:bodyPr>
          <a:lstStyle/>
          <a:p>
            <a:pPr marL="342900" indent="-342900">
              <a:lnSpc>
                <a:spcPct val="120000"/>
              </a:lnSpc>
              <a:buFont typeface="Wingdings" panose="05000000000000000000" pitchFamily="2" charset="2"/>
              <a:buChar char="l"/>
            </a:pPr>
            <a:r>
              <a:rPr lang="zh-CN" altLang="en-US" dirty="0" smtClean="0">
                <a:solidFill>
                  <a:schemeClr val="bg2"/>
                </a:solidFill>
              </a:rPr>
              <a:t>线性规划模型</a:t>
            </a:r>
            <a:endParaRPr lang="en-US" altLang="zh-CN" dirty="0" smtClean="0">
              <a:solidFill>
                <a:schemeClr val="bg2"/>
              </a:solidFill>
            </a:endParaRPr>
          </a:p>
          <a:p>
            <a:pPr marL="800100" lvl="1" indent="-342900">
              <a:lnSpc>
                <a:spcPct val="120000"/>
              </a:lnSpc>
              <a:buFont typeface="Wingdings" panose="05000000000000000000" pitchFamily="2" charset="2"/>
              <a:buChar char="Ø"/>
            </a:pPr>
            <a:r>
              <a:rPr lang="zh-CN" altLang="en-US" dirty="0" smtClean="0">
                <a:solidFill>
                  <a:schemeClr val="bg2"/>
                </a:solidFill>
              </a:rPr>
              <a:t>举例</a:t>
            </a:r>
            <a:r>
              <a:rPr lang="en-US" altLang="zh-CN" dirty="0" smtClean="0">
                <a:solidFill>
                  <a:schemeClr val="bg2"/>
                </a:solidFill>
              </a:rPr>
              <a:t>1</a:t>
            </a:r>
            <a:r>
              <a:rPr lang="zh-CN" altLang="en-US" dirty="0" smtClean="0">
                <a:solidFill>
                  <a:schemeClr val="bg2"/>
                </a:solidFill>
              </a:rPr>
              <a:t>：生产计划问题</a:t>
            </a:r>
            <a:r>
              <a:rPr lang="en-US" altLang="zh-CN" dirty="0" smtClean="0">
                <a:solidFill>
                  <a:schemeClr val="bg2"/>
                </a:solidFill>
              </a:rPr>
              <a:t>1</a:t>
            </a:r>
          </a:p>
          <a:p>
            <a:pPr marL="800100" lvl="1" indent="-342900">
              <a:lnSpc>
                <a:spcPct val="120000"/>
              </a:lnSpc>
              <a:buFont typeface="Arial" panose="020B0604020202020204" pitchFamily="34" charset="0"/>
              <a:buChar char="•"/>
            </a:pPr>
            <a:r>
              <a:rPr lang="zh-CN" altLang="en-US" b="1" u="sng" dirty="0" smtClean="0">
                <a:solidFill>
                  <a:schemeClr val="bg1">
                    <a:lumMod val="60000"/>
                    <a:lumOff val="40000"/>
                  </a:schemeClr>
                </a:solidFill>
              </a:rPr>
              <a:t>问题描述</a:t>
            </a:r>
            <a:r>
              <a:rPr lang="zh-CN" altLang="en-US" dirty="0" smtClean="0">
                <a:solidFill>
                  <a:schemeClr val="bg2"/>
                </a:solidFill>
              </a:rPr>
              <a:t>：</a:t>
            </a:r>
            <a:r>
              <a:rPr lang="zh-CN" altLang="en-US" dirty="0">
                <a:solidFill>
                  <a:schemeClr val="bg2"/>
                </a:solidFill>
              </a:rPr>
              <a:t>某家具厂生产桌子和椅子两种家具。桌子售价</a:t>
            </a:r>
            <a:r>
              <a:rPr lang="en-US" altLang="zh-CN" dirty="0">
                <a:solidFill>
                  <a:schemeClr val="bg2"/>
                </a:solidFill>
              </a:rPr>
              <a:t>50</a:t>
            </a:r>
            <a:r>
              <a:rPr lang="zh-CN" altLang="en-US" dirty="0">
                <a:solidFill>
                  <a:schemeClr val="bg2"/>
                </a:solidFill>
              </a:rPr>
              <a:t>元，椅子售价</a:t>
            </a:r>
            <a:r>
              <a:rPr lang="en-US" altLang="zh-CN" dirty="0">
                <a:solidFill>
                  <a:schemeClr val="bg2"/>
                </a:solidFill>
              </a:rPr>
              <a:t>30</a:t>
            </a:r>
            <a:r>
              <a:rPr lang="zh-CN" altLang="en-US" dirty="0">
                <a:solidFill>
                  <a:schemeClr val="bg2"/>
                </a:solidFill>
              </a:rPr>
              <a:t>元，生产一 个桌子需要木工</a:t>
            </a:r>
            <a:r>
              <a:rPr lang="en-US" altLang="zh-CN" dirty="0">
                <a:solidFill>
                  <a:schemeClr val="bg2"/>
                </a:solidFill>
              </a:rPr>
              <a:t>4</a:t>
            </a:r>
            <a:r>
              <a:rPr lang="zh-CN" altLang="en-US" dirty="0">
                <a:solidFill>
                  <a:schemeClr val="bg2"/>
                </a:solidFill>
              </a:rPr>
              <a:t>小时，油漆工 </a:t>
            </a:r>
            <a:r>
              <a:rPr lang="en-US" altLang="zh-CN" dirty="0">
                <a:solidFill>
                  <a:schemeClr val="bg2"/>
                </a:solidFill>
              </a:rPr>
              <a:t>2 </a:t>
            </a:r>
            <a:r>
              <a:rPr lang="zh-CN" altLang="en-US" dirty="0">
                <a:solidFill>
                  <a:schemeClr val="bg2"/>
                </a:solidFill>
              </a:rPr>
              <a:t>小时。生产一个椅子需要木工</a:t>
            </a:r>
            <a:r>
              <a:rPr lang="en-US" altLang="zh-CN" dirty="0">
                <a:solidFill>
                  <a:schemeClr val="bg2"/>
                </a:solidFill>
              </a:rPr>
              <a:t>3</a:t>
            </a:r>
            <a:r>
              <a:rPr lang="zh-CN" altLang="en-US" dirty="0">
                <a:solidFill>
                  <a:schemeClr val="bg2"/>
                </a:solidFill>
              </a:rPr>
              <a:t>小时，油漆工  </a:t>
            </a:r>
            <a:r>
              <a:rPr lang="en-US" altLang="zh-CN" dirty="0">
                <a:solidFill>
                  <a:schemeClr val="bg2"/>
                </a:solidFill>
              </a:rPr>
              <a:t>1</a:t>
            </a:r>
            <a:r>
              <a:rPr lang="zh-CN" altLang="en-US" dirty="0">
                <a:solidFill>
                  <a:schemeClr val="bg2"/>
                </a:solidFill>
              </a:rPr>
              <a:t>小时。该厂每月可用木工工时为</a:t>
            </a:r>
            <a:r>
              <a:rPr lang="en-US" altLang="zh-CN" dirty="0">
                <a:solidFill>
                  <a:schemeClr val="bg2"/>
                </a:solidFill>
              </a:rPr>
              <a:t>120</a:t>
            </a:r>
            <a:r>
              <a:rPr lang="zh-CN" altLang="en-US" dirty="0">
                <a:solidFill>
                  <a:schemeClr val="bg2"/>
                </a:solidFill>
              </a:rPr>
              <a:t>，油漆工工时为</a:t>
            </a:r>
            <a:r>
              <a:rPr lang="en-US" altLang="zh-CN" dirty="0">
                <a:solidFill>
                  <a:schemeClr val="bg2"/>
                </a:solidFill>
              </a:rPr>
              <a:t>50 </a:t>
            </a:r>
            <a:r>
              <a:rPr lang="zh-CN" altLang="en-US" dirty="0" smtClean="0">
                <a:solidFill>
                  <a:schemeClr val="bg2"/>
                </a:solidFill>
              </a:rPr>
              <a:t>。</a:t>
            </a:r>
            <a:endParaRPr lang="en-US" altLang="zh-CN" dirty="0" smtClean="0">
              <a:solidFill>
                <a:schemeClr val="bg2"/>
              </a:solidFill>
            </a:endParaRPr>
          </a:p>
          <a:p>
            <a:pPr marL="800100" lvl="1" indent="-342900">
              <a:lnSpc>
                <a:spcPct val="120000"/>
              </a:lnSpc>
              <a:spcBef>
                <a:spcPts val="1200"/>
              </a:spcBef>
              <a:spcAft>
                <a:spcPts val="0"/>
              </a:spcAft>
              <a:buFont typeface="Arial" panose="020B0604020202020204" pitchFamily="34" charset="0"/>
              <a:buChar char="•"/>
            </a:pPr>
            <a:r>
              <a:rPr lang="zh-CN" altLang="en-US" b="1" u="sng" dirty="0" smtClean="0">
                <a:solidFill>
                  <a:schemeClr val="bg1">
                    <a:lumMod val="60000"/>
                    <a:lumOff val="40000"/>
                  </a:schemeClr>
                </a:solidFill>
              </a:rPr>
              <a:t>求解目标</a:t>
            </a:r>
            <a:r>
              <a:rPr lang="zh-CN" altLang="en-US" dirty="0" smtClean="0">
                <a:solidFill>
                  <a:schemeClr val="bg2"/>
                </a:solidFill>
              </a:rPr>
              <a:t>：该</a:t>
            </a:r>
            <a:r>
              <a:rPr lang="zh-CN" altLang="en-US" dirty="0">
                <a:solidFill>
                  <a:schemeClr val="bg2"/>
                </a:solidFill>
              </a:rPr>
              <a:t>厂如何</a:t>
            </a:r>
            <a:r>
              <a:rPr lang="zh-CN" altLang="en-US" dirty="0" smtClean="0">
                <a:solidFill>
                  <a:schemeClr val="bg2"/>
                </a:solidFill>
              </a:rPr>
              <a:t>生产，即桌子和椅子各生产多少个才能使</a:t>
            </a:r>
            <a:r>
              <a:rPr lang="zh-CN" altLang="en-US" dirty="0">
                <a:solidFill>
                  <a:schemeClr val="bg2"/>
                </a:solidFill>
              </a:rPr>
              <a:t>每月销售收入最大？</a:t>
            </a:r>
          </a:p>
          <a:p>
            <a:pPr marL="800100" lvl="1" indent="-342900">
              <a:lnSpc>
                <a:spcPct val="120000"/>
              </a:lnSpc>
              <a:buFont typeface="Arial" panose="020B0604020202020204" pitchFamily="34" charset="0"/>
              <a:buChar char="•"/>
            </a:pPr>
            <a:endParaRPr lang="en-US" altLang="zh-CN" dirty="0" smtClean="0">
              <a:solidFill>
                <a:schemeClr val="bg2"/>
              </a:solidFill>
            </a:endParaRPr>
          </a:p>
        </p:txBody>
      </p:sp>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8105140" cy="844550"/>
          </a:xfrm>
        </p:spPr>
        <p:txBody>
          <a:bodyPr/>
          <a:lstStyle/>
          <a:p>
            <a:r>
              <a:rPr kumimoji="0" lang="en-US" altLang="zh-CN" kern="1200" noProof="0" dirty="0" smtClean="0">
                <a:solidFill>
                  <a:schemeClr val="accent2"/>
                </a:solidFill>
                <a:sym typeface="+mn-ea"/>
              </a:rPr>
              <a:t>6.1 </a:t>
            </a:r>
            <a:r>
              <a:rPr kumimoji="0" lang="zh-CN" altLang="en-US" kern="1200" noProof="0" dirty="0" smtClean="0">
                <a:solidFill>
                  <a:schemeClr val="accent2"/>
                </a:solidFill>
                <a:sym typeface="+mn-ea"/>
              </a:rPr>
              <a:t>线性规划</a:t>
            </a:r>
            <a:r>
              <a:rPr kumimoji="0" lang="zh-CN" altLang="en-US" kern="1200" dirty="0">
                <a:solidFill>
                  <a:schemeClr val="accent2"/>
                </a:solidFill>
                <a:sym typeface="+mn-ea"/>
              </a:rPr>
              <a:t>模型</a:t>
            </a:r>
            <a:endParaRPr kumimoji="0" lang="en-US" altLang="zh-CN" kern="1200" noProof="0" dirty="0" smtClean="0">
              <a:ln>
                <a:noFill/>
              </a:ln>
              <a:solidFill>
                <a:schemeClr val="accent2"/>
              </a:solidFill>
              <a:effectLst/>
              <a:uLnTx/>
              <a:uFillTx/>
              <a:sym typeface="+mn-ea"/>
            </a:endParaRPr>
          </a:p>
        </p:txBody>
      </p:sp>
      <p:graphicFrame>
        <p:nvGraphicFramePr>
          <p:cNvPr id="4" name="表格 3"/>
          <p:cNvGraphicFramePr>
            <a:graphicFrameLocks noGrp="1"/>
          </p:cNvGraphicFramePr>
          <p:nvPr/>
        </p:nvGraphicFramePr>
        <p:xfrm>
          <a:off x="1187624" y="1639064"/>
          <a:ext cx="6408712" cy="2073832"/>
        </p:xfrm>
        <a:graphic>
          <a:graphicData uri="http://schemas.openxmlformats.org/drawingml/2006/table">
            <a:tbl>
              <a:tblPr firstRow="1" bandRow="1">
                <a:tableStyleId>{5C22544A-7EE6-4342-B048-85BDC9FD1C3A}</a:tableStyleId>
              </a:tblPr>
              <a:tblGrid>
                <a:gridCol w="1696600"/>
                <a:gridCol w="1507756"/>
                <a:gridCol w="1602178"/>
                <a:gridCol w="1602178"/>
              </a:tblGrid>
              <a:tr h="518458">
                <a:tc>
                  <a:txBody>
                    <a:bodyPr/>
                    <a:lstStyle/>
                    <a:p>
                      <a:pPr algn="ctr"/>
                      <a:endParaRPr lang="zh-CN" altLang="en-US" sz="2400" dirty="0"/>
                    </a:p>
                  </a:txBody>
                  <a:tcPr anchor="ctr"/>
                </a:tc>
                <a:tc>
                  <a:txBody>
                    <a:bodyPr/>
                    <a:lstStyle/>
                    <a:p>
                      <a:pPr algn="ctr"/>
                      <a:r>
                        <a:rPr lang="zh-CN" altLang="en-US" sz="2400" dirty="0" smtClean="0"/>
                        <a:t>桌子</a:t>
                      </a:r>
                      <a:endParaRPr lang="zh-CN" altLang="en-US" sz="2400" dirty="0"/>
                    </a:p>
                  </a:txBody>
                  <a:tcPr anchor="ctr"/>
                </a:tc>
                <a:tc>
                  <a:txBody>
                    <a:bodyPr/>
                    <a:lstStyle/>
                    <a:p>
                      <a:pPr algn="ctr"/>
                      <a:r>
                        <a:rPr lang="zh-CN" altLang="en-US" sz="2400" dirty="0" smtClean="0"/>
                        <a:t>椅子</a:t>
                      </a:r>
                      <a:endParaRPr lang="zh-CN" altLang="en-US" sz="2400" dirty="0"/>
                    </a:p>
                  </a:txBody>
                  <a:tcPr anchor="ctr"/>
                </a:tc>
                <a:tc>
                  <a:txBody>
                    <a:bodyPr/>
                    <a:lstStyle/>
                    <a:p>
                      <a:pPr algn="ctr"/>
                      <a:endParaRPr lang="zh-CN" altLang="en-US" sz="2400" dirty="0"/>
                    </a:p>
                  </a:txBody>
                  <a:tcPr anchor="ctr"/>
                </a:tc>
              </a:tr>
              <a:tr h="518458">
                <a:tc>
                  <a:txBody>
                    <a:bodyPr/>
                    <a:lstStyle/>
                    <a:p>
                      <a:pPr algn="ctr"/>
                      <a:r>
                        <a:rPr lang="zh-CN" altLang="en-US" sz="2400" dirty="0" smtClean="0"/>
                        <a:t>木工</a:t>
                      </a:r>
                      <a:endParaRPr lang="zh-CN" altLang="en-US" sz="2400" dirty="0"/>
                    </a:p>
                  </a:txBody>
                  <a:tcPr anchor="ctr"/>
                </a:tc>
                <a:tc>
                  <a:txBody>
                    <a:bodyPr/>
                    <a:lstStyle/>
                    <a:p>
                      <a:pPr algn="ctr"/>
                      <a:endParaRPr lang="zh-CN" altLang="en-US" sz="2400" dirty="0"/>
                    </a:p>
                  </a:txBody>
                  <a:tcPr anchor="ctr"/>
                </a:tc>
                <a:tc>
                  <a:txBody>
                    <a:bodyPr/>
                    <a:lstStyle/>
                    <a:p>
                      <a:pPr algn="ctr"/>
                      <a:endParaRPr lang="zh-CN" altLang="en-US" sz="2400" dirty="0"/>
                    </a:p>
                  </a:txBody>
                  <a:tcPr anchor="ctr"/>
                </a:tc>
                <a:tc>
                  <a:txBody>
                    <a:bodyPr/>
                    <a:lstStyle/>
                    <a:p>
                      <a:pPr algn="ctr"/>
                      <a:endParaRPr lang="zh-CN" altLang="en-US" sz="2400"/>
                    </a:p>
                  </a:txBody>
                  <a:tcPr anchor="ctr"/>
                </a:tc>
              </a:tr>
              <a:tr h="518458">
                <a:tc>
                  <a:txBody>
                    <a:bodyPr/>
                    <a:lstStyle/>
                    <a:p>
                      <a:pPr algn="ctr"/>
                      <a:r>
                        <a:rPr lang="zh-CN" altLang="en-US" sz="2400" dirty="0" smtClean="0"/>
                        <a:t>油漆工</a:t>
                      </a:r>
                      <a:endParaRPr lang="zh-CN" altLang="en-US" sz="2400" dirty="0"/>
                    </a:p>
                  </a:txBody>
                  <a:tcPr anchor="ctr"/>
                </a:tc>
                <a:tc>
                  <a:txBody>
                    <a:bodyPr/>
                    <a:lstStyle/>
                    <a:p>
                      <a:pPr algn="ctr"/>
                      <a:endParaRPr lang="zh-CN" altLang="en-US" sz="2400" dirty="0"/>
                    </a:p>
                  </a:txBody>
                  <a:tcPr anchor="ctr"/>
                </a:tc>
                <a:tc>
                  <a:txBody>
                    <a:bodyPr/>
                    <a:lstStyle/>
                    <a:p>
                      <a:pPr algn="ctr"/>
                      <a:endParaRPr lang="zh-CN" altLang="en-US" sz="2400" dirty="0"/>
                    </a:p>
                  </a:txBody>
                  <a:tcPr anchor="ctr"/>
                </a:tc>
                <a:tc>
                  <a:txBody>
                    <a:bodyPr/>
                    <a:lstStyle/>
                    <a:p>
                      <a:pPr algn="ctr"/>
                      <a:endParaRPr lang="zh-CN" altLang="en-US" sz="2400"/>
                    </a:p>
                  </a:txBody>
                  <a:tcPr anchor="ctr"/>
                </a:tc>
              </a:tr>
              <a:tr h="518458">
                <a:tc>
                  <a:txBody>
                    <a:bodyPr/>
                    <a:lstStyle/>
                    <a:p>
                      <a:pPr algn="ctr"/>
                      <a:endParaRPr lang="zh-CN" altLang="en-US" sz="2400" dirty="0"/>
                    </a:p>
                  </a:txBody>
                  <a:tcPr anchor="ctr"/>
                </a:tc>
                <a:tc>
                  <a:txBody>
                    <a:bodyPr/>
                    <a:lstStyle/>
                    <a:p>
                      <a:pPr algn="ctr"/>
                      <a:endParaRPr lang="zh-CN" altLang="en-US" sz="2400"/>
                    </a:p>
                  </a:txBody>
                  <a:tcPr anchor="ctr"/>
                </a:tc>
                <a:tc>
                  <a:txBody>
                    <a:bodyPr/>
                    <a:lstStyle/>
                    <a:p>
                      <a:pPr algn="ctr"/>
                      <a:endParaRPr lang="zh-CN" altLang="en-US" sz="2400" dirty="0"/>
                    </a:p>
                  </a:txBody>
                  <a:tcPr anchor="ctr"/>
                </a:tc>
                <a:tc>
                  <a:txBody>
                    <a:bodyPr/>
                    <a:lstStyle/>
                    <a:p>
                      <a:pPr algn="ctr"/>
                      <a:endParaRPr lang="zh-CN" altLang="en-US" sz="2400" dirty="0"/>
                    </a:p>
                  </a:txBody>
                  <a:tcPr anchor="ctr"/>
                </a:tc>
              </a:tr>
            </a:tbl>
          </a:graphicData>
        </a:graphic>
      </p:graphicFrame>
      <p:sp>
        <p:nvSpPr>
          <p:cNvPr id="5" name="TextBox 4"/>
          <p:cNvSpPr txBox="1"/>
          <p:nvPr/>
        </p:nvSpPr>
        <p:spPr>
          <a:xfrm>
            <a:off x="3419872" y="2143120"/>
            <a:ext cx="338554" cy="461665"/>
          </a:xfrm>
          <a:prstGeom prst="rect">
            <a:avLst/>
          </a:prstGeom>
          <a:noFill/>
        </p:spPr>
        <p:txBody>
          <a:bodyPr wrap="none" rtlCol="0">
            <a:spAutoFit/>
          </a:bodyPr>
          <a:lstStyle/>
          <a:p>
            <a:r>
              <a:rPr lang="en-US" altLang="zh-CN" b="1" dirty="0" smtClean="0">
                <a:solidFill>
                  <a:srgbClr val="CC0099"/>
                </a:solidFill>
              </a:rPr>
              <a:t>4</a:t>
            </a:r>
            <a:endParaRPr lang="zh-CN" altLang="en-US" b="1" dirty="0">
              <a:solidFill>
                <a:srgbClr val="CC0099"/>
              </a:solidFill>
            </a:endParaRPr>
          </a:p>
        </p:txBody>
      </p:sp>
      <p:sp>
        <p:nvSpPr>
          <p:cNvPr id="6" name="TextBox 5"/>
          <p:cNvSpPr txBox="1"/>
          <p:nvPr/>
        </p:nvSpPr>
        <p:spPr>
          <a:xfrm>
            <a:off x="4932040" y="2143120"/>
            <a:ext cx="338554" cy="461665"/>
          </a:xfrm>
          <a:prstGeom prst="rect">
            <a:avLst/>
          </a:prstGeom>
          <a:noFill/>
        </p:spPr>
        <p:txBody>
          <a:bodyPr wrap="none" rtlCol="0">
            <a:spAutoFit/>
          </a:bodyPr>
          <a:lstStyle/>
          <a:p>
            <a:r>
              <a:rPr lang="en-US" altLang="zh-CN" b="1" dirty="0" smtClean="0">
                <a:solidFill>
                  <a:srgbClr val="CC0099"/>
                </a:solidFill>
              </a:rPr>
              <a:t>3</a:t>
            </a:r>
            <a:endParaRPr lang="zh-CN" altLang="en-US" b="1" dirty="0">
              <a:solidFill>
                <a:srgbClr val="CC0099"/>
              </a:solidFill>
            </a:endParaRPr>
          </a:p>
        </p:txBody>
      </p:sp>
      <p:sp>
        <p:nvSpPr>
          <p:cNvPr id="7" name="TextBox 6"/>
          <p:cNvSpPr txBox="1"/>
          <p:nvPr/>
        </p:nvSpPr>
        <p:spPr>
          <a:xfrm>
            <a:off x="6477501" y="1628800"/>
            <a:ext cx="800219" cy="461665"/>
          </a:xfrm>
          <a:prstGeom prst="rect">
            <a:avLst/>
          </a:prstGeom>
          <a:noFill/>
        </p:spPr>
        <p:txBody>
          <a:bodyPr wrap="none" rtlCol="0">
            <a:spAutoFit/>
          </a:bodyPr>
          <a:lstStyle/>
          <a:p>
            <a:r>
              <a:rPr lang="zh-CN" altLang="en-US" dirty="0" smtClean="0">
                <a:solidFill>
                  <a:schemeClr val="bg1">
                    <a:lumMod val="60000"/>
                    <a:lumOff val="40000"/>
                  </a:schemeClr>
                </a:solidFill>
              </a:rPr>
              <a:t>限量</a:t>
            </a:r>
            <a:endParaRPr lang="zh-CN" altLang="en-US" dirty="0">
              <a:solidFill>
                <a:schemeClr val="bg1">
                  <a:lumMod val="60000"/>
                  <a:lumOff val="40000"/>
                </a:schemeClr>
              </a:solidFill>
            </a:endParaRPr>
          </a:p>
        </p:txBody>
      </p:sp>
      <p:sp>
        <p:nvSpPr>
          <p:cNvPr id="8" name="TextBox 7"/>
          <p:cNvSpPr txBox="1"/>
          <p:nvPr/>
        </p:nvSpPr>
        <p:spPr>
          <a:xfrm>
            <a:off x="6600550" y="2143120"/>
            <a:ext cx="646331" cy="461665"/>
          </a:xfrm>
          <a:prstGeom prst="rect">
            <a:avLst/>
          </a:prstGeom>
          <a:noFill/>
        </p:spPr>
        <p:txBody>
          <a:bodyPr wrap="none" rtlCol="0">
            <a:spAutoFit/>
          </a:bodyPr>
          <a:lstStyle/>
          <a:p>
            <a:r>
              <a:rPr lang="en-US" altLang="zh-CN" b="1" dirty="0" smtClean="0">
                <a:solidFill>
                  <a:srgbClr val="CC0099"/>
                </a:solidFill>
              </a:rPr>
              <a:t>120</a:t>
            </a:r>
            <a:endParaRPr lang="zh-CN" altLang="en-US" b="1" dirty="0">
              <a:solidFill>
                <a:srgbClr val="CC0099"/>
              </a:solidFill>
            </a:endParaRPr>
          </a:p>
        </p:txBody>
      </p:sp>
      <p:sp>
        <p:nvSpPr>
          <p:cNvPr id="9" name="TextBox 8"/>
          <p:cNvSpPr txBox="1"/>
          <p:nvPr/>
        </p:nvSpPr>
        <p:spPr>
          <a:xfrm>
            <a:off x="3419872" y="2666340"/>
            <a:ext cx="338554" cy="461665"/>
          </a:xfrm>
          <a:prstGeom prst="rect">
            <a:avLst/>
          </a:prstGeom>
          <a:noFill/>
        </p:spPr>
        <p:txBody>
          <a:bodyPr wrap="none" rtlCol="0">
            <a:spAutoFit/>
          </a:bodyPr>
          <a:lstStyle/>
          <a:p>
            <a:r>
              <a:rPr lang="en-US" altLang="zh-CN" b="1" dirty="0" smtClean="0">
                <a:solidFill>
                  <a:srgbClr val="CC0099"/>
                </a:solidFill>
              </a:rPr>
              <a:t>2</a:t>
            </a:r>
            <a:endParaRPr lang="zh-CN" altLang="en-US" b="1" dirty="0">
              <a:solidFill>
                <a:srgbClr val="CC0099"/>
              </a:solidFill>
            </a:endParaRPr>
          </a:p>
        </p:txBody>
      </p:sp>
      <p:sp>
        <p:nvSpPr>
          <p:cNvPr id="10" name="TextBox 9"/>
          <p:cNvSpPr txBox="1"/>
          <p:nvPr/>
        </p:nvSpPr>
        <p:spPr>
          <a:xfrm>
            <a:off x="4932040" y="2666340"/>
            <a:ext cx="338554" cy="461665"/>
          </a:xfrm>
          <a:prstGeom prst="rect">
            <a:avLst/>
          </a:prstGeom>
          <a:noFill/>
        </p:spPr>
        <p:txBody>
          <a:bodyPr wrap="none" rtlCol="0">
            <a:spAutoFit/>
          </a:bodyPr>
          <a:lstStyle/>
          <a:p>
            <a:r>
              <a:rPr lang="en-US" altLang="zh-CN" b="1" dirty="0" smtClean="0">
                <a:solidFill>
                  <a:srgbClr val="CC0099"/>
                </a:solidFill>
              </a:rPr>
              <a:t>1</a:t>
            </a:r>
            <a:endParaRPr lang="zh-CN" altLang="en-US" b="1" dirty="0">
              <a:solidFill>
                <a:srgbClr val="CC0099"/>
              </a:solidFill>
            </a:endParaRPr>
          </a:p>
        </p:txBody>
      </p:sp>
      <p:sp>
        <p:nvSpPr>
          <p:cNvPr id="11" name="TextBox 10"/>
          <p:cNvSpPr txBox="1"/>
          <p:nvPr/>
        </p:nvSpPr>
        <p:spPr>
          <a:xfrm>
            <a:off x="6692557" y="2688560"/>
            <a:ext cx="492443" cy="461665"/>
          </a:xfrm>
          <a:prstGeom prst="rect">
            <a:avLst/>
          </a:prstGeom>
          <a:noFill/>
        </p:spPr>
        <p:txBody>
          <a:bodyPr wrap="none" rtlCol="0">
            <a:spAutoFit/>
          </a:bodyPr>
          <a:lstStyle/>
          <a:p>
            <a:r>
              <a:rPr lang="en-US" altLang="zh-CN" b="1" dirty="0" smtClean="0">
                <a:solidFill>
                  <a:srgbClr val="CC0099"/>
                </a:solidFill>
              </a:rPr>
              <a:t>50</a:t>
            </a:r>
            <a:endParaRPr lang="zh-CN" altLang="en-US" b="1" dirty="0">
              <a:solidFill>
                <a:srgbClr val="CC0099"/>
              </a:solidFill>
            </a:endParaRPr>
          </a:p>
        </p:txBody>
      </p:sp>
      <p:sp>
        <p:nvSpPr>
          <p:cNvPr id="12" name="TextBox 11"/>
          <p:cNvSpPr txBox="1"/>
          <p:nvPr/>
        </p:nvSpPr>
        <p:spPr>
          <a:xfrm>
            <a:off x="1547664" y="3151232"/>
            <a:ext cx="800219" cy="461665"/>
          </a:xfrm>
          <a:prstGeom prst="rect">
            <a:avLst/>
          </a:prstGeom>
          <a:noFill/>
        </p:spPr>
        <p:txBody>
          <a:bodyPr wrap="none" rtlCol="0">
            <a:spAutoFit/>
          </a:bodyPr>
          <a:lstStyle/>
          <a:p>
            <a:r>
              <a:rPr lang="zh-CN" altLang="en-US" dirty="0" smtClean="0">
                <a:solidFill>
                  <a:schemeClr val="bg1">
                    <a:lumMod val="60000"/>
                    <a:lumOff val="40000"/>
                  </a:schemeClr>
                </a:solidFill>
              </a:rPr>
              <a:t>售价</a:t>
            </a:r>
            <a:endParaRPr lang="zh-CN" altLang="en-US" dirty="0">
              <a:solidFill>
                <a:schemeClr val="bg1">
                  <a:lumMod val="60000"/>
                  <a:lumOff val="40000"/>
                </a:schemeClr>
              </a:solidFill>
            </a:endParaRPr>
          </a:p>
        </p:txBody>
      </p:sp>
      <p:sp>
        <p:nvSpPr>
          <p:cNvPr id="13" name="TextBox 12"/>
          <p:cNvSpPr txBox="1"/>
          <p:nvPr/>
        </p:nvSpPr>
        <p:spPr>
          <a:xfrm>
            <a:off x="3330103" y="3203520"/>
            <a:ext cx="492443" cy="461665"/>
          </a:xfrm>
          <a:prstGeom prst="rect">
            <a:avLst/>
          </a:prstGeom>
          <a:noFill/>
        </p:spPr>
        <p:txBody>
          <a:bodyPr wrap="none" rtlCol="0">
            <a:spAutoFit/>
          </a:bodyPr>
          <a:lstStyle/>
          <a:p>
            <a:r>
              <a:rPr lang="en-US" altLang="zh-CN" b="1" dirty="0" smtClean="0">
                <a:solidFill>
                  <a:srgbClr val="CC0099"/>
                </a:solidFill>
              </a:rPr>
              <a:t>50</a:t>
            </a:r>
            <a:endParaRPr lang="zh-CN" altLang="en-US" b="1" dirty="0">
              <a:solidFill>
                <a:srgbClr val="CC0099"/>
              </a:solidFill>
            </a:endParaRPr>
          </a:p>
        </p:txBody>
      </p:sp>
      <p:sp>
        <p:nvSpPr>
          <p:cNvPr id="14" name="TextBox 13"/>
          <p:cNvSpPr txBox="1"/>
          <p:nvPr/>
        </p:nvSpPr>
        <p:spPr>
          <a:xfrm>
            <a:off x="4842271" y="3203520"/>
            <a:ext cx="492443" cy="461665"/>
          </a:xfrm>
          <a:prstGeom prst="rect">
            <a:avLst/>
          </a:prstGeom>
          <a:noFill/>
        </p:spPr>
        <p:txBody>
          <a:bodyPr wrap="none" rtlCol="0">
            <a:spAutoFit/>
          </a:bodyPr>
          <a:lstStyle/>
          <a:p>
            <a:r>
              <a:rPr lang="en-US" altLang="zh-CN" b="1" dirty="0">
                <a:solidFill>
                  <a:srgbClr val="CC0099"/>
                </a:solidFill>
              </a:rPr>
              <a:t>3</a:t>
            </a:r>
            <a:r>
              <a:rPr lang="en-US" altLang="zh-CN" b="1" dirty="0" smtClean="0">
                <a:solidFill>
                  <a:srgbClr val="CC0099"/>
                </a:solidFill>
              </a:rPr>
              <a:t>0</a:t>
            </a:r>
            <a:endParaRPr lang="zh-CN" altLang="en-US" b="1" dirty="0">
              <a:solidFill>
                <a:srgbClr val="CC0099"/>
              </a:solidFill>
            </a:endParaRPr>
          </a:p>
        </p:txBody>
      </p:sp>
      <p:sp>
        <p:nvSpPr>
          <p:cNvPr id="15" name="Rectangle 2"/>
          <p:cNvSpPr>
            <a:spLocks noGrp="1"/>
          </p:cNvSpPr>
          <p:nvPr/>
        </p:nvSpPr>
        <p:spPr>
          <a:xfrm>
            <a:off x="395536" y="3861048"/>
            <a:ext cx="8424936" cy="2489448"/>
          </a:xfrm>
          <a:prstGeom prst="rect">
            <a:avLst/>
          </a:prstGeom>
          <a:solidFill>
            <a:schemeClr val="tx1"/>
          </a:solidFill>
          <a:ln w="9525">
            <a:noFill/>
          </a:ln>
        </p:spPr>
        <p:txBody>
          <a:bodyPr vert="horz" wrap="square" lIns="91440" tIns="45720" rIns="91440" bIns="45720" anchor="t"/>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387350" indent="-387350" eaLnBrk="1" hangingPunct="1">
              <a:buClr>
                <a:schemeClr val="bg2"/>
              </a:buClr>
              <a:buSzPct val="75000"/>
              <a:buFont typeface="Wingdings" panose="05000000000000000000" pitchFamily="2" charset="2"/>
            </a:pPr>
            <a:r>
              <a:rPr lang="zh-CN" altLang="en-US" sz="2400" dirty="0">
                <a:solidFill>
                  <a:schemeClr val="bg1"/>
                </a:solidFill>
              </a:rPr>
              <a:t>方案</a:t>
            </a:r>
            <a:r>
              <a:rPr lang="en-US" altLang="zh-CN" sz="2400" dirty="0">
                <a:solidFill>
                  <a:schemeClr val="bg1"/>
                </a:solidFill>
              </a:rPr>
              <a:t>1</a:t>
            </a:r>
            <a:r>
              <a:rPr lang="zh-CN" altLang="en-US" sz="2400" dirty="0" smtClean="0">
                <a:solidFill>
                  <a:schemeClr val="bg1"/>
                </a:solidFill>
              </a:rPr>
              <a:t>：多生产</a:t>
            </a:r>
            <a:r>
              <a:rPr lang="zh-CN" altLang="en-US" sz="2400" dirty="0">
                <a:solidFill>
                  <a:schemeClr val="bg1"/>
                </a:solidFill>
              </a:rPr>
              <a:t>价格高的产品：能生产</a:t>
            </a:r>
            <a:r>
              <a:rPr lang="en-US" altLang="zh-CN" sz="2400" dirty="0">
                <a:solidFill>
                  <a:schemeClr val="bg1"/>
                </a:solidFill>
              </a:rPr>
              <a:t>25</a:t>
            </a:r>
            <a:r>
              <a:rPr lang="zh-CN" altLang="en-US" sz="2400" dirty="0">
                <a:solidFill>
                  <a:schemeClr val="bg1"/>
                </a:solidFill>
              </a:rPr>
              <a:t>张桌子，木工剩余</a:t>
            </a:r>
            <a:r>
              <a:rPr lang="en-US" altLang="zh-CN" sz="2400" dirty="0">
                <a:solidFill>
                  <a:schemeClr val="bg1"/>
                </a:solidFill>
              </a:rPr>
              <a:t>20</a:t>
            </a:r>
            <a:r>
              <a:rPr lang="zh-CN" altLang="en-US" sz="2400" dirty="0">
                <a:solidFill>
                  <a:schemeClr val="bg1"/>
                </a:solidFill>
              </a:rPr>
              <a:t>小时，销售收入</a:t>
            </a:r>
            <a:r>
              <a:rPr lang="en-US" altLang="zh-CN" sz="2400" dirty="0">
                <a:solidFill>
                  <a:schemeClr val="bg1"/>
                </a:solidFill>
              </a:rPr>
              <a:t>1250</a:t>
            </a:r>
            <a:r>
              <a:rPr lang="zh-CN" altLang="en-US" sz="2400" dirty="0">
                <a:solidFill>
                  <a:schemeClr val="bg1"/>
                </a:solidFill>
              </a:rPr>
              <a:t>元；</a:t>
            </a:r>
          </a:p>
          <a:p>
            <a:pPr marL="387350" indent="-387350" eaLnBrk="1" hangingPunct="1">
              <a:buClr>
                <a:schemeClr val="bg2"/>
              </a:buClr>
              <a:buSzPct val="75000"/>
              <a:buFont typeface="Wingdings" panose="05000000000000000000" pitchFamily="2" charset="2"/>
            </a:pPr>
            <a:r>
              <a:rPr lang="zh-CN" altLang="en-US" sz="2400" dirty="0">
                <a:solidFill>
                  <a:schemeClr val="bg1"/>
                </a:solidFill>
              </a:rPr>
              <a:t>方案</a:t>
            </a:r>
            <a:r>
              <a:rPr lang="en-US" altLang="zh-CN" sz="2400" dirty="0">
                <a:solidFill>
                  <a:schemeClr val="bg1"/>
                </a:solidFill>
              </a:rPr>
              <a:t>2</a:t>
            </a:r>
            <a:r>
              <a:rPr lang="zh-CN" altLang="en-US" sz="2400" dirty="0">
                <a:solidFill>
                  <a:schemeClr val="bg1"/>
                </a:solidFill>
              </a:rPr>
              <a:t>：生产</a:t>
            </a:r>
            <a:r>
              <a:rPr lang="en-US" altLang="zh-CN" sz="2400" dirty="0">
                <a:solidFill>
                  <a:schemeClr val="bg1"/>
                </a:solidFill>
              </a:rPr>
              <a:t>20</a:t>
            </a:r>
            <a:r>
              <a:rPr lang="zh-CN" altLang="en-US" sz="2400" dirty="0">
                <a:solidFill>
                  <a:schemeClr val="bg1"/>
                </a:solidFill>
              </a:rPr>
              <a:t>张桌子，</a:t>
            </a:r>
            <a:r>
              <a:rPr lang="en-US" altLang="zh-CN" sz="2400" dirty="0">
                <a:solidFill>
                  <a:schemeClr val="bg1"/>
                </a:solidFill>
              </a:rPr>
              <a:t>10 </a:t>
            </a:r>
            <a:r>
              <a:rPr lang="zh-CN" altLang="en-US" sz="2400" dirty="0">
                <a:solidFill>
                  <a:schemeClr val="bg1"/>
                </a:solidFill>
              </a:rPr>
              <a:t>把椅子，木工仍剩余</a:t>
            </a:r>
            <a:r>
              <a:rPr lang="en-US" altLang="zh-CN" sz="2400" dirty="0">
                <a:solidFill>
                  <a:schemeClr val="bg1"/>
                </a:solidFill>
              </a:rPr>
              <a:t>10</a:t>
            </a:r>
            <a:r>
              <a:rPr lang="zh-CN" altLang="en-US" sz="2400" dirty="0">
                <a:solidFill>
                  <a:schemeClr val="bg1"/>
                </a:solidFill>
              </a:rPr>
              <a:t>小时，销售收入</a:t>
            </a:r>
            <a:r>
              <a:rPr lang="en-US" altLang="zh-CN" sz="2400" dirty="0">
                <a:solidFill>
                  <a:schemeClr val="bg1"/>
                </a:solidFill>
              </a:rPr>
              <a:t>1300</a:t>
            </a:r>
            <a:r>
              <a:rPr lang="zh-CN" altLang="en-US" sz="2400" dirty="0">
                <a:solidFill>
                  <a:schemeClr val="bg1"/>
                </a:solidFill>
              </a:rPr>
              <a:t>元；</a:t>
            </a:r>
          </a:p>
          <a:p>
            <a:pPr marL="387350" indent="-387350" eaLnBrk="1" hangingPunct="1">
              <a:buClr>
                <a:schemeClr val="bg2"/>
              </a:buClr>
              <a:buSzPct val="75000"/>
              <a:buFont typeface="Wingdings" panose="05000000000000000000" pitchFamily="2" charset="2"/>
            </a:pPr>
            <a:r>
              <a:rPr lang="zh-CN" altLang="en-US" sz="2400" dirty="0">
                <a:solidFill>
                  <a:schemeClr val="bg1"/>
                </a:solidFill>
              </a:rPr>
              <a:t>方案 </a:t>
            </a:r>
            <a:r>
              <a:rPr lang="en-US" altLang="zh-CN" sz="2400" dirty="0">
                <a:solidFill>
                  <a:schemeClr val="bg1"/>
                </a:solidFill>
              </a:rPr>
              <a:t>3</a:t>
            </a:r>
            <a:r>
              <a:rPr lang="zh-CN" altLang="en-US" sz="2400" dirty="0">
                <a:solidFill>
                  <a:schemeClr val="bg1"/>
                </a:solidFill>
              </a:rPr>
              <a:t>：生产</a:t>
            </a:r>
            <a:r>
              <a:rPr lang="en-US" altLang="zh-CN" sz="2400" dirty="0">
                <a:solidFill>
                  <a:schemeClr val="bg1"/>
                </a:solidFill>
              </a:rPr>
              <a:t>15</a:t>
            </a:r>
            <a:r>
              <a:rPr lang="zh-CN" altLang="en-US" sz="2400" dirty="0">
                <a:solidFill>
                  <a:schemeClr val="bg1"/>
                </a:solidFill>
              </a:rPr>
              <a:t>张桌子，</a:t>
            </a:r>
            <a:r>
              <a:rPr lang="en-US" altLang="zh-CN" sz="2400" dirty="0">
                <a:solidFill>
                  <a:schemeClr val="bg1"/>
                </a:solidFill>
              </a:rPr>
              <a:t>20 </a:t>
            </a:r>
            <a:r>
              <a:rPr lang="zh-CN" altLang="en-US" sz="2400" dirty="0">
                <a:solidFill>
                  <a:schemeClr val="bg1"/>
                </a:solidFill>
              </a:rPr>
              <a:t>张椅子，用完全部工时，销售收入</a:t>
            </a:r>
            <a:r>
              <a:rPr lang="en-US" altLang="zh-CN" sz="2400" dirty="0">
                <a:solidFill>
                  <a:schemeClr val="bg1"/>
                </a:solidFill>
              </a:rPr>
              <a:t>1350</a:t>
            </a:r>
            <a:r>
              <a:rPr lang="zh-CN" altLang="en-US" sz="2400" dirty="0">
                <a:solidFill>
                  <a:schemeClr val="bg1"/>
                </a:solidFill>
              </a:rPr>
              <a:t>元；</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left)">
                                      <p:cBhvr>
                                        <p:cTn id="45" dur="500"/>
                                        <p:tgtEl>
                                          <p:spTgt spid="13"/>
                                        </p:tgtEl>
                                      </p:cBhvr>
                                    </p:animEffec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5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5">
                                            <p:txEl>
                                              <p:pRg st="0" end="0"/>
                                            </p:txEl>
                                          </p:spTgt>
                                        </p:tgtEl>
                                        <p:attrNameLst>
                                          <p:attrName>style.visibility</p:attrName>
                                        </p:attrNameLst>
                                      </p:cBhvr>
                                      <p:to>
                                        <p:strVal val="visible"/>
                                      </p:to>
                                    </p:set>
                                    <p:animEffect transition="in" filter="wipe(left)">
                                      <p:cBhvr>
                                        <p:cTn id="54" dur="500"/>
                                        <p:tgtEl>
                                          <p:spTgt spid="15">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5">
                                            <p:txEl>
                                              <p:pRg st="1" end="1"/>
                                            </p:txEl>
                                          </p:spTgt>
                                        </p:tgtEl>
                                        <p:attrNameLst>
                                          <p:attrName>style.visibility</p:attrName>
                                        </p:attrNameLst>
                                      </p:cBhvr>
                                      <p:to>
                                        <p:strVal val="visible"/>
                                      </p:to>
                                    </p:set>
                                    <p:animEffect transition="in" filter="wipe(left)">
                                      <p:cBhvr>
                                        <p:cTn id="59" dur="500"/>
                                        <p:tgtEl>
                                          <p:spTgt spid="15">
                                            <p:txEl>
                                              <p:pRg st="1" end="1"/>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5">
                                            <p:txEl>
                                              <p:pRg st="2" end="2"/>
                                            </p:txEl>
                                          </p:spTgt>
                                        </p:tgtEl>
                                        <p:attrNameLst>
                                          <p:attrName>style.visibility</p:attrName>
                                        </p:attrNameLst>
                                      </p:cBhvr>
                                      <p:to>
                                        <p:strVal val="visible"/>
                                      </p:to>
                                    </p:set>
                                    <p:animEffect transition="in" filter="wipe(left)">
                                      <p:cBhvr>
                                        <p:cTn id="64"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8105140" cy="844550"/>
          </a:xfrm>
        </p:spPr>
        <p:txBody>
          <a:bodyPr/>
          <a:lstStyle/>
          <a:p>
            <a:r>
              <a:rPr kumimoji="0" lang="en-US" altLang="zh-CN" kern="1200" noProof="0" dirty="0" smtClean="0">
                <a:solidFill>
                  <a:schemeClr val="accent2"/>
                </a:solidFill>
                <a:sym typeface="+mn-ea"/>
              </a:rPr>
              <a:t>6.1 </a:t>
            </a:r>
            <a:r>
              <a:rPr kumimoji="0" lang="zh-CN" altLang="en-US" kern="1200" noProof="0" dirty="0" smtClean="0">
                <a:solidFill>
                  <a:schemeClr val="accent2"/>
                </a:solidFill>
                <a:sym typeface="+mn-ea"/>
              </a:rPr>
              <a:t>线性规划</a:t>
            </a:r>
            <a:r>
              <a:rPr kumimoji="0" lang="zh-CN" altLang="en-US" kern="1200" dirty="0">
                <a:solidFill>
                  <a:schemeClr val="accent2"/>
                </a:solidFill>
                <a:sym typeface="+mn-ea"/>
              </a:rPr>
              <a:t>模型</a:t>
            </a:r>
            <a:endParaRPr kumimoji="0" lang="en-US" altLang="zh-CN" kern="1200" noProof="0" dirty="0" smtClean="0">
              <a:ln>
                <a:noFill/>
              </a:ln>
              <a:solidFill>
                <a:schemeClr val="accent2"/>
              </a:solidFill>
              <a:effectLst/>
              <a:uLnTx/>
              <a:uFillTx/>
              <a:sym typeface="+mn-ea"/>
            </a:endParaRPr>
          </a:p>
        </p:txBody>
      </p:sp>
      <p:sp>
        <p:nvSpPr>
          <p:cNvPr id="3" name="矩形 2"/>
          <p:cNvSpPr/>
          <p:nvPr/>
        </p:nvSpPr>
        <p:spPr>
          <a:xfrm>
            <a:off x="3387357" y="1700808"/>
            <a:ext cx="2350323" cy="461665"/>
          </a:xfrm>
          <a:prstGeom prst="rect">
            <a:avLst/>
          </a:prstGeom>
        </p:spPr>
        <p:txBody>
          <a:bodyPr wrap="none">
            <a:spAutoFit/>
          </a:bodyPr>
          <a:lstStyle/>
          <a:p>
            <a:r>
              <a:rPr lang="zh-CN" altLang="en-US" b="1" dirty="0">
                <a:solidFill>
                  <a:schemeClr val="bg1"/>
                </a:solidFill>
              </a:rPr>
              <a:t>资源使用计算表</a:t>
            </a:r>
            <a:endParaRPr lang="zh-CN" altLang="en-US" dirty="0">
              <a:solidFill>
                <a:schemeClr val="bg1"/>
              </a:solidFill>
            </a:endParaRPr>
          </a:p>
        </p:txBody>
      </p:sp>
      <p:sp>
        <p:nvSpPr>
          <p:cNvPr id="16" name="Rectangle 3"/>
          <p:cNvSpPr>
            <a:spLocks noGrp="1"/>
          </p:cNvSpPr>
          <p:nvPr/>
        </p:nvSpPr>
        <p:spPr>
          <a:xfrm>
            <a:off x="497840" y="2474595"/>
            <a:ext cx="8208010" cy="2910205"/>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eaLnBrk="1" hangingPunct="1">
              <a:buNone/>
            </a:pPr>
            <a:r>
              <a:rPr lang="zh-CN" altLang="en-US" sz="2400" dirty="0">
                <a:solidFill>
                  <a:schemeClr val="bg1"/>
                </a:solidFill>
              </a:rPr>
              <a:t>方案     </a:t>
            </a:r>
            <a:r>
              <a:rPr lang="zh-CN" altLang="en-US" sz="2400" dirty="0" smtClean="0">
                <a:solidFill>
                  <a:schemeClr val="bg1"/>
                </a:solidFill>
              </a:rPr>
              <a:t>   产品</a:t>
            </a:r>
            <a:r>
              <a:rPr lang="zh-CN" altLang="en-US" sz="2400" dirty="0">
                <a:solidFill>
                  <a:schemeClr val="bg1"/>
                </a:solidFill>
              </a:rPr>
              <a:t>数量       </a:t>
            </a:r>
            <a:r>
              <a:rPr lang="zh-CN" altLang="en-US" sz="2400" dirty="0" smtClean="0">
                <a:solidFill>
                  <a:schemeClr val="bg1"/>
                </a:solidFill>
              </a:rPr>
              <a:t>   使用</a:t>
            </a:r>
            <a:r>
              <a:rPr lang="zh-CN" altLang="en-US" sz="2400" dirty="0">
                <a:solidFill>
                  <a:schemeClr val="bg1"/>
                </a:solidFill>
              </a:rPr>
              <a:t>资源 </a:t>
            </a:r>
            <a:r>
              <a:rPr lang="zh-CN" altLang="en-US" sz="2400" dirty="0" smtClean="0">
                <a:solidFill>
                  <a:schemeClr val="bg1"/>
                </a:solidFill>
              </a:rPr>
              <a:t>       </a:t>
            </a:r>
            <a:r>
              <a:rPr lang="zh-CN" altLang="en-US" sz="2400" dirty="0">
                <a:solidFill>
                  <a:schemeClr val="bg1"/>
                </a:solidFill>
              </a:rPr>
              <a:t>剩余资源      </a:t>
            </a:r>
            <a:r>
              <a:rPr lang="zh-CN" altLang="en-US" sz="2400" dirty="0" smtClean="0">
                <a:solidFill>
                  <a:schemeClr val="bg1"/>
                </a:solidFill>
              </a:rPr>
              <a:t>  收入</a:t>
            </a:r>
            <a:endParaRPr lang="zh-CN" altLang="en-US" sz="2400" dirty="0">
              <a:solidFill>
                <a:schemeClr val="bg1"/>
              </a:solidFill>
            </a:endParaRPr>
          </a:p>
          <a:p>
            <a:pPr eaLnBrk="1" hangingPunct="1">
              <a:buNone/>
            </a:pPr>
            <a:r>
              <a:rPr lang="zh-CN" altLang="en-US" sz="2400" dirty="0">
                <a:solidFill>
                  <a:schemeClr val="bg1"/>
                </a:solidFill>
              </a:rPr>
              <a:t>组合   </a:t>
            </a:r>
            <a:r>
              <a:rPr lang="zh-CN" altLang="en-US" sz="2400" dirty="0" smtClean="0">
                <a:solidFill>
                  <a:schemeClr val="bg1"/>
                </a:solidFill>
              </a:rPr>
              <a:t>  桌子      椅子     木工     </a:t>
            </a:r>
            <a:r>
              <a:rPr lang="zh-CN" altLang="en-US" sz="2400" dirty="0">
                <a:solidFill>
                  <a:schemeClr val="bg1"/>
                </a:solidFill>
              </a:rPr>
              <a:t>油工   </a:t>
            </a:r>
            <a:r>
              <a:rPr lang="zh-CN" altLang="en-US" sz="2400" dirty="0" smtClean="0">
                <a:solidFill>
                  <a:schemeClr val="bg1"/>
                </a:solidFill>
              </a:rPr>
              <a:t>木工    油工</a:t>
            </a:r>
            <a:endParaRPr lang="zh-CN" altLang="en-US" sz="2400" dirty="0">
              <a:solidFill>
                <a:schemeClr val="bg1"/>
              </a:solidFill>
            </a:endParaRPr>
          </a:p>
          <a:p>
            <a:pPr eaLnBrk="1" hangingPunct="1">
              <a:lnSpc>
                <a:spcPct val="130000"/>
              </a:lnSpc>
              <a:buNone/>
            </a:pPr>
            <a:r>
              <a:rPr lang="zh-CN" altLang="en-US" sz="2400" dirty="0">
                <a:solidFill>
                  <a:schemeClr val="bg1"/>
                </a:solidFill>
              </a:rPr>
              <a:t>   </a:t>
            </a:r>
            <a:r>
              <a:rPr lang="en-US" altLang="zh-CN" sz="2400" dirty="0">
                <a:solidFill>
                  <a:schemeClr val="bg1"/>
                </a:solidFill>
              </a:rPr>
              <a:t>1      </a:t>
            </a:r>
            <a:r>
              <a:rPr lang="en-US" altLang="zh-CN" sz="2400" dirty="0" smtClean="0">
                <a:solidFill>
                  <a:schemeClr val="bg1"/>
                </a:solidFill>
              </a:rPr>
              <a:t>  25          </a:t>
            </a:r>
            <a:r>
              <a:rPr lang="en-US" altLang="zh-CN" sz="2400" dirty="0">
                <a:solidFill>
                  <a:schemeClr val="bg1"/>
                </a:solidFill>
              </a:rPr>
              <a:t>0       </a:t>
            </a:r>
            <a:r>
              <a:rPr lang="en-US" altLang="zh-CN" sz="2400" dirty="0" smtClean="0">
                <a:solidFill>
                  <a:schemeClr val="bg1"/>
                </a:solidFill>
              </a:rPr>
              <a:t>  100       50      </a:t>
            </a:r>
            <a:r>
              <a:rPr lang="en-US" altLang="zh-CN" sz="2400" dirty="0">
                <a:solidFill>
                  <a:schemeClr val="bg1"/>
                </a:solidFill>
              </a:rPr>
              <a:t>20      </a:t>
            </a:r>
            <a:r>
              <a:rPr lang="en-US" altLang="zh-CN" sz="2400" dirty="0" smtClean="0">
                <a:solidFill>
                  <a:schemeClr val="bg1"/>
                </a:solidFill>
              </a:rPr>
              <a:t>   </a:t>
            </a:r>
            <a:r>
              <a:rPr lang="en-US" altLang="zh-CN" sz="2400" dirty="0">
                <a:solidFill>
                  <a:schemeClr val="bg1"/>
                </a:solidFill>
              </a:rPr>
              <a:t>0       1250</a:t>
            </a:r>
          </a:p>
          <a:p>
            <a:pPr eaLnBrk="1" hangingPunct="1">
              <a:lnSpc>
                <a:spcPct val="130000"/>
              </a:lnSpc>
              <a:buNone/>
            </a:pPr>
            <a:r>
              <a:rPr lang="en-US" altLang="zh-CN" sz="2400" dirty="0">
                <a:solidFill>
                  <a:schemeClr val="bg1"/>
                </a:solidFill>
              </a:rPr>
              <a:t>   2      </a:t>
            </a:r>
            <a:r>
              <a:rPr lang="en-US" altLang="zh-CN" sz="2400" dirty="0" smtClean="0">
                <a:solidFill>
                  <a:schemeClr val="bg1"/>
                </a:solidFill>
              </a:rPr>
              <a:t>  20          </a:t>
            </a:r>
            <a:r>
              <a:rPr lang="en-US" altLang="zh-CN" sz="2400" dirty="0">
                <a:solidFill>
                  <a:schemeClr val="bg1"/>
                </a:solidFill>
              </a:rPr>
              <a:t>5       </a:t>
            </a:r>
            <a:r>
              <a:rPr lang="en-US" altLang="zh-CN" sz="2400" dirty="0" smtClean="0">
                <a:solidFill>
                  <a:schemeClr val="bg1"/>
                </a:solidFill>
              </a:rPr>
              <a:t>  110       50      10         0       </a:t>
            </a:r>
            <a:r>
              <a:rPr lang="en-US" altLang="zh-CN" sz="2400" dirty="0">
                <a:solidFill>
                  <a:schemeClr val="bg1"/>
                </a:solidFill>
              </a:rPr>
              <a:t>1300</a:t>
            </a:r>
          </a:p>
          <a:p>
            <a:pPr eaLnBrk="1" hangingPunct="1">
              <a:lnSpc>
                <a:spcPct val="130000"/>
              </a:lnSpc>
              <a:buNone/>
            </a:pPr>
            <a:r>
              <a:rPr lang="en-US" altLang="zh-CN" sz="2400" dirty="0">
                <a:solidFill>
                  <a:schemeClr val="bg1"/>
                </a:solidFill>
              </a:rPr>
              <a:t> </a:t>
            </a:r>
            <a:r>
              <a:rPr lang="en-US" altLang="zh-CN" sz="2400" b="1" dirty="0">
                <a:solidFill>
                  <a:srgbClr val="7030A0"/>
                </a:solidFill>
              </a:rPr>
              <a:t> </a:t>
            </a:r>
            <a:r>
              <a:rPr lang="en-US" altLang="zh-CN" sz="2400" b="1" dirty="0">
                <a:solidFill>
                  <a:srgbClr val="FF0000"/>
                </a:solidFill>
              </a:rPr>
              <a:t> 3      </a:t>
            </a:r>
            <a:r>
              <a:rPr lang="en-US" altLang="zh-CN" sz="2400" b="1" dirty="0" smtClean="0">
                <a:solidFill>
                  <a:srgbClr val="FF0000"/>
                </a:solidFill>
              </a:rPr>
              <a:t>  15         10       </a:t>
            </a:r>
            <a:r>
              <a:rPr lang="en-US" altLang="zh-CN" sz="2400" b="1" dirty="0">
                <a:solidFill>
                  <a:srgbClr val="FF0000"/>
                </a:solidFill>
              </a:rPr>
              <a:t>120     </a:t>
            </a:r>
            <a:r>
              <a:rPr lang="en-US" altLang="zh-CN" sz="2400" b="1" dirty="0" smtClean="0">
                <a:solidFill>
                  <a:srgbClr val="FF0000"/>
                </a:solidFill>
              </a:rPr>
              <a:t>   50       0          0       </a:t>
            </a:r>
            <a:r>
              <a:rPr lang="en-US" altLang="zh-CN" sz="2400" b="1" dirty="0">
                <a:solidFill>
                  <a:srgbClr val="FF0000"/>
                </a:solidFill>
              </a:rPr>
              <a:t>1350</a:t>
            </a:r>
            <a:r>
              <a:rPr lang="en-US" altLang="zh-CN" sz="2400" b="1" dirty="0">
                <a:solidFill>
                  <a:srgbClr val="7030A0"/>
                </a:solidFill>
              </a:rPr>
              <a:t> </a:t>
            </a:r>
            <a:r>
              <a:rPr lang="en-US" altLang="zh-CN" sz="2400" dirty="0">
                <a:solidFill>
                  <a:schemeClr val="bg1"/>
                </a:solidFill>
              </a:rPr>
              <a:t>  </a:t>
            </a:r>
          </a:p>
        </p:txBody>
      </p:sp>
      <p:grpSp>
        <p:nvGrpSpPr>
          <p:cNvPr id="30" name="组合 29"/>
          <p:cNvGrpSpPr/>
          <p:nvPr/>
        </p:nvGrpSpPr>
        <p:grpSpPr>
          <a:xfrm>
            <a:off x="434459" y="2364109"/>
            <a:ext cx="8188325" cy="2703513"/>
            <a:chOff x="468357" y="2669703"/>
            <a:chExt cx="8188325" cy="2703513"/>
          </a:xfrm>
        </p:grpSpPr>
        <p:sp>
          <p:nvSpPr>
            <p:cNvPr id="17" name="Line 4"/>
            <p:cNvSpPr/>
            <p:nvPr/>
          </p:nvSpPr>
          <p:spPr>
            <a:xfrm>
              <a:off x="496932" y="2669703"/>
              <a:ext cx="8159750" cy="0"/>
            </a:xfrm>
            <a:prstGeom prst="line">
              <a:avLst/>
            </a:prstGeom>
            <a:ln w="9525" cap="flat" cmpd="sng">
              <a:solidFill>
                <a:schemeClr val="bg1"/>
              </a:solidFill>
              <a:prstDash val="solid"/>
              <a:headEnd type="none" w="med" len="med"/>
              <a:tailEnd type="none" w="med" len="med"/>
            </a:ln>
          </p:spPr>
        </p:sp>
        <p:sp>
          <p:nvSpPr>
            <p:cNvPr id="18" name="Line 5"/>
            <p:cNvSpPr/>
            <p:nvPr/>
          </p:nvSpPr>
          <p:spPr>
            <a:xfrm>
              <a:off x="496932" y="3707928"/>
              <a:ext cx="8159750" cy="0"/>
            </a:xfrm>
            <a:prstGeom prst="line">
              <a:avLst/>
            </a:prstGeom>
            <a:ln w="9525" cap="flat" cmpd="sng">
              <a:solidFill>
                <a:schemeClr val="bg1"/>
              </a:solidFill>
              <a:prstDash val="solid"/>
              <a:headEnd type="none" w="med" len="med"/>
              <a:tailEnd type="none" w="med" len="med"/>
            </a:ln>
          </p:spPr>
        </p:sp>
        <p:sp>
          <p:nvSpPr>
            <p:cNvPr id="19" name="Line 6"/>
            <p:cNvSpPr/>
            <p:nvPr/>
          </p:nvSpPr>
          <p:spPr>
            <a:xfrm>
              <a:off x="496932" y="5357341"/>
              <a:ext cx="8159750" cy="0"/>
            </a:xfrm>
            <a:prstGeom prst="line">
              <a:avLst/>
            </a:prstGeom>
            <a:ln w="9525" cap="flat" cmpd="sng">
              <a:solidFill>
                <a:schemeClr val="bg1"/>
              </a:solidFill>
              <a:prstDash val="solid"/>
              <a:headEnd type="none" w="med" len="med"/>
              <a:tailEnd type="none" w="med" len="med"/>
            </a:ln>
          </p:spPr>
        </p:sp>
        <p:sp>
          <p:nvSpPr>
            <p:cNvPr id="20" name="Line 7"/>
            <p:cNvSpPr/>
            <p:nvPr/>
          </p:nvSpPr>
          <p:spPr>
            <a:xfrm>
              <a:off x="1465307" y="2671291"/>
              <a:ext cx="0" cy="2687637"/>
            </a:xfrm>
            <a:prstGeom prst="line">
              <a:avLst/>
            </a:prstGeom>
            <a:ln w="9525" cap="flat" cmpd="sng">
              <a:solidFill>
                <a:schemeClr val="bg1"/>
              </a:solidFill>
              <a:prstDash val="solid"/>
              <a:headEnd type="none" w="med" len="med"/>
              <a:tailEnd type="none" w="med" len="med"/>
            </a:ln>
          </p:spPr>
        </p:sp>
        <p:sp>
          <p:nvSpPr>
            <p:cNvPr id="21" name="Line 8"/>
            <p:cNvSpPr/>
            <p:nvPr/>
          </p:nvSpPr>
          <p:spPr>
            <a:xfrm>
              <a:off x="3598907" y="2671291"/>
              <a:ext cx="0" cy="2687637"/>
            </a:xfrm>
            <a:prstGeom prst="line">
              <a:avLst/>
            </a:prstGeom>
            <a:ln w="9525" cap="flat" cmpd="sng">
              <a:solidFill>
                <a:schemeClr val="bg1"/>
              </a:solidFill>
              <a:prstDash val="solid"/>
              <a:headEnd type="none" w="med" len="med"/>
              <a:tailEnd type="none" w="med" len="med"/>
            </a:ln>
          </p:spPr>
        </p:sp>
        <p:sp>
          <p:nvSpPr>
            <p:cNvPr id="22" name="Line 9"/>
            <p:cNvSpPr/>
            <p:nvPr/>
          </p:nvSpPr>
          <p:spPr>
            <a:xfrm>
              <a:off x="5538832" y="2685578"/>
              <a:ext cx="0" cy="2687638"/>
            </a:xfrm>
            <a:prstGeom prst="line">
              <a:avLst/>
            </a:prstGeom>
            <a:ln w="9525" cap="flat" cmpd="sng">
              <a:solidFill>
                <a:schemeClr val="bg1"/>
              </a:solidFill>
              <a:prstDash val="solid"/>
              <a:headEnd type="none" w="med" len="med"/>
              <a:tailEnd type="none" w="med" len="med"/>
            </a:ln>
          </p:spPr>
        </p:sp>
        <p:sp>
          <p:nvSpPr>
            <p:cNvPr id="23" name="Line 10"/>
            <p:cNvSpPr/>
            <p:nvPr/>
          </p:nvSpPr>
          <p:spPr>
            <a:xfrm>
              <a:off x="7367632" y="2685578"/>
              <a:ext cx="0" cy="2687638"/>
            </a:xfrm>
            <a:prstGeom prst="line">
              <a:avLst/>
            </a:prstGeom>
            <a:ln w="9525" cap="flat" cmpd="sng">
              <a:solidFill>
                <a:schemeClr val="bg1"/>
              </a:solidFill>
              <a:prstDash val="solid"/>
              <a:headEnd type="none" w="med" len="med"/>
              <a:tailEnd type="none" w="med" len="med"/>
            </a:ln>
          </p:spPr>
        </p:sp>
        <p:sp>
          <p:nvSpPr>
            <p:cNvPr id="24" name="Line 11"/>
            <p:cNvSpPr/>
            <p:nvPr/>
          </p:nvSpPr>
          <p:spPr>
            <a:xfrm>
              <a:off x="1465307" y="3212628"/>
              <a:ext cx="5902325" cy="0"/>
            </a:xfrm>
            <a:prstGeom prst="line">
              <a:avLst/>
            </a:prstGeom>
            <a:ln w="9525" cap="flat" cmpd="sng">
              <a:solidFill>
                <a:schemeClr val="bg1"/>
              </a:solidFill>
              <a:prstDash val="solid"/>
              <a:headEnd type="none" w="med" len="med"/>
              <a:tailEnd type="none" w="med" len="med"/>
            </a:ln>
          </p:spPr>
        </p:sp>
        <p:sp>
          <p:nvSpPr>
            <p:cNvPr id="25" name="Line 12"/>
            <p:cNvSpPr/>
            <p:nvPr/>
          </p:nvSpPr>
          <p:spPr>
            <a:xfrm>
              <a:off x="2462257" y="3225328"/>
              <a:ext cx="0" cy="2133600"/>
            </a:xfrm>
            <a:prstGeom prst="line">
              <a:avLst/>
            </a:prstGeom>
            <a:ln w="9525" cap="flat" cmpd="sng">
              <a:solidFill>
                <a:schemeClr val="bg1"/>
              </a:solidFill>
              <a:prstDash val="solid"/>
              <a:headEnd type="none" w="med" len="med"/>
              <a:tailEnd type="none" w="med" len="med"/>
            </a:ln>
          </p:spPr>
        </p:sp>
        <p:sp>
          <p:nvSpPr>
            <p:cNvPr id="26" name="Line 13"/>
            <p:cNvSpPr/>
            <p:nvPr/>
          </p:nvSpPr>
          <p:spPr>
            <a:xfrm>
              <a:off x="4581569" y="3225328"/>
              <a:ext cx="0" cy="2133600"/>
            </a:xfrm>
            <a:prstGeom prst="line">
              <a:avLst/>
            </a:prstGeom>
            <a:ln w="9525" cap="flat" cmpd="sng">
              <a:solidFill>
                <a:schemeClr val="bg1"/>
              </a:solidFill>
              <a:prstDash val="solid"/>
              <a:headEnd type="none" w="med" len="med"/>
              <a:tailEnd type="none" w="med" len="med"/>
            </a:ln>
          </p:spPr>
        </p:sp>
        <p:sp>
          <p:nvSpPr>
            <p:cNvPr id="27" name="Line 14"/>
            <p:cNvSpPr/>
            <p:nvPr/>
          </p:nvSpPr>
          <p:spPr>
            <a:xfrm>
              <a:off x="6451644" y="3238028"/>
              <a:ext cx="0" cy="2133600"/>
            </a:xfrm>
            <a:prstGeom prst="line">
              <a:avLst/>
            </a:prstGeom>
            <a:ln w="9525" cap="flat" cmpd="sng">
              <a:solidFill>
                <a:schemeClr val="bg1"/>
              </a:solidFill>
              <a:prstDash val="solid"/>
              <a:headEnd type="none" w="med" len="med"/>
              <a:tailEnd type="none" w="med" len="med"/>
            </a:ln>
          </p:spPr>
        </p:sp>
        <p:sp>
          <p:nvSpPr>
            <p:cNvPr id="28" name="Line 15"/>
            <p:cNvSpPr/>
            <p:nvPr/>
          </p:nvSpPr>
          <p:spPr>
            <a:xfrm>
              <a:off x="468357" y="4234978"/>
              <a:ext cx="8159750" cy="0"/>
            </a:xfrm>
            <a:prstGeom prst="line">
              <a:avLst/>
            </a:prstGeom>
            <a:ln w="9525" cap="flat" cmpd="sng">
              <a:solidFill>
                <a:schemeClr val="bg1"/>
              </a:solidFill>
              <a:prstDash val="solid"/>
              <a:headEnd type="none" w="med" len="med"/>
              <a:tailEnd type="none" w="med" len="med"/>
            </a:ln>
          </p:spPr>
        </p:sp>
        <p:sp>
          <p:nvSpPr>
            <p:cNvPr id="29" name="Line 16"/>
            <p:cNvSpPr/>
            <p:nvPr/>
          </p:nvSpPr>
          <p:spPr>
            <a:xfrm>
              <a:off x="496932" y="4774728"/>
              <a:ext cx="8159750" cy="0"/>
            </a:xfrm>
            <a:prstGeom prst="line">
              <a:avLst/>
            </a:prstGeom>
            <a:ln w="9525" cap="flat" cmpd="sng">
              <a:solidFill>
                <a:schemeClr val="bg1"/>
              </a:solidFill>
              <a:prstDash val="solid"/>
              <a:headEnd type="none" w="med" len="med"/>
              <a:tailEnd type="none" w="med" len="med"/>
            </a:ln>
          </p:spPr>
        </p:sp>
      </p:grpSp>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8105140" cy="844550"/>
          </a:xfrm>
        </p:spPr>
        <p:txBody>
          <a:bodyPr/>
          <a:lstStyle/>
          <a:p>
            <a:r>
              <a:rPr kumimoji="0" lang="en-US" altLang="zh-CN" kern="1200" noProof="0" dirty="0" smtClean="0">
                <a:solidFill>
                  <a:schemeClr val="accent2"/>
                </a:solidFill>
                <a:sym typeface="+mn-ea"/>
              </a:rPr>
              <a:t>6.1 </a:t>
            </a:r>
            <a:r>
              <a:rPr kumimoji="0" lang="zh-CN" altLang="en-US" kern="1200" noProof="0" dirty="0" smtClean="0">
                <a:solidFill>
                  <a:schemeClr val="accent2"/>
                </a:solidFill>
                <a:sym typeface="+mn-ea"/>
              </a:rPr>
              <a:t>线性规划</a:t>
            </a:r>
            <a:r>
              <a:rPr kumimoji="0" lang="zh-CN" altLang="en-US" kern="1200" dirty="0">
                <a:solidFill>
                  <a:schemeClr val="accent2"/>
                </a:solidFill>
                <a:sym typeface="+mn-ea"/>
              </a:rPr>
              <a:t>模型</a:t>
            </a:r>
            <a:endParaRPr kumimoji="0" lang="en-US" altLang="zh-CN" kern="1200" noProof="0" dirty="0" smtClean="0">
              <a:ln>
                <a:noFill/>
              </a:ln>
              <a:solidFill>
                <a:schemeClr val="accent2"/>
              </a:solidFill>
              <a:effectLst/>
              <a:uLnTx/>
              <a:uFillTx/>
              <a:sym typeface="+mn-ea"/>
            </a:endParaRPr>
          </a:p>
        </p:txBody>
      </p:sp>
      <p:sp>
        <p:nvSpPr>
          <p:cNvPr id="31" name="TextBox 30"/>
          <p:cNvSpPr txBox="1"/>
          <p:nvPr/>
        </p:nvSpPr>
        <p:spPr>
          <a:xfrm>
            <a:off x="323528" y="1628800"/>
            <a:ext cx="8568952" cy="3637919"/>
          </a:xfrm>
          <a:prstGeom prst="rect">
            <a:avLst/>
          </a:prstGeom>
          <a:noFill/>
        </p:spPr>
        <p:txBody>
          <a:bodyPr wrap="square" rtlCol="0">
            <a:spAutoFit/>
          </a:bodyPr>
          <a:lstStyle/>
          <a:p>
            <a:pPr marL="800100" lvl="1" indent="-342900">
              <a:lnSpc>
                <a:spcPct val="120000"/>
              </a:lnSpc>
              <a:buFont typeface="Arial" panose="020B0604020202020204" pitchFamily="34" charset="0"/>
              <a:buChar char="•"/>
            </a:pPr>
            <a:r>
              <a:rPr lang="zh-CN" altLang="en-US" dirty="0" smtClean="0">
                <a:solidFill>
                  <a:schemeClr val="bg1"/>
                </a:solidFill>
              </a:rPr>
              <a:t>手工求解问题的弊端</a:t>
            </a:r>
            <a:endParaRPr lang="en-US" altLang="zh-CN" dirty="0" smtClean="0">
              <a:solidFill>
                <a:schemeClr val="bg1"/>
              </a:solidFill>
            </a:endParaRPr>
          </a:p>
          <a:p>
            <a:pPr lvl="1">
              <a:lnSpc>
                <a:spcPct val="120000"/>
              </a:lnSpc>
            </a:pPr>
            <a:r>
              <a:rPr lang="zh-CN" altLang="en-US" dirty="0" smtClean="0">
                <a:solidFill>
                  <a:schemeClr val="bg1"/>
                </a:solidFill>
                <a:latin typeface="宋体" panose="02010600030101010101" pitchFamily="2" charset="-122"/>
              </a:rPr>
              <a:t>（</a:t>
            </a:r>
            <a:r>
              <a:rPr lang="en-US" altLang="zh-CN" dirty="0" smtClean="0">
                <a:solidFill>
                  <a:schemeClr val="bg1"/>
                </a:solidFill>
                <a:latin typeface="宋体" panose="02010600030101010101" pitchFamily="2" charset="-122"/>
              </a:rPr>
              <a:t>1</a:t>
            </a:r>
            <a:r>
              <a:rPr lang="zh-CN" altLang="en-US" dirty="0" smtClean="0">
                <a:solidFill>
                  <a:schemeClr val="bg1"/>
                </a:solidFill>
                <a:latin typeface="宋体" panose="02010600030101010101" pitchFamily="2" charset="-122"/>
              </a:rPr>
              <a:t>）用</a:t>
            </a:r>
            <a:r>
              <a:rPr lang="zh-CN" altLang="en-US" dirty="0">
                <a:solidFill>
                  <a:schemeClr val="bg1"/>
                </a:solidFill>
                <a:latin typeface="宋体" panose="02010600030101010101" pitchFamily="2" charset="-122"/>
              </a:rPr>
              <a:t>手工</a:t>
            </a:r>
            <a:r>
              <a:rPr lang="zh-CN" altLang="en-US" dirty="0" smtClean="0">
                <a:solidFill>
                  <a:schemeClr val="bg1"/>
                </a:solidFill>
                <a:latin typeface="宋体" panose="02010600030101010101" pitchFamily="2" charset="-122"/>
              </a:rPr>
              <a:t>计算可以找出</a:t>
            </a:r>
            <a:r>
              <a:rPr lang="zh-CN" altLang="en-US" dirty="0">
                <a:solidFill>
                  <a:schemeClr val="bg1"/>
                </a:solidFill>
                <a:latin typeface="宋体" panose="02010600030101010101" pitchFamily="2" charset="-122"/>
              </a:rPr>
              <a:t>很多可行</a:t>
            </a:r>
            <a:r>
              <a:rPr lang="zh-CN" altLang="en-US" dirty="0" smtClean="0">
                <a:solidFill>
                  <a:schemeClr val="bg1"/>
                </a:solidFill>
                <a:latin typeface="宋体" panose="02010600030101010101" pitchFamily="2" charset="-122"/>
              </a:rPr>
              <a:t>方案，对于</a:t>
            </a:r>
            <a:r>
              <a:rPr lang="zh-CN" altLang="en-US" dirty="0">
                <a:solidFill>
                  <a:schemeClr val="bg1"/>
                </a:solidFill>
                <a:latin typeface="宋体" panose="02010600030101010101" pitchFamily="2" charset="-122"/>
              </a:rPr>
              <a:t>简单问题有时也可找到最优方案</a:t>
            </a:r>
            <a:r>
              <a:rPr lang="zh-CN" altLang="en-US" dirty="0" smtClean="0">
                <a:solidFill>
                  <a:schemeClr val="bg1"/>
                </a:solidFill>
                <a:latin typeface="宋体" panose="02010600030101010101" pitchFamily="2" charset="-122"/>
              </a:rPr>
              <a:t>；</a:t>
            </a:r>
            <a:endParaRPr lang="en-US" altLang="zh-CN" dirty="0" smtClean="0">
              <a:solidFill>
                <a:schemeClr val="bg1"/>
              </a:solidFill>
              <a:latin typeface="宋体" panose="02010600030101010101" pitchFamily="2" charset="-122"/>
            </a:endParaRPr>
          </a:p>
          <a:p>
            <a:pPr lvl="1">
              <a:lnSpc>
                <a:spcPct val="120000"/>
              </a:lnSpc>
            </a:pPr>
            <a:r>
              <a:rPr lang="zh-CN" altLang="en-US" dirty="0" smtClean="0">
                <a:solidFill>
                  <a:schemeClr val="bg1"/>
                </a:solidFill>
                <a:latin typeface="宋体" panose="02010600030101010101" pitchFamily="2" charset="-122"/>
              </a:rPr>
              <a:t>（</a:t>
            </a:r>
            <a:r>
              <a:rPr lang="en-US" altLang="zh-CN" dirty="0">
                <a:solidFill>
                  <a:schemeClr val="bg1"/>
                </a:solidFill>
                <a:latin typeface="宋体" panose="02010600030101010101" pitchFamily="2" charset="-122"/>
              </a:rPr>
              <a:t>2</a:t>
            </a:r>
            <a:r>
              <a:rPr lang="zh-CN" altLang="en-US" dirty="0" smtClean="0">
                <a:solidFill>
                  <a:schemeClr val="bg1"/>
                </a:solidFill>
                <a:latin typeface="宋体" panose="02010600030101010101" pitchFamily="2" charset="-122"/>
              </a:rPr>
              <a:t>）当</a:t>
            </a:r>
            <a:r>
              <a:rPr lang="zh-CN" altLang="en-US" dirty="0">
                <a:solidFill>
                  <a:schemeClr val="bg1"/>
                </a:solidFill>
                <a:latin typeface="宋体" panose="02010600030101010101" pitchFamily="2" charset="-122"/>
              </a:rPr>
              <a:t>问题更复杂时，如有</a:t>
            </a:r>
            <a:r>
              <a:rPr lang="en-US" altLang="zh-CN" dirty="0">
                <a:solidFill>
                  <a:schemeClr val="bg1"/>
                </a:solidFill>
                <a:latin typeface="宋体" panose="02010600030101010101" pitchFamily="2" charset="-122"/>
              </a:rPr>
              <a:t>20</a:t>
            </a:r>
            <a:r>
              <a:rPr lang="zh-CN" altLang="en-US" dirty="0">
                <a:solidFill>
                  <a:schemeClr val="bg1"/>
                </a:solidFill>
                <a:latin typeface="宋体" panose="02010600030101010101" pitchFamily="2" charset="-122"/>
              </a:rPr>
              <a:t>种产品，消耗</a:t>
            </a:r>
            <a:r>
              <a:rPr lang="en-US" altLang="zh-CN" dirty="0">
                <a:solidFill>
                  <a:schemeClr val="bg1"/>
                </a:solidFill>
                <a:latin typeface="宋体" panose="02010600030101010101" pitchFamily="2" charset="-122"/>
              </a:rPr>
              <a:t>10</a:t>
            </a:r>
            <a:r>
              <a:rPr lang="zh-CN" altLang="en-US" dirty="0">
                <a:solidFill>
                  <a:schemeClr val="bg1"/>
                </a:solidFill>
                <a:latin typeface="宋体" panose="02010600030101010101" pitchFamily="2" charset="-122"/>
              </a:rPr>
              <a:t>种资源，用人工计算是否有效</a:t>
            </a:r>
            <a:r>
              <a:rPr lang="zh-CN" altLang="en-US" dirty="0" smtClean="0">
                <a:solidFill>
                  <a:schemeClr val="bg1"/>
                </a:solidFill>
                <a:latin typeface="宋体" panose="02010600030101010101" pitchFamily="2" charset="-122"/>
              </a:rPr>
              <a:t>？</a:t>
            </a:r>
            <a:endParaRPr lang="en-US" altLang="zh-CN" dirty="0" smtClean="0">
              <a:solidFill>
                <a:schemeClr val="bg1"/>
              </a:solidFill>
              <a:latin typeface="宋体" panose="02010600030101010101" pitchFamily="2" charset="-122"/>
            </a:endParaRPr>
          </a:p>
          <a:p>
            <a:pPr lvl="1">
              <a:lnSpc>
                <a:spcPct val="120000"/>
              </a:lnSpc>
            </a:pPr>
            <a:r>
              <a:rPr lang="zh-CN" altLang="en-US" dirty="0" smtClean="0">
                <a:solidFill>
                  <a:schemeClr val="bg1"/>
                </a:solidFill>
                <a:latin typeface="宋体" panose="02010600030101010101" pitchFamily="2" charset="-122"/>
              </a:rPr>
              <a:t>（</a:t>
            </a:r>
            <a:r>
              <a:rPr lang="en-US" altLang="zh-CN" dirty="0" smtClean="0">
                <a:solidFill>
                  <a:schemeClr val="bg1"/>
                </a:solidFill>
                <a:latin typeface="宋体" panose="02010600030101010101" pitchFamily="2" charset="-122"/>
              </a:rPr>
              <a:t>3</a:t>
            </a:r>
            <a:r>
              <a:rPr lang="zh-CN" altLang="en-US" dirty="0" smtClean="0">
                <a:solidFill>
                  <a:schemeClr val="bg1"/>
                </a:solidFill>
                <a:latin typeface="宋体" panose="02010600030101010101" pitchFamily="2" charset="-122"/>
              </a:rPr>
              <a:t>）一</a:t>
            </a:r>
            <a:r>
              <a:rPr lang="zh-CN" altLang="en-US" dirty="0">
                <a:solidFill>
                  <a:schemeClr val="bg1"/>
                </a:solidFill>
                <a:latin typeface="宋体" panose="02010600030101010101" pitchFamily="2" charset="-122"/>
              </a:rPr>
              <a:t>个很简单的问题都可能存在无数可行解，从中找出最优解不是容易的事</a:t>
            </a:r>
            <a:r>
              <a:rPr lang="zh-CN" altLang="en-US" dirty="0" smtClean="0">
                <a:solidFill>
                  <a:schemeClr val="bg1"/>
                </a:solidFill>
                <a:latin typeface="宋体" panose="02010600030101010101" pitchFamily="2" charset="-122"/>
              </a:rPr>
              <a:t>。</a:t>
            </a:r>
            <a:endParaRPr lang="en-US" altLang="zh-CN" dirty="0" smtClean="0">
              <a:solidFill>
                <a:schemeClr val="bg1"/>
              </a:solidFill>
              <a:latin typeface="宋体" panose="02010600030101010101" pitchFamily="2" charset="-122"/>
            </a:endParaRPr>
          </a:p>
          <a:p>
            <a:pPr marL="800100" lvl="1" indent="-342900">
              <a:lnSpc>
                <a:spcPct val="120000"/>
              </a:lnSpc>
              <a:buFont typeface="Arial" panose="020B0604020202020204" pitchFamily="34" charset="0"/>
              <a:buChar char="•"/>
            </a:pPr>
            <a:r>
              <a:rPr lang="zh-CN" altLang="en-US" b="1" dirty="0" smtClean="0">
                <a:solidFill>
                  <a:srgbClr val="FF0000"/>
                </a:solidFill>
                <a:latin typeface="宋体" panose="02010600030101010101" pitchFamily="2" charset="-122"/>
              </a:rPr>
              <a:t>线性规划模型</a:t>
            </a:r>
            <a:r>
              <a:rPr lang="zh-CN" altLang="en-US" dirty="0" smtClean="0">
                <a:solidFill>
                  <a:schemeClr val="bg1"/>
                </a:solidFill>
                <a:latin typeface="宋体" panose="02010600030101010101" pitchFamily="2" charset="-122"/>
              </a:rPr>
              <a:t>是求解这类组合优化问题的有效工具。</a:t>
            </a:r>
            <a:endParaRPr lang="en-US" altLang="zh-CN" dirty="0" smtClean="0">
              <a:solidFill>
                <a:schemeClr val="bg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
                                            <p:txEl>
                                              <p:pRg st="1" end="1"/>
                                            </p:txEl>
                                          </p:spTgt>
                                        </p:tgtEl>
                                        <p:attrNameLst>
                                          <p:attrName>style.visibility</p:attrName>
                                        </p:attrNameLst>
                                      </p:cBhvr>
                                      <p:to>
                                        <p:strVal val="visible"/>
                                      </p:to>
                                    </p:set>
                                    <p:animEffect transition="in" filter="wipe(left)">
                                      <p:cBhvr>
                                        <p:cTn id="7" dur="500"/>
                                        <p:tgtEl>
                                          <p:spTgt spid="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
                                            <p:txEl>
                                              <p:pRg st="2" end="2"/>
                                            </p:txEl>
                                          </p:spTgt>
                                        </p:tgtEl>
                                        <p:attrNameLst>
                                          <p:attrName>style.visibility</p:attrName>
                                        </p:attrNameLst>
                                      </p:cBhvr>
                                      <p:to>
                                        <p:strVal val="visible"/>
                                      </p:to>
                                    </p:set>
                                    <p:animEffect transition="in" filter="wipe(left)">
                                      <p:cBhvr>
                                        <p:cTn id="12" dur="500"/>
                                        <p:tgtEl>
                                          <p:spTgt spid="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xEl>
                                              <p:pRg st="3" end="3"/>
                                            </p:txEl>
                                          </p:spTgt>
                                        </p:tgtEl>
                                        <p:attrNameLst>
                                          <p:attrName>style.visibility</p:attrName>
                                        </p:attrNameLst>
                                      </p:cBhvr>
                                      <p:to>
                                        <p:strVal val="visible"/>
                                      </p:to>
                                    </p:set>
                                    <p:animEffect transition="in" filter="wipe(left)">
                                      <p:cBhvr>
                                        <p:cTn id="17" dur="500"/>
                                        <p:tgtEl>
                                          <p:spTgt spid="3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xEl>
                                              <p:pRg st="4" end="4"/>
                                            </p:txEl>
                                          </p:spTgt>
                                        </p:tgtEl>
                                        <p:attrNameLst>
                                          <p:attrName>style.visibility</p:attrName>
                                        </p:attrNameLst>
                                      </p:cBhvr>
                                      <p:to>
                                        <p:strVal val="visible"/>
                                      </p:to>
                                    </p:set>
                                    <p:animEffect transition="in" filter="wipe(left)">
                                      <p:cBhvr>
                                        <p:cTn id="22" dur="500"/>
                                        <p:tgtEl>
                                          <p:spTgt spid="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8105140" cy="844550"/>
          </a:xfrm>
        </p:spPr>
        <p:txBody>
          <a:bodyPr/>
          <a:lstStyle/>
          <a:p>
            <a:r>
              <a:rPr kumimoji="0" lang="en-US" altLang="zh-CN" kern="1200" noProof="0" dirty="0" smtClean="0">
                <a:solidFill>
                  <a:schemeClr val="accent2"/>
                </a:solidFill>
                <a:sym typeface="+mn-ea"/>
              </a:rPr>
              <a:t>6.1 </a:t>
            </a:r>
            <a:r>
              <a:rPr kumimoji="0" lang="zh-CN" altLang="en-US" kern="1200" noProof="0" dirty="0" smtClean="0">
                <a:solidFill>
                  <a:schemeClr val="accent2"/>
                </a:solidFill>
                <a:sym typeface="+mn-ea"/>
              </a:rPr>
              <a:t>线性规划</a:t>
            </a:r>
            <a:r>
              <a:rPr kumimoji="0" lang="zh-CN" altLang="en-US" kern="1200" dirty="0">
                <a:solidFill>
                  <a:schemeClr val="accent2"/>
                </a:solidFill>
                <a:sym typeface="+mn-ea"/>
              </a:rPr>
              <a:t>模型</a:t>
            </a:r>
            <a:endParaRPr kumimoji="0" lang="en-US" altLang="zh-CN" kern="1200" noProof="0" dirty="0" smtClean="0">
              <a:ln>
                <a:noFill/>
              </a:ln>
              <a:solidFill>
                <a:schemeClr val="accent2"/>
              </a:solidFill>
              <a:effectLst/>
              <a:uLnTx/>
              <a:uFillTx/>
              <a:sym typeface="+mn-ea"/>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188640"/>
            <a:ext cx="38862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23528" y="1628800"/>
            <a:ext cx="8568952" cy="4521835"/>
          </a:xfrm>
          <a:prstGeom prst="rect">
            <a:avLst/>
          </a:prstGeom>
          <a:noFill/>
        </p:spPr>
        <p:txBody>
          <a:bodyPr wrap="square" rtlCol="0">
            <a:spAutoFit/>
          </a:bodyPr>
          <a:lstStyle/>
          <a:p>
            <a:pPr marL="800100" lvl="1" indent="-342900">
              <a:lnSpc>
                <a:spcPct val="120000"/>
              </a:lnSpc>
              <a:buFont typeface="Arial" panose="020B0604020202020204" pitchFamily="34" charset="0"/>
              <a:buChar char="•"/>
            </a:pPr>
            <a:r>
              <a:rPr lang="zh-CN" altLang="en-US" dirty="0" smtClean="0">
                <a:solidFill>
                  <a:schemeClr val="bg1"/>
                </a:solidFill>
              </a:rPr>
              <a:t>建立线性规划模型</a:t>
            </a:r>
            <a:endParaRPr lang="en-US" altLang="zh-CN" dirty="0" smtClean="0">
              <a:solidFill>
                <a:schemeClr val="bg1"/>
              </a:solidFill>
            </a:endParaRPr>
          </a:p>
          <a:p>
            <a:pPr lvl="1">
              <a:lnSpc>
                <a:spcPct val="120000"/>
              </a:lnSpc>
            </a:pPr>
            <a:r>
              <a:rPr lang="zh-CN" altLang="en-US" dirty="0" smtClean="0">
                <a:solidFill>
                  <a:schemeClr val="bg1"/>
                </a:solidFill>
              </a:rPr>
              <a:t>（</a:t>
            </a:r>
            <a:r>
              <a:rPr lang="en-US" altLang="zh-CN" dirty="0" smtClean="0">
                <a:solidFill>
                  <a:schemeClr val="bg1"/>
                </a:solidFill>
              </a:rPr>
              <a:t>1</a:t>
            </a:r>
            <a:r>
              <a:rPr lang="zh-CN" altLang="en-US" dirty="0" smtClean="0">
                <a:solidFill>
                  <a:schemeClr val="bg1"/>
                </a:solidFill>
              </a:rPr>
              <a:t>）确定模型要决策的未知变量</a:t>
            </a:r>
            <a:r>
              <a:rPr lang="en-US" altLang="zh-CN" dirty="0" smtClean="0">
                <a:solidFill>
                  <a:schemeClr val="bg1"/>
                </a:solidFill>
              </a:rPr>
              <a:t>——</a:t>
            </a:r>
            <a:r>
              <a:rPr lang="en-US" altLang="en-US" b="1" dirty="0" smtClean="0">
                <a:solidFill>
                  <a:srgbClr val="0033CC"/>
                </a:solidFill>
              </a:rPr>
              <a:t>决策变量</a:t>
            </a:r>
            <a:endParaRPr lang="en-US" altLang="zh-CN" dirty="0" smtClean="0">
              <a:solidFill>
                <a:schemeClr val="bg1"/>
              </a:solidFill>
            </a:endParaRPr>
          </a:p>
          <a:p>
            <a:pPr marL="1257300" lvl="2" indent="-342900">
              <a:lnSpc>
                <a:spcPct val="120000"/>
              </a:lnSpc>
              <a:buFont typeface="Times New Roman" panose="02020603050405020304" pitchFamily="18" charset="0"/>
              <a:buChar char="−"/>
            </a:pPr>
            <a:r>
              <a:rPr lang="zh-CN" altLang="en-US" dirty="0" smtClean="0">
                <a:solidFill>
                  <a:schemeClr val="bg1"/>
                </a:solidFill>
              </a:rPr>
              <a:t>桌子的数量</a:t>
            </a:r>
            <a:r>
              <a:rPr lang="en-US" altLang="zh-CN" i="1" dirty="0" smtClean="0">
                <a:solidFill>
                  <a:schemeClr val="bg1"/>
                </a:solidFill>
              </a:rPr>
              <a:t>x</a:t>
            </a:r>
            <a:r>
              <a:rPr lang="en-US" altLang="zh-CN" baseline="-25000" dirty="0" smtClean="0">
                <a:solidFill>
                  <a:schemeClr val="bg1"/>
                </a:solidFill>
              </a:rPr>
              <a:t>1</a:t>
            </a:r>
          </a:p>
          <a:p>
            <a:pPr marL="1257300" lvl="2" indent="-342900">
              <a:lnSpc>
                <a:spcPct val="120000"/>
              </a:lnSpc>
              <a:buFont typeface="Times New Roman" panose="02020603050405020304" pitchFamily="18" charset="0"/>
              <a:buChar char="−"/>
            </a:pPr>
            <a:r>
              <a:rPr lang="zh-CN" altLang="en-US" dirty="0" smtClean="0">
                <a:solidFill>
                  <a:schemeClr val="bg1"/>
                </a:solidFill>
              </a:rPr>
              <a:t>椅子的数量</a:t>
            </a:r>
            <a:r>
              <a:rPr lang="en-US" altLang="zh-CN" i="1" dirty="0" smtClean="0">
                <a:solidFill>
                  <a:schemeClr val="bg1"/>
                </a:solidFill>
              </a:rPr>
              <a:t>x</a:t>
            </a:r>
            <a:r>
              <a:rPr lang="en-US" altLang="zh-CN" baseline="-25000" dirty="0" smtClean="0">
                <a:solidFill>
                  <a:schemeClr val="bg1"/>
                </a:solidFill>
              </a:rPr>
              <a:t>2</a:t>
            </a:r>
          </a:p>
          <a:p>
            <a:pPr lvl="1">
              <a:lnSpc>
                <a:spcPct val="120000"/>
              </a:lnSpc>
            </a:pPr>
            <a:r>
              <a:rPr lang="zh-CN" altLang="en-US" dirty="0" smtClean="0">
                <a:solidFill>
                  <a:schemeClr val="bg1"/>
                </a:solidFill>
              </a:rPr>
              <a:t>（</a:t>
            </a:r>
            <a:r>
              <a:rPr lang="en-US" altLang="zh-CN" dirty="0" smtClean="0">
                <a:solidFill>
                  <a:schemeClr val="bg1"/>
                </a:solidFill>
              </a:rPr>
              <a:t>2</a:t>
            </a:r>
            <a:r>
              <a:rPr lang="zh-CN" altLang="en-US" dirty="0" smtClean="0">
                <a:solidFill>
                  <a:schemeClr val="bg1"/>
                </a:solidFill>
              </a:rPr>
              <a:t>）</a:t>
            </a:r>
            <a:r>
              <a:rPr lang="en-US" altLang="en-US" b="1" dirty="0" smtClean="0">
                <a:solidFill>
                  <a:srgbClr val="0033CC"/>
                </a:solidFill>
              </a:rPr>
              <a:t>目标函数</a:t>
            </a:r>
            <a:endParaRPr lang="en-US" altLang="zh-CN" dirty="0" smtClean="0">
              <a:solidFill>
                <a:schemeClr val="bg1"/>
              </a:solidFill>
            </a:endParaRPr>
          </a:p>
          <a:p>
            <a:pPr lvl="1">
              <a:lnSpc>
                <a:spcPct val="120000"/>
              </a:lnSpc>
            </a:pPr>
            <a:r>
              <a:rPr lang="zh-CN" altLang="en-US" dirty="0" smtClean="0">
                <a:solidFill>
                  <a:schemeClr val="bg1"/>
                </a:solidFill>
              </a:rPr>
              <a:t>（</a:t>
            </a:r>
            <a:r>
              <a:rPr lang="en-US" altLang="zh-CN" dirty="0" smtClean="0">
                <a:solidFill>
                  <a:schemeClr val="bg1"/>
                </a:solidFill>
              </a:rPr>
              <a:t>3</a:t>
            </a:r>
            <a:r>
              <a:rPr lang="zh-CN" altLang="en-US" dirty="0" smtClean="0">
                <a:solidFill>
                  <a:schemeClr val="bg1"/>
                </a:solidFill>
              </a:rPr>
              <a:t>）</a:t>
            </a:r>
            <a:r>
              <a:rPr lang="en-US" altLang="en-US" b="1" dirty="0" smtClean="0">
                <a:solidFill>
                  <a:srgbClr val="0033CC"/>
                </a:solidFill>
              </a:rPr>
              <a:t>反映客观条件的限制</a:t>
            </a:r>
            <a:r>
              <a:rPr lang="zh-CN" altLang="en-US" b="1" dirty="0" smtClean="0">
                <a:solidFill>
                  <a:srgbClr val="0033CC"/>
                </a:solidFill>
              </a:rPr>
              <a:t>：</a:t>
            </a:r>
            <a:r>
              <a:rPr lang="zh-CN" altLang="en-US" dirty="0" smtClean="0">
                <a:solidFill>
                  <a:schemeClr val="bg1"/>
                </a:solidFill>
              </a:rPr>
              <a:t>约束条件</a:t>
            </a:r>
            <a:endParaRPr lang="en-US" altLang="zh-CN" dirty="0" smtClean="0">
              <a:solidFill>
                <a:schemeClr val="bg1"/>
              </a:solidFill>
            </a:endParaRPr>
          </a:p>
          <a:p>
            <a:pPr lvl="1">
              <a:lnSpc>
                <a:spcPct val="120000"/>
              </a:lnSpc>
            </a:pPr>
            <a:endParaRPr lang="en-US" altLang="zh-CN" dirty="0">
              <a:solidFill>
                <a:schemeClr val="bg1"/>
              </a:solidFill>
            </a:endParaRPr>
          </a:p>
          <a:p>
            <a:pPr lvl="1">
              <a:lnSpc>
                <a:spcPct val="120000"/>
              </a:lnSpc>
            </a:pPr>
            <a:endParaRPr lang="en-US" altLang="zh-CN" dirty="0" smtClean="0">
              <a:solidFill>
                <a:schemeClr val="bg1"/>
              </a:solidFill>
            </a:endParaRPr>
          </a:p>
          <a:p>
            <a:pPr lvl="1">
              <a:lnSpc>
                <a:spcPct val="120000"/>
              </a:lnSpc>
            </a:pPr>
            <a:r>
              <a:rPr lang="zh-CN" altLang="en-US" dirty="0" smtClean="0">
                <a:solidFill>
                  <a:schemeClr val="bg1"/>
                </a:solidFill>
              </a:rPr>
              <a:t>（</a:t>
            </a:r>
            <a:r>
              <a:rPr lang="en-US" altLang="zh-CN" dirty="0" smtClean="0">
                <a:solidFill>
                  <a:schemeClr val="bg1"/>
                </a:solidFill>
              </a:rPr>
              <a:t>4</a:t>
            </a:r>
            <a:r>
              <a:rPr lang="zh-CN" altLang="en-US" dirty="0" smtClean="0">
                <a:solidFill>
                  <a:schemeClr val="bg1"/>
                </a:solidFill>
              </a:rPr>
              <a:t>）</a:t>
            </a:r>
            <a:r>
              <a:rPr lang="zh-CN" altLang="en-US" b="1" dirty="0">
                <a:solidFill>
                  <a:srgbClr val="0033CC"/>
                </a:solidFill>
              </a:rPr>
              <a:t>变量取值的</a:t>
            </a:r>
            <a:r>
              <a:rPr lang="zh-CN" altLang="en-US" b="1" dirty="0" smtClean="0">
                <a:solidFill>
                  <a:srgbClr val="0033CC"/>
                </a:solidFill>
              </a:rPr>
              <a:t>限制：非负约束</a:t>
            </a:r>
            <a:endParaRPr lang="en-US" altLang="zh-CN" b="1" dirty="0" smtClean="0">
              <a:solidFill>
                <a:srgbClr val="0033CC"/>
              </a:solidFill>
            </a:endParaRPr>
          </a:p>
          <a:p>
            <a:pPr lvl="1">
              <a:lnSpc>
                <a:spcPct val="120000"/>
              </a:lnSpc>
            </a:pPr>
            <a:r>
              <a:rPr lang="en-US" altLang="zh-CN" b="1" i="1" dirty="0">
                <a:solidFill>
                  <a:srgbClr val="0033CC"/>
                </a:solidFill>
              </a:rPr>
              <a:t> </a:t>
            </a:r>
            <a:r>
              <a:rPr lang="en-US" altLang="zh-CN" b="1" i="1" dirty="0" smtClean="0">
                <a:solidFill>
                  <a:srgbClr val="0033CC"/>
                </a:solidFill>
              </a:rPr>
              <a:t>                        </a:t>
            </a:r>
            <a:r>
              <a:rPr lang="en-US" altLang="zh-CN" i="1" dirty="0" smtClean="0">
                <a:solidFill>
                  <a:schemeClr val="bg1"/>
                </a:solidFill>
              </a:rPr>
              <a:t>x</a:t>
            </a:r>
            <a:r>
              <a:rPr lang="en-US" altLang="zh-CN" baseline="-25000" dirty="0" smtClean="0">
                <a:solidFill>
                  <a:schemeClr val="bg1"/>
                </a:solidFill>
              </a:rPr>
              <a:t>1</a:t>
            </a:r>
            <a:r>
              <a:rPr lang="en-US" altLang="zh-CN" dirty="0">
                <a:solidFill>
                  <a:schemeClr val="bg1"/>
                </a:solidFill>
              </a:rPr>
              <a:t>≥0</a:t>
            </a:r>
            <a:r>
              <a:rPr lang="zh-CN" altLang="en-US" dirty="0">
                <a:solidFill>
                  <a:schemeClr val="bg1"/>
                </a:solidFill>
              </a:rPr>
              <a:t>，</a:t>
            </a:r>
            <a:r>
              <a:rPr lang="en-US" altLang="zh-CN" i="1" dirty="0">
                <a:solidFill>
                  <a:schemeClr val="bg1"/>
                </a:solidFill>
              </a:rPr>
              <a:t>x</a:t>
            </a:r>
            <a:r>
              <a:rPr lang="en-US" altLang="zh-CN" baseline="-25000" dirty="0">
                <a:solidFill>
                  <a:schemeClr val="bg1"/>
                </a:solidFill>
              </a:rPr>
              <a:t>2</a:t>
            </a:r>
            <a:r>
              <a:rPr lang="en-US" altLang="zh-CN" dirty="0">
                <a:solidFill>
                  <a:schemeClr val="bg1"/>
                </a:solidFill>
              </a:rPr>
              <a:t> ≥</a:t>
            </a:r>
            <a:r>
              <a:rPr lang="en-US" altLang="zh-CN" dirty="0" smtClean="0">
                <a:solidFill>
                  <a:schemeClr val="bg1"/>
                </a:solidFill>
              </a:rPr>
              <a:t>0</a:t>
            </a:r>
          </a:p>
        </p:txBody>
      </p:sp>
      <p:sp>
        <p:nvSpPr>
          <p:cNvPr id="3" name="TextBox 2"/>
          <p:cNvSpPr txBox="1"/>
          <p:nvPr/>
        </p:nvSpPr>
        <p:spPr>
          <a:xfrm>
            <a:off x="3091770" y="3428747"/>
            <a:ext cx="2033905" cy="460375"/>
          </a:xfrm>
          <a:prstGeom prst="rect">
            <a:avLst/>
          </a:prstGeom>
          <a:noFill/>
        </p:spPr>
        <p:txBody>
          <a:bodyPr wrap="none" rtlCol="0">
            <a:spAutoFit/>
          </a:bodyPr>
          <a:lstStyle/>
          <a:p>
            <a:r>
              <a:rPr lang="en-US" altLang="zh-CN" dirty="0" smtClean="0">
                <a:solidFill>
                  <a:schemeClr val="bg1"/>
                </a:solidFill>
              </a:rPr>
              <a:t>max 50</a:t>
            </a:r>
            <a:r>
              <a:rPr lang="en-US" altLang="zh-CN" i="1" dirty="0" smtClean="0">
                <a:solidFill>
                  <a:schemeClr val="bg1"/>
                </a:solidFill>
              </a:rPr>
              <a:t>x</a:t>
            </a:r>
            <a:r>
              <a:rPr lang="en-US" altLang="zh-CN" baseline="-25000" dirty="0" smtClean="0">
                <a:solidFill>
                  <a:schemeClr val="bg1"/>
                </a:solidFill>
              </a:rPr>
              <a:t>1</a:t>
            </a:r>
            <a:r>
              <a:rPr lang="en-US" altLang="zh-CN" dirty="0" smtClean="0">
                <a:solidFill>
                  <a:schemeClr val="bg1"/>
                </a:solidFill>
              </a:rPr>
              <a:t>+30</a:t>
            </a:r>
            <a:r>
              <a:rPr lang="en-US" altLang="zh-CN" i="1" dirty="0" smtClean="0">
                <a:solidFill>
                  <a:schemeClr val="bg1"/>
                </a:solidFill>
              </a:rPr>
              <a:t>x</a:t>
            </a:r>
            <a:r>
              <a:rPr lang="en-US" altLang="zh-CN" baseline="-25000" dirty="0" smtClean="0">
                <a:solidFill>
                  <a:schemeClr val="bg1"/>
                </a:solidFill>
              </a:rPr>
              <a:t>2</a:t>
            </a:r>
            <a:endParaRPr lang="zh-CN" altLang="en-US" baseline="-25000" dirty="0">
              <a:solidFill>
                <a:schemeClr val="bg1"/>
              </a:solidFill>
            </a:endParaRPr>
          </a:p>
        </p:txBody>
      </p:sp>
      <p:sp>
        <p:nvSpPr>
          <p:cNvPr id="7" name="TextBox 6"/>
          <p:cNvSpPr txBox="1"/>
          <p:nvPr/>
        </p:nvSpPr>
        <p:spPr>
          <a:xfrm>
            <a:off x="1763688" y="4293096"/>
            <a:ext cx="4526280" cy="977265"/>
          </a:xfrm>
          <a:prstGeom prst="rect">
            <a:avLst/>
          </a:prstGeom>
          <a:noFill/>
        </p:spPr>
        <p:txBody>
          <a:bodyPr wrap="none" rtlCol="0">
            <a:spAutoFit/>
          </a:bodyPr>
          <a:lstStyle/>
          <a:p>
            <a:pPr>
              <a:lnSpc>
                <a:spcPct val="120000"/>
              </a:lnSpc>
            </a:pPr>
            <a:r>
              <a:rPr lang="zh-CN" altLang="en-US" dirty="0" smtClean="0">
                <a:solidFill>
                  <a:schemeClr val="bg1"/>
                </a:solidFill>
              </a:rPr>
              <a:t>木工工时不能超过可用工时：     </a:t>
            </a:r>
          </a:p>
          <a:p>
            <a:pPr>
              <a:lnSpc>
                <a:spcPct val="120000"/>
              </a:lnSpc>
            </a:pPr>
            <a:r>
              <a:rPr lang="zh-CN" altLang="en-US" dirty="0" smtClean="0">
                <a:solidFill>
                  <a:schemeClr val="bg1"/>
                </a:solidFill>
              </a:rPr>
              <a:t>油漆工工时</a:t>
            </a:r>
            <a:r>
              <a:rPr lang="zh-CN" altLang="en-US" dirty="0">
                <a:solidFill>
                  <a:schemeClr val="bg1"/>
                </a:solidFill>
              </a:rPr>
              <a:t>不能超过可用工时：</a:t>
            </a:r>
            <a:endParaRPr lang="en-US" altLang="zh-CN" dirty="0" smtClean="0">
              <a:solidFill>
                <a:schemeClr val="bg1"/>
              </a:solidFill>
            </a:endParaRPr>
          </a:p>
        </p:txBody>
      </p:sp>
      <p:sp>
        <p:nvSpPr>
          <p:cNvPr id="4" name="TextBox 2"/>
          <p:cNvSpPr txBox="1"/>
          <p:nvPr/>
        </p:nvSpPr>
        <p:spPr>
          <a:xfrm>
            <a:off x="6084168" y="4292982"/>
            <a:ext cx="1752600" cy="460375"/>
          </a:xfrm>
          <a:prstGeom prst="rect">
            <a:avLst/>
          </a:prstGeom>
          <a:noFill/>
        </p:spPr>
        <p:txBody>
          <a:bodyPr wrap="none" rtlCol="0">
            <a:spAutoFit/>
          </a:bodyPr>
          <a:lstStyle/>
          <a:p>
            <a:pPr algn="l"/>
            <a:r>
              <a:rPr lang="en-US" altLang="zh-CN" dirty="0" smtClean="0">
                <a:solidFill>
                  <a:schemeClr val="bg1"/>
                </a:solidFill>
                <a:sym typeface="+mn-ea"/>
              </a:rPr>
              <a:t>4</a:t>
            </a:r>
            <a:r>
              <a:rPr lang="en-US" altLang="zh-CN" i="1" dirty="0" smtClean="0">
                <a:solidFill>
                  <a:schemeClr val="bg1"/>
                </a:solidFill>
                <a:sym typeface="+mn-ea"/>
              </a:rPr>
              <a:t>x</a:t>
            </a:r>
            <a:r>
              <a:rPr lang="en-US" altLang="zh-CN" baseline="-25000" dirty="0" smtClean="0">
                <a:solidFill>
                  <a:schemeClr val="bg1"/>
                </a:solidFill>
                <a:sym typeface="+mn-ea"/>
              </a:rPr>
              <a:t>1</a:t>
            </a:r>
            <a:r>
              <a:rPr lang="en-US" altLang="zh-CN" dirty="0" smtClean="0">
                <a:solidFill>
                  <a:schemeClr val="bg1"/>
                </a:solidFill>
                <a:sym typeface="+mn-ea"/>
              </a:rPr>
              <a:t>+3</a:t>
            </a:r>
            <a:r>
              <a:rPr lang="en-US" altLang="zh-CN" i="1" dirty="0" smtClean="0">
                <a:solidFill>
                  <a:schemeClr val="bg1"/>
                </a:solidFill>
                <a:sym typeface="+mn-ea"/>
              </a:rPr>
              <a:t>x</a:t>
            </a:r>
            <a:r>
              <a:rPr lang="en-US" altLang="zh-CN" baseline="-25000" dirty="0" smtClean="0">
                <a:solidFill>
                  <a:schemeClr val="bg1"/>
                </a:solidFill>
                <a:sym typeface="+mn-ea"/>
              </a:rPr>
              <a:t>2</a:t>
            </a:r>
            <a:r>
              <a:rPr lang="en-US" altLang="zh-CN" dirty="0" smtClean="0">
                <a:solidFill>
                  <a:schemeClr val="bg1"/>
                </a:solidFill>
                <a:sym typeface="+mn-ea"/>
              </a:rPr>
              <a:t>≤120</a:t>
            </a:r>
            <a:endParaRPr lang="zh-CN" altLang="en-US" baseline="-25000" dirty="0">
              <a:solidFill>
                <a:schemeClr val="bg1"/>
              </a:solidFill>
            </a:endParaRPr>
          </a:p>
        </p:txBody>
      </p:sp>
      <p:sp>
        <p:nvSpPr>
          <p:cNvPr id="6" name="文本框 5"/>
          <p:cNvSpPr txBox="1"/>
          <p:nvPr/>
        </p:nvSpPr>
        <p:spPr>
          <a:xfrm>
            <a:off x="6012180" y="4725144"/>
            <a:ext cx="1722120" cy="534035"/>
          </a:xfrm>
          <a:prstGeom prst="rect">
            <a:avLst/>
          </a:prstGeom>
          <a:noFill/>
        </p:spPr>
        <p:txBody>
          <a:bodyPr wrap="none" rtlCol="0" anchor="t">
            <a:spAutoFit/>
          </a:bodyPr>
          <a:lstStyle/>
          <a:p>
            <a:pPr>
              <a:lnSpc>
                <a:spcPct val="120000"/>
              </a:lnSpc>
            </a:pPr>
            <a:r>
              <a:rPr lang="zh-CN" altLang="en-US" dirty="0">
                <a:solidFill>
                  <a:schemeClr val="bg1"/>
                </a:solidFill>
                <a:sym typeface="+mn-ea"/>
              </a:rPr>
              <a:t> </a:t>
            </a:r>
            <a:r>
              <a:rPr lang="en-US" altLang="zh-CN" dirty="0" smtClean="0">
                <a:solidFill>
                  <a:schemeClr val="bg1"/>
                </a:solidFill>
                <a:sym typeface="+mn-ea"/>
              </a:rPr>
              <a:t>2</a:t>
            </a:r>
            <a:r>
              <a:rPr lang="en-US" altLang="zh-CN" i="1" dirty="0" smtClean="0">
                <a:solidFill>
                  <a:schemeClr val="bg1"/>
                </a:solidFill>
                <a:sym typeface="+mn-ea"/>
              </a:rPr>
              <a:t>x</a:t>
            </a:r>
            <a:r>
              <a:rPr lang="en-US" altLang="zh-CN" baseline="-25000" dirty="0" smtClean="0">
                <a:solidFill>
                  <a:schemeClr val="bg1"/>
                </a:solidFill>
                <a:sym typeface="+mn-ea"/>
              </a:rPr>
              <a:t>1</a:t>
            </a:r>
            <a:r>
              <a:rPr lang="en-US" altLang="zh-CN" dirty="0" smtClean="0">
                <a:solidFill>
                  <a:schemeClr val="bg1"/>
                </a:solidFill>
                <a:sym typeface="+mn-ea"/>
              </a:rPr>
              <a:t>+</a:t>
            </a:r>
            <a:r>
              <a:rPr lang="en-US" altLang="zh-CN" i="1" dirty="0" smtClean="0">
                <a:solidFill>
                  <a:schemeClr val="bg1"/>
                </a:solidFill>
                <a:sym typeface="+mn-ea"/>
              </a:rPr>
              <a:t>x</a:t>
            </a:r>
            <a:r>
              <a:rPr lang="en-US" altLang="zh-CN" baseline="-25000" dirty="0" smtClean="0">
                <a:solidFill>
                  <a:schemeClr val="bg1"/>
                </a:solidFill>
                <a:sym typeface="+mn-ea"/>
              </a:rPr>
              <a:t>2    </a:t>
            </a:r>
            <a:r>
              <a:rPr lang="en-US" altLang="zh-CN" dirty="0" smtClean="0">
                <a:solidFill>
                  <a:schemeClr val="bg1"/>
                </a:solidFill>
                <a:sym typeface="+mn-ea"/>
              </a:rPr>
              <a:t>≤50</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ipe(left)">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wipe(left)">
                                      <p:cBhvr>
                                        <p:cTn id="15" dur="500"/>
                                        <p:tgtEl>
                                          <p:spTgt spid="5">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wipe(left)">
                                      <p:cBhvr>
                                        <p:cTn id="20" dur="500"/>
                                        <p:tgtEl>
                                          <p:spTgt spid="5">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wipe(left)">
                                      <p:cBhvr>
                                        <p:cTn id="30" dur="500"/>
                                        <p:tgtEl>
                                          <p:spTgt spid="5">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Effect transition="in" filter="wipe(left)">
                                      <p:cBhvr>
                                        <p:cTn id="35" dur="500"/>
                                        <p:tgtEl>
                                          <p:spTgt spid="7">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7">
                                            <p:txEl>
                                              <p:pRg st="1" end="1"/>
                                            </p:txEl>
                                          </p:spTgt>
                                        </p:tgtEl>
                                        <p:attrNameLst>
                                          <p:attrName>style.visibility</p:attrName>
                                        </p:attrNameLst>
                                      </p:cBhvr>
                                      <p:to>
                                        <p:strVal val="visible"/>
                                      </p:to>
                                    </p:set>
                                    <p:animEffect transition="in" filter="wipe(left)">
                                      <p:cBhvr>
                                        <p:cTn id="45" dur="500"/>
                                        <p:tgtEl>
                                          <p:spTgt spid="7">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left)">
                                      <p:cBhvr>
                                        <p:cTn id="50" dur="500"/>
                                        <p:tgtEl>
                                          <p:spTgt spid="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Effect transition="in" filter="wipe(left)">
                                      <p:cBhvr>
                                        <p:cTn id="55" dur="500"/>
                                        <p:tgtEl>
                                          <p:spTgt spid="5">
                                            <p:txEl>
                                              <p:pRg st="8" end="8"/>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5">
                                            <p:txEl>
                                              <p:pRg st="9" end="9"/>
                                            </p:txEl>
                                          </p:spTgt>
                                        </p:tgtEl>
                                        <p:attrNameLst>
                                          <p:attrName>style.visibility</p:attrName>
                                        </p:attrNameLst>
                                      </p:cBhvr>
                                      <p:to>
                                        <p:strVal val="visible"/>
                                      </p:to>
                                    </p:set>
                                    <p:animEffect transition="in" filter="wipe(left)">
                                      <p:cBhvr>
                                        <p:cTn id="60"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6" grpId="0"/>
      <p:bldP spid="6"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8105140" cy="844550"/>
          </a:xfrm>
        </p:spPr>
        <p:txBody>
          <a:bodyPr/>
          <a:lstStyle/>
          <a:p>
            <a:r>
              <a:rPr kumimoji="0" lang="en-US" altLang="zh-CN" kern="1200" noProof="0" dirty="0" smtClean="0">
                <a:solidFill>
                  <a:schemeClr val="accent2"/>
                </a:solidFill>
                <a:sym typeface="+mn-ea"/>
              </a:rPr>
              <a:t>6.1 </a:t>
            </a:r>
            <a:r>
              <a:rPr kumimoji="0" lang="zh-CN" altLang="en-US" kern="1200" noProof="0" dirty="0" smtClean="0">
                <a:solidFill>
                  <a:schemeClr val="accent2"/>
                </a:solidFill>
                <a:sym typeface="+mn-ea"/>
              </a:rPr>
              <a:t>线性规划</a:t>
            </a:r>
            <a:r>
              <a:rPr kumimoji="0" lang="zh-CN" altLang="en-US" kern="1200" dirty="0">
                <a:solidFill>
                  <a:schemeClr val="accent2"/>
                </a:solidFill>
                <a:sym typeface="+mn-ea"/>
              </a:rPr>
              <a:t>模型</a:t>
            </a:r>
            <a:endParaRPr kumimoji="0" lang="en-US" altLang="zh-CN" kern="1200" noProof="0" dirty="0" smtClean="0">
              <a:ln>
                <a:noFill/>
              </a:ln>
              <a:solidFill>
                <a:schemeClr val="accent2"/>
              </a:solidFill>
              <a:effectLst/>
              <a:uLnTx/>
              <a:uFillTx/>
              <a:sym typeface="+mn-ea"/>
            </a:endParaRPr>
          </a:p>
        </p:txBody>
      </p:sp>
      <p:sp>
        <p:nvSpPr>
          <p:cNvPr id="5" name="TextBox 4"/>
          <p:cNvSpPr txBox="1"/>
          <p:nvPr/>
        </p:nvSpPr>
        <p:spPr>
          <a:xfrm>
            <a:off x="323528" y="1628800"/>
            <a:ext cx="8568952" cy="493148"/>
          </a:xfrm>
          <a:prstGeom prst="rect">
            <a:avLst/>
          </a:prstGeom>
          <a:noFill/>
        </p:spPr>
        <p:txBody>
          <a:bodyPr wrap="square" rtlCol="0">
            <a:spAutoFit/>
          </a:bodyPr>
          <a:lstStyle/>
          <a:p>
            <a:pPr marL="800100" lvl="1" indent="-342900">
              <a:lnSpc>
                <a:spcPct val="120000"/>
              </a:lnSpc>
              <a:buFont typeface="Arial" panose="020B0604020202020204" pitchFamily="34" charset="0"/>
              <a:buChar char="•"/>
            </a:pPr>
            <a:r>
              <a:rPr lang="zh-CN" altLang="en-US" dirty="0" smtClean="0">
                <a:solidFill>
                  <a:schemeClr val="bg1"/>
                </a:solidFill>
              </a:rPr>
              <a:t>例题</a:t>
            </a:r>
            <a:r>
              <a:rPr lang="en-US" altLang="zh-CN" dirty="0" smtClean="0">
                <a:solidFill>
                  <a:schemeClr val="bg1"/>
                </a:solidFill>
              </a:rPr>
              <a:t>1</a:t>
            </a:r>
            <a:r>
              <a:rPr lang="zh-CN" altLang="en-US" dirty="0" smtClean="0">
                <a:solidFill>
                  <a:schemeClr val="bg1"/>
                </a:solidFill>
              </a:rPr>
              <a:t>的线性规划模型</a:t>
            </a:r>
            <a:endParaRPr lang="en-US" altLang="zh-CN" dirty="0" smtClean="0">
              <a:solidFill>
                <a:schemeClr val="bg1"/>
              </a:solidFill>
            </a:endParaRPr>
          </a:p>
        </p:txBody>
      </p:sp>
      <p:sp>
        <p:nvSpPr>
          <p:cNvPr id="8" name="Rectangle 3"/>
          <p:cNvSpPr>
            <a:spLocks noGrp="1"/>
          </p:cNvSpPr>
          <p:nvPr/>
        </p:nvSpPr>
        <p:spPr>
          <a:xfrm>
            <a:off x="471696" y="2492896"/>
            <a:ext cx="4150804" cy="1943100"/>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eaLnBrk="1" hangingPunct="1">
              <a:spcAft>
                <a:spcPct val="30000"/>
              </a:spcAft>
              <a:buNone/>
            </a:pPr>
            <a:r>
              <a:rPr lang="en-US" altLang="zh-CN" sz="2400" b="1" dirty="0">
                <a:solidFill>
                  <a:schemeClr val="bg1"/>
                </a:solidFill>
                <a:latin typeface="Times New Roman" panose="02020603050405020304" pitchFamily="18" charset="0"/>
                <a:cs typeface="Times New Roman" panose="02020603050405020304" pitchFamily="18" charset="0"/>
              </a:rPr>
              <a:t>	  max </a:t>
            </a:r>
            <a:r>
              <a:rPr lang="en-US" altLang="zh-CN" sz="2400" b="1" dirty="0" smtClean="0">
                <a:solidFill>
                  <a:schemeClr val="bg1"/>
                </a:solidFill>
                <a:latin typeface="Times New Roman" panose="02020603050405020304" pitchFamily="18" charset="0"/>
                <a:cs typeface="Times New Roman" panose="02020603050405020304" pitchFamily="18" charset="0"/>
              </a:rPr>
              <a:t>  </a:t>
            </a:r>
            <a:r>
              <a:rPr lang="en-US" altLang="zh-CN" sz="2400" b="1" i="1" dirty="0" smtClean="0">
                <a:solidFill>
                  <a:schemeClr val="bg1"/>
                </a:solidFill>
                <a:latin typeface="Times New Roman" panose="02020603050405020304" pitchFamily="18" charset="0"/>
                <a:cs typeface="Times New Roman" panose="02020603050405020304" pitchFamily="18" charset="0"/>
              </a:rPr>
              <a:t>z </a:t>
            </a:r>
            <a:r>
              <a:rPr lang="en-US" altLang="zh-CN" sz="2400" b="1" dirty="0">
                <a:solidFill>
                  <a:schemeClr val="bg1"/>
                </a:solidFill>
                <a:latin typeface="Times New Roman" panose="02020603050405020304" pitchFamily="18" charset="0"/>
                <a:cs typeface="Times New Roman" panose="02020603050405020304" pitchFamily="18" charset="0"/>
              </a:rPr>
              <a:t>= 50</a:t>
            </a:r>
            <a:r>
              <a:rPr lang="en-US" altLang="zh-CN" sz="2400" b="1" i="1" dirty="0">
                <a:solidFill>
                  <a:schemeClr val="bg1"/>
                </a:solidFill>
                <a:latin typeface="Times New Roman" panose="02020603050405020304" pitchFamily="18" charset="0"/>
                <a:cs typeface="Times New Roman" panose="02020603050405020304" pitchFamily="18" charset="0"/>
              </a:rPr>
              <a:t>x</a:t>
            </a:r>
            <a:r>
              <a:rPr lang="en-US" altLang="zh-CN" sz="2400" b="1" baseline="-25000" dirty="0">
                <a:solidFill>
                  <a:schemeClr val="bg1"/>
                </a:solidFill>
                <a:latin typeface="Times New Roman" panose="02020603050405020304" pitchFamily="18" charset="0"/>
                <a:cs typeface="Times New Roman" panose="02020603050405020304" pitchFamily="18" charset="0"/>
              </a:rPr>
              <a:t>1 </a:t>
            </a:r>
            <a:r>
              <a:rPr lang="en-US" altLang="zh-CN" sz="2400" b="1" dirty="0">
                <a:solidFill>
                  <a:schemeClr val="bg1"/>
                </a:solidFill>
                <a:latin typeface="Times New Roman" panose="02020603050405020304" pitchFamily="18" charset="0"/>
                <a:cs typeface="Times New Roman" panose="02020603050405020304" pitchFamily="18" charset="0"/>
              </a:rPr>
              <a:t>+ 30</a:t>
            </a:r>
            <a:r>
              <a:rPr lang="en-US" altLang="zh-CN" sz="2400" b="1" i="1" dirty="0">
                <a:solidFill>
                  <a:schemeClr val="bg1"/>
                </a:solidFill>
                <a:latin typeface="Times New Roman" panose="02020603050405020304" pitchFamily="18" charset="0"/>
                <a:cs typeface="Times New Roman" panose="02020603050405020304" pitchFamily="18" charset="0"/>
              </a:rPr>
              <a:t>x</a:t>
            </a:r>
            <a:r>
              <a:rPr lang="en-US" altLang="zh-CN" sz="2400" b="1" baseline="-25000" dirty="0">
                <a:solidFill>
                  <a:schemeClr val="bg1"/>
                </a:solidFill>
                <a:latin typeface="Times New Roman" panose="02020603050405020304" pitchFamily="18" charset="0"/>
                <a:cs typeface="Times New Roman" panose="02020603050405020304" pitchFamily="18" charset="0"/>
              </a:rPr>
              <a:t>2</a:t>
            </a:r>
          </a:p>
          <a:p>
            <a:pPr eaLnBrk="1" hangingPunct="1">
              <a:spcBef>
                <a:spcPct val="0"/>
              </a:spcBef>
              <a:spcAft>
                <a:spcPct val="30000"/>
              </a:spcAft>
              <a:buNone/>
            </a:pPr>
            <a:r>
              <a:rPr lang="en-US" altLang="zh-CN" sz="2400" b="1" dirty="0">
                <a:solidFill>
                  <a:schemeClr val="bg1"/>
                </a:solidFill>
                <a:latin typeface="Times New Roman" panose="02020603050405020304" pitchFamily="18" charset="0"/>
                <a:cs typeface="Times New Roman" panose="02020603050405020304" pitchFamily="18" charset="0"/>
              </a:rPr>
              <a:t>  	  </a:t>
            </a:r>
            <a:r>
              <a:rPr lang="en-US" altLang="zh-CN" sz="2400" b="1" dirty="0" smtClean="0">
                <a:solidFill>
                  <a:schemeClr val="bg1"/>
                </a:solidFill>
                <a:latin typeface="Times New Roman" panose="02020603050405020304" pitchFamily="18" charset="0"/>
                <a:cs typeface="Times New Roman" panose="02020603050405020304" pitchFamily="18" charset="0"/>
              </a:rPr>
              <a:t>s.t</a:t>
            </a:r>
            <a:r>
              <a:rPr lang="en-US" altLang="zh-CN" sz="2400" b="1" dirty="0">
                <a:solidFill>
                  <a:schemeClr val="bg1"/>
                </a:solidFill>
                <a:latin typeface="Times New Roman" panose="02020603050405020304" pitchFamily="18" charset="0"/>
                <a:cs typeface="Times New Roman" panose="02020603050405020304" pitchFamily="18" charset="0"/>
              </a:rPr>
              <a:t>.          </a:t>
            </a:r>
            <a:r>
              <a:rPr lang="en-US" altLang="zh-CN" sz="2400" b="1" dirty="0" smtClean="0">
                <a:solidFill>
                  <a:schemeClr val="bg1"/>
                </a:solidFill>
                <a:latin typeface="Times New Roman" panose="02020603050405020304" pitchFamily="18" charset="0"/>
                <a:cs typeface="Times New Roman" panose="02020603050405020304" pitchFamily="18" charset="0"/>
              </a:rPr>
              <a:t> 4</a:t>
            </a:r>
            <a:r>
              <a:rPr lang="en-US" altLang="zh-CN" sz="2400" b="1" i="1" dirty="0" smtClean="0">
                <a:solidFill>
                  <a:schemeClr val="bg1"/>
                </a:solidFill>
                <a:latin typeface="Times New Roman" panose="02020603050405020304" pitchFamily="18" charset="0"/>
                <a:cs typeface="Times New Roman" panose="02020603050405020304" pitchFamily="18" charset="0"/>
              </a:rPr>
              <a:t>x</a:t>
            </a:r>
            <a:r>
              <a:rPr lang="en-US" altLang="zh-CN" sz="2400" b="1" baseline="-25000" dirty="0" smtClean="0">
                <a:solidFill>
                  <a:schemeClr val="bg1"/>
                </a:solidFill>
                <a:latin typeface="Times New Roman" panose="02020603050405020304" pitchFamily="18" charset="0"/>
                <a:cs typeface="Times New Roman" panose="02020603050405020304" pitchFamily="18" charset="0"/>
              </a:rPr>
              <a:t>1 </a:t>
            </a:r>
            <a:r>
              <a:rPr lang="en-US" altLang="zh-CN" sz="2400" b="1" dirty="0">
                <a:solidFill>
                  <a:schemeClr val="bg1"/>
                </a:solidFill>
                <a:latin typeface="Times New Roman" panose="02020603050405020304" pitchFamily="18" charset="0"/>
                <a:cs typeface="Times New Roman" panose="02020603050405020304" pitchFamily="18" charset="0"/>
              </a:rPr>
              <a:t>+  3</a:t>
            </a:r>
            <a:r>
              <a:rPr lang="en-US" altLang="zh-CN" sz="2400" b="1" i="1" dirty="0">
                <a:solidFill>
                  <a:schemeClr val="bg1"/>
                </a:solidFill>
                <a:latin typeface="Times New Roman" panose="02020603050405020304" pitchFamily="18" charset="0"/>
                <a:cs typeface="Times New Roman" panose="02020603050405020304" pitchFamily="18" charset="0"/>
              </a:rPr>
              <a:t>x</a:t>
            </a:r>
            <a:r>
              <a:rPr lang="en-US" altLang="zh-CN" sz="2400" b="1" baseline="-25000" dirty="0">
                <a:solidFill>
                  <a:schemeClr val="bg1"/>
                </a:solidFill>
                <a:latin typeface="Times New Roman" panose="02020603050405020304" pitchFamily="18" charset="0"/>
                <a:cs typeface="Times New Roman" panose="02020603050405020304" pitchFamily="18" charset="0"/>
              </a:rPr>
              <a:t>2</a:t>
            </a:r>
            <a:r>
              <a:rPr lang="en-US" altLang="zh-CN" sz="2400" b="1" dirty="0">
                <a:solidFill>
                  <a:schemeClr val="bg1"/>
                </a:solidFill>
                <a:latin typeface="Times New Roman" panose="02020603050405020304" pitchFamily="18" charset="0"/>
                <a:cs typeface="Times New Roman" panose="02020603050405020304" pitchFamily="18" charset="0"/>
              </a:rPr>
              <a:t> </a:t>
            </a:r>
            <a:r>
              <a:rPr lang="en-US" altLang="zh-CN" sz="2400" b="1"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bg1"/>
                </a:solidFill>
                <a:latin typeface="Times New Roman" panose="02020603050405020304" pitchFamily="18" charset="0"/>
                <a:cs typeface="Times New Roman" panose="02020603050405020304" pitchFamily="18" charset="0"/>
              </a:rPr>
              <a:t> 120</a:t>
            </a:r>
          </a:p>
          <a:p>
            <a:pPr eaLnBrk="1" hangingPunct="1">
              <a:spcBef>
                <a:spcPct val="0"/>
              </a:spcBef>
              <a:spcAft>
                <a:spcPct val="30000"/>
              </a:spcAft>
              <a:buNone/>
            </a:pPr>
            <a:r>
              <a:rPr lang="en-US" altLang="zh-CN" sz="2400" b="1" dirty="0">
                <a:solidFill>
                  <a:schemeClr val="bg1"/>
                </a:solidFill>
                <a:latin typeface="Times New Roman" panose="02020603050405020304" pitchFamily="18" charset="0"/>
                <a:cs typeface="Times New Roman" panose="02020603050405020304" pitchFamily="18" charset="0"/>
              </a:rPr>
              <a:t>                      2</a:t>
            </a:r>
            <a:r>
              <a:rPr lang="en-US" altLang="zh-CN" sz="2400" b="1" i="1" dirty="0">
                <a:solidFill>
                  <a:schemeClr val="bg1"/>
                </a:solidFill>
                <a:latin typeface="Times New Roman" panose="02020603050405020304" pitchFamily="18" charset="0"/>
                <a:cs typeface="Times New Roman" panose="02020603050405020304" pitchFamily="18" charset="0"/>
              </a:rPr>
              <a:t>x</a:t>
            </a:r>
            <a:r>
              <a:rPr lang="en-US" altLang="zh-CN" sz="2400" b="1" baseline="-25000" dirty="0">
                <a:solidFill>
                  <a:schemeClr val="bg1"/>
                </a:solidFill>
                <a:latin typeface="Times New Roman" panose="02020603050405020304" pitchFamily="18" charset="0"/>
                <a:cs typeface="Times New Roman" panose="02020603050405020304" pitchFamily="18" charset="0"/>
              </a:rPr>
              <a:t>1 </a:t>
            </a:r>
            <a:r>
              <a:rPr lang="en-US" altLang="zh-CN" sz="2400" b="1" dirty="0">
                <a:solidFill>
                  <a:schemeClr val="bg1"/>
                </a:solidFill>
                <a:latin typeface="Times New Roman" panose="02020603050405020304" pitchFamily="18" charset="0"/>
                <a:cs typeface="Times New Roman" panose="02020603050405020304" pitchFamily="18" charset="0"/>
              </a:rPr>
              <a:t>+    </a:t>
            </a:r>
            <a:r>
              <a:rPr lang="en-US" altLang="zh-CN" sz="2400" b="1" i="1" dirty="0">
                <a:solidFill>
                  <a:schemeClr val="bg1"/>
                </a:solidFill>
                <a:latin typeface="Times New Roman" panose="02020603050405020304" pitchFamily="18" charset="0"/>
                <a:cs typeface="Times New Roman" panose="02020603050405020304" pitchFamily="18" charset="0"/>
              </a:rPr>
              <a:t>x</a:t>
            </a:r>
            <a:r>
              <a:rPr lang="en-US" altLang="zh-CN" sz="2400" b="1" baseline="-25000" dirty="0">
                <a:solidFill>
                  <a:schemeClr val="bg1"/>
                </a:solidFill>
                <a:latin typeface="Times New Roman" panose="02020603050405020304" pitchFamily="18" charset="0"/>
                <a:cs typeface="Times New Roman" panose="02020603050405020304" pitchFamily="18" charset="0"/>
              </a:rPr>
              <a:t>2</a:t>
            </a:r>
            <a:r>
              <a:rPr lang="en-US" altLang="zh-CN" sz="2400" b="1" dirty="0">
                <a:solidFill>
                  <a:schemeClr val="bg1"/>
                </a:solidFill>
                <a:latin typeface="Times New Roman" panose="02020603050405020304" pitchFamily="18" charset="0"/>
                <a:cs typeface="Times New Roman" panose="02020603050405020304" pitchFamily="18" charset="0"/>
              </a:rPr>
              <a:t> </a:t>
            </a:r>
            <a:r>
              <a:rPr lang="en-US" altLang="zh-CN" sz="2400" b="1" dirty="0" smtClean="0">
                <a:solidFill>
                  <a:schemeClr val="bg1"/>
                </a:solidFill>
                <a:latin typeface="Times New Roman" panose="02020603050405020304" pitchFamily="18" charset="0"/>
                <a:cs typeface="Times New Roman" panose="02020603050405020304" pitchFamily="18" charset="0"/>
              </a:rPr>
              <a:t> </a:t>
            </a:r>
            <a:r>
              <a:rPr lang="en-US" altLang="zh-CN" sz="2400" b="1" dirty="0" smtClean="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solidFill>
                  <a:schemeClr val="bg1"/>
                </a:solidFill>
                <a:latin typeface="Times New Roman" panose="02020603050405020304" pitchFamily="18" charset="0"/>
                <a:cs typeface="Times New Roman" panose="02020603050405020304" pitchFamily="18" charset="0"/>
              </a:rPr>
              <a:t>  </a:t>
            </a:r>
            <a:r>
              <a:rPr lang="en-US" altLang="zh-CN" sz="2400" b="1" dirty="0">
                <a:solidFill>
                  <a:schemeClr val="bg1"/>
                </a:solidFill>
                <a:latin typeface="Times New Roman" panose="02020603050405020304" pitchFamily="18" charset="0"/>
                <a:cs typeface="Times New Roman" panose="02020603050405020304" pitchFamily="18" charset="0"/>
              </a:rPr>
              <a:t>50</a:t>
            </a:r>
          </a:p>
          <a:p>
            <a:pPr eaLnBrk="1" hangingPunct="1">
              <a:spcBef>
                <a:spcPct val="0"/>
              </a:spcBef>
              <a:spcAft>
                <a:spcPct val="30000"/>
              </a:spcAft>
              <a:buNone/>
            </a:pPr>
            <a:r>
              <a:rPr lang="en-US" altLang="zh-CN" sz="2400" b="1" i="1" dirty="0">
                <a:solidFill>
                  <a:schemeClr val="bg1"/>
                </a:solidFill>
                <a:latin typeface="Times New Roman" panose="02020603050405020304" pitchFamily="18" charset="0"/>
                <a:cs typeface="Times New Roman" panose="02020603050405020304" pitchFamily="18" charset="0"/>
              </a:rPr>
              <a:t>                      </a:t>
            </a:r>
            <a:r>
              <a:rPr lang="en-US" altLang="zh-CN" sz="2400" b="1" i="1" dirty="0" smtClean="0">
                <a:solidFill>
                  <a:schemeClr val="bg1"/>
                </a:solidFill>
                <a:latin typeface="Times New Roman" panose="02020603050405020304" pitchFamily="18" charset="0"/>
                <a:cs typeface="Times New Roman" panose="02020603050405020304" pitchFamily="18" charset="0"/>
              </a:rPr>
              <a:t>  x</a:t>
            </a:r>
            <a:r>
              <a:rPr lang="en-US" altLang="zh-CN" sz="2400" b="1" baseline="-25000" dirty="0" smtClean="0">
                <a:solidFill>
                  <a:schemeClr val="bg1"/>
                </a:solidFill>
                <a:latin typeface="Times New Roman" panose="02020603050405020304" pitchFamily="18" charset="0"/>
                <a:cs typeface="Times New Roman" panose="02020603050405020304" pitchFamily="18" charset="0"/>
              </a:rPr>
              <a:t>1 </a:t>
            </a:r>
            <a:r>
              <a:rPr lang="en-US" altLang="zh-CN" sz="2400" b="1"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bg1"/>
                </a:solidFill>
                <a:latin typeface="Times New Roman" panose="02020603050405020304" pitchFamily="18" charset="0"/>
                <a:cs typeface="Times New Roman" panose="02020603050405020304" pitchFamily="18" charset="0"/>
              </a:rPr>
              <a:t>0，</a:t>
            </a:r>
            <a:r>
              <a:rPr lang="en-US" altLang="zh-CN" sz="2400" b="1" i="1" dirty="0">
                <a:solidFill>
                  <a:schemeClr val="bg1"/>
                </a:solidFill>
                <a:latin typeface="Times New Roman" panose="02020603050405020304" pitchFamily="18" charset="0"/>
                <a:cs typeface="Times New Roman" panose="02020603050405020304" pitchFamily="18" charset="0"/>
              </a:rPr>
              <a:t>x</a:t>
            </a:r>
            <a:r>
              <a:rPr lang="en-US" altLang="zh-CN" sz="2400" b="1" baseline="-25000" dirty="0">
                <a:solidFill>
                  <a:schemeClr val="bg1"/>
                </a:solidFill>
                <a:latin typeface="Times New Roman" panose="02020603050405020304" pitchFamily="18" charset="0"/>
                <a:cs typeface="Times New Roman" panose="02020603050405020304" pitchFamily="18" charset="0"/>
              </a:rPr>
              <a:t>2 </a:t>
            </a:r>
            <a:r>
              <a:rPr lang="en-US" altLang="zh-CN" sz="2400" b="1"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bg1"/>
                </a:solidFill>
                <a:latin typeface="Times New Roman" panose="02020603050405020304" pitchFamily="18" charset="0"/>
                <a:cs typeface="Times New Roman" panose="02020603050405020304" pitchFamily="18" charset="0"/>
              </a:rPr>
              <a:t>0</a:t>
            </a:r>
          </a:p>
        </p:txBody>
      </p:sp>
      <p:sp>
        <p:nvSpPr>
          <p:cNvPr id="9" name="TextBox 8"/>
          <p:cNvSpPr txBox="1"/>
          <p:nvPr/>
        </p:nvSpPr>
        <p:spPr>
          <a:xfrm>
            <a:off x="5003264" y="2156268"/>
            <a:ext cx="2952328" cy="2751522"/>
          </a:xfrm>
          <a:prstGeom prst="rect">
            <a:avLst/>
          </a:prstGeom>
          <a:noFill/>
        </p:spPr>
        <p:txBody>
          <a:bodyPr wrap="square" rtlCol="0">
            <a:spAutoFit/>
          </a:bodyPr>
          <a:lstStyle/>
          <a:p>
            <a:pPr marL="342900" indent="-342900" algn="just">
              <a:lnSpc>
                <a:spcPct val="120000"/>
              </a:lnSpc>
              <a:buFont typeface="Symbol" panose="05050102010706020507" pitchFamily="18" charset="2"/>
              <a:buChar char=""/>
            </a:pPr>
            <a:r>
              <a:rPr lang="en-US" altLang="zh-CN" b="1" i="1" dirty="0" smtClean="0">
                <a:solidFill>
                  <a:schemeClr val="bg1"/>
                </a:solidFill>
              </a:rPr>
              <a:t>z</a:t>
            </a:r>
            <a:r>
              <a:rPr lang="zh-CN" altLang="en-US" dirty="0" smtClean="0">
                <a:solidFill>
                  <a:schemeClr val="bg1"/>
                </a:solidFill>
              </a:rPr>
              <a:t>是目标函数。</a:t>
            </a:r>
            <a:endParaRPr lang="en-US" altLang="zh-CN" dirty="0" smtClean="0">
              <a:solidFill>
                <a:schemeClr val="bg1"/>
              </a:solidFill>
            </a:endParaRPr>
          </a:p>
          <a:p>
            <a:pPr marL="342900" indent="-342900" algn="just">
              <a:lnSpc>
                <a:spcPct val="120000"/>
              </a:lnSpc>
              <a:buFont typeface="Symbol" panose="05050102010706020507" pitchFamily="18" charset="2"/>
              <a:buChar char=""/>
            </a:pPr>
            <a:r>
              <a:rPr lang="en-US" altLang="zh-CN" b="1" dirty="0">
                <a:solidFill>
                  <a:schemeClr val="bg1"/>
                </a:solidFill>
                <a:cs typeface="Times New Roman" panose="02020603050405020304" pitchFamily="18" charset="0"/>
              </a:rPr>
              <a:t> s.t. </a:t>
            </a:r>
            <a:r>
              <a:rPr lang="zh-CN" altLang="en-US" dirty="0" smtClean="0">
                <a:solidFill>
                  <a:schemeClr val="bg1"/>
                </a:solidFill>
                <a:cs typeface="Times New Roman" panose="02020603050405020304" pitchFamily="18" charset="0"/>
              </a:rPr>
              <a:t>表示服从或满足下述条件。</a:t>
            </a:r>
            <a:endParaRPr lang="en-US" altLang="zh-CN" dirty="0" smtClean="0">
              <a:solidFill>
                <a:schemeClr val="bg1"/>
              </a:solidFill>
              <a:cs typeface="Times New Roman" panose="02020603050405020304" pitchFamily="18" charset="0"/>
            </a:endParaRPr>
          </a:p>
          <a:p>
            <a:pPr marL="342900" indent="-342900" algn="just">
              <a:lnSpc>
                <a:spcPct val="120000"/>
              </a:lnSpc>
              <a:buFont typeface="Symbol" panose="05050102010706020507" pitchFamily="18" charset="2"/>
              <a:buChar char=""/>
            </a:pPr>
            <a:r>
              <a:rPr lang="en-US" altLang="zh-CN" b="1" dirty="0">
                <a:solidFill>
                  <a:schemeClr val="bg1"/>
                </a:solidFill>
                <a:cs typeface="Times New Roman" panose="02020603050405020304" pitchFamily="18" charset="0"/>
              </a:rPr>
              <a:t> s.t. </a:t>
            </a:r>
            <a:r>
              <a:rPr lang="zh-CN" altLang="en-US" dirty="0" smtClean="0">
                <a:solidFill>
                  <a:schemeClr val="bg1"/>
                </a:solidFill>
                <a:cs typeface="Times New Roman" panose="02020603050405020304" pitchFamily="18" charset="0"/>
              </a:rPr>
              <a:t>后面的不等式是约束条件及决策变量的条件。</a:t>
            </a:r>
            <a:endParaRPr lang="en-US" altLang="zh-CN" dirty="0" smtClean="0">
              <a:solidFill>
                <a:schemeClr val="bg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wipe(left)">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wipe(left)">
                                      <p:cBhvr>
                                        <p:cTn id="17"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8105140" cy="844550"/>
          </a:xfrm>
        </p:spPr>
        <p:txBody>
          <a:bodyPr/>
          <a:lstStyle/>
          <a:p>
            <a:r>
              <a:rPr kumimoji="0" lang="en-US" altLang="zh-CN" kern="1200" noProof="0" dirty="0" smtClean="0">
                <a:solidFill>
                  <a:schemeClr val="accent2"/>
                </a:solidFill>
                <a:sym typeface="+mn-ea"/>
              </a:rPr>
              <a:t>6.1 </a:t>
            </a:r>
            <a:r>
              <a:rPr kumimoji="0" lang="zh-CN" altLang="en-US" kern="1200" noProof="0" dirty="0" smtClean="0">
                <a:solidFill>
                  <a:schemeClr val="accent2"/>
                </a:solidFill>
                <a:sym typeface="+mn-ea"/>
              </a:rPr>
              <a:t>线性规划</a:t>
            </a:r>
            <a:r>
              <a:rPr kumimoji="0" lang="zh-CN" altLang="en-US" kern="1200" dirty="0">
                <a:solidFill>
                  <a:schemeClr val="accent2"/>
                </a:solidFill>
                <a:sym typeface="+mn-ea"/>
              </a:rPr>
              <a:t>模型</a:t>
            </a:r>
            <a:endParaRPr kumimoji="0" lang="en-US" altLang="zh-CN" kern="1200" noProof="0" dirty="0" smtClean="0">
              <a:ln>
                <a:noFill/>
              </a:ln>
              <a:solidFill>
                <a:schemeClr val="accent2"/>
              </a:solidFill>
              <a:effectLst/>
              <a:uLnTx/>
              <a:uFillTx/>
              <a:sym typeface="+mn-ea"/>
            </a:endParaRPr>
          </a:p>
        </p:txBody>
      </p:sp>
      <p:sp>
        <p:nvSpPr>
          <p:cNvPr id="3" name="TextBox 2"/>
          <p:cNvSpPr txBox="1"/>
          <p:nvPr/>
        </p:nvSpPr>
        <p:spPr>
          <a:xfrm>
            <a:off x="323528" y="1628800"/>
            <a:ext cx="8568952" cy="493148"/>
          </a:xfrm>
          <a:prstGeom prst="rect">
            <a:avLst/>
          </a:prstGeom>
          <a:noFill/>
        </p:spPr>
        <p:txBody>
          <a:bodyPr wrap="square" rtlCol="0">
            <a:spAutoFit/>
          </a:bodyPr>
          <a:lstStyle/>
          <a:p>
            <a:pPr marL="800100" lvl="1" indent="-342900">
              <a:lnSpc>
                <a:spcPct val="120000"/>
              </a:lnSpc>
              <a:buFont typeface="Wingdings" panose="05000000000000000000" pitchFamily="2" charset="2"/>
              <a:buChar char="Ø"/>
            </a:pPr>
            <a:r>
              <a:rPr lang="zh-CN" altLang="en-US" dirty="0" smtClean="0">
                <a:solidFill>
                  <a:schemeClr val="bg2"/>
                </a:solidFill>
              </a:rPr>
              <a:t>举例</a:t>
            </a:r>
            <a:r>
              <a:rPr lang="en-US" altLang="zh-CN" dirty="0" smtClean="0">
                <a:solidFill>
                  <a:schemeClr val="bg2"/>
                </a:solidFill>
              </a:rPr>
              <a:t>2</a:t>
            </a:r>
            <a:r>
              <a:rPr lang="zh-CN" altLang="en-US" dirty="0" smtClean="0">
                <a:solidFill>
                  <a:schemeClr val="bg2"/>
                </a:solidFill>
              </a:rPr>
              <a:t>：生产计划问题</a:t>
            </a:r>
            <a:r>
              <a:rPr lang="en-US" altLang="zh-CN" dirty="0" smtClean="0">
                <a:solidFill>
                  <a:schemeClr val="bg2"/>
                </a:solidFill>
              </a:rPr>
              <a:t>2</a:t>
            </a:r>
            <a:r>
              <a:rPr lang="zh-CN" altLang="en-US" dirty="0" smtClean="0">
                <a:solidFill>
                  <a:schemeClr val="bg2"/>
                </a:solidFill>
              </a:rPr>
              <a:t>，</a:t>
            </a:r>
            <a:r>
              <a:rPr lang="en-US" altLang="zh-CN" dirty="0" smtClean="0">
                <a:solidFill>
                  <a:schemeClr val="bg2"/>
                </a:solidFill>
              </a:rPr>
              <a:t>p134</a:t>
            </a:r>
            <a:r>
              <a:rPr lang="zh-CN" altLang="en-US" dirty="0" smtClean="0">
                <a:solidFill>
                  <a:schemeClr val="bg2"/>
                </a:solidFill>
              </a:rPr>
              <a:t>例题</a:t>
            </a:r>
            <a:r>
              <a:rPr lang="en-US" altLang="zh-CN" dirty="0" smtClean="0">
                <a:solidFill>
                  <a:schemeClr val="bg2"/>
                </a:solidFill>
              </a:rPr>
              <a:t>6.1</a:t>
            </a:r>
          </a:p>
        </p:txBody>
      </p:sp>
      <p:sp>
        <p:nvSpPr>
          <p:cNvPr id="14" name="副标题 2"/>
          <p:cNvSpPr>
            <a:spLocks noGrp="1"/>
          </p:cNvSpPr>
          <p:nvPr/>
        </p:nvSpPr>
        <p:spPr>
          <a:xfrm>
            <a:off x="755576" y="2276872"/>
            <a:ext cx="7775575" cy="504056"/>
          </a:xfrm>
          <a:prstGeom prst="rect">
            <a:avLst/>
          </a:prstGeom>
          <a:noFill/>
          <a:ln w="9525">
            <a:noFill/>
          </a:ln>
        </p:spPr>
        <p:txBody>
          <a:bodyPr vert="horz" wrap="square" lIns="91440" tIns="45720" rIns="91440" bIns="45720" anchor="t"/>
          <a:lstStyle>
            <a:lvl1pPr marL="0" indent="0" algn="ctr" rtl="0" eaLnBrk="0" fontAlgn="base" hangingPunct="0">
              <a:spcBef>
                <a:spcPct val="20000"/>
              </a:spcBef>
              <a:spcAft>
                <a:spcPct val="0"/>
              </a:spcAft>
              <a:buFont typeface="Arial" panose="020B0604020202020204" pitchFamily="34"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indent="-342900" algn="l">
              <a:buClrTx/>
              <a:buSzTx/>
              <a:buFont typeface="Arial" panose="020B0604020202020204" pitchFamily="34" charset="0"/>
              <a:buChar char="•"/>
            </a:pPr>
            <a:r>
              <a:rPr lang="zh-CN" altLang="en-US" sz="2400" kern="1200" dirty="0" smtClean="0">
                <a:solidFill>
                  <a:schemeClr val="bg1"/>
                </a:solidFill>
                <a:latin typeface="Times New Roman" panose="02020603050405020304" pitchFamily="18" charset="0"/>
                <a:cs typeface="Times New Roman" panose="02020603050405020304" pitchFamily="18" charset="0"/>
              </a:rPr>
              <a:t>问题描述：用</a:t>
            </a:r>
            <a:r>
              <a:rPr lang="en-US" altLang="zh-CN" sz="2400" kern="1200" dirty="0" smtClean="0">
                <a:solidFill>
                  <a:schemeClr val="bg1"/>
                </a:solidFill>
                <a:latin typeface="Times New Roman" panose="02020603050405020304" pitchFamily="18" charset="0"/>
                <a:cs typeface="Times New Roman" panose="02020603050405020304" pitchFamily="18" charset="0"/>
              </a:rPr>
              <a:t>3</a:t>
            </a:r>
            <a:r>
              <a:rPr lang="zh-CN" altLang="en-US" sz="2400" kern="1200" dirty="0" smtClean="0">
                <a:solidFill>
                  <a:schemeClr val="bg1"/>
                </a:solidFill>
                <a:latin typeface="Times New Roman" panose="02020603050405020304" pitchFamily="18" charset="0"/>
                <a:cs typeface="Times New Roman" panose="02020603050405020304" pitchFamily="18" charset="0"/>
              </a:rPr>
              <a:t>种原料混合配制</a:t>
            </a:r>
            <a:r>
              <a:rPr lang="en-US" altLang="zh-CN" sz="2400" kern="1200" dirty="0" smtClean="0">
                <a:solidFill>
                  <a:schemeClr val="bg1"/>
                </a:solidFill>
                <a:latin typeface="Times New Roman" panose="02020603050405020304" pitchFamily="18" charset="0"/>
                <a:cs typeface="Times New Roman" panose="02020603050405020304" pitchFamily="18" charset="0"/>
              </a:rPr>
              <a:t>2</a:t>
            </a:r>
            <a:r>
              <a:rPr lang="zh-CN" altLang="en-US" sz="2400" kern="1200" dirty="0" smtClean="0">
                <a:solidFill>
                  <a:schemeClr val="bg1"/>
                </a:solidFill>
                <a:latin typeface="Times New Roman" panose="02020603050405020304" pitchFamily="18" charset="0"/>
                <a:cs typeface="Times New Roman" panose="02020603050405020304" pitchFamily="18" charset="0"/>
              </a:rPr>
              <a:t>种清洁剂</a:t>
            </a:r>
            <a:endParaRPr lang="en-US" altLang="zh-CN" sz="2400" kern="1200" dirty="0">
              <a:solidFill>
                <a:schemeClr val="bg1"/>
              </a:solidFill>
              <a:latin typeface="Times New Roman" panose="02020603050405020304" pitchFamily="18" charset="0"/>
              <a:ea typeface="Times New Roman" panose="02020603050405020304" pitchFamily="18" charset="0"/>
            </a:endParaRPr>
          </a:p>
        </p:txBody>
      </p:sp>
      <p:sp>
        <p:nvSpPr>
          <p:cNvPr id="15" name="副标题 2"/>
          <p:cNvSpPr txBox="1"/>
          <p:nvPr/>
        </p:nvSpPr>
        <p:spPr bwMode="auto">
          <a:xfrm>
            <a:off x="663574" y="5125711"/>
            <a:ext cx="7775575" cy="507206"/>
          </a:xfrm>
          <a:prstGeom prst="rect">
            <a:avLst/>
          </a:prstGeom>
          <a:no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defTabSz="914400">
              <a:spcBef>
                <a:spcPct val="20000"/>
              </a:spcBef>
              <a:buClrTx/>
              <a:buSzTx/>
              <a:buFont typeface="Arial" panose="020B0604020202020204" pitchFamily="34" charset="0"/>
              <a:defRPr/>
            </a:pPr>
            <a:r>
              <a:rPr kumimoji="0" lang="zh-CN" alt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这</a:t>
            </a:r>
            <a:r>
              <a:rPr kumimoji="0" 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2</a:t>
            </a:r>
            <a:r>
              <a:rPr kumimoji="0" lang="zh-CN" alt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种清洁剂应各配制多少才能使总价值最大</a:t>
            </a:r>
            <a:r>
              <a:rPr kumimoji="0" 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a:t>
            </a:r>
            <a:endParaRPr kumimoji="0" lang="zh-CN" alt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endParaRPr>
          </a:p>
        </p:txBody>
      </p:sp>
      <p:grpSp>
        <p:nvGrpSpPr>
          <p:cNvPr id="16" name="组合 15"/>
          <p:cNvGrpSpPr/>
          <p:nvPr/>
        </p:nvGrpSpPr>
        <p:grpSpPr>
          <a:xfrm>
            <a:off x="806449" y="3009626"/>
            <a:ext cx="7429500" cy="1787526"/>
            <a:chOff x="785787" y="3284538"/>
            <a:chExt cx="7429552" cy="1787526"/>
          </a:xfrm>
        </p:grpSpPr>
        <p:sp>
          <p:nvSpPr>
            <p:cNvPr id="17" name="副标题 2"/>
            <p:cNvSpPr txBox="1"/>
            <p:nvPr/>
          </p:nvSpPr>
          <p:spPr bwMode="auto">
            <a:xfrm>
              <a:off x="785787" y="3284538"/>
              <a:ext cx="7429552" cy="1785937"/>
            </a:xfrm>
            <a:prstGeom prst="rect">
              <a:avLst/>
            </a:prstGeom>
            <a:noFill/>
            <a:ln w="9525">
              <a:solidFill>
                <a:schemeClr val="bg1"/>
              </a:solid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defTabSz="914400">
                <a:spcBef>
                  <a:spcPct val="20000"/>
                </a:spcBef>
                <a:buClrTx/>
                <a:buSzTx/>
                <a:buFont typeface="Arial" panose="020B0604020202020204" pitchFamily="34" charset="0"/>
                <a:defRPr/>
              </a:pPr>
              <a:r>
                <a:rPr kumimoji="0" lang="zh-CN" alt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                       原料</a:t>
              </a:r>
              <a:r>
                <a:rPr kumimoji="0" lang="en-US" altLang="zh-CN"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1     </a:t>
              </a:r>
              <a:r>
                <a:rPr kumimoji="0" lang="zh-CN" alt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原料</a:t>
              </a:r>
              <a:r>
                <a:rPr kumimoji="0" lang="en-US" altLang="zh-CN"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2      </a:t>
              </a:r>
              <a:r>
                <a:rPr kumimoji="0" lang="zh-CN" alt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原料</a:t>
              </a:r>
              <a:r>
                <a:rPr kumimoji="0" lang="en-US" altLang="zh-CN"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3      </a:t>
              </a:r>
              <a:r>
                <a:rPr kumimoji="0" lang="zh-CN" alt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售价</a:t>
              </a:r>
              <a:r>
                <a:rPr kumimoji="0" lang="en-US" altLang="zh-CN"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a:t>
              </a:r>
              <a:r>
                <a:rPr kumimoji="0" lang="zh-CN" alt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万元</a:t>
              </a:r>
              <a:r>
                <a:rPr kumimoji="0" lang="en-US" altLang="zh-CN"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a:t>
              </a:r>
              <a:r>
                <a:rPr kumimoji="0" lang="zh-CN" alt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吨</a:t>
              </a:r>
              <a:r>
                <a:rPr kumimoji="0" lang="en-US" altLang="zh-CN"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a:t>
              </a:r>
            </a:p>
            <a:p>
              <a:pPr marR="0" defTabSz="914400">
                <a:spcBef>
                  <a:spcPct val="20000"/>
                </a:spcBef>
                <a:buClrTx/>
                <a:buSzTx/>
                <a:buFont typeface="Arial" panose="020B0604020202020204" pitchFamily="34" charset="0"/>
                <a:defRPr/>
              </a:pPr>
              <a:r>
                <a:rPr kumimoji="0" lang="zh-CN" alt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清洁剂</a:t>
              </a:r>
              <a:r>
                <a:rPr kumimoji="0" 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A          0.25        0.50         0.25          12    </a:t>
              </a:r>
            </a:p>
            <a:p>
              <a:pPr marR="0" defTabSz="914400">
                <a:spcBef>
                  <a:spcPct val="20000"/>
                </a:spcBef>
                <a:buClrTx/>
                <a:buSzTx/>
                <a:buFont typeface="Arial" panose="020B0604020202020204" pitchFamily="34" charset="0"/>
                <a:defRPr/>
              </a:pPr>
              <a:r>
                <a:rPr kumimoji="0" lang="zh-CN" alt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清洁剂</a:t>
              </a:r>
              <a:r>
                <a:rPr kumimoji="0" 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B          0.50        0.50                          15</a:t>
              </a:r>
            </a:p>
            <a:p>
              <a:pPr marR="0" defTabSz="914400">
                <a:spcBef>
                  <a:spcPct val="20000"/>
                </a:spcBef>
                <a:buClrTx/>
                <a:buSzTx/>
                <a:buFont typeface="Arial" panose="020B0604020202020204" pitchFamily="34" charset="0"/>
                <a:defRPr/>
              </a:pPr>
              <a:r>
                <a:rPr kumimoji="0" lang="zh-CN" alt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存量 </a:t>
              </a:r>
              <a:r>
                <a:rPr kumimoji="0" lang="en-US" altLang="zh-CN"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a:t>
              </a:r>
              <a:r>
                <a:rPr kumimoji="0" lang="zh-CN" alt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吨</a:t>
              </a:r>
              <a:r>
                <a:rPr kumimoji="0" lang="en-US" altLang="zh-CN"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a:t>
              </a:r>
              <a:r>
                <a:rPr kumimoji="0" lang="zh-CN" alt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         </a:t>
              </a:r>
              <a:r>
                <a:rPr kumimoji="0" lang="en-US" altLang="zh-CN"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120          150           50</a:t>
              </a:r>
              <a:r>
                <a:rPr kumimoji="0" lang="zh-CN" alt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             </a:t>
              </a:r>
              <a:r>
                <a:rPr kumimoji="0" 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        </a:t>
              </a:r>
              <a:endParaRPr kumimoji="0" lang="zh-CN" altLang="en-US" sz="2400" kern="1200" cap="none" spc="0" normalizeH="0" baseline="0" noProof="0" dirty="0">
                <a:solidFill>
                  <a:schemeClr val="bg1"/>
                </a:solidFill>
                <a:latin typeface="Times New Roman" panose="02020603050405020304" pitchFamily="18" charset="0"/>
                <a:ea typeface="+mn-ea"/>
                <a:cs typeface="Times New Roman" panose="02020603050405020304" pitchFamily="18" charset="0"/>
              </a:endParaRPr>
            </a:p>
          </p:txBody>
        </p:sp>
        <p:cxnSp>
          <p:nvCxnSpPr>
            <p:cNvPr id="18" name="直接连接符 17"/>
            <p:cNvCxnSpPr/>
            <p:nvPr/>
          </p:nvCxnSpPr>
          <p:spPr bwMode="auto">
            <a:xfrm>
              <a:off x="785787" y="4176818"/>
              <a:ext cx="7429552" cy="158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auto">
            <a:xfrm>
              <a:off x="785787" y="3713163"/>
              <a:ext cx="7429552" cy="158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auto">
            <a:xfrm>
              <a:off x="785787" y="5068888"/>
              <a:ext cx="7429552" cy="158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auto">
            <a:xfrm rot="5400000">
              <a:off x="1465248" y="4178301"/>
              <a:ext cx="1785938" cy="158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auto">
            <a:xfrm rot="5400000">
              <a:off x="5106998" y="4176713"/>
              <a:ext cx="1785937" cy="158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auto">
            <a:xfrm>
              <a:off x="785787" y="4640263"/>
              <a:ext cx="7429552" cy="158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8105140" cy="844550"/>
          </a:xfrm>
        </p:spPr>
        <p:txBody>
          <a:bodyPr/>
          <a:lstStyle/>
          <a:p>
            <a:r>
              <a:rPr kumimoji="0" lang="en-US" altLang="zh-CN" kern="1200" noProof="0" dirty="0" smtClean="0">
                <a:solidFill>
                  <a:schemeClr val="accent2"/>
                </a:solidFill>
                <a:sym typeface="+mn-ea"/>
              </a:rPr>
              <a:t>6.1 </a:t>
            </a:r>
            <a:r>
              <a:rPr kumimoji="0" lang="zh-CN" altLang="en-US" kern="1200" noProof="0" dirty="0" smtClean="0">
                <a:solidFill>
                  <a:schemeClr val="accent2"/>
                </a:solidFill>
                <a:sym typeface="+mn-ea"/>
              </a:rPr>
              <a:t>线性规划</a:t>
            </a:r>
            <a:r>
              <a:rPr kumimoji="0" lang="zh-CN" altLang="en-US" kern="1200" dirty="0">
                <a:solidFill>
                  <a:schemeClr val="accent2"/>
                </a:solidFill>
                <a:sym typeface="+mn-ea"/>
              </a:rPr>
              <a:t>模型</a:t>
            </a:r>
            <a:endParaRPr kumimoji="0" lang="en-US" altLang="zh-CN" kern="1200" noProof="0" dirty="0" smtClean="0">
              <a:ln>
                <a:noFill/>
              </a:ln>
              <a:solidFill>
                <a:schemeClr val="accent2"/>
              </a:solidFill>
              <a:effectLst/>
              <a:uLnTx/>
              <a:uFillTx/>
              <a:sym typeface="+mn-ea"/>
            </a:endParaRPr>
          </a:p>
        </p:txBody>
      </p:sp>
      <p:sp>
        <p:nvSpPr>
          <p:cNvPr id="24" name="副标题 2"/>
          <p:cNvSpPr>
            <a:spLocks noGrp="1"/>
          </p:cNvSpPr>
          <p:nvPr/>
        </p:nvSpPr>
        <p:spPr>
          <a:xfrm>
            <a:off x="549071" y="1844824"/>
            <a:ext cx="7775575" cy="2771799"/>
          </a:xfrm>
          <a:prstGeom prst="rect">
            <a:avLst/>
          </a:prstGeom>
          <a:noFill/>
          <a:ln w="9525">
            <a:noFill/>
          </a:ln>
        </p:spPr>
        <p:txBody>
          <a:bodyPr vert="horz" wrap="square" lIns="91440" tIns="45720" rIns="91440" bIns="45720" anchor="t"/>
          <a:lstStyle>
            <a:lvl1pPr marL="0" indent="0" algn="ctr" rtl="0" eaLnBrk="0" fontAlgn="base" hangingPunct="0">
              <a:spcBef>
                <a:spcPct val="20000"/>
              </a:spcBef>
              <a:spcAft>
                <a:spcPct val="0"/>
              </a:spcAft>
              <a:buFont typeface="Arial" panose="020B0604020202020204" pitchFamily="34"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buClrTx/>
              <a:buSzTx/>
            </a:pPr>
            <a:r>
              <a:rPr lang="zh-CN" altLang="en-US" sz="2400" b="1" kern="1200" dirty="0">
                <a:solidFill>
                  <a:schemeClr val="bg1"/>
                </a:solidFill>
                <a:latin typeface="Times New Roman" panose="02020603050405020304" pitchFamily="18" charset="0"/>
                <a:ea typeface="+mn-ea"/>
                <a:cs typeface="Times New Roman" panose="02020603050405020304" pitchFamily="18" charset="0"/>
              </a:rPr>
              <a:t>设清洁剂</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A</a:t>
            </a:r>
            <a:r>
              <a:rPr lang="zh-CN" altLang="en-US" sz="2400" b="1" kern="1200" dirty="0">
                <a:solidFill>
                  <a:schemeClr val="bg1"/>
                </a:solidFill>
                <a:latin typeface="Times New Roman" panose="02020603050405020304" pitchFamily="18" charset="0"/>
                <a:ea typeface="+mn-ea"/>
                <a:cs typeface="Times New Roman" panose="02020603050405020304" pitchFamily="18" charset="0"/>
              </a:rPr>
              <a:t>和</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B</a:t>
            </a:r>
            <a:r>
              <a:rPr lang="zh-CN" altLang="en-US" sz="2400" b="1" kern="1200" dirty="0">
                <a:solidFill>
                  <a:schemeClr val="bg1"/>
                </a:solidFill>
                <a:latin typeface="Times New Roman" panose="02020603050405020304" pitchFamily="18" charset="0"/>
                <a:ea typeface="+mn-ea"/>
                <a:cs typeface="Times New Roman" panose="02020603050405020304" pitchFamily="18" charset="0"/>
              </a:rPr>
              <a:t>分别配制</a:t>
            </a:r>
            <a:r>
              <a:rPr lang="en-US" altLang="zh-CN" sz="2400" b="1" i="1" kern="1200" dirty="0" smtClean="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smtClean="0">
                <a:solidFill>
                  <a:schemeClr val="bg1"/>
                </a:solidFill>
                <a:latin typeface="Times New Roman" panose="02020603050405020304" pitchFamily="18" charset="0"/>
                <a:ea typeface="+mn-ea"/>
                <a:cs typeface="Times New Roman" panose="02020603050405020304" pitchFamily="18" charset="0"/>
              </a:rPr>
              <a:t>1</a:t>
            </a:r>
            <a:r>
              <a:rPr lang="zh-CN" altLang="en-US" sz="2400" b="1" kern="1200" dirty="0" smtClean="0">
                <a:solidFill>
                  <a:schemeClr val="bg1"/>
                </a:solidFill>
                <a:latin typeface="Times New Roman" panose="02020603050405020304" pitchFamily="18" charset="0"/>
                <a:ea typeface="+mn-ea"/>
                <a:cs typeface="Times New Roman" panose="02020603050405020304" pitchFamily="18" charset="0"/>
              </a:rPr>
              <a:t>和</a:t>
            </a:r>
            <a:r>
              <a:rPr lang="en-US" altLang="zh-CN" sz="2400" b="1" i="1" dirty="0" smtClean="0">
                <a:solidFill>
                  <a:schemeClr val="bg1"/>
                </a:solidFill>
                <a:latin typeface="Times New Roman" panose="02020603050405020304" pitchFamily="18" charset="0"/>
                <a:cs typeface="Times New Roman" panose="02020603050405020304" pitchFamily="18" charset="0"/>
              </a:rPr>
              <a:t>x</a:t>
            </a:r>
            <a:r>
              <a:rPr lang="en-US" altLang="zh-CN" sz="2400" b="1" baseline="-25000" dirty="0" smtClean="0">
                <a:solidFill>
                  <a:schemeClr val="bg1"/>
                </a:solidFill>
                <a:latin typeface="Times New Roman" panose="02020603050405020304" pitchFamily="18" charset="0"/>
                <a:cs typeface="Times New Roman" panose="02020603050405020304" pitchFamily="18" charset="0"/>
              </a:rPr>
              <a:t>2</a:t>
            </a:r>
            <a:endParaRPr lang="en-US" altLang="zh-CN" sz="2400" b="1" i="1" kern="1200" dirty="0">
              <a:solidFill>
                <a:schemeClr val="bg1"/>
              </a:solidFill>
              <a:latin typeface="Times New Roman" panose="02020603050405020304" pitchFamily="18" charset="0"/>
              <a:ea typeface="+mn-ea"/>
              <a:cs typeface="Times New Roman" panose="02020603050405020304" pitchFamily="18" charset="0"/>
            </a:endParaRPr>
          </a:p>
          <a:p>
            <a:pPr algn="l"/>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                              </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max </a:t>
            </a:r>
            <a:r>
              <a:rPr lang="en-US" altLang="zh-CN" sz="2400" b="1" i="1" kern="1200" dirty="0" smtClean="0">
                <a:solidFill>
                  <a:schemeClr val="bg1"/>
                </a:solidFill>
                <a:latin typeface="Times New Roman" panose="02020603050405020304" pitchFamily="18" charset="0"/>
                <a:ea typeface="+mn-ea"/>
                <a:cs typeface="Times New Roman" panose="02020603050405020304" pitchFamily="18" charset="0"/>
              </a:rPr>
              <a:t>z</a:t>
            </a:r>
            <a:r>
              <a:rPr lang="en-US" altLang="zh-CN" sz="2400" b="1" kern="1200" dirty="0" smtClean="0">
                <a:solidFill>
                  <a:schemeClr val="bg1"/>
                </a:solidFill>
                <a:latin typeface="Times New Roman" panose="02020603050405020304" pitchFamily="18" charset="0"/>
                <a:ea typeface="+mn-ea"/>
                <a:cs typeface="Times New Roman" panose="02020603050405020304" pitchFamily="18" charset="0"/>
              </a:rPr>
              <a:t>=12</a:t>
            </a:r>
            <a:r>
              <a:rPr lang="en-US" altLang="zh-CN" sz="2400" b="1" i="1" dirty="0">
                <a:solidFill>
                  <a:schemeClr val="bg1"/>
                </a:solidFill>
                <a:latin typeface="Times New Roman" panose="02020603050405020304" pitchFamily="18" charset="0"/>
                <a:cs typeface="Times New Roman" panose="02020603050405020304" pitchFamily="18" charset="0"/>
              </a:rPr>
              <a:t> x</a:t>
            </a:r>
            <a:r>
              <a:rPr lang="en-US" altLang="zh-CN" sz="2400" b="1" baseline="-25000" dirty="0">
                <a:solidFill>
                  <a:schemeClr val="bg1"/>
                </a:solidFill>
                <a:latin typeface="Times New Roman" panose="02020603050405020304" pitchFamily="18" charset="0"/>
                <a:cs typeface="Times New Roman" panose="02020603050405020304" pitchFamily="18" charset="0"/>
              </a:rPr>
              <a:t>1 </a:t>
            </a:r>
            <a:r>
              <a:rPr lang="en-US" altLang="zh-CN" sz="2400" b="1" kern="1200" dirty="0" smtClean="0">
                <a:solidFill>
                  <a:schemeClr val="bg1"/>
                </a:solidFill>
                <a:latin typeface="Times New Roman" panose="02020603050405020304" pitchFamily="18" charset="0"/>
                <a:ea typeface="+mn-ea"/>
                <a:cs typeface="Times New Roman" panose="02020603050405020304" pitchFamily="18" charset="0"/>
              </a:rPr>
              <a:t>+15 </a:t>
            </a:r>
            <a:r>
              <a:rPr lang="en-US" altLang="zh-CN" sz="2400" b="1" i="1" dirty="0" smtClean="0">
                <a:solidFill>
                  <a:schemeClr val="bg1"/>
                </a:solidFill>
                <a:latin typeface="Times New Roman" panose="02020603050405020304" pitchFamily="18" charset="0"/>
                <a:cs typeface="Times New Roman" panose="02020603050405020304" pitchFamily="18" charset="0"/>
              </a:rPr>
              <a:t>x</a:t>
            </a:r>
            <a:r>
              <a:rPr lang="en-US" altLang="zh-CN" sz="2400" b="1" baseline="-25000" dirty="0" smtClean="0">
                <a:solidFill>
                  <a:schemeClr val="bg1"/>
                </a:solidFill>
                <a:latin typeface="Times New Roman" panose="02020603050405020304" pitchFamily="18" charset="0"/>
                <a:cs typeface="Times New Roman" panose="02020603050405020304" pitchFamily="18" charset="0"/>
              </a:rPr>
              <a:t>2</a:t>
            </a:r>
            <a:endParaRPr lang="zh-CN" altLang="en-US" sz="2400" b="1" kern="1200" dirty="0">
              <a:solidFill>
                <a:schemeClr val="bg1"/>
              </a:solidFill>
              <a:latin typeface="Times New Roman" panose="02020603050405020304" pitchFamily="18" charset="0"/>
              <a:ea typeface="+mn-ea"/>
              <a:cs typeface="Times New Roman" panose="02020603050405020304" pitchFamily="18" charset="0"/>
            </a:endParaRPr>
          </a:p>
          <a:p>
            <a:pPr algn="l">
              <a:buClrTx/>
              <a:buSzTx/>
            </a:pPr>
            <a:r>
              <a:rPr lang="en-US" altLang="zh-CN" sz="2400" b="1" kern="1200" dirty="0" smtClean="0">
                <a:solidFill>
                  <a:schemeClr val="bg1"/>
                </a:solidFill>
                <a:latin typeface="Times New Roman" panose="02020603050405020304" pitchFamily="18" charset="0"/>
                <a:ea typeface="+mn-ea"/>
                <a:cs typeface="Times New Roman" panose="02020603050405020304" pitchFamily="18" charset="0"/>
              </a:rPr>
              <a:t>                                       0.25 </a:t>
            </a:r>
            <a:r>
              <a:rPr lang="en-US" altLang="zh-CN" sz="2400" b="1" i="1" dirty="0" smtClean="0">
                <a:solidFill>
                  <a:schemeClr val="bg1"/>
                </a:solidFill>
                <a:latin typeface="Times New Roman" panose="02020603050405020304" pitchFamily="18" charset="0"/>
                <a:cs typeface="Times New Roman" panose="02020603050405020304" pitchFamily="18" charset="0"/>
              </a:rPr>
              <a:t>x</a:t>
            </a:r>
            <a:r>
              <a:rPr lang="en-US" altLang="zh-CN" sz="2400" b="1" baseline="-25000" dirty="0" smtClean="0">
                <a:solidFill>
                  <a:schemeClr val="bg1"/>
                </a:solidFill>
                <a:latin typeface="Times New Roman" panose="02020603050405020304" pitchFamily="18" charset="0"/>
                <a:cs typeface="Times New Roman" panose="02020603050405020304" pitchFamily="18" charset="0"/>
              </a:rPr>
              <a:t>1 </a:t>
            </a:r>
            <a:r>
              <a:rPr lang="en-US" altLang="zh-CN" sz="2400" b="1" kern="1200" dirty="0" smtClean="0">
                <a:solidFill>
                  <a:schemeClr val="bg1"/>
                </a:solidFill>
                <a:latin typeface="Times New Roman" panose="02020603050405020304" pitchFamily="18" charset="0"/>
                <a:ea typeface="+mn-ea"/>
                <a:cs typeface="Times New Roman" panose="02020603050405020304" pitchFamily="18" charset="0"/>
              </a:rPr>
              <a:t>+0.50 </a:t>
            </a:r>
            <a:r>
              <a:rPr lang="en-US" altLang="zh-CN" sz="2400" b="1" i="1" dirty="0" smtClean="0">
                <a:solidFill>
                  <a:schemeClr val="bg1"/>
                </a:solidFill>
                <a:latin typeface="Times New Roman" panose="02020603050405020304" pitchFamily="18" charset="0"/>
                <a:cs typeface="Times New Roman" panose="02020603050405020304" pitchFamily="18" charset="0"/>
              </a:rPr>
              <a:t>x</a:t>
            </a:r>
            <a:r>
              <a:rPr lang="en-US" altLang="zh-CN" sz="2400" b="1" baseline="-25000" dirty="0" smtClean="0">
                <a:solidFill>
                  <a:schemeClr val="bg1"/>
                </a:solidFill>
                <a:latin typeface="Times New Roman" panose="02020603050405020304" pitchFamily="18" charset="0"/>
                <a:cs typeface="Times New Roman" panose="02020603050405020304" pitchFamily="18" charset="0"/>
              </a:rPr>
              <a:t>2</a:t>
            </a:r>
            <a:r>
              <a:rPr lang="en-US" altLang="zh-CN" sz="2400" b="1" kern="1200" dirty="0" smtClean="0">
                <a:solidFill>
                  <a:schemeClr val="bg1"/>
                </a:solidFill>
                <a:latin typeface="Times New Roman" panose="02020603050405020304" pitchFamily="18" charset="0"/>
                <a:ea typeface="+mn-ea"/>
                <a:cs typeface="Times New Roman" panose="02020603050405020304" pitchFamily="18" charset="0"/>
              </a:rPr>
              <a:t> </a:t>
            </a:r>
            <a:r>
              <a:rPr lang="en-US" altLang="zh-CN" sz="2400" b="1" kern="1200" dirty="0" smtClean="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kern="1200" dirty="0" smtClean="0">
                <a:solidFill>
                  <a:schemeClr val="bg1"/>
                </a:solidFill>
                <a:latin typeface="Times New Roman" panose="02020603050405020304" pitchFamily="18" charset="0"/>
                <a:ea typeface="+mn-ea"/>
                <a:cs typeface="Times New Roman" panose="02020603050405020304" pitchFamily="18" charset="0"/>
              </a:rPr>
              <a:t>120</a:t>
            </a:r>
            <a:endParaRPr lang="zh-CN" altLang="en-US" sz="2400" b="1" kern="1200" dirty="0" smtClean="0">
              <a:solidFill>
                <a:schemeClr val="bg1"/>
              </a:solidFill>
              <a:latin typeface="Times New Roman" panose="02020603050405020304" pitchFamily="18" charset="0"/>
              <a:ea typeface="+mn-ea"/>
              <a:cs typeface="Times New Roman" panose="02020603050405020304" pitchFamily="18" charset="0"/>
            </a:endParaRPr>
          </a:p>
          <a:p>
            <a:pPr algn="l">
              <a:buClrTx/>
              <a:buSzTx/>
            </a:pPr>
            <a:r>
              <a:rPr lang="en-US" altLang="zh-CN" sz="2400" b="1" kern="1200" dirty="0" smtClean="0">
                <a:solidFill>
                  <a:schemeClr val="bg1"/>
                </a:solidFill>
                <a:latin typeface="Times New Roman" panose="02020603050405020304" pitchFamily="18" charset="0"/>
                <a:ea typeface="+mn-ea"/>
                <a:cs typeface="Times New Roman" panose="02020603050405020304" pitchFamily="18" charset="0"/>
              </a:rPr>
              <a:t>                                       0.50 </a:t>
            </a:r>
            <a:r>
              <a:rPr lang="en-US" altLang="zh-CN" sz="2400" b="1" i="1" dirty="0" smtClean="0">
                <a:solidFill>
                  <a:schemeClr val="bg1"/>
                </a:solidFill>
                <a:latin typeface="Times New Roman" panose="02020603050405020304" pitchFamily="18" charset="0"/>
                <a:cs typeface="Times New Roman" panose="02020603050405020304" pitchFamily="18" charset="0"/>
              </a:rPr>
              <a:t>x</a:t>
            </a:r>
            <a:r>
              <a:rPr lang="en-US" altLang="zh-CN" sz="2400" b="1" baseline="-25000" dirty="0" smtClean="0">
                <a:solidFill>
                  <a:schemeClr val="bg1"/>
                </a:solidFill>
                <a:latin typeface="Times New Roman" panose="02020603050405020304" pitchFamily="18" charset="0"/>
                <a:cs typeface="Times New Roman" panose="02020603050405020304" pitchFamily="18" charset="0"/>
              </a:rPr>
              <a:t>1 </a:t>
            </a:r>
            <a:r>
              <a:rPr lang="en-US" altLang="zh-CN" sz="2400" b="1" kern="1200" dirty="0" smtClean="0">
                <a:solidFill>
                  <a:schemeClr val="bg1"/>
                </a:solidFill>
                <a:latin typeface="Times New Roman" panose="02020603050405020304" pitchFamily="18" charset="0"/>
                <a:ea typeface="+mn-ea"/>
                <a:cs typeface="Times New Roman" panose="02020603050405020304" pitchFamily="18" charset="0"/>
              </a:rPr>
              <a:t>+0.50 </a:t>
            </a:r>
            <a:r>
              <a:rPr lang="en-US" altLang="zh-CN" sz="2400" b="1" i="1" dirty="0" smtClean="0">
                <a:solidFill>
                  <a:schemeClr val="bg1"/>
                </a:solidFill>
                <a:latin typeface="Times New Roman" panose="02020603050405020304" pitchFamily="18" charset="0"/>
                <a:cs typeface="Times New Roman" panose="02020603050405020304" pitchFamily="18" charset="0"/>
              </a:rPr>
              <a:t>x</a:t>
            </a:r>
            <a:r>
              <a:rPr lang="en-US" altLang="zh-CN" sz="2400" b="1" baseline="-25000" dirty="0" smtClean="0">
                <a:solidFill>
                  <a:schemeClr val="bg1"/>
                </a:solidFill>
                <a:latin typeface="Times New Roman" panose="02020603050405020304" pitchFamily="18" charset="0"/>
                <a:cs typeface="Times New Roman" panose="02020603050405020304" pitchFamily="18" charset="0"/>
              </a:rPr>
              <a:t>2</a:t>
            </a:r>
            <a:r>
              <a:rPr lang="en-US" altLang="zh-CN" sz="2400" b="1" kern="1200" dirty="0" smtClean="0">
                <a:solidFill>
                  <a:schemeClr val="bg1"/>
                </a:solidFill>
                <a:latin typeface="Times New Roman" panose="02020603050405020304" pitchFamily="18" charset="0"/>
                <a:ea typeface="+mn-ea"/>
                <a:cs typeface="Times New Roman" panose="02020603050405020304" pitchFamily="18" charset="0"/>
              </a:rPr>
              <a:t> </a:t>
            </a:r>
            <a:r>
              <a:rPr lang="en-US" altLang="zh-CN" sz="2400" b="1" kern="1200" dirty="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150</a:t>
            </a:r>
            <a:endParaRPr lang="zh-CN" altLang="en-US" sz="2400" b="1" kern="1200" dirty="0">
              <a:solidFill>
                <a:schemeClr val="bg1"/>
              </a:solidFill>
              <a:latin typeface="Times New Roman" panose="02020603050405020304" pitchFamily="18" charset="0"/>
              <a:ea typeface="+mn-ea"/>
              <a:cs typeface="Times New Roman" panose="02020603050405020304" pitchFamily="18" charset="0"/>
            </a:endParaRPr>
          </a:p>
          <a:p>
            <a:pPr algn="l">
              <a:buClrTx/>
              <a:buSzTx/>
            </a:pP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a:t>
            </a:r>
            <a:r>
              <a:rPr lang="en-US" altLang="zh-CN" sz="2400" b="1" kern="1200" dirty="0" smtClean="0">
                <a:solidFill>
                  <a:schemeClr val="bg1"/>
                </a:solidFill>
                <a:latin typeface="Times New Roman" panose="02020603050405020304" pitchFamily="18" charset="0"/>
                <a:ea typeface="+mn-ea"/>
                <a:cs typeface="Times New Roman" panose="02020603050405020304" pitchFamily="18" charset="0"/>
              </a:rPr>
              <a:t>0.25 </a:t>
            </a:r>
            <a:r>
              <a:rPr lang="en-US" altLang="zh-CN" sz="2400" b="1" i="1" dirty="0" smtClean="0">
                <a:solidFill>
                  <a:schemeClr val="bg1"/>
                </a:solidFill>
                <a:latin typeface="Times New Roman" panose="02020603050405020304" pitchFamily="18" charset="0"/>
                <a:cs typeface="Times New Roman" panose="02020603050405020304" pitchFamily="18" charset="0"/>
              </a:rPr>
              <a:t>x</a:t>
            </a:r>
            <a:r>
              <a:rPr lang="en-US" altLang="zh-CN" sz="2400" b="1" baseline="-25000" dirty="0" smtClean="0">
                <a:solidFill>
                  <a:schemeClr val="bg1"/>
                </a:solidFill>
                <a:latin typeface="Times New Roman" panose="02020603050405020304" pitchFamily="18" charset="0"/>
                <a:cs typeface="Times New Roman" panose="02020603050405020304" pitchFamily="18" charset="0"/>
              </a:rPr>
              <a:t>1</a:t>
            </a:r>
            <a:r>
              <a:rPr lang="en-US" altLang="zh-CN" sz="2400" b="1" i="1" kern="1200" dirty="0" smtClean="0">
                <a:solidFill>
                  <a:schemeClr val="bg1"/>
                </a:solidFill>
                <a:latin typeface="Times New Roman" panose="02020603050405020304" pitchFamily="18" charset="0"/>
                <a:ea typeface="+mn-ea"/>
                <a:cs typeface="Times New Roman" panose="02020603050405020304" pitchFamily="18" charset="0"/>
              </a:rPr>
              <a:t>   </a:t>
            </a:r>
            <a:r>
              <a:rPr lang="en-US" altLang="zh-CN" sz="2400" b="1" kern="1200" dirty="0" smtClean="0">
                <a:solidFill>
                  <a:schemeClr val="bg1"/>
                </a:solidFill>
                <a:latin typeface="Times New Roman" panose="02020603050405020304" pitchFamily="18" charset="0"/>
                <a:ea typeface="+mn-ea"/>
                <a:cs typeface="Times New Roman" panose="02020603050405020304" pitchFamily="18" charset="0"/>
              </a:rPr>
              <a:t>            </a:t>
            </a:r>
            <a:r>
              <a:rPr lang="en-US" altLang="zh-CN" sz="2400" b="1" kern="1200" dirty="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50</a:t>
            </a:r>
          </a:p>
          <a:p>
            <a:pPr indent="2955925" algn="l">
              <a:buClrTx/>
              <a:buSzTx/>
            </a:pP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a:t>
            </a:r>
            <a:r>
              <a:rPr lang="en-US" altLang="zh-CN" sz="2400" b="1" i="1" dirty="0">
                <a:solidFill>
                  <a:schemeClr val="bg1"/>
                </a:solidFill>
                <a:latin typeface="Times New Roman" panose="02020603050405020304" pitchFamily="18" charset="0"/>
                <a:cs typeface="Times New Roman" panose="02020603050405020304" pitchFamily="18" charset="0"/>
              </a:rPr>
              <a:t>x</a:t>
            </a:r>
            <a:r>
              <a:rPr lang="en-US" altLang="zh-CN" sz="2400" b="1" baseline="-25000" dirty="0">
                <a:solidFill>
                  <a:schemeClr val="bg1"/>
                </a:solidFill>
                <a:latin typeface="Times New Roman" panose="02020603050405020304" pitchFamily="18" charset="0"/>
                <a:cs typeface="Times New Roman" panose="02020603050405020304" pitchFamily="18" charset="0"/>
              </a:rPr>
              <a:t>1 </a:t>
            </a:r>
            <a:r>
              <a:rPr lang="en-US" altLang="zh-CN" sz="2400" b="1" kern="1200" dirty="0" smtClean="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0, </a:t>
            </a:r>
            <a:r>
              <a:rPr lang="en-US" altLang="zh-CN" sz="2400" b="1" i="1" dirty="0">
                <a:solidFill>
                  <a:schemeClr val="bg1"/>
                </a:solidFill>
                <a:latin typeface="Times New Roman" panose="02020603050405020304" pitchFamily="18" charset="0"/>
                <a:cs typeface="Times New Roman" panose="02020603050405020304" pitchFamily="18" charset="0"/>
              </a:rPr>
              <a:t>x</a:t>
            </a:r>
            <a:r>
              <a:rPr lang="en-US" altLang="zh-CN" sz="2400" b="1" baseline="-25000" dirty="0">
                <a:solidFill>
                  <a:schemeClr val="bg1"/>
                </a:solidFill>
                <a:latin typeface="Times New Roman" panose="02020603050405020304" pitchFamily="18" charset="0"/>
                <a:cs typeface="Times New Roman" panose="02020603050405020304" pitchFamily="18" charset="0"/>
              </a:rPr>
              <a:t>2 </a:t>
            </a:r>
            <a:r>
              <a:rPr lang="en-US" altLang="zh-CN" sz="2400" b="1" kern="1200" dirty="0" smtClean="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kern="1200" dirty="0">
                <a:solidFill>
                  <a:schemeClr val="bg1"/>
                </a:solidFill>
                <a:latin typeface="Times New Roman" panose="02020603050405020304" pitchFamily="18" charset="0"/>
                <a:cs typeface="Times New Roman" panose="02020603050405020304" pitchFamily="18" charset="0"/>
              </a:rPr>
              <a:t>0</a:t>
            </a:r>
            <a:endParaRPr lang="zh-CN" altLang="en-US" sz="2400" b="1" kern="1200" dirty="0">
              <a:solidFill>
                <a:schemeClr val="bg1"/>
              </a:solidFill>
              <a:latin typeface="Times New Roman" panose="02020603050405020304" pitchFamily="18" charset="0"/>
              <a:ea typeface="Times New Roman" panose="02020603050405020304" pitchFamily="18" charset="0"/>
            </a:endParaRPr>
          </a:p>
        </p:txBody>
      </p:sp>
      <p:sp>
        <p:nvSpPr>
          <p:cNvPr id="3" name="文本框 2"/>
          <p:cNvSpPr txBox="1"/>
          <p:nvPr/>
        </p:nvSpPr>
        <p:spPr>
          <a:xfrm>
            <a:off x="2987040" y="2710815"/>
            <a:ext cx="631825" cy="460375"/>
          </a:xfrm>
          <a:prstGeom prst="rect">
            <a:avLst/>
          </a:prstGeom>
          <a:noFill/>
        </p:spPr>
        <p:txBody>
          <a:bodyPr wrap="none" rtlCol="0" anchor="t">
            <a:spAutoFit/>
          </a:bodyPr>
          <a:lstStyle/>
          <a:p>
            <a:r>
              <a:rPr lang="en-US" altLang="zh-CN" b="1" dirty="0" err="1" smtClean="0">
                <a:solidFill>
                  <a:schemeClr val="bg1"/>
                </a:solidFill>
                <a:ea typeface="+mn-ea"/>
                <a:cs typeface="Times New Roman" panose="02020603050405020304" pitchFamily="18" charset="0"/>
                <a:sym typeface="+mn-ea"/>
              </a:rPr>
              <a:t>s.t.</a:t>
            </a:r>
            <a:r>
              <a:rPr lang="en-US" altLang="zh-CN" b="1" dirty="0" smtClean="0">
                <a:solidFill>
                  <a:schemeClr val="bg1"/>
                </a:solidFill>
                <a:ea typeface="+mn-ea"/>
                <a:cs typeface="Times New Roman" panose="02020603050405020304" pitchFamily="18" charset="0"/>
                <a:sym typeface="+mn-ea"/>
              </a:rPr>
              <a:t> </a:t>
            </a: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wipe(left)">
                                      <p:cBhvr>
                                        <p:cTn id="7" dur="500"/>
                                        <p:tgtEl>
                                          <p:spTgt spid="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xEl>
                                              <p:pRg st="1" end="1"/>
                                            </p:txEl>
                                          </p:spTgt>
                                        </p:tgtEl>
                                        <p:attrNameLst>
                                          <p:attrName>style.visibility</p:attrName>
                                        </p:attrNameLst>
                                      </p:cBhvr>
                                      <p:to>
                                        <p:strVal val="visible"/>
                                      </p:to>
                                    </p:set>
                                    <p:animEffect transition="in" filter="wipe(left)">
                                      <p:cBhvr>
                                        <p:cTn id="12" dur="500"/>
                                        <p:tgtEl>
                                          <p:spTgt spid="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4">
                                            <p:txEl>
                                              <p:pRg st="2" end="2"/>
                                            </p:txEl>
                                          </p:spTgt>
                                        </p:tgtEl>
                                        <p:attrNameLst>
                                          <p:attrName>style.visibility</p:attrName>
                                        </p:attrNameLst>
                                      </p:cBhvr>
                                      <p:to>
                                        <p:strVal val="visible"/>
                                      </p:to>
                                    </p:set>
                                    <p:animEffect transition="in" filter="wipe(left)">
                                      <p:cBhvr>
                                        <p:cTn id="22" dur="500"/>
                                        <p:tgtEl>
                                          <p:spTgt spid="2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4">
                                            <p:txEl>
                                              <p:pRg st="3" end="3"/>
                                            </p:txEl>
                                          </p:spTgt>
                                        </p:tgtEl>
                                        <p:attrNameLst>
                                          <p:attrName>style.visibility</p:attrName>
                                        </p:attrNameLst>
                                      </p:cBhvr>
                                      <p:to>
                                        <p:strVal val="visible"/>
                                      </p:to>
                                    </p:set>
                                    <p:animEffect transition="in" filter="wipe(left)">
                                      <p:cBhvr>
                                        <p:cTn id="27" dur="500"/>
                                        <p:tgtEl>
                                          <p:spTgt spid="2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4">
                                            <p:txEl>
                                              <p:pRg st="4" end="4"/>
                                            </p:txEl>
                                          </p:spTgt>
                                        </p:tgtEl>
                                        <p:attrNameLst>
                                          <p:attrName>style.visibility</p:attrName>
                                        </p:attrNameLst>
                                      </p:cBhvr>
                                      <p:to>
                                        <p:strVal val="visible"/>
                                      </p:to>
                                    </p:set>
                                    <p:animEffect transition="in" filter="wipe(left)">
                                      <p:cBhvr>
                                        <p:cTn id="32" dur="500"/>
                                        <p:tgtEl>
                                          <p:spTgt spid="24">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4">
                                            <p:txEl>
                                              <p:pRg st="5" end="5"/>
                                            </p:txEl>
                                          </p:spTgt>
                                        </p:tgtEl>
                                        <p:attrNameLst>
                                          <p:attrName>style.visibility</p:attrName>
                                        </p:attrNameLst>
                                      </p:cBhvr>
                                      <p:to>
                                        <p:strVal val="visible"/>
                                      </p:to>
                                    </p:set>
                                    <p:animEffect transition="in" filter="wipe(left)">
                                      <p:cBhvr>
                                        <p:cTn id="37" dur="500"/>
                                        <p:tgtEl>
                                          <p:spTgt spid="2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8105140" cy="844550"/>
          </a:xfrm>
        </p:spPr>
        <p:txBody>
          <a:bodyPr/>
          <a:lstStyle/>
          <a:p>
            <a:r>
              <a:rPr kumimoji="0" lang="en-US" altLang="zh-CN" kern="1200" noProof="0" dirty="0" smtClean="0">
                <a:solidFill>
                  <a:schemeClr val="accent2"/>
                </a:solidFill>
                <a:sym typeface="+mn-ea"/>
              </a:rPr>
              <a:t>6.1 </a:t>
            </a:r>
            <a:r>
              <a:rPr kumimoji="0" lang="zh-CN" altLang="en-US" kern="1200" noProof="0" dirty="0" smtClean="0">
                <a:solidFill>
                  <a:schemeClr val="accent2"/>
                </a:solidFill>
                <a:sym typeface="+mn-ea"/>
              </a:rPr>
              <a:t>线性规划</a:t>
            </a:r>
            <a:r>
              <a:rPr kumimoji="0" lang="zh-CN" altLang="en-US" kern="1200" dirty="0">
                <a:solidFill>
                  <a:schemeClr val="accent2"/>
                </a:solidFill>
                <a:sym typeface="+mn-ea"/>
              </a:rPr>
              <a:t>模型</a:t>
            </a:r>
            <a:endParaRPr kumimoji="0" lang="en-US" altLang="zh-CN" kern="1200" noProof="0" dirty="0" smtClean="0">
              <a:ln>
                <a:noFill/>
              </a:ln>
              <a:solidFill>
                <a:schemeClr val="accent2"/>
              </a:solidFill>
              <a:effectLst/>
              <a:uLnTx/>
              <a:uFillTx/>
              <a:sym typeface="+mn-ea"/>
            </a:endParaRPr>
          </a:p>
        </p:txBody>
      </p:sp>
      <p:sp>
        <p:nvSpPr>
          <p:cNvPr id="3" name="TextBox 2"/>
          <p:cNvSpPr txBox="1"/>
          <p:nvPr/>
        </p:nvSpPr>
        <p:spPr>
          <a:xfrm>
            <a:off x="323528" y="1556792"/>
            <a:ext cx="8568952" cy="535531"/>
          </a:xfrm>
          <a:prstGeom prst="rect">
            <a:avLst/>
          </a:prstGeom>
          <a:noFill/>
        </p:spPr>
        <p:txBody>
          <a:bodyPr wrap="square" rtlCol="0">
            <a:spAutoFit/>
          </a:bodyPr>
          <a:lstStyle/>
          <a:p>
            <a:pPr marL="800100" lvl="1" indent="-342900">
              <a:lnSpc>
                <a:spcPct val="120000"/>
              </a:lnSpc>
              <a:buFont typeface="Wingdings" panose="05000000000000000000" pitchFamily="2" charset="2"/>
              <a:buChar char="Ø"/>
            </a:pPr>
            <a:r>
              <a:rPr lang="zh-CN" altLang="en-US" dirty="0" smtClean="0">
                <a:solidFill>
                  <a:schemeClr val="bg2"/>
                </a:solidFill>
              </a:rPr>
              <a:t>举例</a:t>
            </a:r>
            <a:r>
              <a:rPr lang="en-US" altLang="zh-CN" dirty="0" smtClean="0">
                <a:solidFill>
                  <a:schemeClr val="bg2"/>
                </a:solidFill>
              </a:rPr>
              <a:t>3</a:t>
            </a:r>
            <a:r>
              <a:rPr lang="zh-CN" altLang="en-US" dirty="0" smtClean="0">
                <a:solidFill>
                  <a:schemeClr val="bg2"/>
                </a:solidFill>
              </a:rPr>
              <a:t>：投资组合例子，</a:t>
            </a:r>
            <a:r>
              <a:rPr lang="en-US" altLang="zh-CN" dirty="0" smtClean="0">
                <a:solidFill>
                  <a:schemeClr val="bg2"/>
                </a:solidFill>
              </a:rPr>
              <a:t>p135</a:t>
            </a:r>
            <a:r>
              <a:rPr lang="zh-CN" altLang="en-US" dirty="0" smtClean="0">
                <a:solidFill>
                  <a:schemeClr val="bg2"/>
                </a:solidFill>
              </a:rPr>
              <a:t>例题</a:t>
            </a:r>
            <a:r>
              <a:rPr lang="en-US" altLang="zh-CN" dirty="0" smtClean="0">
                <a:solidFill>
                  <a:schemeClr val="bg2"/>
                </a:solidFill>
              </a:rPr>
              <a:t>6.2</a:t>
            </a:r>
          </a:p>
        </p:txBody>
      </p:sp>
      <p:sp>
        <p:nvSpPr>
          <p:cNvPr id="4" name="矩形 3"/>
          <p:cNvSpPr/>
          <p:nvPr/>
        </p:nvSpPr>
        <p:spPr>
          <a:xfrm>
            <a:off x="467544" y="2012179"/>
            <a:ext cx="8280920" cy="4081117"/>
          </a:xfrm>
          <a:prstGeom prst="rect">
            <a:avLst/>
          </a:prstGeom>
          <a:solidFill>
            <a:schemeClr val="tx1"/>
          </a:solidFill>
        </p:spPr>
        <p:txBody>
          <a:bodyPr wrap="square">
            <a:spAutoFit/>
          </a:bodyPr>
          <a:lstStyle/>
          <a:p>
            <a:pPr marL="342900" indent="-342900">
              <a:lnSpc>
                <a:spcPct val="120000"/>
              </a:lnSpc>
              <a:buFont typeface="Arial" panose="020B0604020202020204" pitchFamily="34" charset="0"/>
              <a:buChar char="•"/>
            </a:pPr>
            <a:r>
              <a:rPr lang="en-US" altLang="zh-CN" b="1" dirty="0" smtClean="0">
                <a:solidFill>
                  <a:srgbClr val="FF0000"/>
                </a:solidFill>
                <a:cs typeface="Times New Roman" panose="02020603050405020304" pitchFamily="18" charset="0"/>
              </a:rPr>
              <a:t>10</a:t>
            </a:r>
            <a:r>
              <a:rPr lang="zh-CN" altLang="en-US" b="1" dirty="0">
                <a:solidFill>
                  <a:srgbClr val="FF0000"/>
                </a:solidFill>
                <a:cs typeface="Times New Roman" panose="02020603050405020304" pitchFamily="18" charset="0"/>
              </a:rPr>
              <a:t>亿元投资</a:t>
            </a:r>
            <a:r>
              <a:rPr lang="en-US" altLang="zh-CN" b="1" dirty="0">
                <a:solidFill>
                  <a:srgbClr val="FF0000"/>
                </a:solidFill>
                <a:cs typeface="Times New Roman" panose="02020603050405020304" pitchFamily="18" charset="0"/>
              </a:rPr>
              <a:t>5</a:t>
            </a:r>
            <a:r>
              <a:rPr lang="zh-CN" altLang="en-US" b="1" dirty="0">
                <a:solidFill>
                  <a:srgbClr val="FF0000"/>
                </a:solidFill>
                <a:cs typeface="Times New Roman" panose="02020603050405020304" pitchFamily="18" charset="0"/>
              </a:rPr>
              <a:t>个项目</a:t>
            </a:r>
            <a:r>
              <a:rPr lang="en-US" altLang="zh-CN" dirty="0">
                <a:solidFill>
                  <a:schemeClr val="bg1"/>
                </a:solidFill>
                <a:cs typeface="Times New Roman" panose="02020603050405020304" pitchFamily="18" charset="0"/>
              </a:rPr>
              <a:t>, </a:t>
            </a:r>
            <a:r>
              <a:rPr lang="zh-CN" altLang="en-US" dirty="0">
                <a:solidFill>
                  <a:schemeClr val="bg1"/>
                </a:solidFill>
                <a:cs typeface="Times New Roman" panose="02020603050405020304" pitchFamily="18" charset="0"/>
              </a:rPr>
              <a:t>其中项目</a:t>
            </a:r>
            <a:r>
              <a:rPr lang="en-US" altLang="zh-CN" dirty="0">
                <a:solidFill>
                  <a:schemeClr val="bg1"/>
                </a:solidFill>
                <a:cs typeface="Times New Roman" panose="02020603050405020304" pitchFamily="18" charset="0"/>
              </a:rPr>
              <a:t>1</a:t>
            </a:r>
            <a:r>
              <a:rPr lang="zh-CN" altLang="en-US" dirty="0">
                <a:solidFill>
                  <a:schemeClr val="bg1"/>
                </a:solidFill>
                <a:cs typeface="Times New Roman" panose="02020603050405020304" pitchFamily="18" charset="0"/>
              </a:rPr>
              <a:t>和项目</a:t>
            </a:r>
            <a:r>
              <a:rPr lang="en-US" altLang="zh-CN" dirty="0">
                <a:solidFill>
                  <a:schemeClr val="bg1"/>
                </a:solidFill>
                <a:cs typeface="Times New Roman" panose="02020603050405020304" pitchFamily="18" charset="0"/>
              </a:rPr>
              <a:t>2</a:t>
            </a:r>
            <a:r>
              <a:rPr lang="zh-CN" altLang="en-US" dirty="0" smtClean="0">
                <a:solidFill>
                  <a:schemeClr val="bg1"/>
                </a:solidFill>
                <a:cs typeface="Times New Roman" panose="02020603050405020304" pitchFamily="18" charset="0"/>
              </a:rPr>
              <a:t>是</a:t>
            </a:r>
            <a:r>
              <a:rPr lang="en-US" altLang="zh-CN" dirty="0">
                <a:solidFill>
                  <a:schemeClr val="bg1"/>
                </a:solidFill>
                <a:cs typeface="Times New Roman" panose="02020603050405020304" pitchFamily="18" charset="0"/>
              </a:rPr>
              <a:t>1</a:t>
            </a:r>
            <a:r>
              <a:rPr lang="zh-CN" altLang="en-US" dirty="0" smtClean="0">
                <a:solidFill>
                  <a:schemeClr val="bg1"/>
                </a:solidFill>
                <a:cs typeface="Times New Roman" panose="02020603050405020304" pitchFamily="18" charset="0"/>
              </a:rPr>
              <a:t>类项目</a:t>
            </a:r>
            <a:r>
              <a:rPr lang="en-US" altLang="zh-CN" dirty="0" smtClean="0">
                <a:solidFill>
                  <a:schemeClr val="bg1"/>
                </a:solidFill>
                <a:cs typeface="Times New Roman" panose="02020603050405020304" pitchFamily="18" charset="0"/>
              </a:rPr>
              <a:t>, </a:t>
            </a:r>
            <a:r>
              <a:rPr lang="zh-CN" altLang="en-US" dirty="0">
                <a:solidFill>
                  <a:schemeClr val="bg1"/>
                </a:solidFill>
                <a:cs typeface="Times New Roman" panose="02020603050405020304" pitchFamily="18" charset="0"/>
              </a:rPr>
              <a:t>项目</a:t>
            </a:r>
            <a:r>
              <a:rPr lang="en-US" altLang="zh-CN" dirty="0">
                <a:solidFill>
                  <a:schemeClr val="bg1"/>
                </a:solidFill>
                <a:cs typeface="Times New Roman" panose="02020603050405020304" pitchFamily="18" charset="0"/>
              </a:rPr>
              <a:t>3</a:t>
            </a:r>
            <a:r>
              <a:rPr lang="zh-CN" altLang="en-US" dirty="0">
                <a:solidFill>
                  <a:schemeClr val="bg1"/>
                </a:solidFill>
                <a:cs typeface="Times New Roman" panose="02020603050405020304" pitchFamily="18" charset="0"/>
              </a:rPr>
              <a:t>和项目</a:t>
            </a:r>
            <a:r>
              <a:rPr lang="en-US" altLang="zh-CN" dirty="0">
                <a:solidFill>
                  <a:schemeClr val="bg1"/>
                </a:solidFill>
                <a:cs typeface="Times New Roman" panose="02020603050405020304" pitchFamily="18" charset="0"/>
              </a:rPr>
              <a:t>4</a:t>
            </a:r>
            <a:r>
              <a:rPr lang="zh-CN" altLang="en-US" dirty="0" smtClean="0">
                <a:solidFill>
                  <a:schemeClr val="bg1"/>
                </a:solidFill>
                <a:cs typeface="Times New Roman" panose="02020603050405020304" pitchFamily="18" charset="0"/>
              </a:rPr>
              <a:t>是</a:t>
            </a:r>
            <a:r>
              <a:rPr lang="en-US" altLang="zh-CN" dirty="0">
                <a:solidFill>
                  <a:schemeClr val="bg1"/>
                </a:solidFill>
                <a:cs typeface="Times New Roman" panose="02020603050405020304" pitchFamily="18" charset="0"/>
              </a:rPr>
              <a:t>2</a:t>
            </a:r>
            <a:r>
              <a:rPr lang="zh-CN" altLang="en-US" dirty="0" smtClean="0">
                <a:solidFill>
                  <a:schemeClr val="bg1"/>
                </a:solidFill>
                <a:cs typeface="Times New Roman" panose="02020603050405020304" pitchFamily="18" charset="0"/>
              </a:rPr>
              <a:t>类项目</a:t>
            </a:r>
            <a:r>
              <a:rPr lang="en-US" altLang="zh-CN" dirty="0" smtClean="0">
                <a:solidFill>
                  <a:schemeClr val="bg1"/>
                </a:solidFill>
                <a:cs typeface="Times New Roman" panose="02020603050405020304" pitchFamily="18" charset="0"/>
              </a:rPr>
              <a:t>, </a:t>
            </a:r>
            <a:r>
              <a:rPr lang="zh-CN" altLang="en-US" dirty="0">
                <a:solidFill>
                  <a:schemeClr val="bg1"/>
                </a:solidFill>
                <a:cs typeface="Times New Roman" panose="02020603050405020304" pitchFamily="18" charset="0"/>
              </a:rPr>
              <a:t>项目</a:t>
            </a:r>
            <a:r>
              <a:rPr lang="en-US" altLang="zh-CN" dirty="0">
                <a:solidFill>
                  <a:schemeClr val="bg1"/>
                </a:solidFill>
                <a:cs typeface="Times New Roman" panose="02020603050405020304" pitchFamily="18" charset="0"/>
              </a:rPr>
              <a:t>5</a:t>
            </a:r>
            <a:r>
              <a:rPr lang="zh-CN" altLang="en-US" dirty="0" smtClean="0">
                <a:solidFill>
                  <a:schemeClr val="bg1"/>
                </a:solidFill>
                <a:cs typeface="Times New Roman" panose="02020603050405020304" pitchFamily="18" charset="0"/>
              </a:rPr>
              <a:t>是</a:t>
            </a:r>
            <a:r>
              <a:rPr lang="en-US" altLang="zh-CN" dirty="0" smtClean="0">
                <a:solidFill>
                  <a:schemeClr val="bg1"/>
                </a:solidFill>
                <a:cs typeface="Times New Roman" panose="02020603050405020304" pitchFamily="18" charset="0"/>
              </a:rPr>
              <a:t>3</a:t>
            </a:r>
            <a:r>
              <a:rPr lang="zh-CN" altLang="en-US" dirty="0" smtClean="0">
                <a:solidFill>
                  <a:schemeClr val="bg1"/>
                </a:solidFill>
                <a:cs typeface="Times New Roman" panose="02020603050405020304" pitchFamily="18" charset="0"/>
              </a:rPr>
              <a:t>类</a:t>
            </a:r>
            <a:r>
              <a:rPr lang="zh-CN" altLang="en-US" dirty="0">
                <a:solidFill>
                  <a:schemeClr val="bg1"/>
                </a:solidFill>
                <a:cs typeface="Times New Roman" panose="02020603050405020304" pitchFamily="18" charset="0"/>
              </a:rPr>
              <a:t>项目</a:t>
            </a:r>
            <a:r>
              <a:rPr lang="en-US" altLang="zh-CN" dirty="0" smtClean="0">
                <a:solidFill>
                  <a:schemeClr val="bg1"/>
                </a:solidFill>
                <a:cs typeface="Times New Roman" panose="02020603050405020304" pitchFamily="18" charset="0"/>
              </a:rPr>
              <a:t>. </a:t>
            </a:r>
            <a:r>
              <a:rPr lang="zh-CN" altLang="en-US" dirty="0">
                <a:solidFill>
                  <a:schemeClr val="bg1"/>
                </a:solidFill>
                <a:cs typeface="Times New Roman" panose="02020603050405020304" pitchFamily="18" charset="0"/>
              </a:rPr>
              <a:t>预测它们的年收益率</a:t>
            </a:r>
            <a:r>
              <a:rPr lang="en-US" altLang="zh-CN" dirty="0">
                <a:solidFill>
                  <a:schemeClr val="bg1"/>
                </a:solidFill>
                <a:cs typeface="Times New Roman" panose="02020603050405020304" pitchFamily="18" charset="0"/>
              </a:rPr>
              <a:t>(%)</a:t>
            </a:r>
            <a:r>
              <a:rPr lang="zh-CN" altLang="en-US" dirty="0">
                <a:solidFill>
                  <a:schemeClr val="bg1"/>
                </a:solidFill>
                <a:cs typeface="Times New Roman" panose="02020603050405020304" pitchFamily="18" charset="0"/>
              </a:rPr>
              <a:t>分别为</a:t>
            </a:r>
            <a:r>
              <a:rPr lang="en-US" altLang="zh-CN" dirty="0">
                <a:solidFill>
                  <a:schemeClr val="bg1"/>
                </a:solidFill>
                <a:cs typeface="Times New Roman" panose="02020603050405020304" pitchFamily="18" charset="0"/>
              </a:rPr>
              <a:t>8.1, 10.5, 6.4, 7.5</a:t>
            </a:r>
            <a:r>
              <a:rPr lang="zh-CN" altLang="en-US" dirty="0">
                <a:solidFill>
                  <a:schemeClr val="bg1"/>
                </a:solidFill>
                <a:cs typeface="Times New Roman" panose="02020603050405020304" pitchFamily="18" charset="0"/>
              </a:rPr>
              <a:t>和</a:t>
            </a:r>
            <a:r>
              <a:rPr lang="en-US" altLang="zh-CN" dirty="0">
                <a:solidFill>
                  <a:schemeClr val="bg1"/>
                </a:solidFill>
                <a:cs typeface="Times New Roman" panose="02020603050405020304" pitchFamily="18" charset="0"/>
              </a:rPr>
              <a:t>5.0. </a:t>
            </a:r>
          </a:p>
          <a:p>
            <a:pPr marL="342900" indent="-342900">
              <a:lnSpc>
                <a:spcPct val="120000"/>
              </a:lnSpc>
              <a:buFont typeface="Arial" panose="020B0604020202020204" pitchFamily="34" charset="0"/>
              <a:buChar char="•"/>
            </a:pPr>
            <a:r>
              <a:rPr lang="zh-CN" altLang="en-US" dirty="0">
                <a:solidFill>
                  <a:schemeClr val="bg1"/>
                </a:solidFill>
                <a:cs typeface="Times New Roman" panose="02020603050405020304" pitchFamily="18" charset="0"/>
              </a:rPr>
              <a:t>基于风险的考虑</a:t>
            </a:r>
            <a:r>
              <a:rPr lang="en-US" altLang="zh-CN" dirty="0">
                <a:solidFill>
                  <a:schemeClr val="bg1"/>
                </a:solidFill>
                <a:cs typeface="Times New Roman" panose="02020603050405020304" pitchFamily="18" charset="0"/>
              </a:rPr>
              <a:t>, </a:t>
            </a:r>
            <a:r>
              <a:rPr lang="zh-CN" altLang="en-US" dirty="0">
                <a:solidFill>
                  <a:schemeClr val="bg1"/>
                </a:solidFill>
                <a:cs typeface="Times New Roman" panose="02020603050405020304" pitchFamily="18" charset="0"/>
              </a:rPr>
              <a:t>要求投资组合满足下述条件</a:t>
            </a:r>
            <a:r>
              <a:rPr lang="en-US" altLang="zh-CN" dirty="0">
                <a:solidFill>
                  <a:schemeClr val="bg1"/>
                </a:solidFill>
                <a:cs typeface="Times New Roman" panose="02020603050405020304" pitchFamily="18" charset="0"/>
              </a:rPr>
              <a:t>:</a:t>
            </a:r>
            <a:endParaRPr lang="zh-CN" altLang="en-US" dirty="0">
              <a:solidFill>
                <a:schemeClr val="bg1"/>
              </a:solidFill>
              <a:cs typeface="Times New Roman" panose="02020603050405020304" pitchFamily="18" charset="0"/>
            </a:endParaRPr>
          </a:p>
          <a:p>
            <a:pPr lvl="1">
              <a:lnSpc>
                <a:spcPct val="120000"/>
              </a:lnSpc>
            </a:pPr>
            <a:r>
              <a:rPr lang="en-US" altLang="zh-CN" dirty="0">
                <a:solidFill>
                  <a:schemeClr val="bg1"/>
                </a:solidFill>
                <a:cs typeface="Times New Roman" panose="02020603050405020304" pitchFamily="18" charset="0"/>
              </a:rPr>
              <a:t>(1) </a:t>
            </a:r>
            <a:r>
              <a:rPr lang="zh-CN" altLang="en-US" dirty="0">
                <a:solidFill>
                  <a:schemeClr val="bg1"/>
                </a:solidFill>
                <a:cs typeface="Times New Roman" panose="02020603050405020304" pitchFamily="18" charset="0"/>
              </a:rPr>
              <a:t>每个项目不超过</a:t>
            </a:r>
            <a:r>
              <a:rPr lang="en-US" altLang="zh-CN" dirty="0">
                <a:solidFill>
                  <a:schemeClr val="bg1"/>
                </a:solidFill>
                <a:cs typeface="Times New Roman" panose="02020603050405020304" pitchFamily="18" charset="0"/>
              </a:rPr>
              <a:t>3</a:t>
            </a:r>
            <a:r>
              <a:rPr lang="zh-CN" altLang="en-US" dirty="0">
                <a:solidFill>
                  <a:schemeClr val="bg1"/>
                </a:solidFill>
                <a:cs typeface="Times New Roman" panose="02020603050405020304" pitchFamily="18" charset="0"/>
              </a:rPr>
              <a:t>亿元</a:t>
            </a:r>
            <a:r>
              <a:rPr lang="en-US" altLang="zh-CN" dirty="0">
                <a:solidFill>
                  <a:schemeClr val="bg1"/>
                </a:solidFill>
                <a:cs typeface="Times New Roman" panose="02020603050405020304" pitchFamily="18" charset="0"/>
              </a:rPr>
              <a:t>.</a:t>
            </a:r>
            <a:endParaRPr lang="zh-CN" altLang="en-US" dirty="0">
              <a:solidFill>
                <a:schemeClr val="bg1"/>
              </a:solidFill>
              <a:cs typeface="Times New Roman" panose="02020603050405020304" pitchFamily="18" charset="0"/>
            </a:endParaRPr>
          </a:p>
          <a:p>
            <a:pPr lvl="1">
              <a:lnSpc>
                <a:spcPct val="120000"/>
              </a:lnSpc>
            </a:pPr>
            <a:r>
              <a:rPr lang="en-US" altLang="zh-CN" dirty="0">
                <a:solidFill>
                  <a:schemeClr val="bg1"/>
                </a:solidFill>
                <a:cs typeface="Times New Roman" panose="02020603050405020304" pitchFamily="18" charset="0"/>
              </a:rPr>
              <a:t>(2) 1</a:t>
            </a:r>
            <a:r>
              <a:rPr lang="zh-CN" altLang="en-US" dirty="0">
                <a:solidFill>
                  <a:schemeClr val="bg1"/>
                </a:solidFill>
                <a:cs typeface="Times New Roman" panose="02020603050405020304" pitchFamily="18" charset="0"/>
              </a:rPr>
              <a:t>类项目</a:t>
            </a:r>
            <a:r>
              <a:rPr lang="zh-CN" altLang="en-US" dirty="0" smtClean="0">
                <a:solidFill>
                  <a:schemeClr val="bg1"/>
                </a:solidFill>
                <a:cs typeface="Times New Roman" panose="02020603050405020304" pitchFamily="18" charset="0"/>
              </a:rPr>
              <a:t>的</a:t>
            </a:r>
            <a:r>
              <a:rPr lang="zh-CN" altLang="en-US" dirty="0">
                <a:solidFill>
                  <a:schemeClr val="bg1"/>
                </a:solidFill>
                <a:cs typeface="Times New Roman" panose="02020603050405020304" pitchFamily="18" charset="0"/>
              </a:rPr>
              <a:t>投资不超过总投资的一半</a:t>
            </a:r>
            <a:r>
              <a:rPr lang="en-US" altLang="zh-CN" dirty="0">
                <a:solidFill>
                  <a:schemeClr val="bg1"/>
                </a:solidFill>
                <a:cs typeface="Times New Roman" panose="02020603050405020304" pitchFamily="18" charset="0"/>
              </a:rPr>
              <a:t>, </a:t>
            </a:r>
            <a:r>
              <a:rPr lang="zh-CN" altLang="en-US" dirty="0">
                <a:solidFill>
                  <a:schemeClr val="bg1"/>
                </a:solidFill>
                <a:cs typeface="Times New Roman" panose="02020603050405020304" pitchFamily="18" charset="0"/>
              </a:rPr>
              <a:t>即</a:t>
            </a:r>
            <a:r>
              <a:rPr lang="en-US" altLang="zh-CN" dirty="0">
                <a:solidFill>
                  <a:schemeClr val="bg1"/>
                </a:solidFill>
                <a:cs typeface="Times New Roman" panose="02020603050405020304" pitchFamily="18" charset="0"/>
              </a:rPr>
              <a:t>5</a:t>
            </a:r>
            <a:r>
              <a:rPr lang="zh-CN" altLang="en-US" dirty="0">
                <a:solidFill>
                  <a:schemeClr val="bg1"/>
                </a:solidFill>
                <a:cs typeface="Times New Roman" panose="02020603050405020304" pitchFamily="18" charset="0"/>
              </a:rPr>
              <a:t>亿元</a:t>
            </a:r>
            <a:r>
              <a:rPr lang="en-US" altLang="zh-CN" dirty="0">
                <a:solidFill>
                  <a:schemeClr val="bg1"/>
                </a:solidFill>
                <a:cs typeface="Times New Roman" panose="02020603050405020304" pitchFamily="18" charset="0"/>
              </a:rPr>
              <a:t>, </a:t>
            </a:r>
            <a:r>
              <a:rPr lang="zh-CN" altLang="en-US" dirty="0">
                <a:solidFill>
                  <a:schemeClr val="bg1"/>
                </a:solidFill>
                <a:cs typeface="Times New Roman" panose="02020603050405020304" pitchFamily="18" charset="0"/>
              </a:rPr>
              <a:t>其中项目</a:t>
            </a:r>
            <a:r>
              <a:rPr lang="en-US" altLang="zh-CN" dirty="0">
                <a:solidFill>
                  <a:schemeClr val="bg1"/>
                </a:solidFill>
                <a:cs typeface="Times New Roman" panose="02020603050405020304" pitchFamily="18" charset="0"/>
              </a:rPr>
              <a:t>2</a:t>
            </a:r>
            <a:r>
              <a:rPr lang="zh-CN" altLang="en-US" dirty="0">
                <a:solidFill>
                  <a:schemeClr val="bg1"/>
                </a:solidFill>
                <a:cs typeface="Times New Roman" panose="02020603050405020304" pitchFamily="18" charset="0"/>
              </a:rPr>
              <a:t>又不</a:t>
            </a:r>
            <a:r>
              <a:rPr lang="zh-CN" altLang="en-US" dirty="0" smtClean="0">
                <a:solidFill>
                  <a:schemeClr val="bg1"/>
                </a:solidFill>
                <a:cs typeface="Times New Roman" panose="02020603050405020304" pitchFamily="18" charset="0"/>
              </a:rPr>
              <a:t>超过</a:t>
            </a:r>
            <a:r>
              <a:rPr lang="en-US" altLang="zh-CN" dirty="0">
                <a:solidFill>
                  <a:schemeClr val="bg1"/>
                </a:solidFill>
                <a:cs typeface="Times New Roman" panose="02020603050405020304" pitchFamily="18" charset="0"/>
              </a:rPr>
              <a:t>1</a:t>
            </a:r>
            <a:r>
              <a:rPr lang="zh-CN" altLang="en-US" dirty="0">
                <a:solidFill>
                  <a:schemeClr val="bg1"/>
                </a:solidFill>
                <a:cs typeface="Times New Roman" panose="02020603050405020304" pitchFamily="18" charset="0"/>
              </a:rPr>
              <a:t>类项目</a:t>
            </a:r>
            <a:r>
              <a:rPr lang="zh-CN" altLang="en-US" dirty="0" smtClean="0">
                <a:solidFill>
                  <a:schemeClr val="bg1"/>
                </a:solidFill>
                <a:cs typeface="Times New Roman" panose="02020603050405020304" pitchFamily="18" charset="0"/>
              </a:rPr>
              <a:t>投资</a:t>
            </a:r>
            <a:r>
              <a:rPr lang="zh-CN" altLang="en-US" dirty="0">
                <a:solidFill>
                  <a:schemeClr val="bg1"/>
                </a:solidFill>
                <a:cs typeface="Times New Roman" panose="02020603050405020304" pitchFamily="18" charset="0"/>
              </a:rPr>
              <a:t>的一半</a:t>
            </a:r>
            <a:r>
              <a:rPr lang="en-US" altLang="zh-CN" dirty="0">
                <a:solidFill>
                  <a:schemeClr val="bg1"/>
                </a:solidFill>
                <a:cs typeface="Times New Roman" panose="02020603050405020304" pitchFamily="18" charset="0"/>
              </a:rPr>
              <a:t>.</a:t>
            </a:r>
            <a:endParaRPr lang="zh-CN" altLang="en-US" dirty="0">
              <a:solidFill>
                <a:schemeClr val="bg1"/>
              </a:solidFill>
              <a:cs typeface="Times New Roman" panose="02020603050405020304" pitchFamily="18" charset="0"/>
            </a:endParaRPr>
          </a:p>
          <a:p>
            <a:pPr lvl="1">
              <a:lnSpc>
                <a:spcPct val="120000"/>
              </a:lnSpc>
            </a:pPr>
            <a:r>
              <a:rPr lang="en-US" altLang="zh-CN" dirty="0">
                <a:solidFill>
                  <a:schemeClr val="bg1"/>
                </a:solidFill>
                <a:cs typeface="Times New Roman" panose="02020603050405020304" pitchFamily="18" charset="0"/>
              </a:rPr>
              <a:t>(3) 3</a:t>
            </a:r>
            <a:r>
              <a:rPr lang="zh-CN" altLang="en-US" dirty="0">
                <a:solidFill>
                  <a:schemeClr val="bg1"/>
                </a:solidFill>
                <a:cs typeface="Times New Roman" panose="02020603050405020304" pitchFamily="18" charset="0"/>
              </a:rPr>
              <a:t>类项目</a:t>
            </a:r>
            <a:r>
              <a:rPr lang="zh-CN" altLang="en-US" dirty="0" smtClean="0">
                <a:solidFill>
                  <a:schemeClr val="bg1"/>
                </a:solidFill>
                <a:cs typeface="Times New Roman" panose="02020603050405020304" pitchFamily="18" charset="0"/>
              </a:rPr>
              <a:t>不少于</a:t>
            </a:r>
            <a:r>
              <a:rPr lang="en-US" altLang="zh-CN" dirty="0" smtClean="0">
                <a:solidFill>
                  <a:schemeClr val="bg1"/>
                </a:solidFill>
                <a:cs typeface="Times New Roman" panose="02020603050405020304" pitchFamily="18" charset="0"/>
              </a:rPr>
              <a:t>2</a:t>
            </a:r>
            <a:r>
              <a:rPr lang="zh-CN" altLang="en-US" dirty="0" smtClean="0">
                <a:solidFill>
                  <a:schemeClr val="bg1"/>
                </a:solidFill>
                <a:cs typeface="Times New Roman" panose="02020603050405020304" pitchFamily="18" charset="0"/>
              </a:rPr>
              <a:t>类</a:t>
            </a:r>
            <a:r>
              <a:rPr lang="zh-CN" altLang="en-US" dirty="0">
                <a:solidFill>
                  <a:schemeClr val="bg1"/>
                </a:solidFill>
                <a:cs typeface="Times New Roman" panose="02020603050405020304" pitchFamily="18" charset="0"/>
              </a:rPr>
              <a:t>项目</a:t>
            </a:r>
            <a:r>
              <a:rPr lang="zh-CN" altLang="en-US" dirty="0" smtClean="0">
                <a:solidFill>
                  <a:schemeClr val="bg1"/>
                </a:solidFill>
                <a:cs typeface="Times New Roman" panose="02020603050405020304" pitchFamily="18" charset="0"/>
              </a:rPr>
              <a:t>投资</a:t>
            </a:r>
            <a:r>
              <a:rPr lang="zh-CN" altLang="en-US" dirty="0">
                <a:solidFill>
                  <a:schemeClr val="bg1"/>
                </a:solidFill>
                <a:cs typeface="Times New Roman" panose="02020603050405020304" pitchFamily="18" charset="0"/>
              </a:rPr>
              <a:t>的</a:t>
            </a:r>
            <a:r>
              <a:rPr lang="en-US" altLang="zh-CN" dirty="0">
                <a:solidFill>
                  <a:schemeClr val="bg1"/>
                </a:solidFill>
                <a:cs typeface="Times New Roman" panose="02020603050405020304" pitchFamily="18" charset="0"/>
              </a:rPr>
              <a:t>40%.</a:t>
            </a:r>
            <a:endParaRPr lang="zh-CN" altLang="en-US" dirty="0">
              <a:solidFill>
                <a:schemeClr val="bg1"/>
              </a:solidFill>
              <a:cs typeface="Times New Roman" panose="02020603050405020304" pitchFamily="18" charset="0"/>
            </a:endParaRPr>
          </a:p>
          <a:p>
            <a:pPr marL="342900" indent="-342900">
              <a:lnSpc>
                <a:spcPct val="120000"/>
              </a:lnSpc>
              <a:buFont typeface="Arial" pitchFamily="34" charset="0"/>
              <a:buChar char="•"/>
            </a:pPr>
            <a:r>
              <a:rPr lang="zh-CN" altLang="en-US" dirty="0">
                <a:solidFill>
                  <a:schemeClr val="bg1"/>
                </a:solidFill>
                <a:cs typeface="Times New Roman" panose="02020603050405020304" pitchFamily="18" charset="0"/>
              </a:rPr>
              <a:t>试确定投资组合中各项目的投资额</a:t>
            </a:r>
            <a:r>
              <a:rPr lang="en-US" altLang="zh-CN" dirty="0">
                <a:solidFill>
                  <a:schemeClr val="bg1"/>
                </a:solidFill>
                <a:cs typeface="Times New Roman" panose="02020603050405020304" pitchFamily="18" charset="0"/>
              </a:rPr>
              <a:t>, </a:t>
            </a:r>
            <a:r>
              <a:rPr lang="zh-CN" altLang="en-US" dirty="0">
                <a:solidFill>
                  <a:schemeClr val="bg1"/>
                </a:solidFill>
                <a:cs typeface="Times New Roman" panose="02020603050405020304" pitchFamily="18" charset="0"/>
              </a:rPr>
              <a:t>使年收益率最大</a:t>
            </a:r>
            <a:r>
              <a:rPr lang="en-US" altLang="zh-CN" dirty="0">
                <a:solidFill>
                  <a:schemeClr val="bg1"/>
                </a:solidFill>
                <a:cs typeface="Times New Roman" panose="02020603050405020304" pitchFamily="18" charset="0"/>
              </a:rPr>
              <a:t>.</a:t>
            </a:r>
            <a:endParaRPr lang="zh-CN" altLang="en-US" dirty="0">
              <a:solidFill>
                <a:schemeClr val="bg1"/>
              </a:solidFill>
              <a:ea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left)">
                                      <p:cBhvr>
                                        <p:cTn id="15" dur="500"/>
                                        <p:tgtEl>
                                          <p:spTgt spid="4">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wipe(left)">
                                      <p:cBhvr>
                                        <p:cTn id="18" dur="500"/>
                                        <p:tgtEl>
                                          <p:spTgt spid="4">
                                            <p:txEl>
                                              <p:pRg st="3" end="3"/>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wipe(left)">
                                      <p:cBhvr>
                                        <p:cTn id="21" dur="500"/>
                                        <p:tgtEl>
                                          <p:spTgt spid="4">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wipe(left)">
                                      <p:cBhvr>
                                        <p:cTn id="26"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8105140" cy="844550"/>
          </a:xfrm>
        </p:spPr>
        <p:txBody>
          <a:bodyPr/>
          <a:lstStyle/>
          <a:p>
            <a:r>
              <a:rPr kumimoji="0" lang="en-US" altLang="zh-CN" kern="1200" noProof="0" dirty="0" smtClean="0">
                <a:solidFill>
                  <a:schemeClr val="accent2"/>
                </a:solidFill>
                <a:sym typeface="+mn-ea"/>
              </a:rPr>
              <a:t>6.1 </a:t>
            </a:r>
            <a:r>
              <a:rPr kumimoji="0" lang="zh-CN" altLang="en-US" kern="1200" noProof="0" dirty="0" smtClean="0">
                <a:solidFill>
                  <a:schemeClr val="accent2"/>
                </a:solidFill>
                <a:sym typeface="+mn-ea"/>
              </a:rPr>
              <a:t>线性规划</a:t>
            </a:r>
            <a:r>
              <a:rPr kumimoji="0" lang="zh-CN" altLang="en-US" kern="1200" dirty="0">
                <a:solidFill>
                  <a:schemeClr val="accent2"/>
                </a:solidFill>
                <a:sym typeface="+mn-ea"/>
              </a:rPr>
              <a:t>模型</a:t>
            </a:r>
            <a:endParaRPr kumimoji="0" lang="en-US" altLang="zh-CN" kern="1200" noProof="0" dirty="0" smtClean="0">
              <a:ln>
                <a:noFill/>
              </a:ln>
              <a:solidFill>
                <a:schemeClr val="accent2"/>
              </a:solidFill>
              <a:effectLst/>
              <a:uLnTx/>
              <a:uFillTx/>
              <a:sym typeface="+mn-ea"/>
            </a:endParaRPr>
          </a:p>
        </p:txBody>
      </p:sp>
      <p:sp>
        <p:nvSpPr>
          <p:cNvPr id="5" name="副标题 2"/>
          <p:cNvSpPr>
            <a:spLocks noGrp="1"/>
          </p:cNvSpPr>
          <p:nvPr/>
        </p:nvSpPr>
        <p:spPr>
          <a:xfrm>
            <a:off x="668229" y="1700808"/>
            <a:ext cx="7775575" cy="4535487"/>
          </a:xfrm>
          <a:prstGeom prst="rect">
            <a:avLst/>
          </a:prstGeom>
          <a:noFill/>
          <a:ln w="9525">
            <a:noFill/>
          </a:ln>
        </p:spPr>
        <p:txBody>
          <a:bodyPr vert="horz" wrap="square" lIns="91440" tIns="45720" rIns="91440" bIns="45720" anchor="t"/>
          <a:lstStyle>
            <a:lvl1pPr marL="0" indent="0" algn="ctr" rtl="0" eaLnBrk="0" fontAlgn="base" hangingPunct="0">
              <a:spcBef>
                <a:spcPct val="20000"/>
              </a:spcBef>
              <a:spcAft>
                <a:spcPct val="0"/>
              </a:spcAft>
              <a:buFont typeface="Arial" panose="020B0604020202020204" pitchFamily="34"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buClrTx/>
              <a:buSzTx/>
            </a:pPr>
            <a:r>
              <a:rPr lang="zh-CN" altLang="en-US" sz="2400" b="1" kern="1200" dirty="0">
                <a:solidFill>
                  <a:schemeClr val="bg1"/>
                </a:solidFill>
                <a:latin typeface="Times New Roman" panose="02020603050405020304" pitchFamily="18" charset="0"/>
                <a:ea typeface="+mn-ea"/>
                <a:cs typeface="Times New Roman" panose="02020603050405020304" pitchFamily="18" charset="0"/>
              </a:rPr>
              <a:t>设项目</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i</a:t>
            </a:r>
            <a:r>
              <a:rPr lang="zh-CN" altLang="en-US" sz="2400" b="1" kern="1200" dirty="0">
                <a:solidFill>
                  <a:schemeClr val="bg1"/>
                </a:solidFill>
                <a:latin typeface="Times New Roman" panose="02020603050405020304" pitchFamily="18" charset="0"/>
                <a:ea typeface="+mn-ea"/>
                <a:cs typeface="Times New Roman" panose="02020603050405020304" pitchFamily="18" charset="0"/>
              </a:rPr>
              <a:t>的投资额为</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i="1" kern="1200" baseline="-25000" dirty="0">
                <a:solidFill>
                  <a:schemeClr val="bg1"/>
                </a:solidFill>
                <a:latin typeface="Times New Roman" panose="02020603050405020304" pitchFamily="18" charset="0"/>
                <a:ea typeface="+mn-ea"/>
                <a:cs typeface="Times New Roman" panose="02020603050405020304" pitchFamily="18" charset="0"/>
              </a:rPr>
              <a:t>i</a:t>
            </a:r>
            <a:r>
              <a:rPr lang="zh-CN" altLang="en-US" sz="2400" b="1" kern="1200" dirty="0">
                <a:solidFill>
                  <a:schemeClr val="bg1"/>
                </a:solidFill>
                <a:latin typeface="Times New Roman" panose="02020603050405020304" pitchFamily="18" charset="0"/>
                <a:ea typeface="+mn-ea"/>
                <a:cs typeface="Times New Roman" panose="02020603050405020304" pitchFamily="18" charset="0"/>
              </a:rPr>
              <a:t>亿元</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i</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=1,2,3,4,5. </a:t>
            </a:r>
            <a:endParaRPr lang="zh-CN" altLang="en-US" sz="2400" b="1" kern="1200" dirty="0">
              <a:solidFill>
                <a:schemeClr val="bg1"/>
              </a:solidFill>
              <a:latin typeface="Times New Roman" panose="02020603050405020304" pitchFamily="18" charset="0"/>
              <a:ea typeface="+mn-ea"/>
              <a:cs typeface="Times New Roman" panose="02020603050405020304" pitchFamily="18" charset="0"/>
            </a:endParaRPr>
          </a:p>
          <a:p>
            <a:pPr algn="l">
              <a:buClrTx/>
              <a:buSzTx/>
            </a:pP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max </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z</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=8.1</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1</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+10.5</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2</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+6.4</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3</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+7.5</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4</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+5.0</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5</a:t>
            </a:r>
            <a:endParaRPr lang="zh-CN" altLang="en-US" sz="2400" b="1" kern="1200" dirty="0">
              <a:solidFill>
                <a:schemeClr val="bg1"/>
              </a:solidFill>
              <a:latin typeface="Times New Roman" panose="02020603050405020304" pitchFamily="18" charset="0"/>
              <a:ea typeface="+mn-ea"/>
              <a:cs typeface="Times New Roman" panose="02020603050405020304" pitchFamily="18" charset="0"/>
            </a:endParaRPr>
          </a:p>
          <a:p>
            <a:pPr algn="l">
              <a:buClrTx/>
              <a:buSzTx/>
            </a:pP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s.t. </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 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1</a:t>
            </a:r>
            <a:r>
              <a:rPr lang="en-US" altLang="zh-CN" sz="2400" b="1" kern="1200" dirty="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3,     </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2</a:t>
            </a:r>
            <a:r>
              <a:rPr lang="en-US" altLang="zh-CN" sz="2400" b="1" kern="1200" dirty="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3</a:t>
            </a:r>
            <a:endParaRPr lang="zh-CN" altLang="en-US" sz="2400" b="1" kern="1200" dirty="0">
              <a:solidFill>
                <a:schemeClr val="bg1"/>
              </a:solidFill>
              <a:latin typeface="Times New Roman" panose="02020603050405020304" pitchFamily="18" charset="0"/>
              <a:ea typeface="+mn-ea"/>
              <a:cs typeface="Times New Roman" panose="02020603050405020304" pitchFamily="18" charset="0"/>
            </a:endParaRPr>
          </a:p>
          <a:p>
            <a:pPr algn="l">
              <a:buClrTx/>
              <a:buSzTx/>
            </a:pP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3</a:t>
            </a:r>
            <a:r>
              <a:rPr lang="en-US" altLang="zh-CN" sz="2400" b="1" kern="1200" dirty="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3,     </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4</a:t>
            </a:r>
            <a:r>
              <a:rPr lang="en-US" altLang="zh-CN" sz="2400" b="1" kern="1200" dirty="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3</a:t>
            </a:r>
            <a:endParaRPr lang="zh-CN" altLang="en-US" sz="2400" b="1" kern="1200" dirty="0">
              <a:solidFill>
                <a:schemeClr val="bg1"/>
              </a:solidFill>
              <a:latin typeface="Times New Roman" panose="02020603050405020304" pitchFamily="18" charset="0"/>
              <a:ea typeface="+mn-ea"/>
              <a:cs typeface="Times New Roman" panose="02020603050405020304" pitchFamily="18" charset="0"/>
            </a:endParaRPr>
          </a:p>
          <a:p>
            <a:pPr algn="l">
              <a:buClrTx/>
              <a:buSzTx/>
            </a:pP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5</a:t>
            </a:r>
            <a:r>
              <a:rPr lang="en-US" altLang="zh-CN" sz="2400" b="1" kern="1200" dirty="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3</a:t>
            </a:r>
            <a:endParaRPr lang="zh-CN" altLang="en-US" sz="2400" b="1" kern="1200" dirty="0">
              <a:solidFill>
                <a:schemeClr val="bg1"/>
              </a:solidFill>
              <a:latin typeface="Times New Roman" panose="02020603050405020304" pitchFamily="18" charset="0"/>
              <a:ea typeface="+mn-ea"/>
              <a:cs typeface="Times New Roman" panose="02020603050405020304" pitchFamily="18" charset="0"/>
            </a:endParaRPr>
          </a:p>
          <a:p>
            <a:pPr algn="l">
              <a:buClrTx/>
              <a:buSzTx/>
            </a:pP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1</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2</a:t>
            </a:r>
            <a:r>
              <a:rPr lang="en-US" altLang="zh-CN" sz="2400" b="1" kern="1200" dirty="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5</a:t>
            </a:r>
            <a:endParaRPr lang="zh-CN" altLang="en-US" sz="2400" b="1" kern="1200" dirty="0">
              <a:solidFill>
                <a:schemeClr val="bg1"/>
              </a:solidFill>
              <a:latin typeface="Times New Roman" panose="02020603050405020304" pitchFamily="18" charset="0"/>
              <a:ea typeface="+mn-ea"/>
              <a:cs typeface="Times New Roman" panose="02020603050405020304" pitchFamily="18" charset="0"/>
            </a:endParaRPr>
          </a:p>
          <a:p>
            <a:pPr algn="l">
              <a:buClrTx/>
              <a:buSzTx/>
            </a:pP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2</a:t>
            </a:r>
            <a:r>
              <a:rPr lang="en-US" altLang="zh-CN" sz="2400" b="1" kern="1200" dirty="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0.5(</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1</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2</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a:t>
            </a:r>
            <a:r>
              <a:rPr lang="zh-CN" altLang="en-US" sz="2400" b="1" kern="1200" dirty="0">
                <a:solidFill>
                  <a:schemeClr val="bg1"/>
                </a:solidFill>
                <a:latin typeface="Times New Roman" panose="02020603050405020304" pitchFamily="18" charset="0"/>
                <a:ea typeface="+mn-ea"/>
                <a:cs typeface="Times New Roman" panose="02020603050405020304" pitchFamily="18" charset="0"/>
              </a:rPr>
              <a:t>即</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1</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2</a:t>
            </a:r>
            <a:r>
              <a:rPr lang="en-US" altLang="zh-CN" sz="2400" b="1" kern="1200" dirty="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0</a:t>
            </a:r>
            <a:endParaRPr lang="zh-CN" altLang="en-US" sz="2400" b="1" kern="1200" dirty="0">
              <a:solidFill>
                <a:schemeClr val="bg1"/>
              </a:solidFill>
              <a:latin typeface="Times New Roman" panose="02020603050405020304" pitchFamily="18" charset="0"/>
              <a:ea typeface="+mn-ea"/>
              <a:cs typeface="Times New Roman" panose="02020603050405020304" pitchFamily="18" charset="0"/>
            </a:endParaRPr>
          </a:p>
          <a:p>
            <a:pPr algn="l">
              <a:buClrTx/>
              <a:buSzTx/>
            </a:pP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5</a:t>
            </a:r>
            <a:r>
              <a:rPr lang="en-US" altLang="zh-CN" sz="2400" b="1" kern="1200" dirty="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0.4(</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3</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4</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a:t>
            </a:r>
            <a:r>
              <a:rPr lang="zh-CN" altLang="en-US" sz="2400" b="1" kern="1200" dirty="0">
                <a:solidFill>
                  <a:schemeClr val="bg1"/>
                </a:solidFill>
                <a:latin typeface="Times New Roman" panose="02020603050405020304" pitchFamily="18" charset="0"/>
                <a:ea typeface="+mn-ea"/>
                <a:cs typeface="Times New Roman" panose="02020603050405020304" pitchFamily="18" charset="0"/>
              </a:rPr>
              <a:t>即</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0.4</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3</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+0.4</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4</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chemeClr val="bg1"/>
                </a:solidFill>
                <a:latin typeface="Times New Roman" panose="02020603050405020304" pitchFamily="18" charset="0"/>
                <a:ea typeface="+mn-ea"/>
                <a:cs typeface="Times New Roman" panose="02020603050405020304" pitchFamily="18" charset="0"/>
              </a:rPr>
              <a:t>5</a:t>
            </a:r>
            <a:r>
              <a:rPr lang="en-US" altLang="zh-CN" sz="2400" b="1" kern="1200" dirty="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0</a:t>
            </a:r>
            <a:endParaRPr lang="zh-CN" altLang="en-US" sz="2400" b="1" kern="1200" dirty="0">
              <a:solidFill>
                <a:schemeClr val="bg1"/>
              </a:solidFill>
              <a:latin typeface="Times New Roman" panose="02020603050405020304" pitchFamily="18" charset="0"/>
              <a:ea typeface="+mn-ea"/>
              <a:cs typeface="Times New Roman" panose="02020603050405020304" pitchFamily="18" charset="0"/>
            </a:endParaRPr>
          </a:p>
          <a:p>
            <a:pPr algn="l">
              <a:buClrTx/>
              <a:buSzTx/>
            </a:pP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a:t>
            </a:r>
            <a:r>
              <a:rPr lang="en-US" altLang="zh-CN" sz="2400" b="1" kern="1200" dirty="0">
                <a:solidFill>
                  <a:srgbClr val="FF0000"/>
                </a:solidFill>
                <a:latin typeface="Times New Roman" panose="02020603050405020304" pitchFamily="18" charset="0"/>
                <a:ea typeface="+mn-ea"/>
                <a:cs typeface="Times New Roman" panose="02020603050405020304" pitchFamily="18" charset="0"/>
              </a:rPr>
              <a:t> </a:t>
            </a:r>
            <a:r>
              <a:rPr lang="en-US" altLang="zh-CN" sz="2400" b="1" i="1" kern="1200" dirty="0">
                <a:solidFill>
                  <a:srgbClr val="FF0000"/>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rgbClr val="FF0000"/>
                </a:solidFill>
                <a:latin typeface="Times New Roman" panose="02020603050405020304" pitchFamily="18" charset="0"/>
                <a:ea typeface="+mn-ea"/>
                <a:cs typeface="Times New Roman" panose="02020603050405020304" pitchFamily="18" charset="0"/>
              </a:rPr>
              <a:t>1</a:t>
            </a:r>
            <a:r>
              <a:rPr lang="en-US" altLang="zh-CN" sz="2400" b="1" kern="1200" dirty="0">
                <a:solidFill>
                  <a:srgbClr val="FF0000"/>
                </a:solidFill>
                <a:latin typeface="Times New Roman" panose="02020603050405020304" pitchFamily="18" charset="0"/>
                <a:ea typeface="+mn-ea"/>
                <a:cs typeface="Times New Roman" panose="02020603050405020304" pitchFamily="18" charset="0"/>
              </a:rPr>
              <a:t>+</a:t>
            </a:r>
            <a:r>
              <a:rPr lang="en-US" altLang="zh-CN" sz="2400" b="1" i="1" kern="1200" dirty="0">
                <a:solidFill>
                  <a:srgbClr val="FF0000"/>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rgbClr val="FF0000"/>
                </a:solidFill>
                <a:latin typeface="Times New Roman" panose="02020603050405020304" pitchFamily="18" charset="0"/>
                <a:ea typeface="+mn-ea"/>
                <a:cs typeface="Times New Roman" panose="02020603050405020304" pitchFamily="18" charset="0"/>
              </a:rPr>
              <a:t>2</a:t>
            </a:r>
            <a:r>
              <a:rPr lang="en-US" altLang="zh-CN" sz="2400" b="1" kern="1200" dirty="0">
                <a:solidFill>
                  <a:srgbClr val="FF0000"/>
                </a:solidFill>
                <a:latin typeface="Times New Roman" panose="02020603050405020304" pitchFamily="18" charset="0"/>
                <a:ea typeface="+mn-ea"/>
                <a:cs typeface="Times New Roman" panose="02020603050405020304" pitchFamily="18" charset="0"/>
              </a:rPr>
              <a:t>+</a:t>
            </a:r>
            <a:r>
              <a:rPr lang="en-US" altLang="zh-CN" sz="2400" b="1" i="1" kern="1200" dirty="0">
                <a:solidFill>
                  <a:srgbClr val="FF0000"/>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rgbClr val="FF0000"/>
                </a:solidFill>
                <a:latin typeface="Times New Roman" panose="02020603050405020304" pitchFamily="18" charset="0"/>
                <a:ea typeface="+mn-ea"/>
                <a:cs typeface="Times New Roman" panose="02020603050405020304" pitchFamily="18" charset="0"/>
              </a:rPr>
              <a:t>3</a:t>
            </a:r>
            <a:r>
              <a:rPr lang="en-US" altLang="zh-CN" sz="2400" b="1" kern="1200" dirty="0">
                <a:solidFill>
                  <a:srgbClr val="FF0000"/>
                </a:solidFill>
                <a:latin typeface="Times New Roman" panose="02020603050405020304" pitchFamily="18" charset="0"/>
                <a:ea typeface="+mn-ea"/>
                <a:cs typeface="Times New Roman" panose="02020603050405020304" pitchFamily="18" charset="0"/>
              </a:rPr>
              <a:t>+</a:t>
            </a:r>
            <a:r>
              <a:rPr lang="en-US" altLang="zh-CN" sz="2400" b="1" i="1" kern="1200" dirty="0">
                <a:solidFill>
                  <a:srgbClr val="FF0000"/>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rgbClr val="FF0000"/>
                </a:solidFill>
                <a:latin typeface="Times New Roman" panose="02020603050405020304" pitchFamily="18" charset="0"/>
                <a:ea typeface="+mn-ea"/>
                <a:cs typeface="Times New Roman" panose="02020603050405020304" pitchFamily="18" charset="0"/>
              </a:rPr>
              <a:t>4</a:t>
            </a:r>
            <a:r>
              <a:rPr lang="en-US" altLang="zh-CN" sz="2400" b="1" kern="1200" dirty="0">
                <a:solidFill>
                  <a:srgbClr val="FF0000"/>
                </a:solidFill>
                <a:latin typeface="Times New Roman" panose="02020603050405020304" pitchFamily="18" charset="0"/>
                <a:ea typeface="+mn-ea"/>
                <a:cs typeface="Times New Roman" panose="02020603050405020304" pitchFamily="18" charset="0"/>
              </a:rPr>
              <a:t>+ </a:t>
            </a:r>
            <a:r>
              <a:rPr lang="en-US" altLang="zh-CN" sz="2400" b="1" i="1" kern="1200" dirty="0">
                <a:solidFill>
                  <a:srgbClr val="FF0000"/>
                </a:solidFill>
                <a:latin typeface="Times New Roman" panose="02020603050405020304" pitchFamily="18" charset="0"/>
                <a:ea typeface="+mn-ea"/>
                <a:cs typeface="Times New Roman" panose="02020603050405020304" pitchFamily="18" charset="0"/>
              </a:rPr>
              <a:t>x</a:t>
            </a:r>
            <a:r>
              <a:rPr lang="en-US" altLang="zh-CN" sz="2400" b="1" kern="1200" baseline="-25000" dirty="0">
                <a:solidFill>
                  <a:srgbClr val="FF0000"/>
                </a:solidFill>
                <a:latin typeface="Times New Roman" panose="02020603050405020304" pitchFamily="18" charset="0"/>
                <a:ea typeface="+mn-ea"/>
                <a:cs typeface="Times New Roman" panose="02020603050405020304" pitchFamily="18" charset="0"/>
              </a:rPr>
              <a:t>5</a:t>
            </a:r>
            <a:r>
              <a:rPr lang="en-US" altLang="zh-CN" sz="2400" b="1" kern="1200" dirty="0">
                <a:solidFill>
                  <a:srgbClr val="FF0000"/>
                </a:solidFill>
                <a:latin typeface="Times New Roman" panose="02020603050405020304" pitchFamily="18" charset="0"/>
                <a:ea typeface="+mn-ea"/>
                <a:cs typeface="Times New Roman" panose="02020603050405020304" pitchFamily="18" charset="0"/>
              </a:rPr>
              <a:t>=10</a:t>
            </a:r>
            <a:endParaRPr lang="zh-CN" altLang="en-US" sz="2400" b="1" kern="1200" dirty="0">
              <a:solidFill>
                <a:srgbClr val="FF0000"/>
              </a:solidFill>
              <a:latin typeface="Times New Roman" panose="02020603050405020304" pitchFamily="18" charset="0"/>
              <a:ea typeface="+mn-ea"/>
              <a:cs typeface="Times New Roman" panose="02020603050405020304" pitchFamily="18" charset="0"/>
            </a:endParaRPr>
          </a:p>
          <a:p>
            <a:pPr algn="l">
              <a:buClrTx/>
              <a:buSzTx/>
            </a:pP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x</a:t>
            </a:r>
            <a:r>
              <a:rPr lang="en-US" altLang="zh-CN" sz="2400" b="1" i="1" kern="1200" baseline="-25000" dirty="0">
                <a:solidFill>
                  <a:schemeClr val="bg1"/>
                </a:solidFill>
                <a:latin typeface="Times New Roman" panose="02020603050405020304" pitchFamily="18" charset="0"/>
                <a:ea typeface="+mn-ea"/>
                <a:cs typeface="Times New Roman" panose="02020603050405020304" pitchFamily="18" charset="0"/>
              </a:rPr>
              <a:t>i</a:t>
            </a:r>
            <a:r>
              <a:rPr lang="en-US" altLang="zh-CN" sz="2400" b="1" kern="1200" dirty="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0,  </a:t>
            </a:r>
            <a:r>
              <a:rPr lang="en-US" altLang="zh-CN" sz="2400" b="1" i="1" kern="1200" dirty="0">
                <a:solidFill>
                  <a:schemeClr val="bg1"/>
                </a:solidFill>
                <a:latin typeface="Times New Roman" panose="02020603050405020304" pitchFamily="18" charset="0"/>
                <a:ea typeface="+mn-ea"/>
                <a:cs typeface="Times New Roman" panose="02020603050405020304" pitchFamily="18" charset="0"/>
              </a:rPr>
              <a:t>i</a:t>
            </a:r>
            <a:r>
              <a:rPr lang="en-US" altLang="zh-CN" sz="2400" b="1" kern="1200" dirty="0">
                <a:solidFill>
                  <a:schemeClr val="bg1"/>
                </a:solidFill>
                <a:latin typeface="Times New Roman" panose="02020603050405020304" pitchFamily="18" charset="0"/>
                <a:cs typeface="Times New Roman" panose="02020603050405020304" pitchFamily="18" charset="0"/>
              </a:rPr>
              <a:t>=1,2,3,4,5</a:t>
            </a:r>
            <a:endParaRPr lang="zh-CN" altLang="en-US" sz="2400" b="1" kern="1200" dirty="0">
              <a:solidFill>
                <a:schemeClr val="bg1"/>
              </a:solidFill>
              <a:latin typeface="Times New Roman" panose="02020603050405020304" pitchFamily="18" charset="0"/>
              <a:ea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ipe(left)">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wipe(left)">
                                      <p:cBhvr>
                                        <p:cTn id="16" dur="500"/>
                                        <p:tgtEl>
                                          <p:spTgt spid="5">
                                            <p:txEl>
                                              <p:pRg st="3" end="3"/>
                                            </p:txEl>
                                          </p:spTgt>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wipe(left)">
                                      <p:cBhvr>
                                        <p:cTn id="20" dur="500"/>
                                        <p:tgtEl>
                                          <p:spTgt spid="5">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Effect transition="in" filter="wipe(left)">
                                      <p:cBhvr>
                                        <p:cTn id="25" dur="500"/>
                                        <p:tgtEl>
                                          <p:spTgt spid="5">
                                            <p:txEl>
                                              <p:pRg st="5" end="5"/>
                                            </p:txEl>
                                          </p:spTgt>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wipe(left)">
                                      <p:cBhvr>
                                        <p:cTn id="29" dur="500"/>
                                        <p:tgtEl>
                                          <p:spTgt spid="5">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5">
                                            <p:txEl>
                                              <p:pRg st="7" end="7"/>
                                            </p:txEl>
                                          </p:spTgt>
                                        </p:tgtEl>
                                        <p:attrNameLst>
                                          <p:attrName>style.visibility</p:attrName>
                                        </p:attrNameLst>
                                      </p:cBhvr>
                                      <p:to>
                                        <p:strVal val="visible"/>
                                      </p:to>
                                    </p:set>
                                    <p:animEffect transition="in" filter="wipe(left)">
                                      <p:cBhvr>
                                        <p:cTn id="34" dur="500"/>
                                        <p:tgtEl>
                                          <p:spTgt spid="5">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animEffect transition="in" filter="wipe(left)">
                                      <p:cBhvr>
                                        <p:cTn id="39" dur="500"/>
                                        <p:tgtEl>
                                          <p:spTgt spid="5">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5">
                                            <p:txEl>
                                              <p:pRg st="9" end="9"/>
                                            </p:txEl>
                                          </p:spTgt>
                                        </p:tgtEl>
                                        <p:attrNameLst>
                                          <p:attrName>style.visibility</p:attrName>
                                        </p:attrNameLst>
                                      </p:cBhvr>
                                      <p:to>
                                        <p:strVal val="visible"/>
                                      </p:to>
                                    </p:set>
                                    <p:animEffect transition="in" filter="wipe(left)">
                                      <p:cBhvr>
                                        <p:cTn id="44"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8105140" cy="844550"/>
          </a:xfrm>
        </p:spPr>
        <p:txBody>
          <a:bodyPr/>
          <a:lstStyle/>
          <a:p>
            <a:r>
              <a:rPr kumimoji="0" lang="en-US" altLang="zh-CN" kern="1200" noProof="0" dirty="0" smtClean="0">
                <a:solidFill>
                  <a:schemeClr val="accent2"/>
                </a:solidFill>
                <a:sym typeface="+mn-ea"/>
              </a:rPr>
              <a:t>6.1 </a:t>
            </a:r>
            <a:r>
              <a:rPr kumimoji="0" lang="zh-CN" altLang="en-US" kern="1200" noProof="0" dirty="0" smtClean="0">
                <a:solidFill>
                  <a:schemeClr val="accent2"/>
                </a:solidFill>
                <a:sym typeface="+mn-ea"/>
              </a:rPr>
              <a:t>线性规划</a:t>
            </a:r>
            <a:r>
              <a:rPr kumimoji="0" lang="zh-CN" altLang="en-US" kern="1200" dirty="0">
                <a:solidFill>
                  <a:schemeClr val="accent2"/>
                </a:solidFill>
                <a:sym typeface="+mn-ea"/>
              </a:rPr>
              <a:t>模型</a:t>
            </a:r>
            <a:endParaRPr kumimoji="0" lang="en-US" altLang="zh-CN" kern="1200" noProof="0" dirty="0" smtClean="0">
              <a:ln>
                <a:noFill/>
              </a:ln>
              <a:solidFill>
                <a:schemeClr val="accent2"/>
              </a:solidFill>
              <a:effectLst/>
              <a:uLnTx/>
              <a:uFillTx/>
              <a:sym typeface="+mn-ea"/>
            </a:endParaRPr>
          </a:p>
        </p:txBody>
      </p:sp>
      <p:sp>
        <p:nvSpPr>
          <p:cNvPr id="3" name="TextBox 2"/>
          <p:cNvSpPr txBox="1"/>
          <p:nvPr/>
        </p:nvSpPr>
        <p:spPr>
          <a:xfrm>
            <a:off x="323528" y="1556792"/>
            <a:ext cx="8568952" cy="535531"/>
          </a:xfrm>
          <a:prstGeom prst="rect">
            <a:avLst/>
          </a:prstGeom>
          <a:noFill/>
        </p:spPr>
        <p:txBody>
          <a:bodyPr wrap="square" rtlCol="0">
            <a:spAutoFit/>
          </a:bodyPr>
          <a:lstStyle/>
          <a:p>
            <a:pPr marL="800100" lvl="1" indent="-342900">
              <a:lnSpc>
                <a:spcPct val="120000"/>
              </a:lnSpc>
              <a:buFont typeface="Wingdings" panose="05000000000000000000" pitchFamily="2" charset="2"/>
              <a:buChar char="Ø"/>
            </a:pPr>
            <a:r>
              <a:rPr lang="zh-CN" altLang="en-US" dirty="0" smtClean="0">
                <a:solidFill>
                  <a:schemeClr val="bg2"/>
                </a:solidFill>
              </a:rPr>
              <a:t>举例</a:t>
            </a:r>
            <a:r>
              <a:rPr lang="en-US" altLang="zh-CN" dirty="0" smtClean="0">
                <a:solidFill>
                  <a:schemeClr val="bg2"/>
                </a:solidFill>
              </a:rPr>
              <a:t>4</a:t>
            </a:r>
            <a:r>
              <a:rPr lang="zh-CN" altLang="en-US" dirty="0" smtClean="0">
                <a:solidFill>
                  <a:schemeClr val="bg2"/>
                </a:solidFill>
              </a:rPr>
              <a:t>：运输问题，</a:t>
            </a:r>
            <a:r>
              <a:rPr lang="en-US" altLang="zh-CN" dirty="0" smtClean="0">
                <a:solidFill>
                  <a:schemeClr val="bg2"/>
                </a:solidFill>
              </a:rPr>
              <a:t>p135</a:t>
            </a:r>
            <a:r>
              <a:rPr lang="zh-CN" altLang="en-US" dirty="0" smtClean="0">
                <a:solidFill>
                  <a:schemeClr val="bg2"/>
                </a:solidFill>
              </a:rPr>
              <a:t>例题</a:t>
            </a:r>
            <a:r>
              <a:rPr lang="en-US" altLang="zh-CN" dirty="0" smtClean="0">
                <a:solidFill>
                  <a:schemeClr val="bg2"/>
                </a:solidFill>
              </a:rPr>
              <a:t>6.3</a:t>
            </a:r>
          </a:p>
        </p:txBody>
      </p:sp>
      <p:cxnSp>
        <p:nvCxnSpPr>
          <p:cNvPr id="5" name="AutoShape 6"/>
          <p:cNvCxnSpPr/>
          <p:nvPr/>
        </p:nvCxnSpPr>
        <p:spPr>
          <a:xfrm>
            <a:off x="750093" y="2337951"/>
            <a:ext cx="7643813" cy="1588"/>
          </a:xfrm>
          <a:prstGeom prst="straightConnector1">
            <a:avLst/>
          </a:prstGeom>
          <a:ln w="9525" cap="flat" cmpd="sng">
            <a:solidFill>
              <a:srgbClr val="000000"/>
            </a:solidFill>
            <a:prstDash val="solid"/>
            <a:headEnd type="none" w="med" len="med"/>
            <a:tailEnd type="none" w="med" len="med"/>
          </a:ln>
        </p:spPr>
      </p:cxnSp>
      <p:cxnSp>
        <p:nvCxnSpPr>
          <p:cNvPr id="6" name="AutoShape 10"/>
          <p:cNvCxnSpPr/>
          <p:nvPr/>
        </p:nvCxnSpPr>
        <p:spPr>
          <a:xfrm rot="5400000">
            <a:off x="1341433" y="3127641"/>
            <a:ext cx="1549494" cy="17548"/>
          </a:xfrm>
          <a:prstGeom prst="straightConnector1">
            <a:avLst/>
          </a:prstGeom>
          <a:ln w="9525" cap="flat" cmpd="sng">
            <a:solidFill>
              <a:srgbClr val="000000"/>
            </a:solidFill>
            <a:prstDash val="solid"/>
            <a:headEnd type="none" w="med" len="med"/>
            <a:tailEnd type="none" w="med" len="med"/>
          </a:ln>
        </p:spPr>
      </p:cxnSp>
      <p:cxnSp>
        <p:nvCxnSpPr>
          <p:cNvPr id="7" name="AutoShape 6"/>
          <p:cNvCxnSpPr/>
          <p:nvPr/>
        </p:nvCxnSpPr>
        <p:spPr>
          <a:xfrm>
            <a:off x="750093" y="2766576"/>
            <a:ext cx="7643813" cy="1588"/>
          </a:xfrm>
          <a:prstGeom prst="straightConnector1">
            <a:avLst/>
          </a:prstGeom>
          <a:ln w="9525" cap="flat" cmpd="sng">
            <a:solidFill>
              <a:srgbClr val="000000"/>
            </a:solidFill>
            <a:prstDash val="solid"/>
            <a:headEnd type="none" w="med" len="med"/>
            <a:tailEnd type="none" w="med" len="med"/>
          </a:ln>
        </p:spPr>
      </p:cxnSp>
      <p:cxnSp>
        <p:nvCxnSpPr>
          <p:cNvPr id="8" name="AutoShape 6"/>
          <p:cNvCxnSpPr/>
          <p:nvPr/>
        </p:nvCxnSpPr>
        <p:spPr>
          <a:xfrm>
            <a:off x="750093" y="3480951"/>
            <a:ext cx="7643813" cy="1588"/>
          </a:xfrm>
          <a:prstGeom prst="straightConnector1">
            <a:avLst/>
          </a:prstGeom>
          <a:ln w="9525" cap="flat" cmpd="sng">
            <a:solidFill>
              <a:srgbClr val="000000"/>
            </a:solidFill>
            <a:prstDash val="solid"/>
            <a:headEnd type="none" w="med" len="med"/>
            <a:tailEnd type="none" w="med" len="med"/>
          </a:ln>
        </p:spPr>
      </p:cxnSp>
      <p:cxnSp>
        <p:nvCxnSpPr>
          <p:cNvPr id="9" name="AutoShape 6"/>
          <p:cNvCxnSpPr/>
          <p:nvPr/>
        </p:nvCxnSpPr>
        <p:spPr>
          <a:xfrm>
            <a:off x="750093" y="3909576"/>
            <a:ext cx="7643813" cy="1588"/>
          </a:xfrm>
          <a:prstGeom prst="straightConnector1">
            <a:avLst/>
          </a:prstGeom>
          <a:ln w="9525" cap="flat" cmpd="sng">
            <a:solidFill>
              <a:srgbClr val="000000"/>
            </a:solidFill>
            <a:prstDash val="solid"/>
            <a:headEnd type="none" w="med" len="med"/>
            <a:tailEnd type="none" w="med" len="med"/>
          </a:ln>
        </p:spPr>
      </p:cxnSp>
      <p:cxnSp>
        <p:nvCxnSpPr>
          <p:cNvPr id="10" name="AutoShape 10"/>
          <p:cNvCxnSpPr/>
          <p:nvPr/>
        </p:nvCxnSpPr>
        <p:spPr>
          <a:xfrm rot="5400000">
            <a:off x="6395947" y="3105511"/>
            <a:ext cx="1549494" cy="17548"/>
          </a:xfrm>
          <a:prstGeom prst="straightConnector1">
            <a:avLst/>
          </a:prstGeom>
          <a:ln w="9525" cap="flat" cmpd="sng">
            <a:solidFill>
              <a:srgbClr val="000000"/>
            </a:solidFill>
            <a:prstDash val="solid"/>
            <a:headEnd type="none" w="med" len="med"/>
            <a:tailEnd type="none" w="med" len="med"/>
          </a:ln>
        </p:spPr>
      </p:cxnSp>
      <p:sp>
        <p:nvSpPr>
          <p:cNvPr id="11" name="Text Box 5"/>
          <p:cNvSpPr txBox="1"/>
          <p:nvPr/>
        </p:nvSpPr>
        <p:spPr>
          <a:xfrm>
            <a:off x="750093" y="2342855"/>
            <a:ext cx="7643813" cy="1643062"/>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CN" sz="2400" dirty="0">
                <a:solidFill>
                  <a:schemeClr val="bg1"/>
                </a:solidFill>
                <a:latin typeface="Times New Roman" panose="02020603050405020304" pitchFamily="18" charset="0"/>
              </a:rPr>
              <a:t>            </a:t>
            </a:r>
            <a:r>
              <a:rPr lang="en-US" altLang="zh-CN" sz="2400" b="1" dirty="0">
                <a:solidFill>
                  <a:schemeClr val="bg1"/>
                </a:solidFill>
                <a:latin typeface="Times New Roman" panose="02020603050405020304" pitchFamily="18" charset="0"/>
              </a:rPr>
              <a:t>       </a:t>
            </a:r>
            <a:r>
              <a:rPr lang="zh-CN" altLang="en-US" sz="2400" b="1" dirty="0">
                <a:solidFill>
                  <a:schemeClr val="bg1"/>
                </a:solidFill>
                <a:latin typeface="Times New Roman" panose="02020603050405020304" pitchFamily="18" charset="0"/>
              </a:rPr>
              <a:t>分销中心</a:t>
            </a:r>
            <a:r>
              <a:rPr lang="en-US" altLang="zh-CN" sz="2400" b="1" dirty="0">
                <a:solidFill>
                  <a:schemeClr val="bg1"/>
                </a:solidFill>
                <a:latin typeface="Times New Roman" panose="02020603050405020304" pitchFamily="18" charset="0"/>
              </a:rPr>
              <a:t>1   </a:t>
            </a:r>
            <a:r>
              <a:rPr lang="zh-CN" altLang="en-US" sz="2400" b="1" dirty="0">
                <a:solidFill>
                  <a:schemeClr val="bg1"/>
                </a:solidFill>
                <a:latin typeface="Times New Roman" panose="02020603050405020304" pitchFamily="18" charset="0"/>
              </a:rPr>
              <a:t>分销中心</a:t>
            </a:r>
            <a:r>
              <a:rPr lang="en-US" altLang="zh-CN" sz="2400" b="1" dirty="0">
                <a:solidFill>
                  <a:schemeClr val="bg1"/>
                </a:solidFill>
                <a:latin typeface="Times New Roman" panose="02020603050405020304" pitchFamily="18" charset="0"/>
              </a:rPr>
              <a:t>2    </a:t>
            </a:r>
            <a:r>
              <a:rPr lang="zh-CN" altLang="en-US" sz="2400" b="1" dirty="0">
                <a:solidFill>
                  <a:schemeClr val="bg1"/>
                </a:solidFill>
                <a:latin typeface="Times New Roman" panose="02020603050405020304" pitchFamily="18" charset="0"/>
              </a:rPr>
              <a:t>分销中心</a:t>
            </a:r>
            <a:r>
              <a:rPr lang="en-US" altLang="zh-CN" sz="2400" b="1" dirty="0">
                <a:solidFill>
                  <a:schemeClr val="bg1"/>
                </a:solidFill>
                <a:latin typeface="Times New Roman" panose="02020603050405020304" pitchFamily="18" charset="0"/>
              </a:rPr>
              <a:t>3       </a:t>
            </a:r>
            <a:r>
              <a:rPr lang="zh-CN" altLang="en-US" sz="2400" b="1" dirty="0">
                <a:solidFill>
                  <a:schemeClr val="bg1"/>
                </a:solidFill>
                <a:latin typeface="Times New Roman" panose="02020603050405020304" pitchFamily="18" charset="0"/>
              </a:rPr>
              <a:t>产量</a:t>
            </a:r>
          </a:p>
          <a:p>
            <a:pPr marL="0" lvl="0" indent="0" algn="just" eaLnBrk="1" hangingPunct="1">
              <a:spcBef>
                <a:spcPct val="0"/>
              </a:spcBef>
              <a:buFontTx/>
              <a:buNone/>
            </a:pPr>
            <a:r>
              <a:rPr lang="zh-CN" altLang="en-US" sz="2400" b="1" dirty="0">
                <a:solidFill>
                  <a:schemeClr val="bg1"/>
                </a:solidFill>
                <a:latin typeface="Times New Roman" panose="02020603050405020304" pitchFamily="18" charset="0"/>
              </a:rPr>
              <a:t> 工厂</a:t>
            </a:r>
            <a:r>
              <a:rPr lang="en-US" altLang="zh-CN" sz="2400" b="1" dirty="0">
                <a:solidFill>
                  <a:schemeClr val="bg1"/>
                </a:solidFill>
                <a:latin typeface="Times New Roman" panose="02020603050405020304" pitchFamily="18" charset="0"/>
              </a:rPr>
              <a:t>1                 3                  2                    7              5000</a:t>
            </a:r>
          </a:p>
          <a:p>
            <a:pPr marL="0" lvl="0" indent="0" algn="just" eaLnBrk="1" hangingPunct="1">
              <a:spcBef>
                <a:spcPct val="0"/>
              </a:spcBef>
              <a:buFontTx/>
              <a:buNone/>
            </a:pPr>
            <a:r>
              <a:rPr lang="zh-CN" altLang="en-US" sz="2400" b="1" dirty="0">
                <a:solidFill>
                  <a:schemeClr val="bg1"/>
                </a:solidFill>
                <a:latin typeface="Times New Roman" panose="02020603050405020304" pitchFamily="18" charset="0"/>
              </a:rPr>
              <a:t> 工厂</a:t>
            </a:r>
            <a:r>
              <a:rPr lang="en-US" altLang="zh-CN" sz="2400" b="1" dirty="0">
                <a:solidFill>
                  <a:schemeClr val="bg1"/>
                </a:solidFill>
                <a:latin typeface="Times New Roman" panose="02020603050405020304" pitchFamily="18" charset="0"/>
              </a:rPr>
              <a:t>2                 7                  5                    2              6000</a:t>
            </a:r>
          </a:p>
          <a:p>
            <a:pPr marL="0" lvl="0" indent="0" algn="just" eaLnBrk="1" hangingPunct="1">
              <a:spcBef>
                <a:spcPct val="0"/>
              </a:spcBef>
              <a:buFontTx/>
              <a:buNone/>
            </a:pPr>
            <a:r>
              <a:rPr lang="zh-CN" altLang="en-US" sz="2400" b="1" dirty="0">
                <a:solidFill>
                  <a:schemeClr val="bg1"/>
                </a:solidFill>
                <a:latin typeface="Times New Roman" panose="02020603050405020304" pitchFamily="18" charset="0"/>
              </a:rPr>
              <a:t>需求量            </a:t>
            </a:r>
            <a:r>
              <a:rPr lang="en-US" altLang="zh-CN" sz="2400" b="1" dirty="0">
                <a:solidFill>
                  <a:schemeClr val="bg1"/>
                </a:solidFill>
                <a:latin typeface="Times New Roman" panose="02020603050405020304" pitchFamily="18" charset="0"/>
              </a:rPr>
              <a:t>6000             4000              1000         11000</a:t>
            </a:r>
            <a:endParaRPr lang="zh-CN" altLang="zh-CN" sz="2400" b="1" dirty="0">
              <a:solidFill>
                <a:schemeClr val="bg1"/>
              </a:solidFill>
              <a:latin typeface="Arial" panose="020B0604020202020204" pitchFamily="34" charset="0"/>
            </a:endParaRPr>
          </a:p>
        </p:txBody>
      </p:sp>
      <p:sp>
        <p:nvSpPr>
          <p:cNvPr id="12" name="副标题 2"/>
          <p:cNvSpPr>
            <a:spLocks noGrp="1"/>
          </p:cNvSpPr>
          <p:nvPr/>
        </p:nvSpPr>
        <p:spPr>
          <a:xfrm>
            <a:off x="720216" y="4513114"/>
            <a:ext cx="7775575" cy="500062"/>
          </a:xfrm>
          <a:prstGeom prst="rect">
            <a:avLst/>
          </a:prstGeom>
          <a:noFill/>
          <a:ln w="9525">
            <a:noFill/>
          </a:ln>
        </p:spPr>
        <p:txBody>
          <a:bodyPr vert="horz" wrap="square" lIns="91440" tIns="45720" rIns="91440" bIns="45720" anchor="t"/>
          <a:lstStyle>
            <a:lvl1pPr marL="0" indent="0" algn="ctr" rtl="0" eaLnBrk="0" fontAlgn="base" hangingPunct="0">
              <a:spcBef>
                <a:spcPct val="20000"/>
              </a:spcBef>
              <a:spcAft>
                <a:spcPct val="0"/>
              </a:spcAft>
              <a:buFont typeface="Arial" panose="020B0604020202020204" pitchFamily="34"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buClrTx/>
              <a:buSzTx/>
            </a:pPr>
            <a:r>
              <a:rPr lang="zh-CN" altLang="en-US" sz="2400" b="1" kern="1200" dirty="0">
                <a:solidFill>
                  <a:schemeClr val="bg1"/>
                </a:solidFill>
                <a:latin typeface="Times New Roman" panose="02020603050405020304" pitchFamily="18" charset="0"/>
                <a:ea typeface="+mn-ea"/>
                <a:cs typeface="Times New Roman" panose="02020603050405020304" pitchFamily="18" charset="0"/>
              </a:rPr>
              <a:t>产销平衡</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a:t>
            </a:r>
            <a:r>
              <a:rPr lang="zh-CN" altLang="en-US" sz="2400" b="1" kern="1200" dirty="0">
                <a:solidFill>
                  <a:schemeClr val="bg1"/>
                </a:solidFill>
                <a:latin typeface="Times New Roman" panose="02020603050405020304" pitchFamily="18" charset="0"/>
                <a:ea typeface="+mn-ea"/>
                <a:cs typeface="Times New Roman" panose="02020603050405020304" pitchFamily="18" charset="0"/>
              </a:rPr>
              <a:t>试制定供销方案</a:t>
            </a:r>
            <a:r>
              <a:rPr lang="en-US" altLang="zh-CN" sz="2400" b="1" kern="1200" dirty="0">
                <a:solidFill>
                  <a:schemeClr val="bg1"/>
                </a:solidFill>
                <a:latin typeface="Times New Roman" panose="02020603050405020304" pitchFamily="18" charset="0"/>
                <a:ea typeface="+mn-ea"/>
                <a:cs typeface="Times New Roman" panose="02020603050405020304" pitchFamily="18" charset="0"/>
              </a:rPr>
              <a:t>, </a:t>
            </a:r>
            <a:r>
              <a:rPr lang="zh-CN" altLang="en-US" sz="2400" b="1" kern="1200" dirty="0">
                <a:solidFill>
                  <a:schemeClr val="bg1"/>
                </a:solidFill>
                <a:latin typeface="Times New Roman" panose="02020603050405020304" pitchFamily="18" charset="0"/>
                <a:ea typeface="+mn-ea"/>
                <a:cs typeface="Times New Roman" panose="02020603050405020304" pitchFamily="18" charset="0"/>
              </a:rPr>
              <a:t>使总运费最小</a:t>
            </a:r>
            <a:r>
              <a:rPr lang="en-US" altLang="zh-CN" sz="2400" b="1" kern="1200" dirty="0">
                <a:solidFill>
                  <a:schemeClr val="bg1"/>
                </a:solidFill>
                <a:latin typeface="Times New Roman" panose="02020603050405020304" pitchFamily="18" charset="0"/>
                <a:cs typeface="Times New Roman" panose="02020603050405020304" pitchFamily="18" charset="0"/>
              </a:rPr>
              <a:t>.</a:t>
            </a:r>
            <a:endParaRPr lang="zh-CN" altLang="en-US" sz="2400" b="1" kern="1200" dirty="0">
              <a:solidFill>
                <a:schemeClr val="bg1"/>
              </a:solidFill>
              <a:latin typeface="Times New Roman" panose="02020603050405020304" pitchFamily="18" charset="0"/>
              <a:ea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8105140" cy="844550"/>
          </a:xfrm>
        </p:spPr>
        <p:txBody>
          <a:bodyPr/>
          <a:lstStyle/>
          <a:p>
            <a:r>
              <a:rPr kumimoji="0" lang="en-US" altLang="zh-CN" kern="1200" noProof="0" dirty="0" smtClean="0">
                <a:solidFill>
                  <a:schemeClr val="accent2"/>
                </a:solidFill>
                <a:sym typeface="+mn-ea"/>
              </a:rPr>
              <a:t>6.1 </a:t>
            </a:r>
            <a:r>
              <a:rPr kumimoji="0" lang="zh-CN" altLang="en-US" kern="1200" noProof="0" dirty="0" smtClean="0">
                <a:solidFill>
                  <a:schemeClr val="accent2"/>
                </a:solidFill>
                <a:sym typeface="+mn-ea"/>
              </a:rPr>
              <a:t>线性规划</a:t>
            </a:r>
            <a:r>
              <a:rPr kumimoji="0" lang="zh-CN" altLang="en-US" kern="1200" dirty="0">
                <a:solidFill>
                  <a:schemeClr val="accent2"/>
                </a:solidFill>
                <a:sym typeface="+mn-ea"/>
              </a:rPr>
              <a:t>模型</a:t>
            </a:r>
            <a:endParaRPr kumimoji="0" lang="en-US" altLang="zh-CN" kern="1200" noProof="0" dirty="0" smtClean="0">
              <a:ln>
                <a:noFill/>
              </a:ln>
              <a:solidFill>
                <a:schemeClr val="accent2"/>
              </a:solidFill>
              <a:effectLst/>
              <a:uLnTx/>
              <a:uFillTx/>
              <a:sym typeface="+mn-ea"/>
            </a:endParaRPr>
          </a:p>
        </p:txBody>
      </p:sp>
      <p:sp>
        <p:nvSpPr>
          <p:cNvPr id="4" name="副标题 2"/>
          <p:cNvSpPr txBox="1"/>
          <p:nvPr/>
        </p:nvSpPr>
        <p:spPr bwMode="auto">
          <a:xfrm>
            <a:off x="662116" y="1844824"/>
            <a:ext cx="7775575" cy="3744416"/>
          </a:xfrm>
          <a:prstGeom prst="rect">
            <a:avLst/>
          </a:prstGeom>
          <a:no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defTabSz="914400">
              <a:spcBef>
                <a:spcPct val="20000"/>
              </a:spcBef>
              <a:buClrTx/>
              <a:buSzTx/>
              <a:buFont typeface="Arial" panose="020B0604020202020204" pitchFamily="34" charset="0"/>
              <a:defRPr/>
            </a:pPr>
            <a:r>
              <a:rPr kumimoji="0" lang="zh-CN" altLang="en-US"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设工厂</a:t>
            </a:r>
            <a:r>
              <a:rPr kumimoji="0" lang="en-US" altLang="zh-CN" sz="2400" b="1" i="1" kern="1200" cap="none" spc="0" normalizeH="0" baseline="0" noProof="0" dirty="0" err="1">
                <a:solidFill>
                  <a:schemeClr val="bg1"/>
                </a:solidFill>
                <a:latin typeface="Times New Roman" panose="02020603050405020304" pitchFamily="18" charset="0"/>
                <a:ea typeface="+mn-ea"/>
                <a:cs typeface="Times New Roman" panose="02020603050405020304" pitchFamily="18" charset="0"/>
              </a:rPr>
              <a:t>i</a:t>
            </a:r>
            <a:r>
              <a:rPr kumimoji="0" lang="zh-CN" altLang="en-US"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供应分销中心</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j</a:t>
            </a:r>
            <a:r>
              <a:rPr kumimoji="0" lang="zh-CN" altLang="en-US"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的数量为</a:t>
            </a:r>
            <a:r>
              <a:rPr kumimoji="0" lang="en-US" altLang="zh-CN" sz="2400" b="1" i="1" kern="1200" cap="none" spc="0" normalizeH="0" baseline="0" noProof="0" dirty="0" err="1">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i="1" kern="1200" cap="none" spc="0" normalizeH="0" baseline="-25000" noProof="0" dirty="0" err="1">
                <a:solidFill>
                  <a:schemeClr val="bg1"/>
                </a:solidFill>
                <a:latin typeface="Times New Roman" panose="02020603050405020304" pitchFamily="18" charset="0"/>
                <a:ea typeface="+mn-ea"/>
                <a:cs typeface="Times New Roman" panose="02020603050405020304" pitchFamily="18" charset="0"/>
              </a:rPr>
              <a:t>ij</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 </a:t>
            </a:r>
            <a:r>
              <a:rPr kumimoji="0" lang="en-US" altLang="zh-CN" sz="2400" b="1" i="1" kern="1200" cap="none" spc="0" normalizeH="0" baseline="0" noProof="0" dirty="0" err="1">
                <a:solidFill>
                  <a:schemeClr val="bg1"/>
                </a:solidFill>
                <a:latin typeface="Times New Roman" panose="02020603050405020304" pitchFamily="18" charset="0"/>
                <a:ea typeface="+mn-ea"/>
                <a:cs typeface="Times New Roman" panose="02020603050405020304" pitchFamily="18" charset="0"/>
              </a:rPr>
              <a:t>i</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=1,2;  </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j</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=1,2,3. </a:t>
            </a:r>
            <a:endParaRPr kumimoji="0" lang="zh-CN" altLang="en-US"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endParaRPr>
          </a:p>
          <a:p>
            <a:pPr marR="0" defTabSz="914400">
              <a:spcBef>
                <a:spcPct val="20000"/>
              </a:spcBef>
              <a:buClrTx/>
              <a:buSzTx/>
              <a:buFont typeface="Arial" panose="020B0604020202020204" pitchFamily="34" charset="0"/>
              <a:defRPr/>
            </a:pP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                  min  </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z</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=3</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a:solidFill>
                  <a:schemeClr val="bg1"/>
                </a:solidFill>
                <a:latin typeface="Times New Roman" panose="02020603050405020304" pitchFamily="18" charset="0"/>
                <a:ea typeface="+mn-ea"/>
                <a:cs typeface="Times New Roman" panose="02020603050405020304" pitchFamily="18" charset="0"/>
              </a:rPr>
              <a:t>11</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+2</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a:solidFill>
                  <a:schemeClr val="bg1"/>
                </a:solidFill>
                <a:latin typeface="Times New Roman" panose="02020603050405020304" pitchFamily="18" charset="0"/>
                <a:ea typeface="+mn-ea"/>
                <a:cs typeface="Times New Roman" panose="02020603050405020304" pitchFamily="18" charset="0"/>
              </a:rPr>
              <a:t>12</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+7</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a:solidFill>
                  <a:schemeClr val="bg1"/>
                </a:solidFill>
                <a:latin typeface="Times New Roman" panose="02020603050405020304" pitchFamily="18" charset="0"/>
                <a:ea typeface="+mn-ea"/>
                <a:cs typeface="Times New Roman" panose="02020603050405020304" pitchFamily="18" charset="0"/>
              </a:rPr>
              <a:t>13</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+7</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a:solidFill>
                  <a:schemeClr val="bg1"/>
                </a:solidFill>
                <a:latin typeface="Times New Roman" panose="02020603050405020304" pitchFamily="18" charset="0"/>
                <a:ea typeface="+mn-ea"/>
                <a:cs typeface="Times New Roman" panose="02020603050405020304" pitchFamily="18" charset="0"/>
              </a:rPr>
              <a:t>21</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+5</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a:solidFill>
                  <a:schemeClr val="bg1"/>
                </a:solidFill>
                <a:latin typeface="Times New Roman" panose="02020603050405020304" pitchFamily="18" charset="0"/>
                <a:ea typeface="+mn-ea"/>
                <a:cs typeface="Times New Roman" panose="02020603050405020304" pitchFamily="18" charset="0"/>
              </a:rPr>
              <a:t>22</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+2</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a:solidFill>
                  <a:schemeClr val="bg1"/>
                </a:solidFill>
                <a:latin typeface="Times New Roman" panose="02020603050405020304" pitchFamily="18" charset="0"/>
                <a:ea typeface="+mn-ea"/>
                <a:cs typeface="Times New Roman" panose="02020603050405020304" pitchFamily="18" charset="0"/>
              </a:rPr>
              <a:t>23</a:t>
            </a:r>
            <a:endParaRPr kumimoji="0" lang="zh-CN" altLang="en-US"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endParaRPr>
          </a:p>
          <a:p>
            <a:pPr marR="0" defTabSz="914400">
              <a:spcBef>
                <a:spcPct val="20000"/>
              </a:spcBef>
              <a:buClrTx/>
              <a:buSzTx/>
              <a:buFont typeface="Arial" panose="020B0604020202020204" pitchFamily="34" charset="0"/>
              <a:defRPr/>
            </a:pP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                   </a:t>
            </a:r>
            <a:r>
              <a:rPr kumimoji="0" lang="en-US" altLang="zh-CN" sz="2400" b="1" kern="1200" cap="none" spc="0" normalizeH="0" baseline="0" noProof="0" dirty="0" err="1">
                <a:solidFill>
                  <a:schemeClr val="bg1"/>
                </a:solidFill>
                <a:latin typeface="Times New Roman" panose="02020603050405020304" pitchFamily="18" charset="0"/>
                <a:ea typeface="+mn-ea"/>
                <a:cs typeface="Times New Roman" panose="02020603050405020304" pitchFamily="18" charset="0"/>
              </a:rPr>
              <a:t>s.t</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  </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a:solidFill>
                  <a:schemeClr val="bg1"/>
                </a:solidFill>
                <a:latin typeface="Times New Roman" panose="02020603050405020304" pitchFamily="18" charset="0"/>
                <a:ea typeface="+mn-ea"/>
                <a:cs typeface="Times New Roman" panose="02020603050405020304" pitchFamily="18" charset="0"/>
              </a:rPr>
              <a:t>11</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a:solidFill>
                  <a:schemeClr val="bg1"/>
                </a:solidFill>
                <a:latin typeface="Times New Roman" panose="02020603050405020304" pitchFamily="18" charset="0"/>
                <a:ea typeface="+mn-ea"/>
                <a:cs typeface="Times New Roman" panose="02020603050405020304" pitchFamily="18" charset="0"/>
              </a:rPr>
              <a:t>12</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a:solidFill>
                  <a:schemeClr val="bg1"/>
                </a:solidFill>
                <a:latin typeface="Times New Roman" panose="02020603050405020304" pitchFamily="18" charset="0"/>
                <a:ea typeface="+mn-ea"/>
                <a:cs typeface="Times New Roman" panose="02020603050405020304" pitchFamily="18" charset="0"/>
              </a:rPr>
              <a:t>13</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=5000</a:t>
            </a:r>
            <a:endParaRPr kumimoji="0" lang="zh-CN" altLang="en-US"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endParaRPr>
          </a:p>
          <a:p>
            <a:pPr marR="0" defTabSz="914400">
              <a:spcBef>
                <a:spcPct val="20000"/>
              </a:spcBef>
              <a:buClrTx/>
              <a:buSzTx/>
              <a:buFont typeface="Arial" panose="020B0604020202020204" pitchFamily="34" charset="0"/>
              <a:defRPr/>
            </a:pP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                          </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a:solidFill>
                  <a:schemeClr val="bg1"/>
                </a:solidFill>
                <a:latin typeface="Times New Roman" panose="02020603050405020304" pitchFamily="18" charset="0"/>
                <a:ea typeface="+mn-ea"/>
                <a:cs typeface="Times New Roman" panose="02020603050405020304" pitchFamily="18" charset="0"/>
              </a:rPr>
              <a:t>21</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a:solidFill>
                  <a:schemeClr val="bg1"/>
                </a:solidFill>
                <a:latin typeface="Times New Roman" panose="02020603050405020304" pitchFamily="18" charset="0"/>
                <a:ea typeface="+mn-ea"/>
                <a:cs typeface="Times New Roman" panose="02020603050405020304" pitchFamily="18" charset="0"/>
              </a:rPr>
              <a:t>22</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a:solidFill>
                  <a:schemeClr val="bg1"/>
                </a:solidFill>
                <a:latin typeface="Times New Roman" panose="02020603050405020304" pitchFamily="18" charset="0"/>
                <a:ea typeface="+mn-ea"/>
                <a:cs typeface="Times New Roman" panose="02020603050405020304" pitchFamily="18" charset="0"/>
              </a:rPr>
              <a:t>23</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=6000</a:t>
            </a:r>
            <a:endParaRPr kumimoji="0" lang="zh-CN" altLang="en-US"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endParaRPr>
          </a:p>
          <a:p>
            <a:pPr marR="0" defTabSz="914400">
              <a:spcBef>
                <a:spcPct val="20000"/>
              </a:spcBef>
              <a:buClrTx/>
              <a:buSzTx/>
              <a:buFont typeface="Arial" panose="020B0604020202020204" pitchFamily="34" charset="0"/>
              <a:defRPr/>
            </a:pP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                          </a:t>
            </a:r>
            <a:r>
              <a:rPr kumimoji="0" lang="en-US" altLang="zh-CN" sz="2400" b="1" i="1" kern="1200" cap="none" spc="0" normalizeH="0" baseline="0" noProof="0" dirty="0" smtClean="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smtClean="0">
                <a:solidFill>
                  <a:schemeClr val="bg1"/>
                </a:solidFill>
                <a:latin typeface="Times New Roman" panose="02020603050405020304" pitchFamily="18" charset="0"/>
                <a:ea typeface="+mn-ea"/>
                <a:cs typeface="Times New Roman" panose="02020603050405020304" pitchFamily="18" charset="0"/>
              </a:rPr>
              <a:t>11</a:t>
            </a:r>
            <a:r>
              <a:rPr kumimoji="0" lang="en-US" altLang="zh-CN" sz="2400" b="1" kern="1200" cap="none" spc="0" normalizeH="0" baseline="0" noProof="0" dirty="0" smtClean="0">
                <a:solidFill>
                  <a:schemeClr val="bg1"/>
                </a:solidFill>
                <a:latin typeface="Times New Roman" panose="02020603050405020304" pitchFamily="18" charset="0"/>
                <a:ea typeface="+mn-ea"/>
                <a:cs typeface="Times New Roman" panose="02020603050405020304" pitchFamily="18" charset="0"/>
              </a:rPr>
              <a:t>+</a:t>
            </a:r>
            <a:r>
              <a:rPr kumimoji="0" lang="en-US" altLang="zh-CN" sz="2400" b="1" i="1" kern="1200" cap="none" spc="0" normalizeH="0" baseline="0" noProof="0" dirty="0" smtClean="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smtClean="0">
                <a:solidFill>
                  <a:schemeClr val="bg1"/>
                </a:solidFill>
                <a:latin typeface="Times New Roman" panose="02020603050405020304" pitchFamily="18" charset="0"/>
                <a:ea typeface="+mn-ea"/>
                <a:cs typeface="Times New Roman" panose="02020603050405020304" pitchFamily="18" charset="0"/>
              </a:rPr>
              <a:t>21</a:t>
            </a:r>
            <a:r>
              <a:rPr kumimoji="0" lang="en-US" altLang="zh-CN" sz="2400" b="1" kern="1200" cap="none" spc="0" normalizeH="0" baseline="0" noProof="0" dirty="0" smtClean="0">
                <a:solidFill>
                  <a:schemeClr val="bg1"/>
                </a:solidFill>
                <a:latin typeface="Times New Roman" panose="02020603050405020304" pitchFamily="18" charset="0"/>
                <a:ea typeface="+mn-ea"/>
                <a:cs typeface="Times New Roman" panose="02020603050405020304" pitchFamily="18" charset="0"/>
              </a:rPr>
              <a:t>=6000</a:t>
            </a:r>
            <a:endParaRPr lang="en-US" altLang="zh-CN" sz="2400" b="1" dirty="0">
              <a:solidFill>
                <a:schemeClr val="bg1"/>
              </a:solidFill>
              <a:latin typeface="Times New Roman" panose="02020603050405020304" pitchFamily="18" charset="0"/>
              <a:cs typeface="Times New Roman" panose="02020603050405020304" pitchFamily="18" charset="0"/>
            </a:endParaRPr>
          </a:p>
          <a:p>
            <a:pPr marR="0" defTabSz="914400">
              <a:spcBef>
                <a:spcPct val="20000"/>
              </a:spcBef>
              <a:buClrTx/>
              <a:buSzTx/>
              <a:buFont typeface="Arial" panose="020B0604020202020204" pitchFamily="34" charset="0"/>
              <a:defRPr/>
            </a:pPr>
            <a:r>
              <a:rPr kumimoji="0" lang="en-US" altLang="zh-CN" sz="2400" b="1" kern="1200" cap="none" spc="0" normalizeH="0" noProof="0" dirty="0" smtClean="0">
                <a:solidFill>
                  <a:schemeClr val="bg1"/>
                </a:solidFill>
                <a:latin typeface="Times New Roman" panose="02020603050405020304" pitchFamily="18" charset="0"/>
                <a:ea typeface="+mn-ea"/>
                <a:cs typeface="Times New Roman" panose="02020603050405020304" pitchFamily="18" charset="0"/>
              </a:rPr>
              <a:t>                    </a:t>
            </a:r>
            <a:r>
              <a:rPr kumimoji="0" lang="en-US" altLang="zh-CN" sz="2400" b="1" kern="1200" cap="none" spc="0" normalizeH="0" baseline="0" noProof="0" dirty="0" smtClean="0">
                <a:solidFill>
                  <a:schemeClr val="bg1"/>
                </a:solidFill>
                <a:latin typeface="Times New Roman" panose="02020603050405020304" pitchFamily="18" charset="0"/>
                <a:ea typeface="+mn-ea"/>
                <a:cs typeface="Times New Roman" panose="02020603050405020304" pitchFamily="18" charset="0"/>
              </a:rPr>
              <a:t>      </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a:solidFill>
                  <a:schemeClr val="bg1"/>
                </a:solidFill>
                <a:latin typeface="Times New Roman" panose="02020603050405020304" pitchFamily="18" charset="0"/>
                <a:ea typeface="+mn-ea"/>
                <a:cs typeface="Times New Roman" panose="02020603050405020304" pitchFamily="18" charset="0"/>
              </a:rPr>
              <a:t>12</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a:solidFill>
                  <a:schemeClr val="bg1"/>
                </a:solidFill>
                <a:latin typeface="Times New Roman" panose="02020603050405020304" pitchFamily="18" charset="0"/>
                <a:ea typeface="+mn-ea"/>
                <a:cs typeface="Times New Roman" panose="02020603050405020304" pitchFamily="18" charset="0"/>
              </a:rPr>
              <a:t>22</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=4000</a:t>
            </a:r>
            <a:endParaRPr kumimoji="0" lang="zh-CN" altLang="en-US"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endParaRPr>
          </a:p>
          <a:p>
            <a:pPr marR="0" defTabSz="914400">
              <a:spcBef>
                <a:spcPct val="20000"/>
              </a:spcBef>
              <a:buClrTx/>
              <a:buSzTx/>
              <a:buFont typeface="Arial" panose="020B0604020202020204" pitchFamily="34" charset="0"/>
              <a:defRPr/>
            </a:pP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                          </a:t>
            </a:r>
            <a:r>
              <a:rPr kumimoji="0" lang="en-US" altLang="zh-CN" sz="2400" b="1" i="1" kern="1200" cap="none" spc="0" normalizeH="0" baseline="0" noProof="0" dirty="0" smtClean="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smtClean="0">
                <a:solidFill>
                  <a:schemeClr val="bg1"/>
                </a:solidFill>
                <a:latin typeface="Times New Roman" panose="02020603050405020304" pitchFamily="18" charset="0"/>
                <a:ea typeface="+mn-ea"/>
                <a:cs typeface="Times New Roman" panose="02020603050405020304" pitchFamily="18" charset="0"/>
              </a:rPr>
              <a:t>13</a:t>
            </a:r>
            <a:r>
              <a:rPr kumimoji="0" lang="en-US" altLang="zh-CN" sz="2400" b="1" kern="1200" cap="none" spc="0" normalizeH="0" baseline="0" noProof="0" dirty="0" smtClean="0">
                <a:solidFill>
                  <a:schemeClr val="bg1"/>
                </a:solidFill>
                <a:latin typeface="Times New Roman" panose="02020603050405020304" pitchFamily="18" charset="0"/>
                <a:ea typeface="+mn-ea"/>
                <a:cs typeface="Times New Roman" panose="02020603050405020304" pitchFamily="18" charset="0"/>
              </a:rPr>
              <a:t>+</a:t>
            </a:r>
            <a:r>
              <a:rPr kumimoji="0" lang="en-US" altLang="zh-CN" sz="2400" b="1" i="1" kern="1200" cap="none" spc="0" normalizeH="0" baseline="0" noProof="0" dirty="0" smtClean="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kern="1200" cap="none" spc="0" normalizeH="0" baseline="-25000" noProof="0" dirty="0" smtClean="0">
                <a:solidFill>
                  <a:schemeClr val="bg1"/>
                </a:solidFill>
                <a:latin typeface="Times New Roman" panose="02020603050405020304" pitchFamily="18" charset="0"/>
                <a:ea typeface="+mn-ea"/>
                <a:cs typeface="Times New Roman" panose="02020603050405020304" pitchFamily="18" charset="0"/>
              </a:rPr>
              <a:t>23</a:t>
            </a:r>
            <a:r>
              <a:rPr kumimoji="0" lang="en-US" altLang="zh-CN" sz="2400" b="1" kern="1200" cap="none" spc="0" normalizeH="0" baseline="0" noProof="0" dirty="0" smtClean="0">
                <a:solidFill>
                  <a:schemeClr val="bg1"/>
                </a:solidFill>
                <a:latin typeface="Times New Roman" panose="02020603050405020304" pitchFamily="18" charset="0"/>
                <a:ea typeface="+mn-ea"/>
                <a:cs typeface="Times New Roman" panose="02020603050405020304" pitchFamily="18" charset="0"/>
              </a:rPr>
              <a:t>=1000</a:t>
            </a:r>
          </a:p>
          <a:p>
            <a:pPr marR="0" defTabSz="914400">
              <a:spcBef>
                <a:spcPct val="20000"/>
              </a:spcBef>
              <a:buClrTx/>
              <a:buSzTx/>
              <a:buFont typeface="Arial" panose="020B0604020202020204" pitchFamily="34" charset="0"/>
              <a:defRPr/>
            </a:pPr>
            <a:r>
              <a:rPr lang="en-US" altLang="zh-CN" sz="2400" b="1" dirty="0">
                <a:solidFill>
                  <a:schemeClr val="bg1"/>
                </a:solidFill>
                <a:latin typeface="Times New Roman" panose="02020603050405020304" pitchFamily="18" charset="0"/>
                <a:cs typeface="Times New Roman" panose="02020603050405020304" pitchFamily="18" charset="0"/>
              </a:rPr>
              <a:t> </a:t>
            </a:r>
            <a:r>
              <a:rPr lang="en-US" altLang="zh-CN" sz="2400" b="1" dirty="0" smtClean="0">
                <a:solidFill>
                  <a:schemeClr val="bg1"/>
                </a:solidFill>
                <a:latin typeface="Times New Roman" panose="02020603050405020304" pitchFamily="18" charset="0"/>
                <a:cs typeface="Times New Roman" panose="02020603050405020304" pitchFamily="18" charset="0"/>
              </a:rPr>
              <a:t>                 </a:t>
            </a:r>
            <a:r>
              <a:rPr kumimoji="0" lang="en-US" altLang="zh-CN" sz="2400" b="1" kern="1200" cap="none" spc="0" normalizeH="0" baseline="0" noProof="0" dirty="0" smtClean="0">
                <a:solidFill>
                  <a:schemeClr val="bg1"/>
                </a:solidFill>
                <a:latin typeface="Times New Roman" panose="02020603050405020304" pitchFamily="18" charset="0"/>
                <a:ea typeface="+mn-ea"/>
                <a:cs typeface="Times New Roman" panose="02020603050405020304" pitchFamily="18" charset="0"/>
              </a:rPr>
              <a:t>       </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x</a:t>
            </a:r>
            <a:r>
              <a:rPr kumimoji="0" lang="en-US" altLang="zh-CN" sz="2400" b="1" i="1" kern="1200" cap="none" spc="0" normalizeH="0" baseline="-25000" noProof="0" dirty="0">
                <a:solidFill>
                  <a:schemeClr val="bg1"/>
                </a:solidFill>
                <a:latin typeface="Times New Roman" panose="02020603050405020304" pitchFamily="18" charset="0"/>
                <a:ea typeface="+mn-ea"/>
                <a:cs typeface="Times New Roman" panose="02020603050405020304" pitchFamily="18" charset="0"/>
              </a:rPr>
              <a:t>ij</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0,   </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i</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=1,2;  </a:t>
            </a:r>
            <a:r>
              <a:rPr kumimoji="0" lang="en-US" altLang="zh-CN" sz="2400" b="1" i="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j</a:t>
            </a:r>
            <a:r>
              <a:rPr kumimoji="0" lang="en-US" altLang="zh-CN"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rPr>
              <a:t>=1,2,3</a:t>
            </a:r>
            <a:endParaRPr kumimoji="0" lang="zh-CN" altLang="en-US" sz="2400" b="1" kern="1200" cap="none" spc="0" normalizeH="0" baseline="0" noProof="0" dirty="0">
              <a:solidFill>
                <a:schemeClr val="bg1"/>
              </a:solidFill>
              <a:latin typeface="Times New Roman" panose="02020603050405020304" pitchFamily="18" charset="0"/>
              <a:ea typeface="+mn-ea"/>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left)">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left)">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wipe(left)">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wipe(left)">
                                      <p:cBhvr>
                                        <p:cTn id="4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custDataLst>
              <p:tags r:id="rId2"/>
            </p:custDataLst>
          </p:nvPr>
        </p:nvSpPr>
        <p:spPr>
          <a:xfrm>
            <a:off x="446232" y="1556792"/>
            <a:ext cx="8302232" cy="2520280"/>
          </a:xfrm>
          <a:prstGeom prst="rect">
            <a:avLst/>
          </a:prstGeom>
          <a:noFill/>
        </p:spPr>
        <p:txBody>
          <a:bodyPr vert="horz" wrap="square" rtlCol="0" anchor="ctr" anchorCtr="0">
            <a:noAutofit/>
          </a:bodyPr>
          <a:lstStyle/>
          <a:p>
            <a:pPr lvl="0" algn="just" eaLnBrk="1" hangingPunct="1">
              <a:lnSpc>
                <a:spcPct val="130000"/>
              </a:lnSpc>
            </a:pPr>
            <a:r>
              <a:rPr lang="zh-CN" altLang="en-US" dirty="0">
                <a:solidFill>
                  <a:srgbClr val="000000"/>
                </a:solidFill>
                <a:latin typeface="宋体" panose="02010600030101010101" pitchFamily="2" charset="-122"/>
                <a:sym typeface="微软雅黑" panose="020B0503020204020204" charset="-122"/>
              </a:rPr>
              <a:t>假定一个成年人每天需要从食物中获取</a:t>
            </a:r>
            <a:r>
              <a:rPr lang="en-US" altLang="zh-CN" dirty="0">
                <a:solidFill>
                  <a:srgbClr val="000000"/>
                </a:solidFill>
                <a:latin typeface="宋体" panose="02010600030101010101" pitchFamily="2" charset="-122"/>
                <a:sym typeface="微软雅黑" panose="020B0503020204020204" charset="-122"/>
              </a:rPr>
              <a:t>3000</a:t>
            </a:r>
            <a:r>
              <a:rPr lang="zh-CN" altLang="en-US" dirty="0">
                <a:solidFill>
                  <a:srgbClr val="000000"/>
                </a:solidFill>
                <a:latin typeface="宋体" panose="02010600030101010101" pitchFamily="2" charset="-122"/>
                <a:sym typeface="微软雅黑" panose="020B0503020204020204" charset="-122"/>
              </a:rPr>
              <a:t>大卡的热量、</a:t>
            </a:r>
            <a:r>
              <a:rPr lang="en-US" altLang="zh-CN" dirty="0">
                <a:solidFill>
                  <a:srgbClr val="000000"/>
                </a:solidFill>
                <a:latin typeface="宋体" panose="02010600030101010101" pitchFamily="2" charset="-122"/>
                <a:sym typeface="微软雅黑" panose="020B0503020204020204" charset="-122"/>
              </a:rPr>
              <a:t>55</a:t>
            </a:r>
            <a:r>
              <a:rPr lang="zh-CN" altLang="en-US" dirty="0">
                <a:solidFill>
                  <a:srgbClr val="000000"/>
                </a:solidFill>
                <a:latin typeface="宋体" panose="02010600030101010101" pitchFamily="2" charset="-122"/>
                <a:sym typeface="微软雅黑" panose="020B0503020204020204" charset="-122"/>
              </a:rPr>
              <a:t>克蛋白质和</a:t>
            </a:r>
            <a:r>
              <a:rPr lang="en-US" altLang="zh-CN" dirty="0">
                <a:solidFill>
                  <a:srgbClr val="000000"/>
                </a:solidFill>
                <a:latin typeface="宋体" panose="02010600030101010101" pitchFamily="2" charset="-122"/>
                <a:sym typeface="微软雅黑" panose="020B0503020204020204" charset="-122"/>
              </a:rPr>
              <a:t>800</a:t>
            </a:r>
            <a:r>
              <a:rPr lang="zh-CN" altLang="en-US" dirty="0">
                <a:solidFill>
                  <a:srgbClr val="000000"/>
                </a:solidFill>
                <a:latin typeface="宋体" panose="02010600030101010101" pitchFamily="2" charset="-122"/>
                <a:sym typeface="微软雅黑" panose="020B0503020204020204" charset="-122"/>
              </a:rPr>
              <a:t>毫克的钙，市场上只有四种食品可供选择。它们每公斤所含热量和营养成分以及市场价格见表。</a:t>
            </a:r>
          </a:p>
          <a:p>
            <a:pPr lvl="0" algn="just" eaLnBrk="1" hangingPunct="1">
              <a:lnSpc>
                <a:spcPct val="130000"/>
              </a:lnSpc>
            </a:pPr>
            <a:r>
              <a:rPr lang="zh-CN" altLang="en-US" dirty="0">
                <a:solidFill>
                  <a:srgbClr val="000000"/>
                </a:solidFill>
                <a:latin typeface="宋体" panose="02010600030101010101" pitchFamily="2" charset="-122"/>
                <a:sym typeface="微软雅黑" panose="020B0503020204020204" charset="-122"/>
              </a:rPr>
              <a:t>问如何选择才能在满足营养的前提</a:t>
            </a:r>
            <a:r>
              <a:rPr lang="zh-CN" altLang="en-US" dirty="0" smtClean="0">
                <a:solidFill>
                  <a:srgbClr val="000000"/>
                </a:solidFill>
                <a:latin typeface="宋体" panose="02010600030101010101" pitchFamily="2" charset="-122"/>
                <a:sym typeface="微软雅黑" panose="020B0503020204020204" charset="-122"/>
              </a:rPr>
              <a:t>下，使</a:t>
            </a:r>
            <a:r>
              <a:rPr lang="zh-CN" altLang="en-US" dirty="0">
                <a:solidFill>
                  <a:srgbClr val="000000"/>
                </a:solidFill>
                <a:latin typeface="宋体" panose="02010600030101010101" pitchFamily="2" charset="-122"/>
                <a:sym typeface="微软雅黑" panose="020B0503020204020204" charset="-122"/>
              </a:rPr>
              <a:t>购买食品的费用最小。</a:t>
            </a:r>
          </a:p>
        </p:txBody>
      </p:sp>
      <p:sp>
        <p:nvSpPr>
          <p:cNvPr id="5" name="圆角矩形 4"/>
          <p:cNvSpPr/>
          <p:nvPr>
            <p:custDataLst>
              <p:tags r:id="rId3"/>
            </p:custDataLst>
          </p:nvPr>
        </p:nvSpPr>
        <p:spPr bwMode="auto">
          <a:xfrm>
            <a:off x="6172200" y="6215063"/>
            <a:ext cx="1543050" cy="411480"/>
          </a:xfrm>
          <a:prstGeom prst="roundRect">
            <a:avLst/>
          </a:prstGeom>
          <a:solidFill>
            <a:srgbClr val="808080"/>
          </a:solidFill>
          <a:ln w="38100" cap="sq" cmpd="sng" algn="ctr">
            <a:solidFill>
              <a:srgbClr val="000000"/>
            </a:solidFill>
            <a:prstDash val="solid"/>
            <a:round/>
            <a:headEnd type="none" w="sm" len="sm"/>
            <a:tailEnd type="none" w="sm" len="sm"/>
          </a:ln>
        </p:spPr>
        <p:txBody>
          <a:bodyPr vert="horz" wrap="square" lIns="91440" tIns="45720" rIns="91440" bIns="45720" numCol="1" rtlCol="0" anchor="ctr" anchorCtr="1" compatLnSpc="1"/>
          <a:lstStyle/>
          <a:p>
            <a:pPr marL="0" marR="0" indent="0" algn="l" defTabSz="914400" rtl="0" eaLnBrk="0" fontAlgn="base" latinLnBrk="0" hangingPunct="0">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sym typeface="微软雅黑" panose="020B0503020204020204" charset="-122"/>
              </a:rPr>
              <a:t>作答</a:t>
            </a:r>
          </a:p>
        </p:txBody>
      </p:sp>
      <p:sp>
        <p:nvSpPr>
          <p:cNvPr id="11" name="矩形 10"/>
          <p:cNvSpPr/>
          <p:nvPr>
            <p:custDataLst>
              <p:tags r:id="rId4"/>
            </p:custDataLst>
          </p:nvPr>
        </p:nvSpPr>
        <p:spPr bwMode="auto">
          <a:xfrm>
            <a:off x="0" y="5849303"/>
            <a:ext cx="9144000" cy="365760"/>
          </a:xfrm>
          <a:prstGeom prst="rect">
            <a:avLst/>
          </a:prstGeom>
          <a:solidFill>
            <a:srgbClr val="FBFAEF"/>
          </a:solidFill>
          <a:ln w="12700" cap="sq" cmpd="sng" algn="ctr">
            <a:noFill/>
            <a:prstDash val="solid"/>
            <a:round/>
            <a:headEnd type="none" w="sm" len="sm"/>
            <a:tailEnd type="none" w="sm" len="sm"/>
          </a:ln>
          <a:extLst>
            <a:ext uri="{91240B29-F687-4F45-9708-019B960494DF}">
              <a14:hiddenLine xmlns:a14="http://schemas.microsoft.com/office/drawing/2010/main" w="12700">
                <a:solidFill>
                  <a:schemeClr val="tx1"/>
                </a:solidFill>
                <a:prstDash val="solid"/>
                <a:round/>
                <a:headEnd type="none" w="sm" len="sm"/>
                <a:tailEnd type="none" w="sm" len="sm"/>
              </a14:hiddenLine>
            </a:ext>
          </a:extLst>
        </p:spPr>
        <p:txBody>
          <a:bodyPr vert="horz" wrap="none" lIns="91440" tIns="45720" rIns="91440" bIns="45720" numCol="1" rtlCol="0" anchor="ctr" anchorCtr="1" compatLnSpc="1"/>
          <a:lstStyle/>
          <a:p>
            <a:r>
              <a:rPr kumimoji="1" lang="zh-CN" altLang="en-US" sz="1200" b="0" i="0" u="none" strike="noStrike" cap="none" normalizeH="0" baseline="0" smtClean="0">
                <a:ln>
                  <a:noFill/>
                </a:ln>
                <a:solidFill>
                  <a:srgbClr val="F84F41"/>
                </a:solidFill>
                <a:effectLst/>
                <a:latin typeface="微软雅黑" panose="020B0503020204020204" charset="-122"/>
                <a:ea typeface="微软雅黑" panose="020B0503020204020204" charset="-122"/>
                <a:sym typeface="微软雅黑" panose="020B0503020204020204" charset="-122"/>
              </a:rPr>
              <a:t>正常使用主观题需</a:t>
            </a:r>
            <a:r>
              <a:rPr kumimoji="1" lang="en-US" altLang="zh-CN" sz="1200" b="0" i="0" u="none" strike="noStrike" cap="none" normalizeH="0" baseline="0" smtClean="0">
                <a:ln>
                  <a:noFill/>
                </a:ln>
                <a:solidFill>
                  <a:srgbClr val="F84F41"/>
                </a:solidFill>
                <a:effectLst/>
                <a:latin typeface="微软雅黑" panose="020B0503020204020204" charset="-122"/>
                <a:ea typeface="微软雅黑" panose="020B0503020204020204" charset="-122"/>
                <a:sym typeface="微软雅黑" panose="020B0503020204020204" charset="-122"/>
              </a:rPr>
              <a:t>2.0</a:t>
            </a:r>
            <a:r>
              <a:rPr kumimoji="1" lang="zh-CN" altLang="en-US" sz="1200" b="0" i="0" u="none" strike="noStrike" cap="none" normalizeH="0" baseline="0" smtClean="0">
                <a:ln>
                  <a:noFill/>
                </a:ln>
                <a:solidFill>
                  <a:srgbClr val="F84F41"/>
                </a:solidFill>
                <a:effectLst/>
                <a:latin typeface="微软雅黑" panose="020B0503020204020204" charset="-122"/>
                <a:ea typeface="微软雅黑" panose="020B0503020204020204" charset="-122"/>
                <a:sym typeface="微软雅黑" panose="020B0503020204020204" charset="-122"/>
              </a:rPr>
              <a:t>以上版本雨课堂</a:t>
            </a:r>
          </a:p>
        </p:txBody>
      </p:sp>
      <p:graphicFrame>
        <p:nvGraphicFramePr>
          <p:cNvPr id="12" name="表格 11"/>
          <p:cNvGraphicFramePr>
            <a:graphicFrameLocks noGrp="1"/>
          </p:cNvGraphicFramePr>
          <p:nvPr/>
        </p:nvGraphicFramePr>
        <p:xfrm>
          <a:off x="1403648" y="3861048"/>
          <a:ext cx="6096000" cy="2122717"/>
        </p:xfrm>
        <a:graphic>
          <a:graphicData uri="http://schemas.openxmlformats.org/drawingml/2006/table">
            <a:tbl>
              <a:tblPr firstRow="1" bandRow="1">
                <a:tableStyleId>{5C22544A-7EE6-4342-B048-85BDC9FD1C3A}</a:tableStyleId>
              </a:tblPr>
              <a:tblGrid>
                <a:gridCol w="1016000"/>
                <a:gridCol w="1016000"/>
                <a:gridCol w="1016000"/>
                <a:gridCol w="1016000"/>
                <a:gridCol w="1016000"/>
                <a:gridCol w="1016000"/>
              </a:tblGrid>
              <a:tr h="640020">
                <a:tc>
                  <a:txBody>
                    <a:bodyPr/>
                    <a:lstStyle>
                      <a:defPPr>
                        <a:defRPr lang="zh-CN"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endParaRPr lang="zh-CN" altLang="en-US" sz="1800" dirty="0"/>
                    </a:p>
                  </a:txBody>
                  <a:tcPr marT="45693" marB="45693"/>
                </a:tc>
                <a:tc>
                  <a:txBody>
                    <a:bodyPr/>
                    <a:lstStyle>
                      <a:defPPr>
                        <a:defRPr lang="zh-CN"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r>
                        <a:rPr lang="zh-CN" altLang="en-US" sz="1800" dirty="0" smtClean="0"/>
                        <a:t>名称</a:t>
                      </a:r>
                      <a:endParaRPr lang="zh-CN" altLang="en-US" sz="1800" dirty="0"/>
                    </a:p>
                  </a:txBody>
                  <a:tcPr marT="45693" marB="45693"/>
                </a:tc>
                <a:tc>
                  <a:txBody>
                    <a:bodyPr/>
                    <a:lstStyle>
                      <a:defPPr>
                        <a:defRPr lang="zh-CN"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r>
                        <a:rPr lang="zh-CN" altLang="en-US" sz="1800" dirty="0" smtClean="0"/>
                        <a:t>热量（大卡）</a:t>
                      </a:r>
                      <a:endParaRPr lang="zh-CN" altLang="en-US" sz="1800" dirty="0"/>
                    </a:p>
                  </a:txBody>
                  <a:tcPr marT="45693" marB="45693"/>
                </a:tc>
                <a:tc>
                  <a:txBody>
                    <a:bodyPr/>
                    <a:lstStyle>
                      <a:defPPr>
                        <a:defRPr lang="zh-CN"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r>
                        <a:rPr lang="zh-CN" altLang="en-US" sz="1800" dirty="0" smtClean="0"/>
                        <a:t>蛋白质</a:t>
                      </a:r>
                      <a:endParaRPr lang="en-US" altLang="zh-CN" sz="1800" dirty="0" smtClean="0"/>
                    </a:p>
                    <a:p>
                      <a:pPr algn="ctr"/>
                      <a:r>
                        <a:rPr lang="zh-CN" altLang="en-US" sz="1800" dirty="0" smtClean="0"/>
                        <a:t>（</a:t>
                      </a:r>
                      <a:r>
                        <a:rPr lang="en-US" altLang="zh-CN" sz="1800" dirty="0" smtClean="0"/>
                        <a:t>g</a:t>
                      </a:r>
                      <a:r>
                        <a:rPr lang="zh-CN" altLang="en-US" sz="1800" dirty="0" smtClean="0"/>
                        <a:t>）</a:t>
                      </a:r>
                      <a:endParaRPr lang="en-US" altLang="zh-CN" sz="1800" dirty="0" smtClean="0"/>
                    </a:p>
                  </a:txBody>
                  <a:tcPr marT="45693" marB="45693"/>
                </a:tc>
                <a:tc>
                  <a:txBody>
                    <a:bodyPr/>
                    <a:lstStyle>
                      <a:defPPr>
                        <a:defRPr lang="zh-CN"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r>
                        <a:rPr lang="zh-CN" altLang="en-US" sz="1800" dirty="0" smtClean="0"/>
                        <a:t>钙</a:t>
                      </a:r>
                      <a:endParaRPr lang="en-US" altLang="zh-CN" sz="1800" dirty="0" smtClean="0"/>
                    </a:p>
                    <a:p>
                      <a:pPr algn="ctr"/>
                      <a:r>
                        <a:rPr lang="zh-CN" altLang="en-US" sz="1800" dirty="0" smtClean="0"/>
                        <a:t>（</a:t>
                      </a:r>
                      <a:r>
                        <a:rPr lang="en-US" altLang="zh-CN" sz="1800" dirty="0" smtClean="0"/>
                        <a:t>mg</a:t>
                      </a:r>
                      <a:r>
                        <a:rPr lang="zh-CN" altLang="en-US" sz="1800" dirty="0" smtClean="0"/>
                        <a:t>）</a:t>
                      </a:r>
                      <a:endParaRPr lang="en-US" altLang="zh-CN" sz="1800" dirty="0" smtClean="0"/>
                    </a:p>
                  </a:txBody>
                  <a:tcPr marT="45693" marB="45693"/>
                </a:tc>
                <a:tc>
                  <a:txBody>
                    <a:bodyPr/>
                    <a:lstStyle>
                      <a:defPPr>
                        <a:defRPr lang="zh-CN"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r>
                        <a:rPr lang="zh-CN" altLang="en-US" sz="1800" dirty="0" smtClean="0"/>
                        <a:t>价格</a:t>
                      </a:r>
                      <a:endParaRPr lang="en-US" altLang="zh-CN" sz="1800" dirty="0" smtClean="0"/>
                    </a:p>
                    <a:p>
                      <a:pPr algn="ctr"/>
                      <a:r>
                        <a:rPr lang="zh-CN" altLang="en-US" sz="1800" dirty="0" smtClean="0"/>
                        <a:t>（元）</a:t>
                      </a:r>
                      <a:endParaRPr lang="zh-CN" altLang="en-US" sz="1800" dirty="0"/>
                    </a:p>
                  </a:txBody>
                  <a:tcPr marT="45693" marB="45693"/>
                </a:tc>
              </a:tr>
              <a:tr h="370840">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1</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800" dirty="0" smtClean="0"/>
                        <a:t>猪肉</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1000</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50</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400</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34</a:t>
                      </a:r>
                      <a:endParaRPr lang="zh-CN" altLang="en-US" sz="1800" dirty="0"/>
                    </a:p>
                  </a:txBody>
                  <a:tcPr marT="45693" marB="45693"/>
                </a:tc>
              </a:tr>
              <a:tr h="370617">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2</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800" dirty="0" smtClean="0"/>
                        <a:t>鸡蛋</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800</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60</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200</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6</a:t>
                      </a:r>
                      <a:endParaRPr lang="zh-CN" altLang="en-US" sz="1800" dirty="0"/>
                    </a:p>
                  </a:txBody>
                  <a:tcPr marT="45693" marB="45693"/>
                </a:tc>
              </a:tr>
              <a:tr h="370617">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3</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800" dirty="0" smtClean="0"/>
                        <a:t>大米</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900</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20</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300</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3</a:t>
                      </a:r>
                      <a:endParaRPr lang="zh-CN" altLang="en-US" sz="1800" dirty="0"/>
                    </a:p>
                  </a:txBody>
                  <a:tcPr marT="45693" marB="45693"/>
                </a:tc>
              </a:tr>
              <a:tr h="370617">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4</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800" dirty="0" smtClean="0"/>
                        <a:t>白菜</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200</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10</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500</a:t>
                      </a:r>
                      <a:endParaRPr lang="zh-CN" altLang="en-US" sz="1800" dirty="0"/>
                    </a:p>
                  </a:txBody>
                  <a:tcPr marT="45693" marB="45693"/>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sz="1800" dirty="0" smtClean="0"/>
                        <a:t>2</a:t>
                      </a:r>
                      <a:endParaRPr lang="zh-CN" altLang="en-US" sz="1800" dirty="0"/>
                    </a:p>
                  </a:txBody>
                  <a:tcPr marT="45693" marB="45693"/>
                </a:tc>
              </a:tr>
            </a:tbl>
          </a:graphicData>
        </a:graphic>
      </p:graphicFrame>
      <p:grpSp>
        <p:nvGrpSpPr>
          <p:cNvPr id="10" name="组合 9"/>
          <p:cNvGrpSpPr/>
          <p:nvPr>
            <p:custDataLst>
              <p:tags r:id="rId5"/>
            </p:custDataLst>
          </p:nvPr>
        </p:nvGrpSpPr>
        <p:grpSpPr>
          <a:xfrm>
            <a:off x="0" y="0"/>
            <a:ext cx="9144000" cy="635000"/>
            <a:chOff x="0" y="0"/>
            <a:chExt cx="9144000" cy="635000"/>
          </a:xfrm>
        </p:grpSpPr>
        <p:sp>
          <p:nvSpPr>
            <p:cNvPr id="6" name="TitleBackground"/>
            <p:cNvSpPr/>
            <p:nvPr>
              <p:custDataLst>
                <p:tags r:id="rId7"/>
              </p:custDataLst>
            </p:nvPr>
          </p:nvSpPr>
          <p:spPr bwMode="auto">
            <a:xfrm>
              <a:off x="0" y="0"/>
              <a:ext cx="9144000" cy="635000"/>
            </a:xfrm>
            <a:prstGeom prst="rect">
              <a:avLst/>
            </a:prstGeom>
            <a:solidFill>
              <a:srgbClr val="F6F7F8"/>
            </a:solidFill>
            <a:ln w="12700" cap="sq" cmpd="sng" algn="ctr">
              <a:noFill/>
              <a:prstDash val="solid"/>
              <a:round/>
              <a:headEnd type="none" w="sm" len="sm"/>
              <a:tailEnd type="none" w="sm" len="sm"/>
            </a:ln>
            <a:extLst>
              <a:ext uri="{91240B29-F687-4F45-9708-019B960494DF}">
                <a14:hiddenLine xmlns:a14="http://schemas.microsoft.com/office/drawing/2010/main" w="12700">
                  <a:solidFill>
                    <a:schemeClr val="tx1"/>
                  </a:solidFill>
                  <a:prstDash val="solid"/>
                  <a:round/>
                  <a:headEnd type="none" w="sm" len="sm"/>
                  <a:tailEnd type="none" w="sm" len="sm"/>
                </a14:hiddenLine>
              </a:ext>
            </a:ex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7" name="ColorBlock"/>
            <p:cNvSpPr/>
            <p:nvPr>
              <p:custDataLst>
                <p:tags r:id="rId8"/>
              </p:custDataLst>
            </p:nvPr>
          </p:nvSpPr>
          <p:spPr bwMode="auto">
            <a:xfrm>
              <a:off x="0" y="0"/>
              <a:ext cx="190500" cy="635000"/>
            </a:xfrm>
            <a:prstGeom prst="rect">
              <a:avLst/>
            </a:prstGeom>
            <a:solidFill>
              <a:srgbClr val="639EF4"/>
            </a:solidFill>
            <a:ln w="12700" cap="sq" cmpd="sng" algn="ctr">
              <a:noFill/>
              <a:prstDash val="solid"/>
              <a:round/>
              <a:headEnd type="none" w="sm" len="sm"/>
              <a:tailEnd type="none" w="sm" len="sm"/>
            </a:ln>
            <a:extLst>
              <a:ext uri="{91240B29-F687-4F45-9708-019B960494DF}">
                <a14:hiddenLine xmlns:a14="http://schemas.microsoft.com/office/drawing/2010/main" w="12700">
                  <a:solidFill>
                    <a:schemeClr val="tx1"/>
                  </a:solidFill>
                  <a:prstDash val="solid"/>
                  <a:round/>
                  <a:headEnd type="none" w="sm" len="sm"/>
                  <a:tailEnd type="none" w="sm" len="sm"/>
                </a14:hiddenLine>
              </a:ext>
            </a:ex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8"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charset="-122"/>
                  <a:ea typeface="微软雅黑" panose="020B0503020204020204" charset="-122"/>
                  <a:sym typeface="微软雅黑" panose="020B0503020204020204" charset="-122"/>
                </a:rPr>
                <a:t>主观题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charset="-122"/>
                  <a:ea typeface="微软雅黑" panose="020B0503020204020204" charset="-122"/>
                  <a:sym typeface="微软雅黑" panose="020B0503020204020204" charset="-122"/>
                </a:rPr>
                <a:t>10</a:t>
              </a:r>
              <a:r>
                <a:rPr lang="zh-CN" altLang="en-US" sz="2000" smtClean="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20 2"/>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p:cNvSpPr>
          <p:nvPr>
            <p:ph idx="1"/>
          </p:nvPr>
        </p:nvSpPr>
        <p:spPr>
          <a:xfrm>
            <a:off x="992188" y="1700808"/>
            <a:ext cx="7467600" cy="4572000"/>
          </a:xfrm>
        </p:spPr>
        <p:txBody>
          <a:bodyPr vert="horz" wrap="square" lIns="91440" tIns="45720" rIns="91440" bIns="45720" anchor="t"/>
          <a:lstStyle/>
          <a:p>
            <a:pPr defTabSz="762000" eaLnBrk="1" hangingPunct="1">
              <a:lnSpc>
                <a:spcPct val="120000"/>
              </a:lnSpc>
            </a:pPr>
            <a:r>
              <a:rPr lang="zh-CN" altLang="en-US" sz="2400" b="0" dirty="0" smtClean="0">
                <a:solidFill>
                  <a:srgbClr val="FF0000"/>
                </a:solidFill>
                <a:latin typeface="Times New Roman" panose="02020603050405020304" pitchFamily="18" charset="0"/>
              </a:rPr>
              <a:t>决策变量</a:t>
            </a:r>
            <a:endParaRPr lang="en-US" altLang="zh-CN" sz="2400" b="0" dirty="0" smtClean="0">
              <a:solidFill>
                <a:srgbClr val="FF0000"/>
              </a:solidFill>
              <a:latin typeface="Times New Roman" panose="02020603050405020304" pitchFamily="18" charset="0"/>
            </a:endParaRPr>
          </a:p>
          <a:p>
            <a:pPr marL="0" indent="990600" defTabSz="762000" eaLnBrk="1" hangingPunct="1">
              <a:lnSpc>
                <a:spcPct val="120000"/>
              </a:lnSpc>
              <a:buNone/>
            </a:pPr>
            <a:r>
              <a:rPr lang="en-US" altLang="zh-CN" sz="2400" b="0" dirty="0">
                <a:solidFill>
                  <a:schemeClr val="bg1"/>
                </a:solidFill>
                <a:latin typeface="Times New Roman" panose="02020603050405020304" pitchFamily="18" charset="0"/>
              </a:rPr>
              <a:t> </a:t>
            </a:r>
            <a:r>
              <a:rPr lang="zh-CN" altLang="en-US" sz="2400" b="0" dirty="0" smtClean="0">
                <a:solidFill>
                  <a:schemeClr val="bg1"/>
                </a:solidFill>
                <a:latin typeface="Times New Roman" panose="02020603050405020304" pitchFamily="18" charset="0"/>
              </a:rPr>
              <a:t>设</a:t>
            </a:r>
            <a:r>
              <a:rPr lang="en-US" altLang="zh-CN" sz="2400" b="0" i="1" dirty="0">
                <a:solidFill>
                  <a:schemeClr val="bg1"/>
                </a:solidFill>
                <a:latin typeface="Times New Roman" panose="02020603050405020304" pitchFamily="18" charset="0"/>
              </a:rPr>
              <a:t>x</a:t>
            </a:r>
            <a:r>
              <a:rPr lang="en-US" altLang="zh-CN" sz="2400" b="0" i="1" baseline="-25000" dirty="0">
                <a:solidFill>
                  <a:schemeClr val="bg1"/>
                </a:solidFill>
                <a:latin typeface="Times New Roman" panose="02020603050405020304" pitchFamily="18" charset="0"/>
              </a:rPr>
              <a:t>i </a:t>
            </a:r>
            <a:r>
              <a:rPr lang="zh-CN" altLang="en-US" sz="2400" b="0" dirty="0">
                <a:solidFill>
                  <a:schemeClr val="bg1"/>
                </a:solidFill>
                <a:latin typeface="Times New Roman" panose="02020603050405020304" pitchFamily="18" charset="0"/>
              </a:rPr>
              <a:t>为</a:t>
            </a:r>
            <a:r>
              <a:rPr lang="en-US" altLang="en-US" sz="2400" b="0" dirty="0">
                <a:solidFill>
                  <a:schemeClr val="bg1"/>
                </a:solidFill>
                <a:latin typeface="Times New Roman" panose="02020603050405020304" pitchFamily="18" charset="0"/>
              </a:rPr>
              <a:t>每天购入</a:t>
            </a:r>
            <a:r>
              <a:rPr lang="en-US" altLang="zh-CN" sz="2400" b="0" dirty="0">
                <a:solidFill>
                  <a:schemeClr val="bg1"/>
                </a:solidFill>
                <a:latin typeface="Times New Roman" panose="02020603050405020304" pitchFamily="18" charset="0"/>
              </a:rPr>
              <a:t>第</a:t>
            </a:r>
            <a:r>
              <a:rPr lang="en-US" altLang="zh-CN" sz="2400" b="0" i="1" dirty="0">
                <a:solidFill>
                  <a:schemeClr val="bg1"/>
                </a:solidFill>
                <a:latin typeface="Times New Roman" panose="02020603050405020304" pitchFamily="18" charset="0"/>
              </a:rPr>
              <a:t>i</a:t>
            </a:r>
            <a:r>
              <a:rPr lang="en-US" altLang="en-US" sz="2400" b="0" dirty="0">
                <a:solidFill>
                  <a:schemeClr val="bg1"/>
                </a:solidFill>
                <a:latin typeface="Times New Roman" panose="02020603050405020304" pitchFamily="18" charset="0"/>
              </a:rPr>
              <a:t>种食品</a:t>
            </a:r>
            <a:r>
              <a:rPr lang="en-US" altLang="zh-CN" sz="2400" b="0" dirty="0">
                <a:solidFill>
                  <a:schemeClr val="bg1"/>
                </a:solidFill>
                <a:latin typeface="Times New Roman" panose="02020603050405020304" pitchFamily="18" charset="0"/>
              </a:rPr>
              <a:t>的</a:t>
            </a:r>
            <a:r>
              <a:rPr lang="zh-CN" altLang="en-US" sz="2400" b="0" dirty="0">
                <a:solidFill>
                  <a:schemeClr val="bg1"/>
                </a:solidFill>
                <a:latin typeface="Times New Roman" panose="02020603050405020304" pitchFamily="18" charset="0"/>
              </a:rPr>
              <a:t>数</a:t>
            </a:r>
            <a:r>
              <a:rPr lang="en-US" altLang="zh-CN" sz="2400" b="0" dirty="0">
                <a:solidFill>
                  <a:schemeClr val="bg1"/>
                </a:solidFill>
                <a:latin typeface="Times New Roman" panose="02020603050405020304" pitchFamily="18" charset="0"/>
              </a:rPr>
              <a:t>量。</a:t>
            </a:r>
          </a:p>
          <a:p>
            <a:pPr defTabSz="762000" eaLnBrk="1" hangingPunct="1">
              <a:lnSpc>
                <a:spcPct val="120000"/>
              </a:lnSpc>
            </a:pPr>
            <a:r>
              <a:rPr lang="en-US" altLang="zh-CN" sz="2400" b="0" dirty="0">
                <a:solidFill>
                  <a:srgbClr val="FF0000"/>
                </a:solidFill>
                <a:latin typeface="Times New Roman" panose="02020603050405020304" pitchFamily="18" charset="0"/>
              </a:rPr>
              <a:t>目标</a:t>
            </a:r>
            <a:r>
              <a:rPr lang="zh-CN" altLang="en-US" sz="2400" b="0" dirty="0">
                <a:solidFill>
                  <a:srgbClr val="FF0000"/>
                </a:solidFill>
                <a:latin typeface="Times New Roman" panose="02020603050405020304" pitchFamily="18" charset="0"/>
              </a:rPr>
              <a:t>函数</a:t>
            </a:r>
            <a:r>
              <a:rPr lang="zh-CN" altLang="en-US" sz="2400" b="0" dirty="0">
                <a:solidFill>
                  <a:schemeClr val="bg1"/>
                </a:solidFill>
                <a:latin typeface="Times New Roman" panose="02020603050405020304" pitchFamily="18" charset="0"/>
              </a:rPr>
              <a:t>：每天采购成本最小</a:t>
            </a:r>
            <a:endParaRPr lang="en-US" altLang="en-US" sz="2400" b="0" dirty="0">
              <a:solidFill>
                <a:schemeClr val="bg1"/>
              </a:solidFill>
              <a:latin typeface="Times New Roman" panose="02020603050405020304" pitchFamily="18" charset="0"/>
            </a:endParaRPr>
          </a:p>
          <a:p>
            <a:pPr lvl="1" indent="339725" defTabSz="762000" eaLnBrk="1" hangingPunct="1">
              <a:lnSpc>
                <a:spcPct val="120000"/>
              </a:lnSpc>
              <a:buNone/>
            </a:pPr>
            <a:r>
              <a:rPr lang="en-US" altLang="zh-CN" sz="2400" i="1" dirty="0">
                <a:solidFill>
                  <a:schemeClr val="bg1"/>
                </a:solidFill>
                <a:latin typeface="Times New Roman" panose="02020603050405020304" pitchFamily="18" charset="0"/>
              </a:rPr>
              <a:t>Min</a:t>
            </a:r>
            <a:r>
              <a:rPr lang="en-US" altLang="zh-CN" sz="2400" dirty="0">
                <a:solidFill>
                  <a:schemeClr val="bg1"/>
                </a:solidFill>
                <a:latin typeface="Times New Roman" panose="02020603050405020304" pitchFamily="18" charset="0"/>
              </a:rPr>
              <a:t> </a:t>
            </a:r>
            <a:r>
              <a:rPr lang="en-US" altLang="zh-CN" sz="2400" i="1" dirty="0">
                <a:solidFill>
                  <a:schemeClr val="bg1"/>
                </a:solidFill>
                <a:latin typeface="Times New Roman" panose="02020603050405020304" pitchFamily="18" charset="0"/>
              </a:rPr>
              <a:t>z </a:t>
            </a:r>
            <a:r>
              <a:rPr lang="en-US" altLang="zh-CN" sz="2400" dirty="0">
                <a:solidFill>
                  <a:schemeClr val="bg1"/>
                </a:solidFill>
                <a:latin typeface="Times New Roman" panose="02020603050405020304" pitchFamily="18" charset="0"/>
              </a:rPr>
              <a:t>= 14</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1 </a:t>
            </a:r>
            <a:r>
              <a:rPr lang="en-US" altLang="zh-CN" sz="2400" dirty="0">
                <a:solidFill>
                  <a:schemeClr val="bg1"/>
                </a:solidFill>
                <a:latin typeface="Times New Roman" panose="02020603050405020304" pitchFamily="18" charset="0"/>
              </a:rPr>
              <a:t>+ 6</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2 </a:t>
            </a:r>
            <a:r>
              <a:rPr lang="en-US" altLang="zh-CN" sz="2400" dirty="0">
                <a:solidFill>
                  <a:schemeClr val="bg1"/>
                </a:solidFill>
                <a:latin typeface="Times New Roman" panose="02020603050405020304" pitchFamily="18" charset="0"/>
              </a:rPr>
              <a:t>+ 3</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3 </a:t>
            </a:r>
            <a:r>
              <a:rPr lang="en-US" altLang="zh-CN" sz="2400" dirty="0">
                <a:solidFill>
                  <a:schemeClr val="bg1"/>
                </a:solidFill>
                <a:latin typeface="Times New Roman" panose="02020603050405020304" pitchFamily="18" charset="0"/>
              </a:rPr>
              <a:t>+ 2</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4</a:t>
            </a:r>
          </a:p>
          <a:p>
            <a:pPr indent="282575" defTabSz="762000" eaLnBrk="1" hangingPunct="1">
              <a:lnSpc>
                <a:spcPct val="120000"/>
              </a:lnSpc>
            </a:pPr>
            <a:r>
              <a:rPr lang="zh-CN" altLang="en-US" sz="2400" b="0" dirty="0">
                <a:solidFill>
                  <a:srgbClr val="FF0000"/>
                </a:solidFill>
                <a:latin typeface="Times New Roman" panose="02020603050405020304" pitchFamily="18" charset="0"/>
              </a:rPr>
              <a:t>约束方程</a:t>
            </a:r>
            <a:r>
              <a:rPr lang="zh-CN" altLang="en-US" sz="2400" b="0" dirty="0">
                <a:solidFill>
                  <a:schemeClr val="bg1"/>
                </a:solidFill>
                <a:latin typeface="Times New Roman" panose="02020603050405020304" pitchFamily="18" charset="0"/>
              </a:rPr>
              <a:t>：满足每天的营养要求</a:t>
            </a:r>
          </a:p>
          <a:p>
            <a:pPr lvl="1" defTabSz="762000" eaLnBrk="1" hangingPunct="1">
              <a:lnSpc>
                <a:spcPct val="120000"/>
              </a:lnSpc>
            </a:pPr>
            <a:r>
              <a:rPr lang="zh-CN" altLang="en-US" sz="2400" dirty="0">
                <a:solidFill>
                  <a:schemeClr val="bg1"/>
                </a:solidFill>
                <a:latin typeface="Times New Roman" panose="02020603050405020304" pitchFamily="18" charset="0"/>
              </a:rPr>
              <a:t>满足</a:t>
            </a:r>
            <a:r>
              <a:rPr lang="en-US" altLang="zh-CN" sz="2400" dirty="0">
                <a:solidFill>
                  <a:schemeClr val="bg1"/>
                </a:solidFill>
                <a:latin typeface="Times New Roman" panose="02020603050405020304" pitchFamily="18" charset="0"/>
              </a:rPr>
              <a:t>3000</a:t>
            </a:r>
            <a:r>
              <a:rPr lang="zh-CN" altLang="en-US" sz="2400" dirty="0">
                <a:solidFill>
                  <a:schemeClr val="bg1"/>
                </a:solidFill>
                <a:latin typeface="Times New Roman" panose="02020603050405020304" pitchFamily="18" charset="0"/>
              </a:rPr>
              <a:t>大卡的热量要求</a:t>
            </a:r>
          </a:p>
          <a:p>
            <a:pPr lvl="1" defTabSz="762000" eaLnBrk="1" hangingPunct="1">
              <a:lnSpc>
                <a:spcPct val="120000"/>
              </a:lnSpc>
              <a:buNone/>
            </a:pPr>
            <a:r>
              <a:rPr lang="en-US" altLang="zh-CN" sz="2400" dirty="0">
                <a:solidFill>
                  <a:schemeClr val="bg1"/>
                </a:solidFill>
                <a:latin typeface="Times New Roman" panose="02020603050405020304" pitchFamily="18" charset="0"/>
              </a:rPr>
              <a:t>    1000</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1</a:t>
            </a:r>
            <a:r>
              <a:rPr lang="en-US" altLang="zh-CN" sz="2400" dirty="0">
                <a:solidFill>
                  <a:schemeClr val="bg1"/>
                </a:solidFill>
                <a:latin typeface="Times New Roman" panose="02020603050405020304" pitchFamily="18" charset="0"/>
              </a:rPr>
              <a:t>+800</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2</a:t>
            </a:r>
            <a:r>
              <a:rPr lang="en-US" altLang="zh-CN" sz="2400" dirty="0">
                <a:solidFill>
                  <a:schemeClr val="bg1"/>
                </a:solidFill>
                <a:latin typeface="Times New Roman" panose="02020603050405020304" pitchFamily="18" charset="0"/>
              </a:rPr>
              <a:t>+900</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3</a:t>
            </a:r>
            <a:r>
              <a:rPr lang="en-US" altLang="zh-CN" sz="2400" dirty="0">
                <a:solidFill>
                  <a:schemeClr val="bg1"/>
                </a:solidFill>
                <a:latin typeface="Times New Roman" panose="02020603050405020304" pitchFamily="18" charset="0"/>
              </a:rPr>
              <a:t>+200</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4 </a:t>
            </a:r>
            <a:r>
              <a:rPr lang="en-US" altLang="zh-CN" sz="2400" dirty="0">
                <a:solidFill>
                  <a:schemeClr val="bg1"/>
                </a:solidFill>
                <a:latin typeface="Times New Roman" panose="02020603050405020304" pitchFamily="18" charset="0"/>
                <a:sym typeface="Symbol" panose="05050102010706020507" pitchFamily="18" charset="2"/>
              </a:rPr>
              <a:t> </a:t>
            </a:r>
            <a:r>
              <a:rPr lang="en-US" altLang="zh-CN" sz="2400" dirty="0" smtClean="0">
                <a:solidFill>
                  <a:schemeClr val="bg1"/>
                </a:solidFill>
                <a:latin typeface="Times New Roman" panose="02020603050405020304" pitchFamily="18" charset="0"/>
              </a:rPr>
              <a:t>3000</a:t>
            </a:r>
            <a:endParaRPr lang="en-US" altLang="zh-CN" sz="2400" dirty="0">
              <a:solidFill>
                <a:schemeClr val="bg1"/>
              </a:solidFill>
              <a:latin typeface="Times New Roman" panose="02020603050405020304" pitchFamily="18" charset="0"/>
            </a:endParaRPr>
          </a:p>
        </p:txBody>
      </p:sp>
      <p:sp>
        <p:nvSpPr>
          <p:cNvPr id="6"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smtClean="0">
                <a:solidFill>
                  <a:schemeClr val="accent2"/>
                </a:solidFill>
                <a:sym typeface="+mn-ea"/>
              </a:rPr>
              <a:t>6.1 </a:t>
            </a:r>
            <a:r>
              <a:rPr kumimoji="0" lang="zh-CN" altLang="en-US" kern="1200" smtClean="0">
                <a:solidFill>
                  <a:schemeClr val="accent2"/>
                </a:solidFill>
                <a:sym typeface="+mn-ea"/>
              </a:rPr>
              <a:t>线性规划模型</a:t>
            </a:r>
            <a:endParaRPr kumimoji="0" lang="en-US" altLang="zh-CN" kern="1200" dirty="0" smtClean="0">
              <a:solidFill>
                <a:schemeClr val="accent2"/>
              </a:solidFill>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animEffect transition="in" filter="wipe(left)">
                                      <p:cBhvr>
                                        <p:cTn id="7" dur="500"/>
                                        <p:tgtEl>
                                          <p:spTgt spid="1229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291">
                                            <p:txEl>
                                              <p:pRg st="3" end="3"/>
                                            </p:txEl>
                                          </p:spTgt>
                                        </p:tgtEl>
                                        <p:attrNameLst>
                                          <p:attrName>style.visibility</p:attrName>
                                        </p:attrNameLst>
                                      </p:cBhvr>
                                      <p:to>
                                        <p:strVal val="visible"/>
                                      </p:to>
                                    </p:set>
                                    <p:animEffect transition="in" filter="wipe(left)">
                                      <p:cBhvr>
                                        <p:cTn id="12" dur="500"/>
                                        <p:tgtEl>
                                          <p:spTgt spid="1229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291">
                                            <p:txEl>
                                              <p:pRg st="5" end="5"/>
                                            </p:txEl>
                                          </p:spTgt>
                                        </p:tgtEl>
                                        <p:attrNameLst>
                                          <p:attrName>style.visibility</p:attrName>
                                        </p:attrNameLst>
                                      </p:cBhvr>
                                      <p:to>
                                        <p:strVal val="visible"/>
                                      </p:to>
                                    </p:set>
                                    <p:animEffect transition="in" filter="wipe(left)">
                                      <p:cBhvr>
                                        <p:cTn id="17" dur="500"/>
                                        <p:tgtEl>
                                          <p:spTgt spid="12291">
                                            <p:txEl>
                                              <p:pRg st="5" end="5"/>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12291">
                                            <p:txEl>
                                              <p:pRg st="6" end="6"/>
                                            </p:txEl>
                                          </p:spTgt>
                                        </p:tgtEl>
                                        <p:attrNameLst>
                                          <p:attrName>style.visibility</p:attrName>
                                        </p:attrNameLst>
                                      </p:cBhvr>
                                      <p:to>
                                        <p:strVal val="visible"/>
                                      </p:to>
                                    </p:set>
                                    <p:animEffect transition="in" filter="wipe(left)">
                                      <p:cBhvr>
                                        <p:cTn id="20" dur="500"/>
                                        <p:tgtEl>
                                          <p:spTgt spid="122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p:cNvSpPr>
          <p:nvPr>
            <p:ph idx="1"/>
          </p:nvPr>
        </p:nvSpPr>
        <p:spPr>
          <a:xfrm>
            <a:off x="992188" y="1700808"/>
            <a:ext cx="7467600" cy="4572000"/>
          </a:xfrm>
        </p:spPr>
        <p:txBody>
          <a:bodyPr vert="horz" wrap="square" lIns="91440" tIns="45720" rIns="91440" bIns="45720" anchor="t"/>
          <a:lstStyle/>
          <a:p>
            <a:pPr lvl="1" defTabSz="762000" eaLnBrk="1" hangingPunct="1">
              <a:lnSpc>
                <a:spcPct val="120000"/>
              </a:lnSpc>
            </a:pPr>
            <a:r>
              <a:rPr lang="zh-CN" altLang="en-US" sz="2400" dirty="0" smtClean="0">
                <a:solidFill>
                  <a:schemeClr val="bg1"/>
                </a:solidFill>
                <a:latin typeface="Times New Roman" panose="02020603050405020304" pitchFamily="18" charset="0"/>
              </a:rPr>
              <a:t>满足</a:t>
            </a:r>
            <a:r>
              <a:rPr lang="zh-CN" altLang="en-US" sz="2400" dirty="0">
                <a:solidFill>
                  <a:schemeClr val="bg1"/>
                </a:solidFill>
                <a:latin typeface="Times New Roman" panose="02020603050405020304" pitchFamily="18" charset="0"/>
              </a:rPr>
              <a:t>蛋白质摄入量要求：</a:t>
            </a:r>
          </a:p>
          <a:p>
            <a:pPr lvl="1" defTabSz="762000" eaLnBrk="1" hangingPunct="1">
              <a:lnSpc>
                <a:spcPct val="120000"/>
              </a:lnSpc>
              <a:buNone/>
            </a:pPr>
            <a:r>
              <a:rPr lang="en-US" altLang="zh-CN" sz="2400" dirty="0">
                <a:solidFill>
                  <a:schemeClr val="bg1"/>
                </a:solidFill>
                <a:latin typeface="Times New Roman" panose="02020603050405020304" pitchFamily="18" charset="0"/>
              </a:rPr>
              <a:t>     50</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1 </a:t>
            </a:r>
            <a:r>
              <a:rPr lang="en-US" altLang="zh-CN" sz="2400" dirty="0">
                <a:solidFill>
                  <a:schemeClr val="bg1"/>
                </a:solidFill>
                <a:latin typeface="Times New Roman" panose="02020603050405020304" pitchFamily="18" charset="0"/>
              </a:rPr>
              <a:t>+ 60</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2 </a:t>
            </a:r>
            <a:r>
              <a:rPr lang="en-US" altLang="zh-CN" sz="2400" dirty="0">
                <a:solidFill>
                  <a:schemeClr val="bg1"/>
                </a:solidFill>
                <a:latin typeface="Times New Roman" panose="02020603050405020304" pitchFamily="18" charset="0"/>
              </a:rPr>
              <a:t>+ 20</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3 </a:t>
            </a:r>
            <a:r>
              <a:rPr lang="en-US" altLang="zh-CN" sz="2400" dirty="0">
                <a:solidFill>
                  <a:schemeClr val="bg1"/>
                </a:solidFill>
                <a:latin typeface="Times New Roman" panose="02020603050405020304" pitchFamily="18" charset="0"/>
              </a:rPr>
              <a:t>+ 10</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4 </a:t>
            </a:r>
            <a:r>
              <a:rPr lang="en-US" altLang="zh-CN" sz="2400" dirty="0">
                <a:solidFill>
                  <a:schemeClr val="bg1"/>
                </a:solidFill>
                <a:latin typeface="Times New Roman" panose="02020603050405020304" pitchFamily="18" charset="0"/>
                <a:sym typeface="Symbol" panose="05050102010706020507" pitchFamily="18" charset="2"/>
              </a:rPr>
              <a:t></a:t>
            </a:r>
            <a:r>
              <a:rPr lang="en-US" altLang="zh-CN" sz="2400" dirty="0">
                <a:solidFill>
                  <a:schemeClr val="bg1"/>
                </a:solidFill>
                <a:latin typeface="Times New Roman" panose="02020603050405020304" pitchFamily="18" charset="0"/>
              </a:rPr>
              <a:t> 55</a:t>
            </a:r>
          </a:p>
          <a:p>
            <a:pPr lvl="1" defTabSz="762000" eaLnBrk="1" hangingPunct="1">
              <a:lnSpc>
                <a:spcPct val="120000"/>
              </a:lnSpc>
            </a:pPr>
            <a:r>
              <a:rPr lang="zh-CN" altLang="en-US" sz="2400" dirty="0">
                <a:solidFill>
                  <a:schemeClr val="bg1"/>
                </a:solidFill>
                <a:latin typeface="Times New Roman" panose="02020603050405020304" pitchFamily="18" charset="0"/>
              </a:rPr>
              <a:t>满足钙摄入量要求：</a:t>
            </a:r>
          </a:p>
          <a:p>
            <a:pPr lvl="1" defTabSz="762000" eaLnBrk="1" hangingPunct="1">
              <a:lnSpc>
                <a:spcPct val="120000"/>
              </a:lnSpc>
              <a:buNone/>
            </a:pPr>
            <a:r>
              <a:rPr lang="en-US" altLang="zh-CN" sz="2400" dirty="0">
                <a:solidFill>
                  <a:schemeClr val="bg1"/>
                </a:solidFill>
                <a:latin typeface="Times New Roman" panose="02020603050405020304" pitchFamily="18" charset="0"/>
              </a:rPr>
              <a:t>     400</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1 </a:t>
            </a:r>
            <a:r>
              <a:rPr lang="en-US" altLang="zh-CN" sz="2400" dirty="0">
                <a:solidFill>
                  <a:schemeClr val="bg1"/>
                </a:solidFill>
                <a:latin typeface="Times New Roman" panose="02020603050405020304" pitchFamily="18" charset="0"/>
              </a:rPr>
              <a:t>+200</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2 </a:t>
            </a:r>
            <a:r>
              <a:rPr lang="en-US" altLang="zh-CN" sz="2400" dirty="0">
                <a:solidFill>
                  <a:schemeClr val="bg1"/>
                </a:solidFill>
                <a:latin typeface="Times New Roman" panose="02020603050405020304" pitchFamily="18" charset="0"/>
              </a:rPr>
              <a:t>+300</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3 </a:t>
            </a:r>
            <a:r>
              <a:rPr lang="en-US" altLang="zh-CN" sz="2400" dirty="0">
                <a:solidFill>
                  <a:schemeClr val="bg1"/>
                </a:solidFill>
                <a:latin typeface="Times New Roman" panose="02020603050405020304" pitchFamily="18" charset="0"/>
              </a:rPr>
              <a:t>+500</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4 </a:t>
            </a:r>
            <a:r>
              <a:rPr lang="en-US" altLang="zh-CN" sz="2400" dirty="0">
                <a:solidFill>
                  <a:schemeClr val="bg1"/>
                </a:solidFill>
                <a:latin typeface="Times New Roman" panose="02020603050405020304" pitchFamily="18" charset="0"/>
                <a:sym typeface="Symbol" panose="05050102010706020507" pitchFamily="18" charset="2"/>
              </a:rPr>
              <a:t> </a:t>
            </a:r>
            <a:r>
              <a:rPr lang="en-US" altLang="zh-CN" sz="2400" dirty="0">
                <a:solidFill>
                  <a:schemeClr val="bg1"/>
                </a:solidFill>
                <a:latin typeface="Times New Roman" panose="02020603050405020304" pitchFamily="18" charset="0"/>
              </a:rPr>
              <a:t>800</a:t>
            </a:r>
          </a:p>
          <a:p>
            <a:pPr lvl="1" defTabSz="762000" eaLnBrk="1" hangingPunct="1">
              <a:lnSpc>
                <a:spcPct val="120000"/>
              </a:lnSpc>
            </a:pPr>
            <a:r>
              <a:rPr lang="zh-CN" altLang="en-US" sz="2400" dirty="0">
                <a:solidFill>
                  <a:schemeClr val="bg1"/>
                </a:solidFill>
                <a:latin typeface="Times New Roman" panose="02020603050405020304" pitchFamily="18" charset="0"/>
              </a:rPr>
              <a:t>非负约束</a:t>
            </a:r>
            <a:r>
              <a:rPr lang="en-US" altLang="zh-CN" sz="2400" dirty="0">
                <a:solidFill>
                  <a:schemeClr val="bg1"/>
                </a:solidFill>
                <a:latin typeface="Times New Roman" panose="02020603050405020304" pitchFamily="18" charset="0"/>
              </a:rPr>
              <a:t>--</a:t>
            </a:r>
            <a:r>
              <a:rPr lang="zh-CN" altLang="en-US" sz="2400" dirty="0">
                <a:solidFill>
                  <a:schemeClr val="bg1"/>
                </a:solidFill>
                <a:latin typeface="Times New Roman" panose="02020603050405020304" pitchFamily="18" charset="0"/>
              </a:rPr>
              <a:t>采购的食品量不能为负值</a:t>
            </a:r>
          </a:p>
          <a:p>
            <a:pPr lvl="1" defTabSz="762000" eaLnBrk="1" hangingPunct="1">
              <a:lnSpc>
                <a:spcPct val="120000"/>
              </a:lnSpc>
              <a:buNone/>
            </a:pPr>
            <a:r>
              <a:rPr lang="en-US" altLang="zh-CN" sz="2400" dirty="0">
                <a:solidFill>
                  <a:schemeClr val="bg1"/>
                </a:solidFill>
                <a:latin typeface="Times New Roman" panose="02020603050405020304" pitchFamily="18" charset="0"/>
              </a:rPr>
              <a:t>      </a:t>
            </a:r>
            <a:r>
              <a:rPr lang="zh-CN" altLang="en-US" sz="2400" dirty="0">
                <a:solidFill>
                  <a:schemeClr val="bg1"/>
                </a:solidFill>
                <a:latin typeface="Times New Roman" panose="02020603050405020304" pitchFamily="18" charset="0"/>
              </a:rPr>
              <a:t>	</a:t>
            </a:r>
            <a:r>
              <a:rPr lang="en-US" altLang="zh-CN" sz="2400" i="1" dirty="0" smtClean="0">
                <a:solidFill>
                  <a:schemeClr val="bg1"/>
                </a:solidFill>
                <a:latin typeface="Times New Roman" panose="02020603050405020304" pitchFamily="18" charset="0"/>
              </a:rPr>
              <a:t>x</a:t>
            </a:r>
            <a:r>
              <a:rPr lang="en-US" altLang="zh-CN" sz="2400" i="1" baseline="-25000" dirty="0" smtClean="0">
                <a:solidFill>
                  <a:schemeClr val="bg1"/>
                </a:solidFill>
                <a:latin typeface="Times New Roman" panose="02020603050405020304" pitchFamily="18" charset="0"/>
              </a:rPr>
              <a:t>i</a:t>
            </a:r>
            <a:r>
              <a:rPr lang="en-US" altLang="zh-CN" sz="2400" dirty="0" smtClean="0">
                <a:solidFill>
                  <a:schemeClr val="bg1"/>
                </a:solidFill>
                <a:latin typeface="Times New Roman" panose="02020603050405020304" pitchFamily="18" charset="0"/>
                <a:sym typeface="Symbol" panose="05050102010706020507" pitchFamily="18" charset="2"/>
              </a:rPr>
              <a:t> </a:t>
            </a:r>
            <a:r>
              <a:rPr lang="en-US" altLang="zh-CN" sz="2400" dirty="0" smtClean="0">
                <a:solidFill>
                  <a:schemeClr val="bg1"/>
                </a:solidFill>
                <a:latin typeface="Times New Roman" panose="02020603050405020304" pitchFamily="18" charset="0"/>
              </a:rPr>
              <a:t>0, </a:t>
            </a:r>
            <a:r>
              <a:rPr lang="en-US" altLang="zh-CN" sz="2400" i="1" dirty="0" smtClean="0">
                <a:solidFill>
                  <a:schemeClr val="bg1"/>
                </a:solidFill>
                <a:latin typeface="Times New Roman" panose="02020603050405020304" pitchFamily="18" charset="0"/>
              </a:rPr>
              <a:t>i</a:t>
            </a:r>
            <a:r>
              <a:rPr lang="en-US" altLang="zh-CN" sz="2400" dirty="0" smtClean="0">
                <a:solidFill>
                  <a:schemeClr val="bg1"/>
                </a:solidFill>
                <a:latin typeface="Times New Roman" panose="02020603050405020304" pitchFamily="18" charset="0"/>
              </a:rPr>
              <a:t>=1,2,3,4</a:t>
            </a:r>
            <a:endParaRPr lang="en-US" altLang="zh-CN" sz="2400" dirty="0">
              <a:solidFill>
                <a:schemeClr val="bg1"/>
              </a:solidFill>
              <a:latin typeface="Times New Roman" panose="02020603050405020304" pitchFamily="18" charset="0"/>
            </a:endParaRPr>
          </a:p>
        </p:txBody>
      </p:sp>
      <p:sp>
        <p:nvSpPr>
          <p:cNvPr id="6"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6.1 </a:t>
            </a:r>
            <a:r>
              <a:rPr kumimoji="0" lang="zh-CN" altLang="en-US" kern="1200" dirty="0" smtClean="0">
                <a:solidFill>
                  <a:schemeClr val="accent2"/>
                </a:solidFill>
                <a:sym typeface="+mn-ea"/>
              </a:rPr>
              <a:t>线性规划模型</a:t>
            </a:r>
            <a:endParaRPr kumimoji="0" lang="en-US" altLang="zh-CN" kern="1200" dirty="0" smtClean="0">
              <a:solidFill>
                <a:schemeClr val="accent2"/>
              </a:solidFill>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wipe(left)">
                                      <p:cBhvr>
                                        <p:cTn id="7" dur="500"/>
                                        <p:tgtEl>
                                          <p:spTgt spid="12291">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2291">
                                            <p:txEl>
                                              <p:pRg st="1" end="1"/>
                                            </p:txEl>
                                          </p:spTgt>
                                        </p:tgtEl>
                                        <p:attrNameLst>
                                          <p:attrName>style.visibility</p:attrName>
                                        </p:attrNameLst>
                                      </p:cBhvr>
                                      <p:to>
                                        <p:strVal val="visible"/>
                                      </p:to>
                                    </p:set>
                                    <p:animEffect transition="in" filter="wipe(left)">
                                      <p:cBhvr>
                                        <p:cTn id="10" dur="500"/>
                                        <p:tgtEl>
                                          <p:spTgt spid="1229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animEffect transition="in" filter="wipe(left)">
                                      <p:cBhvr>
                                        <p:cTn id="15" dur="500"/>
                                        <p:tgtEl>
                                          <p:spTgt spid="12291">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12291">
                                            <p:txEl>
                                              <p:pRg st="3" end="3"/>
                                            </p:txEl>
                                          </p:spTgt>
                                        </p:tgtEl>
                                        <p:attrNameLst>
                                          <p:attrName>style.visibility</p:attrName>
                                        </p:attrNameLst>
                                      </p:cBhvr>
                                      <p:to>
                                        <p:strVal val="visible"/>
                                      </p:to>
                                    </p:set>
                                    <p:animEffect transition="in" filter="wipe(left)">
                                      <p:cBhvr>
                                        <p:cTn id="18" dur="500"/>
                                        <p:tgtEl>
                                          <p:spTgt spid="12291">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2291">
                                            <p:txEl>
                                              <p:pRg st="4" end="4"/>
                                            </p:txEl>
                                          </p:spTgt>
                                        </p:tgtEl>
                                        <p:attrNameLst>
                                          <p:attrName>style.visibility</p:attrName>
                                        </p:attrNameLst>
                                      </p:cBhvr>
                                      <p:to>
                                        <p:strVal val="visible"/>
                                      </p:to>
                                    </p:set>
                                    <p:animEffect transition="in" filter="wipe(left)">
                                      <p:cBhvr>
                                        <p:cTn id="23" dur="500"/>
                                        <p:tgtEl>
                                          <p:spTgt spid="12291">
                                            <p:txEl>
                                              <p:pRg st="4" end="4"/>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12291">
                                            <p:txEl>
                                              <p:pRg st="5" end="5"/>
                                            </p:txEl>
                                          </p:spTgt>
                                        </p:tgtEl>
                                        <p:attrNameLst>
                                          <p:attrName>style.visibility</p:attrName>
                                        </p:attrNameLst>
                                      </p:cBhvr>
                                      <p:to>
                                        <p:strVal val="visible"/>
                                      </p:to>
                                    </p:set>
                                    <p:animEffect transition="in" filter="wipe(left)">
                                      <p:cBhvr>
                                        <p:cTn id="26" dur="500"/>
                                        <p:tgtEl>
                                          <p:spTgt spid="122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539552" y="1768962"/>
            <a:ext cx="7772400" cy="876300"/>
          </a:xfrm>
        </p:spPr>
        <p:txBody>
          <a:bodyPr vert="horz" wrap="square" lIns="91440" tIns="45720" rIns="91440" bIns="45720" anchor="ctr"/>
          <a:lstStyle/>
          <a:p>
            <a:pPr eaLnBrk="1" hangingPunct="1"/>
            <a:r>
              <a:rPr lang="zh-CN" altLang="en-US" sz="2800" b="1" dirty="0">
                <a:solidFill>
                  <a:schemeClr val="bg2"/>
                </a:solidFill>
              </a:rPr>
              <a:t>营养配餐问题的完整</a:t>
            </a:r>
            <a:r>
              <a:rPr lang="en-US" altLang="zh-CN" sz="2800" b="1" dirty="0" err="1" smtClean="0">
                <a:solidFill>
                  <a:schemeClr val="bg2"/>
                </a:solidFill>
              </a:rPr>
              <a:t>模型</a:t>
            </a:r>
            <a:r>
              <a:rPr lang="zh-CN" altLang="en-US" sz="2800" dirty="0">
                <a:solidFill>
                  <a:schemeClr val="bg2"/>
                </a:solidFill>
              </a:rPr>
              <a:t>：</a:t>
            </a:r>
            <a:endParaRPr lang="zh-CN" altLang="en-US" sz="2800" b="1" dirty="0">
              <a:solidFill>
                <a:schemeClr val="bg2"/>
              </a:solidFill>
            </a:endParaRPr>
          </a:p>
        </p:txBody>
      </p:sp>
      <p:sp>
        <p:nvSpPr>
          <p:cNvPr id="13315" name="Rectangle 3"/>
          <p:cNvSpPr>
            <a:spLocks noGrp="1"/>
          </p:cNvSpPr>
          <p:nvPr>
            <p:ph idx="1"/>
          </p:nvPr>
        </p:nvSpPr>
        <p:spPr>
          <a:xfrm>
            <a:off x="839470" y="2646750"/>
            <a:ext cx="7772400" cy="3345111"/>
          </a:xfrm>
        </p:spPr>
        <p:txBody>
          <a:bodyPr vert="horz" wrap="square" lIns="91440" tIns="45720" rIns="91440" bIns="45720" anchor="t"/>
          <a:lstStyle/>
          <a:p>
            <a:pPr marL="225425" lvl="1" indent="0" algn="just" eaLnBrk="1" hangingPunct="1">
              <a:spcAft>
                <a:spcPts val="600"/>
              </a:spcAft>
              <a:buNone/>
            </a:pPr>
            <a:r>
              <a:rPr lang="en-US" altLang="zh-CN" dirty="0">
                <a:solidFill>
                  <a:schemeClr val="bg1"/>
                </a:solidFill>
                <a:latin typeface="Times New Roman" panose="02020603050405020304" pitchFamily="18" charset="0"/>
                <a:cs typeface="Times New Roman" panose="02020603050405020304" pitchFamily="18" charset="0"/>
              </a:rPr>
              <a:t>min  </a:t>
            </a:r>
            <a:r>
              <a:rPr lang="en-US" altLang="zh-CN" i="1" dirty="0">
                <a:solidFill>
                  <a:schemeClr val="bg1"/>
                </a:solidFill>
                <a:latin typeface="Times New Roman" panose="02020603050405020304" pitchFamily="18" charset="0"/>
                <a:cs typeface="Times New Roman" panose="02020603050405020304" pitchFamily="18" charset="0"/>
              </a:rPr>
              <a:t>z </a:t>
            </a:r>
            <a:r>
              <a:rPr lang="en-US" altLang="zh-CN" dirty="0">
                <a:solidFill>
                  <a:schemeClr val="bg1"/>
                </a:solidFill>
                <a:latin typeface="Times New Roman" panose="02020603050405020304" pitchFamily="18" charset="0"/>
                <a:cs typeface="Times New Roman" panose="02020603050405020304" pitchFamily="18" charset="0"/>
              </a:rPr>
              <a:t>=14</a:t>
            </a:r>
            <a:r>
              <a:rPr lang="en-US" altLang="zh-CN" i="1" dirty="0">
                <a:solidFill>
                  <a:schemeClr val="bg1"/>
                </a:solidFill>
                <a:latin typeface="Times New Roman" panose="02020603050405020304" pitchFamily="18" charset="0"/>
                <a:cs typeface="Times New Roman" panose="02020603050405020304" pitchFamily="18" charset="0"/>
              </a:rPr>
              <a:t>x</a:t>
            </a:r>
            <a:r>
              <a:rPr lang="en-US" altLang="zh-CN" baseline="-25000" dirty="0">
                <a:solidFill>
                  <a:schemeClr val="bg1"/>
                </a:solidFill>
                <a:latin typeface="Times New Roman" panose="02020603050405020304" pitchFamily="18" charset="0"/>
                <a:cs typeface="Times New Roman" panose="02020603050405020304" pitchFamily="18" charset="0"/>
              </a:rPr>
              <a:t>1 </a:t>
            </a:r>
            <a:r>
              <a:rPr lang="en-US" altLang="zh-CN" dirty="0">
                <a:solidFill>
                  <a:schemeClr val="bg1"/>
                </a:solidFill>
                <a:latin typeface="Times New Roman" panose="02020603050405020304" pitchFamily="18" charset="0"/>
                <a:cs typeface="Times New Roman" panose="02020603050405020304" pitchFamily="18" charset="0"/>
              </a:rPr>
              <a:t>+    6</a:t>
            </a:r>
            <a:r>
              <a:rPr lang="en-US" altLang="zh-CN" i="1" dirty="0">
                <a:solidFill>
                  <a:schemeClr val="bg1"/>
                </a:solidFill>
                <a:latin typeface="Times New Roman" panose="02020603050405020304" pitchFamily="18" charset="0"/>
                <a:cs typeface="Times New Roman" panose="02020603050405020304" pitchFamily="18" charset="0"/>
              </a:rPr>
              <a:t>x</a:t>
            </a:r>
            <a:r>
              <a:rPr lang="en-US" altLang="zh-CN" baseline="-25000" dirty="0">
                <a:solidFill>
                  <a:schemeClr val="bg1"/>
                </a:solidFill>
                <a:latin typeface="Times New Roman" panose="02020603050405020304" pitchFamily="18" charset="0"/>
                <a:cs typeface="Times New Roman" panose="02020603050405020304" pitchFamily="18" charset="0"/>
              </a:rPr>
              <a:t>2 </a:t>
            </a:r>
            <a:r>
              <a:rPr lang="en-US" altLang="zh-CN" dirty="0">
                <a:solidFill>
                  <a:schemeClr val="bg1"/>
                </a:solidFill>
                <a:latin typeface="Times New Roman" panose="02020603050405020304" pitchFamily="18" charset="0"/>
                <a:cs typeface="Times New Roman" panose="02020603050405020304" pitchFamily="18" charset="0"/>
              </a:rPr>
              <a:t>+  </a:t>
            </a:r>
            <a:r>
              <a:rPr lang="en-US" altLang="zh-CN" dirty="0" smtClean="0">
                <a:solidFill>
                  <a:schemeClr val="bg1"/>
                </a:solidFill>
                <a:latin typeface="Times New Roman" panose="02020603050405020304" pitchFamily="18" charset="0"/>
                <a:cs typeface="Times New Roman" panose="02020603050405020304" pitchFamily="18" charset="0"/>
              </a:rPr>
              <a:t>  </a:t>
            </a:r>
            <a:r>
              <a:rPr lang="en-US" altLang="zh-CN" dirty="0">
                <a:solidFill>
                  <a:schemeClr val="bg1"/>
                </a:solidFill>
                <a:latin typeface="Times New Roman" panose="02020603050405020304" pitchFamily="18" charset="0"/>
                <a:cs typeface="Times New Roman" panose="02020603050405020304" pitchFamily="18" charset="0"/>
              </a:rPr>
              <a:t>3</a:t>
            </a:r>
            <a:r>
              <a:rPr lang="en-US" altLang="zh-CN" i="1" dirty="0">
                <a:solidFill>
                  <a:schemeClr val="bg1"/>
                </a:solidFill>
                <a:latin typeface="Times New Roman" panose="02020603050405020304" pitchFamily="18" charset="0"/>
                <a:cs typeface="Times New Roman" panose="02020603050405020304" pitchFamily="18" charset="0"/>
              </a:rPr>
              <a:t>x</a:t>
            </a:r>
            <a:r>
              <a:rPr lang="en-US" altLang="zh-CN" baseline="-25000" dirty="0">
                <a:solidFill>
                  <a:schemeClr val="bg1"/>
                </a:solidFill>
                <a:latin typeface="Times New Roman" panose="02020603050405020304" pitchFamily="18" charset="0"/>
                <a:cs typeface="Times New Roman" panose="02020603050405020304" pitchFamily="18" charset="0"/>
              </a:rPr>
              <a:t>3 </a:t>
            </a:r>
            <a:r>
              <a:rPr lang="en-US" altLang="zh-CN" dirty="0">
                <a:solidFill>
                  <a:schemeClr val="bg1"/>
                </a:solidFill>
                <a:latin typeface="Times New Roman" panose="02020603050405020304" pitchFamily="18" charset="0"/>
                <a:cs typeface="Times New Roman" panose="02020603050405020304" pitchFamily="18" charset="0"/>
              </a:rPr>
              <a:t>+   2</a:t>
            </a:r>
            <a:r>
              <a:rPr lang="en-US" altLang="zh-CN" i="1" dirty="0">
                <a:solidFill>
                  <a:schemeClr val="bg1"/>
                </a:solidFill>
                <a:latin typeface="Times New Roman" panose="02020603050405020304" pitchFamily="18" charset="0"/>
                <a:cs typeface="Times New Roman" panose="02020603050405020304" pitchFamily="18" charset="0"/>
              </a:rPr>
              <a:t>x</a:t>
            </a:r>
            <a:r>
              <a:rPr lang="en-US" altLang="zh-CN" baseline="-25000" dirty="0">
                <a:solidFill>
                  <a:schemeClr val="bg1"/>
                </a:solidFill>
                <a:latin typeface="Times New Roman" panose="02020603050405020304" pitchFamily="18" charset="0"/>
                <a:cs typeface="Times New Roman" panose="02020603050405020304" pitchFamily="18" charset="0"/>
              </a:rPr>
              <a:t>4</a:t>
            </a:r>
            <a:endParaRPr lang="en-US" altLang="zh-CN" dirty="0">
              <a:solidFill>
                <a:schemeClr val="bg1"/>
              </a:solidFill>
              <a:latin typeface="Times New Roman" panose="02020603050405020304" pitchFamily="18" charset="0"/>
              <a:cs typeface="Times New Roman" panose="02020603050405020304" pitchFamily="18" charset="0"/>
            </a:endParaRPr>
          </a:p>
          <a:p>
            <a:pPr marL="225425" lvl="1" indent="0" eaLnBrk="1" hangingPunct="1">
              <a:spcAft>
                <a:spcPts val="600"/>
              </a:spcAft>
              <a:buNone/>
            </a:pPr>
            <a:r>
              <a:rPr lang="en-US" altLang="zh-CN" dirty="0">
                <a:solidFill>
                  <a:schemeClr val="bg1"/>
                </a:solidFill>
                <a:latin typeface="Times New Roman" panose="02020603050405020304" pitchFamily="18" charset="0"/>
                <a:cs typeface="Times New Roman" panose="02020603050405020304" pitchFamily="18" charset="0"/>
              </a:rPr>
              <a:t>s.t.    </a:t>
            </a:r>
            <a:r>
              <a:rPr lang="en-US" altLang="zh-CN" dirty="0" smtClean="0">
                <a:solidFill>
                  <a:schemeClr val="bg1"/>
                </a:solidFill>
                <a:latin typeface="Times New Roman" panose="02020603050405020304" pitchFamily="18" charset="0"/>
                <a:cs typeface="Times New Roman" panose="02020603050405020304" pitchFamily="18" charset="0"/>
              </a:rPr>
              <a:t> 1000</a:t>
            </a:r>
            <a:r>
              <a:rPr lang="en-US" altLang="zh-CN" i="1" dirty="0" smtClean="0">
                <a:solidFill>
                  <a:schemeClr val="bg1"/>
                </a:solidFill>
                <a:latin typeface="Times New Roman" panose="02020603050405020304" pitchFamily="18" charset="0"/>
                <a:cs typeface="Times New Roman" panose="02020603050405020304" pitchFamily="18" charset="0"/>
              </a:rPr>
              <a:t>x</a:t>
            </a:r>
            <a:r>
              <a:rPr lang="en-US" altLang="zh-CN" baseline="-25000" dirty="0" smtClean="0">
                <a:solidFill>
                  <a:schemeClr val="bg1"/>
                </a:solidFill>
                <a:latin typeface="Times New Roman" panose="02020603050405020304" pitchFamily="18" charset="0"/>
                <a:cs typeface="Times New Roman" panose="02020603050405020304" pitchFamily="18" charset="0"/>
              </a:rPr>
              <a:t>1 </a:t>
            </a:r>
            <a:r>
              <a:rPr lang="en-US" altLang="zh-CN" dirty="0" smtClean="0">
                <a:solidFill>
                  <a:schemeClr val="bg1"/>
                </a:solidFill>
                <a:latin typeface="Times New Roman" panose="02020603050405020304" pitchFamily="18" charset="0"/>
                <a:cs typeface="Times New Roman" panose="02020603050405020304" pitchFamily="18" charset="0"/>
              </a:rPr>
              <a:t>+ 800</a:t>
            </a:r>
            <a:r>
              <a:rPr lang="en-US" altLang="zh-CN" i="1" dirty="0" smtClean="0">
                <a:solidFill>
                  <a:schemeClr val="bg1"/>
                </a:solidFill>
                <a:latin typeface="Times New Roman" panose="02020603050405020304" pitchFamily="18" charset="0"/>
                <a:cs typeface="Times New Roman" panose="02020603050405020304" pitchFamily="18" charset="0"/>
              </a:rPr>
              <a:t>x</a:t>
            </a:r>
            <a:r>
              <a:rPr lang="en-US" altLang="zh-CN" baseline="-25000" dirty="0" smtClean="0">
                <a:solidFill>
                  <a:schemeClr val="bg1"/>
                </a:solidFill>
                <a:latin typeface="Times New Roman" panose="02020603050405020304" pitchFamily="18" charset="0"/>
                <a:cs typeface="Times New Roman" panose="02020603050405020304" pitchFamily="18" charset="0"/>
              </a:rPr>
              <a:t>2</a:t>
            </a:r>
            <a:r>
              <a:rPr lang="en-US" altLang="zh-CN" dirty="0" smtClean="0">
                <a:solidFill>
                  <a:schemeClr val="bg1"/>
                </a:solidFill>
                <a:latin typeface="Times New Roman" panose="02020603050405020304" pitchFamily="18" charset="0"/>
                <a:cs typeface="Times New Roman" panose="02020603050405020304" pitchFamily="18" charset="0"/>
              </a:rPr>
              <a:t>+900</a:t>
            </a:r>
            <a:r>
              <a:rPr lang="en-US" altLang="zh-CN" i="1" dirty="0" smtClean="0">
                <a:solidFill>
                  <a:schemeClr val="bg1"/>
                </a:solidFill>
                <a:latin typeface="Times New Roman" panose="02020603050405020304" pitchFamily="18" charset="0"/>
                <a:cs typeface="Times New Roman" panose="02020603050405020304" pitchFamily="18" charset="0"/>
              </a:rPr>
              <a:t>x</a:t>
            </a:r>
            <a:r>
              <a:rPr lang="en-US" altLang="zh-CN" baseline="-25000" dirty="0" smtClean="0">
                <a:solidFill>
                  <a:schemeClr val="bg1"/>
                </a:solidFill>
                <a:latin typeface="Times New Roman" panose="02020603050405020304" pitchFamily="18" charset="0"/>
                <a:cs typeface="Times New Roman" panose="02020603050405020304" pitchFamily="18" charset="0"/>
              </a:rPr>
              <a:t>3</a:t>
            </a:r>
            <a:r>
              <a:rPr lang="en-US" altLang="zh-CN" dirty="0" smtClean="0">
                <a:solidFill>
                  <a:schemeClr val="bg1"/>
                </a:solidFill>
                <a:latin typeface="Times New Roman" panose="02020603050405020304" pitchFamily="18" charset="0"/>
                <a:cs typeface="Times New Roman" panose="02020603050405020304" pitchFamily="18" charset="0"/>
              </a:rPr>
              <a:t>+200</a:t>
            </a:r>
            <a:r>
              <a:rPr lang="en-US" altLang="zh-CN" i="1" dirty="0" smtClean="0">
                <a:solidFill>
                  <a:schemeClr val="bg1"/>
                </a:solidFill>
                <a:latin typeface="Times New Roman" panose="02020603050405020304" pitchFamily="18" charset="0"/>
                <a:cs typeface="Times New Roman" panose="02020603050405020304" pitchFamily="18" charset="0"/>
              </a:rPr>
              <a:t>x</a:t>
            </a:r>
            <a:r>
              <a:rPr lang="en-US" altLang="zh-CN" baseline="-25000" dirty="0" smtClean="0">
                <a:solidFill>
                  <a:schemeClr val="bg1"/>
                </a:solidFill>
                <a:latin typeface="Times New Roman" panose="02020603050405020304" pitchFamily="18" charset="0"/>
                <a:cs typeface="Times New Roman" panose="02020603050405020304" pitchFamily="18" charset="0"/>
              </a:rPr>
              <a:t>4 </a:t>
            </a:r>
            <a:r>
              <a:rPr lang="en-US" altLang="zh-CN"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chemeClr val="bg1"/>
                </a:solidFill>
                <a:latin typeface="Times New Roman" panose="02020603050405020304" pitchFamily="18" charset="0"/>
                <a:cs typeface="Times New Roman" panose="02020603050405020304" pitchFamily="18" charset="0"/>
              </a:rPr>
              <a:t>3000</a:t>
            </a:r>
            <a:endParaRPr lang="en-US" altLang="zh-CN" baseline="-25000" dirty="0">
              <a:solidFill>
                <a:schemeClr val="bg1"/>
              </a:solidFill>
              <a:latin typeface="Times New Roman" panose="02020603050405020304" pitchFamily="18" charset="0"/>
              <a:cs typeface="Times New Roman" panose="02020603050405020304" pitchFamily="18" charset="0"/>
            </a:endParaRPr>
          </a:p>
          <a:p>
            <a:pPr marL="225425" lvl="1" indent="0" eaLnBrk="1" hangingPunct="1">
              <a:spcAft>
                <a:spcPts val="600"/>
              </a:spcAft>
              <a:buNone/>
            </a:pPr>
            <a:r>
              <a:rPr lang="en-US" altLang="zh-CN" dirty="0">
                <a:solidFill>
                  <a:schemeClr val="bg1"/>
                </a:solidFill>
                <a:latin typeface="Times New Roman" panose="02020603050405020304" pitchFamily="18" charset="0"/>
                <a:cs typeface="Times New Roman" panose="02020603050405020304" pitchFamily="18" charset="0"/>
              </a:rPr>
              <a:t>	      </a:t>
            </a:r>
            <a:r>
              <a:rPr lang="en-US" altLang="zh-CN" dirty="0" smtClean="0">
                <a:solidFill>
                  <a:schemeClr val="bg1"/>
                </a:solidFill>
                <a:latin typeface="Times New Roman" panose="02020603050405020304" pitchFamily="18" charset="0"/>
                <a:cs typeface="Times New Roman" panose="02020603050405020304" pitchFamily="18" charset="0"/>
              </a:rPr>
              <a:t>50</a:t>
            </a:r>
            <a:r>
              <a:rPr lang="en-US" altLang="zh-CN" i="1" dirty="0" smtClean="0">
                <a:solidFill>
                  <a:schemeClr val="bg1"/>
                </a:solidFill>
                <a:latin typeface="Times New Roman" panose="02020603050405020304" pitchFamily="18" charset="0"/>
                <a:cs typeface="Times New Roman" panose="02020603050405020304" pitchFamily="18" charset="0"/>
              </a:rPr>
              <a:t>x</a:t>
            </a:r>
            <a:r>
              <a:rPr lang="en-US" altLang="zh-CN" baseline="-25000" dirty="0" smtClean="0">
                <a:solidFill>
                  <a:schemeClr val="bg1"/>
                </a:solidFill>
                <a:latin typeface="Times New Roman" panose="02020603050405020304" pitchFamily="18" charset="0"/>
                <a:cs typeface="Times New Roman" panose="02020603050405020304" pitchFamily="18" charset="0"/>
              </a:rPr>
              <a:t>1 </a:t>
            </a:r>
            <a:r>
              <a:rPr lang="en-US" altLang="zh-CN" dirty="0" smtClean="0">
                <a:solidFill>
                  <a:schemeClr val="bg1"/>
                </a:solidFill>
                <a:latin typeface="Times New Roman" panose="02020603050405020304" pitchFamily="18" charset="0"/>
                <a:cs typeface="Times New Roman" panose="02020603050405020304" pitchFamily="18" charset="0"/>
              </a:rPr>
              <a:t>+   60</a:t>
            </a:r>
            <a:r>
              <a:rPr lang="en-US" altLang="zh-CN" i="1" dirty="0" smtClean="0">
                <a:solidFill>
                  <a:schemeClr val="bg1"/>
                </a:solidFill>
                <a:latin typeface="Times New Roman" panose="02020603050405020304" pitchFamily="18" charset="0"/>
                <a:cs typeface="Times New Roman" panose="02020603050405020304" pitchFamily="18" charset="0"/>
              </a:rPr>
              <a:t>x</a:t>
            </a:r>
            <a:r>
              <a:rPr lang="en-US" altLang="zh-CN" baseline="-25000" dirty="0" smtClean="0">
                <a:solidFill>
                  <a:schemeClr val="bg1"/>
                </a:solidFill>
                <a:latin typeface="Times New Roman" panose="02020603050405020304" pitchFamily="18" charset="0"/>
                <a:cs typeface="Times New Roman" panose="02020603050405020304" pitchFamily="18" charset="0"/>
              </a:rPr>
              <a:t>2</a:t>
            </a:r>
            <a:r>
              <a:rPr lang="en-US" altLang="zh-CN" dirty="0">
                <a:solidFill>
                  <a:schemeClr val="bg1"/>
                </a:solidFill>
                <a:latin typeface="Times New Roman" panose="02020603050405020304" pitchFamily="18" charset="0"/>
                <a:cs typeface="Times New Roman" panose="02020603050405020304" pitchFamily="18" charset="0"/>
              </a:rPr>
              <a:t>+  20</a:t>
            </a:r>
            <a:r>
              <a:rPr lang="en-US" altLang="zh-CN" i="1" dirty="0">
                <a:solidFill>
                  <a:schemeClr val="bg1"/>
                </a:solidFill>
                <a:latin typeface="Times New Roman" panose="02020603050405020304" pitchFamily="18" charset="0"/>
                <a:cs typeface="Times New Roman" panose="02020603050405020304" pitchFamily="18" charset="0"/>
              </a:rPr>
              <a:t>x</a:t>
            </a:r>
            <a:r>
              <a:rPr lang="en-US" altLang="zh-CN" baseline="-25000" dirty="0">
                <a:solidFill>
                  <a:schemeClr val="bg1"/>
                </a:solidFill>
                <a:latin typeface="Times New Roman" panose="02020603050405020304" pitchFamily="18" charset="0"/>
                <a:cs typeface="Times New Roman" panose="02020603050405020304" pitchFamily="18" charset="0"/>
              </a:rPr>
              <a:t>3</a:t>
            </a:r>
            <a:r>
              <a:rPr lang="en-US" altLang="zh-CN" dirty="0">
                <a:solidFill>
                  <a:schemeClr val="bg1"/>
                </a:solidFill>
                <a:latin typeface="Times New Roman" panose="02020603050405020304" pitchFamily="18" charset="0"/>
                <a:cs typeface="Times New Roman" panose="02020603050405020304" pitchFamily="18" charset="0"/>
              </a:rPr>
              <a:t>+  10</a:t>
            </a:r>
            <a:r>
              <a:rPr lang="en-US" altLang="zh-CN" i="1" dirty="0">
                <a:solidFill>
                  <a:schemeClr val="bg1"/>
                </a:solidFill>
                <a:latin typeface="Times New Roman" panose="02020603050405020304" pitchFamily="18" charset="0"/>
                <a:cs typeface="Times New Roman" panose="02020603050405020304" pitchFamily="18" charset="0"/>
              </a:rPr>
              <a:t>x</a:t>
            </a:r>
            <a:r>
              <a:rPr lang="en-US" altLang="zh-CN" baseline="-25000" dirty="0">
                <a:solidFill>
                  <a:schemeClr val="bg1"/>
                </a:solidFill>
                <a:latin typeface="Times New Roman" panose="02020603050405020304" pitchFamily="18" charset="0"/>
                <a:cs typeface="Times New Roman" panose="02020603050405020304" pitchFamily="18" charset="0"/>
              </a:rPr>
              <a:t>4 </a:t>
            </a:r>
            <a:r>
              <a:rPr lang="en-US" altLang="zh-CN"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chemeClr val="bg1"/>
                </a:solidFill>
                <a:latin typeface="Times New Roman" panose="02020603050405020304" pitchFamily="18" charset="0"/>
                <a:cs typeface="Times New Roman" panose="02020603050405020304" pitchFamily="18" charset="0"/>
              </a:rPr>
              <a:t>   55</a:t>
            </a:r>
          </a:p>
          <a:p>
            <a:pPr marL="225425" lvl="1" indent="0" eaLnBrk="1" hangingPunct="1">
              <a:spcAft>
                <a:spcPts val="600"/>
              </a:spcAft>
              <a:buNone/>
            </a:pPr>
            <a:r>
              <a:rPr lang="en-US" altLang="zh-CN" dirty="0">
                <a:solidFill>
                  <a:schemeClr val="bg1"/>
                </a:solidFill>
                <a:latin typeface="Times New Roman" panose="02020603050405020304" pitchFamily="18" charset="0"/>
                <a:cs typeface="Times New Roman" panose="02020603050405020304" pitchFamily="18" charset="0"/>
              </a:rPr>
              <a:t>	    </a:t>
            </a:r>
            <a:r>
              <a:rPr lang="en-US" altLang="zh-CN" dirty="0" smtClean="0">
                <a:solidFill>
                  <a:schemeClr val="bg1"/>
                </a:solidFill>
                <a:latin typeface="Times New Roman" panose="02020603050405020304" pitchFamily="18" charset="0"/>
                <a:cs typeface="Times New Roman" panose="02020603050405020304" pitchFamily="18" charset="0"/>
              </a:rPr>
              <a:t>400</a:t>
            </a:r>
            <a:r>
              <a:rPr lang="en-US" altLang="zh-CN" i="1" dirty="0" smtClean="0">
                <a:solidFill>
                  <a:schemeClr val="bg1"/>
                </a:solidFill>
                <a:latin typeface="Times New Roman" panose="02020603050405020304" pitchFamily="18" charset="0"/>
                <a:cs typeface="Times New Roman" panose="02020603050405020304" pitchFamily="18" charset="0"/>
              </a:rPr>
              <a:t>x</a:t>
            </a:r>
            <a:r>
              <a:rPr lang="en-US" altLang="zh-CN" baseline="-25000" dirty="0" smtClean="0">
                <a:solidFill>
                  <a:schemeClr val="bg1"/>
                </a:solidFill>
                <a:latin typeface="Times New Roman" panose="02020603050405020304" pitchFamily="18" charset="0"/>
                <a:cs typeface="Times New Roman" panose="02020603050405020304" pitchFamily="18" charset="0"/>
              </a:rPr>
              <a:t>1 </a:t>
            </a:r>
            <a:r>
              <a:rPr lang="en-US" altLang="zh-CN" dirty="0" smtClean="0">
                <a:solidFill>
                  <a:schemeClr val="bg1"/>
                </a:solidFill>
                <a:latin typeface="Times New Roman" panose="02020603050405020304" pitchFamily="18" charset="0"/>
                <a:cs typeface="Times New Roman" panose="02020603050405020304" pitchFamily="18" charset="0"/>
              </a:rPr>
              <a:t>+ 200</a:t>
            </a:r>
            <a:r>
              <a:rPr lang="en-US" altLang="zh-CN" i="1" dirty="0" smtClean="0">
                <a:solidFill>
                  <a:schemeClr val="bg1"/>
                </a:solidFill>
                <a:latin typeface="Times New Roman" panose="02020603050405020304" pitchFamily="18" charset="0"/>
                <a:cs typeface="Times New Roman" panose="02020603050405020304" pitchFamily="18" charset="0"/>
              </a:rPr>
              <a:t>x</a:t>
            </a:r>
            <a:r>
              <a:rPr lang="en-US" altLang="zh-CN" baseline="-25000" dirty="0" smtClean="0">
                <a:solidFill>
                  <a:schemeClr val="bg1"/>
                </a:solidFill>
                <a:latin typeface="Times New Roman" panose="02020603050405020304" pitchFamily="18" charset="0"/>
                <a:cs typeface="Times New Roman" panose="02020603050405020304" pitchFamily="18" charset="0"/>
              </a:rPr>
              <a:t>2</a:t>
            </a:r>
            <a:r>
              <a:rPr lang="en-US" altLang="zh-CN" dirty="0" smtClean="0">
                <a:solidFill>
                  <a:schemeClr val="bg1"/>
                </a:solidFill>
                <a:latin typeface="Times New Roman" panose="02020603050405020304" pitchFamily="18" charset="0"/>
                <a:cs typeface="Times New Roman" panose="02020603050405020304" pitchFamily="18" charset="0"/>
              </a:rPr>
              <a:t>+ 300</a:t>
            </a:r>
            <a:r>
              <a:rPr lang="en-US" altLang="zh-CN" i="1" dirty="0" smtClean="0">
                <a:solidFill>
                  <a:schemeClr val="bg1"/>
                </a:solidFill>
                <a:latin typeface="Times New Roman" panose="02020603050405020304" pitchFamily="18" charset="0"/>
                <a:cs typeface="Times New Roman" panose="02020603050405020304" pitchFamily="18" charset="0"/>
              </a:rPr>
              <a:t>x</a:t>
            </a:r>
            <a:r>
              <a:rPr lang="en-US" altLang="zh-CN" baseline="-25000" dirty="0" smtClean="0">
                <a:solidFill>
                  <a:schemeClr val="bg1"/>
                </a:solidFill>
                <a:latin typeface="Times New Roman" panose="02020603050405020304" pitchFamily="18" charset="0"/>
                <a:cs typeface="Times New Roman" panose="02020603050405020304" pitchFamily="18" charset="0"/>
              </a:rPr>
              <a:t>3</a:t>
            </a:r>
            <a:r>
              <a:rPr lang="en-US" altLang="zh-CN" dirty="0" smtClean="0">
                <a:solidFill>
                  <a:schemeClr val="bg1"/>
                </a:solidFill>
                <a:latin typeface="Times New Roman" panose="02020603050405020304" pitchFamily="18" charset="0"/>
                <a:cs typeface="Times New Roman" panose="02020603050405020304" pitchFamily="18" charset="0"/>
              </a:rPr>
              <a:t>+500</a:t>
            </a:r>
            <a:r>
              <a:rPr lang="en-US" altLang="zh-CN" i="1" dirty="0" smtClean="0">
                <a:solidFill>
                  <a:schemeClr val="bg1"/>
                </a:solidFill>
                <a:latin typeface="Times New Roman" panose="02020603050405020304" pitchFamily="18" charset="0"/>
                <a:cs typeface="Times New Roman" panose="02020603050405020304" pitchFamily="18" charset="0"/>
              </a:rPr>
              <a:t>x</a:t>
            </a:r>
            <a:r>
              <a:rPr lang="en-US" altLang="zh-CN" baseline="-25000" dirty="0" smtClean="0">
                <a:solidFill>
                  <a:schemeClr val="bg1"/>
                </a:solidFill>
                <a:latin typeface="Times New Roman" panose="02020603050405020304" pitchFamily="18" charset="0"/>
                <a:cs typeface="Times New Roman" panose="02020603050405020304" pitchFamily="18" charset="0"/>
              </a:rPr>
              <a:t>4 </a:t>
            </a:r>
            <a:r>
              <a:rPr lang="en-US" altLang="zh-CN"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chemeClr val="bg1"/>
                </a:solidFill>
                <a:latin typeface="Times New Roman" panose="02020603050405020304" pitchFamily="18" charset="0"/>
                <a:cs typeface="Times New Roman" panose="02020603050405020304" pitchFamily="18" charset="0"/>
              </a:rPr>
              <a:t>800</a:t>
            </a:r>
          </a:p>
          <a:p>
            <a:pPr marL="225425" lvl="1" indent="0" eaLnBrk="1" hangingPunct="1">
              <a:spcAft>
                <a:spcPts val="600"/>
              </a:spcAft>
              <a:buNone/>
            </a:pPr>
            <a:r>
              <a:rPr lang="en-US" altLang="zh-CN" dirty="0">
                <a:solidFill>
                  <a:schemeClr val="bg1"/>
                </a:solidFill>
                <a:latin typeface="Times New Roman" panose="02020603050405020304" pitchFamily="18" charset="0"/>
                <a:cs typeface="Times New Roman" panose="02020603050405020304" pitchFamily="18" charset="0"/>
              </a:rPr>
              <a:t>		   </a:t>
            </a:r>
            <a:r>
              <a:rPr lang="en-US" altLang="zh-CN" i="1" dirty="0">
                <a:solidFill>
                  <a:schemeClr val="bg1"/>
                </a:solidFill>
                <a:latin typeface="Times New Roman" panose="02020603050405020304" pitchFamily="18" charset="0"/>
                <a:cs typeface="Times New Roman" panose="02020603050405020304" pitchFamily="18" charset="0"/>
              </a:rPr>
              <a:t>x</a:t>
            </a:r>
            <a:r>
              <a:rPr lang="en-US" altLang="zh-CN" baseline="-25000" dirty="0">
                <a:solidFill>
                  <a:schemeClr val="bg1"/>
                </a:solidFill>
                <a:latin typeface="Times New Roman" panose="02020603050405020304" pitchFamily="18" charset="0"/>
                <a:cs typeface="Times New Roman" panose="02020603050405020304" pitchFamily="18" charset="0"/>
              </a:rPr>
              <a:t>1，</a:t>
            </a:r>
            <a:r>
              <a:rPr lang="en-US" altLang="zh-CN" i="1" dirty="0">
                <a:solidFill>
                  <a:schemeClr val="bg1"/>
                </a:solidFill>
                <a:latin typeface="Times New Roman" panose="02020603050405020304" pitchFamily="18" charset="0"/>
                <a:cs typeface="Times New Roman" panose="02020603050405020304" pitchFamily="18" charset="0"/>
              </a:rPr>
              <a:t>x</a:t>
            </a:r>
            <a:r>
              <a:rPr lang="en-US" altLang="zh-CN" baseline="-25000" dirty="0">
                <a:solidFill>
                  <a:schemeClr val="bg1"/>
                </a:solidFill>
                <a:latin typeface="Times New Roman" panose="02020603050405020304" pitchFamily="18" charset="0"/>
                <a:cs typeface="Times New Roman" panose="02020603050405020304" pitchFamily="18" charset="0"/>
              </a:rPr>
              <a:t>2，</a:t>
            </a:r>
            <a:r>
              <a:rPr lang="en-US" altLang="zh-CN" i="1" dirty="0">
                <a:solidFill>
                  <a:schemeClr val="bg1"/>
                </a:solidFill>
                <a:latin typeface="Times New Roman" panose="02020603050405020304" pitchFamily="18" charset="0"/>
                <a:cs typeface="Times New Roman" panose="02020603050405020304" pitchFamily="18" charset="0"/>
              </a:rPr>
              <a:t>x</a:t>
            </a:r>
            <a:r>
              <a:rPr lang="en-US" altLang="zh-CN" baseline="-25000" dirty="0">
                <a:solidFill>
                  <a:schemeClr val="bg1"/>
                </a:solidFill>
                <a:latin typeface="Times New Roman" panose="02020603050405020304" pitchFamily="18" charset="0"/>
                <a:cs typeface="Times New Roman" panose="02020603050405020304" pitchFamily="18" charset="0"/>
              </a:rPr>
              <a:t>3，</a:t>
            </a:r>
            <a:r>
              <a:rPr lang="en-US" altLang="zh-CN" i="1" dirty="0">
                <a:solidFill>
                  <a:schemeClr val="bg1"/>
                </a:solidFill>
                <a:latin typeface="Times New Roman" panose="02020603050405020304" pitchFamily="18" charset="0"/>
                <a:cs typeface="Times New Roman" panose="02020603050405020304" pitchFamily="18" charset="0"/>
              </a:rPr>
              <a:t>x</a:t>
            </a:r>
            <a:r>
              <a:rPr lang="en-US" altLang="zh-CN" baseline="-25000" dirty="0">
                <a:solidFill>
                  <a:schemeClr val="bg1"/>
                </a:solidFill>
                <a:latin typeface="Times New Roman" panose="02020603050405020304" pitchFamily="18" charset="0"/>
                <a:cs typeface="Times New Roman" panose="02020603050405020304" pitchFamily="18" charset="0"/>
              </a:rPr>
              <a:t>4 </a:t>
            </a:r>
            <a:r>
              <a:rPr lang="en-US" altLang="zh-CN"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smtClean="0">
                <a:solidFill>
                  <a:schemeClr val="bg1"/>
                </a:solidFill>
                <a:latin typeface="Times New Roman" panose="02020603050405020304" pitchFamily="18" charset="0"/>
                <a:cs typeface="Times New Roman" panose="02020603050405020304" pitchFamily="18" charset="0"/>
              </a:rPr>
              <a:t>0</a:t>
            </a:r>
            <a:endParaRPr lang="en-US" altLang="zh-CN" dirty="0">
              <a:solidFill>
                <a:schemeClr val="bg1"/>
              </a:solidFill>
              <a:latin typeface="Times New Roman" panose="02020603050405020304" pitchFamily="18" charset="0"/>
              <a:cs typeface="Times New Roman" panose="02020603050405020304" pitchFamily="18" charset="0"/>
            </a:endParaRPr>
          </a:p>
        </p:txBody>
      </p:sp>
      <p:sp>
        <p:nvSpPr>
          <p:cNvPr id="5" name="左大括号 4"/>
          <p:cNvSpPr/>
          <p:nvPr/>
        </p:nvSpPr>
        <p:spPr>
          <a:xfrm>
            <a:off x="1776413" y="2636838"/>
            <a:ext cx="239713" cy="2160588"/>
          </a:xfrm>
          <a:prstGeom prst="leftBrace">
            <a:avLst>
              <a:gd name="adj1" fmla="val 8333"/>
              <a:gd name="adj2" fmla="val 44672"/>
            </a:avLst>
          </a:prstGeom>
          <a:noFill/>
          <a:ln w="2222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6.1 </a:t>
            </a:r>
            <a:r>
              <a:rPr kumimoji="0" lang="zh-CN" altLang="en-US" kern="1200" dirty="0" smtClean="0">
                <a:solidFill>
                  <a:schemeClr val="accent2"/>
                </a:solidFill>
                <a:sym typeface="+mn-ea"/>
              </a:rPr>
              <a:t>线性规划模型</a:t>
            </a:r>
            <a:endParaRPr kumimoji="0" lang="en-US" altLang="zh-CN" kern="1200" dirty="0" smtClean="0">
              <a:solidFill>
                <a:schemeClr val="accent2"/>
              </a:solidFill>
              <a:sym typeface="+mn-ea"/>
            </a:endParaRPr>
          </a:p>
        </p:txBody>
      </p:sp>
    </p:spTree>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685800" y="1628800"/>
            <a:ext cx="4822304" cy="576064"/>
          </a:xfrm>
        </p:spPr>
        <p:txBody>
          <a:bodyPr vert="horz" wrap="square" lIns="91440" tIns="45720" rIns="91440" bIns="45720" anchor="ctr"/>
          <a:lstStyle/>
          <a:p>
            <a:pPr marL="342900" indent="-342900" eaLnBrk="1" hangingPunct="1">
              <a:buFont typeface="Wingdings" panose="05000000000000000000" pitchFamily="2" charset="2"/>
              <a:buChar char="p"/>
            </a:pPr>
            <a:r>
              <a:rPr lang="zh-CN" altLang="en-US" sz="2400" dirty="0">
                <a:solidFill>
                  <a:schemeClr val="bg2"/>
                </a:solidFill>
              </a:rPr>
              <a:t>建立线性规划模型的一般步骤</a:t>
            </a:r>
          </a:p>
        </p:txBody>
      </p:sp>
      <p:sp>
        <p:nvSpPr>
          <p:cNvPr id="14339" name="Rectangle 3"/>
          <p:cNvSpPr>
            <a:spLocks noGrp="1"/>
          </p:cNvSpPr>
          <p:nvPr>
            <p:ph idx="1"/>
          </p:nvPr>
        </p:nvSpPr>
        <p:spPr>
          <a:xfrm>
            <a:off x="1104900" y="2133110"/>
            <a:ext cx="6934200" cy="1440160"/>
          </a:xfrm>
        </p:spPr>
        <p:txBody>
          <a:bodyPr vert="horz" wrap="square" lIns="91440" tIns="45720" rIns="91440" bIns="45720" anchor="t"/>
          <a:lstStyle/>
          <a:p>
            <a:pPr eaLnBrk="1" hangingPunct="1">
              <a:lnSpc>
                <a:spcPct val="120000"/>
              </a:lnSpc>
              <a:buClrTx/>
              <a:buFont typeface="Arial" panose="020B0604020202020204" pitchFamily="34" charset="0"/>
              <a:buChar char="•"/>
            </a:pPr>
            <a:r>
              <a:rPr lang="en-US" altLang="zh-CN" sz="2400" b="0" dirty="0">
                <a:solidFill>
                  <a:schemeClr val="bg2"/>
                </a:solidFill>
                <a:latin typeface="+mn-ea"/>
              </a:rPr>
              <a:t>Step1</a:t>
            </a:r>
            <a:r>
              <a:rPr lang="zh-CN" altLang="en-US" sz="2400" b="0" dirty="0" smtClean="0">
                <a:solidFill>
                  <a:schemeClr val="bg2"/>
                </a:solidFill>
                <a:latin typeface="+mn-ea"/>
              </a:rPr>
              <a:t>：确定</a:t>
            </a:r>
            <a:r>
              <a:rPr lang="zh-CN" altLang="en-US" sz="2400" b="0" dirty="0">
                <a:solidFill>
                  <a:schemeClr val="bg2"/>
                </a:solidFill>
                <a:latin typeface="+mn-ea"/>
              </a:rPr>
              <a:t>决策变量；</a:t>
            </a:r>
          </a:p>
          <a:p>
            <a:pPr eaLnBrk="1" hangingPunct="1">
              <a:lnSpc>
                <a:spcPct val="120000"/>
              </a:lnSpc>
              <a:buClrTx/>
              <a:buFont typeface="Arial" panose="020B0604020202020204" pitchFamily="34" charset="0"/>
              <a:buChar char="•"/>
            </a:pPr>
            <a:r>
              <a:rPr lang="en-US" altLang="zh-CN" sz="2400" b="0" dirty="0">
                <a:solidFill>
                  <a:schemeClr val="bg2"/>
                </a:solidFill>
                <a:latin typeface="+mn-ea"/>
              </a:rPr>
              <a:t>Step2</a:t>
            </a:r>
            <a:r>
              <a:rPr lang="zh-CN" altLang="en-US" sz="2400" b="0" dirty="0" smtClean="0">
                <a:solidFill>
                  <a:schemeClr val="bg2"/>
                </a:solidFill>
                <a:latin typeface="+mn-ea"/>
              </a:rPr>
              <a:t>：确定</a:t>
            </a:r>
            <a:r>
              <a:rPr lang="zh-CN" altLang="en-US" sz="2400" b="0" dirty="0">
                <a:solidFill>
                  <a:schemeClr val="bg2"/>
                </a:solidFill>
                <a:latin typeface="+mn-ea"/>
              </a:rPr>
              <a:t>目标函数；</a:t>
            </a:r>
          </a:p>
          <a:p>
            <a:pPr eaLnBrk="1" hangingPunct="1">
              <a:lnSpc>
                <a:spcPct val="120000"/>
              </a:lnSpc>
              <a:buClrTx/>
              <a:buFont typeface="Arial" panose="020B0604020202020204" pitchFamily="34" charset="0"/>
              <a:buChar char="•"/>
            </a:pPr>
            <a:r>
              <a:rPr lang="en-US" altLang="zh-CN" sz="2400" b="0" dirty="0">
                <a:solidFill>
                  <a:schemeClr val="bg2"/>
                </a:solidFill>
                <a:latin typeface="+mn-ea"/>
              </a:rPr>
              <a:t>Step3</a:t>
            </a:r>
            <a:r>
              <a:rPr lang="zh-CN" altLang="en-US" sz="2400" b="0" dirty="0" smtClean="0">
                <a:solidFill>
                  <a:schemeClr val="bg2"/>
                </a:solidFill>
                <a:latin typeface="+mn-ea"/>
              </a:rPr>
              <a:t>：确定</a:t>
            </a:r>
            <a:r>
              <a:rPr lang="en-US" altLang="en-US" sz="2400" b="0" dirty="0">
                <a:solidFill>
                  <a:schemeClr val="bg2"/>
                </a:solidFill>
                <a:latin typeface="+mn-ea"/>
              </a:rPr>
              <a:t>约束方程</a:t>
            </a:r>
            <a:r>
              <a:rPr lang="zh-CN" altLang="en-US" sz="2400" b="0" dirty="0">
                <a:solidFill>
                  <a:schemeClr val="bg2"/>
                </a:solidFill>
                <a:latin typeface="+mn-ea"/>
              </a:rPr>
              <a:t>和非负约束。</a:t>
            </a:r>
          </a:p>
        </p:txBody>
      </p:sp>
      <p:sp>
        <p:nvSpPr>
          <p:cNvPr id="6" name="Rectangle 2"/>
          <p:cNvSpPr txBox="1"/>
          <p:nvPr/>
        </p:nvSpPr>
        <p:spPr>
          <a:xfrm>
            <a:off x="685800" y="3645024"/>
            <a:ext cx="4822304" cy="576064"/>
          </a:xfrm>
          <a:prstGeom prst="rect">
            <a:avLst/>
          </a:prstGeom>
          <a:noFill/>
          <a:ln w="9525">
            <a:noFill/>
          </a:ln>
        </p:spPr>
        <p:txBody>
          <a:bodyPr vert="horz" wrap="square" lIns="91440" tIns="45720" rIns="91440" bIns="45720"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pPr marL="342900" indent="-342900" eaLnBrk="1" hangingPunct="1">
              <a:buFont typeface="Wingdings" panose="05000000000000000000" pitchFamily="2" charset="2"/>
              <a:buChar char="p"/>
            </a:pPr>
            <a:r>
              <a:rPr lang="zh-CN" altLang="en-US" sz="2400" dirty="0">
                <a:solidFill>
                  <a:schemeClr val="bg2"/>
                </a:solidFill>
              </a:rPr>
              <a:t>线性规划模型组成</a:t>
            </a:r>
          </a:p>
        </p:txBody>
      </p:sp>
      <p:sp>
        <p:nvSpPr>
          <p:cNvPr id="2" name="矩形 1"/>
          <p:cNvSpPr/>
          <p:nvPr/>
        </p:nvSpPr>
        <p:spPr>
          <a:xfrm>
            <a:off x="683894" y="4221088"/>
            <a:ext cx="7632521" cy="1508105"/>
          </a:xfrm>
          <a:prstGeom prst="rect">
            <a:avLst/>
          </a:prstGeom>
        </p:spPr>
        <p:txBody>
          <a:bodyPr wrap="square">
            <a:spAutoFit/>
          </a:bodyPr>
          <a:lstStyle/>
          <a:p>
            <a:pPr marL="808355" lvl="2" indent="-367030" defTabSz="762000" eaLnBrk="1" hangingPunct="1">
              <a:spcBef>
                <a:spcPts val="600"/>
              </a:spcBef>
              <a:spcAft>
                <a:spcPts val="600"/>
              </a:spcAft>
              <a:buFont typeface="Arial" panose="020B0604020202020204" pitchFamily="34" charset="0"/>
              <a:buChar char="•"/>
            </a:pPr>
            <a:r>
              <a:rPr lang="en-US" altLang="en-US" dirty="0">
                <a:solidFill>
                  <a:schemeClr val="bg2"/>
                </a:solidFill>
                <a:latin typeface="宋体" panose="02010600030101010101" pitchFamily="2" charset="-122"/>
              </a:rPr>
              <a:t>一个反映决策目标的目标函数</a:t>
            </a:r>
            <a:r>
              <a:rPr lang="en-US" altLang="en-US" dirty="0" smtClean="0">
                <a:solidFill>
                  <a:schemeClr val="bg2"/>
                </a:solidFill>
                <a:latin typeface="宋体" panose="02010600030101010101" pitchFamily="2" charset="-122"/>
              </a:rPr>
              <a:t>；</a:t>
            </a:r>
          </a:p>
          <a:p>
            <a:pPr marL="808355" lvl="2" indent="-367030" defTabSz="762000" eaLnBrk="1" hangingPunct="1">
              <a:spcBef>
                <a:spcPts val="600"/>
              </a:spcBef>
              <a:spcAft>
                <a:spcPts val="600"/>
              </a:spcAft>
              <a:buFont typeface="Arial" panose="020B0604020202020204" pitchFamily="34" charset="0"/>
              <a:buChar char="•"/>
            </a:pPr>
            <a:r>
              <a:rPr lang="en-US" altLang="en-US" dirty="0" smtClean="0">
                <a:solidFill>
                  <a:schemeClr val="bg2"/>
                </a:solidFill>
                <a:latin typeface="宋体" panose="02010600030101010101" pitchFamily="2" charset="-122"/>
              </a:rPr>
              <a:t>一组线性等式</a:t>
            </a:r>
            <a:r>
              <a:rPr lang="en-US" altLang="zh-CN" dirty="0">
                <a:solidFill>
                  <a:schemeClr val="bg2"/>
                </a:solidFill>
                <a:latin typeface="宋体" panose="02010600030101010101" pitchFamily="2" charset="-122"/>
              </a:rPr>
              <a:t>、</a:t>
            </a:r>
            <a:r>
              <a:rPr lang="en-US" altLang="en-US" dirty="0">
                <a:solidFill>
                  <a:schemeClr val="bg2"/>
                </a:solidFill>
                <a:latin typeface="宋体" panose="02010600030101010101" pitchFamily="2" charset="-122"/>
              </a:rPr>
              <a:t>不等式约束方程</a:t>
            </a:r>
            <a:r>
              <a:rPr lang="en-US" altLang="en-US" dirty="0" smtClean="0">
                <a:solidFill>
                  <a:schemeClr val="bg2"/>
                </a:solidFill>
                <a:latin typeface="宋体" panose="02010600030101010101" pitchFamily="2" charset="-122"/>
              </a:rPr>
              <a:t>；</a:t>
            </a:r>
          </a:p>
          <a:p>
            <a:pPr marL="808355" lvl="2" indent="-367030" defTabSz="762000" eaLnBrk="1" hangingPunct="1">
              <a:spcBef>
                <a:spcPts val="600"/>
              </a:spcBef>
              <a:spcAft>
                <a:spcPts val="600"/>
              </a:spcAft>
              <a:buFont typeface="Arial" panose="020B0604020202020204" pitchFamily="34" charset="0"/>
              <a:buChar char="•"/>
            </a:pPr>
            <a:r>
              <a:rPr lang="en-US" altLang="en-US" dirty="0" smtClean="0">
                <a:solidFill>
                  <a:schemeClr val="bg2"/>
                </a:solidFill>
                <a:latin typeface="宋体" panose="02010600030101010101" pitchFamily="2" charset="-122"/>
              </a:rPr>
              <a:t>限制决策变量取值范围的非负约束</a:t>
            </a:r>
            <a:r>
              <a:rPr lang="en-US" altLang="en-US" dirty="0">
                <a:solidFill>
                  <a:schemeClr val="bg2"/>
                </a:solidFill>
                <a:latin typeface="宋体" panose="02010600030101010101" pitchFamily="2" charset="-122"/>
              </a:rPr>
              <a:t>。</a:t>
            </a:r>
            <a:endParaRPr lang="zh-CN" altLang="en-US" dirty="0">
              <a:solidFill>
                <a:schemeClr val="bg2"/>
              </a:solidFill>
            </a:endParaRPr>
          </a:p>
        </p:txBody>
      </p:sp>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6.1 </a:t>
            </a:r>
            <a:r>
              <a:rPr kumimoji="0" lang="zh-CN" altLang="en-US" kern="1200" dirty="0" smtClean="0">
                <a:solidFill>
                  <a:schemeClr val="accent2"/>
                </a:solidFill>
                <a:sym typeface="+mn-ea"/>
              </a:rPr>
              <a:t>线性规划模型</a:t>
            </a:r>
            <a:endParaRPr kumimoji="0" lang="en-US" altLang="zh-CN" kern="1200" dirty="0" smtClean="0">
              <a:solidFill>
                <a:schemeClr val="accent2"/>
              </a:solidFill>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wipe(left)">
                                      <p:cBhvr>
                                        <p:cTn id="7" dur="500"/>
                                        <p:tgtEl>
                                          <p:spTgt spid="14339">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4339">
                                            <p:txEl>
                                              <p:pRg st="1" end="1"/>
                                            </p:txEl>
                                          </p:spTgt>
                                        </p:tgtEl>
                                        <p:attrNameLst>
                                          <p:attrName>style.visibility</p:attrName>
                                        </p:attrNameLst>
                                      </p:cBhvr>
                                      <p:to>
                                        <p:strVal val="visible"/>
                                      </p:to>
                                    </p:set>
                                    <p:animEffect transition="in" filter="wipe(left)">
                                      <p:cBhvr>
                                        <p:cTn id="10" dur="500"/>
                                        <p:tgtEl>
                                          <p:spTgt spid="14339">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14339">
                                            <p:txEl>
                                              <p:pRg st="2" end="2"/>
                                            </p:txEl>
                                          </p:spTgt>
                                        </p:tgtEl>
                                        <p:attrNameLst>
                                          <p:attrName>style.visibility</p:attrName>
                                        </p:attrNameLst>
                                      </p:cBhvr>
                                      <p:to>
                                        <p:strVal val="visible"/>
                                      </p:to>
                                    </p:set>
                                    <p:animEffect transition="in" filter="wipe(left)">
                                      <p:cBhvr>
                                        <p:cTn id="13" dur="500"/>
                                        <p:tgtEl>
                                          <p:spTgt spid="1433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animEffect transition="in" filter="wipe(left)">
                                      <p:cBhvr>
                                        <p:cTn id="23" dur="500"/>
                                        <p:tgtEl>
                                          <p:spTgt spid="2">
                                            <p:txEl>
                                              <p:pRg st="0" end="0"/>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2">
                                            <p:txEl>
                                              <p:pRg st="1" end="1"/>
                                            </p:txEl>
                                          </p:spTgt>
                                        </p:tgtEl>
                                        <p:attrNameLst>
                                          <p:attrName>style.visibility</p:attrName>
                                        </p:attrNameLst>
                                      </p:cBhvr>
                                      <p:to>
                                        <p:strVal val="visible"/>
                                      </p:to>
                                    </p:set>
                                    <p:animEffect transition="in" filter="wipe(left)">
                                      <p:cBhvr>
                                        <p:cTn id="26" dur="500"/>
                                        <p:tgtEl>
                                          <p:spTgt spid="2">
                                            <p:txEl>
                                              <p:pRg st="1" end="1"/>
                                            </p:txEl>
                                          </p:spTgt>
                                        </p:tgtEl>
                                      </p:cBhvr>
                                    </p:animEffect>
                                  </p:childTnLst>
                                </p:cTn>
                              </p:par>
                              <p:par>
                                <p:cTn id="27" presetID="22" presetClass="entr" presetSubtype="8" fill="hold" nodeType="with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animEffect transition="in" filter="wipe(left)">
                                      <p:cBhvr>
                                        <p:cTn id="29"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6.1 </a:t>
            </a:r>
            <a:r>
              <a:rPr kumimoji="0" lang="zh-CN" altLang="en-US" kern="1200" dirty="0" smtClean="0">
                <a:solidFill>
                  <a:schemeClr val="accent2"/>
                </a:solidFill>
                <a:sym typeface="+mn-ea"/>
              </a:rPr>
              <a:t>线性规划模型</a:t>
            </a:r>
            <a:endParaRPr kumimoji="0" lang="en-US" altLang="zh-CN" kern="1200" dirty="0" smtClean="0">
              <a:solidFill>
                <a:schemeClr val="accent2"/>
              </a:solidFill>
              <a:sym typeface="+mn-ea"/>
            </a:endParaRPr>
          </a:p>
        </p:txBody>
      </p:sp>
      <p:sp>
        <p:nvSpPr>
          <p:cNvPr id="2" name="矩形 1"/>
          <p:cNvSpPr/>
          <p:nvPr/>
        </p:nvSpPr>
        <p:spPr>
          <a:xfrm>
            <a:off x="539805" y="1700555"/>
            <a:ext cx="3587842" cy="461665"/>
          </a:xfrm>
          <a:prstGeom prst="rect">
            <a:avLst/>
          </a:prstGeom>
        </p:spPr>
        <p:txBody>
          <a:bodyPr wrap="none">
            <a:spAutoFit/>
          </a:bodyPr>
          <a:lstStyle/>
          <a:p>
            <a:r>
              <a:rPr lang="zh-CN" altLang="en-US" b="1" dirty="0" smtClean="0">
                <a:solidFill>
                  <a:schemeClr val="bg2"/>
                </a:solidFill>
              </a:rPr>
              <a:t>线性规划模型的</a:t>
            </a:r>
            <a:r>
              <a:rPr lang="zh-CN" altLang="en-US" b="1" dirty="0">
                <a:solidFill>
                  <a:schemeClr val="bg2"/>
                </a:solidFill>
              </a:rPr>
              <a:t>一般形式</a:t>
            </a:r>
            <a:endParaRPr lang="zh-CN" altLang="en-US" dirty="0">
              <a:solidFill>
                <a:schemeClr val="bg2"/>
              </a:solidFill>
            </a:endParaRPr>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429" y="2348880"/>
            <a:ext cx="7192963" cy="319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6.1 </a:t>
            </a:r>
            <a:r>
              <a:rPr kumimoji="0" lang="zh-CN" altLang="en-US" kern="1200" dirty="0" smtClean="0">
                <a:solidFill>
                  <a:schemeClr val="accent2"/>
                </a:solidFill>
                <a:sym typeface="+mn-ea"/>
              </a:rPr>
              <a:t>线性规划模型</a:t>
            </a:r>
            <a:endParaRPr kumimoji="0" lang="en-US" altLang="zh-CN" kern="1200" dirty="0" smtClean="0">
              <a:solidFill>
                <a:schemeClr val="accent2"/>
              </a:solidFill>
              <a:sym typeface="+mn-ea"/>
            </a:endParaRPr>
          </a:p>
        </p:txBody>
      </p:sp>
      <p:sp>
        <p:nvSpPr>
          <p:cNvPr id="2" name="矩形 1"/>
          <p:cNvSpPr/>
          <p:nvPr/>
        </p:nvSpPr>
        <p:spPr>
          <a:xfrm>
            <a:off x="611560" y="1628800"/>
            <a:ext cx="5171609" cy="646331"/>
          </a:xfrm>
          <a:prstGeom prst="rect">
            <a:avLst/>
          </a:prstGeom>
        </p:spPr>
        <p:txBody>
          <a:bodyPr wrap="none">
            <a:spAutoFit/>
          </a:bodyPr>
          <a:lstStyle/>
          <a:p>
            <a:pPr marL="342900" indent="-342900">
              <a:lnSpc>
                <a:spcPct val="150000"/>
              </a:lnSpc>
              <a:buFont typeface="Wingdings" panose="05000000000000000000" pitchFamily="2" charset="2"/>
              <a:buChar char="u"/>
            </a:pPr>
            <a:r>
              <a:rPr lang="zh-CN" altLang="en-US" b="1" dirty="0" smtClean="0">
                <a:solidFill>
                  <a:schemeClr val="bg2"/>
                </a:solidFill>
              </a:rPr>
              <a:t>线性规划模型</a:t>
            </a:r>
            <a:r>
              <a:rPr lang="zh-CN" altLang="en-US" b="1" dirty="0" smtClean="0">
                <a:solidFill>
                  <a:schemeClr val="bg2"/>
                </a:solidFill>
              </a:rPr>
              <a:t>的简写</a:t>
            </a:r>
            <a:r>
              <a:rPr lang="zh-CN" altLang="en-US" b="1" dirty="0" smtClean="0">
                <a:solidFill>
                  <a:schemeClr val="bg2"/>
                </a:solidFill>
              </a:rPr>
              <a:t>形式（和式）</a:t>
            </a:r>
            <a:endParaRPr lang="zh-CN" altLang="en-US" dirty="0">
              <a:solidFill>
                <a:schemeClr val="bg2"/>
              </a:solidFill>
            </a:endParaRPr>
          </a:p>
        </p:txBody>
      </p:sp>
      <p:sp>
        <p:nvSpPr>
          <p:cNvPr id="9" name="副标题 2"/>
          <p:cNvSpPr txBox="1"/>
          <p:nvPr/>
        </p:nvSpPr>
        <p:spPr>
          <a:xfrm>
            <a:off x="505973" y="2276872"/>
            <a:ext cx="7775575" cy="288032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buNone/>
            </a:pPr>
            <a:r>
              <a:rPr lang="en-US" altLang="zh-CN" sz="2400" b="1" dirty="0">
                <a:solidFill>
                  <a:schemeClr val="bg2"/>
                </a:solidFill>
                <a:latin typeface="Times New Roman" panose="02020603050405020304" pitchFamily="18" charset="0"/>
                <a:cs typeface="Times New Roman" panose="02020603050405020304" pitchFamily="18" charset="0"/>
              </a:rPr>
              <a:t> </a:t>
            </a:r>
          </a:p>
          <a:p>
            <a:pPr marL="0" lvl="0" indent="0">
              <a:buNone/>
            </a:pPr>
            <a:r>
              <a:rPr lang="en-US" altLang="zh-CN" sz="2400" b="1" dirty="0">
                <a:solidFill>
                  <a:schemeClr val="bg2"/>
                </a:solidFill>
                <a:latin typeface="Times New Roman" panose="02020603050405020304" pitchFamily="18" charset="0"/>
                <a:cs typeface="Times New Roman" panose="02020603050405020304" pitchFamily="18" charset="0"/>
              </a:rPr>
              <a:t>          min(max) </a:t>
            </a:r>
            <a:r>
              <a:rPr lang="en-US" altLang="zh-CN" sz="2400" b="1" i="1" dirty="0">
                <a:solidFill>
                  <a:schemeClr val="bg2"/>
                </a:solidFill>
                <a:latin typeface="Times New Roman" panose="02020603050405020304" pitchFamily="18" charset="0"/>
                <a:cs typeface="Times New Roman" panose="02020603050405020304" pitchFamily="18" charset="0"/>
              </a:rPr>
              <a:t>z</a:t>
            </a:r>
            <a:r>
              <a:rPr lang="en-US" altLang="zh-CN" sz="2400" b="1" dirty="0">
                <a:solidFill>
                  <a:schemeClr val="bg2"/>
                </a:solidFill>
                <a:latin typeface="Times New Roman" panose="02020603050405020304" pitchFamily="18" charset="0"/>
                <a:cs typeface="Times New Roman" panose="02020603050405020304" pitchFamily="18" charset="0"/>
              </a:rPr>
              <a:t>=                                                 </a:t>
            </a:r>
            <a:r>
              <a:rPr lang="zh-CN" altLang="en-US" sz="2400" b="1" dirty="0" smtClean="0">
                <a:solidFill>
                  <a:schemeClr val="bg2"/>
                </a:solidFill>
                <a:latin typeface="Times New Roman" panose="02020603050405020304" pitchFamily="18" charset="0"/>
                <a:cs typeface="Times New Roman" panose="02020603050405020304" pitchFamily="18" charset="0"/>
              </a:rPr>
              <a:t>目标函数</a:t>
            </a:r>
            <a:r>
              <a:rPr lang="en-US" altLang="zh-CN" sz="2400" b="1" dirty="0" smtClean="0">
                <a:solidFill>
                  <a:schemeClr val="bg2"/>
                </a:solidFill>
                <a:latin typeface="Times New Roman" panose="02020603050405020304" pitchFamily="18" charset="0"/>
                <a:cs typeface="Times New Roman" panose="02020603050405020304" pitchFamily="18" charset="0"/>
              </a:rPr>
              <a:t>   </a:t>
            </a:r>
            <a:endParaRPr lang="en-US" altLang="zh-CN" sz="2400" b="1" dirty="0">
              <a:solidFill>
                <a:schemeClr val="bg2"/>
              </a:solidFill>
              <a:latin typeface="Times New Roman" panose="02020603050405020304" pitchFamily="18" charset="0"/>
              <a:cs typeface="Times New Roman" panose="02020603050405020304" pitchFamily="18" charset="0"/>
            </a:endParaRPr>
          </a:p>
          <a:p>
            <a:pPr marL="0" lvl="0" indent="0">
              <a:lnSpc>
                <a:spcPct val="250000"/>
              </a:lnSpc>
              <a:buNone/>
            </a:pPr>
            <a:r>
              <a:rPr lang="en-US" altLang="zh-CN" sz="2400" b="1" dirty="0">
                <a:solidFill>
                  <a:schemeClr val="bg2"/>
                </a:solidFill>
                <a:latin typeface="Times New Roman" panose="02020603050405020304" pitchFamily="18" charset="0"/>
                <a:cs typeface="Times New Roman" panose="02020603050405020304" pitchFamily="18" charset="0"/>
              </a:rPr>
              <a:t>           s.t.                                           </a:t>
            </a:r>
            <a:r>
              <a:rPr lang="en-US" altLang="zh-CN" sz="2400" b="1" i="1" dirty="0">
                <a:solidFill>
                  <a:schemeClr val="bg2"/>
                </a:solidFill>
                <a:latin typeface="Times New Roman" panose="02020603050405020304" pitchFamily="18" charset="0"/>
                <a:cs typeface="Times New Roman" panose="02020603050405020304" pitchFamily="18" charset="0"/>
              </a:rPr>
              <a:t>i</a:t>
            </a:r>
            <a:r>
              <a:rPr lang="en-US" altLang="zh-CN" sz="2400" b="1" dirty="0">
                <a:solidFill>
                  <a:schemeClr val="bg2"/>
                </a:solidFill>
                <a:latin typeface="Times New Roman" panose="02020603050405020304" pitchFamily="18" charset="0"/>
                <a:cs typeface="Times New Roman" panose="02020603050405020304" pitchFamily="18" charset="0"/>
              </a:rPr>
              <a:t>=1,2,</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bg2"/>
                </a:solidFill>
                <a:latin typeface="Times New Roman" panose="02020603050405020304" pitchFamily="18" charset="0"/>
                <a:cs typeface="Times New Roman" panose="02020603050405020304" pitchFamily="18" charset="0"/>
              </a:rPr>
              <a:t>,</a:t>
            </a:r>
            <a:r>
              <a:rPr lang="en-US" altLang="zh-CN" sz="2400" b="1" i="1" dirty="0">
                <a:solidFill>
                  <a:schemeClr val="bg2"/>
                </a:solidFill>
                <a:latin typeface="Times New Roman" panose="02020603050405020304" pitchFamily="18" charset="0"/>
                <a:cs typeface="Times New Roman" panose="02020603050405020304" pitchFamily="18" charset="0"/>
              </a:rPr>
              <a:t>m</a:t>
            </a:r>
            <a:r>
              <a:rPr lang="en-US" altLang="zh-CN" sz="2400" b="1" dirty="0">
                <a:solidFill>
                  <a:schemeClr val="bg2"/>
                </a:solidFill>
                <a:latin typeface="Times New Roman" panose="02020603050405020304" pitchFamily="18" charset="0"/>
                <a:cs typeface="Times New Roman" panose="02020603050405020304" pitchFamily="18" charset="0"/>
              </a:rPr>
              <a:t>     </a:t>
            </a:r>
            <a:r>
              <a:rPr lang="zh-CN" altLang="en-US" sz="2400" b="1" dirty="0">
                <a:solidFill>
                  <a:schemeClr val="bg2"/>
                </a:solidFill>
                <a:latin typeface="Times New Roman" panose="02020603050405020304" pitchFamily="18" charset="0"/>
                <a:cs typeface="Times New Roman" panose="02020603050405020304" pitchFamily="18" charset="0"/>
              </a:rPr>
              <a:t>约束条件</a:t>
            </a:r>
          </a:p>
          <a:p>
            <a:pPr marL="0" lvl="0" indent="0">
              <a:lnSpc>
                <a:spcPct val="120000"/>
              </a:lnSpc>
              <a:buNone/>
            </a:pPr>
            <a:r>
              <a:rPr lang="en-US" altLang="zh-CN" sz="2400" b="1" dirty="0" smtClean="0">
                <a:solidFill>
                  <a:schemeClr val="bg2"/>
                </a:solidFill>
                <a:latin typeface="Times New Roman" panose="02020603050405020304" pitchFamily="18" charset="0"/>
                <a:cs typeface="Times New Roman" panose="02020603050405020304" pitchFamily="18" charset="0"/>
              </a:rPr>
              <a:t>                      </a:t>
            </a:r>
            <a:r>
              <a:rPr lang="en-US" altLang="zh-CN" sz="2400" b="1" i="1" dirty="0">
                <a:solidFill>
                  <a:schemeClr val="bg2"/>
                </a:solidFill>
                <a:latin typeface="Times New Roman" panose="02020603050405020304" pitchFamily="18" charset="0"/>
                <a:cs typeface="Times New Roman" panose="02020603050405020304" pitchFamily="18" charset="0"/>
              </a:rPr>
              <a:t>x</a:t>
            </a:r>
            <a:r>
              <a:rPr lang="en-US" altLang="zh-CN" sz="2400" b="1" i="1" baseline="-25000" dirty="0">
                <a:solidFill>
                  <a:schemeClr val="bg2"/>
                </a:solidFill>
                <a:latin typeface="Times New Roman" panose="02020603050405020304" pitchFamily="18" charset="0"/>
                <a:cs typeface="Times New Roman" panose="02020603050405020304" pitchFamily="18" charset="0"/>
              </a:rPr>
              <a:t>j</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bg2"/>
                </a:solidFill>
                <a:latin typeface="Times New Roman" panose="02020603050405020304" pitchFamily="18" charset="0"/>
                <a:cs typeface="Times New Roman" panose="02020603050405020304" pitchFamily="18" charset="0"/>
              </a:rPr>
              <a:t>0,     </a:t>
            </a:r>
            <a:r>
              <a:rPr lang="en-US" altLang="zh-CN" sz="2400" b="1" i="1" dirty="0">
                <a:solidFill>
                  <a:schemeClr val="bg2"/>
                </a:solidFill>
                <a:latin typeface="Times New Roman" panose="02020603050405020304" pitchFamily="18" charset="0"/>
                <a:cs typeface="Times New Roman" panose="02020603050405020304" pitchFamily="18" charset="0"/>
              </a:rPr>
              <a:t>j</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solidFill>
                  <a:schemeClr val="bg2"/>
                </a:solidFill>
                <a:latin typeface="Times New Roman" panose="02020603050405020304" pitchFamily="18" charset="0"/>
                <a:cs typeface="Times New Roman" panose="02020603050405020304" pitchFamily="18" charset="0"/>
              </a:rPr>
              <a:t>J</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bg2"/>
                </a:solidFill>
                <a:latin typeface="Times New Roman" panose="02020603050405020304" pitchFamily="18" charset="0"/>
                <a:cs typeface="Times New Roman" panose="02020603050405020304" pitchFamily="18" charset="0"/>
              </a:rPr>
              <a:t>{1,2,</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bg2"/>
                </a:solidFill>
                <a:latin typeface="Times New Roman" panose="02020603050405020304" pitchFamily="18" charset="0"/>
                <a:cs typeface="Times New Roman" panose="02020603050405020304" pitchFamily="18" charset="0"/>
              </a:rPr>
              <a:t>,</a:t>
            </a:r>
            <a:r>
              <a:rPr lang="en-US" altLang="zh-CN" sz="2400" b="1" i="1" dirty="0">
                <a:solidFill>
                  <a:schemeClr val="bg2"/>
                </a:solidFill>
                <a:latin typeface="Times New Roman" panose="02020603050405020304" pitchFamily="18" charset="0"/>
                <a:cs typeface="Times New Roman" panose="02020603050405020304" pitchFamily="18" charset="0"/>
              </a:rPr>
              <a:t>n</a:t>
            </a:r>
            <a:r>
              <a:rPr lang="en-US" altLang="zh-CN" sz="2400" b="1" dirty="0">
                <a:solidFill>
                  <a:schemeClr val="bg2"/>
                </a:solidFill>
                <a:latin typeface="Times New Roman" panose="02020603050405020304" pitchFamily="18" charset="0"/>
                <a:cs typeface="Times New Roman" panose="02020603050405020304" pitchFamily="18" charset="0"/>
              </a:rPr>
              <a:t>}                    </a:t>
            </a:r>
            <a:r>
              <a:rPr lang="zh-CN" altLang="en-US" sz="2400" b="1" dirty="0">
                <a:solidFill>
                  <a:schemeClr val="bg2"/>
                </a:solidFill>
                <a:latin typeface="Times New Roman" panose="02020603050405020304" pitchFamily="18" charset="0"/>
                <a:cs typeface="Times New Roman" panose="02020603050405020304" pitchFamily="18" charset="0"/>
              </a:rPr>
              <a:t>非负条件</a:t>
            </a:r>
            <a:endParaRPr lang="en-US" altLang="zh-CN" sz="2400" b="1" i="1" dirty="0">
              <a:solidFill>
                <a:schemeClr val="bg2"/>
              </a:solidFill>
              <a:latin typeface="Times New Roman" panose="02020603050405020304" pitchFamily="18" charset="0"/>
              <a:cs typeface="Times New Roman" panose="02020603050405020304" pitchFamily="18" charset="0"/>
            </a:endParaRPr>
          </a:p>
          <a:p>
            <a:pPr marL="0" lvl="0" indent="0">
              <a:lnSpc>
                <a:spcPct val="120000"/>
              </a:lnSpc>
              <a:buNone/>
            </a:pPr>
            <a:r>
              <a:rPr lang="en-US" altLang="zh-CN" sz="2400" b="1" i="1" dirty="0">
                <a:solidFill>
                  <a:schemeClr val="accent2"/>
                </a:solidFill>
                <a:latin typeface="Times New Roman" panose="02020603050405020304" pitchFamily="18" charset="0"/>
                <a:cs typeface="Times New Roman" panose="02020603050405020304" pitchFamily="18" charset="0"/>
              </a:rPr>
              <a:t>                      x</a:t>
            </a:r>
            <a:r>
              <a:rPr lang="en-US" altLang="zh-CN" sz="2400" b="1" i="1" baseline="-25000" dirty="0">
                <a:solidFill>
                  <a:schemeClr val="accent2"/>
                </a:solidFill>
                <a:latin typeface="Times New Roman" panose="02020603050405020304" pitchFamily="18" charset="0"/>
                <a:cs typeface="Times New Roman" panose="02020603050405020304" pitchFamily="18" charset="0"/>
              </a:rPr>
              <a:t>j</a:t>
            </a:r>
            <a:r>
              <a:rPr lang="zh-CN" altLang="en-US" sz="2400" b="1" dirty="0">
                <a:solidFill>
                  <a:schemeClr val="accent2"/>
                </a:solidFill>
                <a:latin typeface="Times New Roman" panose="02020603050405020304" pitchFamily="18" charset="0"/>
                <a:cs typeface="Times New Roman" panose="02020603050405020304" pitchFamily="18" charset="0"/>
              </a:rPr>
              <a:t>任意</a:t>
            </a:r>
            <a:r>
              <a:rPr lang="en-US" altLang="zh-CN" sz="2400" b="1" dirty="0">
                <a:solidFill>
                  <a:schemeClr val="accent2"/>
                </a:solidFill>
                <a:latin typeface="Times New Roman" panose="02020603050405020304" pitchFamily="18" charset="0"/>
                <a:cs typeface="Times New Roman" panose="02020603050405020304" pitchFamily="18" charset="0"/>
              </a:rPr>
              <a:t>,  </a:t>
            </a:r>
            <a:r>
              <a:rPr lang="en-US" altLang="zh-CN" sz="2400" b="1" i="1" dirty="0">
                <a:solidFill>
                  <a:schemeClr val="accent2"/>
                </a:solidFill>
                <a:latin typeface="Times New Roman" panose="02020603050405020304" pitchFamily="18" charset="0"/>
                <a:cs typeface="Times New Roman" panose="02020603050405020304" pitchFamily="18" charset="0"/>
              </a:rPr>
              <a:t>j</a:t>
            </a:r>
            <a:r>
              <a:rPr lang="en-US" altLang="zh-CN" sz="2400" b="1"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accent2"/>
                </a:solidFill>
                <a:latin typeface="Times New Roman" panose="02020603050405020304" pitchFamily="18" charset="0"/>
                <a:cs typeface="Times New Roman" panose="02020603050405020304" pitchFamily="18" charset="0"/>
              </a:rPr>
              <a:t>{1,2,</a:t>
            </a:r>
            <a:r>
              <a:rPr lang="en-US" altLang="zh-CN" sz="2400" b="1"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accent2"/>
                </a:solidFill>
                <a:latin typeface="Times New Roman" panose="02020603050405020304" pitchFamily="18" charset="0"/>
                <a:cs typeface="Times New Roman" panose="02020603050405020304" pitchFamily="18" charset="0"/>
              </a:rPr>
              <a:t>,</a:t>
            </a:r>
            <a:r>
              <a:rPr lang="en-US" altLang="zh-CN" sz="2400" b="1" i="1" dirty="0">
                <a:solidFill>
                  <a:schemeClr val="accent2"/>
                </a:solidFill>
                <a:latin typeface="Times New Roman" panose="02020603050405020304" pitchFamily="18" charset="0"/>
                <a:cs typeface="Times New Roman" panose="02020603050405020304" pitchFamily="18" charset="0"/>
              </a:rPr>
              <a:t>n</a:t>
            </a:r>
            <a:r>
              <a:rPr lang="en-US" altLang="zh-CN" sz="2400" b="1" dirty="0">
                <a:solidFill>
                  <a:schemeClr val="accent2"/>
                </a:solidFill>
                <a:latin typeface="Times New Roman" panose="02020603050405020304" pitchFamily="18" charset="0"/>
                <a:cs typeface="Times New Roman" panose="02020603050405020304" pitchFamily="18" charset="0"/>
              </a:rPr>
              <a:t>}-</a:t>
            </a:r>
            <a:r>
              <a:rPr lang="en-US" altLang="zh-CN" sz="2400" b="1" i="1" dirty="0">
                <a:solidFill>
                  <a:schemeClr val="accent2"/>
                </a:solidFill>
                <a:latin typeface="Times New Roman" panose="02020603050405020304" pitchFamily="18" charset="0"/>
                <a:cs typeface="Times New Roman" panose="02020603050405020304" pitchFamily="18" charset="0"/>
              </a:rPr>
              <a:t>J                     </a:t>
            </a:r>
            <a:r>
              <a:rPr lang="zh-CN" altLang="en-US" sz="2400" b="1" dirty="0">
                <a:solidFill>
                  <a:schemeClr val="accent2"/>
                </a:solidFill>
                <a:latin typeface="Times New Roman" panose="02020603050405020304" pitchFamily="18" charset="0"/>
                <a:cs typeface="Times New Roman" panose="02020603050405020304" pitchFamily="18" charset="0"/>
              </a:rPr>
              <a:t>自由</a:t>
            </a:r>
            <a:r>
              <a:rPr lang="zh-CN" altLang="en-US" sz="2400" b="1" dirty="0" smtClean="0">
                <a:solidFill>
                  <a:schemeClr val="accent2"/>
                </a:solidFill>
                <a:latin typeface="Times New Roman" panose="02020603050405020304" pitchFamily="18" charset="0"/>
                <a:cs typeface="Times New Roman" panose="02020603050405020304" pitchFamily="18" charset="0"/>
              </a:rPr>
              <a:t>变量</a:t>
            </a:r>
            <a:endParaRPr lang="en-US" altLang="zh-CN" sz="2400" b="1" dirty="0">
              <a:solidFill>
                <a:schemeClr val="accent2"/>
              </a:solidFill>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2480" y="2542921"/>
            <a:ext cx="1076325"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3378442"/>
            <a:ext cx="246697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685800" y="1556792"/>
            <a:ext cx="4822304" cy="576064"/>
          </a:xfrm>
        </p:spPr>
        <p:txBody>
          <a:bodyPr vert="horz" wrap="square" lIns="91440" tIns="45720" rIns="91440" bIns="45720" anchor="ctr"/>
          <a:lstStyle/>
          <a:p>
            <a:pPr marL="342900" indent="-342900" eaLnBrk="1" hangingPunct="1">
              <a:buFont typeface="Wingdings" panose="05000000000000000000" pitchFamily="2" charset="2"/>
              <a:buChar char="p"/>
            </a:pPr>
            <a:r>
              <a:rPr lang="zh-CN" altLang="en-US" sz="2400" dirty="0" smtClean="0">
                <a:solidFill>
                  <a:schemeClr val="bg2"/>
                </a:solidFill>
              </a:rPr>
              <a:t>相关概念</a:t>
            </a:r>
            <a:endParaRPr lang="zh-CN" altLang="en-US" sz="2400" dirty="0">
              <a:solidFill>
                <a:schemeClr val="bg2"/>
              </a:solidFill>
            </a:endParaRPr>
          </a:p>
        </p:txBody>
      </p:sp>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6.1 </a:t>
            </a:r>
            <a:r>
              <a:rPr kumimoji="0" lang="zh-CN" altLang="en-US" kern="1200" dirty="0" smtClean="0">
                <a:solidFill>
                  <a:schemeClr val="accent2"/>
                </a:solidFill>
                <a:sym typeface="+mn-ea"/>
              </a:rPr>
              <a:t>线性规划模型</a:t>
            </a:r>
            <a:endParaRPr kumimoji="0" lang="en-US" altLang="zh-CN" kern="1200" dirty="0" smtClean="0">
              <a:solidFill>
                <a:schemeClr val="accent2"/>
              </a:solidFill>
              <a:sym typeface="+mn-ea"/>
            </a:endParaRPr>
          </a:p>
        </p:txBody>
      </p:sp>
      <p:sp>
        <p:nvSpPr>
          <p:cNvPr id="9" name="副标题 2"/>
          <p:cNvSpPr>
            <a:spLocks noGrp="1"/>
          </p:cNvSpPr>
          <p:nvPr/>
        </p:nvSpPr>
        <p:spPr>
          <a:xfrm>
            <a:off x="683568" y="2132856"/>
            <a:ext cx="8280920" cy="4104456"/>
          </a:xfrm>
          <a:prstGeom prst="rect">
            <a:avLst/>
          </a:prstGeom>
          <a:noFill/>
          <a:ln w="9525">
            <a:noFill/>
          </a:ln>
        </p:spPr>
        <p:txBody>
          <a:bodyPr vert="horz" wrap="square" lIns="91440" tIns="45720" rIns="91440" bIns="45720" anchor="t"/>
          <a:lstStyle>
            <a:lvl1pPr marL="0" indent="0" algn="ctr" rtl="0" eaLnBrk="0" fontAlgn="base" hangingPunct="0">
              <a:spcBef>
                <a:spcPct val="20000"/>
              </a:spcBef>
              <a:spcAft>
                <a:spcPct val="0"/>
              </a:spcAft>
              <a:buFont typeface="Arial" panose="020B0604020202020204" pitchFamily="34"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800100" lvl="1" indent="-342900" algn="l">
              <a:lnSpc>
                <a:spcPct val="110000"/>
              </a:lnSpc>
              <a:buFont typeface="Arial" panose="020B0604020202020204" pitchFamily="34" charset="0"/>
              <a:buChar char="•"/>
            </a:pPr>
            <a:r>
              <a:rPr lang="en-US" altLang="zh-CN" sz="2400" i="1" kern="1200" dirty="0" err="1" smtClean="0">
                <a:solidFill>
                  <a:schemeClr val="bg1"/>
                </a:solidFill>
                <a:latin typeface="Times New Roman" panose="02020603050405020304" pitchFamily="18" charset="0"/>
              </a:rPr>
              <a:t>c</a:t>
            </a:r>
            <a:r>
              <a:rPr lang="en-US" altLang="zh-CN" sz="2400" i="1" kern="1200" baseline="-25000" dirty="0" err="1" smtClean="0">
                <a:solidFill>
                  <a:schemeClr val="bg1"/>
                </a:solidFill>
                <a:latin typeface="Times New Roman" panose="02020603050405020304" pitchFamily="18" charset="0"/>
              </a:rPr>
              <a:t>j</a:t>
            </a:r>
            <a:r>
              <a:rPr lang="zh-CN" altLang="en-US" sz="2400" kern="1200" dirty="0" smtClean="0">
                <a:solidFill>
                  <a:schemeClr val="bg1"/>
                </a:solidFill>
                <a:latin typeface="Times New Roman" panose="02020603050405020304" pitchFamily="18" charset="0"/>
              </a:rPr>
              <a:t>称为价值系数</a:t>
            </a:r>
            <a:r>
              <a:rPr lang="en-US" altLang="zh-CN" sz="2400" kern="1200" dirty="0" smtClean="0">
                <a:solidFill>
                  <a:schemeClr val="bg1"/>
                </a:solidFill>
                <a:latin typeface="Times New Roman" panose="02020603050405020304" pitchFamily="18" charset="0"/>
              </a:rPr>
              <a:t>(1</a:t>
            </a:r>
            <a:r>
              <a:rPr lang="en-US" altLang="zh-CN" sz="2400" dirty="0">
                <a:solidFill>
                  <a:schemeClr val="bg1"/>
                </a:solidFill>
                <a:latin typeface="Times New Roman" panose="02020603050405020304" pitchFamily="18" charset="0"/>
              </a:rPr>
              <a:t>≤</a:t>
            </a:r>
            <a:r>
              <a:rPr lang="en-US" altLang="zh-CN" sz="2400" i="1" dirty="0">
                <a:solidFill>
                  <a:schemeClr val="bg1"/>
                </a:solidFill>
                <a:latin typeface="Times New Roman" panose="02020603050405020304" pitchFamily="18" charset="0"/>
              </a:rPr>
              <a:t>j</a:t>
            </a:r>
            <a:r>
              <a:rPr lang="en-US" altLang="zh-CN" sz="2400" dirty="0">
                <a:solidFill>
                  <a:schemeClr val="bg1"/>
                </a:solidFill>
                <a:latin typeface="Times New Roman" panose="02020603050405020304" pitchFamily="18" charset="0"/>
              </a:rPr>
              <a:t> </a:t>
            </a:r>
            <a:r>
              <a:rPr lang="en-US" altLang="zh-CN" sz="2400" dirty="0" smtClean="0">
                <a:solidFill>
                  <a:schemeClr val="bg1"/>
                </a:solidFill>
                <a:latin typeface="Times New Roman" panose="02020603050405020304" pitchFamily="18" charset="0"/>
              </a:rPr>
              <a:t>≤</a:t>
            </a:r>
            <a:r>
              <a:rPr lang="en-US" altLang="zh-CN" sz="2400" i="1" dirty="0" smtClean="0">
                <a:solidFill>
                  <a:schemeClr val="bg1"/>
                </a:solidFill>
                <a:latin typeface="Times New Roman" panose="02020603050405020304" pitchFamily="18" charset="0"/>
              </a:rPr>
              <a:t>n</a:t>
            </a:r>
            <a:r>
              <a:rPr lang="en-US" altLang="zh-CN" sz="2400" dirty="0" smtClean="0">
                <a:solidFill>
                  <a:schemeClr val="bg1"/>
                </a:solidFill>
                <a:latin typeface="Times New Roman" panose="02020603050405020304" pitchFamily="18" charset="0"/>
              </a:rPr>
              <a:t>)</a:t>
            </a:r>
            <a:r>
              <a:rPr lang="zh-CN" altLang="en-US" sz="2400" dirty="0" smtClean="0">
                <a:solidFill>
                  <a:schemeClr val="bg1"/>
                </a:solidFill>
                <a:latin typeface="Times New Roman" panose="02020603050405020304" pitchFamily="18" charset="0"/>
              </a:rPr>
              <a:t>，</a:t>
            </a:r>
            <a:r>
              <a:rPr lang="en-US" altLang="zh-CN" sz="2400" i="1" dirty="0" smtClean="0">
                <a:solidFill>
                  <a:schemeClr val="bg1"/>
                </a:solidFill>
                <a:latin typeface="Times New Roman" panose="02020603050405020304" pitchFamily="18" charset="0"/>
              </a:rPr>
              <a:t>b</a:t>
            </a:r>
            <a:r>
              <a:rPr lang="en-US" altLang="zh-CN" sz="2400" i="1" baseline="-25000" dirty="0" smtClean="0">
                <a:solidFill>
                  <a:schemeClr val="bg1"/>
                </a:solidFill>
                <a:latin typeface="Times New Roman" panose="02020603050405020304" pitchFamily="18" charset="0"/>
              </a:rPr>
              <a:t>i</a:t>
            </a:r>
            <a:r>
              <a:rPr lang="zh-CN" altLang="en-US" sz="2400" dirty="0" smtClean="0">
                <a:solidFill>
                  <a:schemeClr val="bg1"/>
                </a:solidFill>
                <a:latin typeface="Times New Roman" panose="02020603050405020304" pitchFamily="18" charset="0"/>
              </a:rPr>
              <a:t>称为右</a:t>
            </a:r>
            <a:r>
              <a:rPr lang="zh-CN" altLang="en-US" sz="2400" dirty="0" smtClean="0">
                <a:solidFill>
                  <a:schemeClr val="bg1"/>
                </a:solidFill>
                <a:latin typeface="Times New Roman" panose="02020603050405020304" pitchFamily="18" charset="0"/>
              </a:rPr>
              <a:t>端常数项</a:t>
            </a:r>
            <a:r>
              <a:rPr lang="en-US" altLang="zh-CN" sz="2400" dirty="0">
                <a:solidFill>
                  <a:schemeClr val="bg1"/>
                </a:solidFill>
                <a:latin typeface="Times New Roman" panose="02020603050405020304" pitchFamily="18" charset="0"/>
              </a:rPr>
              <a:t>(1</a:t>
            </a:r>
            <a:r>
              <a:rPr lang="en-US" altLang="zh-CN" sz="2400" dirty="0" smtClean="0">
                <a:solidFill>
                  <a:schemeClr val="bg1"/>
                </a:solidFill>
                <a:latin typeface="Times New Roman" panose="02020603050405020304" pitchFamily="18" charset="0"/>
              </a:rPr>
              <a:t>≤</a:t>
            </a:r>
            <a:r>
              <a:rPr lang="en-US" altLang="zh-CN" sz="2400" i="1" dirty="0" smtClean="0">
                <a:solidFill>
                  <a:schemeClr val="bg1"/>
                </a:solidFill>
                <a:latin typeface="Times New Roman" panose="02020603050405020304" pitchFamily="18" charset="0"/>
              </a:rPr>
              <a:t>i</a:t>
            </a:r>
            <a:r>
              <a:rPr lang="en-US" altLang="zh-CN" sz="2400" dirty="0" smtClean="0">
                <a:solidFill>
                  <a:schemeClr val="bg1"/>
                </a:solidFill>
                <a:latin typeface="Times New Roman" panose="02020603050405020304" pitchFamily="18" charset="0"/>
              </a:rPr>
              <a:t> ≤</a:t>
            </a:r>
            <a:r>
              <a:rPr lang="en-US" altLang="zh-CN" sz="2400" i="1" dirty="0" smtClean="0">
                <a:solidFill>
                  <a:schemeClr val="bg1"/>
                </a:solidFill>
                <a:latin typeface="Times New Roman" panose="02020603050405020304" pitchFamily="18" charset="0"/>
              </a:rPr>
              <a:t>m</a:t>
            </a:r>
            <a:r>
              <a:rPr lang="en-US" altLang="zh-CN" sz="2400" dirty="0" smtClean="0">
                <a:solidFill>
                  <a:schemeClr val="bg1"/>
                </a:solidFill>
                <a:latin typeface="Times New Roman" panose="02020603050405020304" pitchFamily="18" charset="0"/>
              </a:rPr>
              <a:t>)</a:t>
            </a:r>
            <a:endParaRPr lang="en-US" altLang="zh-CN" sz="2400" kern="1200" dirty="0" smtClean="0">
              <a:solidFill>
                <a:schemeClr val="bg1"/>
              </a:solidFill>
              <a:latin typeface="Times New Roman" panose="02020603050405020304" pitchFamily="18" charset="0"/>
            </a:endParaRPr>
          </a:p>
          <a:p>
            <a:pPr marL="800100" lvl="1" indent="-342900" algn="l">
              <a:lnSpc>
                <a:spcPct val="110000"/>
              </a:lnSpc>
              <a:buFont typeface="Arial" panose="020B0604020202020204" pitchFamily="34" charset="0"/>
              <a:buChar char="•"/>
            </a:pPr>
            <a:r>
              <a:rPr lang="zh-CN" altLang="en-US" sz="2400" kern="1200" dirty="0" smtClean="0">
                <a:solidFill>
                  <a:schemeClr val="bg1"/>
                </a:solidFill>
                <a:latin typeface="Times New Roman" panose="02020603050405020304" pitchFamily="18" charset="0"/>
              </a:rPr>
              <a:t>目标函数和约束条件都是决策变量</a:t>
            </a:r>
            <a:r>
              <a:rPr lang="en-US" altLang="zh-CN" sz="2400" i="1" kern="1200" dirty="0" err="1" smtClean="0">
                <a:solidFill>
                  <a:schemeClr val="bg1"/>
                </a:solidFill>
                <a:latin typeface="Times New Roman" panose="02020603050405020304" pitchFamily="18" charset="0"/>
              </a:rPr>
              <a:t>x</a:t>
            </a:r>
            <a:r>
              <a:rPr lang="en-US" altLang="zh-CN" sz="2400" i="1" kern="1200" baseline="-25000" dirty="0" err="1" smtClean="0">
                <a:solidFill>
                  <a:schemeClr val="bg1"/>
                </a:solidFill>
                <a:latin typeface="Times New Roman" panose="02020603050405020304" pitchFamily="18" charset="0"/>
              </a:rPr>
              <a:t>j</a:t>
            </a:r>
            <a:r>
              <a:rPr lang="zh-CN" altLang="en-US" sz="2400" kern="1200" dirty="0" smtClean="0">
                <a:solidFill>
                  <a:schemeClr val="bg1"/>
                </a:solidFill>
                <a:latin typeface="Times New Roman" panose="02020603050405020304" pitchFamily="18" charset="0"/>
              </a:rPr>
              <a:t>的线性函数。</a:t>
            </a:r>
            <a:endParaRPr lang="en-US" altLang="zh-CN" sz="2400" kern="1200" dirty="0" smtClean="0">
              <a:solidFill>
                <a:schemeClr val="bg1"/>
              </a:solidFill>
              <a:latin typeface="Times New Roman" panose="02020603050405020304" pitchFamily="18" charset="0"/>
            </a:endParaRPr>
          </a:p>
          <a:p>
            <a:pPr marL="800100" lvl="1" indent="-342900" algn="l">
              <a:lnSpc>
                <a:spcPct val="110000"/>
              </a:lnSpc>
              <a:buFont typeface="Arial" panose="020B0604020202020204" pitchFamily="34" charset="0"/>
              <a:buChar char="•"/>
            </a:pPr>
            <a:r>
              <a:rPr lang="en-US" altLang="zh-CN" sz="2400" dirty="0" smtClean="0">
                <a:solidFill>
                  <a:schemeClr val="bg1"/>
                </a:solidFill>
                <a:latin typeface="Times New Roman" panose="02020603050405020304" pitchFamily="18" charset="0"/>
              </a:rPr>
              <a:t>min</a:t>
            </a:r>
            <a:r>
              <a:rPr lang="en-US" altLang="zh-CN" sz="2400" i="1" dirty="0" smtClean="0">
                <a:solidFill>
                  <a:schemeClr val="bg1"/>
                </a:solidFill>
                <a:latin typeface="Times New Roman" panose="02020603050405020304" pitchFamily="18" charset="0"/>
              </a:rPr>
              <a:t> z</a:t>
            </a:r>
            <a:r>
              <a:rPr lang="zh-CN" altLang="en-US" sz="2400" dirty="0" smtClean="0">
                <a:solidFill>
                  <a:schemeClr val="bg1"/>
                </a:solidFill>
                <a:latin typeface="Times New Roman" panose="02020603050405020304" pitchFamily="18" charset="0"/>
              </a:rPr>
              <a:t>和</a:t>
            </a:r>
            <a:r>
              <a:rPr lang="en-US" altLang="zh-CN" sz="2400" dirty="0" smtClean="0">
                <a:solidFill>
                  <a:schemeClr val="bg1"/>
                </a:solidFill>
                <a:latin typeface="Times New Roman" panose="02020603050405020304" pitchFamily="18" charset="0"/>
              </a:rPr>
              <a:t>max </a:t>
            </a:r>
            <a:r>
              <a:rPr lang="en-US" altLang="zh-CN" sz="2400" i="1" dirty="0">
                <a:solidFill>
                  <a:schemeClr val="bg1"/>
                </a:solidFill>
                <a:latin typeface="Times New Roman" panose="02020603050405020304" pitchFamily="18" charset="0"/>
              </a:rPr>
              <a:t>z</a:t>
            </a:r>
            <a:r>
              <a:rPr lang="zh-CN" altLang="en-US" sz="2400" dirty="0" smtClean="0">
                <a:solidFill>
                  <a:schemeClr val="bg1"/>
                </a:solidFill>
                <a:latin typeface="Times New Roman" panose="02020603050405020304" pitchFamily="18" charset="0"/>
              </a:rPr>
              <a:t>分别表示目标函数最小和目标函数最大。</a:t>
            </a:r>
            <a:endParaRPr lang="en-US" altLang="zh-CN" sz="2400" dirty="0" smtClean="0">
              <a:solidFill>
                <a:schemeClr val="bg1"/>
              </a:solidFill>
              <a:latin typeface="Times New Roman" panose="02020603050405020304" pitchFamily="18" charset="0"/>
            </a:endParaRPr>
          </a:p>
          <a:p>
            <a:pPr marL="800100" lvl="1" indent="-342900" algn="l">
              <a:lnSpc>
                <a:spcPct val="110000"/>
              </a:lnSpc>
              <a:buFont typeface="Arial" panose="020B0604020202020204" pitchFamily="34" charset="0"/>
              <a:buChar char="•"/>
            </a:pPr>
            <a:r>
              <a:rPr lang="zh-CN" altLang="en-US" sz="2400" kern="1200" dirty="0" smtClean="0">
                <a:solidFill>
                  <a:schemeClr val="bg1"/>
                </a:solidFill>
                <a:latin typeface="Times New Roman" panose="02020603050405020304" pitchFamily="18" charset="0"/>
              </a:rPr>
              <a:t>最大化和最小化可以互相转换的：</a:t>
            </a:r>
            <a:r>
              <a:rPr lang="en-US" altLang="zh-CN" sz="2400" kern="1200" dirty="0" smtClean="0">
                <a:solidFill>
                  <a:schemeClr val="bg1"/>
                </a:solidFill>
                <a:latin typeface="Times New Roman" panose="02020603050405020304" pitchFamily="18" charset="0"/>
              </a:rPr>
              <a:t>max </a:t>
            </a:r>
            <a:r>
              <a:rPr lang="en-US" altLang="zh-CN" sz="2400" i="1" dirty="0">
                <a:solidFill>
                  <a:schemeClr val="bg1"/>
                </a:solidFill>
                <a:latin typeface="Times New Roman" panose="02020603050405020304" pitchFamily="18" charset="0"/>
              </a:rPr>
              <a:t>z</a:t>
            </a:r>
            <a:r>
              <a:rPr lang="en-US" altLang="zh-CN" sz="2400" kern="1200" dirty="0" smtClean="0">
                <a:solidFill>
                  <a:schemeClr val="bg1"/>
                </a:solidFill>
                <a:latin typeface="Times New Roman" panose="02020603050405020304" pitchFamily="18" charset="0"/>
              </a:rPr>
              <a:t>=min (-</a:t>
            </a:r>
            <a:r>
              <a:rPr lang="en-US" altLang="zh-CN" sz="2400" i="1" dirty="0">
                <a:solidFill>
                  <a:schemeClr val="bg1"/>
                </a:solidFill>
                <a:latin typeface="Times New Roman" panose="02020603050405020304" pitchFamily="18" charset="0"/>
              </a:rPr>
              <a:t>z</a:t>
            </a:r>
            <a:r>
              <a:rPr lang="en-US" altLang="zh-CN" sz="2400" kern="1200" dirty="0" smtClean="0">
                <a:solidFill>
                  <a:schemeClr val="bg1"/>
                </a:solidFill>
                <a:latin typeface="Times New Roman" panose="02020603050405020304" pitchFamily="18" charset="0"/>
              </a:rPr>
              <a:t>)</a:t>
            </a:r>
            <a:r>
              <a:rPr lang="zh-CN" altLang="en-US" sz="2400" kern="1200" dirty="0" smtClean="0">
                <a:solidFill>
                  <a:schemeClr val="bg1"/>
                </a:solidFill>
                <a:latin typeface="Times New Roman" panose="02020603050405020304" pitchFamily="18" charset="0"/>
              </a:rPr>
              <a:t>、</a:t>
            </a:r>
            <a:r>
              <a:rPr lang="en-US" altLang="zh-CN" sz="2400" dirty="0" smtClean="0">
                <a:solidFill>
                  <a:schemeClr val="bg1"/>
                </a:solidFill>
                <a:latin typeface="Times New Roman" panose="02020603050405020304" pitchFamily="18" charset="0"/>
              </a:rPr>
              <a:t>min </a:t>
            </a:r>
            <a:r>
              <a:rPr lang="en-US" altLang="zh-CN" sz="2400" i="1" dirty="0">
                <a:solidFill>
                  <a:schemeClr val="bg1"/>
                </a:solidFill>
                <a:latin typeface="Times New Roman" panose="02020603050405020304" pitchFamily="18" charset="0"/>
              </a:rPr>
              <a:t>z</a:t>
            </a:r>
            <a:r>
              <a:rPr lang="en-US" altLang="zh-CN" sz="2400" dirty="0" smtClean="0">
                <a:solidFill>
                  <a:schemeClr val="bg1"/>
                </a:solidFill>
                <a:latin typeface="Times New Roman" panose="02020603050405020304" pitchFamily="18" charset="0"/>
              </a:rPr>
              <a:t>=max (-</a:t>
            </a:r>
            <a:r>
              <a:rPr lang="en-US" altLang="zh-CN" sz="2400" i="1" dirty="0">
                <a:solidFill>
                  <a:schemeClr val="bg1"/>
                </a:solidFill>
                <a:latin typeface="Times New Roman" panose="02020603050405020304" pitchFamily="18" charset="0"/>
              </a:rPr>
              <a:t>z</a:t>
            </a:r>
            <a:r>
              <a:rPr lang="en-US" altLang="zh-CN" sz="2400" dirty="0" smtClean="0">
                <a:solidFill>
                  <a:schemeClr val="bg1"/>
                </a:solidFill>
                <a:latin typeface="Times New Roman" panose="02020603050405020304" pitchFamily="18" charset="0"/>
              </a:rPr>
              <a:t>)</a:t>
            </a:r>
          </a:p>
          <a:p>
            <a:pPr marL="800100" lvl="1" indent="-342900" algn="l">
              <a:lnSpc>
                <a:spcPct val="110000"/>
              </a:lnSpc>
              <a:buFont typeface="Arial" panose="020B0604020202020204" pitchFamily="34" charset="0"/>
              <a:buChar char="•"/>
            </a:pPr>
            <a:r>
              <a:rPr lang="zh-CN" altLang="en-US" sz="2400" dirty="0" smtClean="0">
                <a:solidFill>
                  <a:schemeClr val="bg1"/>
                </a:solidFill>
                <a:latin typeface="Times New Roman" panose="02020603050405020304" pitchFamily="18" charset="0"/>
              </a:rPr>
              <a:t>可行解：满足</a:t>
            </a:r>
            <a:r>
              <a:rPr lang="zh-CN" altLang="en-US" sz="2400" dirty="0" smtClean="0">
                <a:solidFill>
                  <a:schemeClr val="bg1"/>
                </a:solidFill>
                <a:latin typeface="Times New Roman" panose="02020603050405020304" pitchFamily="18" charset="0"/>
                <a:cs typeface="Times New Roman" panose="02020603050405020304" pitchFamily="18" charset="0"/>
              </a:rPr>
              <a:t>约束条件</a:t>
            </a:r>
            <a:r>
              <a:rPr lang="zh-CN" altLang="en-US" sz="2400" dirty="0">
                <a:solidFill>
                  <a:schemeClr val="bg1"/>
                </a:solidFill>
                <a:latin typeface="Times New Roman" panose="02020603050405020304" pitchFamily="18" charset="0"/>
                <a:cs typeface="Times New Roman" panose="02020603050405020304" pitchFamily="18" charset="0"/>
              </a:rPr>
              <a:t>和非负条件</a:t>
            </a:r>
            <a:r>
              <a:rPr lang="zh-CN" altLang="en-US" sz="2400" dirty="0" smtClean="0">
                <a:solidFill>
                  <a:schemeClr val="bg1"/>
                </a:solidFill>
                <a:latin typeface="Times New Roman" panose="02020603050405020304" pitchFamily="18" charset="0"/>
                <a:cs typeface="Times New Roman" panose="02020603050405020304" pitchFamily="18" charset="0"/>
              </a:rPr>
              <a:t>的一组决策变量</a:t>
            </a:r>
            <a:endParaRPr lang="en-US" altLang="zh-CN" sz="2400" dirty="0" smtClean="0">
              <a:solidFill>
                <a:schemeClr val="bg1"/>
              </a:solidFill>
              <a:latin typeface="Times New Roman" panose="02020603050405020304" pitchFamily="18" charset="0"/>
              <a:cs typeface="Times New Roman" panose="02020603050405020304" pitchFamily="18" charset="0"/>
            </a:endParaRPr>
          </a:p>
          <a:p>
            <a:pPr marL="800100" lvl="1" indent="-342900" algn="l">
              <a:lnSpc>
                <a:spcPct val="110000"/>
              </a:lnSpc>
              <a:buFont typeface="Arial" panose="020B0604020202020204" pitchFamily="34" charset="0"/>
              <a:buChar char="•"/>
            </a:pPr>
            <a:r>
              <a:rPr lang="zh-CN" altLang="en-US" sz="2400" dirty="0" smtClean="0">
                <a:solidFill>
                  <a:schemeClr val="bg1"/>
                </a:solidFill>
                <a:latin typeface="Times New Roman" panose="02020603050405020304" pitchFamily="18" charset="0"/>
                <a:cs typeface="Times New Roman" panose="02020603050405020304" pitchFamily="18" charset="0"/>
              </a:rPr>
              <a:t>可行域：所有可行解组成的集合</a:t>
            </a:r>
            <a:endParaRPr lang="en-US" altLang="zh-CN" sz="2400" dirty="0" smtClean="0">
              <a:solidFill>
                <a:schemeClr val="bg1"/>
              </a:solidFill>
              <a:latin typeface="Times New Roman" panose="02020603050405020304" pitchFamily="18" charset="0"/>
              <a:cs typeface="Times New Roman" panose="02020603050405020304" pitchFamily="18" charset="0"/>
            </a:endParaRPr>
          </a:p>
          <a:p>
            <a:pPr marL="800100" lvl="1" indent="-342900" algn="l">
              <a:lnSpc>
                <a:spcPct val="110000"/>
              </a:lnSpc>
              <a:buFont typeface="Arial" panose="020B0604020202020204" pitchFamily="34" charset="0"/>
              <a:buChar char="•"/>
            </a:pPr>
            <a:r>
              <a:rPr lang="zh-CN" altLang="en-US" sz="2400" dirty="0" smtClean="0">
                <a:solidFill>
                  <a:schemeClr val="bg1"/>
                </a:solidFill>
                <a:latin typeface="Times New Roman" panose="02020603050405020304" pitchFamily="18" charset="0"/>
                <a:cs typeface="Times New Roman" panose="02020603050405020304" pitchFamily="18" charset="0"/>
              </a:rPr>
              <a:t>最优解：使目标函数</a:t>
            </a:r>
            <a:r>
              <a:rPr lang="zh-CN" altLang="en-US" sz="2400" dirty="0">
                <a:solidFill>
                  <a:schemeClr val="bg1"/>
                </a:solidFill>
                <a:latin typeface="Times New Roman" panose="02020603050405020304" pitchFamily="18" charset="0"/>
                <a:cs typeface="Times New Roman" panose="02020603050405020304" pitchFamily="18" charset="0"/>
              </a:rPr>
              <a:t>值最小</a:t>
            </a:r>
            <a:r>
              <a:rPr lang="en-US" altLang="zh-CN" sz="2400" dirty="0">
                <a:solidFill>
                  <a:schemeClr val="bg1"/>
                </a:solidFill>
                <a:latin typeface="Times New Roman" panose="02020603050405020304" pitchFamily="18" charset="0"/>
                <a:cs typeface="Times New Roman" panose="02020603050405020304" pitchFamily="18" charset="0"/>
              </a:rPr>
              <a:t>(</a:t>
            </a:r>
            <a:r>
              <a:rPr lang="zh-CN" altLang="en-US" sz="2400" dirty="0">
                <a:solidFill>
                  <a:schemeClr val="bg1"/>
                </a:solidFill>
                <a:latin typeface="Times New Roman" panose="02020603050405020304" pitchFamily="18" charset="0"/>
                <a:cs typeface="Times New Roman" panose="02020603050405020304" pitchFamily="18" charset="0"/>
              </a:rPr>
              <a:t>最大</a:t>
            </a:r>
            <a:r>
              <a:rPr lang="en-US" altLang="zh-CN" sz="2400" dirty="0">
                <a:solidFill>
                  <a:schemeClr val="bg1"/>
                </a:solidFill>
                <a:latin typeface="Times New Roman" panose="02020603050405020304" pitchFamily="18" charset="0"/>
                <a:cs typeface="Times New Roman" panose="02020603050405020304" pitchFamily="18" charset="0"/>
              </a:rPr>
              <a:t>)</a:t>
            </a:r>
            <a:r>
              <a:rPr lang="zh-CN" altLang="en-US" sz="2400" dirty="0">
                <a:solidFill>
                  <a:schemeClr val="bg1"/>
                </a:solidFill>
                <a:latin typeface="Times New Roman" panose="02020603050405020304" pitchFamily="18" charset="0"/>
                <a:cs typeface="Times New Roman" panose="02020603050405020304" pitchFamily="18" charset="0"/>
              </a:rPr>
              <a:t>的</a:t>
            </a:r>
            <a:r>
              <a:rPr lang="zh-CN" altLang="en-US" sz="2400" dirty="0" smtClean="0">
                <a:solidFill>
                  <a:schemeClr val="bg1"/>
                </a:solidFill>
                <a:latin typeface="Times New Roman" panose="02020603050405020304" pitchFamily="18" charset="0"/>
                <a:cs typeface="Times New Roman" panose="02020603050405020304" pitchFamily="18" charset="0"/>
              </a:rPr>
              <a:t>可行解</a:t>
            </a:r>
            <a:endParaRPr lang="en-US" altLang="zh-CN" sz="2400" dirty="0" smtClean="0">
              <a:solidFill>
                <a:schemeClr val="bg1"/>
              </a:solidFill>
              <a:latin typeface="Times New Roman" panose="02020603050405020304" pitchFamily="18" charset="0"/>
              <a:cs typeface="Times New Roman" panose="02020603050405020304" pitchFamily="18" charset="0"/>
            </a:endParaRPr>
          </a:p>
          <a:p>
            <a:pPr marL="800100" lvl="1" indent="-342900" algn="l">
              <a:lnSpc>
                <a:spcPct val="110000"/>
              </a:lnSpc>
              <a:buFont typeface="Arial" panose="020B0604020202020204" pitchFamily="34" charset="0"/>
              <a:buChar char="•"/>
            </a:pPr>
            <a:r>
              <a:rPr lang="zh-CN" altLang="en-US" sz="2400" dirty="0" smtClean="0">
                <a:solidFill>
                  <a:schemeClr val="bg1"/>
                </a:solidFill>
                <a:latin typeface="Times New Roman" panose="02020603050405020304" pitchFamily="18" charset="0"/>
                <a:cs typeface="Times New Roman" panose="02020603050405020304" pitchFamily="18" charset="0"/>
              </a:rPr>
              <a:t>最优值：最优解的对应目标函数</a:t>
            </a:r>
            <a:r>
              <a:rPr lang="zh-CN" altLang="en-US" sz="2400" dirty="0">
                <a:solidFill>
                  <a:schemeClr val="bg1"/>
                </a:solidFill>
                <a:latin typeface="Times New Roman" panose="02020603050405020304" pitchFamily="18" charset="0"/>
                <a:cs typeface="Times New Roman" panose="02020603050405020304" pitchFamily="18" charset="0"/>
              </a:rPr>
              <a:t>值</a:t>
            </a:r>
            <a:endParaRPr lang="zh-CN" altLang="en-US" sz="2400" dirty="0">
              <a:solidFill>
                <a:schemeClr val="bg1"/>
              </a:solidFill>
              <a:latin typeface="Times New Roman" panose="02020603050405020304" pitchFamily="18" charset="0"/>
              <a:ea typeface="Times New Roman" panose="02020603050405020304" pitchFamily="18" charset="0"/>
            </a:endParaRPr>
          </a:p>
          <a:p>
            <a:pPr marL="914400" lvl="1" indent="-457200" algn="l">
              <a:lnSpc>
                <a:spcPct val="110000"/>
              </a:lnSpc>
              <a:buFont typeface="Arial" panose="020B0604020202020204" pitchFamily="34" charset="0"/>
              <a:buChar char="•"/>
            </a:pPr>
            <a:endParaRPr lang="en-US" altLang="zh-CN" sz="2400" kern="1200" dirty="0">
              <a:solidFill>
                <a:schemeClr val="bg1"/>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wipe(left)">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wipe(left)">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wipe(left)">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wipe(left)">
                                      <p:cBhvr>
                                        <p:cTn id="27" dur="500"/>
                                        <p:tgtEl>
                                          <p:spTgt spid="9">
                                            <p:txEl>
                                              <p:pRg st="4" end="4"/>
                                            </p:txEl>
                                          </p:spTgt>
                                        </p:tgtEl>
                                      </p:cBhvr>
                                    </p:animEffect>
                                  </p:childTnLst>
                                </p:cTn>
                              </p:par>
                              <p:par>
                                <p:cTn id="28" presetID="22" presetClass="entr" presetSubtype="8" fill="hold" nodeType="withEffect">
                                  <p:stCondLst>
                                    <p:cond delay="0"/>
                                  </p:stCondLst>
                                  <p:childTnLst>
                                    <p:set>
                                      <p:cBhvr>
                                        <p:cTn id="29" dur="1" fill="hold">
                                          <p:stCondLst>
                                            <p:cond delay="0"/>
                                          </p:stCondLst>
                                        </p:cTn>
                                        <p:tgtEl>
                                          <p:spTgt spid="9">
                                            <p:txEl>
                                              <p:pRg st="5" end="5"/>
                                            </p:txEl>
                                          </p:spTgt>
                                        </p:tgtEl>
                                        <p:attrNameLst>
                                          <p:attrName>style.visibility</p:attrName>
                                        </p:attrNameLst>
                                      </p:cBhvr>
                                      <p:to>
                                        <p:strVal val="visible"/>
                                      </p:to>
                                    </p:set>
                                    <p:animEffect transition="in" filter="wipe(left)">
                                      <p:cBhvr>
                                        <p:cTn id="30" dur="500"/>
                                        <p:tgtEl>
                                          <p:spTgt spid="9">
                                            <p:txEl>
                                              <p:pRg st="5" end="5"/>
                                            </p:txEl>
                                          </p:spTgt>
                                        </p:tgtEl>
                                      </p:cBhvr>
                                    </p:animEffect>
                                  </p:childTnLst>
                                </p:cTn>
                              </p:par>
                              <p:par>
                                <p:cTn id="31" presetID="22" presetClass="entr" presetSubtype="8" fill="hold" nodeType="withEffect">
                                  <p:stCondLst>
                                    <p:cond delay="0"/>
                                  </p:stCondLst>
                                  <p:childTnLst>
                                    <p:set>
                                      <p:cBhvr>
                                        <p:cTn id="32" dur="1" fill="hold">
                                          <p:stCondLst>
                                            <p:cond delay="0"/>
                                          </p:stCondLst>
                                        </p:cTn>
                                        <p:tgtEl>
                                          <p:spTgt spid="9">
                                            <p:txEl>
                                              <p:pRg st="6" end="6"/>
                                            </p:txEl>
                                          </p:spTgt>
                                        </p:tgtEl>
                                        <p:attrNameLst>
                                          <p:attrName>style.visibility</p:attrName>
                                        </p:attrNameLst>
                                      </p:cBhvr>
                                      <p:to>
                                        <p:strVal val="visible"/>
                                      </p:to>
                                    </p:set>
                                    <p:animEffect transition="in" filter="wipe(left)">
                                      <p:cBhvr>
                                        <p:cTn id="33" dur="500"/>
                                        <p:tgtEl>
                                          <p:spTgt spid="9">
                                            <p:txEl>
                                              <p:pRg st="6" end="6"/>
                                            </p:txEl>
                                          </p:spTgt>
                                        </p:tgtEl>
                                      </p:cBhvr>
                                    </p:animEffect>
                                  </p:childTnLst>
                                </p:cTn>
                              </p:par>
                              <p:par>
                                <p:cTn id="34" presetID="22" presetClass="entr" presetSubtype="8" fill="hold" nodeType="withEffect">
                                  <p:stCondLst>
                                    <p:cond delay="0"/>
                                  </p:stCondLst>
                                  <p:childTnLst>
                                    <p:set>
                                      <p:cBhvr>
                                        <p:cTn id="35" dur="1" fill="hold">
                                          <p:stCondLst>
                                            <p:cond delay="0"/>
                                          </p:stCondLst>
                                        </p:cTn>
                                        <p:tgtEl>
                                          <p:spTgt spid="9">
                                            <p:txEl>
                                              <p:pRg st="7" end="7"/>
                                            </p:txEl>
                                          </p:spTgt>
                                        </p:tgtEl>
                                        <p:attrNameLst>
                                          <p:attrName>style.visibility</p:attrName>
                                        </p:attrNameLst>
                                      </p:cBhvr>
                                      <p:to>
                                        <p:strVal val="visible"/>
                                      </p:to>
                                    </p:set>
                                    <p:animEffect transition="in" filter="wipe(left)">
                                      <p:cBhvr>
                                        <p:cTn id="36"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685800" y="1556792"/>
            <a:ext cx="4822304" cy="576064"/>
          </a:xfrm>
        </p:spPr>
        <p:txBody>
          <a:bodyPr vert="horz" wrap="square" lIns="91440" tIns="45720" rIns="91440" bIns="45720" anchor="ctr"/>
          <a:lstStyle/>
          <a:p>
            <a:pPr marL="342900" indent="-342900" eaLnBrk="1" hangingPunct="1">
              <a:buFont typeface="Wingdings" panose="05000000000000000000" pitchFamily="2" charset="2"/>
              <a:buChar char="p"/>
            </a:pPr>
            <a:r>
              <a:rPr lang="zh-CN" altLang="en-US" sz="2400" dirty="0" smtClean="0">
                <a:solidFill>
                  <a:schemeClr val="bg2"/>
                </a:solidFill>
              </a:rPr>
              <a:t>二维线性规划的图解法</a:t>
            </a:r>
            <a:endParaRPr lang="zh-CN" altLang="en-US" sz="2400" dirty="0">
              <a:solidFill>
                <a:schemeClr val="bg2"/>
              </a:solidFill>
            </a:endParaRPr>
          </a:p>
        </p:txBody>
      </p:sp>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6.1 </a:t>
            </a:r>
            <a:r>
              <a:rPr kumimoji="0" lang="zh-CN" altLang="en-US" kern="1200" dirty="0" smtClean="0">
                <a:solidFill>
                  <a:schemeClr val="accent2"/>
                </a:solidFill>
                <a:sym typeface="+mn-ea"/>
              </a:rPr>
              <a:t>线性规划模型</a:t>
            </a:r>
            <a:endParaRPr kumimoji="0" lang="en-US" altLang="zh-CN" kern="1200" dirty="0" smtClean="0">
              <a:solidFill>
                <a:schemeClr val="accent2"/>
              </a:solidFill>
              <a:sym typeface="+mn-ea"/>
            </a:endParaRPr>
          </a:p>
        </p:txBody>
      </p:sp>
      <p:sp>
        <p:nvSpPr>
          <p:cNvPr id="5" name="副标题 2"/>
          <p:cNvSpPr>
            <a:spLocks noGrp="1"/>
          </p:cNvSpPr>
          <p:nvPr/>
        </p:nvSpPr>
        <p:spPr>
          <a:xfrm>
            <a:off x="539552" y="2060848"/>
            <a:ext cx="8280920" cy="4104456"/>
          </a:xfrm>
          <a:prstGeom prst="rect">
            <a:avLst/>
          </a:prstGeom>
          <a:solidFill>
            <a:schemeClr val="tx1"/>
          </a:solidFill>
          <a:ln w="9525">
            <a:noFill/>
          </a:ln>
        </p:spPr>
        <p:txBody>
          <a:bodyPr vert="horz" wrap="square" lIns="91440" tIns="45720" rIns="91440" bIns="45720" anchor="t"/>
          <a:lstStyle>
            <a:lvl1pPr marL="0" indent="0" algn="ctr" rtl="0" eaLnBrk="0" fontAlgn="base" hangingPunct="0">
              <a:spcBef>
                <a:spcPct val="20000"/>
              </a:spcBef>
              <a:spcAft>
                <a:spcPct val="0"/>
              </a:spcAft>
              <a:buFont typeface="Arial" panose="020B0604020202020204" pitchFamily="34"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716280" lvl="1" indent="-259080" algn="l">
              <a:lnSpc>
                <a:spcPct val="110000"/>
              </a:lnSpc>
              <a:buFont typeface="Arial" panose="020B0604020202020204" pitchFamily="34" charset="0"/>
              <a:buChar char="•"/>
            </a:pPr>
            <a:r>
              <a:rPr lang="zh-CN" altLang="en-US" sz="2400" kern="1200" dirty="0" smtClean="0">
                <a:solidFill>
                  <a:schemeClr val="bg1"/>
                </a:solidFill>
                <a:latin typeface="Times New Roman" panose="02020603050405020304" pitchFamily="18" charset="0"/>
              </a:rPr>
              <a:t>二维线性规划：仅涉及</a:t>
            </a:r>
            <a:r>
              <a:rPr lang="zh-CN" altLang="en-US" sz="2400" b="1" kern="1200" dirty="0" smtClean="0">
                <a:solidFill>
                  <a:srgbClr val="FF0000"/>
                </a:solidFill>
                <a:latin typeface="Times New Roman" panose="02020603050405020304" pitchFamily="18" charset="0"/>
              </a:rPr>
              <a:t>两个决策变量</a:t>
            </a:r>
            <a:r>
              <a:rPr lang="zh-CN" altLang="en-US" sz="2400" kern="1200" dirty="0" smtClean="0">
                <a:solidFill>
                  <a:schemeClr val="bg1"/>
                </a:solidFill>
                <a:latin typeface="Times New Roman" panose="02020603050405020304" pitchFamily="18" charset="0"/>
              </a:rPr>
              <a:t>的线性规划问题。</a:t>
            </a:r>
            <a:endParaRPr lang="en-US" altLang="zh-CN" sz="2400" kern="1200" dirty="0" smtClean="0">
              <a:solidFill>
                <a:schemeClr val="bg1"/>
              </a:solidFill>
              <a:latin typeface="Times New Roman" panose="02020603050405020304" pitchFamily="18" charset="0"/>
            </a:endParaRPr>
          </a:p>
          <a:p>
            <a:pPr marL="716280" lvl="1" indent="-259080" algn="l">
              <a:lnSpc>
                <a:spcPct val="110000"/>
              </a:lnSpc>
              <a:buFont typeface="Arial" panose="020B0604020202020204" pitchFamily="34" charset="0"/>
              <a:buChar char="•"/>
            </a:pPr>
            <a:r>
              <a:rPr lang="zh-CN" altLang="en-US" sz="2400" dirty="0" smtClean="0">
                <a:solidFill>
                  <a:schemeClr val="bg1"/>
                </a:solidFill>
                <a:latin typeface="Times New Roman" panose="02020603050405020304" pitchFamily="18" charset="0"/>
              </a:rPr>
              <a:t>图解法：</a:t>
            </a:r>
            <a:r>
              <a:rPr lang="zh-CN" altLang="en-US" sz="2400" kern="0" dirty="0" smtClean="0">
                <a:solidFill>
                  <a:schemeClr val="bg1"/>
                </a:solidFill>
                <a:latin typeface="隶书" panose="02010509060101010101" pitchFamily="49" charset="-122"/>
              </a:rPr>
              <a:t>可以通过在</a:t>
            </a:r>
            <a:r>
              <a:rPr lang="zh-CN" altLang="en-US" sz="2400" kern="0" dirty="0">
                <a:solidFill>
                  <a:schemeClr val="bg1"/>
                </a:solidFill>
                <a:latin typeface="隶书" panose="02010509060101010101" pitchFamily="49" charset="-122"/>
              </a:rPr>
              <a:t>平面上作图的方法求解，这种方法称为图解法</a:t>
            </a:r>
            <a:r>
              <a:rPr lang="zh-CN" altLang="en-US" sz="2400" kern="0" dirty="0" smtClean="0">
                <a:solidFill>
                  <a:schemeClr val="bg1"/>
                </a:solidFill>
                <a:latin typeface="隶书" panose="02010509060101010101" pitchFamily="49" charset="-122"/>
              </a:rPr>
              <a:t>。</a:t>
            </a:r>
            <a:endParaRPr lang="en-US" altLang="zh-CN" sz="2400" kern="0" dirty="0" smtClean="0">
              <a:solidFill>
                <a:schemeClr val="bg1"/>
              </a:solidFill>
              <a:latin typeface="隶书" panose="02010509060101010101" pitchFamily="49" charset="-122"/>
            </a:endParaRPr>
          </a:p>
          <a:p>
            <a:pPr marL="716280" lvl="1" indent="-259080" algn="l">
              <a:lnSpc>
                <a:spcPct val="110000"/>
              </a:lnSpc>
              <a:buFont typeface="Arial" panose="020B0604020202020204" pitchFamily="34" charset="0"/>
              <a:buChar char="•"/>
            </a:pPr>
            <a:r>
              <a:rPr lang="zh-CN" altLang="en-US" sz="2400" dirty="0">
                <a:solidFill>
                  <a:schemeClr val="bg1"/>
                </a:solidFill>
              </a:rPr>
              <a:t>线性规划问题图解法的</a:t>
            </a:r>
            <a:r>
              <a:rPr lang="zh-CN" altLang="en-US" sz="2400" dirty="0" smtClean="0">
                <a:solidFill>
                  <a:schemeClr val="bg1"/>
                </a:solidFill>
              </a:rPr>
              <a:t>步骤：</a:t>
            </a:r>
            <a:endParaRPr lang="en-US" altLang="zh-CN" sz="2400" dirty="0" smtClean="0">
              <a:solidFill>
                <a:schemeClr val="bg1"/>
              </a:solidFill>
            </a:endParaRPr>
          </a:p>
          <a:p>
            <a:pPr marL="1257300" lvl="2" indent="-342900" algn="l">
              <a:lnSpc>
                <a:spcPct val="110000"/>
              </a:lnSpc>
              <a:buFont typeface="Times New Roman" panose="02020603050405020304" pitchFamily="18" charset="0"/>
              <a:buChar char="−"/>
            </a:pPr>
            <a:r>
              <a:rPr lang="en-US" altLang="zh-CN" kern="1200" dirty="0" smtClean="0">
                <a:solidFill>
                  <a:schemeClr val="bg1"/>
                </a:solidFill>
                <a:latin typeface="Times New Roman" panose="02020603050405020304" pitchFamily="18" charset="0"/>
              </a:rPr>
              <a:t>Step1</a:t>
            </a:r>
            <a:r>
              <a:rPr lang="zh-CN" altLang="en-US" dirty="0" smtClean="0">
                <a:solidFill>
                  <a:schemeClr val="bg1"/>
                </a:solidFill>
                <a:latin typeface="Times New Roman" panose="02020603050405020304" pitchFamily="18" charset="0"/>
              </a:rPr>
              <a:t>：</a:t>
            </a:r>
            <a:r>
              <a:rPr lang="zh-CN" altLang="en-US" sz="2400" dirty="0" smtClean="0">
                <a:solidFill>
                  <a:schemeClr val="bg1"/>
                </a:solidFill>
                <a:latin typeface="Times New Roman" panose="02020603050405020304" pitchFamily="18" charset="0"/>
              </a:rPr>
              <a:t>画</a:t>
            </a:r>
            <a:r>
              <a:rPr lang="zh-CN" altLang="en-US" sz="2400" dirty="0">
                <a:solidFill>
                  <a:schemeClr val="bg1"/>
                </a:solidFill>
                <a:latin typeface="Times New Roman" panose="02020603050405020304" pitchFamily="18" charset="0"/>
              </a:rPr>
              <a:t>直角坐标</a:t>
            </a:r>
            <a:r>
              <a:rPr lang="zh-CN" altLang="en-US" sz="2400" dirty="0" smtClean="0">
                <a:solidFill>
                  <a:schemeClr val="bg1"/>
                </a:solidFill>
                <a:latin typeface="Times New Roman" panose="02020603050405020304" pitchFamily="18" charset="0"/>
              </a:rPr>
              <a:t>系</a:t>
            </a:r>
            <a:endParaRPr lang="en-US" altLang="zh-CN" sz="2400" dirty="0" smtClean="0">
              <a:solidFill>
                <a:schemeClr val="bg1"/>
              </a:solidFill>
              <a:latin typeface="Times New Roman" panose="02020603050405020304" pitchFamily="18" charset="0"/>
            </a:endParaRPr>
          </a:p>
          <a:p>
            <a:pPr marL="1257300" lvl="2" indent="-342900" algn="l">
              <a:lnSpc>
                <a:spcPct val="110000"/>
              </a:lnSpc>
              <a:buFont typeface="Times New Roman" panose="02020603050405020304" pitchFamily="18" charset="0"/>
              <a:buChar char="−"/>
            </a:pPr>
            <a:r>
              <a:rPr lang="en-US" altLang="zh-CN" kern="1200" dirty="0" smtClean="0">
                <a:solidFill>
                  <a:schemeClr val="bg1"/>
                </a:solidFill>
                <a:latin typeface="Times New Roman" panose="02020603050405020304" pitchFamily="18" charset="0"/>
              </a:rPr>
              <a:t>Step2</a:t>
            </a:r>
            <a:r>
              <a:rPr lang="zh-CN" altLang="en-US" kern="1200" dirty="0" smtClean="0">
                <a:solidFill>
                  <a:schemeClr val="bg1"/>
                </a:solidFill>
                <a:latin typeface="Times New Roman" panose="02020603050405020304" pitchFamily="18" charset="0"/>
              </a:rPr>
              <a:t>：</a:t>
            </a:r>
            <a:r>
              <a:rPr lang="en-US" altLang="en-US" sz="2400" dirty="0" smtClean="0">
                <a:solidFill>
                  <a:schemeClr val="bg1"/>
                </a:solidFill>
                <a:latin typeface="宋体" panose="02010600030101010101" pitchFamily="2" charset="-122"/>
              </a:rPr>
              <a:t>依次做每条约束线</a:t>
            </a:r>
            <a:r>
              <a:rPr lang="en-US" altLang="en-US" sz="2400" dirty="0">
                <a:solidFill>
                  <a:schemeClr val="bg1"/>
                </a:solidFill>
                <a:latin typeface="宋体" panose="02010600030101010101" pitchFamily="2" charset="-122"/>
              </a:rPr>
              <a:t>，找出可行域;</a:t>
            </a:r>
            <a:r>
              <a:rPr lang="zh-CN" altLang="en-US" sz="2400" dirty="0">
                <a:solidFill>
                  <a:schemeClr val="bg1"/>
                </a:solidFill>
                <a:latin typeface="宋体" panose="02010600030101010101" pitchFamily="2" charset="-122"/>
              </a:rPr>
              <a:t>若不存在可行域</a:t>
            </a:r>
            <a:r>
              <a:rPr lang="en-US" altLang="zh-CN" sz="2400" dirty="0">
                <a:solidFill>
                  <a:schemeClr val="bg1"/>
                </a:solidFill>
                <a:latin typeface="宋体" panose="02010600030101010101" pitchFamily="2" charset="-122"/>
              </a:rPr>
              <a:t>,</a:t>
            </a:r>
            <a:r>
              <a:rPr lang="zh-CN" altLang="en-US" sz="2400" dirty="0">
                <a:solidFill>
                  <a:schemeClr val="bg1"/>
                </a:solidFill>
                <a:latin typeface="宋体" panose="02010600030101010101" pitchFamily="2" charset="-122"/>
              </a:rPr>
              <a:t>则该问题无解</a:t>
            </a:r>
            <a:r>
              <a:rPr lang="zh-CN" altLang="en-US" sz="2400" dirty="0" smtClean="0">
                <a:solidFill>
                  <a:schemeClr val="bg1"/>
                </a:solidFill>
                <a:latin typeface="宋体" panose="02010600030101010101" pitchFamily="2" charset="-122"/>
              </a:rPr>
              <a:t>；</a:t>
            </a:r>
            <a:endParaRPr lang="en-US" altLang="zh-CN" sz="2400" dirty="0" smtClean="0">
              <a:solidFill>
                <a:schemeClr val="bg1"/>
              </a:solidFill>
              <a:latin typeface="宋体" panose="02010600030101010101" pitchFamily="2" charset="-122"/>
            </a:endParaRPr>
          </a:p>
          <a:p>
            <a:pPr marL="1257300" lvl="2" indent="-342900" algn="l">
              <a:lnSpc>
                <a:spcPct val="110000"/>
              </a:lnSpc>
              <a:buFont typeface="Times New Roman" panose="02020603050405020304" pitchFamily="18" charset="0"/>
              <a:buChar char="−"/>
            </a:pPr>
            <a:r>
              <a:rPr lang="en-US" altLang="zh-CN" dirty="0">
                <a:solidFill>
                  <a:schemeClr val="bg1"/>
                </a:solidFill>
                <a:latin typeface="Times New Roman" panose="02020603050405020304" pitchFamily="18" charset="0"/>
              </a:rPr>
              <a:t>Step3</a:t>
            </a:r>
            <a:r>
              <a:rPr lang="zh-CN" altLang="en-US" dirty="0" smtClean="0">
                <a:solidFill>
                  <a:schemeClr val="bg1"/>
                </a:solidFill>
                <a:latin typeface="Times New Roman" panose="02020603050405020304" pitchFamily="18" charset="0"/>
              </a:rPr>
              <a:t>：</a:t>
            </a:r>
            <a:r>
              <a:rPr lang="en-US" altLang="en-US" sz="2400" dirty="0" smtClean="0">
                <a:solidFill>
                  <a:schemeClr val="bg1"/>
                </a:solidFill>
                <a:latin typeface="宋体" panose="02010600030101010101" pitchFamily="2" charset="-122"/>
              </a:rPr>
              <a:t>做目标函数线</a:t>
            </a:r>
            <a:r>
              <a:rPr lang="en-US" altLang="en-US" sz="2400" dirty="0">
                <a:solidFill>
                  <a:schemeClr val="bg1"/>
                </a:solidFill>
                <a:latin typeface="宋体" panose="02010600030101010101" pitchFamily="2" charset="-122"/>
              </a:rPr>
              <a:t>，</a:t>
            </a:r>
            <a:r>
              <a:rPr lang="en-US" altLang="en-US" sz="2400" dirty="0" smtClean="0">
                <a:solidFill>
                  <a:schemeClr val="bg1"/>
                </a:solidFill>
                <a:latin typeface="宋体" panose="02010600030101010101" pitchFamily="2" charset="-122"/>
              </a:rPr>
              <a:t>根据目标类型(</a:t>
            </a:r>
            <a:r>
              <a:rPr lang="en-US" altLang="en-US" sz="2400" dirty="0" smtClean="0">
                <a:solidFill>
                  <a:schemeClr val="bg1"/>
                </a:solidFill>
                <a:latin typeface="Times New Roman" panose="02020603050405020304" pitchFamily="18" charset="0"/>
                <a:cs typeface="Times New Roman" panose="02020603050405020304" pitchFamily="18" charset="0"/>
              </a:rPr>
              <a:t>max/min</a:t>
            </a:r>
            <a:r>
              <a:rPr lang="en-US" altLang="en-US" sz="2400" dirty="0" smtClean="0">
                <a:solidFill>
                  <a:schemeClr val="bg1"/>
                </a:solidFill>
                <a:latin typeface="宋体" panose="02010600030101010101" pitchFamily="2" charset="-122"/>
              </a:rPr>
              <a:t>)平移</a:t>
            </a:r>
            <a:r>
              <a:rPr lang="en-US" altLang="en-US" sz="2400" dirty="0">
                <a:solidFill>
                  <a:schemeClr val="bg1"/>
                </a:solidFill>
                <a:latin typeface="宋体" panose="02010600030101010101" pitchFamily="2" charset="-122"/>
              </a:rPr>
              <a:t>,</a:t>
            </a:r>
            <a:r>
              <a:rPr lang="en-US" altLang="en-US" sz="2400" dirty="0" smtClean="0">
                <a:solidFill>
                  <a:schemeClr val="bg1"/>
                </a:solidFill>
                <a:latin typeface="宋体" panose="02010600030101010101" pitchFamily="2" charset="-122"/>
              </a:rPr>
              <a:t>直到该线即将离开可行域</a:t>
            </a:r>
            <a:r>
              <a:rPr lang="zh-CN" altLang="en-US" sz="2400" dirty="0" smtClean="0">
                <a:solidFill>
                  <a:schemeClr val="bg1"/>
                </a:solidFill>
                <a:latin typeface="宋体" panose="02010600030101010101" pitchFamily="2" charset="-122"/>
              </a:rPr>
              <a:t>。</a:t>
            </a:r>
            <a:endParaRPr lang="en-US" altLang="zh-CN" sz="2400" dirty="0">
              <a:solidFill>
                <a:schemeClr val="bg1"/>
              </a:solidFill>
              <a:latin typeface="宋体" panose="02010600030101010101" pitchFamily="2" charset="-122"/>
            </a:endParaRPr>
          </a:p>
          <a:p>
            <a:pPr marL="1257300" lvl="2" indent="-342900" algn="l">
              <a:lnSpc>
                <a:spcPct val="110000"/>
              </a:lnSpc>
              <a:buFont typeface="Times New Roman" panose="02020603050405020304" pitchFamily="18" charset="0"/>
              <a:buChar char="−"/>
            </a:pPr>
            <a:endParaRPr lang="en-US" altLang="zh-CN" sz="2400" dirty="0" smtClean="0">
              <a:solidFill>
                <a:schemeClr val="bg1"/>
              </a:solidFill>
              <a:latin typeface="宋体" panose="02010600030101010101" pitchFamily="2" charset="-122"/>
            </a:endParaRPr>
          </a:p>
          <a:p>
            <a:pPr marL="1257300" lvl="2" indent="-342900" algn="l">
              <a:lnSpc>
                <a:spcPct val="110000"/>
              </a:lnSpc>
              <a:buFont typeface="Times New Roman" panose="02020603050405020304" pitchFamily="18" charset="0"/>
              <a:buChar char="−"/>
            </a:pPr>
            <a:endParaRPr lang="en-US" altLang="zh-CN" sz="2400" kern="1200" dirty="0">
              <a:solidFill>
                <a:schemeClr val="bg1"/>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left)">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left)">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6.1 </a:t>
            </a:r>
            <a:r>
              <a:rPr kumimoji="0" lang="zh-CN" altLang="en-US" kern="1200" dirty="0" smtClean="0">
                <a:solidFill>
                  <a:schemeClr val="accent2"/>
                </a:solidFill>
                <a:sym typeface="+mn-ea"/>
              </a:rPr>
              <a:t>线性规划模型</a:t>
            </a:r>
            <a:endParaRPr kumimoji="0" lang="en-US" altLang="zh-CN" kern="1200" dirty="0" smtClean="0">
              <a:solidFill>
                <a:schemeClr val="accent2"/>
              </a:solidFill>
              <a:sym typeface="+mn-ea"/>
            </a:endParaRPr>
          </a:p>
        </p:txBody>
      </p:sp>
      <p:sp>
        <p:nvSpPr>
          <p:cNvPr id="6" name="Rectangle 3"/>
          <p:cNvSpPr>
            <a:spLocks noGrp="1"/>
          </p:cNvSpPr>
          <p:nvPr/>
        </p:nvSpPr>
        <p:spPr>
          <a:xfrm>
            <a:off x="5220335" y="231775"/>
            <a:ext cx="3538855" cy="1397000"/>
          </a:xfrm>
          <a:prstGeom prst="rect">
            <a:avLst/>
          </a:prstGeom>
          <a:solidFill>
            <a:schemeClr val="tx1"/>
          </a:solidFill>
          <a:ln w="9525">
            <a:noFill/>
          </a:ln>
        </p:spPr>
        <p:txBody>
          <a:bodyPr vert="horz" wrap="square" lIns="91440" tIns="45720" rIns="91440" bIns="45720" anchor="t"/>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defTabSz="762000" eaLnBrk="1" hangingPunct="1">
              <a:spcBef>
                <a:spcPct val="5000"/>
              </a:spcBef>
              <a:spcAft>
                <a:spcPct val="5000"/>
              </a:spcAft>
              <a:buNone/>
            </a:pPr>
            <a:r>
              <a:rPr lang="zh-CN"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dirty="0">
                <a:solidFill>
                  <a:schemeClr val="bg1"/>
                </a:solidFill>
                <a:latin typeface="Times New Roman" panose="02020603050405020304" pitchFamily="18" charset="0"/>
                <a:cs typeface="Times New Roman" panose="02020603050405020304" pitchFamily="18" charset="0"/>
              </a:rPr>
              <a:t>max: </a:t>
            </a:r>
            <a:r>
              <a:rPr lang="en-US" altLang="zh-CN" sz="2000" b="1" i="1" dirty="0">
                <a:solidFill>
                  <a:schemeClr val="bg1"/>
                </a:solidFill>
                <a:latin typeface="Times New Roman" panose="02020603050405020304" pitchFamily="18" charset="0"/>
                <a:cs typeface="Times New Roman" panose="02020603050405020304" pitchFamily="18" charset="0"/>
              </a:rPr>
              <a:t>z </a:t>
            </a:r>
            <a:r>
              <a:rPr lang="en-US" altLang="zh-CN" sz="2000" b="1" dirty="0">
                <a:solidFill>
                  <a:schemeClr val="bg1"/>
                </a:solidFill>
                <a:latin typeface="Times New Roman" panose="02020603050405020304" pitchFamily="18" charset="0"/>
                <a:cs typeface="Times New Roman" panose="02020603050405020304" pitchFamily="18" charset="0"/>
              </a:rPr>
              <a:t>= 50</a:t>
            </a:r>
            <a:r>
              <a:rPr lang="en-US" altLang="zh-CN" sz="2000" b="1" i="1" dirty="0">
                <a:solidFill>
                  <a:schemeClr val="bg1"/>
                </a:solidFill>
                <a:latin typeface="Times New Roman" panose="02020603050405020304" pitchFamily="18" charset="0"/>
                <a:cs typeface="Times New Roman" panose="02020603050405020304" pitchFamily="18" charset="0"/>
              </a:rPr>
              <a:t>x</a:t>
            </a:r>
            <a:r>
              <a:rPr lang="en-US" altLang="zh-CN" sz="2000" b="1" baseline="-25000" dirty="0">
                <a:solidFill>
                  <a:schemeClr val="bg1"/>
                </a:solidFill>
                <a:latin typeface="Times New Roman" panose="02020603050405020304" pitchFamily="18" charset="0"/>
                <a:cs typeface="Times New Roman" panose="02020603050405020304" pitchFamily="18" charset="0"/>
              </a:rPr>
              <a:t>1  </a:t>
            </a:r>
            <a:r>
              <a:rPr lang="en-US" altLang="zh-CN" sz="2000" b="1" dirty="0">
                <a:solidFill>
                  <a:schemeClr val="bg1"/>
                </a:solidFill>
                <a:latin typeface="Times New Roman" panose="02020603050405020304" pitchFamily="18" charset="0"/>
                <a:cs typeface="Times New Roman" panose="02020603050405020304" pitchFamily="18" charset="0"/>
              </a:rPr>
              <a:t>+ 30</a:t>
            </a:r>
            <a:r>
              <a:rPr lang="en-US" altLang="zh-CN" sz="2000" b="1" i="1" dirty="0">
                <a:solidFill>
                  <a:schemeClr val="bg1"/>
                </a:solidFill>
                <a:latin typeface="Times New Roman" panose="02020603050405020304" pitchFamily="18" charset="0"/>
                <a:cs typeface="Times New Roman" panose="02020603050405020304" pitchFamily="18" charset="0"/>
              </a:rPr>
              <a:t>x</a:t>
            </a:r>
            <a:r>
              <a:rPr lang="en-US" altLang="zh-CN" sz="2000" b="1" baseline="-25000" dirty="0">
                <a:solidFill>
                  <a:schemeClr val="bg1"/>
                </a:solidFill>
                <a:latin typeface="Times New Roman" panose="02020603050405020304" pitchFamily="18" charset="0"/>
                <a:cs typeface="Times New Roman" panose="02020603050405020304" pitchFamily="18" charset="0"/>
              </a:rPr>
              <a:t>2</a:t>
            </a:r>
          </a:p>
          <a:p>
            <a:pPr defTabSz="762000" eaLnBrk="1" hangingPunct="1">
              <a:spcBef>
                <a:spcPct val="5000"/>
              </a:spcBef>
              <a:spcAft>
                <a:spcPct val="5000"/>
              </a:spcAft>
              <a:buNone/>
            </a:pPr>
            <a:r>
              <a:rPr lang="en-US" altLang="zh-CN" sz="2000" b="1" baseline="-25000" dirty="0" smtClean="0">
                <a:solidFill>
                  <a:schemeClr val="bg1"/>
                </a:solidFill>
                <a:latin typeface="Times New Roman" panose="02020603050405020304" pitchFamily="18" charset="0"/>
                <a:cs typeface="Times New Roman" panose="02020603050405020304" pitchFamily="18" charset="0"/>
              </a:rPr>
              <a:t>    </a:t>
            </a:r>
            <a:r>
              <a:rPr lang="en-US" altLang="zh-CN" sz="2000" b="1" dirty="0" smtClean="0">
                <a:solidFill>
                  <a:schemeClr val="bg1"/>
                </a:solidFill>
                <a:latin typeface="Times New Roman" panose="02020603050405020304" pitchFamily="18" charset="0"/>
                <a:cs typeface="Times New Roman" panose="02020603050405020304" pitchFamily="18" charset="0"/>
              </a:rPr>
              <a:t>   </a:t>
            </a:r>
            <a:r>
              <a:rPr lang="en-US" altLang="zh-CN" sz="2000" b="1" i="1" dirty="0" smtClean="0">
                <a:solidFill>
                  <a:schemeClr val="bg1"/>
                </a:solidFill>
                <a:latin typeface="Times New Roman" panose="02020603050405020304" pitchFamily="18" charset="0"/>
                <a:cs typeface="Times New Roman" panose="02020603050405020304" pitchFamily="18" charset="0"/>
              </a:rPr>
              <a:t>s.t</a:t>
            </a:r>
            <a:r>
              <a:rPr lang="en-US" altLang="zh-CN" sz="2000" b="1" i="1" dirty="0">
                <a:solidFill>
                  <a:schemeClr val="bg1"/>
                </a:solidFill>
                <a:latin typeface="Times New Roman" panose="02020603050405020304" pitchFamily="18" charset="0"/>
                <a:cs typeface="Times New Roman" panose="02020603050405020304" pitchFamily="18" charset="0"/>
              </a:rPr>
              <a:t>.</a:t>
            </a:r>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dirty="0" smtClean="0">
                <a:solidFill>
                  <a:schemeClr val="bg1"/>
                </a:solidFill>
                <a:latin typeface="Times New Roman" panose="02020603050405020304" pitchFamily="18" charset="0"/>
                <a:cs typeface="Times New Roman" panose="02020603050405020304" pitchFamily="18" charset="0"/>
              </a:rPr>
              <a:t>2</a:t>
            </a:r>
            <a:r>
              <a:rPr lang="en-US" altLang="zh-CN" sz="2000" b="1" i="1" dirty="0" smtClean="0">
                <a:solidFill>
                  <a:schemeClr val="bg1"/>
                </a:solidFill>
                <a:latin typeface="Times New Roman" panose="02020603050405020304" pitchFamily="18" charset="0"/>
                <a:cs typeface="Times New Roman" panose="02020603050405020304" pitchFamily="18" charset="0"/>
              </a:rPr>
              <a:t>x</a:t>
            </a:r>
            <a:r>
              <a:rPr lang="en-US" altLang="zh-CN" sz="2000" b="1" baseline="-25000" dirty="0" smtClean="0">
                <a:solidFill>
                  <a:schemeClr val="bg1"/>
                </a:solidFill>
                <a:latin typeface="Times New Roman" panose="02020603050405020304" pitchFamily="18" charset="0"/>
                <a:cs typeface="Times New Roman" panose="02020603050405020304" pitchFamily="18" charset="0"/>
              </a:rPr>
              <a:t>1  </a:t>
            </a:r>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i="1" dirty="0">
                <a:solidFill>
                  <a:schemeClr val="bg1"/>
                </a:solidFill>
                <a:latin typeface="Times New Roman" panose="02020603050405020304" pitchFamily="18" charset="0"/>
                <a:cs typeface="Times New Roman" panose="02020603050405020304" pitchFamily="18" charset="0"/>
              </a:rPr>
              <a:t>x</a:t>
            </a:r>
            <a:r>
              <a:rPr lang="en-US" altLang="zh-CN" sz="2000" b="1" baseline="-25000" dirty="0">
                <a:solidFill>
                  <a:schemeClr val="bg1"/>
                </a:solidFill>
                <a:latin typeface="Times New Roman" panose="02020603050405020304" pitchFamily="18" charset="0"/>
                <a:cs typeface="Times New Roman" panose="02020603050405020304" pitchFamily="18" charset="0"/>
              </a:rPr>
              <a:t>2</a:t>
            </a:r>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solidFill>
                  <a:schemeClr val="bg1"/>
                </a:solidFill>
                <a:latin typeface="Times New Roman" panose="02020603050405020304" pitchFamily="18" charset="0"/>
                <a:cs typeface="Times New Roman" panose="02020603050405020304" pitchFamily="18" charset="0"/>
              </a:rPr>
              <a:t>  50</a:t>
            </a:r>
          </a:p>
          <a:p>
            <a:pPr lvl="1" defTabSz="762000" eaLnBrk="1" hangingPunct="1">
              <a:spcBef>
                <a:spcPct val="5000"/>
              </a:spcBef>
              <a:spcAft>
                <a:spcPct val="5000"/>
              </a:spcAft>
              <a:buNone/>
            </a:pPr>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dirty="0" smtClean="0">
                <a:solidFill>
                  <a:schemeClr val="bg1"/>
                </a:solidFill>
                <a:latin typeface="Times New Roman" panose="02020603050405020304" pitchFamily="18" charset="0"/>
                <a:cs typeface="Times New Roman" panose="02020603050405020304" pitchFamily="18" charset="0"/>
              </a:rPr>
              <a:t>4</a:t>
            </a:r>
            <a:r>
              <a:rPr lang="en-US" altLang="zh-CN" sz="2000" b="1" i="1" dirty="0" smtClean="0">
                <a:solidFill>
                  <a:schemeClr val="bg1"/>
                </a:solidFill>
                <a:latin typeface="Times New Roman" panose="02020603050405020304" pitchFamily="18" charset="0"/>
                <a:cs typeface="Times New Roman" panose="02020603050405020304" pitchFamily="18" charset="0"/>
              </a:rPr>
              <a:t>x</a:t>
            </a:r>
            <a:r>
              <a:rPr lang="en-US" altLang="zh-CN" sz="2000" b="1" baseline="-25000" dirty="0" smtClean="0">
                <a:solidFill>
                  <a:schemeClr val="bg1"/>
                </a:solidFill>
                <a:latin typeface="Times New Roman" panose="02020603050405020304" pitchFamily="18" charset="0"/>
                <a:cs typeface="Times New Roman" panose="02020603050405020304" pitchFamily="18" charset="0"/>
              </a:rPr>
              <a:t>1 </a:t>
            </a:r>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dirty="0" smtClean="0">
                <a:solidFill>
                  <a:schemeClr val="bg1"/>
                </a:solidFill>
                <a:latin typeface="Times New Roman" panose="02020603050405020304" pitchFamily="18" charset="0"/>
                <a:cs typeface="Times New Roman" panose="02020603050405020304" pitchFamily="18" charset="0"/>
              </a:rPr>
              <a:t> 3</a:t>
            </a:r>
            <a:r>
              <a:rPr lang="en-US" altLang="zh-CN" sz="2000" b="1" i="1" dirty="0" smtClean="0">
                <a:solidFill>
                  <a:schemeClr val="bg1"/>
                </a:solidFill>
                <a:latin typeface="Times New Roman" panose="02020603050405020304" pitchFamily="18" charset="0"/>
                <a:cs typeface="Times New Roman" panose="02020603050405020304" pitchFamily="18" charset="0"/>
              </a:rPr>
              <a:t>x</a:t>
            </a:r>
            <a:r>
              <a:rPr lang="en-US" altLang="zh-CN" sz="2000" b="1" baseline="-25000" dirty="0" smtClean="0">
                <a:solidFill>
                  <a:schemeClr val="bg1"/>
                </a:solidFill>
                <a:latin typeface="Times New Roman" panose="02020603050405020304" pitchFamily="18" charset="0"/>
                <a:cs typeface="Times New Roman" panose="02020603050405020304" pitchFamily="18" charset="0"/>
              </a:rPr>
              <a:t>2</a:t>
            </a:r>
            <a:r>
              <a:rPr lang="en-US" altLang="zh-CN" sz="2000" b="1" dirty="0" smtClean="0">
                <a:solidFill>
                  <a:schemeClr val="bg1"/>
                </a:solidFill>
                <a:latin typeface="Times New Roman" panose="02020603050405020304" pitchFamily="18" charset="0"/>
                <a:cs typeface="Times New Roman" panose="02020603050405020304" pitchFamily="18" charset="0"/>
              </a:rPr>
              <a:t> </a:t>
            </a:r>
            <a:r>
              <a:rPr lang="en-US" altLang="zh-CN" sz="2000" b="1"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solidFill>
                  <a:schemeClr val="bg1"/>
                </a:solidFill>
                <a:latin typeface="Times New Roman" panose="02020603050405020304" pitchFamily="18" charset="0"/>
                <a:cs typeface="Times New Roman" panose="02020603050405020304" pitchFamily="18" charset="0"/>
              </a:rPr>
              <a:t> 120</a:t>
            </a:r>
          </a:p>
          <a:p>
            <a:pPr lvl="1" defTabSz="762000" eaLnBrk="1" hangingPunct="1">
              <a:spcBef>
                <a:spcPct val="5000"/>
              </a:spcBef>
              <a:spcAft>
                <a:spcPct val="5000"/>
              </a:spcAft>
              <a:buNone/>
            </a:pPr>
            <a:r>
              <a:rPr lang="en-US" altLang="zh-CN" sz="2000" b="1" i="1" dirty="0">
                <a:solidFill>
                  <a:schemeClr val="bg1"/>
                </a:solidFill>
                <a:latin typeface="Times New Roman" panose="02020603050405020304" pitchFamily="18" charset="0"/>
                <a:cs typeface="Times New Roman" panose="02020603050405020304" pitchFamily="18" charset="0"/>
              </a:rPr>
              <a:t>              </a:t>
            </a:r>
            <a:r>
              <a:rPr lang="en-US" altLang="zh-CN" sz="2000" b="1" i="1" dirty="0" smtClean="0">
                <a:solidFill>
                  <a:schemeClr val="bg1"/>
                </a:solidFill>
                <a:latin typeface="Times New Roman" panose="02020603050405020304" pitchFamily="18" charset="0"/>
                <a:cs typeface="Times New Roman" panose="02020603050405020304" pitchFamily="18" charset="0"/>
              </a:rPr>
              <a:t>x</a:t>
            </a:r>
            <a:r>
              <a:rPr lang="en-US" altLang="zh-CN" sz="2000" b="1" baseline="-25000" dirty="0" smtClean="0">
                <a:solidFill>
                  <a:schemeClr val="bg1"/>
                </a:solidFill>
                <a:latin typeface="Times New Roman" panose="02020603050405020304" pitchFamily="18" charset="0"/>
                <a:cs typeface="Times New Roman" panose="02020603050405020304" pitchFamily="18" charset="0"/>
              </a:rPr>
              <a:t>1 </a:t>
            </a:r>
            <a:r>
              <a:rPr lang="en-US" altLang="zh-CN" sz="2000" b="1"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solidFill>
                  <a:schemeClr val="bg1"/>
                </a:solidFill>
                <a:latin typeface="Times New Roman" panose="02020603050405020304" pitchFamily="18" charset="0"/>
                <a:cs typeface="Times New Roman" panose="02020603050405020304" pitchFamily="18" charset="0"/>
              </a:rPr>
              <a:t>0，</a:t>
            </a:r>
            <a:r>
              <a:rPr lang="en-US" altLang="zh-CN" sz="2000" b="1" i="1" dirty="0">
                <a:solidFill>
                  <a:schemeClr val="bg1"/>
                </a:solidFill>
                <a:latin typeface="Times New Roman" panose="02020603050405020304" pitchFamily="18" charset="0"/>
                <a:cs typeface="Times New Roman" panose="02020603050405020304" pitchFamily="18" charset="0"/>
              </a:rPr>
              <a:t>x</a:t>
            </a:r>
            <a:r>
              <a:rPr lang="en-US" altLang="zh-CN" sz="2000" b="1" baseline="-25000" dirty="0">
                <a:solidFill>
                  <a:schemeClr val="bg1"/>
                </a:solidFill>
                <a:latin typeface="Times New Roman" panose="02020603050405020304" pitchFamily="18" charset="0"/>
                <a:cs typeface="Times New Roman" panose="02020603050405020304" pitchFamily="18" charset="0"/>
              </a:rPr>
              <a:t>2 </a:t>
            </a:r>
            <a:r>
              <a:rPr lang="en-US" altLang="zh-CN" sz="2000" b="1"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solidFill>
                  <a:schemeClr val="bg1"/>
                </a:solidFill>
                <a:latin typeface="Times New Roman" panose="02020603050405020304" pitchFamily="18" charset="0"/>
                <a:cs typeface="Times New Roman" panose="02020603050405020304" pitchFamily="18" charset="0"/>
              </a:rPr>
              <a:t>0</a:t>
            </a:r>
          </a:p>
        </p:txBody>
      </p:sp>
      <p:sp>
        <p:nvSpPr>
          <p:cNvPr id="3" name="矩形 2"/>
          <p:cNvSpPr/>
          <p:nvPr/>
        </p:nvSpPr>
        <p:spPr>
          <a:xfrm>
            <a:off x="537602" y="1556792"/>
            <a:ext cx="4335780" cy="460375"/>
          </a:xfrm>
          <a:prstGeom prst="rect">
            <a:avLst/>
          </a:prstGeom>
        </p:spPr>
        <p:txBody>
          <a:bodyPr wrap="none">
            <a:spAutoFit/>
          </a:bodyPr>
          <a:lstStyle/>
          <a:p>
            <a:pPr marL="342900" indent="-342900">
              <a:buFont typeface="Arial" panose="020B0604020202020204" pitchFamily="34" charset="0"/>
              <a:buChar char="•"/>
            </a:pPr>
            <a:r>
              <a:rPr lang="zh-CN" altLang="zh-CN" dirty="0">
                <a:solidFill>
                  <a:schemeClr val="bg1"/>
                </a:solidFill>
                <a:latin typeface="宋体" panose="02010600030101010101" pitchFamily="2" charset="-122"/>
              </a:rPr>
              <a:t>用图解法求解生产计划问题</a:t>
            </a:r>
            <a:r>
              <a:rPr lang="en-US" altLang="zh-CN" dirty="0">
                <a:solidFill>
                  <a:schemeClr val="bg1"/>
                </a:solidFill>
                <a:latin typeface="宋体" panose="02010600030101010101" pitchFamily="2" charset="-122"/>
              </a:rPr>
              <a:t>1</a:t>
            </a:r>
          </a:p>
        </p:txBody>
      </p:sp>
      <p:sp>
        <p:nvSpPr>
          <p:cNvPr id="15" name="Line 8"/>
          <p:cNvSpPr/>
          <p:nvPr/>
        </p:nvSpPr>
        <p:spPr>
          <a:xfrm>
            <a:off x="1146968" y="2442991"/>
            <a:ext cx="2272903" cy="4125614"/>
          </a:xfrm>
          <a:prstGeom prst="line">
            <a:avLst/>
          </a:prstGeom>
          <a:ln w="57150" cap="flat" cmpd="sng">
            <a:solidFill>
              <a:srgbClr val="000000"/>
            </a:solidFill>
            <a:prstDash val="solid"/>
            <a:headEnd type="none" w="med" len="med"/>
            <a:tailEnd type="none" w="med" len="med"/>
          </a:ln>
        </p:spPr>
      </p:sp>
      <p:sp>
        <p:nvSpPr>
          <p:cNvPr id="16" name="Line 9"/>
          <p:cNvSpPr/>
          <p:nvPr/>
        </p:nvSpPr>
        <p:spPr>
          <a:xfrm>
            <a:off x="1146967" y="3312568"/>
            <a:ext cx="2809657" cy="3280103"/>
          </a:xfrm>
          <a:prstGeom prst="line">
            <a:avLst/>
          </a:prstGeom>
          <a:ln w="57150" cap="flat" cmpd="sng">
            <a:solidFill>
              <a:srgbClr val="000000"/>
            </a:solidFill>
            <a:prstDash val="solid"/>
            <a:headEnd type="none" w="med" len="med"/>
            <a:tailEnd type="none" w="med" len="med"/>
          </a:ln>
        </p:spPr>
      </p:sp>
      <p:sp>
        <p:nvSpPr>
          <p:cNvPr id="18" name="Freeform 11"/>
          <p:cNvSpPr/>
          <p:nvPr/>
        </p:nvSpPr>
        <p:spPr>
          <a:xfrm>
            <a:off x="1524793" y="3828411"/>
            <a:ext cx="1577182" cy="2262654"/>
          </a:xfrm>
          <a:custGeom>
            <a:avLst/>
            <a:gdLst>
              <a:gd name="txL" fmla="*/ 0 w 1680"/>
              <a:gd name="txT" fmla="*/ 0 h 2400"/>
              <a:gd name="txR" fmla="*/ 1680 w 1680"/>
              <a:gd name="txB" fmla="*/ 2400 h 2400"/>
            </a:gdLst>
            <a:ahLst/>
            <a:cxnLst>
              <a:cxn ang="0">
                <a:pos x="0" y="0"/>
              </a:cxn>
              <a:cxn ang="0">
                <a:pos x="0" y="2147483647"/>
              </a:cxn>
              <a:cxn ang="0">
                <a:pos x="2147483647" y="2147483647"/>
              </a:cxn>
              <a:cxn ang="0">
                <a:pos x="2147483647" y="2147483647"/>
              </a:cxn>
              <a:cxn ang="0">
                <a:pos x="0" y="0"/>
              </a:cxn>
            </a:cxnLst>
            <a:rect l="txL" t="txT" r="txR" b="txB"/>
            <a:pathLst>
              <a:path w="1680" h="2400">
                <a:moveTo>
                  <a:pt x="0" y="0"/>
                </a:moveTo>
                <a:lnTo>
                  <a:pt x="0" y="2400"/>
                </a:lnTo>
                <a:lnTo>
                  <a:pt x="1680" y="2400"/>
                </a:lnTo>
                <a:lnTo>
                  <a:pt x="1008" y="1200"/>
                </a:lnTo>
                <a:lnTo>
                  <a:pt x="0" y="0"/>
                </a:lnTo>
                <a:close/>
              </a:path>
            </a:pathLst>
          </a:custGeom>
          <a:solidFill>
            <a:srgbClr val="00FF00">
              <a:alpha val="100000"/>
            </a:srgbClr>
          </a:solidFill>
          <a:ln w="9525" cap="flat" cmpd="sng">
            <a:solidFill>
              <a:srgbClr val="000000">
                <a:alpha val="100000"/>
              </a:srgbClr>
            </a:solidFill>
            <a:prstDash val="solid"/>
            <a:round/>
            <a:headEnd type="none" w="med" len="med"/>
            <a:tailEnd type="none" w="med" len="me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solidFill>
                <a:schemeClr val="bg1"/>
              </a:solidFill>
            </a:endParaRPr>
          </a:p>
        </p:txBody>
      </p:sp>
      <p:sp>
        <p:nvSpPr>
          <p:cNvPr id="24" name="AutoShape 17"/>
          <p:cNvSpPr/>
          <p:nvPr/>
        </p:nvSpPr>
        <p:spPr>
          <a:xfrm>
            <a:off x="2508245" y="2306464"/>
            <a:ext cx="2368550" cy="461665"/>
          </a:xfrm>
          <a:prstGeom prst="borderCallout2">
            <a:avLst>
              <a:gd name="adj1" fmla="val 19407"/>
              <a:gd name="adj2" fmla="val -3218"/>
              <a:gd name="adj3" fmla="val 19407"/>
              <a:gd name="adj4" fmla="val -10588"/>
              <a:gd name="adj5" fmla="val 208356"/>
              <a:gd name="adj6" fmla="val -37065"/>
            </a:avLst>
          </a:prstGeom>
          <a:noFill/>
          <a:ln w="28575" cap="flat" cmpd="sng">
            <a:solidFill>
              <a:srgbClr val="FF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en-US" sz="2400" dirty="0">
                <a:solidFill>
                  <a:schemeClr val="bg1"/>
                </a:solidFill>
                <a:latin typeface="Times New Roman" panose="02020603050405020304" pitchFamily="18" charset="0"/>
              </a:rPr>
              <a:t>2</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1</a:t>
            </a:r>
            <a:r>
              <a:rPr lang="en-US" altLang="zh-CN" sz="2400" dirty="0">
                <a:solidFill>
                  <a:schemeClr val="bg1"/>
                </a:solidFill>
                <a:latin typeface="Times New Roman" panose="02020603050405020304" pitchFamily="18" charset="0"/>
              </a:rPr>
              <a:t>+ </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2</a:t>
            </a:r>
            <a:r>
              <a:rPr lang="en-US" altLang="zh-CN" sz="2400" dirty="0">
                <a:solidFill>
                  <a:schemeClr val="bg1"/>
                </a:solidFill>
                <a:latin typeface="Times New Roman" panose="02020603050405020304" pitchFamily="18" charset="0"/>
              </a:rPr>
              <a:t> </a:t>
            </a:r>
            <a:r>
              <a:rPr lang="en-US" altLang="zh-CN" sz="2400" dirty="0">
                <a:solidFill>
                  <a:schemeClr val="bg1"/>
                </a:solidFill>
                <a:latin typeface="Times New Roman" panose="02020603050405020304" pitchFamily="18" charset="0"/>
                <a:sym typeface="Symbol" panose="05050102010706020507" pitchFamily="18" charset="2"/>
              </a:rPr>
              <a:t></a:t>
            </a:r>
            <a:r>
              <a:rPr lang="en-US" altLang="zh-CN" sz="2400" dirty="0">
                <a:solidFill>
                  <a:schemeClr val="bg1"/>
                </a:solidFill>
                <a:latin typeface="Times New Roman" panose="02020603050405020304" pitchFamily="18" charset="0"/>
              </a:rPr>
              <a:t> 50</a:t>
            </a:r>
          </a:p>
        </p:txBody>
      </p:sp>
      <p:grpSp>
        <p:nvGrpSpPr>
          <p:cNvPr id="7" name="组合 6"/>
          <p:cNvGrpSpPr/>
          <p:nvPr/>
        </p:nvGrpSpPr>
        <p:grpSpPr>
          <a:xfrm>
            <a:off x="804069" y="1988840"/>
            <a:ext cx="4837113" cy="4579765"/>
            <a:chOff x="804069" y="1988840"/>
            <a:chExt cx="4837113" cy="4579765"/>
          </a:xfrm>
        </p:grpSpPr>
        <p:sp>
          <p:nvSpPr>
            <p:cNvPr id="13" name="Line 6"/>
            <p:cNvSpPr/>
            <p:nvPr/>
          </p:nvSpPr>
          <p:spPr>
            <a:xfrm flipH="1">
              <a:off x="1502568" y="1988840"/>
              <a:ext cx="22225" cy="4118099"/>
            </a:xfrm>
            <a:prstGeom prst="line">
              <a:avLst/>
            </a:prstGeom>
            <a:ln w="57150" cap="flat" cmpd="sng">
              <a:solidFill>
                <a:srgbClr val="000000"/>
              </a:solidFill>
              <a:prstDash val="solid"/>
              <a:headEnd type="triangle" w="med" len="med"/>
              <a:tailEnd type="none" w="med" len="med"/>
            </a:ln>
          </p:spPr>
        </p:sp>
        <p:sp>
          <p:nvSpPr>
            <p:cNvPr id="14" name="Line 7"/>
            <p:cNvSpPr/>
            <p:nvPr/>
          </p:nvSpPr>
          <p:spPr>
            <a:xfrm flipV="1">
              <a:off x="1502569" y="6091065"/>
              <a:ext cx="4138613" cy="15875"/>
            </a:xfrm>
            <a:prstGeom prst="line">
              <a:avLst/>
            </a:prstGeom>
            <a:ln w="57150" cap="flat" cmpd="sng">
              <a:solidFill>
                <a:srgbClr val="000000"/>
              </a:solidFill>
              <a:prstDash val="solid"/>
              <a:headEnd type="none" w="med" len="med"/>
              <a:tailEnd type="triangle" w="med" len="med"/>
            </a:ln>
          </p:spPr>
        </p:sp>
        <p:sp>
          <p:nvSpPr>
            <p:cNvPr id="19" name="Text Box 12"/>
            <p:cNvSpPr txBox="1"/>
            <p:nvPr/>
          </p:nvSpPr>
          <p:spPr>
            <a:xfrm>
              <a:off x="880269" y="2075632"/>
              <a:ext cx="533400" cy="4616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2</a:t>
              </a:r>
              <a:r>
                <a:rPr lang="en-US" altLang="zh-CN" sz="2400" dirty="0">
                  <a:solidFill>
                    <a:schemeClr val="bg1"/>
                  </a:solidFill>
                  <a:latin typeface="Times New Roman" panose="02020603050405020304" pitchFamily="18" charset="0"/>
                </a:rPr>
                <a:t> </a:t>
              </a:r>
            </a:p>
          </p:txBody>
        </p:sp>
        <p:sp>
          <p:nvSpPr>
            <p:cNvPr id="20" name="Text Box 13"/>
            <p:cNvSpPr txBox="1"/>
            <p:nvPr/>
          </p:nvSpPr>
          <p:spPr>
            <a:xfrm>
              <a:off x="4932040" y="6030740"/>
              <a:ext cx="533400" cy="4616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1</a:t>
              </a:r>
              <a:r>
                <a:rPr lang="en-US" altLang="zh-CN" sz="2400" dirty="0">
                  <a:solidFill>
                    <a:schemeClr val="bg1"/>
                  </a:solidFill>
                  <a:latin typeface="Times New Roman" panose="02020603050405020304" pitchFamily="18" charset="0"/>
                </a:rPr>
                <a:t> </a:t>
              </a:r>
            </a:p>
          </p:txBody>
        </p:sp>
        <p:sp>
          <p:nvSpPr>
            <p:cNvPr id="21" name="Text Box 14"/>
            <p:cNvSpPr txBox="1"/>
            <p:nvPr/>
          </p:nvSpPr>
          <p:spPr>
            <a:xfrm>
              <a:off x="856457" y="3486201"/>
              <a:ext cx="685800" cy="4616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solidFill>
                    <a:schemeClr val="bg1"/>
                  </a:solidFill>
                  <a:latin typeface="Times New Roman" panose="02020603050405020304" pitchFamily="18" charset="0"/>
                </a:rPr>
                <a:t>40 </a:t>
              </a:r>
            </a:p>
          </p:txBody>
        </p:sp>
        <p:sp>
          <p:nvSpPr>
            <p:cNvPr id="22" name="Text Box 15"/>
            <p:cNvSpPr txBox="1"/>
            <p:nvPr/>
          </p:nvSpPr>
          <p:spPr>
            <a:xfrm>
              <a:off x="861864" y="2850903"/>
              <a:ext cx="685800" cy="4616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solidFill>
                    <a:schemeClr val="bg1"/>
                  </a:solidFill>
                  <a:latin typeface="Times New Roman" panose="02020603050405020304" pitchFamily="18" charset="0"/>
                </a:rPr>
                <a:t>50 </a:t>
              </a:r>
            </a:p>
          </p:txBody>
        </p:sp>
        <p:sp>
          <p:nvSpPr>
            <p:cNvPr id="23" name="Text Box 16"/>
            <p:cNvSpPr txBox="1"/>
            <p:nvPr/>
          </p:nvSpPr>
          <p:spPr>
            <a:xfrm>
              <a:off x="3419872" y="6106940"/>
              <a:ext cx="685800" cy="4616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solidFill>
                    <a:schemeClr val="bg1"/>
                  </a:solidFill>
                  <a:latin typeface="Times New Roman" panose="02020603050405020304" pitchFamily="18" charset="0"/>
                </a:rPr>
                <a:t>30 </a:t>
              </a:r>
            </a:p>
          </p:txBody>
        </p:sp>
        <p:sp>
          <p:nvSpPr>
            <p:cNvPr id="25" name="Text Box 18"/>
            <p:cNvSpPr txBox="1"/>
            <p:nvPr/>
          </p:nvSpPr>
          <p:spPr>
            <a:xfrm>
              <a:off x="2699792" y="6091065"/>
              <a:ext cx="685800" cy="4616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solidFill>
                    <a:schemeClr val="bg1"/>
                  </a:solidFill>
                  <a:latin typeface="Times New Roman" panose="02020603050405020304" pitchFamily="18" charset="0"/>
                </a:rPr>
                <a:t>20 </a:t>
              </a:r>
            </a:p>
          </p:txBody>
        </p:sp>
        <p:sp>
          <p:nvSpPr>
            <p:cNvPr id="26" name="Text Box 19"/>
            <p:cNvSpPr txBox="1"/>
            <p:nvPr/>
          </p:nvSpPr>
          <p:spPr>
            <a:xfrm>
              <a:off x="1941984" y="6106940"/>
              <a:ext cx="685800" cy="4616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solidFill>
                    <a:schemeClr val="bg1"/>
                  </a:solidFill>
                  <a:latin typeface="Times New Roman" panose="02020603050405020304" pitchFamily="18" charset="0"/>
                </a:rPr>
                <a:t>10 </a:t>
              </a:r>
            </a:p>
          </p:txBody>
        </p:sp>
        <p:sp>
          <p:nvSpPr>
            <p:cNvPr id="27" name="Text Box 20"/>
            <p:cNvSpPr txBox="1"/>
            <p:nvPr/>
          </p:nvSpPr>
          <p:spPr>
            <a:xfrm>
              <a:off x="804069" y="5256784"/>
              <a:ext cx="685800" cy="4616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solidFill>
                    <a:schemeClr val="bg1"/>
                  </a:solidFill>
                  <a:latin typeface="Times New Roman" panose="02020603050405020304" pitchFamily="18" charset="0"/>
                </a:rPr>
                <a:t>10 </a:t>
              </a:r>
            </a:p>
          </p:txBody>
        </p:sp>
        <p:sp>
          <p:nvSpPr>
            <p:cNvPr id="28" name="Text Box 21"/>
            <p:cNvSpPr txBox="1"/>
            <p:nvPr/>
          </p:nvSpPr>
          <p:spPr>
            <a:xfrm>
              <a:off x="819944" y="4608712"/>
              <a:ext cx="685800" cy="4616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solidFill>
                    <a:schemeClr val="bg1"/>
                  </a:solidFill>
                  <a:latin typeface="Times New Roman" panose="02020603050405020304" pitchFamily="18" charset="0"/>
                </a:rPr>
                <a:t>20 </a:t>
              </a:r>
            </a:p>
          </p:txBody>
        </p:sp>
        <p:sp>
          <p:nvSpPr>
            <p:cNvPr id="29" name="Text Box 22"/>
            <p:cNvSpPr txBox="1"/>
            <p:nvPr/>
          </p:nvSpPr>
          <p:spPr>
            <a:xfrm>
              <a:off x="821532" y="4062265"/>
              <a:ext cx="685800" cy="4616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solidFill>
                    <a:schemeClr val="bg1"/>
                  </a:solidFill>
                  <a:latin typeface="Times New Roman" panose="02020603050405020304" pitchFamily="18" charset="0"/>
                </a:rPr>
                <a:t>30 </a:t>
              </a:r>
            </a:p>
          </p:txBody>
        </p:sp>
      </p:grpSp>
      <p:sp>
        <p:nvSpPr>
          <p:cNvPr id="30" name="AutoShape 23"/>
          <p:cNvSpPr/>
          <p:nvPr/>
        </p:nvSpPr>
        <p:spPr>
          <a:xfrm>
            <a:off x="3795634" y="5569075"/>
            <a:ext cx="2628900" cy="461665"/>
          </a:xfrm>
          <a:prstGeom prst="borderCallout2">
            <a:avLst>
              <a:gd name="adj1" fmla="val 19407"/>
              <a:gd name="adj2" fmla="val -2898"/>
              <a:gd name="adj3" fmla="val 19407"/>
              <a:gd name="adj4" fmla="val -8514"/>
              <a:gd name="adj5" fmla="val 80056"/>
              <a:gd name="adj6" fmla="val -28806"/>
            </a:avLst>
          </a:prstGeom>
          <a:noFill/>
          <a:ln w="28575" cap="flat" cmpd="sng">
            <a:solidFill>
              <a:srgbClr val="FF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en-US" sz="2400" dirty="0">
                <a:solidFill>
                  <a:schemeClr val="bg1"/>
                </a:solidFill>
                <a:latin typeface="Times New Roman" panose="02020603050405020304" pitchFamily="18" charset="0"/>
              </a:rPr>
              <a:t>4</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1</a:t>
            </a:r>
            <a:r>
              <a:rPr lang="en-US" altLang="zh-CN" sz="2400" dirty="0">
                <a:solidFill>
                  <a:schemeClr val="bg1"/>
                </a:solidFill>
                <a:latin typeface="Times New Roman" panose="02020603050405020304" pitchFamily="18" charset="0"/>
              </a:rPr>
              <a:t>+3</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2</a:t>
            </a:r>
            <a:r>
              <a:rPr lang="en-US" altLang="zh-CN" sz="2400" dirty="0">
                <a:solidFill>
                  <a:schemeClr val="bg1"/>
                </a:solidFill>
                <a:latin typeface="Times New Roman" panose="02020603050405020304" pitchFamily="18" charset="0"/>
              </a:rPr>
              <a:t> </a:t>
            </a:r>
            <a:r>
              <a:rPr lang="en-US" altLang="zh-CN" sz="2400" dirty="0">
                <a:solidFill>
                  <a:schemeClr val="bg1"/>
                </a:solidFill>
                <a:latin typeface="Times New Roman" panose="02020603050405020304" pitchFamily="18" charset="0"/>
                <a:sym typeface="Symbol" panose="05050102010706020507" pitchFamily="18" charset="2"/>
              </a:rPr>
              <a:t></a:t>
            </a:r>
            <a:r>
              <a:rPr lang="en-US" altLang="zh-CN" sz="2400" dirty="0">
                <a:solidFill>
                  <a:schemeClr val="bg1"/>
                </a:solidFill>
                <a:latin typeface="Times New Roman" panose="02020603050405020304" pitchFamily="18" charset="0"/>
              </a:rPr>
              <a:t> 120</a:t>
            </a:r>
          </a:p>
        </p:txBody>
      </p:sp>
      <p:sp>
        <p:nvSpPr>
          <p:cNvPr id="31" name="Line 24"/>
          <p:cNvSpPr/>
          <p:nvPr/>
        </p:nvSpPr>
        <p:spPr>
          <a:xfrm>
            <a:off x="1204764" y="4608712"/>
            <a:ext cx="1234430" cy="1729060"/>
          </a:xfrm>
          <a:prstGeom prst="line">
            <a:avLst/>
          </a:prstGeom>
          <a:ln w="57150" cap="flat" cmpd="sng">
            <a:solidFill>
              <a:srgbClr val="FF6600"/>
            </a:solidFill>
            <a:prstDash val="dash"/>
            <a:headEnd type="none" w="med" len="med"/>
            <a:tailEnd type="none" w="med" len="med"/>
          </a:ln>
        </p:spPr>
      </p:sp>
      <p:sp>
        <p:nvSpPr>
          <p:cNvPr id="32" name="AutoShape 25"/>
          <p:cNvSpPr/>
          <p:nvPr/>
        </p:nvSpPr>
        <p:spPr>
          <a:xfrm>
            <a:off x="3762772" y="3884683"/>
            <a:ext cx="3460750" cy="461665"/>
          </a:xfrm>
          <a:prstGeom prst="borderCallout2">
            <a:avLst>
              <a:gd name="adj1" fmla="val 19407"/>
              <a:gd name="adj2" fmla="val -2204"/>
              <a:gd name="adj3" fmla="val 19407"/>
              <a:gd name="adj4" fmla="val -16241"/>
              <a:gd name="adj5" fmla="val 201079"/>
              <a:gd name="adj6" fmla="val -66880"/>
            </a:avLst>
          </a:prstGeom>
          <a:noFill/>
          <a:ln w="28575" cap="flat" cmpd="sng">
            <a:solidFill>
              <a:srgbClr val="FF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400" i="1" dirty="0">
                <a:solidFill>
                  <a:schemeClr val="bg1"/>
                </a:solidFill>
                <a:latin typeface="Times New Roman" panose="02020603050405020304" pitchFamily="18" charset="0"/>
              </a:rPr>
              <a:t>z</a:t>
            </a:r>
            <a:r>
              <a:rPr lang="en-US" altLang="zh-CN" sz="2400" dirty="0">
                <a:solidFill>
                  <a:schemeClr val="bg1"/>
                </a:solidFill>
                <a:latin typeface="Times New Roman" panose="02020603050405020304" pitchFamily="18" charset="0"/>
              </a:rPr>
              <a:t> = 50x</a:t>
            </a:r>
            <a:r>
              <a:rPr lang="en-US" altLang="zh-CN" sz="2400" baseline="-25000" dirty="0">
                <a:solidFill>
                  <a:schemeClr val="bg1"/>
                </a:solidFill>
                <a:latin typeface="Times New Roman" panose="02020603050405020304" pitchFamily="18" charset="0"/>
              </a:rPr>
              <a:t>1</a:t>
            </a:r>
            <a:r>
              <a:rPr lang="en-US" altLang="zh-CN" sz="2400" dirty="0">
                <a:solidFill>
                  <a:schemeClr val="bg1"/>
                </a:solidFill>
                <a:latin typeface="Times New Roman" panose="02020603050405020304" pitchFamily="18" charset="0"/>
              </a:rPr>
              <a:t>+30</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2</a:t>
            </a:r>
            <a:r>
              <a:rPr lang="en-US" altLang="zh-CN" sz="2400" dirty="0">
                <a:solidFill>
                  <a:schemeClr val="bg1"/>
                </a:solidFill>
                <a:latin typeface="Times New Roman" panose="02020603050405020304" pitchFamily="18" charset="0"/>
              </a:rPr>
              <a:t>= 600</a:t>
            </a:r>
          </a:p>
        </p:txBody>
      </p:sp>
      <p:sp>
        <p:nvSpPr>
          <p:cNvPr id="33" name="Line 26"/>
          <p:cNvSpPr/>
          <p:nvPr/>
        </p:nvSpPr>
        <p:spPr>
          <a:xfrm>
            <a:off x="1285875" y="3212976"/>
            <a:ext cx="2286000" cy="3200400"/>
          </a:xfrm>
          <a:prstGeom prst="line">
            <a:avLst/>
          </a:prstGeom>
          <a:ln w="57150" cap="flat" cmpd="sng">
            <a:solidFill>
              <a:srgbClr val="FF6600"/>
            </a:solidFill>
            <a:prstDash val="dash"/>
            <a:headEnd type="none" w="med" len="med"/>
            <a:tailEnd type="none" w="med" len="med"/>
          </a:ln>
        </p:spPr>
      </p:sp>
      <p:sp>
        <p:nvSpPr>
          <p:cNvPr id="34" name="AutoShape 27"/>
          <p:cNvSpPr/>
          <p:nvPr/>
        </p:nvSpPr>
        <p:spPr>
          <a:xfrm>
            <a:off x="3101975" y="2982143"/>
            <a:ext cx="3460750" cy="461665"/>
          </a:xfrm>
          <a:prstGeom prst="borderCallout2">
            <a:avLst>
              <a:gd name="adj1" fmla="val 19407"/>
              <a:gd name="adj2" fmla="val -2204"/>
              <a:gd name="adj3" fmla="val 19407"/>
              <a:gd name="adj4" fmla="val -11148"/>
              <a:gd name="adj5" fmla="val 345014"/>
              <a:gd name="adj6" fmla="val -43347"/>
            </a:avLst>
          </a:prstGeom>
          <a:noFill/>
          <a:ln w="28575" cap="flat" cmpd="sng">
            <a:solidFill>
              <a:srgbClr val="FF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400" i="1" dirty="0">
                <a:solidFill>
                  <a:schemeClr val="bg1"/>
                </a:solidFill>
                <a:latin typeface="Times New Roman" panose="02020603050405020304" pitchFamily="18" charset="0"/>
              </a:rPr>
              <a:t>z</a:t>
            </a:r>
            <a:r>
              <a:rPr lang="en-US" altLang="zh-CN" sz="2400" dirty="0">
                <a:solidFill>
                  <a:schemeClr val="bg1"/>
                </a:solidFill>
                <a:latin typeface="Times New Roman" panose="02020603050405020304" pitchFamily="18" charset="0"/>
              </a:rPr>
              <a:t> = 50x</a:t>
            </a:r>
            <a:r>
              <a:rPr lang="en-US" altLang="zh-CN" sz="2400" baseline="-25000" dirty="0">
                <a:solidFill>
                  <a:schemeClr val="bg1"/>
                </a:solidFill>
                <a:latin typeface="Times New Roman" panose="02020603050405020304" pitchFamily="18" charset="0"/>
              </a:rPr>
              <a:t>1</a:t>
            </a:r>
            <a:r>
              <a:rPr lang="en-US" altLang="zh-CN" sz="2400" dirty="0">
                <a:solidFill>
                  <a:schemeClr val="bg1"/>
                </a:solidFill>
                <a:latin typeface="Times New Roman" panose="02020603050405020304" pitchFamily="18" charset="0"/>
              </a:rPr>
              <a:t>+30</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2</a:t>
            </a:r>
            <a:r>
              <a:rPr lang="en-US" altLang="zh-CN" sz="2400" dirty="0">
                <a:solidFill>
                  <a:schemeClr val="bg1"/>
                </a:solidFill>
                <a:latin typeface="Times New Roman" panose="02020603050405020304" pitchFamily="18" charset="0"/>
              </a:rPr>
              <a:t>= 900</a:t>
            </a:r>
          </a:p>
        </p:txBody>
      </p:sp>
      <p:sp>
        <p:nvSpPr>
          <p:cNvPr id="35" name="AutoShape 28"/>
          <p:cNvSpPr/>
          <p:nvPr/>
        </p:nvSpPr>
        <p:spPr>
          <a:xfrm>
            <a:off x="4355976" y="4710335"/>
            <a:ext cx="3651250" cy="461665"/>
          </a:xfrm>
          <a:prstGeom prst="borderCallout2">
            <a:avLst>
              <a:gd name="adj1" fmla="val 10620"/>
              <a:gd name="adj2" fmla="val -2088"/>
              <a:gd name="adj3" fmla="val 10620"/>
              <a:gd name="adj4" fmla="val -10958"/>
              <a:gd name="adj5" fmla="val 216316"/>
              <a:gd name="adj6" fmla="val -33775"/>
            </a:avLst>
          </a:prstGeom>
          <a:noFill/>
          <a:ln w="28575" cap="flat" cmpd="sng">
            <a:solidFill>
              <a:srgbClr val="FF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400" i="1" dirty="0">
                <a:solidFill>
                  <a:schemeClr val="bg1"/>
                </a:solidFill>
                <a:latin typeface="Times New Roman" panose="02020603050405020304" pitchFamily="18" charset="0"/>
              </a:rPr>
              <a:t>z</a:t>
            </a:r>
            <a:r>
              <a:rPr lang="en-US" altLang="zh-CN" sz="2400" dirty="0">
                <a:solidFill>
                  <a:schemeClr val="bg1"/>
                </a:solidFill>
                <a:latin typeface="Times New Roman" panose="02020603050405020304" pitchFamily="18" charset="0"/>
              </a:rPr>
              <a:t> = 50x</a:t>
            </a:r>
            <a:r>
              <a:rPr lang="en-US" altLang="zh-CN" sz="2400" baseline="-25000" dirty="0">
                <a:solidFill>
                  <a:schemeClr val="bg1"/>
                </a:solidFill>
                <a:latin typeface="Times New Roman" panose="02020603050405020304" pitchFamily="18" charset="0"/>
              </a:rPr>
              <a:t>1</a:t>
            </a:r>
            <a:r>
              <a:rPr lang="en-US" altLang="zh-CN" sz="2400" dirty="0">
                <a:solidFill>
                  <a:schemeClr val="bg1"/>
                </a:solidFill>
                <a:latin typeface="Times New Roman" panose="02020603050405020304" pitchFamily="18" charset="0"/>
              </a:rPr>
              <a:t>+30</a:t>
            </a:r>
            <a:r>
              <a:rPr lang="en-US" altLang="zh-CN" sz="2400" i="1" dirty="0">
                <a:solidFill>
                  <a:schemeClr val="bg1"/>
                </a:solidFill>
                <a:latin typeface="Times New Roman" panose="02020603050405020304" pitchFamily="18" charset="0"/>
              </a:rPr>
              <a:t>x</a:t>
            </a:r>
            <a:r>
              <a:rPr lang="en-US" altLang="zh-CN" sz="2400" baseline="-25000" dirty="0">
                <a:solidFill>
                  <a:schemeClr val="bg1"/>
                </a:solidFill>
                <a:latin typeface="Times New Roman" panose="02020603050405020304" pitchFamily="18" charset="0"/>
              </a:rPr>
              <a:t>2</a:t>
            </a:r>
            <a:r>
              <a:rPr lang="en-US" altLang="zh-CN" sz="2400" dirty="0">
                <a:solidFill>
                  <a:schemeClr val="bg1"/>
                </a:solidFill>
                <a:latin typeface="Times New Roman" panose="02020603050405020304" pitchFamily="18" charset="0"/>
              </a:rPr>
              <a:t>= 1350</a:t>
            </a:r>
          </a:p>
        </p:txBody>
      </p:sp>
      <p:sp>
        <p:nvSpPr>
          <p:cNvPr id="36" name="AutoShape 29"/>
          <p:cNvSpPr/>
          <p:nvPr/>
        </p:nvSpPr>
        <p:spPr>
          <a:xfrm rot="-2007900">
            <a:off x="1752379" y="5273269"/>
            <a:ext cx="565961" cy="152171"/>
          </a:xfrm>
          <a:prstGeom prst="chevron">
            <a:avLst>
              <a:gd name="adj" fmla="val 80800"/>
            </a:avLst>
          </a:prstGeom>
          <a:solidFill>
            <a:srgbClr val="A23218"/>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endParaRPr lang="zh-CN" altLang="zh-CN" sz="2400" dirty="0">
              <a:solidFill>
                <a:schemeClr val="bg1"/>
              </a:solidFill>
            </a:endParaRPr>
          </a:p>
        </p:txBody>
      </p:sp>
      <p:sp>
        <p:nvSpPr>
          <p:cNvPr id="37" name="Oval 30"/>
          <p:cNvSpPr/>
          <p:nvPr/>
        </p:nvSpPr>
        <p:spPr>
          <a:xfrm>
            <a:off x="2401789" y="4798293"/>
            <a:ext cx="153987" cy="142875"/>
          </a:xfrm>
          <a:prstGeom prst="ellipse">
            <a:avLst/>
          </a:prstGeom>
          <a:solidFill>
            <a:srgbClr val="A23218"/>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dirty="0">
              <a:solidFill>
                <a:schemeClr val="bg1"/>
              </a:solidFill>
            </a:endParaRPr>
          </a:p>
        </p:txBody>
      </p:sp>
      <p:sp>
        <p:nvSpPr>
          <p:cNvPr id="38" name="Text Box 31"/>
          <p:cNvSpPr txBox="1"/>
          <p:nvPr/>
        </p:nvSpPr>
        <p:spPr>
          <a:xfrm>
            <a:off x="2563490" y="4551511"/>
            <a:ext cx="1349375" cy="4616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solidFill>
                  <a:schemeClr val="bg1"/>
                </a:solidFill>
                <a:latin typeface="Times New Roman" panose="02020603050405020304" pitchFamily="18" charset="0"/>
              </a:rPr>
              <a:t>(15, 20)</a:t>
            </a:r>
          </a:p>
        </p:txBody>
      </p:sp>
      <p:sp>
        <p:nvSpPr>
          <p:cNvPr id="17" name="Line 10"/>
          <p:cNvSpPr/>
          <p:nvPr/>
        </p:nvSpPr>
        <p:spPr>
          <a:xfrm>
            <a:off x="1228824" y="4068069"/>
            <a:ext cx="1686992" cy="2269703"/>
          </a:xfrm>
          <a:prstGeom prst="line">
            <a:avLst/>
          </a:prstGeom>
          <a:ln w="57150" cap="flat" cmpd="sng">
            <a:solidFill>
              <a:srgbClr val="FF6600"/>
            </a:solidFill>
            <a:prstDash val="dash"/>
            <a:headEnd type="none" w="med" len="med"/>
            <a:tailEnd type="none" w="med" len="med"/>
          </a:ln>
        </p:spPr>
      </p:sp>
      <p:sp>
        <p:nvSpPr>
          <p:cNvPr id="2" name="Rectangle 3"/>
          <p:cNvSpPr>
            <a:spLocks noGrp="1"/>
          </p:cNvSpPr>
          <p:nvPr/>
        </p:nvSpPr>
        <p:spPr>
          <a:xfrm>
            <a:off x="5862955" y="1875155"/>
            <a:ext cx="2253615" cy="862965"/>
          </a:xfrm>
          <a:prstGeom prst="rect">
            <a:avLst/>
          </a:prstGeom>
          <a:solidFill>
            <a:schemeClr val="tx1"/>
          </a:solidFill>
          <a:ln w="9525">
            <a:noFill/>
          </a:ln>
        </p:spPr>
        <p:txBody>
          <a:bodyPr vert="horz" wrap="square" lIns="91440" tIns="45720" rIns="91440" bIns="45720" anchor="t"/>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defTabSz="762000" eaLnBrk="1" hangingPunct="1">
              <a:lnSpc>
                <a:spcPct val="120000"/>
              </a:lnSpc>
              <a:spcBef>
                <a:spcPts val="0"/>
              </a:spcBef>
              <a:spcAft>
                <a:spcPts val="0"/>
              </a:spcAft>
              <a:buNone/>
            </a:pPr>
            <a:r>
              <a:rPr lang="zh-CN" altLang="zh-CN" sz="2000" b="1" dirty="0">
                <a:solidFill>
                  <a:schemeClr val="bg1"/>
                </a:solidFill>
                <a:latin typeface="宋体" panose="02010600030101010101" pitchFamily="2" charset="-122"/>
                <a:ea typeface="宋体" panose="02010600030101010101" pitchFamily="2" charset="-122"/>
                <a:cs typeface="宋体" panose="02010600030101010101" pitchFamily="2" charset="-122"/>
              </a:rPr>
              <a:t>最优解：</a:t>
            </a:r>
            <a:r>
              <a:rPr lang="en-US" altLang="zh-CN" sz="2000" b="1" dirty="0">
                <a:solidFill>
                  <a:schemeClr val="bg1"/>
                </a:solidFill>
                <a:latin typeface="宋体" panose="02010600030101010101" pitchFamily="2" charset="-122"/>
                <a:ea typeface="宋体" panose="02010600030101010101" pitchFamily="2" charset="-122"/>
                <a:cs typeface="宋体" panose="02010600030101010101" pitchFamily="2" charset="-122"/>
              </a:rPr>
              <a:t>B(15,20)</a:t>
            </a:r>
          </a:p>
          <a:p>
            <a:pPr defTabSz="762000" eaLnBrk="1" hangingPunct="1">
              <a:lnSpc>
                <a:spcPct val="120000"/>
              </a:lnSpc>
              <a:spcBef>
                <a:spcPts val="0"/>
              </a:spcBef>
              <a:spcAft>
                <a:spcPts val="0"/>
              </a:spcAft>
              <a:buNone/>
            </a:pPr>
            <a:r>
              <a:rPr lang="zh-CN" altLang="en-US" sz="2000" b="1" dirty="0">
                <a:solidFill>
                  <a:schemeClr val="bg1"/>
                </a:solidFill>
                <a:latin typeface="宋体" panose="02010600030101010101" pitchFamily="2" charset="-122"/>
                <a:ea typeface="宋体" panose="02010600030101010101" pitchFamily="2" charset="-122"/>
                <a:cs typeface="宋体" panose="02010600030101010101" pitchFamily="2" charset="-122"/>
              </a:rPr>
              <a:t>最优值：</a:t>
            </a:r>
            <a:r>
              <a:rPr lang="en-US" altLang="zh-CN" sz="2000" b="1" dirty="0">
                <a:solidFill>
                  <a:schemeClr val="bg1"/>
                </a:solidFill>
                <a:latin typeface="宋体" panose="02010600030101010101" pitchFamily="2" charset="-122"/>
                <a:ea typeface="宋体" panose="02010600030101010101" pitchFamily="2" charset="-122"/>
                <a:cs typeface="宋体" panose="02010600030101010101" pitchFamily="2" charset="-122"/>
              </a:rPr>
              <a:t>1350</a:t>
            </a:r>
          </a:p>
        </p:txBody>
      </p:sp>
      <p:sp>
        <p:nvSpPr>
          <p:cNvPr id="39" name="Text Box 17"/>
          <p:cNvSpPr txBox="1"/>
          <p:nvPr/>
        </p:nvSpPr>
        <p:spPr>
          <a:xfrm>
            <a:off x="961941" y="5821271"/>
            <a:ext cx="466992" cy="616408"/>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400" b="1" i="1" dirty="0" smtClean="0">
                <a:solidFill>
                  <a:schemeClr val="bg1"/>
                </a:solidFill>
                <a:latin typeface="Times New Roman" panose="02020603050405020304" pitchFamily="18" charset="0"/>
              </a:rPr>
              <a:t>O</a:t>
            </a:r>
            <a:endParaRPr lang="zh-CN" altLang="zh-CN" sz="2400" b="1" dirty="0">
              <a:solidFill>
                <a:schemeClr val="bg1"/>
              </a:solidFill>
              <a:latin typeface="Arial" panose="020B0604020202020204" pitchFamily="34" charset="0"/>
            </a:endParaRPr>
          </a:p>
        </p:txBody>
      </p:sp>
      <p:sp>
        <p:nvSpPr>
          <p:cNvPr id="40" name="Text Box 17"/>
          <p:cNvSpPr txBox="1"/>
          <p:nvPr/>
        </p:nvSpPr>
        <p:spPr>
          <a:xfrm>
            <a:off x="1115616" y="3532672"/>
            <a:ext cx="484454" cy="616408"/>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400" b="1" dirty="0" smtClean="0">
                <a:solidFill>
                  <a:schemeClr val="bg1"/>
                </a:solidFill>
                <a:latin typeface="Arial" panose="020B0604020202020204" pitchFamily="34" charset="0"/>
              </a:rPr>
              <a:t>A</a:t>
            </a:r>
            <a:endParaRPr lang="zh-CN" altLang="zh-CN" sz="2400" b="1" dirty="0">
              <a:solidFill>
                <a:schemeClr val="bg1"/>
              </a:solidFill>
              <a:latin typeface="Arial" panose="020B0604020202020204" pitchFamily="34" charset="0"/>
            </a:endParaRPr>
          </a:p>
        </p:txBody>
      </p:sp>
      <p:sp>
        <p:nvSpPr>
          <p:cNvPr id="41" name="Text Box 17"/>
          <p:cNvSpPr txBox="1"/>
          <p:nvPr/>
        </p:nvSpPr>
        <p:spPr>
          <a:xfrm>
            <a:off x="2401789" y="4396768"/>
            <a:ext cx="484454" cy="616408"/>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400" b="1" dirty="0" smtClean="0">
                <a:solidFill>
                  <a:schemeClr val="bg1"/>
                </a:solidFill>
                <a:latin typeface="Arial" panose="020B0604020202020204" pitchFamily="34" charset="0"/>
              </a:rPr>
              <a:t>B</a:t>
            </a:r>
            <a:endParaRPr lang="zh-CN" altLang="zh-CN" sz="2400" b="1" dirty="0">
              <a:solidFill>
                <a:schemeClr val="bg1"/>
              </a:solidFill>
              <a:latin typeface="Arial" panose="020B0604020202020204" pitchFamily="34" charset="0"/>
            </a:endParaRPr>
          </a:p>
        </p:txBody>
      </p:sp>
      <p:sp>
        <p:nvSpPr>
          <p:cNvPr id="42" name="Text Box 17"/>
          <p:cNvSpPr txBox="1"/>
          <p:nvPr/>
        </p:nvSpPr>
        <p:spPr>
          <a:xfrm>
            <a:off x="2987824" y="6196968"/>
            <a:ext cx="484454" cy="616408"/>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400" b="1" dirty="0" smtClean="0">
                <a:solidFill>
                  <a:schemeClr val="bg1"/>
                </a:solidFill>
                <a:latin typeface="Arial" panose="020B0604020202020204" pitchFamily="34" charset="0"/>
              </a:rPr>
              <a:t>C</a:t>
            </a:r>
            <a:endParaRPr lang="zh-CN" altLang="zh-CN" sz="2400" b="1" dirty="0">
              <a:solidFill>
                <a:schemeClr val="bg1"/>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left)">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wipe(left)">
                                      <p:cBhvr>
                                        <p:cTn id="25" dur="500"/>
                                        <p:tgtEl>
                                          <p:spTgt spid="3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down)">
                                      <p:cBhvr>
                                        <p:cTn id="35" dur="500"/>
                                        <p:tgtEl>
                                          <p:spTgt spid="39"/>
                                        </p:tgtEl>
                                      </p:cBhvr>
                                    </p:animEffect>
                                  </p:childTnLst>
                                </p:cTn>
                              </p:par>
                            </p:childTnLst>
                          </p:cTn>
                        </p:par>
                        <p:par>
                          <p:cTn id="36" fill="hold">
                            <p:stCondLst>
                              <p:cond delay="500"/>
                            </p:stCondLst>
                            <p:childTnLst>
                              <p:par>
                                <p:cTn id="37" presetID="22" presetClass="entr" presetSubtype="4" fill="hold" grpId="0" nodeType="after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wipe(down)">
                                      <p:cBhvr>
                                        <p:cTn id="39" dur="500"/>
                                        <p:tgtEl>
                                          <p:spTgt spid="40"/>
                                        </p:tgtEl>
                                      </p:cBhvr>
                                    </p:animEffect>
                                  </p:childTnLst>
                                </p:cTn>
                              </p:par>
                            </p:childTnLst>
                          </p:cTn>
                        </p:par>
                        <p:par>
                          <p:cTn id="40" fill="hold">
                            <p:stCondLst>
                              <p:cond delay="1000"/>
                            </p:stCondLst>
                            <p:childTnLst>
                              <p:par>
                                <p:cTn id="41" presetID="22" presetClass="entr" presetSubtype="4" fill="hold" grpId="0" nodeType="after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wipe(down)">
                                      <p:cBhvr>
                                        <p:cTn id="43" dur="500"/>
                                        <p:tgtEl>
                                          <p:spTgt spid="41"/>
                                        </p:tgtEl>
                                      </p:cBhvr>
                                    </p:animEffect>
                                  </p:childTnLst>
                                </p:cTn>
                              </p:par>
                            </p:childTnLst>
                          </p:cTn>
                        </p:par>
                        <p:par>
                          <p:cTn id="44" fill="hold">
                            <p:stCondLst>
                              <p:cond delay="1500"/>
                            </p:stCondLst>
                            <p:childTnLst>
                              <p:par>
                                <p:cTn id="45" presetID="22" presetClass="entr" presetSubtype="4" fill="hold" grpId="0" nodeType="after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wipe(down)">
                                      <p:cBhvr>
                                        <p:cTn id="47" dur="500"/>
                                        <p:tgtEl>
                                          <p:spTgt spid="4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left)">
                                      <p:cBhvr>
                                        <p:cTn id="52" dur="500"/>
                                        <p:tgtEl>
                                          <p:spTgt spid="31"/>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wipe(left)">
                                      <p:cBhvr>
                                        <p:cTn id="56" dur="500"/>
                                        <p:tgtEl>
                                          <p:spTgt spid="3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wipe(left)">
                                      <p:cBhvr>
                                        <p:cTn id="61" dur="500"/>
                                        <p:tgtEl>
                                          <p:spTgt spid="3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wipe(left)">
                                      <p:cBhvr>
                                        <p:cTn id="66" dur="500"/>
                                        <p:tgtEl>
                                          <p:spTgt spid="17"/>
                                        </p:tgtEl>
                                      </p:cBhvr>
                                    </p:animEffect>
                                  </p:childTnLst>
                                </p:cTn>
                              </p:par>
                            </p:childTnLst>
                          </p:cTn>
                        </p:par>
                        <p:par>
                          <p:cTn id="67" fill="hold">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wipe(left)">
                                      <p:cBhvr>
                                        <p:cTn id="70" dur="500"/>
                                        <p:tgtEl>
                                          <p:spTgt spid="3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wipe(left)">
                                      <p:cBhvr>
                                        <p:cTn id="75" dur="500"/>
                                        <p:tgtEl>
                                          <p:spTgt spid="33"/>
                                        </p:tgtEl>
                                      </p:cBhvr>
                                    </p:animEffect>
                                  </p:childTnLst>
                                </p:cTn>
                              </p:par>
                            </p:childTnLst>
                          </p:cTn>
                        </p:par>
                        <p:par>
                          <p:cTn id="76" fill="hold">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35"/>
                                        </p:tgtEl>
                                        <p:attrNameLst>
                                          <p:attrName>style.visibility</p:attrName>
                                        </p:attrNameLst>
                                      </p:cBhvr>
                                      <p:to>
                                        <p:strVal val="visible"/>
                                      </p:to>
                                    </p:set>
                                    <p:animEffect transition="in" filter="wipe(left)">
                                      <p:cBhvr>
                                        <p:cTn id="79" dur="500"/>
                                        <p:tgtEl>
                                          <p:spTgt spid="35"/>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wipe(left)">
                                      <p:cBhvr>
                                        <p:cTn id="84" dur="500"/>
                                        <p:tgtEl>
                                          <p:spTgt spid="37"/>
                                        </p:tgtEl>
                                      </p:cBhvr>
                                    </p:animEffect>
                                  </p:childTnLst>
                                </p:cTn>
                              </p:par>
                            </p:childTnLst>
                          </p:cTn>
                        </p:par>
                        <p:par>
                          <p:cTn id="85" fill="hold">
                            <p:stCondLst>
                              <p:cond delay="500"/>
                            </p:stCondLst>
                            <p:childTnLst>
                              <p:par>
                                <p:cTn id="86" presetID="22" presetClass="entr" presetSubtype="8" fill="hold" grpId="0" nodeType="after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wipe(left)">
                                      <p:cBhvr>
                                        <p:cTn id="88" dur="500"/>
                                        <p:tgtEl>
                                          <p:spTgt spid="38"/>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
                                        </p:tgtEl>
                                        <p:attrNameLst>
                                          <p:attrName>style.visibility</p:attrName>
                                        </p:attrNameLst>
                                      </p:cBhvr>
                                      <p:to>
                                        <p:strVal val="visible"/>
                                      </p:to>
                                    </p:set>
                                    <p:animEffect transition="in" filter="wipe(left)">
                                      <p:cBhvr>
                                        <p:cTn id="9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30" grpId="0" animBg="1"/>
      <p:bldP spid="32" grpId="0" animBg="1"/>
      <p:bldP spid="34" grpId="0" animBg="1"/>
      <p:bldP spid="35" grpId="0" animBg="1"/>
      <p:bldP spid="36" grpId="0" animBg="1"/>
      <p:bldP spid="37" grpId="0" animBg="1"/>
      <p:bldP spid="38" grpId="0"/>
      <p:bldP spid="2" grpId="0" bldLvl="0" animBg="1"/>
      <p:bldP spid="2" grpId="1" animBg="1"/>
      <p:bldP spid="39" grpId="0"/>
      <p:bldP spid="39" grpId="1"/>
      <p:bldP spid="40" grpId="0"/>
      <p:bldP spid="40" grpId="1"/>
      <p:bldP spid="41" grpId="0"/>
      <p:bldP spid="41" grpId="1"/>
      <p:bldP spid="42" grpId="0"/>
      <p:bldP spid="42"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6.1 </a:t>
            </a:r>
            <a:r>
              <a:rPr kumimoji="0" lang="zh-CN" altLang="en-US" kern="1200" dirty="0" smtClean="0">
                <a:solidFill>
                  <a:schemeClr val="accent2"/>
                </a:solidFill>
                <a:sym typeface="+mn-ea"/>
              </a:rPr>
              <a:t>线性规划模型</a:t>
            </a:r>
            <a:endParaRPr kumimoji="0" lang="en-US" altLang="zh-CN" kern="1200" dirty="0" smtClean="0">
              <a:solidFill>
                <a:schemeClr val="accent2"/>
              </a:solidFill>
              <a:sym typeface="+mn-ea"/>
            </a:endParaRPr>
          </a:p>
        </p:txBody>
      </p:sp>
      <p:sp>
        <p:nvSpPr>
          <p:cNvPr id="6" name="Rectangle 3"/>
          <p:cNvSpPr>
            <a:spLocks noGrp="1"/>
          </p:cNvSpPr>
          <p:nvPr/>
        </p:nvSpPr>
        <p:spPr>
          <a:xfrm>
            <a:off x="5164827" y="418813"/>
            <a:ext cx="3538736" cy="1743000"/>
          </a:xfrm>
          <a:prstGeom prst="rect">
            <a:avLst/>
          </a:prstGeom>
          <a:solidFill>
            <a:schemeClr val="tx1"/>
          </a:solidFill>
          <a:ln w="9525">
            <a:noFill/>
          </a:ln>
        </p:spPr>
        <p:txBody>
          <a:bodyPr vert="horz" wrap="square" lIns="91440" tIns="45720" rIns="91440" bIns="45720" anchor="t"/>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defTabSz="762000" eaLnBrk="1" hangingPunct="1">
              <a:spcBef>
                <a:spcPct val="5000"/>
              </a:spcBef>
              <a:spcAft>
                <a:spcPct val="5000"/>
              </a:spcAft>
              <a:buNone/>
            </a:pPr>
            <a:r>
              <a:rPr lang="zh-CN"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dirty="0" smtClean="0">
                <a:solidFill>
                  <a:schemeClr val="bg1"/>
                </a:solidFill>
                <a:latin typeface="Times New Roman" panose="02020603050405020304" pitchFamily="18" charset="0"/>
                <a:cs typeface="Times New Roman" panose="02020603050405020304" pitchFamily="18" charset="0"/>
              </a:rPr>
              <a:t>max</a:t>
            </a:r>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i="1" dirty="0">
                <a:solidFill>
                  <a:schemeClr val="bg1"/>
                </a:solidFill>
                <a:latin typeface="Times New Roman" panose="02020603050405020304" pitchFamily="18" charset="0"/>
                <a:cs typeface="Times New Roman" panose="02020603050405020304" pitchFamily="18" charset="0"/>
              </a:rPr>
              <a:t>z </a:t>
            </a:r>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dirty="0" smtClean="0">
                <a:solidFill>
                  <a:schemeClr val="bg1"/>
                </a:solidFill>
                <a:latin typeface="Times New Roman" panose="02020603050405020304" pitchFamily="18" charset="0"/>
                <a:cs typeface="Times New Roman" panose="02020603050405020304" pitchFamily="18" charset="0"/>
              </a:rPr>
              <a:t>12</a:t>
            </a:r>
            <a:r>
              <a:rPr lang="en-US" altLang="zh-CN" sz="2000" b="1" i="1" dirty="0" smtClean="0">
                <a:solidFill>
                  <a:schemeClr val="bg1"/>
                </a:solidFill>
                <a:latin typeface="Times New Roman" panose="02020603050405020304" pitchFamily="18" charset="0"/>
                <a:cs typeface="Times New Roman" panose="02020603050405020304" pitchFamily="18" charset="0"/>
              </a:rPr>
              <a:t>x</a:t>
            </a:r>
            <a:r>
              <a:rPr lang="en-US" altLang="zh-CN" sz="2000" b="1" baseline="-25000" dirty="0" smtClean="0">
                <a:solidFill>
                  <a:schemeClr val="bg1"/>
                </a:solidFill>
                <a:latin typeface="Times New Roman" panose="02020603050405020304" pitchFamily="18" charset="0"/>
                <a:cs typeface="Times New Roman" panose="02020603050405020304" pitchFamily="18" charset="0"/>
              </a:rPr>
              <a:t>1  </a:t>
            </a:r>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dirty="0" smtClean="0">
                <a:solidFill>
                  <a:schemeClr val="bg1"/>
                </a:solidFill>
                <a:latin typeface="Times New Roman" panose="02020603050405020304" pitchFamily="18" charset="0"/>
                <a:cs typeface="Times New Roman" panose="02020603050405020304" pitchFamily="18" charset="0"/>
              </a:rPr>
              <a:t>15</a:t>
            </a:r>
            <a:r>
              <a:rPr lang="en-US" altLang="zh-CN" sz="2000" b="1" i="1" dirty="0" smtClean="0">
                <a:solidFill>
                  <a:schemeClr val="bg1"/>
                </a:solidFill>
                <a:latin typeface="Times New Roman" panose="02020603050405020304" pitchFamily="18" charset="0"/>
                <a:cs typeface="Times New Roman" panose="02020603050405020304" pitchFamily="18" charset="0"/>
              </a:rPr>
              <a:t>x</a:t>
            </a:r>
            <a:r>
              <a:rPr lang="en-US" altLang="zh-CN" sz="2000" b="1" baseline="-25000" dirty="0" smtClean="0">
                <a:solidFill>
                  <a:schemeClr val="bg1"/>
                </a:solidFill>
                <a:latin typeface="Times New Roman" panose="02020603050405020304" pitchFamily="18" charset="0"/>
                <a:cs typeface="Times New Roman" panose="02020603050405020304" pitchFamily="18" charset="0"/>
              </a:rPr>
              <a:t>2</a:t>
            </a:r>
            <a:endParaRPr lang="en-US" altLang="zh-CN" sz="2000" b="1" baseline="-25000" dirty="0">
              <a:solidFill>
                <a:schemeClr val="bg1"/>
              </a:solidFill>
              <a:latin typeface="Times New Roman" panose="02020603050405020304" pitchFamily="18" charset="0"/>
              <a:cs typeface="Times New Roman" panose="02020603050405020304" pitchFamily="18" charset="0"/>
            </a:endParaRPr>
          </a:p>
          <a:p>
            <a:pPr defTabSz="762000" eaLnBrk="1" hangingPunct="1">
              <a:spcBef>
                <a:spcPct val="5000"/>
              </a:spcBef>
              <a:spcAft>
                <a:spcPct val="5000"/>
              </a:spcAft>
              <a:buNone/>
            </a:pPr>
            <a:r>
              <a:rPr lang="en-US" altLang="zh-CN" sz="2000" b="1" baseline="-25000" dirty="0" smtClean="0">
                <a:solidFill>
                  <a:schemeClr val="bg1"/>
                </a:solidFill>
                <a:latin typeface="Times New Roman" panose="02020603050405020304" pitchFamily="18" charset="0"/>
                <a:cs typeface="Times New Roman" panose="02020603050405020304" pitchFamily="18" charset="0"/>
              </a:rPr>
              <a:t>    </a:t>
            </a:r>
            <a:r>
              <a:rPr lang="en-US" altLang="zh-CN" sz="2000" b="1" dirty="0" smtClean="0">
                <a:solidFill>
                  <a:schemeClr val="bg1"/>
                </a:solidFill>
                <a:latin typeface="Times New Roman" panose="02020603050405020304" pitchFamily="18" charset="0"/>
                <a:cs typeface="Times New Roman" panose="02020603050405020304" pitchFamily="18" charset="0"/>
              </a:rPr>
              <a:t>   </a:t>
            </a:r>
            <a:r>
              <a:rPr lang="en-US" altLang="zh-CN" sz="2000" b="1" i="1" dirty="0" smtClean="0">
                <a:solidFill>
                  <a:schemeClr val="bg1"/>
                </a:solidFill>
                <a:latin typeface="Times New Roman" panose="02020603050405020304" pitchFamily="18" charset="0"/>
                <a:cs typeface="Times New Roman" panose="02020603050405020304" pitchFamily="18" charset="0"/>
              </a:rPr>
              <a:t>s.t</a:t>
            </a:r>
            <a:r>
              <a:rPr lang="en-US" altLang="zh-CN" sz="2000" b="1" i="1" dirty="0">
                <a:solidFill>
                  <a:schemeClr val="bg1"/>
                </a:solidFill>
                <a:latin typeface="Times New Roman" panose="02020603050405020304" pitchFamily="18" charset="0"/>
                <a:cs typeface="Times New Roman" panose="02020603050405020304" pitchFamily="18" charset="0"/>
              </a:rPr>
              <a:t>.</a:t>
            </a:r>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dirty="0" smtClean="0">
                <a:solidFill>
                  <a:schemeClr val="bg1"/>
                </a:solidFill>
                <a:latin typeface="Times New Roman" panose="02020603050405020304" pitchFamily="18" charset="0"/>
                <a:cs typeface="Times New Roman" panose="02020603050405020304" pitchFamily="18" charset="0"/>
              </a:rPr>
              <a:t> 0.25</a:t>
            </a:r>
            <a:r>
              <a:rPr lang="en-US" altLang="zh-CN" sz="2000" b="1" i="1" dirty="0" smtClean="0">
                <a:solidFill>
                  <a:schemeClr val="bg1"/>
                </a:solidFill>
                <a:latin typeface="Times New Roman" panose="02020603050405020304" pitchFamily="18" charset="0"/>
                <a:cs typeface="Times New Roman" panose="02020603050405020304" pitchFamily="18" charset="0"/>
              </a:rPr>
              <a:t>x</a:t>
            </a:r>
            <a:r>
              <a:rPr lang="en-US" altLang="zh-CN" sz="2000" b="1" baseline="-25000" dirty="0" smtClean="0">
                <a:solidFill>
                  <a:schemeClr val="bg1"/>
                </a:solidFill>
                <a:latin typeface="Times New Roman" panose="02020603050405020304" pitchFamily="18" charset="0"/>
                <a:cs typeface="Times New Roman" panose="02020603050405020304" pitchFamily="18" charset="0"/>
              </a:rPr>
              <a:t>1  </a:t>
            </a:r>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dirty="0" smtClean="0">
                <a:solidFill>
                  <a:schemeClr val="bg1"/>
                </a:solidFill>
                <a:latin typeface="Times New Roman" panose="02020603050405020304" pitchFamily="18" charset="0"/>
                <a:cs typeface="Times New Roman" panose="02020603050405020304" pitchFamily="18" charset="0"/>
              </a:rPr>
              <a:t>0.50</a:t>
            </a:r>
            <a:r>
              <a:rPr lang="en-US" altLang="zh-CN" sz="2000" b="1" i="1" dirty="0" smtClean="0">
                <a:solidFill>
                  <a:schemeClr val="bg1"/>
                </a:solidFill>
                <a:latin typeface="Times New Roman" panose="02020603050405020304" pitchFamily="18" charset="0"/>
                <a:cs typeface="Times New Roman" panose="02020603050405020304" pitchFamily="18" charset="0"/>
              </a:rPr>
              <a:t>x</a:t>
            </a:r>
            <a:r>
              <a:rPr lang="en-US" altLang="zh-CN" sz="2000" b="1" baseline="-25000" dirty="0" smtClean="0">
                <a:solidFill>
                  <a:schemeClr val="bg1"/>
                </a:solidFill>
                <a:latin typeface="Times New Roman" panose="02020603050405020304" pitchFamily="18" charset="0"/>
                <a:cs typeface="Times New Roman" panose="02020603050405020304" pitchFamily="18" charset="0"/>
              </a:rPr>
              <a:t>2</a:t>
            </a:r>
            <a:r>
              <a:rPr lang="en-US" altLang="zh-CN" sz="2000" b="1" dirty="0" smtClean="0">
                <a:solidFill>
                  <a:schemeClr val="bg1"/>
                </a:solidFill>
                <a:latin typeface="Times New Roman" panose="02020603050405020304" pitchFamily="18" charset="0"/>
                <a:cs typeface="Times New Roman" panose="02020603050405020304" pitchFamily="18" charset="0"/>
              </a:rPr>
              <a:t> </a:t>
            </a:r>
            <a:r>
              <a:rPr lang="en-US" altLang="zh-CN" sz="2000" b="1"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dirty="0" smtClean="0">
                <a:solidFill>
                  <a:schemeClr val="bg1"/>
                </a:solidFill>
                <a:latin typeface="Times New Roman" panose="02020603050405020304" pitchFamily="18" charset="0"/>
                <a:cs typeface="Times New Roman" panose="02020603050405020304" pitchFamily="18" charset="0"/>
              </a:rPr>
              <a:t>120</a:t>
            </a:r>
            <a:endParaRPr lang="en-US" altLang="zh-CN" sz="2000" b="1" dirty="0">
              <a:solidFill>
                <a:schemeClr val="bg1"/>
              </a:solidFill>
              <a:latin typeface="Times New Roman" panose="02020603050405020304" pitchFamily="18" charset="0"/>
              <a:cs typeface="Times New Roman" panose="02020603050405020304" pitchFamily="18" charset="0"/>
            </a:endParaRPr>
          </a:p>
          <a:p>
            <a:pPr lvl="1" defTabSz="762000" eaLnBrk="1" hangingPunct="1">
              <a:spcBef>
                <a:spcPct val="5000"/>
              </a:spcBef>
              <a:spcAft>
                <a:spcPct val="5000"/>
              </a:spcAft>
              <a:buNone/>
            </a:pPr>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dirty="0" smtClean="0">
                <a:solidFill>
                  <a:schemeClr val="bg1"/>
                </a:solidFill>
                <a:latin typeface="Times New Roman" panose="02020603050405020304" pitchFamily="18" charset="0"/>
                <a:cs typeface="Times New Roman" panose="02020603050405020304" pitchFamily="18" charset="0"/>
              </a:rPr>
              <a:t>0.50</a:t>
            </a:r>
            <a:r>
              <a:rPr lang="en-US" altLang="zh-CN" sz="2000" b="1" i="1" dirty="0" smtClean="0">
                <a:solidFill>
                  <a:schemeClr val="bg1"/>
                </a:solidFill>
                <a:latin typeface="Times New Roman" panose="02020603050405020304" pitchFamily="18" charset="0"/>
                <a:cs typeface="Times New Roman" panose="02020603050405020304" pitchFamily="18" charset="0"/>
              </a:rPr>
              <a:t>x</a:t>
            </a:r>
            <a:r>
              <a:rPr lang="en-US" altLang="zh-CN" sz="2000" b="1" baseline="-25000" dirty="0" smtClean="0">
                <a:solidFill>
                  <a:schemeClr val="bg1"/>
                </a:solidFill>
                <a:latin typeface="Times New Roman" panose="02020603050405020304" pitchFamily="18" charset="0"/>
                <a:cs typeface="Times New Roman" panose="02020603050405020304" pitchFamily="18" charset="0"/>
              </a:rPr>
              <a:t>1 </a:t>
            </a:r>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dirty="0" smtClean="0">
                <a:solidFill>
                  <a:schemeClr val="bg1"/>
                </a:solidFill>
                <a:latin typeface="Times New Roman" panose="02020603050405020304" pitchFamily="18" charset="0"/>
                <a:cs typeface="Times New Roman" panose="02020603050405020304" pitchFamily="18" charset="0"/>
              </a:rPr>
              <a:t>0.50</a:t>
            </a:r>
            <a:r>
              <a:rPr lang="en-US" altLang="zh-CN" sz="2000" b="1" i="1" dirty="0" smtClean="0">
                <a:solidFill>
                  <a:schemeClr val="bg1"/>
                </a:solidFill>
                <a:latin typeface="Times New Roman" panose="02020603050405020304" pitchFamily="18" charset="0"/>
                <a:cs typeface="Times New Roman" panose="02020603050405020304" pitchFamily="18" charset="0"/>
              </a:rPr>
              <a:t>x</a:t>
            </a:r>
            <a:r>
              <a:rPr lang="en-US" altLang="zh-CN" sz="2000" b="1" baseline="-25000" dirty="0" smtClean="0">
                <a:solidFill>
                  <a:schemeClr val="bg1"/>
                </a:solidFill>
                <a:latin typeface="Times New Roman" panose="02020603050405020304" pitchFamily="18" charset="0"/>
                <a:cs typeface="Times New Roman" panose="02020603050405020304" pitchFamily="18" charset="0"/>
              </a:rPr>
              <a:t>2</a:t>
            </a:r>
            <a:r>
              <a:rPr lang="en-US" altLang="zh-CN" sz="2000" b="1" dirty="0" smtClean="0">
                <a:solidFill>
                  <a:schemeClr val="bg1"/>
                </a:solidFill>
                <a:latin typeface="Times New Roman" panose="02020603050405020304" pitchFamily="18" charset="0"/>
                <a:cs typeface="Times New Roman" panose="02020603050405020304" pitchFamily="18" charset="0"/>
              </a:rPr>
              <a:t> </a:t>
            </a:r>
            <a:r>
              <a:rPr lang="en-US" altLang="zh-CN" sz="2000" b="1"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dirty="0" smtClean="0">
                <a:solidFill>
                  <a:schemeClr val="bg1"/>
                </a:solidFill>
                <a:latin typeface="Times New Roman" panose="02020603050405020304" pitchFamily="18" charset="0"/>
                <a:cs typeface="Times New Roman" panose="02020603050405020304" pitchFamily="18" charset="0"/>
              </a:rPr>
              <a:t>150</a:t>
            </a:r>
          </a:p>
          <a:p>
            <a:pPr lvl="1" defTabSz="762000" eaLnBrk="1" hangingPunct="1">
              <a:spcBef>
                <a:spcPct val="5000"/>
              </a:spcBef>
              <a:spcAft>
                <a:spcPct val="5000"/>
              </a:spcAft>
              <a:buNone/>
            </a:pPr>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000" b="1" dirty="0" smtClean="0">
                <a:solidFill>
                  <a:schemeClr val="bg1"/>
                </a:solidFill>
                <a:latin typeface="Times New Roman" panose="02020603050405020304" pitchFamily="18" charset="0"/>
                <a:cs typeface="Times New Roman" panose="02020603050405020304" pitchFamily="18" charset="0"/>
              </a:rPr>
              <a:t>      0.25</a:t>
            </a:r>
            <a:r>
              <a:rPr lang="en-US" altLang="zh-CN" sz="2000" b="1" i="1" dirty="0" smtClean="0">
                <a:solidFill>
                  <a:schemeClr val="bg1"/>
                </a:solidFill>
                <a:latin typeface="Times New Roman" panose="02020603050405020304" pitchFamily="18" charset="0"/>
                <a:cs typeface="Times New Roman" panose="02020603050405020304" pitchFamily="18" charset="0"/>
              </a:rPr>
              <a:t>x</a:t>
            </a:r>
            <a:r>
              <a:rPr lang="en-US" altLang="zh-CN" sz="2000" b="1" baseline="-25000" dirty="0" smtClean="0">
                <a:solidFill>
                  <a:schemeClr val="bg1"/>
                </a:solidFill>
                <a:latin typeface="Times New Roman" panose="02020603050405020304" pitchFamily="18" charset="0"/>
                <a:cs typeface="Times New Roman" panose="02020603050405020304" pitchFamily="18" charset="0"/>
              </a:rPr>
              <a:t>1                        </a:t>
            </a:r>
            <a:r>
              <a:rPr lang="en-US" altLang="zh-CN" sz="2000" b="1" dirty="0" smtClean="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smtClean="0">
                <a:solidFill>
                  <a:schemeClr val="bg1"/>
                </a:solidFill>
                <a:latin typeface="Times New Roman" panose="02020603050405020304" pitchFamily="18" charset="0"/>
                <a:cs typeface="Times New Roman" panose="02020603050405020304" pitchFamily="18" charset="0"/>
              </a:rPr>
              <a:t> 50</a:t>
            </a:r>
            <a:endParaRPr lang="en-US" altLang="zh-CN" sz="2000" b="1" dirty="0">
              <a:solidFill>
                <a:schemeClr val="bg1"/>
              </a:solidFill>
              <a:latin typeface="Times New Roman" panose="02020603050405020304" pitchFamily="18" charset="0"/>
              <a:cs typeface="Times New Roman" panose="02020603050405020304" pitchFamily="18" charset="0"/>
            </a:endParaRPr>
          </a:p>
          <a:p>
            <a:pPr lvl="1" defTabSz="762000" eaLnBrk="1" hangingPunct="1">
              <a:spcBef>
                <a:spcPct val="5000"/>
              </a:spcBef>
              <a:spcAft>
                <a:spcPct val="5000"/>
              </a:spcAft>
              <a:buNone/>
            </a:pPr>
            <a:r>
              <a:rPr lang="en-US" altLang="zh-CN" sz="2000" b="1" i="1" dirty="0">
                <a:solidFill>
                  <a:schemeClr val="bg1"/>
                </a:solidFill>
                <a:latin typeface="Times New Roman" panose="02020603050405020304" pitchFamily="18" charset="0"/>
                <a:cs typeface="Times New Roman" panose="02020603050405020304" pitchFamily="18" charset="0"/>
              </a:rPr>
              <a:t>              </a:t>
            </a:r>
            <a:r>
              <a:rPr lang="en-US" altLang="zh-CN" sz="2000" b="1" i="1" dirty="0" smtClean="0">
                <a:solidFill>
                  <a:schemeClr val="bg1"/>
                </a:solidFill>
                <a:latin typeface="Times New Roman" panose="02020603050405020304" pitchFamily="18" charset="0"/>
                <a:cs typeface="Times New Roman" panose="02020603050405020304" pitchFamily="18" charset="0"/>
              </a:rPr>
              <a:t>x</a:t>
            </a:r>
            <a:r>
              <a:rPr lang="en-US" altLang="zh-CN" sz="2000" b="1" baseline="-25000" dirty="0" smtClean="0">
                <a:solidFill>
                  <a:schemeClr val="bg1"/>
                </a:solidFill>
                <a:latin typeface="Times New Roman" panose="02020603050405020304" pitchFamily="18" charset="0"/>
                <a:cs typeface="Times New Roman" panose="02020603050405020304" pitchFamily="18" charset="0"/>
              </a:rPr>
              <a:t>1 </a:t>
            </a:r>
            <a:r>
              <a:rPr lang="en-US" altLang="zh-CN" sz="2000" b="1"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solidFill>
                  <a:schemeClr val="bg1"/>
                </a:solidFill>
                <a:latin typeface="Times New Roman" panose="02020603050405020304" pitchFamily="18" charset="0"/>
                <a:cs typeface="Times New Roman" panose="02020603050405020304" pitchFamily="18" charset="0"/>
              </a:rPr>
              <a:t>0，</a:t>
            </a:r>
            <a:r>
              <a:rPr lang="en-US" altLang="zh-CN" sz="2000" b="1" i="1" dirty="0">
                <a:solidFill>
                  <a:schemeClr val="bg1"/>
                </a:solidFill>
                <a:latin typeface="Times New Roman" panose="02020603050405020304" pitchFamily="18" charset="0"/>
                <a:cs typeface="Times New Roman" panose="02020603050405020304" pitchFamily="18" charset="0"/>
              </a:rPr>
              <a:t>x</a:t>
            </a:r>
            <a:r>
              <a:rPr lang="en-US" altLang="zh-CN" sz="2000" b="1" baseline="-25000" dirty="0">
                <a:solidFill>
                  <a:schemeClr val="bg1"/>
                </a:solidFill>
                <a:latin typeface="Times New Roman" panose="02020603050405020304" pitchFamily="18" charset="0"/>
                <a:cs typeface="Times New Roman" panose="02020603050405020304" pitchFamily="18" charset="0"/>
              </a:rPr>
              <a:t>2 </a:t>
            </a:r>
            <a:r>
              <a:rPr lang="en-US" altLang="zh-CN" sz="2000" b="1"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solidFill>
                  <a:schemeClr val="bg1"/>
                </a:solidFill>
                <a:latin typeface="Times New Roman" panose="02020603050405020304" pitchFamily="18" charset="0"/>
                <a:cs typeface="Times New Roman" panose="02020603050405020304" pitchFamily="18" charset="0"/>
              </a:rPr>
              <a:t>0</a:t>
            </a:r>
          </a:p>
        </p:txBody>
      </p:sp>
      <p:sp>
        <p:nvSpPr>
          <p:cNvPr id="3" name="矩形 2"/>
          <p:cNvSpPr/>
          <p:nvPr/>
        </p:nvSpPr>
        <p:spPr>
          <a:xfrm>
            <a:off x="537602" y="1556792"/>
            <a:ext cx="4378122" cy="461665"/>
          </a:xfrm>
          <a:prstGeom prst="rect">
            <a:avLst/>
          </a:prstGeom>
        </p:spPr>
        <p:txBody>
          <a:bodyPr wrap="none">
            <a:spAutoFit/>
          </a:bodyPr>
          <a:lstStyle/>
          <a:p>
            <a:pPr marL="342900" indent="-342900">
              <a:buFont typeface="Arial" panose="020B0604020202020204" pitchFamily="34" charset="0"/>
              <a:buChar char="•"/>
            </a:pPr>
            <a:r>
              <a:rPr lang="zh-CN" altLang="zh-CN" dirty="0">
                <a:solidFill>
                  <a:schemeClr val="bg1"/>
                </a:solidFill>
                <a:latin typeface="宋体" panose="02010600030101010101" pitchFamily="2" charset="-122"/>
              </a:rPr>
              <a:t>用图解法求解生产计划</a:t>
            </a:r>
            <a:r>
              <a:rPr lang="zh-CN" altLang="zh-CN" dirty="0" smtClean="0">
                <a:solidFill>
                  <a:schemeClr val="bg1"/>
                </a:solidFill>
                <a:latin typeface="宋体" panose="02010600030101010101" pitchFamily="2" charset="-122"/>
              </a:rPr>
              <a:t>问题</a:t>
            </a:r>
            <a:r>
              <a:rPr lang="en-US" altLang="zh-CN" dirty="0" smtClean="0">
                <a:solidFill>
                  <a:schemeClr val="bg1"/>
                </a:solidFill>
                <a:latin typeface="宋体" panose="02010600030101010101" pitchFamily="2" charset="-122"/>
              </a:rPr>
              <a:t>2</a:t>
            </a:r>
            <a:endParaRPr lang="zh-CN" altLang="en-US" dirty="0">
              <a:solidFill>
                <a:schemeClr val="bg1"/>
              </a:solidFill>
            </a:endParaRPr>
          </a:p>
        </p:txBody>
      </p:sp>
      <p:sp>
        <p:nvSpPr>
          <p:cNvPr id="67" name="任意多边形 66"/>
          <p:cNvSpPr/>
          <p:nvPr/>
        </p:nvSpPr>
        <p:spPr>
          <a:xfrm>
            <a:off x="1089822" y="3637671"/>
            <a:ext cx="1182579" cy="1851373"/>
          </a:xfrm>
          <a:custGeom>
            <a:avLst/>
            <a:gdLst>
              <a:gd name="connsiteX0" fmla="*/ 14748 w 1224116"/>
              <a:gd name="connsiteY0" fmla="*/ 0 h 1517611"/>
              <a:gd name="connsiteX1" fmla="*/ 29497 w 1224116"/>
              <a:gd name="connsiteY1" fmla="*/ 44245 h 1517611"/>
              <a:gd name="connsiteX2" fmla="*/ 58993 w 1224116"/>
              <a:gd name="connsiteY2" fmla="*/ 648929 h 1517611"/>
              <a:gd name="connsiteX3" fmla="*/ 44245 w 1224116"/>
              <a:gd name="connsiteY3" fmla="*/ 1047135 h 1517611"/>
              <a:gd name="connsiteX4" fmla="*/ 29497 w 1224116"/>
              <a:gd name="connsiteY4" fmla="*/ 1091380 h 1517611"/>
              <a:gd name="connsiteX5" fmla="*/ 44245 w 1224116"/>
              <a:gd name="connsiteY5" fmla="*/ 1460090 h 1517611"/>
              <a:gd name="connsiteX6" fmla="*/ 58993 w 1224116"/>
              <a:gd name="connsiteY6" fmla="*/ 1474838 h 1517611"/>
              <a:gd name="connsiteX7" fmla="*/ 339213 w 1224116"/>
              <a:gd name="connsiteY7" fmla="*/ 1474838 h 1517611"/>
              <a:gd name="connsiteX8" fmla="*/ 811161 w 1224116"/>
              <a:gd name="connsiteY8" fmla="*/ 1489587 h 1517611"/>
              <a:gd name="connsiteX9" fmla="*/ 1002890 w 1224116"/>
              <a:gd name="connsiteY9" fmla="*/ 1474838 h 1517611"/>
              <a:gd name="connsiteX10" fmla="*/ 1047135 w 1224116"/>
              <a:gd name="connsiteY10" fmla="*/ 1460090 h 1517611"/>
              <a:gd name="connsiteX11" fmla="*/ 1224116 w 1224116"/>
              <a:gd name="connsiteY11" fmla="*/ 1445342 h 1517611"/>
              <a:gd name="connsiteX12" fmla="*/ 1209368 w 1224116"/>
              <a:gd name="connsiteY12" fmla="*/ 1356851 h 1517611"/>
              <a:gd name="connsiteX13" fmla="*/ 1179871 w 1224116"/>
              <a:gd name="connsiteY13" fmla="*/ 1312606 h 1517611"/>
              <a:gd name="connsiteX14" fmla="*/ 1150374 w 1224116"/>
              <a:gd name="connsiteY14" fmla="*/ 1209367 h 1517611"/>
              <a:gd name="connsiteX15" fmla="*/ 1135626 w 1224116"/>
              <a:gd name="connsiteY15" fmla="*/ 899651 h 1517611"/>
              <a:gd name="connsiteX16" fmla="*/ 1061884 w 1224116"/>
              <a:gd name="connsiteY16" fmla="*/ 811161 h 1517611"/>
              <a:gd name="connsiteX17" fmla="*/ 988142 w 1224116"/>
              <a:gd name="connsiteY17" fmla="*/ 737419 h 1517611"/>
              <a:gd name="connsiteX18" fmla="*/ 914400 w 1224116"/>
              <a:gd name="connsiteY18" fmla="*/ 678426 h 1517611"/>
              <a:gd name="connsiteX19" fmla="*/ 884903 w 1224116"/>
              <a:gd name="connsiteY19" fmla="*/ 634180 h 1517611"/>
              <a:gd name="connsiteX20" fmla="*/ 840658 w 1224116"/>
              <a:gd name="connsiteY20" fmla="*/ 545690 h 1517611"/>
              <a:gd name="connsiteX21" fmla="*/ 796413 w 1224116"/>
              <a:gd name="connsiteY21" fmla="*/ 516193 h 1517611"/>
              <a:gd name="connsiteX22" fmla="*/ 766916 w 1224116"/>
              <a:gd name="connsiteY22" fmla="*/ 427703 h 1517611"/>
              <a:gd name="connsiteX23" fmla="*/ 722671 w 1224116"/>
              <a:gd name="connsiteY23" fmla="*/ 383458 h 1517611"/>
              <a:gd name="connsiteX24" fmla="*/ 707922 w 1224116"/>
              <a:gd name="connsiteY24" fmla="*/ 339213 h 1517611"/>
              <a:gd name="connsiteX25" fmla="*/ 619432 w 1224116"/>
              <a:gd name="connsiteY25" fmla="*/ 309716 h 1517611"/>
              <a:gd name="connsiteX26" fmla="*/ 575187 w 1224116"/>
              <a:gd name="connsiteY26" fmla="*/ 280219 h 1517611"/>
              <a:gd name="connsiteX27" fmla="*/ 471948 w 1224116"/>
              <a:gd name="connsiteY27" fmla="*/ 250722 h 1517611"/>
              <a:gd name="connsiteX28" fmla="*/ 427703 w 1224116"/>
              <a:gd name="connsiteY28" fmla="*/ 235974 h 1517611"/>
              <a:gd name="connsiteX29" fmla="*/ 368709 w 1224116"/>
              <a:gd name="connsiteY29" fmla="*/ 221226 h 1517611"/>
              <a:gd name="connsiteX30" fmla="*/ 280219 w 1224116"/>
              <a:gd name="connsiteY30" fmla="*/ 176980 h 1517611"/>
              <a:gd name="connsiteX31" fmla="*/ 235974 w 1224116"/>
              <a:gd name="connsiteY31" fmla="*/ 162232 h 1517611"/>
              <a:gd name="connsiteX32" fmla="*/ 191729 w 1224116"/>
              <a:gd name="connsiteY32" fmla="*/ 132735 h 1517611"/>
              <a:gd name="connsiteX33" fmla="*/ 147484 w 1224116"/>
              <a:gd name="connsiteY33" fmla="*/ 117987 h 1517611"/>
              <a:gd name="connsiteX34" fmla="*/ 117987 w 1224116"/>
              <a:gd name="connsiteY34" fmla="*/ 73742 h 1517611"/>
              <a:gd name="connsiteX35" fmla="*/ 0 w 1224116"/>
              <a:gd name="connsiteY35" fmla="*/ 58993 h 1517611"/>
              <a:gd name="connsiteX36" fmla="*/ 29497 w 1224116"/>
              <a:gd name="connsiteY36" fmla="*/ 58993 h 1517611"/>
              <a:gd name="connsiteX37" fmla="*/ 73742 w 1224116"/>
              <a:gd name="connsiteY37" fmla="*/ 58993 h 1517611"/>
              <a:gd name="connsiteX38" fmla="*/ 73742 w 1224116"/>
              <a:gd name="connsiteY38" fmla="*/ 58993 h 1517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224116" h="1517611">
                <a:moveTo>
                  <a:pt x="14748" y="0"/>
                </a:moveTo>
                <a:cubicBezTo>
                  <a:pt x="19664" y="14748"/>
                  <a:pt x="25226" y="29297"/>
                  <a:pt x="29497" y="44245"/>
                </a:cubicBezTo>
                <a:cubicBezTo>
                  <a:pt x="87498" y="247245"/>
                  <a:pt x="51588" y="374944"/>
                  <a:pt x="58993" y="648929"/>
                </a:cubicBezTo>
                <a:cubicBezTo>
                  <a:pt x="54077" y="781664"/>
                  <a:pt x="53080" y="914603"/>
                  <a:pt x="44245" y="1047135"/>
                </a:cubicBezTo>
                <a:cubicBezTo>
                  <a:pt x="43211" y="1062647"/>
                  <a:pt x="29497" y="1075834"/>
                  <a:pt x="29497" y="1091380"/>
                </a:cubicBezTo>
                <a:cubicBezTo>
                  <a:pt x="29497" y="1214382"/>
                  <a:pt x="34811" y="1337451"/>
                  <a:pt x="44245" y="1460090"/>
                </a:cubicBezTo>
                <a:cubicBezTo>
                  <a:pt x="44778" y="1467022"/>
                  <a:pt x="54077" y="1469922"/>
                  <a:pt x="58993" y="1474838"/>
                </a:cubicBezTo>
                <a:cubicBezTo>
                  <a:pt x="187308" y="1517611"/>
                  <a:pt x="40567" y="1474838"/>
                  <a:pt x="339213" y="1474838"/>
                </a:cubicBezTo>
                <a:cubicBezTo>
                  <a:pt x="496606" y="1474838"/>
                  <a:pt x="653845" y="1484671"/>
                  <a:pt x="811161" y="1489587"/>
                </a:cubicBezTo>
                <a:cubicBezTo>
                  <a:pt x="875071" y="1484671"/>
                  <a:pt x="939286" y="1482789"/>
                  <a:pt x="1002890" y="1474838"/>
                </a:cubicBezTo>
                <a:cubicBezTo>
                  <a:pt x="1018316" y="1472910"/>
                  <a:pt x="1031725" y="1462145"/>
                  <a:pt x="1047135" y="1460090"/>
                </a:cubicBezTo>
                <a:cubicBezTo>
                  <a:pt x="1105814" y="1452266"/>
                  <a:pt x="1165122" y="1450258"/>
                  <a:pt x="1224116" y="1445342"/>
                </a:cubicBezTo>
                <a:cubicBezTo>
                  <a:pt x="1219200" y="1415845"/>
                  <a:pt x="1218824" y="1385220"/>
                  <a:pt x="1209368" y="1356851"/>
                </a:cubicBezTo>
                <a:cubicBezTo>
                  <a:pt x="1203763" y="1340035"/>
                  <a:pt x="1187798" y="1328460"/>
                  <a:pt x="1179871" y="1312606"/>
                </a:cubicBezTo>
                <a:cubicBezTo>
                  <a:pt x="1169290" y="1291444"/>
                  <a:pt x="1155101" y="1228275"/>
                  <a:pt x="1150374" y="1209367"/>
                </a:cubicBezTo>
                <a:cubicBezTo>
                  <a:pt x="1134808" y="929171"/>
                  <a:pt x="1135626" y="1032523"/>
                  <a:pt x="1135626" y="899651"/>
                </a:cubicBezTo>
                <a:cubicBezTo>
                  <a:pt x="1062390" y="789799"/>
                  <a:pt x="1156516" y="924718"/>
                  <a:pt x="1061884" y="811161"/>
                </a:cubicBezTo>
                <a:cubicBezTo>
                  <a:pt x="1000432" y="737419"/>
                  <a:pt x="1069258" y="791497"/>
                  <a:pt x="988142" y="737419"/>
                </a:cubicBezTo>
                <a:cubicBezTo>
                  <a:pt x="903605" y="610615"/>
                  <a:pt x="1016170" y="759843"/>
                  <a:pt x="914400" y="678426"/>
                </a:cubicBezTo>
                <a:cubicBezTo>
                  <a:pt x="900559" y="667353"/>
                  <a:pt x="894735" y="648929"/>
                  <a:pt x="884903" y="634180"/>
                </a:cubicBezTo>
                <a:cubicBezTo>
                  <a:pt x="872908" y="598193"/>
                  <a:pt x="869249" y="574281"/>
                  <a:pt x="840658" y="545690"/>
                </a:cubicBezTo>
                <a:cubicBezTo>
                  <a:pt x="828124" y="533156"/>
                  <a:pt x="811161" y="526025"/>
                  <a:pt x="796413" y="516193"/>
                </a:cubicBezTo>
                <a:lnTo>
                  <a:pt x="766916" y="427703"/>
                </a:lnTo>
                <a:cubicBezTo>
                  <a:pt x="760320" y="407916"/>
                  <a:pt x="722671" y="383458"/>
                  <a:pt x="722671" y="383458"/>
                </a:cubicBezTo>
                <a:cubicBezTo>
                  <a:pt x="717755" y="368710"/>
                  <a:pt x="720572" y="348249"/>
                  <a:pt x="707922" y="339213"/>
                </a:cubicBezTo>
                <a:cubicBezTo>
                  <a:pt x="682621" y="321141"/>
                  <a:pt x="619432" y="309716"/>
                  <a:pt x="619432" y="309716"/>
                </a:cubicBezTo>
                <a:cubicBezTo>
                  <a:pt x="604684" y="299884"/>
                  <a:pt x="591041" y="288146"/>
                  <a:pt x="575187" y="280219"/>
                </a:cubicBezTo>
                <a:cubicBezTo>
                  <a:pt x="551617" y="268434"/>
                  <a:pt x="493994" y="257021"/>
                  <a:pt x="471948" y="250722"/>
                </a:cubicBezTo>
                <a:cubicBezTo>
                  <a:pt x="457000" y="246451"/>
                  <a:pt x="442651" y="240245"/>
                  <a:pt x="427703" y="235974"/>
                </a:cubicBezTo>
                <a:cubicBezTo>
                  <a:pt x="408213" y="230406"/>
                  <a:pt x="388199" y="226795"/>
                  <a:pt x="368709" y="221226"/>
                </a:cubicBezTo>
                <a:cubicBezTo>
                  <a:pt x="282213" y="196513"/>
                  <a:pt x="366399" y="220070"/>
                  <a:pt x="280219" y="176980"/>
                </a:cubicBezTo>
                <a:cubicBezTo>
                  <a:pt x="266314" y="170028"/>
                  <a:pt x="250722" y="167148"/>
                  <a:pt x="235974" y="162232"/>
                </a:cubicBezTo>
                <a:cubicBezTo>
                  <a:pt x="221226" y="152400"/>
                  <a:pt x="207583" y="140662"/>
                  <a:pt x="191729" y="132735"/>
                </a:cubicBezTo>
                <a:cubicBezTo>
                  <a:pt x="177824" y="125783"/>
                  <a:pt x="159623" y="127698"/>
                  <a:pt x="147484" y="117987"/>
                </a:cubicBezTo>
                <a:cubicBezTo>
                  <a:pt x="133643" y="106914"/>
                  <a:pt x="131828" y="84815"/>
                  <a:pt x="117987" y="73742"/>
                </a:cubicBezTo>
                <a:cubicBezTo>
                  <a:pt x="89834" y="51220"/>
                  <a:pt x="26973" y="58993"/>
                  <a:pt x="0" y="58993"/>
                </a:cubicBezTo>
                <a:lnTo>
                  <a:pt x="29497" y="58993"/>
                </a:lnTo>
                <a:lnTo>
                  <a:pt x="73742" y="58993"/>
                </a:lnTo>
                <a:lnTo>
                  <a:pt x="73742" y="58993"/>
                </a:lnTo>
              </a:path>
            </a:pathLst>
          </a:custGeom>
          <a:solidFill>
            <a:srgbClr val="FFFF00"/>
          </a:solidFill>
          <a:ln>
            <a:solidFill>
              <a:srgbClr val="FFFF00"/>
            </a:solidFill>
          </a:ln>
        </p:spPr>
        <p:style>
          <a:lnRef idx="1">
            <a:schemeClr val="accent1"/>
          </a:lnRef>
          <a:fillRef idx="0">
            <a:schemeClr val="accent1"/>
          </a:fillRef>
          <a:effectRef idx="0">
            <a:schemeClr val="accent1"/>
          </a:effectRef>
          <a:fontRef idx="minor">
            <a:schemeClr val="tx1"/>
          </a:fontRef>
        </p:style>
        <p:txBody>
          <a:bodyPr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69" name="Text Box 7"/>
          <p:cNvSpPr txBox="1"/>
          <p:nvPr/>
        </p:nvSpPr>
        <p:spPr>
          <a:xfrm>
            <a:off x="2931510" y="4516423"/>
            <a:ext cx="2305263" cy="45583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000" b="1" dirty="0" smtClean="0">
                <a:solidFill>
                  <a:schemeClr val="bg1"/>
                </a:solidFill>
                <a:latin typeface="Times New Roman" panose="02020603050405020304" pitchFamily="18" charset="0"/>
              </a:rPr>
              <a:t>0.25</a:t>
            </a:r>
            <a:r>
              <a:rPr lang="en-US" altLang="zh-CN" sz="2000" b="1" i="1" dirty="0" smtClean="0">
                <a:solidFill>
                  <a:schemeClr val="bg1"/>
                </a:solidFill>
                <a:latin typeface="Times New Roman" panose="02020603050405020304" pitchFamily="18" charset="0"/>
              </a:rPr>
              <a:t>x</a:t>
            </a:r>
            <a:r>
              <a:rPr lang="en-US" altLang="zh-CN" sz="2000" b="1" dirty="0" smtClean="0">
                <a:solidFill>
                  <a:schemeClr val="bg1"/>
                </a:solidFill>
                <a:latin typeface="Times New Roman" panose="02020603050405020304" pitchFamily="18" charset="0"/>
              </a:rPr>
              <a:t>+0.5</a:t>
            </a:r>
            <a:r>
              <a:rPr lang="en-US" altLang="zh-CN" sz="2000" b="1" i="1" dirty="0" smtClean="0">
                <a:solidFill>
                  <a:schemeClr val="bg1"/>
                </a:solidFill>
                <a:latin typeface="Times New Roman" panose="02020603050405020304" pitchFamily="18" charset="0"/>
              </a:rPr>
              <a:t>y</a:t>
            </a:r>
            <a:r>
              <a:rPr lang="en-US" altLang="zh-CN" sz="2000" b="1" dirty="0">
                <a:solidFill>
                  <a:schemeClr val="bg1"/>
                </a:solidFill>
                <a:latin typeface="Times New Roman" panose="02020603050405020304" pitchFamily="18" charset="0"/>
              </a:rPr>
              <a:t> ≤ 120</a:t>
            </a:r>
            <a:endParaRPr lang="zh-CN" altLang="zh-CN" sz="2000" b="1" dirty="0">
              <a:solidFill>
                <a:schemeClr val="bg1"/>
              </a:solidFill>
              <a:latin typeface="Arial" panose="020B0604020202020204" pitchFamily="34" charset="0"/>
            </a:endParaRPr>
          </a:p>
        </p:txBody>
      </p:sp>
      <p:sp>
        <p:nvSpPr>
          <p:cNvPr id="70" name="Text Box 8"/>
          <p:cNvSpPr txBox="1"/>
          <p:nvPr/>
        </p:nvSpPr>
        <p:spPr>
          <a:xfrm>
            <a:off x="1238608" y="3124467"/>
            <a:ext cx="1872694" cy="445863"/>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000" b="1" dirty="0" smtClean="0">
                <a:solidFill>
                  <a:schemeClr val="bg1"/>
                </a:solidFill>
                <a:latin typeface="Times New Roman" panose="02020603050405020304" pitchFamily="18" charset="0"/>
              </a:rPr>
              <a:t>0.5</a:t>
            </a:r>
            <a:r>
              <a:rPr lang="en-US" altLang="zh-CN" sz="2000" b="1" i="1" dirty="0" smtClean="0">
                <a:solidFill>
                  <a:schemeClr val="bg1"/>
                </a:solidFill>
                <a:latin typeface="Times New Roman" panose="02020603050405020304" pitchFamily="18" charset="0"/>
              </a:rPr>
              <a:t>x</a:t>
            </a:r>
            <a:r>
              <a:rPr lang="en-US" altLang="zh-CN" sz="2000" b="1" dirty="0" smtClean="0">
                <a:solidFill>
                  <a:schemeClr val="bg1"/>
                </a:solidFill>
                <a:latin typeface="Times New Roman" panose="02020603050405020304" pitchFamily="18" charset="0"/>
              </a:rPr>
              <a:t>+0.5</a:t>
            </a:r>
            <a:r>
              <a:rPr lang="en-US" altLang="zh-CN" sz="2000" b="1" i="1" dirty="0" smtClean="0">
                <a:solidFill>
                  <a:schemeClr val="bg1"/>
                </a:solidFill>
                <a:latin typeface="Times New Roman" panose="02020603050405020304" pitchFamily="18" charset="0"/>
              </a:rPr>
              <a:t>y</a:t>
            </a:r>
            <a:r>
              <a:rPr lang="en-US" altLang="zh-CN" sz="2000" b="1" dirty="0" smtClean="0">
                <a:solidFill>
                  <a:schemeClr val="bg1"/>
                </a:solidFill>
                <a:latin typeface="Times New Roman" panose="02020603050405020304" pitchFamily="18" charset="0"/>
              </a:rPr>
              <a:t>≤150</a:t>
            </a:r>
            <a:endParaRPr lang="zh-CN" altLang="zh-CN" sz="2000" b="1" dirty="0">
              <a:solidFill>
                <a:schemeClr val="bg1"/>
              </a:solidFill>
              <a:latin typeface="Arial" panose="020B0604020202020204" pitchFamily="34" charset="0"/>
            </a:endParaRPr>
          </a:p>
        </p:txBody>
      </p:sp>
      <p:cxnSp>
        <p:nvCxnSpPr>
          <p:cNvPr id="71" name="AutoShape 9"/>
          <p:cNvCxnSpPr/>
          <p:nvPr/>
        </p:nvCxnSpPr>
        <p:spPr>
          <a:xfrm flipV="1">
            <a:off x="1085490" y="5476656"/>
            <a:ext cx="3632125" cy="24779"/>
          </a:xfrm>
          <a:prstGeom prst="straightConnector1">
            <a:avLst/>
          </a:prstGeom>
          <a:ln w="28575" cap="flat" cmpd="sng">
            <a:solidFill>
              <a:schemeClr val="bg2"/>
            </a:solidFill>
            <a:prstDash val="solid"/>
            <a:headEnd type="none" w="med" len="med"/>
            <a:tailEnd type="triangle" w="med" len="med"/>
          </a:ln>
        </p:spPr>
      </p:cxnSp>
      <p:cxnSp>
        <p:nvCxnSpPr>
          <p:cNvPr id="72" name="AutoShape 10"/>
          <p:cNvCxnSpPr/>
          <p:nvPr/>
        </p:nvCxnSpPr>
        <p:spPr>
          <a:xfrm flipV="1">
            <a:off x="1085490" y="2487542"/>
            <a:ext cx="0" cy="3013895"/>
          </a:xfrm>
          <a:prstGeom prst="straightConnector1">
            <a:avLst/>
          </a:prstGeom>
          <a:ln w="28575" cap="flat" cmpd="sng">
            <a:solidFill>
              <a:schemeClr val="bg2"/>
            </a:solidFill>
            <a:prstDash val="solid"/>
            <a:headEnd type="none" w="med" len="med"/>
            <a:tailEnd type="triangle" w="med" len="med"/>
          </a:ln>
        </p:spPr>
      </p:cxnSp>
      <p:cxnSp>
        <p:nvCxnSpPr>
          <p:cNvPr id="74" name="AutoShape 12"/>
          <p:cNvCxnSpPr/>
          <p:nvPr/>
        </p:nvCxnSpPr>
        <p:spPr>
          <a:xfrm>
            <a:off x="1085490" y="3302193"/>
            <a:ext cx="1758056" cy="2199244"/>
          </a:xfrm>
          <a:prstGeom prst="straightConnector1">
            <a:avLst/>
          </a:prstGeom>
          <a:ln w="28575" cap="flat" cmpd="sng">
            <a:solidFill>
              <a:srgbClr val="000000"/>
            </a:solidFill>
            <a:prstDash val="solid"/>
            <a:headEnd type="none" w="med" len="med"/>
            <a:tailEnd type="none" w="med" len="med"/>
          </a:ln>
        </p:spPr>
      </p:cxnSp>
      <p:cxnSp>
        <p:nvCxnSpPr>
          <p:cNvPr id="75" name="AutoShape 13"/>
          <p:cNvCxnSpPr/>
          <p:nvPr/>
        </p:nvCxnSpPr>
        <p:spPr>
          <a:xfrm flipV="1">
            <a:off x="2272401" y="3608847"/>
            <a:ext cx="0" cy="1892590"/>
          </a:xfrm>
          <a:prstGeom prst="straightConnector1">
            <a:avLst/>
          </a:prstGeom>
          <a:ln w="28575" cap="flat" cmpd="sng">
            <a:solidFill>
              <a:srgbClr val="000000"/>
            </a:solidFill>
            <a:prstDash val="solid"/>
            <a:headEnd type="none" w="med" len="med"/>
            <a:tailEnd type="none" w="med" len="med"/>
          </a:ln>
        </p:spPr>
      </p:cxnSp>
      <p:grpSp>
        <p:nvGrpSpPr>
          <p:cNvPr id="9" name="组合 8"/>
          <p:cNvGrpSpPr/>
          <p:nvPr/>
        </p:nvGrpSpPr>
        <p:grpSpPr>
          <a:xfrm>
            <a:off x="1045993" y="3419248"/>
            <a:ext cx="3063298" cy="2485767"/>
            <a:chOff x="5960376" y="3648404"/>
            <a:chExt cx="2019389" cy="1680355"/>
          </a:xfrm>
        </p:grpSpPr>
        <p:sp>
          <p:nvSpPr>
            <p:cNvPr id="68" name="Text Box 6"/>
            <p:cNvSpPr txBox="1"/>
            <p:nvPr/>
          </p:nvSpPr>
          <p:spPr>
            <a:xfrm>
              <a:off x="7007034" y="4721348"/>
              <a:ext cx="972731" cy="448064"/>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000" b="1" i="1" dirty="0">
                  <a:solidFill>
                    <a:srgbClr val="FF0000"/>
                  </a:solidFill>
                  <a:latin typeface="Times New Roman" panose="02020603050405020304" pitchFamily="18" charset="0"/>
                </a:rPr>
                <a:t>z</a:t>
              </a:r>
              <a:r>
                <a:rPr lang="en-US" altLang="zh-CN" sz="2000" b="1" dirty="0">
                  <a:solidFill>
                    <a:srgbClr val="FF0000"/>
                  </a:solidFill>
                  <a:latin typeface="Times New Roman" panose="02020603050405020304" pitchFamily="18" charset="0"/>
                </a:rPr>
                <a:t>=4140</a:t>
              </a:r>
              <a:endParaRPr lang="zh-CN" altLang="zh-CN" sz="2000" b="1" dirty="0">
                <a:solidFill>
                  <a:srgbClr val="FF0000"/>
                </a:solidFill>
                <a:latin typeface="Arial" panose="020B0604020202020204" pitchFamily="34" charset="0"/>
              </a:endParaRPr>
            </a:p>
          </p:txBody>
        </p:sp>
        <p:cxnSp>
          <p:nvCxnSpPr>
            <p:cNvPr id="78" name="AutoShape 16"/>
            <p:cNvCxnSpPr/>
            <p:nvPr/>
          </p:nvCxnSpPr>
          <p:spPr>
            <a:xfrm>
              <a:off x="5960376" y="3648404"/>
              <a:ext cx="1803828" cy="1680355"/>
            </a:xfrm>
            <a:prstGeom prst="straightConnector1">
              <a:avLst/>
            </a:prstGeom>
            <a:ln w="28575" cap="flat" cmpd="sng">
              <a:solidFill>
                <a:srgbClr val="FF0000"/>
              </a:solidFill>
              <a:prstDash val="dash"/>
              <a:headEnd type="none" w="med" len="med"/>
              <a:tailEnd type="none" w="med" len="med"/>
            </a:ln>
          </p:spPr>
        </p:cxnSp>
      </p:grpSp>
      <p:sp>
        <p:nvSpPr>
          <p:cNvPr id="79" name="Text Box 17"/>
          <p:cNvSpPr txBox="1"/>
          <p:nvPr/>
        </p:nvSpPr>
        <p:spPr>
          <a:xfrm>
            <a:off x="710676" y="5296999"/>
            <a:ext cx="484454" cy="616408"/>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400" b="1" i="1" dirty="0">
                <a:solidFill>
                  <a:schemeClr val="bg1"/>
                </a:solidFill>
                <a:latin typeface="Times New Roman" panose="02020603050405020304" pitchFamily="18" charset="0"/>
              </a:rPr>
              <a:t>O</a:t>
            </a:r>
            <a:endParaRPr lang="zh-CN" altLang="zh-CN" sz="2400" b="1" dirty="0">
              <a:solidFill>
                <a:schemeClr val="bg1"/>
              </a:solidFill>
              <a:latin typeface="Arial" panose="020B0604020202020204" pitchFamily="34" charset="0"/>
            </a:endParaRPr>
          </a:p>
        </p:txBody>
      </p:sp>
      <p:sp>
        <p:nvSpPr>
          <p:cNvPr id="80" name="Text Box 18"/>
          <p:cNvSpPr txBox="1"/>
          <p:nvPr/>
        </p:nvSpPr>
        <p:spPr>
          <a:xfrm>
            <a:off x="4769973" y="5111148"/>
            <a:ext cx="933602" cy="616408"/>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400" b="1" i="1" dirty="0" smtClean="0">
                <a:solidFill>
                  <a:schemeClr val="bg1"/>
                </a:solidFill>
                <a:latin typeface="Times New Roman" panose="02020603050405020304" pitchFamily="18" charset="0"/>
              </a:rPr>
              <a:t>x</a:t>
            </a:r>
            <a:r>
              <a:rPr lang="en-US" altLang="zh-CN" sz="2400" baseline="-25000" dirty="0" smtClean="0">
                <a:solidFill>
                  <a:schemeClr val="bg1"/>
                </a:solidFill>
                <a:latin typeface="Times New Roman" panose="02020603050405020304" pitchFamily="18" charset="0"/>
              </a:rPr>
              <a:t>1</a:t>
            </a:r>
            <a:endParaRPr lang="zh-CN" altLang="zh-CN" sz="2400" baseline="-25000" dirty="0">
              <a:solidFill>
                <a:schemeClr val="bg1"/>
              </a:solidFill>
              <a:latin typeface="Arial" panose="020B0604020202020204" pitchFamily="34" charset="0"/>
            </a:endParaRPr>
          </a:p>
        </p:txBody>
      </p:sp>
      <p:sp>
        <p:nvSpPr>
          <p:cNvPr id="81" name="Text Box 19"/>
          <p:cNvSpPr txBox="1"/>
          <p:nvPr/>
        </p:nvSpPr>
        <p:spPr>
          <a:xfrm>
            <a:off x="912347" y="1988840"/>
            <a:ext cx="770203" cy="616408"/>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400" b="1" i="1" dirty="0" smtClean="0">
                <a:solidFill>
                  <a:schemeClr val="bg1"/>
                </a:solidFill>
                <a:latin typeface="Times New Roman" panose="02020603050405020304" pitchFamily="18" charset="0"/>
              </a:rPr>
              <a:t>x</a:t>
            </a:r>
            <a:r>
              <a:rPr lang="en-US" altLang="zh-CN" sz="2400" b="1" baseline="-25000" dirty="0" smtClean="0">
                <a:solidFill>
                  <a:schemeClr val="bg1"/>
                </a:solidFill>
                <a:latin typeface="Times New Roman" panose="02020603050405020304" pitchFamily="18" charset="0"/>
              </a:rPr>
              <a:t>2</a:t>
            </a:r>
            <a:endParaRPr lang="zh-CN" altLang="zh-CN" sz="2400" baseline="-25000" dirty="0">
              <a:solidFill>
                <a:schemeClr val="bg1"/>
              </a:solidFill>
              <a:latin typeface="Arial" panose="020B0604020202020204" pitchFamily="34" charset="0"/>
            </a:endParaRPr>
          </a:p>
        </p:txBody>
      </p:sp>
      <p:sp>
        <p:nvSpPr>
          <p:cNvPr id="82" name="Text Box 20"/>
          <p:cNvSpPr txBox="1"/>
          <p:nvPr/>
        </p:nvSpPr>
        <p:spPr>
          <a:xfrm>
            <a:off x="792184" y="3654044"/>
            <a:ext cx="461748" cy="527924"/>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000" b="1" i="1" dirty="0">
                <a:solidFill>
                  <a:schemeClr val="bg1"/>
                </a:solidFill>
                <a:latin typeface="Times New Roman" panose="02020603050405020304" pitchFamily="18" charset="0"/>
              </a:rPr>
              <a:t>A</a:t>
            </a:r>
            <a:endParaRPr lang="zh-CN" altLang="zh-CN" sz="2000" b="1" dirty="0">
              <a:solidFill>
                <a:schemeClr val="bg1"/>
              </a:solidFill>
              <a:latin typeface="Arial" panose="020B0604020202020204" pitchFamily="34" charset="0"/>
            </a:endParaRPr>
          </a:p>
        </p:txBody>
      </p:sp>
      <p:sp>
        <p:nvSpPr>
          <p:cNvPr id="83" name="Text Box 21"/>
          <p:cNvSpPr txBox="1"/>
          <p:nvPr/>
        </p:nvSpPr>
        <p:spPr>
          <a:xfrm>
            <a:off x="1720424" y="3768751"/>
            <a:ext cx="390753" cy="461306"/>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000" b="1" i="1" dirty="0">
                <a:solidFill>
                  <a:schemeClr val="bg1"/>
                </a:solidFill>
                <a:latin typeface="Times New Roman" panose="02020603050405020304" pitchFamily="18" charset="0"/>
              </a:rPr>
              <a:t>B</a:t>
            </a:r>
            <a:endParaRPr lang="zh-CN" altLang="zh-CN" sz="2000" b="1" dirty="0">
              <a:solidFill>
                <a:schemeClr val="bg1"/>
              </a:solidFill>
              <a:latin typeface="Arial" panose="020B0604020202020204" pitchFamily="34" charset="0"/>
            </a:endParaRPr>
          </a:p>
        </p:txBody>
      </p:sp>
      <p:sp>
        <p:nvSpPr>
          <p:cNvPr id="84" name="Text Box 22"/>
          <p:cNvSpPr txBox="1"/>
          <p:nvPr/>
        </p:nvSpPr>
        <p:spPr>
          <a:xfrm>
            <a:off x="2269676" y="4513463"/>
            <a:ext cx="413016" cy="49300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000" b="1" i="1" dirty="0">
                <a:solidFill>
                  <a:schemeClr val="bg1"/>
                </a:solidFill>
                <a:latin typeface="Times New Roman" panose="02020603050405020304" pitchFamily="18" charset="0"/>
              </a:rPr>
              <a:t>C</a:t>
            </a:r>
            <a:endParaRPr lang="zh-CN" altLang="zh-CN" sz="2000" b="1" dirty="0">
              <a:solidFill>
                <a:schemeClr val="bg1"/>
              </a:solidFill>
              <a:latin typeface="Arial" panose="020B0604020202020204" pitchFamily="34" charset="0"/>
            </a:endParaRPr>
          </a:p>
        </p:txBody>
      </p:sp>
      <p:sp>
        <p:nvSpPr>
          <p:cNvPr id="85" name="Text Box 23"/>
          <p:cNvSpPr txBox="1"/>
          <p:nvPr/>
        </p:nvSpPr>
        <p:spPr>
          <a:xfrm>
            <a:off x="2271230" y="5082103"/>
            <a:ext cx="411462" cy="467413"/>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000" b="1" i="1" dirty="0">
                <a:solidFill>
                  <a:schemeClr val="bg1"/>
                </a:solidFill>
                <a:latin typeface="Times New Roman" panose="02020603050405020304" pitchFamily="18" charset="0"/>
              </a:rPr>
              <a:t>D</a:t>
            </a:r>
            <a:endParaRPr lang="zh-CN" altLang="zh-CN" sz="2000" b="1" dirty="0">
              <a:solidFill>
                <a:schemeClr val="bg1"/>
              </a:solidFill>
              <a:latin typeface="Arial" panose="020B0604020202020204" pitchFamily="34" charset="0"/>
            </a:endParaRPr>
          </a:p>
        </p:txBody>
      </p:sp>
      <p:sp>
        <p:nvSpPr>
          <p:cNvPr id="86" name="Text Box 24"/>
          <p:cNvSpPr txBox="1"/>
          <p:nvPr/>
        </p:nvSpPr>
        <p:spPr>
          <a:xfrm>
            <a:off x="1409461" y="5580079"/>
            <a:ext cx="3081378" cy="437964"/>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000" b="1" dirty="0">
                <a:solidFill>
                  <a:schemeClr val="bg1"/>
                </a:solidFill>
                <a:latin typeface="Times New Roman" panose="02020603050405020304" pitchFamily="18" charset="0"/>
              </a:rPr>
              <a:t>100    200   300           480</a:t>
            </a:r>
            <a:endParaRPr lang="zh-CN" altLang="zh-CN" sz="2000" b="1" dirty="0">
              <a:solidFill>
                <a:schemeClr val="bg1"/>
              </a:solidFill>
              <a:latin typeface="Arial" panose="020B0604020202020204" pitchFamily="34" charset="0"/>
            </a:endParaRPr>
          </a:p>
        </p:txBody>
      </p:sp>
      <p:sp>
        <p:nvSpPr>
          <p:cNvPr id="87" name="Text Box 25"/>
          <p:cNvSpPr txBox="1"/>
          <p:nvPr/>
        </p:nvSpPr>
        <p:spPr>
          <a:xfrm>
            <a:off x="539552" y="3075533"/>
            <a:ext cx="576156" cy="824661"/>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000" b="1" dirty="0">
                <a:solidFill>
                  <a:schemeClr val="bg1"/>
                </a:solidFill>
                <a:latin typeface="Times New Roman" panose="02020603050405020304" pitchFamily="18" charset="0"/>
              </a:rPr>
              <a:t>300</a:t>
            </a:r>
          </a:p>
          <a:p>
            <a:pPr marL="0" lvl="0" indent="0" algn="just" eaLnBrk="1" hangingPunct="1">
              <a:spcBef>
                <a:spcPct val="0"/>
              </a:spcBef>
              <a:buFontTx/>
              <a:buNone/>
            </a:pPr>
            <a:r>
              <a:rPr lang="en-US" altLang="zh-CN" sz="2000" b="1" dirty="0">
                <a:solidFill>
                  <a:schemeClr val="bg1"/>
                </a:solidFill>
                <a:latin typeface="Times New Roman" panose="02020603050405020304" pitchFamily="18" charset="0"/>
              </a:rPr>
              <a:t>240</a:t>
            </a:r>
            <a:endParaRPr lang="zh-CN" altLang="zh-CN" sz="2000" b="1" dirty="0">
              <a:solidFill>
                <a:schemeClr val="bg1"/>
              </a:solidFill>
              <a:latin typeface="Arial" panose="020B0604020202020204" pitchFamily="34" charset="0"/>
            </a:endParaRPr>
          </a:p>
        </p:txBody>
      </p:sp>
      <p:sp>
        <p:nvSpPr>
          <p:cNvPr id="88" name="Text Box 26"/>
          <p:cNvSpPr txBox="1"/>
          <p:nvPr/>
        </p:nvSpPr>
        <p:spPr>
          <a:xfrm>
            <a:off x="557691" y="4114641"/>
            <a:ext cx="719031" cy="610214"/>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000" b="1" dirty="0">
                <a:solidFill>
                  <a:schemeClr val="bg1"/>
                </a:solidFill>
                <a:latin typeface="Times New Roman" panose="02020603050405020304" pitchFamily="18" charset="0"/>
              </a:rPr>
              <a:t>160</a:t>
            </a:r>
            <a:endParaRPr lang="zh-CN" altLang="zh-CN" sz="2000" b="1" dirty="0">
              <a:solidFill>
                <a:schemeClr val="bg1"/>
              </a:solidFill>
              <a:latin typeface="Arial" panose="020B0604020202020204" pitchFamily="34" charset="0"/>
            </a:endParaRPr>
          </a:p>
        </p:txBody>
      </p:sp>
      <p:sp>
        <p:nvSpPr>
          <p:cNvPr id="89" name="Text Box 27"/>
          <p:cNvSpPr txBox="1"/>
          <p:nvPr/>
        </p:nvSpPr>
        <p:spPr>
          <a:xfrm>
            <a:off x="690367" y="4722790"/>
            <a:ext cx="492123" cy="496861"/>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000" b="1" dirty="0">
                <a:solidFill>
                  <a:schemeClr val="bg1"/>
                </a:solidFill>
                <a:latin typeface="Times New Roman" panose="02020603050405020304" pitchFamily="18" charset="0"/>
              </a:rPr>
              <a:t>80</a:t>
            </a:r>
            <a:endParaRPr lang="zh-CN" altLang="zh-CN" sz="2000" b="1" dirty="0">
              <a:solidFill>
                <a:schemeClr val="bg1"/>
              </a:solidFill>
              <a:latin typeface="Arial" panose="020B0604020202020204" pitchFamily="34" charset="0"/>
            </a:endParaRPr>
          </a:p>
        </p:txBody>
      </p:sp>
      <p:grpSp>
        <p:nvGrpSpPr>
          <p:cNvPr id="4" name="组合 3"/>
          <p:cNvGrpSpPr/>
          <p:nvPr/>
        </p:nvGrpSpPr>
        <p:grpSpPr>
          <a:xfrm>
            <a:off x="770466" y="4624032"/>
            <a:ext cx="1064718" cy="992758"/>
            <a:chOff x="6801383" y="4962451"/>
            <a:chExt cx="1064718" cy="992758"/>
          </a:xfrm>
        </p:grpSpPr>
        <p:cxnSp>
          <p:nvCxnSpPr>
            <p:cNvPr id="76" name="AutoShape 14"/>
            <p:cNvCxnSpPr/>
            <p:nvPr/>
          </p:nvCxnSpPr>
          <p:spPr>
            <a:xfrm>
              <a:off x="6801383" y="4962451"/>
              <a:ext cx="1049224" cy="992758"/>
            </a:xfrm>
            <a:prstGeom prst="straightConnector1">
              <a:avLst/>
            </a:prstGeom>
            <a:ln w="28575" cap="flat" cmpd="sng">
              <a:solidFill>
                <a:srgbClr val="FF0000"/>
              </a:solidFill>
              <a:prstDash val="dash"/>
              <a:headEnd type="none" w="med" len="med"/>
              <a:tailEnd type="none" w="med" len="med"/>
            </a:ln>
          </p:spPr>
        </p:cxnSp>
        <p:sp>
          <p:nvSpPr>
            <p:cNvPr id="90" name="Text Box 28"/>
            <p:cNvSpPr txBox="1"/>
            <p:nvPr/>
          </p:nvSpPr>
          <p:spPr>
            <a:xfrm>
              <a:off x="6852574" y="5272979"/>
              <a:ext cx="1013527" cy="445281"/>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000" b="1" i="1" dirty="0">
                  <a:solidFill>
                    <a:schemeClr val="bg1"/>
                  </a:solidFill>
                  <a:latin typeface="Times New Roman" panose="02020603050405020304" pitchFamily="18" charset="0"/>
                </a:rPr>
                <a:t>z</a:t>
              </a:r>
              <a:r>
                <a:rPr lang="en-US" altLang="zh-CN" sz="2000" b="1" dirty="0">
                  <a:solidFill>
                    <a:schemeClr val="bg1"/>
                  </a:solidFill>
                  <a:latin typeface="Times New Roman" panose="02020603050405020304" pitchFamily="18" charset="0"/>
                </a:rPr>
                <a:t>=1200</a:t>
              </a:r>
              <a:endParaRPr lang="zh-CN" altLang="zh-CN" sz="2000" b="1" dirty="0">
                <a:solidFill>
                  <a:schemeClr val="bg1"/>
                </a:solidFill>
                <a:latin typeface="Arial" panose="020B0604020202020204" pitchFamily="34" charset="0"/>
              </a:endParaRPr>
            </a:p>
          </p:txBody>
        </p:sp>
      </p:grpSp>
      <p:sp>
        <p:nvSpPr>
          <p:cNvPr id="92" name="Text Box 31"/>
          <p:cNvSpPr txBox="1"/>
          <p:nvPr/>
        </p:nvSpPr>
        <p:spPr>
          <a:xfrm>
            <a:off x="2289063" y="3663210"/>
            <a:ext cx="1322302" cy="566848"/>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000" b="1" dirty="0" smtClean="0">
                <a:solidFill>
                  <a:schemeClr val="bg1"/>
                </a:solidFill>
                <a:latin typeface="Times New Roman" panose="02020603050405020304" pitchFamily="18" charset="0"/>
              </a:rPr>
              <a:t>0.25</a:t>
            </a:r>
            <a:r>
              <a:rPr lang="en-US" altLang="zh-CN" sz="2000" b="1" i="1" dirty="0" smtClean="0">
                <a:solidFill>
                  <a:schemeClr val="bg1"/>
                </a:solidFill>
                <a:latin typeface="Times New Roman" panose="02020603050405020304" pitchFamily="18" charset="0"/>
              </a:rPr>
              <a:t>x</a:t>
            </a:r>
            <a:r>
              <a:rPr lang="en-US" altLang="zh-CN" sz="2000" b="1" dirty="0">
                <a:solidFill>
                  <a:schemeClr val="bg1"/>
                </a:solidFill>
                <a:latin typeface="Times New Roman" panose="02020603050405020304" pitchFamily="18" charset="0"/>
              </a:rPr>
              <a:t> ≤ 50</a:t>
            </a:r>
            <a:endParaRPr lang="zh-CN" altLang="zh-CN" sz="2000" b="1" dirty="0">
              <a:solidFill>
                <a:schemeClr val="bg1"/>
              </a:solidFill>
              <a:latin typeface="Arial" panose="020B0604020202020204" pitchFamily="34" charset="0"/>
            </a:endParaRPr>
          </a:p>
        </p:txBody>
      </p:sp>
      <p:cxnSp>
        <p:nvCxnSpPr>
          <p:cNvPr id="93" name="AutoShape 11"/>
          <p:cNvCxnSpPr/>
          <p:nvPr/>
        </p:nvCxnSpPr>
        <p:spPr>
          <a:xfrm>
            <a:off x="1023058" y="3570330"/>
            <a:ext cx="3003804" cy="1950079"/>
          </a:xfrm>
          <a:prstGeom prst="straightConnector1">
            <a:avLst/>
          </a:prstGeom>
          <a:ln w="28575" cap="flat" cmpd="sng">
            <a:solidFill>
              <a:schemeClr val="bg2"/>
            </a:solidFill>
            <a:prstDash val="solid"/>
            <a:headEnd type="none" w="med" len="med"/>
            <a:tailEnd type="none" w="med" len="med"/>
          </a:ln>
        </p:spPr>
      </p:cxnSp>
      <p:sp>
        <p:nvSpPr>
          <p:cNvPr id="94" name="Oval 30"/>
          <p:cNvSpPr/>
          <p:nvPr/>
        </p:nvSpPr>
        <p:spPr>
          <a:xfrm>
            <a:off x="1579594" y="3894509"/>
            <a:ext cx="153987" cy="142875"/>
          </a:xfrm>
          <a:prstGeom prst="ellipse">
            <a:avLst/>
          </a:prstGeom>
          <a:solidFill>
            <a:srgbClr val="A23218"/>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dirty="0">
              <a:solidFill>
                <a:schemeClr val="bg1"/>
              </a:solidFill>
            </a:endParaRPr>
          </a:p>
        </p:txBody>
      </p:sp>
      <p:sp>
        <p:nvSpPr>
          <p:cNvPr id="11" name="矩形 10"/>
          <p:cNvSpPr/>
          <p:nvPr/>
        </p:nvSpPr>
        <p:spPr>
          <a:xfrm>
            <a:off x="5232216" y="2249373"/>
            <a:ext cx="4572000" cy="2932430"/>
          </a:xfrm>
          <a:prstGeom prst="rect">
            <a:avLst/>
          </a:prstGeom>
        </p:spPr>
        <p:txBody>
          <a:bodyPr>
            <a:spAutoFit/>
          </a:bodyPr>
          <a:lstStyle/>
          <a:p>
            <a:pPr eaLnBrk="1" hangingPunct="1">
              <a:lnSpc>
                <a:spcPct val="110000"/>
              </a:lnSpc>
            </a:pPr>
            <a:r>
              <a:rPr lang="en-US" altLang="zh-CN" b="1" i="1" dirty="0">
                <a:solidFill>
                  <a:schemeClr val="bg1"/>
                </a:solidFill>
                <a:cs typeface="Times New Roman" panose="02020603050405020304" pitchFamily="18" charset="0"/>
              </a:rPr>
              <a:t>O</a:t>
            </a:r>
            <a:r>
              <a:rPr lang="en-US" altLang="zh-CN" b="1" dirty="0">
                <a:solidFill>
                  <a:schemeClr val="bg1"/>
                </a:solidFill>
                <a:cs typeface="Times New Roman" panose="02020603050405020304" pitchFamily="18" charset="0"/>
              </a:rPr>
              <a:t>(0,0</a:t>
            </a:r>
            <a:r>
              <a:rPr lang="en-US" altLang="zh-CN" b="1" dirty="0" smtClean="0">
                <a:solidFill>
                  <a:schemeClr val="bg1"/>
                </a:solidFill>
                <a:cs typeface="Times New Roman" panose="02020603050405020304" pitchFamily="18" charset="0"/>
              </a:rPr>
              <a:t>)</a:t>
            </a:r>
          </a:p>
          <a:p>
            <a:pPr eaLnBrk="1" hangingPunct="1">
              <a:lnSpc>
                <a:spcPct val="110000"/>
              </a:lnSpc>
            </a:pPr>
            <a:r>
              <a:rPr lang="en-US" altLang="zh-CN" b="1" i="1" dirty="0" smtClean="0">
                <a:solidFill>
                  <a:schemeClr val="bg1"/>
                </a:solidFill>
                <a:cs typeface="Times New Roman" panose="02020603050405020304" pitchFamily="18" charset="0"/>
              </a:rPr>
              <a:t>A</a:t>
            </a:r>
            <a:r>
              <a:rPr lang="en-US" altLang="zh-CN" b="1" dirty="0" smtClean="0">
                <a:solidFill>
                  <a:schemeClr val="bg1"/>
                </a:solidFill>
                <a:cs typeface="Times New Roman" panose="02020603050405020304" pitchFamily="18" charset="0"/>
              </a:rPr>
              <a:t>(0,240)</a:t>
            </a:r>
            <a:endParaRPr lang="en-US" altLang="zh-CN" b="1" dirty="0">
              <a:solidFill>
                <a:schemeClr val="bg1"/>
              </a:solidFill>
              <a:cs typeface="Times New Roman" panose="02020603050405020304" pitchFamily="18" charset="0"/>
            </a:endParaRPr>
          </a:p>
          <a:p>
            <a:pPr eaLnBrk="1" hangingPunct="1">
              <a:lnSpc>
                <a:spcPct val="110000"/>
              </a:lnSpc>
            </a:pPr>
            <a:r>
              <a:rPr lang="en-US" altLang="zh-CN" b="1" i="1" dirty="0">
                <a:solidFill>
                  <a:schemeClr val="bg1"/>
                </a:solidFill>
                <a:cs typeface="Times New Roman" panose="02020603050405020304" pitchFamily="18" charset="0"/>
              </a:rPr>
              <a:t>B</a:t>
            </a:r>
            <a:r>
              <a:rPr lang="en-US" altLang="zh-CN" b="1" dirty="0">
                <a:solidFill>
                  <a:schemeClr val="bg1"/>
                </a:solidFill>
                <a:cs typeface="Times New Roman" panose="02020603050405020304" pitchFamily="18" charset="0"/>
              </a:rPr>
              <a:t>(120,180</a:t>
            </a:r>
            <a:r>
              <a:rPr lang="en-US" altLang="zh-CN" b="1" dirty="0" smtClean="0">
                <a:solidFill>
                  <a:schemeClr val="bg1"/>
                </a:solidFill>
                <a:cs typeface="Times New Roman" panose="02020603050405020304" pitchFamily="18" charset="0"/>
              </a:rPr>
              <a:t>)</a:t>
            </a:r>
          </a:p>
          <a:p>
            <a:pPr eaLnBrk="1" hangingPunct="1">
              <a:lnSpc>
                <a:spcPct val="110000"/>
              </a:lnSpc>
            </a:pPr>
            <a:r>
              <a:rPr lang="en-US" altLang="zh-CN" b="1" i="1" dirty="0" smtClean="0">
                <a:solidFill>
                  <a:schemeClr val="bg1"/>
                </a:solidFill>
                <a:cs typeface="Times New Roman" panose="02020603050405020304" pitchFamily="18" charset="0"/>
              </a:rPr>
              <a:t>C</a:t>
            </a:r>
            <a:r>
              <a:rPr lang="en-US" altLang="zh-CN" b="1" dirty="0" smtClean="0">
                <a:solidFill>
                  <a:schemeClr val="bg1"/>
                </a:solidFill>
                <a:cs typeface="Times New Roman" panose="02020603050405020304" pitchFamily="18" charset="0"/>
              </a:rPr>
              <a:t>(200,100)</a:t>
            </a:r>
            <a:endParaRPr lang="en-US" altLang="zh-CN" b="1" dirty="0">
              <a:solidFill>
                <a:schemeClr val="bg1"/>
              </a:solidFill>
              <a:cs typeface="Times New Roman" panose="02020603050405020304" pitchFamily="18" charset="0"/>
            </a:endParaRPr>
          </a:p>
          <a:p>
            <a:pPr eaLnBrk="1" hangingPunct="1">
              <a:lnSpc>
                <a:spcPct val="110000"/>
              </a:lnSpc>
            </a:pPr>
            <a:r>
              <a:rPr lang="en-US" altLang="zh-CN" b="1" i="1" dirty="0">
                <a:solidFill>
                  <a:schemeClr val="bg1"/>
                </a:solidFill>
                <a:cs typeface="Times New Roman" panose="02020603050405020304" pitchFamily="18" charset="0"/>
              </a:rPr>
              <a:t>D</a:t>
            </a:r>
            <a:r>
              <a:rPr lang="en-US" altLang="zh-CN" b="1" dirty="0">
                <a:solidFill>
                  <a:schemeClr val="bg1"/>
                </a:solidFill>
                <a:cs typeface="Times New Roman" panose="02020603050405020304" pitchFamily="18" charset="0"/>
              </a:rPr>
              <a:t>(200,0)</a:t>
            </a:r>
          </a:p>
          <a:p>
            <a:pPr eaLnBrk="1" hangingPunct="1">
              <a:lnSpc>
                <a:spcPct val="110000"/>
              </a:lnSpc>
            </a:pPr>
            <a:r>
              <a:rPr lang="zh-CN" altLang="en-US" b="1" dirty="0" smtClean="0">
                <a:solidFill>
                  <a:schemeClr val="bg1"/>
                </a:solidFill>
                <a:cs typeface="Times New Roman" panose="02020603050405020304" pitchFamily="18" charset="0"/>
              </a:rPr>
              <a:t>最优解 </a:t>
            </a:r>
            <a:r>
              <a:rPr lang="en-US" altLang="zh-CN" b="1" i="1" dirty="0">
                <a:solidFill>
                  <a:schemeClr val="bg1"/>
                </a:solidFill>
                <a:cs typeface="Times New Roman" panose="02020603050405020304" pitchFamily="18" charset="0"/>
              </a:rPr>
              <a:t>x</a:t>
            </a:r>
            <a:r>
              <a:rPr lang="en-US" altLang="zh-CN" b="1" dirty="0">
                <a:solidFill>
                  <a:schemeClr val="bg1"/>
                </a:solidFill>
                <a:cs typeface="Times New Roman" panose="02020603050405020304" pitchFamily="18" charset="0"/>
              </a:rPr>
              <a:t>*=120,  </a:t>
            </a:r>
            <a:r>
              <a:rPr lang="en-US" altLang="zh-CN" b="1" i="1" dirty="0">
                <a:solidFill>
                  <a:schemeClr val="bg1"/>
                </a:solidFill>
                <a:cs typeface="Times New Roman" panose="02020603050405020304" pitchFamily="18" charset="0"/>
              </a:rPr>
              <a:t>y</a:t>
            </a:r>
            <a:r>
              <a:rPr lang="en-US" altLang="zh-CN" b="1" dirty="0">
                <a:solidFill>
                  <a:schemeClr val="bg1"/>
                </a:solidFill>
                <a:cs typeface="Times New Roman" panose="02020603050405020304" pitchFamily="18" charset="0"/>
              </a:rPr>
              <a:t>*=</a:t>
            </a:r>
            <a:r>
              <a:rPr lang="en-US" altLang="zh-CN" b="1" dirty="0" smtClean="0">
                <a:solidFill>
                  <a:schemeClr val="bg1"/>
                </a:solidFill>
                <a:cs typeface="Times New Roman" panose="02020603050405020304" pitchFamily="18" charset="0"/>
              </a:rPr>
              <a:t>180(</a:t>
            </a:r>
            <a:r>
              <a:rPr lang="zh-CN" altLang="en-US" b="1" dirty="0" smtClean="0">
                <a:solidFill>
                  <a:schemeClr val="bg1"/>
                </a:solidFill>
                <a:cs typeface="Times New Roman" panose="02020603050405020304" pitchFamily="18" charset="0"/>
              </a:rPr>
              <a:t>点</a:t>
            </a:r>
            <a:r>
              <a:rPr lang="en-US" altLang="zh-CN" b="1" i="1" dirty="0" smtClean="0">
                <a:solidFill>
                  <a:schemeClr val="bg1"/>
                </a:solidFill>
                <a:cs typeface="Times New Roman" panose="02020603050405020304" pitchFamily="18" charset="0"/>
              </a:rPr>
              <a:t>B</a:t>
            </a:r>
            <a:r>
              <a:rPr lang="en-US" altLang="zh-CN" b="1" dirty="0" smtClean="0">
                <a:solidFill>
                  <a:schemeClr val="bg1"/>
                </a:solidFill>
                <a:cs typeface="Times New Roman" panose="02020603050405020304" pitchFamily="18" charset="0"/>
              </a:rPr>
              <a:t>)</a:t>
            </a:r>
          </a:p>
          <a:p>
            <a:pPr eaLnBrk="1" hangingPunct="1">
              <a:lnSpc>
                <a:spcPct val="110000"/>
              </a:lnSpc>
            </a:pPr>
            <a:r>
              <a:rPr lang="zh-CN" altLang="en-US" b="1" dirty="0" smtClean="0">
                <a:solidFill>
                  <a:schemeClr val="bg1"/>
                </a:solidFill>
                <a:cs typeface="Times New Roman" panose="02020603050405020304" pitchFamily="18" charset="0"/>
              </a:rPr>
              <a:t>最优值</a:t>
            </a:r>
            <a:r>
              <a:rPr lang="en-US" altLang="zh-CN" b="1" dirty="0" smtClean="0">
                <a:solidFill>
                  <a:schemeClr val="bg1"/>
                </a:solidFill>
                <a:cs typeface="Times New Roman" panose="02020603050405020304" pitchFamily="18" charset="0"/>
              </a:rPr>
              <a:t> </a:t>
            </a:r>
            <a:r>
              <a:rPr lang="en-US" altLang="zh-CN" b="1" i="1" dirty="0">
                <a:solidFill>
                  <a:schemeClr val="bg1"/>
                </a:solidFill>
                <a:cs typeface="Times New Roman" panose="02020603050405020304" pitchFamily="18" charset="0"/>
              </a:rPr>
              <a:t>z</a:t>
            </a:r>
            <a:r>
              <a:rPr lang="en-US" altLang="zh-CN" b="1" dirty="0">
                <a:solidFill>
                  <a:schemeClr val="bg1"/>
                </a:solidFill>
                <a:cs typeface="Times New Roman" panose="02020603050405020304" pitchFamily="18" charset="0"/>
              </a:rPr>
              <a:t>*=4140.</a:t>
            </a:r>
            <a:endParaRPr lang="en-US" altLang="zh-CN" b="1" dirty="0">
              <a:solidFill>
                <a:schemeClr val="bg1"/>
              </a:solidFill>
              <a:ea typeface="Times New Roman" panose="02020603050405020304" pitchFamily="18" charset="0"/>
            </a:endParaRPr>
          </a:p>
        </p:txBody>
      </p:sp>
      <p:grpSp>
        <p:nvGrpSpPr>
          <p:cNvPr id="5" name="组合 4"/>
          <p:cNvGrpSpPr/>
          <p:nvPr/>
        </p:nvGrpSpPr>
        <p:grpSpPr>
          <a:xfrm>
            <a:off x="921549" y="4139269"/>
            <a:ext cx="1639492" cy="1590581"/>
            <a:chOff x="5312326" y="2300521"/>
            <a:chExt cx="1639492" cy="1590581"/>
          </a:xfrm>
        </p:grpSpPr>
        <p:cxnSp>
          <p:nvCxnSpPr>
            <p:cNvPr id="77" name="AutoShape 15"/>
            <p:cNvCxnSpPr/>
            <p:nvPr/>
          </p:nvCxnSpPr>
          <p:spPr>
            <a:xfrm>
              <a:off x="5312326" y="2300521"/>
              <a:ext cx="1639492" cy="1590581"/>
            </a:xfrm>
            <a:prstGeom prst="straightConnector1">
              <a:avLst/>
            </a:prstGeom>
            <a:ln w="28575" cap="flat" cmpd="sng">
              <a:solidFill>
                <a:srgbClr val="FF0000"/>
              </a:solidFill>
              <a:prstDash val="dash"/>
              <a:headEnd type="none" w="med" len="med"/>
              <a:tailEnd type="none" w="med" len="med"/>
            </a:ln>
          </p:spPr>
        </p:cxnSp>
        <p:sp>
          <p:nvSpPr>
            <p:cNvPr id="91" name="Text Box 29"/>
            <p:cNvSpPr txBox="1"/>
            <p:nvPr/>
          </p:nvSpPr>
          <p:spPr>
            <a:xfrm>
              <a:off x="5688415" y="2767079"/>
              <a:ext cx="1112968" cy="46009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eaLnBrk="1" hangingPunct="1">
                <a:spcBef>
                  <a:spcPct val="0"/>
                </a:spcBef>
                <a:buFontTx/>
                <a:buNone/>
              </a:pPr>
              <a:r>
                <a:rPr lang="en-US" altLang="zh-CN" sz="2000" b="1" i="1" dirty="0">
                  <a:solidFill>
                    <a:schemeClr val="bg1"/>
                  </a:solidFill>
                  <a:latin typeface="Times New Roman" panose="02020603050405020304" pitchFamily="18" charset="0"/>
                </a:rPr>
                <a:t>z</a:t>
              </a:r>
              <a:r>
                <a:rPr lang="en-US" altLang="zh-CN" sz="2000" b="1" dirty="0">
                  <a:solidFill>
                    <a:schemeClr val="bg1"/>
                  </a:solidFill>
                  <a:latin typeface="Times New Roman" panose="02020603050405020304" pitchFamily="18" charset="0"/>
                </a:rPr>
                <a:t>=2400</a:t>
              </a:r>
              <a:endParaRPr lang="zh-CN" altLang="zh-CN" sz="2000" b="1" dirty="0">
                <a:solidFill>
                  <a:schemeClr val="bg1"/>
                </a:solidFill>
                <a:latin typeface="Arial" panose="020B060402020202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left)">
                                      <p:cBhvr>
                                        <p:cTn id="7" dur="500"/>
                                        <p:tgtEl>
                                          <p:spTgt spid="7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wipe(left)">
                                      <p:cBhvr>
                                        <p:cTn id="11" dur="500"/>
                                        <p:tgtEl>
                                          <p:spTgt spid="7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3"/>
                                        </p:tgtEl>
                                        <p:attrNameLst>
                                          <p:attrName>style.visibility</p:attrName>
                                        </p:attrNameLst>
                                      </p:cBhvr>
                                      <p:to>
                                        <p:strVal val="visible"/>
                                      </p:to>
                                    </p:set>
                                    <p:animEffect transition="in" filter="wipe(left)">
                                      <p:cBhvr>
                                        <p:cTn id="16" dur="500"/>
                                        <p:tgtEl>
                                          <p:spTgt spid="93"/>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wipe(left)">
                                      <p:cBhvr>
                                        <p:cTn id="19" dur="500"/>
                                        <p:tgtEl>
                                          <p:spTgt spid="6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75"/>
                                        </p:tgtEl>
                                        <p:attrNameLst>
                                          <p:attrName>style.visibility</p:attrName>
                                        </p:attrNameLst>
                                      </p:cBhvr>
                                      <p:to>
                                        <p:strVal val="visible"/>
                                      </p:to>
                                    </p:set>
                                    <p:animEffect transition="in" filter="wipe(left)">
                                      <p:cBhvr>
                                        <p:cTn id="24" dur="500"/>
                                        <p:tgtEl>
                                          <p:spTgt spid="75"/>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92"/>
                                        </p:tgtEl>
                                        <p:attrNameLst>
                                          <p:attrName>style.visibility</p:attrName>
                                        </p:attrNameLst>
                                      </p:cBhvr>
                                      <p:to>
                                        <p:strVal val="visible"/>
                                      </p:to>
                                    </p:set>
                                    <p:animEffect transition="in" filter="wipe(left)">
                                      <p:cBhvr>
                                        <p:cTn id="27" dur="500"/>
                                        <p:tgtEl>
                                          <p:spTgt spid="9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7"/>
                                        </p:tgtEl>
                                        <p:attrNameLst>
                                          <p:attrName>style.visibility</p:attrName>
                                        </p:attrNameLst>
                                      </p:cBhvr>
                                      <p:to>
                                        <p:strVal val="visible"/>
                                      </p:to>
                                    </p:set>
                                    <p:animEffect transition="in" filter="wipe(left)">
                                      <p:cBhvr>
                                        <p:cTn id="32" dur="500"/>
                                        <p:tgtEl>
                                          <p:spTgt spid="6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82"/>
                                        </p:tgtEl>
                                        <p:attrNameLst>
                                          <p:attrName>style.visibility</p:attrName>
                                        </p:attrNameLst>
                                      </p:cBhvr>
                                      <p:to>
                                        <p:strVal val="visible"/>
                                      </p:to>
                                    </p:set>
                                    <p:animEffect transition="in" filter="wipe(down)">
                                      <p:cBhvr>
                                        <p:cTn id="37" dur="500"/>
                                        <p:tgtEl>
                                          <p:spTgt spid="82"/>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83"/>
                                        </p:tgtEl>
                                        <p:attrNameLst>
                                          <p:attrName>style.visibility</p:attrName>
                                        </p:attrNameLst>
                                      </p:cBhvr>
                                      <p:to>
                                        <p:strVal val="visible"/>
                                      </p:to>
                                    </p:set>
                                    <p:animEffect transition="in" filter="wipe(down)">
                                      <p:cBhvr>
                                        <p:cTn id="40" dur="500"/>
                                        <p:tgtEl>
                                          <p:spTgt spid="83"/>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79"/>
                                        </p:tgtEl>
                                        <p:attrNameLst>
                                          <p:attrName>style.visibility</p:attrName>
                                        </p:attrNameLst>
                                      </p:cBhvr>
                                      <p:to>
                                        <p:strVal val="visible"/>
                                      </p:to>
                                    </p:set>
                                    <p:animEffect transition="in" filter="wipe(down)">
                                      <p:cBhvr>
                                        <p:cTn id="43" dur="500"/>
                                        <p:tgtEl>
                                          <p:spTgt spid="79"/>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85"/>
                                        </p:tgtEl>
                                        <p:attrNameLst>
                                          <p:attrName>style.visibility</p:attrName>
                                        </p:attrNameLst>
                                      </p:cBhvr>
                                      <p:to>
                                        <p:strVal val="visible"/>
                                      </p:to>
                                    </p:set>
                                    <p:animEffect transition="in" filter="wipe(down)">
                                      <p:cBhvr>
                                        <p:cTn id="46" dur="500"/>
                                        <p:tgtEl>
                                          <p:spTgt spid="85"/>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84"/>
                                        </p:tgtEl>
                                        <p:attrNameLst>
                                          <p:attrName>style.visibility</p:attrName>
                                        </p:attrNameLst>
                                      </p:cBhvr>
                                      <p:to>
                                        <p:strVal val="visible"/>
                                      </p:to>
                                    </p:set>
                                    <p:animEffect transition="in" filter="wipe(down)">
                                      <p:cBhvr>
                                        <p:cTn id="49" dur="500"/>
                                        <p:tgtEl>
                                          <p:spTgt spid="84"/>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1">
                                            <p:txEl>
                                              <p:pRg st="0" end="0"/>
                                            </p:txEl>
                                          </p:spTgt>
                                        </p:tgtEl>
                                        <p:attrNameLst>
                                          <p:attrName>style.visibility</p:attrName>
                                        </p:attrNameLst>
                                      </p:cBhvr>
                                      <p:to>
                                        <p:strVal val="visible"/>
                                      </p:to>
                                    </p:set>
                                    <p:animEffect transition="in" filter="wipe(left)">
                                      <p:cBhvr>
                                        <p:cTn id="54" dur="500"/>
                                        <p:tgtEl>
                                          <p:spTgt spid="11">
                                            <p:txEl>
                                              <p:pRg st="0" end="0"/>
                                            </p:txEl>
                                          </p:spTgt>
                                        </p:tgtEl>
                                      </p:cBhvr>
                                    </p:animEffect>
                                  </p:childTnLst>
                                </p:cTn>
                              </p:par>
                              <p:par>
                                <p:cTn id="55" presetID="22" presetClass="entr" presetSubtype="8" fill="hold" nodeType="withEffect">
                                  <p:stCondLst>
                                    <p:cond delay="0"/>
                                  </p:stCondLst>
                                  <p:childTnLst>
                                    <p:set>
                                      <p:cBhvr>
                                        <p:cTn id="56" dur="1" fill="hold">
                                          <p:stCondLst>
                                            <p:cond delay="0"/>
                                          </p:stCondLst>
                                        </p:cTn>
                                        <p:tgtEl>
                                          <p:spTgt spid="11">
                                            <p:txEl>
                                              <p:pRg st="1" end="1"/>
                                            </p:txEl>
                                          </p:spTgt>
                                        </p:tgtEl>
                                        <p:attrNameLst>
                                          <p:attrName>style.visibility</p:attrName>
                                        </p:attrNameLst>
                                      </p:cBhvr>
                                      <p:to>
                                        <p:strVal val="visible"/>
                                      </p:to>
                                    </p:set>
                                    <p:animEffect transition="in" filter="wipe(left)">
                                      <p:cBhvr>
                                        <p:cTn id="57" dur="500"/>
                                        <p:tgtEl>
                                          <p:spTgt spid="11">
                                            <p:txEl>
                                              <p:pRg st="1" end="1"/>
                                            </p:txEl>
                                          </p:spTgt>
                                        </p:tgtEl>
                                      </p:cBhvr>
                                    </p:animEffect>
                                  </p:childTnLst>
                                </p:cTn>
                              </p:par>
                              <p:par>
                                <p:cTn id="58" presetID="22" presetClass="entr" presetSubtype="8" fill="hold" nodeType="withEffect">
                                  <p:stCondLst>
                                    <p:cond delay="0"/>
                                  </p:stCondLst>
                                  <p:childTnLst>
                                    <p:set>
                                      <p:cBhvr>
                                        <p:cTn id="59" dur="1" fill="hold">
                                          <p:stCondLst>
                                            <p:cond delay="0"/>
                                          </p:stCondLst>
                                        </p:cTn>
                                        <p:tgtEl>
                                          <p:spTgt spid="11">
                                            <p:txEl>
                                              <p:pRg st="2" end="2"/>
                                            </p:txEl>
                                          </p:spTgt>
                                        </p:tgtEl>
                                        <p:attrNameLst>
                                          <p:attrName>style.visibility</p:attrName>
                                        </p:attrNameLst>
                                      </p:cBhvr>
                                      <p:to>
                                        <p:strVal val="visible"/>
                                      </p:to>
                                    </p:set>
                                    <p:animEffect transition="in" filter="wipe(left)">
                                      <p:cBhvr>
                                        <p:cTn id="60" dur="500"/>
                                        <p:tgtEl>
                                          <p:spTgt spid="11">
                                            <p:txEl>
                                              <p:pRg st="2" end="2"/>
                                            </p:txEl>
                                          </p:spTgt>
                                        </p:tgtEl>
                                      </p:cBhvr>
                                    </p:animEffect>
                                  </p:childTnLst>
                                </p:cTn>
                              </p:par>
                              <p:par>
                                <p:cTn id="61" presetID="22" presetClass="entr" presetSubtype="8" fill="hold" nodeType="withEffect">
                                  <p:stCondLst>
                                    <p:cond delay="0"/>
                                  </p:stCondLst>
                                  <p:childTnLst>
                                    <p:set>
                                      <p:cBhvr>
                                        <p:cTn id="62" dur="1" fill="hold">
                                          <p:stCondLst>
                                            <p:cond delay="0"/>
                                          </p:stCondLst>
                                        </p:cTn>
                                        <p:tgtEl>
                                          <p:spTgt spid="11">
                                            <p:txEl>
                                              <p:pRg st="3" end="3"/>
                                            </p:txEl>
                                          </p:spTgt>
                                        </p:tgtEl>
                                        <p:attrNameLst>
                                          <p:attrName>style.visibility</p:attrName>
                                        </p:attrNameLst>
                                      </p:cBhvr>
                                      <p:to>
                                        <p:strVal val="visible"/>
                                      </p:to>
                                    </p:set>
                                    <p:animEffect transition="in" filter="wipe(left)">
                                      <p:cBhvr>
                                        <p:cTn id="63" dur="500"/>
                                        <p:tgtEl>
                                          <p:spTgt spid="11">
                                            <p:txEl>
                                              <p:pRg st="3" end="3"/>
                                            </p:txEl>
                                          </p:spTgt>
                                        </p:tgtEl>
                                      </p:cBhvr>
                                    </p:animEffect>
                                  </p:childTnLst>
                                </p:cTn>
                              </p:par>
                              <p:par>
                                <p:cTn id="64" presetID="22" presetClass="entr" presetSubtype="8" fill="hold" nodeType="withEffect">
                                  <p:stCondLst>
                                    <p:cond delay="0"/>
                                  </p:stCondLst>
                                  <p:childTnLst>
                                    <p:set>
                                      <p:cBhvr>
                                        <p:cTn id="65" dur="1" fill="hold">
                                          <p:stCondLst>
                                            <p:cond delay="0"/>
                                          </p:stCondLst>
                                        </p:cTn>
                                        <p:tgtEl>
                                          <p:spTgt spid="11">
                                            <p:txEl>
                                              <p:pRg st="4" end="4"/>
                                            </p:txEl>
                                          </p:spTgt>
                                        </p:tgtEl>
                                        <p:attrNameLst>
                                          <p:attrName>style.visibility</p:attrName>
                                        </p:attrNameLst>
                                      </p:cBhvr>
                                      <p:to>
                                        <p:strVal val="visible"/>
                                      </p:to>
                                    </p:set>
                                    <p:animEffect transition="in" filter="wipe(left)">
                                      <p:cBhvr>
                                        <p:cTn id="66" dur="500"/>
                                        <p:tgtEl>
                                          <p:spTgt spid="11">
                                            <p:txEl>
                                              <p:pRg st="4" end="4"/>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4"/>
                                        </p:tgtEl>
                                        <p:attrNameLst>
                                          <p:attrName>style.visibility</p:attrName>
                                        </p:attrNameLst>
                                      </p:cBhvr>
                                      <p:to>
                                        <p:strVal val="visible"/>
                                      </p:to>
                                    </p:set>
                                    <p:animEffect transition="in" filter="wipe(left)">
                                      <p:cBhvr>
                                        <p:cTn id="71" dur="500"/>
                                        <p:tgtEl>
                                          <p:spTgt spid="4"/>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5"/>
                                        </p:tgtEl>
                                        <p:attrNameLst>
                                          <p:attrName>style.visibility</p:attrName>
                                        </p:attrNameLst>
                                      </p:cBhvr>
                                      <p:to>
                                        <p:strVal val="visible"/>
                                      </p:to>
                                    </p:set>
                                    <p:animEffect transition="in" filter="wipe(left)">
                                      <p:cBhvr>
                                        <p:cTn id="76" dur="500"/>
                                        <p:tgtEl>
                                          <p:spTgt spid="5"/>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wipe(left)">
                                      <p:cBhvr>
                                        <p:cTn id="81" dur="500"/>
                                        <p:tgtEl>
                                          <p:spTgt spid="9"/>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94"/>
                                        </p:tgtEl>
                                        <p:attrNameLst>
                                          <p:attrName>style.visibility</p:attrName>
                                        </p:attrNameLst>
                                      </p:cBhvr>
                                      <p:to>
                                        <p:strVal val="visible"/>
                                      </p:to>
                                    </p:set>
                                    <p:animEffect transition="in" filter="wipe(left)">
                                      <p:cBhvr>
                                        <p:cTn id="86" dur="500"/>
                                        <p:tgtEl>
                                          <p:spTgt spid="9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11">
                                            <p:txEl>
                                              <p:pRg st="5" end="5"/>
                                            </p:txEl>
                                          </p:spTgt>
                                        </p:tgtEl>
                                        <p:attrNameLst>
                                          <p:attrName>style.visibility</p:attrName>
                                        </p:attrNameLst>
                                      </p:cBhvr>
                                      <p:to>
                                        <p:strVal val="visible"/>
                                      </p:to>
                                    </p:set>
                                    <p:animEffect transition="in" filter="wipe(left)">
                                      <p:cBhvr>
                                        <p:cTn id="91" dur="500"/>
                                        <p:tgtEl>
                                          <p:spTgt spid="11">
                                            <p:txEl>
                                              <p:pRg st="5" end="5"/>
                                            </p:txEl>
                                          </p:spTgt>
                                        </p:tgtEl>
                                      </p:cBhvr>
                                    </p:animEffect>
                                  </p:childTnLst>
                                </p:cTn>
                              </p:par>
                              <p:par>
                                <p:cTn id="92" presetID="22" presetClass="entr" presetSubtype="8" fill="hold" nodeType="withEffect">
                                  <p:stCondLst>
                                    <p:cond delay="0"/>
                                  </p:stCondLst>
                                  <p:childTnLst>
                                    <p:set>
                                      <p:cBhvr>
                                        <p:cTn id="93" dur="1" fill="hold">
                                          <p:stCondLst>
                                            <p:cond delay="0"/>
                                          </p:stCondLst>
                                        </p:cTn>
                                        <p:tgtEl>
                                          <p:spTgt spid="11">
                                            <p:txEl>
                                              <p:pRg st="6" end="6"/>
                                            </p:txEl>
                                          </p:spTgt>
                                        </p:tgtEl>
                                        <p:attrNameLst>
                                          <p:attrName>style.visibility</p:attrName>
                                        </p:attrNameLst>
                                      </p:cBhvr>
                                      <p:to>
                                        <p:strVal val="visible"/>
                                      </p:to>
                                    </p:set>
                                    <p:animEffect transition="in" filter="wipe(left)">
                                      <p:cBhvr>
                                        <p:cTn id="94"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9" grpId="0"/>
      <p:bldP spid="70" grpId="0"/>
      <p:bldP spid="79" grpId="0"/>
      <p:bldP spid="79" grpId="1"/>
      <p:bldP spid="82" grpId="0"/>
      <p:bldP spid="82" grpId="1"/>
      <p:bldP spid="83" grpId="0"/>
      <p:bldP spid="83" grpId="1"/>
      <p:bldP spid="84" grpId="0"/>
      <p:bldP spid="84" grpId="1"/>
      <p:bldP spid="85" grpId="0"/>
      <p:bldP spid="85" grpId="1"/>
      <p:bldP spid="86" grpId="1"/>
      <p:bldP spid="92" grpId="0"/>
      <p:bldP spid="9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3"/>
            </p:custDataLst>
          </p:nvPr>
        </p:nvSpPr>
        <p:spPr>
          <a:xfrm>
            <a:off x="400050" y="2214880"/>
            <a:ext cx="7315200" cy="3594100"/>
          </a:xfrm>
          <a:prstGeom prst="rect">
            <a:avLst/>
          </a:prstGeom>
          <a:noFill/>
        </p:spPr>
        <p:txBody>
          <a:bodyPr wrap="square" rtlCol="0" anchor="ctr" anchorCtr="0">
            <a:noAutofit/>
          </a:bodyPr>
          <a:lstStyle/>
          <a:p>
            <a:pPr>
              <a:lnSpc>
                <a:spcPct val="150000"/>
              </a:lnSpc>
              <a:buNone/>
            </a:pPr>
            <a:r>
              <a:rPr lang="en-US" altLang="zh-CN" sz="2600">
                <a:solidFill>
                  <a:srgbClr val="000000"/>
                </a:solidFill>
              </a:rPr>
              <a:t>1</a:t>
            </a:r>
            <a:r>
              <a:rPr lang="zh-CN" altLang="en-US" sz="2600">
                <a:solidFill>
                  <a:srgbClr val="000000"/>
                </a:solidFill>
              </a:rPr>
              <a:t>、求线性目标函数的取值范围</a:t>
            </a:r>
          </a:p>
          <a:p>
            <a:pPr>
              <a:lnSpc>
                <a:spcPct val="150000"/>
              </a:lnSpc>
              <a:buNone/>
            </a:pPr>
            <a:endParaRPr lang="zh-CN" altLang="en-US" sz="2600">
              <a:solidFill>
                <a:srgbClr val="000000"/>
              </a:solidFill>
            </a:endParaRPr>
          </a:p>
          <a:p>
            <a:pPr indent="546100">
              <a:lnSpc>
                <a:spcPct val="150000"/>
              </a:lnSpc>
              <a:buNone/>
            </a:pPr>
            <a:r>
              <a:rPr lang="zh-CN" altLang="en-US" sz="2600">
                <a:solidFill>
                  <a:srgbClr val="000000"/>
                </a:solidFill>
              </a:rPr>
              <a:t>若</a:t>
            </a:r>
            <a:r>
              <a:rPr lang="zh-CN" altLang="en-US" sz="2600" i="1">
                <a:solidFill>
                  <a:srgbClr val="000000"/>
                </a:solidFill>
              </a:rPr>
              <a:t>x</a:t>
            </a:r>
            <a:r>
              <a:rPr lang="en-US" altLang="zh-CN" sz="2600" baseline="-25000">
                <a:solidFill>
                  <a:srgbClr val="000000"/>
                </a:solidFill>
              </a:rPr>
              <a:t>1</a:t>
            </a:r>
            <a:r>
              <a:rPr lang="zh-CN" altLang="en-US" sz="2600">
                <a:solidFill>
                  <a:srgbClr val="000000"/>
                </a:solidFill>
              </a:rPr>
              <a:t>、</a:t>
            </a:r>
            <a:r>
              <a:rPr lang="en-US" altLang="zh-CN" sz="2600" i="1">
                <a:solidFill>
                  <a:srgbClr val="000000"/>
                </a:solidFill>
              </a:rPr>
              <a:t>x</a:t>
            </a:r>
            <a:r>
              <a:rPr lang="en-US" altLang="zh-CN" sz="2600" baseline="-25000">
                <a:solidFill>
                  <a:srgbClr val="000000"/>
                </a:solidFill>
              </a:rPr>
              <a:t>2</a:t>
            </a:r>
            <a:r>
              <a:rPr lang="zh-CN" altLang="en-US" sz="2600">
                <a:solidFill>
                  <a:srgbClr val="000000"/>
                </a:solidFill>
              </a:rPr>
              <a:t>满足约束条件</a:t>
            </a:r>
          </a:p>
          <a:p>
            <a:pPr indent="546100">
              <a:lnSpc>
                <a:spcPct val="150000"/>
              </a:lnSpc>
              <a:buNone/>
            </a:pPr>
            <a:endParaRPr lang="zh-CN" altLang="en-US" sz="2600">
              <a:solidFill>
                <a:srgbClr val="000000"/>
              </a:solidFill>
            </a:endParaRPr>
          </a:p>
          <a:p>
            <a:pPr indent="546100">
              <a:lnSpc>
                <a:spcPct val="150000"/>
              </a:lnSpc>
              <a:buNone/>
            </a:pPr>
            <a:r>
              <a:rPr lang="zh-CN" altLang="en-US" sz="2600">
                <a:solidFill>
                  <a:srgbClr val="000000"/>
                </a:solidFill>
              </a:rPr>
              <a:t>则求</a:t>
            </a:r>
            <a:r>
              <a:rPr lang="zh-CN" altLang="en-US" sz="2600" i="1">
                <a:solidFill>
                  <a:srgbClr val="000000"/>
                </a:solidFill>
              </a:rPr>
              <a:t>z</a:t>
            </a:r>
            <a:r>
              <a:rPr lang="zh-CN" altLang="en-US" sz="2600">
                <a:solidFill>
                  <a:srgbClr val="000000"/>
                </a:solidFill>
              </a:rPr>
              <a:t>=</a:t>
            </a:r>
            <a:r>
              <a:rPr lang="zh-CN" altLang="en-US" sz="2600" i="1">
                <a:solidFill>
                  <a:srgbClr val="000000"/>
                </a:solidFill>
              </a:rPr>
              <a:t>x</a:t>
            </a:r>
            <a:r>
              <a:rPr lang="zh-CN" altLang="en-US" sz="2600">
                <a:solidFill>
                  <a:srgbClr val="000000"/>
                </a:solidFill>
              </a:rPr>
              <a:t>+2y的取值范围为 </a:t>
            </a:r>
            <a:r>
              <a:rPr lang="zh-CN" altLang="en-US" sz="2600">
                <a:solidFill>
                  <a:srgbClr val="639EF4"/>
                </a:solidFill>
              </a:rPr>
              <a:t>[填空1]</a:t>
            </a:r>
            <a:r>
              <a:rPr lang="zh-CN" altLang="en-US" sz="2600">
                <a:solidFill>
                  <a:srgbClr val="000000"/>
                </a:solidFill>
              </a:rPr>
              <a:t> 至 </a:t>
            </a:r>
            <a:r>
              <a:rPr lang="zh-CN" altLang="en-US" sz="2600">
                <a:solidFill>
                  <a:srgbClr val="639EF4"/>
                </a:solidFill>
              </a:rPr>
              <a:t>[填空2]</a:t>
            </a:r>
            <a:r>
              <a:rPr lang="zh-CN" altLang="en-US" sz="2600">
                <a:solidFill>
                  <a:srgbClr val="000000"/>
                </a:solidFill>
              </a:rPr>
              <a:t> </a:t>
            </a:r>
          </a:p>
          <a:p>
            <a:pPr indent="546100">
              <a:lnSpc>
                <a:spcPct val="150000"/>
              </a:lnSpc>
              <a:buNone/>
            </a:pPr>
            <a:endParaRPr lang="zh-CN" altLang="en-US" sz="2600">
              <a:solidFill>
                <a:srgbClr val="000000"/>
              </a:solidFill>
            </a:endParaRPr>
          </a:p>
          <a:p>
            <a:pPr indent="546100">
              <a:lnSpc>
                <a:spcPct val="150000"/>
              </a:lnSpc>
              <a:buNone/>
            </a:pPr>
            <a:endParaRPr lang="zh-CN" altLang="en-US" sz="2600">
              <a:solidFill>
                <a:srgbClr val="000000"/>
              </a:solidFill>
            </a:endParaRPr>
          </a:p>
          <a:p>
            <a:pPr indent="546100">
              <a:lnSpc>
                <a:spcPct val="150000"/>
              </a:lnSpc>
              <a:buNone/>
            </a:pPr>
            <a:endParaRPr lang="zh-CN" altLang="en-US" sz="2600">
              <a:solidFill>
                <a:srgbClr val="000000"/>
              </a:solidFill>
            </a:endParaRPr>
          </a:p>
        </p:txBody>
      </p:sp>
      <p:sp>
        <p:nvSpPr>
          <p:cNvPr id="6" name="圆角矩形 5"/>
          <p:cNvSpPr/>
          <p:nvPr>
            <p:custDataLst>
              <p:tags r:id="rId4"/>
            </p:custDataLst>
          </p:nvPr>
        </p:nvSpPr>
        <p:spPr>
          <a:xfrm>
            <a:off x="6172200" y="6214745"/>
            <a:ext cx="1543050" cy="411480"/>
          </a:xfrm>
          <a:prstGeom prst="roundRect">
            <a:avLst/>
          </a:prstGeom>
          <a:solidFill>
            <a:srgbClr val="808080"/>
          </a:solidFill>
          <a:ln w="38100" cap="sq" cmpd="sng" algn="ctr">
            <a:solidFill>
              <a:srgbClr val="000000"/>
            </a:solidFill>
            <a:prstDash val="solid"/>
            <a:round/>
            <a:headEnd type="none" w="sm" len="sm"/>
            <a:tailEnd type="none" w="sm" len="sm"/>
          </a:ln>
        </p:spPr>
        <p:txBody>
          <a:bodyPr vert="horz" wrap="square" lIns="91440" tIns="45720" rIns="91440" bIns="45720" numCol="1" anchor="ctr" anchorCtr="1" compatLnSpc="1">
            <a:noAutofit/>
          </a:bodyPr>
          <a:lstStyle/>
          <a:p>
            <a:pPr marL="0" marR="0" indent="0" algn="l" defTabSz="914400" rtl="0" eaLnBrk="0" fontAlgn="base" latinLnBrk="0" hangingPunct="0">
              <a:lnSpc>
                <a:spcPct val="100000"/>
              </a:lnSpc>
              <a:spcBef>
                <a:spcPct val="0"/>
              </a:spcBef>
              <a:spcAft>
                <a:spcPct val="0"/>
              </a:spcAft>
              <a:buClrTx/>
              <a:buSzTx/>
              <a:buFontTx/>
              <a:buNone/>
            </a:pPr>
            <a:r>
              <a:rPr kumimoji="1" lang="en-US" altLang="zh-CN" sz="1600" b="0" i="0" u="none" strike="noStrike" cap="none" normalizeH="0" baseline="0" smtClean="0">
                <a:ln>
                  <a:noFill/>
                </a:ln>
                <a:solidFill>
                  <a:srgbClr val="FFFFFF"/>
                </a:solidFill>
                <a:effectLst/>
                <a:latin typeface="微软雅黑" panose="020B0503020204020204" charset="-122"/>
                <a:ea typeface="微软雅黑" panose="020B0503020204020204" charset="-122"/>
              </a:rPr>
              <a:t>作答</a:t>
            </a:r>
          </a:p>
        </p:txBody>
      </p:sp>
      <p:sp>
        <p:nvSpPr>
          <p:cNvPr id="12" name="矩形 11"/>
          <p:cNvSpPr/>
          <p:nvPr>
            <p:custDataLst>
              <p:tags r:id="rId5"/>
            </p:custDataLst>
          </p:nvPr>
        </p:nvSpPr>
        <p:spPr>
          <a:xfrm>
            <a:off x="0" y="5848985"/>
            <a:ext cx="9144000" cy="365760"/>
          </a:xfrm>
          <a:prstGeom prst="rect">
            <a:avLst/>
          </a:prstGeom>
          <a:solidFill>
            <a:srgbClr val="FBFAEF"/>
          </a:solidFill>
          <a:ln w="12700" cap="sq" cmpd="sng" algn="ctr">
            <a:noFill/>
            <a:prstDash val="solid"/>
            <a:round/>
            <a:headEnd type="none" w="sm" len="sm"/>
            <a:tailEnd type="none" w="sm" len="sm"/>
          </a:ln>
          <a:extLst>
            <a:ext uri="{91240B29-F687-4F45-9708-019B960494DF}">
              <a14:hiddenLine xmlns:a14="http://schemas.microsoft.com/office/drawing/2010/main" w="12700">
                <a:solidFill>
                  <a:schemeClr val="tx1"/>
                </a:solidFill>
                <a:prstDash val="solid"/>
                <a:round/>
                <a:headEnd type="none" w="sm" len="sm"/>
                <a:tailEnd type="none" w="sm" len="sm"/>
              </a14:hiddenLine>
            </a:ext>
          </a:extLst>
        </p:spPr>
        <p:txBody>
          <a:bodyPr vert="horz" wrap="none" lIns="91440" tIns="45720" rIns="91440" bIns="45720" numCol="1" anchor="ctr" anchorCtr="1"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200" b="0" i="0" u="none" strike="noStrike" cap="none" normalizeH="0" baseline="0" smtClean="0">
                <a:ln>
                  <a:noFill/>
                </a:ln>
                <a:solidFill>
                  <a:srgbClr val="F84F41"/>
                </a:solidFill>
                <a:effectLst/>
                <a:latin typeface="微软雅黑" panose="020B0503020204020204" charset="-122"/>
                <a:ea typeface="微软雅黑" panose="020B0503020204020204" charset="-122"/>
                <a:cs typeface="微软雅黑" panose="020B0503020204020204" charset="-122"/>
              </a:rPr>
              <a:t>正常使用填空题需3.0以上版本雨课堂</a:t>
            </a:r>
          </a:p>
        </p:txBody>
      </p:sp>
      <p:graphicFrame>
        <p:nvGraphicFramePr>
          <p:cNvPr id="2" name="对象 -2147482624"/>
          <p:cNvGraphicFramePr>
            <a:graphicFrameLocks noChangeAspect="1"/>
          </p:cNvGraphicFramePr>
          <p:nvPr/>
        </p:nvGraphicFramePr>
        <p:xfrm>
          <a:off x="4119563" y="2202180"/>
          <a:ext cx="1894205" cy="1828800"/>
        </p:xfrm>
        <a:graphic>
          <a:graphicData uri="http://schemas.openxmlformats.org/presentationml/2006/ole">
            <mc:AlternateContent xmlns:mc="http://schemas.openxmlformats.org/markup-compatibility/2006">
              <mc:Choice xmlns:v="urn:schemas-microsoft-com:vml" Requires="v">
                <p:oleObj spid="_x0000_s3109" r:id="rId13" imgW="736600" imgH="711200" progId="Equation.DSMT4">
                  <p:embed/>
                </p:oleObj>
              </mc:Choice>
              <mc:Fallback>
                <p:oleObj r:id="rId13" imgW="736600" imgH="711200" progId="Equation.DSMT4">
                  <p:embed/>
                  <p:pic>
                    <p:nvPicPr>
                      <p:cNvPr id="0" name="20 3075"/>
                      <p:cNvPicPr/>
                      <p:nvPr/>
                    </p:nvPicPr>
                    <p:blipFill>
                      <a:blip r:embed="rId14"/>
                      <a:stretch>
                        <a:fillRect/>
                      </a:stretch>
                    </p:blipFill>
                    <p:spPr>
                      <a:xfrm>
                        <a:off x="4119563" y="2202180"/>
                        <a:ext cx="1894205" cy="1828800"/>
                      </a:xfrm>
                      <a:prstGeom prst="rect">
                        <a:avLst/>
                      </a:prstGeom>
                      <a:noFill/>
                      <a:ln w="38100">
                        <a:noFill/>
                        <a:miter/>
                      </a:ln>
                    </p:spPr>
                  </p:pic>
                </p:oleObj>
              </mc:Fallback>
            </mc:AlternateContent>
          </a:graphicData>
        </a:graphic>
      </p:graphicFrame>
      <p:grpSp>
        <p:nvGrpSpPr>
          <p:cNvPr id="11" name="组合 10"/>
          <p:cNvGrpSpPr/>
          <p:nvPr>
            <p:custDataLst>
              <p:tags r:id="rId6"/>
            </p:custDataLst>
          </p:nvPr>
        </p:nvGrpSpPr>
        <p:grpSpPr>
          <a:xfrm>
            <a:off x="0" y="0"/>
            <a:ext cx="9144000" cy="635000"/>
            <a:chOff x="0" y="0"/>
            <a:chExt cx="14400" cy="1000"/>
          </a:xfrm>
        </p:grpSpPr>
        <p:sp>
          <p:nvSpPr>
            <p:cNvPr id="7" name="TitleBackground"/>
            <p:cNvSpPr/>
            <p:nvPr>
              <p:custDataLst>
                <p:tags r:id="rId8"/>
              </p:custDataLst>
            </p:nvPr>
          </p:nvSpPr>
          <p:spPr>
            <a:xfrm>
              <a:off x="0" y="0"/>
              <a:ext cx="14400" cy="1000"/>
            </a:xfrm>
            <a:prstGeom prst="rect">
              <a:avLst/>
            </a:prstGeom>
            <a:solidFill>
              <a:srgbClr val="F6F7F8"/>
            </a:solidFill>
            <a:ln w="12700" cap="sq" cmpd="sng" algn="ctr">
              <a:noFill/>
              <a:prstDash val="solid"/>
              <a:round/>
              <a:headEnd type="none" w="sm" len="sm"/>
              <a:tailEnd type="none" w="sm" len="sm"/>
            </a:ln>
            <a:extLst>
              <a:ext uri="{91240B29-F687-4F45-9708-019B960494DF}">
                <a14:hiddenLine xmlns:a14="http://schemas.microsoft.com/office/drawing/2010/main" w="12700">
                  <a:solidFill>
                    <a:schemeClr val="tx1"/>
                  </a:solidFill>
                  <a:prstDash val="solid"/>
                  <a:round/>
                  <a:headEnd type="none" w="sm" len="sm"/>
                  <a:tailEnd type="none" w="sm" len="sm"/>
                </a14:hiddenLine>
              </a:ext>
            </a:extLst>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8" name="ColorBlock"/>
            <p:cNvSpPr/>
            <p:nvPr>
              <p:custDataLst>
                <p:tags r:id="rId9"/>
              </p:custDataLst>
            </p:nvPr>
          </p:nvSpPr>
          <p:spPr>
            <a:xfrm>
              <a:off x="0" y="0"/>
              <a:ext cx="300" cy="1000"/>
            </a:xfrm>
            <a:prstGeom prst="rect">
              <a:avLst/>
            </a:prstGeom>
            <a:solidFill>
              <a:srgbClr val="639EF4"/>
            </a:solidFill>
            <a:ln w="12700" cap="sq" cmpd="sng" algn="ctr">
              <a:noFill/>
              <a:prstDash val="solid"/>
              <a:round/>
              <a:headEnd type="none" w="sm" len="sm"/>
              <a:tailEnd type="none" w="sm" len="sm"/>
            </a:ln>
            <a:extLst>
              <a:ext uri="{91240B29-F687-4F45-9708-019B960494DF}">
                <a14:hiddenLine xmlns:a14="http://schemas.microsoft.com/office/drawing/2010/main" w="12700">
                  <a:solidFill>
                    <a:schemeClr val="tx1"/>
                  </a:solidFill>
                  <a:prstDash val="solid"/>
                  <a:round/>
                  <a:headEnd type="none" w="sm" len="sm"/>
                  <a:tailEnd type="none" w="sm" len="sm"/>
                </a14:hiddenLine>
              </a:ext>
            </a:extLst>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9" name="TypeText"/>
            <p:cNvSpPr txBox="1"/>
            <p:nvPr>
              <p:custDataLst>
                <p:tags r:id="rId10"/>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填空题</a:t>
              </a:r>
            </a:p>
          </p:txBody>
        </p:sp>
        <p:sp>
          <p:nvSpPr>
            <p:cNvPr id="10" name="TipText"/>
            <p:cNvSpPr txBox="1"/>
            <p:nvPr>
              <p:custDataLst>
                <p:tags r:id="rId11"/>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10分</a:t>
              </a:r>
            </a:p>
          </p:txBody>
        </p:sp>
      </p:grpSp>
      <p:pic>
        <p:nvPicPr>
          <p:cNvPr id="4" name="20 3" descr="tmpB632"/>
          <p:cNvPicPr>
            <a:picLocks noChangeAspect="1"/>
          </p:cNvPicPr>
          <p:nvPr>
            <p:custDataLst>
              <p:tags r:id="rId7"/>
            </p:custDataLst>
          </p:nvPr>
        </p:nvPicPr>
        <p:blipFill>
          <a:blip r:embed="rId15"/>
          <a:stretch>
            <a:fillRect/>
          </a:stretch>
        </p:blipFill>
        <p:spPr>
          <a:xfrm>
            <a:off x="7594600" y="63500"/>
            <a:ext cx="1422400" cy="508000"/>
          </a:xfrm>
          <a:prstGeom prst="rect">
            <a:avLst/>
          </a:prstGeom>
        </p:spPr>
      </p:pic>
    </p:spTree>
    <p:custDataLst>
      <p:tags r:id="rId2"/>
    </p:custData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Box 4"/>
          <p:cNvSpPr txBox="1"/>
          <p:nvPr>
            <p:custDataLst>
              <p:tags r:id="rId3"/>
            </p:custDataLst>
          </p:nvPr>
        </p:nvSpPr>
        <p:spPr>
          <a:xfrm>
            <a:off x="467360" y="1701165"/>
            <a:ext cx="7315200" cy="487045"/>
          </a:xfrm>
          <a:prstGeom prst="rect">
            <a:avLst/>
          </a:prstGeom>
          <a:noFill/>
          <a:ln w="9525">
            <a:noFill/>
          </a:ln>
        </p:spPr>
        <p:txBody>
          <a:bodyPr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使用图解法求线性规划问题的最小值</a:t>
            </a:r>
          </a:p>
        </p:txBody>
      </p:sp>
      <p:sp>
        <p:nvSpPr>
          <p:cNvPr id="6" name="圆角矩形 5"/>
          <p:cNvSpPr/>
          <p:nvPr>
            <p:custDataLst>
              <p:tags r:id="rId4"/>
            </p:custDataLst>
          </p:nvPr>
        </p:nvSpPr>
        <p:spPr>
          <a:xfrm>
            <a:off x="6172200" y="6215063"/>
            <a:ext cx="1543050" cy="411163"/>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作答</a:t>
            </a:r>
          </a:p>
        </p:txBody>
      </p:sp>
      <p:sp>
        <p:nvSpPr>
          <p:cNvPr id="12" name="矩形 11"/>
          <p:cNvSpPr/>
          <p:nvPr>
            <p:custDataLst>
              <p:tags r:id="rId5"/>
            </p:custDataLst>
          </p:nvPr>
        </p:nvSpPr>
        <p:spPr>
          <a:xfrm>
            <a:off x="0" y="5849938"/>
            <a:ext cx="9144000" cy="365125"/>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anchor="ctr" anchorCtr="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rgbClr val="F84F41"/>
                </a:solidFill>
                <a:effectLst/>
                <a:uLnTx/>
                <a:uFillTx/>
                <a:latin typeface="微软雅黑" panose="020B0503020204020204" charset="-122"/>
                <a:ea typeface="微软雅黑" panose="020B0503020204020204" charset="-122"/>
                <a:cs typeface="+mn-cs"/>
                <a:sym typeface="微软雅黑" panose="020B0503020204020204" charset="-122"/>
              </a:rPr>
              <a:t>正常使用主观题需</a:t>
            </a:r>
            <a:r>
              <a:rPr kumimoji="0" lang="en-US" altLang="zh-CN" sz="1200" b="0" i="0" u="none" strike="noStrike" kern="1200" cap="none" spc="0" normalizeH="0" baseline="0" noProof="0">
                <a:ln>
                  <a:noFill/>
                </a:ln>
                <a:solidFill>
                  <a:srgbClr val="F84F41"/>
                </a:solidFill>
                <a:effectLst/>
                <a:uLnTx/>
                <a:uFillTx/>
                <a:latin typeface="微软雅黑" panose="020B0503020204020204" charset="-122"/>
                <a:ea typeface="微软雅黑" panose="020B0503020204020204" charset="-122"/>
                <a:cs typeface="+mn-cs"/>
                <a:sym typeface="微软雅黑" panose="020B0503020204020204" charset="-122"/>
              </a:rPr>
              <a:t>2.0</a:t>
            </a:r>
            <a:r>
              <a:rPr kumimoji="0" lang="zh-CN" altLang="en-US" sz="1200" b="0" i="0" u="none" strike="noStrike" kern="1200" cap="none" spc="0" normalizeH="0" baseline="0" noProof="0">
                <a:ln>
                  <a:noFill/>
                </a:ln>
                <a:solidFill>
                  <a:srgbClr val="F84F41"/>
                </a:solidFill>
                <a:effectLst/>
                <a:uLnTx/>
                <a:uFillTx/>
                <a:latin typeface="微软雅黑" panose="020B0503020204020204" charset="-122"/>
                <a:ea typeface="微软雅黑" panose="020B0503020204020204" charset="-122"/>
                <a:cs typeface="+mn-cs"/>
                <a:sym typeface="微软雅黑" panose="020B0503020204020204" charset="-122"/>
              </a:rPr>
              <a:t>以上版本雨课堂</a:t>
            </a:r>
          </a:p>
        </p:txBody>
      </p:sp>
      <p:graphicFrame>
        <p:nvGraphicFramePr>
          <p:cNvPr id="9221" name="对象 12"/>
          <p:cNvGraphicFramePr>
            <a:graphicFrameLocks noChangeAspect="1"/>
          </p:cNvGraphicFramePr>
          <p:nvPr/>
        </p:nvGraphicFramePr>
        <p:xfrm>
          <a:off x="2339340" y="2348865"/>
          <a:ext cx="3328988" cy="3328988"/>
        </p:xfrm>
        <a:graphic>
          <a:graphicData uri="http://schemas.openxmlformats.org/presentationml/2006/ole">
            <mc:AlternateContent xmlns:mc="http://schemas.openxmlformats.org/markup-compatibility/2006">
              <mc:Choice xmlns:v="urn:schemas-microsoft-com:vml" Requires="v">
                <p:oleObj spid="_x0000_s4128" r:id="rId13" imgW="1168400" imgH="1168400" progId="Equation.DSMT4">
                  <p:embed/>
                </p:oleObj>
              </mc:Choice>
              <mc:Fallback>
                <p:oleObj r:id="rId13" imgW="1168400" imgH="1168400" progId="Equation.DSMT4">
                  <p:embed/>
                  <p:pic>
                    <p:nvPicPr>
                      <p:cNvPr id="0" name="20 3075"/>
                      <p:cNvPicPr/>
                      <p:nvPr/>
                    </p:nvPicPr>
                    <p:blipFill>
                      <a:blip r:embed="rId14"/>
                      <a:stretch>
                        <a:fillRect/>
                      </a:stretch>
                    </p:blipFill>
                    <p:spPr>
                      <a:xfrm>
                        <a:off x="2339340" y="2348865"/>
                        <a:ext cx="3328988" cy="3328988"/>
                      </a:xfrm>
                      <a:prstGeom prst="rect">
                        <a:avLst/>
                      </a:prstGeom>
                      <a:noFill/>
                      <a:ln w="38100">
                        <a:noFill/>
                        <a:miter/>
                      </a:ln>
                    </p:spPr>
                  </p:pic>
                </p:oleObj>
              </mc:Fallback>
            </mc:AlternateContent>
          </a:graphicData>
        </a:graphic>
      </p:graphicFrame>
      <p:grpSp>
        <p:nvGrpSpPr>
          <p:cNvPr id="9222" name="组合 10"/>
          <p:cNvGrpSpPr/>
          <p:nvPr>
            <p:custDataLst>
              <p:tags r:id="rId6"/>
            </p:custDataLst>
          </p:nvPr>
        </p:nvGrpSpPr>
        <p:grpSpPr>
          <a:xfrm>
            <a:off x="0" y="0"/>
            <a:ext cx="9144000" cy="635000"/>
            <a:chOff x="0" y="0"/>
            <a:chExt cx="9144000" cy="635000"/>
          </a:xfrm>
        </p:grpSpPr>
        <p:sp>
          <p:nvSpPr>
            <p:cNvPr id="7" name="TitleBackground"/>
            <p:cNvSpPr/>
            <p:nvPr>
              <p:custDataLst>
                <p:tags r:id="rId8"/>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ColorBlock"/>
            <p:cNvSpPr/>
            <p:nvPr>
              <p:custDataLst>
                <p:tags r:id="rId9"/>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226" name="TypeText"/>
            <p:cNvSpPr txBox="1"/>
            <p:nvPr>
              <p:custDataLst>
                <p:tags r:id="rId10"/>
              </p:custDataLst>
            </p:nvPr>
          </p:nvSpPr>
          <p:spPr>
            <a:xfrm>
              <a:off x="254000" y="0"/>
              <a:ext cx="1905000" cy="635000"/>
            </a:xfrm>
            <a:prstGeom prst="rect">
              <a:avLst/>
            </a:prstGeom>
            <a:noFill/>
            <a:ln w="9525">
              <a:noFill/>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主观题</a:t>
              </a:r>
            </a:p>
          </p:txBody>
        </p:sp>
        <p:sp>
          <p:nvSpPr>
            <p:cNvPr id="9227" name="TipText"/>
            <p:cNvSpPr txBox="1"/>
            <p:nvPr>
              <p:custDataLst>
                <p:tags r:id="rId11"/>
              </p:custDataLst>
            </p:nvPr>
          </p:nvSpPr>
          <p:spPr>
            <a:xfrm>
              <a:off x="1525905" y="109220"/>
              <a:ext cx="2286000" cy="508000"/>
            </a:xfrm>
            <a:prstGeom prst="rect">
              <a:avLst/>
            </a:prstGeom>
            <a:noFill/>
            <a:ln w="9525">
              <a:noFill/>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808080"/>
                  </a:solidFill>
                  <a:latin typeface="微软雅黑" panose="020B0503020204020204" charset="-122"/>
                  <a:ea typeface="微软雅黑" panose="020B0503020204020204" charset="-122"/>
                  <a:sym typeface="微软雅黑" panose="020B0503020204020204" charset="-122"/>
                </a:rPr>
                <a:t>5</a:t>
              </a:r>
              <a:r>
                <a:rPr lang="zh-CN" altLang="en-US" sz="2000" dirty="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9223" name="20 3"/>
          <p:cNvPicPr/>
          <p:nvPr>
            <p:custDataLst>
              <p:tags r:id="rId7"/>
            </p:custDataLst>
          </p:nvPr>
        </p:nvPicPr>
        <p:blipFill>
          <a:blip r:embed="rId15"/>
          <a:stretch>
            <a:fillRect/>
          </a:stretch>
        </p:blipFill>
        <p:spPr>
          <a:xfrm>
            <a:off x="7594600" y="63500"/>
            <a:ext cx="1422400" cy="508000"/>
          </a:xfrm>
          <a:prstGeom prst="rect">
            <a:avLst/>
          </a:prstGeom>
          <a:noFill/>
          <a:ln w="9525">
            <a:noFill/>
          </a:ln>
        </p:spPr>
      </p:pic>
    </p:spTree>
    <p:custDataLst>
      <p:tags r:id="rId2"/>
    </p:custData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470535" y="1556792"/>
            <a:ext cx="4822304" cy="576064"/>
          </a:xfrm>
        </p:spPr>
        <p:txBody>
          <a:bodyPr vert="horz" wrap="square" lIns="91440" tIns="45720" rIns="91440" bIns="45720" anchor="ctr"/>
          <a:lstStyle/>
          <a:p>
            <a:pPr marL="342900" indent="-342900" eaLnBrk="1" hangingPunct="1">
              <a:buFont typeface="Wingdings" panose="05000000000000000000" pitchFamily="2" charset="2"/>
              <a:buChar char="p"/>
            </a:pPr>
            <a:r>
              <a:rPr lang="zh-CN" altLang="en-US" sz="2400" dirty="0" smtClean="0">
                <a:solidFill>
                  <a:schemeClr val="bg2"/>
                </a:solidFill>
              </a:rPr>
              <a:t>线性规划解的四种情况</a:t>
            </a:r>
            <a:endParaRPr lang="zh-CN" altLang="en-US" sz="2400" dirty="0">
              <a:solidFill>
                <a:schemeClr val="bg2"/>
              </a:solidFill>
            </a:endParaRPr>
          </a:p>
        </p:txBody>
      </p:sp>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6.1 </a:t>
            </a:r>
            <a:r>
              <a:rPr kumimoji="0" lang="zh-CN" altLang="en-US" kern="1200" dirty="0" smtClean="0">
                <a:solidFill>
                  <a:schemeClr val="accent2"/>
                </a:solidFill>
                <a:sym typeface="+mn-ea"/>
              </a:rPr>
              <a:t>线性规划模型</a:t>
            </a:r>
            <a:endParaRPr kumimoji="0" lang="en-US" altLang="zh-CN" kern="1200" dirty="0" smtClean="0">
              <a:solidFill>
                <a:schemeClr val="accent2"/>
              </a:solidFill>
              <a:sym typeface="+mn-ea"/>
            </a:endParaRPr>
          </a:p>
        </p:txBody>
      </p:sp>
      <p:sp>
        <p:nvSpPr>
          <p:cNvPr id="10243" name="Rectangle 3"/>
          <p:cNvSpPr>
            <a:spLocks noGrp="1"/>
          </p:cNvSpPr>
          <p:nvPr>
            <p:ph idx="1"/>
          </p:nvPr>
        </p:nvSpPr>
        <p:spPr>
          <a:xfrm>
            <a:off x="685800" y="2061210"/>
            <a:ext cx="7772400" cy="4114800"/>
          </a:xfrm>
        </p:spPr>
        <p:txBody>
          <a:bodyPr vert="horz" wrap="square" lIns="91440" tIns="45720" rIns="91440" bIns="45720" anchor="t"/>
          <a:lstStyle/>
          <a:p>
            <a:pPr eaLnBrk="1" hangingPunct="1">
              <a:lnSpc>
                <a:spcPct val="120000"/>
              </a:lnSpc>
              <a:spcBef>
                <a:spcPts val="20"/>
              </a:spcBef>
              <a:spcAft>
                <a:spcPts val="0"/>
              </a:spcAft>
              <a:buFont typeface="Arial" panose="020B0604020202020204" pitchFamily="34" charset="0"/>
              <a:buChar char="•"/>
            </a:pPr>
            <a:r>
              <a:rPr lang="zh-CN" altLang="en-US" sz="2400" dirty="0">
                <a:solidFill>
                  <a:srgbClr val="FF0000"/>
                </a:solidFill>
              </a:rPr>
              <a:t>唯一最优解</a:t>
            </a:r>
          </a:p>
          <a:p>
            <a:pPr lvl="1" eaLnBrk="1" hangingPunct="1">
              <a:lnSpc>
                <a:spcPct val="120000"/>
              </a:lnSpc>
              <a:spcBef>
                <a:spcPts val="20"/>
              </a:spcBef>
              <a:spcAft>
                <a:spcPts val="0"/>
              </a:spcAft>
              <a:buFont typeface="Wingdings" panose="05000000000000000000" charset="0"/>
              <a:buChar char="ü"/>
            </a:pPr>
            <a:r>
              <a:rPr lang="zh-CN" altLang="en-US" sz="2400" dirty="0">
                <a:solidFill>
                  <a:schemeClr val="bg2"/>
                </a:solidFill>
              </a:rPr>
              <a:t>最优解一定在可行域的某个顶点上。</a:t>
            </a:r>
            <a:endParaRPr lang="zh-CN" altLang="en-US" sz="2400" dirty="0">
              <a:solidFill>
                <a:schemeClr val="bg1"/>
              </a:solidFill>
            </a:endParaRPr>
          </a:p>
          <a:p>
            <a:pPr eaLnBrk="1" hangingPunct="1">
              <a:lnSpc>
                <a:spcPct val="120000"/>
              </a:lnSpc>
              <a:spcBef>
                <a:spcPts val="20"/>
              </a:spcBef>
              <a:spcAft>
                <a:spcPts val="0"/>
              </a:spcAft>
              <a:buFont typeface="Arial" panose="020B0604020202020204" pitchFamily="34" charset="0"/>
              <a:buChar char="•"/>
            </a:pPr>
            <a:r>
              <a:rPr lang="zh-CN" altLang="en-US" sz="2400" dirty="0">
                <a:solidFill>
                  <a:schemeClr val="bg1"/>
                </a:solidFill>
              </a:rPr>
              <a:t>无穷多最优解</a:t>
            </a:r>
          </a:p>
          <a:p>
            <a:pPr lvl="1" eaLnBrk="1" hangingPunct="1">
              <a:lnSpc>
                <a:spcPct val="120000"/>
              </a:lnSpc>
              <a:spcBef>
                <a:spcPts val="20"/>
              </a:spcBef>
              <a:spcAft>
                <a:spcPts val="0"/>
              </a:spcAft>
              <a:buFont typeface="Wingdings" panose="05000000000000000000" charset="0"/>
              <a:buChar char="ü"/>
            </a:pPr>
            <a:r>
              <a:rPr lang="zh-CN" altLang="en-US" sz="2400" dirty="0">
                <a:solidFill>
                  <a:schemeClr val="bg1"/>
                </a:solidFill>
              </a:rPr>
              <a:t>目标函数线与可行域的某条约束线平行，则重合段均为最优解，因此有无穷多个最优解。</a:t>
            </a:r>
          </a:p>
          <a:p>
            <a:pPr eaLnBrk="1" hangingPunct="1">
              <a:lnSpc>
                <a:spcPct val="120000"/>
              </a:lnSpc>
              <a:spcBef>
                <a:spcPts val="20"/>
              </a:spcBef>
              <a:spcAft>
                <a:spcPts val="0"/>
              </a:spcAft>
              <a:buFont typeface="Arial" panose="020B0604020202020204" pitchFamily="34" charset="0"/>
              <a:buChar char="•"/>
            </a:pPr>
            <a:r>
              <a:rPr lang="zh-CN" altLang="en-US" sz="2400" dirty="0">
                <a:solidFill>
                  <a:schemeClr val="bg1"/>
                </a:solidFill>
              </a:rPr>
              <a:t>无界解</a:t>
            </a:r>
          </a:p>
          <a:p>
            <a:pPr lvl="1" eaLnBrk="1" hangingPunct="1">
              <a:lnSpc>
                <a:spcPct val="120000"/>
              </a:lnSpc>
              <a:spcBef>
                <a:spcPts val="20"/>
              </a:spcBef>
              <a:spcAft>
                <a:spcPts val="0"/>
              </a:spcAft>
              <a:buFont typeface="Wingdings" panose="05000000000000000000" charset="0"/>
              <a:buChar char="ü"/>
            </a:pPr>
            <a:r>
              <a:rPr lang="zh-CN" altLang="en-US" sz="2400" dirty="0">
                <a:solidFill>
                  <a:schemeClr val="bg1"/>
                </a:solidFill>
              </a:rPr>
              <a:t>目标函数线移动方向上的可行域是无边界的</a:t>
            </a:r>
          </a:p>
          <a:p>
            <a:pPr eaLnBrk="1" hangingPunct="1">
              <a:lnSpc>
                <a:spcPct val="120000"/>
              </a:lnSpc>
              <a:spcBef>
                <a:spcPts val="20"/>
              </a:spcBef>
              <a:spcAft>
                <a:spcPts val="0"/>
              </a:spcAft>
              <a:buFont typeface="Arial" panose="020B0604020202020204" pitchFamily="34" charset="0"/>
              <a:buChar char="•"/>
            </a:pPr>
            <a:r>
              <a:rPr lang="zh-CN" altLang="en-US" sz="2400" dirty="0">
                <a:solidFill>
                  <a:schemeClr val="bg1"/>
                </a:solidFill>
              </a:rPr>
              <a:t>无最优解（空集）</a:t>
            </a:r>
          </a:p>
          <a:p>
            <a:pPr lvl="1" eaLnBrk="1" hangingPunct="1">
              <a:lnSpc>
                <a:spcPct val="120000"/>
              </a:lnSpc>
              <a:spcBef>
                <a:spcPts val="20"/>
              </a:spcBef>
              <a:spcAft>
                <a:spcPts val="0"/>
              </a:spcAft>
              <a:buFont typeface="Wingdings" panose="05000000000000000000" charset="0"/>
              <a:buChar char="ü"/>
            </a:pPr>
            <a:r>
              <a:rPr lang="zh-CN" altLang="en-US" sz="2400" dirty="0">
                <a:solidFill>
                  <a:schemeClr val="bg1"/>
                </a:solidFill>
              </a:rPr>
              <a:t>可行域为空。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animEffect transition="in" filter="wipe(left)">
                                      <p:cBhvr>
                                        <p:cTn id="7" dur="500"/>
                                        <p:tgtEl>
                                          <p:spTgt spid="1024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43">
                                            <p:txEl>
                                              <p:pRg st="2" end="2"/>
                                            </p:txEl>
                                          </p:spTgt>
                                        </p:tgtEl>
                                        <p:attrNameLst>
                                          <p:attrName>style.visibility</p:attrName>
                                        </p:attrNameLst>
                                      </p:cBhvr>
                                      <p:to>
                                        <p:strVal val="visible"/>
                                      </p:to>
                                    </p:set>
                                    <p:animEffect transition="in" filter="wipe(left)">
                                      <p:cBhvr>
                                        <p:cTn id="12" dur="500"/>
                                        <p:tgtEl>
                                          <p:spTgt spid="1024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43">
                                            <p:txEl>
                                              <p:pRg st="3" end="3"/>
                                            </p:txEl>
                                          </p:spTgt>
                                        </p:tgtEl>
                                        <p:attrNameLst>
                                          <p:attrName>style.visibility</p:attrName>
                                        </p:attrNameLst>
                                      </p:cBhvr>
                                      <p:to>
                                        <p:strVal val="visible"/>
                                      </p:to>
                                    </p:set>
                                    <p:animEffect transition="in" filter="wipe(left)">
                                      <p:cBhvr>
                                        <p:cTn id="17" dur="500"/>
                                        <p:tgtEl>
                                          <p:spTgt spid="1024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243">
                                            <p:txEl>
                                              <p:pRg st="4" end="4"/>
                                            </p:txEl>
                                          </p:spTgt>
                                        </p:tgtEl>
                                        <p:attrNameLst>
                                          <p:attrName>style.visibility</p:attrName>
                                        </p:attrNameLst>
                                      </p:cBhvr>
                                      <p:to>
                                        <p:strVal val="visible"/>
                                      </p:to>
                                    </p:set>
                                    <p:animEffect transition="in" filter="wipe(left)">
                                      <p:cBhvr>
                                        <p:cTn id="22" dur="500"/>
                                        <p:tgtEl>
                                          <p:spTgt spid="1024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243">
                                            <p:txEl>
                                              <p:pRg st="5" end="5"/>
                                            </p:txEl>
                                          </p:spTgt>
                                        </p:tgtEl>
                                        <p:attrNameLst>
                                          <p:attrName>style.visibility</p:attrName>
                                        </p:attrNameLst>
                                      </p:cBhvr>
                                      <p:to>
                                        <p:strVal val="visible"/>
                                      </p:to>
                                    </p:set>
                                    <p:animEffect transition="in" filter="wipe(left)">
                                      <p:cBhvr>
                                        <p:cTn id="27" dur="500"/>
                                        <p:tgtEl>
                                          <p:spTgt spid="1024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243">
                                            <p:txEl>
                                              <p:pRg st="6" end="6"/>
                                            </p:txEl>
                                          </p:spTgt>
                                        </p:tgtEl>
                                        <p:attrNameLst>
                                          <p:attrName>style.visibility</p:attrName>
                                        </p:attrNameLst>
                                      </p:cBhvr>
                                      <p:to>
                                        <p:strVal val="visible"/>
                                      </p:to>
                                    </p:set>
                                    <p:animEffect transition="in" filter="wipe(left)">
                                      <p:cBhvr>
                                        <p:cTn id="32" dur="500"/>
                                        <p:tgtEl>
                                          <p:spTgt spid="1024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243">
                                            <p:txEl>
                                              <p:pRg st="7" end="7"/>
                                            </p:txEl>
                                          </p:spTgt>
                                        </p:tgtEl>
                                        <p:attrNameLst>
                                          <p:attrName>style.visibility</p:attrName>
                                        </p:attrNameLst>
                                      </p:cBhvr>
                                      <p:to>
                                        <p:strVal val="visible"/>
                                      </p:to>
                                    </p:set>
                                    <p:animEffect transition="in" filter="wipe(left)">
                                      <p:cBhvr>
                                        <p:cTn id="37" dur="500"/>
                                        <p:tgtEl>
                                          <p:spTgt spid="102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11"/>
          <p:cNvSpPr/>
          <p:nvPr/>
        </p:nvSpPr>
        <p:spPr>
          <a:xfrm>
            <a:off x="1209040" y="4065270"/>
            <a:ext cx="1786255" cy="2383155"/>
          </a:xfrm>
          <a:custGeom>
            <a:avLst/>
            <a:gdLst>
              <a:gd name="connisteX0" fmla="*/ 30480 w 1786255"/>
              <a:gd name="connsiteY0" fmla="*/ 15240 h 2286000"/>
              <a:gd name="connisteX1" fmla="*/ 30480 w 1786255"/>
              <a:gd name="connsiteY1" fmla="*/ 90805 h 2286000"/>
              <a:gd name="connisteX2" fmla="*/ 30480 w 1786255"/>
              <a:gd name="connsiteY2" fmla="*/ 167005 h 2286000"/>
              <a:gd name="connisteX3" fmla="*/ 30480 w 1786255"/>
              <a:gd name="connsiteY3" fmla="*/ 242570 h 2286000"/>
              <a:gd name="connisteX4" fmla="*/ 30480 w 1786255"/>
              <a:gd name="connsiteY4" fmla="*/ 318135 h 2286000"/>
              <a:gd name="connisteX5" fmla="*/ 30480 w 1786255"/>
              <a:gd name="connsiteY5" fmla="*/ 393700 h 2286000"/>
              <a:gd name="connisteX6" fmla="*/ 30480 w 1786255"/>
              <a:gd name="connsiteY6" fmla="*/ 469265 h 2286000"/>
              <a:gd name="connisteX7" fmla="*/ 30480 w 1786255"/>
              <a:gd name="connsiteY7" fmla="*/ 545465 h 2286000"/>
              <a:gd name="connisteX8" fmla="*/ 30480 w 1786255"/>
              <a:gd name="connsiteY8" fmla="*/ 621030 h 2286000"/>
              <a:gd name="connisteX9" fmla="*/ 30480 w 1786255"/>
              <a:gd name="connsiteY9" fmla="*/ 696595 h 2286000"/>
              <a:gd name="connisteX10" fmla="*/ 30480 w 1786255"/>
              <a:gd name="connsiteY10" fmla="*/ 772160 h 2286000"/>
              <a:gd name="connisteX11" fmla="*/ 30480 w 1786255"/>
              <a:gd name="connsiteY11" fmla="*/ 862965 h 2286000"/>
              <a:gd name="connisteX12" fmla="*/ 30480 w 1786255"/>
              <a:gd name="connsiteY12" fmla="*/ 938530 h 2286000"/>
              <a:gd name="connisteX13" fmla="*/ 30480 w 1786255"/>
              <a:gd name="connsiteY13" fmla="*/ 1014730 h 2286000"/>
              <a:gd name="connisteX14" fmla="*/ 30480 w 1786255"/>
              <a:gd name="connsiteY14" fmla="*/ 1090295 h 2286000"/>
              <a:gd name="connisteX15" fmla="*/ 30480 w 1786255"/>
              <a:gd name="connsiteY15" fmla="*/ 1165860 h 2286000"/>
              <a:gd name="connisteX16" fmla="*/ 30480 w 1786255"/>
              <a:gd name="connsiteY16" fmla="*/ 1241425 h 2286000"/>
              <a:gd name="connisteX17" fmla="*/ 15240 w 1786255"/>
              <a:gd name="connsiteY17" fmla="*/ 1316990 h 2286000"/>
              <a:gd name="connisteX18" fmla="*/ 0 w 1786255"/>
              <a:gd name="connsiteY18" fmla="*/ 1393190 h 2286000"/>
              <a:gd name="connisteX19" fmla="*/ 0 w 1786255"/>
              <a:gd name="connsiteY19" fmla="*/ 1468755 h 2286000"/>
              <a:gd name="connisteX20" fmla="*/ 0 w 1786255"/>
              <a:gd name="connsiteY20" fmla="*/ 1544320 h 2286000"/>
              <a:gd name="connisteX21" fmla="*/ 0 w 1786255"/>
              <a:gd name="connsiteY21" fmla="*/ 1619885 h 2286000"/>
              <a:gd name="connisteX22" fmla="*/ 0 w 1786255"/>
              <a:gd name="connsiteY22" fmla="*/ 1695450 h 2286000"/>
              <a:gd name="connisteX23" fmla="*/ 0 w 1786255"/>
              <a:gd name="connsiteY23" fmla="*/ 1786890 h 2286000"/>
              <a:gd name="connisteX24" fmla="*/ 0 w 1786255"/>
              <a:gd name="connsiteY24" fmla="*/ 1862455 h 2286000"/>
              <a:gd name="connisteX25" fmla="*/ 0 w 1786255"/>
              <a:gd name="connsiteY25" fmla="*/ 1938020 h 2286000"/>
              <a:gd name="connisteX26" fmla="*/ 0 w 1786255"/>
              <a:gd name="connsiteY26" fmla="*/ 2013585 h 2286000"/>
              <a:gd name="connisteX27" fmla="*/ 0 w 1786255"/>
              <a:gd name="connsiteY27" fmla="*/ 2089150 h 2286000"/>
              <a:gd name="connisteX28" fmla="*/ 0 w 1786255"/>
              <a:gd name="connsiteY28" fmla="*/ 2165350 h 2286000"/>
              <a:gd name="connisteX29" fmla="*/ 30480 w 1786255"/>
              <a:gd name="connsiteY29" fmla="*/ 2210435 h 2286000"/>
              <a:gd name="connisteX30" fmla="*/ 106045 w 1786255"/>
              <a:gd name="connsiteY30" fmla="*/ 2210435 h 2286000"/>
              <a:gd name="connisteX31" fmla="*/ 181610 w 1786255"/>
              <a:gd name="connsiteY31" fmla="*/ 2210435 h 2286000"/>
              <a:gd name="connisteX32" fmla="*/ 257810 w 1786255"/>
              <a:gd name="connsiteY32" fmla="*/ 2210435 h 2286000"/>
              <a:gd name="connisteX33" fmla="*/ 333375 w 1786255"/>
              <a:gd name="connsiteY33" fmla="*/ 2210435 h 2286000"/>
              <a:gd name="connisteX34" fmla="*/ 408940 w 1786255"/>
              <a:gd name="connsiteY34" fmla="*/ 2210435 h 2286000"/>
              <a:gd name="connisteX35" fmla="*/ 484505 w 1786255"/>
              <a:gd name="connsiteY35" fmla="*/ 2210435 h 2286000"/>
              <a:gd name="connisteX36" fmla="*/ 575310 w 1786255"/>
              <a:gd name="connsiteY36" fmla="*/ 2210435 h 2286000"/>
              <a:gd name="connisteX37" fmla="*/ 650875 w 1786255"/>
              <a:gd name="connsiteY37" fmla="*/ 2210435 h 2286000"/>
              <a:gd name="connisteX38" fmla="*/ 727075 w 1786255"/>
              <a:gd name="connsiteY38" fmla="*/ 2210435 h 2286000"/>
              <a:gd name="connisteX39" fmla="*/ 802640 w 1786255"/>
              <a:gd name="connsiteY39" fmla="*/ 2210435 h 2286000"/>
              <a:gd name="connisteX40" fmla="*/ 878205 w 1786255"/>
              <a:gd name="connsiteY40" fmla="*/ 2225675 h 2286000"/>
              <a:gd name="connisteX41" fmla="*/ 953770 w 1786255"/>
              <a:gd name="connsiteY41" fmla="*/ 2225675 h 2286000"/>
              <a:gd name="connisteX42" fmla="*/ 1044575 w 1786255"/>
              <a:gd name="connsiteY42" fmla="*/ 2225675 h 2286000"/>
              <a:gd name="connisteX43" fmla="*/ 1120140 w 1786255"/>
              <a:gd name="connsiteY43" fmla="*/ 2225675 h 2286000"/>
              <a:gd name="connisteX44" fmla="*/ 1211580 w 1786255"/>
              <a:gd name="connsiteY44" fmla="*/ 2240915 h 2286000"/>
              <a:gd name="connisteX45" fmla="*/ 1287145 w 1786255"/>
              <a:gd name="connsiteY45" fmla="*/ 2240915 h 2286000"/>
              <a:gd name="connisteX46" fmla="*/ 1362710 w 1786255"/>
              <a:gd name="connsiteY46" fmla="*/ 2240915 h 2286000"/>
              <a:gd name="connisteX47" fmla="*/ 1453515 w 1786255"/>
              <a:gd name="connsiteY47" fmla="*/ 2256155 h 2286000"/>
              <a:gd name="connisteX48" fmla="*/ 1544320 w 1786255"/>
              <a:gd name="connsiteY48" fmla="*/ 2256155 h 2286000"/>
              <a:gd name="connisteX49" fmla="*/ 1619885 w 1786255"/>
              <a:gd name="connsiteY49" fmla="*/ 2270760 h 2286000"/>
              <a:gd name="connisteX50" fmla="*/ 1695450 w 1786255"/>
              <a:gd name="connsiteY50" fmla="*/ 2286000 h 2286000"/>
              <a:gd name="connisteX51" fmla="*/ 1786255 w 1786255"/>
              <a:gd name="connsiteY51" fmla="*/ 2270760 h 2286000"/>
              <a:gd name="connisteX52" fmla="*/ 1786255 w 1786255"/>
              <a:gd name="connsiteY52" fmla="*/ 2195195 h 2286000"/>
              <a:gd name="connisteX53" fmla="*/ 1741170 w 1786255"/>
              <a:gd name="connsiteY53" fmla="*/ 2119630 h 2286000"/>
              <a:gd name="connisteX54" fmla="*/ 1725930 w 1786255"/>
              <a:gd name="connsiteY54" fmla="*/ 2044065 h 2286000"/>
              <a:gd name="connisteX55" fmla="*/ 1680845 w 1786255"/>
              <a:gd name="connsiteY55" fmla="*/ 1953260 h 2286000"/>
              <a:gd name="connisteX56" fmla="*/ 1635125 w 1786255"/>
              <a:gd name="connsiteY56" fmla="*/ 1862455 h 2286000"/>
              <a:gd name="connisteX57" fmla="*/ 1574800 w 1786255"/>
              <a:gd name="connsiteY57" fmla="*/ 1786890 h 2286000"/>
              <a:gd name="connisteX58" fmla="*/ 1513840 w 1786255"/>
              <a:gd name="connsiteY58" fmla="*/ 1710690 h 2286000"/>
              <a:gd name="connisteX59" fmla="*/ 1453515 w 1786255"/>
              <a:gd name="connsiteY59" fmla="*/ 1635125 h 2286000"/>
              <a:gd name="connisteX60" fmla="*/ 1377950 w 1786255"/>
              <a:gd name="connsiteY60" fmla="*/ 1559560 h 2286000"/>
              <a:gd name="connisteX61" fmla="*/ 1332230 w 1786255"/>
              <a:gd name="connsiteY61" fmla="*/ 1483995 h 2286000"/>
              <a:gd name="connisteX62" fmla="*/ 1287145 w 1786255"/>
              <a:gd name="connsiteY62" fmla="*/ 1408430 h 2286000"/>
              <a:gd name="connisteX63" fmla="*/ 1271905 w 1786255"/>
              <a:gd name="connsiteY63" fmla="*/ 1316990 h 2286000"/>
              <a:gd name="connisteX64" fmla="*/ 1241425 w 1786255"/>
              <a:gd name="connsiteY64" fmla="*/ 1241425 h 2286000"/>
              <a:gd name="connisteX65" fmla="*/ 1211580 w 1786255"/>
              <a:gd name="connsiteY65" fmla="*/ 1165860 h 2286000"/>
              <a:gd name="connisteX66" fmla="*/ 1196340 w 1786255"/>
              <a:gd name="connsiteY66" fmla="*/ 1090295 h 2286000"/>
              <a:gd name="connisteX67" fmla="*/ 1181100 w 1786255"/>
              <a:gd name="connsiteY67" fmla="*/ 1014730 h 2286000"/>
              <a:gd name="connisteX68" fmla="*/ 1165860 w 1786255"/>
              <a:gd name="connsiteY68" fmla="*/ 938530 h 2286000"/>
              <a:gd name="connisteX69" fmla="*/ 1135380 w 1786255"/>
              <a:gd name="connsiteY69" fmla="*/ 862965 h 2286000"/>
              <a:gd name="connisteX70" fmla="*/ 1105535 w 1786255"/>
              <a:gd name="connsiteY70" fmla="*/ 787400 h 2286000"/>
              <a:gd name="connisteX71" fmla="*/ 1075055 w 1786255"/>
              <a:gd name="connsiteY71" fmla="*/ 711835 h 2286000"/>
              <a:gd name="connisteX72" fmla="*/ 999490 w 1786255"/>
              <a:gd name="connsiteY72" fmla="*/ 636270 h 2286000"/>
              <a:gd name="connisteX73" fmla="*/ 923925 w 1786255"/>
              <a:gd name="connsiteY73" fmla="*/ 605790 h 2286000"/>
              <a:gd name="connisteX74" fmla="*/ 847725 w 1786255"/>
              <a:gd name="connsiteY74" fmla="*/ 590550 h 2286000"/>
              <a:gd name="connisteX75" fmla="*/ 847725 w 1786255"/>
              <a:gd name="connsiteY75" fmla="*/ 590550 h 2286000"/>
              <a:gd name="connisteX76" fmla="*/ 772160 w 1786255"/>
              <a:gd name="connsiteY76" fmla="*/ 560070 h 2286000"/>
              <a:gd name="connisteX77" fmla="*/ 681355 w 1786255"/>
              <a:gd name="connsiteY77" fmla="*/ 514985 h 2286000"/>
              <a:gd name="connisteX78" fmla="*/ 605790 w 1786255"/>
              <a:gd name="connsiteY78" fmla="*/ 469265 h 2286000"/>
              <a:gd name="connisteX79" fmla="*/ 530225 w 1786255"/>
              <a:gd name="connsiteY79" fmla="*/ 424180 h 2286000"/>
              <a:gd name="connisteX80" fmla="*/ 454025 w 1786255"/>
              <a:gd name="connsiteY80" fmla="*/ 378460 h 2286000"/>
              <a:gd name="connisteX81" fmla="*/ 363220 w 1786255"/>
              <a:gd name="connsiteY81" fmla="*/ 318135 h 2286000"/>
              <a:gd name="connisteX82" fmla="*/ 287655 w 1786255"/>
              <a:gd name="connsiteY82" fmla="*/ 242570 h 2286000"/>
              <a:gd name="connisteX83" fmla="*/ 242570 w 1786255"/>
              <a:gd name="connsiteY83" fmla="*/ 167005 h 2286000"/>
              <a:gd name="connisteX84" fmla="*/ 166370 w 1786255"/>
              <a:gd name="connsiteY84" fmla="*/ 90805 h 2286000"/>
              <a:gd name="connisteX85" fmla="*/ 136525 w 1786255"/>
              <a:gd name="connsiteY85" fmla="*/ 15240 h 2286000"/>
              <a:gd name="connisteX86" fmla="*/ 90805 w 1786255"/>
              <a:gd name="connsiteY86" fmla="*/ 0 h 2286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Lst>
            <a:rect l="l" t="t" r="r" b="b"/>
            <a:pathLst>
              <a:path w="1786255" h="2286000">
                <a:moveTo>
                  <a:pt x="30480" y="15240"/>
                </a:moveTo>
                <a:lnTo>
                  <a:pt x="30480" y="90805"/>
                </a:lnTo>
                <a:lnTo>
                  <a:pt x="30480" y="167005"/>
                </a:lnTo>
                <a:lnTo>
                  <a:pt x="30480" y="242570"/>
                </a:lnTo>
                <a:lnTo>
                  <a:pt x="30480" y="318135"/>
                </a:lnTo>
                <a:lnTo>
                  <a:pt x="30480" y="393700"/>
                </a:lnTo>
                <a:lnTo>
                  <a:pt x="30480" y="469265"/>
                </a:lnTo>
                <a:lnTo>
                  <a:pt x="30480" y="545465"/>
                </a:lnTo>
                <a:lnTo>
                  <a:pt x="30480" y="621030"/>
                </a:lnTo>
                <a:lnTo>
                  <a:pt x="30480" y="696595"/>
                </a:lnTo>
                <a:lnTo>
                  <a:pt x="30480" y="772160"/>
                </a:lnTo>
                <a:lnTo>
                  <a:pt x="30480" y="862965"/>
                </a:lnTo>
                <a:lnTo>
                  <a:pt x="30480" y="938530"/>
                </a:lnTo>
                <a:lnTo>
                  <a:pt x="30480" y="1014730"/>
                </a:lnTo>
                <a:lnTo>
                  <a:pt x="30480" y="1090295"/>
                </a:lnTo>
                <a:lnTo>
                  <a:pt x="30480" y="1165860"/>
                </a:lnTo>
                <a:lnTo>
                  <a:pt x="30480" y="1241425"/>
                </a:lnTo>
                <a:lnTo>
                  <a:pt x="15240" y="1316990"/>
                </a:lnTo>
                <a:lnTo>
                  <a:pt x="0" y="1393190"/>
                </a:lnTo>
                <a:lnTo>
                  <a:pt x="0" y="1468755"/>
                </a:lnTo>
                <a:lnTo>
                  <a:pt x="0" y="1544320"/>
                </a:lnTo>
                <a:lnTo>
                  <a:pt x="0" y="1619885"/>
                </a:lnTo>
                <a:lnTo>
                  <a:pt x="0" y="1695450"/>
                </a:lnTo>
                <a:lnTo>
                  <a:pt x="0" y="1786890"/>
                </a:lnTo>
                <a:lnTo>
                  <a:pt x="0" y="1862455"/>
                </a:lnTo>
                <a:lnTo>
                  <a:pt x="0" y="1938020"/>
                </a:lnTo>
                <a:lnTo>
                  <a:pt x="0" y="2013585"/>
                </a:lnTo>
                <a:lnTo>
                  <a:pt x="0" y="2089150"/>
                </a:lnTo>
                <a:lnTo>
                  <a:pt x="0" y="2165350"/>
                </a:lnTo>
                <a:lnTo>
                  <a:pt x="30480" y="2210435"/>
                </a:lnTo>
                <a:lnTo>
                  <a:pt x="106045" y="2210435"/>
                </a:lnTo>
                <a:lnTo>
                  <a:pt x="181610" y="2210435"/>
                </a:lnTo>
                <a:lnTo>
                  <a:pt x="257810" y="2210435"/>
                </a:lnTo>
                <a:lnTo>
                  <a:pt x="333375" y="2210435"/>
                </a:lnTo>
                <a:lnTo>
                  <a:pt x="408940" y="2210435"/>
                </a:lnTo>
                <a:lnTo>
                  <a:pt x="484505" y="2210435"/>
                </a:lnTo>
                <a:lnTo>
                  <a:pt x="575310" y="2210435"/>
                </a:lnTo>
                <a:lnTo>
                  <a:pt x="650875" y="2210435"/>
                </a:lnTo>
                <a:lnTo>
                  <a:pt x="727075" y="2210435"/>
                </a:lnTo>
                <a:lnTo>
                  <a:pt x="802640" y="2210435"/>
                </a:lnTo>
                <a:lnTo>
                  <a:pt x="878205" y="2225675"/>
                </a:lnTo>
                <a:lnTo>
                  <a:pt x="953770" y="2225675"/>
                </a:lnTo>
                <a:lnTo>
                  <a:pt x="1044575" y="2225675"/>
                </a:lnTo>
                <a:lnTo>
                  <a:pt x="1120140" y="2225675"/>
                </a:lnTo>
                <a:lnTo>
                  <a:pt x="1211580" y="2240915"/>
                </a:lnTo>
                <a:lnTo>
                  <a:pt x="1287145" y="2240915"/>
                </a:lnTo>
                <a:lnTo>
                  <a:pt x="1362710" y="2240915"/>
                </a:lnTo>
                <a:lnTo>
                  <a:pt x="1453515" y="2256155"/>
                </a:lnTo>
                <a:lnTo>
                  <a:pt x="1544320" y="2256155"/>
                </a:lnTo>
                <a:lnTo>
                  <a:pt x="1619885" y="2270760"/>
                </a:lnTo>
                <a:lnTo>
                  <a:pt x="1695450" y="2286000"/>
                </a:lnTo>
                <a:lnTo>
                  <a:pt x="1786255" y="2270760"/>
                </a:lnTo>
                <a:lnTo>
                  <a:pt x="1786255" y="2195195"/>
                </a:lnTo>
                <a:lnTo>
                  <a:pt x="1741170" y="2119630"/>
                </a:lnTo>
                <a:lnTo>
                  <a:pt x="1725930" y="2044065"/>
                </a:lnTo>
                <a:lnTo>
                  <a:pt x="1680845" y="1953260"/>
                </a:lnTo>
                <a:lnTo>
                  <a:pt x="1635125" y="1862455"/>
                </a:lnTo>
                <a:lnTo>
                  <a:pt x="1574800" y="1786890"/>
                </a:lnTo>
                <a:lnTo>
                  <a:pt x="1513840" y="1710690"/>
                </a:lnTo>
                <a:lnTo>
                  <a:pt x="1453515" y="1635125"/>
                </a:lnTo>
                <a:lnTo>
                  <a:pt x="1377950" y="1559560"/>
                </a:lnTo>
                <a:lnTo>
                  <a:pt x="1332230" y="1483995"/>
                </a:lnTo>
                <a:lnTo>
                  <a:pt x="1287145" y="1408430"/>
                </a:lnTo>
                <a:lnTo>
                  <a:pt x="1271905" y="1316990"/>
                </a:lnTo>
                <a:lnTo>
                  <a:pt x="1241425" y="1241425"/>
                </a:lnTo>
                <a:lnTo>
                  <a:pt x="1211580" y="1165860"/>
                </a:lnTo>
                <a:lnTo>
                  <a:pt x="1196340" y="1090295"/>
                </a:lnTo>
                <a:lnTo>
                  <a:pt x="1181100" y="1014730"/>
                </a:lnTo>
                <a:lnTo>
                  <a:pt x="1165860" y="938530"/>
                </a:lnTo>
                <a:lnTo>
                  <a:pt x="1135380" y="862965"/>
                </a:lnTo>
                <a:lnTo>
                  <a:pt x="1105535" y="787400"/>
                </a:lnTo>
                <a:lnTo>
                  <a:pt x="1075055" y="711835"/>
                </a:lnTo>
                <a:lnTo>
                  <a:pt x="999490" y="636270"/>
                </a:lnTo>
                <a:lnTo>
                  <a:pt x="923925" y="605790"/>
                </a:lnTo>
                <a:lnTo>
                  <a:pt x="847725" y="590550"/>
                </a:lnTo>
                <a:lnTo>
                  <a:pt x="772160" y="560070"/>
                </a:lnTo>
                <a:lnTo>
                  <a:pt x="681355" y="514985"/>
                </a:lnTo>
                <a:lnTo>
                  <a:pt x="605790" y="469265"/>
                </a:lnTo>
                <a:lnTo>
                  <a:pt x="530225" y="424180"/>
                </a:lnTo>
                <a:lnTo>
                  <a:pt x="454025" y="378460"/>
                </a:lnTo>
                <a:lnTo>
                  <a:pt x="363220" y="318135"/>
                </a:lnTo>
                <a:lnTo>
                  <a:pt x="287655" y="242570"/>
                </a:lnTo>
                <a:lnTo>
                  <a:pt x="242570" y="167005"/>
                </a:lnTo>
                <a:lnTo>
                  <a:pt x="166370" y="90805"/>
                </a:lnTo>
                <a:lnTo>
                  <a:pt x="136525" y="15240"/>
                </a:lnTo>
                <a:lnTo>
                  <a:pt x="90805" y="0"/>
                </a:lnTo>
              </a:path>
            </a:pathLst>
          </a:custGeom>
          <a:solidFill>
            <a:schemeClr val="accent3">
              <a:lumMod val="20000"/>
              <a:lumOff val="80000"/>
            </a:schemeClr>
          </a:solidFill>
          <a:ln w="12700" cap="sq" cmpd="sng" algn="ctr">
            <a:solidFill>
              <a:schemeClr val="tx1"/>
            </a:solidFill>
            <a:prstDash val="solid"/>
            <a:round/>
            <a:headEnd type="none" w="sm" len="sm"/>
            <a:tailEnd type="none" w="sm" len="sm"/>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6.1 </a:t>
            </a:r>
            <a:r>
              <a:rPr kumimoji="0" lang="zh-CN" altLang="en-US" kern="1200" dirty="0" smtClean="0">
                <a:solidFill>
                  <a:schemeClr val="accent2"/>
                </a:solidFill>
                <a:sym typeface="+mn-ea"/>
              </a:rPr>
              <a:t>线性规划模型</a:t>
            </a:r>
            <a:endParaRPr kumimoji="0" lang="en-US" altLang="zh-CN" kern="1200" dirty="0" smtClean="0">
              <a:solidFill>
                <a:schemeClr val="accent2"/>
              </a:solidFill>
              <a:sym typeface="+mn-ea"/>
            </a:endParaRPr>
          </a:p>
        </p:txBody>
      </p:sp>
      <p:sp>
        <p:nvSpPr>
          <p:cNvPr id="10243" name="Rectangle 3"/>
          <p:cNvSpPr>
            <a:spLocks noGrp="1"/>
          </p:cNvSpPr>
          <p:nvPr>
            <p:ph idx="1"/>
          </p:nvPr>
        </p:nvSpPr>
        <p:spPr>
          <a:xfrm>
            <a:off x="506730" y="1565275"/>
            <a:ext cx="7772400" cy="981710"/>
          </a:xfrm>
        </p:spPr>
        <p:txBody>
          <a:bodyPr vert="horz" wrap="square" lIns="91440" tIns="45720" rIns="91440" bIns="45720" anchor="t"/>
          <a:lstStyle/>
          <a:p>
            <a:pPr eaLnBrk="1" hangingPunct="1">
              <a:lnSpc>
                <a:spcPct val="120000"/>
              </a:lnSpc>
              <a:spcBef>
                <a:spcPts val="20"/>
              </a:spcBef>
              <a:spcAft>
                <a:spcPts val="0"/>
              </a:spcAft>
              <a:buFont typeface="Arial" panose="020B0604020202020204" pitchFamily="34" charset="0"/>
              <a:buChar char="•"/>
            </a:pPr>
            <a:r>
              <a:rPr lang="zh-CN" altLang="en-US" sz="2400" b="0" dirty="0">
                <a:solidFill>
                  <a:schemeClr val="bg1"/>
                </a:solidFill>
              </a:rPr>
              <a:t>无穷多最优解：</a:t>
            </a:r>
            <a:r>
              <a:rPr lang="zh-CN" altLang="en-US" sz="2400" b="0" dirty="0">
                <a:solidFill>
                  <a:schemeClr val="bg1"/>
                </a:solidFill>
                <a:sym typeface="+mn-ea"/>
              </a:rPr>
              <a:t>目标函数线与可行域的某条约束线平行，则重合段均为最优解</a:t>
            </a:r>
            <a:endParaRPr lang="zh-CN" altLang="en-US" sz="2400" b="0" dirty="0">
              <a:solidFill>
                <a:schemeClr val="bg1"/>
              </a:solidFill>
            </a:endParaRPr>
          </a:p>
        </p:txBody>
      </p:sp>
      <p:sp>
        <p:nvSpPr>
          <p:cNvPr id="3" name="文本框 2"/>
          <p:cNvSpPr txBox="1"/>
          <p:nvPr/>
        </p:nvSpPr>
        <p:spPr>
          <a:xfrm>
            <a:off x="4876165" y="2238375"/>
            <a:ext cx="3629025" cy="1687195"/>
          </a:xfrm>
          <a:prstGeom prst="rect">
            <a:avLst/>
          </a:prstGeom>
          <a:noFill/>
        </p:spPr>
        <p:txBody>
          <a:bodyPr wrap="square" rtlCol="0" anchor="t">
            <a:spAutoFit/>
          </a:bodyPr>
          <a:lstStyle/>
          <a:p>
            <a:pPr eaLnBrk="1" hangingPunct="1">
              <a:spcBef>
                <a:spcPct val="5000"/>
              </a:spcBef>
              <a:spcAft>
                <a:spcPct val="5000"/>
              </a:spcAft>
              <a:buNone/>
            </a:pPr>
            <a:r>
              <a:rPr lang="en-US" altLang="zh-CN" b="1" i="1" dirty="0">
                <a:solidFill>
                  <a:schemeClr val="bg2"/>
                </a:solidFill>
                <a:sym typeface="+mn-ea"/>
              </a:rPr>
              <a:t>max</a:t>
            </a:r>
            <a:r>
              <a:rPr lang="en-US" altLang="zh-CN" b="1" dirty="0">
                <a:solidFill>
                  <a:schemeClr val="bg2"/>
                </a:solidFill>
                <a:sym typeface="+mn-ea"/>
              </a:rPr>
              <a:t>: </a:t>
            </a:r>
            <a:r>
              <a:rPr lang="en-US" altLang="zh-CN" b="1" i="1" dirty="0">
                <a:solidFill>
                  <a:schemeClr val="bg2"/>
                </a:solidFill>
                <a:sym typeface="+mn-ea"/>
              </a:rPr>
              <a:t>z </a:t>
            </a:r>
            <a:r>
              <a:rPr lang="en-US" altLang="zh-CN" b="1" dirty="0">
                <a:solidFill>
                  <a:schemeClr val="bg2"/>
                </a:solidFill>
                <a:sym typeface="+mn-ea"/>
              </a:rPr>
              <a:t>= 40</a:t>
            </a:r>
            <a:r>
              <a:rPr lang="en-US" altLang="zh-CN" b="1" i="1" dirty="0">
                <a:solidFill>
                  <a:schemeClr val="bg2"/>
                </a:solidFill>
                <a:sym typeface="+mn-ea"/>
              </a:rPr>
              <a:t>x</a:t>
            </a:r>
            <a:r>
              <a:rPr lang="en-US" altLang="zh-CN" b="1" baseline="-25000" dirty="0">
                <a:solidFill>
                  <a:schemeClr val="bg2"/>
                </a:solidFill>
                <a:sym typeface="+mn-ea"/>
              </a:rPr>
              <a:t>1  </a:t>
            </a:r>
            <a:r>
              <a:rPr lang="en-US" altLang="zh-CN" b="1" dirty="0">
                <a:solidFill>
                  <a:schemeClr val="bg2"/>
                </a:solidFill>
                <a:sym typeface="+mn-ea"/>
              </a:rPr>
              <a:t>+ 30</a:t>
            </a:r>
            <a:r>
              <a:rPr lang="en-US" altLang="zh-CN" b="1" i="1" dirty="0">
                <a:solidFill>
                  <a:schemeClr val="bg2"/>
                </a:solidFill>
                <a:sym typeface="+mn-ea"/>
              </a:rPr>
              <a:t>x</a:t>
            </a:r>
            <a:r>
              <a:rPr lang="en-US" altLang="zh-CN" b="1" baseline="-25000" dirty="0">
                <a:solidFill>
                  <a:schemeClr val="bg2"/>
                </a:solidFill>
                <a:sym typeface="+mn-ea"/>
              </a:rPr>
              <a:t>2</a:t>
            </a:r>
            <a:endParaRPr lang="en-US" altLang="zh-CN" b="1" baseline="-25000" dirty="0">
              <a:solidFill>
                <a:schemeClr val="bg2"/>
              </a:solidFill>
            </a:endParaRPr>
          </a:p>
          <a:p>
            <a:pPr eaLnBrk="1" hangingPunct="1">
              <a:spcBef>
                <a:spcPct val="5000"/>
              </a:spcBef>
              <a:spcAft>
                <a:spcPct val="5000"/>
              </a:spcAft>
              <a:buNone/>
            </a:pPr>
            <a:r>
              <a:rPr lang="en-US" altLang="zh-CN" b="1" i="1" dirty="0">
                <a:solidFill>
                  <a:schemeClr val="bg2"/>
                </a:solidFill>
                <a:sym typeface="+mn-ea"/>
              </a:rPr>
              <a:t>s.t.</a:t>
            </a:r>
            <a:r>
              <a:rPr lang="en-US" altLang="zh-CN" b="1" dirty="0">
                <a:solidFill>
                  <a:schemeClr val="bg2"/>
                </a:solidFill>
                <a:sym typeface="+mn-ea"/>
              </a:rPr>
              <a:t>          </a:t>
            </a:r>
            <a:r>
              <a:rPr lang="en-US" altLang="zh-CN" b="1" dirty="0">
                <a:solidFill>
                  <a:srgbClr val="C00000"/>
                </a:solidFill>
                <a:sym typeface="+mn-ea"/>
              </a:rPr>
              <a:t> 4</a:t>
            </a:r>
            <a:r>
              <a:rPr lang="en-US" altLang="zh-CN" b="1" i="1" dirty="0">
                <a:solidFill>
                  <a:srgbClr val="C00000"/>
                </a:solidFill>
                <a:sym typeface="+mn-ea"/>
              </a:rPr>
              <a:t>x</a:t>
            </a:r>
            <a:r>
              <a:rPr lang="en-US" altLang="zh-CN" b="1" baseline="-25000" dirty="0">
                <a:solidFill>
                  <a:srgbClr val="C00000"/>
                </a:solidFill>
                <a:sym typeface="+mn-ea"/>
              </a:rPr>
              <a:t>1 </a:t>
            </a:r>
            <a:r>
              <a:rPr lang="en-US" altLang="zh-CN" b="1" dirty="0">
                <a:solidFill>
                  <a:srgbClr val="C00000"/>
                </a:solidFill>
                <a:sym typeface="+mn-ea"/>
              </a:rPr>
              <a:t>+   3</a:t>
            </a:r>
            <a:r>
              <a:rPr lang="en-US" altLang="zh-CN" b="1" i="1" dirty="0">
                <a:solidFill>
                  <a:srgbClr val="C00000"/>
                </a:solidFill>
                <a:sym typeface="+mn-ea"/>
              </a:rPr>
              <a:t>x</a:t>
            </a:r>
            <a:r>
              <a:rPr lang="en-US" altLang="zh-CN" b="1" baseline="-25000" dirty="0">
                <a:solidFill>
                  <a:srgbClr val="C00000"/>
                </a:solidFill>
                <a:sym typeface="+mn-ea"/>
              </a:rPr>
              <a:t>2</a:t>
            </a:r>
            <a:r>
              <a:rPr lang="en-US" altLang="zh-CN" b="1" dirty="0">
                <a:solidFill>
                  <a:srgbClr val="C00000"/>
                </a:solidFill>
                <a:sym typeface="+mn-ea"/>
              </a:rPr>
              <a:t> </a:t>
            </a:r>
            <a:r>
              <a:rPr lang="en-US" altLang="zh-CN" b="1" dirty="0">
                <a:solidFill>
                  <a:srgbClr val="C00000"/>
                </a:solidFill>
                <a:sym typeface="Symbol" panose="05050102010706020507" pitchFamily="18" charset="2"/>
              </a:rPr>
              <a:t></a:t>
            </a:r>
            <a:r>
              <a:rPr lang="en-US" altLang="zh-CN" b="1" dirty="0">
                <a:solidFill>
                  <a:srgbClr val="C00000"/>
                </a:solidFill>
                <a:sym typeface="+mn-ea"/>
              </a:rPr>
              <a:t> 120</a:t>
            </a:r>
            <a:endParaRPr lang="en-US" altLang="zh-CN" b="1" dirty="0">
              <a:solidFill>
                <a:schemeClr val="bg2"/>
              </a:solidFill>
            </a:endParaRPr>
          </a:p>
          <a:p>
            <a:pPr marL="1835150" lvl="1" indent="-1377950" eaLnBrk="1" hangingPunct="1">
              <a:spcBef>
                <a:spcPct val="5000"/>
              </a:spcBef>
              <a:spcAft>
                <a:spcPct val="5000"/>
              </a:spcAft>
              <a:buNone/>
            </a:pPr>
            <a:r>
              <a:rPr lang="en-US" altLang="zh-CN" b="1" dirty="0">
                <a:solidFill>
                  <a:schemeClr val="bg2"/>
                </a:solidFill>
                <a:sym typeface="+mn-ea"/>
              </a:rPr>
              <a:t>          2</a:t>
            </a:r>
            <a:r>
              <a:rPr lang="en-US" altLang="zh-CN" b="1" i="1" dirty="0">
                <a:solidFill>
                  <a:schemeClr val="bg2"/>
                </a:solidFill>
                <a:sym typeface="+mn-ea"/>
              </a:rPr>
              <a:t>x</a:t>
            </a:r>
            <a:r>
              <a:rPr lang="en-US" altLang="zh-CN" b="1" baseline="-25000" dirty="0">
                <a:solidFill>
                  <a:schemeClr val="bg2"/>
                </a:solidFill>
                <a:sym typeface="+mn-ea"/>
              </a:rPr>
              <a:t>1  </a:t>
            </a:r>
            <a:r>
              <a:rPr lang="en-US" altLang="zh-CN" b="1" dirty="0">
                <a:solidFill>
                  <a:schemeClr val="bg2"/>
                </a:solidFill>
                <a:sym typeface="+mn-ea"/>
              </a:rPr>
              <a:t>+     </a:t>
            </a:r>
            <a:r>
              <a:rPr lang="en-US" altLang="zh-CN" b="1" i="1" dirty="0">
                <a:solidFill>
                  <a:schemeClr val="bg2"/>
                </a:solidFill>
                <a:sym typeface="+mn-ea"/>
              </a:rPr>
              <a:t>x</a:t>
            </a:r>
            <a:r>
              <a:rPr lang="en-US" altLang="zh-CN" b="1" baseline="-25000" dirty="0">
                <a:solidFill>
                  <a:schemeClr val="bg2"/>
                </a:solidFill>
                <a:sym typeface="+mn-ea"/>
              </a:rPr>
              <a:t>2</a:t>
            </a:r>
            <a:r>
              <a:rPr lang="en-US" altLang="zh-CN" b="1" dirty="0">
                <a:solidFill>
                  <a:schemeClr val="bg2"/>
                </a:solidFill>
                <a:sym typeface="+mn-ea"/>
              </a:rPr>
              <a:t> </a:t>
            </a:r>
            <a:r>
              <a:rPr lang="en-US" altLang="zh-CN" b="1" dirty="0">
                <a:solidFill>
                  <a:schemeClr val="bg2"/>
                </a:solidFill>
                <a:sym typeface="Symbol" panose="05050102010706020507" pitchFamily="18" charset="2"/>
              </a:rPr>
              <a:t></a:t>
            </a:r>
            <a:r>
              <a:rPr lang="en-US" altLang="zh-CN" b="1" dirty="0">
                <a:solidFill>
                  <a:schemeClr val="bg2"/>
                </a:solidFill>
                <a:sym typeface="+mn-ea"/>
              </a:rPr>
              <a:t>  50</a:t>
            </a:r>
            <a:endParaRPr lang="en-US" altLang="zh-CN" b="1" dirty="0">
              <a:solidFill>
                <a:schemeClr val="bg2"/>
              </a:solidFill>
            </a:endParaRPr>
          </a:p>
          <a:p>
            <a:pPr marL="1835150" lvl="1" indent="-1377950" eaLnBrk="1" hangingPunct="1">
              <a:spcBef>
                <a:spcPct val="5000"/>
              </a:spcBef>
              <a:spcAft>
                <a:spcPct val="5000"/>
              </a:spcAft>
              <a:buNone/>
            </a:pPr>
            <a:r>
              <a:rPr lang="en-US" altLang="zh-CN" b="1" i="1" dirty="0">
                <a:solidFill>
                  <a:schemeClr val="bg2"/>
                </a:solidFill>
                <a:sym typeface="+mn-ea"/>
              </a:rPr>
              <a:t>          x</a:t>
            </a:r>
            <a:r>
              <a:rPr lang="en-US" altLang="zh-CN" b="1" baseline="-25000" dirty="0">
                <a:solidFill>
                  <a:schemeClr val="bg2"/>
                </a:solidFill>
                <a:sym typeface="+mn-ea"/>
              </a:rPr>
              <a:t>1 </a:t>
            </a:r>
            <a:r>
              <a:rPr lang="en-US" altLang="zh-CN" b="1" dirty="0">
                <a:solidFill>
                  <a:schemeClr val="bg2"/>
                </a:solidFill>
                <a:sym typeface="Symbol" panose="05050102010706020507" pitchFamily="18" charset="2"/>
              </a:rPr>
              <a:t></a:t>
            </a:r>
            <a:r>
              <a:rPr lang="en-US" altLang="zh-CN" b="1" dirty="0">
                <a:solidFill>
                  <a:schemeClr val="bg2"/>
                </a:solidFill>
                <a:sym typeface="+mn-ea"/>
              </a:rPr>
              <a:t>0，</a:t>
            </a:r>
            <a:r>
              <a:rPr lang="en-US" altLang="zh-CN" b="1" i="1" dirty="0">
                <a:solidFill>
                  <a:schemeClr val="bg2"/>
                </a:solidFill>
                <a:sym typeface="+mn-ea"/>
              </a:rPr>
              <a:t>x</a:t>
            </a:r>
            <a:r>
              <a:rPr lang="en-US" altLang="zh-CN" b="1" baseline="-25000" dirty="0">
                <a:solidFill>
                  <a:schemeClr val="bg2"/>
                </a:solidFill>
                <a:sym typeface="+mn-ea"/>
              </a:rPr>
              <a:t>2 </a:t>
            </a:r>
            <a:r>
              <a:rPr lang="en-US" altLang="zh-CN" b="1" dirty="0">
                <a:solidFill>
                  <a:schemeClr val="bg2"/>
                </a:solidFill>
                <a:sym typeface="Symbol" panose="05050102010706020507" pitchFamily="18" charset="2"/>
              </a:rPr>
              <a:t></a:t>
            </a:r>
            <a:r>
              <a:rPr lang="en-US" altLang="zh-CN" b="1" dirty="0">
                <a:solidFill>
                  <a:schemeClr val="bg2"/>
                </a:solidFill>
                <a:sym typeface="+mn-ea"/>
              </a:rPr>
              <a:t>0</a:t>
            </a:r>
          </a:p>
        </p:txBody>
      </p:sp>
      <p:grpSp>
        <p:nvGrpSpPr>
          <p:cNvPr id="4" name="组合 3"/>
          <p:cNvGrpSpPr/>
          <p:nvPr/>
        </p:nvGrpSpPr>
        <p:grpSpPr>
          <a:xfrm>
            <a:off x="1250950" y="2618740"/>
            <a:ext cx="3625215" cy="3763010"/>
            <a:chOff x="3000" y="600"/>
            <a:chExt cx="9000" cy="8640"/>
          </a:xfrm>
        </p:grpSpPr>
        <p:sp>
          <p:nvSpPr>
            <p:cNvPr id="12291" name="Line 3"/>
            <p:cNvSpPr/>
            <p:nvPr/>
          </p:nvSpPr>
          <p:spPr>
            <a:xfrm>
              <a:off x="3000" y="600"/>
              <a:ext cx="0" cy="8640"/>
            </a:xfrm>
            <a:prstGeom prst="line">
              <a:avLst/>
            </a:prstGeom>
            <a:ln w="57150" cap="flat" cmpd="sng">
              <a:solidFill>
                <a:srgbClr val="FF6600"/>
              </a:solidFill>
              <a:prstDash val="solid"/>
              <a:headEnd type="triangle" w="med" len="med"/>
              <a:tailEnd type="none" w="med" len="med"/>
            </a:ln>
          </p:spPr>
        </p:sp>
        <p:sp>
          <p:nvSpPr>
            <p:cNvPr id="12292" name="Line 4"/>
            <p:cNvSpPr/>
            <p:nvPr/>
          </p:nvSpPr>
          <p:spPr>
            <a:xfrm>
              <a:off x="3000" y="9240"/>
              <a:ext cx="9000" cy="0"/>
            </a:xfrm>
            <a:prstGeom prst="line">
              <a:avLst/>
            </a:prstGeom>
            <a:ln w="57150" cap="flat" cmpd="sng">
              <a:solidFill>
                <a:srgbClr val="FF6600"/>
              </a:solidFill>
              <a:prstDash val="solid"/>
              <a:headEnd type="none" w="med" len="med"/>
              <a:tailEnd type="triangle" w="med" len="med"/>
            </a:ln>
          </p:spPr>
        </p:sp>
      </p:grpSp>
      <p:sp>
        <p:nvSpPr>
          <p:cNvPr id="12293" name="Line 5"/>
          <p:cNvSpPr/>
          <p:nvPr/>
        </p:nvSpPr>
        <p:spPr>
          <a:xfrm>
            <a:off x="1115060" y="3035935"/>
            <a:ext cx="2000250" cy="3543300"/>
          </a:xfrm>
          <a:prstGeom prst="line">
            <a:avLst/>
          </a:prstGeom>
          <a:ln w="57150" cap="flat" cmpd="sng">
            <a:solidFill>
              <a:srgbClr val="FF6600"/>
            </a:solidFill>
            <a:prstDash val="solid"/>
            <a:headEnd type="none" w="med" len="med"/>
            <a:tailEnd type="none" w="med" len="med"/>
          </a:ln>
        </p:spPr>
      </p:sp>
      <p:sp>
        <p:nvSpPr>
          <p:cNvPr id="12301" name="AutoShape 13"/>
          <p:cNvSpPr/>
          <p:nvPr/>
        </p:nvSpPr>
        <p:spPr>
          <a:xfrm>
            <a:off x="2402205" y="2851785"/>
            <a:ext cx="2368550" cy="460374"/>
          </a:xfrm>
          <a:prstGeom prst="borderCallout2">
            <a:avLst>
              <a:gd name="adj1" fmla="val 19407"/>
              <a:gd name="adj2" fmla="val -3218"/>
              <a:gd name="adj3" fmla="val 19407"/>
              <a:gd name="adj4" fmla="val -10588"/>
              <a:gd name="adj5" fmla="val 208356"/>
              <a:gd name="adj6" fmla="val -37065"/>
            </a:avLst>
          </a:prstGeom>
          <a:noFill/>
          <a:ln w="28575" cap="flat" cmpd="sng">
            <a:solidFill>
              <a:srgbClr val="FF66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en-US" sz="2400" dirty="0">
                <a:solidFill>
                  <a:schemeClr val="bg2"/>
                </a:solidFill>
                <a:latin typeface="Times New Roman" panose="02020603050405020304" pitchFamily="18" charset="0"/>
              </a:rPr>
              <a:t>2</a:t>
            </a:r>
            <a:r>
              <a:rPr lang="en-US" altLang="zh-CN" sz="2400" i="1" dirty="0">
                <a:solidFill>
                  <a:schemeClr val="bg2"/>
                </a:solidFill>
                <a:latin typeface="Times New Roman" panose="02020603050405020304" pitchFamily="18" charset="0"/>
              </a:rPr>
              <a:t>x</a:t>
            </a:r>
            <a:r>
              <a:rPr lang="en-US" altLang="zh-CN" sz="2400" baseline="-25000" dirty="0">
                <a:solidFill>
                  <a:schemeClr val="bg2"/>
                </a:solidFill>
                <a:latin typeface="Times New Roman" panose="02020603050405020304" pitchFamily="18" charset="0"/>
              </a:rPr>
              <a:t>1</a:t>
            </a:r>
            <a:r>
              <a:rPr lang="en-US" altLang="zh-CN" sz="2400" dirty="0">
                <a:solidFill>
                  <a:schemeClr val="bg2"/>
                </a:solidFill>
                <a:latin typeface="Times New Roman" panose="02020603050405020304" pitchFamily="18" charset="0"/>
              </a:rPr>
              <a:t>+ </a:t>
            </a:r>
            <a:r>
              <a:rPr lang="en-US" altLang="zh-CN" sz="2400" i="1" dirty="0">
                <a:solidFill>
                  <a:schemeClr val="bg2"/>
                </a:solidFill>
                <a:latin typeface="Times New Roman" panose="02020603050405020304" pitchFamily="18" charset="0"/>
              </a:rPr>
              <a:t>x</a:t>
            </a:r>
            <a:r>
              <a:rPr lang="en-US" altLang="zh-CN" sz="2400" baseline="-25000" dirty="0">
                <a:solidFill>
                  <a:schemeClr val="bg2"/>
                </a:solidFill>
                <a:latin typeface="Times New Roman" panose="02020603050405020304" pitchFamily="18" charset="0"/>
              </a:rPr>
              <a:t>2</a:t>
            </a:r>
            <a:r>
              <a:rPr lang="en-US" altLang="zh-CN" sz="2400" dirty="0">
                <a:solidFill>
                  <a:schemeClr val="bg2"/>
                </a:solidFill>
                <a:latin typeface="Times New Roman" panose="02020603050405020304" pitchFamily="18" charset="0"/>
              </a:rPr>
              <a:t> </a:t>
            </a:r>
            <a:r>
              <a:rPr lang="en-US" altLang="zh-CN" sz="2400" dirty="0">
                <a:solidFill>
                  <a:schemeClr val="bg2"/>
                </a:solidFill>
                <a:latin typeface="Times New Roman" panose="02020603050405020304" pitchFamily="18" charset="0"/>
                <a:sym typeface="Symbol" panose="05050102010706020507" pitchFamily="18" charset="2"/>
              </a:rPr>
              <a:t></a:t>
            </a:r>
            <a:r>
              <a:rPr lang="en-US" altLang="zh-CN" sz="2400" dirty="0">
                <a:solidFill>
                  <a:schemeClr val="bg2"/>
                </a:solidFill>
                <a:latin typeface="Times New Roman" panose="02020603050405020304" pitchFamily="18" charset="0"/>
              </a:rPr>
              <a:t> 50</a:t>
            </a:r>
          </a:p>
        </p:txBody>
      </p:sp>
      <p:sp>
        <p:nvSpPr>
          <p:cNvPr id="12294" name="Line 6"/>
          <p:cNvSpPr/>
          <p:nvPr/>
        </p:nvSpPr>
        <p:spPr>
          <a:xfrm>
            <a:off x="723900" y="3645535"/>
            <a:ext cx="3676015" cy="2934335"/>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sp>
      <p:sp>
        <p:nvSpPr>
          <p:cNvPr id="12307" name="AutoShape 19"/>
          <p:cNvSpPr/>
          <p:nvPr/>
        </p:nvSpPr>
        <p:spPr>
          <a:xfrm>
            <a:off x="5043170" y="5371465"/>
            <a:ext cx="2628900" cy="460374"/>
          </a:xfrm>
          <a:prstGeom prst="borderCallout2">
            <a:avLst>
              <a:gd name="adj1" fmla="val 19407"/>
              <a:gd name="adj2" fmla="val -2898"/>
              <a:gd name="adj3" fmla="val 19407"/>
              <a:gd name="adj4" fmla="val -11051"/>
              <a:gd name="adj5" fmla="val 183019"/>
              <a:gd name="adj6" fmla="val -40639"/>
            </a:avLst>
          </a:prstGeom>
          <a:noFill/>
          <a:ln w="28575" cap="flat" cmpd="sng">
            <a:solidFill>
              <a:srgbClr val="FF66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en-US" sz="2400" dirty="0">
                <a:solidFill>
                  <a:schemeClr val="bg2"/>
                </a:solidFill>
                <a:latin typeface="Times New Roman" panose="02020603050405020304" pitchFamily="18" charset="0"/>
              </a:rPr>
              <a:t>4</a:t>
            </a:r>
            <a:r>
              <a:rPr lang="en-US" altLang="zh-CN" sz="2400" i="1" dirty="0">
                <a:solidFill>
                  <a:schemeClr val="bg2"/>
                </a:solidFill>
                <a:latin typeface="Times New Roman" panose="02020603050405020304" pitchFamily="18" charset="0"/>
              </a:rPr>
              <a:t>x</a:t>
            </a:r>
            <a:r>
              <a:rPr lang="en-US" altLang="zh-CN" sz="2400" baseline="-25000" dirty="0">
                <a:solidFill>
                  <a:schemeClr val="bg2"/>
                </a:solidFill>
                <a:latin typeface="Times New Roman" panose="02020603050405020304" pitchFamily="18" charset="0"/>
              </a:rPr>
              <a:t>1</a:t>
            </a:r>
            <a:r>
              <a:rPr lang="en-US" altLang="zh-CN" sz="2400" dirty="0">
                <a:solidFill>
                  <a:schemeClr val="bg2"/>
                </a:solidFill>
                <a:latin typeface="Times New Roman" panose="02020603050405020304" pitchFamily="18" charset="0"/>
              </a:rPr>
              <a:t>+3</a:t>
            </a:r>
            <a:r>
              <a:rPr lang="en-US" altLang="zh-CN" sz="2400" i="1" dirty="0">
                <a:solidFill>
                  <a:schemeClr val="bg2"/>
                </a:solidFill>
                <a:latin typeface="Times New Roman" panose="02020603050405020304" pitchFamily="18" charset="0"/>
              </a:rPr>
              <a:t>x</a:t>
            </a:r>
            <a:r>
              <a:rPr lang="en-US" altLang="zh-CN" sz="2400" baseline="-25000" dirty="0">
                <a:solidFill>
                  <a:schemeClr val="bg2"/>
                </a:solidFill>
                <a:latin typeface="Times New Roman" panose="02020603050405020304" pitchFamily="18" charset="0"/>
              </a:rPr>
              <a:t>2</a:t>
            </a:r>
            <a:r>
              <a:rPr lang="en-US" altLang="zh-CN" sz="2400" dirty="0">
                <a:solidFill>
                  <a:schemeClr val="bg2"/>
                </a:solidFill>
                <a:latin typeface="Times New Roman" panose="02020603050405020304" pitchFamily="18" charset="0"/>
              </a:rPr>
              <a:t> </a:t>
            </a:r>
            <a:r>
              <a:rPr lang="en-US" altLang="zh-CN" sz="2400" dirty="0">
                <a:solidFill>
                  <a:schemeClr val="bg2"/>
                </a:solidFill>
                <a:latin typeface="Times New Roman" panose="02020603050405020304" pitchFamily="18" charset="0"/>
                <a:sym typeface="Symbol" panose="05050102010706020507" pitchFamily="18" charset="2"/>
              </a:rPr>
              <a:t></a:t>
            </a:r>
            <a:r>
              <a:rPr lang="en-US" altLang="zh-CN" sz="2400" dirty="0">
                <a:solidFill>
                  <a:schemeClr val="bg2"/>
                </a:solidFill>
                <a:latin typeface="Times New Roman" panose="02020603050405020304" pitchFamily="18" charset="0"/>
              </a:rPr>
              <a:t> 120</a:t>
            </a:r>
          </a:p>
        </p:txBody>
      </p:sp>
      <p:sp>
        <p:nvSpPr>
          <p:cNvPr id="7" name="Line 6"/>
          <p:cNvSpPr/>
          <p:nvPr/>
        </p:nvSpPr>
        <p:spPr>
          <a:xfrm>
            <a:off x="839470" y="4912360"/>
            <a:ext cx="2086610" cy="1667510"/>
          </a:xfrm>
          <a:prstGeom prst="line">
            <a:avLst/>
          </a:prstGeom>
          <a:ln>
            <a:solidFill>
              <a:schemeClr val="accent5"/>
            </a:solidFill>
            <a:prstDash val="dash"/>
            <a:headEnd type="none" w="med" len="med"/>
            <a:tailEnd type="none" w="med" len="med"/>
          </a:ln>
        </p:spPr>
        <p:style>
          <a:lnRef idx="2">
            <a:schemeClr val="accent2"/>
          </a:lnRef>
          <a:fillRef idx="0">
            <a:schemeClr val="accent2"/>
          </a:fillRef>
          <a:effectRef idx="1">
            <a:schemeClr val="accent2"/>
          </a:effectRef>
          <a:fontRef idx="minor">
            <a:schemeClr val="tx1"/>
          </a:fontRef>
        </p:style>
      </p:sp>
      <p:sp>
        <p:nvSpPr>
          <p:cNvPr id="114708" name="AutoShape 20"/>
          <p:cNvSpPr/>
          <p:nvPr/>
        </p:nvSpPr>
        <p:spPr>
          <a:xfrm>
            <a:off x="3429635" y="4832668"/>
            <a:ext cx="2716213" cy="460374"/>
          </a:xfrm>
          <a:prstGeom prst="borderCallout2">
            <a:avLst>
              <a:gd name="adj1" fmla="val 19407"/>
              <a:gd name="adj2" fmla="val -2806"/>
              <a:gd name="adj3" fmla="val 19407"/>
              <a:gd name="adj4" fmla="val -18352"/>
              <a:gd name="adj5" fmla="val 124259"/>
              <a:gd name="adj6" fmla="val -74343"/>
            </a:avLst>
          </a:prstGeom>
          <a:noFill/>
          <a:ln w="28575" cap="flat" cmpd="sng">
            <a:solidFill>
              <a:srgbClr val="FF66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400" i="1" dirty="0">
                <a:solidFill>
                  <a:schemeClr val="bg2"/>
                </a:solidFill>
                <a:latin typeface="Times New Roman" panose="02020603050405020304" pitchFamily="18" charset="0"/>
              </a:rPr>
              <a:t>z</a:t>
            </a:r>
            <a:r>
              <a:rPr lang="en-US" altLang="zh-CN" sz="2400" dirty="0">
                <a:solidFill>
                  <a:schemeClr val="bg2"/>
                </a:solidFill>
                <a:latin typeface="Times New Roman" panose="02020603050405020304" pitchFamily="18" charset="0"/>
              </a:rPr>
              <a:t> = 40x</a:t>
            </a:r>
            <a:r>
              <a:rPr lang="en-US" altLang="zh-CN" sz="2400" baseline="-25000" dirty="0">
                <a:solidFill>
                  <a:schemeClr val="bg2"/>
                </a:solidFill>
                <a:latin typeface="Times New Roman" panose="02020603050405020304" pitchFamily="18" charset="0"/>
              </a:rPr>
              <a:t>1</a:t>
            </a:r>
            <a:r>
              <a:rPr lang="en-US" altLang="zh-CN" sz="2400" dirty="0">
                <a:solidFill>
                  <a:schemeClr val="bg2"/>
                </a:solidFill>
                <a:latin typeface="Times New Roman" panose="02020603050405020304" pitchFamily="18" charset="0"/>
              </a:rPr>
              <a:t>+30</a:t>
            </a:r>
            <a:r>
              <a:rPr lang="en-US" altLang="zh-CN" sz="2400" i="1" dirty="0">
                <a:solidFill>
                  <a:schemeClr val="bg2"/>
                </a:solidFill>
                <a:latin typeface="Times New Roman" panose="02020603050405020304" pitchFamily="18" charset="0"/>
              </a:rPr>
              <a:t>x</a:t>
            </a:r>
            <a:r>
              <a:rPr lang="en-US" altLang="zh-CN" sz="2400" baseline="-25000" dirty="0">
                <a:solidFill>
                  <a:schemeClr val="bg2"/>
                </a:solidFill>
                <a:latin typeface="Times New Roman" panose="02020603050405020304" pitchFamily="18" charset="0"/>
              </a:rPr>
              <a:t>2</a:t>
            </a:r>
          </a:p>
        </p:txBody>
      </p:sp>
      <p:sp>
        <p:nvSpPr>
          <p:cNvPr id="9" name="Line 6"/>
          <p:cNvSpPr/>
          <p:nvPr/>
        </p:nvSpPr>
        <p:spPr>
          <a:xfrm>
            <a:off x="1103630" y="3925570"/>
            <a:ext cx="2011680" cy="1592580"/>
          </a:xfrm>
          <a:prstGeom prst="line">
            <a:avLst/>
          </a:prstGeom>
          <a:ln w="44450">
            <a:solidFill>
              <a:schemeClr val="accent5"/>
            </a:solidFill>
            <a:prstDash val="dash"/>
            <a:headEnd type="none" w="med" len="med"/>
            <a:tailEnd type="none" w="med" len="med"/>
          </a:ln>
        </p:spPr>
        <p:style>
          <a:lnRef idx="2">
            <a:schemeClr val="accent2"/>
          </a:lnRef>
          <a:fillRef idx="0">
            <a:schemeClr val="accent2"/>
          </a:fillRef>
          <a:effectRef idx="1">
            <a:schemeClr val="accent2"/>
          </a:effectRef>
          <a:fontRef idx="minor">
            <a:schemeClr val="tx1"/>
          </a:fontRef>
        </p:style>
      </p:sp>
      <p:sp>
        <p:nvSpPr>
          <p:cNvPr id="10" name="AutoShape 20"/>
          <p:cNvSpPr/>
          <p:nvPr/>
        </p:nvSpPr>
        <p:spPr>
          <a:xfrm>
            <a:off x="4253230" y="4269423"/>
            <a:ext cx="2716213" cy="460374"/>
          </a:xfrm>
          <a:prstGeom prst="borderCallout2">
            <a:avLst>
              <a:gd name="adj1" fmla="val 19407"/>
              <a:gd name="adj2" fmla="val -2806"/>
              <a:gd name="adj3" fmla="val 19407"/>
              <a:gd name="adj4" fmla="val -18352"/>
              <a:gd name="adj5" fmla="val 124259"/>
              <a:gd name="adj6" fmla="val -74343"/>
            </a:avLst>
          </a:prstGeom>
          <a:noFill/>
          <a:ln w="28575" cap="flat" cmpd="sng">
            <a:solidFill>
              <a:srgbClr val="FF66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400" i="1" dirty="0">
                <a:solidFill>
                  <a:schemeClr val="bg2"/>
                </a:solidFill>
                <a:latin typeface="Times New Roman" panose="02020603050405020304" pitchFamily="18" charset="0"/>
              </a:rPr>
              <a:t>z</a:t>
            </a:r>
            <a:r>
              <a:rPr lang="en-US" altLang="zh-CN" sz="2400" dirty="0">
                <a:solidFill>
                  <a:schemeClr val="bg2"/>
                </a:solidFill>
                <a:latin typeface="Times New Roman" panose="02020603050405020304" pitchFamily="18" charset="0"/>
              </a:rPr>
              <a:t> = 40x</a:t>
            </a:r>
            <a:r>
              <a:rPr lang="en-US" altLang="zh-CN" sz="2400" baseline="-25000" dirty="0">
                <a:solidFill>
                  <a:schemeClr val="bg2"/>
                </a:solidFill>
                <a:latin typeface="Times New Roman" panose="02020603050405020304" pitchFamily="18" charset="0"/>
              </a:rPr>
              <a:t>1</a:t>
            </a:r>
            <a:r>
              <a:rPr lang="en-US" altLang="zh-CN" sz="2400" dirty="0">
                <a:solidFill>
                  <a:schemeClr val="bg2"/>
                </a:solidFill>
                <a:latin typeface="Times New Roman" panose="02020603050405020304" pitchFamily="18" charset="0"/>
              </a:rPr>
              <a:t>+30</a:t>
            </a:r>
            <a:r>
              <a:rPr lang="en-US" altLang="zh-CN" sz="2400" i="1" dirty="0">
                <a:solidFill>
                  <a:schemeClr val="bg2"/>
                </a:solidFill>
                <a:latin typeface="Times New Roman" panose="02020603050405020304" pitchFamily="18" charset="0"/>
              </a:rPr>
              <a:t>x</a:t>
            </a:r>
            <a:r>
              <a:rPr lang="en-US" altLang="zh-CN" sz="2400" baseline="-25000" dirty="0">
                <a:solidFill>
                  <a:schemeClr val="bg2"/>
                </a:solidFill>
                <a:latin typeface="Times New Roman" panose="02020603050405020304" pitchFamily="18" charset="0"/>
              </a:rPr>
              <a:t>2</a:t>
            </a:r>
          </a:p>
        </p:txBody>
      </p:sp>
      <p:sp>
        <p:nvSpPr>
          <p:cNvPr id="114710" name="Line 22"/>
          <p:cNvSpPr/>
          <p:nvPr/>
        </p:nvSpPr>
        <p:spPr>
          <a:xfrm>
            <a:off x="1250950" y="4065270"/>
            <a:ext cx="845820" cy="664845"/>
          </a:xfrm>
          <a:prstGeom prst="line">
            <a:avLst/>
          </a:prstGeom>
          <a:ln w="127000" cmpd="thickThin">
            <a:solidFill>
              <a:srgbClr val="38CC04"/>
            </a:solidFill>
            <a:prstDash val="solid"/>
            <a:headEnd type="none" w="med" len="med"/>
            <a:tailEnd type="none" w="med" len="med"/>
          </a:ln>
        </p:spPr>
        <p:style>
          <a:lnRef idx="2">
            <a:schemeClr val="dk1"/>
          </a:lnRef>
          <a:fillRef idx="0">
            <a:schemeClr val="dk1"/>
          </a:fillRef>
          <a:effectRef idx="1">
            <a:schemeClr val="dk1"/>
          </a:effectRef>
          <a:fontRef idx="minor">
            <a:schemeClr val="tx1"/>
          </a:fontRef>
        </p:style>
      </p:sp>
      <p:sp>
        <p:nvSpPr>
          <p:cNvPr id="12297" name="Text Box 9"/>
          <p:cNvSpPr txBox="1"/>
          <p:nvPr/>
        </p:nvSpPr>
        <p:spPr>
          <a:xfrm>
            <a:off x="5043170" y="6086793"/>
            <a:ext cx="533400" cy="588962"/>
          </a:xfrm>
          <a:prstGeom prst="rect">
            <a:avLst/>
          </a:prstGeom>
          <a:noFill/>
          <a:ln w="9525" cap="flat" cmpd="sng">
            <a:no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i="1" dirty="0">
                <a:solidFill>
                  <a:schemeClr val="bg2"/>
                </a:solidFill>
                <a:latin typeface="Times New Roman" panose="02020603050405020304" pitchFamily="18" charset="0"/>
              </a:rPr>
              <a:t>x</a:t>
            </a:r>
            <a:r>
              <a:rPr lang="en-US" altLang="zh-CN" baseline="-25000" dirty="0">
                <a:solidFill>
                  <a:schemeClr val="bg2"/>
                </a:solidFill>
                <a:latin typeface="Times New Roman" panose="02020603050405020304" pitchFamily="18" charset="0"/>
              </a:rPr>
              <a:t>1</a:t>
            </a:r>
            <a:r>
              <a:rPr lang="en-US" altLang="zh-CN" dirty="0">
                <a:solidFill>
                  <a:schemeClr val="bg2"/>
                </a:solidFill>
                <a:latin typeface="Times New Roman" panose="02020603050405020304" pitchFamily="18" charset="0"/>
              </a:rPr>
              <a:t> </a:t>
            </a:r>
            <a:endParaRPr lang="en-US" altLang="zh-CN" sz="2400" dirty="0">
              <a:solidFill>
                <a:schemeClr val="bg2"/>
              </a:solidFill>
              <a:latin typeface="Times New Roman" panose="02020603050405020304" pitchFamily="18" charset="0"/>
            </a:endParaRPr>
          </a:p>
        </p:txBody>
      </p:sp>
      <p:sp>
        <p:nvSpPr>
          <p:cNvPr id="11" name="Text Box 9"/>
          <p:cNvSpPr txBox="1"/>
          <p:nvPr/>
        </p:nvSpPr>
        <p:spPr>
          <a:xfrm>
            <a:off x="717550" y="2446973"/>
            <a:ext cx="533400" cy="583565"/>
          </a:xfrm>
          <a:prstGeom prst="rect">
            <a:avLst/>
          </a:prstGeom>
          <a:noFill/>
          <a:ln w="9525" cap="flat" cmpd="sng">
            <a:no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i="1" dirty="0">
                <a:solidFill>
                  <a:schemeClr val="bg2"/>
                </a:solidFill>
                <a:latin typeface="Times New Roman" panose="02020603050405020304" pitchFamily="18" charset="0"/>
              </a:rPr>
              <a:t>x</a:t>
            </a:r>
            <a:r>
              <a:rPr lang="en-US" altLang="zh-CN" baseline="-25000" dirty="0">
                <a:solidFill>
                  <a:schemeClr val="bg2"/>
                </a:solidFill>
                <a:latin typeface="Times New Roman" panose="02020603050405020304" pitchFamily="18" charset="0"/>
              </a:rPr>
              <a:t>2</a:t>
            </a:r>
            <a:r>
              <a:rPr lang="en-US" altLang="zh-CN" dirty="0">
                <a:solidFill>
                  <a:schemeClr val="bg2"/>
                </a:solidFill>
                <a:latin typeface="Times New Roman" panose="02020603050405020304" pitchFamily="18" charset="0"/>
              </a:rPr>
              <a:t> </a:t>
            </a:r>
            <a:endParaRPr lang="en-US" altLang="zh-CN" sz="2400" dirty="0">
              <a:solidFill>
                <a:schemeClr val="bg2"/>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294"/>
                                        </p:tgtEl>
                                        <p:attrNameLst>
                                          <p:attrName>style.visibility</p:attrName>
                                        </p:attrNameLst>
                                      </p:cBhvr>
                                      <p:to>
                                        <p:strVal val="visible"/>
                                      </p:to>
                                    </p:set>
                                    <p:animEffect transition="in" filter="wipe(down)">
                                      <p:cBhvr>
                                        <p:cTn id="7" dur="500"/>
                                        <p:tgtEl>
                                          <p:spTgt spid="1229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2307"/>
                                        </p:tgtEl>
                                        <p:attrNameLst>
                                          <p:attrName>style.visibility</p:attrName>
                                        </p:attrNameLst>
                                      </p:cBhvr>
                                      <p:to>
                                        <p:strVal val="visible"/>
                                      </p:to>
                                    </p:set>
                                    <p:animEffect transition="in" filter="wipe(down)">
                                      <p:cBhvr>
                                        <p:cTn id="10" dur="500"/>
                                        <p:tgtEl>
                                          <p:spTgt spid="1230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2293"/>
                                        </p:tgtEl>
                                        <p:attrNameLst>
                                          <p:attrName>style.visibility</p:attrName>
                                        </p:attrNameLst>
                                      </p:cBhvr>
                                      <p:to>
                                        <p:strVal val="visible"/>
                                      </p:to>
                                    </p:set>
                                    <p:animEffect transition="in" filter="wipe(down)">
                                      <p:cBhvr>
                                        <p:cTn id="15" dur="500"/>
                                        <p:tgtEl>
                                          <p:spTgt spid="12293"/>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2301"/>
                                        </p:tgtEl>
                                        <p:attrNameLst>
                                          <p:attrName>style.visibility</p:attrName>
                                        </p:attrNameLst>
                                      </p:cBhvr>
                                      <p:to>
                                        <p:strVal val="visible"/>
                                      </p:to>
                                    </p:set>
                                    <p:animEffect transition="in" filter="wipe(down)">
                                      <p:cBhvr>
                                        <p:cTn id="18" dur="500"/>
                                        <p:tgtEl>
                                          <p:spTgt spid="1230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down)">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14708"/>
                                        </p:tgtEl>
                                        <p:attrNameLst>
                                          <p:attrName>style.visibility</p:attrName>
                                        </p:attrNameLst>
                                      </p:cBhvr>
                                      <p:to>
                                        <p:strVal val="visible"/>
                                      </p:to>
                                    </p:set>
                                    <p:animEffect transition="in" filter="wipe(down)">
                                      <p:cBhvr>
                                        <p:cTn id="31" dur="500"/>
                                        <p:tgtEl>
                                          <p:spTgt spid="11470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down)">
                                      <p:cBhvr>
                                        <p:cTn id="36" dur="500"/>
                                        <p:tgtEl>
                                          <p:spTgt spid="9"/>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down)">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14710"/>
                                        </p:tgtEl>
                                        <p:attrNameLst>
                                          <p:attrName>style.visibility</p:attrName>
                                        </p:attrNameLst>
                                      </p:cBhvr>
                                      <p:to>
                                        <p:strVal val="visible"/>
                                      </p:to>
                                    </p:set>
                                    <p:animEffect transition="in" filter="wipe(down)">
                                      <p:cBhvr>
                                        <p:cTn id="44" dur="500"/>
                                        <p:tgtEl>
                                          <p:spTgt spid="114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2" grpId="1" animBg="1"/>
      <p:bldP spid="12301" grpId="0" animBg="1"/>
      <p:bldP spid="12301" grpId="1" animBg="1"/>
      <p:bldP spid="12307" grpId="0" animBg="1"/>
      <p:bldP spid="12307" grpId="1" animBg="1"/>
      <p:bldP spid="114708" grpId="0" animBg="1"/>
      <p:bldP spid="114708" grpId="1" animBg="1"/>
      <p:bldP spid="10" grpId="0" animBg="1"/>
      <p:bldP spid="10"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6.1 </a:t>
            </a:r>
            <a:r>
              <a:rPr kumimoji="0" lang="zh-CN" altLang="en-US" kern="1200" dirty="0" smtClean="0">
                <a:solidFill>
                  <a:schemeClr val="accent2"/>
                </a:solidFill>
                <a:sym typeface="+mn-ea"/>
              </a:rPr>
              <a:t>线性规划模型</a:t>
            </a:r>
            <a:endParaRPr kumimoji="0" lang="en-US" altLang="zh-CN" kern="1200" dirty="0" smtClean="0">
              <a:solidFill>
                <a:schemeClr val="accent2"/>
              </a:solidFill>
              <a:sym typeface="+mn-ea"/>
            </a:endParaRPr>
          </a:p>
        </p:txBody>
      </p:sp>
      <p:sp>
        <p:nvSpPr>
          <p:cNvPr id="10243" name="Rectangle 3"/>
          <p:cNvSpPr>
            <a:spLocks noGrp="1"/>
          </p:cNvSpPr>
          <p:nvPr>
            <p:ph idx="1"/>
          </p:nvPr>
        </p:nvSpPr>
        <p:spPr>
          <a:xfrm>
            <a:off x="506730" y="1637030"/>
            <a:ext cx="7772400" cy="981710"/>
          </a:xfrm>
        </p:spPr>
        <p:txBody>
          <a:bodyPr vert="horz" wrap="square" lIns="91440" tIns="45720" rIns="91440" bIns="45720" anchor="t"/>
          <a:lstStyle/>
          <a:p>
            <a:pPr eaLnBrk="1" hangingPunct="1">
              <a:lnSpc>
                <a:spcPct val="120000"/>
              </a:lnSpc>
              <a:spcBef>
                <a:spcPts val="20"/>
              </a:spcBef>
              <a:spcAft>
                <a:spcPts val="0"/>
              </a:spcAft>
              <a:buFont typeface="Arial" panose="020B0604020202020204" pitchFamily="34" charset="0"/>
              <a:buChar char="•"/>
            </a:pPr>
            <a:r>
              <a:rPr lang="zh-CN" altLang="en-US" sz="2400" b="0" dirty="0">
                <a:solidFill>
                  <a:schemeClr val="bg1"/>
                </a:solidFill>
              </a:rPr>
              <a:t>无穷多最优解的表示</a:t>
            </a:r>
          </a:p>
        </p:txBody>
      </p:sp>
      <p:sp>
        <p:nvSpPr>
          <p:cNvPr id="5122" name="Rectangle 2"/>
          <p:cNvSpPr>
            <a:spLocks noGrp="1" noChangeArrowheads="1"/>
          </p:cNvSpPr>
          <p:nvPr/>
        </p:nvSpPr>
        <p:spPr>
          <a:xfrm>
            <a:off x="506730" y="2164080"/>
            <a:ext cx="8150225" cy="1931035"/>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800100" marR="0" lvl="1" indent="-342900" algn="l" defTabSz="762000" rtl="0" eaLnBrk="1" hangingPunct="1">
              <a:lnSpc>
                <a:spcPct val="120000"/>
              </a:lnSpc>
              <a:spcBef>
                <a:spcPts val="0"/>
              </a:spcBef>
              <a:spcAft>
                <a:spcPct val="0"/>
              </a:spcAft>
              <a:buClr>
                <a:schemeClr val="bg2"/>
              </a:buClr>
              <a:buSzPct val="75000"/>
              <a:buFont typeface="Wingdings" panose="05000000000000000000" pitchFamily="2" charset="2"/>
              <a:buChar char="n"/>
              <a:defRPr/>
            </a:pPr>
            <a:r>
              <a:rPr kumimoji="0" lang="zh-CN" altLang="en-US" sz="2400" i="0"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 凸集：设</a:t>
            </a:r>
            <a:r>
              <a:rPr kumimoji="0" lang="en-US" altLang="zh-CN" sz="2400" b="1" i="1"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0" lang="zh-CN" altLang="en-US" sz="2400" i="0"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是</a:t>
            </a:r>
            <a:r>
              <a:rPr kumimoji="0" lang="en-US" altLang="zh-CN" sz="2400" i="1"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0" lang="zh-CN" altLang="en-US" sz="2400" i="0"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维欧氏空间的一点集，</a:t>
            </a:r>
            <a:r>
              <a:rPr kumimoji="0" lang="zh-CN" altLang="zh-CN" sz="2400" i="0"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若</a:t>
            </a:r>
            <a:r>
              <a:rPr kumimoji="0" lang="zh-CN" altLang="en-US" sz="2400" b="1" i="1"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0" lang="zh-CN" altLang="zh-CN" sz="2400" i="0"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中的任意两点</a:t>
            </a:r>
            <a:r>
              <a:rPr kumimoji="0" lang="en-US" altLang="zh-CN" sz="2400" i="1"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400" i="0" kern="0" baseline="3000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2400" i="0"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i="1"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400" i="0" kern="0" baseline="3000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zh-CN" altLang="zh-CN" sz="2400" i="0"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的连</a:t>
            </a:r>
            <a:r>
              <a:rPr kumimoji="0" lang="zh-CN" altLang="en-US" sz="2400" i="0"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线上的一切点</a:t>
            </a:r>
          </a:p>
          <a:p>
            <a:pPr marL="342900" marR="0" lvl="0" indent="-342900" algn="l" defTabSz="762000" rtl="0" eaLnBrk="1" hangingPunct="1">
              <a:lnSpc>
                <a:spcPct val="120000"/>
              </a:lnSpc>
              <a:spcBef>
                <a:spcPts val="0"/>
              </a:spcBef>
              <a:spcAft>
                <a:spcPct val="0"/>
              </a:spcAft>
              <a:buClr>
                <a:schemeClr val="bg2"/>
              </a:buClr>
              <a:buSzPct val="75000"/>
              <a:buFont typeface="Wingdings" panose="05000000000000000000" pitchFamily="2" charset="2"/>
              <a:buNone/>
              <a:defRPr/>
            </a:pPr>
            <a:r>
              <a:rPr kumimoji="0" lang="en-US" altLang="zh-CN" sz="2400" i="0" kern="0" baseline="0" noProof="0" smtClean="0">
                <a:ln>
                  <a:noFill/>
                </a:ln>
                <a:solidFill>
                  <a:schemeClr val="bg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i="1" kern="0" baseline="0" noProof="0" smtClean="0">
                <a:ln>
                  <a:noFill/>
                </a:ln>
                <a:solidFill>
                  <a:schemeClr val="bg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400" i="0" kern="0" baseline="0" noProof="0" smtClean="0">
                <a:ln>
                  <a:noFill/>
                </a:ln>
                <a:solidFill>
                  <a:schemeClr val="bg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i="1"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i="0" kern="0" baseline="0" noProof="0" smtClean="0">
                <a:ln>
                  <a:noFill/>
                </a:ln>
                <a:solidFill>
                  <a:schemeClr val="bg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i="1"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400" kern="0" baseline="3000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2400" i="1"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2400" i="1"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i="1"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i="1"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400" kern="0" baseline="3000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(2) </a:t>
            </a:r>
            <a:r>
              <a:rPr kumimoji="0" lang="en-US" altLang="zh-CN" sz="2400" i="1"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K（ </a:t>
            </a:r>
            <a:r>
              <a:rPr kumimoji="0" lang="zh-CN" altLang="en-US" sz="2400"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0&lt;</a:t>
            </a:r>
            <a:r>
              <a:rPr kumimoji="0" lang="zh-CN" altLang="en-US" sz="2400" i="1"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zh-CN" altLang="en-US" sz="2400"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&lt;1</a:t>
            </a:r>
            <a:r>
              <a:rPr kumimoji="0" lang="zh-CN" altLang="en-US" sz="2400" i="1"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i="1"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kumimoji="0" lang="en-US" altLang="zh-CN" sz="2400" i="0" kern="0" baseline="0" noProof="0" smtClean="0">
                <a:ln>
                  <a:noFill/>
                </a:ln>
                <a:solidFill>
                  <a:schemeClr val="bg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p>
          <a:p>
            <a:pPr marL="342900" marR="0" lvl="0" indent="-342900" algn="l" defTabSz="762000" rtl="0" eaLnBrk="1" hangingPunct="1">
              <a:lnSpc>
                <a:spcPct val="120000"/>
              </a:lnSpc>
              <a:spcBef>
                <a:spcPts val="0"/>
              </a:spcBef>
              <a:spcAft>
                <a:spcPct val="0"/>
              </a:spcAft>
              <a:buClr>
                <a:schemeClr val="bg2"/>
              </a:buClr>
              <a:buSzPct val="75000"/>
              <a:buFont typeface="Wingdings" panose="05000000000000000000" pitchFamily="2" charset="2"/>
              <a:buNone/>
              <a:defRPr/>
            </a:pPr>
            <a:r>
              <a:rPr kumimoji="0" lang="zh-CN" altLang="en-US" sz="2400" i="0" kern="0" baseline="0" noProof="0" smtClean="0">
                <a:ln>
                  <a:noFill/>
                </a:ln>
                <a:solidFill>
                  <a:schemeClr val="bg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kumimoji="0" lang="zh-CN" altLang="en-US" sz="2400" i="0"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kumimoji="0" lang="zh-CN" altLang="en-US" sz="2400" i="0"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则称</a:t>
            </a:r>
            <a:r>
              <a:rPr kumimoji="0" lang="en-US" altLang="zh-CN" sz="2400" b="1" i="1"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0" lang="zh-CN" altLang="en-US" sz="2400" i="0" kern="0" baseline="0" noProof="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为凸集。</a:t>
            </a:r>
          </a:p>
        </p:txBody>
      </p:sp>
      <p:sp>
        <p:nvSpPr>
          <p:cNvPr id="2" name="Freeform 3"/>
          <p:cNvSpPr/>
          <p:nvPr/>
        </p:nvSpPr>
        <p:spPr>
          <a:xfrm>
            <a:off x="3429000" y="3886200"/>
            <a:ext cx="4419600" cy="2667000"/>
          </a:xfrm>
          <a:custGeom>
            <a:avLst/>
            <a:gdLst>
              <a:gd name="txL" fmla="*/ 0 w 2784"/>
              <a:gd name="txT" fmla="*/ 0 h 1680"/>
              <a:gd name="txR" fmla="*/ 2784 w 2784"/>
              <a:gd name="txB" fmla="*/ 1680 h 1680"/>
            </a:gdLst>
            <a:ahLst/>
            <a:cxnLst>
              <a:cxn ang="0">
                <a:pos x="2147483647" y="0"/>
              </a:cxn>
              <a:cxn ang="0">
                <a:pos x="2147483647" y="2147483647"/>
              </a:cxn>
              <a:cxn ang="0">
                <a:pos x="2147483647" y="2147483647"/>
              </a:cxn>
              <a:cxn ang="0">
                <a:pos x="2147483647" y="2147483647"/>
              </a:cxn>
              <a:cxn ang="0">
                <a:pos x="0" y="2147483647"/>
              </a:cxn>
              <a:cxn ang="0">
                <a:pos x="2147483647" y="0"/>
              </a:cxn>
            </a:cxnLst>
            <a:rect l="txL" t="txT" r="txR" b="txB"/>
            <a:pathLst>
              <a:path w="2784" h="1680">
                <a:moveTo>
                  <a:pt x="864" y="0"/>
                </a:moveTo>
                <a:lnTo>
                  <a:pt x="2784" y="384"/>
                </a:lnTo>
                <a:lnTo>
                  <a:pt x="2160" y="1632"/>
                </a:lnTo>
                <a:lnTo>
                  <a:pt x="720" y="1680"/>
                </a:lnTo>
                <a:lnTo>
                  <a:pt x="0" y="768"/>
                </a:lnTo>
                <a:lnTo>
                  <a:pt x="864" y="0"/>
                </a:lnTo>
                <a:close/>
              </a:path>
            </a:pathLst>
          </a:custGeom>
          <a:solidFill>
            <a:srgbClr val="CCFFCC">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0484" name="Oval 4"/>
          <p:cNvSpPr/>
          <p:nvPr/>
        </p:nvSpPr>
        <p:spPr>
          <a:xfrm>
            <a:off x="4191000" y="4648200"/>
            <a:ext cx="152400" cy="152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4400" b="1" dirty="0"/>
          </a:p>
        </p:txBody>
      </p:sp>
      <p:sp>
        <p:nvSpPr>
          <p:cNvPr id="20485" name="Oval 5"/>
          <p:cNvSpPr/>
          <p:nvPr/>
        </p:nvSpPr>
        <p:spPr>
          <a:xfrm>
            <a:off x="6705600" y="4495800"/>
            <a:ext cx="152400" cy="1524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4400" b="1" dirty="0"/>
          </a:p>
        </p:txBody>
      </p:sp>
      <p:sp>
        <p:nvSpPr>
          <p:cNvPr id="20486" name="Text Box 6"/>
          <p:cNvSpPr txBox="1"/>
          <p:nvPr/>
        </p:nvSpPr>
        <p:spPr>
          <a:xfrm>
            <a:off x="4038600" y="4648200"/>
            <a:ext cx="533400"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b="1" i="1" dirty="0">
                <a:solidFill>
                  <a:schemeClr val="bg2"/>
                </a:solidFill>
                <a:latin typeface="Times New Roman" panose="02020603050405020304" pitchFamily="18" charset="0"/>
              </a:rPr>
              <a:t>x</a:t>
            </a:r>
          </a:p>
        </p:txBody>
      </p:sp>
      <p:sp>
        <p:nvSpPr>
          <p:cNvPr id="20487" name="Text Box 7"/>
          <p:cNvSpPr txBox="1"/>
          <p:nvPr/>
        </p:nvSpPr>
        <p:spPr>
          <a:xfrm>
            <a:off x="3733800" y="4953000"/>
            <a:ext cx="533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bg2"/>
                </a:solidFill>
                <a:latin typeface="Times New Roman" panose="02020603050405020304" pitchFamily="18" charset="0"/>
              </a:rPr>
              <a:t>K</a:t>
            </a:r>
          </a:p>
        </p:txBody>
      </p:sp>
      <p:sp>
        <p:nvSpPr>
          <p:cNvPr id="20488" name="Line 8"/>
          <p:cNvSpPr/>
          <p:nvPr/>
        </p:nvSpPr>
        <p:spPr>
          <a:xfrm flipV="1">
            <a:off x="4343400" y="4572000"/>
            <a:ext cx="2362200" cy="152400"/>
          </a:xfrm>
          <a:prstGeom prst="line">
            <a:avLst/>
          </a:prstGeom>
          <a:ln w="76200" cap="flat" cmpd="sng">
            <a:solidFill>
              <a:schemeClr val="bg2"/>
            </a:solidFill>
            <a:prstDash val="solid"/>
            <a:headEnd type="none" w="med" len="med"/>
            <a:tailEnd type="none" w="med" len="med"/>
          </a:ln>
        </p:spPr>
      </p:sp>
      <p:sp>
        <p:nvSpPr>
          <p:cNvPr id="20489" name="Text Box 9"/>
          <p:cNvSpPr txBox="1"/>
          <p:nvPr/>
        </p:nvSpPr>
        <p:spPr>
          <a:xfrm>
            <a:off x="6477000" y="4495800"/>
            <a:ext cx="533400"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b="1" i="1" dirty="0">
                <a:solidFill>
                  <a:schemeClr val="bg2"/>
                </a:solidFill>
                <a:latin typeface="Times New Roman" panose="02020603050405020304" pitchFamily="18" charset="0"/>
              </a:rPr>
              <a:t>y</a:t>
            </a: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11"/>
          <p:cNvSpPr/>
          <p:nvPr/>
        </p:nvSpPr>
        <p:spPr>
          <a:xfrm>
            <a:off x="1209040" y="3850005"/>
            <a:ext cx="1786255" cy="2383155"/>
          </a:xfrm>
          <a:custGeom>
            <a:avLst/>
            <a:gdLst>
              <a:gd name="connisteX0" fmla="*/ 30480 w 1786255"/>
              <a:gd name="connsiteY0" fmla="*/ 15240 h 2286000"/>
              <a:gd name="connisteX1" fmla="*/ 30480 w 1786255"/>
              <a:gd name="connsiteY1" fmla="*/ 90805 h 2286000"/>
              <a:gd name="connisteX2" fmla="*/ 30480 w 1786255"/>
              <a:gd name="connsiteY2" fmla="*/ 167005 h 2286000"/>
              <a:gd name="connisteX3" fmla="*/ 30480 w 1786255"/>
              <a:gd name="connsiteY3" fmla="*/ 242570 h 2286000"/>
              <a:gd name="connisteX4" fmla="*/ 30480 w 1786255"/>
              <a:gd name="connsiteY4" fmla="*/ 318135 h 2286000"/>
              <a:gd name="connisteX5" fmla="*/ 30480 w 1786255"/>
              <a:gd name="connsiteY5" fmla="*/ 393700 h 2286000"/>
              <a:gd name="connisteX6" fmla="*/ 30480 w 1786255"/>
              <a:gd name="connsiteY6" fmla="*/ 469265 h 2286000"/>
              <a:gd name="connisteX7" fmla="*/ 30480 w 1786255"/>
              <a:gd name="connsiteY7" fmla="*/ 545465 h 2286000"/>
              <a:gd name="connisteX8" fmla="*/ 30480 w 1786255"/>
              <a:gd name="connsiteY8" fmla="*/ 621030 h 2286000"/>
              <a:gd name="connisteX9" fmla="*/ 30480 w 1786255"/>
              <a:gd name="connsiteY9" fmla="*/ 696595 h 2286000"/>
              <a:gd name="connisteX10" fmla="*/ 30480 w 1786255"/>
              <a:gd name="connsiteY10" fmla="*/ 772160 h 2286000"/>
              <a:gd name="connisteX11" fmla="*/ 30480 w 1786255"/>
              <a:gd name="connsiteY11" fmla="*/ 862965 h 2286000"/>
              <a:gd name="connisteX12" fmla="*/ 30480 w 1786255"/>
              <a:gd name="connsiteY12" fmla="*/ 938530 h 2286000"/>
              <a:gd name="connisteX13" fmla="*/ 30480 w 1786255"/>
              <a:gd name="connsiteY13" fmla="*/ 1014730 h 2286000"/>
              <a:gd name="connisteX14" fmla="*/ 30480 w 1786255"/>
              <a:gd name="connsiteY14" fmla="*/ 1090295 h 2286000"/>
              <a:gd name="connisteX15" fmla="*/ 30480 w 1786255"/>
              <a:gd name="connsiteY15" fmla="*/ 1165860 h 2286000"/>
              <a:gd name="connisteX16" fmla="*/ 30480 w 1786255"/>
              <a:gd name="connsiteY16" fmla="*/ 1241425 h 2286000"/>
              <a:gd name="connisteX17" fmla="*/ 15240 w 1786255"/>
              <a:gd name="connsiteY17" fmla="*/ 1316990 h 2286000"/>
              <a:gd name="connisteX18" fmla="*/ 0 w 1786255"/>
              <a:gd name="connsiteY18" fmla="*/ 1393190 h 2286000"/>
              <a:gd name="connisteX19" fmla="*/ 0 w 1786255"/>
              <a:gd name="connsiteY19" fmla="*/ 1468755 h 2286000"/>
              <a:gd name="connisteX20" fmla="*/ 0 w 1786255"/>
              <a:gd name="connsiteY20" fmla="*/ 1544320 h 2286000"/>
              <a:gd name="connisteX21" fmla="*/ 0 w 1786255"/>
              <a:gd name="connsiteY21" fmla="*/ 1619885 h 2286000"/>
              <a:gd name="connisteX22" fmla="*/ 0 w 1786255"/>
              <a:gd name="connsiteY22" fmla="*/ 1695450 h 2286000"/>
              <a:gd name="connisteX23" fmla="*/ 0 w 1786255"/>
              <a:gd name="connsiteY23" fmla="*/ 1786890 h 2286000"/>
              <a:gd name="connisteX24" fmla="*/ 0 w 1786255"/>
              <a:gd name="connsiteY24" fmla="*/ 1862455 h 2286000"/>
              <a:gd name="connisteX25" fmla="*/ 0 w 1786255"/>
              <a:gd name="connsiteY25" fmla="*/ 1938020 h 2286000"/>
              <a:gd name="connisteX26" fmla="*/ 0 w 1786255"/>
              <a:gd name="connsiteY26" fmla="*/ 2013585 h 2286000"/>
              <a:gd name="connisteX27" fmla="*/ 0 w 1786255"/>
              <a:gd name="connsiteY27" fmla="*/ 2089150 h 2286000"/>
              <a:gd name="connisteX28" fmla="*/ 0 w 1786255"/>
              <a:gd name="connsiteY28" fmla="*/ 2165350 h 2286000"/>
              <a:gd name="connisteX29" fmla="*/ 30480 w 1786255"/>
              <a:gd name="connsiteY29" fmla="*/ 2210435 h 2286000"/>
              <a:gd name="connisteX30" fmla="*/ 106045 w 1786255"/>
              <a:gd name="connsiteY30" fmla="*/ 2210435 h 2286000"/>
              <a:gd name="connisteX31" fmla="*/ 181610 w 1786255"/>
              <a:gd name="connsiteY31" fmla="*/ 2210435 h 2286000"/>
              <a:gd name="connisteX32" fmla="*/ 257810 w 1786255"/>
              <a:gd name="connsiteY32" fmla="*/ 2210435 h 2286000"/>
              <a:gd name="connisteX33" fmla="*/ 333375 w 1786255"/>
              <a:gd name="connsiteY33" fmla="*/ 2210435 h 2286000"/>
              <a:gd name="connisteX34" fmla="*/ 408940 w 1786255"/>
              <a:gd name="connsiteY34" fmla="*/ 2210435 h 2286000"/>
              <a:gd name="connisteX35" fmla="*/ 484505 w 1786255"/>
              <a:gd name="connsiteY35" fmla="*/ 2210435 h 2286000"/>
              <a:gd name="connisteX36" fmla="*/ 575310 w 1786255"/>
              <a:gd name="connsiteY36" fmla="*/ 2210435 h 2286000"/>
              <a:gd name="connisteX37" fmla="*/ 650875 w 1786255"/>
              <a:gd name="connsiteY37" fmla="*/ 2210435 h 2286000"/>
              <a:gd name="connisteX38" fmla="*/ 727075 w 1786255"/>
              <a:gd name="connsiteY38" fmla="*/ 2210435 h 2286000"/>
              <a:gd name="connisteX39" fmla="*/ 802640 w 1786255"/>
              <a:gd name="connsiteY39" fmla="*/ 2210435 h 2286000"/>
              <a:gd name="connisteX40" fmla="*/ 878205 w 1786255"/>
              <a:gd name="connsiteY40" fmla="*/ 2225675 h 2286000"/>
              <a:gd name="connisteX41" fmla="*/ 953770 w 1786255"/>
              <a:gd name="connsiteY41" fmla="*/ 2225675 h 2286000"/>
              <a:gd name="connisteX42" fmla="*/ 1044575 w 1786255"/>
              <a:gd name="connsiteY42" fmla="*/ 2225675 h 2286000"/>
              <a:gd name="connisteX43" fmla="*/ 1120140 w 1786255"/>
              <a:gd name="connsiteY43" fmla="*/ 2225675 h 2286000"/>
              <a:gd name="connisteX44" fmla="*/ 1211580 w 1786255"/>
              <a:gd name="connsiteY44" fmla="*/ 2240915 h 2286000"/>
              <a:gd name="connisteX45" fmla="*/ 1287145 w 1786255"/>
              <a:gd name="connsiteY45" fmla="*/ 2240915 h 2286000"/>
              <a:gd name="connisteX46" fmla="*/ 1362710 w 1786255"/>
              <a:gd name="connsiteY46" fmla="*/ 2240915 h 2286000"/>
              <a:gd name="connisteX47" fmla="*/ 1453515 w 1786255"/>
              <a:gd name="connsiteY47" fmla="*/ 2256155 h 2286000"/>
              <a:gd name="connisteX48" fmla="*/ 1544320 w 1786255"/>
              <a:gd name="connsiteY48" fmla="*/ 2256155 h 2286000"/>
              <a:gd name="connisteX49" fmla="*/ 1619885 w 1786255"/>
              <a:gd name="connsiteY49" fmla="*/ 2270760 h 2286000"/>
              <a:gd name="connisteX50" fmla="*/ 1695450 w 1786255"/>
              <a:gd name="connsiteY50" fmla="*/ 2286000 h 2286000"/>
              <a:gd name="connisteX51" fmla="*/ 1786255 w 1786255"/>
              <a:gd name="connsiteY51" fmla="*/ 2270760 h 2286000"/>
              <a:gd name="connisteX52" fmla="*/ 1786255 w 1786255"/>
              <a:gd name="connsiteY52" fmla="*/ 2195195 h 2286000"/>
              <a:gd name="connisteX53" fmla="*/ 1741170 w 1786255"/>
              <a:gd name="connsiteY53" fmla="*/ 2119630 h 2286000"/>
              <a:gd name="connisteX54" fmla="*/ 1725930 w 1786255"/>
              <a:gd name="connsiteY54" fmla="*/ 2044065 h 2286000"/>
              <a:gd name="connisteX55" fmla="*/ 1680845 w 1786255"/>
              <a:gd name="connsiteY55" fmla="*/ 1953260 h 2286000"/>
              <a:gd name="connisteX56" fmla="*/ 1635125 w 1786255"/>
              <a:gd name="connsiteY56" fmla="*/ 1862455 h 2286000"/>
              <a:gd name="connisteX57" fmla="*/ 1574800 w 1786255"/>
              <a:gd name="connsiteY57" fmla="*/ 1786890 h 2286000"/>
              <a:gd name="connisteX58" fmla="*/ 1513840 w 1786255"/>
              <a:gd name="connsiteY58" fmla="*/ 1710690 h 2286000"/>
              <a:gd name="connisteX59" fmla="*/ 1453515 w 1786255"/>
              <a:gd name="connsiteY59" fmla="*/ 1635125 h 2286000"/>
              <a:gd name="connisteX60" fmla="*/ 1377950 w 1786255"/>
              <a:gd name="connsiteY60" fmla="*/ 1559560 h 2286000"/>
              <a:gd name="connisteX61" fmla="*/ 1332230 w 1786255"/>
              <a:gd name="connsiteY61" fmla="*/ 1483995 h 2286000"/>
              <a:gd name="connisteX62" fmla="*/ 1287145 w 1786255"/>
              <a:gd name="connsiteY62" fmla="*/ 1408430 h 2286000"/>
              <a:gd name="connisteX63" fmla="*/ 1271905 w 1786255"/>
              <a:gd name="connsiteY63" fmla="*/ 1316990 h 2286000"/>
              <a:gd name="connisteX64" fmla="*/ 1241425 w 1786255"/>
              <a:gd name="connsiteY64" fmla="*/ 1241425 h 2286000"/>
              <a:gd name="connisteX65" fmla="*/ 1211580 w 1786255"/>
              <a:gd name="connsiteY65" fmla="*/ 1165860 h 2286000"/>
              <a:gd name="connisteX66" fmla="*/ 1196340 w 1786255"/>
              <a:gd name="connsiteY66" fmla="*/ 1090295 h 2286000"/>
              <a:gd name="connisteX67" fmla="*/ 1181100 w 1786255"/>
              <a:gd name="connsiteY67" fmla="*/ 1014730 h 2286000"/>
              <a:gd name="connisteX68" fmla="*/ 1165860 w 1786255"/>
              <a:gd name="connsiteY68" fmla="*/ 938530 h 2286000"/>
              <a:gd name="connisteX69" fmla="*/ 1135380 w 1786255"/>
              <a:gd name="connsiteY69" fmla="*/ 862965 h 2286000"/>
              <a:gd name="connisteX70" fmla="*/ 1105535 w 1786255"/>
              <a:gd name="connsiteY70" fmla="*/ 787400 h 2286000"/>
              <a:gd name="connisteX71" fmla="*/ 1075055 w 1786255"/>
              <a:gd name="connsiteY71" fmla="*/ 711835 h 2286000"/>
              <a:gd name="connisteX72" fmla="*/ 999490 w 1786255"/>
              <a:gd name="connsiteY72" fmla="*/ 636270 h 2286000"/>
              <a:gd name="connisteX73" fmla="*/ 923925 w 1786255"/>
              <a:gd name="connsiteY73" fmla="*/ 605790 h 2286000"/>
              <a:gd name="connisteX74" fmla="*/ 847725 w 1786255"/>
              <a:gd name="connsiteY74" fmla="*/ 590550 h 2286000"/>
              <a:gd name="connisteX75" fmla="*/ 847725 w 1786255"/>
              <a:gd name="connsiteY75" fmla="*/ 590550 h 2286000"/>
              <a:gd name="connisteX76" fmla="*/ 772160 w 1786255"/>
              <a:gd name="connsiteY76" fmla="*/ 560070 h 2286000"/>
              <a:gd name="connisteX77" fmla="*/ 681355 w 1786255"/>
              <a:gd name="connsiteY77" fmla="*/ 514985 h 2286000"/>
              <a:gd name="connisteX78" fmla="*/ 605790 w 1786255"/>
              <a:gd name="connsiteY78" fmla="*/ 469265 h 2286000"/>
              <a:gd name="connisteX79" fmla="*/ 530225 w 1786255"/>
              <a:gd name="connsiteY79" fmla="*/ 424180 h 2286000"/>
              <a:gd name="connisteX80" fmla="*/ 454025 w 1786255"/>
              <a:gd name="connsiteY80" fmla="*/ 378460 h 2286000"/>
              <a:gd name="connisteX81" fmla="*/ 363220 w 1786255"/>
              <a:gd name="connsiteY81" fmla="*/ 318135 h 2286000"/>
              <a:gd name="connisteX82" fmla="*/ 287655 w 1786255"/>
              <a:gd name="connsiteY82" fmla="*/ 242570 h 2286000"/>
              <a:gd name="connisteX83" fmla="*/ 242570 w 1786255"/>
              <a:gd name="connsiteY83" fmla="*/ 167005 h 2286000"/>
              <a:gd name="connisteX84" fmla="*/ 166370 w 1786255"/>
              <a:gd name="connsiteY84" fmla="*/ 90805 h 2286000"/>
              <a:gd name="connisteX85" fmla="*/ 136525 w 1786255"/>
              <a:gd name="connsiteY85" fmla="*/ 15240 h 2286000"/>
              <a:gd name="connisteX86" fmla="*/ 90805 w 1786255"/>
              <a:gd name="connsiteY86" fmla="*/ 0 h 2286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Lst>
            <a:rect l="l" t="t" r="r" b="b"/>
            <a:pathLst>
              <a:path w="1786255" h="2286000">
                <a:moveTo>
                  <a:pt x="30480" y="15240"/>
                </a:moveTo>
                <a:lnTo>
                  <a:pt x="30480" y="90805"/>
                </a:lnTo>
                <a:lnTo>
                  <a:pt x="30480" y="167005"/>
                </a:lnTo>
                <a:lnTo>
                  <a:pt x="30480" y="242570"/>
                </a:lnTo>
                <a:lnTo>
                  <a:pt x="30480" y="318135"/>
                </a:lnTo>
                <a:lnTo>
                  <a:pt x="30480" y="393700"/>
                </a:lnTo>
                <a:lnTo>
                  <a:pt x="30480" y="469265"/>
                </a:lnTo>
                <a:lnTo>
                  <a:pt x="30480" y="545465"/>
                </a:lnTo>
                <a:lnTo>
                  <a:pt x="30480" y="621030"/>
                </a:lnTo>
                <a:lnTo>
                  <a:pt x="30480" y="696595"/>
                </a:lnTo>
                <a:lnTo>
                  <a:pt x="30480" y="772160"/>
                </a:lnTo>
                <a:lnTo>
                  <a:pt x="30480" y="862965"/>
                </a:lnTo>
                <a:lnTo>
                  <a:pt x="30480" y="938530"/>
                </a:lnTo>
                <a:lnTo>
                  <a:pt x="30480" y="1014730"/>
                </a:lnTo>
                <a:lnTo>
                  <a:pt x="30480" y="1090295"/>
                </a:lnTo>
                <a:lnTo>
                  <a:pt x="30480" y="1165860"/>
                </a:lnTo>
                <a:lnTo>
                  <a:pt x="30480" y="1241425"/>
                </a:lnTo>
                <a:lnTo>
                  <a:pt x="15240" y="1316990"/>
                </a:lnTo>
                <a:lnTo>
                  <a:pt x="0" y="1393190"/>
                </a:lnTo>
                <a:lnTo>
                  <a:pt x="0" y="1468755"/>
                </a:lnTo>
                <a:lnTo>
                  <a:pt x="0" y="1544320"/>
                </a:lnTo>
                <a:lnTo>
                  <a:pt x="0" y="1619885"/>
                </a:lnTo>
                <a:lnTo>
                  <a:pt x="0" y="1695450"/>
                </a:lnTo>
                <a:lnTo>
                  <a:pt x="0" y="1786890"/>
                </a:lnTo>
                <a:lnTo>
                  <a:pt x="0" y="1862455"/>
                </a:lnTo>
                <a:lnTo>
                  <a:pt x="0" y="1938020"/>
                </a:lnTo>
                <a:lnTo>
                  <a:pt x="0" y="2013585"/>
                </a:lnTo>
                <a:lnTo>
                  <a:pt x="0" y="2089150"/>
                </a:lnTo>
                <a:lnTo>
                  <a:pt x="0" y="2165350"/>
                </a:lnTo>
                <a:lnTo>
                  <a:pt x="30480" y="2210435"/>
                </a:lnTo>
                <a:lnTo>
                  <a:pt x="106045" y="2210435"/>
                </a:lnTo>
                <a:lnTo>
                  <a:pt x="181610" y="2210435"/>
                </a:lnTo>
                <a:lnTo>
                  <a:pt x="257810" y="2210435"/>
                </a:lnTo>
                <a:lnTo>
                  <a:pt x="333375" y="2210435"/>
                </a:lnTo>
                <a:lnTo>
                  <a:pt x="408940" y="2210435"/>
                </a:lnTo>
                <a:lnTo>
                  <a:pt x="484505" y="2210435"/>
                </a:lnTo>
                <a:lnTo>
                  <a:pt x="575310" y="2210435"/>
                </a:lnTo>
                <a:lnTo>
                  <a:pt x="650875" y="2210435"/>
                </a:lnTo>
                <a:lnTo>
                  <a:pt x="727075" y="2210435"/>
                </a:lnTo>
                <a:lnTo>
                  <a:pt x="802640" y="2210435"/>
                </a:lnTo>
                <a:lnTo>
                  <a:pt x="878205" y="2225675"/>
                </a:lnTo>
                <a:lnTo>
                  <a:pt x="953770" y="2225675"/>
                </a:lnTo>
                <a:lnTo>
                  <a:pt x="1044575" y="2225675"/>
                </a:lnTo>
                <a:lnTo>
                  <a:pt x="1120140" y="2225675"/>
                </a:lnTo>
                <a:lnTo>
                  <a:pt x="1211580" y="2240915"/>
                </a:lnTo>
                <a:lnTo>
                  <a:pt x="1287145" y="2240915"/>
                </a:lnTo>
                <a:lnTo>
                  <a:pt x="1362710" y="2240915"/>
                </a:lnTo>
                <a:lnTo>
                  <a:pt x="1453515" y="2256155"/>
                </a:lnTo>
                <a:lnTo>
                  <a:pt x="1544320" y="2256155"/>
                </a:lnTo>
                <a:lnTo>
                  <a:pt x="1619885" y="2270760"/>
                </a:lnTo>
                <a:lnTo>
                  <a:pt x="1695450" y="2286000"/>
                </a:lnTo>
                <a:lnTo>
                  <a:pt x="1786255" y="2270760"/>
                </a:lnTo>
                <a:lnTo>
                  <a:pt x="1786255" y="2195195"/>
                </a:lnTo>
                <a:lnTo>
                  <a:pt x="1741170" y="2119630"/>
                </a:lnTo>
                <a:lnTo>
                  <a:pt x="1725930" y="2044065"/>
                </a:lnTo>
                <a:lnTo>
                  <a:pt x="1680845" y="1953260"/>
                </a:lnTo>
                <a:lnTo>
                  <a:pt x="1635125" y="1862455"/>
                </a:lnTo>
                <a:lnTo>
                  <a:pt x="1574800" y="1786890"/>
                </a:lnTo>
                <a:lnTo>
                  <a:pt x="1513840" y="1710690"/>
                </a:lnTo>
                <a:lnTo>
                  <a:pt x="1453515" y="1635125"/>
                </a:lnTo>
                <a:lnTo>
                  <a:pt x="1377950" y="1559560"/>
                </a:lnTo>
                <a:lnTo>
                  <a:pt x="1332230" y="1483995"/>
                </a:lnTo>
                <a:lnTo>
                  <a:pt x="1287145" y="1408430"/>
                </a:lnTo>
                <a:lnTo>
                  <a:pt x="1271905" y="1316990"/>
                </a:lnTo>
                <a:lnTo>
                  <a:pt x="1241425" y="1241425"/>
                </a:lnTo>
                <a:lnTo>
                  <a:pt x="1211580" y="1165860"/>
                </a:lnTo>
                <a:lnTo>
                  <a:pt x="1196340" y="1090295"/>
                </a:lnTo>
                <a:lnTo>
                  <a:pt x="1181100" y="1014730"/>
                </a:lnTo>
                <a:lnTo>
                  <a:pt x="1165860" y="938530"/>
                </a:lnTo>
                <a:lnTo>
                  <a:pt x="1135380" y="862965"/>
                </a:lnTo>
                <a:lnTo>
                  <a:pt x="1105535" y="787400"/>
                </a:lnTo>
                <a:lnTo>
                  <a:pt x="1075055" y="711835"/>
                </a:lnTo>
                <a:lnTo>
                  <a:pt x="999490" y="636270"/>
                </a:lnTo>
                <a:lnTo>
                  <a:pt x="923925" y="605790"/>
                </a:lnTo>
                <a:lnTo>
                  <a:pt x="847725" y="590550"/>
                </a:lnTo>
                <a:lnTo>
                  <a:pt x="772160" y="560070"/>
                </a:lnTo>
                <a:lnTo>
                  <a:pt x="681355" y="514985"/>
                </a:lnTo>
                <a:lnTo>
                  <a:pt x="605790" y="469265"/>
                </a:lnTo>
                <a:lnTo>
                  <a:pt x="530225" y="424180"/>
                </a:lnTo>
                <a:lnTo>
                  <a:pt x="454025" y="378460"/>
                </a:lnTo>
                <a:lnTo>
                  <a:pt x="363220" y="318135"/>
                </a:lnTo>
                <a:lnTo>
                  <a:pt x="287655" y="242570"/>
                </a:lnTo>
                <a:lnTo>
                  <a:pt x="242570" y="167005"/>
                </a:lnTo>
                <a:lnTo>
                  <a:pt x="166370" y="90805"/>
                </a:lnTo>
                <a:lnTo>
                  <a:pt x="136525" y="15240"/>
                </a:lnTo>
                <a:lnTo>
                  <a:pt x="90805" y="0"/>
                </a:lnTo>
              </a:path>
            </a:pathLst>
          </a:custGeom>
          <a:solidFill>
            <a:schemeClr val="accent3">
              <a:lumMod val="20000"/>
              <a:lumOff val="80000"/>
            </a:schemeClr>
          </a:solidFill>
          <a:ln w="12700" cap="sq" cmpd="sng" algn="ctr">
            <a:solidFill>
              <a:schemeClr val="tx1"/>
            </a:solidFill>
            <a:prstDash val="solid"/>
            <a:round/>
            <a:headEnd type="none" w="sm" len="sm"/>
            <a:tailEnd type="none" w="sm" len="sm"/>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6.1 </a:t>
            </a:r>
            <a:r>
              <a:rPr kumimoji="0" lang="zh-CN" altLang="en-US" kern="1200" dirty="0" smtClean="0">
                <a:solidFill>
                  <a:schemeClr val="accent2"/>
                </a:solidFill>
                <a:sym typeface="+mn-ea"/>
              </a:rPr>
              <a:t>线性规划模型</a:t>
            </a:r>
            <a:endParaRPr kumimoji="0" lang="en-US" altLang="zh-CN" kern="1200" dirty="0" smtClean="0">
              <a:solidFill>
                <a:schemeClr val="accent2"/>
              </a:solidFill>
              <a:sym typeface="+mn-ea"/>
            </a:endParaRPr>
          </a:p>
        </p:txBody>
      </p:sp>
      <p:sp>
        <p:nvSpPr>
          <p:cNvPr id="10243" name="Rectangle 3"/>
          <p:cNvSpPr>
            <a:spLocks noGrp="1"/>
          </p:cNvSpPr>
          <p:nvPr>
            <p:ph idx="1"/>
          </p:nvPr>
        </p:nvSpPr>
        <p:spPr>
          <a:xfrm>
            <a:off x="506730" y="1637030"/>
            <a:ext cx="7772400" cy="594360"/>
          </a:xfrm>
        </p:spPr>
        <p:txBody>
          <a:bodyPr vert="horz" wrap="square" lIns="91440" tIns="45720" rIns="91440" bIns="45720" anchor="t"/>
          <a:lstStyle/>
          <a:p>
            <a:pPr eaLnBrk="1" hangingPunct="1">
              <a:lnSpc>
                <a:spcPct val="120000"/>
              </a:lnSpc>
              <a:spcBef>
                <a:spcPts val="20"/>
              </a:spcBef>
              <a:spcAft>
                <a:spcPts val="0"/>
              </a:spcAft>
              <a:buFont typeface="Arial" panose="020B0604020202020204" pitchFamily="34" charset="0"/>
              <a:buChar char="•"/>
            </a:pPr>
            <a:r>
              <a:rPr lang="zh-CN" altLang="en-US" sz="2400" b="0" dirty="0">
                <a:solidFill>
                  <a:schemeClr val="bg1"/>
                </a:solidFill>
              </a:rPr>
              <a:t>无穷多最优解的表示</a:t>
            </a:r>
          </a:p>
        </p:txBody>
      </p:sp>
      <p:grpSp>
        <p:nvGrpSpPr>
          <p:cNvPr id="4" name="组合 3"/>
          <p:cNvGrpSpPr/>
          <p:nvPr/>
        </p:nvGrpSpPr>
        <p:grpSpPr>
          <a:xfrm>
            <a:off x="1250950" y="2403475"/>
            <a:ext cx="3625215" cy="3763010"/>
            <a:chOff x="3000" y="600"/>
            <a:chExt cx="9000" cy="8640"/>
          </a:xfrm>
        </p:grpSpPr>
        <p:sp>
          <p:nvSpPr>
            <p:cNvPr id="12291" name="Line 3"/>
            <p:cNvSpPr/>
            <p:nvPr/>
          </p:nvSpPr>
          <p:spPr>
            <a:xfrm>
              <a:off x="3000" y="600"/>
              <a:ext cx="0" cy="8640"/>
            </a:xfrm>
            <a:prstGeom prst="line">
              <a:avLst/>
            </a:prstGeom>
            <a:ln w="57150" cap="flat" cmpd="sng">
              <a:solidFill>
                <a:srgbClr val="FF6600"/>
              </a:solidFill>
              <a:prstDash val="solid"/>
              <a:headEnd type="triangle" w="med" len="med"/>
              <a:tailEnd type="none" w="med" len="med"/>
            </a:ln>
          </p:spPr>
        </p:sp>
        <p:sp>
          <p:nvSpPr>
            <p:cNvPr id="12292" name="Line 4"/>
            <p:cNvSpPr/>
            <p:nvPr/>
          </p:nvSpPr>
          <p:spPr>
            <a:xfrm>
              <a:off x="3000" y="9240"/>
              <a:ext cx="9000" cy="0"/>
            </a:xfrm>
            <a:prstGeom prst="line">
              <a:avLst/>
            </a:prstGeom>
            <a:ln w="57150" cap="flat" cmpd="sng">
              <a:solidFill>
                <a:srgbClr val="FF6600"/>
              </a:solidFill>
              <a:prstDash val="solid"/>
              <a:headEnd type="none" w="med" len="med"/>
              <a:tailEnd type="triangle" w="med" len="med"/>
            </a:ln>
          </p:spPr>
        </p:sp>
      </p:grpSp>
      <p:sp>
        <p:nvSpPr>
          <p:cNvPr id="12293" name="Line 5"/>
          <p:cNvSpPr/>
          <p:nvPr/>
        </p:nvSpPr>
        <p:spPr>
          <a:xfrm>
            <a:off x="1115060" y="2820670"/>
            <a:ext cx="2000250" cy="3543300"/>
          </a:xfrm>
          <a:prstGeom prst="line">
            <a:avLst/>
          </a:prstGeom>
          <a:ln w="57150" cap="flat" cmpd="sng">
            <a:solidFill>
              <a:srgbClr val="FF6600"/>
            </a:solidFill>
            <a:prstDash val="solid"/>
            <a:headEnd type="none" w="med" len="med"/>
            <a:tailEnd type="none" w="med" len="med"/>
          </a:ln>
        </p:spPr>
      </p:sp>
      <p:sp>
        <p:nvSpPr>
          <p:cNvPr id="12294" name="Line 6"/>
          <p:cNvSpPr/>
          <p:nvPr/>
        </p:nvSpPr>
        <p:spPr>
          <a:xfrm>
            <a:off x="723900" y="3430270"/>
            <a:ext cx="3676015" cy="2934335"/>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sp>
      <p:sp>
        <p:nvSpPr>
          <p:cNvPr id="9" name="Line 6"/>
          <p:cNvSpPr/>
          <p:nvPr/>
        </p:nvSpPr>
        <p:spPr>
          <a:xfrm>
            <a:off x="1103630" y="3710305"/>
            <a:ext cx="2011680" cy="1592580"/>
          </a:xfrm>
          <a:prstGeom prst="line">
            <a:avLst/>
          </a:prstGeom>
          <a:ln w="44450">
            <a:solidFill>
              <a:schemeClr val="accent5"/>
            </a:solidFill>
            <a:prstDash val="dash"/>
            <a:headEnd type="none" w="med" len="med"/>
            <a:tailEnd type="none" w="med" len="med"/>
          </a:ln>
        </p:spPr>
        <p:style>
          <a:lnRef idx="2">
            <a:schemeClr val="accent2"/>
          </a:lnRef>
          <a:fillRef idx="0">
            <a:schemeClr val="accent2"/>
          </a:fillRef>
          <a:effectRef idx="1">
            <a:schemeClr val="accent2"/>
          </a:effectRef>
          <a:fontRef idx="minor">
            <a:schemeClr val="tx1"/>
          </a:fontRef>
        </p:style>
      </p:sp>
      <p:sp>
        <p:nvSpPr>
          <p:cNvPr id="114710" name="Line 22"/>
          <p:cNvSpPr/>
          <p:nvPr/>
        </p:nvSpPr>
        <p:spPr>
          <a:xfrm>
            <a:off x="1250950" y="3850005"/>
            <a:ext cx="845820" cy="664845"/>
          </a:xfrm>
          <a:prstGeom prst="line">
            <a:avLst/>
          </a:prstGeom>
          <a:ln w="127000" cmpd="thickThin">
            <a:solidFill>
              <a:srgbClr val="38CC04"/>
            </a:solidFill>
            <a:prstDash val="solid"/>
            <a:headEnd type="none" w="med" len="med"/>
            <a:tailEnd type="none" w="med" len="med"/>
          </a:ln>
        </p:spPr>
        <p:style>
          <a:lnRef idx="2">
            <a:schemeClr val="dk1"/>
          </a:lnRef>
          <a:fillRef idx="0">
            <a:schemeClr val="dk1"/>
          </a:fillRef>
          <a:effectRef idx="1">
            <a:schemeClr val="dk1"/>
          </a:effectRef>
          <a:fontRef idx="minor">
            <a:schemeClr val="tx1"/>
          </a:fontRef>
        </p:style>
      </p:sp>
      <p:sp>
        <p:nvSpPr>
          <p:cNvPr id="12297" name="Text Box 9"/>
          <p:cNvSpPr txBox="1"/>
          <p:nvPr/>
        </p:nvSpPr>
        <p:spPr>
          <a:xfrm>
            <a:off x="5043170" y="5871528"/>
            <a:ext cx="533400" cy="588962"/>
          </a:xfrm>
          <a:prstGeom prst="rect">
            <a:avLst/>
          </a:prstGeom>
          <a:noFill/>
          <a:ln w="9525" cap="flat" cmpd="sng">
            <a:no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i="1" dirty="0">
                <a:solidFill>
                  <a:schemeClr val="bg2"/>
                </a:solidFill>
                <a:latin typeface="Times New Roman" panose="02020603050405020304" pitchFamily="18" charset="0"/>
              </a:rPr>
              <a:t>x</a:t>
            </a:r>
            <a:r>
              <a:rPr lang="en-US" altLang="zh-CN" baseline="-25000" dirty="0">
                <a:solidFill>
                  <a:schemeClr val="bg2"/>
                </a:solidFill>
                <a:latin typeface="Times New Roman" panose="02020603050405020304" pitchFamily="18" charset="0"/>
              </a:rPr>
              <a:t>1</a:t>
            </a:r>
            <a:r>
              <a:rPr lang="en-US" altLang="zh-CN" dirty="0">
                <a:solidFill>
                  <a:schemeClr val="bg2"/>
                </a:solidFill>
                <a:latin typeface="Times New Roman" panose="02020603050405020304" pitchFamily="18" charset="0"/>
              </a:rPr>
              <a:t> </a:t>
            </a:r>
            <a:endParaRPr lang="en-US" altLang="zh-CN" sz="2400" dirty="0">
              <a:solidFill>
                <a:schemeClr val="bg2"/>
              </a:solidFill>
              <a:latin typeface="Times New Roman" panose="02020603050405020304" pitchFamily="18" charset="0"/>
            </a:endParaRPr>
          </a:p>
        </p:txBody>
      </p:sp>
      <p:sp>
        <p:nvSpPr>
          <p:cNvPr id="11" name="Text Box 9"/>
          <p:cNvSpPr txBox="1"/>
          <p:nvPr/>
        </p:nvSpPr>
        <p:spPr>
          <a:xfrm>
            <a:off x="717550" y="2231708"/>
            <a:ext cx="533400" cy="583565"/>
          </a:xfrm>
          <a:prstGeom prst="rect">
            <a:avLst/>
          </a:prstGeom>
          <a:noFill/>
          <a:ln w="9525" cap="flat" cmpd="sng">
            <a:no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i="1" dirty="0">
                <a:solidFill>
                  <a:schemeClr val="bg2"/>
                </a:solidFill>
                <a:latin typeface="Times New Roman" panose="02020603050405020304" pitchFamily="18" charset="0"/>
              </a:rPr>
              <a:t>x</a:t>
            </a:r>
            <a:r>
              <a:rPr lang="en-US" altLang="zh-CN" baseline="-25000" dirty="0">
                <a:solidFill>
                  <a:schemeClr val="bg2"/>
                </a:solidFill>
                <a:latin typeface="Times New Roman" panose="02020603050405020304" pitchFamily="18" charset="0"/>
              </a:rPr>
              <a:t>2</a:t>
            </a:r>
            <a:r>
              <a:rPr lang="en-US" altLang="zh-CN" dirty="0">
                <a:solidFill>
                  <a:schemeClr val="bg2"/>
                </a:solidFill>
                <a:latin typeface="Times New Roman" panose="02020603050405020304" pitchFamily="18" charset="0"/>
              </a:rPr>
              <a:t> </a:t>
            </a:r>
            <a:endParaRPr lang="en-US" altLang="zh-CN" sz="2400" dirty="0">
              <a:solidFill>
                <a:schemeClr val="bg2"/>
              </a:solidFill>
              <a:latin typeface="Times New Roman" panose="02020603050405020304" pitchFamily="18" charset="0"/>
            </a:endParaRPr>
          </a:p>
        </p:txBody>
      </p:sp>
      <p:sp>
        <p:nvSpPr>
          <p:cNvPr id="94" name="Oval 30"/>
          <p:cNvSpPr/>
          <p:nvPr/>
        </p:nvSpPr>
        <p:spPr>
          <a:xfrm>
            <a:off x="1114425" y="3710305"/>
            <a:ext cx="243205" cy="313055"/>
          </a:xfrm>
          <a:prstGeom prst="ellipse">
            <a:avLst/>
          </a:prstGeom>
          <a:solidFill>
            <a:srgbClr val="A23218"/>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dirty="0">
              <a:solidFill>
                <a:schemeClr val="bg1"/>
              </a:solidFill>
            </a:endParaRPr>
          </a:p>
        </p:txBody>
      </p:sp>
      <p:sp>
        <p:nvSpPr>
          <p:cNvPr id="2" name="Oval 30"/>
          <p:cNvSpPr/>
          <p:nvPr/>
        </p:nvSpPr>
        <p:spPr>
          <a:xfrm>
            <a:off x="1980565" y="4350385"/>
            <a:ext cx="243205" cy="313055"/>
          </a:xfrm>
          <a:prstGeom prst="ellipse">
            <a:avLst/>
          </a:prstGeom>
          <a:solidFill>
            <a:srgbClr val="A23218"/>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dirty="0">
              <a:solidFill>
                <a:schemeClr val="bg1"/>
              </a:solidFill>
            </a:endParaRPr>
          </a:p>
        </p:txBody>
      </p:sp>
      <p:sp>
        <p:nvSpPr>
          <p:cNvPr id="5" name="文本框 4"/>
          <p:cNvSpPr txBox="1"/>
          <p:nvPr/>
        </p:nvSpPr>
        <p:spPr>
          <a:xfrm>
            <a:off x="717550" y="3710305"/>
            <a:ext cx="403225" cy="460375"/>
          </a:xfrm>
          <a:prstGeom prst="rect">
            <a:avLst/>
          </a:prstGeom>
          <a:noFill/>
        </p:spPr>
        <p:txBody>
          <a:bodyPr wrap="none" rtlCol="0">
            <a:spAutoFit/>
          </a:bodyPr>
          <a:lstStyle/>
          <a:p>
            <a:r>
              <a:rPr lang="en-US" altLang="zh-CN">
                <a:solidFill>
                  <a:schemeClr val="bg2"/>
                </a:solidFill>
              </a:rPr>
              <a:t>A</a:t>
            </a:r>
          </a:p>
        </p:txBody>
      </p:sp>
      <p:sp>
        <p:nvSpPr>
          <p:cNvPr id="6" name="文本框 5"/>
          <p:cNvSpPr txBox="1"/>
          <p:nvPr/>
        </p:nvSpPr>
        <p:spPr>
          <a:xfrm>
            <a:off x="2223770" y="4055110"/>
            <a:ext cx="386080" cy="460375"/>
          </a:xfrm>
          <a:prstGeom prst="rect">
            <a:avLst/>
          </a:prstGeom>
          <a:noFill/>
        </p:spPr>
        <p:txBody>
          <a:bodyPr wrap="none" rtlCol="0">
            <a:spAutoFit/>
          </a:bodyPr>
          <a:lstStyle/>
          <a:p>
            <a:r>
              <a:rPr lang="en-US" altLang="zh-CN">
                <a:solidFill>
                  <a:schemeClr val="bg2"/>
                </a:solidFill>
              </a:rPr>
              <a:t>B</a:t>
            </a:r>
          </a:p>
        </p:txBody>
      </p:sp>
      <p:sp>
        <p:nvSpPr>
          <p:cNvPr id="13" name="Rectangle 3"/>
          <p:cNvSpPr>
            <a:spLocks noGrp="1"/>
          </p:cNvSpPr>
          <p:nvPr/>
        </p:nvSpPr>
        <p:spPr>
          <a:xfrm>
            <a:off x="4116070" y="2417445"/>
            <a:ext cx="3709035" cy="2898775"/>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vl6pPr marL="25146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6pPr>
            <a:lvl7pPr marL="29718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7pPr>
            <a:lvl8pPr marL="34290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8pPr>
            <a:lvl9pPr marL="38862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9pPr>
          </a:lstStyle>
          <a:p>
            <a:pPr marL="0" indent="0" eaLnBrk="1" hangingPunct="1">
              <a:lnSpc>
                <a:spcPct val="120000"/>
              </a:lnSpc>
              <a:spcBef>
                <a:spcPts val="20"/>
              </a:spcBef>
              <a:spcAft>
                <a:spcPts val="0"/>
              </a:spcAft>
              <a:buFont typeface="Arial" panose="020B0604020202020204" pitchFamily="34" charset="0"/>
              <a:buNone/>
            </a:pPr>
            <a:r>
              <a:rPr lang="en-US" altLang="zh-CN" sz="2400" b="0" dirty="0">
                <a:solidFill>
                  <a:schemeClr val="bg1"/>
                </a:solidFill>
                <a:latin typeface="Times New Roman" panose="02020603050405020304" pitchFamily="18" charset="0"/>
                <a:cs typeface="Times New Roman" panose="02020603050405020304" pitchFamily="18" charset="0"/>
              </a:rPr>
              <a:t>A(</a:t>
            </a:r>
            <a:r>
              <a:rPr lang="en-US" altLang="zh-CN" sz="2400" b="0" i="1" dirty="0">
                <a:solidFill>
                  <a:schemeClr val="bg1"/>
                </a:solidFill>
                <a:latin typeface="Times New Roman" panose="02020603050405020304" pitchFamily="18" charset="0"/>
                <a:cs typeface="Times New Roman" panose="02020603050405020304" pitchFamily="18" charset="0"/>
              </a:rPr>
              <a:t>x</a:t>
            </a:r>
            <a:r>
              <a:rPr lang="en-US" altLang="zh-CN" sz="2400" b="0" baseline="-25000" dirty="0">
                <a:solidFill>
                  <a:schemeClr val="bg1"/>
                </a:solidFill>
                <a:latin typeface="Times New Roman" panose="02020603050405020304" pitchFamily="18" charset="0"/>
                <a:cs typeface="Times New Roman" panose="02020603050405020304" pitchFamily="18" charset="0"/>
              </a:rPr>
              <a:t>1</a:t>
            </a:r>
            <a:r>
              <a:rPr lang="en-US" altLang="zh-CN" sz="2400" b="0" dirty="0">
                <a:solidFill>
                  <a:schemeClr val="bg1"/>
                </a:solidFill>
                <a:latin typeface="Times New Roman" panose="02020603050405020304" pitchFamily="18" charset="0"/>
                <a:cs typeface="Times New Roman" panose="02020603050405020304" pitchFamily="18" charset="0"/>
              </a:rPr>
              <a:t> , </a:t>
            </a:r>
            <a:r>
              <a:rPr lang="en-US" altLang="zh-CN" sz="2400" b="0" i="1" dirty="0">
                <a:solidFill>
                  <a:schemeClr val="bg1"/>
                </a:solidFill>
                <a:latin typeface="Times New Roman" panose="02020603050405020304" pitchFamily="18" charset="0"/>
                <a:cs typeface="Times New Roman" panose="02020603050405020304" pitchFamily="18" charset="0"/>
              </a:rPr>
              <a:t>y</a:t>
            </a:r>
            <a:r>
              <a:rPr lang="en-US" altLang="zh-CN" sz="2400" b="0" baseline="-25000" dirty="0">
                <a:solidFill>
                  <a:schemeClr val="bg1"/>
                </a:solidFill>
                <a:latin typeface="Times New Roman" panose="02020603050405020304" pitchFamily="18" charset="0"/>
                <a:cs typeface="Times New Roman" panose="02020603050405020304" pitchFamily="18" charset="0"/>
              </a:rPr>
              <a:t>1</a:t>
            </a:r>
            <a:r>
              <a:rPr lang="en-US" altLang="zh-CN" sz="2400" b="0" dirty="0">
                <a:solidFill>
                  <a:schemeClr val="bg1"/>
                </a:solidFill>
                <a:latin typeface="Times New Roman" panose="02020603050405020304" pitchFamily="18" charset="0"/>
                <a:cs typeface="Times New Roman" panose="02020603050405020304" pitchFamily="18" charset="0"/>
              </a:rPr>
              <a:t>)</a:t>
            </a:r>
          </a:p>
          <a:p>
            <a:pPr marL="0" indent="0" eaLnBrk="1" hangingPunct="1">
              <a:lnSpc>
                <a:spcPct val="120000"/>
              </a:lnSpc>
              <a:spcBef>
                <a:spcPts val="20"/>
              </a:spcBef>
              <a:spcAft>
                <a:spcPts val="0"/>
              </a:spcAft>
              <a:buFont typeface="Arial" panose="020B0604020202020204" pitchFamily="34" charset="0"/>
              <a:buNone/>
            </a:pPr>
            <a:r>
              <a:rPr lang="en-US" altLang="zh-CN" sz="2400" b="0" dirty="0">
                <a:solidFill>
                  <a:schemeClr val="bg1"/>
                </a:solidFill>
                <a:latin typeface="Times New Roman" panose="02020603050405020304" pitchFamily="18" charset="0"/>
                <a:cs typeface="Times New Roman" panose="02020603050405020304" pitchFamily="18" charset="0"/>
              </a:rPr>
              <a:t>B(</a:t>
            </a:r>
            <a:r>
              <a:rPr lang="en-US" altLang="zh-CN" sz="2400" b="0" i="1" dirty="0">
                <a:solidFill>
                  <a:schemeClr val="bg1"/>
                </a:solidFill>
                <a:latin typeface="Times New Roman" panose="02020603050405020304" pitchFamily="18" charset="0"/>
                <a:cs typeface="Times New Roman" panose="02020603050405020304" pitchFamily="18" charset="0"/>
              </a:rPr>
              <a:t>x</a:t>
            </a:r>
            <a:r>
              <a:rPr lang="en-US" altLang="zh-CN" sz="2400" b="0" baseline="-25000" dirty="0">
                <a:solidFill>
                  <a:schemeClr val="bg1"/>
                </a:solidFill>
                <a:latin typeface="Times New Roman" panose="02020603050405020304" pitchFamily="18" charset="0"/>
                <a:cs typeface="Times New Roman" panose="02020603050405020304" pitchFamily="18" charset="0"/>
              </a:rPr>
              <a:t>2</a:t>
            </a:r>
            <a:r>
              <a:rPr lang="en-US" altLang="zh-CN" sz="2400" b="0" dirty="0">
                <a:solidFill>
                  <a:schemeClr val="bg1"/>
                </a:solidFill>
                <a:latin typeface="Times New Roman" panose="02020603050405020304" pitchFamily="18" charset="0"/>
                <a:cs typeface="Times New Roman" panose="02020603050405020304" pitchFamily="18" charset="0"/>
              </a:rPr>
              <a:t> , </a:t>
            </a:r>
            <a:r>
              <a:rPr lang="en-US" altLang="zh-CN" sz="2400" b="0" i="1" dirty="0">
                <a:solidFill>
                  <a:schemeClr val="bg1"/>
                </a:solidFill>
                <a:latin typeface="Times New Roman" panose="02020603050405020304" pitchFamily="18" charset="0"/>
                <a:cs typeface="Times New Roman" panose="02020603050405020304" pitchFamily="18" charset="0"/>
              </a:rPr>
              <a:t>y</a:t>
            </a:r>
            <a:r>
              <a:rPr lang="en-US" altLang="zh-CN" sz="2400" b="0" baseline="-25000" dirty="0">
                <a:solidFill>
                  <a:schemeClr val="bg1"/>
                </a:solidFill>
                <a:latin typeface="Times New Roman" panose="02020603050405020304" pitchFamily="18" charset="0"/>
                <a:cs typeface="Times New Roman" panose="02020603050405020304" pitchFamily="18" charset="0"/>
              </a:rPr>
              <a:t>2</a:t>
            </a:r>
            <a:r>
              <a:rPr lang="en-US" altLang="zh-CN" sz="2400" b="0" dirty="0">
                <a:solidFill>
                  <a:schemeClr val="bg1"/>
                </a:solidFill>
                <a:latin typeface="Times New Roman" panose="02020603050405020304" pitchFamily="18" charset="0"/>
                <a:cs typeface="Times New Roman" panose="02020603050405020304" pitchFamily="18" charset="0"/>
              </a:rPr>
              <a:t>)</a:t>
            </a:r>
          </a:p>
          <a:p>
            <a:pPr marL="0" indent="0" eaLnBrk="1" hangingPunct="1">
              <a:lnSpc>
                <a:spcPct val="120000"/>
              </a:lnSpc>
              <a:spcBef>
                <a:spcPts val="20"/>
              </a:spcBef>
              <a:spcAft>
                <a:spcPts val="0"/>
              </a:spcAft>
              <a:buFont typeface="Arial" panose="020B0604020202020204" pitchFamily="34" charset="0"/>
              <a:buNone/>
            </a:pPr>
            <a:r>
              <a:rPr lang="en-US" altLang="zh-CN" sz="2400" b="0" dirty="0">
                <a:solidFill>
                  <a:schemeClr val="bg1"/>
                </a:solidFill>
                <a:latin typeface="Times New Roman" panose="02020603050405020304" pitchFamily="18" charset="0"/>
                <a:cs typeface="Times New Roman" panose="02020603050405020304" pitchFamily="18" charset="0"/>
              </a:rPr>
              <a:t>AB</a:t>
            </a:r>
            <a:r>
              <a:rPr lang="zh-CN" altLang="en-US" sz="2400" b="0" dirty="0">
                <a:solidFill>
                  <a:schemeClr val="bg1"/>
                </a:solidFill>
                <a:latin typeface="Times New Roman" panose="02020603050405020304" pitchFamily="18" charset="0"/>
                <a:cs typeface="Times New Roman" panose="02020603050405020304" pitchFamily="18" charset="0"/>
              </a:rPr>
              <a:t>之间所有点的坐标为：</a:t>
            </a:r>
          </a:p>
          <a:p>
            <a:pPr marL="0" indent="0" eaLnBrk="1" hangingPunct="1">
              <a:lnSpc>
                <a:spcPct val="120000"/>
              </a:lnSpc>
              <a:spcBef>
                <a:spcPts val="20"/>
              </a:spcBef>
              <a:spcAft>
                <a:spcPts val="0"/>
              </a:spcAft>
              <a:buFont typeface="Arial" panose="020B0604020202020204" pitchFamily="34" charset="0"/>
              <a:buNone/>
            </a:pPr>
            <a:r>
              <a:rPr lang="en-US" altLang="zh-CN" sz="2400" b="0" i="1" dirty="0">
                <a:solidFill>
                  <a:schemeClr val="bg1"/>
                </a:solidFill>
                <a:latin typeface="Times New Roman" panose="02020603050405020304" pitchFamily="18" charset="0"/>
                <a:cs typeface="Times New Roman" panose="02020603050405020304" pitchFamily="18" charset="0"/>
              </a:rPr>
              <a:t>x</a:t>
            </a:r>
            <a:r>
              <a:rPr lang="en-US" altLang="zh-CN" sz="2400" b="0" dirty="0">
                <a:solidFill>
                  <a:schemeClr val="bg1"/>
                </a:solidFill>
                <a:latin typeface="Times New Roman" panose="02020603050405020304" pitchFamily="18" charset="0"/>
                <a:cs typeface="Times New Roman" panose="02020603050405020304" pitchFamily="18" charset="0"/>
              </a:rPr>
              <a:t>=</a:t>
            </a:r>
            <a:r>
              <a:rPr lang="en-US" altLang="zh-CN" sz="2400" b="0" i="1" dirty="0">
                <a:solidFill>
                  <a:schemeClr val="bg1"/>
                </a:solidFill>
                <a:latin typeface="Times New Roman" panose="02020603050405020304" pitchFamily="18" charset="0"/>
                <a:cs typeface="Times New Roman" panose="02020603050405020304" pitchFamily="18" charset="0"/>
              </a:rPr>
              <a:t>x</a:t>
            </a:r>
            <a:r>
              <a:rPr lang="en-US" altLang="zh-CN" sz="2400" b="0" baseline="-25000" dirty="0">
                <a:solidFill>
                  <a:schemeClr val="bg1"/>
                </a:solidFill>
                <a:latin typeface="Times New Roman" panose="02020603050405020304" pitchFamily="18" charset="0"/>
                <a:cs typeface="Times New Roman" panose="02020603050405020304" pitchFamily="18" charset="0"/>
              </a:rPr>
              <a:t>1</a:t>
            </a:r>
            <a:r>
              <a:rPr lang="en-US" altLang="zh-CN" sz="2400" b="0" i="1" dirty="0">
                <a:solidFill>
                  <a:schemeClr val="bg1"/>
                </a:solidFill>
                <a:latin typeface="Times New Roman" panose="02020603050405020304" pitchFamily="18" charset="0"/>
                <a:cs typeface="Times New Roman" panose="02020603050405020304" pitchFamily="18" charset="0"/>
              </a:rPr>
              <a:t>t</a:t>
            </a:r>
            <a:r>
              <a:rPr lang="en-US" altLang="zh-CN" sz="2400" b="0" dirty="0">
                <a:solidFill>
                  <a:schemeClr val="bg1"/>
                </a:solidFill>
                <a:latin typeface="Times New Roman" panose="02020603050405020304" pitchFamily="18" charset="0"/>
                <a:cs typeface="Times New Roman" panose="02020603050405020304" pitchFamily="18" charset="0"/>
              </a:rPr>
              <a:t>+</a:t>
            </a:r>
            <a:r>
              <a:rPr lang="en-US" altLang="zh-CN" sz="2400" b="0" i="1" dirty="0">
                <a:solidFill>
                  <a:schemeClr val="bg1"/>
                </a:solidFill>
                <a:latin typeface="Times New Roman" panose="02020603050405020304" pitchFamily="18" charset="0"/>
                <a:cs typeface="Times New Roman" panose="02020603050405020304" pitchFamily="18" charset="0"/>
              </a:rPr>
              <a:t>x</a:t>
            </a:r>
            <a:r>
              <a:rPr lang="en-US" altLang="zh-CN" sz="2400" b="0" baseline="-25000" dirty="0">
                <a:solidFill>
                  <a:schemeClr val="bg1"/>
                </a:solidFill>
                <a:latin typeface="Times New Roman" panose="02020603050405020304" pitchFamily="18" charset="0"/>
                <a:cs typeface="Times New Roman" panose="02020603050405020304" pitchFamily="18" charset="0"/>
              </a:rPr>
              <a:t>2</a:t>
            </a:r>
            <a:r>
              <a:rPr lang="en-US" altLang="zh-CN" sz="2400" b="0" dirty="0">
                <a:solidFill>
                  <a:schemeClr val="bg1"/>
                </a:solidFill>
                <a:latin typeface="Times New Roman" panose="02020603050405020304" pitchFamily="18" charset="0"/>
                <a:cs typeface="Times New Roman" panose="02020603050405020304" pitchFamily="18" charset="0"/>
              </a:rPr>
              <a:t>(1-</a:t>
            </a:r>
            <a:r>
              <a:rPr lang="en-US" altLang="zh-CN" sz="2400" b="0" i="1" dirty="0">
                <a:solidFill>
                  <a:schemeClr val="bg1"/>
                </a:solidFill>
                <a:latin typeface="Times New Roman" panose="02020603050405020304" pitchFamily="18" charset="0"/>
                <a:cs typeface="Times New Roman" panose="02020603050405020304" pitchFamily="18" charset="0"/>
              </a:rPr>
              <a:t>t</a:t>
            </a:r>
            <a:r>
              <a:rPr lang="en-US" altLang="zh-CN" sz="2400" b="0" dirty="0">
                <a:solidFill>
                  <a:schemeClr val="bg1"/>
                </a:solidFill>
                <a:latin typeface="Times New Roman" panose="02020603050405020304" pitchFamily="18" charset="0"/>
                <a:cs typeface="Times New Roman" panose="02020603050405020304" pitchFamily="18" charset="0"/>
              </a:rPr>
              <a:t>)=</a:t>
            </a:r>
            <a:r>
              <a:rPr lang="en-US" altLang="zh-CN" sz="2400" b="0" i="1" dirty="0">
                <a:solidFill>
                  <a:schemeClr val="bg1"/>
                </a:solidFill>
                <a:latin typeface="Times New Roman" panose="02020603050405020304" pitchFamily="18" charset="0"/>
                <a:cs typeface="Times New Roman" panose="02020603050405020304" pitchFamily="18" charset="0"/>
              </a:rPr>
              <a:t>x</a:t>
            </a:r>
            <a:r>
              <a:rPr lang="en-US" altLang="zh-CN" sz="2400" b="0" baseline="-25000" dirty="0">
                <a:solidFill>
                  <a:schemeClr val="bg1"/>
                </a:solidFill>
                <a:latin typeface="Times New Roman" panose="02020603050405020304" pitchFamily="18" charset="0"/>
                <a:cs typeface="Times New Roman" panose="02020603050405020304" pitchFamily="18" charset="0"/>
              </a:rPr>
              <a:t>2</a:t>
            </a:r>
            <a:r>
              <a:rPr lang="en-US" altLang="zh-CN" sz="2400" b="0" dirty="0">
                <a:solidFill>
                  <a:schemeClr val="bg1"/>
                </a:solidFill>
                <a:latin typeface="Times New Roman" panose="02020603050405020304" pitchFamily="18" charset="0"/>
                <a:cs typeface="Times New Roman" panose="02020603050405020304" pitchFamily="18" charset="0"/>
              </a:rPr>
              <a:t>-(</a:t>
            </a:r>
            <a:r>
              <a:rPr lang="en-US" altLang="zh-CN" sz="2400" b="0" i="1" dirty="0">
                <a:solidFill>
                  <a:schemeClr val="bg1"/>
                </a:solidFill>
                <a:latin typeface="Times New Roman" panose="02020603050405020304" pitchFamily="18" charset="0"/>
                <a:cs typeface="Times New Roman" panose="02020603050405020304" pitchFamily="18" charset="0"/>
              </a:rPr>
              <a:t>x</a:t>
            </a:r>
            <a:r>
              <a:rPr lang="en-US" altLang="zh-CN" sz="2400" b="0" baseline="-25000" dirty="0">
                <a:solidFill>
                  <a:schemeClr val="bg1"/>
                </a:solidFill>
                <a:latin typeface="Times New Roman" panose="02020603050405020304" pitchFamily="18" charset="0"/>
                <a:cs typeface="Times New Roman" panose="02020603050405020304" pitchFamily="18" charset="0"/>
              </a:rPr>
              <a:t>1</a:t>
            </a:r>
            <a:r>
              <a:rPr lang="en-US" altLang="zh-CN" sz="2400" b="0" dirty="0">
                <a:solidFill>
                  <a:schemeClr val="bg1"/>
                </a:solidFill>
                <a:latin typeface="Times New Roman" panose="02020603050405020304" pitchFamily="18" charset="0"/>
                <a:cs typeface="Times New Roman" panose="02020603050405020304" pitchFamily="18" charset="0"/>
              </a:rPr>
              <a:t>-</a:t>
            </a:r>
            <a:r>
              <a:rPr lang="en-US" altLang="zh-CN" sz="2400" b="0" i="1" dirty="0">
                <a:solidFill>
                  <a:schemeClr val="bg1"/>
                </a:solidFill>
                <a:latin typeface="Times New Roman" panose="02020603050405020304" pitchFamily="18" charset="0"/>
                <a:cs typeface="Times New Roman" panose="02020603050405020304" pitchFamily="18" charset="0"/>
              </a:rPr>
              <a:t>x</a:t>
            </a:r>
            <a:r>
              <a:rPr lang="en-US" altLang="zh-CN" sz="2400" b="0" baseline="-25000" dirty="0">
                <a:solidFill>
                  <a:schemeClr val="bg1"/>
                </a:solidFill>
                <a:latin typeface="Times New Roman" panose="02020603050405020304" pitchFamily="18" charset="0"/>
                <a:cs typeface="Times New Roman" panose="02020603050405020304" pitchFamily="18" charset="0"/>
              </a:rPr>
              <a:t>2</a:t>
            </a:r>
            <a:r>
              <a:rPr lang="en-US" altLang="zh-CN" sz="2400" b="0" dirty="0">
                <a:solidFill>
                  <a:schemeClr val="bg1"/>
                </a:solidFill>
                <a:latin typeface="Times New Roman" panose="02020603050405020304" pitchFamily="18" charset="0"/>
                <a:cs typeface="Times New Roman" panose="02020603050405020304" pitchFamily="18" charset="0"/>
              </a:rPr>
              <a:t>)</a:t>
            </a:r>
            <a:r>
              <a:rPr lang="en-US" altLang="zh-CN" sz="2400" b="0" i="1" dirty="0">
                <a:solidFill>
                  <a:schemeClr val="bg1"/>
                </a:solidFill>
                <a:latin typeface="Times New Roman" panose="02020603050405020304" pitchFamily="18" charset="0"/>
                <a:cs typeface="Times New Roman" panose="02020603050405020304" pitchFamily="18" charset="0"/>
              </a:rPr>
              <a:t>t</a:t>
            </a:r>
            <a:endParaRPr lang="en-US" altLang="zh-CN" sz="2400" b="0" dirty="0">
              <a:solidFill>
                <a:schemeClr val="bg1"/>
              </a:solidFill>
              <a:latin typeface="Times New Roman" panose="02020603050405020304" pitchFamily="18" charset="0"/>
              <a:cs typeface="Times New Roman" panose="02020603050405020304" pitchFamily="18" charset="0"/>
            </a:endParaRPr>
          </a:p>
          <a:p>
            <a:pPr marL="0" indent="0" eaLnBrk="1" hangingPunct="1">
              <a:lnSpc>
                <a:spcPct val="120000"/>
              </a:lnSpc>
              <a:spcBef>
                <a:spcPts val="20"/>
              </a:spcBef>
              <a:spcAft>
                <a:spcPts val="0"/>
              </a:spcAft>
              <a:buFont typeface="Arial" panose="020B0604020202020204" pitchFamily="34" charset="0"/>
              <a:buNone/>
            </a:pPr>
            <a:r>
              <a:rPr lang="en-US" altLang="zh-CN" sz="2400" b="0" i="1" dirty="0">
                <a:solidFill>
                  <a:schemeClr val="bg1"/>
                </a:solidFill>
                <a:latin typeface="Times New Roman" panose="02020603050405020304" pitchFamily="18" charset="0"/>
                <a:cs typeface="Times New Roman" panose="02020603050405020304" pitchFamily="18" charset="0"/>
              </a:rPr>
              <a:t>y</a:t>
            </a:r>
            <a:r>
              <a:rPr lang="en-US" altLang="zh-CN" sz="2400" b="0" dirty="0">
                <a:solidFill>
                  <a:schemeClr val="bg1"/>
                </a:solidFill>
                <a:latin typeface="Times New Roman" panose="02020603050405020304" pitchFamily="18" charset="0"/>
                <a:cs typeface="Times New Roman" panose="02020603050405020304" pitchFamily="18" charset="0"/>
              </a:rPr>
              <a:t>=</a:t>
            </a:r>
            <a:r>
              <a:rPr lang="en-US" altLang="zh-CN" sz="2400" b="0" i="1" dirty="0">
                <a:solidFill>
                  <a:schemeClr val="bg1"/>
                </a:solidFill>
                <a:latin typeface="Times New Roman" panose="02020603050405020304" pitchFamily="18" charset="0"/>
                <a:cs typeface="Times New Roman" panose="02020603050405020304" pitchFamily="18" charset="0"/>
              </a:rPr>
              <a:t>y</a:t>
            </a:r>
            <a:r>
              <a:rPr lang="en-US" altLang="zh-CN" sz="2400" b="0" baseline="-25000" dirty="0">
                <a:solidFill>
                  <a:schemeClr val="bg1"/>
                </a:solidFill>
                <a:latin typeface="Times New Roman" panose="02020603050405020304" pitchFamily="18" charset="0"/>
                <a:cs typeface="Times New Roman" panose="02020603050405020304" pitchFamily="18" charset="0"/>
              </a:rPr>
              <a:t>1</a:t>
            </a:r>
            <a:r>
              <a:rPr lang="en-US" altLang="zh-CN" sz="2400" b="0" i="1" dirty="0">
                <a:solidFill>
                  <a:schemeClr val="bg1"/>
                </a:solidFill>
                <a:latin typeface="Times New Roman" panose="02020603050405020304" pitchFamily="18" charset="0"/>
                <a:cs typeface="Times New Roman" panose="02020603050405020304" pitchFamily="18" charset="0"/>
              </a:rPr>
              <a:t>t</a:t>
            </a:r>
            <a:r>
              <a:rPr lang="en-US" altLang="zh-CN" sz="2400" b="0" dirty="0">
                <a:solidFill>
                  <a:schemeClr val="bg1"/>
                </a:solidFill>
                <a:latin typeface="Times New Roman" panose="02020603050405020304" pitchFamily="18" charset="0"/>
                <a:cs typeface="Times New Roman" panose="02020603050405020304" pitchFamily="18" charset="0"/>
              </a:rPr>
              <a:t>+</a:t>
            </a:r>
            <a:r>
              <a:rPr lang="en-US" altLang="zh-CN" sz="2400" b="0" i="1" dirty="0">
                <a:solidFill>
                  <a:schemeClr val="bg1"/>
                </a:solidFill>
                <a:latin typeface="Times New Roman" panose="02020603050405020304" pitchFamily="18" charset="0"/>
                <a:cs typeface="Times New Roman" panose="02020603050405020304" pitchFamily="18" charset="0"/>
              </a:rPr>
              <a:t>y</a:t>
            </a:r>
            <a:r>
              <a:rPr lang="en-US" altLang="zh-CN" sz="2400" b="0" baseline="-25000" dirty="0">
                <a:solidFill>
                  <a:schemeClr val="bg1"/>
                </a:solidFill>
                <a:latin typeface="Times New Roman" panose="02020603050405020304" pitchFamily="18" charset="0"/>
                <a:cs typeface="Times New Roman" panose="02020603050405020304" pitchFamily="18" charset="0"/>
              </a:rPr>
              <a:t>2</a:t>
            </a:r>
            <a:r>
              <a:rPr lang="en-US" altLang="zh-CN" sz="2400" b="0" dirty="0">
                <a:solidFill>
                  <a:schemeClr val="bg1"/>
                </a:solidFill>
                <a:latin typeface="Times New Roman" panose="02020603050405020304" pitchFamily="18" charset="0"/>
                <a:cs typeface="Times New Roman" panose="02020603050405020304" pitchFamily="18" charset="0"/>
              </a:rPr>
              <a:t>(1-</a:t>
            </a:r>
            <a:r>
              <a:rPr lang="en-US" altLang="zh-CN" sz="2400" b="0" i="1" dirty="0">
                <a:solidFill>
                  <a:schemeClr val="bg1"/>
                </a:solidFill>
                <a:latin typeface="Times New Roman" panose="02020603050405020304" pitchFamily="18" charset="0"/>
                <a:cs typeface="Times New Roman" panose="02020603050405020304" pitchFamily="18" charset="0"/>
              </a:rPr>
              <a:t>t</a:t>
            </a:r>
            <a:r>
              <a:rPr lang="en-US" altLang="zh-CN" sz="2400" b="0" dirty="0">
                <a:solidFill>
                  <a:schemeClr val="bg1"/>
                </a:solidFill>
                <a:latin typeface="Times New Roman" panose="02020603050405020304" pitchFamily="18" charset="0"/>
                <a:cs typeface="Times New Roman" panose="02020603050405020304" pitchFamily="18" charset="0"/>
              </a:rPr>
              <a:t>)=</a:t>
            </a:r>
            <a:r>
              <a:rPr lang="en-US" altLang="zh-CN" sz="2400" b="0" i="1" dirty="0">
                <a:solidFill>
                  <a:schemeClr val="bg1"/>
                </a:solidFill>
                <a:latin typeface="Times New Roman" panose="02020603050405020304" pitchFamily="18" charset="0"/>
                <a:cs typeface="Times New Roman" panose="02020603050405020304" pitchFamily="18" charset="0"/>
              </a:rPr>
              <a:t>y</a:t>
            </a:r>
            <a:r>
              <a:rPr lang="en-US" altLang="zh-CN" sz="2400" b="0" baseline="-25000" dirty="0">
                <a:solidFill>
                  <a:schemeClr val="bg1"/>
                </a:solidFill>
                <a:latin typeface="Times New Roman" panose="02020603050405020304" pitchFamily="18" charset="0"/>
                <a:cs typeface="Times New Roman" panose="02020603050405020304" pitchFamily="18" charset="0"/>
              </a:rPr>
              <a:t>2</a:t>
            </a:r>
            <a:r>
              <a:rPr lang="en-US" altLang="zh-CN" sz="2400" b="0" dirty="0">
                <a:solidFill>
                  <a:schemeClr val="bg1"/>
                </a:solidFill>
                <a:latin typeface="Times New Roman" panose="02020603050405020304" pitchFamily="18" charset="0"/>
                <a:cs typeface="Times New Roman" panose="02020603050405020304" pitchFamily="18" charset="0"/>
              </a:rPr>
              <a:t>-(</a:t>
            </a:r>
            <a:r>
              <a:rPr lang="en-US" altLang="zh-CN" sz="2400" b="0" i="1" dirty="0">
                <a:solidFill>
                  <a:schemeClr val="bg1"/>
                </a:solidFill>
                <a:latin typeface="Times New Roman" panose="02020603050405020304" pitchFamily="18" charset="0"/>
                <a:cs typeface="Times New Roman" panose="02020603050405020304" pitchFamily="18" charset="0"/>
              </a:rPr>
              <a:t>y</a:t>
            </a:r>
            <a:r>
              <a:rPr lang="en-US" altLang="zh-CN" sz="2400" b="0" baseline="-25000" dirty="0">
                <a:solidFill>
                  <a:schemeClr val="bg1"/>
                </a:solidFill>
                <a:latin typeface="Times New Roman" panose="02020603050405020304" pitchFamily="18" charset="0"/>
                <a:cs typeface="Times New Roman" panose="02020603050405020304" pitchFamily="18" charset="0"/>
              </a:rPr>
              <a:t>1</a:t>
            </a:r>
            <a:r>
              <a:rPr lang="en-US" altLang="zh-CN" sz="2400" b="0" dirty="0">
                <a:solidFill>
                  <a:schemeClr val="bg1"/>
                </a:solidFill>
                <a:latin typeface="Times New Roman" panose="02020603050405020304" pitchFamily="18" charset="0"/>
                <a:cs typeface="Times New Roman" panose="02020603050405020304" pitchFamily="18" charset="0"/>
              </a:rPr>
              <a:t>-</a:t>
            </a:r>
            <a:r>
              <a:rPr lang="en-US" altLang="zh-CN" sz="2400" b="0" i="1" dirty="0">
                <a:solidFill>
                  <a:schemeClr val="bg1"/>
                </a:solidFill>
                <a:latin typeface="Times New Roman" panose="02020603050405020304" pitchFamily="18" charset="0"/>
                <a:cs typeface="Times New Roman" panose="02020603050405020304" pitchFamily="18" charset="0"/>
              </a:rPr>
              <a:t>y</a:t>
            </a:r>
            <a:r>
              <a:rPr lang="en-US" altLang="zh-CN" sz="2400" b="0" baseline="-25000" dirty="0">
                <a:solidFill>
                  <a:schemeClr val="bg1"/>
                </a:solidFill>
                <a:latin typeface="Times New Roman" panose="02020603050405020304" pitchFamily="18" charset="0"/>
                <a:cs typeface="Times New Roman" panose="02020603050405020304" pitchFamily="18" charset="0"/>
              </a:rPr>
              <a:t>2</a:t>
            </a:r>
            <a:r>
              <a:rPr lang="en-US" altLang="zh-CN" sz="2400" b="0" dirty="0">
                <a:solidFill>
                  <a:schemeClr val="bg1"/>
                </a:solidFill>
                <a:latin typeface="Times New Roman" panose="02020603050405020304" pitchFamily="18" charset="0"/>
                <a:cs typeface="Times New Roman" panose="02020603050405020304" pitchFamily="18" charset="0"/>
              </a:rPr>
              <a:t>)</a:t>
            </a:r>
            <a:r>
              <a:rPr lang="en-US" altLang="zh-CN" sz="2400" b="0" i="1" dirty="0">
                <a:solidFill>
                  <a:schemeClr val="bg1"/>
                </a:solidFill>
                <a:latin typeface="Times New Roman" panose="02020603050405020304" pitchFamily="18" charset="0"/>
                <a:cs typeface="Times New Roman" panose="02020603050405020304" pitchFamily="18" charset="0"/>
              </a:rPr>
              <a:t>t</a:t>
            </a:r>
            <a:endParaRPr lang="en-US" altLang="zh-CN" sz="2400" b="0" dirty="0">
              <a:solidFill>
                <a:schemeClr val="bg1"/>
              </a:solidFill>
              <a:latin typeface="Times New Roman" panose="02020603050405020304" pitchFamily="18" charset="0"/>
              <a:cs typeface="Times New Roman" panose="02020603050405020304" pitchFamily="18" charset="0"/>
            </a:endParaRPr>
          </a:p>
        </p:txBody>
      </p:sp>
      <p:sp>
        <p:nvSpPr>
          <p:cNvPr id="14" name="Rectangle 3"/>
          <p:cNvSpPr>
            <a:spLocks noGrp="1"/>
          </p:cNvSpPr>
          <p:nvPr/>
        </p:nvSpPr>
        <p:spPr>
          <a:xfrm>
            <a:off x="7492365" y="4055110"/>
            <a:ext cx="968375" cy="594360"/>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vl6pPr marL="25146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6pPr>
            <a:lvl7pPr marL="29718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7pPr>
            <a:lvl8pPr marL="34290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8pPr>
            <a:lvl9pPr marL="38862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9pPr>
          </a:lstStyle>
          <a:p>
            <a:pPr marL="0" indent="0" eaLnBrk="1" hangingPunct="1">
              <a:lnSpc>
                <a:spcPct val="120000"/>
              </a:lnSpc>
              <a:spcBef>
                <a:spcPts val="20"/>
              </a:spcBef>
              <a:spcAft>
                <a:spcPts val="0"/>
              </a:spcAft>
              <a:buFont typeface="Arial" panose="020B0604020202020204" pitchFamily="34" charset="0"/>
              <a:buNone/>
            </a:pPr>
            <a:r>
              <a:rPr lang="en-US" altLang="zh-CN" sz="2400" b="0" dirty="0">
                <a:solidFill>
                  <a:schemeClr val="bg1"/>
                </a:solidFill>
                <a:latin typeface="Times New Roman" panose="02020603050405020304" pitchFamily="18" charset="0"/>
                <a:cs typeface="Times New Roman" panose="02020603050405020304" pitchFamily="18" charset="0"/>
              </a:rPr>
              <a:t>0≤</a:t>
            </a:r>
            <a:r>
              <a:rPr lang="en-US" altLang="zh-CN" sz="2400" b="0" i="1" dirty="0">
                <a:solidFill>
                  <a:schemeClr val="bg1"/>
                </a:solidFill>
                <a:latin typeface="Times New Roman" panose="02020603050405020304" pitchFamily="18" charset="0"/>
                <a:cs typeface="Times New Roman" panose="02020603050405020304" pitchFamily="18" charset="0"/>
              </a:rPr>
              <a:t>t</a:t>
            </a:r>
            <a:r>
              <a:rPr lang="en-US" altLang="zh-CN" sz="2400" b="0" dirty="0">
                <a:solidFill>
                  <a:schemeClr val="bg1"/>
                </a:solidFill>
                <a:latin typeface="Times New Roman" panose="02020603050405020304" pitchFamily="18" charset="0"/>
                <a:cs typeface="Times New Roman" panose="02020603050405020304" pitchFamily="18" charset="0"/>
                <a:sym typeface="+mn-ea"/>
              </a:rPr>
              <a:t>≤</a:t>
            </a:r>
            <a:r>
              <a:rPr lang="en-US" altLang="zh-CN" sz="2400" b="0" dirty="0">
                <a:solidFill>
                  <a:schemeClr val="bg1"/>
                </a:solidFill>
                <a:latin typeface="Times New Roman" panose="02020603050405020304" pitchFamily="18" charset="0"/>
                <a:cs typeface="Times New Roman" panose="02020603050405020304" pitchFamily="18" charset="0"/>
              </a:rPr>
              <a:t>1</a:t>
            </a:r>
          </a:p>
        </p:txBody>
      </p:sp>
    </p:spTree>
  </p:cSld>
  <p:clrMapOvr>
    <a:masterClrMapping/>
  </p:clrMapOvr>
  <p:transition/>
  <p:timing>
    <p:tnLst>
      <p:par>
        <p:cTn id="1" dur="indefinite" restart="never" nodeType="tmRoot"/>
      </p:par>
    </p:tnLst>
    <p:bldLst>
      <p:bldP spid="12" grpId="1" animBg="1"/>
      <p:bldP spid="94" grpId="1" animBg="1"/>
      <p:bldP spid="2"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6.1 </a:t>
            </a:r>
            <a:r>
              <a:rPr kumimoji="0" lang="zh-CN" altLang="en-US" kern="1200" dirty="0" smtClean="0">
                <a:solidFill>
                  <a:schemeClr val="accent2"/>
                </a:solidFill>
                <a:sym typeface="+mn-ea"/>
              </a:rPr>
              <a:t>线性规划模型</a:t>
            </a:r>
            <a:endParaRPr kumimoji="0" lang="en-US" altLang="zh-CN" kern="1200" dirty="0" smtClean="0">
              <a:solidFill>
                <a:schemeClr val="accent2"/>
              </a:solidFill>
              <a:sym typeface="+mn-ea"/>
            </a:endParaRPr>
          </a:p>
        </p:txBody>
      </p:sp>
      <p:sp>
        <p:nvSpPr>
          <p:cNvPr id="10243" name="Rectangle 3"/>
          <p:cNvSpPr>
            <a:spLocks noGrp="1"/>
          </p:cNvSpPr>
          <p:nvPr>
            <p:ph idx="1"/>
          </p:nvPr>
        </p:nvSpPr>
        <p:spPr>
          <a:xfrm>
            <a:off x="506730" y="1637030"/>
            <a:ext cx="8105140" cy="981710"/>
          </a:xfrm>
        </p:spPr>
        <p:txBody>
          <a:bodyPr vert="horz" wrap="square" lIns="91440" tIns="45720" rIns="91440" bIns="45720" anchor="t"/>
          <a:lstStyle/>
          <a:p>
            <a:pPr eaLnBrk="1" hangingPunct="1">
              <a:lnSpc>
                <a:spcPct val="120000"/>
              </a:lnSpc>
              <a:spcBef>
                <a:spcPts val="20"/>
              </a:spcBef>
              <a:spcAft>
                <a:spcPts val="0"/>
              </a:spcAft>
              <a:buFont typeface="Arial" panose="020B0604020202020204" pitchFamily="34" charset="0"/>
              <a:buChar char="•"/>
            </a:pPr>
            <a:r>
              <a:rPr lang="zh-CN" altLang="en-US" sz="2400" b="0" dirty="0">
                <a:solidFill>
                  <a:schemeClr val="bg1"/>
                </a:solidFill>
              </a:rPr>
              <a:t>无界解：有可行域，无最优解：</a:t>
            </a:r>
            <a:r>
              <a:rPr lang="zh-CN" altLang="en-US" sz="2400" b="0" dirty="0">
                <a:solidFill>
                  <a:schemeClr val="bg1"/>
                </a:solidFill>
                <a:sym typeface="+mn-ea"/>
              </a:rPr>
              <a:t>目标函数线移动方向上的可行域是无边界的。</a:t>
            </a:r>
            <a:endParaRPr lang="zh-CN" altLang="en-US" sz="2400" b="0" dirty="0">
              <a:solidFill>
                <a:schemeClr val="bg1"/>
              </a:solidFill>
            </a:endParaRPr>
          </a:p>
        </p:txBody>
      </p:sp>
      <p:grpSp>
        <p:nvGrpSpPr>
          <p:cNvPr id="4" name="组合 3"/>
          <p:cNvGrpSpPr/>
          <p:nvPr/>
        </p:nvGrpSpPr>
        <p:grpSpPr>
          <a:xfrm>
            <a:off x="1250950" y="2935605"/>
            <a:ext cx="3625215" cy="3446145"/>
            <a:chOff x="3000" y="600"/>
            <a:chExt cx="9000" cy="8640"/>
          </a:xfrm>
        </p:grpSpPr>
        <p:sp>
          <p:nvSpPr>
            <p:cNvPr id="12291" name="Line 3"/>
            <p:cNvSpPr/>
            <p:nvPr/>
          </p:nvSpPr>
          <p:spPr>
            <a:xfrm>
              <a:off x="3000" y="600"/>
              <a:ext cx="0" cy="8640"/>
            </a:xfrm>
            <a:prstGeom prst="line">
              <a:avLst/>
            </a:prstGeom>
            <a:ln w="57150" cap="flat" cmpd="sng">
              <a:solidFill>
                <a:srgbClr val="FF6600"/>
              </a:solidFill>
              <a:prstDash val="solid"/>
              <a:headEnd type="triangle" w="med" len="med"/>
              <a:tailEnd type="none" w="med" len="med"/>
            </a:ln>
          </p:spPr>
        </p:sp>
        <p:sp>
          <p:nvSpPr>
            <p:cNvPr id="12292" name="Line 4"/>
            <p:cNvSpPr/>
            <p:nvPr/>
          </p:nvSpPr>
          <p:spPr>
            <a:xfrm>
              <a:off x="3000" y="9240"/>
              <a:ext cx="9000" cy="0"/>
            </a:xfrm>
            <a:prstGeom prst="line">
              <a:avLst/>
            </a:prstGeom>
            <a:ln w="57150" cap="flat" cmpd="sng">
              <a:solidFill>
                <a:srgbClr val="FF6600"/>
              </a:solidFill>
              <a:prstDash val="solid"/>
              <a:headEnd type="none" w="med" len="med"/>
              <a:tailEnd type="triangle" w="med" len="med"/>
            </a:ln>
          </p:spPr>
        </p:sp>
      </p:grpSp>
      <p:sp>
        <p:nvSpPr>
          <p:cNvPr id="12297" name="Text Box 9"/>
          <p:cNvSpPr txBox="1"/>
          <p:nvPr/>
        </p:nvSpPr>
        <p:spPr>
          <a:xfrm>
            <a:off x="5043170" y="6086793"/>
            <a:ext cx="533400" cy="588962"/>
          </a:xfrm>
          <a:prstGeom prst="rect">
            <a:avLst/>
          </a:prstGeom>
          <a:noFill/>
          <a:ln w="9525" cap="flat" cmpd="sng">
            <a:no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i="1" dirty="0">
                <a:solidFill>
                  <a:schemeClr val="bg2"/>
                </a:solidFill>
                <a:latin typeface="Times New Roman" panose="02020603050405020304" pitchFamily="18" charset="0"/>
              </a:rPr>
              <a:t>x</a:t>
            </a:r>
            <a:r>
              <a:rPr lang="en-US" altLang="zh-CN" baseline="-25000" dirty="0">
                <a:solidFill>
                  <a:schemeClr val="bg2"/>
                </a:solidFill>
                <a:latin typeface="Times New Roman" panose="02020603050405020304" pitchFamily="18" charset="0"/>
              </a:rPr>
              <a:t>1</a:t>
            </a:r>
            <a:r>
              <a:rPr lang="en-US" altLang="zh-CN" dirty="0">
                <a:solidFill>
                  <a:schemeClr val="bg2"/>
                </a:solidFill>
                <a:latin typeface="Times New Roman" panose="02020603050405020304" pitchFamily="18" charset="0"/>
              </a:rPr>
              <a:t> </a:t>
            </a:r>
            <a:endParaRPr lang="en-US" altLang="zh-CN" sz="2400" dirty="0">
              <a:solidFill>
                <a:schemeClr val="bg2"/>
              </a:solidFill>
              <a:latin typeface="Times New Roman" panose="02020603050405020304" pitchFamily="18" charset="0"/>
            </a:endParaRPr>
          </a:p>
        </p:txBody>
      </p:sp>
      <p:sp>
        <p:nvSpPr>
          <p:cNvPr id="11" name="Text Box 9"/>
          <p:cNvSpPr txBox="1"/>
          <p:nvPr/>
        </p:nvSpPr>
        <p:spPr>
          <a:xfrm>
            <a:off x="717550" y="2590483"/>
            <a:ext cx="533400" cy="583565"/>
          </a:xfrm>
          <a:prstGeom prst="rect">
            <a:avLst/>
          </a:prstGeom>
          <a:noFill/>
          <a:ln w="9525" cap="flat" cmpd="sng">
            <a:no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i="1" dirty="0">
                <a:solidFill>
                  <a:schemeClr val="bg2"/>
                </a:solidFill>
                <a:latin typeface="Times New Roman" panose="02020603050405020304" pitchFamily="18" charset="0"/>
              </a:rPr>
              <a:t>x</a:t>
            </a:r>
            <a:r>
              <a:rPr lang="en-US" altLang="zh-CN" baseline="-25000" dirty="0">
                <a:solidFill>
                  <a:schemeClr val="bg2"/>
                </a:solidFill>
                <a:latin typeface="Times New Roman" panose="02020603050405020304" pitchFamily="18" charset="0"/>
              </a:rPr>
              <a:t>2</a:t>
            </a:r>
            <a:r>
              <a:rPr lang="en-US" altLang="zh-CN" dirty="0">
                <a:solidFill>
                  <a:schemeClr val="bg2"/>
                </a:solidFill>
                <a:latin typeface="Times New Roman" panose="02020603050405020304" pitchFamily="18" charset="0"/>
              </a:rPr>
              <a:t> </a:t>
            </a:r>
            <a:endParaRPr lang="en-US" altLang="zh-CN" sz="2400" dirty="0">
              <a:solidFill>
                <a:schemeClr val="bg2"/>
              </a:solidFill>
              <a:latin typeface="Times New Roman" panose="02020603050405020304" pitchFamily="18" charset="0"/>
            </a:endParaRPr>
          </a:p>
        </p:txBody>
      </p:sp>
      <p:sp>
        <p:nvSpPr>
          <p:cNvPr id="13314" name="Rectangle 2"/>
          <p:cNvSpPr>
            <a:spLocks noGrp="1"/>
          </p:cNvSpPr>
          <p:nvPr/>
        </p:nvSpPr>
        <p:spPr>
          <a:xfrm>
            <a:off x="5908040" y="2091690"/>
            <a:ext cx="3059430" cy="1863725"/>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algn="just" eaLnBrk="1" hangingPunct="1">
              <a:buNone/>
            </a:pPr>
            <a:r>
              <a:rPr lang="en-US" altLang="zh-CN" sz="2400" b="1" dirty="0">
                <a:solidFill>
                  <a:schemeClr val="bg2"/>
                </a:solidFill>
                <a:latin typeface="Times New Roman" panose="02020603050405020304" pitchFamily="18" charset="0"/>
                <a:cs typeface="Times New Roman" panose="02020603050405020304" pitchFamily="18" charset="0"/>
              </a:rPr>
              <a:t> max: </a:t>
            </a:r>
            <a:r>
              <a:rPr lang="en-US" altLang="zh-CN" sz="2400" b="1" i="1" dirty="0">
                <a:solidFill>
                  <a:schemeClr val="bg2"/>
                </a:solidFill>
                <a:latin typeface="Times New Roman" panose="02020603050405020304" pitchFamily="18" charset="0"/>
                <a:cs typeface="Times New Roman" panose="02020603050405020304" pitchFamily="18" charset="0"/>
              </a:rPr>
              <a:t>z</a:t>
            </a:r>
            <a:r>
              <a:rPr lang="en-US" altLang="zh-CN" sz="2400" b="1" dirty="0">
                <a:solidFill>
                  <a:schemeClr val="bg2"/>
                </a:solidFill>
                <a:latin typeface="Times New Roman" panose="02020603050405020304" pitchFamily="18" charset="0"/>
                <a:cs typeface="Times New Roman" panose="02020603050405020304" pitchFamily="18" charset="0"/>
              </a:rPr>
              <a:t> = 2</a:t>
            </a:r>
            <a:r>
              <a:rPr lang="en-US" altLang="zh-CN" sz="2400" b="1" i="1" dirty="0">
                <a:solidFill>
                  <a:schemeClr val="bg2"/>
                </a:solidFill>
                <a:latin typeface="Times New Roman" panose="02020603050405020304" pitchFamily="18" charset="0"/>
                <a:cs typeface="Times New Roman" panose="02020603050405020304" pitchFamily="18" charset="0"/>
              </a:rPr>
              <a:t>x</a:t>
            </a:r>
            <a:r>
              <a:rPr lang="en-US" altLang="zh-CN" sz="2400" b="1" baseline="-25000" dirty="0">
                <a:solidFill>
                  <a:schemeClr val="bg2"/>
                </a:solidFill>
                <a:latin typeface="Times New Roman" panose="02020603050405020304" pitchFamily="18" charset="0"/>
                <a:cs typeface="Times New Roman" panose="02020603050405020304" pitchFamily="18" charset="0"/>
              </a:rPr>
              <a:t>1 </a:t>
            </a:r>
            <a:r>
              <a:rPr lang="en-US" altLang="zh-CN" sz="2400" b="1" dirty="0">
                <a:solidFill>
                  <a:schemeClr val="bg2"/>
                </a:solidFill>
                <a:latin typeface="Times New Roman" panose="02020603050405020304" pitchFamily="18" charset="0"/>
                <a:cs typeface="Times New Roman" panose="02020603050405020304" pitchFamily="18" charset="0"/>
              </a:rPr>
              <a:t>+  </a:t>
            </a:r>
            <a:r>
              <a:rPr lang="en-US" altLang="zh-CN" sz="2400" b="1" i="1" dirty="0">
                <a:solidFill>
                  <a:schemeClr val="bg2"/>
                </a:solidFill>
                <a:latin typeface="Times New Roman" panose="02020603050405020304" pitchFamily="18" charset="0"/>
                <a:cs typeface="Times New Roman" panose="02020603050405020304" pitchFamily="18" charset="0"/>
              </a:rPr>
              <a:t>x</a:t>
            </a:r>
            <a:r>
              <a:rPr lang="en-US" altLang="zh-CN" sz="2400" b="1" baseline="-25000" dirty="0">
                <a:solidFill>
                  <a:schemeClr val="bg2"/>
                </a:solidFill>
                <a:latin typeface="Times New Roman" panose="02020603050405020304" pitchFamily="18" charset="0"/>
                <a:cs typeface="Times New Roman" panose="02020603050405020304" pitchFamily="18" charset="0"/>
              </a:rPr>
              <a:t>2</a:t>
            </a:r>
            <a:endParaRPr lang="en-US" altLang="zh-CN" sz="2400" b="1" dirty="0">
              <a:solidFill>
                <a:schemeClr val="bg2"/>
              </a:solidFill>
              <a:latin typeface="Times New Roman" panose="02020603050405020304" pitchFamily="18" charset="0"/>
              <a:cs typeface="Times New Roman" panose="02020603050405020304" pitchFamily="18" charset="0"/>
            </a:endParaRPr>
          </a:p>
          <a:p>
            <a:pPr algn="just" eaLnBrk="1" hangingPunct="1">
              <a:buNone/>
            </a:pPr>
            <a:r>
              <a:rPr lang="en-US" altLang="zh-CN" sz="2400" b="1" dirty="0">
                <a:solidFill>
                  <a:schemeClr val="bg2"/>
                </a:solidFill>
                <a:latin typeface="Times New Roman" panose="02020603050405020304" pitchFamily="18" charset="0"/>
                <a:cs typeface="Times New Roman" panose="02020603050405020304" pitchFamily="18" charset="0"/>
              </a:rPr>
              <a:t> s.t.	    </a:t>
            </a:r>
            <a:r>
              <a:rPr lang="en-US" altLang="zh-CN" sz="2400" b="1" i="1" dirty="0">
                <a:solidFill>
                  <a:schemeClr val="bg2"/>
                </a:solidFill>
                <a:latin typeface="Times New Roman" panose="02020603050405020304" pitchFamily="18" charset="0"/>
                <a:cs typeface="Times New Roman" panose="02020603050405020304" pitchFamily="18" charset="0"/>
              </a:rPr>
              <a:t>x</a:t>
            </a:r>
            <a:r>
              <a:rPr lang="en-US" altLang="zh-CN" sz="2400" b="1" baseline="-25000" dirty="0">
                <a:solidFill>
                  <a:schemeClr val="bg2"/>
                </a:solidFill>
                <a:latin typeface="Times New Roman" panose="02020603050405020304" pitchFamily="18" charset="0"/>
                <a:cs typeface="Times New Roman" panose="02020603050405020304" pitchFamily="18" charset="0"/>
              </a:rPr>
              <a:t>1 </a:t>
            </a:r>
            <a:r>
              <a:rPr lang="en-US" altLang="zh-CN" sz="2400" b="1" dirty="0">
                <a:solidFill>
                  <a:schemeClr val="bg2"/>
                </a:solidFill>
                <a:latin typeface="Times New Roman" panose="02020603050405020304" pitchFamily="18" charset="0"/>
                <a:cs typeface="Times New Roman" panose="02020603050405020304" pitchFamily="18" charset="0"/>
              </a:rPr>
              <a:t>+  </a:t>
            </a:r>
            <a:r>
              <a:rPr lang="en-US" altLang="zh-CN" sz="2400" b="1" i="1" dirty="0">
                <a:solidFill>
                  <a:schemeClr val="bg2"/>
                </a:solidFill>
                <a:latin typeface="Times New Roman" panose="02020603050405020304" pitchFamily="18" charset="0"/>
                <a:cs typeface="Times New Roman" panose="02020603050405020304" pitchFamily="18" charset="0"/>
              </a:rPr>
              <a:t>x</a:t>
            </a:r>
            <a:r>
              <a:rPr lang="en-US" altLang="zh-CN" sz="2400" b="1" baseline="-25000" dirty="0">
                <a:solidFill>
                  <a:schemeClr val="bg2"/>
                </a:solidFill>
                <a:latin typeface="Times New Roman" panose="02020603050405020304" pitchFamily="18" charset="0"/>
                <a:cs typeface="Times New Roman" panose="02020603050405020304" pitchFamily="18" charset="0"/>
              </a:rPr>
              <a:t>2</a:t>
            </a:r>
            <a:r>
              <a:rPr lang="en-US" altLang="zh-CN" sz="2400" b="1" dirty="0">
                <a:solidFill>
                  <a:schemeClr val="bg2"/>
                </a:solidFill>
                <a:latin typeface="Times New Roman" panose="02020603050405020304" pitchFamily="18" charset="0"/>
                <a:cs typeface="Times New Roman" panose="02020603050405020304" pitchFamily="18" charset="0"/>
              </a:rPr>
              <a:t> </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a:solidFill>
                  <a:schemeClr val="bg2"/>
                </a:solidFill>
                <a:latin typeface="Times New Roman" panose="02020603050405020304" pitchFamily="18" charset="0"/>
                <a:cs typeface="Times New Roman" panose="02020603050405020304" pitchFamily="18" charset="0"/>
              </a:rPr>
              <a:t>2	</a:t>
            </a:r>
          </a:p>
          <a:p>
            <a:pPr algn="just" eaLnBrk="1" hangingPunct="1">
              <a:buNone/>
            </a:pPr>
            <a:r>
              <a:rPr lang="en-US" altLang="zh-CN" sz="2400" b="1" dirty="0">
                <a:solidFill>
                  <a:schemeClr val="bg2"/>
                </a:solidFill>
                <a:latin typeface="Times New Roman" panose="02020603050405020304" pitchFamily="18" charset="0"/>
                <a:cs typeface="Times New Roman" panose="02020603050405020304" pitchFamily="18" charset="0"/>
              </a:rPr>
              <a:t>	           </a:t>
            </a:r>
            <a:r>
              <a:rPr lang="en-US" altLang="zh-CN" sz="2400" b="1" i="1" dirty="0">
                <a:solidFill>
                  <a:schemeClr val="bg2"/>
                </a:solidFill>
                <a:latin typeface="Times New Roman" panose="02020603050405020304" pitchFamily="18" charset="0"/>
                <a:cs typeface="Times New Roman" panose="02020603050405020304" pitchFamily="18" charset="0"/>
              </a:rPr>
              <a:t>x</a:t>
            </a:r>
            <a:r>
              <a:rPr lang="en-US" altLang="zh-CN" sz="2400" b="1" baseline="-25000" dirty="0">
                <a:solidFill>
                  <a:schemeClr val="bg2"/>
                </a:solidFill>
                <a:latin typeface="Times New Roman" panose="02020603050405020304" pitchFamily="18" charset="0"/>
                <a:cs typeface="Times New Roman" panose="02020603050405020304" pitchFamily="18" charset="0"/>
              </a:rPr>
              <a:t>1 </a:t>
            </a:r>
            <a:r>
              <a:rPr lang="en-US" altLang="zh-CN" sz="2400" b="1" dirty="0">
                <a:solidFill>
                  <a:schemeClr val="bg2"/>
                </a:solidFill>
                <a:latin typeface="Times New Roman" panose="02020603050405020304" pitchFamily="18" charset="0"/>
                <a:cs typeface="Times New Roman" panose="02020603050405020304" pitchFamily="18" charset="0"/>
              </a:rPr>
              <a:t>- 2</a:t>
            </a:r>
            <a:r>
              <a:rPr lang="en-US" altLang="zh-CN" sz="2400" b="1" i="1" dirty="0">
                <a:solidFill>
                  <a:schemeClr val="bg2"/>
                </a:solidFill>
                <a:latin typeface="Times New Roman" panose="02020603050405020304" pitchFamily="18" charset="0"/>
                <a:cs typeface="Times New Roman" panose="02020603050405020304" pitchFamily="18" charset="0"/>
              </a:rPr>
              <a:t>x</a:t>
            </a:r>
            <a:r>
              <a:rPr lang="en-US" altLang="zh-CN" sz="2400" b="1" baseline="-25000" dirty="0">
                <a:solidFill>
                  <a:schemeClr val="bg2"/>
                </a:solidFill>
                <a:latin typeface="Times New Roman" panose="02020603050405020304" pitchFamily="18" charset="0"/>
                <a:cs typeface="Times New Roman" panose="02020603050405020304" pitchFamily="18" charset="0"/>
              </a:rPr>
              <a:t>2</a:t>
            </a:r>
            <a:r>
              <a:rPr lang="en-US" altLang="zh-CN" sz="2400" b="1" dirty="0">
                <a:solidFill>
                  <a:schemeClr val="bg2"/>
                </a:solidFill>
                <a:latin typeface="Times New Roman" panose="02020603050405020304" pitchFamily="18" charset="0"/>
                <a:cs typeface="Times New Roman" panose="02020603050405020304" pitchFamily="18" charset="0"/>
              </a:rPr>
              <a:t> </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bg2"/>
                </a:solidFill>
                <a:latin typeface="Times New Roman" panose="02020603050405020304" pitchFamily="18" charset="0"/>
                <a:cs typeface="Times New Roman" panose="02020603050405020304" pitchFamily="18" charset="0"/>
              </a:rPr>
              <a:t> 0</a:t>
            </a:r>
          </a:p>
          <a:p>
            <a:pPr algn="just" eaLnBrk="1" hangingPunct="1">
              <a:buNone/>
            </a:pPr>
            <a:r>
              <a:rPr lang="en-US" altLang="zh-CN" sz="2400" b="1" dirty="0">
                <a:solidFill>
                  <a:schemeClr val="bg2"/>
                </a:solidFill>
                <a:latin typeface="Times New Roman" panose="02020603050405020304" pitchFamily="18" charset="0"/>
                <a:cs typeface="Times New Roman" panose="02020603050405020304" pitchFamily="18" charset="0"/>
              </a:rPr>
              <a:t>	           </a:t>
            </a:r>
            <a:r>
              <a:rPr lang="en-US" altLang="zh-CN" sz="2400" b="1" i="1" dirty="0">
                <a:solidFill>
                  <a:schemeClr val="bg2"/>
                </a:solidFill>
                <a:latin typeface="Times New Roman" panose="02020603050405020304" pitchFamily="18" charset="0"/>
                <a:cs typeface="Times New Roman" panose="02020603050405020304" pitchFamily="18" charset="0"/>
              </a:rPr>
              <a:t>x</a:t>
            </a:r>
            <a:r>
              <a:rPr lang="en-US" altLang="zh-CN" sz="2400" b="1" baseline="-25000" dirty="0">
                <a:solidFill>
                  <a:schemeClr val="bg2"/>
                </a:solidFill>
                <a:latin typeface="Times New Roman" panose="02020603050405020304" pitchFamily="18" charset="0"/>
                <a:cs typeface="Times New Roman" panose="02020603050405020304" pitchFamily="18" charset="0"/>
              </a:rPr>
              <a:t>1</a:t>
            </a:r>
            <a:r>
              <a:rPr lang="en-US" altLang="zh-CN" sz="2400" b="1" dirty="0">
                <a:solidFill>
                  <a:schemeClr val="bg2"/>
                </a:solidFill>
                <a:latin typeface="Times New Roman" panose="02020603050405020304" pitchFamily="18" charset="0"/>
                <a:cs typeface="Times New Roman" panose="02020603050405020304" pitchFamily="18" charset="0"/>
              </a:rPr>
              <a:t>, </a:t>
            </a:r>
            <a:r>
              <a:rPr lang="en-US" altLang="zh-CN" sz="2400" b="1" i="1" dirty="0">
                <a:solidFill>
                  <a:schemeClr val="bg2"/>
                </a:solidFill>
                <a:latin typeface="Times New Roman" panose="02020603050405020304" pitchFamily="18" charset="0"/>
                <a:cs typeface="Times New Roman" panose="02020603050405020304" pitchFamily="18" charset="0"/>
              </a:rPr>
              <a:t>x</a:t>
            </a:r>
            <a:r>
              <a:rPr lang="en-US" altLang="zh-CN" sz="2400" b="1" baseline="-25000" dirty="0">
                <a:solidFill>
                  <a:schemeClr val="bg2"/>
                </a:solidFill>
                <a:latin typeface="Times New Roman" panose="02020603050405020304" pitchFamily="18" charset="0"/>
                <a:cs typeface="Times New Roman" panose="02020603050405020304" pitchFamily="18" charset="0"/>
              </a:rPr>
              <a:t>2</a:t>
            </a:r>
            <a:r>
              <a:rPr lang="en-US" altLang="zh-CN" sz="2400" b="1" dirty="0">
                <a:solidFill>
                  <a:schemeClr val="bg2"/>
                </a:solidFill>
                <a:latin typeface="Times New Roman" panose="02020603050405020304" pitchFamily="18" charset="0"/>
                <a:cs typeface="Times New Roman" panose="02020603050405020304" pitchFamily="18" charset="0"/>
              </a:rPr>
              <a:t> </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bg2"/>
                </a:solidFill>
                <a:latin typeface="Times New Roman" panose="02020603050405020304" pitchFamily="18" charset="0"/>
                <a:cs typeface="Times New Roman" panose="02020603050405020304" pitchFamily="18" charset="0"/>
              </a:rPr>
              <a:t> 0</a:t>
            </a:r>
          </a:p>
          <a:p>
            <a:pPr algn="just" eaLnBrk="1" hangingPunct="1">
              <a:buNone/>
            </a:pPr>
            <a:endParaRPr lang="en-US" altLang="zh-CN" sz="2400" b="1" dirty="0">
              <a:solidFill>
                <a:schemeClr val="bg2"/>
              </a:solidFill>
              <a:latin typeface="Times New Roman" panose="02020603050405020304" pitchFamily="18" charset="0"/>
              <a:cs typeface="Times New Roman" panose="02020603050405020304" pitchFamily="18" charset="0"/>
            </a:endParaRPr>
          </a:p>
        </p:txBody>
      </p:sp>
      <p:sp>
        <p:nvSpPr>
          <p:cNvPr id="112666" name="Line 26"/>
          <p:cNvSpPr/>
          <p:nvPr/>
        </p:nvSpPr>
        <p:spPr>
          <a:xfrm>
            <a:off x="949960" y="4257675"/>
            <a:ext cx="2367280" cy="2418715"/>
          </a:xfrm>
          <a:prstGeom prst="line">
            <a:avLst/>
          </a:prstGeom>
          <a:ln w="57150" cap="flat" cmpd="sng">
            <a:solidFill>
              <a:srgbClr val="FF6600"/>
            </a:solidFill>
            <a:prstDash val="solid"/>
            <a:headEnd type="none" w="med" len="med"/>
            <a:tailEnd type="none" w="med" len="med"/>
          </a:ln>
        </p:spPr>
      </p:sp>
      <p:sp>
        <p:nvSpPr>
          <p:cNvPr id="112669" name="AutoShape 29"/>
          <p:cNvSpPr/>
          <p:nvPr/>
        </p:nvSpPr>
        <p:spPr>
          <a:xfrm>
            <a:off x="4054475" y="5721985"/>
            <a:ext cx="1711325" cy="460374"/>
          </a:xfrm>
          <a:prstGeom prst="borderCallout2">
            <a:avLst>
              <a:gd name="adj1" fmla="val 24491"/>
              <a:gd name="adj2" fmla="val -4454"/>
              <a:gd name="adj3" fmla="val 24491"/>
              <a:gd name="adj4" fmla="val -18366"/>
              <a:gd name="adj5" fmla="val 138954"/>
              <a:gd name="adj6" fmla="val -63116"/>
            </a:avLst>
          </a:prstGeom>
          <a:noFill/>
          <a:ln w="28575" cap="flat" cmpd="sng">
            <a:solidFill>
              <a:srgbClr val="FF660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i="1" dirty="0">
                <a:solidFill>
                  <a:schemeClr val="bg2"/>
                </a:solidFill>
                <a:latin typeface="Times New Roman" panose="02020603050405020304" pitchFamily="18" charset="0"/>
              </a:rPr>
              <a:t>x</a:t>
            </a:r>
            <a:r>
              <a:rPr lang="en-US" altLang="zh-CN" sz="2400" baseline="-25000" dirty="0">
                <a:solidFill>
                  <a:schemeClr val="bg2"/>
                </a:solidFill>
                <a:latin typeface="Times New Roman" panose="02020603050405020304" pitchFamily="18" charset="0"/>
              </a:rPr>
              <a:t>1 </a:t>
            </a:r>
            <a:r>
              <a:rPr lang="en-US" altLang="zh-CN" sz="2400" dirty="0">
                <a:solidFill>
                  <a:schemeClr val="bg2"/>
                </a:solidFill>
                <a:latin typeface="Times New Roman" panose="02020603050405020304" pitchFamily="18" charset="0"/>
              </a:rPr>
              <a:t>+ </a:t>
            </a:r>
            <a:r>
              <a:rPr lang="en-US" altLang="zh-CN" sz="2400" i="1" dirty="0">
                <a:solidFill>
                  <a:schemeClr val="bg2"/>
                </a:solidFill>
                <a:latin typeface="Times New Roman" panose="02020603050405020304" pitchFamily="18" charset="0"/>
              </a:rPr>
              <a:t>x</a:t>
            </a:r>
            <a:r>
              <a:rPr lang="en-US" altLang="zh-CN" sz="2400" baseline="-25000" dirty="0">
                <a:solidFill>
                  <a:schemeClr val="bg2"/>
                </a:solidFill>
                <a:latin typeface="Times New Roman" panose="02020603050405020304" pitchFamily="18" charset="0"/>
              </a:rPr>
              <a:t>2</a:t>
            </a:r>
            <a:r>
              <a:rPr lang="en-US" altLang="zh-CN" sz="2400" dirty="0">
                <a:solidFill>
                  <a:schemeClr val="bg2"/>
                </a:solidFill>
                <a:latin typeface="Times New Roman" panose="02020603050405020304" pitchFamily="18" charset="0"/>
              </a:rPr>
              <a:t> </a:t>
            </a:r>
            <a:r>
              <a:rPr lang="en-US" altLang="zh-CN" sz="2400" b="1" dirty="0">
                <a:solidFill>
                  <a:schemeClr val="bg2"/>
                </a:solidFill>
                <a:latin typeface="Times New Roman" panose="02020603050405020304" pitchFamily="18" charset="0"/>
                <a:sym typeface="Symbol" panose="05050102010706020507" pitchFamily="18" charset="2"/>
              </a:rPr>
              <a:t></a:t>
            </a:r>
            <a:r>
              <a:rPr lang="en-US" altLang="zh-CN" sz="2400" dirty="0">
                <a:solidFill>
                  <a:schemeClr val="bg2"/>
                </a:solidFill>
                <a:latin typeface="Times New Roman" panose="02020603050405020304" pitchFamily="18" charset="0"/>
              </a:rPr>
              <a:t> 2</a:t>
            </a:r>
          </a:p>
        </p:txBody>
      </p:sp>
      <p:sp>
        <p:nvSpPr>
          <p:cNvPr id="112668" name="Line 28"/>
          <p:cNvSpPr/>
          <p:nvPr/>
        </p:nvSpPr>
        <p:spPr>
          <a:xfrm flipV="1">
            <a:off x="887095" y="3659505"/>
            <a:ext cx="5786120" cy="2889885"/>
          </a:xfrm>
          <a:prstGeom prst="line">
            <a:avLst/>
          </a:prstGeom>
          <a:ln w="57150" cap="flat" cmpd="sng">
            <a:solidFill>
              <a:srgbClr val="FF6600"/>
            </a:solidFill>
            <a:prstDash val="solid"/>
            <a:headEnd type="none" w="med" len="med"/>
            <a:tailEnd type="none" w="med" len="med"/>
          </a:ln>
        </p:spPr>
      </p:sp>
      <p:sp>
        <p:nvSpPr>
          <p:cNvPr id="112674" name="AutoShape 34"/>
          <p:cNvSpPr/>
          <p:nvPr/>
        </p:nvSpPr>
        <p:spPr>
          <a:xfrm>
            <a:off x="6897053" y="4077335"/>
            <a:ext cx="1641475" cy="485775"/>
          </a:xfrm>
          <a:prstGeom prst="borderCallout1">
            <a:avLst>
              <a:gd name="adj1" fmla="val 24491"/>
              <a:gd name="adj2" fmla="val -4644"/>
              <a:gd name="adj3" fmla="val -32315"/>
              <a:gd name="adj4" fmla="val -42361"/>
            </a:avLst>
          </a:prstGeom>
          <a:noFill/>
          <a:ln w="28575" cap="flat" cmpd="sng">
            <a:solidFill>
              <a:srgbClr val="FF66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i="1" dirty="0">
                <a:solidFill>
                  <a:schemeClr val="bg2"/>
                </a:solidFill>
                <a:latin typeface="Times New Roman" panose="02020603050405020304" pitchFamily="18" charset="0"/>
              </a:rPr>
              <a:t>x</a:t>
            </a:r>
            <a:r>
              <a:rPr lang="en-US" altLang="zh-CN" sz="2400" baseline="-25000" dirty="0">
                <a:solidFill>
                  <a:schemeClr val="bg2"/>
                </a:solidFill>
                <a:latin typeface="Times New Roman" panose="02020603050405020304" pitchFamily="18" charset="0"/>
              </a:rPr>
              <a:t>1 </a:t>
            </a:r>
            <a:r>
              <a:rPr lang="en-US" altLang="zh-CN" sz="2400" dirty="0">
                <a:solidFill>
                  <a:schemeClr val="bg2"/>
                </a:solidFill>
                <a:latin typeface="Times New Roman" panose="02020603050405020304" pitchFamily="18" charset="0"/>
              </a:rPr>
              <a:t>- 2</a:t>
            </a:r>
            <a:r>
              <a:rPr lang="en-US" altLang="zh-CN" sz="2400" i="1" dirty="0">
                <a:solidFill>
                  <a:schemeClr val="bg2"/>
                </a:solidFill>
                <a:latin typeface="Times New Roman" panose="02020603050405020304" pitchFamily="18" charset="0"/>
              </a:rPr>
              <a:t>x</a:t>
            </a:r>
            <a:r>
              <a:rPr lang="en-US" altLang="zh-CN" sz="2400" baseline="-25000" dirty="0">
                <a:solidFill>
                  <a:schemeClr val="bg2"/>
                </a:solidFill>
                <a:latin typeface="Times New Roman" panose="02020603050405020304" pitchFamily="18" charset="0"/>
              </a:rPr>
              <a:t>2</a:t>
            </a:r>
            <a:r>
              <a:rPr lang="en-US" altLang="zh-CN" sz="2400" dirty="0">
                <a:solidFill>
                  <a:schemeClr val="bg2"/>
                </a:solidFill>
                <a:latin typeface="Times New Roman" panose="02020603050405020304" pitchFamily="18" charset="0"/>
              </a:rPr>
              <a:t> </a:t>
            </a:r>
            <a:r>
              <a:rPr lang="en-US" altLang="zh-CN" sz="2400" b="1" dirty="0">
                <a:solidFill>
                  <a:schemeClr val="bg2"/>
                </a:solidFill>
                <a:latin typeface="Times New Roman" panose="02020603050405020304" pitchFamily="18" charset="0"/>
                <a:sym typeface="Symbol" panose="05050102010706020507" pitchFamily="18" charset="2"/>
              </a:rPr>
              <a:t></a:t>
            </a:r>
            <a:r>
              <a:rPr lang="en-US" altLang="zh-CN" sz="2400" dirty="0">
                <a:solidFill>
                  <a:schemeClr val="bg2"/>
                </a:solidFill>
                <a:latin typeface="Times New Roman" panose="02020603050405020304" pitchFamily="18" charset="0"/>
              </a:rPr>
              <a:t> 0</a:t>
            </a:r>
          </a:p>
        </p:txBody>
      </p:sp>
      <p:sp>
        <p:nvSpPr>
          <p:cNvPr id="6" name="任意多边形 5"/>
          <p:cNvSpPr/>
          <p:nvPr/>
        </p:nvSpPr>
        <p:spPr>
          <a:xfrm>
            <a:off x="1265555" y="2860675"/>
            <a:ext cx="5631815" cy="2861310"/>
          </a:xfrm>
          <a:custGeom>
            <a:avLst/>
            <a:gdLst>
              <a:gd name="connisteX0" fmla="*/ 15240 w 5631815"/>
              <a:gd name="connsiteY0" fmla="*/ 287655 h 2861310"/>
              <a:gd name="connisteX1" fmla="*/ 15240 w 5631815"/>
              <a:gd name="connsiteY1" fmla="*/ 363220 h 2861310"/>
              <a:gd name="connisteX2" fmla="*/ 15240 w 5631815"/>
              <a:gd name="connsiteY2" fmla="*/ 438785 h 2861310"/>
              <a:gd name="connisteX3" fmla="*/ 15240 w 5631815"/>
              <a:gd name="connsiteY3" fmla="*/ 514985 h 2861310"/>
              <a:gd name="connisteX4" fmla="*/ 15240 w 5631815"/>
              <a:gd name="connsiteY4" fmla="*/ 605790 h 2861310"/>
              <a:gd name="connisteX5" fmla="*/ 15240 w 5631815"/>
              <a:gd name="connsiteY5" fmla="*/ 681355 h 2861310"/>
              <a:gd name="connisteX6" fmla="*/ 15240 w 5631815"/>
              <a:gd name="connsiteY6" fmla="*/ 756920 h 2861310"/>
              <a:gd name="connisteX7" fmla="*/ 15240 w 5631815"/>
              <a:gd name="connsiteY7" fmla="*/ 832485 h 2861310"/>
              <a:gd name="connisteX8" fmla="*/ 15240 w 5631815"/>
              <a:gd name="connsiteY8" fmla="*/ 908050 h 2861310"/>
              <a:gd name="connisteX9" fmla="*/ 15240 w 5631815"/>
              <a:gd name="connsiteY9" fmla="*/ 984250 h 2861310"/>
              <a:gd name="connisteX10" fmla="*/ 15240 w 5631815"/>
              <a:gd name="connsiteY10" fmla="*/ 1059815 h 2861310"/>
              <a:gd name="connisteX11" fmla="*/ 15240 w 5631815"/>
              <a:gd name="connsiteY11" fmla="*/ 1135380 h 2861310"/>
              <a:gd name="connisteX12" fmla="*/ 15240 w 5631815"/>
              <a:gd name="connsiteY12" fmla="*/ 1210945 h 2861310"/>
              <a:gd name="connisteX13" fmla="*/ 15240 w 5631815"/>
              <a:gd name="connsiteY13" fmla="*/ 1286510 h 2861310"/>
              <a:gd name="connisteX14" fmla="*/ 15240 w 5631815"/>
              <a:gd name="connsiteY14" fmla="*/ 1362710 h 2861310"/>
              <a:gd name="connisteX15" fmla="*/ 15240 w 5631815"/>
              <a:gd name="connsiteY15" fmla="*/ 1438275 h 2861310"/>
              <a:gd name="connisteX16" fmla="*/ 15240 w 5631815"/>
              <a:gd name="connsiteY16" fmla="*/ 1513840 h 2861310"/>
              <a:gd name="connisteX17" fmla="*/ 15240 w 5631815"/>
              <a:gd name="connsiteY17" fmla="*/ 1589405 h 2861310"/>
              <a:gd name="connisteX18" fmla="*/ 30480 w 5631815"/>
              <a:gd name="connsiteY18" fmla="*/ 1680210 h 2861310"/>
              <a:gd name="connisteX19" fmla="*/ 76200 w 5631815"/>
              <a:gd name="connsiteY19" fmla="*/ 1756410 h 2861310"/>
              <a:gd name="connisteX20" fmla="*/ 167005 w 5631815"/>
              <a:gd name="connsiteY20" fmla="*/ 1801495 h 2861310"/>
              <a:gd name="connisteX21" fmla="*/ 242570 w 5631815"/>
              <a:gd name="connsiteY21" fmla="*/ 1847215 h 2861310"/>
              <a:gd name="connisteX22" fmla="*/ 273050 w 5631815"/>
              <a:gd name="connsiteY22" fmla="*/ 1922780 h 2861310"/>
              <a:gd name="connisteX23" fmla="*/ 302895 w 5631815"/>
              <a:gd name="connsiteY23" fmla="*/ 1998345 h 2861310"/>
              <a:gd name="connisteX24" fmla="*/ 379095 w 5631815"/>
              <a:gd name="connsiteY24" fmla="*/ 2073910 h 2861310"/>
              <a:gd name="connisteX25" fmla="*/ 454660 w 5631815"/>
              <a:gd name="connsiteY25" fmla="*/ 2149475 h 2861310"/>
              <a:gd name="connisteX26" fmla="*/ 530225 w 5631815"/>
              <a:gd name="connsiteY26" fmla="*/ 2225675 h 2861310"/>
              <a:gd name="connisteX27" fmla="*/ 590550 w 5631815"/>
              <a:gd name="connsiteY27" fmla="*/ 2301240 h 2861310"/>
              <a:gd name="connisteX28" fmla="*/ 651510 w 5631815"/>
              <a:gd name="connsiteY28" fmla="*/ 2376805 h 2861310"/>
              <a:gd name="connisteX29" fmla="*/ 727075 w 5631815"/>
              <a:gd name="connsiteY29" fmla="*/ 2437130 h 2861310"/>
              <a:gd name="connisteX30" fmla="*/ 802640 w 5631815"/>
              <a:gd name="connsiteY30" fmla="*/ 2513330 h 2861310"/>
              <a:gd name="connisteX31" fmla="*/ 878205 w 5631815"/>
              <a:gd name="connsiteY31" fmla="*/ 2588895 h 2861310"/>
              <a:gd name="connisteX32" fmla="*/ 939165 w 5631815"/>
              <a:gd name="connsiteY32" fmla="*/ 2664460 h 2861310"/>
              <a:gd name="connisteX33" fmla="*/ 1014730 w 5631815"/>
              <a:gd name="connsiteY33" fmla="*/ 2724785 h 2861310"/>
              <a:gd name="connisteX34" fmla="*/ 1075055 w 5631815"/>
              <a:gd name="connsiteY34" fmla="*/ 2800985 h 2861310"/>
              <a:gd name="connisteX35" fmla="*/ 1150620 w 5631815"/>
              <a:gd name="connsiteY35" fmla="*/ 2861310 h 2861310"/>
              <a:gd name="connisteX36" fmla="*/ 1226820 w 5631815"/>
              <a:gd name="connsiteY36" fmla="*/ 2861310 h 2861310"/>
              <a:gd name="connisteX37" fmla="*/ 1302385 w 5631815"/>
              <a:gd name="connsiteY37" fmla="*/ 2800985 h 2861310"/>
              <a:gd name="connisteX38" fmla="*/ 1377950 w 5631815"/>
              <a:gd name="connsiteY38" fmla="*/ 2770505 h 2861310"/>
              <a:gd name="connisteX39" fmla="*/ 1453515 w 5631815"/>
              <a:gd name="connsiteY39" fmla="*/ 2755265 h 2861310"/>
              <a:gd name="connisteX40" fmla="*/ 1529080 w 5631815"/>
              <a:gd name="connsiteY40" fmla="*/ 2755265 h 2861310"/>
              <a:gd name="connisteX41" fmla="*/ 1605280 w 5631815"/>
              <a:gd name="connsiteY41" fmla="*/ 2740025 h 2861310"/>
              <a:gd name="connisteX42" fmla="*/ 1680845 w 5631815"/>
              <a:gd name="connsiteY42" fmla="*/ 2710180 h 2861310"/>
              <a:gd name="connisteX43" fmla="*/ 1756410 w 5631815"/>
              <a:gd name="connsiteY43" fmla="*/ 2679700 h 2861310"/>
              <a:gd name="connisteX44" fmla="*/ 1831975 w 5631815"/>
              <a:gd name="connsiteY44" fmla="*/ 2664460 h 2861310"/>
              <a:gd name="connisteX45" fmla="*/ 1907540 w 5631815"/>
              <a:gd name="connsiteY45" fmla="*/ 2588895 h 2861310"/>
              <a:gd name="connisteX46" fmla="*/ 1983740 w 5631815"/>
              <a:gd name="connsiteY46" fmla="*/ 2558415 h 2861310"/>
              <a:gd name="connisteX47" fmla="*/ 2044065 w 5631815"/>
              <a:gd name="connsiteY47" fmla="*/ 2482850 h 2861310"/>
              <a:gd name="connisteX48" fmla="*/ 2119630 w 5631815"/>
              <a:gd name="connsiteY48" fmla="*/ 2422525 h 2861310"/>
              <a:gd name="connisteX49" fmla="*/ 2195195 w 5631815"/>
              <a:gd name="connsiteY49" fmla="*/ 2361565 h 2861310"/>
              <a:gd name="connisteX50" fmla="*/ 2271395 w 5631815"/>
              <a:gd name="connsiteY50" fmla="*/ 2346325 h 2861310"/>
              <a:gd name="connisteX51" fmla="*/ 2346960 w 5631815"/>
              <a:gd name="connsiteY51" fmla="*/ 2316480 h 2861310"/>
              <a:gd name="connisteX52" fmla="*/ 2422525 w 5631815"/>
              <a:gd name="connsiteY52" fmla="*/ 2270760 h 2861310"/>
              <a:gd name="connisteX53" fmla="*/ 2498090 w 5631815"/>
              <a:gd name="connsiteY53" fmla="*/ 2255520 h 2861310"/>
              <a:gd name="connisteX54" fmla="*/ 2573655 w 5631815"/>
              <a:gd name="connsiteY54" fmla="*/ 2240280 h 2861310"/>
              <a:gd name="connisteX55" fmla="*/ 2649855 w 5631815"/>
              <a:gd name="connsiteY55" fmla="*/ 2210435 h 2861310"/>
              <a:gd name="connisteX56" fmla="*/ 2725420 w 5631815"/>
              <a:gd name="connsiteY56" fmla="*/ 2195195 h 2861310"/>
              <a:gd name="connisteX57" fmla="*/ 2800985 w 5631815"/>
              <a:gd name="connsiteY57" fmla="*/ 2179955 h 2861310"/>
              <a:gd name="connisteX58" fmla="*/ 2876550 w 5631815"/>
              <a:gd name="connsiteY58" fmla="*/ 2134870 h 2861310"/>
              <a:gd name="connisteX59" fmla="*/ 2952750 w 5631815"/>
              <a:gd name="connsiteY59" fmla="*/ 2073910 h 2861310"/>
              <a:gd name="connisteX60" fmla="*/ 3028315 w 5631815"/>
              <a:gd name="connsiteY60" fmla="*/ 2028825 h 2861310"/>
              <a:gd name="connisteX61" fmla="*/ 3103880 w 5631815"/>
              <a:gd name="connsiteY61" fmla="*/ 1983105 h 2861310"/>
              <a:gd name="connisteX62" fmla="*/ 3179445 w 5631815"/>
              <a:gd name="connsiteY62" fmla="*/ 1938020 h 2861310"/>
              <a:gd name="connisteX63" fmla="*/ 3270250 w 5631815"/>
              <a:gd name="connsiteY63" fmla="*/ 1877060 h 2861310"/>
              <a:gd name="connisteX64" fmla="*/ 3345815 w 5631815"/>
              <a:gd name="connsiteY64" fmla="*/ 1831975 h 2861310"/>
              <a:gd name="connisteX65" fmla="*/ 3422015 w 5631815"/>
              <a:gd name="connsiteY65" fmla="*/ 1771015 h 2861310"/>
              <a:gd name="connisteX66" fmla="*/ 3512820 w 5631815"/>
              <a:gd name="connsiteY66" fmla="*/ 1725930 h 2861310"/>
              <a:gd name="connisteX67" fmla="*/ 3588385 w 5631815"/>
              <a:gd name="connsiteY67" fmla="*/ 1680210 h 2861310"/>
              <a:gd name="connisteX68" fmla="*/ 3663950 w 5631815"/>
              <a:gd name="connsiteY68" fmla="*/ 1650365 h 2861310"/>
              <a:gd name="connisteX69" fmla="*/ 3754755 w 5631815"/>
              <a:gd name="connsiteY69" fmla="*/ 1635125 h 2861310"/>
              <a:gd name="connisteX70" fmla="*/ 3830320 w 5631815"/>
              <a:gd name="connsiteY70" fmla="*/ 1589405 h 2861310"/>
              <a:gd name="connisteX71" fmla="*/ 3905885 w 5631815"/>
              <a:gd name="connsiteY71" fmla="*/ 1544320 h 2861310"/>
              <a:gd name="connisteX72" fmla="*/ 3982085 w 5631815"/>
              <a:gd name="connsiteY72" fmla="*/ 1498600 h 2861310"/>
              <a:gd name="connisteX73" fmla="*/ 4057650 w 5631815"/>
              <a:gd name="connsiteY73" fmla="*/ 1483360 h 2861310"/>
              <a:gd name="connisteX74" fmla="*/ 4133215 w 5631815"/>
              <a:gd name="connsiteY74" fmla="*/ 1438275 h 2861310"/>
              <a:gd name="connisteX75" fmla="*/ 4208780 w 5631815"/>
              <a:gd name="connsiteY75" fmla="*/ 1407795 h 2861310"/>
              <a:gd name="connisteX76" fmla="*/ 4284980 w 5631815"/>
              <a:gd name="connsiteY76" fmla="*/ 1377950 h 2861310"/>
              <a:gd name="connisteX77" fmla="*/ 4360545 w 5631815"/>
              <a:gd name="connsiteY77" fmla="*/ 1316990 h 2861310"/>
              <a:gd name="connisteX78" fmla="*/ 4436110 w 5631815"/>
              <a:gd name="connsiteY78" fmla="*/ 1271905 h 2861310"/>
              <a:gd name="connisteX79" fmla="*/ 4511675 w 5631815"/>
              <a:gd name="connsiteY79" fmla="*/ 1226185 h 2861310"/>
              <a:gd name="connisteX80" fmla="*/ 4587240 w 5631815"/>
              <a:gd name="connsiteY80" fmla="*/ 1181100 h 2861310"/>
              <a:gd name="connisteX81" fmla="*/ 4678045 w 5631815"/>
              <a:gd name="connsiteY81" fmla="*/ 1150620 h 2861310"/>
              <a:gd name="connisteX82" fmla="*/ 4754245 w 5631815"/>
              <a:gd name="connsiteY82" fmla="*/ 1135380 h 2861310"/>
              <a:gd name="connisteX83" fmla="*/ 4829810 w 5631815"/>
              <a:gd name="connsiteY83" fmla="*/ 1104900 h 2861310"/>
              <a:gd name="connisteX84" fmla="*/ 4905375 w 5631815"/>
              <a:gd name="connsiteY84" fmla="*/ 1059815 h 2861310"/>
              <a:gd name="connisteX85" fmla="*/ 4996180 w 5631815"/>
              <a:gd name="connsiteY85" fmla="*/ 1014095 h 2861310"/>
              <a:gd name="connisteX86" fmla="*/ 5071745 w 5631815"/>
              <a:gd name="connsiteY86" fmla="*/ 969010 h 2861310"/>
              <a:gd name="connisteX87" fmla="*/ 5147310 w 5631815"/>
              <a:gd name="connsiteY87" fmla="*/ 938530 h 2861310"/>
              <a:gd name="connisteX88" fmla="*/ 5223510 w 5631815"/>
              <a:gd name="connsiteY88" fmla="*/ 908050 h 2861310"/>
              <a:gd name="connisteX89" fmla="*/ 5299075 w 5631815"/>
              <a:gd name="connsiteY89" fmla="*/ 862965 h 2861310"/>
              <a:gd name="connisteX90" fmla="*/ 5374640 w 5631815"/>
              <a:gd name="connsiteY90" fmla="*/ 832485 h 2861310"/>
              <a:gd name="connisteX91" fmla="*/ 5450205 w 5631815"/>
              <a:gd name="connsiteY91" fmla="*/ 802640 h 2861310"/>
              <a:gd name="connisteX92" fmla="*/ 5525770 w 5631815"/>
              <a:gd name="connsiteY92" fmla="*/ 726440 h 2861310"/>
              <a:gd name="connisteX93" fmla="*/ 5556250 w 5631815"/>
              <a:gd name="connsiteY93" fmla="*/ 650875 h 2861310"/>
              <a:gd name="connisteX94" fmla="*/ 5571490 w 5631815"/>
              <a:gd name="connsiteY94" fmla="*/ 575310 h 2861310"/>
              <a:gd name="connisteX95" fmla="*/ 5571490 w 5631815"/>
              <a:gd name="connsiteY95" fmla="*/ 499745 h 2861310"/>
              <a:gd name="connisteX96" fmla="*/ 5601970 w 5631815"/>
              <a:gd name="connsiteY96" fmla="*/ 424180 h 2861310"/>
              <a:gd name="connisteX97" fmla="*/ 5617210 w 5631815"/>
              <a:gd name="connsiteY97" fmla="*/ 347980 h 2861310"/>
              <a:gd name="connisteX98" fmla="*/ 5617210 w 5631815"/>
              <a:gd name="connsiteY98" fmla="*/ 272415 h 2861310"/>
              <a:gd name="connisteX99" fmla="*/ 5617210 w 5631815"/>
              <a:gd name="connsiteY99" fmla="*/ 196850 h 2861310"/>
              <a:gd name="connisteX100" fmla="*/ 5631815 w 5631815"/>
              <a:gd name="connsiteY100" fmla="*/ 121285 h 2861310"/>
              <a:gd name="connisteX101" fmla="*/ 5556250 w 5631815"/>
              <a:gd name="connsiteY101" fmla="*/ 136525 h 2861310"/>
              <a:gd name="connisteX102" fmla="*/ 5480685 w 5631815"/>
              <a:gd name="connsiteY102" fmla="*/ 136525 h 2861310"/>
              <a:gd name="connisteX103" fmla="*/ 5405120 w 5631815"/>
              <a:gd name="connsiteY103" fmla="*/ 136525 h 2861310"/>
              <a:gd name="connisteX104" fmla="*/ 5329555 w 5631815"/>
              <a:gd name="connsiteY104" fmla="*/ 136525 h 2861310"/>
              <a:gd name="connisteX105" fmla="*/ 5253355 w 5631815"/>
              <a:gd name="connsiteY105" fmla="*/ 121285 h 2861310"/>
              <a:gd name="connisteX106" fmla="*/ 5177790 w 5631815"/>
              <a:gd name="connsiteY106" fmla="*/ 121285 h 2861310"/>
              <a:gd name="connisteX107" fmla="*/ 5086985 w 5631815"/>
              <a:gd name="connsiteY107" fmla="*/ 90805 h 2861310"/>
              <a:gd name="connisteX108" fmla="*/ 4996180 w 5631815"/>
              <a:gd name="connsiteY108" fmla="*/ 75565 h 2861310"/>
              <a:gd name="connisteX109" fmla="*/ 4920615 w 5631815"/>
              <a:gd name="connsiteY109" fmla="*/ 75565 h 2861310"/>
              <a:gd name="connisteX110" fmla="*/ 4845050 w 5631815"/>
              <a:gd name="connsiteY110" fmla="*/ 60325 h 2861310"/>
              <a:gd name="connisteX111" fmla="*/ 4768850 w 5631815"/>
              <a:gd name="connsiteY111" fmla="*/ 60325 h 2861310"/>
              <a:gd name="connisteX112" fmla="*/ 4693285 w 5631815"/>
              <a:gd name="connsiteY112" fmla="*/ 60325 h 2861310"/>
              <a:gd name="connisteX113" fmla="*/ 4617720 w 5631815"/>
              <a:gd name="connsiteY113" fmla="*/ 60325 h 2861310"/>
              <a:gd name="connisteX114" fmla="*/ 4542155 w 5631815"/>
              <a:gd name="connsiteY114" fmla="*/ 60325 h 2861310"/>
              <a:gd name="connisteX115" fmla="*/ 4451350 w 5631815"/>
              <a:gd name="connsiteY115" fmla="*/ 60325 h 2861310"/>
              <a:gd name="connisteX116" fmla="*/ 4375785 w 5631815"/>
              <a:gd name="connsiteY116" fmla="*/ 60325 h 2861310"/>
              <a:gd name="connisteX117" fmla="*/ 4299585 w 5631815"/>
              <a:gd name="connsiteY117" fmla="*/ 60325 h 2861310"/>
              <a:gd name="connisteX118" fmla="*/ 4224020 w 5631815"/>
              <a:gd name="connsiteY118" fmla="*/ 60325 h 2861310"/>
              <a:gd name="connisteX119" fmla="*/ 4133215 w 5631815"/>
              <a:gd name="connsiteY119" fmla="*/ 60325 h 2861310"/>
              <a:gd name="connisteX120" fmla="*/ 4042410 w 5631815"/>
              <a:gd name="connsiteY120" fmla="*/ 60325 h 2861310"/>
              <a:gd name="connisteX121" fmla="*/ 3966845 w 5631815"/>
              <a:gd name="connsiteY121" fmla="*/ 60325 h 2861310"/>
              <a:gd name="connisteX122" fmla="*/ 3891280 w 5631815"/>
              <a:gd name="connsiteY122" fmla="*/ 60325 h 2861310"/>
              <a:gd name="connisteX123" fmla="*/ 3815080 w 5631815"/>
              <a:gd name="connsiteY123" fmla="*/ 60325 h 2861310"/>
              <a:gd name="connisteX124" fmla="*/ 3739515 w 5631815"/>
              <a:gd name="connsiteY124" fmla="*/ 60325 h 2861310"/>
              <a:gd name="connisteX125" fmla="*/ 3648710 w 5631815"/>
              <a:gd name="connsiteY125" fmla="*/ 60325 h 2861310"/>
              <a:gd name="connisteX126" fmla="*/ 3573145 w 5631815"/>
              <a:gd name="connsiteY126" fmla="*/ 60325 h 2861310"/>
              <a:gd name="connisteX127" fmla="*/ 3497580 w 5631815"/>
              <a:gd name="connsiteY127" fmla="*/ 60325 h 2861310"/>
              <a:gd name="connisteX128" fmla="*/ 3422015 w 5631815"/>
              <a:gd name="connsiteY128" fmla="*/ 60325 h 2861310"/>
              <a:gd name="connisteX129" fmla="*/ 3345815 w 5631815"/>
              <a:gd name="connsiteY129" fmla="*/ 60325 h 2861310"/>
              <a:gd name="connisteX130" fmla="*/ 3270250 w 5631815"/>
              <a:gd name="connsiteY130" fmla="*/ 60325 h 2861310"/>
              <a:gd name="connisteX131" fmla="*/ 3194685 w 5631815"/>
              <a:gd name="connsiteY131" fmla="*/ 60325 h 2861310"/>
              <a:gd name="connisteX132" fmla="*/ 3119120 w 5631815"/>
              <a:gd name="connsiteY132" fmla="*/ 60325 h 2861310"/>
              <a:gd name="connisteX133" fmla="*/ 3028315 w 5631815"/>
              <a:gd name="connsiteY133" fmla="*/ 60325 h 2861310"/>
              <a:gd name="connisteX134" fmla="*/ 2952750 w 5631815"/>
              <a:gd name="connsiteY134" fmla="*/ 60325 h 2861310"/>
              <a:gd name="connisteX135" fmla="*/ 2876550 w 5631815"/>
              <a:gd name="connsiteY135" fmla="*/ 60325 h 2861310"/>
              <a:gd name="connisteX136" fmla="*/ 2800985 w 5631815"/>
              <a:gd name="connsiteY136" fmla="*/ 60325 h 2861310"/>
              <a:gd name="connisteX137" fmla="*/ 2725420 w 5631815"/>
              <a:gd name="connsiteY137" fmla="*/ 60325 h 2861310"/>
              <a:gd name="connisteX138" fmla="*/ 2649855 w 5631815"/>
              <a:gd name="connsiteY138" fmla="*/ 45085 h 2861310"/>
              <a:gd name="connisteX139" fmla="*/ 2559050 w 5631815"/>
              <a:gd name="connsiteY139" fmla="*/ 45085 h 2861310"/>
              <a:gd name="connisteX140" fmla="*/ 2482850 w 5631815"/>
              <a:gd name="connsiteY140" fmla="*/ 30480 h 2861310"/>
              <a:gd name="connisteX141" fmla="*/ 2407285 w 5631815"/>
              <a:gd name="connsiteY141" fmla="*/ 30480 h 2861310"/>
              <a:gd name="connisteX142" fmla="*/ 2331720 w 5631815"/>
              <a:gd name="connsiteY142" fmla="*/ 30480 h 2861310"/>
              <a:gd name="connisteX143" fmla="*/ 2256155 w 5631815"/>
              <a:gd name="connsiteY143" fmla="*/ 30480 h 2861310"/>
              <a:gd name="connisteX144" fmla="*/ 2180590 w 5631815"/>
              <a:gd name="connsiteY144" fmla="*/ 30480 h 2861310"/>
              <a:gd name="connisteX145" fmla="*/ 2104390 w 5631815"/>
              <a:gd name="connsiteY145" fmla="*/ 15240 h 2861310"/>
              <a:gd name="connisteX146" fmla="*/ 2028825 w 5631815"/>
              <a:gd name="connsiteY146" fmla="*/ 15240 h 2861310"/>
              <a:gd name="connisteX147" fmla="*/ 1953260 w 5631815"/>
              <a:gd name="connsiteY147" fmla="*/ 0 h 2861310"/>
              <a:gd name="connisteX148" fmla="*/ 1862455 w 5631815"/>
              <a:gd name="connsiteY148" fmla="*/ 0 h 2861310"/>
              <a:gd name="connisteX149" fmla="*/ 1786890 w 5631815"/>
              <a:gd name="connsiteY149" fmla="*/ 0 h 2861310"/>
              <a:gd name="connisteX150" fmla="*/ 1711325 w 5631815"/>
              <a:gd name="connsiteY150" fmla="*/ 0 h 2861310"/>
              <a:gd name="connisteX151" fmla="*/ 1635125 w 5631815"/>
              <a:gd name="connsiteY151" fmla="*/ 0 h 2861310"/>
              <a:gd name="connisteX152" fmla="*/ 1559560 w 5631815"/>
              <a:gd name="connsiteY152" fmla="*/ 0 h 2861310"/>
              <a:gd name="connisteX153" fmla="*/ 1483995 w 5631815"/>
              <a:gd name="connsiteY153" fmla="*/ 0 h 2861310"/>
              <a:gd name="connisteX154" fmla="*/ 1408430 w 5631815"/>
              <a:gd name="connsiteY154" fmla="*/ 0 h 2861310"/>
              <a:gd name="connisteX155" fmla="*/ 1332865 w 5631815"/>
              <a:gd name="connsiteY155" fmla="*/ 0 h 2861310"/>
              <a:gd name="connisteX156" fmla="*/ 1256665 w 5631815"/>
              <a:gd name="connsiteY156" fmla="*/ 0 h 2861310"/>
              <a:gd name="connisteX157" fmla="*/ 1181100 w 5631815"/>
              <a:gd name="connsiteY157" fmla="*/ 15240 h 2861310"/>
              <a:gd name="connisteX158" fmla="*/ 1105535 w 5631815"/>
              <a:gd name="connsiteY158" fmla="*/ 15240 h 2861310"/>
              <a:gd name="connisteX159" fmla="*/ 1029970 w 5631815"/>
              <a:gd name="connsiteY159" fmla="*/ 30480 h 2861310"/>
              <a:gd name="connisteX160" fmla="*/ 953770 w 5631815"/>
              <a:gd name="connsiteY160" fmla="*/ 45085 h 2861310"/>
              <a:gd name="connisteX161" fmla="*/ 878205 w 5631815"/>
              <a:gd name="connsiteY161" fmla="*/ 60325 h 2861310"/>
              <a:gd name="connisteX162" fmla="*/ 802640 w 5631815"/>
              <a:gd name="connsiteY162" fmla="*/ 60325 h 2861310"/>
              <a:gd name="connisteX163" fmla="*/ 727075 w 5631815"/>
              <a:gd name="connsiteY163" fmla="*/ 60325 h 2861310"/>
              <a:gd name="connisteX164" fmla="*/ 651510 w 5631815"/>
              <a:gd name="connsiteY164" fmla="*/ 60325 h 2861310"/>
              <a:gd name="connisteX165" fmla="*/ 560705 w 5631815"/>
              <a:gd name="connsiteY165" fmla="*/ 60325 h 2861310"/>
              <a:gd name="connisteX166" fmla="*/ 484505 w 5631815"/>
              <a:gd name="connsiteY166" fmla="*/ 60325 h 2861310"/>
              <a:gd name="connisteX167" fmla="*/ 408940 w 5631815"/>
              <a:gd name="connsiteY167" fmla="*/ 60325 h 2861310"/>
              <a:gd name="connisteX168" fmla="*/ 333375 w 5631815"/>
              <a:gd name="connsiteY168" fmla="*/ 60325 h 2861310"/>
              <a:gd name="connisteX169" fmla="*/ 257810 w 5631815"/>
              <a:gd name="connsiteY169" fmla="*/ 60325 h 2861310"/>
              <a:gd name="connisteX170" fmla="*/ 182245 w 5631815"/>
              <a:gd name="connsiteY170" fmla="*/ 60325 h 2861310"/>
              <a:gd name="connisteX171" fmla="*/ 106045 w 5631815"/>
              <a:gd name="connsiteY171" fmla="*/ 60325 h 2861310"/>
              <a:gd name="connisteX172" fmla="*/ 30480 w 5631815"/>
              <a:gd name="connsiteY172" fmla="*/ 75565 h 2861310"/>
              <a:gd name="connisteX173" fmla="*/ 0 w 5631815"/>
              <a:gd name="connsiteY173" fmla="*/ 151130 h 2861310"/>
              <a:gd name="connisteX174" fmla="*/ 0 w 5631815"/>
              <a:gd name="connsiteY174" fmla="*/ 227330 h 2861310"/>
              <a:gd name="connisteX175" fmla="*/ 15240 w 5631815"/>
              <a:gd name="connsiteY175" fmla="*/ 196850 h 286131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 ang="0">
                <a:pos x="connisteX94" y="connsiteY94"/>
              </a:cxn>
              <a:cxn ang="0">
                <a:pos x="connisteX95" y="connsiteY95"/>
              </a:cxn>
              <a:cxn ang="0">
                <a:pos x="connisteX96" y="connsiteY96"/>
              </a:cxn>
              <a:cxn ang="0">
                <a:pos x="connisteX97" y="connsiteY97"/>
              </a:cxn>
              <a:cxn ang="0">
                <a:pos x="connisteX98" y="connsiteY98"/>
              </a:cxn>
              <a:cxn ang="0">
                <a:pos x="connisteX99" y="connsiteY99"/>
              </a:cxn>
              <a:cxn ang="0">
                <a:pos x="connisteX100" y="connsiteY100"/>
              </a:cxn>
              <a:cxn ang="0">
                <a:pos x="connisteX101" y="connsiteY101"/>
              </a:cxn>
              <a:cxn ang="0">
                <a:pos x="connisteX102" y="connsiteY102"/>
              </a:cxn>
              <a:cxn ang="0">
                <a:pos x="connisteX103" y="connsiteY103"/>
              </a:cxn>
              <a:cxn ang="0">
                <a:pos x="connisteX104" y="connsiteY104"/>
              </a:cxn>
              <a:cxn ang="0">
                <a:pos x="connisteX105" y="connsiteY105"/>
              </a:cxn>
              <a:cxn ang="0">
                <a:pos x="connisteX106" y="connsiteY106"/>
              </a:cxn>
              <a:cxn ang="0">
                <a:pos x="connisteX107" y="connsiteY107"/>
              </a:cxn>
              <a:cxn ang="0">
                <a:pos x="connisteX108" y="connsiteY108"/>
              </a:cxn>
              <a:cxn ang="0">
                <a:pos x="connisteX109" y="connsiteY109"/>
              </a:cxn>
              <a:cxn ang="0">
                <a:pos x="connisteX110" y="connsiteY110"/>
              </a:cxn>
              <a:cxn ang="0">
                <a:pos x="connisteX111" y="connsiteY111"/>
              </a:cxn>
              <a:cxn ang="0">
                <a:pos x="connisteX112" y="connsiteY112"/>
              </a:cxn>
              <a:cxn ang="0">
                <a:pos x="connisteX113" y="connsiteY113"/>
              </a:cxn>
              <a:cxn ang="0">
                <a:pos x="connisteX114" y="connsiteY114"/>
              </a:cxn>
              <a:cxn ang="0">
                <a:pos x="connisteX115" y="connsiteY115"/>
              </a:cxn>
              <a:cxn ang="0">
                <a:pos x="connisteX116" y="connsiteY116"/>
              </a:cxn>
              <a:cxn ang="0">
                <a:pos x="connisteX117" y="connsiteY117"/>
              </a:cxn>
              <a:cxn ang="0">
                <a:pos x="connisteX118" y="connsiteY118"/>
              </a:cxn>
              <a:cxn ang="0">
                <a:pos x="connisteX119" y="connsiteY119"/>
              </a:cxn>
              <a:cxn ang="0">
                <a:pos x="connisteX120" y="connsiteY120"/>
              </a:cxn>
              <a:cxn ang="0">
                <a:pos x="connisteX121" y="connsiteY121"/>
              </a:cxn>
              <a:cxn ang="0">
                <a:pos x="connisteX122" y="connsiteY122"/>
              </a:cxn>
              <a:cxn ang="0">
                <a:pos x="connisteX123" y="connsiteY123"/>
              </a:cxn>
              <a:cxn ang="0">
                <a:pos x="connisteX124" y="connsiteY124"/>
              </a:cxn>
              <a:cxn ang="0">
                <a:pos x="connisteX125" y="connsiteY125"/>
              </a:cxn>
              <a:cxn ang="0">
                <a:pos x="connisteX126" y="connsiteY126"/>
              </a:cxn>
              <a:cxn ang="0">
                <a:pos x="connisteX127" y="connsiteY127"/>
              </a:cxn>
              <a:cxn ang="0">
                <a:pos x="connisteX128" y="connsiteY128"/>
              </a:cxn>
              <a:cxn ang="0">
                <a:pos x="connisteX129" y="connsiteY129"/>
              </a:cxn>
              <a:cxn ang="0">
                <a:pos x="connisteX130" y="connsiteY130"/>
              </a:cxn>
              <a:cxn ang="0">
                <a:pos x="connisteX131" y="connsiteY131"/>
              </a:cxn>
              <a:cxn ang="0">
                <a:pos x="connisteX132" y="connsiteY132"/>
              </a:cxn>
              <a:cxn ang="0">
                <a:pos x="connisteX133" y="connsiteY133"/>
              </a:cxn>
              <a:cxn ang="0">
                <a:pos x="connisteX134" y="connsiteY134"/>
              </a:cxn>
              <a:cxn ang="0">
                <a:pos x="connisteX135" y="connsiteY135"/>
              </a:cxn>
              <a:cxn ang="0">
                <a:pos x="connisteX136" y="connsiteY136"/>
              </a:cxn>
              <a:cxn ang="0">
                <a:pos x="connisteX137" y="connsiteY137"/>
              </a:cxn>
              <a:cxn ang="0">
                <a:pos x="connisteX138" y="connsiteY138"/>
              </a:cxn>
              <a:cxn ang="0">
                <a:pos x="connisteX139" y="connsiteY139"/>
              </a:cxn>
              <a:cxn ang="0">
                <a:pos x="connisteX140" y="connsiteY140"/>
              </a:cxn>
              <a:cxn ang="0">
                <a:pos x="connisteX141" y="connsiteY141"/>
              </a:cxn>
              <a:cxn ang="0">
                <a:pos x="connisteX142" y="connsiteY142"/>
              </a:cxn>
              <a:cxn ang="0">
                <a:pos x="connisteX143" y="connsiteY143"/>
              </a:cxn>
              <a:cxn ang="0">
                <a:pos x="connisteX144" y="connsiteY144"/>
              </a:cxn>
              <a:cxn ang="0">
                <a:pos x="connisteX145" y="connsiteY145"/>
              </a:cxn>
              <a:cxn ang="0">
                <a:pos x="connisteX146" y="connsiteY146"/>
              </a:cxn>
              <a:cxn ang="0">
                <a:pos x="connisteX147" y="connsiteY147"/>
              </a:cxn>
              <a:cxn ang="0">
                <a:pos x="connisteX148" y="connsiteY148"/>
              </a:cxn>
              <a:cxn ang="0">
                <a:pos x="connisteX149" y="connsiteY149"/>
              </a:cxn>
              <a:cxn ang="0">
                <a:pos x="connisteX150" y="connsiteY150"/>
              </a:cxn>
              <a:cxn ang="0">
                <a:pos x="connisteX151" y="connsiteY151"/>
              </a:cxn>
              <a:cxn ang="0">
                <a:pos x="connisteX152" y="connsiteY152"/>
              </a:cxn>
              <a:cxn ang="0">
                <a:pos x="connisteX153" y="connsiteY153"/>
              </a:cxn>
              <a:cxn ang="0">
                <a:pos x="connisteX154" y="connsiteY154"/>
              </a:cxn>
              <a:cxn ang="0">
                <a:pos x="connisteX155" y="connsiteY155"/>
              </a:cxn>
              <a:cxn ang="0">
                <a:pos x="connisteX156" y="connsiteY156"/>
              </a:cxn>
              <a:cxn ang="0">
                <a:pos x="connisteX157" y="connsiteY157"/>
              </a:cxn>
              <a:cxn ang="0">
                <a:pos x="connisteX158" y="connsiteY158"/>
              </a:cxn>
              <a:cxn ang="0">
                <a:pos x="connisteX159" y="connsiteY159"/>
              </a:cxn>
              <a:cxn ang="0">
                <a:pos x="connisteX160" y="connsiteY160"/>
              </a:cxn>
              <a:cxn ang="0">
                <a:pos x="connisteX161" y="connsiteY161"/>
              </a:cxn>
              <a:cxn ang="0">
                <a:pos x="connisteX162" y="connsiteY162"/>
              </a:cxn>
              <a:cxn ang="0">
                <a:pos x="connisteX163" y="connsiteY163"/>
              </a:cxn>
              <a:cxn ang="0">
                <a:pos x="connisteX164" y="connsiteY164"/>
              </a:cxn>
              <a:cxn ang="0">
                <a:pos x="connisteX165" y="connsiteY165"/>
              </a:cxn>
              <a:cxn ang="0">
                <a:pos x="connisteX166" y="connsiteY166"/>
              </a:cxn>
              <a:cxn ang="0">
                <a:pos x="connisteX167" y="connsiteY167"/>
              </a:cxn>
              <a:cxn ang="0">
                <a:pos x="connisteX168" y="connsiteY168"/>
              </a:cxn>
              <a:cxn ang="0">
                <a:pos x="connisteX169" y="connsiteY169"/>
              </a:cxn>
              <a:cxn ang="0">
                <a:pos x="connisteX170" y="connsiteY170"/>
              </a:cxn>
              <a:cxn ang="0">
                <a:pos x="connisteX171" y="connsiteY171"/>
              </a:cxn>
              <a:cxn ang="0">
                <a:pos x="connisteX172" y="connsiteY172"/>
              </a:cxn>
              <a:cxn ang="0">
                <a:pos x="connisteX173" y="connsiteY173"/>
              </a:cxn>
              <a:cxn ang="0">
                <a:pos x="connisteX174" y="connsiteY174"/>
              </a:cxn>
              <a:cxn ang="0">
                <a:pos x="connisteX175" y="connsiteY175"/>
              </a:cxn>
            </a:cxnLst>
            <a:rect l="l" t="t" r="r" b="b"/>
            <a:pathLst>
              <a:path w="5631815" h="2861310">
                <a:moveTo>
                  <a:pt x="15240" y="287655"/>
                </a:moveTo>
                <a:lnTo>
                  <a:pt x="15240" y="363220"/>
                </a:lnTo>
                <a:lnTo>
                  <a:pt x="15240" y="438785"/>
                </a:lnTo>
                <a:lnTo>
                  <a:pt x="15240" y="514985"/>
                </a:lnTo>
                <a:lnTo>
                  <a:pt x="15240" y="605790"/>
                </a:lnTo>
                <a:lnTo>
                  <a:pt x="15240" y="681355"/>
                </a:lnTo>
                <a:lnTo>
                  <a:pt x="15240" y="756920"/>
                </a:lnTo>
                <a:lnTo>
                  <a:pt x="15240" y="832485"/>
                </a:lnTo>
                <a:lnTo>
                  <a:pt x="15240" y="908050"/>
                </a:lnTo>
                <a:lnTo>
                  <a:pt x="15240" y="984250"/>
                </a:lnTo>
                <a:lnTo>
                  <a:pt x="15240" y="1059815"/>
                </a:lnTo>
                <a:lnTo>
                  <a:pt x="15240" y="1135380"/>
                </a:lnTo>
                <a:lnTo>
                  <a:pt x="15240" y="1210945"/>
                </a:lnTo>
                <a:lnTo>
                  <a:pt x="15240" y="1286510"/>
                </a:lnTo>
                <a:lnTo>
                  <a:pt x="15240" y="1362710"/>
                </a:lnTo>
                <a:lnTo>
                  <a:pt x="15240" y="1438275"/>
                </a:lnTo>
                <a:lnTo>
                  <a:pt x="15240" y="1513840"/>
                </a:lnTo>
                <a:lnTo>
                  <a:pt x="15240" y="1589405"/>
                </a:lnTo>
                <a:lnTo>
                  <a:pt x="30480" y="1680210"/>
                </a:lnTo>
                <a:lnTo>
                  <a:pt x="76200" y="1756410"/>
                </a:lnTo>
                <a:lnTo>
                  <a:pt x="167005" y="1801495"/>
                </a:lnTo>
                <a:lnTo>
                  <a:pt x="242570" y="1847215"/>
                </a:lnTo>
                <a:lnTo>
                  <a:pt x="273050" y="1922780"/>
                </a:lnTo>
                <a:lnTo>
                  <a:pt x="302895" y="1998345"/>
                </a:lnTo>
                <a:lnTo>
                  <a:pt x="379095" y="2073910"/>
                </a:lnTo>
                <a:lnTo>
                  <a:pt x="454660" y="2149475"/>
                </a:lnTo>
                <a:lnTo>
                  <a:pt x="530225" y="2225675"/>
                </a:lnTo>
                <a:lnTo>
                  <a:pt x="590550" y="2301240"/>
                </a:lnTo>
                <a:lnTo>
                  <a:pt x="651510" y="2376805"/>
                </a:lnTo>
                <a:lnTo>
                  <a:pt x="727075" y="2437130"/>
                </a:lnTo>
                <a:lnTo>
                  <a:pt x="802640" y="2513330"/>
                </a:lnTo>
                <a:lnTo>
                  <a:pt x="878205" y="2588895"/>
                </a:lnTo>
                <a:lnTo>
                  <a:pt x="939165" y="2664460"/>
                </a:lnTo>
                <a:lnTo>
                  <a:pt x="1014730" y="2724785"/>
                </a:lnTo>
                <a:lnTo>
                  <a:pt x="1075055" y="2800985"/>
                </a:lnTo>
                <a:lnTo>
                  <a:pt x="1150620" y="2861310"/>
                </a:lnTo>
                <a:lnTo>
                  <a:pt x="1226820" y="2861310"/>
                </a:lnTo>
                <a:lnTo>
                  <a:pt x="1302385" y="2800985"/>
                </a:lnTo>
                <a:lnTo>
                  <a:pt x="1377950" y="2770505"/>
                </a:lnTo>
                <a:lnTo>
                  <a:pt x="1453515" y="2755265"/>
                </a:lnTo>
                <a:lnTo>
                  <a:pt x="1529080" y="2755265"/>
                </a:lnTo>
                <a:lnTo>
                  <a:pt x="1605280" y="2740025"/>
                </a:lnTo>
                <a:lnTo>
                  <a:pt x="1680845" y="2710180"/>
                </a:lnTo>
                <a:lnTo>
                  <a:pt x="1756410" y="2679700"/>
                </a:lnTo>
                <a:lnTo>
                  <a:pt x="1831975" y="2664460"/>
                </a:lnTo>
                <a:lnTo>
                  <a:pt x="1907540" y="2588895"/>
                </a:lnTo>
                <a:lnTo>
                  <a:pt x="1983740" y="2558415"/>
                </a:lnTo>
                <a:lnTo>
                  <a:pt x="2044065" y="2482850"/>
                </a:lnTo>
                <a:lnTo>
                  <a:pt x="2119630" y="2422525"/>
                </a:lnTo>
                <a:lnTo>
                  <a:pt x="2195195" y="2361565"/>
                </a:lnTo>
                <a:lnTo>
                  <a:pt x="2271395" y="2346325"/>
                </a:lnTo>
                <a:lnTo>
                  <a:pt x="2346960" y="2316480"/>
                </a:lnTo>
                <a:lnTo>
                  <a:pt x="2422525" y="2270760"/>
                </a:lnTo>
                <a:lnTo>
                  <a:pt x="2498090" y="2255520"/>
                </a:lnTo>
                <a:lnTo>
                  <a:pt x="2573655" y="2240280"/>
                </a:lnTo>
                <a:lnTo>
                  <a:pt x="2649855" y="2210435"/>
                </a:lnTo>
                <a:lnTo>
                  <a:pt x="2725420" y="2195195"/>
                </a:lnTo>
                <a:lnTo>
                  <a:pt x="2800985" y="2179955"/>
                </a:lnTo>
                <a:lnTo>
                  <a:pt x="2876550" y="2134870"/>
                </a:lnTo>
                <a:lnTo>
                  <a:pt x="2952750" y="2073910"/>
                </a:lnTo>
                <a:lnTo>
                  <a:pt x="3028315" y="2028825"/>
                </a:lnTo>
                <a:lnTo>
                  <a:pt x="3103880" y="1983105"/>
                </a:lnTo>
                <a:lnTo>
                  <a:pt x="3179445" y="1938020"/>
                </a:lnTo>
                <a:lnTo>
                  <a:pt x="3270250" y="1877060"/>
                </a:lnTo>
                <a:lnTo>
                  <a:pt x="3345815" y="1831975"/>
                </a:lnTo>
                <a:lnTo>
                  <a:pt x="3422015" y="1771015"/>
                </a:lnTo>
                <a:lnTo>
                  <a:pt x="3512820" y="1725930"/>
                </a:lnTo>
                <a:lnTo>
                  <a:pt x="3588385" y="1680210"/>
                </a:lnTo>
                <a:lnTo>
                  <a:pt x="3663950" y="1650365"/>
                </a:lnTo>
                <a:lnTo>
                  <a:pt x="3754755" y="1635125"/>
                </a:lnTo>
                <a:lnTo>
                  <a:pt x="3830320" y="1589405"/>
                </a:lnTo>
                <a:lnTo>
                  <a:pt x="3905885" y="1544320"/>
                </a:lnTo>
                <a:lnTo>
                  <a:pt x="3982085" y="1498600"/>
                </a:lnTo>
                <a:lnTo>
                  <a:pt x="4057650" y="1483360"/>
                </a:lnTo>
                <a:lnTo>
                  <a:pt x="4133215" y="1438275"/>
                </a:lnTo>
                <a:lnTo>
                  <a:pt x="4208780" y="1407795"/>
                </a:lnTo>
                <a:lnTo>
                  <a:pt x="4284980" y="1377950"/>
                </a:lnTo>
                <a:lnTo>
                  <a:pt x="4360545" y="1316990"/>
                </a:lnTo>
                <a:lnTo>
                  <a:pt x="4436110" y="1271905"/>
                </a:lnTo>
                <a:lnTo>
                  <a:pt x="4511675" y="1226185"/>
                </a:lnTo>
                <a:lnTo>
                  <a:pt x="4587240" y="1181100"/>
                </a:lnTo>
                <a:lnTo>
                  <a:pt x="4678045" y="1150620"/>
                </a:lnTo>
                <a:lnTo>
                  <a:pt x="4754245" y="1135380"/>
                </a:lnTo>
                <a:lnTo>
                  <a:pt x="4829810" y="1104900"/>
                </a:lnTo>
                <a:lnTo>
                  <a:pt x="4905375" y="1059815"/>
                </a:lnTo>
                <a:lnTo>
                  <a:pt x="4996180" y="1014095"/>
                </a:lnTo>
                <a:lnTo>
                  <a:pt x="5071745" y="969010"/>
                </a:lnTo>
                <a:lnTo>
                  <a:pt x="5147310" y="938530"/>
                </a:lnTo>
                <a:lnTo>
                  <a:pt x="5223510" y="908050"/>
                </a:lnTo>
                <a:lnTo>
                  <a:pt x="5299075" y="862965"/>
                </a:lnTo>
                <a:lnTo>
                  <a:pt x="5374640" y="832485"/>
                </a:lnTo>
                <a:lnTo>
                  <a:pt x="5450205" y="802640"/>
                </a:lnTo>
                <a:lnTo>
                  <a:pt x="5525770" y="726440"/>
                </a:lnTo>
                <a:lnTo>
                  <a:pt x="5556250" y="650875"/>
                </a:lnTo>
                <a:lnTo>
                  <a:pt x="5571490" y="575310"/>
                </a:lnTo>
                <a:lnTo>
                  <a:pt x="5571490" y="499745"/>
                </a:lnTo>
                <a:lnTo>
                  <a:pt x="5601970" y="424180"/>
                </a:lnTo>
                <a:lnTo>
                  <a:pt x="5617210" y="347980"/>
                </a:lnTo>
                <a:lnTo>
                  <a:pt x="5617210" y="272415"/>
                </a:lnTo>
                <a:lnTo>
                  <a:pt x="5617210" y="196850"/>
                </a:lnTo>
                <a:lnTo>
                  <a:pt x="5631815" y="121285"/>
                </a:lnTo>
                <a:lnTo>
                  <a:pt x="5556250" y="136525"/>
                </a:lnTo>
                <a:lnTo>
                  <a:pt x="5480685" y="136525"/>
                </a:lnTo>
                <a:lnTo>
                  <a:pt x="5405120" y="136525"/>
                </a:lnTo>
                <a:lnTo>
                  <a:pt x="5329555" y="136525"/>
                </a:lnTo>
                <a:lnTo>
                  <a:pt x="5253355" y="121285"/>
                </a:lnTo>
                <a:lnTo>
                  <a:pt x="5177790" y="121285"/>
                </a:lnTo>
                <a:lnTo>
                  <a:pt x="5086985" y="90805"/>
                </a:lnTo>
                <a:lnTo>
                  <a:pt x="4996180" y="75565"/>
                </a:lnTo>
                <a:lnTo>
                  <a:pt x="4920615" y="75565"/>
                </a:lnTo>
                <a:lnTo>
                  <a:pt x="4845050" y="60325"/>
                </a:lnTo>
                <a:lnTo>
                  <a:pt x="4768850" y="60325"/>
                </a:lnTo>
                <a:lnTo>
                  <a:pt x="4693285" y="60325"/>
                </a:lnTo>
                <a:lnTo>
                  <a:pt x="4617720" y="60325"/>
                </a:lnTo>
                <a:lnTo>
                  <a:pt x="4542155" y="60325"/>
                </a:lnTo>
                <a:lnTo>
                  <a:pt x="4451350" y="60325"/>
                </a:lnTo>
                <a:lnTo>
                  <a:pt x="4375785" y="60325"/>
                </a:lnTo>
                <a:lnTo>
                  <a:pt x="4299585" y="60325"/>
                </a:lnTo>
                <a:lnTo>
                  <a:pt x="4224020" y="60325"/>
                </a:lnTo>
                <a:lnTo>
                  <a:pt x="4133215" y="60325"/>
                </a:lnTo>
                <a:lnTo>
                  <a:pt x="4042410" y="60325"/>
                </a:lnTo>
                <a:lnTo>
                  <a:pt x="3966845" y="60325"/>
                </a:lnTo>
                <a:lnTo>
                  <a:pt x="3891280" y="60325"/>
                </a:lnTo>
                <a:lnTo>
                  <a:pt x="3815080" y="60325"/>
                </a:lnTo>
                <a:lnTo>
                  <a:pt x="3739515" y="60325"/>
                </a:lnTo>
                <a:lnTo>
                  <a:pt x="3648710" y="60325"/>
                </a:lnTo>
                <a:lnTo>
                  <a:pt x="3573145" y="60325"/>
                </a:lnTo>
                <a:lnTo>
                  <a:pt x="3497580" y="60325"/>
                </a:lnTo>
                <a:lnTo>
                  <a:pt x="3422015" y="60325"/>
                </a:lnTo>
                <a:lnTo>
                  <a:pt x="3345815" y="60325"/>
                </a:lnTo>
                <a:lnTo>
                  <a:pt x="3270250" y="60325"/>
                </a:lnTo>
                <a:lnTo>
                  <a:pt x="3194685" y="60325"/>
                </a:lnTo>
                <a:lnTo>
                  <a:pt x="3119120" y="60325"/>
                </a:lnTo>
                <a:lnTo>
                  <a:pt x="3028315" y="60325"/>
                </a:lnTo>
                <a:lnTo>
                  <a:pt x="2952750" y="60325"/>
                </a:lnTo>
                <a:lnTo>
                  <a:pt x="2876550" y="60325"/>
                </a:lnTo>
                <a:lnTo>
                  <a:pt x="2800985" y="60325"/>
                </a:lnTo>
                <a:lnTo>
                  <a:pt x="2725420" y="60325"/>
                </a:lnTo>
                <a:lnTo>
                  <a:pt x="2649855" y="45085"/>
                </a:lnTo>
                <a:lnTo>
                  <a:pt x="2559050" y="45085"/>
                </a:lnTo>
                <a:lnTo>
                  <a:pt x="2482850" y="30480"/>
                </a:lnTo>
                <a:lnTo>
                  <a:pt x="2407285" y="30480"/>
                </a:lnTo>
                <a:lnTo>
                  <a:pt x="2331720" y="30480"/>
                </a:lnTo>
                <a:lnTo>
                  <a:pt x="2256155" y="30480"/>
                </a:lnTo>
                <a:lnTo>
                  <a:pt x="2180590" y="30480"/>
                </a:lnTo>
                <a:lnTo>
                  <a:pt x="2104390" y="15240"/>
                </a:lnTo>
                <a:lnTo>
                  <a:pt x="2028825" y="15240"/>
                </a:lnTo>
                <a:lnTo>
                  <a:pt x="1953260" y="0"/>
                </a:lnTo>
                <a:lnTo>
                  <a:pt x="1862455" y="0"/>
                </a:lnTo>
                <a:lnTo>
                  <a:pt x="1786890" y="0"/>
                </a:lnTo>
                <a:lnTo>
                  <a:pt x="1711325" y="0"/>
                </a:lnTo>
                <a:lnTo>
                  <a:pt x="1635125" y="0"/>
                </a:lnTo>
                <a:lnTo>
                  <a:pt x="1559560" y="0"/>
                </a:lnTo>
                <a:lnTo>
                  <a:pt x="1483995" y="0"/>
                </a:lnTo>
                <a:lnTo>
                  <a:pt x="1408430" y="0"/>
                </a:lnTo>
                <a:lnTo>
                  <a:pt x="1332865" y="0"/>
                </a:lnTo>
                <a:lnTo>
                  <a:pt x="1256665" y="0"/>
                </a:lnTo>
                <a:lnTo>
                  <a:pt x="1181100" y="15240"/>
                </a:lnTo>
                <a:lnTo>
                  <a:pt x="1105535" y="15240"/>
                </a:lnTo>
                <a:lnTo>
                  <a:pt x="1029970" y="30480"/>
                </a:lnTo>
                <a:lnTo>
                  <a:pt x="953770" y="45085"/>
                </a:lnTo>
                <a:lnTo>
                  <a:pt x="878205" y="60325"/>
                </a:lnTo>
                <a:lnTo>
                  <a:pt x="802640" y="60325"/>
                </a:lnTo>
                <a:lnTo>
                  <a:pt x="727075" y="60325"/>
                </a:lnTo>
                <a:lnTo>
                  <a:pt x="651510" y="60325"/>
                </a:lnTo>
                <a:lnTo>
                  <a:pt x="560705" y="60325"/>
                </a:lnTo>
                <a:lnTo>
                  <a:pt x="484505" y="60325"/>
                </a:lnTo>
                <a:lnTo>
                  <a:pt x="408940" y="60325"/>
                </a:lnTo>
                <a:lnTo>
                  <a:pt x="333375" y="60325"/>
                </a:lnTo>
                <a:lnTo>
                  <a:pt x="257810" y="60325"/>
                </a:lnTo>
                <a:lnTo>
                  <a:pt x="182245" y="60325"/>
                </a:lnTo>
                <a:lnTo>
                  <a:pt x="106045" y="60325"/>
                </a:lnTo>
                <a:lnTo>
                  <a:pt x="30480" y="75565"/>
                </a:lnTo>
                <a:lnTo>
                  <a:pt x="0" y="151130"/>
                </a:lnTo>
                <a:lnTo>
                  <a:pt x="0" y="227330"/>
                </a:lnTo>
                <a:lnTo>
                  <a:pt x="15240" y="196850"/>
                </a:lnTo>
              </a:path>
            </a:pathLst>
          </a:custGeom>
          <a:solidFill>
            <a:schemeClr val="tx2"/>
          </a:solidFill>
          <a:ln w="12700" cap="sq" cmpd="sng" algn="ctr">
            <a:solidFill>
              <a:schemeClr val="tx1"/>
            </a:solidFill>
            <a:prstDash val="solid"/>
            <a:round/>
            <a:headEnd type="none" w="sm" len="sm"/>
            <a:tailEnd type="none" w="sm" len="sm"/>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12671" name="Line 31"/>
          <p:cNvSpPr/>
          <p:nvPr/>
        </p:nvSpPr>
        <p:spPr>
          <a:xfrm>
            <a:off x="2145030" y="2591435"/>
            <a:ext cx="1909445" cy="2981960"/>
          </a:xfrm>
          <a:prstGeom prst="line">
            <a:avLst/>
          </a:prstGeom>
          <a:ln w="57150" cap="flat" cmpd="sng">
            <a:solidFill>
              <a:srgbClr val="FF6600"/>
            </a:solidFill>
            <a:prstDash val="sysDot"/>
            <a:headEnd type="none" w="med" len="med"/>
            <a:tailEnd type="none" w="med" len="med"/>
          </a:ln>
        </p:spPr>
      </p:sp>
      <p:sp>
        <p:nvSpPr>
          <p:cNvPr id="112672" name="AutoShape 32"/>
          <p:cNvSpPr/>
          <p:nvPr/>
        </p:nvSpPr>
        <p:spPr>
          <a:xfrm rot="-1870890">
            <a:off x="3181668" y="3525838"/>
            <a:ext cx="577850" cy="433387"/>
          </a:xfrm>
          <a:prstGeom prst="rightArrow">
            <a:avLst>
              <a:gd name="adj1" fmla="val 50000"/>
              <a:gd name="adj2" fmla="val 33333"/>
            </a:avLst>
          </a:prstGeom>
          <a:solidFill>
            <a:srgbClr val="993300"/>
          </a:solidFill>
          <a:ln w="9525" cap="flat" cmpd="sng">
            <a:solidFill>
              <a:srgbClr val="FF66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endParaRPr lang="zh-CN" altLang="zh-CN" sz="1800" dirty="0"/>
          </a:p>
        </p:txBody>
      </p:sp>
      <p:sp>
        <p:nvSpPr>
          <p:cNvPr id="112670" name="AutoShape 30"/>
          <p:cNvSpPr/>
          <p:nvPr/>
        </p:nvSpPr>
        <p:spPr>
          <a:xfrm>
            <a:off x="5171440" y="4695508"/>
            <a:ext cx="1608138" cy="460374"/>
          </a:xfrm>
          <a:prstGeom prst="borderCallout1">
            <a:avLst>
              <a:gd name="adj1" fmla="val 24491"/>
              <a:gd name="adj2" fmla="val -4736"/>
              <a:gd name="adj3" fmla="val 103071"/>
              <a:gd name="adj4" fmla="val -81145"/>
            </a:avLst>
          </a:prstGeom>
          <a:noFill/>
          <a:ln w="28575" cap="flat" cmpd="sng">
            <a:solidFill>
              <a:srgbClr val="FF660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i="1" dirty="0">
                <a:solidFill>
                  <a:schemeClr val="bg2"/>
                </a:solidFill>
                <a:latin typeface="Times New Roman" panose="02020603050405020304" pitchFamily="18" charset="0"/>
              </a:rPr>
              <a:t>z </a:t>
            </a:r>
            <a:r>
              <a:rPr lang="en-US" altLang="zh-CN" sz="2400" dirty="0">
                <a:solidFill>
                  <a:schemeClr val="bg2"/>
                </a:solidFill>
                <a:latin typeface="Times New Roman" panose="02020603050405020304" pitchFamily="18" charset="0"/>
              </a:rPr>
              <a:t>= 2</a:t>
            </a:r>
            <a:r>
              <a:rPr lang="en-US" altLang="zh-CN" sz="2400" i="1" dirty="0">
                <a:solidFill>
                  <a:schemeClr val="bg2"/>
                </a:solidFill>
                <a:latin typeface="Times New Roman" panose="02020603050405020304" pitchFamily="18" charset="0"/>
              </a:rPr>
              <a:t>x</a:t>
            </a:r>
            <a:r>
              <a:rPr lang="en-US" altLang="zh-CN" sz="2400" baseline="-25000" dirty="0">
                <a:solidFill>
                  <a:schemeClr val="bg2"/>
                </a:solidFill>
                <a:latin typeface="Times New Roman" panose="02020603050405020304" pitchFamily="18" charset="0"/>
              </a:rPr>
              <a:t>1</a:t>
            </a:r>
            <a:r>
              <a:rPr lang="en-US" altLang="zh-CN" sz="2400" dirty="0">
                <a:solidFill>
                  <a:schemeClr val="bg2"/>
                </a:solidFill>
                <a:latin typeface="Times New Roman" panose="02020603050405020304" pitchFamily="18" charset="0"/>
              </a:rPr>
              <a:t>+</a:t>
            </a:r>
            <a:r>
              <a:rPr lang="en-US" altLang="zh-CN" sz="2400" i="1" dirty="0">
                <a:solidFill>
                  <a:schemeClr val="bg2"/>
                </a:solidFill>
                <a:latin typeface="Times New Roman" panose="02020603050405020304" pitchFamily="18" charset="0"/>
              </a:rPr>
              <a:t>x</a:t>
            </a:r>
            <a:r>
              <a:rPr lang="en-US" altLang="zh-CN" sz="2400" baseline="-25000" dirty="0">
                <a:solidFill>
                  <a:schemeClr val="bg2"/>
                </a:solidFill>
                <a:latin typeface="Times New Roman" panose="02020603050405020304" pitchFamily="18" charset="0"/>
              </a:rPr>
              <a:t>2</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2666"/>
                                        </p:tgtEl>
                                        <p:attrNameLst>
                                          <p:attrName>style.visibility</p:attrName>
                                        </p:attrNameLst>
                                      </p:cBhvr>
                                      <p:to>
                                        <p:strVal val="visible"/>
                                      </p:to>
                                    </p:set>
                                    <p:animEffect transition="in" filter="wipe(left)">
                                      <p:cBhvr>
                                        <p:cTn id="7" dur="500"/>
                                        <p:tgtEl>
                                          <p:spTgt spid="11266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2669"/>
                                        </p:tgtEl>
                                        <p:attrNameLst>
                                          <p:attrName>style.visibility</p:attrName>
                                        </p:attrNameLst>
                                      </p:cBhvr>
                                      <p:to>
                                        <p:strVal val="visible"/>
                                      </p:to>
                                    </p:set>
                                    <p:animEffect transition="in" filter="wipe(left)">
                                      <p:cBhvr>
                                        <p:cTn id="10" dur="500"/>
                                        <p:tgtEl>
                                          <p:spTgt spid="11266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12668"/>
                                        </p:tgtEl>
                                        <p:attrNameLst>
                                          <p:attrName>style.visibility</p:attrName>
                                        </p:attrNameLst>
                                      </p:cBhvr>
                                      <p:to>
                                        <p:strVal val="visible"/>
                                      </p:to>
                                    </p:set>
                                    <p:animEffect transition="in" filter="wipe(left)">
                                      <p:cBhvr>
                                        <p:cTn id="15" dur="500"/>
                                        <p:tgtEl>
                                          <p:spTgt spid="112668"/>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112674"/>
                                        </p:tgtEl>
                                        <p:attrNameLst>
                                          <p:attrName>style.visibility</p:attrName>
                                        </p:attrNameLst>
                                      </p:cBhvr>
                                      <p:to>
                                        <p:strVal val="visible"/>
                                      </p:to>
                                    </p:set>
                                    <p:animEffect transition="in" filter="wipe(left)">
                                      <p:cBhvr>
                                        <p:cTn id="19" dur="500"/>
                                        <p:tgtEl>
                                          <p:spTgt spid="11267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12671"/>
                                        </p:tgtEl>
                                        <p:attrNameLst>
                                          <p:attrName>style.visibility</p:attrName>
                                        </p:attrNameLst>
                                      </p:cBhvr>
                                      <p:to>
                                        <p:strVal val="visible"/>
                                      </p:to>
                                    </p:set>
                                    <p:animEffect transition="in" filter="wipe(left)">
                                      <p:cBhvr>
                                        <p:cTn id="29" dur="500"/>
                                        <p:tgtEl>
                                          <p:spTgt spid="112671"/>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112670"/>
                                        </p:tgtEl>
                                        <p:attrNameLst>
                                          <p:attrName>style.visibility</p:attrName>
                                        </p:attrNameLst>
                                      </p:cBhvr>
                                      <p:to>
                                        <p:strVal val="visible"/>
                                      </p:to>
                                    </p:set>
                                    <p:animEffect transition="in" filter="wipe(left)">
                                      <p:cBhvr>
                                        <p:cTn id="33" dur="500"/>
                                        <p:tgtEl>
                                          <p:spTgt spid="11267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12672"/>
                                        </p:tgtEl>
                                        <p:attrNameLst>
                                          <p:attrName>style.visibility</p:attrName>
                                        </p:attrNameLst>
                                      </p:cBhvr>
                                      <p:to>
                                        <p:strVal val="visible"/>
                                      </p:to>
                                    </p:set>
                                    <p:animEffect transition="in" filter="wipe(left)">
                                      <p:cBhvr>
                                        <p:cTn id="38" dur="500"/>
                                        <p:tgtEl>
                                          <p:spTgt spid="1126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9" grpId="0" animBg="1"/>
      <p:bldP spid="112669" grpId="1" animBg="1"/>
      <p:bldP spid="112674" grpId="0" bldLvl="0" animBg="1"/>
      <p:bldP spid="6" grpId="0" animBg="1"/>
      <p:bldP spid="6" grpId="1" animBg="1"/>
      <p:bldP spid="112672" grpId="0" animBg="1"/>
      <p:bldP spid="112672" grpId="1" animBg="1"/>
      <p:bldP spid="112670"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6.1 </a:t>
            </a:r>
            <a:r>
              <a:rPr kumimoji="0" lang="zh-CN" altLang="en-US" kern="1200" dirty="0" smtClean="0">
                <a:solidFill>
                  <a:schemeClr val="accent2"/>
                </a:solidFill>
                <a:sym typeface="+mn-ea"/>
              </a:rPr>
              <a:t>线性规划模型</a:t>
            </a:r>
            <a:endParaRPr kumimoji="0" lang="en-US" altLang="zh-CN" kern="1200" dirty="0" smtClean="0">
              <a:solidFill>
                <a:schemeClr val="accent2"/>
              </a:solidFill>
              <a:sym typeface="+mn-ea"/>
            </a:endParaRPr>
          </a:p>
        </p:txBody>
      </p:sp>
      <p:sp>
        <p:nvSpPr>
          <p:cNvPr id="10243" name="Rectangle 3"/>
          <p:cNvSpPr>
            <a:spLocks noGrp="1"/>
          </p:cNvSpPr>
          <p:nvPr>
            <p:ph idx="1"/>
          </p:nvPr>
        </p:nvSpPr>
        <p:spPr>
          <a:xfrm>
            <a:off x="506730" y="1637030"/>
            <a:ext cx="8105140" cy="981710"/>
          </a:xfrm>
        </p:spPr>
        <p:txBody>
          <a:bodyPr vert="horz" wrap="square" lIns="91440" tIns="45720" rIns="91440" bIns="45720" anchor="t"/>
          <a:lstStyle/>
          <a:p>
            <a:pPr eaLnBrk="1" hangingPunct="1">
              <a:lnSpc>
                <a:spcPct val="120000"/>
              </a:lnSpc>
              <a:spcBef>
                <a:spcPts val="20"/>
              </a:spcBef>
              <a:spcAft>
                <a:spcPts val="0"/>
              </a:spcAft>
              <a:buFont typeface="Arial" panose="020B0604020202020204" pitchFamily="34" charset="0"/>
              <a:buChar char="•"/>
            </a:pPr>
            <a:r>
              <a:rPr lang="zh-CN" altLang="en-US" sz="2400" b="0" dirty="0">
                <a:solidFill>
                  <a:schemeClr val="bg1"/>
                </a:solidFill>
              </a:rPr>
              <a:t>无可行域，无最优解：</a:t>
            </a:r>
          </a:p>
        </p:txBody>
      </p:sp>
      <p:grpSp>
        <p:nvGrpSpPr>
          <p:cNvPr id="4" name="组合 3"/>
          <p:cNvGrpSpPr/>
          <p:nvPr/>
        </p:nvGrpSpPr>
        <p:grpSpPr>
          <a:xfrm>
            <a:off x="1250950" y="2303145"/>
            <a:ext cx="5688330" cy="3648075"/>
            <a:chOff x="3000" y="600"/>
            <a:chExt cx="10731" cy="8640"/>
          </a:xfrm>
        </p:grpSpPr>
        <p:sp>
          <p:nvSpPr>
            <p:cNvPr id="12291" name="Line 3"/>
            <p:cNvSpPr/>
            <p:nvPr/>
          </p:nvSpPr>
          <p:spPr>
            <a:xfrm>
              <a:off x="3000" y="600"/>
              <a:ext cx="0" cy="8640"/>
            </a:xfrm>
            <a:prstGeom prst="line">
              <a:avLst/>
            </a:prstGeom>
            <a:ln w="57150" cap="flat" cmpd="sng">
              <a:solidFill>
                <a:srgbClr val="FF6600"/>
              </a:solidFill>
              <a:prstDash val="solid"/>
              <a:headEnd type="triangle" w="med" len="med"/>
              <a:tailEnd type="none" w="med" len="med"/>
            </a:ln>
          </p:spPr>
        </p:sp>
        <p:sp>
          <p:nvSpPr>
            <p:cNvPr id="12292" name="Line 4"/>
            <p:cNvSpPr/>
            <p:nvPr/>
          </p:nvSpPr>
          <p:spPr>
            <a:xfrm>
              <a:off x="3000" y="5333"/>
              <a:ext cx="10731" cy="38"/>
            </a:xfrm>
            <a:prstGeom prst="line">
              <a:avLst/>
            </a:prstGeom>
            <a:ln w="57150" cap="flat" cmpd="sng">
              <a:solidFill>
                <a:srgbClr val="FF6600"/>
              </a:solidFill>
              <a:prstDash val="solid"/>
              <a:headEnd type="none" w="med" len="med"/>
              <a:tailEnd type="triangle" w="med" len="med"/>
            </a:ln>
          </p:spPr>
        </p:sp>
      </p:grpSp>
      <p:sp>
        <p:nvSpPr>
          <p:cNvPr id="12297" name="Text Box 9"/>
          <p:cNvSpPr txBox="1"/>
          <p:nvPr/>
        </p:nvSpPr>
        <p:spPr>
          <a:xfrm>
            <a:off x="6865620" y="4014788"/>
            <a:ext cx="533400" cy="588962"/>
          </a:xfrm>
          <a:prstGeom prst="rect">
            <a:avLst/>
          </a:prstGeom>
          <a:noFill/>
          <a:ln w="9525" cap="flat" cmpd="sng">
            <a:no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i="1" dirty="0">
                <a:solidFill>
                  <a:schemeClr val="bg2"/>
                </a:solidFill>
                <a:latin typeface="Times New Roman" panose="02020603050405020304" pitchFamily="18" charset="0"/>
              </a:rPr>
              <a:t>x</a:t>
            </a:r>
            <a:r>
              <a:rPr lang="en-US" altLang="zh-CN" baseline="-25000" dirty="0">
                <a:solidFill>
                  <a:schemeClr val="bg2"/>
                </a:solidFill>
                <a:latin typeface="Times New Roman" panose="02020603050405020304" pitchFamily="18" charset="0"/>
              </a:rPr>
              <a:t>1</a:t>
            </a:r>
            <a:r>
              <a:rPr lang="en-US" altLang="zh-CN" dirty="0">
                <a:solidFill>
                  <a:schemeClr val="bg2"/>
                </a:solidFill>
                <a:latin typeface="Times New Roman" panose="02020603050405020304" pitchFamily="18" charset="0"/>
              </a:rPr>
              <a:t> </a:t>
            </a:r>
            <a:endParaRPr lang="en-US" altLang="zh-CN" sz="2400" dirty="0">
              <a:solidFill>
                <a:schemeClr val="bg2"/>
              </a:solidFill>
              <a:latin typeface="Times New Roman" panose="02020603050405020304" pitchFamily="18" charset="0"/>
            </a:endParaRPr>
          </a:p>
        </p:txBody>
      </p:sp>
      <p:sp>
        <p:nvSpPr>
          <p:cNvPr id="11" name="Text Box 9"/>
          <p:cNvSpPr txBox="1"/>
          <p:nvPr/>
        </p:nvSpPr>
        <p:spPr>
          <a:xfrm>
            <a:off x="717550" y="2088198"/>
            <a:ext cx="533400" cy="583565"/>
          </a:xfrm>
          <a:prstGeom prst="rect">
            <a:avLst/>
          </a:prstGeom>
          <a:noFill/>
          <a:ln w="9525" cap="flat" cmpd="sng">
            <a:no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i="1" dirty="0">
                <a:solidFill>
                  <a:schemeClr val="bg2"/>
                </a:solidFill>
                <a:latin typeface="Times New Roman" panose="02020603050405020304" pitchFamily="18" charset="0"/>
              </a:rPr>
              <a:t>x</a:t>
            </a:r>
            <a:r>
              <a:rPr lang="en-US" altLang="zh-CN" baseline="-25000" dirty="0">
                <a:solidFill>
                  <a:schemeClr val="bg2"/>
                </a:solidFill>
                <a:latin typeface="Times New Roman" panose="02020603050405020304" pitchFamily="18" charset="0"/>
              </a:rPr>
              <a:t>2</a:t>
            </a:r>
            <a:r>
              <a:rPr lang="en-US" altLang="zh-CN" dirty="0">
                <a:solidFill>
                  <a:schemeClr val="bg2"/>
                </a:solidFill>
                <a:latin typeface="Times New Roman" panose="02020603050405020304" pitchFamily="18" charset="0"/>
              </a:rPr>
              <a:t> </a:t>
            </a:r>
            <a:endParaRPr lang="en-US" altLang="zh-CN" sz="2400" dirty="0">
              <a:solidFill>
                <a:schemeClr val="bg2"/>
              </a:solidFill>
              <a:latin typeface="Times New Roman" panose="02020603050405020304" pitchFamily="18" charset="0"/>
            </a:endParaRPr>
          </a:p>
        </p:txBody>
      </p:sp>
      <p:sp>
        <p:nvSpPr>
          <p:cNvPr id="13314" name="Rectangle 2"/>
          <p:cNvSpPr>
            <a:spLocks noGrp="1"/>
          </p:cNvSpPr>
          <p:nvPr/>
        </p:nvSpPr>
        <p:spPr>
          <a:xfrm>
            <a:off x="5438775" y="1565275"/>
            <a:ext cx="3059430" cy="1863725"/>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algn="just" eaLnBrk="1" hangingPunct="1">
              <a:buNone/>
            </a:pPr>
            <a:r>
              <a:rPr lang="en-US" altLang="zh-CN" sz="2400" b="1" i="1" dirty="0">
                <a:solidFill>
                  <a:schemeClr val="bg2"/>
                </a:solidFill>
                <a:latin typeface="Times New Roman" panose="02020603050405020304" pitchFamily="18" charset="0"/>
                <a:cs typeface="Times New Roman" panose="02020603050405020304" pitchFamily="18" charset="0"/>
                <a:sym typeface="+mn-ea"/>
              </a:rPr>
              <a:t>max</a:t>
            </a:r>
            <a:r>
              <a:rPr lang="en-US" altLang="zh-CN" sz="2400" b="1" dirty="0">
                <a:solidFill>
                  <a:schemeClr val="bg2"/>
                </a:solidFill>
                <a:latin typeface="Times New Roman" panose="02020603050405020304" pitchFamily="18" charset="0"/>
                <a:cs typeface="Times New Roman" panose="02020603050405020304" pitchFamily="18" charset="0"/>
                <a:sym typeface="+mn-ea"/>
              </a:rPr>
              <a:t>: </a:t>
            </a:r>
            <a:r>
              <a:rPr lang="en-US" altLang="zh-CN" sz="2400" b="1" i="1" dirty="0">
                <a:solidFill>
                  <a:schemeClr val="bg2"/>
                </a:solidFill>
                <a:latin typeface="Times New Roman" panose="02020603050405020304" pitchFamily="18" charset="0"/>
                <a:cs typeface="Times New Roman" panose="02020603050405020304" pitchFamily="18" charset="0"/>
                <a:sym typeface="+mn-ea"/>
              </a:rPr>
              <a:t>z</a:t>
            </a:r>
            <a:r>
              <a:rPr lang="en-US" altLang="zh-CN" sz="2400" b="1" dirty="0">
                <a:solidFill>
                  <a:schemeClr val="bg2"/>
                </a:solidFill>
                <a:latin typeface="Times New Roman" panose="02020603050405020304" pitchFamily="18" charset="0"/>
                <a:cs typeface="Times New Roman" panose="02020603050405020304" pitchFamily="18" charset="0"/>
                <a:sym typeface="+mn-ea"/>
              </a:rPr>
              <a:t> = </a:t>
            </a:r>
            <a:r>
              <a:rPr lang="en-US" altLang="zh-CN" sz="2400" b="1" i="1" dirty="0">
                <a:solidFill>
                  <a:schemeClr val="bg2"/>
                </a:solidFill>
                <a:latin typeface="Times New Roman" panose="02020603050405020304" pitchFamily="18" charset="0"/>
                <a:cs typeface="Times New Roman" panose="02020603050405020304" pitchFamily="18" charset="0"/>
                <a:sym typeface="+mn-ea"/>
              </a:rPr>
              <a:t>x</a:t>
            </a:r>
            <a:r>
              <a:rPr lang="en-US" altLang="zh-CN" sz="2400" b="1" baseline="-25000" dirty="0">
                <a:solidFill>
                  <a:schemeClr val="bg2"/>
                </a:solidFill>
                <a:latin typeface="Times New Roman" panose="02020603050405020304" pitchFamily="18" charset="0"/>
                <a:cs typeface="Times New Roman" panose="02020603050405020304" pitchFamily="18" charset="0"/>
                <a:sym typeface="+mn-ea"/>
              </a:rPr>
              <a:t>1  </a:t>
            </a:r>
            <a:r>
              <a:rPr lang="en-US" altLang="zh-CN" sz="2400" b="1" dirty="0">
                <a:solidFill>
                  <a:schemeClr val="bg2"/>
                </a:solidFill>
                <a:latin typeface="Times New Roman" panose="02020603050405020304" pitchFamily="18" charset="0"/>
                <a:cs typeface="Times New Roman" panose="02020603050405020304" pitchFamily="18" charset="0"/>
                <a:sym typeface="+mn-ea"/>
              </a:rPr>
              <a:t>+  </a:t>
            </a:r>
            <a:r>
              <a:rPr lang="en-US" altLang="zh-CN" sz="2400" b="1" i="1" dirty="0">
                <a:solidFill>
                  <a:schemeClr val="bg2"/>
                </a:solidFill>
                <a:latin typeface="Times New Roman" panose="02020603050405020304" pitchFamily="18" charset="0"/>
                <a:cs typeface="Times New Roman" panose="02020603050405020304" pitchFamily="18" charset="0"/>
                <a:sym typeface="+mn-ea"/>
              </a:rPr>
              <a:t>x</a:t>
            </a:r>
            <a:r>
              <a:rPr lang="en-US" altLang="zh-CN" sz="2400" b="1" baseline="-25000" dirty="0">
                <a:solidFill>
                  <a:schemeClr val="bg2"/>
                </a:solidFill>
                <a:latin typeface="Times New Roman" panose="02020603050405020304" pitchFamily="18" charset="0"/>
                <a:cs typeface="Times New Roman" panose="02020603050405020304" pitchFamily="18" charset="0"/>
                <a:sym typeface="+mn-ea"/>
              </a:rPr>
              <a:t>2</a:t>
            </a:r>
            <a:endParaRPr lang="en-US" altLang="zh-CN" sz="2400" b="1" dirty="0">
              <a:solidFill>
                <a:schemeClr val="bg2"/>
              </a:solidFill>
              <a:latin typeface="Times New Roman" panose="02020603050405020304" pitchFamily="18" charset="0"/>
              <a:cs typeface="Times New Roman" panose="02020603050405020304" pitchFamily="18" charset="0"/>
            </a:endParaRPr>
          </a:p>
          <a:p>
            <a:pPr algn="just" eaLnBrk="1" hangingPunct="1">
              <a:buNone/>
            </a:pPr>
            <a:r>
              <a:rPr lang="en-US" altLang="zh-CN" sz="2400" b="1" i="1" dirty="0">
                <a:solidFill>
                  <a:schemeClr val="bg2"/>
                </a:solidFill>
                <a:latin typeface="Times New Roman" panose="02020603050405020304" pitchFamily="18" charset="0"/>
                <a:cs typeface="Times New Roman" panose="02020603050405020304" pitchFamily="18" charset="0"/>
                <a:sym typeface="+mn-ea"/>
              </a:rPr>
              <a:t>s.t.</a:t>
            </a:r>
            <a:r>
              <a:rPr lang="en-US" altLang="zh-CN" sz="2400" b="1" dirty="0">
                <a:solidFill>
                  <a:schemeClr val="bg2"/>
                </a:solidFill>
                <a:latin typeface="Times New Roman" panose="02020603050405020304" pitchFamily="18" charset="0"/>
                <a:cs typeface="Times New Roman" panose="02020603050405020304" pitchFamily="18" charset="0"/>
                <a:sym typeface="+mn-ea"/>
              </a:rPr>
              <a:t>	   </a:t>
            </a:r>
            <a:r>
              <a:rPr lang="en-US" altLang="zh-CN" sz="2400" b="1" i="1" dirty="0">
                <a:solidFill>
                  <a:schemeClr val="bg2"/>
                </a:solidFill>
                <a:latin typeface="Times New Roman" panose="02020603050405020304" pitchFamily="18" charset="0"/>
                <a:cs typeface="Times New Roman" panose="02020603050405020304" pitchFamily="18" charset="0"/>
                <a:sym typeface="+mn-ea"/>
              </a:rPr>
              <a:t>x</a:t>
            </a:r>
            <a:r>
              <a:rPr lang="en-US" altLang="zh-CN" sz="2400" b="1" baseline="-25000" dirty="0">
                <a:solidFill>
                  <a:schemeClr val="bg2"/>
                </a:solidFill>
                <a:latin typeface="Times New Roman" panose="02020603050405020304" pitchFamily="18" charset="0"/>
                <a:cs typeface="Times New Roman" panose="02020603050405020304" pitchFamily="18" charset="0"/>
                <a:sym typeface="+mn-ea"/>
              </a:rPr>
              <a:t>1 </a:t>
            </a:r>
            <a:r>
              <a:rPr lang="en-US" altLang="zh-CN" sz="2400" b="1" dirty="0">
                <a:solidFill>
                  <a:schemeClr val="bg2"/>
                </a:solidFill>
                <a:latin typeface="Times New Roman" panose="02020603050405020304" pitchFamily="18" charset="0"/>
                <a:cs typeface="Times New Roman" panose="02020603050405020304" pitchFamily="18" charset="0"/>
                <a:sym typeface="+mn-ea"/>
              </a:rPr>
              <a:t>+ 2</a:t>
            </a:r>
            <a:r>
              <a:rPr lang="en-US" altLang="zh-CN" sz="2400" b="1" i="1" dirty="0">
                <a:solidFill>
                  <a:schemeClr val="bg2"/>
                </a:solidFill>
                <a:latin typeface="Times New Roman" panose="02020603050405020304" pitchFamily="18" charset="0"/>
                <a:cs typeface="Times New Roman" panose="02020603050405020304" pitchFamily="18" charset="0"/>
                <a:sym typeface="+mn-ea"/>
              </a:rPr>
              <a:t>x</a:t>
            </a:r>
            <a:r>
              <a:rPr lang="en-US" altLang="zh-CN" sz="2400" b="1" baseline="-25000" dirty="0">
                <a:solidFill>
                  <a:schemeClr val="bg2"/>
                </a:solidFill>
                <a:latin typeface="Times New Roman" panose="02020603050405020304" pitchFamily="18" charset="0"/>
                <a:cs typeface="Times New Roman" panose="02020603050405020304" pitchFamily="18" charset="0"/>
                <a:sym typeface="+mn-ea"/>
              </a:rPr>
              <a:t>2</a:t>
            </a:r>
            <a:r>
              <a:rPr lang="en-US" altLang="zh-CN" sz="2400" b="1" dirty="0">
                <a:solidFill>
                  <a:schemeClr val="bg2"/>
                </a:solidFill>
                <a:latin typeface="Times New Roman" panose="02020603050405020304" pitchFamily="18" charset="0"/>
                <a:cs typeface="Times New Roman" panose="02020603050405020304" pitchFamily="18" charset="0"/>
                <a:sym typeface="+mn-ea"/>
              </a:rPr>
              <a:t> </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bg2"/>
                </a:solidFill>
                <a:latin typeface="Times New Roman" panose="02020603050405020304" pitchFamily="18" charset="0"/>
                <a:cs typeface="Times New Roman" panose="02020603050405020304" pitchFamily="18" charset="0"/>
                <a:sym typeface="+mn-ea"/>
              </a:rPr>
              <a:t> 4	</a:t>
            </a:r>
            <a:endParaRPr lang="en-US" altLang="zh-CN" sz="2400" b="1" dirty="0">
              <a:solidFill>
                <a:schemeClr val="bg2"/>
              </a:solidFill>
              <a:latin typeface="Times New Roman" panose="02020603050405020304" pitchFamily="18" charset="0"/>
              <a:cs typeface="Times New Roman" panose="02020603050405020304" pitchFamily="18" charset="0"/>
            </a:endParaRPr>
          </a:p>
          <a:p>
            <a:pPr algn="just" eaLnBrk="1" hangingPunct="1">
              <a:buNone/>
            </a:pPr>
            <a:r>
              <a:rPr lang="en-US" altLang="zh-CN" sz="2400" b="1" dirty="0">
                <a:solidFill>
                  <a:schemeClr val="bg2"/>
                </a:solidFill>
                <a:latin typeface="Times New Roman" panose="02020603050405020304" pitchFamily="18" charset="0"/>
                <a:cs typeface="Times New Roman" panose="02020603050405020304" pitchFamily="18" charset="0"/>
                <a:sym typeface="+mn-ea"/>
              </a:rPr>
              <a:t>	          </a:t>
            </a:r>
            <a:r>
              <a:rPr lang="en-US" altLang="zh-CN" sz="2400" b="1" i="1" dirty="0">
                <a:solidFill>
                  <a:schemeClr val="bg2"/>
                </a:solidFill>
                <a:latin typeface="Times New Roman" panose="02020603050405020304" pitchFamily="18" charset="0"/>
                <a:cs typeface="Times New Roman" panose="02020603050405020304" pitchFamily="18" charset="0"/>
                <a:sym typeface="+mn-ea"/>
              </a:rPr>
              <a:t>x</a:t>
            </a:r>
            <a:r>
              <a:rPr lang="en-US" altLang="zh-CN" sz="2400" b="1" baseline="-25000" dirty="0">
                <a:solidFill>
                  <a:schemeClr val="bg2"/>
                </a:solidFill>
                <a:latin typeface="Times New Roman" panose="02020603050405020304" pitchFamily="18" charset="0"/>
                <a:cs typeface="Times New Roman" panose="02020603050405020304" pitchFamily="18" charset="0"/>
                <a:sym typeface="+mn-ea"/>
              </a:rPr>
              <a:t>1  </a:t>
            </a:r>
            <a:r>
              <a:rPr lang="en-US" altLang="zh-CN" sz="2400" b="1" dirty="0">
                <a:solidFill>
                  <a:schemeClr val="bg2"/>
                </a:solidFill>
                <a:latin typeface="Times New Roman" panose="02020603050405020304" pitchFamily="18" charset="0"/>
                <a:cs typeface="Times New Roman" panose="02020603050405020304" pitchFamily="18" charset="0"/>
                <a:sym typeface="+mn-ea"/>
              </a:rPr>
              <a:t>- 2</a:t>
            </a:r>
            <a:r>
              <a:rPr lang="en-US" altLang="zh-CN" sz="2400" b="1" i="1" dirty="0">
                <a:solidFill>
                  <a:schemeClr val="bg2"/>
                </a:solidFill>
                <a:latin typeface="Times New Roman" panose="02020603050405020304" pitchFamily="18" charset="0"/>
                <a:cs typeface="Times New Roman" panose="02020603050405020304" pitchFamily="18" charset="0"/>
                <a:sym typeface="+mn-ea"/>
              </a:rPr>
              <a:t>x</a:t>
            </a:r>
            <a:r>
              <a:rPr lang="en-US" altLang="zh-CN" sz="2400" b="1" baseline="-25000" dirty="0">
                <a:solidFill>
                  <a:schemeClr val="bg2"/>
                </a:solidFill>
                <a:latin typeface="Times New Roman" panose="02020603050405020304" pitchFamily="18" charset="0"/>
                <a:cs typeface="Times New Roman" panose="02020603050405020304" pitchFamily="18" charset="0"/>
                <a:sym typeface="+mn-ea"/>
              </a:rPr>
              <a:t>2</a:t>
            </a:r>
            <a:r>
              <a:rPr lang="en-US" altLang="zh-CN" sz="2400" b="1" dirty="0">
                <a:solidFill>
                  <a:schemeClr val="bg2"/>
                </a:solidFill>
                <a:latin typeface="Times New Roman" panose="02020603050405020304" pitchFamily="18" charset="0"/>
                <a:cs typeface="Times New Roman" panose="02020603050405020304" pitchFamily="18" charset="0"/>
                <a:sym typeface="+mn-ea"/>
              </a:rPr>
              <a:t> </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bg2"/>
                </a:solidFill>
                <a:latin typeface="Times New Roman" panose="02020603050405020304" pitchFamily="18" charset="0"/>
                <a:cs typeface="Times New Roman" panose="02020603050405020304" pitchFamily="18" charset="0"/>
                <a:sym typeface="+mn-ea"/>
              </a:rPr>
              <a:t> 5</a:t>
            </a:r>
            <a:endParaRPr lang="en-US" altLang="zh-CN" sz="2400" b="1" dirty="0">
              <a:solidFill>
                <a:schemeClr val="bg2"/>
              </a:solidFill>
              <a:latin typeface="Times New Roman" panose="02020603050405020304" pitchFamily="18" charset="0"/>
              <a:cs typeface="Times New Roman" panose="02020603050405020304" pitchFamily="18" charset="0"/>
            </a:endParaRPr>
          </a:p>
          <a:p>
            <a:pPr algn="just" eaLnBrk="1" hangingPunct="1">
              <a:buNone/>
            </a:pPr>
            <a:r>
              <a:rPr lang="en-US" altLang="zh-CN" sz="2400" b="1" dirty="0">
                <a:solidFill>
                  <a:schemeClr val="bg2"/>
                </a:solidFill>
                <a:latin typeface="Times New Roman" panose="02020603050405020304" pitchFamily="18" charset="0"/>
                <a:cs typeface="Times New Roman" panose="02020603050405020304" pitchFamily="18" charset="0"/>
                <a:sym typeface="+mn-ea"/>
              </a:rPr>
              <a:t>	          </a:t>
            </a:r>
            <a:r>
              <a:rPr lang="en-US" altLang="zh-CN" sz="2400" b="1" i="1" dirty="0">
                <a:solidFill>
                  <a:schemeClr val="bg2"/>
                </a:solidFill>
                <a:latin typeface="Times New Roman" panose="02020603050405020304" pitchFamily="18" charset="0"/>
                <a:cs typeface="Times New Roman" panose="02020603050405020304" pitchFamily="18" charset="0"/>
                <a:sym typeface="+mn-ea"/>
              </a:rPr>
              <a:t>x</a:t>
            </a:r>
            <a:r>
              <a:rPr lang="en-US" altLang="zh-CN" sz="2400" b="1" baseline="-25000" dirty="0">
                <a:solidFill>
                  <a:schemeClr val="bg2"/>
                </a:solidFill>
                <a:latin typeface="Times New Roman" panose="02020603050405020304" pitchFamily="18" charset="0"/>
                <a:cs typeface="Times New Roman" panose="02020603050405020304" pitchFamily="18" charset="0"/>
                <a:sym typeface="+mn-ea"/>
              </a:rPr>
              <a:t>1</a:t>
            </a:r>
            <a:r>
              <a:rPr lang="en-US" altLang="zh-CN" sz="2400" b="1" dirty="0">
                <a:solidFill>
                  <a:schemeClr val="bg2"/>
                </a:solidFill>
                <a:latin typeface="Times New Roman" panose="02020603050405020304" pitchFamily="18" charset="0"/>
                <a:cs typeface="Times New Roman" panose="02020603050405020304" pitchFamily="18" charset="0"/>
                <a:sym typeface="+mn-ea"/>
              </a:rPr>
              <a:t>,    </a:t>
            </a:r>
            <a:r>
              <a:rPr lang="en-US" altLang="zh-CN" sz="2400" b="1" i="1" dirty="0">
                <a:solidFill>
                  <a:schemeClr val="bg2"/>
                </a:solidFill>
                <a:latin typeface="Times New Roman" panose="02020603050405020304" pitchFamily="18" charset="0"/>
                <a:cs typeface="Times New Roman" panose="02020603050405020304" pitchFamily="18" charset="0"/>
                <a:sym typeface="+mn-ea"/>
              </a:rPr>
              <a:t>x</a:t>
            </a:r>
            <a:r>
              <a:rPr lang="en-US" altLang="zh-CN" sz="2400" b="1" baseline="-25000" dirty="0">
                <a:solidFill>
                  <a:schemeClr val="bg2"/>
                </a:solidFill>
                <a:latin typeface="Times New Roman" panose="02020603050405020304" pitchFamily="18" charset="0"/>
                <a:cs typeface="Times New Roman" panose="02020603050405020304" pitchFamily="18" charset="0"/>
                <a:sym typeface="+mn-ea"/>
              </a:rPr>
              <a:t>2</a:t>
            </a:r>
            <a:r>
              <a:rPr lang="en-US" altLang="zh-CN" sz="2400" b="1" dirty="0">
                <a:solidFill>
                  <a:schemeClr val="bg2"/>
                </a:solidFill>
                <a:latin typeface="Times New Roman" panose="02020603050405020304" pitchFamily="18" charset="0"/>
                <a:cs typeface="Times New Roman" panose="02020603050405020304" pitchFamily="18" charset="0"/>
                <a:sym typeface="+mn-ea"/>
              </a:rPr>
              <a:t> </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bg2"/>
                </a:solidFill>
                <a:latin typeface="Times New Roman" panose="02020603050405020304" pitchFamily="18" charset="0"/>
                <a:cs typeface="Times New Roman" panose="02020603050405020304" pitchFamily="18" charset="0"/>
                <a:sym typeface="+mn-ea"/>
              </a:rPr>
              <a:t> 0</a:t>
            </a:r>
            <a:endParaRPr lang="en-US" altLang="zh-CN" sz="2400" b="1" dirty="0">
              <a:solidFill>
                <a:schemeClr val="bg2"/>
              </a:solidFill>
              <a:latin typeface="Times New Roman" panose="02020603050405020304" pitchFamily="18" charset="0"/>
              <a:cs typeface="Times New Roman" panose="02020603050405020304" pitchFamily="18" charset="0"/>
            </a:endParaRPr>
          </a:p>
          <a:p>
            <a:pPr algn="just" eaLnBrk="1" hangingPunct="1">
              <a:buNone/>
            </a:pPr>
            <a:endParaRPr lang="en-US" altLang="zh-CN" sz="2400" b="1" dirty="0">
              <a:solidFill>
                <a:schemeClr val="bg2"/>
              </a:solidFill>
              <a:latin typeface="Times New Roman" panose="02020603050405020304" pitchFamily="18" charset="0"/>
              <a:cs typeface="Times New Roman" panose="02020603050405020304" pitchFamily="18" charset="0"/>
            </a:endParaRPr>
          </a:p>
        </p:txBody>
      </p:sp>
      <p:sp>
        <p:nvSpPr>
          <p:cNvPr id="71705" name="Line 25"/>
          <p:cNvSpPr/>
          <p:nvPr/>
        </p:nvSpPr>
        <p:spPr>
          <a:xfrm flipV="1">
            <a:off x="507365" y="3599815"/>
            <a:ext cx="7037705" cy="2242185"/>
          </a:xfrm>
          <a:prstGeom prst="line">
            <a:avLst/>
          </a:prstGeom>
          <a:ln w="57150" cap="flat" cmpd="sng">
            <a:solidFill>
              <a:srgbClr val="FF6600"/>
            </a:solidFill>
            <a:prstDash val="solid"/>
            <a:headEnd type="none" w="med" len="med"/>
            <a:tailEnd type="none" w="med" len="med"/>
          </a:ln>
        </p:spPr>
      </p:sp>
      <p:sp>
        <p:nvSpPr>
          <p:cNvPr id="71702" name="Line 22"/>
          <p:cNvSpPr/>
          <p:nvPr/>
        </p:nvSpPr>
        <p:spPr>
          <a:xfrm>
            <a:off x="717550" y="2775585"/>
            <a:ext cx="5283835" cy="2702560"/>
          </a:xfrm>
          <a:prstGeom prst="line">
            <a:avLst/>
          </a:prstGeom>
          <a:ln w="57150" cap="flat" cmpd="sng">
            <a:solidFill>
              <a:srgbClr val="FF6600"/>
            </a:solidFill>
            <a:prstDash val="solid"/>
            <a:headEnd type="none" w="med" len="med"/>
            <a:tailEnd type="none" w="med" len="med"/>
          </a:ln>
        </p:spPr>
      </p:sp>
      <p:sp>
        <p:nvSpPr>
          <p:cNvPr id="2" name="AutoShape 27"/>
          <p:cNvSpPr/>
          <p:nvPr/>
        </p:nvSpPr>
        <p:spPr>
          <a:xfrm>
            <a:off x="6939280" y="4724400"/>
            <a:ext cx="1833563" cy="460374"/>
          </a:xfrm>
          <a:prstGeom prst="borderCallout2">
            <a:avLst>
              <a:gd name="adj1" fmla="val 21620"/>
              <a:gd name="adj2" fmla="val 104157"/>
              <a:gd name="adj3" fmla="val 21620"/>
              <a:gd name="adj4" fmla="val 112120"/>
              <a:gd name="adj5" fmla="val -185103"/>
              <a:gd name="adj6" fmla="val -6060"/>
            </a:avLst>
          </a:prstGeom>
          <a:noFill/>
          <a:ln w="9525" cap="flat" cmpd="sng">
            <a:solidFill>
              <a:srgbClr val="FF660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i="1" dirty="0">
                <a:solidFill>
                  <a:schemeClr val="bg2"/>
                </a:solidFill>
                <a:latin typeface="Times New Roman" panose="02020603050405020304" pitchFamily="18" charset="0"/>
              </a:rPr>
              <a:t>x</a:t>
            </a:r>
            <a:r>
              <a:rPr lang="en-US" altLang="zh-CN" sz="2400" baseline="-25000" dirty="0">
                <a:solidFill>
                  <a:schemeClr val="bg2"/>
                </a:solidFill>
                <a:latin typeface="Times New Roman" panose="02020603050405020304" pitchFamily="18" charset="0"/>
              </a:rPr>
              <a:t>1 </a:t>
            </a:r>
            <a:r>
              <a:rPr lang="en-US" altLang="zh-CN" sz="2400" dirty="0">
                <a:solidFill>
                  <a:schemeClr val="bg2"/>
                </a:solidFill>
                <a:latin typeface="Times New Roman" panose="02020603050405020304" pitchFamily="18" charset="0"/>
              </a:rPr>
              <a:t>- 2</a:t>
            </a:r>
            <a:r>
              <a:rPr lang="en-US" altLang="zh-CN" sz="2400" i="1" dirty="0">
                <a:solidFill>
                  <a:schemeClr val="bg2"/>
                </a:solidFill>
                <a:latin typeface="Times New Roman" panose="02020603050405020304" pitchFamily="18" charset="0"/>
              </a:rPr>
              <a:t>x</a:t>
            </a:r>
            <a:r>
              <a:rPr lang="en-US" altLang="zh-CN" sz="2400" baseline="-25000" dirty="0">
                <a:solidFill>
                  <a:schemeClr val="bg2"/>
                </a:solidFill>
                <a:latin typeface="Times New Roman" panose="02020603050405020304" pitchFamily="18" charset="0"/>
              </a:rPr>
              <a:t>2</a:t>
            </a:r>
            <a:r>
              <a:rPr lang="en-US" altLang="zh-CN" sz="2400" dirty="0">
                <a:solidFill>
                  <a:schemeClr val="bg2"/>
                </a:solidFill>
                <a:latin typeface="Times New Roman" panose="02020603050405020304" pitchFamily="18" charset="0"/>
              </a:rPr>
              <a:t> </a:t>
            </a:r>
            <a:r>
              <a:rPr lang="en-US" altLang="zh-CN" sz="2400" b="1" dirty="0">
                <a:solidFill>
                  <a:schemeClr val="bg2"/>
                </a:solidFill>
                <a:latin typeface="Times New Roman" panose="02020603050405020304" pitchFamily="18" charset="0"/>
                <a:sym typeface="Symbol" panose="05050102010706020507" pitchFamily="18" charset="2"/>
              </a:rPr>
              <a:t></a:t>
            </a:r>
            <a:r>
              <a:rPr lang="en-US" altLang="zh-CN" sz="2400" dirty="0">
                <a:solidFill>
                  <a:schemeClr val="bg2"/>
                </a:solidFill>
                <a:latin typeface="Times New Roman" panose="02020603050405020304" pitchFamily="18" charset="0"/>
              </a:rPr>
              <a:t> 5</a:t>
            </a:r>
          </a:p>
        </p:txBody>
      </p:sp>
      <p:sp>
        <p:nvSpPr>
          <p:cNvPr id="71706" name="AutoShape 26"/>
          <p:cNvSpPr/>
          <p:nvPr/>
        </p:nvSpPr>
        <p:spPr>
          <a:xfrm>
            <a:off x="2728913" y="2618423"/>
            <a:ext cx="1971675" cy="460374"/>
          </a:xfrm>
          <a:prstGeom prst="borderCallout2">
            <a:avLst>
              <a:gd name="adj1" fmla="val 21620"/>
              <a:gd name="adj2" fmla="val -3866"/>
              <a:gd name="adj3" fmla="val 21620"/>
              <a:gd name="adj4" fmla="val -11593"/>
              <a:gd name="adj5" fmla="val 176758"/>
              <a:gd name="adj6" fmla="val -35153"/>
            </a:avLst>
          </a:prstGeom>
          <a:noFill/>
          <a:ln w="9525" cap="flat" cmpd="sng">
            <a:solidFill>
              <a:srgbClr val="FF660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i="1" dirty="0">
                <a:solidFill>
                  <a:schemeClr val="bg2"/>
                </a:solidFill>
                <a:latin typeface="Times New Roman" panose="02020603050405020304" pitchFamily="18" charset="0"/>
              </a:rPr>
              <a:t>x</a:t>
            </a:r>
            <a:r>
              <a:rPr lang="en-US" altLang="zh-CN" sz="2400" baseline="-25000" dirty="0">
                <a:solidFill>
                  <a:schemeClr val="bg2"/>
                </a:solidFill>
                <a:latin typeface="Times New Roman" panose="02020603050405020304" pitchFamily="18" charset="0"/>
              </a:rPr>
              <a:t>1 </a:t>
            </a:r>
            <a:r>
              <a:rPr lang="en-US" altLang="zh-CN" sz="2400" dirty="0">
                <a:solidFill>
                  <a:schemeClr val="bg2"/>
                </a:solidFill>
                <a:latin typeface="Times New Roman" panose="02020603050405020304" pitchFamily="18" charset="0"/>
              </a:rPr>
              <a:t>+ 2</a:t>
            </a:r>
            <a:r>
              <a:rPr lang="en-US" altLang="zh-CN" sz="2400" i="1" dirty="0">
                <a:solidFill>
                  <a:schemeClr val="bg2"/>
                </a:solidFill>
                <a:latin typeface="Times New Roman" panose="02020603050405020304" pitchFamily="18" charset="0"/>
              </a:rPr>
              <a:t>x</a:t>
            </a:r>
            <a:r>
              <a:rPr lang="en-US" altLang="zh-CN" sz="2400" baseline="-25000" dirty="0">
                <a:solidFill>
                  <a:schemeClr val="bg2"/>
                </a:solidFill>
                <a:latin typeface="Times New Roman" panose="02020603050405020304" pitchFamily="18" charset="0"/>
              </a:rPr>
              <a:t>2</a:t>
            </a:r>
            <a:r>
              <a:rPr lang="en-US" altLang="zh-CN" sz="2400" dirty="0">
                <a:solidFill>
                  <a:schemeClr val="bg2"/>
                </a:solidFill>
                <a:latin typeface="Times New Roman" panose="02020603050405020304" pitchFamily="18" charset="0"/>
              </a:rPr>
              <a:t> </a:t>
            </a:r>
            <a:r>
              <a:rPr lang="en-US" altLang="zh-CN" sz="2400" b="1" dirty="0">
                <a:solidFill>
                  <a:schemeClr val="bg2"/>
                </a:solidFill>
                <a:latin typeface="Times New Roman" panose="02020603050405020304" pitchFamily="18" charset="0"/>
                <a:sym typeface="Symbol" panose="05050102010706020507" pitchFamily="18" charset="2"/>
              </a:rPr>
              <a:t></a:t>
            </a:r>
            <a:r>
              <a:rPr lang="en-US" altLang="zh-CN" sz="2400" dirty="0">
                <a:solidFill>
                  <a:schemeClr val="bg2"/>
                </a:solidFill>
                <a:latin typeface="Times New Roman" panose="02020603050405020304" pitchFamily="18" charset="0"/>
              </a:rPr>
              <a:t> 4</a:t>
            </a:r>
          </a:p>
        </p:txBody>
      </p:sp>
      <p:sp>
        <p:nvSpPr>
          <p:cNvPr id="71710" name="AutoShape 30"/>
          <p:cNvSpPr/>
          <p:nvPr/>
        </p:nvSpPr>
        <p:spPr>
          <a:xfrm rot="3825220">
            <a:off x="3223260" y="5114290"/>
            <a:ext cx="766445" cy="363855"/>
          </a:xfrm>
          <a:prstGeom prst="rightArrow">
            <a:avLst>
              <a:gd name="adj1" fmla="val 50000"/>
              <a:gd name="adj2" fmla="val 51746"/>
            </a:avLst>
          </a:prstGeom>
          <a:solidFill>
            <a:schemeClr val="accent1"/>
          </a:solidFill>
          <a:ln w="9525" cap="flat" cmpd="sng">
            <a:solidFill>
              <a:srgbClr val="FF66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6413" name="AutoShape 29"/>
          <p:cNvSpPr/>
          <p:nvPr/>
        </p:nvSpPr>
        <p:spPr>
          <a:xfrm>
            <a:off x="1250633" y="3767455"/>
            <a:ext cx="752475" cy="363538"/>
          </a:xfrm>
          <a:prstGeom prst="rightArrow">
            <a:avLst>
              <a:gd name="adj1" fmla="val 50000"/>
              <a:gd name="adj2" fmla="val 51746"/>
            </a:avLst>
          </a:prstGeom>
          <a:solidFill>
            <a:schemeClr val="accent1"/>
          </a:solidFill>
          <a:ln w="9525" cap="flat" cmpd="sng">
            <a:solidFill>
              <a:srgbClr val="FF66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6412" name="AutoShape 28"/>
          <p:cNvSpPr/>
          <p:nvPr/>
        </p:nvSpPr>
        <p:spPr>
          <a:xfrm>
            <a:off x="4252278" y="3599815"/>
            <a:ext cx="363537" cy="681038"/>
          </a:xfrm>
          <a:prstGeom prst="upArrow">
            <a:avLst>
              <a:gd name="adj1" fmla="val 50000"/>
              <a:gd name="adj2" fmla="val 46834"/>
            </a:avLst>
          </a:prstGeom>
          <a:solidFill>
            <a:schemeClr val="accent1"/>
          </a:solidFill>
          <a:ln w="9525" cap="flat" cmpd="sng">
            <a:solidFill>
              <a:srgbClr val="FF6600"/>
            </a:solidFill>
            <a:prstDash val="solid"/>
            <a:miter/>
            <a:headEnd type="none" w="med" len="med"/>
            <a:tailEnd type="none" w="med" len="med"/>
          </a:ln>
        </p:spPr>
        <p:txBody>
          <a:bodyPr vert="eaVert"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71711" name="AutoShape 31"/>
          <p:cNvSpPr/>
          <p:nvPr/>
        </p:nvSpPr>
        <p:spPr>
          <a:xfrm rot="7084835">
            <a:off x="2560320" y="4127818"/>
            <a:ext cx="752475" cy="363537"/>
          </a:xfrm>
          <a:prstGeom prst="rightArrow">
            <a:avLst>
              <a:gd name="adj1" fmla="val 45592"/>
              <a:gd name="adj2" fmla="val 54429"/>
            </a:avLst>
          </a:prstGeom>
          <a:solidFill>
            <a:schemeClr val="accent1"/>
          </a:solidFill>
          <a:ln w="9525" cap="flat" cmpd="sng">
            <a:solidFill>
              <a:srgbClr val="FF66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71705"/>
                                        </p:tgtEl>
                                        <p:attrNameLst>
                                          <p:attrName>style.visibility</p:attrName>
                                        </p:attrNameLst>
                                      </p:cBhvr>
                                      <p:to>
                                        <p:strVal val="visible"/>
                                      </p:to>
                                    </p:set>
                                    <p:animEffect transition="in" filter="wipe(left)">
                                      <p:cBhvr>
                                        <p:cTn id="10" dur="500"/>
                                        <p:tgtEl>
                                          <p:spTgt spid="7170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1706"/>
                                        </p:tgtEl>
                                        <p:attrNameLst>
                                          <p:attrName>style.visibility</p:attrName>
                                        </p:attrNameLst>
                                      </p:cBhvr>
                                      <p:to>
                                        <p:strVal val="visible"/>
                                      </p:to>
                                    </p:set>
                                    <p:animEffect transition="in" filter="wipe(left)">
                                      <p:cBhvr>
                                        <p:cTn id="15" dur="500"/>
                                        <p:tgtEl>
                                          <p:spTgt spid="71706"/>
                                        </p:tgtEl>
                                      </p:cBhvr>
                                    </p:animEffect>
                                  </p:childTnLst>
                                </p:cTn>
                              </p:par>
                              <p:par>
                                <p:cTn id="16" presetID="22" presetClass="entr" presetSubtype="8" fill="hold" nodeType="withEffect">
                                  <p:stCondLst>
                                    <p:cond delay="0"/>
                                  </p:stCondLst>
                                  <p:childTnLst>
                                    <p:set>
                                      <p:cBhvr>
                                        <p:cTn id="17" dur="1" fill="hold">
                                          <p:stCondLst>
                                            <p:cond delay="0"/>
                                          </p:stCondLst>
                                        </p:cTn>
                                        <p:tgtEl>
                                          <p:spTgt spid="71702"/>
                                        </p:tgtEl>
                                        <p:attrNameLst>
                                          <p:attrName>style.visibility</p:attrName>
                                        </p:attrNameLst>
                                      </p:cBhvr>
                                      <p:to>
                                        <p:strVal val="visible"/>
                                      </p:to>
                                    </p:set>
                                    <p:animEffect transition="in" filter="wipe(left)">
                                      <p:cBhvr>
                                        <p:cTn id="18" dur="500"/>
                                        <p:tgtEl>
                                          <p:spTgt spid="7170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1710"/>
                                        </p:tgtEl>
                                        <p:attrNameLst>
                                          <p:attrName>style.visibility</p:attrName>
                                        </p:attrNameLst>
                                      </p:cBhvr>
                                      <p:to>
                                        <p:strVal val="visible"/>
                                      </p:to>
                                    </p:set>
                                    <p:animEffect transition="in" filter="wipe(left)">
                                      <p:cBhvr>
                                        <p:cTn id="23" dur="500"/>
                                        <p:tgtEl>
                                          <p:spTgt spid="717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1711"/>
                                        </p:tgtEl>
                                        <p:attrNameLst>
                                          <p:attrName>style.visibility</p:attrName>
                                        </p:attrNameLst>
                                      </p:cBhvr>
                                      <p:to>
                                        <p:strVal val="visible"/>
                                      </p:to>
                                    </p:set>
                                    <p:animEffect transition="in" filter="wipe(left)">
                                      <p:cBhvr>
                                        <p:cTn id="28" dur="500"/>
                                        <p:tgtEl>
                                          <p:spTgt spid="717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6412"/>
                                        </p:tgtEl>
                                        <p:attrNameLst>
                                          <p:attrName>style.visibility</p:attrName>
                                        </p:attrNameLst>
                                      </p:cBhvr>
                                      <p:to>
                                        <p:strVal val="visible"/>
                                      </p:to>
                                    </p:set>
                                    <p:animEffect transition="in" filter="wipe(left)">
                                      <p:cBhvr>
                                        <p:cTn id="33" dur="500"/>
                                        <p:tgtEl>
                                          <p:spTgt spid="1641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6413"/>
                                        </p:tgtEl>
                                        <p:attrNameLst>
                                          <p:attrName>style.visibility</p:attrName>
                                        </p:attrNameLst>
                                      </p:cBhvr>
                                      <p:to>
                                        <p:strVal val="visible"/>
                                      </p:to>
                                    </p:set>
                                    <p:animEffect transition="in" filter="wipe(left)">
                                      <p:cBhvr>
                                        <p:cTn id="38" dur="500"/>
                                        <p:tgtEl>
                                          <p:spTgt spid="16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71706" grpId="0" bldLvl="0" animBg="1"/>
      <p:bldP spid="71710" grpId="0" bldLvl="0" animBg="1"/>
      <p:bldP spid="16413" grpId="0" animBg="1"/>
      <p:bldP spid="16413" grpId="1" animBg="1"/>
      <p:bldP spid="16412" grpId="0" animBg="1"/>
      <p:bldP spid="16412" grpId="1" animBg="1"/>
      <p:bldP spid="71711"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6.2 </a:t>
            </a:r>
            <a:r>
              <a:rPr kumimoji="0" lang="zh-CN" altLang="en-US" kern="1200" dirty="0" smtClean="0">
                <a:solidFill>
                  <a:schemeClr val="accent2"/>
                </a:solidFill>
                <a:sym typeface="+mn-ea"/>
              </a:rPr>
              <a:t>标准形</a:t>
            </a:r>
          </a:p>
        </p:txBody>
      </p:sp>
      <p:sp>
        <p:nvSpPr>
          <p:cNvPr id="10243" name="Rectangle 3"/>
          <p:cNvSpPr>
            <a:spLocks noGrp="1"/>
          </p:cNvSpPr>
          <p:nvPr>
            <p:ph idx="1"/>
          </p:nvPr>
        </p:nvSpPr>
        <p:spPr>
          <a:xfrm>
            <a:off x="506730" y="1637030"/>
            <a:ext cx="7772400" cy="594360"/>
          </a:xfrm>
        </p:spPr>
        <p:txBody>
          <a:bodyPr vert="horz" wrap="square" lIns="91440" tIns="45720" rIns="91440" bIns="45720" anchor="t"/>
          <a:lstStyle/>
          <a:p>
            <a:pPr eaLnBrk="1" hangingPunct="1">
              <a:lnSpc>
                <a:spcPct val="120000"/>
              </a:lnSpc>
              <a:spcBef>
                <a:spcPts val="20"/>
              </a:spcBef>
              <a:spcAft>
                <a:spcPts val="0"/>
              </a:spcAft>
              <a:buFont typeface="Wingdings" panose="05000000000000000000" charset="0"/>
              <a:buChar char="n"/>
            </a:pPr>
            <a:r>
              <a:rPr lang="zh-CN" altLang="en-US" sz="2400" b="0" dirty="0">
                <a:solidFill>
                  <a:schemeClr val="bg1"/>
                </a:solidFill>
              </a:rPr>
              <a:t>线性规划标准形的形式</a:t>
            </a:r>
          </a:p>
        </p:txBody>
      </p:sp>
      <p:sp>
        <p:nvSpPr>
          <p:cNvPr id="18436" name="Rectangle 7"/>
          <p:cNvSpPr/>
          <p:nvPr/>
        </p:nvSpPr>
        <p:spPr>
          <a:xfrm>
            <a:off x="300355" y="2231390"/>
            <a:ext cx="4728210" cy="370903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lnSpc>
                <a:spcPct val="120000"/>
              </a:lnSpc>
              <a:spcBef>
                <a:spcPts val="0"/>
              </a:spcBef>
              <a:spcAft>
                <a:spcPts val="0"/>
              </a:spcAft>
              <a:buClrTx/>
              <a:buSzTx/>
              <a:buFontTx/>
              <a:buNone/>
            </a:pPr>
            <a:r>
              <a:rPr lang="en-US" altLang="zh-CN" sz="2800" b="1" dirty="0">
                <a:solidFill>
                  <a:schemeClr val="bg2"/>
                </a:solidFill>
                <a:latin typeface="Times New Roman" panose="02020603050405020304" pitchFamily="18" charset="0"/>
                <a:cs typeface="Times New Roman" panose="02020603050405020304" pitchFamily="18" charset="0"/>
              </a:rPr>
              <a:t>min </a:t>
            </a:r>
            <a:r>
              <a:rPr lang="en-US" altLang="zh-CN" sz="2800" dirty="0">
                <a:solidFill>
                  <a:schemeClr val="bg2"/>
                </a:solidFill>
                <a:latin typeface="Times New Roman" panose="02020603050405020304" pitchFamily="18" charset="0"/>
                <a:cs typeface="Times New Roman" panose="02020603050405020304" pitchFamily="18" charset="0"/>
              </a:rPr>
              <a:t>  </a:t>
            </a:r>
            <a:r>
              <a:rPr lang="en-US" altLang="zh-CN" sz="2800" i="1" dirty="0">
                <a:solidFill>
                  <a:schemeClr val="bg2"/>
                </a:solidFill>
                <a:latin typeface="Times New Roman" panose="02020603050405020304" pitchFamily="18" charset="0"/>
                <a:cs typeface="Times New Roman" panose="02020603050405020304" pitchFamily="18" charset="0"/>
              </a:rPr>
              <a:t>z</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c</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c</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c</a:t>
            </a:r>
            <a:r>
              <a:rPr lang="en-US" altLang="zh-CN" sz="2800" i="1" baseline="-25000" dirty="0">
                <a:solidFill>
                  <a:schemeClr val="bg2"/>
                </a:solidFill>
                <a:latin typeface="Times New Roman" panose="02020603050405020304" pitchFamily="18" charset="0"/>
                <a:cs typeface="Times New Roman" panose="02020603050405020304" pitchFamily="18" charset="0"/>
              </a:rPr>
              <a:t>n</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i="1" baseline="-25000" dirty="0">
                <a:solidFill>
                  <a:schemeClr val="bg2"/>
                </a:solidFill>
                <a:latin typeface="Times New Roman" panose="02020603050405020304" pitchFamily="18" charset="0"/>
                <a:cs typeface="Times New Roman" panose="02020603050405020304" pitchFamily="18" charset="0"/>
              </a:rPr>
              <a:t>n</a:t>
            </a:r>
            <a:endParaRPr lang="en-US" altLang="zh-CN" sz="2800" baseline="-25000" dirty="0">
              <a:solidFill>
                <a:schemeClr val="bg2"/>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ts val="0"/>
              </a:spcBef>
              <a:spcAft>
                <a:spcPts val="0"/>
              </a:spcAft>
              <a:buClrTx/>
              <a:buSzTx/>
              <a:buFontTx/>
              <a:buNone/>
            </a:pPr>
            <a:r>
              <a:rPr lang="en-US" altLang="zh-CN" sz="2800" dirty="0">
                <a:solidFill>
                  <a:schemeClr val="bg2"/>
                </a:solidFill>
                <a:latin typeface="Times New Roman" panose="02020603050405020304" pitchFamily="18" charset="0"/>
                <a:cs typeface="Times New Roman" panose="02020603050405020304" pitchFamily="18" charset="0"/>
              </a:rPr>
              <a:t>s.t.   </a:t>
            </a:r>
            <a:r>
              <a:rPr lang="en-US" altLang="zh-CN" sz="2800" i="1" dirty="0">
                <a:solidFill>
                  <a:schemeClr val="bg2"/>
                </a:solidFill>
                <a:latin typeface="Times New Roman" panose="02020603050405020304" pitchFamily="18" charset="0"/>
                <a:cs typeface="Times New Roman" panose="02020603050405020304" pitchFamily="18" charset="0"/>
              </a:rPr>
              <a:t>a</a:t>
            </a:r>
            <a:r>
              <a:rPr lang="en-US" altLang="zh-CN" sz="2800" baseline="-25000" dirty="0">
                <a:solidFill>
                  <a:schemeClr val="bg2"/>
                </a:solidFill>
                <a:latin typeface="Times New Roman" panose="02020603050405020304" pitchFamily="18" charset="0"/>
                <a:cs typeface="Times New Roman" panose="02020603050405020304" pitchFamily="18" charset="0"/>
              </a:rPr>
              <a:t>11</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a</a:t>
            </a:r>
            <a:r>
              <a:rPr lang="en-US" altLang="zh-CN" sz="2800" baseline="-25000" dirty="0">
                <a:solidFill>
                  <a:schemeClr val="bg2"/>
                </a:solidFill>
                <a:latin typeface="Times New Roman" panose="02020603050405020304" pitchFamily="18" charset="0"/>
                <a:cs typeface="Times New Roman" panose="02020603050405020304" pitchFamily="18" charset="0"/>
              </a:rPr>
              <a:t>12</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a</a:t>
            </a:r>
            <a:r>
              <a:rPr lang="en-US" altLang="zh-CN" sz="2800" baseline="-25000" dirty="0">
                <a:solidFill>
                  <a:schemeClr val="bg2"/>
                </a:solidFill>
                <a:latin typeface="Times New Roman" panose="02020603050405020304" pitchFamily="18" charset="0"/>
                <a:cs typeface="Times New Roman" panose="02020603050405020304" pitchFamily="18" charset="0"/>
              </a:rPr>
              <a:t>1n</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i="1" baseline="-25000" dirty="0">
                <a:solidFill>
                  <a:schemeClr val="bg2"/>
                </a:solidFill>
                <a:latin typeface="Times New Roman" panose="02020603050405020304" pitchFamily="18" charset="0"/>
                <a:cs typeface="Times New Roman" panose="02020603050405020304" pitchFamily="18" charset="0"/>
              </a:rPr>
              <a:t>n</a:t>
            </a:r>
            <a:r>
              <a:rPr lang="en-US" altLang="zh-CN" sz="2800" baseline="-25000" dirty="0">
                <a:solidFill>
                  <a:schemeClr val="bg2"/>
                </a:solidFill>
                <a:latin typeface="Times New Roman" panose="02020603050405020304" pitchFamily="18" charset="0"/>
                <a:cs typeface="Times New Roman" panose="02020603050405020304" pitchFamily="18" charset="0"/>
              </a:rPr>
              <a:t>   </a:t>
            </a:r>
            <a:r>
              <a:rPr lang="en-US" altLang="zh-CN" sz="2800" b="1" dirty="0">
                <a:solidFill>
                  <a:srgbClr val="FF0000"/>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b</a:t>
            </a:r>
            <a:r>
              <a:rPr lang="en-US" altLang="zh-CN" sz="2800" baseline="-25000" dirty="0">
                <a:solidFill>
                  <a:schemeClr val="bg2"/>
                </a:solidFill>
                <a:latin typeface="Times New Roman" panose="02020603050405020304" pitchFamily="18" charset="0"/>
                <a:cs typeface="Times New Roman" panose="02020603050405020304" pitchFamily="18" charset="0"/>
              </a:rPr>
              <a:t>1</a:t>
            </a:r>
            <a:endParaRPr lang="en-US" altLang="zh-CN" sz="2800" dirty="0">
              <a:solidFill>
                <a:schemeClr val="bg2"/>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ts val="0"/>
              </a:spcBef>
              <a:spcAft>
                <a:spcPts val="0"/>
              </a:spcAft>
              <a:buClrTx/>
              <a:buSzTx/>
              <a:buFontTx/>
              <a:buNone/>
            </a:pPr>
            <a:r>
              <a:rPr lang="en-US" altLang="zh-CN" sz="2800" dirty="0">
                <a:solidFill>
                  <a:schemeClr val="bg2"/>
                </a:solidFill>
                <a:latin typeface="Times New Roman" panose="02020603050405020304" pitchFamily="18" charset="0"/>
                <a:cs typeface="Times New Roman" panose="02020603050405020304" pitchFamily="18" charset="0"/>
              </a:rPr>
              <a:t>        </a:t>
            </a:r>
            <a:r>
              <a:rPr lang="en-US" altLang="zh-CN" sz="2800" i="1" dirty="0">
                <a:solidFill>
                  <a:schemeClr val="bg2"/>
                </a:solidFill>
                <a:latin typeface="Times New Roman" panose="02020603050405020304" pitchFamily="18" charset="0"/>
                <a:cs typeface="Times New Roman" panose="02020603050405020304" pitchFamily="18" charset="0"/>
              </a:rPr>
              <a:t>a</a:t>
            </a:r>
            <a:r>
              <a:rPr lang="en-US" altLang="zh-CN" sz="2800" baseline="-25000" dirty="0">
                <a:solidFill>
                  <a:schemeClr val="bg2"/>
                </a:solidFill>
                <a:latin typeface="Times New Roman" panose="02020603050405020304" pitchFamily="18" charset="0"/>
                <a:cs typeface="Times New Roman" panose="02020603050405020304" pitchFamily="18" charset="0"/>
              </a:rPr>
              <a:t>21</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a</a:t>
            </a:r>
            <a:r>
              <a:rPr lang="en-US" altLang="zh-CN" sz="2800" baseline="-25000" dirty="0">
                <a:solidFill>
                  <a:schemeClr val="bg2"/>
                </a:solidFill>
                <a:latin typeface="Times New Roman" panose="02020603050405020304" pitchFamily="18" charset="0"/>
                <a:cs typeface="Times New Roman" panose="02020603050405020304" pitchFamily="18" charset="0"/>
              </a:rPr>
              <a:t>22</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a</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i="1" baseline="-25000" dirty="0">
                <a:solidFill>
                  <a:schemeClr val="bg2"/>
                </a:solidFill>
                <a:latin typeface="Times New Roman" panose="02020603050405020304" pitchFamily="18" charset="0"/>
                <a:cs typeface="Times New Roman" panose="02020603050405020304" pitchFamily="18" charset="0"/>
              </a:rPr>
              <a:t>n</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i="1" baseline="-25000" dirty="0">
                <a:solidFill>
                  <a:schemeClr val="bg2"/>
                </a:solidFill>
                <a:latin typeface="Times New Roman" panose="02020603050405020304" pitchFamily="18" charset="0"/>
                <a:cs typeface="Times New Roman" panose="02020603050405020304" pitchFamily="18" charset="0"/>
              </a:rPr>
              <a:t>n</a:t>
            </a:r>
            <a:r>
              <a:rPr lang="en-US" altLang="zh-CN" sz="2800" baseline="-25000" dirty="0">
                <a:solidFill>
                  <a:schemeClr val="bg2"/>
                </a:solidFill>
                <a:latin typeface="Times New Roman" panose="02020603050405020304" pitchFamily="18" charset="0"/>
                <a:cs typeface="Times New Roman" panose="02020603050405020304" pitchFamily="18" charset="0"/>
              </a:rPr>
              <a:t>   </a:t>
            </a:r>
            <a:r>
              <a:rPr lang="en-US" altLang="zh-CN" sz="2800" b="1" dirty="0">
                <a:solidFill>
                  <a:srgbClr val="FF0000"/>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b</a:t>
            </a:r>
            <a:r>
              <a:rPr lang="en-US" altLang="zh-CN" sz="2800" baseline="-25000" dirty="0">
                <a:solidFill>
                  <a:schemeClr val="bg2"/>
                </a:solidFill>
                <a:latin typeface="Times New Roman" panose="02020603050405020304" pitchFamily="18" charset="0"/>
                <a:cs typeface="Times New Roman" panose="02020603050405020304" pitchFamily="18" charset="0"/>
              </a:rPr>
              <a:t>2</a:t>
            </a:r>
          </a:p>
          <a:p>
            <a:pPr marL="0" lvl="0" indent="0" eaLnBrk="1" hangingPunct="1">
              <a:lnSpc>
                <a:spcPct val="120000"/>
              </a:lnSpc>
              <a:spcBef>
                <a:spcPts val="0"/>
              </a:spcBef>
              <a:spcAft>
                <a:spcPts val="0"/>
              </a:spcAft>
              <a:buClrTx/>
              <a:buSzTx/>
              <a:buFontTx/>
              <a:buNone/>
            </a:pPr>
            <a:r>
              <a:rPr lang="en-US" altLang="zh-CN" sz="2800" baseline="-25000" dirty="0">
                <a:solidFill>
                  <a:schemeClr val="bg2"/>
                </a:solidFill>
                <a:latin typeface="Times New Roman" panose="02020603050405020304" pitchFamily="18" charset="0"/>
                <a:cs typeface="Times New Roman" panose="02020603050405020304" pitchFamily="18" charset="0"/>
              </a:rPr>
              <a:t>              </a:t>
            </a:r>
            <a:r>
              <a:rPr lang="en-US" altLang="zh-CN" sz="2800" dirty="0">
                <a:solidFill>
                  <a:schemeClr val="bg2"/>
                </a:solidFill>
                <a:latin typeface="Times New Roman" panose="02020603050405020304" pitchFamily="18" charset="0"/>
                <a:cs typeface="Times New Roman" panose="02020603050405020304" pitchFamily="18" charset="0"/>
              </a:rPr>
              <a:t>………………….</a:t>
            </a:r>
          </a:p>
          <a:p>
            <a:pPr marL="0" lvl="0" indent="0" eaLnBrk="1" hangingPunct="1">
              <a:lnSpc>
                <a:spcPct val="120000"/>
              </a:lnSpc>
              <a:spcBef>
                <a:spcPts val="0"/>
              </a:spcBef>
              <a:spcAft>
                <a:spcPts val="0"/>
              </a:spcAft>
              <a:buClrTx/>
              <a:buSzTx/>
              <a:buFontTx/>
              <a:buNone/>
            </a:pPr>
            <a:r>
              <a:rPr lang="en-US" altLang="zh-CN" sz="2800" dirty="0">
                <a:solidFill>
                  <a:schemeClr val="bg2"/>
                </a:solidFill>
                <a:latin typeface="Times New Roman" panose="02020603050405020304" pitchFamily="18" charset="0"/>
                <a:cs typeface="Times New Roman" panose="02020603050405020304" pitchFamily="18" charset="0"/>
              </a:rPr>
              <a:t>        </a:t>
            </a:r>
            <a:r>
              <a:rPr lang="en-US" altLang="zh-CN" sz="2800" i="1" dirty="0">
                <a:solidFill>
                  <a:schemeClr val="bg2"/>
                </a:solidFill>
                <a:latin typeface="Times New Roman" panose="02020603050405020304" pitchFamily="18" charset="0"/>
                <a:cs typeface="Times New Roman" panose="02020603050405020304" pitchFamily="18" charset="0"/>
              </a:rPr>
              <a:t>a</a:t>
            </a:r>
            <a:r>
              <a:rPr lang="en-US" altLang="zh-CN" sz="2800" i="1" baseline="-25000" dirty="0">
                <a:solidFill>
                  <a:schemeClr val="bg2"/>
                </a:solidFill>
                <a:latin typeface="Times New Roman" panose="02020603050405020304" pitchFamily="18" charset="0"/>
                <a:cs typeface="Times New Roman" panose="02020603050405020304" pitchFamily="18" charset="0"/>
              </a:rPr>
              <a:t>m</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a</a:t>
            </a:r>
            <a:r>
              <a:rPr lang="en-US" altLang="zh-CN" sz="2800" i="1" baseline="-25000" dirty="0">
                <a:solidFill>
                  <a:schemeClr val="bg2"/>
                </a:solidFill>
                <a:latin typeface="Times New Roman" panose="02020603050405020304" pitchFamily="18" charset="0"/>
                <a:cs typeface="Times New Roman" panose="02020603050405020304" pitchFamily="18" charset="0"/>
              </a:rPr>
              <a:t>m</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a</a:t>
            </a:r>
            <a:r>
              <a:rPr lang="en-US" altLang="zh-CN" sz="2800" i="1" baseline="-25000" dirty="0">
                <a:solidFill>
                  <a:schemeClr val="bg2"/>
                </a:solidFill>
                <a:latin typeface="Times New Roman" panose="02020603050405020304" pitchFamily="18" charset="0"/>
                <a:cs typeface="Times New Roman" panose="02020603050405020304" pitchFamily="18" charset="0"/>
              </a:rPr>
              <a:t>mn</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i="1" baseline="-25000" dirty="0">
                <a:solidFill>
                  <a:schemeClr val="bg2"/>
                </a:solidFill>
                <a:latin typeface="Times New Roman" panose="02020603050405020304" pitchFamily="18" charset="0"/>
                <a:cs typeface="Times New Roman" panose="02020603050405020304" pitchFamily="18" charset="0"/>
              </a:rPr>
              <a:t>n</a:t>
            </a:r>
            <a:r>
              <a:rPr lang="en-US" altLang="zh-CN" sz="2800" b="1" dirty="0">
                <a:solidFill>
                  <a:srgbClr val="FF0000"/>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b</a:t>
            </a:r>
            <a:r>
              <a:rPr lang="en-US" altLang="zh-CN" sz="2800" i="1" baseline="-25000" dirty="0">
                <a:solidFill>
                  <a:schemeClr val="bg2"/>
                </a:solidFill>
                <a:latin typeface="Times New Roman" panose="02020603050405020304" pitchFamily="18" charset="0"/>
                <a:cs typeface="Times New Roman" panose="02020603050405020304" pitchFamily="18" charset="0"/>
              </a:rPr>
              <a:t>m</a:t>
            </a:r>
            <a:endParaRPr lang="en-US" altLang="zh-CN" sz="2800" baseline="-25000" dirty="0">
              <a:solidFill>
                <a:schemeClr val="bg2"/>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ts val="0"/>
              </a:spcBef>
              <a:spcAft>
                <a:spcPts val="0"/>
              </a:spcAft>
              <a:buClrTx/>
              <a:buSzTx/>
              <a:buFontTx/>
              <a:buNone/>
            </a:pPr>
            <a:r>
              <a:rPr lang="en-US" altLang="zh-CN" sz="2800" dirty="0">
                <a:solidFill>
                  <a:schemeClr val="bg2"/>
                </a:solidFill>
                <a:latin typeface="Times New Roman" panose="02020603050405020304" pitchFamily="18" charset="0"/>
                <a:cs typeface="Times New Roman" panose="02020603050405020304" pitchFamily="18" charset="0"/>
              </a:rPr>
              <a:t>       </a:t>
            </a:r>
            <a:r>
              <a:rPr lang="en-US" altLang="zh-CN" sz="2800" b="1" dirty="0">
                <a:solidFill>
                  <a:srgbClr val="FF0000"/>
                </a:solidFill>
                <a:latin typeface="Times New Roman" panose="02020603050405020304" pitchFamily="18" charset="0"/>
                <a:cs typeface="Times New Roman" panose="02020603050405020304" pitchFamily="18" charset="0"/>
              </a:rPr>
              <a:t> </a:t>
            </a:r>
            <a:r>
              <a:rPr lang="en-US" altLang="zh-CN" sz="2800" b="1" i="1" dirty="0">
                <a:solidFill>
                  <a:srgbClr val="FF0000"/>
                </a:solidFill>
                <a:latin typeface="Times New Roman" panose="02020603050405020304" pitchFamily="18" charset="0"/>
                <a:cs typeface="Times New Roman" panose="02020603050405020304" pitchFamily="18" charset="0"/>
              </a:rPr>
              <a:t>x</a:t>
            </a:r>
            <a:r>
              <a:rPr lang="en-US" altLang="zh-CN" sz="2800" b="1" baseline="-25000" dirty="0">
                <a:solidFill>
                  <a:srgbClr val="FF0000"/>
                </a:solidFill>
                <a:latin typeface="Times New Roman" panose="02020603050405020304" pitchFamily="18" charset="0"/>
                <a:cs typeface="Times New Roman" panose="02020603050405020304" pitchFamily="18" charset="0"/>
              </a:rPr>
              <a:t>1,</a:t>
            </a:r>
            <a:r>
              <a:rPr lang="en-US" altLang="zh-CN" sz="2800" b="1" i="1" dirty="0">
                <a:solidFill>
                  <a:srgbClr val="FF0000"/>
                </a:solidFill>
                <a:latin typeface="Times New Roman" panose="02020603050405020304" pitchFamily="18" charset="0"/>
                <a:cs typeface="Times New Roman" panose="02020603050405020304" pitchFamily="18" charset="0"/>
              </a:rPr>
              <a:t>x</a:t>
            </a:r>
            <a:r>
              <a:rPr lang="en-US" altLang="zh-CN" sz="2800" b="1" baseline="-25000" dirty="0">
                <a:solidFill>
                  <a:srgbClr val="FF0000"/>
                </a:solidFill>
                <a:latin typeface="Times New Roman" panose="02020603050405020304" pitchFamily="18" charset="0"/>
                <a:cs typeface="Times New Roman" panose="02020603050405020304" pitchFamily="18" charset="0"/>
              </a:rPr>
              <a:t>2</a:t>
            </a:r>
            <a:r>
              <a:rPr lang="en-US" altLang="zh-CN" sz="2800" b="1" dirty="0">
                <a:solidFill>
                  <a:srgbClr val="FF0000"/>
                </a:solidFill>
                <a:latin typeface="Times New Roman" panose="02020603050405020304" pitchFamily="18" charset="0"/>
                <a:cs typeface="Times New Roman" panose="02020603050405020304" pitchFamily="18" charset="0"/>
              </a:rPr>
              <a:t>….</a:t>
            </a:r>
            <a:r>
              <a:rPr lang="en-US" altLang="zh-CN" sz="2800" b="1" i="1" dirty="0">
                <a:solidFill>
                  <a:srgbClr val="FF0000"/>
                </a:solidFill>
                <a:latin typeface="Times New Roman" panose="02020603050405020304" pitchFamily="18" charset="0"/>
                <a:cs typeface="Times New Roman" panose="02020603050405020304" pitchFamily="18" charset="0"/>
              </a:rPr>
              <a:t>x</a:t>
            </a:r>
            <a:r>
              <a:rPr lang="en-US" altLang="zh-CN" sz="2800" b="1" i="1" baseline="-25000" dirty="0">
                <a:solidFill>
                  <a:srgbClr val="FF0000"/>
                </a:solidFill>
                <a:latin typeface="Times New Roman" panose="02020603050405020304" pitchFamily="18" charset="0"/>
                <a:cs typeface="Times New Roman" panose="02020603050405020304" pitchFamily="18" charset="0"/>
              </a:rPr>
              <a:t>n</a:t>
            </a:r>
            <a:r>
              <a:rPr lang="en-US" altLang="zh-CN" sz="2800" b="1" baseline="-25000" dirty="0">
                <a:solidFill>
                  <a:srgbClr val="FF0000"/>
                </a:solidFill>
                <a:latin typeface="Times New Roman" panose="02020603050405020304" pitchFamily="18" charset="0"/>
                <a:cs typeface="Times New Roman" panose="02020603050405020304" pitchFamily="18" charset="0"/>
              </a:rPr>
              <a:t> </a:t>
            </a:r>
            <a:r>
              <a:rPr lang="en-US" altLang="zh-CN" sz="28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solidFill>
                  <a:srgbClr val="FF0000"/>
                </a:solidFill>
                <a:latin typeface="Times New Roman" panose="02020603050405020304" pitchFamily="18" charset="0"/>
                <a:cs typeface="Times New Roman" panose="02020603050405020304" pitchFamily="18" charset="0"/>
              </a:rPr>
              <a:t> 0</a:t>
            </a:r>
          </a:p>
          <a:p>
            <a:pPr marL="0" lvl="0" indent="0" eaLnBrk="1" hangingPunct="1">
              <a:lnSpc>
                <a:spcPct val="120000"/>
              </a:lnSpc>
              <a:spcBef>
                <a:spcPts val="0"/>
              </a:spcBef>
              <a:spcAft>
                <a:spcPts val="0"/>
              </a:spcAft>
              <a:buClrTx/>
              <a:buSzTx/>
              <a:buFontTx/>
              <a:buNone/>
            </a:pPr>
            <a:r>
              <a:rPr lang="zh-CN" altLang="en-US" sz="2800" dirty="0">
                <a:solidFill>
                  <a:schemeClr val="bg2"/>
                </a:solidFill>
                <a:latin typeface="Times New Roman" panose="02020603050405020304" pitchFamily="18" charset="0"/>
                <a:cs typeface="Times New Roman" panose="02020603050405020304" pitchFamily="18" charset="0"/>
              </a:rPr>
              <a:t>其中：</a:t>
            </a:r>
            <a:r>
              <a:rPr lang="en-US" altLang="zh-CN" sz="2800" b="1" i="1" dirty="0">
                <a:solidFill>
                  <a:srgbClr val="FF0000"/>
                </a:solidFill>
                <a:latin typeface="Times New Roman" panose="02020603050405020304" pitchFamily="18" charset="0"/>
                <a:cs typeface="Times New Roman" panose="02020603050405020304" pitchFamily="18" charset="0"/>
              </a:rPr>
              <a:t>b</a:t>
            </a:r>
            <a:r>
              <a:rPr lang="en-US" altLang="zh-CN" sz="2800" b="1" baseline="-25000" dirty="0">
                <a:solidFill>
                  <a:srgbClr val="FF0000"/>
                </a:solidFill>
                <a:latin typeface="Times New Roman" panose="02020603050405020304" pitchFamily="18" charset="0"/>
                <a:cs typeface="Times New Roman" panose="02020603050405020304" pitchFamily="18" charset="0"/>
              </a:rPr>
              <a:t>i </a:t>
            </a:r>
            <a:r>
              <a:rPr lang="en-US" altLang="zh-CN" sz="28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solidFill>
                  <a:srgbClr val="FF0000"/>
                </a:solidFill>
                <a:latin typeface="Times New Roman" panose="02020603050405020304" pitchFamily="18" charset="0"/>
                <a:cs typeface="Times New Roman" panose="02020603050405020304" pitchFamily="18" charset="0"/>
              </a:rPr>
              <a:t> 0</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i</a:t>
            </a:r>
            <a:r>
              <a:rPr lang="en-US" altLang="zh-CN" sz="2800" dirty="0">
                <a:solidFill>
                  <a:schemeClr val="bg2"/>
                </a:solidFill>
                <a:latin typeface="Times New Roman" panose="02020603050405020304" pitchFamily="18" charset="0"/>
                <a:cs typeface="Times New Roman" panose="02020603050405020304" pitchFamily="18" charset="0"/>
              </a:rPr>
              <a:t>=1,2,….</a:t>
            </a:r>
            <a:r>
              <a:rPr lang="en-US" altLang="zh-CN" sz="2800" i="1" dirty="0">
                <a:solidFill>
                  <a:schemeClr val="bg2"/>
                </a:solidFill>
                <a:latin typeface="Times New Roman" panose="02020603050405020304" pitchFamily="18" charset="0"/>
                <a:cs typeface="Times New Roman" panose="02020603050405020304" pitchFamily="18" charset="0"/>
              </a:rPr>
              <a:t>m</a:t>
            </a:r>
            <a:r>
              <a:rPr lang="en-US" altLang="zh-CN" sz="2800" dirty="0">
                <a:solidFill>
                  <a:schemeClr val="bg2"/>
                </a:solidFill>
                <a:latin typeface="Times New Roman" panose="02020603050405020304" pitchFamily="18" charset="0"/>
                <a:cs typeface="Times New Roman" panose="02020603050405020304" pitchFamily="18" charset="0"/>
              </a:rPr>
              <a:t>)</a:t>
            </a:r>
          </a:p>
        </p:txBody>
      </p:sp>
      <p:sp>
        <p:nvSpPr>
          <p:cNvPr id="18435" name="Text Box 5"/>
          <p:cNvSpPr txBox="1"/>
          <p:nvPr/>
        </p:nvSpPr>
        <p:spPr>
          <a:xfrm>
            <a:off x="5140325" y="2068195"/>
            <a:ext cx="3138805" cy="3599815"/>
          </a:xfrm>
          <a:prstGeom prst="rect">
            <a:avLst/>
          </a:prstGeom>
          <a:solidFill>
            <a:schemeClr val="tx1"/>
          </a:solidFill>
          <a:ln w="12700">
            <a:noFill/>
          </a:ln>
        </p:spPr>
        <p:txBody>
          <a:bodyPr wrap="squar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457200" lvl="0" indent="-457200" eaLnBrk="1" hangingPunct="1">
              <a:spcBef>
                <a:spcPct val="50000"/>
              </a:spcBef>
              <a:buClrTx/>
              <a:buSzTx/>
              <a:buAutoNum type="arabicPeriod"/>
            </a:pPr>
            <a:r>
              <a:rPr lang="zh-CN" altLang="en-US" sz="2400" dirty="0">
                <a:solidFill>
                  <a:schemeClr val="bg2"/>
                </a:solidFill>
                <a:latin typeface="Times New Roman" panose="02020603050405020304" pitchFamily="18" charset="0"/>
              </a:rPr>
              <a:t>目标函数为极小化（约定）；</a:t>
            </a:r>
          </a:p>
          <a:p>
            <a:pPr marL="457200" lvl="0" indent="-457200" eaLnBrk="1" hangingPunct="1">
              <a:spcBef>
                <a:spcPct val="50000"/>
              </a:spcBef>
              <a:buClrTx/>
              <a:buSzTx/>
              <a:buAutoNum type="arabicPeriod"/>
            </a:pPr>
            <a:r>
              <a:rPr lang="zh-CN" altLang="en-US" sz="2400" dirty="0">
                <a:solidFill>
                  <a:schemeClr val="bg2"/>
                </a:solidFill>
                <a:latin typeface="Times New Roman" panose="02020603050405020304" pitchFamily="18" charset="0"/>
              </a:rPr>
              <a:t>所有决策变量限于取非负值；</a:t>
            </a:r>
          </a:p>
          <a:p>
            <a:pPr marL="457200" lvl="0" indent="-457200" eaLnBrk="1" hangingPunct="1">
              <a:spcBef>
                <a:spcPct val="50000"/>
              </a:spcBef>
              <a:buClrTx/>
              <a:buSzTx/>
              <a:buAutoNum type="arabicPeriod"/>
            </a:pPr>
            <a:r>
              <a:rPr lang="zh-CN" altLang="en-US" sz="2400" dirty="0">
                <a:solidFill>
                  <a:schemeClr val="bg2"/>
                </a:solidFill>
                <a:latin typeface="Times New Roman" panose="02020603050405020304" pitchFamily="18" charset="0"/>
              </a:rPr>
              <a:t>约束条件均由等式表示；</a:t>
            </a:r>
          </a:p>
          <a:p>
            <a:pPr marL="457200" lvl="0" indent="-457200" eaLnBrk="1" hangingPunct="1">
              <a:spcBef>
                <a:spcPct val="50000"/>
              </a:spcBef>
              <a:buClrTx/>
              <a:buSzTx/>
              <a:buAutoNum type="arabicPeriod"/>
            </a:pPr>
            <a:r>
              <a:rPr lang="zh-CN" altLang="en-US" sz="2400" dirty="0">
                <a:solidFill>
                  <a:schemeClr val="bg2"/>
                </a:solidFill>
                <a:latin typeface="Times New Roman" panose="02020603050405020304" pitchFamily="18" charset="0"/>
              </a:rPr>
              <a:t>每一约束等式的右端常数均为非负值。</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wipe(left)">
                                      <p:cBhvr>
                                        <p:cTn id="12" dur="500"/>
                                        <p:tgtEl>
                                          <p:spTgt spid="184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435">
                                            <p:txEl>
                                              <p:pRg st="2" end="2"/>
                                            </p:txEl>
                                          </p:spTgt>
                                        </p:tgtEl>
                                        <p:attrNameLst>
                                          <p:attrName>style.visibility</p:attrName>
                                        </p:attrNameLst>
                                      </p:cBhvr>
                                      <p:to>
                                        <p:strVal val="visible"/>
                                      </p:to>
                                    </p:set>
                                    <p:animEffect transition="in" filter="wipe(left)">
                                      <p:cBhvr>
                                        <p:cTn id="17" dur="500"/>
                                        <p:tgtEl>
                                          <p:spTgt spid="184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435">
                                            <p:txEl>
                                              <p:pRg st="3" end="3"/>
                                            </p:txEl>
                                          </p:spTgt>
                                        </p:tgtEl>
                                        <p:attrNameLst>
                                          <p:attrName>style.visibility</p:attrName>
                                        </p:attrNameLst>
                                      </p:cBhvr>
                                      <p:to>
                                        <p:strVal val="visible"/>
                                      </p:to>
                                    </p:set>
                                    <p:animEffect transition="in" filter="wipe(left)">
                                      <p:cBhvr>
                                        <p:cTn id="22" dur="500"/>
                                        <p:tgtEl>
                                          <p:spTgt spid="184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6.2 </a:t>
            </a:r>
            <a:r>
              <a:rPr kumimoji="0" lang="zh-CN" altLang="en-US" kern="1200" dirty="0" smtClean="0">
                <a:solidFill>
                  <a:schemeClr val="accent2"/>
                </a:solidFill>
                <a:sym typeface="+mn-ea"/>
              </a:rPr>
              <a:t>标准形</a:t>
            </a:r>
          </a:p>
        </p:txBody>
      </p:sp>
      <p:sp>
        <p:nvSpPr>
          <p:cNvPr id="10243" name="Rectangle 3"/>
          <p:cNvSpPr>
            <a:spLocks noGrp="1"/>
          </p:cNvSpPr>
          <p:nvPr>
            <p:ph idx="1"/>
          </p:nvPr>
        </p:nvSpPr>
        <p:spPr>
          <a:xfrm>
            <a:off x="506730" y="1637030"/>
            <a:ext cx="7772400" cy="594360"/>
          </a:xfrm>
        </p:spPr>
        <p:txBody>
          <a:bodyPr vert="horz" wrap="square" lIns="91440" tIns="45720" rIns="91440" bIns="45720" anchor="t"/>
          <a:lstStyle/>
          <a:p>
            <a:pPr lvl="1" eaLnBrk="1" hangingPunct="1">
              <a:lnSpc>
                <a:spcPct val="120000"/>
              </a:lnSpc>
              <a:spcBef>
                <a:spcPts val="20"/>
              </a:spcBef>
              <a:spcAft>
                <a:spcPts val="0"/>
              </a:spcAft>
              <a:buFont typeface="Arial" panose="020B0604020202020204" pitchFamily="34" charset="0"/>
              <a:buChar char="•"/>
            </a:pPr>
            <a:r>
              <a:rPr lang="zh-CN" altLang="en-US" sz="2400" b="0" dirty="0">
                <a:solidFill>
                  <a:schemeClr val="bg1"/>
                </a:solidFill>
              </a:rPr>
              <a:t>标准形的简写形式</a:t>
            </a:r>
          </a:p>
        </p:txBody>
      </p:sp>
      <p:pic>
        <p:nvPicPr>
          <p:cNvPr id="2" name="20 1"/>
          <p:cNvPicPr>
            <a:picLocks noChangeAspect="1"/>
          </p:cNvPicPr>
          <p:nvPr>
            <p:custDataLst>
              <p:tags r:id="rId1"/>
            </p:custDataLst>
          </p:nvPr>
        </p:nvPicPr>
        <p:blipFill>
          <a:blip r:embed="rId3"/>
          <a:stretch>
            <a:fillRect/>
          </a:stretch>
        </p:blipFill>
        <p:spPr>
          <a:xfrm>
            <a:off x="1741805" y="2535555"/>
            <a:ext cx="5634990" cy="3014980"/>
          </a:xfrm>
          <a:prstGeom prst="rect">
            <a:avLst/>
          </a:prstGeom>
        </p:spPr>
      </p:pic>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6.2 </a:t>
            </a:r>
            <a:r>
              <a:rPr kumimoji="0" lang="zh-CN" altLang="en-US" kern="1200" dirty="0" smtClean="0">
                <a:solidFill>
                  <a:schemeClr val="accent2"/>
                </a:solidFill>
                <a:sym typeface="+mn-ea"/>
              </a:rPr>
              <a:t>标准形</a:t>
            </a:r>
          </a:p>
        </p:txBody>
      </p:sp>
      <p:sp>
        <p:nvSpPr>
          <p:cNvPr id="10243" name="Rectangle 3"/>
          <p:cNvSpPr>
            <a:spLocks noGrp="1"/>
          </p:cNvSpPr>
          <p:nvPr>
            <p:ph idx="1"/>
          </p:nvPr>
        </p:nvSpPr>
        <p:spPr>
          <a:xfrm>
            <a:off x="506730" y="1637030"/>
            <a:ext cx="7772400" cy="423818"/>
          </a:xfrm>
        </p:spPr>
        <p:txBody>
          <a:bodyPr vert="horz" wrap="square" lIns="91440" tIns="45720" rIns="91440" bIns="45720" anchor="t"/>
          <a:lstStyle/>
          <a:p>
            <a:pPr lvl="1" eaLnBrk="1" hangingPunct="1">
              <a:lnSpc>
                <a:spcPct val="120000"/>
              </a:lnSpc>
              <a:spcBef>
                <a:spcPts val="20"/>
              </a:spcBef>
              <a:spcAft>
                <a:spcPts val="0"/>
              </a:spcAft>
              <a:buFont typeface="Arial" panose="020B0604020202020204" pitchFamily="34" charset="0"/>
              <a:buChar char="•"/>
            </a:pPr>
            <a:r>
              <a:rPr lang="zh-CN" altLang="en-US" sz="2400" dirty="0" smtClean="0">
                <a:solidFill>
                  <a:schemeClr val="bg1"/>
                </a:solidFill>
              </a:rPr>
              <a:t>动态规划模型转化成标准形的过程</a:t>
            </a:r>
            <a:endParaRPr lang="zh-CN" altLang="en-US" sz="2400" b="0" dirty="0">
              <a:solidFill>
                <a:schemeClr val="bg1"/>
              </a:solidFill>
            </a:endParaRPr>
          </a:p>
        </p:txBody>
      </p:sp>
      <p:sp>
        <p:nvSpPr>
          <p:cNvPr id="5" name="副标题 2"/>
          <p:cNvSpPr>
            <a:spLocks noGrp="1"/>
          </p:cNvSpPr>
          <p:nvPr/>
        </p:nvSpPr>
        <p:spPr>
          <a:xfrm>
            <a:off x="836295" y="2204864"/>
            <a:ext cx="7775575" cy="2013570"/>
          </a:xfrm>
          <a:prstGeom prst="rect">
            <a:avLst/>
          </a:prstGeom>
          <a:noFill/>
          <a:ln w="9525">
            <a:noFill/>
          </a:ln>
        </p:spPr>
        <p:txBody>
          <a:bodyPr vert="horz" wrap="square" lIns="91440" tIns="45720" rIns="91440" bIns="45720" numCol="1" anchor="t" anchorCtr="0" compatLnSpc="1"/>
          <a:lstStyle>
            <a:lvl1pPr marL="0" indent="0" algn="ctr" rtl="0" eaLnBrk="0" fontAlgn="base" hangingPunct="0">
              <a:spcBef>
                <a:spcPct val="20000"/>
              </a:spcBef>
              <a:spcAft>
                <a:spcPct val="0"/>
              </a:spcAft>
              <a:buFont typeface="Arial" panose="020B0604020202020204" pitchFamily="34"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(1) </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把</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max </a:t>
            </a:r>
            <a:r>
              <a:rPr kumimoji="0" lang="en-US" sz="2400" b="1" i="1"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z</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替换成</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min </a:t>
            </a:r>
            <a:r>
              <a:rPr kumimoji="0" lang="en-US" sz="2400" b="1" i="1"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z</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sz="2400" b="1" i="1"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z</a:t>
            </a:r>
            <a:r>
              <a:rPr kumimoji="0" lang="zh-CN" altLang="en-US" sz="2400" b="1"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即取</a:t>
            </a:r>
            <a:r>
              <a:rPr kumimoji="0" lang="en-US" altLang="zh-CN" sz="2400" b="1" i="1" u="none" strike="noStrike" kern="1200" cap="none" spc="0" normalizeH="0" baseline="0" noProof="0" dirty="0" err="1"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0" lang="en-US" altLang="zh-CN" sz="2400" b="1" i="1" u="none" strike="noStrike" kern="1200" cap="none" spc="0" normalizeH="0" baseline="-25000" noProof="0" dirty="0" err="1"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j</a:t>
            </a:r>
            <a:r>
              <a:rPr kumimoji="0" lang="en-US" altLang="zh-CN"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kumimoji="0" lang="en-US" altLang="zh-CN"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b="1" i="1" u="none" strike="noStrike" kern="1200" cap="none" spc="0" normalizeH="0" baseline="0" noProof="0" dirty="0" err="1"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0" lang="en-US" altLang="zh-CN" sz="2400" b="1" i="1" u="none" strike="noStrike" kern="1200" cap="none" spc="0" normalizeH="0" baseline="-25000" noProof="0" dirty="0" err="1"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j</a:t>
            </a:r>
            <a:r>
              <a:rPr lang="zh-CN" altLang="en-US" sz="2400" b="1" noProof="0" dirty="0" smtClean="0">
                <a:solidFill>
                  <a:schemeClr val="bg1"/>
                </a:solidFill>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(2) </a:t>
            </a:r>
            <a:r>
              <a:rPr kumimoji="0" lang="en-US" sz="2400" b="1" i="1"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en-US" sz="2400" b="1" i="1" u="none" strike="noStrike" kern="1200" cap="none" spc="0" normalizeH="0" baseline="-2500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&lt;0</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两边同时变号</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改变成</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改变成</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457200" marR="0" lvl="0" indent="-457200" algn="l" defTabSz="914400" rtl="0" eaLnBrk="0" fontAlgn="base" latinLnBrk="0" hangingPunct="0">
              <a:lnSpc>
                <a:spcPct val="150000"/>
              </a:lnSpc>
              <a:spcBef>
                <a:spcPct val="20000"/>
              </a:spcBef>
              <a:spcAft>
                <a:spcPct val="0"/>
              </a:spcAft>
              <a:buClrTx/>
              <a:buSzTx/>
              <a:buFont typeface="Arial" panose="020B0604020202020204" pitchFamily="34" charset="0"/>
              <a:buAutoNum type="arabicParenBoth" startAt="3"/>
              <a:defRPr/>
            </a:pP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引入松弛变量</a:t>
            </a:r>
            <a:r>
              <a:rPr kumimoji="0" lang="en-US" altLang="zh-CN" sz="2400" b="1" i="1"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400" b="1" i="1" u="none" strike="noStrike" kern="1200" cap="none" spc="0" normalizeH="0" baseline="-2500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0" lang="en-US" sz="2400" b="1" i="1" u="none" strike="noStrike" kern="1200" cap="none" spc="0" normalizeH="0" baseline="-2500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0  , </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替换成</a:t>
            </a:r>
            <a:endParaRPr kumimoji="0" lang="en-US" altLang="zh-CN"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R="0" lvl="0" algn="l" defTabSz="914400" rtl="0" eaLnBrk="0" fontAlgn="base" latinLnBrk="0" hangingPunct="0">
              <a:lnSpc>
                <a:spcPct val="150000"/>
              </a:lnSpc>
              <a:spcBef>
                <a:spcPct val="20000"/>
              </a:spcBef>
              <a:spcAft>
                <a:spcPct val="0"/>
              </a:spcAft>
              <a:buClrTx/>
              <a:buSzTx/>
              <a:defRPr/>
            </a:pPr>
            <a:endParaRPr lang="en-US" altLang="zh-CN" sz="24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a:p>
            <a:pPr marR="0" lvl="0" algn="l" defTabSz="914400" rtl="0" eaLnBrk="0" fontAlgn="base" latinLnBrk="0" hangingPunct="0">
              <a:lnSpc>
                <a:spcPct val="150000"/>
              </a:lnSpc>
              <a:spcBef>
                <a:spcPct val="20000"/>
              </a:spcBef>
              <a:spcAft>
                <a:spcPct val="0"/>
              </a:spcAft>
              <a:buClrTx/>
              <a:buSzTx/>
              <a:defRPr/>
            </a:pPr>
            <a:r>
              <a:rPr kumimoji="0" lang="en-US" altLang="zh-CN"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同时另</a:t>
            </a:r>
            <a:r>
              <a:rPr kumimoji="0" lang="en-US" altLang="zh-CN" sz="2400" b="1" i="1" u="none" strike="noStrike" kern="1200" cap="none" spc="0" normalizeH="0" baseline="0" noProof="0" dirty="0" err="1"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0" lang="en-US" altLang="zh-CN" sz="2400" b="1" i="1" u="none" strike="noStrike" kern="1200" cap="none" spc="0" normalizeH="0" baseline="-25000" noProof="0" dirty="0" err="1"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0" lang="en-US" altLang="zh-CN" sz="2400" b="1" i="0" u="none" strike="noStrike" kern="1200" cap="none" spc="0" normalizeH="0" baseline="-25000" noProof="0" dirty="0" err="1"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b="1" i="1" u="none" strike="noStrike" kern="1200" cap="none" spc="0" normalizeH="0" baseline="-25000" noProof="0" dirty="0" err="1"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p>
          <a:p>
            <a:pPr marR="0" lvl="0" algn="l" defTabSz="914400" rtl="0" eaLnBrk="0" fontAlgn="base" latinLnBrk="0" hangingPunct="0">
              <a:lnSpc>
                <a:spcPct val="150000"/>
              </a:lnSpc>
              <a:spcBef>
                <a:spcPct val="20000"/>
              </a:spcBef>
              <a:spcAft>
                <a:spcPct val="0"/>
              </a:spcAft>
              <a:buClrTx/>
              <a:buSzTx/>
              <a:defRPr/>
            </a:pPr>
            <a:endPar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3907" y="3407643"/>
            <a:ext cx="1685925"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4005064"/>
            <a:ext cx="2699340" cy="1007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122"/>
                                        </p:tgtEl>
                                        <p:attrNameLst>
                                          <p:attrName>style.visibility</p:attrName>
                                        </p:attrNameLst>
                                      </p:cBhvr>
                                      <p:to>
                                        <p:strVal val="visible"/>
                                      </p:to>
                                    </p:set>
                                    <p:animEffect transition="in" filter="wipe(left)">
                                      <p:cBhvr>
                                        <p:cTn id="17" dur="500"/>
                                        <p:tgtEl>
                                          <p:spTgt spid="51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wipe(left)">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124"/>
                                        </p:tgtEl>
                                        <p:attrNameLst>
                                          <p:attrName>style.visibility</p:attrName>
                                        </p:attrNameLst>
                                      </p:cBhvr>
                                      <p:to>
                                        <p:strVal val="visible"/>
                                      </p:to>
                                    </p:set>
                                    <p:animEffect transition="in" filter="wipe(left)">
                                      <p:cBhvr>
                                        <p:cTn id="27" dur="500"/>
                                        <p:tgtEl>
                                          <p:spTgt spid="51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wipe(left)">
                                      <p:cBhvr>
                                        <p:cTn id="3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6.2 </a:t>
            </a:r>
            <a:r>
              <a:rPr kumimoji="0" lang="zh-CN" altLang="en-US" kern="1200" dirty="0" smtClean="0">
                <a:solidFill>
                  <a:schemeClr val="accent2"/>
                </a:solidFill>
                <a:sym typeface="+mn-ea"/>
              </a:rPr>
              <a:t>标准形</a:t>
            </a:r>
          </a:p>
        </p:txBody>
      </p:sp>
      <p:sp>
        <p:nvSpPr>
          <p:cNvPr id="5" name="副标题 2"/>
          <p:cNvSpPr>
            <a:spLocks noGrp="1"/>
          </p:cNvSpPr>
          <p:nvPr/>
        </p:nvSpPr>
        <p:spPr>
          <a:xfrm>
            <a:off x="671512" y="1727468"/>
            <a:ext cx="7775575" cy="4005788"/>
          </a:xfrm>
          <a:prstGeom prst="rect">
            <a:avLst/>
          </a:prstGeom>
          <a:noFill/>
          <a:ln w="9525">
            <a:noFill/>
          </a:ln>
        </p:spPr>
        <p:txBody>
          <a:bodyPr vert="horz" wrap="square" lIns="91440" tIns="45720" rIns="91440" bIns="45720" numCol="1" anchor="t" anchorCtr="0" compatLnSpc="1"/>
          <a:lstStyle>
            <a:lvl1pPr marL="0" indent="0" algn="ctr" rtl="0" eaLnBrk="0" fontAlgn="base" hangingPunct="0">
              <a:spcBef>
                <a:spcPct val="20000"/>
              </a:spcBef>
              <a:spcAft>
                <a:spcPct val="0"/>
              </a:spcAft>
              <a:buFont typeface="Arial" panose="020B0604020202020204" pitchFamily="34"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457200" lvl="0" indent="-457200" algn="l">
              <a:lnSpc>
                <a:spcPct val="150000"/>
              </a:lnSpc>
              <a:buAutoNum type="arabicParenBoth" startAt="4"/>
              <a:defRPr/>
            </a:pPr>
            <a:r>
              <a:rPr lang="zh-CN" altLang="en-US" sz="2400" b="1" dirty="0" smtClean="0">
                <a:solidFill>
                  <a:schemeClr val="bg1"/>
                </a:solidFill>
                <a:latin typeface="Times New Roman" panose="02020603050405020304" pitchFamily="18" charset="0"/>
                <a:cs typeface="Times New Roman" panose="02020603050405020304" pitchFamily="18" charset="0"/>
              </a:rPr>
              <a:t>                       。</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mn-ea"/>
                <a:cs typeface="Times New Roman" panose="02020603050405020304" pitchFamily="18" charset="0"/>
              </a:rPr>
              <a:t>引入剩余变量</a:t>
            </a:r>
            <a:r>
              <a:rPr lang="en-US" altLang="zh-CN" sz="2400" b="1" i="1" dirty="0" err="1">
                <a:solidFill>
                  <a:schemeClr val="bg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2400" b="1" i="1" baseline="-25000" dirty="0" err="1">
                <a:solidFill>
                  <a:schemeClr val="bg1"/>
                </a:solidFill>
                <a:latin typeface="Times New Roman" panose="02020603050405020304" pitchFamily="18" charset="0"/>
                <a:ea typeface="宋体" panose="02010600030101010101" pitchFamily="2" charset="-122"/>
                <a:cs typeface="Times New Roman" panose="02020603050405020304" pitchFamily="18" charset="0"/>
              </a:rPr>
              <a:t>n+i</a:t>
            </a:r>
            <a:r>
              <a:rPr lang="en-US" altLang="zh-CN" sz="2400" b="1" i="1" baseline="-250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 </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mn-ea"/>
                <a:cs typeface="Times New Roman" panose="02020603050405020304" pitchFamily="18" charset="0"/>
                <a:sym typeface="Symbol" panose="05050102010706020507"/>
              </a:rPr>
              <a:t></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mn-ea"/>
                <a:cs typeface="Times New Roman" panose="02020603050405020304" pitchFamily="18" charset="0"/>
              </a:rPr>
              <a:t>0  , </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mn-ea"/>
                <a:cs typeface="Times New Roman" panose="02020603050405020304" pitchFamily="18" charset="0"/>
              </a:rPr>
              <a:t>替换成</a:t>
            </a:r>
            <a:endParaRPr kumimoji="0" lang="en-US" altLang="zh-CN"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mn-ea"/>
              <a:cs typeface="Times New Roman" panose="02020603050405020304" pitchFamily="18" charset="0"/>
            </a:endParaRPr>
          </a:p>
          <a:p>
            <a:pPr marL="457200" lvl="0" indent="-457200" algn="l">
              <a:lnSpc>
                <a:spcPct val="150000"/>
              </a:lnSpc>
              <a:buAutoNum type="arabicParenBoth" startAt="4"/>
              <a:defRPr/>
            </a:pPr>
            <a:endParaRPr lang="en-US" altLang="zh-CN" sz="2400" b="1" dirty="0">
              <a:solidFill>
                <a:schemeClr val="bg1"/>
              </a:solidFill>
              <a:latin typeface="Times New Roman" panose="02020603050405020304" pitchFamily="18" charset="0"/>
              <a:cs typeface="Times New Roman" panose="02020603050405020304" pitchFamily="18" charset="0"/>
            </a:endParaRPr>
          </a:p>
          <a:p>
            <a:pPr lvl="0" indent="365125" algn="l">
              <a:lnSpc>
                <a:spcPct val="150000"/>
              </a:lnSpc>
              <a:defRPr/>
            </a:pPr>
            <a:r>
              <a:rPr lang="zh-CN" altLang="en-US" sz="24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同时另</a:t>
            </a:r>
            <a:r>
              <a:rPr lang="en-US" altLang="zh-CN" sz="2400" b="1" i="1" dirty="0" err="1" smtClean="0">
                <a:solidFill>
                  <a:schemeClr val="bg1"/>
                </a:solidFill>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b="1" i="1" baseline="-25000" dirty="0" err="1" smtClean="0">
                <a:solidFill>
                  <a:schemeClr val="bg1"/>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baseline="-25000" dirty="0" err="1" smtClean="0">
                <a:solidFill>
                  <a:schemeClr val="bg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baseline="-25000" dirty="0" err="1" smtClean="0">
                <a:solidFill>
                  <a:schemeClr val="bg1"/>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1" dirty="0" smtClean="0">
                <a:solidFill>
                  <a:schemeClr val="bg1"/>
                </a:solidFill>
                <a:latin typeface="Times New Roman" panose="02020603050405020304" pitchFamily="18" charset="0"/>
                <a:ea typeface="宋体" panose="02010600030101010101" pitchFamily="2" charset="-122"/>
                <a:cs typeface="Times New Roman" panose="02020603050405020304" pitchFamily="18" charset="0"/>
              </a:rPr>
              <a:t>=0</a:t>
            </a:r>
            <a:endPar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cs typeface="Times New Roman" panose="02020603050405020304" pitchFamily="18" charset="0"/>
            </a:endParaRPr>
          </a:p>
          <a:p>
            <a:pPr marL="457200" lvl="0" indent="-457200" algn="l">
              <a:lnSpc>
                <a:spcPct val="150000"/>
              </a:lnSpc>
              <a:defRPr/>
            </a:pP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mn-ea"/>
                <a:cs typeface="Times New Roman" panose="02020603050405020304" pitchFamily="18" charset="0"/>
              </a:rPr>
              <a:t>(5) </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mn-ea"/>
                <a:cs typeface="Times New Roman" panose="02020603050405020304" pitchFamily="18" charset="0"/>
              </a:rPr>
              <a:t>自由变量</a:t>
            </a:r>
            <a:r>
              <a:rPr kumimoji="0" lang="en-US" sz="2400" b="1" i="1" u="none" strike="noStrike" kern="1200" cap="none" spc="0" normalizeH="0" baseline="0" noProof="0" dirty="0" err="1" smtClean="0">
                <a:ln>
                  <a:noFill/>
                </a:ln>
                <a:solidFill>
                  <a:schemeClr val="bg1"/>
                </a:solidFill>
                <a:effectLst/>
                <a:uLnTx/>
                <a:uFillTx/>
                <a:latin typeface="Times New Roman" panose="02020603050405020304" pitchFamily="18" charset="0"/>
                <a:ea typeface="+mn-ea"/>
                <a:cs typeface="Times New Roman" panose="02020603050405020304" pitchFamily="18" charset="0"/>
              </a:rPr>
              <a:t>x</a:t>
            </a:r>
            <a:r>
              <a:rPr kumimoji="0" lang="en-US" sz="2400" b="1" i="1" u="none" strike="noStrike" kern="1200" cap="none" spc="0" normalizeH="0" baseline="-25000" noProof="0" dirty="0" err="1" smtClean="0">
                <a:ln>
                  <a:noFill/>
                </a:ln>
                <a:solidFill>
                  <a:schemeClr val="bg1"/>
                </a:solidFill>
                <a:effectLst/>
                <a:uLnTx/>
                <a:uFillTx/>
                <a:latin typeface="Times New Roman" panose="02020603050405020304" pitchFamily="18" charset="0"/>
                <a:ea typeface="+mn-ea"/>
                <a:cs typeface="Times New Roman" panose="02020603050405020304" pitchFamily="18" charset="0"/>
              </a:rPr>
              <a:t>j</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mn-ea"/>
                <a:cs typeface="Times New Roman" panose="02020603050405020304" pitchFamily="18" charset="0"/>
              </a:rPr>
              <a:t>替换成</a:t>
            </a:r>
            <a:r>
              <a:rPr kumimoji="0" lang="en-US" altLang="zh-CN" sz="2400" b="1" i="1" u="none" strike="noStrike" kern="1200" cap="none" spc="0" normalizeH="0" baseline="0" noProof="0" dirty="0" err="1" smtClean="0">
                <a:ln>
                  <a:noFill/>
                </a:ln>
                <a:solidFill>
                  <a:schemeClr val="bg1"/>
                </a:solidFill>
                <a:effectLst/>
                <a:uLnTx/>
                <a:uFillTx/>
                <a:latin typeface="Times New Roman" panose="02020603050405020304" pitchFamily="18" charset="0"/>
                <a:ea typeface="+mn-ea"/>
                <a:cs typeface="Times New Roman" panose="02020603050405020304" pitchFamily="18" charset="0"/>
              </a:rPr>
              <a:t>x</a:t>
            </a:r>
            <a:r>
              <a:rPr kumimoji="0" lang="en-US" altLang="zh-CN" sz="2400" b="1" i="1" u="none" strike="noStrike" kern="1200" cap="none" spc="0" normalizeH="0" baseline="-25000" noProof="0" dirty="0" err="1" smtClean="0">
                <a:ln>
                  <a:noFill/>
                </a:ln>
                <a:solidFill>
                  <a:schemeClr val="bg1"/>
                </a:solidFill>
                <a:effectLst/>
                <a:uLnTx/>
                <a:uFillTx/>
                <a:latin typeface="Times New Roman" panose="02020603050405020304" pitchFamily="18" charset="0"/>
                <a:ea typeface="+mn-ea"/>
                <a:cs typeface="Times New Roman" panose="02020603050405020304" pitchFamily="18" charset="0"/>
              </a:rPr>
              <a:t>j</a:t>
            </a:r>
            <a:r>
              <a:rPr kumimoji="0" lang="en-US" altLang="zh-CN"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mn-ea"/>
                <a:cs typeface="Times New Roman" panose="02020603050405020304" pitchFamily="18" charset="0"/>
                <a:sym typeface="Symbol" panose="05050102010706020507"/>
              </a:rPr>
              <a:t>-</a:t>
            </a:r>
            <a:r>
              <a:rPr kumimoji="0" lang="en-US" altLang="zh-CN" sz="2400" b="1" i="1" u="none" strike="noStrike" kern="1200" cap="none" spc="0" normalizeH="0" baseline="0" noProof="0" dirty="0" err="1" smtClean="0">
                <a:ln>
                  <a:noFill/>
                </a:ln>
                <a:solidFill>
                  <a:schemeClr val="bg1"/>
                </a:solidFill>
                <a:effectLst/>
                <a:uLnTx/>
                <a:uFillTx/>
                <a:latin typeface="Times New Roman" panose="02020603050405020304" pitchFamily="18" charset="0"/>
                <a:ea typeface="+mn-ea"/>
                <a:cs typeface="Times New Roman" panose="02020603050405020304" pitchFamily="18" charset="0"/>
                <a:sym typeface="Symbol" panose="05050102010706020507"/>
              </a:rPr>
              <a:t>x</a:t>
            </a:r>
            <a:r>
              <a:rPr kumimoji="0" lang="en-US" altLang="zh-CN" sz="2400" b="1" i="1" u="none" strike="noStrike" kern="1200" cap="none" spc="0" normalizeH="0" baseline="-25000" noProof="0" dirty="0" err="1" smtClean="0">
                <a:ln>
                  <a:noFill/>
                </a:ln>
                <a:solidFill>
                  <a:schemeClr val="bg1"/>
                </a:solidFill>
                <a:effectLst/>
                <a:uLnTx/>
                <a:uFillTx/>
                <a:latin typeface="Times New Roman" panose="02020603050405020304" pitchFamily="18" charset="0"/>
                <a:ea typeface="+mn-ea"/>
                <a:cs typeface="Times New Roman" panose="02020603050405020304" pitchFamily="18" charset="0"/>
                <a:sym typeface="Symbol" panose="05050102010706020507"/>
              </a:rPr>
              <a:t>j</a:t>
            </a:r>
            <a:r>
              <a:rPr kumimoji="0" lang="en-US" altLang="zh-CN"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mn-ea"/>
                <a:cs typeface="Times New Roman" panose="02020603050405020304" pitchFamily="18" charset="0"/>
                <a:sym typeface="Symbol" panose="05050102010706020507"/>
              </a:rPr>
              <a:t></a:t>
            </a:r>
            <a:r>
              <a:rPr kumimoji="0" 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mn-ea"/>
                <a:cs typeface="Times New Roman" panose="02020603050405020304" pitchFamily="18" charset="0"/>
              </a:rPr>
              <a:t> , </a:t>
            </a:r>
            <a:r>
              <a:rPr kumimoji="0" lang="en-US" altLang="zh-CN" sz="2400" b="1" i="1" u="none" strike="noStrike" kern="1200" cap="none" spc="0" normalizeH="0" baseline="0" noProof="0" dirty="0" err="1" smtClean="0">
                <a:ln>
                  <a:noFill/>
                </a:ln>
                <a:solidFill>
                  <a:schemeClr val="bg1"/>
                </a:solidFill>
                <a:effectLst/>
                <a:uLnTx/>
                <a:uFillTx/>
                <a:latin typeface="Times New Roman" panose="02020603050405020304" pitchFamily="18" charset="0"/>
                <a:ea typeface="+mn-ea"/>
                <a:cs typeface="Times New Roman" panose="02020603050405020304" pitchFamily="18" charset="0"/>
              </a:rPr>
              <a:t>x</a:t>
            </a:r>
            <a:r>
              <a:rPr kumimoji="0" lang="en-US" altLang="zh-CN" sz="2400" b="1" i="1" u="none" strike="noStrike" kern="1200" cap="none" spc="0" normalizeH="0" baseline="-25000" noProof="0" dirty="0" err="1" smtClean="0">
                <a:ln>
                  <a:noFill/>
                </a:ln>
                <a:solidFill>
                  <a:schemeClr val="bg1"/>
                </a:solidFill>
                <a:effectLst/>
                <a:uLnTx/>
                <a:uFillTx/>
                <a:latin typeface="Times New Roman" panose="02020603050405020304" pitchFamily="18" charset="0"/>
                <a:ea typeface="+mn-ea"/>
                <a:cs typeface="Times New Roman" panose="02020603050405020304" pitchFamily="18" charset="0"/>
              </a:rPr>
              <a:t>j</a:t>
            </a:r>
            <a:r>
              <a:rPr kumimoji="0" lang="en-US" altLang="zh-CN"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mn-ea"/>
                <a:cs typeface="Times New Roman" panose="02020603050405020304" pitchFamily="18" charset="0"/>
                <a:sym typeface="Symbol" panose="05050102010706020507"/>
              </a:rPr>
              <a:t>0, </a:t>
            </a:r>
            <a:r>
              <a:rPr kumimoji="0" lang="en-US" altLang="zh-CN" sz="2400" b="1" i="1" u="none" strike="noStrike" kern="1200" cap="none" spc="0" normalizeH="0" baseline="0" noProof="0" dirty="0" err="1" smtClean="0">
                <a:ln>
                  <a:noFill/>
                </a:ln>
                <a:solidFill>
                  <a:schemeClr val="bg1"/>
                </a:solidFill>
                <a:effectLst/>
                <a:uLnTx/>
                <a:uFillTx/>
                <a:latin typeface="Times New Roman" panose="02020603050405020304" pitchFamily="18" charset="0"/>
                <a:ea typeface="+mn-ea"/>
                <a:cs typeface="Times New Roman" panose="02020603050405020304" pitchFamily="18" charset="0"/>
                <a:sym typeface="Symbol" panose="05050102010706020507"/>
              </a:rPr>
              <a:t>x</a:t>
            </a:r>
            <a:r>
              <a:rPr kumimoji="0" lang="en-US" altLang="zh-CN" sz="2400" b="1" i="1" u="none" strike="noStrike" kern="1200" cap="none" spc="0" normalizeH="0" baseline="-25000" noProof="0" dirty="0" err="1" smtClean="0">
                <a:ln>
                  <a:noFill/>
                </a:ln>
                <a:solidFill>
                  <a:schemeClr val="bg1"/>
                </a:solidFill>
                <a:effectLst/>
                <a:uLnTx/>
                <a:uFillTx/>
                <a:latin typeface="Times New Roman" panose="02020603050405020304" pitchFamily="18" charset="0"/>
                <a:ea typeface="+mn-ea"/>
                <a:cs typeface="Times New Roman" panose="02020603050405020304" pitchFamily="18" charset="0"/>
                <a:sym typeface="Symbol" panose="05050102010706020507"/>
              </a:rPr>
              <a:t>j</a:t>
            </a:r>
            <a:r>
              <a:rPr kumimoji="0" lang="en-US" altLang="zh-CN"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mn-ea"/>
                <a:cs typeface="Times New Roman" panose="02020603050405020304" pitchFamily="18" charset="0"/>
                <a:sym typeface="Symbol" panose="05050102010706020507"/>
              </a:rPr>
              <a:t>0</a:t>
            </a:r>
            <a:r>
              <a:rPr kumimoji="0" lang="zh-CN" altLang="en-US" sz="2400" b="1" i="0" u="none" strike="noStrike" kern="1200" cap="none" spc="0" normalizeH="0" baseline="0" noProof="0" dirty="0" smtClean="0">
                <a:ln>
                  <a:noFill/>
                </a:ln>
                <a:solidFill>
                  <a:schemeClr val="bg1"/>
                </a:solidFill>
                <a:effectLst/>
                <a:uLnTx/>
                <a:uFillTx/>
                <a:latin typeface="Times New Roman" panose="02020603050405020304" pitchFamily="18" charset="0"/>
                <a:ea typeface="+mn-ea"/>
                <a:cs typeface="Times New Roman" panose="02020603050405020304" pitchFamily="18" charset="0"/>
                <a:sym typeface="Symbol" panose="05050102010706020507"/>
              </a:rPr>
              <a:t>。若</a:t>
            </a:r>
            <a:r>
              <a:rPr lang="en-US" altLang="zh-CN" sz="2400" b="1" i="1" dirty="0" smtClean="0">
                <a:solidFill>
                  <a:schemeClr val="bg1"/>
                </a:solidFill>
                <a:latin typeface="Times New Roman" panose="02020603050405020304" pitchFamily="18" charset="0"/>
                <a:cs typeface="Times New Roman" panose="02020603050405020304" pitchFamily="18" charset="0"/>
              </a:rPr>
              <a:t>x</a:t>
            </a:r>
            <a:r>
              <a:rPr lang="en-US" altLang="zh-CN" sz="2400" b="1" i="1" baseline="-25000" dirty="0" smtClean="0">
                <a:solidFill>
                  <a:schemeClr val="bg1"/>
                </a:solidFill>
                <a:latin typeface="Times New Roman" panose="02020603050405020304" pitchFamily="18" charset="0"/>
                <a:cs typeface="Times New Roman" panose="02020603050405020304" pitchFamily="18" charset="0"/>
              </a:rPr>
              <a:t>j</a:t>
            </a:r>
            <a:r>
              <a:rPr lang="en-US" altLang="zh-CN" sz="2400" b="1" i="1" dirty="0" smtClean="0">
                <a:solidFill>
                  <a:schemeClr val="bg1"/>
                </a:solidFill>
                <a:latin typeface="Times New Roman" panose="02020603050405020304" pitchFamily="18" charset="0"/>
                <a:cs typeface="Times New Roman" panose="02020603050405020304" pitchFamily="18" charset="0"/>
              </a:rPr>
              <a:t>≥</a:t>
            </a:r>
            <a:r>
              <a:rPr lang="en-US" altLang="zh-CN" sz="2400" b="1" dirty="0" smtClean="0">
                <a:solidFill>
                  <a:schemeClr val="bg1"/>
                </a:solidFill>
                <a:latin typeface="Times New Roman" panose="02020603050405020304" pitchFamily="18" charset="0"/>
                <a:cs typeface="Times New Roman" panose="02020603050405020304" pitchFamily="18" charset="0"/>
              </a:rPr>
              <a:t>0</a:t>
            </a:r>
            <a:r>
              <a:rPr lang="zh-CN" altLang="en-US" sz="2400" b="1" dirty="0" smtClean="0">
                <a:solidFill>
                  <a:schemeClr val="bg1"/>
                </a:solidFill>
                <a:latin typeface="Times New Roman" panose="02020603050405020304" pitchFamily="18" charset="0"/>
                <a:cs typeface="Times New Roman" panose="02020603050405020304" pitchFamily="18" charset="0"/>
              </a:rPr>
              <a:t>，则</a:t>
            </a:r>
            <a:r>
              <a:rPr lang="en-US" altLang="zh-CN" sz="2400" b="1" i="1" dirty="0" err="1">
                <a:solidFill>
                  <a:schemeClr val="bg1"/>
                </a:solidFill>
                <a:latin typeface="Times New Roman" panose="02020603050405020304" pitchFamily="18" charset="0"/>
                <a:cs typeface="Times New Roman" panose="02020603050405020304" pitchFamily="18" charset="0"/>
              </a:rPr>
              <a:t>x</a:t>
            </a:r>
            <a:r>
              <a:rPr lang="en-US" altLang="zh-CN" sz="2400" b="1" i="1" baseline="-25000" dirty="0" err="1">
                <a:solidFill>
                  <a:schemeClr val="bg1"/>
                </a:solidFill>
                <a:latin typeface="Times New Roman" panose="02020603050405020304" pitchFamily="18" charset="0"/>
                <a:cs typeface="Times New Roman" panose="02020603050405020304" pitchFamily="18" charset="0"/>
              </a:rPr>
              <a:t>j</a:t>
            </a:r>
            <a:r>
              <a:rPr lang="en-US" altLang="zh-CN" sz="2400" b="1" dirty="0" smtClean="0">
                <a:solidFill>
                  <a:schemeClr val="bg1"/>
                </a:solidFill>
                <a:latin typeface="Times New Roman" panose="02020603050405020304" pitchFamily="18" charset="0"/>
                <a:cs typeface="Times New Roman" panose="02020603050405020304" pitchFamily="18" charset="0"/>
                <a:sym typeface="Symbol" panose="05050102010706020507"/>
              </a:rPr>
              <a:t></a:t>
            </a:r>
            <a:r>
              <a:rPr lang="en-US" altLang="zh-CN" sz="2400" b="1" dirty="0">
                <a:solidFill>
                  <a:schemeClr val="bg1"/>
                </a:solidFill>
                <a:latin typeface="Times New Roman" panose="02020603050405020304" pitchFamily="18" charset="0"/>
                <a:cs typeface="Times New Roman" panose="02020603050405020304" pitchFamily="18" charset="0"/>
                <a:sym typeface="Symbol" panose="05050102010706020507"/>
              </a:rPr>
              <a:t></a:t>
            </a:r>
            <a:r>
              <a:rPr lang="en-US" altLang="zh-CN" sz="2400" b="1" i="1" dirty="0" err="1" smtClean="0">
                <a:solidFill>
                  <a:schemeClr val="bg1"/>
                </a:solidFill>
                <a:latin typeface="Times New Roman" panose="02020603050405020304" pitchFamily="18" charset="0"/>
                <a:cs typeface="Times New Roman" panose="02020603050405020304" pitchFamily="18" charset="0"/>
                <a:sym typeface="Symbol" panose="05050102010706020507"/>
              </a:rPr>
              <a:t>x</a:t>
            </a:r>
            <a:r>
              <a:rPr lang="en-US" altLang="zh-CN" sz="2400" b="1" i="1" baseline="-25000" dirty="0" err="1" smtClean="0">
                <a:solidFill>
                  <a:schemeClr val="bg1"/>
                </a:solidFill>
                <a:latin typeface="Times New Roman" panose="02020603050405020304" pitchFamily="18" charset="0"/>
                <a:cs typeface="Times New Roman" panose="02020603050405020304" pitchFamily="18" charset="0"/>
                <a:sym typeface="Symbol" panose="05050102010706020507"/>
              </a:rPr>
              <a:t>j</a:t>
            </a:r>
            <a:r>
              <a:rPr lang="en-US" altLang="zh-CN" sz="2400" b="1" dirty="0" smtClean="0">
                <a:solidFill>
                  <a:schemeClr val="bg1"/>
                </a:solidFill>
                <a:latin typeface="Times New Roman" panose="02020603050405020304" pitchFamily="18" charset="0"/>
                <a:cs typeface="Times New Roman" panose="02020603050405020304" pitchFamily="18" charset="0"/>
                <a:sym typeface="Symbol" panose="05050102010706020507"/>
              </a:rPr>
              <a:t></a:t>
            </a:r>
            <a:r>
              <a:rPr lang="zh-CN" altLang="en-US" sz="2400" b="1" dirty="0" smtClean="0">
                <a:solidFill>
                  <a:schemeClr val="bg1"/>
                </a:solidFill>
                <a:latin typeface="Times New Roman" panose="02020603050405020304" pitchFamily="18" charset="0"/>
                <a:cs typeface="Times New Roman" panose="02020603050405020304" pitchFamily="18" charset="0"/>
                <a:sym typeface="Symbol" panose="05050102010706020507"/>
              </a:rPr>
              <a:t>，否则 </a:t>
            </a:r>
            <a:r>
              <a:rPr lang="en-US" altLang="zh-CN" sz="2400" b="1" i="1" dirty="0" err="1">
                <a:solidFill>
                  <a:schemeClr val="bg1"/>
                </a:solidFill>
                <a:latin typeface="Times New Roman" panose="02020603050405020304" pitchFamily="18" charset="0"/>
                <a:cs typeface="Times New Roman" panose="02020603050405020304" pitchFamily="18" charset="0"/>
              </a:rPr>
              <a:t>x</a:t>
            </a:r>
            <a:r>
              <a:rPr lang="en-US" altLang="zh-CN" sz="2400" b="1" i="1" baseline="-25000" dirty="0" err="1">
                <a:solidFill>
                  <a:schemeClr val="bg1"/>
                </a:solidFill>
                <a:latin typeface="Times New Roman" panose="02020603050405020304" pitchFamily="18" charset="0"/>
                <a:cs typeface="Times New Roman" panose="02020603050405020304" pitchFamily="18" charset="0"/>
              </a:rPr>
              <a:t>j</a:t>
            </a:r>
            <a:r>
              <a:rPr lang="en-US" altLang="zh-CN" sz="2400" b="1" dirty="0" smtClean="0">
                <a:solidFill>
                  <a:schemeClr val="bg1"/>
                </a:solidFill>
                <a:latin typeface="Times New Roman" panose="02020603050405020304" pitchFamily="18" charset="0"/>
                <a:cs typeface="Times New Roman" panose="02020603050405020304" pitchFamily="18" charset="0"/>
                <a:sym typeface="Symbol" panose="05050102010706020507"/>
              </a:rPr>
              <a:t></a:t>
            </a:r>
            <a:r>
              <a:rPr lang="en-US" altLang="zh-CN" sz="2400" b="1" dirty="0" smtClean="0">
                <a:solidFill>
                  <a:schemeClr val="bg1"/>
                </a:solidFill>
                <a:latin typeface="Times New Roman" panose="02020603050405020304"/>
                <a:cs typeface="Times New Roman" panose="02020603050405020304"/>
                <a:sym typeface="Symbol" panose="05050102010706020507"/>
              </a:rPr>
              <a:t>≤</a:t>
            </a:r>
            <a:r>
              <a:rPr lang="en-US" altLang="zh-CN" sz="2400" b="1" i="1" dirty="0" err="1" smtClean="0">
                <a:solidFill>
                  <a:schemeClr val="bg1"/>
                </a:solidFill>
                <a:latin typeface="Times New Roman" panose="02020603050405020304" pitchFamily="18" charset="0"/>
                <a:cs typeface="Times New Roman" panose="02020603050405020304" pitchFamily="18" charset="0"/>
                <a:sym typeface="Symbol" panose="05050102010706020507"/>
              </a:rPr>
              <a:t>x</a:t>
            </a:r>
            <a:r>
              <a:rPr lang="en-US" altLang="zh-CN" sz="2400" b="1" i="1" baseline="-25000" dirty="0" err="1" smtClean="0">
                <a:solidFill>
                  <a:schemeClr val="bg1"/>
                </a:solidFill>
                <a:latin typeface="Times New Roman" panose="02020603050405020304" pitchFamily="18" charset="0"/>
                <a:cs typeface="Times New Roman" panose="02020603050405020304" pitchFamily="18" charset="0"/>
                <a:sym typeface="Symbol" panose="05050102010706020507"/>
              </a:rPr>
              <a:t>j</a:t>
            </a:r>
            <a:r>
              <a:rPr lang="en-US" altLang="zh-CN" sz="2400" b="1" dirty="0" smtClean="0">
                <a:solidFill>
                  <a:schemeClr val="bg1"/>
                </a:solidFill>
                <a:latin typeface="Times New Roman" panose="02020603050405020304" pitchFamily="18" charset="0"/>
                <a:cs typeface="Times New Roman" panose="02020603050405020304" pitchFamily="18" charset="0"/>
                <a:sym typeface="Symbol" panose="05050102010706020507"/>
              </a:rPr>
              <a:t></a:t>
            </a:r>
            <a:r>
              <a:rPr lang="zh-CN" altLang="en-US" sz="2400" b="1" dirty="0" smtClean="0">
                <a:solidFill>
                  <a:schemeClr val="bg1"/>
                </a:solidFill>
                <a:latin typeface="Times New Roman" panose="02020603050405020304" pitchFamily="18" charset="0"/>
                <a:cs typeface="Times New Roman" panose="02020603050405020304" pitchFamily="18" charset="0"/>
                <a:sym typeface="Symbol" panose="05050102010706020507"/>
              </a:rPr>
              <a:t>。</a:t>
            </a:r>
            <a:endParaRPr lang="en-US" altLang="zh-CN" sz="2400" b="1" dirty="0" smtClean="0">
              <a:solidFill>
                <a:schemeClr val="bg1"/>
              </a:solidFill>
              <a:latin typeface="Times New Roman" panose="02020603050405020304" pitchFamily="18" charset="0"/>
              <a:cs typeface="Times New Roman" panose="02020603050405020304" pitchFamily="18" charset="0"/>
              <a:sym typeface="Symbol" panose="05050102010706020507"/>
            </a:endParaRPr>
          </a:p>
          <a:p>
            <a:pPr marL="457200" indent="-457200" algn="l">
              <a:lnSpc>
                <a:spcPct val="150000"/>
              </a:lnSpc>
              <a:defRPr/>
            </a:pPr>
            <a:r>
              <a:rPr lang="en-US" altLang="zh-CN" sz="2400" b="1"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(6</a:t>
            </a:r>
            <a:r>
              <a:rPr lang="en-US" altLang="zh-CN" sz="2400" b="1" dirty="0" smtClean="0">
                <a:solidFill>
                  <a:schemeClr val="bg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solidFill>
                  <a:schemeClr val="bg1"/>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若</a:t>
            </a:r>
            <a:r>
              <a:rPr lang="en-US" altLang="zh-CN" sz="2400" b="1" i="1" dirty="0" err="1">
                <a:solidFill>
                  <a:schemeClr val="bg1"/>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x</a:t>
            </a:r>
            <a:r>
              <a:rPr lang="en-US" altLang="zh-CN" sz="2400" b="1" i="1" baseline="-25000" dirty="0" err="1">
                <a:solidFill>
                  <a:schemeClr val="bg1"/>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j</a:t>
            </a:r>
            <a:r>
              <a:rPr lang="en-US" altLang="zh-CN" sz="2400" b="1" baseline="-25000" dirty="0">
                <a:solidFill>
                  <a:schemeClr val="bg1"/>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lang="en-US" altLang="zh-CN" sz="2400" b="1" dirty="0">
                <a:solidFill>
                  <a:schemeClr val="bg1"/>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0</a:t>
            </a:r>
            <a:r>
              <a:rPr lang="zh-CN" altLang="en-US" sz="2400" b="1" dirty="0">
                <a:solidFill>
                  <a:schemeClr val="bg1"/>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，令</a:t>
            </a:r>
            <a:r>
              <a:rPr lang="zh-CN" altLang="en-US" sz="2400" b="1" dirty="0">
                <a:solidFill>
                  <a:schemeClr val="bg1"/>
                </a:solidFill>
                <a:latin typeface="Times New Roman" panose="02020603050405020304" pitchFamily="18" charset="0"/>
                <a:ea typeface="楷体_GB2312" pitchFamily="49" charset="-122"/>
                <a:cs typeface="Times New Roman" panose="02020603050405020304" pitchFamily="18" charset="0"/>
              </a:rPr>
              <a:t> </a:t>
            </a:r>
            <a:r>
              <a:rPr lang="en-US" altLang="zh-CN" sz="2400" b="1" i="1" dirty="0" err="1">
                <a:solidFill>
                  <a:schemeClr val="bg1"/>
                </a:solidFill>
                <a:latin typeface="Times New Roman" panose="02020603050405020304" pitchFamily="18" charset="0"/>
                <a:ea typeface="楷体_GB2312" pitchFamily="49" charset="-122"/>
                <a:cs typeface="Times New Roman" panose="02020603050405020304" pitchFamily="18" charset="0"/>
              </a:rPr>
              <a:t>x</a:t>
            </a:r>
            <a:r>
              <a:rPr lang="en-US" altLang="zh-CN" sz="2400" b="1" i="1" baseline="-25000" dirty="0" err="1">
                <a:solidFill>
                  <a:schemeClr val="bg1"/>
                </a:solidFill>
                <a:latin typeface="Times New Roman" panose="02020603050405020304" pitchFamily="18" charset="0"/>
                <a:ea typeface="楷体_GB2312" pitchFamily="49" charset="-122"/>
                <a:cs typeface="Times New Roman" panose="02020603050405020304" pitchFamily="18" charset="0"/>
              </a:rPr>
              <a:t>j</a:t>
            </a:r>
            <a:r>
              <a:rPr lang="en-US" altLang="zh-CN" sz="2400" b="1" dirty="0">
                <a:solidFill>
                  <a:schemeClr val="bg1"/>
                </a:solidFill>
                <a:latin typeface="Times New Roman" panose="02020603050405020304" pitchFamily="18" charset="0"/>
                <a:ea typeface="楷体_GB2312" pitchFamily="49" charset="-122"/>
                <a:cs typeface="Times New Roman" panose="02020603050405020304" pitchFamily="18" charset="0"/>
              </a:rPr>
              <a:t>= -</a:t>
            </a:r>
            <a:r>
              <a:rPr lang="en-US" altLang="zh-CN" sz="2400" b="1" i="1" dirty="0" err="1">
                <a:solidFill>
                  <a:schemeClr val="bg1"/>
                </a:solidFill>
                <a:latin typeface="Times New Roman" panose="02020603050405020304" pitchFamily="18" charset="0"/>
                <a:ea typeface="楷体_GB2312" pitchFamily="49" charset="-122"/>
                <a:cs typeface="Times New Roman" panose="02020603050405020304" pitchFamily="18" charset="0"/>
              </a:rPr>
              <a:t>x</a:t>
            </a:r>
            <a:r>
              <a:rPr lang="en-US" altLang="zh-CN" sz="2400" b="1" i="1" baseline="-25000" dirty="0" err="1">
                <a:solidFill>
                  <a:schemeClr val="bg1"/>
                </a:solidFill>
                <a:latin typeface="Times New Roman" panose="02020603050405020304" pitchFamily="18" charset="0"/>
                <a:ea typeface="楷体_GB2312" pitchFamily="49" charset="-122"/>
                <a:cs typeface="Times New Roman" panose="02020603050405020304" pitchFamily="18" charset="0"/>
              </a:rPr>
              <a:t>j</a:t>
            </a:r>
            <a:r>
              <a:rPr lang="en-US" altLang="zh-CN" sz="2400" b="1" dirty="0">
                <a:solidFill>
                  <a:schemeClr val="bg1"/>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lang="en-US" altLang="zh-CN" sz="2400" b="1" dirty="0">
                <a:solidFill>
                  <a:schemeClr val="bg1"/>
                </a:solidFill>
                <a:latin typeface="Times New Roman" panose="02020603050405020304" pitchFamily="18" charset="0"/>
                <a:ea typeface="楷体_GB2312" pitchFamily="49" charset="-122"/>
                <a:cs typeface="Times New Roman" panose="02020603050405020304" pitchFamily="18" charset="0"/>
              </a:rPr>
              <a:t> </a:t>
            </a:r>
            <a:r>
              <a:rPr lang="zh-CN" altLang="en-US" sz="2400" b="1" dirty="0">
                <a:solidFill>
                  <a:schemeClr val="bg1"/>
                </a:solidFill>
                <a:latin typeface="Times New Roman" panose="02020603050405020304" pitchFamily="18" charset="0"/>
                <a:ea typeface="楷体_GB2312" pitchFamily="49" charset="-122"/>
                <a:cs typeface="Times New Roman" panose="02020603050405020304" pitchFamily="18" charset="0"/>
              </a:rPr>
              <a:t>，代入非标准型，则有</a:t>
            </a:r>
            <a:r>
              <a:rPr lang="en-US" altLang="zh-CN" sz="2400" b="1" i="1" dirty="0" err="1">
                <a:solidFill>
                  <a:schemeClr val="bg1"/>
                </a:solidFill>
                <a:latin typeface="Times New Roman" panose="02020603050405020304" pitchFamily="18" charset="0"/>
                <a:ea typeface="楷体_GB2312" pitchFamily="49" charset="-122"/>
                <a:cs typeface="Times New Roman" panose="02020603050405020304" pitchFamily="18" charset="0"/>
              </a:rPr>
              <a:t>x</a:t>
            </a:r>
            <a:r>
              <a:rPr lang="en-US" altLang="zh-CN" sz="2400" b="1" i="1" baseline="-25000" dirty="0" err="1">
                <a:solidFill>
                  <a:schemeClr val="bg1"/>
                </a:solidFill>
                <a:latin typeface="Times New Roman" panose="02020603050405020304" pitchFamily="18" charset="0"/>
                <a:ea typeface="楷体_GB2312" pitchFamily="49" charset="-122"/>
                <a:cs typeface="Times New Roman" panose="02020603050405020304" pitchFamily="18" charset="0"/>
              </a:rPr>
              <a:t>j</a:t>
            </a:r>
            <a:r>
              <a:rPr lang="en-US" altLang="zh-CN" sz="2400" b="1" dirty="0">
                <a:solidFill>
                  <a:schemeClr val="bg1"/>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lang="en-US" altLang="zh-CN" sz="2400" b="1" dirty="0">
                <a:solidFill>
                  <a:schemeClr val="bg1"/>
                </a:solidFill>
                <a:latin typeface="Times New Roman" panose="02020603050405020304" pitchFamily="18" charset="0"/>
                <a:ea typeface="楷体_GB2312" pitchFamily="49" charset="-122"/>
                <a:cs typeface="Times New Roman" panose="02020603050405020304" pitchFamily="18" charset="0"/>
              </a:rPr>
              <a:t> </a:t>
            </a:r>
            <a:r>
              <a:rPr lang="en-US" altLang="zh-CN" sz="2400" b="1" dirty="0">
                <a:solidFill>
                  <a:schemeClr val="bg1"/>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0</a:t>
            </a:r>
            <a:endParaRPr kumimoji="0" lang="zh-CN" altLang="en-US" sz="2400" b="1" u="none" strike="noStrike" kern="1200" cap="none" spc="0" normalizeH="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729001"/>
            <a:ext cx="1685925"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7" y="2405256"/>
            <a:ext cx="2376264" cy="735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wipe(left)">
                                      <p:cBhvr>
                                        <p:cTn id="7" dur="5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147"/>
                                        </p:tgtEl>
                                        <p:attrNameLst>
                                          <p:attrName>style.visibility</p:attrName>
                                        </p:attrNameLst>
                                      </p:cBhvr>
                                      <p:to>
                                        <p:strVal val="visible"/>
                                      </p:to>
                                    </p:set>
                                    <p:animEffect transition="in" filter="wipe(left)">
                                      <p:cBhvr>
                                        <p:cTn id="17" dur="500"/>
                                        <p:tgtEl>
                                          <p:spTgt spid="61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wipe(left)">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wipe(left)">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wipe(left)">
                                      <p:cBhvr>
                                        <p:cTn id="3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6.2 </a:t>
            </a:r>
            <a:r>
              <a:rPr kumimoji="0" lang="zh-CN" altLang="en-US" kern="1200" dirty="0" smtClean="0">
                <a:solidFill>
                  <a:schemeClr val="accent2"/>
                </a:solidFill>
                <a:sym typeface="+mn-ea"/>
              </a:rPr>
              <a:t>标准形</a:t>
            </a:r>
          </a:p>
        </p:txBody>
      </p:sp>
      <p:sp>
        <p:nvSpPr>
          <p:cNvPr id="10243" name="Rectangle 3"/>
          <p:cNvSpPr>
            <a:spLocks noGrp="1"/>
          </p:cNvSpPr>
          <p:nvPr>
            <p:ph idx="1"/>
          </p:nvPr>
        </p:nvSpPr>
        <p:spPr>
          <a:xfrm>
            <a:off x="506730" y="1637030"/>
            <a:ext cx="7772400" cy="594360"/>
          </a:xfrm>
        </p:spPr>
        <p:txBody>
          <a:bodyPr vert="horz" wrap="square" lIns="91440" tIns="45720" rIns="91440" bIns="45720" anchor="t"/>
          <a:lstStyle/>
          <a:p>
            <a:pPr lvl="1" eaLnBrk="1" hangingPunct="1">
              <a:lnSpc>
                <a:spcPct val="120000"/>
              </a:lnSpc>
              <a:spcBef>
                <a:spcPts val="20"/>
              </a:spcBef>
              <a:spcAft>
                <a:spcPts val="0"/>
              </a:spcAft>
              <a:buFont typeface="Arial" panose="020B0604020202020204" pitchFamily="34" charset="0"/>
              <a:buChar char="•"/>
            </a:pPr>
            <a:r>
              <a:rPr lang="zh-CN" altLang="en-US" sz="2400" b="0" dirty="0" smtClean="0">
                <a:solidFill>
                  <a:schemeClr val="bg1"/>
                </a:solidFill>
              </a:rPr>
              <a:t>转换标准形举例</a:t>
            </a:r>
            <a:endParaRPr lang="zh-CN" altLang="en-US" sz="2400" b="0" dirty="0">
              <a:solidFill>
                <a:schemeClr val="bg1"/>
              </a:solidFill>
            </a:endParaRPr>
          </a:p>
        </p:txBody>
      </p:sp>
      <p:sp>
        <p:nvSpPr>
          <p:cNvPr id="5" name="文本占位符 47106"/>
          <p:cNvSpPr>
            <a:spLocks noGrp="1"/>
          </p:cNvSpPr>
          <p:nvPr/>
        </p:nvSpPr>
        <p:spPr>
          <a:xfrm>
            <a:off x="915670" y="2242080"/>
            <a:ext cx="7696200" cy="3568864"/>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Char char="l"/>
              <a:defRPr sz="31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1"/>
              </a:buClr>
              <a:buSzPct val="150000"/>
              <a:buFontTx/>
              <a:buChar char="•"/>
              <a:defRPr sz="26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tx1"/>
              </a:buClr>
              <a:buSzPct val="150000"/>
              <a:buFontTx/>
              <a:buChar char="•"/>
              <a:defRPr sz="22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tx2"/>
              </a:buClr>
              <a:buSzPct val="150000"/>
              <a:buFontTx/>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9pPr>
          </a:lstStyle>
          <a:p>
            <a:pPr>
              <a:buNone/>
            </a:pPr>
            <a:r>
              <a:rPr lang="zh-CN" altLang="en-US" sz="2400" dirty="0">
                <a:solidFill>
                  <a:schemeClr val="bg1"/>
                </a:solidFill>
                <a:latin typeface="Times New Roman" panose="02020603050405020304" pitchFamily="18" charset="0"/>
                <a:cs typeface="Times New Roman" panose="02020603050405020304" pitchFamily="18" charset="0"/>
              </a:rPr>
              <a:t>要求：将下列</a:t>
            </a:r>
            <a:r>
              <a:rPr lang="zh-CN" altLang="en-US" sz="2400" dirty="0" smtClean="0">
                <a:solidFill>
                  <a:schemeClr val="bg1"/>
                </a:solidFill>
                <a:latin typeface="Times New Roman" panose="02020603050405020304" pitchFamily="18" charset="0"/>
                <a:cs typeface="Times New Roman" panose="02020603050405020304" pitchFamily="18" charset="0"/>
              </a:rPr>
              <a:t>线性规划</a:t>
            </a:r>
            <a:r>
              <a:rPr lang="zh-CN" altLang="en-US" sz="2400" dirty="0">
                <a:solidFill>
                  <a:schemeClr val="bg1"/>
                </a:solidFill>
                <a:latin typeface="Times New Roman" panose="02020603050405020304" pitchFamily="18" charset="0"/>
                <a:cs typeface="Times New Roman" panose="02020603050405020304" pitchFamily="18" charset="0"/>
              </a:rPr>
              <a:t>模型</a:t>
            </a:r>
            <a:r>
              <a:rPr lang="zh-CN" altLang="en-US" sz="2400" dirty="0" smtClean="0">
                <a:solidFill>
                  <a:schemeClr val="bg1"/>
                </a:solidFill>
                <a:latin typeface="Times New Roman" panose="02020603050405020304" pitchFamily="18" charset="0"/>
                <a:cs typeface="Times New Roman" panose="02020603050405020304" pitchFamily="18" charset="0"/>
              </a:rPr>
              <a:t>转化</a:t>
            </a:r>
            <a:r>
              <a:rPr lang="zh-CN" altLang="en-US" sz="2400" dirty="0">
                <a:solidFill>
                  <a:schemeClr val="bg1"/>
                </a:solidFill>
                <a:latin typeface="Times New Roman" panose="02020603050405020304" pitchFamily="18" charset="0"/>
                <a:cs typeface="Times New Roman" panose="02020603050405020304" pitchFamily="18" charset="0"/>
              </a:rPr>
              <a:t>为标准型。</a:t>
            </a:r>
          </a:p>
          <a:p>
            <a:pPr>
              <a:lnSpc>
                <a:spcPct val="120000"/>
              </a:lnSpc>
              <a:buNone/>
            </a:pPr>
            <a:r>
              <a:rPr lang="zh-CN" altLang="en-US" sz="2400" dirty="0" smtClean="0">
                <a:solidFill>
                  <a:schemeClr val="bg1"/>
                </a:solidFill>
                <a:latin typeface="Times New Roman" panose="02020603050405020304" pitchFamily="18" charset="0"/>
                <a:cs typeface="Times New Roman" panose="02020603050405020304" pitchFamily="18" charset="0"/>
              </a:rPr>
              <a:t>例</a:t>
            </a:r>
            <a:r>
              <a:rPr lang="en-US" altLang="zh-CN" sz="2400" dirty="0" smtClean="0">
                <a:solidFill>
                  <a:schemeClr val="bg1"/>
                </a:solidFill>
                <a:latin typeface="Times New Roman" panose="02020603050405020304" pitchFamily="18" charset="0"/>
                <a:cs typeface="Times New Roman" panose="02020603050405020304" pitchFamily="18" charset="0"/>
              </a:rPr>
              <a:t>1</a:t>
            </a:r>
            <a:r>
              <a:rPr lang="zh-CN" altLang="en-US" sz="2400" dirty="0" smtClean="0">
                <a:solidFill>
                  <a:schemeClr val="bg1"/>
                </a:solidFill>
                <a:latin typeface="Times New Roman" panose="02020603050405020304" pitchFamily="18" charset="0"/>
                <a:cs typeface="Times New Roman" panose="02020603050405020304" pitchFamily="18" charset="0"/>
              </a:rPr>
              <a:t>：</a:t>
            </a:r>
            <a:r>
              <a:rPr lang="en-US" altLang="zh-CN" sz="2800" dirty="0" smtClean="0">
                <a:solidFill>
                  <a:schemeClr val="bg1"/>
                </a:solidFill>
                <a:latin typeface="Times New Roman" panose="02020603050405020304" pitchFamily="18" charset="0"/>
                <a:cs typeface="Times New Roman" panose="02020603050405020304" pitchFamily="18" charset="0"/>
              </a:rPr>
              <a:t>max </a:t>
            </a:r>
            <a:r>
              <a:rPr lang="en-US" altLang="zh-CN" sz="2800" i="1" dirty="0">
                <a:solidFill>
                  <a:schemeClr val="bg1"/>
                </a:solidFill>
                <a:latin typeface="Times New Roman" panose="02020603050405020304" pitchFamily="18" charset="0"/>
                <a:cs typeface="Times New Roman" panose="02020603050405020304" pitchFamily="18" charset="0"/>
              </a:rPr>
              <a:t>z</a:t>
            </a:r>
            <a:r>
              <a:rPr lang="en-US" altLang="zh-CN" sz="2800" dirty="0">
                <a:solidFill>
                  <a:schemeClr val="bg1"/>
                </a:solidFill>
                <a:latin typeface="Times New Roman" panose="02020603050405020304" pitchFamily="18" charset="0"/>
                <a:cs typeface="Times New Roman" panose="02020603050405020304" pitchFamily="18" charset="0"/>
              </a:rPr>
              <a:t> =</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1</a:t>
            </a:r>
            <a:r>
              <a:rPr lang="en-US" altLang="zh-CN" sz="2800" dirty="0">
                <a:solidFill>
                  <a:schemeClr val="bg1"/>
                </a:solidFill>
                <a:latin typeface="Times New Roman" panose="02020603050405020304" pitchFamily="18" charset="0"/>
                <a:cs typeface="Times New Roman" panose="02020603050405020304" pitchFamily="18" charset="0"/>
              </a:rPr>
              <a:t>+2</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2</a:t>
            </a:r>
            <a:r>
              <a:rPr lang="en-US" altLang="zh-CN" sz="2800" dirty="0">
                <a:solidFill>
                  <a:schemeClr val="bg1"/>
                </a:solidFill>
                <a:latin typeface="Times New Roman" panose="02020603050405020304" pitchFamily="18" charset="0"/>
                <a:cs typeface="Times New Roman" panose="02020603050405020304" pitchFamily="18" charset="0"/>
              </a:rPr>
              <a:t>+3</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3</a:t>
            </a:r>
          </a:p>
          <a:p>
            <a:pPr>
              <a:lnSpc>
                <a:spcPct val="120000"/>
              </a:lnSpc>
              <a:buNone/>
            </a:pPr>
            <a:r>
              <a:rPr lang="en-US" altLang="zh-CN" sz="2800" dirty="0">
                <a:solidFill>
                  <a:schemeClr val="bg1"/>
                </a:solidFill>
                <a:latin typeface="Times New Roman" panose="02020603050405020304" pitchFamily="18" charset="0"/>
                <a:cs typeface="Times New Roman" panose="02020603050405020304" pitchFamily="18" charset="0"/>
              </a:rPr>
              <a:t>              -2</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1</a:t>
            </a:r>
            <a:r>
              <a:rPr lang="en-US" altLang="zh-CN" sz="2800" dirty="0">
                <a:solidFill>
                  <a:schemeClr val="bg1"/>
                </a:solidFill>
                <a:latin typeface="Times New Roman" panose="02020603050405020304" pitchFamily="18" charset="0"/>
                <a:cs typeface="Times New Roman" panose="02020603050405020304" pitchFamily="18" charset="0"/>
              </a:rPr>
              <a:t>+</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2</a:t>
            </a:r>
            <a:r>
              <a:rPr lang="en-US" altLang="zh-CN" sz="2800" dirty="0">
                <a:solidFill>
                  <a:schemeClr val="bg1"/>
                </a:solidFill>
                <a:latin typeface="Times New Roman" panose="02020603050405020304" pitchFamily="18" charset="0"/>
                <a:cs typeface="Times New Roman" panose="02020603050405020304" pitchFamily="18" charset="0"/>
              </a:rPr>
              <a:t>+</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3</a:t>
            </a:r>
            <a:r>
              <a:rPr lang="en-US" altLang="zh-CN" sz="2800" dirty="0">
                <a:solidFill>
                  <a:schemeClr val="bg1"/>
                </a:solidFill>
                <a:latin typeface="Times New Roman" panose="02020603050405020304" pitchFamily="18" charset="0"/>
                <a:cs typeface="Times New Roman" panose="02020603050405020304" pitchFamily="18" charset="0"/>
              </a:rPr>
              <a:t>≤9</a:t>
            </a:r>
          </a:p>
          <a:p>
            <a:pPr>
              <a:lnSpc>
                <a:spcPct val="120000"/>
              </a:lnSpc>
              <a:buNone/>
            </a:pPr>
            <a:r>
              <a:rPr lang="en-US" altLang="zh-CN" sz="2800" dirty="0">
                <a:solidFill>
                  <a:schemeClr val="bg1"/>
                </a:solidFill>
                <a:latin typeface="Times New Roman" panose="02020603050405020304" pitchFamily="18" charset="0"/>
                <a:cs typeface="Times New Roman" panose="02020603050405020304" pitchFamily="18" charset="0"/>
              </a:rPr>
              <a:t>              -3</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1</a:t>
            </a:r>
            <a:r>
              <a:rPr lang="en-US" altLang="zh-CN" sz="2800" dirty="0">
                <a:solidFill>
                  <a:schemeClr val="bg1"/>
                </a:solidFill>
                <a:latin typeface="Times New Roman" panose="02020603050405020304" pitchFamily="18" charset="0"/>
                <a:cs typeface="Times New Roman" panose="02020603050405020304" pitchFamily="18" charset="0"/>
              </a:rPr>
              <a:t>+</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2</a:t>
            </a:r>
            <a:r>
              <a:rPr lang="en-US" altLang="zh-CN" sz="2800" dirty="0">
                <a:solidFill>
                  <a:schemeClr val="bg1"/>
                </a:solidFill>
                <a:latin typeface="Times New Roman" panose="02020603050405020304" pitchFamily="18" charset="0"/>
                <a:cs typeface="Times New Roman" panose="02020603050405020304" pitchFamily="18" charset="0"/>
              </a:rPr>
              <a:t>+2</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3</a:t>
            </a:r>
            <a:r>
              <a:rPr lang="en-US" altLang="zh-CN" sz="2800" dirty="0">
                <a:solidFill>
                  <a:schemeClr val="bg1"/>
                </a:solidFill>
                <a:latin typeface="Times New Roman" panose="02020603050405020304" pitchFamily="18" charset="0"/>
                <a:cs typeface="Times New Roman" panose="02020603050405020304" pitchFamily="18" charset="0"/>
              </a:rPr>
              <a:t>≥4</a:t>
            </a:r>
          </a:p>
          <a:p>
            <a:pPr>
              <a:lnSpc>
                <a:spcPct val="120000"/>
              </a:lnSpc>
              <a:buNone/>
            </a:pPr>
            <a:r>
              <a:rPr lang="en-US" altLang="zh-CN" sz="2800" dirty="0">
                <a:solidFill>
                  <a:schemeClr val="bg1"/>
                </a:solidFill>
                <a:latin typeface="Times New Roman" panose="02020603050405020304" pitchFamily="18" charset="0"/>
                <a:cs typeface="Times New Roman" panose="02020603050405020304" pitchFamily="18" charset="0"/>
              </a:rPr>
              <a:t>              3</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1</a:t>
            </a:r>
            <a:r>
              <a:rPr lang="en-US" altLang="zh-CN" sz="2800" dirty="0">
                <a:solidFill>
                  <a:schemeClr val="bg1"/>
                </a:solidFill>
                <a:latin typeface="Times New Roman" panose="02020603050405020304" pitchFamily="18" charset="0"/>
                <a:cs typeface="Times New Roman" panose="02020603050405020304" pitchFamily="18" charset="0"/>
              </a:rPr>
              <a:t>-2</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2</a:t>
            </a:r>
            <a:r>
              <a:rPr lang="en-US" altLang="zh-CN" sz="2800" dirty="0">
                <a:solidFill>
                  <a:schemeClr val="bg1"/>
                </a:solidFill>
                <a:latin typeface="Times New Roman" panose="02020603050405020304" pitchFamily="18" charset="0"/>
                <a:cs typeface="Times New Roman" panose="02020603050405020304" pitchFamily="18" charset="0"/>
              </a:rPr>
              <a:t>-3</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3</a:t>
            </a:r>
            <a:r>
              <a:rPr lang="en-US" altLang="zh-CN" sz="2800" dirty="0">
                <a:solidFill>
                  <a:schemeClr val="bg1"/>
                </a:solidFill>
                <a:latin typeface="Times New Roman" panose="02020603050405020304" pitchFamily="18" charset="0"/>
                <a:cs typeface="Times New Roman" panose="02020603050405020304" pitchFamily="18" charset="0"/>
              </a:rPr>
              <a:t>=-6</a:t>
            </a:r>
          </a:p>
          <a:p>
            <a:pPr>
              <a:lnSpc>
                <a:spcPct val="120000"/>
              </a:lnSpc>
              <a:buNone/>
            </a:pPr>
            <a:r>
              <a:rPr lang="en-US" altLang="zh-CN" sz="2800" dirty="0">
                <a:solidFill>
                  <a:schemeClr val="bg1"/>
                </a:solidFill>
                <a:latin typeface="Times New Roman" panose="02020603050405020304" pitchFamily="18" charset="0"/>
                <a:cs typeface="Times New Roman" panose="02020603050405020304" pitchFamily="18" charset="0"/>
              </a:rPr>
              <a:t>              </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1</a:t>
            </a:r>
            <a:r>
              <a:rPr lang="en-US" altLang="zh-CN" sz="2800" dirty="0">
                <a:solidFill>
                  <a:schemeClr val="bg1"/>
                </a:solidFill>
                <a:latin typeface="Times New Roman" panose="02020603050405020304" pitchFamily="18" charset="0"/>
                <a:cs typeface="Times New Roman" panose="02020603050405020304" pitchFamily="18" charset="0"/>
              </a:rPr>
              <a:t>≤0</a:t>
            </a:r>
            <a:r>
              <a:rPr lang="zh-CN" altLang="en-US" sz="2800" dirty="0">
                <a:solidFill>
                  <a:schemeClr val="bg1"/>
                </a:solidFill>
                <a:latin typeface="Times New Roman" panose="02020603050405020304" pitchFamily="18" charset="0"/>
                <a:cs typeface="Times New Roman" panose="02020603050405020304" pitchFamily="18" charset="0"/>
              </a:rPr>
              <a:t>，</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2</a:t>
            </a:r>
            <a:r>
              <a:rPr lang="en-US" altLang="zh-CN" sz="2800" dirty="0">
                <a:solidFill>
                  <a:schemeClr val="bg1"/>
                </a:solidFill>
                <a:latin typeface="Times New Roman" panose="02020603050405020304" pitchFamily="18" charset="0"/>
                <a:cs typeface="Times New Roman" panose="02020603050405020304" pitchFamily="18" charset="0"/>
              </a:rPr>
              <a:t>≥0</a:t>
            </a:r>
            <a:r>
              <a:rPr lang="zh-CN" altLang="en-US" sz="2800" dirty="0">
                <a:solidFill>
                  <a:schemeClr val="bg1"/>
                </a:solidFill>
                <a:latin typeface="Times New Roman" panose="02020603050405020304" pitchFamily="18" charset="0"/>
                <a:cs typeface="Times New Roman" panose="02020603050405020304" pitchFamily="18" charset="0"/>
              </a:rPr>
              <a:t>，</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3</a:t>
            </a:r>
            <a:r>
              <a:rPr lang="zh-CN" altLang="en-US" sz="2800" dirty="0">
                <a:solidFill>
                  <a:schemeClr val="bg1"/>
                </a:solidFill>
                <a:latin typeface="Times New Roman" panose="02020603050405020304" pitchFamily="18" charset="0"/>
                <a:cs typeface="Times New Roman" panose="02020603050405020304" pitchFamily="18" charset="0"/>
              </a:rPr>
              <a:t>取值无约束</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3743553"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6.2 </a:t>
            </a:r>
            <a:r>
              <a:rPr kumimoji="0" lang="zh-CN" altLang="en-US" kern="1200" dirty="0" smtClean="0">
                <a:solidFill>
                  <a:schemeClr val="accent2"/>
                </a:solidFill>
                <a:sym typeface="+mn-ea"/>
              </a:rPr>
              <a:t>标准形</a:t>
            </a:r>
          </a:p>
        </p:txBody>
      </p:sp>
      <p:sp>
        <p:nvSpPr>
          <p:cNvPr id="6" name="文本占位符 107522"/>
          <p:cNvSpPr>
            <a:spLocks noGrp="1"/>
          </p:cNvSpPr>
          <p:nvPr/>
        </p:nvSpPr>
        <p:spPr>
          <a:xfrm>
            <a:off x="541794" y="1844824"/>
            <a:ext cx="7696200" cy="40386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Char char="l"/>
              <a:defRPr sz="31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1"/>
              </a:buClr>
              <a:buSzPct val="150000"/>
              <a:buFontTx/>
              <a:buChar char="•"/>
              <a:defRPr sz="26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tx1"/>
              </a:buClr>
              <a:buSzPct val="150000"/>
              <a:buFontTx/>
              <a:buChar char="•"/>
              <a:defRPr sz="22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tx2"/>
              </a:buClr>
              <a:buSzPct val="150000"/>
              <a:buFontTx/>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9pPr>
          </a:lstStyle>
          <a:p>
            <a:pPr>
              <a:lnSpc>
                <a:spcPct val="120000"/>
              </a:lnSpc>
              <a:buNone/>
            </a:pPr>
            <a:r>
              <a:rPr lang="zh-CN" altLang="en-US" sz="2800" dirty="0" smtClean="0">
                <a:solidFill>
                  <a:schemeClr val="bg1"/>
                </a:solidFill>
              </a:rPr>
              <a:t>解</a:t>
            </a:r>
            <a:r>
              <a:rPr lang="zh-CN" altLang="en-US" sz="2800" dirty="0">
                <a:solidFill>
                  <a:schemeClr val="bg1"/>
                </a:solidFill>
              </a:rPr>
              <a:t>：令</a:t>
            </a:r>
          </a:p>
          <a:p>
            <a:pPr>
              <a:lnSpc>
                <a:spcPct val="120000"/>
              </a:lnSpc>
              <a:buNone/>
            </a:pPr>
            <a:r>
              <a:rPr lang="zh-CN" altLang="en-US" sz="2800">
                <a:solidFill>
                  <a:schemeClr val="bg1"/>
                </a:solidFill>
              </a:rPr>
              <a:t>    </a:t>
            </a:r>
            <a:r>
              <a:rPr lang="en-US" altLang="zh-CN" sz="2800" smtClean="0">
                <a:solidFill>
                  <a:schemeClr val="bg1"/>
                </a:solidFill>
                <a:latin typeface="Times New Roman" panose="02020603050405020304" pitchFamily="18" charset="0"/>
                <a:cs typeface="Times New Roman" panose="02020603050405020304" pitchFamily="18" charset="0"/>
              </a:rPr>
              <a:t>max   </a:t>
            </a:r>
            <a:r>
              <a:rPr lang="en-US" altLang="zh-CN" sz="2800" i="1" dirty="0" smtClean="0">
                <a:solidFill>
                  <a:schemeClr val="bg1"/>
                </a:solidFill>
                <a:latin typeface="Times New Roman" panose="02020603050405020304" pitchFamily="18" charset="0"/>
                <a:cs typeface="Times New Roman" panose="02020603050405020304" pitchFamily="18" charset="0"/>
              </a:rPr>
              <a:t>z</a:t>
            </a:r>
            <a:r>
              <a:rPr lang="en-US" altLang="zh-CN" sz="2800" dirty="0" smtClean="0">
                <a:solidFill>
                  <a:schemeClr val="bg1"/>
                </a:solidFill>
                <a:latin typeface="Times New Roman" panose="02020603050405020304" pitchFamily="18" charset="0"/>
                <a:cs typeface="Times New Roman" panose="02020603050405020304" pitchFamily="18" charset="0"/>
              </a:rPr>
              <a:t>′= </a:t>
            </a:r>
            <a:r>
              <a:rPr lang="en-US" altLang="zh-CN" sz="2800" i="1" dirty="0" smtClean="0">
                <a:solidFill>
                  <a:schemeClr val="bg1"/>
                </a:solidFill>
                <a:latin typeface="Times New Roman" panose="02020603050405020304" pitchFamily="18" charset="0"/>
                <a:cs typeface="Times New Roman" panose="02020603050405020304" pitchFamily="18" charset="0"/>
              </a:rPr>
              <a:t>x</a:t>
            </a:r>
            <a:r>
              <a:rPr lang="en-US" altLang="zh-CN" sz="2800" baseline="-25000" dirty="0" smtClean="0">
                <a:solidFill>
                  <a:schemeClr val="bg1"/>
                </a:solidFill>
                <a:latin typeface="Times New Roman" panose="02020603050405020304" pitchFamily="18" charset="0"/>
                <a:cs typeface="Times New Roman" panose="02020603050405020304" pitchFamily="18" charset="0"/>
              </a:rPr>
              <a:t>1</a:t>
            </a:r>
            <a:r>
              <a:rPr lang="en-US" altLang="zh-CN" sz="2800" dirty="0" smtClean="0">
                <a:solidFill>
                  <a:schemeClr val="bg1"/>
                </a:solidFill>
                <a:latin typeface="Times New Roman" panose="02020603050405020304" pitchFamily="18" charset="0"/>
                <a:cs typeface="Times New Roman" panose="02020603050405020304" pitchFamily="18" charset="0"/>
              </a:rPr>
              <a:t>′ - 2</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smtClean="0">
                <a:solidFill>
                  <a:schemeClr val="bg1"/>
                </a:solidFill>
                <a:latin typeface="Times New Roman" panose="02020603050405020304" pitchFamily="18" charset="0"/>
                <a:cs typeface="Times New Roman" panose="02020603050405020304" pitchFamily="18" charset="0"/>
              </a:rPr>
              <a:t>2 </a:t>
            </a:r>
            <a:r>
              <a:rPr lang="en-US" altLang="zh-CN" sz="2800" dirty="0" smtClean="0">
                <a:solidFill>
                  <a:schemeClr val="bg1"/>
                </a:solidFill>
                <a:latin typeface="Times New Roman" panose="02020603050405020304" pitchFamily="18" charset="0"/>
                <a:cs typeface="Times New Roman" panose="02020603050405020304" pitchFamily="18" charset="0"/>
              </a:rPr>
              <a:t>- 3</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smtClean="0">
                <a:solidFill>
                  <a:schemeClr val="bg1"/>
                </a:solidFill>
                <a:latin typeface="Times New Roman" panose="02020603050405020304" pitchFamily="18" charset="0"/>
                <a:cs typeface="Times New Roman" panose="02020603050405020304" pitchFamily="18" charset="0"/>
              </a:rPr>
              <a:t>3</a:t>
            </a:r>
            <a:r>
              <a:rPr lang="en-US" altLang="zh-CN" sz="2800" dirty="0" smtClean="0">
                <a:solidFill>
                  <a:schemeClr val="bg1"/>
                </a:solidFill>
                <a:latin typeface="Times New Roman" panose="02020603050405020304" pitchFamily="18" charset="0"/>
                <a:cs typeface="Times New Roman" panose="02020603050405020304" pitchFamily="18" charset="0"/>
              </a:rPr>
              <a:t>′ + 3</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smtClean="0">
                <a:solidFill>
                  <a:schemeClr val="bg1"/>
                </a:solidFill>
                <a:latin typeface="Times New Roman" panose="02020603050405020304" pitchFamily="18" charset="0"/>
                <a:cs typeface="Times New Roman" panose="02020603050405020304" pitchFamily="18" charset="0"/>
              </a:rPr>
              <a:t>3</a:t>
            </a:r>
            <a:r>
              <a:rPr lang="zh-CN" altLang="en-US" sz="2800" dirty="0">
                <a:solidFill>
                  <a:schemeClr val="bg1"/>
                </a:solidFill>
                <a:latin typeface="Times New Roman" panose="02020603050405020304" pitchFamily="18" charset="0"/>
                <a:cs typeface="Times New Roman" panose="02020603050405020304" pitchFamily="18" charset="0"/>
              </a:rPr>
              <a:t>〞</a:t>
            </a:r>
            <a:r>
              <a:rPr lang="en-US" altLang="zh-CN" sz="2800" dirty="0" smtClean="0">
                <a:solidFill>
                  <a:schemeClr val="bg1"/>
                </a:solidFill>
                <a:latin typeface="Times New Roman" panose="02020603050405020304" pitchFamily="18" charset="0"/>
                <a:cs typeface="Times New Roman" panose="02020603050405020304" pitchFamily="18" charset="0"/>
              </a:rPr>
              <a:t>+ </a:t>
            </a:r>
            <a:r>
              <a:rPr lang="en-US" altLang="zh-CN" sz="2800" b="1" dirty="0" smtClean="0">
                <a:solidFill>
                  <a:srgbClr val="FF0000"/>
                </a:solidFill>
                <a:latin typeface="Times New Roman" panose="02020603050405020304" pitchFamily="18" charset="0"/>
                <a:cs typeface="Times New Roman" panose="02020603050405020304" pitchFamily="18" charset="0"/>
              </a:rPr>
              <a:t>0</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smtClean="0">
                <a:solidFill>
                  <a:schemeClr val="bg1"/>
                </a:solidFill>
                <a:latin typeface="Times New Roman" panose="02020603050405020304" pitchFamily="18" charset="0"/>
                <a:cs typeface="Times New Roman" panose="02020603050405020304" pitchFamily="18" charset="0"/>
              </a:rPr>
              <a:t>4 </a:t>
            </a:r>
            <a:r>
              <a:rPr lang="en-US" altLang="zh-CN" sz="2800" dirty="0" smtClean="0">
                <a:solidFill>
                  <a:schemeClr val="bg1"/>
                </a:solidFill>
                <a:latin typeface="Times New Roman" panose="02020603050405020304" pitchFamily="18" charset="0"/>
                <a:cs typeface="Times New Roman" panose="02020603050405020304" pitchFamily="18" charset="0"/>
              </a:rPr>
              <a:t>+ </a:t>
            </a:r>
            <a:r>
              <a:rPr lang="en-US" altLang="zh-CN" sz="2800" b="1" dirty="0" smtClean="0">
                <a:solidFill>
                  <a:srgbClr val="FF0000"/>
                </a:solidFill>
                <a:latin typeface="Times New Roman" panose="02020603050405020304" pitchFamily="18" charset="0"/>
                <a:cs typeface="Times New Roman" panose="02020603050405020304" pitchFamily="18" charset="0"/>
              </a:rPr>
              <a:t>0</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smtClean="0">
                <a:solidFill>
                  <a:schemeClr val="bg1"/>
                </a:solidFill>
                <a:latin typeface="Times New Roman" panose="02020603050405020304" pitchFamily="18" charset="0"/>
                <a:cs typeface="Times New Roman" panose="02020603050405020304" pitchFamily="18" charset="0"/>
              </a:rPr>
              <a:t>5</a:t>
            </a:r>
            <a:endParaRPr lang="en-US" altLang="zh-CN" sz="2800" baseline="-25000" dirty="0">
              <a:solidFill>
                <a:schemeClr val="bg1"/>
              </a:solidFill>
              <a:latin typeface="Times New Roman" panose="02020603050405020304" pitchFamily="18" charset="0"/>
              <a:cs typeface="Times New Roman" panose="02020603050405020304" pitchFamily="18" charset="0"/>
            </a:endParaRPr>
          </a:p>
          <a:p>
            <a:pPr>
              <a:lnSpc>
                <a:spcPct val="120000"/>
              </a:lnSpc>
              <a:buNone/>
            </a:pPr>
            <a:r>
              <a:rPr lang="en-US" altLang="zh-CN" sz="2800" dirty="0">
                <a:solidFill>
                  <a:schemeClr val="bg1"/>
                </a:solidFill>
                <a:latin typeface="Times New Roman" panose="02020603050405020304" pitchFamily="18" charset="0"/>
                <a:cs typeface="Times New Roman" panose="02020603050405020304" pitchFamily="18" charset="0"/>
              </a:rPr>
              <a:t>              2</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1</a:t>
            </a:r>
            <a:r>
              <a:rPr lang="en-US" altLang="zh-CN" sz="2800" dirty="0" smtClean="0">
                <a:solidFill>
                  <a:schemeClr val="bg1"/>
                </a:solidFill>
                <a:latin typeface="Times New Roman" panose="02020603050405020304" pitchFamily="18" charset="0"/>
                <a:cs typeface="Times New Roman" panose="02020603050405020304" pitchFamily="18" charset="0"/>
              </a:rPr>
              <a:t>′ + </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smtClean="0">
                <a:solidFill>
                  <a:schemeClr val="bg1"/>
                </a:solidFill>
                <a:latin typeface="Times New Roman" panose="02020603050405020304" pitchFamily="18" charset="0"/>
                <a:cs typeface="Times New Roman" panose="02020603050405020304" pitchFamily="18" charset="0"/>
              </a:rPr>
              <a:t>2 </a:t>
            </a:r>
            <a:r>
              <a:rPr lang="en-US" altLang="zh-CN" sz="2800" dirty="0" smtClean="0">
                <a:solidFill>
                  <a:schemeClr val="bg1"/>
                </a:solidFill>
                <a:latin typeface="Times New Roman" panose="02020603050405020304" pitchFamily="18" charset="0"/>
                <a:cs typeface="Times New Roman" panose="02020603050405020304" pitchFamily="18" charset="0"/>
              </a:rPr>
              <a:t>+   </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smtClean="0">
                <a:solidFill>
                  <a:schemeClr val="bg1"/>
                </a:solidFill>
                <a:latin typeface="Times New Roman" panose="02020603050405020304" pitchFamily="18" charset="0"/>
                <a:cs typeface="Times New Roman" panose="02020603050405020304" pitchFamily="18" charset="0"/>
              </a:rPr>
              <a:t>3</a:t>
            </a:r>
            <a:r>
              <a:rPr lang="en-US" altLang="zh-CN" sz="2800" dirty="0" smtClean="0">
                <a:solidFill>
                  <a:schemeClr val="bg1"/>
                </a:solidFill>
                <a:latin typeface="Times New Roman" panose="02020603050405020304" pitchFamily="18" charset="0"/>
                <a:cs typeface="Times New Roman" panose="02020603050405020304" pitchFamily="18" charset="0"/>
              </a:rPr>
              <a:t>′ - </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smtClean="0">
                <a:solidFill>
                  <a:schemeClr val="bg1"/>
                </a:solidFill>
                <a:latin typeface="Times New Roman" panose="02020603050405020304" pitchFamily="18" charset="0"/>
                <a:cs typeface="Times New Roman" panose="02020603050405020304" pitchFamily="18" charset="0"/>
              </a:rPr>
              <a:t>3</a:t>
            </a:r>
            <a:r>
              <a:rPr lang="zh-CN" altLang="en-US" sz="2800" dirty="0">
                <a:solidFill>
                  <a:schemeClr val="bg1"/>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rgbClr val="FF0000"/>
                </a:solidFill>
                <a:latin typeface="Times New Roman" panose="02020603050405020304" pitchFamily="18" charset="0"/>
                <a:cs typeface="Times New Roman" panose="02020603050405020304" pitchFamily="18" charset="0"/>
              </a:rPr>
              <a:t>4</a:t>
            </a:r>
            <a:r>
              <a:rPr lang="en-US" altLang="zh-CN" sz="2800" dirty="0">
                <a:solidFill>
                  <a:schemeClr val="bg1"/>
                </a:solidFill>
                <a:latin typeface="Times New Roman" panose="02020603050405020304" pitchFamily="18" charset="0"/>
                <a:cs typeface="Times New Roman" panose="02020603050405020304" pitchFamily="18" charset="0"/>
              </a:rPr>
              <a:t>=9</a:t>
            </a:r>
          </a:p>
          <a:p>
            <a:pPr>
              <a:lnSpc>
                <a:spcPct val="120000"/>
              </a:lnSpc>
              <a:buNone/>
            </a:pPr>
            <a:r>
              <a:rPr lang="en-US" altLang="zh-CN" sz="2800" dirty="0">
                <a:solidFill>
                  <a:schemeClr val="bg1"/>
                </a:solidFill>
                <a:latin typeface="Times New Roman" panose="02020603050405020304" pitchFamily="18" charset="0"/>
                <a:cs typeface="Times New Roman" panose="02020603050405020304" pitchFamily="18" charset="0"/>
              </a:rPr>
              <a:t>              3</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1</a:t>
            </a:r>
            <a:r>
              <a:rPr lang="en-US" altLang="zh-CN" sz="2800" dirty="0" smtClean="0">
                <a:solidFill>
                  <a:schemeClr val="bg1"/>
                </a:solidFill>
                <a:latin typeface="Times New Roman" panose="02020603050405020304" pitchFamily="18" charset="0"/>
                <a:cs typeface="Times New Roman" panose="02020603050405020304" pitchFamily="18" charset="0"/>
              </a:rPr>
              <a:t>′ + </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smtClean="0">
                <a:solidFill>
                  <a:schemeClr val="bg1"/>
                </a:solidFill>
                <a:latin typeface="Times New Roman" panose="02020603050405020304" pitchFamily="18" charset="0"/>
                <a:cs typeface="Times New Roman" panose="02020603050405020304" pitchFamily="18" charset="0"/>
              </a:rPr>
              <a:t>2 </a:t>
            </a:r>
            <a:r>
              <a:rPr lang="en-US" altLang="zh-CN" sz="2800" dirty="0" smtClean="0">
                <a:solidFill>
                  <a:schemeClr val="bg1"/>
                </a:solidFill>
                <a:latin typeface="Times New Roman" panose="02020603050405020304" pitchFamily="18" charset="0"/>
                <a:cs typeface="Times New Roman" panose="02020603050405020304" pitchFamily="18" charset="0"/>
              </a:rPr>
              <a:t>+ 2</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smtClean="0">
                <a:solidFill>
                  <a:schemeClr val="bg1"/>
                </a:solidFill>
                <a:latin typeface="Times New Roman" panose="02020603050405020304" pitchFamily="18" charset="0"/>
                <a:cs typeface="Times New Roman" panose="02020603050405020304" pitchFamily="18" charset="0"/>
              </a:rPr>
              <a:t>3</a:t>
            </a:r>
            <a:r>
              <a:rPr lang="en-US" altLang="zh-CN" sz="2800" dirty="0" smtClean="0">
                <a:solidFill>
                  <a:schemeClr val="bg1"/>
                </a:solidFill>
                <a:latin typeface="Times New Roman" panose="02020603050405020304" pitchFamily="18" charset="0"/>
                <a:cs typeface="Times New Roman" panose="02020603050405020304" pitchFamily="18" charset="0"/>
              </a:rPr>
              <a:t>′- 2</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smtClean="0">
                <a:solidFill>
                  <a:schemeClr val="bg1"/>
                </a:solidFill>
                <a:latin typeface="Times New Roman" panose="02020603050405020304" pitchFamily="18" charset="0"/>
                <a:cs typeface="Times New Roman" panose="02020603050405020304" pitchFamily="18" charset="0"/>
              </a:rPr>
              <a:t>3</a:t>
            </a:r>
            <a:r>
              <a:rPr lang="zh-CN" altLang="en-US" sz="2800" dirty="0">
                <a:solidFill>
                  <a:schemeClr val="bg1"/>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rgbClr val="FF0000"/>
                </a:solidFill>
                <a:latin typeface="Times New Roman" panose="02020603050405020304" pitchFamily="18" charset="0"/>
                <a:cs typeface="Times New Roman" panose="02020603050405020304" pitchFamily="18" charset="0"/>
              </a:rPr>
              <a:t>5</a:t>
            </a:r>
            <a:r>
              <a:rPr lang="en-US" altLang="zh-CN" sz="2800" dirty="0">
                <a:solidFill>
                  <a:schemeClr val="bg1"/>
                </a:solidFill>
                <a:latin typeface="Times New Roman" panose="02020603050405020304" pitchFamily="18" charset="0"/>
                <a:cs typeface="Times New Roman" panose="02020603050405020304" pitchFamily="18" charset="0"/>
              </a:rPr>
              <a:t>=4</a:t>
            </a:r>
          </a:p>
          <a:p>
            <a:pPr>
              <a:lnSpc>
                <a:spcPct val="120000"/>
              </a:lnSpc>
              <a:buNone/>
            </a:pPr>
            <a:r>
              <a:rPr lang="en-US" altLang="zh-CN" sz="2800" dirty="0">
                <a:solidFill>
                  <a:schemeClr val="bg1"/>
                </a:solidFill>
                <a:latin typeface="Times New Roman" panose="02020603050405020304" pitchFamily="18" charset="0"/>
                <a:cs typeface="Times New Roman" panose="02020603050405020304" pitchFamily="18" charset="0"/>
              </a:rPr>
              <a:t>              3</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1</a:t>
            </a:r>
            <a:r>
              <a:rPr lang="en-US" altLang="zh-CN" sz="2800" dirty="0">
                <a:solidFill>
                  <a:schemeClr val="bg1"/>
                </a:solidFill>
                <a:latin typeface="Times New Roman" panose="02020603050405020304" pitchFamily="18" charset="0"/>
                <a:cs typeface="Times New Roman" panose="02020603050405020304" pitchFamily="18" charset="0"/>
              </a:rPr>
              <a:t>′+2</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2</a:t>
            </a:r>
            <a:r>
              <a:rPr lang="en-US" altLang="zh-CN" sz="2800" dirty="0">
                <a:solidFill>
                  <a:schemeClr val="bg1"/>
                </a:solidFill>
                <a:latin typeface="Times New Roman" panose="02020603050405020304" pitchFamily="18" charset="0"/>
                <a:cs typeface="Times New Roman" panose="02020603050405020304" pitchFamily="18" charset="0"/>
              </a:rPr>
              <a:t>+3</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3</a:t>
            </a:r>
            <a:r>
              <a:rPr lang="en-US" altLang="zh-CN" sz="2800" dirty="0">
                <a:solidFill>
                  <a:schemeClr val="bg1"/>
                </a:solidFill>
                <a:latin typeface="Times New Roman" panose="02020603050405020304" pitchFamily="18" charset="0"/>
                <a:cs typeface="Times New Roman" panose="02020603050405020304" pitchFamily="18" charset="0"/>
              </a:rPr>
              <a:t>′-3</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3</a:t>
            </a:r>
            <a:r>
              <a:rPr lang="zh-CN" altLang="en-US" sz="2800" dirty="0">
                <a:solidFill>
                  <a:schemeClr val="bg1"/>
                </a:solidFill>
                <a:latin typeface="Times New Roman" panose="02020603050405020304" pitchFamily="18" charset="0"/>
                <a:cs typeface="Times New Roman" panose="02020603050405020304" pitchFamily="18" charset="0"/>
              </a:rPr>
              <a:t>〞</a:t>
            </a:r>
            <a:r>
              <a:rPr lang="en-US" altLang="zh-CN" sz="2800" dirty="0">
                <a:solidFill>
                  <a:schemeClr val="bg1"/>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6</a:t>
            </a:r>
          </a:p>
          <a:p>
            <a:pPr>
              <a:lnSpc>
                <a:spcPct val="120000"/>
              </a:lnSpc>
              <a:buNone/>
            </a:pPr>
            <a:r>
              <a:rPr lang="en-US" altLang="zh-CN" sz="2800" dirty="0">
                <a:solidFill>
                  <a:schemeClr val="bg1"/>
                </a:solidFill>
                <a:latin typeface="Times New Roman" panose="02020603050405020304" pitchFamily="18" charset="0"/>
                <a:cs typeface="Times New Roman" panose="02020603050405020304" pitchFamily="18" charset="0"/>
              </a:rPr>
              <a:t>              </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1</a:t>
            </a:r>
            <a:r>
              <a:rPr lang="en-US" altLang="zh-CN" sz="2800" dirty="0">
                <a:solidFill>
                  <a:schemeClr val="bg1"/>
                </a:solidFill>
                <a:latin typeface="Times New Roman" panose="02020603050405020304" pitchFamily="18" charset="0"/>
                <a:cs typeface="Times New Roman" panose="02020603050405020304" pitchFamily="18" charset="0"/>
              </a:rPr>
              <a:t>′</a:t>
            </a:r>
            <a:r>
              <a:rPr lang="zh-CN" altLang="en-US" sz="2800" dirty="0">
                <a:solidFill>
                  <a:schemeClr val="bg1"/>
                </a:solidFill>
                <a:latin typeface="Times New Roman" panose="02020603050405020304" pitchFamily="18" charset="0"/>
                <a:cs typeface="Times New Roman" panose="02020603050405020304" pitchFamily="18" charset="0"/>
              </a:rPr>
              <a:t>，</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2</a:t>
            </a:r>
            <a:r>
              <a:rPr lang="zh-CN" altLang="en-US" sz="2800" dirty="0">
                <a:solidFill>
                  <a:schemeClr val="bg1"/>
                </a:solidFill>
                <a:latin typeface="Times New Roman" panose="02020603050405020304" pitchFamily="18" charset="0"/>
                <a:cs typeface="Times New Roman" panose="02020603050405020304" pitchFamily="18" charset="0"/>
              </a:rPr>
              <a:t>，</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3</a:t>
            </a:r>
            <a:r>
              <a:rPr lang="en-US" altLang="zh-CN" sz="2800" dirty="0">
                <a:solidFill>
                  <a:schemeClr val="bg1"/>
                </a:solidFill>
                <a:latin typeface="Times New Roman" panose="02020603050405020304" pitchFamily="18" charset="0"/>
                <a:cs typeface="Times New Roman" panose="02020603050405020304" pitchFamily="18" charset="0"/>
              </a:rPr>
              <a:t>′</a:t>
            </a:r>
            <a:r>
              <a:rPr lang="zh-CN" altLang="en-US" sz="2800" dirty="0">
                <a:solidFill>
                  <a:schemeClr val="bg1"/>
                </a:solidFill>
                <a:latin typeface="Times New Roman" panose="02020603050405020304" pitchFamily="18" charset="0"/>
                <a:cs typeface="Times New Roman" panose="02020603050405020304" pitchFamily="18" charset="0"/>
              </a:rPr>
              <a:t>，</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smtClean="0">
                <a:solidFill>
                  <a:schemeClr val="bg1"/>
                </a:solidFill>
                <a:latin typeface="Times New Roman" panose="02020603050405020304" pitchFamily="18" charset="0"/>
                <a:cs typeface="Times New Roman" panose="02020603050405020304" pitchFamily="18" charset="0"/>
              </a:rPr>
              <a:t>3</a:t>
            </a:r>
            <a:r>
              <a:rPr lang="zh-CN" altLang="en-US" sz="2800" dirty="0" smtClean="0">
                <a:solidFill>
                  <a:schemeClr val="bg1"/>
                </a:solidFill>
                <a:latin typeface="Times New Roman" panose="02020603050405020304" pitchFamily="18" charset="0"/>
                <a:cs typeface="Times New Roman" panose="02020603050405020304" pitchFamily="18" charset="0"/>
              </a:rPr>
              <a:t>〞，</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smtClean="0">
                <a:solidFill>
                  <a:schemeClr val="bg1"/>
                </a:solidFill>
                <a:latin typeface="Times New Roman" panose="02020603050405020304" pitchFamily="18" charset="0"/>
                <a:cs typeface="Times New Roman" panose="02020603050405020304" pitchFamily="18" charset="0"/>
              </a:rPr>
              <a:t>4</a:t>
            </a:r>
            <a:r>
              <a:rPr lang="zh-CN" altLang="en-US" sz="2800" dirty="0">
                <a:solidFill>
                  <a:schemeClr val="bg1"/>
                </a:solidFill>
                <a:latin typeface="Times New Roman" panose="02020603050405020304" pitchFamily="18" charset="0"/>
                <a:cs typeface="Times New Roman" panose="02020603050405020304" pitchFamily="18" charset="0"/>
              </a:rPr>
              <a:t>，</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5</a:t>
            </a:r>
            <a:r>
              <a:rPr lang="en-US" altLang="zh-CN" sz="2800" dirty="0">
                <a:solidFill>
                  <a:schemeClr val="bg1"/>
                </a:solidFill>
                <a:latin typeface="Times New Roman" panose="02020603050405020304" pitchFamily="18" charset="0"/>
                <a:cs typeface="Times New Roman" panose="02020603050405020304" pitchFamily="18" charset="0"/>
              </a:rPr>
              <a:t>≥0</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1840513"/>
            <a:ext cx="482917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wipe(left)">
                                      <p:cBhvr>
                                        <p:cTn id="7" dur="500"/>
                                        <p:tgtEl>
                                          <p:spTgt spid="71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left)">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left)">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6.2 </a:t>
            </a:r>
            <a:r>
              <a:rPr kumimoji="0" lang="zh-CN" altLang="en-US" kern="1200" dirty="0" smtClean="0">
                <a:solidFill>
                  <a:schemeClr val="accent2"/>
                </a:solidFill>
                <a:sym typeface="+mn-ea"/>
              </a:rPr>
              <a:t>标准形</a:t>
            </a:r>
          </a:p>
        </p:txBody>
      </p:sp>
      <p:sp>
        <p:nvSpPr>
          <p:cNvPr id="5" name="文本占位符 47106"/>
          <p:cNvSpPr>
            <a:spLocks noGrp="1"/>
          </p:cNvSpPr>
          <p:nvPr/>
        </p:nvSpPr>
        <p:spPr>
          <a:xfrm>
            <a:off x="915670" y="2060848"/>
            <a:ext cx="7696200" cy="324036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Char char="l"/>
              <a:defRPr sz="31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1"/>
              </a:buClr>
              <a:buSzPct val="150000"/>
              <a:buFontTx/>
              <a:buChar char="•"/>
              <a:defRPr sz="26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tx1"/>
              </a:buClr>
              <a:buSzPct val="150000"/>
              <a:buFontTx/>
              <a:buChar char="•"/>
              <a:defRPr sz="22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tx2"/>
              </a:buClr>
              <a:buSzPct val="150000"/>
              <a:buFontTx/>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9pPr>
          </a:lstStyle>
          <a:p>
            <a:pPr>
              <a:lnSpc>
                <a:spcPct val="130000"/>
              </a:lnSpc>
              <a:buNone/>
            </a:pPr>
            <a:r>
              <a:rPr lang="zh-CN" altLang="en-US" sz="2800" dirty="0" smtClean="0">
                <a:solidFill>
                  <a:schemeClr val="bg1"/>
                </a:solidFill>
                <a:latin typeface="Times New Roman" panose="02020603050405020304" pitchFamily="18" charset="0"/>
                <a:cs typeface="Times New Roman" panose="02020603050405020304" pitchFamily="18" charset="0"/>
              </a:rPr>
              <a:t>例</a:t>
            </a:r>
            <a:r>
              <a:rPr lang="en-US" altLang="zh-CN" sz="2800" dirty="0" smtClean="0">
                <a:solidFill>
                  <a:schemeClr val="bg1"/>
                </a:solidFill>
                <a:latin typeface="Times New Roman" panose="02020603050405020304" pitchFamily="18" charset="0"/>
                <a:cs typeface="Times New Roman" panose="02020603050405020304" pitchFamily="18" charset="0"/>
              </a:rPr>
              <a:t>2</a:t>
            </a:r>
            <a:r>
              <a:rPr lang="zh-CN" altLang="en-US" sz="2800" dirty="0" smtClean="0">
                <a:solidFill>
                  <a:schemeClr val="bg1"/>
                </a:solidFill>
                <a:latin typeface="Times New Roman" panose="02020603050405020304" pitchFamily="18" charset="0"/>
                <a:cs typeface="Times New Roman" panose="02020603050405020304" pitchFamily="18" charset="0"/>
              </a:rPr>
              <a:t>：</a:t>
            </a:r>
            <a:r>
              <a:rPr lang="en-US" altLang="zh-CN" sz="2800" dirty="0" smtClean="0">
                <a:solidFill>
                  <a:schemeClr val="bg1"/>
                </a:solidFill>
                <a:latin typeface="Times New Roman" panose="02020603050405020304" pitchFamily="18" charset="0"/>
                <a:cs typeface="Times New Roman" panose="02020603050405020304" pitchFamily="18" charset="0"/>
              </a:rPr>
              <a:t>max </a:t>
            </a:r>
            <a:r>
              <a:rPr lang="en-US" altLang="zh-CN" sz="2800" i="1" dirty="0">
                <a:solidFill>
                  <a:schemeClr val="bg1"/>
                </a:solidFill>
                <a:latin typeface="Times New Roman" panose="02020603050405020304" pitchFamily="18" charset="0"/>
                <a:cs typeface="Times New Roman" panose="02020603050405020304" pitchFamily="18" charset="0"/>
              </a:rPr>
              <a:t>z</a:t>
            </a:r>
            <a:r>
              <a:rPr lang="en-US" altLang="zh-CN" sz="2800" dirty="0">
                <a:solidFill>
                  <a:schemeClr val="bg1"/>
                </a:solidFill>
                <a:latin typeface="Times New Roman" panose="02020603050405020304" pitchFamily="18" charset="0"/>
                <a:cs typeface="Times New Roman" panose="02020603050405020304" pitchFamily="18" charset="0"/>
              </a:rPr>
              <a:t> =</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1</a:t>
            </a:r>
            <a:r>
              <a:rPr lang="en-US" altLang="zh-CN" sz="2800" dirty="0">
                <a:solidFill>
                  <a:schemeClr val="bg1"/>
                </a:solidFill>
                <a:latin typeface="Times New Roman" panose="02020603050405020304" pitchFamily="18" charset="0"/>
                <a:cs typeface="Times New Roman" panose="02020603050405020304" pitchFamily="18" charset="0"/>
              </a:rPr>
              <a:t>+2</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2</a:t>
            </a:r>
            <a:r>
              <a:rPr lang="en-US" altLang="zh-CN" sz="2800" dirty="0">
                <a:solidFill>
                  <a:schemeClr val="bg1"/>
                </a:solidFill>
                <a:latin typeface="Times New Roman" panose="02020603050405020304" pitchFamily="18" charset="0"/>
                <a:cs typeface="Times New Roman" panose="02020603050405020304" pitchFamily="18" charset="0"/>
              </a:rPr>
              <a:t>+3</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3</a:t>
            </a:r>
          </a:p>
          <a:p>
            <a:pPr>
              <a:lnSpc>
                <a:spcPct val="130000"/>
              </a:lnSpc>
              <a:buNone/>
            </a:pPr>
            <a:r>
              <a:rPr lang="en-US" altLang="zh-CN" sz="2800" dirty="0">
                <a:solidFill>
                  <a:schemeClr val="bg1"/>
                </a:solidFill>
                <a:latin typeface="Times New Roman" panose="02020603050405020304" pitchFamily="18" charset="0"/>
                <a:cs typeface="Times New Roman" panose="02020603050405020304" pitchFamily="18" charset="0"/>
              </a:rPr>
              <a:t>              -2</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1</a:t>
            </a:r>
            <a:r>
              <a:rPr lang="en-US" altLang="zh-CN" sz="2800" dirty="0">
                <a:solidFill>
                  <a:schemeClr val="bg1"/>
                </a:solidFill>
                <a:latin typeface="Times New Roman" panose="02020603050405020304" pitchFamily="18" charset="0"/>
                <a:cs typeface="Times New Roman" panose="02020603050405020304" pitchFamily="18" charset="0"/>
              </a:rPr>
              <a:t>+</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2</a:t>
            </a:r>
            <a:r>
              <a:rPr lang="en-US" altLang="zh-CN" sz="2800" dirty="0">
                <a:solidFill>
                  <a:schemeClr val="bg1"/>
                </a:solidFill>
                <a:latin typeface="Times New Roman" panose="02020603050405020304" pitchFamily="18" charset="0"/>
                <a:cs typeface="Times New Roman" panose="02020603050405020304" pitchFamily="18" charset="0"/>
              </a:rPr>
              <a:t>+</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3</a:t>
            </a:r>
            <a:r>
              <a:rPr lang="en-US" altLang="zh-CN" sz="2800" dirty="0">
                <a:solidFill>
                  <a:schemeClr val="bg1"/>
                </a:solidFill>
                <a:latin typeface="Times New Roman" panose="02020603050405020304" pitchFamily="18" charset="0"/>
                <a:cs typeface="Times New Roman" panose="02020603050405020304" pitchFamily="18" charset="0"/>
              </a:rPr>
              <a:t>≤9</a:t>
            </a:r>
          </a:p>
          <a:p>
            <a:pPr>
              <a:lnSpc>
                <a:spcPct val="130000"/>
              </a:lnSpc>
              <a:buNone/>
            </a:pPr>
            <a:r>
              <a:rPr lang="en-US" altLang="zh-CN" sz="2800" dirty="0">
                <a:solidFill>
                  <a:schemeClr val="bg1"/>
                </a:solidFill>
                <a:latin typeface="Times New Roman" panose="02020603050405020304" pitchFamily="18" charset="0"/>
                <a:cs typeface="Times New Roman" panose="02020603050405020304" pitchFamily="18" charset="0"/>
              </a:rPr>
              <a:t>              -</a:t>
            </a:r>
            <a:r>
              <a:rPr lang="en-US" altLang="zh-CN" sz="2800" i="1" dirty="0">
                <a:solidFill>
                  <a:schemeClr val="bg1"/>
                </a:solidFill>
                <a:latin typeface="Times New Roman" panose="02020603050405020304" pitchFamily="18" charset="0"/>
                <a:cs typeface="Times New Roman" panose="02020603050405020304" pitchFamily="18" charset="0"/>
              </a:rPr>
              <a:t>3x</a:t>
            </a:r>
            <a:r>
              <a:rPr lang="en-US" altLang="zh-CN" sz="2800" baseline="-25000" dirty="0">
                <a:solidFill>
                  <a:schemeClr val="bg1"/>
                </a:solidFill>
                <a:latin typeface="Times New Roman" panose="02020603050405020304" pitchFamily="18" charset="0"/>
                <a:cs typeface="Times New Roman" panose="02020603050405020304" pitchFamily="18" charset="0"/>
              </a:rPr>
              <a:t>1</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2</a:t>
            </a:r>
            <a:r>
              <a:rPr lang="en-US" altLang="zh-CN" sz="2800" i="1" dirty="0">
                <a:solidFill>
                  <a:schemeClr val="bg1"/>
                </a:solidFill>
                <a:latin typeface="Times New Roman" panose="02020603050405020304" pitchFamily="18" charset="0"/>
                <a:cs typeface="Times New Roman" panose="02020603050405020304" pitchFamily="18" charset="0"/>
              </a:rPr>
              <a:t>+2x</a:t>
            </a:r>
            <a:r>
              <a:rPr lang="en-US" altLang="zh-CN" sz="2800" baseline="-25000" dirty="0">
                <a:solidFill>
                  <a:schemeClr val="bg1"/>
                </a:solidFill>
                <a:latin typeface="Times New Roman" panose="02020603050405020304" pitchFamily="18" charset="0"/>
                <a:cs typeface="Times New Roman" panose="02020603050405020304" pitchFamily="18" charset="0"/>
              </a:rPr>
              <a:t>3</a:t>
            </a:r>
            <a:r>
              <a:rPr lang="en-US" altLang="zh-CN" sz="2800" dirty="0">
                <a:solidFill>
                  <a:schemeClr val="bg1"/>
                </a:solidFill>
                <a:latin typeface="Times New Roman" panose="02020603050405020304" pitchFamily="18" charset="0"/>
                <a:cs typeface="Times New Roman" panose="02020603050405020304" pitchFamily="18" charset="0"/>
              </a:rPr>
              <a:t>≥4</a:t>
            </a:r>
          </a:p>
          <a:p>
            <a:pPr>
              <a:lnSpc>
                <a:spcPct val="130000"/>
              </a:lnSpc>
              <a:buNone/>
            </a:pPr>
            <a:r>
              <a:rPr lang="en-US" altLang="zh-CN" sz="2800" dirty="0">
                <a:solidFill>
                  <a:schemeClr val="bg1"/>
                </a:solidFill>
                <a:latin typeface="Times New Roman" panose="02020603050405020304" pitchFamily="18" charset="0"/>
                <a:cs typeface="Times New Roman" panose="02020603050405020304" pitchFamily="18" charset="0"/>
              </a:rPr>
              <a:t>              3</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1</a:t>
            </a:r>
            <a:r>
              <a:rPr lang="en-US" altLang="zh-CN" sz="2800" dirty="0">
                <a:solidFill>
                  <a:schemeClr val="bg1"/>
                </a:solidFill>
                <a:latin typeface="Times New Roman" panose="02020603050405020304" pitchFamily="18" charset="0"/>
                <a:cs typeface="Times New Roman" panose="02020603050405020304" pitchFamily="18" charset="0"/>
              </a:rPr>
              <a:t>-2</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2</a:t>
            </a:r>
            <a:r>
              <a:rPr lang="en-US" altLang="zh-CN" sz="2800" dirty="0">
                <a:solidFill>
                  <a:schemeClr val="bg1"/>
                </a:solidFill>
                <a:latin typeface="Times New Roman" panose="02020603050405020304" pitchFamily="18" charset="0"/>
                <a:cs typeface="Times New Roman" panose="02020603050405020304" pitchFamily="18" charset="0"/>
              </a:rPr>
              <a:t>-3</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3</a:t>
            </a:r>
            <a:r>
              <a:rPr lang="en-US" altLang="zh-CN" sz="2800" dirty="0">
                <a:solidFill>
                  <a:schemeClr val="bg1"/>
                </a:solidFill>
                <a:latin typeface="Times New Roman" panose="02020603050405020304" pitchFamily="18" charset="0"/>
                <a:cs typeface="Times New Roman" panose="02020603050405020304" pitchFamily="18" charset="0"/>
              </a:rPr>
              <a:t>=-6</a:t>
            </a:r>
          </a:p>
          <a:p>
            <a:pPr>
              <a:lnSpc>
                <a:spcPct val="130000"/>
              </a:lnSpc>
              <a:buNone/>
            </a:pPr>
            <a:r>
              <a:rPr lang="en-US" altLang="zh-CN" sz="2800" dirty="0">
                <a:solidFill>
                  <a:schemeClr val="bg1"/>
                </a:solidFill>
                <a:latin typeface="Times New Roman" panose="02020603050405020304" pitchFamily="18" charset="0"/>
                <a:cs typeface="Times New Roman" panose="02020603050405020304" pitchFamily="18" charset="0"/>
              </a:rPr>
              <a:t>              </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1</a:t>
            </a:r>
            <a:r>
              <a:rPr lang="en-US" altLang="zh-CN" sz="2800" dirty="0">
                <a:solidFill>
                  <a:schemeClr val="bg1"/>
                </a:solidFill>
                <a:latin typeface="Times New Roman" panose="02020603050405020304" pitchFamily="18" charset="0"/>
                <a:cs typeface="Times New Roman" panose="02020603050405020304" pitchFamily="18" charset="0"/>
              </a:rPr>
              <a:t>≤0</a:t>
            </a:r>
            <a:r>
              <a:rPr lang="zh-CN" altLang="en-US" sz="2800" dirty="0">
                <a:solidFill>
                  <a:schemeClr val="bg1"/>
                </a:solidFill>
                <a:latin typeface="Times New Roman" panose="02020603050405020304" pitchFamily="18" charset="0"/>
                <a:cs typeface="Times New Roman" panose="02020603050405020304" pitchFamily="18" charset="0"/>
              </a:rPr>
              <a:t>，</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2</a:t>
            </a:r>
            <a:r>
              <a:rPr lang="en-US" altLang="zh-CN" sz="2800" dirty="0">
                <a:solidFill>
                  <a:schemeClr val="bg1"/>
                </a:solidFill>
                <a:latin typeface="Times New Roman" panose="02020603050405020304" pitchFamily="18" charset="0"/>
                <a:cs typeface="Times New Roman" panose="02020603050405020304" pitchFamily="18" charset="0"/>
              </a:rPr>
              <a:t>≥0</a:t>
            </a:r>
            <a:r>
              <a:rPr lang="zh-CN" altLang="en-US" sz="2800" dirty="0">
                <a:solidFill>
                  <a:schemeClr val="bg1"/>
                </a:solidFill>
                <a:latin typeface="Times New Roman" panose="02020603050405020304" pitchFamily="18" charset="0"/>
                <a:cs typeface="Times New Roman" panose="02020603050405020304" pitchFamily="18" charset="0"/>
              </a:rPr>
              <a:t>，</a:t>
            </a:r>
            <a:r>
              <a:rPr lang="en-US" altLang="zh-CN" sz="2800" i="1" dirty="0">
                <a:solidFill>
                  <a:schemeClr val="bg1"/>
                </a:solidFill>
                <a:latin typeface="Times New Roman" panose="02020603050405020304" pitchFamily="18" charset="0"/>
                <a:cs typeface="Times New Roman" panose="02020603050405020304" pitchFamily="18" charset="0"/>
              </a:rPr>
              <a:t>x</a:t>
            </a:r>
            <a:r>
              <a:rPr lang="en-US" altLang="zh-CN" sz="2800" baseline="-25000" dirty="0">
                <a:solidFill>
                  <a:schemeClr val="bg1"/>
                </a:solidFill>
                <a:latin typeface="Times New Roman" panose="02020603050405020304" pitchFamily="18" charset="0"/>
                <a:cs typeface="Times New Roman" panose="02020603050405020304" pitchFamily="18" charset="0"/>
              </a:rPr>
              <a:t>3</a:t>
            </a:r>
            <a:r>
              <a:rPr lang="zh-CN" altLang="en-US" sz="2800" dirty="0">
                <a:solidFill>
                  <a:schemeClr val="bg1"/>
                </a:solidFill>
                <a:latin typeface="Times New Roman" panose="02020603050405020304" pitchFamily="18" charset="0"/>
                <a:cs typeface="Times New Roman" panose="02020603050405020304" pitchFamily="18" charset="0"/>
              </a:rPr>
              <a:t>取值无约束</a:t>
            </a: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6.2 </a:t>
            </a:r>
            <a:r>
              <a:rPr kumimoji="0" lang="zh-CN" altLang="en-US" kern="1200" dirty="0" smtClean="0">
                <a:solidFill>
                  <a:schemeClr val="accent2"/>
                </a:solidFill>
                <a:sym typeface="+mn-ea"/>
              </a:rPr>
              <a:t>标准形</a:t>
            </a:r>
          </a:p>
        </p:txBody>
      </p:sp>
      <p:sp>
        <p:nvSpPr>
          <p:cNvPr id="6" name="文本占位符 108546"/>
          <p:cNvSpPr>
            <a:spLocks noGrp="1"/>
          </p:cNvSpPr>
          <p:nvPr/>
        </p:nvSpPr>
        <p:spPr>
          <a:xfrm>
            <a:off x="723106" y="1622648"/>
            <a:ext cx="7697788" cy="40386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Char char="l"/>
              <a:defRPr sz="31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1"/>
              </a:buClr>
              <a:buSzPct val="150000"/>
              <a:buFontTx/>
              <a:buChar char="•"/>
              <a:defRPr sz="26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tx1"/>
              </a:buClr>
              <a:buSzPct val="150000"/>
              <a:buFontTx/>
              <a:buChar char="•"/>
              <a:defRPr sz="22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tx2"/>
              </a:buClr>
              <a:buSzPct val="150000"/>
              <a:buFontTx/>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9pPr>
          </a:lstStyle>
          <a:p>
            <a:pPr>
              <a:lnSpc>
                <a:spcPct val="130000"/>
              </a:lnSpc>
              <a:spcBef>
                <a:spcPts val="20"/>
              </a:spcBef>
              <a:spcAft>
                <a:spcPts val="0"/>
              </a:spcAft>
              <a:buClr>
                <a:schemeClr val="bg2"/>
              </a:buClr>
              <a:buSzPct val="70000"/>
              <a:buFont typeface="Wingdings" panose="05000000000000000000" pitchFamily="2" charset="2"/>
              <a:buNone/>
            </a:pPr>
            <a:r>
              <a:rPr lang="zh-CN" altLang="en-US" sz="2800" dirty="0" smtClean="0">
                <a:solidFill>
                  <a:schemeClr val="bg2"/>
                </a:solidFill>
                <a:latin typeface="Times New Roman" panose="02020603050405020304" pitchFamily="18" charset="0"/>
                <a:cs typeface="Times New Roman" panose="02020603050405020304" pitchFamily="18" charset="0"/>
              </a:rPr>
              <a:t>解</a:t>
            </a:r>
            <a:r>
              <a:rPr lang="zh-CN" altLang="en-US" sz="2800" dirty="0">
                <a:solidFill>
                  <a:schemeClr val="bg2"/>
                </a:solidFill>
                <a:latin typeface="Times New Roman" panose="02020603050405020304" pitchFamily="18" charset="0"/>
                <a:cs typeface="Times New Roman" panose="02020603050405020304" pitchFamily="18" charset="0"/>
              </a:rPr>
              <a:t>：令</a:t>
            </a:r>
          </a:p>
          <a:p>
            <a:pPr>
              <a:lnSpc>
                <a:spcPct val="130000"/>
              </a:lnSpc>
              <a:spcBef>
                <a:spcPts val="20"/>
              </a:spcBef>
              <a:spcAft>
                <a:spcPts val="0"/>
              </a:spcAft>
              <a:buClr>
                <a:schemeClr val="bg2"/>
              </a:buClr>
              <a:buSzPct val="70000"/>
              <a:buFont typeface="Wingdings" panose="05000000000000000000" pitchFamily="2" charset="2"/>
              <a:buNone/>
            </a:pPr>
            <a:r>
              <a:rPr lang="zh-CN" altLang="en-US" sz="2800" dirty="0">
                <a:solidFill>
                  <a:schemeClr val="bg2"/>
                </a:solidFill>
                <a:latin typeface="Times New Roman" panose="02020603050405020304" pitchFamily="18" charset="0"/>
                <a:cs typeface="Times New Roman" panose="02020603050405020304" pitchFamily="18" charset="0"/>
              </a:rPr>
              <a:t>       </a:t>
            </a:r>
            <a:r>
              <a:rPr lang="en-US" altLang="zh-CN" sz="2800" dirty="0" smtClean="0">
                <a:solidFill>
                  <a:schemeClr val="bg2"/>
                </a:solidFill>
                <a:latin typeface="Times New Roman" panose="02020603050405020304" pitchFamily="18" charset="0"/>
                <a:cs typeface="Times New Roman" panose="02020603050405020304" pitchFamily="18" charset="0"/>
              </a:rPr>
              <a:t>min </a:t>
            </a:r>
            <a:r>
              <a:rPr lang="en-US" altLang="zh-CN" sz="2800" i="1" dirty="0">
                <a:solidFill>
                  <a:schemeClr val="bg2"/>
                </a:solidFill>
                <a:latin typeface="Times New Roman" panose="02020603050405020304" pitchFamily="18" charset="0"/>
                <a:cs typeface="Times New Roman" panose="02020603050405020304" pitchFamily="18" charset="0"/>
              </a:rPr>
              <a:t>z</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-2</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-3</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en-US" altLang="zh-CN" sz="2800" dirty="0">
                <a:solidFill>
                  <a:schemeClr val="bg2"/>
                </a:solidFill>
                <a:latin typeface="Times New Roman" panose="02020603050405020304" pitchFamily="18" charset="0"/>
                <a:cs typeface="Times New Roman" panose="02020603050405020304" pitchFamily="18" charset="0"/>
              </a:rPr>
              <a:t>′+3</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zh-CN" altLang="en-US" sz="2800" dirty="0">
                <a:solidFill>
                  <a:schemeClr val="bg2"/>
                </a:solidFill>
                <a:latin typeface="Times New Roman" panose="02020603050405020304" pitchFamily="18" charset="0"/>
                <a:cs typeface="Times New Roman" panose="02020603050405020304" pitchFamily="18" charset="0"/>
              </a:rPr>
              <a:t>〞</a:t>
            </a:r>
            <a:endParaRPr lang="zh-CN" altLang="en-US" sz="2800" baseline="-25000" dirty="0">
              <a:solidFill>
                <a:schemeClr val="bg2"/>
              </a:solidFill>
              <a:latin typeface="Times New Roman" panose="02020603050405020304" pitchFamily="18" charset="0"/>
              <a:cs typeface="Times New Roman" panose="02020603050405020304" pitchFamily="18" charset="0"/>
            </a:endParaRPr>
          </a:p>
          <a:p>
            <a:pPr>
              <a:lnSpc>
                <a:spcPct val="130000"/>
              </a:lnSpc>
              <a:spcBef>
                <a:spcPts val="20"/>
              </a:spcBef>
              <a:spcAft>
                <a:spcPts val="0"/>
              </a:spcAft>
              <a:buClr>
                <a:schemeClr val="bg2"/>
              </a:buClr>
              <a:buSzPct val="70000"/>
              <a:buFont typeface="Wingdings" panose="05000000000000000000" pitchFamily="2" charset="2"/>
              <a:buNone/>
            </a:pPr>
            <a:r>
              <a:rPr lang="zh-CN" altLang="en-US" sz="2800" dirty="0">
                <a:solidFill>
                  <a:schemeClr val="bg2"/>
                </a:solidFill>
                <a:latin typeface="Times New Roman" panose="02020603050405020304" pitchFamily="18" charset="0"/>
                <a:cs typeface="Times New Roman" panose="02020603050405020304" pitchFamily="18" charset="0"/>
              </a:rPr>
              <a:t>              </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4       </a:t>
            </a:r>
            <a:r>
              <a:rPr lang="en-US" altLang="zh-CN" sz="2800" dirty="0">
                <a:solidFill>
                  <a:schemeClr val="bg2"/>
                </a:solidFill>
                <a:latin typeface="Times New Roman" panose="02020603050405020304" pitchFamily="18" charset="0"/>
                <a:cs typeface="Times New Roman" panose="02020603050405020304" pitchFamily="18" charset="0"/>
              </a:rPr>
              <a:t>=24</a:t>
            </a:r>
          </a:p>
          <a:p>
            <a:pPr>
              <a:lnSpc>
                <a:spcPct val="130000"/>
              </a:lnSpc>
              <a:spcBef>
                <a:spcPts val="20"/>
              </a:spcBef>
              <a:spcAft>
                <a:spcPts val="0"/>
              </a:spcAft>
              <a:buClr>
                <a:schemeClr val="bg2"/>
              </a:buClr>
              <a:buSzPct val="70000"/>
              <a:buFont typeface="Wingdings" panose="05000000000000000000" pitchFamily="2" charset="2"/>
              <a:buNone/>
            </a:pPr>
            <a:r>
              <a:rPr lang="en-US" altLang="zh-CN" sz="2800" dirty="0">
                <a:solidFill>
                  <a:schemeClr val="bg2"/>
                </a:solidFill>
                <a:latin typeface="Times New Roman" panose="02020603050405020304" pitchFamily="18" charset="0"/>
                <a:cs typeface="Times New Roman" panose="02020603050405020304" pitchFamily="18" charset="0"/>
              </a:rPr>
              <a:t>              </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dirty="0">
                <a:solidFill>
                  <a:schemeClr val="bg2"/>
                </a:solidFill>
                <a:latin typeface="Times New Roman" panose="02020603050405020304" pitchFamily="18" charset="0"/>
                <a:cs typeface="Times New Roman" panose="02020603050405020304" pitchFamily="18" charset="0"/>
              </a:rPr>
              <a:t>       -</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5</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400" dirty="0">
                <a:solidFill>
                  <a:schemeClr val="bg2"/>
                </a:solidFill>
                <a:latin typeface="Times New Roman" panose="02020603050405020304" pitchFamily="18" charset="0"/>
                <a:cs typeface="Times New Roman" panose="02020603050405020304" pitchFamily="18" charset="0"/>
              </a:rPr>
              <a:t>2</a:t>
            </a:r>
            <a:endParaRPr lang="en-US" altLang="zh-CN" sz="2800" dirty="0">
              <a:solidFill>
                <a:schemeClr val="bg2"/>
              </a:solidFill>
              <a:latin typeface="Times New Roman" panose="02020603050405020304" pitchFamily="18" charset="0"/>
              <a:cs typeface="Times New Roman" panose="02020603050405020304" pitchFamily="18" charset="0"/>
            </a:endParaRPr>
          </a:p>
          <a:p>
            <a:pPr>
              <a:lnSpc>
                <a:spcPct val="130000"/>
              </a:lnSpc>
              <a:spcBef>
                <a:spcPts val="20"/>
              </a:spcBef>
              <a:spcAft>
                <a:spcPts val="0"/>
              </a:spcAft>
              <a:buClr>
                <a:schemeClr val="bg2"/>
              </a:buClr>
              <a:buSzPct val="70000"/>
              <a:buFont typeface="Wingdings" panose="05000000000000000000" pitchFamily="2" charset="2"/>
              <a:buNone/>
            </a:pPr>
            <a:r>
              <a:rPr lang="en-US" altLang="zh-CN" sz="2800" dirty="0">
                <a:solidFill>
                  <a:schemeClr val="bg2"/>
                </a:solidFill>
                <a:latin typeface="Times New Roman" panose="02020603050405020304" pitchFamily="18" charset="0"/>
                <a:cs typeface="Times New Roman" panose="02020603050405020304" pitchFamily="18" charset="0"/>
              </a:rPr>
              <a:t>           </a:t>
            </a:r>
            <a:r>
              <a:rPr lang="en-US" altLang="zh-CN" sz="2400" dirty="0">
                <a:solidFill>
                  <a:schemeClr val="bg2"/>
                </a:solidFill>
                <a:latin typeface="Times New Roman" panose="02020603050405020304" pitchFamily="18" charset="0"/>
                <a:cs typeface="Times New Roman" panose="02020603050405020304" pitchFamily="18" charset="0"/>
              </a:rPr>
              <a:t>   -3</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1</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2</a:t>
            </a:r>
            <a:r>
              <a:rPr lang="en-US" altLang="zh-CN" sz="2400" i="1" dirty="0">
                <a:solidFill>
                  <a:schemeClr val="bg2"/>
                </a:solidFill>
                <a:latin typeface="Times New Roman" panose="02020603050405020304" pitchFamily="18" charset="0"/>
                <a:cs typeface="Times New Roman" panose="02020603050405020304" pitchFamily="18" charset="0"/>
              </a:rPr>
              <a:t>+</a:t>
            </a:r>
            <a:r>
              <a:rPr lang="en-US" altLang="zh-CN" sz="2400" dirty="0">
                <a:solidFill>
                  <a:schemeClr val="bg2"/>
                </a:solidFill>
                <a:latin typeface="Times New Roman" panose="02020603050405020304" pitchFamily="18" charset="0"/>
                <a:cs typeface="Times New Roman" panose="02020603050405020304" pitchFamily="18" charset="0"/>
              </a:rPr>
              <a:t>2</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3</a:t>
            </a:r>
            <a:r>
              <a:rPr lang="en-US" altLang="zh-CN" sz="2400" dirty="0">
                <a:solidFill>
                  <a:schemeClr val="bg2"/>
                </a:solidFill>
                <a:latin typeface="Times New Roman" panose="02020603050405020304" pitchFamily="18" charset="0"/>
                <a:cs typeface="Times New Roman" panose="02020603050405020304" pitchFamily="18" charset="0"/>
              </a:rPr>
              <a:t>′-2</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3</a:t>
            </a:r>
            <a:r>
              <a:rPr lang="zh-CN" altLang="en-US" sz="2400" dirty="0">
                <a:solidFill>
                  <a:schemeClr val="bg2"/>
                </a:solidFill>
                <a:latin typeface="Times New Roman" panose="02020603050405020304" pitchFamily="18" charset="0"/>
                <a:cs typeface="Times New Roman" panose="02020603050405020304" pitchFamily="18" charset="0"/>
              </a:rPr>
              <a:t>〞</a:t>
            </a:r>
            <a:r>
              <a:rPr lang="en-US" altLang="zh-CN" sz="2400" dirty="0">
                <a:solidFill>
                  <a:schemeClr val="bg2"/>
                </a:solidFill>
                <a:latin typeface="Times New Roman" panose="02020603050405020304" pitchFamily="18" charset="0"/>
                <a:cs typeface="Times New Roman" panose="02020603050405020304" pitchFamily="18" charset="0"/>
              </a:rPr>
              <a:t>        =5</a:t>
            </a:r>
          </a:p>
          <a:p>
            <a:pPr>
              <a:lnSpc>
                <a:spcPct val="130000"/>
              </a:lnSpc>
              <a:spcBef>
                <a:spcPts val="20"/>
              </a:spcBef>
              <a:spcAft>
                <a:spcPts val="0"/>
              </a:spcAft>
              <a:buClr>
                <a:schemeClr val="bg2"/>
              </a:buClr>
              <a:buSzPct val="70000"/>
              <a:buFont typeface="Wingdings" panose="05000000000000000000" pitchFamily="2" charset="2"/>
              <a:buNone/>
            </a:pPr>
            <a:r>
              <a:rPr lang="en-US" altLang="zh-CN" sz="2400" dirty="0">
                <a:solidFill>
                  <a:schemeClr val="bg2"/>
                </a:solidFill>
                <a:latin typeface="Times New Roman" panose="02020603050405020304" pitchFamily="18" charset="0"/>
                <a:cs typeface="Times New Roman" panose="02020603050405020304" pitchFamily="18" charset="0"/>
              </a:rPr>
              <a:t>                 </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1</a:t>
            </a:r>
            <a:r>
              <a:rPr lang="zh-CN" altLang="en-US" sz="2400" dirty="0">
                <a:solidFill>
                  <a:schemeClr val="bg2"/>
                </a:solidFill>
                <a:latin typeface="Times New Roman" panose="02020603050405020304" pitchFamily="18" charset="0"/>
                <a:cs typeface="Times New Roman" panose="02020603050405020304" pitchFamily="18" charset="0"/>
              </a:rPr>
              <a:t>，</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2</a:t>
            </a:r>
            <a:r>
              <a:rPr lang="zh-CN" altLang="en-US" sz="2400" dirty="0">
                <a:solidFill>
                  <a:schemeClr val="bg2"/>
                </a:solidFill>
                <a:latin typeface="Times New Roman" panose="02020603050405020304" pitchFamily="18" charset="0"/>
                <a:cs typeface="Times New Roman" panose="02020603050405020304" pitchFamily="18" charset="0"/>
              </a:rPr>
              <a:t>，</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3</a:t>
            </a:r>
            <a:r>
              <a:rPr lang="en-US" altLang="zh-CN" sz="2400" dirty="0">
                <a:solidFill>
                  <a:schemeClr val="bg2"/>
                </a:solidFill>
                <a:latin typeface="Times New Roman" panose="02020603050405020304" pitchFamily="18" charset="0"/>
                <a:cs typeface="Times New Roman" panose="02020603050405020304" pitchFamily="18" charset="0"/>
              </a:rPr>
              <a:t>′</a:t>
            </a:r>
            <a:r>
              <a:rPr lang="zh-CN" altLang="en-US" sz="2400" dirty="0">
                <a:solidFill>
                  <a:schemeClr val="bg2"/>
                </a:solidFill>
                <a:latin typeface="Times New Roman" panose="02020603050405020304" pitchFamily="18" charset="0"/>
                <a:cs typeface="Times New Roman" panose="02020603050405020304" pitchFamily="18" charset="0"/>
              </a:rPr>
              <a:t>，</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3</a:t>
            </a:r>
            <a:r>
              <a:rPr lang="zh-CN" altLang="en-US" sz="2400" dirty="0">
                <a:solidFill>
                  <a:schemeClr val="bg2"/>
                </a:solidFill>
                <a:latin typeface="Times New Roman" panose="02020603050405020304" pitchFamily="18" charset="0"/>
                <a:cs typeface="Times New Roman" panose="02020603050405020304" pitchFamily="18" charset="0"/>
              </a:rPr>
              <a:t>〞，</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4</a:t>
            </a:r>
            <a:r>
              <a:rPr lang="zh-CN" altLang="en-US" sz="2400" dirty="0">
                <a:solidFill>
                  <a:schemeClr val="bg2"/>
                </a:solidFill>
                <a:latin typeface="Times New Roman" panose="02020603050405020304" pitchFamily="18" charset="0"/>
                <a:cs typeface="Times New Roman" panose="02020603050405020304" pitchFamily="18" charset="0"/>
              </a:rPr>
              <a:t>，</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5</a:t>
            </a:r>
            <a:r>
              <a:rPr lang="en-US" altLang="zh-CN" sz="2400" dirty="0">
                <a:solidFill>
                  <a:schemeClr val="bg2"/>
                </a:solidFill>
                <a:latin typeface="Times New Roman" panose="02020603050405020304" pitchFamily="18" charset="0"/>
                <a:cs typeface="Times New Roman" panose="02020603050405020304" pitchFamily="18" charset="0"/>
              </a:rPr>
              <a:t>≥0</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628363"/>
            <a:ext cx="32575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wipe(left)">
                                      <p:cBhvr>
                                        <p:cTn id="7" dur="500"/>
                                        <p:tgtEl>
                                          <p:spTgt spid="81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left)">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left)">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6.2 </a:t>
            </a:r>
            <a:r>
              <a:rPr kumimoji="0" lang="zh-CN" altLang="en-US" kern="1200" dirty="0" smtClean="0">
                <a:solidFill>
                  <a:schemeClr val="accent2"/>
                </a:solidFill>
                <a:sym typeface="+mn-ea"/>
              </a:rPr>
              <a:t>标准形</a:t>
            </a:r>
          </a:p>
        </p:txBody>
      </p:sp>
      <p:sp>
        <p:nvSpPr>
          <p:cNvPr id="6" name="文本占位符 49154"/>
          <p:cNvSpPr>
            <a:spLocks noGrp="1"/>
          </p:cNvSpPr>
          <p:nvPr/>
        </p:nvSpPr>
        <p:spPr>
          <a:xfrm>
            <a:off x="514742" y="2132856"/>
            <a:ext cx="7696200" cy="40386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Char char="l"/>
              <a:defRPr sz="31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1"/>
              </a:buClr>
              <a:buSzPct val="150000"/>
              <a:buFontTx/>
              <a:buChar char="•"/>
              <a:defRPr sz="26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tx1"/>
              </a:buClr>
              <a:buSzPct val="150000"/>
              <a:buFontTx/>
              <a:buChar char="•"/>
              <a:defRPr sz="22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tx2"/>
              </a:buClr>
              <a:buSzPct val="150000"/>
              <a:buFontTx/>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9pPr>
          </a:lstStyle>
          <a:p>
            <a:pPr>
              <a:lnSpc>
                <a:spcPct val="120000"/>
              </a:lnSpc>
              <a:buNone/>
            </a:pPr>
            <a:r>
              <a:rPr lang="zh-CN" altLang="en-US" sz="2800" dirty="0">
                <a:solidFill>
                  <a:schemeClr val="bg2"/>
                </a:solidFill>
                <a:latin typeface="Times New Roman" panose="02020603050405020304" pitchFamily="18" charset="0"/>
                <a:cs typeface="Times New Roman" panose="02020603050405020304" pitchFamily="18" charset="0"/>
              </a:rPr>
              <a:t>例</a:t>
            </a:r>
            <a:r>
              <a:rPr lang="en-US" altLang="zh-CN" sz="2800" dirty="0">
                <a:solidFill>
                  <a:schemeClr val="bg2"/>
                </a:solidFill>
                <a:latin typeface="Times New Roman" panose="02020603050405020304" pitchFamily="18" charset="0"/>
                <a:cs typeface="Times New Roman" panose="02020603050405020304" pitchFamily="18" charset="0"/>
              </a:rPr>
              <a:t>5</a:t>
            </a:r>
            <a:r>
              <a:rPr lang="zh-CN" altLang="en-US" sz="2800" dirty="0">
                <a:solidFill>
                  <a:schemeClr val="bg2"/>
                </a:solidFill>
                <a:latin typeface="Times New Roman" panose="02020603050405020304" pitchFamily="18" charset="0"/>
                <a:cs typeface="Times New Roman" panose="02020603050405020304" pitchFamily="18" charset="0"/>
              </a:rPr>
              <a:t>： </a:t>
            </a:r>
            <a:r>
              <a:rPr lang="en-US" altLang="zh-CN" sz="2800" dirty="0" smtClean="0">
                <a:solidFill>
                  <a:schemeClr val="bg2"/>
                </a:solidFill>
                <a:latin typeface="Times New Roman" panose="02020603050405020304" pitchFamily="18" charset="0"/>
                <a:cs typeface="Times New Roman" panose="02020603050405020304" pitchFamily="18" charset="0"/>
              </a:rPr>
              <a:t>min </a:t>
            </a:r>
            <a:r>
              <a:rPr lang="en-US" altLang="zh-CN" sz="2800" i="1" dirty="0">
                <a:solidFill>
                  <a:schemeClr val="bg2"/>
                </a:solidFill>
                <a:latin typeface="Times New Roman" panose="02020603050405020304" pitchFamily="18" charset="0"/>
                <a:cs typeface="Times New Roman" panose="02020603050405020304" pitchFamily="18" charset="0"/>
              </a:rPr>
              <a:t>z</a:t>
            </a:r>
            <a:r>
              <a:rPr lang="en-US" altLang="zh-CN" sz="2800" dirty="0">
                <a:solidFill>
                  <a:schemeClr val="bg2"/>
                </a:solidFill>
                <a:latin typeface="Times New Roman" panose="02020603050405020304" pitchFamily="18" charset="0"/>
                <a:cs typeface="Times New Roman" panose="02020603050405020304" pitchFamily="18" charset="0"/>
              </a:rPr>
              <a:t> =2</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+3</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+5</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p>
          <a:p>
            <a:pPr>
              <a:lnSpc>
                <a:spcPct val="120000"/>
              </a:lnSpc>
              <a:buNone/>
            </a:pPr>
            <a:r>
              <a:rPr lang="en-US" altLang="zh-CN" sz="2800" dirty="0">
                <a:solidFill>
                  <a:schemeClr val="bg2"/>
                </a:solidFill>
                <a:latin typeface="Times New Roman" panose="02020603050405020304" pitchFamily="18" charset="0"/>
                <a:cs typeface="Times New Roman" panose="02020603050405020304" pitchFamily="18" charset="0"/>
              </a:rPr>
              <a:t>              </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en-US" altLang="zh-CN" sz="2800" dirty="0">
                <a:solidFill>
                  <a:schemeClr val="bg2"/>
                </a:solidFill>
                <a:latin typeface="Times New Roman" panose="02020603050405020304" pitchFamily="18" charset="0"/>
                <a:cs typeface="Times New Roman" panose="02020603050405020304" pitchFamily="18" charset="0"/>
              </a:rPr>
              <a:t>≥-5</a:t>
            </a:r>
          </a:p>
          <a:p>
            <a:pPr>
              <a:lnSpc>
                <a:spcPct val="120000"/>
              </a:lnSpc>
              <a:buNone/>
            </a:pPr>
            <a:r>
              <a:rPr lang="en-US" altLang="zh-CN" sz="2800" dirty="0">
                <a:solidFill>
                  <a:schemeClr val="bg2"/>
                </a:solidFill>
                <a:latin typeface="Times New Roman" panose="02020603050405020304" pitchFamily="18" charset="0"/>
                <a:cs typeface="Times New Roman" panose="02020603050405020304" pitchFamily="18" charset="0"/>
              </a:rPr>
              <a:t>              -6</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+7</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-9</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en-US" altLang="zh-CN" sz="2800" dirty="0">
                <a:solidFill>
                  <a:schemeClr val="bg2"/>
                </a:solidFill>
                <a:latin typeface="Times New Roman" panose="02020603050405020304" pitchFamily="18" charset="0"/>
                <a:cs typeface="Times New Roman" panose="02020603050405020304" pitchFamily="18" charset="0"/>
              </a:rPr>
              <a:t>=16</a:t>
            </a:r>
          </a:p>
          <a:p>
            <a:pPr>
              <a:lnSpc>
                <a:spcPct val="120000"/>
              </a:lnSpc>
              <a:buNone/>
            </a:pPr>
            <a:r>
              <a:rPr lang="en-US" altLang="zh-CN" sz="2800" dirty="0">
                <a:solidFill>
                  <a:schemeClr val="bg2"/>
                </a:solidFill>
                <a:latin typeface="Times New Roman" panose="02020603050405020304" pitchFamily="18" charset="0"/>
                <a:cs typeface="Times New Roman" panose="02020603050405020304" pitchFamily="18" charset="0"/>
              </a:rPr>
              <a:t>            ∣19</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-7</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dirty="0">
                <a:solidFill>
                  <a:schemeClr val="bg2"/>
                </a:solidFill>
                <a:latin typeface="Times New Roman" panose="02020603050405020304" pitchFamily="18" charset="0"/>
                <a:cs typeface="Times New Roman" panose="02020603050405020304" pitchFamily="18" charset="0"/>
              </a:rPr>
              <a:t>5</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en-US" altLang="zh-CN" sz="2800" dirty="0">
                <a:solidFill>
                  <a:schemeClr val="bg2"/>
                </a:solidFill>
                <a:latin typeface="Times New Roman" panose="02020603050405020304" pitchFamily="18" charset="0"/>
                <a:cs typeface="Times New Roman" panose="02020603050405020304" pitchFamily="18" charset="0"/>
              </a:rPr>
              <a:t>∣≤13</a:t>
            </a:r>
          </a:p>
          <a:p>
            <a:pPr>
              <a:lnSpc>
                <a:spcPct val="120000"/>
              </a:lnSpc>
              <a:buNone/>
            </a:pPr>
            <a:r>
              <a:rPr lang="en-US" altLang="zh-CN" sz="2800" dirty="0">
                <a:solidFill>
                  <a:schemeClr val="bg2"/>
                </a:solidFill>
                <a:latin typeface="Times New Roman" panose="02020603050405020304" pitchFamily="18" charset="0"/>
                <a:cs typeface="Times New Roman" panose="02020603050405020304" pitchFamily="18" charset="0"/>
              </a:rPr>
              <a:t>              </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≥0</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zh-CN" altLang="en-US" sz="2800" dirty="0">
                <a:solidFill>
                  <a:schemeClr val="bg2"/>
                </a:solidFill>
                <a:latin typeface="Times New Roman" panose="02020603050405020304" pitchFamily="18" charset="0"/>
                <a:cs typeface="Times New Roman" panose="02020603050405020304" pitchFamily="18" charset="0"/>
              </a:rPr>
              <a:t>无约束</a:t>
            </a: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kern="1200" dirty="0" smtClean="0">
                <a:solidFill>
                  <a:schemeClr val="accent2"/>
                </a:solidFill>
                <a:sym typeface="+mn-ea"/>
              </a:rPr>
              <a:t>6.2 </a:t>
            </a:r>
            <a:r>
              <a:rPr kumimoji="0" lang="zh-CN" altLang="en-US" kern="1200" dirty="0" smtClean="0">
                <a:solidFill>
                  <a:schemeClr val="accent2"/>
                </a:solidFill>
                <a:sym typeface="+mn-ea"/>
              </a:rPr>
              <a:t>标准形</a:t>
            </a:r>
          </a:p>
        </p:txBody>
      </p:sp>
      <p:sp>
        <p:nvSpPr>
          <p:cNvPr id="6" name="文本占位符 109570"/>
          <p:cNvSpPr>
            <a:spLocks noGrp="1"/>
          </p:cNvSpPr>
          <p:nvPr/>
        </p:nvSpPr>
        <p:spPr>
          <a:xfrm>
            <a:off x="522158" y="1700808"/>
            <a:ext cx="7697788" cy="40386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Char char="l"/>
              <a:defRPr sz="31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1"/>
              </a:buClr>
              <a:buSzPct val="150000"/>
              <a:buFontTx/>
              <a:buChar char="•"/>
              <a:defRPr sz="26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tx1"/>
              </a:buClr>
              <a:buSzPct val="150000"/>
              <a:buFontTx/>
              <a:buChar char="•"/>
              <a:defRPr sz="22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tx2"/>
              </a:buClr>
              <a:buSzPct val="150000"/>
              <a:buFontTx/>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9pPr>
          </a:lstStyle>
          <a:p>
            <a:pPr>
              <a:lnSpc>
                <a:spcPct val="130000"/>
              </a:lnSpc>
              <a:spcBef>
                <a:spcPts val="20"/>
              </a:spcBef>
              <a:spcAft>
                <a:spcPts val="0"/>
              </a:spcAft>
              <a:buClr>
                <a:schemeClr val="bg2"/>
              </a:buClr>
              <a:buSzPct val="70000"/>
              <a:buFont typeface="Wingdings" panose="05000000000000000000" pitchFamily="2" charset="2"/>
              <a:buNone/>
            </a:pPr>
            <a:r>
              <a:rPr lang="zh-CN" altLang="en-US" sz="2800" dirty="0" smtClean="0">
                <a:solidFill>
                  <a:schemeClr val="bg2"/>
                </a:solidFill>
                <a:latin typeface="Times New Roman" panose="02020603050405020304" pitchFamily="18" charset="0"/>
                <a:cs typeface="Times New Roman" panose="02020603050405020304" pitchFamily="18" charset="0"/>
              </a:rPr>
              <a:t>解</a:t>
            </a:r>
            <a:r>
              <a:rPr lang="zh-CN" altLang="en-US" sz="2800" dirty="0">
                <a:solidFill>
                  <a:schemeClr val="bg2"/>
                </a:solidFill>
                <a:latin typeface="Times New Roman" panose="02020603050405020304" pitchFamily="18" charset="0"/>
                <a:cs typeface="Times New Roman" panose="02020603050405020304" pitchFamily="18" charset="0"/>
              </a:rPr>
              <a:t>：令</a:t>
            </a:r>
          </a:p>
          <a:p>
            <a:pPr>
              <a:lnSpc>
                <a:spcPct val="130000"/>
              </a:lnSpc>
              <a:spcBef>
                <a:spcPts val="20"/>
              </a:spcBef>
              <a:spcAft>
                <a:spcPts val="0"/>
              </a:spcAft>
              <a:buClr>
                <a:schemeClr val="bg2"/>
              </a:buClr>
              <a:buSzPct val="70000"/>
              <a:buFont typeface="Wingdings" panose="05000000000000000000" pitchFamily="2" charset="2"/>
              <a:buNone/>
            </a:pPr>
            <a:r>
              <a:rPr lang="zh-CN" altLang="en-US" sz="2800" dirty="0">
                <a:solidFill>
                  <a:schemeClr val="bg2"/>
                </a:solidFill>
                <a:latin typeface="Times New Roman" panose="02020603050405020304" pitchFamily="18" charset="0"/>
                <a:cs typeface="Times New Roman" panose="02020603050405020304" pitchFamily="18" charset="0"/>
              </a:rPr>
              <a:t>      </a:t>
            </a:r>
            <a:r>
              <a:rPr lang="en-US" altLang="zh-CN" sz="2800" dirty="0" smtClean="0">
                <a:solidFill>
                  <a:schemeClr val="bg2"/>
                </a:solidFill>
                <a:latin typeface="Times New Roman" panose="02020603050405020304" pitchFamily="18" charset="0"/>
                <a:cs typeface="Times New Roman" panose="02020603050405020304" pitchFamily="18" charset="0"/>
              </a:rPr>
              <a:t>min </a:t>
            </a:r>
            <a:r>
              <a:rPr lang="en-US" altLang="zh-CN" sz="2800" i="1" dirty="0">
                <a:solidFill>
                  <a:schemeClr val="bg2"/>
                </a:solidFill>
                <a:latin typeface="Times New Roman" panose="02020603050405020304" pitchFamily="18" charset="0"/>
                <a:cs typeface="Times New Roman" panose="02020603050405020304" pitchFamily="18" charset="0"/>
              </a:rPr>
              <a:t>z</a:t>
            </a:r>
            <a:r>
              <a:rPr lang="en-US" altLang="zh-CN" sz="2800" dirty="0">
                <a:solidFill>
                  <a:schemeClr val="bg2"/>
                </a:solidFill>
                <a:latin typeface="Times New Roman" panose="02020603050405020304" pitchFamily="18" charset="0"/>
                <a:cs typeface="Times New Roman" panose="02020603050405020304" pitchFamily="18" charset="0"/>
              </a:rPr>
              <a:t>=2</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+3</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+5</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en-US" altLang="zh-CN" sz="2800" dirty="0">
                <a:solidFill>
                  <a:schemeClr val="bg2"/>
                </a:solidFill>
                <a:latin typeface="Times New Roman" panose="02020603050405020304" pitchFamily="18" charset="0"/>
                <a:cs typeface="Times New Roman" panose="02020603050405020304" pitchFamily="18" charset="0"/>
              </a:rPr>
              <a:t>′-5</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zh-CN" altLang="en-US" sz="2800" dirty="0">
                <a:solidFill>
                  <a:schemeClr val="bg2"/>
                </a:solidFill>
                <a:latin typeface="Times New Roman" panose="02020603050405020304" pitchFamily="18" charset="0"/>
                <a:cs typeface="Times New Roman" panose="02020603050405020304" pitchFamily="18" charset="0"/>
              </a:rPr>
              <a:t>〞</a:t>
            </a:r>
            <a:endParaRPr lang="zh-CN" altLang="en-US" sz="2800" baseline="-25000" dirty="0">
              <a:solidFill>
                <a:schemeClr val="bg2"/>
              </a:solidFill>
              <a:latin typeface="Times New Roman" panose="02020603050405020304" pitchFamily="18" charset="0"/>
              <a:cs typeface="Times New Roman" panose="02020603050405020304" pitchFamily="18" charset="0"/>
            </a:endParaRPr>
          </a:p>
          <a:p>
            <a:pPr>
              <a:lnSpc>
                <a:spcPct val="130000"/>
              </a:lnSpc>
              <a:spcBef>
                <a:spcPts val="20"/>
              </a:spcBef>
              <a:spcAft>
                <a:spcPts val="0"/>
              </a:spcAft>
              <a:buClr>
                <a:schemeClr val="bg2"/>
              </a:buClr>
              <a:buSzPct val="70000"/>
              <a:buFont typeface="Wingdings" panose="05000000000000000000" pitchFamily="2" charset="2"/>
              <a:buNone/>
            </a:pPr>
            <a:r>
              <a:rPr lang="zh-CN" altLang="en-US" sz="2800" dirty="0">
                <a:solidFill>
                  <a:schemeClr val="bg2"/>
                </a:solidFill>
                <a:latin typeface="Times New Roman" panose="02020603050405020304" pitchFamily="18" charset="0"/>
                <a:cs typeface="Times New Roman" panose="02020603050405020304" pitchFamily="18" charset="0"/>
              </a:rPr>
              <a:t>           </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4</a:t>
            </a:r>
            <a:r>
              <a:rPr lang="en-US" altLang="zh-CN" sz="2800" dirty="0">
                <a:solidFill>
                  <a:schemeClr val="bg2"/>
                </a:solidFill>
                <a:latin typeface="Times New Roman" panose="02020603050405020304" pitchFamily="18" charset="0"/>
                <a:cs typeface="Times New Roman" panose="02020603050405020304" pitchFamily="18" charset="0"/>
              </a:rPr>
              <a:t>=5</a:t>
            </a:r>
          </a:p>
          <a:p>
            <a:pPr>
              <a:lnSpc>
                <a:spcPct val="130000"/>
              </a:lnSpc>
              <a:spcBef>
                <a:spcPts val="20"/>
              </a:spcBef>
              <a:spcAft>
                <a:spcPts val="0"/>
              </a:spcAft>
              <a:buClr>
                <a:schemeClr val="bg2"/>
              </a:buClr>
              <a:buSzPct val="70000"/>
              <a:buFont typeface="Wingdings" panose="05000000000000000000" pitchFamily="2" charset="2"/>
              <a:buNone/>
            </a:pPr>
            <a:r>
              <a:rPr lang="en-US" altLang="zh-CN" sz="2800" dirty="0">
                <a:solidFill>
                  <a:schemeClr val="bg2"/>
                </a:solidFill>
                <a:latin typeface="Times New Roman" panose="02020603050405020304" pitchFamily="18" charset="0"/>
                <a:cs typeface="Times New Roman" panose="02020603050405020304" pitchFamily="18" charset="0"/>
              </a:rPr>
              <a:t>           -6</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+7</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-9</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en-US" altLang="zh-CN" sz="2800" dirty="0">
                <a:solidFill>
                  <a:schemeClr val="bg2"/>
                </a:solidFill>
                <a:latin typeface="Times New Roman" panose="02020603050405020304" pitchFamily="18" charset="0"/>
                <a:cs typeface="Times New Roman" panose="02020603050405020304" pitchFamily="18" charset="0"/>
              </a:rPr>
              <a:t>′+9</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dirty="0">
                <a:solidFill>
                  <a:schemeClr val="bg2"/>
                </a:solidFill>
                <a:latin typeface="Times New Roman" panose="02020603050405020304" pitchFamily="18" charset="0"/>
                <a:cs typeface="Times New Roman" panose="02020603050405020304" pitchFamily="18" charset="0"/>
              </a:rPr>
              <a:t>=16</a:t>
            </a:r>
          </a:p>
          <a:p>
            <a:pPr>
              <a:lnSpc>
                <a:spcPct val="130000"/>
              </a:lnSpc>
              <a:spcBef>
                <a:spcPts val="20"/>
              </a:spcBef>
              <a:spcAft>
                <a:spcPts val="0"/>
              </a:spcAft>
              <a:buClr>
                <a:schemeClr val="bg2"/>
              </a:buClr>
              <a:buSzPct val="70000"/>
              <a:buFont typeface="Wingdings" panose="05000000000000000000" pitchFamily="2" charset="2"/>
              <a:buNone/>
            </a:pPr>
            <a:r>
              <a:rPr lang="en-US" altLang="zh-CN" sz="2800" dirty="0">
                <a:solidFill>
                  <a:schemeClr val="bg2"/>
                </a:solidFill>
                <a:latin typeface="Times New Roman" panose="02020603050405020304" pitchFamily="18" charset="0"/>
                <a:cs typeface="Times New Roman" panose="02020603050405020304" pitchFamily="18" charset="0"/>
              </a:rPr>
              <a:t>           19</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-7</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+5</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en-US" altLang="zh-CN" sz="2800" dirty="0">
                <a:solidFill>
                  <a:schemeClr val="bg2"/>
                </a:solidFill>
                <a:latin typeface="Times New Roman" panose="02020603050405020304" pitchFamily="18" charset="0"/>
                <a:cs typeface="Times New Roman" panose="02020603050405020304" pitchFamily="18" charset="0"/>
              </a:rPr>
              <a:t>′-5</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5</a:t>
            </a:r>
            <a:r>
              <a:rPr lang="en-US" altLang="zh-CN" sz="2800" dirty="0">
                <a:solidFill>
                  <a:schemeClr val="bg2"/>
                </a:solidFill>
                <a:latin typeface="Times New Roman" panose="02020603050405020304" pitchFamily="18" charset="0"/>
                <a:cs typeface="Times New Roman" panose="02020603050405020304" pitchFamily="18" charset="0"/>
              </a:rPr>
              <a:t>=13</a:t>
            </a:r>
          </a:p>
          <a:p>
            <a:pPr>
              <a:lnSpc>
                <a:spcPct val="130000"/>
              </a:lnSpc>
              <a:spcBef>
                <a:spcPts val="20"/>
              </a:spcBef>
              <a:spcAft>
                <a:spcPts val="0"/>
              </a:spcAft>
              <a:buClr>
                <a:schemeClr val="bg2"/>
              </a:buClr>
              <a:buSzPct val="70000"/>
              <a:buFont typeface="Wingdings" panose="05000000000000000000" pitchFamily="2" charset="2"/>
              <a:buNone/>
            </a:pPr>
            <a:r>
              <a:rPr lang="en-US" altLang="zh-CN" sz="2800" dirty="0">
                <a:solidFill>
                  <a:schemeClr val="bg2"/>
                </a:solidFill>
                <a:latin typeface="Times New Roman" panose="02020603050405020304" pitchFamily="18" charset="0"/>
                <a:cs typeface="Times New Roman" panose="02020603050405020304" pitchFamily="18" charset="0"/>
              </a:rPr>
              <a:t>           -19</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+7</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-5</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en-US" altLang="zh-CN" sz="2800" dirty="0">
                <a:solidFill>
                  <a:schemeClr val="bg2"/>
                </a:solidFill>
                <a:latin typeface="Times New Roman" panose="02020603050405020304" pitchFamily="18" charset="0"/>
                <a:cs typeface="Times New Roman" panose="02020603050405020304" pitchFamily="18" charset="0"/>
              </a:rPr>
              <a:t>′+5</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6</a:t>
            </a:r>
            <a:r>
              <a:rPr lang="en-US" altLang="zh-CN" sz="2800" dirty="0">
                <a:solidFill>
                  <a:schemeClr val="bg2"/>
                </a:solidFill>
                <a:latin typeface="Times New Roman" panose="02020603050405020304" pitchFamily="18" charset="0"/>
                <a:cs typeface="Times New Roman" panose="02020603050405020304" pitchFamily="18" charset="0"/>
              </a:rPr>
              <a:t>=13</a:t>
            </a:r>
          </a:p>
          <a:p>
            <a:pPr>
              <a:lnSpc>
                <a:spcPct val="130000"/>
              </a:lnSpc>
              <a:spcBef>
                <a:spcPts val="20"/>
              </a:spcBef>
              <a:spcAft>
                <a:spcPts val="0"/>
              </a:spcAft>
              <a:buClr>
                <a:schemeClr val="bg2"/>
              </a:buClr>
              <a:buSzPct val="70000"/>
              <a:buFont typeface="Wingdings" panose="05000000000000000000" pitchFamily="2" charset="2"/>
              <a:buNone/>
            </a:pPr>
            <a:r>
              <a:rPr lang="en-US" altLang="zh-CN" sz="2800" dirty="0">
                <a:solidFill>
                  <a:schemeClr val="bg2"/>
                </a:solidFill>
                <a:latin typeface="Times New Roman" panose="02020603050405020304" pitchFamily="18" charset="0"/>
                <a:cs typeface="Times New Roman" panose="02020603050405020304" pitchFamily="18" charset="0"/>
              </a:rPr>
              <a:t>           </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en-US" altLang="zh-CN" sz="2800" dirty="0">
                <a:solidFill>
                  <a:schemeClr val="bg2"/>
                </a:solidFill>
                <a:latin typeface="Times New Roman" panose="02020603050405020304" pitchFamily="18" charset="0"/>
                <a:cs typeface="Times New Roman" panose="02020603050405020304" pitchFamily="18" charset="0"/>
              </a:rPr>
              <a:t>′</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3</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4</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5 </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6</a:t>
            </a:r>
            <a:r>
              <a:rPr lang="en-US" altLang="zh-CN" sz="2800" dirty="0">
                <a:solidFill>
                  <a:schemeClr val="bg2"/>
                </a:solidFill>
                <a:latin typeface="Times New Roman" panose="02020603050405020304" pitchFamily="18" charset="0"/>
                <a:cs typeface="Times New Roman" panose="02020603050405020304" pitchFamily="18" charset="0"/>
              </a:rPr>
              <a:t>≥0</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1675" y="1770658"/>
            <a:ext cx="1733550"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wipe(left)">
                                      <p:cBhvr>
                                        <p:cTn id="7" dur="500"/>
                                        <p:tgtEl>
                                          <p:spTgt spid="92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wipe(left)">
                                      <p:cBhvr>
                                        <p:cTn id="18" dur="500"/>
                                        <p:tgtEl>
                                          <p:spTgt spid="6">
                                            <p:txEl>
                                              <p:pRg st="3" end="3"/>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wipe(left)">
                                      <p:cBhvr>
                                        <p:cTn id="21" dur="500"/>
                                        <p:tgtEl>
                                          <p:spTgt spid="6">
                                            <p:txEl>
                                              <p:pRg st="4" end="4"/>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6">
                                            <p:txEl>
                                              <p:pRg st="5" end="5"/>
                                            </p:txEl>
                                          </p:spTgt>
                                        </p:tgtEl>
                                        <p:attrNameLst>
                                          <p:attrName>style.visibility</p:attrName>
                                        </p:attrNameLst>
                                      </p:cBhvr>
                                      <p:to>
                                        <p:strVal val="visible"/>
                                      </p:to>
                                    </p:set>
                                    <p:animEffect transition="in" filter="wipe(left)">
                                      <p:cBhvr>
                                        <p:cTn id="24" dur="500"/>
                                        <p:tgtEl>
                                          <p:spTgt spid="6">
                                            <p:txEl>
                                              <p:pRg st="5" end="5"/>
                                            </p:txEl>
                                          </p:spTgt>
                                        </p:tgtEl>
                                      </p:cBhvr>
                                    </p:animEffect>
                                  </p:childTnLst>
                                </p:cTn>
                              </p:par>
                              <p:par>
                                <p:cTn id="25" presetID="22" presetClass="entr" presetSubtype="8" fill="hold"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wipe(left)">
                                      <p:cBhvr>
                                        <p:cTn id="27"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39750" y="26076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dirty="0">
                <a:solidFill>
                  <a:schemeClr val="accent2"/>
                </a:solidFill>
                <a:sym typeface="+mn-ea"/>
              </a:rPr>
              <a:t>6.2 </a:t>
            </a:r>
            <a:r>
              <a:rPr kumimoji="0" lang="zh-CN" altLang="en-US" dirty="0">
                <a:solidFill>
                  <a:schemeClr val="accent2"/>
                </a:solidFill>
                <a:sym typeface="+mn-ea"/>
              </a:rPr>
              <a:t>标准形</a:t>
            </a:r>
          </a:p>
        </p:txBody>
      </p:sp>
      <p:sp>
        <p:nvSpPr>
          <p:cNvPr id="7" name="Rectangle 2"/>
          <p:cNvSpPr>
            <a:spLocks noGrp="1"/>
          </p:cNvSpPr>
          <p:nvPr>
            <p:ph type="title"/>
          </p:nvPr>
        </p:nvSpPr>
        <p:spPr>
          <a:xfrm>
            <a:off x="685800" y="1628799"/>
            <a:ext cx="4822304" cy="1122273"/>
          </a:xfrm>
        </p:spPr>
        <p:txBody>
          <a:bodyPr vert="horz" wrap="square" lIns="91440" tIns="45720" rIns="91440" bIns="45720" anchor="ctr"/>
          <a:lstStyle/>
          <a:p>
            <a:pPr marL="342900" indent="-342900" eaLnBrk="1" hangingPunct="1">
              <a:lnSpc>
                <a:spcPct val="130000"/>
              </a:lnSpc>
              <a:buFont typeface="Wingdings" panose="05000000000000000000" pitchFamily="2" charset="2"/>
              <a:buChar char="p"/>
            </a:pPr>
            <a:r>
              <a:rPr lang="zh-CN" altLang="en-US" sz="2400" dirty="0" smtClean="0">
                <a:solidFill>
                  <a:schemeClr val="bg2"/>
                </a:solidFill>
              </a:rPr>
              <a:t>线性规划</a:t>
            </a:r>
            <a:r>
              <a:rPr lang="zh-CN" altLang="en-US" sz="2400" dirty="0">
                <a:solidFill>
                  <a:schemeClr val="bg2"/>
                </a:solidFill>
              </a:rPr>
              <a:t>模型</a:t>
            </a:r>
            <a:r>
              <a:rPr lang="zh-CN" altLang="en-US" sz="2400" dirty="0" smtClean="0">
                <a:solidFill>
                  <a:schemeClr val="bg2"/>
                </a:solidFill>
              </a:rPr>
              <a:t>的其他表示形式</a:t>
            </a:r>
            <a:r>
              <a:rPr lang="en-US" altLang="zh-CN" sz="2400" dirty="0" smtClean="0">
                <a:solidFill>
                  <a:schemeClr val="bg2"/>
                </a:solidFill>
              </a:rPr>
              <a:t/>
            </a:r>
            <a:br>
              <a:rPr lang="en-US" altLang="zh-CN" sz="2400" dirty="0" smtClean="0">
                <a:solidFill>
                  <a:schemeClr val="bg2"/>
                </a:solidFill>
              </a:rPr>
            </a:br>
            <a:endParaRPr lang="zh-CN" altLang="en-US" sz="2400" b="0" dirty="0">
              <a:solidFill>
                <a:schemeClr val="bg2"/>
              </a:solidFill>
            </a:endParaRPr>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6706" y="2204864"/>
            <a:ext cx="5945187"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831" y="4508831"/>
            <a:ext cx="1209675" cy="193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016" y="4548295"/>
            <a:ext cx="1333500" cy="193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线形标注 1 1"/>
          <p:cNvSpPr/>
          <p:nvPr/>
        </p:nvSpPr>
        <p:spPr>
          <a:xfrm>
            <a:off x="6948805" y="4548505"/>
            <a:ext cx="1796415" cy="784860"/>
          </a:xfrm>
          <a:prstGeom prst="borderCallout1">
            <a:avLst>
              <a:gd name="adj1" fmla="val 53074"/>
              <a:gd name="adj2" fmla="val -1696"/>
              <a:gd name="adj3" fmla="val 63834"/>
              <a:gd name="adj4" fmla="val -51961"/>
            </a:avLst>
          </a:prstGeom>
          <a:noFill/>
          <a:ln w="28575" cap="sq" cmpd="dbl" algn="ctr">
            <a:solidFill>
              <a:schemeClr val="accent1">
                <a:shade val="50000"/>
              </a:schemeClr>
            </a:solidFill>
            <a:prstDash val="solid"/>
            <a:round/>
            <a:headEnd type="none" w="sm" len="sm"/>
            <a:tailEnd type="none" w="sm" len="sm"/>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lang="zh-CN" altLang="en-US" kern="0" noProof="0" dirty="0" smtClean="0">
                <a:ln>
                  <a:noFill/>
                </a:ln>
                <a:solidFill>
                  <a:schemeClr val="bg2"/>
                </a:solidFill>
                <a:effectLst/>
                <a:uLnTx/>
                <a:uFillTx/>
                <a:latin typeface="+mn-lt"/>
                <a:ea typeface="+mn-ea"/>
                <a:sym typeface="+mn-ea"/>
              </a:rPr>
              <a:t>约束方程组的系数向量</a:t>
            </a:r>
            <a:endParaRPr kumimoji="1" lang="zh-CN" altLang="en-US" sz="2400" b="0" i="0" u="none" strike="noStrike" kern="0" cap="none" normalizeH="0" baseline="0" noProof="0" dirty="0" smtClean="0">
              <a:ln>
                <a:noFill/>
              </a:ln>
              <a:solidFill>
                <a:schemeClr val="bg2"/>
              </a:solidFill>
              <a:effectLst/>
              <a:uLnTx/>
              <a:uFillTx/>
              <a:latin typeface="+mn-lt"/>
              <a:ea typeface="+mn-ea"/>
              <a:sym typeface="+mn-ea"/>
            </a:endParaRPr>
          </a:p>
        </p:txBody>
      </p:sp>
      <p:sp>
        <p:nvSpPr>
          <p:cNvPr id="3" name="线形标注 1 2"/>
          <p:cNvSpPr/>
          <p:nvPr/>
        </p:nvSpPr>
        <p:spPr>
          <a:xfrm>
            <a:off x="3563620" y="5157470"/>
            <a:ext cx="866775" cy="784860"/>
          </a:xfrm>
          <a:prstGeom prst="borderCallout1">
            <a:avLst>
              <a:gd name="adj1" fmla="val 47977"/>
              <a:gd name="adj2" fmla="val -1465"/>
              <a:gd name="adj3" fmla="val 63834"/>
              <a:gd name="adj4" fmla="val -51961"/>
            </a:avLst>
          </a:prstGeom>
          <a:noFill/>
          <a:ln w="28575" cap="sq" cmpd="dbl" algn="ctr">
            <a:solidFill>
              <a:schemeClr val="accent1">
                <a:shade val="50000"/>
              </a:schemeClr>
            </a:solidFill>
            <a:prstDash val="solid"/>
            <a:round/>
            <a:headEnd type="none" w="sm" len="sm"/>
            <a:tailEnd type="none" w="sm" len="sm"/>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lang="zh-CN" altLang="en-US" kern="0" noProof="0" dirty="0" smtClean="0">
                <a:ln>
                  <a:noFill/>
                </a:ln>
                <a:solidFill>
                  <a:schemeClr val="bg2"/>
                </a:solidFill>
                <a:effectLst/>
                <a:uLnTx/>
                <a:uFillTx/>
                <a:latin typeface="+mn-lt"/>
                <a:ea typeface="+mn-ea"/>
                <a:sym typeface="+mn-ea"/>
              </a:rPr>
              <a:t>决策向量</a:t>
            </a:r>
            <a:endParaRPr kumimoji="1" lang="zh-CN" altLang="en-US" sz="2400" b="0" i="0" u="none" strike="noStrike" kern="0" cap="none" normalizeH="0" baseline="0" noProof="0" dirty="0" smtClean="0">
              <a:ln>
                <a:noFill/>
              </a:ln>
              <a:solidFill>
                <a:schemeClr val="bg2"/>
              </a:solidFill>
              <a:effectLst/>
              <a:uLnTx/>
              <a:uFillTx/>
              <a:latin typeface="+mn-lt"/>
              <a:ea typeface="+mn-ea"/>
              <a:sym typeface="+mn-ea"/>
            </a:endParaRPr>
          </a:p>
        </p:txBody>
      </p:sp>
      <p:sp>
        <p:nvSpPr>
          <p:cNvPr id="4" name="线形标注 1 3"/>
          <p:cNvSpPr/>
          <p:nvPr/>
        </p:nvSpPr>
        <p:spPr>
          <a:xfrm>
            <a:off x="8100695" y="2277110"/>
            <a:ext cx="862330" cy="1831975"/>
          </a:xfrm>
          <a:prstGeom prst="borderCallout1">
            <a:avLst>
              <a:gd name="adj1" fmla="val 48145"/>
              <a:gd name="adj2" fmla="val -1325"/>
              <a:gd name="adj3" fmla="val 50987"/>
              <a:gd name="adj4" fmla="val -73932"/>
            </a:avLst>
          </a:prstGeom>
          <a:noFill/>
          <a:ln w="28575" cap="sq" cmpd="dbl" algn="ctr">
            <a:solidFill>
              <a:schemeClr val="accent1">
                <a:shade val="50000"/>
              </a:schemeClr>
            </a:solidFill>
            <a:prstDash val="solid"/>
            <a:round/>
            <a:headEnd type="none" w="sm" len="sm"/>
            <a:tailEnd type="none" w="sm" len="sm"/>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lang="zh-CN" altLang="en-US" kern="0" noProof="0" dirty="0" smtClean="0">
                <a:ln>
                  <a:noFill/>
                </a:ln>
                <a:solidFill>
                  <a:schemeClr val="bg2"/>
                </a:solidFill>
                <a:effectLst/>
                <a:uLnTx/>
                <a:uFillTx/>
                <a:latin typeface="+mn-lt"/>
                <a:ea typeface="+mn-ea"/>
                <a:sym typeface="+mn-ea"/>
              </a:rPr>
              <a:t>目标函数的系数向量</a:t>
            </a:r>
            <a:endParaRPr kumimoji="1" lang="zh-CN" altLang="en-US" sz="2400" b="0" i="0" u="none" strike="noStrike" kern="0" cap="none" normalizeH="0" baseline="0" noProof="0" dirty="0" smtClean="0">
              <a:ln>
                <a:noFill/>
              </a:ln>
              <a:solidFill>
                <a:schemeClr val="bg2"/>
              </a:solidFill>
              <a:effectLst/>
              <a:uLnTx/>
              <a:uFillTx/>
              <a:latin typeface="+mn-lt"/>
              <a:ea typeface="+mn-ea"/>
              <a:sym typeface="+mn-ea"/>
            </a:endParaRPr>
          </a:p>
        </p:txBody>
      </p:sp>
      <p:sp>
        <p:nvSpPr>
          <p:cNvPr id="5" name="线形标注 1 4"/>
          <p:cNvSpPr/>
          <p:nvPr/>
        </p:nvSpPr>
        <p:spPr>
          <a:xfrm>
            <a:off x="5796280" y="1472565"/>
            <a:ext cx="3246120" cy="531495"/>
          </a:xfrm>
          <a:prstGeom prst="borderCallout1">
            <a:avLst>
              <a:gd name="adj1" fmla="val 93787"/>
              <a:gd name="adj2" fmla="val 293"/>
              <a:gd name="adj3" fmla="val 146833"/>
              <a:gd name="adj4" fmla="val -6114"/>
            </a:avLst>
          </a:prstGeom>
          <a:solidFill>
            <a:schemeClr val="tx1"/>
          </a:solidFill>
          <a:ln w="28575" cap="sq" cmpd="dbl" algn="ctr">
            <a:solidFill>
              <a:schemeClr val="accent1">
                <a:shade val="50000"/>
              </a:schemeClr>
            </a:solidFill>
            <a:prstDash val="solid"/>
            <a:round/>
            <a:headEnd type="none" w="sm" len="sm"/>
            <a:tailEnd type="none" w="sm" len="sm"/>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lang="zh-CN" altLang="en-US" kern="0" noProof="0" dirty="0" smtClean="0">
                <a:ln>
                  <a:noFill/>
                </a:ln>
                <a:solidFill>
                  <a:schemeClr val="bg2"/>
                </a:solidFill>
                <a:effectLst/>
                <a:uLnTx/>
                <a:uFillTx/>
                <a:latin typeface="+mn-lt"/>
                <a:ea typeface="+mn-ea"/>
                <a:sym typeface="+mn-ea"/>
              </a:rPr>
              <a:t>约束方程组的常数向量</a:t>
            </a:r>
            <a:endParaRPr kumimoji="1" lang="zh-CN" altLang="en-US" sz="2400" b="0" i="0" u="none" strike="noStrike" kern="0" cap="none" normalizeH="0" baseline="0" noProof="0" dirty="0" smtClean="0">
              <a:ln>
                <a:noFill/>
              </a:ln>
              <a:solidFill>
                <a:schemeClr val="bg2"/>
              </a:solidFill>
              <a:effectLst/>
              <a:uLnTx/>
              <a:uFillTx/>
              <a:latin typeface="+mn-lt"/>
              <a:ea typeface="+mn-ea"/>
              <a:sym typeface="+mn-ea"/>
            </a:endParaRPr>
          </a:p>
        </p:txBody>
      </p:sp>
      <p:sp>
        <p:nvSpPr>
          <p:cNvPr id="6" name="线形标注 1 5"/>
          <p:cNvSpPr/>
          <p:nvPr/>
        </p:nvSpPr>
        <p:spPr>
          <a:xfrm>
            <a:off x="252095" y="2781300"/>
            <a:ext cx="1166495" cy="1489710"/>
          </a:xfrm>
          <a:prstGeom prst="borderCallout1">
            <a:avLst>
              <a:gd name="adj1" fmla="val 51040"/>
              <a:gd name="adj2" fmla="val 99782"/>
              <a:gd name="adj3" fmla="val -20992"/>
              <a:gd name="adj4" fmla="val 167991"/>
            </a:avLst>
          </a:prstGeom>
          <a:solidFill>
            <a:schemeClr val="tx1"/>
          </a:solidFill>
          <a:ln w="28575" cap="sq" cmpd="dbl" algn="ctr">
            <a:solidFill>
              <a:schemeClr val="accent1">
                <a:shade val="50000"/>
              </a:schemeClr>
            </a:solidFill>
            <a:prstDash val="solid"/>
            <a:round/>
            <a:headEnd type="none" w="sm" len="sm"/>
            <a:tailEnd type="none" w="sm" len="sm"/>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lang="zh-CN" altLang="en-US" kern="0" noProof="0" dirty="0" smtClean="0">
                <a:ln>
                  <a:noFill/>
                </a:ln>
                <a:solidFill>
                  <a:schemeClr val="bg2"/>
                </a:solidFill>
                <a:effectLst/>
                <a:uLnTx/>
                <a:uFillTx/>
                <a:latin typeface="+mn-lt"/>
                <a:ea typeface="+mn-ea"/>
                <a:sym typeface="+mn-ea"/>
              </a:rPr>
              <a:t>约束方程组的系数矩阵</a:t>
            </a:r>
            <a:endParaRPr kumimoji="1" lang="zh-CN" altLang="en-US" sz="2400" b="0" i="0" u="none" strike="noStrike" kern="0" cap="none" normalizeH="0" baseline="0" noProof="0" dirty="0" smtClean="0">
              <a:ln>
                <a:noFill/>
              </a:ln>
              <a:solidFill>
                <a:schemeClr val="bg2"/>
              </a:solidFill>
              <a:effectLst/>
              <a:uLnTx/>
              <a:uFillTx/>
              <a:latin typeface="+mn-lt"/>
              <a:ea typeface="+mn-ea"/>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animBg="1"/>
      <p:bldP spid="5" grpId="1" animBg="1"/>
      <p:bldP spid="6" grpId="0" animBg="1"/>
      <p:bldP spid="6"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副标题 2"/>
          <p:cNvSpPr txBox="1"/>
          <p:nvPr/>
        </p:nvSpPr>
        <p:spPr>
          <a:xfrm>
            <a:off x="4932040" y="2285143"/>
            <a:ext cx="3607822" cy="2728913"/>
          </a:xfrm>
          <a:prstGeom prst="rect">
            <a:avLst/>
          </a:prstGeom>
          <a:noFill/>
          <a:ln w="9525">
            <a:noFill/>
          </a:ln>
        </p:spPr>
        <p:txBody>
          <a:bodyPr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lnSpc>
                <a:spcPct val="200000"/>
              </a:lnSpc>
              <a:spcBef>
                <a:spcPct val="20000"/>
              </a:spcBef>
              <a:buSzTx/>
              <a:buFont typeface="Arial" panose="020B0604020202020204" pitchFamily="34" charset="0"/>
            </a:pPr>
            <a:r>
              <a:rPr lang="en-US" altLang="zh-CN" sz="2400" b="1" dirty="0" smtClean="0">
                <a:solidFill>
                  <a:schemeClr val="bg2"/>
                </a:solidFill>
                <a:latin typeface="Times New Roman" panose="02020603050405020304" pitchFamily="18" charset="0"/>
                <a:ea typeface="宋体" panose="02010600030101010101" pitchFamily="2" charset="-122"/>
              </a:rPr>
              <a:t>min </a:t>
            </a:r>
            <a:r>
              <a:rPr lang="en-US" altLang="zh-CN" sz="2400" b="1" i="1" dirty="0">
                <a:solidFill>
                  <a:schemeClr val="bg2"/>
                </a:solidFill>
                <a:latin typeface="Times New Roman" panose="02020603050405020304" pitchFamily="18" charset="0"/>
                <a:ea typeface="宋体" panose="02010600030101010101" pitchFamily="2" charset="-122"/>
              </a:rPr>
              <a:t>z</a:t>
            </a:r>
            <a:r>
              <a:rPr lang="en-US" altLang="zh-CN" sz="2400" b="1" dirty="0">
                <a:solidFill>
                  <a:schemeClr val="bg2"/>
                </a:solidFill>
                <a:latin typeface="Times New Roman" panose="02020603050405020304" pitchFamily="18" charset="0"/>
                <a:ea typeface="宋体" panose="02010600030101010101" pitchFamily="2" charset="-122"/>
              </a:rPr>
              <a:t>=</a:t>
            </a:r>
            <a:endParaRPr lang="zh-CN" altLang="en-US" sz="2400" b="1" dirty="0">
              <a:solidFill>
                <a:schemeClr val="bg2"/>
              </a:solidFill>
              <a:latin typeface="Times New Roman" panose="02020603050405020304" pitchFamily="18" charset="0"/>
              <a:ea typeface="宋体" panose="02010600030101010101" pitchFamily="2" charset="-122"/>
            </a:endParaRPr>
          </a:p>
          <a:p>
            <a:pPr eaLnBrk="0" hangingPunct="0">
              <a:lnSpc>
                <a:spcPct val="250000"/>
              </a:lnSpc>
              <a:spcBef>
                <a:spcPct val="20000"/>
              </a:spcBef>
              <a:buSzTx/>
              <a:buFont typeface="Arial" panose="020B0604020202020204" pitchFamily="34" charset="0"/>
            </a:pPr>
            <a:r>
              <a:rPr lang="en-US" altLang="zh-CN" sz="2400" b="1" dirty="0" smtClean="0">
                <a:solidFill>
                  <a:schemeClr val="bg2"/>
                </a:solidFill>
                <a:latin typeface="Times New Roman" panose="02020603050405020304" pitchFamily="18" charset="0"/>
                <a:ea typeface="宋体" panose="02010600030101010101" pitchFamily="2" charset="-122"/>
              </a:rPr>
              <a:t> </a:t>
            </a:r>
            <a:r>
              <a:rPr lang="en-US" altLang="zh-CN" sz="2400" b="1" dirty="0" err="1" smtClean="0">
                <a:solidFill>
                  <a:schemeClr val="bg2"/>
                </a:solidFill>
                <a:latin typeface="Times New Roman" panose="02020603050405020304" pitchFamily="18" charset="0"/>
                <a:ea typeface="宋体" panose="02010600030101010101" pitchFamily="2" charset="-122"/>
              </a:rPr>
              <a:t>s.t</a:t>
            </a:r>
            <a:r>
              <a:rPr lang="en-US" altLang="zh-CN" sz="2400" b="1" dirty="0" err="1">
                <a:solidFill>
                  <a:schemeClr val="bg2"/>
                </a:solidFill>
                <a:latin typeface="Times New Roman" panose="02020603050405020304" pitchFamily="18" charset="0"/>
                <a:ea typeface="宋体" panose="02010600030101010101" pitchFamily="2" charset="-122"/>
              </a:rPr>
              <a:t>.</a:t>
            </a:r>
            <a:r>
              <a:rPr lang="en-US" altLang="zh-CN" sz="2400" b="1" dirty="0">
                <a:solidFill>
                  <a:schemeClr val="bg2"/>
                </a:solidFill>
                <a:latin typeface="Times New Roman" panose="02020603050405020304" pitchFamily="18" charset="0"/>
                <a:ea typeface="宋体" panose="02010600030101010101" pitchFamily="2" charset="-122"/>
              </a:rPr>
              <a:t>          </a:t>
            </a:r>
            <a:endParaRPr lang="zh-CN" altLang="en-US" sz="2400" b="1" dirty="0">
              <a:solidFill>
                <a:schemeClr val="bg2"/>
              </a:solidFill>
              <a:latin typeface="Times New Roman" panose="02020603050405020304" pitchFamily="18" charset="0"/>
              <a:ea typeface="宋体" panose="02010600030101010101" pitchFamily="2" charset="-122"/>
            </a:endParaRPr>
          </a:p>
          <a:p>
            <a:pPr eaLnBrk="0" hangingPunct="0">
              <a:lnSpc>
                <a:spcPct val="200000"/>
              </a:lnSpc>
              <a:spcBef>
                <a:spcPct val="20000"/>
              </a:spcBef>
              <a:buSzTx/>
              <a:buFont typeface="Arial" panose="020B0604020202020204" pitchFamily="34" charset="0"/>
            </a:pPr>
            <a:r>
              <a:rPr lang="en-US" altLang="zh-CN" sz="2400" b="1" dirty="0">
                <a:solidFill>
                  <a:schemeClr val="bg2"/>
                </a:solidFill>
                <a:latin typeface="Times New Roman" panose="02020603050405020304" pitchFamily="18" charset="0"/>
                <a:ea typeface="宋体" panose="02010600030101010101" pitchFamily="2" charset="-122"/>
              </a:rPr>
              <a:t>             </a:t>
            </a:r>
            <a:r>
              <a:rPr lang="en-US" altLang="zh-CN" sz="2400" b="1" i="1" dirty="0" smtClean="0">
                <a:solidFill>
                  <a:schemeClr val="bg2"/>
                </a:solidFill>
                <a:latin typeface="Times New Roman" panose="02020603050405020304" pitchFamily="18" charset="0"/>
                <a:ea typeface="宋体" panose="02010600030101010101" pitchFamily="2" charset="-122"/>
              </a:rPr>
              <a:t>x</a:t>
            </a:r>
            <a:r>
              <a:rPr lang="en-US" altLang="zh-CN" sz="2400" b="1" dirty="0">
                <a:solidFill>
                  <a:schemeClr val="bg2"/>
                </a:solidFill>
                <a:latin typeface="Times New Roman" panose="02020603050405020304" pitchFamily="18" charset="0"/>
                <a:ea typeface="宋体" panose="02010600030101010101" pitchFamily="2" charset="-122"/>
                <a:sym typeface="Symbol" panose="05050102010706020507"/>
              </a:rPr>
              <a:t></a:t>
            </a:r>
            <a:r>
              <a:rPr lang="en-US" altLang="zh-CN" sz="2400" b="1" dirty="0">
                <a:solidFill>
                  <a:schemeClr val="bg2"/>
                </a:solidFill>
                <a:latin typeface="Times New Roman" panose="02020603050405020304" pitchFamily="18" charset="0"/>
                <a:ea typeface="宋体" panose="02010600030101010101" pitchFamily="2" charset="-122"/>
              </a:rPr>
              <a:t>0</a:t>
            </a:r>
            <a:endParaRPr lang="zh-CN" altLang="en-US" sz="2400" b="1" i="1" dirty="0">
              <a:solidFill>
                <a:schemeClr val="bg2"/>
              </a:solidFill>
              <a:latin typeface="Times New Roman" panose="02020603050405020304" pitchFamily="18" charset="0"/>
              <a:ea typeface="宋体" panose="02010600030101010101" pitchFamily="2" charset="-122"/>
            </a:endParaRPr>
          </a:p>
        </p:txBody>
      </p:sp>
      <p:sp>
        <p:nvSpPr>
          <p:cNvPr id="8" name="标题 1"/>
          <p:cNvSpPr txBox="1"/>
          <p:nvPr/>
        </p:nvSpPr>
        <p:spPr>
          <a:xfrm>
            <a:off x="50673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dirty="0">
                <a:solidFill>
                  <a:schemeClr val="accent2"/>
                </a:solidFill>
                <a:sym typeface="+mn-ea"/>
              </a:rPr>
              <a:t>6.2 </a:t>
            </a:r>
            <a:r>
              <a:rPr kumimoji="0" lang="zh-CN" altLang="en-US" dirty="0">
                <a:solidFill>
                  <a:schemeClr val="accent2"/>
                </a:solidFill>
                <a:sym typeface="+mn-ea"/>
              </a:rPr>
              <a:t>标准形</a:t>
            </a:r>
          </a:p>
        </p:txBody>
      </p:sp>
      <p:sp>
        <p:nvSpPr>
          <p:cNvPr id="2" name="矩形 1"/>
          <p:cNvSpPr/>
          <p:nvPr/>
        </p:nvSpPr>
        <p:spPr>
          <a:xfrm>
            <a:off x="611560" y="1628800"/>
            <a:ext cx="8000310" cy="646331"/>
          </a:xfrm>
          <a:prstGeom prst="rect">
            <a:avLst/>
          </a:prstGeom>
        </p:spPr>
        <p:txBody>
          <a:bodyPr wrap="square">
            <a:spAutoFit/>
          </a:bodyPr>
          <a:lstStyle/>
          <a:p>
            <a:pPr>
              <a:lnSpc>
                <a:spcPct val="150000"/>
              </a:lnSpc>
            </a:pPr>
            <a:r>
              <a:rPr lang="zh-CN" altLang="en-US" b="1" dirty="0" smtClean="0">
                <a:solidFill>
                  <a:schemeClr val="bg2"/>
                </a:solidFill>
              </a:rPr>
              <a:t>（</a:t>
            </a:r>
            <a:r>
              <a:rPr lang="en-US" altLang="zh-CN" b="1" dirty="0" smtClean="0">
                <a:solidFill>
                  <a:schemeClr val="bg2"/>
                </a:solidFill>
              </a:rPr>
              <a:t>2</a:t>
            </a:r>
            <a:r>
              <a:rPr lang="zh-CN" altLang="en-US" b="1" dirty="0" smtClean="0">
                <a:solidFill>
                  <a:schemeClr val="bg2"/>
                </a:solidFill>
              </a:rPr>
              <a:t>）矩阵形式                            （</a:t>
            </a:r>
            <a:r>
              <a:rPr lang="en-US" altLang="zh-CN" b="1" dirty="0" smtClean="0">
                <a:solidFill>
                  <a:schemeClr val="bg2"/>
                </a:solidFill>
              </a:rPr>
              <a:t>3</a:t>
            </a:r>
            <a:r>
              <a:rPr lang="zh-CN" altLang="en-US" b="1" dirty="0" smtClean="0">
                <a:solidFill>
                  <a:schemeClr val="bg2"/>
                </a:solidFill>
              </a:rPr>
              <a:t>）</a:t>
            </a:r>
            <a:r>
              <a:rPr lang="zh-CN" altLang="en-US" b="1" dirty="0">
                <a:solidFill>
                  <a:schemeClr val="bg2"/>
                </a:solidFill>
              </a:rPr>
              <a:t>向量</a:t>
            </a:r>
            <a:r>
              <a:rPr lang="zh-CN" altLang="en-US" b="1" dirty="0" smtClean="0">
                <a:solidFill>
                  <a:schemeClr val="bg2"/>
                </a:solidFill>
              </a:rPr>
              <a:t>形式</a:t>
            </a:r>
            <a:endParaRPr lang="zh-CN" altLang="en-US" b="1" dirty="0">
              <a:solidFill>
                <a:schemeClr val="bg2"/>
              </a:solidFill>
            </a:endParaRPr>
          </a:p>
        </p:txBody>
      </p:sp>
      <p:sp>
        <p:nvSpPr>
          <p:cNvPr id="7" name="副标题 2"/>
          <p:cNvSpPr>
            <a:spLocks noGrp="1"/>
          </p:cNvSpPr>
          <p:nvPr/>
        </p:nvSpPr>
        <p:spPr>
          <a:xfrm>
            <a:off x="1475656" y="2636912"/>
            <a:ext cx="2030412" cy="2443163"/>
          </a:xfrm>
          <a:prstGeom prst="rect">
            <a:avLst/>
          </a:prstGeom>
          <a:noFill/>
          <a:ln w="9525">
            <a:noFill/>
          </a:ln>
        </p:spPr>
        <p:txBody>
          <a:bodyPr vert="horz" wrap="square" lIns="91440" tIns="45720" rIns="91440" bIns="45720" anchor="t"/>
          <a:lstStyle>
            <a:lvl1pPr marL="0" indent="0" algn="ctr" rtl="0" eaLnBrk="0" fontAlgn="base" hangingPunct="0">
              <a:spcBef>
                <a:spcPct val="20000"/>
              </a:spcBef>
              <a:spcAft>
                <a:spcPct val="0"/>
              </a:spcAft>
              <a:buFont typeface="Arial" panose="020B0604020202020204" pitchFamily="34"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buClrTx/>
              <a:buSzTx/>
            </a:pPr>
            <a:r>
              <a:rPr lang="en-US" altLang="zh-CN" sz="2400" b="1" kern="1200" dirty="0" smtClean="0">
                <a:solidFill>
                  <a:schemeClr val="bg2"/>
                </a:solidFill>
                <a:latin typeface="Times New Roman" panose="02020603050405020304" pitchFamily="18" charset="0"/>
                <a:ea typeface="+mn-ea"/>
                <a:cs typeface="+mn-cs"/>
              </a:rPr>
              <a:t>min </a:t>
            </a:r>
            <a:r>
              <a:rPr lang="en-US" altLang="zh-CN" sz="2400" b="1" i="1" kern="1200" dirty="0">
                <a:solidFill>
                  <a:schemeClr val="bg2"/>
                </a:solidFill>
                <a:latin typeface="Times New Roman" panose="02020603050405020304" pitchFamily="18" charset="0"/>
                <a:ea typeface="+mn-ea"/>
                <a:cs typeface="+mn-cs"/>
              </a:rPr>
              <a:t>z</a:t>
            </a:r>
            <a:r>
              <a:rPr lang="en-US" altLang="zh-CN" sz="2400" b="1" kern="1200" dirty="0">
                <a:solidFill>
                  <a:schemeClr val="bg2"/>
                </a:solidFill>
                <a:latin typeface="Times New Roman" panose="02020603050405020304" pitchFamily="18" charset="0"/>
                <a:ea typeface="+mn-ea"/>
                <a:cs typeface="+mn-cs"/>
              </a:rPr>
              <a:t>=</a:t>
            </a:r>
            <a:r>
              <a:rPr lang="en-US" altLang="zh-CN" sz="2400" b="1" i="1" kern="1200" dirty="0">
                <a:solidFill>
                  <a:schemeClr val="bg2"/>
                </a:solidFill>
                <a:latin typeface="Times New Roman" panose="02020603050405020304" pitchFamily="18" charset="0"/>
                <a:ea typeface="+mn-ea"/>
                <a:cs typeface="+mn-cs"/>
              </a:rPr>
              <a:t>c</a:t>
            </a:r>
            <a:r>
              <a:rPr lang="en-US" altLang="zh-CN" sz="2400" b="1" i="1" kern="1200" baseline="30000" dirty="0">
                <a:solidFill>
                  <a:schemeClr val="bg2"/>
                </a:solidFill>
                <a:latin typeface="Times New Roman" panose="02020603050405020304" pitchFamily="18" charset="0"/>
                <a:ea typeface="+mn-ea"/>
                <a:cs typeface="+mn-cs"/>
              </a:rPr>
              <a:t>T</a:t>
            </a:r>
            <a:r>
              <a:rPr lang="en-US" altLang="zh-CN" sz="2400" b="1" i="1" kern="1200" dirty="0">
                <a:solidFill>
                  <a:schemeClr val="bg2"/>
                </a:solidFill>
                <a:latin typeface="Times New Roman" panose="02020603050405020304" pitchFamily="18" charset="0"/>
                <a:ea typeface="+mn-ea"/>
                <a:cs typeface="+mn-cs"/>
              </a:rPr>
              <a:t>x</a:t>
            </a:r>
            <a:endParaRPr lang="zh-CN" altLang="en-US" sz="2400" b="1" kern="1200" dirty="0">
              <a:solidFill>
                <a:schemeClr val="bg2"/>
              </a:solidFill>
              <a:latin typeface="Times New Roman" panose="02020603050405020304" pitchFamily="18" charset="0"/>
              <a:ea typeface="+mn-ea"/>
              <a:cs typeface="+mn-cs"/>
            </a:endParaRPr>
          </a:p>
          <a:p>
            <a:pPr algn="l">
              <a:buClrTx/>
              <a:buSzTx/>
            </a:pPr>
            <a:r>
              <a:rPr lang="en-US" altLang="zh-CN" sz="2400" b="1" kern="1200" dirty="0">
                <a:solidFill>
                  <a:schemeClr val="bg2"/>
                </a:solidFill>
                <a:latin typeface="Times New Roman" panose="02020603050405020304" pitchFamily="18" charset="0"/>
                <a:ea typeface="+mn-ea"/>
                <a:cs typeface="+mn-cs"/>
              </a:rPr>
              <a:t>    s.t.  </a:t>
            </a:r>
            <a:r>
              <a:rPr lang="en-US" altLang="zh-CN" sz="2400" b="1" i="1" kern="1200" dirty="0">
                <a:solidFill>
                  <a:schemeClr val="bg2"/>
                </a:solidFill>
                <a:latin typeface="Times New Roman" panose="02020603050405020304" pitchFamily="18" charset="0"/>
                <a:ea typeface="+mn-ea"/>
                <a:cs typeface="+mn-cs"/>
              </a:rPr>
              <a:t>Ax</a:t>
            </a:r>
            <a:r>
              <a:rPr lang="en-US" altLang="zh-CN" sz="2400" b="1" kern="1200" dirty="0">
                <a:solidFill>
                  <a:schemeClr val="bg2"/>
                </a:solidFill>
                <a:latin typeface="Times New Roman" panose="02020603050405020304" pitchFamily="18" charset="0"/>
                <a:ea typeface="+mn-ea"/>
                <a:cs typeface="+mn-cs"/>
              </a:rPr>
              <a:t>=</a:t>
            </a:r>
            <a:r>
              <a:rPr lang="en-US" altLang="zh-CN" sz="2400" b="1" i="1" kern="1200" dirty="0">
                <a:solidFill>
                  <a:schemeClr val="bg2"/>
                </a:solidFill>
                <a:latin typeface="Times New Roman" panose="02020603050405020304" pitchFamily="18" charset="0"/>
                <a:ea typeface="+mn-ea"/>
                <a:cs typeface="+mn-cs"/>
              </a:rPr>
              <a:t>b</a:t>
            </a:r>
            <a:r>
              <a:rPr lang="en-US" altLang="zh-CN" sz="2400" b="1" kern="1200" dirty="0">
                <a:solidFill>
                  <a:schemeClr val="bg2"/>
                </a:solidFill>
                <a:latin typeface="Times New Roman" panose="02020603050405020304" pitchFamily="18" charset="0"/>
                <a:ea typeface="+mn-ea"/>
                <a:cs typeface="+mn-cs"/>
              </a:rPr>
              <a:t>        </a:t>
            </a:r>
            <a:endParaRPr lang="zh-CN" altLang="en-US" sz="2400" b="1" kern="1200" dirty="0">
              <a:solidFill>
                <a:schemeClr val="bg2"/>
              </a:solidFill>
              <a:latin typeface="Times New Roman" panose="02020603050405020304" pitchFamily="18" charset="0"/>
              <a:ea typeface="+mn-ea"/>
              <a:cs typeface="+mn-cs"/>
            </a:endParaRPr>
          </a:p>
          <a:p>
            <a:pPr algn="l">
              <a:buClrTx/>
              <a:buSzTx/>
            </a:pPr>
            <a:r>
              <a:rPr lang="en-US" altLang="zh-CN" sz="2400" b="1" kern="1200" dirty="0">
                <a:solidFill>
                  <a:schemeClr val="bg2"/>
                </a:solidFill>
                <a:latin typeface="Times New Roman" panose="02020603050405020304" pitchFamily="18" charset="0"/>
                <a:ea typeface="+mn-ea"/>
                <a:cs typeface="+mn-cs"/>
              </a:rPr>
              <a:t>           </a:t>
            </a:r>
            <a:r>
              <a:rPr lang="en-US" altLang="zh-CN" sz="2400" b="1" i="1" kern="1200" dirty="0">
                <a:solidFill>
                  <a:schemeClr val="bg2"/>
                </a:solidFill>
                <a:latin typeface="Times New Roman" panose="02020603050405020304" pitchFamily="18" charset="0"/>
                <a:ea typeface="+mn-ea"/>
                <a:cs typeface="+mn-cs"/>
              </a:rPr>
              <a:t>x</a:t>
            </a:r>
            <a:r>
              <a:rPr lang="en-US" altLang="zh-CN" sz="2400" b="1" kern="1200" dirty="0">
                <a:solidFill>
                  <a:schemeClr val="bg2"/>
                </a:solidFill>
                <a:latin typeface="Times New Roman" panose="02020603050405020304" pitchFamily="18" charset="0"/>
                <a:ea typeface="+mn-ea"/>
                <a:cs typeface="+mn-cs"/>
                <a:sym typeface="Symbol" panose="05050102010706020507" pitchFamily="18" charset="2"/>
              </a:rPr>
              <a:t></a:t>
            </a:r>
            <a:r>
              <a:rPr lang="en-US" altLang="zh-CN" sz="2400" b="1" kern="1200" dirty="0">
                <a:solidFill>
                  <a:schemeClr val="bg2"/>
                </a:solidFill>
                <a:latin typeface="Times New Roman" panose="02020603050405020304" pitchFamily="18" charset="0"/>
                <a:cs typeface="+mn-cs"/>
              </a:rPr>
              <a:t>0</a:t>
            </a:r>
            <a:endParaRPr lang="zh-CN" altLang="en-US" sz="2400" b="1" kern="1200" dirty="0">
              <a:solidFill>
                <a:schemeClr val="bg2"/>
              </a:solidFill>
              <a:latin typeface="Times New Roman" panose="02020603050405020304" pitchFamily="18" charset="0"/>
              <a:ea typeface="Times New Roman" panose="02020603050405020304" pitchFamily="18" charset="0"/>
              <a:cs typeface="+mn-cs"/>
            </a:endParaRPr>
          </a:p>
        </p:txBody>
      </p:sp>
      <p:pic>
        <p:nvPicPr>
          <p:cNvPr id="13" name="20 12"/>
          <p:cNvPicPr/>
          <p:nvPr/>
        </p:nvPicPr>
        <p:blipFill>
          <a:blip r:embed="rId3"/>
          <a:stretch>
            <a:fillRect/>
          </a:stretch>
        </p:blipFill>
        <p:spPr>
          <a:xfrm>
            <a:off x="5966460" y="3300730"/>
            <a:ext cx="1614805" cy="929005"/>
          </a:xfrm>
          <a:prstGeom prst="rect">
            <a:avLst/>
          </a:prstGeom>
          <a:noFill/>
          <a:ln w="38100">
            <a:noFill/>
            <a:miter/>
          </a:ln>
        </p:spPr>
      </p:pic>
      <p:graphicFrame>
        <p:nvGraphicFramePr>
          <p:cNvPr id="20496" name="Object 13"/>
          <p:cNvGraphicFramePr>
            <a:graphicFrameLocks noChangeAspect="1"/>
          </p:cNvGraphicFramePr>
          <p:nvPr/>
        </p:nvGraphicFramePr>
        <p:xfrm>
          <a:off x="6036310" y="2479675"/>
          <a:ext cx="707390" cy="535305"/>
        </p:xfrm>
        <a:graphic>
          <a:graphicData uri="http://schemas.openxmlformats.org/presentationml/2006/ole">
            <mc:AlternateContent xmlns:mc="http://schemas.openxmlformats.org/markup-compatibility/2006">
              <mc:Choice xmlns:v="urn:schemas-microsoft-com:vml" Requires="v">
                <p:oleObj spid="_x0000_s5138" r:id="rId4" imgW="266700" imgH="203200" progId="Equation.3">
                  <p:embed/>
                </p:oleObj>
              </mc:Choice>
              <mc:Fallback>
                <p:oleObj r:id="rId4" imgW="266700" imgH="203200" progId="Equation.3">
                  <p:embed/>
                  <p:pic>
                    <p:nvPicPr>
                      <p:cNvPr id="0" name="20 3105"/>
                      <p:cNvPicPr/>
                      <p:nvPr/>
                    </p:nvPicPr>
                    <p:blipFill>
                      <a:blip r:embed="rId5"/>
                      <a:stretch>
                        <a:fillRect/>
                      </a:stretch>
                    </p:blipFill>
                    <p:spPr>
                      <a:xfrm>
                        <a:off x="6036310" y="2479675"/>
                        <a:ext cx="707390" cy="53530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800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dirty="0">
                <a:solidFill>
                  <a:schemeClr val="accent2"/>
                </a:solidFill>
                <a:sym typeface="+mn-ea"/>
              </a:rPr>
              <a:t>6.2 </a:t>
            </a:r>
            <a:r>
              <a:rPr kumimoji="0" lang="zh-CN" altLang="en-US" dirty="0">
                <a:solidFill>
                  <a:schemeClr val="accent2"/>
                </a:solidFill>
                <a:sym typeface="+mn-ea"/>
              </a:rPr>
              <a:t>标准形</a:t>
            </a:r>
          </a:p>
        </p:txBody>
      </p:sp>
      <p:sp>
        <p:nvSpPr>
          <p:cNvPr id="9" name="文本占位符 115714"/>
          <p:cNvSpPr>
            <a:spLocks noGrp="1"/>
          </p:cNvSpPr>
          <p:nvPr/>
        </p:nvSpPr>
        <p:spPr>
          <a:xfrm>
            <a:off x="710406" y="1988840"/>
            <a:ext cx="7697788" cy="40386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Char char="l"/>
              <a:defRPr sz="31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1"/>
              </a:buClr>
              <a:buSzPct val="150000"/>
              <a:buFontTx/>
              <a:buChar char="•"/>
              <a:defRPr sz="26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tx1"/>
              </a:buClr>
              <a:buSzPct val="150000"/>
              <a:buFontTx/>
              <a:buChar char="•"/>
              <a:defRPr sz="22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tx2"/>
              </a:buClr>
              <a:buSzPct val="150000"/>
              <a:buFontTx/>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9pPr>
          </a:lstStyle>
          <a:p>
            <a:pPr>
              <a:lnSpc>
                <a:spcPct val="90000"/>
              </a:lnSpc>
              <a:buClr>
                <a:schemeClr val="bg2"/>
              </a:buClr>
              <a:buSzPct val="70000"/>
              <a:buFont typeface="Wingdings" panose="05000000000000000000" pitchFamily="2" charset="2"/>
              <a:buNone/>
            </a:pPr>
            <a:r>
              <a:rPr lang="zh-CN" altLang="en-US" sz="2700" dirty="0" smtClean="0">
                <a:solidFill>
                  <a:schemeClr val="bg2"/>
                </a:solidFill>
              </a:rPr>
              <a:t>一般</a:t>
            </a:r>
            <a:r>
              <a:rPr lang="zh-CN" altLang="en-US" sz="2700" dirty="0">
                <a:solidFill>
                  <a:schemeClr val="bg2"/>
                </a:solidFill>
              </a:rPr>
              <a:t>形式                          矩阵形式</a:t>
            </a:r>
          </a:p>
          <a:p>
            <a:pPr>
              <a:lnSpc>
                <a:spcPct val="120000"/>
              </a:lnSpc>
              <a:buClr>
                <a:schemeClr val="bg2"/>
              </a:buClr>
              <a:buSzPct val="70000"/>
              <a:buFont typeface="Wingdings" panose="05000000000000000000" pitchFamily="2" charset="2"/>
              <a:buNone/>
            </a:pPr>
            <a:r>
              <a:rPr lang="zh-CN" altLang="en-US" sz="2800" dirty="0">
                <a:solidFill>
                  <a:schemeClr val="bg2"/>
                </a:solidFill>
              </a:rPr>
              <a:t>           </a:t>
            </a:r>
            <a:r>
              <a:rPr lang="en-US" altLang="zh-CN" sz="2800" dirty="0">
                <a:solidFill>
                  <a:schemeClr val="bg2"/>
                </a:solidFill>
                <a:latin typeface="Times New Roman" panose="02020603050405020304" pitchFamily="18" charset="0"/>
                <a:cs typeface="Times New Roman" panose="02020603050405020304" pitchFamily="18" charset="0"/>
              </a:rPr>
              <a:t>min </a:t>
            </a:r>
            <a:r>
              <a:rPr lang="en-US" altLang="zh-CN" sz="2800" i="1" dirty="0">
                <a:solidFill>
                  <a:schemeClr val="bg2"/>
                </a:solidFill>
                <a:latin typeface="Times New Roman" panose="02020603050405020304" pitchFamily="18" charset="0"/>
                <a:cs typeface="Times New Roman" panose="02020603050405020304" pitchFamily="18" charset="0"/>
              </a:rPr>
              <a:t>z</a:t>
            </a:r>
            <a:r>
              <a:rPr lang="en-US" altLang="zh-CN" sz="2800" dirty="0">
                <a:solidFill>
                  <a:schemeClr val="bg2"/>
                </a:solidFill>
                <a:latin typeface="Times New Roman" panose="02020603050405020304" pitchFamily="18" charset="0"/>
                <a:cs typeface="Times New Roman" panose="02020603050405020304" pitchFamily="18" charset="0"/>
              </a:rPr>
              <a:t> =2</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+3</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p>
          <a:p>
            <a:pPr>
              <a:lnSpc>
                <a:spcPct val="120000"/>
              </a:lnSpc>
              <a:buClr>
                <a:schemeClr val="bg2"/>
              </a:buClr>
              <a:buSzPct val="70000"/>
              <a:buFont typeface="Wingdings" panose="05000000000000000000" pitchFamily="2" charset="2"/>
              <a:buNone/>
            </a:pPr>
            <a:r>
              <a:rPr lang="en-US" altLang="zh-CN" sz="2800" dirty="0">
                <a:solidFill>
                  <a:schemeClr val="bg2"/>
                </a:solidFill>
                <a:latin typeface="Times New Roman" panose="02020603050405020304" pitchFamily="18" charset="0"/>
                <a:cs typeface="Times New Roman" panose="02020603050405020304" pitchFamily="18" charset="0"/>
              </a:rPr>
              <a:t>              2</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+2</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=12 </a:t>
            </a:r>
          </a:p>
          <a:p>
            <a:pPr>
              <a:lnSpc>
                <a:spcPct val="120000"/>
              </a:lnSpc>
              <a:buClr>
                <a:schemeClr val="bg2"/>
              </a:buClr>
              <a:buSzPct val="70000"/>
              <a:buFont typeface="Wingdings" panose="05000000000000000000" pitchFamily="2" charset="2"/>
              <a:buNone/>
            </a:pPr>
            <a:r>
              <a:rPr lang="en-US" altLang="zh-CN" sz="2800" dirty="0">
                <a:solidFill>
                  <a:schemeClr val="bg2"/>
                </a:solidFill>
                <a:latin typeface="Times New Roman" panose="02020603050405020304" pitchFamily="18" charset="0"/>
                <a:cs typeface="Times New Roman" panose="02020603050405020304" pitchFamily="18" charset="0"/>
              </a:rPr>
              <a:t>              </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+2</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=8</a:t>
            </a:r>
          </a:p>
          <a:p>
            <a:pPr>
              <a:lnSpc>
                <a:spcPct val="120000"/>
              </a:lnSpc>
              <a:buClr>
                <a:schemeClr val="bg2"/>
              </a:buClr>
              <a:buSzPct val="70000"/>
              <a:buFont typeface="Wingdings" panose="05000000000000000000" pitchFamily="2" charset="2"/>
              <a:buNone/>
            </a:pPr>
            <a:r>
              <a:rPr lang="en-US" altLang="zh-CN" sz="2800" dirty="0">
                <a:solidFill>
                  <a:schemeClr val="bg2"/>
                </a:solidFill>
                <a:latin typeface="Times New Roman" panose="02020603050405020304" pitchFamily="18" charset="0"/>
                <a:cs typeface="Times New Roman" panose="02020603050405020304" pitchFamily="18" charset="0"/>
              </a:rPr>
              <a:t>              4</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=16</a:t>
            </a:r>
            <a:endParaRPr lang="en-US" altLang="zh-CN" sz="2800" baseline="-25000" dirty="0">
              <a:solidFill>
                <a:schemeClr val="bg2"/>
              </a:solidFill>
              <a:latin typeface="Times New Roman" panose="02020603050405020304" pitchFamily="18" charset="0"/>
              <a:cs typeface="Times New Roman" panose="02020603050405020304" pitchFamily="18" charset="0"/>
            </a:endParaRPr>
          </a:p>
          <a:p>
            <a:pPr>
              <a:lnSpc>
                <a:spcPct val="120000"/>
              </a:lnSpc>
              <a:buClr>
                <a:schemeClr val="bg2"/>
              </a:buClr>
              <a:buSzPct val="70000"/>
              <a:buFont typeface="Wingdings" panose="05000000000000000000" pitchFamily="2" charset="2"/>
              <a:buNone/>
            </a:pPr>
            <a:r>
              <a:rPr lang="en-US" altLang="zh-CN" sz="2800" dirty="0">
                <a:solidFill>
                  <a:schemeClr val="bg2"/>
                </a:solidFill>
                <a:latin typeface="Times New Roman" panose="02020603050405020304" pitchFamily="18" charset="0"/>
                <a:cs typeface="Times New Roman" panose="02020603050405020304" pitchFamily="18" charset="0"/>
              </a:rPr>
              <a:t>              4</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=12</a:t>
            </a:r>
          </a:p>
          <a:p>
            <a:pPr>
              <a:lnSpc>
                <a:spcPct val="120000"/>
              </a:lnSpc>
              <a:buClr>
                <a:schemeClr val="bg2"/>
              </a:buClr>
              <a:buSzPct val="70000"/>
              <a:buFont typeface="Wingdings" panose="05000000000000000000" pitchFamily="2" charset="2"/>
              <a:buNone/>
            </a:pPr>
            <a:r>
              <a:rPr lang="en-US" altLang="zh-CN" sz="2800" dirty="0">
                <a:solidFill>
                  <a:schemeClr val="bg2"/>
                </a:solidFill>
                <a:latin typeface="Times New Roman" panose="02020603050405020304" pitchFamily="18" charset="0"/>
                <a:cs typeface="Times New Roman" panose="02020603050405020304" pitchFamily="18" charset="0"/>
              </a:rPr>
              <a:t>              </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1</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i="1" dirty="0">
                <a:solidFill>
                  <a:schemeClr val="bg2"/>
                </a:solidFill>
                <a:latin typeface="Times New Roman" panose="02020603050405020304" pitchFamily="18" charset="0"/>
                <a:cs typeface="Times New Roman" panose="02020603050405020304" pitchFamily="18" charset="0"/>
              </a:rPr>
              <a:t>x</a:t>
            </a:r>
            <a:r>
              <a:rPr lang="en-US" altLang="zh-CN" sz="2800" baseline="-25000" dirty="0">
                <a:solidFill>
                  <a:schemeClr val="bg2"/>
                </a:solidFill>
                <a:latin typeface="Times New Roman" panose="02020603050405020304" pitchFamily="18" charset="0"/>
                <a:cs typeface="Times New Roman" panose="02020603050405020304" pitchFamily="18" charset="0"/>
              </a:rPr>
              <a:t>2</a:t>
            </a:r>
            <a:r>
              <a:rPr lang="en-US" altLang="zh-CN" sz="2800" dirty="0">
                <a:solidFill>
                  <a:schemeClr val="bg2"/>
                </a:solidFill>
                <a:latin typeface="Times New Roman" panose="02020603050405020304" pitchFamily="18" charset="0"/>
                <a:cs typeface="Times New Roman" panose="02020603050405020304" pitchFamily="18" charset="0"/>
              </a:rPr>
              <a:t>≥0</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064" y="2276872"/>
            <a:ext cx="2592288" cy="3822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6804025" y="4006215"/>
            <a:ext cx="313055" cy="368300"/>
          </a:xfrm>
          <a:prstGeom prst="rect">
            <a:avLst/>
          </a:prstGeom>
          <a:solidFill>
            <a:schemeClr val="tx1"/>
          </a:solidFill>
        </p:spPr>
        <p:txBody>
          <a:bodyPr wrap="none" rtlCol="0">
            <a:spAutoFit/>
          </a:bodyPr>
          <a:lstStyle/>
          <a:p>
            <a:r>
              <a:rPr lang="en-US" altLang="zh-CN" sz="1800" b="1">
                <a:solidFill>
                  <a:schemeClr val="bg2"/>
                </a:solidFill>
              </a:rPr>
              <a:t>=</a:t>
            </a: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2"/>
            </p:custDataLst>
          </p:nvPr>
        </p:nvSpPr>
        <p:spPr bwMode="auto">
          <a:xfrm>
            <a:off x="6172200" y="6215063"/>
            <a:ext cx="1543050" cy="411480"/>
          </a:xfrm>
          <a:prstGeom prst="roundRect">
            <a:avLst/>
          </a:prstGeom>
          <a:solidFill>
            <a:srgbClr val="808080"/>
          </a:solidFill>
          <a:ln w="38100" cap="sq" cmpd="sng" algn="ctr">
            <a:solidFill>
              <a:srgbClr val="000000"/>
            </a:solidFill>
            <a:prstDash val="solid"/>
            <a:round/>
            <a:headEnd type="none" w="sm" len="sm"/>
            <a:tailEnd type="none" w="sm" len="sm"/>
          </a:ln>
        </p:spPr>
        <p:txBody>
          <a:bodyPr vert="horz" wrap="square" lIns="91440" tIns="45720" rIns="91440" bIns="45720" numCol="1" rtlCol="0" anchor="ctr" anchorCtr="1" compatLnSpc="1"/>
          <a:lstStyle/>
          <a:p>
            <a:pPr marL="0" marR="0" indent="0" algn="l" defTabSz="914400" rtl="0" eaLnBrk="0" fontAlgn="base" latinLnBrk="0" hangingPunct="0">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sym typeface="微软雅黑" panose="020B0503020204020204" charset="-122"/>
              </a:rPr>
              <a:t>作答</a:t>
            </a:r>
          </a:p>
        </p:txBody>
      </p:sp>
      <p:sp>
        <p:nvSpPr>
          <p:cNvPr id="12" name="矩形 11"/>
          <p:cNvSpPr/>
          <p:nvPr>
            <p:custDataLst>
              <p:tags r:id="rId3"/>
            </p:custDataLst>
          </p:nvPr>
        </p:nvSpPr>
        <p:spPr bwMode="auto">
          <a:xfrm>
            <a:off x="0" y="5849303"/>
            <a:ext cx="9144000" cy="365760"/>
          </a:xfrm>
          <a:prstGeom prst="rect">
            <a:avLst/>
          </a:prstGeom>
          <a:solidFill>
            <a:srgbClr val="FBFAEF"/>
          </a:solidFill>
          <a:ln w="12700" cap="sq" cmpd="sng" algn="ctr">
            <a:noFill/>
            <a:prstDash val="solid"/>
            <a:round/>
            <a:headEnd type="none" w="sm" len="sm"/>
            <a:tailEnd type="none" w="sm" len="sm"/>
          </a:ln>
          <a:extLst>
            <a:ext uri="{91240B29-F687-4F45-9708-019B960494DF}">
              <a14:hiddenLine xmlns:a14="http://schemas.microsoft.com/office/drawing/2010/main" w="12700">
                <a:solidFill>
                  <a:schemeClr val="tx1"/>
                </a:solidFill>
                <a:prstDash val="solid"/>
                <a:round/>
                <a:headEnd type="none" w="sm" len="sm"/>
                <a:tailEnd type="none" w="sm" len="sm"/>
              </a14:hiddenLine>
            </a:ext>
          </a:extLst>
        </p:spPr>
        <p:txBody>
          <a:bodyPr vert="horz" wrap="none" lIns="91440" tIns="45720" rIns="91440" bIns="45720" numCol="1" rtlCol="0" anchor="ctr" anchorCtr="1" compatLnSpc="1"/>
          <a:lstStyle/>
          <a:p>
            <a:r>
              <a:rPr kumimoji="1" lang="zh-CN" altLang="en-US" sz="1200" b="0" i="0" u="none" strike="noStrike" cap="none" normalizeH="0" baseline="0" smtClean="0">
                <a:ln>
                  <a:noFill/>
                </a:ln>
                <a:solidFill>
                  <a:srgbClr val="F84F41"/>
                </a:solidFill>
                <a:effectLst/>
                <a:latin typeface="微软雅黑" panose="020B0503020204020204" charset="-122"/>
                <a:ea typeface="微软雅黑" panose="020B0503020204020204" charset="-122"/>
                <a:sym typeface="微软雅黑" panose="020B0503020204020204" charset="-122"/>
              </a:rPr>
              <a:t>正常使用主观题需</a:t>
            </a:r>
            <a:r>
              <a:rPr kumimoji="1" lang="en-US" altLang="zh-CN" sz="1200" b="0" i="0" u="none" strike="noStrike" cap="none" normalizeH="0" baseline="0" smtClean="0">
                <a:ln>
                  <a:noFill/>
                </a:ln>
                <a:solidFill>
                  <a:srgbClr val="F84F41"/>
                </a:solidFill>
                <a:effectLst/>
                <a:latin typeface="微软雅黑" panose="020B0503020204020204" charset="-122"/>
                <a:ea typeface="微软雅黑" panose="020B0503020204020204" charset="-122"/>
                <a:sym typeface="微软雅黑" panose="020B0503020204020204" charset="-122"/>
              </a:rPr>
              <a:t>2.0</a:t>
            </a:r>
            <a:r>
              <a:rPr kumimoji="1" lang="zh-CN" altLang="en-US" sz="1200" b="0" i="0" u="none" strike="noStrike" cap="none" normalizeH="0" baseline="0" smtClean="0">
                <a:ln>
                  <a:noFill/>
                </a:ln>
                <a:solidFill>
                  <a:srgbClr val="F84F41"/>
                </a:solidFill>
                <a:effectLst/>
                <a:latin typeface="微软雅黑" panose="020B0503020204020204" charset="-122"/>
                <a:ea typeface="微软雅黑" panose="020B0503020204020204" charset="-122"/>
                <a:sym typeface="微软雅黑" panose="020B0503020204020204" charset="-122"/>
              </a:rPr>
              <a:t>以上版本雨课堂</a:t>
            </a:r>
          </a:p>
        </p:txBody>
      </p:sp>
      <p:sp>
        <p:nvSpPr>
          <p:cNvPr id="13" name="文本占位符 50178"/>
          <p:cNvSpPr>
            <a:spLocks noGrp="1"/>
          </p:cNvSpPr>
          <p:nvPr/>
        </p:nvSpPr>
        <p:spPr>
          <a:xfrm>
            <a:off x="719931" y="1672555"/>
            <a:ext cx="7704138" cy="427672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Char char="l"/>
              <a:defRPr sz="31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1"/>
              </a:buClr>
              <a:buSzPct val="150000"/>
              <a:buFontTx/>
              <a:buChar char="•"/>
              <a:defRPr sz="26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tx1"/>
              </a:buClr>
              <a:buSzPct val="150000"/>
              <a:buFontTx/>
              <a:buChar char="•"/>
              <a:defRPr sz="22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tx2"/>
              </a:buClr>
              <a:buSzPct val="150000"/>
              <a:buFontTx/>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folHlink"/>
              </a:buClr>
              <a:buSzPct val="150000"/>
              <a:buFontTx/>
              <a:buChar char="•"/>
              <a:defRPr sz="2000" b="0" i="0" u="none" kern="1200" baseline="0">
                <a:solidFill>
                  <a:schemeClr val="tx1"/>
                </a:solidFill>
                <a:latin typeface="+mn-lt"/>
                <a:ea typeface="+mn-ea"/>
                <a:cs typeface="+mn-cs"/>
              </a:defRPr>
            </a:lvl9pPr>
          </a:lstStyle>
          <a:p>
            <a:pPr>
              <a:lnSpc>
                <a:spcPct val="90000"/>
              </a:lnSpc>
              <a:buNone/>
            </a:pPr>
            <a:r>
              <a:rPr lang="zh-CN" altLang="en-US" sz="2400" dirty="0">
                <a:solidFill>
                  <a:schemeClr val="bg2"/>
                </a:solidFill>
                <a:latin typeface="Times New Roman" panose="02020603050405020304" pitchFamily="18" charset="0"/>
                <a:cs typeface="Times New Roman" panose="02020603050405020304" pitchFamily="18" charset="0"/>
              </a:rPr>
              <a:t>作业</a:t>
            </a:r>
            <a:r>
              <a:rPr lang="en-US" altLang="zh-CN" sz="2400" dirty="0">
                <a:solidFill>
                  <a:schemeClr val="bg2"/>
                </a:solidFill>
                <a:latin typeface="Times New Roman" panose="02020603050405020304" pitchFamily="18" charset="0"/>
                <a:cs typeface="Times New Roman" panose="02020603050405020304" pitchFamily="18" charset="0"/>
              </a:rPr>
              <a:t>1</a:t>
            </a:r>
            <a:r>
              <a:rPr lang="zh-CN" altLang="en-US" sz="2400" dirty="0">
                <a:solidFill>
                  <a:schemeClr val="bg2"/>
                </a:solidFill>
                <a:latin typeface="Times New Roman" panose="02020603050405020304" pitchFamily="18" charset="0"/>
                <a:cs typeface="Times New Roman" panose="02020603050405020304" pitchFamily="18" charset="0"/>
              </a:rPr>
              <a:t>：将下列线性规划问题化为标准型。</a:t>
            </a:r>
          </a:p>
          <a:p>
            <a:pPr>
              <a:lnSpc>
                <a:spcPct val="90000"/>
              </a:lnSpc>
              <a:buNone/>
            </a:pPr>
            <a:r>
              <a:rPr lang="en-US" altLang="zh-CN" sz="2400" dirty="0">
                <a:solidFill>
                  <a:schemeClr val="bg2"/>
                </a:solidFill>
                <a:latin typeface="Times New Roman" panose="02020603050405020304" pitchFamily="18" charset="0"/>
                <a:cs typeface="Times New Roman" panose="02020603050405020304" pitchFamily="18" charset="0"/>
              </a:rPr>
              <a:t>1</a:t>
            </a:r>
            <a:r>
              <a:rPr lang="zh-CN" altLang="en-US" sz="2400" dirty="0">
                <a:solidFill>
                  <a:schemeClr val="bg2"/>
                </a:solidFill>
                <a:latin typeface="Times New Roman" panose="02020603050405020304" pitchFamily="18" charset="0"/>
                <a:cs typeface="Times New Roman" panose="02020603050405020304" pitchFamily="18" charset="0"/>
              </a:rPr>
              <a:t>、</a:t>
            </a:r>
            <a:r>
              <a:rPr lang="en-US" altLang="zh-CN" sz="2400" dirty="0" smtClean="0">
                <a:solidFill>
                  <a:schemeClr val="bg2"/>
                </a:solidFill>
                <a:latin typeface="Times New Roman" panose="02020603050405020304" pitchFamily="18" charset="0"/>
                <a:cs typeface="Times New Roman" panose="02020603050405020304" pitchFamily="18" charset="0"/>
              </a:rPr>
              <a:t>max </a:t>
            </a:r>
            <a:r>
              <a:rPr lang="en-US" altLang="zh-CN" sz="2400" i="1" dirty="0">
                <a:solidFill>
                  <a:schemeClr val="bg2"/>
                </a:solidFill>
                <a:latin typeface="Times New Roman" panose="02020603050405020304" pitchFamily="18" charset="0"/>
                <a:cs typeface="Times New Roman" panose="02020603050405020304" pitchFamily="18" charset="0"/>
              </a:rPr>
              <a:t>z</a:t>
            </a:r>
            <a:r>
              <a:rPr lang="en-US" altLang="zh-CN" sz="2400" dirty="0">
                <a:solidFill>
                  <a:schemeClr val="bg2"/>
                </a:solidFill>
                <a:latin typeface="Times New Roman" panose="02020603050405020304" pitchFamily="18" charset="0"/>
                <a:cs typeface="Times New Roman" panose="02020603050405020304" pitchFamily="18" charset="0"/>
              </a:rPr>
              <a:t> =5</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1</a:t>
            </a:r>
            <a:r>
              <a:rPr lang="en-US" altLang="zh-CN" sz="2400" dirty="0">
                <a:solidFill>
                  <a:schemeClr val="bg2"/>
                </a:solidFill>
                <a:latin typeface="Times New Roman" panose="02020603050405020304" pitchFamily="18" charset="0"/>
                <a:cs typeface="Times New Roman" panose="02020603050405020304" pitchFamily="18" charset="0"/>
              </a:rPr>
              <a:t>-2</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2</a:t>
            </a:r>
            <a:r>
              <a:rPr lang="en-US" altLang="zh-CN" sz="2400" dirty="0">
                <a:solidFill>
                  <a:schemeClr val="bg2"/>
                </a:solidFill>
                <a:latin typeface="Times New Roman" panose="02020603050405020304" pitchFamily="18" charset="0"/>
                <a:cs typeface="Times New Roman" panose="02020603050405020304" pitchFamily="18" charset="0"/>
              </a:rPr>
              <a:t>+4</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3</a:t>
            </a:r>
            <a:r>
              <a:rPr lang="en-US" altLang="zh-CN" sz="2400" dirty="0">
                <a:solidFill>
                  <a:schemeClr val="bg2"/>
                </a:solidFill>
                <a:latin typeface="Times New Roman" panose="02020603050405020304" pitchFamily="18" charset="0"/>
                <a:cs typeface="Times New Roman" panose="02020603050405020304" pitchFamily="18" charset="0"/>
              </a:rPr>
              <a:t>-3</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4</a:t>
            </a:r>
          </a:p>
          <a:p>
            <a:pPr>
              <a:lnSpc>
                <a:spcPct val="90000"/>
              </a:lnSpc>
              <a:buNone/>
            </a:pPr>
            <a:r>
              <a:rPr lang="en-US" altLang="zh-CN" sz="2400" dirty="0">
                <a:solidFill>
                  <a:schemeClr val="bg2"/>
                </a:solidFill>
                <a:latin typeface="Times New Roman" panose="02020603050405020304" pitchFamily="18" charset="0"/>
                <a:cs typeface="Times New Roman" panose="02020603050405020304" pitchFamily="18" charset="0"/>
              </a:rPr>
              <a:t>              -</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1</a:t>
            </a:r>
            <a:r>
              <a:rPr lang="en-US" altLang="zh-CN" sz="2400" dirty="0">
                <a:solidFill>
                  <a:schemeClr val="bg2"/>
                </a:solidFill>
                <a:latin typeface="Times New Roman" panose="02020603050405020304" pitchFamily="18" charset="0"/>
                <a:cs typeface="Times New Roman" panose="02020603050405020304" pitchFamily="18" charset="0"/>
              </a:rPr>
              <a:t>+2</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2</a:t>
            </a:r>
            <a:r>
              <a:rPr lang="en-US" altLang="zh-CN" sz="2400" dirty="0">
                <a:solidFill>
                  <a:schemeClr val="bg2"/>
                </a:solidFill>
                <a:latin typeface="Times New Roman" panose="02020603050405020304" pitchFamily="18" charset="0"/>
                <a:cs typeface="Times New Roman" panose="02020603050405020304" pitchFamily="18" charset="0"/>
              </a:rPr>
              <a:t>-</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3</a:t>
            </a:r>
            <a:r>
              <a:rPr lang="en-US" altLang="zh-CN" sz="2400" dirty="0">
                <a:solidFill>
                  <a:schemeClr val="bg2"/>
                </a:solidFill>
                <a:latin typeface="Times New Roman" panose="02020603050405020304" pitchFamily="18" charset="0"/>
                <a:cs typeface="Times New Roman" panose="02020603050405020304" pitchFamily="18" charset="0"/>
              </a:rPr>
              <a:t>+4</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4</a:t>
            </a:r>
            <a:r>
              <a:rPr lang="en-US" altLang="zh-CN" sz="2400" dirty="0">
                <a:solidFill>
                  <a:schemeClr val="bg2"/>
                </a:solidFill>
                <a:latin typeface="Times New Roman" panose="02020603050405020304" pitchFamily="18" charset="0"/>
                <a:cs typeface="Times New Roman" panose="02020603050405020304" pitchFamily="18" charset="0"/>
              </a:rPr>
              <a:t>=-2</a:t>
            </a:r>
          </a:p>
          <a:p>
            <a:pPr>
              <a:lnSpc>
                <a:spcPct val="90000"/>
              </a:lnSpc>
              <a:buNone/>
            </a:pPr>
            <a:r>
              <a:rPr lang="en-US" altLang="zh-CN" sz="2400" dirty="0">
                <a:solidFill>
                  <a:schemeClr val="bg2"/>
                </a:solidFill>
                <a:latin typeface="Times New Roman" panose="02020603050405020304" pitchFamily="18" charset="0"/>
                <a:cs typeface="Times New Roman" panose="02020603050405020304" pitchFamily="18" charset="0"/>
              </a:rPr>
              <a:t>              -</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1</a:t>
            </a:r>
            <a:r>
              <a:rPr lang="en-US" altLang="zh-CN" sz="2400" dirty="0">
                <a:solidFill>
                  <a:schemeClr val="bg2"/>
                </a:solidFill>
                <a:latin typeface="Times New Roman" panose="02020603050405020304" pitchFamily="18" charset="0"/>
                <a:cs typeface="Times New Roman" panose="02020603050405020304" pitchFamily="18" charset="0"/>
              </a:rPr>
              <a:t>+3</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2</a:t>
            </a:r>
            <a:r>
              <a:rPr lang="en-US" altLang="zh-CN" sz="2400" dirty="0">
                <a:solidFill>
                  <a:schemeClr val="bg2"/>
                </a:solidFill>
                <a:latin typeface="Times New Roman" panose="02020603050405020304" pitchFamily="18" charset="0"/>
                <a:cs typeface="Times New Roman" panose="02020603050405020304" pitchFamily="18" charset="0"/>
              </a:rPr>
              <a:t>+</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3</a:t>
            </a:r>
            <a:r>
              <a:rPr lang="en-US" altLang="zh-CN" sz="2400" dirty="0">
                <a:solidFill>
                  <a:schemeClr val="bg2"/>
                </a:solidFill>
                <a:latin typeface="Times New Roman" panose="02020603050405020304" pitchFamily="18" charset="0"/>
                <a:cs typeface="Times New Roman" panose="02020603050405020304" pitchFamily="18" charset="0"/>
              </a:rPr>
              <a:t>+</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4</a:t>
            </a:r>
            <a:r>
              <a:rPr lang="en-US" altLang="zh-CN" sz="2400" dirty="0">
                <a:solidFill>
                  <a:schemeClr val="bg2"/>
                </a:solidFill>
                <a:latin typeface="Times New Roman" panose="02020603050405020304" pitchFamily="18" charset="0"/>
                <a:cs typeface="Times New Roman" panose="02020603050405020304" pitchFamily="18" charset="0"/>
              </a:rPr>
              <a:t>≤14</a:t>
            </a:r>
          </a:p>
          <a:p>
            <a:pPr>
              <a:lnSpc>
                <a:spcPct val="90000"/>
              </a:lnSpc>
              <a:buNone/>
            </a:pPr>
            <a:r>
              <a:rPr lang="en-US" altLang="zh-CN" sz="2400" dirty="0">
                <a:solidFill>
                  <a:schemeClr val="bg2"/>
                </a:solidFill>
                <a:latin typeface="Times New Roman" panose="02020603050405020304" pitchFamily="18" charset="0"/>
                <a:cs typeface="Times New Roman" panose="02020603050405020304" pitchFamily="18" charset="0"/>
              </a:rPr>
              <a:t>              2</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1</a:t>
            </a:r>
            <a:r>
              <a:rPr lang="en-US" altLang="zh-CN" sz="2400" dirty="0">
                <a:solidFill>
                  <a:schemeClr val="bg2"/>
                </a:solidFill>
                <a:latin typeface="Times New Roman" panose="02020603050405020304" pitchFamily="18" charset="0"/>
                <a:cs typeface="Times New Roman" panose="02020603050405020304" pitchFamily="18" charset="0"/>
              </a:rPr>
              <a:t>-</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2</a:t>
            </a:r>
            <a:r>
              <a:rPr lang="en-US" altLang="zh-CN" sz="2400" dirty="0">
                <a:solidFill>
                  <a:schemeClr val="bg2"/>
                </a:solidFill>
                <a:latin typeface="Times New Roman" panose="02020603050405020304" pitchFamily="18" charset="0"/>
                <a:cs typeface="Times New Roman" panose="02020603050405020304" pitchFamily="18" charset="0"/>
              </a:rPr>
              <a:t>+3</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3</a:t>
            </a:r>
            <a:r>
              <a:rPr lang="en-US" altLang="zh-CN" sz="2400" dirty="0">
                <a:solidFill>
                  <a:schemeClr val="bg2"/>
                </a:solidFill>
                <a:latin typeface="Times New Roman" panose="02020603050405020304" pitchFamily="18" charset="0"/>
                <a:cs typeface="Times New Roman" panose="02020603050405020304" pitchFamily="18" charset="0"/>
              </a:rPr>
              <a:t>-</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4</a:t>
            </a:r>
            <a:r>
              <a:rPr lang="en-US" altLang="zh-CN" sz="2400" dirty="0">
                <a:solidFill>
                  <a:schemeClr val="bg2"/>
                </a:solidFill>
                <a:latin typeface="Times New Roman" panose="02020603050405020304" pitchFamily="18" charset="0"/>
                <a:cs typeface="Times New Roman" panose="02020603050405020304" pitchFamily="18" charset="0"/>
              </a:rPr>
              <a:t>≥2</a:t>
            </a:r>
          </a:p>
          <a:p>
            <a:pPr>
              <a:lnSpc>
                <a:spcPct val="90000"/>
              </a:lnSpc>
              <a:buNone/>
            </a:pPr>
            <a:r>
              <a:rPr lang="en-US" altLang="zh-CN" sz="2400" dirty="0">
                <a:solidFill>
                  <a:schemeClr val="bg2"/>
                </a:solidFill>
                <a:latin typeface="Times New Roman" panose="02020603050405020304" pitchFamily="18" charset="0"/>
                <a:cs typeface="Times New Roman" panose="02020603050405020304" pitchFamily="18" charset="0"/>
              </a:rPr>
              <a:t>              </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1</a:t>
            </a:r>
            <a:r>
              <a:rPr lang="zh-CN" altLang="en-US" sz="2400" dirty="0">
                <a:solidFill>
                  <a:schemeClr val="bg2"/>
                </a:solidFill>
                <a:latin typeface="Times New Roman" panose="02020603050405020304" pitchFamily="18" charset="0"/>
                <a:cs typeface="Times New Roman" panose="02020603050405020304" pitchFamily="18" charset="0"/>
              </a:rPr>
              <a:t>无约束，</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2</a:t>
            </a:r>
            <a:r>
              <a:rPr lang="en-US" altLang="zh-CN" sz="2400" dirty="0">
                <a:solidFill>
                  <a:schemeClr val="bg2"/>
                </a:solidFill>
                <a:latin typeface="Times New Roman" panose="02020603050405020304" pitchFamily="18" charset="0"/>
                <a:cs typeface="Times New Roman" panose="02020603050405020304" pitchFamily="18" charset="0"/>
              </a:rPr>
              <a:t>≤0</a:t>
            </a:r>
            <a:r>
              <a:rPr lang="zh-CN" altLang="en-US" sz="2400" dirty="0">
                <a:solidFill>
                  <a:schemeClr val="bg2"/>
                </a:solidFill>
                <a:latin typeface="Times New Roman" panose="02020603050405020304" pitchFamily="18" charset="0"/>
                <a:cs typeface="Times New Roman" panose="02020603050405020304" pitchFamily="18" charset="0"/>
              </a:rPr>
              <a:t>，</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3 </a:t>
            </a:r>
            <a:r>
              <a:rPr lang="zh-CN" altLang="en-US" sz="2400" dirty="0">
                <a:solidFill>
                  <a:schemeClr val="bg2"/>
                </a:solidFill>
                <a:latin typeface="Times New Roman" panose="02020603050405020304" pitchFamily="18" charset="0"/>
                <a:cs typeface="Times New Roman" panose="02020603050405020304" pitchFamily="18" charset="0"/>
              </a:rPr>
              <a:t>，</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4 </a:t>
            </a:r>
            <a:r>
              <a:rPr lang="en-US" altLang="zh-CN" sz="2400" dirty="0">
                <a:solidFill>
                  <a:schemeClr val="bg2"/>
                </a:solidFill>
                <a:latin typeface="Times New Roman" panose="02020603050405020304" pitchFamily="18" charset="0"/>
                <a:cs typeface="Times New Roman" panose="02020603050405020304" pitchFamily="18" charset="0"/>
              </a:rPr>
              <a:t>≥0</a:t>
            </a:r>
          </a:p>
          <a:p>
            <a:pPr>
              <a:lnSpc>
                <a:spcPct val="90000"/>
              </a:lnSpc>
              <a:buNone/>
            </a:pPr>
            <a:r>
              <a:rPr lang="en-US" altLang="zh-CN" sz="2400" dirty="0">
                <a:solidFill>
                  <a:schemeClr val="bg2"/>
                </a:solidFill>
                <a:latin typeface="Times New Roman" panose="02020603050405020304" pitchFamily="18" charset="0"/>
                <a:cs typeface="Times New Roman" panose="02020603050405020304" pitchFamily="18" charset="0"/>
              </a:rPr>
              <a:t>2</a:t>
            </a:r>
            <a:r>
              <a:rPr lang="zh-CN" altLang="en-US" sz="2400" dirty="0">
                <a:solidFill>
                  <a:schemeClr val="bg2"/>
                </a:solidFill>
                <a:latin typeface="Times New Roman" panose="02020603050405020304" pitchFamily="18" charset="0"/>
                <a:cs typeface="Times New Roman" panose="02020603050405020304" pitchFamily="18" charset="0"/>
              </a:rPr>
              <a:t>、 </a:t>
            </a:r>
            <a:r>
              <a:rPr lang="en-US" altLang="zh-CN" sz="2400" dirty="0">
                <a:solidFill>
                  <a:schemeClr val="bg2"/>
                </a:solidFill>
                <a:latin typeface="Times New Roman" panose="02020603050405020304" pitchFamily="18" charset="0"/>
                <a:cs typeface="Times New Roman" panose="02020603050405020304" pitchFamily="18" charset="0"/>
              </a:rPr>
              <a:t>min </a:t>
            </a:r>
            <a:r>
              <a:rPr lang="en-US" altLang="zh-CN" sz="2400" i="1" dirty="0">
                <a:solidFill>
                  <a:schemeClr val="bg2"/>
                </a:solidFill>
                <a:latin typeface="Times New Roman" panose="02020603050405020304" pitchFamily="18" charset="0"/>
                <a:cs typeface="Times New Roman" panose="02020603050405020304" pitchFamily="18" charset="0"/>
              </a:rPr>
              <a:t>z</a:t>
            </a:r>
            <a:r>
              <a:rPr lang="en-US" altLang="zh-CN" sz="2400" dirty="0">
                <a:solidFill>
                  <a:schemeClr val="bg2"/>
                </a:solidFill>
                <a:latin typeface="Times New Roman" panose="02020603050405020304" pitchFamily="18" charset="0"/>
                <a:cs typeface="Times New Roman" panose="02020603050405020304" pitchFamily="18" charset="0"/>
              </a:rPr>
              <a:t> =</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1</a:t>
            </a:r>
            <a:r>
              <a:rPr lang="en-US" altLang="zh-CN" sz="2400" dirty="0">
                <a:solidFill>
                  <a:schemeClr val="bg2"/>
                </a:solidFill>
                <a:latin typeface="Times New Roman" panose="02020603050405020304" pitchFamily="18" charset="0"/>
                <a:cs typeface="Times New Roman" panose="02020603050405020304" pitchFamily="18" charset="0"/>
              </a:rPr>
              <a:t>+2</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2</a:t>
            </a:r>
            <a:r>
              <a:rPr lang="en-US" altLang="zh-CN" sz="2400" dirty="0">
                <a:solidFill>
                  <a:schemeClr val="bg2"/>
                </a:solidFill>
                <a:latin typeface="Times New Roman" panose="02020603050405020304" pitchFamily="18" charset="0"/>
                <a:cs typeface="Times New Roman" panose="02020603050405020304" pitchFamily="18" charset="0"/>
              </a:rPr>
              <a:t>+4</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3</a:t>
            </a:r>
          </a:p>
          <a:p>
            <a:pPr>
              <a:lnSpc>
                <a:spcPct val="90000"/>
              </a:lnSpc>
              <a:buNone/>
            </a:pPr>
            <a:r>
              <a:rPr lang="en-US" altLang="zh-CN" sz="2400" dirty="0">
                <a:solidFill>
                  <a:schemeClr val="bg2"/>
                </a:solidFill>
                <a:latin typeface="Times New Roman" panose="02020603050405020304" pitchFamily="18" charset="0"/>
                <a:cs typeface="Times New Roman" panose="02020603050405020304" pitchFamily="18" charset="0"/>
              </a:rPr>
              <a:t>              2</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1</a:t>
            </a:r>
            <a:r>
              <a:rPr lang="en-US" altLang="zh-CN" sz="2400" dirty="0">
                <a:solidFill>
                  <a:schemeClr val="bg2"/>
                </a:solidFill>
                <a:latin typeface="Times New Roman" panose="02020603050405020304" pitchFamily="18" charset="0"/>
                <a:cs typeface="Times New Roman" panose="02020603050405020304" pitchFamily="18" charset="0"/>
              </a:rPr>
              <a:t>+</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2</a:t>
            </a:r>
            <a:r>
              <a:rPr lang="en-US" altLang="zh-CN" sz="2400" dirty="0">
                <a:solidFill>
                  <a:schemeClr val="bg2"/>
                </a:solidFill>
                <a:latin typeface="Times New Roman" panose="02020603050405020304" pitchFamily="18" charset="0"/>
                <a:cs typeface="Times New Roman" panose="02020603050405020304" pitchFamily="18" charset="0"/>
              </a:rPr>
              <a:t>+3</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3</a:t>
            </a:r>
            <a:r>
              <a:rPr lang="zh-CN" altLang="en-US" sz="2400" dirty="0">
                <a:solidFill>
                  <a:schemeClr val="bg2"/>
                </a:solidFill>
                <a:latin typeface="Times New Roman" panose="02020603050405020304" pitchFamily="18" charset="0"/>
                <a:cs typeface="Times New Roman" panose="02020603050405020304" pitchFamily="18" charset="0"/>
              </a:rPr>
              <a:t>＝</a:t>
            </a:r>
            <a:r>
              <a:rPr lang="en-US" altLang="zh-CN" sz="2400" dirty="0">
                <a:solidFill>
                  <a:schemeClr val="bg2"/>
                </a:solidFill>
                <a:latin typeface="Times New Roman" panose="02020603050405020304" pitchFamily="18" charset="0"/>
                <a:cs typeface="Times New Roman" panose="02020603050405020304" pitchFamily="18" charset="0"/>
              </a:rPr>
              <a:t>20</a:t>
            </a:r>
          </a:p>
          <a:p>
            <a:pPr>
              <a:lnSpc>
                <a:spcPct val="90000"/>
              </a:lnSpc>
              <a:buNone/>
            </a:pPr>
            <a:r>
              <a:rPr lang="en-US" altLang="zh-CN" sz="2400" dirty="0">
                <a:solidFill>
                  <a:schemeClr val="bg2"/>
                </a:solidFill>
                <a:latin typeface="Times New Roman" panose="02020603050405020304" pitchFamily="18" charset="0"/>
                <a:cs typeface="Times New Roman" panose="02020603050405020304" pitchFamily="18" charset="0"/>
              </a:rPr>
              <a:t>            ∣3</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1</a:t>
            </a:r>
            <a:r>
              <a:rPr lang="en-US" altLang="zh-CN" sz="2400" dirty="0">
                <a:solidFill>
                  <a:schemeClr val="bg2"/>
                </a:solidFill>
                <a:latin typeface="Times New Roman" panose="02020603050405020304" pitchFamily="18" charset="0"/>
                <a:cs typeface="Times New Roman" panose="02020603050405020304" pitchFamily="18" charset="0"/>
              </a:rPr>
              <a:t>+</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2</a:t>
            </a:r>
            <a:r>
              <a:rPr lang="en-US" altLang="zh-CN" sz="2400" dirty="0">
                <a:solidFill>
                  <a:schemeClr val="bg2"/>
                </a:solidFill>
                <a:latin typeface="Times New Roman" panose="02020603050405020304" pitchFamily="18" charset="0"/>
                <a:cs typeface="Times New Roman" panose="02020603050405020304" pitchFamily="18" charset="0"/>
              </a:rPr>
              <a:t>+4</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3</a:t>
            </a:r>
            <a:r>
              <a:rPr lang="en-US" altLang="zh-CN" sz="2400" dirty="0">
                <a:solidFill>
                  <a:schemeClr val="bg2"/>
                </a:solidFill>
                <a:latin typeface="Times New Roman" panose="02020603050405020304" pitchFamily="18" charset="0"/>
                <a:cs typeface="Times New Roman" panose="02020603050405020304" pitchFamily="18" charset="0"/>
              </a:rPr>
              <a:t>∣≤25</a:t>
            </a:r>
          </a:p>
          <a:p>
            <a:pPr>
              <a:lnSpc>
                <a:spcPct val="90000"/>
              </a:lnSpc>
              <a:buNone/>
            </a:pPr>
            <a:r>
              <a:rPr lang="en-US" altLang="zh-CN" sz="2400" dirty="0">
                <a:solidFill>
                  <a:schemeClr val="bg2"/>
                </a:solidFill>
                <a:latin typeface="Times New Roman" panose="02020603050405020304" pitchFamily="18" charset="0"/>
                <a:cs typeface="Times New Roman" panose="02020603050405020304" pitchFamily="18" charset="0"/>
              </a:rPr>
              <a:t>              </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1</a:t>
            </a:r>
            <a:r>
              <a:rPr lang="zh-CN" altLang="en-US" sz="2400" dirty="0">
                <a:solidFill>
                  <a:schemeClr val="bg2"/>
                </a:solidFill>
                <a:latin typeface="Times New Roman" panose="02020603050405020304" pitchFamily="18" charset="0"/>
                <a:cs typeface="Times New Roman" panose="02020603050405020304" pitchFamily="18" charset="0"/>
              </a:rPr>
              <a:t>，</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2</a:t>
            </a:r>
            <a:r>
              <a:rPr lang="en-US" altLang="zh-CN" sz="2400" dirty="0">
                <a:solidFill>
                  <a:schemeClr val="bg2"/>
                </a:solidFill>
                <a:latin typeface="Times New Roman" panose="02020603050405020304" pitchFamily="18" charset="0"/>
                <a:cs typeface="Times New Roman" panose="02020603050405020304" pitchFamily="18" charset="0"/>
              </a:rPr>
              <a:t>≥0</a:t>
            </a:r>
            <a:r>
              <a:rPr lang="zh-CN" altLang="en-US" sz="2400" dirty="0">
                <a:solidFill>
                  <a:schemeClr val="bg2"/>
                </a:solidFill>
                <a:latin typeface="Times New Roman" panose="02020603050405020304" pitchFamily="18" charset="0"/>
                <a:cs typeface="Times New Roman" panose="02020603050405020304" pitchFamily="18" charset="0"/>
              </a:rPr>
              <a:t>，</a:t>
            </a:r>
            <a:r>
              <a:rPr lang="en-US" altLang="zh-CN" sz="2400" i="1" dirty="0">
                <a:solidFill>
                  <a:schemeClr val="bg2"/>
                </a:solidFill>
                <a:latin typeface="Times New Roman" panose="02020603050405020304" pitchFamily="18" charset="0"/>
                <a:cs typeface="Times New Roman" panose="02020603050405020304" pitchFamily="18" charset="0"/>
              </a:rPr>
              <a:t>x</a:t>
            </a:r>
            <a:r>
              <a:rPr lang="en-US" altLang="zh-CN" sz="2400" baseline="-25000" dirty="0">
                <a:solidFill>
                  <a:schemeClr val="bg2"/>
                </a:solidFill>
                <a:latin typeface="Times New Roman" panose="02020603050405020304" pitchFamily="18" charset="0"/>
                <a:cs typeface="Times New Roman" panose="02020603050405020304" pitchFamily="18" charset="0"/>
              </a:rPr>
              <a:t>3</a:t>
            </a:r>
            <a:r>
              <a:rPr lang="en-US" altLang="zh-CN" sz="2400" dirty="0">
                <a:solidFill>
                  <a:schemeClr val="bg2"/>
                </a:solidFill>
                <a:latin typeface="Times New Roman" panose="02020603050405020304" pitchFamily="18" charset="0"/>
                <a:cs typeface="Times New Roman" panose="02020603050405020304" pitchFamily="18" charset="0"/>
              </a:rPr>
              <a:t>≤0</a:t>
            </a:r>
          </a:p>
        </p:txBody>
      </p:sp>
      <p:grpSp>
        <p:nvGrpSpPr>
          <p:cNvPr id="11" name="组合 10"/>
          <p:cNvGrpSpPr/>
          <p:nvPr>
            <p:custDataLst>
              <p:tags r:id="rId4"/>
            </p:custDataLst>
          </p:nvPr>
        </p:nvGrpSpPr>
        <p:grpSpPr>
          <a:xfrm>
            <a:off x="0" y="0"/>
            <a:ext cx="9144000" cy="635000"/>
            <a:chOff x="0" y="0"/>
            <a:chExt cx="9144000" cy="635000"/>
          </a:xfrm>
        </p:grpSpPr>
        <p:sp>
          <p:nvSpPr>
            <p:cNvPr id="7" name="TitleBackground"/>
            <p:cNvSpPr/>
            <p:nvPr>
              <p:custDataLst>
                <p:tags r:id="rId6"/>
              </p:custDataLst>
            </p:nvPr>
          </p:nvSpPr>
          <p:spPr bwMode="auto">
            <a:xfrm>
              <a:off x="0" y="0"/>
              <a:ext cx="9144000" cy="635000"/>
            </a:xfrm>
            <a:prstGeom prst="rect">
              <a:avLst/>
            </a:prstGeom>
            <a:solidFill>
              <a:srgbClr val="F6F7F8"/>
            </a:solidFill>
            <a:ln w="12700" cap="sq" cmpd="sng" algn="ctr">
              <a:noFill/>
              <a:prstDash val="solid"/>
              <a:round/>
              <a:headEnd type="none" w="sm" len="sm"/>
              <a:tailEnd type="none" w="sm" len="sm"/>
            </a:ln>
            <a:extLst>
              <a:ext uri="{91240B29-F687-4F45-9708-019B960494DF}">
                <a14:hiddenLine xmlns:a14="http://schemas.microsoft.com/office/drawing/2010/main" w="12700">
                  <a:solidFill>
                    <a:schemeClr val="tx1"/>
                  </a:solidFill>
                  <a:prstDash val="solid"/>
                  <a:round/>
                  <a:headEnd type="none" w="sm" len="sm"/>
                  <a:tailEnd type="none" w="sm" len="sm"/>
                </a14:hiddenLine>
              </a:ext>
            </a:ex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8" name="ColorBlock"/>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sm" len="sm"/>
              <a:tailEnd type="none" w="sm" len="sm"/>
            </a:ln>
            <a:extLst>
              <a:ext uri="{91240B29-F687-4F45-9708-019B960494DF}">
                <a14:hiddenLine xmlns:a14="http://schemas.microsoft.com/office/drawing/2010/main" w="12700">
                  <a:solidFill>
                    <a:schemeClr val="tx1"/>
                  </a:solidFill>
                  <a:prstDash val="solid"/>
                  <a:round/>
                  <a:headEnd type="none" w="sm" len="sm"/>
                  <a:tailEnd type="none" w="sm" len="sm"/>
                </a14:hiddenLine>
              </a:ext>
            </a:ex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9"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charset="-122"/>
                  <a:ea typeface="微软雅黑" panose="020B0503020204020204" charset="-122"/>
                  <a:sym typeface="微软雅黑" panose="020B0503020204020204" charset="-122"/>
                </a:rPr>
                <a:t>主观题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charset="-122"/>
                  <a:ea typeface="微软雅黑" panose="020B0503020204020204" charset="-122"/>
                  <a:sym typeface="微软雅黑" panose="020B0503020204020204" charset="-122"/>
                </a:rPr>
                <a:t>10</a:t>
              </a:r>
              <a:r>
                <a:rPr lang="zh-CN" altLang="en-US" sz="2000" smtClean="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4" name="20 3"/>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800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dirty="0">
                <a:solidFill>
                  <a:schemeClr val="accent2"/>
                </a:solidFill>
                <a:sym typeface="+mn-ea"/>
              </a:rPr>
              <a:t>6.2 </a:t>
            </a:r>
            <a:r>
              <a:rPr kumimoji="0" lang="zh-CN" altLang="en-US" dirty="0">
                <a:solidFill>
                  <a:schemeClr val="accent2"/>
                </a:solidFill>
                <a:sym typeface="+mn-ea"/>
              </a:rPr>
              <a:t>标准形</a:t>
            </a:r>
          </a:p>
        </p:txBody>
      </p:sp>
      <p:sp>
        <p:nvSpPr>
          <p:cNvPr id="3" name="矩形 2"/>
          <p:cNvSpPr/>
          <p:nvPr/>
        </p:nvSpPr>
        <p:spPr>
          <a:xfrm>
            <a:off x="395536" y="1628800"/>
            <a:ext cx="8217604" cy="4524315"/>
          </a:xfrm>
          <a:prstGeom prst="rect">
            <a:avLst/>
          </a:prstGeom>
          <a:solidFill>
            <a:schemeClr val="tx1"/>
          </a:solidFill>
        </p:spPr>
        <p:txBody>
          <a:bodyPr wrap="square">
            <a:spAutoFit/>
          </a:bodyPr>
          <a:lstStyle/>
          <a:p>
            <a:pPr marL="342900" indent="-342900" eaLnBrk="1" hangingPunct="1">
              <a:lnSpc>
                <a:spcPct val="120000"/>
              </a:lnSpc>
              <a:buClrTx/>
              <a:buSzTx/>
              <a:buFont typeface="Wingdings" pitchFamily="2" charset="2"/>
              <a:buChar char="n"/>
            </a:pPr>
            <a:r>
              <a:rPr lang="zh-CN" altLang="en-US" dirty="0">
                <a:solidFill>
                  <a:schemeClr val="bg2"/>
                </a:solidFill>
              </a:rPr>
              <a:t>线性规划问题的</a:t>
            </a:r>
            <a:r>
              <a:rPr lang="zh-CN" altLang="en-US" dirty="0" smtClean="0">
                <a:solidFill>
                  <a:schemeClr val="bg2"/>
                </a:solidFill>
              </a:rPr>
              <a:t>解</a:t>
            </a:r>
            <a:endParaRPr lang="en-US" altLang="zh-CN" dirty="0" smtClean="0">
              <a:solidFill>
                <a:schemeClr val="bg2"/>
              </a:solidFill>
            </a:endParaRPr>
          </a:p>
          <a:p>
            <a:pPr marL="800100" lvl="1" indent="-342900" eaLnBrk="1" hangingPunct="1">
              <a:lnSpc>
                <a:spcPct val="120000"/>
              </a:lnSpc>
              <a:buFont typeface="Wingdings" pitchFamily="2" charset="2"/>
              <a:buChar char="Ø"/>
            </a:pPr>
            <a:r>
              <a:rPr lang="zh-CN" altLang="en-US" dirty="0" smtClean="0">
                <a:solidFill>
                  <a:schemeClr val="bg2"/>
                </a:solidFill>
              </a:rPr>
              <a:t>基本概念</a:t>
            </a:r>
            <a:endParaRPr lang="en-US" altLang="zh-CN" dirty="0" smtClean="0">
              <a:solidFill>
                <a:schemeClr val="bg2"/>
              </a:solidFill>
            </a:endParaRPr>
          </a:p>
          <a:p>
            <a:pPr lvl="1" eaLnBrk="1" hangingPunct="1">
              <a:lnSpc>
                <a:spcPct val="120000"/>
              </a:lnSpc>
            </a:pPr>
            <a:r>
              <a:rPr lang="en-US" altLang="zh-CN" dirty="0" smtClean="0">
                <a:solidFill>
                  <a:schemeClr val="bg2"/>
                </a:solidFill>
              </a:rPr>
              <a:t>1</a:t>
            </a:r>
            <a:r>
              <a:rPr lang="zh-CN" altLang="en-US" dirty="0" smtClean="0">
                <a:solidFill>
                  <a:schemeClr val="bg2"/>
                </a:solidFill>
              </a:rPr>
              <a:t>、向量组的秩：向量组的极大线性无关组中所含向量的个数称为这个向量组的秩。</a:t>
            </a:r>
            <a:endParaRPr lang="en-US" altLang="zh-CN" dirty="0" smtClean="0">
              <a:solidFill>
                <a:schemeClr val="bg2"/>
              </a:solidFill>
            </a:endParaRPr>
          </a:p>
          <a:p>
            <a:pPr lvl="1" eaLnBrk="1" hangingPunct="1">
              <a:lnSpc>
                <a:spcPct val="120000"/>
              </a:lnSpc>
            </a:pPr>
            <a:r>
              <a:rPr lang="en-US" altLang="zh-CN" dirty="0" smtClean="0">
                <a:solidFill>
                  <a:schemeClr val="bg2"/>
                </a:solidFill>
              </a:rPr>
              <a:t>2</a:t>
            </a:r>
            <a:r>
              <a:rPr lang="zh-CN" altLang="en-US" dirty="0" smtClean="0">
                <a:solidFill>
                  <a:schemeClr val="bg2"/>
                </a:solidFill>
              </a:rPr>
              <a:t>、线性无关：向量组线性无关的充分必要条件是向量组中任何向量都不能由其他向量线性表示。</a:t>
            </a:r>
            <a:endParaRPr lang="en-US" altLang="zh-CN" dirty="0" smtClean="0">
              <a:solidFill>
                <a:schemeClr val="bg2"/>
              </a:solidFill>
            </a:endParaRPr>
          </a:p>
          <a:p>
            <a:pPr lvl="1" eaLnBrk="1" hangingPunct="1">
              <a:lnSpc>
                <a:spcPct val="120000"/>
              </a:lnSpc>
            </a:pPr>
            <a:r>
              <a:rPr lang="en-US" altLang="zh-CN" dirty="0" smtClean="0">
                <a:solidFill>
                  <a:schemeClr val="bg2"/>
                </a:solidFill>
              </a:rPr>
              <a:t>3</a:t>
            </a:r>
            <a:r>
              <a:rPr lang="zh-CN" altLang="en-US" dirty="0" smtClean="0">
                <a:solidFill>
                  <a:schemeClr val="bg2"/>
                </a:solidFill>
              </a:rPr>
              <a:t>、动态规划标准形中有</a:t>
            </a:r>
            <a:r>
              <a:rPr lang="en-US" altLang="zh-CN" i="1" dirty="0" smtClean="0">
                <a:solidFill>
                  <a:schemeClr val="bg2"/>
                </a:solidFill>
              </a:rPr>
              <a:t>n</a:t>
            </a:r>
            <a:r>
              <a:rPr lang="zh-CN" altLang="en-US" dirty="0" smtClean="0">
                <a:solidFill>
                  <a:schemeClr val="bg2"/>
                </a:solidFill>
              </a:rPr>
              <a:t>个变量，</a:t>
            </a:r>
            <a:r>
              <a:rPr lang="en-US" altLang="zh-CN" i="1" dirty="0" smtClean="0">
                <a:solidFill>
                  <a:schemeClr val="bg2"/>
                </a:solidFill>
              </a:rPr>
              <a:t>m</a:t>
            </a:r>
            <a:r>
              <a:rPr lang="zh-CN" altLang="en-US" dirty="0" smtClean="0">
                <a:solidFill>
                  <a:schemeClr val="bg2"/>
                </a:solidFill>
              </a:rPr>
              <a:t>个约束行</a:t>
            </a:r>
            <a:endParaRPr lang="en-US" altLang="zh-CN" dirty="0" smtClean="0">
              <a:solidFill>
                <a:schemeClr val="bg2"/>
              </a:solidFill>
            </a:endParaRPr>
          </a:p>
          <a:p>
            <a:pPr lvl="1" eaLnBrk="1" hangingPunct="1">
              <a:lnSpc>
                <a:spcPct val="120000"/>
              </a:lnSpc>
            </a:pPr>
            <a:r>
              <a:rPr lang="zh-CN" altLang="en-US" kern="0" dirty="0" smtClean="0">
                <a:solidFill>
                  <a:schemeClr val="bg2"/>
                </a:solidFill>
                <a:sym typeface="+mn-ea"/>
              </a:rPr>
              <a:t>（</a:t>
            </a:r>
            <a:r>
              <a:rPr lang="en-US" altLang="zh-CN" kern="0" dirty="0" smtClean="0">
                <a:solidFill>
                  <a:schemeClr val="bg2"/>
                </a:solidFill>
                <a:sym typeface="+mn-ea"/>
              </a:rPr>
              <a:t>1</a:t>
            </a:r>
            <a:r>
              <a:rPr lang="zh-CN" altLang="en-US" kern="0" dirty="0" smtClean="0">
                <a:solidFill>
                  <a:schemeClr val="bg2"/>
                </a:solidFill>
                <a:sym typeface="+mn-ea"/>
              </a:rPr>
              <a:t>）约束</a:t>
            </a:r>
            <a:r>
              <a:rPr lang="zh-CN" altLang="en-US" kern="0" dirty="0">
                <a:solidFill>
                  <a:schemeClr val="bg2"/>
                </a:solidFill>
                <a:sym typeface="+mn-ea"/>
              </a:rPr>
              <a:t>方程组的</a:t>
            </a:r>
            <a:r>
              <a:rPr lang="zh-CN" altLang="en-US" kern="0" dirty="0" smtClean="0">
                <a:solidFill>
                  <a:schemeClr val="bg2"/>
                </a:solidFill>
                <a:sym typeface="+mn-ea"/>
              </a:rPr>
              <a:t>系数矩阵</a:t>
            </a:r>
            <a:r>
              <a:rPr lang="en-US" altLang="zh-CN" i="1" kern="0" dirty="0" smtClean="0">
                <a:solidFill>
                  <a:schemeClr val="bg2"/>
                </a:solidFill>
                <a:sym typeface="+mn-ea"/>
              </a:rPr>
              <a:t>A</a:t>
            </a:r>
            <a:r>
              <a:rPr lang="zh-CN" altLang="en-US" kern="0" dirty="0" smtClean="0">
                <a:solidFill>
                  <a:schemeClr val="bg2"/>
                </a:solidFill>
                <a:sym typeface="+mn-ea"/>
              </a:rPr>
              <a:t>（技术矩阵）有</a:t>
            </a:r>
            <a:r>
              <a:rPr lang="en-US" altLang="zh-CN" i="1" kern="0" dirty="0" smtClean="0">
                <a:solidFill>
                  <a:schemeClr val="bg2"/>
                </a:solidFill>
                <a:sym typeface="+mn-ea"/>
              </a:rPr>
              <a:t>m</a:t>
            </a:r>
            <a:r>
              <a:rPr lang="zh-CN" altLang="en-US" kern="0" dirty="0" smtClean="0">
                <a:solidFill>
                  <a:schemeClr val="bg2"/>
                </a:solidFill>
                <a:sym typeface="+mn-ea"/>
              </a:rPr>
              <a:t>个行向量。本课程的前提是这</a:t>
            </a:r>
            <a:r>
              <a:rPr lang="en-US" altLang="zh-CN" i="1" kern="0" dirty="0" smtClean="0">
                <a:solidFill>
                  <a:schemeClr val="bg2"/>
                </a:solidFill>
                <a:sym typeface="+mn-ea"/>
              </a:rPr>
              <a:t>m</a:t>
            </a:r>
            <a:r>
              <a:rPr lang="zh-CN" altLang="en-US" kern="0" dirty="0" smtClean="0">
                <a:solidFill>
                  <a:schemeClr val="bg2"/>
                </a:solidFill>
                <a:sym typeface="+mn-ea"/>
              </a:rPr>
              <a:t>个行向量线性无关，因此向量组的秩为</a:t>
            </a:r>
            <a:r>
              <a:rPr lang="en-US" altLang="zh-CN" i="1" kern="0" dirty="0" smtClean="0">
                <a:solidFill>
                  <a:schemeClr val="bg2"/>
                </a:solidFill>
                <a:sym typeface="+mn-ea"/>
              </a:rPr>
              <a:t>m</a:t>
            </a:r>
            <a:r>
              <a:rPr lang="zh-CN" altLang="en-US" kern="0" dirty="0" smtClean="0">
                <a:solidFill>
                  <a:schemeClr val="bg2"/>
                </a:solidFill>
                <a:sym typeface="+mn-ea"/>
              </a:rPr>
              <a:t>。</a:t>
            </a:r>
            <a:endParaRPr lang="en-US" altLang="zh-CN" dirty="0">
              <a:solidFill>
                <a:schemeClr val="bg2"/>
              </a:solidFill>
            </a:endParaRPr>
          </a:p>
        </p:txBody>
      </p:sp>
    </p:spTree>
    <p:extLst>
      <p:ext uri="{BB962C8B-B14F-4D97-AF65-F5344CB8AC3E}">
        <p14:creationId xmlns:p14="http://schemas.microsoft.com/office/powerpoint/2010/main" val="35873885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left)">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left)">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left)">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800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dirty="0">
                <a:solidFill>
                  <a:schemeClr val="accent2"/>
                </a:solidFill>
                <a:sym typeface="+mn-ea"/>
              </a:rPr>
              <a:t>6.2 </a:t>
            </a:r>
            <a:r>
              <a:rPr kumimoji="0" lang="zh-CN" altLang="en-US" dirty="0">
                <a:solidFill>
                  <a:schemeClr val="accent2"/>
                </a:solidFill>
                <a:sym typeface="+mn-ea"/>
              </a:rPr>
              <a:t>标准形</a:t>
            </a:r>
          </a:p>
        </p:txBody>
      </p:sp>
      <p:sp>
        <p:nvSpPr>
          <p:cNvPr id="3" name="矩形 2"/>
          <p:cNvSpPr/>
          <p:nvPr/>
        </p:nvSpPr>
        <p:spPr>
          <a:xfrm>
            <a:off x="395536" y="1628800"/>
            <a:ext cx="8064896" cy="3600986"/>
          </a:xfrm>
          <a:prstGeom prst="rect">
            <a:avLst/>
          </a:prstGeom>
        </p:spPr>
        <p:txBody>
          <a:bodyPr wrap="square">
            <a:spAutoFit/>
          </a:bodyPr>
          <a:lstStyle/>
          <a:p>
            <a:pPr lvl="1" eaLnBrk="1" hangingPunct="1">
              <a:lnSpc>
                <a:spcPct val="130000"/>
              </a:lnSpc>
            </a:pPr>
            <a:r>
              <a:rPr lang="zh-CN" altLang="en-US" kern="0" dirty="0" smtClean="0">
                <a:solidFill>
                  <a:schemeClr val="bg2"/>
                </a:solidFill>
                <a:sym typeface="+mn-ea"/>
              </a:rPr>
              <a:t>（</a:t>
            </a:r>
            <a:r>
              <a:rPr lang="en-US" altLang="zh-CN" kern="0" dirty="0" smtClean="0">
                <a:solidFill>
                  <a:schemeClr val="bg2"/>
                </a:solidFill>
                <a:sym typeface="+mn-ea"/>
              </a:rPr>
              <a:t>2</a:t>
            </a:r>
            <a:r>
              <a:rPr lang="zh-CN" altLang="en-US" kern="0" dirty="0" smtClean="0">
                <a:solidFill>
                  <a:schemeClr val="bg2"/>
                </a:solidFill>
                <a:sym typeface="+mn-ea"/>
              </a:rPr>
              <a:t>）技术矩阵</a:t>
            </a:r>
            <a:r>
              <a:rPr lang="en-US" altLang="zh-CN" i="1" kern="0" dirty="0" smtClean="0">
                <a:solidFill>
                  <a:schemeClr val="bg2"/>
                </a:solidFill>
                <a:sym typeface="+mn-ea"/>
              </a:rPr>
              <a:t>A</a:t>
            </a:r>
            <a:r>
              <a:rPr lang="zh-CN" altLang="en-US" kern="0" dirty="0" smtClean="0">
                <a:solidFill>
                  <a:schemeClr val="bg2"/>
                </a:solidFill>
                <a:sym typeface="+mn-ea"/>
              </a:rPr>
              <a:t>有线性独立的 </a:t>
            </a:r>
            <a:r>
              <a:rPr lang="en-US" altLang="zh-CN" i="1" kern="0" dirty="0" smtClean="0">
                <a:solidFill>
                  <a:schemeClr val="bg2"/>
                </a:solidFill>
                <a:sym typeface="+mn-ea"/>
              </a:rPr>
              <a:t>n</a:t>
            </a:r>
            <a:r>
              <a:rPr lang="zh-CN" altLang="en-US" kern="0" dirty="0" smtClean="0">
                <a:solidFill>
                  <a:schemeClr val="bg2"/>
                </a:solidFill>
                <a:sym typeface="+mn-ea"/>
              </a:rPr>
              <a:t>个列向量，取出其中的</a:t>
            </a:r>
            <a:r>
              <a:rPr lang="en-US" altLang="zh-CN" i="1" kern="0" dirty="0" smtClean="0">
                <a:solidFill>
                  <a:schemeClr val="bg2"/>
                </a:solidFill>
                <a:sym typeface="+mn-ea"/>
              </a:rPr>
              <a:t>m</a:t>
            </a:r>
            <a:r>
              <a:rPr lang="en-US" altLang="zh-CN" kern="0" dirty="0" smtClean="0">
                <a:solidFill>
                  <a:schemeClr val="bg2"/>
                </a:solidFill>
                <a:sym typeface="+mn-ea"/>
              </a:rPr>
              <a:t> </a:t>
            </a:r>
            <a:r>
              <a:rPr lang="zh-CN" altLang="en-US" kern="0" dirty="0" smtClean="0">
                <a:solidFill>
                  <a:schemeClr val="bg2"/>
                </a:solidFill>
                <a:sym typeface="+mn-ea"/>
              </a:rPr>
              <a:t>列构成该标准型的一个基，即</a:t>
            </a:r>
            <a:endParaRPr lang="en-US" altLang="zh-CN" kern="0" dirty="0" smtClean="0">
              <a:solidFill>
                <a:schemeClr val="bg2"/>
              </a:solidFill>
              <a:sym typeface="+mn-ea"/>
            </a:endParaRPr>
          </a:p>
          <a:p>
            <a:pPr lvl="1" indent="974725" eaLnBrk="1" hangingPunct="1">
              <a:lnSpc>
                <a:spcPct val="130000"/>
              </a:lnSpc>
            </a:pPr>
            <a:r>
              <a:rPr lang="en-US" altLang="zh-CN" i="1" kern="0" dirty="0">
                <a:solidFill>
                  <a:schemeClr val="bg2"/>
                </a:solidFill>
              </a:rPr>
              <a:t>B </a:t>
            </a:r>
            <a:r>
              <a:rPr lang="en-US" altLang="zh-CN" kern="0" dirty="0">
                <a:solidFill>
                  <a:schemeClr val="bg2"/>
                </a:solidFill>
              </a:rPr>
              <a:t>= ( </a:t>
            </a:r>
            <a:r>
              <a:rPr lang="en-US" altLang="zh-CN" i="1" kern="0" dirty="0" smtClean="0">
                <a:solidFill>
                  <a:schemeClr val="bg2"/>
                </a:solidFill>
              </a:rPr>
              <a:t>P</a:t>
            </a:r>
            <a:r>
              <a:rPr lang="en-US" altLang="zh-CN" kern="0" baseline="-25000" dirty="0" smtClean="0">
                <a:solidFill>
                  <a:schemeClr val="bg2"/>
                </a:solidFill>
              </a:rPr>
              <a:t>1</a:t>
            </a:r>
            <a:r>
              <a:rPr lang="en-US" altLang="zh-CN" kern="0" baseline="-25000" dirty="0" smtClean="0">
                <a:solidFill>
                  <a:schemeClr val="bg2"/>
                </a:solidFill>
                <a:sym typeface="Symbol" panose="05050102010706020507" pitchFamily="18" charset="2"/>
              </a:rPr>
              <a:t></a:t>
            </a:r>
            <a:r>
              <a:rPr lang="en-US" altLang="zh-CN" kern="0" dirty="0">
                <a:solidFill>
                  <a:schemeClr val="bg2"/>
                </a:solidFill>
              </a:rPr>
              <a:t>, </a:t>
            </a:r>
            <a:r>
              <a:rPr lang="en-US" altLang="zh-CN" i="1" kern="0" dirty="0" smtClean="0">
                <a:solidFill>
                  <a:schemeClr val="bg2"/>
                </a:solidFill>
              </a:rPr>
              <a:t>P</a:t>
            </a:r>
            <a:r>
              <a:rPr lang="en-US" altLang="zh-CN" kern="0" baseline="-25000" dirty="0" smtClean="0">
                <a:solidFill>
                  <a:schemeClr val="bg2"/>
                </a:solidFill>
              </a:rPr>
              <a:t>2</a:t>
            </a:r>
            <a:r>
              <a:rPr lang="en-US" altLang="zh-CN" kern="0" baseline="-25000" dirty="0" smtClean="0">
                <a:solidFill>
                  <a:schemeClr val="bg2"/>
                </a:solidFill>
                <a:sym typeface="Symbol" panose="05050102010706020507" pitchFamily="18" charset="2"/>
              </a:rPr>
              <a:t></a:t>
            </a:r>
            <a:r>
              <a:rPr lang="en-US" altLang="zh-CN" kern="0" baseline="-25000" dirty="0" smtClean="0">
                <a:solidFill>
                  <a:schemeClr val="bg2"/>
                </a:solidFill>
              </a:rPr>
              <a:t> </a:t>
            </a:r>
            <a:r>
              <a:rPr lang="en-US" altLang="zh-CN" kern="0" dirty="0">
                <a:solidFill>
                  <a:schemeClr val="bg2"/>
                </a:solidFill>
              </a:rPr>
              <a:t>, … , </a:t>
            </a:r>
            <a:r>
              <a:rPr lang="en-US" altLang="zh-CN" i="1" kern="0" dirty="0" smtClean="0">
                <a:solidFill>
                  <a:schemeClr val="bg2"/>
                </a:solidFill>
              </a:rPr>
              <a:t>P</a:t>
            </a:r>
            <a:r>
              <a:rPr lang="en-US" altLang="zh-CN" i="1" kern="0" baseline="-25000" dirty="0" smtClean="0">
                <a:solidFill>
                  <a:schemeClr val="bg2"/>
                </a:solidFill>
              </a:rPr>
              <a:t>m</a:t>
            </a:r>
            <a:r>
              <a:rPr lang="en-US" altLang="zh-CN" kern="0" baseline="-25000" dirty="0" smtClean="0">
                <a:solidFill>
                  <a:schemeClr val="bg2"/>
                </a:solidFill>
                <a:sym typeface="Symbol" panose="05050102010706020507" pitchFamily="18" charset="2"/>
              </a:rPr>
              <a:t></a:t>
            </a:r>
            <a:r>
              <a:rPr lang="en-US" altLang="zh-CN" i="1" kern="0" baseline="-25000" dirty="0" smtClean="0">
                <a:solidFill>
                  <a:schemeClr val="bg2"/>
                </a:solidFill>
              </a:rPr>
              <a:t> </a:t>
            </a:r>
            <a:r>
              <a:rPr lang="en-US" altLang="zh-CN" kern="0" dirty="0">
                <a:solidFill>
                  <a:schemeClr val="bg2"/>
                </a:solidFill>
              </a:rPr>
              <a:t>)， | </a:t>
            </a:r>
            <a:r>
              <a:rPr lang="en-US" altLang="zh-CN" i="1" kern="0" dirty="0">
                <a:solidFill>
                  <a:schemeClr val="bg2"/>
                </a:solidFill>
              </a:rPr>
              <a:t>B | </a:t>
            </a:r>
            <a:r>
              <a:rPr lang="en-US" altLang="zh-CN" kern="0" dirty="0">
                <a:solidFill>
                  <a:schemeClr val="bg2"/>
                </a:solidFill>
                <a:sym typeface="Symbol" panose="05050102010706020507" pitchFamily="18" charset="2"/>
              </a:rPr>
              <a:t> 0</a:t>
            </a:r>
            <a:r>
              <a:rPr lang="en-US" altLang="zh-CN" kern="0" dirty="0">
                <a:solidFill>
                  <a:schemeClr val="bg2"/>
                </a:solidFill>
              </a:rPr>
              <a:t> </a:t>
            </a:r>
            <a:endParaRPr lang="en-US" altLang="zh-CN" kern="0" dirty="0" smtClean="0">
              <a:solidFill>
                <a:schemeClr val="bg2"/>
              </a:solidFill>
            </a:endParaRPr>
          </a:p>
          <a:p>
            <a:pPr lvl="1" indent="76200" eaLnBrk="1" hangingPunct="1">
              <a:lnSpc>
                <a:spcPct val="130000"/>
              </a:lnSpc>
            </a:pPr>
            <a:r>
              <a:rPr lang="zh-CN" altLang="en-US" kern="0" dirty="0" smtClean="0">
                <a:solidFill>
                  <a:schemeClr val="bg2"/>
                </a:solidFill>
              </a:rPr>
              <a:t>（</a:t>
            </a:r>
            <a:r>
              <a:rPr lang="en-US" altLang="zh-CN" kern="0" dirty="0" smtClean="0">
                <a:solidFill>
                  <a:schemeClr val="bg2"/>
                </a:solidFill>
              </a:rPr>
              <a:t>3</a:t>
            </a:r>
            <a:r>
              <a:rPr lang="zh-CN" altLang="en-US" kern="0" dirty="0" smtClean="0">
                <a:solidFill>
                  <a:schemeClr val="bg2"/>
                </a:solidFill>
              </a:rPr>
              <a:t>）</a:t>
            </a:r>
            <a:r>
              <a:rPr lang="en-US" altLang="zh-CN" i="1" kern="0" dirty="0">
                <a:solidFill>
                  <a:schemeClr val="bg2"/>
                </a:solidFill>
              </a:rPr>
              <a:t> P</a:t>
            </a:r>
            <a:r>
              <a:rPr lang="en-US" altLang="zh-CN" kern="0" baseline="-25000" dirty="0">
                <a:solidFill>
                  <a:schemeClr val="bg2"/>
                </a:solidFill>
              </a:rPr>
              <a:t>1 </a:t>
            </a:r>
            <a:r>
              <a:rPr lang="en-US" altLang="zh-CN" kern="0" baseline="-25000" dirty="0">
                <a:solidFill>
                  <a:schemeClr val="bg2"/>
                </a:solidFill>
                <a:sym typeface="Symbol" panose="05050102010706020507" pitchFamily="18" charset="2"/>
              </a:rPr>
              <a:t></a:t>
            </a:r>
            <a:r>
              <a:rPr lang="en-US" altLang="zh-CN" kern="0" dirty="0">
                <a:solidFill>
                  <a:schemeClr val="bg2"/>
                </a:solidFill>
              </a:rPr>
              <a:t>, </a:t>
            </a:r>
            <a:r>
              <a:rPr lang="en-US" altLang="zh-CN" i="1" kern="0" dirty="0">
                <a:solidFill>
                  <a:schemeClr val="bg2"/>
                </a:solidFill>
              </a:rPr>
              <a:t>P</a:t>
            </a:r>
            <a:r>
              <a:rPr lang="en-US" altLang="zh-CN" kern="0" baseline="-25000" dirty="0">
                <a:solidFill>
                  <a:schemeClr val="bg2"/>
                </a:solidFill>
              </a:rPr>
              <a:t>2 </a:t>
            </a:r>
            <a:r>
              <a:rPr lang="en-US" altLang="zh-CN" kern="0" baseline="-25000" dirty="0">
                <a:solidFill>
                  <a:schemeClr val="bg2"/>
                </a:solidFill>
                <a:sym typeface="Symbol" panose="05050102010706020507" pitchFamily="18" charset="2"/>
              </a:rPr>
              <a:t></a:t>
            </a:r>
            <a:r>
              <a:rPr lang="en-US" altLang="zh-CN" kern="0" baseline="-25000" dirty="0">
                <a:solidFill>
                  <a:schemeClr val="bg2"/>
                </a:solidFill>
              </a:rPr>
              <a:t> </a:t>
            </a:r>
            <a:r>
              <a:rPr lang="en-US" altLang="zh-CN" kern="0" dirty="0">
                <a:solidFill>
                  <a:schemeClr val="bg2"/>
                </a:solidFill>
              </a:rPr>
              <a:t>, … , </a:t>
            </a:r>
            <a:r>
              <a:rPr lang="en-US" altLang="zh-CN" i="1" kern="0" dirty="0">
                <a:solidFill>
                  <a:schemeClr val="bg2"/>
                </a:solidFill>
              </a:rPr>
              <a:t>P</a:t>
            </a:r>
            <a:r>
              <a:rPr lang="en-US" altLang="zh-CN" i="1" kern="0" baseline="-25000" dirty="0">
                <a:solidFill>
                  <a:schemeClr val="bg2"/>
                </a:solidFill>
              </a:rPr>
              <a:t>m </a:t>
            </a:r>
            <a:r>
              <a:rPr lang="en-US" altLang="zh-CN" kern="0" baseline="-25000" dirty="0">
                <a:solidFill>
                  <a:schemeClr val="bg2"/>
                </a:solidFill>
                <a:sym typeface="Symbol" panose="05050102010706020507" pitchFamily="18" charset="2"/>
              </a:rPr>
              <a:t></a:t>
            </a:r>
            <a:r>
              <a:rPr lang="zh-CN" altLang="en-US" kern="0" dirty="0">
                <a:solidFill>
                  <a:schemeClr val="bg2"/>
                </a:solidFill>
              </a:rPr>
              <a:t>称为</a:t>
            </a:r>
            <a:r>
              <a:rPr lang="zh-CN" altLang="en-US" b="1" kern="0" dirty="0">
                <a:solidFill>
                  <a:srgbClr val="FF0000"/>
                </a:solidFill>
              </a:rPr>
              <a:t>基</a:t>
            </a:r>
            <a:r>
              <a:rPr lang="zh-CN" altLang="en-US" b="1" kern="0" dirty="0" smtClean="0">
                <a:solidFill>
                  <a:srgbClr val="FF0000"/>
                </a:solidFill>
              </a:rPr>
              <a:t>向量</a:t>
            </a:r>
            <a:endParaRPr lang="en-US" altLang="zh-CN" b="1" kern="0" dirty="0" smtClean="0">
              <a:solidFill>
                <a:srgbClr val="FF0000"/>
              </a:solidFill>
            </a:endParaRPr>
          </a:p>
          <a:p>
            <a:pPr lvl="1" eaLnBrk="1" hangingPunct="1">
              <a:lnSpc>
                <a:spcPct val="130000"/>
              </a:lnSpc>
              <a:spcBef>
                <a:spcPct val="20000"/>
              </a:spcBef>
              <a:buClr>
                <a:schemeClr val="accent2"/>
              </a:buClr>
              <a:buSzPct val="80000"/>
              <a:defRPr/>
            </a:pPr>
            <a:r>
              <a:rPr lang="zh-CN" altLang="en-US" kern="0" dirty="0" smtClean="0">
                <a:solidFill>
                  <a:schemeClr val="bg2"/>
                </a:solidFill>
              </a:rPr>
              <a:t>（</a:t>
            </a:r>
            <a:r>
              <a:rPr lang="en-US" altLang="zh-CN" kern="0" dirty="0" smtClean="0">
                <a:solidFill>
                  <a:schemeClr val="bg2"/>
                </a:solidFill>
              </a:rPr>
              <a:t>4</a:t>
            </a:r>
            <a:r>
              <a:rPr lang="zh-CN" altLang="en-US" kern="0" dirty="0" smtClean="0">
                <a:solidFill>
                  <a:schemeClr val="bg2"/>
                </a:solidFill>
              </a:rPr>
              <a:t>）</a:t>
            </a:r>
            <a:r>
              <a:rPr lang="zh-CN" altLang="en-US" kern="0" dirty="0">
                <a:solidFill>
                  <a:schemeClr val="bg2"/>
                </a:solidFill>
              </a:rPr>
              <a:t>与基向量对应的变量称为</a:t>
            </a:r>
            <a:r>
              <a:rPr lang="zh-CN" altLang="en-US" b="1" kern="0" dirty="0">
                <a:solidFill>
                  <a:srgbClr val="FF0000"/>
                </a:solidFill>
              </a:rPr>
              <a:t>基变量</a:t>
            </a:r>
            <a:r>
              <a:rPr lang="zh-CN" altLang="en-US" kern="0" dirty="0">
                <a:solidFill>
                  <a:schemeClr val="bg2"/>
                </a:solidFill>
              </a:rPr>
              <a:t>，记为</a:t>
            </a:r>
          </a:p>
          <a:p>
            <a:pPr marL="742950" lvl="1" indent="-285750" eaLnBrk="1" hangingPunct="1">
              <a:lnSpc>
                <a:spcPct val="130000"/>
              </a:lnSpc>
              <a:spcBef>
                <a:spcPct val="20000"/>
              </a:spcBef>
              <a:buClr>
                <a:schemeClr val="accent2"/>
              </a:buClr>
              <a:buSzPct val="80000"/>
              <a:defRPr/>
            </a:pPr>
            <a:r>
              <a:rPr lang="zh-CN" altLang="en-US" i="1" kern="0" dirty="0">
                <a:solidFill>
                  <a:schemeClr val="bg2"/>
                </a:solidFill>
              </a:rPr>
              <a:t>    </a:t>
            </a:r>
            <a:r>
              <a:rPr lang="en-US" altLang="zh-CN" i="1" kern="0" dirty="0">
                <a:solidFill>
                  <a:schemeClr val="bg2"/>
                </a:solidFill>
              </a:rPr>
              <a:t>X</a:t>
            </a:r>
            <a:r>
              <a:rPr lang="en-US" altLang="zh-CN" i="1" kern="0" baseline="-25000" dirty="0">
                <a:solidFill>
                  <a:schemeClr val="bg2"/>
                </a:solidFill>
              </a:rPr>
              <a:t>B </a:t>
            </a:r>
            <a:r>
              <a:rPr lang="en-US" altLang="zh-CN" kern="0" dirty="0">
                <a:solidFill>
                  <a:schemeClr val="bg2"/>
                </a:solidFill>
              </a:rPr>
              <a:t>= ( </a:t>
            </a:r>
            <a:r>
              <a:rPr lang="en-US" altLang="zh-CN" i="1" kern="0" dirty="0" smtClean="0">
                <a:solidFill>
                  <a:schemeClr val="bg2"/>
                </a:solidFill>
              </a:rPr>
              <a:t>x</a:t>
            </a:r>
            <a:r>
              <a:rPr lang="en-US" altLang="zh-CN" kern="0" baseline="-25000" dirty="0" smtClean="0">
                <a:solidFill>
                  <a:schemeClr val="bg2"/>
                </a:solidFill>
              </a:rPr>
              <a:t>1</a:t>
            </a:r>
            <a:r>
              <a:rPr lang="en-US" altLang="zh-CN" kern="0" baseline="-25000" dirty="0" smtClean="0">
                <a:solidFill>
                  <a:schemeClr val="bg2"/>
                </a:solidFill>
                <a:sym typeface="Symbol" panose="05050102010706020507" pitchFamily="18" charset="2"/>
              </a:rPr>
              <a:t></a:t>
            </a:r>
            <a:r>
              <a:rPr lang="en-US" altLang="zh-CN" kern="0" dirty="0">
                <a:solidFill>
                  <a:schemeClr val="bg2"/>
                </a:solidFill>
              </a:rPr>
              <a:t>, </a:t>
            </a:r>
            <a:r>
              <a:rPr lang="en-US" altLang="zh-CN" i="1" kern="0" dirty="0" smtClean="0">
                <a:solidFill>
                  <a:schemeClr val="bg2"/>
                </a:solidFill>
              </a:rPr>
              <a:t>x</a:t>
            </a:r>
            <a:r>
              <a:rPr lang="en-US" altLang="zh-CN" kern="0" baseline="-25000" dirty="0" smtClean="0">
                <a:solidFill>
                  <a:schemeClr val="bg2"/>
                </a:solidFill>
              </a:rPr>
              <a:t>2</a:t>
            </a:r>
            <a:r>
              <a:rPr lang="en-US" altLang="zh-CN" kern="0" baseline="-25000" dirty="0" smtClean="0">
                <a:solidFill>
                  <a:schemeClr val="bg2"/>
                </a:solidFill>
                <a:sym typeface="Symbol" panose="05050102010706020507" pitchFamily="18" charset="2"/>
              </a:rPr>
              <a:t></a:t>
            </a:r>
            <a:r>
              <a:rPr lang="en-US" altLang="zh-CN" kern="0" baseline="-25000" dirty="0" smtClean="0">
                <a:solidFill>
                  <a:schemeClr val="bg2"/>
                </a:solidFill>
              </a:rPr>
              <a:t> </a:t>
            </a:r>
            <a:r>
              <a:rPr lang="en-US" altLang="zh-CN" kern="0" dirty="0">
                <a:solidFill>
                  <a:schemeClr val="bg2"/>
                </a:solidFill>
              </a:rPr>
              <a:t>, … , </a:t>
            </a:r>
            <a:r>
              <a:rPr lang="en-US" altLang="zh-CN" i="1" kern="0" dirty="0" err="1" smtClean="0">
                <a:solidFill>
                  <a:schemeClr val="bg2"/>
                </a:solidFill>
              </a:rPr>
              <a:t>x</a:t>
            </a:r>
            <a:r>
              <a:rPr lang="en-US" altLang="zh-CN" i="1" kern="0" baseline="-25000" dirty="0" err="1" smtClean="0">
                <a:solidFill>
                  <a:schemeClr val="bg2"/>
                </a:solidFill>
              </a:rPr>
              <a:t>m</a:t>
            </a:r>
            <a:r>
              <a:rPr lang="en-US" altLang="zh-CN" kern="0" baseline="-25000" dirty="0" smtClean="0">
                <a:solidFill>
                  <a:schemeClr val="bg2"/>
                </a:solidFill>
                <a:sym typeface="Symbol" panose="05050102010706020507" pitchFamily="18" charset="2"/>
              </a:rPr>
              <a:t></a:t>
            </a:r>
            <a:r>
              <a:rPr lang="en-US" altLang="zh-CN" i="1" kern="0" baseline="-25000" dirty="0" smtClean="0">
                <a:solidFill>
                  <a:schemeClr val="bg2"/>
                </a:solidFill>
              </a:rPr>
              <a:t> </a:t>
            </a:r>
            <a:r>
              <a:rPr lang="en-US" altLang="zh-CN" kern="0" dirty="0">
                <a:solidFill>
                  <a:schemeClr val="bg2"/>
                </a:solidFill>
              </a:rPr>
              <a:t>)</a:t>
            </a:r>
            <a:r>
              <a:rPr lang="en-US" altLang="zh-CN" kern="0" baseline="30000" dirty="0">
                <a:solidFill>
                  <a:schemeClr val="bg2"/>
                </a:solidFill>
              </a:rPr>
              <a:t>T</a:t>
            </a:r>
            <a:r>
              <a:rPr lang="en-US" altLang="zh-CN" kern="0" dirty="0">
                <a:solidFill>
                  <a:schemeClr val="bg2"/>
                </a:solidFill>
              </a:rPr>
              <a:t>，</a:t>
            </a:r>
            <a:r>
              <a:rPr lang="zh-CN" altLang="en-US" kern="0" dirty="0">
                <a:solidFill>
                  <a:schemeClr val="bg2"/>
                </a:solidFill>
              </a:rPr>
              <a:t>其余的变量称为</a:t>
            </a:r>
            <a:r>
              <a:rPr lang="zh-CN" altLang="en-US" b="1" kern="0" dirty="0">
                <a:solidFill>
                  <a:srgbClr val="FF0000"/>
                </a:solidFill>
              </a:rPr>
              <a:t>非基变量</a:t>
            </a:r>
            <a:r>
              <a:rPr lang="zh-CN" altLang="en-US" kern="0" dirty="0">
                <a:solidFill>
                  <a:schemeClr val="bg2"/>
                </a:solidFill>
              </a:rPr>
              <a:t>，记为  </a:t>
            </a:r>
            <a:r>
              <a:rPr lang="en-US" altLang="zh-CN" i="1" kern="0" dirty="0">
                <a:solidFill>
                  <a:schemeClr val="bg2"/>
                </a:solidFill>
              </a:rPr>
              <a:t>X</a:t>
            </a:r>
            <a:r>
              <a:rPr lang="en-US" altLang="zh-CN" i="1" kern="0" baseline="-25000" dirty="0">
                <a:solidFill>
                  <a:schemeClr val="bg2"/>
                </a:solidFill>
              </a:rPr>
              <a:t>N </a:t>
            </a:r>
            <a:r>
              <a:rPr lang="en-US" altLang="zh-CN" kern="0" dirty="0">
                <a:solidFill>
                  <a:schemeClr val="bg2"/>
                </a:solidFill>
              </a:rPr>
              <a:t>= </a:t>
            </a:r>
            <a:r>
              <a:rPr lang="en-US" altLang="zh-CN" i="1" kern="0" dirty="0" smtClean="0">
                <a:solidFill>
                  <a:schemeClr val="bg2"/>
                </a:solidFill>
              </a:rPr>
              <a:t>X</a:t>
            </a:r>
            <a:r>
              <a:rPr lang="en-US" altLang="zh-CN" kern="0" dirty="0" smtClean="0">
                <a:solidFill>
                  <a:schemeClr val="bg2"/>
                </a:solidFill>
              </a:rPr>
              <a:t>-</a:t>
            </a:r>
            <a:r>
              <a:rPr lang="en-US" altLang="zh-CN" i="1" kern="0" dirty="0">
                <a:solidFill>
                  <a:schemeClr val="bg2"/>
                </a:solidFill>
              </a:rPr>
              <a:t> X</a:t>
            </a:r>
            <a:r>
              <a:rPr lang="en-US" altLang="zh-CN" i="1" kern="0" baseline="-25000" dirty="0">
                <a:solidFill>
                  <a:schemeClr val="bg2"/>
                </a:solidFill>
              </a:rPr>
              <a:t>B</a:t>
            </a:r>
            <a:endParaRPr lang="en-US" altLang="zh-CN" dirty="0">
              <a:solidFill>
                <a:schemeClr val="bg2"/>
              </a:solidFill>
            </a:endParaRPr>
          </a:p>
        </p:txBody>
      </p:sp>
    </p:spTree>
    <p:extLst>
      <p:ext uri="{BB962C8B-B14F-4D97-AF65-F5344CB8AC3E}">
        <p14:creationId xmlns:p14="http://schemas.microsoft.com/office/powerpoint/2010/main" val="12126969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800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dirty="0">
                <a:solidFill>
                  <a:schemeClr val="accent2"/>
                </a:solidFill>
                <a:sym typeface="+mn-ea"/>
              </a:rPr>
              <a:t>6.2 </a:t>
            </a:r>
            <a:r>
              <a:rPr kumimoji="0" lang="zh-CN" altLang="en-US" dirty="0">
                <a:solidFill>
                  <a:schemeClr val="accent2"/>
                </a:solidFill>
                <a:sym typeface="+mn-ea"/>
              </a:rPr>
              <a:t>标准形</a:t>
            </a:r>
          </a:p>
        </p:txBody>
      </p:sp>
      <p:sp>
        <p:nvSpPr>
          <p:cNvPr id="2" name="矩形 1"/>
          <p:cNvSpPr/>
          <p:nvPr/>
        </p:nvSpPr>
        <p:spPr>
          <a:xfrm>
            <a:off x="467544" y="1556792"/>
            <a:ext cx="3627016" cy="2693045"/>
          </a:xfrm>
          <a:prstGeom prst="rect">
            <a:avLst/>
          </a:prstGeom>
        </p:spPr>
        <p:txBody>
          <a:bodyPr wrap="square">
            <a:spAutoFit/>
          </a:bodyPr>
          <a:lstStyle/>
          <a:p>
            <a:pPr>
              <a:lnSpc>
                <a:spcPct val="130000"/>
              </a:lnSpc>
            </a:pPr>
            <a:r>
              <a:rPr lang="zh-CN" altLang="en-US" sz="2600" dirty="0" smtClean="0">
                <a:solidFill>
                  <a:schemeClr val="bg2"/>
                </a:solidFill>
                <a:cs typeface="Times New Roman" pitchFamily="18" charset="0"/>
              </a:rPr>
              <a:t>线性规划标准形</a:t>
            </a:r>
            <a:endParaRPr lang="en-US" altLang="zh-CN" sz="2600" dirty="0" smtClean="0">
              <a:solidFill>
                <a:schemeClr val="bg2"/>
              </a:solidFill>
              <a:cs typeface="Times New Roman" pitchFamily="18" charset="0"/>
            </a:endParaRPr>
          </a:p>
          <a:p>
            <a:pPr>
              <a:lnSpc>
                <a:spcPct val="130000"/>
              </a:lnSpc>
            </a:pPr>
            <a:r>
              <a:rPr lang="en-US" altLang="zh-CN" sz="2600" dirty="0" smtClean="0">
                <a:solidFill>
                  <a:schemeClr val="bg2"/>
                </a:solidFill>
                <a:cs typeface="Times New Roman" pitchFamily="18" charset="0"/>
              </a:rPr>
              <a:t>min   </a:t>
            </a:r>
            <a:r>
              <a:rPr lang="en-US" altLang="zh-CN" sz="2600" i="1" dirty="0">
                <a:solidFill>
                  <a:schemeClr val="bg2"/>
                </a:solidFill>
                <a:cs typeface="Times New Roman" pitchFamily="18" charset="0"/>
              </a:rPr>
              <a:t>z</a:t>
            </a:r>
            <a:r>
              <a:rPr lang="en-US" altLang="zh-CN" sz="2600" dirty="0">
                <a:solidFill>
                  <a:schemeClr val="bg2"/>
                </a:solidFill>
                <a:cs typeface="Times New Roman" pitchFamily="18" charset="0"/>
              </a:rPr>
              <a:t> =</a:t>
            </a:r>
            <a:r>
              <a:rPr lang="en-US" altLang="zh-CN" sz="2600" dirty="0" smtClean="0">
                <a:solidFill>
                  <a:schemeClr val="bg2"/>
                </a:solidFill>
                <a:cs typeface="Times New Roman" pitchFamily="18" charset="0"/>
              </a:rPr>
              <a:t>3</a:t>
            </a:r>
            <a:r>
              <a:rPr lang="en-US" altLang="zh-CN" sz="2600" i="1" dirty="0" smtClean="0">
                <a:solidFill>
                  <a:schemeClr val="bg2"/>
                </a:solidFill>
                <a:cs typeface="Times New Roman" pitchFamily="18" charset="0"/>
              </a:rPr>
              <a:t>x</a:t>
            </a:r>
            <a:r>
              <a:rPr lang="en-US" altLang="zh-CN" sz="2600" baseline="-25000" dirty="0" smtClean="0">
                <a:solidFill>
                  <a:schemeClr val="bg2"/>
                </a:solidFill>
                <a:cs typeface="Times New Roman" pitchFamily="18" charset="0"/>
              </a:rPr>
              <a:t>1</a:t>
            </a:r>
            <a:r>
              <a:rPr lang="en-US" altLang="zh-CN" sz="2600" dirty="0" smtClean="0">
                <a:solidFill>
                  <a:schemeClr val="bg2"/>
                </a:solidFill>
                <a:cs typeface="Times New Roman" pitchFamily="18" charset="0"/>
              </a:rPr>
              <a:t>+</a:t>
            </a:r>
            <a:r>
              <a:rPr lang="en-US" altLang="zh-CN" sz="2600" i="1" dirty="0" smtClean="0">
                <a:solidFill>
                  <a:schemeClr val="bg2"/>
                </a:solidFill>
                <a:cs typeface="Times New Roman" pitchFamily="18" charset="0"/>
              </a:rPr>
              <a:t>x</a:t>
            </a:r>
            <a:r>
              <a:rPr lang="en-US" altLang="zh-CN" sz="2600" baseline="-25000" dirty="0" smtClean="0">
                <a:solidFill>
                  <a:schemeClr val="bg2"/>
                </a:solidFill>
                <a:cs typeface="Times New Roman" pitchFamily="18" charset="0"/>
              </a:rPr>
              <a:t>2</a:t>
            </a:r>
            <a:r>
              <a:rPr lang="en-US" altLang="zh-CN" sz="2600" dirty="0" smtClean="0">
                <a:solidFill>
                  <a:schemeClr val="bg2"/>
                </a:solidFill>
                <a:cs typeface="Times New Roman" pitchFamily="18" charset="0"/>
              </a:rPr>
              <a:t>+3</a:t>
            </a:r>
            <a:r>
              <a:rPr lang="en-US" altLang="zh-CN" sz="2600" i="1" dirty="0" smtClean="0">
                <a:solidFill>
                  <a:schemeClr val="bg2"/>
                </a:solidFill>
                <a:cs typeface="Times New Roman" pitchFamily="18" charset="0"/>
              </a:rPr>
              <a:t>x </a:t>
            </a:r>
            <a:r>
              <a:rPr lang="en-US" altLang="zh-CN" sz="2600" baseline="-25000" dirty="0" smtClean="0">
                <a:solidFill>
                  <a:schemeClr val="bg2"/>
                </a:solidFill>
                <a:cs typeface="Times New Roman" pitchFamily="18" charset="0"/>
              </a:rPr>
              <a:t>3</a:t>
            </a:r>
            <a:endParaRPr lang="en-US" altLang="zh-CN" sz="2600" baseline="-25000" dirty="0">
              <a:solidFill>
                <a:schemeClr val="bg2"/>
              </a:solidFill>
              <a:cs typeface="Times New Roman" pitchFamily="18" charset="0"/>
            </a:endParaRPr>
          </a:p>
          <a:p>
            <a:pPr>
              <a:lnSpc>
                <a:spcPct val="130000"/>
              </a:lnSpc>
            </a:pPr>
            <a:r>
              <a:rPr lang="en-US" altLang="zh-CN" sz="2600" dirty="0">
                <a:solidFill>
                  <a:schemeClr val="bg2"/>
                </a:solidFill>
                <a:cs typeface="Times New Roman" pitchFamily="18" charset="0"/>
              </a:rPr>
              <a:t>               </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1</a:t>
            </a:r>
            <a:r>
              <a:rPr lang="en-US" altLang="zh-CN" sz="2600" dirty="0">
                <a:solidFill>
                  <a:schemeClr val="bg2"/>
                </a:solidFill>
                <a:cs typeface="Times New Roman" pitchFamily="18" charset="0"/>
              </a:rPr>
              <a:t>+</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2</a:t>
            </a:r>
            <a:r>
              <a:rPr lang="en-US" altLang="zh-CN" sz="2600" dirty="0">
                <a:solidFill>
                  <a:schemeClr val="bg2"/>
                </a:solidFill>
                <a:cs typeface="Times New Roman" pitchFamily="18" charset="0"/>
              </a:rPr>
              <a:t>+</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3</a:t>
            </a:r>
            <a:r>
              <a:rPr lang="zh-CN" altLang="en-US" sz="2600" dirty="0">
                <a:solidFill>
                  <a:schemeClr val="bg2"/>
                </a:solidFill>
                <a:cs typeface="Times New Roman" pitchFamily="18" charset="0"/>
              </a:rPr>
              <a:t>＝</a:t>
            </a:r>
            <a:r>
              <a:rPr lang="en-US" altLang="zh-CN" sz="2600" dirty="0">
                <a:solidFill>
                  <a:schemeClr val="bg2"/>
                </a:solidFill>
                <a:cs typeface="Times New Roman" pitchFamily="18" charset="0"/>
              </a:rPr>
              <a:t>2</a:t>
            </a:r>
          </a:p>
          <a:p>
            <a:pPr>
              <a:lnSpc>
                <a:spcPct val="130000"/>
              </a:lnSpc>
            </a:pPr>
            <a:r>
              <a:rPr lang="en-US" altLang="zh-CN" sz="2600" dirty="0">
                <a:solidFill>
                  <a:schemeClr val="bg2"/>
                </a:solidFill>
                <a:cs typeface="Times New Roman" pitchFamily="18" charset="0"/>
              </a:rPr>
              <a:t>               </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1</a:t>
            </a:r>
            <a:r>
              <a:rPr lang="en-US" altLang="zh-CN" sz="2600" dirty="0">
                <a:solidFill>
                  <a:schemeClr val="bg2"/>
                </a:solidFill>
                <a:cs typeface="Times New Roman" pitchFamily="18" charset="0"/>
              </a:rPr>
              <a:t>+2</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2</a:t>
            </a:r>
            <a:r>
              <a:rPr lang="en-US" altLang="zh-CN" sz="2600" dirty="0">
                <a:solidFill>
                  <a:schemeClr val="bg2"/>
                </a:solidFill>
                <a:cs typeface="Times New Roman" pitchFamily="18" charset="0"/>
              </a:rPr>
              <a:t>+4</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3</a:t>
            </a:r>
            <a:r>
              <a:rPr lang="zh-CN" altLang="en-US" sz="2600" dirty="0">
                <a:solidFill>
                  <a:schemeClr val="bg2"/>
                </a:solidFill>
                <a:cs typeface="Times New Roman" pitchFamily="18" charset="0"/>
              </a:rPr>
              <a:t>＝</a:t>
            </a:r>
            <a:r>
              <a:rPr lang="en-US" altLang="zh-CN" sz="2600" dirty="0">
                <a:solidFill>
                  <a:schemeClr val="bg2"/>
                </a:solidFill>
                <a:cs typeface="Times New Roman" pitchFamily="18" charset="0"/>
              </a:rPr>
              <a:t>6</a:t>
            </a:r>
          </a:p>
          <a:p>
            <a:pPr>
              <a:lnSpc>
                <a:spcPct val="130000"/>
              </a:lnSpc>
            </a:pPr>
            <a:r>
              <a:rPr lang="en-US" altLang="zh-CN" sz="2600" dirty="0">
                <a:solidFill>
                  <a:schemeClr val="bg2"/>
                </a:solidFill>
                <a:cs typeface="Times New Roman" pitchFamily="18" charset="0"/>
              </a:rPr>
              <a:t>               </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1</a:t>
            </a:r>
            <a:r>
              <a:rPr lang="zh-CN" altLang="en-US" sz="2600" dirty="0">
                <a:solidFill>
                  <a:schemeClr val="bg2"/>
                </a:solidFill>
                <a:cs typeface="Times New Roman" pitchFamily="18" charset="0"/>
              </a:rPr>
              <a:t>，</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2</a:t>
            </a:r>
            <a:r>
              <a:rPr lang="zh-CN" altLang="en-US" sz="2600" dirty="0">
                <a:solidFill>
                  <a:schemeClr val="bg2"/>
                </a:solidFill>
                <a:cs typeface="Times New Roman" pitchFamily="18" charset="0"/>
              </a:rPr>
              <a:t>，</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3</a:t>
            </a:r>
            <a:r>
              <a:rPr lang="en-US" altLang="zh-CN" sz="2600" dirty="0">
                <a:solidFill>
                  <a:schemeClr val="bg2"/>
                </a:solidFill>
                <a:cs typeface="Times New Roman" pitchFamily="18" charset="0"/>
              </a:rPr>
              <a:t>≥0</a:t>
            </a:r>
            <a:endParaRPr lang="zh-CN" altLang="en-US" sz="2600" dirty="0">
              <a:solidFill>
                <a:schemeClr val="bg2"/>
              </a:solidFill>
              <a:cs typeface="Times New Roman" pitchFamily="18" charset="0"/>
            </a:endParaRPr>
          </a:p>
        </p:txBody>
      </p:sp>
      <p:sp>
        <p:nvSpPr>
          <p:cNvPr id="5" name="矩形 4"/>
          <p:cNvSpPr/>
          <p:nvPr/>
        </p:nvSpPr>
        <p:spPr>
          <a:xfrm>
            <a:off x="3995936" y="1700808"/>
            <a:ext cx="4752528" cy="2492990"/>
          </a:xfrm>
          <a:prstGeom prst="rect">
            <a:avLst/>
          </a:prstGeom>
        </p:spPr>
        <p:txBody>
          <a:bodyPr wrap="square">
            <a:spAutoFit/>
          </a:bodyPr>
          <a:lstStyle/>
          <a:p>
            <a:pPr marL="457200" indent="-457200">
              <a:lnSpc>
                <a:spcPct val="130000"/>
              </a:lnSpc>
              <a:buAutoNum type="arabicParenBoth"/>
            </a:pPr>
            <a:r>
              <a:rPr lang="zh-CN" altLang="en-US" dirty="0" smtClean="0">
                <a:solidFill>
                  <a:schemeClr val="bg2"/>
                </a:solidFill>
                <a:cs typeface="Times New Roman" pitchFamily="18" charset="0"/>
              </a:rPr>
              <a:t>变量的个数</a:t>
            </a:r>
            <a:r>
              <a:rPr lang="en-US" altLang="zh-CN" i="1" dirty="0" smtClean="0">
                <a:solidFill>
                  <a:schemeClr val="bg2"/>
                </a:solidFill>
                <a:cs typeface="Times New Roman" pitchFamily="18" charset="0"/>
              </a:rPr>
              <a:t>n</a:t>
            </a:r>
            <a:r>
              <a:rPr lang="en-US" altLang="zh-CN" dirty="0" smtClean="0">
                <a:solidFill>
                  <a:schemeClr val="bg2"/>
                </a:solidFill>
                <a:cs typeface="Times New Roman" pitchFamily="18" charset="0"/>
              </a:rPr>
              <a:t>=3</a:t>
            </a:r>
            <a:r>
              <a:rPr lang="zh-CN" altLang="en-US" dirty="0" smtClean="0">
                <a:solidFill>
                  <a:schemeClr val="bg2"/>
                </a:solidFill>
                <a:cs typeface="Times New Roman" pitchFamily="18" charset="0"/>
              </a:rPr>
              <a:t>，约束行</a:t>
            </a:r>
            <a:r>
              <a:rPr lang="en-US" altLang="zh-CN" i="1" dirty="0" smtClean="0">
                <a:solidFill>
                  <a:schemeClr val="bg2"/>
                </a:solidFill>
                <a:cs typeface="Times New Roman" pitchFamily="18" charset="0"/>
              </a:rPr>
              <a:t>m</a:t>
            </a:r>
            <a:r>
              <a:rPr lang="en-US" altLang="zh-CN" dirty="0" smtClean="0">
                <a:solidFill>
                  <a:schemeClr val="bg2"/>
                </a:solidFill>
                <a:cs typeface="Times New Roman" pitchFamily="18" charset="0"/>
              </a:rPr>
              <a:t>=2</a:t>
            </a:r>
            <a:r>
              <a:rPr lang="zh-CN" altLang="en-US" dirty="0" smtClean="0">
                <a:solidFill>
                  <a:schemeClr val="bg2"/>
                </a:solidFill>
                <a:cs typeface="Times New Roman" pitchFamily="18" charset="0"/>
              </a:rPr>
              <a:t>。</a:t>
            </a:r>
            <a:endParaRPr lang="en-US" altLang="zh-CN" dirty="0" smtClean="0">
              <a:solidFill>
                <a:schemeClr val="bg2"/>
              </a:solidFill>
              <a:cs typeface="Times New Roman" pitchFamily="18" charset="0"/>
            </a:endParaRPr>
          </a:p>
          <a:p>
            <a:pPr marL="457200" indent="-457200">
              <a:lnSpc>
                <a:spcPct val="130000"/>
              </a:lnSpc>
              <a:buAutoNum type="arabicParenBoth"/>
            </a:pPr>
            <a:r>
              <a:rPr lang="zh-CN" altLang="en-US" dirty="0" smtClean="0">
                <a:solidFill>
                  <a:schemeClr val="bg2"/>
                </a:solidFill>
                <a:cs typeface="Times New Roman" pitchFamily="18" charset="0"/>
              </a:rPr>
              <a:t>矩阵的秩为</a:t>
            </a:r>
            <a:r>
              <a:rPr lang="en-US" altLang="zh-CN" i="1" dirty="0" smtClean="0">
                <a:solidFill>
                  <a:schemeClr val="bg2"/>
                </a:solidFill>
                <a:cs typeface="Times New Roman" pitchFamily="18" charset="0"/>
              </a:rPr>
              <a:t>m</a:t>
            </a:r>
            <a:r>
              <a:rPr lang="en-US" altLang="zh-CN" dirty="0" smtClean="0">
                <a:solidFill>
                  <a:schemeClr val="bg2"/>
                </a:solidFill>
                <a:cs typeface="Times New Roman" pitchFamily="18" charset="0"/>
              </a:rPr>
              <a:t>=2</a:t>
            </a:r>
            <a:r>
              <a:rPr lang="zh-CN" altLang="en-US" dirty="0" smtClean="0">
                <a:solidFill>
                  <a:schemeClr val="bg2"/>
                </a:solidFill>
                <a:cs typeface="Times New Roman" pitchFamily="18" charset="0"/>
              </a:rPr>
              <a:t>。</a:t>
            </a:r>
            <a:endParaRPr lang="en-US" altLang="zh-CN" dirty="0" smtClean="0">
              <a:solidFill>
                <a:schemeClr val="bg2"/>
              </a:solidFill>
              <a:cs typeface="Times New Roman" pitchFamily="18" charset="0"/>
            </a:endParaRPr>
          </a:p>
          <a:p>
            <a:pPr marL="457200" indent="-457200">
              <a:lnSpc>
                <a:spcPct val="130000"/>
              </a:lnSpc>
              <a:buAutoNum type="arabicParenBoth"/>
            </a:pPr>
            <a:r>
              <a:rPr lang="zh-CN" altLang="en-US" dirty="0" smtClean="0">
                <a:solidFill>
                  <a:schemeClr val="bg2"/>
                </a:solidFill>
                <a:cs typeface="Times New Roman" pitchFamily="18" charset="0"/>
              </a:rPr>
              <a:t>从技术矩阵的</a:t>
            </a:r>
            <a:r>
              <a:rPr lang="en-US" altLang="zh-CN" i="1" dirty="0" smtClean="0">
                <a:solidFill>
                  <a:schemeClr val="bg2"/>
                </a:solidFill>
                <a:cs typeface="Times New Roman" pitchFamily="18" charset="0"/>
              </a:rPr>
              <a:t>n</a:t>
            </a:r>
            <a:r>
              <a:rPr lang="en-US" altLang="zh-CN" dirty="0" smtClean="0">
                <a:solidFill>
                  <a:schemeClr val="bg2"/>
                </a:solidFill>
                <a:cs typeface="Times New Roman" pitchFamily="18" charset="0"/>
              </a:rPr>
              <a:t>=3</a:t>
            </a:r>
            <a:r>
              <a:rPr lang="zh-CN" altLang="en-US" dirty="0" smtClean="0">
                <a:solidFill>
                  <a:schemeClr val="bg2"/>
                </a:solidFill>
                <a:cs typeface="Times New Roman" pitchFamily="18" charset="0"/>
              </a:rPr>
              <a:t>个列向量中任选出</a:t>
            </a:r>
            <a:r>
              <a:rPr lang="en-US" altLang="zh-CN" i="1" dirty="0" smtClean="0">
                <a:solidFill>
                  <a:schemeClr val="bg2"/>
                </a:solidFill>
                <a:cs typeface="Times New Roman" pitchFamily="18" charset="0"/>
              </a:rPr>
              <a:t>m</a:t>
            </a:r>
            <a:r>
              <a:rPr lang="en-US" altLang="zh-CN" dirty="0" smtClean="0">
                <a:solidFill>
                  <a:schemeClr val="bg2"/>
                </a:solidFill>
                <a:cs typeface="Times New Roman" pitchFamily="18" charset="0"/>
              </a:rPr>
              <a:t>=2</a:t>
            </a:r>
            <a:r>
              <a:rPr lang="zh-CN" altLang="en-US" dirty="0" smtClean="0">
                <a:solidFill>
                  <a:schemeClr val="bg2"/>
                </a:solidFill>
                <a:cs typeface="Times New Roman" pitchFamily="18" charset="0"/>
              </a:rPr>
              <a:t>个作为</a:t>
            </a:r>
            <a:r>
              <a:rPr lang="zh-CN" altLang="en-US" kern="0" dirty="0">
                <a:solidFill>
                  <a:schemeClr val="bg2"/>
                </a:solidFill>
                <a:sym typeface="+mn-ea"/>
              </a:rPr>
              <a:t>该标准型的一个</a:t>
            </a:r>
            <a:r>
              <a:rPr lang="zh-CN" altLang="en-US" kern="0" dirty="0" smtClean="0">
                <a:solidFill>
                  <a:schemeClr val="bg2"/>
                </a:solidFill>
                <a:sym typeface="+mn-ea"/>
              </a:rPr>
              <a:t>基（共</a:t>
            </a:r>
            <a:r>
              <a:rPr lang="en-US" altLang="zh-CN" kern="0" dirty="0" smtClean="0">
                <a:solidFill>
                  <a:schemeClr val="bg2"/>
                </a:solidFill>
                <a:sym typeface="+mn-ea"/>
              </a:rPr>
              <a:t>3</a:t>
            </a:r>
            <a:r>
              <a:rPr lang="zh-CN" altLang="en-US" kern="0" dirty="0" smtClean="0">
                <a:solidFill>
                  <a:schemeClr val="bg2"/>
                </a:solidFill>
                <a:sym typeface="+mn-ea"/>
              </a:rPr>
              <a:t>个）。</a:t>
            </a:r>
            <a:endParaRPr lang="zh-CN" altLang="en-US" dirty="0">
              <a:solidFill>
                <a:schemeClr val="bg2"/>
              </a:solidFill>
              <a:cs typeface="Times New Roman"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375151726"/>
              </p:ext>
            </p:extLst>
          </p:nvPr>
        </p:nvGraphicFramePr>
        <p:xfrm>
          <a:off x="611560" y="4509120"/>
          <a:ext cx="1856206" cy="1152128"/>
        </p:xfrm>
        <a:graphic>
          <a:graphicData uri="http://schemas.openxmlformats.org/presentationml/2006/ole">
            <mc:AlternateContent xmlns:mc="http://schemas.openxmlformats.org/markup-compatibility/2006">
              <mc:Choice xmlns:v="urn:schemas-microsoft-com:vml" Requires="v">
                <p:oleObj spid="_x0000_s6209" name="Equation" r:id="rId3" imgW="736560" imgH="457200" progId="Equation.DSMT4">
                  <p:embed/>
                </p:oleObj>
              </mc:Choice>
              <mc:Fallback>
                <p:oleObj name="Equation" r:id="rId3" imgW="736560" imgH="457200" progId="Equation.DSMT4">
                  <p:embed/>
                  <p:pic>
                    <p:nvPicPr>
                      <p:cNvPr id="0" name=""/>
                      <p:cNvPicPr/>
                      <p:nvPr/>
                    </p:nvPicPr>
                    <p:blipFill>
                      <a:blip r:embed="rId4"/>
                      <a:stretch>
                        <a:fillRect/>
                      </a:stretch>
                    </p:blipFill>
                    <p:spPr>
                      <a:xfrm>
                        <a:off x="611560" y="4509120"/>
                        <a:ext cx="1856206" cy="1152128"/>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631727717"/>
              </p:ext>
            </p:extLst>
          </p:nvPr>
        </p:nvGraphicFramePr>
        <p:xfrm>
          <a:off x="4083558" y="4221088"/>
          <a:ext cx="1368152" cy="985395"/>
        </p:xfrm>
        <a:graphic>
          <a:graphicData uri="http://schemas.openxmlformats.org/presentationml/2006/ole">
            <mc:AlternateContent xmlns:mc="http://schemas.openxmlformats.org/markup-compatibility/2006">
              <mc:Choice xmlns:v="urn:schemas-microsoft-com:vml" Requires="v">
                <p:oleObj spid="_x0000_s6210" name="Equation" r:id="rId5" imgW="634680" imgH="457200" progId="Equation.DSMT4">
                  <p:embed/>
                </p:oleObj>
              </mc:Choice>
              <mc:Fallback>
                <p:oleObj name="Equation" r:id="rId5" imgW="634680" imgH="457200" progId="Equation.DSMT4">
                  <p:embed/>
                  <p:pic>
                    <p:nvPicPr>
                      <p:cNvPr id="0" name="对象 3"/>
                      <p:cNvPicPr>
                        <a:picLocks noChangeAspect="1" noChangeArrowheads="1"/>
                      </p:cNvPicPr>
                      <p:nvPr/>
                    </p:nvPicPr>
                    <p:blipFill>
                      <a:blip r:embed="rId6"/>
                      <a:srcRect/>
                      <a:stretch>
                        <a:fillRect/>
                      </a:stretch>
                    </p:blipFill>
                    <p:spPr bwMode="auto">
                      <a:xfrm>
                        <a:off x="4083558" y="4221088"/>
                        <a:ext cx="1368152" cy="985395"/>
                      </a:xfrm>
                      <a:prstGeom prst="rect">
                        <a:avLst/>
                      </a:prstGeom>
                      <a:noFill/>
                      <a:ln>
                        <a:noFill/>
                      </a:ln>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183910756"/>
              </p:ext>
            </p:extLst>
          </p:nvPr>
        </p:nvGraphicFramePr>
        <p:xfrm>
          <a:off x="5957912" y="4221088"/>
          <a:ext cx="1422400" cy="985838"/>
        </p:xfrm>
        <a:graphic>
          <a:graphicData uri="http://schemas.openxmlformats.org/presentationml/2006/ole">
            <mc:AlternateContent xmlns:mc="http://schemas.openxmlformats.org/markup-compatibility/2006">
              <mc:Choice xmlns:v="urn:schemas-microsoft-com:vml" Requires="v">
                <p:oleObj spid="_x0000_s6211" name="Equation" r:id="rId7" imgW="660240" imgH="457200" progId="Equation.DSMT4">
                  <p:embed/>
                </p:oleObj>
              </mc:Choice>
              <mc:Fallback>
                <p:oleObj name="Equation" r:id="rId7" imgW="660240" imgH="457200" progId="Equation.DSMT4">
                  <p:embed/>
                  <p:pic>
                    <p:nvPicPr>
                      <p:cNvPr id="0" name="对象 5"/>
                      <p:cNvPicPr>
                        <a:picLocks noChangeAspect="1" noChangeArrowheads="1"/>
                      </p:cNvPicPr>
                      <p:nvPr/>
                    </p:nvPicPr>
                    <p:blipFill>
                      <a:blip r:embed="rId8"/>
                      <a:srcRect/>
                      <a:stretch>
                        <a:fillRect/>
                      </a:stretch>
                    </p:blipFill>
                    <p:spPr bwMode="auto">
                      <a:xfrm>
                        <a:off x="5957912" y="4221088"/>
                        <a:ext cx="1422400"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887539600"/>
              </p:ext>
            </p:extLst>
          </p:nvPr>
        </p:nvGraphicFramePr>
        <p:xfrm>
          <a:off x="4764088" y="5445125"/>
          <a:ext cx="1449387" cy="985838"/>
        </p:xfrm>
        <a:graphic>
          <a:graphicData uri="http://schemas.openxmlformats.org/presentationml/2006/ole">
            <mc:AlternateContent xmlns:mc="http://schemas.openxmlformats.org/markup-compatibility/2006">
              <mc:Choice xmlns:v="urn:schemas-microsoft-com:vml" Requires="v">
                <p:oleObj spid="_x0000_s6212" name="Equation" r:id="rId9" imgW="672840" imgH="457200" progId="Equation.DSMT4">
                  <p:embed/>
                </p:oleObj>
              </mc:Choice>
              <mc:Fallback>
                <p:oleObj name="Equation" r:id="rId9" imgW="672840" imgH="457200" progId="Equation.DSMT4">
                  <p:embed/>
                  <p:pic>
                    <p:nvPicPr>
                      <p:cNvPr id="0" name="对象 6"/>
                      <p:cNvPicPr>
                        <a:picLocks noChangeAspect="1" noChangeArrowheads="1"/>
                      </p:cNvPicPr>
                      <p:nvPr/>
                    </p:nvPicPr>
                    <p:blipFill>
                      <a:blip r:embed="rId10"/>
                      <a:srcRect/>
                      <a:stretch>
                        <a:fillRect/>
                      </a:stretch>
                    </p:blipFill>
                    <p:spPr bwMode="auto">
                      <a:xfrm>
                        <a:off x="4764088" y="5445125"/>
                        <a:ext cx="1449387"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60084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8000" y="352202"/>
            <a:ext cx="3775968"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dirty="0">
                <a:solidFill>
                  <a:schemeClr val="accent2"/>
                </a:solidFill>
                <a:sym typeface="+mn-ea"/>
              </a:rPr>
              <a:t>6.2 </a:t>
            </a:r>
            <a:r>
              <a:rPr kumimoji="0" lang="zh-CN" altLang="en-US" dirty="0">
                <a:solidFill>
                  <a:schemeClr val="accent2"/>
                </a:solidFill>
                <a:sym typeface="+mn-ea"/>
              </a:rPr>
              <a:t>标准形</a:t>
            </a:r>
          </a:p>
        </p:txBody>
      </p:sp>
      <p:graphicFrame>
        <p:nvGraphicFramePr>
          <p:cNvPr id="6" name="对象 5"/>
          <p:cNvGraphicFramePr>
            <a:graphicFrameLocks noChangeAspect="1"/>
          </p:cNvGraphicFramePr>
          <p:nvPr>
            <p:extLst>
              <p:ext uri="{D42A27DB-BD31-4B8C-83A1-F6EECF244321}">
                <p14:modId xmlns:p14="http://schemas.microsoft.com/office/powerpoint/2010/main" val="1580023702"/>
              </p:ext>
            </p:extLst>
          </p:nvPr>
        </p:nvGraphicFramePr>
        <p:xfrm>
          <a:off x="1043608" y="1700808"/>
          <a:ext cx="1368152" cy="985395"/>
        </p:xfrm>
        <a:graphic>
          <a:graphicData uri="http://schemas.openxmlformats.org/presentationml/2006/ole">
            <mc:AlternateContent xmlns:mc="http://schemas.openxmlformats.org/markup-compatibility/2006">
              <mc:Choice xmlns:v="urn:schemas-microsoft-com:vml" Requires="v">
                <p:oleObj spid="_x0000_s7315" name="Equation" r:id="rId3" imgW="634680" imgH="457200" progId="Equation.DSMT4">
                  <p:embed/>
                </p:oleObj>
              </mc:Choice>
              <mc:Fallback>
                <p:oleObj name="Equation" r:id="rId3" imgW="634680" imgH="457200" progId="Equation.DSMT4">
                  <p:embed/>
                  <p:pic>
                    <p:nvPicPr>
                      <p:cNvPr id="0" name=""/>
                      <p:cNvPicPr>
                        <a:picLocks noChangeAspect="1" noChangeArrowheads="1"/>
                      </p:cNvPicPr>
                      <p:nvPr/>
                    </p:nvPicPr>
                    <p:blipFill>
                      <a:blip r:embed="rId4"/>
                      <a:srcRect/>
                      <a:stretch>
                        <a:fillRect/>
                      </a:stretch>
                    </p:blipFill>
                    <p:spPr bwMode="auto">
                      <a:xfrm>
                        <a:off x="1043608" y="1700808"/>
                        <a:ext cx="1368152" cy="985395"/>
                      </a:xfrm>
                      <a:prstGeom prst="rect">
                        <a:avLst/>
                      </a:prstGeom>
                      <a:noFill/>
                      <a:ln>
                        <a:noFill/>
                      </a:ln>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071677728"/>
              </p:ext>
            </p:extLst>
          </p:nvPr>
        </p:nvGraphicFramePr>
        <p:xfrm>
          <a:off x="3563888" y="1700808"/>
          <a:ext cx="1422400" cy="985838"/>
        </p:xfrm>
        <a:graphic>
          <a:graphicData uri="http://schemas.openxmlformats.org/presentationml/2006/ole">
            <mc:AlternateContent xmlns:mc="http://schemas.openxmlformats.org/markup-compatibility/2006">
              <mc:Choice xmlns:v="urn:schemas-microsoft-com:vml" Requires="v">
                <p:oleObj spid="_x0000_s7316" name="Equation" r:id="rId5" imgW="660240" imgH="457200" progId="Equation.DSMT4">
                  <p:embed/>
                </p:oleObj>
              </mc:Choice>
              <mc:Fallback>
                <p:oleObj name="Equation" r:id="rId5" imgW="660240" imgH="457200" progId="Equation.DSMT4">
                  <p:embed/>
                  <p:pic>
                    <p:nvPicPr>
                      <p:cNvPr id="0" name=""/>
                      <p:cNvPicPr>
                        <a:picLocks noChangeAspect="1" noChangeArrowheads="1"/>
                      </p:cNvPicPr>
                      <p:nvPr/>
                    </p:nvPicPr>
                    <p:blipFill>
                      <a:blip r:embed="rId6"/>
                      <a:srcRect/>
                      <a:stretch>
                        <a:fillRect/>
                      </a:stretch>
                    </p:blipFill>
                    <p:spPr bwMode="auto">
                      <a:xfrm>
                        <a:off x="3563888" y="1700808"/>
                        <a:ext cx="1422400"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775084258"/>
              </p:ext>
            </p:extLst>
          </p:nvPr>
        </p:nvGraphicFramePr>
        <p:xfrm>
          <a:off x="6649417" y="1628800"/>
          <a:ext cx="1450975" cy="985837"/>
        </p:xfrm>
        <a:graphic>
          <a:graphicData uri="http://schemas.openxmlformats.org/presentationml/2006/ole">
            <mc:AlternateContent xmlns:mc="http://schemas.openxmlformats.org/markup-compatibility/2006">
              <mc:Choice xmlns:v="urn:schemas-microsoft-com:vml" Requires="v">
                <p:oleObj spid="_x0000_s7317" name="Equation" r:id="rId7" imgW="672840" imgH="457200" progId="Equation.DSMT4">
                  <p:embed/>
                </p:oleObj>
              </mc:Choice>
              <mc:Fallback>
                <p:oleObj name="Equation" r:id="rId7" imgW="672840" imgH="457200" progId="Equation.DSMT4">
                  <p:embed/>
                  <p:pic>
                    <p:nvPicPr>
                      <p:cNvPr id="0" name=""/>
                      <p:cNvPicPr>
                        <a:picLocks noChangeAspect="1" noChangeArrowheads="1"/>
                      </p:cNvPicPr>
                      <p:nvPr/>
                    </p:nvPicPr>
                    <p:blipFill>
                      <a:blip r:embed="rId8"/>
                      <a:srcRect/>
                      <a:stretch>
                        <a:fillRect/>
                      </a:stretch>
                    </p:blipFill>
                    <p:spPr bwMode="auto">
                      <a:xfrm>
                        <a:off x="6649417" y="1628800"/>
                        <a:ext cx="1450975" cy="98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162490938"/>
              </p:ext>
            </p:extLst>
          </p:nvPr>
        </p:nvGraphicFramePr>
        <p:xfrm>
          <a:off x="4907681" y="116632"/>
          <a:ext cx="1855787" cy="1152525"/>
        </p:xfrm>
        <a:graphic>
          <a:graphicData uri="http://schemas.openxmlformats.org/presentationml/2006/ole">
            <mc:AlternateContent xmlns:mc="http://schemas.openxmlformats.org/markup-compatibility/2006">
              <mc:Choice xmlns:v="urn:schemas-microsoft-com:vml" Requires="v">
                <p:oleObj spid="_x0000_s7318" name="Equation" r:id="rId9" imgW="736560" imgH="457200" progId="Equation.DSMT4">
                  <p:embed/>
                </p:oleObj>
              </mc:Choice>
              <mc:Fallback>
                <p:oleObj name="Equation" r:id="rId9" imgW="736560" imgH="457200" progId="Equation.DSMT4">
                  <p:embed/>
                  <p:pic>
                    <p:nvPicPr>
                      <p:cNvPr id="0" name="对象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07681" y="116632"/>
                        <a:ext cx="1855787"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Box 9"/>
          <p:cNvSpPr txBox="1"/>
          <p:nvPr/>
        </p:nvSpPr>
        <p:spPr>
          <a:xfrm>
            <a:off x="910680" y="2708920"/>
            <a:ext cx="1398140" cy="461665"/>
          </a:xfrm>
          <a:prstGeom prst="rect">
            <a:avLst/>
          </a:prstGeom>
          <a:noFill/>
        </p:spPr>
        <p:txBody>
          <a:bodyPr wrap="none" rtlCol="0">
            <a:spAutoFit/>
          </a:bodyPr>
          <a:lstStyle/>
          <a:p>
            <a:r>
              <a:rPr lang="en-US" altLang="zh-CN" i="1" dirty="0" smtClean="0">
                <a:solidFill>
                  <a:schemeClr val="bg2"/>
                </a:solidFill>
              </a:rPr>
              <a:t>B</a:t>
            </a:r>
            <a:r>
              <a:rPr lang="en-US" altLang="zh-CN" baseline="-25000" dirty="0" smtClean="0">
                <a:solidFill>
                  <a:schemeClr val="bg2"/>
                </a:solidFill>
              </a:rPr>
              <a:t>1</a:t>
            </a:r>
            <a:r>
              <a:rPr lang="zh-CN" altLang="en-US" dirty="0" smtClean="0">
                <a:solidFill>
                  <a:schemeClr val="bg2"/>
                </a:solidFill>
              </a:rPr>
              <a:t>基向量</a:t>
            </a:r>
            <a:endParaRPr lang="zh-CN" altLang="en-US" dirty="0">
              <a:solidFill>
                <a:schemeClr val="bg2"/>
              </a:solidFill>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1821633422"/>
              </p:ext>
            </p:extLst>
          </p:nvPr>
        </p:nvGraphicFramePr>
        <p:xfrm>
          <a:off x="1259632" y="3227834"/>
          <a:ext cx="847725" cy="985838"/>
        </p:xfrm>
        <a:graphic>
          <a:graphicData uri="http://schemas.openxmlformats.org/presentationml/2006/ole">
            <mc:AlternateContent xmlns:mc="http://schemas.openxmlformats.org/markup-compatibility/2006">
              <mc:Choice xmlns:v="urn:schemas-microsoft-com:vml" Requires="v">
                <p:oleObj spid="_x0000_s7319" name="Equation" r:id="rId11" imgW="393480" imgH="457200" progId="Equation.DSMT4">
                  <p:embed/>
                </p:oleObj>
              </mc:Choice>
              <mc:Fallback>
                <p:oleObj name="Equation" r:id="rId11" imgW="393480" imgH="457200" progId="Equation.DSMT4">
                  <p:embed/>
                  <p:pic>
                    <p:nvPicPr>
                      <p:cNvPr id="0" name="对象 5"/>
                      <p:cNvPicPr>
                        <a:picLocks noChangeAspect="1" noChangeArrowheads="1"/>
                      </p:cNvPicPr>
                      <p:nvPr/>
                    </p:nvPicPr>
                    <p:blipFill>
                      <a:blip r:embed="rId12"/>
                      <a:srcRect/>
                      <a:stretch>
                        <a:fillRect/>
                      </a:stretch>
                    </p:blipFill>
                    <p:spPr bwMode="auto">
                      <a:xfrm>
                        <a:off x="1259632" y="3227834"/>
                        <a:ext cx="847725"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Box 11"/>
          <p:cNvSpPr txBox="1"/>
          <p:nvPr/>
        </p:nvSpPr>
        <p:spPr>
          <a:xfrm>
            <a:off x="3458245" y="2700821"/>
            <a:ext cx="1449436" cy="461665"/>
          </a:xfrm>
          <a:prstGeom prst="rect">
            <a:avLst/>
          </a:prstGeom>
          <a:noFill/>
        </p:spPr>
        <p:txBody>
          <a:bodyPr wrap="none" rtlCol="0">
            <a:spAutoFit/>
          </a:bodyPr>
          <a:lstStyle/>
          <a:p>
            <a:r>
              <a:rPr lang="en-US" altLang="zh-CN" i="1" dirty="0" smtClean="0">
                <a:solidFill>
                  <a:schemeClr val="bg2"/>
                </a:solidFill>
              </a:rPr>
              <a:t>B</a:t>
            </a:r>
            <a:r>
              <a:rPr lang="en-US" altLang="zh-CN" baseline="-25000" dirty="0" smtClean="0">
                <a:solidFill>
                  <a:schemeClr val="bg2"/>
                </a:solidFill>
              </a:rPr>
              <a:t>2</a:t>
            </a:r>
            <a:r>
              <a:rPr lang="zh-CN" altLang="en-US" dirty="0" smtClean="0">
                <a:solidFill>
                  <a:schemeClr val="bg2"/>
                </a:solidFill>
              </a:rPr>
              <a:t>基向量</a:t>
            </a:r>
            <a:endParaRPr lang="zh-CN" altLang="en-US" dirty="0">
              <a:solidFill>
                <a:schemeClr val="bg2"/>
              </a:solidFill>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2900725522"/>
              </p:ext>
            </p:extLst>
          </p:nvPr>
        </p:nvGraphicFramePr>
        <p:xfrm>
          <a:off x="3779912" y="3163242"/>
          <a:ext cx="847725" cy="985838"/>
        </p:xfrm>
        <a:graphic>
          <a:graphicData uri="http://schemas.openxmlformats.org/presentationml/2006/ole">
            <mc:AlternateContent xmlns:mc="http://schemas.openxmlformats.org/markup-compatibility/2006">
              <mc:Choice xmlns:v="urn:schemas-microsoft-com:vml" Requires="v">
                <p:oleObj spid="_x0000_s7320" name="Equation" r:id="rId13" imgW="393480" imgH="457200" progId="Equation.DSMT4">
                  <p:embed/>
                </p:oleObj>
              </mc:Choice>
              <mc:Fallback>
                <p:oleObj name="Equation" r:id="rId13" imgW="393480" imgH="457200" progId="Equation.DSMT4">
                  <p:embed/>
                  <p:pic>
                    <p:nvPicPr>
                      <p:cNvPr id="0" name=""/>
                      <p:cNvPicPr>
                        <a:picLocks noChangeAspect="1" noChangeArrowheads="1"/>
                      </p:cNvPicPr>
                      <p:nvPr/>
                    </p:nvPicPr>
                    <p:blipFill>
                      <a:blip r:embed="rId14"/>
                      <a:srcRect/>
                      <a:stretch>
                        <a:fillRect/>
                      </a:stretch>
                    </p:blipFill>
                    <p:spPr bwMode="auto">
                      <a:xfrm>
                        <a:off x="3779912" y="3163242"/>
                        <a:ext cx="847725"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TextBox 13"/>
          <p:cNvSpPr txBox="1"/>
          <p:nvPr/>
        </p:nvSpPr>
        <p:spPr>
          <a:xfrm>
            <a:off x="6554589" y="2700251"/>
            <a:ext cx="1449436" cy="461665"/>
          </a:xfrm>
          <a:prstGeom prst="rect">
            <a:avLst/>
          </a:prstGeom>
          <a:noFill/>
        </p:spPr>
        <p:txBody>
          <a:bodyPr wrap="none" rtlCol="0">
            <a:spAutoFit/>
          </a:bodyPr>
          <a:lstStyle/>
          <a:p>
            <a:r>
              <a:rPr lang="en-US" altLang="zh-CN" i="1" dirty="0" smtClean="0">
                <a:solidFill>
                  <a:schemeClr val="bg2"/>
                </a:solidFill>
              </a:rPr>
              <a:t>B</a:t>
            </a:r>
            <a:r>
              <a:rPr lang="en-US" altLang="zh-CN" baseline="-25000" dirty="0" smtClean="0">
                <a:solidFill>
                  <a:schemeClr val="bg2"/>
                </a:solidFill>
              </a:rPr>
              <a:t>3</a:t>
            </a:r>
            <a:r>
              <a:rPr lang="zh-CN" altLang="en-US" dirty="0" smtClean="0">
                <a:solidFill>
                  <a:schemeClr val="bg2"/>
                </a:solidFill>
              </a:rPr>
              <a:t>基向量</a:t>
            </a:r>
            <a:endParaRPr lang="zh-CN" altLang="en-US" dirty="0">
              <a:solidFill>
                <a:schemeClr val="bg2"/>
              </a:solidFill>
            </a:endParaRPr>
          </a:p>
        </p:txBody>
      </p:sp>
      <p:graphicFrame>
        <p:nvGraphicFramePr>
          <p:cNvPr id="15" name="对象 14"/>
          <p:cNvGraphicFramePr>
            <a:graphicFrameLocks noChangeAspect="1"/>
          </p:cNvGraphicFramePr>
          <p:nvPr>
            <p:extLst>
              <p:ext uri="{D42A27DB-BD31-4B8C-83A1-F6EECF244321}">
                <p14:modId xmlns:p14="http://schemas.microsoft.com/office/powerpoint/2010/main" val="254349951"/>
              </p:ext>
            </p:extLst>
          </p:nvPr>
        </p:nvGraphicFramePr>
        <p:xfrm>
          <a:off x="6804248" y="3163242"/>
          <a:ext cx="903287" cy="985838"/>
        </p:xfrm>
        <a:graphic>
          <a:graphicData uri="http://schemas.openxmlformats.org/presentationml/2006/ole">
            <mc:AlternateContent xmlns:mc="http://schemas.openxmlformats.org/markup-compatibility/2006">
              <mc:Choice xmlns:v="urn:schemas-microsoft-com:vml" Requires="v">
                <p:oleObj spid="_x0000_s7321" name="Equation" r:id="rId15" imgW="419040" imgH="457200" progId="Equation.DSMT4">
                  <p:embed/>
                </p:oleObj>
              </mc:Choice>
              <mc:Fallback>
                <p:oleObj name="Equation" r:id="rId15" imgW="419040" imgH="457200" progId="Equation.DSMT4">
                  <p:embed/>
                  <p:pic>
                    <p:nvPicPr>
                      <p:cNvPr id="0" name=""/>
                      <p:cNvPicPr>
                        <a:picLocks noChangeAspect="1" noChangeArrowheads="1"/>
                      </p:cNvPicPr>
                      <p:nvPr/>
                    </p:nvPicPr>
                    <p:blipFill>
                      <a:blip r:embed="rId16"/>
                      <a:srcRect/>
                      <a:stretch>
                        <a:fillRect/>
                      </a:stretch>
                    </p:blipFill>
                    <p:spPr bwMode="auto">
                      <a:xfrm>
                        <a:off x="6804248" y="3163242"/>
                        <a:ext cx="903287"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TextBox 15"/>
          <p:cNvSpPr txBox="1"/>
          <p:nvPr/>
        </p:nvSpPr>
        <p:spPr>
          <a:xfrm>
            <a:off x="323528" y="4206279"/>
            <a:ext cx="2783134" cy="461665"/>
          </a:xfrm>
          <a:prstGeom prst="rect">
            <a:avLst/>
          </a:prstGeom>
          <a:noFill/>
        </p:spPr>
        <p:txBody>
          <a:bodyPr wrap="none" rtlCol="0">
            <a:spAutoFit/>
          </a:bodyPr>
          <a:lstStyle/>
          <a:p>
            <a:r>
              <a:rPr lang="en-US" altLang="zh-CN" i="1" dirty="0" smtClean="0">
                <a:solidFill>
                  <a:schemeClr val="bg2"/>
                </a:solidFill>
              </a:rPr>
              <a:t>B</a:t>
            </a:r>
            <a:r>
              <a:rPr lang="en-US" altLang="zh-CN" baseline="-25000" dirty="0" smtClean="0">
                <a:solidFill>
                  <a:schemeClr val="bg2"/>
                </a:solidFill>
              </a:rPr>
              <a:t>1</a:t>
            </a:r>
            <a:r>
              <a:rPr lang="zh-CN" altLang="en-US" dirty="0" smtClean="0">
                <a:solidFill>
                  <a:schemeClr val="bg2"/>
                </a:solidFill>
              </a:rPr>
              <a:t>基变量  非基变量</a:t>
            </a:r>
            <a:endParaRPr lang="zh-CN" altLang="en-US" dirty="0">
              <a:solidFill>
                <a:schemeClr val="bg2"/>
              </a:solidFill>
            </a:endParaRPr>
          </a:p>
        </p:txBody>
      </p:sp>
      <p:graphicFrame>
        <p:nvGraphicFramePr>
          <p:cNvPr id="17" name="对象 16"/>
          <p:cNvGraphicFramePr>
            <a:graphicFrameLocks noChangeAspect="1"/>
          </p:cNvGraphicFramePr>
          <p:nvPr>
            <p:extLst>
              <p:ext uri="{D42A27DB-BD31-4B8C-83A1-F6EECF244321}">
                <p14:modId xmlns:p14="http://schemas.microsoft.com/office/powerpoint/2010/main" val="858505104"/>
              </p:ext>
            </p:extLst>
          </p:nvPr>
        </p:nvGraphicFramePr>
        <p:xfrm>
          <a:off x="1009650" y="4697413"/>
          <a:ext cx="1531938" cy="1041400"/>
        </p:xfrm>
        <a:graphic>
          <a:graphicData uri="http://schemas.openxmlformats.org/presentationml/2006/ole">
            <mc:AlternateContent xmlns:mc="http://schemas.openxmlformats.org/markup-compatibility/2006">
              <mc:Choice xmlns:v="urn:schemas-microsoft-com:vml" Requires="v">
                <p:oleObj spid="_x0000_s7322" name="Equation" r:id="rId17" imgW="711000" imgH="482400" progId="Equation.DSMT4">
                  <p:embed/>
                </p:oleObj>
              </mc:Choice>
              <mc:Fallback>
                <p:oleObj name="Equation" r:id="rId17" imgW="711000" imgH="482400" progId="Equation.DSMT4">
                  <p:embed/>
                  <p:pic>
                    <p:nvPicPr>
                      <p:cNvPr id="0" name=""/>
                      <p:cNvPicPr>
                        <a:picLocks noChangeAspect="1" noChangeArrowheads="1"/>
                      </p:cNvPicPr>
                      <p:nvPr/>
                    </p:nvPicPr>
                    <p:blipFill>
                      <a:blip r:embed="rId18"/>
                      <a:srcRect/>
                      <a:stretch>
                        <a:fillRect/>
                      </a:stretch>
                    </p:blipFill>
                    <p:spPr bwMode="auto">
                      <a:xfrm>
                        <a:off x="1009650" y="4697413"/>
                        <a:ext cx="1531938"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extBox 17"/>
          <p:cNvSpPr txBox="1"/>
          <p:nvPr/>
        </p:nvSpPr>
        <p:spPr>
          <a:xfrm>
            <a:off x="3203848" y="4198180"/>
            <a:ext cx="2783134" cy="461665"/>
          </a:xfrm>
          <a:prstGeom prst="rect">
            <a:avLst/>
          </a:prstGeom>
          <a:noFill/>
        </p:spPr>
        <p:txBody>
          <a:bodyPr wrap="none" rtlCol="0">
            <a:spAutoFit/>
          </a:bodyPr>
          <a:lstStyle/>
          <a:p>
            <a:r>
              <a:rPr lang="en-US" altLang="zh-CN" i="1" dirty="0" smtClean="0">
                <a:solidFill>
                  <a:schemeClr val="bg2"/>
                </a:solidFill>
              </a:rPr>
              <a:t>B</a:t>
            </a:r>
            <a:r>
              <a:rPr lang="en-US" altLang="zh-CN" baseline="-25000" dirty="0" smtClean="0">
                <a:solidFill>
                  <a:schemeClr val="bg2"/>
                </a:solidFill>
              </a:rPr>
              <a:t>2</a:t>
            </a:r>
            <a:r>
              <a:rPr lang="zh-CN" altLang="en-US" dirty="0">
                <a:solidFill>
                  <a:schemeClr val="bg2"/>
                </a:solidFill>
              </a:rPr>
              <a:t>基变量  非基变量</a:t>
            </a:r>
          </a:p>
        </p:txBody>
      </p:sp>
      <p:sp>
        <p:nvSpPr>
          <p:cNvPr id="20" name="TextBox 19"/>
          <p:cNvSpPr txBox="1"/>
          <p:nvPr/>
        </p:nvSpPr>
        <p:spPr>
          <a:xfrm>
            <a:off x="6109346" y="4197610"/>
            <a:ext cx="2783134" cy="461665"/>
          </a:xfrm>
          <a:prstGeom prst="rect">
            <a:avLst/>
          </a:prstGeom>
          <a:noFill/>
        </p:spPr>
        <p:txBody>
          <a:bodyPr wrap="none" rtlCol="0">
            <a:spAutoFit/>
          </a:bodyPr>
          <a:lstStyle/>
          <a:p>
            <a:r>
              <a:rPr lang="en-US" altLang="zh-CN" i="1" dirty="0" smtClean="0">
                <a:solidFill>
                  <a:schemeClr val="bg2"/>
                </a:solidFill>
              </a:rPr>
              <a:t>B</a:t>
            </a:r>
            <a:r>
              <a:rPr lang="en-US" altLang="zh-CN" baseline="-25000" dirty="0" smtClean="0">
                <a:solidFill>
                  <a:schemeClr val="bg2"/>
                </a:solidFill>
              </a:rPr>
              <a:t>3</a:t>
            </a:r>
            <a:r>
              <a:rPr lang="zh-CN" altLang="en-US" dirty="0">
                <a:solidFill>
                  <a:schemeClr val="bg2"/>
                </a:solidFill>
              </a:rPr>
              <a:t>基变量  非基变量</a:t>
            </a:r>
          </a:p>
        </p:txBody>
      </p:sp>
      <p:graphicFrame>
        <p:nvGraphicFramePr>
          <p:cNvPr id="22" name="对象 21"/>
          <p:cNvGraphicFramePr>
            <a:graphicFrameLocks noChangeAspect="1"/>
          </p:cNvGraphicFramePr>
          <p:nvPr>
            <p:extLst>
              <p:ext uri="{D42A27DB-BD31-4B8C-83A1-F6EECF244321}">
                <p14:modId xmlns:p14="http://schemas.microsoft.com/office/powerpoint/2010/main" val="1774688905"/>
              </p:ext>
            </p:extLst>
          </p:nvPr>
        </p:nvGraphicFramePr>
        <p:xfrm>
          <a:off x="3497263" y="4667250"/>
          <a:ext cx="1693862" cy="1041400"/>
        </p:xfrm>
        <a:graphic>
          <a:graphicData uri="http://schemas.openxmlformats.org/presentationml/2006/ole">
            <mc:AlternateContent xmlns:mc="http://schemas.openxmlformats.org/markup-compatibility/2006">
              <mc:Choice xmlns:v="urn:schemas-microsoft-com:vml" Requires="v">
                <p:oleObj spid="_x0000_s7323" name="Equation" r:id="rId19" imgW="787320" imgH="482400" progId="Equation.DSMT4">
                  <p:embed/>
                </p:oleObj>
              </mc:Choice>
              <mc:Fallback>
                <p:oleObj name="Equation" r:id="rId19" imgW="787320" imgH="482400" progId="Equation.DSMT4">
                  <p:embed/>
                  <p:pic>
                    <p:nvPicPr>
                      <p:cNvPr id="0" name="对象 16"/>
                      <p:cNvPicPr>
                        <a:picLocks noChangeAspect="1" noChangeArrowheads="1"/>
                      </p:cNvPicPr>
                      <p:nvPr/>
                    </p:nvPicPr>
                    <p:blipFill>
                      <a:blip r:embed="rId20"/>
                      <a:srcRect/>
                      <a:stretch>
                        <a:fillRect/>
                      </a:stretch>
                    </p:blipFill>
                    <p:spPr bwMode="auto">
                      <a:xfrm>
                        <a:off x="3497263" y="4667250"/>
                        <a:ext cx="1693862"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1325787252"/>
              </p:ext>
            </p:extLst>
          </p:nvPr>
        </p:nvGraphicFramePr>
        <p:xfrm>
          <a:off x="6494463" y="4691063"/>
          <a:ext cx="1668462" cy="1041400"/>
        </p:xfrm>
        <a:graphic>
          <a:graphicData uri="http://schemas.openxmlformats.org/presentationml/2006/ole">
            <mc:AlternateContent xmlns:mc="http://schemas.openxmlformats.org/markup-compatibility/2006">
              <mc:Choice xmlns:v="urn:schemas-microsoft-com:vml" Requires="v">
                <p:oleObj spid="_x0000_s7324" name="Equation" r:id="rId21" imgW="774360" imgH="482400" progId="Equation.DSMT4">
                  <p:embed/>
                </p:oleObj>
              </mc:Choice>
              <mc:Fallback>
                <p:oleObj name="Equation" r:id="rId21" imgW="774360" imgH="482400" progId="Equation.DSMT4">
                  <p:embed/>
                  <p:pic>
                    <p:nvPicPr>
                      <p:cNvPr id="0" name="对象 16"/>
                      <p:cNvPicPr>
                        <a:picLocks noChangeAspect="1" noChangeArrowheads="1"/>
                      </p:cNvPicPr>
                      <p:nvPr/>
                    </p:nvPicPr>
                    <p:blipFill>
                      <a:blip r:embed="rId22"/>
                      <a:srcRect/>
                      <a:stretch>
                        <a:fillRect/>
                      </a:stretch>
                    </p:blipFill>
                    <p:spPr bwMode="auto">
                      <a:xfrm>
                        <a:off x="6494463" y="4691063"/>
                        <a:ext cx="1668462"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583374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par>
                                <p:cTn id="17" presetID="22" presetClass="entr" presetSubtype="8"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left)">
                                      <p:cBhvr>
                                        <p:cTn id="19" dur="5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par>
                                <p:cTn id="28" presetID="22" presetClass="entr" presetSubtype="8"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par>
                                <p:cTn id="34" presetID="22" presetClass="entr" presetSubtype="8"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left)">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left)">
                                      <p:cBhvr>
                                        <p:cTn id="41" dur="500"/>
                                        <p:tgtEl>
                                          <p:spTgt spid="9"/>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500"/>
                                        <p:tgtEl>
                                          <p:spTgt spid="14"/>
                                        </p:tgtEl>
                                      </p:cBhvr>
                                    </p:animEffect>
                                  </p:childTnLst>
                                </p:cTn>
                              </p:par>
                              <p:par>
                                <p:cTn id="45" presetID="22" presetClass="entr" presetSubtype="8"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500"/>
                                        <p:tgtEl>
                                          <p:spTgt spid="15"/>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left)">
                                      <p:cBhvr>
                                        <p:cTn id="50" dur="500"/>
                                        <p:tgtEl>
                                          <p:spTgt spid="20"/>
                                        </p:tgtEl>
                                      </p:cBhvr>
                                    </p:animEffect>
                                  </p:childTnLst>
                                </p:cTn>
                              </p:par>
                              <p:par>
                                <p:cTn id="51" presetID="22" presetClass="entr" presetSubtype="8"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left)">
                                      <p:cBhvr>
                                        <p:cTn id="5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4" grpId="0"/>
      <p:bldP spid="16" grpId="0"/>
      <p:bldP spid="18" grpId="0"/>
      <p:bldP spid="2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800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dirty="0">
                <a:solidFill>
                  <a:schemeClr val="accent2"/>
                </a:solidFill>
                <a:sym typeface="+mn-ea"/>
              </a:rPr>
              <a:t>6.2 </a:t>
            </a:r>
            <a:r>
              <a:rPr kumimoji="0" lang="zh-CN" altLang="en-US" dirty="0">
                <a:solidFill>
                  <a:schemeClr val="accent2"/>
                </a:solidFill>
                <a:sym typeface="+mn-ea"/>
              </a:rPr>
              <a:t>标准形</a:t>
            </a:r>
          </a:p>
        </p:txBody>
      </p:sp>
      <p:sp>
        <p:nvSpPr>
          <p:cNvPr id="10" name="Rectangle 3"/>
          <p:cNvSpPr>
            <a:spLocks noGrp="1"/>
          </p:cNvSpPr>
          <p:nvPr/>
        </p:nvSpPr>
        <p:spPr>
          <a:xfrm>
            <a:off x="353888" y="1628800"/>
            <a:ext cx="8259252" cy="2016224"/>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eaLnBrk="1" hangingPunct="1">
              <a:lnSpc>
                <a:spcPct val="110000"/>
              </a:lnSpc>
            </a:pPr>
            <a:r>
              <a:rPr lang="zh-CN" altLang="en-US" sz="2400" dirty="0" smtClean="0">
                <a:solidFill>
                  <a:schemeClr val="bg2"/>
                </a:solidFill>
                <a:latin typeface="Times New Roman" pitchFamily="18" charset="0"/>
                <a:cs typeface="Times New Roman" pitchFamily="18" charset="0"/>
              </a:rPr>
              <a:t>基本解：令</a:t>
            </a:r>
            <a:r>
              <a:rPr lang="zh-CN" altLang="en-US" sz="2400" dirty="0">
                <a:solidFill>
                  <a:schemeClr val="bg2"/>
                </a:solidFill>
                <a:latin typeface="Times New Roman" pitchFamily="18" charset="0"/>
                <a:cs typeface="Times New Roman" pitchFamily="18" charset="0"/>
              </a:rPr>
              <a:t>非基变量 </a:t>
            </a:r>
            <a:r>
              <a:rPr lang="en-US" altLang="zh-CN" sz="2400" i="1" dirty="0">
                <a:solidFill>
                  <a:schemeClr val="bg2"/>
                </a:solidFill>
                <a:latin typeface="Times New Roman" pitchFamily="18" charset="0"/>
                <a:cs typeface="Times New Roman" pitchFamily="18" charset="0"/>
              </a:rPr>
              <a:t>X</a:t>
            </a:r>
            <a:r>
              <a:rPr lang="en-US" altLang="zh-CN" sz="2400" i="1" baseline="-25000" dirty="0">
                <a:solidFill>
                  <a:schemeClr val="bg2"/>
                </a:solidFill>
                <a:latin typeface="Times New Roman" pitchFamily="18" charset="0"/>
                <a:cs typeface="Times New Roman" pitchFamily="18" charset="0"/>
              </a:rPr>
              <a:t>N </a:t>
            </a:r>
            <a:r>
              <a:rPr lang="en-US" altLang="zh-CN" sz="2400" dirty="0">
                <a:solidFill>
                  <a:schemeClr val="bg2"/>
                </a:solidFill>
                <a:latin typeface="Times New Roman" pitchFamily="18" charset="0"/>
                <a:cs typeface="Times New Roman" pitchFamily="18" charset="0"/>
              </a:rPr>
              <a:t>= </a:t>
            </a:r>
            <a:r>
              <a:rPr lang="en-US" altLang="zh-CN" sz="2400" i="1" dirty="0">
                <a:solidFill>
                  <a:schemeClr val="bg2"/>
                </a:solidFill>
                <a:latin typeface="Times New Roman" pitchFamily="18" charset="0"/>
                <a:cs typeface="Times New Roman" pitchFamily="18" charset="0"/>
              </a:rPr>
              <a:t>0</a:t>
            </a:r>
            <a:r>
              <a:rPr lang="en-US" altLang="zh-CN" sz="2400" dirty="0">
                <a:solidFill>
                  <a:schemeClr val="bg2"/>
                </a:solidFill>
                <a:latin typeface="Times New Roman" pitchFamily="18" charset="0"/>
                <a:cs typeface="Times New Roman" pitchFamily="18" charset="0"/>
              </a:rPr>
              <a:t>，</a:t>
            </a:r>
            <a:r>
              <a:rPr lang="zh-CN" altLang="en-US" sz="2400" dirty="0">
                <a:solidFill>
                  <a:schemeClr val="bg2"/>
                </a:solidFill>
                <a:latin typeface="Times New Roman" pitchFamily="18" charset="0"/>
                <a:cs typeface="Times New Roman" pitchFamily="18" charset="0"/>
              </a:rPr>
              <a:t>求得基变量 </a:t>
            </a:r>
            <a:r>
              <a:rPr lang="en-US" altLang="zh-CN" sz="2400" i="1" dirty="0">
                <a:solidFill>
                  <a:schemeClr val="bg2"/>
                </a:solidFill>
                <a:latin typeface="Times New Roman" pitchFamily="18" charset="0"/>
                <a:cs typeface="Times New Roman" pitchFamily="18" charset="0"/>
              </a:rPr>
              <a:t>X</a:t>
            </a:r>
            <a:r>
              <a:rPr lang="en-US" altLang="zh-CN" sz="2400" i="1" baseline="-25000" dirty="0">
                <a:solidFill>
                  <a:schemeClr val="bg2"/>
                </a:solidFill>
                <a:latin typeface="Times New Roman" pitchFamily="18" charset="0"/>
                <a:cs typeface="Times New Roman" pitchFamily="18" charset="0"/>
              </a:rPr>
              <a:t>B</a:t>
            </a:r>
            <a:r>
              <a:rPr lang="zh-CN" altLang="en-US" sz="2400" dirty="0">
                <a:solidFill>
                  <a:schemeClr val="bg2"/>
                </a:solidFill>
                <a:latin typeface="Times New Roman" pitchFamily="18" charset="0"/>
                <a:cs typeface="Times New Roman" pitchFamily="18" charset="0"/>
              </a:rPr>
              <a:t>的值称为</a:t>
            </a:r>
            <a:r>
              <a:rPr lang="zh-CN" altLang="en-US" sz="2400" dirty="0" smtClean="0">
                <a:solidFill>
                  <a:schemeClr val="bg2"/>
                </a:solidFill>
                <a:latin typeface="Times New Roman" pitchFamily="18" charset="0"/>
                <a:cs typeface="Times New Roman" pitchFamily="18" charset="0"/>
              </a:rPr>
              <a:t>基本解，</a:t>
            </a:r>
            <a:r>
              <a:rPr lang="zh-CN" altLang="en-US" sz="2400" dirty="0" smtClean="0">
                <a:solidFill>
                  <a:schemeClr val="bg2"/>
                </a:solidFill>
                <a:latin typeface="Times New Roman" pitchFamily="18" charset="0"/>
                <a:cs typeface="Times New Roman" pitchFamily="18" charset="0"/>
                <a:sym typeface="Symbol" panose="05050102010706020507" pitchFamily="18" charset="2"/>
              </a:rPr>
              <a:t>基</a:t>
            </a:r>
            <a:r>
              <a:rPr lang="zh-CN" altLang="en-US" sz="2400" dirty="0">
                <a:solidFill>
                  <a:schemeClr val="bg2"/>
                </a:solidFill>
                <a:latin typeface="Times New Roman" pitchFamily="18" charset="0"/>
                <a:cs typeface="Times New Roman" pitchFamily="18" charset="0"/>
                <a:sym typeface="Symbol" panose="05050102010706020507" pitchFamily="18" charset="2"/>
              </a:rPr>
              <a:t>解的数目最多是</a:t>
            </a:r>
            <a:r>
              <a:rPr lang="en-US" altLang="zh-CN" sz="2400" i="1" dirty="0" err="1" smtClean="0">
                <a:solidFill>
                  <a:schemeClr val="bg2"/>
                </a:solidFill>
                <a:latin typeface="Times New Roman" pitchFamily="18" charset="0"/>
                <a:cs typeface="Times New Roman" pitchFamily="18" charset="0"/>
                <a:sym typeface="Symbol" panose="05050102010706020507" pitchFamily="18" charset="2"/>
              </a:rPr>
              <a:t>C</a:t>
            </a:r>
            <a:r>
              <a:rPr lang="en-US" altLang="zh-CN" sz="2400" i="1" baseline="-25000" dirty="0" err="1" smtClean="0">
                <a:solidFill>
                  <a:schemeClr val="bg2"/>
                </a:solidFill>
                <a:latin typeface="Times New Roman" pitchFamily="18" charset="0"/>
                <a:cs typeface="Times New Roman" pitchFamily="18" charset="0"/>
                <a:sym typeface="Symbol" panose="05050102010706020507" pitchFamily="18" charset="2"/>
              </a:rPr>
              <a:t>n</a:t>
            </a:r>
            <a:r>
              <a:rPr lang="en-US" altLang="zh-CN" sz="2400" i="1" baseline="30000" dirty="0" err="1" smtClean="0">
                <a:solidFill>
                  <a:schemeClr val="bg2"/>
                </a:solidFill>
                <a:latin typeface="Times New Roman" pitchFamily="18" charset="0"/>
                <a:cs typeface="Times New Roman" pitchFamily="18" charset="0"/>
                <a:sym typeface="Symbol" panose="05050102010706020507" pitchFamily="18" charset="2"/>
              </a:rPr>
              <a:t>m</a:t>
            </a:r>
            <a:r>
              <a:rPr lang="zh-CN" altLang="en-US" sz="2400" baseline="30000" dirty="0" smtClean="0">
                <a:solidFill>
                  <a:schemeClr val="bg2"/>
                </a:solidFill>
                <a:latin typeface="Times New Roman" pitchFamily="18" charset="0"/>
                <a:cs typeface="Times New Roman" pitchFamily="18" charset="0"/>
                <a:sym typeface="Symbol" panose="05050102010706020507" pitchFamily="18" charset="2"/>
              </a:rPr>
              <a:t>。</a:t>
            </a:r>
            <a:endParaRPr lang="en-US" altLang="zh-CN" sz="2400" baseline="30000" dirty="0">
              <a:solidFill>
                <a:schemeClr val="bg2"/>
              </a:solidFill>
              <a:latin typeface="Times New Roman" pitchFamily="18" charset="0"/>
              <a:cs typeface="Times New Roman" pitchFamily="18" charset="0"/>
            </a:endParaRPr>
          </a:p>
          <a:p>
            <a:pPr eaLnBrk="1" hangingPunct="1">
              <a:lnSpc>
                <a:spcPct val="110000"/>
              </a:lnSpc>
            </a:pPr>
            <a:r>
              <a:rPr lang="zh-CN" altLang="en-US" sz="2400" dirty="0">
                <a:solidFill>
                  <a:schemeClr val="bg2"/>
                </a:solidFill>
                <a:latin typeface="Times New Roman" pitchFamily="18" charset="0"/>
                <a:cs typeface="Times New Roman" pitchFamily="18" charset="0"/>
              </a:rPr>
              <a:t>基</a:t>
            </a:r>
            <a:r>
              <a:rPr lang="zh-CN" altLang="en-US" sz="2400" dirty="0" smtClean="0">
                <a:solidFill>
                  <a:schemeClr val="bg2"/>
                </a:solidFill>
                <a:latin typeface="Times New Roman" pitchFamily="18" charset="0"/>
                <a:cs typeface="Times New Roman" pitchFamily="18" charset="0"/>
              </a:rPr>
              <a:t>可行解：基</a:t>
            </a:r>
            <a:r>
              <a:rPr lang="zh-CN" altLang="en-US" sz="2400" dirty="0">
                <a:solidFill>
                  <a:schemeClr val="bg2"/>
                </a:solidFill>
                <a:latin typeface="Times New Roman" pitchFamily="18" charset="0"/>
                <a:cs typeface="Times New Roman" pitchFamily="18" charset="0"/>
              </a:rPr>
              <a:t>解 </a:t>
            </a:r>
            <a:r>
              <a:rPr lang="en-US" altLang="zh-CN" sz="2400" i="1" dirty="0">
                <a:solidFill>
                  <a:schemeClr val="bg2"/>
                </a:solidFill>
                <a:latin typeface="Times New Roman" pitchFamily="18" charset="0"/>
                <a:cs typeface="Times New Roman" pitchFamily="18" charset="0"/>
              </a:rPr>
              <a:t>X</a:t>
            </a:r>
            <a:r>
              <a:rPr lang="en-US" altLang="zh-CN" sz="2400" i="1" baseline="-25000" dirty="0">
                <a:solidFill>
                  <a:schemeClr val="bg2"/>
                </a:solidFill>
                <a:latin typeface="Times New Roman" pitchFamily="18" charset="0"/>
                <a:cs typeface="Times New Roman" pitchFamily="18" charset="0"/>
              </a:rPr>
              <a:t>B </a:t>
            </a:r>
            <a:r>
              <a:rPr lang="zh-CN" altLang="zh-CN" sz="2400" dirty="0">
                <a:solidFill>
                  <a:schemeClr val="bg2"/>
                </a:solidFill>
                <a:latin typeface="Times New Roman" pitchFamily="18" charset="0"/>
                <a:cs typeface="Times New Roman" pitchFamily="18" charset="0"/>
              </a:rPr>
              <a:t>的非零分量都 </a:t>
            </a:r>
            <a:r>
              <a:rPr lang="zh-CN" altLang="zh-CN" sz="2400" dirty="0">
                <a:solidFill>
                  <a:schemeClr val="bg2"/>
                </a:solidFill>
                <a:latin typeface="Times New Roman" pitchFamily="18" charset="0"/>
                <a:cs typeface="Times New Roman" pitchFamily="18" charset="0"/>
                <a:sym typeface="Symbol" panose="05050102010706020507" pitchFamily="18" charset="2"/>
              </a:rPr>
              <a:t> </a:t>
            </a:r>
            <a:r>
              <a:rPr lang="zh-CN" altLang="en-US" sz="2400" dirty="0">
                <a:solidFill>
                  <a:schemeClr val="bg2"/>
                </a:solidFill>
                <a:latin typeface="Times New Roman" pitchFamily="18" charset="0"/>
                <a:cs typeface="Times New Roman" pitchFamily="18" charset="0"/>
                <a:sym typeface="Symbol" panose="05050102010706020507" pitchFamily="18" charset="2"/>
              </a:rPr>
              <a:t>0 时，称为</a:t>
            </a:r>
            <a:r>
              <a:rPr lang="zh-CN" altLang="en-US" sz="2400" dirty="0">
                <a:solidFill>
                  <a:schemeClr val="bg2"/>
                </a:solidFill>
                <a:latin typeface="Times New Roman" pitchFamily="18" charset="0"/>
                <a:cs typeface="Times New Roman" pitchFamily="18" charset="0"/>
              </a:rPr>
              <a:t>基可行解</a:t>
            </a:r>
          </a:p>
          <a:p>
            <a:pPr eaLnBrk="1" hangingPunct="1">
              <a:lnSpc>
                <a:spcPct val="110000"/>
              </a:lnSpc>
            </a:pPr>
            <a:r>
              <a:rPr lang="zh-CN" altLang="en-US" sz="2400" dirty="0" smtClean="0">
                <a:solidFill>
                  <a:schemeClr val="bg2"/>
                </a:solidFill>
                <a:latin typeface="Times New Roman" pitchFamily="18" charset="0"/>
                <a:cs typeface="Times New Roman" pitchFamily="18" charset="0"/>
              </a:rPr>
              <a:t>最优解</a:t>
            </a:r>
            <a:r>
              <a:rPr lang="zh-CN" altLang="en-US" sz="2400" dirty="0">
                <a:solidFill>
                  <a:schemeClr val="bg2"/>
                </a:solidFill>
                <a:latin typeface="Times New Roman" pitchFamily="18" charset="0"/>
                <a:cs typeface="Times New Roman" pitchFamily="18" charset="0"/>
              </a:rPr>
              <a:t>：使目标函数值最大或最小的解</a:t>
            </a:r>
          </a:p>
        </p:txBody>
      </p:sp>
      <p:graphicFrame>
        <p:nvGraphicFramePr>
          <p:cNvPr id="3" name="对象 2"/>
          <p:cNvGraphicFramePr>
            <a:graphicFrameLocks noChangeAspect="1"/>
          </p:cNvGraphicFramePr>
          <p:nvPr>
            <p:extLst>
              <p:ext uri="{D42A27DB-BD31-4B8C-83A1-F6EECF244321}">
                <p14:modId xmlns:p14="http://schemas.microsoft.com/office/powerpoint/2010/main" val="623621832"/>
              </p:ext>
            </p:extLst>
          </p:nvPr>
        </p:nvGraphicFramePr>
        <p:xfrm>
          <a:off x="899319" y="3501008"/>
          <a:ext cx="1368425" cy="985837"/>
        </p:xfrm>
        <a:graphic>
          <a:graphicData uri="http://schemas.openxmlformats.org/presentationml/2006/ole">
            <mc:AlternateContent xmlns:mc="http://schemas.openxmlformats.org/markup-compatibility/2006">
              <mc:Choice xmlns:v="urn:schemas-microsoft-com:vml" Requires="v">
                <p:oleObj spid="_x0000_s8218" name="Equation" r:id="rId3" imgW="634680" imgH="457200" progId="Equation.DSMT4">
                  <p:embed/>
                </p:oleObj>
              </mc:Choice>
              <mc:Fallback>
                <p:oleObj name="Equation" r:id="rId3" imgW="634680" imgH="457200" progId="Equation.DSMT4">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319" y="3501008"/>
                        <a:ext cx="1368425" cy="98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998487485"/>
              </p:ext>
            </p:extLst>
          </p:nvPr>
        </p:nvGraphicFramePr>
        <p:xfrm>
          <a:off x="1002755" y="4979988"/>
          <a:ext cx="1697037" cy="1041400"/>
        </p:xfrm>
        <a:graphic>
          <a:graphicData uri="http://schemas.openxmlformats.org/presentationml/2006/ole">
            <mc:AlternateContent xmlns:mc="http://schemas.openxmlformats.org/markup-compatibility/2006">
              <mc:Choice xmlns:v="urn:schemas-microsoft-com:vml" Requires="v">
                <p:oleObj spid="_x0000_s8219" name="Equation" r:id="rId5" imgW="787320" imgH="482400" progId="Equation.DSMT4">
                  <p:embed/>
                </p:oleObj>
              </mc:Choice>
              <mc:Fallback>
                <p:oleObj name="Equation" r:id="rId5" imgW="787320" imgH="482400" progId="Equation.DSMT4">
                  <p:embed/>
                  <p:pic>
                    <p:nvPicPr>
                      <p:cNvPr id="0" name="对象 16"/>
                      <p:cNvPicPr>
                        <a:picLocks noChangeAspect="1" noChangeArrowheads="1"/>
                      </p:cNvPicPr>
                      <p:nvPr/>
                    </p:nvPicPr>
                    <p:blipFill>
                      <a:blip r:embed="rId6"/>
                      <a:srcRect/>
                      <a:stretch>
                        <a:fillRect/>
                      </a:stretch>
                    </p:blipFill>
                    <p:spPr bwMode="auto">
                      <a:xfrm>
                        <a:off x="1002755" y="4979988"/>
                        <a:ext cx="1697037"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Box 11"/>
          <p:cNvSpPr txBox="1"/>
          <p:nvPr/>
        </p:nvSpPr>
        <p:spPr>
          <a:xfrm>
            <a:off x="420714" y="4479503"/>
            <a:ext cx="2783134" cy="461665"/>
          </a:xfrm>
          <a:prstGeom prst="rect">
            <a:avLst/>
          </a:prstGeom>
          <a:noFill/>
        </p:spPr>
        <p:txBody>
          <a:bodyPr wrap="none" rtlCol="0">
            <a:spAutoFit/>
          </a:bodyPr>
          <a:lstStyle/>
          <a:p>
            <a:r>
              <a:rPr lang="en-US" altLang="zh-CN" i="1" dirty="0" smtClean="0">
                <a:solidFill>
                  <a:schemeClr val="bg2"/>
                </a:solidFill>
              </a:rPr>
              <a:t>B</a:t>
            </a:r>
            <a:r>
              <a:rPr lang="en-US" altLang="zh-CN" baseline="-25000" dirty="0" smtClean="0">
                <a:solidFill>
                  <a:schemeClr val="bg2"/>
                </a:solidFill>
              </a:rPr>
              <a:t>1</a:t>
            </a:r>
            <a:r>
              <a:rPr lang="zh-CN" altLang="en-US" dirty="0" smtClean="0">
                <a:solidFill>
                  <a:schemeClr val="bg2"/>
                </a:solidFill>
              </a:rPr>
              <a:t>基变量  非基变量</a:t>
            </a:r>
            <a:endParaRPr lang="zh-CN" altLang="en-US" dirty="0">
              <a:solidFill>
                <a:schemeClr val="bg2"/>
              </a:solidFill>
            </a:endParaRPr>
          </a:p>
        </p:txBody>
      </p:sp>
      <p:sp>
        <p:nvSpPr>
          <p:cNvPr id="13" name="Rectangle 3"/>
          <p:cNvSpPr>
            <a:spLocks noGrp="1"/>
          </p:cNvSpPr>
          <p:nvPr/>
        </p:nvSpPr>
        <p:spPr>
          <a:xfrm>
            <a:off x="3275856" y="3429000"/>
            <a:ext cx="5976664" cy="2880320"/>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0" indent="0" eaLnBrk="1" hangingPunct="1">
              <a:lnSpc>
                <a:spcPct val="110000"/>
              </a:lnSpc>
              <a:buNone/>
            </a:pPr>
            <a:r>
              <a:rPr lang="zh-CN" altLang="en-US" sz="2400" dirty="0" smtClean="0">
                <a:solidFill>
                  <a:schemeClr val="bg2"/>
                </a:solidFill>
                <a:latin typeface="Times New Roman" pitchFamily="18" charset="0"/>
                <a:cs typeface="Times New Roman" pitchFamily="18" charset="0"/>
              </a:rPr>
              <a:t>（</a:t>
            </a:r>
            <a:r>
              <a:rPr lang="en-US" altLang="zh-CN" sz="2400" dirty="0" smtClean="0">
                <a:solidFill>
                  <a:schemeClr val="bg2"/>
                </a:solidFill>
                <a:latin typeface="Times New Roman" pitchFamily="18" charset="0"/>
                <a:cs typeface="Times New Roman" pitchFamily="18" charset="0"/>
              </a:rPr>
              <a:t>1</a:t>
            </a:r>
            <a:r>
              <a:rPr lang="zh-CN" altLang="en-US" sz="2400" dirty="0" smtClean="0">
                <a:solidFill>
                  <a:schemeClr val="bg2"/>
                </a:solidFill>
                <a:latin typeface="Times New Roman" pitchFamily="18" charset="0"/>
                <a:cs typeface="Times New Roman" pitchFamily="18" charset="0"/>
              </a:rPr>
              <a:t>）</a:t>
            </a:r>
            <a:r>
              <a:rPr lang="zh-CN" altLang="en-US" sz="2400" dirty="0">
                <a:solidFill>
                  <a:schemeClr val="bg2"/>
                </a:solidFill>
                <a:latin typeface="Times New Roman" pitchFamily="18" charset="0"/>
                <a:cs typeface="Times New Roman" pitchFamily="18" charset="0"/>
              </a:rPr>
              <a:t>令</a:t>
            </a:r>
            <a:r>
              <a:rPr lang="zh-CN" altLang="en-US" sz="2400" dirty="0" smtClean="0">
                <a:solidFill>
                  <a:schemeClr val="bg2"/>
                </a:solidFill>
                <a:latin typeface="Times New Roman" pitchFamily="18" charset="0"/>
                <a:cs typeface="Times New Roman" pitchFamily="18" charset="0"/>
              </a:rPr>
              <a:t>非基变量</a:t>
            </a:r>
            <a:r>
              <a:rPr lang="en-US" altLang="zh-CN" sz="2400" i="1" dirty="0" smtClean="0">
                <a:solidFill>
                  <a:schemeClr val="bg2"/>
                </a:solidFill>
                <a:latin typeface="Times New Roman" pitchFamily="18" charset="0"/>
                <a:cs typeface="Times New Roman" pitchFamily="18" charset="0"/>
              </a:rPr>
              <a:t>x</a:t>
            </a:r>
            <a:r>
              <a:rPr lang="en-US" altLang="zh-CN" sz="2400" baseline="-25000" dirty="0" smtClean="0">
                <a:solidFill>
                  <a:schemeClr val="bg2"/>
                </a:solidFill>
                <a:latin typeface="Times New Roman" pitchFamily="18" charset="0"/>
                <a:cs typeface="Times New Roman" pitchFamily="18" charset="0"/>
              </a:rPr>
              <a:t>3</a:t>
            </a:r>
            <a:r>
              <a:rPr lang="en-US" altLang="zh-CN" sz="2400" dirty="0" smtClean="0">
                <a:solidFill>
                  <a:schemeClr val="bg2"/>
                </a:solidFill>
                <a:latin typeface="Times New Roman" pitchFamily="18" charset="0"/>
                <a:cs typeface="Times New Roman" pitchFamily="18" charset="0"/>
              </a:rPr>
              <a:t>=0</a:t>
            </a:r>
          </a:p>
          <a:p>
            <a:pPr marL="0" indent="0" eaLnBrk="1" hangingPunct="1">
              <a:lnSpc>
                <a:spcPct val="110000"/>
              </a:lnSpc>
              <a:buNone/>
            </a:pPr>
            <a:r>
              <a:rPr lang="zh-CN" altLang="en-US" sz="2400" dirty="0" smtClean="0">
                <a:solidFill>
                  <a:schemeClr val="bg2"/>
                </a:solidFill>
                <a:latin typeface="Times New Roman" pitchFamily="18" charset="0"/>
                <a:cs typeface="Times New Roman" pitchFamily="18" charset="0"/>
              </a:rPr>
              <a:t>（</a:t>
            </a:r>
            <a:r>
              <a:rPr lang="en-US" altLang="zh-CN" sz="2400" dirty="0" smtClean="0">
                <a:solidFill>
                  <a:schemeClr val="bg2"/>
                </a:solidFill>
                <a:latin typeface="Times New Roman" pitchFamily="18" charset="0"/>
                <a:cs typeface="Times New Roman" pitchFamily="18" charset="0"/>
              </a:rPr>
              <a:t>2</a:t>
            </a:r>
            <a:r>
              <a:rPr lang="zh-CN" altLang="en-US" sz="2400" dirty="0" smtClean="0">
                <a:solidFill>
                  <a:schemeClr val="bg2"/>
                </a:solidFill>
                <a:latin typeface="Times New Roman" pitchFamily="18" charset="0"/>
                <a:cs typeface="Times New Roman" pitchFamily="18" charset="0"/>
              </a:rPr>
              <a:t>）约束条件为：</a:t>
            </a:r>
            <a:endParaRPr lang="en-US" altLang="zh-CN" sz="2400" dirty="0" smtClean="0">
              <a:solidFill>
                <a:schemeClr val="bg2"/>
              </a:solidFill>
              <a:latin typeface="Times New Roman" pitchFamily="18" charset="0"/>
              <a:cs typeface="Times New Roman" pitchFamily="18" charset="0"/>
            </a:endParaRPr>
          </a:p>
          <a:p>
            <a:pPr marL="0" indent="0" eaLnBrk="1" hangingPunct="1">
              <a:lnSpc>
                <a:spcPct val="110000"/>
              </a:lnSpc>
              <a:buNone/>
            </a:pPr>
            <a:endParaRPr lang="en-US" altLang="zh-CN" sz="2400" dirty="0">
              <a:solidFill>
                <a:schemeClr val="bg2"/>
              </a:solidFill>
              <a:latin typeface="Times New Roman" pitchFamily="18" charset="0"/>
              <a:cs typeface="Times New Roman" pitchFamily="18" charset="0"/>
            </a:endParaRPr>
          </a:p>
          <a:p>
            <a:pPr marL="0" indent="0" eaLnBrk="1" hangingPunct="1">
              <a:lnSpc>
                <a:spcPct val="110000"/>
              </a:lnSpc>
              <a:buNone/>
            </a:pPr>
            <a:endParaRPr lang="en-US" altLang="zh-CN" sz="2400" dirty="0" smtClean="0">
              <a:solidFill>
                <a:schemeClr val="bg2"/>
              </a:solidFill>
              <a:latin typeface="Times New Roman" pitchFamily="18" charset="0"/>
              <a:cs typeface="Times New Roman" pitchFamily="18" charset="0"/>
            </a:endParaRPr>
          </a:p>
          <a:p>
            <a:pPr marL="0" indent="0" eaLnBrk="1" hangingPunct="1">
              <a:lnSpc>
                <a:spcPct val="110000"/>
              </a:lnSpc>
              <a:buNone/>
            </a:pPr>
            <a:r>
              <a:rPr lang="zh-CN" altLang="en-US" sz="2400" dirty="0" smtClean="0">
                <a:solidFill>
                  <a:schemeClr val="bg2"/>
                </a:solidFill>
                <a:latin typeface="Times New Roman" pitchFamily="18" charset="0"/>
                <a:cs typeface="Times New Roman" pitchFamily="18" charset="0"/>
              </a:rPr>
              <a:t>（</a:t>
            </a:r>
            <a:r>
              <a:rPr lang="en-US" altLang="zh-CN" sz="2400" dirty="0" smtClean="0">
                <a:solidFill>
                  <a:schemeClr val="bg2"/>
                </a:solidFill>
                <a:latin typeface="Times New Roman" pitchFamily="18" charset="0"/>
                <a:cs typeface="Times New Roman" pitchFamily="18" charset="0"/>
              </a:rPr>
              <a:t>3</a:t>
            </a:r>
            <a:r>
              <a:rPr lang="zh-CN" altLang="en-US" sz="2400" dirty="0" smtClean="0">
                <a:solidFill>
                  <a:schemeClr val="bg2"/>
                </a:solidFill>
                <a:latin typeface="Times New Roman" pitchFamily="18" charset="0"/>
                <a:cs typeface="Times New Roman" pitchFamily="18" charset="0"/>
              </a:rPr>
              <a:t>）基解（</a:t>
            </a:r>
            <a:r>
              <a:rPr lang="en-US" altLang="zh-CN" sz="2400" dirty="0" smtClean="0">
                <a:solidFill>
                  <a:schemeClr val="bg2"/>
                </a:solidFill>
                <a:latin typeface="Times New Roman" pitchFamily="18" charset="0"/>
                <a:cs typeface="Times New Roman" pitchFamily="18" charset="0"/>
              </a:rPr>
              <a:t>-2,4,0</a:t>
            </a:r>
            <a:r>
              <a:rPr lang="zh-CN" altLang="en-US" sz="2400" dirty="0" smtClean="0">
                <a:solidFill>
                  <a:schemeClr val="bg2"/>
                </a:solidFill>
                <a:latin typeface="Times New Roman" pitchFamily="18" charset="0"/>
                <a:cs typeface="Times New Roman" pitchFamily="18" charset="0"/>
              </a:rPr>
              <a:t>）</a:t>
            </a:r>
            <a:endParaRPr lang="en-US" altLang="zh-CN" sz="2400" dirty="0" smtClean="0">
              <a:solidFill>
                <a:schemeClr val="bg2"/>
              </a:solidFill>
              <a:latin typeface="Times New Roman" pitchFamily="18" charset="0"/>
              <a:cs typeface="Times New Roman" pitchFamily="18" charset="0"/>
            </a:endParaRPr>
          </a:p>
          <a:p>
            <a:pPr marL="0" indent="0" eaLnBrk="1" hangingPunct="1">
              <a:lnSpc>
                <a:spcPct val="110000"/>
              </a:lnSpc>
              <a:buNone/>
            </a:pPr>
            <a:r>
              <a:rPr lang="zh-CN" altLang="en-US" sz="2400" dirty="0" smtClean="0">
                <a:solidFill>
                  <a:schemeClr val="bg2"/>
                </a:solidFill>
                <a:latin typeface="Times New Roman" pitchFamily="18" charset="0"/>
                <a:cs typeface="Times New Roman" pitchFamily="18" charset="0"/>
              </a:rPr>
              <a:t>（</a:t>
            </a:r>
            <a:r>
              <a:rPr lang="en-US" altLang="zh-CN" sz="2400" dirty="0">
                <a:solidFill>
                  <a:schemeClr val="bg2"/>
                </a:solidFill>
                <a:latin typeface="Times New Roman" pitchFamily="18" charset="0"/>
                <a:cs typeface="Times New Roman" pitchFamily="18" charset="0"/>
              </a:rPr>
              <a:t>4</a:t>
            </a:r>
            <a:r>
              <a:rPr lang="zh-CN" altLang="en-US" sz="2400" dirty="0" smtClean="0">
                <a:solidFill>
                  <a:schemeClr val="bg2"/>
                </a:solidFill>
                <a:latin typeface="Times New Roman" pitchFamily="18" charset="0"/>
                <a:cs typeface="Times New Roman" pitchFamily="18" charset="0"/>
              </a:rPr>
              <a:t>）不是基可行解</a:t>
            </a:r>
            <a:endParaRPr lang="en-US" altLang="zh-CN" sz="2400" dirty="0" smtClean="0">
              <a:solidFill>
                <a:schemeClr val="bg2"/>
              </a:solidFill>
              <a:latin typeface="Times New Roman" pitchFamily="18" charset="0"/>
              <a:cs typeface="Times New Roman" pitchFamily="18" charset="0"/>
            </a:endParaRPr>
          </a:p>
          <a:p>
            <a:pPr marL="0" indent="0" eaLnBrk="1" hangingPunct="1">
              <a:lnSpc>
                <a:spcPct val="110000"/>
              </a:lnSpc>
              <a:buNone/>
            </a:pPr>
            <a:r>
              <a:rPr lang="en-US" altLang="zh-CN" sz="2400" dirty="0" smtClean="0">
                <a:solidFill>
                  <a:schemeClr val="bg2"/>
                </a:solidFill>
                <a:latin typeface="Times New Roman" pitchFamily="18" charset="0"/>
                <a:cs typeface="Times New Roman" pitchFamily="18" charset="0"/>
              </a:rPr>
              <a:t>         </a:t>
            </a:r>
            <a:endParaRPr lang="zh-CN" altLang="en-US" sz="2400" dirty="0">
              <a:solidFill>
                <a:schemeClr val="bg2"/>
              </a:solidFill>
              <a:latin typeface="Times New Roman" pitchFamily="18" charset="0"/>
              <a:cs typeface="Times New Roman" pitchFamily="18" charset="0"/>
            </a:endParaRPr>
          </a:p>
        </p:txBody>
      </p:sp>
      <p:sp>
        <p:nvSpPr>
          <p:cNvPr id="14" name="矩形 13"/>
          <p:cNvSpPr/>
          <p:nvPr/>
        </p:nvSpPr>
        <p:spPr>
          <a:xfrm>
            <a:off x="3848864" y="4248612"/>
            <a:ext cx="4572000" cy="1052596"/>
          </a:xfrm>
          <a:prstGeom prst="rect">
            <a:avLst/>
          </a:prstGeom>
        </p:spPr>
        <p:txBody>
          <a:bodyPr>
            <a:spAutoFit/>
          </a:bodyPr>
          <a:lstStyle/>
          <a:p>
            <a:pPr>
              <a:lnSpc>
                <a:spcPct val="130000"/>
              </a:lnSpc>
            </a:pPr>
            <a:r>
              <a:rPr lang="en-US" altLang="zh-CN" dirty="0">
                <a:solidFill>
                  <a:schemeClr val="bg2"/>
                </a:solidFill>
                <a:cs typeface="Times New Roman" pitchFamily="18" charset="0"/>
              </a:rPr>
              <a:t> </a:t>
            </a:r>
            <a:r>
              <a:rPr lang="en-US" altLang="zh-CN" dirty="0" smtClean="0">
                <a:solidFill>
                  <a:schemeClr val="bg2"/>
                </a:solidFill>
                <a:cs typeface="Times New Roman" pitchFamily="18" charset="0"/>
              </a:rPr>
              <a:t>   </a:t>
            </a:r>
            <a:r>
              <a:rPr lang="en-US" altLang="zh-CN" i="1" dirty="0" smtClean="0">
                <a:solidFill>
                  <a:schemeClr val="bg2"/>
                </a:solidFill>
                <a:cs typeface="Times New Roman" pitchFamily="18" charset="0"/>
              </a:rPr>
              <a:t>x</a:t>
            </a:r>
            <a:r>
              <a:rPr lang="en-US" altLang="zh-CN" baseline="-25000" dirty="0" smtClean="0">
                <a:solidFill>
                  <a:schemeClr val="bg2"/>
                </a:solidFill>
                <a:cs typeface="Times New Roman" pitchFamily="18" charset="0"/>
              </a:rPr>
              <a:t>1</a:t>
            </a:r>
            <a:r>
              <a:rPr lang="en-US" altLang="zh-CN" dirty="0" smtClean="0">
                <a:solidFill>
                  <a:schemeClr val="bg2"/>
                </a:solidFill>
                <a:cs typeface="Times New Roman" pitchFamily="18" charset="0"/>
              </a:rPr>
              <a:t>+ </a:t>
            </a:r>
            <a:r>
              <a:rPr lang="en-US" altLang="zh-CN" i="1" dirty="0" smtClean="0">
                <a:solidFill>
                  <a:schemeClr val="bg2"/>
                </a:solidFill>
                <a:cs typeface="Times New Roman" pitchFamily="18" charset="0"/>
              </a:rPr>
              <a:t>x</a:t>
            </a:r>
            <a:r>
              <a:rPr lang="en-US" altLang="zh-CN" baseline="-25000" dirty="0" smtClean="0">
                <a:solidFill>
                  <a:schemeClr val="bg2"/>
                </a:solidFill>
                <a:cs typeface="Times New Roman" pitchFamily="18" charset="0"/>
              </a:rPr>
              <a:t>2</a:t>
            </a:r>
            <a:r>
              <a:rPr lang="en-US" altLang="zh-CN" dirty="0" smtClean="0">
                <a:solidFill>
                  <a:schemeClr val="bg2"/>
                </a:solidFill>
                <a:cs typeface="Times New Roman" pitchFamily="18" charset="0"/>
              </a:rPr>
              <a:t>+    </a:t>
            </a:r>
            <a:r>
              <a:rPr lang="en-US" altLang="zh-CN" b="1" dirty="0" smtClean="0">
                <a:solidFill>
                  <a:srgbClr val="C00000"/>
                </a:solidFill>
                <a:cs typeface="Times New Roman" pitchFamily="18" charset="0"/>
              </a:rPr>
              <a:t>0</a:t>
            </a:r>
            <a:r>
              <a:rPr lang="zh-CN" altLang="en-US" dirty="0" smtClean="0">
                <a:solidFill>
                  <a:schemeClr val="bg2"/>
                </a:solidFill>
                <a:cs typeface="Times New Roman" pitchFamily="18" charset="0"/>
              </a:rPr>
              <a:t>＝</a:t>
            </a:r>
            <a:r>
              <a:rPr lang="en-US" altLang="zh-CN" dirty="0">
                <a:solidFill>
                  <a:schemeClr val="bg2"/>
                </a:solidFill>
                <a:cs typeface="Times New Roman" pitchFamily="18" charset="0"/>
              </a:rPr>
              <a:t>2</a:t>
            </a:r>
          </a:p>
          <a:p>
            <a:pPr>
              <a:lnSpc>
                <a:spcPct val="130000"/>
              </a:lnSpc>
            </a:pPr>
            <a:r>
              <a:rPr lang="en-US" altLang="zh-CN" dirty="0">
                <a:solidFill>
                  <a:schemeClr val="bg2"/>
                </a:solidFill>
                <a:cs typeface="Times New Roman" pitchFamily="18" charset="0"/>
              </a:rPr>
              <a:t>    </a:t>
            </a:r>
            <a:r>
              <a:rPr lang="en-US" altLang="zh-CN" i="1" dirty="0" smtClean="0">
                <a:solidFill>
                  <a:schemeClr val="bg2"/>
                </a:solidFill>
                <a:cs typeface="Times New Roman" pitchFamily="18" charset="0"/>
              </a:rPr>
              <a:t>x</a:t>
            </a:r>
            <a:r>
              <a:rPr lang="en-US" altLang="zh-CN" baseline="-25000" dirty="0" smtClean="0">
                <a:solidFill>
                  <a:schemeClr val="bg2"/>
                </a:solidFill>
                <a:cs typeface="Times New Roman" pitchFamily="18" charset="0"/>
              </a:rPr>
              <a:t>1</a:t>
            </a:r>
            <a:r>
              <a:rPr lang="en-US" altLang="zh-CN" dirty="0" smtClean="0">
                <a:solidFill>
                  <a:schemeClr val="bg2"/>
                </a:solidFill>
                <a:cs typeface="Times New Roman" pitchFamily="18" charset="0"/>
              </a:rPr>
              <a:t>+2</a:t>
            </a:r>
            <a:r>
              <a:rPr lang="en-US" altLang="zh-CN" i="1" dirty="0" smtClean="0">
                <a:solidFill>
                  <a:schemeClr val="bg2"/>
                </a:solidFill>
                <a:cs typeface="Times New Roman" pitchFamily="18" charset="0"/>
              </a:rPr>
              <a:t>x</a:t>
            </a:r>
            <a:r>
              <a:rPr lang="en-US" altLang="zh-CN" baseline="-25000" dirty="0" smtClean="0">
                <a:solidFill>
                  <a:schemeClr val="bg2"/>
                </a:solidFill>
                <a:cs typeface="Times New Roman" pitchFamily="18" charset="0"/>
              </a:rPr>
              <a:t>2</a:t>
            </a:r>
            <a:r>
              <a:rPr lang="en-US" altLang="zh-CN" dirty="0" smtClean="0">
                <a:solidFill>
                  <a:schemeClr val="bg2"/>
                </a:solidFill>
                <a:cs typeface="Times New Roman" pitchFamily="18" charset="0"/>
              </a:rPr>
              <a:t>+4</a:t>
            </a:r>
            <a:r>
              <a:rPr lang="en-US" altLang="zh-CN" i="1" dirty="0" smtClean="0">
                <a:solidFill>
                  <a:schemeClr val="bg2"/>
                </a:solidFill>
                <a:cs typeface="Times New Roman" pitchFamily="18" charset="0"/>
              </a:rPr>
              <a:t>*</a:t>
            </a:r>
            <a:r>
              <a:rPr lang="en-US" altLang="zh-CN" b="1" dirty="0" smtClean="0">
                <a:solidFill>
                  <a:srgbClr val="C00000"/>
                </a:solidFill>
                <a:cs typeface="Times New Roman" pitchFamily="18" charset="0"/>
              </a:rPr>
              <a:t>0</a:t>
            </a:r>
            <a:r>
              <a:rPr lang="zh-CN" altLang="en-US" dirty="0" smtClean="0">
                <a:solidFill>
                  <a:schemeClr val="bg2"/>
                </a:solidFill>
                <a:cs typeface="Times New Roman" pitchFamily="18" charset="0"/>
              </a:rPr>
              <a:t>＝</a:t>
            </a:r>
            <a:r>
              <a:rPr lang="en-US" altLang="zh-CN" dirty="0" smtClean="0">
                <a:solidFill>
                  <a:schemeClr val="bg2"/>
                </a:solidFill>
                <a:cs typeface="Times New Roman" pitchFamily="18" charset="0"/>
              </a:rPr>
              <a:t>6</a:t>
            </a:r>
          </a:p>
        </p:txBody>
      </p:sp>
    </p:spTree>
    <p:extLst>
      <p:ext uri="{BB962C8B-B14F-4D97-AF65-F5344CB8AC3E}">
        <p14:creationId xmlns:p14="http://schemas.microsoft.com/office/powerpoint/2010/main" val="42138478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wipe(left)">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wipe(left)">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left)">
                                      <p:cBhvr>
                                        <p:cTn id="25" dur="500"/>
                                        <p:tgtEl>
                                          <p:spTgt spid="12"/>
                                        </p:tgtEl>
                                      </p:cBhvr>
                                    </p:animEffect>
                                  </p:childTnLst>
                                </p:cTn>
                              </p:par>
                              <p:par>
                                <p:cTn id="26" presetID="22" presetClass="entr" presetSubtype="8"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3">
                                            <p:txEl>
                                              <p:pRg st="0" end="0"/>
                                            </p:txEl>
                                          </p:spTgt>
                                        </p:tgtEl>
                                        <p:attrNameLst>
                                          <p:attrName>style.visibility</p:attrName>
                                        </p:attrNameLst>
                                      </p:cBhvr>
                                      <p:to>
                                        <p:strVal val="visible"/>
                                      </p:to>
                                    </p:set>
                                    <p:animEffect transition="in" filter="wipe(left)">
                                      <p:cBhvr>
                                        <p:cTn id="33" dur="500"/>
                                        <p:tgtEl>
                                          <p:spTgt spid="13">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3">
                                            <p:txEl>
                                              <p:pRg st="1" end="1"/>
                                            </p:txEl>
                                          </p:spTgt>
                                        </p:tgtEl>
                                        <p:attrNameLst>
                                          <p:attrName>style.visibility</p:attrName>
                                        </p:attrNameLst>
                                      </p:cBhvr>
                                      <p:to>
                                        <p:strVal val="visible"/>
                                      </p:to>
                                    </p:set>
                                    <p:animEffect transition="in" filter="wipe(left)">
                                      <p:cBhvr>
                                        <p:cTn id="38" dur="500"/>
                                        <p:tgtEl>
                                          <p:spTgt spid="13">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3">
                                            <p:txEl>
                                              <p:pRg st="4" end="4"/>
                                            </p:txEl>
                                          </p:spTgt>
                                        </p:tgtEl>
                                        <p:attrNameLst>
                                          <p:attrName>style.visibility</p:attrName>
                                        </p:attrNameLst>
                                      </p:cBhvr>
                                      <p:to>
                                        <p:strVal val="visible"/>
                                      </p:to>
                                    </p:set>
                                    <p:animEffect transition="in" filter="wipe(left)">
                                      <p:cBhvr>
                                        <p:cTn id="48" dur="500"/>
                                        <p:tgtEl>
                                          <p:spTgt spid="13">
                                            <p:txEl>
                                              <p:pRg st="4" end="4"/>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3">
                                            <p:txEl>
                                              <p:pRg st="5" end="5"/>
                                            </p:txEl>
                                          </p:spTgt>
                                        </p:tgtEl>
                                        <p:attrNameLst>
                                          <p:attrName>style.visibility</p:attrName>
                                        </p:attrNameLst>
                                      </p:cBhvr>
                                      <p:to>
                                        <p:strVal val="visible"/>
                                      </p:to>
                                    </p:set>
                                    <p:animEffect transition="in" filter="wipe(left)">
                                      <p:cBhvr>
                                        <p:cTn id="53" dur="500"/>
                                        <p:tgtEl>
                                          <p:spTgt spid="1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800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dirty="0">
                <a:solidFill>
                  <a:schemeClr val="accent2"/>
                </a:solidFill>
                <a:sym typeface="+mn-ea"/>
              </a:rPr>
              <a:t>6.2 </a:t>
            </a:r>
            <a:r>
              <a:rPr kumimoji="0" lang="zh-CN" altLang="en-US" dirty="0">
                <a:solidFill>
                  <a:schemeClr val="accent2"/>
                </a:solidFill>
                <a:sym typeface="+mn-ea"/>
              </a:rPr>
              <a:t>标准形</a:t>
            </a:r>
          </a:p>
        </p:txBody>
      </p:sp>
      <p:graphicFrame>
        <p:nvGraphicFramePr>
          <p:cNvPr id="9" name="对象 8"/>
          <p:cNvGraphicFramePr>
            <a:graphicFrameLocks noChangeAspect="1"/>
          </p:cNvGraphicFramePr>
          <p:nvPr>
            <p:extLst>
              <p:ext uri="{D42A27DB-BD31-4B8C-83A1-F6EECF244321}">
                <p14:modId xmlns:p14="http://schemas.microsoft.com/office/powerpoint/2010/main" val="1377878942"/>
              </p:ext>
            </p:extLst>
          </p:nvPr>
        </p:nvGraphicFramePr>
        <p:xfrm>
          <a:off x="508000" y="2155130"/>
          <a:ext cx="1422400" cy="985838"/>
        </p:xfrm>
        <a:graphic>
          <a:graphicData uri="http://schemas.openxmlformats.org/presentationml/2006/ole">
            <mc:AlternateContent xmlns:mc="http://schemas.openxmlformats.org/markup-compatibility/2006">
              <mc:Choice xmlns:v="urn:schemas-microsoft-com:vml" Requires="v">
                <p:oleObj spid="_x0000_s9250" name="Equation" r:id="rId3" imgW="660240" imgH="457200" progId="Equation.DSMT4">
                  <p:embed/>
                </p:oleObj>
              </mc:Choice>
              <mc:Fallback>
                <p:oleObj name="Equation" r:id="rId3" imgW="660240" imgH="457200" progId="Equation.DSMT4">
                  <p:embed/>
                  <p:pic>
                    <p:nvPicPr>
                      <p:cNvPr id="0" name=""/>
                      <p:cNvPicPr>
                        <a:picLocks noChangeAspect="1" noChangeArrowheads="1"/>
                      </p:cNvPicPr>
                      <p:nvPr/>
                    </p:nvPicPr>
                    <p:blipFill>
                      <a:blip r:embed="rId4"/>
                      <a:srcRect/>
                      <a:stretch>
                        <a:fillRect/>
                      </a:stretch>
                    </p:blipFill>
                    <p:spPr bwMode="auto">
                      <a:xfrm>
                        <a:off x="508000" y="2155130"/>
                        <a:ext cx="1422400"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Box 14"/>
          <p:cNvSpPr txBox="1"/>
          <p:nvPr/>
        </p:nvSpPr>
        <p:spPr>
          <a:xfrm>
            <a:off x="2051720" y="1599183"/>
            <a:ext cx="2783134" cy="461665"/>
          </a:xfrm>
          <a:prstGeom prst="rect">
            <a:avLst/>
          </a:prstGeom>
          <a:noFill/>
        </p:spPr>
        <p:txBody>
          <a:bodyPr wrap="none" rtlCol="0">
            <a:spAutoFit/>
          </a:bodyPr>
          <a:lstStyle/>
          <a:p>
            <a:r>
              <a:rPr lang="en-US" altLang="zh-CN" i="1" dirty="0" smtClean="0">
                <a:solidFill>
                  <a:schemeClr val="bg2"/>
                </a:solidFill>
              </a:rPr>
              <a:t>B</a:t>
            </a:r>
            <a:r>
              <a:rPr lang="en-US" altLang="zh-CN" baseline="-25000" dirty="0" smtClean="0">
                <a:solidFill>
                  <a:schemeClr val="bg2"/>
                </a:solidFill>
              </a:rPr>
              <a:t>2</a:t>
            </a:r>
            <a:r>
              <a:rPr lang="zh-CN" altLang="en-US" dirty="0">
                <a:solidFill>
                  <a:schemeClr val="bg2"/>
                </a:solidFill>
              </a:rPr>
              <a:t>基变量  非基变量</a:t>
            </a:r>
          </a:p>
        </p:txBody>
      </p:sp>
      <p:graphicFrame>
        <p:nvGraphicFramePr>
          <p:cNvPr id="16" name="对象 15"/>
          <p:cNvGraphicFramePr>
            <a:graphicFrameLocks noChangeAspect="1"/>
          </p:cNvGraphicFramePr>
          <p:nvPr>
            <p:extLst>
              <p:ext uri="{D42A27DB-BD31-4B8C-83A1-F6EECF244321}">
                <p14:modId xmlns:p14="http://schemas.microsoft.com/office/powerpoint/2010/main" val="333591089"/>
              </p:ext>
            </p:extLst>
          </p:nvPr>
        </p:nvGraphicFramePr>
        <p:xfrm>
          <a:off x="2398852" y="2089681"/>
          <a:ext cx="1693862" cy="1041400"/>
        </p:xfrm>
        <a:graphic>
          <a:graphicData uri="http://schemas.openxmlformats.org/presentationml/2006/ole">
            <mc:AlternateContent xmlns:mc="http://schemas.openxmlformats.org/markup-compatibility/2006">
              <mc:Choice xmlns:v="urn:schemas-microsoft-com:vml" Requires="v">
                <p:oleObj spid="_x0000_s9251" name="Equation" r:id="rId5" imgW="787320" imgH="482400" progId="Equation.DSMT4">
                  <p:embed/>
                </p:oleObj>
              </mc:Choice>
              <mc:Fallback>
                <p:oleObj name="Equation" r:id="rId5" imgW="787320" imgH="482400" progId="Equation.DSMT4">
                  <p:embed/>
                  <p:pic>
                    <p:nvPicPr>
                      <p:cNvPr id="0" name=""/>
                      <p:cNvPicPr>
                        <a:picLocks noChangeAspect="1" noChangeArrowheads="1"/>
                      </p:cNvPicPr>
                      <p:nvPr/>
                    </p:nvPicPr>
                    <p:blipFill>
                      <a:blip r:embed="rId6"/>
                      <a:srcRect/>
                      <a:stretch>
                        <a:fillRect/>
                      </a:stretch>
                    </p:blipFill>
                    <p:spPr bwMode="auto">
                      <a:xfrm>
                        <a:off x="2398852" y="2089681"/>
                        <a:ext cx="1693862"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矩形 16"/>
          <p:cNvSpPr/>
          <p:nvPr/>
        </p:nvSpPr>
        <p:spPr>
          <a:xfrm>
            <a:off x="5076056" y="2060848"/>
            <a:ext cx="2667352" cy="1052596"/>
          </a:xfrm>
          <a:prstGeom prst="rect">
            <a:avLst/>
          </a:prstGeom>
        </p:spPr>
        <p:txBody>
          <a:bodyPr wrap="square">
            <a:spAutoFit/>
          </a:bodyPr>
          <a:lstStyle/>
          <a:p>
            <a:pPr>
              <a:lnSpc>
                <a:spcPct val="130000"/>
              </a:lnSpc>
            </a:pPr>
            <a:r>
              <a:rPr lang="en-US" altLang="zh-CN" dirty="0">
                <a:solidFill>
                  <a:schemeClr val="bg2"/>
                </a:solidFill>
                <a:cs typeface="Times New Roman" pitchFamily="18" charset="0"/>
              </a:rPr>
              <a:t> </a:t>
            </a:r>
            <a:r>
              <a:rPr lang="en-US" altLang="zh-CN" dirty="0" smtClean="0">
                <a:solidFill>
                  <a:schemeClr val="bg2"/>
                </a:solidFill>
                <a:cs typeface="Times New Roman" pitchFamily="18" charset="0"/>
              </a:rPr>
              <a:t>   </a:t>
            </a:r>
            <a:r>
              <a:rPr lang="en-US" altLang="zh-CN" i="1" dirty="0" smtClean="0">
                <a:solidFill>
                  <a:schemeClr val="bg2"/>
                </a:solidFill>
                <a:cs typeface="Times New Roman" pitchFamily="18" charset="0"/>
              </a:rPr>
              <a:t>x</a:t>
            </a:r>
            <a:r>
              <a:rPr lang="en-US" altLang="zh-CN" baseline="-25000" dirty="0" smtClean="0">
                <a:solidFill>
                  <a:schemeClr val="bg2"/>
                </a:solidFill>
                <a:cs typeface="Times New Roman" pitchFamily="18" charset="0"/>
              </a:rPr>
              <a:t>1</a:t>
            </a:r>
            <a:r>
              <a:rPr lang="en-US" altLang="zh-CN" dirty="0" smtClean="0">
                <a:solidFill>
                  <a:schemeClr val="bg2"/>
                </a:solidFill>
                <a:cs typeface="Times New Roman" pitchFamily="18" charset="0"/>
              </a:rPr>
              <a:t>+    </a:t>
            </a:r>
            <a:r>
              <a:rPr lang="en-US" altLang="zh-CN" b="1" dirty="0" smtClean="0">
                <a:solidFill>
                  <a:srgbClr val="FF0000"/>
                </a:solidFill>
                <a:cs typeface="Times New Roman" pitchFamily="18" charset="0"/>
              </a:rPr>
              <a:t>0</a:t>
            </a:r>
            <a:r>
              <a:rPr lang="en-US" altLang="zh-CN" dirty="0" smtClean="0">
                <a:solidFill>
                  <a:schemeClr val="bg2"/>
                </a:solidFill>
                <a:cs typeface="Times New Roman" pitchFamily="18" charset="0"/>
              </a:rPr>
              <a:t>+ </a:t>
            </a:r>
            <a:r>
              <a:rPr lang="en-US" altLang="zh-CN" i="1" dirty="0" smtClean="0">
                <a:solidFill>
                  <a:schemeClr val="bg2"/>
                </a:solidFill>
                <a:cs typeface="Times New Roman" pitchFamily="18" charset="0"/>
              </a:rPr>
              <a:t>x</a:t>
            </a:r>
            <a:r>
              <a:rPr lang="en-US" altLang="zh-CN" baseline="-25000" dirty="0" smtClean="0">
                <a:solidFill>
                  <a:schemeClr val="bg2"/>
                </a:solidFill>
                <a:cs typeface="Times New Roman" pitchFamily="18" charset="0"/>
              </a:rPr>
              <a:t>3</a:t>
            </a:r>
            <a:r>
              <a:rPr lang="zh-CN" altLang="en-US" dirty="0" smtClean="0">
                <a:solidFill>
                  <a:schemeClr val="bg2"/>
                </a:solidFill>
                <a:cs typeface="Times New Roman" pitchFamily="18" charset="0"/>
              </a:rPr>
              <a:t>＝</a:t>
            </a:r>
            <a:r>
              <a:rPr lang="en-US" altLang="zh-CN" dirty="0">
                <a:solidFill>
                  <a:schemeClr val="bg2"/>
                </a:solidFill>
                <a:cs typeface="Times New Roman" pitchFamily="18" charset="0"/>
              </a:rPr>
              <a:t>2</a:t>
            </a:r>
          </a:p>
          <a:p>
            <a:pPr>
              <a:lnSpc>
                <a:spcPct val="130000"/>
              </a:lnSpc>
            </a:pPr>
            <a:r>
              <a:rPr lang="en-US" altLang="zh-CN" dirty="0">
                <a:solidFill>
                  <a:schemeClr val="bg2"/>
                </a:solidFill>
                <a:cs typeface="Times New Roman" pitchFamily="18" charset="0"/>
              </a:rPr>
              <a:t>    </a:t>
            </a:r>
            <a:r>
              <a:rPr lang="en-US" altLang="zh-CN" i="1" dirty="0" smtClean="0">
                <a:solidFill>
                  <a:schemeClr val="bg2"/>
                </a:solidFill>
                <a:cs typeface="Times New Roman" pitchFamily="18" charset="0"/>
              </a:rPr>
              <a:t>x</a:t>
            </a:r>
            <a:r>
              <a:rPr lang="en-US" altLang="zh-CN" baseline="-25000" dirty="0" smtClean="0">
                <a:solidFill>
                  <a:schemeClr val="bg2"/>
                </a:solidFill>
                <a:cs typeface="Times New Roman" pitchFamily="18" charset="0"/>
              </a:rPr>
              <a:t>1</a:t>
            </a:r>
            <a:r>
              <a:rPr lang="en-US" altLang="zh-CN" dirty="0" smtClean="0">
                <a:solidFill>
                  <a:schemeClr val="bg2"/>
                </a:solidFill>
                <a:cs typeface="Times New Roman" pitchFamily="18" charset="0"/>
              </a:rPr>
              <a:t>+2</a:t>
            </a:r>
            <a:r>
              <a:rPr lang="en-US" altLang="zh-CN" i="1" dirty="0" smtClean="0">
                <a:solidFill>
                  <a:schemeClr val="bg2"/>
                </a:solidFill>
                <a:cs typeface="Times New Roman" pitchFamily="18" charset="0"/>
              </a:rPr>
              <a:t>*</a:t>
            </a:r>
            <a:r>
              <a:rPr lang="en-US" altLang="zh-CN" b="1" dirty="0" smtClean="0">
                <a:solidFill>
                  <a:srgbClr val="FF0000"/>
                </a:solidFill>
                <a:cs typeface="Times New Roman" pitchFamily="18" charset="0"/>
              </a:rPr>
              <a:t>0</a:t>
            </a:r>
            <a:r>
              <a:rPr lang="en-US" altLang="zh-CN" dirty="0" smtClean="0">
                <a:solidFill>
                  <a:schemeClr val="bg2"/>
                </a:solidFill>
                <a:cs typeface="Times New Roman" pitchFamily="18" charset="0"/>
              </a:rPr>
              <a:t>+4</a:t>
            </a:r>
            <a:r>
              <a:rPr lang="en-US" altLang="zh-CN" i="1" dirty="0" smtClean="0">
                <a:solidFill>
                  <a:schemeClr val="bg2"/>
                </a:solidFill>
                <a:cs typeface="Times New Roman" pitchFamily="18" charset="0"/>
              </a:rPr>
              <a:t>x</a:t>
            </a:r>
            <a:r>
              <a:rPr lang="en-US" altLang="zh-CN" baseline="-25000" dirty="0" smtClean="0">
                <a:solidFill>
                  <a:schemeClr val="bg2"/>
                </a:solidFill>
                <a:cs typeface="Times New Roman" pitchFamily="18" charset="0"/>
              </a:rPr>
              <a:t>3</a:t>
            </a:r>
            <a:r>
              <a:rPr lang="zh-CN" altLang="en-US" dirty="0" smtClean="0">
                <a:solidFill>
                  <a:schemeClr val="bg2"/>
                </a:solidFill>
                <a:cs typeface="Times New Roman" pitchFamily="18" charset="0"/>
              </a:rPr>
              <a:t>＝</a:t>
            </a:r>
            <a:r>
              <a:rPr lang="en-US" altLang="zh-CN" dirty="0" smtClean="0">
                <a:solidFill>
                  <a:schemeClr val="bg2"/>
                </a:solidFill>
                <a:cs typeface="Times New Roman" pitchFamily="18" charset="0"/>
              </a:rPr>
              <a:t>6</a:t>
            </a:r>
          </a:p>
        </p:txBody>
      </p:sp>
      <p:sp>
        <p:nvSpPr>
          <p:cNvPr id="2" name="矩形 1"/>
          <p:cNvSpPr/>
          <p:nvPr/>
        </p:nvSpPr>
        <p:spPr>
          <a:xfrm>
            <a:off x="4788024" y="3175379"/>
            <a:ext cx="4124847" cy="904863"/>
          </a:xfrm>
          <a:prstGeom prst="rect">
            <a:avLst/>
          </a:prstGeom>
        </p:spPr>
        <p:txBody>
          <a:bodyPr wrap="none">
            <a:spAutoFit/>
          </a:bodyPr>
          <a:lstStyle/>
          <a:p>
            <a:pPr eaLnBrk="1" hangingPunct="1">
              <a:lnSpc>
                <a:spcPct val="110000"/>
              </a:lnSpc>
            </a:pPr>
            <a:r>
              <a:rPr lang="zh-CN" altLang="en-US" dirty="0">
                <a:solidFill>
                  <a:schemeClr val="bg2"/>
                </a:solidFill>
                <a:cs typeface="Times New Roman" pitchFamily="18" charset="0"/>
              </a:rPr>
              <a:t>基解</a:t>
            </a:r>
            <a:r>
              <a:rPr lang="zh-CN" altLang="en-US" dirty="0" smtClean="0">
                <a:solidFill>
                  <a:schemeClr val="bg2"/>
                </a:solidFill>
                <a:cs typeface="Times New Roman" pitchFamily="18" charset="0"/>
              </a:rPr>
              <a:t>（</a:t>
            </a:r>
            <a:r>
              <a:rPr lang="en-US" altLang="zh-CN" dirty="0" smtClean="0">
                <a:solidFill>
                  <a:schemeClr val="bg2"/>
                </a:solidFill>
                <a:cs typeface="Times New Roman" pitchFamily="18" charset="0"/>
              </a:rPr>
              <a:t>2/3,0,4/3</a:t>
            </a:r>
            <a:r>
              <a:rPr lang="zh-CN" altLang="en-US" dirty="0" smtClean="0">
                <a:solidFill>
                  <a:schemeClr val="bg2"/>
                </a:solidFill>
                <a:cs typeface="Times New Roman" pitchFamily="18" charset="0"/>
              </a:rPr>
              <a:t>），是可行解</a:t>
            </a:r>
            <a:endParaRPr lang="en-US" altLang="zh-CN" dirty="0" smtClean="0">
              <a:solidFill>
                <a:schemeClr val="bg2"/>
              </a:solidFill>
              <a:cs typeface="Times New Roman" pitchFamily="18" charset="0"/>
            </a:endParaRPr>
          </a:p>
          <a:p>
            <a:pPr eaLnBrk="1" hangingPunct="1">
              <a:lnSpc>
                <a:spcPct val="110000"/>
              </a:lnSpc>
            </a:pPr>
            <a:r>
              <a:rPr lang="en-US" altLang="zh-CN" i="1" dirty="0" smtClean="0">
                <a:solidFill>
                  <a:schemeClr val="bg2"/>
                </a:solidFill>
                <a:cs typeface="Times New Roman" pitchFamily="18" charset="0"/>
              </a:rPr>
              <a:t>z</a:t>
            </a:r>
            <a:r>
              <a:rPr lang="en-US" altLang="zh-CN" dirty="0" smtClean="0">
                <a:solidFill>
                  <a:schemeClr val="bg2"/>
                </a:solidFill>
                <a:cs typeface="Times New Roman" pitchFamily="18" charset="0"/>
              </a:rPr>
              <a:t>=6</a:t>
            </a:r>
            <a:endParaRPr lang="en-US" altLang="zh-CN" dirty="0">
              <a:solidFill>
                <a:schemeClr val="bg2"/>
              </a:solidFill>
              <a:cs typeface="Times New Roman" pitchFamily="18" charset="0"/>
            </a:endParaRPr>
          </a:p>
        </p:txBody>
      </p:sp>
      <p:sp>
        <p:nvSpPr>
          <p:cNvPr id="18" name="矩形 17"/>
          <p:cNvSpPr/>
          <p:nvPr/>
        </p:nvSpPr>
        <p:spPr>
          <a:xfrm>
            <a:off x="4752544" y="64017"/>
            <a:ext cx="3627016" cy="1852815"/>
          </a:xfrm>
          <a:prstGeom prst="rect">
            <a:avLst/>
          </a:prstGeom>
          <a:solidFill>
            <a:schemeClr val="tx1"/>
          </a:solidFill>
        </p:spPr>
        <p:txBody>
          <a:bodyPr wrap="square">
            <a:spAutoFit/>
          </a:bodyPr>
          <a:lstStyle/>
          <a:p>
            <a:pPr>
              <a:lnSpc>
                <a:spcPct val="110000"/>
              </a:lnSpc>
            </a:pPr>
            <a:r>
              <a:rPr lang="en-US" altLang="zh-CN" sz="2600" dirty="0" smtClean="0">
                <a:solidFill>
                  <a:schemeClr val="bg2"/>
                </a:solidFill>
                <a:cs typeface="Times New Roman" pitchFamily="18" charset="0"/>
              </a:rPr>
              <a:t>min   </a:t>
            </a:r>
            <a:r>
              <a:rPr lang="en-US" altLang="zh-CN" sz="2600" i="1" dirty="0">
                <a:solidFill>
                  <a:schemeClr val="bg2"/>
                </a:solidFill>
                <a:cs typeface="Times New Roman" pitchFamily="18" charset="0"/>
              </a:rPr>
              <a:t>z</a:t>
            </a:r>
            <a:r>
              <a:rPr lang="en-US" altLang="zh-CN" sz="2600" dirty="0">
                <a:solidFill>
                  <a:schemeClr val="bg2"/>
                </a:solidFill>
                <a:cs typeface="Times New Roman" pitchFamily="18" charset="0"/>
              </a:rPr>
              <a:t> =</a:t>
            </a:r>
            <a:r>
              <a:rPr lang="en-US" altLang="zh-CN" sz="2600" dirty="0" smtClean="0">
                <a:solidFill>
                  <a:schemeClr val="bg2"/>
                </a:solidFill>
                <a:cs typeface="Times New Roman" pitchFamily="18" charset="0"/>
              </a:rPr>
              <a:t>3</a:t>
            </a:r>
            <a:r>
              <a:rPr lang="en-US" altLang="zh-CN" sz="2600" i="1" dirty="0" smtClean="0">
                <a:solidFill>
                  <a:schemeClr val="bg2"/>
                </a:solidFill>
                <a:cs typeface="Times New Roman" pitchFamily="18" charset="0"/>
              </a:rPr>
              <a:t>x</a:t>
            </a:r>
            <a:r>
              <a:rPr lang="en-US" altLang="zh-CN" sz="2600" baseline="-25000" dirty="0" smtClean="0">
                <a:solidFill>
                  <a:schemeClr val="bg2"/>
                </a:solidFill>
                <a:cs typeface="Times New Roman" pitchFamily="18" charset="0"/>
              </a:rPr>
              <a:t>1</a:t>
            </a:r>
            <a:r>
              <a:rPr lang="en-US" altLang="zh-CN" sz="2600" dirty="0" smtClean="0">
                <a:solidFill>
                  <a:schemeClr val="bg2"/>
                </a:solidFill>
                <a:cs typeface="Times New Roman" pitchFamily="18" charset="0"/>
              </a:rPr>
              <a:t>+</a:t>
            </a:r>
            <a:r>
              <a:rPr lang="en-US" altLang="zh-CN" sz="2600" i="1" dirty="0" smtClean="0">
                <a:solidFill>
                  <a:schemeClr val="bg2"/>
                </a:solidFill>
                <a:cs typeface="Times New Roman" pitchFamily="18" charset="0"/>
              </a:rPr>
              <a:t>x</a:t>
            </a:r>
            <a:r>
              <a:rPr lang="en-US" altLang="zh-CN" sz="2600" baseline="-25000" dirty="0" smtClean="0">
                <a:solidFill>
                  <a:schemeClr val="bg2"/>
                </a:solidFill>
                <a:cs typeface="Times New Roman" pitchFamily="18" charset="0"/>
              </a:rPr>
              <a:t>2</a:t>
            </a:r>
            <a:r>
              <a:rPr lang="en-US" altLang="zh-CN" sz="2600" dirty="0" smtClean="0">
                <a:solidFill>
                  <a:schemeClr val="bg2"/>
                </a:solidFill>
                <a:cs typeface="Times New Roman" pitchFamily="18" charset="0"/>
              </a:rPr>
              <a:t>+3</a:t>
            </a:r>
            <a:r>
              <a:rPr lang="en-US" altLang="zh-CN" sz="2600" i="1" dirty="0" smtClean="0">
                <a:solidFill>
                  <a:schemeClr val="bg2"/>
                </a:solidFill>
                <a:cs typeface="Times New Roman" pitchFamily="18" charset="0"/>
              </a:rPr>
              <a:t>x </a:t>
            </a:r>
            <a:r>
              <a:rPr lang="en-US" altLang="zh-CN" sz="2600" baseline="-25000" dirty="0" smtClean="0">
                <a:solidFill>
                  <a:schemeClr val="bg2"/>
                </a:solidFill>
                <a:cs typeface="Times New Roman" pitchFamily="18" charset="0"/>
              </a:rPr>
              <a:t>3</a:t>
            </a:r>
            <a:endParaRPr lang="en-US" altLang="zh-CN" sz="2600" baseline="-25000" dirty="0">
              <a:solidFill>
                <a:schemeClr val="bg2"/>
              </a:solidFill>
              <a:cs typeface="Times New Roman" pitchFamily="18" charset="0"/>
            </a:endParaRPr>
          </a:p>
          <a:p>
            <a:pPr>
              <a:lnSpc>
                <a:spcPct val="110000"/>
              </a:lnSpc>
            </a:pPr>
            <a:r>
              <a:rPr lang="en-US" altLang="zh-CN" sz="2600" dirty="0">
                <a:solidFill>
                  <a:schemeClr val="bg2"/>
                </a:solidFill>
                <a:cs typeface="Times New Roman" pitchFamily="18" charset="0"/>
              </a:rPr>
              <a:t>               </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1</a:t>
            </a:r>
            <a:r>
              <a:rPr lang="en-US" altLang="zh-CN" sz="2600" dirty="0">
                <a:solidFill>
                  <a:schemeClr val="bg2"/>
                </a:solidFill>
                <a:cs typeface="Times New Roman" pitchFamily="18" charset="0"/>
              </a:rPr>
              <a:t>+</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2</a:t>
            </a:r>
            <a:r>
              <a:rPr lang="en-US" altLang="zh-CN" sz="2600" dirty="0">
                <a:solidFill>
                  <a:schemeClr val="bg2"/>
                </a:solidFill>
                <a:cs typeface="Times New Roman" pitchFamily="18" charset="0"/>
              </a:rPr>
              <a:t>+</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3</a:t>
            </a:r>
            <a:r>
              <a:rPr lang="zh-CN" altLang="en-US" sz="2600" dirty="0">
                <a:solidFill>
                  <a:schemeClr val="bg2"/>
                </a:solidFill>
                <a:cs typeface="Times New Roman" pitchFamily="18" charset="0"/>
              </a:rPr>
              <a:t>＝</a:t>
            </a:r>
            <a:r>
              <a:rPr lang="en-US" altLang="zh-CN" sz="2600" dirty="0">
                <a:solidFill>
                  <a:schemeClr val="bg2"/>
                </a:solidFill>
                <a:cs typeface="Times New Roman" pitchFamily="18" charset="0"/>
              </a:rPr>
              <a:t>2</a:t>
            </a:r>
          </a:p>
          <a:p>
            <a:pPr>
              <a:lnSpc>
                <a:spcPct val="110000"/>
              </a:lnSpc>
            </a:pPr>
            <a:r>
              <a:rPr lang="en-US" altLang="zh-CN" sz="2600" dirty="0">
                <a:solidFill>
                  <a:schemeClr val="bg2"/>
                </a:solidFill>
                <a:cs typeface="Times New Roman" pitchFamily="18" charset="0"/>
              </a:rPr>
              <a:t>               </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1</a:t>
            </a:r>
            <a:r>
              <a:rPr lang="en-US" altLang="zh-CN" sz="2600" dirty="0">
                <a:solidFill>
                  <a:schemeClr val="bg2"/>
                </a:solidFill>
                <a:cs typeface="Times New Roman" pitchFamily="18" charset="0"/>
              </a:rPr>
              <a:t>+2</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2</a:t>
            </a:r>
            <a:r>
              <a:rPr lang="en-US" altLang="zh-CN" sz="2600" dirty="0">
                <a:solidFill>
                  <a:schemeClr val="bg2"/>
                </a:solidFill>
                <a:cs typeface="Times New Roman" pitchFamily="18" charset="0"/>
              </a:rPr>
              <a:t>+4</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3</a:t>
            </a:r>
            <a:r>
              <a:rPr lang="zh-CN" altLang="en-US" sz="2600" dirty="0">
                <a:solidFill>
                  <a:schemeClr val="bg2"/>
                </a:solidFill>
                <a:cs typeface="Times New Roman" pitchFamily="18" charset="0"/>
              </a:rPr>
              <a:t>＝</a:t>
            </a:r>
            <a:r>
              <a:rPr lang="en-US" altLang="zh-CN" sz="2600" dirty="0">
                <a:solidFill>
                  <a:schemeClr val="bg2"/>
                </a:solidFill>
                <a:cs typeface="Times New Roman" pitchFamily="18" charset="0"/>
              </a:rPr>
              <a:t>6</a:t>
            </a:r>
          </a:p>
          <a:p>
            <a:pPr>
              <a:lnSpc>
                <a:spcPct val="110000"/>
              </a:lnSpc>
            </a:pPr>
            <a:r>
              <a:rPr lang="en-US" altLang="zh-CN" sz="2600" dirty="0">
                <a:solidFill>
                  <a:schemeClr val="bg2"/>
                </a:solidFill>
                <a:cs typeface="Times New Roman" pitchFamily="18" charset="0"/>
              </a:rPr>
              <a:t>               </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1</a:t>
            </a:r>
            <a:r>
              <a:rPr lang="zh-CN" altLang="en-US" sz="2600" dirty="0">
                <a:solidFill>
                  <a:schemeClr val="bg2"/>
                </a:solidFill>
                <a:cs typeface="Times New Roman" pitchFamily="18" charset="0"/>
              </a:rPr>
              <a:t>，</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2</a:t>
            </a:r>
            <a:r>
              <a:rPr lang="zh-CN" altLang="en-US" sz="2600" dirty="0">
                <a:solidFill>
                  <a:schemeClr val="bg2"/>
                </a:solidFill>
                <a:cs typeface="Times New Roman" pitchFamily="18" charset="0"/>
              </a:rPr>
              <a:t>，</a:t>
            </a:r>
            <a:r>
              <a:rPr lang="en-US" altLang="zh-CN" sz="2600" i="1" dirty="0">
                <a:solidFill>
                  <a:schemeClr val="bg2"/>
                </a:solidFill>
                <a:cs typeface="Times New Roman" pitchFamily="18" charset="0"/>
              </a:rPr>
              <a:t>x</a:t>
            </a:r>
            <a:r>
              <a:rPr lang="en-US" altLang="zh-CN" sz="2600" baseline="-25000" dirty="0">
                <a:solidFill>
                  <a:schemeClr val="bg2"/>
                </a:solidFill>
                <a:cs typeface="Times New Roman" pitchFamily="18" charset="0"/>
              </a:rPr>
              <a:t>3</a:t>
            </a:r>
            <a:r>
              <a:rPr lang="en-US" altLang="zh-CN" sz="2600" dirty="0">
                <a:solidFill>
                  <a:schemeClr val="bg2"/>
                </a:solidFill>
                <a:cs typeface="Times New Roman" pitchFamily="18" charset="0"/>
              </a:rPr>
              <a:t>≥0</a:t>
            </a:r>
            <a:endParaRPr lang="zh-CN" altLang="en-US" sz="2600" dirty="0">
              <a:solidFill>
                <a:schemeClr val="bg2"/>
              </a:solidFill>
              <a:cs typeface="Times New Roman" pitchFamily="18" charset="0"/>
            </a:endParaRPr>
          </a:p>
        </p:txBody>
      </p:sp>
      <p:graphicFrame>
        <p:nvGraphicFramePr>
          <p:cNvPr id="19" name="对象 18"/>
          <p:cNvGraphicFramePr>
            <a:graphicFrameLocks noChangeAspect="1"/>
          </p:cNvGraphicFramePr>
          <p:nvPr>
            <p:extLst>
              <p:ext uri="{D42A27DB-BD31-4B8C-83A1-F6EECF244321}">
                <p14:modId xmlns:p14="http://schemas.microsoft.com/office/powerpoint/2010/main" val="955709604"/>
              </p:ext>
            </p:extLst>
          </p:nvPr>
        </p:nvGraphicFramePr>
        <p:xfrm>
          <a:off x="467544" y="4603403"/>
          <a:ext cx="1450975" cy="985837"/>
        </p:xfrm>
        <a:graphic>
          <a:graphicData uri="http://schemas.openxmlformats.org/presentationml/2006/ole">
            <mc:AlternateContent xmlns:mc="http://schemas.openxmlformats.org/markup-compatibility/2006">
              <mc:Choice xmlns:v="urn:schemas-microsoft-com:vml" Requires="v">
                <p:oleObj spid="_x0000_s9252" name="Equation" r:id="rId7" imgW="672840" imgH="457200" progId="Equation.DSMT4">
                  <p:embed/>
                </p:oleObj>
              </mc:Choice>
              <mc:Fallback>
                <p:oleObj name="Equation" r:id="rId7" imgW="672840" imgH="457200" progId="Equation.DSMT4">
                  <p:embed/>
                  <p:pic>
                    <p:nvPicPr>
                      <p:cNvPr id="0" name=""/>
                      <p:cNvPicPr>
                        <a:picLocks noChangeAspect="1" noChangeArrowheads="1"/>
                      </p:cNvPicPr>
                      <p:nvPr/>
                    </p:nvPicPr>
                    <p:blipFill>
                      <a:blip r:embed="rId8"/>
                      <a:srcRect/>
                      <a:stretch>
                        <a:fillRect/>
                      </a:stretch>
                    </p:blipFill>
                    <p:spPr bwMode="auto">
                      <a:xfrm>
                        <a:off x="467544" y="4603403"/>
                        <a:ext cx="1450975" cy="98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TextBox 19"/>
          <p:cNvSpPr txBox="1"/>
          <p:nvPr/>
        </p:nvSpPr>
        <p:spPr>
          <a:xfrm>
            <a:off x="1915073" y="4053594"/>
            <a:ext cx="2783134" cy="461665"/>
          </a:xfrm>
          <a:prstGeom prst="rect">
            <a:avLst/>
          </a:prstGeom>
          <a:noFill/>
        </p:spPr>
        <p:txBody>
          <a:bodyPr wrap="none" rtlCol="0">
            <a:spAutoFit/>
          </a:bodyPr>
          <a:lstStyle/>
          <a:p>
            <a:r>
              <a:rPr lang="en-US" altLang="zh-CN" i="1" dirty="0" smtClean="0">
                <a:solidFill>
                  <a:schemeClr val="bg2"/>
                </a:solidFill>
              </a:rPr>
              <a:t>B</a:t>
            </a:r>
            <a:r>
              <a:rPr lang="en-US" altLang="zh-CN" baseline="-25000" dirty="0" smtClean="0">
                <a:solidFill>
                  <a:schemeClr val="bg2"/>
                </a:solidFill>
              </a:rPr>
              <a:t>3</a:t>
            </a:r>
            <a:r>
              <a:rPr lang="zh-CN" altLang="en-US" dirty="0">
                <a:solidFill>
                  <a:schemeClr val="bg2"/>
                </a:solidFill>
              </a:rPr>
              <a:t>基变量  非基变量</a:t>
            </a:r>
          </a:p>
        </p:txBody>
      </p:sp>
      <p:graphicFrame>
        <p:nvGraphicFramePr>
          <p:cNvPr id="21" name="对象 20"/>
          <p:cNvGraphicFramePr>
            <a:graphicFrameLocks noChangeAspect="1"/>
          </p:cNvGraphicFramePr>
          <p:nvPr>
            <p:extLst>
              <p:ext uri="{D42A27DB-BD31-4B8C-83A1-F6EECF244321}">
                <p14:modId xmlns:p14="http://schemas.microsoft.com/office/powerpoint/2010/main" val="709199739"/>
              </p:ext>
            </p:extLst>
          </p:nvPr>
        </p:nvGraphicFramePr>
        <p:xfrm>
          <a:off x="2281263" y="4619848"/>
          <a:ext cx="1668462" cy="1041400"/>
        </p:xfrm>
        <a:graphic>
          <a:graphicData uri="http://schemas.openxmlformats.org/presentationml/2006/ole">
            <mc:AlternateContent xmlns:mc="http://schemas.openxmlformats.org/markup-compatibility/2006">
              <mc:Choice xmlns:v="urn:schemas-microsoft-com:vml" Requires="v">
                <p:oleObj spid="_x0000_s9253" name="Equation" r:id="rId9" imgW="774360" imgH="482400" progId="Equation.DSMT4">
                  <p:embed/>
                </p:oleObj>
              </mc:Choice>
              <mc:Fallback>
                <p:oleObj name="Equation" r:id="rId9" imgW="774360" imgH="482400" progId="Equation.DSMT4">
                  <p:embed/>
                  <p:pic>
                    <p:nvPicPr>
                      <p:cNvPr id="0" name=""/>
                      <p:cNvPicPr>
                        <a:picLocks noChangeAspect="1" noChangeArrowheads="1"/>
                      </p:cNvPicPr>
                      <p:nvPr/>
                    </p:nvPicPr>
                    <p:blipFill>
                      <a:blip r:embed="rId10"/>
                      <a:srcRect/>
                      <a:stretch>
                        <a:fillRect/>
                      </a:stretch>
                    </p:blipFill>
                    <p:spPr bwMode="auto">
                      <a:xfrm>
                        <a:off x="2281263" y="4619848"/>
                        <a:ext cx="1668462"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矩形 21"/>
          <p:cNvSpPr/>
          <p:nvPr/>
        </p:nvSpPr>
        <p:spPr>
          <a:xfrm>
            <a:off x="5007543" y="4221088"/>
            <a:ext cx="2667352" cy="1052596"/>
          </a:xfrm>
          <a:prstGeom prst="rect">
            <a:avLst/>
          </a:prstGeom>
        </p:spPr>
        <p:txBody>
          <a:bodyPr wrap="square">
            <a:spAutoFit/>
          </a:bodyPr>
          <a:lstStyle/>
          <a:p>
            <a:pPr>
              <a:lnSpc>
                <a:spcPct val="130000"/>
              </a:lnSpc>
            </a:pPr>
            <a:r>
              <a:rPr lang="en-US" altLang="zh-CN" dirty="0">
                <a:solidFill>
                  <a:schemeClr val="bg2"/>
                </a:solidFill>
                <a:cs typeface="Times New Roman" pitchFamily="18" charset="0"/>
              </a:rPr>
              <a:t> </a:t>
            </a:r>
            <a:r>
              <a:rPr lang="en-US" altLang="zh-CN" b="1" dirty="0" smtClean="0">
                <a:solidFill>
                  <a:srgbClr val="FF0000"/>
                </a:solidFill>
                <a:cs typeface="Times New Roman" pitchFamily="18" charset="0"/>
              </a:rPr>
              <a:t>0</a:t>
            </a:r>
            <a:r>
              <a:rPr lang="en-US" altLang="zh-CN" dirty="0" smtClean="0">
                <a:solidFill>
                  <a:schemeClr val="bg2"/>
                </a:solidFill>
                <a:cs typeface="Times New Roman" pitchFamily="18" charset="0"/>
              </a:rPr>
              <a:t>+  </a:t>
            </a:r>
            <a:r>
              <a:rPr lang="en-US" altLang="zh-CN" i="1" dirty="0" smtClean="0">
                <a:solidFill>
                  <a:schemeClr val="bg2"/>
                </a:solidFill>
                <a:cs typeface="Times New Roman" pitchFamily="18" charset="0"/>
              </a:rPr>
              <a:t>x</a:t>
            </a:r>
            <a:r>
              <a:rPr lang="en-US" altLang="zh-CN" baseline="-25000" dirty="0" smtClean="0">
                <a:solidFill>
                  <a:schemeClr val="bg2"/>
                </a:solidFill>
                <a:cs typeface="Times New Roman" pitchFamily="18" charset="0"/>
              </a:rPr>
              <a:t>2 </a:t>
            </a:r>
            <a:r>
              <a:rPr lang="en-US" altLang="zh-CN" dirty="0" smtClean="0">
                <a:solidFill>
                  <a:schemeClr val="bg2"/>
                </a:solidFill>
                <a:cs typeface="Times New Roman" pitchFamily="18" charset="0"/>
              </a:rPr>
              <a:t>+ </a:t>
            </a:r>
            <a:r>
              <a:rPr lang="en-US" altLang="zh-CN" i="1" dirty="0" smtClean="0">
                <a:solidFill>
                  <a:schemeClr val="bg2"/>
                </a:solidFill>
                <a:cs typeface="Times New Roman" pitchFamily="18" charset="0"/>
              </a:rPr>
              <a:t>x</a:t>
            </a:r>
            <a:r>
              <a:rPr lang="en-US" altLang="zh-CN" baseline="-25000" dirty="0" smtClean="0">
                <a:solidFill>
                  <a:schemeClr val="bg2"/>
                </a:solidFill>
                <a:cs typeface="Times New Roman" pitchFamily="18" charset="0"/>
              </a:rPr>
              <a:t>3</a:t>
            </a:r>
            <a:r>
              <a:rPr lang="zh-CN" altLang="en-US" dirty="0" smtClean="0">
                <a:solidFill>
                  <a:schemeClr val="bg2"/>
                </a:solidFill>
                <a:cs typeface="Times New Roman" pitchFamily="18" charset="0"/>
              </a:rPr>
              <a:t>＝</a:t>
            </a:r>
            <a:r>
              <a:rPr lang="en-US" altLang="zh-CN" dirty="0">
                <a:solidFill>
                  <a:schemeClr val="bg2"/>
                </a:solidFill>
                <a:cs typeface="Times New Roman" pitchFamily="18" charset="0"/>
              </a:rPr>
              <a:t>2</a:t>
            </a:r>
          </a:p>
          <a:p>
            <a:pPr>
              <a:lnSpc>
                <a:spcPct val="130000"/>
              </a:lnSpc>
            </a:pPr>
            <a:r>
              <a:rPr lang="en-US" altLang="zh-CN" dirty="0">
                <a:solidFill>
                  <a:schemeClr val="bg2"/>
                </a:solidFill>
                <a:cs typeface="Times New Roman" pitchFamily="18" charset="0"/>
              </a:rPr>
              <a:t> </a:t>
            </a:r>
            <a:r>
              <a:rPr lang="en-US" altLang="zh-CN" b="1" dirty="0" smtClean="0">
                <a:solidFill>
                  <a:srgbClr val="FF0000"/>
                </a:solidFill>
                <a:cs typeface="Times New Roman" pitchFamily="18" charset="0"/>
              </a:rPr>
              <a:t>0</a:t>
            </a:r>
            <a:r>
              <a:rPr lang="en-US" altLang="zh-CN" dirty="0" smtClean="0">
                <a:solidFill>
                  <a:schemeClr val="bg2"/>
                </a:solidFill>
                <a:cs typeface="Times New Roman" pitchFamily="18" charset="0"/>
              </a:rPr>
              <a:t>+2</a:t>
            </a:r>
            <a:r>
              <a:rPr lang="en-US" altLang="zh-CN" i="1" dirty="0" smtClean="0">
                <a:solidFill>
                  <a:schemeClr val="bg2"/>
                </a:solidFill>
                <a:cs typeface="Times New Roman" pitchFamily="18" charset="0"/>
              </a:rPr>
              <a:t>x</a:t>
            </a:r>
            <a:r>
              <a:rPr lang="en-US" altLang="zh-CN" baseline="-25000" dirty="0" smtClean="0">
                <a:solidFill>
                  <a:schemeClr val="bg2"/>
                </a:solidFill>
                <a:cs typeface="Times New Roman" pitchFamily="18" charset="0"/>
              </a:rPr>
              <a:t>2</a:t>
            </a:r>
            <a:r>
              <a:rPr lang="en-US" altLang="zh-CN" dirty="0" smtClean="0">
                <a:solidFill>
                  <a:schemeClr val="bg2"/>
                </a:solidFill>
                <a:cs typeface="Times New Roman" pitchFamily="18" charset="0"/>
              </a:rPr>
              <a:t>+4</a:t>
            </a:r>
            <a:r>
              <a:rPr lang="en-US" altLang="zh-CN" i="1" dirty="0" smtClean="0">
                <a:solidFill>
                  <a:schemeClr val="bg2"/>
                </a:solidFill>
                <a:cs typeface="Times New Roman" pitchFamily="18" charset="0"/>
              </a:rPr>
              <a:t>x</a:t>
            </a:r>
            <a:r>
              <a:rPr lang="en-US" altLang="zh-CN" baseline="-25000" dirty="0" smtClean="0">
                <a:solidFill>
                  <a:schemeClr val="bg2"/>
                </a:solidFill>
                <a:cs typeface="Times New Roman" pitchFamily="18" charset="0"/>
              </a:rPr>
              <a:t>3</a:t>
            </a:r>
            <a:r>
              <a:rPr lang="zh-CN" altLang="en-US" dirty="0" smtClean="0">
                <a:solidFill>
                  <a:schemeClr val="bg2"/>
                </a:solidFill>
                <a:cs typeface="Times New Roman" pitchFamily="18" charset="0"/>
              </a:rPr>
              <a:t>＝</a:t>
            </a:r>
            <a:r>
              <a:rPr lang="en-US" altLang="zh-CN" dirty="0" smtClean="0">
                <a:solidFill>
                  <a:schemeClr val="bg2"/>
                </a:solidFill>
                <a:cs typeface="Times New Roman" pitchFamily="18" charset="0"/>
              </a:rPr>
              <a:t>6</a:t>
            </a:r>
          </a:p>
        </p:txBody>
      </p:sp>
      <p:sp>
        <p:nvSpPr>
          <p:cNvPr id="23" name="矩形 22"/>
          <p:cNvSpPr/>
          <p:nvPr/>
        </p:nvSpPr>
        <p:spPr>
          <a:xfrm>
            <a:off x="4834854" y="5301208"/>
            <a:ext cx="3570208" cy="904863"/>
          </a:xfrm>
          <a:prstGeom prst="rect">
            <a:avLst/>
          </a:prstGeom>
          <a:solidFill>
            <a:schemeClr val="tx1"/>
          </a:solidFill>
        </p:spPr>
        <p:txBody>
          <a:bodyPr wrap="none">
            <a:spAutoFit/>
          </a:bodyPr>
          <a:lstStyle/>
          <a:p>
            <a:pPr eaLnBrk="1" hangingPunct="1">
              <a:lnSpc>
                <a:spcPct val="110000"/>
              </a:lnSpc>
            </a:pPr>
            <a:r>
              <a:rPr lang="zh-CN" altLang="en-US" dirty="0">
                <a:solidFill>
                  <a:schemeClr val="bg2"/>
                </a:solidFill>
                <a:cs typeface="Times New Roman" pitchFamily="18" charset="0"/>
              </a:rPr>
              <a:t>基解</a:t>
            </a:r>
            <a:r>
              <a:rPr lang="zh-CN" altLang="en-US" dirty="0" smtClean="0">
                <a:solidFill>
                  <a:schemeClr val="bg2"/>
                </a:solidFill>
                <a:cs typeface="Times New Roman" pitchFamily="18" charset="0"/>
              </a:rPr>
              <a:t>（</a:t>
            </a:r>
            <a:r>
              <a:rPr lang="en-US" altLang="zh-CN" dirty="0" smtClean="0">
                <a:solidFill>
                  <a:schemeClr val="bg2"/>
                </a:solidFill>
                <a:cs typeface="Times New Roman" pitchFamily="18" charset="0"/>
              </a:rPr>
              <a:t>0,1,1</a:t>
            </a:r>
            <a:r>
              <a:rPr lang="zh-CN" altLang="en-US" dirty="0" smtClean="0">
                <a:solidFill>
                  <a:schemeClr val="bg2"/>
                </a:solidFill>
                <a:cs typeface="Times New Roman" pitchFamily="18" charset="0"/>
              </a:rPr>
              <a:t>），是可行解</a:t>
            </a:r>
            <a:endParaRPr lang="en-US" altLang="zh-CN" dirty="0" smtClean="0">
              <a:solidFill>
                <a:schemeClr val="bg2"/>
              </a:solidFill>
              <a:cs typeface="Times New Roman" pitchFamily="18" charset="0"/>
            </a:endParaRPr>
          </a:p>
          <a:p>
            <a:pPr eaLnBrk="1" hangingPunct="1">
              <a:lnSpc>
                <a:spcPct val="110000"/>
              </a:lnSpc>
            </a:pPr>
            <a:r>
              <a:rPr lang="en-US" altLang="zh-CN" i="1" dirty="0" smtClean="0">
                <a:solidFill>
                  <a:schemeClr val="bg2"/>
                </a:solidFill>
                <a:cs typeface="Times New Roman" pitchFamily="18" charset="0"/>
              </a:rPr>
              <a:t>z</a:t>
            </a:r>
            <a:r>
              <a:rPr lang="en-US" altLang="zh-CN" dirty="0" smtClean="0">
                <a:solidFill>
                  <a:schemeClr val="bg2"/>
                </a:solidFill>
                <a:cs typeface="Times New Roman" pitchFamily="18" charset="0"/>
              </a:rPr>
              <a:t>=4</a:t>
            </a:r>
            <a:endParaRPr lang="en-US" altLang="zh-CN" dirty="0">
              <a:solidFill>
                <a:schemeClr val="bg2"/>
              </a:solidFill>
              <a:cs typeface="Times New Roman" pitchFamily="18" charset="0"/>
            </a:endParaRPr>
          </a:p>
        </p:txBody>
      </p:sp>
      <p:sp>
        <p:nvSpPr>
          <p:cNvPr id="4" name="TextBox 3"/>
          <p:cNvSpPr txBox="1"/>
          <p:nvPr/>
        </p:nvSpPr>
        <p:spPr>
          <a:xfrm>
            <a:off x="7297066" y="4515259"/>
            <a:ext cx="1107996" cy="461665"/>
          </a:xfrm>
          <a:prstGeom prst="rect">
            <a:avLst/>
          </a:prstGeom>
          <a:noFill/>
        </p:spPr>
        <p:txBody>
          <a:bodyPr wrap="none" rtlCol="0">
            <a:spAutoFit/>
          </a:bodyPr>
          <a:lstStyle/>
          <a:p>
            <a:r>
              <a:rPr lang="zh-CN" altLang="en-US" b="1" dirty="0" smtClean="0">
                <a:solidFill>
                  <a:srgbClr val="FF0000"/>
                </a:solidFill>
              </a:rPr>
              <a:t>最优解</a:t>
            </a:r>
            <a:endParaRPr lang="zh-CN" altLang="en-US" b="1" dirty="0">
              <a:solidFill>
                <a:srgbClr val="FF0000"/>
              </a:solidFill>
            </a:endParaRPr>
          </a:p>
        </p:txBody>
      </p:sp>
    </p:spTree>
    <p:extLst>
      <p:ext uri="{BB962C8B-B14F-4D97-AF65-F5344CB8AC3E}">
        <p14:creationId xmlns:p14="http://schemas.microsoft.com/office/powerpoint/2010/main" val="13243380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left)">
                                      <p:cBhvr>
                                        <p:cTn id="10" dur="500"/>
                                        <p:tgtEl>
                                          <p:spTgt spid="15"/>
                                        </p:tgtEl>
                                      </p:cBhvr>
                                    </p:animEffect>
                                  </p:childTnLst>
                                </p:cTn>
                              </p:par>
                              <p:par>
                                <p:cTn id="11" presetID="22" presetClass="entr" presetSubtype="8"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500"/>
                                        <p:tgtEl>
                                          <p:spTgt spid="20"/>
                                        </p:tgtEl>
                                      </p:cBhvr>
                                    </p:animEffect>
                                  </p:childTnLst>
                                </p:cTn>
                              </p:par>
                              <p:par>
                                <p:cTn id="32" presetID="22" presetClass="entr" presetSubtype="8"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left)">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wipe(left)">
                                      <p:cBhvr>
                                        <p:cTn id="44"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wipe(left)">
                                      <p:cBhvr>
                                        <p:cTn id="4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2" grpId="0"/>
      <p:bldP spid="20" grpId="0"/>
      <p:bldP spid="22" grpId="0"/>
      <p:bldP spid="23" grpId="0" animBg="1"/>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800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dirty="0">
                <a:solidFill>
                  <a:schemeClr val="accent2"/>
                </a:solidFill>
                <a:sym typeface="+mn-ea"/>
              </a:rPr>
              <a:t>6.2 </a:t>
            </a:r>
            <a:r>
              <a:rPr kumimoji="0" lang="zh-CN" altLang="en-US" dirty="0">
                <a:solidFill>
                  <a:schemeClr val="accent2"/>
                </a:solidFill>
                <a:sym typeface="+mn-ea"/>
              </a:rPr>
              <a:t>标准形</a:t>
            </a:r>
          </a:p>
        </p:txBody>
      </p:sp>
      <p:sp>
        <p:nvSpPr>
          <p:cNvPr id="3" name="矩形 2"/>
          <p:cNvSpPr/>
          <p:nvPr/>
        </p:nvSpPr>
        <p:spPr>
          <a:xfrm>
            <a:off x="508000" y="1628800"/>
            <a:ext cx="8312472" cy="4893647"/>
          </a:xfrm>
          <a:prstGeom prst="rect">
            <a:avLst/>
          </a:prstGeom>
          <a:solidFill>
            <a:schemeClr val="tx1"/>
          </a:solidFill>
        </p:spPr>
        <p:txBody>
          <a:bodyPr wrap="square">
            <a:spAutoFit/>
          </a:bodyPr>
          <a:lstStyle/>
          <a:p>
            <a:pPr marL="342900" indent="-342900" eaLnBrk="1" hangingPunct="1">
              <a:lnSpc>
                <a:spcPct val="130000"/>
              </a:lnSpc>
              <a:buFont typeface="Wingdings" pitchFamily="2" charset="2"/>
              <a:buChar char="Ø"/>
            </a:pPr>
            <a:r>
              <a:rPr lang="zh-CN" altLang="en-US" kern="0" dirty="0" smtClean="0">
                <a:solidFill>
                  <a:schemeClr val="bg2"/>
                </a:solidFill>
                <a:sym typeface="+mn-ea"/>
              </a:rPr>
              <a:t>线性规划模型求解过程</a:t>
            </a:r>
            <a:endParaRPr lang="en-US" altLang="zh-CN" kern="0" dirty="0" smtClean="0">
              <a:solidFill>
                <a:schemeClr val="bg2"/>
              </a:solidFill>
              <a:sym typeface="+mn-ea"/>
            </a:endParaRPr>
          </a:p>
          <a:p>
            <a:pPr eaLnBrk="1" hangingPunct="1">
              <a:lnSpc>
                <a:spcPct val="130000"/>
              </a:lnSpc>
            </a:pPr>
            <a:r>
              <a:rPr lang="zh-CN" altLang="en-US" kern="0" dirty="0" smtClean="0">
                <a:solidFill>
                  <a:schemeClr val="bg2"/>
                </a:solidFill>
                <a:sym typeface="+mn-ea"/>
              </a:rPr>
              <a:t>（</a:t>
            </a:r>
            <a:r>
              <a:rPr lang="en-US" altLang="zh-CN" kern="0" dirty="0" smtClean="0">
                <a:solidFill>
                  <a:schemeClr val="bg2"/>
                </a:solidFill>
                <a:sym typeface="+mn-ea"/>
              </a:rPr>
              <a:t>1</a:t>
            </a:r>
            <a:r>
              <a:rPr lang="zh-CN" altLang="en-US" kern="0" dirty="0" smtClean="0">
                <a:solidFill>
                  <a:schemeClr val="bg2"/>
                </a:solidFill>
                <a:sym typeface="+mn-ea"/>
              </a:rPr>
              <a:t>）线性规划模型转成标准形（</a:t>
            </a:r>
            <a:r>
              <a:rPr lang="en-US" altLang="zh-CN" i="1" kern="0" dirty="0" smtClean="0">
                <a:solidFill>
                  <a:schemeClr val="bg2"/>
                </a:solidFill>
                <a:sym typeface="+mn-ea"/>
              </a:rPr>
              <a:t>n</a:t>
            </a:r>
            <a:r>
              <a:rPr lang="zh-CN" altLang="en-US" kern="0" dirty="0" smtClean="0">
                <a:solidFill>
                  <a:schemeClr val="bg2"/>
                </a:solidFill>
                <a:sym typeface="+mn-ea"/>
              </a:rPr>
              <a:t>个变量、</a:t>
            </a:r>
            <a:r>
              <a:rPr lang="en-US" altLang="zh-CN" i="1" kern="0" dirty="0" smtClean="0">
                <a:solidFill>
                  <a:schemeClr val="bg2"/>
                </a:solidFill>
                <a:sym typeface="+mn-ea"/>
              </a:rPr>
              <a:t>m</a:t>
            </a:r>
            <a:r>
              <a:rPr lang="zh-CN" altLang="en-US" kern="0" dirty="0" smtClean="0">
                <a:solidFill>
                  <a:schemeClr val="bg2"/>
                </a:solidFill>
                <a:sym typeface="+mn-ea"/>
              </a:rPr>
              <a:t>个约束行）</a:t>
            </a:r>
            <a:endParaRPr lang="en-US" altLang="zh-CN" kern="0" dirty="0" smtClean="0">
              <a:solidFill>
                <a:schemeClr val="bg2"/>
              </a:solidFill>
              <a:sym typeface="+mn-ea"/>
            </a:endParaRPr>
          </a:p>
          <a:p>
            <a:pPr eaLnBrk="1" hangingPunct="1">
              <a:lnSpc>
                <a:spcPct val="130000"/>
              </a:lnSpc>
            </a:pPr>
            <a:r>
              <a:rPr lang="zh-CN" altLang="en-US" kern="0" dirty="0" smtClean="0">
                <a:solidFill>
                  <a:schemeClr val="bg2"/>
                </a:solidFill>
                <a:sym typeface="+mn-ea"/>
              </a:rPr>
              <a:t>（</a:t>
            </a:r>
            <a:r>
              <a:rPr lang="en-US" altLang="zh-CN" kern="0" dirty="0" smtClean="0">
                <a:solidFill>
                  <a:schemeClr val="bg2"/>
                </a:solidFill>
                <a:sym typeface="+mn-ea"/>
              </a:rPr>
              <a:t>2</a:t>
            </a:r>
            <a:r>
              <a:rPr lang="zh-CN" altLang="en-US" kern="0" dirty="0" smtClean="0">
                <a:solidFill>
                  <a:schemeClr val="bg2"/>
                </a:solidFill>
                <a:sym typeface="+mn-ea"/>
              </a:rPr>
              <a:t>）从</a:t>
            </a:r>
            <a:r>
              <a:rPr lang="en-US" altLang="zh-CN" i="1" kern="0" dirty="0" smtClean="0">
                <a:solidFill>
                  <a:schemeClr val="bg2"/>
                </a:solidFill>
                <a:sym typeface="+mn-ea"/>
              </a:rPr>
              <a:t>n</a:t>
            </a:r>
            <a:r>
              <a:rPr lang="zh-CN" altLang="en-US" kern="0" dirty="0" smtClean="0">
                <a:solidFill>
                  <a:schemeClr val="bg2"/>
                </a:solidFill>
                <a:sym typeface="+mn-ea"/>
              </a:rPr>
              <a:t>个列向量中选出</a:t>
            </a:r>
            <a:r>
              <a:rPr lang="en-US" altLang="zh-CN" i="1" kern="0" dirty="0" smtClean="0">
                <a:solidFill>
                  <a:schemeClr val="bg2"/>
                </a:solidFill>
                <a:sym typeface="+mn-ea"/>
              </a:rPr>
              <a:t>m</a:t>
            </a:r>
            <a:r>
              <a:rPr lang="zh-CN" altLang="en-US" kern="0" dirty="0" smtClean="0">
                <a:solidFill>
                  <a:schemeClr val="bg2"/>
                </a:solidFill>
                <a:sym typeface="+mn-ea"/>
              </a:rPr>
              <a:t>个列向量作为标准形的基</a:t>
            </a:r>
            <a:r>
              <a:rPr lang="en-US" altLang="zh-CN" i="1" kern="0" dirty="0" smtClean="0">
                <a:solidFill>
                  <a:schemeClr val="bg2"/>
                </a:solidFill>
                <a:sym typeface="+mn-ea"/>
              </a:rPr>
              <a:t>B</a:t>
            </a:r>
            <a:r>
              <a:rPr lang="zh-CN" altLang="en-US" kern="0" dirty="0" smtClean="0">
                <a:solidFill>
                  <a:schemeClr val="bg2"/>
                </a:solidFill>
                <a:sym typeface="+mn-ea"/>
              </a:rPr>
              <a:t>，共</a:t>
            </a:r>
            <a:r>
              <a:rPr lang="en-US" altLang="zh-CN" i="1" kern="0" dirty="0" err="1" smtClean="0">
                <a:solidFill>
                  <a:schemeClr val="bg2"/>
                </a:solidFill>
                <a:sym typeface="+mn-ea"/>
              </a:rPr>
              <a:t>C</a:t>
            </a:r>
            <a:r>
              <a:rPr lang="en-US" altLang="zh-CN" i="1" kern="0" baseline="-25000" dirty="0" err="1" smtClean="0">
                <a:solidFill>
                  <a:schemeClr val="bg2"/>
                </a:solidFill>
                <a:sym typeface="+mn-ea"/>
              </a:rPr>
              <a:t>n</a:t>
            </a:r>
            <a:r>
              <a:rPr lang="en-US" altLang="zh-CN" i="1" kern="0" baseline="30000" dirty="0" err="1" smtClean="0">
                <a:solidFill>
                  <a:schemeClr val="bg2"/>
                </a:solidFill>
                <a:sym typeface="+mn-ea"/>
              </a:rPr>
              <a:t>m</a:t>
            </a:r>
            <a:r>
              <a:rPr lang="zh-CN" altLang="en-US" kern="0" dirty="0" smtClean="0">
                <a:solidFill>
                  <a:schemeClr val="bg2"/>
                </a:solidFill>
                <a:sym typeface="+mn-ea"/>
              </a:rPr>
              <a:t>个基。</a:t>
            </a:r>
            <a:endParaRPr lang="en-US" altLang="zh-CN" kern="0" dirty="0" smtClean="0">
              <a:solidFill>
                <a:schemeClr val="bg2"/>
              </a:solidFill>
              <a:sym typeface="+mn-ea"/>
            </a:endParaRPr>
          </a:p>
          <a:p>
            <a:pPr eaLnBrk="1" hangingPunct="1">
              <a:lnSpc>
                <a:spcPct val="130000"/>
              </a:lnSpc>
            </a:pPr>
            <a:r>
              <a:rPr lang="zh-CN" altLang="en-US" kern="0" dirty="0" smtClean="0">
                <a:solidFill>
                  <a:schemeClr val="bg2"/>
                </a:solidFill>
                <a:sym typeface="+mn-ea"/>
              </a:rPr>
              <a:t>（</a:t>
            </a:r>
            <a:r>
              <a:rPr lang="en-US" altLang="zh-CN" kern="0" dirty="0">
                <a:solidFill>
                  <a:schemeClr val="bg2"/>
                </a:solidFill>
                <a:sym typeface="+mn-ea"/>
              </a:rPr>
              <a:t>3</a:t>
            </a:r>
            <a:r>
              <a:rPr lang="zh-CN" altLang="en-US" kern="0" dirty="0" smtClean="0">
                <a:solidFill>
                  <a:schemeClr val="bg2"/>
                </a:solidFill>
                <a:sym typeface="+mn-ea"/>
              </a:rPr>
              <a:t>）给出每个基的基变量</a:t>
            </a:r>
            <a:r>
              <a:rPr lang="en-US" altLang="zh-CN" b="1" i="1" kern="0" dirty="0" smtClean="0">
                <a:solidFill>
                  <a:schemeClr val="bg2"/>
                </a:solidFill>
                <a:sym typeface="+mn-ea"/>
              </a:rPr>
              <a:t>X</a:t>
            </a:r>
            <a:r>
              <a:rPr lang="en-US" altLang="zh-CN" b="1" i="1" kern="0" baseline="-25000" dirty="0" smtClean="0">
                <a:solidFill>
                  <a:schemeClr val="bg2"/>
                </a:solidFill>
                <a:sym typeface="+mn-ea"/>
              </a:rPr>
              <a:t>B</a:t>
            </a:r>
            <a:r>
              <a:rPr lang="zh-CN" altLang="en-US" kern="0" dirty="0" smtClean="0">
                <a:solidFill>
                  <a:schemeClr val="bg2"/>
                </a:solidFill>
                <a:sym typeface="+mn-ea"/>
              </a:rPr>
              <a:t>和非基变量</a:t>
            </a:r>
            <a:r>
              <a:rPr lang="en-US" altLang="zh-CN" b="1" i="1" kern="0" dirty="0" smtClean="0">
                <a:solidFill>
                  <a:schemeClr val="bg2"/>
                </a:solidFill>
                <a:sym typeface="+mn-ea"/>
              </a:rPr>
              <a:t>X</a:t>
            </a:r>
            <a:r>
              <a:rPr lang="en-US" altLang="zh-CN" b="1" i="1" kern="0" baseline="-25000" dirty="0" smtClean="0">
                <a:solidFill>
                  <a:schemeClr val="bg2"/>
                </a:solidFill>
                <a:sym typeface="+mn-ea"/>
              </a:rPr>
              <a:t>N </a:t>
            </a:r>
            <a:r>
              <a:rPr lang="zh-CN" altLang="en-US" kern="0" dirty="0" smtClean="0">
                <a:solidFill>
                  <a:schemeClr val="bg2"/>
                </a:solidFill>
                <a:sym typeface="+mn-ea"/>
              </a:rPr>
              <a:t>。</a:t>
            </a:r>
            <a:endParaRPr lang="en-US" altLang="zh-CN" kern="0" dirty="0" smtClean="0">
              <a:solidFill>
                <a:schemeClr val="bg2"/>
              </a:solidFill>
              <a:sym typeface="+mn-ea"/>
            </a:endParaRPr>
          </a:p>
          <a:p>
            <a:pPr eaLnBrk="1" hangingPunct="1">
              <a:lnSpc>
                <a:spcPct val="130000"/>
              </a:lnSpc>
            </a:pPr>
            <a:r>
              <a:rPr lang="zh-CN" altLang="en-US" kern="0" dirty="0" smtClean="0">
                <a:solidFill>
                  <a:schemeClr val="bg2"/>
                </a:solidFill>
                <a:sym typeface="+mn-ea"/>
              </a:rPr>
              <a:t>（</a:t>
            </a:r>
            <a:r>
              <a:rPr lang="en-US" altLang="zh-CN" kern="0" dirty="0" smtClean="0">
                <a:solidFill>
                  <a:schemeClr val="bg2"/>
                </a:solidFill>
                <a:sym typeface="+mn-ea"/>
              </a:rPr>
              <a:t>4</a:t>
            </a:r>
            <a:r>
              <a:rPr lang="zh-CN" altLang="en-US" kern="0" dirty="0" smtClean="0">
                <a:solidFill>
                  <a:schemeClr val="bg2"/>
                </a:solidFill>
                <a:sym typeface="+mn-ea"/>
              </a:rPr>
              <a:t>）非基变量</a:t>
            </a:r>
            <a:r>
              <a:rPr lang="en-US" altLang="zh-CN" b="1" i="1" kern="0" dirty="0">
                <a:solidFill>
                  <a:schemeClr val="bg2"/>
                </a:solidFill>
                <a:sym typeface="+mn-ea"/>
              </a:rPr>
              <a:t>X</a:t>
            </a:r>
            <a:r>
              <a:rPr lang="en-US" altLang="zh-CN" b="1" i="1" kern="0" baseline="-25000" dirty="0">
                <a:solidFill>
                  <a:schemeClr val="bg2"/>
                </a:solidFill>
                <a:sym typeface="+mn-ea"/>
              </a:rPr>
              <a:t>N</a:t>
            </a:r>
            <a:r>
              <a:rPr lang="en-US" altLang="zh-CN" kern="0" dirty="0">
                <a:solidFill>
                  <a:schemeClr val="bg2"/>
                </a:solidFill>
                <a:sym typeface="+mn-ea"/>
              </a:rPr>
              <a:t> </a:t>
            </a:r>
            <a:r>
              <a:rPr lang="zh-CN" altLang="en-US" kern="0" dirty="0" smtClean="0">
                <a:solidFill>
                  <a:schemeClr val="bg2"/>
                </a:solidFill>
                <a:sym typeface="+mn-ea"/>
              </a:rPr>
              <a:t>取</a:t>
            </a:r>
            <a:r>
              <a:rPr lang="en-US" altLang="zh-CN" kern="0" dirty="0" smtClean="0">
                <a:solidFill>
                  <a:schemeClr val="bg2"/>
                </a:solidFill>
                <a:sym typeface="+mn-ea"/>
              </a:rPr>
              <a:t>0</a:t>
            </a:r>
            <a:r>
              <a:rPr lang="zh-CN" altLang="en-US" kern="0" dirty="0" smtClean="0">
                <a:solidFill>
                  <a:schemeClr val="bg2"/>
                </a:solidFill>
                <a:sym typeface="+mn-ea"/>
              </a:rPr>
              <a:t>。</a:t>
            </a:r>
            <a:endParaRPr lang="en-US" altLang="zh-CN" kern="0" dirty="0" smtClean="0">
              <a:solidFill>
                <a:schemeClr val="bg2"/>
              </a:solidFill>
              <a:sym typeface="+mn-ea"/>
            </a:endParaRPr>
          </a:p>
          <a:p>
            <a:pPr eaLnBrk="1" hangingPunct="1">
              <a:lnSpc>
                <a:spcPct val="130000"/>
              </a:lnSpc>
            </a:pPr>
            <a:r>
              <a:rPr lang="zh-CN" altLang="en-US" kern="0" dirty="0" smtClean="0">
                <a:solidFill>
                  <a:schemeClr val="bg2"/>
                </a:solidFill>
                <a:sym typeface="+mn-ea"/>
              </a:rPr>
              <a:t>（</a:t>
            </a:r>
            <a:r>
              <a:rPr lang="en-US" altLang="zh-CN" kern="0" dirty="0">
                <a:solidFill>
                  <a:schemeClr val="bg2"/>
                </a:solidFill>
                <a:sym typeface="+mn-ea"/>
              </a:rPr>
              <a:t>5</a:t>
            </a:r>
            <a:r>
              <a:rPr lang="zh-CN" altLang="en-US" kern="0" dirty="0" smtClean="0">
                <a:solidFill>
                  <a:schemeClr val="bg2"/>
                </a:solidFill>
                <a:sym typeface="+mn-ea"/>
              </a:rPr>
              <a:t>）将</a:t>
            </a:r>
            <a:r>
              <a:rPr lang="en-US" altLang="zh-CN" b="1" i="1" kern="0" dirty="0" smtClean="0">
                <a:solidFill>
                  <a:schemeClr val="bg2"/>
                </a:solidFill>
                <a:sym typeface="+mn-ea"/>
              </a:rPr>
              <a:t>X</a:t>
            </a:r>
            <a:r>
              <a:rPr lang="en-US" altLang="zh-CN" b="1" i="1" kern="0" baseline="-25000" dirty="0" smtClean="0">
                <a:solidFill>
                  <a:schemeClr val="bg2"/>
                </a:solidFill>
                <a:sym typeface="+mn-ea"/>
              </a:rPr>
              <a:t>B</a:t>
            </a:r>
            <a:r>
              <a:rPr lang="zh-CN" altLang="en-US" kern="0" dirty="0" smtClean="0">
                <a:solidFill>
                  <a:schemeClr val="bg2"/>
                </a:solidFill>
                <a:sym typeface="+mn-ea"/>
              </a:rPr>
              <a:t>和</a:t>
            </a:r>
            <a:r>
              <a:rPr lang="en-US" altLang="zh-CN" b="1" i="1" kern="0" dirty="0" smtClean="0">
                <a:solidFill>
                  <a:schemeClr val="bg2"/>
                </a:solidFill>
                <a:sym typeface="+mn-ea"/>
              </a:rPr>
              <a:t>X</a:t>
            </a:r>
            <a:r>
              <a:rPr lang="en-US" altLang="zh-CN" b="1" i="1" kern="0" baseline="-25000" dirty="0" smtClean="0">
                <a:solidFill>
                  <a:schemeClr val="bg2"/>
                </a:solidFill>
                <a:sym typeface="+mn-ea"/>
              </a:rPr>
              <a:t>N</a:t>
            </a:r>
            <a:r>
              <a:rPr lang="zh-CN" altLang="en-US" kern="0" dirty="0" smtClean="0">
                <a:solidFill>
                  <a:schemeClr val="bg2"/>
                </a:solidFill>
                <a:sym typeface="+mn-ea"/>
              </a:rPr>
              <a:t>带入</a:t>
            </a:r>
            <a:r>
              <a:rPr lang="en-US" altLang="zh-CN" kern="0" dirty="0" smtClean="0">
                <a:solidFill>
                  <a:schemeClr val="bg2"/>
                </a:solidFill>
                <a:sym typeface="+mn-ea"/>
              </a:rPr>
              <a:t>m</a:t>
            </a:r>
            <a:r>
              <a:rPr lang="zh-CN" altLang="en-US" kern="0" dirty="0" smtClean="0">
                <a:solidFill>
                  <a:schemeClr val="bg2"/>
                </a:solidFill>
                <a:sym typeface="+mn-ea"/>
              </a:rPr>
              <a:t>个约束条件中，求解出</a:t>
            </a:r>
            <a:r>
              <a:rPr lang="en-US" altLang="zh-CN" b="1" i="1" kern="0" dirty="0" smtClean="0">
                <a:solidFill>
                  <a:schemeClr val="bg2"/>
                </a:solidFill>
                <a:sym typeface="+mn-ea"/>
              </a:rPr>
              <a:t>X</a:t>
            </a:r>
            <a:r>
              <a:rPr lang="en-US" altLang="zh-CN" b="1" i="1" kern="0" baseline="-25000" dirty="0" smtClean="0">
                <a:solidFill>
                  <a:schemeClr val="bg2"/>
                </a:solidFill>
                <a:sym typeface="+mn-ea"/>
              </a:rPr>
              <a:t>B</a:t>
            </a:r>
            <a:r>
              <a:rPr lang="zh-CN" altLang="en-US" kern="0" dirty="0" smtClean="0">
                <a:solidFill>
                  <a:schemeClr val="bg2"/>
                </a:solidFill>
                <a:sym typeface="+mn-ea"/>
              </a:rPr>
              <a:t>中的数值。</a:t>
            </a:r>
            <a:endParaRPr lang="en-US" altLang="zh-CN" kern="0" dirty="0" smtClean="0">
              <a:solidFill>
                <a:schemeClr val="bg2"/>
              </a:solidFill>
              <a:sym typeface="+mn-ea"/>
            </a:endParaRPr>
          </a:p>
          <a:p>
            <a:pPr eaLnBrk="1" hangingPunct="1">
              <a:lnSpc>
                <a:spcPct val="130000"/>
              </a:lnSpc>
            </a:pPr>
            <a:r>
              <a:rPr lang="zh-CN" altLang="en-US" kern="0" dirty="0" smtClean="0">
                <a:solidFill>
                  <a:schemeClr val="bg2"/>
                </a:solidFill>
                <a:sym typeface="+mn-ea"/>
              </a:rPr>
              <a:t>（</a:t>
            </a:r>
            <a:r>
              <a:rPr lang="en-US" altLang="zh-CN" kern="0" dirty="0" smtClean="0">
                <a:solidFill>
                  <a:schemeClr val="bg2"/>
                </a:solidFill>
                <a:sym typeface="+mn-ea"/>
              </a:rPr>
              <a:t>6</a:t>
            </a:r>
            <a:r>
              <a:rPr lang="zh-CN" altLang="en-US" kern="0" dirty="0" smtClean="0">
                <a:solidFill>
                  <a:schemeClr val="bg2"/>
                </a:solidFill>
                <a:sym typeface="+mn-ea"/>
              </a:rPr>
              <a:t>）</a:t>
            </a:r>
            <a:r>
              <a:rPr lang="en-US" altLang="zh-CN" b="1" i="1" kern="0" dirty="0">
                <a:solidFill>
                  <a:schemeClr val="bg2"/>
                </a:solidFill>
                <a:sym typeface="+mn-ea"/>
              </a:rPr>
              <a:t> </a:t>
            </a:r>
            <a:r>
              <a:rPr lang="en-US" altLang="zh-CN" b="1" i="1" kern="0" dirty="0" smtClean="0">
                <a:solidFill>
                  <a:schemeClr val="bg2"/>
                </a:solidFill>
                <a:sym typeface="+mn-ea"/>
              </a:rPr>
              <a:t>X</a:t>
            </a:r>
            <a:r>
              <a:rPr lang="en-US" altLang="zh-CN" b="1" i="1" kern="0" baseline="-25000" dirty="0" smtClean="0">
                <a:solidFill>
                  <a:schemeClr val="bg2"/>
                </a:solidFill>
                <a:sym typeface="+mn-ea"/>
              </a:rPr>
              <a:t>B</a:t>
            </a:r>
            <a:r>
              <a:rPr lang="en-US" altLang="zh-CN" b="1" i="1" kern="0" dirty="0" smtClean="0">
                <a:solidFill>
                  <a:schemeClr val="bg2"/>
                </a:solidFill>
                <a:sym typeface="+mn-ea"/>
              </a:rPr>
              <a:t>+X</a:t>
            </a:r>
            <a:r>
              <a:rPr lang="en-US" altLang="zh-CN" b="1" i="1" kern="0" baseline="-25000" dirty="0" smtClean="0">
                <a:solidFill>
                  <a:schemeClr val="bg2"/>
                </a:solidFill>
                <a:sym typeface="+mn-ea"/>
              </a:rPr>
              <a:t>N</a:t>
            </a:r>
            <a:r>
              <a:rPr lang="zh-CN" altLang="en-US" kern="0" dirty="0" smtClean="0">
                <a:solidFill>
                  <a:schemeClr val="bg2"/>
                </a:solidFill>
                <a:sym typeface="+mn-ea"/>
              </a:rPr>
              <a:t>为基解。</a:t>
            </a:r>
            <a:endParaRPr lang="en-US" altLang="zh-CN" kern="0" dirty="0" smtClean="0">
              <a:solidFill>
                <a:schemeClr val="bg2"/>
              </a:solidFill>
              <a:sym typeface="+mn-ea"/>
            </a:endParaRPr>
          </a:p>
          <a:p>
            <a:pPr eaLnBrk="1" hangingPunct="1">
              <a:lnSpc>
                <a:spcPct val="130000"/>
              </a:lnSpc>
            </a:pPr>
            <a:r>
              <a:rPr lang="zh-CN" altLang="en-US" kern="0" dirty="0" smtClean="0">
                <a:solidFill>
                  <a:schemeClr val="bg2"/>
                </a:solidFill>
                <a:sym typeface="+mn-ea"/>
              </a:rPr>
              <a:t>（</a:t>
            </a:r>
            <a:r>
              <a:rPr lang="en-US" altLang="zh-CN" kern="0" dirty="0" smtClean="0">
                <a:solidFill>
                  <a:schemeClr val="bg2"/>
                </a:solidFill>
                <a:sym typeface="+mn-ea"/>
              </a:rPr>
              <a:t>7</a:t>
            </a:r>
            <a:r>
              <a:rPr lang="zh-CN" altLang="en-US" kern="0" dirty="0" smtClean="0">
                <a:solidFill>
                  <a:schemeClr val="bg2"/>
                </a:solidFill>
                <a:sym typeface="+mn-ea"/>
              </a:rPr>
              <a:t>）若</a:t>
            </a:r>
            <a:r>
              <a:rPr lang="en-US" altLang="zh-CN" b="1" i="1" kern="0" dirty="0">
                <a:solidFill>
                  <a:schemeClr val="bg2"/>
                </a:solidFill>
                <a:sym typeface="+mn-ea"/>
              </a:rPr>
              <a:t>X</a:t>
            </a:r>
            <a:r>
              <a:rPr lang="en-US" altLang="zh-CN" b="1" i="1" kern="0" baseline="-25000" dirty="0">
                <a:solidFill>
                  <a:schemeClr val="bg2"/>
                </a:solidFill>
                <a:sym typeface="+mn-ea"/>
              </a:rPr>
              <a:t>B</a:t>
            </a:r>
            <a:r>
              <a:rPr lang="zh-CN" altLang="en-US" kern="0" dirty="0" smtClean="0">
                <a:solidFill>
                  <a:schemeClr val="bg2"/>
                </a:solidFill>
                <a:sym typeface="+mn-ea"/>
              </a:rPr>
              <a:t>中的数值均≥</a:t>
            </a:r>
            <a:r>
              <a:rPr lang="en-US" altLang="zh-CN" kern="0" dirty="0" smtClean="0">
                <a:solidFill>
                  <a:schemeClr val="bg2"/>
                </a:solidFill>
                <a:sym typeface="+mn-ea"/>
              </a:rPr>
              <a:t>0</a:t>
            </a:r>
            <a:r>
              <a:rPr lang="zh-CN" altLang="en-US" kern="0" dirty="0" smtClean="0">
                <a:solidFill>
                  <a:schemeClr val="bg2"/>
                </a:solidFill>
                <a:sym typeface="+mn-ea"/>
              </a:rPr>
              <a:t>，则该基解为基可行解，带入目标函数中求出目标值，进而找出最优解。</a:t>
            </a:r>
            <a:endParaRPr lang="en-US" altLang="zh-CN" dirty="0">
              <a:solidFill>
                <a:schemeClr val="bg2"/>
              </a:solidFill>
            </a:endParaRPr>
          </a:p>
        </p:txBody>
      </p:sp>
    </p:spTree>
    <p:extLst>
      <p:ext uri="{BB962C8B-B14F-4D97-AF65-F5344CB8AC3E}">
        <p14:creationId xmlns:p14="http://schemas.microsoft.com/office/powerpoint/2010/main" val="33587983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left)">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left)">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800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dirty="0">
                <a:solidFill>
                  <a:schemeClr val="accent2"/>
                </a:solidFill>
                <a:sym typeface="+mn-ea"/>
              </a:rPr>
              <a:t>6.2 </a:t>
            </a:r>
            <a:r>
              <a:rPr kumimoji="0" lang="zh-CN" altLang="en-US" dirty="0">
                <a:solidFill>
                  <a:schemeClr val="accent2"/>
                </a:solidFill>
                <a:sym typeface="+mn-ea"/>
              </a:rPr>
              <a:t>标准形</a:t>
            </a:r>
          </a:p>
        </p:txBody>
      </p:sp>
      <p:sp>
        <p:nvSpPr>
          <p:cNvPr id="4" name="TextBox 4"/>
          <p:cNvSpPr txBox="1"/>
          <p:nvPr/>
        </p:nvSpPr>
        <p:spPr>
          <a:xfrm>
            <a:off x="683568" y="1556791"/>
            <a:ext cx="7315200" cy="1351037"/>
          </a:xfrm>
          <a:prstGeom prst="rect">
            <a:avLst/>
          </a:prstGeom>
          <a:noFill/>
          <a:ln w="9525">
            <a:noFill/>
          </a:ln>
        </p:spPr>
        <p:txBody>
          <a:bodyPr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6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求下面问题的所有基解，找出哪些是基可行解，并确定最优解。</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1781" y="2779737"/>
            <a:ext cx="3457575" cy="345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8106948"/>
      </p:ext>
    </p:extLst>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800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dirty="0">
                <a:solidFill>
                  <a:schemeClr val="accent2"/>
                </a:solidFill>
                <a:sym typeface="+mn-ea"/>
              </a:rPr>
              <a:t>6.2 </a:t>
            </a:r>
            <a:r>
              <a:rPr kumimoji="0" lang="zh-CN" altLang="en-US" dirty="0">
                <a:solidFill>
                  <a:schemeClr val="accent2"/>
                </a:solidFill>
                <a:sym typeface="+mn-ea"/>
              </a:rPr>
              <a:t>标准形</a:t>
            </a:r>
          </a:p>
        </p:txBody>
      </p:sp>
      <p:sp>
        <p:nvSpPr>
          <p:cNvPr id="5" name="标题 1"/>
          <p:cNvSpPr>
            <a:spLocks noGrp="1"/>
          </p:cNvSpPr>
          <p:nvPr/>
        </p:nvSpPr>
        <p:spPr>
          <a:xfrm>
            <a:off x="427865" y="1556792"/>
            <a:ext cx="8229600" cy="808554"/>
          </a:xfrm>
          <a:prstGeom prst="rect">
            <a:avLst/>
          </a:prstGeom>
          <a:noFill/>
          <a:ln w="9525">
            <a:noFill/>
          </a:ln>
        </p:spPr>
        <p:txBody>
          <a:bodyPr vert="horz" wrap="square" lIns="91440" tIns="45720" rIns="91440" bIns="45720" anchor="ct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r>
              <a:rPr lang="zh-CN" altLang="en-US" dirty="0">
                <a:solidFill>
                  <a:schemeClr val="bg2"/>
                </a:solidFill>
              </a:rPr>
              <a:t>标准型：</a:t>
            </a:r>
          </a:p>
        </p:txBody>
      </p:sp>
      <p:pic>
        <p:nvPicPr>
          <p:cNvPr id="6" name="内容占位符 3"/>
          <p:cNvPicPr>
            <a:picLocks noGrp="1" noChangeAspect="1"/>
          </p:cNvPicPr>
          <p:nvPr/>
        </p:nvPicPr>
        <p:blipFill>
          <a:blip r:embed="rId2"/>
          <a:srcRect/>
          <a:stretch>
            <a:fillRect/>
          </a:stretch>
        </p:blipFill>
        <p:spPr>
          <a:xfrm>
            <a:off x="427865" y="2564904"/>
            <a:ext cx="4720199" cy="2555696"/>
          </a:xfrm>
          <a:prstGeom prst="rect">
            <a:avLst/>
          </a:prstGeom>
          <a:noFill/>
          <a:ln w="38100">
            <a:noFill/>
            <a:miter/>
          </a:ln>
        </p:spPr>
      </p:pic>
      <p:pic>
        <p:nvPicPr>
          <p:cNvPr id="7" name="对象 4"/>
          <p:cNvPicPr>
            <a:picLocks noChangeAspect="1"/>
          </p:cNvPicPr>
          <p:nvPr/>
        </p:nvPicPr>
        <p:blipFill>
          <a:blip r:embed="rId3"/>
          <a:stretch>
            <a:fillRect/>
          </a:stretch>
        </p:blipFill>
        <p:spPr>
          <a:xfrm>
            <a:off x="5580112" y="3009404"/>
            <a:ext cx="3197861" cy="1643732"/>
          </a:xfrm>
          <a:prstGeom prst="rect">
            <a:avLst/>
          </a:prstGeom>
          <a:noFill/>
          <a:ln w="38100">
            <a:noFill/>
            <a:miter/>
          </a:ln>
        </p:spPr>
      </p:pic>
    </p:spTree>
    <p:extLst>
      <p:ext uri="{BB962C8B-B14F-4D97-AF65-F5344CB8AC3E}">
        <p14:creationId xmlns:p14="http://schemas.microsoft.com/office/powerpoint/2010/main" val="16154514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800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dirty="0">
                <a:solidFill>
                  <a:schemeClr val="accent2"/>
                </a:solidFill>
                <a:sym typeface="+mn-ea"/>
              </a:rPr>
              <a:t>6.2 </a:t>
            </a:r>
            <a:r>
              <a:rPr kumimoji="0" lang="zh-CN" altLang="en-US" dirty="0">
                <a:solidFill>
                  <a:schemeClr val="accent2"/>
                </a:solidFill>
                <a:sym typeface="+mn-ea"/>
              </a:rPr>
              <a:t>标准形</a:t>
            </a:r>
          </a:p>
        </p:txBody>
      </p:sp>
      <p:pic>
        <p:nvPicPr>
          <p:cNvPr id="9" name="Picture 2"/>
          <p:cNvPicPr>
            <a:picLocks noGrp="1" noChangeAspect="1"/>
          </p:cNvPicPr>
          <p:nvPr/>
        </p:nvPicPr>
        <p:blipFill>
          <a:blip r:embed="rId2"/>
          <a:srcRect/>
          <a:stretch>
            <a:fillRect/>
          </a:stretch>
        </p:blipFill>
        <p:spPr>
          <a:xfrm>
            <a:off x="395536" y="1340768"/>
            <a:ext cx="7920038" cy="5159375"/>
          </a:xfrm>
          <a:prstGeom prst="rect">
            <a:avLst/>
          </a:prstGeom>
          <a:noFill/>
          <a:ln w="9525">
            <a:noFill/>
          </a:ln>
        </p:spPr>
      </p:pic>
    </p:spTree>
    <p:extLst>
      <p:ext uri="{BB962C8B-B14F-4D97-AF65-F5344CB8AC3E}">
        <p14:creationId xmlns:p14="http://schemas.microsoft.com/office/powerpoint/2010/main" val="4032897879"/>
      </p:ext>
    </p:extLst>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08000" y="352202"/>
            <a:ext cx="8105140" cy="844550"/>
          </a:xfrm>
          <a:prstGeom prst="rect">
            <a:avLst/>
          </a:prstGeom>
          <a:noFill/>
          <a:ln w="9525">
            <a:noFill/>
          </a:ln>
        </p:spPr>
        <p:txBody>
          <a:bodyPr lIns="92075" tIns="46038" rIns="92075" bIns="46038" anchor="b"/>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r>
              <a:rPr kumimoji="0" lang="en-US" altLang="zh-CN" dirty="0">
                <a:solidFill>
                  <a:schemeClr val="accent2"/>
                </a:solidFill>
                <a:sym typeface="+mn-ea"/>
              </a:rPr>
              <a:t>6.2 </a:t>
            </a:r>
            <a:r>
              <a:rPr kumimoji="0" lang="zh-CN" altLang="en-US" dirty="0">
                <a:solidFill>
                  <a:schemeClr val="accent2"/>
                </a:solidFill>
                <a:sym typeface="+mn-ea"/>
              </a:rPr>
              <a:t>标准形</a:t>
            </a:r>
          </a:p>
        </p:txBody>
      </p:sp>
      <p:sp>
        <p:nvSpPr>
          <p:cNvPr id="4" name="标题 1"/>
          <p:cNvSpPr>
            <a:spLocks noGrp="1"/>
          </p:cNvSpPr>
          <p:nvPr/>
        </p:nvSpPr>
        <p:spPr>
          <a:xfrm>
            <a:off x="457200" y="596106"/>
            <a:ext cx="8229600" cy="1371600"/>
          </a:xfrm>
          <a:prstGeom prst="rect">
            <a:avLst/>
          </a:prstGeom>
          <a:noFill/>
          <a:ln w="9525">
            <a:noFill/>
          </a:ln>
        </p:spPr>
        <p:txBody>
          <a:bodyPr vert="horz" wrap="square" lIns="91440" tIns="45720" rIns="91440" bIns="45720" anchor="ct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endParaRPr lang="zh-CN" altLang="en-US" dirty="0">
              <a:solidFill>
                <a:srgbClr val="FF0000"/>
              </a:solidFill>
            </a:endParaRPr>
          </a:p>
        </p:txBody>
      </p:sp>
      <p:pic>
        <p:nvPicPr>
          <p:cNvPr id="5" name="Picture 2"/>
          <p:cNvPicPr>
            <a:picLocks noGrp="1" noChangeAspect="1"/>
          </p:cNvPicPr>
          <p:nvPr/>
        </p:nvPicPr>
        <p:blipFill>
          <a:blip r:embed="rId2"/>
          <a:srcRect/>
          <a:stretch>
            <a:fillRect/>
          </a:stretch>
        </p:blipFill>
        <p:spPr>
          <a:xfrm>
            <a:off x="1403350" y="294481"/>
            <a:ext cx="6697663" cy="6269038"/>
          </a:xfrm>
          <a:prstGeom prst="rect">
            <a:avLst/>
          </a:prstGeom>
          <a:noFill/>
          <a:ln w="9525">
            <a:noFill/>
          </a:ln>
        </p:spPr>
      </p:pic>
      <p:sp>
        <p:nvSpPr>
          <p:cNvPr id="6" name="TextBox 3"/>
          <p:cNvSpPr txBox="1"/>
          <p:nvPr/>
        </p:nvSpPr>
        <p:spPr>
          <a:xfrm>
            <a:off x="3419475" y="1480344"/>
            <a:ext cx="64135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chemeClr val="accent2">
                    <a:lumMod val="75000"/>
                  </a:schemeClr>
                </a:solidFill>
              </a:rPr>
              <a:t>X</a:t>
            </a:r>
            <a:r>
              <a:rPr lang="en-US" altLang="zh-CN" sz="2400" b="1" baseline="30000" dirty="0">
                <a:solidFill>
                  <a:schemeClr val="accent2">
                    <a:lumMod val="75000"/>
                  </a:schemeClr>
                </a:solidFill>
              </a:rPr>
              <a:t>(1)</a:t>
            </a:r>
            <a:endParaRPr lang="zh-CN" altLang="en-US" sz="2400" b="1" baseline="30000" dirty="0">
              <a:solidFill>
                <a:schemeClr val="accent2">
                  <a:lumMod val="75000"/>
                </a:schemeClr>
              </a:solidFill>
            </a:endParaRPr>
          </a:p>
        </p:txBody>
      </p:sp>
      <p:sp>
        <p:nvSpPr>
          <p:cNvPr id="7" name="TextBox 5"/>
          <p:cNvSpPr txBox="1"/>
          <p:nvPr/>
        </p:nvSpPr>
        <p:spPr>
          <a:xfrm>
            <a:off x="5614988" y="3423444"/>
            <a:ext cx="641350"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chemeClr val="accent2">
                    <a:lumMod val="75000"/>
                  </a:schemeClr>
                </a:solidFill>
              </a:rPr>
              <a:t>X</a:t>
            </a:r>
            <a:r>
              <a:rPr lang="en-US" altLang="zh-CN" sz="2400" b="1" baseline="30000" dirty="0">
                <a:solidFill>
                  <a:schemeClr val="accent2">
                    <a:lumMod val="75000"/>
                  </a:schemeClr>
                </a:solidFill>
              </a:rPr>
              <a:t>(2)</a:t>
            </a:r>
            <a:endParaRPr lang="zh-CN" altLang="en-US" sz="2400" b="1" baseline="30000" dirty="0">
              <a:solidFill>
                <a:schemeClr val="accent2">
                  <a:lumMod val="75000"/>
                </a:schemeClr>
              </a:solidFill>
            </a:endParaRPr>
          </a:p>
        </p:txBody>
      </p:sp>
      <p:sp>
        <p:nvSpPr>
          <p:cNvPr id="10" name="TextBox 6"/>
          <p:cNvSpPr txBox="1"/>
          <p:nvPr/>
        </p:nvSpPr>
        <p:spPr>
          <a:xfrm>
            <a:off x="4979988" y="1480344"/>
            <a:ext cx="64135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chemeClr val="accent2">
                    <a:lumMod val="75000"/>
                  </a:schemeClr>
                </a:solidFill>
              </a:rPr>
              <a:t>X</a:t>
            </a:r>
            <a:r>
              <a:rPr lang="en-US" altLang="zh-CN" sz="2400" b="1" baseline="30000" dirty="0">
                <a:solidFill>
                  <a:schemeClr val="accent2">
                    <a:lumMod val="75000"/>
                  </a:schemeClr>
                </a:solidFill>
              </a:rPr>
              <a:t>(3)</a:t>
            </a:r>
            <a:endParaRPr lang="zh-CN" altLang="en-US" sz="2400" b="1" baseline="30000" dirty="0">
              <a:solidFill>
                <a:schemeClr val="accent2">
                  <a:lumMod val="75000"/>
                </a:schemeClr>
              </a:solidFill>
            </a:endParaRPr>
          </a:p>
        </p:txBody>
      </p:sp>
      <p:sp>
        <p:nvSpPr>
          <p:cNvPr id="11" name="TextBox 7"/>
          <p:cNvSpPr txBox="1"/>
          <p:nvPr/>
        </p:nvSpPr>
        <p:spPr>
          <a:xfrm>
            <a:off x="6372225" y="4690269"/>
            <a:ext cx="641350" cy="461963"/>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defTabSz="914400">
              <a:buClrTx/>
              <a:buSzTx/>
              <a:buFontTx/>
              <a:defRPr/>
            </a:pPr>
            <a:r>
              <a:rPr kumimoji="0" lang="en-US" altLang="zh-CN" sz="2400" kern="1200" cap="none" spc="0" normalizeH="0" baseline="0" noProof="0" dirty="0">
                <a:solidFill>
                  <a:schemeClr val="accent2">
                    <a:lumMod val="75000"/>
                  </a:schemeClr>
                </a:solidFill>
                <a:latin typeface="Arial" panose="020B0604020202020204" pitchFamily="34" charset="0"/>
                <a:ea typeface="宋体" panose="02010600030101010101" pitchFamily="2" charset="-122"/>
                <a:cs typeface="+mn-cs"/>
              </a:rPr>
              <a:t>X</a:t>
            </a:r>
            <a:r>
              <a:rPr kumimoji="0" lang="en-US" altLang="zh-CN" sz="2400" kern="1200" cap="none" spc="0" normalizeH="0" baseline="30000" noProof="0" dirty="0">
                <a:solidFill>
                  <a:schemeClr val="accent2">
                    <a:lumMod val="75000"/>
                  </a:schemeClr>
                </a:solidFill>
                <a:latin typeface="Arial" panose="020B0604020202020204" pitchFamily="34" charset="0"/>
                <a:ea typeface="宋体" panose="02010600030101010101" pitchFamily="2" charset="-122"/>
                <a:cs typeface="+mn-cs"/>
              </a:rPr>
              <a:t>(4)</a:t>
            </a:r>
            <a:endParaRPr kumimoji="0" lang="zh-CN" altLang="en-US" sz="2400" kern="1200" cap="none" spc="0" normalizeH="0" baseline="30000" noProof="0" dirty="0">
              <a:solidFill>
                <a:schemeClr val="accent2">
                  <a:lumMod val="75000"/>
                </a:schemeClr>
              </a:solidFill>
              <a:latin typeface="Arial" panose="020B0604020202020204" pitchFamily="34" charset="0"/>
              <a:ea typeface="宋体" panose="02010600030101010101" pitchFamily="2" charset="-122"/>
              <a:cs typeface="+mn-cs"/>
            </a:endParaRPr>
          </a:p>
        </p:txBody>
      </p:sp>
      <p:sp>
        <p:nvSpPr>
          <p:cNvPr id="12" name="TextBox 8"/>
          <p:cNvSpPr txBox="1"/>
          <p:nvPr/>
        </p:nvSpPr>
        <p:spPr>
          <a:xfrm>
            <a:off x="4211638" y="4761706"/>
            <a:ext cx="641350" cy="461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chemeClr val="accent2">
                    <a:lumMod val="75000"/>
                  </a:schemeClr>
                </a:solidFill>
              </a:rPr>
              <a:t>X</a:t>
            </a:r>
            <a:r>
              <a:rPr lang="en-US" altLang="zh-CN" sz="2400" b="1" baseline="30000" dirty="0">
                <a:solidFill>
                  <a:schemeClr val="accent2">
                    <a:lumMod val="75000"/>
                  </a:schemeClr>
                </a:solidFill>
              </a:rPr>
              <a:t>(5)</a:t>
            </a:r>
            <a:endParaRPr lang="zh-CN" altLang="en-US" sz="2400" b="1" baseline="30000" dirty="0">
              <a:solidFill>
                <a:schemeClr val="accent2">
                  <a:lumMod val="75000"/>
                </a:schemeClr>
              </a:solidFill>
            </a:endParaRPr>
          </a:p>
        </p:txBody>
      </p:sp>
      <p:sp>
        <p:nvSpPr>
          <p:cNvPr id="13" name="TextBox 9"/>
          <p:cNvSpPr txBox="1"/>
          <p:nvPr/>
        </p:nvSpPr>
        <p:spPr>
          <a:xfrm>
            <a:off x="2339975" y="543719"/>
            <a:ext cx="641350" cy="461963"/>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defTabSz="914400">
              <a:buClrTx/>
              <a:buSzTx/>
              <a:buFontTx/>
              <a:defRPr/>
            </a:pPr>
            <a:r>
              <a:rPr kumimoji="0" lang="en-US" altLang="zh-CN" sz="2400" kern="1200" cap="none" spc="0" normalizeH="0" baseline="0" noProof="0" dirty="0">
                <a:solidFill>
                  <a:schemeClr val="accent2">
                    <a:lumMod val="75000"/>
                  </a:schemeClr>
                </a:solidFill>
                <a:latin typeface="Arial" panose="020B0604020202020204" pitchFamily="34" charset="0"/>
                <a:ea typeface="宋体" panose="02010600030101010101" pitchFamily="2" charset="-122"/>
                <a:cs typeface="+mn-cs"/>
              </a:rPr>
              <a:t>X</a:t>
            </a:r>
            <a:r>
              <a:rPr kumimoji="0" lang="en-US" altLang="zh-CN" sz="2400" kern="1200" cap="none" spc="0" normalizeH="0" baseline="30000" noProof="0" dirty="0">
                <a:solidFill>
                  <a:schemeClr val="accent2">
                    <a:lumMod val="75000"/>
                  </a:schemeClr>
                </a:solidFill>
                <a:latin typeface="Arial" panose="020B0604020202020204" pitchFamily="34" charset="0"/>
                <a:ea typeface="宋体" panose="02010600030101010101" pitchFamily="2" charset="-122"/>
                <a:cs typeface="+mn-cs"/>
              </a:rPr>
              <a:t>(6)</a:t>
            </a:r>
            <a:endParaRPr kumimoji="0" lang="zh-CN" altLang="en-US" sz="2400" kern="1200" cap="none" spc="0" normalizeH="0" baseline="30000" noProof="0" dirty="0">
              <a:solidFill>
                <a:schemeClr val="accent2">
                  <a:lumMod val="75000"/>
                </a:schemeClr>
              </a:solidFill>
              <a:latin typeface="Arial" panose="020B0604020202020204" pitchFamily="34" charset="0"/>
              <a:ea typeface="宋体" panose="02010600030101010101" pitchFamily="2" charset="-122"/>
              <a:cs typeface="+mn-cs"/>
            </a:endParaRPr>
          </a:p>
        </p:txBody>
      </p:sp>
      <p:sp>
        <p:nvSpPr>
          <p:cNvPr id="14" name="TextBox 10"/>
          <p:cNvSpPr txBox="1"/>
          <p:nvPr/>
        </p:nvSpPr>
        <p:spPr>
          <a:xfrm>
            <a:off x="2195513" y="1767681"/>
            <a:ext cx="641350" cy="461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chemeClr val="accent2">
                    <a:lumMod val="75000"/>
                  </a:schemeClr>
                </a:solidFill>
              </a:rPr>
              <a:t>X</a:t>
            </a:r>
            <a:r>
              <a:rPr lang="en-US" altLang="zh-CN" sz="2400" b="1" baseline="30000" dirty="0">
                <a:solidFill>
                  <a:schemeClr val="accent2">
                    <a:lumMod val="75000"/>
                  </a:schemeClr>
                </a:solidFill>
              </a:rPr>
              <a:t>(7)</a:t>
            </a:r>
            <a:endParaRPr lang="zh-CN" altLang="en-US" sz="2400" b="1" baseline="30000" dirty="0">
              <a:solidFill>
                <a:schemeClr val="accent2">
                  <a:lumMod val="75000"/>
                </a:schemeClr>
              </a:solidFill>
            </a:endParaRPr>
          </a:p>
        </p:txBody>
      </p:sp>
      <p:sp>
        <p:nvSpPr>
          <p:cNvPr id="15" name="TextBox 11"/>
          <p:cNvSpPr txBox="1"/>
          <p:nvPr/>
        </p:nvSpPr>
        <p:spPr>
          <a:xfrm>
            <a:off x="2071688" y="4690269"/>
            <a:ext cx="641350"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chemeClr val="accent2">
                    <a:lumMod val="75000"/>
                  </a:schemeClr>
                </a:solidFill>
              </a:rPr>
              <a:t>X</a:t>
            </a:r>
            <a:r>
              <a:rPr lang="en-US" altLang="zh-CN" sz="2400" b="1" baseline="30000" dirty="0">
                <a:solidFill>
                  <a:schemeClr val="accent2">
                    <a:lumMod val="75000"/>
                  </a:schemeClr>
                </a:solidFill>
              </a:rPr>
              <a:t>(8)</a:t>
            </a:r>
            <a:endParaRPr lang="zh-CN" altLang="en-US" sz="2400" b="1" baseline="30000" dirty="0">
              <a:solidFill>
                <a:schemeClr val="accent2">
                  <a:lumMod val="75000"/>
                </a:schemeClr>
              </a:solidFill>
            </a:endParaRPr>
          </a:p>
        </p:txBody>
      </p:sp>
    </p:spTree>
    <p:extLst>
      <p:ext uri="{BB962C8B-B14F-4D97-AF65-F5344CB8AC3E}">
        <p14:creationId xmlns:p14="http://schemas.microsoft.com/office/powerpoint/2010/main" val="3004669831"/>
      </p:ext>
    </p:extLst>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2"/>
            </p:custDataLst>
          </p:nvPr>
        </p:nvSpPr>
        <p:spPr bwMode="auto">
          <a:xfrm>
            <a:off x="6172200" y="6215063"/>
            <a:ext cx="1543050" cy="411480"/>
          </a:xfrm>
          <a:prstGeom prst="roundRect">
            <a:avLst/>
          </a:prstGeom>
          <a:solidFill>
            <a:srgbClr val="808080"/>
          </a:solidFill>
          <a:ln w="38100" cap="sq" cmpd="sng" algn="ctr">
            <a:solidFill>
              <a:srgbClr val="000000"/>
            </a:solidFill>
            <a:prstDash val="solid"/>
            <a:round/>
            <a:headEnd type="none" w="sm" len="sm"/>
            <a:tailEnd type="none" w="sm" len="sm"/>
          </a:ln>
        </p:spPr>
        <p:txBody>
          <a:bodyPr vert="horz" wrap="square" lIns="91440" tIns="45720" rIns="91440" bIns="45720" numCol="1" rtlCol="0" anchor="ctr" anchorCtr="1" compatLnSpc="1"/>
          <a:lstStyle/>
          <a:p>
            <a:pPr marL="0" marR="0" indent="0" algn="l" defTabSz="914400" rtl="0" eaLnBrk="0" fontAlgn="base" latinLnBrk="0" hangingPunct="0">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Microsoft Yahei"/>
                <a:ea typeface="Microsoft Yahei"/>
                <a:sym typeface="Microsoft Yahei"/>
              </a:rPr>
              <a:t>作答</a:t>
            </a:r>
            <a:endParaRPr kumimoji="1"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矩形 11"/>
          <p:cNvSpPr/>
          <p:nvPr>
            <p:custDataLst>
              <p:tags r:id="rId3"/>
            </p:custDataLst>
          </p:nvPr>
        </p:nvSpPr>
        <p:spPr bwMode="auto">
          <a:xfrm>
            <a:off x="0" y="5849303"/>
            <a:ext cx="9144000" cy="365760"/>
          </a:xfrm>
          <a:prstGeom prst="rect">
            <a:avLst/>
          </a:prstGeom>
          <a:solidFill>
            <a:srgbClr val="FBFAEF"/>
          </a:solidFill>
          <a:ln w="12700" cap="sq" cmpd="sng" algn="ctr">
            <a:noFill/>
            <a:prstDash val="solid"/>
            <a:round/>
            <a:headEnd type="none" w="sm" len="sm"/>
            <a:tailEnd type="none" w="sm" len="sm"/>
          </a:ln>
          <a:extLst>
            <a:ext uri="{91240B29-F687-4F45-9708-019B960494DF}">
              <a14:hiddenLine xmlns:a14="http://schemas.microsoft.com/office/drawing/2010/main" w="12700" cap="sq" cmpd="sng" algn="ctr">
                <a:solidFill>
                  <a:schemeClr val="tx1"/>
                </a:solidFill>
                <a:prstDash val="solid"/>
                <a:round/>
                <a:headEnd type="none" w="sm" len="sm"/>
                <a:tailEnd type="none" w="sm" len="sm"/>
              </a14:hiddenLine>
            </a:ext>
          </a:extLst>
        </p:spPr>
        <p:txBody>
          <a:bodyPr vert="horz" wrap="none" lIns="91440" tIns="45720" rIns="91440" bIns="45720" numCol="1" rtlCol="0" anchor="ctr" anchorCtr="1" compatLnSpc="1"/>
          <a:lstStyle/>
          <a:p>
            <a:r>
              <a:rPr kumimoji="1" lang="zh-CN" altLang="en-US" sz="1200" b="0" i="0" u="none" strike="noStrike" cap="none" normalizeH="0" baseline="0" smtClean="0">
                <a:ln>
                  <a:noFill/>
                </a:ln>
                <a:solidFill>
                  <a:srgbClr val="F84F41"/>
                </a:solidFill>
                <a:effectLst/>
                <a:latin typeface="Microsoft Yahei"/>
                <a:ea typeface="Microsoft Yahei"/>
                <a:sym typeface="Microsoft Yahei"/>
              </a:rPr>
              <a:t>正常使用主观题需</a:t>
            </a:r>
            <a:r>
              <a:rPr kumimoji="1" lang="en-US" altLang="zh-CN" sz="1200" b="0" i="0" u="none" strike="noStrike" cap="none" normalizeH="0" baseline="0" smtClean="0">
                <a:ln>
                  <a:noFill/>
                </a:ln>
                <a:solidFill>
                  <a:srgbClr val="F84F41"/>
                </a:solidFill>
                <a:effectLst/>
                <a:latin typeface="Microsoft Yahei"/>
                <a:ea typeface="Microsoft Yahei"/>
                <a:sym typeface="Microsoft Yahei"/>
              </a:rPr>
              <a:t>2.0</a:t>
            </a:r>
            <a:r>
              <a:rPr kumimoji="1" lang="zh-CN" altLang="en-US" sz="1200" b="0" i="0" u="none" strike="noStrike" cap="none" normalizeH="0" baseline="0" smtClean="0">
                <a:ln>
                  <a:noFill/>
                </a:ln>
                <a:solidFill>
                  <a:srgbClr val="F84F41"/>
                </a:solidFill>
                <a:effectLst/>
                <a:latin typeface="Microsoft Yahei"/>
                <a:ea typeface="Microsoft Yahei"/>
                <a:sym typeface="Microsoft Yahei"/>
              </a:rPr>
              <a:t>以上版本雨课堂</a:t>
            </a:r>
            <a:endParaRPr kumimoji="1" lang="zh-CN" altLang="en-US" sz="1200" b="0" i="0" u="none" strike="noStrike" cap="none" normalizeH="0" baseline="0" smtClean="0">
              <a:ln>
                <a:noFill/>
              </a:ln>
              <a:solidFill>
                <a:srgbClr val="F84F41"/>
              </a:solidFill>
              <a:effectLst/>
              <a:latin typeface="Microsoft Yahei"/>
              <a:ea typeface="Microsoft Yahei"/>
              <a:sym typeface="Microsoft Yahei"/>
            </a:endParaRPr>
          </a:p>
        </p:txBody>
      </p:sp>
      <p:sp>
        <p:nvSpPr>
          <p:cNvPr id="13" name="TextBox 4"/>
          <p:cNvSpPr txBox="1"/>
          <p:nvPr/>
        </p:nvSpPr>
        <p:spPr>
          <a:xfrm>
            <a:off x="917064" y="1556792"/>
            <a:ext cx="7315200" cy="1351037"/>
          </a:xfrm>
          <a:prstGeom prst="rect">
            <a:avLst/>
          </a:prstGeom>
          <a:noFill/>
          <a:ln w="9525">
            <a:noFill/>
          </a:ln>
        </p:spPr>
        <p:txBody>
          <a:bodyPr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6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求下面问题的所有基解，找出哪些是基可行解，并确定最优解。</a:t>
            </a:r>
          </a:p>
        </p:txBody>
      </p:sp>
      <p:pic>
        <p:nvPicPr>
          <p:cNvPr id="14" name="对象 12"/>
          <p:cNvPicPr>
            <a:picLocks noChangeAspect="1"/>
          </p:cNvPicPr>
          <p:nvPr/>
        </p:nvPicPr>
        <p:blipFill>
          <a:blip r:embed="rId17"/>
          <a:stretch>
            <a:fillRect/>
          </a:stretch>
        </p:blipFill>
        <p:spPr>
          <a:xfrm>
            <a:off x="2222500" y="3044031"/>
            <a:ext cx="4471988" cy="2627313"/>
          </a:xfrm>
          <a:prstGeom prst="rect">
            <a:avLst/>
          </a:prstGeom>
          <a:noFill/>
          <a:ln w="38100">
            <a:noFill/>
            <a:miter/>
          </a:ln>
        </p:spPr>
      </p:pic>
      <p:sp>
        <p:nvSpPr>
          <p:cNvPr id="15" name="矩形 14"/>
          <p:cNvSpPr/>
          <p:nvPr>
            <p:custDataLst>
              <p:tags r:id="rId4"/>
            </p:custDataLst>
          </p:nvPr>
        </p:nvSpPr>
        <p:spPr bwMode="auto">
          <a:xfrm>
            <a:off x="9525000" y="0"/>
            <a:ext cx="3840480" cy="6858000"/>
          </a:xfrm>
          <a:prstGeom prst="rect">
            <a:avLst/>
          </a:prstGeom>
          <a:solidFill>
            <a:srgbClr val="FFFFFF"/>
          </a:solidFill>
          <a:ln w="12700" cap="sq" cmpd="sng" algn="ctr">
            <a:solidFill>
              <a:srgbClr val="9B9B9B"/>
            </a:solidFill>
            <a:prstDash val="solid"/>
            <a:round/>
            <a:headEnd type="none" w="sm" len="sm"/>
            <a:tailEnd type="none" w="sm" len="sm"/>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zh-CN" altLang="en-US" sz="2400" b="0" i="0" u="none" strike="noStrike" cap="none" normalizeH="0" baseline="0" smtClean="0">
              <a:ln>
                <a:noFill/>
              </a:ln>
              <a:solidFill>
                <a:srgbClr val="FFFFFF"/>
              </a:solidFill>
              <a:effectLst/>
              <a:latin typeface="Times New Roman" panose="02020603050405020304" pitchFamily="18" charset="0"/>
              <a:ea typeface="宋体" panose="02010600030101010101" pitchFamily="2" charset="-122"/>
            </a:endParaRPr>
          </a:p>
        </p:txBody>
      </p:sp>
      <p:sp>
        <p:nvSpPr>
          <p:cNvPr id="20" name="TextBox 19"/>
          <p:cNvSpPr txBox="1"/>
          <p:nvPr>
            <p:custDataLst>
              <p:tags r:id="rId5"/>
            </p:custDataLst>
          </p:nvPr>
        </p:nvSpPr>
        <p:spPr>
          <a:xfrm>
            <a:off x="9613900" y="6649997"/>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smtClean="0">
                <a:solidFill>
                  <a:srgbClr val="F84F41"/>
                </a:solidFill>
                <a:latin typeface="Microsoft Yahei"/>
                <a:ea typeface="Microsoft Yahei"/>
                <a:sym typeface="Microsoft Yahei"/>
              </a:rPr>
              <a:t>可为此题添加文本、20、公式等解析，且需将内容全部放在本区域内。正常使用需</a:t>
            </a:r>
            <a:r>
              <a:rPr lang="en-US" altLang="zh-CN" sz="1200" smtClean="0">
                <a:solidFill>
                  <a:srgbClr val="F84F41"/>
                </a:solidFill>
                <a:latin typeface="Microsoft Yahei"/>
                <a:ea typeface="Microsoft Yahei"/>
                <a:sym typeface="Microsoft Yahei"/>
              </a:rPr>
              <a:t>3.0</a:t>
            </a:r>
            <a:r>
              <a:rPr lang="zh-CN" altLang="en-US" sz="1200" smtClean="0">
                <a:solidFill>
                  <a:srgbClr val="F84F41"/>
                </a:solidFill>
                <a:latin typeface="Microsoft Yahei"/>
                <a:ea typeface="Microsoft Yahei"/>
                <a:sym typeface="Microsoft Yahei"/>
              </a:rPr>
              <a:t>以上版本</a:t>
            </a:r>
            <a:endParaRPr lang="zh-CN" altLang="en-US" sz="1200">
              <a:solidFill>
                <a:srgbClr val="F84F41"/>
              </a:solidFill>
              <a:latin typeface="Microsoft Yahei"/>
              <a:ea typeface="Microsoft Yahei"/>
              <a:sym typeface="Microsoft Yahei"/>
            </a:endParaRPr>
          </a:p>
        </p:txBody>
      </p:sp>
      <p:pic>
        <p:nvPicPr>
          <p:cNvPr id="23"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873877" y="1419225"/>
            <a:ext cx="3267075" cy="401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组合 10"/>
          <p:cNvGrpSpPr/>
          <p:nvPr>
            <p:custDataLst>
              <p:tags r:id="rId6"/>
            </p:custDataLst>
          </p:nvPr>
        </p:nvGrpSpPr>
        <p:grpSpPr>
          <a:xfrm>
            <a:off x="0" y="0"/>
            <a:ext cx="9144000" cy="635000"/>
            <a:chOff x="0" y="0"/>
            <a:chExt cx="9144000" cy="635000"/>
          </a:xfrm>
        </p:grpSpPr>
        <p:sp>
          <p:nvSpPr>
            <p:cNvPr id="7" name="TitleBackground"/>
            <p:cNvSpPr/>
            <p:nvPr>
              <p:custDataLst>
                <p:tags r:id="rId12"/>
              </p:custDataLst>
            </p:nvPr>
          </p:nvSpPr>
          <p:spPr bwMode="auto">
            <a:xfrm>
              <a:off x="0" y="0"/>
              <a:ext cx="9144000" cy="635000"/>
            </a:xfrm>
            <a:prstGeom prst="rect">
              <a:avLst/>
            </a:prstGeom>
            <a:solidFill>
              <a:srgbClr val="F6F7F8"/>
            </a:solidFill>
            <a:ln w="12700" cap="sq" cmpd="sng" algn="ctr">
              <a:noFill/>
              <a:prstDash val="solid"/>
              <a:round/>
              <a:headEnd type="none" w="sm" len="sm"/>
              <a:tailEnd type="none" w="sm" len="sm"/>
            </a:ln>
            <a:extLst>
              <a:ext uri="{91240B29-F687-4F45-9708-019B960494DF}">
                <a14:hiddenLine xmlns:a14="http://schemas.microsoft.com/office/drawing/2010/main" w="12700" cap="sq" cmpd="sng" algn="ctr">
                  <a:solidFill>
                    <a:schemeClr val="tx1"/>
                  </a:solidFill>
                  <a:prstDash val="solid"/>
                  <a:round/>
                  <a:headEnd type="none" w="sm" len="sm"/>
                  <a:tailEnd type="none" w="sm" len="sm"/>
                </a14:hiddenLine>
              </a:ext>
            </a:ex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8" name="ColorBlock"/>
            <p:cNvSpPr/>
            <p:nvPr>
              <p:custDataLst>
                <p:tags r:id="rId13"/>
              </p:custDataLst>
            </p:nvPr>
          </p:nvSpPr>
          <p:spPr bwMode="auto">
            <a:xfrm>
              <a:off x="0" y="0"/>
              <a:ext cx="190500" cy="635000"/>
            </a:xfrm>
            <a:prstGeom prst="rect">
              <a:avLst/>
            </a:prstGeom>
            <a:solidFill>
              <a:srgbClr val="639EF4"/>
            </a:solidFill>
            <a:ln w="12700" cap="sq" cmpd="sng" algn="ctr">
              <a:noFill/>
              <a:prstDash val="solid"/>
              <a:round/>
              <a:headEnd type="none" w="sm" len="sm"/>
              <a:tailEnd type="none" w="sm" len="sm"/>
            </a:ln>
            <a:extLst>
              <a:ext uri="{91240B29-F687-4F45-9708-019B960494DF}">
                <a14:hiddenLine xmlns:a14="http://schemas.microsoft.com/office/drawing/2010/main" w="12700" cap="sq" cmpd="sng" algn="ctr">
                  <a:solidFill>
                    <a:schemeClr val="tx1"/>
                  </a:solidFill>
                  <a:prstDash val="solid"/>
                  <a:round/>
                  <a:headEnd type="none" w="sm" len="sm"/>
                  <a:tailEnd type="none" w="sm" len="sm"/>
                </a14:hiddenLine>
              </a:ext>
            </a:ex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9"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主观题</a:t>
              </a:r>
              <a:endParaRPr lang="zh-CN" altLang="en-US" sz="2600">
                <a:solidFill>
                  <a:srgbClr val="000000"/>
                </a:solidFill>
                <a:latin typeface="Microsoft Yahei"/>
                <a:ea typeface="Microsoft Yahei"/>
                <a:sym typeface="Microsoft Yahei"/>
              </a:endParaRPr>
            </a:p>
          </p:txBody>
        </p:sp>
        <p:sp>
          <p:nvSpPr>
            <p:cNvPr id="10"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10</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grpSp>
        <p:nvGrpSpPr>
          <p:cNvPr id="19" name="组合 18"/>
          <p:cNvGrpSpPr/>
          <p:nvPr>
            <p:custDataLst>
              <p:tags r:id="rId7"/>
            </p:custDataLst>
          </p:nvPr>
        </p:nvGrpSpPr>
        <p:grpSpPr>
          <a:xfrm>
            <a:off x="9537700" y="0"/>
            <a:ext cx="3815080" cy="647700"/>
            <a:chOff x="9537700" y="0"/>
            <a:chExt cx="3815080" cy="647700"/>
          </a:xfrm>
        </p:grpSpPr>
        <p:sp>
          <p:nvSpPr>
            <p:cNvPr id="16" name="RemarkBack"/>
            <p:cNvSpPr/>
            <p:nvPr>
              <p:custDataLst>
                <p:tags r:id="rId9"/>
              </p:custDataLst>
            </p:nvPr>
          </p:nvSpPr>
          <p:spPr bwMode="auto">
            <a:xfrm>
              <a:off x="9537700" y="12700"/>
              <a:ext cx="3815080" cy="635000"/>
            </a:xfrm>
            <a:prstGeom prst="rect">
              <a:avLst/>
            </a:prstGeom>
            <a:solidFill>
              <a:srgbClr val="F6F7F8"/>
            </a:solidFill>
            <a:ln w="12700" cap="sq" cmpd="sng" algn="ctr">
              <a:noFill/>
              <a:prstDash val="solid"/>
              <a:round/>
              <a:headEnd type="none" w="sm" len="sm"/>
              <a:tailEnd type="none" w="sm" len="sm"/>
            </a:ln>
            <a:extLst>
              <a:ext uri="{91240B29-F687-4F45-9708-019B960494DF}">
                <a14:hiddenLine xmlns:a14="http://schemas.microsoft.com/office/drawing/2010/main" w="12700" cap="sq" cmpd="sng" algn="ctr">
                  <a:solidFill>
                    <a:schemeClr val="tx1"/>
                  </a:solidFill>
                  <a:prstDash val="solid"/>
                  <a:round/>
                  <a:headEnd type="none" w="sm" len="sm"/>
                  <a:tailEnd type="none" w="sm" len="sm"/>
                </a14:hiddenLine>
              </a:ext>
            </a:ex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7" name="RemarkBlock"/>
            <p:cNvSpPr/>
            <p:nvPr>
              <p:custDataLst>
                <p:tags r:id="rId10"/>
              </p:custDataLst>
            </p:nvPr>
          </p:nvSpPr>
          <p:spPr bwMode="auto">
            <a:xfrm>
              <a:off x="9537700" y="12700"/>
              <a:ext cx="190500" cy="635000"/>
            </a:xfrm>
            <a:prstGeom prst="rect">
              <a:avLst/>
            </a:prstGeom>
            <a:solidFill>
              <a:srgbClr val="639EF4"/>
            </a:solidFill>
            <a:ln w="12700" cap="sq" cmpd="sng" algn="ctr">
              <a:noFill/>
              <a:prstDash val="solid"/>
              <a:round/>
              <a:headEnd type="none" w="sm" len="sm"/>
              <a:tailEnd type="none" w="sm" len="sm"/>
            </a:ln>
            <a:extLst>
              <a:ext uri="{91240B29-F687-4F45-9708-019B960494DF}">
                <a14:hiddenLine xmlns:a14="http://schemas.microsoft.com/office/drawing/2010/main" w="12700" cap="sq" cmpd="sng" algn="ctr">
                  <a:solidFill>
                    <a:schemeClr val="tx1"/>
                  </a:solidFill>
                  <a:prstDash val="solid"/>
                  <a:round/>
                  <a:headEnd type="none" w="sm" len="sm"/>
                  <a:tailEnd type="none" w="sm" len="sm"/>
                </a14:hiddenLine>
              </a:ext>
            </a:ex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8" name="RemarkTitleText"/>
            <p:cNvSpPr txBox="1"/>
            <p:nvPr>
              <p:custDataLst>
                <p:tags r:id="rId11"/>
              </p:custDataLst>
            </p:nvPr>
          </p:nvSpPr>
          <p:spPr>
            <a:xfrm>
              <a:off x="9779000" y="0"/>
              <a:ext cx="1905000" cy="635000"/>
            </a:xfrm>
            <a:prstGeom prst="rect">
              <a:avLst/>
            </a:prstGeom>
            <a:noFill/>
          </p:spPr>
          <p:txBody>
            <a:bodyPr vert="horz" wrap="none" rtlCol="0" anchor="ctr" anchorCtr="0">
              <a:noAutofit/>
            </a:bodyPr>
            <a:lstStyle/>
            <a:p>
              <a:r>
                <a:rPr lang="zh-CN" altLang="en-US" sz="1800" smtClean="0">
                  <a:solidFill>
                    <a:srgbClr val="000000"/>
                  </a:solidFill>
                  <a:latin typeface="Microsoft Yahei"/>
                  <a:ea typeface="Microsoft Yahei"/>
                  <a:sym typeface="Microsoft Yahei"/>
                </a:rPr>
                <a:t>答案解析</a:t>
              </a:r>
              <a:endParaRPr lang="zh-CN" altLang="en-US" sz="1800">
                <a:solidFill>
                  <a:srgbClr val="000000"/>
                </a:solidFill>
                <a:latin typeface="Microsoft Yahei"/>
                <a:ea typeface="Microsoft Yahei"/>
                <a:sym typeface="Microsoft Yahei"/>
              </a:endParaRPr>
            </a:p>
          </p:txBody>
        </p:sp>
      </p:grpSp>
      <p:pic>
        <p:nvPicPr>
          <p:cNvPr id="4" name="20 3"/>
          <p:cNvPicPr>
            <a:picLocks/>
          </p:cNvPicPr>
          <p:nvPr>
            <p:custDataLst>
              <p:tags r:id="rId8"/>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88611657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DEFINEDINNAVIGATOR" val="True"/>
  <p:tag name="HOTSPOTTYPE" val="DefinedInNavigator"/>
  <p:tag name="BRANCHTO" val="257"/>
</p:tagLst>
</file>

<file path=ppt/tags/tag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0"/>
  <p:tag name="PROBLEMBLANK" val="[{&quot;Num&quot;:1,&quot;Score&quot;:5.0,&quot;Answers&quot;:[&quot;2&quot;],&quot;CaseSensitive&quot;:false,&quot;FuzzyMatch&quot;:false},{&quot;Num&quot;:2,&quot;Score&quot;:5.0,&quot;Answers&quot;:[&quot;6&quot;],&quot;CaseSensitive&quot;:false,&quot;FuzzyMatch&quot;:false}]"/>
</p:tagLst>
</file>

<file path=ppt/tags/tag1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15.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 val="ShortAnswer"/>
  <p:tag name="PROBLEMSCORE" val="5.0"/>
  <p:tag name="PROBLEMVOICEALLOWED" val="False"/>
</p:tagLst>
</file>

<file path=ppt/tags/tag2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5.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865,&quot;width&quot;:5355}"/>
</p:tagLst>
</file>

<file path=ppt/tags/tag3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5.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HASREMARK" val="True"/>
  <p:tag name="PROBLEMVOICEALLOWED" val="False"/>
</p:tagLst>
</file>

<file path=ppt/tags/tag4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45.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46.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1_个人主页 (标准)">
  <a:themeElements>
    <a:clrScheme name="个人主页 (标准) 4">
      <a:dk1>
        <a:srgbClr val="000000"/>
      </a:dk1>
      <a:lt1>
        <a:srgbClr val="FFFFFF"/>
      </a:lt1>
      <a:dk2>
        <a:srgbClr val="1E2E53"/>
      </a:dk2>
      <a:lt2>
        <a:srgbClr val="FFCC00"/>
      </a:lt2>
      <a:accent1>
        <a:srgbClr val="FF9933"/>
      </a:accent1>
      <a:accent2>
        <a:srgbClr val="336699"/>
      </a:accent2>
      <a:accent3>
        <a:srgbClr val="ABADB3"/>
      </a:accent3>
      <a:accent4>
        <a:srgbClr val="DADADA"/>
      </a:accent4>
      <a:accent5>
        <a:srgbClr val="FFCAAD"/>
      </a:accent5>
      <a:accent6>
        <a:srgbClr val="2D5C8A"/>
      </a:accent6>
      <a:hlink>
        <a:srgbClr val="0000FF"/>
      </a:hlink>
      <a:folHlink>
        <a:srgbClr val="A73737"/>
      </a:folHlink>
    </a:clrScheme>
    <a:fontScheme name="个人主页 (标准)">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个人主页 (标准) 1">
        <a:dk1>
          <a:srgbClr val="000000"/>
        </a:dk1>
        <a:lt1>
          <a:srgbClr val="FFFFFF"/>
        </a:lt1>
        <a:dk2>
          <a:srgbClr val="1E2E53"/>
        </a:dk2>
        <a:lt2>
          <a:srgbClr val="FFCC00"/>
        </a:lt2>
        <a:accent1>
          <a:srgbClr val="FF9933"/>
        </a:accent1>
        <a:accent2>
          <a:srgbClr val="336699"/>
        </a:accent2>
        <a:accent3>
          <a:srgbClr val="ABADB3"/>
        </a:accent3>
        <a:accent4>
          <a:srgbClr val="DADADA"/>
        </a:accent4>
        <a:accent5>
          <a:srgbClr val="FFCAAD"/>
        </a:accent5>
        <a:accent6>
          <a:srgbClr val="2D5C8A"/>
        </a:accent6>
        <a:hlink>
          <a:srgbClr val="EAEAEA"/>
        </a:hlink>
        <a:folHlink>
          <a:srgbClr val="A73737"/>
        </a:folHlink>
      </a:clrScheme>
      <a:clrMap bg1="dk2" tx1="lt1" bg2="dk1" tx2="lt2" accent1="accent1" accent2="accent2" accent3="accent3" accent4="accent4" accent5="accent5" accent6="accent6" hlink="hlink" folHlink="folHlink"/>
    </a:extraClrScheme>
    <a:extraClrScheme>
      <a:clrScheme name="个人主页 (标准) 2">
        <a:dk1>
          <a:srgbClr val="663300"/>
        </a:dk1>
        <a:lt1>
          <a:srgbClr val="FFFFFF"/>
        </a:lt1>
        <a:dk2>
          <a:srgbClr val="996633"/>
        </a:dk2>
        <a:lt2>
          <a:srgbClr val="868686"/>
        </a:lt2>
        <a:accent1>
          <a:srgbClr val="FF9900"/>
        </a:accent1>
        <a:accent2>
          <a:srgbClr val="CC6600"/>
        </a:accent2>
        <a:accent3>
          <a:srgbClr val="FFFFFF"/>
        </a:accent3>
        <a:accent4>
          <a:srgbClr val="562A00"/>
        </a:accent4>
        <a:accent5>
          <a:srgbClr val="FFCAAA"/>
        </a:accent5>
        <a:accent6>
          <a:srgbClr val="B95C00"/>
        </a:accent6>
        <a:hlink>
          <a:srgbClr val="FFCC00"/>
        </a:hlink>
        <a:folHlink>
          <a:srgbClr val="CCCCCC"/>
        </a:folHlink>
      </a:clrScheme>
      <a:clrMap bg1="lt1" tx1="dk1" bg2="lt2" tx2="dk2" accent1="accent1" accent2="accent2" accent3="accent3" accent4="accent4" accent5="accent5" accent6="accent6" hlink="hlink" folHlink="folHlink"/>
    </a:extraClrScheme>
    <a:extraClrScheme>
      <a:clrScheme name="个人主页 (标准)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个人主页 (标准) 4">
        <a:dk1>
          <a:srgbClr val="000000"/>
        </a:dk1>
        <a:lt1>
          <a:srgbClr val="FFFFFF"/>
        </a:lt1>
        <a:dk2>
          <a:srgbClr val="1E2E53"/>
        </a:dk2>
        <a:lt2>
          <a:srgbClr val="FFCC00"/>
        </a:lt2>
        <a:accent1>
          <a:srgbClr val="FF9933"/>
        </a:accent1>
        <a:accent2>
          <a:srgbClr val="336699"/>
        </a:accent2>
        <a:accent3>
          <a:srgbClr val="ABADB3"/>
        </a:accent3>
        <a:accent4>
          <a:srgbClr val="DADADA"/>
        </a:accent4>
        <a:accent5>
          <a:srgbClr val="FFCAAD"/>
        </a:accent5>
        <a:accent6>
          <a:srgbClr val="2D5C8A"/>
        </a:accent6>
        <a:hlink>
          <a:srgbClr val="0000FF"/>
        </a:hlink>
        <a:folHlink>
          <a:srgbClr val="A73737"/>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Office\Templates\演示文稿\个人主页 (标准).pot</Template>
  <TotalTime>176</TotalTime>
  <Words>3716</Words>
  <Application>Microsoft Office PowerPoint</Application>
  <PresentationFormat>全屏显示(4:3)</PresentationFormat>
  <Paragraphs>579</Paragraphs>
  <Slides>61</Slides>
  <Notes>16</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61</vt:i4>
      </vt:variant>
    </vt:vector>
  </HeadingPairs>
  <TitlesOfParts>
    <vt:vector size="64" baseType="lpstr">
      <vt:lpstr>1_个人主页 (标准)</vt:lpstr>
      <vt:lpstr>MathType 6.0 Equation</vt:lpstr>
      <vt:lpstr>Microsoft 公式 3.0</vt:lpstr>
      <vt:lpstr>第6章  线性规划(Linear Programming(LP))</vt:lpstr>
      <vt:lpstr>第6章  线性规划</vt:lpstr>
      <vt:lpstr>第6章  线性规划</vt:lpstr>
      <vt:lpstr>第6章  线性规划</vt:lpstr>
      <vt:lpstr>6.1 线性规划模型</vt:lpstr>
      <vt:lpstr>6.1 线性规划模型</vt:lpstr>
      <vt:lpstr>6.1 线性规划模型</vt:lpstr>
      <vt:lpstr>6.1 线性规划模型</vt:lpstr>
      <vt:lpstr>6.1 线性规划模型</vt:lpstr>
      <vt:lpstr>6.1 线性规划模型</vt:lpstr>
      <vt:lpstr>6.1 线性规划模型</vt:lpstr>
      <vt:lpstr>6.1 线性规划模型</vt:lpstr>
      <vt:lpstr>6.1 线性规划模型</vt:lpstr>
      <vt:lpstr>6.1 线性规划模型</vt:lpstr>
      <vt:lpstr>6.1 线性规划模型</vt:lpstr>
      <vt:lpstr>6.1 线性规划模型</vt:lpstr>
      <vt:lpstr>PowerPoint 演示文稿</vt:lpstr>
      <vt:lpstr>PowerPoint 演示文稿</vt:lpstr>
      <vt:lpstr>PowerPoint 演示文稿</vt:lpstr>
      <vt:lpstr>营养配餐问题的完整模型：</vt:lpstr>
      <vt:lpstr>建立线性规划模型的一般步骤</vt:lpstr>
      <vt:lpstr>PowerPoint 演示文稿</vt:lpstr>
      <vt:lpstr>PowerPoint 演示文稿</vt:lpstr>
      <vt:lpstr>相关概念</vt:lpstr>
      <vt:lpstr>二维线性规划的图解法</vt:lpstr>
      <vt:lpstr>PowerPoint 演示文稿</vt:lpstr>
      <vt:lpstr>PowerPoint 演示文稿</vt:lpstr>
      <vt:lpstr>PowerPoint 演示文稿</vt:lpstr>
      <vt:lpstr>PowerPoint 演示文稿</vt:lpstr>
      <vt:lpstr>线性规划解的四种情况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线性规划模型的其他表示形式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NEU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数据库系统原理</dc:title>
  <dc:creator>songby</dc:creator>
  <cp:lastModifiedBy>FY</cp:lastModifiedBy>
  <cp:revision>1279</cp:revision>
  <cp:lastPrinted>1995-12-08T18:33:00Z</cp:lastPrinted>
  <dcterms:created xsi:type="dcterms:W3CDTF">2000-10-31T09:27:00Z</dcterms:created>
  <dcterms:modified xsi:type="dcterms:W3CDTF">2021-06-14T14:30:28Z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2052-11.1.0.10495</vt:lpwstr>
  </property>
  <property fmtid="{D5CDD505-2E9C-101B-9397-08002B2CF9AE}" pid="3" name="ICV">
    <vt:lpwstr>D97091215E3244AD96003C13B13EF2B1</vt:lpwstr>
  </property>
</Properties>
</file>