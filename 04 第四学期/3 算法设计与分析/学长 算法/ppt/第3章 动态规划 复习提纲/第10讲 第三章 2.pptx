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handoutMasterIdLst>
    <p:handoutMasterId r:id="rId40"/>
  </p:handoutMasterIdLst>
  <p:sldIdLst>
    <p:sldId id="371" r:id="rId3"/>
    <p:sldId id="372" r:id="rId4"/>
    <p:sldId id="373" r:id="rId5"/>
    <p:sldId id="374" r:id="rId6"/>
    <p:sldId id="375" r:id="rId7"/>
    <p:sldId id="300" r:id="rId8"/>
    <p:sldId id="301" r:id="rId9"/>
    <p:sldId id="331" r:id="rId10"/>
    <p:sldId id="332" r:id="rId11"/>
    <p:sldId id="333" r:id="rId12"/>
    <p:sldId id="302" r:id="rId13"/>
    <p:sldId id="303" r:id="rId14"/>
    <p:sldId id="304" r:id="rId15"/>
    <p:sldId id="305" r:id="rId16"/>
    <p:sldId id="306" r:id="rId17"/>
    <p:sldId id="307" r:id="rId18"/>
    <p:sldId id="308" r:id="rId19"/>
    <p:sldId id="309" r:id="rId20"/>
    <p:sldId id="311" r:id="rId21"/>
    <p:sldId id="312" r:id="rId22"/>
    <p:sldId id="313" r:id="rId23"/>
    <p:sldId id="315" r:id="rId24"/>
    <p:sldId id="316" r:id="rId25"/>
    <p:sldId id="317" r:id="rId26"/>
    <p:sldId id="318" r:id="rId27"/>
    <p:sldId id="319" r:id="rId28"/>
    <p:sldId id="320" r:id="rId29"/>
    <p:sldId id="321" r:id="rId30"/>
    <p:sldId id="363" r:id="rId31"/>
    <p:sldId id="364" r:id="rId32"/>
    <p:sldId id="365" r:id="rId33"/>
    <p:sldId id="366" r:id="rId34"/>
    <p:sldId id="322" r:id="rId35"/>
    <p:sldId id="323" r:id="rId36"/>
    <p:sldId id="328" r:id="rId37"/>
    <p:sldId id="329" r:id="rId38"/>
  </p:sldIdLst>
  <p:sldSz cx="9144000" cy="6858000" type="screen4x3"/>
  <p:notesSz cx="6934200" cy="9398000"/>
  <p:custDataLst>
    <p:tags r:id="rId44"/>
  </p:custDataLst>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CCFF"/>
    <a:srgbClr val="CC0099"/>
    <a:srgbClr val="CCCCFF"/>
    <a:srgbClr val="CC99FF"/>
    <a:srgbClr val="CCECFF"/>
    <a:srgbClr val="DFC0FF"/>
    <a:srgbClr val="90D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3"/>
    <p:restoredTop sz="94608"/>
  </p:normalViewPr>
  <p:slideViewPr>
    <p:cSldViewPr showGuides="1">
      <p:cViewPr varScale="1">
        <p:scale>
          <a:sx n="80" d="100"/>
          <a:sy n="80" d="100"/>
        </p:scale>
        <p:origin x="-1188" y="-96"/>
      </p:cViewPr>
      <p:guideLst>
        <p:guide orient="horz" pos="2171"/>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4" Type="http://schemas.openxmlformats.org/officeDocument/2006/relationships/tags" Target="tags/tag3.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handoutMaster" Target="handoutMasters/handoutMaster1.xml"/><Relationship Id="rId4" Type="http://schemas.openxmlformats.org/officeDocument/2006/relationships/slide" Target="slides/slide2.xml"/><Relationship Id="rId39" Type="http://schemas.openxmlformats.org/officeDocument/2006/relationships/notesMaster" Target="notesMasters/notesMaster1.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315" name="Rectangle 3"/>
          <p:cNvSpPr>
            <a:spLocks noGrp="1" noChangeArrowheads="1"/>
          </p:cNvSpPr>
          <p:nvPr>
            <p:ph type="dt" sz="quarter" idx="1"/>
          </p:nvPr>
        </p:nvSpPr>
        <p:spPr bwMode="auto">
          <a:xfrm>
            <a:off x="3962400"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316" name="Rectangle 4"/>
          <p:cNvSpPr>
            <a:spLocks noGrp="1" noChangeArrowheads="1"/>
          </p:cNvSpPr>
          <p:nvPr>
            <p:ph type="ftr" sz="quarter" idx="2"/>
          </p:nvPr>
        </p:nvSpPr>
        <p:spPr bwMode="auto">
          <a:xfrm>
            <a:off x="0" y="8915400"/>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317" name="Rectangle 5"/>
          <p:cNvSpPr>
            <a:spLocks noGrp="1" noChangeArrowheads="1"/>
          </p:cNvSpPr>
          <p:nvPr>
            <p:ph type="sldNum" sz="quarter" idx="3"/>
          </p:nvPr>
        </p:nvSpPr>
        <p:spPr bwMode="auto">
          <a:xfrm>
            <a:off x="3962400" y="8915400"/>
            <a:ext cx="2971800" cy="457200"/>
          </a:xfrm>
          <a:prstGeom prst="rect">
            <a:avLst/>
          </a:prstGeom>
          <a:noFill/>
          <a:ln>
            <a:noFill/>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kumimoji="0"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87" name="Rectangle 3"/>
          <p:cNvSpPr>
            <a:spLocks noGrp="1" noRot="1" noChangeAspect="1"/>
          </p:cNvSpPr>
          <p:nvPr>
            <p:ph type="sldImg" idx="2"/>
          </p:nvPr>
        </p:nvSpPr>
        <p:spPr>
          <a:xfrm>
            <a:off x="1079500" y="685800"/>
            <a:ext cx="4775200" cy="3581400"/>
          </a:xfrm>
          <a:prstGeom prst="rect">
            <a:avLst/>
          </a:prstGeom>
          <a:noFill/>
          <a:ln w="9525" cap="flat" cmpd="sng">
            <a:solidFill>
              <a:srgbClr val="000000"/>
            </a:solidFill>
            <a:prstDash val="solid"/>
            <a:miter/>
            <a:headEnd type="none" w="med" len="med"/>
            <a:tailEnd type="none" w="med" len="med"/>
          </a:ln>
        </p:spPr>
      </p:sp>
      <p:sp>
        <p:nvSpPr>
          <p:cNvPr id="2052" name="Rectangle 4"/>
          <p:cNvSpPr>
            <a:spLocks noGrp="1" noChangeArrowheads="1"/>
          </p:cNvSpPr>
          <p:nvPr>
            <p:ph type="body" sz="quarter" idx="3"/>
          </p:nvPr>
        </p:nvSpPr>
        <p:spPr bwMode="auto">
          <a:xfrm>
            <a:off x="914400" y="4495800"/>
            <a:ext cx="5105400" cy="41910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3" name="Rectangle 5"/>
          <p:cNvSpPr>
            <a:spLocks noGrp="1" noChangeArrowheads="1"/>
          </p:cNvSpPr>
          <p:nvPr>
            <p:ph type="dt" idx="1"/>
          </p:nvPr>
        </p:nvSpPr>
        <p:spPr bwMode="auto">
          <a:xfrm>
            <a:off x="3962400"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kumimoji="0"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4" name="Rectangle 6"/>
          <p:cNvSpPr>
            <a:spLocks noGrp="1" noChangeArrowheads="1"/>
          </p:cNvSpPr>
          <p:nvPr>
            <p:ph type="ftr" sz="quarter" idx="4"/>
          </p:nvPr>
        </p:nvSpPr>
        <p:spPr bwMode="auto">
          <a:xfrm>
            <a:off x="0" y="8915400"/>
            <a:ext cx="2971800" cy="457200"/>
          </a:xfrm>
          <a:prstGeom prst="rect">
            <a:avLst/>
          </a:prstGeom>
          <a:noFill/>
          <a:ln>
            <a:noFill/>
          </a:ln>
          <a:effectLst/>
        </p:spPr>
        <p:txBody>
          <a:bodyPr vert="horz" wrap="square" lIns="91440" tIns="45720" rIns="91440" bIns="45720" numCol="1" anchor="b" anchorCtr="0" compatLnSpc="1"/>
          <a:lstStyle>
            <a:lvl1pPr eaLnBrk="1" hangingPunct="1">
              <a:defRPr kumimoji="0"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962400" y="8915400"/>
            <a:ext cx="2971800" cy="457200"/>
          </a:xfrm>
          <a:prstGeom prst="rect">
            <a:avLst/>
          </a:prstGeom>
          <a:noFill/>
          <a:ln>
            <a:noFill/>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tx1"/>
        </a:solidFill>
        <a:effectLst/>
      </p:bgPr>
    </p:bg>
    <p:spTree>
      <p:nvGrpSpPr>
        <p:cNvPr id="1" name=""/>
        <p:cNvGrpSpPr/>
        <p:nvPr/>
      </p:nvGrpSpPr>
      <p:grpSpPr>
        <a:xfrm>
          <a:off x="0" y="0"/>
          <a:ext cx="0" cy="0"/>
          <a:chOff x="0" y="0"/>
          <a:chExt cx="0" cy="0"/>
        </a:xfrm>
      </p:grpSpPr>
      <p:sp>
        <p:nvSpPr>
          <p:cNvPr id="19" name="AutoShape 23"/>
          <p:cNvSpPr>
            <a:spLocks noChangeArrowheads="1"/>
          </p:cNvSpPr>
          <p:nvPr/>
        </p:nvSpPr>
        <p:spPr bwMode="auto">
          <a:xfrm rot="20940000">
            <a:off x="1828800" y="304800"/>
            <a:ext cx="457200" cy="457200"/>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AutoShape 24"/>
          <p:cNvSpPr>
            <a:spLocks noChangeArrowheads="1"/>
          </p:cNvSpPr>
          <p:nvPr/>
        </p:nvSpPr>
        <p:spPr bwMode="auto">
          <a:xfrm>
            <a:off x="2609850" y="171450"/>
            <a:ext cx="419100" cy="419100"/>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AutoShape 25"/>
          <p:cNvSpPr>
            <a:spLocks noChangeArrowheads="1"/>
          </p:cNvSpPr>
          <p:nvPr/>
        </p:nvSpPr>
        <p:spPr bwMode="auto">
          <a:xfrm rot="20940000">
            <a:off x="1752600" y="228600"/>
            <a:ext cx="457200" cy="457200"/>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AutoShape 26"/>
          <p:cNvSpPr>
            <a:spLocks noChangeArrowheads="1"/>
          </p:cNvSpPr>
          <p:nvPr/>
        </p:nvSpPr>
        <p:spPr bwMode="auto">
          <a:xfrm>
            <a:off x="2533650" y="19050"/>
            <a:ext cx="419100" cy="419100"/>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2054" name="Group 27"/>
          <p:cNvGrpSpPr/>
          <p:nvPr/>
        </p:nvGrpSpPr>
        <p:grpSpPr>
          <a:xfrm>
            <a:off x="6934200" y="5181600"/>
            <a:ext cx="2033588" cy="1219200"/>
            <a:chOff x="4368" y="3264"/>
            <a:chExt cx="1281" cy="768"/>
          </a:xfrm>
        </p:grpSpPr>
        <p:sp>
          <p:nvSpPr>
            <p:cNvPr id="24" name="AutoShape 28"/>
            <p:cNvSpPr>
              <a:spLocks noChangeArrowheads="1"/>
            </p:cNvSpPr>
            <p:nvPr/>
          </p:nvSpPr>
          <p:spPr bwMode="auto">
            <a:xfrm rot="20940000">
              <a:off x="4368" y="3681"/>
              <a:ext cx="288" cy="288"/>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AutoShape 29"/>
            <p:cNvSpPr>
              <a:spLocks noChangeArrowheads="1"/>
            </p:cNvSpPr>
            <p:nvPr/>
          </p:nvSpPr>
          <p:spPr bwMode="auto">
            <a:xfrm>
              <a:off x="4845" y="3324"/>
              <a:ext cx="264" cy="264"/>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AutoShape 30"/>
            <p:cNvSpPr>
              <a:spLocks noChangeArrowheads="1"/>
            </p:cNvSpPr>
            <p:nvPr/>
          </p:nvSpPr>
          <p:spPr bwMode="auto">
            <a:xfrm rot="1320000">
              <a:off x="5217" y="3264"/>
              <a:ext cx="384" cy="384"/>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AutoShape 31"/>
            <p:cNvSpPr>
              <a:spLocks noChangeArrowheads="1"/>
            </p:cNvSpPr>
            <p:nvPr/>
          </p:nvSpPr>
          <p:spPr bwMode="auto">
            <a:xfrm rot="20940000">
              <a:off x="4449" y="3744"/>
              <a:ext cx="288" cy="288"/>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AutoShape 32"/>
            <p:cNvSpPr>
              <a:spLocks noChangeArrowheads="1"/>
            </p:cNvSpPr>
            <p:nvPr/>
          </p:nvSpPr>
          <p:spPr bwMode="auto">
            <a:xfrm>
              <a:off x="4893" y="3372"/>
              <a:ext cx="264" cy="264"/>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AutoShape 33"/>
            <p:cNvSpPr>
              <a:spLocks noChangeArrowheads="1"/>
            </p:cNvSpPr>
            <p:nvPr/>
          </p:nvSpPr>
          <p:spPr bwMode="auto">
            <a:xfrm rot="1320000">
              <a:off x="5265" y="3360"/>
              <a:ext cx="384" cy="384"/>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30" name="AutoShape 34"/>
          <p:cNvSpPr>
            <a:spLocks noChangeArrowheads="1"/>
          </p:cNvSpPr>
          <p:nvPr/>
        </p:nvSpPr>
        <p:spPr bwMode="auto">
          <a:xfrm rot="1320000">
            <a:off x="168275" y="244475"/>
            <a:ext cx="882650" cy="882650"/>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87" name="Rectangle 15"/>
          <p:cNvSpPr>
            <a:spLocks noGrp="1" noChangeArrowheads="1"/>
          </p:cNvSpPr>
          <p:nvPr>
            <p:ph type="subTitle" sz="quarter" idx="1"/>
          </p:nvPr>
        </p:nvSpPr>
        <p:spPr>
          <a:xfrm>
            <a:off x="1371600" y="2667000"/>
            <a:ext cx="6400800" cy="3276600"/>
          </a:xfrm>
        </p:spPr>
        <p:txBody>
          <a:bodyPr anchor="ctr"/>
          <a:lstStyle>
            <a:lvl1pPr marL="0" indent="0" algn="ctr">
              <a:buFont typeface="Wingdings" panose="05000000000000000000" pitchFamily="2" charset="2"/>
              <a:buNone/>
              <a:defRPr/>
            </a:lvl1pPr>
          </a:lstStyle>
          <a:p>
            <a:pPr lvl="0"/>
            <a:r>
              <a:rPr lang="zh-CN" altLang="en-US" noProof="0" smtClean="0"/>
              <a:t>单击此处编辑母版副标题样式</a:t>
            </a:r>
            <a:endParaRPr lang="zh-CN" altLang="en-US" noProof="0" smtClean="0"/>
          </a:p>
        </p:txBody>
      </p:sp>
      <p:sp>
        <p:nvSpPr>
          <p:cNvPr id="3091" name="Rectangle 19"/>
          <p:cNvSpPr>
            <a:spLocks noGrp="1" noChangeArrowheads="1"/>
          </p:cNvSpPr>
          <p:nvPr>
            <p:ph type="ctrTitle" sz="quarter"/>
          </p:nvPr>
        </p:nvSpPr>
        <p:spPr>
          <a:xfrm>
            <a:off x="685800" y="914400"/>
            <a:ext cx="7772400" cy="1143000"/>
          </a:xfrm>
        </p:spPr>
        <p:txBody>
          <a:bodyPr/>
          <a:lstStyle>
            <a:lvl1pPr algn="ctr">
              <a:defRPr/>
            </a:lvl1pPr>
          </a:lstStyle>
          <a:p>
            <a:pPr lvl="0"/>
            <a:r>
              <a:rPr lang="zh-CN" altLang="en-US" noProof="0" smtClean="0"/>
              <a:t>单击此处编辑母版标题样式</a:t>
            </a:r>
            <a:endParaRPr lang="zh-CN" altLang="en-US" noProof="0" smtClean="0"/>
          </a:p>
        </p:txBody>
      </p:sp>
      <p:sp>
        <p:nvSpPr>
          <p:cNvPr id="31" name="Rectangle 16"/>
          <p:cNvSpPr>
            <a:spLocks noGrp="1" noChangeArrowheads="1"/>
          </p:cNvSpPr>
          <p:nvPr>
            <p:ph type="dt" sz="quarter" idx="2"/>
          </p:nvPr>
        </p:nvSpPr>
        <p:spPr bwMode="auto">
          <a:xfrm>
            <a:off x="76200" y="6323013"/>
            <a:ext cx="1905000" cy="457200"/>
          </a:xfrm>
          <a:prstGeom prst="rect">
            <a:avLst/>
          </a:prstGeom>
        </p:spPr>
        <p:txBody>
          <a:bodyPr vert="horz" wrap="none" lIns="92075" tIns="46038" rIns="92075" bIns="46038"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324600"/>
            <a:ext cx="2895600" cy="457200"/>
          </a:xfrm>
          <a:prstGeom prst="rect">
            <a:avLst/>
          </a:prstGeom>
        </p:spPr>
        <p:txBody>
          <a:bodyPr vert="horz" wrap="none" lIns="92075" tIns="46038" rIns="92075" bIns="46038"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7162800" y="6324600"/>
            <a:ext cx="1905000" cy="457200"/>
          </a:xfrm>
          <a:prstGeom prst="rect">
            <a:avLst/>
          </a:prstGeom>
        </p:spPr>
        <p:txBody>
          <a:bodyPr vert="horz" wrap="none" lIns="92075" tIns="46038" rIns="92075" bIns="46038" numCol="1" anchor="ctr" anchorCtr="0" compatLnSpc="1"/>
          <a:lstStyle/>
          <a:p>
            <a:pPr algn="r"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20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20占位符 2"/>
          <p:cNvSpPr>
            <a:spLocks noGrp="1"/>
          </p:cNvSpPr>
          <p:nvPr>
            <p:ph type="pic" idx="1"/>
          </p:nvPr>
        </p:nvSpPr>
        <p:spPr>
          <a:xfrm>
            <a:off x="1792288" y="612775"/>
            <a:ext cx="5486400" cy="4114800"/>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defRPr/>
            </a:pPr>
            <a:endParaRPr kumimoji="1"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228600"/>
            <a:ext cx="1943100" cy="5791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228600"/>
            <a:ext cx="5676900" cy="57912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228600"/>
            <a:ext cx="7772400" cy="579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Rectangle 9"/>
          <p:cNvSpPr>
            <a:spLocks noGrp="1"/>
          </p:cNvSpPr>
          <p:nvPr>
            <p:ph type="body" idx="1"/>
          </p:nvPr>
        </p:nvSpPr>
        <p:spPr>
          <a:xfrm>
            <a:off x="685800" y="1905000"/>
            <a:ext cx="7772400" cy="4114800"/>
          </a:xfrm>
          <a:prstGeom prst="rect">
            <a:avLst/>
          </a:prstGeom>
          <a:noFill/>
          <a:ln w="9525">
            <a:noFill/>
          </a:ln>
        </p:spPr>
        <p:txBody>
          <a:bodyPr lIns="92075" tIns="46038" rIns="92075" bIns="46038"/>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34" name="Rectangle 10"/>
          <p:cNvSpPr>
            <a:spLocks noGrp="1" noChangeArrowheads="1"/>
          </p:cNvSpPr>
          <p:nvPr>
            <p:ph type="dt" sz="half" idx="2"/>
          </p:nvPr>
        </p:nvSpPr>
        <p:spPr bwMode="auto">
          <a:xfrm>
            <a:off x="2209800" y="6400800"/>
            <a:ext cx="1905000" cy="457200"/>
          </a:xfrm>
          <a:prstGeom prst="rect">
            <a:avLst/>
          </a:prstGeom>
          <a:noFill/>
          <a:ln>
            <a:noFill/>
          </a:ln>
          <a:effectLst/>
        </p:spPr>
        <p:txBody>
          <a:bodyPr vert="horz" wrap="none" lIns="92075" tIns="46038" rIns="92075" bIns="46038" numCol="1" anchor="ctr" anchorCtr="0" compatLnSpc="1"/>
          <a:lstStyle>
            <a:lvl1pPr eaLnBrk="1" hangingPunct="1">
              <a:defRPr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5" name="Rectangle 11"/>
          <p:cNvSpPr>
            <a:spLocks noGrp="1" noChangeArrowheads="1"/>
          </p:cNvSpPr>
          <p:nvPr>
            <p:ph type="ftr" sz="quarter" idx="3"/>
          </p:nvPr>
        </p:nvSpPr>
        <p:spPr bwMode="auto">
          <a:xfrm>
            <a:off x="4191000" y="6400800"/>
            <a:ext cx="2895600" cy="457200"/>
          </a:xfrm>
          <a:prstGeom prst="rect">
            <a:avLst/>
          </a:prstGeom>
          <a:noFill/>
          <a:ln>
            <a:noFill/>
          </a:ln>
          <a:effectLst/>
        </p:spPr>
        <p:txBody>
          <a:bodyPr vert="horz" wrap="none" lIns="92075" tIns="46038" rIns="92075" bIns="46038" numCol="1" anchor="ctr" anchorCtr="0" compatLnSpc="1"/>
          <a:lstStyle>
            <a:lvl1pPr algn="ctr" eaLnBrk="1" hangingPunct="1">
              <a:defRPr sz="140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6" name="Rectangle 12"/>
          <p:cNvSpPr>
            <a:spLocks noGrp="1" noChangeArrowheads="1"/>
          </p:cNvSpPr>
          <p:nvPr>
            <p:ph type="sldNum" sz="quarter" idx="4"/>
          </p:nvPr>
        </p:nvSpPr>
        <p:spPr bwMode="auto">
          <a:xfrm>
            <a:off x="7162800" y="6324600"/>
            <a:ext cx="1905000" cy="457200"/>
          </a:xfrm>
          <a:prstGeom prst="rect">
            <a:avLst/>
          </a:prstGeom>
          <a:noFill/>
          <a:ln>
            <a:noFill/>
          </a:ln>
          <a:effectLst/>
        </p:spPr>
        <p:txBody>
          <a:bodyPr vert="horz" wrap="none" lIns="92075" tIns="46038" rIns="92075" bIns="46038" numCol="1" anchor="ctr" anchorCtr="0" compatLnSpc="1"/>
          <a:lstStyle>
            <a:lvl1pPr algn="r">
              <a:defRPr sz="1400"/>
            </a:lvl1p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
        <p:nvSpPr>
          <p:cNvPr id="1030" name="Rectangle 16"/>
          <p:cNvSpPr>
            <a:spLocks noGrp="1"/>
          </p:cNvSpPr>
          <p:nvPr>
            <p:ph type="title"/>
          </p:nvPr>
        </p:nvSpPr>
        <p:spPr>
          <a:xfrm>
            <a:off x="685800" y="228600"/>
            <a:ext cx="7772400" cy="1143000"/>
          </a:xfrm>
          <a:prstGeom prst="rect">
            <a:avLst/>
          </a:prstGeom>
          <a:noFill/>
          <a:ln w="9525">
            <a:noFill/>
          </a:ln>
        </p:spPr>
        <p:txBody>
          <a:bodyPr lIns="92075" tIns="46038" rIns="92075" bIns="46038" anchor="b"/>
          <a:lstStyle/>
          <a:p>
            <a:pPr lvl="0"/>
            <a:r>
              <a:rPr lang="zh-CN" altLang="en-US" dirty="0"/>
              <a:t>单击此处编辑母版标题样式</a:t>
            </a:r>
            <a:endParaRPr lang="zh-CN" altLang="en-US" dirty="0"/>
          </a:p>
        </p:txBody>
      </p:sp>
      <p:grpSp>
        <p:nvGrpSpPr>
          <p:cNvPr id="1031" name="Group 20"/>
          <p:cNvGrpSpPr/>
          <p:nvPr/>
        </p:nvGrpSpPr>
        <p:grpSpPr>
          <a:xfrm>
            <a:off x="6934200" y="5257800"/>
            <a:ext cx="2033588" cy="1219200"/>
            <a:chOff x="4368" y="3312"/>
            <a:chExt cx="1281" cy="768"/>
          </a:xfrm>
        </p:grpSpPr>
        <p:sp>
          <p:nvSpPr>
            <p:cNvPr id="1045" name="AutoShape 21"/>
            <p:cNvSpPr>
              <a:spLocks noChangeArrowheads="1"/>
            </p:cNvSpPr>
            <p:nvPr/>
          </p:nvSpPr>
          <p:spPr bwMode="auto">
            <a:xfrm rot="20940000">
              <a:off x="4368" y="3729"/>
              <a:ext cx="288" cy="288"/>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6" name="AutoShape 22"/>
            <p:cNvSpPr>
              <a:spLocks noChangeArrowheads="1"/>
            </p:cNvSpPr>
            <p:nvPr/>
          </p:nvSpPr>
          <p:spPr bwMode="auto">
            <a:xfrm>
              <a:off x="4845" y="3372"/>
              <a:ext cx="264" cy="264"/>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7" name="AutoShape 23"/>
            <p:cNvSpPr>
              <a:spLocks noChangeArrowheads="1"/>
            </p:cNvSpPr>
            <p:nvPr/>
          </p:nvSpPr>
          <p:spPr bwMode="auto">
            <a:xfrm rot="1320000">
              <a:off x="5217" y="3312"/>
              <a:ext cx="384" cy="384"/>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8" name="AutoShape 24"/>
            <p:cNvSpPr>
              <a:spLocks noChangeArrowheads="1"/>
            </p:cNvSpPr>
            <p:nvPr/>
          </p:nvSpPr>
          <p:spPr bwMode="auto">
            <a:xfrm rot="20940000">
              <a:off x="4449" y="3792"/>
              <a:ext cx="288" cy="288"/>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9" name="AutoShape 25"/>
            <p:cNvSpPr>
              <a:spLocks noChangeArrowheads="1"/>
            </p:cNvSpPr>
            <p:nvPr/>
          </p:nvSpPr>
          <p:spPr bwMode="auto">
            <a:xfrm>
              <a:off x="4893" y="3420"/>
              <a:ext cx="264" cy="264"/>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50" name="AutoShape 26"/>
            <p:cNvSpPr>
              <a:spLocks noChangeArrowheads="1"/>
            </p:cNvSpPr>
            <p:nvPr/>
          </p:nvSpPr>
          <p:spPr bwMode="auto">
            <a:xfrm rot="1320000">
              <a:off x="5265" y="3408"/>
              <a:ext cx="384" cy="384"/>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032" name="Group 27"/>
          <p:cNvGrpSpPr/>
          <p:nvPr/>
        </p:nvGrpSpPr>
        <p:grpSpPr>
          <a:xfrm>
            <a:off x="381000" y="1219200"/>
            <a:ext cx="8305800" cy="381000"/>
            <a:chOff x="240" y="768"/>
            <a:chExt cx="5232" cy="240"/>
          </a:xfrm>
        </p:grpSpPr>
        <p:sp>
          <p:nvSpPr>
            <p:cNvPr id="1052" name="Rectangle 28"/>
            <p:cNvSpPr>
              <a:spLocks noChangeArrowheads="1"/>
            </p:cNvSpPr>
            <p:nvPr/>
          </p:nvSpPr>
          <p:spPr bwMode="auto">
            <a:xfrm>
              <a:off x="384" y="912"/>
              <a:ext cx="5088" cy="96"/>
            </a:xfrm>
            <a:prstGeom prst="rect">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53" name="Rectangle 29"/>
            <p:cNvSpPr>
              <a:spLocks noChangeArrowheads="1"/>
            </p:cNvSpPr>
            <p:nvPr/>
          </p:nvSpPr>
          <p:spPr bwMode="auto">
            <a:xfrm>
              <a:off x="240" y="768"/>
              <a:ext cx="5088" cy="96"/>
            </a:xfrm>
            <a:prstGeom prst="rect">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054" name="Freeform 30">
            <a:hlinkClick r:id="" action="ppaction://hlinkshowjump?jump=previousslide"/>
          </p:cNvPr>
          <p:cNvSpPr/>
          <p:nvPr/>
        </p:nvSpPr>
        <p:spPr bwMode="auto">
          <a:xfrm>
            <a:off x="781050" y="6416675"/>
            <a:ext cx="557213" cy="347663"/>
          </a:xfrm>
          <a:custGeom>
            <a:avLst/>
            <a:gdLst>
              <a:gd name="T0" fmla="*/ 350 w 351"/>
              <a:gd name="T1" fmla="*/ 1 h 219"/>
              <a:gd name="T2" fmla="*/ 101 w 351"/>
              <a:gd name="T3" fmla="*/ 0 h 219"/>
              <a:gd name="T4" fmla="*/ 81 w 351"/>
              <a:gd name="T5" fmla="*/ 2 h 219"/>
              <a:gd name="T6" fmla="*/ 67 w 351"/>
              <a:gd name="T7" fmla="*/ 6 h 219"/>
              <a:gd name="T8" fmla="*/ 51 w 351"/>
              <a:gd name="T9" fmla="*/ 15 h 219"/>
              <a:gd name="T10" fmla="*/ 38 w 351"/>
              <a:gd name="T11" fmla="*/ 25 h 219"/>
              <a:gd name="T12" fmla="*/ 28 w 351"/>
              <a:gd name="T13" fmla="*/ 35 h 219"/>
              <a:gd name="T14" fmla="*/ 19 w 351"/>
              <a:gd name="T15" fmla="*/ 48 h 219"/>
              <a:gd name="T16" fmla="*/ 12 w 351"/>
              <a:gd name="T17" fmla="*/ 59 h 219"/>
              <a:gd name="T18" fmla="*/ 6 w 351"/>
              <a:gd name="T19" fmla="*/ 73 h 219"/>
              <a:gd name="T20" fmla="*/ 1 w 351"/>
              <a:gd name="T21" fmla="*/ 89 h 219"/>
              <a:gd name="T22" fmla="*/ 1 w 351"/>
              <a:gd name="T23" fmla="*/ 99 h 219"/>
              <a:gd name="T24" fmla="*/ 0 w 351"/>
              <a:gd name="T25" fmla="*/ 119 h 219"/>
              <a:gd name="T26" fmla="*/ 2 w 351"/>
              <a:gd name="T27" fmla="*/ 136 h 219"/>
              <a:gd name="T28" fmla="*/ 9 w 351"/>
              <a:gd name="T29" fmla="*/ 150 h 219"/>
              <a:gd name="T30" fmla="*/ 15 w 351"/>
              <a:gd name="T31" fmla="*/ 164 h 219"/>
              <a:gd name="T32" fmla="*/ 24 w 351"/>
              <a:gd name="T33" fmla="*/ 176 h 219"/>
              <a:gd name="T34" fmla="*/ 33 w 351"/>
              <a:gd name="T35" fmla="*/ 189 h 219"/>
              <a:gd name="T36" fmla="*/ 46 w 351"/>
              <a:gd name="T37" fmla="*/ 198 h 219"/>
              <a:gd name="T38" fmla="*/ 59 w 351"/>
              <a:gd name="T39" fmla="*/ 207 h 219"/>
              <a:gd name="T40" fmla="*/ 72 w 351"/>
              <a:gd name="T41" fmla="*/ 212 h 219"/>
              <a:gd name="T42" fmla="*/ 90 w 351"/>
              <a:gd name="T43" fmla="*/ 218 h 219"/>
              <a:gd name="T44" fmla="*/ 350 w 351"/>
              <a:gd name="T45" fmla="*/ 218 h 219"/>
              <a:gd name="T46" fmla="*/ 350 w 351"/>
              <a:gd name="T47" fmla="*/ 1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51" h="219">
                <a:moveTo>
                  <a:pt x="350" y="1"/>
                </a:moveTo>
                <a:lnTo>
                  <a:pt x="101" y="0"/>
                </a:lnTo>
                <a:lnTo>
                  <a:pt x="81" y="2"/>
                </a:lnTo>
                <a:lnTo>
                  <a:pt x="67" y="6"/>
                </a:lnTo>
                <a:lnTo>
                  <a:pt x="51" y="15"/>
                </a:lnTo>
                <a:lnTo>
                  <a:pt x="38" y="25"/>
                </a:lnTo>
                <a:lnTo>
                  <a:pt x="28" y="35"/>
                </a:lnTo>
                <a:lnTo>
                  <a:pt x="19" y="48"/>
                </a:lnTo>
                <a:lnTo>
                  <a:pt x="12" y="59"/>
                </a:lnTo>
                <a:lnTo>
                  <a:pt x="6" y="73"/>
                </a:lnTo>
                <a:lnTo>
                  <a:pt x="1" y="89"/>
                </a:lnTo>
                <a:lnTo>
                  <a:pt x="1" y="99"/>
                </a:lnTo>
                <a:lnTo>
                  <a:pt x="0" y="119"/>
                </a:lnTo>
                <a:lnTo>
                  <a:pt x="2" y="136"/>
                </a:lnTo>
                <a:lnTo>
                  <a:pt x="9" y="150"/>
                </a:lnTo>
                <a:lnTo>
                  <a:pt x="15" y="164"/>
                </a:lnTo>
                <a:lnTo>
                  <a:pt x="24" y="176"/>
                </a:lnTo>
                <a:lnTo>
                  <a:pt x="33" y="189"/>
                </a:lnTo>
                <a:lnTo>
                  <a:pt x="46" y="198"/>
                </a:lnTo>
                <a:lnTo>
                  <a:pt x="59" y="207"/>
                </a:lnTo>
                <a:lnTo>
                  <a:pt x="72" y="212"/>
                </a:lnTo>
                <a:lnTo>
                  <a:pt x="90" y="218"/>
                </a:lnTo>
                <a:lnTo>
                  <a:pt x="350" y="218"/>
                </a:lnTo>
                <a:lnTo>
                  <a:pt x="350" y="1"/>
                </a:lnTo>
              </a:path>
            </a:pathLst>
          </a:custGeom>
          <a:gradFill rotWithShape="0">
            <a:gsLst>
              <a:gs pos="0">
                <a:schemeClr val="hlink"/>
              </a:gs>
              <a:gs pos="100000">
                <a:schemeClr val="hlink">
                  <a:gamma/>
                  <a:shade val="46275"/>
                  <a:invGamma/>
                </a:schemeClr>
              </a:gs>
            </a:gsLst>
            <a:path path="rect">
              <a:fillToRect l="50000" t="50000" r="50000" b="50000"/>
            </a:path>
          </a:gradFill>
          <a:ln>
            <a:noFill/>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55" name="Freeform 31">
            <a:hlinkClick r:id="" action="ppaction://hlinkshowjump?jump=nextslide"/>
          </p:cNvPr>
          <p:cNvSpPr/>
          <p:nvPr/>
        </p:nvSpPr>
        <p:spPr bwMode="auto">
          <a:xfrm>
            <a:off x="1447800" y="6416675"/>
            <a:ext cx="557213" cy="347663"/>
          </a:xfrm>
          <a:custGeom>
            <a:avLst/>
            <a:gdLst>
              <a:gd name="T0" fmla="*/ 0 w 351"/>
              <a:gd name="T1" fmla="*/ 1 h 219"/>
              <a:gd name="T2" fmla="*/ 249 w 351"/>
              <a:gd name="T3" fmla="*/ 0 h 219"/>
              <a:gd name="T4" fmla="*/ 268 w 351"/>
              <a:gd name="T5" fmla="*/ 3 h 219"/>
              <a:gd name="T6" fmla="*/ 283 w 351"/>
              <a:gd name="T7" fmla="*/ 6 h 219"/>
              <a:gd name="T8" fmla="*/ 298 w 351"/>
              <a:gd name="T9" fmla="*/ 16 h 219"/>
              <a:gd name="T10" fmla="*/ 311 w 351"/>
              <a:gd name="T11" fmla="*/ 26 h 219"/>
              <a:gd name="T12" fmla="*/ 321 w 351"/>
              <a:gd name="T13" fmla="*/ 35 h 219"/>
              <a:gd name="T14" fmla="*/ 331 w 351"/>
              <a:gd name="T15" fmla="*/ 48 h 219"/>
              <a:gd name="T16" fmla="*/ 337 w 351"/>
              <a:gd name="T17" fmla="*/ 60 h 219"/>
              <a:gd name="T18" fmla="*/ 344 w 351"/>
              <a:gd name="T19" fmla="*/ 74 h 219"/>
              <a:gd name="T20" fmla="*/ 349 w 351"/>
              <a:gd name="T21" fmla="*/ 90 h 219"/>
              <a:gd name="T22" fmla="*/ 349 w 351"/>
              <a:gd name="T23" fmla="*/ 100 h 219"/>
              <a:gd name="T24" fmla="*/ 350 w 351"/>
              <a:gd name="T25" fmla="*/ 119 h 219"/>
              <a:gd name="T26" fmla="*/ 347 w 351"/>
              <a:gd name="T27" fmla="*/ 136 h 219"/>
              <a:gd name="T28" fmla="*/ 341 w 351"/>
              <a:gd name="T29" fmla="*/ 151 h 219"/>
              <a:gd name="T30" fmla="*/ 334 w 351"/>
              <a:gd name="T31" fmla="*/ 165 h 219"/>
              <a:gd name="T32" fmla="*/ 325 w 351"/>
              <a:gd name="T33" fmla="*/ 176 h 219"/>
              <a:gd name="T34" fmla="*/ 316 w 351"/>
              <a:gd name="T35" fmla="*/ 189 h 219"/>
              <a:gd name="T36" fmla="*/ 303 w 351"/>
              <a:gd name="T37" fmla="*/ 199 h 219"/>
              <a:gd name="T38" fmla="*/ 290 w 351"/>
              <a:gd name="T39" fmla="*/ 208 h 219"/>
              <a:gd name="T40" fmla="*/ 277 w 351"/>
              <a:gd name="T41" fmla="*/ 213 h 219"/>
              <a:gd name="T42" fmla="*/ 259 w 351"/>
              <a:gd name="T43" fmla="*/ 218 h 219"/>
              <a:gd name="T44" fmla="*/ 0 w 351"/>
              <a:gd name="T45" fmla="*/ 218 h 219"/>
              <a:gd name="T46" fmla="*/ 0 w 351"/>
              <a:gd name="T47" fmla="*/ 1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51" h="219">
                <a:moveTo>
                  <a:pt x="0" y="1"/>
                </a:moveTo>
                <a:lnTo>
                  <a:pt x="249" y="0"/>
                </a:lnTo>
                <a:lnTo>
                  <a:pt x="268" y="3"/>
                </a:lnTo>
                <a:lnTo>
                  <a:pt x="283" y="6"/>
                </a:lnTo>
                <a:lnTo>
                  <a:pt x="298" y="16"/>
                </a:lnTo>
                <a:lnTo>
                  <a:pt x="311" y="26"/>
                </a:lnTo>
                <a:lnTo>
                  <a:pt x="321" y="35"/>
                </a:lnTo>
                <a:lnTo>
                  <a:pt x="331" y="48"/>
                </a:lnTo>
                <a:lnTo>
                  <a:pt x="337" y="60"/>
                </a:lnTo>
                <a:lnTo>
                  <a:pt x="344" y="74"/>
                </a:lnTo>
                <a:lnTo>
                  <a:pt x="349" y="90"/>
                </a:lnTo>
                <a:lnTo>
                  <a:pt x="349" y="100"/>
                </a:lnTo>
                <a:lnTo>
                  <a:pt x="350" y="119"/>
                </a:lnTo>
                <a:lnTo>
                  <a:pt x="347" y="136"/>
                </a:lnTo>
                <a:lnTo>
                  <a:pt x="341" y="151"/>
                </a:lnTo>
                <a:lnTo>
                  <a:pt x="334" y="165"/>
                </a:lnTo>
                <a:lnTo>
                  <a:pt x="325" y="176"/>
                </a:lnTo>
                <a:lnTo>
                  <a:pt x="316" y="189"/>
                </a:lnTo>
                <a:lnTo>
                  <a:pt x="303" y="199"/>
                </a:lnTo>
                <a:lnTo>
                  <a:pt x="290" y="208"/>
                </a:lnTo>
                <a:lnTo>
                  <a:pt x="277" y="213"/>
                </a:lnTo>
                <a:lnTo>
                  <a:pt x="259" y="218"/>
                </a:lnTo>
                <a:lnTo>
                  <a:pt x="0" y="218"/>
                </a:lnTo>
                <a:lnTo>
                  <a:pt x="0" y="1"/>
                </a:lnTo>
              </a:path>
            </a:pathLst>
          </a:custGeom>
          <a:gradFill rotWithShape="0">
            <a:gsLst>
              <a:gs pos="0">
                <a:schemeClr val="hlink"/>
              </a:gs>
              <a:gs pos="100000">
                <a:schemeClr val="hlink">
                  <a:gamma/>
                  <a:shade val="46275"/>
                  <a:invGamma/>
                </a:schemeClr>
              </a:gs>
            </a:gsLst>
            <a:path path="rect">
              <a:fillToRect l="50000" t="50000" r="50000" b="50000"/>
            </a:path>
          </a:gradFill>
          <a:ln>
            <a:noFill/>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vl6pPr marL="25146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6pPr>
      <a:lvl7pPr marL="29718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7pPr>
      <a:lvl8pPr marL="34290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8pPr>
      <a:lvl9pPr marL="38862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6.xml"/><Relationship Id="rId7" Type="http://schemas.openxmlformats.org/officeDocument/2006/relationships/image" Target="../media/image9.pn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GIF"/></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3.png"/><Relationship Id="rId1"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5.png"/><Relationship Id="rId1" Type="http://schemas.openxmlformats.org/officeDocument/2006/relationships/image" Target="../media/image24.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36.png"/><Relationship Id="rId7" Type="http://schemas.openxmlformats.org/officeDocument/2006/relationships/image" Target="../media/image35.png"/><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37.png"/></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6.xml"/><Relationship Id="rId7" Type="http://schemas.openxmlformats.org/officeDocument/2006/relationships/image" Target="../media/image46.png"/><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image" Target="../media/image40.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7.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2.png"/></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image" Target="../media/image53.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xml"/><Relationship Id="rId1" Type="http://schemas.openxmlformats.org/officeDocument/2006/relationships/tags" Target="../tags/tag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image" Target="../media/image59.png"/><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56.png"/></Relationships>
</file>

<file path=ppt/slides/_rels/slide33.xml.rels><?xml version="1.0" encoding="UTF-8" standalone="yes"?>
<Relationships xmlns="http://schemas.openxmlformats.org/package/2006/relationships"><Relationship Id="rId9" Type="http://schemas.openxmlformats.org/officeDocument/2006/relationships/image" Target="../media/image68.png"/><Relationship Id="rId8" Type="http://schemas.openxmlformats.org/officeDocument/2006/relationships/image" Target="../media/image67.png"/><Relationship Id="rId7" Type="http://schemas.openxmlformats.org/officeDocument/2006/relationships/image" Target="../media/image66.png"/><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 Id="rId3" Type="http://schemas.openxmlformats.org/officeDocument/2006/relationships/image" Target="../media/image62.png"/><Relationship Id="rId2" Type="http://schemas.openxmlformats.org/officeDocument/2006/relationships/image" Target="../media/image61.png"/><Relationship Id="rId10" Type="http://schemas.openxmlformats.org/officeDocument/2006/relationships/slideLayout" Target="../slideLayouts/slideLayout6.xml"/><Relationship Id="rId1" Type="http://schemas.openxmlformats.org/officeDocument/2006/relationships/image" Target="../media/image60.pn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image" Target="../media/image6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3.1 </a:t>
            </a:r>
            <a:r>
              <a:rPr kumimoji="0" lang="zh-CN" altLang="en-US" kern="1200" dirty="0" smtClean="0">
                <a:solidFill>
                  <a:schemeClr val="accent2"/>
                </a:solidFill>
                <a:sym typeface="+mn-ea"/>
              </a:rPr>
              <a:t>动态规划的设计思想</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49155" name="内容占位符 2"/>
          <p:cNvSpPr>
            <a:spLocks noGrp="1"/>
          </p:cNvSpPr>
          <p:nvPr>
            <p:ph idx="4294967295"/>
          </p:nvPr>
        </p:nvSpPr>
        <p:spPr>
          <a:xfrm>
            <a:off x="323528" y="1628800"/>
            <a:ext cx="8424936" cy="1311128"/>
          </a:xfrm>
        </p:spPr>
        <p:txBody>
          <a:bodyPr vert="horz" wrap="square" lIns="91440" tIns="45720" rIns="91440" bIns="45720" numCol="1" anchor="t" anchorCtr="0" compatLnSpc="1"/>
          <a:lstStyle/>
          <a:p>
            <a:pPr marL="342900" marR="0" lvl="0" indent="-342900" algn="l" defTabSz="914400" rtl="0" eaLnBrk="1" fontAlgn="base" latinLnBrk="0" hangingPunct="1">
              <a:spcBef>
                <a:spcPct val="20000"/>
              </a:spcBef>
              <a:spcAft>
                <a:spcPts val="0"/>
              </a:spcAft>
              <a:buClrTx/>
              <a:buSzTx/>
              <a:buFont typeface="Arial" panose="020B0604020202020204" pitchFamily="34" charset="0"/>
              <a:buNone/>
              <a:defRPr/>
            </a:pPr>
            <a:r>
              <a:rPr kumimoji="0" lang="en-US" altLang="zh-CN" sz="2400" i="0" u="none" strike="noStrike" kern="1200" cap="none" spc="0" normalizeH="0" baseline="0" noProof="0" dirty="0" smtClean="0">
                <a:ln>
                  <a:noFill/>
                </a:ln>
                <a:solidFill>
                  <a:schemeClr val="bg2"/>
                </a:solidFill>
                <a:effectLst/>
                <a:uLnTx/>
                <a:uFillTx/>
                <a:latin typeface="+mj-ea"/>
                <a:ea typeface="+mj-ea"/>
                <a:cs typeface="+mj-ea"/>
              </a:rPr>
              <a:t>   </a:t>
            </a:r>
            <a:endParaRPr kumimoji="0" lang="zh-CN" altLang="en-US" sz="2400" i="0" u="none" strike="noStrike" kern="1200" cap="none" spc="0" normalizeH="0" baseline="0" noProof="0" dirty="0" smtClean="0">
              <a:ln>
                <a:noFill/>
              </a:ln>
              <a:solidFill>
                <a:srgbClr val="FF0000"/>
              </a:solidFill>
              <a:effectLst/>
              <a:uLnTx/>
              <a:uFillTx/>
              <a:latin typeface="+mj-ea"/>
              <a:ea typeface="+mj-ea"/>
              <a:cs typeface="+mj-ea"/>
            </a:endParaRPr>
          </a:p>
        </p:txBody>
      </p:sp>
      <p:sp>
        <p:nvSpPr>
          <p:cNvPr id="3" name="矩形 2"/>
          <p:cNvSpPr/>
          <p:nvPr/>
        </p:nvSpPr>
        <p:spPr>
          <a:xfrm>
            <a:off x="395536" y="1628800"/>
            <a:ext cx="8352928" cy="497205"/>
          </a:xfrm>
          <a:prstGeom prst="rect">
            <a:avLst/>
          </a:prstGeom>
        </p:spPr>
        <p:txBody>
          <a:bodyPr wrap="square">
            <a:spAutoFit/>
          </a:bodyPr>
          <a:lstStyle/>
          <a:p>
            <a:pPr marL="342900" indent="-342900">
              <a:lnSpc>
                <a:spcPct val="110000"/>
              </a:lnSpc>
              <a:spcBef>
                <a:spcPts val="0"/>
              </a:spcBef>
              <a:spcAft>
                <a:spcPts val="0"/>
              </a:spcAft>
              <a:buFont typeface="Wingdings" panose="05000000000000000000" charset="0"/>
              <a:buChar char="Ø"/>
            </a:pPr>
            <a:r>
              <a:rPr lang="zh-CN" altLang="en-US" dirty="0">
                <a:solidFill>
                  <a:schemeClr val="bg1"/>
                </a:solidFill>
                <a:latin typeface="+mn-ea"/>
                <a:ea typeface="+mn-ea"/>
                <a:cs typeface="Times New Roman" panose="02020603050405020304" pitchFamily="18" charset="0"/>
              </a:rPr>
              <a:t>例题：多起点、多终点的最短路径问题</a:t>
            </a:r>
            <a:r>
              <a:rPr lang="en-US" altLang="zh-CN" dirty="0">
                <a:solidFill>
                  <a:schemeClr val="bg1"/>
                </a:solidFill>
                <a:latin typeface="+mn-ea"/>
                <a:ea typeface="+mn-ea"/>
                <a:cs typeface="Times New Roman" panose="02020603050405020304" pitchFamily="18" charset="0"/>
              </a:rPr>
              <a:t>——</a:t>
            </a:r>
            <a:r>
              <a:rPr lang="zh-CN" altLang="en-US" dirty="0">
                <a:solidFill>
                  <a:schemeClr val="bg1"/>
                </a:solidFill>
                <a:latin typeface="+mn-ea"/>
                <a:ea typeface="+mn-ea"/>
                <a:cs typeface="Times New Roman" panose="02020603050405020304" pitchFamily="18" charset="0"/>
              </a:rPr>
              <a:t>书中例子</a:t>
            </a:r>
            <a:endParaRPr lang="zh-CN" altLang="en-US" dirty="0">
              <a:solidFill>
                <a:schemeClr val="bg1"/>
              </a:solidFill>
              <a:latin typeface="+mn-ea"/>
              <a:ea typeface="+mn-ea"/>
              <a:cs typeface="Times New Roman" panose="02020603050405020304" pitchFamily="18" charset="0"/>
            </a:endParaRPr>
          </a:p>
        </p:txBody>
      </p:sp>
      <p:sp>
        <p:nvSpPr>
          <p:cNvPr id="4" name="文本框 3"/>
          <p:cNvSpPr txBox="1"/>
          <p:nvPr/>
        </p:nvSpPr>
        <p:spPr>
          <a:xfrm>
            <a:off x="1336040" y="2197735"/>
            <a:ext cx="6943090" cy="2749550"/>
          </a:xfrm>
          <a:prstGeom prst="rect">
            <a:avLst/>
          </a:prstGeom>
          <a:noFill/>
        </p:spPr>
        <p:txBody>
          <a:bodyPr wrap="square" rtlCol="0" anchor="t">
            <a:spAutoFit/>
          </a:bodyPr>
          <a:lstStyle/>
          <a:p>
            <a:pPr>
              <a:lnSpc>
                <a:spcPct val="120000"/>
              </a:lnSpc>
              <a:spcBef>
                <a:spcPts val="0"/>
              </a:spcBef>
              <a:spcAft>
                <a:spcPts val="0"/>
              </a:spcAft>
            </a:pPr>
            <a:r>
              <a:rPr lang="zh-CN" altLang="en-US">
                <a:solidFill>
                  <a:schemeClr val="bg2"/>
                </a:solidFill>
              </a:rPr>
              <a:t>问题：</a:t>
            </a:r>
            <a:endParaRPr lang="zh-CN" altLang="en-US">
              <a:solidFill>
                <a:schemeClr val="bg2"/>
              </a:solidFill>
            </a:endParaRPr>
          </a:p>
          <a:p>
            <a:pPr>
              <a:lnSpc>
                <a:spcPct val="120000"/>
              </a:lnSpc>
              <a:spcBef>
                <a:spcPts val="0"/>
              </a:spcBef>
              <a:spcAft>
                <a:spcPts val="0"/>
              </a:spcAft>
            </a:pPr>
            <a:r>
              <a:rPr lang="zh-CN" altLang="en-US" b="1">
                <a:solidFill>
                  <a:schemeClr val="bg2"/>
                </a:solidFill>
              </a:rPr>
              <a:t>输入</a:t>
            </a:r>
            <a:r>
              <a:rPr lang="zh-CN" altLang="en-US">
                <a:solidFill>
                  <a:schemeClr val="bg2"/>
                </a:solidFill>
              </a:rPr>
              <a:t>：起点集合</a:t>
            </a:r>
            <a:r>
              <a:rPr lang="en-US" altLang="zh-CN" b="1" i="1">
                <a:solidFill>
                  <a:schemeClr val="bg2"/>
                </a:solidFill>
              </a:rPr>
              <a:t>S</a:t>
            </a:r>
            <a:r>
              <a:rPr lang="zh-CN" altLang="en-US">
                <a:solidFill>
                  <a:schemeClr val="bg2"/>
                </a:solidFill>
              </a:rPr>
              <a:t>{ </a:t>
            </a:r>
            <a:r>
              <a:rPr lang="en-US" altLang="zh-CN" b="1" i="1">
                <a:solidFill>
                  <a:schemeClr val="bg2"/>
                </a:solidFill>
              </a:rPr>
              <a:t>S</a:t>
            </a:r>
            <a:r>
              <a:rPr lang="zh-CN" altLang="en-US" baseline="-25000">
                <a:solidFill>
                  <a:schemeClr val="bg2"/>
                </a:solidFill>
              </a:rPr>
              <a:t>1</a:t>
            </a:r>
            <a:r>
              <a:rPr lang="zh-CN" altLang="en-US">
                <a:solidFill>
                  <a:schemeClr val="bg2"/>
                </a:solidFill>
              </a:rPr>
              <a:t>, </a:t>
            </a:r>
            <a:r>
              <a:rPr lang="en-US" altLang="zh-CN" b="1" i="1">
                <a:solidFill>
                  <a:schemeClr val="bg2"/>
                </a:solidFill>
              </a:rPr>
              <a:t>S</a:t>
            </a:r>
            <a:r>
              <a:rPr lang="zh-CN" altLang="en-US" baseline="-25000">
                <a:solidFill>
                  <a:schemeClr val="bg2"/>
                </a:solidFill>
              </a:rPr>
              <a:t>2</a:t>
            </a:r>
            <a:r>
              <a:rPr lang="zh-CN" altLang="en-US">
                <a:solidFill>
                  <a:schemeClr val="bg2"/>
                </a:solidFill>
              </a:rPr>
              <a:t>, ..., </a:t>
            </a:r>
            <a:r>
              <a:rPr lang="en-US" altLang="zh-CN" b="1" i="1">
                <a:solidFill>
                  <a:schemeClr val="bg2"/>
                </a:solidFill>
              </a:rPr>
              <a:t>S</a:t>
            </a:r>
            <a:r>
              <a:rPr lang="zh-CN" altLang="en-US" b="1" i="1" baseline="-25000">
                <a:solidFill>
                  <a:schemeClr val="bg2"/>
                </a:solidFill>
              </a:rPr>
              <a:t>n</a:t>
            </a:r>
            <a:r>
              <a:rPr lang="zh-CN" altLang="en-US">
                <a:solidFill>
                  <a:schemeClr val="bg2"/>
                </a:solidFill>
              </a:rPr>
              <a:t> } ，</a:t>
            </a:r>
            <a:endParaRPr lang="zh-CN" altLang="en-US">
              <a:solidFill>
                <a:schemeClr val="bg2"/>
              </a:solidFill>
            </a:endParaRPr>
          </a:p>
          <a:p>
            <a:pPr>
              <a:lnSpc>
                <a:spcPct val="120000"/>
              </a:lnSpc>
              <a:spcBef>
                <a:spcPts val="0"/>
              </a:spcBef>
              <a:spcAft>
                <a:spcPts val="0"/>
              </a:spcAft>
            </a:pPr>
            <a:r>
              <a:rPr lang="zh-CN" altLang="en-US">
                <a:solidFill>
                  <a:schemeClr val="bg2"/>
                </a:solidFill>
              </a:rPr>
              <a:t>            终点集合</a:t>
            </a:r>
            <a:r>
              <a:rPr lang="en-US" altLang="zh-CN" b="1" i="1">
                <a:solidFill>
                  <a:schemeClr val="bg2"/>
                </a:solidFill>
              </a:rPr>
              <a:t>T</a:t>
            </a:r>
            <a:r>
              <a:rPr lang="zh-CN" altLang="en-US">
                <a:solidFill>
                  <a:schemeClr val="bg2"/>
                </a:solidFill>
              </a:rPr>
              <a:t>{</a:t>
            </a:r>
            <a:r>
              <a:rPr lang="en-US" altLang="zh-CN" b="1" i="1">
                <a:solidFill>
                  <a:schemeClr val="bg2"/>
                </a:solidFill>
              </a:rPr>
              <a:t>T</a:t>
            </a:r>
            <a:r>
              <a:rPr lang="zh-CN" altLang="en-US" baseline="-25000">
                <a:solidFill>
                  <a:schemeClr val="bg2"/>
                </a:solidFill>
              </a:rPr>
              <a:t>1</a:t>
            </a:r>
            <a:r>
              <a:rPr lang="zh-CN" altLang="en-US">
                <a:solidFill>
                  <a:schemeClr val="bg2"/>
                </a:solidFill>
              </a:rPr>
              <a:t>, </a:t>
            </a:r>
            <a:r>
              <a:rPr lang="en-US" altLang="zh-CN" b="1" i="1">
                <a:solidFill>
                  <a:schemeClr val="bg2"/>
                </a:solidFill>
              </a:rPr>
              <a:t>T</a:t>
            </a:r>
            <a:r>
              <a:rPr lang="zh-CN" altLang="en-US" baseline="-25000">
                <a:solidFill>
                  <a:schemeClr val="bg2"/>
                </a:solidFill>
              </a:rPr>
              <a:t>2</a:t>
            </a:r>
            <a:r>
              <a:rPr lang="zh-CN" altLang="en-US">
                <a:solidFill>
                  <a:schemeClr val="bg2"/>
                </a:solidFill>
              </a:rPr>
              <a:t>, ... ,</a:t>
            </a:r>
            <a:r>
              <a:rPr lang="en-US" altLang="zh-CN" b="1" i="1">
                <a:solidFill>
                  <a:schemeClr val="bg2"/>
                </a:solidFill>
              </a:rPr>
              <a:t> T</a:t>
            </a:r>
            <a:r>
              <a:rPr lang="zh-CN" altLang="en-US" b="1" i="1" baseline="-25000">
                <a:solidFill>
                  <a:schemeClr val="bg2"/>
                </a:solidFill>
              </a:rPr>
              <a:t>m</a:t>
            </a:r>
            <a:r>
              <a:rPr lang="zh-CN" altLang="en-US">
                <a:solidFill>
                  <a:schemeClr val="bg2"/>
                </a:solidFill>
              </a:rPr>
              <a:t>}，</a:t>
            </a:r>
            <a:endParaRPr lang="zh-CN" altLang="en-US">
              <a:solidFill>
                <a:schemeClr val="bg2"/>
              </a:solidFill>
            </a:endParaRPr>
          </a:p>
          <a:p>
            <a:pPr>
              <a:lnSpc>
                <a:spcPct val="120000"/>
              </a:lnSpc>
              <a:spcBef>
                <a:spcPts val="0"/>
              </a:spcBef>
              <a:spcAft>
                <a:spcPts val="0"/>
              </a:spcAft>
            </a:pPr>
            <a:r>
              <a:rPr lang="zh-CN" altLang="en-US">
                <a:solidFill>
                  <a:schemeClr val="bg2"/>
                </a:solidFill>
              </a:rPr>
              <a:t>            中间结点集</a:t>
            </a:r>
            <a:r>
              <a:rPr lang="en-US" altLang="zh-CN" b="1" i="1">
                <a:solidFill>
                  <a:schemeClr val="bg2"/>
                </a:solidFill>
              </a:rPr>
              <a:t>A</a:t>
            </a:r>
            <a:r>
              <a:rPr lang="zh-CN" altLang="en-US">
                <a:solidFill>
                  <a:schemeClr val="bg2"/>
                </a:solidFill>
              </a:rPr>
              <a:t>、</a:t>
            </a:r>
            <a:r>
              <a:rPr lang="en-US" altLang="zh-CN" b="1" i="1">
                <a:solidFill>
                  <a:schemeClr val="bg2"/>
                </a:solidFill>
              </a:rPr>
              <a:t>B</a:t>
            </a:r>
            <a:r>
              <a:rPr lang="zh-CN" altLang="en-US">
                <a:solidFill>
                  <a:schemeClr val="bg2"/>
                </a:solidFill>
              </a:rPr>
              <a:t>、</a:t>
            </a:r>
            <a:r>
              <a:rPr lang="en-US" altLang="zh-CN" b="1" i="1">
                <a:solidFill>
                  <a:schemeClr val="bg2"/>
                </a:solidFill>
              </a:rPr>
              <a:t>C</a:t>
            </a:r>
            <a:r>
              <a:rPr lang="zh-CN" altLang="en-US">
                <a:solidFill>
                  <a:schemeClr val="bg2"/>
                </a:solidFill>
              </a:rPr>
              <a:t>，</a:t>
            </a:r>
            <a:endParaRPr lang="zh-CN" altLang="en-US">
              <a:solidFill>
                <a:schemeClr val="bg2"/>
              </a:solidFill>
            </a:endParaRPr>
          </a:p>
          <a:p>
            <a:pPr>
              <a:lnSpc>
                <a:spcPct val="120000"/>
              </a:lnSpc>
              <a:spcBef>
                <a:spcPts val="0"/>
              </a:spcBef>
              <a:spcAft>
                <a:spcPts val="0"/>
              </a:spcAft>
            </a:pPr>
            <a:r>
              <a:rPr lang="zh-CN" altLang="en-US">
                <a:solidFill>
                  <a:schemeClr val="bg2"/>
                </a:solidFill>
              </a:rPr>
              <a:t>            边集 </a:t>
            </a:r>
            <a:r>
              <a:rPr lang="zh-CN" altLang="en-US" b="1" i="1">
                <a:solidFill>
                  <a:schemeClr val="bg2"/>
                </a:solidFill>
              </a:rPr>
              <a:t>E</a:t>
            </a:r>
            <a:r>
              <a:rPr lang="zh-CN" altLang="en-US">
                <a:solidFill>
                  <a:schemeClr val="bg2"/>
                </a:solidFill>
              </a:rPr>
              <a:t>，对于任意边</a:t>
            </a:r>
            <a:r>
              <a:rPr lang="zh-CN" altLang="en-US" b="1" i="1">
                <a:solidFill>
                  <a:schemeClr val="bg2"/>
                </a:solidFill>
              </a:rPr>
              <a:t> e</a:t>
            </a:r>
            <a:r>
              <a:rPr lang="zh-CN" altLang="en-US">
                <a:solidFill>
                  <a:schemeClr val="bg2"/>
                </a:solidFill>
              </a:rPr>
              <a:t> 有长度</a:t>
            </a:r>
            <a:endParaRPr lang="zh-CN" altLang="en-US">
              <a:solidFill>
                <a:schemeClr val="bg2"/>
              </a:solidFill>
            </a:endParaRPr>
          </a:p>
          <a:p>
            <a:pPr>
              <a:lnSpc>
                <a:spcPct val="120000"/>
              </a:lnSpc>
              <a:spcBef>
                <a:spcPts val="0"/>
              </a:spcBef>
              <a:spcAft>
                <a:spcPts val="0"/>
              </a:spcAft>
            </a:pPr>
            <a:r>
              <a:rPr lang="zh-CN" altLang="en-US" b="1">
                <a:solidFill>
                  <a:schemeClr val="bg2"/>
                </a:solidFill>
              </a:rPr>
              <a:t>输出</a:t>
            </a:r>
            <a:r>
              <a:rPr lang="zh-CN" altLang="en-US">
                <a:solidFill>
                  <a:schemeClr val="bg2"/>
                </a:solidFill>
              </a:rPr>
              <a:t>：一条从起点到终点的最短路径</a:t>
            </a:r>
            <a:endParaRPr lang="zh-CN" altLang="en-US">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left)">
                                      <p:cBhvr>
                                        <p:cTn id="7" dur="500"/>
                                        <p:tgtEl>
                                          <p:spTgt spid="4">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wipe(left)">
                                      <p:cBhvr>
                                        <p:cTn id="10" dur="500"/>
                                        <p:tgtEl>
                                          <p:spTgt spid="4">
                                            <p:txEl>
                                              <p:pRg st="2" end="2"/>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wipe(left)">
                                      <p:cBhvr>
                                        <p:cTn id="13" dur="500"/>
                                        <p:tgtEl>
                                          <p:spTgt spid="4">
                                            <p:txEl>
                                              <p:pRg st="3" end="3"/>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wipe(left)">
                                      <p:cBhvr>
                                        <p:cTn id="16" dur="500"/>
                                        <p:tgtEl>
                                          <p:spTgt spid="4">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Effect transition="in" filter="wipe(left)">
                                      <p:cBhvr>
                                        <p:cTn id="21"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3.1 </a:t>
            </a:r>
            <a:r>
              <a:rPr kumimoji="0" lang="zh-CN" altLang="en-US" kern="1200" dirty="0" smtClean="0">
                <a:solidFill>
                  <a:schemeClr val="accent2"/>
                </a:solidFill>
                <a:sym typeface="+mn-ea"/>
              </a:rPr>
              <a:t>动态规划的设计思想</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pic>
        <p:nvPicPr>
          <p:cNvPr id="94" name="20 93"/>
          <p:cNvPicPr>
            <a:picLocks noChangeAspect="1"/>
          </p:cNvPicPr>
          <p:nvPr/>
        </p:nvPicPr>
        <p:blipFill>
          <a:blip r:embed="rId1"/>
          <a:stretch>
            <a:fillRect/>
          </a:stretch>
        </p:blipFill>
        <p:spPr>
          <a:xfrm>
            <a:off x="1407795" y="1840865"/>
            <a:ext cx="6231890" cy="4119245"/>
          </a:xfrm>
          <a:prstGeom prst="rect">
            <a:avLst/>
          </a:prstGeom>
        </p:spPr>
      </p:pic>
      <p:sp>
        <p:nvSpPr>
          <p:cNvPr id="18543" name="Line 113"/>
          <p:cNvSpPr/>
          <p:nvPr/>
        </p:nvSpPr>
        <p:spPr>
          <a:xfrm>
            <a:off x="2148205" y="4010660"/>
            <a:ext cx="863600" cy="288925"/>
          </a:xfrm>
          <a:prstGeom prst="line">
            <a:avLst/>
          </a:prstGeom>
          <a:ln w="57150" cap="flat" cmpd="sng">
            <a:solidFill>
              <a:srgbClr val="FF0000"/>
            </a:solidFill>
            <a:prstDash val="solid"/>
            <a:round/>
            <a:headEnd type="none" w="med" len="med"/>
            <a:tailEnd type="none" w="med" len="med"/>
          </a:ln>
        </p:spPr>
      </p:sp>
      <p:sp>
        <p:nvSpPr>
          <p:cNvPr id="18545" name="Line 115"/>
          <p:cNvSpPr/>
          <p:nvPr/>
        </p:nvSpPr>
        <p:spPr>
          <a:xfrm>
            <a:off x="4702810" y="4707890"/>
            <a:ext cx="863600" cy="431800"/>
          </a:xfrm>
          <a:prstGeom prst="line">
            <a:avLst/>
          </a:prstGeom>
          <a:ln w="57150" cap="flat" cmpd="sng">
            <a:solidFill>
              <a:srgbClr val="FF0000"/>
            </a:solidFill>
            <a:prstDash val="solid"/>
            <a:round/>
            <a:headEnd type="none" w="med" len="med"/>
            <a:tailEnd type="none" w="med" len="med"/>
          </a:ln>
        </p:spPr>
      </p:sp>
      <p:sp>
        <p:nvSpPr>
          <p:cNvPr id="18546" name="Line 116"/>
          <p:cNvSpPr/>
          <p:nvPr/>
        </p:nvSpPr>
        <p:spPr>
          <a:xfrm flipV="1">
            <a:off x="5961380" y="4744085"/>
            <a:ext cx="1079500" cy="360045"/>
          </a:xfrm>
          <a:prstGeom prst="line">
            <a:avLst/>
          </a:prstGeom>
          <a:ln w="57150" cap="flat" cmpd="sng">
            <a:solidFill>
              <a:srgbClr val="FF0000"/>
            </a:solidFill>
            <a:prstDash val="solid"/>
            <a:round/>
            <a:headEnd type="none" w="med" len="med"/>
            <a:tailEnd type="none" w="med" len="med"/>
          </a:ln>
        </p:spPr>
      </p:sp>
      <p:sp>
        <p:nvSpPr>
          <p:cNvPr id="18547" name="Line 117"/>
          <p:cNvSpPr/>
          <p:nvPr/>
        </p:nvSpPr>
        <p:spPr>
          <a:xfrm flipV="1">
            <a:off x="2148205" y="5244465"/>
            <a:ext cx="863600" cy="360045"/>
          </a:xfrm>
          <a:prstGeom prst="line">
            <a:avLst/>
          </a:prstGeom>
          <a:ln w="57150" cap="flat" cmpd="sng">
            <a:solidFill>
              <a:srgbClr val="FF0000"/>
            </a:solidFill>
            <a:prstDash val="solid"/>
            <a:round/>
            <a:headEnd type="none" w="med" len="med"/>
            <a:tailEnd type="none" w="med" len="med"/>
          </a:ln>
        </p:spPr>
      </p:sp>
      <p:sp>
        <p:nvSpPr>
          <p:cNvPr id="18548" name="Line 118"/>
          <p:cNvSpPr/>
          <p:nvPr/>
        </p:nvSpPr>
        <p:spPr>
          <a:xfrm flipV="1">
            <a:off x="3415665" y="4667885"/>
            <a:ext cx="894080" cy="436880"/>
          </a:xfrm>
          <a:prstGeom prst="line">
            <a:avLst/>
          </a:prstGeom>
          <a:ln w="57150" cap="flat" cmpd="sng">
            <a:solidFill>
              <a:srgbClr val="FF0000"/>
            </a:solidFill>
            <a:prstDash val="solid"/>
            <a:round/>
            <a:headEnd type="none" w="med" len="med"/>
            <a:tailEnd type="none" w="med" len="med"/>
          </a:ln>
        </p:spPr>
      </p:sp>
      <p:sp>
        <p:nvSpPr>
          <p:cNvPr id="18544" name="Line 114"/>
          <p:cNvSpPr/>
          <p:nvPr/>
        </p:nvSpPr>
        <p:spPr>
          <a:xfrm rot="360000">
            <a:off x="3430270" y="4347845"/>
            <a:ext cx="935990" cy="312420"/>
          </a:xfrm>
          <a:prstGeom prst="line">
            <a:avLst/>
          </a:prstGeom>
          <a:ln w="57150" cap="flat" cmpd="sng">
            <a:solidFill>
              <a:srgbClr val="FF0000"/>
            </a:solidFill>
            <a:prstDash val="solid"/>
            <a:round/>
            <a:headEnd type="none" w="med" len="med"/>
            <a:tailEnd type="none" w="med" len="med"/>
          </a:ln>
        </p:spPr>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543"/>
                                        </p:tgtEl>
                                        <p:attrNameLst>
                                          <p:attrName>style.visibility</p:attrName>
                                        </p:attrNameLst>
                                      </p:cBhvr>
                                      <p:to>
                                        <p:strVal val="visible"/>
                                      </p:to>
                                    </p:set>
                                    <p:animEffect transition="in" filter="wipe(left)">
                                      <p:cBhvr>
                                        <p:cTn id="7" dur="500"/>
                                        <p:tgtEl>
                                          <p:spTgt spid="1854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8544"/>
                                        </p:tgtEl>
                                        <p:attrNameLst>
                                          <p:attrName>style.visibility</p:attrName>
                                        </p:attrNameLst>
                                      </p:cBhvr>
                                      <p:to>
                                        <p:strVal val="visible"/>
                                      </p:to>
                                    </p:set>
                                    <p:animEffect transition="in" filter="wipe(left)">
                                      <p:cBhvr>
                                        <p:cTn id="11" dur="500"/>
                                        <p:tgtEl>
                                          <p:spTgt spid="18544"/>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8545"/>
                                        </p:tgtEl>
                                        <p:attrNameLst>
                                          <p:attrName>style.visibility</p:attrName>
                                        </p:attrNameLst>
                                      </p:cBhvr>
                                      <p:to>
                                        <p:strVal val="visible"/>
                                      </p:to>
                                    </p:set>
                                    <p:animEffect transition="in" filter="wipe(left)">
                                      <p:cBhvr>
                                        <p:cTn id="15" dur="500"/>
                                        <p:tgtEl>
                                          <p:spTgt spid="18545"/>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8546"/>
                                        </p:tgtEl>
                                        <p:attrNameLst>
                                          <p:attrName>style.visibility</p:attrName>
                                        </p:attrNameLst>
                                      </p:cBhvr>
                                      <p:to>
                                        <p:strVal val="visible"/>
                                      </p:to>
                                    </p:set>
                                    <p:animEffect transition="in" filter="wipe(left)">
                                      <p:cBhvr>
                                        <p:cTn id="19" dur="500"/>
                                        <p:tgtEl>
                                          <p:spTgt spid="1854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8547"/>
                                        </p:tgtEl>
                                        <p:attrNameLst>
                                          <p:attrName>style.visibility</p:attrName>
                                        </p:attrNameLst>
                                      </p:cBhvr>
                                      <p:to>
                                        <p:strVal val="visible"/>
                                      </p:to>
                                    </p:set>
                                    <p:animEffect transition="in" filter="wipe(left)">
                                      <p:cBhvr>
                                        <p:cTn id="24" dur="500"/>
                                        <p:tgtEl>
                                          <p:spTgt spid="18547"/>
                                        </p:tgtEl>
                                      </p:cBhvr>
                                    </p:animEffect>
                                  </p:childTnLst>
                                </p:cTn>
                              </p:par>
                              <p:par>
                                <p:cTn id="25" presetID="22" presetClass="entr" presetSubtype="8" fill="hold" nodeType="withEffect">
                                  <p:stCondLst>
                                    <p:cond delay="0"/>
                                  </p:stCondLst>
                                  <p:childTnLst>
                                    <p:set>
                                      <p:cBhvr>
                                        <p:cTn id="26" dur="1" fill="hold">
                                          <p:stCondLst>
                                            <p:cond delay="0"/>
                                          </p:stCondLst>
                                        </p:cTn>
                                        <p:tgtEl>
                                          <p:spTgt spid="18548"/>
                                        </p:tgtEl>
                                        <p:attrNameLst>
                                          <p:attrName>style.visibility</p:attrName>
                                        </p:attrNameLst>
                                      </p:cBhvr>
                                      <p:to>
                                        <p:strVal val="visible"/>
                                      </p:to>
                                    </p:set>
                                    <p:animEffect transition="in" filter="wipe(left)">
                                      <p:cBhvr>
                                        <p:cTn id="27" dur="500"/>
                                        <p:tgtEl>
                                          <p:spTgt spid="185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3.1 </a:t>
            </a:r>
            <a:r>
              <a:rPr kumimoji="0" lang="zh-CN" altLang="en-US" kern="1200" dirty="0" smtClean="0">
                <a:solidFill>
                  <a:schemeClr val="accent2"/>
                </a:solidFill>
                <a:sym typeface="+mn-ea"/>
              </a:rPr>
              <a:t>动态规划的设计思想</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49155" name="内容占位符 2"/>
          <p:cNvSpPr>
            <a:spLocks noGrp="1"/>
          </p:cNvSpPr>
          <p:nvPr>
            <p:ph idx="4294967295"/>
          </p:nvPr>
        </p:nvSpPr>
        <p:spPr>
          <a:xfrm>
            <a:off x="323528" y="1628800"/>
            <a:ext cx="8424936" cy="1311128"/>
          </a:xfrm>
        </p:spPr>
        <p:txBody>
          <a:bodyPr vert="horz" wrap="square" lIns="91440" tIns="45720" rIns="91440" bIns="45720" numCol="1" anchor="t" anchorCtr="0" compatLnSpc="1"/>
          <a:lstStyle/>
          <a:p>
            <a:pPr marL="342900" marR="0" lvl="0" indent="-342900" algn="l" defTabSz="914400" rtl="0" eaLnBrk="1" fontAlgn="base" latinLnBrk="0" hangingPunct="1">
              <a:spcBef>
                <a:spcPct val="20000"/>
              </a:spcBef>
              <a:spcAft>
                <a:spcPts val="0"/>
              </a:spcAft>
              <a:buClrTx/>
              <a:buSzTx/>
              <a:buFont typeface="Arial" panose="020B0604020202020204" pitchFamily="34" charset="0"/>
              <a:buNone/>
              <a:defRPr/>
            </a:pPr>
            <a:r>
              <a:rPr kumimoji="0" lang="en-US" altLang="zh-CN" sz="2400" i="0" u="none" strike="noStrike" kern="1200" cap="none" spc="0" normalizeH="0" baseline="0" noProof="0" dirty="0" smtClean="0">
                <a:ln>
                  <a:noFill/>
                </a:ln>
                <a:solidFill>
                  <a:schemeClr val="bg2"/>
                </a:solidFill>
                <a:effectLst/>
                <a:uLnTx/>
                <a:uFillTx/>
                <a:latin typeface="+mj-ea"/>
                <a:ea typeface="+mj-ea"/>
                <a:cs typeface="+mj-ea"/>
              </a:rPr>
              <a:t>   </a:t>
            </a:r>
            <a:endParaRPr kumimoji="0" lang="zh-CN" altLang="en-US" sz="2400" i="0" u="none" strike="noStrike" kern="1200" cap="none" spc="0" normalizeH="0" baseline="0" noProof="0" dirty="0" smtClean="0">
              <a:ln>
                <a:noFill/>
              </a:ln>
              <a:solidFill>
                <a:srgbClr val="FF0000"/>
              </a:solidFill>
              <a:effectLst/>
              <a:uLnTx/>
              <a:uFillTx/>
              <a:latin typeface="+mj-ea"/>
              <a:ea typeface="+mj-ea"/>
              <a:cs typeface="+mj-ea"/>
            </a:endParaRPr>
          </a:p>
        </p:txBody>
      </p:sp>
      <p:sp>
        <p:nvSpPr>
          <p:cNvPr id="4" name="文本框 3"/>
          <p:cNvSpPr txBox="1"/>
          <p:nvPr/>
        </p:nvSpPr>
        <p:spPr>
          <a:xfrm>
            <a:off x="506730" y="1636395"/>
            <a:ext cx="7772400" cy="4078605"/>
          </a:xfrm>
          <a:prstGeom prst="rect">
            <a:avLst/>
          </a:prstGeom>
          <a:noFill/>
        </p:spPr>
        <p:txBody>
          <a:bodyPr wrap="square" rtlCol="0" anchor="t">
            <a:spAutoFit/>
          </a:bodyPr>
          <a:lstStyle/>
          <a:p>
            <a:pPr>
              <a:lnSpc>
                <a:spcPct val="120000"/>
              </a:lnSpc>
              <a:spcBef>
                <a:spcPts val="0"/>
              </a:spcBef>
              <a:spcAft>
                <a:spcPts val="0"/>
              </a:spcAft>
            </a:pPr>
            <a:r>
              <a:rPr lang="zh-CN" altLang="en-US" b="1">
                <a:solidFill>
                  <a:schemeClr val="bg2"/>
                </a:solidFill>
              </a:rPr>
              <a:t>算法设计：</a:t>
            </a:r>
            <a:endParaRPr lang="zh-CN" altLang="en-US" b="1">
              <a:solidFill>
                <a:schemeClr val="bg2"/>
              </a:solidFill>
            </a:endParaRPr>
          </a:p>
          <a:p>
            <a:pPr>
              <a:lnSpc>
                <a:spcPct val="120000"/>
              </a:lnSpc>
              <a:spcBef>
                <a:spcPts val="0"/>
              </a:spcBef>
              <a:spcAft>
                <a:spcPts val="0"/>
              </a:spcAft>
            </a:pPr>
            <a:r>
              <a:rPr lang="zh-CN" altLang="en-US">
                <a:solidFill>
                  <a:schemeClr val="bg2"/>
                </a:solidFill>
              </a:rPr>
              <a:t>（</a:t>
            </a:r>
            <a:r>
              <a:rPr lang="en-US" altLang="zh-CN">
                <a:solidFill>
                  <a:schemeClr val="bg2"/>
                </a:solidFill>
              </a:rPr>
              <a:t>1</a:t>
            </a:r>
            <a:r>
              <a:rPr lang="zh-CN" altLang="en-US">
                <a:solidFill>
                  <a:schemeClr val="bg2"/>
                </a:solidFill>
              </a:rPr>
              <a:t>）蛮力算法</a:t>
            </a:r>
            <a:endParaRPr lang="zh-CN" altLang="en-US">
              <a:solidFill>
                <a:schemeClr val="bg2"/>
              </a:solidFill>
            </a:endParaRPr>
          </a:p>
          <a:p>
            <a:pPr marL="800100" lvl="1" indent="-342900">
              <a:lnSpc>
                <a:spcPct val="120000"/>
              </a:lnSpc>
              <a:spcBef>
                <a:spcPts val="0"/>
              </a:spcBef>
              <a:spcAft>
                <a:spcPts val="0"/>
              </a:spcAft>
              <a:buFont typeface="Arial" panose="020B0604020202020204" pitchFamily="34" charset="0"/>
              <a:buChar char="•"/>
            </a:pPr>
            <a:r>
              <a:rPr lang="zh-CN" altLang="en-US">
                <a:solidFill>
                  <a:schemeClr val="bg2"/>
                </a:solidFill>
              </a:rPr>
              <a:t>考察每一条从某个起点到某个终点的路径，计算长度，从其中找出最短路径 。</a:t>
            </a:r>
            <a:endParaRPr lang="zh-CN" altLang="en-US">
              <a:solidFill>
                <a:schemeClr val="bg2"/>
              </a:solidFill>
            </a:endParaRPr>
          </a:p>
          <a:p>
            <a:pPr marL="800100" lvl="1" indent="-342900">
              <a:lnSpc>
                <a:spcPct val="120000"/>
              </a:lnSpc>
              <a:spcBef>
                <a:spcPts val="0"/>
              </a:spcBef>
              <a:spcAft>
                <a:spcPts val="0"/>
              </a:spcAft>
              <a:buFont typeface="Arial" panose="020B0604020202020204" pitchFamily="34" charset="0"/>
              <a:buChar char="•"/>
            </a:pPr>
            <a:r>
              <a:rPr lang="zh-CN" altLang="en-US">
                <a:solidFill>
                  <a:schemeClr val="bg2"/>
                </a:solidFill>
              </a:rPr>
              <a:t>在上述实例中，如果网络的层数为</a:t>
            </a:r>
            <a:r>
              <a:rPr lang="zh-CN" altLang="en-US" b="1" i="1">
                <a:solidFill>
                  <a:schemeClr val="bg2"/>
                </a:solidFill>
                <a:cs typeface="Times New Roman" panose="02020603050405020304" pitchFamily="18" charset="0"/>
              </a:rPr>
              <a:t>k</a:t>
            </a:r>
            <a:r>
              <a:rPr lang="zh-CN" altLang="en-US">
                <a:solidFill>
                  <a:schemeClr val="bg2"/>
                </a:solidFill>
              </a:rPr>
              <a:t>，那么路径条数将接近于2</a:t>
            </a:r>
            <a:r>
              <a:rPr lang="zh-CN" altLang="en-US" b="1" i="1" baseline="30000">
                <a:solidFill>
                  <a:schemeClr val="bg2"/>
                </a:solidFill>
              </a:rPr>
              <a:t>k</a:t>
            </a:r>
            <a:r>
              <a:rPr lang="zh-CN" altLang="en-US">
                <a:solidFill>
                  <a:schemeClr val="bg2"/>
                </a:solidFill>
              </a:rPr>
              <a:t>。</a:t>
            </a:r>
            <a:endParaRPr lang="zh-CN" altLang="en-US">
              <a:solidFill>
                <a:schemeClr val="bg2"/>
              </a:solidFill>
            </a:endParaRPr>
          </a:p>
          <a:p>
            <a:pPr lvl="0">
              <a:lnSpc>
                <a:spcPct val="120000"/>
              </a:lnSpc>
              <a:spcBef>
                <a:spcPts val="0"/>
              </a:spcBef>
              <a:spcAft>
                <a:spcPts val="0"/>
              </a:spcAft>
              <a:buFont typeface="Arial" panose="020B0604020202020204" pitchFamily="34" charset="0"/>
            </a:pPr>
            <a:r>
              <a:rPr lang="zh-CN" altLang="en-US">
                <a:solidFill>
                  <a:schemeClr val="bg2"/>
                </a:solidFill>
              </a:rPr>
              <a:t>（</a:t>
            </a:r>
            <a:r>
              <a:rPr lang="en-US" altLang="zh-CN">
                <a:solidFill>
                  <a:schemeClr val="bg2"/>
                </a:solidFill>
              </a:rPr>
              <a:t>2</a:t>
            </a:r>
            <a:r>
              <a:rPr lang="zh-CN" altLang="en-US">
                <a:solidFill>
                  <a:schemeClr val="bg2"/>
                </a:solidFill>
              </a:rPr>
              <a:t>）动态规划算法：</a:t>
            </a:r>
            <a:r>
              <a:rPr lang="zh-CN" altLang="en-US" b="1">
                <a:solidFill>
                  <a:srgbClr val="FF0000"/>
                </a:solidFill>
              </a:rPr>
              <a:t>多阶段决策</a:t>
            </a:r>
            <a:r>
              <a:rPr lang="zh-CN" altLang="en-US">
                <a:solidFill>
                  <a:schemeClr val="bg2"/>
                </a:solidFill>
              </a:rPr>
              <a:t>过程.</a:t>
            </a:r>
            <a:endParaRPr lang="zh-CN" altLang="en-US">
              <a:solidFill>
                <a:schemeClr val="bg2"/>
              </a:solidFill>
            </a:endParaRPr>
          </a:p>
          <a:p>
            <a:pPr marL="800100" lvl="1" indent="-342900">
              <a:lnSpc>
                <a:spcPct val="120000"/>
              </a:lnSpc>
              <a:spcBef>
                <a:spcPts val="0"/>
              </a:spcBef>
              <a:spcAft>
                <a:spcPts val="0"/>
              </a:spcAft>
              <a:buFont typeface="Arial" panose="020B0604020202020204" pitchFamily="34" charset="0"/>
              <a:buChar char="•"/>
            </a:pPr>
            <a:r>
              <a:rPr lang="zh-CN" altLang="en-US">
                <a:solidFill>
                  <a:schemeClr val="bg2"/>
                </a:solidFill>
              </a:rPr>
              <a:t>每步求解的问题是后面阶段求解问题的子问题. 。</a:t>
            </a:r>
            <a:endParaRPr lang="zh-CN" altLang="en-US">
              <a:solidFill>
                <a:schemeClr val="bg2"/>
              </a:solidFill>
            </a:endParaRPr>
          </a:p>
          <a:p>
            <a:pPr marL="800100" lvl="1" indent="-342900">
              <a:lnSpc>
                <a:spcPct val="120000"/>
              </a:lnSpc>
              <a:spcBef>
                <a:spcPts val="0"/>
              </a:spcBef>
              <a:spcAft>
                <a:spcPts val="0"/>
              </a:spcAft>
              <a:buFont typeface="Arial" panose="020B0604020202020204" pitchFamily="34" charset="0"/>
              <a:buChar char="•"/>
            </a:pPr>
            <a:r>
              <a:rPr lang="zh-CN" altLang="en-US">
                <a:solidFill>
                  <a:schemeClr val="bg2"/>
                </a:solidFill>
              </a:rPr>
              <a:t>每步决策将依赖于以前步骤的决策结果。</a:t>
            </a:r>
            <a:endParaRPr lang="zh-CN" altLang="en-US">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wipe(left)">
                                      <p:cBhvr>
                                        <p:cTn id="7" dur="500"/>
                                        <p:tgtEl>
                                          <p:spTgt spid="4">
                                            <p:txEl>
                                              <p:pRg st="2" end="2"/>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4">
                                            <p:txEl>
                                              <p:pRg st="3" end="3"/>
                                            </p:txEl>
                                          </p:spTgt>
                                        </p:tgtEl>
                                        <p:attrNameLst>
                                          <p:attrName>style.visibility</p:attrName>
                                        </p:attrNameLst>
                                      </p:cBhvr>
                                      <p:to>
                                        <p:strVal val="visible"/>
                                      </p:to>
                                    </p:set>
                                    <p:animEffect transition="in" filter="wipe(left)">
                                      <p:cBhvr>
                                        <p:cTn id="10" dur="500"/>
                                        <p:tgtEl>
                                          <p:spTgt spid="4">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animEffect transition="in" filter="wipe(left)">
                                      <p:cBhvr>
                                        <p:cTn id="15" dur="500"/>
                                        <p:tgtEl>
                                          <p:spTgt spid="4">
                                            <p:txEl>
                                              <p:pRg st="5" end="5"/>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4">
                                            <p:txEl>
                                              <p:pRg st="6" end="6"/>
                                            </p:txEl>
                                          </p:spTgt>
                                        </p:tgtEl>
                                        <p:attrNameLst>
                                          <p:attrName>style.visibility</p:attrName>
                                        </p:attrNameLst>
                                      </p:cBhvr>
                                      <p:to>
                                        <p:strVal val="visible"/>
                                      </p:to>
                                    </p:set>
                                    <p:animEffect transition="in" filter="wipe(left)">
                                      <p:cBhvr>
                                        <p:cTn id="18"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3.1 </a:t>
            </a:r>
            <a:r>
              <a:rPr kumimoji="0" lang="zh-CN" altLang="en-US" kern="1200" dirty="0" smtClean="0">
                <a:solidFill>
                  <a:schemeClr val="accent2"/>
                </a:solidFill>
                <a:sym typeface="+mn-ea"/>
              </a:rPr>
              <a:t>动态规划的设计思想</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pic>
        <p:nvPicPr>
          <p:cNvPr id="94" name="20 93"/>
          <p:cNvPicPr>
            <a:picLocks noChangeAspect="1"/>
          </p:cNvPicPr>
          <p:nvPr/>
        </p:nvPicPr>
        <p:blipFill>
          <a:blip r:embed="rId1"/>
          <a:stretch>
            <a:fillRect/>
          </a:stretch>
        </p:blipFill>
        <p:spPr>
          <a:xfrm>
            <a:off x="1407795" y="1625600"/>
            <a:ext cx="6231890" cy="4119245"/>
          </a:xfrm>
          <a:prstGeom prst="rect">
            <a:avLst/>
          </a:prstGeom>
        </p:spPr>
      </p:pic>
      <p:sp>
        <p:nvSpPr>
          <p:cNvPr id="18543" name="Line 113"/>
          <p:cNvSpPr/>
          <p:nvPr/>
        </p:nvSpPr>
        <p:spPr>
          <a:xfrm>
            <a:off x="2148205" y="3795395"/>
            <a:ext cx="863600" cy="288925"/>
          </a:xfrm>
          <a:prstGeom prst="line">
            <a:avLst/>
          </a:prstGeom>
          <a:ln w="57150" cap="flat" cmpd="sng">
            <a:solidFill>
              <a:srgbClr val="FF0000"/>
            </a:solidFill>
            <a:prstDash val="solid"/>
            <a:round/>
            <a:headEnd type="none" w="med" len="med"/>
            <a:tailEnd type="none" w="med" len="med"/>
          </a:ln>
        </p:spPr>
      </p:sp>
      <p:sp>
        <p:nvSpPr>
          <p:cNvPr id="18545" name="Line 115"/>
          <p:cNvSpPr/>
          <p:nvPr/>
        </p:nvSpPr>
        <p:spPr>
          <a:xfrm>
            <a:off x="4702810" y="4492625"/>
            <a:ext cx="863600" cy="431800"/>
          </a:xfrm>
          <a:prstGeom prst="line">
            <a:avLst/>
          </a:prstGeom>
          <a:ln w="57150" cap="flat" cmpd="sng">
            <a:solidFill>
              <a:srgbClr val="FF0000"/>
            </a:solidFill>
            <a:prstDash val="solid"/>
            <a:round/>
            <a:headEnd type="none" w="med" len="med"/>
            <a:tailEnd type="none" w="med" len="med"/>
          </a:ln>
        </p:spPr>
      </p:sp>
      <p:sp>
        <p:nvSpPr>
          <p:cNvPr id="18546" name="Line 116"/>
          <p:cNvSpPr/>
          <p:nvPr/>
        </p:nvSpPr>
        <p:spPr>
          <a:xfrm flipV="1">
            <a:off x="5961380" y="4528820"/>
            <a:ext cx="1079500" cy="360045"/>
          </a:xfrm>
          <a:prstGeom prst="line">
            <a:avLst/>
          </a:prstGeom>
          <a:ln w="57150" cap="flat" cmpd="sng">
            <a:solidFill>
              <a:srgbClr val="FF0000"/>
            </a:solidFill>
            <a:prstDash val="solid"/>
            <a:round/>
            <a:headEnd type="none" w="med" len="med"/>
            <a:tailEnd type="none" w="med" len="med"/>
          </a:ln>
        </p:spPr>
      </p:sp>
      <p:sp>
        <p:nvSpPr>
          <p:cNvPr id="18547" name="Line 117"/>
          <p:cNvSpPr/>
          <p:nvPr/>
        </p:nvSpPr>
        <p:spPr>
          <a:xfrm flipV="1">
            <a:off x="2148205" y="5029200"/>
            <a:ext cx="863600" cy="360045"/>
          </a:xfrm>
          <a:prstGeom prst="line">
            <a:avLst/>
          </a:prstGeom>
          <a:ln w="57150" cap="flat" cmpd="sng">
            <a:solidFill>
              <a:srgbClr val="FF0000"/>
            </a:solidFill>
            <a:prstDash val="solid"/>
            <a:round/>
            <a:headEnd type="none" w="med" len="med"/>
            <a:tailEnd type="none" w="med" len="med"/>
          </a:ln>
        </p:spPr>
      </p:sp>
      <p:sp>
        <p:nvSpPr>
          <p:cNvPr id="18548" name="Line 118"/>
          <p:cNvSpPr/>
          <p:nvPr/>
        </p:nvSpPr>
        <p:spPr>
          <a:xfrm flipV="1">
            <a:off x="3415665" y="4452620"/>
            <a:ext cx="894080" cy="436880"/>
          </a:xfrm>
          <a:prstGeom prst="line">
            <a:avLst/>
          </a:prstGeom>
          <a:ln w="57150" cap="flat" cmpd="sng">
            <a:solidFill>
              <a:srgbClr val="FF0000"/>
            </a:solidFill>
            <a:prstDash val="solid"/>
            <a:round/>
            <a:headEnd type="none" w="med" len="med"/>
            <a:tailEnd type="none" w="med" len="med"/>
          </a:ln>
        </p:spPr>
      </p:sp>
      <p:sp>
        <p:nvSpPr>
          <p:cNvPr id="18544" name="Line 114"/>
          <p:cNvSpPr/>
          <p:nvPr/>
        </p:nvSpPr>
        <p:spPr>
          <a:xfrm rot="360000">
            <a:off x="3430270" y="4132580"/>
            <a:ext cx="935990" cy="312420"/>
          </a:xfrm>
          <a:prstGeom prst="line">
            <a:avLst/>
          </a:prstGeom>
          <a:ln w="57150" cap="flat" cmpd="sng">
            <a:solidFill>
              <a:srgbClr val="FF0000"/>
            </a:solidFill>
            <a:prstDash val="solid"/>
            <a:round/>
            <a:headEnd type="none" w="med" len="med"/>
            <a:tailEnd type="none" w="med" len="med"/>
          </a:ln>
        </p:spPr>
      </p:sp>
      <p:sp>
        <p:nvSpPr>
          <p:cNvPr id="18525" name="Text Box 95"/>
          <p:cNvSpPr txBox="1"/>
          <p:nvPr/>
        </p:nvSpPr>
        <p:spPr>
          <a:xfrm>
            <a:off x="5541645" y="1857375"/>
            <a:ext cx="550545" cy="396875"/>
          </a:xfrm>
          <a:prstGeom prst="rect">
            <a:avLst/>
          </a:prstGeom>
          <a:noFill/>
          <a:ln w="9525">
            <a:noFill/>
          </a:ln>
        </p:spPr>
        <p:txBody>
          <a:bodyPr wrap="none" anchor="t">
            <a:spAutoFit/>
          </a:bodyPr>
          <a:lstStyle/>
          <a:p>
            <a:r>
              <a:rPr lang="en-US" altLang="zh-CN" sz="2000" b="1" dirty="0">
                <a:solidFill>
                  <a:schemeClr val="folHlink"/>
                </a:solidFill>
                <a:latin typeface="Arial" panose="020B0604020202020204" pitchFamily="34" charset="0"/>
                <a:ea typeface="宋体" panose="02010600030101010101" pitchFamily="2" charset="-122"/>
              </a:rPr>
              <a:t>u,2</a:t>
            </a:r>
            <a:endParaRPr lang="en-US" altLang="zh-CN" sz="2000" b="1" dirty="0">
              <a:solidFill>
                <a:schemeClr val="folHlink"/>
              </a:solidFill>
              <a:latin typeface="Arial" panose="020B0604020202020204" pitchFamily="34" charset="0"/>
              <a:ea typeface="宋体" panose="02010600030101010101" pitchFamily="2" charset="-122"/>
            </a:endParaRPr>
          </a:p>
        </p:txBody>
      </p:sp>
      <p:sp>
        <p:nvSpPr>
          <p:cNvPr id="18526" name="Text Box 96"/>
          <p:cNvSpPr txBox="1"/>
          <p:nvPr/>
        </p:nvSpPr>
        <p:spPr>
          <a:xfrm>
            <a:off x="5541645" y="2747645"/>
            <a:ext cx="550545" cy="396875"/>
          </a:xfrm>
          <a:prstGeom prst="rect">
            <a:avLst/>
          </a:prstGeom>
          <a:noFill/>
          <a:ln w="9525">
            <a:noFill/>
          </a:ln>
        </p:spPr>
        <p:txBody>
          <a:bodyPr wrap="none" anchor="t">
            <a:spAutoFit/>
          </a:bodyPr>
          <a:lstStyle/>
          <a:p>
            <a:r>
              <a:rPr lang="en-US" altLang="zh-CN" sz="2000" b="1" dirty="0">
                <a:solidFill>
                  <a:schemeClr val="folHlink"/>
                </a:solidFill>
                <a:latin typeface="Arial" panose="020B0604020202020204" pitchFamily="34" charset="0"/>
                <a:ea typeface="宋体" panose="02010600030101010101" pitchFamily="2" charset="-122"/>
              </a:rPr>
              <a:t>d,3</a:t>
            </a:r>
            <a:endParaRPr lang="en-US" altLang="zh-CN" sz="2000" b="1" dirty="0">
              <a:solidFill>
                <a:schemeClr val="folHlink"/>
              </a:solidFill>
              <a:latin typeface="Arial" panose="020B0604020202020204" pitchFamily="34" charset="0"/>
              <a:ea typeface="宋体" panose="02010600030101010101" pitchFamily="2" charset="-122"/>
            </a:endParaRPr>
          </a:p>
        </p:txBody>
      </p:sp>
      <p:sp>
        <p:nvSpPr>
          <p:cNvPr id="18527" name="Text Box 97"/>
          <p:cNvSpPr txBox="1"/>
          <p:nvPr/>
        </p:nvSpPr>
        <p:spPr>
          <a:xfrm>
            <a:off x="5541645" y="3539490"/>
            <a:ext cx="550545" cy="396875"/>
          </a:xfrm>
          <a:prstGeom prst="rect">
            <a:avLst/>
          </a:prstGeom>
          <a:noFill/>
          <a:ln w="9525">
            <a:noFill/>
          </a:ln>
        </p:spPr>
        <p:txBody>
          <a:bodyPr wrap="none" anchor="t">
            <a:spAutoFit/>
          </a:bodyPr>
          <a:lstStyle/>
          <a:p>
            <a:r>
              <a:rPr lang="en-US" altLang="zh-CN" sz="2000" b="1" dirty="0">
                <a:solidFill>
                  <a:schemeClr val="folHlink"/>
                </a:solidFill>
                <a:latin typeface="Arial" panose="020B0604020202020204" pitchFamily="34" charset="0"/>
                <a:ea typeface="宋体" panose="02010600030101010101" pitchFamily="2" charset="-122"/>
              </a:rPr>
              <a:t>u,7</a:t>
            </a:r>
            <a:endParaRPr lang="en-US" altLang="zh-CN" sz="2000" b="1" dirty="0">
              <a:solidFill>
                <a:schemeClr val="folHlink"/>
              </a:solidFill>
              <a:latin typeface="Arial" panose="020B0604020202020204" pitchFamily="34" charset="0"/>
              <a:ea typeface="宋体" panose="02010600030101010101" pitchFamily="2" charset="-122"/>
            </a:endParaRPr>
          </a:p>
        </p:txBody>
      </p:sp>
      <p:sp>
        <p:nvSpPr>
          <p:cNvPr id="18528" name="Text Box 98"/>
          <p:cNvSpPr txBox="1"/>
          <p:nvPr/>
        </p:nvSpPr>
        <p:spPr>
          <a:xfrm>
            <a:off x="5573395" y="4378960"/>
            <a:ext cx="550545" cy="396875"/>
          </a:xfrm>
          <a:prstGeom prst="rect">
            <a:avLst/>
          </a:prstGeom>
          <a:noFill/>
          <a:ln w="9525">
            <a:noFill/>
          </a:ln>
        </p:spPr>
        <p:txBody>
          <a:bodyPr wrap="none" anchor="t">
            <a:spAutoFit/>
          </a:bodyPr>
          <a:lstStyle/>
          <a:p>
            <a:r>
              <a:rPr lang="en-US" altLang="zh-CN" sz="2000" b="1" dirty="0">
                <a:solidFill>
                  <a:schemeClr val="folHlink"/>
                </a:solidFill>
                <a:latin typeface="Arial" panose="020B0604020202020204" pitchFamily="34" charset="0"/>
                <a:ea typeface="宋体" panose="02010600030101010101" pitchFamily="2" charset="-122"/>
              </a:rPr>
              <a:t>u,1</a:t>
            </a:r>
            <a:endParaRPr lang="en-US" altLang="zh-CN" sz="2000" b="1" dirty="0">
              <a:solidFill>
                <a:schemeClr val="folHlink"/>
              </a:solidFill>
              <a:latin typeface="Arial" panose="020B0604020202020204" pitchFamily="34" charset="0"/>
              <a:ea typeface="宋体" panose="02010600030101010101" pitchFamily="2" charset="-122"/>
            </a:endParaRPr>
          </a:p>
        </p:txBody>
      </p:sp>
      <p:sp>
        <p:nvSpPr>
          <p:cNvPr id="18533" name="Text Box 103"/>
          <p:cNvSpPr txBox="1"/>
          <p:nvPr/>
        </p:nvSpPr>
        <p:spPr>
          <a:xfrm>
            <a:off x="4205605" y="1642110"/>
            <a:ext cx="692150" cy="396875"/>
          </a:xfrm>
          <a:prstGeom prst="rect">
            <a:avLst/>
          </a:prstGeom>
          <a:noFill/>
          <a:ln w="9525">
            <a:noFill/>
          </a:ln>
        </p:spPr>
        <p:txBody>
          <a:bodyPr wrap="none" anchor="t">
            <a:spAutoFit/>
          </a:bodyPr>
          <a:lstStyle/>
          <a:p>
            <a:r>
              <a:rPr lang="en-US" altLang="zh-CN" sz="2000" b="1" dirty="0">
                <a:solidFill>
                  <a:srgbClr val="CC6600"/>
                </a:solidFill>
                <a:latin typeface="Arial" panose="020B0604020202020204" pitchFamily="34" charset="0"/>
                <a:ea typeface="宋体" panose="02010600030101010101" pitchFamily="2" charset="-122"/>
              </a:rPr>
              <a:t>d,11</a:t>
            </a:r>
            <a:endParaRPr lang="en-US" altLang="zh-CN" sz="2000" b="1" dirty="0">
              <a:solidFill>
                <a:srgbClr val="CC6600"/>
              </a:solidFill>
              <a:latin typeface="Arial" panose="020B0604020202020204" pitchFamily="34" charset="0"/>
              <a:ea typeface="宋体" panose="02010600030101010101" pitchFamily="2" charset="-122"/>
            </a:endParaRPr>
          </a:p>
        </p:txBody>
      </p:sp>
      <p:sp>
        <p:nvSpPr>
          <p:cNvPr id="18534" name="Text Box 104"/>
          <p:cNvSpPr txBox="1"/>
          <p:nvPr/>
        </p:nvSpPr>
        <p:spPr>
          <a:xfrm>
            <a:off x="4277360" y="2362200"/>
            <a:ext cx="550545" cy="396875"/>
          </a:xfrm>
          <a:prstGeom prst="rect">
            <a:avLst/>
          </a:prstGeom>
          <a:noFill/>
          <a:ln w="9525">
            <a:noFill/>
          </a:ln>
        </p:spPr>
        <p:txBody>
          <a:bodyPr wrap="none" anchor="t">
            <a:spAutoFit/>
          </a:bodyPr>
          <a:lstStyle/>
          <a:p>
            <a:r>
              <a:rPr lang="en-US" altLang="zh-CN" sz="2000" b="1" dirty="0">
                <a:solidFill>
                  <a:srgbClr val="CC6600"/>
                </a:solidFill>
                <a:latin typeface="Arial" panose="020B0604020202020204" pitchFamily="34" charset="0"/>
                <a:ea typeface="宋体" panose="02010600030101010101" pitchFamily="2" charset="-122"/>
              </a:rPr>
              <a:t>u,5</a:t>
            </a:r>
            <a:endParaRPr lang="en-US" altLang="zh-CN" sz="2000" b="1" dirty="0">
              <a:solidFill>
                <a:srgbClr val="CC6600"/>
              </a:solidFill>
              <a:latin typeface="Arial" panose="020B0604020202020204" pitchFamily="34" charset="0"/>
              <a:ea typeface="宋体" panose="02010600030101010101" pitchFamily="2" charset="-122"/>
            </a:endParaRPr>
          </a:p>
        </p:txBody>
      </p:sp>
      <p:sp>
        <p:nvSpPr>
          <p:cNvPr id="18535" name="Text Box 105"/>
          <p:cNvSpPr txBox="1"/>
          <p:nvPr/>
        </p:nvSpPr>
        <p:spPr>
          <a:xfrm>
            <a:off x="4316730" y="3107690"/>
            <a:ext cx="550545" cy="396875"/>
          </a:xfrm>
          <a:prstGeom prst="rect">
            <a:avLst/>
          </a:prstGeom>
          <a:noFill/>
          <a:ln w="9525">
            <a:noFill/>
          </a:ln>
        </p:spPr>
        <p:txBody>
          <a:bodyPr wrap="none" anchor="t">
            <a:spAutoFit/>
          </a:bodyPr>
          <a:lstStyle/>
          <a:p>
            <a:r>
              <a:rPr lang="en-US" altLang="zh-CN" sz="2000" b="1" dirty="0">
                <a:solidFill>
                  <a:srgbClr val="CC6600"/>
                </a:solidFill>
                <a:latin typeface="Arial" panose="020B0604020202020204" pitchFamily="34" charset="0"/>
                <a:ea typeface="宋体" panose="02010600030101010101" pitchFamily="2" charset="-122"/>
              </a:rPr>
              <a:t>u,7</a:t>
            </a:r>
            <a:endParaRPr lang="en-US" altLang="zh-CN" sz="2000" b="1" dirty="0">
              <a:solidFill>
                <a:srgbClr val="CC6600"/>
              </a:solidFill>
              <a:latin typeface="Arial" panose="020B0604020202020204" pitchFamily="34" charset="0"/>
              <a:ea typeface="宋体" panose="02010600030101010101" pitchFamily="2" charset="-122"/>
            </a:endParaRPr>
          </a:p>
        </p:txBody>
      </p:sp>
      <p:sp>
        <p:nvSpPr>
          <p:cNvPr id="18536" name="Text Box 106"/>
          <p:cNvSpPr txBox="1"/>
          <p:nvPr/>
        </p:nvSpPr>
        <p:spPr>
          <a:xfrm>
            <a:off x="4309110" y="3901440"/>
            <a:ext cx="550545" cy="396875"/>
          </a:xfrm>
          <a:prstGeom prst="rect">
            <a:avLst/>
          </a:prstGeom>
          <a:noFill/>
          <a:ln w="9525">
            <a:noFill/>
          </a:ln>
        </p:spPr>
        <p:txBody>
          <a:bodyPr wrap="none" anchor="t">
            <a:spAutoFit/>
          </a:bodyPr>
          <a:lstStyle/>
          <a:p>
            <a:r>
              <a:rPr lang="en-US" altLang="zh-CN" sz="2000" b="1" dirty="0">
                <a:solidFill>
                  <a:srgbClr val="CC6600"/>
                </a:solidFill>
                <a:latin typeface="Arial" panose="020B0604020202020204" pitchFamily="34" charset="0"/>
                <a:ea typeface="宋体" panose="02010600030101010101" pitchFamily="2" charset="-122"/>
              </a:rPr>
              <a:t>d,5</a:t>
            </a:r>
            <a:endParaRPr lang="en-US" altLang="zh-CN" sz="2000" b="1" dirty="0">
              <a:solidFill>
                <a:srgbClr val="CC6600"/>
              </a:solidFill>
              <a:latin typeface="Arial" panose="020B0604020202020204" pitchFamily="34" charset="0"/>
              <a:ea typeface="宋体" panose="02010600030101010101" pitchFamily="2" charset="-122"/>
            </a:endParaRPr>
          </a:p>
        </p:txBody>
      </p:sp>
      <p:sp>
        <p:nvSpPr>
          <p:cNvPr id="18541" name="Text Box 111"/>
          <p:cNvSpPr txBox="1"/>
          <p:nvPr/>
        </p:nvSpPr>
        <p:spPr>
          <a:xfrm>
            <a:off x="4277360" y="4739005"/>
            <a:ext cx="550545" cy="396875"/>
          </a:xfrm>
          <a:prstGeom prst="rect">
            <a:avLst/>
          </a:prstGeom>
          <a:noFill/>
          <a:ln w="9525">
            <a:noFill/>
          </a:ln>
        </p:spPr>
        <p:txBody>
          <a:bodyPr wrap="none" anchor="t">
            <a:spAutoFit/>
          </a:bodyPr>
          <a:lstStyle/>
          <a:p>
            <a:r>
              <a:rPr lang="en-US" altLang="zh-CN" sz="2000" b="1" dirty="0">
                <a:solidFill>
                  <a:srgbClr val="CC6600"/>
                </a:solidFill>
                <a:latin typeface="Arial" panose="020B0604020202020204" pitchFamily="34" charset="0"/>
                <a:ea typeface="宋体" panose="02010600030101010101" pitchFamily="2" charset="-122"/>
              </a:rPr>
              <a:t>u,4</a:t>
            </a:r>
            <a:endParaRPr lang="en-US" altLang="zh-CN" sz="2000" b="1" dirty="0">
              <a:solidFill>
                <a:srgbClr val="CC6600"/>
              </a:solidFill>
              <a:latin typeface="Arial" panose="020B0604020202020204" pitchFamily="34" charset="0"/>
              <a:ea typeface="宋体" panose="02010600030101010101" pitchFamily="2" charset="-122"/>
            </a:endParaRPr>
          </a:p>
        </p:txBody>
      </p:sp>
      <p:sp>
        <p:nvSpPr>
          <p:cNvPr id="18529" name="Text Box 99"/>
          <p:cNvSpPr txBox="1"/>
          <p:nvPr/>
        </p:nvSpPr>
        <p:spPr>
          <a:xfrm>
            <a:off x="2908935" y="1882775"/>
            <a:ext cx="550545" cy="396875"/>
          </a:xfrm>
          <a:prstGeom prst="rect">
            <a:avLst/>
          </a:prstGeom>
          <a:noFill/>
          <a:ln w="9525">
            <a:noFill/>
          </a:ln>
        </p:spPr>
        <p:txBody>
          <a:bodyPr wrap="none" anchor="t">
            <a:spAutoFit/>
          </a:bodyPr>
          <a:lstStyle/>
          <a:p>
            <a:r>
              <a:rPr lang="en-US" altLang="zh-CN" sz="2000" b="1" dirty="0">
                <a:solidFill>
                  <a:srgbClr val="0000CC"/>
                </a:solidFill>
                <a:latin typeface="Arial" panose="020B0604020202020204" pitchFamily="34" charset="0"/>
                <a:ea typeface="宋体" panose="02010600030101010101" pitchFamily="2" charset="-122"/>
              </a:rPr>
              <a:t>d,9</a:t>
            </a:r>
            <a:endParaRPr lang="en-US" altLang="zh-CN" sz="2000" b="1" dirty="0">
              <a:solidFill>
                <a:srgbClr val="0000CC"/>
              </a:solidFill>
              <a:latin typeface="Arial" panose="020B0604020202020204" pitchFamily="34" charset="0"/>
              <a:ea typeface="宋体" panose="02010600030101010101" pitchFamily="2" charset="-122"/>
            </a:endParaRPr>
          </a:p>
        </p:txBody>
      </p:sp>
      <p:sp>
        <p:nvSpPr>
          <p:cNvPr id="18530" name="Text Box 100"/>
          <p:cNvSpPr txBox="1"/>
          <p:nvPr/>
        </p:nvSpPr>
        <p:spPr>
          <a:xfrm>
            <a:off x="2980690" y="2701925"/>
            <a:ext cx="550545" cy="396875"/>
          </a:xfrm>
          <a:prstGeom prst="rect">
            <a:avLst/>
          </a:prstGeom>
          <a:noFill/>
          <a:ln w="9525">
            <a:noFill/>
          </a:ln>
        </p:spPr>
        <p:txBody>
          <a:bodyPr wrap="none" anchor="t">
            <a:spAutoFit/>
          </a:bodyPr>
          <a:lstStyle/>
          <a:p>
            <a:r>
              <a:rPr lang="en-US" altLang="zh-CN" sz="2000" b="1" dirty="0">
                <a:solidFill>
                  <a:srgbClr val="0000CC"/>
                </a:solidFill>
                <a:latin typeface="Arial" panose="020B0604020202020204" pitchFamily="34" charset="0"/>
                <a:ea typeface="宋体" panose="02010600030101010101" pitchFamily="2" charset="-122"/>
              </a:rPr>
              <a:t>u,8</a:t>
            </a:r>
            <a:endParaRPr lang="en-US" altLang="zh-CN" sz="2000" b="1" dirty="0">
              <a:solidFill>
                <a:srgbClr val="0000CC"/>
              </a:solidFill>
              <a:latin typeface="Arial" panose="020B0604020202020204" pitchFamily="34" charset="0"/>
              <a:ea typeface="宋体" panose="02010600030101010101" pitchFamily="2" charset="-122"/>
            </a:endParaRPr>
          </a:p>
        </p:txBody>
      </p:sp>
      <p:sp>
        <p:nvSpPr>
          <p:cNvPr id="18531" name="Text Box 101"/>
          <p:cNvSpPr txBox="1"/>
          <p:nvPr/>
        </p:nvSpPr>
        <p:spPr>
          <a:xfrm>
            <a:off x="2908935" y="3514090"/>
            <a:ext cx="550545" cy="396875"/>
          </a:xfrm>
          <a:prstGeom prst="rect">
            <a:avLst/>
          </a:prstGeom>
          <a:noFill/>
          <a:ln w="9525">
            <a:noFill/>
          </a:ln>
        </p:spPr>
        <p:txBody>
          <a:bodyPr wrap="none" anchor="t">
            <a:spAutoFit/>
          </a:bodyPr>
          <a:lstStyle/>
          <a:p>
            <a:r>
              <a:rPr lang="en-US" altLang="zh-CN" sz="2000" b="1" dirty="0">
                <a:solidFill>
                  <a:srgbClr val="0000CC"/>
                </a:solidFill>
                <a:latin typeface="Arial" panose="020B0604020202020204" pitchFamily="34" charset="0"/>
                <a:ea typeface="宋体" panose="02010600030101010101" pitchFamily="2" charset="-122"/>
              </a:rPr>
              <a:t>d,6</a:t>
            </a:r>
            <a:endParaRPr lang="en-US" altLang="zh-CN" sz="2000" b="1" dirty="0">
              <a:solidFill>
                <a:srgbClr val="0000CC"/>
              </a:solidFill>
              <a:latin typeface="Arial" panose="020B0604020202020204" pitchFamily="34" charset="0"/>
              <a:ea typeface="宋体" panose="02010600030101010101" pitchFamily="2" charset="-122"/>
            </a:endParaRPr>
          </a:p>
        </p:txBody>
      </p:sp>
      <p:sp>
        <p:nvSpPr>
          <p:cNvPr id="18532" name="Text Box 102"/>
          <p:cNvSpPr txBox="1"/>
          <p:nvPr/>
        </p:nvSpPr>
        <p:spPr>
          <a:xfrm>
            <a:off x="2940685" y="4404360"/>
            <a:ext cx="550545" cy="396875"/>
          </a:xfrm>
          <a:prstGeom prst="rect">
            <a:avLst/>
          </a:prstGeom>
          <a:noFill/>
          <a:ln w="9525">
            <a:noFill/>
          </a:ln>
        </p:spPr>
        <p:txBody>
          <a:bodyPr wrap="none" anchor="t">
            <a:spAutoFit/>
          </a:bodyPr>
          <a:lstStyle/>
          <a:p>
            <a:r>
              <a:rPr lang="en-US" altLang="zh-CN" sz="2000" b="1" dirty="0">
                <a:solidFill>
                  <a:srgbClr val="0000CC"/>
                </a:solidFill>
                <a:latin typeface="Arial" panose="020B0604020202020204" pitchFamily="34" charset="0"/>
                <a:ea typeface="宋体" panose="02010600030101010101" pitchFamily="2" charset="-122"/>
              </a:rPr>
              <a:t>u,7</a:t>
            </a:r>
            <a:endParaRPr lang="en-US" altLang="zh-CN" sz="2000" b="1" dirty="0">
              <a:solidFill>
                <a:srgbClr val="0000CC"/>
              </a:solidFill>
              <a:latin typeface="Arial" panose="020B0604020202020204" pitchFamily="34" charset="0"/>
              <a:ea typeface="宋体" panose="02010600030101010101" pitchFamily="2" charset="-122"/>
            </a:endParaRPr>
          </a:p>
        </p:txBody>
      </p:sp>
      <p:sp>
        <p:nvSpPr>
          <p:cNvPr id="18537" name="Text Box 107"/>
          <p:cNvSpPr txBox="1"/>
          <p:nvPr/>
        </p:nvSpPr>
        <p:spPr>
          <a:xfrm>
            <a:off x="1612900" y="1594485"/>
            <a:ext cx="692150" cy="396875"/>
          </a:xfrm>
          <a:prstGeom prst="rect">
            <a:avLst/>
          </a:prstGeom>
          <a:noFill/>
          <a:ln w="9525">
            <a:noFill/>
          </a:ln>
        </p:spPr>
        <p:txBody>
          <a:bodyPr wrap="none" anchor="t">
            <a:spAutoFit/>
          </a:bodyPr>
          <a:lstStyle/>
          <a:p>
            <a:r>
              <a:rPr lang="en-US" altLang="zh-CN" sz="2000" b="1" dirty="0">
                <a:solidFill>
                  <a:srgbClr val="A50021"/>
                </a:solidFill>
                <a:latin typeface="Arial" panose="020B0604020202020204" pitchFamily="34" charset="0"/>
                <a:ea typeface="宋体" panose="02010600030101010101" pitchFamily="2" charset="-122"/>
              </a:rPr>
              <a:t>d,15</a:t>
            </a:r>
            <a:endParaRPr lang="en-US" altLang="zh-CN" sz="2000" b="1" dirty="0">
              <a:solidFill>
                <a:srgbClr val="A50021"/>
              </a:solidFill>
              <a:latin typeface="Arial" panose="020B0604020202020204" pitchFamily="34" charset="0"/>
              <a:ea typeface="宋体" panose="02010600030101010101" pitchFamily="2" charset="-122"/>
            </a:endParaRPr>
          </a:p>
        </p:txBody>
      </p:sp>
      <p:sp>
        <p:nvSpPr>
          <p:cNvPr id="18538" name="Text Box 108"/>
          <p:cNvSpPr txBox="1"/>
          <p:nvPr/>
        </p:nvSpPr>
        <p:spPr>
          <a:xfrm>
            <a:off x="1612900" y="2413000"/>
            <a:ext cx="692150" cy="396875"/>
          </a:xfrm>
          <a:prstGeom prst="rect">
            <a:avLst/>
          </a:prstGeom>
          <a:noFill/>
          <a:ln w="9525">
            <a:noFill/>
          </a:ln>
        </p:spPr>
        <p:txBody>
          <a:bodyPr wrap="none" anchor="t">
            <a:spAutoFit/>
          </a:bodyPr>
          <a:lstStyle/>
          <a:p>
            <a:r>
              <a:rPr lang="en-US" altLang="zh-CN" sz="2000" b="1" dirty="0">
                <a:solidFill>
                  <a:srgbClr val="A50021"/>
                </a:solidFill>
                <a:latin typeface="Arial" panose="020B0604020202020204" pitchFamily="34" charset="0"/>
                <a:ea typeface="宋体" panose="02010600030101010101" pitchFamily="2" charset="-122"/>
              </a:rPr>
              <a:t>u,13</a:t>
            </a:r>
            <a:endParaRPr lang="en-US" altLang="zh-CN" sz="2000" b="1" dirty="0">
              <a:solidFill>
                <a:srgbClr val="A50021"/>
              </a:solidFill>
              <a:latin typeface="Arial" panose="020B0604020202020204" pitchFamily="34" charset="0"/>
              <a:ea typeface="宋体" panose="02010600030101010101" pitchFamily="2" charset="-122"/>
            </a:endParaRPr>
          </a:p>
        </p:txBody>
      </p:sp>
      <p:sp>
        <p:nvSpPr>
          <p:cNvPr id="18539" name="Text Box 109"/>
          <p:cNvSpPr txBox="1"/>
          <p:nvPr/>
        </p:nvSpPr>
        <p:spPr>
          <a:xfrm>
            <a:off x="1612900" y="3204845"/>
            <a:ext cx="692150" cy="396875"/>
          </a:xfrm>
          <a:prstGeom prst="rect">
            <a:avLst/>
          </a:prstGeom>
          <a:noFill/>
          <a:ln w="9525">
            <a:noFill/>
          </a:ln>
        </p:spPr>
        <p:txBody>
          <a:bodyPr wrap="none" anchor="t">
            <a:spAutoFit/>
          </a:bodyPr>
          <a:lstStyle/>
          <a:p>
            <a:r>
              <a:rPr lang="en-US" altLang="zh-CN" sz="2000" b="1" dirty="0">
                <a:solidFill>
                  <a:srgbClr val="A50021"/>
                </a:solidFill>
                <a:latin typeface="Arial" panose="020B0604020202020204" pitchFamily="34" charset="0"/>
                <a:ea typeface="宋体" panose="02010600030101010101" pitchFamily="2" charset="-122"/>
              </a:rPr>
              <a:t>d,10</a:t>
            </a:r>
            <a:endParaRPr lang="en-US" altLang="zh-CN" sz="2000" b="1" dirty="0">
              <a:solidFill>
                <a:srgbClr val="A50021"/>
              </a:solidFill>
              <a:latin typeface="Arial" panose="020B0604020202020204" pitchFamily="34" charset="0"/>
              <a:ea typeface="宋体" panose="02010600030101010101" pitchFamily="2" charset="-122"/>
            </a:endParaRPr>
          </a:p>
        </p:txBody>
      </p:sp>
      <p:sp>
        <p:nvSpPr>
          <p:cNvPr id="18540" name="Text Box 110"/>
          <p:cNvSpPr txBox="1"/>
          <p:nvPr/>
        </p:nvSpPr>
        <p:spPr>
          <a:xfrm>
            <a:off x="1612900" y="3972560"/>
            <a:ext cx="692150" cy="396875"/>
          </a:xfrm>
          <a:prstGeom prst="rect">
            <a:avLst/>
          </a:prstGeom>
          <a:noFill/>
          <a:ln w="9525">
            <a:noFill/>
          </a:ln>
        </p:spPr>
        <p:txBody>
          <a:bodyPr wrap="none" anchor="t">
            <a:spAutoFit/>
          </a:bodyPr>
          <a:lstStyle/>
          <a:p>
            <a:r>
              <a:rPr lang="en-US" altLang="zh-CN" sz="2000" b="1" dirty="0">
                <a:solidFill>
                  <a:srgbClr val="A50021"/>
                </a:solidFill>
                <a:latin typeface="Arial" panose="020B0604020202020204" pitchFamily="34" charset="0"/>
                <a:ea typeface="宋体" panose="02010600030101010101" pitchFamily="2" charset="-122"/>
              </a:rPr>
              <a:t>d,11</a:t>
            </a:r>
            <a:endParaRPr lang="en-US" altLang="zh-CN" sz="2000" b="1" dirty="0">
              <a:solidFill>
                <a:srgbClr val="A50021"/>
              </a:solidFill>
              <a:latin typeface="Arial" panose="020B0604020202020204" pitchFamily="34" charset="0"/>
              <a:ea typeface="宋体" panose="02010600030101010101" pitchFamily="2" charset="-122"/>
            </a:endParaRPr>
          </a:p>
        </p:txBody>
      </p:sp>
      <p:sp>
        <p:nvSpPr>
          <p:cNvPr id="18542" name="Text Box 112"/>
          <p:cNvSpPr txBox="1"/>
          <p:nvPr/>
        </p:nvSpPr>
        <p:spPr>
          <a:xfrm>
            <a:off x="1612900" y="4810760"/>
            <a:ext cx="692150" cy="396875"/>
          </a:xfrm>
          <a:prstGeom prst="rect">
            <a:avLst/>
          </a:prstGeom>
          <a:noFill/>
          <a:ln w="9525">
            <a:noFill/>
          </a:ln>
        </p:spPr>
        <p:txBody>
          <a:bodyPr wrap="none" anchor="t">
            <a:spAutoFit/>
          </a:bodyPr>
          <a:lstStyle/>
          <a:p>
            <a:r>
              <a:rPr lang="en-US" altLang="zh-CN" sz="2000" b="1" dirty="0">
                <a:solidFill>
                  <a:srgbClr val="A50021"/>
                </a:solidFill>
                <a:latin typeface="Arial" panose="020B0604020202020204" pitchFamily="34" charset="0"/>
                <a:ea typeface="宋体" panose="02010600030101010101" pitchFamily="2" charset="-122"/>
              </a:rPr>
              <a:t>u,10</a:t>
            </a:r>
            <a:endParaRPr lang="en-US" altLang="zh-CN" sz="2000" b="1" dirty="0">
              <a:solidFill>
                <a:srgbClr val="A50021"/>
              </a:solidFill>
              <a:latin typeface="Arial" panose="020B0604020202020204" pitchFamily="34" charset="0"/>
              <a:ea typeface="宋体" panose="02010600030101010101" pitchFamily="2" charset="-122"/>
            </a:endParaRPr>
          </a:p>
        </p:txBody>
      </p:sp>
      <p:pic>
        <p:nvPicPr>
          <p:cNvPr id="3" name="20 2"/>
          <p:cNvPicPr>
            <a:picLocks noChangeAspect="1"/>
          </p:cNvPicPr>
          <p:nvPr/>
        </p:nvPicPr>
        <p:blipFill>
          <a:blip r:embed="rId2"/>
          <a:stretch>
            <a:fillRect/>
          </a:stretch>
        </p:blipFill>
        <p:spPr>
          <a:xfrm>
            <a:off x="1640205" y="5707380"/>
            <a:ext cx="4707890" cy="431800"/>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8525"/>
                                        </p:tgtEl>
                                        <p:attrNameLst>
                                          <p:attrName>style.visibility</p:attrName>
                                        </p:attrNameLst>
                                      </p:cBhvr>
                                      <p:to>
                                        <p:strVal val="visible"/>
                                      </p:to>
                                    </p:set>
                                    <p:animEffect transition="in" filter="wipe(down)">
                                      <p:cBhvr>
                                        <p:cTn id="7" dur="500"/>
                                        <p:tgtEl>
                                          <p:spTgt spid="185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8526"/>
                                        </p:tgtEl>
                                        <p:attrNameLst>
                                          <p:attrName>style.visibility</p:attrName>
                                        </p:attrNameLst>
                                      </p:cBhvr>
                                      <p:to>
                                        <p:strVal val="visible"/>
                                      </p:to>
                                    </p:set>
                                    <p:animEffect transition="in" filter="wipe(down)">
                                      <p:cBhvr>
                                        <p:cTn id="12" dur="500"/>
                                        <p:tgtEl>
                                          <p:spTgt spid="18526"/>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8527"/>
                                        </p:tgtEl>
                                        <p:attrNameLst>
                                          <p:attrName>style.visibility</p:attrName>
                                        </p:attrNameLst>
                                      </p:cBhvr>
                                      <p:to>
                                        <p:strVal val="visible"/>
                                      </p:to>
                                    </p:set>
                                    <p:animEffect transition="in" filter="wipe(down)">
                                      <p:cBhvr>
                                        <p:cTn id="15" dur="500"/>
                                        <p:tgtEl>
                                          <p:spTgt spid="18527"/>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8528"/>
                                        </p:tgtEl>
                                        <p:attrNameLst>
                                          <p:attrName>style.visibility</p:attrName>
                                        </p:attrNameLst>
                                      </p:cBhvr>
                                      <p:to>
                                        <p:strVal val="visible"/>
                                      </p:to>
                                    </p:set>
                                    <p:animEffect transition="in" filter="wipe(down)">
                                      <p:cBhvr>
                                        <p:cTn id="18" dur="500"/>
                                        <p:tgtEl>
                                          <p:spTgt spid="1852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18533"/>
                                        </p:tgtEl>
                                        <p:attrNameLst>
                                          <p:attrName>style.visibility</p:attrName>
                                        </p:attrNameLst>
                                      </p:cBhvr>
                                      <p:to>
                                        <p:strVal val="visible"/>
                                      </p:to>
                                    </p:set>
                                    <p:animEffect transition="in" filter="wipe(down)">
                                      <p:cBhvr>
                                        <p:cTn id="23" dur="500"/>
                                        <p:tgtEl>
                                          <p:spTgt spid="1853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18534"/>
                                        </p:tgtEl>
                                        <p:attrNameLst>
                                          <p:attrName>style.visibility</p:attrName>
                                        </p:attrNameLst>
                                      </p:cBhvr>
                                      <p:to>
                                        <p:strVal val="visible"/>
                                      </p:to>
                                    </p:set>
                                    <p:animEffect transition="in" filter="wipe(down)">
                                      <p:cBhvr>
                                        <p:cTn id="28" dur="500"/>
                                        <p:tgtEl>
                                          <p:spTgt spid="18534"/>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8535"/>
                                        </p:tgtEl>
                                        <p:attrNameLst>
                                          <p:attrName>style.visibility</p:attrName>
                                        </p:attrNameLst>
                                      </p:cBhvr>
                                      <p:to>
                                        <p:strVal val="visible"/>
                                      </p:to>
                                    </p:set>
                                    <p:animEffect transition="in" filter="wipe(down)">
                                      <p:cBhvr>
                                        <p:cTn id="31" dur="500"/>
                                        <p:tgtEl>
                                          <p:spTgt spid="18535"/>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8536"/>
                                        </p:tgtEl>
                                        <p:attrNameLst>
                                          <p:attrName>style.visibility</p:attrName>
                                        </p:attrNameLst>
                                      </p:cBhvr>
                                      <p:to>
                                        <p:strVal val="visible"/>
                                      </p:to>
                                    </p:set>
                                    <p:animEffect transition="in" filter="wipe(down)">
                                      <p:cBhvr>
                                        <p:cTn id="34" dur="500"/>
                                        <p:tgtEl>
                                          <p:spTgt spid="18536"/>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8541"/>
                                        </p:tgtEl>
                                        <p:attrNameLst>
                                          <p:attrName>style.visibility</p:attrName>
                                        </p:attrNameLst>
                                      </p:cBhvr>
                                      <p:to>
                                        <p:strVal val="visible"/>
                                      </p:to>
                                    </p:set>
                                    <p:animEffect transition="in" filter="wipe(down)">
                                      <p:cBhvr>
                                        <p:cTn id="37" dur="500"/>
                                        <p:tgtEl>
                                          <p:spTgt spid="1854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8529"/>
                                        </p:tgtEl>
                                        <p:attrNameLst>
                                          <p:attrName>style.visibility</p:attrName>
                                        </p:attrNameLst>
                                      </p:cBhvr>
                                      <p:to>
                                        <p:strVal val="visible"/>
                                      </p:to>
                                    </p:set>
                                    <p:animEffect transition="in" filter="wipe(down)">
                                      <p:cBhvr>
                                        <p:cTn id="42" dur="500"/>
                                        <p:tgtEl>
                                          <p:spTgt spid="1852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8530"/>
                                        </p:tgtEl>
                                        <p:attrNameLst>
                                          <p:attrName>style.visibility</p:attrName>
                                        </p:attrNameLst>
                                      </p:cBhvr>
                                      <p:to>
                                        <p:strVal val="visible"/>
                                      </p:to>
                                    </p:set>
                                    <p:animEffect transition="in" filter="wipe(down)">
                                      <p:cBhvr>
                                        <p:cTn id="47" dur="500"/>
                                        <p:tgtEl>
                                          <p:spTgt spid="18530"/>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18531"/>
                                        </p:tgtEl>
                                        <p:attrNameLst>
                                          <p:attrName>style.visibility</p:attrName>
                                        </p:attrNameLst>
                                      </p:cBhvr>
                                      <p:to>
                                        <p:strVal val="visible"/>
                                      </p:to>
                                    </p:set>
                                    <p:animEffect transition="in" filter="wipe(down)">
                                      <p:cBhvr>
                                        <p:cTn id="50" dur="500"/>
                                        <p:tgtEl>
                                          <p:spTgt spid="18531"/>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18532"/>
                                        </p:tgtEl>
                                        <p:attrNameLst>
                                          <p:attrName>style.visibility</p:attrName>
                                        </p:attrNameLst>
                                      </p:cBhvr>
                                      <p:to>
                                        <p:strVal val="visible"/>
                                      </p:to>
                                    </p:set>
                                    <p:animEffect transition="in" filter="wipe(down)">
                                      <p:cBhvr>
                                        <p:cTn id="53" dur="500"/>
                                        <p:tgtEl>
                                          <p:spTgt spid="18532"/>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18537"/>
                                        </p:tgtEl>
                                        <p:attrNameLst>
                                          <p:attrName>style.visibility</p:attrName>
                                        </p:attrNameLst>
                                      </p:cBhvr>
                                      <p:to>
                                        <p:strVal val="visible"/>
                                      </p:to>
                                    </p:set>
                                    <p:animEffect transition="in" filter="wipe(down)">
                                      <p:cBhvr>
                                        <p:cTn id="58" dur="500"/>
                                        <p:tgtEl>
                                          <p:spTgt spid="18537"/>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18538"/>
                                        </p:tgtEl>
                                        <p:attrNameLst>
                                          <p:attrName>style.visibility</p:attrName>
                                        </p:attrNameLst>
                                      </p:cBhvr>
                                      <p:to>
                                        <p:strVal val="visible"/>
                                      </p:to>
                                    </p:set>
                                    <p:animEffect transition="in" filter="wipe(down)">
                                      <p:cBhvr>
                                        <p:cTn id="63" dur="500"/>
                                        <p:tgtEl>
                                          <p:spTgt spid="18538"/>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18539"/>
                                        </p:tgtEl>
                                        <p:attrNameLst>
                                          <p:attrName>style.visibility</p:attrName>
                                        </p:attrNameLst>
                                      </p:cBhvr>
                                      <p:to>
                                        <p:strVal val="visible"/>
                                      </p:to>
                                    </p:set>
                                    <p:animEffect transition="in" filter="wipe(down)">
                                      <p:cBhvr>
                                        <p:cTn id="66" dur="500"/>
                                        <p:tgtEl>
                                          <p:spTgt spid="18539"/>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18540"/>
                                        </p:tgtEl>
                                        <p:attrNameLst>
                                          <p:attrName>style.visibility</p:attrName>
                                        </p:attrNameLst>
                                      </p:cBhvr>
                                      <p:to>
                                        <p:strVal val="visible"/>
                                      </p:to>
                                    </p:set>
                                    <p:animEffect transition="in" filter="wipe(down)">
                                      <p:cBhvr>
                                        <p:cTn id="69" dur="500"/>
                                        <p:tgtEl>
                                          <p:spTgt spid="18540"/>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18542"/>
                                        </p:tgtEl>
                                        <p:attrNameLst>
                                          <p:attrName>style.visibility</p:attrName>
                                        </p:attrNameLst>
                                      </p:cBhvr>
                                      <p:to>
                                        <p:strVal val="visible"/>
                                      </p:to>
                                    </p:set>
                                    <p:animEffect transition="in" filter="wipe(down)">
                                      <p:cBhvr>
                                        <p:cTn id="72" dur="500"/>
                                        <p:tgtEl>
                                          <p:spTgt spid="18542"/>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8543"/>
                                        </p:tgtEl>
                                        <p:attrNameLst>
                                          <p:attrName>style.visibility</p:attrName>
                                        </p:attrNameLst>
                                      </p:cBhvr>
                                      <p:to>
                                        <p:strVal val="visible"/>
                                      </p:to>
                                    </p:set>
                                    <p:animEffect transition="in" filter="wipe(left)">
                                      <p:cBhvr>
                                        <p:cTn id="77" dur="500"/>
                                        <p:tgtEl>
                                          <p:spTgt spid="18543"/>
                                        </p:tgtEl>
                                      </p:cBhvr>
                                    </p:animEffect>
                                  </p:childTnLst>
                                </p:cTn>
                              </p:par>
                            </p:childTnLst>
                          </p:cTn>
                        </p:par>
                        <p:par>
                          <p:cTn id="78" fill="hold">
                            <p:stCondLst>
                              <p:cond delay="500"/>
                            </p:stCondLst>
                            <p:childTnLst>
                              <p:par>
                                <p:cTn id="79" presetID="22" presetClass="entr" presetSubtype="8" fill="hold" nodeType="afterEffect">
                                  <p:stCondLst>
                                    <p:cond delay="0"/>
                                  </p:stCondLst>
                                  <p:childTnLst>
                                    <p:set>
                                      <p:cBhvr>
                                        <p:cTn id="80" dur="1" fill="hold">
                                          <p:stCondLst>
                                            <p:cond delay="0"/>
                                          </p:stCondLst>
                                        </p:cTn>
                                        <p:tgtEl>
                                          <p:spTgt spid="18544"/>
                                        </p:tgtEl>
                                        <p:attrNameLst>
                                          <p:attrName>style.visibility</p:attrName>
                                        </p:attrNameLst>
                                      </p:cBhvr>
                                      <p:to>
                                        <p:strVal val="visible"/>
                                      </p:to>
                                    </p:set>
                                    <p:animEffect transition="in" filter="wipe(left)">
                                      <p:cBhvr>
                                        <p:cTn id="81" dur="500"/>
                                        <p:tgtEl>
                                          <p:spTgt spid="18544"/>
                                        </p:tgtEl>
                                      </p:cBhvr>
                                    </p:animEffect>
                                  </p:childTnLst>
                                </p:cTn>
                              </p:par>
                            </p:childTnLst>
                          </p:cTn>
                        </p:par>
                        <p:par>
                          <p:cTn id="82" fill="hold">
                            <p:stCondLst>
                              <p:cond delay="1000"/>
                            </p:stCondLst>
                            <p:childTnLst>
                              <p:par>
                                <p:cTn id="83" presetID="22" presetClass="entr" presetSubtype="8" fill="hold" nodeType="afterEffect">
                                  <p:stCondLst>
                                    <p:cond delay="0"/>
                                  </p:stCondLst>
                                  <p:childTnLst>
                                    <p:set>
                                      <p:cBhvr>
                                        <p:cTn id="84" dur="1" fill="hold">
                                          <p:stCondLst>
                                            <p:cond delay="0"/>
                                          </p:stCondLst>
                                        </p:cTn>
                                        <p:tgtEl>
                                          <p:spTgt spid="18545"/>
                                        </p:tgtEl>
                                        <p:attrNameLst>
                                          <p:attrName>style.visibility</p:attrName>
                                        </p:attrNameLst>
                                      </p:cBhvr>
                                      <p:to>
                                        <p:strVal val="visible"/>
                                      </p:to>
                                    </p:set>
                                    <p:animEffect transition="in" filter="wipe(left)">
                                      <p:cBhvr>
                                        <p:cTn id="85" dur="500"/>
                                        <p:tgtEl>
                                          <p:spTgt spid="18545"/>
                                        </p:tgtEl>
                                      </p:cBhvr>
                                    </p:animEffect>
                                  </p:childTnLst>
                                </p:cTn>
                              </p:par>
                            </p:childTnLst>
                          </p:cTn>
                        </p:par>
                        <p:par>
                          <p:cTn id="86" fill="hold">
                            <p:stCondLst>
                              <p:cond delay="1500"/>
                            </p:stCondLst>
                            <p:childTnLst>
                              <p:par>
                                <p:cTn id="87" presetID="22" presetClass="entr" presetSubtype="8" fill="hold" nodeType="afterEffect">
                                  <p:stCondLst>
                                    <p:cond delay="0"/>
                                  </p:stCondLst>
                                  <p:childTnLst>
                                    <p:set>
                                      <p:cBhvr>
                                        <p:cTn id="88" dur="1" fill="hold">
                                          <p:stCondLst>
                                            <p:cond delay="0"/>
                                          </p:stCondLst>
                                        </p:cTn>
                                        <p:tgtEl>
                                          <p:spTgt spid="18546"/>
                                        </p:tgtEl>
                                        <p:attrNameLst>
                                          <p:attrName>style.visibility</p:attrName>
                                        </p:attrNameLst>
                                      </p:cBhvr>
                                      <p:to>
                                        <p:strVal val="visible"/>
                                      </p:to>
                                    </p:set>
                                    <p:animEffect transition="in" filter="wipe(left)">
                                      <p:cBhvr>
                                        <p:cTn id="89" dur="500"/>
                                        <p:tgtEl>
                                          <p:spTgt spid="18546"/>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18547"/>
                                        </p:tgtEl>
                                        <p:attrNameLst>
                                          <p:attrName>style.visibility</p:attrName>
                                        </p:attrNameLst>
                                      </p:cBhvr>
                                      <p:to>
                                        <p:strVal val="visible"/>
                                      </p:to>
                                    </p:set>
                                    <p:animEffect transition="in" filter="wipe(left)">
                                      <p:cBhvr>
                                        <p:cTn id="94" dur="500"/>
                                        <p:tgtEl>
                                          <p:spTgt spid="18547"/>
                                        </p:tgtEl>
                                      </p:cBhvr>
                                    </p:animEffect>
                                  </p:childTnLst>
                                </p:cTn>
                              </p:par>
                            </p:childTnLst>
                          </p:cTn>
                        </p:par>
                        <p:par>
                          <p:cTn id="95" fill="hold">
                            <p:stCondLst>
                              <p:cond delay="500"/>
                            </p:stCondLst>
                            <p:childTnLst>
                              <p:par>
                                <p:cTn id="96" presetID="22" presetClass="entr" presetSubtype="8" fill="hold" nodeType="afterEffect">
                                  <p:stCondLst>
                                    <p:cond delay="0"/>
                                  </p:stCondLst>
                                  <p:childTnLst>
                                    <p:set>
                                      <p:cBhvr>
                                        <p:cTn id="97" dur="1" fill="hold">
                                          <p:stCondLst>
                                            <p:cond delay="0"/>
                                          </p:stCondLst>
                                        </p:cTn>
                                        <p:tgtEl>
                                          <p:spTgt spid="18548"/>
                                        </p:tgtEl>
                                        <p:attrNameLst>
                                          <p:attrName>style.visibility</p:attrName>
                                        </p:attrNameLst>
                                      </p:cBhvr>
                                      <p:to>
                                        <p:strVal val="visible"/>
                                      </p:to>
                                    </p:set>
                                    <p:animEffect transition="in" filter="wipe(left)">
                                      <p:cBhvr>
                                        <p:cTn id="98" dur="500"/>
                                        <p:tgtEl>
                                          <p:spTgt spid="185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25" grpId="0"/>
      <p:bldP spid="18525" grpId="1"/>
      <p:bldP spid="18526" grpId="0"/>
      <p:bldP spid="18526" grpId="1"/>
      <p:bldP spid="18527" grpId="0"/>
      <p:bldP spid="18527" grpId="1"/>
      <p:bldP spid="18528" grpId="0"/>
      <p:bldP spid="18528" grpId="1"/>
      <p:bldP spid="18533" grpId="0"/>
      <p:bldP spid="18533" grpId="1"/>
      <p:bldP spid="18534" grpId="0"/>
      <p:bldP spid="18534" grpId="1"/>
      <p:bldP spid="18535" grpId="0"/>
      <p:bldP spid="18535" grpId="1"/>
      <p:bldP spid="18536" grpId="0"/>
      <p:bldP spid="18536" grpId="1"/>
      <p:bldP spid="18541" grpId="0"/>
      <p:bldP spid="18541" grpId="1"/>
      <p:bldP spid="18529" grpId="0"/>
      <p:bldP spid="18529" grpId="1"/>
      <p:bldP spid="18530" grpId="0"/>
      <p:bldP spid="18530" grpId="1"/>
      <p:bldP spid="18531" grpId="0"/>
      <p:bldP spid="18531" grpId="1"/>
      <p:bldP spid="18532" grpId="0"/>
      <p:bldP spid="18532" grpId="1"/>
      <p:bldP spid="18537" grpId="0"/>
      <p:bldP spid="18537" grpId="1"/>
      <p:bldP spid="18538" grpId="0"/>
      <p:bldP spid="18538" grpId="1"/>
      <p:bldP spid="18539" grpId="0"/>
      <p:bldP spid="18539" grpId="1"/>
      <p:bldP spid="18540" grpId="0"/>
      <p:bldP spid="18540" grpId="1"/>
      <p:bldP spid="18542" grpId="0"/>
      <p:bldP spid="18542"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3.1 </a:t>
            </a:r>
            <a:r>
              <a:rPr kumimoji="0" lang="zh-CN" altLang="en-US" kern="1200" dirty="0" smtClean="0">
                <a:solidFill>
                  <a:schemeClr val="accent2"/>
                </a:solidFill>
                <a:sym typeface="+mn-ea"/>
              </a:rPr>
              <a:t>动态规划的设计思想</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3" name="文本框 2"/>
          <p:cNvSpPr txBox="1"/>
          <p:nvPr/>
        </p:nvSpPr>
        <p:spPr>
          <a:xfrm>
            <a:off x="753745" y="1701800"/>
            <a:ext cx="2540000" cy="460375"/>
          </a:xfrm>
          <a:prstGeom prst="rect">
            <a:avLst/>
          </a:prstGeom>
          <a:noFill/>
        </p:spPr>
        <p:txBody>
          <a:bodyPr wrap="square" rtlCol="0" anchor="t">
            <a:spAutoFit/>
          </a:bodyPr>
          <a:lstStyle/>
          <a:p>
            <a:r>
              <a:rPr lang="zh-CN" altLang="en-US">
                <a:solidFill>
                  <a:schemeClr val="bg2"/>
                </a:solidFill>
              </a:rPr>
              <a:t>子问题界定</a:t>
            </a:r>
            <a:endParaRPr lang="zh-CN" altLang="en-US">
              <a:solidFill>
                <a:schemeClr val="bg2"/>
              </a:solidFill>
            </a:endParaRPr>
          </a:p>
        </p:txBody>
      </p:sp>
      <p:pic>
        <p:nvPicPr>
          <p:cNvPr id="4" name="20 3"/>
          <p:cNvPicPr>
            <a:picLocks noChangeAspect="1"/>
          </p:cNvPicPr>
          <p:nvPr/>
        </p:nvPicPr>
        <p:blipFill>
          <a:blip r:embed="rId1"/>
          <a:stretch>
            <a:fillRect/>
          </a:stretch>
        </p:blipFill>
        <p:spPr>
          <a:xfrm>
            <a:off x="341630" y="4663440"/>
            <a:ext cx="3599180" cy="518795"/>
          </a:xfrm>
          <a:prstGeom prst="rect">
            <a:avLst/>
          </a:prstGeom>
        </p:spPr>
      </p:pic>
      <p:pic>
        <p:nvPicPr>
          <p:cNvPr id="5" name="20 4"/>
          <p:cNvPicPr>
            <a:picLocks noChangeAspect="1"/>
          </p:cNvPicPr>
          <p:nvPr/>
        </p:nvPicPr>
        <p:blipFill>
          <a:blip r:embed="rId2"/>
          <a:stretch>
            <a:fillRect/>
          </a:stretch>
        </p:blipFill>
        <p:spPr>
          <a:xfrm>
            <a:off x="2960370" y="2508250"/>
            <a:ext cx="1631315" cy="336550"/>
          </a:xfrm>
          <a:prstGeom prst="rect">
            <a:avLst/>
          </a:prstGeom>
        </p:spPr>
      </p:pic>
      <p:pic>
        <p:nvPicPr>
          <p:cNvPr id="6" name="20 5"/>
          <p:cNvPicPr>
            <a:picLocks noChangeAspect="1"/>
          </p:cNvPicPr>
          <p:nvPr/>
        </p:nvPicPr>
        <p:blipFill>
          <a:blip r:embed="rId3"/>
          <a:stretch>
            <a:fillRect/>
          </a:stretch>
        </p:blipFill>
        <p:spPr>
          <a:xfrm>
            <a:off x="2188845" y="2978785"/>
            <a:ext cx="2427605" cy="424815"/>
          </a:xfrm>
          <a:prstGeom prst="rect">
            <a:avLst/>
          </a:prstGeom>
        </p:spPr>
      </p:pic>
      <p:pic>
        <p:nvPicPr>
          <p:cNvPr id="7" name="20 6"/>
          <p:cNvPicPr>
            <a:picLocks noChangeAspect="1"/>
          </p:cNvPicPr>
          <p:nvPr/>
        </p:nvPicPr>
        <p:blipFill>
          <a:blip r:embed="rId4"/>
          <a:stretch>
            <a:fillRect/>
          </a:stretch>
        </p:blipFill>
        <p:spPr>
          <a:xfrm>
            <a:off x="1391285" y="3553460"/>
            <a:ext cx="3247390" cy="416560"/>
          </a:xfrm>
          <a:prstGeom prst="rect">
            <a:avLst/>
          </a:prstGeom>
        </p:spPr>
      </p:pic>
      <p:pic>
        <p:nvPicPr>
          <p:cNvPr id="8" name="20 7"/>
          <p:cNvPicPr>
            <a:picLocks noChangeAspect="1"/>
          </p:cNvPicPr>
          <p:nvPr/>
        </p:nvPicPr>
        <p:blipFill>
          <a:blip r:embed="rId5"/>
          <a:stretch>
            <a:fillRect/>
          </a:stretch>
        </p:blipFill>
        <p:spPr>
          <a:xfrm>
            <a:off x="520700" y="4121785"/>
            <a:ext cx="4117975" cy="480695"/>
          </a:xfrm>
          <a:prstGeom prst="rect">
            <a:avLst/>
          </a:prstGeom>
        </p:spPr>
      </p:pic>
      <p:pic>
        <p:nvPicPr>
          <p:cNvPr id="10" name="20 9"/>
          <p:cNvPicPr>
            <a:picLocks noChangeAspect="1"/>
          </p:cNvPicPr>
          <p:nvPr/>
        </p:nvPicPr>
        <p:blipFill>
          <a:blip r:embed="rId6"/>
          <a:srcRect r="21588" b="74251"/>
          <a:stretch>
            <a:fillRect/>
          </a:stretch>
        </p:blipFill>
        <p:spPr>
          <a:xfrm>
            <a:off x="4908550" y="2326640"/>
            <a:ext cx="3995420" cy="671195"/>
          </a:xfrm>
          <a:prstGeom prst="rect">
            <a:avLst/>
          </a:prstGeom>
        </p:spPr>
      </p:pic>
      <p:pic>
        <p:nvPicPr>
          <p:cNvPr id="11" name="20 10"/>
          <p:cNvPicPr>
            <a:picLocks noChangeAspect="1"/>
          </p:cNvPicPr>
          <p:nvPr/>
        </p:nvPicPr>
        <p:blipFill>
          <a:blip r:embed="rId7"/>
          <a:stretch>
            <a:fillRect/>
          </a:stretch>
        </p:blipFill>
        <p:spPr>
          <a:xfrm>
            <a:off x="1869440" y="5537835"/>
            <a:ext cx="5310505" cy="434340"/>
          </a:xfrm>
          <a:prstGeom prst="rect">
            <a:avLst/>
          </a:prstGeom>
        </p:spPr>
      </p:pic>
      <p:pic>
        <p:nvPicPr>
          <p:cNvPr id="12" name="20 11"/>
          <p:cNvPicPr>
            <a:picLocks noChangeAspect="1"/>
          </p:cNvPicPr>
          <p:nvPr/>
        </p:nvPicPr>
        <p:blipFill>
          <a:blip r:embed="rId6"/>
          <a:srcRect t="27235" r="21588" b="50572"/>
          <a:stretch>
            <a:fillRect/>
          </a:stretch>
        </p:blipFill>
        <p:spPr>
          <a:xfrm>
            <a:off x="4836795" y="3036570"/>
            <a:ext cx="3995420" cy="578485"/>
          </a:xfrm>
          <a:prstGeom prst="rect">
            <a:avLst/>
          </a:prstGeom>
        </p:spPr>
      </p:pic>
      <p:pic>
        <p:nvPicPr>
          <p:cNvPr id="13" name="20 12"/>
          <p:cNvPicPr>
            <a:picLocks noChangeAspect="1"/>
          </p:cNvPicPr>
          <p:nvPr/>
        </p:nvPicPr>
        <p:blipFill>
          <a:blip r:embed="rId6"/>
          <a:srcRect t="48721" r="21588" b="26943"/>
          <a:stretch>
            <a:fillRect/>
          </a:stretch>
        </p:blipFill>
        <p:spPr>
          <a:xfrm>
            <a:off x="4836795" y="3596640"/>
            <a:ext cx="3995420" cy="634365"/>
          </a:xfrm>
          <a:prstGeom prst="rect">
            <a:avLst/>
          </a:prstGeom>
        </p:spPr>
      </p:pic>
      <p:pic>
        <p:nvPicPr>
          <p:cNvPr id="14" name="20 13"/>
          <p:cNvPicPr>
            <a:picLocks noChangeAspect="1"/>
          </p:cNvPicPr>
          <p:nvPr/>
        </p:nvPicPr>
        <p:blipFill>
          <a:blip r:embed="rId6"/>
          <a:srcRect t="74202" r="21588"/>
          <a:stretch>
            <a:fillRect/>
          </a:stretch>
        </p:blipFill>
        <p:spPr>
          <a:xfrm>
            <a:off x="4836795" y="4260850"/>
            <a:ext cx="3995420" cy="672465"/>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righ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righ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righ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righ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left)">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20 11"/>
          <p:cNvPicPr>
            <a:picLocks noChangeAspect="1"/>
          </p:cNvPicPr>
          <p:nvPr/>
        </p:nvPicPr>
        <p:blipFill>
          <a:blip r:embed="rId1"/>
          <a:stretch>
            <a:fillRect/>
          </a:stretch>
        </p:blipFill>
        <p:spPr>
          <a:xfrm>
            <a:off x="2008852" y="3183890"/>
            <a:ext cx="5011420" cy="1577975"/>
          </a:xfrm>
          <a:prstGeom prst="rect">
            <a:avLst/>
          </a:prstGeom>
        </p:spPr>
      </p:pic>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3.1 </a:t>
            </a:r>
            <a:r>
              <a:rPr kumimoji="0" lang="zh-CN" altLang="en-US" kern="1200" dirty="0" smtClean="0">
                <a:solidFill>
                  <a:schemeClr val="accent2"/>
                </a:solidFill>
                <a:sym typeface="+mn-ea"/>
              </a:rPr>
              <a:t>动态规划的设计思想</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10" name="文本框 9"/>
          <p:cNvSpPr txBox="1"/>
          <p:nvPr/>
        </p:nvSpPr>
        <p:spPr>
          <a:xfrm>
            <a:off x="572135" y="1674495"/>
            <a:ext cx="7948930" cy="460375"/>
          </a:xfrm>
          <a:prstGeom prst="rect">
            <a:avLst/>
          </a:prstGeom>
          <a:noFill/>
        </p:spPr>
        <p:txBody>
          <a:bodyPr wrap="square" rtlCol="0" anchor="t">
            <a:spAutoFit/>
          </a:bodyPr>
          <a:lstStyle/>
          <a:p>
            <a:pPr marL="342900" indent="-342900">
              <a:buFont typeface="Wingdings" panose="05000000000000000000" charset="0"/>
              <a:buChar char="p"/>
            </a:pPr>
            <a:r>
              <a:rPr lang="zh-CN" altLang="zh-CN" smtClean="0">
                <a:solidFill>
                  <a:schemeClr val="bg2"/>
                </a:solidFill>
                <a:latin typeface="宋体" panose="02010600030101010101" pitchFamily="2" charset="-122"/>
                <a:cs typeface="宋体" panose="02010600030101010101" pitchFamily="2" charset="-122"/>
                <a:sym typeface="+mn-ea"/>
              </a:rPr>
              <a:t>采用动态规划求解的问题的一般要具有</a:t>
            </a:r>
            <a:r>
              <a:rPr lang="en-US" altLang="zh-CN" smtClean="0">
                <a:solidFill>
                  <a:schemeClr val="bg2"/>
                </a:solidFill>
                <a:latin typeface="宋体" panose="02010600030101010101" pitchFamily="2" charset="-122"/>
                <a:cs typeface="宋体" panose="02010600030101010101" pitchFamily="2" charset="-122"/>
                <a:sym typeface="+mn-ea"/>
              </a:rPr>
              <a:t>3</a:t>
            </a:r>
            <a:r>
              <a:rPr lang="zh-CN" altLang="zh-CN" smtClean="0">
                <a:solidFill>
                  <a:schemeClr val="bg2"/>
                </a:solidFill>
                <a:latin typeface="宋体" panose="02010600030101010101" pitchFamily="2" charset="-122"/>
                <a:cs typeface="宋体" panose="02010600030101010101" pitchFamily="2" charset="-122"/>
                <a:sym typeface="+mn-ea"/>
              </a:rPr>
              <a:t>个性质</a:t>
            </a:r>
            <a:endParaRPr lang="zh-CN" altLang="en-US">
              <a:solidFill>
                <a:schemeClr val="bg2"/>
              </a:solidFill>
            </a:endParaRPr>
          </a:p>
        </p:txBody>
      </p:sp>
      <p:sp>
        <p:nvSpPr>
          <p:cNvPr id="11" name="文本框 10"/>
          <p:cNvSpPr txBox="1"/>
          <p:nvPr/>
        </p:nvSpPr>
        <p:spPr>
          <a:xfrm>
            <a:off x="776605" y="2134870"/>
            <a:ext cx="7745095" cy="1420495"/>
          </a:xfrm>
          <a:prstGeom prst="rect">
            <a:avLst/>
          </a:prstGeom>
          <a:noFill/>
        </p:spPr>
        <p:txBody>
          <a:bodyPr wrap="square" rtlCol="0" anchor="t">
            <a:spAutoFit/>
          </a:bodyPr>
          <a:lstStyle/>
          <a:p>
            <a:pPr marL="222885" marR="0" lvl="0" indent="-222885" algn="l" defTabSz="914400" rtl="0" eaLnBrk="1" fontAlgn="base" latinLnBrk="0" hangingPunct="1">
              <a:lnSpc>
                <a:spcPct val="120000"/>
              </a:lnSpc>
              <a:spcBef>
                <a:spcPct val="0"/>
              </a:spcBef>
              <a:spcAft>
                <a:spcPct val="0"/>
              </a:spcAft>
              <a:buClrTx/>
              <a:buSzTx/>
              <a:buFont typeface="Arial" panose="020B0604020202020204" pitchFamily="34" charset="0"/>
              <a:buChar char="•"/>
              <a:defRPr/>
            </a:pPr>
            <a:r>
              <a:rPr lang="zh-CN" altLang="zh-CN" dirty="0" smtClean="0">
                <a:solidFill>
                  <a:srgbClr val="FF0000"/>
                </a:solidFill>
                <a:latin typeface="宋体" panose="02010600030101010101" pitchFamily="2" charset="-122"/>
                <a:cs typeface="Consolas" panose="020B0609020204030204" pitchFamily="49" charset="0"/>
                <a:sym typeface="+mn-ea"/>
              </a:rPr>
              <a:t>性质</a:t>
            </a:r>
            <a:r>
              <a:rPr lang="en-US" altLang="zh-CN" dirty="0" smtClean="0">
                <a:solidFill>
                  <a:srgbClr val="FF0000"/>
                </a:solidFill>
                <a:latin typeface="宋体" panose="02010600030101010101" pitchFamily="2" charset="-122"/>
                <a:cs typeface="Consolas" panose="020B0609020204030204" pitchFamily="49" charset="0"/>
                <a:sym typeface="+mn-ea"/>
              </a:rPr>
              <a:t>1—</a:t>
            </a:r>
            <a:r>
              <a:rPr lang="zh-CN" altLang="zh-CN" dirty="0" smtClean="0">
                <a:solidFill>
                  <a:srgbClr val="FF0000"/>
                </a:solidFill>
                <a:latin typeface="宋体" panose="02010600030101010101" pitchFamily="2" charset="-122"/>
                <a:cs typeface="Consolas" panose="020B0609020204030204" pitchFamily="49" charset="0"/>
                <a:sym typeface="+mn-ea"/>
              </a:rPr>
              <a:t>最优性原理</a:t>
            </a:r>
            <a:r>
              <a:rPr lang="zh-CN" altLang="zh-CN" dirty="0" smtClean="0">
                <a:solidFill>
                  <a:srgbClr val="0000FF"/>
                </a:solidFill>
                <a:latin typeface="宋体" panose="02010600030101010101" pitchFamily="2" charset="-122"/>
                <a:cs typeface="Consolas" panose="020B0609020204030204" pitchFamily="49" charset="0"/>
                <a:sym typeface="+mn-ea"/>
              </a:rPr>
              <a:t>：如果问题的最优解所包含的子问题的解也是最优的</a:t>
            </a:r>
            <a:r>
              <a:rPr lang="zh-CN" altLang="en-US" dirty="0" smtClean="0">
                <a:solidFill>
                  <a:srgbClr val="0000FF"/>
                </a:solidFill>
                <a:latin typeface="宋体" panose="02010600030101010101" pitchFamily="2" charset="-122"/>
                <a:cs typeface="Consolas" panose="020B0609020204030204" pitchFamily="49" charset="0"/>
                <a:sym typeface="+mn-ea"/>
              </a:rPr>
              <a:t>，</a:t>
            </a:r>
            <a:r>
              <a:rPr lang="zh-CN" altLang="zh-CN" dirty="0" smtClean="0">
                <a:solidFill>
                  <a:srgbClr val="0000FF"/>
                </a:solidFill>
                <a:latin typeface="宋体" panose="02010600030101010101" pitchFamily="2" charset="-122"/>
                <a:cs typeface="Consolas" panose="020B0609020204030204" pitchFamily="49" charset="0"/>
                <a:sym typeface="+mn-ea"/>
              </a:rPr>
              <a:t>就称该问题具有最优子结构</a:t>
            </a:r>
            <a:r>
              <a:rPr lang="zh-CN" altLang="en-US" dirty="0" smtClean="0">
                <a:solidFill>
                  <a:srgbClr val="0000FF"/>
                </a:solidFill>
                <a:latin typeface="宋体" panose="02010600030101010101" pitchFamily="2" charset="-122"/>
                <a:cs typeface="Consolas" panose="020B0609020204030204" pitchFamily="49" charset="0"/>
                <a:sym typeface="+mn-ea"/>
              </a:rPr>
              <a:t>，</a:t>
            </a:r>
            <a:r>
              <a:rPr lang="zh-CN" altLang="zh-CN" dirty="0" smtClean="0">
                <a:solidFill>
                  <a:srgbClr val="0000FF"/>
                </a:solidFill>
                <a:latin typeface="宋体" panose="02010600030101010101" pitchFamily="2" charset="-122"/>
                <a:cs typeface="Consolas" panose="020B0609020204030204" pitchFamily="49" charset="0"/>
                <a:sym typeface="+mn-ea"/>
              </a:rPr>
              <a:t>即满足最优性原理。</a:t>
            </a:r>
            <a:endParaRPr lang="zh-CN" altLang="en-US" noProof="0" dirty="0">
              <a:ln>
                <a:noFill/>
              </a:ln>
              <a:solidFill>
                <a:schemeClr val="bg2"/>
              </a:solidFill>
              <a:effectLst/>
              <a:uLnTx/>
              <a:uFillTx/>
              <a:latin typeface="宋体" panose="02010600030101010101" pitchFamily="2" charset="-122"/>
              <a:cs typeface="Times New Roman" panose="02020603050405020304" pitchFamily="18" charset="0"/>
              <a:sym typeface="+mn-ea"/>
            </a:endParaRPr>
          </a:p>
        </p:txBody>
      </p:sp>
      <p:sp>
        <p:nvSpPr>
          <p:cNvPr id="13" name="文本框 12"/>
          <p:cNvSpPr txBox="1"/>
          <p:nvPr/>
        </p:nvSpPr>
        <p:spPr>
          <a:xfrm>
            <a:off x="724535" y="4761230"/>
            <a:ext cx="7796530" cy="1420495"/>
          </a:xfrm>
          <a:prstGeom prst="rect">
            <a:avLst/>
          </a:prstGeom>
          <a:solidFill>
            <a:schemeClr val="tx1"/>
          </a:solidFill>
        </p:spPr>
        <p:txBody>
          <a:bodyPr wrap="square" rtlCol="0" anchor="t">
            <a:spAutoFit/>
          </a:bodyPr>
          <a:lstStyle/>
          <a:p>
            <a:pPr marL="342900" indent="-342900">
              <a:lnSpc>
                <a:spcPct val="120000"/>
              </a:lnSpc>
              <a:spcBef>
                <a:spcPts val="0"/>
              </a:spcBef>
              <a:spcAft>
                <a:spcPts val="0"/>
              </a:spcAft>
              <a:buFont typeface="Arial" panose="020B0604020202020204" pitchFamily="34" charset="0"/>
              <a:buChar char="•"/>
            </a:pPr>
            <a:r>
              <a:rPr lang="zh-CN" altLang="en-US" b="1" dirty="0">
                <a:solidFill>
                  <a:srgbClr val="C00000"/>
                </a:solidFill>
                <a:sym typeface="+mn-ea"/>
              </a:rPr>
              <a:t>使用动态规划策略的条件：</a:t>
            </a:r>
            <a:r>
              <a:rPr lang="zh-CN" altLang="en-US">
                <a:solidFill>
                  <a:schemeClr val="bg2"/>
                </a:solidFill>
                <a:sym typeface="+mn-ea"/>
              </a:rPr>
              <a:t>优化原则</a:t>
            </a:r>
            <a:endParaRPr lang="zh-CN" altLang="en-US" noProof="0" dirty="0">
              <a:ln>
                <a:noFill/>
              </a:ln>
              <a:solidFill>
                <a:schemeClr val="bg2"/>
              </a:solidFill>
              <a:effectLst/>
              <a:uLnTx/>
              <a:uFillTx/>
              <a:latin typeface="宋体" panose="02010600030101010101" pitchFamily="2" charset="-122"/>
              <a:sym typeface="+mn-ea"/>
            </a:endParaRPr>
          </a:p>
          <a:p>
            <a:pPr marL="342900" indent="-342900">
              <a:lnSpc>
                <a:spcPct val="120000"/>
              </a:lnSpc>
              <a:spcBef>
                <a:spcPts val="0"/>
              </a:spcBef>
              <a:spcAft>
                <a:spcPts val="0"/>
              </a:spcAft>
              <a:buFont typeface="Arial" panose="020B0604020202020204" pitchFamily="34" charset="0"/>
              <a:buChar char="•"/>
            </a:pPr>
            <a:r>
              <a:rPr lang="zh-CN" altLang="en-US" noProof="0" dirty="0">
                <a:ln>
                  <a:noFill/>
                </a:ln>
                <a:solidFill>
                  <a:schemeClr val="bg2"/>
                </a:solidFill>
                <a:effectLst/>
                <a:uLnTx/>
                <a:uFillTx/>
                <a:latin typeface="宋体" panose="02010600030101010101" pitchFamily="2" charset="-122"/>
                <a:sym typeface="+mn-ea"/>
              </a:rPr>
              <a:t>优化原则：一个最优决策序列的任何子序列，一定是相对于子序列的初始和结束状态的最优决策序列。</a:t>
            </a:r>
            <a:endParaRPr lang="zh-CN" altLang="en-US" noProof="0" dirty="0">
              <a:ln>
                <a:noFill/>
              </a:ln>
              <a:solidFill>
                <a:schemeClr val="bg2"/>
              </a:solidFill>
              <a:effectLst/>
              <a:uLnTx/>
              <a:uFillTx/>
              <a:latin typeface="宋体" panose="02010600030101010101" pitchFamily="2" charset="-122"/>
              <a:sym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animEffect transition="in" filter="wipe(left)">
                                      <p:cBhvr>
                                        <p:cTn id="15" dur="500"/>
                                        <p:tgtEl>
                                          <p:spTgt spid="1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3">
                                            <p:txEl>
                                              <p:pRg st="1" end="1"/>
                                            </p:txEl>
                                          </p:spTgt>
                                        </p:tgtEl>
                                        <p:attrNameLst>
                                          <p:attrName>style.visibility</p:attrName>
                                        </p:attrNameLst>
                                      </p:cBhvr>
                                      <p:to>
                                        <p:strVal val="visible"/>
                                      </p:to>
                                    </p:set>
                                    <p:animEffect transition="in" filter="wipe(left)">
                                      <p:cBhvr>
                                        <p:cTn id="20" dur="5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3.1 </a:t>
            </a:r>
            <a:r>
              <a:rPr kumimoji="0" lang="zh-CN" altLang="en-US" kern="1200" dirty="0" smtClean="0">
                <a:solidFill>
                  <a:schemeClr val="accent2"/>
                </a:solidFill>
                <a:sym typeface="+mn-ea"/>
              </a:rPr>
              <a:t>动态规划的设计思想</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11" name="文本框 10"/>
          <p:cNvSpPr txBox="1"/>
          <p:nvPr/>
        </p:nvSpPr>
        <p:spPr>
          <a:xfrm>
            <a:off x="635000" y="1598295"/>
            <a:ext cx="7644130" cy="534035"/>
          </a:xfrm>
          <a:prstGeom prst="rect">
            <a:avLst/>
          </a:prstGeom>
          <a:noFill/>
        </p:spPr>
        <p:txBody>
          <a:bodyPr wrap="square" rtlCol="0" anchor="t">
            <a:spAutoFit/>
          </a:bodyPr>
          <a:lstStyle/>
          <a:p>
            <a:pPr marL="342900" marR="0" lvl="0" indent="-342900" algn="l" defTabSz="914400" rtl="0" eaLnBrk="1" fontAlgn="base" latinLnBrk="0" hangingPunct="1">
              <a:lnSpc>
                <a:spcPct val="120000"/>
              </a:lnSpc>
              <a:spcBef>
                <a:spcPct val="0"/>
              </a:spcBef>
              <a:spcAft>
                <a:spcPct val="0"/>
              </a:spcAft>
              <a:buClrTx/>
              <a:buSzTx/>
              <a:buFont typeface="Wingdings" panose="05000000000000000000" charset="0"/>
              <a:buChar char="Ø"/>
              <a:defRPr/>
            </a:pPr>
            <a:r>
              <a:rPr lang="zh-CN" altLang="en-US" noProof="0" dirty="0">
                <a:ln>
                  <a:noFill/>
                </a:ln>
                <a:solidFill>
                  <a:schemeClr val="bg2"/>
                </a:solidFill>
                <a:effectLst/>
                <a:uLnTx/>
                <a:uFillTx/>
                <a:latin typeface="宋体" panose="02010600030101010101" pitchFamily="2" charset="-122"/>
                <a:cs typeface="Times New Roman" panose="02020603050405020304" pitchFamily="18" charset="0"/>
                <a:sym typeface="+mn-ea"/>
              </a:rPr>
              <a:t>不符合最优子结构性质</a:t>
            </a:r>
            <a:r>
              <a:rPr lang="en-US" altLang="zh-CN" noProof="0" dirty="0">
                <a:ln>
                  <a:noFill/>
                </a:ln>
                <a:solidFill>
                  <a:schemeClr val="bg2"/>
                </a:solidFill>
                <a:effectLst/>
                <a:uLnTx/>
                <a:uFillTx/>
                <a:latin typeface="宋体" panose="02010600030101010101" pitchFamily="2" charset="-122"/>
                <a:cs typeface="Times New Roman" panose="02020603050405020304" pitchFamily="18" charset="0"/>
                <a:sym typeface="+mn-ea"/>
              </a:rPr>
              <a:t>(</a:t>
            </a:r>
            <a:r>
              <a:rPr lang="zh-CN" altLang="en-US" noProof="0" dirty="0">
                <a:ln>
                  <a:noFill/>
                </a:ln>
                <a:solidFill>
                  <a:schemeClr val="bg2"/>
                </a:solidFill>
                <a:effectLst/>
                <a:uLnTx/>
                <a:uFillTx/>
                <a:latin typeface="宋体" panose="02010600030101010101" pitchFamily="2" charset="-122"/>
                <a:cs typeface="Times New Roman" panose="02020603050405020304" pitchFamily="18" charset="0"/>
                <a:sym typeface="+mn-ea"/>
              </a:rPr>
              <a:t>优化原则</a:t>
            </a:r>
            <a:r>
              <a:rPr lang="en-US" altLang="zh-CN" noProof="0" dirty="0">
                <a:ln>
                  <a:noFill/>
                </a:ln>
                <a:solidFill>
                  <a:schemeClr val="bg2"/>
                </a:solidFill>
                <a:effectLst/>
                <a:uLnTx/>
                <a:uFillTx/>
                <a:latin typeface="宋体" panose="02010600030101010101" pitchFamily="2" charset="-122"/>
                <a:cs typeface="Times New Roman" panose="02020603050405020304" pitchFamily="18" charset="0"/>
                <a:sym typeface="+mn-ea"/>
              </a:rPr>
              <a:t>)</a:t>
            </a:r>
            <a:r>
              <a:rPr lang="zh-CN" altLang="en-US" noProof="0" dirty="0">
                <a:ln>
                  <a:noFill/>
                </a:ln>
                <a:solidFill>
                  <a:schemeClr val="bg2"/>
                </a:solidFill>
                <a:effectLst/>
                <a:uLnTx/>
                <a:uFillTx/>
                <a:latin typeface="宋体" panose="02010600030101010101" pitchFamily="2" charset="-122"/>
                <a:cs typeface="Times New Roman" panose="02020603050405020304" pitchFamily="18" charset="0"/>
                <a:sym typeface="+mn-ea"/>
              </a:rPr>
              <a:t>的例子</a:t>
            </a:r>
            <a:endParaRPr lang="zh-CN" altLang="en-US" noProof="0" dirty="0">
              <a:ln>
                <a:noFill/>
              </a:ln>
              <a:solidFill>
                <a:schemeClr val="bg2"/>
              </a:solidFill>
              <a:effectLst/>
              <a:uLnTx/>
              <a:uFillTx/>
              <a:latin typeface="宋体" panose="02010600030101010101" pitchFamily="2" charset="-122"/>
              <a:cs typeface="Times New Roman" panose="02020603050405020304" pitchFamily="18" charset="0"/>
              <a:sym typeface="+mn-ea"/>
            </a:endParaRPr>
          </a:p>
        </p:txBody>
      </p:sp>
      <p:sp>
        <p:nvSpPr>
          <p:cNvPr id="3" name="文本框 2"/>
          <p:cNvSpPr txBox="1"/>
          <p:nvPr/>
        </p:nvSpPr>
        <p:spPr>
          <a:xfrm>
            <a:off x="1054100" y="2221230"/>
            <a:ext cx="3856990" cy="460375"/>
          </a:xfrm>
          <a:prstGeom prst="rect">
            <a:avLst/>
          </a:prstGeom>
          <a:noFill/>
        </p:spPr>
        <p:txBody>
          <a:bodyPr wrap="none" rtlCol="0" anchor="t">
            <a:spAutoFit/>
          </a:bodyPr>
          <a:lstStyle/>
          <a:p>
            <a:r>
              <a:rPr lang="zh-CN" altLang="en-US" b="1" dirty="0">
                <a:solidFill>
                  <a:schemeClr val="bg2"/>
                </a:solidFill>
                <a:latin typeface="宋体" panose="02010600030101010101" pitchFamily="2" charset="-122"/>
                <a:sym typeface="+mn-ea"/>
              </a:rPr>
              <a:t>例：求总长模</a:t>
            </a:r>
            <a:r>
              <a:rPr lang="en-US" altLang="zh-CN" b="1" dirty="0">
                <a:solidFill>
                  <a:schemeClr val="bg2"/>
                </a:solidFill>
                <a:latin typeface="宋体" panose="02010600030101010101" pitchFamily="2" charset="-122"/>
                <a:sym typeface="+mn-ea"/>
              </a:rPr>
              <a:t>10</a:t>
            </a:r>
            <a:r>
              <a:rPr lang="zh-CN" altLang="en-US" b="1" dirty="0">
                <a:solidFill>
                  <a:schemeClr val="bg2"/>
                </a:solidFill>
                <a:latin typeface="宋体" panose="02010600030101010101" pitchFamily="2" charset="-122"/>
                <a:sym typeface="+mn-ea"/>
              </a:rPr>
              <a:t>的最小路径</a:t>
            </a:r>
            <a:endParaRPr lang="zh-CN" altLang="en-US" b="1" dirty="0">
              <a:solidFill>
                <a:schemeClr val="bg2"/>
              </a:solidFill>
              <a:latin typeface="宋体" panose="02010600030101010101" pitchFamily="2" charset="-122"/>
              <a:sym typeface="+mn-ea"/>
            </a:endParaRPr>
          </a:p>
        </p:txBody>
      </p:sp>
      <p:pic>
        <p:nvPicPr>
          <p:cNvPr id="20" name="20 19"/>
          <p:cNvPicPr>
            <a:picLocks noChangeAspect="1"/>
          </p:cNvPicPr>
          <p:nvPr/>
        </p:nvPicPr>
        <p:blipFill>
          <a:blip r:embed="rId1"/>
          <a:srcRect t="8238" b="10574"/>
          <a:stretch>
            <a:fillRect/>
          </a:stretch>
        </p:blipFill>
        <p:spPr>
          <a:xfrm>
            <a:off x="1324610" y="2813685"/>
            <a:ext cx="6351270" cy="1301750"/>
          </a:xfrm>
          <a:prstGeom prst="rect">
            <a:avLst/>
          </a:prstGeom>
        </p:spPr>
      </p:pic>
      <p:sp>
        <p:nvSpPr>
          <p:cNvPr id="21" name="Arc 21"/>
          <p:cNvSpPr/>
          <p:nvPr/>
        </p:nvSpPr>
        <p:spPr>
          <a:xfrm rot="-2675259">
            <a:off x="5988050" y="3067050"/>
            <a:ext cx="788670" cy="774700"/>
          </a:xfrm>
          <a:custGeom>
            <a:avLst/>
            <a:gdLst/>
            <a:ahLst/>
            <a:cxnLst>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57150" cap="flat" cmpd="sng">
            <a:solidFill>
              <a:srgbClr val="00B050"/>
            </a:solidFill>
            <a:prstDash val="solid"/>
            <a:round/>
            <a:headEnd type="none" w="med" len="med"/>
            <a:tailEnd type="none" w="med" len="med"/>
          </a:ln>
        </p:spPr>
        <p:txBody>
          <a:bodyPr/>
          <a:lstStyle/>
          <a:p>
            <a:endParaRPr lang="zh-CN" altLang="en-US"/>
          </a:p>
        </p:txBody>
      </p:sp>
      <p:sp>
        <p:nvSpPr>
          <p:cNvPr id="22" name="Text Box 40"/>
          <p:cNvSpPr txBox="1"/>
          <p:nvPr/>
        </p:nvSpPr>
        <p:spPr>
          <a:xfrm>
            <a:off x="5508625" y="2881630"/>
            <a:ext cx="608330" cy="457200"/>
          </a:xfrm>
          <a:prstGeom prst="rect">
            <a:avLst/>
          </a:prstGeom>
          <a:noFill/>
          <a:ln w="9525">
            <a:noFill/>
          </a:ln>
        </p:spPr>
        <p:txBody>
          <a:bodyPr wrap="none" anchor="t">
            <a:spAutoFit/>
          </a:bodyPr>
          <a:lstStyle/>
          <a:p>
            <a:r>
              <a:rPr lang="en-US" altLang="zh-CN" sz="2400" dirty="0">
                <a:solidFill>
                  <a:schemeClr val="bg2"/>
                </a:solidFill>
                <a:latin typeface="Arial" panose="020B0604020202020204" pitchFamily="34" charset="0"/>
                <a:ea typeface="宋体" panose="02010600030101010101" pitchFamily="2" charset="-122"/>
              </a:rPr>
              <a:t>u,2</a:t>
            </a:r>
            <a:endParaRPr lang="en-US" altLang="zh-CN" sz="2400" dirty="0">
              <a:solidFill>
                <a:schemeClr val="bg2"/>
              </a:solidFill>
              <a:latin typeface="Arial" panose="020B0604020202020204" pitchFamily="34" charset="0"/>
              <a:ea typeface="宋体" panose="02010600030101010101" pitchFamily="2" charset="-122"/>
            </a:endParaRPr>
          </a:p>
        </p:txBody>
      </p:sp>
      <p:sp>
        <p:nvSpPr>
          <p:cNvPr id="23" name="Arc 21"/>
          <p:cNvSpPr/>
          <p:nvPr/>
        </p:nvSpPr>
        <p:spPr>
          <a:xfrm rot="-2675259">
            <a:off x="4679950" y="3050540"/>
            <a:ext cx="788670" cy="774700"/>
          </a:xfrm>
          <a:custGeom>
            <a:avLst/>
            <a:gdLst/>
            <a:ahLst/>
            <a:cxnLst>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57150" cap="flat" cmpd="sng">
            <a:solidFill>
              <a:srgbClr val="00B050"/>
            </a:solidFill>
            <a:prstDash val="solid"/>
            <a:round/>
            <a:headEnd type="none" w="med" len="med"/>
            <a:tailEnd type="none" w="med" len="med"/>
          </a:ln>
        </p:spPr>
        <p:txBody>
          <a:bodyPr/>
          <a:lstStyle/>
          <a:p>
            <a:endParaRPr lang="zh-CN" altLang="en-US"/>
          </a:p>
        </p:txBody>
      </p:sp>
      <p:sp>
        <p:nvSpPr>
          <p:cNvPr id="24" name="Text Box 39"/>
          <p:cNvSpPr txBox="1"/>
          <p:nvPr/>
        </p:nvSpPr>
        <p:spPr>
          <a:xfrm>
            <a:off x="4196080" y="2885440"/>
            <a:ext cx="608330" cy="457200"/>
          </a:xfrm>
          <a:prstGeom prst="rect">
            <a:avLst/>
          </a:prstGeom>
          <a:noFill/>
          <a:ln w="9525">
            <a:noFill/>
          </a:ln>
        </p:spPr>
        <p:txBody>
          <a:bodyPr wrap="none" anchor="t">
            <a:spAutoFit/>
          </a:bodyPr>
          <a:lstStyle/>
          <a:p>
            <a:r>
              <a:rPr lang="en-US" altLang="zh-CN" sz="2400" dirty="0">
                <a:solidFill>
                  <a:schemeClr val="bg2"/>
                </a:solidFill>
                <a:latin typeface="Arial" panose="020B0604020202020204" pitchFamily="34" charset="0"/>
                <a:ea typeface="宋体" panose="02010600030101010101" pitchFamily="2" charset="-122"/>
              </a:rPr>
              <a:t>u,4</a:t>
            </a:r>
            <a:endParaRPr lang="en-US" altLang="zh-CN" sz="2400" dirty="0">
              <a:solidFill>
                <a:schemeClr val="bg2"/>
              </a:solidFill>
              <a:latin typeface="Arial" panose="020B0604020202020204" pitchFamily="34" charset="0"/>
              <a:ea typeface="宋体" panose="02010600030101010101" pitchFamily="2" charset="-122"/>
            </a:endParaRPr>
          </a:p>
        </p:txBody>
      </p:sp>
      <p:sp>
        <p:nvSpPr>
          <p:cNvPr id="25" name="Arc 21"/>
          <p:cNvSpPr/>
          <p:nvPr/>
        </p:nvSpPr>
        <p:spPr>
          <a:xfrm rot="-2675259">
            <a:off x="3443605" y="3034030"/>
            <a:ext cx="788670" cy="774700"/>
          </a:xfrm>
          <a:custGeom>
            <a:avLst/>
            <a:gdLst/>
            <a:ahLst/>
            <a:cxnLst>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57150" cap="flat" cmpd="sng">
            <a:solidFill>
              <a:srgbClr val="00B050"/>
            </a:solidFill>
            <a:prstDash val="solid"/>
            <a:round/>
            <a:headEnd type="none" w="med" len="med"/>
            <a:tailEnd type="none" w="med" len="med"/>
          </a:ln>
        </p:spPr>
        <p:txBody>
          <a:bodyPr/>
          <a:lstStyle/>
          <a:p>
            <a:endParaRPr lang="zh-CN" altLang="en-US"/>
          </a:p>
        </p:txBody>
      </p:sp>
      <p:sp>
        <p:nvSpPr>
          <p:cNvPr id="26" name="Text Box 38"/>
          <p:cNvSpPr txBox="1"/>
          <p:nvPr/>
        </p:nvSpPr>
        <p:spPr>
          <a:xfrm>
            <a:off x="2860675" y="2905760"/>
            <a:ext cx="608330" cy="457200"/>
          </a:xfrm>
          <a:prstGeom prst="rect">
            <a:avLst/>
          </a:prstGeom>
          <a:noFill/>
          <a:ln w="9525">
            <a:noFill/>
          </a:ln>
        </p:spPr>
        <p:txBody>
          <a:bodyPr wrap="none" anchor="t">
            <a:spAutoFit/>
          </a:bodyPr>
          <a:lstStyle/>
          <a:p>
            <a:r>
              <a:rPr lang="en-US" altLang="zh-CN" sz="2400" dirty="0">
                <a:solidFill>
                  <a:schemeClr val="bg2"/>
                </a:solidFill>
                <a:latin typeface="Arial" panose="020B0604020202020204" pitchFamily="34" charset="0"/>
                <a:ea typeface="宋体" panose="02010600030101010101" pitchFamily="2" charset="-122"/>
              </a:rPr>
              <a:t>u,6</a:t>
            </a:r>
            <a:endParaRPr lang="en-US" altLang="zh-CN" sz="2400" dirty="0">
              <a:solidFill>
                <a:schemeClr val="bg2"/>
              </a:solidFill>
              <a:latin typeface="Arial" panose="020B0604020202020204" pitchFamily="34" charset="0"/>
              <a:ea typeface="宋体" panose="02010600030101010101" pitchFamily="2" charset="-122"/>
            </a:endParaRPr>
          </a:p>
        </p:txBody>
      </p:sp>
      <p:sp>
        <p:nvSpPr>
          <p:cNvPr id="27" name="Arc 7"/>
          <p:cNvSpPr/>
          <p:nvPr/>
        </p:nvSpPr>
        <p:spPr>
          <a:xfrm rot="8294460">
            <a:off x="2103755" y="3232150"/>
            <a:ext cx="871855" cy="713740"/>
          </a:xfrm>
          <a:custGeom>
            <a:avLst/>
            <a:gdLst/>
            <a:ahLst/>
            <a:cxnLst>
              <a:cxn ang="0">
                <a:pos x="0" y="0"/>
              </a:cxn>
              <a:cxn ang="0">
                <a:pos x="2147483646" y="2147483646"/>
              </a:cxn>
              <a:cxn ang="0">
                <a:pos x="0" y="2147483646"/>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57150" cap="flat" cmpd="sng">
            <a:solidFill>
              <a:srgbClr val="00B050"/>
            </a:solidFill>
            <a:prstDash val="solid"/>
            <a:round/>
            <a:headEnd type="none" w="med" len="med"/>
            <a:tailEnd type="none" w="med" len="med"/>
          </a:ln>
        </p:spPr>
        <p:txBody>
          <a:bodyPr/>
          <a:lstStyle/>
          <a:p>
            <a:endParaRPr lang="zh-CN" altLang="en-US"/>
          </a:p>
        </p:txBody>
      </p:sp>
      <p:sp>
        <p:nvSpPr>
          <p:cNvPr id="28" name="Text Box 41"/>
          <p:cNvSpPr txBox="1"/>
          <p:nvPr/>
        </p:nvSpPr>
        <p:spPr>
          <a:xfrm>
            <a:off x="1620520" y="2882900"/>
            <a:ext cx="608330" cy="457200"/>
          </a:xfrm>
          <a:prstGeom prst="rect">
            <a:avLst/>
          </a:prstGeom>
          <a:noFill/>
          <a:ln w="9525">
            <a:noFill/>
          </a:ln>
        </p:spPr>
        <p:txBody>
          <a:bodyPr wrap="none" anchor="t">
            <a:spAutoFit/>
          </a:bodyPr>
          <a:lstStyle/>
          <a:p>
            <a:r>
              <a:rPr lang="en-US" altLang="zh-CN" sz="2400" dirty="0">
                <a:solidFill>
                  <a:schemeClr val="bg2"/>
                </a:solidFill>
                <a:latin typeface="Arial" panose="020B0604020202020204" pitchFamily="34" charset="0"/>
                <a:ea typeface="宋体" panose="02010600030101010101" pitchFamily="2" charset="-122"/>
              </a:rPr>
              <a:t>d,1</a:t>
            </a:r>
            <a:endParaRPr lang="en-US" altLang="zh-CN" sz="2400" dirty="0">
              <a:solidFill>
                <a:schemeClr val="bg2"/>
              </a:solidFill>
              <a:latin typeface="Arial" panose="020B0604020202020204" pitchFamily="34" charset="0"/>
              <a:ea typeface="宋体" panose="02010600030101010101" pitchFamily="2" charset="-122"/>
            </a:endParaRPr>
          </a:p>
        </p:txBody>
      </p:sp>
      <p:sp>
        <p:nvSpPr>
          <p:cNvPr id="29" name="Arc 6"/>
          <p:cNvSpPr/>
          <p:nvPr/>
        </p:nvSpPr>
        <p:spPr>
          <a:xfrm rot="8182947">
            <a:off x="2058988" y="3149600"/>
            <a:ext cx="863600" cy="792162"/>
          </a:xfrm>
          <a:custGeom>
            <a:avLst/>
            <a:gdLst/>
            <a:ahLst/>
            <a:cxnLst>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30" name="Arc 6"/>
          <p:cNvSpPr/>
          <p:nvPr/>
        </p:nvSpPr>
        <p:spPr>
          <a:xfrm rot="8182947">
            <a:off x="3405823" y="3133090"/>
            <a:ext cx="863600" cy="792162"/>
          </a:xfrm>
          <a:custGeom>
            <a:avLst/>
            <a:gdLst/>
            <a:ahLst/>
            <a:cxnLst>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31" name="Arc 6"/>
          <p:cNvSpPr/>
          <p:nvPr/>
        </p:nvSpPr>
        <p:spPr>
          <a:xfrm rot="8182947">
            <a:off x="4625658" y="3133090"/>
            <a:ext cx="863600" cy="792162"/>
          </a:xfrm>
          <a:custGeom>
            <a:avLst/>
            <a:gdLst/>
            <a:ahLst/>
            <a:cxnLst>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32" name="Arc 6"/>
          <p:cNvSpPr/>
          <p:nvPr/>
        </p:nvSpPr>
        <p:spPr>
          <a:xfrm rot="8182947">
            <a:off x="5900738" y="3116580"/>
            <a:ext cx="863600" cy="792162"/>
          </a:xfrm>
          <a:custGeom>
            <a:avLst/>
            <a:gdLst/>
            <a:ahLst/>
            <a:cxnLst>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33" name="文本框 32"/>
          <p:cNvSpPr txBox="1"/>
          <p:nvPr/>
        </p:nvSpPr>
        <p:spPr>
          <a:xfrm>
            <a:off x="903605" y="4301490"/>
            <a:ext cx="5213350" cy="460375"/>
          </a:xfrm>
          <a:prstGeom prst="rect">
            <a:avLst/>
          </a:prstGeom>
          <a:noFill/>
        </p:spPr>
        <p:txBody>
          <a:bodyPr wrap="square" rtlCol="0" anchor="t">
            <a:spAutoFit/>
          </a:bodyPr>
          <a:lstStyle/>
          <a:p>
            <a:r>
              <a:rPr lang="zh-CN" altLang="en-US">
                <a:solidFill>
                  <a:schemeClr val="bg2"/>
                </a:solidFill>
              </a:rPr>
              <a:t>动态规划算法的解：下, 上, 上, 上</a:t>
            </a:r>
            <a:endParaRPr lang="zh-CN" altLang="en-US">
              <a:solidFill>
                <a:schemeClr val="bg2"/>
              </a:solidFill>
            </a:endParaRPr>
          </a:p>
        </p:txBody>
      </p:sp>
      <p:sp>
        <p:nvSpPr>
          <p:cNvPr id="34" name="文本框 33"/>
          <p:cNvSpPr txBox="1"/>
          <p:nvPr/>
        </p:nvSpPr>
        <p:spPr>
          <a:xfrm>
            <a:off x="903605" y="4905375"/>
            <a:ext cx="4454525" cy="460375"/>
          </a:xfrm>
          <a:prstGeom prst="rect">
            <a:avLst/>
          </a:prstGeom>
          <a:noFill/>
        </p:spPr>
        <p:txBody>
          <a:bodyPr wrap="square" rtlCol="0" anchor="t">
            <a:spAutoFit/>
          </a:bodyPr>
          <a:lstStyle/>
          <a:p>
            <a:r>
              <a:rPr lang="zh-CN" altLang="en-US">
                <a:solidFill>
                  <a:schemeClr val="bg2"/>
                </a:solidFill>
              </a:rPr>
              <a:t>最优解：下, 下, 下, 下</a:t>
            </a:r>
            <a:endParaRPr lang="zh-CN" altLang="en-US">
              <a:solidFill>
                <a:schemeClr val="bg2"/>
              </a:solidFill>
            </a:endParaRPr>
          </a:p>
        </p:txBody>
      </p:sp>
      <p:sp>
        <p:nvSpPr>
          <p:cNvPr id="35" name="文本框 34"/>
          <p:cNvSpPr txBox="1"/>
          <p:nvPr/>
        </p:nvSpPr>
        <p:spPr>
          <a:xfrm>
            <a:off x="838835" y="5437505"/>
            <a:ext cx="7432040" cy="829945"/>
          </a:xfrm>
          <a:prstGeom prst="rect">
            <a:avLst/>
          </a:prstGeom>
          <a:solidFill>
            <a:schemeClr val="tx1"/>
          </a:solidFill>
        </p:spPr>
        <p:txBody>
          <a:bodyPr wrap="square" rtlCol="0" anchor="t">
            <a:spAutoFit/>
          </a:bodyPr>
          <a:lstStyle/>
          <a:p>
            <a:r>
              <a:rPr lang="zh-CN" altLang="en-US">
                <a:solidFill>
                  <a:schemeClr val="bg2"/>
                </a:solidFill>
              </a:rPr>
              <a:t>该问题不满足优化原则，因为子问题的解不是问题最优解的组成部分，因此不能用动态规划。</a:t>
            </a:r>
            <a:endParaRPr lang="zh-CN" altLang="en-US">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left)">
                                      <p:cBhvr>
                                        <p:cTn id="11" dur="5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wipe(left)">
                                      <p:cBhvr>
                                        <p:cTn id="16" dur="500"/>
                                        <p:tgtEl>
                                          <p:spTgt spid="23"/>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wipe(left)">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wipe(left)">
                                      <p:cBhvr>
                                        <p:cTn id="25" dur="500"/>
                                        <p:tgtEl>
                                          <p:spTgt spid="25"/>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wipe(left)">
                                      <p:cBhvr>
                                        <p:cTn id="29" dur="5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wipe(left)">
                                      <p:cBhvr>
                                        <p:cTn id="34" dur="500"/>
                                        <p:tgtEl>
                                          <p:spTgt spid="27"/>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wipe(left)">
                                      <p:cBhvr>
                                        <p:cTn id="38" dur="500"/>
                                        <p:tgtEl>
                                          <p:spTgt spid="2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wipe(left)">
                                      <p:cBhvr>
                                        <p:cTn id="43" dur="500"/>
                                        <p:tgtEl>
                                          <p:spTgt spid="3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wipe(left)">
                                      <p:cBhvr>
                                        <p:cTn id="48" dur="500"/>
                                        <p:tgtEl>
                                          <p:spTgt spid="29"/>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wipe(left)">
                                      <p:cBhvr>
                                        <p:cTn id="52" dur="500"/>
                                        <p:tgtEl>
                                          <p:spTgt spid="30"/>
                                        </p:tgtEl>
                                      </p:cBhvr>
                                    </p:animEffect>
                                  </p:childTnLst>
                                </p:cTn>
                              </p:par>
                            </p:childTnLst>
                          </p:cTn>
                        </p:par>
                        <p:par>
                          <p:cTn id="53" fill="hold">
                            <p:stCondLst>
                              <p:cond delay="1000"/>
                            </p:stCondLst>
                            <p:childTnLst>
                              <p:par>
                                <p:cTn id="54" presetID="22" presetClass="entr" presetSubtype="8" fill="hold" grpId="0" nodeType="after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wipe(left)">
                                      <p:cBhvr>
                                        <p:cTn id="56" dur="500"/>
                                        <p:tgtEl>
                                          <p:spTgt spid="31"/>
                                        </p:tgtEl>
                                      </p:cBhvr>
                                    </p:animEffect>
                                  </p:childTnLst>
                                </p:cTn>
                              </p:par>
                            </p:childTnLst>
                          </p:cTn>
                        </p:par>
                        <p:par>
                          <p:cTn id="57" fill="hold">
                            <p:stCondLst>
                              <p:cond delay="1500"/>
                            </p:stCondLst>
                            <p:childTnLst>
                              <p:par>
                                <p:cTn id="58" presetID="22" presetClass="entr" presetSubtype="8" fill="hold" grpId="0" nodeType="after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wipe(left)">
                                      <p:cBhvr>
                                        <p:cTn id="60" dur="500"/>
                                        <p:tgtEl>
                                          <p:spTgt spid="3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wipe(left)">
                                      <p:cBhvr>
                                        <p:cTn id="65" dur="500"/>
                                        <p:tgtEl>
                                          <p:spTgt spid="34"/>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wipe(left)">
                                      <p:cBhvr>
                                        <p:cTn id="7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p:bldP spid="21" grpId="0" bldLvl="0" animBg="1"/>
      <p:bldP spid="21" grpId="1" animBg="1"/>
      <p:bldP spid="22" grpId="0"/>
      <p:bldP spid="22" grpId="1"/>
      <p:bldP spid="23" grpId="0" bldLvl="0" animBg="1"/>
      <p:bldP spid="23" grpId="1" animBg="1"/>
      <p:bldP spid="24" grpId="0"/>
      <p:bldP spid="24" grpId="1"/>
      <p:bldP spid="25" grpId="0" bldLvl="0" animBg="1"/>
      <p:bldP spid="25" grpId="1" animBg="1"/>
      <p:bldP spid="26" grpId="0"/>
      <p:bldP spid="26" grpId="1"/>
      <p:bldP spid="27" grpId="0" bldLvl="0" animBg="1"/>
      <p:bldP spid="27" grpId="1" animBg="1"/>
      <p:bldP spid="28" grpId="0"/>
      <p:bldP spid="28" grpId="1"/>
      <p:bldP spid="29" grpId="0" bldLvl="0" animBg="1"/>
      <p:bldP spid="29" grpId="1" animBg="1"/>
      <p:bldP spid="30" grpId="0" bldLvl="0" animBg="1"/>
      <p:bldP spid="30" grpId="1" animBg="1"/>
      <p:bldP spid="31" grpId="0" bldLvl="0" animBg="1"/>
      <p:bldP spid="31" grpId="1" animBg="1"/>
      <p:bldP spid="32" grpId="0" bldLvl="0" animBg="1"/>
      <p:bldP spid="32" grpId="1" animBg="1"/>
      <p:bldP spid="33" grpId="0"/>
      <p:bldP spid="33" grpId="1"/>
      <p:bldP spid="34" grpId="0"/>
      <p:bldP spid="34" grpId="1"/>
      <p:bldP spid="35" grpId="0" bldLvl="0" animBg="1"/>
      <p:bldP spid="35"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460" y="292100"/>
            <a:ext cx="8626475" cy="81323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355600" indent="-355600">
              <a:lnSpc>
                <a:spcPts val="3000"/>
              </a:lnSpc>
              <a:spcBef>
                <a:spcPts val="600"/>
              </a:spcBef>
              <a:buBlip>
                <a:blip r:embed="rId1"/>
              </a:buBlip>
            </a:pPr>
            <a:r>
              <a:rPr lang="zh-CN" altLang="en-US" sz="2200" dirty="0" smtClean="0">
                <a:solidFill>
                  <a:srgbClr val="FF0000"/>
                </a:solidFill>
                <a:latin typeface="+mj-ea"/>
                <a:ea typeface="+mj-ea"/>
                <a:cs typeface="Consolas" panose="020B0609020204030204" pitchFamily="49" charset="0"/>
              </a:rPr>
              <a:t>性质</a:t>
            </a:r>
            <a:r>
              <a:rPr lang="en-US" altLang="zh-CN" sz="2200" dirty="0" smtClean="0">
                <a:solidFill>
                  <a:srgbClr val="FF0000"/>
                </a:solidFill>
                <a:latin typeface="+mj-ea"/>
                <a:ea typeface="+mj-ea"/>
                <a:cs typeface="Consolas" panose="020B0609020204030204" pitchFamily="49" charset="0"/>
              </a:rPr>
              <a:t>2——</a:t>
            </a:r>
            <a:r>
              <a:rPr lang="zh-CN" altLang="zh-CN" sz="2200" dirty="0" smtClean="0">
                <a:solidFill>
                  <a:srgbClr val="FF0000"/>
                </a:solidFill>
                <a:latin typeface="+mj-ea"/>
                <a:ea typeface="+mj-ea"/>
                <a:cs typeface="Consolas" panose="020B0609020204030204" pitchFamily="49" charset="0"/>
              </a:rPr>
              <a:t>无后效性</a:t>
            </a:r>
            <a:r>
              <a:rPr lang="zh-CN" altLang="zh-CN" sz="2200" dirty="0" smtClean="0">
                <a:solidFill>
                  <a:srgbClr val="0000FF"/>
                </a:solidFill>
                <a:latin typeface="+mj-ea"/>
                <a:ea typeface="+mj-ea"/>
                <a:cs typeface="Consolas" panose="020B0609020204030204" pitchFamily="49" charset="0"/>
              </a:rPr>
              <a:t>：即某阶段中的某状态对应的最优解一旦确定</a:t>
            </a:r>
            <a:r>
              <a:rPr lang="zh-CN" altLang="en-US" sz="2200" dirty="0" smtClean="0">
                <a:solidFill>
                  <a:srgbClr val="0000FF"/>
                </a:solidFill>
                <a:latin typeface="+mj-ea"/>
                <a:ea typeface="+mj-ea"/>
                <a:cs typeface="Consolas" panose="020B0609020204030204" pitchFamily="49" charset="0"/>
              </a:rPr>
              <a:t>，该</a:t>
            </a:r>
            <a:r>
              <a:rPr lang="zh-CN" altLang="zh-CN" sz="2200" dirty="0" smtClean="0">
                <a:solidFill>
                  <a:srgbClr val="0000FF"/>
                </a:solidFill>
                <a:latin typeface="+mj-ea"/>
                <a:ea typeface="+mj-ea"/>
                <a:cs typeface="Consolas" panose="020B0609020204030204" pitchFamily="49" charset="0"/>
              </a:rPr>
              <a:t>状态以后的决策过程不会影响该状态</a:t>
            </a:r>
            <a:r>
              <a:rPr lang="zh-CN" altLang="en-US" sz="2200" dirty="0" smtClean="0">
                <a:solidFill>
                  <a:srgbClr val="0000FF"/>
                </a:solidFill>
                <a:latin typeface="+mj-ea"/>
                <a:ea typeface="+mj-ea"/>
                <a:cs typeface="Consolas" panose="020B0609020204030204" pitchFamily="49" charset="0"/>
              </a:rPr>
              <a:t>，</a:t>
            </a:r>
            <a:r>
              <a:rPr lang="zh-CN" altLang="zh-CN" sz="2200" dirty="0" smtClean="0">
                <a:solidFill>
                  <a:srgbClr val="0000FF"/>
                </a:solidFill>
                <a:latin typeface="+mj-ea"/>
                <a:ea typeface="+mj-ea"/>
                <a:cs typeface="Consolas" panose="020B0609020204030204" pitchFamily="49" charset="0"/>
              </a:rPr>
              <a:t>只与当前状态有关。</a:t>
            </a:r>
            <a:endParaRPr lang="zh-CN" altLang="zh-CN" sz="2200" dirty="0" smtClean="0">
              <a:solidFill>
                <a:srgbClr val="0000FF"/>
              </a:solidFill>
              <a:latin typeface="+mj-ea"/>
              <a:ea typeface="+mj-ea"/>
              <a:cs typeface="Consolas" panose="020B0609020204030204" pitchFamily="49" charset="0"/>
            </a:endParaRPr>
          </a:p>
        </p:txBody>
      </p:sp>
      <p:grpSp>
        <p:nvGrpSpPr>
          <p:cNvPr id="62" name="组合 61"/>
          <p:cNvGrpSpPr/>
          <p:nvPr/>
        </p:nvGrpSpPr>
        <p:grpSpPr>
          <a:xfrm>
            <a:off x="571472" y="1714488"/>
            <a:ext cx="4615609" cy="3008767"/>
            <a:chOff x="571472" y="2500306"/>
            <a:chExt cx="4615609" cy="3008767"/>
          </a:xfrm>
        </p:grpSpPr>
        <p:grpSp>
          <p:nvGrpSpPr>
            <p:cNvPr id="5" name="组合 4"/>
            <p:cNvGrpSpPr/>
            <p:nvPr/>
          </p:nvGrpSpPr>
          <p:grpSpPr>
            <a:xfrm>
              <a:off x="571472" y="2676673"/>
              <a:ext cx="4615609" cy="2412794"/>
              <a:chOff x="1000100" y="2786058"/>
              <a:chExt cx="6357982" cy="3088932"/>
            </a:xfrm>
          </p:grpSpPr>
          <p:sp>
            <p:nvSpPr>
              <p:cNvPr id="6" name="椭圆 5"/>
              <p:cNvSpPr/>
              <p:nvPr/>
            </p:nvSpPr>
            <p:spPr>
              <a:xfrm>
                <a:off x="1000100" y="4071942"/>
                <a:ext cx="428628"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A</a:t>
                </a:r>
                <a:endPar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7" name="椭圆 6"/>
              <p:cNvSpPr/>
              <p:nvPr/>
            </p:nvSpPr>
            <p:spPr>
              <a:xfrm>
                <a:off x="2428860" y="285749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 name="椭圆 7"/>
              <p:cNvSpPr/>
              <p:nvPr/>
            </p:nvSpPr>
            <p:spPr>
              <a:xfrm>
                <a:off x="2428860" y="407194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9" name="椭圆 8"/>
              <p:cNvSpPr/>
              <p:nvPr/>
            </p:nvSpPr>
            <p:spPr>
              <a:xfrm>
                <a:off x="2428860" y="528638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椭圆 9"/>
              <p:cNvSpPr/>
              <p:nvPr/>
            </p:nvSpPr>
            <p:spPr>
              <a:xfrm>
                <a:off x="4071934" y="285749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1" name="椭圆 10"/>
              <p:cNvSpPr/>
              <p:nvPr/>
            </p:nvSpPr>
            <p:spPr>
              <a:xfrm>
                <a:off x="4071934" y="407194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2" name="椭圆 11"/>
              <p:cNvSpPr/>
              <p:nvPr/>
            </p:nvSpPr>
            <p:spPr>
              <a:xfrm>
                <a:off x="4071934" y="528638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3" name="椭圆 12"/>
              <p:cNvSpPr/>
              <p:nvPr/>
            </p:nvSpPr>
            <p:spPr>
              <a:xfrm>
                <a:off x="5572132" y="350043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4" name="椭圆 13"/>
              <p:cNvSpPr/>
              <p:nvPr/>
            </p:nvSpPr>
            <p:spPr>
              <a:xfrm>
                <a:off x="5572132" y="4714884"/>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5" name="椭圆 14"/>
              <p:cNvSpPr/>
              <p:nvPr/>
            </p:nvSpPr>
            <p:spPr>
              <a:xfrm>
                <a:off x="6929454" y="4071942"/>
                <a:ext cx="428628" cy="50006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800" smtClean="0">
                    <a:solidFill>
                      <a:srgbClr val="0000FF"/>
                    </a:solidFill>
                    <a:latin typeface="Consolas" panose="020B0609020204030204" pitchFamily="49" charset="0"/>
                    <a:ea typeface="楷体" panose="02010609060101010101" pitchFamily="49" charset="-122"/>
                    <a:cs typeface="Consolas" panose="020B0609020204030204" pitchFamily="49" charset="0"/>
                  </a:rPr>
                  <a:t>E</a:t>
                </a:r>
                <a:endParaRPr lang="zh-CN" altLang="en-US" sz="18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6" name="直接箭头连接符 15"/>
              <p:cNvCxnSpPr>
                <a:stCxn id="6" idx="7"/>
                <a:endCxn id="7" idx="2"/>
              </p:cNvCxnSpPr>
              <p:nvPr/>
            </p:nvCxnSpPr>
            <p:spPr>
              <a:xfrm rot="5400000" flipH="1" flipV="1">
                <a:off x="1378585" y="3094901"/>
                <a:ext cx="1037646" cy="106290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7" name="TextBox 16"/>
              <p:cNvSpPr txBox="1"/>
              <p:nvPr/>
            </p:nvSpPr>
            <p:spPr>
              <a:xfrm>
                <a:off x="1698561" y="3383492"/>
                <a:ext cx="214315" cy="294097"/>
              </a:xfrm>
              <a:prstGeom prst="rect">
                <a:avLst/>
              </a:prstGeom>
              <a:noFill/>
            </p:spPr>
            <p:txBody>
              <a:bodyPr wrap="square" lIns="0" tIns="0" rIns="0" bIns="0" rtlCol="0">
                <a:spAutoFit/>
              </a:bodyPr>
              <a:lstStyle/>
              <a:p>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8" name="直接箭头连接符 17"/>
              <p:cNvCxnSpPr>
                <a:stCxn id="6" idx="6"/>
                <a:endCxn id="8" idx="2"/>
              </p:cNvCxnSpPr>
              <p:nvPr/>
            </p:nvCxnSpPr>
            <p:spPr>
              <a:xfrm>
                <a:off x="1428728" y="4321975"/>
                <a:ext cx="1000132"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6" idx="5"/>
                <a:endCxn id="9" idx="2"/>
              </p:cNvCxnSpPr>
              <p:nvPr/>
            </p:nvCxnSpPr>
            <p:spPr>
              <a:xfrm rot="16200000" flipH="1">
                <a:off x="1378585" y="4486146"/>
                <a:ext cx="1037646" cy="106290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7" idx="6"/>
                <a:endCxn id="10"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7" idx="5"/>
                <a:endCxn id="11"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8" idx="6"/>
                <a:endCxn id="11"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8" idx="7"/>
                <a:endCxn id="10"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stCxn id="8" idx="5"/>
                <a:endCxn id="12"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endCxn id="11"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9" idx="6"/>
                <a:endCxn id="12"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10" idx="6"/>
                <a:endCxn id="13"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10" idx="5"/>
                <a:endCxn id="14"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11" idx="7"/>
                <a:endCxn id="13"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1" idx="5"/>
                <a:endCxn id="14"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2" idx="6"/>
                <a:endCxn id="14"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2" name="直接箭头连接符 31"/>
              <p:cNvCxnSpPr>
                <a:stCxn id="12" idx="7"/>
                <a:endCxn id="13"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13" idx="6"/>
                <a:endCxn id="15" idx="1"/>
              </p:cNvCxnSpPr>
              <p:nvPr/>
            </p:nvCxnSpPr>
            <p:spPr>
              <a:xfrm>
                <a:off x="6000760" y="3750471"/>
                <a:ext cx="991465" cy="39470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4" name="直接箭头连接符 33"/>
              <p:cNvCxnSpPr>
                <a:stCxn id="14" idx="6"/>
                <a:endCxn id="15" idx="3"/>
              </p:cNvCxnSpPr>
              <p:nvPr/>
            </p:nvCxnSpPr>
            <p:spPr>
              <a:xfrm flipV="1">
                <a:off x="6000760" y="4498775"/>
                <a:ext cx="991465" cy="46614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5" name="TextBox 34"/>
              <p:cNvSpPr txBox="1"/>
              <p:nvPr/>
            </p:nvSpPr>
            <p:spPr>
              <a:xfrm>
                <a:off x="1866880" y="4000504"/>
                <a:ext cx="214315" cy="294097"/>
              </a:xfrm>
              <a:prstGeom prst="rect">
                <a:avLst/>
              </a:prstGeom>
              <a:noFill/>
            </p:spPr>
            <p:txBody>
              <a:bodyPr wrap="square" lIns="0" tIns="0" rIns="0" bIns="0" rtlCol="0">
                <a:spAutoFit/>
              </a:bodyPr>
              <a:lstStyle/>
              <a:p>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6" name="TextBox 35"/>
              <p:cNvSpPr txBox="1"/>
              <p:nvPr/>
            </p:nvSpPr>
            <p:spPr>
              <a:xfrm>
                <a:off x="1928794" y="4786322"/>
                <a:ext cx="214315" cy="294097"/>
              </a:xfrm>
              <a:prstGeom prst="rect">
                <a:avLst/>
              </a:prstGeom>
              <a:noFill/>
            </p:spPr>
            <p:txBody>
              <a:bodyPr wrap="square" lIns="0" tIns="0" rIns="0" bIns="0" rtlCol="0">
                <a:spAutoFit/>
              </a:bodyPr>
              <a:lstStyle/>
              <a:p>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7" name="TextBox 36"/>
              <p:cNvSpPr txBox="1"/>
              <p:nvPr/>
            </p:nvSpPr>
            <p:spPr>
              <a:xfrm>
                <a:off x="2928926" y="2786058"/>
                <a:ext cx="214315" cy="294097"/>
              </a:xfrm>
              <a:prstGeom prst="rect">
                <a:avLst/>
              </a:prstGeom>
              <a:noFill/>
            </p:spPr>
            <p:txBody>
              <a:bodyPr wrap="square" lIns="0" tIns="0" rIns="0" bIns="0" rtlCol="0">
                <a:spAutoFit/>
              </a:bodyPr>
              <a:lstStyle/>
              <a:p>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7</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8" name="TextBox 37"/>
              <p:cNvSpPr txBox="1"/>
              <p:nvPr/>
            </p:nvSpPr>
            <p:spPr>
              <a:xfrm>
                <a:off x="2954326" y="3139301"/>
                <a:ext cx="214315" cy="294097"/>
              </a:xfrm>
              <a:prstGeom prst="rect">
                <a:avLst/>
              </a:prstGeom>
              <a:noFill/>
            </p:spPr>
            <p:txBody>
              <a:bodyPr wrap="square" lIns="0" tIns="0" rIns="0" bIns="0" rtlCol="0">
                <a:spAutoFit/>
              </a:bodyPr>
              <a:lstStyle/>
              <a:p>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9" name="TextBox 38"/>
              <p:cNvSpPr txBox="1"/>
              <p:nvPr/>
            </p:nvSpPr>
            <p:spPr>
              <a:xfrm>
                <a:off x="2908288" y="3740152"/>
                <a:ext cx="214315" cy="294097"/>
              </a:xfrm>
              <a:prstGeom prst="rect">
                <a:avLst/>
              </a:prstGeom>
              <a:noFill/>
            </p:spPr>
            <p:txBody>
              <a:bodyPr wrap="square" lIns="0" tIns="0" rIns="0" bIns="0" rtlCol="0">
                <a:spAutoFit/>
              </a:bodyPr>
              <a:lstStyle/>
              <a:p>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0" name="TextBox 39"/>
              <p:cNvSpPr txBox="1"/>
              <p:nvPr/>
            </p:nvSpPr>
            <p:spPr>
              <a:xfrm>
                <a:off x="3000364" y="4038604"/>
                <a:ext cx="214315" cy="294097"/>
              </a:xfrm>
              <a:prstGeom prst="rect">
                <a:avLst/>
              </a:prstGeom>
              <a:noFill/>
            </p:spPr>
            <p:txBody>
              <a:bodyPr wrap="square" lIns="0" tIns="0" rIns="0" bIns="0" rtlCol="0">
                <a:spAutoFit/>
              </a:bodyPr>
              <a:lstStyle/>
              <a:p>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1" name="TextBox 40"/>
              <p:cNvSpPr txBox="1"/>
              <p:nvPr/>
            </p:nvSpPr>
            <p:spPr>
              <a:xfrm>
                <a:off x="2781109" y="4881220"/>
                <a:ext cx="214315" cy="294097"/>
              </a:xfrm>
              <a:prstGeom prst="rect">
                <a:avLst/>
              </a:prstGeom>
              <a:noFill/>
            </p:spPr>
            <p:txBody>
              <a:bodyPr wrap="square" lIns="0" tIns="0" rIns="0" bIns="0" rtlCol="0">
                <a:spAutoFit/>
              </a:bodyPr>
              <a:lstStyle/>
              <a:p>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2" name="TextBox 41"/>
              <p:cNvSpPr txBox="1"/>
              <p:nvPr/>
            </p:nvSpPr>
            <p:spPr>
              <a:xfrm>
                <a:off x="2997189" y="5580893"/>
                <a:ext cx="214315" cy="294097"/>
              </a:xfrm>
              <a:prstGeom prst="rect">
                <a:avLst/>
              </a:prstGeom>
              <a:noFill/>
            </p:spPr>
            <p:txBody>
              <a:bodyPr wrap="square" lIns="0" tIns="0" rIns="0" bIns="0" rtlCol="0">
                <a:spAutoFit/>
              </a:bodyPr>
              <a:lstStyle/>
              <a:p>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3" name="TextBox 42"/>
              <p:cNvSpPr txBox="1"/>
              <p:nvPr/>
            </p:nvSpPr>
            <p:spPr>
              <a:xfrm>
                <a:off x="4786314" y="2928934"/>
                <a:ext cx="214315" cy="294097"/>
              </a:xfrm>
              <a:prstGeom prst="rect">
                <a:avLst/>
              </a:prstGeom>
              <a:noFill/>
            </p:spPr>
            <p:txBody>
              <a:bodyPr wrap="square" lIns="0" tIns="0" rIns="0" bIns="0" rtlCol="0">
                <a:spAutoFit/>
              </a:bodyPr>
              <a:lstStyle/>
              <a:p>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4" name="TextBox 43"/>
              <p:cNvSpPr txBox="1"/>
              <p:nvPr/>
            </p:nvSpPr>
            <p:spPr>
              <a:xfrm>
                <a:off x="4714876" y="3332977"/>
                <a:ext cx="214315" cy="294097"/>
              </a:xfrm>
              <a:prstGeom prst="rect">
                <a:avLst/>
              </a:prstGeom>
              <a:noFill/>
            </p:spPr>
            <p:txBody>
              <a:bodyPr wrap="square" lIns="0" tIns="0" rIns="0" bIns="0" rtlCol="0">
                <a:spAutoFit/>
              </a:bodyPr>
              <a:lstStyle/>
              <a:p>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5" name="TextBox 44"/>
              <p:cNvSpPr txBox="1"/>
              <p:nvPr/>
            </p:nvSpPr>
            <p:spPr>
              <a:xfrm>
                <a:off x="4500562" y="3794943"/>
                <a:ext cx="214315" cy="294097"/>
              </a:xfrm>
              <a:prstGeom prst="rect">
                <a:avLst/>
              </a:prstGeom>
              <a:noFill/>
            </p:spPr>
            <p:txBody>
              <a:bodyPr wrap="square" lIns="0" tIns="0" rIns="0" bIns="0" rtlCol="0">
                <a:spAutoFit/>
              </a:bodyPr>
              <a:lstStyle/>
              <a:p>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6" name="TextBox 45"/>
              <p:cNvSpPr txBox="1"/>
              <p:nvPr/>
            </p:nvSpPr>
            <p:spPr>
              <a:xfrm>
                <a:off x="4572000" y="4286256"/>
                <a:ext cx="214315" cy="294097"/>
              </a:xfrm>
              <a:prstGeom prst="rect">
                <a:avLst/>
              </a:prstGeom>
              <a:noFill/>
            </p:spPr>
            <p:txBody>
              <a:bodyPr wrap="square" lIns="0" tIns="0" rIns="0" bIns="0" rtlCol="0">
                <a:spAutoFit/>
              </a:bodyPr>
              <a:lstStyle/>
              <a:p>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7" name="TextBox 46"/>
              <p:cNvSpPr txBox="1"/>
              <p:nvPr/>
            </p:nvSpPr>
            <p:spPr>
              <a:xfrm>
                <a:off x="4441824" y="4866513"/>
                <a:ext cx="214315" cy="294097"/>
              </a:xfrm>
              <a:prstGeom prst="rect">
                <a:avLst/>
              </a:prstGeom>
              <a:noFill/>
            </p:spPr>
            <p:txBody>
              <a:bodyPr wrap="square" lIns="0" tIns="0" rIns="0" bIns="0" rtlCol="0">
                <a:spAutoFit/>
              </a:bodyPr>
              <a:lstStyle/>
              <a:p>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8" name="TextBox 47"/>
              <p:cNvSpPr txBox="1"/>
              <p:nvPr/>
            </p:nvSpPr>
            <p:spPr>
              <a:xfrm>
                <a:off x="4760914" y="5454665"/>
                <a:ext cx="214315" cy="294097"/>
              </a:xfrm>
              <a:prstGeom prst="rect">
                <a:avLst/>
              </a:prstGeom>
              <a:noFill/>
            </p:spPr>
            <p:txBody>
              <a:bodyPr wrap="square" lIns="0" tIns="0" rIns="0" bIns="0" rtlCol="0">
                <a:spAutoFit/>
              </a:bodyPr>
              <a:lstStyle/>
              <a:p>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9" name="TextBox 48"/>
              <p:cNvSpPr txBox="1"/>
              <p:nvPr/>
            </p:nvSpPr>
            <p:spPr>
              <a:xfrm>
                <a:off x="6143636" y="4559308"/>
                <a:ext cx="214315" cy="294097"/>
              </a:xfrm>
              <a:prstGeom prst="rect">
                <a:avLst/>
              </a:prstGeom>
              <a:noFill/>
            </p:spPr>
            <p:txBody>
              <a:bodyPr wrap="square" lIns="0" tIns="0" rIns="0" bIns="0" rtlCol="0">
                <a:spAutoFit/>
              </a:bodyPr>
              <a:lstStyle/>
              <a:p>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0" name="TextBox 49"/>
              <p:cNvSpPr txBox="1"/>
              <p:nvPr/>
            </p:nvSpPr>
            <p:spPr>
              <a:xfrm>
                <a:off x="6215074" y="3500439"/>
                <a:ext cx="214315" cy="294097"/>
              </a:xfrm>
              <a:prstGeom prst="rect">
                <a:avLst/>
              </a:prstGeom>
              <a:noFill/>
            </p:spPr>
            <p:txBody>
              <a:bodyPr wrap="square" lIns="0" tIns="0" rIns="0" bIns="0" rtlCol="0">
                <a:spAutoFit/>
              </a:bodyPr>
              <a:lstStyle/>
              <a:p>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1" name="TextBox 50"/>
              <p:cNvSpPr txBox="1"/>
              <p:nvPr/>
            </p:nvSpPr>
            <p:spPr>
              <a:xfrm>
                <a:off x="3000364" y="4357694"/>
                <a:ext cx="214315" cy="294097"/>
              </a:xfrm>
              <a:prstGeom prst="rect">
                <a:avLst/>
              </a:prstGeom>
              <a:noFill/>
            </p:spPr>
            <p:txBody>
              <a:bodyPr wrap="square" lIns="0" tIns="0" rIns="0" bIns="0" rtlCol="0">
                <a:spAutoFit/>
              </a:bodyPr>
              <a:lstStyle/>
              <a:p>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52" name="直接箭头连接符 51"/>
              <p:cNvCxnSpPr>
                <a:stCxn id="9" idx="7"/>
                <a:endCxn id="10"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3" name="TextBox 52"/>
              <p:cNvSpPr txBox="1"/>
              <p:nvPr/>
            </p:nvSpPr>
            <p:spPr>
              <a:xfrm>
                <a:off x="3149588" y="5214950"/>
                <a:ext cx="214315" cy="294097"/>
              </a:xfrm>
              <a:prstGeom prst="rect">
                <a:avLst/>
              </a:prstGeom>
              <a:noFill/>
            </p:spPr>
            <p:txBody>
              <a:bodyPr wrap="square" lIns="0" tIns="0" rIns="0" bIns="0" rtlCol="0">
                <a:spAutoFit/>
              </a:bodyPr>
              <a:lstStyle/>
              <a:p>
                <a:r>
                  <a:rPr lang="en-US" altLang="zh-CN" sz="16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grpSp>
          <p:nvGrpSpPr>
            <p:cNvPr id="54" name="组合 53"/>
            <p:cNvGrpSpPr/>
            <p:nvPr/>
          </p:nvGrpSpPr>
          <p:grpSpPr>
            <a:xfrm>
              <a:off x="1440871" y="2516683"/>
              <a:ext cx="845112" cy="2984019"/>
              <a:chOff x="598162" y="2428869"/>
              <a:chExt cx="928694" cy="3864653"/>
            </a:xfrm>
          </p:grpSpPr>
          <p:sp>
            <p:nvSpPr>
              <p:cNvPr id="55" name="圆角矩形 54"/>
              <p:cNvSpPr/>
              <p:nvPr/>
            </p:nvSpPr>
            <p:spPr>
              <a:xfrm>
                <a:off x="598162" y="2428869"/>
                <a:ext cx="928694" cy="3418378"/>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56" name="TextBox 55"/>
              <p:cNvSpPr txBox="1"/>
              <p:nvPr/>
            </p:nvSpPr>
            <p:spPr>
              <a:xfrm>
                <a:off x="805411" y="5847245"/>
                <a:ext cx="642943" cy="446277"/>
              </a:xfrm>
              <a:prstGeom prst="rect">
                <a:avLst/>
              </a:prstGeom>
              <a:noFill/>
            </p:spPr>
            <p:txBody>
              <a:bodyPr wrap="square" rtlCol="0">
                <a:spAutoFit/>
              </a:bodyPr>
              <a:lstStyle/>
              <a:p>
                <a:r>
                  <a:rPr lang="en-US" altLang="zh-CN" sz="1800" i="1" smtClean="0">
                    <a:solidFill>
                      <a:srgbClr val="0000FF"/>
                    </a:solidFill>
                    <a:latin typeface="Consolas" panose="020B0609020204030204" pitchFamily="49" charset="0"/>
                    <a:cs typeface="Consolas" panose="020B0609020204030204" pitchFamily="49" charset="0"/>
                  </a:rPr>
                  <a:t>k</a:t>
                </a:r>
                <a:r>
                  <a:rPr lang="en-US" altLang="zh-CN" sz="1800" smtClean="0">
                    <a:solidFill>
                      <a:srgbClr val="0000FF"/>
                    </a:solidFill>
                    <a:latin typeface="Consolas" panose="020B0609020204030204" pitchFamily="49" charset="0"/>
                    <a:cs typeface="Consolas" panose="020B0609020204030204" pitchFamily="49" charset="0"/>
                  </a:rPr>
                  <a:t>=2</a:t>
                </a:r>
                <a:endParaRPr lang="zh-CN" altLang="en-US" sz="1800">
                  <a:solidFill>
                    <a:srgbClr val="0000FF"/>
                  </a:solidFill>
                  <a:latin typeface="Consolas" panose="020B0609020204030204" pitchFamily="49" charset="0"/>
                  <a:cs typeface="Consolas" panose="020B0609020204030204" pitchFamily="49" charset="0"/>
                </a:endParaRPr>
              </a:p>
            </p:txBody>
          </p:sp>
        </p:grpSp>
        <p:sp>
          <p:nvSpPr>
            <p:cNvPr id="59" name="圆角矩形 58"/>
            <p:cNvSpPr/>
            <p:nvPr/>
          </p:nvSpPr>
          <p:spPr>
            <a:xfrm>
              <a:off x="2643174" y="2500306"/>
              <a:ext cx="845112" cy="2639436"/>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60" name="TextBox 59"/>
            <p:cNvSpPr txBox="1"/>
            <p:nvPr/>
          </p:nvSpPr>
          <p:spPr>
            <a:xfrm>
              <a:off x="2831770" y="5139741"/>
              <a:ext cx="585078" cy="369332"/>
            </a:xfrm>
            <a:prstGeom prst="rect">
              <a:avLst/>
            </a:prstGeom>
            <a:noFill/>
          </p:spPr>
          <p:txBody>
            <a:bodyPr wrap="square" rtlCol="0">
              <a:spAutoFit/>
            </a:bodyPr>
            <a:lstStyle/>
            <a:p>
              <a:r>
                <a:rPr lang="en-US" altLang="zh-CN" sz="1800" i="1" smtClean="0">
                  <a:solidFill>
                    <a:srgbClr val="0000FF"/>
                  </a:solidFill>
                  <a:latin typeface="Consolas" panose="020B0609020204030204" pitchFamily="49" charset="0"/>
                  <a:cs typeface="Consolas" panose="020B0609020204030204" pitchFamily="49" charset="0"/>
                </a:rPr>
                <a:t>k</a:t>
              </a:r>
              <a:r>
                <a:rPr lang="en-US" altLang="zh-CN" sz="1800" smtClean="0">
                  <a:solidFill>
                    <a:srgbClr val="0000FF"/>
                  </a:solidFill>
                  <a:latin typeface="Consolas" panose="020B0609020204030204" pitchFamily="49" charset="0"/>
                  <a:cs typeface="Consolas" panose="020B0609020204030204" pitchFamily="49" charset="0"/>
                </a:rPr>
                <a:t>=3</a:t>
              </a:r>
              <a:endParaRPr lang="zh-CN" altLang="en-US" sz="1800">
                <a:solidFill>
                  <a:srgbClr val="0000FF"/>
                </a:solidFill>
                <a:latin typeface="Consolas" panose="020B0609020204030204" pitchFamily="49" charset="0"/>
                <a:cs typeface="Consolas" panose="020B0609020204030204" pitchFamily="49" charset="0"/>
              </a:endParaRPr>
            </a:p>
          </p:txBody>
        </p:sp>
      </p:grpSp>
      <p:sp>
        <p:nvSpPr>
          <p:cNvPr id="63" name="上弧形箭头 62"/>
          <p:cNvSpPr/>
          <p:nvPr/>
        </p:nvSpPr>
        <p:spPr>
          <a:xfrm rot="1839705">
            <a:off x="5229934" y="3407975"/>
            <a:ext cx="1214446" cy="500066"/>
          </a:xfrm>
          <a:prstGeom prst="curvedDown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zh-CN" altLang="en-US">
              <a:solidFill>
                <a:schemeClr val="tx1"/>
              </a:solidFill>
            </a:endParaRPr>
          </a:p>
        </p:txBody>
      </p:sp>
      <p:sp>
        <p:nvSpPr>
          <p:cNvPr id="2" name="TextBox 3"/>
          <p:cNvSpPr txBox="1"/>
          <p:nvPr/>
        </p:nvSpPr>
        <p:spPr>
          <a:xfrm>
            <a:off x="3722370" y="4217670"/>
            <a:ext cx="5155565" cy="163004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457200" indent="-457200">
              <a:lnSpc>
                <a:spcPts val="3000"/>
              </a:lnSpc>
              <a:spcBef>
                <a:spcPts val="600"/>
              </a:spcBef>
              <a:buBlip>
                <a:blip r:embed="rId1"/>
              </a:buBlip>
            </a:pPr>
            <a:r>
              <a:rPr lang="zh-CN" altLang="zh-CN" sz="2200" dirty="0" smtClean="0">
                <a:solidFill>
                  <a:srgbClr val="0000FF"/>
                </a:solidFill>
                <a:latin typeface="+mn-ea"/>
                <a:cs typeface="Consolas" panose="020B0609020204030204" pitchFamily="49" charset="0"/>
              </a:rPr>
              <a:t>例如，在对状态</a:t>
            </a:r>
            <a:r>
              <a:rPr lang="en-US" altLang="zh-CN" sz="2200" b="1" i="1" dirty="0" smtClean="0">
                <a:solidFill>
                  <a:srgbClr val="0000FF"/>
                </a:solidFill>
                <a:latin typeface="Times New Roman" panose="02020603050405020304" pitchFamily="18" charset="0"/>
                <a:cs typeface="Times New Roman" panose="02020603050405020304" pitchFamily="18" charset="0"/>
              </a:rPr>
              <a:t>C</a:t>
            </a:r>
            <a:r>
              <a:rPr lang="en-US" altLang="zh-CN" sz="2200" baseline="-25000" dirty="0" smtClean="0">
                <a:solidFill>
                  <a:srgbClr val="0000FF"/>
                </a:solidFill>
                <a:latin typeface="+mn-ea"/>
                <a:cs typeface="Consolas" panose="020B0609020204030204" pitchFamily="49" charset="0"/>
              </a:rPr>
              <a:t>2</a:t>
            </a:r>
            <a:r>
              <a:rPr lang="zh-CN" altLang="en-US" sz="2200" dirty="0" smtClean="0">
                <a:solidFill>
                  <a:srgbClr val="0000FF"/>
                </a:solidFill>
                <a:latin typeface="+mn-ea"/>
                <a:cs typeface="Consolas" panose="020B0609020204030204" pitchFamily="49" charset="0"/>
              </a:rPr>
              <a:t>的最优解进行计算时，状态</a:t>
            </a:r>
            <a:r>
              <a:rPr lang="en-US" altLang="zh-CN" sz="2200" b="1" i="1" dirty="0">
                <a:solidFill>
                  <a:srgbClr val="0000FF"/>
                </a:solidFill>
                <a:latin typeface="Times New Roman" panose="02020603050405020304" pitchFamily="18" charset="0"/>
                <a:cs typeface="Times New Roman" panose="02020603050405020304" pitchFamily="18" charset="0"/>
              </a:rPr>
              <a:t>A</a:t>
            </a:r>
            <a:r>
              <a:rPr lang="en-US" altLang="zh-CN" sz="2200" dirty="0" smtClean="0">
                <a:solidFill>
                  <a:srgbClr val="0000FF"/>
                </a:solidFill>
                <a:latin typeface="+mn-ea"/>
                <a:cs typeface="Consolas" panose="020B0609020204030204" pitchFamily="49" charset="0"/>
              </a:rPr>
              <a:t>,</a:t>
            </a:r>
            <a:r>
              <a:rPr lang="en-US" altLang="zh-CN" sz="2200" b="1" i="1" dirty="0">
                <a:solidFill>
                  <a:srgbClr val="0000FF"/>
                </a:solidFill>
                <a:latin typeface="Times New Roman" panose="02020603050405020304" pitchFamily="18" charset="0"/>
                <a:cs typeface="Times New Roman" panose="02020603050405020304" pitchFamily="18" charset="0"/>
              </a:rPr>
              <a:t>B</a:t>
            </a:r>
            <a:r>
              <a:rPr lang="en-US" altLang="zh-CN" sz="2200" baseline="-25000" dirty="0" smtClean="0">
                <a:solidFill>
                  <a:srgbClr val="0000FF"/>
                </a:solidFill>
                <a:latin typeface="+mn-ea"/>
                <a:cs typeface="Consolas" panose="020B0609020204030204" pitchFamily="49" charset="0"/>
              </a:rPr>
              <a:t>1</a:t>
            </a:r>
            <a:r>
              <a:rPr lang="en-US" altLang="zh-CN" sz="2200" dirty="0" smtClean="0">
                <a:solidFill>
                  <a:srgbClr val="0000FF"/>
                </a:solidFill>
                <a:latin typeface="+mn-ea"/>
                <a:cs typeface="Consolas" panose="020B0609020204030204" pitchFamily="49" charset="0"/>
              </a:rPr>
              <a:t>,</a:t>
            </a:r>
            <a:r>
              <a:rPr lang="en-US" altLang="zh-CN" sz="2200" b="1" i="1" dirty="0">
                <a:solidFill>
                  <a:srgbClr val="0000FF"/>
                </a:solidFill>
                <a:latin typeface="Times New Roman" panose="02020603050405020304" pitchFamily="18" charset="0"/>
                <a:cs typeface="Times New Roman" panose="02020603050405020304" pitchFamily="18" charset="0"/>
              </a:rPr>
              <a:t>B</a:t>
            </a:r>
            <a:r>
              <a:rPr lang="en-US" altLang="zh-CN" sz="2200" baseline="-25000" dirty="0" smtClean="0">
                <a:solidFill>
                  <a:srgbClr val="0000FF"/>
                </a:solidFill>
                <a:latin typeface="+mn-ea"/>
                <a:cs typeface="Consolas" panose="020B0609020204030204" pitchFamily="49" charset="0"/>
              </a:rPr>
              <a:t>2</a:t>
            </a:r>
            <a:r>
              <a:rPr lang="en-US" altLang="zh-CN" sz="2200" dirty="0" smtClean="0">
                <a:solidFill>
                  <a:srgbClr val="0000FF"/>
                </a:solidFill>
                <a:latin typeface="+mn-ea"/>
                <a:cs typeface="Consolas" panose="020B0609020204030204" pitchFamily="49" charset="0"/>
              </a:rPr>
              <a:t>,</a:t>
            </a:r>
            <a:r>
              <a:rPr lang="en-US" altLang="zh-CN" sz="2200" b="1" i="1" dirty="0">
                <a:solidFill>
                  <a:srgbClr val="0000FF"/>
                </a:solidFill>
                <a:latin typeface="Times New Roman" panose="02020603050405020304" pitchFamily="18" charset="0"/>
                <a:cs typeface="Times New Roman" panose="02020603050405020304" pitchFamily="18" charset="0"/>
              </a:rPr>
              <a:t>B</a:t>
            </a:r>
            <a:r>
              <a:rPr lang="en-US" altLang="zh-CN" sz="2200" baseline="-25000" dirty="0" smtClean="0">
                <a:solidFill>
                  <a:srgbClr val="0000FF"/>
                </a:solidFill>
                <a:latin typeface="+mn-ea"/>
                <a:cs typeface="Consolas" panose="020B0609020204030204" pitchFamily="49" charset="0"/>
              </a:rPr>
              <a:t>3</a:t>
            </a:r>
            <a:r>
              <a:rPr lang="zh-CN" altLang="en-US" sz="2200" dirty="0" smtClean="0">
                <a:solidFill>
                  <a:srgbClr val="0000FF"/>
                </a:solidFill>
                <a:latin typeface="+mn-ea"/>
                <a:cs typeface="Consolas" panose="020B0609020204030204" pitchFamily="49" charset="0"/>
              </a:rPr>
              <a:t>的最优解已经确定了。因此，在对</a:t>
            </a:r>
            <a:r>
              <a:rPr lang="en-US" altLang="zh-CN" sz="2200" b="1" i="1" dirty="0">
                <a:solidFill>
                  <a:srgbClr val="0000FF"/>
                </a:solidFill>
                <a:latin typeface="Times New Roman" panose="02020603050405020304" pitchFamily="18" charset="0"/>
                <a:cs typeface="Times New Roman" panose="02020603050405020304" pitchFamily="18" charset="0"/>
              </a:rPr>
              <a:t>C</a:t>
            </a:r>
            <a:r>
              <a:rPr lang="en-US" altLang="zh-CN" sz="2200" baseline="-25000" dirty="0" smtClean="0">
                <a:solidFill>
                  <a:srgbClr val="0000FF"/>
                </a:solidFill>
                <a:latin typeface="+mn-ea"/>
                <a:cs typeface="Consolas" panose="020B0609020204030204" pitchFamily="49" charset="0"/>
              </a:rPr>
              <a:t>2</a:t>
            </a:r>
            <a:r>
              <a:rPr lang="zh-CN" altLang="en-US" sz="2200" dirty="0" smtClean="0">
                <a:solidFill>
                  <a:srgbClr val="0000FF"/>
                </a:solidFill>
                <a:latin typeface="+mn-ea"/>
                <a:cs typeface="Consolas" panose="020B0609020204030204" pitchFamily="49" charset="0"/>
              </a:rPr>
              <a:t>进行计算时，不会修改已经确定好的最优解。</a:t>
            </a:r>
            <a:endParaRPr lang="zh-CN" altLang="en-US" sz="2200" dirty="0" smtClean="0">
              <a:solidFill>
                <a:srgbClr val="0000FF"/>
              </a:solidFill>
              <a:latin typeface="+mn-ea"/>
              <a:cs typeface="Consolas" panose="020B0609020204030204" pitchFamily="49" charset="0"/>
            </a:endParaRPr>
          </a:p>
        </p:txBody>
      </p:sp>
      <p:sp>
        <p:nvSpPr>
          <p:cNvPr id="3" name="TextBox 6"/>
          <p:cNvSpPr txBox="1"/>
          <p:nvPr/>
        </p:nvSpPr>
        <p:spPr>
          <a:xfrm>
            <a:off x="5280025" y="1946275"/>
            <a:ext cx="3392170" cy="768350"/>
          </a:xfrm>
          <a:prstGeom prst="rect">
            <a:avLst/>
          </a:prstGeom>
          <a:noFill/>
        </p:spPr>
        <p:txBody>
          <a:bodyPr wrap="square" rtlCol="0">
            <a:spAutoFit/>
          </a:bodyPr>
          <a:lstStyle/>
          <a:p>
            <a:r>
              <a:rPr lang="pt-BR" altLang="zh-CN" sz="2200" i="1" dirty="0" smtClean="0">
                <a:solidFill>
                  <a:srgbClr val="0000FF"/>
                </a:solidFill>
                <a:ea typeface="+mj-ea"/>
                <a:cs typeface="Times New Roman" panose="02020603050405020304" pitchFamily="18" charset="0"/>
              </a:rPr>
              <a:t>f</a:t>
            </a:r>
            <a:r>
              <a:rPr lang="pt-BR" altLang="zh-CN" sz="2200" dirty="0" smtClean="0">
                <a:solidFill>
                  <a:srgbClr val="0000FF"/>
                </a:solidFill>
                <a:ea typeface="+mj-ea"/>
                <a:cs typeface="Times New Roman" panose="02020603050405020304" pitchFamily="18" charset="0"/>
              </a:rPr>
              <a:t>(</a:t>
            </a:r>
            <a:r>
              <a:rPr lang="pt-BR" altLang="zh-CN" sz="2200" i="1" dirty="0" smtClean="0">
                <a:solidFill>
                  <a:srgbClr val="0000FF"/>
                </a:solidFill>
                <a:ea typeface="+mj-ea"/>
                <a:cs typeface="Times New Roman" panose="02020603050405020304" pitchFamily="18" charset="0"/>
              </a:rPr>
              <a:t>s</a:t>
            </a:r>
            <a:r>
              <a:rPr lang="pt-BR" altLang="zh-CN" sz="2200" dirty="0" smtClean="0">
                <a:solidFill>
                  <a:srgbClr val="0000FF"/>
                </a:solidFill>
                <a:ea typeface="+mj-ea"/>
                <a:cs typeface="Times New Roman" panose="02020603050405020304" pitchFamily="18" charset="0"/>
              </a:rPr>
              <a:t>)</a:t>
            </a:r>
            <a:r>
              <a:rPr lang="zh-CN" altLang="zh-CN" sz="2200" dirty="0" smtClean="0">
                <a:solidFill>
                  <a:srgbClr val="0000FF"/>
                </a:solidFill>
                <a:latin typeface="+mj-ea"/>
                <a:ea typeface="+mj-ea"/>
                <a:cs typeface="Consolas" panose="020B0609020204030204" pitchFamily="49" charset="0"/>
              </a:rPr>
              <a:t>表示</a:t>
            </a:r>
            <a:r>
              <a:rPr lang="zh-CN" altLang="en-US" sz="2200" dirty="0" smtClean="0">
                <a:solidFill>
                  <a:srgbClr val="0000FF"/>
                </a:solidFill>
                <a:latin typeface="+mj-ea"/>
                <a:ea typeface="+mj-ea"/>
                <a:cs typeface="Consolas" panose="020B0609020204030204" pitchFamily="49" charset="0"/>
              </a:rPr>
              <a:t>初始</a:t>
            </a:r>
            <a:r>
              <a:rPr lang="zh-CN" altLang="zh-CN" sz="2200" dirty="0" smtClean="0">
                <a:solidFill>
                  <a:srgbClr val="FF0000"/>
                </a:solidFill>
                <a:latin typeface="+mj-ea"/>
                <a:ea typeface="+mj-ea"/>
                <a:cs typeface="Consolas" panose="020B0609020204030204" pitchFamily="49" charset="0"/>
              </a:rPr>
              <a:t>状态</a:t>
            </a:r>
            <a:r>
              <a:rPr lang="en-US" altLang="zh-CN" sz="2200" b="1" i="1" dirty="0" smtClean="0">
                <a:solidFill>
                  <a:srgbClr val="FF0000"/>
                </a:solidFill>
                <a:ea typeface="+mj-ea"/>
                <a:cs typeface="Times New Roman" panose="02020603050405020304" pitchFamily="18" charset="0"/>
              </a:rPr>
              <a:t>A</a:t>
            </a:r>
            <a:r>
              <a:rPr lang="zh-CN" altLang="zh-CN" sz="2200" dirty="0" smtClean="0">
                <a:solidFill>
                  <a:srgbClr val="FF0000"/>
                </a:solidFill>
                <a:latin typeface="+mj-ea"/>
                <a:ea typeface="+mj-ea"/>
                <a:cs typeface="Consolas" panose="020B0609020204030204" pitchFamily="49" charset="0"/>
              </a:rPr>
              <a:t>到某</a:t>
            </a:r>
            <a:r>
              <a:rPr lang="zh-CN" altLang="en-US" sz="2200" dirty="0" smtClean="0">
                <a:solidFill>
                  <a:srgbClr val="FF0000"/>
                </a:solidFill>
                <a:latin typeface="+mj-ea"/>
                <a:ea typeface="+mj-ea"/>
                <a:cs typeface="Consolas" panose="020B0609020204030204" pitchFamily="49" charset="0"/>
              </a:rPr>
              <a:t>状态</a:t>
            </a:r>
            <a:r>
              <a:rPr lang="pt-BR" altLang="zh-CN" sz="2200" b="1" i="1" dirty="0" smtClean="0">
                <a:solidFill>
                  <a:srgbClr val="FF0000"/>
                </a:solidFill>
                <a:ea typeface="+mj-ea"/>
                <a:cs typeface="Times New Roman" panose="02020603050405020304" pitchFamily="18" charset="0"/>
              </a:rPr>
              <a:t>s</a:t>
            </a:r>
            <a:r>
              <a:rPr lang="zh-CN" altLang="zh-CN" sz="2200" dirty="0" smtClean="0">
                <a:solidFill>
                  <a:srgbClr val="FF0000"/>
                </a:solidFill>
                <a:latin typeface="+mj-ea"/>
                <a:ea typeface="+mj-ea"/>
                <a:cs typeface="Consolas" panose="020B0609020204030204" pitchFamily="49" charset="0"/>
              </a:rPr>
              <a:t>的最短路径长度</a:t>
            </a:r>
            <a:endParaRPr lang="zh-CN" altLang="en-US" sz="2200" dirty="0">
              <a:latin typeface="+mj-ea"/>
              <a:ea typeface="+mj-ea"/>
              <a:cs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bldLvl="0" animBg="1"/>
      <p:bldP spid="63" grpId="1" animBg="1"/>
      <p:bldP spid="2" grpId="0" bldLvl="0" animBg="1"/>
      <p:bldP spid="2" grpId="1" animBg="1"/>
      <p:bldP spid="3"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2"/>
          <p:cNvSpPr txBox="1"/>
          <p:nvPr/>
        </p:nvSpPr>
        <p:spPr>
          <a:xfrm>
            <a:off x="5038090" y="4721225"/>
            <a:ext cx="3987800" cy="1783715"/>
          </a:xfrm>
          <a:prstGeom prst="rect">
            <a:avLst/>
          </a:prstGeom>
          <a:solidFill>
            <a:schemeClr val="tx1"/>
          </a:solidFill>
        </p:spPr>
        <p:txBody>
          <a:bodyPr wrap="square" rtlCol="0">
            <a:spAutoFit/>
          </a:bodyPr>
          <a:lstStyle/>
          <a:p>
            <a:pPr marL="165100" indent="-165100" algn="just">
              <a:buFont typeface="Arial" panose="020B0604020202020204" pitchFamily="34" charset="0"/>
              <a:buChar char="•"/>
            </a:pPr>
            <a:r>
              <a:rPr lang="zh-CN" altLang="en-US" sz="2200" smtClean="0">
                <a:solidFill>
                  <a:srgbClr val="0000FF"/>
                </a:solidFill>
                <a:latin typeface="宋体" panose="02010600030101010101" pitchFamily="2" charset="-122"/>
                <a:cs typeface="宋体" panose="02010600030101010101" pitchFamily="2" charset="-122"/>
              </a:rPr>
              <a:t>在对状态</a:t>
            </a:r>
            <a:r>
              <a:rPr lang="en-US" altLang="zh-CN" sz="2200" b="1" i="1" smtClean="0">
                <a:solidFill>
                  <a:srgbClr val="0000FF"/>
                </a:solidFill>
                <a:cs typeface="Times New Roman" panose="02020603050405020304" pitchFamily="18" charset="0"/>
              </a:rPr>
              <a:t>B</a:t>
            </a:r>
            <a:r>
              <a:rPr lang="en-US" altLang="zh-CN" sz="2200" i="1" baseline="-25000" smtClean="0">
                <a:solidFill>
                  <a:srgbClr val="0000FF"/>
                </a:solidFill>
                <a:cs typeface="Times New Roman" panose="02020603050405020304" pitchFamily="18" charset="0"/>
              </a:rPr>
              <a:t>i</a:t>
            </a:r>
            <a:r>
              <a:rPr lang="zh-CN" altLang="en-US" sz="2200" smtClean="0">
                <a:solidFill>
                  <a:srgbClr val="0000FF"/>
                </a:solidFill>
                <a:latin typeface="宋体" panose="02010600030101010101" pitchFamily="2" charset="-122"/>
                <a:cs typeface="宋体" panose="02010600030101010101" pitchFamily="2" charset="-122"/>
              </a:rPr>
              <a:t>进行决策时，都要用到</a:t>
            </a:r>
            <a:r>
              <a:rPr lang="en-US" altLang="zh-CN" sz="2200" b="1" i="1" smtClean="0">
                <a:solidFill>
                  <a:srgbClr val="0000FF"/>
                </a:solidFill>
                <a:cs typeface="Times New Roman" panose="02020603050405020304" pitchFamily="18" charset="0"/>
              </a:rPr>
              <a:t>C</a:t>
            </a:r>
            <a:r>
              <a:rPr lang="en-US" altLang="zh-CN" sz="2200" baseline="-25000" smtClean="0">
                <a:solidFill>
                  <a:srgbClr val="0000FF"/>
                </a:solidFill>
                <a:latin typeface="宋体" panose="02010600030101010101" pitchFamily="2" charset="-122"/>
                <a:cs typeface="宋体" panose="02010600030101010101" pitchFamily="2" charset="-122"/>
              </a:rPr>
              <a:t>1</a:t>
            </a:r>
            <a:r>
              <a:rPr lang="en-US" altLang="zh-CN" sz="2200" smtClean="0">
                <a:solidFill>
                  <a:srgbClr val="0000FF"/>
                </a:solidFill>
                <a:latin typeface="宋体" panose="02010600030101010101" pitchFamily="2" charset="-122"/>
                <a:cs typeface="宋体" panose="02010600030101010101" pitchFamily="2" charset="-122"/>
              </a:rPr>
              <a:t>→</a:t>
            </a:r>
            <a:r>
              <a:rPr lang="en-US" altLang="zh-CN" sz="2200" b="1" i="1" smtClean="0">
                <a:solidFill>
                  <a:srgbClr val="0000FF"/>
                </a:solidFill>
                <a:cs typeface="Times New Roman" panose="02020603050405020304" pitchFamily="18" charset="0"/>
              </a:rPr>
              <a:t>E</a:t>
            </a:r>
            <a:r>
              <a:rPr lang="zh-CN" altLang="en-US" sz="2200" smtClean="0">
                <a:solidFill>
                  <a:srgbClr val="0000FF"/>
                </a:solidFill>
                <a:latin typeface="宋体" panose="02010600030101010101" pitchFamily="2" charset="-122"/>
                <a:cs typeface="宋体" panose="02010600030101010101" pitchFamily="2" charset="-122"/>
              </a:rPr>
              <a:t>的最短路径，因此</a:t>
            </a:r>
            <a:r>
              <a:rPr lang="en-US" altLang="zh-CN" sz="2200" b="1" i="1" smtClean="0">
                <a:solidFill>
                  <a:srgbClr val="0000FF"/>
                </a:solidFill>
                <a:cs typeface="Times New Roman" panose="02020603050405020304" pitchFamily="18" charset="0"/>
              </a:rPr>
              <a:t>f</a:t>
            </a:r>
            <a:r>
              <a:rPr lang="en-US" altLang="zh-CN" sz="2200" smtClean="0">
                <a:solidFill>
                  <a:srgbClr val="0000FF"/>
                </a:solidFill>
                <a:latin typeface="宋体" panose="02010600030101010101" pitchFamily="2" charset="-122"/>
                <a:cs typeface="宋体" panose="02010600030101010101" pitchFamily="2" charset="-122"/>
              </a:rPr>
              <a:t>(</a:t>
            </a:r>
            <a:r>
              <a:rPr lang="en-US" altLang="zh-CN" sz="2200" b="1" i="1" smtClean="0">
                <a:solidFill>
                  <a:srgbClr val="0000FF"/>
                </a:solidFill>
                <a:cs typeface="Times New Roman" panose="02020603050405020304" pitchFamily="18" charset="0"/>
              </a:rPr>
              <a:t>C</a:t>
            </a:r>
            <a:r>
              <a:rPr lang="en-US" altLang="zh-CN" sz="2200" baseline="-25000" smtClean="0">
                <a:solidFill>
                  <a:srgbClr val="0000FF"/>
                </a:solidFill>
                <a:latin typeface="宋体" panose="02010600030101010101" pitchFamily="2" charset="-122"/>
                <a:cs typeface="宋体" panose="02010600030101010101" pitchFamily="2" charset="-122"/>
              </a:rPr>
              <a:t>1</a:t>
            </a:r>
            <a:r>
              <a:rPr lang="en-US" altLang="zh-CN" sz="2200" smtClean="0">
                <a:solidFill>
                  <a:srgbClr val="0000FF"/>
                </a:solidFill>
                <a:latin typeface="宋体" panose="02010600030101010101" pitchFamily="2" charset="-122"/>
                <a:cs typeface="宋体" panose="02010600030101010101" pitchFamily="2" charset="-122"/>
              </a:rPr>
              <a:t>)</a:t>
            </a:r>
            <a:r>
              <a:rPr lang="zh-CN" altLang="en-US" sz="2200" smtClean="0">
                <a:solidFill>
                  <a:srgbClr val="0000FF"/>
                </a:solidFill>
                <a:latin typeface="宋体" panose="02010600030101010101" pitchFamily="2" charset="-122"/>
                <a:cs typeface="宋体" panose="02010600030101010101" pitchFamily="2" charset="-122"/>
              </a:rPr>
              <a:t>就是重叠子问题。</a:t>
            </a:r>
            <a:endParaRPr lang="zh-CN" altLang="en-US" sz="2200" smtClean="0">
              <a:solidFill>
                <a:srgbClr val="0000FF"/>
              </a:solidFill>
              <a:latin typeface="宋体" panose="02010600030101010101" pitchFamily="2" charset="-122"/>
              <a:cs typeface="宋体" panose="02010600030101010101" pitchFamily="2" charset="-122"/>
            </a:endParaRPr>
          </a:p>
          <a:p>
            <a:pPr marL="165100" indent="-165100" algn="just">
              <a:buFont typeface="Arial" panose="020B0604020202020204" pitchFamily="34" charset="0"/>
              <a:buChar char="•"/>
            </a:pPr>
            <a:r>
              <a:rPr lang="zh-CN" altLang="en-US" sz="2200" smtClean="0">
                <a:solidFill>
                  <a:srgbClr val="0000FF"/>
                </a:solidFill>
                <a:latin typeface="宋体" panose="02010600030101010101" pitchFamily="2" charset="-122"/>
                <a:cs typeface="宋体" panose="02010600030101010101" pitchFamily="2" charset="-122"/>
              </a:rPr>
              <a:t>子问题的解存于数组</a:t>
            </a:r>
            <a:r>
              <a:rPr lang="en-US" altLang="zh-CN" sz="2200" b="1" i="1" smtClean="0">
                <a:solidFill>
                  <a:srgbClr val="0000FF"/>
                </a:solidFill>
                <a:cs typeface="Times New Roman" panose="02020603050405020304" pitchFamily="18" charset="0"/>
              </a:rPr>
              <a:t>dp</a:t>
            </a:r>
            <a:r>
              <a:rPr lang="zh-CN" altLang="en-US" sz="2200" smtClean="0">
                <a:solidFill>
                  <a:srgbClr val="0000FF"/>
                </a:solidFill>
                <a:latin typeface="宋体" panose="02010600030101010101" pitchFamily="2" charset="-122"/>
                <a:cs typeface="宋体" panose="02010600030101010101" pitchFamily="2" charset="-122"/>
              </a:rPr>
              <a:t>中，再次使用时查表即可。</a:t>
            </a:r>
            <a:endParaRPr lang="zh-CN" altLang="en-US" sz="2200" smtClean="0">
              <a:solidFill>
                <a:srgbClr val="0000FF"/>
              </a:solidFill>
              <a:latin typeface="宋体" panose="02010600030101010101" pitchFamily="2" charset="-122"/>
              <a:cs typeface="宋体" panose="02010600030101010101" pitchFamily="2" charset="-122"/>
            </a:endParaRPr>
          </a:p>
        </p:txBody>
      </p:sp>
      <p:sp>
        <p:nvSpPr>
          <p:cNvPr id="4" name="TextBox 3"/>
          <p:cNvSpPr txBox="1"/>
          <p:nvPr/>
        </p:nvSpPr>
        <p:spPr>
          <a:xfrm>
            <a:off x="284480" y="1617345"/>
            <a:ext cx="8383905" cy="171450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457200" indent="-457200">
              <a:lnSpc>
                <a:spcPct val="120000"/>
              </a:lnSpc>
              <a:spcBef>
                <a:spcPts val="600"/>
              </a:spcBef>
              <a:buBlip>
                <a:blip r:embed="rId1"/>
              </a:buBlip>
            </a:pPr>
            <a:r>
              <a:rPr lang="zh-CN" altLang="en-US" sz="2200" dirty="0" smtClean="0">
                <a:solidFill>
                  <a:srgbClr val="FF0000"/>
                </a:solidFill>
                <a:latin typeface="+mn-ea"/>
                <a:cs typeface="Consolas" panose="020B0609020204030204" pitchFamily="49" charset="0"/>
              </a:rPr>
              <a:t>性质</a:t>
            </a:r>
            <a:r>
              <a:rPr lang="en-US" altLang="zh-CN" sz="2200" dirty="0" smtClean="0">
                <a:solidFill>
                  <a:srgbClr val="FF0000"/>
                </a:solidFill>
                <a:latin typeface="+mn-ea"/>
                <a:cs typeface="Consolas" panose="020B0609020204030204" pitchFamily="49" charset="0"/>
              </a:rPr>
              <a:t>3——</a:t>
            </a:r>
            <a:r>
              <a:rPr lang="zh-CN" altLang="zh-CN" sz="2200" dirty="0" smtClean="0">
                <a:solidFill>
                  <a:srgbClr val="FF0000"/>
                </a:solidFill>
                <a:latin typeface="+mn-ea"/>
                <a:cs typeface="Consolas" panose="020B0609020204030204" pitchFamily="49" charset="0"/>
              </a:rPr>
              <a:t>有重叠子问题</a:t>
            </a:r>
            <a:r>
              <a:rPr lang="zh-CN" altLang="zh-CN" sz="2200" dirty="0" smtClean="0">
                <a:solidFill>
                  <a:srgbClr val="0000FF"/>
                </a:solidFill>
                <a:latin typeface="+mn-ea"/>
                <a:cs typeface="Consolas" panose="020B0609020204030204" pitchFamily="49" charset="0"/>
              </a:rPr>
              <a:t>：即子问题之间是不独立的</a:t>
            </a:r>
            <a:r>
              <a:rPr lang="zh-CN" altLang="en-US" sz="2200" dirty="0" smtClean="0">
                <a:solidFill>
                  <a:srgbClr val="0000FF"/>
                </a:solidFill>
                <a:latin typeface="+mn-ea"/>
                <a:cs typeface="Consolas" panose="020B0609020204030204" pitchFamily="49" charset="0"/>
              </a:rPr>
              <a:t>，</a:t>
            </a:r>
            <a:r>
              <a:rPr lang="zh-CN" altLang="zh-CN" sz="2200" dirty="0" smtClean="0">
                <a:solidFill>
                  <a:srgbClr val="0000FF"/>
                </a:solidFill>
                <a:latin typeface="+mn-ea"/>
                <a:cs typeface="Consolas" panose="020B0609020204030204" pitchFamily="49" charset="0"/>
              </a:rPr>
              <a:t>一个子问题在下一阶段决策中可能被多次使用到。（该性质并不是动态规划的必要条件</a:t>
            </a:r>
            <a:r>
              <a:rPr lang="zh-CN" altLang="en-US" sz="2200" dirty="0" smtClean="0">
                <a:solidFill>
                  <a:srgbClr val="0000FF"/>
                </a:solidFill>
                <a:latin typeface="+mn-ea"/>
                <a:cs typeface="Consolas" panose="020B0609020204030204" pitchFamily="49" charset="0"/>
              </a:rPr>
              <a:t>，</a:t>
            </a:r>
            <a:r>
              <a:rPr lang="zh-CN" altLang="zh-CN" sz="2200" dirty="0" smtClean="0">
                <a:solidFill>
                  <a:srgbClr val="0000FF"/>
                </a:solidFill>
                <a:latin typeface="+mn-ea"/>
                <a:cs typeface="Consolas" panose="020B0609020204030204" pitchFamily="49" charset="0"/>
              </a:rPr>
              <a:t>但是如果没有这条性质</a:t>
            </a:r>
            <a:r>
              <a:rPr lang="zh-CN" altLang="en-US" sz="2200" dirty="0" smtClean="0">
                <a:solidFill>
                  <a:srgbClr val="0000FF"/>
                </a:solidFill>
                <a:latin typeface="+mn-ea"/>
                <a:cs typeface="Consolas" panose="020B0609020204030204" pitchFamily="49" charset="0"/>
              </a:rPr>
              <a:t>，</a:t>
            </a:r>
            <a:r>
              <a:rPr lang="zh-CN" altLang="zh-CN" sz="2200" dirty="0" smtClean="0">
                <a:solidFill>
                  <a:srgbClr val="0000FF"/>
                </a:solidFill>
                <a:latin typeface="+mn-ea"/>
                <a:cs typeface="Consolas" panose="020B0609020204030204" pitchFamily="49" charset="0"/>
              </a:rPr>
              <a:t>动态规划算法同其他算法相比就不具备优势）。</a:t>
            </a:r>
            <a:endParaRPr lang="zh-CN" altLang="zh-CN" sz="2200" dirty="0" smtClean="0">
              <a:solidFill>
                <a:srgbClr val="0000FF"/>
              </a:solidFill>
              <a:latin typeface="+mn-ea"/>
              <a:cs typeface="Consolas" panose="020B0609020204030204" pitchFamily="49" charset="0"/>
            </a:endParaRPr>
          </a:p>
        </p:txBody>
      </p:sp>
      <p:sp>
        <p:nvSpPr>
          <p:cNvPr id="3" name="TextBox 2"/>
          <p:cNvSpPr txBox="1"/>
          <p:nvPr/>
        </p:nvSpPr>
        <p:spPr>
          <a:xfrm>
            <a:off x="284480" y="3433445"/>
            <a:ext cx="3707130" cy="2694305"/>
          </a:xfrm>
          <a:prstGeom prst="rect">
            <a:avLst/>
          </a:prstGeom>
          <a:noFill/>
        </p:spPr>
        <p:txBody>
          <a:bodyPr wrap="square" rtlCol="0">
            <a:spAutoFit/>
          </a:bodyPr>
          <a:lstStyle/>
          <a:p>
            <a:pPr algn="just">
              <a:lnSpc>
                <a:spcPct val="110000"/>
              </a:lnSpc>
              <a:spcBef>
                <a:spcPts val="0"/>
              </a:spcBef>
              <a:spcAft>
                <a:spcPts val="0"/>
              </a:spcAft>
            </a:pPr>
            <a:r>
              <a:rPr lang="zh-CN" altLang="zh-CN" sz="2200" dirty="0" smtClean="0">
                <a:solidFill>
                  <a:srgbClr val="0000FF"/>
                </a:solidFill>
                <a:latin typeface="宋体" panose="02010600030101010101" pitchFamily="2" charset="-122"/>
                <a:cs typeface="宋体" panose="02010600030101010101" pitchFamily="2" charset="-122"/>
              </a:rPr>
              <a:t>求斐波那契数列</a:t>
            </a:r>
            <a:r>
              <a:rPr lang="en-US" altLang="zh-CN" sz="2200" b="1" i="1" dirty="0" smtClean="0">
                <a:solidFill>
                  <a:srgbClr val="0000FF"/>
                </a:solidFill>
                <a:cs typeface="Times New Roman" panose="02020603050405020304" pitchFamily="18" charset="0"/>
              </a:rPr>
              <a:t>f</a:t>
            </a:r>
            <a:r>
              <a:rPr lang="en-US" altLang="zh-CN" sz="2200" dirty="0" smtClean="0">
                <a:solidFill>
                  <a:srgbClr val="0000FF"/>
                </a:solidFill>
                <a:latin typeface="宋体" panose="02010600030101010101" pitchFamily="2" charset="-122"/>
                <a:cs typeface="宋体" panose="02010600030101010101" pitchFamily="2" charset="-122"/>
              </a:rPr>
              <a:t>(6)</a:t>
            </a:r>
            <a:r>
              <a:rPr lang="zh-CN" altLang="en-US" sz="2200" dirty="0" smtClean="0">
                <a:solidFill>
                  <a:srgbClr val="0000FF"/>
                </a:solidFill>
                <a:latin typeface="宋体" panose="02010600030101010101" pitchFamily="2" charset="-122"/>
                <a:cs typeface="宋体" panose="02010600030101010101" pitchFamily="2" charset="-122"/>
              </a:rPr>
              <a:t>时：</a:t>
            </a:r>
            <a:endParaRPr lang="zh-CN" altLang="en-US" sz="2200" dirty="0" smtClean="0">
              <a:solidFill>
                <a:srgbClr val="0000FF"/>
              </a:solidFill>
              <a:latin typeface="宋体" panose="02010600030101010101" pitchFamily="2" charset="-122"/>
              <a:cs typeface="宋体" panose="02010600030101010101" pitchFamily="2" charset="-122"/>
            </a:endParaRPr>
          </a:p>
          <a:p>
            <a:pPr marL="342900" indent="-342900" algn="just">
              <a:lnSpc>
                <a:spcPct val="110000"/>
              </a:lnSpc>
              <a:spcBef>
                <a:spcPts val="0"/>
              </a:spcBef>
              <a:spcAft>
                <a:spcPts val="0"/>
              </a:spcAft>
              <a:buFont typeface="Arial" panose="020B0604020202020204" pitchFamily="34" charset="0"/>
              <a:buChar char="•"/>
            </a:pPr>
            <a:r>
              <a:rPr lang="zh-CN" altLang="en-US" sz="2200" dirty="0" smtClean="0">
                <a:solidFill>
                  <a:srgbClr val="0000FF"/>
                </a:solidFill>
                <a:latin typeface="宋体" panose="02010600030101010101" pitchFamily="2" charset="-122"/>
                <a:cs typeface="宋体" panose="02010600030101010101" pitchFamily="2" charset="-122"/>
              </a:rPr>
              <a:t>先求</a:t>
            </a:r>
            <a:r>
              <a:rPr lang="en-US" altLang="zh-CN" sz="2200" b="1" i="1" dirty="0" smtClean="0">
                <a:solidFill>
                  <a:srgbClr val="0000FF"/>
                </a:solidFill>
                <a:cs typeface="Times New Roman" panose="02020603050405020304" pitchFamily="18" charset="0"/>
              </a:rPr>
              <a:t>f</a:t>
            </a:r>
            <a:r>
              <a:rPr lang="en-US" altLang="zh-CN" sz="2200" dirty="0" smtClean="0">
                <a:solidFill>
                  <a:srgbClr val="0000FF"/>
                </a:solidFill>
                <a:latin typeface="宋体" panose="02010600030101010101" pitchFamily="2" charset="-122"/>
                <a:cs typeface="宋体" panose="02010600030101010101" pitchFamily="2" charset="-122"/>
              </a:rPr>
              <a:t>(5),</a:t>
            </a:r>
            <a:r>
              <a:rPr lang="zh-CN" altLang="en-US" sz="2200" dirty="0" smtClean="0">
                <a:solidFill>
                  <a:srgbClr val="0000FF"/>
                </a:solidFill>
                <a:latin typeface="宋体" panose="02010600030101010101" pitchFamily="2" charset="-122"/>
                <a:cs typeface="宋体" panose="02010600030101010101" pitchFamily="2" charset="-122"/>
              </a:rPr>
              <a:t>后求</a:t>
            </a:r>
            <a:r>
              <a:rPr lang="en-US" altLang="zh-CN" sz="2200" b="1" i="1" dirty="0" smtClean="0">
                <a:solidFill>
                  <a:srgbClr val="0000FF"/>
                </a:solidFill>
                <a:cs typeface="Times New Roman" panose="02020603050405020304" pitchFamily="18" charset="0"/>
              </a:rPr>
              <a:t>f</a:t>
            </a:r>
            <a:r>
              <a:rPr lang="en-US" altLang="zh-CN" sz="2200" dirty="0" smtClean="0">
                <a:solidFill>
                  <a:srgbClr val="0000FF"/>
                </a:solidFill>
                <a:latin typeface="宋体" panose="02010600030101010101" pitchFamily="2" charset="-122"/>
                <a:cs typeface="宋体" panose="02010600030101010101" pitchFamily="2" charset="-122"/>
              </a:rPr>
              <a:t>(4)</a:t>
            </a:r>
            <a:endParaRPr lang="en-US" altLang="zh-CN" sz="2200" dirty="0" smtClean="0">
              <a:solidFill>
                <a:srgbClr val="0000FF"/>
              </a:solidFill>
              <a:latin typeface="宋体" panose="02010600030101010101" pitchFamily="2" charset="-122"/>
              <a:cs typeface="宋体" panose="02010600030101010101" pitchFamily="2" charset="-122"/>
            </a:endParaRPr>
          </a:p>
          <a:p>
            <a:pPr marL="342900" indent="-342900" algn="just">
              <a:lnSpc>
                <a:spcPct val="110000"/>
              </a:lnSpc>
              <a:spcBef>
                <a:spcPts val="0"/>
              </a:spcBef>
              <a:spcAft>
                <a:spcPts val="0"/>
              </a:spcAft>
              <a:buFont typeface="Arial" panose="020B0604020202020204" pitchFamily="34" charset="0"/>
              <a:buChar char="•"/>
            </a:pPr>
            <a:r>
              <a:rPr lang="zh-CN" altLang="en-US" sz="2200" dirty="0" smtClean="0">
                <a:solidFill>
                  <a:srgbClr val="0000FF"/>
                </a:solidFill>
                <a:latin typeface="宋体" panose="02010600030101010101" pitchFamily="2" charset="-122"/>
                <a:cs typeface="宋体" panose="02010600030101010101" pitchFamily="2" charset="-122"/>
              </a:rPr>
              <a:t>求</a:t>
            </a:r>
            <a:r>
              <a:rPr lang="en-US" altLang="zh-CN" sz="2200" b="1" i="1" dirty="0" smtClean="0">
                <a:solidFill>
                  <a:srgbClr val="0000FF"/>
                </a:solidFill>
                <a:cs typeface="Times New Roman" panose="02020603050405020304" pitchFamily="18" charset="0"/>
              </a:rPr>
              <a:t>f</a:t>
            </a:r>
            <a:r>
              <a:rPr lang="en-US" altLang="zh-CN" sz="2200" dirty="0" smtClean="0">
                <a:solidFill>
                  <a:srgbClr val="0000FF"/>
                </a:solidFill>
                <a:latin typeface="宋体" panose="02010600030101010101" pitchFamily="2" charset="-122"/>
                <a:cs typeface="宋体" panose="02010600030101010101" pitchFamily="2" charset="-122"/>
              </a:rPr>
              <a:t>(5)</a:t>
            </a:r>
            <a:r>
              <a:rPr lang="zh-CN" altLang="en-US" sz="2200" dirty="0" smtClean="0">
                <a:solidFill>
                  <a:srgbClr val="0000FF"/>
                </a:solidFill>
                <a:latin typeface="宋体" panose="02010600030101010101" pitchFamily="2" charset="-122"/>
                <a:cs typeface="宋体" panose="02010600030101010101" pitchFamily="2" charset="-122"/>
              </a:rPr>
              <a:t>时，也要求</a:t>
            </a:r>
            <a:r>
              <a:rPr lang="en-US" altLang="zh-CN" sz="2200" b="1" i="1" dirty="0" smtClean="0">
                <a:solidFill>
                  <a:srgbClr val="0000FF"/>
                </a:solidFill>
                <a:cs typeface="Times New Roman" panose="02020603050405020304" pitchFamily="18" charset="0"/>
              </a:rPr>
              <a:t>f</a:t>
            </a:r>
            <a:r>
              <a:rPr lang="en-US" altLang="zh-CN" sz="2200" dirty="0" smtClean="0">
                <a:solidFill>
                  <a:srgbClr val="0000FF"/>
                </a:solidFill>
                <a:latin typeface="宋体" panose="02010600030101010101" pitchFamily="2" charset="-122"/>
                <a:cs typeface="宋体" panose="02010600030101010101" pitchFamily="2" charset="-122"/>
              </a:rPr>
              <a:t>(4)</a:t>
            </a:r>
            <a:endParaRPr lang="en-US" altLang="zh-CN" sz="2200" dirty="0" smtClean="0">
              <a:solidFill>
                <a:srgbClr val="0000FF"/>
              </a:solidFill>
              <a:latin typeface="宋体" panose="02010600030101010101" pitchFamily="2" charset="-122"/>
              <a:cs typeface="宋体" panose="02010600030101010101" pitchFamily="2" charset="-122"/>
            </a:endParaRPr>
          </a:p>
          <a:p>
            <a:pPr marL="342900" indent="-342900" algn="just">
              <a:lnSpc>
                <a:spcPct val="110000"/>
              </a:lnSpc>
              <a:spcBef>
                <a:spcPts val="0"/>
              </a:spcBef>
              <a:spcAft>
                <a:spcPts val="0"/>
              </a:spcAft>
              <a:buFont typeface="Arial" panose="020B0604020202020204" pitchFamily="34" charset="0"/>
              <a:buChar char="•"/>
            </a:pPr>
            <a:r>
              <a:rPr lang="en-US" altLang="zh-CN" sz="2200" b="1" i="1" dirty="0" smtClean="0">
                <a:solidFill>
                  <a:srgbClr val="0000FF"/>
                </a:solidFill>
                <a:cs typeface="Times New Roman" panose="02020603050405020304" pitchFamily="18" charset="0"/>
              </a:rPr>
              <a:t>f</a:t>
            </a:r>
            <a:r>
              <a:rPr lang="en-US" altLang="zh-CN" sz="2200" dirty="0" smtClean="0">
                <a:solidFill>
                  <a:srgbClr val="0000FF"/>
                </a:solidFill>
                <a:latin typeface="宋体" panose="02010600030101010101" pitchFamily="2" charset="-122"/>
                <a:cs typeface="宋体" panose="02010600030101010101" pitchFamily="2" charset="-122"/>
              </a:rPr>
              <a:t>(4)</a:t>
            </a:r>
            <a:r>
              <a:rPr lang="zh-CN" altLang="en-US" sz="2200" dirty="0" smtClean="0">
                <a:solidFill>
                  <a:srgbClr val="0000FF"/>
                </a:solidFill>
                <a:latin typeface="宋体" panose="02010600030101010101" pitchFamily="2" charset="-122"/>
                <a:cs typeface="宋体" panose="02010600030101010101" pitchFamily="2" charset="-122"/>
              </a:rPr>
              <a:t>就是公共子问题</a:t>
            </a:r>
            <a:endParaRPr lang="zh-CN" altLang="en-US" sz="2200" dirty="0" smtClean="0">
              <a:solidFill>
                <a:srgbClr val="0000FF"/>
              </a:solidFill>
              <a:latin typeface="宋体" panose="02010600030101010101" pitchFamily="2" charset="-122"/>
              <a:cs typeface="宋体" panose="02010600030101010101" pitchFamily="2" charset="-122"/>
            </a:endParaRPr>
          </a:p>
          <a:p>
            <a:pPr marL="342900" indent="-342900" algn="just">
              <a:lnSpc>
                <a:spcPct val="110000"/>
              </a:lnSpc>
              <a:spcBef>
                <a:spcPts val="0"/>
              </a:spcBef>
              <a:spcAft>
                <a:spcPts val="0"/>
              </a:spcAft>
              <a:buFont typeface="Arial" panose="020B0604020202020204" pitchFamily="34" charset="0"/>
              <a:buChar char="•"/>
            </a:pPr>
            <a:r>
              <a:rPr lang="zh-CN" altLang="en-US" sz="2200" dirty="0" smtClean="0">
                <a:solidFill>
                  <a:srgbClr val="0000FF"/>
                </a:solidFill>
                <a:latin typeface="宋体" panose="02010600030101010101" pitchFamily="2" charset="-122"/>
                <a:cs typeface="宋体" panose="02010600030101010101" pitchFamily="2" charset="-122"/>
              </a:rPr>
              <a:t>可以在某阶段求出</a:t>
            </a:r>
            <a:r>
              <a:rPr lang="en-US" altLang="zh-CN" sz="2200" b="1" i="1" dirty="0" smtClean="0">
                <a:solidFill>
                  <a:srgbClr val="0000FF"/>
                </a:solidFill>
                <a:cs typeface="Times New Roman" panose="02020603050405020304" pitchFamily="18" charset="0"/>
                <a:sym typeface="+mn-ea"/>
              </a:rPr>
              <a:t>f</a:t>
            </a:r>
            <a:r>
              <a:rPr lang="en-US" altLang="zh-CN" sz="2200" dirty="0" smtClean="0">
                <a:solidFill>
                  <a:srgbClr val="0000FF"/>
                </a:solidFill>
                <a:latin typeface="宋体" panose="02010600030101010101" pitchFamily="2" charset="-122"/>
                <a:cs typeface="宋体" panose="02010600030101010101" pitchFamily="2" charset="-122"/>
                <a:sym typeface="+mn-ea"/>
              </a:rPr>
              <a:t>(4)</a:t>
            </a:r>
            <a:r>
              <a:rPr lang="zh-CN" altLang="en-US" sz="2200" dirty="0" smtClean="0">
                <a:solidFill>
                  <a:srgbClr val="0000FF"/>
                </a:solidFill>
                <a:latin typeface="宋体" panose="02010600030101010101" pitchFamily="2" charset="-122"/>
                <a:cs typeface="宋体" panose="02010600030101010101" pitchFamily="2" charset="-122"/>
                <a:sym typeface="+mn-ea"/>
              </a:rPr>
              <a:t>后</a:t>
            </a:r>
            <a:r>
              <a:rPr lang="zh-CN" altLang="en-US" sz="2200" dirty="0" smtClean="0">
                <a:solidFill>
                  <a:srgbClr val="0000FF"/>
                </a:solidFill>
                <a:latin typeface="宋体" panose="02010600030101010101" pitchFamily="2" charset="-122"/>
                <a:cs typeface="宋体" panose="02010600030101010101" pitchFamily="2" charset="-122"/>
              </a:rPr>
              <a:t>保存到</a:t>
            </a:r>
            <a:r>
              <a:rPr lang="en-US" altLang="zh-CN" sz="2200" b="1" i="1" dirty="0" smtClean="0">
                <a:solidFill>
                  <a:srgbClr val="0000FF"/>
                </a:solidFill>
                <a:cs typeface="Times New Roman" panose="02020603050405020304" pitchFamily="18" charset="0"/>
              </a:rPr>
              <a:t>dp</a:t>
            </a:r>
            <a:r>
              <a:rPr lang="zh-CN" altLang="en-US" sz="2200" dirty="0" smtClean="0">
                <a:solidFill>
                  <a:srgbClr val="0000FF"/>
                </a:solidFill>
                <a:latin typeface="宋体" panose="02010600030101010101" pitchFamily="2" charset="-122"/>
                <a:cs typeface="宋体" panose="02010600030101010101" pitchFamily="2" charset="-122"/>
              </a:rPr>
              <a:t>表中，以后再次使用时，查表即</a:t>
            </a:r>
            <a:r>
              <a:rPr lang="zh-CN" altLang="en-US" sz="2200" smtClean="0">
                <a:solidFill>
                  <a:srgbClr val="0000FF"/>
                </a:solidFill>
                <a:latin typeface="宋体" panose="02010600030101010101" pitchFamily="2" charset="-122"/>
                <a:cs typeface="宋体" panose="02010600030101010101" pitchFamily="2" charset="-122"/>
              </a:rPr>
              <a:t>可。</a:t>
            </a:r>
            <a:endParaRPr lang="en-US" altLang="zh-CN" sz="2200" dirty="0" smtClean="0">
              <a:solidFill>
                <a:srgbClr val="0000FF"/>
              </a:solidFill>
              <a:latin typeface="宋体" panose="02010600030101010101" pitchFamily="2" charset="-122"/>
              <a:cs typeface="宋体" panose="02010600030101010101" pitchFamily="2" charset="-122"/>
            </a:endParaRPr>
          </a:p>
        </p:txBody>
      </p:sp>
      <p:sp>
        <p:nvSpPr>
          <p:cNvPr id="2" name="TextBox 1"/>
          <p:cNvSpPr txBox="1"/>
          <p:nvPr/>
        </p:nvSpPr>
        <p:spPr>
          <a:xfrm>
            <a:off x="214603" y="446066"/>
            <a:ext cx="5500726" cy="583565"/>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l"/>
            <a:r>
              <a:rPr lang="zh-CN" altLang="zh-CN" sz="3200" smtClean="0">
                <a:solidFill>
                  <a:schemeClr val="bg1"/>
                </a:solidFill>
                <a:latin typeface="Consolas" panose="020B0609020204030204" pitchFamily="49" charset="0"/>
                <a:ea typeface="微软雅黑" panose="020B0503020204020204" charset="-122"/>
                <a:cs typeface="Consolas" panose="020B0609020204030204" pitchFamily="49" charset="0"/>
              </a:rPr>
              <a:t>动态规划求解的基本步骤</a:t>
            </a:r>
            <a:endParaRPr lang="zh-CN" altLang="zh-CN" sz="3200" smtClean="0">
              <a:solidFill>
                <a:schemeClr val="bg1"/>
              </a:solidFill>
              <a:latin typeface="Consolas" panose="020B0609020204030204" pitchFamily="49" charset="0"/>
              <a:ea typeface="微软雅黑" panose="020B0503020204020204" charset="-122"/>
              <a:cs typeface="Consolas" panose="020B0609020204030204" pitchFamily="49" charset="0"/>
            </a:endParaRPr>
          </a:p>
        </p:txBody>
      </p:sp>
      <p:grpSp>
        <p:nvGrpSpPr>
          <p:cNvPr id="5" name="组合 4"/>
          <p:cNvGrpSpPr/>
          <p:nvPr/>
        </p:nvGrpSpPr>
        <p:grpSpPr>
          <a:xfrm>
            <a:off x="3992245" y="3468370"/>
            <a:ext cx="3958590" cy="2056130"/>
            <a:chOff x="6400" y="5462"/>
            <a:chExt cx="6234" cy="3238"/>
          </a:xfrm>
        </p:grpSpPr>
        <p:sp>
          <p:nvSpPr>
            <p:cNvPr id="6" name="椭圆 5"/>
            <p:cNvSpPr/>
            <p:nvPr/>
          </p:nvSpPr>
          <p:spPr>
            <a:xfrm>
              <a:off x="8590" y="6084"/>
              <a:ext cx="1278" cy="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b="1">
                  <a:latin typeface="Times New Roman" panose="02020603050405020304" pitchFamily="18" charset="0"/>
                  <a:cs typeface="Times New Roman" panose="02020603050405020304" pitchFamily="18" charset="0"/>
                </a:rPr>
                <a:t>C</a:t>
              </a:r>
              <a:r>
                <a:rPr lang="en-US" altLang="zh-CN" sz="1800" b="1" baseline="-25000">
                  <a:latin typeface="Times New Roman" panose="02020603050405020304" pitchFamily="18" charset="0"/>
                  <a:cs typeface="Times New Roman" panose="02020603050405020304" pitchFamily="18" charset="0"/>
                </a:rPr>
                <a:t>1</a:t>
              </a:r>
              <a:endParaRPr lang="en-US" altLang="zh-CN" sz="1800" b="1" baseline="-25000">
                <a:latin typeface="Times New Roman" panose="02020603050405020304" pitchFamily="18" charset="0"/>
                <a:cs typeface="Times New Roman" panose="02020603050405020304" pitchFamily="18" charset="0"/>
              </a:endParaRPr>
            </a:p>
          </p:txBody>
        </p:sp>
        <p:sp>
          <p:nvSpPr>
            <p:cNvPr id="7" name="椭圆 6"/>
            <p:cNvSpPr/>
            <p:nvPr/>
          </p:nvSpPr>
          <p:spPr>
            <a:xfrm>
              <a:off x="11356" y="6084"/>
              <a:ext cx="1278" cy="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b="1">
                  <a:latin typeface="Times New Roman" panose="02020603050405020304" pitchFamily="18" charset="0"/>
                  <a:cs typeface="Times New Roman" panose="02020603050405020304" pitchFamily="18" charset="0"/>
                </a:rPr>
                <a:t>E</a:t>
              </a:r>
              <a:endParaRPr lang="en-US" altLang="zh-CN" sz="1800" b="1">
                <a:latin typeface="Times New Roman" panose="02020603050405020304" pitchFamily="18" charset="0"/>
                <a:cs typeface="Times New Roman" panose="02020603050405020304" pitchFamily="18" charset="0"/>
              </a:endParaRPr>
            </a:p>
          </p:txBody>
        </p:sp>
        <p:cxnSp>
          <p:nvCxnSpPr>
            <p:cNvPr id="8" name="直接箭头连接符 7"/>
            <p:cNvCxnSpPr/>
            <p:nvPr/>
          </p:nvCxnSpPr>
          <p:spPr>
            <a:xfrm>
              <a:off x="9868" y="6540"/>
              <a:ext cx="1488" cy="0"/>
            </a:xfrm>
            <a:prstGeom prst="straightConnector1">
              <a:avLst/>
            </a:prstGeom>
            <a:ln w="50800">
              <a:prstDash val="dash"/>
              <a:tailEnd type="arrow"/>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9922" y="5746"/>
              <a:ext cx="1062" cy="628"/>
            </a:xfrm>
            <a:prstGeom prst="rect">
              <a:avLst/>
            </a:prstGeom>
            <a:noFill/>
          </p:spPr>
          <p:txBody>
            <a:bodyPr wrap="none" rtlCol="0">
              <a:spAutoFit/>
            </a:bodyPr>
            <a:lstStyle/>
            <a:p>
              <a:r>
                <a:rPr lang="en-US" altLang="zh-CN" sz="2000" i="1">
                  <a:solidFill>
                    <a:schemeClr val="bg1"/>
                  </a:solidFill>
                </a:rPr>
                <a:t>f</a:t>
              </a:r>
              <a:r>
                <a:rPr lang="en-US" altLang="zh-CN" sz="2000">
                  <a:solidFill>
                    <a:schemeClr val="bg1"/>
                  </a:solidFill>
                </a:rPr>
                <a:t>(C</a:t>
              </a:r>
              <a:r>
                <a:rPr lang="en-US" altLang="zh-CN" sz="2000" baseline="-25000">
                  <a:solidFill>
                    <a:schemeClr val="bg1"/>
                  </a:solidFill>
                </a:rPr>
                <a:t>1</a:t>
              </a:r>
              <a:r>
                <a:rPr lang="en-US" altLang="zh-CN" sz="2000">
                  <a:solidFill>
                    <a:schemeClr val="bg1"/>
                  </a:solidFill>
                </a:rPr>
                <a:t>)</a:t>
              </a:r>
              <a:endParaRPr lang="en-US" altLang="zh-CN" sz="2000">
                <a:solidFill>
                  <a:schemeClr val="bg1"/>
                </a:solidFill>
              </a:endParaRPr>
            </a:p>
          </p:txBody>
        </p:sp>
        <p:sp>
          <p:nvSpPr>
            <p:cNvPr id="10" name="椭圆 9"/>
            <p:cNvSpPr/>
            <p:nvPr/>
          </p:nvSpPr>
          <p:spPr>
            <a:xfrm>
              <a:off x="6400" y="5462"/>
              <a:ext cx="1278" cy="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b="1">
                  <a:latin typeface="Times New Roman" panose="02020603050405020304" pitchFamily="18" charset="0"/>
                  <a:cs typeface="Times New Roman" panose="02020603050405020304" pitchFamily="18" charset="0"/>
                </a:rPr>
                <a:t>B</a:t>
              </a:r>
              <a:r>
                <a:rPr lang="en-US" altLang="zh-CN" sz="1800" b="1" baseline="-25000">
                  <a:latin typeface="Times New Roman" panose="02020603050405020304" pitchFamily="18" charset="0"/>
                  <a:cs typeface="Times New Roman" panose="02020603050405020304" pitchFamily="18" charset="0"/>
                </a:rPr>
                <a:t>1</a:t>
              </a:r>
              <a:endParaRPr lang="en-US" altLang="zh-CN" sz="1800" b="1" baseline="-25000">
                <a:latin typeface="Times New Roman" panose="02020603050405020304" pitchFamily="18" charset="0"/>
                <a:cs typeface="Times New Roman" panose="02020603050405020304" pitchFamily="18" charset="0"/>
              </a:endParaRPr>
            </a:p>
          </p:txBody>
        </p:sp>
        <p:sp>
          <p:nvSpPr>
            <p:cNvPr id="11" name="椭圆 10"/>
            <p:cNvSpPr/>
            <p:nvPr/>
          </p:nvSpPr>
          <p:spPr>
            <a:xfrm>
              <a:off x="6400" y="6592"/>
              <a:ext cx="1278" cy="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b="1">
                  <a:latin typeface="Times New Roman" panose="02020603050405020304" pitchFamily="18" charset="0"/>
                  <a:cs typeface="Times New Roman" panose="02020603050405020304" pitchFamily="18" charset="0"/>
                </a:rPr>
                <a:t>B</a:t>
              </a:r>
              <a:r>
                <a:rPr lang="en-US" altLang="zh-CN" sz="1800" b="1" baseline="-25000">
                  <a:latin typeface="Times New Roman" panose="02020603050405020304" pitchFamily="18" charset="0"/>
                  <a:cs typeface="Times New Roman" panose="02020603050405020304" pitchFamily="18" charset="0"/>
                </a:rPr>
                <a:t>2</a:t>
              </a:r>
              <a:endParaRPr lang="en-US" altLang="zh-CN" sz="1800" b="1" baseline="-25000">
                <a:latin typeface="Times New Roman" panose="02020603050405020304" pitchFamily="18" charset="0"/>
                <a:cs typeface="Times New Roman" panose="02020603050405020304" pitchFamily="18" charset="0"/>
              </a:endParaRPr>
            </a:p>
          </p:txBody>
        </p:sp>
        <p:sp>
          <p:nvSpPr>
            <p:cNvPr id="12" name="椭圆 11"/>
            <p:cNvSpPr/>
            <p:nvPr/>
          </p:nvSpPr>
          <p:spPr>
            <a:xfrm>
              <a:off x="6400" y="7788"/>
              <a:ext cx="1278" cy="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b="1">
                  <a:latin typeface="Times New Roman" panose="02020603050405020304" pitchFamily="18" charset="0"/>
                  <a:cs typeface="Times New Roman" panose="02020603050405020304" pitchFamily="18" charset="0"/>
                </a:rPr>
                <a:t>B</a:t>
              </a:r>
              <a:r>
                <a:rPr lang="en-US" altLang="zh-CN" sz="1800" b="1" baseline="-25000">
                  <a:latin typeface="Times New Roman" panose="02020603050405020304" pitchFamily="18" charset="0"/>
                  <a:cs typeface="Times New Roman" panose="02020603050405020304" pitchFamily="18" charset="0"/>
                </a:rPr>
                <a:t>3</a:t>
              </a:r>
              <a:endParaRPr lang="en-US" altLang="zh-CN" sz="1800" b="1" baseline="-25000">
                <a:latin typeface="Times New Roman" panose="02020603050405020304" pitchFamily="18" charset="0"/>
                <a:cs typeface="Times New Roman" panose="02020603050405020304" pitchFamily="18" charset="0"/>
              </a:endParaRPr>
            </a:p>
          </p:txBody>
        </p:sp>
        <p:cxnSp>
          <p:nvCxnSpPr>
            <p:cNvPr id="13" name="直接箭头连接符 12"/>
            <p:cNvCxnSpPr>
              <a:endCxn id="6" idx="1"/>
            </p:cNvCxnSpPr>
            <p:nvPr/>
          </p:nvCxnSpPr>
          <p:spPr>
            <a:xfrm>
              <a:off x="7565" y="5918"/>
              <a:ext cx="1212" cy="300"/>
            </a:xfrm>
            <a:prstGeom prst="straightConnector1">
              <a:avLst/>
            </a:prstGeom>
            <a:ln w="34925">
              <a:prstDash val="solid"/>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11" idx="6"/>
              <a:endCxn id="6" idx="2"/>
            </p:cNvCxnSpPr>
            <p:nvPr/>
          </p:nvCxnSpPr>
          <p:spPr>
            <a:xfrm flipV="1">
              <a:off x="7678" y="6540"/>
              <a:ext cx="912" cy="508"/>
            </a:xfrm>
            <a:prstGeom prst="straightConnector1">
              <a:avLst/>
            </a:prstGeom>
            <a:ln w="34925">
              <a:prstDash val="solid"/>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stCxn id="12" idx="7"/>
            </p:cNvCxnSpPr>
            <p:nvPr/>
          </p:nvCxnSpPr>
          <p:spPr>
            <a:xfrm flipV="1">
              <a:off x="7378" y="6847"/>
              <a:ext cx="1386" cy="1075"/>
            </a:xfrm>
            <a:prstGeom prst="straightConnector1">
              <a:avLst/>
            </a:prstGeom>
            <a:ln w="34925">
              <a:prstDash val="solid"/>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Text Box 2"/>
          <p:cNvSpPr txBox="1">
            <a:spLocks noChangeArrowheads="1"/>
          </p:cNvSpPr>
          <p:nvPr/>
        </p:nvSpPr>
        <p:spPr bwMode="auto">
          <a:xfrm>
            <a:off x="420370" y="1585595"/>
            <a:ext cx="8303260" cy="4965065"/>
          </a:xfrm>
          <a:prstGeom prst="rect">
            <a:avLst/>
          </a:prstGeom>
          <a:solidFill>
            <a:schemeClr val="tx1"/>
          </a:solidFill>
          <a:ln w="38100" algn="ctr">
            <a:noFill/>
            <a:miter lim="800000"/>
          </a:ln>
          <a:effectLst/>
        </p:spPr>
        <p:txBody>
          <a:bodyPr wrap="square">
            <a:spAutoFit/>
          </a:bodyPr>
          <a:lstStyle/>
          <a:p>
            <a:pPr marL="342900" indent="-294005">
              <a:lnSpc>
                <a:spcPct val="120000"/>
              </a:lnSpc>
              <a:spcBef>
                <a:spcPts val="0"/>
              </a:spcBef>
              <a:buFont typeface="Wingdings" panose="05000000000000000000" charset="0"/>
              <a:buChar char="l"/>
            </a:pPr>
            <a:r>
              <a:rPr lang="zh-CN" altLang="en-US" smtClean="0">
                <a:solidFill>
                  <a:srgbClr val="0000FF"/>
                </a:solidFill>
                <a:latin typeface="宋体" panose="02010600030101010101" pitchFamily="2" charset="-122"/>
                <a:cs typeface="宋体" panose="02010600030101010101" pitchFamily="2" charset="-122"/>
              </a:rPr>
              <a:t>动态规划方案设计有一定的模式，一般经历以下几个步骤</a:t>
            </a:r>
            <a:endParaRPr lang="zh-CN" altLang="en-US" smtClean="0">
              <a:solidFill>
                <a:srgbClr val="0000FF"/>
              </a:solidFill>
              <a:latin typeface="宋体" panose="02010600030101010101" pitchFamily="2" charset="-122"/>
              <a:cs typeface="宋体" panose="02010600030101010101" pitchFamily="2" charset="-122"/>
            </a:endParaRPr>
          </a:p>
          <a:p>
            <a:pPr algn="just">
              <a:lnSpc>
                <a:spcPct val="120000"/>
              </a:lnSpc>
              <a:spcBef>
                <a:spcPts val="0"/>
              </a:spcBef>
              <a:buFont typeface="Wingdings" panose="05000000000000000000" charset="0"/>
            </a:pPr>
            <a:r>
              <a:rPr lang="zh-CN" altLang="en-US">
                <a:solidFill>
                  <a:srgbClr val="0000FF"/>
                </a:solidFill>
                <a:latin typeface="宋体" panose="02010600030101010101" pitchFamily="2" charset="-122"/>
                <a:cs typeface="宋体" panose="02010600030101010101" pitchFamily="2" charset="-122"/>
              </a:rPr>
              <a:t>（</a:t>
            </a:r>
            <a:r>
              <a:rPr lang="en-US" altLang="zh-CN">
                <a:solidFill>
                  <a:srgbClr val="0000FF"/>
                </a:solidFill>
                <a:latin typeface="宋体" panose="02010600030101010101" pitchFamily="2" charset="-122"/>
                <a:cs typeface="宋体" panose="02010600030101010101" pitchFamily="2" charset="-122"/>
              </a:rPr>
              <a:t>1</a:t>
            </a:r>
            <a:r>
              <a:rPr lang="zh-CN" altLang="en-US">
                <a:solidFill>
                  <a:srgbClr val="0000FF"/>
                </a:solidFill>
                <a:latin typeface="宋体" panose="02010600030101010101" pitchFamily="2" charset="-122"/>
                <a:cs typeface="宋体" panose="02010600030101010101" pitchFamily="2" charset="-122"/>
              </a:rPr>
              <a:t>）划分阶段：</a:t>
            </a:r>
            <a:r>
              <a:rPr lang="zh-CN" altLang="en-US">
                <a:solidFill>
                  <a:schemeClr val="bg2"/>
                </a:solidFill>
                <a:latin typeface="宋体" panose="02010600030101010101" pitchFamily="2" charset="-122"/>
                <a:cs typeface="宋体" panose="02010600030101010101" pitchFamily="2" charset="-122"/>
              </a:rPr>
              <a:t>按照问题的时间或空间特征将问题划分成若干阶段。划分的阶段一定是有序的或可排序的，否则问题无法求解。</a:t>
            </a:r>
            <a:endParaRPr lang="zh-CN" altLang="en-US">
              <a:solidFill>
                <a:srgbClr val="0000FF"/>
              </a:solidFill>
              <a:latin typeface="宋体" panose="02010600030101010101" pitchFamily="2" charset="-122"/>
              <a:cs typeface="宋体" panose="02010600030101010101" pitchFamily="2" charset="-122"/>
            </a:endParaRPr>
          </a:p>
          <a:p>
            <a:pPr>
              <a:lnSpc>
                <a:spcPct val="120000"/>
              </a:lnSpc>
              <a:spcBef>
                <a:spcPts val="0"/>
              </a:spcBef>
              <a:buFont typeface="Wingdings" panose="05000000000000000000" charset="0"/>
            </a:pPr>
            <a:r>
              <a:rPr lang="zh-CN" altLang="en-US">
                <a:solidFill>
                  <a:srgbClr val="0000FF"/>
                </a:solidFill>
                <a:latin typeface="宋体" panose="02010600030101010101" pitchFamily="2" charset="-122"/>
                <a:cs typeface="宋体" panose="02010600030101010101" pitchFamily="2" charset="-122"/>
              </a:rPr>
              <a:t>（</a:t>
            </a:r>
            <a:r>
              <a:rPr lang="en-US" altLang="zh-CN">
                <a:solidFill>
                  <a:srgbClr val="0000FF"/>
                </a:solidFill>
                <a:latin typeface="宋体" panose="02010600030101010101" pitchFamily="2" charset="-122"/>
                <a:cs typeface="宋体" panose="02010600030101010101" pitchFamily="2" charset="-122"/>
              </a:rPr>
              <a:t>2</a:t>
            </a:r>
            <a:r>
              <a:rPr lang="zh-CN" altLang="en-US">
                <a:solidFill>
                  <a:srgbClr val="0000FF"/>
                </a:solidFill>
                <a:latin typeface="宋体" panose="02010600030101010101" pitchFamily="2" charset="-122"/>
                <a:cs typeface="宋体" panose="02010600030101010101" pitchFamily="2" charset="-122"/>
              </a:rPr>
              <a:t>）确定状态和状态变量：</a:t>
            </a:r>
            <a:r>
              <a:rPr lang="zh-CN" altLang="en-US">
                <a:solidFill>
                  <a:schemeClr val="bg2"/>
                </a:solidFill>
                <a:latin typeface="宋体" panose="02010600030101010101" pitchFamily="2" charset="-122"/>
                <a:cs typeface="宋体" panose="02010600030101010101" pitchFamily="2" charset="-122"/>
              </a:rPr>
              <a:t>问题发展到不同阶段所对应的情况，用不同的状态变量表示，同一阶段的不同状态看成一个状态集合。</a:t>
            </a:r>
            <a:endParaRPr lang="zh-CN" altLang="en-US">
              <a:solidFill>
                <a:srgbClr val="0000FF"/>
              </a:solidFill>
              <a:latin typeface="宋体" panose="02010600030101010101" pitchFamily="2" charset="-122"/>
              <a:cs typeface="宋体" panose="02010600030101010101" pitchFamily="2" charset="-122"/>
            </a:endParaRPr>
          </a:p>
          <a:p>
            <a:pPr>
              <a:lnSpc>
                <a:spcPct val="120000"/>
              </a:lnSpc>
              <a:spcBef>
                <a:spcPts val="0"/>
              </a:spcBef>
              <a:buFont typeface="Wingdings" panose="05000000000000000000" charset="0"/>
            </a:pPr>
            <a:r>
              <a:rPr lang="zh-CN" altLang="en-US">
                <a:solidFill>
                  <a:srgbClr val="0000FF"/>
                </a:solidFill>
                <a:latin typeface="宋体" panose="02010600030101010101" pitchFamily="2" charset="-122"/>
                <a:cs typeface="宋体" panose="02010600030101010101" pitchFamily="2" charset="-122"/>
              </a:rPr>
              <a:t>（</a:t>
            </a:r>
            <a:r>
              <a:rPr lang="en-US" altLang="zh-CN">
                <a:solidFill>
                  <a:srgbClr val="0000FF"/>
                </a:solidFill>
                <a:latin typeface="宋体" panose="02010600030101010101" pitchFamily="2" charset="-122"/>
                <a:cs typeface="宋体" panose="02010600030101010101" pitchFamily="2" charset="-122"/>
              </a:rPr>
              <a:t>3</a:t>
            </a:r>
            <a:r>
              <a:rPr lang="zh-CN" altLang="en-US">
                <a:solidFill>
                  <a:srgbClr val="0000FF"/>
                </a:solidFill>
                <a:latin typeface="宋体" panose="02010600030101010101" pitchFamily="2" charset="-122"/>
                <a:cs typeface="宋体" panose="02010600030101010101" pitchFamily="2" charset="-122"/>
              </a:rPr>
              <a:t>）确定决策并写出状态转移方程：</a:t>
            </a:r>
            <a:r>
              <a:rPr lang="zh-CN" altLang="en-US">
                <a:solidFill>
                  <a:schemeClr val="bg2"/>
                </a:solidFill>
                <a:latin typeface="宋体" panose="02010600030101010101" pitchFamily="2" charset="-122"/>
                <a:cs typeface="宋体" panose="02010600030101010101" pitchFamily="2" charset="-122"/>
              </a:rPr>
              <a:t>根据问题所要求解的目标（决策）给出从上一个阶段到本阶段的状态转移方程。</a:t>
            </a:r>
            <a:endParaRPr lang="zh-CN" altLang="en-US">
              <a:solidFill>
                <a:srgbClr val="0000FF"/>
              </a:solidFill>
              <a:latin typeface="宋体" panose="02010600030101010101" pitchFamily="2" charset="-122"/>
              <a:cs typeface="宋体" panose="02010600030101010101" pitchFamily="2" charset="-122"/>
            </a:endParaRPr>
          </a:p>
          <a:p>
            <a:pPr>
              <a:lnSpc>
                <a:spcPct val="120000"/>
              </a:lnSpc>
              <a:spcBef>
                <a:spcPts val="0"/>
              </a:spcBef>
              <a:buFont typeface="Wingdings" panose="05000000000000000000" charset="0"/>
            </a:pPr>
            <a:r>
              <a:rPr lang="zh-CN" altLang="en-US">
                <a:solidFill>
                  <a:srgbClr val="0000FF"/>
                </a:solidFill>
                <a:latin typeface="宋体" panose="02010600030101010101" pitchFamily="2" charset="-122"/>
                <a:cs typeface="宋体" panose="02010600030101010101" pitchFamily="2" charset="-122"/>
              </a:rPr>
              <a:t>（</a:t>
            </a:r>
            <a:r>
              <a:rPr lang="en-US" altLang="zh-CN">
                <a:solidFill>
                  <a:srgbClr val="0000FF"/>
                </a:solidFill>
                <a:latin typeface="宋体" panose="02010600030101010101" pitchFamily="2" charset="-122"/>
                <a:cs typeface="宋体" panose="02010600030101010101" pitchFamily="2" charset="-122"/>
              </a:rPr>
              <a:t>4</a:t>
            </a:r>
            <a:r>
              <a:rPr lang="zh-CN" altLang="en-US">
                <a:solidFill>
                  <a:srgbClr val="0000FF"/>
                </a:solidFill>
                <a:latin typeface="宋体" panose="02010600030101010101" pitchFamily="2" charset="-122"/>
                <a:cs typeface="宋体" panose="02010600030101010101" pitchFamily="2" charset="-122"/>
              </a:rPr>
              <a:t>）寻找边界条件：</a:t>
            </a:r>
            <a:r>
              <a:rPr lang="zh-CN" altLang="en-US">
                <a:solidFill>
                  <a:schemeClr val="bg2"/>
                </a:solidFill>
                <a:latin typeface="宋体" panose="02010600030101010101" pitchFamily="2" charset="-122"/>
                <a:cs typeface="宋体" panose="02010600030101010101" pitchFamily="2" charset="-122"/>
              </a:rPr>
              <a:t>因为状态转移方程是一个递推式，因此需要一个终止条件（边界条件）。</a:t>
            </a:r>
            <a:endParaRPr lang="zh-CN" altLang="en-US">
              <a:solidFill>
                <a:schemeClr val="bg2"/>
              </a:solidFill>
              <a:latin typeface="宋体" panose="02010600030101010101" pitchFamily="2" charset="-122"/>
              <a:cs typeface="宋体" panose="02010600030101010101" pitchFamily="2" charset="-122"/>
            </a:endParaRPr>
          </a:p>
        </p:txBody>
      </p:sp>
      <p:sp>
        <p:nvSpPr>
          <p:cNvPr id="2" name="TextBox 1"/>
          <p:cNvSpPr txBox="1"/>
          <p:nvPr/>
        </p:nvSpPr>
        <p:spPr>
          <a:xfrm>
            <a:off x="214603" y="517821"/>
            <a:ext cx="5500726" cy="583565"/>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l"/>
            <a:r>
              <a:rPr lang="zh-CN" altLang="zh-CN" sz="3200" smtClean="0">
                <a:solidFill>
                  <a:schemeClr val="bg1"/>
                </a:solidFill>
                <a:latin typeface="Consolas" panose="020B0609020204030204" pitchFamily="49" charset="0"/>
                <a:ea typeface="微软雅黑" panose="020B0503020204020204" charset="-122"/>
                <a:cs typeface="Consolas" panose="020B0609020204030204" pitchFamily="49" charset="0"/>
              </a:rPr>
              <a:t>动态规划求解的基本步骤</a:t>
            </a:r>
            <a:endParaRPr lang="zh-CN" altLang="zh-CN" sz="3200" smtClean="0">
              <a:solidFill>
                <a:schemeClr val="bg1"/>
              </a:solidFill>
              <a:latin typeface="Consolas" panose="020B0609020204030204" pitchFamily="49" charset="0"/>
              <a:ea typeface="微软雅黑" panose="020B0503020204020204" charset="-122"/>
              <a:cs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1250">
                                            <p:txEl>
                                              <p:pRg st="1" end="1"/>
                                            </p:txEl>
                                          </p:spTgt>
                                        </p:tgtEl>
                                        <p:attrNameLst>
                                          <p:attrName>style.visibility</p:attrName>
                                        </p:attrNameLst>
                                      </p:cBhvr>
                                      <p:to>
                                        <p:strVal val="visible"/>
                                      </p:to>
                                    </p:set>
                                    <p:animEffect transition="in" filter="wipe(left)">
                                      <p:cBhvr>
                                        <p:cTn id="7" dur="500"/>
                                        <p:tgtEl>
                                          <p:spTgt spid="18125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1250">
                                            <p:txEl>
                                              <p:pRg st="2" end="2"/>
                                            </p:txEl>
                                          </p:spTgt>
                                        </p:tgtEl>
                                        <p:attrNameLst>
                                          <p:attrName>style.visibility</p:attrName>
                                        </p:attrNameLst>
                                      </p:cBhvr>
                                      <p:to>
                                        <p:strVal val="visible"/>
                                      </p:to>
                                    </p:set>
                                    <p:animEffect transition="in" filter="wipe(left)">
                                      <p:cBhvr>
                                        <p:cTn id="12" dur="500"/>
                                        <p:tgtEl>
                                          <p:spTgt spid="18125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1250">
                                            <p:txEl>
                                              <p:pRg st="3" end="3"/>
                                            </p:txEl>
                                          </p:spTgt>
                                        </p:tgtEl>
                                        <p:attrNameLst>
                                          <p:attrName>style.visibility</p:attrName>
                                        </p:attrNameLst>
                                      </p:cBhvr>
                                      <p:to>
                                        <p:strVal val="visible"/>
                                      </p:to>
                                    </p:set>
                                    <p:animEffect transition="in" filter="wipe(left)">
                                      <p:cBhvr>
                                        <p:cTn id="17" dur="500"/>
                                        <p:tgtEl>
                                          <p:spTgt spid="18125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1250">
                                            <p:txEl>
                                              <p:pRg st="4" end="4"/>
                                            </p:txEl>
                                          </p:spTgt>
                                        </p:tgtEl>
                                        <p:attrNameLst>
                                          <p:attrName>style.visibility</p:attrName>
                                        </p:attrNameLst>
                                      </p:cBhvr>
                                      <p:to>
                                        <p:strVal val="visible"/>
                                      </p:to>
                                    </p:set>
                                    <p:animEffect transition="in" filter="wipe(left)">
                                      <p:cBhvr>
                                        <p:cTn id="22" dur="500"/>
                                        <p:tgtEl>
                                          <p:spTgt spid="1812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3.1 </a:t>
            </a:r>
            <a:r>
              <a:rPr kumimoji="0" lang="zh-CN" altLang="en-US" kern="1200" dirty="0" smtClean="0">
                <a:solidFill>
                  <a:schemeClr val="accent2"/>
                </a:solidFill>
                <a:sym typeface="+mn-ea"/>
              </a:rPr>
              <a:t>动态规划的设计思想</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10" name="文本框 9"/>
          <p:cNvSpPr txBox="1"/>
          <p:nvPr/>
        </p:nvSpPr>
        <p:spPr>
          <a:xfrm>
            <a:off x="572135" y="1746250"/>
            <a:ext cx="8105775" cy="4078605"/>
          </a:xfrm>
          <a:prstGeom prst="rect">
            <a:avLst/>
          </a:prstGeom>
          <a:noFill/>
        </p:spPr>
        <p:txBody>
          <a:bodyPr wrap="square" rtlCol="0" anchor="t">
            <a:spAutoFit/>
          </a:bodyPr>
          <a:lstStyle/>
          <a:p>
            <a:pPr marL="342900" indent="-342900" algn="just">
              <a:lnSpc>
                <a:spcPct val="120000"/>
              </a:lnSpc>
              <a:spcBef>
                <a:spcPts val="0"/>
              </a:spcBef>
              <a:spcAft>
                <a:spcPts val="0"/>
              </a:spcAft>
              <a:buFont typeface="Wingdings" panose="05000000000000000000" charset="0"/>
              <a:buChar char="l"/>
            </a:pPr>
            <a:r>
              <a:rPr lang="zh-CN" altLang="en-US">
                <a:solidFill>
                  <a:schemeClr val="bg2"/>
                </a:solidFill>
              </a:rPr>
              <a:t>小结</a:t>
            </a:r>
            <a:endParaRPr lang="zh-CN" altLang="en-US">
              <a:solidFill>
                <a:schemeClr val="bg2"/>
              </a:solidFill>
            </a:endParaRPr>
          </a:p>
          <a:p>
            <a:pPr algn="just">
              <a:lnSpc>
                <a:spcPct val="120000"/>
              </a:lnSpc>
              <a:spcBef>
                <a:spcPts val="0"/>
              </a:spcBef>
              <a:spcAft>
                <a:spcPts val="0"/>
              </a:spcAft>
              <a:buFont typeface="Wingdings" panose="05000000000000000000" charset="0"/>
            </a:pPr>
            <a:r>
              <a:rPr lang="zh-CN" altLang="en-US">
                <a:solidFill>
                  <a:schemeClr val="bg2"/>
                </a:solidFill>
              </a:rPr>
              <a:t>（</a:t>
            </a:r>
            <a:r>
              <a:rPr lang="en-US" altLang="zh-CN">
                <a:solidFill>
                  <a:schemeClr val="bg2"/>
                </a:solidFill>
              </a:rPr>
              <a:t>1</a:t>
            </a:r>
            <a:r>
              <a:rPr lang="zh-CN" altLang="en-US">
                <a:solidFill>
                  <a:schemeClr val="bg2"/>
                </a:solidFill>
              </a:rPr>
              <a:t>）动态规划(Dynamic Programming)：求解过程是多阶段决策过程，每步处理一个子问题，可用于求解组合优化问题。</a:t>
            </a:r>
            <a:endParaRPr lang="zh-CN" altLang="en-US">
              <a:solidFill>
                <a:schemeClr val="bg2"/>
              </a:solidFill>
            </a:endParaRPr>
          </a:p>
          <a:p>
            <a:pPr algn="just">
              <a:lnSpc>
                <a:spcPct val="120000"/>
              </a:lnSpc>
              <a:spcBef>
                <a:spcPts val="0"/>
              </a:spcBef>
              <a:spcAft>
                <a:spcPts val="0"/>
              </a:spcAft>
              <a:buFont typeface="Wingdings" panose="05000000000000000000" charset="0"/>
            </a:pPr>
            <a:r>
              <a:rPr lang="zh-CN" altLang="en-US">
                <a:solidFill>
                  <a:schemeClr val="bg2"/>
                </a:solidFill>
              </a:rPr>
              <a:t>（</a:t>
            </a:r>
            <a:r>
              <a:rPr lang="en-US" altLang="zh-CN">
                <a:solidFill>
                  <a:schemeClr val="bg2"/>
                </a:solidFill>
              </a:rPr>
              <a:t>2</a:t>
            </a:r>
            <a:r>
              <a:rPr lang="zh-CN" altLang="en-US">
                <a:solidFill>
                  <a:schemeClr val="bg2"/>
                </a:solidFill>
              </a:rPr>
              <a:t>）</a:t>
            </a:r>
            <a:r>
              <a:rPr lang="zh-CN" altLang="en-US" noProof="0" dirty="0">
                <a:ln>
                  <a:noFill/>
                </a:ln>
                <a:solidFill>
                  <a:schemeClr val="bg2"/>
                </a:solidFill>
                <a:effectLst/>
                <a:uLnTx/>
                <a:uFillTx/>
                <a:latin typeface="宋体" panose="02010600030101010101" pitchFamily="2" charset="-122"/>
                <a:cs typeface="Times New Roman" panose="02020603050405020304" pitchFamily="18" charset="0"/>
                <a:sym typeface="+mn-ea"/>
              </a:rPr>
              <a:t>求解步骤：确定子问题的边界、从最小的子问题开始进行多步判断。</a:t>
            </a:r>
            <a:endParaRPr lang="zh-CN" altLang="en-US">
              <a:solidFill>
                <a:schemeClr val="bg2"/>
              </a:solidFill>
            </a:endParaRPr>
          </a:p>
          <a:p>
            <a:pPr algn="just">
              <a:lnSpc>
                <a:spcPct val="120000"/>
              </a:lnSpc>
              <a:spcBef>
                <a:spcPts val="0"/>
              </a:spcBef>
              <a:spcAft>
                <a:spcPts val="0"/>
              </a:spcAft>
              <a:buFont typeface="Wingdings" panose="05000000000000000000" charset="0"/>
            </a:pPr>
            <a:r>
              <a:rPr lang="zh-CN" altLang="en-US">
                <a:solidFill>
                  <a:schemeClr val="bg2"/>
                </a:solidFill>
              </a:rPr>
              <a:t>（</a:t>
            </a:r>
            <a:r>
              <a:rPr lang="en-US" altLang="zh-CN">
                <a:solidFill>
                  <a:schemeClr val="bg2"/>
                </a:solidFill>
              </a:rPr>
              <a:t>3</a:t>
            </a:r>
            <a:r>
              <a:rPr lang="zh-CN" altLang="en-US">
                <a:solidFill>
                  <a:schemeClr val="bg2"/>
                </a:solidFill>
              </a:rPr>
              <a:t>）适用条件：问题要满足优化原则或最优子结构性质，即：一个最优决策序列的任何子序列一定是相对于子序列的初始和结束状态的最优决策序列。</a:t>
            </a:r>
            <a:endParaRPr lang="zh-CN" altLang="en-US">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wipe(left)">
                                      <p:cBhvr>
                                        <p:cTn id="7" dur="5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wipe(left)">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animEffect transition="in" filter="wipe(left)">
                                      <p:cBhvr>
                                        <p:cTn id="17"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10"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3.2 </a:t>
            </a:r>
            <a:r>
              <a:rPr kumimoji="0" lang="zh-CN" altLang="en-US" kern="1200" dirty="0" smtClean="0">
                <a:solidFill>
                  <a:schemeClr val="accent2"/>
                </a:solidFill>
                <a:sym typeface="+mn-ea"/>
              </a:rPr>
              <a:t>动态规划算法设计</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10" name="文本框 9"/>
          <p:cNvSpPr txBox="1"/>
          <p:nvPr/>
        </p:nvSpPr>
        <p:spPr>
          <a:xfrm>
            <a:off x="500380" y="1602740"/>
            <a:ext cx="8058150" cy="534035"/>
          </a:xfrm>
          <a:prstGeom prst="rect">
            <a:avLst/>
          </a:prstGeom>
          <a:noFill/>
        </p:spPr>
        <p:txBody>
          <a:bodyPr wrap="square" rtlCol="0" anchor="t">
            <a:spAutoFit/>
          </a:bodyPr>
          <a:lstStyle/>
          <a:p>
            <a:pPr marL="342900" indent="-342900">
              <a:lnSpc>
                <a:spcPct val="120000"/>
              </a:lnSpc>
              <a:spcBef>
                <a:spcPts val="0"/>
              </a:spcBef>
              <a:spcAft>
                <a:spcPts val="0"/>
              </a:spcAft>
              <a:buFont typeface="Wingdings" panose="05000000000000000000" charset="0"/>
              <a:buChar char="n"/>
            </a:pPr>
            <a:r>
              <a:rPr lang="zh-CN" altLang="en-US">
                <a:solidFill>
                  <a:schemeClr val="bg2"/>
                </a:solidFill>
              </a:rPr>
              <a:t>动态规划算法的设计要素</a:t>
            </a:r>
            <a:endParaRPr lang="zh-CN" altLang="en-US">
              <a:solidFill>
                <a:schemeClr val="bg2"/>
              </a:solidFill>
            </a:endParaRPr>
          </a:p>
        </p:txBody>
      </p:sp>
      <p:sp>
        <p:nvSpPr>
          <p:cNvPr id="3" name="文本框 2"/>
          <p:cNvSpPr txBox="1"/>
          <p:nvPr/>
        </p:nvSpPr>
        <p:spPr>
          <a:xfrm>
            <a:off x="599440" y="2150110"/>
            <a:ext cx="8230870" cy="2968625"/>
          </a:xfrm>
          <a:prstGeom prst="rect">
            <a:avLst/>
          </a:prstGeom>
          <a:noFill/>
        </p:spPr>
        <p:txBody>
          <a:bodyPr wrap="square" rtlCol="0" anchor="t">
            <a:spAutoFit/>
          </a:bodyPr>
          <a:lstStyle/>
          <a:p>
            <a:pPr>
              <a:lnSpc>
                <a:spcPct val="130000"/>
              </a:lnSpc>
              <a:spcBef>
                <a:spcPts val="0"/>
              </a:spcBef>
              <a:spcAft>
                <a:spcPts val="0"/>
              </a:spcAft>
            </a:pPr>
            <a:r>
              <a:rPr lang="zh-CN" altLang="en-US">
                <a:solidFill>
                  <a:schemeClr val="bg2"/>
                </a:solidFill>
              </a:rPr>
              <a:t>1. 问题建模，优化的目标函数是什么？约束条件是什么？ </a:t>
            </a:r>
            <a:endParaRPr lang="zh-CN" altLang="en-US">
              <a:solidFill>
                <a:schemeClr val="bg2"/>
              </a:solidFill>
            </a:endParaRPr>
          </a:p>
          <a:p>
            <a:pPr>
              <a:lnSpc>
                <a:spcPct val="130000"/>
              </a:lnSpc>
              <a:spcBef>
                <a:spcPts val="0"/>
              </a:spcBef>
              <a:spcAft>
                <a:spcPts val="0"/>
              </a:spcAft>
            </a:pPr>
            <a:r>
              <a:rPr lang="zh-CN" altLang="en-US">
                <a:solidFill>
                  <a:schemeClr val="bg2"/>
                </a:solidFill>
              </a:rPr>
              <a:t>2. 如何划分子问题（边界）？</a:t>
            </a:r>
            <a:endParaRPr lang="zh-CN" altLang="en-US">
              <a:solidFill>
                <a:schemeClr val="bg2"/>
              </a:solidFill>
            </a:endParaRPr>
          </a:p>
          <a:p>
            <a:pPr>
              <a:lnSpc>
                <a:spcPct val="130000"/>
              </a:lnSpc>
              <a:spcBef>
                <a:spcPts val="0"/>
              </a:spcBef>
              <a:spcAft>
                <a:spcPts val="0"/>
              </a:spcAft>
            </a:pPr>
            <a:r>
              <a:rPr lang="zh-CN" altLang="en-US">
                <a:solidFill>
                  <a:schemeClr val="bg2"/>
                </a:solidFill>
              </a:rPr>
              <a:t>3. 问题的优化函数值与子问题的优化函数值存在着什么依赖关系？ (递推方程)</a:t>
            </a:r>
            <a:endParaRPr lang="zh-CN" altLang="en-US">
              <a:solidFill>
                <a:schemeClr val="bg2"/>
              </a:solidFill>
            </a:endParaRPr>
          </a:p>
          <a:p>
            <a:pPr>
              <a:lnSpc>
                <a:spcPct val="130000"/>
              </a:lnSpc>
              <a:spcBef>
                <a:spcPts val="0"/>
              </a:spcBef>
              <a:spcAft>
                <a:spcPts val="0"/>
              </a:spcAft>
            </a:pPr>
            <a:r>
              <a:rPr lang="zh-CN" altLang="en-US">
                <a:solidFill>
                  <a:schemeClr val="bg2"/>
                </a:solidFill>
              </a:rPr>
              <a:t>4. 是否满足优化原则？</a:t>
            </a:r>
            <a:endParaRPr lang="zh-CN" altLang="en-US">
              <a:solidFill>
                <a:schemeClr val="bg2"/>
              </a:solidFill>
            </a:endParaRPr>
          </a:p>
          <a:p>
            <a:pPr>
              <a:lnSpc>
                <a:spcPct val="130000"/>
              </a:lnSpc>
              <a:spcBef>
                <a:spcPts val="0"/>
              </a:spcBef>
              <a:spcAft>
                <a:spcPts val="0"/>
              </a:spcAft>
            </a:pPr>
            <a:r>
              <a:rPr lang="zh-CN" altLang="en-US">
                <a:solidFill>
                  <a:schemeClr val="bg2"/>
                </a:solidFill>
              </a:rPr>
              <a:t>5. 最小子问题怎样界定？其优化函数值，即初值等于什么？</a:t>
            </a:r>
            <a:endParaRPr lang="zh-CN" altLang="en-US">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3.2 </a:t>
            </a:r>
            <a:r>
              <a:rPr kumimoji="0" lang="zh-CN" altLang="en-US" kern="1200" dirty="0" smtClean="0">
                <a:solidFill>
                  <a:schemeClr val="accent2"/>
                </a:solidFill>
                <a:sym typeface="+mn-ea"/>
              </a:rPr>
              <a:t>动态规划算法设计</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10" name="文本框 9"/>
          <p:cNvSpPr txBox="1"/>
          <p:nvPr/>
        </p:nvSpPr>
        <p:spPr>
          <a:xfrm>
            <a:off x="500380" y="1602740"/>
            <a:ext cx="8058150" cy="534035"/>
          </a:xfrm>
          <a:prstGeom prst="rect">
            <a:avLst/>
          </a:prstGeom>
          <a:noFill/>
        </p:spPr>
        <p:txBody>
          <a:bodyPr wrap="square" rtlCol="0" anchor="t">
            <a:spAutoFit/>
          </a:bodyPr>
          <a:lstStyle/>
          <a:p>
            <a:pPr marL="342900" indent="-342900">
              <a:lnSpc>
                <a:spcPct val="120000"/>
              </a:lnSpc>
              <a:spcBef>
                <a:spcPts val="0"/>
              </a:spcBef>
              <a:spcAft>
                <a:spcPts val="0"/>
              </a:spcAft>
              <a:buFont typeface="Wingdings" panose="05000000000000000000" charset="0"/>
              <a:buChar char="n"/>
            </a:pPr>
            <a:r>
              <a:rPr lang="zh-CN" altLang="en-US">
                <a:solidFill>
                  <a:schemeClr val="bg2"/>
                </a:solidFill>
              </a:rPr>
              <a:t>举例：矩阵链相乘</a:t>
            </a:r>
            <a:endParaRPr lang="zh-CN" altLang="en-US">
              <a:solidFill>
                <a:schemeClr val="bg2"/>
              </a:solidFill>
            </a:endParaRPr>
          </a:p>
        </p:txBody>
      </p:sp>
      <p:pic>
        <p:nvPicPr>
          <p:cNvPr id="4" name="20 3"/>
          <p:cNvPicPr>
            <a:picLocks noChangeAspect="1"/>
          </p:cNvPicPr>
          <p:nvPr/>
        </p:nvPicPr>
        <p:blipFill>
          <a:blip r:embed="rId1"/>
          <a:stretch>
            <a:fillRect/>
          </a:stretch>
        </p:blipFill>
        <p:spPr>
          <a:xfrm>
            <a:off x="1223645" y="2208530"/>
            <a:ext cx="5287010" cy="1551940"/>
          </a:xfrm>
          <a:prstGeom prst="rect">
            <a:avLst/>
          </a:prstGeom>
        </p:spPr>
      </p:pic>
      <p:pic>
        <p:nvPicPr>
          <p:cNvPr id="5" name="20 4"/>
          <p:cNvPicPr>
            <a:picLocks noChangeAspect="1"/>
          </p:cNvPicPr>
          <p:nvPr/>
        </p:nvPicPr>
        <p:blipFill>
          <a:blip r:embed="rId2"/>
          <a:stretch>
            <a:fillRect/>
          </a:stretch>
        </p:blipFill>
        <p:spPr>
          <a:xfrm>
            <a:off x="1223645" y="3780155"/>
            <a:ext cx="5142865" cy="1711325"/>
          </a:xfrm>
          <a:prstGeom prst="rect">
            <a:avLst/>
          </a:prstGeom>
        </p:spPr>
      </p:pic>
      <p:pic>
        <p:nvPicPr>
          <p:cNvPr id="6" name="20 5"/>
          <p:cNvPicPr>
            <a:picLocks noChangeAspect="1"/>
          </p:cNvPicPr>
          <p:nvPr/>
        </p:nvPicPr>
        <p:blipFill>
          <a:blip r:embed="rId3"/>
          <a:stretch>
            <a:fillRect/>
          </a:stretch>
        </p:blipFill>
        <p:spPr>
          <a:xfrm>
            <a:off x="1151890" y="5628005"/>
            <a:ext cx="4782185" cy="379095"/>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3.2 </a:t>
            </a:r>
            <a:r>
              <a:rPr kumimoji="0" lang="zh-CN" altLang="en-US" kern="1200" dirty="0" smtClean="0">
                <a:solidFill>
                  <a:schemeClr val="accent2"/>
                </a:solidFill>
                <a:sym typeface="+mn-ea"/>
              </a:rPr>
              <a:t>动态规划算法设计</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10" name="文本框 9"/>
          <p:cNvSpPr txBox="1"/>
          <p:nvPr/>
        </p:nvSpPr>
        <p:spPr>
          <a:xfrm>
            <a:off x="500380" y="1602740"/>
            <a:ext cx="8058150" cy="534035"/>
          </a:xfrm>
          <a:prstGeom prst="rect">
            <a:avLst/>
          </a:prstGeom>
          <a:noFill/>
        </p:spPr>
        <p:txBody>
          <a:bodyPr wrap="square" rtlCol="0" anchor="t">
            <a:spAutoFit/>
          </a:bodyPr>
          <a:lstStyle/>
          <a:p>
            <a:pPr marL="342900" indent="-342900">
              <a:lnSpc>
                <a:spcPct val="120000"/>
              </a:lnSpc>
              <a:spcBef>
                <a:spcPts val="0"/>
              </a:spcBef>
              <a:spcAft>
                <a:spcPts val="0"/>
              </a:spcAft>
              <a:buFont typeface="Wingdings" panose="05000000000000000000" charset="0"/>
              <a:buChar char="Ø"/>
            </a:pPr>
            <a:r>
              <a:rPr lang="zh-CN" altLang="en-US">
                <a:solidFill>
                  <a:schemeClr val="bg2"/>
                </a:solidFill>
              </a:rPr>
              <a:t>矩阵相乘基本运算次数</a:t>
            </a:r>
            <a:endParaRPr lang="zh-CN" altLang="en-US">
              <a:solidFill>
                <a:schemeClr val="bg2"/>
              </a:solidFill>
            </a:endParaRPr>
          </a:p>
        </p:txBody>
      </p:sp>
      <p:pic>
        <p:nvPicPr>
          <p:cNvPr id="7" name="20 6"/>
          <p:cNvPicPr>
            <a:picLocks noChangeAspect="1"/>
          </p:cNvPicPr>
          <p:nvPr/>
        </p:nvPicPr>
        <p:blipFill>
          <a:blip r:embed="rId1"/>
          <a:stretch>
            <a:fillRect/>
          </a:stretch>
        </p:blipFill>
        <p:spPr>
          <a:xfrm>
            <a:off x="1290320" y="2136775"/>
            <a:ext cx="5393690" cy="916305"/>
          </a:xfrm>
          <a:prstGeom prst="rect">
            <a:avLst/>
          </a:prstGeom>
        </p:spPr>
      </p:pic>
      <p:pic>
        <p:nvPicPr>
          <p:cNvPr id="8" name="20 7"/>
          <p:cNvPicPr>
            <a:picLocks noChangeAspect="1"/>
          </p:cNvPicPr>
          <p:nvPr/>
        </p:nvPicPr>
        <p:blipFill>
          <a:blip r:embed="rId2"/>
          <a:stretch>
            <a:fillRect/>
          </a:stretch>
        </p:blipFill>
        <p:spPr>
          <a:xfrm>
            <a:off x="1459865" y="3178175"/>
            <a:ext cx="5098415" cy="2004060"/>
          </a:xfrm>
          <a:prstGeom prst="rect">
            <a:avLst/>
          </a:prstGeom>
        </p:spPr>
      </p:pic>
      <p:pic>
        <p:nvPicPr>
          <p:cNvPr id="9" name="20 8"/>
          <p:cNvPicPr>
            <a:picLocks noChangeAspect="1"/>
          </p:cNvPicPr>
          <p:nvPr/>
        </p:nvPicPr>
        <p:blipFill>
          <a:blip r:embed="rId3"/>
          <a:stretch>
            <a:fillRect/>
          </a:stretch>
        </p:blipFill>
        <p:spPr>
          <a:xfrm>
            <a:off x="1227455" y="5182235"/>
            <a:ext cx="5456555" cy="866140"/>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3.2 </a:t>
            </a:r>
            <a:r>
              <a:rPr kumimoji="0" lang="zh-CN" altLang="en-US" kern="1200" dirty="0" smtClean="0">
                <a:solidFill>
                  <a:schemeClr val="accent2"/>
                </a:solidFill>
                <a:sym typeface="+mn-ea"/>
              </a:rPr>
              <a:t>动态规划算法设计</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pic>
        <p:nvPicPr>
          <p:cNvPr id="3" name="20 2"/>
          <p:cNvPicPr>
            <a:picLocks noChangeAspect="1"/>
          </p:cNvPicPr>
          <p:nvPr/>
        </p:nvPicPr>
        <p:blipFill>
          <a:blip r:embed="rId1"/>
          <a:stretch>
            <a:fillRect/>
          </a:stretch>
        </p:blipFill>
        <p:spPr>
          <a:xfrm>
            <a:off x="2377440" y="1725930"/>
            <a:ext cx="1124585" cy="523875"/>
          </a:xfrm>
          <a:prstGeom prst="rect">
            <a:avLst/>
          </a:prstGeom>
        </p:spPr>
      </p:pic>
      <p:pic>
        <p:nvPicPr>
          <p:cNvPr id="4" name="20 3"/>
          <p:cNvPicPr>
            <a:picLocks noChangeAspect="1"/>
          </p:cNvPicPr>
          <p:nvPr/>
        </p:nvPicPr>
        <p:blipFill>
          <a:blip r:embed="rId2"/>
          <a:stretch>
            <a:fillRect/>
          </a:stretch>
        </p:blipFill>
        <p:spPr>
          <a:xfrm>
            <a:off x="1014730" y="2321560"/>
            <a:ext cx="5022215" cy="1049020"/>
          </a:xfrm>
          <a:prstGeom prst="rect">
            <a:avLst/>
          </a:prstGeom>
        </p:spPr>
      </p:pic>
      <p:pic>
        <p:nvPicPr>
          <p:cNvPr id="5" name="20 4"/>
          <p:cNvPicPr>
            <a:picLocks noChangeAspect="1"/>
          </p:cNvPicPr>
          <p:nvPr/>
        </p:nvPicPr>
        <p:blipFill>
          <a:blip r:embed="rId3"/>
          <a:stretch>
            <a:fillRect/>
          </a:stretch>
        </p:blipFill>
        <p:spPr>
          <a:xfrm>
            <a:off x="1014730" y="3640455"/>
            <a:ext cx="5810885" cy="1543685"/>
          </a:xfrm>
          <a:prstGeom prst="rect">
            <a:avLst/>
          </a:prstGeom>
        </p:spPr>
      </p:pic>
      <p:sp>
        <p:nvSpPr>
          <p:cNvPr id="6" name="文本框 5"/>
          <p:cNvSpPr txBox="1"/>
          <p:nvPr/>
        </p:nvSpPr>
        <p:spPr>
          <a:xfrm>
            <a:off x="1113155" y="5542915"/>
            <a:ext cx="5874385" cy="460375"/>
          </a:xfrm>
          <a:prstGeom prst="rect">
            <a:avLst/>
          </a:prstGeom>
          <a:noFill/>
        </p:spPr>
        <p:txBody>
          <a:bodyPr wrap="square" rtlCol="0" anchor="t">
            <a:spAutoFit/>
          </a:bodyPr>
          <a:lstStyle/>
          <a:p>
            <a:r>
              <a:rPr lang="zh-CN" altLang="en-US">
                <a:solidFill>
                  <a:schemeClr val="bg2"/>
                </a:solidFill>
              </a:rPr>
              <a:t>第一种次序计算次数（</a:t>
            </a:r>
            <a:r>
              <a:rPr lang="zh-CN" altLang="en-US">
                <a:solidFill>
                  <a:schemeClr val="bg2"/>
                </a:solidFill>
                <a:sym typeface="+mn-ea"/>
              </a:rPr>
              <a:t>乘法</a:t>
            </a:r>
            <a:r>
              <a:rPr lang="zh-CN" altLang="en-US">
                <a:solidFill>
                  <a:schemeClr val="bg2"/>
                </a:solidFill>
              </a:rPr>
              <a:t>）最少</a:t>
            </a:r>
            <a:endParaRPr lang="zh-CN" altLang="en-US">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3.2 </a:t>
            </a:r>
            <a:r>
              <a:rPr kumimoji="0" lang="zh-CN" altLang="en-US" kern="1200" dirty="0" smtClean="0">
                <a:solidFill>
                  <a:schemeClr val="accent2"/>
                </a:solidFill>
                <a:sym typeface="+mn-ea"/>
              </a:rPr>
              <a:t>动态规划算法设计</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6" name="文本框 5"/>
          <p:cNvSpPr txBox="1"/>
          <p:nvPr/>
        </p:nvSpPr>
        <p:spPr>
          <a:xfrm>
            <a:off x="704215" y="1751965"/>
            <a:ext cx="5874385" cy="460375"/>
          </a:xfrm>
          <a:prstGeom prst="rect">
            <a:avLst/>
          </a:prstGeom>
          <a:noFill/>
        </p:spPr>
        <p:txBody>
          <a:bodyPr wrap="square" rtlCol="0" anchor="t">
            <a:spAutoFit/>
          </a:bodyPr>
          <a:lstStyle/>
          <a:p>
            <a:pPr marL="342900" indent="-342900">
              <a:buFont typeface="Wingdings" panose="05000000000000000000" charset="0"/>
              <a:buChar char="Ø"/>
            </a:pPr>
            <a:r>
              <a:rPr lang="zh-CN" altLang="en-US">
                <a:solidFill>
                  <a:schemeClr val="bg2"/>
                </a:solidFill>
              </a:rPr>
              <a:t>蛮力算法的时间复杂度分析</a:t>
            </a:r>
            <a:endParaRPr lang="zh-CN" altLang="en-US">
              <a:solidFill>
                <a:schemeClr val="bg2"/>
              </a:solidFill>
            </a:endParaRPr>
          </a:p>
        </p:txBody>
      </p:sp>
      <p:pic>
        <p:nvPicPr>
          <p:cNvPr id="7" name="20 6"/>
          <p:cNvPicPr>
            <a:picLocks noChangeAspect="1"/>
          </p:cNvPicPr>
          <p:nvPr/>
        </p:nvPicPr>
        <p:blipFill>
          <a:blip r:embed="rId1"/>
          <a:stretch>
            <a:fillRect/>
          </a:stretch>
        </p:blipFill>
        <p:spPr>
          <a:xfrm>
            <a:off x="1184275" y="2230120"/>
            <a:ext cx="5233035" cy="1245235"/>
          </a:xfrm>
          <a:prstGeom prst="rect">
            <a:avLst/>
          </a:prstGeom>
        </p:spPr>
      </p:pic>
      <p:pic>
        <p:nvPicPr>
          <p:cNvPr id="8" name="20 7"/>
          <p:cNvPicPr>
            <a:picLocks noChangeAspect="1"/>
          </p:cNvPicPr>
          <p:nvPr/>
        </p:nvPicPr>
        <p:blipFill>
          <a:blip r:embed="rId2"/>
          <a:stretch>
            <a:fillRect/>
          </a:stretch>
        </p:blipFill>
        <p:spPr>
          <a:xfrm>
            <a:off x="1184275" y="3547110"/>
            <a:ext cx="6284595" cy="2763520"/>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3.2 </a:t>
            </a:r>
            <a:r>
              <a:rPr kumimoji="0" lang="zh-CN" altLang="en-US" kern="1200" dirty="0" smtClean="0">
                <a:solidFill>
                  <a:schemeClr val="accent2"/>
                </a:solidFill>
                <a:sym typeface="+mn-ea"/>
              </a:rPr>
              <a:t>动态规划算法设计</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6" name="文本框 5"/>
          <p:cNvSpPr txBox="1"/>
          <p:nvPr/>
        </p:nvSpPr>
        <p:spPr>
          <a:xfrm>
            <a:off x="560705" y="1680210"/>
            <a:ext cx="5874385" cy="460375"/>
          </a:xfrm>
          <a:prstGeom prst="rect">
            <a:avLst/>
          </a:prstGeom>
          <a:noFill/>
        </p:spPr>
        <p:txBody>
          <a:bodyPr wrap="square" rtlCol="0" anchor="t">
            <a:spAutoFit/>
          </a:bodyPr>
          <a:lstStyle/>
          <a:p>
            <a:pPr marL="342900" indent="-342900">
              <a:buFont typeface="Wingdings" panose="05000000000000000000" charset="0"/>
              <a:buChar char="Ø"/>
            </a:pPr>
            <a:r>
              <a:rPr lang="zh-CN" altLang="en-US" dirty="0" smtClean="0">
                <a:solidFill>
                  <a:schemeClr val="bg2"/>
                </a:solidFill>
                <a:sym typeface="+mn-ea"/>
              </a:rPr>
              <a:t>动态规划</a:t>
            </a:r>
            <a:r>
              <a:rPr lang="zh-CN" altLang="en-US">
                <a:solidFill>
                  <a:schemeClr val="bg2"/>
                </a:solidFill>
              </a:rPr>
              <a:t>算法实现</a:t>
            </a:r>
            <a:endParaRPr lang="zh-CN" altLang="en-US">
              <a:solidFill>
                <a:schemeClr val="bg2"/>
              </a:solidFill>
            </a:endParaRPr>
          </a:p>
        </p:txBody>
      </p:sp>
      <p:pic>
        <p:nvPicPr>
          <p:cNvPr id="3" name="20 2"/>
          <p:cNvPicPr>
            <a:picLocks noChangeAspect="1"/>
          </p:cNvPicPr>
          <p:nvPr/>
        </p:nvPicPr>
        <p:blipFill>
          <a:blip r:embed="rId1"/>
          <a:stretch>
            <a:fillRect/>
          </a:stretch>
        </p:blipFill>
        <p:spPr>
          <a:xfrm>
            <a:off x="1251585" y="2212340"/>
            <a:ext cx="5183505" cy="1613535"/>
          </a:xfrm>
          <a:prstGeom prst="rect">
            <a:avLst/>
          </a:prstGeom>
        </p:spPr>
      </p:pic>
      <p:pic>
        <p:nvPicPr>
          <p:cNvPr id="4" name="20 3"/>
          <p:cNvPicPr>
            <a:picLocks noChangeAspect="1"/>
          </p:cNvPicPr>
          <p:nvPr/>
        </p:nvPicPr>
        <p:blipFill>
          <a:blip r:embed="rId2"/>
          <a:stretch>
            <a:fillRect/>
          </a:stretch>
        </p:blipFill>
        <p:spPr>
          <a:xfrm>
            <a:off x="1251585" y="3935095"/>
            <a:ext cx="5322570" cy="2456815"/>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3.2 </a:t>
            </a:r>
            <a:r>
              <a:rPr kumimoji="0" lang="zh-CN" altLang="en-US" kern="1200" dirty="0" smtClean="0">
                <a:solidFill>
                  <a:schemeClr val="accent2"/>
                </a:solidFill>
                <a:sym typeface="+mn-ea"/>
              </a:rPr>
              <a:t>动态规划算法设计</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5" name="文本框 4"/>
          <p:cNvSpPr txBox="1"/>
          <p:nvPr/>
        </p:nvSpPr>
        <p:spPr>
          <a:xfrm>
            <a:off x="506730" y="1708150"/>
            <a:ext cx="4191635" cy="460375"/>
          </a:xfrm>
          <a:prstGeom prst="rect">
            <a:avLst/>
          </a:prstGeom>
          <a:noFill/>
        </p:spPr>
        <p:txBody>
          <a:bodyPr wrap="square" rtlCol="0" anchor="t">
            <a:spAutoFit/>
          </a:bodyPr>
          <a:lstStyle/>
          <a:p>
            <a:pPr marL="342900" indent="-342900">
              <a:buFont typeface="Wingdings" panose="05000000000000000000" charset="0"/>
              <a:buChar char="Ø"/>
            </a:pPr>
            <a:r>
              <a:rPr lang="zh-CN" altLang="en-US">
                <a:solidFill>
                  <a:schemeClr val="bg2"/>
                </a:solidFill>
              </a:rPr>
              <a:t>优化函数的递推方程</a:t>
            </a:r>
            <a:endParaRPr lang="zh-CN" altLang="en-US">
              <a:solidFill>
                <a:schemeClr val="bg2"/>
              </a:solidFill>
            </a:endParaRPr>
          </a:p>
        </p:txBody>
      </p:sp>
      <p:pic>
        <p:nvPicPr>
          <p:cNvPr id="7" name="20 6"/>
          <p:cNvPicPr>
            <a:picLocks noChangeAspect="1"/>
          </p:cNvPicPr>
          <p:nvPr/>
        </p:nvPicPr>
        <p:blipFill>
          <a:blip r:embed="rId1"/>
          <a:stretch>
            <a:fillRect/>
          </a:stretch>
        </p:blipFill>
        <p:spPr>
          <a:xfrm>
            <a:off x="1363345" y="2168525"/>
            <a:ext cx="4529455" cy="828040"/>
          </a:xfrm>
          <a:prstGeom prst="rect">
            <a:avLst/>
          </a:prstGeom>
        </p:spPr>
      </p:pic>
      <p:pic>
        <p:nvPicPr>
          <p:cNvPr id="8" name="20 7"/>
          <p:cNvPicPr>
            <a:picLocks noChangeAspect="1"/>
          </p:cNvPicPr>
          <p:nvPr/>
        </p:nvPicPr>
        <p:blipFill>
          <a:blip r:embed="rId2"/>
          <a:stretch>
            <a:fillRect/>
          </a:stretch>
        </p:blipFill>
        <p:spPr>
          <a:xfrm>
            <a:off x="1363345" y="2917190"/>
            <a:ext cx="5421630" cy="1527175"/>
          </a:xfrm>
          <a:prstGeom prst="rect">
            <a:avLst/>
          </a:prstGeom>
        </p:spPr>
      </p:pic>
      <p:pic>
        <p:nvPicPr>
          <p:cNvPr id="9" name="20 8"/>
          <p:cNvPicPr>
            <a:picLocks noChangeAspect="1"/>
          </p:cNvPicPr>
          <p:nvPr/>
        </p:nvPicPr>
        <p:blipFill>
          <a:blip r:embed="rId3"/>
          <a:stretch>
            <a:fillRect/>
          </a:stretch>
        </p:blipFill>
        <p:spPr>
          <a:xfrm>
            <a:off x="1245870" y="4363085"/>
            <a:ext cx="3899535" cy="929005"/>
          </a:xfrm>
          <a:prstGeom prst="rect">
            <a:avLst/>
          </a:prstGeom>
        </p:spPr>
      </p:pic>
      <p:sp>
        <p:nvSpPr>
          <p:cNvPr id="10" name="文本框 9"/>
          <p:cNvSpPr txBox="1"/>
          <p:nvPr/>
        </p:nvSpPr>
        <p:spPr>
          <a:xfrm>
            <a:off x="5210175" y="4516120"/>
            <a:ext cx="3074035" cy="460375"/>
          </a:xfrm>
          <a:prstGeom prst="rect">
            <a:avLst/>
          </a:prstGeom>
          <a:solidFill>
            <a:schemeClr val="tx1"/>
          </a:solidFill>
        </p:spPr>
        <p:txBody>
          <a:bodyPr wrap="square" rtlCol="0" anchor="t">
            <a:spAutoFit/>
          </a:bodyPr>
          <a:lstStyle/>
          <a:p>
            <a:r>
              <a:rPr lang="zh-CN" altLang="en-US" b="1">
                <a:solidFill>
                  <a:schemeClr val="bg2"/>
                </a:solidFill>
              </a:rPr>
              <a:t>该问题满足优化原则</a:t>
            </a:r>
            <a:endParaRPr lang="zh-CN" altLang="en-US" b="1">
              <a:solidFill>
                <a:schemeClr val="bg2"/>
              </a:solidFill>
            </a:endParaRPr>
          </a:p>
        </p:txBody>
      </p:sp>
      <p:sp>
        <p:nvSpPr>
          <p:cNvPr id="11" name="文本框 10"/>
          <p:cNvSpPr txBox="1"/>
          <p:nvPr/>
        </p:nvSpPr>
        <p:spPr>
          <a:xfrm>
            <a:off x="1068070" y="5326380"/>
            <a:ext cx="7431405" cy="829945"/>
          </a:xfrm>
          <a:prstGeom prst="rect">
            <a:avLst/>
          </a:prstGeom>
          <a:solidFill>
            <a:schemeClr val="tx1"/>
          </a:solidFill>
        </p:spPr>
        <p:txBody>
          <a:bodyPr wrap="square" rtlCol="0" anchor="t">
            <a:spAutoFit/>
          </a:bodyPr>
          <a:lstStyle/>
          <a:p>
            <a:pPr>
              <a:spcBef>
                <a:spcPts val="600"/>
              </a:spcBef>
            </a:pPr>
            <a:r>
              <a:rPr lang="zh-CN" altLang="en-US" b="1" dirty="0">
                <a:solidFill>
                  <a:schemeClr val="bg2"/>
                </a:solidFill>
                <a:sym typeface="+mn-ea"/>
              </a:rPr>
              <a:t>设立标记函数：为了确定加括号的次序，设计表 </a:t>
            </a:r>
            <a:r>
              <a:rPr lang="en-US" altLang="zh-CN" b="1" i="1" dirty="0">
                <a:solidFill>
                  <a:schemeClr val="bg2"/>
                </a:solidFill>
                <a:sym typeface="+mn-ea"/>
              </a:rPr>
              <a:t>s</a:t>
            </a:r>
            <a:r>
              <a:rPr lang="en-US" altLang="zh-CN" b="1" dirty="0">
                <a:solidFill>
                  <a:schemeClr val="bg2"/>
                </a:solidFill>
                <a:sym typeface="+mn-ea"/>
              </a:rPr>
              <a:t>[</a:t>
            </a:r>
            <a:r>
              <a:rPr lang="en-US" altLang="zh-CN" b="1" i="1" dirty="0">
                <a:solidFill>
                  <a:schemeClr val="bg2"/>
                </a:solidFill>
                <a:sym typeface="+mn-ea"/>
              </a:rPr>
              <a:t>i</a:t>
            </a:r>
            <a:r>
              <a:rPr lang="en-US" altLang="zh-CN" b="1" dirty="0">
                <a:solidFill>
                  <a:schemeClr val="bg2"/>
                </a:solidFill>
                <a:sym typeface="+mn-ea"/>
              </a:rPr>
              <a:t>,</a:t>
            </a:r>
            <a:r>
              <a:rPr lang="en-US" altLang="zh-CN" b="1" i="1" dirty="0">
                <a:solidFill>
                  <a:schemeClr val="bg2"/>
                </a:solidFill>
                <a:sym typeface="+mn-ea"/>
              </a:rPr>
              <a:t>j</a:t>
            </a:r>
            <a:r>
              <a:rPr lang="en-US" altLang="zh-CN" b="1" dirty="0">
                <a:solidFill>
                  <a:schemeClr val="bg2"/>
                </a:solidFill>
                <a:sym typeface="+mn-ea"/>
              </a:rPr>
              <a:t>],</a:t>
            </a:r>
            <a:r>
              <a:rPr lang="zh-CN" altLang="en-US" b="1" dirty="0">
                <a:solidFill>
                  <a:schemeClr val="bg2"/>
                </a:solidFill>
                <a:sym typeface="+mn-ea"/>
              </a:rPr>
              <a:t>记录求得最优</a:t>
            </a:r>
            <a:r>
              <a:rPr lang="en-US" altLang="zh-CN" b="1" i="1" dirty="0">
                <a:solidFill>
                  <a:schemeClr val="bg2"/>
                </a:solidFill>
                <a:sym typeface="+mn-ea"/>
              </a:rPr>
              <a:t>m</a:t>
            </a:r>
            <a:r>
              <a:rPr lang="en-US" altLang="zh-CN" b="1" dirty="0">
                <a:solidFill>
                  <a:schemeClr val="bg2"/>
                </a:solidFill>
                <a:sym typeface="+mn-ea"/>
              </a:rPr>
              <a:t>[</a:t>
            </a:r>
            <a:r>
              <a:rPr lang="en-US" altLang="zh-CN" b="1" i="1" dirty="0">
                <a:solidFill>
                  <a:schemeClr val="bg2"/>
                </a:solidFill>
                <a:sym typeface="+mn-ea"/>
              </a:rPr>
              <a:t>i</a:t>
            </a:r>
            <a:r>
              <a:rPr lang="en-US" altLang="zh-CN" b="1" dirty="0">
                <a:solidFill>
                  <a:schemeClr val="bg2"/>
                </a:solidFill>
                <a:sym typeface="+mn-ea"/>
              </a:rPr>
              <a:t>,</a:t>
            </a:r>
            <a:r>
              <a:rPr lang="en-US" altLang="zh-CN" b="1" i="1" dirty="0">
                <a:solidFill>
                  <a:schemeClr val="bg2"/>
                </a:solidFill>
                <a:sym typeface="+mn-ea"/>
              </a:rPr>
              <a:t>j</a:t>
            </a:r>
            <a:r>
              <a:rPr lang="en-US" altLang="zh-CN" b="1" dirty="0">
                <a:solidFill>
                  <a:schemeClr val="bg2"/>
                </a:solidFill>
                <a:sym typeface="+mn-ea"/>
              </a:rPr>
              <a:t>]</a:t>
            </a:r>
            <a:r>
              <a:rPr lang="zh-CN" altLang="en-US" b="1" dirty="0">
                <a:solidFill>
                  <a:schemeClr val="bg2"/>
                </a:solidFill>
                <a:sym typeface="+mn-ea"/>
              </a:rPr>
              <a:t>时的划分位置</a:t>
            </a:r>
            <a:r>
              <a:rPr lang="en-US" altLang="zh-CN" b="1" i="1" dirty="0">
                <a:solidFill>
                  <a:schemeClr val="bg2"/>
                </a:solidFill>
                <a:sym typeface="+mn-ea"/>
              </a:rPr>
              <a:t>k</a:t>
            </a:r>
            <a:r>
              <a:rPr lang="zh-CN" altLang="en-US" b="1" dirty="0">
                <a:solidFill>
                  <a:schemeClr val="bg2"/>
                </a:solidFill>
                <a:sym typeface="+mn-ea"/>
              </a:rPr>
              <a:t>。</a:t>
            </a:r>
            <a:endParaRPr lang="zh-CN" altLang="en-US" b="1" dirty="0">
              <a:solidFill>
                <a:schemeClr val="bg2"/>
              </a:solidFill>
              <a:sym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1" grpId="0" animBg="1"/>
      <p:bldP spid="11"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3.2 </a:t>
            </a:r>
            <a:r>
              <a:rPr kumimoji="0" lang="zh-CN" altLang="en-US" kern="1200" dirty="0" smtClean="0">
                <a:solidFill>
                  <a:schemeClr val="accent2"/>
                </a:solidFill>
                <a:sym typeface="+mn-ea"/>
              </a:rPr>
              <a:t>动态规划算法设计</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10" name="文本框 9"/>
          <p:cNvSpPr txBox="1"/>
          <p:nvPr/>
        </p:nvSpPr>
        <p:spPr>
          <a:xfrm>
            <a:off x="572135" y="1602740"/>
            <a:ext cx="7707630" cy="977265"/>
          </a:xfrm>
          <a:prstGeom prst="rect">
            <a:avLst/>
          </a:prstGeom>
          <a:noFill/>
        </p:spPr>
        <p:txBody>
          <a:bodyPr wrap="square" rtlCol="0" anchor="t">
            <a:spAutoFit/>
          </a:bodyPr>
          <a:lstStyle/>
          <a:p>
            <a:pPr marL="342900" indent="-342900" algn="just">
              <a:lnSpc>
                <a:spcPct val="120000"/>
              </a:lnSpc>
              <a:spcBef>
                <a:spcPts val="0"/>
              </a:spcBef>
              <a:spcAft>
                <a:spcPts val="0"/>
              </a:spcAft>
              <a:buFont typeface="Wingdings" panose="05000000000000000000" charset="0"/>
              <a:buChar char="n"/>
            </a:pPr>
            <a:r>
              <a:rPr lang="zh-CN" altLang="en-US">
                <a:solidFill>
                  <a:schemeClr val="bg2"/>
                </a:solidFill>
              </a:rPr>
              <a:t>动态规划算法的递归实现</a:t>
            </a:r>
            <a:endParaRPr lang="zh-CN" altLang="en-US">
              <a:solidFill>
                <a:schemeClr val="bg2"/>
              </a:solidFill>
            </a:endParaRPr>
          </a:p>
          <a:p>
            <a:pPr marL="800100" lvl="1" indent="-342900" algn="just">
              <a:lnSpc>
                <a:spcPct val="120000"/>
              </a:lnSpc>
              <a:spcBef>
                <a:spcPts val="0"/>
              </a:spcBef>
              <a:spcAft>
                <a:spcPts val="0"/>
              </a:spcAft>
              <a:buFont typeface="Wingdings" panose="05000000000000000000" charset="0"/>
              <a:buChar char="Ø"/>
            </a:pPr>
            <a:r>
              <a:rPr lang="zh-CN" altLang="en-US">
                <a:solidFill>
                  <a:schemeClr val="bg2"/>
                </a:solidFill>
              </a:rPr>
              <a:t>矩阵相乘的递归算法</a:t>
            </a:r>
            <a:endParaRPr lang="zh-CN" altLang="en-US">
              <a:solidFill>
                <a:schemeClr val="bg2"/>
              </a:solidFill>
            </a:endParaRPr>
          </a:p>
        </p:txBody>
      </p:sp>
      <p:pic>
        <p:nvPicPr>
          <p:cNvPr id="4" name="20 3"/>
          <p:cNvPicPr>
            <a:picLocks noChangeAspect="1"/>
          </p:cNvPicPr>
          <p:nvPr/>
        </p:nvPicPr>
        <p:blipFill>
          <a:blip r:embed="rId1"/>
          <a:stretch>
            <a:fillRect/>
          </a:stretch>
        </p:blipFill>
        <p:spPr>
          <a:xfrm>
            <a:off x="1124585" y="2495550"/>
            <a:ext cx="4505960" cy="525145"/>
          </a:xfrm>
          <a:prstGeom prst="rect">
            <a:avLst/>
          </a:prstGeom>
        </p:spPr>
      </p:pic>
      <p:pic>
        <p:nvPicPr>
          <p:cNvPr id="5" name="20 4"/>
          <p:cNvPicPr>
            <a:picLocks noChangeAspect="1"/>
          </p:cNvPicPr>
          <p:nvPr/>
        </p:nvPicPr>
        <p:blipFill>
          <a:blip r:embed="rId2"/>
          <a:srcRect t="5762"/>
          <a:stretch>
            <a:fillRect/>
          </a:stretch>
        </p:blipFill>
        <p:spPr>
          <a:xfrm>
            <a:off x="1255395" y="3061970"/>
            <a:ext cx="1737995" cy="675005"/>
          </a:xfrm>
          <a:prstGeom prst="rect">
            <a:avLst/>
          </a:prstGeom>
        </p:spPr>
      </p:pic>
      <p:pic>
        <p:nvPicPr>
          <p:cNvPr id="6" name="20 5"/>
          <p:cNvPicPr>
            <a:picLocks noChangeAspect="1"/>
          </p:cNvPicPr>
          <p:nvPr/>
        </p:nvPicPr>
        <p:blipFill>
          <a:blip r:embed="rId3"/>
          <a:stretch>
            <a:fillRect/>
          </a:stretch>
        </p:blipFill>
        <p:spPr>
          <a:xfrm>
            <a:off x="1283335" y="3725545"/>
            <a:ext cx="2863850" cy="293370"/>
          </a:xfrm>
          <a:prstGeom prst="rect">
            <a:avLst/>
          </a:prstGeom>
        </p:spPr>
      </p:pic>
      <p:pic>
        <p:nvPicPr>
          <p:cNvPr id="7" name="20 6"/>
          <p:cNvPicPr>
            <a:picLocks noChangeAspect="1"/>
          </p:cNvPicPr>
          <p:nvPr/>
        </p:nvPicPr>
        <p:blipFill>
          <a:blip r:embed="rId4"/>
          <a:stretch>
            <a:fillRect/>
          </a:stretch>
        </p:blipFill>
        <p:spPr>
          <a:xfrm>
            <a:off x="1247775" y="4041140"/>
            <a:ext cx="6014720" cy="845185"/>
          </a:xfrm>
          <a:prstGeom prst="rect">
            <a:avLst/>
          </a:prstGeom>
        </p:spPr>
      </p:pic>
      <p:pic>
        <p:nvPicPr>
          <p:cNvPr id="8" name="20 7"/>
          <p:cNvPicPr>
            <a:picLocks noChangeAspect="1"/>
          </p:cNvPicPr>
          <p:nvPr/>
        </p:nvPicPr>
        <p:blipFill>
          <a:blip r:embed="rId5"/>
          <a:srcRect t="5838"/>
          <a:stretch>
            <a:fillRect/>
          </a:stretch>
        </p:blipFill>
        <p:spPr>
          <a:xfrm>
            <a:off x="1124585" y="4912995"/>
            <a:ext cx="2838450" cy="1587500"/>
          </a:xfrm>
          <a:prstGeom prst="rect">
            <a:avLst/>
          </a:prstGeom>
        </p:spPr>
      </p:pic>
      <p:pic>
        <p:nvPicPr>
          <p:cNvPr id="9" name="20 8"/>
          <p:cNvPicPr>
            <a:picLocks noChangeAspect="1"/>
          </p:cNvPicPr>
          <p:nvPr/>
        </p:nvPicPr>
        <p:blipFill>
          <a:blip r:embed="rId6"/>
          <a:stretch>
            <a:fillRect/>
          </a:stretch>
        </p:blipFill>
        <p:spPr>
          <a:xfrm>
            <a:off x="5734685" y="1867535"/>
            <a:ext cx="1782445" cy="1057910"/>
          </a:xfrm>
          <a:prstGeom prst="rect">
            <a:avLst/>
          </a:prstGeom>
        </p:spPr>
      </p:pic>
      <p:pic>
        <p:nvPicPr>
          <p:cNvPr id="11" name="20 10"/>
          <p:cNvPicPr>
            <a:picLocks noChangeAspect="1"/>
          </p:cNvPicPr>
          <p:nvPr/>
        </p:nvPicPr>
        <p:blipFill>
          <a:blip r:embed="rId7"/>
          <a:stretch>
            <a:fillRect/>
          </a:stretch>
        </p:blipFill>
        <p:spPr>
          <a:xfrm>
            <a:off x="4215765" y="3019425"/>
            <a:ext cx="1771650" cy="952500"/>
          </a:xfrm>
          <a:prstGeom prst="rect">
            <a:avLst/>
          </a:prstGeom>
        </p:spPr>
      </p:pic>
      <p:pic>
        <p:nvPicPr>
          <p:cNvPr id="12" name="20 11"/>
          <p:cNvPicPr>
            <a:picLocks noChangeAspect="1"/>
          </p:cNvPicPr>
          <p:nvPr/>
        </p:nvPicPr>
        <p:blipFill>
          <a:blip r:embed="rId8"/>
          <a:srcRect l="2383"/>
          <a:stretch>
            <a:fillRect/>
          </a:stretch>
        </p:blipFill>
        <p:spPr>
          <a:xfrm>
            <a:off x="3932555" y="4912995"/>
            <a:ext cx="2054860" cy="1057275"/>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3.2 </a:t>
            </a:r>
            <a:r>
              <a:rPr kumimoji="0" lang="zh-CN" altLang="en-US" kern="1200" dirty="0" smtClean="0">
                <a:solidFill>
                  <a:schemeClr val="accent2"/>
                </a:solidFill>
                <a:sym typeface="+mn-ea"/>
              </a:rPr>
              <a:t>动态规划算法设计</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10" name="文本框 9"/>
          <p:cNvSpPr txBox="1"/>
          <p:nvPr/>
        </p:nvSpPr>
        <p:spPr>
          <a:xfrm>
            <a:off x="428625" y="1602740"/>
            <a:ext cx="7707630" cy="534035"/>
          </a:xfrm>
          <a:prstGeom prst="rect">
            <a:avLst/>
          </a:prstGeom>
          <a:noFill/>
        </p:spPr>
        <p:txBody>
          <a:bodyPr wrap="square" rtlCol="0" anchor="t">
            <a:spAutoFit/>
          </a:bodyPr>
          <a:lstStyle/>
          <a:p>
            <a:pPr marL="800100" lvl="1" indent="-342900" algn="just">
              <a:lnSpc>
                <a:spcPct val="120000"/>
              </a:lnSpc>
              <a:spcBef>
                <a:spcPts val="0"/>
              </a:spcBef>
              <a:spcAft>
                <a:spcPts val="0"/>
              </a:spcAft>
              <a:buFont typeface="Wingdings" panose="05000000000000000000" charset="0"/>
              <a:buChar char="Ø"/>
            </a:pPr>
            <a:r>
              <a:rPr lang="zh-CN" altLang="en-US">
                <a:solidFill>
                  <a:schemeClr val="bg2"/>
                </a:solidFill>
              </a:rPr>
              <a:t>算法分析</a:t>
            </a:r>
            <a:endParaRPr lang="zh-CN" altLang="en-US">
              <a:solidFill>
                <a:schemeClr val="bg2"/>
              </a:solidFill>
            </a:endParaRPr>
          </a:p>
        </p:txBody>
      </p:sp>
      <p:sp>
        <p:nvSpPr>
          <p:cNvPr id="3" name="文本框 2"/>
          <p:cNvSpPr txBox="1"/>
          <p:nvPr/>
        </p:nvSpPr>
        <p:spPr>
          <a:xfrm>
            <a:off x="1349375" y="2136775"/>
            <a:ext cx="3783330" cy="460375"/>
          </a:xfrm>
          <a:prstGeom prst="rect">
            <a:avLst/>
          </a:prstGeom>
          <a:noFill/>
        </p:spPr>
        <p:txBody>
          <a:bodyPr wrap="square" rtlCol="0" anchor="t">
            <a:spAutoFit/>
          </a:bodyPr>
          <a:lstStyle/>
          <a:p>
            <a:pPr marL="342900" indent="-342900">
              <a:buFont typeface="Arial" panose="020B0604020202020204" pitchFamily="34" charset="0"/>
              <a:buChar char="•"/>
            </a:pPr>
            <a:r>
              <a:rPr lang="zh-CN" altLang="en-US">
                <a:solidFill>
                  <a:schemeClr val="bg2"/>
                </a:solidFill>
              </a:rPr>
              <a:t>时间复杂度的递推方程</a:t>
            </a:r>
            <a:endParaRPr lang="zh-CN" altLang="en-US">
              <a:solidFill>
                <a:schemeClr val="bg2"/>
              </a:solidFill>
            </a:endParaRPr>
          </a:p>
        </p:txBody>
      </p:sp>
      <p:pic>
        <p:nvPicPr>
          <p:cNvPr id="13" name="20 12"/>
          <p:cNvPicPr>
            <a:picLocks noChangeAspect="1"/>
          </p:cNvPicPr>
          <p:nvPr/>
        </p:nvPicPr>
        <p:blipFill>
          <a:blip r:embed="rId1"/>
          <a:stretch>
            <a:fillRect/>
          </a:stretch>
        </p:blipFill>
        <p:spPr>
          <a:xfrm>
            <a:off x="1976755" y="2668905"/>
            <a:ext cx="5091430" cy="1247140"/>
          </a:xfrm>
          <a:prstGeom prst="rect">
            <a:avLst/>
          </a:prstGeom>
        </p:spPr>
      </p:pic>
      <p:pic>
        <p:nvPicPr>
          <p:cNvPr id="14" name="20 13"/>
          <p:cNvPicPr>
            <a:picLocks noChangeAspect="1"/>
          </p:cNvPicPr>
          <p:nvPr/>
        </p:nvPicPr>
        <p:blipFill>
          <a:blip r:embed="rId2"/>
          <a:stretch>
            <a:fillRect/>
          </a:stretch>
        </p:blipFill>
        <p:spPr>
          <a:xfrm>
            <a:off x="1917700" y="4138930"/>
            <a:ext cx="4596765" cy="773430"/>
          </a:xfrm>
          <a:prstGeom prst="rect">
            <a:avLst/>
          </a:prstGeom>
        </p:spPr>
      </p:pic>
      <p:pic>
        <p:nvPicPr>
          <p:cNvPr id="15" name="20 14"/>
          <p:cNvPicPr>
            <a:picLocks noChangeAspect="1"/>
          </p:cNvPicPr>
          <p:nvPr/>
        </p:nvPicPr>
        <p:blipFill>
          <a:blip r:embed="rId3"/>
          <a:stretch>
            <a:fillRect/>
          </a:stretch>
        </p:blipFill>
        <p:spPr>
          <a:xfrm>
            <a:off x="1905000" y="5241925"/>
            <a:ext cx="3286760" cy="729615"/>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3.2 </a:t>
            </a:r>
            <a:r>
              <a:rPr kumimoji="0" lang="zh-CN" altLang="en-US" kern="1200" dirty="0" smtClean="0">
                <a:solidFill>
                  <a:schemeClr val="accent2"/>
                </a:solidFill>
                <a:sym typeface="+mn-ea"/>
              </a:rPr>
              <a:t>动态规划算法设计</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3" name="文本框 2"/>
          <p:cNvSpPr txBox="1"/>
          <p:nvPr/>
        </p:nvSpPr>
        <p:spPr>
          <a:xfrm>
            <a:off x="1302385" y="1634490"/>
            <a:ext cx="3889375" cy="460375"/>
          </a:xfrm>
          <a:prstGeom prst="rect">
            <a:avLst/>
          </a:prstGeom>
          <a:noFill/>
        </p:spPr>
        <p:txBody>
          <a:bodyPr wrap="square" rtlCol="0" anchor="t">
            <a:spAutoFit/>
          </a:bodyPr>
          <a:lstStyle/>
          <a:p>
            <a:pPr marL="342900" indent="-342900">
              <a:buFont typeface="Arial" panose="020B0604020202020204" pitchFamily="34" charset="0"/>
              <a:buChar char="•"/>
            </a:pPr>
            <a:r>
              <a:rPr lang="zh-CN" altLang="en-US">
                <a:solidFill>
                  <a:schemeClr val="bg2"/>
                </a:solidFill>
              </a:rPr>
              <a:t>时间复杂度：</a:t>
            </a:r>
            <a:r>
              <a:rPr lang="zh-CN" altLang="en-US" b="1" i="1">
                <a:solidFill>
                  <a:schemeClr val="bg2"/>
                </a:solidFill>
              </a:rPr>
              <a:t>T</a:t>
            </a:r>
            <a:r>
              <a:rPr lang="zh-CN" altLang="en-US">
                <a:solidFill>
                  <a:schemeClr val="bg2"/>
                </a:solidFill>
              </a:rPr>
              <a:t>(</a:t>
            </a:r>
            <a:r>
              <a:rPr lang="zh-CN" altLang="en-US" b="1" i="1">
                <a:solidFill>
                  <a:schemeClr val="bg2"/>
                </a:solidFill>
              </a:rPr>
              <a:t>n</a:t>
            </a:r>
            <a:r>
              <a:rPr lang="zh-CN" altLang="en-US">
                <a:solidFill>
                  <a:schemeClr val="bg2"/>
                </a:solidFill>
              </a:rPr>
              <a:t>) ≥ 2</a:t>
            </a:r>
            <a:r>
              <a:rPr lang="zh-CN" altLang="en-US" b="1" i="1" baseline="30000">
                <a:solidFill>
                  <a:schemeClr val="bg2"/>
                </a:solidFill>
              </a:rPr>
              <a:t>n</a:t>
            </a:r>
            <a:r>
              <a:rPr lang="zh-CN" altLang="en-US" baseline="30000">
                <a:solidFill>
                  <a:schemeClr val="bg2"/>
                </a:solidFill>
              </a:rPr>
              <a:t>−1</a:t>
            </a:r>
            <a:endParaRPr lang="zh-CN" altLang="en-US" baseline="30000">
              <a:solidFill>
                <a:schemeClr val="bg2"/>
              </a:solidFill>
            </a:endParaRPr>
          </a:p>
        </p:txBody>
      </p:sp>
      <p:sp>
        <p:nvSpPr>
          <p:cNvPr id="4" name="文本框 3"/>
          <p:cNvSpPr txBox="1"/>
          <p:nvPr/>
        </p:nvSpPr>
        <p:spPr>
          <a:xfrm>
            <a:off x="1524635" y="2122805"/>
            <a:ext cx="2995930" cy="460375"/>
          </a:xfrm>
          <a:prstGeom prst="rect">
            <a:avLst/>
          </a:prstGeom>
          <a:noFill/>
        </p:spPr>
        <p:txBody>
          <a:bodyPr wrap="square" rtlCol="0" anchor="t">
            <a:spAutoFit/>
          </a:bodyPr>
          <a:lstStyle/>
          <a:p>
            <a:r>
              <a:rPr lang="zh-CN" altLang="en-US">
                <a:solidFill>
                  <a:schemeClr val="bg2"/>
                </a:solidFill>
              </a:rPr>
              <a:t>数学归纳法证明：</a:t>
            </a:r>
            <a:endParaRPr lang="zh-CN" altLang="en-US">
              <a:solidFill>
                <a:schemeClr val="bg2"/>
              </a:solidFill>
            </a:endParaRPr>
          </a:p>
        </p:txBody>
      </p:sp>
      <p:pic>
        <p:nvPicPr>
          <p:cNvPr id="5" name="20 4"/>
          <p:cNvPicPr>
            <a:picLocks noChangeAspect="1"/>
          </p:cNvPicPr>
          <p:nvPr/>
        </p:nvPicPr>
        <p:blipFill>
          <a:blip r:embed="rId1"/>
          <a:stretch>
            <a:fillRect/>
          </a:stretch>
        </p:blipFill>
        <p:spPr>
          <a:xfrm>
            <a:off x="2078355" y="2654935"/>
            <a:ext cx="2371090" cy="426085"/>
          </a:xfrm>
          <a:prstGeom prst="rect">
            <a:avLst/>
          </a:prstGeom>
        </p:spPr>
      </p:pic>
      <p:pic>
        <p:nvPicPr>
          <p:cNvPr id="6" name="20 5"/>
          <p:cNvPicPr>
            <a:picLocks noChangeAspect="1"/>
          </p:cNvPicPr>
          <p:nvPr/>
        </p:nvPicPr>
        <p:blipFill>
          <a:blip r:embed="rId2"/>
          <a:stretch>
            <a:fillRect/>
          </a:stretch>
        </p:blipFill>
        <p:spPr>
          <a:xfrm>
            <a:off x="2068195" y="3176905"/>
            <a:ext cx="5007610" cy="434975"/>
          </a:xfrm>
          <a:prstGeom prst="rect">
            <a:avLst/>
          </a:prstGeom>
        </p:spPr>
      </p:pic>
      <p:sp>
        <p:nvSpPr>
          <p:cNvPr id="7" name="文本框 6"/>
          <p:cNvSpPr txBox="1"/>
          <p:nvPr/>
        </p:nvSpPr>
        <p:spPr>
          <a:xfrm>
            <a:off x="2068195" y="3728085"/>
            <a:ext cx="3671570" cy="521970"/>
          </a:xfrm>
          <a:prstGeom prst="rect">
            <a:avLst/>
          </a:prstGeom>
          <a:noFill/>
        </p:spPr>
        <p:txBody>
          <a:bodyPr wrap="square" rtlCol="0" anchor="t">
            <a:spAutoFit/>
          </a:bodyPr>
          <a:lstStyle/>
          <a:p>
            <a:r>
              <a:rPr lang="zh-CN" altLang="en-US" sz="2800" b="1">
                <a:solidFill>
                  <a:schemeClr val="bg2"/>
                </a:solidFill>
              </a:rPr>
              <a:t>证明</a:t>
            </a:r>
            <a:r>
              <a:rPr lang="en-US" altLang="zh-CN" sz="2800" b="1" i="1">
                <a:solidFill>
                  <a:schemeClr val="bg2"/>
                </a:solidFill>
              </a:rPr>
              <a:t>k</a:t>
            </a:r>
            <a:r>
              <a:rPr lang="en-US" altLang="zh-CN" sz="2800" b="1">
                <a:solidFill>
                  <a:schemeClr val="bg2"/>
                </a:solidFill>
              </a:rPr>
              <a:t>=</a:t>
            </a:r>
            <a:r>
              <a:rPr lang="en-US" altLang="zh-CN" sz="2800" b="1" i="1">
                <a:solidFill>
                  <a:schemeClr val="bg2"/>
                </a:solidFill>
              </a:rPr>
              <a:t>n</a:t>
            </a:r>
            <a:r>
              <a:rPr lang="zh-CN" altLang="en-US" sz="2800" b="1">
                <a:solidFill>
                  <a:schemeClr val="bg2"/>
                </a:solidFill>
              </a:rPr>
              <a:t>时命题成立：</a:t>
            </a:r>
            <a:endParaRPr lang="zh-CN" altLang="en-US" sz="2800" b="1">
              <a:solidFill>
                <a:schemeClr val="bg2"/>
              </a:solidFill>
            </a:endParaRPr>
          </a:p>
        </p:txBody>
      </p:sp>
      <p:pic>
        <p:nvPicPr>
          <p:cNvPr id="8" name="20 7"/>
          <p:cNvPicPr>
            <a:picLocks noChangeAspect="1"/>
          </p:cNvPicPr>
          <p:nvPr/>
        </p:nvPicPr>
        <p:blipFill>
          <a:blip r:embed="rId3"/>
          <a:stretch>
            <a:fillRect/>
          </a:stretch>
        </p:blipFill>
        <p:spPr>
          <a:xfrm>
            <a:off x="2454910" y="4250055"/>
            <a:ext cx="3204845" cy="805815"/>
          </a:xfrm>
          <a:prstGeom prst="rect">
            <a:avLst/>
          </a:prstGeom>
        </p:spPr>
      </p:pic>
      <p:pic>
        <p:nvPicPr>
          <p:cNvPr id="9" name="20 8"/>
          <p:cNvPicPr>
            <a:picLocks noChangeAspect="1"/>
          </p:cNvPicPr>
          <p:nvPr/>
        </p:nvPicPr>
        <p:blipFill>
          <a:blip r:embed="rId4"/>
          <a:stretch>
            <a:fillRect/>
          </a:stretch>
        </p:blipFill>
        <p:spPr>
          <a:xfrm>
            <a:off x="5659755" y="3864610"/>
            <a:ext cx="1895475" cy="1000125"/>
          </a:xfrm>
          <a:prstGeom prst="rect">
            <a:avLst/>
          </a:prstGeom>
        </p:spPr>
      </p:pic>
      <p:pic>
        <p:nvPicPr>
          <p:cNvPr id="11" name="20 10"/>
          <p:cNvPicPr>
            <a:picLocks noChangeAspect="1"/>
          </p:cNvPicPr>
          <p:nvPr/>
        </p:nvPicPr>
        <p:blipFill>
          <a:blip r:embed="rId5"/>
          <a:stretch>
            <a:fillRect/>
          </a:stretch>
        </p:blipFill>
        <p:spPr>
          <a:xfrm>
            <a:off x="3126105" y="5045075"/>
            <a:ext cx="2376805" cy="929005"/>
          </a:xfrm>
          <a:prstGeom prst="rect">
            <a:avLst/>
          </a:prstGeom>
        </p:spPr>
      </p:pic>
      <p:pic>
        <p:nvPicPr>
          <p:cNvPr id="12" name="20 11"/>
          <p:cNvPicPr>
            <a:picLocks noChangeAspect="1"/>
          </p:cNvPicPr>
          <p:nvPr/>
        </p:nvPicPr>
        <p:blipFill>
          <a:blip r:embed="rId6"/>
          <a:srcRect t="9290"/>
          <a:stretch>
            <a:fillRect/>
          </a:stretch>
        </p:blipFill>
        <p:spPr>
          <a:xfrm>
            <a:off x="3126105" y="5956300"/>
            <a:ext cx="3733800" cy="527050"/>
          </a:xfrm>
          <a:prstGeom prst="rect">
            <a:avLst/>
          </a:prstGeom>
        </p:spPr>
      </p:pic>
      <p:pic>
        <p:nvPicPr>
          <p:cNvPr id="16" name="20 15"/>
          <p:cNvPicPr>
            <a:picLocks noChangeAspect="1"/>
          </p:cNvPicPr>
          <p:nvPr/>
        </p:nvPicPr>
        <p:blipFill>
          <a:blip r:embed="rId7"/>
          <a:stretch>
            <a:fillRect/>
          </a:stretch>
        </p:blipFill>
        <p:spPr>
          <a:xfrm>
            <a:off x="5607685" y="4994275"/>
            <a:ext cx="2000250" cy="962025"/>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left)">
                                      <p:cBhvr>
                                        <p:cTn id="5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7" grpId="0"/>
      <p:bldP spid="7"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3.2 </a:t>
            </a:r>
            <a:r>
              <a:rPr kumimoji="0" lang="zh-CN" altLang="en-US" kern="1200" dirty="0" smtClean="0">
                <a:solidFill>
                  <a:schemeClr val="accent2"/>
                </a:solidFill>
                <a:sym typeface="+mn-ea"/>
              </a:rPr>
              <a:t>动态规划算法设计</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10" name="文本框 9"/>
          <p:cNvSpPr txBox="1"/>
          <p:nvPr/>
        </p:nvSpPr>
        <p:spPr>
          <a:xfrm>
            <a:off x="428625" y="1602740"/>
            <a:ext cx="7707630" cy="534035"/>
          </a:xfrm>
          <a:prstGeom prst="rect">
            <a:avLst/>
          </a:prstGeom>
          <a:noFill/>
        </p:spPr>
        <p:txBody>
          <a:bodyPr wrap="square" rtlCol="0" anchor="t">
            <a:spAutoFit/>
          </a:bodyPr>
          <a:lstStyle/>
          <a:p>
            <a:pPr marL="800100" lvl="1" indent="-342900" algn="just">
              <a:lnSpc>
                <a:spcPct val="120000"/>
              </a:lnSpc>
              <a:spcBef>
                <a:spcPts val="0"/>
              </a:spcBef>
              <a:spcAft>
                <a:spcPts val="0"/>
              </a:spcAft>
              <a:buFont typeface="Wingdings" panose="05000000000000000000" charset="0"/>
              <a:buChar char="Ø"/>
            </a:pPr>
            <a:r>
              <a:rPr lang="zh-CN" altLang="en-US">
                <a:solidFill>
                  <a:schemeClr val="bg2"/>
                </a:solidFill>
              </a:rPr>
              <a:t>递归实现时间复杂度高的原因分析</a:t>
            </a:r>
            <a:endParaRPr lang="zh-CN" altLang="en-US">
              <a:solidFill>
                <a:schemeClr val="bg2"/>
              </a:solidFill>
            </a:endParaRPr>
          </a:p>
        </p:txBody>
      </p:sp>
      <p:sp>
        <p:nvSpPr>
          <p:cNvPr id="4" name="文本框 3"/>
          <p:cNvSpPr txBox="1"/>
          <p:nvPr/>
        </p:nvSpPr>
        <p:spPr>
          <a:xfrm>
            <a:off x="1412240" y="2131060"/>
            <a:ext cx="3263900" cy="460375"/>
          </a:xfrm>
          <a:prstGeom prst="rect">
            <a:avLst/>
          </a:prstGeom>
          <a:noFill/>
        </p:spPr>
        <p:txBody>
          <a:bodyPr wrap="square" rtlCol="0" anchor="t">
            <a:spAutoFit/>
          </a:bodyPr>
          <a:lstStyle/>
          <a:p>
            <a:r>
              <a:rPr lang="zh-CN" altLang="en-US">
                <a:solidFill>
                  <a:schemeClr val="bg2"/>
                </a:solidFill>
              </a:rPr>
              <a:t>子问题的产生，</a:t>
            </a:r>
            <a:r>
              <a:rPr lang="zh-CN" altLang="en-US" b="1" i="1">
                <a:solidFill>
                  <a:schemeClr val="bg2"/>
                </a:solidFill>
              </a:rPr>
              <a:t>n</a:t>
            </a:r>
            <a:r>
              <a:rPr lang="zh-CN" altLang="en-US">
                <a:solidFill>
                  <a:schemeClr val="bg2"/>
                </a:solidFill>
              </a:rPr>
              <a:t>=5</a:t>
            </a:r>
            <a:endParaRPr lang="zh-CN" altLang="en-US">
              <a:solidFill>
                <a:schemeClr val="bg2"/>
              </a:solidFill>
            </a:endParaRPr>
          </a:p>
        </p:txBody>
      </p:sp>
      <p:pic>
        <p:nvPicPr>
          <p:cNvPr id="5" name="20 4"/>
          <p:cNvPicPr>
            <a:picLocks noChangeAspect="1"/>
          </p:cNvPicPr>
          <p:nvPr/>
        </p:nvPicPr>
        <p:blipFill>
          <a:blip r:embed="rId1"/>
          <a:srcRect t="5390"/>
          <a:stretch>
            <a:fillRect/>
          </a:stretch>
        </p:blipFill>
        <p:spPr>
          <a:xfrm>
            <a:off x="-27940" y="2591435"/>
            <a:ext cx="6760210" cy="3263900"/>
          </a:xfrm>
          <a:prstGeom prst="rect">
            <a:avLst/>
          </a:prstGeom>
        </p:spPr>
      </p:pic>
      <p:sp>
        <p:nvSpPr>
          <p:cNvPr id="6" name="文本框 5"/>
          <p:cNvSpPr txBox="1"/>
          <p:nvPr/>
        </p:nvSpPr>
        <p:spPr>
          <a:xfrm>
            <a:off x="5821680" y="2131060"/>
            <a:ext cx="3293745" cy="1938020"/>
          </a:xfrm>
          <a:prstGeom prst="rect">
            <a:avLst/>
          </a:prstGeom>
          <a:noFill/>
        </p:spPr>
        <p:txBody>
          <a:bodyPr wrap="square" rtlCol="0" anchor="t">
            <a:spAutoFit/>
          </a:bodyPr>
          <a:lstStyle/>
          <a:p>
            <a:r>
              <a:rPr lang="zh-CN" altLang="en-US">
                <a:solidFill>
                  <a:schemeClr val="bg2"/>
                </a:solidFill>
              </a:rPr>
              <a:t>划分：</a:t>
            </a:r>
            <a:endParaRPr lang="zh-CN" altLang="en-US">
              <a:solidFill>
                <a:schemeClr val="bg2"/>
              </a:solidFill>
            </a:endParaRPr>
          </a:p>
          <a:p>
            <a:r>
              <a:rPr lang="zh-CN" altLang="en-US">
                <a:solidFill>
                  <a:schemeClr val="bg2"/>
                </a:solidFill>
              </a:rPr>
              <a:t> </a:t>
            </a:r>
            <a:r>
              <a:rPr lang="zh-CN" altLang="en-US" i="1">
                <a:solidFill>
                  <a:schemeClr val="bg2"/>
                </a:solidFill>
              </a:rPr>
              <a:t>A</a:t>
            </a:r>
            <a:r>
              <a:rPr lang="zh-CN" altLang="en-US" baseline="-25000">
                <a:solidFill>
                  <a:schemeClr val="bg2"/>
                </a:solidFill>
              </a:rPr>
              <a:t>1..4</a:t>
            </a:r>
            <a:r>
              <a:rPr lang="zh-CN" altLang="en-US">
                <a:solidFill>
                  <a:schemeClr val="bg2"/>
                </a:solidFill>
              </a:rPr>
              <a:t> </a:t>
            </a:r>
            <a:r>
              <a:rPr lang="zh-CN" altLang="en-US" i="1">
                <a:solidFill>
                  <a:schemeClr val="bg2"/>
                </a:solidFill>
              </a:rPr>
              <a:t>A</a:t>
            </a:r>
            <a:r>
              <a:rPr lang="zh-CN" altLang="en-US" baseline="-25000">
                <a:solidFill>
                  <a:schemeClr val="bg2"/>
                </a:solidFill>
              </a:rPr>
              <a:t>5..5</a:t>
            </a:r>
            <a:r>
              <a:rPr lang="zh-CN" altLang="en-US">
                <a:solidFill>
                  <a:schemeClr val="bg2"/>
                </a:solidFill>
              </a:rPr>
              <a:t> , </a:t>
            </a:r>
            <a:r>
              <a:rPr lang="zh-CN" altLang="en-US" i="1">
                <a:solidFill>
                  <a:schemeClr val="bg2"/>
                </a:solidFill>
              </a:rPr>
              <a:t>A</a:t>
            </a:r>
            <a:r>
              <a:rPr lang="zh-CN" altLang="en-US" baseline="-25000">
                <a:solidFill>
                  <a:schemeClr val="bg2"/>
                </a:solidFill>
              </a:rPr>
              <a:t>1..3</a:t>
            </a:r>
            <a:r>
              <a:rPr lang="zh-CN" altLang="en-US">
                <a:solidFill>
                  <a:schemeClr val="bg2"/>
                </a:solidFill>
              </a:rPr>
              <a:t> </a:t>
            </a:r>
            <a:r>
              <a:rPr lang="zh-CN" altLang="en-US" i="1">
                <a:solidFill>
                  <a:schemeClr val="bg2"/>
                </a:solidFill>
              </a:rPr>
              <a:t>A</a:t>
            </a:r>
            <a:r>
              <a:rPr lang="zh-CN" altLang="en-US" baseline="-25000">
                <a:solidFill>
                  <a:schemeClr val="bg2"/>
                </a:solidFill>
              </a:rPr>
              <a:t>4..5</a:t>
            </a:r>
            <a:r>
              <a:rPr lang="zh-CN" altLang="en-US">
                <a:solidFill>
                  <a:schemeClr val="bg2"/>
                </a:solidFill>
              </a:rPr>
              <a:t> , </a:t>
            </a:r>
            <a:r>
              <a:rPr lang="zh-CN" altLang="en-US" i="1">
                <a:solidFill>
                  <a:schemeClr val="bg2"/>
                </a:solidFill>
              </a:rPr>
              <a:t>A</a:t>
            </a:r>
            <a:r>
              <a:rPr lang="zh-CN" altLang="en-US" baseline="-25000">
                <a:solidFill>
                  <a:schemeClr val="bg2"/>
                </a:solidFill>
              </a:rPr>
              <a:t>1..2</a:t>
            </a:r>
            <a:r>
              <a:rPr lang="zh-CN" altLang="en-US">
                <a:solidFill>
                  <a:schemeClr val="bg2"/>
                </a:solidFill>
              </a:rPr>
              <a:t> </a:t>
            </a:r>
            <a:r>
              <a:rPr lang="zh-CN" altLang="en-US" i="1">
                <a:solidFill>
                  <a:schemeClr val="bg2"/>
                </a:solidFill>
              </a:rPr>
              <a:t>A</a:t>
            </a:r>
            <a:r>
              <a:rPr lang="zh-CN" altLang="en-US" baseline="-25000">
                <a:solidFill>
                  <a:schemeClr val="bg2"/>
                </a:solidFill>
              </a:rPr>
              <a:t>3..5</a:t>
            </a:r>
            <a:r>
              <a:rPr lang="zh-CN" altLang="en-US">
                <a:solidFill>
                  <a:schemeClr val="bg2"/>
                </a:solidFill>
              </a:rPr>
              <a:t> , </a:t>
            </a:r>
            <a:r>
              <a:rPr lang="zh-CN" altLang="en-US" i="1">
                <a:solidFill>
                  <a:schemeClr val="bg2"/>
                </a:solidFill>
              </a:rPr>
              <a:t>A</a:t>
            </a:r>
            <a:r>
              <a:rPr lang="zh-CN" altLang="en-US" baseline="-25000">
                <a:solidFill>
                  <a:schemeClr val="bg2"/>
                </a:solidFill>
              </a:rPr>
              <a:t>1..1</a:t>
            </a:r>
            <a:r>
              <a:rPr lang="zh-CN" altLang="en-US">
                <a:solidFill>
                  <a:schemeClr val="bg2"/>
                </a:solidFill>
              </a:rPr>
              <a:t> </a:t>
            </a:r>
            <a:r>
              <a:rPr lang="zh-CN" altLang="en-US" i="1">
                <a:solidFill>
                  <a:schemeClr val="bg2"/>
                </a:solidFill>
              </a:rPr>
              <a:t>A</a:t>
            </a:r>
            <a:r>
              <a:rPr lang="zh-CN" altLang="en-US" baseline="-25000">
                <a:solidFill>
                  <a:schemeClr val="bg2"/>
                </a:solidFill>
              </a:rPr>
              <a:t>2..5</a:t>
            </a:r>
            <a:r>
              <a:rPr lang="zh-CN" altLang="en-US">
                <a:solidFill>
                  <a:schemeClr val="bg2"/>
                </a:solidFill>
              </a:rPr>
              <a:t>，产生 8 个子问题，即第一层的 8 个结点.</a:t>
            </a:r>
            <a:endParaRPr lang="zh-CN" altLang="en-US">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3.2 </a:t>
            </a:r>
            <a:r>
              <a:rPr kumimoji="0" lang="zh-CN" altLang="en-US" kern="1200" dirty="0" smtClean="0">
                <a:solidFill>
                  <a:schemeClr val="accent2"/>
                </a:solidFill>
                <a:sym typeface="+mn-ea"/>
              </a:rPr>
              <a:t>动态规划算法设计</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pic>
        <p:nvPicPr>
          <p:cNvPr id="3" name="20 2"/>
          <p:cNvPicPr>
            <a:picLocks noChangeAspect="1"/>
          </p:cNvPicPr>
          <p:nvPr/>
        </p:nvPicPr>
        <p:blipFill>
          <a:blip r:embed="rId1"/>
          <a:stretch>
            <a:fillRect/>
          </a:stretch>
        </p:blipFill>
        <p:spPr>
          <a:xfrm>
            <a:off x="291465" y="1733550"/>
            <a:ext cx="8326755" cy="1489075"/>
          </a:xfrm>
          <a:prstGeom prst="rect">
            <a:avLst/>
          </a:prstGeom>
        </p:spPr>
      </p:pic>
      <p:sp>
        <p:nvSpPr>
          <p:cNvPr id="34820" name="TextBox 173"/>
          <p:cNvSpPr txBox="1"/>
          <p:nvPr/>
        </p:nvSpPr>
        <p:spPr>
          <a:xfrm>
            <a:off x="506730" y="3547428"/>
            <a:ext cx="7572375" cy="460375"/>
          </a:xfrm>
          <a:prstGeom prst="rect">
            <a:avLst/>
          </a:prstGeom>
          <a:noFill/>
          <a:ln w="9525">
            <a:noFill/>
          </a:ln>
        </p:spPr>
        <p:txBody>
          <a:bodyPr anchor="t">
            <a:spAutoFit/>
          </a:bodyPr>
          <a:lstStyle/>
          <a:p>
            <a:r>
              <a:rPr lang="en-US" altLang="zh-CN" sz="2400" b="1" i="1" dirty="0">
                <a:solidFill>
                  <a:schemeClr val="bg2"/>
                </a:solidFill>
                <a:latin typeface="Times New Roman" panose="02020603050405020304" pitchFamily="18" charset="0"/>
                <a:ea typeface="宋体" panose="02010600030101010101" pitchFamily="2" charset="-122"/>
              </a:rPr>
              <a:t>n</a:t>
            </a:r>
            <a:r>
              <a:rPr lang="en-US" altLang="zh-CN" sz="2400" b="1" dirty="0">
                <a:solidFill>
                  <a:schemeClr val="bg2"/>
                </a:solidFill>
                <a:latin typeface="Times New Roman" panose="02020603050405020304" pitchFamily="18" charset="0"/>
                <a:ea typeface="宋体" panose="02010600030101010101" pitchFamily="2" charset="-122"/>
              </a:rPr>
              <a:t>=5</a:t>
            </a:r>
            <a:r>
              <a:rPr lang="zh-CN" altLang="en-US" sz="2400" b="1" dirty="0">
                <a:solidFill>
                  <a:schemeClr val="bg2"/>
                </a:solidFill>
                <a:latin typeface="Arial" panose="020B0604020202020204" pitchFamily="34" charset="0"/>
                <a:ea typeface="宋体" panose="02010600030101010101" pitchFamily="2" charset="-122"/>
              </a:rPr>
              <a:t>，</a:t>
            </a:r>
            <a:r>
              <a:rPr lang="zh-CN" altLang="en-US" b="1" dirty="0">
                <a:solidFill>
                  <a:schemeClr val="bg2"/>
                </a:solidFill>
                <a:latin typeface="Arial" panose="020B0604020202020204" pitchFamily="34" charset="0"/>
                <a:sym typeface="+mn-ea"/>
              </a:rPr>
              <a:t>不同的子问题：</a:t>
            </a:r>
            <a:r>
              <a:rPr lang="en-US" altLang="zh-CN" b="1" dirty="0">
                <a:solidFill>
                  <a:schemeClr val="bg2"/>
                </a:solidFill>
                <a:sym typeface="+mn-ea"/>
              </a:rPr>
              <a:t>15</a:t>
            </a:r>
            <a:r>
              <a:rPr lang="zh-CN" altLang="en-US" b="1" dirty="0">
                <a:solidFill>
                  <a:schemeClr val="bg2"/>
                </a:solidFill>
                <a:sym typeface="+mn-ea"/>
              </a:rPr>
              <a:t>个，</a:t>
            </a:r>
            <a:r>
              <a:rPr lang="zh-CN" altLang="en-US" sz="2400" b="1" dirty="0">
                <a:solidFill>
                  <a:schemeClr val="bg2"/>
                </a:solidFill>
                <a:latin typeface="Arial" panose="020B0604020202020204" pitchFamily="34" charset="0"/>
                <a:ea typeface="宋体" panose="02010600030101010101" pitchFamily="2" charset="-122"/>
              </a:rPr>
              <a:t>计算子问题：</a:t>
            </a:r>
            <a:r>
              <a:rPr lang="en-US" altLang="zh-CN" sz="2400" b="1" dirty="0">
                <a:solidFill>
                  <a:schemeClr val="bg2"/>
                </a:solidFill>
                <a:latin typeface="Times New Roman" panose="02020603050405020304" pitchFamily="18" charset="0"/>
                <a:ea typeface="宋体" panose="02010600030101010101" pitchFamily="2" charset="-122"/>
              </a:rPr>
              <a:t>81</a:t>
            </a:r>
            <a:r>
              <a:rPr lang="zh-CN" altLang="en-US" sz="2400" b="1" dirty="0">
                <a:solidFill>
                  <a:schemeClr val="bg2"/>
                </a:solidFill>
                <a:latin typeface="Times New Roman" panose="02020603050405020304" pitchFamily="18" charset="0"/>
                <a:ea typeface="宋体" panose="02010600030101010101" pitchFamily="2" charset="-122"/>
              </a:rPr>
              <a:t>个。</a:t>
            </a:r>
            <a:endParaRPr lang="zh-CN" altLang="en-US" sz="2400" b="1" dirty="0">
              <a:solidFill>
                <a:schemeClr val="bg2"/>
              </a:solidFill>
              <a:latin typeface="Times New Roman" panose="02020603050405020304" pitchFamily="18" charset="0"/>
              <a:ea typeface="宋体" panose="02010600030101010101" pitchFamily="2" charset="-122"/>
            </a:endParaRPr>
          </a:p>
        </p:txBody>
      </p:sp>
      <p:sp>
        <p:nvSpPr>
          <p:cNvPr id="7" name="文本框 6"/>
          <p:cNvSpPr txBox="1"/>
          <p:nvPr/>
        </p:nvSpPr>
        <p:spPr>
          <a:xfrm>
            <a:off x="506730" y="4315460"/>
            <a:ext cx="8111490" cy="1420495"/>
          </a:xfrm>
          <a:prstGeom prst="rect">
            <a:avLst/>
          </a:prstGeom>
          <a:noFill/>
        </p:spPr>
        <p:txBody>
          <a:bodyPr wrap="square" rtlCol="0" anchor="t">
            <a:spAutoFit/>
          </a:bodyPr>
          <a:lstStyle/>
          <a:p>
            <a:pPr>
              <a:lnSpc>
                <a:spcPct val="120000"/>
              </a:lnSpc>
            </a:pPr>
            <a:r>
              <a:rPr lang="zh-CN" altLang="en-US">
                <a:solidFill>
                  <a:schemeClr val="bg2"/>
                </a:solidFill>
                <a:sym typeface="+mn-ea"/>
              </a:rPr>
              <a:t>复杂度高的原因：相同的子问题需要重复计算</a:t>
            </a:r>
            <a:endParaRPr lang="zh-CN" altLang="en-US">
              <a:solidFill>
                <a:schemeClr val="bg2"/>
              </a:solidFill>
              <a:sym typeface="+mn-ea"/>
            </a:endParaRPr>
          </a:p>
          <a:p>
            <a:pPr>
              <a:lnSpc>
                <a:spcPct val="120000"/>
              </a:lnSpc>
            </a:pPr>
            <a:r>
              <a:rPr lang="zh-CN" altLang="en-US">
                <a:solidFill>
                  <a:schemeClr val="bg2"/>
                </a:solidFill>
              </a:rPr>
              <a:t>解决方案：使用恰当的数据结构存储子问题的结果，以避免重复计算。</a:t>
            </a:r>
            <a:endParaRPr lang="zh-CN" altLang="en-US">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20"/>
                                        </p:tgtEl>
                                        <p:attrNameLst>
                                          <p:attrName>style.visibility</p:attrName>
                                        </p:attrNameLst>
                                      </p:cBhvr>
                                      <p:to>
                                        <p:strVal val="visible"/>
                                      </p:to>
                                    </p:set>
                                    <p:animEffect transition="in" filter="wipe(left)">
                                      <p:cBhvr>
                                        <p:cTn id="7" dur="500"/>
                                        <p:tgtEl>
                                          <p:spTgt spid="348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left)">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wipe(left)">
                                      <p:cBhvr>
                                        <p:cTn id="17"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p:bldP spid="34820"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3.2 </a:t>
            </a:r>
            <a:r>
              <a:rPr kumimoji="0" lang="zh-CN" altLang="en-US" kern="1200" dirty="0" smtClean="0">
                <a:solidFill>
                  <a:schemeClr val="accent2"/>
                </a:solidFill>
                <a:sym typeface="+mn-ea"/>
              </a:rPr>
              <a:t>动态规划算法设计</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10" name="文本框 9"/>
          <p:cNvSpPr txBox="1"/>
          <p:nvPr/>
        </p:nvSpPr>
        <p:spPr>
          <a:xfrm>
            <a:off x="572135" y="1746250"/>
            <a:ext cx="7707630" cy="4078605"/>
          </a:xfrm>
          <a:prstGeom prst="rect">
            <a:avLst/>
          </a:prstGeom>
          <a:noFill/>
        </p:spPr>
        <p:txBody>
          <a:bodyPr wrap="square" rtlCol="0" anchor="t">
            <a:spAutoFit/>
          </a:bodyPr>
          <a:lstStyle/>
          <a:p>
            <a:pPr marL="342900" indent="-342900" algn="just">
              <a:lnSpc>
                <a:spcPct val="120000"/>
              </a:lnSpc>
              <a:spcBef>
                <a:spcPts val="0"/>
              </a:spcBef>
              <a:spcAft>
                <a:spcPts val="0"/>
              </a:spcAft>
              <a:buFont typeface="Wingdings" panose="05000000000000000000" charset="0"/>
              <a:buChar char="l"/>
            </a:pPr>
            <a:r>
              <a:rPr lang="zh-CN" altLang="en-US">
                <a:solidFill>
                  <a:schemeClr val="bg2"/>
                </a:solidFill>
              </a:rPr>
              <a:t>动态规划递归实现小结</a:t>
            </a:r>
            <a:endParaRPr lang="zh-CN" altLang="en-US">
              <a:solidFill>
                <a:schemeClr val="bg2"/>
              </a:solidFill>
            </a:endParaRPr>
          </a:p>
          <a:p>
            <a:pPr algn="just">
              <a:lnSpc>
                <a:spcPct val="120000"/>
              </a:lnSpc>
              <a:spcBef>
                <a:spcPts val="0"/>
              </a:spcBef>
              <a:spcAft>
                <a:spcPts val="0"/>
              </a:spcAft>
              <a:buFont typeface="Wingdings" panose="05000000000000000000" charset="0"/>
            </a:pPr>
            <a:r>
              <a:rPr lang="zh-CN" altLang="en-US">
                <a:solidFill>
                  <a:schemeClr val="bg2"/>
                </a:solidFill>
              </a:rPr>
              <a:t>（</a:t>
            </a:r>
            <a:r>
              <a:rPr lang="en-US" altLang="zh-CN">
                <a:solidFill>
                  <a:schemeClr val="bg2"/>
                </a:solidFill>
              </a:rPr>
              <a:t>1</a:t>
            </a:r>
            <a:r>
              <a:rPr lang="zh-CN" altLang="en-US">
                <a:solidFill>
                  <a:schemeClr val="bg2"/>
                </a:solidFill>
              </a:rPr>
              <a:t>）与蛮力算法相比较，动态规划算法利用了子问题优化函数间的依赖关系（递推公式），时间复杂度有所降低。</a:t>
            </a:r>
            <a:endParaRPr lang="zh-CN" altLang="en-US">
              <a:solidFill>
                <a:schemeClr val="bg2"/>
              </a:solidFill>
            </a:endParaRPr>
          </a:p>
          <a:p>
            <a:pPr algn="just">
              <a:lnSpc>
                <a:spcPct val="120000"/>
              </a:lnSpc>
              <a:spcBef>
                <a:spcPts val="0"/>
              </a:spcBef>
              <a:spcAft>
                <a:spcPts val="0"/>
              </a:spcAft>
              <a:buFont typeface="Wingdings" panose="05000000000000000000" charset="0"/>
            </a:pPr>
            <a:r>
              <a:rPr lang="zh-CN" altLang="en-US">
                <a:solidFill>
                  <a:schemeClr val="bg2"/>
                </a:solidFill>
              </a:rPr>
              <a:t>（</a:t>
            </a:r>
            <a:r>
              <a:rPr lang="en-US" altLang="zh-CN">
                <a:solidFill>
                  <a:schemeClr val="bg2"/>
                </a:solidFill>
              </a:rPr>
              <a:t>2</a:t>
            </a:r>
            <a:r>
              <a:rPr lang="zh-CN" altLang="en-US">
                <a:solidFill>
                  <a:schemeClr val="bg2"/>
                </a:solidFill>
              </a:rPr>
              <a:t>） 动态规划算法的递归实现效率不高，原因在于同一子问题多次重复出现，每次出现都需要重新计算一遍.</a:t>
            </a:r>
            <a:endParaRPr lang="zh-CN" altLang="en-US">
              <a:solidFill>
                <a:schemeClr val="bg2"/>
              </a:solidFill>
            </a:endParaRPr>
          </a:p>
          <a:p>
            <a:pPr algn="just">
              <a:lnSpc>
                <a:spcPct val="120000"/>
              </a:lnSpc>
              <a:spcBef>
                <a:spcPts val="0"/>
              </a:spcBef>
              <a:spcAft>
                <a:spcPts val="0"/>
              </a:spcAft>
              <a:buFont typeface="Wingdings" panose="05000000000000000000" charset="0"/>
            </a:pPr>
            <a:r>
              <a:rPr lang="zh-CN" altLang="en-US">
                <a:solidFill>
                  <a:schemeClr val="bg2"/>
                </a:solidFill>
              </a:rPr>
              <a:t>（</a:t>
            </a:r>
            <a:r>
              <a:rPr lang="en-US" altLang="zh-CN">
                <a:solidFill>
                  <a:schemeClr val="bg2"/>
                </a:solidFill>
              </a:rPr>
              <a:t>3</a:t>
            </a:r>
            <a:r>
              <a:rPr lang="zh-CN" altLang="en-US">
                <a:solidFill>
                  <a:schemeClr val="bg2"/>
                </a:solidFill>
              </a:rPr>
              <a:t>） 采用空间换时间策略，记录每个子问题首次计算结果（记录备忘录），后面再用时就直接取值，每个子问题只算一次。</a:t>
            </a:r>
            <a:endParaRPr lang="zh-CN" altLang="en-US">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wipe(left)">
                                      <p:cBhvr>
                                        <p:cTn id="7" dur="5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wipe(left)">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animEffect transition="in" filter="wipe(left)">
                                      <p:cBhvr>
                                        <p:cTn id="17"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3.2 </a:t>
            </a:r>
            <a:r>
              <a:rPr kumimoji="0" lang="zh-CN" altLang="en-US" kern="1200" dirty="0" smtClean="0">
                <a:solidFill>
                  <a:schemeClr val="accent2"/>
                </a:solidFill>
                <a:sym typeface="+mn-ea"/>
              </a:rPr>
              <a:t>动态规划算法设计</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10" name="文本框 9"/>
          <p:cNvSpPr txBox="1"/>
          <p:nvPr/>
        </p:nvSpPr>
        <p:spPr>
          <a:xfrm>
            <a:off x="572135" y="1602740"/>
            <a:ext cx="7707630" cy="977265"/>
          </a:xfrm>
          <a:prstGeom prst="rect">
            <a:avLst/>
          </a:prstGeom>
          <a:noFill/>
        </p:spPr>
        <p:txBody>
          <a:bodyPr wrap="square" rtlCol="0" anchor="t">
            <a:spAutoFit/>
          </a:bodyPr>
          <a:lstStyle/>
          <a:p>
            <a:pPr marL="342900" indent="-342900" algn="just">
              <a:lnSpc>
                <a:spcPct val="120000"/>
              </a:lnSpc>
              <a:spcBef>
                <a:spcPts val="0"/>
              </a:spcBef>
              <a:spcAft>
                <a:spcPts val="0"/>
              </a:spcAft>
              <a:buFont typeface="Wingdings" panose="05000000000000000000" charset="0"/>
              <a:buChar char="n"/>
            </a:pPr>
            <a:r>
              <a:rPr lang="zh-CN" altLang="en-US">
                <a:solidFill>
                  <a:schemeClr val="bg2"/>
                </a:solidFill>
              </a:rPr>
              <a:t>动态规划算法的迭代实现</a:t>
            </a:r>
            <a:endParaRPr lang="zh-CN" altLang="en-US">
              <a:solidFill>
                <a:schemeClr val="bg2"/>
              </a:solidFill>
            </a:endParaRPr>
          </a:p>
          <a:p>
            <a:pPr marL="800100" lvl="1" indent="-342900" algn="just">
              <a:lnSpc>
                <a:spcPct val="120000"/>
              </a:lnSpc>
              <a:spcBef>
                <a:spcPts val="0"/>
              </a:spcBef>
              <a:spcAft>
                <a:spcPts val="0"/>
              </a:spcAft>
              <a:buFont typeface="Wingdings" panose="05000000000000000000" charset="0"/>
              <a:buChar char="Ø"/>
            </a:pPr>
            <a:r>
              <a:rPr lang="zh-CN" altLang="en-US">
                <a:solidFill>
                  <a:schemeClr val="bg2"/>
                </a:solidFill>
              </a:rPr>
              <a:t>迭代计算的关键</a:t>
            </a:r>
            <a:endParaRPr lang="zh-CN" altLang="en-US">
              <a:solidFill>
                <a:schemeClr val="bg2"/>
              </a:solidFill>
            </a:endParaRPr>
          </a:p>
        </p:txBody>
      </p:sp>
      <p:pic>
        <p:nvPicPr>
          <p:cNvPr id="3" name="20 2"/>
          <p:cNvPicPr>
            <a:picLocks noChangeAspect="1"/>
          </p:cNvPicPr>
          <p:nvPr/>
        </p:nvPicPr>
        <p:blipFill>
          <a:blip r:embed="rId1"/>
          <a:stretch>
            <a:fillRect/>
          </a:stretch>
        </p:blipFill>
        <p:spPr>
          <a:xfrm>
            <a:off x="1606550" y="2571750"/>
            <a:ext cx="3837940" cy="509905"/>
          </a:xfrm>
          <a:prstGeom prst="rect">
            <a:avLst/>
          </a:prstGeom>
        </p:spPr>
      </p:pic>
      <p:pic>
        <p:nvPicPr>
          <p:cNvPr id="13" name="20 12"/>
          <p:cNvPicPr>
            <a:picLocks noChangeAspect="1"/>
          </p:cNvPicPr>
          <p:nvPr/>
        </p:nvPicPr>
        <p:blipFill>
          <a:blip r:embed="rId2"/>
          <a:stretch>
            <a:fillRect/>
          </a:stretch>
        </p:blipFill>
        <p:spPr>
          <a:xfrm>
            <a:off x="1606550" y="3153410"/>
            <a:ext cx="5643245" cy="1939290"/>
          </a:xfrm>
          <a:prstGeom prst="rect">
            <a:avLst/>
          </a:prstGeom>
        </p:spPr>
      </p:pic>
      <p:pic>
        <p:nvPicPr>
          <p:cNvPr id="14" name="20 13"/>
          <p:cNvPicPr>
            <a:picLocks noChangeAspect="1"/>
          </p:cNvPicPr>
          <p:nvPr/>
        </p:nvPicPr>
        <p:blipFill>
          <a:blip r:embed="rId3"/>
          <a:stretch>
            <a:fillRect/>
          </a:stretch>
        </p:blipFill>
        <p:spPr>
          <a:xfrm>
            <a:off x="1606550" y="5092700"/>
            <a:ext cx="5184775" cy="1221740"/>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3.2 </a:t>
            </a:r>
            <a:r>
              <a:rPr kumimoji="0" lang="zh-CN" altLang="en-US" kern="1200" dirty="0" smtClean="0">
                <a:solidFill>
                  <a:schemeClr val="accent2"/>
                </a:solidFill>
                <a:sym typeface="+mn-ea"/>
              </a:rPr>
              <a:t>动态规划算法设计</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10" name="文本框 9"/>
          <p:cNvSpPr txBox="1"/>
          <p:nvPr/>
        </p:nvSpPr>
        <p:spPr>
          <a:xfrm>
            <a:off x="506730" y="1760855"/>
            <a:ext cx="8022590" cy="3448685"/>
          </a:xfrm>
          <a:prstGeom prst="rect">
            <a:avLst/>
          </a:prstGeom>
          <a:noFill/>
        </p:spPr>
        <p:txBody>
          <a:bodyPr wrap="square" rtlCol="0" anchor="t">
            <a:spAutoFit/>
          </a:bodyPr>
          <a:lstStyle/>
          <a:p>
            <a:pPr marL="800100" lvl="1" indent="-342900" algn="just">
              <a:lnSpc>
                <a:spcPct val="130000"/>
              </a:lnSpc>
              <a:spcBef>
                <a:spcPts val="0"/>
              </a:spcBef>
              <a:spcAft>
                <a:spcPts val="0"/>
              </a:spcAft>
              <a:buFont typeface="Wingdings" panose="05000000000000000000" charset="0"/>
              <a:buChar char="Ø"/>
            </a:pPr>
            <a:r>
              <a:rPr lang="zh-CN" altLang="en-US">
                <a:solidFill>
                  <a:schemeClr val="bg2"/>
                </a:solidFill>
              </a:rPr>
              <a:t>矩阵链乘法不同规模子问题个数分析</a:t>
            </a:r>
            <a:endParaRPr lang="zh-CN" altLang="en-US">
              <a:solidFill>
                <a:schemeClr val="bg2"/>
              </a:solidFill>
            </a:endParaRPr>
          </a:p>
          <a:p>
            <a:pPr marL="1257300" lvl="2" indent="-342900" algn="just">
              <a:lnSpc>
                <a:spcPct val="130000"/>
              </a:lnSpc>
              <a:spcBef>
                <a:spcPts val="0"/>
              </a:spcBef>
              <a:spcAft>
                <a:spcPts val="0"/>
              </a:spcAft>
              <a:buFont typeface="Arial" panose="020B0604020202020204" pitchFamily="34" charset="0"/>
              <a:buChar char="•"/>
            </a:pPr>
            <a:r>
              <a:rPr lang="zh-CN" altLang="en-US">
                <a:solidFill>
                  <a:schemeClr val="bg2"/>
                </a:solidFill>
              </a:rPr>
              <a:t>长度1：只含1个矩阵，有</a:t>
            </a:r>
            <a:r>
              <a:rPr lang="zh-CN" altLang="en-US" i="1">
                <a:solidFill>
                  <a:schemeClr val="bg2"/>
                </a:solidFill>
              </a:rPr>
              <a:t>n</a:t>
            </a:r>
            <a:r>
              <a:rPr lang="zh-CN" altLang="en-US">
                <a:solidFill>
                  <a:schemeClr val="bg2"/>
                </a:solidFill>
              </a:rPr>
              <a:t>个子问题(不需要计算)</a:t>
            </a:r>
            <a:endParaRPr lang="zh-CN" altLang="en-US">
              <a:solidFill>
                <a:schemeClr val="bg2"/>
              </a:solidFill>
            </a:endParaRPr>
          </a:p>
          <a:p>
            <a:pPr marL="1257300" lvl="2" indent="-342900" algn="just">
              <a:lnSpc>
                <a:spcPct val="130000"/>
              </a:lnSpc>
              <a:spcBef>
                <a:spcPts val="0"/>
              </a:spcBef>
              <a:spcAft>
                <a:spcPts val="0"/>
              </a:spcAft>
              <a:buFont typeface="Arial" panose="020B0604020202020204" pitchFamily="34" charset="0"/>
              <a:buChar char="•"/>
            </a:pPr>
            <a:r>
              <a:rPr lang="zh-CN" altLang="en-US">
                <a:solidFill>
                  <a:schemeClr val="bg2"/>
                </a:solidFill>
              </a:rPr>
              <a:t>长度2：含2个矩阵，</a:t>
            </a:r>
            <a:r>
              <a:rPr lang="zh-CN" altLang="en-US" i="1">
                <a:solidFill>
                  <a:schemeClr val="bg2"/>
                </a:solidFill>
              </a:rPr>
              <a:t>n</a:t>
            </a:r>
            <a:r>
              <a:rPr lang="zh-CN" altLang="en-US">
                <a:solidFill>
                  <a:schemeClr val="bg2"/>
                </a:solidFill>
              </a:rPr>
              <a:t>-1个子问题</a:t>
            </a:r>
            <a:endParaRPr lang="zh-CN" altLang="en-US">
              <a:solidFill>
                <a:schemeClr val="bg2"/>
              </a:solidFill>
            </a:endParaRPr>
          </a:p>
          <a:p>
            <a:pPr marL="1257300" lvl="2" indent="-342900" algn="just">
              <a:lnSpc>
                <a:spcPct val="130000"/>
              </a:lnSpc>
              <a:spcBef>
                <a:spcPts val="0"/>
              </a:spcBef>
              <a:spcAft>
                <a:spcPts val="0"/>
              </a:spcAft>
              <a:buFont typeface="Arial" panose="020B0604020202020204" pitchFamily="34" charset="0"/>
              <a:buChar char="•"/>
            </a:pPr>
            <a:r>
              <a:rPr lang="zh-CN" altLang="en-US">
                <a:solidFill>
                  <a:schemeClr val="bg2"/>
                </a:solidFill>
              </a:rPr>
              <a:t>长度3：含3个矩阵，</a:t>
            </a:r>
            <a:r>
              <a:rPr lang="zh-CN" altLang="en-US" i="1">
                <a:solidFill>
                  <a:schemeClr val="bg2"/>
                </a:solidFill>
              </a:rPr>
              <a:t>n</a:t>
            </a:r>
            <a:r>
              <a:rPr lang="zh-CN" altLang="en-US">
                <a:solidFill>
                  <a:schemeClr val="bg2"/>
                </a:solidFill>
              </a:rPr>
              <a:t>-2个子问题</a:t>
            </a:r>
            <a:endParaRPr lang="zh-CN" altLang="en-US">
              <a:solidFill>
                <a:schemeClr val="bg2"/>
              </a:solidFill>
            </a:endParaRPr>
          </a:p>
          <a:p>
            <a:pPr marL="1257300" lvl="2" indent="-342900" algn="just">
              <a:lnSpc>
                <a:spcPct val="130000"/>
              </a:lnSpc>
              <a:spcBef>
                <a:spcPts val="0"/>
              </a:spcBef>
              <a:spcAft>
                <a:spcPts val="0"/>
              </a:spcAft>
              <a:buFont typeface="Arial" panose="020B0604020202020204" pitchFamily="34" charset="0"/>
              <a:buChar char="•"/>
            </a:pPr>
            <a:r>
              <a:rPr lang="zh-CN" altLang="en-US">
                <a:solidFill>
                  <a:schemeClr val="bg2"/>
                </a:solidFill>
              </a:rPr>
              <a:t>...</a:t>
            </a:r>
            <a:endParaRPr lang="zh-CN" altLang="en-US">
              <a:solidFill>
                <a:schemeClr val="bg2"/>
              </a:solidFill>
            </a:endParaRPr>
          </a:p>
          <a:p>
            <a:pPr marL="1257300" lvl="2" indent="-342900" algn="just">
              <a:lnSpc>
                <a:spcPct val="130000"/>
              </a:lnSpc>
              <a:spcBef>
                <a:spcPts val="0"/>
              </a:spcBef>
              <a:spcAft>
                <a:spcPts val="0"/>
              </a:spcAft>
              <a:buFont typeface="Arial" panose="020B0604020202020204" pitchFamily="34" charset="0"/>
              <a:buChar char="•"/>
            </a:pPr>
            <a:r>
              <a:rPr lang="zh-CN" altLang="en-US">
                <a:solidFill>
                  <a:schemeClr val="bg2"/>
                </a:solidFill>
              </a:rPr>
              <a:t>长度</a:t>
            </a:r>
            <a:r>
              <a:rPr lang="zh-CN" altLang="en-US" i="1">
                <a:solidFill>
                  <a:schemeClr val="bg2"/>
                </a:solidFill>
              </a:rPr>
              <a:t>n</a:t>
            </a:r>
            <a:r>
              <a:rPr lang="zh-CN" altLang="en-US">
                <a:solidFill>
                  <a:schemeClr val="bg2"/>
                </a:solidFill>
              </a:rPr>
              <a:t>-1：含</a:t>
            </a:r>
            <a:r>
              <a:rPr lang="zh-CN" altLang="en-US" i="1">
                <a:solidFill>
                  <a:schemeClr val="bg2"/>
                </a:solidFill>
              </a:rPr>
              <a:t>n</a:t>
            </a:r>
            <a:r>
              <a:rPr lang="zh-CN" altLang="en-US">
                <a:solidFill>
                  <a:schemeClr val="bg2"/>
                </a:solidFill>
              </a:rPr>
              <a:t>-1个矩阵，2个子问题</a:t>
            </a:r>
            <a:endParaRPr lang="zh-CN" altLang="en-US">
              <a:solidFill>
                <a:schemeClr val="bg2"/>
              </a:solidFill>
            </a:endParaRPr>
          </a:p>
          <a:p>
            <a:pPr marL="1257300" lvl="2" indent="-342900" algn="just">
              <a:lnSpc>
                <a:spcPct val="130000"/>
              </a:lnSpc>
              <a:spcBef>
                <a:spcPts val="0"/>
              </a:spcBef>
              <a:spcAft>
                <a:spcPts val="0"/>
              </a:spcAft>
              <a:buFont typeface="Arial" panose="020B0604020202020204" pitchFamily="34" charset="0"/>
              <a:buChar char="•"/>
            </a:pPr>
            <a:r>
              <a:rPr lang="zh-CN" altLang="en-US">
                <a:solidFill>
                  <a:schemeClr val="bg2"/>
                </a:solidFill>
              </a:rPr>
              <a:t>长度 </a:t>
            </a:r>
            <a:r>
              <a:rPr lang="zh-CN" altLang="en-US" i="1">
                <a:solidFill>
                  <a:schemeClr val="bg2"/>
                </a:solidFill>
              </a:rPr>
              <a:t>n</a:t>
            </a:r>
            <a:r>
              <a:rPr lang="zh-CN" altLang="en-US">
                <a:solidFill>
                  <a:schemeClr val="bg2"/>
                </a:solidFill>
              </a:rPr>
              <a:t>：原始问题，只有1个 </a:t>
            </a:r>
            <a:endParaRPr lang="zh-CN" altLang="en-US">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wipe(left)">
                                      <p:cBhvr>
                                        <p:cTn id="7" dur="5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wipe(left)">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animEffect transition="in" filter="wipe(left)">
                                      <p:cBhvr>
                                        <p:cTn id="17" dur="500"/>
                                        <p:tgtEl>
                                          <p:spTgt spid="1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xEl>
                                              <p:pRg st="4" end="4"/>
                                            </p:txEl>
                                          </p:spTgt>
                                        </p:tgtEl>
                                        <p:attrNameLst>
                                          <p:attrName>style.visibility</p:attrName>
                                        </p:attrNameLst>
                                      </p:cBhvr>
                                      <p:to>
                                        <p:strVal val="visible"/>
                                      </p:to>
                                    </p:set>
                                    <p:animEffect transition="in" filter="wipe(left)">
                                      <p:cBhvr>
                                        <p:cTn id="22" dur="500"/>
                                        <p:tgtEl>
                                          <p:spTgt spid="10">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animEffect transition="in" filter="wipe(left)">
                                      <p:cBhvr>
                                        <p:cTn id="27" dur="500"/>
                                        <p:tgtEl>
                                          <p:spTgt spid="10">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
                                            <p:txEl>
                                              <p:pRg st="6" end="6"/>
                                            </p:txEl>
                                          </p:spTgt>
                                        </p:tgtEl>
                                        <p:attrNameLst>
                                          <p:attrName>style.visibility</p:attrName>
                                        </p:attrNameLst>
                                      </p:cBhvr>
                                      <p:to>
                                        <p:strVal val="visible"/>
                                      </p:to>
                                    </p:set>
                                    <p:animEffect transition="in" filter="wipe(left)">
                                      <p:cBhvr>
                                        <p:cTn id="32" dur="5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3.2 </a:t>
            </a:r>
            <a:r>
              <a:rPr kumimoji="0" lang="zh-CN" altLang="en-US" kern="1200" dirty="0" smtClean="0">
                <a:solidFill>
                  <a:schemeClr val="accent2"/>
                </a:solidFill>
                <a:sym typeface="+mn-ea"/>
              </a:rPr>
              <a:t>动态规划算法设计</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10" name="文本框 9"/>
          <p:cNvSpPr txBox="1"/>
          <p:nvPr/>
        </p:nvSpPr>
        <p:spPr>
          <a:xfrm>
            <a:off x="506730" y="1760855"/>
            <a:ext cx="8022590" cy="3448685"/>
          </a:xfrm>
          <a:prstGeom prst="rect">
            <a:avLst/>
          </a:prstGeom>
          <a:noFill/>
        </p:spPr>
        <p:txBody>
          <a:bodyPr wrap="square" rtlCol="0" anchor="t">
            <a:spAutoFit/>
          </a:bodyPr>
          <a:lstStyle/>
          <a:p>
            <a:pPr marL="800100" lvl="1" indent="-342900" algn="just">
              <a:lnSpc>
                <a:spcPct val="130000"/>
              </a:lnSpc>
              <a:spcBef>
                <a:spcPts val="0"/>
              </a:spcBef>
              <a:spcAft>
                <a:spcPts val="0"/>
              </a:spcAft>
              <a:buFont typeface="Wingdings" panose="05000000000000000000" charset="0"/>
              <a:buChar char="Ø"/>
            </a:pPr>
            <a:r>
              <a:rPr lang="zh-CN" altLang="en-US">
                <a:solidFill>
                  <a:schemeClr val="bg2"/>
                </a:solidFill>
              </a:rPr>
              <a:t>矩阵链乘法迭代顺序</a:t>
            </a:r>
            <a:endParaRPr lang="zh-CN" altLang="en-US">
              <a:solidFill>
                <a:schemeClr val="bg2"/>
              </a:solidFill>
            </a:endParaRPr>
          </a:p>
          <a:p>
            <a:pPr marL="1257300" lvl="2" indent="-342900" algn="just">
              <a:lnSpc>
                <a:spcPct val="130000"/>
              </a:lnSpc>
              <a:spcBef>
                <a:spcPts val="0"/>
              </a:spcBef>
              <a:spcAft>
                <a:spcPts val="0"/>
              </a:spcAft>
              <a:buFont typeface="Arial" panose="020B0604020202020204" pitchFamily="34" charset="0"/>
              <a:buChar char="•"/>
            </a:pPr>
            <a:r>
              <a:rPr lang="zh-CN" altLang="en-US">
                <a:solidFill>
                  <a:schemeClr val="bg2"/>
                </a:solidFill>
              </a:rPr>
              <a:t>长度为1：初值，</a:t>
            </a:r>
            <a:r>
              <a:rPr lang="zh-CN" altLang="en-US" b="1" i="1">
                <a:solidFill>
                  <a:schemeClr val="bg2"/>
                </a:solidFill>
              </a:rPr>
              <a:t>m</a:t>
            </a:r>
            <a:r>
              <a:rPr lang="zh-CN" altLang="en-US">
                <a:solidFill>
                  <a:schemeClr val="bg2"/>
                </a:solidFill>
              </a:rPr>
              <a:t>[</a:t>
            </a:r>
            <a:r>
              <a:rPr lang="zh-CN" altLang="en-US" b="1" i="1">
                <a:solidFill>
                  <a:schemeClr val="bg2"/>
                </a:solidFill>
              </a:rPr>
              <a:t>i</a:t>
            </a:r>
            <a:r>
              <a:rPr lang="zh-CN" altLang="en-US">
                <a:solidFill>
                  <a:schemeClr val="bg2"/>
                </a:solidFill>
              </a:rPr>
              <a:t>,</a:t>
            </a:r>
            <a:r>
              <a:rPr lang="zh-CN" altLang="en-US" b="1" i="1">
                <a:solidFill>
                  <a:schemeClr val="bg2"/>
                </a:solidFill>
              </a:rPr>
              <a:t> i</a:t>
            </a:r>
            <a:r>
              <a:rPr lang="zh-CN" altLang="en-US">
                <a:solidFill>
                  <a:schemeClr val="bg2"/>
                </a:solidFill>
              </a:rPr>
              <a:t>] = 0</a:t>
            </a:r>
            <a:r>
              <a:rPr lang="en-US" altLang="zh-CN">
                <a:solidFill>
                  <a:schemeClr val="bg2"/>
                </a:solidFill>
              </a:rPr>
              <a:t>——</a:t>
            </a:r>
            <a:r>
              <a:rPr lang="zh-CN" altLang="en-US">
                <a:solidFill>
                  <a:schemeClr val="bg2"/>
                </a:solidFill>
              </a:rPr>
              <a:t>边界</a:t>
            </a:r>
            <a:endParaRPr lang="zh-CN" altLang="en-US">
              <a:solidFill>
                <a:schemeClr val="bg2"/>
              </a:solidFill>
            </a:endParaRPr>
          </a:p>
          <a:p>
            <a:pPr marL="1257300" lvl="2" indent="-342900" algn="just">
              <a:lnSpc>
                <a:spcPct val="130000"/>
              </a:lnSpc>
              <a:spcBef>
                <a:spcPts val="0"/>
              </a:spcBef>
              <a:spcAft>
                <a:spcPts val="0"/>
              </a:spcAft>
              <a:buFont typeface="Arial" panose="020B0604020202020204" pitchFamily="34" charset="0"/>
              <a:buChar char="•"/>
            </a:pPr>
            <a:r>
              <a:rPr lang="zh-CN" altLang="en-US">
                <a:solidFill>
                  <a:schemeClr val="bg2"/>
                </a:solidFill>
              </a:rPr>
              <a:t>长度为2：1..2，2..3，3..4， ... ， </a:t>
            </a:r>
            <a:r>
              <a:rPr lang="zh-CN" altLang="en-US" b="1" i="1">
                <a:solidFill>
                  <a:schemeClr val="bg2"/>
                </a:solidFill>
              </a:rPr>
              <a:t>n</a:t>
            </a:r>
            <a:r>
              <a:rPr lang="zh-CN" altLang="en-US">
                <a:solidFill>
                  <a:schemeClr val="bg2"/>
                </a:solidFill>
              </a:rPr>
              <a:t>-1..</a:t>
            </a:r>
            <a:r>
              <a:rPr lang="zh-CN" altLang="en-US" b="1" i="1">
                <a:solidFill>
                  <a:schemeClr val="bg2"/>
                </a:solidFill>
              </a:rPr>
              <a:t>n</a:t>
            </a:r>
            <a:endParaRPr lang="zh-CN" altLang="en-US">
              <a:solidFill>
                <a:schemeClr val="bg2"/>
              </a:solidFill>
            </a:endParaRPr>
          </a:p>
          <a:p>
            <a:pPr marL="1257300" lvl="2" indent="-342900" algn="just">
              <a:lnSpc>
                <a:spcPct val="130000"/>
              </a:lnSpc>
              <a:spcBef>
                <a:spcPts val="0"/>
              </a:spcBef>
              <a:spcAft>
                <a:spcPts val="0"/>
              </a:spcAft>
              <a:buFont typeface="Arial" panose="020B0604020202020204" pitchFamily="34" charset="0"/>
              <a:buChar char="•"/>
            </a:pPr>
            <a:r>
              <a:rPr lang="zh-CN" altLang="en-US">
                <a:solidFill>
                  <a:schemeClr val="bg2"/>
                </a:solidFill>
              </a:rPr>
              <a:t>长度为3：1..3，2..4，3..5， ... ， </a:t>
            </a:r>
            <a:r>
              <a:rPr lang="zh-CN" altLang="en-US" b="1" i="1">
                <a:solidFill>
                  <a:schemeClr val="bg2"/>
                </a:solidFill>
              </a:rPr>
              <a:t>n</a:t>
            </a:r>
            <a:r>
              <a:rPr lang="zh-CN" altLang="en-US">
                <a:solidFill>
                  <a:schemeClr val="bg2"/>
                </a:solidFill>
              </a:rPr>
              <a:t>-2..</a:t>
            </a:r>
            <a:r>
              <a:rPr lang="zh-CN" altLang="en-US" b="1" i="1">
                <a:solidFill>
                  <a:schemeClr val="bg2"/>
                </a:solidFill>
              </a:rPr>
              <a:t>n</a:t>
            </a:r>
            <a:endParaRPr lang="zh-CN" altLang="en-US">
              <a:solidFill>
                <a:schemeClr val="bg2"/>
              </a:solidFill>
            </a:endParaRPr>
          </a:p>
          <a:p>
            <a:pPr marL="1257300" lvl="2" indent="-342900" algn="just">
              <a:lnSpc>
                <a:spcPct val="130000"/>
              </a:lnSpc>
              <a:spcBef>
                <a:spcPts val="0"/>
              </a:spcBef>
              <a:spcAft>
                <a:spcPts val="0"/>
              </a:spcAft>
              <a:buFont typeface="Arial" panose="020B0604020202020204" pitchFamily="34" charset="0"/>
              <a:buChar char="•"/>
            </a:pPr>
            <a:r>
              <a:rPr lang="zh-CN" altLang="en-US">
                <a:solidFill>
                  <a:schemeClr val="bg2"/>
                </a:solidFill>
              </a:rPr>
              <a:t>...</a:t>
            </a:r>
            <a:endParaRPr lang="zh-CN" altLang="en-US">
              <a:solidFill>
                <a:schemeClr val="bg2"/>
              </a:solidFill>
            </a:endParaRPr>
          </a:p>
          <a:p>
            <a:pPr marL="1257300" lvl="2" indent="-342900" algn="just">
              <a:lnSpc>
                <a:spcPct val="130000"/>
              </a:lnSpc>
              <a:spcBef>
                <a:spcPts val="0"/>
              </a:spcBef>
              <a:spcAft>
                <a:spcPts val="0"/>
              </a:spcAft>
              <a:buFont typeface="Arial" panose="020B0604020202020204" pitchFamily="34" charset="0"/>
              <a:buChar char="•"/>
            </a:pPr>
            <a:r>
              <a:rPr lang="zh-CN" altLang="en-US">
                <a:solidFill>
                  <a:schemeClr val="bg2"/>
                </a:solidFill>
              </a:rPr>
              <a:t>长度为 </a:t>
            </a:r>
            <a:r>
              <a:rPr lang="zh-CN" altLang="en-US" b="1" i="1">
                <a:solidFill>
                  <a:schemeClr val="bg2"/>
                </a:solidFill>
              </a:rPr>
              <a:t>n</a:t>
            </a:r>
            <a:r>
              <a:rPr lang="zh-CN" altLang="en-US">
                <a:solidFill>
                  <a:schemeClr val="bg2"/>
                </a:solidFill>
              </a:rPr>
              <a:t>-1：1..</a:t>
            </a:r>
            <a:r>
              <a:rPr lang="zh-CN" altLang="en-US" b="1" i="1">
                <a:solidFill>
                  <a:schemeClr val="bg2"/>
                </a:solidFill>
              </a:rPr>
              <a:t>n</a:t>
            </a:r>
            <a:r>
              <a:rPr lang="zh-CN" altLang="en-US">
                <a:solidFill>
                  <a:schemeClr val="bg2"/>
                </a:solidFill>
              </a:rPr>
              <a:t>-1，2..</a:t>
            </a:r>
            <a:r>
              <a:rPr lang="zh-CN" altLang="en-US" b="1" i="1">
                <a:solidFill>
                  <a:schemeClr val="bg2"/>
                </a:solidFill>
              </a:rPr>
              <a:t>n</a:t>
            </a:r>
            <a:endParaRPr lang="zh-CN" altLang="en-US">
              <a:solidFill>
                <a:schemeClr val="bg2"/>
              </a:solidFill>
            </a:endParaRPr>
          </a:p>
          <a:p>
            <a:pPr marL="1257300" lvl="2" indent="-342900" algn="just">
              <a:lnSpc>
                <a:spcPct val="130000"/>
              </a:lnSpc>
              <a:spcBef>
                <a:spcPts val="0"/>
              </a:spcBef>
              <a:spcAft>
                <a:spcPts val="0"/>
              </a:spcAft>
              <a:buFont typeface="Arial" panose="020B0604020202020204" pitchFamily="34" charset="0"/>
              <a:buChar char="•"/>
            </a:pPr>
            <a:r>
              <a:rPr lang="zh-CN" altLang="en-US">
                <a:solidFill>
                  <a:schemeClr val="bg2"/>
                </a:solidFill>
              </a:rPr>
              <a:t>长度为</a:t>
            </a:r>
            <a:r>
              <a:rPr lang="zh-CN" altLang="en-US" b="1" i="1">
                <a:solidFill>
                  <a:schemeClr val="bg2"/>
                </a:solidFill>
              </a:rPr>
              <a:t>n</a:t>
            </a:r>
            <a:r>
              <a:rPr lang="zh-CN" altLang="en-US">
                <a:solidFill>
                  <a:schemeClr val="bg2"/>
                </a:solidFill>
              </a:rPr>
              <a:t>：1..</a:t>
            </a:r>
            <a:r>
              <a:rPr lang="zh-CN" altLang="en-US" b="1" i="1">
                <a:solidFill>
                  <a:schemeClr val="bg2"/>
                </a:solidFill>
              </a:rPr>
              <a:t>n</a:t>
            </a:r>
            <a:endParaRPr lang="zh-CN" altLang="en-US" b="1" i="1">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wipe(left)">
                                      <p:cBhvr>
                                        <p:cTn id="7" dur="5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wipe(left)">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animEffect transition="in" filter="wipe(left)">
                                      <p:cBhvr>
                                        <p:cTn id="17" dur="500"/>
                                        <p:tgtEl>
                                          <p:spTgt spid="1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xEl>
                                              <p:pRg st="4" end="4"/>
                                            </p:txEl>
                                          </p:spTgt>
                                        </p:tgtEl>
                                        <p:attrNameLst>
                                          <p:attrName>style.visibility</p:attrName>
                                        </p:attrNameLst>
                                      </p:cBhvr>
                                      <p:to>
                                        <p:strVal val="visible"/>
                                      </p:to>
                                    </p:set>
                                    <p:animEffect transition="in" filter="wipe(left)">
                                      <p:cBhvr>
                                        <p:cTn id="22" dur="500"/>
                                        <p:tgtEl>
                                          <p:spTgt spid="10">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animEffect transition="in" filter="wipe(left)">
                                      <p:cBhvr>
                                        <p:cTn id="27" dur="500"/>
                                        <p:tgtEl>
                                          <p:spTgt spid="10">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
                                            <p:txEl>
                                              <p:pRg st="6" end="6"/>
                                            </p:txEl>
                                          </p:spTgt>
                                        </p:tgtEl>
                                        <p:attrNameLst>
                                          <p:attrName>style.visibility</p:attrName>
                                        </p:attrNameLst>
                                      </p:cBhvr>
                                      <p:to>
                                        <p:strVal val="visible"/>
                                      </p:to>
                                    </p:set>
                                    <p:animEffect transition="in" filter="wipe(left)">
                                      <p:cBhvr>
                                        <p:cTn id="32" dur="5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3.2 </a:t>
            </a:r>
            <a:r>
              <a:rPr kumimoji="0" lang="zh-CN" altLang="en-US" kern="1200" dirty="0" smtClean="0">
                <a:solidFill>
                  <a:schemeClr val="accent2"/>
                </a:solidFill>
                <a:sym typeface="+mn-ea"/>
              </a:rPr>
              <a:t>动态规划算法设计</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10" name="文本框 9"/>
          <p:cNvSpPr txBox="1"/>
          <p:nvPr/>
        </p:nvSpPr>
        <p:spPr>
          <a:xfrm>
            <a:off x="506730" y="1617345"/>
            <a:ext cx="8022590" cy="570865"/>
          </a:xfrm>
          <a:prstGeom prst="rect">
            <a:avLst/>
          </a:prstGeom>
          <a:noFill/>
        </p:spPr>
        <p:txBody>
          <a:bodyPr wrap="square" rtlCol="0" anchor="t">
            <a:spAutoFit/>
          </a:bodyPr>
          <a:lstStyle/>
          <a:p>
            <a:pPr marL="800100" lvl="1" indent="-342900" algn="just">
              <a:lnSpc>
                <a:spcPct val="130000"/>
              </a:lnSpc>
              <a:spcBef>
                <a:spcPts val="0"/>
              </a:spcBef>
              <a:spcAft>
                <a:spcPts val="0"/>
              </a:spcAft>
              <a:buFont typeface="Wingdings" panose="05000000000000000000" charset="0"/>
              <a:buChar char="Ø"/>
            </a:pPr>
            <a:r>
              <a:rPr lang="zh-CN" altLang="en-US" b="1" i="1">
                <a:solidFill>
                  <a:schemeClr val="bg2"/>
                </a:solidFill>
              </a:rPr>
              <a:t>n</a:t>
            </a:r>
            <a:r>
              <a:rPr lang="zh-CN" altLang="en-US">
                <a:solidFill>
                  <a:schemeClr val="bg2"/>
                </a:solidFill>
              </a:rPr>
              <a:t>=8的子问题计算顺序</a:t>
            </a:r>
            <a:endParaRPr lang="zh-CN" altLang="en-US" b="1" i="1">
              <a:solidFill>
                <a:schemeClr val="bg2"/>
              </a:solidFill>
            </a:endParaRPr>
          </a:p>
        </p:txBody>
      </p:sp>
      <p:pic>
        <p:nvPicPr>
          <p:cNvPr id="3" name="20 2"/>
          <p:cNvPicPr>
            <a:picLocks noChangeAspect="1"/>
          </p:cNvPicPr>
          <p:nvPr/>
        </p:nvPicPr>
        <p:blipFill>
          <a:blip r:embed="rId1"/>
          <a:stretch>
            <a:fillRect/>
          </a:stretch>
        </p:blipFill>
        <p:spPr>
          <a:xfrm>
            <a:off x="1190625" y="2259965"/>
            <a:ext cx="6405245" cy="4039870"/>
          </a:xfrm>
          <a:prstGeom prst="rect">
            <a:avLst/>
          </a:prstGeom>
        </p:spPr>
      </p:pic>
    </p:spTree>
  </p:cSld>
  <p:clrMapOvr>
    <a:masterClrMapping/>
  </p:clrMapOvr>
  <p:transition spd="slow"/>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3.2 </a:t>
            </a:r>
            <a:r>
              <a:rPr kumimoji="0" lang="zh-CN" altLang="en-US" kern="1200" dirty="0" smtClean="0">
                <a:solidFill>
                  <a:schemeClr val="accent2"/>
                </a:solidFill>
                <a:sym typeface="+mn-ea"/>
              </a:rPr>
              <a:t>动态规划算法设计</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10" name="文本框 9"/>
          <p:cNvSpPr txBox="1"/>
          <p:nvPr/>
        </p:nvSpPr>
        <p:spPr>
          <a:xfrm>
            <a:off x="506730" y="1473835"/>
            <a:ext cx="8022590" cy="570865"/>
          </a:xfrm>
          <a:prstGeom prst="rect">
            <a:avLst/>
          </a:prstGeom>
          <a:noFill/>
        </p:spPr>
        <p:txBody>
          <a:bodyPr wrap="square" rtlCol="0" anchor="t">
            <a:spAutoFit/>
          </a:bodyPr>
          <a:lstStyle/>
          <a:p>
            <a:pPr marL="800100" lvl="1" indent="-342900" algn="just">
              <a:lnSpc>
                <a:spcPct val="130000"/>
              </a:lnSpc>
              <a:spcBef>
                <a:spcPts val="0"/>
              </a:spcBef>
              <a:spcAft>
                <a:spcPts val="0"/>
              </a:spcAft>
              <a:buFont typeface="Wingdings" panose="05000000000000000000" charset="0"/>
              <a:buChar char="Ø"/>
            </a:pPr>
            <a:r>
              <a:rPr lang="zh-CN">
                <a:solidFill>
                  <a:schemeClr val="bg2"/>
                </a:solidFill>
              </a:rPr>
              <a:t>实例</a:t>
            </a:r>
            <a:endParaRPr lang="zh-CN">
              <a:solidFill>
                <a:schemeClr val="bg2"/>
              </a:solidFill>
            </a:endParaRPr>
          </a:p>
        </p:txBody>
      </p:sp>
      <p:pic>
        <p:nvPicPr>
          <p:cNvPr id="4" name="20 3"/>
          <p:cNvPicPr>
            <a:picLocks noChangeAspect="1"/>
          </p:cNvPicPr>
          <p:nvPr/>
        </p:nvPicPr>
        <p:blipFill>
          <a:blip r:embed="rId1"/>
          <a:stretch>
            <a:fillRect/>
          </a:stretch>
        </p:blipFill>
        <p:spPr>
          <a:xfrm>
            <a:off x="1353185" y="2044700"/>
            <a:ext cx="5259070" cy="905510"/>
          </a:xfrm>
          <a:prstGeom prst="rect">
            <a:avLst/>
          </a:prstGeom>
        </p:spPr>
      </p:pic>
      <p:pic>
        <p:nvPicPr>
          <p:cNvPr id="5" name="20 4"/>
          <p:cNvPicPr>
            <a:picLocks noChangeAspect="1"/>
          </p:cNvPicPr>
          <p:nvPr/>
        </p:nvPicPr>
        <p:blipFill>
          <a:blip r:embed="rId2"/>
          <a:stretch>
            <a:fillRect/>
          </a:stretch>
        </p:blipFill>
        <p:spPr>
          <a:xfrm>
            <a:off x="1353185" y="3126740"/>
            <a:ext cx="5570855" cy="1394460"/>
          </a:xfrm>
          <a:prstGeom prst="rect">
            <a:avLst/>
          </a:prstGeom>
        </p:spPr>
      </p:pic>
      <p:pic>
        <p:nvPicPr>
          <p:cNvPr id="8" name="20 7"/>
          <p:cNvPicPr>
            <a:picLocks noChangeAspect="1"/>
          </p:cNvPicPr>
          <p:nvPr/>
        </p:nvPicPr>
        <p:blipFill>
          <a:blip r:embed="rId3"/>
          <a:stretch>
            <a:fillRect/>
          </a:stretch>
        </p:blipFill>
        <p:spPr>
          <a:xfrm>
            <a:off x="1397000" y="4698365"/>
            <a:ext cx="5527040" cy="849630"/>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3.2 </a:t>
            </a:r>
            <a:r>
              <a:rPr kumimoji="0" lang="zh-CN" altLang="en-US" kern="1200" dirty="0" smtClean="0">
                <a:solidFill>
                  <a:schemeClr val="accent2"/>
                </a:solidFill>
                <a:sym typeface="+mn-ea"/>
              </a:rPr>
              <a:t>动态规划算法设计</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3" name="文本框 2"/>
          <p:cNvSpPr txBox="1"/>
          <p:nvPr/>
        </p:nvSpPr>
        <p:spPr>
          <a:xfrm>
            <a:off x="579120" y="1680210"/>
            <a:ext cx="4362450" cy="460375"/>
          </a:xfrm>
          <a:prstGeom prst="rect">
            <a:avLst/>
          </a:prstGeom>
          <a:noFill/>
        </p:spPr>
        <p:txBody>
          <a:bodyPr wrap="none" rtlCol="0" anchor="t">
            <a:spAutoFit/>
          </a:bodyPr>
          <a:lstStyle/>
          <a:p>
            <a:r>
              <a:rPr lang="zh-CN" altLang="en-US" b="1" noProof="0" dirty="0">
                <a:ln>
                  <a:noFill/>
                </a:ln>
                <a:solidFill>
                  <a:srgbClr val="C00000"/>
                </a:solidFill>
                <a:effectLst/>
                <a:uLnTx/>
                <a:uFillTx/>
                <a:cs typeface="Times New Roman" panose="02020603050405020304" pitchFamily="18" charset="0"/>
                <a:sym typeface="+mn-ea"/>
              </a:rPr>
              <a:t>备忘录：矩阵</a:t>
            </a:r>
            <a:r>
              <a:rPr lang="en-US" altLang="zh-CN" b="1" i="1" noProof="0" dirty="0">
                <a:ln>
                  <a:noFill/>
                </a:ln>
                <a:solidFill>
                  <a:srgbClr val="C00000"/>
                </a:solidFill>
                <a:effectLst/>
                <a:uLnTx/>
                <a:uFillTx/>
                <a:cs typeface="Times New Roman" panose="02020603050405020304" pitchFamily="18" charset="0"/>
                <a:sym typeface="+mn-ea"/>
              </a:rPr>
              <a:t>m      </a:t>
            </a:r>
            <a:r>
              <a:rPr lang="zh-CN" altLang="en-US" b="1" noProof="0" dirty="0">
                <a:ln>
                  <a:noFill/>
                </a:ln>
                <a:solidFill>
                  <a:srgbClr val="C00000"/>
                </a:solidFill>
                <a:effectLst/>
                <a:uLnTx/>
                <a:uFillTx/>
                <a:cs typeface="Times New Roman" panose="02020603050405020304" pitchFamily="18" charset="0"/>
                <a:sym typeface="+mn-ea"/>
              </a:rPr>
              <a:t>标记函数：</a:t>
            </a:r>
            <a:r>
              <a:rPr lang="en-US" altLang="zh-CN" b="1" i="1" noProof="0" dirty="0">
                <a:ln>
                  <a:noFill/>
                </a:ln>
                <a:solidFill>
                  <a:srgbClr val="C00000"/>
                </a:solidFill>
                <a:effectLst/>
                <a:uLnTx/>
                <a:uFillTx/>
                <a:cs typeface="Times New Roman" panose="02020603050405020304" pitchFamily="18" charset="0"/>
                <a:sym typeface="+mn-ea"/>
              </a:rPr>
              <a:t>s</a:t>
            </a:r>
            <a:endParaRPr lang="en-US" altLang="zh-CN" b="1" i="1" noProof="0" dirty="0">
              <a:ln>
                <a:noFill/>
              </a:ln>
              <a:solidFill>
                <a:srgbClr val="C00000"/>
              </a:solidFill>
              <a:effectLst/>
              <a:uLnTx/>
              <a:uFillTx/>
              <a:cs typeface="Times New Roman" panose="02020603050405020304" pitchFamily="18" charset="0"/>
              <a:sym typeface="+mn-ea"/>
            </a:endParaRPr>
          </a:p>
        </p:txBody>
      </p:sp>
      <p:graphicFrame>
        <p:nvGraphicFramePr>
          <p:cNvPr id="6" name="表格 5"/>
          <p:cNvGraphicFramePr>
            <a:graphicFrameLocks noGrp="1"/>
          </p:cNvGraphicFramePr>
          <p:nvPr>
            <p:custDataLst>
              <p:tags r:id="rId1"/>
            </p:custDataLst>
          </p:nvPr>
        </p:nvGraphicFramePr>
        <p:xfrm>
          <a:off x="578803" y="2175193"/>
          <a:ext cx="8286750" cy="1785936"/>
        </p:xfrm>
        <a:graphic>
          <a:graphicData uri="http://schemas.openxmlformats.org/drawingml/2006/table">
            <a:tbl>
              <a:tblPr/>
              <a:tblGrid>
                <a:gridCol w="552450"/>
                <a:gridCol w="1632018"/>
                <a:gridCol w="1525563"/>
                <a:gridCol w="1525563"/>
                <a:gridCol w="1525563"/>
                <a:gridCol w="1525563"/>
              </a:tblGrid>
              <a:tr h="357187">
                <a:tc>
                  <a:txBody>
                    <a:bodyPr/>
                    <a:lstStyle/>
                    <a:p>
                      <a:pPr algn="just">
                        <a:spcAft>
                          <a:spcPts val="0"/>
                        </a:spcAft>
                      </a:pPr>
                      <a:r>
                        <a:rPr lang="en-US" sz="2000" b="1" i="1" kern="100" dirty="0">
                          <a:solidFill>
                            <a:schemeClr val="bg2"/>
                          </a:solidFill>
                          <a:latin typeface="Times New Roman" panose="02020603050405020304"/>
                          <a:ea typeface="宋体" panose="02010600030101010101" pitchFamily="2" charset="-122"/>
                          <a:cs typeface="Times New Roman" panose="02020603050405020304"/>
                        </a:rPr>
                        <a:t>r</a:t>
                      </a:r>
                      <a:r>
                        <a:rPr lang="en-US" sz="2000" b="1" kern="100" dirty="0">
                          <a:solidFill>
                            <a:schemeClr val="bg2"/>
                          </a:solidFill>
                          <a:latin typeface="Times New Roman" panose="02020603050405020304"/>
                          <a:ea typeface="宋体" panose="02010600030101010101" pitchFamily="2" charset="-122"/>
                          <a:cs typeface="Times New Roman" panose="02020603050405020304"/>
                        </a:rPr>
                        <a:t>=1</a:t>
                      </a:r>
                      <a:endParaRPr lang="en-US" sz="20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just">
                        <a:spcAft>
                          <a:spcPts val="0"/>
                        </a:spcAft>
                      </a:pPr>
                      <a:r>
                        <a:rPr lang="en-US" altLang="zh-CN" sz="2000" b="1" i="1" kern="100" dirty="0" smtClean="0">
                          <a:solidFill>
                            <a:schemeClr val="bg2"/>
                          </a:solidFill>
                          <a:latin typeface="Times New Roman" panose="02020603050405020304"/>
                          <a:ea typeface="宋体" panose="02010600030101010101" pitchFamily="2" charset="-122"/>
                          <a:cs typeface="Times New Roman" panose="02020603050405020304"/>
                        </a:rPr>
                        <a:t>m</a:t>
                      </a:r>
                      <a:r>
                        <a:rPr lang="en-US" sz="2000" b="1" kern="100" dirty="0" smtClean="0">
                          <a:solidFill>
                            <a:schemeClr val="bg2"/>
                          </a:solidFill>
                          <a:latin typeface="Times New Roman" panose="02020603050405020304"/>
                          <a:ea typeface="宋体" panose="02010600030101010101" pitchFamily="2" charset="-122"/>
                          <a:cs typeface="Times New Roman" panose="02020603050405020304"/>
                        </a:rPr>
                        <a:t>[1,1</a:t>
                      </a:r>
                      <a:r>
                        <a:rPr lang="en-US" sz="2000" b="1" kern="100" dirty="0">
                          <a:solidFill>
                            <a:schemeClr val="bg2"/>
                          </a:solidFill>
                          <a:latin typeface="Times New Roman" panose="02020603050405020304"/>
                          <a:ea typeface="宋体" panose="02010600030101010101" pitchFamily="2" charset="-122"/>
                          <a:cs typeface="Times New Roman" panose="02020603050405020304"/>
                        </a:rPr>
                        <a:t>]</a:t>
                      </a:r>
                      <a:endParaRPr lang="en-US" sz="20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just">
                        <a:spcAft>
                          <a:spcPts val="0"/>
                        </a:spcAft>
                      </a:pPr>
                      <a:r>
                        <a:rPr lang="en-US" sz="2000" b="1" i="1" kern="100" dirty="0">
                          <a:solidFill>
                            <a:schemeClr val="bg2"/>
                          </a:solidFill>
                          <a:latin typeface="Times New Roman" panose="02020603050405020304"/>
                          <a:ea typeface="宋体" panose="02010600030101010101" pitchFamily="2" charset="-122"/>
                          <a:cs typeface="Times New Roman" panose="02020603050405020304"/>
                        </a:rPr>
                        <a:t>m</a:t>
                      </a:r>
                      <a:r>
                        <a:rPr lang="en-US" sz="2000" b="1" kern="100" dirty="0">
                          <a:solidFill>
                            <a:schemeClr val="bg2"/>
                          </a:solidFill>
                          <a:latin typeface="Times New Roman" panose="02020603050405020304"/>
                          <a:ea typeface="宋体" panose="02010600030101010101" pitchFamily="2" charset="-122"/>
                          <a:cs typeface="Times New Roman" panose="02020603050405020304"/>
                        </a:rPr>
                        <a:t>[2,2]</a:t>
                      </a:r>
                      <a:endParaRPr lang="en-US" sz="20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just">
                        <a:spcAft>
                          <a:spcPts val="0"/>
                        </a:spcAft>
                      </a:pPr>
                      <a:r>
                        <a:rPr lang="en-US" sz="2000" b="1" i="1" kern="100" dirty="0">
                          <a:solidFill>
                            <a:schemeClr val="bg2"/>
                          </a:solidFill>
                          <a:latin typeface="Times New Roman" panose="02020603050405020304"/>
                          <a:ea typeface="宋体" panose="02010600030101010101" pitchFamily="2" charset="-122"/>
                          <a:cs typeface="Times New Roman" panose="02020603050405020304"/>
                        </a:rPr>
                        <a:t>m</a:t>
                      </a:r>
                      <a:r>
                        <a:rPr lang="en-US" sz="2000" b="1" kern="100" dirty="0">
                          <a:solidFill>
                            <a:schemeClr val="bg2"/>
                          </a:solidFill>
                          <a:latin typeface="Times New Roman" panose="02020603050405020304"/>
                          <a:ea typeface="宋体" panose="02010600030101010101" pitchFamily="2" charset="-122"/>
                          <a:cs typeface="Times New Roman" panose="02020603050405020304"/>
                        </a:rPr>
                        <a:t>[3,3]</a:t>
                      </a:r>
                      <a:endParaRPr lang="en-US" sz="20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just">
                        <a:spcAft>
                          <a:spcPts val="0"/>
                        </a:spcAft>
                      </a:pPr>
                      <a:r>
                        <a:rPr lang="en-US" sz="2000" b="1" i="1" kern="100" dirty="0">
                          <a:solidFill>
                            <a:schemeClr val="bg2"/>
                          </a:solidFill>
                          <a:latin typeface="Times New Roman" panose="02020603050405020304"/>
                          <a:ea typeface="宋体" panose="02010600030101010101" pitchFamily="2" charset="-122"/>
                          <a:cs typeface="Times New Roman" panose="02020603050405020304"/>
                        </a:rPr>
                        <a:t>m</a:t>
                      </a:r>
                      <a:r>
                        <a:rPr lang="en-US" sz="2000" b="1" kern="100" dirty="0">
                          <a:solidFill>
                            <a:schemeClr val="bg2"/>
                          </a:solidFill>
                          <a:latin typeface="Times New Roman" panose="02020603050405020304"/>
                          <a:ea typeface="宋体" panose="02010600030101010101" pitchFamily="2" charset="-122"/>
                          <a:cs typeface="Times New Roman" panose="02020603050405020304"/>
                        </a:rPr>
                        <a:t>[4,4]</a:t>
                      </a:r>
                      <a:endParaRPr lang="en-US" sz="20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just">
                        <a:spcAft>
                          <a:spcPts val="0"/>
                        </a:spcAft>
                      </a:pPr>
                      <a:r>
                        <a:rPr lang="en-US" sz="2000" b="1" i="1" kern="100" dirty="0">
                          <a:solidFill>
                            <a:schemeClr val="bg2"/>
                          </a:solidFill>
                          <a:latin typeface="Times New Roman" panose="02020603050405020304"/>
                          <a:ea typeface="宋体" panose="02010600030101010101" pitchFamily="2" charset="-122"/>
                          <a:cs typeface="Times New Roman" panose="02020603050405020304"/>
                        </a:rPr>
                        <a:t>m</a:t>
                      </a:r>
                      <a:r>
                        <a:rPr lang="en-US" sz="2000" b="1" kern="100" dirty="0">
                          <a:solidFill>
                            <a:schemeClr val="bg2"/>
                          </a:solidFill>
                          <a:latin typeface="Times New Roman" panose="02020603050405020304"/>
                          <a:ea typeface="宋体" panose="02010600030101010101" pitchFamily="2" charset="-122"/>
                          <a:cs typeface="Times New Roman" panose="02020603050405020304"/>
                        </a:rPr>
                        <a:t>[5,5]</a:t>
                      </a:r>
                      <a:endParaRPr lang="en-US" sz="20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r>
              <a:tr h="357505">
                <a:tc>
                  <a:txBody>
                    <a:bodyPr/>
                    <a:lstStyle/>
                    <a:p>
                      <a:pPr algn="just">
                        <a:spcAft>
                          <a:spcPts val="0"/>
                        </a:spcAft>
                      </a:pPr>
                      <a:r>
                        <a:rPr lang="en-US" sz="2000" b="1" i="1" kern="100" dirty="0">
                          <a:solidFill>
                            <a:schemeClr val="bg2"/>
                          </a:solidFill>
                          <a:latin typeface="Times New Roman" panose="02020603050405020304"/>
                          <a:ea typeface="宋体" panose="02010600030101010101" pitchFamily="2" charset="-122"/>
                          <a:cs typeface="Times New Roman" panose="02020603050405020304"/>
                        </a:rPr>
                        <a:t>r</a:t>
                      </a:r>
                      <a:r>
                        <a:rPr lang="en-US" sz="2000" b="1" kern="100" dirty="0">
                          <a:solidFill>
                            <a:schemeClr val="bg2"/>
                          </a:solidFill>
                          <a:latin typeface="Times New Roman" panose="02020603050405020304"/>
                          <a:ea typeface="宋体" panose="02010600030101010101" pitchFamily="2" charset="-122"/>
                          <a:cs typeface="Times New Roman" panose="02020603050405020304"/>
                        </a:rPr>
                        <a:t>=2</a:t>
                      </a:r>
                      <a:endParaRPr lang="en-US" sz="20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just">
                        <a:spcAft>
                          <a:spcPts val="0"/>
                        </a:spcAft>
                      </a:pPr>
                      <a:r>
                        <a:rPr lang="en-US" sz="2000" b="1" i="1" kern="100" dirty="0" smtClean="0">
                          <a:solidFill>
                            <a:schemeClr val="bg2"/>
                          </a:solidFill>
                          <a:latin typeface="Times New Roman" panose="02020603050405020304"/>
                          <a:ea typeface="宋体" panose="02010600030101010101" pitchFamily="2" charset="-122"/>
                          <a:cs typeface="Times New Roman" panose="02020603050405020304"/>
                        </a:rPr>
                        <a:t>m</a:t>
                      </a:r>
                      <a:r>
                        <a:rPr lang="en-US" sz="2000" b="1" kern="100" dirty="0" smtClean="0">
                          <a:solidFill>
                            <a:schemeClr val="bg2"/>
                          </a:solidFill>
                          <a:latin typeface="Times New Roman" panose="02020603050405020304"/>
                          <a:ea typeface="宋体" panose="02010600030101010101" pitchFamily="2" charset="-122"/>
                          <a:cs typeface="Times New Roman" panose="02020603050405020304"/>
                        </a:rPr>
                        <a:t>[1,2</a:t>
                      </a:r>
                      <a:r>
                        <a:rPr lang="en-US" sz="2000" b="1" kern="100" dirty="0">
                          <a:solidFill>
                            <a:schemeClr val="bg2"/>
                          </a:solidFill>
                          <a:latin typeface="Times New Roman" panose="02020603050405020304"/>
                          <a:ea typeface="宋体" panose="02010600030101010101" pitchFamily="2" charset="-122"/>
                          <a:cs typeface="Times New Roman" panose="02020603050405020304"/>
                        </a:rPr>
                        <a:t>]</a:t>
                      </a:r>
                      <a:endParaRPr lang="en-US" sz="20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just">
                        <a:spcAft>
                          <a:spcPts val="0"/>
                        </a:spcAft>
                      </a:pPr>
                      <a:r>
                        <a:rPr lang="en-US" sz="2000" b="1" i="1" kern="100">
                          <a:solidFill>
                            <a:schemeClr val="bg2"/>
                          </a:solidFill>
                          <a:latin typeface="Times New Roman" panose="02020603050405020304"/>
                          <a:ea typeface="宋体" panose="02010600030101010101" pitchFamily="2" charset="-122"/>
                          <a:cs typeface="Times New Roman" panose="02020603050405020304"/>
                        </a:rPr>
                        <a:t>m</a:t>
                      </a:r>
                      <a:r>
                        <a:rPr lang="en-US" sz="2000" b="1" kern="100">
                          <a:solidFill>
                            <a:schemeClr val="bg2"/>
                          </a:solidFill>
                          <a:latin typeface="Times New Roman" panose="02020603050405020304"/>
                          <a:ea typeface="宋体" panose="02010600030101010101" pitchFamily="2" charset="-122"/>
                          <a:cs typeface="Times New Roman" panose="02020603050405020304"/>
                        </a:rPr>
                        <a:t>[2,3]</a:t>
                      </a:r>
                      <a:endParaRPr lang="en-US" sz="2000" b="1" kern="10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just">
                        <a:spcAft>
                          <a:spcPts val="0"/>
                        </a:spcAft>
                      </a:pPr>
                      <a:r>
                        <a:rPr lang="en-US" sz="2000" b="1" i="1" kern="100" dirty="0">
                          <a:solidFill>
                            <a:schemeClr val="bg2"/>
                          </a:solidFill>
                          <a:latin typeface="Times New Roman" panose="02020603050405020304"/>
                          <a:ea typeface="宋体" panose="02010600030101010101" pitchFamily="2" charset="-122"/>
                          <a:cs typeface="Times New Roman" panose="02020603050405020304"/>
                        </a:rPr>
                        <a:t>m</a:t>
                      </a:r>
                      <a:r>
                        <a:rPr lang="en-US" sz="2000" b="1" kern="100" dirty="0">
                          <a:solidFill>
                            <a:schemeClr val="bg2"/>
                          </a:solidFill>
                          <a:latin typeface="Times New Roman" panose="02020603050405020304"/>
                          <a:ea typeface="宋体" panose="02010600030101010101" pitchFamily="2" charset="-122"/>
                          <a:cs typeface="Times New Roman" panose="02020603050405020304"/>
                        </a:rPr>
                        <a:t>[3,4]</a:t>
                      </a:r>
                      <a:endParaRPr lang="en-US" sz="20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just">
                        <a:spcAft>
                          <a:spcPts val="0"/>
                        </a:spcAft>
                      </a:pPr>
                      <a:r>
                        <a:rPr lang="en-US" sz="2000" b="1" i="1" kern="100" dirty="0">
                          <a:solidFill>
                            <a:schemeClr val="bg2"/>
                          </a:solidFill>
                          <a:latin typeface="Times New Roman" panose="02020603050405020304"/>
                          <a:ea typeface="宋体" panose="02010600030101010101" pitchFamily="2" charset="-122"/>
                          <a:cs typeface="Times New Roman" panose="02020603050405020304"/>
                        </a:rPr>
                        <a:t>m</a:t>
                      </a:r>
                      <a:r>
                        <a:rPr lang="en-US" sz="2000" b="1" kern="100" dirty="0">
                          <a:solidFill>
                            <a:schemeClr val="bg2"/>
                          </a:solidFill>
                          <a:latin typeface="Times New Roman" panose="02020603050405020304"/>
                          <a:ea typeface="宋体" panose="02010600030101010101" pitchFamily="2" charset="-122"/>
                          <a:cs typeface="Times New Roman" panose="02020603050405020304"/>
                        </a:rPr>
                        <a:t>[4,5]</a:t>
                      </a:r>
                      <a:endParaRPr lang="en-US" sz="20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just">
                        <a:spcAft>
                          <a:spcPts val="0"/>
                        </a:spcAft>
                      </a:pPr>
                      <a:endParaRPr lang="en-US" sz="20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r>
              <a:tr h="357187">
                <a:tc>
                  <a:txBody>
                    <a:bodyPr/>
                    <a:lstStyle/>
                    <a:p>
                      <a:pPr algn="just">
                        <a:spcAft>
                          <a:spcPts val="0"/>
                        </a:spcAft>
                      </a:pPr>
                      <a:r>
                        <a:rPr lang="en-US" sz="2000" b="1" i="1" kern="100" dirty="0">
                          <a:solidFill>
                            <a:schemeClr val="bg2"/>
                          </a:solidFill>
                          <a:latin typeface="Times New Roman" panose="02020603050405020304"/>
                          <a:ea typeface="宋体" panose="02010600030101010101" pitchFamily="2" charset="-122"/>
                          <a:cs typeface="Times New Roman" panose="02020603050405020304"/>
                        </a:rPr>
                        <a:t>r</a:t>
                      </a:r>
                      <a:r>
                        <a:rPr lang="en-US" sz="2000" b="1" kern="100" dirty="0">
                          <a:solidFill>
                            <a:schemeClr val="bg2"/>
                          </a:solidFill>
                          <a:latin typeface="Times New Roman" panose="02020603050405020304"/>
                          <a:ea typeface="宋体" panose="02010600030101010101" pitchFamily="2" charset="-122"/>
                          <a:cs typeface="Times New Roman" panose="02020603050405020304"/>
                        </a:rPr>
                        <a:t>=3</a:t>
                      </a:r>
                      <a:endParaRPr lang="en-US" sz="20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just">
                        <a:spcAft>
                          <a:spcPts val="0"/>
                        </a:spcAft>
                      </a:pPr>
                      <a:r>
                        <a:rPr lang="en-US" sz="2000" b="1" i="1" kern="100" dirty="0" smtClean="0">
                          <a:solidFill>
                            <a:schemeClr val="bg2"/>
                          </a:solidFill>
                          <a:latin typeface="Times New Roman" panose="02020603050405020304"/>
                          <a:ea typeface="宋体" panose="02010600030101010101" pitchFamily="2" charset="-122"/>
                          <a:cs typeface="Times New Roman" panose="02020603050405020304"/>
                        </a:rPr>
                        <a:t>m</a:t>
                      </a:r>
                      <a:r>
                        <a:rPr lang="en-US" sz="2000" b="1" kern="100" dirty="0" smtClean="0">
                          <a:solidFill>
                            <a:schemeClr val="bg2"/>
                          </a:solidFill>
                          <a:latin typeface="Times New Roman" panose="02020603050405020304"/>
                          <a:ea typeface="宋体" panose="02010600030101010101" pitchFamily="2" charset="-122"/>
                          <a:cs typeface="Times New Roman" panose="02020603050405020304"/>
                        </a:rPr>
                        <a:t>[1,3</a:t>
                      </a:r>
                      <a:r>
                        <a:rPr lang="en-US" sz="2000" b="1" kern="100" dirty="0">
                          <a:solidFill>
                            <a:schemeClr val="bg2"/>
                          </a:solidFill>
                          <a:latin typeface="Times New Roman" panose="02020603050405020304"/>
                          <a:ea typeface="宋体" panose="02010600030101010101" pitchFamily="2" charset="-122"/>
                          <a:cs typeface="Times New Roman" panose="02020603050405020304"/>
                        </a:rPr>
                        <a:t>]</a:t>
                      </a:r>
                      <a:endParaRPr lang="en-US" sz="20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just">
                        <a:spcAft>
                          <a:spcPts val="0"/>
                        </a:spcAft>
                      </a:pPr>
                      <a:r>
                        <a:rPr lang="en-US" sz="2000" b="1" i="1" kern="100">
                          <a:solidFill>
                            <a:schemeClr val="bg2"/>
                          </a:solidFill>
                          <a:latin typeface="Times New Roman" panose="02020603050405020304"/>
                          <a:ea typeface="宋体" panose="02010600030101010101" pitchFamily="2" charset="-122"/>
                          <a:cs typeface="Times New Roman" panose="02020603050405020304"/>
                        </a:rPr>
                        <a:t>m</a:t>
                      </a:r>
                      <a:r>
                        <a:rPr lang="en-US" sz="2000" b="1" kern="100">
                          <a:solidFill>
                            <a:schemeClr val="bg2"/>
                          </a:solidFill>
                          <a:latin typeface="Times New Roman" panose="02020603050405020304"/>
                          <a:ea typeface="宋体" panose="02010600030101010101" pitchFamily="2" charset="-122"/>
                          <a:cs typeface="Times New Roman" panose="02020603050405020304"/>
                        </a:rPr>
                        <a:t>[2,4]</a:t>
                      </a:r>
                      <a:endParaRPr lang="en-US" sz="2000" b="1" kern="10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just">
                        <a:spcAft>
                          <a:spcPts val="0"/>
                        </a:spcAft>
                      </a:pPr>
                      <a:r>
                        <a:rPr lang="en-US" sz="2000" b="1" i="1" kern="100">
                          <a:solidFill>
                            <a:schemeClr val="bg2"/>
                          </a:solidFill>
                          <a:latin typeface="Times New Roman" panose="02020603050405020304"/>
                          <a:ea typeface="宋体" panose="02010600030101010101" pitchFamily="2" charset="-122"/>
                          <a:cs typeface="Times New Roman" panose="02020603050405020304"/>
                        </a:rPr>
                        <a:t>m</a:t>
                      </a:r>
                      <a:r>
                        <a:rPr lang="en-US" sz="2000" b="1" kern="100">
                          <a:solidFill>
                            <a:schemeClr val="bg2"/>
                          </a:solidFill>
                          <a:latin typeface="Times New Roman" panose="02020603050405020304"/>
                          <a:ea typeface="宋体" panose="02010600030101010101" pitchFamily="2" charset="-122"/>
                          <a:cs typeface="Times New Roman" panose="02020603050405020304"/>
                        </a:rPr>
                        <a:t>[3,5]</a:t>
                      </a:r>
                      <a:endParaRPr lang="en-US" sz="2000" b="1" kern="10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just">
                        <a:spcAft>
                          <a:spcPts val="0"/>
                        </a:spcAft>
                      </a:pPr>
                      <a:endParaRPr lang="en-US" sz="2000" b="1" kern="10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just">
                        <a:spcAft>
                          <a:spcPts val="0"/>
                        </a:spcAft>
                      </a:pPr>
                      <a:endParaRPr lang="en-US" sz="20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r>
              <a:tr h="356870">
                <a:tc>
                  <a:txBody>
                    <a:bodyPr/>
                    <a:lstStyle/>
                    <a:p>
                      <a:pPr algn="just">
                        <a:spcAft>
                          <a:spcPts val="0"/>
                        </a:spcAft>
                      </a:pPr>
                      <a:r>
                        <a:rPr lang="en-US" sz="2000" b="1" i="1" kern="100" dirty="0">
                          <a:solidFill>
                            <a:schemeClr val="bg2"/>
                          </a:solidFill>
                          <a:latin typeface="Times New Roman" panose="02020603050405020304"/>
                          <a:ea typeface="宋体" panose="02010600030101010101" pitchFamily="2" charset="-122"/>
                          <a:cs typeface="Times New Roman" panose="02020603050405020304"/>
                        </a:rPr>
                        <a:t>r</a:t>
                      </a:r>
                      <a:r>
                        <a:rPr lang="en-US" sz="2000" b="1" kern="100" dirty="0">
                          <a:solidFill>
                            <a:schemeClr val="bg2"/>
                          </a:solidFill>
                          <a:latin typeface="Times New Roman" panose="02020603050405020304"/>
                          <a:ea typeface="宋体" panose="02010600030101010101" pitchFamily="2" charset="-122"/>
                          <a:cs typeface="Times New Roman" panose="02020603050405020304"/>
                        </a:rPr>
                        <a:t>=4</a:t>
                      </a:r>
                      <a:endParaRPr lang="en-US" sz="20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just">
                        <a:spcAft>
                          <a:spcPts val="0"/>
                        </a:spcAft>
                      </a:pPr>
                      <a:r>
                        <a:rPr lang="en-US" sz="2000" b="1" i="1" kern="100" dirty="0" smtClean="0">
                          <a:solidFill>
                            <a:schemeClr val="bg2"/>
                          </a:solidFill>
                          <a:latin typeface="Times New Roman" panose="02020603050405020304"/>
                          <a:ea typeface="宋体" panose="02010600030101010101" pitchFamily="2" charset="-122"/>
                          <a:cs typeface="Times New Roman" panose="02020603050405020304"/>
                        </a:rPr>
                        <a:t>m</a:t>
                      </a:r>
                      <a:r>
                        <a:rPr lang="en-US" sz="2000" b="1" kern="100" dirty="0" smtClean="0">
                          <a:solidFill>
                            <a:schemeClr val="bg2"/>
                          </a:solidFill>
                          <a:latin typeface="Times New Roman" panose="02020603050405020304"/>
                          <a:ea typeface="宋体" panose="02010600030101010101" pitchFamily="2" charset="-122"/>
                          <a:cs typeface="Times New Roman" panose="02020603050405020304"/>
                        </a:rPr>
                        <a:t>[1,4</a:t>
                      </a:r>
                      <a:r>
                        <a:rPr lang="en-US" sz="2000" b="1" kern="100" dirty="0">
                          <a:solidFill>
                            <a:schemeClr val="bg2"/>
                          </a:solidFill>
                          <a:latin typeface="Times New Roman" panose="02020603050405020304"/>
                          <a:ea typeface="宋体" panose="02010600030101010101" pitchFamily="2" charset="-122"/>
                          <a:cs typeface="Times New Roman" panose="02020603050405020304"/>
                        </a:rPr>
                        <a:t>]</a:t>
                      </a:r>
                      <a:endParaRPr lang="en-US" sz="20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just">
                        <a:spcAft>
                          <a:spcPts val="0"/>
                        </a:spcAft>
                      </a:pPr>
                      <a:r>
                        <a:rPr lang="en-US" sz="2000" b="1" i="1" kern="100">
                          <a:solidFill>
                            <a:schemeClr val="bg2"/>
                          </a:solidFill>
                          <a:latin typeface="Times New Roman" panose="02020603050405020304"/>
                          <a:ea typeface="宋体" panose="02010600030101010101" pitchFamily="2" charset="-122"/>
                          <a:cs typeface="Times New Roman" panose="02020603050405020304"/>
                        </a:rPr>
                        <a:t>m</a:t>
                      </a:r>
                      <a:r>
                        <a:rPr lang="en-US" sz="2000" b="1" kern="100">
                          <a:solidFill>
                            <a:schemeClr val="bg2"/>
                          </a:solidFill>
                          <a:latin typeface="Times New Roman" panose="02020603050405020304"/>
                          <a:ea typeface="宋体" panose="02010600030101010101" pitchFamily="2" charset="-122"/>
                          <a:cs typeface="Times New Roman" panose="02020603050405020304"/>
                        </a:rPr>
                        <a:t>[2,5]</a:t>
                      </a:r>
                      <a:endParaRPr lang="en-US" sz="2000" b="1" kern="10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just">
                        <a:spcAft>
                          <a:spcPts val="0"/>
                        </a:spcAft>
                      </a:pPr>
                      <a:endParaRPr lang="en-US" sz="2000" b="1" kern="10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just">
                        <a:spcAft>
                          <a:spcPts val="0"/>
                        </a:spcAft>
                      </a:pPr>
                      <a:endParaRPr lang="en-US" sz="2000" b="1" kern="10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just">
                        <a:spcAft>
                          <a:spcPts val="0"/>
                        </a:spcAft>
                      </a:pPr>
                      <a:endParaRPr lang="en-US" sz="20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r>
              <a:tr h="357187">
                <a:tc>
                  <a:txBody>
                    <a:bodyPr/>
                    <a:lstStyle/>
                    <a:p>
                      <a:pPr algn="just">
                        <a:spcAft>
                          <a:spcPts val="0"/>
                        </a:spcAft>
                      </a:pPr>
                      <a:r>
                        <a:rPr lang="en-US" sz="2000" b="1" i="1" kern="100" dirty="0">
                          <a:solidFill>
                            <a:schemeClr val="bg2"/>
                          </a:solidFill>
                          <a:latin typeface="Times New Roman" panose="02020603050405020304"/>
                          <a:ea typeface="宋体" panose="02010600030101010101" pitchFamily="2" charset="-122"/>
                          <a:cs typeface="Times New Roman" panose="02020603050405020304"/>
                        </a:rPr>
                        <a:t>r</a:t>
                      </a:r>
                      <a:r>
                        <a:rPr lang="en-US" sz="2000" b="1" kern="100" dirty="0">
                          <a:solidFill>
                            <a:schemeClr val="bg2"/>
                          </a:solidFill>
                          <a:latin typeface="Times New Roman" panose="02020603050405020304"/>
                          <a:ea typeface="宋体" panose="02010600030101010101" pitchFamily="2" charset="-122"/>
                          <a:cs typeface="Times New Roman" panose="02020603050405020304"/>
                        </a:rPr>
                        <a:t>=5</a:t>
                      </a:r>
                      <a:endParaRPr lang="en-US" sz="20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just">
                        <a:spcAft>
                          <a:spcPts val="0"/>
                        </a:spcAft>
                      </a:pPr>
                      <a:r>
                        <a:rPr lang="en-US" sz="2000" b="1" i="1" kern="100" dirty="0" smtClean="0">
                          <a:solidFill>
                            <a:schemeClr val="bg2"/>
                          </a:solidFill>
                          <a:latin typeface="Times New Roman" panose="02020603050405020304"/>
                          <a:ea typeface="宋体" panose="02010600030101010101" pitchFamily="2" charset="-122"/>
                          <a:cs typeface="Times New Roman" panose="02020603050405020304"/>
                        </a:rPr>
                        <a:t>m</a:t>
                      </a:r>
                      <a:r>
                        <a:rPr lang="en-US" sz="2000" b="1" kern="100" dirty="0" smtClean="0">
                          <a:solidFill>
                            <a:schemeClr val="bg2"/>
                          </a:solidFill>
                          <a:latin typeface="Times New Roman" panose="02020603050405020304"/>
                          <a:ea typeface="宋体" panose="02010600030101010101" pitchFamily="2" charset="-122"/>
                          <a:cs typeface="Times New Roman" panose="02020603050405020304"/>
                        </a:rPr>
                        <a:t>[1,5</a:t>
                      </a:r>
                      <a:r>
                        <a:rPr lang="en-US" sz="2000" b="1" kern="100" dirty="0">
                          <a:solidFill>
                            <a:schemeClr val="bg2"/>
                          </a:solidFill>
                          <a:latin typeface="Times New Roman" panose="02020603050405020304"/>
                          <a:ea typeface="宋体" panose="02010600030101010101" pitchFamily="2" charset="-122"/>
                          <a:cs typeface="Times New Roman" panose="02020603050405020304"/>
                        </a:rPr>
                        <a:t>]</a:t>
                      </a:r>
                      <a:endParaRPr lang="en-US" sz="20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just">
                        <a:spcAft>
                          <a:spcPts val="0"/>
                        </a:spcAft>
                      </a:pPr>
                      <a:endParaRPr lang="en-US" sz="2000" b="1" kern="10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just">
                        <a:spcAft>
                          <a:spcPts val="0"/>
                        </a:spcAft>
                      </a:pPr>
                      <a:endParaRPr lang="en-US" sz="20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just">
                        <a:spcAft>
                          <a:spcPts val="0"/>
                        </a:spcAft>
                      </a:pPr>
                      <a:endParaRPr lang="en-US" sz="2000" b="1" kern="10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just">
                        <a:spcAft>
                          <a:spcPts val="0"/>
                        </a:spcAft>
                      </a:pPr>
                      <a:endParaRPr lang="en-US" sz="20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r>
            </a:tbl>
          </a:graphicData>
        </a:graphic>
      </p:graphicFrame>
      <p:graphicFrame>
        <p:nvGraphicFramePr>
          <p:cNvPr id="7" name="表格 6"/>
          <p:cNvGraphicFramePr>
            <a:graphicFrameLocks noGrp="1"/>
          </p:cNvGraphicFramePr>
          <p:nvPr>
            <p:custDataLst>
              <p:tags r:id="rId2"/>
            </p:custDataLst>
          </p:nvPr>
        </p:nvGraphicFramePr>
        <p:xfrm>
          <a:off x="578485" y="4541203"/>
          <a:ext cx="8215630" cy="1219200"/>
        </p:xfrm>
        <a:graphic>
          <a:graphicData uri="http://schemas.openxmlformats.org/drawingml/2006/table">
            <a:tbl>
              <a:tblPr/>
              <a:tblGrid>
                <a:gridCol w="571500"/>
                <a:gridCol w="1594166"/>
                <a:gridCol w="1512412"/>
                <a:gridCol w="1512412"/>
                <a:gridCol w="1512412"/>
                <a:gridCol w="1512412"/>
              </a:tblGrid>
              <a:tr h="304800">
                <a:tc>
                  <a:txBody>
                    <a:bodyPr/>
                    <a:lstStyle/>
                    <a:p>
                      <a:pPr algn="just">
                        <a:spcAft>
                          <a:spcPts val="0"/>
                        </a:spcAft>
                      </a:pPr>
                      <a:r>
                        <a:rPr lang="en-US" sz="2200" b="1" i="1" kern="100" dirty="0">
                          <a:solidFill>
                            <a:schemeClr val="bg2"/>
                          </a:solidFill>
                          <a:latin typeface="Times New Roman" panose="02020603050405020304"/>
                          <a:ea typeface="宋体" panose="02010600030101010101" pitchFamily="2" charset="-122"/>
                          <a:cs typeface="Times New Roman" panose="02020603050405020304"/>
                        </a:rPr>
                        <a:t>r</a:t>
                      </a:r>
                      <a:r>
                        <a:rPr lang="en-US" sz="2200" b="1" kern="100" dirty="0">
                          <a:solidFill>
                            <a:schemeClr val="bg2"/>
                          </a:solidFill>
                          <a:latin typeface="Times New Roman" panose="02020603050405020304"/>
                          <a:ea typeface="宋体" panose="02010600030101010101" pitchFamily="2" charset="-122"/>
                          <a:cs typeface="Times New Roman" panose="02020603050405020304"/>
                        </a:rPr>
                        <a:t>=2</a:t>
                      </a:r>
                      <a:endParaRPr lang="en-US" sz="22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just">
                        <a:spcAft>
                          <a:spcPts val="0"/>
                        </a:spcAft>
                      </a:pPr>
                      <a:r>
                        <a:rPr lang="en-US" sz="2200" b="1" i="1" kern="100">
                          <a:solidFill>
                            <a:schemeClr val="bg2"/>
                          </a:solidFill>
                          <a:latin typeface="Times New Roman" panose="02020603050405020304"/>
                          <a:ea typeface="宋体" panose="02010600030101010101" pitchFamily="2" charset="-122"/>
                          <a:cs typeface="Times New Roman" panose="02020603050405020304"/>
                        </a:rPr>
                        <a:t>s</a:t>
                      </a:r>
                      <a:r>
                        <a:rPr lang="en-US" sz="2200" b="1" kern="100">
                          <a:solidFill>
                            <a:schemeClr val="bg2"/>
                          </a:solidFill>
                          <a:latin typeface="Times New Roman" panose="02020603050405020304"/>
                          <a:ea typeface="宋体" panose="02010600030101010101" pitchFamily="2" charset="-122"/>
                          <a:cs typeface="Times New Roman" panose="02020603050405020304"/>
                        </a:rPr>
                        <a:t>[1,2]</a:t>
                      </a:r>
                      <a:endParaRPr lang="en-US" sz="2200" b="1" kern="10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200" b="1" i="1" kern="100" dirty="0">
                          <a:solidFill>
                            <a:schemeClr val="bg2"/>
                          </a:solidFill>
                          <a:latin typeface="Times New Roman" panose="02020603050405020304"/>
                          <a:ea typeface="宋体" panose="02010600030101010101" pitchFamily="2" charset="-122"/>
                          <a:cs typeface="Times New Roman" panose="02020603050405020304"/>
                        </a:rPr>
                        <a:t>s</a:t>
                      </a:r>
                      <a:r>
                        <a:rPr lang="en-US" sz="2200" b="1" kern="100" dirty="0">
                          <a:solidFill>
                            <a:schemeClr val="bg2"/>
                          </a:solidFill>
                          <a:latin typeface="Times New Roman" panose="02020603050405020304"/>
                          <a:ea typeface="宋体" panose="02010600030101010101" pitchFamily="2" charset="-122"/>
                          <a:cs typeface="Times New Roman" panose="02020603050405020304"/>
                        </a:rPr>
                        <a:t>[2,3]</a:t>
                      </a:r>
                      <a:endParaRPr lang="en-US" sz="22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200" b="1" i="1" kern="100">
                          <a:solidFill>
                            <a:schemeClr val="bg2"/>
                          </a:solidFill>
                          <a:latin typeface="Times New Roman" panose="02020603050405020304"/>
                          <a:ea typeface="宋体" panose="02010600030101010101" pitchFamily="2" charset="-122"/>
                          <a:cs typeface="Times New Roman" panose="02020603050405020304"/>
                        </a:rPr>
                        <a:t>s</a:t>
                      </a:r>
                      <a:r>
                        <a:rPr lang="en-US" sz="2200" b="1" kern="100">
                          <a:solidFill>
                            <a:schemeClr val="bg2"/>
                          </a:solidFill>
                          <a:latin typeface="Times New Roman" panose="02020603050405020304"/>
                          <a:ea typeface="宋体" panose="02010600030101010101" pitchFamily="2" charset="-122"/>
                          <a:cs typeface="Times New Roman" panose="02020603050405020304"/>
                        </a:rPr>
                        <a:t>[3,4]</a:t>
                      </a:r>
                      <a:endParaRPr lang="en-US" sz="2200" b="1" kern="10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200" b="1" i="1" kern="100">
                          <a:solidFill>
                            <a:schemeClr val="bg2"/>
                          </a:solidFill>
                          <a:latin typeface="Times New Roman" panose="02020603050405020304"/>
                          <a:ea typeface="宋体" panose="02010600030101010101" pitchFamily="2" charset="-122"/>
                          <a:cs typeface="Times New Roman" panose="02020603050405020304"/>
                        </a:rPr>
                        <a:t>s</a:t>
                      </a:r>
                      <a:r>
                        <a:rPr lang="en-US" sz="2200" b="1" kern="100">
                          <a:solidFill>
                            <a:schemeClr val="bg2"/>
                          </a:solidFill>
                          <a:latin typeface="Times New Roman" panose="02020603050405020304"/>
                          <a:ea typeface="宋体" panose="02010600030101010101" pitchFamily="2" charset="-122"/>
                          <a:cs typeface="Times New Roman" panose="02020603050405020304"/>
                        </a:rPr>
                        <a:t>[4,5]</a:t>
                      </a:r>
                      <a:endParaRPr lang="en-US" sz="2200" b="1" kern="10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2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spcAft>
                          <a:spcPts val="0"/>
                        </a:spcAft>
                      </a:pPr>
                      <a:r>
                        <a:rPr lang="en-US" sz="2200" b="1" i="1" kern="100" dirty="0">
                          <a:solidFill>
                            <a:schemeClr val="bg2"/>
                          </a:solidFill>
                          <a:latin typeface="Times New Roman" panose="02020603050405020304"/>
                          <a:ea typeface="宋体" panose="02010600030101010101" pitchFamily="2" charset="-122"/>
                          <a:cs typeface="Times New Roman" panose="02020603050405020304"/>
                        </a:rPr>
                        <a:t>r</a:t>
                      </a:r>
                      <a:r>
                        <a:rPr lang="en-US" sz="2200" b="1" kern="100" dirty="0">
                          <a:solidFill>
                            <a:schemeClr val="bg2"/>
                          </a:solidFill>
                          <a:latin typeface="Times New Roman" panose="02020603050405020304"/>
                          <a:ea typeface="宋体" panose="02010600030101010101" pitchFamily="2" charset="-122"/>
                          <a:cs typeface="Times New Roman" panose="02020603050405020304"/>
                        </a:rPr>
                        <a:t>=3</a:t>
                      </a:r>
                      <a:endParaRPr lang="en-US" sz="22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just">
                        <a:spcAft>
                          <a:spcPts val="0"/>
                        </a:spcAft>
                      </a:pPr>
                      <a:r>
                        <a:rPr lang="en-US" sz="2200" b="1" i="1" kern="100" dirty="0">
                          <a:solidFill>
                            <a:schemeClr val="bg2"/>
                          </a:solidFill>
                          <a:latin typeface="Times New Roman" panose="02020603050405020304"/>
                          <a:ea typeface="宋体" panose="02010600030101010101" pitchFamily="2" charset="-122"/>
                          <a:cs typeface="Times New Roman" panose="02020603050405020304"/>
                        </a:rPr>
                        <a:t>s</a:t>
                      </a:r>
                      <a:r>
                        <a:rPr lang="en-US" sz="2200" b="1" kern="100" dirty="0">
                          <a:solidFill>
                            <a:schemeClr val="bg2"/>
                          </a:solidFill>
                          <a:latin typeface="Times New Roman" panose="02020603050405020304"/>
                          <a:ea typeface="宋体" panose="02010600030101010101" pitchFamily="2" charset="-122"/>
                          <a:cs typeface="Times New Roman" panose="02020603050405020304"/>
                        </a:rPr>
                        <a:t>[1,3</a:t>
                      </a:r>
                      <a:r>
                        <a:rPr lang="en-US" sz="2200" b="1" kern="100" dirty="0" smtClean="0">
                          <a:solidFill>
                            <a:schemeClr val="bg2"/>
                          </a:solidFill>
                          <a:latin typeface="Times New Roman" panose="02020603050405020304"/>
                          <a:ea typeface="宋体" panose="02010600030101010101" pitchFamily="2" charset="-122"/>
                          <a:cs typeface="Times New Roman" panose="02020603050405020304"/>
                        </a:rPr>
                        <a:t>]</a:t>
                      </a:r>
                      <a:endParaRPr lang="en-US" sz="2200" b="1" kern="100" dirty="0" smtClean="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200" b="1" i="1" kern="100">
                          <a:solidFill>
                            <a:schemeClr val="bg2"/>
                          </a:solidFill>
                          <a:latin typeface="Times New Roman" panose="02020603050405020304"/>
                          <a:ea typeface="宋体" panose="02010600030101010101" pitchFamily="2" charset="-122"/>
                          <a:cs typeface="Times New Roman" panose="02020603050405020304"/>
                        </a:rPr>
                        <a:t>s</a:t>
                      </a:r>
                      <a:r>
                        <a:rPr lang="en-US" sz="2200" b="1" kern="100">
                          <a:solidFill>
                            <a:schemeClr val="bg2"/>
                          </a:solidFill>
                          <a:latin typeface="Times New Roman" panose="02020603050405020304"/>
                          <a:ea typeface="宋体" panose="02010600030101010101" pitchFamily="2" charset="-122"/>
                          <a:cs typeface="Times New Roman" panose="02020603050405020304"/>
                        </a:rPr>
                        <a:t>[2,4]</a:t>
                      </a:r>
                      <a:endParaRPr lang="en-US" sz="2200" b="1" kern="10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200" b="1" i="1" kern="100">
                          <a:solidFill>
                            <a:schemeClr val="bg2"/>
                          </a:solidFill>
                          <a:latin typeface="Times New Roman" panose="02020603050405020304"/>
                          <a:ea typeface="宋体" panose="02010600030101010101" pitchFamily="2" charset="-122"/>
                          <a:cs typeface="Times New Roman" panose="02020603050405020304"/>
                        </a:rPr>
                        <a:t>s</a:t>
                      </a:r>
                      <a:r>
                        <a:rPr lang="en-US" sz="2200" b="1" kern="100">
                          <a:solidFill>
                            <a:schemeClr val="bg2"/>
                          </a:solidFill>
                          <a:latin typeface="Times New Roman" panose="02020603050405020304"/>
                          <a:ea typeface="宋体" panose="02010600030101010101" pitchFamily="2" charset="-122"/>
                          <a:cs typeface="Times New Roman" panose="02020603050405020304"/>
                        </a:rPr>
                        <a:t>[3,5]</a:t>
                      </a:r>
                      <a:endParaRPr lang="en-US" sz="2200" b="1" kern="10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200" b="1" kern="10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2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spcAft>
                          <a:spcPts val="0"/>
                        </a:spcAft>
                      </a:pPr>
                      <a:r>
                        <a:rPr lang="en-US" sz="2200" b="1" i="1" kern="100" dirty="0">
                          <a:solidFill>
                            <a:schemeClr val="bg2"/>
                          </a:solidFill>
                          <a:latin typeface="Times New Roman" panose="02020603050405020304"/>
                          <a:ea typeface="宋体" panose="02010600030101010101" pitchFamily="2" charset="-122"/>
                          <a:cs typeface="Times New Roman" panose="02020603050405020304"/>
                        </a:rPr>
                        <a:t>r</a:t>
                      </a:r>
                      <a:r>
                        <a:rPr lang="en-US" sz="2200" b="1" kern="100" dirty="0">
                          <a:solidFill>
                            <a:schemeClr val="bg2"/>
                          </a:solidFill>
                          <a:latin typeface="Times New Roman" panose="02020603050405020304"/>
                          <a:ea typeface="宋体" panose="02010600030101010101" pitchFamily="2" charset="-122"/>
                          <a:cs typeface="Times New Roman" panose="02020603050405020304"/>
                        </a:rPr>
                        <a:t>=4</a:t>
                      </a:r>
                      <a:endParaRPr lang="en-US" sz="22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just">
                        <a:spcAft>
                          <a:spcPts val="0"/>
                        </a:spcAft>
                      </a:pPr>
                      <a:r>
                        <a:rPr lang="en-US" sz="2200" b="1" i="1" kern="100">
                          <a:solidFill>
                            <a:schemeClr val="bg2"/>
                          </a:solidFill>
                          <a:latin typeface="Times New Roman" panose="02020603050405020304"/>
                          <a:ea typeface="宋体" panose="02010600030101010101" pitchFamily="2" charset="-122"/>
                          <a:cs typeface="Times New Roman" panose="02020603050405020304"/>
                        </a:rPr>
                        <a:t>s</a:t>
                      </a:r>
                      <a:r>
                        <a:rPr lang="en-US" sz="2200" b="1" kern="100">
                          <a:solidFill>
                            <a:schemeClr val="bg2"/>
                          </a:solidFill>
                          <a:latin typeface="Times New Roman" panose="02020603050405020304"/>
                          <a:ea typeface="宋体" panose="02010600030101010101" pitchFamily="2" charset="-122"/>
                          <a:cs typeface="Times New Roman" panose="02020603050405020304"/>
                        </a:rPr>
                        <a:t>[1,4]</a:t>
                      </a:r>
                      <a:endParaRPr lang="en-US" sz="2200" b="1" kern="10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200" b="1" i="1" kern="100">
                          <a:solidFill>
                            <a:schemeClr val="bg2"/>
                          </a:solidFill>
                          <a:latin typeface="Times New Roman" panose="02020603050405020304"/>
                          <a:ea typeface="宋体" panose="02010600030101010101" pitchFamily="2" charset="-122"/>
                          <a:cs typeface="Times New Roman" panose="02020603050405020304"/>
                        </a:rPr>
                        <a:t>s</a:t>
                      </a:r>
                      <a:r>
                        <a:rPr lang="en-US" sz="2200" b="1" kern="100">
                          <a:solidFill>
                            <a:schemeClr val="bg2"/>
                          </a:solidFill>
                          <a:latin typeface="Times New Roman" panose="02020603050405020304"/>
                          <a:ea typeface="宋体" panose="02010600030101010101" pitchFamily="2" charset="-122"/>
                          <a:cs typeface="Times New Roman" panose="02020603050405020304"/>
                        </a:rPr>
                        <a:t>[2,5]</a:t>
                      </a:r>
                      <a:endParaRPr lang="en-US" sz="2200" b="1" kern="10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200" b="1" kern="10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200" b="1" kern="10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2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4800">
                <a:tc>
                  <a:txBody>
                    <a:bodyPr/>
                    <a:lstStyle/>
                    <a:p>
                      <a:pPr algn="just">
                        <a:spcAft>
                          <a:spcPts val="0"/>
                        </a:spcAft>
                      </a:pPr>
                      <a:r>
                        <a:rPr lang="en-US" sz="2200" b="1" i="1" kern="100" dirty="0">
                          <a:solidFill>
                            <a:schemeClr val="bg2"/>
                          </a:solidFill>
                          <a:latin typeface="Times New Roman" panose="02020603050405020304"/>
                          <a:ea typeface="宋体" panose="02010600030101010101" pitchFamily="2" charset="-122"/>
                          <a:cs typeface="Times New Roman" panose="02020603050405020304"/>
                        </a:rPr>
                        <a:t>r</a:t>
                      </a:r>
                      <a:r>
                        <a:rPr lang="en-US" sz="2200" b="1" kern="100" dirty="0">
                          <a:solidFill>
                            <a:schemeClr val="bg2"/>
                          </a:solidFill>
                          <a:latin typeface="Times New Roman" panose="02020603050405020304"/>
                          <a:ea typeface="宋体" panose="02010600030101010101" pitchFamily="2" charset="-122"/>
                          <a:cs typeface="Times New Roman" panose="02020603050405020304"/>
                        </a:rPr>
                        <a:t>=5</a:t>
                      </a:r>
                      <a:endParaRPr lang="en-US" sz="22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just">
                        <a:spcAft>
                          <a:spcPts val="0"/>
                        </a:spcAft>
                      </a:pPr>
                      <a:r>
                        <a:rPr lang="en-US" sz="2200" b="1" i="1" kern="100">
                          <a:solidFill>
                            <a:schemeClr val="bg2"/>
                          </a:solidFill>
                          <a:latin typeface="Times New Roman" panose="02020603050405020304"/>
                          <a:ea typeface="宋体" panose="02010600030101010101" pitchFamily="2" charset="-122"/>
                          <a:cs typeface="Times New Roman" panose="02020603050405020304"/>
                        </a:rPr>
                        <a:t>s</a:t>
                      </a:r>
                      <a:r>
                        <a:rPr lang="en-US" sz="2200" b="1" kern="100">
                          <a:solidFill>
                            <a:schemeClr val="bg2"/>
                          </a:solidFill>
                          <a:latin typeface="Times New Roman" panose="02020603050405020304"/>
                          <a:ea typeface="宋体" panose="02010600030101010101" pitchFamily="2" charset="-122"/>
                          <a:cs typeface="Times New Roman" panose="02020603050405020304"/>
                        </a:rPr>
                        <a:t>[1,5]</a:t>
                      </a:r>
                      <a:endParaRPr lang="en-US" sz="2200" b="1" kern="10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200" b="1" kern="10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2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200" b="1" kern="10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200" b="1" kern="100" dirty="0">
                        <a:solidFill>
                          <a:schemeClr val="bg2"/>
                        </a:solidFill>
                        <a:latin typeface="Times New Roman" panose="02020603050405020304"/>
                        <a:ea typeface="宋体" panose="02010600030101010101" pitchFamily="2" charset="-122"/>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9" name="文本框 8"/>
          <p:cNvSpPr txBox="1"/>
          <p:nvPr/>
        </p:nvSpPr>
        <p:spPr>
          <a:xfrm>
            <a:off x="1921510" y="2117090"/>
            <a:ext cx="509270" cy="460375"/>
          </a:xfrm>
          <a:prstGeom prst="rect">
            <a:avLst/>
          </a:prstGeom>
          <a:noFill/>
        </p:spPr>
        <p:txBody>
          <a:bodyPr wrap="none" rtlCol="0">
            <a:spAutoFit/>
          </a:bodyPr>
          <a:lstStyle/>
          <a:p>
            <a:r>
              <a:rPr lang="en-US" altLang="zh-CN" b="1">
                <a:solidFill>
                  <a:schemeClr val="bg2"/>
                </a:solidFill>
              </a:rPr>
              <a:t>=0</a:t>
            </a:r>
            <a:endParaRPr lang="en-US" altLang="zh-CN" b="1">
              <a:solidFill>
                <a:schemeClr val="bg2"/>
              </a:solidFill>
            </a:endParaRPr>
          </a:p>
        </p:txBody>
      </p:sp>
      <p:sp>
        <p:nvSpPr>
          <p:cNvPr id="12" name="文本框 11"/>
          <p:cNvSpPr txBox="1"/>
          <p:nvPr/>
        </p:nvSpPr>
        <p:spPr>
          <a:xfrm>
            <a:off x="3555365" y="2141855"/>
            <a:ext cx="509270" cy="460375"/>
          </a:xfrm>
          <a:prstGeom prst="rect">
            <a:avLst/>
          </a:prstGeom>
          <a:noFill/>
        </p:spPr>
        <p:txBody>
          <a:bodyPr wrap="none" rtlCol="0">
            <a:spAutoFit/>
          </a:bodyPr>
          <a:lstStyle/>
          <a:p>
            <a:r>
              <a:rPr lang="en-US" altLang="zh-CN" b="1">
                <a:solidFill>
                  <a:schemeClr val="bg2"/>
                </a:solidFill>
              </a:rPr>
              <a:t>=0</a:t>
            </a:r>
            <a:endParaRPr lang="en-US" altLang="zh-CN" b="1">
              <a:solidFill>
                <a:schemeClr val="bg2"/>
              </a:solidFill>
            </a:endParaRPr>
          </a:p>
        </p:txBody>
      </p:sp>
      <p:sp>
        <p:nvSpPr>
          <p:cNvPr id="13" name="文本框 12"/>
          <p:cNvSpPr txBox="1"/>
          <p:nvPr/>
        </p:nvSpPr>
        <p:spPr>
          <a:xfrm>
            <a:off x="5117465" y="2140585"/>
            <a:ext cx="509270" cy="460375"/>
          </a:xfrm>
          <a:prstGeom prst="rect">
            <a:avLst/>
          </a:prstGeom>
          <a:noFill/>
        </p:spPr>
        <p:txBody>
          <a:bodyPr wrap="none" rtlCol="0">
            <a:spAutoFit/>
          </a:bodyPr>
          <a:lstStyle/>
          <a:p>
            <a:r>
              <a:rPr lang="en-US" altLang="zh-CN" b="1">
                <a:solidFill>
                  <a:schemeClr val="bg2"/>
                </a:solidFill>
              </a:rPr>
              <a:t>=0</a:t>
            </a:r>
            <a:endParaRPr lang="en-US" altLang="zh-CN" b="1">
              <a:solidFill>
                <a:schemeClr val="bg2"/>
              </a:solidFill>
            </a:endParaRPr>
          </a:p>
        </p:txBody>
      </p:sp>
      <p:sp>
        <p:nvSpPr>
          <p:cNvPr id="14" name="文本框 13"/>
          <p:cNvSpPr txBox="1"/>
          <p:nvPr/>
        </p:nvSpPr>
        <p:spPr>
          <a:xfrm>
            <a:off x="6607810" y="2124075"/>
            <a:ext cx="509270" cy="460375"/>
          </a:xfrm>
          <a:prstGeom prst="rect">
            <a:avLst/>
          </a:prstGeom>
          <a:noFill/>
        </p:spPr>
        <p:txBody>
          <a:bodyPr wrap="none" rtlCol="0">
            <a:spAutoFit/>
          </a:bodyPr>
          <a:lstStyle/>
          <a:p>
            <a:r>
              <a:rPr lang="en-US" altLang="zh-CN" b="1">
                <a:solidFill>
                  <a:schemeClr val="bg2"/>
                </a:solidFill>
              </a:rPr>
              <a:t>=0</a:t>
            </a:r>
            <a:endParaRPr lang="en-US" altLang="zh-CN" b="1">
              <a:solidFill>
                <a:schemeClr val="bg2"/>
              </a:solidFill>
            </a:endParaRPr>
          </a:p>
        </p:txBody>
      </p:sp>
      <p:sp>
        <p:nvSpPr>
          <p:cNvPr id="15" name="文本框 14"/>
          <p:cNvSpPr txBox="1"/>
          <p:nvPr/>
        </p:nvSpPr>
        <p:spPr>
          <a:xfrm>
            <a:off x="8186420" y="2124075"/>
            <a:ext cx="509270" cy="460375"/>
          </a:xfrm>
          <a:prstGeom prst="rect">
            <a:avLst/>
          </a:prstGeom>
          <a:noFill/>
        </p:spPr>
        <p:txBody>
          <a:bodyPr wrap="none" rtlCol="0">
            <a:spAutoFit/>
          </a:bodyPr>
          <a:lstStyle/>
          <a:p>
            <a:r>
              <a:rPr lang="en-US" altLang="zh-CN" b="1">
                <a:solidFill>
                  <a:schemeClr val="bg2"/>
                </a:solidFill>
              </a:rPr>
              <a:t>=0</a:t>
            </a:r>
            <a:endParaRPr lang="en-US" altLang="zh-CN" b="1">
              <a:solidFill>
                <a:schemeClr val="bg2"/>
              </a:solidFill>
            </a:endParaRPr>
          </a:p>
        </p:txBody>
      </p:sp>
      <p:sp>
        <p:nvSpPr>
          <p:cNvPr id="16" name="文本框 15"/>
          <p:cNvSpPr txBox="1"/>
          <p:nvPr/>
        </p:nvSpPr>
        <p:spPr>
          <a:xfrm>
            <a:off x="1833245" y="2531110"/>
            <a:ext cx="962660" cy="398780"/>
          </a:xfrm>
          <a:prstGeom prst="rect">
            <a:avLst/>
          </a:prstGeom>
          <a:noFill/>
        </p:spPr>
        <p:txBody>
          <a:bodyPr wrap="none" rtlCol="0">
            <a:spAutoFit/>
          </a:bodyPr>
          <a:lstStyle/>
          <a:p>
            <a:r>
              <a:rPr lang="en-US" altLang="zh-CN" sz="2000" b="1">
                <a:solidFill>
                  <a:schemeClr val="bg2"/>
                </a:solidFill>
              </a:rPr>
              <a:t>=15750</a:t>
            </a:r>
            <a:endParaRPr lang="en-US" altLang="zh-CN" sz="2000" b="1">
              <a:solidFill>
                <a:schemeClr val="bg2"/>
              </a:solidFill>
            </a:endParaRPr>
          </a:p>
        </p:txBody>
      </p:sp>
      <p:sp>
        <p:nvSpPr>
          <p:cNvPr id="17" name="文本框 16"/>
          <p:cNvSpPr txBox="1"/>
          <p:nvPr/>
        </p:nvSpPr>
        <p:spPr>
          <a:xfrm>
            <a:off x="3395345" y="2514600"/>
            <a:ext cx="835660" cy="398780"/>
          </a:xfrm>
          <a:prstGeom prst="rect">
            <a:avLst/>
          </a:prstGeom>
          <a:noFill/>
        </p:spPr>
        <p:txBody>
          <a:bodyPr wrap="none" rtlCol="0">
            <a:spAutoFit/>
          </a:bodyPr>
          <a:lstStyle/>
          <a:p>
            <a:r>
              <a:rPr lang="en-US" altLang="zh-CN" sz="2000" b="1">
                <a:solidFill>
                  <a:schemeClr val="bg2"/>
                </a:solidFill>
              </a:rPr>
              <a:t>=2625</a:t>
            </a:r>
            <a:endParaRPr lang="en-US" altLang="zh-CN" sz="2000" b="1">
              <a:solidFill>
                <a:schemeClr val="bg2"/>
              </a:solidFill>
            </a:endParaRPr>
          </a:p>
        </p:txBody>
      </p:sp>
      <p:sp>
        <p:nvSpPr>
          <p:cNvPr id="18" name="文本框 17"/>
          <p:cNvSpPr txBox="1"/>
          <p:nvPr/>
        </p:nvSpPr>
        <p:spPr>
          <a:xfrm>
            <a:off x="4957445" y="2569845"/>
            <a:ext cx="708660" cy="398780"/>
          </a:xfrm>
          <a:prstGeom prst="rect">
            <a:avLst/>
          </a:prstGeom>
          <a:noFill/>
        </p:spPr>
        <p:txBody>
          <a:bodyPr wrap="none" rtlCol="0">
            <a:spAutoFit/>
          </a:bodyPr>
          <a:lstStyle/>
          <a:p>
            <a:r>
              <a:rPr lang="en-US" altLang="zh-CN" sz="2000" b="1">
                <a:solidFill>
                  <a:schemeClr val="bg2"/>
                </a:solidFill>
              </a:rPr>
              <a:t>=750</a:t>
            </a:r>
            <a:endParaRPr lang="en-US" altLang="zh-CN" sz="2000" b="1">
              <a:solidFill>
                <a:schemeClr val="bg2"/>
              </a:solidFill>
            </a:endParaRPr>
          </a:p>
        </p:txBody>
      </p:sp>
      <p:sp>
        <p:nvSpPr>
          <p:cNvPr id="19" name="文本框 18"/>
          <p:cNvSpPr txBox="1"/>
          <p:nvPr/>
        </p:nvSpPr>
        <p:spPr>
          <a:xfrm>
            <a:off x="1888490" y="2868930"/>
            <a:ext cx="835660" cy="398780"/>
          </a:xfrm>
          <a:prstGeom prst="rect">
            <a:avLst/>
          </a:prstGeom>
          <a:noFill/>
        </p:spPr>
        <p:txBody>
          <a:bodyPr wrap="none" rtlCol="0">
            <a:spAutoFit/>
          </a:bodyPr>
          <a:lstStyle/>
          <a:p>
            <a:r>
              <a:rPr lang="en-US" altLang="zh-CN" sz="2000" b="1">
                <a:solidFill>
                  <a:schemeClr val="bg2"/>
                </a:solidFill>
              </a:rPr>
              <a:t>=7875</a:t>
            </a:r>
            <a:endParaRPr lang="en-US" altLang="zh-CN" sz="2000" b="1">
              <a:solidFill>
                <a:schemeClr val="bg2"/>
              </a:solidFill>
            </a:endParaRPr>
          </a:p>
        </p:txBody>
      </p:sp>
      <p:sp>
        <p:nvSpPr>
          <p:cNvPr id="20" name="文本框 19"/>
          <p:cNvSpPr txBox="1"/>
          <p:nvPr/>
        </p:nvSpPr>
        <p:spPr>
          <a:xfrm>
            <a:off x="3448050" y="2868930"/>
            <a:ext cx="835660" cy="398780"/>
          </a:xfrm>
          <a:prstGeom prst="rect">
            <a:avLst/>
          </a:prstGeom>
          <a:noFill/>
        </p:spPr>
        <p:txBody>
          <a:bodyPr wrap="none" rtlCol="0">
            <a:spAutoFit/>
          </a:bodyPr>
          <a:lstStyle/>
          <a:p>
            <a:r>
              <a:rPr lang="en-US" altLang="zh-CN" sz="2000" b="1">
                <a:solidFill>
                  <a:schemeClr val="bg2"/>
                </a:solidFill>
              </a:rPr>
              <a:t>=4375</a:t>
            </a:r>
            <a:endParaRPr lang="en-US" altLang="zh-CN" sz="2000" b="1">
              <a:solidFill>
                <a:schemeClr val="bg2"/>
              </a:solidFill>
            </a:endParaRPr>
          </a:p>
        </p:txBody>
      </p:sp>
      <p:sp>
        <p:nvSpPr>
          <p:cNvPr id="21" name="文本框 20"/>
          <p:cNvSpPr txBox="1"/>
          <p:nvPr/>
        </p:nvSpPr>
        <p:spPr>
          <a:xfrm>
            <a:off x="4957445" y="2868930"/>
            <a:ext cx="835660" cy="398780"/>
          </a:xfrm>
          <a:prstGeom prst="rect">
            <a:avLst/>
          </a:prstGeom>
          <a:noFill/>
        </p:spPr>
        <p:txBody>
          <a:bodyPr wrap="none" rtlCol="0">
            <a:spAutoFit/>
          </a:bodyPr>
          <a:lstStyle/>
          <a:p>
            <a:r>
              <a:rPr lang="en-US" altLang="zh-CN" sz="2000" b="1">
                <a:solidFill>
                  <a:schemeClr val="bg2"/>
                </a:solidFill>
              </a:rPr>
              <a:t>=2500</a:t>
            </a:r>
            <a:endParaRPr lang="en-US" altLang="zh-CN" sz="2000" b="1">
              <a:solidFill>
                <a:schemeClr val="bg2"/>
              </a:solidFill>
            </a:endParaRPr>
          </a:p>
        </p:txBody>
      </p:sp>
      <p:sp>
        <p:nvSpPr>
          <p:cNvPr id="22" name="文本框 21"/>
          <p:cNvSpPr txBox="1"/>
          <p:nvPr/>
        </p:nvSpPr>
        <p:spPr>
          <a:xfrm>
            <a:off x="6536055" y="2514600"/>
            <a:ext cx="835660" cy="398780"/>
          </a:xfrm>
          <a:prstGeom prst="rect">
            <a:avLst/>
          </a:prstGeom>
          <a:noFill/>
        </p:spPr>
        <p:txBody>
          <a:bodyPr wrap="none" rtlCol="0">
            <a:spAutoFit/>
          </a:bodyPr>
          <a:lstStyle/>
          <a:p>
            <a:r>
              <a:rPr lang="en-US" altLang="zh-CN" sz="2000" b="1">
                <a:solidFill>
                  <a:schemeClr val="bg2"/>
                </a:solidFill>
              </a:rPr>
              <a:t>=1000</a:t>
            </a:r>
            <a:endParaRPr lang="en-US" altLang="zh-CN" sz="2000" b="1">
              <a:solidFill>
                <a:schemeClr val="bg2"/>
              </a:solidFill>
            </a:endParaRPr>
          </a:p>
        </p:txBody>
      </p:sp>
      <p:sp>
        <p:nvSpPr>
          <p:cNvPr id="23" name="文本框 22"/>
          <p:cNvSpPr txBox="1"/>
          <p:nvPr/>
        </p:nvSpPr>
        <p:spPr>
          <a:xfrm>
            <a:off x="1888490" y="3229610"/>
            <a:ext cx="835660" cy="398780"/>
          </a:xfrm>
          <a:prstGeom prst="rect">
            <a:avLst/>
          </a:prstGeom>
          <a:noFill/>
        </p:spPr>
        <p:txBody>
          <a:bodyPr wrap="none" rtlCol="0">
            <a:spAutoFit/>
          </a:bodyPr>
          <a:lstStyle/>
          <a:p>
            <a:r>
              <a:rPr lang="en-US" altLang="zh-CN" sz="2000" b="1">
                <a:solidFill>
                  <a:schemeClr val="bg2"/>
                </a:solidFill>
              </a:rPr>
              <a:t>=9375</a:t>
            </a:r>
            <a:endParaRPr lang="en-US" altLang="zh-CN" sz="2000" b="1">
              <a:solidFill>
                <a:schemeClr val="bg2"/>
              </a:solidFill>
            </a:endParaRPr>
          </a:p>
        </p:txBody>
      </p:sp>
      <p:sp>
        <p:nvSpPr>
          <p:cNvPr id="24" name="文本框 23"/>
          <p:cNvSpPr txBox="1"/>
          <p:nvPr/>
        </p:nvSpPr>
        <p:spPr>
          <a:xfrm>
            <a:off x="3483610" y="3229610"/>
            <a:ext cx="835660" cy="398780"/>
          </a:xfrm>
          <a:prstGeom prst="rect">
            <a:avLst/>
          </a:prstGeom>
          <a:noFill/>
        </p:spPr>
        <p:txBody>
          <a:bodyPr wrap="none" rtlCol="0">
            <a:spAutoFit/>
          </a:bodyPr>
          <a:lstStyle/>
          <a:p>
            <a:r>
              <a:rPr lang="en-US" altLang="zh-CN" sz="2000" b="1">
                <a:solidFill>
                  <a:schemeClr val="bg2"/>
                </a:solidFill>
              </a:rPr>
              <a:t>=7125</a:t>
            </a:r>
            <a:endParaRPr lang="en-US" altLang="zh-CN" sz="2000" b="1">
              <a:solidFill>
                <a:schemeClr val="bg2"/>
              </a:solidFill>
            </a:endParaRPr>
          </a:p>
        </p:txBody>
      </p:sp>
      <p:sp>
        <p:nvSpPr>
          <p:cNvPr id="25" name="文本框 24"/>
          <p:cNvSpPr txBox="1"/>
          <p:nvPr/>
        </p:nvSpPr>
        <p:spPr>
          <a:xfrm>
            <a:off x="1849755" y="3562350"/>
            <a:ext cx="948055" cy="398780"/>
          </a:xfrm>
          <a:prstGeom prst="rect">
            <a:avLst/>
          </a:prstGeom>
          <a:noFill/>
        </p:spPr>
        <p:txBody>
          <a:bodyPr wrap="none" rtlCol="0">
            <a:spAutoFit/>
          </a:bodyPr>
          <a:lstStyle/>
          <a:p>
            <a:r>
              <a:rPr lang="en-US" altLang="zh-CN" sz="2000" b="1">
                <a:solidFill>
                  <a:schemeClr val="bg2"/>
                </a:solidFill>
              </a:rPr>
              <a:t>=11875</a:t>
            </a:r>
            <a:endParaRPr lang="en-US" altLang="zh-CN" sz="2000" b="1">
              <a:solidFill>
                <a:schemeClr val="bg2"/>
              </a:solidFill>
            </a:endParaRPr>
          </a:p>
        </p:txBody>
      </p:sp>
      <p:sp>
        <p:nvSpPr>
          <p:cNvPr id="26" name="文本框 25"/>
          <p:cNvSpPr txBox="1"/>
          <p:nvPr/>
        </p:nvSpPr>
        <p:spPr>
          <a:xfrm>
            <a:off x="1824990" y="4541520"/>
            <a:ext cx="454660" cy="398780"/>
          </a:xfrm>
          <a:prstGeom prst="rect">
            <a:avLst/>
          </a:prstGeom>
          <a:noFill/>
        </p:spPr>
        <p:txBody>
          <a:bodyPr wrap="none" rtlCol="0">
            <a:spAutoFit/>
          </a:bodyPr>
          <a:lstStyle/>
          <a:p>
            <a:r>
              <a:rPr lang="en-US" altLang="zh-CN" sz="2000" b="1">
                <a:solidFill>
                  <a:schemeClr val="bg2"/>
                </a:solidFill>
              </a:rPr>
              <a:t>=1</a:t>
            </a:r>
            <a:endParaRPr lang="en-US" altLang="zh-CN" sz="2000" b="1">
              <a:solidFill>
                <a:schemeClr val="bg2"/>
              </a:solidFill>
            </a:endParaRPr>
          </a:p>
        </p:txBody>
      </p:sp>
      <p:sp>
        <p:nvSpPr>
          <p:cNvPr id="27" name="文本框 26"/>
          <p:cNvSpPr txBox="1"/>
          <p:nvPr/>
        </p:nvSpPr>
        <p:spPr>
          <a:xfrm>
            <a:off x="3448050" y="4541520"/>
            <a:ext cx="454660" cy="398780"/>
          </a:xfrm>
          <a:prstGeom prst="rect">
            <a:avLst/>
          </a:prstGeom>
          <a:noFill/>
        </p:spPr>
        <p:txBody>
          <a:bodyPr wrap="none" rtlCol="0">
            <a:spAutoFit/>
          </a:bodyPr>
          <a:lstStyle/>
          <a:p>
            <a:r>
              <a:rPr lang="en-US" altLang="zh-CN" sz="2000" b="1">
                <a:solidFill>
                  <a:schemeClr val="bg2"/>
                </a:solidFill>
              </a:rPr>
              <a:t>=2</a:t>
            </a:r>
            <a:endParaRPr lang="en-US" altLang="zh-CN" sz="2000" b="1">
              <a:solidFill>
                <a:schemeClr val="bg2"/>
              </a:solidFill>
            </a:endParaRPr>
          </a:p>
        </p:txBody>
      </p:sp>
      <p:sp>
        <p:nvSpPr>
          <p:cNvPr id="28" name="文本框 27"/>
          <p:cNvSpPr txBox="1"/>
          <p:nvPr/>
        </p:nvSpPr>
        <p:spPr>
          <a:xfrm>
            <a:off x="5084445" y="4541520"/>
            <a:ext cx="454660" cy="398780"/>
          </a:xfrm>
          <a:prstGeom prst="rect">
            <a:avLst/>
          </a:prstGeom>
          <a:noFill/>
        </p:spPr>
        <p:txBody>
          <a:bodyPr wrap="none" rtlCol="0">
            <a:spAutoFit/>
          </a:bodyPr>
          <a:lstStyle/>
          <a:p>
            <a:r>
              <a:rPr lang="en-US" altLang="zh-CN" sz="2000" b="1">
                <a:solidFill>
                  <a:schemeClr val="bg2"/>
                </a:solidFill>
              </a:rPr>
              <a:t>=3</a:t>
            </a:r>
            <a:endParaRPr lang="en-US" altLang="zh-CN" sz="2000" b="1">
              <a:solidFill>
                <a:schemeClr val="bg2"/>
              </a:solidFill>
            </a:endParaRPr>
          </a:p>
        </p:txBody>
      </p:sp>
      <p:sp>
        <p:nvSpPr>
          <p:cNvPr id="29" name="文本框 28"/>
          <p:cNvSpPr txBox="1"/>
          <p:nvPr/>
        </p:nvSpPr>
        <p:spPr>
          <a:xfrm>
            <a:off x="6437630" y="4541520"/>
            <a:ext cx="454660" cy="398780"/>
          </a:xfrm>
          <a:prstGeom prst="rect">
            <a:avLst/>
          </a:prstGeom>
          <a:noFill/>
        </p:spPr>
        <p:txBody>
          <a:bodyPr wrap="none" rtlCol="0">
            <a:spAutoFit/>
          </a:bodyPr>
          <a:lstStyle/>
          <a:p>
            <a:r>
              <a:rPr lang="en-US" altLang="zh-CN" sz="2000" b="1">
                <a:solidFill>
                  <a:schemeClr val="bg2"/>
                </a:solidFill>
              </a:rPr>
              <a:t>=4</a:t>
            </a:r>
            <a:endParaRPr lang="en-US" altLang="zh-CN" sz="2000" b="1">
              <a:solidFill>
                <a:schemeClr val="bg2"/>
              </a:solidFill>
            </a:endParaRPr>
          </a:p>
        </p:txBody>
      </p:sp>
      <p:sp>
        <p:nvSpPr>
          <p:cNvPr id="30" name="文本框 29"/>
          <p:cNvSpPr txBox="1"/>
          <p:nvPr/>
        </p:nvSpPr>
        <p:spPr>
          <a:xfrm>
            <a:off x="1808480" y="4842510"/>
            <a:ext cx="454660" cy="398780"/>
          </a:xfrm>
          <a:prstGeom prst="rect">
            <a:avLst/>
          </a:prstGeom>
          <a:noFill/>
        </p:spPr>
        <p:txBody>
          <a:bodyPr wrap="none" rtlCol="0">
            <a:spAutoFit/>
          </a:bodyPr>
          <a:lstStyle/>
          <a:p>
            <a:r>
              <a:rPr lang="en-US" altLang="zh-CN" sz="2000" b="1">
                <a:solidFill>
                  <a:schemeClr val="bg2"/>
                </a:solidFill>
              </a:rPr>
              <a:t>=1</a:t>
            </a:r>
            <a:endParaRPr lang="en-US" altLang="zh-CN" sz="2000" b="1">
              <a:solidFill>
                <a:schemeClr val="bg2"/>
              </a:solidFill>
            </a:endParaRPr>
          </a:p>
        </p:txBody>
      </p:sp>
      <p:sp>
        <p:nvSpPr>
          <p:cNvPr id="31" name="文本框 30"/>
          <p:cNvSpPr txBox="1"/>
          <p:nvPr/>
        </p:nvSpPr>
        <p:spPr>
          <a:xfrm>
            <a:off x="3431540" y="4812030"/>
            <a:ext cx="454660" cy="398780"/>
          </a:xfrm>
          <a:prstGeom prst="rect">
            <a:avLst/>
          </a:prstGeom>
          <a:noFill/>
        </p:spPr>
        <p:txBody>
          <a:bodyPr wrap="square" rtlCol="0">
            <a:spAutoFit/>
          </a:bodyPr>
          <a:lstStyle/>
          <a:p>
            <a:r>
              <a:rPr lang="en-US" altLang="zh-CN" sz="2000" b="1">
                <a:solidFill>
                  <a:schemeClr val="bg2"/>
                </a:solidFill>
              </a:rPr>
              <a:t>=3</a:t>
            </a:r>
            <a:endParaRPr lang="en-US" altLang="zh-CN" sz="2000" b="1">
              <a:solidFill>
                <a:schemeClr val="bg2"/>
              </a:solidFill>
            </a:endParaRPr>
          </a:p>
        </p:txBody>
      </p:sp>
      <p:sp>
        <p:nvSpPr>
          <p:cNvPr id="32" name="文本框 31"/>
          <p:cNvSpPr txBox="1"/>
          <p:nvPr/>
        </p:nvSpPr>
        <p:spPr>
          <a:xfrm>
            <a:off x="5100955" y="4842510"/>
            <a:ext cx="454660" cy="398780"/>
          </a:xfrm>
          <a:prstGeom prst="rect">
            <a:avLst/>
          </a:prstGeom>
          <a:noFill/>
        </p:spPr>
        <p:txBody>
          <a:bodyPr wrap="square" rtlCol="0">
            <a:spAutoFit/>
          </a:bodyPr>
          <a:lstStyle/>
          <a:p>
            <a:r>
              <a:rPr lang="en-US" altLang="zh-CN" sz="2000" b="1">
                <a:solidFill>
                  <a:schemeClr val="bg2"/>
                </a:solidFill>
              </a:rPr>
              <a:t>=3</a:t>
            </a:r>
            <a:endParaRPr lang="en-US" altLang="zh-CN" sz="2000" b="1">
              <a:solidFill>
                <a:schemeClr val="bg2"/>
              </a:solidFill>
            </a:endParaRPr>
          </a:p>
        </p:txBody>
      </p:sp>
      <p:sp>
        <p:nvSpPr>
          <p:cNvPr id="33" name="文本框 32"/>
          <p:cNvSpPr txBox="1"/>
          <p:nvPr/>
        </p:nvSpPr>
        <p:spPr>
          <a:xfrm>
            <a:off x="1863725" y="5184775"/>
            <a:ext cx="454660" cy="398780"/>
          </a:xfrm>
          <a:prstGeom prst="rect">
            <a:avLst/>
          </a:prstGeom>
          <a:noFill/>
        </p:spPr>
        <p:txBody>
          <a:bodyPr wrap="none" rtlCol="0">
            <a:spAutoFit/>
          </a:bodyPr>
          <a:lstStyle/>
          <a:p>
            <a:r>
              <a:rPr lang="en-US" altLang="zh-CN" sz="2000" b="1">
                <a:solidFill>
                  <a:schemeClr val="bg2"/>
                </a:solidFill>
              </a:rPr>
              <a:t>=3</a:t>
            </a:r>
            <a:endParaRPr lang="en-US" altLang="zh-CN" sz="2000" b="1">
              <a:solidFill>
                <a:schemeClr val="bg2"/>
              </a:solidFill>
            </a:endParaRPr>
          </a:p>
        </p:txBody>
      </p:sp>
      <p:sp>
        <p:nvSpPr>
          <p:cNvPr id="34" name="文本框 33"/>
          <p:cNvSpPr txBox="1"/>
          <p:nvPr/>
        </p:nvSpPr>
        <p:spPr>
          <a:xfrm>
            <a:off x="3448050" y="5169535"/>
            <a:ext cx="454660" cy="398780"/>
          </a:xfrm>
          <a:prstGeom prst="rect">
            <a:avLst/>
          </a:prstGeom>
          <a:noFill/>
        </p:spPr>
        <p:txBody>
          <a:bodyPr wrap="none" rtlCol="0">
            <a:spAutoFit/>
          </a:bodyPr>
          <a:lstStyle/>
          <a:p>
            <a:r>
              <a:rPr lang="en-US" altLang="zh-CN" sz="2000" b="1">
                <a:solidFill>
                  <a:schemeClr val="bg2"/>
                </a:solidFill>
              </a:rPr>
              <a:t>=3</a:t>
            </a:r>
            <a:endParaRPr lang="en-US" altLang="zh-CN" sz="2000" b="1">
              <a:solidFill>
                <a:schemeClr val="bg2"/>
              </a:solidFill>
            </a:endParaRPr>
          </a:p>
        </p:txBody>
      </p:sp>
      <p:sp>
        <p:nvSpPr>
          <p:cNvPr id="35" name="文本框 34"/>
          <p:cNvSpPr txBox="1"/>
          <p:nvPr/>
        </p:nvSpPr>
        <p:spPr>
          <a:xfrm>
            <a:off x="1849755" y="5511800"/>
            <a:ext cx="454660" cy="398780"/>
          </a:xfrm>
          <a:prstGeom prst="rect">
            <a:avLst/>
          </a:prstGeom>
          <a:noFill/>
        </p:spPr>
        <p:txBody>
          <a:bodyPr wrap="none" rtlCol="0">
            <a:spAutoFit/>
          </a:bodyPr>
          <a:lstStyle/>
          <a:p>
            <a:r>
              <a:rPr lang="en-US" altLang="zh-CN" sz="2000" b="1">
                <a:solidFill>
                  <a:schemeClr val="bg2"/>
                </a:solidFill>
              </a:rPr>
              <a:t>=3</a:t>
            </a:r>
            <a:endParaRPr lang="en-US" altLang="zh-CN" sz="2000" b="1">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left)">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left)">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left)">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wipe(left)">
                                      <p:cBhvr>
                                        <p:cTn id="47" dur="500"/>
                                        <p:tgtEl>
                                          <p:spTgt spid="2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5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wipe(left)">
                                      <p:cBhvr>
                                        <p:cTn id="57" dur="500"/>
                                        <p:tgtEl>
                                          <p:spTgt spid="2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wipe(left)">
                                      <p:cBhvr>
                                        <p:cTn id="62" dur="500"/>
                                        <p:tgtEl>
                                          <p:spTgt spid="2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wipe(left)">
                                      <p:cBhvr>
                                        <p:cTn id="67" dur="500"/>
                                        <p:tgtEl>
                                          <p:spTgt spid="2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wipe(left)">
                                      <p:cBhvr>
                                        <p:cTn id="72" dur="500"/>
                                        <p:tgtEl>
                                          <p:spTgt spid="1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7" dur="500"/>
                                        <p:tgtEl>
                                          <p:spTgt spid="30"/>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wipe(left)">
                                      <p:cBhvr>
                                        <p:cTn id="82" dur="500"/>
                                        <p:tgtEl>
                                          <p:spTgt spid="20"/>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wipe(left)">
                                      <p:cBhvr>
                                        <p:cTn id="87" dur="500"/>
                                        <p:tgtEl>
                                          <p:spTgt spid="31"/>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wipe(left)">
                                      <p:cBhvr>
                                        <p:cTn id="92" dur="500"/>
                                        <p:tgtEl>
                                          <p:spTgt spid="21"/>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wipe(left)">
                                      <p:cBhvr>
                                        <p:cTn id="97" dur="500"/>
                                        <p:tgtEl>
                                          <p:spTgt spid="32"/>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23"/>
                                        </p:tgtEl>
                                        <p:attrNameLst>
                                          <p:attrName>style.visibility</p:attrName>
                                        </p:attrNameLst>
                                      </p:cBhvr>
                                      <p:to>
                                        <p:strVal val="visible"/>
                                      </p:to>
                                    </p:set>
                                    <p:animEffect transition="in" filter="wipe(left)">
                                      <p:cBhvr>
                                        <p:cTn id="102" dur="500"/>
                                        <p:tgtEl>
                                          <p:spTgt spid="23"/>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33"/>
                                        </p:tgtEl>
                                        <p:attrNameLst>
                                          <p:attrName>style.visibility</p:attrName>
                                        </p:attrNameLst>
                                      </p:cBhvr>
                                      <p:to>
                                        <p:strVal val="visible"/>
                                      </p:to>
                                    </p:set>
                                    <p:animEffect transition="in" filter="wipe(left)">
                                      <p:cBhvr>
                                        <p:cTn id="107" dur="500"/>
                                        <p:tgtEl>
                                          <p:spTgt spid="33"/>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24"/>
                                        </p:tgtEl>
                                        <p:attrNameLst>
                                          <p:attrName>style.visibility</p:attrName>
                                        </p:attrNameLst>
                                      </p:cBhvr>
                                      <p:to>
                                        <p:strVal val="visible"/>
                                      </p:to>
                                    </p:set>
                                    <p:animEffect transition="in" filter="wipe(left)">
                                      <p:cBhvr>
                                        <p:cTn id="112" dur="500"/>
                                        <p:tgtEl>
                                          <p:spTgt spid="24"/>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34"/>
                                        </p:tgtEl>
                                        <p:attrNameLst>
                                          <p:attrName>style.visibility</p:attrName>
                                        </p:attrNameLst>
                                      </p:cBhvr>
                                      <p:to>
                                        <p:strVal val="visible"/>
                                      </p:to>
                                    </p:set>
                                    <p:animEffect transition="in" filter="wipe(left)">
                                      <p:cBhvr>
                                        <p:cTn id="117" dur="500"/>
                                        <p:tgtEl>
                                          <p:spTgt spid="34"/>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25"/>
                                        </p:tgtEl>
                                        <p:attrNameLst>
                                          <p:attrName>style.visibility</p:attrName>
                                        </p:attrNameLst>
                                      </p:cBhvr>
                                      <p:to>
                                        <p:strVal val="visible"/>
                                      </p:to>
                                    </p:set>
                                    <p:animEffect transition="in" filter="wipe(left)">
                                      <p:cBhvr>
                                        <p:cTn id="122" dur="500"/>
                                        <p:tgtEl>
                                          <p:spTgt spid="25"/>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35"/>
                                        </p:tgtEl>
                                        <p:attrNameLst>
                                          <p:attrName>style.visibility</p:attrName>
                                        </p:attrNameLst>
                                      </p:cBhvr>
                                      <p:to>
                                        <p:strVal val="visible"/>
                                      </p:to>
                                    </p:set>
                                    <p:animEffect transition="in" filter="wipe(left)">
                                      <p:cBhvr>
                                        <p:cTn id="12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2" grpId="0"/>
      <p:bldP spid="12" grpId="1"/>
      <p:bldP spid="13" grpId="0"/>
      <p:bldP spid="13" grpId="1"/>
      <p:bldP spid="14" grpId="0"/>
      <p:bldP spid="14" grpId="1"/>
      <p:bldP spid="15" grpId="0"/>
      <p:bldP spid="15" grpId="1"/>
      <p:bldP spid="16" grpId="0"/>
      <p:bldP spid="16" grpId="1"/>
      <p:bldP spid="17" grpId="0"/>
      <p:bldP spid="17" grpId="1"/>
      <p:bldP spid="18" grpId="0"/>
      <p:bldP spid="18" grpId="1"/>
      <p:bldP spid="19" grpId="0"/>
      <p:bldP spid="19" grpId="1"/>
      <p:bldP spid="20" grpId="0"/>
      <p:bldP spid="20" grpId="1"/>
      <p:bldP spid="21" grpId="0"/>
      <p:bldP spid="21" grpId="1"/>
      <p:bldP spid="22" grpId="0"/>
      <p:bldP spid="22" grpId="1"/>
      <p:bldP spid="23" grpId="0"/>
      <p:bldP spid="23" grpId="1"/>
      <p:bldP spid="24" grpId="0"/>
      <p:bldP spid="24" grpId="1"/>
      <p:bldP spid="25" grpId="0"/>
      <p:bldP spid="25" grpId="1"/>
      <p:bldP spid="26" grpId="0"/>
      <p:bldP spid="26" grpId="1"/>
      <p:bldP spid="27" grpId="0"/>
      <p:bldP spid="27" grpId="1"/>
      <p:bldP spid="28" grpId="0"/>
      <p:bldP spid="28" grpId="1"/>
      <p:bldP spid="29" grpId="0"/>
      <p:bldP spid="29" grpId="1"/>
      <p:bldP spid="30" grpId="0"/>
      <p:bldP spid="30" grpId="1"/>
      <p:bldP spid="31" grpId="0"/>
      <p:bldP spid="31" grpId="1"/>
      <p:bldP spid="32" grpId="0"/>
      <p:bldP spid="32" grpId="1"/>
      <p:bldP spid="33" grpId="0"/>
      <p:bldP spid="33" grpId="1"/>
      <p:bldP spid="34" grpId="0"/>
      <p:bldP spid="34" grpId="1"/>
      <p:bldP spid="35" grpId="0"/>
      <p:bldP spid="35"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3.2 </a:t>
            </a:r>
            <a:r>
              <a:rPr kumimoji="0" lang="zh-CN" altLang="en-US" kern="1200" dirty="0" smtClean="0">
                <a:solidFill>
                  <a:schemeClr val="accent2"/>
                </a:solidFill>
                <a:sym typeface="+mn-ea"/>
              </a:rPr>
              <a:t>动态规划算法设计</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4" name="文本框 3"/>
          <p:cNvSpPr txBox="1"/>
          <p:nvPr/>
        </p:nvSpPr>
        <p:spPr>
          <a:xfrm>
            <a:off x="659765" y="1646555"/>
            <a:ext cx="7729855" cy="3448685"/>
          </a:xfrm>
          <a:prstGeom prst="rect">
            <a:avLst/>
          </a:prstGeom>
          <a:noFill/>
        </p:spPr>
        <p:txBody>
          <a:bodyPr wrap="square" rtlCol="0" anchor="t">
            <a:spAutoFit/>
          </a:bodyPr>
          <a:lstStyle/>
          <a:p>
            <a:pPr marL="342900" indent="-342900">
              <a:lnSpc>
                <a:spcPct val="130000"/>
              </a:lnSpc>
              <a:spcBef>
                <a:spcPts val="0"/>
              </a:spcBef>
              <a:spcAft>
                <a:spcPts val="0"/>
              </a:spcAft>
              <a:buFont typeface="Wingdings" panose="05000000000000000000" charset="0"/>
              <a:buChar char="Ø"/>
            </a:pPr>
            <a:r>
              <a:rPr lang="zh-CN" altLang="en-US">
                <a:solidFill>
                  <a:schemeClr val="bg2"/>
                </a:solidFill>
              </a:rPr>
              <a:t>例如：</a:t>
            </a:r>
            <a:r>
              <a:rPr lang="zh-CN" altLang="en-US" b="1" i="1">
                <a:solidFill>
                  <a:schemeClr val="bg2"/>
                </a:solidFill>
              </a:rPr>
              <a:t>m</a:t>
            </a:r>
            <a:r>
              <a:rPr lang="zh-CN" altLang="en-US">
                <a:solidFill>
                  <a:schemeClr val="bg2"/>
                </a:solidFill>
              </a:rPr>
              <a:t>[2,5]代表矩阵：</a:t>
            </a:r>
            <a:r>
              <a:rPr lang="en-US" altLang="zh-CN" b="1" i="1">
                <a:solidFill>
                  <a:schemeClr val="bg2"/>
                </a:solidFill>
              </a:rPr>
              <a:t>A</a:t>
            </a:r>
            <a:r>
              <a:rPr lang="en-US" altLang="zh-CN" baseline="-25000">
                <a:solidFill>
                  <a:schemeClr val="bg2"/>
                </a:solidFill>
              </a:rPr>
              <a:t>2</a:t>
            </a:r>
            <a:r>
              <a:rPr lang="en-US" altLang="zh-CN" b="1" i="1">
                <a:solidFill>
                  <a:schemeClr val="bg2"/>
                </a:solidFill>
              </a:rPr>
              <a:t>A</a:t>
            </a:r>
            <a:r>
              <a:rPr lang="en-US" altLang="zh-CN" baseline="-25000">
                <a:solidFill>
                  <a:schemeClr val="bg2"/>
                </a:solidFill>
              </a:rPr>
              <a:t>3</a:t>
            </a:r>
            <a:r>
              <a:rPr lang="en-US" altLang="zh-CN" b="1" i="1">
                <a:solidFill>
                  <a:schemeClr val="bg2"/>
                </a:solidFill>
              </a:rPr>
              <a:t>A</a:t>
            </a:r>
            <a:r>
              <a:rPr lang="en-US" altLang="zh-CN" baseline="-25000">
                <a:solidFill>
                  <a:schemeClr val="bg2"/>
                </a:solidFill>
              </a:rPr>
              <a:t>4</a:t>
            </a:r>
            <a:r>
              <a:rPr lang="en-US" altLang="zh-CN" b="1" i="1">
                <a:solidFill>
                  <a:schemeClr val="bg2"/>
                </a:solidFill>
              </a:rPr>
              <a:t>A</a:t>
            </a:r>
            <a:r>
              <a:rPr lang="en-US" altLang="zh-CN" baseline="-25000">
                <a:solidFill>
                  <a:schemeClr val="bg2"/>
                </a:solidFill>
              </a:rPr>
              <a:t>5</a:t>
            </a:r>
            <a:r>
              <a:rPr lang="zh-CN" altLang="en-US">
                <a:solidFill>
                  <a:schemeClr val="bg2"/>
                </a:solidFill>
              </a:rPr>
              <a:t>乘积的最少次数，括号的添加有如下可能：</a:t>
            </a:r>
            <a:endParaRPr lang="zh-CN" altLang="en-US">
              <a:solidFill>
                <a:schemeClr val="bg2"/>
              </a:solidFill>
            </a:endParaRPr>
          </a:p>
          <a:p>
            <a:pPr>
              <a:lnSpc>
                <a:spcPct val="130000"/>
              </a:lnSpc>
              <a:spcBef>
                <a:spcPts val="0"/>
              </a:spcBef>
              <a:spcAft>
                <a:spcPts val="0"/>
              </a:spcAft>
            </a:pPr>
            <a:r>
              <a:rPr lang="zh-CN" altLang="en-US">
                <a:solidFill>
                  <a:schemeClr val="bg2"/>
                </a:solidFill>
              </a:rPr>
              <a:t>（</a:t>
            </a:r>
            <a:r>
              <a:rPr lang="en-US" altLang="zh-CN">
                <a:solidFill>
                  <a:schemeClr val="bg2"/>
                </a:solidFill>
              </a:rPr>
              <a:t>1</a:t>
            </a:r>
            <a:r>
              <a:rPr lang="zh-CN" altLang="en-US">
                <a:solidFill>
                  <a:schemeClr val="bg2"/>
                </a:solidFill>
              </a:rPr>
              <a:t>） </a:t>
            </a:r>
            <a:r>
              <a:rPr lang="en-US" altLang="zh-CN" b="1" i="1">
                <a:solidFill>
                  <a:schemeClr val="bg2"/>
                </a:solidFill>
                <a:sym typeface="+mn-ea"/>
              </a:rPr>
              <a:t>A</a:t>
            </a:r>
            <a:r>
              <a:rPr lang="en-US" altLang="zh-CN" baseline="-25000">
                <a:solidFill>
                  <a:schemeClr val="bg2"/>
                </a:solidFill>
                <a:sym typeface="+mn-ea"/>
              </a:rPr>
              <a:t>2</a:t>
            </a:r>
            <a:r>
              <a:rPr lang="zh-CN" altLang="en-US">
                <a:solidFill>
                  <a:schemeClr val="bg2"/>
                </a:solidFill>
                <a:uFillTx/>
                <a:sym typeface="+mn-ea"/>
              </a:rPr>
              <a:t>（</a:t>
            </a:r>
            <a:r>
              <a:rPr lang="en-US" altLang="zh-CN" b="1" i="1">
                <a:solidFill>
                  <a:schemeClr val="bg2"/>
                </a:solidFill>
                <a:sym typeface="+mn-ea"/>
              </a:rPr>
              <a:t>A</a:t>
            </a:r>
            <a:r>
              <a:rPr lang="en-US" altLang="zh-CN" baseline="-25000">
                <a:solidFill>
                  <a:schemeClr val="bg2"/>
                </a:solidFill>
                <a:sym typeface="+mn-ea"/>
              </a:rPr>
              <a:t>3</a:t>
            </a:r>
            <a:r>
              <a:rPr lang="en-US" altLang="zh-CN" b="1" i="1">
                <a:solidFill>
                  <a:schemeClr val="bg2"/>
                </a:solidFill>
                <a:sym typeface="+mn-ea"/>
              </a:rPr>
              <a:t>A</a:t>
            </a:r>
            <a:r>
              <a:rPr lang="en-US" altLang="zh-CN" baseline="-25000">
                <a:solidFill>
                  <a:schemeClr val="bg2"/>
                </a:solidFill>
                <a:sym typeface="+mn-ea"/>
              </a:rPr>
              <a:t>4</a:t>
            </a:r>
            <a:r>
              <a:rPr lang="en-US" altLang="zh-CN" b="1" i="1">
                <a:solidFill>
                  <a:schemeClr val="bg2"/>
                </a:solidFill>
                <a:sym typeface="+mn-ea"/>
              </a:rPr>
              <a:t>A</a:t>
            </a:r>
            <a:r>
              <a:rPr lang="en-US" altLang="zh-CN" baseline="-25000">
                <a:solidFill>
                  <a:schemeClr val="bg2"/>
                </a:solidFill>
                <a:sym typeface="+mn-ea"/>
              </a:rPr>
              <a:t>5</a:t>
            </a:r>
            <a:r>
              <a:rPr lang="zh-CN" altLang="en-US">
                <a:solidFill>
                  <a:schemeClr val="bg2"/>
                </a:solidFill>
                <a:sym typeface="+mn-ea"/>
              </a:rPr>
              <a:t>）</a:t>
            </a:r>
            <a:r>
              <a:rPr lang="en-US" altLang="zh-CN">
                <a:solidFill>
                  <a:schemeClr val="bg2"/>
                </a:solidFill>
                <a:sym typeface="+mn-ea"/>
              </a:rPr>
              <a:t>=0+</a:t>
            </a:r>
            <a:r>
              <a:rPr lang="en-US" altLang="zh-CN" b="1" i="1">
                <a:solidFill>
                  <a:srgbClr val="FF0000"/>
                </a:solidFill>
                <a:sym typeface="+mn-ea"/>
              </a:rPr>
              <a:t>m</a:t>
            </a:r>
            <a:r>
              <a:rPr lang="en-US" altLang="zh-CN" b="1">
                <a:solidFill>
                  <a:srgbClr val="FF0000"/>
                </a:solidFill>
                <a:sym typeface="+mn-ea"/>
              </a:rPr>
              <a:t>[3,5]</a:t>
            </a:r>
            <a:r>
              <a:rPr lang="en-US" altLang="zh-CN">
                <a:solidFill>
                  <a:schemeClr val="bg2"/>
                </a:solidFill>
                <a:sym typeface="+mn-ea"/>
              </a:rPr>
              <a:t>+35×15×20=13000</a:t>
            </a:r>
            <a:endParaRPr lang="en-US" altLang="zh-CN">
              <a:solidFill>
                <a:schemeClr val="bg2"/>
              </a:solidFill>
              <a:sym typeface="+mn-ea"/>
            </a:endParaRPr>
          </a:p>
          <a:p>
            <a:pPr>
              <a:lnSpc>
                <a:spcPct val="130000"/>
              </a:lnSpc>
              <a:spcBef>
                <a:spcPts val="0"/>
              </a:spcBef>
              <a:spcAft>
                <a:spcPts val="0"/>
              </a:spcAft>
            </a:pPr>
            <a:r>
              <a:rPr lang="zh-CN" altLang="en-US">
                <a:solidFill>
                  <a:schemeClr val="bg2"/>
                </a:solidFill>
                <a:sym typeface="+mn-ea"/>
              </a:rPr>
              <a:t>（</a:t>
            </a:r>
            <a:r>
              <a:rPr lang="en-US" altLang="zh-CN">
                <a:solidFill>
                  <a:schemeClr val="bg2"/>
                </a:solidFill>
                <a:sym typeface="+mn-ea"/>
              </a:rPr>
              <a:t>2</a:t>
            </a:r>
            <a:r>
              <a:rPr lang="zh-CN" altLang="en-US">
                <a:solidFill>
                  <a:schemeClr val="bg2"/>
                </a:solidFill>
                <a:sym typeface="+mn-ea"/>
              </a:rPr>
              <a:t>） </a:t>
            </a:r>
            <a:r>
              <a:rPr lang="en-US" altLang="zh-CN">
                <a:solidFill>
                  <a:schemeClr val="bg2"/>
                </a:solidFill>
                <a:sym typeface="+mn-ea"/>
              </a:rPr>
              <a:t>(</a:t>
            </a:r>
            <a:r>
              <a:rPr lang="en-US" altLang="zh-CN" b="1" i="1">
                <a:solidFill>
                  <a:schemeClr val="bg2"/>
                </a:solidFill>
                <a:sym typeface="+mn-ea"/>
              </a:rPr>
              <a:t>A</a:t>
            </a:r>
            <a:r>
              <a:rPr lang="en-US" altLang="zh-CN" baseline="-25000">
                <a:solidFill>
                  <a:schemeClr val="bg2"/>
                </a:solidFill>
                <a:sym typeface="+mn-ea"/>
              </a:rPr>
              <a:t>2</a:t>
            </a:r>
            <a:r>
              <a:rPr lang="en-US" altLang="zh-CN" b="1" i="1">
                <a:solidFill>
                  <a:schemeClr val="bg2"/>
                </a:solidFill>
                <a:sym typeface="+mn-ea"/>
              </a:rPr>
              <a:t>A</a:t>
            </a:r>
            <a:r>
              <a:rPr lang="en-US" altLang="zh-CN" baseline="-25000">
                <a:solidFill>
                  <a:schemeClr val="bg2"/>
                </a:solidFill>
                <a:sym typeface="+mn-ea"/>
              </a:rPr>
              <a:t>3</a:t>
            </a:r>
            <a:r>
              <a:rPr lang="en-US" altLang="zh-CN">
                <a:solidFill>
                  <a:schemeClr val="bg2"/>
                </a:solidFill>
                <a:sym typeface="+mn-ea"/>
              </a:rPr>
              <a:t>)(</a:t>
            </a:r>
            <a:r>
              <a:rPr lang="en-US" altLang="zh-CN" b="1" i="1">
                <a:solidFill>
                  <a:schemeClr val="bg2"/>
                </a:solidFill>
                <a:sym typeface="+mn-ea"/>
              </a:rPr>
              <a:t>A</a:t>
            </a:r>
            <a:r>
              <a:rPr lang="en-US" altLang="zh-CN" baseline="-25000">
                <a:solidFill>
                  <a:schemeClr val="bg2"/>
                </a:solidFill>
                <a:sym typeface="+mn-ea"/>
              </a:rPr>
              <a:t>4</a:t>
            </a:r>
            <a:r>
              <a:rPr lang="en-US" altLang="zh-CN" b="1" i="1">
                <a:solidFill>
                  <a:schemeClr val="bg2"/>
                </a:solidFill>
                <a:sym typeface="+mn-ea"/>
              </a:rPr>
              <a:t>A</a:t>
            </a:r>
            <a:r>
              <a:rPr lang="en-US" altLang="zh-CN" baseline="-25000">
                <a:solidFill>
                  <a:schemeClr val="bg2"/>
                </a:solidFill>
                <a:sym typeface="+mn-ea"/>
              </a:rPr>
              <a:t>5</a:t>
            </a:r>
            <a:r>
              <a:rPr lang="en-US" altLang="zh-CN">
                <a:solidFill>
                  <a:schemeClr val="bg2"/>
                </a:solidFill>
                <a:sym typeface="+mn-ea"/>
              </a:rPr>
              <a:t>)=</a:t>
            </a:r>
            <a:r>
              <a:rPr lang="en-US" altLang="zh-CN" b="1" i="1">
                <a:solidFill>
                  <a:srgbClr val="FF0000"/>
                </a:solidFill>
                <a:sym typeface="+mn-ea"/>
              </a:rPr>
              <a:t>m</a:t>
            </a:r>
            <a:r>
              <a:rPr lang="en-US" altLang="zh-CN" b="1">
                <a:solidFill>
                  <a:srgbClr val="FF0000"/>
                </a:solidFill>
                <a:sym typeface="+mn-ea"/>
              </a:rPr>
              <a:t>[2,3]</a:t>
            </a:r>
            <a:r>
              <a:rPr lang="en-US" altLang="zh-CN">
                <a:solidFill>
                  <a:schemeClr val="bg2"/>
                </a:solidFill>
                <a:sym typeface="+mn-ea"/>
              </a:rPr>
              <a:t>+</a:t>
            </a:r>
            <a:r>
              <a:rPr lang="en-US" altLang="zh-CN" b="1" i="1">
                <a:solidFill>
                  <a:srgbClr val="FF0000"/>
                </a:solidFill>
                <a:sym typeface="+mn-ea"/>
              </a:rPr>
              <a:t>m</a:t>
            </a:r>
            <a:r>
              <a:rPr lang="en-US" altLang="zh-CN" b="1">
                <a:solidFill>
                  <a:srgbClr val="FF0000"/>
                </a:solidFill>
                <a:sym typeface="+mn-ea"/>
              </a:rPr>
              <a:t>[4,5]</a:t>
            </a:r>
            <a:r>
              <a:rPr lang="en-US" altLang="zh-CN">
                <a:solidFill>
                  <a:schemeClr val="bg2"/>
                </a:solidFill>
                <a:sym typeface="+mn-ea"/>
              </a:rPr>
              <a:t>+35×5×20=7125</a:t>
            </a:r>
            <a:endParaRPr lang="en-US" altLang="zh-CN">
              <a:solidFill>
                <a:schemeClr val="bg2"/>
              </a:solidFill>
              <a:sym typeface="+mn-ea"/>
            </a:endParaRPr>
          </a:p>
          <a:p>
            <a:pPr>
              <a:lnSpc>
                <a:spcPct val="130000"/>
              </a:lnSpc>
              <a:spcBef>
                <a:spcPts val="0"/>
              </a:spcBef>
              <a:spcAft>
                <a:spcPts val="0"/>
              </a:spcAft>
            </a:pPr>
            <a:r>
              <a:rPr lang="zh-CN" altLang="en-US">
                <a:solidFill>
                  <a:schemeClr val="bg2"/>
                </a:solidFill>
                <a:sym typeface="+mn-ea"/>
              </a:rPr>
              <a:t>（</a:t>
            </a:r>
            <a:r>
              <a:rPr lang="en-US" altLang="zh-CN">
                <a:solidFill>
                  <a:schemeClr val="bg2"/>
                </a:solidFill>
                <a:sym typeface="+mn-ea"/>
              </a:rPr>
              <a:t>3</a:t>
            </a:r>
            <a:r>
              <a:rPr lang="zh-CN" altLang="en-US">
                <a:solidFill>
                  <a:schemeClr val="bg2"/>
                </a:solidFill>
                <a:sym typeface="+mn-ea"/>
              </a:rPr>
              <a:t>）</a:t>
            </a:r>
            <a:r>
              <a:rPr lang="en-US" altLang="zh-CN">
                <a:solidFill>
                  <a:schemeClr val="bg2"/>
                </a:solidFill>
                <a:sym typeface="+mn-ea"/>
              </a:rPr>
              <a:t>(</a:t>
            </a:r>
            <a:r>
              <a:rPr lang="en-US" altLang="zh-CN" b="1" i="1">
                <a:solidFill>
                  <a:schemeClr val="bg2"/>
                </a:solidFill>
                <a:sym typeface="+mn-ea"/>
              </a:rPr>
              <a:t>A</a:t>
            </a:r>
            <a:r>
              <a:rPr lang="en-US" altLang="zh-CN" baseline="-25000">
                <a:solidFill>
                  <a:schemeClr val="bg2"/>
                </a:solidFill>
                <a:sym typeface="+mn-ea"/>
              </a:rPr>
              <a:t>2</a:t>
            </a:r>
            <a:r>
              <a:rPr lang="en-US" altLang="zh-CN" b="1" i="1">
                <a:solidFill>
                  <a:schemeClr val="bg2"/>
                </a:solidFill>
                <a:sym typeface="+mn-ea"/>
              </a:rPr>
              <a:t>A</a:t>
            </a:r>
            <a:r>
              <a:rPr lang="en-US" altLang="zh-CN" baseline="-25000">
                <a:solidFill>
                  <a:schemeClr val="bg2"/>
                </a:solidFill>
                <a:sym typeface="+mn-ea"/>
              </a:rPr>
              <a:t>3</a:t>
            </a:r>
            <a:r>
              <a:rPr lang="en-US" altLang="zh-CN" b="1" i="1">
                <a:solidFill>
                  <a:schemeClr val="bg2"/>
                </a:solidFill>
                <a:sym typeface="+mn-ea"/>
              </a:rPr>
              <a:t>A</a:t>
            </a:r>
            <a:r>
              <a:rPr lang="en-US" altLang="zh-CN" baseline="-25000">
                <a:solidFill>
                  <a:schemeClr val="bg2"/>
                </a:solidFill>
                <a:sym typeface="+mn-ea"/>
              </a:rPr>
              <a:t>4</a:t>
            </a:r>
            <a:r>
              <a:rPr lang="en-US" altLang="zh-CN">
                <a:solidFill>
                  <a:schemeClr val="bg2"/>
                </a:solidFill>
                <a:sym typeface="+mn-ea"/>
              </a:rPr>
              <a:t>)</a:t>
            </a:r>
            <a:r>
              <a:rPr lang="en-US" altLang="zh-CN" b="1" i="1">
                <a:solidFill>
                  <a:schemeClr val="bg2"/>
                </a:solidFill>
                <a:sym typeface="+mn-ea"/>
              </a:rPr>
              <a:t>A</a:t>
            </a:r>
            <a:r>
              <a:rPr lang="en-US" altLang="zh-CN" baseline="-25000">
                <a:solidFill>
                  <a:schemeClr val="bg2"/>
                </a:solidFill>
                <a:sym typeface="+mn-ea"/>
              </a:rPr>
              <a:t>5</a:t>
            </a:r>
            <a:r>
              <a:rPr lang="en-US" altLang="zh-CN">
                <a:solidFill>
                  <a:schemeClr val="bg2"/>
                </a:solidFill>
                <a:sym typeface="+mn-ea"/>
              </a:rPr>
              <a:t>=</a:t>
            </a:r>
            <a:r>
              <a:rPr lang="en-US" altLang="zh-CN" b="1" i="1">
                <a:solidFill>
                  <a:srgbClr val="FF0000"/>
                </a:solidFill>
                <a:sym typeface="+mn-ea"/>
              </a:rPr>
              <a:t>m</a:t>
            </a:r>
            <a:r>
              <a:rPr lang="en-US" altLang="zh-CN" b="1">
                <a:solidFill>
                  <a:srgbClr val="FF0000"/>
                </a:solidFill>
                <a:sym typeface="+mn-ea"/>
              </a:rPr>
              <a:t>[2,4]</a:t>
            </a:r>
            <a:r>
              <a:rPr lang="en-US" altLang="zh-CN">
                <a:solidFill>
                  <a:schemeClr val="bg2"/>
                </a:solidFill>
                <a:sym typeface="+mn-ea"/>
              </a:rPr>
              <a:t>+0+35×10×20=11375</a:t>
            </a:r>
            <a:endParaRPr lang="en-US" altLang="zh-CN">
              <a:solidFill>
                <a:schemeClr val="bg2"/>
              </a:solidFill>
              <a:sym typeface="+mn-ea"/>
            </a:endParaRPr>
          </a:p>
          <a:p>
            <a:pPr>
              <a:lnSpc>
                <a:spcPct val="130000"/>
              </a:lnSpc>
              <a:spcBef>
                <a:spcPts val="0"/>
              </a:spcBef>
              <a:spcAft>
                <a:spcPts val="0"/>
              </a:spcAft>
            </a:pPr>
            <a:r>
              <a:rPr lang="zh-CN" altLang="en-US">
                <a:solidFill>
                  <a:schemeClr val="bg2"/>
                </a:solidFill>
                <a:sym typeface="+mn-ea"/>
              </a:rPr>
              <a:t>（</a:t>
            </a:r>
            <a:r>
              <a:rPr lang="en-US" altLang="zh-CN">
                <a:solidFill>
                  <a:schemeClr val="bg2"/>
                </a:solidFill>
                <a:sym typeface="+mn-ea"/>
              </a:rPr>
              <a:t>4</a:t>
            </a:r>
            <a:r>
              <a:rPr lang="zh-CN" altLang="en-US">
                <a:solidFill>
                  <a:schemeClr val="bg2"/>
                </a:solidFill>
                <a:sym typeface="+mn-ea"/>
              </a:rPr>
              <a:t>）</a:t>
            </a:r>
            <a:r>
              <a:rPr lang="zh-CN" altLang="en-US" b="1" i="1">
                <a:solidFill>
                  <a:schemeClr val="bg2"/>
                </a:solidFill>
                <a:sym typeface="+mn-ea"/>
              </a:rPr>
              <a:t>m</a:t>
            </a:r>
            <a:r>
              <a:rPr lang="zh-CN" altLang="en-US">
                <a:solidFill>
                  <a:schemeClr val="bg2"/>
                </a:solidFill>
                <a:sym typeface="+mn-ea"/>
              </a:rPr>
              <a:t>[2,5]</a:t>
            </a:r>
            <a:r>
              <a:rPr lang="en-US" altLang="zh-CN">
                <a:solidFill>
                  <a:schemeClr val="bg2"/>
                </a:solidFill>
                <a:sym typeface="+mn-ea"/>
              </a:rPr>
              <a:t>=min{13000,7125,11375}=7125</a:t>
            </a:r>
            <a:endParaRPr lang="en-US" altLang="zh-CN">
              <a:solidFill>
                <a:schemeClr val="bg2"/>
              </a:solidFill>
              <a:sym typeface="+mn-ea"/>
            </a:endParaRPr>
          </a:p>
          <a:p>
            <a:pPr>
              <a:lnSpc>
                <a:spcPct val="130000"/>
              </a:lnSpc>
              <a:spcBef>
                <a:spcPts val="0"/>
              </a:spcBef>
              <a:spcAft>
                <a:spcPts val="0"/>
              </a:spcAft>
            </a:pPr>
            <a:r>
              <a:rPr lang="en-US" altLang="zh-CN">
                <a:solidFill>
                  <a:schemeClr val="bg2"/>
                </a:solidFill>
                <a:sym typeface="+mn-ea"/>
              </a:rPr>
              <a:t>         </a:t>
            </a:r>
            <a:r>
              <a:rPr lang="en-US" altLang="zh-CN">
                <a:solidFill>
                  <a:schemeClr val="bg2"/>
                </a:solidFill>
                <a:latin typeface="宋体" panose="02010600030101010101" pitchFamily="2" charset="-122"/>
                <a:sym typeface="+mn-ea"/>
              </a:rPr>
              <a:t>※</a:t>
            </a:r>
            <a:r>
              <a:rPr lang="en-US" altLang="zh-CN">
                <a:solidFill>
                  <a:schemeClr val="bg2"/>
                </a:solidFill>
                <a:sym typeface="+mn-ea"/>
              </a:rPr>
              <a:t> </a:t>
            </a:r>
            <a:r>
              <a:rPr lang="en-US" altLang="zh-CN" b="1" i="1">
                <a:solidFill>
                  <a:schemeClr val="bg2"/>
                </a:solidFill>
                <a:sym typeface="+mn-ea"/>
              </a:rPr>
              <a:t>s</a:t>
            </a:r>
            <a:r>
              <a:rPr lang="en-US" altLang="zh-CN">
                <a:solidFill>
                  <a:schemeClr val="bg2"/>
                </a:solidFill>
                <a:sym typeface="+mn-ea"/>
              </a:rPr>
              <a:t>[2,5]=</a:t>
            </a:r>
            <a:r>
              <a:rPr lang="en-US" altLang="zh-CN" b="1">
                <a:solidFill>
                  <a:schemeClr val="bg2"/>
                </a:solidFill>
                <a:sym typeface="+mn-ea"/>
              </a:rPr>
              <a:t>3</a:t>
            </a:r>
            <a:endParaRPr lang="en-US" altLang="zh-CN" b="1">
              <a:solidFill>
                <a:schemeClr val="bg2"/>
              </a:solidFill>
              <a:sym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left)">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left)">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wipe(left)">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wipe(left)">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wipe(left)">
                                      <p:cBhvr>
                                        <p:cTn id="27"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3.2 </a:t>
            </a:r>
            <a:r>
              <a:rPr kumimoji="0" lang="zh-CN" altLang="en-US" kern="1200" dirty="0" smtClean="0">
                <a:solidFill>
                  <a:schemeClr val="accent2"/>
                </a:solidFill>
                <a:sym typeface="+mn-ea"/>
              </a:rPr>
              <a:t>动态规划算法设计</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4" name="文本框 3"/>
          <p:cNvSpPr txBox="1"/>
          <p:nvPr/>
        </p:nvSpPr>
        <p:spPr>
          <a:xfrm>
            <a:off x="659765" y="1646555"/>
            <a:ext cx="7729855" cy="1529715"/>
          </a:xfrm>
          <a:prstGeom prst="rect">
            <a:avLst/>
          </a:prstGeom>
          <a:noFill/>
        </p:spPr>
        <p:txBody>
          <a:bodyPr wrap="square" rtlCol="0" anchor="t">
            <a:spAutoFit/>
          </a:bodyPr>
          <a:lstStyle/>
          <a:p>
            <a:pPr marL="342900" indent="-342900">
              <a:lnSpc>
                <a:spcPct val="130000"/>
              </a:lnSpc>
              <a:spcBef>
                <a:spcPts val="0"/>
              </a:spcBef>
              <a:spcAft>
                <a:spcPts val="0"/>
              </a:spcAft>
              <a:buFont typeface="Wingdings" panose="05000000000000000000" charset="0"/>
              <a:buChar char="Ø"/>
            </a:pPr>
            <a:r>
              <a:rPr lang="zh-CN" altLang="en-US" b="1">
                <a:solidFill>
                  <a:schemeClr val="bg2"/>
                </a:solidFill>
                <a:sym typeface="+mn-ea"/>
              </a:rPr>
              <a:t>解的追踪：</a:t>
            </a:r>
            <a:endParaRPr lang="zh-CN" altLang="en-US" b="1">
              <a:solidFill>
                <a:schemeClr val="bg2"/>
              </a:solidFill>
              <a:sym typeface="+mn-ea"/>
            </a:endParaRPr>
          </a:p>
          <a:p>
            <a:pPr>
              <a:lnSpc>
                <a:spcPct val="130000"/>
              </a:lnSpc>
              <a:spcBef>
                <a:spcPts val="0"/>
              </a:spcBef>
              <a:spcAft>
                <a:spcPts val="0"/>
              </a:spcAft>
              <a:buFont typeface="Wingdings" panose="05000000000000000000" charset="0"/>
            </a:pPr>
            <a:r>
              <a:rPr lang="zh-CN" altLang="en-US" b="1">
                <a:solidFill>
                  <a:schemeClr val="bg2"/>
                </a:solidFill>
                <a:sym typeface="+mn-ea"/>
              </a:rPr>
              <a:t>（</a:t>
            </a:r>
            <a:r>
              <a:rPr lang="en-US" altLang="zh-CN" b="1">
                <a:solidFill>
                  <a:schemeClr val="bg2"/>
                </a:solidFill>
                <a:sym typeface="+mn-ea"/>
              </a:rPr>
              <a:t>1</a:t>
            </a:r>
            <a:r>
              <a:rPr lang="zh-CN" altLang="en-US" b="1">
                <a:solidFill>
                  <a:schemeClr val="bg2"/>
                </a:solidFill>
                <a:sym typeface="+mn-ea"/>
              </a:rPr>
              <a:t>）最少的乘法次数：</a:t>
            </a:r>
            <a:r>
              <a:rPr lang="zh-CN" altLang="en-US" b="1" i="1">
                <a:solidFill>
                  <a:schemeClr val="bg2"/>
                </a:solidFill>
                <a:sym typeface="+mn-ea"/>
              </a:rPr>
              <a:t>m</a:t>
            </a:r>
            <a:r>
              <a:rPr lang="zh-CN" altLang="en-US" b="1">
                <a:solidFill>
                  <a:schemeClr val="bg2"/>
                </a:solidFill>
                <a:sym typeface="+mn-ea"/>
              </a:rPr>
              <a:t>[1,5]=11875</a:t>
            </a:r>
            <a:endParaRPr lang="zh-CN" altLang="en-US" b="1">
              <a:solidFill>
                <a:schemeClr val="bg2"/>
              </a:solidFill>
              <a:sym typeface="+mn-ea"/>
            </a:endParaRPr>
          </a:p>
          <a:p>
            <a:pPr>
              <a:lnSpc>
                <a:spcPct val="130000"/>
              </a:lnSpc>
              <a:spcBef>
                <a:spcPts val="0"/>
              </a:spcBef>
              <a:spcAft>
                <a:spcPts val="0"/>
              </a:spcAft>
              <a:buFont typeface="Wingdings" panose="05000000000000000000" charset="0"/>
            </a:pPr>
            <a:r>
              <a:rPr lang="zh-CN" altLang="en-US" b="1">
                <a:solidFill>
                  <a:schemeClr val="bg2"/>
                </a:solidFill>
                <a:sym typeface="+mn-ea"/>
              </a:rPr>
              <a:t>（</a:t>
            </a:r>
            <a:r>
              <a:rPr lang="en-US" altLang="zh-CN" b="1">
                <a:solidFill>
                  <a:schemeClr val="bg2"/>
                </a:solidFill>
                <a:sym typeface="+mn-ea"/>
              </a:rPr>
              <a:t>2</a:t>
            </a:r>
            <a:r>
              <a:rPr lang="zh-CN" altLang="en-US" b="1">
                <a:solidFill>
                  <a:schemeClr val="bg2"/>
                </a:solidFill>
                <a:sym typeface="+mn-ea"/>
              </a:rPr>
              <a:t>）加括号的位置</a:t>
            </a:r>
            <a:endParaRPr lang="zh-CN" altLang="en-US" b="1">
              <a:solidFill>
                <a:schemeClr val="bg2"/>
              </a:solidFill>
              <a:sym typeface="+mn-ea"/>
            </a:endParaRPr>
          </a:p>
        </p:txBody>
      </p:sp>
      <p:pic>
        <p:nvPicPr>
          <p:cNvPr id="3" name="20 2"/>
          <p:cNvPicPr>
            <a:picLocks noChangeAspect="1"/>
          </p:cNvPicPr>
          <p:nvPr/>
        </p:nvPicPr>
        <p:blipFill>
          <a:blip r:embed="rId1"/>
          <a:stretch>
            <a:fillRect/>
          </a:stretch>
        </p:blipFill>
        <p:spPr>
          <a:xfrm>
            <a:off x="1939925" y="3321050"/>
            <a:ext cx="2731770" cy="446405"/>
          </a:xfrm>
          <a:prstGeom prst="rect">
            <a:avLst/>
          </a:prstGeom>
        </p:spPr>
      </p:pic>
      <p:pic>
        <p:nvPicPr>
          <p:cNvPr id="5" name="20 4"/>
          <p:cNvPicPr>
            <a:picLocks noChangeAspect="1"/>
          </p:cNvPicPr>
          <p:nvPr/>
        </p:nvPicPr>
        <p:blipFill>
          <a:blip r:embed="rId2"/>
          <a:stretch>
            <a:fillRect/>
          </a:stretch>
        </p:blipFill>
        <p:spPr>
          <a:xfrm>
            <a:off x="4671695" y="3348355"/>
            <a:ext cx="2524125" cy="419100"/>
          </a:xfrm>
          <a:prstGeom prst="rect">
            <a:avLst/>
          </a:prstGeom>
        </p:spPr>
      </p:pic>
      <p:pic>
        <p:nvPicPr>
          <p:cNvPr id="6" name="20 5"/>
          <p:cNvPicPr>
            <a:picLocks noChangeAspect="1"/>
          </p:cNvPicPr>
          <p:nvPr/>
        </p:nvPicPr>
        <p:blipFill>
          <a:blip r:embed="rId3"/>
          <a:stretch>
            <a:fillRect/>
          </a:stretch>
        </p:blipFill>
        <p:spPr>
          <a:xfrm>
            <a:off x="3526790" y="3952240"/>
            <a:ext cx="1035050" cy="370205"/>
          </a:xfrm>
          <a:prstGeom prst="rect">
            <a:avLst/>
          </a:prstGeom>
        </p:spPr>
      </p:pic>
      <p:pic>
        <p:nvPicPr>
          <p:cNvPr id="7" name="20 6"/>
          <p:cNvPicPr>
            <a:picLocks noChangeAspect="1"/>
          </p:cNvPicPr>
          <p:nvPr/>
        </p:nvPicPr>
        <p:blipFill>
          <a:blip r:embed="rId4"/>
          <a:stretch>
            <a:fillRect/>
          </a:stretch>
        </p:blipFill>
        <p:spPr>
          <a:xfrm>
            <a:off x="4671695" y="3952240"/>
            <a:ext cx="1769110" cy="456565"/>
          </a:xfrm>
          <a:prstGeom prst="rect">
            <a:avLst/>
          </a:prstGeom>
        </p:spPr>
      </p:pic>
      <p:sp>
        <p:nvSpPr>
          <p:cNvPr id="8" name="文本框 7"/>
          <p:cNvSpPr txBox="1"/>
          <p:nvPr/>
        </p:nvSpPr>
        <p:spPr>
          <a:xfrm>
            <a:off x="832485" y="5007610"/>
            <a:ext cx="7235190" cy="521970"/>
          </a:xfrm>
          <a:prstGeom prst="rect">
            <a:avLst/>
          </a:prstGeom>
          <a:noFill/>
        </p:spPr>
        <p:txBody>
          <a:bodyPr wrap="square" rtlCol="0" anchor="t">
            <a:spAutoFit/>
          </a:bodyPr>
          <a:lstStyle/>
          <a:p>
            <a:pPr algn="l"/>
            <a:r>
              <a:rPr lang="en-US" altLang="zh-CN" sz="2800" b="1" i="1">
                <a:solidFill>
                  <a:schemeClr val="bg1"/>
                </a:solidFill>
                <a:sym typeface="+mn-ea"/>
              </a:rPr>
              <a:t>A</a:t>
            </a:r>
            <a:r>
              <a:rPr lang="en-US" altLang="zh-CN" sz="2800" i="1" baseline="-25000">
                <a:solidFill>
                  <a:schemeClr val="bg1"/>
                </a:solidFill>
                <a:sym typeface="+mn-ea"/>
              </a:rPr>
              <a:t>1</a:t>
            </a:r>
            <a:r>
              <a:rPr lang="en-US" altLang="zh-CN" sz="2800" b="1" i="1">
                <a:solidFill>
                  <a:schemeClr val="bg1"/>
                </a:solidFill>
                <a:sym typeface="+mn-ea"/>
              </a:rPr>
              <a:t>A</a:t>
            </a:r>
            <a:r>
              <a:rPr lang="en-US" altLang="zh-CN" sz="2800" baseline="-25000">
                <a:solidFill>
                  <a:schemeClr val="bg1"/>
                </a:solidFill>
                <a:sym typeface="+mn-ea"/>
              </a:rPr>
              <a:t>2</a:t>
            </a:r>
            <a:r>
              <a:rPr lang="en-US" altLang="zh-CN" sz="2800" b="1" i="1">
                <a:solidFill>
                  <a:schemeClr val="bg1"/>
                </a:solidFill>
                <a:sym typeface="+mn-ea"/>
              </a:rPr>
              <a:t>A</a:t>
            </a:r>
            <a:r>
              <a:rPr lang="en-US" altLang="zh-CN" sz="2800" baseline="-25000">
                <a:solidFill>
                  <a:schemeClr val="bg1"/>
                </a:solidFill>
                <a:sym typeface="+mn-ea"/>
              </a:rPr>
              <a:t>3</a:t>
            </a:r>
            <a:r>
              <a:rPr lang="en-US" altLang="zh-CN" sz="2800" b="1" i="1">
                <a:solidFill>
                  <a:schemeClr val="bg1"/>
                </a:solidFill>
                <a:sym typeface="+mn-ea"/>
              </a:rPr>
              <a:t>A</a:t>
            </a:r>
            <a:r>
              <a:rPr lang="en-US" altLang="zh-CN" sz="2800" baseline="-25000">
                <a:solidFill>
                  <a:schemeClr val="bg1"/>
                </a:solidFill>
                <a:sym typeface="+mn-ea"/>
              </a:rPr>
              <a:t>4</a:t>
            </a:r>
            <a:r>
              <a:rPr lang="en-US" altLang="zh-CN" sz="2800" b="1" i="1">
                <a:solidFill>
                  <a:schemeClr val="bg1"/>
                </a:solidFill>
                <a:sym typeface="+mn-ea"/>
              </a:rPr>
              <a:t>A</a:t>
            </a:r>
            <a:r>
              <a:rPr lang="en-US" altLang="zh-CN" sz="2800" baseline="-25000">
                <a:solidFill>
                  <a:schemeClr val="bg1"/>
                </a:solidFill>
                <a:sym typeface="+mn-ea"/>
              </a:rPr>
              <a:t>5</a:t>
            </a:r>
            <a:r>
              <a:rPr lang="zh-CN" altLang="en-US" sz="2800">
                <a:solidFill>
                  <a:schemeClr val="bg1"/>
                </a:solidFill>
                <a:sym typeface="+mn-ea"/>
              </a:rPr>
              <a:t>的计算顺序为：</a:t>
            </a:r>
            <a:r>
              <a:rPr lang="en-US" altLang="zh-CN" sz="2800">
                <a:solidFill>
                  <a:schemeClr val="bg1"/>
                </a:solidFill>
                <a:sym typeface="+mn-ea"/>
              </a:rPr>
              <a:t>(</a:t>
            </a:r>
            <a:r>
              <a:rPr lang="en-US" altLang="zh-CN" sz="2800" b="1" i="1">
                <a:solidFill>
                  <a:schemeClr val="bg2"/>
                </a:solidFill>
                <a:sym typeface="+mn-ea"/>
              </a:rPr>
              <a:t>A</a:t>
            </a:r>
            <a:r>
              <a:rPr lang="en-US" altLang="zh-CN" sz="2800" baseline="-25000">
                <a:solidFill>
                  <a:schemeClr val="bg2"/>
                </a:solidFill>
                <a:sym typeface="+mn-ea"/>
              </a:rPr>
              <a:t>1</a:t>
            </a:r>
            <a:r>
              <a:rPr lang="en-US" altLang="zh-CN" sz="2800">
                <a:solidFill>
                  <a:schemeClr val="bg2"/>
                </a:solidFill>
                <a:sym typeface="+mn-ea"/>
              </a:rPr>
              <a:t>(</a:t>
            </a:r>
            <a:r>
              <a:rPr lang="en-US" altLang="zh-CN" sz="2800" b="1" i="1">
                <a:solidFill>
                  <a:schemeClr val="bg2"/>
                </a:solidFill>
                <a:sym typeface="+mn-ea"/>
              </a:rPr>
              <a:t>A</a:t>
            </a:r>
            <a:r>
              <a:rPr lang="en-US" altLang="zh-CN" sz="2800" baseline="-25000">
                <a:solidFill>
                  <a:schemeClr val="bg2"/>
                </a:solidFill>
                <a:sym typeface="+mn-ea"/>
              </a:rPr>
              <a:t>2</a:t>
            </a:r>
            <a:r>
              <a:rPr lang="en-US" altLang="zh-CN" sz="2800" b="1" i="1">
                <a:solidFill>
                  <a:schemeClr val="bg2"/>
                </a:solidFill>
                <a:sym typeface="+mn-ea"/>
              </a:rPr>
              <a:t>A</a:t>
            </a:r>
            <a:r>
              <a:rPr lang="en-US" altLang="zh-CN" sz="2800" baseline="-25000">
                <a:solidFill>
                  <a:schemeClr val="bg2"/>
                </a:solidFill>
                <a:sym typeface="+mn-ea"/>
              </a:rPr>
              <a:t>3</a:t>
            </a:r>
            <a:r>
              <a:rPr lang="en-US" altLang="zh-CN" sz="2800">
                <a:solidFill>
                  <a:schemeClr val="bg2"/>
                </a:solidFill>
                <a:sym typeface="+mn-ea"/>
              </a:rPr>
              <a:t>))(</a:t>
            </a:r>
            <a:r>
              <a:rPr lang="en-US" altLang="zh-CN" sz="2800" b="1" i="1">
                <a:solidFill>
                  <a:schemeClr val="bg2"/>
                </a:solidFill>
                <a:sym typeface="+mn-ea"/>
              </a:rPr>
              <a:t>A</a:t>
            </a:r>
            <a:r>
              <a:rPr lang="en-US" altLang="zh-CN" sz="2800" baseline="-25000">
                <a:solidFill>
                  <a:schemeClr val="bg2"/>
                </a:solidFill>
                <a:sym typeface="+mn-ea"/>
              </a:rPr>
              <a:t>4</a:t>
            </a:r>
            <a:r>
              <a:rPr lang="en-US" altLang="zh-CN" sz="2800" b="1" i="1">
                <a:solidFill>
                  <a:schemeClr val="bg2"/>
                </a:solidFill>
                <a:sym typeface="+mn-ea"/>
              </a:rPr>
              <a:t>A</a:t>
            </a:r>
            <a:r>
              <a:rPr lang="en-US" altLang="zh-CN" sz="2800" baseline="-25000">
                <a:solidFill>
                  <a:schemeClr val="bg2"/>
                </a:solidFill>
                <a:sym typeface="+mn-ea"/>
              </a:rPr>
              <a:t>5</a:t>
            </a:r>
            <a:r>
              <a:rPr lang="en-US" altLang="zh-CN" sz="2800">
                <a:solidFill>
                  <a:schemeClr val="bg2"/>
                </a:solidFill>
                <a:sym typeface="+mn-ea"/>
              </a:rPr>
              <a:t>)</a:t>
            </a:r>
            <a:endParaRPr lang="en-US" altLang="zh-CN" sz="2800">
              <a:solidFill>
                <a:schemeClr val="bg2"/>
              </a:solidFill>
              <a:sym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3.2 </a:t>
            </a:r>
            <a:r>
              <a:rPr kumimoji="0" lang="zh-CN" altLang="en-US" kern="1200" dirty="0" smtClean="0">
                <a:solidFill>
                  <a:schemeClr val="accent2"/>
                </a:solidFill>
                <a:sym typeface="+mn-ea"/>
              </a:rPr>
              <a:t>动态规划算法设计</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10" name="文本框 9"/>
          <p:cNvSpPr txBox="1"/>
          <p:nvPr/>
        </p:nvSpPr>
        <p:spPr>
          <a:xfrm>
            <a:off x="506730" y="1473835"/>
            <a:ext cx="8022590" cy="570865"/>
          </a:xfrm>
          <a:prstGeom prst="rect">
            <a:avLst/>
          </a:prstGeom>
          <a:noFill/>
        </p:spPr>
        <p:txBody>
          <a:bodyPr wrap="square" rtlCol="0" anchor="t">
            <a:spAutoFit/>
          </a:bodyPr>
          <a:lstStyle/>
          <a:p>
            <a:pPr marL="800100" lvl="1" indent="-342900" algn="just">
              <a:lnSpc>
                <a:spcPct val="130000"/>
              </a:lnSpc>
              <a:spcBef>
                <a:spcPts val="0"/>
              </a:spcBef>
              <a:spcAft>
                <a:spcPts val="0"/>
              </a:spcAft>
              <a:buFont typeface="Wingdings" panose="05000000000000000000" charset="0"/>
              <a:buChar char="Ø"/>
            </a:pPr>
            <a:r>
              <a:rPr lang="zh-CN" altLang="en-US">
                <a:solidFill>
                  <a:schemeClr val="bg2"/>
                </a:solidFill>
              </a:rPr>
              <a:t>迭代实现：</a:t>
            </a:r>
            <a:r>
              <a:rPr lang="en-US" altLang="zh-CN" b="1" noProof="0" dirty="0" err="1">
                <a:ln>
                  <a:noFill/>
                </a:ln>
                <a:solidFill>
                  <a:srgbClr val="C00000"/>
                </a:solidFill>
                <a:effectLst/>
                <a:uLnTx/>
                <a:uFillTx/>
                <a:ea typeface="黑体" panose="02010609060101010101" pitchFamily="2" charset="-122"/>
                <a:sym typeface="+mn-ea"/>
              </a:rPr>
              <a:t>MatrixChain</a:t>
            </a:r>
            <a:r>
              <a:rPr lang="en-US" altLang="zh-CN" b="1" noProof="0" dirty="0">
                <a:ln>
                  <a:noFill/>
                </a:ln>
                <a:solidFill>
                  <a:srgbClr val="C00000"/>
                </a:solidFill>
                <a:effectLst/>
                <a:uLnTx/>
                <a:uFillTx/>
                <a:ea typeface="黑体" panose="02010609060101010101" pitchFamily="2" charset="-122"/>
                <a:sym typeface="+mn-ea"/>
              </a:rPr>
              <a:t>(</a:t>
            </a:r>
            <a:r>
              <a:rPr lang="en-US" altLang="zh-CN" b="1" i="1" noProof="0" dirty="0" err="1">
                <a:ln>
                  <a:noFill/>
                </a:ln>
                <a:solidFill>
                  <a:srgbClr val="C00000"/>
                </a:solidFill>
                <a:effectLst/>
                <a:uLnTx/>
                <a:uFillTx/>
                <a:ea typeface="黑体" panose="02010609060101010101" pitchFamily="2" charset="-122"/>
                <a:sym typeface="+mn-ea"/>
              </a:rPr>
              <a:t>P</a:t>
            </a:r>
            <a:r>
              <a:rPr lang="en-US" altLang="zh-CN" b="1" noProof="0" dirty="0" err="1">
                <a:ln>
                  <a:noFill/>
                </a:ln>
                <a:solidFill>
                  <a:srgbClr val="C00000"/>
                </a:solidFill>
                <a:effectLst/>
                <a:uLnTx/>
                <a:uFillTx/>
                <a:ea typeface="黑体" panose="02010609060101010101" pitchFamily="2" charset="-122"/>
                <a:sym typeface="+mn-ea"/>
              </a:rPr>
              <a:t>,</a:t>
            </a:r>
            <a:r>
              <a:rPr lang="en-US" altLang="zh-CN" b="1" i="1" noProof="0" dirty="0" err="1">
                <a:ln>
                  <a:noFill/>
                </a:ln>
                <a:solidFill>
                  <a:srgbClr val="C00000"/>
                </a:solidFill>
                <a:effectLst/>
                <a:uLnTx/>
                <a:uFillTx/>
                <a:ea typeface="黑体" panose="02010609060101010101" pitchFamily="2" charset="-122"/>
                <a:sym typeface="+mn-ea"/>
              </a:rPr>
              <a:t>n</a:t>
            </a:r>
            <a:r>
              <a:rPr lang="en-US" altLang="zh-CN" b="1" noProof="0" dirty="0">
                <a:ln>
                  <a:noFill/>
                </a:ln>
                <a:solidFill>
                  <a:srgbClr val="C00000"/>
                </a:solidFill>
                <a:effectLst/>
                <a:uLnTx/>
                <a:uFillTx/>
                <a:ea typeface="黑体" panose="02010609060101010101" pitchFamily="2" charset="-122"/>
                <a:sym typeface="+mn-ea"/>
              </a:rPr>
              <a:t>)</a:t>
            </a:r>
            <a:endParaRPr lang="zh-CN" altLang="en-US">
              <a:solidFill>
                <a:schemeClr val="bg2"/>
              </a:solidFill>
            </a:endParaRPr>
          </a:p>
        </p:txBody>
      </p:sp>
      <p:pic>
        <p:nvPicPr>
          <p:cNvPr id="4" name="20 3"/>
          <p:cNvPicPr>
            <a:picLocks noChangeAspect="1"/>
          </p:cNvPicPr>
          <p:nvPr/>
        </p:nvPicPr>
        <p:blipFill>
          <a:blip r:embed="rId1"/>
          <a:stretch>
            <a:fillRect/>
          </a:stretch>
        </p:blipFill>
        <p:spPr>
          <a:xfrm>
            <a:off x="1419860" y="2044700"/>
            <a:ext cx="3535680" cy="349885"/>
          </a:xfrm>
          <a:prstGeom prst="rect">
            <a:avLst/>
          </a:prstGeom>
        </p:spPr>
      </p:pic>
      <p:pic>
        <p:nvPicPr>
          <p:cNvPr id="5" name="20 4"/>
          <p:cNvPicPr>
            <a:picLocks noChangeAspect="1"/>
          </p:cNvPicPr>
          <p:nvPr/>
        </p:nvPicPr>
        <p:blipFill>
          <a:blip r:embed="rId2"/>
          <a:stretch>
            <a:fillRect/>
          </a:stretch>
        </p:blipFill>
        <p:spPr>
          <a:xfrm>
            <a:off x="1397000" y="2394585"/>
            <a:ext cx="4636770" cy="365125"/>
          </a:xfrm>
          <a:prstGeom prst="rect">
            <a:avLst/>
          </a:prstGeom>
        </p:spPr>
      </p:pic>
      <p:pic>
        <p:nvPicPr>
          <p:cNvPr id="8" name="20 7"/>
          <p:cNvPicPr>
            <a:picLocks noChangeAspect="1"/>
          </p:cNvPicPr>
          <p:nvPr/>
        </p:nvPicPr>
        <p:blipFill>
          <a:blip r:embed="rId3"/>
          <a:stretch>
            <a:fillRect/>
          </a:stretch>
        </p:blipFill>
        <p:spPr>
          <a:xfrm>
            <a:off x="1419860" y="2831465"/>
            <a:ext cx="4966335" cy="362585"/>
          </a:xfrm>
          <a:prstGeom prst="rect">
            <a:avLst/>
          </a:prstGeom>
        </p:spPr>
      </p:pic>
      <p:pic>
        <p:nvPicPr>
          <p:cNvPr id="9" name="20 8"/>
          <p:cNvPicPr>
            <a:picLocks noChangeAspect="1"/>
          </p:cNvPicPr>
          <p:nvPr/>
        </p:nvPicPr>
        <p:blipFill>
          <a:blip r:embed="rId4"/>
          <a:stretch>
            <a:fillRect/>
          </a:stretch>
        </p:blipFill>
        <p:spPr>
          <a:xfrm>
            <a:off x="1408430" y="3223260"/>
            <a:ext cx="4989830" cy="410845"/>
          </a:xfrm>
          <a:prstGeom prst="rect">
            <a:avLst/>
          </a:prstGeom>
        </p:spPr>
      </p:pic>
      <p:pic>
        <p:nvPicPr>
          <p:cNvPr id="11" name="20 10"/>
          <p:cNvPicPr>
            <a:picLocks noChangeAspect="1"/>
          </p:cNvPicPr>
          <p:nvPr/>
        </p:nvPicPr>
        <p:blipFill>
          <a:blip r:embed="rId5"/>
          <a:stretch>
            <a:fillRect/>
          </a:stretch>
        </p:blipFill>
        <p:spPr>
          <a:xfrm>
            <a:off x="1325245" y="3658870"/>
            <a:ext cx="5106035" cy="431800"/>
          </a:xfrm>
          <a:prstGeom prst="rect">
            <a:avLst/>
          </a:prstGeom>
        </p:spPr>
      </p:pic>
      <p:pic>
        <p:nvPicPr>
          <p:cNvPr id="12" name="20 11"/>
          <p:cNvPicPr>
            <a:picLocks noChangeAspect="1"/>
          </p:cNvPicPr>
          <p:nvPr/>
        </p:nvPicPr>
        <p:blipFill>
          <a:blip r:embed="rId6"/>
          <a:stretch>
            <a:fillRect/>
          </a:stretch>
        </p:blipFill>
        <p:spPr>
          <a:xfrm>
            <a:off x="1397000" y="4090670"/>
            <a:ext cx="3978910" cy="412115"/>
          </a:xfrm>
          <a:prstGeom prst="rect">
            <a:avLst/>
          </a:prstGeom>
        </p:spPr>
      </p:pic>
      <p:pic>
        <p:nvPicPr>
          <p:cNvPr id="14" name="20 13"/>
          <p:cNvPicPr>
            <a:picLocks noChangeAspect="1"/>
          </p:cNvPicPr>
          <p:nvPr/>
        </p:nvPicPr>
        <p:blipFill>
          <a:blip r:embed="rId7"/>
          <a:stretch>
            <a:fillRect/>
          </a:stretch>
        </p:blipFill>
        <p:spPr>
          <a:xfrm>
            <a:off x="1325245" y="4535170"/>
            <a:ext cx="5106035" cy="455295"/>
          </a:xfrm>
          <a:prstGeom prst="rect">
            <a:avLst/>
          </a:prstGeom>
        </p:spPr>
      </p:pic>
      <p:pic>
        <p:nvPicPr>
          <p:cNvPr id="15" name="20 14"/>
          <p:cNvPicPr>
            <a:picLocks noChangeAspect="1"/>
          </p:cNvPicPr>
          <p:nvPr/>
        </p:nvPicPr>
        <p:blipFill>
          <a:blip r:embed="rId8"/>
          <a:stretch>
            <a:fillRect/>
          </a:stretch>
        </p:blipFill>
        <p:spPr>
          <a:xfrm>
            <a:off x="1397000" y="5062220"/>
            <a:ext cx="5105400" cy="440055"/>
          </a:xfrm>
          <a:prstGeom prst="rect">
            <a:avLst/>
          </a:prstGeom>
        </p:spPr>
      </p:pic>
      <p:pic>
        <p:nvPicPr>
          <p:cNvPr id="16" name="20 15"/>
          <p:cNvPicPr>
            <a:picLocks noChangeAspect="1"/>
          </p:cNvPicPr>
          <p:nvPr/>
        </p:nvPicPr>
        <p:blipFill>
          <a:blip r:embed="rId9"/>
          <a:stretch>
            <a:fillRect/>
          </a:stretch>
        </p:blipFill>
        <p:spPr>
          <a:xfrm>
            <a:off x="1348105" y="5502275"/>
            <a:ext cx="4282440" cy="1152525"/>
          </a:xfrm>
          <a:prstGeom prst="rect">
            <a:avLst/>
          </a:prstGeom>
        </p:spPr>
      </p:pic>
      <p:sp>
        <p:nvSpPr>
          <p:cNvPr id="17" name="文本框 16"/>
          <p:cNvSpPr txBox="1"/>
          <p:nvPr/>
        </p:nvSpPr>
        <p:spPr>
          <a:xfrm>
            <a:off x="6824980" y="3260725"/>
            <a:ext cx="1847850" cy="829945"/>
          </a:xfrm>
          <a:prstGeom prst="rect">
            <a:avLst/>
          </a:prstGeom>
          <a:noFill/>
        </p:spPr>
        <p:txBody>
          <a:bodyPr wrap="square" rtlCol="0" anchor="t">
            <a:spAutoFit/>
          </a:bodyPr>
          <a:lstStyle/>
          <a:p>
            <a:r>
              <a:rPr lang="zh-CN" altLang="en-US">
                <a:solidFill>
                  <a:schemeClr val="bg2"/>
                </a:solidFill>
              </a:rPr>
              <a:t>二维数组</a:t>
            </a:r>
            <a:r>
              <a:rPr lang="zh-CN" altLang="en-US" b="1" i="1">
                <a:solidFill>
                  <a:schemeClr val="bg2"/>
                </a:solidFill>
              </a:rPr>
              <a:t>m</a:t>
            </a:r>
            <a:r>
              <a:rPr lang="zh-CN" altLang="en-US">
                <a:solidFill>
                  <a:schemeClr val="bg2"/>
                </a:solidFill>
              </a:rPr>
              <a:t>与</a:t>
            </a:r>
            <a:r>
              <a:rPr lang="zh-CN" altLang="en-US" b="1" i="1">
                <a:solidFill>
                  <a:schemeClr val="bg2"/>
                </a:solidFill>
              </a:rPr>
              <a:t>s</a:t>
            </a:r>
            <a:r>
              <a:rPr lang="zh-CN" altLang="en-US">
                <a:solidFill>
                  <a:schemeClr val="bg2"/>
                </a:solidFill>
              </a:rPr>
              <a:t>为备忘录</a:t>
            </a:r>
            <a:endParaRPr lang="zh-CN" altLang="en-US">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left)">
                                      <p:cBhvr>
                                        <p:cTn id="5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3.2 </a:t>
            </a:r>
            <a:r>
              <a:rPr kumimoji="0" lang="zh-CN" altLang="en-US" kern="1200" dirty="0" smtClean="0">
                <a:solidFill>
                  <a:schemeClr val="accent2"/>
                </a:solidFill>
                <a:sym typeface="+mn-ea"/>
              </a:rPr>
              <a:t>动态规划算法设计</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10" name="文本框 9"/>
          <p:cNvSpPr txBox="1"/>
          <p:nvPr/>
        </p:nvSpPr>
        <p:spPr>
          <a:xfrm>
            <a:off x="506730" y="1473835"/>
            <a:ext cx="8022590" cy="570865"/>
          </a:xfrm>
          <a:prstGeom prst="rect">
            <a:avLst/>
          </a:prstGeom>
          <a:noFill/>
        </p:spPr>
        <p:txBody>
          <a:bodyPr wrap="square" rtlCol="0" anchor="t">
            <a:spAutoFit/>
          </a:bodyPr>
          <a:lstStyle/>
          <a:p>
            <a:pPr marL="800100" lvl="1" indent="-342900" algn="just">
              <a:lnSpc>
                <a:spcPct val="130000"/>
              </a:lnSpc>
              <a:spcBef>
                <a:spcPts val="0"/>
              </a:spcBef>
              <a:spcAft>
                <a:spcPts val="0"/>
              </a:spcAft>
              <a:buFont typeface="Wingdings" panose="05000000000000000000" charset="0"/>
              <a:buChar char="Ø"/>
            </a:pPr>
            <a:r>
              <a:rPr>
                <a:solidFill>
                  <a:schemeClr val="bg2"/>
                </a:solidFill>
              </a:rPr>
              <a:t>时间复杂度</a:t>
            </a:r>
            <a:r>
              <a:rPr lang="zh-CN">
                <a:solidFill>
                  <a:schemeClr val="bg2"/>
                </a:solidFill>
              </a:rPr>
              <a:t>分析</a:t>
            </a:r>
            <a:endParaRPr lang="zh-CN">
              <a:solidFill>
                <a:schemeClr val="bg2"/>
              </a:solidFill>
            </a:endParaRPr>
          </a:p>
        </p:txBody>
      </p:sp>
      <p:pic>
        <p:nvPicPr>
          <p:cNvPr id="3" name="20 2"/>
          <p:cNvPicPr>
            <a:picLocks noChangeAspect="1"/>
          </p:cNvPicPr>
          <p:nvPr/>
        </p:nvPicPr>
        <p:blipFill>
          <a:blip r:embed="rId1"/>
          <a:stretch>
            <a:fillRect/>
          </a:stretch>
        </p:blipFill>
        <p:spPr>
          <a:xfrm>
            <a:off x="1115695" y="2044700"/>
            <a:ext cx="5842000" cy="1348105"/>
          </a:xfrm>
          <a:prstGeom prst="rect">
            <a:avLst/>
          </a:prstGeom>
        </p:spPr>
      </p:pic>
      <p:pic>
        <p:nvPicPr>
          <p:cNvPr id="6" name="20 5"/>
          <p:cNvPicPr>
            <a:picLocks noChangeAspect="1"/>
          </p:cNvPicPr>
          <p:nvPr/>
        </p:nvPicPr>
        <p:blipFill>
          <a:blip r:embed="rId2"/>
          <a:stretch>
            <a:fillRect/>
          </a:stretch>
        </p:blipFill>
        <p:spPr>
          <a:xfrm>
            <a:off x="1252855" y="3488055"/>
            <a:ext cx="5692775" cy="2221230"/>
          </a:xfrm>
          <a:prstGeom prst="rect">
            <a:avLst/>
          </a:prstGeom>
        </p:spPr>
      </p:pic>
      <p:pic>
        <p:nvPicPr>
          <p:cNvPr id="7" name="20 6"/>
          <p:cNvPicPr>
            <a:picLocks noChangeAspect="1"/>
          </p:cNvPicPr>
          <p:nvPr/>
        </p:nvPicPr>
        <p:blipFill>
          <a:blip r:embed="rId3"/>
          <a:stretch>
            <a:fillRect/>
          </a:stretch>
        </p:blipFill>
        <p:spPr>
          <a:xfrm>
            <a:off x="1292860" y="5637530"/>
            <a:ext cx="5491480" cy="528320"/>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3.2 </a:t>
            </a:r>
            <a:r>
              <a:rPr kumimoji="0" lang="zh-CN" altLang="en-US" kern="1200" dirty="0" smtClean="0">
                <a:solidFill>
                  <a:schemeClr val="accent2"/>
                </a:solidFill>
                <a:sym typeface="+mn-ea"/>
              </a:rPr>
              <a:t>动态规划算法设计</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4" name="文本框 3"/>
          <p:cNvSpPr txBox="1"/>
          <p:nvPr/>
        </p:nvSpPr>
        <p:spPr>
          <a:xfrm>
            <a:off x="659765" y="1646555"/>
            <a:ext cx="7729855" cy="3928110"/>
          </a:xfrm>
          <a:prstGeom prst="rect">
            <a:avLst/>
          </a:prstGeom>
          <a:noFill/>
        </p:spPr>
        <p:txBody>
          <a:bodyPr wrap="square" rtlCol="0" anchor="t">
            <a:spAutoFit/>
          </a:bodyPr>
          <a:lstStyle/>
          <a:p>
            <a:pPr marL="342900" indent="-342900">
              <a:lnSpc>
                <a:spcPct val="130000"/>
              </a:lnSpc>
              <a:spcBef>
                <a:spcPts val="0"/>
              </a:spcBef>
              <a:spcAft>
                <a:spcPts val="0"/>
              </a:spcAft>
              <a:buFont typeface="Wingdings" panose="05000000000000000000" charset="0"/>
              <a:buChar char="Ø"/>
            </a:pPr>
            <a:r>
              <a:rPr lang="zh-CN" altLang="en-US" b="1">
                <a:solidFill>
                  <a:schemeClr val="bg2"/>
                </a:solidFill>
                <a:sym typeface="+mn-ea"/>
              </a:rPr>
              <a:t>两种实现的比较</a:t>
            </a:r>
            <a:endParaRPr lang="zh-CN" altLang="en-US" b="1">
              <a:solidFill>
                <a:schemeClr val="bg2"/>
              </a:solidFill>
              <a:sym typeface="+mn-ea"/>
            </a:endParaRPr>
          </a:p>
          <a:p>
            <a:pPr>
              <a:lnSpc>
                <a:spcPct val="130000"/>
              </a:lnSpc>
              <a:spcBef>
                <a:spcPts val="0"/>
              </a:spcBef>
              <a:spcAft>
                <a:spcPts val="0"/>
              </a:spcAft>
              <a:buFont typeface="Wingdings" panose="05000000000000000000" charset="0"/>
            </a:pPr>
            <a:r>
              <a:rPr b="1">
                <a:solidFill>
                  <a:schemeClr val="bg2"/>
                </a:solidFill>
                <a:sym typeface="+mn-ea"/>
              </a:rPr>
              <a:t>递归实现：时间复杂性高，空间</a:t>
            </a:r>
            <a:r>
              <a:rPr lang="zh-CN" b="1">
                <a:solidFill>
                  <a:schemeClr val="bg2"/>
                </a:solidFill>
                <a:sym typeface="+mn-ea"/>
              </a:rPr>
              <a:t>消耗</a:t>
            </a:r>
            <a:r>
              <a:rPr b="1">
                <a:solidFill>
                  <a:schemeClr val="bg2"/>
                </a:solidFill>
                <a:sym typeface="+mn-ea"/>
              </a:rPr>
              <a:t>较小</a:t>
            </a:r>
            <a:endParaRPr b="1">
              <a:solidFill>
                <a:schemeClr val="bg2"/>
              </a:solidFill>
              <a:sym typeface="+mn-ea"/>
            </a:endParaRPr>
          </a:p>
          <a:p>
            <a:pPr>
              <a:lnSpc>
                <a:spcPct val="130000"/>
              </a:lnSpc>
              <a:spcBef>
                <a:spcPts val="0"/>
              </a:spcBef>
              <a:spcAft>
                <a:spcPts val="0"/>
              </a:spcAft>
              <a:buFont typeface="Wingdings" panose="05000000000000000000" charset="0"/>
            </a:pPr>
            <a:r>
              <a:rPr b="1">
                <a:solidFill>
                  <a:schemeClr val="bg2"/>
                </a:solidFill>
                <a:sym typeface="+mn-ea"/>
              </a:rPr>
              <a:t>迭代实现：时间复杂性低，空间消耗多</a:t>
            </a:r>
            <a:endParaRPr b="1">
              <a:solidFill>
                <a:schemeClr val="bg2"/>
              </a:solidFill>
              <a:sym typeface="+mn-ea"/>
            </a:endParaRPr>
          </a:p>
          <a:p>
            <a:pPr>
              <a:lnSpc>
                <a:spcPct val="130000"/>
              </a:lnSpc>
              <a:spcBef>
                <a:spcPts val="0"/>
              </a:spcBef>
              <a:spcAft>
                <a:spcPts val="0"/>
              </a:spcAft>
              <a:buFont typeface="Wingdings" panose="05000000000000000000" charset="0"/>
            </a:pPr>
            <a:r>
              <a:rPr b="1">
                <a:solidFill>
                  <a:schemeClr val="bg2"/>
                </a:solidFill>
                <a:sym typeface="+mn-ea"/>
              </a:rPr>
              <a:t>原因：递归实现子问题多次重复计算，子问题计算次数呈指数增长. 迭代实现每个子问题只计算一次. </a:t>
            </a:r>
            <a:endParaRPr b="1">
              <a:solidFill>
                <a:schemeClr val="bg2"/>
              </a:solidFill>
              <a:sym typeface="+mn-ea"/>
            </a:endParaRPr>
          </a:p>
          <a:p>
            <a:pPr>
              <a:lnSpc>
                <a:spcPct val="130000"/>
              </a:lnSpc>
              <a:spcBef>
                <a:spcPts val="0"/>
              </a:spcBef>
              <a:spcAft>
                <a:spcPts val="0"/>
              </a:spcAft>
              <a:buFont typeface="Wingdings" panose="05000000000000000000" charset="0"/>
            </a:pPr>
            <a:r>
              <a:rPr b="1">
                <a:solidFill>
                  <a:schemeClr val="bg2"/>
                </a:solidFill>
                <a:sym typeface="+mn-ea"/>
              </a:rPr>
              <a:t>动态规划时间复杂度：</a:t>
            </a:r>
            <a:endParaRPr b="1">
              <a:solidFill>
                <a:schemeClr val="bg2"/>
              </a:solidFill>
              <a:sym typeface="+mn-ea"/>
            </a:endParaRPr>
          </a:p>
          <a:p>
            <a:pPr>
              <a:lnSpc>
                <a:spcPct val="130000"/>
              </a:lnSpc>
              <a:spcBef>
                <a:spcPts val="0"/>
              </a:spcBef>
              <a:spcAft>
                <a:spcPts val="0"/>
              </a:spcAft>
              <a:buFont typeface="Wingdings" panose="05000000000000000000" charset="0"/>
            </a:pPr>
            <a:r>
              <a:rPr b="1">
                <a:solidFill>
                  <a:schemeClr val="bg2"/>
                </a:solidFill>
                <a:sym typeface="+mn-ea"/>
              </a:rPr>
              <a:t>备忘录各项计算量之和 + 追踪解工作量</a:t>
            </a:r>
            <a:r>
              <a:rPr lang="zh-CN" altLang="en-US" b="1">
                <a:solidFill>
                  <a:schemeClr val="bg2"/>
                </a:solidFill>
                <a:sym typeface="+mn-ea"/>
              </a:rPr>
              <a:t>。</a:t>
            </a:r>
            <a:r>
              <a:rPr b="1">
                <a:solidFill>
                  <a:schemeClr val="bg2"/>
                </a:solidFill>
                <a:sym typeface="+mn-ea"/>
              </a:rPr>
              <a:t>通常追踪工作量不超过计算工作量 ，是问题规模的多项式函数</a:t>
            </a:r>
            <a:r>
              <a:rPr lang="zh-CN" b="1">
                <a:solidFill>
                  <a:schemeClr val="bg2"/>
                </a:solidFill>
                <a:sym typeface="+mn-ea"/>
              </a:rPr>
              <a:t>。</a:t>
            </a:r>
            <a:endParaRPr lang="zh-CN" b="1">
              <a:solidFill>
                <a:schemeClr val="bg2"/>
              </a:solidFill>
              <a:sym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left)">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left)">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wipe(left)">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wipe(left)">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wipe(left)">
                                      <p:cBhvr>
                                        <p:cTn id="27"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6730" y="243205"/>
            <a:ext cx="7772400" cy="844550"/>
          </a:xfrm>
        </p:spPr>
        <p:txBody>
          <a:bodyPr/>
          <a:lstStyle/>
          <a:p>
            <a:r>
              <a:rPr kumimoji="0" lang="en-US" altLang="zh-CN" kern="1200" dirty="0" smtClean="0">
                <a:solidFill>
                  <a:schemeClr val="accent2"/>
                </a:solidFill>
                <a:sym typeface="+mn-ea"/>
              </a:rPr>
              <a:t>3.2 </a:t>
            </a:r>
            <a:r>
              <a:rPr kumimoji="0" lang="zh-CN" altLang="en-US" kern="1200" dirty="0" smtClean="0">
                <a:solidFill>
                  <a:schemeClr val="accent2"/>
                </a:solidFill>
                <a:sym typeface="+mn-ea"/>
              </a:rPr>
              <a:t>动态规划算法设计</a:t>
            </a:r>
            <a:r>
              <a:rPr kumimoji="0" lang="en-US" altLang="zh-CN" kern="1200" dirty="0" smtClean="0">
                <a:solidFill>
                  <a:schemeClr val="accent2"/>
                </a:solidFill>
                <a:sym typeface="+mn-ea"/>
              </a:rPr>
              <a:t> </a:t>
            </a:r>
            <a:endParaRPr kumimoji="0" lang="en-US" altLang="zh-CN" kern="1200" noProof="0" dirty="0" smtClean="0">
              <a:ln>
                <a:noFill/>
              </a:ln>
              <a:solidFill>
                <a:schemeClr val="accent2"/>
              </a:solidFill>
              <a:effectLst/>
              <a:uLnTx/>
              <a:uFillTx/>
              <a:sym typeface="+mn-ea"/>
            </a:endParaRPr>
          </a:p>
        </p:txBody>
      </p:sp>
      <p:sp>
        <p:nvSpPr>
          <p:cNvPr id="4" name="文本框 3"/>
          <p:cNvSpPr txBox="1"/>
          <p:nvPr/>
        </p:nvSpPr>
        <p:spPr>
          <a:xfrm>
            <a:off x="659765" y="1646555"/>
            <a:ext cx="7729855" cy="4407535"/>
          </a:xfrm>
          <a:prstGeom prst="rect">
            <a:avLst/>
          </a:prstGeom>
          <a:noFill/>
        </p:spPr>
        <p:txBody>
          <a:bodyPr wrap="square" rtlCol="0" anchor="t">
            <a:spAutoFit/>
          </a:bodyPr>
          <a:lstStyle/>
          <a:p>
            <a:pPr marL="342900" indent="-342900">
              <a:lnSpc>
                <a:spcPct val="130000"/>
              </a:lnSpc>
              <a:spcBef>
                <a:spcPts val="0"/>
              </a:spcBef>
              <a:spcAft>
                <a:spcPts val="0"/>
              </a:spcAft>
              <a:buFont typeface="Wingdings" panose="05000000000000000000" charset="0"/>
              <a:buChar char="Ø"/>
            </a:pPr>
            <a:r>
              <a:rPr lang="zh-CN" altLang="en-US" b="1">
                <a:solidFill>
                  <a:schemeClr val="bg2"/>
                </a:solidFill>
                <a:sym typeface="+mn-ea"/>
              </a:rPr>
              <a:t>动态规划算法的要素：</a:t>
            </a:r>
            <a:endParaRPr lang="zh-CN" altLang="en-US" b="1">
              <a:solidFill>
                <a:schemeClr val="bg2"/>
              </a:solidFill>
              <a:sym typeface="+mn-ea"/>
            </a:endParaRPr>
          </a:p>
          <a:p>
            <a:pPr marL="800100" lvl="1" indent="-342900">
              <a:lnSpc>
                <a:spcPct val="130000"/>
              </a:lnSpc>
              <a:spcBef>
                <a:spcPts val="0"/>
              </a:spcBef>
              <a:spcAft>
                <a:spcPts val="0"/>
              </a:spcAft>
              <a:buFont typeface="Arial" panose="020B0604020202020204" pitchFamily="34" charset="0"/>
              <a:buChar char="•"/>
            </a:pPr>
            <a:r>
              <a:rPr b="1">
                <a:solidFill>
                  <a:schemeClr val="bg2"/>
                </a:solidFill>
                <a:sym typeface="+mn-ea"/>
              </a:rPr>
              <a:t>划分子问题，确定子问题边界，将问题求解转 变成多步判断的过程. </a:t>
            </a:r>
            <a:endParaRPr b="1">
              <a:solidFill>
                <a:schemeClr val="bg2"/>
              </a:solidFill>
              <a:sym typeface="+mn-ea"/>
            </a:endParaRPr>
          </a:p>
          <a:p>
            <a:pPr marL="800100" lvl="1" indent="-342900">
              <a:lnSpc>
                <a:spcPct val="130000"/>
              </a:lnSpc>
              <a:spcBef>
                <a:spcPts val="0"/>
              </a:spcBef>
              <a:spcAft>
                <a:spcPts val="0"/>
              </a:spcAft>
              <a:buFont typeface="Arial" panose="020B0604020202020204" pitchFamily="34" charset="0"/>
              <a:buChar char="•"/>
            </a:pPr>
            <a:r>
              <a:rPr b="1">
                <a:solidFill>
                  <a:schemeClr val="bg2"/>
                </a:solidFill>
                <a:sym typeface="+mn-ea"/>
              </a:rPr>
              <a:t>定义优化函数,以该函数极大(或极小) 值作为依据,确定是否满足优化原则. </a:t>
            </a:r>
            <a:endParaRPr b="1">
              <a:solidFill>
                <a:schemeClr val="bg2"/>
              </a:solidFill>
              <a:sym typeface="+mn-ea"/>
            </a:endParaRPr>
          </a:p>
          <a:p>
            <a:pPr marL="800100" lvl="1" indent="-342900">
              <a:lnSpc>
                <a:spcPct val="130000"/>
              </a:lnSpc>
              <a:spcBef>
                <a:spcPts val="0"/>
              </a:spcBef>
              <a:spcAft>
                <a:spcPts val="0"/>
              </a:spcAft>
              <a:buFont typeface="Arial" panose="020B0604020202020204" pitchFamily="34" charset="0"/>
              <a:buChar char="•"/>
            </a:pPr>
            <a:r>
              <a:rPr b="1">
                <a:solidFill>
                  <a:schemeClr val="bg2"/>
                </a:solidFill>
                <a:sym typeface="+mn-ea"/>
              </a:rPr>
              <a:t>列优化函数的递推方程和边界条件</a:t>
            </a:r>
            <a:endParaRPr b="1">
              <a:solidFill>
                <a:schemeClr val="bg2"/>
              </a:solidFill>
              <a:sym typeface="+mn-ea"/>
            </a:endParaRPr>
          </a:p>
          <a:p>
            <a:pPr marL="800100" lvl="1" indent="-342900">
              <a:lnSpc>
                <a:spcPct val="130000"/>
              </a:lnSpc>
              <a:spcBef>
                <a:spcPts val="0"/>
              </a:spcBef>
              <a:spcAft>
                <a:spcPts val="0"/>
              </a:spcAft>
              <a:buFont typeface="Arial" panose="020B0604020202020204" pitchFamily="34" charset="0"/>
              <a:buChar char="•"/>
            </a:pPr>
            <a:r>
              <a:rPr b="1">
                <a:solidFill>
                  <a:schemeClr val="bg2"/>
                </a:solidFill>
                <a:sym typeface="+mn-ea"/>
              </a:rPr>
              <a:t>自底向上计算，设计备忘录 (表格)</a:t>
            </a:r>
            <a:r>
              <a:rPr lang="zh-CN" b="1">
                <a:solidFill>
                  <a:schemeClr val="bg2"/>
                </a:solidFill>
                <a:sym typeface="+mn-ea"/>
              </a:rPr>
              <a:t>，</a:t>
            </a:r>
            <a:r>
              <a:rPr b="1">
                <a:solidFill>
                  <a:schemeClr val="bg2"/>
                </a:solidFill>
                <a:sym typeface="+mn-ea"/>
              </a:rPr>
              <a:t> 考虑是否需要设立标记函数</a:t>
            </a:r>
            <a:r>
              <a:rPr lang="zh-CN" b="1">
                <a:solidFill>
                  <a:schemeClr val="bg2"/>
                </a:solidFill>
                <a:sym typeface="+mn-ea"/>
              </a:rPr>
              <a:t>（追踪解的数据结构）。</a:t>
            </a:r>
            <a:endParaRPr b="1">
              <a:solidFill>
                <a:schemeClr val="bg2"/>
              </a:solidFill>
              <a:sym typeface="+mn-ea"/>
            </a:endParaRPr>
          </a:p>
          <a:p>
            <a:pPr marL="800100" lvl="1" indent="-342900">
              <a:lnSpc>
                <a:spcPct val="130000"/>
              </a:lnSpc>
              <a:spcBef>
                <a:spcPts val="0"/>
              </a:spcBef>
              <a:spcAft>
                <a:spcPts val="0"/>
              </a:spcAft>
              <a:buFont typeface="Arial" panose="020B0604020202020204" pitchFamily="34" charset="0"/>
              <a:buChar char="•"/>
            </a:pPr>
            <a:r>
              <a:rPr b="1">
                <a:solidFill>
                  <a:schemeClr val="bg2"/>
                </a:solidFill>
                <a:sym typeface="+mn-ea"/>
              </a:rPr>
              <a:t>用递推方程或备忘录估计时间复杂度</a:t>
            </a:r>
            <a:endParaRPr b="1">
              <a:solidFill>
                <a:schemeClr val="bg2"/>
              </a:solidFill>
              <a:sym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left)">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left)">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wipe(left)">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wipe(left)">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wipe(left)">
                                      <p:cBhvr>
                                        <p:cTn id="27"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TABLE_BEAUTIFY" val="smartTable{8efa26cb-e844-4e2c-8b83-ee582fa43c12}"/>
</p:tagLst>
</file>

<file path=ppt/tags/tag2.xml><?xml version="1.0" encoding="utf-8"?>
<p:tagLst xmlns:p="http://schemas.openxmlformats.org/presentationml/2006/main">
  <p:tag name="KSO_WM_UNIT_TABLE_BEAUTIFY" val="smartTable{0d798b8b-ea69-4ea6-a733-1f29dfe53a87}"/>
</p:tagLst>
</file>

<file path=ppt/tags/tag3.xml><?xml version="1.0" encoding="utf-8"?>
<p:tagLst xmlns:p="http://schemas.openxmlformats.org/presentationml/2006/main">
  <p:tag name="DEFINEDINNAVIGATOR" val="True"/>
  <p:tag name="HOTSPOTTYPE" val="DefinedInNavigator"/>
  <p:tag name="BRANCHTO" val="257"/>
</p:tagLst>
</file>

<file path=ppt/theme/theme1.xml><?xml version="1.0" encoding="utf-8"?>
<a:theme xmlns:a="http://schemas.openxmlformats.org/drawingml/2006/main" name="1_个人主页 (标准)">
  <a:themeElements>
    <a:clrScheme name="个人主页 (标准) 4">
      <a:dk1>
        <a:srgbClr val="000000"/>
      </a:dk1>
      <a:lt1>
        <a:srgbClr val="FFFFFF"/>
      </a:lt1>
      <a:dk2>
        <a:srgbClr val="1E2E53"/>
      </a:dk2>
      <a:lt2>
        <a:srgbClr val="FFCC00"/>
      </a:lt2>
      <a:accent1>
        <a:srgbClr val="FF9933"/>
      </a:accent1>
      <a:accent2>
        <a:srgbClr val="336699"/>
      </a:accent2>
      <a:accent3>
        <a:srgbClr val="ABADB3"/>
      </a:accent3>
      <a:accent4>
        <a:srgbClr val="DADADA"/>
      </a:accent4>
      <a:accent5>
        <a:srgbClr val="FFCAAD"/>
      </a:accent5>
      <a:accent6>
        <a:srgbClr val="2D5C8A"/>
      </a:accent6>
      <a:hlink>
        <a:srgbClr val="0000FF"/>
      </a:hlink>
      <a:folHlink>
        <a:srgbClr val="A73737"/>
      </a:folHlink>
    </a:clrScheme>
    <a:fontScheme name="个人主页 (标准)">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个人主页 (标准) 1">
        <a:dk1>
          <a:srgbClr val="000000"/>
        </a:dk1>
        <a:lt1>
          <a:srgbClr val="FFFFFF"/>
        </a:lt1>
        <a:dk2>
          <a:srgbClr val="1E2E53"/>
        </a:dk2>
        <a:lt2>
          <a:srgbClr val="FFCC00"/>
        </a:lt2>
        <a:accent1>
          <a:srgbClr val="FF9933"/>
        </a:accent1>
        <a:accent2>
          <a:srgbClr val="336699"/>
        </a:accent2>
        <a:accent3>
          <a:srgbClr val="ABADB3"/>
        </a:accent3>
        <a:accent4>
          <a:srgbClr val="DADADA"/>
        </a:accent4>
        <a:accent5>
          <a:srgbClr val="FFCAAD"/>
        </a:accent5>
        <a:accent6>
          <a:srgbClr val="2D5C8A"/>
        </a:accent6>
        <a:hlink>
          <a:srgbClr val="EAEAEA"/>
        </a:hlink>
        <a:folHlink>
          <a:srgbClr val="A73737"/>
        </a:folHlink>
      </a:clrScheme>
      <a:clrMap bg1="dk2" tx1="lt1" bg2="dk1" tx2="lt2" accent1="accent1" accent2="accent2" accent3="accent3" accent4="accent4" accent5="accent5" accent6="accent6" hlink="hlink" folHlink="folHlink"/>
    </a:extraClrScheme>
    <a:extraClrScheme>
      <a:clrScheme name="个人主页 (标准) 2">
        <a:dk1>
          <a:srgbClr val="663300"/>
        </a:dk1>
        <a:lt1>
          <a:srgbClr val="FFFFFF"/>
        </a:lt1>
        <a:dk2>
          <a:srgbClr val="996633"/>
        </a:dk2>
        <a:lt2>
          <a:srgbClr val="868686"/>
        </a:lt2>
        <a:accent1>
          <a:srgbClr val="FF9900"/>
        </a:accent1>
        <a:accent2>
          <a:srgbClr val="CC6600"/>
        </a:accent2>
        <a:accent3>
          <a:srgbClr val="FFFFFF"/>
        </a:accent3>
        <a:accent4>
          <a:srgbClr val="562A00"/>
        </a:accent4>
        <a:accent5>
          <a:srgbClr val="FFCAAA"/>
        </a:accent5>
        <a:accent6>
          <a:srgbClr val="B95C00"/>
        </a:accent6>
        <a:hlink>
          <a:srgbClr val="FFCC00"/>
        </a:hlink>
        <a:folHlink>
          <a:srgbClr val="CCCCCC"/>
        </a:folHlink>
      </a:clrScheme>
      <a:clrMap bg1="lt1" tx1="dk1" bg2="lt2" tx2="dk2" accent1="accent1" accent2="accent2" accent3="accent3" accent4="accent4" accent5="accent5" accent6="accent6" hlink="hlink" folHlink="folHlink"/>
    </a:extraClrScheme>
    <a:extraClrScheme>
      <a:clrScheme name="个人主页 (标准)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
      <a:clrScheme name="个人主页 (标准) 4">
        <a:dk1>
          <a:srgbClr val="000000"/>
        </a:dk1>
        <a:lt1>
          <a:srgbClr val="FFFFFF"/>
        </a:lt1>
        <a:dk2>
          <a:srgbClr val="1E2E53"/>
        </a:dk2>
        <a:lt2>
          <a:srgbClr val="FFCC00"/>
        </a:lt2>
        <a:accent1>
          <a:srgbClr val="FF9933"/>
        </a:accent1>
        <a:accent2>
          <a:srgbClr val="336699"/>
        </a:accent2>
        <a:accent3>
          <a:srgbClr val="ABADB3"/>
        </a:accent3>
        <a:accent4>
          <a:srgbClr val="DADADA"/>
        </a:accent4>
        <a:accent5>
          <a:srgbClr val="FFCAAD"/>
        </a:accent5>
        <a:accent6>
          <a:srgbClr val="2D5C8A"/>
        </a:accent6>
        <a:hlink>
          <a:srgbClr val="0000FF"/>
        </a:hlink>
        <a:folHlink>
          <a:srgbClr val="A73737"/>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Office\Templates\演示文稿\个人主页 (标准).pot</Template>
  <TotalTime>0</TotalTime>
  <Words>3769</Words>
  <Application>WPS 演示</Application>
  <PresentationFormat>全屏显示(4:3)</PresentationFormat>
  <Paragraphs>486</Paragraphs>
  <Slides>36</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36</vt:i4>
      </vt:variant>
    </vt:vector>
  </HeadingPairs>
  <TitlesOfParts>
    <vt:vector size="48" baseType="lpstr">
      <vt:lpstr>Arial</vt:lpstr>
      <vt:lpstr>宋体</vt:lpstr>
      <vt:lpstr>Wingdings</vt:lpstr>
      <vt:lpstr>Times New Roman</vt:lpstr>
      <vt:lpstr>Wingdings</vt:lpstr>
      <vt:lpstr>Consolas</vt:lpstr>
      <vt:lpstr>楷体</vt:lpstr>
      <vt:lpstr>微软雅黑</vt:lpstr>
      <vt:lpstr>Arial Unicode MS</vt:lpstr>
      <vt:lpstr>Times New Roman</vt:lpstr>
      <vt:lpstr>黑体</vt:lpstr>
      <vt:lpstr>1_个人主页 (标准)</vt:lpstr>
      <vt:lpstr>3.1 动态规划的设计思想 </vt:lpstr>
      <vt:lpstr>3.1 动态规划的设计思想 </vt:lpstr>
      <vt:lpstr>3.1 动态规划的设计思想 </vt:lpstr>
      <vt:lpstr>3.1 动态规划的设计思想 </vt:lpstr>
      <vt:lpstr>3.1 动态规划的设计思想 </vt:lpstr>
      <vt:lpstr>3.1 动态规划的设计思想 </vt:lpstr>
      <vt:lpstr>3.1 动态规划的设计思想 </vt:lpstr>
      <vt:lpstr>PowerPoint 演示文稿</vt:lpstr>
      <vt:lpstr>PowerPoint 演示文稿</vt:lpstr>
      <vt:lpstr>PowerPoint 演示文稿</vt:lpstr>
      <vt:lpstr>3.1 动态规划的设计思想 </vt:lpstr>
      <vt:lpstr>3.2 动态规划算法设计 </vt:lpstr>
      <vt:lpstr>3.2 动态规划算法设计 </vt:lpstr>
      <vt:lpstr>3.2 动态规划算法设计 </vt:lpstr>
      <vt:lpstr>3.2 动态规划算法设计 </vt:lpstr>
      <vt:lpstr>3.2 动态规划算法设计 </vt:lpstr>
      <vt:lpstr>3.2 动态规划算法设计 </vt:lpstr>
      <vt:lpstr>3.2 动态规划算法设计 </vt:lpstr>
      <vt:lpstr>3.2 动态规划算法设计 </vt:lpstr>
      <vt:lpstr>3.2 动态规划算法设计 </vt:lpstr>
      <vt:lpstr>3.2 动态规划算法设计 </vt:lpstr>
      <vt:lpstr>3.2 动态规划算法设计 </vt:lpstr>
      <vt:lpstr>3.2 动态规划算法设计 </vt:lpstr>
      <vt:lpstr>3.2 动态规划算法设计 </vt:lpstr>
      <vt:lpstr>3.2 动态规划算法设计 </vt:lpstr>
      <vt:lpstr>3.2 动态规划算法设计 </vt:lpstr>
      <vt:lpstr>3.2 动态规划算法设计 </vt:lpstr>
      <vt:lpstr>3.2 动态规划算法设计 </vt:lpstr>
      <vt:lpstr>3.2 动态规划算法设计 </vt:lpstr>
      <vt:lpstr>3.2 动态规划算法设计 </vt:lpstr>
      <vt:lpstr>3.2 动态规划算法设计 </vt:lpstr>
      <vt:lpstr>3.2 动态规划算法设计 </vt:lpstr>
      <vt:lpstr>3.2 动态规划算法设计 </vt:lpstr>
      <vt:lpstr>3.2 动态规划算法设计 </vt:lpstr>
      <vt:lpstr>3.2 动态规划算法设计 </vt:lpstr>
      <vt:lpstr>3.2 动态规划算法设计 </vt:lpstr>
    </vt:vector>
  </TitlesOfParts>
  <Company>NEU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数据库系统原理</dc:title>
  <dc:creator>songby</dc:creator>
  <cp:lastModifiedBy>红艳</cp:lastModifiedBy>
  <cp:revision>1116</cp:revision>
  <cp:lastPrinted>1995-12-08T18:33:00Z</cp:lastPrinted>
  <dcterms:created xsi:type="dcterms:W3CDTF">2000-10-31T09:27:00Z</dcterms:created>
  <dcterms:modified xsi:type="dcterms:W3CDTF">2022-04-11T13:45:38Z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D97091215E3244AD96003C13B13EF2B1</vt:lpwstr>
  </property>
</Properties>
</file>