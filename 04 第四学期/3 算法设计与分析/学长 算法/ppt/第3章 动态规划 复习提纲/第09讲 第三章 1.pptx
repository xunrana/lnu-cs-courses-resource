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2"/>
  </p:notesMasterIdLst>
  <p:handoutMasterIdLst>
    <p:handoutMasterId r:id="rId43"/>
  </p:handoutMasterIdLst>
  <p:sldIdLst>
    <p:sldId id="256" r:id="rId3"/>
    <p:sldId id="259" r:id="rId4"/>
    <p:sldId id="260" r:id="rId5"/>
    <p:sldId id="261" r:id="rId6"/>
    <p:sldId id="258" r:id="rId7"/>
    <p:sldId id="257" r:id="rId8"/>
    <p:sldId id="262" r:id="rId9"/>
    <p:sldId id="263" r:id="rId10"/>
    <p:sldId id="264" r:id="rId11"/>
    <p:sldId id="265" r:id="rId12"/>
    <p:sldId id="268" r:id="rId13"/>
    <p:sldId id="269" r:id="rId14"/>
    <p:sldId id="271" r:id="rId15"/>
    <p:sldId id="274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5" r:id="rId37"/>
    <p:sldId id="296" r:id="rId38"/>
    <p:sldId id="297" r:id="rId39"/>
    <p:sldId id="298" r:id="rId40"/>
    <p:sldId id="299" r:id="rId41"/>
  </p:sldIdLst>
  <p:sldSz cx="9144000" cy="6858000" type="screen4x3"/>
  <p:notesSz cx="6934200" cy="9398000"/>
  <p:custDataLst>
    <p:tags r:id="rId47"/>
  </p:custDataLst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CCFF"/>
    <a:srgbClr val="CC0099"/>
    <a:srgbClr val="CCCCFF"/>
    <a:srgbClr val="CC99FF"/>
    <a:srgbClr val="CCECFF"/>
    <a:srgbClr val="DFC0FF"/>
    <a:srgbClr val="90DB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3"/>
    <p:restoredTop sz="94608"/>
  </p:normalViewPr>
  <p:slideViewPr>
    <p:cSldViewPr showGuides="1">
      <p:cViewPr varScale="1">
        <p:scale>
          <a:sx n="62" d="100"/>
          <a:sy n="62" d="100"/>
        </p:scale>
        <p:origin x="-1512" y="-84"/>
      </p:cViewPr>
      <p:guideLst>
        <p:guide orient="horz" pos="2144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7" Type="http://schemas.openxmlformats.org/officeDocument/2006/relationships/tags" Target="tags/tag22.xml"/><Relationship Id="rId46" Type="http://schemas.openxmlformats.org/officeDocument/2006/relationships/tableStyles" Target="tableStyles.xml"/><Relationship Id="rId45" Type="http://schemas.openxmlformats.org/officeDocument/2006/relationships/viewProps" Target="viewProps.xml"/><Relationship Id="rId44" Type="http://schemas.openxmlformats.org/officeDocument/2006/relationships/presProps" Target="presProps.xml"/><Relationship Id="rId43" Type="http://schemas.openxmlformats.org/officeDocument/2006/relationships/handoutMaster" Target="handoutMasters/handoutMaster1.xml"/><Relationship Id="rId42" Type="http://schemas.openxmlformats.org/officeDocument/2006/relationships/notesMaster" Target="notesMasters/notesMaster1.xml"/><Relationship Id="rId41" Type="http://schemas.openxmlformats.org/officeDocument/2006/relationships/slide" Target="slides/slide39.xml"/><Relationship Id="rId40" Type="http://schemas.openxmlformats.org/officeDocument/2006/relationships/slide" Target="slides/slide38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6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3317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1987" name="Rectangle 3"/>
          <p:cNvSpPr>
            <a:spLocks noGrp="1" noRot="1" noChangeAspect="1"/>
          </p:cNvSpPr>
          <p:nvPr>
            <p:ph type="sldImg" idx="2"/>
          </p:nvPr>
        </p:nvSpPr>
        <p:spPr>
          <a:xfrm>
            <a:off x="1079500" y="685800"/>
            <a:ext cx="4775200" cy="35814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052" name="Rectangle 4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495800"/>
            <a:ext cx="5105400" cy="41910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单击此处编辑母版文本样式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第二级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914400" marR="0" lvl="2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第三级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371600" marR="0" lvl="3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第四级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  <a:p>
            <a:pPr marL="1828800" marR="0" lvl="4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第五级</a:t>
            </a:r>
            <a:endParaRPr kumimoji="1" lang="zh-CN" alt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3" name="Rectangle 5"/>
          <p:cNvSpPr>
            <a:spLocks noGrp="1" noChangeArrowheads="1"/>
          </p:cNvSpPr>
          <p:nvPr>
            <p:ph type="dt" idx="1"/>
          </p:nvPr>
        </p:nvSpPr>
        <p:spPr bwMode="auto">
          <a:xfrm>
            <a:off x="396240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kumimoji="0" sz="12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12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2400" y="891540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/>
          <a:p>
            <a:pPr lvl="0" algn="r" eaLnBrk="1" hangingPunct="1">
              <a:buNone/>
            </a:pPr>
            <a:fld id="{9A0DB2DC-4C9A-4742-B13C-FB6460FD3503}" type="slidenum">
              <a:rPr lang="zh-CN" altLang="en-US" sz="1200" dirty="0"/>
            </a:fld>
            <a:endParaRPr lang="zh-CN" altLang="en-US" sz="12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AutoShape 23"/>
          <p:cNvSpPr>
            <a:spLocks noChangeArrowheads="1"/>
          </p:cNvSpPr>
          <p:nvPr/>
        </p:nvSpPr>
        <p:spPr bwMode="auto">
          <a:xfrm rot="20940000">
            <a:off x="1828800" y="304800"/>
            <a:ext cx="457200" cy="4572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0" name="AutoShape 24"/>
          <p:cNvSpPr>
            <a:spLocks noChangeArrowheads="1"/>
          </p:cNvSpPr>
          <p:nvPr/>
        </p:nvSpPr>
        <p:spPr bwMode="auto">
          <a:xfrm>
            <a:off x="2609850" y="171450"/>
            <a:ext cx="419100" cy="419100"/>
          </a:xfrm>
          <a:prstGeom prst="star5">
            <a:avLst/>
          </a:prstGeom>
          <a:gradFill rotWithShape="0">
            <a:gsLst>
              <a:gs pos="0">
                <a:schemeClr val="bg1">
                  <a:gamma/>
                  <a:shade val="46275"/>
                  <a:invGamma/>
                </a:schemeClr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1" name="AutoShape 25"/>
          <p:cNvSpPr>
            <a:spLocks noChangeArrowheads="1"/>
          </p:cNvSpPr>
          <p:nvPr/>
        </p:nvSpPr>
        <p:spPr bwMode="auto">
          <a:xfrm rot="20940000">
            <a:off x="1752600" y="228600"/>
            <a:ext cx="457200" cy="4572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22" name="AutoShape 26"/>
          <p:cNvSpPr>
            <a:spLocks noChangeArrowheads="1"/>
          </p:cNvSpPr>
          <p:nvPr/>
        </p:nvSpPr>
        <p:spPr bwMode="auto">
          <a:xfrm>
            <a:off x="2533650" y="19050"/>
            <a:ext cx="419100" cy="41910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2054" name="Group 27"/>
          <p:cNvGrpSpPr/>
          <p:nvPr/>
        </p:nvGrpSpPr>
        <p:grpSpPr>
          <a:xfrm>
            <a:off x="6934200" y="5181600"/>
            <a:ext cx="2033588" cy="1219200"/>
            <a:chOff x="4368" y="3264"/>
            <a:chExt cx="1281" cy="768"/>
          </a:xfrm>
        </p:grpSpPr>
        <p:sp>
          <p:nvSpPr>
            <p:cNvPr id="24" name="AutoShape 28"/>
            <p:cNvSpPr>
              <a:spLocks noChangeArrowheads="1"/>
            </p:cNvSpPr>
            <p:nvPr/>
          </p:nvSpPr>
          <p:spPr bwMode="auto">
            <a:xfrm rot="20940000">
              <a:off x="4368" y="3681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5" name="AutoShape 29"/>
            <p:cNvSpPr>
              <a:spLocks noChangeArrowheads="1"/>
            </p:cNvSpPr>
            <p:nvPr/>
          </p:nvSpPr>
          <p:spPr bwMode="auto">
            <a:xfrm>
              <a:off x="4845" y="3324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6" name="AutoShape 30"/>
            <p:cNvSpPr>
              <a:spLocks noChangeArrowheads="1"/>
            </p:cNvSpPr>
            <p:nvPr/>
          </p:nvSpPr>
          <p:spPr bwMode="auto">
            <a:xfrm rot="1320000">
              <a:off x="5217" y="3264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7" name="AutoShape 31"/>
            <p:cNvSpPr>
              <a:spLocks noChangeArrowheads="1"/>
            </p:cNvSpPr>
            <p:nvPr/>
          </p:nvSpPr>
          <p:spPr bwMode="auto">
            <a:xfrm rot="20940000">
              <a:off x="4449" y="3744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8" name="AutoShape 32"/>
            <p:cNvSpPr>
              <a:spLocks noChangeArrowheads="1"/>
            </p:cNvSpPr>
            <p:nvPr/>
          </p:nvSpPr>
          <p:spPr bwMode="auto">
            <a:xfrm>
              <a:off x="4893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9" name="AutoShape 33"/>
            <p:cNvSpPr>
              <a:spLocks noChangeArrowheads="1"/>
            </p:cNvSpPr>
            <p:nvPr/>
          </p:nvSpPr>
          <p:spPr bwMode="auto">
            <a:xfrm rot="1320000">
              <a:off x="5265" y="3360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0" name="AutoShape 34"/>
          <p:cNvSpPr>
            <a:spLocks noChangeArrowheads="1"/>
          </p:cNvSpPr>
          <p:nvPr/>
        </p:nvSpPr>
        <p:spPr bwMode="auto">
          <a:xfrm rot="1320000">
            <a:off x="168275" y="244475"/>
            <a:ext cx="882650" cy="882650"/>
          </a:xfrm>
          <a:prstGeom prst="star5">
            <a:avLst/>
          </a:pr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shape">
              <a:fillToRect l="50000" t="50000" r="50000" b="50000"/>
            </a:path>
          </a:gradFill>
          <a:ln>
            <a:noFill/>
          </a:ln>
          <a:effectLst/>
        </p:spPr>
        <p:txBody>
          <a:bodyPr wrap="none" lIns="92075" tIns="46038" rIns="92075" bIns="46038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087" name="Rectangle 15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371600" y="2667000"/>
            <a:ext cx="6400800" cy="3276600"/>
          </a:xfrm>
        </p:spPr>
        <p:txBody>
          <a:bodyPr anchor="ctr"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  <a:endParaRPr lang="zh-CN" altLang="en-US" noProof="0" smtClean="0"/>
          </a:p>
        </p:txBody>
      </p:sp>
      <p:sp>
        <p:nvSpPr>
          <p:cNvPr id="3091" name="Rectangle 19"/>
          <p:cNvSpPr>
            <a:spLocks noGrp="1" noChangeArrowheads="1"/>
          </p:cNvSpPr>
          <p:nvPr>
            <p:ph type="ctrTitle" sz="quarter"/>
          </p:nvPr>
        </p:nvSpPr>
        <p:spPr>
          <a:xfrm>
            <a:off x="685800" y="914400"/>
            <a:ext cx="7772400" cy="1143000"/>
          </a:xfrm>
        </p:spPr>
        <p:txBody>
          <a:bodyPr/>
          <a:lstStyle>
            <a:lvl1pPr algn="ctr"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en-US" noProof="0" smtClean="0"/>
          </a:p>
        </p:txBody>
      </p:sp>
      <p:sp>
        <p:nvSpPr>
          <p:cNvPr id="31" name="Rectangle 16"/>
          <p:cNvSpPr>
            <a:spLocks noGrp="1" noChangeArrowheads="1"/>
          </p:cNvSpPr>
          <p:nvPr>
            <p:ph type="dt" sz="quarter" idx="2"/>
          </p:nvPr>
        </p:nvSpPr>
        <p:spPr bwMode="auto">
          <a:xfrm>
            <a:off x="76200" y="6323013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2" name="Rectangle 1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324600"/>
            <a:ext cx="28956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>
            <a:lvl1pPr>
              <a:defRPr/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3" name="Rectangle 18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</p:spPr>
        <p:txBody>
          <a:bodyPr vert="horz" wrap="none" lIns="92075" tIns="46038" rIns="92075" bIns="46038" numCol="1" anchor="ctr" anchorCtr="0" compatLnSpc="1"/>
          <a:lstStyle/>
          <a:p>
            <a:pPr algn="r" eaLnBrk="1" hangingPunct="1">
              <a:buNone/>
            </a:pPr>
            <a:fld id="{9A0DB2DC-4C9A-4742-B13C-FB6460FD3503}" type="slidenum">
              <a:rPr lang="zh-CN" altLang="en-US" dirty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050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20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20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vert="horz" wrap="square" lIns="92075" tIns="46038" rIns="92075" bIns="46038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0000"/>
              <a:buFont typeface="Wingdings" panose="05000000000000000000" pitchFamily="2" charset="2"/>
              <a:buNone/>
              <a:defRPr/>
            </a:pPr>
            <a:endParaRPr kumimoji="1" lang="zh-CN" altLang="en-US" sz="3200" b="1" i="0" u="none" strike="noStrike" kern="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228600"/>
            <a:ext cx="1943100" cy="5791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228600"/>
            <a:ext cx="5676900" cy="5791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85800" y="228600"/>
            <a:ext cx="7772400" cy="579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9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7772400" cy="41148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034" name="Rectangle 10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2098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5" name="Rectangle 11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91000" y="6400800"/>
            <a:ext cx="28956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ctr" eaLnBrk="1" hangingPunct="1">
              <a:defRPr sz="1400">
                <a:ea typeface="宋体" panose="02010600030101010101" pitchFamily="2" charset="-122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en-US" altLang="zh-CN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36" name="Rectangle 12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162800" y="6324600"/>
            <a:ext cx="19050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none" lIns="92075" tIns="46038" rIns="92075" bIns="46038" numCol="1" anchor="ctr" anchorCtr="0" compatLnSpc="1"/>
          <a:lstStyle>
            <a:lvl1pPr algn="r">
              <a:defRPr sz="1400"/>
            </a:lvl1pPr>
          </a:lstStyle>
          <a:p>
            <a:pPr lvl="0" eaLnBrk="1" hangingPunct="1">
              <a:buNone/>
            </a:pPr>
            <a:fld id="{9A0DB2DC-4C9A-4742-B13C-FB6460FD3503}" type="slidenum">
              <a:rPr lang="zh-CN" altLang="en-US" dirty="0">
                <a:latin typeface="Times New Roman" panose="02020603050405020304" pitchFamily="18" charset="0"/>
              </a:rPr>
            </a:fld>
            <a:endParaRPr lang="zh-CN" altLang="en-US" dirty="0">
              <a:latin typeface="Times New Roman" panose="02020603050405020304" pitchFamily="18" charset="0"/>
            </a:endParaRPr>
          </a:p>
        </p:txBody>
      </p:sp>
      <p:sp>
        <p:nvSpPr>
          <p:cNvPr id="1030" name="Rectangle 16"/>
          <p:cNvSpPr>
            <a:spLocks noGrp="1"/>
          </p:cNvSpPr>
          <p:nvPr>
            <p:ph type="title"/>
          </p:nvPr>
        </p:nvSpPr>
        <p:spPr>
          <a:xfrm>
            <a:off x="685800" y="228600"/>
            <a:ext cx="7772400" cy="1143000"/>
          </a:xfrm>
          <a:prstGeom prst="rect">
            <a:avLst/>
          </a:prstGeom>
          <a:noFill/>
          <a:ln w="9525">
            <a:noFill/>
          </a:ln>
        </p:spPr>
        <p:txBody>
          <a:bodyPr lIns="92075" tIns="46038" rIns="92075" bIns="46038" anchor="b"/>
          <a:lstStyle/>
          <a:p>
            <a:pPr lvl="0"/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grpSp>
        <p:nvGrpSpPr>
          <p:cNvPr id="1031" name="Group 20"/>
          <p:cNvGrpSpPr/>
          <p:nvPr/>
        </p:nvGrpSpPr>
        <p:grpSpPr>
          <a:xfrm>
            <a:off x="6934200" y="5257800"/>
            <a:ext cx="2033588" cy="1219200"/>
            <a:chOff x="4368" y="3312"/>
            <a:chExt cx="1281" cy="768"/>
          </a:xfrm>
        </p:grpSpPr>
        <p:sp>
          <p:nvSpPr>
            <p:cNvPr id="1045" name="AutoShape 21"/>
            <p:cNvSpPr>
              <a:spLocks noChangeArrowheads="1"/>
            </p:cNvSpPr>
            <p:nvPr/>
          </p:nvSpPr>
          <p:spPr bwMode="auto">
            <a:xfrm rot="20940000">
              <a:off x="4368" y="3729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6" name="AutoShape 22"/>
            <p:cNvSpPr>
              <a:spLocks noChangeArrowheads="1"/>
            </p:cNvSpPr>
            <p:nvPr/>
          </p:nvSpPr>
          <p:spPr bwMode="auto">
            <a:xfrm>
              <a:off x="4845" y="3372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7" name="AutoShape 23"/>
            <p:cNvSpPr>
              <a:spLocks noChangeArrowheads="1"/>
            </p:cNvSpPr>
            <p:nvPr/>
          </p:nvSpPr>
          <p:spPr bwMode="auto">
            <a:xfrm rot="1320000">
              <a:off x="5217" y="3312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8" name="AutoShape 24"/>
            <p:cNvSpPr>
              <a:spLocks noChangeArrowheads="1"/>
            </p:cNvSpPr>
            <p:nvPr/>
          </p:nvSpPr>
          <p:spPr bwMode="auto">
            <a:xfrm rot="20940000">
              <a:off x="4449" y="3792"/>
              <a:ext cx="288" cy="288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49" name="AutoShape 25"/>
            <p:cNvSpPr>
              <a:spLocks noChangeArrowheads="1"/>
            </p:cNvSpPr>
            <p:nvPr/>
          </p:nvSpPr>
          <p:spPr bwMode="auto">
            <a:xfrm>
              <a:off x="4893" y="3420"/>
              <a:ext cx="264" cy="26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0" name="AutoShape 26"/>
            <p:cNvSpPr>
              <a:spLocks noChangeArrowheads="1"/>
            </p:cNvSpPr>
            <p:nvPr/>
          </p:nvSpPr>
          <p:spPr bwMode="auto">
            <a:xfrm rot="1320000">
              <a:off x="5265" y="3408"/>
              <a:ext cx="384" cy="384"/>
            </a:xfrm>
            <a:prstGeom prst="star5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 wrap="none" lIns="92075" tIns="46038" rIns="92075" bIns="46038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5000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032" name="Group 27"/>
          <p:cNvGrpSpPr/>
          <p:nvPr/>
        </p:nvGrpSpPr>
        <p:grpSpPr>
          <a:xfrm>
            <a:off x="381000" y="1219200"/>
            <a:ext cx="8305800" cy="381000"/>
            <a:chOff x="240" y="768"/>
            <a:chExt cx="5232" cy="240"/>
          </a:xfrm>
        </p:grpSpPr>
        <p:sp>
          <p:nvSpPr>
            <p:cNvPr id="1052" name="Rectangle 28"/>
            <p:cNvSpPr>
              <a:spLocks noChangeArrowheads="1"/>
            </p:cNvSpPr>
            <p:nvPr/>
          </p:nvSpPr>
          <p:spPr bwMode="auto">
            <a:xfrm>
              <a:off x="384" y="912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hlink"/>
                </a:gs>
                <a:gs pos="100000">
                  <a:schemeClr val="hlink">
                    <a:gamma/>
                    <a:shade val="46275"/>
                    <a:invGamma/>
                  </a:schemeClr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053" name="Rectangle 29"/>
            <p:cNvSpPr>
              <a:spLocks noChangeArrowheads="1"/>
            </p:cNvSpPr>
            <p:nvPr/>
          </p:nvSpPr>
          <p:spPr bwMode="auto">
            <a:xfrm>
              <a:off x="240" y="768"/>
              <a:ext cx="5088" cy="96"/>
            </a:xfrm>
            <a:prstGeom prst="rect">
              <a:avLst/>
            </a:prstGeom>
            <a:gradFill rotWithShape="0">
              <a:gsLst>
                <a:gs pos="0">
                  <a:schemeClr val="bg1">
                    <a:gamma/>
                    <a:shade val="46275"/>
                    <a:invGamma/>
                  </a:schemeClr>
                </a:gs>
                <a:gs pos="100000">
                  <a:schemeClr val="bg1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ffectLst/>
          </p:spPr>
          <p:txBody>
            <a:bodyPr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1" lang="zh-CN" altLang="en-US" sz="2400" b="0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54" name="Freeform 30">
            <a:hlinkClick r:id="" action="ppaction://hlinkshowjump?jump=previousslide"/>
          </p:cNvPr>
          <p:cNvSpPr/>
          <p:nvPr/>
        </p:nvSpPr>
        <p:spPr bwMode="auto">
          <a:xfrm>
            <a:off x="781050" y="6416675"/>
            <a:ext cx="557213" cy="347663"/>
          </a:xfrm>
          <a:custGeom>
            <a:avLst/>
            <a:gdLst>
              <a:gd name="T0" fmla="*/ 350 w 351"/>
              <a:gd name="T1" fmla="*/ 1 h 219"/>
              <a:gd name="T2" fmla="*/ 101 w 351"/>
              <a:gd name="T3" fmla="*/ 0 h 219"/>
              <a:gd name="T4" fmla="*/ 81 w 351"/>
              <a:gd name="T5" fmla="*/ 2 h 219"/>
              <a:gd name="T6" fmla="*/ 67 w 351"/>
              <a:gd name="T7" fmla="*/ 6 h 219"/>
              <a:gd name="T8" fmla="*/ 51 w 351"/>
              <a:gd name="T9" fmla="*/ 15 h 219"/>
              <a:gd name="T10" fmla="*/ 38 w 351"/>
              <a:gd name="T11" fmla="*/ 25 h 219"/>
              <a:gd name="T12" fmla="*/ 28 w 351"/>
              <a:gd name="T13" fmla="*/ 35 h 219"/>
              <a:gd name="T14" fmla="*/ 19 w 351"/>
              <a:gd name="T15" fmla="*/ 48 h 219"/>
              <a:gd name="T16" fmla="*/ 12 w 351"/>
              <a:gd name="T17" fmla="*/ 59 h 219"/>
              <a:gd name="T18" fmla="*/ 6 w 351"/>
              <a:gd name="T19" fmla="*/ 73 h 219"/>
              <a:gd name="T20" fmla="*/ 1 w 351"/>
              <a:gd name="T21" fmla="*/ 89 h 219"/>
              <a:gd name="T22" fmla="*/ 1 w 351"/>
              <a:gd name="T23" fmla="*/ 99 h 219"/>
              <a:gd name="T24" fmla="*/ 0 w 351"/>
              <a:gd name="T25" fmla="*/ 119 h 219"/>
              <a:gd name="T26" fmla="*/ 2 w 351"/>
              <a:gd name="T27" fmla="*/ 136 h 219"/>
              <a:gd name="T28" fmla="*/ 9 w 351"/>
              <a:gd name="T29" fmla="*/ 150 h 219"/>
              <a:gd name="T30" fmla="*/ 15 w 351"/>
              <a:gd name="T31" fmla="*/ 164 h 219"/>
              <a:gd name="T32" fmla="*/ 24 w 351"/>
              <a:gd name="T33" fmla="*/ 176 h 219"/>
              <a:gd name="T34" fmla="*/ 33 w 351"/>
              <a:gd name="T35" fmla="*/ 189 h 219"/>
              <a:gd name="T36" fmla="*/ 46 w 351"/>
              <a:gd name="T37" fmla="*/ 198 h 219"/>
              <a:gd name="T38" fmla="*/ 59 w 351"/>
              <a:gd name="T39" fmla="*/ 207 h 219"/>
              <a:gd name="T40" fmla="*/ 72 w 351"/>
              <a:gd name="T41" fmla="*/ 212 h 219"/>
              <a:gd name="T42" fmla="*/ 90 w 351"/>
              <a:gd name="T43" fmla="*/ 218 h 219"/>
              <a:gd name="T44" fmla="*/ 350 w 351"/>
              <a:gd name="T45" fmla="*/ 218 h 219"/>
              <a:gd name="T46" fmla="*/ 35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350" y="1"/>
                </a:moveTo>
                <a:lnTo>
                  <a:pt x="101" y="0"/>
                </a:lnTo>
                <a:lnTo>
                  <a:pt x="81" y="2"/>
                </a:lnTo>
                <a:lnTo>
                  <a:pt x="67" y="6"/>
                </a:lnTo>
                <a:lnTo>
                  <a:pt x="51" y="15"/>
                </a:lnTo>
                <a:lnTo>
                  <a:pt x="38" y="25"/>
                </a:lnTo>
                <a:lnTo>
                  <a:pt x="28" y="35"/>
                </a:lnTo>
                <a:lnTo>
                  <a:pt x="19" y="48"/>
                </a:lnTo>
                <a:lnTo>
                  <a:pt x="12" y="59"/>
                </a:lnTo>
                <a:lnTo>
                  <a:pt x="6" y="73"/>
                </a:lnTo>
                <a:lnTo>
                  <a:pt x="1" y="89"/>
                </a:lnTo>
                <a:lnTo>
                  <a:pt x="1" y="99"/>
                </a:lnTo>
                <a:lnTo>
                  <a:pt x="0" y="119"/>
                </a:lnTo>
                <a:lnTo>
                  <a:pt x="2" y="136"/>
                </a:lnTo>
                <a:lnTo>
                  <a:pt x="9" y="150"/>
                </a:lnTo>
                <a:lnTo>
                  <a:pt x="15" y="164"/>
                </a:lnTo>
                <a:lnTo>
                  <a:pt x="24" y="176"/>
                </a:lnTo>
                <a:lnTo>
                  <a:pt x="33" y="189"/>
                </a:lnTo>
                <a:lnTo>
                  <a:pt x="46" y="198"/>
                </a:lnTo>
                <a:lnTo>
                  <a:pt x="59" y="207"/>
                </a:lnTo>
                <a:lnTo>
                  <a:pt x="72" y="212"/>
                </a:lnTo>
                <a:lnTo>
                  <a:pt x="90" y="218"/>
                </a:lnTo>
                <a:lnTo>
                  <a:pt x="350" y="218"/>
                </a:lnTo>
                <a:lnTo>
                  <a:pt x="35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55" name="Freeform 31">
            <a:hlinkClick r:id="" action="ppaction://hlinkshowjump?jump=nextslide"/>
          </p:cNvPr>
          <p:cNvSpPr/>
          <p:nvPr/>
        </p:nvSpPr>
        <p:spPr bwMode="auto">
          <a:xfrm>
            <a:off x="1447800" y="6416675"/>
            <a:ext cx="557213" cy="347663"/>
          </a:xfrm>
          <a:custGeom>
            <a:avLst/>
            <a:gdLst>
              <a:gd name="T0" fmla="*/ 0 w 351"/>
              <a:gd name="T1" fmla="*/ 1 h 219"/>
              <a:gd name="T2" fmla="*/ 249 w 351"/>
              <a:gd name="T3" fmla="*/ 0 h 219"/>
              <a:gd name="T4" fmla="*/ 268 w 351"/>
              <a:gd name="T5" fmla="*/ 3 h 219"/>
              <a:gd name="T6" fmla="*/ 283 w 351"/>
              <a:gd name="T7" fmla="*/ 6 h 219"/>
              <a:gd name="T8" fmla="*/ 298 w 351"/>
              <a:gd name="T9" fmla="*/ 16 h 219"/>
              <a:gd name="T10" fmla="*/ 311 w 351"/>
              <a:gd name="T11" fmla="*/ 26 h 219"/>
              <a:gd name="T12" fmla="*/ 321 w 351"/>
              <a:gd name="T13" fmla="*/ 35 h 219"/>
              <a:gd name="T14" fmla="*/ 331 w 351"/>
              <a:gd name="T15" fmla="*/ 48 h 219"/>
              <a:gd name="T16" fmla="*/ 337 w 351"/>
              <a:gd name="T17" fmla="*/ 60 h 219"/>
              <a:gd name="T18" fmla="*/ 344 w 351"/>
              <a:gd name="T19" fmla="*/ 74 h 219"/>
              <a:gd name="T20" fmla="*/ 349 w 351"/>
              <a:gd name="T21" fmla="*/ 90 h 219"/>
              <a:gd name="T22" fmla="*/ 349 w 351"/>
              <a:gd name="T23" fmla="*/ 100 h 219"/>
              <a:gd name="T24" fmla="*/ 350 w 351"/>
              <a:gd name="T25" fmla="*/ 119 h 219"/>
              <a:gd name="T26" fmla="*/ 347 w 351"/>
              <a:gd name="T27" fmla="*/ 136 h 219"/>
              <a:gd name="T28" fmla="*/ 341 w 351"/>
              <a:gd name="T29" fmla="*/ 151 h 219"/>
              <a:gd name="T30" fmla="*/ 334 w 351"/>
              <a:gd name="T31" fmla="*/ 165 h 219"/>
              <a:gd name="T32" fmla="*/ 325 w 351"/>
              <a:gd name="T33" fmla="*/ 176 h 219"/>
              <a:gd name="T34" fmla="*/ 316 w 351"/>
              <a:gd name="T35" fmla="*/ 189 h 219"/>
              <a:gd name="T36" fmla="*/ 303 w 351"/>
              <a:gd name="T37" fmla="*/ 199 h 219"/>
              <a:gd name="T38" fmla="*/ 290 w 351"/>
              <a:gd name="T39" fmla="*/ 208 h 219"/>
              <a:gd name="T40" fmla="*/ 277 w 351"/>
              <a:gd name="T41" fmla="*/ 213 h 219"/>
              <a:gd name="T42" fmla="*/ 259 w 351"/>
              <a:gd name="T43" fmla="*/ 218 h 219"/>
              <a:gd name="T44" fmla="*/ 0 w 351"/>
              <a:gd name="T45" fmla="*/ 218 h 219"/>
              <a:gd name="T46" fmla="*/ 0 w 351"/>
              <a:gd name="T47" fmla="*/ 1 h 219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</a:cxnLst>
            <a:rect l="0" t="0" r="r" b="b"/>
            <a:pathLst>
              <a:path w="351" h="219">
                <a:moveTo>
                  <a:pt x="0" y="1"/>
                </a:moveTo>
                <a:lnTo>
                  <a:pt x="249" y="0"/>
                </a:lnTo>
                <a:lnTo>
                  <a:pt x="268" y="3"/>
                </a:lnTo>
                <a:lnTo>
                  <a:pt x="283" y="6"/>
                </a:lnTo>
                <a:lnTo>
                  <a:pt x="298" y="16"/>
                </a:lnTo>
                <a:lnTo>
                  <a:pt x="311" y="26"/>
                </a:lnTo>
                <a:lnTo>
                  <a:pt x="321" y="35"/>
                </a:lnTo>
                <a:lnTo>
                  <a:pt x="331" y="48"/>
                </a:lnTo>
                <a:lnTo>
                  <a:pt x="337" y="60"/>
                </a:lnTo>
                <a:lnTo>
                  <a:pt x="344" y="74"/>
                </a:lnTo>
                <a:lnTo>
                  <a:pt x="349" y="90"/>
                </a:lnTo>
                <a:lnTo>
                  <a:pt x="349" y="100"/>
                </a:lnTo>
                <a:lnTo>
                  <a:pt x="350" y="119"/>
                </a:lnTo>
                <a:lnTo>
                  <a:pt x="347" y="136"/>
                </a:lnTo>
                <a:lnTo>
                  <a:pt x="341" y="151"/>
                </a:lnTo>
                <a:lnTo>
                  <a:pt x="334" y="165"/>
                </a:lnTo>
                <a:lnTo>
                  <a:pt x="325" y="176"/>
                </a:lnTo>
                <a:lnTo>
                  <a:pt x="316" y="189"/>
                </a:lnTo>
                <a:lnTo>
                  <a:pt x="303" y="199"/>
                </a:lnTo>
                <a:lnTo>
                  <a:pt x="290" y="208"/>
                </a:lnTo>
                <a:lnTo>
                  <a:pt x="277" y="213"/>
                </a:lnTo>
                <a:lnTo>
                  <a:pt x="259" y="218"/>
                </a:lnTo>
                <a:lnTo>
                  <a:pt x="0" y="218"/>
                </a:lnTo>
                <a:lnTo>
                  <a:pt x="0" y="1"/>
                </a:lnTo>
              </a:path>
            </a:pathLst>
          </a:custGeom>
          <a:gradFill rotWithShape="0">
            <a:gsLst>
              <a:gs pos="0">
                <a:schemeClr val="hlink"/>
              </a:gs>
              <a:gs pos="100000">
                <a:schemeClr val="hlink">
                  <a:gamma/>
                  <a:shade val="46275"/>
                  <a:invGamma/>
                </a:schemeClr>
              </a:gs>
            </a:gsLst>
            <a:path path="rect">
              <a:fillToRect l="50000" t="50000" r="50000" b="50000"/>
            </a:path>
          </a:gradFill>
          <a:ln>
            <a:noFill/>
          </a:ln>
          <a:effectLst/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1" lang="zh-CN" altLang="en-US" sz="2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宋体" panose="02010600030101010101" pitchFamily="2" charset="-122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 b="1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80000"/>
        <a:buFont typeface="Wingdings" panose="05000000000000000000" pitchFamily="2" charset="2"/>
        <a:buChar char="l"/>
        <a:defRPr kumimoji="1" sz="2800" b="1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–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90000"/>
        <a:buFont typeface="Wingdings" panose="05000000000000000000" pitchFamily="2" charset="2"/>
        <a:buChar char="w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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l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4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8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9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0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8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19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0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tags" Target="../tags/tag2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6.xml"/><Relationship Id="rId7" Type="http://schemas.openxmlformats.org/officeDocument/2006/relationships/image" Target="../media/image12.png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第</a:t>
            </a:r>
            <a:r>
              <a:rPr kumimoji="0" lang="en-US" altLang="zh-CN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章   动态规划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95536" y="1628800"/>
            <a:ext cx="8424936" cy="1296144"/>
          </a:xfrm>
        </p:spPr>
        <p:txBody>
          <a:bodyPr vert="horz" wrap="square" lIns="91440" tIns="45720" rIns="91440" bIns="45720" numCol="1" anchor="t" anchorCtr="0" compatLnSpc="1"/>
          <a:lstStyle/>
          <a:p>
            <a:pPr marL="355600" marR="0" lvl="0" indent="-3556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动态规划：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广泛应用于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组合优化问题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的算法设计中。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marL="355600" marR="0" lvl="0" indent="-3556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组合优化问题：通常有对应的目标函数和约束条件，例如</a:t>
            </a:r>
            <a:endParaRPr kumimoji="0" lang="en-US" altLang="zh-CN" sz="2400" b="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  <a:p>
            <a:pPr marL="628650" lvl="1" indent="-228600" eaLnBrk="1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资源分配问题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 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899592" y="2928558"/>
            <a:ext cx="7704856" cy="1388072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dirty="0" smtClean="0">
                <a:solidFill>
                  <a:schemeClr val="bg2"/>
                </a:solidFill>
                <a:uFillTx/>
              </a:rPr>
              <a:t>（</a:t>
            </a:r>
            <a:r>
              <a:rPr lang="en-US" altLang="zh-CN" dirty="0">
                <a:solidFill>
                  <a:schemeClr val="bg2"/>
                </a:solidFill>
                <a:uFillTx/>
              </a:rPr>
              <a:t>1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）</a:t>
            </a:r>
            <a:r>
              <a: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uFillTx/>
              </a:rPr>
              <a:t>输入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：</a:t>
            </a:r>
            <a:r>
              <a:rPr b="1" i="1" dirty="0">
                <a:solidFill>
                  <a:schemeClr val="bg2"/>
                </a:solidFill>
                <a:uFillTx/>
              </a:rPr>
              <a:t>n</a:t>
            </a:r>
            <a:r>
              <a:rPr dirty="0">
                <a:solidFill>
                  <a:schemeClr val="bg2"/>
                </a:solidFill>
                <a:uFillTx/>
              </a:rPr>
              <a:t>, </a:t>
            </a:r>
            <a:r>
              <a:rPr b="1" i="1" dirty="0">
                <a:solidFill>
                  <a:schemeClr val="bg2"/>
                </a:solidFill>
                <a:uFillTx/>
              </a:rPr>
              <a:t>m</a:t>
            </a:r>
            <a:r>
              <a:rPr dirty="0">
                <a:solidFill>
                  <a:schemeClr val="bg2"/>
                </a:solidFill>
                <a:uFillTx/>
              </a:rPr>
              <a:t>, </a:t>
            </a:r>
            <a:r>
              <a:rPr b="1" i="1" dirty="0">
                <a:solidFill>
                  <a:schemeClr val="bg2"/>
                </a:solidFill>
                <a:uFillTx/>
              </a:rPr>
              <a:t>f</a:t>
            </a:r>
            <a:r>
              <a:rPr b="1" i="1" baseline="-25000" dirty="0">
                <a:solidFill>
                  <a:schemeClr val="bg2"/>
                </a:solidFill>
                <a:uFillTx/>
              </a:rPr>
              <a:t>i</a:t>
            </a:r>
            <a:r>
              <a:rPr dirty="0">
                <a:solidFill>
                  <a:schemeClr val="bg2"/>
                </a:solidFill>
                <a:uFillTx/>
              </a:rPr>
              <a:t>(</a:t>
            </a:r>
            <a:r>
              <a:rPr b="1" i="1" dirty="0">
                <a:solidFill>
                  <a:schemeClr val="bg2"/>
                </a:solidFill>
                <a:uFillTx/>
              </a:rPr>
              <a:t>x</a:t>
            </a:r>
            <a:r>
              <a:rPr dirty="0">
                <a:solidFill>
                  <a:schemeClr val="bg2"/>
                </a:solidFill>
                <a:uFillTx/>
              </a:rPr>
              <a:t>), </a:t>
            </a:r>
            <a:r>
              <a:rPr b="1" i="1" dirty="0" err="1">
                <a:solidFill>
                  <a:schemeClr val="bg2"/>
                </a:solidFill>
                <a:uFillTx/>
              </a:rPr>
              <a:t>i</a:t>
            </a:r>
            <a:r>
              <a:rPr dirty="0">
                <a:solidFill>
                  <a:schemeClr val="bg2"/>
                </a:solidFill>
                <a:uFillTx/>
              </a:rPr>
              <a:t> =1,2, ..., </a:t>
            </a:r>
            <a:r>
              <a:rPr b="1" i="1" dirty="0">
                <a:solidFill>
                  <a:schemeClr val="bg2"/>
                </a:solidFill>
                <a:uFillTx/>
              </a:rPr>
              <a:t>n</a:t>
            </a:r>
            <a:r>
              <a:rPr dirty="0">
                <a:solidFill>
                  <a:schemeClr val="bg2"/>
                </a:solidFill>
                <a:uFillTx/>
              </a:rPr>
              <a:t>, </a:t>
            </a:r>
            <a:r>
              <a:rPr b="1" i="1" dirty="0">
                <a:solidFill>
                  <a:schemeClr val="bg2"/>
                </a:solidFill>
                <a:uFillTx/>
              </a:rPr>
              <a:t>x</a:t>
            </a:r>
            <a:r>
              <a:rPr dirty="0">
                <a:solidFill>
                  <a:schemeClr val="bg2"/>
                </a:solidFill>
                <a:uFillTx/>
              </a:rPr>
              <a:t> = 1,2, ..., </a:t>
            </a:r>
            <a:r>
              <a:rPr b="1" i="1" dirty="0">
                <a:solidFill>
                  <a:schemeClr val="bg2"/>
                </a:solidFill>
                <a:uFillTx/>
              </a:rPr>
              <a:t>m</a:t>
            </a:r>
            <a:endParaRPr dirty="0">
              <a:solidFill>
                <a:schemeClr val="bg2"/>
              </a:solidFill>
              <a:uFillTx/>
            </a:endParaRPr>
          </a:p>
          <a:p>
            <a:pPr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</a:pPr>
            <a:r>
              <a:rPr lang="zh-CN" altLang="en-US" dirty="0">
                <a:solidFill>
                  <a:schemeClr val="bg2"/>
                </a:solidFill>
                <a:uFillTx/>
              </a:rPr>
              <a:t>（</a:t>
            </a:r>
            <a:r>
              <a:rPr lang="en-US" altLang="zh-CN" dirty="0">
                <a:solidFill>
                  <a:schemeClr val="bg2"/>
                </a:solidFill>
                <a:uFillTx/>
              </a:rPr>
              <a:t>2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）</a:t>
            </a:r>
            <a:r>
              <a:rPr lang="zh-CN" altLang="en-US" b="1" dirty="0">
                <a:solidFill>
                  <a:schemeClr val="bg1">
                    <a:lumMod val="60000"/>
                    <a:lumOff val="40000"/>
                  </a:schemeClr>
                </a:solidFill>
                <a:uFillTx/>
              </a:rPr>
              <a:t>输出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：</a:t>
            </a:r>
            <a:r>
              <a:rPr lang="zh-CN" altLang="en-US" b="1" i="1" dirty="0">
                <a:solidFill>
                  <a:schemeClr val="bg2"/>
                </a:solidFill>
                <a:uFillTx/>
              </a:rPr>
              <a:t>n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 维向量&lt;</a:t>
            </a:r>
            <a:r>
              <a:rPr lang="zh-CN" altLang="en-US" b="1" i="1" dirty="0">
                <a:solidFill>
                  <a:schemeClr val="bg2"/>
                </a:solidFill>
                <a:uFillTx/>
              </a:rPr>
              <a:t>x</a:t>
            </a:r>
            <a:r>
              <a:rPr lang="zh-CN" altLang="en-US" baseline="-25000" dirty="0">
                <a:solidFill>
                  <a:schemeClr val="bg2"/>
                </a:solidFill>
                <a:uFillTx/>
              </a:rPr>
              <a:t>1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, </a:t>
            </a:r>
            <a:r>
              <a:rPr lang="zh-CN" altLang="en-US" b="1" i="1" dirty="0">
                <a:solidFill>
                  <a:schemeClr val="bg2"/>
                </a:solidFill>
                <a:uFillTx/>
              </a:rPr>
              <a:t>x</a:t>
            </a:r>
            <a:r>
              <a:rPr lang="zh-CN" altLang="en-US" b="1" baseline="-25000" dirty="0">
                <a:solidFill>
                  <a:schemeClr val="bg2"/>
                </a:solidFill>
                <a:uFillTx/>
              </a:rPr>
              <a:t>2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, … , </a:t>
            </a:r>
            <a:r>
              <a:rPr lang="zh-CN" altLang="en-US" b="1" i="1" dirty="0">
                <a:solidFill>
                  <a:schemeClr val="bg2"/>
                </a:solidFill>
                <a:uFillTx/>
              </a:rPr>
              <a:t>x</a:t>
            </a:r>
            <a:r>
              <a:rPr lang="zh-CN" altLang="en-US" b="1" i="1" baseline="-25000" dirty="0">
                <a:solidFill>
                  <a:schemeClr val="bg2"/>
                </a:solidFill>
                <a:uFillTx/>
              </a:rPr>
              <a:t>n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&gt;, </a:t>
            </a:r>
            <a:r>
              <a:rPr lang="zh-CN" altLang="en-US" b="1" i="1" dirty="0">
                <a:solidFill>
                  <a:schemeClr val="bg2"/>
                </a:solidFill>
                <a:uFillTx/>
              </a:rPr>
              <a:t>x</a:t>
            </a:r>
            <a:r>
              <a:rPr lang="zh-CN" altLang="en-US" b="1" i="1" baseline="-25000" dirty="0">
                <a:solidFill>
                  <a:schemeClr val="bg2"/>
                </a:solidFill>
                <a:uFillTx/>
              </a:rPr>
              <a:t>i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 是第</a:t>
            </a:r>
            <a:r>
              <a:rPr lang="zh-CN" altLang="en-US" b="1" i="1" dirty="0">
                <a:solidFill>
                  <a:schemeClr val="bg2"/>
                </a:solidFill>
                <a:uFillTx/>
              </a:rPr>
              <a:t> i 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个项目分到</a:t>
            </a:r>
            <a:r>
              <a:rPr lang="zh-CN" altLang="en-US" dirty="0" smtClean="0">
                <a:solidFill>
                  <a:schemeClr val="bg2"/>
                </a:solidFill>
                <a:uFillTx/>
              </a:rPr>
              <a:t>的资源数</a:t>
            </a:r>
            <a:r>
              <a:rPr lang="zh-CN" altLang="en-US" dirty="0">
                <a:solidFill>
                  <a:schemeClr val="bg2"/>
                </a:solidFill>
                <a:uFillTx/>
              </a:rPr>
              <a:t>，使得下述条件满足：</a:t>
            </a:r>
            <a:endParaRPr lang="zh-CN" altLang="en-US" dirty="0">
              <a:solidFill>
                <a:schemeClr val="bg2"/>
              </a:solidFill>
              <a:uFillTx/>
            </a:endParaRPr>
          </a:p>
        </p:txBody>
      </p:sp>
      <p:pic>
        <p:nvPicPr>
          <p:cNvPr id="6" name="20 5"/>
          <p:cNvPicPr>
            <a:picLocks noChangeAspect="1"/>
          </p:cNvPicPr>
          <p:nvPr/>
        </p:nvPicPr>
        <p:blipFill>
          <a:blip r:embed="rId1"/>
          <a:srcRect b="54340"/>
          <a:stretch>
            <a:fillRect/>
          </a:stretch>
        </p:blipFill>
        <p:spPr>
          <a:xfrm>
            <a:off x="2024000" y="5241977"/>
            <a:ext cx="4636232" cy="779311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1"/>
          <a:srcRect t="47228"/>
          <a:stretch>
            <a:fillRect/>
          </a:stretch>
        </p:blipFill>
        <p:spPr>
          <a:xfrm>
            <a:off x="1979712" y="4316630"/>
            <a:ext cx="4392488" cy="853339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第</a:t>
            </a:r>
            <a:r>
              <a:rPr kumimoji="0" lang="en-US" altLang="zh-CN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章   动态规划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95536" y="1628800"/>
            <a:ext cx="8424936" cy="504056"/>
          </a:xfrm>
        </p:spPr>
        <p:txBody>
          <a:bodyPr vert="horz" wrap="square" lIns="91440" tIns="45720" rIns="91440" bIns="45720" numCol="1" anchor="t" anchorCtr="0" compatLnSpc="1"/>
          <a:lstStyle/>
          <a:p>
            <a:pPr marL="628650" lvl="1" indent="-228600" eaLnBrk="1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货郎问题（旅行商问题）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pic>
        <p:nvPicPr>
          <p:cNvPr id="8" name="20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616" y="2090817"/>
            <a:ext cx="6336704" cy="1338183"/>
          </a:xfrm>
          <a:prstGeom prst="rect">
            <a:avLst/>
          </a:prstGeom>
        </p:spPr>
      </p:pic>
      <p:sp>
        <p:nvSpPr>
          <p:cNvPr id="10" name="文本框 4"/>
          <p:cNvSpPr txBox="1"/>
          <p:nvPr/>
        </p:nvSpPr>
        <p:spPr>
          <a:xfrm>
            <a:off x="1187624" y="3501008"/>
            <a:ext cx="7632848" cy="904863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0000"/>
                </a:solidFill>
                <a:uFillTx/>
              </a:rPr>
              <a:t>输出</a:t>
            </a:r>
            <a:r>
              <a:rPr lang="zh-CN" altLang="en-US" dirty="0" smtClean="0">
                <a:solidFill>
                  <a:srgbClr val="FF0000"/>
                </a:solidFill>
                <a:uFillTx/>
              </a:rPr>
              <a:t>：</a:t>
            </a:r>
            <a:r>
              <a:rPr lang="en-US" altLang="zh-CN" b="1" dirty="0" smtClean="0">
                <a:solidFill>
                  <a:schemeClr val="bg2"/>
                </a:solidFill>
                <a:uFillTx/>
              </a:rPr>
              <a:t>1, 2, …, </a:t>
            </a:r>
            <a:r>
              <a:rPr lang="en-US" altLang="zh-CN" b="1" i="1" dirty="0" smtClean="0">
                <a:solidFill>
                  <a:schemeClr val="bg2"/>
                </a:solidFill>
                <a:uFillTx/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  <a:uFillTx/>
              </a:rPr>
              <a:t>的一个排列</a:t>
            </a:r>
            <a:r>
              <a:rPr lang="en-US" altLang="zh-CN" b="1" i="1" dirty="0" smtClean="0">
                <a:solidFill>
                  <a:schemeClr val="bg2"/>
                </a:solidFill>
                <a:uFillTx/>
              </a:rPr>
              <a:t>k</a:t>
            </a:r>
            <a:r>
              <a:rPr lang="en-US" altLang="zh-CN" b="1" baseline="-25000" dirty="0" smtClean="0">
                <a:solidFill>
                  <a:schemeClr val="bg2"/>
                </a:solidFill>
                <a:uFillTx/>
              </a:rPr>
              <a:t>1</a:t>
            </a:r>
            <a:r>
              <a:rPr lang="en-US" altLang="zh-CN" b="1" dirty="0" smtClean="0">
                <a:solidFill>
                  <a:schemeClr val="bg2"/>
                </a:solidFill>
                <a:uFillTx/>
              </a:rPr>
              <a:t>, </a:t>
            </a:r>
            <a:r>
              <a:rPr lang="en-US" altLang="zh-CN" b="1" i="1" dirty="0" smtClean="0">
                <a:solidFill>
                  <a:schemeClr val="bg2"/>
                </a:solidFill>
                <a:uFillTx/>
              </a:rPr>
              <a:t>k</a:t>
            </a:r>
            <a:r>
              <a:rPr lang="en-US" altLang="zh-CN" b="1" baseline="-25000" dirty="0" smtClean="0">
                <a:solidFill>
                  <a:schemeClr val="bg2"/>
                </a:solidFill>
                <a:uFillTx/>
              </a:rPr>
              <a:t>2</a:t>
            </a:r>
            <a:r>
              <a:rPr lang="en-US" altLang="zh-CN" b="1" dirty="0" smtClean="0">
                <a:solidFill>
                  <a:schemeClr val="bg2"/>
                </a:solidFill>
                <a:uFillTx/>
              </a:rPr>
              <a:t>, …</a:t>
            </a:r>
            <a:r>
              <a:rPr lang="en-US" altLang="zh-CN" b="1" dirty="0" smtClean="0">
                <a:solidFill>
                  <a:schemeClr val="bg2"/>
                </a:solidFill>
              </a:rPr>
              <a:t>,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k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n</a:t>
            </a:r>
            <a:r>
              <a:rPr lang="zh-CN" altLang="en-US" b="1" dirty="0" smtClean="0">
                <a:solidFill>
                  <a:schemeClr val="bg2"/>
                </a:solidFill>
              </a:rPr>
              <a:t>，</a:t>
            </a:r>
            <a:r>
              <a:rPr lang="zh-CN" altLang="en-US" dirty="0" smtClean="0">
                <a:solidFill>
                  <a:schemeClr val="bg2"/>
                </a:solidFill>
              </a:rPr>
              <a:t>使得旅行路线最短。</a:t>
            </a:r>
            <a:endParaRPr lang="en-US" altLang="zh-CN" dirty="0" smtClean="0">
              <a:solidFill>
                <a:schemeClr val="bg2"/>
              </a:solidFill>
              <a:uFillTx/>
            </a:endParaRPr>
          </a:p>
        </p:txBody>
      </p:sp>
      <p:sp>
        <p:nvSpPr>
          <p:cNvPr id="11" name="文本框 4"/>
          <p:cNvSpPr txBox="1"/>
          <p:nvPr/>
        </p:nvSpPr>
        <p:spPr>
          <a:xfrm>
            <a:off x="1187624" y="5085184"/>
            <a:ext cx="2218105" cy="46544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0000"/>
                </a:solidFill>
                <a:uFillTx/>
              </a:rPr>
              <a:t>目标函数：</a:t>
            </a:r>
            <a:endParaRPr lang="en-US" altLang="zh-CN" b="1" dirty="0" smtClean="0">
              <a:solidFill>
                <a:schemeClr val="bg2"/>
              </a:solidFill>
              <a:uFillTx/>
            </a:endParaRPr>
          </a:p>
        </p:txBody>
      </p:sp>
      <p:sp>
        <p:nvSpPr>
          <p:cNvPr id="12" name="文本框 4"/>
          <p:cNvSpPr txBox="1"/>
          <p:nvPr/>
        </p:nvSpPr>
        <p:spPr>
          <a:xfrm>
            <a:off x="1201767" y="4365104"/>
            <a:ext cx="7402681" cy="498598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marL="342900" indent="-342900" algn="just">
              <a:lnSpc>
                <a:spcPct val="11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b="1" dirty="0" smtClean="0">
                <a:solidFill>
                  <a:srgbClr val="FF0000"/>
                </a:solidFill>
                <a:uFillTx/>
              </a:rPr>
              <a:t>约束条件：</a:t>
            </a:r>
            <a:r>
              <a:rPr lang="en-US" altLang="zh-CN" b="1" i="1" dirty="0">
                <a:solidFill>
                  <a:schemeClr val="bg2"/>
                </a:solidFill>
              </a:rPr>
              <a:t> k</a:t>
            </a:r>
            <a:r>
              <a:rPr lang="en-US" altLang="zh-CN" b="1" baseline="-25000" dirty="0">
                <a:solidFill>
                  <a:schemeClr val="bg2"/>
                </a:solidFill>
              </a:rPr>
              <a:t>1</a:t>
            </a:r>
            <a:r>
              <a:rPr lang="en-US" altLang="zh-CN" b="1" dirty="0">
                <a:solidFill>
                  <a:schemeClr val="bg2"/>
                </a:solidFill>
              </a:rPr>
              <a:t>, </a:t>
            </a:r>
            <a:r>
              <a:rPr lang="en-US" altLang="zh-CN" b="1" i="1" dirty="0">
                <a:solidFill>
                  <a:schemeClr val="bg2"/>
                </a:solidFill>
              </a:rPr>
              <a:t>k</a:t>
            </a:r>
            <a:r>
              <a:rPr lang="en-US" altLang="zh-CN" b="1" baseline="-25000" dirty="0">
                <a:solidFill>
                  <a:schemeClr val="bg2"/>
                </a:solidFill>
              </a:rPr>
              <a:t>2</a:t>
            </a:r>
            <a:r>
              <a:rPr lang="en-US" altLang="zh-CN" b="1" dirty="0">
                <a:solidFill>
                  <a:schemeClr val="bg2"/>
                </a:solidFill>
              </a:rPr>
              <a:t>, …, </a:t>
            </a:r>
            <a:r>
              <a:rPr lang="en-US" altLang="zh-CN" b="1" i="1" dirty="0" err="1" smtClean="0">
                <a:solidFill>
                  <a:schemeClr val="bg2"/>
                </a:solidFill>
              </a:rPr>
              <a:t>k</a:t>
            </a:r>
            <a:r>
              <a:rPr lang="en-US" altLang="zh-CN" b="1" i="1" baseline="-25000" dirty="0" err="1" smtClean="0">
                <a:solidFill>
                  <a:schemeClr val="bg2"/>
                </a:solidFill>
              </a:rPr>
              <a:t>n</a:t>
            </a:r>
            <a:r>
              <a:rPr lang="zh-CN" altLang="en-US" b="1" dirty="0" smtClean="0">
                <a:solidFill>
                  <a:schemeClr val="bg2"/>
                </a:solidFill>
              </a:rPr>
              <a:t>必须构成</a:t>
            </a:r>
            <a:r>
              <a:rPr lang="en-US" altLang="zh-CN" b="1" dirty="0" smtClean="0">
                <a:solidFill>
                  <a:schemeClr val="bg2"/>
                </a:solidFill>
              </a:rPr>
              <a:t>1</a:t>
            </a:r>
            <a:r>
              <a:rPr lang="en-US" altLang="zh-CN" b="1" dirty="0">
                <a:solidFill>
                  <a:schemeClr val="bg2"/>
                </a:solidFill>
              </a:rPr>
              <a:t>, 2, …, </a:t>
            </a:r>
            <a:r>
              <a:rPr lang="en-US" altLang="zh-CN" b="1" i="1" dirty="0">
                <a:solidFill>
                  <a:schemeClr val="bg2"/>
                </a:solidFill>
              </a:rPr>
              <a:t>n</a:t>
            </a:r>
            <a:r>
              <a:rPr lang="zh-CN" altLang="en-US" dirty="0" smtClean="0">
                <a:solidFill>
                  <a:schemeClr val="bg2"/>
                </a:solidFill>
              </a:rPr>
              <a:t>的排列</a:t>
            </a:r>
            <a:endParaRPr lang="en-US" altLang="zh-CN" b="1" dirty="0" smtClean="0">
              <a:solidFill>
                <a:schemeClr val="bg2"/>
              </a:solidFill>
              <a:uFillTx/>
            </a:endParaRPr>
          </a:p>
        </p:txBody>
      </p:sp>
      <p:pic>
        <p:nvPicPr>
          <p:cNvPr id="13" name="20 12"/>
          <p:cNvPicPr>
            <a:picLocks noChangeAspect="1"/>
          </p:cNvPicPr>
          <p:nvPr/>
        </p:nvPicPr>
        <p:blipFill rotWithShape="1">
          <a:blip r:embed="rId2"/>
          <a:srcRect l="19339" t="40122" r="8844" b="13142"/>
          <a:stretch>
            <a:fillRect/>
          </a:stretch>
        </p:blipFill>
        <p:spPr>
          <a:xfrm>
            <a:off x="3131840" y="4950241"/>
            <a:ext cx="4441371" cy="855023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1" grpId="0"/>
      <p:bldP spid="11" grpId="1"/>
      <p:bldP spid="12" grpId="0"/>
      <p:bldP spid="12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第</a:t>
            </a:r>
            <a:r>
              <a:rPr kumimoji="0" lang="en-US" altLang="zh-CN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章   动态规划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95536" y="1628800"/>
            <a:ext cx="8352928" cy="4536504"/>
          </a:xfrm>
          <a:solidFill>
            <a:schemeClr val="tx1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355600" marR="0" lvl="0" indent="-3556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可行解：组合优化问题的解分布在搜索空间中，其中满足约束条件的解称为可行解。</a:t>
            </a:r>
            <a:endParaRPr kumimoji="0" lang="en-US" altLang="zh-CN" sz="2400" b="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marL="355600" marR="0" lvl="0" indent="-3556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最优解：可行解中使目标函数达到最大（或最小）值的解成为最优解。例如：价值最大、代价最小</a:t>
            </a:r>
            <a:r>
              <a:rPr kumimoji="0" lang="en-US" altLang="zh-CN" sz="2400" b="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——</a:t>
            </a:r>
            <a:r>
              <a:rPr kumimoji="0" lang="zh-CN" altLang="en-US" sz="2400" b="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组合优化问题的最终目标。</a:t>
            </a:r>
            <a:endParaRPr kumimoji="0" lang="en-US" altLang="zh-CN" sz="2400" b="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  <a:p>
            <a:pPr marL="355600" marR="0" lvl="0" indent="-3556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p"/>
              <a:defRPr/>
            </a:pPr>
            <a:r>
              <a:rPr kumimoji="0" lang="zh-CN" altLang="en-US" sz="2400" b="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组合优化问题的搜索空间比较大，中间会有许多重复计算，通常是指数量级的（</a:t>
            </a:r>
            <a:r>
              <a:rPr kumimoji="0" lang="en-US" altLang="zh-CN" sz="2400" i="1" kern="1200" dirty="0" smtClean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kern="1200" dirty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!</a:t>
            </a:r>
            <a:r>
              <a:rPr kumimoji="0" lang="zh-CN" altLang="en-US" sz="2400" b="0" kern="1200" dirty="0" smtClean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0" kern="1200" dirty="0" smtClean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kumimoji="0" lang="en-US" altLang="zh-CN" sz="2400" i="1" kern="1200" baseline="30000" dirty="0" smtClean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kumimoji="0" lang="en-US" altLang="zh-CN" sz="2400" b="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)</a:t>
            </a:r>
            <a:r>
              <a:rPr kumimoji="0" lang="zh-CN" altLang="en-US" sz="2400" b="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。</a:t>
            </a:r>
            <a:endParaRPr kumimoji="0" lang="en-US" altLang="zh-CN" sz="2400" b="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  <a:p>
            <a:pPr marL="755650" lvl="1" indent="-355600" eaLnBrk="1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1200" dirty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蛮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力算法：大规模问题是无法求解的。</a:t>
            </a:r>
            <a:endParaRPr kumimoji="0" lang="en-US" altLang="zh-CN" sz="240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  <a:p>
            <a:pPr marL="755650" lvl="1" indent="-355600" eaLnBrk="1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b="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动态规划：</a:t>
            </a:r>
            <a:endParaRPr kumimoji="0" lang="en-US" altLang="zh-CN" sz="2400" b="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  <a:p>
            <a:pPr marL="400050" lvl="1" indent="0" eaLnBrk="1" hangingPunct="1">
              <a:spcAft>
                <a:spcPts val="0"/>
              </a:spcAft>
              <a:buClrTx/>
              <a:buNone/>
              <a:defRPr/>
            </a:pPr>
            <a:r>
              <a:rPr kumimoji="0" lang="zh-CN" altLang="en-US" sz="2400" kern="1200" dirty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（</a:t>
            </a:r>
            <a:r>
              <a:rPr kumimoji="0" lang="en-US" altLang="zh-CN" sz="2400" kern="1200" dirty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1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）将问题的求解过程划分成一个</a:t>
            </a:r>
            <a:r>
              <a:rPr kumimoji="0" lang="zh-CN" altLang="en-US" sz="2400" b="1" kern="1200" dirty="0" smtClean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多阶段决策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的过程。每阶段都对应原问题的</a:t>
            </a:r>
            <a:r>
              <a:rPr kumimoji="0" lang="zh-CN" altLang="en-US" sz="2400" kern="1200" dirty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一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个子问题。</a:t>
            </a:r>
            <a:endParaRPr kumimoji="0" lang="zh-CN" altLang="en-US" sz="2400" b="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第</a:t>
            </a:r>
            <a:r>
              <a:rPr kumimoji="0" lang="en-US" altLang="zh-CN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章   动态规划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23781" y="1701061"/>
            <a:ext cx="8208912" cy="3960440"/>
          </a:xfrm>
          <a:solidFill>
            <a:schemeClr val="tx1"/>
          </a:solidFill>
        </p:spPr>
        <p:txBody>
          <a:bodyPr vert="horz" wrap="square" lIns="91440" tIns="45720" rIns="91440" bIns="45720" numCol="1" anchor="t" anchorCtr="0" compatLnSpc="1"/>
          <a:lstStyle/>
          <a:p>
            <a:pPr marL="400050" lvl="1" indent="0" eaLnBrk="1" hangingPunct="1">
              <a:spcBef>
                <a:spcPts val="1200"/>
              </a:spcBef>
              <a:spcAft>
                <a:spcPts val="0"/>
              </a:spcAft>
              <a:buClrTx/>
              <a:buNone/>
              <a:defRPr/>
            </a:pP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（</a:t>
            </a:r>
            <a:r>
              <a:rPr kumimoji="0" lang="en-US" altLang="zh-CN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2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）算法划分出子问题的边界，</a:t>
            </a:r>
            <a:r>
              <a:rPr kumimoji="0" lang="zh-CN" altLang="en-US" sz="2400" kern="1200" dirty="0" smtClean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从最小的子问题开始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，逐层向上求解。</a:t>
            </a:r>
            <a:endParaRPr kumimoji="0" lang="en-US" altLang="zh-CN" sz="240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  <a:p>
            <a:pPr marL="400050" lvl="1" indent="0" eaLnBrk="1" hangingPunct="1">
              <a:spcBef>
                <a:spcPts val="1200"/>
              </a:spcBef>
              <a:spcAft>
                <a:spcPts val="0"/>
              </a:spcAft>
              <a:buClrTx/>
              <a:buNone/>
              <a:defRPr/>
            </a:pPr>
            <a:r>
              <a:rPr kumimoji="0" lang="zh-CN" altLang="en-US" sz="2400" b="0" kern="1200" dirty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（</a:t>
            </a:r>
            <a:r>
              <a:rPr kumimoji="0" lang="en-US" altLang="zh-CN" sz="2400" b="0" kern="1200" dirty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3</a:t>
            </a:r>
            <a:r>
              <a:rPr kumimoji="0" lang="zh-CN" altLang="en-US" sz="2400" b="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）通过</a:t>
            </a:r>
            <a:r>
              <a:rPr kumimoji="0" lang="zh-CN" altLang="en-US" sz="2400" b="1" kern="1200" dirty="0" smtClean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子问题间的依赖</a:t>
            </a:r>
            <a:r>
              <a:rPr kumimoji="0" lang="zh-CN" altLang="en-US" sz="2400" b="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关系，有效利用前面已经产生的结果，最大限度减少重复工作，提高算法效率。</a:t>
            </a:r>
            <a:endParaRPr kumimoji="0" lang="en-US" altLang="zh-CN" sz="2400" b="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  <a:p>
            <a:pPr marL="400050" lvl="1" indent="0" eaLnBrk="1" hangingPunct="1">
              <a:spcBef>
                <a:spcPts val="1200"/>
              </a:spcBef>
              <a:spcAft>
                <a:spcPts val="0"/>
              </a:spcAft>
              <a:buClrTx/>
              <a:buNone/>
              <a:defRPr/>
            </a:pPr>
            <a:r>
              <a:rPr kumimoji="0" lang="zh-CN" altLang="en-US" sz="2400" kern="1200" dirty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（</a:t>
            </a:r>
            <a:r>
              <a:rPr kumimoji="0" lang="en-US" altLang="zh-CN" sz="2400" kern="1200" dirty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4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）很多蛮力算法是指数时间的问题，采用动态规划技术将时间复杂度降低到</a:t>
            </a:r>
            <a:r>
              <a:rPr kumimoji="0" lang="en-US" altLang="zh-CN" sz="2400" b="1" i="1" kern="1200" dirty="0" smtClean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kumimoji="0" lang="en-US" altLang="zh-CN" sz="2400" kern="1200" baseline="30000" dirty="0" smtClean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2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、</a:t>
            </a:r>
            <a:r>
              <a:rPr kumimoji="0" lang="en-US" altLang="zh-CN" sz="2400" b="1" i="1" kern="1200" dirty="0" smtClean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n</a:t>
            </a:r>
            <a:r>
              <a:rPr kumimoji="0" lang="en-US" altLang="zh-CN" sz="2400" kern="1200" baseline="30000" dirty="0" smtClean="0">
                <a:solidFill>
                  <a:schemeClr val="bg2"/>
                </a:solidFill>
                <a:latin typeface="Times New Roman" panose="02020603050405020304" pitchFamily="18" charset="0"/>
                <a:ea typeface="+mj-ea"/>
                <a:cs typeface="Times New Roman" panose="02020603050405020304" pitchFamily="18" charset="0"/>
              </a:rPr>
              <a:t>3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等多项式级别。</a:t>
            </a:r>
            <a:endParaRPr kumimoji="0" lang="en-US" altLang="zh-CN" sz="2400" b="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  <a:p>
            <a:pPr marL="400050" lvl="1" indent="0" eaLnBrk="1" hangingPunct="1">
              <a:spcBef>
                <a:spcPts val="1200"/>
              </a:spcBef>
              <a:spcAft>
                <a:spcPts val="0"/>
              </a:spcAft>
              <a:buClrTx/>
              <a:buNone/>
              <a:defRPr/>
            </a:pP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（</a:t>
            </a:r>
            <a:r>
              <a:rPr kumimoji="0" lang="en-US" altLang="zh-CN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5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）不足：需要</a:t>
            </a:r>
            <a:r>
              <a:rPr kumimoji="0" lang="zh-CN" altLang="en-US" sz="2400" b="1" kern="1200" dirty="0" smtClean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较大的存储空间存储子问题计算的中间结果</a:t>
            </a:r>
            <a:r>
              <a:rPr kumimoji="0" lang="zh-CN" altLang="en-US" sz="2400" kern="1200" dirty="0" smtClean="0">
                <a:solidFill>
                  <a:schemeClr val="bg2"/>
                </a:solidFill>
                <a:latin typeface="+mj-ea"/>
                <a:ea typeface="+mj-ea"/>
                <a:cs typeface="+mj-ea"/>
              </a:rPr>
              <a:t>，对于输入规模很大的情况，这个代价可能比时间的消耗更难以承受。</a:t>
            </a:r>
            <a:endParaRPr kumimoji="0" lang="en-US" altLang="zh-CN" sz="2400" b="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第</a:t>
            </a:r>
            <a:r>
              <a:rPr kumimoji="0" lang="en-US" altLang="zh-CN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3</a:t>
            </a:r>
            <a:r>
              <a:rPr kumimoji="0" lang="zh-CN" altLang="en-US" kern="1200" noProof="0" dirty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sym typeface="+mn-ea"/>
              </a:rPr>
              <a:t>章   动态规划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95536" y="1628800"/>
            <a:ext cx="8352928" cy="5040560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3.1  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动态规划的设计思想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lvl="2" eaLnBrk="1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实例</a:t>
            </a:r>
            <a:r>
              <a:rPr kumimoji="0" lang="en-US" altLang="zh-CN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——</a:t>
            </a:r>
            <a:r>
              <a:rPr kumimoji="0" lang="zh-CN" altLang="en-US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斐波那契数列、最短路径问题</a:t>
            </a:r>
            <a:endParaRPr kumimoji="0" lang="en-US" altLang="zh-CN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lvl="2" eaLnBrk="1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使用动态规划技术的必要条件</a:t>
            </a:r>
            <a:endParaRPr kumimoji="0" lang="en-US" altLang="zh-CN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marL="342900" marR="0" lvl="0" indent="-342900" algn="l" defTabSz="914400" rtl="0" eaLnBrk="1" fontAlgn="base" latinLnBrk="0" hangingPunct="1"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3.2  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动态规划算法的设计要素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lvl="2" eaLnBrk="1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12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子问题的划分和递推方程</a:t>
            </a:r>
            <a:r>
              <a:rPr kumimoji="0" lang="en-US" altLang="zh-CN" sz="2400" kern="12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——</a:t>
            </a:r>
            <a:r>
              <a:rPr kumimoji="0" lang="zh-CN" altLang="en-US" sz="2400" kern="12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  <a:sym typeface="+mn-ea"/>
              </a:rPr>
              <a:t>矩阵链相乘</a:t>
            </a:r>
            <a:endParaRPr kumimoji="0" lang="en-US" altLang="zh-CN" sz="2400" kern="120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  <a:sym typeface="+mn-ea"/>
            </a:endParaRPr>
          </a:p>
          <a:p>
            <a:pPr lvl="2" eaLnBrk="1" hangingPunct="1"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动态规划算法的实现</a:t>
            </a: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——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递归、迭代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marL="342900" marR="0" lvl="0" indent="-342900" algn="l" defTabSz="914400" rtl="0" eaLnBrk="1" fontAlgn="base" latinLnBrk="0" hangingPunct="1"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2.3  </a:t>
            </a: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动态规划算法的典型应用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lvl="4" eaLnBrk="1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投资问题</a:t>
            </a:r>
            <a:endParaRPr kumimoji="0" lang="en-US" altLang="zh-CN" sz="240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lvl="4" eaLnBrk="1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1200" dirty="0" smtClean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背包问题</a:t>
            </a: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 </a:t>
            </a:r>
            <a:endParaRPr kumimoji="0" lang="en-US" altLang="zh-CN" sz="240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  <a:p>
            <a:pPr lvl="4" eaLnBrk="1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kern="1200" dirty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最</a:t>
            </a:r>
            <a:r>
              <a:rPr kumimoji="0" lang="zh-CN" altLang="en-US" sz="2400" kern="1200" dirty="0" smtClean="0">
                <a:solidFill>
                  <a:srgbClr val="FF0000"/>
                </a:solidFill>
                <a:latin typeface="+mj-ea"/>
                <a:ea typeface="+mj-ea"/>
                <a:cs typeface="+mj-ea"/>
              </a:rPr>
              <a:t>长公共子序列</a:t>
            </a:r>
            <a:endParaRPr kumimoji="0" lang="en-US" altLang="zh-CN" sz="2400" kern="1200" dirty="0" smtClean="0">
              <a:solidFill>
                <a:schemeClr val="bg2"/>
              </a:solidFill>
              <a:latin typeface="+mj-ea"/>
              <a:ea typeface="+mj-ea"/>
              <a:cs typeface="+mj-ea"/>
            </a:endParaRPr>
          </a:p>
          <a:p>
            <a:pPr lvl="4" eaLnBrk="1" hangingPunct="1">
              <a:spcAft>
                <a:spcPts val="0"/>
              </a:spcAft>
              <a:buClrTx/>
              <a:buFont typeface="Arial" panose="020B0604020202020204" pitchFamily="34" charset="0"/>
              <a:buChar char="•"/>
              <a:defRPr/>
            </a:pPr>
            <a:r>
              <a:rPr kumimoji="0" lang="zh-CN" altLang="en-US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图像压缩</a:t>
            </a: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915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15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4915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4915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4915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915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23528" y="1628800"/>
            <a:ext cx="8424936" cy="4841324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r>
              <a:rPr lang="zh-CN" altLang="zh-CN" dirty="0">
                <a:solidFill>
                  <a:schemeClr val="bg2"/>
                </a:solidFill>
                <a:latin typeface="宋体" panose="02010600030101010101" pitchFamily="2" charset="-122"/>
                <a:cs typeface="Consolas" panose="020B0609020204030204" pitchFamily="49" charset="0"/>
              </a:rPr>
              <a:t>从求解斐波那契数列看动态规划法</a:t>
            </a: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43608" y="2118212"/>
            <a:ext cx="7128792" cy="4401205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count=1;		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//</a:t>
            </a:r>
            <a:r>
              <a:rPr lang="zh-CN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累计调用的步骤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fib(</a:t>
            </a:r>
            <a:r>
              <a:rPr lang="en-US" altLang="zh-CN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lang="en-US" altLang="zh-CN" sz="2000" dirty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		//</a:t>
            </a:r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算法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  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("(%d)</a:t>
            </a:r>
            <a:r>
              <a:rPr lang="zh-CN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求解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Fib(%d)\n"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count++</a:t>
            </a:r>
            <a:r>
              <a:rPr lang="zh-CN" altLang="en-US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n);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if (n==1 || n==2)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{  </a:t>
            </a:r>
            <a:r>
              <a:rPr lang="en-US" altLang="zh-CN" sz="2000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 Fib(%d)=%d\n",n,1);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return 1;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}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else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{  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x=fib(n-1);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y=fib(n-2);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000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printf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(" Fib(%d)=Fib(%d)+Fib(%d)=%d\n",n,n-1,n-2,x+y);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   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return 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x+y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     }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536" name="Rectangle 8"/>
          <p:cNvSpPr>
            <a:spLocks noChangeArrowheads="1"/>
          </p:cNvSpPr>
          <p:nvPr/>
        </p:nvSpPr>
        <p:spPr bwMode="auto">
          <a:xfrm>
            <a:off x="0" y="2402831"/>
            <a:ext cx="184731" cy="46166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50538" name="Rectangle 10"/>
          <p:cNvSpPr>
            <a:spLocks noChangeArrowheads="1"/>
          </p:cNvSpPr>
          <p:nvPr/>
        </p:nvSpPr>
        <p:spPr bwMode="auto">
          <a:xfrm>
            <a:off x="0" y="2402831"/>
            <a:ext cx="184731" cy="461665"/>
          </a:xfrm>
          <a:prstGeom prst="rect">
            <a:avLst/>
          </a:prstGeom>
          <a:noFill/>
          <a:ln w="38100" algn="ctr">
            <a:noFill/>
            <a:miter lim="800000"/>
          </a:ln>
          <a:effectLst/>
        </p:spPr>
        <p:txBody>
          <a:bodyPr wrap="none" anchor="ctr">
            <a:spAutoFit/>
          </a:bodyPr>
          <a:lstStyle/>
          <a:p>
            <a:endParaRPr lang="zh-CN" altLang="en-US"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0810" y="612140"/>
            <a:ext cx="2091055" cy="5939155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fib(5)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x=fib(4);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y=fib(3);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return(x+y);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2" name="TextBox 9"/>
          <p:cNvSpPr txBox="1"/>
          <p:nvPr/>
        </p:nvSpPr>
        <p:spPr>
          <a:xfrm>
            <a:off x="2393950" y="148456"/>
            <a:ext cx="2091055" cy="4093428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fib(4)</a:t>
            </a:r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</a:t>
            </a:r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x=fib(3);</a:t>
            </a:r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y=fib(2);</a:t>
            </a:r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</a:t>
            </a:r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return(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x+y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);</a:t>
            </a:r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3" name="TextBox 9"/>
          <p:cNvSpPr txBox="1"/>
          <p:nvPr/>
        </p:nvSpPr>
        <p:spPr>
          <a:xfrm>
            <a:off x="4671695" y="39370"/>
            <a:ext cx="2091055" cy="2553335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fib(3)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x=fib(2);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y=fib(1);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return(x+y);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TextBox 9"/>
          <p:cNvSpPr txBox="1"/>
          <p:nvPr/>
        </p:nvSpPr>
        <p:spPr>
          <a:xfrm>
            <a:off x="6981190" y="111125"/>
            <a:ext cx="2091055" cy="101473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fib(2){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return 1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}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TextBox 9"/>
          <p:cNvSpPr txBox="1"/>
          <p:nvPr/>
        </p:nvSpPr>
        <p:spPr>
          <a:xfrm>
            <a:off x="6981190" y="1567815"/>
            <a:ext cx="2091055" cy="101473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fib(1){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return 1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}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Box 9"/>
          <p:cNvSpPr txBox="1"/>
          <p:nvPr/>
        </p:nvSpPr>
        <p:spPr>
          <a:xfrm>
            <a:off x="4671695" y="2766695"/>
            <a:ext cx="2091055" cy="101473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fib(2){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return 1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}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Box 9"/>
          <p:cNvSpPr txBox="1"/>
          <p:nvPr/>
        </p:nvSpPr>
        <p:spPr>
          <a:xfrm>
            <a:off x="2393950" y="4188033"/>
            <a:ext cx="2091055" cy="2553335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fib(3)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{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x=fib(2);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y=fib(1);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return(x+y);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}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4754880" y="3969385"/>
            <a:ext cx="2091055" cy="101473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fib(2){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return 1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}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11" name="TextBox 9"/>
          <p:cNvSpPr txBox="1"/>
          <p:nvPr/>
        </p:nvSpPr>
        <p:spPr>
          <a:xfrm>
            <a:off x="4740275" y="5316220"/>
            <a:ext cx="2091055" cy="101473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fib(1){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 return 1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r>
              <a:rPr lang="en-US" altLang="zh-CN" sz="2000" smtClean="0">
                <a:solidFill>
                  <a:srgbClr val="0000FF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}</a:t>
            </a:r>
            <a:endParaRPr lang="en-US" altLang="zh-CN" sz="2000" smtClean="0">
              <a:solidFill>
                <a:srgbClr val="0000FF"/>
              </a:solidFill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cxnSp>
        <p:nvCxnSpPr>
          <p:cNvPr id="12" name="直接箭头连接符 11"/>
          <p:cNvCxnSpPr/>
          <p:nvPr/>
        </p:nvCxnSpPr>
        <p:spPr>
          <a:xfrm>
            <a:off x="958215" y="1087120"/>
            <a:ext cx="13335" cy="11176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1261745" y="404495"/>
            <a:ext cx="1221740" cy="189865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>
            <a:off x="2987824" y="584517"/>
            <a:ext cx="1" cy="620753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1261745" y="4293235"/>
            <a:ext cx="1221740" cy="69088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V="1">
            <a:off x="3263265" y="260350"/>
            <a:ext cx="1380490" cy="100838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5795645" y="306070"/>
            <a:ext cx="1312545" cy="45847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>
            <a:off x="5435600" y="404495"/>
            <a:ext cx="635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" name="直接箭头连接符 18"/>
          <p:cNvCxnSpPr/>
          <p:nvPr/>
        </p:nvCxnSpPr>
        <p:spPr>
          <a:xfrm flipH="1">
            <a:off x="7769225" y="438150"/>
            <a:ext cx="635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0" name="直接箭头连接符 19"/>
          <p:cNvCxnSpPr/>
          <p:nvPr/>
        </p:nvCxnSpPr>
        <p:spPr>
          <a:xfrm flipH="1">
            <a:off x="5507990" y="836295"/>
            <a:ext cx="2160270" cy="144145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H="1">
            <a:off x="5507355" y="1054100"/>
            <a:ext cx="635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6040120" y="1512570"/>
            <a:ext cx="1052195" cy="1879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H="1">
            <a:off x="7769860" y="1895475"/>
            <a:ext cx="635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 flipH="1" flipV="1">
            <a:off x="5435600" y="1556385"/>
            <a:ext cx="2335530" cy="648335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/>
          <p:cNvCxnSpPr/>
          <p:nvPr/>
        </p:nvCxnSpPr>
        <p:spPr>
          <a:xfrm flipH="1">
            <a:off x="5507990" y="1700530"/>
            <a:ext cx="635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 flipH="1" flipV="1">
            <a:off x="3059430" y="1484630"/>
            <a:ext cx="1865630" cy="57785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/>
          <p:nvPr/>
        </p:nvCxnSpPr>
        <p:spPr>
          <a:xfrm>
            <a:off x="3086735" y="1590040"/>
            <a:ext cx="17780" cy="135001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8" name="直接箭头连接符 27"/>
          <p:cNvCxnSpPr/>
          <p:nvPr/>
        </p:nvCxnSpPr>
        <p:spPr>
          <a:xfrm flipV="1">
            <a:off x="3563620" y="2924810"/>
            <a:ext cx="1224280" cy="1441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9" name="直接箭头连接符 28"/>
          <p:cNvCxnSpPr/>
          <p:nvPr/>
        </p:nvCxnSpPr>
        <p:spPr>
          <a:xfrm flipH="1">
            <a:off x="5508625" y="3094355"/>
            <a:ext cx="635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 flipH="1" flipV="1">
            <a:off x="3086735" y="3257550"/>
            <a:ext cx="2421255" cy="17145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 flipH="1">
            <a:off x="3086735" y="3272790"/>
            <a:ext cx="17780" cy="58991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H="1" flipV="1">
            <a:off x="842011" y="2563495"/>
            <a:ext cx="1785773" cy="129921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>
            <a:off x="827405" y="2784475"/>
            <a:ext cx="14605" cy="215646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H="1">
            <a:off x="3058795" y="4458970"/>
            <a:ext cx="635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V="1">
            <a:off x="3464560" y="4149090"/>
            <a:ext cx="1409700" cy="63055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H="1">
            <a:off x="5450840" y="4276090"/>
            <a:ext cx="635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>
            <a:off x="3218180" y="4636135"/>
            <a:ext cx="2162175" cy="37719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H="1">
            <a:off x="3072765" y="5013325"/>
            <a:ext cx="635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V="1">
            <a:off x="3378200" y="5445125"/>
            <a:ext cx="1625600" cy="6350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H="1">
            <a:off x="5436870" y="5643245"/>
            <a:ext cx="635" cy="36004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3275965" y="5643245"/>
            <a:ext cx="2161540" cy="292735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 flipH="1">
            <a:off x="3058795" y="5661025"/>
            <a:ext cx="27942" cy="463550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 flipH="1" flipV="1">
            <a:off x="899160" y="5229225"/>
            <a:ext cx="1800225" cy="895350"/>
          </a:xfrm>
          <a:prstGeom prst="straightConnector1">
            <a:avLst/>
          </a:prstGeom>
          <a:ln>
            <a:solidFill>
              <a:srgbClr val="00B05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/>
          <p:nvPr/>
        </p:nvCxnSpPr>
        <p:spPr>
          <a:xfrm flipH="1">
            <a:off x="827405" y="5229225"/>
            <a:ext cx="14605" cy="1080135"/>
          </a:xfrm>
          <a:prstGeom prst="straightConnector1">
            <a:avLst/>
          </a:prstGeom>
          <a:ln>
            <a:solidFill>
              <a:srgbClr val="FF0000"/>
            </a:solidFill>
            <a:tailEnd type="arrow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3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5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7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8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0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4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>
                            <p:stCondLst>
                              <p:cond delay="5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3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6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4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>
                            <p:stCondLst>
                              <p:cond delay="500"/>
                            </p:stCondLst>
                            <p:childTnLst>
                              <p:par>
                                <p:cTn id="15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>
                      <p:stCondLst>
                        <p:cond delay="indefinite"/>
                      </p:stCondLst>
                      <p:childTnLst>
                        <p:par>
                          <p:cTn id="157" fill="hold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6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74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>
                            <p:stCondLst>
                              <p:cond delay="500"/>
                            </p:stCondLst>
                            <p:childTnLst>
                              <p:par>
                                <p:cTn id="1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9" fill="hold">
                      <p:stCondLst>
                        <p:cond delay="indefinite"/>
                      </p:stCondLst>
                      <p:childTnLst>
                        <p:par>
                          <p:cTn id="180" fill="hold">
                            <p:stCondLst>
                              <p:cond delay="0"/>
                            </p:stCondLst>
                            <p:childTnLst>
                              <p:par>
                                <p:cTn id="1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3" fill="hold">
                            <p:stCondLst>
                              <p:cond delay="0"/>
                            </p:stCondLst>
                            <p:childTnLst>
                              <p:par>
                                <p:cTn id="1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6" fill="hold">
                      <p:stCondLst>
                        <p:cond delay="indefinite"/>
                      </p:stCondLst>
                      <p:childTnLst>
                        <p:par>
                          <p:cTn id="187" fill="hold">
                            <p:stCondLst>
                              <p:cond delay="0"/>
                            </p:stCondLst>
                            <p:childTnLst>
                              <p:par>
                                <p:cTn id="18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>
                      <p:stCondLst>
                        <p:cond delay="indefinite"/>
                      </p:stCondLst>
                      <p:childTnLst>
                        <p:par>
                          <p:cTn id="198" fill="hold">
                            <p:stCondLst>
                              <p:cond delay="0"/>
                            </p:stCondLst>
                            <p:childTnLst>
                              <p:par>
                                <p:cTn id="1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>
                      <p:stCondLst>
                        <p:cond delay="indefinite"/>
                      </p:stCondLst>
                      <p:childTnLst>
                        <p:par>
                          <p:cTn id="206" fill="hold">
                            <p:stCondLst>
                              <p:cond delay="0"/>
                            </p:stCondLst>
                            <p:childTnLst>
                              <p:par>
                                <p:cTn id="207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0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0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1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4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9" fill="hold">
                            <p:stCondLst>
                              <p:cond delay="500"/>
                            </p:stCondLst>
                            <p:childTnLst>
                              <p:par>
                                <p:cTn id="22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2" fill="hold">
                      <p:stCondLst>
                        <p:cond delay="indefinite"/>
                      </p:stCondLst>
                      <p:childTnLst>
                        <p:par>
                          <p:cTn id="223" fill="hold">
                            <p:stCondLst>
                              <p:cond delay="0"/>
                            </p:stCondLst>
                            <p:childTnLst>
                              <p:par>
                                <p:cTn id="2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6" fill="hold">
                            <p:stCondLst>
                              <p:cond delay="0"/>
                            </p:stCondLst>
                            <p:childTnLst>
                              <p:par>
                                <p:cTn id="2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>
                      <p:stCondLst>
                        <p:cond delay="indefinite"/>
                      </p:stCondLst>
                      <p:childTnLst>
                        <p:par>
                          <p:cTn id="230" fill="hold">
                            <p:stCondLst>
                              <p:cond delay="0"/>
                            </p:stCondLst>
                            <p:childTnLst>
                              <p:par>
                                <p:cTn id="2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>
                      <p:stCondLst>
                        <p:cond delay="indefinite"/>
                      </p:stCondLst>
                      <p:childTnLst>
                        <p:par>
                          <p:cTn id="234" fill="hold">
                            <p:stCondLst>
                              <p:cond delay="0"/>
                            </p:stCondLst>
                            <p:childTnLst>
                              <p:par>
                                <p:cTn id="2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6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8" presetID="22" presetClass="exit" presetSubtype="4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4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5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1" fill="hold">
                            <p:stCondLst>
                              <p:cond delay="500"/>
                            </p:stCondLst>
                            <p:childTnLst>
                              <p:par>
                                <p:cTn id="25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4" fill="hold">
                      <p:stCondLst>
                        <p:cond delay="indefinite"/>
                      </p:stCondLst>
                      <p:childTnLst>
                        <p:par>
                          <p:cTn id="255" fill="hold">
                            <p:stCondLst>
                              <p:cond delay="0"/>
                            </p:stCondLst>
                            <p:childTnLst>
                              <p:par>
                                <p:cTn id="25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8" fill="hold">
                      <p:stCondLst>
                        <p:cond delay="indefinite"/>
                      </p:stCondLst>
                      <p:childTnLst>
                        <p:par>
                          <p:cTn id="259" fill="hold">
                            <p:stCondLst>
                              <p:cond delay="0"/>
                            </p:stCondLst>
                            <p:childTnLst>
                              <p:par>
                                <p:cTn id="260" presetID="22" presetClass="exit" presetSubtype="4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3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4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6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6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9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0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27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8" fill="hold">
                            <p:stCondLst>
                              <p:cond delay="500"/>
                            </p:stCondLst>
                            <p:childTnLst>
                              <p:par>
                                <p:cTn id="27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  <p:bldP spid="2" grpId="1" animBg="1"/>
      <p:bldP spid="2" grpId="2" animBg="1"/>
      <p:bldP spid="3" grpId="0" animBg="1"/>
      <p:bldP spid="3" grpId="1" animBg="1"/>
      <p:bldP spid="3" grpId="2" animBg="1"/>
      <p:bldP spid="4" grpId="0" animBg="1"/>
      <p:bldP spid="4" grpId="1" animBg="1"/>
      <p:bldP spid="4" grpId="2" animBg="1"/>
      <p:bldP spid="5" grpId="0" animBg="1"/>
      <p:bldP spid="5" grpId="1" animBg="1"/>
      <p:bldP spid="5" grpId="2" animBg="1"/>
      <p:bldP spid="6" grpId="0" animBg="1"/>
      <p:bldP spid="6" grpId="1" animBg="1"/>
      <p:bldP spid="6" grpId="2" animBg="1"/>
      <p:bldP spid="7" grpId="0" bldLvl="0" animBg="1"/>
      <p:bldP spid="7" grpId="1" animBg="1"/>
      <p:bldP spid="7" grpId="2" bldLvl="0" animBg="1"/>
      <p:bldP spid="9" grpId="0" bldLvl="0" animBg="1"/>
      <p:bldP spid="9" grpId="1" animBg="1"/>
      <p:bldP spid="9" grpId="2" animBg="1"/>
      <p:bldP spid="11" grpId="0" animBg="1"/>
      <p:bldP spid="11" grpId="1" animBg="1"/>
      <p:bldP spid="11" grpId="2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79512" y="260648"/>
            <a:ext cx="4288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  <a:cs typeface="Consolas" panose="020B0609020204030204" pitchFamily="49" charset="0"/>
              </a:rPr>
              <a:t>Fib(5)</a:t>
            </a:r>
            <a:r>
              <a:rPr lang="zh-CN" altLang="zh-CN" dirty="0" smtClean="0">
                <a:solidFill>
                  <a:srgbClr val="0000FF"/>
                </a:solidFill>
                <a:cs typeface="Consolas" panose="020B0609020204030204" pitchFamily="49" charset="0"/>
              </a:rPr>
              <a:t>时的输出结果</a:t>
            </a:r>
            <a:r>
              <a:rPr lang="zh-CN" altLang="en-US" dirty="0" smtClean="0">
                <a:solidFill>
                  <a:srgbClr val="0000FF"/>
                </a:solidFill>
                <a:cs typeface="Consolas" panose="020B0609020204030204" pitchFamily="49" charset="0"/>
              </a:rPr>
              <a:t>：</a:t>
            </a:r>
            <a:endParaRPr lang="zh-CN" altLang="en-US" dirty="0">
              <a:solidFill>
                <a:srgbClr val="0000FF"/>
              </a:solidFill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" y="835660"/>
            <a:ext cx="4194810" cy="5631180"/>
          </a:xfrm>
          <a:prstGeom prst="rect">
            <a:avLst/>
          </a:prstGeom>
          <a:solidFill>
            <a:srgbClr val="F8F8F8"/>
          </a:solidFill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zh-CN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  <a:r>
              <a:rPr lang="zh-CN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）求解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Fib(5)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  <a:r>
              <a:rPr lang="zh-CN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）求解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Fib(4)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）求解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Fib(3)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4</a:t>
            </a:r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）求解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Fib(2)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         Fib(2)=1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5</a:t>
            </a:r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）求解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Fib(1)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         Fib(1)=1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         Fib(3)=Fib(2)+Fib(1)=2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6</a:t>
            </a:r>
            <a:r>
              <a:rPr lang="zh-CN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）求解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Fib(2)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         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Fib(2)=1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         Fib(4)=Fib(3)+Fib(2)=3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7</a:t>
            </a:r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）求解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Fib(3)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8</a:t>
            </a:r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）求解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Fib(2)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         Fib(2)=1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9</a:t>
            </a:r>
            <a:r>
              <a:rPr lang="zh-CN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）求解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Fib(1)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         Fib(1)=1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         Fib(3)=Fib(2)+Fib(1)=2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  Fib(5)=Fib(4)+Fib(3)=5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" name="圆角矩形 1"/>
          <p:cNvSpPr/>
          <p:nvPr/>
        </p:nvSpPr>
        <p:spPr>
          <a:xfrm>
            <a:off x="6214740" y="1699576"/>
            <a:ext cx="1071570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Fib(5)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5" name="圆角矩形 4"/>
          <p:cNvSpPr/>
          <p:nvPr/>
        </p:nvSpPr>
        <p:spPr>
          <a:xfrm>
            <a:off x="5286678" y="2484124"/>
            <a:ext cx="1071570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Fib(4)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4572297" y="3244225"/>
            <a:ext cx="1071570" cy="428628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Fib(3)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5695939" y="3269625"/>
            <a:ext cx="1071570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Fib(2)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4286859" y="4086876"/>
            <a:ext cx="1071570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Fib(2)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5429551" y="4101481"/>
            <a:ext cx="1071570" cy="42862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Fib(1)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cxnSp>
        <p:nvCxnSpPr>
          <p:cNvPr id="13" name="直接连接符 12"/>
          <p:cNvCxnSpPr/>
          <p:nvPr/>
        </p:nvCxnSpPr>
        <p:spPr>
          <a:xfrm rot="5400000">
            <a:off x="4608414" y="3690713"/>
            <a:ext cx="428628" cy="392909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/>
          <p:cNvCxnSpPr/>
          <p:nvPr/>
        </p:nvCxnSpPr>
        <p:spPr>
          <a:xfrm rot="16200000" flipH="1">
            <a:off x="5269133" y="3726431"/>
            <a:ext cx="428630" cy="321473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stCxn id="5" idx="2"/>
          </p:cNvCxnSpPr>
          <p:nvPr/>
        </p:nvCxnSpPr>
        <p:spPr>
          <a:xfrm flipH="1">
            <a:off x="5219700" y="2912745"/>
            <a:ext cx="602615" cy="300355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/>
          <p:cNvCxnSpPr/>
          <p:nvPr/>
        </p:nvCxnSpPr>
        <p:spPr>
          <a:xfrm>
            <a:off x="5867400" y="2924810"/>
            <a:ext cx="576580" cy="360045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圆角矩形 20"/>
          <p:cNvSpPr/>
          <p:nvPr/>
        </p:nvSpPr>
        <p:spPr>
          <a:xfrm>
            <a:off x="7432998" y="2484124"/>
            <a:ext cx="1071570" cy="428628"/>
          </a:xfrm>
          <a:prstGeom prst="roundRect">
            <a:avLst/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Fib(3)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2" name="圆角矩形 21"/>
          <p:cNvSpPr/>
          <p:nvPr/>
        </p:nvSpPr>
        <p:spPr>
          <a:xfrm>
            <a:off x="6885384" y="3269615"/>
            <a:ext cx="1143000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Fib(2)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3" name="圆角矩形 22"/>
          <p:cNvSpPr/>
          <p:nvPr/>
        </p:nvSpPr>
        <p:spPr>
          <a:xfrm>
            <a:off x="8086154" y="3269615"/>
            <a:ext cx="1022350" cy="428625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Fib(1)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cxnSp>
        <p:nvCxnSpPr>
          <p:cNvPr id="24" name="直接连接符 23"/>
          <p:cNvCxnSpPr>
            <a:stCxn id="21" idx="2"/>
          </p:cNvCxnSpPr>
          <p:nvPr/>
        </p:nvCxnSpPr>
        <p:spPr>
          <a:xfrm rot="5400000">
            <a:off x="7558650" y="2930612"/>
            <a:ext cx="428628" cy="392909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/>
          <p:cNvCxnSpPr>
            <a:stCxn id="21" idx="2"/>
            <a:endCxn id="23" idx="0"/>
          </p:cNvCxnSpPr>
          <p:nvPr/>
        </p:nvCxnSpPr>
        <p:spPr>
          <a:xfrm>
            <a:off x="7968783" y="2912752"/>
            <a:ext cx="628546" cy="356863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/>
          <p:cNvCxnSpPr/>
          <p:nvPr/>
        </p:nvCxnSpPr>
        <p:spPr>
          <a:xfrm flipH="1">
            <a:off x="5723890" y="2132965"/>
            <a:ext cx="864235" cy="360045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/>
          <p:cNvCxnSpPr>
            <a:endCxn id="21" idx="0"/>
          </p:cNvCxnSpPr>
          <p:nvPr/>
        </p:nvCxnSpPr>
        <p:spPr>
          <a:xfrm>
            <a:off x="6767830" y="2127885"/>
            <a:ext cx="1201420" cy="356235"/>
          </a:xfrm>
          <a:prstGeom prst="line">
            <a:avLst/>
          </a:prstGeom>
          <a:ln>
            <a:tailEnd type="non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文本框 9"/>
          <p:cNvSpPr txBox="1"/>
          <p:nvPr/>
        </p:nvSpPr>
        <p:spPr>
          <a:xfrm>
            <a:off x="4363720" y="4658995"/>
            <a:ext cx="4574540" cy="1420495"/>
          </a:xfrm>
          <a:prstGeom prst="rect">
            <a:avLst/>
          </a:prstGeom>
          <a:solidFill>
            <a:schemeClr val="tx1"/>
          </a:solidFill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smtClean="0">
                <a:solidFill>
                  <a:srgbClr val="0000FF"/>
                </a:solidFill>
                <a:cs typeface="Consolas" panose="020B0609020204030204" pitchFamily="49" charset="0"/>
                <a:sym typeface="+mn-ea"/>
              </a:rPr>
              <a:t>计算过程中存在着重复计算，例如：存在两次重复计算</a:t>
            </a:r>
            <a:r>
              <a:rPr lang="en-US" smtClean="0">
                <a:solidFill>
                  <a:srgbClr val="0000FF"/>
                </a:solidFill>
                <a:cs typeface="Consolas" panose="020B0609020204030204" pitchFamily="49" charset="0"/>
                <a:sym typeface="+mn-ea"/>
              </a:rPr>
              <a:t>Fib(3)</a:t>
            </a:r>
            <a:r>
              <a:rPr lang="zh-CN" altLang="en-US" smtClean="0">
                <a:solidFill>
                  <a:srgbClr val="0000FF"/>
                </a:solidFill>
                <a:cs typeface="Consolas" panose="020B0609020204030204" pitchFamily="49" charset="0"/>
                <a:sym typeface="+mn-ea"/>
              </a:rPr>
              <a:t>值的情况。</a:t>
            </a:r>
            <a:endParaRPr lang="zh-CN" altLang="en-US"/>
          </a:p>
        </p:txBody>
      </p:sp>
      <p:sp>
        <p:nvSpPr>
          <p:cNvPr id="11" name="TextBox 2"/>
          <p:cNvSpPr txBox="1"/>
          <p:nvPr/>
        </p:nvSpPr>
        <p:spPr>
          <a:xfrm>
            <a:off x="4363720" y="743585"/>
            <a:ext cx="4288790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mtClean="0">
                <a:solidFill>
                  <a:srgbClr val="0000FF"/>
                </a:solidFill>
                <a:cs typeface="Consolas" panose="020B0609020204030204" pitchFamily="49" charset="0"/>
              </a:rPr>
              <a:t>自顶向下的求解过程：</a:t>
            </a:r>
            <a:endParaRPr lang="zh-CN" altLang="en-US">
              <a:solidFill>
                <a:srgbClr val="0000FF"/>
              </a:solidFill>
              <a:cs typeface="Consolas" panose="020B0609020204030204" pitchFamily="49" charset="0"/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163448" y="1484784"/>
            <a:ext cx="4048512" cy="1856597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163448" y="4262635"/>
            <a:ext cx="4048512" cy="1816855"/>
          </a:xfrm>
          <a:prstGeom prst="rect">
            <a:avLst/>
          </a:prstGeom>
          <a:noFill/>
          <a:ln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2" grpId="1" animBg="1"/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21" grpId="0" animBg="1"/>
      <p:bldP spid="21" grpId="1" animBg="1"/>
      <p:bldP spid="22" grpId="0" animBg="1"/>
      <p:bldP spid="22" grpId="1" animBg="1"/>
      <p:bldP spid="23" grpId="0" animBg="1"/>
      <p:bldP spid="23" grpId="1" animBg="1"/>
      <p:bldP spid="10" grpId="0" animBg="1"/>
      <p:bldP spid="10" grpId="1" animBg="1"/>
      <p:bldP spid="11" grpId="0"/>
      <p:bldP spid="11" grpId="1"/>
      <p:bldP spid="12" grpId="0" animBg="1"/>
      <p:bldP spid="26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42844" y="247310"/>
            <a:ext cx="8572560" cy="1551579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为此</a:t>
            </a:r>
            <a:r>
              <a:rPr lang="zh-CN" altLang="en-US" sz="2200" b="1" dirty="0" smtClean="0">
                <a:solidFill>
                  <a:srgbClr val="FF0000"/>
                </a:solidFill>
                <a:cs typeface="Consolas" panose="020B0609020204030204" pitchFamily="49" charset="0"/>
              </a:rPr>
              <a:t>避免重复设计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，设计一个</a:t>
            </a:r>
            <a:r>
              <a:rPr lang="en-US" sz="2200" b="1" i="1" dirty="0" err="1" smtClean="0">
                <a:solidFill>
                  <a:schemeClr val="bg2"/>
                </a:solidFill>
                <a:cs typeface="Consolas" panose="020B0609020204030204" pitchFamily="49" charset="0"/>
              </a:rPr>
              <a:t>dp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数组，</a:t>
            </a:r>
            <a:r>
              <a:rPr lang="en-US" sz="2200" b="1" i="1" dirty="0" err="1">
                <a:solidFill>
                  <a:schemeClr val="bg2"/>
                </a:solidFill>
                <a:cs typeface="Consolas" panose="020B0609020204030204" pitchFamily="49" charset="0"/>
              </a:rPr>
              <a:t>dp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[</a:t>
            </a:r>
            <a:r>
              <a:rPr lang="en-US" sz="2200" b="1" i="1" dirty="0">
                <a:solidFill>
                  <a:schemeClr val="bg2"/>
                </a:solidFill>
                <a:cs typeface="Consolas" panose="020B0609020204030204" pitchFamily="49" charset="0"/>
              </a:rPr>
              <a:t>i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]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存放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Fib(</a:t>
            </a:r>
            <a:r>
              <a:rPr lang="en-US" sz="2200" b="1" i="1" dirty="0">
                <a:solidFill>
                  <a:schemeClr val="bg2"/>
                </a:solidFill>
                <a:cs typeface="Consolas" panose="020B0609020204030204" pitchFamily="49" charset="0"/>
              </a:rPr>
              <a:t>i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)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的值，首先设置</a:t>
            </a:r>
            <a:r>
              <a:rPr lang="en-US" sz="2200" b="1" i="1" dirty="0" err="1">
                <a:solidFill>
                  <a:schemeClr val="bg2"/>
                </a:solidFill>
                <a:cs typeface="Consolas" panose="020B0609020204030204" pitchFamily="49" charset="0"/>
              </a:rPr>
              <a:t>dp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[1]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和</a:t>
            </a:r>
            <a:r>
              <a:rPr lang="en-US" sz="2200" b="1" i="1" dirty="0" err="1">
                <a:solidFill>
                  <a:schemeClr val="bg2"/>
                </a:solidFill>
                <a:cs typeface="Consolas" panose="020B0609020204030204" pitchFamily="49" charset="0"/>
              </a:rPr>
              <a:t>dp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[2]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均为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1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，再让</a:t>
            </a:r>
            <a:r>
              <a:rPr lang="en-US" sz="2200" i="1" dirty="0" smtClean="0">
                <a:solidFill>
                  <a:schemeClr val="bg2"/>
                </a:solidFill>
                <a:cs typeface="Consolas" panose="020B0609020204030204" pitchFamily="49" charset="0"/>
              </a:rPr>
              <a:t>i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从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3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到</a:t>
            </a:r>
            <a:r>
              <a:rPr lang="en-US" sz="2200" i="1" dirty="0" smtClean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循环以计算</a:t>
            </a:r>
            <a:r>
              <a:rPr lang="en-US" sz="2200" b="1" i="1" dirty="0" err="1">
                <a:solidFill>
                  <a:schemeClr val="bg2"/>
                </a:solidFill>
                <a:cs typeface="Consolas" panose="020B0609020204030204" pitchFamily="49" charset="0"/>
              </a:rPr>
              <a:t>dp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[3]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到</a:t>
            </a:r>
            <a:r>
              <a:rPr lang="en-US" sz="2200" b="1" i="1" dirty="0" err="1">
                <a:solidFill>
                  <a:schemeClr val="bg2"/>
                </a:solidFill>
                <a:cs typeface="Consolas" panose="020B0609020204030204" pitchFamily="49" charset="0"/>
              </a:rPr>
              <a:t>dp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[</a:t>
            </a:r>
            <a:r>
              <a:rPr lang="en-US" sz="2200" b="1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]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的值，最后返回</a:t>
            </a:r>
            <a:r>
              <a:rPr lang="en-US" sz="2200" b="1" i="1" dirty="0" err="1">
                <a:solidFill>
                  <a:schemeClr val="bg2"/>
                </a:solidFill>
                <a:cs typeface="Consolas" panose="020B0609020204030204" pitchFamily="49" charset="0"/>
              </a:rPr>
              <a:t>dp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[</a:t>
            </a:r>
            <a:r>
              <a:rPr lang="en-US" sz="2200" b="1" i="1" dirty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]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即</a:t>
            </a:r>
            <a:r>
              <a:rPr lang="en-US" sz="2200" b="1" i="1" dirty="0">
                <a:solidFill>
                  <a:schemeClr val="bg2"/>
                </a:solidFill>
                <a:cs typeface="Consolas" panose="020B0609020204030204" pitchFamily="49" charset="0"/>
              </a:rPr>
              <a:t>fib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(</a:t>
            </a:r>
            <a:r>
              <a:rPr lang="en-US" sz="2200" i="1" dirty="0" smtClean="0">
                <a:solidFill>
                  <a:schemeClr val="bg2"/>
                </a:solidFill>
                <a:cs typeface="Consolas" panose="020B0609020204030204" pitchFamily="49" charset="0"/>
              </a:rPr>
              <a:t>n</a:t>
            </a:r>
            <a:r>
              <a:rPr 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)</a:t>
            </a:r>
            <a:r>
              <a:rPr lang="zh-CN" altLang="en-US" sz="2200" dirty="0" smtClean="0">
                <a:solidFill>
                  <a:schemeClr val="bg2"/>
                </a:solidFill>
                <a:cs typeface="Consolas" panose="020B0609020204030204" pitchFamily="49" charset="0"/>
              </a:rPr>
              <a:t>。对应的算法如下：</a:t>
            </a:r>
            <a:endParaRPr lang="zh-CN" altLang="en-US" sz="2200" dirty="0" smtClean="0">
              <a:solidFill>
                <a:schemeClr val="bg2"/>
              </a:solidFill>
              <a:cs typeface="Consolas" panose="020B0609020204030204" pitchFamily="49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468589" y="1906905"/>
            <a:ext cx="5366499" cy="4052570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44000" tIns="180000" bIns="180000" rtlCol="0">
            <a:spAutoFit/>
          </a:bodyPr>
          <a:lstStyle/>
          <a:p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dp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[MAX];				</a:t>
            </a:r>
            <a:endParaRPr lang="zh-CN" altLang="zh-CN" sz="2000" dirty="0" smtClean="0">
              <a:solidFill>
                <a:srgbClr val="00B0F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count=1;				</a:t>
            </a:r>
            <a:endParaRPr lang="en-US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fib2(</a:t>
            </a:r>
            <a:r>
              <a:rPr lang="en-US" altLang="zh-CN" sz="2000" dirty="0" err="1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dirty="0" smtClean="0">
                <a:solidFill>
                  <a:srgbClr val="FF00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n)			</a:t>
            </a:r>
            <a:endParaRPr lang="zh-CN" altLang="zh-CN" sz="2000" dirty="0" smtClean="0">
              <a:solidFill>
                <a:srgbClr val="FF00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{  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dp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[1]=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dp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[2]=1;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("(%d)Fib(1)=1\</a:t>
            </a:r>
            <a:r>
              <a:rPr lang="en-US" altLang="zh-CN" sz="2000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n",count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++);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</a:t>
            </a:r>
            <a:r>
              <a:rPr lang="en-US" altLang="zh-CN" sz="2000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("(%d)Fib(2)=1\</a:t>
            </a:r>
            <a:r>
              <a:rPr lang="en-US" altLang="zh-CN" sz="2000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n",count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++);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for (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int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=3;i&lt;=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n;i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++)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{  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dp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]=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dp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[i-1]+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dp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[i-2];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   </a:t>
            </a:r>
            <a:r>
              <a:rPr lang="en-US" altLang="zh-CN" sz="2000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printf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("(%d)Fib(%d)=%d\</a:t>
            </a:r>
            <a:r>
              <a:rPr lang="en-US" altLang="zh-CN" sz="2000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n",count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++,</a:t>
            </a:r>
            <a:r>
              <a:rPr lang="en-US" altLang="zh-CN" sz="2000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i,dp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[</a:t>
            </a:r>
            <a:r>
              <a:rPr lang="en-US" altLang="zh-CN" sz="2000" dirty="0" err="1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i</a:t>
            </a:r>
            <a:r>
              <a:rPr lang="en-US" altLang="zh-CN" sz="2000" dirty="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]);</a:t>
            </a:r>
            <a:endParaRPr lang="zh-CN" altLang="zh-CN" sz="2000" dirty="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}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   return </a:t>
            </a:r>
            <a:r>
              <a:rPr lang="en-US" altLang="zh-CN" sz="2000" dirty="0" err="1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dp</a:t>
            </a:r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[n];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en-US" altLang="zh-CN" sz="2000" dirty="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}</a:t>
            </a:r>
            <a:endParaRPr lang="zh-CN" altLang="zh-CN" sz="2000" dirty="0" smtClean="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3" name="TextBox 1"/>
          <p:cNvSpPr txBox="1"/>
          <p:nvPr/>
        </p:nvSpPr>
        <p:spPr>
          <a:xfrm>
            <a:off x="5234940" y="1906905"/>
            <a:ext cx="3598545" cy="4298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200" smtClean="0">
                <a:solidFill>
                  <a:srgbClr val="0000FF"/>
                </a:solidFill>
                <a:cs typeface="Consolas" panose="020B0609020204030204" pitchFamily="49" charset="0"/>
              </a:rPr>
              <a:t>执行</a:t>
            </a:r>
            <a:r>
              <a:rPr lang="en-US" sz="2200" smtClean="0">
                <a:solidFill>
                  <a:srgbClr val="0000FF"/>
                </a:solidFill>
                <a:cs typeface="Consolas" panose="020B0609020204030204" pitchFamily="49" charset="0"/>
              </a:rPr>
              <a:t>fib(5)</a:t>
            </a:r>
            <a:r>
              <a:rPr lang="zh-CN" altLang="en-US" sz="2200" smtClean="0">
                <a:solidFill>
                  <a:srgbClr val="0000FF"/>
                </a:solidFill>
                <a:cs typeface="Consolas" panose="020B0609020204030204" pitchFamily="49" charset="0"/>
              </a:rPr>
              <a:t>时的输出如下</a:t>
            </a:r>
            <a:endParaRPr lang="zh-CN" altLang="en-US" sz="2200">
              <a:solidFill>
                <a:srgbClr val="0000FF"/>
              </a:solidFill>
              <a:cs typeface="Consolas" panose="020B0609020204030204" pitchFamily="49" charset="0"/>
            </a:endParaRPr>
          </a:p>
        </p:txBody>
      </p:sp>
      <p:sp>
        <p:nvSpPr>
          <p:cNvPr id="5" name="TextBox 2"/>
          <p:cNvSpPr txBox="1"/>
          <p:nvPr/>
        </p:nvSpPr>
        <p:spPr>
          <a:xfrm>
            <a:off x="5887159" y="2336800"/>
            <a:ext cx="2501265" cy="2051685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 lIns="180000" tIns="180000" bIns="180000" rtlCol="0">
            <a:spAutoFit/>
          </a:bodyPr>
          <a:lstStyle/>
          <a:p>
            <a:r>
              <a:rPr lang="zh-CN" alt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1</a:t>
            </a:r>
            <a:r>
              <a:rPr lang="zh-CN" alt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</a:t>
            </a:r>
            <a:r>
              <a:rPr 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fib(1)=1</a:t>
            </a:r>
            <a:endParaRPr lang="zh-CN" altLang="en-US" sz="220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2</a:t>
            </a:r>
            <a:r>
              <a:rPr lang="zh-CN" alt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</a:t>
            </a:r>
            <a:r>
              <a:rPr 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fib(2)=1</a:t>
            </a:r>
            <a:endParaRPr lang="zh-CN" altLang="en-US" sz="220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3</a:t>
            </a:r>
            <a:r>
              <a:rPr lang="zh-CN" alt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</a:t>
            </a:r>
            <a:r>
              <a:rPr 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fib(3)=2</a:t>
            </a:r>
            <a:endParaRPr lang="zh-CN" altLang="en-US" sz="220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4</a:t>
            </a:r>
            <a:r>
              <a:rPr lang="zh-CN" alt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</a:t>
            </a:r>
            <a:r>
              <a:rPr 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fib(4)=3</a:t>
            </a:r>
            <a:endParaRPr lang="zh-CN" altLang="en-US" sz="220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  <a:p>
            <a:r>
              <a:rPr lang="zh-CN" alt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（</a:t>
            </a:r>
            <a:r>
              <a:rPr 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5</a:t>
            </a:r>
            <a:r>
              <a:rPr lang="zh-CN" alt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）</a:t>
            </a:r>
            <a:r>
              <a:rPr lang="en-US" sz="2200" smtClean="0">
                <a:solidFill>
                  <a:srgbClr val="006600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fib(5)=5</a:t>
            </a:r>
            <a:endParaRPr lang="zh-CN" altLang="en-US" sz="2200" smtClean="0">
              <a:solidFill>
                <a:srgbClr val="006600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/>
      <p:bldP spid="3" grpId="1"/>
      <p:bldP spid="5" grpId="0" animBg="1"/>
      <p:bldP spid="5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23528" y="1628800"/>
            <a:ext cx="8424936" cy="131112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13111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其执行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过程为</a:t>
            </a:r>
            <a:r>
              <a:rPr lang="zh-CN" altLang="en-US" b="1" dirty="0">
                <a:solidFill>
                  <a:srgbClr val="FF000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+mn-ea"/>
                <a:ea typeface="+mn-ea"/>
                <a:cs typeface="Times New Roman" panose="02020603050405020304" pitchFamily="18" charset="0"/>
              </a:rPr>
              <a:t>自底向上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，即先求出子问题解，将计算结果存放在一张表中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(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数组</a:t>
            </a:r>
            <a:r>
              <a:rPr lang="en-US" altLang="zh-CN" b="1" i="1" dirty="0" err="1">
                <a:solidFill>
                  <a:schemeClr val="bg1"/>
                </a:solidFill>
                <a:ea typeface="+mn-ea"/>
                <a:cs typeface="Times New Roman" panose="02020603050405020304" pitchFamily="18" charset="0"/>
              </a:rPr>
              <a:t>dp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)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，且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相同的子问题只计算一次，在后面需要时只有简单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查表</a:t>
            </a:r>
            <a:r>
              <a:rPr lang="en-US" altLang="zh-CN" b="1" i="1" dirty="0" err="1">
                <a:solidFill>
                  <a:schemeClr val="bg1"/>
                </a:solidFill>
                <a:cs typeface="Times New Roman" panose="02020603050405020304" pitchFamily="18" charset="0"/>
              </a:rPr>
              <a:t>dp</a:t>
            </a:r>
            <a:r>
              <a:rPr lang="en-US" altLang="zh-CN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 </a:t>
            </a:r>
            <a:r>
              <a:rPr lang="zh-CN" altLang="en-US" dirty="0" smtClean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，避免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大量的重复计算。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6" name="圆角矩形 5"/>
          <p:cNvSpPr/>
          <p:nvPr/>
        </p:nvSpPr>
        <p:spPr>
          <a:xfrm>
            <a:off x="3857620" y="2880296"/>
            <a:ext cx="1071570" cy="42862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Fib(5)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7" name="圆角矩形 6"/>
          <p:cNvSpPr/>
          <p:nvPr/>
        </p:nvSpPr>
        <p:spPr>
          <a:xfrm>
            <a:off x="2500298" y="3666114"/>
            <a:ext cx="1071570" cy="42862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Fib(4)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428992" y="4523370"/>
            <a:ext cx="1071570" cy="42862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Fib(3)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9" name="圆角矩形 8"/>
          <p:cNvSpPr/>
          <p:nvPr/>
        </p:nvSpPr>
        <p:spPr>
          <a:xfrm>
            <a:off x="1857356" y="4523370"/>
            <a:ext cx="1071570" cy="428628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Fib(2)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10" name="圆角矩形 9"/>
          <p:cNvSpPr/>
          <p:nvPr/>
        </p:nvSpPr>
        <p:spPr>
          <a:xfrm>
            <a:off x="2714612" y="5380626"/>
            <a:ext cx="1071570" cy="42862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Fib(2)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11" name="圆角矩形 10"/>
          <p:cNvSpPr/>
          <p:nvPr/>
        </p:nvSpPr>
        <p:spPr>
          <a:xfrm>
            <a:off x="4071934" y="5880692"/>
            <a:ext cx="1071570" cy="428628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Fib(1)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cxnSp>
        <p:nvCxnSpPr>
          <p:cNvPr id="12" name="直接连接符 11"/>
          <p:cNvCxnSpPr>
            <a:stCxn id="8" idx="2"/>
          </p:cNvCxnSpPr>
          <p:nvPr/>
        </p:nvCxnSpPr>
        <p:spPr>
          <a:xfrm rot="5400000">
            <a:off x="3554009" y="4969858"/>
            <a:ext cx="428628" cy="392909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3" name="直接连接符 12"/>
          <p:cNvCxnSpPr>
            <a:stCxn id="8" idx="2"/>
            <a:endCxn id="11" idx="0"/>
          </p:cNvCxnSpPr>
          <p:nvPr/>
        </p:nvCxnSpPr>
        <p:spPr>
          <a:xfrm rot="16200000" flipH="1">
            <a:off x="3821901" y="5094874"/>
            <a:ext cx="928694" cy="642942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4" name="直接连接符 13"/>
          <p:cNvCxnSpPr>
            <a:stCxn id="7" idx="2"/>
          </p:cNvCxnSpPr>
          <p:nvPr/>
        </p:nvCxnSpPr>
        <p:spPr>
          <a:xfrm rot="5400000">
            <a:off x="2553877" y="4041164"/>
            <a:ext cx="428628" cy="535785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sp>
        <p:nvSpPr>
          <p:cNvPr id="15" name="圆角矩形 14"/>
          <p:cNvSpPr/>
          <p:nvPr/>
        </p:nvSpPr>
        <p:spPr>
          <a:xfrm>
            <a:off x="5357818" y="3666114"/>
            <a:ext cx="1071570" cy="428628"/>
          </a:xfrm>
          <a:prstGeom prst="roundRect">
            <a:avLst/>
          </a:prstGeom>
          <a:solidFill>
            <a:srgbClr val="00B0F0"/>
          </a:solidFill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800" smtClean="0">
                <a:solidFill>
                  <a:srgbClr val="0000FF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Consolas" panose="020B0609020204030204" pitchFamily="49" charset="0"/>
              </a:rPr>
              <a:t>Fib(3)</a:t>
            </a:r>
            <a:endParaRPr lang="zh-CN" altLang="en-US" sz="1800">
              <a:solidFill>
                <a:srgbClr val="0000FF"/>
              </a:solidFill>
              <a:latin typeface="Times New Roman" panose="02020603050405020304" pitchFamily="18" charset="0"/>
              <a:ea typeface="宋体" panose="02010600030101010101" pitchFamily="2" charset="-122"/>
              <a:cs typeface="Consolas" panose="020B0609020204030204" pitchFamily="49" charset="0"/>
            </a:endParaRPr>
          </a:p>
        </p:txBody>
      </p:sp>
      <p:cxnSp>
        <p:nvCxnSpPr>
          <p:cNvPr id="16" name="直接连接符 15"/>
          <p:cNvCxnSpPr>
            <a:stCxn id="6" idx="2"/>
          </p:cNvCxnSpPr>
          <p:nvPr/>
        </p:nvCxnSpPr>
        <p:spPr>
          <a:xfrm rot="5400000">
            <a:off x="3768323" y="3041032"/>
            <a:ext cx="357190" cy="892975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7" name="直接连接符 16"/>
          <p:cNvCxnSpPr>
            <a:stCxn id="6" idx="2"/>
          </p:cNvCxnSpPr>
          <p:nvPr/>
        </p:nvCxnSpPr>
        <p:spPr>
          <a:xfrm rot="16200000" flipH="1">
            <a:off x="4661297" y="3041031"/>
            <a:ext cx="428628" cy="964413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cxnSp>
        <p:nvCxnSpPr>
          <p:cNvPr id="18" name="直接连接符 17"/>
          <p:cNvCxnSpPr>
            <a:stCxn id="7" idx="2"/>
          </p:cNvCxnSpPr>
          <p:nvPr/>
        </p:nvCxnSpPr>
        <p:spPr>
          <a:xfrm rot="16200000" flipH="1">
            <a:off x="3053942" y="4076882"/>
            <a:ext cx="428628" cy="464347"/>
          </a:xfrm>
          <a:prstGeom prst="line">
            <a:avLst/>
          </a:prstGeom>
          <a:ln>
            <a:tailEnd type="none"/>
          </a:ln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</p:cxnSp>
      <p:sp>
        <p:nvSpPr>
          <p:cNvPr id="19" name="TextBox 18"/>
          <p:cNvSpPr txBox="1"/>
          <p:nvPr/>
        </p:nvSpPr>
        <p:spPr>
          <a:xfrm>
            <a:off x="5076056" y="4595118"/>
            <a:ext cx="14401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spc="300" dirty="0" smtClean="0">
                <a:solidFill>
                  <a:srgbClr val="0000FF"/>
                </a:solidFill>
              </a:rPr>
              <a:t>查表</a:t>
            </a:r>
            <a:r>
              <a:rPr lang="en-US" altLang="zh-CN" sz="1800" b="1" i="1" spc="300" dirty="0" err="1">
                <a:solidFill>
                  <a:srgbClr val="0000FF"/>
                </a:solidFill>
              </a:rPr>
              <a:t>dp</a:t>
            </a:r>
            <a:r>
              <a:rPr lang="en-US" altLang="zh-CN" sz="1800" spc="300" dirty="0" smtClean="0">
                <a:solidFill>
                  <a:srgbClr val="0000FF"/>
                </a:solidFill>
              </a:rPr>
              <a:t>[3]</a:t>
            </a:r>
            <a:endParaRPr lang="en-US" altLang="zh-CN" sz="1800" spc="300" dirty="0" smtClean="0">
              <a:solidFill>
                <a:srgbClr val="0000FF"/>
              </a:solidFill>
            </a:endParaRPr>
          </a:p>
          <a:p>
            <a:pPr algn="ctr"/>
            <a:r>
              <a:rPr lang="zh-CN" altLang="en-US" sz="1800" spc="300" dirty="0" smtClean="0">
                <a:solidFill>
                  <a:srgbClr val="0000FF"/>
                </a:solidFill>
              </a:rPr>
              <a:t>得到</a:t>
            </a:r>
            <a:endParaRPr lang="zh-CN" altLang="en-US" sz="1800" spc="300" dirty="0">
              <a:solidFill>
                <a:srgbClr val="0000FF"/>
              </a:solidFill>
            </a:endParaRPr>
          </a:p>
        </p:txBody>
      </p:sp>
      <p:cxnSp>
        <p:nvCxnSpPr>
          <p:cNvPr id="20" name="直接箭头连接符 19"/>
          <p:cNvCxnSpPr>
            <a:endCxn id="15" idx="2"/>
          </p:cNvCxnSpPr>
          <p:nvPr/>
        </p:nvCxnSpPr>
        <p:spPr>
          <a:xfrm flipV="1">
            <a:off x="5652135" y="4094738"/>
            <a:ext cx="241935" cy="58102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83568" y="5452064"/>
            <a:ext cx="1673854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800" spc="300" dirty="0" smtClean="0">
                <a:solidFill>
                  <a:srgbClr val="0000FF"/>
                </a:solidFill>
              </a:rPr>
              <a:t>查表</a:t>
            </a:r>
            <a:r>
              <a:rPr lang="en-US" altLang="zh-CN" sz="1800" b="1" i="1" spc="300" dirty="0" err="1" smtClean="0">
                <a:solidFill>
                  <a:srgbClr val="0000FF"/>
                </a:solidFill>
              </a:rPr>
              <a:t>dp</a:t>
            </a:r>
            <a:r>
              <a:rPr lang="en-US" altLang="zh-CN" sz="1800" spc="300" dirty="0" smtClean="0">
                <a:solidFill>
                  <a:srgbClr val="0000FF"/>
                </a:solidFill>
              </a:rPr>
              <a:t>[2]</a:t>
            </a:r>
            <a:endParaRPr lang="en-US" altLang="zh-CN" sz="1800" spc="300" dirty="0" smtClean="0">
              <a:solidFill>
                <a:srgbClr val="0000FF"/>
              </a:solidFill>
            </a:endParaRPr>
          </a:p>
          <a:p>
            <a:pPr algn="ctr"/>
            <a:r>
              <a:rPr lang="zh-CN" altLang="en-US" sz="1800" spc="300" dirty="0" smtClean="0">
                <a:solidFill>
                  <a:srgbClr val="0000FF"/>
                </a:solidFill>
              </a:rPr>
              <a:t>得到</a:t>
            </a:r>
            <a:endParaRPr lang="zh-CN" altLang="en-US" sz="1800" spc="300" dirty="0">
              <a:solidFill>
                <a:srgbClr val="0000FF"/>
              </a:solidFill>
            </a:endParaRPr>
          </a:p>
        </p:txBody>
      </p:sp>
      <p:cxnSp>
        <p:nvCxnSpPr>
          <p:cNvPr id="22" name="直接箭头连接符 21"/>
          <p:cNvCxnSpPr>
            <a:stCxn id="21" idx="0"/>
          </p:cNvCxnSpPr>
          <p:nvPr/>
        </p:nvCxnSpPr>
        <p:spPr>
          <a:xfrm flipV="1">
            <a:off x="1520495" y="4951998"/>
            <a:ext cx="408301" cy="50006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4" name="文本框 13"/>
          <p:cNvSpPr txBox="1"/>
          <p:nvPr/>
        </p:nvSpPr>
        <p:spPr>
          <a:xfrm>
            <a:off x="7017975" y="3341747"/>
            <a:ext cx="171323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>
                <a:solidFill>
                  <a:srgbClr val="FF0000"/>
                </a:solidFill>
              </a:rPr>
              <a:t>备忘录方法</a:t>
            </a:r>
            <a:endParaRPr lang="zh-CN" altLang="en-US" b="1">
              <a:solidFill>
                <a:srgbClr val="FF0000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5" grpId="0" animBg="1"/>
      <p:bldP spid="15" grpId="1" animBg="1"/>
      <p:bldP spid="19" grpId="0"/>
      <p:bldP spid="19" grpId="1"/>
      <p:bldP spid="21" grpId="0"/>
      <p:bldP spid="21" grpId="1"/>
      <p:bldP spid="24" grpId="0"/>
      <p:bldP spid="2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23215" y="1628775"/>
            <a:ext cx="8582025" cy="1208405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zh-CN" sz="2400" b="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动态规划是</a:t>
            </a:r>
            <a:r>
              <a:rPr lang="zh-CN" altLang="zh-CN" sz="2400" b="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解决多阶段决策</a:t>
            </a:r>
            <a:r>
              <a:rPr lang="zh-CN" altLang="zh-CN" sz="2400" b="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问题的优化方</a:t>
            </a:r>
            <a:r>
              <a:rPr lang="zh-CN" altLang="en-US" sz="2400" b="0" dirty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法</a:t>
            </a:r>
            <a:r>
              <a:rPr lang="zh-CN" altLang="zh-CN" sz="2400" b="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。把多阶段转化为一系列单阶段问题</a:t>
            </a:r>
            <a:r>
              <a:rPr lang="zh-CN" altLang="en-US" sz="2400" b="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zh-CN" sz="2400" b="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利用各阶段之间的关系</a:t>
            </a:r>
            <a:r>
              <a:rPr lang="zh-CN" altLang="en-US" sz="2400" b="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，</a:t>
            </a:r>
            <a:r>
              <a:rPr lang="zh-CN" altLang="zh-CN" sz="2400" b="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逐个求解。</a:t>
            </a:r>
            <a:endParaRPr lang="zh-CN" altLang="zh-CN" sz="2400" b="0" dirty="0" smtClean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R="0" lvl="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宋体" panose="02010600030101010101" pitchFamily="2" charset="-122"/>
                <a:ea typeface="宋体" panose="02010600030101010101" pitchFamily="2" charset="-122"/>
                <a:cs typeface="+mj-ea"/>
              </a:rPr>
              <a:t>举例：</a:t>
            </a:r>
            <a:r>
              <a:rPr lang="zh-CN" altLang="zh-CN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在</a:t>
            </a:r>
            <a:r>
              <a:rPr lang="en-US" altLang="zh-CN" sz="2400" b="1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zh-CN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处有一水库</a:t>
            </a:r>
            <a:r>
              <a:rPr lang="zh-CN" altLang="en-US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</a:t>
            </a:r>
            <a:r>
              <a:rPr lang="zh-CN" altLang="zh-CN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现需要从</a:t>
            </a:r>
            <a:r>
              <a:rPr lang="en-US" altLang="zh-CN" sz="2400" b="1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zh-CN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点铺设一条管道到</a:t>
            </a:r>
            <a:r>
              <a:rPr lang="en-US" altLang="zh-CN" sz="2400" b="1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zh-CN" altLang="zh-CN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点</a:t>
            </a:r>
            <a:r>
              <a:rPr lang="zh-CN" altLang="en-US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。</a:t>
            </a:r>
            <a:r>
              <a:rPr lang="zh-CN" altLang="zh-CN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边上的数字表示与其相连的两个地点之间所需修建的管道长度。现要找出一条从</a:t>
            </a:r>
            <a:r>
              <a:rPr lang="en-US" altLang="zh-CN" sz="2400" b="1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zh-CN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到</a:t>
            </a:r>
            <a:r>
              <a:rPr lang="en-US" altLang="zh-CN" sz="2400" b="1" i="1" dirty="0" smtClean="0">
                <a:solidFill>
                  <a:schemeClr val="bg1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  <a:sym typeface="+mn-ea"/>
              </a:rPr>
              <a:t>E</a:t>
            </a:r>
            <a:r>
              <a:rPr lang="zh-CN" altLang="zh-CN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的修建线路</a:t>
            </a:r>
            <a:r>
              <a:rPr lang="zh-CN" altLang="en-US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，</a:t>
            </a:r>
            <a:r>
              <a:rPr lang="zh-CN" altLang="zh-CN" sz="2400" dirty="0" smtClean="0">
                <a:solidFill>
                  <a:schemeClr val="bg1"/>
                </a:solidFill>
                <a:latin typeface="楷体" panose="02010609060101010101" pitchFamily="49" charset="-122"/>
                <a:ea typeface="楷体" panose="02010609060101010101" pitchFamily="49" charset="-122"/>
                <a:cs typeface="楷体" panose="02010609060101010101" pitchFamily="49" charset="-122"/>
                <a:sym typeface="+mn-ea"/>
              </a:rPr>
              <a:t>使得所需修建的管道长度最短。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楷体" panose="02010609060101010101" pitchFamily="49" charset="-122"/>
              <a:ea typeface="宋体" panose="02010600030101010101" pitchFamily="2" charset="-122"/>
              <a:cs typeface="楷体" panose="02010609060101010101" pitchFamily="49" charset="-122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1873250" y="3767455"/>
            <a:ext cx="5690870" cy="2528424"/>
            <a:chOff x="1000100" y="2786058"/>
            <a:chExt cx="6357982" cy="3138497"/>
          </a:xfrm>
        </p:grpSpPr>
        <p:sp>
          <p:nvSpPr>
            <p:cNvPr id="4" name="椭圆 3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" name="直接箭头连接符 15"/>
            <p:cNvCxnSpPr>
              <a:stCxn id="4" idx="7"/>
              <a:endCxn id="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714480" y="3429000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9" name="直接箭头连接符 18"/>
            <p:cNvCxnSpPr>
              <a:stCxn id="4" idx="6"/>
              <a:endCxn id="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4" idx="5"/>
              <a:endCxn id="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6" idx="6"/>
              <a:endCxn id="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6" idx="5"/>
              <a:endCxn id="1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7" idx="6"/>
              <a:endCxn id="1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7" idx="7"/>
              <a:endCxn id="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7" idx="5"/>
              <a:endCxn id="1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endCxn id="1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8" idx="6"/>
              <a:endCxn id="1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9" idx="6"/>
              <a:endCxn id="1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9" idx="5"/>
              <a:endCxn id="1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10" idx="7"/>
              <a:endCxn id="1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10" idx="5"/>
              <a:endCxn id="1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11" idx="6"/>
              <a:endCxn id="1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stCxn id="11" idx="7"/>
              <a:endCxn id="1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>
              <a:stCxn id="12" idx="6"/>
              <a:endCxn id="1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13" idx="6"/>
              <a:endCxn id="1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1866880" y="4000504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28794" y="4786322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928926" y="2786058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954326" y="3139301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908288" y="3740152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000364" y="4038604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844788" y="4941898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997188" y="5580893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786314" y="2928934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714876" y="3332977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500562" y="3794943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572000" y="4286256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441824" y="4866513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760914" y="5454664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143636" y="4559308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215074" y="3500438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000364" y="4357694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3" name="直接箭头连接符 72"/>
            <p:cNvCxnSpPr>
              <a:stCxn id="8" idx="7"/>
              <a:endCxn id="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3149588" y="5214950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pSp>
        <p:nvGrpSpPr>
          <p:cNvPr id="78" name="组合 77"/>
          <p:cNvGrpSpPr/>
          <p:nvPr/>
        </p:nvGrpSpPr>
        <p:grpSpPr>
          <a:xfrm>
            <a:off x="1432560" y="1770380"/>
            <a:ext cx="5690870" cy="2528424"/>
            <a:chOff x="1000100" y="2786058"/>
            <a:chExt cx="6357982" cy="3138497"/>
          </a:xfrm>
        </p:grpSpPr>
        <p:sp>
          <p:nvSpPr>
            <p:cNvPr id="4" name="椭圆 3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20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" name="直接箭头连接符 15"/>
            <p:cNvCxnSpPr>
              <a:stCxn id="4" idx="7"/>
              <a:endCxn id="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7" name="TextBox 16"/>
            <p:cNvSpPr txBox="1"/>
            <p:nvPr/>
          </p:nvSpPr>
          <p:spPr>
            <a:xfrm>
              <a:off x="1714480" y="3429000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9" name="直接箭头连接符 18"/>
            <p:cNvCxnSpPr>
              <a:stCxn id="4" idx="6"/>
              <a:endCxn id="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4" idx="5"/>
              <a:endCxn id="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stCxn id="6" idx="6"/>
              <a:endCxn id="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6" idx="5"/>
              <a:endCxn id="1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7" idx="6"/>
              <a:endCxn id="1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7" idx="7"/>
              <a:endCxn id="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7" idx="5"/>
              <a:endCxn id="1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4" name="直接箭头连接符 33"/>
            <p:cNvCxnSpPr>
              <a:endCxn id="1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>
              <a:stCxn id="8" idx="6"/>
              <a:endCxn id="1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8" name="直接箭头连接符 37"/>
            <p:cNvCxnSpPr>
              <a:stCxn id="9" idx="6"/>
              <a:endCxn id="1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0" name="直接箭头连接符 39"/>
            <p:cNvCxnSpPr>
              <a:stCxn id="9" idx="5"/>
              <a:endCxn id="1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3" name="直接箭头连接符 42"/>
            <p:cNvCxnSpPr>
              <a:stCxn id="10" idx="7"/>
              <a:endCxn id="1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直接箭头连接符 44"/>
            <p:cNvCxnSpPr>
              <a:stCxn id="10" idx="5"/>
              <a:endCxn id="1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7" name="直接箭头连接符 46"/>
            <p:cNvCxnSpPr>
              <a:stCxn id="11" idx="6"/>
              <a:endCxn id="1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直接箭头连接符 48"/>
            <p:cNvCxnSpPr>
              <a:stCxn id="11" idx="7"/>
              <a:endCxn id="1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2" name="直接箭头连接符 51"/>
            <p:cNvCxnSpPr>
              <a:stCxn id="12" idx="6"/>
              <a:endCxn id="1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54" name="直接箭头连接符 53"/>
            <p:cNvCxnSpPr>
              <a:stCxn id="13" idx="6"/>
              <a:endCxn id="1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5" name="TextBox 54"/>
            <p:cNvSpPr txBox="1"/>
            <p:nvPr/>
          </p:nvSpPr>
          <p:spPr>
            <a:xfrm>
              <a:off x="1866880" y="4000504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28794" y="4786322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928926" y="2786058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8" name="TextBox 57"/>
            <p:cNvSpPr txBox="1"/>
            <p:nvPr/>
          </p:nvSpPr>
          <p:spPr>
            <a:xfrm>
              <a:off x="2954326" y="3139301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9" name="TextBox 58"/>
            <p:cNvSpPr txBox="1"/>
            <p:nvPr/>
          </p:nvSpPr>
          <p:spPr>
            <a:xfrm>
              <a:off x="2908288" y="3740152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3000364" y="4038604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844788" y="4941898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997188" y="5580893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4786314" y="2928934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4714876" y="3332977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500562" y="3794943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4572000" y="4286256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441824" y="4866513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760914" y="5454664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6143636" y="4559308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6215074" y="3500438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3000364" y="4357694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73" name="直接箭头连接符 72"/>
            <p:cNvCxnSpPr>
              <a:stCxn id="8" idx="7"/>
              <a:endCxn id="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5" name="TextBox 74"/>
            <p:cNvSpPr txBox="1"/>
            <p:nvPr/>
          </p:nvSpPr>
          <p:spPr>
            <a:xfrm>
              <a:off x="3149588" y="5214950"/>
              <a:ext cx="214314" cy="343662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15" name="TextBox 76"/>
          <p:cNvSpPr txBox="1"/>
          <p:nvPr/>
        </p:nvSpPr>
        <p:spPr>
          <a:xfrm>
            <a:off x="395536" y="4450715"/>
            <a:ext cx="5976054" cy="1631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bg2"/>
                </a:solidFill>
              </a14:hiddenFill>
            </a:ext>
          </a:extLst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000"/>
              </a:lnSpc>
              <a:buFont typeface="Wingdings" panose="05000000000000000000" charset="0"/>
              <a:buChar char="l"/>
            </a:pP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使用贪婪算法求解该问题，得到的解为：</a:t>
            </a:r>
            <a:endParaRPr lang="zh-CN" altLang="en-US" sz="2200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ts val="3000"/>
              </a:lnSpc>
              <a:buFont typeface="Wingdings" panose="05000000000000000000" charset="0"/>
            </a:pP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    </a:t>
            </a:r>
            <a:r>
              <a:rPr lang="en-US" altLang="zh-CN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(1)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顺序：</a:t>
            </a:r>
            <a:r>
              <a:rPr lang="zh-CN" altLang="en-US" sz="2200" b="1" i="1" dirty="0" smtClean="0">
                <a:solidFill>
                  <a:schemeClr val="bg1"/>
                </a:solidFill>
                <a:cs typeface="Times New Roman" panose="02020603050405020304" pitchFamily="18" charset="0"/>
              </a:rPr>
              <a:t>A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→</a:t>
            </a:r>
            <a:r>
              <a:rPr lang="zh-CN" altLang="en-US" sz="2200" b="1" i="1" dirty="0">
                <a:solidFill>
                  <a:schemeClr val="bg1"/>
                </a:solidFill>
                <a:cs typeface="Times New Roman" panose="02020603050405020304" pitchFamily="18" charset="0"/>
              </a:rPr>
              <a:t>B</a:t>
            </a:r>
            <a:r>
              <a:rPr lang="zh-CN" altLang="en-US" sz="2200" baseline="-250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200" baseline="-25000" dirty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200" baseline="-25000" dirty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 smtClean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(13)</a:t>
            </a:r>
            <a:endParaRPr lang="en-US" altLang="zh-CN" sz="2200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ts val="3000"/>
              </a:lnSpc>
              <a:buFont typeface="Wingdings" panose="05000000000000000000" charset="0"/>
            </a:pPr>
            <a:r>
              <a:rPr lang="en-US" altLang="zh-CN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(2)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逆序：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200" baseline="-25000" dirty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200" baseline="-25000" dirty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200" baseline="-25000" dirty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 smtClean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(13)</a:t>
            </a:r>
            <a:endParaRPr lang="en-US" altLang="zh-CN" sz="2200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ts val="3000"/>
              </a:lnSpc>
              <a:buFont typeface="Wingdings" panose="05000000000000000000" charset="0"/>
              <a:buChar char="l"/>
            </a:pP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真正的最优解是：</a:t>
            </a:r>
            <a:r>
              <a:rPr lang="zh-CN" altLang="en-US" sz="2200" b="1" i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zh-CN" altLang="en-US" sz="2200" b="1" i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z="2200" baseline="-25000" dirty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z="2200" baseline="-25000" dirty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z="2200" baseline="-25000" dirty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→</a:t>
            </a:r>
            <a:r>
              <a:rPr lang="en-US" altLang="zh-CN" sz="2200" b="1" i="1" dirty="0" smtClean="0">
                <a:solidFill>
                  <a:schemeClr val="bg1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z="2200" dirty="0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(12)</a:t>
            </a:r>
            <a:endParaRPr lang="zh-CN" altLang="en-US" sz="2200" dirty="0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6371590" y="4797152"/>
            <a:ext cx="2019300" cy="82994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none" rtlCol="0">
            <a:spAutoFit/>
          </a:bodyPr>
          <a:lstStyle/>
          <a:p>
            <a:pPr algn="l"/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贪婪算法</a:t>
            </a:r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  <a:sym typeface="+mn-ea"/>
              </a:rPr>
              <a:t>无法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  <a:sym typeface="+mn-ea"/>
            </a:endParaRPr>
          </a:p>
          <a:p>
            <a:pPr algn="l"/>
            <a:r>
              <a:rPr lang="zh-CN" altLang="en-US" b="1" dirty="0">
                <a:solidFill>
                  <a:srgbClr val="FF0000"/>
                </a:solidFill>
                <a:latin typeface="宋体" panose="02010600030101010101" pitchFamily="2" charset="-122"/>
              </a:rPr>
              <a:t>得到最优解</a:t>
            </a:r>
            <a:endParaRPr lang="zh-CN" altLang="en-US" b="1" dirty="0">
              <a:solidFill>
                <a:srgbClr val="FF0000"/>
              </a:solidFill>
              <a:latin typeface="宋体" panose="02010600030101010101" pitchFamily="2" charset="-122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1"/>
      <p:bldP spid="20" grpId="0" bldLvl="0" animBg="1"/>
      <p:bldP spid="20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椭圆 17"/>
          <p:cNvSpPr/>
          <p:nvPr/>
        </p:nvSpPr>
        <p:spPr>
          <a:xfrm>
            <a:off x="1502385" y="4000504"/>
            <a:ext cx="428628" cy="500066"/>
          </a:xfrm>
          <a:prstGeom prst="ellipse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endParaRPr lang="en-US" altLang="zh-CN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" name="椭圆 21"/>
          <p:cNvSpPr/>
          <p:nvPr/>
        </p:nvSpPr>
        <p:spPr>
          <a:xfrm>
            <a:off x="2859383" y="2786058"/>
            <a:ext cx="500390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3" name="椭圆 22"/>
          <p:cNvSpPr/>
          <p:nvPr/>
        </p:nvSpPr>
        <p:spPr>
          <a:xfrm>
            <a:off x="2859383" y="4000504"/>
            <a:ext cx="500390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aseline="-250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aseline="-25000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椭圆 24"/>
          <p:cNvSpPr/>
          <p:nvPr/>
        </p:nvSpPr>
        <p:spPr>
          <a:xfrm>
            <a:off x="2859383" y="5214950"/>
            <a:ext cx="500390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</a:t>
            </a:r>
            <a:r>
              <a:rPr lang="en-US" altLang="zh-CN" baseline="-2500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aseline="-25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7" name="椭圆 26"/>
          <p:cNvSpPr/>
          <p:nvPr/>
        </p:nvSpPr>
        <p:spPr>
          <a:xfrm>
            <a:off x="4574219" y="2786058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-2500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椭圆 28"/>
          <p:cNvSpPr/>
          <p:nvPr/>
        </p:nvSpPr>
        <p:spPr>
          <a:xfrm>
            <a:off x="4574219" y="4000504"/>
            <a:ext cx="571504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-2500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aseline="-25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椭圆 30"/>
          <p:cNvSpPr/>
          <p:nvPr/>
        </p:nvSpPr>
        <p:spPr>
          <a:xfrm>
            <a:off x="4574218" y="5214950"/>
            <a:ext cx="487809" cy="50006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US" altLang="zh-CN" baseline="-2500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baseline="-25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椭圆 32"/>
          <p:cNvSpPr/>
          <p:nvPr/>
        </p:nvSpPr>
        <p:spPr>
          <a:xfrm>
            <a:off x="5940152" y="3429000"/>
            <a:ext cx="500380" cy="5003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baseline="-25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5" name="椭圆 34"/>
          <p:cNvSpPr/>
          <p:nvPr/>
        </p:nvSpPr>
        <p:spPr>
          <a:xfrm>
            <a:off x="5930900" y="4648835"/>
            <a:ext cx="572135" cy="50038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lang="en-US" altLang="zh-CN" baseline="-2500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baseline="-2500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7431739" y="4000504"/>
            <a:ext cx="428628" cy="500066"/>
          </a:xfrm>
          <a:prstGeom prst="ellipse">
            <a:avLst/>
          </a:prstGeom>
          <a:solidFill>
            <a:srgbClr val="00B05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zh-CN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</a:t>
            </a:r>
            <a:endParaRPr lang="en-US" altLang="zh-CN" baseline="-25000" smtClean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39" name="直接箭头连接符 38"/>
          <p:cNvCxnSpPr>
            <a:stCxn id="18" idx="7"/>
            <a:endCxn id="22" idx="2"/>
          </p:cNvCxnSpPr>
          <p:nvPr/>
        </p:nvCxnSpPr>
        <p:spPr>
          <a:xfrm flipV="1">
            <a:off x="1868242" y="3036091"/>
            <a:ext cx="991141" cy="10376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1" name="TextBox 16"/>
          <p:cNvSpPr txBox="1"/>
          <p:nvPr/>
        </p:nvSpPr>
        <p:spPr>
          <a:xfrm>
            <a:off x="2359641" y="3143248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42" name="直接箭头连接符 41"/>
          <p:cNvCxnSpPr>
            <a:stCxn id="18" idx="6"/>
            <a:endCxn id="23" idx="2"/>
          </p:cNvCxnSpPr>
          <p:nvPr/>
        </p:nvCxnSpPr>
        <p:spPr>
          <a:xfrm>
            <a:off x="1931013" y="4250537"/>
            <a:ext cx="928370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>
            <a:stCxn id="18" idx="5"/>
            <a:endCxn id="25" idx="2"/>
          </p:cNvCxnSpPr>
          <p:nvPr/>
        </p:nvCxnSpPr>
        <p:spPr>
          <a:xfrm>
            <a:off x="1868242" y="4427337"/>
            <a:ext cx="991141" cy="10376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stCxn id="22" idx="6"/>
            <a:endCxn id="27" idx="2"/>
          </p:cNvCxnSpPr>
          <p:nvPr/>
        </p:nvCxnSpPr>
        <p:spPr>
          <a:xfrm>
            <a:off x="3359773" y="3036091"/>
            <a:ext cx="1214446" cy="0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22" idx="5"/>
            <a:endCxn id="29" idx="1"/>
          </p:cNvCxnSpPr>
          <p:nvPr/>
        </p:nvCxnSpPr>
        <p:spPr>
          <a:xfrm>
            <a:off x="3286493" y="3212891"/>
            <a:ext cx="1371421" cy="8608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0" name="直接箭头连接符 49"/>
          <p:cNvCxnSpPr>
            <a:stCxn id="23" idx="6"/>
            <a:endCxn id="29" idx="2"/>
          </p:cNvCxnSpPr>
          <p:nvPr/>
        </p:nvCxnSpPr>
        <p:spPr>
          <a:xfrm>
            <a:off x="3359773" y="4250537"/>
            <a:ext cx="1214446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1" name="直接箭头连接符 50"/>
          <p:cNvCxnSpPr>
            <a:stCxn id="23" idx="7"/>
            <a:endCxn id="27" idx="3"/>
          </p:cNvCxnSpPr>
          <p:nvPr/>
        </p:nvCxnSpPr>
        <p:spPr>
          <a:xfrm flipV="1">
            <a:off x="3286493" y="3212891"/>
            <a:ext cx="1371421" cy="860846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>
            <a:stCxn id="23" idx="5"/>
            <a:endCxn id="31" idx="1"/>
          </p:cNvCxnSpPr>
          <p:nvPr/>
        </p:nvCxnSpPr>
        <p:spPr>
          <a:xfrm>
            <a:off x="3286493" y="4427337"/>
            <a:ext cx="1359163" cy="86084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2" name="直接箭头连接符 71"/>
          <p:cNvCxnSpPr>
            <a:endCxn id="29" idx="3"/>
          </p:cNvCxnSpPr>
          <p:nvPr/>
        </p:nvCxnSpPr>
        <p:spPr>
          <a:xfrm flipV="1">
            <a:off x="3225247" y="4427337"/>
            <a:ext cx="1432667" cy="96011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4" name="直接箭头连接符 73"/>
          <p:cNvCxnSpPr>
            <a:stCxn id="25" idx="6"/>
            <a:endCxn id="31" idx="2"/>
          </p:cNvCxnSpPr>
          <p:nvPr/>
        </p:nvCxnSpPr>
        <p:spPr>
          <a:xfrm>
            <a:off x="3359773" y="5464983"/>
            <a:ext cx="1214445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5"/>
          <p:cNvCxnSpPr>
            <a:stCxn id="27" idx="6"/>
            <a:endCxn id="33" idx="1"/>
          </p:cNvCxnSpPr>
          <p:nvPr/>
        </p:nvCxnSpPr>
        <p:spPr>
          <a:xfrm>
            <a:off x="5145723" y="3036091"/>
            <a:ext cx="867708" cy="4661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7" name="直接箭头连接符 76"/>
          <p:cNvCxnSpPr>
            <a:stCxn id="27" idx="5"/>
            <a:endCxn id="35" idx="1"/>
          </p:cNvCxnSpPr>
          <p:nvPr/>
        </p:nvCxnSpPr>
        <p:spPr>
          <a:xfrm>
            <a:off x="5062028" y="3212891"/>
            <a:ext cx="952659" cy="1509223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接箭头连接符 78"/>
          <p:cNvCxnSpPr>
            <a:stCxn id="29" idx="7"/>
            <a:endCxn id="33" idx="2"/>
          </p:cNvCxnSpPr>
          <p:nvPr/>
        </p:nvCxnSpPr>
        <p:spPr>
          <a:xfrm flipV="1">
            <a:off x="5062028" y="3679190"/>
            <a:ext cx="878124" cy="3945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0" name="直接箭头连接符 79"/>
          <p:cNvCxnSpPr>
            <a:stCxn id="29" idx="5"/>
            <a:endCxn id="35" idx="2"/>
          </p:cNvCxnSpPr>
          <p:nvPr/>
        </p:nvCxnSpPr>
        <p:spPr>
          <a:xfrm>
            <a:off x="5062028" y="4427337"/>
            <a:ext cx="868872" cy="471688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1" name="直接箭头连接符 80"/>
          <p:cNvCxnSpPr>
            <a:stCxn id="31" idx="6"/>
            <a:endCxn id="35" idx="3"/>
          </p:cNvCxnSpPr>
          <p:nvPr/>
        </p:nvCxnSpPr>
        <p:spPr>
          <a:xfrm flipV="1">
            <a:off x="5062027" y="5075936"/>
            <a:ext cx="952660" cy="389047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2" name="直接箭头连接符 81"/>
          <p:cNvCxnSpPr>
            <a:stCxn id="31" idx="7"/>
            <a:endCxn id="33" idx="3"/>
          </p:cNvCxnSpPr>
          <p:nvPr/>
        </p:nvCxnSpPr>
        <p:spPr>
          <a:xfrm flipV="1">
            <a:off x="4990589" y="3856101"/>
            <a:ext cx="1022842" cy="143208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3" name="直接箭头连接符 82"/>
          <p:cNvCxnSpPr>
            <a:stCxn id="33" idx="6"/>
            <a:endCxn id="37" idx="1"/>
          </p:cNvCxnSpPr>
          <p:nvPr/>
        </p:nvCxnSpPr>
        <p:spPr>
          <a:xfrm>
            <a:off x="6440532" y="3679190"/>
            <a:ext cx="1053978" cy="394547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接箭头连接符 83"/>
          <p:cNvCxnSpPr>
            <a:stCxn id="35" idx="6"/>
            <a:endCxn id="37" idx="3"/>
          </p:cNvCxnSpPr>
          <p:nvPr/>
        </p:nvCxnSpPr>
        <p:spPr>
          <a:xfrm flipV="1">
            <a:off x="6431290" y="4428024"/>
            <a:ext cx="991870" cy="47117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5" name="TextBox 54"/>
          <p:cNvSpPr txBox="1"/>
          <p:nvPr/>
        </p:nvSpPr>
        <p:spPr>
          <a:xfrm>
            <a:off x="2369165" y="3929066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4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86" name="TextBox 55"/>
          <p:cNvSpPr txBox="1"/>
          <p:nvPr/>
        </p:nvSpPr>
        <p:spPr>
          <a:xfrm>
            <a:off x="2431079" y="4714884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3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87" name="TextBox 56"/>
          <p:cNvSpPr txBox="1"/>
          <p:nvPr/>
        </p:nvSpPr>
        <p:spPr>
          <a:xfrm>
            <a:off x="3861741" y="2714620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C00000"/>
                </a:solidFill>
                <a:cs typeface="Times New Roman" panose="02020603050405020304" pitchFamily="18" charset="0"/>
              </a:rPr>
              <a:t>7</a:t>
            </a:r>
            <a:endParaRPr lang="en-US" altLang="zh-CN" smtClean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88" name="TextBox 57"/>
          <p:cNvSpPr txBox="1"/>
          <p:nvPr/>
        </p:nvSpPr>
        <p:spPr>
          <a:xfrm>
            <a:off x="3815386" y="3283128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4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89" name="TextBox 58"/>
          <p:cNvSpPr txBox="1"/>
          <p:nvPr/>
        </p:nvSpPr>
        <p:spPr>
          <a:xfrm>
            <a:off x="3841103" y="3596959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C00000"/>
                </a:solidFill>
                <a:cs typeface="Times New Roman" panose="02020603050405020304" pitchFamily="18" charset="0"/>
              </a:rPr>
              <a:t>3</a:t>
            </a:r>
            <a:endParaRPr lang="en-US" altLang="zh-CN" smtClean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0" name="TextBox 59"/>
          <p:cNvSpPr txBox="1"/>
          <p:nvPr/>
        </p:nvSpPr>
        <p:spPr>
          <a:xfrm>
            <a:off x="3861424" y="3967166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91" name="TextBox 60"/>
          <p:cNvSpPr txBox="1"/>
          <p:nvPr/>
        </p:nvSpPr>
        <p:spPr>
          <a:xfrm>
            <a:off x="3347073" y="4870460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C00000"/>
                </a:solidFill>
                <a:cs typeface="Times New Roman" panose="02020603050405020304" pitchFamily="18" charset="0"/>
              </a:rPr>
              <a:t>6</a:t>
            </a:r>
            <a:endParaRPr lang="en-US" altLang="zh-CN" smtClean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2" name="TextBox 61"/>
          <p:cNvSpPr txBox="1"/>
          <p:nvPr/>
        </p:nvSpPr>
        <p:spPr>
          <a:xfrm>
            <a:off x="3858248" y="5437700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5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93" name="TextBox 62"/>
          <p:cNvSpPr txBox="1"/>
          <p:nvPr/>
        </p:nvSpPr>
        <p:spPr>
          <a:xfrm>
            <a:off x="5360354" y="2929251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C00000"/>
                </a:solidFill>
                <a:cs typeface="Times New Roman" panose="02020603050405020304" pitchFamily="18" charset="0"/>
              </a:rPr>
              <a:t>3</a:t>
            </a:r>
            <a:endParaRPr lang="en-US" altLang="zh-CN" smtClean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4" name="TextBox 63"/>
          <p:cNvSpPr txBox="1"/>
          <p:nvPr/>
        </p:nvSpPr>
        <p:spPr>
          <a:xfrm>
            <a:off x="5288916" y="3333294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4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95" name="TextBox 64"/>
          <p:cNvSpPr txBox="1"/>
          <p:nvPr/>
        </p:nvSpPr>
        <p:spPr>
          <a:xfrm>
            <a:off x="5289867" y="3867015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6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96" name="TextBox 65"/>
          <p:cNvSpPr txBox="1"/>
          <p:nvPr/>
        </p:nvSpPr>
        <p:spPr>
          <a:xfrm>
            <a:off x="5289550" y="4358328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C00000"/>
                </a:solidFill>
                <a:cs typeface="Times New Roman" panose="02020603050405020304" pitchFamily="18" charset="0"/>
              </a:rPr>
              <a:t>3</a:t>
            </a:r>
            <a:endParaRPr lang="en-US" altLang="zh-CN" smtClean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7" name="TextBox 66"/>
          <p:cNvSpPr txBox="1"/>
          <p:nvPr/>
        </p:nvSpPr>
        <p:spPr>
          <a:xfrm>
            <a:off x="5231129" y="4795075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3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98" name="TextBox 67"/>
          <p:cNvSpPr txBox="1"/>
          <p:nvPr/>
        </p:nvSpPr>
        <p:spPr>
          <a:xfrm>
            <a:off x="5406709" y="5239716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C00000"/>
                </a:solidFill>
                <a:cs typeface="Times New Roman" panose="02020603050405020304" pitchFamily="18" charset="0"/>
              </a:rPr>
              <a:t>3</a:t>
            </a:r>
            <a:endParaRPr lang="en-US" altLang="zh-CN" smtClean="0">
              <a:solidFill>
                <a:srgbClr val="C00000"/>
              </a:solidFill>
              <a:cs typeface="Times New Roman" panose="02020603050405020304" pitchFamily="18" charset="0"/>
            </a:endParaRPr>
          </a:p>
        </p:txBody>
      </p:sp>
      <p:sp>
        <p:nvSpPr>
          <p:cNvPr id="99" name="TextBox 68"/>
          <p:cNvSpPr txBox="1"/>
          <p:nvPr/>
        </p:nvSpPr>
        <p:spPr>
          <a:xfrm>
            <a:off x="6788797" y="4429132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4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100" name="TextBox 69"/>
          <p:cNvSpPr txBox="1"/>
          <p:nvPr/>
        </p:nvSpPr>
        <p:spPr>
          <a:xfrm>
            <a:off x="6860235" y="3509191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3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101" name="TextBox 70"/>
          <p:cNvSpPr txBox="1"/>
          <p:nvPr/>
        </p:nvSpPr>
        <p:spPr>
          <a:xfrm>
            <a:off x="3717914" y="4286256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4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cxnSp>
        <p:nvCxnSpPr>
          <p:cNvPr id="102" name="直接箭头连接符 101"/>
          <p:cNvCxnSpPr>
            <a:stCxn id="25" idx="7"/>
            <a:endCxn id="27" idx="4"/>
          </p:cNvCxnSpPr>
          <p:nvPr/>
        </p:nvCxnSpPr>
        <p:spPr>
          <a:xfrm flipV="1">
            <a:off x="3286493" y="3286124"/>
            <a:ext cx="1573478" cy="2002059"/>
          </a:xfrm>
          <a:prstGeom prst="straightConnector1">
            <a:avLst/>
          </a:prstGeom>
          <a:ln>
            <a:solidFill>
              <a:srgbClr val="C00000"/>
            </a:solidFill>
            <a:tailEnd type="arrow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3" name="TextBox 74"/>
          <p:cNvSpPr txBox="1"/>
          <p:nvPr/>
        </p:nvSpPr>
        <p:spPr>
          <a:xfrm>
            <a:off x="3788401" y="4937317"/>
            <a:ext cx="214314" cy="368935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US" altLang="zh-CN" smtClean="0">
                <a:solidFill>
                  <a:srgbClr val="0000FF"/>
                </a:solidFill>
                <a:cs typeface="Times New Roman" panose="02020603050405020304" pitchFamily="18" charset="0"/>
              </a:rPr>
              <a:t>2</a:t>
            </a:r>
            <a:endParaRPr lang="en-US" altLang="zh-CN" smtClean="0">
              <a:solidFill>
                <a:srgbClr val="0000FF"/>
              </a:solidFill>
              <a:cs typeface="Times New Roman" panose="02020603050405020304" pitchFamily="18" charset="0"/>
            </a:endParaRPr>
          </a:p>
        </p:txBody>
      </p:sp>
      <p:sp>
        <p:nvSpPr>
          <p:cNvPr id="104" name="TextBox 75"/>
          <p:cNvSpPr txBox="1"/>
          <p:nvPr/>
        </p:nvSpPr>
        <p:spPr>
          <a:xfrm>
            <a:off x="333980" y="155871"/>
            <a:ext cx="8429684" cy="1630045"/>
          </a:xfrm>
          <a:prstGeom prst="rect">
            <a:avLst/>
          </a:prstGeom>
          <a:solidFill>
            <a:schemeClr val="tx1">
              <a:lumMod val="95000"/>
            </a:schemeClr>
          </a:solidFill>
        </p:spPr>
        <p:txBody>
          <a:bodyPr wrap="square" rtlCol="0">
            <a:spAutoFit/>
          </a:bodyPr>
          <a:lstStyle/>
          <a:p>
            <a:pPr algn="just">
              <a:lnSpc>
                <a:spcPts val="3000"/>
              </a:lnSpc>
            </a:pPr>
            <a:r>
              <a:rPr lang="zh-CN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在从</a:t>
            </a:r>
            <a:r>
              <a:rPr lang="en-US" altLang="zh-CN" i="1" smtClean="0">
                <a:solidFill>
                  <a:schemeClr val="bg1"/>
                </a:solidFill>
                <a:cs typeface="Times New Roman" panose="02020603050405020304" pitchFamily="18" charset="0"/>
              </a:rPr>
              <a:t>A</a:t>
            </a:r>
            <a:r>
              <a:rPr lang="zh-CN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～</a:t>
            </a:r>
            <a:r>
              <a:rPr lang="en-US" altLang="zh-CN" i="1" smtClean="0">
                <a:solidFill>
                  <a:schemeClr val="bg1"/>
                </a:solidFill>
                <a:cs typeface="Times New Roman" panose="02020603050405020304" pitchFamily="18" charset="0"/>
              </a:rPr>
              <a:t>E</a:t>
            </a:r>
            <a:r>
              <a:rPr lang="zh-CN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的过程中</a:t>
            </a:r>
            <a:r>
              <a:rPr lang="zh-CN" altLang="en-US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依据按位置所做决策的次数及所做决策的先后次序</a:t>
            </a:r>
            <a:r>
              <a:rPr lang="zh-CN" altLang="en-US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b="1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将问题分为</a:t>
            </a:r>
            <a:r>
              <a:rPr lang="en-US" altLang="zh-CN" b="1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b="1" smtClean="0">
                <a:solidFill>
                  <a:srgbClr val="FF0000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个阶段</a:t>
            </a:r>
            <a:r>
              <a:rPr lang="zh-CN" altLang="en-US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变量</a:t>
            </a:r>
            <a:r>
              <a:rPr lang="en-US" altLang="zh-CN" b="1" i="1" smtClean="0">
                <a:solidFill>
                  <a:schemeClr val="bg1"/>
                </a:solidFill>
                <a:cs typeface="Times New Roman" panose="02020603050405020304" pitchFamily="18" charset="0"/>
              </a:rPr>
              <a:t>k</a:t>
            </a:r>
            <a:r>
              <a:rPr lang="zh-CN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用于表示各阶段</a:t>
            </a:r>
            <a:r>
              <a:rPr lang="zh-CN" altLang="en-US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取值</a:t>
            </a:r>
            <a:r>
              <a:rPr lang="zh-CN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为</a:t>
            </a:r>
            <a:r>
              <a:rPr lang="en-US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1</a:t>
            </a:r>
            <a:r>
              <a:rPr lang="zh-CN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～</a:t>
            </a:r>
            <a:r>
              <a:rPr lang="en-US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en-US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，</a:t>
            </a:r>
            <a:r>
              <a:rPr lang="zh-CN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图中第</a:t>
            </a:r>
            <a:r>
              <a:rPr lang="en-US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5</a:t>
            </a:r>
            <a:r>
              <a:rPr lang="zh-CN" altLang="zh-CN" smtClean="0">
                <a:solidFill>
                  <a:schemeClr val="bg1"/>
                </a:solidFill>
                <a:latin typeface="宋体" panose="02010600030101010101" pitchFamily="2" charset="-122"/>
                <a:cs typeface="宋体" panose="02010600030101010101" pitchFamily="2" charset="-122"/>
              </a:rPr>
              <a:t>阶段是虚拟的一个边界阶段。每个阶段中包含若干状态结点。</a:t>
            </a:r>
            <a:endParaRPr lang="zh-CN" altLang="zh-CN" smtClean="0">
              <a:solidFill>
                <a:schemeClr val="bg1"/>
              </a:solidFill>
              <a:latin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105" name="组合 104"/>
          <p:cNvGrpSpPr/>
          <p:nvPr/>
        </p:nvGrpSpPr>
        <p:grpSpPr>
          <a:xfrm>
            <a:off x="1288071" y="1857364"/>
            <a:ext cx="928694" cy="4143404"/>
            <a:chOff x="785786" y="1857364"/>
            <a:chExt cx="928694" cy="4143404"/>
          </a:xfrm>
        </p:grpSpPr>
        <p:sp>
          <p:nvSpPr>
            <p:cNvPr id="106" name="圆角矩形 105"/>
            <p:cNvSpPr/>
            <p:nvPr/>
          </p:nvSpPr>
          <p:spPr>
            <a:xfrm>
              <a:off x="785786" y="2428868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07" name="TextBox 71"/>
            <p:cNvSpPr txBox="1"/>
            <p:nvPr/>
          </p:nvSpPr>
          <p:spPr>
            <a:xfrm>
              <a:off x="928662" y="1857364"/>
              <a:ext cx="64294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=1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108" name="组合 107"/>
          <p:cNvGrpSpPr/>
          <p:nvPr/>
        </p:nvGrpSpPr>
        <p:grpSpPr>
          <a:xfrm>
            <a:off x="2716831" y="1857364"/>
            <a:ext cx="928694" cy="4143404"/>
            <a:chOff x="500034" y="1857364"/>
            <a:chExt cx="928694" cy="4143404"/>
          </a:xfrm>
        </p:grpSpPr>
        <p:sp>
          <p:nvSpPr>
            <p:cNvPr id="109" name="圆角矩形 108"/>
            <p:cNvSpPr/>
            <p:nvPr/>
          </p:nvSpPr>
          <p:spPr>
            <a:xfrm>
              <a:off x="500034" y="2428868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0" name="TextBox 79"/>
            <p:cNvSpPr txBox="1"/>
            <p:nvPr/>
          </p:nvSpPr>
          <p:spPr>
            <a:xfrm>
              <a:off x="714348" y="1857364"/>
              <a:ext cx="64294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=2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111" name="组合 110"/>
          <p:cNvGrpSpPr/>
          <p:nvPr/>
        </p:nvGrpSpPr>
        <p:grpSpPr>
          <a:xfrm>
            <a:off x="4288467" y="1857364"/>
            <a:ext cx="928694" cy="4143404"/>
            <a:chOff x="500034" y="1857364"/>
            <a:chExt cx="928694" cy="4143404"/>
          </a:xfrm>
        </p:grpSpPr>
        <p:sp>
          <p:nvSpPr>
            <p:cNvPr id="112" name="圆角矩形 111"/>
            <p:cNvSpPr/>
            <p:nvPr/>
          </p:nvSpPr>
          <p:spPr>
            <a:xfrm>
              <a:off x="500034" y="2428868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3" name="TextBox 82"/>
            <p:cNvSpPr txBox="1"/>
            <p:nvPr/>
          </p:nvSpPr>
          <p:spPr>
            <a:xfrm>
              <a:off x="714348" y="1857364"/>
              <a:ext cx="64294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=3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114" name="组合 113"/>
          <p:cNvGrpSpPr/>
          <p:nvPr/>
        </p:nvGrpSpPr>
        <p:grpSpPr>
          <a:xfrm>
            <a:off x="5717227" y="1857364"/>
            <a:ext cx="928694" cy="4143404"/>
            <a:chOff x="500034" y="1857364"/>
            <a:chExt cx="928694" cy="4143404"/>
          </a:xfrm>
        </p:grpSpPr>
        <p:sp>
          <p:nvSpPr>
            <p:cNvPr id="115" name="圆角矩形 114"/>
            <p:cNvSpPr/>
            <p:nvPr/>
          </p:nvSpPr>
          <p:spPr>
            <a:xfrm>
              <a:off x="500034" y="2428868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6" name="TextBox 85"/>
            <p:cNvSpPr txBox="1"/>
            <p:nvPr/>
          </p:nvSpPr>
          <p:spPr>
            <a:xfrm>
              <a:off x="714348" y="1857364"/>
              <a:ext cx="64294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=4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  <p:grpSp>
        <p:nvGrpSpPr>
          <p:cNvPr id="117" name="组合 116"/>
          <p:cNvGrpSpPr/>
          <p:nvPr/>
        </p:nvGrpSpPr>
        <p:grpSpPr>
          <a:xfrm>
            <a:off x="7145987" y="1857364"/>
            <a:ext cx="928694" cy="4143404"/>
            <a:chOff x="500034" y="1857364"/>
            <a:chExt cx="928694" cy="4143404"/>
          </a:xfrm>
        </p:grpSpPr>
        <p:sp>
          <p:nvSpPr>
            <p:cNvPr id="118" name="圆角矩形 117"/>
            <p:cNvSpPr/>
            <p:nvPr/>
          </p:nvSpPr>
          <p:spPr>
            <a:xfrm>
              <a:off x="500034" y="2428868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19" name="TextBox 88"/>
            <p:cNvSpPr txBox="1"/>
            <p:nvPr/>
          </p:nvSpPr>
          <p:spPr>
            <a:xfrm>
              <a:off x="714348" y="1857364"/>
              <a:ext cx="642942" cy="4603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=5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166370" y="1628775"/>
            <a:ext cx="8582025" cy="2481580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n"/>
              <a:defRPr/>
            </a:pPr>
            <a:r>
              <a:rPr lang="zh-CN" altLang="zh-CN" sz="2400" b="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动态规划问题的解法：逆序解法、正序解法</a:t>
            </a:r>
            <a:endParaRPr lang="zh-CN" altLang="zh-CN" sz="2400" b="0" dirty="0" smtClean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R="0" lvl="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逆序解法</a:t>
            </a:r>
            <a:r>
              <a:rPr lang="zh-CN" altLang="zh-CN" sz="2400" b="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：从终点向起点逐个阶段计算。</a:t>
            </a:r>
            <a:endParaRPr lang="zh-CN" altLang="zh-CN" sz="2400" b="0" dirty="0" smtClean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）数组</a:t>
            </a:r>
            <a:r>
              <a:rPr kumimoji="0" lang="en-US" altLang="zh-CN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dp</a:t>
            </a:r>
            <a:r>
              <a:rPr kumimoji="0" lang="zh-CN" altLang="en-US" sz="2400" b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用于记录每个阶段中各状态结点到终点的最短距离。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楷体" panose="02010609060101010101" pitchFamily="49" charset="-122"/>
              <a:ea typeface="宋体" panose="02010600030101010101" pitchFamily="2" charset="-122"/>
              <a:cs typeface="楷体" panose="02010609060101010101" pitchFamily="49" charset="-122"/>
            </a:endParaRPr>
          </a:p>
          <a:p>
            <a:pPr marL="457200" marR="0" lvl="1" indent="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）数组</a:t>
            </a:r>
            <a:r>
              <a:rPr kumimoji="0" lang="en-US" altLang="zh-CN" sz="2400" i="1" kern="12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next</a:t>
            </a:r>
            <a:r>
              <a:rPr kumimoji="0" lang="zh-CN" altLang="en-US" sz="2400" b="0" kern="12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zh-CN" altLang="en-US" sz="2400" b="0" kern="12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  <a:sym typeface="+mn-ea"/>
              </a:rPr>
              <a:t>记录各状态结点到终点的最短距离的后继结点编号</a:t>
            </a:r>
            <a:endParaRPr kumimoji="0" lang="en-US" altLang="zh-CN" sz="2400" b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楷体" panose="02010609060101010101" pitchFamily="49" charset="-122"/>
              <a:ea typeface="宋体" panose="02010600030101010101" pitchFamily="2" charset="-122"/>
              <a:cs typeface="楷体" panose="02010609060101010101" pitchFamily="49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250690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314960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915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1000125" y="1628775"/>
            <a:ext cx="6080760" cy="2585733"/>
            <a:chOff x="1000100" y="2786058"/>
            <a:chExt cx="6357982" cy="3088348"/>
          </a:xfrm>
        </p:grpSpPr>
        <p:sp>
          <p:nvSpPr>
            <p:cNvPr id="155" name="椭圆 15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8" name="椭圆 15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9" name="椭圆 15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5" name="直接箭头连接符 164"/>
            <p:cNvCxnSpPr>
              <a:stCxn id="155" idx="7"/>
              <a:endCxn id="15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7" name="直接箭头连接符 166"/>
            <p:cNvCxnSpPr>
              <a:stCxn id="155" idx="6"/>
              <a:endCxn id="15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>
              <a:stCxn id="155" idx="5"/>
              <a:endCxn id="15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>
              <a:stCxn id="156" idx="6"/>
              <a:endCxn id="15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箭头连接符 169"/>
            <p:cNvCxnSpPr>
              <a:stCxn id="156" idx="5"/>
              <a:endCxn id="16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>
              <a:stCxn id="157" idx="6"/>
              <a:endCxn id="16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箭头连接符 171"/>
            <p:cNvCxnSpPr>
              <a:stCxn id="157" idx="7"/>
              <a:endCxn id="15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>
              <a:stCxn id="157" idx="5"/>
              <a:endCxn id="16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箭头连接符 173"/>
            <p:cNvCxnSpPr>
              <a:endCxn id="16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箭头连接符 174"/>
            <p:cNvCxnSpPr>
              <a:stCxn id="158" idx="6"/>
              <a:endCxn id="16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箭头连接符 175"/>
            <p:cNvCxnSpPr>
              <a:stCxn id="159" idx="6"/>
              <a:endCxn id="16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箭头连接符 176"/>
            <p:cNvCxnSpPr>
              <a:stCxn id="159" idx="5"/>
              <a:endCxn id="16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/>
            <p:cNvCxnSpPr>
              <a:stCxn id="160" idx="7"/>
              <a:endCxn id="16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直接箭头连接符 178"/>
            <p:cNvCxnSpPr>
              <a:stCxn id="160" idx="5"/>
              <a:endCxn id="16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直接箭头连接符 179"/>
            <p:cNvCxnSpPr>
              <a:stCxn id="161" idx="6"/>
              <a:endCxn id="16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>
              <a:stCxn id="161" idx="7"/>
              <a:endCxn id="16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162" idx="6"/>
              <a:endCxn id="16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箭头连接符 182"/>
            <p:cNvCxnSpPr>
              <a:stCxn id="163" idx="6"/>
              <a:endCxn id="16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TextBox 33"/>
            <p:cNvSpPr txBox="1"/>
            <p:nvPr/>
          </p:nvSpPr>
          <p:spPr>
            <a:xfrm>
              <a:off x="1866880" y="400050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6" name="TextBox 45"/>
            <p:cNvSpPr txBox="1"/>
            <p:nvPr/>
          </p:nvSpPr>
          <p:spPr>
            <a:xfrm>
              <a:off x="4441824" y="486651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7" name="TextBox 46"/>
            <p:cNvSpPr txBox="1"/>
            <p:nvPr/>
          </p:nvSpPr>
          <p:spPr>
            <a:xfrm>
              <a:off x="4760914" y="545466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8" name="TextBox 47"/>
            <p:cNvSpPr txBox="1"/>
            <p:nvPr/>
          </p:nvSpPr>
          <p:spPr>
            <a:xfrm>
              <a:off x="6143636" y="455930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9" name="TextBox 48"/>
            <p:cNvSpPr txBox="1"/>
            <p:nvPr/>
          </p:nvSpPr>
          <p:spPr>
            <a:xfrm>
              <a:off x="6215074" y="350043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1" name="直接箭头连接符 200"/>
            <p:cNvCxnSpPr>
              <a:stCxn id="158" idx="7"/>
              <a:endCxn id="15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6426835" y="1605914"/>
            <a:ext cx="836295" cy="2195830"/>
            <a:chOff x="500034" y="2436824"/>
            <a:chExt cx="928694" cy="4433134"/>
          </a:xfrm>
        </p:grpSpPr>
        <p:sp>
          <p:nvSpPr>
            <p:cNvPr id="204" name="圆角矩形 203"/>
            <p:cNvSpPr/>
            <p:nvPr/>
          </p:nvSpPr>
          <p:spPr>
            <a:xfrm>
              <a:off x="500034" y="3298058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TextBox 88"/>
            <p:cNvSpPr txBox="1"/>
            <p:nvPr/>
          </p:nvSpPr>
          <p:spPr>
            <a:xfrm>
              <a:off x="560678" y="2436824"/>
              <a:ext cx="789073" cy="92944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=5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  <p:sp>
        <p:nvSpPr>
          <p:cNvPr id="207" name="文本框 206"/>
          <p:cNvSpPr txBox="1"/>
          <p:nvPr/>
        </p:nvSpPr>
        <p:spPr>
          <a:xfrm>
            <a:off x="395605" y="4214495"/>
            <a:ext cx="7548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阶段作为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起始阶段：状态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到终点的最短距离为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681220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10" name="标题 209"/>
          <p:cNvSpPr>
            <a:spLocks noGrp="1"/>
          </p:cNvSpPr>
          <p:nvPr>
            <p:ph type="title"/>
          </p:nvPr>
        </p:nvSpPr>
        <p:spPr>
          <a:xfrm>
            <a:off x="506730" y="314960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-165075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395605" y="2793365"/>
            <a:ext cx="5990590" cy="142049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Calibri" panose="020F0502020204030204" charset="0"/>
                <a:cs typeface="宋体" panose="02010600030101010101" pitchFamily="2" charset="-122"/>
                <a:sym typeface="+mn-ea"/>
              </a:rPr>
              <a:t>②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]}={3+0}=3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=min{Disu(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]}={4+0}=4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398010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71120" y="822325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1000125" y="121920"/>
            <a:ext cx="6080760" cy="2585733"/>
            <a:chOff x="1000100" y="2786058"/>
            <a:chExt cx="6357982" cy="3088348"/>
          </a:xfrm>
        </p:grpSpPr>
        <p:sp>
          <p:nvSpPr>
            <p:cNvPr id="155" name="椭圆 15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8" name="椭圆 15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9" name="椭圆 15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5" name="直接箭头连接符 164"/>
            <p:cNvCxnSpPr>
              <a:stCxn id="155" idx="7"/>
              <a:endCxn id="15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7" name="直接箭头连接符 166"/>
            <p:cNvCxnSpPr>
              <a:stCxn id="155" idx="6"/>
              <a:endCxn id="15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>
              <a:stCxn id="155" idx="5"/>
              <a:endCxn id="15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>
              <a:stCxn id="156" idx="6"/>
              <a:endCxn id="15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箭头连接符 169"/>
            <p:cNvCxnSpPr>
              <a:stCxn id="156" idx="5"/>
              <a:endCxn id="16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>
              <a:stCxn id="157" idx="6"/>
              <a:endCxn id="16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箭头连接符 171"/>
            <p:cNvCxnSpPr>
              <a:stCxn id="157" idx="7"/>
              <a:endCxn id="15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>
              <a:stCxn id="157" idx="5"/>
              <a:endCxn id="16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箭头连接符 173"/>
            <p:cNvCxnSpPr>
              <a:endCxn id="16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箭头连接符 174"/>
            <p:cNvCxnSpPr>
              <a:stCxn id="158" idx="6"/>
              <a:endCxn id="16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箭头连接符 175"/>
            <p:cNvCxnSpPr>
              <a:stCxn id="159" idx="6"/>
              <a:endCxn id="16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箭头连接符 176"/>
            <p:cNvCxnSpPr>
              <a:stCxn id="159" idx="5"/>
              <a:endCxn id="16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/>
            <p:cNvCxnSpPr>
              <a:stCxn id="160" idx="7"/>
              <a:endCxn id="16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直接箭头连接符 178"/>
            <p:cNvCxnSpPr>
              <a:stCxn id="160" idx="5"/>
              <a:endCxn id="16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直接箭头连接符 179"/>
            <p:cNvCxnSpPr>
              <a:stCxn id="161" idx="6"/>
              <a:endCxn id="16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>
              <a:stCxn id="161" idx="7"/>
              <a:endCxn id="16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162" idx="6"/>
              <a:endCxn id="16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箭头连接符 182"/>
            <p:cNvCxnSpPr>
              <a:stCxn id="163" idx="6"/>
              <a:endCxn id="16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TextBox 33"/>
            <p:cNvSpPr txBox="1"/>
            <p:nvPr/>
          </p:nvSpPr>
          <p:spPr>
            <a:xfrm>
              <a:off x="1866880" y="400050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6" name="TextBox 45"/>
            <p:cNvSpPr txBox="1"/>
            <p:nvPr/>
          </p:nvSpPr>
          <p:spPr>
            <a:xfrm>
              <a:off x="4441824" y="486651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7" name="TextBox 46"/>
            <p:cNvSpPr txBox="1"/>
            <p:nvPr/>
          </p:nvSpPr>
          <p:spPr>
            <a:xfrm>
              <a:off x="4760914" y="545466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8" name="TextBox 47"/>
            <p:cNvSpPr txBox="1"/>
            <p:nvPr/>
          </p:nvSpPr>
          <p:spPr>
            <a:xfrm>
              <a:off x="6143636" y="455930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9" name="TextBox 48"/>
            <p:cNvSpPr txBox="1"/>
            <p:nvPr/>
          </p:nvSpPr>
          <p:spPr>
            <a:xfrm>
              <a:off x="6215074" y="350043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1" name="直接箭头连接符 200"/>
            <p:cNvCxnSpPr>
              <a:stCxn id="158" idx="7"/>
              <a:endCxn id="15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5151120" y="-62230"/>
            <a:ext cx="836295" cy="2555240"/>
            <a:chOff x="500034" y="2194646"/>
            <a:chExt cx="928694" cy="4312045"/>
          </a:xfrm>
        </p:grpSpPr>
        <p:sp>
          <p:nvSpPr>
            <p:cNvPr id="204" name="圆角矩形 203"/>
            <p:cNvSpPr/>
            <p:nvPr/>
          </p:nvSpPr>
          <p:spPr>
            <a:xfrm>
              <a:off x="500034" y="2934791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TextBox 88"/>
            <p:cNvSpPr txBox="1"/>
            <p:nvPr/>
          </p:nvSpPr>
          <p:spPr>
            <a:xfrm>
              <a:off x="560678" y="2194646"/>
              <a:ext cx="789073" cy="7768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=4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-165075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395605" y="2936875"/>
            <a:ext cx="5022850" cy="19742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Calibri" panose="020F0502020204030204" charset="0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]}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=min{3+3,4+4}=6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61327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1000125" y="480695"/>
            <a:ext cx="6080760" cy="2585733"/>
            <a:chOff x="1000100" y="2786058"/>
            <a:chExt cx="6357982" cy="3088348"/>
          </a:xfrm>
        </p:grpSpPr>
        <p:sp>
          <p:nvSpPr>
            <p:cNvPr id="155" name="椭圆 15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8" name="椭圆 15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9" name="椭圆 15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5" name="直接箭头连接符 164"/>
            <p:cNvCxnSpPr>
              <a:stCxn id="155" idx="7"/>
              <a:endCxn id="15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7" name="直接箭头连接符 166"/>
            <p:cNvCxnSpPr>
              <a:stCxn id="155" idx="6"/>
              <a:endCxn id="15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>
              <a:stCxn id="155" idx="5"/>
              <a:endCxn id="15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>
              <a:stCxn id="156" idx="6"/>
              <a:endCxn id="15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箭头连接符 169"/>
            <p:cNvCxnSpPr>
              <a:stCxn id="156" idx="5"/>
              <a:endCxn id="16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>
              <a:stCxn id="157" idx="6"/>
              <a:endCxn id="16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箭头连接符 171"/>
            <p:cNvCxnSpPr>
              <a:stCxn id="157" idx="7"/>
              <a:endCxn id="15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>
              <a:stCxn id="157" idx="5"/>
              <a:endCxn id="16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箭头连接符 173"/>
            <p:cNvCxnSpPr>
              <a:endCxn id="16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箭头连接符 174"/>
            <p:cNvCxnSpPr>
              <a:stCxn id="158" idx="6"/>
              <a:endCxn id="16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箭头连接符 175"/>
            <p:cNvCxnSpPr>
              <a:stCxn id="159" idx="6"/>
              <a:endCxn id="16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箭头连接符 176"/>
            <p:cNvCxnSpPr>
              <a:stCxn id="159" idx="5"/>
              <a:endCxn id="16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/>
            <p:cNvCxnSpPr>
              <a:stCxn id="160" idx="7"/>
              <a:endCxn id="16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直接箭头连接符 178"/>
            <p:cNvCxnSpPr>
              <a:stCxn id="160" idx="5"/>
              <a:endCxn id="16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直接箭头连接符 179"/>
            <p:cNvCxnSpPr>
              <a:stCxn id="161" idx="6"/>
              <a:endCxn id="16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>
              <a:stCxn id="161" idx="7"/>
              <a:endCxn id="16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162" idx="6"/>
              <a:endCxn id="16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箭头连接符 182"/>
            <p:cNvCxnSpPr>
              <a:stCxn id="163" idx="6"/>
              <a:endCxn id="16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TextBox 33"/>
            <p:cNvSpPr txBox="1"/>
            <p:nvPr/>
          </p:nvSpPr>
          <p:spPr>
            <a:xfrm>
              <a:off x="1866880" y="400050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6" name="TextBox 45"/>
            <p:cNvSpPr txBox="1"/>
            <p:nvPr/>
          </p:nvSpPr>
          <p:spPr>
            <a:xfrm>
              <a:off x="4441824" y="486651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7" name="TextBox 46"/>
            <p:cNvSpPr txBox="1"/>
            <p:nvPr/>
          </p:nvSpPr>
          <p:spPr>
            <a:xfrm>
              <a:off x="4760914" y="545466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8" name="TextBox 47"/>
            <p:cNvSpPr txBox="1"/>
            <p:nvPr/>
          </p:nvSpPr>
          <p:spPr>
            <a:xfrm>
              <a:off x="6143636" y="455930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9" name="TextBox 48"/>
            <p:cNvSpPr txBox="1"/>
            <p:nvPr/>
          </p:nvSpPr>
          <p:spPr>
            <a:xfrm>
              <a:off x="6215074" y="350043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1" name="直接箭头连接符 200"/>
            <p:cNvCxnSpPr>
              <a:stCxn id="158" idx="7"/>
              <a:endCxn id="15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3725545" y="-52706"/>
            <a:ext cx="828040" cy="3133091"/>
            <a:chOff x="500034" y="2383506"/>
            <a:chExt cx="928694" cy="4123185"/>
          </a:xfrm>
        </p:grpSpPr>
        <p:sp>
          <p:nvSpPr>
            <p:cNvPr id="204" name="圆角矩形 203"/>
            <p:cNvSpPr/>
            <p:nvPr/>
          </p:nvSpPr>
          <p:spPr>
            <a:xfrm>
              <a:off x="500034" y="2934791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TextBox 88"/>
            <p:cNvSpPr txBox="1"/>
            <p:nvPr/>
          </p:nvSpPr>
          <p:spPr>
            <a:xfrm>
              <a:off x="560678" y="2383506"/>
              <a:ext cx="789073" cy="605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=3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-165075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395605" y="2936875"/>
            <a:ext cx="4969510" cy="19742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Calibri" panose="020F0502020204030204" charset="0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]}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=min{6+3,3+4}=7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61327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1000125" y="480695"/>
            <a:ext cx="6080760" cy="2585733"/>
            <a:chOff x="1000100" y="2786058"/>
            <a:chExt cx="6357982" cy="3088348"/>
          </a:xfrm>
        </p:grpSpPr>
        <p:sp>
          <p:nvSpPr>
            <p:cNvPr id="155" name="椭圆 15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8" name="椭圆 15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9" name="椭圆 15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5" name="直接箭头连接符 164"/>
            <p:cNvCxnSpPr>
              <a:stCxn id="155" idx="7"/>
              <a:endCxn id="15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7" name="直接箭头连接符 166"/>
            <p:cNvCxnSpPr>
              <a:stCxn id="155" idx="6"/>
              <a:endCxn id="15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>
              <a:stCxn id="155" idx="5"/>
              <a:endCxn id="15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>
              <a:stCxn id="156" idx="6"/>
              <a:endCxn id="15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箭头连接符 169"/>
            <p:cNvCxnSpPr>
              <a:stCxn id="156" idx="5"/>
              <a:endCxn id="16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>
              <a:stCxn id="157" idx="6"/>
              <a:endCxn id="16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箭头连接符 171"/>
            <p:cNvCxnSpPr>
              <a:stCxn id="157" idx="7"/>
              <a:endCxn id="15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>
              <a:stCxn id="157" idx="5"/>
              <a:endCxn id="16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箭头连接符 173"/>
            <p:cNvCxnSpPr>
              <a:endCxn id="16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箭头连接符 174"/>
            <p:cNvCxnSpPr>
              <a:stCxn id="158" idx="6"/>
              <a:endCxn id="16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箭头连接符 175"/>
            <p:cNvCxnSpPr>
              <a:stCxn id="159" idx="6"/>
              <a:endCxn id="16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箭头连接符 176"/>
            <p:cNvCxnSpPr>
              <a:stCxn id="159" idx="5"/>
              <a:endCxn id="16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/>
            <p:cNvCxnSpPr>
              <a:stCxn id="160" idx="7"/>
              <a:endCxn id="16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直接箭头连接符 178"/>
            <p:cNvCxnSpPr>
              <a:stCxn id="160" idx="5"/>
              <a:endCxn id="16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直接箭头连接符 179"/>
            <p:cNvCxnSpPr>
              <a:stCxn id="161" idx="6"/>
              <a:endCxn id="16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>
              <a:stCxn id="161" idx="7"/>
              <a:endCxn id="16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162" idx="6"/>
              <a:endCxn id="16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箭头连接符 182"/>
            <p:cNvCxnSpPr>
              <a:stCxn id="163" idx="6"/>
              <a:endCxn id="16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TextBox 33"/>
            <p:cNvSpPr txBox="1"/>
            <p:nvPr/>
          </p:nvSpPr>
          <p:spPr>
            <a:xfrm>
              <a:off x="1866880" y="400050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6" name="TextBox 45"/>
            <p:cNvSpPr txBox="1"/>
            <p:nvPr/>
          </p:nvSpPr>
          <p:spPr>
            <a:xfrm>
              <a:off x="4441824" y="486651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7" name="TextBox 46"/>
            <p:cNvSpPr txBox="1"/>
            <p:nvPr/>
          </p:nvSpPr>
          <p:spPr>
            <a:xfrm>
              <a:off x="4760914" y="545466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8" name="TextBox 47"/>
            <p:cNvSpPr txBox="1"/>
            <p:nvPr/>
          </p:nvSpPr>
          <p:spPr>
            <a:xfrm>
              <a:off x="6143636" y="455930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9" name="TextBox 48"/>
            <p:cNvSpPr txBox="1"/>
            <p:nvPr/>
          </p:nvSpPr>
          <p:spPr>
            <a:xfrm>
              <a:off x="6215074" y="350043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1" name="直接箭头连接符 200"/>
            <p:cNvCxnSpPr>
              <a:stCxn id="158" idx="7"/>
              <a:endCxn id="15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3725545" y="-52706"/>
            <a:ext cx="828040" cy="3133091"/>
            <a:chOff x="500034" y="2383506"/>
            <a:chExt cx="928694" cy="4123185"/>
          </a:xfrm>
        </p:grpSpPr>
        <p:sp>
          <p:nvSpPr>
            <p:cNvPr id="204" name="圆角矩形 203"/>
            <p:cNvSpPr/>
            <p:nvPr/>
          </p:nvSpPr>
          <p:spPr>
            <a:xfrm>
              <a:off x="500034" y="2934791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TextBox 88"/>
            <p:cNvSpPr txBox="1"/>
            <p:nvPr/>
          </p:nvSpPr>
          <p:spPr>
            <a:xfrm>
              <a:off x="560678" y="2383506"/>
              <a:ext cx="789073" cy="605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=3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-165075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395605" y="2936875"/>
            <a:ext cx="4969510" cy="19742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Calibri" panose="020F0502020204030204" charset="0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]}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=min{3+3,3+4}=6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61327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1000125" y="480695"/>
            <a:ext cx="6080760" cy="2585733"/>
            <a:chOff x="1000100" y="2786058"/>
            <a:chExt cx="6357982" cy="3088348"/>
          </a:xfrm>
        </p:grpSpPr>
        <p:sp>
          <p:nvSpPr>
            <p:cNvPr id="155" name="椭圆 15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8" name="椭圆 15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9" name="椭圆 15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5" name="直接箭头连接符 164"/>
            <p:cNvCxnSpPr>
              <a:stCxn id="155" idx="7"/>
              <a:endCxn id="15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7" name="直接箭头连接符 166"/>
            <p:cNvCxnSpPr>
              <a:stCxn id="155" idx="6"/>
              <a:endCxn id="15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>
              <a:stCxn id="155" idx="5"/>
              <a:endCxn id="15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>
              <a:stCxn id="156" idx="6"/>
              <a:endCxn id="15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箭头连接符 169"/>
            <p:cNvCxnSpPr>
              <a:stCxn id="156" idx="5"/>
              <a:endCxn id="16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>
              <a:stCxn id="157" idx="6"/>
              <a:endCxn id="16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箭头连接符 171"/>
            <p:cNvCxnSpPr>
              <a:stCxn id="157" idx="7"/>
              <a:endCxn id="15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>
              <a:stCxn id="157" idx="5"/>
              <a:endCxn id="16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箭头连接符 173"/>
            <p:cNvCxnSpPr>
              <a:endCxn id="16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箭头连接符 174"/>
            <p:cNvCxnSpPr>
              <a:stCxn id="158" idx="6"/>
              <a:endCxn id="16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箭头连接符 175"/>
            <p:cNvCxnSpPr>
              <a:stCxn id="159" idx="6"/>
              <a:endCxn id="16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箭头连接符 176"/>
            <p:cNvCxnSpPr>
              <a:stCxn id="159" idx="5"/>
              <a:endCxn id="16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/>
            <p:cNvCxnSpPr>
              <a:stCxn id="160" idx="7"/>
              <a:endCxn id="16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直接箭头连接符 178"/>
            <p:cNvCxnSpPr>
              <a:stCxn id="160" idx="5"/>
              <a:endCxn id="16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直接箭头连接符 179"/>
            <p:cNvCxnSpPr>
              <a:stCxn id="161" idx="6"/>
              <a:endCxn id="16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>
              <a:stCxn id="161" idx="7"/>
              <a:endCxn id="16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162" idx="6"/>
              <a:endCxn id="16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箭头连接符 182"/>
            <p:cNvCxnSpPr>
              <a:stCxn id="163" idx="6"/>
              <a:endCxn id="16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TextBox 33"/>
            <p:cNvSpPr txBox="1"/>
            <p:nvPr/>
          </p:nvSpPr>
          <p:spPr>
            <a:xfrm>
              <a:off x="1866880" y="400050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6" name="TextBox 45"/>
            <p:cNvSpPr txBox="1"/>
            <p:nvPr/>
          </p:nvSpPr>
          <p:spPr>
            <a:xfrm>
              <a:off x="4441824" y="486651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7" name="TextBox 46"/>
            <p:cNvSpPr txBox="1"/>
            <p:nvPr/>
          </p:nvSpPr>
          <p:spPr>
            <a:xfrm>
              <a:off x="4760914" y="545466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8" name="TextBox 47"/>
            <p:cNvSpPr txBox="1"/>
            <p:nvPr/>
          </p:nvSpPr>
          <p:spPr>
            <a:xfrm>
              <a:off x="6143636" y="455930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9" name="TextBox 48"/>
            <p:cNvSpPr txBox="1"/>
            <p:nvPr/>
          </p:nvSpPr>
          <p:spPr>
            <a:xfrm>
              <a:off x="6215074" y="350043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1" name="直接箭头连接符 200"/>
            <p:cNvCxnSpPr>
              <a:stCxn id="158" idx="7"/>
              <a:endCxn id="15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3725545" y="-52706"/>
            <a:ext cx="828040" cy="3133091"/>
            <a:chOff x="500034" y="2383506"/>
            <a:chExt cx="928694" cy="4123185"/>
          </a:xfrm>
        </p:grpSpPr>
        <p:sp>
          <p:nvSpPr>
            <p:cNvPr id="204" name="圆角矩形 203"/>
            <p:cNvSpPr/>
            <p:nvPr/>
          </p:nvSpPr>
          <p:spPr>
            <a:xfrm>
              <a:off x="500034" y="2934791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TextBox 88"/>
            <p:cNvSpPr txBox="1"/>
            <p:nvPr/>
          </p:nvSpPr>
          <p:spPr>
            <a:xfrm>
              <a:off x="560678" y="2383506"/>
              <a:ext cx="789073" cy="605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=3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-165075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395605" y="2936875"/>
            <a:ext cx="4935220" cy="197421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④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]}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=min{7+6,4+7}=11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61327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1000125" y="480695"/>
            <a:ext cx="6080760" cy="2585733"/>
            <a:chOff x="1000100" y="2786058"/>
            <a:chExt cx="6357982" cy="3088348"/>
          </a:xfrm>
        </p:grpSpPr>
        <p:sp>
          <p:nvSpPr>
            <p:cNvPr id="155" name="椭圆 15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8" name="椭圆 15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9" name="椭圆 15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5" name="直接箭头连接符 164"/>
            <p:cNvCxnSpPr>
              <a:stCxn id="155" idx="7"/>
              <a:endCxn id="15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7" name="直接箭头连接符 166"/>
            <p:cNvCxnSpPr>
              <a:stCxn id="155" idx="6"/>
              <a:endCxn id="15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>
              <a:stCxn id="155" idx="5"/>
              <a:endCxn id="15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>
              <a:stCxn id="156" idx="6"/>
              <a:endCxn id="15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箭头连接符 169"/>
            <p:cNvCxnSpPr>
              <a:stCxn id="156" idx="5"/>
              <a:endCxn id="16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>
              <a:stCxn id="157" idx="6"/>
              <a:endCxn id="16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箭头连接符 171"/>
            <p:cNvCxnSpPr>
              <a:stCxn id="157" idx="7"/>
              <a:endCxn id="15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>
              <a:stCxn id="157" idx="5"/>
              <a:endCxn id="16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箭头连接符 173"/>
            <p:cNvCxnSpPr>
              <a:endCxn id="16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箭头连接符 174"/>
            <p:cNvCxnSpPr>
              <a:stCxn id="158" idx="6"/>
              <a:endCxn id="16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箭头连接符 175"/>
            <p:cNvCxnSpPr>
              <a:stCxn id="159" idx="6"/>
              <a:endCxn id="16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箭头连接符 176"/>
            <p:cNvCxnSpPr>
              <a:stCxn id="159" idx="5"/>
              <a:endCxn id="16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/>
            <p:cNvCxnSpPr>
              <a:stCxn id="160" idx="7"/>
              <a:endCxn id="16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直接箭头连接符 178"/>
            <p:cNvCxnSpPr>
              <a:stCxn id="160" idx="5"/>
              <a:endCxn id="16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直接箭头连接符 179"/>
            <p:cNvCxnSpPr>
              <a:stCxn id="161" idx="6"/>
              <a:endCxn id="16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>
              <a:stCxn id="161" idx="7"/>
              <a:endCxn id="16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162" idx="6"/>
              <a:endCxn id="16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箭头连接符 182"/>
            <p:cNvCxnSpPr>
              <a:stCxn id="163" idx="6"/>
              <a:endCxn id="16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TextBox 33"/>
            <p:cNvSpPr txBox="1"/>
            <p:nvPr/>
          </p:nvSpPr>
          <p:spPr>
            <a:xfrm>
              <a:off x="1866880" y="400050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6" name="TextBox 45"/>
            <p:cNvSpPr txBox="1"/>
            <p:nvPr/>
          </p:nvSpPr>
          <p:spPr>
            <a:xfrm>
              <a:off x="4441824" y="486651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7" name="TextBox 46"/>
            <p:cNvSpPr txBox="1"/>
            <p:nvPr/>
          </p:nvSpPr>
          <p:spPr>
            <a:xfrm>
              <a:off x="4760914" y="545466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8" name="TextBox 47"/>
            <p:cNvSpPr txBox="1"/>
            <p:nvPr/>
          </p:nvSpPr>
          <p:spPr>
            <a:xfrm>
              <a:off x="6143636" y="455930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9" name="TextBox 48"/>
            <p:cNvSpPr txBox="1"/>
            <p:nvPr/>
          </p:nvSpPr>
          <p:spPr>
            <a:xfrm>
              <a:off x="6215074" y="350043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1" name="直接箭头连接符 200"/>
            <p:cNvCxnSpPr>
              <a:stCxn id="158" idx="7"/>
              <a:endCxn id="15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2218690" y="-52706"/>
            <a:ext cx="828040" cy="3133091"/>
            <a:chOff x="500034" y="2383506"/>
            <a:chExt cx="928694" cy="4123185"/>
          </a:xfrm>
        </p:grpSpPr>
        <p:sp>
          <p:nvSpPr>
            <p:cNvPr id="204" name="圆角矩形 203"/>
            <p:cNvSpPr/>
            <p:nvPr/>
          </p:nvSpPr>
          <p:spPr>
            <a:xfrm>
              <a:off x="500034" y="2934791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TextBox 88"/>
            <p:cNvSpPr txBox="1"/>
            <p:nvPr/>
          </p:nvSpPr>
          <p:spPr>
            <a:xfrm>
              <a:off x="560678" y="2383506"/>
              <a:ext cx="789073" cy="605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=2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-165075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395605" y="2936875"/>
            <a:ext cx="8532495" cy="1974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④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]}=min{3+6,2+7,4+6}=9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61327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1000125" y="480695"/>
            <a:ext cx="6080760" cy="2585733"/>
            <a:chOff x="1000100" y="2786058"/>
            <a:chExt cx="6357982" cy="3088348"/>
          </a:xfrm>
        </p:grpSpPr>
        <p:sp>
          <p:nvSpPr>
            <p:cNvPr id="155" name="椭圆 15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8" name="椭圆 15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9" name="椭圆 15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5" name="直接箭头连接符 164"/>
            <p:cNvCxnSpPr>
              <a:stCxn id="155" idx="7"/>
              <a:endCxn id="15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7" name="直接箭头连接符 166"/>
            <p:cNvCxnSpPr>
              <a:stCxn id="155" idx="6"/>
              <a:endCxn id="15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>
              <a:stCxn id="155" idx="5"/>
              <a:endCxn id="15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>
              <a:stCxn id="156" idx="6"/>
              <a:endCxn id="15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箭头连接符 169"/>
            <p:cNvCxnSpPr>
              <a:stCxn id="156" idx="5"/>
              <a:endCxn id="16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>
              <a:stCxn id="157" idx="6"/>
              <a:endCxn id="16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箭头连接符 171"/>
            <p:cNvCxnSpPr>
              <a:stCxn id="157" idx="7"/>
              <a:endCxn id="15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>
              <a:stCxn id="157" idx="5"/>
              <a:endCxn id="16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箭头连接符 173"/>
            <p:cNvCxnSpPr>
              <a:endCxn id="16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箭头连接符 174"/>
            <p:cNvCxnSpPr>
              <a:stCxn id="158" idx="6"/>
              <a:endCxn id="16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箭头连接符 175"/>
            <p:cNvCxnSpPr>
              <a:stCxn id="159" idx="6"/>
              <a:endCxn id="16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箭头连接符 176"/>
            <p:cNvCxnSpPr>
              <a:stCxn id="159" idx="5"/>
              <a:endCxn id="16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/>
            <p:cNvCxnSpPr>
              <a:stCxn id="160" idx="7"/>
              <a:endCxn id="16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直接箭头连接符 178"/>
            <p:cNvCxnSpPr>
              <a:stCxn id="160" idx="5"/>
              <a:endCxn id="16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直接箭头连接符 179"/>
            <p:cNvCxnSpPr>
              <a:stCxn id="161" idx="6"/>
              <a:endCxn id="16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>
              <a:stCxn id="161" idx="7"/>
              <a:endCxn id="16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162" idx="6"/>
              <a:endCxn id="16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箭头连接符 182"/>
            <p:cNvCxnSpPr>
              <a:stCxn id="163" idx="6"/>
              <a:endCxn id="16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TextBox 33"/>
            <p:cNvSpPr txBox="1"/>
            <p:nvPr/>
          </p:nvSpPr>
          <p:spPr>
            <a:xfrm>
              <a:off x="1866880" y="400050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6" name="TextBox 45"/>
            <p:cNvSpPr txBox="1"/>
            <p:nvPr/>
          </p:nvSpPr>
          <p:spPr>
            <a:xfrm>
              <a:off x="4441824" y="486651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7" name="TextBox 46"/>
            <p:cNvSpPr txBox="1"/>
            <p:nvPr/>
          </p:nvSpPr>
          <p:spPr>
            <a:xfrm>
              <a:off x="4760914" y="545466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8" name="TextBox 47"/>
            <p:cNvSpPr txBox="1"/>
            <p:nvPr/>
          </p:nvSpPr>
          <p:spPr>
            <a:xfrm>
              <a:off x="6143636" y="455930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9" name="TextBox 48"/>
            <p:cNvSpPr txBox="1"/>
            <p:nvPr/>
          </p:nvSpPr>
          <p:spPr>
            <a:xfrm>
              <a:off x="6215074" y="350043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1" name="直接箭头连接符 200"/>
            <p:cNvCxnSpPr>
              <a:stCxn id="158" idx="7"/>
              <a:endCxn id="15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2218690" y="-52706"/>
            <a:ext cx="828040" cy="3133091"/>
            <a:chOff x="500034" y="2383506"/>
            <a:chExt cx="928694" cy="4123185"/>
          </a:xfrm>
        </p:grpSpPr>
        <p:sp>
          <p:nvSpPr>
            <p:cNvPr id="204" name="圆角矩形 203"/>
            <p:cNvSpPr/>
            <p:nvPr/>
          </p:nvSpPr>
          <p:spPr>
            <a:xfrm>
              <a:off x="500034" y="2934791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TextBox 88"/>
            <p:cNvSpPr txBox="1"/>
            <p:nvPr/>
          </p:nvSpPr>
          <p:spPr>
            <a:xfrm>
              <a:off x="560678" y="2383506"/>
              <a:ext cx="789073" cy="605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=2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-165075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395605" y="2936875"/>
            <a:ext cx="8532495" cy="1974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④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]}=min{6+6,2+7,5+6}=9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61327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1000125" y="480695"/>
            <a:ext cx="6080760" cy="2585733"/>
            <a:chOff x="1000100" y="2786058"/>
            <a:chExt cx="6357982" cy="3088348"/>
          </a:xfrm>
        </p:grpSpPr>
        <p:sp>
          <p:nvSpPr>
            <p:cNvPr id="155" name="椭圆 15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8" name="椭圆 15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9" name="椭圆 15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5" name="直接箭头连接符 164"/>
            <p:cNvCxnSpPr>
              <a:stCxn id="155" idx="7"/>
              <a:endCxn id="15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7" name="直接箭头连接符 166"/>
            <p:cNvCxnSpPr>
              <a:stCxn id="155" idx="6"/>
              <a:endCxn id="15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>
              <a:stCxn id="155" idx="5"/>
              <a:endCxn id="15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>
              <a:stCxn id="156" idx="6"/>
              <a:endCxn id="15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箭头连接符 169"/>
            <p:cNvCxnSpPr>
              <a:stCxn id="156" idx="5"/>
              <a:endCxn id="16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>
              <a:stCxn id="157" idx="6"/>
              <a:endCxn id="16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箭头连接符 171"/>
            <p:cNvCxnSpPr>
              <a:stCxn id="157" idx="7"/>
              <a:endCxn id="15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>
              <a:stCxn id="157" idx="5"/>
              <a:endCxn id="16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箭头连接符 173"/>
            <p:cNvCxnSpPr>
              <a:endCxn id="16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箭头连接符 174"/>
            <p:cNvCxnSpPr>
              <a:stCxn id="158" idx="6"/>
              <a:endCxn id="16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箭头连接符 175"/>
            <p:cNvCxnSpPr>
              <a:stCxn id="159" idx="6"/>
              <a:endCxn id="16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箭头连接符 176"/>
            <p:cNvCxnSpPr>
              <a:stCxn id="159" idx="5"/>
              <a:endCxn id="16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/>
            <p:cNvCxnSpPr>
              <a:stCxn id="160" idx="7"/>
              <a:endCxn id="16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直接箭头连接符 178"/>
            <p:cNvCxnSpPr>
              <a:stCxn id="160" idx="5"/>
              <a:endCxn id="16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直接箭头连接符 179"/>
            <p:cNvCxnSpPr>
              <a:stCxn id="161" idx="6"/>
              <a:endCxn id="16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>
              <a:stCxn id="161" idx="7"/>
              <a:endCxn id="16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162" idx="6"/>
              <a:endCxn id="16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箭头连接符 182"/>
            <p:cNvCxnSpPr>
              <a:stCxn id="163" idx="6"/>
              <a:endCxn id="16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TextBox 33"/>
            <p:cNvSpPr txBox="1"/>
            <p:nvPr/>
          </p:nvSpPr>
          <p:spPr>
            <a:xfrm>
              <a:off x="1866880" y="400050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6" name="TextBox 45"/>
            <p:cNvSpPr txBox="1"/>
            <p:nvPr/>
          </p:nvSpPr>
          <p:spPr>
            <a:xfrm>
              <a:off x="4441824" y="486651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7" name="TextBox 46"/>
            <p:cNvSpPr txBox="1"/>
            <p:nvPr/>
          </p:nvSpPr>
          <p:spPr>
            <a:xfrm>
              <a:off x="4760914" y="545466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8" name="TextBox 47"/>
            <p:cNvSpPr txBox="1"/>
            <p:nvPr/>
          </p:nvSpPr>
          <p:spPr>
            <a:xfrm>
              <a:off x="6143636" y="455930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9" name="TextBox 48"/>
            <p:cNvSpPr txBox="1"/>
            <p:nvPr/>
          </p:nvSpPr>
          <p:spPr>
            <a:xfrm>
              <a:off x="6215074" y="350043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1" name="直接箭头连接符 200"/>
            <p:cNvCxnSpPr>
              <a:stCxn id="158" idx="7"/>
              <a:endCxn id="15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2218690" y="-52706"/>
            <a:ext cx="828040" cy="3133091"/>
            <a:chOff x="500034" y="2383506"/>
            <a:chExt cx="928694" cy="4123185"/>
          </a:xfrm>
        </p:grpSpPr>
        <p:sp>
          <p:nvSpPr>
            <p:cNvPr id="204" name="圆角矩形 203"/>
            <p:cNvSpPr/>
            <p:nvPr/>
          </p:nvSpPr>
          <p:spPr>
            <a:xfrm>
              <a:off x="500034" y="2934791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TextBox 88"/>
            <p:cNvSpPr txBox="1"/>
            <p:nvPr/>
          </p:nvSpPr>
          <p:spPr>
            <a:xfrm>
              <a:off x="560678" y="2383506"/>
              <a:ext cx="789073" cy="6058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=2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-165075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207" name="文本框 206"/>
          <p:cNvSpPr txBox="1"/>
          <p:nvPr/>
        </p:nvSpPr>
        <p:spPr>
          <a:xfrm>
            <a:off x="395605" y="2936875"/>
            <a:ext cx="8532495" cy="197421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⑤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/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)+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]}=min{2+11,4+9,3+9}=12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buFont typeface="Arial" panose="020B0604020202020204" pitchFamily="34" charset="0"/>
            </a:pP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613275"/>
          <a:ext cx="7555865" cy="188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en-US" altLang="zh-CN" sz="280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矩形 1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154" name="组合 153"/>
          <p:cNvGrpSpPr/>
          <p:nvPr/>
        </p:nvGrpSpPr>
        <p:grpSpPr>
          <a:xfrm>
            <a:off x="1000125" y="480695"/>
            <a:ext cx="6080760" cy="2585733"/>
            <a:chOff x="1000100" y="2786058"/>
            <a:chExt cx="6357982" cy="3088348"/>
          </a:xfrm>
        </p:grpSpPr>
        <p:sp>
          <p:nvSpPr>
            <p:cNvPr id="155" name="椭圆 15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6" name="椭圆 15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7" name="椭圆 15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8" name="椭圆 15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59" name="椭圆 15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0" name="椭圆 15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1" name="椭圆 16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2" name="椭圆 16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3" name="椭圆 16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64" name="椭圆 16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5" name="直接箭头连接符 164"/>
            <p:cNvCxnSpPr>
              <a:stCxn id="155" idx="7"/>
              <a:endCxn id="15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167" name="直接箭头连接符 166"/>
            <p:cNvCxnSpPr>
              <a:stCxn id="155" idx="6"/>
              <a:endCxn id="15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8" name="直接箭头连接符 167"/>
            <p:cNvCxnSpPr>
              <a:stCxn id="155" idx="5"/>
              <a:endCxn id="15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69" name="直接箭头连接符 168"/>
            <p:cNvCxnSpPr>
              <a:stCxn id="156" idx="6"/>
              <a:endCxn id="15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0" name="直接箭头连接符 169"/>
            <p:cNvCxnSpPr>
              <a:stCxn id="156" idx="5"/>
              <a:endCxn id="16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1" name="直接箭头连接符 170"/>
            <p:cNvCxnSpPr>
              <a:stCxn id="157" idx="6"/>
              <a:endCxn id="16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2" name="直接箭头连接符 171"/>
            <p:cNvCxnSpPr>
              <a:stCxn id="157" idx="7"/>
              <a:endCxn id="15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3" name="直接箭头连接符 172"/>
            <p:cNvCxnSpPr>
              <a:stCxn id="157" idx="5"/>
              <a:endCxn id="16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4" name="直接箭头连接符 173"/>
            <p:cNvCxnSpPr>
              <a:endCxn id="16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5" name="直接箭头连接符 174"/>
            <p:cNvCxnSpPr>
              <a:stCxn id="158" idx="6"/>
              <a:endCxn id="16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6" name="直接箭头连接符 175"/>
            <p:cNvCxnSpPr>
              <a:stCxn id="159" idx="6"/>
              <a:endCxn id="16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7" name="直接箭头连接符 176"/>
            <p:cNvCxnSpPr>
              <a:stCxn id="159" idx="5"/>
              <a:endCxn id="16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8" name="直接箭头连接符 177"/>
            <p:cNvCxnSpPr>
              <a:stCxn id="160" idx="7"/>
              <a:endCxn id="16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79" name="直接箭头连接符 178"/>
            <p:cNvCxnSpPr>
              <a:stCxn id="160" idx="5"/>
              <a:endCxn id="16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0" name="直接箭头连接符 179"/>
            <p:cNvCxnSpPr>
              <a:stCxn id="161" idx="6"/>
              <a:endCxn id="16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1" name="直接箭头连接符 180"/>
            <p:cNvCxnSpPr>
              <a:stCxn id="161" idx="7"/>
              <a:endCxn id="16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2" name="直接箭头连接符 181"/>
            <p:cNvCxnSpPr>
              <a:stCxn id="162" idx="6"/>
              <a:endCxn id="16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3" name="直接箭头连接符 182"/>
            <p:cNvCxnSpPr>
              <a:stCxn id="163" idx="6"/>
              <a:endCxn id="16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84" name="TextBox 33"/>
            <p:cNvSpPr txBox="1"/>
            <p:nvPr/>
          </p:nvSpPr>
          <p:spPr>
            <a:xfrm>
              <a:off x="1866880" y="400050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8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6" name="TextBox 45"/>
            <p:cNvSpPr txBox="1"/>
            <p:nvPr/>
          </p:nvSpPr>
          <p:spPr>
            <a:xfrm>
              <a:off x="4441824" y="486651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7" name="TextBox 46"/>
            <p:cNvSpPr txBox="1"/>
            <p:nvPr/>
          </p:nvSpPr>
          <p:spPr>
            <a:xfrm>
              <a:off x="4760914" y="545466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C00000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C00000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8" name="TextBox 47"/>
            <p:cNvSpPr txBox="1"/>
            <p:nvPr/>
          </p:nvSpPr>
          <p:spPr>
            <a:xfrm>
              <a:off x="6143636" y="455930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199" name="TextBox 48"/>
            <p:cNvSpPr txBox="1"/>
            <p:nvPr/>
          </p:nvSpPr>
          <p:spPr>
            <a:xfrm>
              <a:off x="6215074" y="350043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20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cxnSp>
          <p:nvCxnSpPr>
            <p:cNvPr id="201" name="直接箭头连接符 200"/>
            <p:cNvCxnSpPr>
              <a:stCxn id="158" idx="7"/>
              <a:endCxn id="15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0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grpSp>
        <p:nvGrpSpPr>
          <p:cNvPr id="203" name="组合 202"/>
          <p:cNvGrpSpPr/>
          <p:nvPr/>
        </p:nvGrpSpPr>
        <p:grpSpPr>
          <a:xfrm>
            <a:off x="855345" y="90805"/>
            <a:ext cx="812165" cy="2748915"/>
            <a:chOff x="500034" y="2604530"/>
            <a:chExt cx="928694" cy="4233697"/>
          </a:xfrm>
        </p:grpSpPr>
        <p:sp>
          <p:nvSpPr>
            <p:cNvPr id="204" name="圆角矩形 203"/>
            <p:cNvSpPr/>
            <p:nvPr/>
          </p:nvSpPr>
          <p:spPr>
            <a:xfrm>
              <a:off x="500034" y="3266327"/>
              <a:ext cx="928694" cy="3571900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205" name="TextBox 88"/>
            <p:cNvSpPr txBox="1"/>
            <p:nvPr/>
          </p:nvSpPr>
          <p:spPr>
            <a:xfrm>
              <a:off x="560678" y="2604530"/>
              <a:ext cx="789073" cy="7090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i="1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k</a:t>
              </a:r>
              <a:r>
                <a:rPr lang="en-US" altLang="zh-CN" smtClean="0">
                  <a:solidFill>
                    <a:srgbClr val="0000FF"/>
                  </a:solidFill>
                  <a:cs typeface="Times New Roman" panose="02020603050405020304" pitchFamily="18" charset="0"/>
                </a:rPr>
                <a:t>=1</a:t>
              </a:r>
              <a:endParaRPr lang="zh-CN" altLang="en-US">
                <a:solidFill>
                  <a:srgbClr val="0000FF"/>
                </a:solidFill>
                <a:cs typeface="Times New Roman" panose="02020603050405020304" pitchFamily="18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-165075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506730" y="1860550"/>
          <a:ext cx="7555865" cy="188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</a:rPr>
                        <a:t>12</a:t>
                      </a:r>
                      <a:endParaRPr lang="en-US" altLang="zh-CN" sz="2800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Next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</a:rPr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ClrTx/>
                        <a:buSzTx/>
                        <a:buFontTx/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chemeClr val="bg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 sz="2400" b="1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标题 3"/>
          <p:cNvSpPr>
            <a:spLocks noGrp="1"/>
          </p:cNvSpPr>
          <p:nvPr>
            <p:ph type="title"/>
          </p:nvPr>
        </p:nvSpPr>
        <p:spPr>
          <a:xfrm>
            <a:off x="506730" y="314960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3" name="TextBox 50"/>
          <p:cNvSpPr txBox="1"/>
          <p:nvPr/>
        </p:nvSpPr>
        <p:spPr>
          <a:xfrm>
            <a:off x="426085" y="3970020"/>
            <a:ext cx="8291830" cy="218884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l"/>
            </a:pPr>
            <a:r>
              <a:rPr 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结果输出</a:t>
            </a:r>
            <a:endParaRPr lang="zh-CN" smtClean="0">
              <a:solidFill>
                <a:schemeClr val="bg1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dp[0]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中就是问题的最优解，即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→E</a:t>
            </a:r>
            <a:r>
              <a:rPr lang="zh-CN" altLang="en-US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的最短路径为</a:t>
            </a:r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r>
            <a:r>
              <a:rPr lang="zh-CN" altLang="en-US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。</a:t>
            </a:r>
            <a:endParaRPr lang="zh-CN" altLang="en-US" smtClean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）路径为：  </a:t>
            </a:r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A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→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Next[0](</a:t>
            </a:r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3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,B3)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→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Next[</a:t>
            </a:r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3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](</a:t>
            </a:r>
            <a:r>
              <a:rPr lang="en-US" altLang="zh-CN" b="1" smtClean="0">
                <a:solidFill>
                  <a:srgbClr val="5910EE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5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,C2)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→</a:t>
            </a:r>
            <a:endParaRPr lang="zh-CN" altLang="en-US" smtClean="0">
              <a:solidFill>
                <a:schemeClr val="bg1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             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Next[</a:t>
            </a:r>
            <a:r>
              <a:rPr lang="en-US" altLang="zh-CN" b="1" smtClean="0">
                <a:solidFill>
                  <a:srgbClr val="5910EE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5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](</a:t>
            </a:r>
            <a:r>
              <a:rPr lang="en-US" altLang="zh-CN" b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8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,D2)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→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Next[</a:t>
            </a:r>
            <a:r>
              <a:rPr lang="en-US" altLang="zh-CN" b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8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](9,E)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。</a:t>
            </a:r>
            <a:endParaRPr lang="zh-CN" altLang="en-US" smtClean="0">
              <a:solidFill>
                <a:schemeClr val="bg1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  <a:sym typeface="+mn-ea"/>
            </a:endParaRPr>
          </a:p>
          <a:p>
            <a:pPr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</a:pP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             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ea"/>
              </a:rPr>
              <a:t>A</a:t>
            </a:r>
            <a:r>
              <a:rPr lang="zh-CN" altLang="en-US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→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B3</a:t>
            </a:r>
            <a:r>
              <a:rPr lang="zh-CN" altLang="en-US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→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C2</a:t>
            </a:r>
            <a:r>
              <a:rPr lang="zh-CN" altLang="en-US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→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D2</a:t>
            </a:r>
            <a:r>
              <a:rPr lang="zh-CN" altLang="en-US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→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E</a:t>
            </a:r>
            <a:endParaRPr lang="en-US" altLang="zh-CN" sz="2800" b="1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166370" y="1628775"/>
            <a:ext cx="8582025" cy="2481580"/>
          </a:xfrm>
        </p:spPr>
        <p:txBody>
          <a:bodyPr vert="horz" wrap="square" lIns="91440" tIns="45720" rIns="91440" bIns="45720" numCol="1" anchor="t" anchorCtr="0" compatLnSpc="1"/>
          <a:lstStyle/>
          <a:p>
            <a:pPr marR="0" lvl="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Char char="Ø"/>
              <a:defRPr/>
            </a:pPr>
            <a:r>
              <a:rPr lang="zh-CN" altLang="zh-CN" sz="2400" dirty="0" smtClean="0">
                <a:solidFill>
                  <a:srgbClr val="FF0000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正序解法</a:t>
            </a:r>
            <a:r>
              <a:rPr lang="zh-CN" altLang="zh-CN" sz="2400" b="0" dirty="0" smtClean="0">
                <a:solidFill>
                  <a:schemeClr val="bg2"/>
                </a:solidFill>
                <a:latin typeface="宋体" panose="02010600030101010101" pitchFamily="2" charset="-122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：从起点向终点逐个阶段计算。</a:t>
            </a:r>
            <a:endParaRPr lang="zh-CN" altLang="zh-CN" sz="2400" b="0" dirty="0" smtClean="0">
              <a:solidFill>
                <a:schemeClr val="bg2"/>
              </a:solidFill>
              <a:latin typeface="宋体" panose="02010600030101010101" pitchFamily="2" charset="-122"/>
              <a:ea typeface="宋体" panose="02010600030101010101" pitchFamily="2" charset="-122"/>
              <a:cs typeface="Times New Roman" panose="02020603050405020304" pitchFamily="18" charset="0"/>
              <a:sym typeface="+mn-ea"/>
            </a:endParaRPr>
          </a:p>
          <a:p>
            <a:pPr marL="457200" marR="0" lvl="1" indent="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1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）数组</a:t>
            </a:r>
            <a:r>
              <a:rPr kumimoji="0" lang="en-US" altLang="zh-CN" sz="2400" i="1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dp</a:t>
            </a:r>
            <a:r>
              <a:rPr kumimoji="0" lang="zh-CN" altLang="en-US" sz="2400" b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用于记录起点到每个阶段中各状态结点的最短距离。</a:t>
            </a:r>
            <a:endParaRPr kumimoji="0" lang="zh-CN" altLang="en-US" sz="2400" b="0" i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楷体" panose="02010609060101010101" pitchFamily="49" charset="-122"/>
              <a:ea typeface="宋体" panose="02010600030101010101" pitchFamily="2" charset="-122"/>
              <a:cs typeface="楷体" panose="02010609060101010101" pitchFamily="49" charset="-122"/>
            </a:endParaRPr>
          </a:p>
          <a:p>
            <a:pPr marL="457200" marR="0" lvl="1" indent="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Wingdings" panose="05000000000000000000" charset="0"/>
              <a:buNone/>
              <a:defRPr/>
            </a:pP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（</a:t>
            </a:r>
            <a:r>
              <a:rPr kumimoji="0" lang="en-US" altLang="zh-CN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2</a:t>
            </a:r>
            <a:r>
              <a:rPr kumimoji="0" lang="zh-CN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</a:rPr>
              <a:t>）数组</a:t>
            </a:r>
            <a:r>
              <a:rPr kumimoji="0" lang="en-US" altLang="zh-CN" sz="2400" i="1" kern="12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pre</a:t>
            </a:r>
            <a:r>
              <a:rPr kumimoji="0" lang="zh-CN" altLang="en-US" sz="2400" b="0" kern="12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sym typeface="+mn-ea"/>
              </a:rPr>
              <a:t>：</a:t>
            </a:r>
            <a:r>
              <a:rPr kumimoji="0" lang="zh-CN" altLang="en-US" sz="2400" b="0" kern="120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楷体" panose="02010609060101010101" pitchFamily="49" charset="-122"/>
                <a:ea typeface="宋体" panose="02010600030101010101" pitchFamily="2" charset="-122"/>
                <a:cs typeface="楷体" panose="02010609060101010101" pitchFamily="49" charset="-122"/>
                <a:sym typeface="+mn-ea"/>
              </a:rPr>
              <a:t>记录各状态结点到起点的最短距离的前趋结点编号</a:t>
            </a:r>
            <a:endParaRPr kumimoji="0" lang="en-US" altLang="zh-CN" sz="2400" b="0" u="none" strike="noStrike" kern="1200" cap="none" spc="0" normalizeH="0" baseline="0" noProof="0" dirty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楷体" panose="02010609060101010101" pitchFamily="49" charset="-122"/>
              <a:ea typeface="宋体" panose="02010600030101010101" pitchFamily="2" charset="-122"/>
              <a:cs typeface="楷体" panose="02010609060101010101" pitchFamily="49" charset="-122"/>
              <a:sym typeface="+mn-ea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3963670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314960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915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915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250690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矩形 57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16710" y="444500"/>
            <a:ext cx="6896100" cy="2585733"/>
            <a:chOff x="1000100" y="2786058"/>
            <a:chExt cx="6357982" cy="3088348"/>
          </a:xfrm>
        </p:grpSpPr>
        <p:sp>
          <p:nvSpPr>
            <p:cNvPr id="5" name="椭圆 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5" name="直接箭头连接符 14"/>
            <p:cNvCxnSpPr>
              <a:stCxn id="5" idx="7"/>
              <a:endCxn id="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7" name="直接箭头连接符 16"/>
            <p:cNvCxnSpPr>
              <a:stCxn id="5" idx="6"/>
              <a:endCxn id="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5"/>
              <a:endCxn id="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6" idx="6"/>
              <a:endCxn id="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6" idx="5"/>
              <a:endCxn id="1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7" idx="6"/>
              <a:endCxn id="1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7" idx="7"/>
              <a:endCxn id="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5"/>
              <a:endCxn id="1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1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  <a:endCxn id="1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9" idx="6"/>
              <a:endCxn id="1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9" idx="5"/>
              <a:endCxn id="1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0" idx="7"/>
              <a:endCxn id="1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10" idx="5"/>
              <a:endCxn id="1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1" idx="6"/>
              <a:endCxn id="1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11" idx="7"/>
              <a:endCxn id="1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2" idx="6"/>
              <a:endCxn id="1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3" idx="6"/>
              <a:endCxn id="1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866880" y="40005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41824" y="486651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60914" y="5454665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43636" y="455930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15074" y="3500439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51" name="直接箭头连接符 50"/>
            <p:cNvCxnSpPr>
              <a:stCxn id="8" idx="7"/>
              <a:endCxn id="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1511300" y="861060"/>
            <a:ext cx="866775" cy="1985645"/>
            <a:chOff x="11719" y="3225318"/>
            <a:chExt cx="1087557" cy="2399321"/>
          </a:xfrm>
        </p:grpSpPr>
        <p:sp>
          <p:nvSpPr>
            <p:cNvPr id="55" name="圆角矩形 54"/>
            <p:cNvSpPr/>
            <p:nvPr/>
          </p:nvSpPr>
          <p:spPr>
            <a:xfrm>
              <a:off x="11719" y="3225318"/>
              <a:ext cx="929005" cy="1954292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0986" y="5179610"/>
              <a:ext cx="908290" cy="4450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=1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07" name="文本框 206"/>
          <p:cNvSpPr txBox="1"/>
          <p:nvPr/>
        </p:nvSpPr>
        <p:spPr>
          <a:xfrm>
            <a:off x="290195" y="3397250"/>
            <a:ext cx="7548880" cy="46037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lstStyle/>
          <a:p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①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阶段作为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起始阶段：状态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到起点的最短距离为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0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89648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矩形 57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16710" y="444500"/>
            <a:ext cx="6896100" cy="2585733"/>
            <a:chOff x="1000100" y="2786058"/>
            <a:chExt cx="6357982" cy="3088348"/>
          </a:xfrm>
        </p:grpSpPr>
        <p:sp>
          <p:nvSpPr>
            <p:cNvPr id="5" name="椭圆 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5" name="直接箭头连接符 14"/>
            <p:cNvCxnSpPr>
              <a:stCxn id="5" idx="7"/>
              <a:endCxn id="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7" name="直接箭头连接符 16"/>
            <p:cNvCxnSpPr>
              <a:stCxn id="5" idx="6"/>
              <a:endCxn id="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5"/>
              <a:endCxn id="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6" idx="6"/>
              <a:endCxn id="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6" idx="5"/>
              <a:endCxn id="1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7" idx="6"/>
              <a:endCxn id="1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7" idx="7"/>
              <a:endCxn id="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5"/>
              <a:endCxn id="1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1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  <a:endCxn id="1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9" idx="6"/>
              <a:endCxn id="1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9" idx="5"/>
              <a:endCxn id="1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0" idx="7"/>
              <a:endCxn id="1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10" idx="5"/>
              <a:endCxn id="1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1" idx="6"/>
              <a:endCxn id="1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11" idx="7"/>
              <a:endCxn id="1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2" idx="6"/>
              <a:endCxn id="1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3" idx="6"/>
              <a:endCxn id="1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866880" y="40005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41824" y="486651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60914" y="5454665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43636" y="455930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15074" y="3500439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51" name="直接箭头连接符 50"/>
            <p:cNvCxnSpPr>
              <a:stCxn id="8" idx="7"/>
              <a:endCxn id="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3028315" y="330835"/>
            <a:ext cx="866775" cy="3124344"/>
            <a:chOff x="11719" y="3225318"/>
            <a:chExt cx="1087557" cy="2215451"/>
          </a:xfrm>
        </p:grpSpPr>
        <p:sp>
          <p:nvSpPr>
            <p:cNvPr id="55" name="圆角矩形 54"/>
            <p:cNvSpPr/>
            <p:nvPr/>
          </p:nvSpPr>
          <p:spPr>
            <a:xfrm>
              <a:off x="11719" y="3225318"/>
              <a:ext cx="929005" cy="1954292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0986" y="5179610"/>
              <a:ext cx="908290" cy="261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=2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  <p:sp>
        <p:nvSpPr>
          <p:cNvPr id="207" name="文本框 206"/>
          <p:cNvSpPr txBox="1"/>
          <p:nvPr/>
        </p:nvSpPr>
        <p:spPr>
          <a:xfrm>
            <a:off x="395605" y="3110230"/>
            <a:ext cx="6645275" cy="1714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Calibri" panose="020F0502020204030204" charset="0"/>
                <a:cs typeface="宋体" panose="02010600030101010101" pitchFamily="2" charset="-122"/>
                <a:sym typeface="+mn-ea"/>
              </a:rPr>
              <a:t>②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1=min{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)}={0+2}=2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2=min{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)}={0+4}=4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3=min{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A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)}={0+3}=3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文本框 206"/>
          <p:cNvSpPr txBox="1"/>
          <p:nvPr/>
        </p:nvSpPr>
        <p:spPr>
          <a:xfrm>
            <a:off x="395605" y="3110230"/>
            <a:ext cx="8353425" cy="2120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Calibri" panose="020F0502020204030204" charset="0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1=min{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),}={2+7,4+3,3+6}=7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89648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矩形 57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16710" y="444500"/>
            <a:ext cx="6896100" cy="2585733"/>
            <a:chOff x="1000100" y="2786058"/>
            <a:chExt cx="6357982" cy="3088348"/>
          </a:xfrm>
        </p:grpSpPr>
        <p:sp>
          <p:nvSpPr>
            <p:cNvPr id="5" name="椭圆 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5" name="直接箭头连接符 14"/>
            <p:cNvCxnSpPr>
              <a:stCxn id="5" idx="7"/>
              <a:endCxn id="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7" name="直接箭头连接符 16"/>
            <p:cNvCxnSpPr>
              <a:stCxn id="5" idx="6"/>
              <a:endCxn id="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5"/>
              <a:endCxn id="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6" idx="6"/>
              <a:endCxn id="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6" idx="5"/>
              <a:endCxn id="1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7" idx="6"/>
              <a:endCxn id="1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7" idx="7"/>
              <a:endCxn id="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5"/>
              <a:endCxn id="1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1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  <a:endCxn id="1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9" idx="6"/>
              <a:endCxn id="1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9" idx="5"/>
              <a:endCxn id="1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0" idx="7"/>
              <a:endCxn id="1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10" idx="5"/>
              <a:endCxn id="1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1" idx="6"/>
              <a:endCxn id="1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11" idx="7"/>
              <a:endCxn id="1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2" idx="6"/>
              <a:endCxn id="1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3" idx="6"/>
              <a:endCxn id="1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866880" y="40005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41824" y="486651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60914" y="5454665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43636" y="455930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15074" y="3500439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51" name="直接箭头连接符 50"/>
            <p:cNvCxnSpPr>
              <a:stCxn id="8" idx="7"/>
              <a:endCxn id="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822190" y="330835"/>
            <a:ext cx="866775" cy="3124344"/>
            <a:chOff x="11719" y="3225318"/>
            <a:chExt cx="1087557" cy="2215451"/>
          </a:xfrm>
        </p:grpSpPr>
        <p:sp>
          <p:nvSpPr>
            <p:cNvPr id="55" name="圆角矩形 54"/>
            <p:cNvSpPr/>
            <p:nvPr/>
          </p:nvSpPr>
          <p:spPr>
            <a:xfrm>
              <a:off x="11719" y="3225318"/>
              <a:ext cx="929005" cy="1954292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0986" y="5179610"/>
              <a:ext cx="908290" cy="261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文本框 206"/>
          <p:cNvSpPr txBox="1"/>
          <p:nvPr/>
        </p:nvSpPr>
        <p:spPr>
          <a:xfrm>
            <a:off x="395605" y="3110230"/>
            <a:ext cx="8353425" cy="2120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Calibri" panose="020F0502020204030204" charset="0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),}={2+4,4+2,3+2}=5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89648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矩形 57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16710" y="444500"/>
            <a:ext cx="6896100" cy="2585733"/>
            <a:chOff x="1000100" y="2786058"/>
            <a:chExt cx="6357982" cy="3088348"/>
          </a:xfrm>
        </p:grpSpPr>
        <p:sp>
          <p:nvSpPr>
            <p:cNvPr id="5" name="椭圆 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5" name="直接箭头连接符 14"/>
            <p:cNvCxnSpPr>
              <a:stCxn id="5" idx="7"/>
              <a:endCxn id="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7" name="直接箭头连接符 16"/>
            <p:cNvCxnSpPr>
              <a:stCxn id="5" idx="6"/>
              <a:endCxn id="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5"/>
              <a:endCxn id="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6" idx="6"/>
              <a:endCxn id="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6" idx="5"/>
              <a:endCxn id="1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7" idx="6"/>
              <a:endCxn id="1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7" idx="7"/>
              <a:endCxn id="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5"/>
              <a:endCxn id="1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1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  <a:endCxn id="1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9" idx="6"/>
              <a:endCxn id="1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9" idx="5"/>
              <a:endCxn id="1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0" idx="7"/>
              <a:endCxn id="1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10" idx="5"/>
              <a:endCxn id="1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1" idx="6"/>
              <a:endCxn id="1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11" idx="7"/>
              <a:endCxn id="1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2" idx="6"/>
              <a:endCxn id="1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3" idx="6"/>
              <a:endCxn id="1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866880" y="40005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41824" y="486651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60914" y="5454665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43636" y="455930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15074" y="3500439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51" name="直接箭头连接符 50"/>
            <p:cNvCxnSpPr>
              <a:stCxn id="8" idx="7"/>
              <a:endCxn id="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822190" y="330835"/>
            <a:ext cx="866775" cy="3124344"/>
            <a:chOff x="11719" y="3225318"/>
            <a:chExt cx="1087557" cy="2215451"/>
          </a:xfrm>
        </p:grpSpPr>
        <p:sp>
          <p:nvSpPr>
            <p:cNvPr id="55" name="圆角矩形 54"/>
            <p:cNvSpPr/>
            <p:nvPr/>
          </p:nvSpPr>
          <p:spPr>
            <a:xfrm>
              <a:off x="11719" y="3225318"/>
              <a:ext cx="929005" cy="1954292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0986" y="5179610"/>
              <a:ext cx="908290" cy="261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文本框 206"/>
          <p:cNvSpPr txBox="1"/>
          <p:nvPr/>
        </p:nvSpPr>
        <p:spPr>
          <a:xfrm>
            <a:off x="395605" y="3110230"/>
            <a:ext cx="8353425" cy="17145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Calibri" panose="020F0502020204030204" charset="0"/>
                <a:cs typeface="宋体" panose="02010600030101010101" pitchFamily="2" charset="-122"/>
                <a:sym typeface="+mn-ea"/>
              </a:rPr>
              <a:t>③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B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),}={4+4,3+5}=8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537710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矩形 57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16710" y="444500"/>
            <a:ext cx="6896100" cy="2585733"/>
            <a:chOff x="1000100" y="2786058"/>
            <a:chExt cx="6357982" cy="3088348"/>
          </a:xfrm>
        </p:grpSpPr>
        <p:sp>
          <p:nvSpPr>
            <p:cNvPr id="5" name="椭圆 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5" name="直接箭头连接符 14"/>
            <p:cNvCxnSpPr>
              <a:stCxn id="5" idx="7"/>
              <a:endCxn id="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7" name="直接箭头连接符 16"/>
            <p:cNvCxnSpPr>
              <a:stCxn id="5" idx="6"/>
              <a:endCxn id="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5"/>
              <a:endCxn id="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6" idx="6"/>
              <a:endCxn id="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6" idx="5"/>
              <a:endCxn id="1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7" idx="6"/>
              <a:endCxn id="1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7" idx="7"/>
              <a:endCxn id="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5"/>
              <a:endCxn id="1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1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  <a:endCxn id="1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9" idx="6"/>
              <a:endCxn id="1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9" idx="5"/>
              <a:endCxn id="1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0" idx="7"/>
              <a:endCxn id="1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10" idx="5"/>
              <a:endCxn id="1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1" idx="6"/>
              <a:endCxn id="1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11" idx="7"/>
              <a:endCxn id="1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2" idx="6"/>
              <a:endCxn id="1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3" idx="6"/>
              <a:endCxn id="1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866880" y="40005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41824" y="486651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60914" y="5454665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43636" y="455930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15074" y="3500439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51" name="直接箭头连接符 50"/>
            <p:cNvCxnSpPr>
              <a:stCxn id="8" idx="7"/>
              <a:endCxn id="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4822190" y="330835"/>
            <a:ext cx="866775" cy="3124344"/>
            <a:chOff x="11719" y="3225318"/>
            <a:chExt cx="1087557" cy="2215451"/>
          </a:xfrm>
        </p:grpSpPr>
        <p:sp>
          <p:nvSpPr>
            <p:cNvPr id="55" name="圆角矩形 54"/>
            <p:cNvSpPr/>
            <p:nvPr/>
          </p:nvSpPr>
          <p:spPr>
            <a:xfrm>
              <a:off x="11719" y="3225318"/>
              <a:ext cx="929005" cy="1954292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0986" y="5179610"/>
              <a:ext cx="908290" cy="261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=3</a:t>
              </a:r>
              <a:endParaRPr lang="zh-CN" alt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文本框 206"/>
          <p:cNvSpPr txBox="1"/>
          <p:nvPr/>
        </p:nvSpPr>
        <p:spPr>
          <a:xfrm>
            <a:off x="395605" y="3110230"/>
            <a:ext cx="8353425" cy="2120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④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)}={7+3,5+6,8+3}=10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89648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b="1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矩形 57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16710" y="444500"/>
            <a:ext cx="6896100" cy="2585733"/>
            <a:chOff x="1000100" y="2786058"/>
            <a:chExt cx="6357982" cy="3088348"/>
          </a:xfrm>
        </p:grpSpPr>
        <p:sp>
          <p:nvSpPr>
            <p:cNvPr id="5" name="椭圆 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5" name="直接箭头连接符 14"/>
            <p:cNvCxnSpPr>
              <a:stCxn id="5" idx="7"/>
              <a:endCxn id="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7" name="直接箭头连接符 16"/>
            <p:cNvCxnSpPr>
              <a:stCxn id="5" idx="6"/>
              <a:endCxn id="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5"/>
              <a:endCxn id="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6" idx="6"/>
              <a:endCxn id="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6" idx="5"/>
              <a:endCxn id="1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7" idx="6"/>
              <a:endCxn id="1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7" idx="7"/>
              <a:endCxn id="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5"/>
              <a:endCxn id="1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1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  <a:endCxn id="1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9" idx="6"/>
              <a:endCxn id="1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9" idx="5"/>
              <a:endCxn id="1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0" idx="7"/>
              <a:endCxn id="1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10" idx="5"/>
              <a:endCxn id="1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1" idx="6"/>
              <a:endCxn id="1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11" idx="7"/>
              <a:endCxn id="1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2" idx="6"/>
              <a:endCxn id="1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3" idx="6"/>
              <a:endCxn id="1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866880" y="40005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41824" y="486651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60914" y="5454665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43636" y="455930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15074" y="3500439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51" name="直接箭头连接符 50"/>
            <p:cNvCxnSpPr>
              <a:stCxn id="8" idx="7"/>
              <a:endCxn id="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437630" y="351790"/>
            <a:ext cx="866775" cy="3124344"/>
            <a:chOff x="11719" y="3225318"/>
            <a:chExt cx="1087557" cy="2215451"/>
          </a:xfrm>
        </p:grpSpPr>
        <p:sp>
          <p:nvSpPr>
            <p:cNvPr id="55" name="圆角矩形 54"/>
            <p:cNvSpPr/>
            <p:nvPr/>
          </p:nvSpPr>
          <p:spPr>
            <a:xfrm>
              <a:off x="11719" y="3225318"/>
              <a:ext cx="929005" cy="1954292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0986" y="5179610"/>
              <a:ext cx="908290" cy="261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en-US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文本框 206"/>
          <p:cNvSpPr txBox="1"/>
          <p:nvPr/>
        </p:nvSpPr>
        <p:spPr>
          <a:xfrm>
            <a:off x="395605" y="3110230"/>
            <a:ext cx="8353425" cy="2120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smtClean="0">
                <a:solidFill>
                  <a:schemeClr val="bg2"/>
                </a:solidFill>
                <a:latin typeface="楷体" panose="02010609060101010101" pitchFamily="49" charset="-122"/>
                <a:ea typeface="楷体" panose="02010609060101010101" pitchFamily="49" charset="-122"/>
                <a:cs typeface="宋体" panose="02010600030101010101" pitchFamily="2" charset="-122"/>
                <a:sym typeface="+mn-ea"/>
              </a:rPr>
              <a:t>④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第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sz="2000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]+Dist(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C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3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)}={7+4,5+3,8+3}=8</a:t>
            </a:r>
            <a:endParaRPr lang="en-US" altLang="zh-CN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714375" y="4896485"/>
          <a:ext cx="7555865" cy="176149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矩形 57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16710" y="444500"/>
            <a:ext cx="6896100" cy="2585733"/>
            <a:chOff x="1000100" y="2786058"/>
            <a:chExt cx="6357982" cy="3088348"/>
          </a:xfrm>
        </p:grpSpPr>
        <p:sp>
          <p:nvSpPr>
            <p:cNvPr id="5" name="椭圆 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5" name="直接箭头连接符 14"/>
            <p:cNvCxnSpPr>
              <a:stCxn id="5" idx="7"/>
              <a:endCxn id="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7" name="直接箭头连接符 16"/>
            <p:cNvCxnSpPr>
              <a:stCxn id="5" idx="6"/>
              <a:endCxn id="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5"/>
              <a:endCxn id="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6" idx="6"/>
              <a:endCxn id="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6" idx="5"/>
              <a:endCxn id="1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7" idx="6"/>
              <a:endCxn id="1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7" idx="7"/>
              <a:endCxn id="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5"/>
              <a:endCxn id="1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1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  <a:endCxn id="1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9" idx="6"/>
              <a:endCxn id="1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9" idx="5"/>
              <a:endCxn id="1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0" idx="7"/>
              <a:endCxn id="1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10" idx="5"/>
              <a:endCxn id="1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1" idx="6"/>
              <a:endCxn id="1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11" idx="7"/>
              <a:endCxn id="1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2" idx="6"/>
              <a:endCxn id="1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3" idx="6"/>
              <a:endCxn id="1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866880" y="40005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41824" y="486651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60914" y="5454665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43636" y="455930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15074" y="3500439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51" name="直接箭头连接符 50"/>
            <p:cNvCxnSpPr>
              <a:stCxn id="8" idx="7"/>
              <a:endCxn id="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6437630" y="351790"/>
            <a:ext cx="866775" cy="3124344"/>
            <a:chOff x="11719" y="3225318"/>
            <a:chExt cx="1087557" cy="2215451"/>
          </a:xfrm>
        </p:grpSpPr>
        <p:sp>
          <p:nvSpPr>
            <p:cNvPr id="55" name="圆角矩形 54"/>
            <p:cNvSpPr/>
            <p:nvPr/>
          </p:nvSpPr>
          <p:spPr>
            <a:xfrm>
              <a:off x="11719" y="3225318"/>
              <a:ext cx="929005" cy="1954292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0986" y="5179610"/>
              <a:ext cx="908290" cy="26115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en-US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4</a:t>
              </a:r>
              <a:endParaRPr 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文本框 206"/>
          <p:cNvSpPr txBox="1"/>
          <p:nvPr/>
        </p:nvSpPr>
        <p:spPr>
          <a:xfrm>
            <a:off x="395605" y="2956560"/>
            <a:ext cx="8353425" cy="21209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⑤ 第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5</a:t>
            </a:r>
            <a:r>
              <a:rPr lang="zh-CN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阶段</a:t>
            </a:r>
            <a:r>
              <a:rPr lang="zh-CN" altLang="en-US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：</a:t>
            </a:r>
            <a:endParaRPr lang="zh-CN" altLang="en-US" dirty="0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=min{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</a:t>
            </a:r>
            <a:r>
              <a:rPr lang="en-US" altLang="zh-CN" dirty="0" err="1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Dist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1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),</a:t>
            </a:r>
            <a:endParaRPr lang="en-US" altLang="zh-CN" dirty="0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      </a:t>
            </a:r>
            <a:r>
              <a:rPr lang="en-US" altLang="zh-CN" b="1" i="1" dirty="0" err="1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dp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[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]+</a:t>
            </a:r>
            <a:r>
              <a:rPr lang="en-US" altLang="zh-CN" dirty="0" err="1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Dist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D</a:t>
            </a:r>
            <a:r>
              <a:rPr lang="en-US" altLang="zh-CN" baseline="-25000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2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,</a:t>
            </a:r>
            <a:r>
              <a:rPr lang="en-US" altLang="zh-CN" b="1" i="1" dirty="0" smtClean="0">
                <a:solidFill>
                  <a:schemeClr val="bg2"/>
                </a:solidFill>
                <a:cs typeface="Times New Roman" panose="02020603050405020304" pitchFamily="18" charset="0"/>
                <a:sym typeface="+mn-ea"/>
              </a:rPr>
              <a:t>E</a:t>
            </a: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)}</a:t>
            </a:r>
            <a:endParaRPr lang="en-US" altLang="zh-CN" dirty="0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lvl="1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dirty="0" smtClean="0">
                <a:solidFill>
                  <a:schemeClr val="bg2"/>
                </a:solidFill>
                <a:latin typeface="宋体" panose="02010600030101010101" pitchFamily="2" charset="-122"/>
                <a:cs typeface="宋体" panose="02010600030101010101" pitchFamily="2" charset="-122"/>
                <a:sym typeface="+mn-ea"/>
              </a:rPr>
              <a:t>   ={10+3,8+4}=12</a:t>
            </a:r>
            <a:endParaRPr lang="en-US" altLang="zh-CN" dirty="0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800100" lvl="1" indent="-34290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endParaRPr lang="zh-CN" altLang="en-US" dirty="0" smtClean="0">
              <a:solidFill>
                <a:schemeClr val="bg2"/>
              </a:solidFill>
              <a:latin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857885" y="4681220"/>
          <a:ext cx="7555865" cy="188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altLang="zh-CN" sz="2800" b="1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800" b="1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8" name="矩形 57"/>
          <p:cNvSpPr/>
          <p:nvPr/>
        </p:nvSpPr>
        <p:spPr>
          <a:xfrm>
            <a:off x="85725" y="822960"/>
            <a:ext cx="8842375" cy="914400"/>
          </a:xfrm>
          <a:prstGeom prst="rect">
            <a:avLst/>
          </a:prstGeom>
          <a:solidFill>
            <a:schemeClr val="tx1"/>
          </a:solidFill>
          <a:ln w="12700" cap="sq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  <p:txBody>
          <a:bodyPr vert="horz" wrap="square" lIns="91440" tIns="45720" rIns="91440" bIns="45720" numCol="1" anchor="t" anchorCtr="0" compatLnSpc="1"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1" lang="en-US" altLang="zh-CN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1616710" y="444500"/>
            <a:ext cx="6896100" cy="2585733"/>
            <a:chOff x="1000100" y="2786058"/>
            <a:chExt cx="6357982" cy="3088348"/>
          </a:xfrm>
        </p:grpSpPr>
        <p:sp>
          <p:nvSpPr>
            <p:cNvPr id="5" name="椭圆 4"/>
            <p:cNvSpPr/>
            <p:nvPr/>
          </p:nvSpPr>
          <p:spPr>
            <a:xfrm>
              <a:off x="1000100" y="4071942"/>
              <a:ext cx="428628" cy="500066"/>
            </a:xfrm>
            <a:prstGeom prst="ellipse">
              <a:avLst/>
            </a:prstGeom>
          </p:spPr>
          <p:style>
            <a:lnRef idx="1">
              <a:schemeClr val="accent3"/>
            </a:lnRef>
            <a:fillRef idx="2">
              <a:schemeClr val="accent3"/>
            </a:fillRef>
            <a:effectRef idx="1">
              <a:schemeClr val="accent3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A</a:t>
              </a:r>
              <a:endParaRPr lang="zh-CN" altLang="en-US" sz="2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6" name="椭圆 5"/>
            <p:cNvSpPr/>
            <p:nvPr/>
          </p:nvSpPr>
          <p:spPr>
            <a:xfrm>
              <a:off x="2428860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7" name="椭圆 6"/>
            <p:cNvSpPr/>
            <p:nvPr/>
          </p:nvSpPr>
          <p:spPr>
            <a:xfrm>
              <a:off x="2428860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8" name="椭圆 7"/>
            <p:cNvSpPr/>
            <p:nvPr/>
          </p:nvSpPr>
          <p:spPr>
            <a:xfrm>
              <a:off x="2428860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B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9" name="椭圆 8"/>
            <p:cNvSpPr/>
            <p:nvPr/>
          </p:nvSpPr>
          <p:spPr>
            <a:xfrm>
              <a:off x="4071934" y="2857496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0" name="椭圆 9"/>
            <p:cNvSpPr/>
            <p:nvPr/>
          </p:nvSpPr>
          <p:spPr>
            <a:xfrm>
              <a:off x="4071934" y="4071942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1" name="椭圆 10"/>
            <p:cNvSpPr/>
            <p:nvPr/>
          </p:nvSpPr>
          <p:spPr>
            <a:xfrm>
              <a:off x="4071934" y="528638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C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2" name="椭圆 11"/>
            <p:cNvSpPr/>
            <p:nvPr/>
          </p:nvSpPr>
          <p:spPr>
            <a:xfrm>
              <a:off x="5572132" y="3500438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1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3" name="椭圆 12"/>
            <p:cNvSpPr/>
            <p:nvPr/>
          </p:nvSpPr>
          <p:spPr>
            <a:xfrm>
              <a:off x="5572132" y="4714884"/>
              <a:ext cx="428628" cy="50006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D</a:t>
              </a:r>
              <a:r>
                <a:rPr lang="en-US" altLang="zh-CN" sz="1600" baseline="-25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14" name="椭圆 13"/>
            <p:cNvSpPr/>
            <p:nvPr/>
          </p:nvSpPr>
          <p:spPr>
            <a:xfrm>
              <a:off x="6929454" y="4071942"/>
              <a:ext cx="428628" cy="500066"/>
            </a:xfrm>
            <a:prstGeom prst="ellipse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zh-CN" sz="20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E</a:t>
              </a:r>
              <a:endParaRPr lang="zh-CN" altLang="en-US" sz="2000" baseline="-250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5" name="直接箭头连接符 14"/>
            <p:cNvCxnSpPr>
              <a:stCxn id="5" idx="7"/>
              <a:endCxn id="6" idx="2"/>
            </p:cNvCxnSpPr>
            <p:nvPr/>
          </p:nvCxnSpPr>
          <p:spPr>
            <a:xfrm rot="5400000" flipH="1" flipV="1">
              <a:off x="1378585" y="3094901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6" name="TextBox 15"/>
            <p:cNvSpPr txBox="1"/>
            <p:nvPr/>
          </p:nvSpPr>
          <p:spPr>
            <a:xfrm>
              <a:off x="1698561" y="338349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17" name="直接箭头连接符 16"/>
            <p:cNvCxnSpPr>
              <a:stCxn id="5" idx="6"/>
              <a:endCxn id="7" idx="2"/>
            </p:cNvCxnSpPr>
            <p:nvPr/>
          </p:nvCxnSpPr>
          <p:spPr>
            <a:xfrm>
              <a:off x="1428728" y="4321975"/>
              <a:ext cx="1000132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直接箭头连接符 17"/>
            <p:cNvCxnSpPr>
              <a:stCxn id="5" idx="5"/>
              <a:endCxn id="8" idx="2"/>
            </p:cNvCxnSpPr>
            <p:nvPr/>
          </p:nvCxnSpPr>
          <p:spPr>
            <a:xfrm rot="16200000" flipH="1">
              <a:off x="1378585" y="4486146"/>
              <a:ext cx="1037646" cy="1062903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9" name="直接箭头连接符 18"/>
            <p:cNvCxnSpPr>
              <a:stCxn id="6" idx="6"/>
              <a:endCxn id="9" idx="2"/>
            </p:cNvCxnSpPr>
            <p:nvPr/>
          </p:nvCxnSpPr>
          <p:spPr>
            <a:xfrm>
              <a:off x="2857488" y="3107529"/>
              <a:ext cx="1214446" cy="15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直接箭头连接符 19"/>
            <p:cNvCxnSpPr>
              <a:stCxn id="6" idx="5"/>
              <a:endCxn id="10" idx="1"/>
            </p:cNvCxnSpPr>
            <p:nvPr/>
          </p:nvCxnSpPr>
          <p:spPr>
            <a:xfrm rot="16200000" flipH="1">
              <a:off x="3034288" y="3044758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1" name="直接箭头连接符 20"/>
            <p:cNvCxnSpPr>
              <a:stCxn id="7" idx="6"/>
              <a:endCxn id="10" idx="2"/>
            </p:cNvCxnSpPr>
            <p:nvPr/>
          </p:nvCxnSpPr>
          <p:spPr>
            <a:xfrm>
              <a:off x="2857488" y="4321975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2" name="直接箭头连接符 21"/>
            <p:cNvCxnSpPr>
              <a:stCxn id="7" idx="7"/>
              <a:endCxn id="9" idx="3"/>
            </p:cNvCxnSpPr>
            <p:nvPr/>
          </p:nvCxnSpPr>
          <p:spPr>
            <a:xfrm rot="5400000" flipH="1" flipV="1">
              <a:off x="3034288" y="3044758"/>
              <a:ext cx="860846" cy="1339988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3" name="直接箭头连接符 22"/>
            <p:cNvCxnSpPr>
              <a:stCxn id="7" idx="5"/>
              <a:endCxn id="11" idx="1"/>
            </p:cNvCxnSpPr>
            <p:nvPr/>
          </p:nvCxnSpPr>
          <p:spPr>
            <a:xfrm rot="16200000" flipH="1">
              <a:off x="3034288" y="4259204"/>
              <a:ext cx="860846" cy="13399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4" name="直接箭头连接符 23"/>
            <p:cNvCxnSpPr>
              <a:endCxn id="10" idx="3"/>
            </p:cNvCxnSpPr>
            <p:nvPr/>
          </p:nvCxnSpPr>
          <p:spPr>
            <a:xfrm flipV="1">
              <a:off x="2794717" y="4498775"/>
              <a:ext cx="1339988" cy="95948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5" name="直接箭头连接符 24"/>
            <p:cNvCxnSpPr>
              <a:stCxn id="8" idx="6"/>
              <a:endCxn id="11" idx="2"/>
            </p:cNvCxnSpPr>
            <p:nvPr/>
          </p:nvCxnSpPr>
          <p:spPr>
            <a:xfrm>
              <a:off x="2857488" y="5536421"/>
              <a:ext cx="1214446" cy="1588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6" name="直接箭头连接符 25"/>
            <p:cNvCxnSpPr>
              <a:stCxn id="9" idx="6"/>
              <a:endCxn id="12" idx="1"/>
            </p:cNvCxnSpPr>
            <p:nvPr/>
          </p:nvCxnSpPr>
          <p:spPr>
            <a:xfrm>
              <a:off x="4500562" y="3107529"/>
              <a:ext cx="1134341" cy="466142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7" name="直接箭头连接符 26"/>
            <p:cNvCxnSpPr>
              <a:stCxn id="9" idx="5"/>
              <a:endCxn id="13" idx="1"/>
            </p:cNvCxnSpPr>
            <p:nvPr/>
          </p:nvCxnSpPr>
          <p:spPr>
            <a:xfrm rot="16200000" flipH="1">
              <a:off x="4284453" y="3437667"/>
              <a:ext cx="1503788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8" name="直接箭头连接符 27"/>
            <p:cNvCxnSpPr>
              <a:stCxn id="10" idx="7"/>
              <a:endCxn id="12" idx="2"/>
            </p:cNvCxnSpPr>
            <p:nvPr/>
          </p:nvCxnSpPr>
          <p:spPr>
            <a:xfrm rot="5400000" flipH="1" flipV="1">
              <a:off x="4807609" y="3380653"/>
              <a:ext cx="394704" cy="1134341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9" name="直接箭头连接符 28"/>
            <p:cNvCxnSpPr>
              <a:stCxn id="10" idx="5"/>
              <a:endCxn id="13" idx="2"/>
            </p:cNvCxnSpPr>
            <p:nvPr/>
          </p:nvCxnSpPr>
          <p:spPr>
            <a:xfrm rot="16200000" flipH="1">
              <a:off x="4771890" y="4164675"/>
              <a:ext cx="466142" cy="113434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直接箭头连接符 29"/>
            <p:cNvCxnSpPr>
              <a:stCxn id="11" idx="6"/>
              <a:endCxn id="13" idx="3"/>
            </p:cNvCxnSpPr>
            <p:nvPr/>
          </p:nvCxnSpPr>
          <p:spPr>
            <a:xfrm flipV="1">
              <a:off x="4500562" y="5141717"/>
              <a:ext cx="1134341" cy="394704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1" name="直接箭头连接符 30"/>
            <p:cNvCxnSpPr>
              <a:stCxn id="11" idx="7"/>
              <a:endCxn id="12" idx="3"/>
            </p:cNvCxnSpPr>
            <p:nvPr/>
          </p:nvCxnSpPr>
          <p:spPr>
            <a:xfrm rot="5400000" flipH="1" flipV="1">
              <a:off x="4320172" y="4044890"/>
              <a:ext cx="1432350" cy="119711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2" name="直接箭头连接符 31"/>
            <p:cNvCxnSpPr>
              <a:stCxn id="12" idx="6"/>
              <a:endCxn id="14" idx="1"/>
            </p:cNvCxnSpPr>
            <p:nvPr/>
          </p:nvCxnSpPr>
          <p:spPr>
            <a:xfrm>
              <a:off x="6000760" y="3750471"/>
              <a:ext cx="991465" cy="394704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33" name="直接箭头连接符 32"/>
            <p:cNvCxnSpPr>
              <a:stCxn id="13" idx="6"/>
              <a:endCxn id="14" idx="3"/>
            </p:cNvCxnSpPr>
            <p:nvPr/>
          </p:nvCxnSpPr>
          <p:spPr>
            <a:xfrm flipV="1">
              <a:off x="6000760" y="4498775"/>
              <a:ext cx="991465" cy="466142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34" name="TextBox 33"/>
            <p:cNvSpPr txBox="1"/>
            <p:nvPr/>
          </p:nvSpPr>
          <p:spPr>
            <a:xfrm>
              <a:off x="1866880" y="40005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5" name="TextBox 34"/>
            <p:cNvSpPr txBox="1"/>
            <p:nvPr/>
          </p:nvSpPr>
          <p:spPr>
            <a:xfrm>
              <a:off x="1928794" y="478632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928926" y="278605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7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2954326" y="3139301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8" name="TextBox 37"/>
            <p:cNvSpPr txBox="1"/>
            <p:nvPr/>
          </p:nvSpPr>
          <p:spPr>
            <a:xfrm>
              <a:off x="2908288" y="3740152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3000364" y="403860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2781109" y="488122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1" name="TextBox 40"/>
            <p:cNvSpPr txBox="1"/>
            <p:nvPr/>
          </p:nvSpPr>
          <p:spPr>
            <a:xfrm>
              <a:off x="2997189" y="558089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5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2" name="TextBox 41"/>
            <p:cNvSpPr txBox="1"/>
            <p:nvPr/>
          </p:nvSpPr>
          <p:spPr>
            <a:xfrm>
              <a:off x="4786314" y="292893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4714876" y="3332977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4" name="TextBox 43"/>
            <p:cNvSpPr txBox="1"/>
            <p:nvPr/>
          </p:nvSpPr>
          <p:spPr>
            <a:xfrm>
              <a:off x="4500562" y="379494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6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4572000" y="4286256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4441824" y="4866513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7" name="TextBox 46"/>
            <p:cNvSpPr txBox="1"/>
            <p:nvPr/>
          </p:nvSpPr>
          <p:spPr>
            <a:xfrm>
              <a:off x="4760914" y="5454665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8" name="TextBox 47"/>
            <p:cNvSpPr txBox="1"/>
            <p:nvPr/>
          </p:nvSpPr>
          <p:spPr>
            <a:xfrm>
              <a:off x="6143636" y="4559308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49" name="TextBox 48"/>
            <p:cNvSpPr txBox="1"/>
            <p:nvPr/>
          </p:nvSpPr>
          <p:spPr>
            <a:xfrm>
              <a:off x="6215074" y="3500439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3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3000364" y="4357694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4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  <p:cxnSp>
          <p:nvCxnSpPr>
            <p:cNvPr id="51" name="直接箭头连接符 50"/>
            <p:cNvCxnSpPr>
              <a:stCxn id="8" idx="7"/>
              <a:endCxn id="9" idx="4"/>
            </p:cNvCxnSpPr>
            <p:nvPr/>
          </p:nvCxnSpPr>
          <p:spPr>
            <a:xfrm rot="5400000" flipH="1" flipV="1">
              <a:off x="2539453" y="3612827"/>
              <a:ext cx="2002059" cy="1491531"/>
            </a:xfrm>
            <a:prstGeom prst="straightConnector1">
              <a:avLst/>
            </a:prstGeom>
            <a:ln>
              <a:solidFill>
                <a:srgbClr val="C00000"/>
              </a:solidFill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2" name="TextBox 51"/>
            <p:cNvSpPr txBox="1"/>
            <p:nvPr/>
          </p:nvSpPr>
          <p:spPr>
            <a:xfrm>
              <a:off x="3149588" y="5214950"/>
              <a:ext cx="214315" cy="293513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altLang="zh-CN" sz="1600" smtClean="0">
                  <a:solidFill>
                    <a:srgbClr val="0000FF"/>
                  </a:solidFill>
                  <a:latin typeface="Consolas" panose="020B0609020204030204" pitchFamily="49" charset="0"/>
                  <a:ea typeface="楷体" panose="02010609060101010101" pitchFamily="49" charset="-122"/>
                  <a:cs typeface="Consolas" panose="020B0609020204030204" pitchFamily="49" charset="0"/>
                </a:rPr>
                <a:t>2</a:t>
              </a:r>
              <a:endParaRPr lang="zh-CN" altLang="en-US" sz="1600">
                <a:solidFill>
                  <a:srgbClr val="0000FF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endParaRPr>
            </a:p>
          </p:txBody>
        </p:sp>
      </p:grpSp>
      <p:grpSp>
        <p:nvGrpSpPr>
          <p:cNvPr id="54" name="组合 53"/>
          <p:cNvGrpSpPr/>
          <p:nvPr/>
        </p:nvGrpSpPr>
        <p:grpSpPr>
          <a:xfrm>
            <a:off x="7863840" y="563880"/>
            <a:ext cx="975360" cy="2638445"/>
            <a:chOff x="11719" y="3225318"/>
            <a:chExt cx="1087557" cy="2271349"/>
          </a:xfrm>
        </p:grpSpPr>
        <p:sp>
          <p:nvSpPr>
            <p:cNvPr id="55" name="圆角矩形 54"/>
            <p:cNvSpPr/>
            <p:nvPr/>
          </p:nvSpPr>
          <p:spPr>
            <a:xfrm>
              <a:off x="11719" y="3225318"/>
              <a:ext cx="929005" cy="1954292"/>
            </a:xfrm>
            <a:prstGeom prst="roundRect">
              <a:avLst/>
            </a:prstGeom>
            <a:noFill/>
            <a:ln>
              <a:solidFill>
                <a:srgbClr val="9900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sp>
          <p:nvSpPr>
            <p:cNvPr id="56" name="TextBox 55"/>
            <p:cNvSpPr txBox="1"/>
            <p:nvPr/>
          </p:nvSpPr>
          <p:spPr>
            <a:xfrm>
              <a:off x="190986" y="5179610"/>
              <a:ext cx="908290" cy="3170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800" i="1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k</a:t>
              </a:r>
              <a:r>
                <a:rPr lang="en-US" altLang="zh-CN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=</a:t>
              </a:r>
              <a:r>
                <a:rPr lang="en-US" sz="1800" smtClean="0">
                  <a:solidFill>
                    <a:srgbClr val="0000FF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endParaRPr lang="en-US" sz="1800">
                <a:solidFill>
                  <a:srgbClr val="0000FF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</p:grp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7" grpId="0"/>
      <p:bldP spid="207" grpId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395536" y="1628800"/>
            <a:ext cx="8352928" cy="4603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55600" indent="-355600">
              <a:spcBef>
                <a:spcPct val="50000"/>
              </a:spcBef>
              <a:buFont typeface="Wingdings" panose="05000000000000000000" charset="0"/>
              <a:buChar char="n"/>
            </a:pPr>
            <a:endParaRPr lang="zh-CN" altLang="zh-CN" dirty="0">
              <a:solidFill>
                <a:schemeClr val="bg2"/>
              </a:solidFill>
              <a:latin typeface="宋体" panose="02010600030101010101" pitchFamily="2" charset="-122"/>
              <a:cs typeface="Consolas" panose="020B0609020204030204" pitchFamily="49" charset="0"/>
            </a:endParaRPr>
          </a:p>
        </p:txBody>
      </p:sp>
      <p:graphicFrame>
        <p:nvGraphicFramePr>
          <p:cNvPr id="209" name="表格 208"/>
          <p:cNvGraphicFramePr/>
          <p:nvPr>
            <p:custDataLst>
              <p:tags r:id="rId1"/>
            </p:custDataLst>
          </p:nvPr>
        </p:nvGraphicFramePr>
        <p:xfrm>
          <a:off x="614680" y="1818005"/>
          <a:ext cx="7555865" cy="188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4391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  <a:gridCol w="671195"/>
              </a:tblGrid>
              <a:tr h="46291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A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B3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C3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D2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E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0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1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2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3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4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5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6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7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8</a:t>
                      </a:r>
                      <a:endParaRPr lang="en-US" altLang="zh-CN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/>
                        <a:t>9</a:t>
                      </a:r>
                      <a:endParaRPr lang="en-US" altLang="zh-CN"/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dp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  <a:endParaRPr lang="en-US" altLang="zh-CN" sz="2800" b="1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  <a:tr h="3841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</a:t>
                      </a:r>
                      <a:endParaRPr lang="en-US" altLang="zh-CN" sz="2400" b="1" i="1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lang="zh-CN" altLang="en-US">
                        <a:solidFill>
                          <a:schemeClr val="bg2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chemeClr val="bg2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  <a:endParaRPr lang="en-US" altLang="zh-CN" sz="2400" b="1">
                        <a:solidFill>
                          <a:schemeClr val="bg2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400" b="1">
                          <a:solidFill>
                            <a:srgbClr val="FF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  <a:endParaRPr lang="en-US" altLang="zh-CN" sz="2400" b="1">
                        <a:solidFill>
                          <a:srgbClr val="FF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US" altLang="zh-CN" sz="2800" b="1">
                          <a:solidFill>
                            <a:schemeClr val="bg1">
                              <a:lumMod val="60000"/>
                              <a:lumOff val="40000"/>
                            </a:schemeClr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  <a:endParaRPr lang="en-US" altLang="zh-CN" sz="2800" b="1">
                        <a:solidFill>
                          <a:schemeClr val="bg1">
                            <a:lumMod val="60000"/>
                            <a:lumOff val="40000"/>
                          </a:schemeClr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314960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53" name="TextBox 50"/>
          <p:cNvSpPr txBox="1"/>
          <p:nvPr/>
        </p:nvSpPr>
        <p:spPr>
          <a:xfrm>
            <a:off x="506730" y="3994785"/>
            <a:ext cx="8291830" cy="1999615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charset="0"/>
              <a:buChar char="l"/>
            </a:pPr>
            <a:r>
              <a:rPr 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结果输出</a:t>
            </a:r>
            <a:endParaRPr lang="zh-CN" smtClean="0">
              <a:solidFill>
                <a:schemeClr val="bg1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</a:endParaRPr>
          </a:p>
          <a:p>
            <a:pPr>
              <a:buFont typeface="Wingdings" panose="05000000000000000000" charset="0"/>
            </a:pPr>
            <a:r>
              <a:rPr 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（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1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）</a:t>
            </a:r>
            <a:r>
              <a:rPr lang="en-US" altLang="zh-CN" i="1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dp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[9]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中就是问题的最优解即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A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</a:rPr>
              <a:t>→E</a:t>
            </a:r>
            <a:r>
              <a:rPr lang="zh-CN" altLang="en-US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的最短路径为</a:t>
            </a:r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12</a:t>
            </a:r>
            <a:r>
              <a:rPr lang="zh-CN" altLang="en-US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。</a:t>
            </a:r>
            <a:endParaRPr lang="zh-CN" altLang="en-US" smtClean="0">
              <a:solidFill>
                <a:schemeClr val="bg1"/>
              </a:solidFill>
              <a:latin typeface="Arial" panose="020B0604020202020204" pitchFamily="34" charset="0"/>
              <a:ea typeface="楷体" panose="02010609060101010101" pitchFamily="49" charset="-122"/>
              <a:cs typeface="Arial" panose="020B0604020202020204" pitchFamily="34" charset="0"/>
            </a:endParaRPr>
          </a:p>
          <a:p>
            <a:pPr>
              <a:buFont typeface="Wingdings" panose="05000000000000000000" charset="0"/>
            </a:pPr>
            <a:r>
              <a:rPr lang="zh-CN" altLang="en-US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（</a:t>
            </a:r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2</a:t>
            </a:r>
            <a:r>
              <a:rPr lang="zh-CN" altLang="en-US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）路径为：  </a:t>
            </a:r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</a:rPr>
              <a:t>E←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pre[9](</a:t>
            </a:r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8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,D2)</a:t>
            </a:r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ea"/>
              </a:rPr>
              <a:t>←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pre[</a:t>
            </a:r>
            <a:r>
              <a:rPr lang="en-US" altLang="zh-CN" b="1" smtClean="0">
                <a:solidFill>
                  <a:srgbClr val="FF0000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8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](</a:t>
            </a:r>
            <a:r>
              <a:rPr lang="en-US" altLang="zh-CN" b="1" smtClean="0">
                <a:solidFill>
                  <a:srgbClr val="5910EE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5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,C2)</a:t>
            </a:r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ea"/>
              </a:rPr>
              <a:t>←</a:t>
            </a:r>
            <a:endParaRPr lang="zh-CN" altLang="en-US" smtClean="0">
              <a:solidFill>
                <a:schemeClr val="bg1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             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pre[</a:t>
            </a:r>
            <a:r>
              <a:rPr lang="en-US" altLang="zh-CN" b="1" smtClean="0">
                <a:solidFill>
                  <a:srgbClr val="5910EE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5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](</a:t>
            </a:r>
            <a:r>
              <a:rPr lang="en-US" altLang="zh-CN" b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3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,B3)</a:t>
            </a:r>
            <a:r>
              <a:rPr lang="en-US" altLang="zh-CN" smtClean="0">
                <a:solidFill>
                  <a:schemeClr val="bg1"/>
                </a:solidFill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ea"/>
              </a:rPr>
              <a:t>←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Next[</a:t>
            </a:r>
            <a:r>
              <a:rPr lang="en-US" altLang="zh-CN" b="1" smtClean="0">
                <a:solidFill>
                  <a:schemeClr val="accent1">
                    <a:lumMod val="75000"/>
                  </a:schemeClr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3</a:t>
            </a:r>
            <a:r>
              <a:rPr lang="en-US" altLang="zh-CN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](0,A)</a:t>
            </a: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。</a:t>
            </a:r>
            <a:endParaRPr lang="zh-CN" altLang="en-US" smtClean="0">
              <a:solidFill>
                <a:schemeClr val="bg1"/>
              </a:solidFill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  <a:sym typeface="+mn-ea"/>
            </a:endParaRPr>
          </a:p>
          <a:p>
            <a:pPr>
              <a:buFont typeface="Wingdings" panose="05000000000000000000" charset="0"/>
            </a:pPr>
            <a:r>
              <a:rPr lang="zh-CN" altLang="en-US" smtClean="0">
                <a:solidFill>
                  <a:schemeClr val="bg1"/>
                </a:solidFill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             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ea"/>
              </a:rPr>
              <a:t>E←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D2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ea"/>
              </a:rPr>
              <a:t>←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C2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ea"/>
              </a:rPr>
              <a:t>←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B3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Arial" panose="020B0604020202020204" pitchFamily="34" charset="0"/>
                <a:ea typeface="楷体" panose="02010609060101010101" pitchFamily="49" charset="-122"/>
                <a:cs typeface="Arial" panose="020B0604020202020204" pitchFamily="34" charset="0"/>
                <a:sym typeface="+mn-ea"/>
              </a:rPr>
              <a:t>←</a:t>
            </a:r>
            <a:r>
              <a:rPr lang="en-US" altLang="zh-CN" sz="2800" b="1" smtClean="0">
                <a:ln w="22225">
                  <a:solidFill>
                    <a:schemeClr val="accent2"/>
                  </a:solidFill>
                  <a:prstDash val="solid"/>
                </a:ln>
                <a:solidFill>
                  <a:schemeClr val="accent2">
                    <a:lumMod val="40000"/>
                    <a:lumOff val="60000"/>
                  </a:schemeClr>
                </a:solidFill>
                <a:effectLst/>
                <a:latin typeface="Consolas" panose="020B0609020204030204" pitchFamily="49" charset="0"/>
                <a:ea typeface="楷体" panose="02010609060101010101" pitchFamily="49" charset="-122"/>
                <a:cs typeface="Consolas" panose="020B0609020204030204" pitchFamily="49" charset="0"/>
                <a:sym typeface="+mn-ea"/>
              </a:rPr>
              <a:t>A</a:t>
            </a:r>
            <a:endParaRPr lang="en-US" altLang="zh-CN" sz="2800" b="1" smtClean="0">
              <a:ln w="22225">
                <a:solidFill>
                  <a:schemeClr val="accent2"/>
                </a:solidFill>
                <a:prstDash val="solid"/>
              </a:ln>
              <a:solidFill>
                <a:schemeClr val="accent2">
                  <a:lumMod val="40000"/>
                  <a:lumOff val="60000"/>
                </a:schemeClr>
              </a:solidFill>
              <a:effectLst/>
              <a:latin typeface="Consolas" panose="020B0609020204030204" pitchFamily="49" charset="0"/>
              <a:ea typeface="楷体" panose="02010609060101010101" pitchFamily="49" charset="-122"/>
              <a:cs typeface="Consolas" panose="020B0609020204030204" pitchFamily="49" charset="0"/>
              <a:sym typeface="+mn-ea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23528" y="1628800"/>
            <a:ext cx="8424936" cy="131112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sp>
        <p:nvSpPr>
          <p:cNvPr id="3" name="矩形 2"/>
          <p:cNvSpPr/>
          <p:nvPr/>
        </p:nvSpPr>
        <p:spPr>
          <a:xfrm>
            <a:off x="395536" y="1628800"/>
            <a:ext cx="8352928" cy="497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charset="0"/>
              <a:buChar char="Ø"/>
            </a:pP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例题：多起点、多终点的最短路径问题</a:t>
            </a:r>
            <a:r>
              <a:rPr lang="en-US" altLang="zh-CN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——</a:t>
            </a:r>
            <a:r>
              <a:rPr lang="zh-CN" altLang="en-US" dirty="0">
                <a:solidFill>
                  <a:schemeClr val="bg1"/>
                </a:solidFill>
                <a:latin typeface="+mn-ea"/>
                <a:ea typeface="+mn-ea"/>
                <a:cs typeface="Times New Roman" panose="02020603050405020304" pitchFamily="18" charset="0"/>
              </a:rPr>
              <a:t>书中例子</a:t>
            </a:r>
            <a:endParaRPr lang="zh-CN" altLang="en-US" dirty="0">
              <a:solidFill>
                <a:schemeClr val="bg1"/>
              </a:solidFill>
              <a:latin typeface="+mn-ea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336040" y="2125980"/>
            <a:ext cx="6943090" cy="27495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问题：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</a:rPr>
              <a:t>输入</a:t>
            </a:r>
            <a:r>
              <a:rPr lang="zh-CN" altLang="en-US">
                <a:solidFill>
                  <a:schemeClr val="bg2"/>
                </a:solidFill>
              </a:rPr>
              <a:t>：起点集合</a:t>
            </a:r>
            <a:r>
              <a:rPr lang="en-US" altLang="zh-CN" b="1" i="1">
                <a:solidFill>
                  <a:schemeClr val="bg2"/>
                </a:solidFill>
              </a:rPr>
              <a:t>S</a:t>
            </a:r>
            <a:r>
              <a:rPr lang="zh-CN" altLang="en-US">
                <a:solidFill>
                  <a:schemeClr val="bg2"/>
                </a:solidFill>
              </a:rPr>
              <a:t>{ </a:t>
            </a:r>
            <a:r>
              <a:rPr lang="en-US" altLang="zh-CN" b="1" i="1">
                <a:solidFill>
                  <a:schemeClr val="bg2"/>
                </a:solidFill>
              </a:rPr>
              <a:t>S</a:t>
            </a:r>
            <a:r>
              <a:rPr lang="zh-CN" altLang="en-US" baseline="-25000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, </a:t>
            </a:r>
            <a:r>
              <a:rPr lang="en-US" altLang="zh-CN" b="1" i="1">
                <a:solidFill>
                  <a:schemeClr val="bg2"/>
                </a:solidFill>
              </a:rPr>
              <a:t>S</a:t>
            </a:r>
            <a:r>
              <a:rPr lang="zh-CN" altLang="en-US" baseline="-25000">
                <a:solidFill>
                  <a:schemeClr val="bg2"/>
                </a:solidFill>
              </a:rPr>
              <a:t>2</a:t>
            </a:r>
            <a:r>
              <a:rPr lang="zh-CN" altLang="en-US">
                <a:solidFill>
                  <a:schemeClr val="bg2"/>
                </a:solidFill>
              </a:rPr>
              <a:t>, ..., </a:t>
            </a:r>
            <a:r>
              <a:rPr lang="en-US" altLang="zh-CN" b="1" i="1">
                <a:solidFill>
                  <a:schemeClr val="bg2"/>
                </a:solidFill>
              </a:rPr>
              <a:t>S</a:t>
            </a:r>
            <a:r>
              <a:rPr lang="zh-CN" altLang="en-US" b="1" i="1" baseline="-25000">
                <a:solidFill>
                  <a:schemeClr val="bg2"/>
                </a:solidFill>
              </a:rPr>
              <a:t>n</a:t>
            </a:r>
            <a:r>
              <a:rPr lang="zh-CN" altLang="en-US">
                <a:solidFill>
                  <a:schemeClr val="bg2"/>
                </a:solidFill>
              </a:rPr>
              <a:t> } ，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            终点集合</a:t>
            </a:r>
            <a:r>
              <a:rPr lang="en-US" altLang="zh-CN" b="1" i="1">
                <a:solidFill>
                  <a:schemeClr val="bg2"/>
                </a:solidFill>
              </a:rPr>
              <a:t>T</a:t>
            </a:r>
            <a:r>
              <a:rPr lang="zh-CN" altLang="en-US">
                <a:solidFill>
                  <a:schemeClr val="bg2"/>
                </a:solidFill>
              </a:rPr>
              <a:t>{</a:t>
            </a:r>
            <a:r>
              <a:rPr lang="en-US" altLang="zh-CN" b="1" i="1">
                <a:solidFill>
                  <a:schemeClr val="bg2"/>
                </a:solidFill>
              </a:rPr>
              <a:t>T</a:t>
            </a:r>
            <a:r>
              <a:rPr lang="zh-CN" altLang="en-US" baseline="-25000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, </a:t>
            </a:r>
            <a:r>
              <a:rPr lang="en-US" altLang="zh-CN" b="1" i="1">
                <a:solidFill>
                  <a:schemeClr val="bg2"/>
                </a:solidFill>
              </a:rPr>
              <a:t>T</a:t>
            </a:r>
            <a:r>
              <a:rPr lang="zh-CN" altLang="en-US" baseline="-25000">
                <a:solidFill>
                  <a:schemeClr val="bg2"/>
                </a:solidFill>
              </a:rPr>
              <a:t>2</a:t>
            </a:r>
            <a:r>
              <a:rPr lang="zh-CN" altLang="en-US">
                <a:solidFill>
                  <a:schemeClr val="bg2"/>
                </a:solidFill>
              </a:rPr>
              <a:t>, ... ,</a:t>
            </a:r>
            <a:r>
              <a:rPr lang="en-US" altLang="zh-CN" b="1" i="1">
                <a:solidFill>
                  <a:schemeClr val="bg2"/>
                </a:solidFill>
              </a:rPr>
              <a:t> T</a:t>
            </a:r>
            <a:r>
              <a:rPr lang="zh-CN" altLang="en-US" b="1" i="1" baseline="-25000">
                <a:solidFill>
                  <a:schemeClr val="bg2"/>
                </a:solidFill>
              </a:rPr>
              <a:t>m</a:t>
            </a:r>
            <a:r>
              <a:rPr lang="zh-CN" altLang="en-US">
                <a:solidFill>
                  <a:schemeClr val="bg2"/>
                </a:solidFill>
              </a:rPr>
              <a:t>}，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            中间结点集</a:t>
            </a:r>
            <a:r>
              <a:rPr lang="en-US" altLang="zh-CN" b="1" i="1">
                <a:solidFill>
                  <a:schemeClr val="bg2"/>
                </a:solidFill>
              </a:rPr>
              <a:t>A</a:t>
            </a:r>
            <a:r>
              <a:rPr lang="zh-CN" altLang="en-US">
                <a:solidFill>
                  <a:schemeClr val="bg2"/>
                </a:solidFill>
              </a:rPr>
              <a:t>、</a:t>
            </a:r>
            <a:r>
              <a:rPr lang="en-US" altLang="zh-CN" b="1" i="1">
                <a:solidFill>
                  <a:schemeClr val="bg2"/>
                </a:solidFill>
              </a:rPr>
              <a:t>B</a:t>
            </a:r>
            <a:r>
              <a:rPr lang="zh-CN" altLang="en-US">
                <a:solidFill>
                  <a:schemeClr val="bg2"/>
                </a:solidFill>
              </a:rPr>
              <a:t>、</a:t>
            </a:r>
            <a:r>
              <a:rPr lang="en-US" altLang="zh-CN" b="1" i="1">
                <a:solidFill>
                  <a:schemeClr val="bg2"/>
                </a:solidFill>
              </a:rPr>
              <a:t>C</a:t>
            </a:r>
            <a:r>
              <a:rPr lang="zh-CN" altLang="en-US">
                <a:solidFill>
                  <a:schemeClr val="bg2"/>
                </a:solidFill>
              </a:rPr>
              <a:t>，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            边集 </a:t>
            </a:r>
            <a:r>
              <a:rPr lang="zh-CN" altLang="en-US" b="1" i="1">
                <a:solidFill>
                  <a:schemeClr val="bg2"/>
                </a:solidFill>
              </a:rPr>
              <a:t>E</a:t>
            </a:r>
            <a:r>
              <a:rPr lang="zh-CN" altLang="en-US">
                <a:solidFill>
                  <a:schemeClr val="bg2"/>
                </a:solidFill>
              </a:rPr>
              <a:t>，对于任意边</a:t>
            </a:r>
            <a:r>
              <a:rPr lang="zh-CN" altLang="en-US" b="1" i="1">
                <a:solidFill>
                  <a:schemeClr val="bg2"/>
                </a:solidFill>
              </a:rPr>
              <a:t> e</a:t>
            </a:r>
            <a:r>
              <a:rPr lang="zh-CN" altLang="en-US">
                <a:solidFill>
                  <a:schemeClr val="bg2"/>
                </a:solidFill>
              </a:rPr>
              <a:t> 有长度</a:t>
            </a:r>
            <a:endParaRPr lang="zh-CN" altLang="en-US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</a:rPr>
              <a:t>输出</a:t>
            </a:r>
            <a:r>
              <a:rPr lang="zh-CN" altLang="en-US">
                <a:solidFill>
                  <a:schemeClr val="bg2"/>
                </a:solidFill>
              </a:rPr>
              <a:t>：一条从起点到终点的最短路径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94" name="20 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795" y="1840865"/>
            <a:ext cx="6231890" cy="4119245"/>
          </a:xfrm>
          <a:prstGeom prst="rect">
            <a:avLst/>
          </a:prstGeom>
        </p:spPr>
      </p:pic>
      <p:sp>
        <p:nvSpPr>
          <p:cNvPr id="18543" name="Line 113"/>
          <p:cNvSpPr/>
          <p:nvPr/>
        </p:nvSpPr>
        <p:spPr>
          <a:xfrm>
            <a:off x="2148205" y="4010660"/>
            <a:ext cx="863600" cy="288925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45" name="Line 115"/>
          <p:cNvSpPr/>
          <p:nvPr/>
        </p:nvSpPr>
        <p:spPr>
          <a:xfrm>
            <a:off x="4702810" y="4707890"/>
            <a:ext cx="863600" cy="4318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46" name="Line 116"/>
          <p:cNvSpPr/>
          <p:nvPr/>
        </p:nvSpPr>
        <p:spPr>
          <a:xfrm flipV="1">
            <a:off x="5961380" y="4744085"/>
            <a:ext cx="1079500" cy="360045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47" name="Line 117"/>
          <p:cNvSpPr/>
          <p:nvPr/>
        </p:nvSpPr>
        <p:spPr>
          <a:xfrm flipV="1">
            <a:off x="2148205" y="5244465"/>
            <a:ext cx="863600" cy="360045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48" name="Line 118"/>
          <p:cNvSpPr/>
          <p:nvPr/>
        </p:nvSpPr>
        <p:spPr>
          <a:xfrm flipV="1">
            <a:off x="3415665" y="4667885"/>
            <a:ext cx="894080" cy="43688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44" name="Line 114"/>
          <p:cNvSpPr/>
          <p:nvPr/>
        </p:nvSpPr>
        <p:spPr>
          <a:xfrm rot="360000">
            <a:off x="3430270" y="4347845"/>
            <a:ext cx="935990" cy="31242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99"/>
    </mc:Choice>
    <mc:Fallback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1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49155" name="内容占位符 2"/>
          <p:cNvSpPr>
            <a:spLocks noGrp="1"/>
          </p:cNvSpPr>
          <p:nvPr>
            <p:ph idx="4294967295"/>
          </p:nvPr>
        </p:nvSpPr>
        <p:spPr>
          <a:xfrm>
            <a:off x="323528" y="1628800"/>
            <a:ext cx="8424936" cy="1311128"/>
          </a:xfrm>
        </p:spPr>
        <p:txBody>
          <a:bodyPr vert="horz" wrap="square" lIns="91440" tIns="45720" rIns="91440" bIns="45720" numCol="1" anchor="t" anchorCtr="0" compatLnSpc="1"/>
          <a:lstStyle/>
          <a:p>
            <a:pPr marL="342900" marR="0" lvl="0" indent="-342900" algn="l" defTabSz="914400" rtl="0" eaLnBrk="1" fontAlgn="base" latinLnBrk="0" hangingPunct="1"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400" i="0" u="none" strike="noStrike" kern="1200" cap="none" spc="0" normalizeH="0" baseline="0" noProof="0" dirty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+mj-ea"/>
                <a:ea typeface="+mj-ea"/>
                <a:cs typeface="+mj-ea"/>
              </a:rPr>
              <a:t>   </a:t>
            </a:r>
            <a:endParaRPr kumimoji="0" lang="zh-CN" altLang="en-US" sz="2400" i="0" u="none" strike="noStrike" kern="1200" cap="none" spc="0" normalizeH="0" baseline="0" noProof="0" dirty="0" smtClean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+mj-ea"/>
              <a:ea typeface="+mj-ea"/>
              <a:cs typeface="+mj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506730" y="1636395"/>
            <a:ext cx="7772400" cy="407860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>
                <a:solidFill>
                  <a:schemeClr val="bg2"/>
                </a:solidFill>
              </a:rPr>
              <a:t>算法设计：</a:t>
            </a:r>
            <a:endParaRPr lang="zh-CN" altLang="en-US" b="1">
              <a:solidFill>
                <a:schemeClr val="bg2"/>
              </a:solidFill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1</a:t>
            </a:r>
            <a:r>
              <a:rPr lang="zh-CN" altLang="en-US">
                <a:solidFill>
                  <a:schemeClr val="bg2"/>
                </a:solidFill>
              </a:rPr>
              <a:t>）蛮力算法</a:t>
            </a:r>
            <a:endParaRPr lang="zh-CN" altLang="en-US">
              <a:solidFill>
                <a:schemeClr val="bg2"/>
              </a:solidFill>
            </a:endParaRP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考察每一条从某个起点到某个终点的路径，计算长度，从其中找出最短路径 。</a:t>
            </a:r>
            <a:endParaRPr lang="zh-CN" altLang="en-US">
              <a:solidFill>
                <a:schemeClr val="bg2"/>
              </a:solidFill>
            </a:endParaRP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在上述实例中，如果网络的层数为</a:t>
            </a:r>
            <a:r>
              <a:rPr lang="zh-CN" altLang="en-US" b="1" i="1">
                <a:solidFill>
                  <a:schemeClr val="bg2"/>
                </a:solidFill>
                <a:cs typeface="Times New Roman" panose="02020603050405020304" pitchFamily="18" charset="0"/>
              </a:rPr>
              <a:t>k</a:t>
            </a:r>
            <a:r>
              <a:rPr lang="zh-CN" altLang="en-US">
                <a:solidFill>
                  <a:schemeClr val="bg2"/>
                </a:solidFill>
              </a:rPr>
              <a:t>，那么路径条数将接近于2</a:t>
            </a:r>
            <a:r>
              <a:rPr lang="zh-CN" altLang="en-US" b="1" i="1" baseline="30000">
                <a:solidFill>
                  <a:schemeClr val="bg2"/>
                </a:solidFill>
              </a:rPr>
              <a:t>k</a:t>
            </a:r>
            <a:r>
              <a:rPr lang="zh-CN" altLang="en-US">
                <a:solidFill>
                  <a:schemeClr val="bg2"/>
                </a:solidFill>
              </a:rPr>
              <a:t>。</a:t>
            </a:r>
            <a:endParaRPr lang="zh-CN" altLang="en-US">
              <a:solidFill>
                <a:schemeClr val="bg2"/>
              </a:solidFill>
            </a:endParaRPr>
          </a:p>
          <a:p>
            <a:pPr lv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</a:pPr>
            <a:r>
              <a:rPr lang="zh-CN" altLang="en-US">
                <a:solidFill>
                  <a:schemeClr val="bg2"/>
                </a:solidFill>
              </a:rPr>
              <a:t>（</a:t>
            </a:r>
            <a:r>
              <a:rPr lang="en-US" altLang="zh-CN">
                <a:solidFill>
                  <a:schemeClr val="bg2"/>
                </a:solidFill>
              </a:rPr>
              <a:t>2</a:t>
            </a:r>
            <a:r>
              <a:rPr lang="zh-CN" altLang="en-US">
                <a:solidFill>
                  <a:schemeClr val="bg2"/>
                </a:solidFill>
              </a:rPr>
              <a:t>）动态规划算法：多阶段决策过程.</a:t>
            </a:r>
            <a:endParaRPr lang="zh-CN" altLang="en-US">
              <a:solidFill>
                <a:schemeClr val="bg2"/>
              </a:solidFill>
            </a:endParaRP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每步求解的问题是后面阶段求解问题的子问题. 。</a:t>
            </a:r>
            <a:endParaRPr lang="zh-CN" altLang="en-US">
              <a:solidFill>
                <a:schemeClr val="bg2"/>
              </a:solidFill>
            </a:endParaRPr>
          </a:p>
          <a:p>
            <a:pPr marL="800100" lvl="1" indent="-34290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</a:pPr>
            <a:r>
              <a:rPr lang="zh-CN" altLang="en-US">
                <a:solidFill>
                  <a:schemeClr val="bg2"/>
                </a:solidFill>
              </a:rPr>
              <a:t>每步决策将依赖于以前步骤的决策结果。</a:t>
            </a:r>
            <a:endParaRPr lang="zh-CN" altLang="en-US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pic>
        <p:nvPicPr>
          <p:cNvPr id="94" name="20 9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07795" y="1625600"/>
            <a:ext cx="6231890" cy="4119245"/>
          </a:xfrm>
          <a:prstGeom prst="rect">
            <a:avLst/>
          </a:prstGeom>
        </p:spPr>
      </p:pic>
      <p:sp>
        <p:nvSpPr>
          <p:cNvPr id="18543" name="Line 113"/>
          <p:cNvSpPr/>
          <p:nvPr/>
        </p:nvSpPr>
        <p:spPr>
          <a:xfrm>
            <a:off x="2148205" y="3795395"/>
            <a:ext cx="863600" cy="288925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45" name="Line 115"/>
          <p:cNvSpPr/>
          <p:nvPr/>
        </p:nvSpPr>
        <p:spPr>
          <a:xfrm>
            <a:off x="4702810" y="4492625"/>
            <a:ext cx="863600" cy="43180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46" name="Line 116"/>
          <p:cNvSpPr/>
          <p:nvPr/>
        </p:nvSpPr>
        <p:spPr>
          <a:xfrm flipV="1">
            <a:off x="5961380" y="4528820"/>
            <a:ext cx="1079500" cy="360045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47" name="Line 117"/>
          <p:cNvSpPr/>
          <p:nvPr/>
        </p:nvSpPr>
        <p:spPr>
          <a:xfrm flipV="1">
            <a:off x="2148205" y="5029200"/>
            <a:ext cx="863600" cy="360045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48" name="Line 118"/>
          <p:cNvSpPr/>
          <p:nvPr/>
        </p:nvSpPr>
        <p:spPr>
          <a:xfrm flipV="1">
            <a:off x="3415665" y="4452620"/>
            <a:ext cx="894080" cy="43688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44" name="Line 114"/>
          <p:cNvSpPr/>
          <p:nvPr/>
        </p:nvSpPr>
        <p:spPr>
          <a:xfrm rot="360000">
            <a:off x="3430270" y="4132580"/>
            <a:ext cx="935990" cy="312420"/>
          </a:xfrm>
          <a:prstGeom prst="line">
            <a:avLst/>
          </a:prstGeom>
          <a:ln w="571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8525" name="Text Box 95"/>
          <p:cNvSpPr txBox="1"/>
          <p:nvPr/>
        </p:nvSpPr>
        <p:spPr>
          <a:xfrm>
            <a:off x="5541645" y="1857375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u,2</a:t>
            </a:r>
            <a:endParaRPr lang="en-US" altLang="zh-CN" sz="2000" b="1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26" name="Text Box 96"/>
          <p:cNvSpPr txBox="1"/>
          <p:nvPr/>
        </p:nvSpPr>
        <p:spPr>
          <a:xfrm>
            <a:off x="5541645" y="2747645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d,3</a:t>
            </a:r>
            <a:endParaRPr lang="en-US" altLang="zh-CN" sz="2000" b="1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27" name="Text Box 97"/>
          <p:cNvSpPr txBox="1"/>
          <p:nvPr/>
        </p:nvSpPr>
        <p:spPr>
          <a:xfrm>
            <a:off x="5541645" y="3539490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u,7</a:t>
            </a:r>
            <a:endParaRPr lang="en-US" altLang="zh-CN" sz="2000" b="1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28" name="Text Box 98"/>
          <p:cNvSpPr txBox="1"/>
          <p:nvPr/>
        </p:nvSpPr>
        <p:spPr>
          <a:xfrm>
            <a:off x="5573395" y="4378960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chemeClr val="folHlink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u,1</a:t>
            </a:r>
            <a:endParaRPr lang="en-US" altLang="zh-CN" sz="2000" b="1" dirty="0">
              <a:solidFill>
                <a:schemeClr val="folHlink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3" name="Text Box 103"/>
          <p:cNvSpPr txBox="1"/>
          <p:nvPr/>
        </p:nvSpPr>
        <p:spPr>
          <a:xfrm>
            <a:off x="4205605" y="1642110"/>
            <a:ext cx="692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CC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d,11</a:t>
            </a:r>
            <a:endParaRPr lang="en-US" altLang="zh-CN" sz="2000" b="1" dirty="0">
              <a:solidFill>
                <a:srgbClr val="CC66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4" name="Text Box 104"/>
          <p:cNvSpPr txBox="1"/>
          <p:nvPr/>
        </p:nvSpPr>
        <p:spPr>
          <a:xfrm>
            <a:off x="4277360" y="2362200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CC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u,5</a:t>
            </a:r>
            <a:endParaRPr lang="en-US" altLang="zh-CN" sz="2000" b="1" dirty="0">
              <a:solidFill>
                <a:srgbClr val="CC66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5" name="Text Box 105"/>
          <p:cNvSpPr txBox="1"/>
          <p:nvPr/>
        </p:nvSpPr>
        <p:spPr>
          <a:xfrm>
            <a:off x="4316730" y="3107690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CC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u,7</a:t>
            </a:r>
            <a:endParaRPr lang="en-US" altLang="zh-CN" sz="2000" b="1" dirty="0">
              <a:solidFill>
                <a:srgbClr val="CC66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6" name="Text Box 106"/>
          <p:cNvSpPr txBox="1"/>
          <p:nvPr/>
        </p:nvSpPr>
        <p:spPr>
          <a:xfrm>
            <a:off x="4309110" y="3901440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CC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d,5</a:t>
            </a:r>
            <a:endParaRPr lang="en-US" altLang="zh-CN" sz="2000" b="1" dirty="0">
              <a:solidFill>
                <a:srgbClr val="CC66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41" name="Text Box 111"/>
          <p:cNvSpPr txBox="1"/>
          <p:nvPr/>
        </p:nvSpPr>
        <p:spPr>
          <a:xfrm>
            <a:off x="4277360" y="4739005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CC66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u,4</a:t>
            </a:r>
            <a:endParaRPr lang="en-US" altLang="zh-CN" sz="2000" b="1" dirty="0">
              <a:solidFill>
                <a:srgbClr val="CC6600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29" name="Text Box 99"/>
          <p:cNvSpPr txBox="1"/>
          <p:nvPr/>
        </p:nvSpPr>
        <p:spPr>
          <a:xfrm>
            <a:off x="2908935" y="1882775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d,9</a:t>
            </a:r>
            <a:endParaRPr lang="en-US" altLang="zh-CN" sz="2000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0" name="Text Box 100"/>
          <p:cNvSpPr txBox="1"/>
          <p:nvPr/>
        </p:nvSpPr>
        <p:spPr>
          <a:xfrm>
            <a:off x="2980690" y="2701925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u,8</a:t>
            </a:r>
            <a:endParaRPr lang="en-US" altLang="zh-CN" sz="2000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1" name="Text Box 101"/>
          <p:cNvSpPr txBox="1"/>
          <p:nvPr/>
        </p:nvSpPr>
        <p:spPr>
          <a:xfrm>
            <a:off x="2908935" y="3514090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d,6</a:t>
            </a:r>
            <a:endParaRPr lang="en-US" altLang="zh-CN" sz="2000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2" name="Text Box 102"/>
          <p:cNvSpPr txBox="1"/>
          <p:nvPr/>
        </p:nvSpPr>
        <p:spPr>
          <a:xfrm>
            <a:off x="2940685" y="4404360"/>
            <a:ext cx="550545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0000CC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u,7</a:t>
            </a:r>
            <a:endParaRPr lang="en-US" altLang="zh-CN" sz="2000" b="1" dirty="0">
              <a:solidFill>
                <a:srgbClr val="0000CC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7" name="Text Box 107"/>
          <p:cNvSpPr txBox="1"/>
          <p:nvPr/>
        </p:nvSpPr>
        <p:spPr>
          <a:xfrm>
            <a:off x="1612900" y="1594485"/>
            <a:ext cx="692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A5002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d,15</a:t>
            </a:r>
            <a:endParaRPr lang="en-US" altLang="zh-CN" sz="2000" b="1" dirty="0">
              <a:solidFill>
                <a:srgbClr val="A5002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8" name="Text Box 108"/>
          <p:cNvSpPr txBox="1"/>
          <p:nvPr/>
        </p:nvSpPr>
        <p:spPr>
          <a:xfrm>
            <a:off x="1612900" y="2413000"/>
            <a:ext cx="692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A5002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u,13</a:t>
            </a:r>
            <a:endParaRPr lang="en-US" altLang="zh-CN" sz="2000" b="1" dirty="0">
              <a:solidFill>
                <a:srgbClr val="A5002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39" name="Text Box 109"/>
          <p:cNvSpPr txBox="1"/>
          <p:nvPr/>
        </p:nvSpPr>
        <p:spPr>
          <a:xfrm>
            <a:off x="1612900" y="3204845"/>
            <a:ext cx="692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A5002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d,10</a:t>
            </a:r>
            <a:endParaRPr lang="en-US" altLang="zh-CN" sz="2000" b="1" dirty="0">
              <a:solidFill>
                <a:srgbClr val="A5002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40" name="Text Box 110"/>
          <p:cNvSpPr txBox="1"/>
          <p:nvPr/>
        </p:nvSpPr>
        <p:spPr>
          <a:xfrm>
            <a:off x="1612900" y="3972560"/>
            <a:ext cx="692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A5002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d,11</a:t>
            </a:r>
            <a:endParaRPr lang="en-US" altLang="zh-CN" sz="2000" b="1" dirty="0">
              <a:solidFill>
                <a:srgbClr val="A5002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542" name="Text Box 112"/>
          <p:cNvSpPr txBox="1"/>
          <p:nvPr/>
        </p:nvSpPr>
        <p:spPr>
          <a:xfrm>
            <a:off x="1612900" y="4810760"/>
            <a:ext cx="692150" cy="396875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2000" b="1" dirty="0">
                <a:solidFill>
                  <a:srgbClr val="A5002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u,10</a:t>
            </a:r>
            <a:endParaRPr lang="en-US" altLang="zh-CN" sz="2000" b="1" dirty="0">
              <a:solidFill>
                <a:srgbClr val="A50021"/>
              </a:solidFill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20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0205" y="5707380"/>
            <a:ext cx="4707890" cy="431800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85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85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500"/>
                                        <p:tgtEl>
                                          <p:spTgt spid="185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500"/>
                                        <p:tgtEl>
                                          <p:spTgt spid="185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18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85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18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18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18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85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8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18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185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8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3" dur="500"/>
                                        <p:tgtEl>
                                          <p:spTgt spid="18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6" dur="500"/>
                                        <p:tgtEl>
                                          <p:spTgt spid="18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8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18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8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18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1000"/>
                            </p:stCondLst>
                            <p:childTnLst>
                              <p:par>
                                <p:cTn id="8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8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500"/>
                            </p:stCondLst>
                            <p:childTnLst>
                              <p:par>
                                <p:cTn id="8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85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85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85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525" grpId="0"/>
      <p:bldP spid="18525" grpId="1"/>
      <p:bldP spid="18526" grpId="0"/>
      <p:bldP spid="18526" grpId="1"/>
      <p:bldP spid="18527" grpId="0"/>
      <p:bldP spid="18527" grpId="1"/>
      <p:bldP spid="18528" grpId="0"/>
      <p:bldP spid="18528" grpId="1"/>
      <p:bldP spid="18533" grpId="0"/>
      <p:bldP spid="18533" grpId="1"/>
      <p:bldP spid="18534" grpId="0"/>
      <p:bldP spid="18534" grpId="1"/>
      <p:bldP spid="18535" grpId="0"/>
      <p:bldP spid="18535" grpId="1"/>
      <p:bldP spid="18536" grpId="0"/>
      <p:bldP spid="18536" grpId="1"/>
      <p:bldP spid="18541" grpId="0"/>
      <p:bldP spid="18541" grpId="1"/>
      <p:bldP spid="18529" grpId="0"/>
      <p:bldP spid="18529" grpId="1"/>
      <p:bldP spid="18530" grpId="0"/>
      <p:bldP spid="18530" grpId="1"/>
      <p:bldP spid="18531" grpId="0"/>
      <p:bldP spid="18531" grpId="1"/>
      <p:bldP spid="18532" grpId="0"/>
      <p:bldP spid="18532" grpId="1"/>
      <p:bldP spid="18537" grpId="0"/>
      <p:bldP spid="18537" grpId="1"/>
      <p:bldP spid="18538" grpId="0"/>
      <p:bldP spid="18538" grpId="1"/>
      <p:bldP spid="18539" grpId="0"/>
      <p:bldP spid="18539" grpId="1"/>
      <p:bldP spid="18540" grpId="0"/>
      <p:bldP spid="18540" grpId="1"/>
      <p:bldP spid="18542" grpId="0"/>
      <p:bldP spid="18542" grpI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06730" y="243205"/>
            <a:ext cx="7772400" cy="844550"/>
          </a:xfrm>
        </p:spPr>
        <p:txBody>
          <a:bodyPr/>
          <a:lstStyle/>
          <a:p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3.1 </a:t>
            </a:r>
            <a:r>
              <a:rPr kumimoji="0" lang="zh-CN" altLang="en-US" kern="1200" dirty="0" smtClean="0">
                <a:solidFill>
                  <a:schemeClr val="accent2"/>
                </a:solidFill>
                <a:sym typeface="+mn-ea"/>
              </a:rPr>
              <a:t>动态规划的设计思想</a:t>
            </a:r>
            <a:r>
              <a:rPr kumimoji="0" lang="en-US" altLang="zh-CN" kern="1200" dirty="0" smtClean="0">
                <a:solidFill>
                  <a:schemeClr val="accent2"/>
                </a:solidFill>
                <a:sym typeface="+mn-ea"/>
              </a:rPr>
              <a:t> </a:t>
            </a:r>
            <a:endParaRPr kumimoji="0" lang="en-US" altLang="zh-CN" kern="1200" noProof="0" dirty="0" smtClean="0">
              <a:ln>
                <a:noFill/>
              </a:ln>
              <a:solidFill>
                <a:schemeClr val="accent2"/>
              </a:solidFill>
              <a:effectLst/>
              <a:uLnTx/>
              <a:uFillTx/>
              <a:sym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53745" y="1701800"/>
            <a:ext cx="2540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r>
              <a:rPr lang="zh-CN" altLang="en-US">
                <a:solidFill>
                  <a:schemeClr val="bg2"/>
                </a:solidFill>
              </a:rPr>
              <a:t>子问题界定</a:t>
            </a:r>
            <a:endParaRPr lang="zh-CN" altLang="en-US">
              <a:solidFill>
                <a:schemeClr val="bg2"/>
              </a:solidFill>
            </a:endParaRPr>
          </a:p>
        </p:txBody>
      </p:sp>
      <p:pic>
        <p:nvPicPr>
          <p:cNvPr id="4" name="20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1630" y="4663440"/>
            <a:ext cx="3599180" cy="518795"/>
          </a:xfrm>
          <a:prstGeom prst="rect">
            <a:avLst/>
          </a:prstGeom>
        </p:spPr>
      </p:pic>
      <p:pic>
        <p:nvPicPr>
          <p:cNvPr id="5" name="20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60370" y="2508250"/>
            <a:ext cx="1631315" cy="336550"/>
          </a:xfrm>
          <a:prstGeom prst="rect">
            <a:avLst/>
          </a:prstGeom>
        </p:spPr>
      </p:pic>
      <p:pic>
        <p:nvPicPr>
          <p:cNvPr id="6" name="20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8845" y="2978785"/>
            <a:ext cx="2427605" cy="424815"/>
          </a:xfrm>
          <a:prstGeom prst="rect">
            <a:avLst/>
          </a:prstGeom>
        </p:spPr>
      </p:pic>
      <p:pic>
        <p:nvPicPr>
          <p:cNvPr id="7" name="20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1285" y="3553460"/>
            <a:ext cx="3247390" cy="416560"/>
          </a:xfrm>
          <a:prstGeom prst="rect">
            <a:avLst/>
          </a:prstGeom>
        </p:spPr>
      </p:pic>
      <p:pic>
        <p:nvPicPr>
          <p:cNvPr id="8" name="20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0700" y="4121785"/>
            <a:ext cx="4117975" cy="480695"/>
          </a:xfrm>
          <a:prstGeom prst="rect">
            <a:avLst/>
          </a:prstGeom>
        </p:spPr>
      </p:pic>
      <p:pic>
        <p:nvPicPr>
          <p:cNvPr id="10" name="20 9"/>
          <p:cNvPicPr>
            <a:picLocks noChangeAspect="1"/>
          </p:cNvPicPr>
          <p:nvPr/>
        </p:nvPicPr>
        <p:blipFill>
          <a:blip r:embed="rId6"/>
          <a:srcRect r="21588" b="74251"/>
          <a:stretch>
            <a:fillRect/>
          </a:stretch>
        </p:blipFill>
        <p:spPr>
          <a:xfrm>
            <a:off x="4908550" y="2326640"/>
            <a:ext cx="3995420" cy="671195"/>
          </a:xfrm>
          <a:prstGeom prst="rect">
            <a:avLst/>
          </a:prstGeom>
        </p:spPr>
      </p:pic>
      <p:pic>
        <p:nvPicPr>
          <p:cNvPr id="11" name="20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69440" y="5537835"/>
            <a:ext cx="5310505" cy="434340"/>
          </a:xfrm>
          <a:prstGeom prst="rect">
            <a:avLst/>
          </a:prstGeom>
        </p:spPr>
      </p:pic>
      <p:pic>
        <p:nvPicPr>
          <p:cNvPr id="12" name="20 11"/>
          <p:cNvPicPr>
            <a:picLocks noChangeAspect="1"/>
          </p:cNvPicPr>
          <p:nvPr/>
        </p:nvPicPr>
        <p:blipFill>
          <a:blip r:embed="rId6"/>
          <a:srcRect t="27235" r="21588" b="50572"/>
          <a:stretch>
            <a:fillRect/>
          </a:stretch>
        </p:blipFill>
        <p:spPr>
          <a:xfrm>
            <a:off x="4836795" y="3036570"/>
            <a:ext cx="3995420" cy="578485"/>
          </a:xfrm>
          <a:prstGeom prst="rect">
            <a:avLst/>
          </a:prstGeom>
        </p:spPr>
      </p:pic>
      <p:pic>
        <p:nvPicPr>
          <p:cNvPr id="13" name="20 12"/>
          <p:cNvPicPr>
            <a:picLocks noChangeAspect="1"/>
          </p:cNvPicPr>
          <p:nvPr/>
        </p:nvPicPr>
        <p:blipFill>
          <a:blip r:embed="rId6"/>
          <a:srcRect t="48721" r="21588" b="26943"/>
          <a:stretch>
            <a:fillRect/>
          </a:stretch>
        </p:blipFill>
        <p:spPr>
          <a:xfrm>
            <a:off x="4836795" y="3596640"/>
            <a:ext cx="3995420" cy="634365"/>
          </a:xfrm>
          <a:prstGeom prst="rect">
            <a:avLst/>
          </a:prstGeom>
        </p:spPr>
      </p:pic>
      <p:pic>
        <p:nvPicPr>
          <p:cNvPr id="14" name="20 13"/>
          <p:cNvPicPr>
            <a:picLocks noChangeAspect="1"/>
          </p:cNvPicPr>
          <p:nvPr/>
        </p:nvPicPr>
        <p:blipFill>
          <a:blip r:embed="rId6"/>
          <a:srcRect t="74202" r="21588"/>
          <a:stretch>
            <a:fillRect/>
          </a:stretch>
        </p:blipFill>
        <p:spPr>
          <a:xfrm>
            <a:off x="4836795" y="4260850"/>
            <a:ext cx="3995420" cy="672465"/>
          </a:xfrm>
          <a:prstGeom prst="rect">
            <a:avLst/>
          </a:prstGeom>
        </p:spPr>
      </p:pic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ags/tag1.xml><?xml version="1.0" encoding="utf-8"?>
<p:tagLst xmlns:p="http://schemas.openxmlformats.org/presentationml/2006/main">
  <p:tag name="KSO_WM_UNIT_TABLE_BEAUTIFY" val="smartTable{251b252b-c943-4520-9d4f-30c313215562}"/>
</p:tagLst>
</file>

<file path=ppt/tags/tag2.xml><?xml version="1.0" encoding="utf-8"?>
<p:tagLst xmlns:p="http://schemas.openxmlformats.org/presentationml/2006/main">
  <p:tag name="KSO_WM_UNIT_TABLE_BEAUTIFY" val="smartTable{251b252b-c943-4520-9d4f-30c313215562}"/>
</p:tagLst>
</file>

<file path=ppt/tags/tag3.xml><?xml version="1.0" encoding="utf-8"?>
<p:tagLst xmlns:p="http://schemas.openxmlformats.org/presentationml/2006/main">
  <p:tag name="KSO_WM_UNIT_TABLE_BEAUTIFY" val="smartTable{251b252b-c943-4520-9d4f-30c313215562}"/>
</p:tagLst>
</file>

<file path=ppt/tags/tag4.xml><?xml version="1.0" encoding="utf-8"?>
<p:tagLst xmlns:p="http://schemas.openxmlformats.org/presentationml/2006/main">
  <p:tag name="KSO_WM_UNIT_TABLE_BEAUTIFY" val="smartTable{251b252b-c943-4520-9d4f-30c313215562}"/>
</p:tagLst>
</file>

<file path=ppt/tags/tag5.xml><?xml version="1.0" encoding="utf-8"?>
<p:tagLst xmlns:p="http://schemas.openxmlformats.org/presentationml/2006/main">
  <p:tag name="KSO_WM_UNIT_TABLE_BEAUTIFY" val="smartTable{251b252b-c943-4520-9d4f-30c313215562}"/>
</p:tagLst>
</file>

<file path=ppt/tags/tag6.xml><?xml version="1.0" encoding="utf-8"?>
<p:tagLst xmlns:p="http://schemas.openxmlformats.org/presentationml/2006/main">
  <p:tag name="KSO_WM_UNIT_TABLE_BEAUTIFY" val="smartTable{251b252b-c943-4520-9d4f-30c313215562}"/>
</p:tagLst>
</file>

<file path=ppt/tags/tag7.xml><?xml version="1.0" encoding="utf-8"?>
<p:tagLst xmlns:p="http://schemas.openxmlformats.org/presentationml/2006/main">
  <p:tag name="KSO_WM_UNIT_TABLE_BEAUTIFY" val="smartTable{251b252b-c943-4520-9d4f-30c313215562}"/>
</p:tagLst>
</file>

<file path=ppt/tags/tag8.xml><?xml version="1.0" encoding="utf-8"?>
<p:tagLst xmlns:p="http://schemas.openxmlformats.org/presentationml/2006/main">
  <p:tag name="KSO_WM_UNIT_TABLE_BEAUTIFY" val="smartTable{251b252b-c943-4520-9d4f-30c313215562}"/>
</p:tagLst>
</file>

<file path=ppt/tags/tag9.xml><?xml version="1.0" encoding="utf-8"?>
<p:tagLst xmlns:p="http://schemas.openxmlformats.org/presentationml/2006/main">
  <p:tag name="KSO_WM_UNIT_TABLE_BEAUTIFY" val="smartTable{251b252b-c943-4520-9d4f-30c313215562}"/>
</p:tagLst>
</file>

<file path=ppt/tags/tag10.xml><?xml version="1.0" encoding="utf-8"?>
<p:tagLst xmlns:p="http://schemas.openxmlformats.org/presentationml/2006/main">
  <p:tag name="KSO_WM_UNIT_TABLE_BEAUTIFY" val="smartTable{251b252b-c943-4520-9d4f-30c313215562}"/>
</p:tagLst>
</file>

<file path=ppt/tags/tag11.xml><?xml version="1.0" encoding="utf-8"?>
<p:tagLst xmlns:p="http://schemas.openxmlformats.org/presentationml/2006/main">
  <p:tag name="KSO_WM_UNIT_TABLE_BEAUTIFY" val="smartTable{251b252b-c943-4520-9d4f-30c313215562}"/>
</p:tagLst>
</file>

<file path=ppt/tags/tag12.xml><?xml version="1.0" encoding="utf-8"?>
<p:tagLst xmlns:p="http://schemas.openxmlformats.org/presentationml/2006/main">
  <p:tag name="KSO_WM_UNIT_TABLE_BEAUTIFY" val="smartTable{251b252b-c943-4520-9d4f-30c313215562}"/>
</p:tagLst>
</file>

<file path=ppt/tags/tag13.xml><?xml version="1.0" encoding="utf-8"?>
<p:tagLst xmlns:p="http://schemas.openxmlformats.org/presentationml/2006/main">
  <p:tag name="KSO_WM_UNIT_TABLE_BEAUTIFY" val="smartTable{251b252b-c943-4520-9d4f-30c313215562}"/>
</p:tagLst>
</file>

<file path=ppt/tags/tag14.xml><?xml version="1.0" encoding="utf-8"?>
<p:tagLst xmlns:p="http://schemas.openxmlformats.org/presentationml/2006/main">
  <p:tag name="KSO_WM_UNIT_TABLE_BEAUTIFY" val="smartTable{251b252b-c943-4520-9d4f-30c313215562}"/>
</p:tagLst>
</file>

<file path=ppt/tags/tag15.xml><?xml version="1.0" encoding="utf-8"?>
<p:tagLst xmlns:p="http://schemas.openxmlformats.org/presentationml/2006/main">
  <p:tag name="KSO_WM_UNIT_TABLE_BEAUTIFY" val="smartTable{251b252b-c943-4520-9d4f-30c313215562}"/>
</p:tagLst>
</file>

<file path=ppt/tags/tag16.xml><?xml version="1.0" encoding="utf-8"?>
<p:tagLst xmlns:p="http://schemas.openxmlformats.org/presentationml/2006/main">
  <p:tag name="KSO_WM_UNIT_TABLE_BEAUTIFY" val="smartTable{251b252b-c943-4520-9d4f-30c313215562}"/>
</p:tagLst>
</file>

<file path=ppt/tags/tag17.xml><?xml version="1.0" encoding="utf-8"?>
<p:tagLst xmlns:p="http://schemas.openxmlformats.org/presentationml/2006/main">
  <p:tag name="KSO_WM_UNIT_TABLE_BEAUTIFY" val="smartTable{251b252b-c943-4520-9d4f-30c313215562}"/>
</p:tagLst>
</file>

<file path=ppt/tags/tag18.xml><?xml version="1.0" encoding="utf-8"?>
<p:tagLst xmlns:p="http://schemas.openxmlformats.org/presentationml/2006/main">
  <p:tag name="KSO_WM_UNIT_TABLE_BEAUTIFY" val="smartTable{251b252b-c943-4520-9d4f-30c313215562}"/>
</p:tagLst>
</file>

<file path=ppt/tags/tag19.xml><?xml version="1.0" encoding="utf-8"?>
<p:tagLst xmlns:p="http://schemas.openxmlformats.org/presentationml/2006/main">
  <p:tag name="KSO_WM_UNIT_TABLE_BEAUTIFY" val="smartTable{251b252b-c943-4520-9d4f-30c313215562}"/>
</p:tagLst>
</file>

<file path=ppt/tags/tag20.xml><?xml version="1.0" encoding="utf-8"?>
<p:tagLst xmlns:p="http://schemas.openxmlformats.org/presentationml/2006/main">
  <p:tag name="KSO_WM_UNIT_TABLE_BEAUTIFY" val="smartTable{251b252b-c943-4520-9d4f-30c313215562}"/>
</p:tagLst>
</file>

<file path=ppt/tags/tag21.xml><?xml version="1.0" encoding="utf-8"?>
<p:tagLst xmlns:p="http://schemas.openxmlformats.org/presentationml/2006/main">
  <p:tag name="KSO_WM_UNIT_TABLE_BEAUTIFY" val="smartTable{251b252b-c943-4520-9d4f-30c313215562}"/>
</p:tagLst>
</file>

<file path=ppt/tags/tag22.xml><?xml version="1.0" encoding="utf-8"?>
<p:tagLst xmlns:p="http://schemas.openxmlformats.org/presentationml/2006/main">
  <p:tag name="DEFINEDINNAVIGATOR" val="True"/>
  <p:tag name="HOTSPOTTYPE" val="DefinedInNavigator"/>
  <p:tag name="BRANCHTO" val="257"/>
</p:tagLst>
</file>

<file path=ppt/theme/theme1.xml><?xml version="1.0" encoding="utf-8"?>
<a:theme xmlns:a="http://schemas.openxmlformats.org/drawingml/2006/main" name="1_个人主页 (标准)">
  <a:themeElements>
    <a:clrScheme name="个人主页 (标准) 4">
      <a:dk1>
        <a:srgbClr val="000000"/>
      </a:dk1>
      <a:lt1>
        <a:srgbClr val="FFFFFF"/>
      </a:lt1>
      <a:dk2>
        <a:srgbClr val="1E2E53"/>
      </a:dk2>
      <a:lt2>
        <a:srgbClr val="FFCC00"/>
      </a:lt2>
      <a:accent1>
        <a:srgbClr val="FF9933"/>
      </a:accent1>
      <a:accent2>
        <a:srgbClr val="336699"/>
      </a:accent2>
      <a:accent3>
        <a:srgbClr val="ABADB3"/>
      </a:accent3>
      <a:accent4>
        <a:srgbClr val="DADADA"/>
      </a:accent4>
      <a:accent5>
        <a:srgbClr val="FFCAAD"/>
      </a:accent5>
      <a:accent6>
        <a:srgbClr val="2D5C8A"/>
      </a:accent6>
      <a:hlink>
        <a:srgbClr val="0000FF"/>
      </a:hlink>
      <a:folHlink>
        <a:srgbClr val="A73737"/>
      </a:folHlink>
    </a:clrScheme>
    <a:fontScheme name="个人主页 (标准)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sq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1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宋体" panose="02010600030101010101" pitchFamily="2" charset="-122"/>
          </a:defRPr>
        </a:defPPr>
      </a:lstStyle>
    </a:lnDef>
  </a:objectDefaults>
  <a:extraClrSchemeLst>
    <a:extraClrScheme>
      <a:clrScheme name="个人主页 (标准) 1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EAEAEA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个人主页 (标准) 2">
        <a:dk1>
          <a:srgbClr val="663300"/>
        </a:dk1>
        <a:lt1>
          <a:srgbClr val="FFFFFF"/>
        </a:lt1>
        <a:dk2>
          <a:srgbClr val="996633"/>
        </a:dk2>
        <a:lt2>
          <a:srgbClr val="868686"/>
        </a:lt2>
        <a:accent1>
          <a:srgbClr val="FF9900"/>
        </a:accent1>
        <a:accent2>
          <a:srgbClr val="CC6600"/>
        </a:accent2>
        <a:accent3>
          <a:srgbClr val="FFFFFF"/>
        </a:accent3>
        <a:accent4>
          <a:srgbClr val="562A00"/>
        </a:accent4>
        <a:accent5>
          <a:srgbClr val="FFCAAA"/>
        </a:accent5>
        <a:accent6>
          <a:srgbClr val="B95C00"/>
        </a:accent6>
        <a:hlink>
          <a:srgbClr val="FFCC00"/>
        </a:hlink>
        <a:folHlink>
          <a:srgbClr val="CC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3">
        <a:dk1>
          <a:srgbClr val="000000"/>
        </a:dk1>
        <a:lt1>
          <a:srgbClr val="FFFFFF"/>
        </a:lt1>
        <a:dk2>
          <a:srgbClr val="000000"/>
        </a:dk2>
        <a:lt2>
          <a:srgbClr val="868686"/>
        </a:lt2>
        <a:accent1>
          <a:srgbClr val="EAEAEA"/>
        </a:accent1>
        <a:accent2>
          <a:srgbClr val="5F5F5F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555555"/>
        </a:accent6>
        <a:hlink>
          <a:srgbClr val="969696"/>
        </a:hlink>
        <a:folHlink>
          <a:srgbClr val="CBCBCB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个人主页 (标准) 4">
        <a:dk1>
          <a:srgbClr val="000000"/>
        </a:dk1>
        <a:lt1>
          <a:srgbClr val="FFFFFF"/>
        </a:lt1>
        <a:dk2>
          <a:srgbClr val="1E2E53"/>
        </a:dk2>
        <a:lt2>
          <a:srgbClr val="FFCC00"/>
        </a:lt2>
        <a:accent1>
          <a:srgbClr val="FF9933"/>
        </a:accent1>
        <a:accent2>
          <a:srgbClr val="336699"/>
        </a:accent2>
        <a:accent3>
          <a:srgbClr val="ABADB3"/>
        </a:accent3>
        <a:accent4>
          <a:srgbClr val="DADADA"/>
        </a:accent4>
        <a:accent5>
          <a:srgbClr val="FFCAAD"/>
        </a:accent5>
        <a:accent6>
          <a:srgbClr val="2D5C8A"/>
        </a:accent6>
        <a:hlink>
          <a:srgbClr val="0000FF"/>
        </a:hlink>
        <a:folHlink>
          <a:srgbClr val="A73737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Office\Templates\演示文稿\个人主页 (标准).pot</Template>
  <TotalTime>0</TotalTime>
  <Words>6984</Words>
  <Application>WPS 演示</Application>
  <PresentationFormat>全屏显示(4:3)</PresentationFormat>
  <Paragraphs>3025</Paragraphs>
  <Slides>39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39</vt:i4>
      </vt:variant>
    </vt:vector>
  </HeadingPairs>
  <TitlesOfParts>
    <vt:vector size="50" baseType="lpstr">
      <vt:lpstr>Arial</vt:lpstr>
      <vt:lpstr>宋体</vt:lpstr>
      <vt:lpstr>Wingdings</vt:lpstr>
      <vt:lpstr>Times New Roman</vt:lpstr>
      <vt:lpstr>Wingdings</vt:lpstr>
      <vt:lpstr>Consolas</vt:lpstr>
      <vt:lpstr>楷体</vt:lpstr>
      <vt:lpstr>微软雅黑</vt:lpstr>
      <vt:lpstr>Arial Unicode MS</vt:lpstr>
      <vt:lpstr>Calibri</vt:lpstr>
      <vt:lpstr>1_个人主页 (标准)</vt:lpstr>
      <vt:lpstr>第3章   动态规划</vt:lpstr>
      <vt:lpstr>第3章   动态规划</vt:lpstr>
      <vt:lpstr>第3章   动态规划</vt:lpstr>
      <vt:lpstr>第3章   动态规划</vt:lpstr>
      <vt:lpstr>第3章   动态规划</vt:lpstr>
      <vt:lpstr>3.1 动态规划的设计思想 </vt:lpstr>
      <vt:lpstr>PowerPoint 演示文稿</vt:lpstr>
      <vt:lpstr>PowerPoint 演示文稿</vt:lpstr>
      <vt:lpstr>PowerPoint 演示文稿</vt:lpstr>
      <vt:lpstr>3.1 动态规划的设计思想 </vt:lpstr>
      <vt:lpstr>3.1 动态规划的设计思想 </vt:lpstr>
      <vt:lpstr>3.1 动态规划的设计思想 </vt:lpstr>
      <vt:lpstr>PowerPoint 演示文稿</vt:lpstr>
      <vt:lpstr>3.1 动态规划的设计思想 </vt:lpstr>
      <vt:lpstr>3.1 动态规划的设计思想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3.1 动态规划的设计思想 </vt:lpstr>
      <vt:lpstr>3.1 动态规划的设计思想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3.1 动态规划的设计思想 </vt:lpstr>
      <vt:lpstr>3.1 动态规划的设计思想 </vt:lpstr>
      <vt:lpstr>3.1 动态规划的设计思想 </vt:lpstr>
      <vt:lpstr>3.1 动态规划的设计思想 </vt:lpstr>
      <vt:lpstr>3.1 动态规划的设计思想 </vt:lpstr>
      <vt:lpstr>3.1 动态规划的设计思想 </vt:lpstr>
    </vt:vector>
  </TitlesOfParts>
  <Company>NEU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数据库系统原理</dc:title>
  <dc:creator>songby</dc:creator>
  <cp:lastModifiedBy>红艳</cp:lastModifiedBy>
  <cp:revision>1094</cp:revision>
  <cp:lastPrinted>1995-12-08T18:33:00Z</cp:lastPrinted>
  <dcterms:created xsi:type="dcterms:W3CDTF">2000-10-31T09:27:00Z</dcterms:created>
  <dcterms:modified xsi:type="dcterms:W3CDTF">2022-04-05T15:29:19Z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2052-11.1.0.11365</vt:lpwstr>
  </property>
  <property fmtid="{D5CDD505-2E9C-101B-9397-08002B2CF9AE}" pid="3" name="ICV">
    <vt:lpwstr>D97091215E3244AD96003C13B13EF2B1</vt:lpwstr>
  </property>
</Properties>
</file>