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handoutMasterIdLst>
    <p:handoutMasterId r:id="rId42"/>
  </p:handoutMasterIdLst>
  <p:sldIdLst>
    <p:sldId id="414" r:id="rId3"/>
    <p:sldId id="457" r:id="rId4"/>
    <p:sldId id="415" r:id="rId5"/>
    <p:sldId id="458" r:id="rId6"/>
    <p:sldId id="416" r:id="rId7"/>
    <p:sldId id="417" r:id="rId8"/>
    <p:sldId id="418" r:id="rId9"/>
    <p:sldId id="419" r:id="rId10"/>
    <p:sldId id="328" r:id="rId11"/>
    <p:sldId id="329" r:id="rId12"/>
    <p:sldId id="367" r:id="rId13"/>
    <p:sldId id="369" r:id="rId14"/>
    <p:sldId id="459" r:id="rId15"/>
    <p:sldId id="370" r:id="rId17"/>
    <p:sldId id="372" r:id="rId18"/>
    <p:sldId id="371" r:id="rId19"/>
    <p:sldId id="377" r:id="rId20"/>
    <p:sldId id="378" r:id="rId21"/>
    <p:sldId id="386" r:id="rId22"/>
    <p:sldId id="387" r:id="rId23"/>
    <p:sldId id="381" r:id="rId24"/>
    <p:sldId id="385" r:id="rId25"/>
    <p:sldId id="388" r:id="rId26"/>
    <p:sldId id="389" r:id="rId27"/>
    <p:sldId id="390" r:id="rId28"/>
    <p:sldId id="392" r:id="rId29"/>
    <p:sldId id="393" r:id="rId30"/>
    <p:sldId id="394" r:id="rId31"/>
    <p:sldId id="395" r:id="rId32"/>
    <p:sldId id="396" r:id="rId33"/>
    <p:sldId id="397" r:id="rId34"/>
    <p:sldId id="398" r:id="rId35"/>
    <p:sldId id="399" r:id="rId36"/>
    <p:sldId id="401" r:id="rId37"/>
    <p:sldId id="400" r:id="rId38"/>
    <p:sldId id="402" r:id="rId39"/>
    <p:sldId id="403" r:id="rId40"/>
    <p:sldId id="404" r:id="rId41"/>
  </p:sldIdLst>
  <p:sldSz cx="9144000" cy="6858000" type="screen4x3"/>
  <p:notesSz cx="6934200" cy="9398000"/>
  <p:custDataLst>
    <p:tags r:id="rId46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CCFF"/>
    <a:srgbClr val="CC0099"/>
    <a:srgbClr val="CCCCFF"/>
    <a:srgbClr val="CC99FF"/>
    <a:srgbClr val="CCECFF"/>
    <a:srgbClr val="DFC0FF"/>
    <a:srgbClr val="90D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3"/>
    <p:restoredTop sz="94608"/>
  </p:normalViewPr>
  <p:slideViewPr>
    <p:cSldViewPr showGuides="1">
      <p:cViewPr varScale="1">
        <p:scale>
          <a:sx n="62" d="100"/>
          <a:sy n="62" d="100"/>
        </p:scale>
        <p:origin x="-1512" y="-84"/>
      </p:cViewPr>
      <p:guideLst>
        <p:guide orient="horz" pos="2176"/>
        <p:guide pos="28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6" Type="http://schemas.openxmlformats.org/officeDocument/2006/relationships/tags" Target="tags/tag5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handoutMaster" Target="handoutMasters/handoutMaster1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0"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87" name="Rectangle 3"/>
          <p:cNvSpPr>
            <a:spLocks noGrp="1" noRot="1" noChangeAspect="1"/>
          </p:cNvSpPr>
          <p:nvPr>
            <p:ph type="sldImg" idx="2"/>
          </p:nvPr>
        </p:nvSpPr>
        <p:spPr>
          <a:xfrm>
            <a:off x="1079500" y="685800"/>
            <a:ext cx="4775200" cy="358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2" name="Rectangle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95800"/>
            <a:ext cx="5105400" cy="4191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0"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utoShape 23"/>
          <p:cNvSpPr>
            <a:spLocks noChangeArrowheads="1"/>
          </p:cNvSpPr>
          <p:nvPr/>
        </p:nvSpPr>
        <p:spPr bwMode="auto">
          <a:xfrm rot="20940000">
            <a:off x="1828800" y="304800"/>
            <a:ext cx="457200" cy="457200"/>
          </a:xfrm>
          <a:prstGeom prst="star5">
            <a:avLst/>
          </a:prstGeom>
          <a:gradFill rotWithShape="0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AutoShape 24"/>
          <p:cNvSpPr>
            <a:spLocks noChangeArrowheads="1"/>
          </p:cNvSpPr>
          <p:nvPr/>
        </p:nvSpPr>
        <p:spPr bwMode="auto">
          <a:xfrm>
            <a:off x="2609850" y="171450"/>
            <a:ext cx="419100" cy="419100"/>
          </a:xfrm>
          <a:prstGeom prst="star5">
            <a:avLst/>
          </a:prstGeom>
          <a:gradFill rotWithShape="0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AutoShape 25"/>
          <p:cNvSpPr>
            <a:spLocks noChangeArrowheads="1"/>
          </p:cNvSpPr>
          <p:nvPr/>
        </p:nvSpPr>
        <p:spPr bwMode="auto">
          <a:xfrm rot="20940000">
            <a:off x="1752600" y="228600"/>
            <a:ext cx="457200" cy="45720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AutoShape 26"/>
          <p:cNvSpPr>
            <a:spLocks noChangeArrowheads="1"/>
          </p:cNvSpPr>
          <p:nvPr/>
        </p:nvSpPr>
        <p:spPr bwMode="auto">
          <a:xfrm>
            <a:off x="2533650" y="19050"/>
            <a:ext cx="419100" cy="41910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054" name="Group 27"/>
          <p:cNvGrpSpPr/>
          <p:nvPr/>
        </p:nvGrpSpPr>
        <p:grpSpPr>
          <a:xfrm>
            <a:off x="6934200" y="5181600"/>
            <a:ext cx="2033588" cy="1219200"/>
            <a:chOff x="4368" y="3264"/>
            <a:chExt cx="1281" cy="768"/>
          </a:xfrm>
        </p:grpSpPr>
        <p:sp>
          <p:nvSpPr>
            <p:cNvPr id="24" name="AutoShape 28"/>
            <p:cNvSpPr>
              <a:spLocks noChangeArrowheads="1"/>
            </p:cNvSpPr>
            <p:nvPr/>
          </p:nvSpPr>
          <p:spPr bwMode="auto">
            <a:xfrm rot="20940000">
              <a:off x="4368" y="3681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AutoShape 29"/>
            <p:cNvSpPr>
              <a:spLocks noChangeArrowheads="1"/>
            </p:cNvSpPr>
            <p:nvPr/>
          </p:nvSpPr>
          <p:spPr bwMode="auto">
            <a:xfrm>
              <a:off x="4845" y="3324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AutoShape 30"/>
            <p:cNvSpPr>
              <a:spLocks noChangeArrowheads="1"/>
            </p:cNvSpPr>
            <p:nvPr/>
          </p:nvSpPr>
          <p:spPr bwMode="auto">
            <a:xfrm rot="1320000">
              <a:off x="5217" y="3264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AutoShape 31"/>
            <p:cNvSpPr>
              <a:spLocks noChangeArrowheads="1"/>
            </p:cNvSpPr>
            <p:nvPr/>
          </p:nvSpPr>
          <p:spPr bwMode="auto">
            <a:xfrm rot="20940000">
              <a:off x="4449" y="3744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AutoShape 32"/>
            <p:cNvSpPr>
              <a:spLocks noChangeArrowheads="1"/>
            </p:cNvSpPr>
            <p:nvPr/>
          </p:nvSpPr>
          <p:spPr bwMode="auto">
            <a:xfrm>
              <a:off x="4893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AutoShape 33"/>
            <p:cNvSpPr>
              <a:spLocks noChangeArrowheads="1"/>
            </p:cNvSpPr>
            <p:nvPr/>
          </p:nvSpPr>
          <p:spPr bwMode="auto">
            <a:xfrm rot="1320000">
              <a:off x="5265" y="3360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" name="AutoShape 34"/>
          <p:cNvSpPr>
            <a:spLocks noChangeArrowheads="1"/>
          </p:cNvSpPr>
          <p:nvPr/>
        </p:nvSpPr>
        <p:spPr bwMode="auto">
          <a:xfrm rot="1320000">
            <a:off x="168275" y="244475"/>
            <a:ext cx="882650" cy="88265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7" name="Rectangle 1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2667000"/>
            <a:ext cx="6400800" cy="3276600"/>
          </a:xfr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3091" name="Rectangle 1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914400"/>
            <a:ext cx="7772400" cy="11430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76200" y="6323013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246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1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228600"/>
            <a:ext cx="1943100" cy="5791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5676900" cy="5791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228600"/>
            <a:ext cx="7772400" cy="579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 eaLnBrk="1" hangingPunct="1"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30" name="Rectangle 16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1031" name="Group 20"/>
          <p:cNvGrpSpPr/>
          <p:nvPr/>
        </p:nvGrpSpPr>
        <p:grpSpPr>
          <a:xfrm>
            <a:off x="6934200" y="5257800"/>
            <a:ext cx="2033588" cy="1219200"/>
            <a:chOff x="4368" y="3312"/>
            <a:chExt cx="1281" cy="768"/>
          </a:xfrm>
        </p:grpSpPr>
        <p:sp>
          <p:nvSpPr>
            <p:cNvPr id="1045" name="AutoShape 21"/>
            <p:cNvSpPr>
              <a:spLocks noChangeArrowheads="1"/>
            </p:cNvSpPr>
            <p:nvPr/>
          </p:nvSpPr>
          <p:spPr bwMode="auto">
            <a:xfrm rot="20940000">
              <a:off x="4368" y="3729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6" name="AutoShape 22"/>
            <p:cNvSpPr>
              <a:spLocks noChangeArrowheads="1"/>
            </p:cNvSpPr>
            <p:nvPr/>
          </p:nvSpPr>
          <p:spPr bwMode="auto">
            <a:xfrm>
              <a:off x="4845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7" name="AutoShape 23"/>
            <p:cNvSpPr>
              <a:spLocks noChangeArrowheads="1"/>
            </p:cNvSpPr>
            <p:nvPr/>
          </p:nvSpPr>
          <p:spPr bwMode="auto">
            <a:xfrm rot="1320000">
              <a:off x="5217" y="3312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8" name="AutoShape 24"/>
            <p:cNvSpPr>
              <a:spLocks noChangeArrowheads="1"/>
            </p:cNvSpPr>
            <p:nvPr/>
          </p:nvSpPr>
          <p:spPr bwMode="auto">
            <a:xfrm rot="20940000">
              <a:off x="4449" y="3792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9" name="AutoShape 25"/>
            <p:cNvSpPr>
              <a:spLocks noChangeArrowheads="1"/>
            </p:cNvSpPr>
            <p:nvPr/>
          </p:nvSpPr>
          <p:spPr bwMode="auto">
            <a:xfrm>
              <a:off x="4893" y="3420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0" name="AutoShape 26"/>
            <p:cNvSpPr>
              <a:spLocks noChangeArrowheads="1"/>
            </p:cNvSpPr>
            <p:nvPr/>
          </p:nvSpPr>
          <p:spPr bwMode="auto">
            <a:xfrm rot="1320000">
              <a:off x="5265" y="3408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032" name="Group 27"/>
          <p:cNvGrpSpPr/>
          <p:nvPr/>
        </p:nvGrpSpPr>
        <p:grpSpPr>
          <a:xfrm>
            <a:off x="381000" y="1219200"/>
            <a:ext cx="8305800" cy="381000"/>
            <a:chOff x="240" y="768"/>
            <a:chExt cx="5232" cy="240"/>
          </a:xfrm>
        </p:grpSpPr>
        <p:sp>
          <p:nvSpPr>
            <p:cNvPr id="1052" name="Rectangle 28"/>
            <p:cNvSpPr>
              <a:spLocks noChangeArrowheads="1"/>
            </p:cNvSpPr>
            <p:nvPr/>
          </p:nvSpPr>
          <p:spPr bwMode="auto">
            <a:xfrm>
              <a:off x="384" y="912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3" name="Rectangle 29"/>
            <p:cNvSpPr>
              <a:spLocks noChangeArrowheads="1"/>
            </p:cNvSpPr>
            <p:nvPr/>
          </p:nvSpPr>
          <p:spPr bwMode="auto">
            <a:xfrm>
              <a:off x="240" y="768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4" name="Freeform 30">
            <a:hlinkClick r:id="" action="ppaction://hlinkshowjump?jump=previousslide"/>
          </p:cNvPr>
          <p:cNvSpPr/>
          <p:nvPr/>
        </p:nvSpPr>
        <p:spPr bwMode="auto">
          <a:xfrm>
            <a:off x="781050" y="6416675"/>
            <a:ext cx="557213" cy="347663"/>
          </a:xfrm>
          <a:custGeom>
            <a:avLst/>
            <a:gdLst>
              <a:gd name="T0" fmla="*/ 350 w 351"/>
              <a:gd name="T1" fmla="*/ 1 h 219"/>
              <a:gd name="T2" fmla="*/ 101 w 351"/>
              <a:gd name="T3" fmla="*/ 0 h 219"/>
              <a:gd name="T4" fmla="*/ 81 w 351"/>
              <a:gd name="T5" fmla="*/ 2 h 219"/>
              <a:gd name="T6" fmla="*/ 67 w 351"/>
              <a:gd name="T7" fmla="*/ 6 h 219"/>
              <a:gd name="T8" fmla="*/ 51 w 351"/>
              <a:gd name="T9" fmla="*/ 15 h 219"/>
              <a:gd name="T10" fmla="*/ 38 w 351"/>
              <a:gd name="T11" fmla="*/ 25 h 219"/>
              <a:gd name="T12" fmla="*/ 28 w 351"/>
              <a:gd name="T13" fmla="*/ 35 h 219"/>
              <a:gd name="T14" fmla="*/ 19 w 351"/>
              <a:gd name="T15" fmla="*/ 48 h 219"/>
              <a:gd name="T16" fmla="*/ 12 w 351"/>
              <a:gd name="T17" fmla="*/ 59 h 219"/>
              <a:gd name="T18" fmla="*/ 6 w 351"/>
              <a:gd name="T19" fmla="*/ 73 h 219"/>
              <a:gd name="T20" fmla="*/ 1 w 351"/>
              <a:gd name="T21" fmla="*/ 89 h 219"/>
              <a:gd name="T22" fmla="*/ 1 w 351"/>
              <a:gd name="T23" fmla="*/ 99 h 219"/>
              <a:gd name="T24" fmla="*/ 0 w 351"/>
              <a:gd name="T25" fmla="*/ 119 h 219"/>
              <a:gd name="T26" fmla="*/ 2 w 351"/>
              <a:gd name="T27" fmla="*/ 136 h 219"/>
              <a:gd name="T28" fmla="*/ 9 w 351"/>
              <a:gd name="T29" fmla="*/ 150 h 219"/>
              <a:gd name="T30" fmla="*/ 15 w 351"/>
              <a:gd name="T31" fmla="*/ 164 h 219"/>
              <a:gd name="T32" fmla="*/ 24 w 351"/>
              <a:gd name="T33" fmla="*/ 176 h 219"/>
              <a:gd name="T34" fmla="*/ 33 w 351"/>
              <a:gd name="T35" fmla="*/ 189 h 219"/>
              <a:gd name="T36" fmla="*/ 46 w 351"/>
              <a:gd name="T37" fmla="*/ 198 h 219"/>
              <a:gd name="T38" fmla="*/ 59 w 351"/>
              <a:gd name="T39" fmla="*/ 207 h 219"/>
              <a:gd name="T40" fmla="*/ 72 w 351"/>
              <a:gd name="T41" fmla="*/ 212 h 219"/>
              <a:gd name="T42" fmla="*/ 90 w 351"/>
              <a:gd name="T43" fmla="*/ 218 h 219"/>
              <a:gd name="T44" fmla="*/ 350 w 351"/>
              <a:gd name="T45" fmla="*/ 218 h 219"/>
              <a:gd name="T46" fmla="*/ 350 w 351"/>
              <a:gd name="T47" fmla="*/ 1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51" h="219">
                <a:moveTo>
                  <a:pt x="350" y="1"/>
                </a:moveTo>
                <a:lnTo>
                  <a:pt x="101" y="0"/>
                </a:lnTo>
                <a:lnTo>
                  <a:pt x="81" y="2"/>
                </a:lnTo>
                <a:lnTo>
                  <a:pt x="67" y="6"/>
                </a:lnTo>
                <a:lnTo>
                  <a:pt x="51" y="15"/>
                </a:lnTo>
                <a:lnTo>
                  <a:pt x="38" y="25"/>
                </a:lnTo>
                <a:lnTo>
                  <a:pt x="28" y="35"/>
                </a:lnTo>
                <a:lnTo>
                  <a:pt x="19" y="48"/>
                </a:lnTo>
                <a:lnTo>
                  <a:pt x="12" y="59"/>
                </a:lnTo>
                <a:lnTo>
                  <a:pt x="6" y="73"/>
                </a:lnTo>
                <a:lnTo>
                  <a:pt x="1" y="89"/>
                </a:lnTo>
                <a:lnTo>
                  <a:pt x="1" y="99"/>
                </a:lnTo>
                <a:lnTo>
                  <a:pt x="0" y="119"/>
                </a:lnTo>
                <a:lnTo>
                  <a:pt x="2" y="136"/>
                </a:lnTo>
                <a:lnTo>
                  <a:pt x="9" y="150"/>
                </a:lnTo>
                <a:lnTo>
                  <a:pt x="15" y="164"/>
                </a:lnTo>
                <a:lnTo>
                  <a:pt x="24" y="176"/>
                </a:lnTo>
                <a:lnTo>
                  <a:pt x="33" y="189"/>
                </a:lnTo>
                <a:lnTo>
                  <a:pt x="46" y="198"/>
                </a:lnTo>
                <a:lnTo>
                  <a:pt x="59" y="207"/>
                </a:lnTo>
                <a:lnTo>
                  <a:pt x="72" y="212"/>
                </a:lnTo>
                <a:lnTo>
                  <a:pt x="90" y="218"/>
                </a:lnTo>
                <a:lnTo>
                  <a:pt x="350" y="218"/>
                </a:lnTo>
                <a:lnTo>
                  <a:pt x="35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55" name="Freeform 31">
            <a:hlinkClick r:id="" action="ppaction://hlinkshowjump?jump=nextslide"/>
          </p:cNvPr>
          <p:cNvSpPr/>
          <p:nvPr/>
        </p:nvSpPr>
        <p:spPr bwMode="auto">
          <a:xfrm>
            <a:off x="1447800" y="6416675"/>
            <a:ext cx="557213" cy="347663"/>
          </a:xfrm>
          <a:custGeom>
            <a:avLst/>
            <a:gdLst>
              <a:gd name="T0" fmla="*/ 0 w 351"/>
              <a:gd name="T1" fmla="*/ 1 h 219"/>
              <a:gd name="T2" fmla="*/ 249 w 351"/>
              <a:gd name="T3" fmla="*/ 0 h 219"/>
              <a:gd name="T4" fmla="*/ 268 w 351"/>
              <a:gd name="T5" fmla="*/ 3 h 219"/>
              <a:gd name="T6" fmla="*/ 283 w 351"/>
              <a:gd name="T7" fmla="*/ 6 h 219"/>
              <a:gd name="T8" fmla="*/ 298 w 351"/>
              <a:gd name="T9" fmla="*/ 16 h 219"/>
              <a:gd name="T10" fmla="*/ 311 w 351"/>
              <a:gd name="T11" fmla="*/ 26 h 219"/>
              <a:gd name="T12" fmla="*/ 321 w 351"/>
              <a:gd name="T13" fmla="*/ 35 h 219"/>
              <a:gd name="T14" fmla="*/ 331 w 351"/>
              <a:gd name="T15" fmla="*/ 48 h 219"/>
              <a:gd name="T16" fmla="*/ 337 w 351"/>
              <a:gd name="T17" fmla="*/ 60 h 219"/>
              <a:gd name="T18" fmla="*/ 344 w 351"/>
              <a:gd name="T19" fmla="*/ 74 h 219"/>
              <a:gd name="T20" fmla="*/ 349 w 351"/>
              <a:gd name="T21" fmla="*/ 90 h 219"/>
              <a:gd name="T22" fmla="*/ 349 w 351"/>
              <a:gd name="T23" fmla="*/ 100 h 219"/>
              <a:gd name="T24" fmla="*/ 350 w 351"/>
              <a:gd name="T25" fmla="*/ 119 h 219"/>
              <a:gd name="T26" fmla="*/ 347 w 351"/>
              <a:gd name="T27" fmla="*/ 136 h 219"/>
              <a:gd name="T28" fmla="*/ 341 w 351"/>
              <a:gd name="T29" fmla="*/ 151 h 219"/>
              <a:gd name="T30" fmla="*/ 334 w 351"/>
              <a:gd name="T31" fmla="*/ 165 h 219"/>
              <a:gd name="T32" fmla="*/ 325 w 351"/>
              <a:gd name="T33" fmla="*/ 176 h 219"/>
              <a:gd name="T34" fmla="*/ 316 w 351"/>
              <a:gd name="T35" fmla="*/ 189 h 219"/>
              <a:gd name="T36" fmla="*/ 303 w 351"/>
              <a:gd name="T37" fmla="*/ 199 h 219"/>
              <a:gd name="T38" fmla="*/ 290 w 351"/>
              <a:gd name="T39" fmla="*/ 208 h 219"/>
              <a:gd name="T40" fmla="*/ 277 w 351"/>
              <a:gd name="T41" fmla="*/ 213 h 219"/>
              <a:gd name="T42" fmla="*/ 259 w 351"/>
              <a:gd name="T43" fmla="*/ 218 h 219"/>
              <a:gd name="T44" fmla="*/ 0 w 351"/>
              <a:gd name="T45" fmla="*/ 218 h 219"/>
              <a:gd name="T46" fmla="*/ 0 w 351"/>
              <a:gd name="T47" fmla="*/ 1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51" h="219">
                <a:moveTo>
                  <a:pt x="0" y="1"/>
                </a:moveTo>
                <a:lnTo>
                  <a:pt x="249" y="0"/>
                </a:lnTo>
                <a:lnTo>
                  <a:pt x="268" y="3"/>
                </a:lnTo>
                <a:lnTo>
                  <a:pt x="283" y="6"/>
                </a:lnTo>
                <a:lnTo>
                  <a:pt x="298" y="16"/>
                </a:lnTo>
                <a:lnTo>
                  <a:pt x="311" y="26"/>
                </a:lnTo>
                <a:lnTo>
                  <a:pt x="321" y="35"/>
                </a:lnTo>
                <a:lnTo>
                  <a:pt x="331" y="48"/>
                </a:lnTo>
                <a:lnTo>
                  <a:pt x="337" y="60"/>
                </a:lnTo>
                <a:lnTo>
                  <a:pt x="344" y="74"/>
                </a:lnTo>
                <a:lnTo>
                  <a:pt x="349" y="90"/>
                </a:lnTo>
                <a:lnTo>
                  <a:pt x="349" y="100"/>
                </a:lnTo>
                <a:lnTo>
                  <a:pt x="350" y="119"/>
                </a:lnTo>
                <a:lnTo>
                  <a:pt x="347" y="136"/>
                </a:lnTo>
                <a:lnTo>
                  <a:pt x="341" y="151"/>
                </a:lnTo>
                <a:lnTo>
                  <a:pt x="334" y="165"/>
                </a:lnTo>
                <a:lnTo>
                  <a:pt x="325" y="176"/>
                </a:lnTo>
                <a:lnTo>
                  <a:pt x="316" y="189"/>
                </a:lnTo>
                <a:lnTo>
                  <a:pt x="303" y="199"/>
                </a:lnTo>
                <a:lnTo>
                  <a:pt x="290" y="208"/>
                </a:lnTo>
                <a:lnTo>
                  <a:pt x="277" y="213"/>
                </a:lnTo>
                <a:lnTo>
                  <a:pt x="259" y="218"/>
                </a:lnTo>
                <a:lnTo>
                  <a:pt x="0" y="218"/>
                </a:lnTo>
                <a:lnTo>
                  <a:pt x="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w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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0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3.2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动态规划算法设计</a:t>
            </a:r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 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06730" y="1473835"/>
            <a:ext cx="802259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00100" lvl="1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zh-CN">
                <a:solidFill>
                  <a:schemeClr val="bg2"/>
                </a:solidFill>
              </a:rPr>
              <a:t>实例</a:t>
            </a:r>
            <a:endParaRPr lang="zh-CN">
              <a:solidFill>
                <a:schemeClr val="bg2"/>
              </a:solidFill>
            </a:endParaRPr>
          </a:p>
        </p:txBody>
      </p:sp>
      <p:pic>
        <p:nvPicPr>
          <p:cNvPr id="4" name="20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185" y="2044700"/>
            <a:ext cx="5259070" cy="905510"/>
          </a:xfrm>
          <a:prstGeom prst="rect">
            <a:avLst/>
          </a:prstGeom>
        </p:spPr>
      </p:pic>
      <p:pic>
        <p:nvPicPr>
          <p:cNvPr id="5" name="20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185" y="3126740"/>
            <a:ext cx="5570855" cy="1394460"/>
          </a:xfrm>
          <a:prstGeom prst="rect">
            <a:avLst/>
          </a:prstGeom>
        </p:spPr>
      </p:pic>
      <p:pic>
        <p:nvPicPr>
          <p:cNvPr id="8" name="20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0" y="4698365"/>
            <a:ext cx="5527040" cy="84963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文本框 35"/>
          <p:cNvSpPr txBox="1"/>
          <p:nvPr/>
        </p:nvSpPr>
        <p:spPr>
          <a:xfrm>
            <a:off x="4533900" y="5968365"/>
            <a:ext cx="2900680" cy="49720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p>
            <a:pPr algn="l">
              <a:lnSpc>
                <a:spcPct val="120000"/>
              </a:lnSpc>
            </a:pPr>
            <a:r>
              <a:rPr lang="en-US" altLang="zh-CN" sz="2200">
                <a:solidFill>
                  <a:schemeClr val="bg1"/>
                </a:solidFill>
                <a:cs typeface="Times New Roman" panose="02020603050405020304" pitchFamily="18" charset="0"/>
              </a:rPr>
              <a:t>=m[1,3]+m[4,4]+P</a:t>
            </a:r>
            <a:r>
              <a:rPr lang="en-US" altLang="zh-CN" sz="2200" baseline="-25000">
                <a:solidFill>
                  <a:schemeClr val="bg1"/>
                </a:solidFill>
                <a:cs typeface="Times New Roman" panose="02020603050405020304" pitchFamily="18" charset="0"/>
              </a:rPr>
              <a:t>0</a:t>
            </a:r>
            <a:r>
              <a:rPr lang="en-US" altLang="zh-CN" sz="2200">
                <a:solidFill>
                  <a:schemeClr val="bg1"/>
                </a:solidFill>
                <a:cs typeface="Times New Roman" panose="02020603050405020304" pitchFamily="18" charset="0"/>
              </a:rPr>
              <a:t>P</a:t>
            </a:r>
            <a:r>
              <a:rPr lang="en-US" altLang="zh-CN" sz="2200" baseline="-25000">
                <a:solidFill>
                  <a:schemeClr val="bg1"/>
                </a:solidFill>
                <a:cs typeface="Times New Roman" panose="02020603050405020304" pitchFamily="18" charset="0"/>
              </a:rPr>
              <a:t>3</a:t>
            </a:r>
            <a:r>
              <a:rPr lang="en-US" altLang="zh-CN" sz="2200">
                <a:solidFill>
                  <a:schemeClr val="bg1"/>
                </a:solidFill>
                <a:cs typeface="Times New Roman" panose="02020603050405020304" pitchFamily="18" charset="0"/>
              </a:rPr>
              <a:t>P</a:t>
            </a:r>
            <a:r>
              <a:rPr lang="en-US" altLang="zh-CN" sz="2200" baseline="-25000">
                <a:solidFill>
                  <a:schemeClr val="bg1"/>
                </a:solidFill>
                <a:cs typeface="Times New Roman" panose="02020603050405020304" pitchFamily="18" charset="0"/>
              </a:rPr>
              <a:t>4</a:t>
            </a:r>
            <a:endParaRPr lang="en-US" altLang="zh-CN" sz="2200" baseline="-25000">
              <a:solidFill>
                <a:schemeClr val="bg1"/>
              </a:solidFill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3.2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动态规划算法设计</a:t>
            </a:r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 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7360" y="1609725"/>
            <a:ext cx="385572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>
                <a:solidFill>
                  <a:schemeClr val="bg2"/>
                </a:solidFill>
              </a:rPr>
              <a:t>动态规划问题的阶段划分：</a:t>
            </a:r>
            <a:endParaRPr lang="zh-CN" altLang="en-US" b="1">
              <a:solidFill>
                <a:schemeClr val="bg2"/>
              </a:solidFill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866140" y="1989455"/>
            <a:ext cx="935990" cy="2832735"/>
            <a:chOff x="1364" y="3359"/>
            <a:chExt cx="1474" cy="4461"/>
          </a:xfrm>
        </p:grpSpPr>
        <p:sp>
          <p:nvSpPr>
            <p:cNvPr id="6" name="矩形 5"/>
            <p:cNvSpPr/>
            <p:nvPr/>
          </p:nvSpPr>
          <p:spPr>
            <a:xfrm>
              <a:off x="1364" y="3494"/>
              <a:ext cx="1474" cy="3418"/>
            </a:xfrm>
            <a:prstGeom prst="rect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415" y="6804"/>
              <a:ext cx="1374" cy="10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lang="zh-CN" altLang="en-US" sz="1800" b="1">
                  <a:solidFill>
                    <a:schemeClr val="bg2"/>
                  </a:solidFill>
                </a:rPr>
                <a:t>矩阵链</a:t>
              </a:r>
              <a:endParaRPr lang="zh-CN" altLang="en-US" sz="1800" b="1">
                <a:solidFill>
                  <a:schemeClr val="bg2"/>
                </a:solidFill>
              </a:endParaRPr>
            </a:p>
            <a:p>
              <a:pPr algn="ctr"/>
              <a:r>
                <a:rPr lang="zh-CN" altLang="en-US" sz="1800" b="1">
                  <a:solidFill>
                    <a:schemeClr val="bg2"/>
                  </a:solidFill>
                </a:rPr>
                <a:t>长为</a:t>
              </a:r>
              <a:r>
                <a:rPr lang="en-US" altLang="zh-CN" sz="1800" b="1">
                  <a:solidFill>
                    <a:schemeClr val="bg2"/>
                  </a:solidFill>
                </a:rPr>
                <a:t>1</a:t>
              </a:r>
              <a:endParaRPr lang="en-US" altLang="zh-CN" sz="1800" b="1">
                <a:solidFill>
                  <a:schemeClr val="bg2"/>
                </a:solidFill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777" y="3359"/>
              <a:ext cx="791" cy="36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>
                <a:lnSpc>
                  <a:spcPct val="120000"/>
                </a:lnSpc>
              </a:pPr>
              <a:r>
                <a:rPr lang="en-US" altLang="zh-CN">
                  <a:solidFill>
                    <a:schemeClr val="bg1"/>
                  </a:solidFill>
                </a:rPr>
                <a:t>A</a:t>
              </a:r>
              <a:r>
                <a:rPr lang="en-US" altLang="zh-CN" baseline="-25000">
                  <a:solidFill>
                    <a:schemeClr val="bg1"/>
                  </a:solidFill>
                </a:rPr>
                <a:t>1</a:t>
              </a:r>
              <a:endParaRPr lang="en-US" altLang="zh-CN">
                <a:solidFill>
                  <a:schemeClr val="bg1"/>
                </a:solidFill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>
                  <a:solidFill>
                    <a:schemeClr val="bg1"/>
                  </a:solidFill>
                </a:rPr>
                <a:t>A</a:t>
              </a:r>
              <a:r>
                <a:rPr lang="en-US" altLang="zh-CN" baseline="-25000">
                  <a:solidFill>
                    <a:schemeClr val="bg1"/>
                  </a:solidFill>
                </a:rPr>
                <a:t>2</a:t>
              </a:r>
              <a:endParaRPr lang="en-US" altLang="zh-CN">
                <a:solidFill>
                  <a:schemeClr val="bg1"/>
                </a:solidFill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>
                  <a:solidFill>
                    <a:schemeClr val="bg1"/>
                  </a:solidFill>
                </a:rPr>
                <a:t>A</a:t>
              </a:r>
              <a:r>
                <a:rPr lang="en-US" altLang="zh-CN" baseline="-25000">
                  <a:solidFill>
                    <a:schemeClr val="bg1"/>
                  </a:solidFill>
                </a:rPr>
                <a:t>3</a:t>
              </a:r>
              <a:endParaRPr lang="en-US" altLang="zh-CN">
                <a:solidFill>
                  <a:schemeClr val="bg1"/>
                </a:solidFill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>
                  <a:solidFill>
                    <a:schemeClr val="bg1"/>
                  </a:solidFill>
                </a:rPr>
                <a:t>A</a:t>
              </a:r>
              <a:r>
                <a:rPr lang="en-US" altLang="zh-CN" baseline="-25000">
                  <a:solidFill>
                    <a:schemeClr val="bg1"/>
                  </a:solidFill>
                </a:rPr>
                <a:t>4</a:t>
              </a:r>
              <a:endParaRPr lang="en-US" altLang="zh-CN">
                <a:solidFill>
                  <a:schemeClr val="bg1"/>
                </a:solidFill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>
                  <a:solidFill>
                    <a:schemeClr val="bg1"/>
                  </a:solidFill>
                </a:rPr>
                <a:t>A</a:t>
              </a:r>
              <a:r>
                <a:rPr lang="en-US" altLang="zh-CN" baseline="-25000">
                  <a:solidFill>
                    <a:schemeClr val="bg1"/>
                  </a:solidFill>
                </a:rPr>
                <a:t>5</a:t>
              </a:r>
              <a:endParaRPr lang="en-US" altLang="zh-CN">
                <a:solidFill>
                  <a:schemeClr val="bg1"/>
                </a:solidFill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2195195" y="2083435"/>
            <a:ext cx="911860" cy="2747010"/>
            <a:chOff x="3457" y="3507"/>
            <a:chExt cx="1436" cy="4326"/>
          </a:xfrm>
        </p:grpSpPr>
        <p:sp>
          <p:nvSpPr>
            <p:cNvPr id="11" name="矩形 10"/>
            <p:cNvSpPr/>
            <p:nvPr/>
          </p:nvSpPr>
          <p:spPr>
            <a:xfrm>
              <a:off x="3457" y="3507"/>
              <a:ext cx="1436" cy="3318"/>
            </a:xfrm>
            <a:prstGeom prst="rect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508" y="6817"/>
              <a:ext cx="1374" cy="10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lang="zh-CN" altLang="en-US" sz="1800" b="1">
                  <a:solidFill>
                    <a:schemeClr val="bg2"/>
                  </a:solidFill>
                </a:rPr>
                <a:t>矩阵链</a:t>
              </a:r>
              <a:endParaRPr lang="zh-CN" altLang="en-US" sz="1800" b="1">
                <a:solidFill>
                  <a:schemeClr val="bg2"/>
                </a:solidFill>
              </a:endParaRPr>
            </a:p>
            <a:p>
              <a:pPr algn="ctr"/>
              <a:r>
                <a:rPr lang="zh-CN" altLang="en-US" sz="1800" b="1">
                  <a:solidFill>
                    <a:schemeClr val="bg2"/>
                  </a:solidFill>
                </a:rPr>
                <a:t>长为</a:t>
              </a:r>
              <a:r>
                <a:rPr lang="en-US" altLang="zh-CN" sz="1800" b="1">
                  <a:solidFill>
                    <a:schemeClr val="bg2"/>
                  </a:solidFill>
                </a:rPr>
                <a:t>2</a:t>
              </a:r>
              <a:endParaRPr lang="en-US" altLang="zh-CN" sz="1800" b="1">
                <a:solidFill>
                  <a:schemeClr val="bg2"/>
                </a:solidFill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531" y="3598"/>
              <a:ext cx="1294" cy="29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l">
                <a:lnSpc>
                  <a:spcPct val="120000"/>
                </a:lnSpc>
              </a:pPr>
              <a:r>
                <a:rPr lang="en-US" altLang="zh-CN">
                  <a:solidFill>
                    <a:schemeClr val="bg1"/>
                  </a:solidFill>
                </a:rPr>
                <a:t>A</a:t>
              </a:r>
              <a:r>
                <a:rPr lang="en-US" altLang="zh-CN" baseline="-25000">
                  <a:solidFill>
                    <a:schemeClr val="bg1"/>
                  </a:solidFill>
                </a:rPr>
                <a:t>1</a:t>
              </a:r>
              <a:r>
                <a:rPr lang="en-US" altLang="zh-CN">
                  <a:solidFill>
                    <a:schemeClr val="bg1"/>
                  </a:solidFill>
                  <a:sym typeface="+mn-ea"/>
                </a:rPr>
                <a:t>A</a:t>
              </a:r>
              <a:r>
                <a:rPr lang="en-US" altLang="zh-CN" baseline="-25000">
                  <a:solidFill>
                    <a:schemeClr val="bg1"/>
                  </a:solidFill>
                  <a:sym typeface="+mn-ea"/>
                </a:rPr>
                <a:t>2</a:t>
              </a:r>
              <a:endParaRPr lang="en-US" altLang="zh-CN">
                <a:solidFill>
                  <a:schemeClr val="bg1"/>
                </a:solidFill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>
                  <a:solidFill>
                    <a:schemeClr val="bg1"/>
                  </a:solidFill>
                </a:rPr>
                <a:t>A</a:t>
              </a:r>
              <a:r>
                <a:rPr lang="en-US" altLang="zh-CN" baseline="-25000">
                  <a:solidFill>
                    <a:schemeClr val="bg1"/>
                  </a:solidFill>
                </a:rPr>
                <a:t>2</a:t>
              </a:r>
              <a:r>
                <a:rPr lang="en-US" altLang="zh-CN">
                  <a:solidFill>
                    <a:schemeClr val="bg1"/>
                  </a:solidFill>
                  <a:sym typeface="+mn-ea"/>
                </a:rPr>
                <a:t>A</a:t>
              </a:r>
              <a:r>
                <a:rPr lang="en-US" altLang="zh-CN" baseline="-25000">
                  <a:solidFill>
                    <a:schemeClr val="bg1"/>
                  </a:solidFill>
                  <a:sym typeface="+mn-ea"/>
                </a:rPr>
                <a:t>3</a:t>
              </a:r>
              <a:endParaRPr lang="en-US" altLang="zh-CN">
                <a:solidFill>
                  <a:schemeClr val="bg1"/>
                </a:solidFill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>
                  <a:solidFill>
                    <a:schemeClr val="bg1"/>
                  </a:solidFill>
                  <a:sym typeface="+mn-ea"/>
                </a:rPr>
                <a:t>A</a:t>
              </a:r>
              <a:r>
                <a:rPr lang="en-US" altLang="zh-CN" baseline="-25000">
                  <a:solidFill>
                    <a:schemeClr val="bg1"/>
                  </a:solidFill>
                  <a:sym typeface="+mn-ea"/>
                </a:rPr>
                <a:t>3</a:t>
              </a:r>
              <a:r>
                <a:rPr lang="en-US" altLang="zh-CN">
                  <a:solidFill>
                    <a:schemeClr val="bg1"/>
                  </a:solidFill>
                </a:rPr>
                <a:t>A</a:t>
              </a:r>
              <a:r>
                <a:rPr lang="en-US" altLang="zh-CN" baseline="-25000">
                  <a:solidFill>
                    <a:schemeClr val="bg1"/>
                  </a:solidFill>
                </a:rPr>
                <a:t>4</a:t>
              </a:r>
              <a:endParaRPr lang="en-US" altLang="zh-CN">
                <a:solidFill>
                  <a:schemeClr val="bg1"/>
                </a:solidFill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>
                  <a:solidFill>
                    <a:schemeClr val="bg1"/>
                  </a:solidFill>
                  <a:sym typeface="+mn-ea"/>
                </a:rPr>
                <a:t>A</a:t>
              </a:r>
              <a:r>
                <a:rPr lang="en-US" altLang="zh-CN" baseline="-25000">
                  <a:solidFill>
                    <a:schemeClr val="bg1"/>
                  </a:solidFill>
                  <a:sym typeface="+mn-ea"/>
                </a:rPr>
                <a:t>4</a:t>
              </a:r>
              <a:r>
                <a:rPr lang="en-US" altLang="zh-CN">
                  <a:solidFill>
                    <a:schemeClr val="bg1"/>
                  </a:solidFill>
                </a:rPr>
                <a:t>A</a:t>
              </a:r>
              <a:r>
                <a:rPr lang="en-US" altLang="zh-CN" baseline="-25000">
                  <a:solidFill>
                    <a:schemeClr val="bg1"/>
                  </a:solidFill>
                </a:rPr>
                <a:t>5</a:t>
              </a:r>
              <a:endParaRPr lang="en-US" altLang="zh-CN">
                <a:solidFill>
                  <a:schemeClr val="bg1"/>
                </a:solidFill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563620" y="2091690"/>
            <a:ext cx="1215390" cy="2738755"/>
            <a:chOff x="5612" y="3520"/>
            <a:chExt cx="1914" cy="4313"/>
          </a:xfrm>
        </p:grpSpPr>
        <p:sp>
          <p:nvSpPr>
            <p:cNvPr id="14" name="矩形 13"/>
            <p:cNvSpPr/>
            <p:nvPr/>
          </p:nvSpPr>
          <p:spPr>
            <a:xfrm>
              <a:off x="5612" y="3520"/>
              <a:ext cx="1915" cy="3232"/>
            </a:xfrm>
            <a:prstGeom prst="rect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928" y="6817"/>
              <a:ext cx="1374" cy="10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lang="zh-CN" altLang="en-US" sz="1800" b="1">
                  <a:solidFill>
                    <a:schemeClr val="bg2"/>
                  </a:solidFill>
                </a:rPr>
                <a:t>矩阵链</a:t>
              </a:r>
              <a:endParaRPr lang="zh-CN" altLang="en-US" sz="1800" b="1">
                <a:solidFill>
                  <a:schemeClr val="bg2"/>
                </a:solidFill>
              </a:endParaRPr>
            </a:p>
            <a:p>
              <a:pPr algn="ctr"/>
              <a:r>
                <a:rPr lang="zh-CN" altLang="en-US" sz="1800" b="1">
                  <a:solidFill>
                    <a:schemeClr val="bg2"/>
                  </a:solidFill>
                </a:rPr>
                <a:t>长为</a:t>
              </a:r>
              <a:r>
                <a:rPr lang="en-US" altLang="zh-CN" sz="1800" b="1">
                  <a:solidFill>
                    <a:schemeClr val="bg2"/>
                  </a:solidFill>
                </a:rPr>
                <a:t>3</a:t>
              </a:r>
              <a:endParaRPr lang="en-US" altLang="zh-CN" sz="1800" b="1">
                <a:solidFill>
                  <a:schemeClr val="bg2"/>
                </a:solidFill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5612" y="3937"/>
              <a:ext cx="1797" cy="22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l">
                <a:lnSpc>
                  <a:spcPct val="120000"/>
                </a:lnSpc>
              </a:pPr>
              <a:r>
                <a:rPr lang="en-US" altLang="zh-CN">
                  <a:solidFill>
                    <a:schemeClr val="bg1"/>
                  </a:solidFill>
                </a:rPr>
                <a:t>A</a:t>
              </a:r>
              <a:r>
                <a:rPr lang="en-US" altLang="zh-CN" baseline="-25000">
                  <a:solidFill>
                    <a:schemeClr val="bg1"/>
                  </a:solidFill>
                </a:rPr>
                <a:t>1</a:t>
              </a:r>
              <a:r>
                <a:rPr lang="en-US" altLang="zh-CN">
                  <a:solidFill>
                    <a:schemeClr val="bg1"/>
                  </a:solidFill>
                  <a:sym typeface="+mn-ea"/>
                </a:rPr>
                <a:t>A</a:t>
              </a:r>
              <a:r>
                <a:rPr lang="en-US" altLang="zh-CN" baseline="-25000">
                  <a:solidFill>
                    <a:schemeClr val="bg1"/>
                  </a:solidFill>
                  <a:sym typeface="+mn-ea"/>
                </a:rPr>
                <a:t>2</a:t>
              </a:r>
              <a:r>
                <a:rPr lang="en-US" altLang="zh-CN">
                  <a:solidFill>
                    <a:schemeClr val="bg1"/>
                  </a:solidFill>
                  <a:sym typeface="+mn-ea"/>
                </a:rPr>
                <a:t>A</a:t>
              </a:r>
              <a:r>
                <a:rPr lang="en-US" altLang="zh-CN" baseline="-25000">
                  <a:solidFill>
                    <a:schemeClr val="bg1"/>
                  </a:solidFill>
                  <a:sym typeface="+mn-ea"/>
                </a:rPr>
                <a:t>3</a:t>
              </a:r>
              <a:endParaRPr lang="en-US" altLang="zh-CN">
                <a:solidFill>
                  <a:schemeClr val="bg1"/>
                </a:solidFill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>
                  <a:solidFill>
                    <a:schemeClr val="bg1"/>
                  </a:solidFill>
                </a:rPr>
                <a:t>A</a:t>
              </a:r>
              <a:r>
                <a:rPr lang="en-US" altLang="zh-CN" baseline="-25000">
                  <a:solidFill>
                    <a:schemeClr val="bg1"/>
                  </a:solidFill>
                </a:rPr>
                <a:t>2</a:t>
              </a:r>
              <a:r>
                <a:rPr lang="en-US" altLang="zh-CN">
                  <a:solidFill>
                    <a:schemeClr val="bg1"/>
                  </a:solidFill>
                  <a:sym typeface="+mn-ea"/>
                </a:rPr>
                <a:t>A</a:t>
              </a:r>
              <a:r>
                <a:rPr lang="en-US" altLang="zh-CN" baseline="-25000">
                  <a:solidFill>
                    <a:schemeClr val="bg1"/>
                  </a:solidFill>
                  <a:sym typeface="+mn-ea"/>
                </a:rPr>
                <a:t>3</a:t>
              </a:r>
              <a:r>
                <a:rPr lang="en-US" altLang="zh-CN">
                  <a:solidFill>
                    <a:schemeClr val="bg1"/>
                  </a:solidFill>
                  <a:sym typeface="+mn-ea"/>
                </a:rPr>
                <a:t>A</a:t>
              </a:r>
              <a:r>
                <a:rPr lang="en-US" altLang="zh-CN" baseline="-25000">
                  <a:solidFill>
                    <a:schemeClr val="bg1"/>
                  </a:solidFill>
                  <a:sym typeface="+mn-ea"/>
                </a:rPr>
                <a:t>4</a:t>
              </a:r>
              <a:endParaRPr lang="en-US" altLang="zh-CN">
                <a:solidFill>
                  <a:schemeClr val="bg1"/>
                </a:solidFill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>
                  <a:solidFill>
                    <a:schemeClr val="bg1"/>
                  </a:solidFill>
                  <a:sym typeface="+mn-ea"/>
                </a:rPr>
                <a:t>A</a:t>
              </a:r>
              <a:r>
                <a:rPr lang="en-US" altLang="zh-CN" baseline="-25000">
                  <a:solidFill>
                    <a:schemeClr val="bg1"/>
                  </a:solidFill>
                  <a:sym typeface="+mn-ea"/>
                </a:rPr>
                <a:t>3</a:t>
              </a:r>
              <a:r>
                <a:rPr lang="en-US" altLang="zh-CN">
                  <a:solidFill>
                    <a:schemeClr val="bg1"/>
                  </a:solidFill>
                </a:rPr>
                <a:t>A</a:t>
              </a:r>
              <a:r>
                <a:rPr lang="en-US" altLang="zh-CN" baseline="-25000">
                  <a:solidFill>
                    <a:schemeClr val="bg1"/>
                  </a:solidFill>
                </a:rPr>
                <a:t>4</a:t>
              </a:r>
              <a:r>
                <a:rPr lang="en-US" altLang="zh-CN">
                  <a:solidFill>
                    <a:schemeClr val="bg1"/>
                  </a:solidFill>
                  <a:sym typeface="+mn-ea"/>
                </a:rPr>
                <a:t>A</a:t>
              </a:r>
              <a:r>
                <a:rPr lang="en-US" altLang="zh-CN" baseline="-25000">
                  <a:solidFill>
                    <a:schemeClr val="bg1"/>
                  </a:solidFill>
                  <a:sym typeface="+mn-ea"/>
                </a:rPr>
                <a:t>5</a:t>
              </a:r>
              <a:endParaRPr lang="en-US" altLang="zh-CN">
                <a:solidFill>
                  <a:schemeClr val="bg1"/>
                </a:solidFill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5075555" y="2075180"/>
            <a:ext cx="1506220" cy="2755265"/>
            <a:chOff x="7993" y="3494"/>
            <a:chExt cx="2372" cy="4339"/>
          </a:xfrm>
        </p:grpSpPr>
        <p:sp>
          <p:nvSpPr>
            <p:cNvPr id="17" name="矩形 16"/>
            <p:cNvSpPr/>
            <p:nvPr/>
          </p:nvSpPr>
          <p:spPr>
            <a:xfrm>
              <a:off x="7993" y="3494"/>
              <a:ext cx="2372" cy="3245"/>
            </a:xfrm>
            <a:prstGeom prst="rect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8422" y="6817"/>
              <a:ext cx="1374" cy="10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lang="zh-CN" altLang="en-US" sz="1800" b="1">
                  <a:solidFill>
                    <a:schemeClr val="bg2"/>
                  </a:solidFill>
                </a:rPr>
                <a:t>矩阵链</a:t>
              </a:r>
              <a:endParaRPr lang="zh-CN" altLang="en-US" sz="1800" b="1">
                <a:solidFill>
                  <a:schemeClr val="bg2"/>
                </a:solidFill>
              </a:endParaRPr>
            </a:p>
            <a:p>
              <a:pPr algn="ctr"/>
              <a:r>
                <a:rPr lang="zh-CN" altLang="en-US" sz="1800" b="1">
                  <a:solidFill>
                    <a:schemeClr val="bg2"/>
                  </a:solidFill>
                </a:rPr>
                <a:t>长为</a:t>
              </a:r>
              <a:r>
                <a:rPr lang="en-US" altLang="zh-CN" sz="1800" b="1">
                  <a:solidFill>
                    <a:schemeClr val="bg2"/>
                  </a:solidFill>
                </a:rPr>
                <a:t>4</a:t>
              </a:r>
              <a:endParaRPr lang="en-US" altLang="zh-CN" sz="1800" b="1">
                <a:solidFill>
                  <a:schemeClr val="bg2"/>
                </a:solidFill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7993" y="4276"/>
              <a:ext cx="2300" cy="15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l">
                <a:lnSpc>
                  <a:spcPct val="120000"/>
                </a:lnSpc>
              </a:pPr>
              <a:r>
                <a:rPr lang="en-US" altLang="zh-CN">
                  <a:solidFill>
                    <a:schemeClr val="bg1"/>
                  </a:solidFill>
                </a:rPr>
                <a:t>A</a:t>
              </a:r>
              <a:r>
                <a:rPr lang="en-US" altLang="zh-CN" baseline="-25000">
                  <a:solidFill>
                    <a:schemeClr val="bg1"/>
                  </a:solidFill>
                </a:rPr>
                <a:t>1</a:t>
              </a:r>
              <a:r>
                <a:rPr lang="en-US" altLang="zh-CN">
                  <a:solidFill>
                    <a:schemeClr val="bg1"/>
                  </a:solidFill>
                  <a:sym typeface="+mn-ea"/>
                </a:rPr>
                <a:t>A</a:t>
              </a:r>
              <a:r>
                <a:rPr lang="en-US" altLang="zh-CN" baseline="-25000">
                  <a:solidFill>
                    <a:schemeClr val="bg1"/>
                  </a:solidFill>
                  <a:sym typeface="+mn-ea"/>
                </a:rPr>
                <a:t>2</a:t>
              </a:r>
              <a:r>
                <a:rPr lang="en-US" altLang="zh-CN">
                  <a:solidFill>
                    <a:schemeClr val="bg1"/>
                  </a:solidFill>
                  <a:sym typeface="+mn-ea"/>
                </a:rPr>
                <a:t>A</a:t>
              </a:r>
              <a:r>
                <a:rPr lang="en-US" altLang="zh-CN" baseline="-25000">
                  <a:solidFill>
                    <a:schemeClr val="bg1"/>
                  </a:solidFill>
                  <a:sym typeface="+mn-ea"/>
                </a:rPr>
                <a:t>3</a:t>
              </a:r>
              <a:r>
                <a:rPr lang="en-US" altLang="zh-CN">
                  <a:solidFill>
                    <a:schemeClr val="bg1"/>
                  </a:solidFill>
                  <a:sym typeface="+mn-ea"/>
                </a:rPr>
                <a:t>A</a:t>
              </a:r>
              <a:r>
                <a:rPr lang="en-US" altLang="zh-CN" baseline="-25000">
                  <a:solidFill>
                    <a:schemeClr val="bg1"/>
                  </a:solidFill>
                  <a:sym typeface="+mn-ea"/>
                </a:rPr>
                <a:t>4</a:t>
              </a:r>
              <a:endParaRPr lang="en-US" altLang="zh-CN">
                <a:solidFill>
                  <a:schemeClr val="bg1"/>
                </a:solidFill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>
                  <a:solidFill>
                    <a:schemeClr val="bg1"/>
                  </a:solidFill>
                </a:rPr>
                <a:t>A</a:t>
              </a:r>
              <a:r>
                <a:rPr lang="en-US" altLang="zh-CN" baseline="-25000">
                  <a:solidFill>
                    <a:schemeClr val="bg1"/>
                  </a:solidFill>
                </a:rPr>
                <a:t>2</a:t>
              </a:r>
              <a:r>
                <a:rPr lang="en-US" altLang="zh-CN">
                  <a:solidFill>
                    <a:schemeClr val="bg1"/>
                  </a:solidFill>
                  <a:sym typeface="+mn-ea"/>
                </a:rPr>
                <a:t>A</a:t>
              </a:r>
              <a:r>
                <a:rPr lang="en-US" altLang="zh-CN" baseline="-25000">
                  <a:solidFill>
                    <a:schemeClr val="bg1"/>
                  </a:solidFill>
                  <a:sym typeface="+mn-ea"/>
                </a:rPr>
                <a:t>3</a:t>
              </a:r>
              <a:r>
                <a:rPr lang="en-US" altLang="zh-CN">
                  <a:solidFill>
                    <a:schemeClr val="bg1"/>
                  </a:solidFill>
                </a:rPr>
                <a:t>A</a:t>
              </a:r>
              <a:r>
                <a:rPr lang="en-US" altLang="zh-CN" baseline="-25000">
                  <a:solidFill>
                    <a:schemeClr val="bg1"/>
                  </a:solidFill>
                </a:rPr>
                <a:t>4</a:t>
              </a:r>
              <a:r>
                <a:rPr lang="en-US" altLang="zh-CN">
                  <a:solidFill>
                    <a:schemeClr val="bg1"/>
                  </a:solidFill>
                  <a:sym typeface="+mn-ea"/>
                </a:rPr>
                <a:t>A</a:t>
              </a:r>
              <a:r>
                <a:rPr lang="en-US" altLang="zh-CN" baseline="-25000">
                  <a:solidFill>
                    <a:schemeClr val="bg1"/>
                  </a:solidFill>
                  <a:sym typeface="+mn-ea"/>
                </a:rPr>
                <a:t>5</a:t>
              </a:r>
              <a:endParaRPr lang="en-US" altLang="zh-CN">
                <a:solidFill>
                  <a:schemeClr val="bg1"/>
                </a:solidFill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6748145" y="2091690"/>
            <a:ext cx="1783080" cy="2747010"/>
            <a:chOff x="10627" y="3520"/>
            <a:chExt cx="2808" cy="4326"/>
          </a:xfrm>
        </p:grpSpPr>
        <p:sp>
          <p:nvSpPr>
            <p:cNvPr id="20" name="矩形 19"/>
            <p:cNvSpPr/>
            <p:nvPr/>
          </p:nvSpPr>
          <p:spPr>
            <a:xfrm>
              <a:off x="10627" y="3520"/>
              <a:ext cx="2808" cy="3219"/>
            </a:xfrm>
            <a:prstGeom prst="rect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1282" y="6830"/>
              <a:ext cx="1374" cy="1016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p>
              <a:pPr algn="ctr"/>
              <a:r>
                <a:rPr lang="zh-CN" altLang="en-US" sz="1800" b="1">
                  <a:solidFill>
                    <a:schemeClr val="bg2"/>
                  </a:solidFill>
                </a:rPr>
                <a:t>矩阵链</a:t>
              </a:r>
              <a:endParaRPr lang="zh-CN" altLang="en-US" sz="1800" b="1">
                <a:solidFill>
                  <a:schemeClr val="bg2"/>
                </a:solidFill>
              </a:endParaRPr>
            </a:p>
            <a:p>
              <a:pPr algn="ctr"/>
              <a:r>
                <a:rPr lang="zh-CN" altLang="en-US" sz="1800" b="1">
                  <a:solidFill>
                    <a:schemeClr val="bg2"/>
                  </a:solidFill>
                </a:rPr>
                <a:t>长为</a:t>
              </a:r>
              <a:r>
                <a:rPr lang="en-US" altLang="zh-CN" sz="1800" b="1">
                  <a:solidFill>
                    <a:schemeClr val="bg2"/>
                  </a:solidFill>
                </a:rPr>
                <a:t>5</a:t>
              </a:r>
              <a:endParaRPr lang="en-US" altLang="zh-CN" sz="1800" b="1">
                <a:solidFill>
                  <a:schemeClr val="bg2"/>
                </a:solidFill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0627" y="4628"/>
              <a:ext cx="2803" cy="8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l">
                <a:lnSpc>
                  <a:spcPct val="120000"/>
                </a:lnSpc>
              </a:pPr>
              <a:r>
                <a:rPr lang="en-US" altLang="zh-CN">
                  <a:solidFill>
                    <a:schemeClr val="bg1"/>
                  </a:solidFill>
                </a:rPr>
                <a:t>A</a:t>
              </a:r>
              <a:r>
                <a:rPr lang="en-US" altLang="zh-CN" baseline="-25000">
                  <a:solidFill>
                    <a:schemeClr val="bg1"/>
                  </a:solidFill>
                </a:rPr>
                <a:t>1</a:t>
              </a:r>
              <a:r>
                <a:rPr lang="en-US" altLang="zh-CN">
                  <a:solidFill>
                    <a:schemeClr val="bg1"/>
                  </a:solidFill>
                  <a:sym typeface="+mn-ea"/>
                </a:rPr>
                <a:t>A</a:t>
              </a:r>
              <a:r>
                <a:rPr lang="en-US" altLang="zh-CN" baseline="-25000">
                  <a:solidFill>
                    <a:schemeClr val="bg1"/>
                  </a:solidFill>
                  <a:sym typeface="+mn-ea"/>
                </a:rPr>
                <a:t>2</a:t>
              </a:r>
              <a:r>
                <a:rPr lang="en-US" altLang="zh-CN">
                  <a:solidFill>
                    <a:schemeClr val="bg1"/>
                  </a:solidFill>
                  <a:sym typeface="+mn-ea"/>
                </a:rPr>
                <a:t>A</a:t>
              </a:r>
              <a:r>
                <a:rPr lang="en-US" altLang="zh-CN" baseline="-25000">
                  <a:solidFill>
                    <a:schemeClr val="bg1"/>
                  </a:solidFill>
                  <a:sym typeface="+mn-ea"/>
                </a:rPr>
                <a:t>3</a:t>
              </a:r>
              <a:r>
                <a:rPr lang="en-US" altLang="zh-CN">
                  <a:solidFill>
                    <a:schemeClr val="bg1"/>
                  </a:solidFill>
                  <a:sym typeface="+mn-ea"/>
                </a:rPr>
                <a:t>A</a:t>
              </a:r>
              <a:r>
                <a:rPr lang="en-US" altLang="zh-CN" baseline="-25000">
                  <a:solidFill>
                    <a:schemeClr val="bg1"/>
                  </a:solidFill>
                  <a:sym typeface="+mn-ea"/>
                </a:rPr>
                <a:t>4</a:t>
              </a:r>
              <a:r>
                <a:rPr lang="en-US" altLang="zh-CN">
                  <a:solidFill>
                    <a:schemeClr val="bg1"/>
                  </a:solidFill>
                  <a:sym typeface="+mn-ea"/>
                </a:rPr>
                <a:t>A</a:t>
              </a:r>
              <a:r>
                <a:rPr lang="en-US" altLang="zh-CN" baseline="-25000">
                  <a:solidFill>
                    <a:schemeClr val="bg1"/>
                  </a:solidFill>
                  <a:sym typeface="+mn-ea"/>
                </a:rPr>
                <a:t>5</a:t>
              </a:r>
              <a:endParaRPr lang="en-US" altLang="zh-CN">
                <a:solidFill>
                  <a:schemeClr val="bg1"/>
                </a:solidFill>
              </a:endParaRPr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657225" y="5228590"/>
            <a:ext cx="135382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200">
                <a:solidFill>
                  <a:schemeClr val="bg1"/>
                </a:solidFill>
              </a:rPr>
              <a:t>状态结点</a:t>
            </a:r>
            <a:endParaRPr lang="zh-CN" altLang="en-US" sz="2200">
              <a:solidFill>
                <a:schemeClr val="bg1"/>
              </a:solidFill>
            </a:endParaRPr>
          </a:p>
          <a:p>
            <a:pPr algn="l"/>
            <a:r>
              <a:rPr lang="en-US" altLang="zh-CN" sz="2200">
                <a:solidFill>
                  <a:schemeClr val="bg1"/>
                </a:solidFill>
                <a:sym typeface="+mn-ea"/>
              </a:rPr>
              <a:t>A</a:t>
            </a:r>
            <a:r>
              <a:rPr lang="en-US" altLang="zh-CN" sz="2200" baseline="-25000">
                <a:solidFill>
                  <a:schemeClr val="bg1"/>
                </a:solidFill>
                <a:sym typeface="+mn-ea"/>
              </a:rPr>
              <a:t>1</a:t>
            </a:r>
            <a:r>
              <a:rPr lang="en-US" altLang="zh-CN" sz="2200">
                <a:solidFill>
                  <a:schemeClr val="bg1"/>
                </a:solidFill>
                <a:sym typeface="+mn-ea"/>
              </a:rPr>
              <a:t>A</a:t>
            </a:r>
            <a:r>
              <a:rPr lang="en-US" altLang="zh-CN" sz="2200" baseline="-25000">
                <a:solidFill>
                  <a:schemeClr val="bg1"/>
                </a:solidFill>
                <a:sym typeface="+mn-ea"/>
              </a:rPr>
              <a:t>2</a:t>
            </a:r>
            <a:r>
              <a:rPr lang="en-US" altLang="zh-CN" sz="2200">
                <a:solidFill>
                  <a:schemeClr val="bg1"/>
                </a:solidFill>
                <a:sym typeface="+mn-ea"/>
              </a:rPr>
              <a:t>A</a:t>
            </a:r>
            <a:r>
              <a:rPr lang="en-US" altLang="zh-CN" sz="2200" baseline="-25000">
                <a:solidFill>
                  <a:schemeClr val="bg1"/>
                </a:solidFill>
                <a:sym typeface="+mn-ea"/>
              </a:rPr>
              <a:t>3</a:t>
            </a:r>
            <a:r>
              <a:rPr lang="en-US" altLang="zh-CN" sz="2200">
                <a:solidFill>
                  <a:schemeClr val="bg1"/>
                </a:solidFill>
                <a:sym typeface="+mn-ea"/>
              </a:rPr>
              <a:t>A</a:t>
            </a:r>
            <a:r>
              <a:rPr lang="en-US" altLang="zh-CN" sz="2200" baseline="-25000">
                <a:solidFill>
                  <a:schemeClr val="bg1"/>
                </a:solidFill>
                <a:sym typeface="+mn-ea"/>
              </a:rPr>
              <a:t>4</a:t>
            </a:r>
            <a:endParaRPr lang="zh-CN" altLang="en-US" sz="2200">
              <a:solidFill>
                <a:schemeClr val="bg1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123440" y="5417185"/>
            <a:ext cx="648970" cy="42989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2200" b="1">
                <a:solidFill>
                  <a:srgbClr val="FF0000"/>
                </a:solidFill>
              </a:rPr>
              <a:t>min</a:t>
            </a:r>
            <a:endParaRPr lang="en-US" sz="2200" b="1">
              <a:solidFill>
                <a:srgbClr val="FF0000"/>
              </a:solidFill>
            </a:endParaRPr>
          </a:p>
        </p:txBody>
      </p:sp>
      <p:sp>
        <p:nvSpPr>
          <p:cNvPr id="30" name="左大括号 29"/>
          <p:cNvSpPr/>
          <p:nvPr/>
        </p:nvSpPr>
        <p:spPr>
          <a:xfrm>
            <a:off x="2771140" y="5012690"/>
            <a:ext cx="333375" cy="1296035"/>
          </a:xfrm>
          <a:prstGeom prst="leftBrace">
            <a:avLst/>
          </a:prstGeom>
          <a:solidFill>
            <a:schemeClr val="tx1"/>
          </a:solidFill>
          <a:ln w="12700" cap="sq" cmpd="sng" algn="ctr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131820" y="4893945"/>
            <a:ext cx="1527810" cy="5340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lnSpc>
                <a:spcPct val="120000"/>
              </a:lnSpc>
            </a:pPr>
            <a:r>
              <a:rPr lang="en-US" altLang="zh-CN">
                <a:solidFill>
                  <a:srgbClr val="7030A0"/>
                </a:solidFill>
              </a:rPr>
              <a:t>A</a:t>
            </a:r>
            <a:r>
              <a:rPr lang="en-US" altLang="zh-CN" baseline="-25000">
                <a:solidFill>
                  <a:srgbClr val="7030A0"/>
                </a:solidFill>
              </a:rPr>
              <a:t>1</a:t>
            </a:r>
            <a:r>
              <a:rPr lang="en-US" altLang="zh-CN" b="1">
                <a:solidFill>
                  <a:srgbClr val="FF0000"/>
                </a:solidFill>
              </a:rPr>
              <a:t>|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A</a:t>
            </a:r>
            <a:r>
              <a:rPr lang="en-US" altLang="zh-CN" baseline="-25000">
                <a:solidFill>
                  <a:srgbClr val="00B050"/>
                </a:solidFill>
                <a:sym typeface="+mn-ea"/>
              </a:rPr>
              <a:t>2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A</a:t>
            </a:r>
            <a:r>
              <a:rPr lang="en-US" altLang="zh-CN" baseline="-25000">
                <a:solidFill>
                  <a:srgbClr val="00B050"/>
                </a:solidFill>
                <a:sym typeface="+mn-ea"/>
              </a:rPr>
              <a:t>3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A</a:t>
            </a:r>
            <a:r>
              <a:rPr lang="en-US" altLang="zh-CN" baseline="-25000">
                <a:solidFill>
                  <a:srgbClr val="00B050"/>
                </a:solidFill>
                <a:sym typeface="+mn-ea"/>
              </a:rPr>
              <a:t>4</a:t>
            </a:r>
            <a:endParaRPr lang="en-US" altLang="zh-CN" baseline="-25000">
              <a:solidFill>
                <a:srgbClr val="00B050"/>
              </a:solidFill>
              <a:sym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131820" y="5399405"/>
            <a:ext cx="1527810" cy="5340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lnSpc>
                <a:spcPct val="120000"/>
              </a:lnSpc>
            </a:pPr>
            <a:r>
              <a:rPr lang="en-US" altLang="zh-CN">
                <a:solidFill>
                  <a:srgbClr val="7030A0"/>
                </a:solidFill>
              </a:rPr>
              <a:t>A</a:t>
            </a:r>
            <a:r>
              <a:rPr lang="en-US" altLang="zh-CN" baseline="-25000">
                <a:solidFill>
                  <a:srgbClr val="7030A0"/>
                </a:solidFill>
              </a:rPr>
              <a:t>1</a:t>
            </a:r>
            <a:r>
              <a:rPr lang="en-US" altLang="zh-CN">
                <a:solidFill>
                  <a:srgbClr val="7030A0"/>
                </a:solidFill>
                <a:sym typeface="+mn-ea"/>
              </a:rPr>
              <a:t>A</a:t>
            </a:r>
            <a:r>
              <a:rPr lang="en-US" altLang="zh-CN" baseline="-25000">
                <a:solidFill>
                  <a:srgbClr val="7030A0"/>
                </a:solidFill>
                <a:sym typeface="+mn-ea"/>
              </a:rPr>
              <a:t>2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|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A</a:t>
            </a:r>
            <a:r>
              <a:rPr lang="en-US" altLang="zh-CN" baseline="-25000">
                <a:solidFill>
                  <a:srgbClr val="00B050"/>
                </a:solidFill>
                <a:sym typeface="+mn-ea"/>
              </a:rPr>
              <a:t>3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A</a:t>
            </a:r>
            <a:r>
              <a:rPr lang="en-US" altLang="zh-CN" baseline="-25000">
                <a:solidFill>
                  <a:srgbClr val="00B050"/>
                </a:solidFill>
                <a:sym typeface="+mn-ea"/>
              </a:rPr>
              <a:t>4</a:t>
            </a:r>
            <a:endParaRPr lang="en-US" altLang="zh-CN" baseline="-25000">
              <a:solidFill>
                <a:srgbClr val="00B050"/>
              </a:solidFill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149600" y="5923280"/>
            <a:ext cx="1527810" cy="5340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lnSpc>
                <a:spcPct val="120000"/>
              </a:lnSpc>
            </a:pPr>
            <a:r>
              <a:rPr lang="en-US" altLang="zh-CN">
                <a:solidFill>
                  <a:srgbClr val="7030A0"/>
                </a:solidFill>
              </a:rPr>
              <a:t>A</a:t>
            </a:r>
            <a:r>
              <a:rPr lang="en-US" altLang="zh-CN" baseline="-25000">
                <a:solidFill>
                  <a:srgbClr val="7030A0"/>
                </a:solidFill>
              </a:rPr>
              <a:t>1</a:t>
            </a:r>
            <a:r>
              <a:rPr lang="en-US" altLang="zh-CN">
                <a:solidFill>
                  <a:srgbClr val="7030A0"/>
                </a:solidFill>
                <a:sym typeface="+mn-ea"/>
              </a:rPr>
              <a:t>A</a:t>
            </a:r>
            <a:r>
              <a:rPr lang="en-US" altLang="zh-CN" baseline="-25000">
                <a:solidFill>
                  <a:srgbClr val="7030A0"/>
                </a:solidFill>
                <a:sym typeface="+mn-ea"/>
              </a:rPr>
              <a:t>2</a:t>
            </a:r>
            <a:r>
              <a:rPr lang="en-US" altLang="zh-CN">
                <a:solidFill>
                  <a:srgbClr val="7030A0"/>
                </a:solidFill>
                <a:sym typeface="+mn-ea"/>
              </a:rPr>
              <a:t>A</a:t>
            </a:r>
            <a:r>
              <a:rPr lang="en-US" altLang="zh-CN" baseline="-25000">
                <a:solidFill>
                  <a:srgbClr val="7030A0"/>
                </a:solidFill>
                <a:sym typeface="+mn-ea"/>
              </a:rPr>
              <a:t>3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|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A</a:t>
            </a:r>
            <a:r>
              <a:rPr lang="en-US" altLang="zh-CN" baseline="-25000">
                <a:solidFill>
                  <a:srgbClr val="00B050"/>
                </a:solidFill>
                <a:sym typeface="+mn-ea"/>
              </a:rPr>
              <a:t>4</a:t>
            </a:r>
            <a:endParaRPr lang="en-US" altLang="zh-CN" baseline="-25000">
              <a:solidFill>
                <a:srgbClr val="00B050"/>
              </a:solidFill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572000" y="4879975"/>
            <a:ext cx="2900680" cy="49720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p>
            <a:pPr algn="l">
              <a:lnSpc>
                <a:spcPct val="120000"/>
              </a:lnSpc>
            </a:pPr>
            <a:r>
              <a:rPr lang="en-US" altLang="zh-CN" sz="2200">
                <a:solidFill>
                  <a:schemeClr val="bg1"/>
                </a:solidFill>
                <a:cs typeface="Times New Roman" panose="02020603050405020304" pitchFamily="18" charset="0"/>
              </a:rPr>
              <a:t>=m[1,1]+m[2,4]+P</a:t>
            </a:r>
            <a:r>
              <a:rPr lang="en-US" altLang="zh-CN" sz="2200" baseline="-25000">
                <a:solidFill>
                  <a:schemeClr val="bg1"/>
                </a:solidFill>
                <a:cs typeface="Times New Roman" panose="02020603050405020304" pitchFamily="18" charset="0"/>
              </a:rPr>
              <a:t>0</a:t>
            </a:r>
            <a:r>
              <a:rPr lang="en-US" altLang="zh-CN" sz="2200">
                <a:solidFill>
                  <a:schemeClr val="bg1"/>
                </a:solidFill>
                <a:cs typeface="Times New Roman" panose="02020603050405020304" pitchFamily="18" charset="0"/>
              </a:rPr>
              <a:t>P</a:t>
            </a:r>
            <a:r>
              <a:rPr lang="en-US" altLang="zh-CN" sz="2200" baseline="-25000">
                <a:solidFill>
                  <a:schemeClr val="bg1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200">
                <a:solidFill>
                  <a:schemeClr val="bg1"/>
                </a:solidFill>
                <a:cs typeface="Times New Roman" panose="02020603050405020304" pitchFamily="18" charset="0"/>
              </a:rPr>
              <a:t>P</a:t>
            </a:r>
            <a:r>
              <a:rPr lang="en-US" altLang="zh-CN" sz="2200" baseline="-25000">
                <a:solidFill>
                  <a:schemeClr val="bg1"/>
                </a:solidFill>
                <a:cs typeface="Times New Roman" panose="02020603050405020304" pitchFamily="18" charset="0"/>
              </a:rPr>
              <a:t>4</a:t>
            </a:r>
            <a:endParaRPr lang="en-US" altLang="zh-CN" sz="2200" baseline="-25000">
              <a:solidFill>
                <a:schemeClr val="bg1"/>
              </a:solidFill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543425" y="5399405"/>
            <a:ext cx="2900680" cy="49720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p>
            <a:pPr algn="l">
              <a:lnSpc>
                <a:spcPct val="120000"/>
              </a:lnSpc>
            </a:pPr>
            <a:r>
              <a:rPr lang="en-US" altLang="zh-CN" sz="2200">
                <a:solidFill>
                  <a:schemeClr val="bg1"/>
                </a:solidFill>
                <a:cs typeface="Times New Roman" panose="02020603050405020304" pitchFamily="18" charset="0"/>
              </a:rPr>
              <a:t>=m[1,2]+m[3,4]+P</a:t>
            </a:r>
            <a:r>
              <a:rPr lang="en-US" altLang="zh-CN" sz="2200" baseline="-25000">
                <a:solidFill>
                  <a:schemeClr val="bg1"/>
                </a:solidFill>
                <a:cs typeface="Times New Roman" panose="02020603050405020304" pitchFamily="18" charset="0"/>
              </a:rPr>
              <a:t>0</a:t>
            </a:r>
            <a:r>
              <a:rPr lang="en-US" altLang="zh-CN" sz="2200">
                <a:solidFill>
                  <a:schemeClr val="bg1"/>
                </a:solidFill>
                <a:cs typeface="Times New Roman" panose="02020603050405020304" pitchFamily="18" charset="0"/>
              </a:rPr>
              <a:t>P</a:t>
            </a:r>
            <a:r>
              <a:rPr lang="en-US" altLang="zh-CN" sz="2200" baseline="-25000">
                <a:solidFill>
                  <a:schemeClr val="bg1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sz="2200">
                <a:solidFill>
                  <a:schemeClr val="bg1"/>
                </a:solidFill>
                <a:cs typeface="Times New Roman" panose="02020603050405020304" pitchFamily="18" charset="0"/>
              </a:rPr>
              <a:t>P</a:t>
            </a:r>
            <a:r>
              <a:rPr lang="en-US" altLang="zh-CN" sz="2200" baseline="-25000">
                <a:solidFill>
                  <a:schemeClr val="bg1"/>
                </a:solidFill>
                <a:cs typeface="Times New Roman" panose="02020603050405020304" pitchFamily="18" charset="0"/>
              </a:rPr>
              <a:t>4</a:t>
            </a:r>
            <a:endParaRPr lang="en-US" altLang="zh-CN" sz="2200" baseline="-25000">
              <a:solidFill>
                <a:schemeClr val="bg1"/>
              </a:solidFill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95605" y="2689225"/>
            <a:ext cx="43370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200">
                <a:solidFill>
                  <a:schemeClr val="bg1"/>
                </a:solidFill>
              </a:rPr>
              <a:t>阶段</a:t>
            </a:r>
            <a:endParaRPr lang="zh-CN" altLang="en-US" sz="220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7" grpId="1"/>
      <p:bldP spid="28" grpId="0"/>
      <p:bldP spid="28" grpId="1"/>
      <p:bldP spid="30" grpId="0" animBg="1"/>
      <p:bldP spid="30" grpId="1" animBg="1"/>
      <p:bldP spid="31" grpId="0"/>
      <p:bldP spid="32" grpId="0"/>
      <p:bldP spid="33" grpId="0"/>
      <p:bldP spid="34" grpId="0" animBg="1"/>
      <p:bldP spid="35" grpId="0" animBg="1"/>
      <p:bldP spid="36" grpId="0" bldLvl="0" animBg="1"/>
      <p:bldP spid="29" grpId="0"/>
      <p:bldP spid="29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3.2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动态规划算法设计</a:t>
            </a:r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 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79120" y="1680210"/>
            <a:ext cx="436245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备忘录：矩阵</a:t>
            </a:r>
            <a:r>
              <a:rPr lang="en-US" altLang="zh-CN" b="1" i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m      </a:t>
            </a:r>
            <a:r>
              <a:rPr lang="zh-CN" altLang="en-US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标记函数：</a:t>
            </a:r>
            <a:r>
              <a:rPr lang="en-US" altLang="zh-CN" b="1" i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i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78803" y="2175193"/>
          <a:ext cx="8286750" cy="1785936"/>
        </p:xfrm>
        <a:graphic>
          <a:graphicData uri="http://schemas.openxmlformats.org/drawingml/2006/table">
            <a:tbl>
              <a:tblPr/>
              <a:tblGrid>
                <a:gridCol w="552450"/>
                <a:gridCol w="1632018"/>
                <a:gridCol w="1525563"/>
                <a:gridCol w="1525563"/>
                <a:gridCol w="1525563"/>
                <a:gridCol w="1525563"/>
              </a:tblGrid>
              <a:tr h="35718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i="1" kern="100" dirty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r</a:t>
                      </a:r>
                      <a:r>
                        <a:rPr lang="en-US" sz="2000" b="1" kern="100" dirty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=1</a:t>
                      </a:r>
                      <a:endParaRPr lang="en-US" sz="2000" b="1" kern="100" dirty="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2000" b="1" i="1" kern="100" dirty="0" smtClean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m</a:t>
                      </a:r>
                      <a:r>
                        <a:rPr lang="en-US" sz="2000" b="1" kern="100" dirty="0" smtClean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[1,1</a:t>
                      </a:r>
                      <a:r>
                        <a:rPr lang="en-US" sz="2000" b="1" kern="100" dirty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]</a:t>
                      </a:r>
                      <a:endParaRPr lang="en-US" sz="2000" b="1" kern="100" dirty="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i="1" kern="100" dirty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m</a:t>
                      </a:r>
                      <a:r>
                        <a:rPr lang="en-US" sz="2000" b="1" kern="100" dirty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[2,2]</a:t>
                      </a:r>
                      <a:endParaRPr lang="en-US" sz="2000" b="1" kern="100" dirty="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i="1" kern="100" dirty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m</a:t>
                      </a:r>
                      <a:r>
                        <a:rPr lang="en-US" sz="2000" b="1" kern="100" dirty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[3,3]</a:t>
                      </a:r>
                      <a:endParaRPr lang="en-US" sz="2000" b="1" kern="100" dirty="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i="1" kern="100" dirty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m</a:t>
                      </a:r>
                      <a:r>
                        <a:rPr lang="en-US" sz="2000" b="1" kern="100" dirty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[4,4]</a:t>
                      </a:r>
                      <a:endParaRPr lang="en-US" sz="2000" b="1" kern="100" dirty="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i="1" kern="100" dirty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m</a:t>
                      </a:r>
                      <a:r>
                        <a:rPr lang="en-US" sz="2000" b="1" kern="100" dirty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[5,5]</a:t>
                      </a:r>
                      <a:endParaRPr lang="en-US" sz="2000" b="1" kern="100" dirty="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5750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i="1" kern="100" dirty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r</a:t>
                      </a:r>
                      <a:r>
                        <a:rPr lang="en-US" sz="2000" b="1" kern="100" dirty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=2</a:t>
                      </a:r>
                      <a:endParaRPr lang="en-US" sz="2000" b="1" kern="100" dirty="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i="1" kern="100" dirty="0" smtClean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m</a:t>
                      </a:r>
                      <a:r>
                        <a:rPr lang="en-US" sz="2000" b="1" kern="100" dirty="0" smtClean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[1,2</a:t>
                      </a:r>
                      <a:r>
                        <a:rPr lang="en-US" sz="2000" b="1" kern="100" dirty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]</a:t>
                      </a:r>
                      <a:endParaRPr lang="en-US" sz="2000" b="1" kern="100" dirty="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i="1" kern="10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m</a:t>
                      </a:r>
                      <a:r>
                        <a:rPr lang="en-US" sz="2000" b="1" kern="10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[2,3]</a:t>
                      </a:r>
                      <a:endParaRPr lang="en-US" sz="2000" b="1" kern="10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i="1" kern="100" dirty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m</a:t>
                      </a:r>
                      <a:r>
                        <a:rPr lang="en-US" sz="2000" b="1" kern="100" dirty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[3,4]</a:t>
                      </a:r>
                      <a:endParaRPr lang="en-US" sz="2000" b="1" kern="100" dirty="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i="1" kern="100" dirty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m</a:t>
                      </a:r>
                      <a:r>
                        <a:rPr lang="en-US" sz="2000" b="1" kern="100" dirty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[4,5]</a:t>
                      </a:r>
                      <a:endParaRPr lang="en-US" sz="2000" b="1" kern="100" dirty="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n-US" sz="2000" b="1" kern="100" dirty="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5718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i="1" kern="100" dirty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r</a:t>
                      </a:r>
                      <a:r>
                        <a:rPr lang="en-US" sz="2000" b="1" kern="100" dirty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=3</a:t>
                      </a:r>
                      <a:endParaRPr lang="en-US" sz="2000" b="1" kern="100" dirty="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i="1" kern="100" dirty="0" smtClean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m</a:t>
                      </a:r>
                      <a:r>
                        <a:rPr lang="en-US" sz="2000" b="1" kern="100" dirty="0" smtClean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[1,3</a:t>
                      </a:r>
                      <a:r>
                        <a:rPr lang="en-US" sz="2000" b="1" kern="100" dirty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]</a:t>
                      </a:r>
                      <a:endParaRPr lang="en-US" sz="2000" b="1" kern="100" dirty="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i="1" kern="10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m</a:t>
                      </a:r>
                      <a:r>
                        <a:rPr lang="en-US" sz="2000" b="1" kern="10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[2,4]</a:t>
                      </a:r>
                      <a:endParaRPr lang="en-US" sz="2000" b="1" kern="10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i="1" kern="10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m</a:t>
                      </a:r>
                      <a:r>
                        <a:rPr lang="en-US" sz="2000" b="1" kern="10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[3,5]</a:t>
                      </a:r>
                      <a:endParaRPr lang="en-US" sz="2000" b="1" kern="10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n-US" sz="2000" b="1" kern="10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n-US" sz="2000" b="1" kern="100" dirty="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i="1" kern="100" dirty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r</a:t>
                      </a:r>
                      <a:r>
                        <a:rPr lang="en-US" sz="2000" b="1" kern="100" dirty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=4</a:t>
                      </a:r>
                      <a:endParaRPr lang="en-US" sz="2000" b="1" kern="100" dirty="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i="1" kern="100" dirty="0" smtClean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m</a:t>
                      </a:r>
                      <a:r>
                        <a:rPr lang="en-US" sz="2000" b="1" kern="100" dirty="0" smtClean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[1,4</a:t>
                      </a:r>
                      <a:r>
                        <a:rPr lang="en-US" sz="2000" b="1" kern="100" dirty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]</a:t>
                      </a:r>
                      <a:endParaRPr lang="en-US" sz="2000" b="1" kern="100" dirty="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i="1" kern="10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m</a:t>
                      </a:r>
                      <a:r>
                        <a:rPr lang="en-US" sz="2000" b="1" kern="10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[2,5]</a:t>
                      </a:r>
                      <a:endParaRPr lang="en-US" sz="2000" b="1" kern="10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n-US" sz="2000" b="1" kern="10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n-US" sz="2000" b="1" kern="10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n-US" sz="2000" b="1" kern="100" dirty="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5718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i="1" kern="100" dirty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r</a:t>
                      </a:r>
                      <a:r>
                        <a:rPr lang="en-US" sz="2000" b="1" kern="100" dirty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=5</a:t>
                      </a:r>
                      <a:endParaRPr lang="en-US" sz="2000" b="1" kern="100" dirty="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i="1" kern="100" dirty="0" smtClean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m</a:t>
                      </a:r>
                      <a:r>
                        <a:rPr lang="en-US" sz="2000" b="1" kern="100" dirty="0" smtClean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[1,5</a:t>
                      </a:r>
                      <a:r>
                        <a:rPr lang="en-US" sz="2000" b="1" kern="100" dirty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]</a:t>
                      </a:r>
                      <a:endParaRPr lang="en-US" sz="2000" b="1" kern="100" dirty="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n-US" sz="2000" b="1" kern="10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n-US" sz="2000" b="1" kern="100" dirty="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n-US" sz="2000" b="1" kern="10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n-US" sz="2000" b="1" kern="100" dirty="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578485" y="4541203"/>
          <a:ext cx="8215630" cy="1219200"/>
        </p:xfrm>
        <a:graphic>
          <a:graphicData uri="http://schemas.openxmlformats.org/drawingml/2006/table">
            <a:tbl>
              <a:tblPr/>
              <a:tblGrid>
                <a:gridCol w="571500"/>
                <a:gridCol w="1594166"/>
                <a:gridCol w="1512412"/>
                <a:gridCol w="1512412"/>
                <a:gridCol w="1512412"/>
                <a:gridCol w="1512412"/>
              </a:tblGrid>
              <a:tr h="3048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200" b="1" i="1" kern="100" dirty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r</a:t>
                      </a:r>
                      <a:r>
                        <a:rPr lang="en-US" sz="2200" b="1" kern="100" dirty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=2</a:t>
                      </a:r>
                      <a:endParaRPr lang="en-US" sz="2200" b="1" kern="100" dirty="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200" b="1" i="1" kern="10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s</a:t>
                      </a:r>
                      <a:r>
                        <a:rPr lang="en-US" sz="2200" b="1" kern="10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[1,2]</a:t>
                      </a:r>
                      <a:endParaRPr lang="en-US" sz="2200" b="1" kern="10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200" b="1" i="1" kern="100" dirty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s</a:t>
                      </a:r>
                      <a:r>
                        <a:rPr lang="en-US" sz="2200" b="1" kern="100" dirty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[2,3]</a:t>
                      </a:r>
                      <a:endParaRPr lang="en-US" sz="2200" b="1" kern="100" dirty="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200" b="1" i="1" kern="10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s</a:t>
                      </a:r>
                      <a:r>
                        <a:rPr lang="en-US" sz="2200" b="1" kern="10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[3,4]</a:t>
                      </a:r>
                      <a:endParaRPr lang="en-US" sz="2200" b="1" kern="10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200" b="1" i="1" kern="10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s</a:t>
                      </a:r>
                      <a:r>
                        <a:rPr lang="en-US" sz="2200" b="1" kern="10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[4,5]</a:t>
                      </a:r>
                      <a:endParaRPr lang="en-US" sz="2200" b="1" kern="10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n-US" sz="2200" b="1" kern="100" dirty="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200" b="1" i="1" kern="100" dirty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r</a:t>
                      </a:r>
                      <a:r>
                        <a:rPr lang="en-US" sz="2200" b="1" kern="100" dirty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=3</a:t>
                      </a:r>
                      <a:endParaRPr lang="en-US" sz="2200" b="1" kern="100" dirty="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200" b="1" i="1" kern="100" dirty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s</a:t>
                      </a:r>
                      <a:r>
                        <a:rPr lang="en-US" sz="2200" b="1" kern="100" dirty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[1,3</a:t>
                      </a:r>
                      <a:r>
                        <a:rPr lang="en-US" sz="2200" b="1" kern="100" dirty="0" smtClean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]</a:t>
                      </a:r>
                      <a:endParaRPr lang="en-US" sz="2200" b="1" kern="100" dirty="0" smtClean="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200" b="1" i="1" kern="10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s</a:t>
                      </a:r>
                      <a:r>
                        <a:rPr lang="en-US" sz="2200" b="1" kern="10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[2,4]</a:t>
                      </a:r>
                      <a:endParaRPr lang="en-US" sz="2200" b="1" kern="10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200" b="1" i="1" kern="10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s</a:t>
                      </a:r>
                      <a:r>
                        <a:rPr lang="en-US" sz="2200" b="1" kern="10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[3,5]</a:t>
                      </a:r>
                      <a:endParaRPr lang="en-US" sz="2200" b="1" kern="10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n-US" sz="2200" b="1" kern="10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n-US" sz="2200" b="1" kern="100" dirty="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200" b="1" i="1" kern="100" dirty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r</a:t>
                      </a:r>
                      <a:r>
                        <a:rPr lang="en-US" sz="2200" b="1" kern="100" dirty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=4</a:t>
                      </a:r>
                      <a:endParaRPr lang="en-US" sz="2200" b="1" kern="100" dirty="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200" b="1" i="1" kern="10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s</a:t>
                      </a:r>
                      <a:r>
                        <a:rPr lang="en-US" sz="2200" b="1" kern="10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[1,4]</a:t>
                      </a:r>
                      <a:endParaRPr lang="en-US" sz="2200" b="1" kern="10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200" b="1" i="1" kern="10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s</a:t>
                      </a:r>
                      <a:r>
                        <a:rPr lang="en-US" sz="2200" b="1" kern="10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[2,5]</a:t>
                      </a:r>
                      <a:endParaRPr lang="en-US" sz="2200" b="1" kern="10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n-US" sz="2200" b="1" kern="10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n-US" sz="2200" b="1" kern="10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n-US" sz="2200" b="1" kern="100" dirty="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200" b="1" i="1" kern="100" dirty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r</a:t>
                      </a:r>
                      <a:r>
                        <a:rPr lang="en-US" sz="2200" b="1" kern="100" dirty="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=5</a:t>
                      </a:r>
                      <a:endParaRPr lang="en-US" sz="2200" b="1" kern="100" dirty="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200" b="1" i="1" kern="10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s</a:t>
                      </a:r>
                      <a:r>
                        <a:rPr lang="en-US" sz="2200" b="1" kern="100">
                          <a:solidFill>
                            <a:schemeClr val="bg2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[1,5]</a:t>
                      </a:r>
                      <a:endParaRPr lang="en-US" sz="2200" b="1" kern="10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n-US" sz="2200" b="1" kern="10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n-US" sz="2200" b="1" kern="100" dirty="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n-US" sz="2200" b="1" kern="10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n-US" sz="2200" b="1" kern="100" dirty="0">
                        <a:solidFill>
                          <a:schemeClr val="bg2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1921510" y="2117090"/>
            <a:ext cx="5092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solidFill>
                  <a:schemeClr val="bg2"/>
                </a:solidFill>
              </a:rPr>
              <a:t>=0</a:t>
            </a:r>
            <a:endParaRPr lang="en-US" altLang="zh-CN" b="1">
              <a:solidFill>
                <a:schemeClr val="bg2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555365" y="2141855"/>
            <a:ext cx="5092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solidFill>
                  <a:schemeClr val="bg2"/>
                </a:solidFill>
              </a:rPr>
              <a:t>=0</a:t>
            </a:r>
            <a:endParaRPr lang="en-US" altLang="zh-CN" b="1">
              <a:solidFill>
                <a:schemeClr val="bg2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117465" y="2140585"/>
            <a:ext cx="5092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solidFill>
                  <a:schemeClr val="bg2"/>
                </a:solidFill>
              </a:rPr>
              <a:t>=0</a:t>
            </a:r>
            <a:endParaRPr lang="en-US" altLang="zh-CN" b="1">
              <a:solidFill>
                <a:schemeClr val="bg2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607810" y="2124075"/>
            <a:ext cx="5092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solidFill>
                  <a:schemeClr val="bg2"/>
                </a:solidFill>
              </a:rPr>
              <a:t>=0</a:t>
            </a:r>
            <a:endParaRPr lang="en-US" altLang="zh-CN" b="1">
              <a:solidFill>
                <a:schemeClr val="bg2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186420" y="2124075"/>
            <a:ext cx="5092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solidFill>
                  <a:schemeClr val="bg2"/>
                </a:solidFill>
              </a:rPr>
              <a:t>=0</a:t>
            </a:r>
            <a:endParaRPr lang="en-US" altLang="zh-CN" b="1">
              <a:solidFill>
                <a:schemeClr val="bg2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833245" y="2531110"/>
            <a:ext cx="9626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>
                <a:solidFill>
                  <a:schemeClr val="bg2"/>
                </a:solidFill>
              </a:rPr>
              <a:t>=15750</a:t>
            </a:r>
            <a:endParaRPr lang="en-US" altLang="zh-CN" sz="2000" b="1">
              <a:solidFill>
                <a:schemeClr val="bg2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395345" y="2514600"/>
            <a:ext cx="8356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>
                <a:solidFill>
                  <a:schemeClr val="bg2"/>
                </a:solidFill>
              </a:rPr>
              <a:t>=2625</a:t>
            </a:r>
            <a:endParaRPr lang="en-US" altLang="zh-CN" sz="2000" b="1">
              <a:solidFill>
                <a:schemeClr val="bg2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957445" y="2534285"/>
            <a:ext cx="7086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>
                <a:solidFill>
                  <a:schemeClr val="bg2"/>
                </a:solidFill>
              </a:rPr>
              <a:t>=750</a:t>
            </a:r>
            <a:endParaRPr lang="en-US" altLang="zh-CN" sz="2000" b="1">
              <a:solidFill>
                <a:schemeClr val="bg2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888490" y="2868930"/>
            <a:ext cx="8356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>
                <a:solidFill>
                  <a:schemeClr val="bg2"/>
                </a:solidFill>
              </a:rPr>
              <a:t>=7875</a:t>
            </a:r>
            <a:endParaRPr lang="en-US" altLang="zh-CN" sz="2000" b="1">
              <a:solidFill>
                <a:schemeClr val="bg2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448050" y="2868930"/>
            <a:ext cx="8356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>
                <a:solidFill>
                  <a:schemeClr val="bg2"/>
                </a:solidFill>
              </a:rPr>
              <a:t>=4375</a:t>
            </a:r>
            <a:endParaRPr lang="en-US" altLang="zh-CN" sz="2000" b="1">
              <a:solidFill>
                <a:schemeClr val="bg2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957445" y="2868930"/>
            <a:ext cx="8356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>
                <a:solidFill>
                  <a:schemeClr val="bg2"/>
                </a:solidFill>
              </a:rPr>
              <a:t>=2500</a:t>
            </a:r>
            <a:endParaRPr lang="en-US" altLang="zh-CN" sz="2000" b="1">
              <a:solidFill>
                <a:schemeClr val="bg2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536055" y="2514600"/>
            <a:ext cx="8356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>
                <a:solidFill>
                  <a:schemeClr val="bg2"/>
                </a:solidFill>
              </a:rPr>
              <a:t>=1000</a:t>
            </a:r>
            <a:endParaRPr lang="en-US" altLang="zh-CN" sz="2000" b="1">
              <a:solidFill>
                <a:schemeClr val="bg2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888490" y="3229610"/>
            <a:ext cx="8356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>
                <a:solidFill>
                  <a:schemeClr val="bg2"/>
                </a:solidFill>
              </a:rPr>
              <a:t>=9375</a:t>
            </a:r>
            <a:endParaRPr lang="en-US" altLang="zh-CN" sz="2000" b="1">
              <a:solidFill>
                <a:schemeClr val="bg2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483610" y="3229610"/>
            <a:ext cx="8356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>
                <a:solidFill>
                  <a:schemeClr val="bg2"/>
                </a:solidFill>
              </a:rPr>
              <a:t>=7125</a:t>
            </a:r>
            <a:endParaRPr lang="en-US" altLang="zh-CN" sz="2000" b="1">
              <a:solidFill>
                <a:schemeClr val="bg2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849755" y="3562350"/>
            <a:ext cx="9480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>
                <a:solidFill>
                  <a:schemeClr val="bg2"/>
                </a:solidFill>
              </a:rPr>
              <a:t>=11875</a:t>
            </a:r>
            <a:endParaRPr lang="en-US" altLang="zh-CN" sz="2000" b="1">
              <a:solidFill>
                <a:schemeClr val="bg2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824990" y="4541520"/>
            <a:ext cx="4546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>
                <a:solidFill>
                  <a:schemeClr val="bg2"/>
                </a:solidFill>
              </a:rPr>
              <a:t>=1</a:t>
            </a:r>
            <a:endParaRPr lang="en-US" altLang="zh-CN" sz="2000" b="1">
              <a:solidFill>
                <a:schemeClr val="bg2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448050" y="4541520"/>
            <a:ext cx="4546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>
                <a:solidFill>
                  <a:schemeClr val="bg2"/>
                </a:solidFill>
              </a:rPr>
              <a:t>=2</a:t>
            </a:r>
            <a:endParaRPr lang="en-US" altLang="zh-CN" sz="2000" b="1">
              <a:solidFill>
                <a:schemeClr val="bg2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084445" y="4541520"/>
            <a:ext cx="4546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>
                <a:solidFill>
                  <a:schemeClr val="bg2"/>
                </a:solidFill>
              </a:rPr>
              <a:t>=3</a:t>
            </a:r>
            <a:endParaRPr lang="en-US" altLang="zh-CN" sz="2000" b="1">
              <a:solidFill>
                <a:schemeClr val="bg2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437630" y="4541520"/>
            <a:ext cx="4546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>
                <a:solidFill>
                  <a:schemeClr val="bg2"/>
                </a:solidFill>
              </a:rPr>
              <a:t>=4</a:t>
            </a:r>
            <a:endParaRPr lang="en-US" altLang="zh-CN" sz="2000" b="1">
              <a:solidFill>
                <a:schemeClr val="bg2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808480" y="4842510"/>
            <a:ext cx="4546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>
                <a:solidFill>
                  <a:schemeClr val="bg2"/>
                </a:solidFill>
              </a:rPr>
              <a:t>=1</a:t>
            </a:r>
            <a:endParaRPr lang="en-US" altLang="zh-CN" sz="2000" b="1">
              <a:solidFill>
                <a:schemeClr val="bg2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431540" y="4812030"/>
            <a:ext cx="4546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>
                <a:solidFill>
                  <a:schemeClr val="bg2"/>
                </a:solidFill>
              </a:rPr>
              <a:t>=3</a:t>
            </a:r>
            <a:endParaRPr lang="en-US" altLang="zh-CN" sz="2000" b="1">
              <a:solidFill>
                <a:schemeClr val="bg2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100955" y="4842510"/>
            <a:ext cx="4546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>
                <a:solidFill>
                  <a:schemeClr val="bg2"/>
                </a:solidFill>
              </a:rPr>
              <a:t>=3</a:t>
            </a:r>
            <a:endParaRPr lang="en-US" altLang="zh-CN" sz="2000" b="1">
              <a:solidFill>
                <a:schemeClr val="bg2"/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863725" y="5184775"/>
            <a:ext cx="4546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>
                <a:solidFill>
                  <a:schemeClr val="bg2"/>
                </a:solidFill>
              </a:rPr>
              <a:t>=3</a:t>
            </a:r>
            <a:endParaRPr lang="en-US" altLang="zh-CN" sz="2000" b="1">
              <a:solidFill>
                <a:schemeClr val="bg2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448050" y="5169535"/>
            <a:ext cx="4546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>
                <a:solidFill>
                  <a:schemeClr val="bg2"/>
                </a:solidFill>
              </a:rPr>
              <a:t>=3</a:t>
            </a:r>
            <a:endParaRPr lang="en-US" altLang="zh-CN" sz="2000" b="1">
              <a:solidFill>
                <a:schemeClr val="bg2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849755" y="5511800"/>
            <a:ext cx="4546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>
                <a:solidFill>
                  <a:schemeClr val="bg2"/>
                </a:solidFill>
              </a:rPr>
              <a:t>=3</a:t>
            </a:r>
            <a:endParaRPr lang="en-US" altLang="zh-CN" sz="2000" b="1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2" grpId="0"/>
      <p:bldP spid="12" grpId="1"/>
      <p:bldP spid="13" grpId="0"/>
      <p:bldP spid="13" grpId="1"/>
      <p:bldP spid="14" grpId="0"/>
      <p:bldP spid="14" grpId="1"/>
      <p:bldP spid="15" grpId="0"/>
      <p:bldP spid="15" grpId="1"/>
      <p:bldP spid="16" grpId="0"/>
      <p:bldP spid="16" grpId="1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  <p:bldP spid="21" grpId="0"/>
      <p:bldP spid="21" grpId="1"/>
      <p:bldP spid="22" grpId="0"/>
      <p:bldP spid="22" grpId="1"/>
      <p:bldP spid="23" grpId="0"/>
      <p:bldP spid="23" grpId="1"/>
      <p:bldP spid="24" grpId="0"/>
      <p:bldP spid="24" grpId="1"/>
      <p:bldP spid="25" grpId="0"/>
      <p:bldP spid="25" grpId="1"/>
      <p:bldP spid="26" grpId="0"/>
      <p:bldP spid="26" grpId="1"/>
      <p:bldP spid="27" grpId="0"/>
      <p:bldP spid="27" grpId="1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3" grpId="0"/>
      <p:bldP spid="33" grpId="1"/>
      <p:bldP spid="34" grpId="0"/>
      <p:bldP spid="34" grpId="1"/>
      <p:bldP spid="35" grpId="0"/>
      <p:bldP spid="35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3.2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动态规划算法设计</a:t>
            </a:r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 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59765" y="1574800"/>
            <a:ext cx="7729855" cy="1529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zh-CN" altLang="en-US" b="1">
                <a:solidFill>
                  <a:schemeClr val="bg2"/>
                </a:solidFill>
                <a:sym typeface="+mn-ea"/>
              </a:rPr>
              <a:t>解的追踪过程：</a:t>
            </a:r>
            <a:endParaRPr lang="zh-CN" altLang="en-US" b="1">
              <a:solidFill>
                <a:schemeClr val="bg2"/>
              </a:solidFill>
              <a:sym typeface="+mn-ea"/>
            </a:endParaRPr>
          </a:p>
          <a:p>
            <a:pPr marL="800100" lvl="1" indent="-3429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b="1" i="1">
                <a:solidFill>
                  <a:schemeClr val="bg2"/>
                </a:solidFill>
                <a:sym typeface="+mn-ea"/>
              </a:rPr>
              <a:t>s</a:t>
            </a:r>
            <a:r>
              <a:rPr lang="en-US" altLang="zh-CN" b="1">
                <a:solidFill>
                  <a:schemeClr val="bg2"/>
                </a:solidFill>
                <a:sym typeface="+mn-ea"/>
              </a:rPr>
              <a:t>[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i</a:t>
            </a:r>
            <a:r>
              <a:rPr lang="en-US" altLang="zh-CN" b="1">
                <a:solidFill>
                  <a:schemeClr val="bg2"/>
                </a:solidFill>
                <a:sym typeface="+mn-ea"/>
              </a:rPr>
              <a:t>,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j</a:t>
            </a:r>
            <a:r>
              <a:rPr lang="en-US" altLang="zh-CN" b="1">
                <a:solidFill>
                  <a:schemeClr val="bg2"/>
                </a:solidFill>
                <a:sym typeface="+mn-ea"/>
              </a:rPr>
              <a:t>]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中存储的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k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是矩阵链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A</a:t>
            </a:r>
            <a:r>
              <a:rPr lang="en-US" altLang="zh-CN" b="1" i="1" baseline="-25000">
                <a:solidFill>
                  <a:schemeClr val="bg2"/>
                </a:solidFill>
                <a:sym typeface="+mn-ea"/>
              </a:rPr>
              <a:t>i 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A</a:t>
            </a:r>
            <a:r>
              <a:rPr lang="en-US" altLang="zh-CN" b="1" i="1" baseline="-25000">
                <a:solidFill>
                  <a:schemeClr val="bg2"/>
                </a:solidFill>
                <a:sym typeface="+mn-ea"/>
              </a:rPr>
              <a:t>i</a:t>
            </a:r>
            <a:r>
              <a:rPr lang="en-US" altLang="zh-CN" b="1" baseline="-25000">
                <a:solidFill>
                  <a:schemeClr val="bg2"/>
                </a:solidFill>
                <a:sym typeface="+mn-ea"/>
              </a:rPr>
              <a:t>+1 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A</a:t>
            </a:r>
            <a:r>
              <a:rPr lang="en-US" altLang="zh-CN" b="1" i="1" baseline="-25000">
                <a:solidFill>
                  <a:schemeClr val="bg2"/>
                </a:solidFill>
                <a:sym typeface="+mn-ea"/>
              </a:rPr>
              <a:t>i</a:t>
            </a:r>
            <a:r>
              <a:rPr lang="en-US" altLang="zh-CN" b="1" baseline="-25000">
                <a:solidFill>
                  <a:schemeClr val="bg2"/>
                </a:solidFill>
                <a:sym typeface="+mn-ea"/>
              </a:rPr>
              <a:t>+2 </a:t>
            </a:r>
            <a:r>
              <a:rPr lang="en-US" altLang="zh-CN" b="1">
                <a:solidFill>
                  <a:schemeClr val="bg2"/>
                </a:solidFill>
                <a:latin typeface="Arial" panose="020B0604020202020204" pitchFamily="34" charset="0"/>
                <a:sym typeface="+mn-ea"/>
              </a:rPr>
              <a:t>… 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A</a:t>
            </a:r>
            <a:r>
              <a:rPr lang="en-US" altLang="zh-CN" b="1" i="1" baseline="-25000">
                <a:solidFill>
                  <a:schemeClr val="bg2"/>
                </a:solidFill>
                <a:sym typeface="+mn-ea"/>
              </a:rPr>
              <a:t>j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加括号的位置为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k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，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即</a:t>
            </a:r>
            <a:endParaRPr lang="zh-CN" altLang="en-US" b="1" baseline="-25000">
              <a:solidFill>
                <a:schemeClr val="bg2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51000" y="5012690"/>
            <a:ext cx="5483225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b="1" i="1">
                <a:solidFill>
                  <a:schemeClr val="bg2"/>
                </a:solidFill>
                <a:sym typeface="+mn-ea"/>
              </a:rPr>
              <a:t>A</a:t>
            </a:r>
            <a:r>
              <a:rPr lang="en-US" altLang="zh-CN" b="1" i="1" baseline="-25000">
                <a:solidFill>
                  <a:schemeClr val="bg2"/>
                </a:solidFill>
                <a:sym typeface="+mn-ea"/>
              </a:rPr>
              <a:t>i       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A</a:t>
            </a:r>
            <a:r>
              <a:rPr lang="en-US" altLang="zh-CN" b="1" i="1" baseline="-25000">
                <a:solidFill>
                  <a:schemeClr val="bg2"/>
                </a:solidFill>
                <a:sym typeface="+mn-ea"/>
              </a:rPr>
              <a:t>i</a:t>
            </a:r>
            <a:r>
              <a:rPr lang="en-US" altLang="zh-CN" b="1" baseline="-25000">
                <a:solidFill>
                  <a:schemeClr val="bg2"/>
                </a:solidFill>
                <a:sym typeface="+mn-ea"/>
              </a:rPr>
              <a:t>+1</a:t>
            </a:r>
            <a:r>
              <a:rPr lang="en-US" altLang="zh-CN" b="1">
                <a:solidFill>
                  <a:schemeClr val="bg2"/>
                </a:solidFill>
                <a:latin typeface="Arial" panose="020B0604020202020204" pitchFamily="34" charset="0"/>
                <a:sym typeface="+mn-ea"/>
              </a:rPr>
              <a:t>  …  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A</a:t>
            </a:r>
            <a:r>
              <a:rPr lang="en-US" altLang="zh-CN" b="1" i="1" baseline="-25000">
                <a:solidFill>
                  <a:schemeClr val="bg2"/>
                </a:solidFill>
                <a:sym typeface="+mn-ea"/>
              </a:rPr>
              <a:t>m</a:t>
            </a:r>
            <a:r>
              <a:rPr lang="en-US" altLang="zh-CN" b="1">
                <a:solidFill>
                  <a:schemeClr val="bg2"/>
                </a:solidFill>
                <a:latin typeface="Arial" panose="020B0604020202020204" pitchFamily="34" charset="0"/>
                <a:sym typeface="+mn-ea"/>
              </a:rPr>
              <a:t>   …   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A</a:t>
            </a:r>
            <a:r>
              <a:rPr lang="en-US" altLang="zh-CN" b="1" i="1" baseline="-25000">
                <a:solidFill>
                  <a:schemeClr val="bg2"/>
                </a:solidFill>
                <a:sym typeface="+mn-ea"/>
              </a:rPr>
              <a:t>k</a:t>
            </a:r>
            <a:r>
              <a:rPr lang="en-US" altLang="zh-CN" b="1">
                <a:solidFill>
                  <a:schemeClr val="bg2"/>
                </a:solidFill>
                <a:latin typeface="Arial" panose="020B0604020202020204" pitchFamily="34" charset="0"/>
                <a:sym typeface="+mn-ea"/>
              </a:rPr>
              <a:t>   …   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A</a:t>
            </a:r>
            <a:r>
              <a:rPr lang="en-US" altLang="zh-CN" b="1" i="1" baseline="-25000">
                <a:solidFill>
                  <a:schemeClr val="bg2"/>
                </a:solidFill>
                <a:sym typeface="+mn-ea"/>
              </a:rPr>
              <a:t>n</a:t>
            </a:r>
            <a:r>
              <a:rPr lang="en-US" altLang="zh-CN" b="1">
                <a:solidFill>
                  <a:schemeClr val="bg2"/>
                </a:solidFill>
                <a:latin typeface="Arial" panose="020B0604020202020204" pitchFamily="34" charset="0"/>
                <a:sym typeface="+mn-ea"/>
              </a:rPr>
              <a:t>  </a:t>
            </a:r>
            <a:r>
              <a:rPr lang="en-US" altLang="zh-CN" b="1">
                <a:solidFill>
                  <a:schemeClr val="bg2"/>
                </a:solidFill>
                <a:latin typeface="Arial" panose="020B0604020202020204" pitchFamily="34" charset="0"/>
                <a:sym typeface="+mn-ea"/>
              </a:rPr>
              <a:t>…   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A</a:t>
            </a:r>
            <a:r>
              <a:rPr lang="en-US" altLang="zh-CN" b="1" i="1" baseline="-25000">
                <a:solidFill>
                  <a:schemeClr val="bg2"/>
                </a:solidFill>
                <a:sym typeface="+mn-ea"/>
              </a:rPr>
              <a:t>j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83895" y="2999105"/>
            <a:ext cx="7729855" cy="1529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800100" lvl="1" indent="-3429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bg2"/>
                </a:solidFill>
                <a:sym typeface="+mn-ea"/>
              </a:rPr>
              <a:t>再接着追踪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s</a:t>
            </a:r>
            <a:r>
              <a:rPr lang="en-US" altLang="zh-CN" b="1">
                <a:solidFill>
                  <a:schemeClr val="bg2"/>
                </a:solidFill>
                <a:sym typeface="+mn-ea"/>
              </a:rPr>
              <a:t>[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i</a:t>
            </a:r>
            <a:r>
              <a:rPr lang="en-US" altLang="zh-CN" b="1">
                <a:solidFill>
                  <a:schemeClr val="bg2"/>
                </a:solidFill>
                <a:sym typeface="+mn-ea"/>
              </a:rPr>
              <a:t>,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k</a:t>
            </a:r>
            <a:r>
              <a:rPr lang="en-US" altLang="zh-CN" b="1">
                <a:solidFill>
                  <a:schemeClr val="bg2"/>
                </a:solidFill>
                <a:sym typeface="+mn-ea"/>
              </a:rPr>
              <a:t>]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及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s</a:t>
            </a:r>
            <a:r>
              <a:rPr lang="en-US" altLang="zh-CN" b="1">
                <a:solidFill>
                  <a:schemeClr val="bg2"/>
                </a:solidFill>
                <a:sym typeface="+mn-ea"/>
              </a:rPr>
              <a:t>[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i</a:t>
            </a:r>
            <a:r>
              <a:rPr lang="en-US" altLang="zh-CN" b="1">
                <a:solidFill>
                  <a:schemeClr val="bg2"/>
                </a:solidFill>
                <a:sym typeface="+mn-ea"/>
              </a:rPr>
              <a:t>+1, 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j</a:t>
            </a:r>
            <a:r>
              <a:rPr lang="en-US" altLang="zh-CN" b="1">
                <a:solidFill>
                  <a:schemeClr val="bg2"/>
                </a:solidFill>
                <a:sym typeface="+mn-ea"/>
              </a:rPr>
              <a:t>]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中存储的位置，例如</a:t>
            </a:r>
            <a:endParaRPr lang="zh-CN" altLang="en-US" b="1">
              <a:solidFill>
                <a:schemeClr val="bg2"/>
              </a:solidFill>
              <a:sym typeface="+mn-ea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zh-CN" altLang="en-US">
                <a:solidFill>
                  <a:schemeClr val="bg2"/>
                </a:solidFill>
                <a:latin typeface="Arial" panose="020B0604020202020204" pitchFamily="34" charset="0"/>
                <a:sym typeface="+mn-ea"/>
              </a:rPr>
              <a:t>（</a:t>
            </a:r>
            <a:r>
              <a:rPr lang="en-US" altLang="zh-CN">
                <a:solidFill>
                  <a:schemeClr val="bg2"/>
                </a:solidFill>
                <a:latin typeface="Arial" panose="020B0604020202020204" pitchFamily="34" charset="0"/>
                <a:sym typeface="+mn-ea"/>
              </a:rPr>
              <a:t>1</a:t>
            </a:r>
            <a:r>
              <a:rPr lang="zh-CN" altLang="en-US">
                <a:solidFill>
                  <a:schemeClr val="bg2"/>
                </a:solidFill>
                <a:latin typeface="Arial" panose="020B0604020202020204" pitchFamily="34" charset="0"/>
                <a:sym typeface="+mn-ea"/>
              </a:rPr>
              <a:t>）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s</a:t>
            </a:r>
            <a:r>
              <a:rPr lang="en-US" altLang="zh-CN" b="1">
                <a:solidFill>
                  <a:schemeClr val="bg2"/>
                </a:solidFill>
                <a:sym typeface="+mn-ea"/>
              </a:rPr>
              <a:t>[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i</a:t>
            </a:r>
            <a:r>
              <a:rPr lang="en-US" altLang="zh-CN" b="1">
                <a:solidFill>
                  <a:schemeClr val="bg2"/>
                </a:solidFill>
                <a:sym typeface="+mn-ea"/>
              </a:rPr>
              <a:t>,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k</a:t>
            </a:r>
            <a:r>
              <a:rPr lang="en-US" altLang="zh-CN" b="1">
                <a:solidFill>
                  <a:schemeClr val="bg2"/>
                </a:solidFill>
                <a:sym typeface="+mn-ea"/>
              </a:rPr>
              <a:t>]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中存储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m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，则括号位置为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m</a:t>
            </a:r>
            <a:endParaRPr lang="en-US" altLang="zh-CN" b="1" i="1" baseline="-25000">
              <a:solidFill>
                <a:schemeClr val="bg2"/>
              </a:solidFill>
              <a:sym typeface="+mn-ea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zh-CN" altLang="en-US">
                <a:solidFill>
                  <a:schemeClr val="bg2"/>
                </a:solidFill>
                <a:latin typeface="Arial" panose="020B0604020202020204" pitchFamily="34" charset="0"/>
                <a:sym typeface="+mn-ea"/>
              </a:rPr>
              <a:t>（</a:t>
            </a:r>
            <a:r>
              <a:rPr lang="en-US" altLang="zh-CN">
                <a:solidFill>
                  <a:schemeClr val="bg2"/>
                </a:solidFill>
                <a:latin typeface="Arial" panose="020B0604020202020204" pitchFamily="34" charset="0"/>
                <a:sym typeface="+mn-ea"/>
              </a:rPr>
              <a:t>2</a:t>
            </a:r>
            <a:r>
              <a:rPr lang="zh-CN" altLang="en-US">
                <a:solidFill>
                  <a:schemeClr val="bg2"/>
                </a:solidFill>
                <a:latin typeface="Arial" panose="020B0604020202020204" pitchFamily="34" charset="0"/>
                <a:sym typeface="+mn-ea"/>
              </a:rPr>
              <a:t>）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s</a:t>
            </a:r>
            <a:r>
              <a:rPr lang="en-US" altLang="zh-CN" b="1">
                <a:solidFill>
                  <a:schemeClr val="bg2"/>
                </a:solidFill>
                <a:sym typeface="+mn-ea"/>
              </a:rPr>
              <a:t>[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i</a:t>
            </a:r>
            <a:r>
              <a:rPr lang="en-US" altLang="zh-CN" b="1">
                <a:solidFill>
                  <a:schemeClr val="bg2"/>
                </a:solidFill>
                <a:sym typeface="+mn-ea"/>
              </a:rPr>
              <a:t>+1,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j</a:t>
            </a:r>
            <a:r>
              <a:rPr lang="en-US" altLang="zh-CN" b="1">
                <a:solidFill>
                  <a:schemeClr val="bg2"/>
                </a:solidFill>
                <a:sym typeface="+mn-ea"/>
              </a:rPr>
              <a:t>]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中存储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n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，则括号位置为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n</a:t>
            </a:r>
            <a:endParaRPr lang="en-US" altLang="zh-CN" b="1" i="1">
              <a:solidFill>
                <a:schemeClr val="bg2"/>
              </a:solidFill>
              <a:latin typeface="Arial" panose="020B0604020202020204" pitchFamily="34" charset="0"/>
              <a:sym typeface="+mn-ea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5076190" y="5012690"/>
            <a:ext cx="0" cy="576580"/>
          </a:xfrm>
          <a:prstGeom prst="line">
            <a:avLst/>
          </a:prstGeom>
          <a:ln>
            <a:solidFill>
              <a:srgbClr val="FF0000"/>
            </a:solidFill>
            <a:headEnd type="none" w="sm" len="sm"/>
            <a:tailEnd type="non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5005070" y="5048885"/>
            <a:ext cx="2519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(                            )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403985" y="5048250"/>
            <a:ext cx="38093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(                                            )</a:t>
            </a:r>
            <a:endParaRPr lang="en-US" altLang="zh-CN" b="1">
              <a:solidFill>
                <a:srgbClr val="FF0000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3924300" y="5027295"/>
            <a:ext cx="0" cy="576580"/>
          </a:xfrm>
          <a:prstGeom prst="line">
            <a:avLst/>
          </a:prstGeom>
          <a:ln>
            <a:solidFill>
              <a:srgbClr val="0070C0"/>
            </a:solidFill>
            <a:headEnd type="none" w="sm" len="sm"/>
            <a:tailEnd type="non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3852545" y="5044440"/>
            <a:ext cx="1224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b="1">
                <a:solidFill>
                  <a:srgbClr val="0070C0"/>
                </a:solidFill>
              </a:rPr>
              <a:t>(</a:t>
            </a:r>
            <a:r>
              <a:rPr lang="en-US" altLang="zh-CN" b="1">
                <a:solidFill>
                  <a:srgbClr val="FF0000"/>
                </a:solidFill>
              </a:rPr>
              <a:t>           </a:t>
            </a:r>
            <a:r>
              <a:rPr lang="en-US" altLang="zh-CN" b="1">
                <a:solidFill>
                  <a:srgbClr val="0070C0"/>
                </a:solidFill>
              </a:rPr>
              <a:t>)</a:t>
            </a:r>
            <a:endParaRPr lang="en-US" altLang="zh-CN" b="1">
              <a:solidFill>
                <a:srgbClr val="0070C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549400" y="5048250"/>
            <a:ext cx="24434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b="1">
                <a:solidFill>
                  <a:srgbClr val="0070C0"/>
                </a:solidFill>
              </a:rPr>
              <a:t>(</a:t>
            </a:r>
            <a:r>
              <a:rPr lang="en-US" altLang="zh-CN" b="1">
                <a:solidFill>
                  <a:srgbClr val="FF0000"/>
                </a:solidFill>
              </a:rPr>
              <a:t>                           </a:t>
            </a:r>
            <a:r>
              <a:rPr lang="en-US" altLang="zh-CN" b="1">
                <a:solidFill>
                  <a:srgbClr val="0070C0"/>
                </a:solidFill>
              </a:rPr>
              <a:t>)</a:t>
            </a:r>
            <a:endParaRPr lang="en-US" altLang="zh-CN" b="1">
              <a:solidFill>
                <a:srgbClr val="0070C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087745" y="5048885"/>
            <a:ext cx="1224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b="1">
                <a:solidFill>
                  <a:srgbClr val="7030A0"/>
                </a:solidFill>
              </a:rPr>
              <a:t>(</a:t>
            </a:r>
            <a:r>
              <a:rPr lang="en-US" altLang="zh-CN" b="1">
                <a:solidFill>
                  <a:srgbClr val="FF0000"/>
                </a:solidFill>
              </a:rPr>
              <a:t>           </a:t>
            </a:r>
            <a:r>
              <a:rPr lang="en-US" altLang="zh-CN" b="1">
                <a:solidFill>
                  <a:srgbClr val="7030A0"/>
                </a:solidFill>
              </a:rPr>
              <a:t>)</a:t>
            </a:r>
            <a:endParaRPr lang="en-US" altLang="zh-CN" b="1">
              <a:solidFill>
                <a:srgbClr val="7030A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078095" y="5047615"/>
            <a:ext cx="1148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b="1">
                <a:solidFill>
                  <a:srgbClr val="7030A0"/>
                </a:solidFill>
              </a:rPr>
              <a:t>(</a:t>
            </a:r>
            <a:r>
              <a:rPr lang="en-US" altLang="zh-CN" b="1">
                <a:solidFill>
                  <a:srgbClr val="FF0000"/>
                </a:solidFill>
              </a:rPr>
              <a:t>          </a:t>
            </a:r>
            <a:r>
              <a:rPr lang="en-US" altLang="zh-CN" b="1">
                <a:solidFill>
                  <a:srgbClr val="7030A0"/>
                </a:solidFill>
              </a:rPr>
              <a:t>)</a:t>
            </a:r>
            <a:endParaRPr lang="en-US" altLang="zh-CN" b="1">
              <a:solidFill>
                <a:srgbClr val="7030A0"/>
              </a:solidFill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6159500" y="5012690"/>
            <a:ext cx="0" cy="576580"/>
          </a:xfrm>
          <a:prstGeom prst="line">
            <a:avLst/>
          </a:prstGeom>
          <a:ln>
            <a:solidFill>
              <a:srgbClr val="7030A0"/>
            </a:solidFill>
            <a:headEnd type="none" w="sm" len="sm"/>
            <a:tailEnd type="non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3" grpId="0"/>
      <p:bldP spid="3" grpId="1"/>
      <p:bldP spid="7" grpId="0" bldLvl="2" uiExpand="1" build="p"/>
      <p:bldP spid="7" grpId="1"/>
      <p:bldP spid="13" grpId="0"/>
      <p:bldP spid="14" grpId="0"/>
      <p:bldP spid="13" grpId="1"/>
      <p:bldP spid="14" grpId="1"/>
      <p:bldP spid="16" grpId="0"/>
      <p:bldP spid="16" grpId="1"/>
      <p:bldP spid="17" grpId="0"/>
      <p:bldP spid="17" grpId="1"/>
      <p:bldP spid="18" grpId="0"/>
      <p:bldP spid="18" grpId="1"/>
      <p:bldP spid="19" grpId="0"/>
      <p:bldP spid="19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3.2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动态规划算法设计</a:t>
            </a:r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 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59765" y="1646555"/>
            <a:ext cx="7729855" cy="34486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zh-CN" altLang="en-US">
                <a:solidFill>
                  <a:schemeClr val="bg2"/>
                </a:solidFill>
              </a:rPr>
              <a:t>例如：</a:t>
            </a:r>
            <a:r>
              <a:rPr lang="zh-CN" altLang="en-US" b="1" i="1">
                <a:solidFill>
                  <a:schemeClr val="bg2"/>
                </a:solidFill>
              </a:rPr>
              <a:t>m</a:t>
            </a:r>
            <a:r>
              <a:rPr lang="zh-CN" altLang="en-US">
                <a:solidFill>
                  <a:schemeClr val="bg2"/>
                </a:solidFill>
              </a:rPr>
              <a:t>[2,5]代表矩阵：</a:t>
            </a:r>
            <a:r>
              <a:rPr lang="en-US" altLang="zh-CN" b="1" i="1">
                <a:solidFill>
                  <a:schemeClr val="bg2"/>
                </a:solidFill>
              </a:rPr>
              <a:t>A</a:t>
            </a:r>
            <a:r>
              <a:rPr lang="en-US" altLang="zh-CN" baseline="-25000">
                <a:solidFill>
                  <a:schemeClr val="bg2"/>
                </a:solidFill>
              </a:rPr>
              <a:t>2</a:t>
            </a:r>
            <a:r>
              <a:rPr lang="en-US" altLang="zh-CN" b="1" i="1">
                <a:solidFill>
                  <a:schemeClr val="bg2"/>
                </a:solidFill>
              </a:rPr>
              <a:t>A</a:t>
            </a:r>
            <a:r>
              <a:rPr lang="en-US" altLang="zh-CN" baseline="-25000">
                <a:solidFill>
                  <a:schemeClr val="bg2"/>
                </a:solidFill>
              </a:rPr>
              <a:t>3</a:t>
            </a:r>
            <a:r>
              <a:rPr lang="en-US" altLang="zh-CN" b="1" i="1">
                <a:solidFill>
                  <a:schemeClr val="bg2"/>
                </a:solidFill>
              </a:rPr>
              <a:t>A</a:t>
            </a:r>
            <a:r>
              <a:rPr lang="en-US" altLang="zh-CN" baseline="-25000">
                <a:solidFill>
                  <a:schemeClr val="bg2"/>
                </a:solidFill>
              </a:rPr>
              <a:t>4</a:t>
            </a:r>
            <a:r>
              <a:rPr lang="en-US" altLang="zh-CN" b="1" i="1">
                <a:solidFill>
                  <a:schemeClr val="bg2"/>
                </a:solidFill>
              </a:rPr>
              <a:t>A</a:t>
            </a:r>
            <a:r>
              <a:rPr lang="en-US" altLang="zh-CN" baseline="-25000">
                <a:solidFill>
                  <a:schemeClr val="bg2"/>
                </a:solidFill>
              </a:rPr>
              <a:t>5</a:t>
            </a:r>
            <a:r>
              <a:rPr lang="zh-CN" altLang="en-US">
                <a:solidFill>
                  <a:schemeClr val="bg2"/>
                </a:solidFill>
              </a:rPr>
              <a:t>乘积的最少次数，括号的添加有如下可能：</a:t>
            </a:r>
            <a:endParaRPr lang="zh-CN" altLang="en-US">
              <a:solidFill>
                <a:schemeClr val="bg2"/>
              </a:solidFill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chemeClr val="bg2"/>
                </a:solidFill>
              </a:rPr>
              <a:t>（</a:t>
            </a:r>
            <a:r>
              <a:rPr lang="en-US" altLang="zh-CN">
                <a:solidFill>
                  <a:schemeClr val="bg2"/>
                </a:solidFill>
              </a:rPr>
              <a:t>1</a:t>
            </a:r>
            <a:r>
              <a:rPr lang="zh-CN" altLang="en-US">
                <a:solidFill>
                  <a:schemeClr val="bg2"/>
                </a:solidFill>
              </a:rPr>
              <a:t>） 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A</a:t>
            </a:r>
            <a:r>
              <a:rPr lang="en-US" altLang="zh-CN" baseline="-2500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>
                <a:solidFill>
                  <a:schemeClr val="bg2"/>
                </a:solidFill>
                <a:uFillTx/>
                <a:sym typeface="+mn-ea"/>
              </a:rPr>
              <a:t>（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A</a:t>
            </a:r>
            <a:r>
              <a:rPr lang="en-US" altLang="zh-CN" baseline="-25000">
                <a:solidFill>
                  <a:schemeClr val="bg2"/>
                </a:solidFill>
                <a:sym typeface="+mn-ea"/>
              </a:rPr>
              <a:t>3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A</a:t>
            </a:r>
            <a:r>
              <a:rPr lang="en-US" altLang="zh-CN" baseline="-25000">
                <a:solidFill>
                  <a:schemeClr val="bg2"/>
                </a:solidFill>
                <a:sym typeface="+mn-ea"/>
              </a:rPr>
              <a:t>4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A</a:t>
            </a:r>
            <a:r>
              <a:rPr lang="en-US" altLang="zh-CN" baseline="-25000">
                <a:solidFill>
                  <a:schemeClr val="bg2"/>
                </a:solidFill>
                <a:sym typeface="+mn-ea"/>
              </a:rPr>
              <a:t>5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）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=0+</a:t>
            </a:r>
            <a:r>
              <a:rPr lang="en-US" altLang="zh-CN" b="1" i="1">
                <a:solidFill>
                  <a:srgbClr val="FF0000"/>
                </a:solidFill>
                <a:sym typeface="+mn-ea"/>
              </a:rPr>
              <a:t>m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[3,5]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+35×15×20=13000</a:t>
            </a:r>
            <a:endParaRPr lang="en-US" altLang="zh-CN">
              <a:solidFill>
                <a:schemeClr val="bg2"/>
              </a:solidFill>
              <a:sym typeface="+mn-ea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chemeClr val="bg2"/>
                </a:solidFill>
                <a:sym typeface="+mn-ea"/>
              </a:rPr>
              <a:t>（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） 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(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A</a:t>
            </a:r>
            <a:r>
              <a:rPr lang="en-US" altLang="zh-CN" baseline="-25000">
                <a:solidFill>
                  <a:schemeClr val="bg2"/>
                </a:solidFill>
                <a:sym typeface="+mn-ea"/>
              </a:rPr>
              <a:t>2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A</a:t>
            </a:r>
            <a:r>
              <a:rPr lang="en-US" altLang="zh-CN" baseline="-25000">
                <a:solidFill>
                  <a:schemeClr val="bg2"/>
                </a:solidFill>
                <a:sym typeface="+mn-ea"/>
              </a:rPr>
              <a:t>3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)(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A</a:t>
            </a:r>
            <a:r>
              <a:rPr lang="en-US" altLang="zh-CN" baseline="-25000">
                <a:solidFill>
                  <a:schemeClr val="bg2"/>
                </a:solidFill>
                <a:sym typeface="+mn-ea"/>
              </a:rPr>
              <a:t>4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A</a:t>
            </a:r>
            <a:r>
              <a:rPr lang="en-US" altLang="zh-CN" baseline="-25000">
                <a:solidFill>
                  <a:schemeClr val="bg2"/>
                </a:solidFill>
                <a:sym typeface="+mn-ea"/>
              </a:rPr>
              <a:t>5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)=</a:t>
            </a:r>
            <a:r>
              <a:rPr lang="en-US" altLang="zh-CN" b="1" i="1">
                <a:solidFill>
                  <a:srgbClr val="FF0000"/>
                </a:solidFill>
                <a:sym typeface="+mn-ea"/>
              </a:rPr>
              <a:t>m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[2,3]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+</a:t>
            </a:r>
            <a:r>
              <a:rPr lang="en-US" altLang="zh-CN" b="1" i="1">
                <a:solidFill>
                  <a:srgbClr val="FF0000"/>
                </a:solidFill>
                <a:sym typeface="+mn-ea"/>
              </a:rPr>
              <a:t>m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[4,5]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+35×5×20=7125</a:t>
            </a:r>
            <a:endParaRPr lang="en-US" altLang="zh-CN">
              <a:solidFill>
                <a:schemeClr val="bg2"/>
              </a:solidFill>
              <a:sym typeface="+mn-ea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chemeClr val="bg2"/>
                </a:solidFill>
                <a:sym typeface="+mn-ea"/>
              </a:rPr>
              <a:t>（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）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(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A</a:t>
            </a:r>
            <a:r>
              <a:rPr lang="en-US" altLang="zh-CN" baseline="-25000">
                <a:solidFill>
                  <a:schemeClr val="bg2"/>
                </a:solidFill>
                <a:sym typeface="+mn-ea"/>
              </a:rPr>
              <a:t>2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A</a:t>
            </a:r>
            <a:r>
              <a:rPr lang="en-US" altLang="zh-CN" baseline="-25000">
                <a:solidFill>
                  <a:schemeClr val="bg2"/>
                </a:solidFill>
                <a:sym typeface="+mn-ea"/>
              </a:rPr>
              <a:t>3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A</a:t>
            </a:r>
            <a:r>
              <a:rPr lang="en-US" altLang="zh-CN" baseline="-25000">
                <a:solidFill>
                  <a:schemeClr val="bg2"/>
                </a:solidFill>
                <a:sym typeface="+mn-ea"/>
              </a:rPr>
              <a:t>4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)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A</a:t>
            </a:r>
            <a:r>
              <a:rPr lang="en-US" altLang="zh-CN" baseline="-25000">
                <a:solidFill>
                  <a:schemeClr val="bg2"/>
                </a:solidFill>
                <a:sym typeface="+mn-ea"/>
              </a:rPr>
              <a:t>5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=</a:t>
            </a:r>
            <a:r>
              <a:rPr lang="en-US" altLang="zh-CN" b="1" i="1">
                <a:solidFill>
                  <a:srgbClr val="FF0000"/>
                </a:solidFill>
                <a:sym typeface="+mn-ea"/>
              </a:rPr>
              <a:t>m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[2,4]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+0+35×10×20=11375</a:t>
            </a:r>
            <a:endParaRPr lang="en-US" altLang="zh-CN">
              <a:solidFill>
                <a:schemeClr val="bg2"/>
              </a:solidFill>
              <a:sym typeface="+mn-ea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chemeClr val="bg2"/>
                </a:solidFill>
                <a:sym typeface="+mn-ea"/>
              </a:rPr>
              <a:t>（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4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）</a:t>
            </a:r>
            <a:r>
              <a:rPr lang="zh-CN" altLang="en-US" b="1" i="1">
                <a:solidFill>
                  <a:schemeClr val="bg2"/>
                </a:solidFill>
                <a:sym typeface="+mn-ea"/>
              </a:rPr>
              <a:t>m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[2,5]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=min{13000,7125,11375}=7125</a:t>
            </a:r>
            <a:endParaRPr lang="en-US" altLang="zh-CN">
              <a:solidFill>
                <a:schemeClr val="bg2"/>
              </a:solidFill>
              <a:sym typeface="+mn-ea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solidFill>
                  <a:schemeClr val="bg2"/>
                </a:solidFill>
                <a:sym typeface="+mn-ea"/>
              </a:rPr>
              <a:t>         </a:t>
            </a:r>
            <a:r>
              <a:rPr lang="en-US" altLang="zh-CN">
                <a:solidFill>
                  <a:schemeClr val="bg2"/>
                </a:solidFill>
                <a:latin typeface="宋体" panose="02010600030101010101" pitchFamily="2" charset="-122"/>
                <a:sym typeface="+mn-ea"/>
              </a:rPr>
              <a:t>※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 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s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[2,5]=</a:t>
            </a:r>
            <a:r>
              <a:rPr lang="en-US" altLang="zh-CN" b="1">
                <a:solidFill>
                  <a:schemeClr val="bg2"/>
                </a:solidFill>
                <a:sym typeface="+mn-ea"/>
              </a:rPr>
              <a:t>3</a:t>
            </a:r>
            <a:endParaRPr lang="en-US" altLang="zh-CN" b="1">
              <a:solidFill>
                <a:schemeClr val="bg2"/>
              </a:solidFill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1665605" y="4500245"/>
            <a:ext cx="29654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00B050"/>
                </a:solidFill>
                <a:cs typeface="Times New Roman" panose="02020603050405020304" pitchFamily="18" charset="0"/>
              </a:rPr>
              <a:t>(                                ) </a:t>
            </a:r>
            <a:endParaRPr lang="en-US" altLang="zh-CN" b="1">
              <a:solidFill>
                <a:srgbClr val="00B050"/>
              </a:solidFill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3.2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动态规划算法设计</a:t>
            </a:r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 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59765" y="1646555"/>
            <a:ext cx="8071485" cy="24892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zh-CN" altLang="en-US" b="1">
                <a:solidFill>
                  <a:schemeClr val="bg2"/>
                </a:solidFill>
                <a:sym typeface="+mn-ea"/>
              </a:rPr>
              <a:t>解的追踪：</a:t>
            </a:r>
            <a:endParaRPr lang="zh-CN" altLang="en-US" b="1">
              <a:solidFill>
                <a:schemeClr val="bg2"/>
              </a:solidFill>
              <a:sym typeface="+mn-ea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r>
              <a:rPr lang="zh-CN" altLang="en-US" b="1">
                <a:solidFill>
                  <a:schemeClr val="bg2"/>
                </a:solidFill>
                <a:sym typeface="+mn-ea"/>
              </a:rPr>
              <a:t>（</a:t>
            </a:r>
            <a:r>
              <a:rPr lang="en-US" altLang="zh-CN" b="1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）最少的乘法次数：</a:t>
            </a:r>
            <a:r>
              <a:rPr lang="zh-CN" altLang="en-US" b="1" i="1">
                <a:solidFill>
                  <a:schemeClr val="bg2"/>
                </a:solidFill>
                <a:sym typeface="+mn-ea"/>
              </a:rPr>
              <a:t>m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[1,5]=11875</a:t>
            </a:r>
            <a:endParaRPr lang="zh-CN" altLang="en-US" b="1">
              <a:solidFill>
                <a:schemeClr val="bg2"/>
              </a:solidFill>
              <a:sym typeface="+mn-ea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r>
              <a:rPr lang="zh-CN" altLang="en-US" b="1">
                <a:solidFill>
                  <a:schemeClr val="bg2"/>
                </a:solidFill>
                <a:sym typeface="+mn-ea"/>
              </a:rPr>
              <a:t>（</a:t>
            </a:r>
            <a:r>
              <a:rPr lang="en-US" altLang="zh-CN" b="1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）加括号的位置：从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s</a:t>
            </a:r>
            <a:r>
              <a:rPr lang="en-US" altLang="zh-CN" b="1">
                <a:solidFill>
                  <a:schemeClr val="bg2"/>
                </a:solidFill>
                <a:sym typeface="+mn-ea"/>
              </a:rPr>
              <a:t>[1,5]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向前追踪</a:t>
            </a:r>
            <a:endParaRPr lang="zh-CN" altLang="en-US" b="1">
              <a:solidFill>
                <a:schemeClr val="bg2"/>
              </a:solidFill>
              <a:sym typeface="+mn-ea"/>
            </a:endParaRPr>
          </a:p>
          <a:p>
            <a:pPr marL="610870" lvl="1" indent="-258445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b="1" i="1">
                <a:solidFill>
                  <a:schemeClr val="bg2"/>
                </a:solidFill>
                <a:sym typeface="+mn-ea"/>
              </a:rPr>
              <a:t>s</a:t>
            </a:r>
            <a:r>
              <a:rPr lang="en-US" altLang="zh-CN" b="1">
                <a:solidFill>
                  <a:schemeClr val="bg2"/>
                </a:solidFill>
                <a:sym typeface="+mn-ea"/>
              </a:rPr>
              <a:t>[1,5]=3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，说明问题</a:t>
            </a:r>
            <a:r>
              <a:rPr lang="en-US" altLang="zh-CN" b="1">
                <a:solidFill>
                  <a:schemeClr val="bg2"/>
                </a:solidFill>
                <a:sym typeface="+mn-ea"/>
              </a:rPr>
              <a:t>1..5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，括号的位置加在</a:t>
            </a:r>
            <a:r>
              <a:rPr lang="en-US" altLang="zh-CN" b="1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的位置</a:t>
            </a:r>
            <a:endParaRPr lang="zh-CN" altLang="en-US" b="1">
              <a:solidFill>
                <a:schemeClr val="bg2"/>
              </a:solidFill>
              <a:sym typeface="+mn-ea"/>
            </a:endParaRPr>
          </a:p>
          <a:p>
            <a:pPr marL="610870" lvl="1" indent="-258445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bg2"/>
                </a:solidFill>
                <a:sym typeface="+mn-ea"/>
              </a:rPr>
              <a:t>再查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s</a:t>
            </a:r>
            <a:r>
              <a:rPr lang="en-US" altLang="zh-CN" b="1">
                <a:solidFill>
                  <a:schemeClr val="bg2"/>
                </a:solidFill>
                <a:sym typeface="+mn-ea"/>
              </a:rPr>
              <a:t>[1,3]=1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，说明问题</a:t>
            </a:r>
            <a:r>
              <a:rPr lang="en-US" altLang="zh-CN" b="1">
                <a:solidFill>
                  <a:schemeClr val="bg2"/>
                </a:solidFill>
                <a:sym typeface="+mn-ea"/>
              </a:rPr>
              <a:t>1..3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，括号的位置加在</a:t>
            </a:r>
            <a:r>
              <a:rPr lang="en-US" altLang="zh-CN" b="1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的位置</a:t>
            </a:r>
            <a:endParaRPr lang="zh-CN" altLang="en-US" b="1">
              <a:solidFill>
                <a:schemeClr val="bg2"/>
              </a:solidFill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27405" y="5373370"/>
            <a:ext cx="723519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altLang="zh-CN" sz="2800" b="1" i="1">
                <a:solidFill>
                  <a:schemeClr val="bg1"/>
                </a:solidFill>
                <a:sym typeface="+mn-ea"/>
              </a:rPr>
              <a:t>A</a:t>
            </a:r>
            <a:r>
              <a:rPr lang="en-US" altLang="zh-CN" sz="2800" i="1" baseline="-25000">
                <a:solidFill>
                  <a:schemeClr val="bg1"/>
                </a:solidFill>
                <a:sym typeface="+mn-ea"/>
              </a:rPr>
              <a:t>1</a:t>
            </a:r>
            <a:r>
              <a:rPr lang="en-US" altLang="zh-CN" sz="2800" b="1" i="1">
                <a:solidFill>
                  <a:schemeClr val="bg1"/>
                </a:solidFill>
                <a:sym typeface="+mn-ea"/>
              </a:rPr>
              <a:t>A</a:t>
            </a:r>
            <a:r>
              <a:rPr lang="en-US" altLang="zh-CN" sz="2800" baseline="-25000">
                <a:solidFill>
                  <a:schemeClr val="bg1"/>
                </a:solidFill>
                <a:sym typeface="+mn-ea"/>
              </a:rPr>
              <a:t>2</a:t>
            </a:r>
            <a:r>
              <a:rPr lang="en-US" altLang="zh-CN" sz="2800" b="1" i="1">
                <a:solidFill>
                  <a:schemeClr val="bg1"/>
                </a:solidFill>
                <a:sym typeface="+mn-ea"/>
              </a:rPr>
              <a:t>A</a:t>
            </a:r>
            <a:r>
              <a:rPr lang="en-US" altLang="zh-CN" sz="2800" baseline="-25000">
                <a:solidFill>
                  <a:schemeClr val="bg1"/>
                </a:solidFill>
                <a:sym typeface="+mn-ea"/>
              </a:rPr>
              <a:t>3</a:t>
            </a:r>
            <a:r>
              <a:rPr lang="en-US" altLang="zh-CN" sz="2800" b="1" i="1">
                <a:solidFill>
                  <a:schemeClr val="bg1"/>
                </a:solidFill>
                <a:sym typeface="+mn-ea"/>
              </a:rPr>
              <a:t>A</a:t>
            </a:r>
            <a:r>
              <a:rPr lang="en-US" altLang="zh-CN" sz="2800" baseline="-25000">
                <a:solidFill>
                  <a:schemeClr val="bg1"/>
                </a:solidFill>
                <a:sym typeface="+mn-ea"/>
              </a:rPr>
              <a:t>4</a:t>
            </a:r>
            <a:r>
              <a:rPr lang="en-US" altLang="zh-CN" sz="2800" b="1" i="1">
                <a:solidFill>
                  <a:schemeClr val="bg1"/>
                </a:solidFill>
                <a:sym typeface="+mn-ea"/>
              </a:rPr>
              <a:t>A</a:t>
            </a:r>
            <a:r>
              <a:rPr lang="en-US" altLang="zh-CN" sz="2800" baseline="-25000">
                <a:solidFill>
                  <a:schemeClr val="bg1"/>
                </a:solidFill>
                <a:sym typeface="+mn-ea"/>
              </a:rPr>
              <a:t>5</a:t>
            </a:r>
            <a:r>
              <a:rPr lang="zh-CN" altLang="en-US" sz="2800">
                <a:solidFill>
                  <a:schemeClr val="bg1"/>
                </a:solidFill>
                <a:sym typeface="+mn-ea"/>
              </a:rPr>
              <a:t>的计算顺序为：</a:t>
            </a:r>
            <a:r>
              <a:rPr lang="en-US" altLang="zh-CN" sz="2800">
                <a:solidFill>
                  <a:schemeClr val="bg2"/>
                </a:solidFill>
                <a:sym typeface="+mn-ea"/>
              </a:rPr>
              <a:t>(</a:t>
            </a:r>
            <a:r>
              <a:rPr lang="en-US" altLang="zh-CN" sz="2800" b="1" i="1">
                <a:solidFill>
                  <a:schemeClr val="bg2"/>
                </a:solidFill>
                <a:sym typeface="+mn-ea"/>
              </a:rPr>
              <a:t>A</a:t>
            </a:r>
            <a:r>
              <a:rPr lang="en-US" altLang="zh-CN" sz="2800" baseline="-25000">
                <a:solidFill>
                  <a:schemeClr val="bg2"/>
                </a:solidFill>
                <a:sym typeface="+mn-ea"/>
              </a:rPr>
              <a:t>1</a:t>
            </a:r>
            <a:r>
              <a:rPr lang="en-US" altLang="zh-CN" sz="2800">
                <a:solidFill>
                  <a:schemeClr val="bg2"/>
                </a:solidFill>
                <a:sym typeface="+mn-ea"/>
              </a:rPr>
              <a:t>(</a:t>
            </a:r>
            <a:r>
              <a:rPr lang="en-US" altLang="zh-CN" sz="2800" b="1" i="1">
                <a:solidFill>
                  <a:schemeClr val="bg2"/>
                </a:solidFill>
                <a:sym typeface="+mn-ea"/>
              </a:rPr>
              <a:t>A</a:t>
            </a:r>
            <a:r>
              <a:rPr lang="en-US" altLang="zh-CN" sz="2800" baseline="-25000">
                <a:solidFill>
                  <a:schemeClr val="bg2"/>
                </a:solidFill>
                <a:sym typeface="+mn-ea"/>
              </a:rPr>
              <a:t>2</a:t>
            </a:r>
            <a:r>
              <a:rPr lang="en-US" altLang="zh-CN" sz="2800" b="1" i="1">
                <a:solidFill>
                  <a:schemeClr val="bg2"/>
                </a:solidFill>
                <a:sym typeface="+mn-ea"/>
              </a:rPr>
              <a:t>A</a:t>
            </a:r>
            <a:r>
              <a:rPr lang="en-US" altLang="zh-CN" sz="2800" baseline="-25000">
                <a:solidFill>
                  <a:schemeClr val="bg2"/>
                </a:solidFill>
                <a:sym typeface="+mn-ea"/>
              </a:rPr>
              <a:t>3</a:t>
            </a:r>
            <a:r>
              <a:rPr lang="en-US" altLang="zh-CN" sz="2800">
                <a:solidFill>
                  <a:schemeClr val="bg2"/>
                </a:solidFill>
                <a:sym typeface="+mn-ea"/>
              </a:rPr>
              <a:t>))(</a:t>
            </a:r>
            <a:r>
              <a:rPr lang="en-US" altLang="zh-CN" sz="2800" b="1" i="1">
                <a:solidFill>
                  <a:schemeClr val="bg2"/>
                </a:solidFill>
                <a:sym typeface="+mn-ea"/>
              </a:rPr>
              <a:t>A</a:t>
            </a:r>
            <a:r>
              <a:rPr lang="en-US" altLang="zh-CN" sz="2800" baseline="-25000">
                <a:solidFill>
                  <a:schemeClr val="bg2"/>
                </a:solidFill>
                <a:sym typeface="+mn-ea"/>
              </a:rPr>
              <a:t>4</a:t>
            </a:r>
            <a:r>
              <a:rPr lang="en-US" altLang="zh-CN" sz="2800" b="1" i="1">
                <a:solidFill>
                  <a:schemeClr val="bg2"/>
                </a:solidFill>
                <a:sym typeface="+mn-ea"/>
              </a:rPr>
              <a:t>A</a:t>
            </a:r>
            <a:r>
              <a:rPr lang="en-US" altLang="zh-CN" sz="2800" baseline="-25000">
                <a:solidFill>
                  <a:schemeClr val="bg2"/>
                </a:solidFill>
                <a:sym typeface="+mn-ea"/>
              </a:rPr>
              <a:t>5</a:t>
            </a:r>
            <a:r>
              <a:rPr lang="en-US" altLang="zh-CN" sz="2800">
                <a:solidFill>
                  <a:schemeClr val="bg2"/>
                </a:solidFill>
                <a:sym typeface="+mn-ea"/>
              </a:rPr>
              <a:t>)</a:t>
            </a:r>
            <a:endParaRPr lang="en-US" altLang="zh-CN" sz="2800">
              <a:solidFill>
                <a:schemeClr val="bg2"/>
              </a:solidFill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835785" y="4509135"/>
            <a:ext cx="426974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b="1" i="1">
                <a:solidFill>
                  <a:schemeClr val="bg1"/>
                </a:solidFill>
                <a:sym typeface="+mn-ea"/>
              </a:rPr>
              <a:t>A</a:t>
            </a:r>
            <a:r>
              <a:rPr lang="en-US" altLang="zh-CN" i="1" baseline="-25000">
                <a:solidFill>
                  <a:schemeClr val="bg1"/>
                </a:solidFill>
                <a:sym typeface="+mn-ea"/>
              </a:rPr>
              <a:t>1             </a:t>
            </a:r>
            <a:r>
              <a:rPr lang="en-US" altLang="zh-CN" b="1" i="1">
                <a:solidFill>
                  <a:schemeClr val="bg1"/>
                </a:solidFill>
                <a:sym typeface="+mn-ea"/>
              </a:rPr>
              <a:t>A</a:t>
            </a:r>
            <a:r>
              <a:rPr lang="en-US" altLang="zh-CN" baseline="-25000">
                <a:solidFill>
                  <a:schemeClr val="bg1"/>
                </a:solidFill>
                <a:sym typeface="+mn-ea"/>
              </a:rPr>
              <a:t>2              </a:t>
            </a:r>
            <a:r>
              <a:rPr lang="en-US" altLang="zh-CN" b="1" i="1">
                <a:solidFill>
                  <a:schemeClr val="bg1"/>
                </a:solidFill>
                <a:sym typeface="+mn-ea"/>
              </a:rPr>
              <a:t>A</a:t>
            </a:r>
            <a:r>
              <a:rPr lang="en-US" altLang="zh-CN" baseline="-25000">
                <a:solidFill>
                  <a:schemeClr val="bg1"/>
                </a:solidFill>
                <a:sym typeface="+mn-ea"/>
              </a:rPr>
              <a:t>3             </a:t>
            </a:r>
            <a:r>
              <a:rPr lang="en-US" altLang="zh-CN" b="1" i="1">
                <a:solidFill>
                  <a:schemeClr val="bg1"/>
                </a:solidFill>
                <a:sym typeface="+mn-ea"/>
              </a:rPr>
              <a:t>A</a:t>
            </a:r>
            <a:r>
              <a:rPr lang="en-US" altLang="zh-CN" baseline="-25000">
                <a:solidFill>
                  <a:schemeClr val="bg1"/>
                </a:solidFill>
                <a:sym typeface="+mn-ea"/>
              </a:rPr>
              <a:t>4            </a:t>
            </a:r>
            <a:r>
              <a:rPr lang="en-US" altLang="zh-CN" b="1" i="1">
                <a:solidFill>
                  <a:schemeClr val="bg1"/>
                </a:solidFill>
                <a:sym typeface="+mn-ea"/>
              </a:rPr>
              <a:t>A</a:t>
            </a:r>
            <a:r>
              <a:rPr lang="en-US" altLang="zh-CN" baseline="-25000">
                <a:solidFill>
                  <a:schemeClr val="bg1"/>
                </a:solidFill>
                <a:sym typeface="+mn-ea"/>
              </a:rPr>
              <a:t>5</a:t>
            </a:r>
            <a:endParaRPr lang="zh-CN" altLang="en-US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354195" y="4491355"/>
            <a:ext cx="2209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00B050"/>
                </a:solidFill>
                <a:cs typeface="Times New Roman" panose="02020603050405020304" pitchFamily="18" charset="0"/>
              </a:rPr>
              <a:t>(                      ) </a:t>
            </a:r>
            <a:endParaRPr lang="en-US" altLang="zh-CN" b="1">
              <a:solidFill>
                <a:srgbClr val="00B050"/>
              </a:solidFill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699385" y="4509135"/>
            <a:ext cx="1685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7030A0"/>
                </a:solidFill>
                <a:cs typeface="Times New Roman" panose="02020603050405020304" pitchFamily="18" charset="0"/>
              </a:rPr>
              <a:t>(                 ) </a:t>
            </a:r>
            <a:endParaRPr lang="en-US" altLang="zh-CN" b="1">
              <a:solidFill>
                <a:srgbClr val="7030A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10" grpId="0"/>
      <p:bldP spid="11" grpId="0"/>
      <p:bldP spid="4" grpId="0" bldLvl="2" uiExpand="1" build="p"/>
      <p:bldP spid="9" grpId="0"/>
      <p:bldP spid="9" grpId="1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3.2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动态规划算法设计</a:t>
            </a:r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 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06730" y="1473835"/>
            <a:ext cx="802259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00100" lvl="1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zh-CN" altLang="en-US">
                <a:solidFill>
                  <a:schemeClr val="bg2"/>
                </a:solidFill>
              </a:rPr>
              <a:t>迭代实现：</a:t>
            </a:r>
            <a:r>
              <a:rPr lang="en-US" altLang="zh-CN" b="1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黑体" panose="02010609060101010101" pitchFamily="2" charset="-122"/>
                <a:sym typeface="+mn-ea"/>
              </a:rPr>
              <a:t>MatrixChain</a:t>
            </a:r>
            <a:r>
              <a:rPr lang="en-US" altLang="zh-CN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黑体" panose="02010609060101010101" pitchFamily="2" charset="-122"/>
                <a:sym typeface="+mn-ea"/>
              </a:rPr>
              <a:t>(</a:t>
            </a:r>
            <a:r>
              <a:rPr lang="en-US" altLang="zh-CN" b="1" i="1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黑体" panose="02010609060101010101" pitchFamily="2" charset="-122"/>
                <a:sym typeface="+mn-ea"/>
              </a:rPr>
              <a:t>P</a:t>
            </a:r>
            <a:r>
              <a:rPr lang="en-US" altLang="zh-CN" b="1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黑体" panose="02010609060101010101" pitchFamily="2" charset="-122"/>
                <a:sym typeface="+mn-ea"/>
              </a:rPr>
              <a:t>,</a:t>
            </a:r>
            <a:r>
              <a:rPr lang="en-US" altLang="zh-CN" b="1" i="1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黑体" panose="02010609060101010101" pitchFamily="2" charset="-122"/>
                <a:sym typeface="+mn-ea"/>
              </a:rPr>
              <a:t>n</a:t>
            </a:r>
            <a:r>
              <a:rPr lang="en-US" altLang="zh-CN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黑体" panose="02010609060101010101" pitchFamily="2" charset="-122"/>
                <a:sym typeface="+mn-ea"/>
              </a:rPr>
              <a:t>)</a:t>
            </a:r>
            <a:endParaRPr lang="zh-CN" altLang="en-US">
              <a:solidFill>
                <a:schemeClr val="bg2"/>
              </a:solidFill>
            </a:endParaRPr>
          </a:p>
        </p:txBody>
      </p:sp>
      <p:pic>
        <p:nvPicPr>
          <p:cNvPr id="4" name="20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9860" y="2044700"/>
            <a:ext cx="3535680" cy="349885"/>
          </a:xfrm>
          <a:prstGeom prst="rect">
            <a:avLst/>
          </a:prstGeom>
        </p:spPr>
      </p:pic>
      <p:pic>
        <p:nvPicPr>
          <p:cNvPr id="5" name="20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0" y="2394585"/>
            <a:ext cx="4636770" cy="365125"/>
          </a:xfrm>
          <a:prstGeom prst="rect">
            <a:avLst/>
          </a:prstGeom>
        </p:spPr>
      </p:pic>
      <p:pic>
        <p:nvPicPr>
          <p:cNvPr id="8" name="20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860" y="2831465"/>
            <a:ext cx="4966335" cy="362585"/>
          </a:xfrm>
          <a:prstGeom prst="rect">
            <a:avLst/>
          </a:prstGeom>
        </p:spPr>
      </p:pic>
      <p:pic>
        <p:nvPicPr>
          <p:cNvPr id="9" name="20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430" y="3223260"/>
            <a:ext cx="4989830" cy="410845"/>
          </a:xfrm>
          <a:prstGeom prst="rect">
            <a:avLst/>
          </a:prstGeom>
        </p:spPr>
      </p:pic>
      <p:pic>
        <p:nvPicPr>
          <p:cNvPr id="11" name="20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5245" y="3658870"/>
            <a:ext cx="5106035" cy="431800"/>
          </a:xfrm>
          <a:prstGeom prst="rect">
            <a:avLst/>
          </a:prstGeom>
        </p:spPr>
      </p:pic>
      <p:pic>
        <p:nvPicPr>
          <p:cNvPr id="12" name="20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7000" y="4090670"/>
            <a:ext cx="3978910" cy="412115"/>
          </a:xfrm>
          <a:prstGeom prst="rect">
            <a:avLst/>
          </a:prstGeom>
        </p:spPr>
      </p:pic>
      <p:pic>
        <p:nvPicPr>
          <p:cNvPr id="14" name="20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5245" y="4535170"/>
            <a:ext cx="5106035" cy="455295"/>
          </a:xfrm>
          <a:prstGeom prst="rect">
            <a:avLst/>
          </a:prstGeom>
        </p:spPr>
      </p:pic>
      <p:pic>
        <p:nvPicPr>
          <p:cNvPr id="15" name="20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7000" y="5062220"/>
            <a:ext cx="5105400" cy="440055"/>
          </a:xfrm>
          <a:prstGeom prst="rect">
            <a:avLst/>
          </a:prstGeom>
        </p:spPr>
      </p:pic>
      <p:pic>
        <p:nvPicPr>
          <p:cNvPr id="16" name="20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48105" y="5502275"/>
            <a:ext cx="4282440" cy="115252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824980" y="3260725"/>
            <a:ext cx="184785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olidFill>
                  <a:schemeClr val="bg2"/>
                </a:solidFill>
              </a:rPr>
              <a:t>二维数组</a:t>
            </a:r>
            <a:r>
              <a:rPr lang="zh-CN" altLang="en-US" b="1" i="1">
                <a:solidFill>
                  <a:schemeClr val="bg2"/>
                </a:solidFill>
              </a:rPr>
              <a:t>m</a:t>
            </a:r>
            <a:r>
              <a:rPr lang="zh-CN" altLang="en-US">
                <a:solidFill>
                  <a:schemeClr val="bg2"/>
                </a:solidFill>
              </a:rPr>
              <a:t>与</a:t>
            </a:r>
            <a:r>
              <a:rPr lang="zh-CN" altLang="en-US" b="1" i="1">
                <a:solidFill>
                  <a:schemeClr val="bg2"/>
                </a:solidFill>
              </a:rPr>
              <a:t>s</a:t>
            </a:r>
            <a:r>
              <a:rPr lang="zh-CN" altLang="en-US">
                <a:solidFill>
                  <a:schemeClr val="bg2"/>
                </a:solidFill>
              </a:rPr>
              <a:t>为备忘录</a:t>
            </a:r>
            <a:endParaRPr lang="zh-CN" altLang="en-US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3.2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动态规划算法设计</a:t>
            </a:r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 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06730" y="1473835"/>
            <a:ext cx="802259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00100" lvl="1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>
                <a:solidFill>
                  <a:schemeClr val="bg2"/>
                </a:solidFill>
              </a:rPr>
              <a:t>时间复杂度</a:t>
            </a:r>
            <a:r>
              <a:rPr lang="zh-CN">
                <a:solidFill>
                  <a:schemeClr val="bg2"/>
                </a:solidFill>
              </a:rPr>
              <a:t>分析</a:t>
            </a:r>
            <a:endParaRPr lang="zh-CN">
              <a:solidFill>
                <a:schemeClr val="bg2"/>
              </a:solidFill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695" y="2044700"/>
            <a:ext cx="5842000" cy="1348105"/>
          </a:xfrm>
          <a:prstGeom prst="rect">
            <a:avLst/>
          </a:prstGeom>
        </p:spPr>
      </p:pic>
      <p:pic>
        <p:nvPicPr>
          <p:cNvPr id="6" name="20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855" y="3488055"/>
            <a:ext cx="5692775" cy="2221230"/>
          </a:xfrm>
          <a:prstGeom prst="rect">
            <a:avLst/>
          </a:prstGeom>
        </p:spPr>
      </p:pic>
      <p:pic>
        <p:nvPicPr>
          <p:cNvPr id="7" name="20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860" y="5637530"/>
            <a:ext cx="5491480" cy="52832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3.2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动态规划算法设计</a:t>
            </a:r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 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16255" y="1503045"/>
            <a:ext cx="8060055" cy="4887595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zh-CN" altLang="en-US" b="1" dirty="0">
                <a:solidFill>
                  <a:schemeClr val="bg2"/>
                </a:solidFill>
                <a:sym typeface="+mn-ea"/>
              </a:rPr>
              <a:t>动态规划</a:t>
            </a:r>
            <a:r>
              <a:rPr lang="zh-CN" altLang="en-US" b="1" dirty="0" smtClean="0">
                <a:solidFill>
                  <a:schemeClr val="bg2"/>
                </a:solidFill>
                <a:sym typeface="+mn-ea"/>
              </a:rPr>
              <a:t>两种</a:t>
            </a:r>
            <a:r>
              <a:rPr lang="zh-CN" altLang="en-US" b="1" dirty="0">
                <a:solidFill>
                  <a:schemeClr val="bg2"/>
                </a:solidFill>
                <a:sym typeface="+mn-ea"/>
              </a:rPr>
              <a:t>实现的比较</a:t>
            </a:r>
            <a:endParaRPr lang="zh-CN" altLang="en-US" b="1" dirty="0">
              <a:solidFill>
                <a:schemeClr val="bg2"/>
              </a:solidFill>
              <a:sym typeface="+mn-ea"/>
            </a:endParaRPr>
          </a:p>
          <a:p>
            <a:pPr marL="800100" lvl="1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b="1" dirty="0" err="1">
                <a:solidFill>
                  <a:srgbClr val="FF0000"/>
                </a:solidFill>
                <a:sym typeface="+mn-ea"/>
              </a:rPr>
              <a:t>递归实现</a:t>
            </a:r>
            <a:r>
              <a:rPr b="1" dirty="0" err="1">
                <a:solidFill>
                  <a:schemeClr val="bg2"/>
                </a:solidFill>
                <a:sym typeface="+mn-ea"/>
              </a:rPr>
              <a:t>：时间复杂性高，空间较小</a:t>
            </a:r>
            <a:endParaRPr b="1" dirty="0">
              <a:solidFill>
                <a:schemeClr val="bg2"/>
              </a:solidFill>
              <a:sym typeface="+mn-ea"/>
            </a:endParaRPr>
          </a:p>
          <a:p>
            <a:pPr marL="800100" lvl="1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b="1" dirty="0" err="1">
                <a:solidFill>
                  <a:srgbClr val="FF0000"/>
                </a:solidFill>
                <a:sym typeface="+mn-ea"/>
              </a:rPr>
              <a:t>迭代实现</a:t>
            </a:r>
            <a:r>
              <a:rPr b="1" dirty="0" err="1">
                <a:solidFill>
                  <a:schemeClr val="bg2"/>
                </a:solidFill>
                <a:sym typeface="+mn-ea"/>
              </a:rPr>
              <a:t>：时间复杂性低，空间消耗多</a:t>
            </a:r>
            <a:endParaRPr b="1" dirty="0">
              <a:solidFill>
                <a:schemeClr val="bg2"/>
              </a:solidFill>
              <a:sym typeface="+mn-ea"/>
            </a:endParaRP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b="1" dirty="0" err="1">
                <a:solidFill>
                  <a:schemeClr val="bg2"/>
                </a:solidFill>
                <a:sym typeface="+mn-ea"/>
              </a:rPr>
              <a:t>原因：</a:t>
            </a:r>
            <a:endParaRPr b="1" dirty="0" err="1">
              <a:solidFill>
                <a:schemeClr val="bg2"/>
              </a:solidFill>
              <a:sym typeface="+mn-ea"/>
            </a:endParaRPr>
          </a:p>
          <a:p>
            <a:pPr marL="800100" lvl="1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b="1" dirty="0" err="1">
                <a:solidFill>
                  <a:schemeClr val="bg2"/>
                </a:solidFill>
                <a:sym typeface="+mn-ea"/>
              </a:rPr>
              <a:t>递归实现</a:t>
            </a:r>
            <a:r>
              <a:rPr lang="zh-CN" b="1" dirty="0" err="1">
                <a:solidFill>
                  <a:schemeClr val="bg2"/>
                </a:solidFill>
                <a:sym typeface="+mn-ea"/>
              </a:rPr>
              <a:t>时</a:t>
            </a:r>
            <a:r>
              <a:rPr b="1" dirty="0" err="1">
                <a:solidFill>
                  <a:srgbClr val="FF0000"/>
                </a:solidFill>
                <a:sym typeface="+mn-ea"/>
              </a:rPr>
              <a:t>子问题多次重复计算</a:t>
            </a:r>
            <a:r>
              <a:rPr b="1" dirty="0" err="1">
                <a:solidFill>
                  <a:schemeClr val="bg2"/>
                </a:solidFill>
                <a:sym typeface="+mn-ea"/>
              </a:rPr>
              <a:t>，子问题计算次数呈指数增长</a:t>
            </a:r>
            <a:r>
              <a:rPr lang="zh-CN" b="1" dirty="0" err="1">
                <a:solidFill>
                  <a:schemeClr val="bg2"/>
                </a:solidFill>
                <a:sym typeface="+mn-ea"/>
              </a:rPr>
              <a:t>。</a:t>
            </a:r>
            <a:endParaRPr b="1" dirty="0">
              <a:solidFill>
                <a:schemeClr val="bg2"/>
              </a:solidFill>
              <a:sym typeface="+mn-ea"/>
            </a:endParaRPr>
          </a:p>
          <a:p>
            <a:pPr marL="800100" lvl="1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b="1" dirty="0" err="1">
                <a:solidFill>
                  <a:schemeClr val="bg2"/>
                </a:solidFill>
                <a:sym typeface="+mn-ea"/>
              </a:rPr>
              <a:t>迭代实现</a:t>
            </a:r>
            <a:r>
              <a:rPr b="1" dirty="0" err="1">
                <a:solidFill>
                  <a:srgbClr val="FF0000"/>
                </a:solidFill>
                <a:sym typeface="+mn-ea"/>
              </a:rPr>
              <a:t>每个子问题只计算一次</a:t>
            </a:r>
            <a:r>
              <a:rPr lang="zh-CN" b="1" dirty="0">
                <a:solidFill>
                  <a:schemeClr val="bg2"/>
                </a:solidFill>
                <a:sym typeface="+mn-ea"/>
              </a:rPr>
              <a:t>。</a:t>
            </a:r>
            <a:endParaRPr lang="en-US" b="1" dirty="0" smtClean="0">
              <a:solidFill>
                <a:schemeClr val="bg2"/>
              </a:solidFill>
              <a:sym typeface="+mn-ea"/>
            </a:endParaRP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b="1" dirty="0" err="1" smtClean="0">
                <a:solidFill>
                  <a:schemeClr val="bg2"/>
                </a:solidFill>
                <a:sym typeface="+mn-ea"/>
              </a:rPr>
              <a:t>动态规划时间复杂度：</a:t>
            </a:r>
            <a:r>
              <a:rPr b="1" dirty="0" err="1" smtClean="0">
                <a:solidFill>
                  <a:srgbClr val="FF0000"/>
                </a:solidFill>
                <a:sym typeface="+mn-ea"/>
              </a:rPr>
              <a:t>备忘录各项计算量之和</a:t>
            </a:r>
            <a:r>
              <a:rPr b="1" dirty="0" smtClean="0">
                <a:solidFill>
                  <a:srgbClr val="FF0000"/>
                </a:solidFill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sym typeface="+mn-ea"/>
              </a:rPr>
              <a:t>+ </a:t>
            </a:r>
            <a:r>
              <a:rPr b="1" dirty="0" err="1">
                <a:solidFill>
                  <a:srgbClr val="FF0000"/>
                </a:solidFill>
                <a:sym typeface="+mn-ea"/>
              </a:rPr>
              <a:t>追踪解工作量</a:t>
            </a:r>
            <a:r>
              <a:rPr lang="zh-CN" b="1" dirty="0" err="1">
                <a:solidFill>
                  <a:schemeClr val="bg2"/>
                </a:solidFill>
                <a:sym typeface="+mn-ea"/>
              </a:rPr>
              <a:t>。</a:t>
            </a:r>
            <a:r>
              <a:rPr b="1" dirty="0" err="1">
                <a:solidFill>
                  <a:schemeClr val="bg2"/>
                </a:solidFill>
                <a:sym typeface="+mn-ea"/>
              </a:rPr>
              <a:t>通常追踪工作量不超过</a:t>
            </a:r>
            <a:r>
              <a:rPr b="1" dirty="0" err="1" smtClean="0">
                <a:solidFill>
                  <a:schemeClr val="bg2"/>
                </a:solidFill>
                <a:sym typeface="+mn-ea"/>
              </a:rPr>
              <a:t>备忘录</a:t>
            </a:r>
            <a:r>
              <a:rPr b="1" dirty="0" err="1">
                <a:solidFill>
                  <a:schemeClr val="bg2"/>
                </a:solidFill>
                <a:sym typeface="+mn-ea"/>
              </a:rPr>
              <a:t>计算</a:t>
            </a:r>
            <a:r>
              <a:rPr lang="zh-CN" b="1" dirty="0" err="1">
                <a:solidFill>
                  <a:schemeClr val="bg2"/>
                </a:solidFill>
                <a:sym typeface="+mn-ea"/>
              </a:rPr>
              <a:t>的</a:t>
            </a:r>
            <a:r>
              <a:rPr b="1" dirty="0" err="1">
                <a:solidFill>
                  <a:schemeClr val="bg2"/>
                </a:solidFill>
                <a:sym typeface="+mn-ea"/>
              </a:rPr>
              <a:t>工作量</a:t>
            </a:r>
            <a:r>
              <a:rPr b="1" dirty="0">
                <a:solidFill>
                  <a:schemeClr val="bg2"/>
                </a:solidFill>
                <a:sym typeface="+mn-ea"/>
              </a:rPr>
              <a:t> ，</a:t>
            </a:r>
            <a:r>
              <a:rPr b="1" dirty="0" err="1">
                <a:solidFill>
                  <a:schemeClr val="bg2"/>
                </a:solidFill>
                <a:sym typeface="+mn-ea"/>
              </a:rPr>
              <a:t>是问题规模的多项式函数</a:t>
            </a:r>
            <a:r>
              <a:rPr lang="zh-CN" b="1" dirty="0" err="1">
                <a:solidFill>
                  <a:schemeClr val="bg2"/>
                </a:solidFill>
                <a:sym typeface="+mn-ea"/>
              </a:rPr>
              <a:t>。</a:t>
            </a:r>
            <a:endParaRPr lang="zh-CN" b="1" dirty="0" err="1">
              <a:solidFill>
                <a:schemeClr val="bg2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3.2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动态规划算法设计</a:t>
            </a:r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 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4500" y="1646555"/>
            <a:ext cx="8185150" cy="3928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zh-CN" altLang="en-US" b="1" dirty="0">
                <a:solidFill>
                  <a:schemeClr val="bg2"/>
                </a:solidFill>
                <a:sym typeface="+mn-ea"/>
              </a:rPr>
              <a:t>动态规划算法的要素：</a:t>
            </a:r>
            <a:endParaRPr lang="zh-CN" altLang="en-US" b="1" dirty="0">
              <a:solidFill>
                <a:schemeClr val="bg2"/>
              </a:solidFill>
              <a:sym typeface="+mn-ea"/>
            </a:endParaRPr>
          </a:p>
          <a:p>
            <a:pPr marL="800100" lvl="1" indent="-3429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b="1" dirty="0" err="1">
                <a:solidFill>
                  <a:schemeClr val="bg2"/>
                </a:solidFill>
                <a:sym typeface="+mn-ea"/>
              </a:rPr>
              <a:t>划分子问题</a:t>
            </a:r>
            <a:r>
              <a:rPr lang="zh-CN" b="1" dirty="0" err="1">
                <a:solidFill>
                  <a:schemeClr val="bg2"/>
                </a:solidFill>
                <a:sym typeface="+mn-ea"/>
              </a:rPr>
              <a:t>阶段</a:t>
            </a:r>
            <a:r>
              <a:rPr b="1" dirty="0" err="1">
                <a:solidFill>
                  <a:schemeClr val="bg2"/>
                </a:solidFill>
                <a:sym typeface="+mn-ea"/>
              </a:rPr>
              <a:t>，</a:t>
            </a:r>
            <a:r>
              <a:rPr lang="zh-CN" b="1" dirty="0" err="1">
                <a:solidFill>
                  <a:schemeClr val="bg2"/>
                </a:solidFill>
                <a:sym typeface="+mn-ea"/>
              </a:rPr>
              <a:t>确定每个阶段中包含的状态结点。</a:t>
            </a:r>
            <a:endParaRPr lang="zh-CN" b="1" dirty="0" err="1">
              <a:solidFill>
                <a:schemeClr val="bg2"/>
              </a:solidFill>
              <a:sym typeface="+mn-ea"/>
            </a:endParaRPr>
          </a:p>
          <a:p>
            <a:pPr marL="800100" lvl="1" indent="-3429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b="1" dirty="0" err="1">
                <a:solidFill>
                  <a:schemeClr val="bg2"/>
                </a:solidFill>
                <a:sym typeface="+mn-ea"/>
              </a:rPr>
              <a:t>确定子问题边界</a:t>
            </a:r>
            <a:r>
              <a:rPr lang="en-US" b="1" dirty="0" err="1">
                <a:solidFill>
                  <a:schemeClr val="bg2"/>
                </a:solidFill>
                <a:sym typeface="+mn-ea"/>
              </a:rPr>
              <a:t>——</a:t>
            </a:r>
            <a:r>
              <a:rPr lang="zh-CN" altLang="en-US" b="1" dirty="0" err="1">
                <a:solidFill>
                  <a:schemeClr val="bg2"/>
                </a:solidFill>
                <a:sym typeface="+mn-ea"/>
              </a:rPr>
              <a:t>最小规模问题，可直接求解。</a:t>
            </a:r>
            <a:r>
              <a:rPr b="1" dirty="0">
                <a:solidFill>
                  <a:schemeClr val="bg2"/>
                </a:solidFill>
                <a:sym typeface="+mn-ea"/>
              </a:rPr>
              <a:t>  </a:t>
            </a:r>
            <a:endParaRPr b="1" dirty="0">
              <a:solidFill>
                <a:schemeClr val="bg2"/>
              </a:solidFill>
              <a:sym typeface="+mn-ea"/>
            </a:endParaRPr>
          </a:p>
          <a:p>
            <a:pPr marL="800100" lvl="1" indent="-3429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b="1" dirty="0" err="1">
                <a:solidFill>
                  <a:schemeClr val="bg2"/>
                </a:solidFill>
                <a:sym typeface="+mn-ea"/>
              </a:rPr>
              <a:t>列</a:t>
            </a:r>
            <a:r>
              <a:rPr lang="zh-CN" b="1" dirty="0" err="1">
                <a:solidFill>
                  <a:schemeClr val="bg2"/>
                </a:solidFill>
                <a:sym typeface="+mn-ea"/>
              </a:rPr>
              <a:t>出</a:t>
            </a:r>
            <a:r>
              <a:rPr lang="zh-CN" b="1" dirty="0" err="1">
                <a:solidFill>
                  <a:srgbClr val="FF0000"/>
                </a:solidFill>
                <a:sym typeface="+mn-ea"/>
              </a:rPr>
              <a:t>各阶段间</a:t>
            </a:r>
            <a:r>
              <a:rPr b="1" dirty="0" err="1">
                <a:solidFill>
                  <a:srgbClr val="FF0000"/>
                </a:solidFill>
                <a:sym typeface="+mn-ea"/>
              </a:rPr>
              <a:t>的递推方程和边界条件</a:t>
            </a:r>
            <a:endParaRPr b="1" dirty="0" err="1">
              <a:solidFill>
                <a:schemeClr val="bg2"/>
              </a:solidFill>
              <a:sym typeface="+mn-ea"/>
            </a:endParaRPr>
          </a:p>
          <a:p>
            <a:pPr marL="800100" lvl="1" indent="-3429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b="1" dirty="0" err="1">
                <a:solidFill>
                  <a:srgbClr val="FF0000"/>
                </a:solidFill>
                <a:sym typeface="+mn-ea"/>
              </a:rPr>
              <a:t>自底向上</a:t>
            </a:r>
            <a:r>
              <a:rPr b="1" dirty="0" err="1">
                <a:solidFill>
                  <a:schemeClr val="bg2"/>
                </a:solidFill>
                <a:sym typeface="+mn-ea"/>
              </a:rPr>
              <a:t>计算</a:t>
            </a:r>
            <a:r>
              <a:rPr lang="zh-CN" b="1" dirty="0" err="1">
                <a:solidFill>
                  <a:schemeClr val="bg2"/>
                </a:solidFill>
                <a:sym typeface="+mn-ea"/>
              </a:rPr>
              <a:t>每个阶段各结点状态的最优值。</a:t>
            </a:r>
            <a:endParaRPr b="1" dirty="0">
              <a:solidFill>
                <a:schemeClr val="bg2"/>
              </a:solidFill>
              <a:sym typeface="+mn-ea"/>
            </a:endParaRPr>
          </a:p>
          <a:p>
            <a:pPr marL="800100" lvl="1" indent="-3429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b="1" dirty="0" err="1">
                <a:solidFill>
                  <a:schemeClr val="bg2"/>
                </a:solidFill>
                <a:sym typeface="+mn-ea"/>
              </a:rPr>
              <a:t>设计备忘录</a:t>
            </a:r>
            <a:r>
              <a:rPr b="1" dirty="0">
                <a:solidFill>
                  <a:schemeClr val="bg2"/>
                </a:solidFill>
                <a:sym typeface="+mn-ea"/>
              </a:rPr>
              <a:t> (</a:t>
            </a:r>
            <a:r>
              <a:rPr b="1" dirty="0" err="1">
                <a:solidFill>
                  <a:schemeClr val="bg2"/>
                </a:solidFill>
                <a:sym typeface="+mn-ea"/>
              </a:rPr>
              <a:t>表格</a:t>
            </a:r>
            <a:r>
              <a:rPr b="1" dirty="0">
                <a:solidFill>
                  <a:schemeClr val="bg2"/>
                </a:solidFill>
                <a:sym typeface="+mn-ea"/>
              </a:rPr>
              <a:t>)</a:t>
            </a:r>
            <a:r>
              <a:rPr lang="zh-CN" b="1" dirty="0">
                <a:solidFill>
                  <a:schemeClr val="bg2"/>
                </a:solidFill>
                <a:sym typeface="+mn-ea"/>
              </a:rPr>
              <a:t>记录各状态结点的最优值，</a:t>
            </a:r>
            <a:r>
              <a:rPr b="1" dirty="0">
                <a:solidFill>
                  <a:schemeClr val="bg2"/>
                </a:solidFill>
                <a:sym typeface="+mn-ea"/>
              </a:rPr>
              <a:t> </a:t>
            </a:r>
            <a:r>
              <a:rPr b="1" dirty="0" err="1">
                <a:solidFill>
                  <a:schemeClr val="bg2"/>
                </a:solidFill>
                <a:sym typeface="+mn-ea"/>
              </a:rPr>
              <a:t>考虑是否需要设立标记函数</a:t>
            </a:r>
            <a:r>
              <a:rPr lang="zh-CN" b="1" dirty="0">
                <a:solidFill>
                  <a:schemeClr val="bg2"/>
                </a:solidFill>
                <a:sym typeface="+mn-ea"/>
              </a:rPr>
              <a:t>（用于追踪解的数据结构）。</a:t>
            </a:r>
            <a:endParaRPr b="1" dirty="0">
              <a:solidFill>
                <a:schemeClr val="bg2"/>
              </a:solidFill>
              <a:sym typeface="+mn-ea"/>
            </a:endParaRPr>
          </a:p>
          <a:p>
            <a:pPr marL="800100" lvl="1" indent="-3429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b="1" dirty="0" err="1">
                <a:solidFill>
                  <a:schemeClr val="bg2"/>
                </a:solidFill>
                <a:sym typeface="+mn-ea"/>
              </a:rPr>
              <a:t>用递推方程或备忘录估计时间复杂度</a:t>
            </a:r>
            <a:endParaRPr b="1" dirty="0">
              <a:solidFill>
                <a:schemeClr val="bg2"/>
              </a:solidFill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9552" y="1646555"/>
            <a:ext cx="8064896" cy="171739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r>
              <a:rPr lang="zh-CN" altLang="en-US" b="1" dirty="0" smtClean="0">
                <a:solidFill>
                  <a:srgbClr val="FF0000"/>
                </a:solidFill>
              </a:rPr>
              <a:t>投资问题</a:t>
            </a:r>
            <a:r>
              <a:rPr lang="en-US" altLang="zh-CN" dirty="0" smtClean="0">
                <a:solidFill>
                  <a:schemeClr val="bg2"/>
                </a:solidFill>
              </a:rPr>
              <a:t>——</a:t>
            </a:r>
            <a:r>
              <a:rPr lang="zh-CN" altLang="en-US" dirty="0">
                <a:solidFill>
                  <a:schemeClr val="bg2"/>
                </a:solidFill>
              </a:rPr>
              <a:t>资源分配问题：是将数量一定的一种或若干种资源（原材料、资金、设备或劳动力等），合理地分配给若干使用者，使总收益最大。</a:t>
            </a:r>
            <a:endParaRPr lang="zh-CN" altLang="en-US" dirty="0">
              <a:solidFill>
                <a:schemeClr val="bg2"/>
              </a:solidFill>
            </a:endParaRPr>
          </a:p>
          <a:p>
            <a:pPr marL="800100" lvl="1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chemeClr val="bg2"/>
                </a:solidFill>
              </a:rPr>
              <a:t>投资问题的建模 </a:t>
            </a:r>
            <a:endParaRPr b="1" dirty="0">
              <a:solidFill>
                <a:schemeClr val="bg2"/>
              </a:solidFill>
              <a:sym typeface="+mn-ea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3363947"/>
            <a:ext cx="5328592" cy="1221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4725144"/>
            <a:ext cx="5040560" cy="1158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717722"/>
            <a:ext cx="5112568" cy="812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文本框 3"/>
          <p:cNvSpPr txBox="1"/>
          <p:nvPr/>
        </p:nvSpPr>
        <p:spPr>
          <a:xfrm>
            <a:off x="396295" y="2603006"/>
            <a:ext cx="8064896" cy="4985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00100" lvl="1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chemeClr val="bg2"/>
                </a:solidFill>
              </a:rPr>
              <a:t>实例： </a:t>
            </a:r>
            <a:r>
              <a:rPr lang="en-US" altLang="zh-CN" b="1" dirty="0">
                <a:solidFill>
                  <a:schemeClr val="bg2"/>
                </a:solidFill>
              </a:rPr>
              <a:t>5</a:t>
            </a:r>
            <a:r>
              <a:rPr lang="zh-CN" altLang="en-US" dirty="0">
                <a:solidFill>
                  <a:schemeClr val="bg2"/>
                </a:solidFill>
              </a:rPr>
              <a:t>万元钱， </a:t>
            </a:r>
            <a:r>
              <a:rPr lang="en-US" altLang="zh-CN" b="1" dirty="0">
                <a:solidFill>
                  <a:schemeClr val="bg2"/>
                </a:solidFill>
              </a:rPr>
              <a:t>4</a:t>
            </a:r>
            <a:r>
              <a:rPr lang="zh-CN" altLang="en-US" dirty="0">
                <a:solidFill>
                  <a:schemeClr val="bg2"/>
                </a:solidFill>
              </a:rPr>
              <a:t>个</a:t>
            </a:r>
            <a:r>
              <a:rPr lang="zh-CN" altLang="en-US" dirty="0" smtClean="0">
                <a:solidFill>
                  <a:schemeClr val="bg2"/>
                </a:solidFill>
              </a:rPr>
              <a:t>项目，</a:t>
            </a:r>
            <a:r>
              <a:rPr lang="zh-CN" altLang="en-US" dirty="0">
                <a:solidFill>
                  <a:schemeClr val="bg2"/>
                </a:solidFill>
              </a:rPr>
              <a:t>效益函数如下表所</a:t>
            </a:r>
            <a:r>
              <a:rPr lang="zh-CN" altLang="en-US" dirty="0" smtClean="0">
                <a:solidFill>
                  <a:schemeClr val="bg2"/>
                </a:solidFill>
              </a:rPr>
              <a:t>示：</a:t>
            </a:r>
            <a:endParaRPr b="1" dirty="0">
              <a:solidFill>
                <a:schemeClr val="bg2"/>
              </a:solidFill>
              <a:sym typeface="+mn-ea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0393" y="3256720"/>
            <a:ext cx="5339879" cy="2763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7360" y="1609725"/>
            <a:ext cx="171323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>
                <a:solidFill>
                  <a:schemeClr val="bg2"/>
                </a:solidFill>
              </a:rPr>
              <a:t>阶段划分：</a:t>
            </a:r>
            <a:endParaRPr lang="zh-CN" altLang="en-US" b="1">
              <a:solidFill>
                <a:schemeClr val="bg2"/>
              </a:solidFill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726440" y="1989455"/>
            <a:ext cx="1216660" cy="2949915"/>
            <a:chOff x="1144" y="3359"/>
            <a:chExt cx="1916" cy="4049"/>
          </a:xfrm>
        </p:grpSpPr>
        <p:sp>
          <p:nvSpPr>
            <p:cNvPr id="6" name="矩形 5"/>
            <p:cNvSpPr/>
            <p:nvPr/>
          </p:nvSpPr>
          <p:spPr>
            <a:xfrm>
              <a:off x="1364" y="3494"/>
              <a:ext cx="1474" cy="3418"/>
            </a:xfrm>
            <a:prstGeom prst="rect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144" y="6902"/>
              <a:ext cx="1916" cy="5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800" b="1">
                  <a:solidFill>
                    <a:schemeClr val="bg2"/>
                  </a:solidFill>
                </a:rPr>
                <a:t>前</a:t>
              </a:r>
              <a:r>
                <a:rPr lang="en-US" altLang="zh-CN" sz="1800" b="1">
                  <a:solidFill>
                    <a:schemeClr val="bg2"/>
                  </a:solidFill>
                </a:rPr>
                <a:t>1</a:t>
              </a:r>
              <a:r>
                <a:rPr lang="zh-CN" altLang="en-US" sz="1800" b="1">
                  <a:solidFill>
                    <a:schemeClr val="bg2"/>
                  </a:solidFill>
                </a:rPr>
                <a:t>个项目</a:t>
              </a:r>
              <a:endParaRPr lang="zh-CN" altLang="en-US" sz="1800" b="1">
                <a:solidFill>
                  <a:schemeClr val="bg2"/>
                </a:solidFill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438" y="3359"/>
              <a:ext cx="1271" cy="34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</a:rPr>
                <a:t>F</a:t>
              </a:r>
              <a:r>
                <a:rPr lang="en-US" altLang="zh-CN" sz="2200" baseline="-25000">
                  <a:solidFill>
                    <a:schemeClr val="bg1"/>
                  </a:solidFill>
                </a:rPr>
                <a:t>1</a:t>
              </a:r>
              <a:r>
                <a:rPr lang="en-US" altLang="zh-CN" sz="2200">
                  <a:solidFill>
                    <a:schemeClr val="bg1"/>
                  </a:solidFill>
                </a:rPr>
                <a:t>(0)</a:t>
              </a:r>
              <a:endParaRPr lang="en-US" altLang="zh-CN" sz="2200">
                <a:solidFill>
                  <a:schemeClr val="bg1"/>
                </a:solidFill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F</a:t>
              </a:r>
              <a:r>
                <a:rPr lang="en-US" altLang="zh-CN" sz="2200" baseline="-25000">
                  <a:solidFill>
                    <a:schemeClr val="bg1"/>
                  </a:solidFill>
                  <a:sym typeface="+mn-ea"/>
                </a:rPr>
                <a:t>1</a:t>
              </a: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(1)</a:t>
              </a:r>
              <a:endParaRPr lang="en-US" altLang="zh-CN" sz="2200">
                <a:solidFill>
                  <a:schemeClr val="bg1"/>
                </a:solidFill>
                <a:sym typeface="+mn-ea"/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F</a:t>
              </a:r>
              <a:r>
                <a:rPr lang="en-US" altLang="zh-CN" sz="2200" baseline="-25000">
                  <a:solidFill>
                    <a:schemeClr val="bg1"/>
                  </a:solidFill>
                  <a:sym typeface="+mn-ea"/>
                </a:rPr>
                <a:t>1</a:t>
              </a: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(2)</a:t>
              </a:r>
              <a:endParaRPr lang="en-US" altLang="zh-CN" sz="2200">
                <a:solidFill>
                  <a:schemeClr val="bg1"/>
                </a:solidFill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F</a:t>
              </a:r>
              <a:r>
                <a:rPr lang="en-US" altLang="zh-CN" sz="2200" baseline="-25000">
                  <a:solidFill>
                    <a:schemeClr val="bg1"/>
                  </a:solidFill>
                  <a:sym typeface="+mn-ea"/>
                </a:rPr>
                <a:t>1</a:t>
              </a: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(3)</a:t>
              </a:r>
              <a:endParaRPr lang="en-US" altLang="zh-CN" sz="2200">
                <a:solidFill>
                  <a:schemeClr val="bg1"/>
                </a:solidFill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F</a:t>
              </a:r>
              <a:r>
                <a:rPr lang="en-US" altLang="zh-CN" sz="2200" baseline="-25000">
                  <a:solidFill>
                    <a:schemeClr val="bg1"/>
                  </a:solidFill>
                  <a:sym typeface="+mn-ea"/>
                </a:rPr>
                <a:t>1</a:t>
              </a: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(4)</a:t>
              </a:r>
              <a:endParaRPr lang="en-US" altLang="zh-CN" sz="2200">
                <a:solidFill>
                  <a:schemeClr val="bg1"/>
                </a:solidFill>
                <a:sym typeface="+mn-ea"/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F</a:t>
              </a:r>
              <a:r>
                <a:rPr lang="en-US" altLang="zh-CN" sz="2200" baseline="-25000">
                  <a:solidFill>
                    <a:schemeClr val="bg1"/>
                  </a:solidFill>
                  <a:sym typeface="+mn-ea"/>
                </a:rPr>
                <a:t>1</a:t>
              </a: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(5)</a:t>
              </a:r>
              <a:endParaRPr lang="en-US" altLang="zh-CN" sz="2200">
                <a:solidFill>
                  <a:schemeClr val="bg1"/>
                </a:solidFill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2055495" y="1997710"/>
            <a:ext cx="1216660" cy="2932430"/>
            <a:chOff x="3237" y="3372"/>
            <a:chExt cx="1916" cy="4618"/>
          </a:xfrm>
        </p:grpSpPr>
        <p:sp>
          <p:nvSpPr>
            <p:cNvPr id="11" name="矩形 10"/>
            <p:cNvSpPr/>
            <p:nvPr/>
          </p:nvSpPr>
          <p:spPr>
            <a:xfrm>
              <a:off x="3457" y="3507"/>
              <a:ext cx="1436" cy="3917"/>
            </a:xfrm>
            <a:prstGeom prst="rect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237" y="7382"/>
              <a:ext cx="1916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lang="zh-CN" altLang="en-US" sz="1800" b="1">
                  <a:solidFill>
                    <a:schemeClr val="bg2"/>
                  </a:solidFill>
                </a:rPr>
                <a:t>前</a:t>
              </a:r>
              <a:r>
                <a:rPr lang="en-US" altLang="zh-CN" sz="1800" b="1">
                  <a:solidFill>
                    <a:schemeClr val="bg2"/>
                  </a:solidFill>
                </a:rPr>
                <a:t>2</a:t>
              </a:r>
              <a:r>
                <a:rPr lang="zh-CN" altLang="en-US" sz="1800" b="1">
                  <a:solidFill>
                    <a:schemeClr val="bg2"/>
                  </a:solidFill>
                </a:rPr>
                <a:t>个项目</a:t>
              </a:r>
              <a:endParaRPr lang="zh-CN" altLang="en-US" sz="1800" b="1">
                <a:solidFill>
                  <a:schemeClr val="bg2"/>
                </a:solidFill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531" y="3372"/>
              <a:ext cx="1190" cy="46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F</a:t>
              </a:r>
              <a:r>
                <a:rPr lang="en-US" altLang="zh-CN" sz="2200" baseline="-25000">
                  <a:solidFill>
                    <a:schemeClr val="bg1"/>
                  </a:solidFill>
                  <a:sym typeface="+mn-ea"/>
                </a:rPr>
                <a:t>2</a:t>
              </a: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(0)</a:t>
              </a:r>
              <a:endParaRPr lang="en-US" altLang="zh-CN" sz="2200">
                <a:solidFill>
                  <a:schemeClr val="bg1"/>
                </a:solidFill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F</a:t>
              </a:r>
              <a:r>
                <a:rPr lang="en-US" altLang="zh-CN" sz="2200" baseline="-25000">
                  <a:solidFill>
                    <a:schemeClr val="bg1"/>
                  </a:solidFill>
                  <a:sym typeface="+mn-ea"/>
                </a:rPr>
                <a:t>2</a:t>
              </a: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(1)</a:t>
              </a:r>
              <a:endParaRPr lang="en-US" altLang="zh-CN" sz="2200">
                <a:solidFill>
                  <a:schemeClr val="bg1"/>
                </a:solidFill>
                <a:sym typeface="+mn-ea"/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F</a:t>
              </a:r>
              <a:r>
                <a:rPr lang="en-US" altLang="zh-CN" sz="2200" baseline="-25000">
                  <a:solidFill>
                    <a:schemeClr val="bg1"/>
                  </a:solidFill>
                  <a:sym typeface="+mn-ea"/>
                </a:rPr>
                <a:t>2</a:t>
              </a: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(2)</a:t>
              </a:r>
              <a:endParaRPr lang="en-US" altLang="zh-CN" sz="2200">
                <a:solidFill>
                  <a:schemeClr val="bg1"/>
                </a:solidFill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F</a:t>
              </a:r>
              <a:r>
                <a:rPr lang="en-US" altLang="zh-CN" sz="2200" baseline="-25000">
                  <a:solidFill>
                    <a:schemeClr val="bg1"/>
                  </a:solidFill>
                  <a:sym typeface="+mn-ea"/>
                </a:rPr>
                <a:t>2</a:t>
              </a: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(3)</a:t>
              </a:r>
              <a:endParaRPr lang="en-US" altLang="zh-CN" sz="2200">
                <a:solidFill>
                  <a:schemeClr val="bg1"/>
                </a:solidFill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F</a:t>
              </a:r>
              <a:r>
                <a:rPr lang="en-US" altLang="zh-CN" sz="2200" baseline="-25000">
                  <a:solidFill>
                    <a:schemeClr val="bg1"/>
                  </a:solidFill>
                  <a:sym typeface="+mn-ea"/>
                </a:rPr>
                <a:t>2</a:t>
              </a: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(4)</a:t>
              </a:r>
              <a:endParaRPr lang="en-US" altLang="zh-CN" sz="2200">
                <a:solidFill>
                  <a:schemeClr val="bg1"/>
                </a:solidFill>
                <a:sym typeface="+mn-ea"/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F</a:t>
              </a:r>
              <a:r>
                <a:rPr lang="en-US" altLang="zh-CN" sz="2200" baseline="-25000">
                  <a:solidFill>
                    <a:schemeClr val="bg1"/>
                  </a:solidFill>
                  <a:sym typeface="+mn-ea"/>
                </a:rPr>
                <a:t>2</a:t>
              </a: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(5)</a:t>
              </a:r>
              <a:endParaRPr lang="en-US" altLang="zh-CN" sz="2200">
                <a:solidFill>
                  <a:schemeClr val="bg1"/>
                </a:solidFill>
              </a:endParaRPr>
            </a:p>
            <a:p>
              <a:pPr algn="l">
                <a:lnSpc>
                  <a:spcPct val="120000"/>
                </a:lnSpc>
              </a:pPr>
              <a:endParaRPr lang="en-US" altLang="zh-CN" sz="2200">
                <a:solidFill>
                  <a:schemeClr val="bg1"/>
                </a:solidFill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492500" y="1988820"/>
            <a:ext cx="1216660" cy="2960370"/>
            <a:chOff x="5500" y="3358"/>
            <a:chExt cx="1916" cy="4662"/>
          </a:xfrm>
        </p:grpSpPr>
        <p:sp>
          <p:nvSpPr>
            <p:cNvPr id="14" name="矩形 13"/>
            <p:cNvSpPr/>
            <p:nvPr/>
          </p:nvSpPr>
          <p:spPr>
            <a:xfrm>
              <a:off x="5612" y="3520"/>
              <a:ext cx="1652" cy="3920"/>
            </a:xfrm>
            <a:prstGeom prst="rect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500" y="7440"/>
              <a:ext cx="1916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lang="zh-CN" sz="1800" b="1">
                  <a:solidFill>
                    <a:schemeClr val="bg2"/>
                  </a:solidFill>
                </a:rPr>
                <a:t>前</a:t>
              </a:r>
              <a:r>
                <a:rPr lang="en-US" altLang="zh-CN" sz="1800" b="1">
                  <a:solidFill>
                    <a:schemeClr val="bg2"/>
                  </a:solidFill>
                </a:rPr>
                <a:t>3</a:t>
              </a:r>
              <a:r>
                <a:rPr lang="zh-CN" altLang="en-US" sz="1800" b="1">
                  <a:solidFill>
                    <a:schemeClr val="bg2"/>
                  </a:solidFill>
                </a:rPr>
                <a:t>个项目</a:t>
              </a:r>
              <a:endParaRPr lang="zh-CN" altLang="en-US" sz="1800" b="1">
                <a:solidFill>
                  <a:schemeClr val="bg2"/>
                </a:solidFill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5721" y="3358"/>
              <a:ext cx="1190" cy="46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F</a:t>
              </a:r>
              <a:r>
                <a:rPr lang="en-US" altLang="zh-CN" sz="2200" baseline="-25000">
                  <a:solidFill>
                    <a:schemeClr val="bg1"/>
                  </a:solidFill>
                  <a:sym typeface="+mn-ea"/>
                </a:rPr>
                <a:t>3</a:t>
              </a: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(0)</a:t>
              </a:r>
              <a:endParaRPr lang="en-US" altLang="zh-CN" sz="2200">
                <a:solidFill>
                  <a:schemeClr val="bg1"/>
                </a:solidFill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F</a:t>
              </a:r>
              <a:r>
                <a:rPr lang="en-US" altLang="zh-CN" sz="2200" baseline="-25000">
                  <a:solidFill>
                    <a:schemeClr val="bg1"/>
                  </a:solidFill>
                  <a:sym typeface="+mn-ea"/>
                </a:rPr>
                <a:t>3</a:t>
              </a: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(1)</a:t>
              </a:r>
              <a:endParaRPr lang="en-US" altLang="zh-CN" sz="2200">
                <a:solidFill>
                  <a:schemeClr val="bg1"/>
                </a:solidFill>
                <a:sym typeface="+mn-ea"/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F</a:t>
              </a:r>
              <a:r>
                <a:rPr lang="en-US" altLang="zh-CN" sz="2200" baseline="-25000">
                  <a:solidFill>
                    <a:schemeClr val="bg1"/>
                  </a:solidFill>
                  <a:sym typeface="+mn-ea"/>
                </a:rPr>
                <a:t>3</a:t>
              </a: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(2)</a:t>
              </a:r>
              <a:endParaRPr lang="en-US" altLang="zh-CN" sz="2200">
                <a:solidFill>
                  <a:schemeClr val="bg1"/>
                </a:solidFill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F</a:t>
              </a:r>
              <a:r>
                <a:rPr lang="en-US" altLang="zh-CN" sz="2200" baseline="-25000">
                  <a:solidFill>
                    <a:schemeClr val="bg1"/>
                  </a:solidFill>
                  <a:sym typeface="+mn-ea"/>
                </a:rPr>
                <a:t>3</a:t>
              </a: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(3)</a:t>
              </a:r>
              <a:endParaRPr lang="en-US" altLang="zh-CN" sz="2200">
                <a:solidFill>
                  <a:schemeClr val="bg1"/>
                </a:solidFill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F</a:t>
              </a:r>
              <a:r>
                <a:rPr lang="en-US" altLang="zh-CN" sz="2200" baseline="-25000">
                  <a:solidFill>
                    <a:schemeClr val="bg1"/>
                  </a:solidFill>
                  <a:sym typeface="+mn-ea"/>
                </a:rPr>
                <a:t>3</a:t>
              </a: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(4)</a:t>
              </a:r>
              <a:endParaRPr lang="en-US" altLang="zh-CN" sz="2200">
                <a:solidFill>
                  <a:schemeClr val="bg1"/>
                </a:solidFill>
                <a:sym typeface="+mn-ea"/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F</a:t>
              </a:r>
              <a:r>
                <a:rPr lang="en-US" altLang="zh-CN" sz="2200" baseline="-25000">
                  <a:solidFill>
                    <a:schemeClr val="bg1"/>
                  </a:solidFill>
                  <a:sym typeface="+mn-ea"/>
                </a:rPr>
                <a:t>3</a:t>
              </a: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(5)</a:t>
              </a:r>
              <a:endParaRPr lang="en-US" altLang="zh-CN" sz="2200">
                <a:solidFill>
                  <a:schemeClr val="bg1"/>
                </a:solidFill>
              </a:endParaRPr>
            </a:p>
            <a:p>
              <a:pPr algn="l">
                <a:lnSpc>
                  <a:spcPct val="120000"/>
                </a:lnSpc>
              </a:pPr>
              <a:endParaRPr lang="en-US" altLang="zh-CN" sz="2200">
                <a:solidFill>
                  <a:schemeClr val="bg1"/>
                </a:solidFill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5032375" y="1991360"/>
            <a:ext cx="1216660" cy="2932430"/>
            <a:chOff x="7925" y="3362"/>
            <a:chExt cx="1916" cy="4618"/>
          </a:xfrm>
        </p:grpSpPr>
        <p:sp>
          <p:nvSpPr>
            <p:cNvPr id="17" name="矩形 16"/>
            <p:cNvSpPr/>
            <p:nvPr/>
          </p:nvSpPr>
          <p:spPr>
            <a:xfrm>
              <a:off x="7993" y="3494"/>
              <a:ext cx="1490" cy="3929"/>
            </a:xfrm>
            <a:prstGeom prst="rect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7925" y="7382"/>
              <a:ext cx="1916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lang="zh-CN" altLang="en-US" sz="1800" b="1">
                  <a:solidFill>
                    <a:schemeClr val="bg2"/>
                  </a:solidFill>
                </a:rPr>
                <a:t>前</a:t>
              </a:r>
              <a:r>
                <a:rPr lang="en-US" altLang="zh-CN" sz="1800" b="1">
                  <a:solidFill>
                    <a:schemeClr val="bg2"/>
                  </a:solidFill>
                </a:rPr>
                <a:t>4</a:t>
              </a:r>
              <a:r>
                <a:rPr lang="zh-CN" altLang="en-US" sz="1800" b="1">
                  <a:solidFill>
                    <a:schemeClr val="bg2"/>
                  </a:solidFill>
                </a:rPr>
                <a:t>个项目</a:t>
              </a:r>
              <a:endParaRPr lang="zh-CN" altLang="en-US" sz="1800" b="1">
                <a:solidFill>
                  <a:schemeClr val="bg2"/>
                </a:solidFill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8082" y="3362"/>
              <a:ext cx="1190" cy="46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F</a:t>
              </a:r>
              <a:r>
                <a:rPr lang="en-US" altLang="zh-CN" sz="2200" baseline="-25000">
                  <a:solidFill>
                    <a:schemeClr val="bg1"/>
                  </a:solidFill>
                  <a:sym typeface="+mn-ea"/>
                </a:rPr>
                <a:t>4</a:t>
              </a: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(0)</a:t>
              </a:r>
              <a:endParaRPr lang="en-US" altLang="zh-CN" sz="2200">
                <a:solidFill>
                  <a:schemeClr val="bg1"/>
                </a:solidFill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F</a:t>
              </a:r>
              <a:r>
                <a:rPr lang="en-US" altLang="zh-CN" sz="2200" baseline="-25000">
                  <a:solidFill>
                    <a:schemeClr val="bg1"/>
                  </a:solidFill>
                  <a:sym typeface="+mn-ea"/>
                </a:rPr>
                <a:t>4</a:t>
              </a: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(1)</a:t>
              </a:r>
              <a:endParaRPr lang="en-US" altLang="zh-CN" sz="2200">
                <a:solidFill>
                  <a:schemeClr val="bg1"/>
                </a:solidFill>
                <a:sym typeface="+mn-ea"/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F</a:t>
              </a:r>
              <a:r>
                <a:rPr lang="en-US" altLang="zh-CN" sz="2200" baseline="-25000">
                  <a:solidFill>
                    <a:schemeClr val="bg1"/>
                  </a:solidFill>
                  <a:sym typeface="+mn-ea"/>
                </a:rPr>
                <a:t>4</a:t>
              </a: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(2)</a:t>
              </a:r>
              <a:endParaRPr lang="en-US" altLang="zh-CN" sz="2200">
                <a:solidFill>
                  <a:schemeClr val="bg1"/>
                </a:solidFill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F</a:t>
              </a:r>
              <a:r>
                <a:rPr lang="en-US" altLang="zh-CN" sz="2200" baseline="-25000">
                  <a:solidFill>
                    <a:schemeClr val="bg1"/>
                  </a:solidFill>
                  <a:sym typeface="+mn-ea"/>
                </a:rPr>
                <a:t>4</a:t>
              </a: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(3)</a:t>
              </a:r>
              <a:endParaRPr lang="en-US" altLang="zh-CN" sz="2200">
                <a:solidFill>
                  <a:schemeClr val="bg1"/>
                </a:solidFill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F</a:t>
              </a:r>
              <a:r>
                <a:rPr lang="en-US" altLang="zh-CN" sz="2200" baseline="-25000">
                  <a:solidFill>
                    <a:schemeClr val="bg1"/>
                  </a:solidFill>
                  <a:sym typeface="+mn-ea"/>
                </a:rPr>
                <a:t>4</a:t>
              </a: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(4)</a:t>
              </a:r>
              <a:endParaRPr lang="en-US" altLang="zh-CN" sz="2200">
                <a:solidFill>
                  <a:schemeClr val="bg1"/>
                </a:solidFill>
                <a:sym typeface="+mn-ea"/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F</a:t>
              </a:r>
              <a:r>
                <a:rPr lang="en-US" altLang="zh-CN" sz="2200" baseline="-25000">
                  <a:solidFill>
                    <a:schemeClr val="bg1"/>
                  </a:solidFill>
                  <a:sym typeface="+mn-ea"/>
                </a:rPr>
                <a:t>4</a:t>
              </a: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(5)</a:t>
              </a:r>
              <a:endParaRPr lang="en-US" altLang="zh-CN" sz="2200">
                <a:solidFill>
                  <a:schemeClr val="bg1"/>
                </a:solidFill>
              </a:endParaRPr>
            </a:p>
            <a:p>
              <a:pPr algn="l">
                <a:lnSpc>
                  <a:spcPct val="120000"/>
                </a:lnSpc>
              </a:pPr>
              <a:endParaRPr lang="en-US" altLang="zh-CN" sz="2200">
                <a:solidFill>
                  <a:schemeClr val="bg1"/>
                </a:solidFill>
              </a:endParaRPr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683895" y="5372735"/>
            <a:ext cx="13004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200">
                <a:solidFill>
                  <a:schemeClr val="bg1"/>
                </a:solidFill>
              </a:rPr>
              <a:t>状态结点</a:t>
            </a:r>
            <a:endParaRPr lang="zh-CN" altLang="en-US" sz="2200">
              <a:solidFill>
                <a:schemeClr val="bg1"/>
              </a:solidFill>
            </a:endParaRPr>
          </a:p>
          <a:p>
            <a:pPr algn="ctr"/>
            <a:r>
              <a:rPr lang="en-US" altLang="zh-CN" sz="2200">
                <a:solidFill>
                  <a:srgbClr val="FF0000"/>
                </a:solidFill>
                <a:sym typeface="+mn-ea"/>
              </a:rPr>
              <a:t>F</a:t>
            </a:r>
            <a:r>
              <a:rPr lang="en-US" altLang="zh-CN" sz="2200" baseline="-25000">
                <a:solidFill>
                  <a:srgbClr val="FF0000"/>
                </a:solidFill>
                <a:sym typeface="+mn-ea"/>
              </a:rPr>
              <a:t>3</a:t>
            </a:r>
            <a:r>
              <a:rPr lang="en-US" altLang="zh-CN" sz="2200">
                <a:solidFill>
                  <a:srgbClr val="FF0000"/>
                </a:solidFill>
                <a:sym typeface="+mn-ea"/>
              </a:rPr>
              <a:t>(4)</a:t>
            </a:r>
            <a:endParaRPr lang="en-US" altLang="zh-CN" sz="2200">
              <a:solidFill>
                <a:srgbClr val="FF0000"/>
              </a:solidFill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836420" y="5417185"/>
            <a:ext cx="695325" cy="42989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2200" b="1">
                <a:solidFill>
                  <a:srgbClr val="FF0000"/>
                </a:solidFill>
              </a:rPr>
              <a:t>max</a:t>
            </a:r>
            <a:endParaRPr lang="en-US" sz="2200" b="1">
              <a:solidFill>
                <a:srgbClr val="FF0000"/>
              </a:solidFill>
            </a:endParaRPr>
          </a:p>
        </p:txBody>
      </p:sp>
      <p:sp>
        <p:nvSpPr>
          <p:cNvPr id="30" name="左大括号 29"/>
          <p:cNvSpPr/>
          <p:nvPr/>
        </p:nvSpPr>
        <p:spPr>
          <a:xfrm>
            <a:off x="2484120" y="5012690"/>
            <a:ext cx="333375" cy="1296035"/>
          </a:xfrm>
          <a:prstGeom prst="leftBrace">
            <a:avLst/>
          </a:prstGeom>
          <a:solidFill>
            <a:schemeClr val="tx1"/>
          </a:solidFill>
          <a:ln w="12700" cap="sq" cmpd="sng" algn="ctr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780665" y="4808220"/>
            <a:ext cx="3484880" cy="178371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>
                <a:solidFill>
                  <a:srgbClr val="7030A0"/>
                </a:solidFill>
                <a:sym typeface="+mn-ea"/>
              </a:rPr>
              <a:t>前</a:t>
            </a:r>
            <a:r>
              <a:rPr lang="en-US" altLang="zh-CN" sz="2000">
                <a:solidFill>
                  <a:srgbClr val="7030A0"/>
                </a:solidFill>
                <a:sym typeface="+mn-ea"/>
              </a:rPr>
              <a:t>2</a:t>
            </a:r>
            <a:r>
              <a:rPr lang="zh-CN" altLang="en-US" sz="2000">
                <a:solidFill>
                  <a:srgbClr val="7030A0"/>
                </a:solidFill>
                <a:sym typeface="+mn-ea"/>
              </a:rPr>
              <a:t>个项目</a:t>
            </a:r>
            <a:r>
              <a:rPr lang="zh-CN" altLang="en-US" sz="2000">
                <a:solidFill>
                  <a:srgbClr val="FF0000"/>
                </a:solidFill>
                <a:sym typeface="+mn-ea"/>
              </a:rPr>
              <a:t>投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0</a:t>
            </a:r>
            <a:r>
              <a:rPr lang="zh-CN" altLang="en-US" sz="2000">
                <a:solidFill>
                  <a:srgbClr val="FF0000"/>
                </a:solidFill>
                <a:sym typeface="+mn-ea"/>
              </a:rPr>
              <a:t>，</a:t>
            </a:r>
            <a:r>
              <a:rPr lang="zh-CN" altLang="en-US" sz="2000">
                <a:solidFill>
                  <a:srgbClr val="00B050"/>
                </a:solidFill>
                <a:sym typeface="+mn-ea"/>
              </a:rPr>
              <a:t>第</a:t>
            </a:r>
            <a:r>
              <a:rPr lang="en-US" altLang="zh-CN" sz="2000">
                <a:solidFill>
                  <a:srgbClr val="00B050"/>
                </a:solidFill>
                <a:sym typeface="+mn-ea"/>
              </a:rPr>
              <a:t>3</a:t>
            </a:r>
            <a:r>
              <a:rPr lang="zh-CN" altLang="en-US" sz="2000">
                <a:solidFill>
                  <a:srgbClr val="00B050"/>
                </a:solidFill>
                <a:sym typeface="+mn-ea"/>
              </a:rPr>
              <a:t>个项目</a:t>
            </a:r>
            <a:r>
              <a:rPr lang="zh-CN" altLang="en-US" sz="2000">
                <a:solidFill>
                  <a:srgbClr val="FF0000"/>
                </a:solidFill>
                <a:sym typeface="+mn-ea"/>
              </a:rPr>
              <a:t>投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4</a:t>
            </a:r>
            <a:endParaRPr lang="en-US" altLang="zh-CN" sz="2000">
              <a:solidFill>
                <a:srgbClr val="FF0000"/>
              </a:solidFill>
              <a:sym typeface="+mn-ea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>
                <a:solidFill>
                  <a:srgbClr val="7030A0"/>
                </a:solidFill>
                <a:sym typeface="+mn-ea"/>
              </a:rPr>
              <a:t>前2个项目</a:t>
            </a:r>
            <a:r>
              <a:rPr lang="zh-CN" altLang="en-US" sz="2000">
                <a:solidFill>
                  <a:srgbClr val="FF0000"/>
                </a:solidFill>
                <a:sym typeface="+mn-ea"/>
              </a:rPr>
              <a:t>投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 sz="2000">
                <a:solidFill>
                  <a:srgbClr val="FF0000"/>
                </a:solidFill>
                <a:sym typeface="+mn-ea"/>
              </a:rPr>
              <a:t>，</a:t>
            </a:r>
            <a:r>
              <a:rPr lang="zh-CN" altLang="en-US" sz="2000">
                <a:solidFill>
                  <a:srgbClr val="00B050"/>
                </a:solidFill>
                <a:sym typeface="+mn-ea"/>
              </a:rPr>
              <a:t>第3个项目</a:t>
            </a:r>
            <a:r>
              <a:rPr lang="zh-CN" altLang="en-US" sz="2000">
                <a:solidFill>
                  <a:srgbClr val="FF0000"/>
                </a:solidFill>
                <a:sym typeface="+mn-ea"/>
              </a:rPr>
              <a:t>投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3</a:t>
            </a:r>
            <a:endParaRPr lang="en-US" altLang="zh-CN" sz="2000">
              <a:solidFill>
                <a:srgbClr val="FF0000"/>
              </a:solidFill>
              <a:sym typeface="+mn-ea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>
                <a:solidFill>
                  <a:srgbClr val="7030A0"/>
                </a:solidFill>
                <a:sym typeface="+mn-ea"/>
              </a:rPr>
              <a:t>前2个项目</a:t>
            </a:r>
            <a:r>
              <a:rPr lang="zh-CN" altLang="en-US" sz="2000">
                <a:solidFill>
                  <a:srgbClr val="FF0000"/>
                </a:solidFill>
                <a:sym typeface="+mn-ea"/>
              </a:rPr>
              <a:t>投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2</a:t>
            </a:r>
            <a:r>
              <a:rPr lang="zh-CN" altLang="en-US" sz="2000">
                <a:solidFill>
                  <a:srgbClr val="FF0000"/>
                </a:solidFill>
                <a:sym typeface="+mn-ea"/>
              </a:rPr>
              <a:t>，</a:t>
            </a:r>
            <a:r>
              <a:rPr lang="zh-CN" altLang="en-US" sz="2000">
                <a:solidFill>
                  <a:srgbClr val="00B050"/>
                </a:solidFill>
                <a:sym typeface="+mn-ea"/>
              </a:rPr>
              <a:t>第3个项目</a:t>
            </a:r>
            <a:r>
              <a:rPr lang="zh-CN" altLang="en-US" sz="2000">
                <a:solidFill>
                  <a:srgbClr val="FF0000"/>
                </a:solidFill>
                <a:sym typeface="+mn-ea"/>
              </a:rPr>
              <a:t>投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2</a:t>
            </a:r>
            <a:endParaRPr lang="en-US" altLang="zh-CN" sz="2000">
              <a:solidFill>
                <a:srgbClr val="FF0000"/>
              </a:solidFill>
              <a:sym typeface="+mn-ea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>
                <a:solidFill>
                  <a:srgbClr val="7030A0"/>
                </a:solidFill>
                <a:sym typeface="+mn-ea"/>
              </a:rPr>
              <a:t>前2个项目</a:t>
            </a:r>
            <a:r>
              <a:rPr lang="zh-CN" altLang="en-US" sz="2000">
                <a:solidFill>
                  <a:srgbClr val="FF0000"/>
                </a:solidFill>
                <a:sym typeface="+mn-ea"/>
              </a:rPr>
              <a:t>投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3</a:t>
            </a:r>
            <a:r>
              <a:rPr lang="zh-CN" altLang="en-US" sz="2000">
                <a:solidFill>
                  <a:srgbClr val="FF0000"/>
                </a:solidFill>
                <a:sym typeface="+mn-ea"/>
              </a:rPr>
              <a:t>，</a:t>
            </a:r>
            <a:r>
              <a:rPr lang="zh-CN" altLang="en-US" sz="2000">
                <a:solidFill>
                  <a:srgbClr val="00B050"/>
                </a:solidFill>
                <a:sym typeface="+mn-ea"/>
              </a:rPr>
              <a:t>第3个项目</a:t>
            </a:r>
            <a:r>
              <a:rPr lang="zh-CN" altLang="en-US" sz="2000">
                <a:solidFill>
                  <a:srgbClr val="FF0000"/>
                </a:solidFill>
                <a:sym typeface="+mn-ea"/>
              </a:rPr>
              <a:t>投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1</a:t>
            </a:r>
            <a:endParaRPr lang="en-US" altLang="zh-CN" sz="2000">
              <a:solidFill>
                <a:srgbClr val="FF0000"/>
              </a:solidFill>
              <a:sym typeface="+mn-ea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>
                <a:solidFill>
                  <a:srgbClr val="7030A0"/>
                </a:solidFill>
                <a:sym typeface="+mn-ea"/>
              </a:rPr>
              <a:t>前2个项目</a:t>
            </a:r>
            <a:r>
              <a:rPr lang="zh-CN" altLang="en-US" sz="2000">
                <a:solidFill>
                  <a:srgbClr val="FF0000"/>
                </a:solidFill>
                <a:sym typeface="+mn-ea"/>
              </a:rPr>
              <a:t>投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4</a:t>
            </a:r>
            <a:r>
              <a:rPr lang="zh-CN" altLang="en-US" sz="2000">
                <a:solidFill>
                  <a:srgbClr val="FF0000"/>
                </a:solidFill>
                <a:sym typeface="+mn-ea"/>
              </a:rPr>
              <a:t>，</a:t>
            </a:r>
            <a:r>
              <a:rPr lang="zh-CN" altLang="en-US" sz="2000">
                <a:solidFill>
                  <a:srgbClr val="00B050"/>
                </a:solidFill>
                <a:sym typeface="+mn-ea"/>
              </a:rPr>
              <a:t>第3个项目</a:t>
            </a:r>
            <a:r>
              <a:rPr lang="zh-CN" altLang="en-US" sz="2000">
                <a:solidFill>
                  <a:srgbClr val="FF0000"/>
                </a:solidFill>
                <a:sym typeface="+mn-ea"/>
              </a:rPr>
              <a:t>投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0</a:t>
            </a:r>
            <a:endParaRPr lang="en-US" altLang="zh-CN" sz="2000">
              <a:solidFill>
                <a:srgbClr val="FF0000"/>
              </a:solidFill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211570" y="4752340"/>
            <a:ext cx="1438275" cy="46037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p>
            <a:pPr algn="l">
              <a:lnSpc>
                <a:spcPct val="120000"/>
              </a:lnSpc>
            </a:pPr>
            <a:r>
              <a:rPr lang="en-US" altLang="zh-CN" sz="200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=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F</a:t>
            </a:r>
            <a:r>
              <a:rPr lang="en-US" altLang="zh-CN" sz="2000" baseline="-25000">
                <a:solidFill>
                  <a:srgbClr val="FF0000"/>
                </a:solidFill>
                <a:sym typeface="+mn-ea"/>
              </a:rPr>
              <a:t>2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(0)+</a:t>
            </a:r>
            <a:r>
              <a:rPr lang="en-US" altLang="zh-CN" sz="2000" i="1">
                <a:solidFill>
                  <a:srgbClr val="FF0000"/>
                </a:solidFill>
                <a:sym typeface="+mn-ea"/>
              </a:rPr>
              <a:t>f</a:t>
            </a:r>
            <a:r>
              <a:rPr lang="en-US" altLang="zh-CN" sz="2000" baseline="-25000">
                <a:solidFill>
                  <a:srgbClr val="FF0000"/>
                </a:solidFill>
                <a:sym typeface="+mn-ea"/>
              </a:rPr>
              <a:t>3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(4)</a:t>
            </a:r>
            <a:endParaRPr lang="en-US" altLang="zh-CN" sz="2000" baseline="-25000">
              <a:solidFill>
                <a:schemeClr val="bg1"/>
              </a:solidFill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95605" y="2689225"/>
            <a:ext cx="43370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200">
                <a:solidFill>
                  <a:schemeClr val="bg1"/>
                </a:solidFill>
              </a:rPr>
              <a:t>阶段</a:t>
            </a:r>
            <a:endParaRPr lang="zh-CN" altLang="en-US" sz="2200">
              <a:solidFill>
                <a:schemeClr val="bg1"/>
              </a:solidFill>
            </a:endParaRPr>
          </a:p>
          <a:p>
            <a:pPr algn="ctr"/>
            <a:r>
              <a:rPr lang="en-US" altLang="zh-CN" sz="2200" i="1">
                <a:solidFill>
                  <a:schemeClr val="bg1"/>
                </a:solidFill>
              </a:rPr>
              <a:t>k</a:t>
            </a:r>
            <a:endParaRPr lang="en-US" altLang="zh-CN" sz="2200" i="1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259830" y="2060575"/>
            <a:ext cx="255270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chemeClr val="bg1"/>
                </a:solidFill>
                <a:sym typeface="+mn-ea"/>
              </a:rPr>
              <a:t>状态结点</a:t>
            </a:r>
            <a:endParaRPr lang="zh-CN" altLang="en-US">
              <a:solidFill>
                <a:schemeClr val="bg1"/>
              </a:solidFill>
              <a:sym typeface="+mn-ea"/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F</a:t>
            </a:r>
            <a:r>
              <a:rPr lang="en-US" altLang="zh-CN" i="1" baseline="-25000">
                <a:solidFill>
                  <a:schemeClr val="bg1"/>
                </a:solidFill>
                <a:sym typeface="+mn-ea"/>
              </a:rPr>
              <a:t>k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(</a:t>
            </a:r>
            <a:r>
              <a:rPr lang="en-US" altLang="zh-CN" i="1">
                <a:solidFill>
                  <a:schemeClr val="bg1"/>
                </a:solidFill>
                <a:sym typeface="+mn-ea"/>
              </a:rPr>
              <a:t>j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)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：给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前</a:t>
            </a:r>
            <a:r>
              <a:rPr lang="en-US" altLang="zh-CN" b="1" i="1">
                <a:solidFill>
                  <a:srgbClr val="FF0000"/>
                </a:solidFill>
                <a:sym typeface="+mn-ea"/>
              </a:rPr>
              <a:t>k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个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项目投资</a:t>
            </a:r>
            <a:r>
              <a:rPr lang="en-US" altLang="zh-CN" i="1">
                <a:solidFill>
                  <a:schemeClr val="bg1"/>
                </a:solidFill>
                <a:sym typeface="+mn-ea"/>
              </a:rPr>
              <a:t>j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时的最大收益。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6193790" y="5469890"/>
            <a:ext cx="1438275" cy="110680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=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F</a:t>
            </a:r>
            <a:r>
              <a:rPr lang="en-US" altLang="zh-CN" sz="2000" baseline="-25000">
                <a:solidFill>
                  <a:srgbClr val="FF0000"/>
                </a:solidFill>
                <a:sym typeface="+mn-ea"/>
              </a:rPr>
              <a:t>2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(2)+</a:t>
            </a:r>
            <a:r>
              <a:rPr lang="en-US" altLang="zh-CN" sz="2000" i="1">
                <a:solidFill>
                  <a:srgbClr val="FF0000"/>
                </a:solidFill>
                <a:sym typeface="+mn-ea"/>
              </a:rPr>
              <a:t>f</a:t>
            </a:r>
            <a:r>
              <a:rPr lang="en-US" altLang="zh-CN" sz="2000" baseline="-25000">
                <a:solidFill>
                  <a:srgbClr val="FF0000"/>
                </a:solidFill>
                <a:sym typeface="+mn-ea"/>
              </a:rPr>
              <a:t>3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(2)</a:t>
            </a:r>
            <a:endParaRPr lang="en-US" altLang="zh-CN" sz="2000">
              <a:solidFill>
                <a:srgbClr val="FF0000"/>
              </a:solidFill>
              <a:sym typeface="+mn-ea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=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F</a:t>
            </a:r>
            <a:r>
              <a:rPr lang="en-US" altLang="zh-CN" sz="2000" baseline="-25000">
                <a:solidFill>
                  <a:srgbClr val="FF0000"/>
                </a:solidFill>
                <a:sym typeface="+mn-ea"/>
              </a:rPr>
              <a:t>2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(3)+</a:t>
            </a:r>
            <a:r>
              <a:rPr lang="en-US" altLang="zh-CN" sz="2000" i="1">
                <a:solidFill>
                  <a:srgbClr val="FF0000"/>
                </a:solidFill>
                <a:sym typeface="+mn-ea"/>
              </a:rPr>
              <a:t>f</a:t>
            </a:r>
            <a:r>
              <a:rPr lang="en-US" altLang="zh-CN" sz="2000" baseline="-25000">
                <a:solidFill>
                  <a:srgbClr val="FF0000"/>
                </a:solidFill>
                <a:sym typeface="+mn-ea"/>
              </a:rPr>
              <a:t>3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(1)</a:t>
            </a:r>
            <a:endParaRPr lang="en-US" altLang="zh-CN" sz="2000">
              <a:solidFill>
                <a:srgbClr val="FF0000"/>
              </a:solidFill>
              <a:sym typeface="+mn-ea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=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F</a:t>
            </a:r>
            <a:r>
              <a:rPr lang="en-US" altLang="zh-CN" sz="2000" baseline="-25000">
                <a:solidFill>
                  <a:srgbClr val="FF0000"/>
                </a:solidFill>
                <a:sym typeface="+mn-ea"/>
              </a:rPr>
              <a:t>2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(4)+</a:t>
            </a:r>
            <a:r>
              <a:rPr lang="en-US" altLang="zh-CN" sz="2000" i="1">
                <a:solidFill>
                  <a:srgbClr val="FF0000"/>
                </a:solidFill>
                <a:sym typeface="+mn-ea"/>
              </a:rPr>
              <a:t>f</a:t>
            </a:r>
            <a:r>
              <a:rPr lang="en-US" altLang="zh-CN" sz="2000" baseline="-25000">
                <a:solidFill>
                  <a:srgbClr val="FF0000"/>
                </a:solidFill>
                <a:sym typeface="+mn-ea"/>
              </a:rPr>
              <a:t>3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(0)</a:t>
            </a:r>
            <a:endParaRPr lang="en-US" altLang="zh-CN" sz="2000" baseline="-25000">
              <a:solidFill>
                <a:schemeClr val="bg1"/>
              </a:solidFill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83630" y="5093970"/>
            <a:ext cx="1438275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txBody>
          <a:bodyPr wrap="none" rtlCol="0">
            <a:spAutoFit/>
          </a:bodyPr>
          <a:p>
            <a:pPr algn="l">
              <a:lnSpc>
                <a:spcPct val="120000"/>
              </a:lnSpc>
            </a:pPr>
            <a:r>
              <a:rPr lang="en-US" altLang="zh-CN" sz="200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=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F</a:t>
            </a:r>
            <a:r>
              <a:rPr lang="en-US" altLang="zh-CN" sz="2000" baseline="-25000">
                <a:solidFill>
                  <a:srgbClr val="FF0000"/>
                </a:solidFill>
                <a:sym typeface="+mn-ea"/>
              </a:rPr>
              <a:t>2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(1)+</a:t>
            </a:r>
            <a:r>
              <a:rPr lang="en-US" altLang="zh-CN" sz="2000" i="1">
                <a:solidFill>
                  <a:srgbClr val="FF0000"/>
                </a:solidFill>
                <a:sym typeface="+mn-ea"/>
              </a:rPr>
              <a:t>f</a:t>
            </a:r>
            <a:r>
              <a:rPr lang="en-US" altLang="zh-CN" sz="2000" baseline="-25000">
                <a:solidFill>
                  <a:srgbClr val="FF0000"/>
                </a:solidFill>
                <a:sym typeface="+mn-ea"/>
              </a:rPr>
              <a:t>3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(3)</a:t>
            </a:r>
            <a:endParaRPr lang="en-US" altLang="zh-CN" sz="2000" baseline="-25000">
              <a:solidFill>
                <a:schemeClr val="bg1"/>
              </a:solidFill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5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7" grpId="1"/>
      <p:bldP spid="28" grpId="0"/>
      <p:bldP spid="28" grpId="1"/>
      <p:bldP spid="30" grpId="0" bldLvl="0" animBg="1"/>
      <p:bldP spid="30" grpId="1" animBg="1"/>
      <p:bldP spid="31" grpId="0" build="p"/>
      <p:bldP spid="34" grpId="0" bldLvl="0" animBg="1"/>
      <p:bldP spid="10" grpId="0" bldLvl="0" animBg="1"/>
      <p:bldP spid="38" grpId="0" animBg="1" uiExpand="1" build="p"/>
      <p:bldP spid="29" grpId="0"/>
      <p:bldP spid="8" grpId="0"/>
      <p:bldP spid="8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7" name="文本框 3"/>
          <p:cNvSpPr txBox="1"/>
          <p:nvPr/>
        </p:nvSpPr>
        <p:spPr>
          <a:xfrm>
            <a:off x="323528" y="1628800"/>
            <a:ext cx="8424936" cy="4078605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chemeClr val="bg2"/>
                </a:solidFill>
              </a:rPr>
              <a:t>实例分析</a:t>
            </a:r>
            <a:r>
              <a:rPr lang="en-US" altLang="zh-CN" dirty="0" smtClean="0">
                <a:solidFill>
                  <a:schemeClr val="bg2"/>
                </a:solidFill>
              </a:rPr>
              <a:t>——</a:t>
            </a:r>
            <a:r>
              <a:rPr lang="zh-CN" altLang="en-US" dirty="0" smtClean="0">
                <a:solidFill>
                  <a:schemeClr val="bg2"/>
                </a:solidFill>
              </a:rPr>
              <a:t>分阶段决策</a:t>
            </a:r>
            <a:endParaRPr lang="en-US" altLang="zh-CN" dirty="0">
              <a:solidFill>
                <a:schemeClr val="bg2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chemeClr val="bg2"/>
                </a:solidFill>
                <a:sym typeface="+mn-ea"/>
              </a:rPr>
              <a:t>（</a:t>
            </a:r>
            <a:r>
              <a:rPr lang="en-US" b="1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b="1" dirty="0" smtClean="0">
                <a:solidFill>
                  <a:schemeClr val="bg2"/>
                </a:solidFill>
                <a:sym typeface="+mn-ea"/>
              </a:rPr>
              <a:t>）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第</a:t>
            </a:r>
            <a:r>
              <a:rPr lang="en-US" altLang="zh-CN" b="1" dirty="0" smtClean="0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阶段：分别计算将</a:t>
            </a:r>
            <a:r>
              <a:rPr lang="en-US" altLang="zh-CN" i="1" dirty="0" smtClean="0">
                <a:solidFill>
                  <a:schemeClr val="bg2"/>
                </a:solidFill>
                <a:sym typeface="+mn-ea"/>
              </a:rPr>
              <a:t>x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(0</a:t>
            </a:r>
            <a:r>
              <a:rPr lang="en-US" altLang="zh-CN" dirty="0" smtClean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≤</a:t>
            </a:r>
            <a:r>
              <a:rPr lang="en-US" altLang="zh-CN" i="1" dirty="0">
                <a:solidFill>
                  <a:schemeClr val="bg2"/>
                </a:solidFill>
                <a:sym typeface="+mn-ea"/>
              </a:rPr>
              <a:t>x</a:t>
            </a:r>
            <a:r>
              <a:rPr lang="en-US" altLang="zh-CN" dirty="0" smtClean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≤5)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万元分配给</a:t>
            </a:r>
            <a:r>
              <a:rPr lang="zh-CN" altLang="en-US" b="1" dirty="0" smtClean="0">
                <a:solidFill>
                  <a:srgbClr val="FF0000"/>
                </a:solidFill>
                <a:sym typeface="+mn-ea"/>
              </a:rPr>
              <a:t>前</a:t>
            </a:r>
            <a:r>
              <a:rPr lang="en-US" altLang="zh-CN" b="1" dirty="0" smtClean="0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个项目的最大收益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528955" lvl="1" indent="-2730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分配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0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万元给前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个项目的最大收益为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0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，即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(0)=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(0)=0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528955" lvl="1" indent="-2730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分配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元给前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个项目的最大收益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为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11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，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即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(1)=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(1)=11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528955" lvl="1" indent="-2730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分配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元给前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个项目的最大收益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为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12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，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即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(2)=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(2)=12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528955" lvl="1" indent="-2730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分配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元给前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个项目的最大收益为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13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，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即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(3)=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(3)=13</a:t>
            </a:r>
            <a:endParaRPr lang="en-US" altLang="zh-CN" dirty="0">
              <a:solidFill>
                <a:schemeClr val="bg2"/>
              </a:solidFill>
              <a:sym typeface="+mn-ea"/>
            </a:endParaRPr>
          </a:p>
          <a:p>
            <a:pPr marL="528955" lvl="1" indent="-2730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分配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4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元给前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个项目的最大收益为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14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，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即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(4)=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(4)=14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528955" lvl="1" indent="-2730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分配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5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元给前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个项目的最大收益为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15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，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即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(5)=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(5)=15</a:t>
            </a:r>
            <a:endParaRPr lang="en-US" altLang="zh-CN" dirty="0">
              <a:solidFill>
                <a:schemeClr val="bg2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93035" y="5781675"/>
            <a:ext cx="3399790" cy="52197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 anchor="t">
            <a:spAutoFit/>
          </a:bodyPr>
          <a:lstStyle/>
          <a:p>
            <a:r>
              <a:rPr lang="en-US" altLang="zh-CN" sz="2800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sz="2800" b="1" baseline="-25000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en-US" altLang="zh-CN" sz="2800" b="1" dirty="0" smtClean="0">
                <a:solidFill>
                  <a:schemeClr val="bg2"/>
                </a:solidFill>
                <a:sym typeface="+mn-ea"/>
              </a:rPr>
              <a:t>={0,11,12,13,14,15}</a:t>
            </a:r>
            <a:endParaRPr lang="en-US" altLang="zh-CN" sz="2800" b="1" dirty="0" smtClean="0">
              <a:solidFill>
                <a:schemeClr val="bg2"/>
              </a:solidFill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7" name="文本框 3"/>
          <p:cNvSpPr txBox="1"/>
          <p:nvPr/>
        </p:nvSpPr>
        <p:spPr>
          <a:xfrm>
            <a:off x="251460" y="1628775"/>
            <a:ext cx="8606155" cy="36360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 smtClean="0">
                <a:solidFill>
                  <a:schemeClr val="bg2"/>
                </a:solidFill>
                <a:sym typeface="+mn-ea"/>
              </a:rPr>
              <a:t>（</a:t>
            </a:r>
            <a:r>
              <a:rPr lang="en-US" b="1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b="1" dirty="0" smtClean="0">
                <a:solidFill>
                  <a:schemeClr val="bg2"/>
                </a:solidFill>
                <a:sym typeface="+mn-ea"/>
              </a:rPr>
              <a:t>）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第</a:t>
            </a:r>
            <a:r>
              <a:rPr lang="en-US" altLang="zh-CN" b="1" dirty="0" smtClean="0">
                <a:solidFill>
                  <a:srgbClr val="FF0000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阶段：分别计算将</a:t>
            </a:r>
            <a:r>
              <a:rPr lang="en-US" altLang="zh-CN" i="1" dirty="0" smtClean="0">
                <a:solidFill>
                  <a:schemeClr val="bg2"/>
                </a:solidFill>
                <a:sym typeface="+mn-ea"/>
              </a:rPr>
              <a:t>x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(0</a:t>
            </a:r>
            <a:r>
              <a:rPr lang="en-US" altLang="zh-CN" dirty="0" smtClean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≤</a:t>
            </a:r>
            <a:r>
              <a:rPr lang="en-US" altLang="zh-CN" i="1" dirty="0">
                <a:solidFill>
                  <a:schemeClr val="bg2"/>
                </a:solidFill>
                <a:sym typeface="+mn-ea"/>
              </a:rPr>
              <a:t>x</a:t>
            </a:r>
            <a:r>
              <a:rPr lang="en-US" altLang="zh-CN" dirty="0" smtClean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≤5)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万元分配给</a:t>
            </a:r>
            <a:r>
              <a:rPr lang="zh-CN" altLang="en-US" b="1" dirty="0" smtClean="0">
                <a:solidFill>
                  <a:srgbClr val="FF0000"/>
                </a:solidFill>
                <a:sym typeface="+mn-ea"/>
              </a:rPr>
              <a:t>前</a:t>
            </a:r>
            <a:r>
              <a:rPr lang="en-US" altLang="zh-CN" b="1" dirty="0" smtClean="0">
                <a:solidFill>
                  <a:srgbClr val="FF0000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个项目的最大收益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528955" lvl="1" indent="-2730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分配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0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万元给前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个项目的分配方案为：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0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万元，前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0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万元，则最大收益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(0)=max{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="1" baseline="-25000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(0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 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),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(0)}={0,0}=0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528955" lvl="1" indent="-2730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分配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元给前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个项目的分配方案为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：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0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元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，前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个项目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元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，收益为：</a:t>
            </a:r>
            <a:r>
              <a:rPr lang="en-US" altLang="zh-CN" b="1" i="1" dirty="0" smtClean="0">
                <a:solidFill>
                  <a:srgbClr val="FF0000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rgbClr val="FF0000"/>
                </a:solidFill>
                <a:sym typeface="+mn-ea"/>
              </a:rPr>
              <a:t>2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(0)+</a:t>
            </a:r>
            <a:r>
              <a:rPr lang="en-US" altLang="zh-CN" b="1" i="1" dirty="0" smtClean="0">
                <a:solidFill>
                  <a:srgbClr val="FF0000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(1)=</a:t>
            </a:r>
            <a:r>
              <a:rPr lang="en-US" altLang="zh-CN" b="1" dirty="0" smtClean="0">
                <a:solidFill>
                  <a:srgbClr val="FF0000"/>
                </a:solidFill>
                <a:sym typeface="+mn-ea"/>
              </a:rPr>
              <a:t>11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元，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0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万元，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收益为：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="1" baseline="-25000" dirty="0" smtClean="0">
                <a:solidFill>
                  <a:schemeClr val="bg2"/>
                </a:solidFill>
                <a:uFillTx/>
                <a:sym typeface="+mn-ea"/>
              </a:rPr>
              <a:t>2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(1)+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(0)=0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则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最大收益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(1)=max{11,0}=11</a:t>
            </a:r>
            <a:endParaRPr dirty="0">
              <a:solidFill>
                <a:schemeClr val="bg2"/>
              </a:solidFill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7" name="文本框 3"/>
          <p:cNvSpPr txBox="1"/>
          <p:nvPr/>
        </p:nvSpPr>
        <p:spPr>
          <a:xfrm>
            <a:off x="251460" y="1628775"/>
            <a:ext cx="8638540" cy="2306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528955" lvl="1" indent="-2730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分配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元给前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个项目的分配方案为：</a:t>
            </a:r>
            <a:endParaRPr lang="en-US" altLang="zh-CN" dirty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rgbClr val="FF0000"/>
                </a:solidFill>
                <a:sym typeface="+mn-ea"/>
              </a:rPr>
              <a:t>2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项目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0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万元，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个项目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元，收益为：</a:t>
            </a:r>
            <a:r>
              <a:rPr lang="en-US" altLang="zh-CN" b="1" i="1" dirty="0" smtClean="0">
                <a:solidFill>
                  <a:srgbClr val="FF0000"/>
                </a:solidFill>
                <a:sym typeface="+mn-ea"/>
              </a:rPr>
              <a:t>f</a:t>
            </a:r>
            <a:r>
              <a:rPr lang="en-US" altLang="zh-CN" b="1" baseline="-25000" dirty="0" smtClean="0">
                <a:solidFill>
                  <a:srgbClr val="FF0000"/>
                </a:solidFill>
                <a:sym typeface="+mn-ea"/>
              </a:rPr>
              <a:t>2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(0)+</a:t>
            </a:r>
            <a:r>
              <a:rPr lang="en-US" altLang="zh-CN" b="1" i="1" dirty="0" smtClean="0">
                <a:solidFill>
                  <a:srgbClr val="FF0000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(2)=</a:t>
            </a:r>
            <a:r>
              <a:rPr lang="en-US" altLang="zh-CN" b="1" dirty="0" smtClean="0">
                <a:solidFill>
                  <a:srgbClr val="FF0000"/>
                </a:solidFill>
                <a:sym typeface="+mn-ea"/>
              </a:rPr>
              <a:t>12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元，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万元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，收益为：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>
                <a:solidFill>
                  <a:schemeClr val="bg2"/>
                </a:solidFill>
                <a:sym typeface="+mn-ea"/>
              </a:rPr>
              <a:t>2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(1)+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(1)=11</a:t>
            </a:r>
            <a:endParaRPr lang="en-US" altLang="zh-CN" dirty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元，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0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万元，收益为：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(2)+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(0)=2</a:t>
            </a:r>
            <a:endParaRPr lang="en-US" altLang="zh-CN" dirty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chemeClr val="bg2"/>
                </a:solidFill>
                <a:sym typeface="+mn-ea"/>
              </a:rPr>
              <a:t>则最大收益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>
                <a:solidFill>
                  <a:schemeClr val="bg2"/>
                </a:solidFill>
                <a:sym typeface="+mn-ea"/>
              </a:rPr>
              <a:t>2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(2)=max{12,11,2}=12</a:t>
            </a:r>
            <a:endParaRPr dirty="0">
              <a:solidFill>
                <a:schemeClr val="bg2"/>
              </a:solidFill>
              <a:sym typeface="+mn-ea"/>
            </a:endParaRPr>
          </a:p>
        </p:txBody>
      </p:sp>
      <p:sp>
        <p:nvSpPr>
          <p:cNvPr id="3" name="文本框 3"/>
          <p:cNvSpPr txBox="1"/>
          <p:nvPr/>
        </p:nvSpPr>
        <p:spPr>
          <a:xfrm>
            <a:off x="251460" y="3831590"/>
            <a:ext cx="8639175" cy="2749550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pPr marL="528955" lvl="1" indent="-2730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分配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元给前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个项目的分配方案为：</a:t>
            </a:r>
            <a:endParaRPr lang="en-US" altLang="zh-CN" dirty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0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万元，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元，收益为：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="1" baseline="-25000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(0)+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(3)=13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元，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万元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，收益为：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>
                <a:solidFill>
                  <a:schemeClr val="bg2"/>
                </a:solidFill>
                <a:sym typeface="+mn-ea"/>
              </a:rPr>
              <a:t>2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(1)+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(2)=12</a:t>
            </a:r>
            <a:endParaRPr lang="en-US" altLang="zh-CN" dirty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rgbClr val="FF0000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元，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个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项目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万元，收益为：</a:t>
            </a:r>
            <a:r>
              <a:rPr lang="en-US" altLang="zh-CN" b="1" i="1" dirty="0" smtClean="0">
                <a:solidFill>
                  <a:srgbClr val="FF0000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rgbClr val="FF0000"/>
                </a:solidFill>
                <a:sym typeface="+mn-ea"/>
              </a:rPr>
              <a:t>2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(2)+</a:t>
            </a:r>
            <a:r>
              <a:rPr lang="en-US" altLang="zh-CN" b="1" i="1" dirty="0" smtClean="0">
                <a:solidFill>
                  <a:srgbClr val="FF0000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(1)=</a:t>
            </a:r>
            <a:r>
              <a:rPr lang="en-US" altLang="zh-CN" b="1" dirty="0" smtClean="0">
                <a:solidFill>
                  <a:srgbClr val="FF0000"/>
                </a:solidFill>
                <a:sym typeface="+mn-ea"/>
              </a:rPr>
              <a:t>16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元，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0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万元，收益为：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(3)+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(0)=10</a:t>
            </a:r>
            <a:endParaRPr lang="en-US" altLang="zh-CN" dirty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chemeClr val="bg2"/>
                </a:solidFill>
                <a:sym typeface="+mn-ea"/>
              </a:rPr>
              <a:t>则最大收益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>
                <a:solidFill>
                  <a:schemeClr val="bg2"/>
                </a:solidFill>
                <a:sym typeface="+mn-ea"/>
              </a:rPr>
              <a:t>2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(3)=max{13,12,16,10}=16</a:t>
            </a:r>
            <a:endParaRPr dirty="0">
              <a:solidFill>
                <a:schemeClr val="bg2"/>
              </a:solidFill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3"/>
          <p:cNvSpPr txBox="1"/>
          <p:nvPr/>
        </p:nvSpPr>
        <p:spPr>
          <a:xfrm>
            <a:off x="219710" y="1695450"/>
            <a:ext cx="8740775" cy="3192780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pPr marL="528955" lvl="1" indent="-2730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分配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4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元给前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个项目的分配方案为：</a:t>
            </a:r>
            <a:endParaRPr lang="en-US" altLang="zh-CN" dirty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0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万元，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4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元，收益为：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="1" baseline="-25000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(0)+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(4)=14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元，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万元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，收益为：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>
                <a:solidFill>
                  <a:schemeClr val="bg2"/>
                </a:solidFill>
                <a:sym typeface="+mn-ea"/>
              </a:rPr>
              <a:t>2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(1)+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(3)=13</a:t>
            </a:r>
            <a:endParaRPr lang="en-US" altLang="zh-CN" dirty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元，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万元，收益为：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(2)+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(2)=17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rgbClr val="FF0000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元，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个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项目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万元，收益为：</a:t>
            </a:r>
            <a:r>
              <a:rPr lang="en-US" altLang="zh-CN" b="1" i="1" dirty="0" smtClean="0">
                <a:solidFill>
                  <a:srgbClr val="FF0000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rgbClr val="FF0000"/>
                </a:solidFill>
                <a:sym typeface="+mn-ea"/>
              </a:rPr>
              <a:t>2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(3)+</a:t>
            </a:r>
            <a:r>
              <a:rPr lang="en-US" altLang="zh-CN" b="1" i="1" dirty="0" smtClean="0">
                <a:solidFill>
                  <a:srgbClr val="FF0000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(1)=</a:t>
            </a:r>
            <a:r>
              <a:rPr lang="en-US" altLang="zh-CN" b="1" dirty="0" smtClean="0">
                <a:solidFill>
                  <a:srgbClr val="FF0000"/>
                </a:solidFill>
                <a:sym typeface="+mn-ea"/>
              </a:rPr>
              <a:t>21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4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元，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0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万元，收益为：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(4)+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(0)=15</a:t>
            </a:r>
            <a:endParaRPr lang="en-US" altLang="zh-CN" dirty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chemeClr val="bg2"/>
                </a:solidFill>
                <a:sym typeface="+mn-ea"/>
              </a:rPr>
              <a:t>则最大收益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>
                <a:solidFill>
                  <a:schemeClr val="bg2"/>
                </a:solidFill>
                <a:sym typeface="+mn-ea"/>
              </a:rPr>
              <a:t>2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(4)=max{14,13,17,21,15}=21</a:t>
            </a:r>
            <a:endParaRPr dirty="0">
              <a:solidFill>
                <a:schemeClr val="bg2"/>
              </a:solidFill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3"/>
          <p:cNvSpPr txBox="1"/>
          <p:nvPr/>
        </p:nvSpPr>
        <p:spPr>
          <a:xfrm>
            <a:off x="154305" y="1695450"/>
            <a:ext cx="8740775" cy="3636010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pPr marL="528955" lvl="1" indent="-2730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分配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5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元给前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个项目的分配方案为：</a:t>
            </a:r>
            <a:endParaRPr lang="en-US" altLang="zh-CN" dirty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0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万元，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5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元，收益为：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="1" baseline="-25000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(0)+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(5)=15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元，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4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万元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，收益为：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>
                <a:solidFill>
                  <a:schemeClr val="bg2"/>
                </a:solidFill>
                <a:sym typeface="+mn-ea"/>
              </a:rPr>
              <a:t>2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(1)+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(4)=14</a:t>
            </a:r>
            <a:endParaRPr lang="en-US" altLang="zh-CN" dirty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元，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万元，收益为：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(2)+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(3)=18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元，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万元，收益为：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(3)+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(2)=22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rgbClr val="FF0000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4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元，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个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项目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万元，收益为：</a:t>
            </a:r>
            <a:r>
              <a:rPr lang="en-US" altLang="zh-CN" b="1" i="1" dirty="0" smtClean="0">
                <a:solidFill>
                  <a:srgbClr val="FF0000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rgbClr val="FF0000"/>
                </a:solidFill>
                <a:sym typeface="+mn-ea"/>
              </a:rPr>
              <a:t>2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(4)+</a:t>
            </a:r>
            <a:r>
              <a:rPr lang="en-US" altLang="zh-CN" b="1" i="1" dirty="0" smtClean="0">
                <a:solidFill>
                  <a:srgbClr val="FF0000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(1)=</a:t>
            </a:r>
            <a:r>
              <a:rPr lang="en-US" altLang="zh-CN" b="1" dirty="0" smtClean="0">
                <a:solidFill>
                  <a:srgbClr val="FF0000"/>
                </a:solidFill>
                <a:sym typeface="+mn-ea"/>
              </a:rPr>
              <a:t>26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5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元，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0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万元，收益为：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(5)+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(0)=20</a:t>
            </a:r>
            <a:endParaRPr lang="en-US" altLang="zh-CN" dirty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chemeClr val="bg2"/>
                </a:solidFill>
                <a:sym typeface="+mn-ea"/>
              </a:rPr>
              <a:t>则最大收益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>
                <a:solidFill>
                  <a:schemeClr val="bg2"/>
                </a:solidFill>
                <a:sym typeface="+mn-ea"/>
              </a:rPr>
              <a:t>2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(4)=max{15,14,18,22,26,20}=26</a:t>
            </a:r>
            <a:endParaRPr dirty="0">
              <a:solidFill>
                <a:schemeClr val="bg2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65705" y="5331460"/>
            <a:ext cx="3399790" cy="52197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 anchor="t">
            <a:spAutoFit/>
          </a:bodyPr>
          <a:lstStyle/>
          <a:p>
            <a:r>
              <a:rPr lang="en-US" altLang="zh-CN" sz="2800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sz="2800" b="1" baseline="-25000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en-US" altLang="zh-CN" sz="2800" b="1" dirty="0" smtClean="0">
                <a:solidFill>
                  <a:schemeClr val="bg2"/>
                </a:solidFill>
                <a:sym typeface="+mn-ea"/>
              </a:rPr>
              <a:t>={0,11,12,16,21,26}</a:t>
            </a:r>
            <a:endParaRPr lang="en-US" altLang="zh-CN" sz="2800" b="1" dirty="0" smtClean="0">
              <a:solidFill>
                <a:schemeClr val="bg2"/>
              </a:solidFill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7" name="文本框 3"/>
          <p:cNvSpPr txBox="1"/>
          <p:nvPr/>
        </p:nvSpPr>
        <p:spPr>
          <a:xfrm>
            <a:off x="251460" y="1628775"/>
            <a:ext cx="8606155" cy="36360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 smtClean="0">
                <a:solidFill>
                  <a:schemeClr val="bg2"/>
                </a:solidFill>
                <a:sym typeface="+mn-ea"/>
              </a:rPr>
              <a:t>（</a:t>
            </a:r>
            <a:r>
              <a:rPr lang="en-US" b="1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b="1" dirty="0" smtClean="0">
                <a:solidFill>
                  <a:schemeClr val="bg2"/>
                </a:solidFill>
                <a:sym typeface="+mn-ea"/>
              </a:rPr>
              <a:t>）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第</a:t>
            </a:r>
            <a:r>
              <a:rPr lang="en-US" altLang="zh-CN" b="1" dirty="0" smtClean="0">
                <a:solidFill>
                  <a:srgbClr val="FF0000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阶段：分别计算将</a:t>
            </a:r>
            <a:r>
              <a:rPr lang="en-US" altLang="zh-CN" i="1" dirty="0" smtClean="0">
                <a:solidFill>
                  <a:schemeClr val="bg2"/>
                </a:solidFill>
                <a:sym typeface="+mn-ea"/>
              </a:rPr>
              <a:t>x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(0</a:t>
            </a:r>
            <a:r>
              <a:rPr lang="en-US" altLang="zh-CN" dirty="0" smtClean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≤</a:t>
            </a:r>
            <a:r>
              <a:rPr lang="en-US" altLang="zh-CN" i="1" dirty="0">
                <a:solidFill>
                  <a:schemeClr val="bg2"/>
                </a:solidFill>
                <a:sym typeface="+mn-ea"/>
              </a:rPr>
              <a:t>x</a:t>
            </a:r>
            <a:r>
              <a:rPr lang="en-US" altLang="zh-CN" dirty="0" smtClean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≤5)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万元分配给前</a:t>
            </a:r>
            <a:r>
              <a:rPr lang="en-US" altLang="zh-CN" b="1" dirty="0" smtClean="0">
                <a:solidFill>
                  <a:srgbClr val="FF0000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个项目的最大收益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528955" lvl="1" indent="-2730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分配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0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万元给前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个项目的分配方案为：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0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万元，前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0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万元，则最大收益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(0)=max{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="1" baseline="-25000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(0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 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),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(0)}={0,0}=0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528955" lvl="1" indent="-2730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分配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元给前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个项目的分配方案为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：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0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元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，前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个项目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元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，收益为：</a:t>
            </a:r>
            <a:r>
              <a:rPr lang="en-US" altLang="zh-CN" b="1" i="1" dirty="0" smtClean="0">
                <a:solidFill>
                  <a:srgbClr val="FF0000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rgbClr val="FF0000"/>
                </a:solidFill>
                <a:sym typeface="+mn-ea"/>
              </a:rPr>
              <a:t>3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(0)+</a:t>
            </a:r>
            <a:r>
              <a:rPr lang="en-US" altLang="zh-CN" b="1" i="1" dirty="0" smtClean="0">
                <a:solidFill>
                  <a:srgbClr val="FF0000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rgbClr val="FF0000"/>
                </a:solidFill>
                <a:sym typeface="+mn-ea"/>
              </a:rPr>
              <a:t>2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(1)=11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元，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0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万元，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收益为：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="1" baseline="-25000" dirty="0" smtClean="0">
                <a:solidFill>
                  <a:schemeClr val="bg2"/>
                </a:solidFill>
                <a:uFillTx/>
                <a:sym typeface="+mn-ea"/>
              </a:rPr>
              <a:t>3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(1)+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(0)=2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则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最大收益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(1)=max{11,2}=11</a:t>
            </a:r>
            <a:endParaRPr dirty="0">
              <a:solidFill>
                <a:schemeClr val="bg2"/>
              </a:solidFill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7" name="文本框 3"/>
          <p:cNvSpPr txBox="1"/>
          <p:nvPr/>
        </p:nvSpPr>
        <p:spPr>
          <a:xfrm>
            <a:off x="142240" y="1628775"/>
            <a:ext cx="8606155" cy="2306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528955" lvl="1" indent="-2730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分配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元给前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个项目的分配方案为：</a:t>
            </a:r>
            <a:endParaRPr lang="en-US" altLang="zh-CN" dirty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0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万元，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元，收益为：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="1" baseline="-25000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(0)+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(2)=12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rgbClr val="FF0000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元，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个项目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万元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，收益为：</a:t>
            </a:r>
            <a:r>
              <a:rPr lang="en-US" altLang="zh-CN" b="1" i="1" dirty="0">
                <a:solidFill>
                  <a:srgbClr val="FF0000"/>
                </a:solidFill>
                <a:sym typeface="+mn-ea"/>
              </a:rPr>
              <a:t>f</a:t>
            </a:r>
            <a:r>
              <a:rPr lang="en-US" altLang="zh-CN" baseline="-25000" dirty="0">
                <a:solidFill>
                  <a:srgbClr val="FF0000"/>
                </a:solidFill>
                <a:sym typeface="+mn-ea"/>
              </a:rPr>
              <a:t>3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(1)+</a:t>
            </a:r>
            <a:r>
              <a:rPr lang="en-US" altLang="zh-CN" b="1" i="1" dirty="0" smtClean="0">
                <a:solidFill>
                  <a:srgbClr val="FF0000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rgbClr val="FF0000"/>
                </a:solidFill>
                <a:sym typeface="+mn-ea"/>
              </a:rPr>
              <a:t>2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(1)=13</a:t>
            </a:r>
            <a:endParaRPr lang="en-US" altLang="zh-CN" dirty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元，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0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万元，收益为：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(2)+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(0)=10</a:t>
            </a:r>
            <a:endParaRPr lang="en-US" altLang="zh-CN" dirty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chemeClr val="bg2"/>
                </a:solidFill>
                <a:sym typeface="+mn-ea"/>
              </a:rPr>
              <a:t>则最大收益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>
                <a:solidFill>
                  <a:schemeClr val="bg2"/>
                </a:solidFill>
                <a:sym typeface="+mn-ea"/>
              </a:rPr>
              <a:t>3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(2)=max{12,13,10}=13</a:t>
            </a:r>
            <a:endParaRPr dirty="0">
              <a:solidFill>
                <a:schemeClr val="bg2"/>
              </a:solidFill>
              <a:sym typeface="+mn-ea"/>
            </a:endParaRPr>
          </a:p>
        </p:txBody>
      </p:sp>
      <p:sp>
        <p:nvSpPr>
          <p:cNvPr id="3" name="文本框 3"/>
          <p:cNvSpPr txBox="1"/>
          <p:nvPr/>
        </p:nvSpPr>
        <p:spPr>
          <a:xfrm>
            <a:off x="142240" y="3831590"/>
            <a:ext cx="8606155" cy="2749550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pPr marL="528955" lvl="1" indent="-2730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分配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元给前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个项目的分配方案为：</a:t>
            </a:r>
            <a:endParaRPr lang="en-US" altLang="zh-CN" dirty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0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万元，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元，收益为：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="1" baseline="-25000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(0)+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(3)=16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元，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万元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，收益为：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>
                <a:solidFill>
                  <a:schemeClr val="bg2"/>
                </a:solidFill>
                <a:sym typeface="+mn-ea"/>
              </a:rPr>
              <a:t>3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(1)+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(2)=14</a:t>
            </a:r>
            <a:endParaRPr lang="en-US" altLang="zh-CN" dirty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元，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万元，收益为：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(2)+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(1)=21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rgbClr val="FF0000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元，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个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项目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0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万元，收益为：</a:t>
            </a:r>
            <a:r>
              <a:rPr lang="en-US" altLang="zh-CN" b="1" i="1" dirty="0" smtClean="0">
                <a:solidFill>
                  <a:srgbClr val="FF0000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rgbClr val="FF0000"/>
                </a:solidFill>
                <a:sym typeface="+mn-ea"/>
              </a:rPr>
              <a:t>3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(3)+</a:t>
            </a:r>
            <a:r>
              <a:rPr lang="en-US" altLang="zh-CN" b="1" i="1" dirty="0" smtClean="0">
                <a:solidFill>
                  <a:srgbClr val="FF0000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rgbClr val="FF0000"/>
                </a:solidFill>
                <a:sym typeface="+mn-ea"/>
              </a:rPr>
              <a:t>2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(0)=30</a:t>
            </a:r>
            <a:endParaRPr lang="en-US" altLang="zh-CN" dirty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chemeClr val="bg2"/>
                </a:solidFill>
                <a:sym typeface="+mn-ea"/>
              </a:rPr>
              <a:t>则最大收益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>
                <a:solidFill>
                  <a:schemeClr val="bg2"/>
                </a:solidFill>
                <a:sym typeface="+mn-ea"/>
              </a:rPr>
              <a:t>3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(3)=max{16,14,21,30}=30</a:t>
            </a:r>
            <a:endParaRPr dirty="0">
              <a:solidFill>
                <a:schemeClr val="bg2"/>
              </a:solidFill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3"/>
          <p:cNvSpPr txBox="1"/>
          <p:nvPr/>
        </p:nvSpPr>
        <p:spPr>
          <a:xfrm>
            <a:off x="234950" y="1679575"/>
            <a:ext cx="8674735" cy="3192780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pPr marL="528955" lvl="1" indent="-2730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分配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4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元给前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个项目的分配方案为：</a:t>
            </a:r>
            <a:endParaRPr lang="en-US" altLang="zh-CN" dirty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0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万元，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4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元，收益为：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="1" baseline="-25000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(0)+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(4)=21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元，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万元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，收益为：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>
                <a:solidFill>
                  <a:schemeClr val="bg2"/>
                </a:solidFill>
                <a:sym typeface="+mn-ea"/>
              </a:rPr>
              <a:t>3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(1)+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(3)=18</a:t>
            </a:r>
            <a:endParaRPr lang="en-US" altLang="zh-CN" dirty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元，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万元，收益为：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(2)+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(2)=22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rgbClr val="FF0000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元，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个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项目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万元，收益为：</a:t>
            </a:r>
            <a:r>
              <a:rPr lang="en-US" altLang="zh-CN" b="1" i="1" dirty="0" smtClean="0">
                <a:solidFill>
                  <a:srgbClr val="FF0000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rgbClr val="FF0000"/>
                </a:solidFill>
                <a:sym typeface="+mn-ea"/>
              </a:rPr>
              <a:t>3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(3)+</a:t>
            </a:r>
            <a:r>
              <a:rPr lang="en-US" altLang="zh-CN" b="1" i="1" dirty="0" smtClean="0">
                <a:solidFill>
                  <a:srgbClr val="FF0000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rgbClr val="FF0000"/>
                </a:solidFill>
                <a:sym typeface="+mn-ea"/>
              </a:rPr>
              <a:t>2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(1)=41</a:t>
            </a:r>
            <a:endParaRPr lang="en-US" altLang="zh-CN" dirty="0" smtClean="0">
              <a:solidFill>
                <a:srgbClr val="FF0000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4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元，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0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万元，收益为：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(4)+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(0)=32</a:t>
            </a:r>
            <a:endParaRPr lang="en-US" altLang="zh-CN" dirty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chemeClr val="bg2"/>
                </a:solidFill>
                <a:sym typeface="+mn-ea"/>
              </a:rPr>
              <a:t>则最大收益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>
                <a:solidFill>
                  <a:schemeClr val="bg2"/>
                </a:solidFill>
                <a:sym typeface="+mn-ea"/>
              </a:rPr>
              <a:t>3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(4)=max{21,18,22,41,32}=41</a:t>
            </a:r>
            <a:endParaRPr dirty="0">
              <a:solidFill>
                <a:schemeClr val="bg2"/>
              </a:solidFill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3"/>
          <p:cNvSpPr txBox="1"/>
          <p:nvPr/>
        </p:nvSpPr>
        <p:spPr>
          <a:xfrm>
            <a:off x="154305" y="1695450"/>
            <a:ext cx="8740775" cy="3636010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pPr marL="528955" lvl="1" indent="-2730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分配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5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元给前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个项目的分配方案为：</a:t>
            </a:r>
            <a:endParaRPr lang="en-US" altLang="zh-CN" dirty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0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万元，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5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元，收益为：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="1" baseline="-25000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(0)+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(5)=26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元，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4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万元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，收益为：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>
                <a:solidFill>
                  <a:schemeClr val="bg2"/>
                </a:solidFill>
                <a:sym typeface="+mn-ea"/>
              </a:rPr>
              <a:t>3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(1)+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(4)=23</a:t>
            </a:r>
            <a:endParaRPr lang="en-US" altLang="zh-CN" dirty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元，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万元，收益为：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(2)+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(3)=26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元，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万元，收益为：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(3)+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(2)=42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rgbClr val="FF0000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4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元，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个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项目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万元，收益为：</a:t>
            </a:r>
            <a:r>
              <a:rPr lang="en-US" altLang="zh-CN" b="1" i="1" dirty="0" smtClean="0">
                <a:solidFill>
                  <a:srgbClr val="FF0000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rgbClr val="FF0000"/>
                </a:solidFill>
                <a:sym typeface="+mn-ea"/>
              </a:rPr>
              <a:t>3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(4)+</a:t>
            </a:r>
            <a:r>
              <a:rPr lang="en-US" altLang="zh-CN" b="1" i="1" dirty="0" smtClean="0">
                <a:solidFill>
                  <a:srgbClr val="FF0000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rgbClr val="FF0000"/>
                </a:solidFill>
                <a:sym typeface="+mn-ea"/>
              </a:rPr>
              <a:t>2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(1)=43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5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元，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0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万元，收益为：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(5)+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(0)=40</a:t>
            </a:r>
            <a:endParaRPr lang="en-US" altLang="zh-CN" dirty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chemeClr val="bg2"/>
                </a:solidFill>
                <a:sym typeface="+mn-ea"/>
              </a:rPr>
              <a:t>则最大收益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>
                <a:solidFill>
                  <a:schemeClr val="bg2"/>
                </a:solidFill>
                <a:sym typeface="+mn-ea"/>
              </a:rPr>
              <a:t>3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(5)=max{26,23,26,42,43,40}=43</a:t>
            </a:r>
            <a:endParaRPr dirty="0">
              <a:solidFill>
                <a:schemeClr val="bg2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65705" y="5494020"/>
            <a:ext cx="3399790" cy="52197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 anchor="t">
            <a:spAutoFit/>
          </a:bodyPr>
          <a:lstStyle/>
          <a:p>
            <a:r>
              <a:rPr lang="en-US" altLang="zh-CN" sz="2800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sz="2800" b="1" baseline="-25000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en-US" altLang="zh-CN" sz="2800" b="1" dirty="0" smtClean="0">
                <a:solidFill>
                  <a:schemeClr val="bg2"/>
                </a:solidFill>
                <a:sym typeface="+mn-ea"/>
              </a:rPr>
              <a:t>={0,11,13,30,41,43}</a:t>
            </a:r>
            <a:endParaRPr lang="en-US" altLang="zh-CN" sz="2800" b="1" dirty="0" smtClean="0">
              <a:solidFill>
                <a:schemeClr val="bg2"/>
              </a:solidFill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7" name="文本框 3"/>
          <p:cNvSpPr txBox="1"/>
          <p:nvPr/>
        </p:nvSpPr>
        <p:spPr>
          <a:xfrm>
            <a:off x="251460" y="1628775"/>
            <a:ext cx="8606155" cy="36360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 smtClean="0">
                <a:solidFill>
                  <a:schemeClr val="bg2"/>
                </a:solidFill>
                <a:sym typeface="+mn-ea"/>
              </a:rPr>
              <a:t>（</a:t>
            </a:r>
            <a:r>
              <a:rPr lang="en-US" b="1" dirty="0" smtClean="0">
                <a:solidFill>
                  <a:schemeClr val="bg2"/>
                </a:solidFill>
                <a:sym typeface="+mn-ea"/>
              </a:rPr>
              <a:t>4</a:t>
            </a:r>
            <a:r>
              <a:rPr lang="zh-CN" altLang="en-US" b="1" dirty="0" smtClean="0">
                <a:solidFill>
                  <a:schemeClr val="bg2"/>
                </a:solidFill>
                <a:sym typeface="+mn-ea"/>
              </a:rPr>
              <a:t>）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第</a:t>
            </a:r>
            <a:r>
              <a:rPr lang="en-US" altLang="zh-CN" b="1" dirty="0" smtClean="0">
                <a:solidFill>
                  <a:srgbClr val="FF0000"/>
                </a:solidFill>
                <a:sym typeface="+mn-ea"/>
              </a:rPr>
              <a:t>4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阶段：分别计算将</a:t>
            </a:r>
            <a:r>
              <a:rPr lang="en-US" altLang="zh-CN" i="1" dirty="0" smtClean="0">
                <a:solidFill>
                  <a:schemeClr val="bg2"/>
                </a:solidFill>
                <a:sym typeface="+mn-ea"/>
              </a:rPr>
              <a:t>x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(0</a:t>
            </a:r>
            <a:r>
              <a:rPr lang="en-US" altLang="zh-CN" dirty="0" smtClean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≤</a:t>
            </a:r>
            <a:r>
              <a:rPr lang="en-US" altLang="zh-CN" i="1" dirty="0">
                <a:solidFill>
                  <a:schemeClr val="bg2"/>
                </a:solidFill>
                <a:sym typeface="+mn-ea"/>
              </a:rPr>
              <a:t>x</a:t>
            </a:r>
            <a:r>
              <a:rPr lang="en-US" altLang="zh-CN" dirty="0" smtClean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≤5)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万元分配给前</a:t>
            </a:r>
            <a:r>
              <a:rPr lang="en-US" altLang="zh-CN" b="1" dirty="0" smtClean="0">
                <a:solidFill>
                  <a:srgbClr val="FF0000"/>
                </a:solidFill>
                <a:sym typeface="+mn-ea"/>
              </a:rPr>
              <a:t>4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个项目的最大收益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528955" lvl="1" indent="-2730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分配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0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万元给前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4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个项目的分配方案为：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4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0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万元，前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0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万元，则最大收益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4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(0)=max{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="1" baseline="-25000" dirty="0" smtClean="0">
                <a:solidFill>
                  <a:schemeClr val="bg2"/>
                </a:solidFill>
                <a:sym typeface="+mn-ea"/>
              </a:rPr>
              <a:t>4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(0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 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),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(0)}={0,0}=0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528955" lvl="1" indent="-2730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分配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元给前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4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个项目的分配方案为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：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4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0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，前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，收益为：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4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(0)+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(1)=11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rgbClr val="FF0000"/>
                </a:solidFill>
                <a:sym typeface="+mn-ea"/>
              </a:rPr>
              <a:t>4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元，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个项目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0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万元，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收益为：</a:t>
            </a:r>
            <a:r>
              <a:rPr lang="en-US" altLang="zh-CN" b="1" i="1" dirty="0" smtClean="0">
                <a:solidFill>
                  <a:srgbClr val="FF0000"/>
                </a:solidFill>
                <a:sym typeface="+mn-ea"/>
              </a:rPr>
              <a:t>f</a:t>
            </a:r>
            <a:r>
              <a:rPr lang="en-US" altLang="zh-CN" b="1" baseline="-25000" dirty="0" smtClean="0">
                <a:solidFill>
                  <a:srgbClr val="FF0000"/>
                </a:solidFill>
                <a:uFillTx/>
                <a:sym typeface="+mn-ea"/>
              </a:rPr>
              <a:t>4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(1)+</a:t>
            </a:r>
            <a:r>
              <a:rPr lang="en-US" altLang="zh-CN" b="1" i="1" dirty="0" smtClean="0">
                <a:solidFill>
                  <a:srgbClr val="FF0000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rgbClr val="FF0000"/>
                </a:solidFill>
                <a:sym typeface="+mn-ea"/>
              </a:rPr>
              <a:t>3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(0)=20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则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最大收益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4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(1)=max{11,20}=20</a:t>
            </a:r>
            <a:endParaRPr dirty="0">
              <a:solidFill>
                <a:schemeClr val="bg2"/>
              </a:solidFill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7" name="文本框 3"/>
          <p:cNvSpPr txBox="1"/>
          <p:nvPr/>
        </p:nvSpPr>
        <p:spPr>
          <a:xfrm>
            <a:off x="125730" y="1628775"/>
            <a:ext cx="8622665" cy="2306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528955" lvl="1" indent="-2730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分配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元给前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4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个项目的分配方案为：</a:t>
            </a:r>
            <a:endParaRPr lang="en-US" altLang="zh-CN" dirty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bg2"/>
                </a:solidFill>
                <a:sym typeface="+mn-ea"/>
              </a:rPr>
              <a:t>4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0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万元，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元，收益为：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="1" baseline="-25000" dirty="0" smtClean="0">
                <a:solidFill>
                  <a:schemeClr val="bg2"/>
                </a:solidFill>
                <a:sym typeface="+mn-ea"/>
              </a:rPr>
              <a:t>4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(0)+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(2)=13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rgbClr val="FF0000"/>
                </a:solidFill>
                <a:sym typeface="+mn-ea"/>
              </a:rPr>
              <a:t>4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元，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个项目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万元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，收益为：</a:t>
            </a:r>
            <a:r>
              <a:rPr lang="en-US" altLang="zh-CN" b="1" i="1" dirty="0">
                <a:solidFill>
                  <a:srgbClr val="FF0000"/>
                </a:solidFill>
                <a:sym typeface="+mn-ea"/>
              </a:rPr>
              <a:t>f</a:t>
            </a:r>
            <a:r>
              <a:rPr lang="en-US" altLang="zh-CN" baseline="-25000" dirty="0">
                <a:solidFill>
                  <a:srgbClr val="FF0000"/>
                </a:solidFill>
                <a:sym typeface="+mn-ea"/>
              </a:rPr>
              <a:t>4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(1)+</a:t>
            </a:r>
            <a:r>
              <a:rPr lang="en-US" altLang="zh-CN" b="1" i="1" dirty="0" smtClean="0">
                <a:solidFill>
                  <a:srgbClr val="FF0000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rgbClr val="FF0000"/>
                </a:solidFill>
                <a:sym typeface="+mn-ea"/>
              </a:rPr>
              <a:t>3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(1)=31</a:t>
            </a:r>
            <a:endParaRPr lang="en-US" altLang="zh-CN" dirty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bg2"/>
                </a:solidFill>
                <a:sym typeface="+mn-ea"/>
              </a:rPr>
              <a:t>4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元，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0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万元，收益为：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4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(2)+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(0)=21</a:t>
            </a:r>
            <a:endParaRPr lang="en-US" altLang="zh-CN" dirty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chemeClr val="bg2"/>
                </a:solidFill>
                <a:sym typeface="+mn-ea"/>
              </a:rPr>
              <a:t>则最大收益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>
                <a:solidFill>
                  <a:schemeClr val="bg2"/>
                </a:solidFill>
                <a:sym typeface="+mn-ea"/>
              </a:rPr>
              <a:t>4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(2)=max{13,31,21}=31</a:t>
            </a:r>
            <a:endParaRPr dirty="0">
              <a:solidFill>
                <a:schemeClr val="bg2"/>
              </a:solidFill>
              <a:sym typeface="+mn-ea"/>
            </a:endParaRPr>
          </a:p>
        </p:txBody>
      </p:sp>
      <p:sp>
        <p:nvSpPr>
          <p:cNvPr id="3" name="文本框 3"/>
          <p:cNvSpPr txBox="1"/>
          <p:nvPr/>
        </p:nvSpPr>
        <p:spPr>
          <a:xfrm>
            <a:off x="125730" y="3831590"/>
            <a:ext cx="8622665" cy="2749550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pPr marL="528955" lvl="1" indent="-2730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分配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元给前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4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个项目的分配方案为：</a:t>
            </a:r>
            <a:endParaRPr lang="en-US" altLang="zh-CN" dirty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bg2"/>
                </a:solidFill>
                <a:sym typeface="+mn-ea"/>
              </a:rPr>
              <a:t>4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0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万元，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元，收益为：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="1" baseline="-25000" dirty="0" smtClean="0">
                <a:solidFill>
                  <a:schemeClr val="bg2"/>
                </a:solidFill>
                <a:sym typeface="+mn-ea"/>
              </a:rPr>
              <a:t>4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(0)+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(3)=30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rgbClr val="FF0000"/>
                </a:solidFill>
                <a:sym typeface="+mn-ea"/>
              </a:rPr>
              <a:t>4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元，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个项目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万元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，收益为：</a:t>
            </a:r>
            <a:r>
              <a:rPr lang="en-US" altLang="zh-CN" b="1" i="1" dirty="0">
                <a:solidFill>
                  <a:srgbClr val="FF0000"/>
                </a:solidFill>
                <a:sym typeface="+mn-ea"/>
              </a:rPr>
              <a:t>f</a:t>
            </a:r>
            <a:r>
              <a:rPr lang="en-US" altLang="zh-CN" baseline="-25000" dirty="0">
                <a:solidFill>
                  <a:srgbClr val="FF0000"/>
                </a:solidFill>
                <a:sym typeface="+mn-ea"/>
              </a:rPr>
              <a:t>4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(1)+</a:t>
            </a:r>
            <a:r>
              <a:rPr lang="en-US" altLang="zh-CN" b="1" i="1" dirty="0" smtClean="0">
                <a:solidFill>
                  <a:srgbClr val="FF0000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rgbClr val="FF0000"/>
                </a:solidFill>
                <a:sym typeface="+mn-ea"/>
              </a:rPr>
              <a:t>3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(2)=33</a:t>
            </a:r>
            <a:endParaRPr lang="en-US" altLang="zh-CN" dirty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bg2"/>
                </a:solidFill>
                <a:sym typeface="+mn-ea"/>
              </a:rPr>
              <a:t>4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元，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万元，收益为：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4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(2)+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(1)=32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bg2"/>
                </a:solidFill>
                <a:sym typeface="+mn-ea"/>
              </a:rPr>
              <a:t>4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元，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0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万元，收益为：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4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(3)+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(0)=22</a:t>
            </a:r>
            <a:endParaRPr lang="en-US" altLang="zh-CN" dirty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chemeClr val="bg2"/>
                </a:solidFill>
                <a:sym typeface="+mn-ea"/>
              </a:rPr>
              <a:t>则最大收益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>
                <a:solidFill>
                  <a:schemeClr val="bg2"/>
                </a:solidFill>
                <a:sym typeface="+mn-ea"/>
              </a:rPr>
              <a:t>4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(3)=max{30,33,32,22}=33</a:t>
            </a:r>
            <a:endParaRPr dirty="0">
              <a:solidFill>
                <a:schemeClr val="bg2"/>
              </a:solidFill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3"/>
          <p:cNvSpPr txBox="1"/>
          <p:nvPr/>
        </p:nvSpPr>
        <p:spPr>
          <a:xfrm>
            <a:off x="203200" y="1695450"/>
            <a:ext cx="8691880" cy="3192780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pPr marL="528955" lvl="1" indent="-2730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分配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4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元给前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4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个项目的分配方案为：</a:t>
            </a:r>
            <a:endParaRPr lang="en-US" altLang="zh-CN" dirty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bg2"/>
                </a:solidFill>
                <a:sym typeface="+mn-ea"/>
              </a:rPr>
              <a:t>4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0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万元，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4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元，收益为：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="1" baseline="-25000" dirty="0" smtClean="0">
                <a:solidFill>
                  <a:schemeClr val="bg2"/>
                </a:solidFill>
                <a:sym typeface="+mn-ea"/>
              </a:rPr>
              <a:t>4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(0)+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(4)=41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rgbClr val="FF0000"/>
                </a:solidFill>
                <a:sym typeface="+mn-ea"/>
              </a:rPr>
              <a:t>4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元，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个项目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万元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，收益为：</a:t>
            </a:r>
            <a:r>
              <a:rPr lang="en-US" altLang="zh-CN" i="1" dirty="0">
                <a:solidFill>
                  <a:srgbClr val="FF0000"/>
                </a:solidFill>
                <a:sym typeface="+mn-ea"/>
              </a:rPr>
              <a:t>f</a:t>
            </a:r>
            <a:r>
              <a:rPr lang="en-US" altLang="zh-CN" baseline="-25000" dirty="0">
                <a:solidFill>
                  <a:srgbClr val="FF0000"/>
                </a:solidFill>
                <a:sym typeface="+mn-ea"/>
              </a:rPr>
              <a:t>4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(1)+</a:t>
            </a:r>
            <a:r>
              <a:rPr lang="en-US" altLang="zh-CN" i="1" dirty="0" smtClean="0">
                <a:solidFill>
                  <a:srgbClr val="FF0000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rgbClr val="FF0000"/>
                </a:solidFill>
                <a:sym typeface="+mn-ea"/>
              </a:rPr>
              <a:t>3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(3)=50</a:t>
            </a:r>
            <a:endParaRPr lang="en-US" altLang="zh-CN" dirty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bg2"/>
                </a:solidFill>
                <a:sym typeface="+mn-ea"/>
              </a:rPr>
              <a:t>4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元，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万元，收益为：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4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(2)+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(2)=34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bg2"/>
                </a:solidFill>
                <a:sym typeface="+mn-ea"/>
              </a:rPr>
              <a:t>4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元，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万元，收益为：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4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(3)+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(1)=33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bg2"/>
                </a:solidFill>
                <a:sym typeface="+mn-ea"/>
              </a:rPr>
              <a:t>4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4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元，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0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万元，收益为：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4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(4)+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(0)=23</a:t>
            </a:r>
            <a:endParaRPr lang="en-US" altLang="zh-CN" dirty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chemeClr val="bg2"/>
                </a:solidFill>
                <a:sym typeface="+mn-ea"/>
              </a:rPr>
              <a:t>则最大收益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>
                <a:solidFill>
                  <a:schemeClr val="bg2"/>
                </a:solidFill>
                <a:sym typeface="+mn-ea"/>
              </a:rPr>
              <a:t>4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(4)=max{41,50,34,33,23}=50</a:t>
            </a:r>
            <a:endParaRPr dirty="0">
              <a:solidFill>
                <a:schemeClr val="bg2"/>
              </a:solidFill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3"/>
          <p:cNvSpPr txBox="1"/>
          <p:nvPr/>
        </p:nvSpPr>
        <p:spPr>
          <a:xfrm>
            <a:off x="187960" y="1695450"/>
            <a:ext cx="8707120" cy="3636010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pPr marL="528955" lvl="1" indent="-2730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分配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5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元给前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4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个项目的分配方案为：</a:t>
            </a:r>
            <a:endParaRPr lang="en-US" altLang="zh-CN" dirty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bg2"/>
                </a:solidFill>
                <a:sym typeface="+mn-ea"/>
              </a:rPr>
              <a:t>4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0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万元，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5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元，收益为：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="1" baseline="-25000" dirty="0" smtClean="0">
                <a:solidFill>
                  <a:schemeClr val="bg2"/>
                </a:solidFill>
                <a:sym typeface="+mn-ea"/>
              </a:rPr>
              <a:t>4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(0)+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(5)=43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rgbClr val="FF0000"/>
                </a:solidFill>
                <a:sym typeface="+mn-ea"/>
              </a:rPr>
              <a:t>4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元，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个项目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4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万元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，收益为：</a:t>
            </a:r>
            <a:r>
              <a:rPr lang="en-US" altLang="zh-CN" b="1" i="1" dirty="0">
                <a:solidFill>
                  <a:srgbClr val="FF0000"/>
                </a:solidFill>
                <a:sym typeface="+mn-ea"/>
              </a:rPr>
              <a:t>f</a:t>
            </a:r>
            <a:r>
              <a:rPr lang="en-US" altLang="zh-CN" baseline="-25000" dirty="0">
                <a:solidFill>
                  <a:srgbClr val="FF0000"/>
                </a:solidFill>
                <a:sym typeface="+mn-ea"/>
              </a:rPr>
              <a:t>4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(1)+</a:t>
            </a:r>
            <a:r>
              <a:rPr lang="en-US" altLang="zh-CN" b="1" i="1" dirty="0" smtClean="0">
                <a:solidFill>
                  <a:srgbClr val="FF0000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rgbClr val="FF0000"/>
                </a:solidFill>
                <a:sym typeface="+mn-ea"/>
              </a:rPr>
              <a:t>3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(4)=61</a:t>
            </a:r>
            <a:endParaRPr lang="en-US" altLang="zh-CN" dirty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bg2"/>
                </a:solidFill>
                <a:sym typeface="+mn-ea"/>
              </a:rPr>
              <a:t>4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元，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万元，收益为：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4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(2)+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(3)=51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bg2"/>
                </a:solidFill>
                <a:sym typeface="+mn-ea"/>
              </a:rPr>
              <a:t>4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元，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万元，收益为：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4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(3)+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(2)=35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bg2"/>
                </a:solidFill>
                <a:sym typeface="+mn-ea"/>
              </a:rPr>
              <a:t>4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4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元，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万元，收益为：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4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(4)+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(1)=34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bg2"/>
                </a:solidFill>
                <a:sym typeface="+mn-ea"/>
              </a:rPr>
              <a:t>4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5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万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元，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前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项目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0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万元，收益为：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4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(5)+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(0)=24</a:t>
            </a:r>
            <a:endParaRPr lang="en-US" altLang="zh-CN" dirty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chemeClr val="bg2"/>
                </a:solidFill>
                <a:sym typeface="+mn-ea"/>
              </a:rPr>
              <a:t>则最大收益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>
                <a:solidFill>
                  <a:schemeClr val="bg2"/>
                </a:solidFill>
                <a:sym typeface="+mn-ea"/>
              </a:rPr>
              <a:t>4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(5)=max{43,61,51,35,34,24}=61</a:t>
            </a:r>
            <a:endParaRPr dirty="0">
              <a:solidFill>
                <a:schemeClr val="bg2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65705" y="5494020"/>
            <a:ext cx="3419475" cy="52197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 anchor="t">
            <a:spAutoFit/>
          </a:bodyPr>
          <a:lstStyle/>
          <a:p>
            <a:r>
              <a:rPr lang="en-US" altLang="zh-CN" sz="2800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sz="2800" b="1" baseline="-25000" dirty="0" smtClean="0">
                <a:solidFill>
                  <a:schemeClr val="bg2"/>
                </a:solidFill>
                <a:sym typeface="+mn-ea"/>
              </a:rPr>
              <a:t>4</a:t>
            </a:r>
            <a:r>
              <a:rPr lang="en-US" altLang="zh-CN" sz="2800" b="1" dirty="0" smtClean="0">
                <a:solidFill>
                  <a:schemeClr val="bg2"/>
                </a:solidFill>
                <a:sym typeface="+mn-ea"/>
              </a:rPr>
              <a:t>={0,20,31,33,50,</a:t>
            </a:r>
            <a:r>
              <a:rPr lang="en-US" altLang="zh-CN" sz="2800" b="1" dirty="0" smtClean="0">
                <a:solidFill>
                  <a:srgbClr val="FF0000"/>
                </a:solidFill>
                <a:sym typeface="+mn-ea"/>
              </a:rPr>
              <a:t>61</a:t>
            </a:r>
            <a:r>
              <a:rPr lang="en-US" altLang="zh-CN" sz="2800" b="1" dirty="0" smtClean="0">
                <a:solidFill>
                  <a:schemeClr val="bg2"/>
                </a:solidFill>
                <a:sym typeface="+mn-ea"/>
              </a:rPr>
              <a:t>}</a:t>
            </a:r>
            <a:endParaRPr lang="en-US" altLang="zh-CN" sz="2800" b="1" dirty="0" smtClean="0">
              <a:solidFill>
                <a:schemeClr val="bg2"/>
              </a:solidFill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3"/>
          <p:cNvSpPr txBox="1"/>
          <p:nvPr/>
        </p:nvSpPr>
        <p:spPr>
          <a:xfrm>
            <a:off x="526415" y="1576705"/>
            <a:ext cx="8090535" cy="4965065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pPr marL="598805" lvl="1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zh-CN" altLang="en-US" dirty="0">
                <a:solidFill>
                  <a:schemeClr val="bg2"/>
                </a:solidFill>
                <a:sym typeface="+mn-ea"/>
              </a:rPr>
              <a:t>解的追踪</a:t>
            </a:r>
            <a:endParaRPr lang="zh-CN" altLang="en-US" dirty="0">
              <a:solidFill>
                <a:schemeClr val="bg2"/>
              </a:solidFill>
              <a:sym typeface="+mn-ea"/>
            </a:endParaRPr>
          </a:p>
          <a:p>
            <a:pPr marL="255905" lvl="1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r>
              <a:rPr lang="zh-CN" altLang="en-US" dirty="0">
                <a:solidFill>
                  <a:schemeClr val="bg2"/>
                </a:solidFill>
                <a:sym typeface="+mn-ea"/>
              </a:rPr>
              <a:t>（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）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>
                <a:solidFill>
                  <a:schemeClr val="bg2"/>
                </a:solidFill>
                <a:sym typeface="+mn-ea"/>
              </a:rPr>
              <a:t>4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(5)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即为：前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4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个项目投资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5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万元的最大收益为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61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，即整个问题的解。</a:t>
            </a:r>
            <a:endParaRPr lang="zh-CN" altLang="en-US" dirty="0">
              <a:solidFill>
                <a:schemeClr val="bg2"/>
              </a:solidFill>
              <a:sym typeface="+mn-ea"/>
            </a:endParaRPr>
          </a:p>
          <a:p>
            <a:pPr marL="255905"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r>
              <a:rPr lang="zh-CN" altLang="en-US" dirty="0">
                <a:solidFill>
                  <a:schemeClr val="bg2"/>
                </a:solidFill>
                <a:sym typeface="+mn-ea"/>
              </a:rPr>
              <a:t>（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）该解是给项目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4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投资了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万元，则前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个项目的投资为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4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万元。</a:t>
            </a:r>
            <a:endParaRPr lang="zh-CN" altLang="en-US" dirty="0">
              <a:solidFill>
                <a:schemeClr val="bg2"/>
              </a:solidFill>
              <a:sym typeface="+mn-ea"/>
            </a:endParaRPr>
          </a:p>
          <a:p>
            <a:pPr marL="255905"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r>
              <a:rPr lang="zh-CN" altLang="en-US" dirty="0">
                <a:solidFill>
                  <a:schemeClr val="bg2"/>
                </a:solidFill>
                <a:sym typeface="+mn-ea"/>
              </a:rPr>
              <a:t>（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）在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>
                <a:solidFill>
                  <a:schemeClr val="bg2"/>
                </a:solidFill>
                <a:sym typeface="+mn-ea"/>
              </a:rPr>
              <a:t>3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(4)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的最大收益为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41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，该解是给项目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投资了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万元，则前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个项目的投资为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万元。</a:t>
            </a:r>
            <a:endParaRPr lang="zh-CN" altLang="en-US" dirty="0">
              <a:solidFill>
                <a:schemeClr val="bg2"/>
              </a:solidFill>
              <a:sym typeface="+mn-ea"/>
            </a:endParaRPr>
          </a:p>
          <a:p>
            <a:pPr marL="255905"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r>
              <a:rPr lang="zh-CN" altLang="en-US" dirty="0">
                <a:solidFill>
                  <a:schemeClr val="bg2"/>
                </a:solidFill>
                <a:sym typeface="+mn-ea"/>
              </a:rPr>
              <a:t>（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4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）在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>
                <a:solidFill>
                  <a:schemeClr val="bg2"/>
                </a:solidFill>
                <a:sym typeface="+mn-ea"/>
              </a:rPr>
              <a:t>2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(1)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的最大收益为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11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，该解是给项目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投资了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0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万元，则前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个项目的投资为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万元。</a:t>
            </a:r>
            <a:endParaRPr lang="zh-CN" altLang="en-US" dirty="0">
              <a:solidFill>
                <a:schemeClr val="bg2"/>
              </a:solidFill>
              <a:sym typeface="+mn-ea"/>
            </a:endParaRPr>
          </a:p>
          <a:p>
            <a:pPr marL="255905"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r>
              <a:rPr lang="zh-CN" altLang="en-US" dirty="0">
                <a:solidFill>
                  <a:schemeClr val="bg2"/>
                </a:solidFill>
                <a:sym typeface="+mn-ea"/>
              </a:rPr>
              <a:t>（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5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）在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aseline="-25000" dirty="0">
                <a:solidFill>
                  <a:schemeClr val="bg2"/>
                </a:solidFill>
                <a:sym typeface="+mn-ea"/>
              </a:rPr>
              <a:t>1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(1)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的最大收益为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11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，该解是给项目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投资了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万元。</a:t>
            </a:r>
            <a:endParaRPr lang="en-US" altLang="zh-CN" dirty="0">
              <a:solidFill>
                <a:schemeClr val="bg2"/>
              </a:solidFill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3"/>
          <p:cNvSpPr txBox="1"/>
          <p:nvPr/>
        </p:nvSpPr>
        <p:spPr>
          <a:xfrm>
            <a:off x="526415" y="1576705"/>
            <a:ext cx="8090535" cy="4521835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pPr marL="598805" lvl="1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zh-CN" altLang="en-US" dirty="0">
                <a:solidFill>
                  <a:schemeClr val="bg2"/>
                </a:solidFill>
                <a:sym typeface="+mn-ea"/>
              </a:rPr>
              <a:t>数据结构的设计</a:t>
            </a:r>
            <a:endParaRPr lang="zh-CN" altLang="en-US" dirty="0">
              <a:solidFill>
                <a:schemeClr val="bg2"/>
              </a:solidFill>
              <a:sym typeface="+mn-ea"/>
            </a:endParaRPr>
          </a:p>
          <a:p>
            <a:pPr marL="255905" lvl="1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r>
              <a:rPr lang="zh-CN" altLang="en-US" dirty="0">
                <a:solidFill>
                  <a:schemeClr val="bg2"/>
                </a:solidFill>
                <a:sym typeface="+mn-ea"/>
              </a:rPr>
              <a:t>（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）已知效益数组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f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，该数组的内容是逐行使用，在计算前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k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个项目时，只用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="1" i="1" baseline="-25000" dirty="0">
                <a:solidFill>
                  <a:schemeClr val="bg2"/>
                </a:solidFill>
                <a:sym typeface="+mn-ea"/>
              </a:rPr>
              <a:t>k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。可以使用一维数组逐行输入。</a:t>
            </a:r>
            <a:endParaRPr lang="zh-CN" altLang="en-US" dirty="0">
              <a:solidFill>
                <a:schemeClr val="bg2"/>
              </a:solidFill>
              <a:sym typeface="+mn-ea"/>
            </a:endParaRPr>
          </a:p>
          <a:p>
            <a:pPr marL="255905" lvl="1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r>
              <a:rPr lang="zh-CN" altLang="en-US" dirty="0">
                <a:solidFill>
                  <a:schemeClr val="bg2"/>
                </a:solidFill>
                <a:sym typeface="+mn-ea"/>
              </a:rPr>
              <a:t>（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）最大收益数组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F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，在计算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="1" i="1" baseline="-25000" dirty="0">
                <a:solidFill>
                  <a:schemeClr val="bg2"/>
                </a:solidFill>
                <a:sym typeface="+mn-ea"/>
              </a:rPr>
              <a:t>k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时，仅反复使用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="1" i="1" baseline="-25000" dirty="0">
                <a:solidFill>
                  <a:schemeClr val="bg2"/>
                </a:solidFill>
                <a:sym typeface="+mn-ea"/>
              </a:rPr>
              <a:t>k</a:t>
            </a:r>
            <a:r>
              <a:rPr lang="en-US" altLang="zh-CN" baseline="-25000" dirty="0">
                <a:solidFill>
                  <a:schemeClr val="bg2"/>
                </a:solidFill>
                <a:sym typeface="+mn-ea"/>
              </a:rPr>
              <a:t>-1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，因此可以使用一维数组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dp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存储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="1" i="1" baseline="-25000" dirty="0">
                <a:solidFill>
                  <a:schemeClr val="bg2"/>
                </a:solidFill>
                <a:sym typeface="+mn-ea"/>
              </a:rPr>
              <a:t>k</a:t>
            </a:r>
            <a:r>
              <a:rPr lang="en-US" altLang="zh-CN" baseline="-25000" dirty="0">
                <a:solidFill>
                  <a:schemeClr val="bg2"/>
                </a:solidFill>
                <a:sym typeface="+mn-ea"/>
              </a:rPr>
              <a:t>-1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，计算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="1" i="1" baseline="-25000" dirty="0">
                <a:solidFill>
                  <a:schemeClr val="bg2"/>
                </a:solidFill>
                <a:sym typeface="+mn-ea"/>
              </a:rPr>
              <a:t>k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过程中使用一维数组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temp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暂存</a:t>
            </a:r>
            <a:r>
              <a:rPr lang="zh-CN" altLang="en-US" b="1" dirty="0">
                <a:solidFill>
                  <a:schemeClr val="bg2"/>
                </a:solidFill>
                <a:sym typeface="+mn-ea"/>
              </a:rPr>
              <a:t>，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k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阶段决策结束后，将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temp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数组的内容送入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dp</a:t>
            </a:r>
            <a:r>
              <a:rPr lang="zh-CN" altLang="en-US" b="1" dirty="0">
                <a:solidFill>
                  <a:schemeClr val="bg2"/>
                </a:solidFill>
                <a:sym typeface="+mn-ea"/>
              </a:rPr>
              <a:t>。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最后一阶段结束后，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dp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[5]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中的值就是最优解。</a:t>
            </a:r>
            <a:endParaRPr lang="zh-CN" altLang="en-US" dirty="0">
              <a:solidFill>
                <a:schemeClr val="bg2"/>
              </a:solidFill>
              <a:sym typeface="+mn-ea"/>
            </a:endParaRPr>
          </a:p>
          <a:p>
            <a:pPr marL="255905" lvl="1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r>
              <a:rPr lang="zh-CN" altLang="en-US" dirty="0">
                <a:solidFill>
                  <a:schemeClr val="bg2"/>
                </a:solidFill>
                <a:sym typeface="+mn-ea"/>
              </a:rPr>
              <a:t>（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）</a:t>
            </a:r>
            <a:r>
              <a:rPr b="1">
                <a:solidFill>
                  <a:schemeClr val="bg2"/>
                </a:solidFill>
                <a:sym typeface="+mn-ea"/>
              </a:rPr>
              <a:t>标记函数</a:t>
            </a:r>
            <a:r>
              <a:rPr lang="en-US" b="1">
                <a:solidFill>
                  <a:schemeClr val="bg2"/>
                </a:solidFill>
                <a:sym typeface="+mn-ea"/>
              </a:rPr>
              <a:t>——</a:t>
            </a:r>
            <a:r>
              <a:rPr lang="zh-CN" altLang="en-US" b="1">
                <a:solidFill>
                  <a:schemeClr val="bg2"/>
                </a:solidFill>
                <a:sym typeface="+mn-ea"/>
              </a:rPr>
              <a:t>追踪解：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资源分配数组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bonus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，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bonus</a:t>
            </a:r>
            <a:r>
              <a:rPr lang="en-US" altLang="zh-CN" b="1" dirty="0">
                <a:solidFill>
                  <a:schemeClr val="bg2"/>
                </a:solidFill>
                <a:sym typeface="+mn-ea"/>
              </a:rPr>
              <a:t>[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i,j</a:t>
            </a:r>
            <a:r>
              <a:rPr lang="en-US" altLang="zh-CN" b="1" dirty="0">
                <a:solidFill>
                  <a:schemeClr val="bg2"/>
                </a:solidFill>
                <a:sym typeface="+mn-ea"/>
              </a:rPr>
              <a:t>]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记录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i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阶段投资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j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万元获得最大收益时，分给项目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i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的投资金额。</a:t>
            </a:r>
            <a:endParaRPr lang="zh-CN" altLang="en-US" dirty="0">
              <a:solidFill>
                <a:schemeClr val="bg2"/>
              </a:solidFill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3"/>
          <p:cNvSpPr txBox="1"/>
          <p:nvPr/>
        </p:nvSpPr>
        <p:spPr>
          <a:xfrm>
            <a:off x="527050" y="1576705"/>
            <a:ext cx="8090535" cy="534035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pPr marL="598805" lvl="1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zh-CN" altLang="en-US" dirty="0">
                <a:solidFill>
                  <a:schemeClr val="bg2"/>
                </a:solidFill>
                <a:sym typeface="+mn-ea"/>
              </a:rPr>
              <a:t>根据数组内容给出决策结果</a:t>
            </a:r>
            <a:endParaRPr lang="zh-CN" altLang="en-US" dirty="0">
              <a:solidFill>
                <a:schemeClr val="bg2"/>
              </a:solidFill>
              <a:sym typeface="+mn-ea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1009650" y="2110740"/>
          <a:ext cx="6396355" cy="83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3765"/>
                <a:gridCol w="913765"/>
                <a:gridCol w="913765"/>
                <a:gridCol w="913765"/>
                <a:gridCol w="913765"/>
                <a:gridCol w="913765"/>
                <a:gridCol w="913765"/>
              </a:tblGrid>
              <a:tr h="38100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dp</a:t>
                      </a:r>
                      <a:endParaRPr lang="en-US" altLang="zh-CN" sz="2400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 anchor="ctr"/>
                </a:tc>
              </a:tr>
              <a:tr h="381000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/>
                        <a:t>0</a:t>
                      </a:r>
                      <a:endParaRPr lang="en-US" altLang="zh-C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/>
                        <a:t>20</a:t>
                      </a:r>
                      <a:endParaRPr lang="en-US" altLang="zh-C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/>
                        <a:t>31</a:t>
                      </a:r>
                      <a:endParaRPr lang="en-US" altLang="zh-C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/>
                        <a:t>33</a:t>
                      </a:r>
                      <a:endParaRPr lang="en-US" altLang="zh-C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/>
                        <a:t>50</a:t>
                      </a:r>
                      <a:endParaRPr lang="en-US" altLang="zh-C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rgbClr val="FF0000"/>
                          </a:solidFill>
                        </a:rPr>
                        <a:t>61</a:t>
                      </a:r>
                      <a:endParaRPr lang="en-US" altLang="zh-CN" sz="24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341630" y="3295015"/>
          <a:ext cx="8102600" cy="232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825"/>
                <a:gridCol w="1012825"/>
                <a:gridCol w="1012825"/>
                <a:gridCol w="1012825"/>
                <a:gridCol w="1012825"/>
                <a:gridCol w="1012825"/>
                <a:gridCol w="1012825"/>
                <a:gridCol w="1012825"/>
              </a:tblGrid>
              <a:tr h="46482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bonus</a:t>
                      </a:r>
                      <a:endParaRPr lang="en-US" altLang="zh-CN" sz="2400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zh-C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464820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64820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64820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64820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12" name="组合 11"/>
          <p:cNvGrpSpPr/>
          <p:nvPr/>
        </p:nvGrpSpPr>
        <p:grpSpPr>
          <a:xfrm>
            <a:off x="2723515" y="3745230"/>
            <a:ext cx="5336540" cy="508000"/>
            <a:chOff x="4289" y="5898"/>
            <a:chExt cx="8404" cy="800"/>
          </a:xfrm>
        </p:grpSpPr>
        <p:sp>
          <p:nvSpPr>
            <p:cNvPr id="6" name="文本框 5"/>
            <p:cNvSpPr txBox="1"/>
            <p:nvPr/>
          </p:nvSpPr>
          <p:spPr>
            <a:xfrm>
              <a:off x="4289" y="5924"/>
              <a:ext cx="54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600" b="1">
                  <a:solidFill>
                    <a:schemeClr val="bg2"/>
                  </a:solidFill>
                </a:rPr>
                <a:t>0</a:t>
              </a:r>
              <a:endParaRPr lang="en-US" altLang="zh-CN" sz="2600" b="1">
                <a:solidFill>
                  <a:schemeClr val="bg2"/>
                </a:solidFill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5845" y="5898"/>
              <a:ext cx="54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600" b="1">
                  <a:solidFill>
                    <a:schemeClr val="bg2"/>
                  </a:solidFill>
                </a:rPr>
                <a:t>1</a:t>
              </a:r>
              <a:endParaRPr lang="en-US" altLang="zh-CN" sz="2600" b="1">
                <a:solidFill>
                  <a:schemeClr val="bg2"/>
                </a:solidFill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7387" y="5924"/>
              <a:ext cx="54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600" b="1">
                  <a:solidFill>
                    <a:schemeClr val="bg2"/>
                  </a:solidFill>
                </a:rPr>
                <a:t>2</a:t>
              </a:r>
              <a:endParaRPr lang="en-US" altLang="zh-CN" sz="2600" b="1">
                <a:solidFill>
                  <a:schemeClr val="bg2"/>
                </a:solidFill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8998" y="5924"/>
              <a:ext cx="54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600" b="1">
                  <a:solidFill>
                    <a:schemeClr val="bg2"/>
                  </a:solidFill>
                </a:rPr>
                <a:t>3</a:t>
              </a:r>
              <a:endParaRPr lang="en-US" altLang="zh-CN" sz="2600" b="1">
                <a:solidFill>
                  <a:schemeClr val="bg2"/>
                </a:solidFill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0635" y="5924"/>
              <a:ext cx="54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600" b="1">
                  <a:solidFill>
                    <a:schemeClr val="bg2"/>
                  </a:solidFill>
                </a:rPr>
                <a:t>4</a:t>
              </a:r>
              <a:endParaRPr lang="en-US" altLang="zh-CN" sz="2600" b="1">
                <a:solidFill>
                  <a:schemeClr val="bg2"/>
                </a:solidFill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2145" y="5924"/>
              <a:ext cx="54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600" b="1">
                  <a:solidFill>
                    <a:schemeClr val="bg2"/>
                  </a:solidFill>
                </a:rPr>
                <a:t>5</a:t>
              </a:r>
              <a:endParaRPr lang="en-US" altLang="zh-CN" sz="2600" b="1">
                <a:solidFill>
                  <a:schemeClr val="bg2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2707005" y="4231005"/>
            <a:ext cx="5336540" cy="508000"/>
            <a:chOff x="4289" y="5898"/>
            <a:chExt cx="8404" cy="800"/>
          </a:xfrm>
        </p:grpSpPr>
        <p:sp>
          <p:nvSpPr>
            <p:cNvPr id="14" name="文本框 13"/>
            <p:cNvSpPr txBox="1"/>
            <p:nvPr/>
          </p:nvSpPr>
          <p:spPr>
            <a:xfrm>
              <a:off x="4289" y="5924"/>
              <a:ext cx="54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600" b="1">
                  <a:solidFill>
                    <a:schemeClr val="bg2"/>
                  </a:solidFill>
                </a:rPr>
                <a:t>0</a:t>
              </a:r>
              <a:endParaRPr lang="en-US" altLang="zh-CN" sz="2600" b="1">
                <a:solidFill>
                  <a:schemeClr val="bg2"/>
                </a:solidFill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845" y="5898"/>
              <a:ext cx="54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600" b="1">
                  <a:solidFill>
                    <a:schemeClr val="bg2"/>
                  </a:solidFill>
                </a:rPr>
                <a:t>0</a:t>
              </a:r>
              <a:endParaRPr lang="en-US" altLang="zh-CN" sz="2600" b="1">
                <a:solidFill>
                  <a:schemeClr val="bg2"/>
                </a:solidFill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7387" y="5924"/>
              <a:ext cx="54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600" b="1">
                  <a:solidFill>
                    <a:schemeClr val="bg2"/>
                  </a:solidFill>
                </a:rPr>
                <a:t>0</a:t>
              </a:r>
              <a:endParaRPr lang="en-US" altLang="zh-CN" sz="2600" b="1">
                <a:solidFill>
                  <a:schemeClr val="bg2"/>
                </a:solidFill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998" y="5924"/>
              <a:ext cx="54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600" b="1">
                  <a:solidFill>
                    <a:schemeClr val="bg2"/>
                  </a:solidFill>
                </a:rPr>
                <a:t>2</a:t>
              </a:r>
              <a:endParaRPr lang="en-US" altLang="zh-CN" sz="2600" b="1">
                <a:solidFill>
                  <a:schemeClr val="bg2"/>
                </a:solidFill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0635" y="5924"/>
              <a:ext cx="54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600" b="1">
                  <a:solidFill>
                    <a:schemeClr val="bg2"/>
                  </a:solidFill>
                </a:rPr>
                <a:t>3</a:t>
              </a:r>
              <a:endParaRPr lang="en-US" altLang="zh-CN" sz="2600" b="1">
                <a:solidFill>
                  <a:schemeClr val="bg2"/>
                </a:solidFill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2145" y="5924"/>
              <a:ext cx="54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600" b="1">
                  <a:solidFill>
                    <a:schemeClr val="bg2"/>
                  </a:solidFill>
                </a:rPr>
                <a:t>4</a:t>
              </a:r>
              <a:endParaRPr lang="en-US" altLang="zh-CN" sz="2600" b="1">
                <a:solidFill>
                  <a:schemeClr val="bg2"/>
                </a:solidFill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2707005" y="4661535"/>
            <a:ext cx="5336540" cy="508000"/>
            <a:chOff x="4289" y="5898"/>
            <a:chExt cx="8404" cy="800"/>
          </a:xfrm>
        </p:grpSpPr>
        <p:sp>
          <p:nvSpPr>
            <p:cNvPr id="21" name="文本框 20"/>
            <p:cNvSpPr txBox="1"/>
            <p:nvPr/>
          </p:nvSpPr>
          <p:spPr>
            <a:xfrm>
              <a:off x="4289" y="5924"/>
              <a:ext cx="54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600" b="1">
                  <a:solidFill>
                    <a:schemeClr val="bg2"/>
                  </a:solidFill>
                </a:rPr>
                <a:t>0</a:t>
              </a:r>
              <a:endParaRPr lang="en-US" altLang="zh-CN" sz="2600" b="1">
                <a:solidFill>
                  <a:schemeClr val="bg2"/>
                </a:solidFill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5845" y="5898"/>
              <a:ext cx="54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600" b="1">
                  <a:solidFill>
                    <a:schemeClr val="bg2"/>
                  </a:solidFill>
                </a:rPr>
                <a:t>0</a:t>
              </a:r>
              <a:endParaRPr lang="en-US" altLang="zh-CN" sz="2600" b="1">
                <a:solidFill>
                  <a:schemeClr val="bg2"/>
                </a:solidFill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7387" y="5924"/>
              <a:ext cx="54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600" b="1">
                  <a:solidFill>
                    <a:schemeClr val="bg2"/>
                  </a:solidFill>
                </a:rPr>
                <a:t>1</a:t>
              </a:r>
              <a:endParaRPr lang="en-US" altLang="zh-CN" sz="2600" b="1">
                <a:solidFill>
                  <a:schemeClr val="bg2"/>
                </a:solidFill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8998" y="5924"/>
              <a:ext cx="54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600" b="1">
                  <a:solidFill>
                    <a:schemeClr val="bg2"/>
                  </a:solidFill>
                </a:rPr>
                <a:t>3</a:t>
              </a:r>
              <a:endParaRPr lang="en-US" altLang="zh-CN" sz="2600" b="1">
                <a:solidFill>
                  <a:schemeClr val="bg2"/>
                </a:solidFill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0635" y="5924"/>
              <a:ext cx="54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600" b="1">
                  <a:solidFill>
                    <a:schemeClr val="bg2"/>
                  </a:solidFill>
                </a:rPr>
                <a:t>3</a:t>
              </a:r>
              <a:endParaRPr lang="en-US" altLang="zh-CN" sz="2600" b="1">
                <a:solidFill>
                  <a:schemeClr val="bg2"/>
                </a:solidFill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2145" y="5924"/>
              <a:ext cx="54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600" b="1">
                  <a:solidFill>
                    <a:schemeClr val="bg2"/>
                  </a:solidFill>
                </a:rPr>
                <a:t>4</a:t>
              </a:r>
              <a:endParaRPr lang="en-US" altLang="zh-CN" sz="2600" b="1">
                <a:solidFill>
                  <a:schemeClr val="bg2"/>
                </a:solidFill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2707005" y="5163820"/>
            <a:ext cx="5336540" cy="508000"/>
            <a:chOff x="4289" y="5898"/>
            <a:chExt cx="8404" cy="800"/>
          </a:xfrm>
        </p:grpSpPr>
        <p:sp>
          <p:nvSpPr>
            <p:cNvPr id="28" name="文本框 27"/>
            <p:cNvSpPr txBox="1"/>
            <p:nvPr/>
          </p:nvSpPr>
          <p:spPr>
            <a:xfrm>
              <a:off x="4289" y="5924"/>
              <a:ext cx="54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600" b="1">
                  <a:solidFill>
                    <a:schemeClr val="bg2"/>
                  </a:solidFill>
                </a:rPr>
                <a:t>0</a:t>
              </a:r>
              <a:endParaRPr lang="en-US" altLang="zh-CN" sz="2600" b="1">
                <a:solidFill>
                  <a:schemeClr val="bg2"/>
                </a:solidFill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5845" y="5898"/>
              <a:ext cx="54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600" b="1">
                  <a:solidFill>
                    <a:schemeClr val="bg2"/>
                  </a:solidFill>
                </a:rPr>
                <a:t>1</a:t>
              </a:r>
              <a:endParaRPr lang="en-US" altLang="zh-CN" sz="2600" b="1">
                <a:solidFill>
                  <a:schemeClr val="bg2"/>
                </a:solidFill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7387" y="5924"/>
              <a:ext cx="54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600" b="1">
                  <a:solidFill>
                    <a:schemeClr val="bg2"/>
                  </a:solidFill>
                </a:rPr>
                <a:t>1</a:t>
              </a:r>
              <a:endParaRPr lang="en-US" altLang="zh-CN" sz="2600" b="1">
                <a:solidFill>
                  <a:schemeClr val="bg2"/>
                </a:solidFill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8998" y="5924"/>
              <a:ext cx="54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600" b="1">
                  <a:solidFill>
                    <a:schemeClr val="bg2"/>
                  </a:solidFill>
                </a:rPr>
                <a:t>1</a:t>
              </a:r>
              <a:endParaRPr lang="en-US" altLang="zh-CN" sz="2600" b="1">
                <a:solidFill>
                  <a:schemeClr val="bg2"/>
                </a:solidFill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10635" y="5924"/>
              <a:ext cx="54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600" b="1">
                  <a:solidFill>
                    <a:schemeClr val="bg2"/>
                  </a:solidFill>
                </a:rPr>
                <a:t>1</a:t>
              </a:r>
              <a:endParaRPr lang="en-US" altLang="zh-CN" sz="2600" b="1">
                <a:solidFill>
                  <a:schemeClr val="bg2"/>
                </a:solidFill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2145" y="5924"/>
              <a:ext cx="54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600" b="1">
                  <a:solidFill>
                    <a:schemeClr val="bg2"/>
                  </a:solidFill>
                </a:rPr>
                <a:t>1</a:t>
              </a:r>
              <a:endParaRPr lang="en-US" altLang="zh-CN" sz="2600" b="1">
                <a:solidFill>
                  <a:schemeClr val="bg2"/>
                </a:solidFill>
              </a:endParaRPr>
            </a:p>
          </p:txBody>
        </p:sp>
      </p:grpSp>
      <p:sp>
        <p:nvSpPr>
          <p:cNvPr id="34" name="椭圆 33"/>
          <p:cNvSpPr/>
          <p:nvPr/>
        </p:nvSpPr>
        <p:spPr>
          <a:xfrm>
            <a:off x="7517130" y="5193665"/>
            <a:ext cx="737870" cy="425450"/>
          </a:xfrm>
          <a:prstGeom prst="ellipse">
            <a:avLst/>
          </a:prstGeom>
          <a:noFill/>
          <a:ln w="38100">
            <a:solidFill>
              <a:srgbClr val="FF0000"/>
            </a:solidFill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6567805" y="4746625"/>
            <a:ext cx="737870" cy="425450"/>
          </a:xfrm>
          <a:prstGeom prst="ellipse">
            <a:avLst/>
          </a:prstGeom>
          <a:noFill/>
          <a:ln w="38100">
            <a:solidFill>
              <a:srgbClr val="FF0000"/>
            </a:solidFill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3554095" y="4316095"/>
            <a:ext cx="737870" cy="425450"/>
          </a:xfrm>
          <a:prstGeom prst="ellipse">
            <a:avLst/>
          </a:prstGeom>
          <a:noFill/>
          <a:ln w="38100">
            <a:solidFill>
              <a:srgbClr val="FF0000"/>
            </a:solidFill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3537585" y="3797300"/>
            <a:ext cx="737870" cy="425450"/>
          </a:xfrm>
          <a:prstGeom prst="ellipse">
            <a:avLst/>
          </a:prstGeom>
          <a:noFill/>
          <a:ln w="38100">
            <a:solidFill>
              <a:srgbClr val="FF0000"/>
            </a:solidFill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4" grpId="1" animBg="1"/>
      <p:bldP spid="35" grpId="0" bldLvl="0" animBg="1"/>
      <p:bldP spid="35" grpId="1" animBg="1"/>
      <p:bldP spid="36" grpId="0" bldLvl="0" animBg="1"/>
      <p:bldP spid="36" grpId="1" animBg="1"/>
      <p:bldP spid="37" grpId="0" bldLvl="0" animBg="1"/>
      <p:bldP spid="37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3"/>
          <p:cNvSpPr txBox="1"/>
          <p:nvPr/>
        </p:nvSpPr>
        <p:spPr>
          <a:xfrm>
            <a:off x="347980" y="1576705"/>
            <a:ext cx="8090535" cy="3192780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pPr marL="598805" lvl="1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zh-CN" altLang="en-US" dirty="0">
                <a:solidFill>
                  <a:schemeClr val="bg2"/>
                </a:solidFill>
                <a:sym typeface="+mn-ea"/>
              </a:rPr>
              <a:t>子问题界定和计算顺序</a:t>
            </a:r>
            <a:endParaRPr lang="zh-CN" altLang="en-US" dirty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2"/>
                </a:solidFill>
                <a:sym typeface="+mn-ea"/>
              </a:rPr>
              <a:t>子问题界定：由参数 </a:t>
            </a:r>
            <a:r>
              <a:rPr lang="zh-CN" altLang="en-US" b="1" i="1" dirty="0">
                <a:solidFill>
                  <a:schemeClr val="bg2"/>
                </a:solidFill>
                <a:sym typeface="+mn-ea"/>
              </a:rPr>
              <a:t>k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 和</a:t>
            </a:r>
            <a:r>
              <a:rPr lang="zh-CN" altLang="en-US" b="1" i="1" dirty="0">
                <a:solidFill>
                  <a:schemeClr val="bg2"/>
                </a:solidFill>
                <a:sym typeface="+mn-ea"/>
              </a:rPr>
              <a:t> x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 界定</a:t>
            </a:r>
            <a:endParaRPr lang="zh-CN" altLang="en-US" dirty="0">
              <a:solidFill>
                <a:schemeClr val="bg2"/>
              </a:solidFill>
              <a:sym typeface="+mn-ea"/>
            </a:endParaRPr>
          </a:p>
          <a:p>
            <a:pPr marL="713105" lvl="2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zh-CN" altLang="en-US" dirty="0">
                <a:solidFill>
                  <a:schemeClr val="bg2"/>
                </a:solidFill>
                <a:sym typeface="+mn-ea"/>
              </a:rPr>
              <a:t>（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）</a:t>
            </a:r>
            <a:r>
              <a:rPr lang="zh-CN" altLang="en-US" b="1" i="1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k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：考虑对前1, 2, ..., </a:t>
            </a:r>
            <a:r>
              <a:rPr lang="zh-CN" altLang="en-US" b="1" i="1" dirty="0">
                <a:solidFill>
                  <a:schemeClr val="bg2"/>
                </a:solidFill>
                <a:sym typeface="+mn-ea"/>
              </a:rPr>
              <a:t>k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 个项目的投资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——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阶段</a:t>
            </a:r>
            <a:endParaRPr lang="zh-CN" altLang="en-US" dirty="0">
              <a:solidFill>
                <a:schemeClr val="bg2"/>
              </a:solidFill>
              <a:sym typeface="+mn-ea"/>
            </a:endParaRPr>
          </a:p>
          <a:p>
            <a:pPr marL="713105" lvl="2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zh-CN" altLang="en-US" dirty="0">
                <a:solidFill>
                  <a:schemeClr val="bg2"/>
                </a:solidFill>
                <a:sym typeface="+mn-ea"/>
              </a:rPr>
              <a:t>（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）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x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：投资总钱数为</a:t>
            </a:r>
            <a:r>
              <a:rPr lang="zh-CN" altLang="en-US" b="1" i="1" dirty="0">
                <a:solidFill>
                  <a:schemeClr val="bg2"/>
                </a:solidFill>
                <a:sym typeface="+mn-ea"/>
              </a:rPr>
              <a:t> x</a:t>
            </a:r>
            <a:r>
              <a:rPr lang="en-US" altLang="zh-CN" b="1" dirty="0">
                <a:solidFill>
                  <a:schemeClr val="bg2"/>
                </a:solidFill>
                <a:sym typeface="+mn-ea"/>
              </a:rPr>
              <a:t>(0</a:t>
            </a:r>
            <a:r>
              <a:rPr lang="en-US" altLang="zh-CN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≤</a:t>
            </a:r>
            <a:r>
              <a:rPr lang="en-US" altLang="zh-CN" b="1" i="1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≤</a:t>
            </a:r>
            <a:r>
              <a:rPr lang="en-US" altLang="zh-CN" b="1" i="1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m</a:t>
            </a:r>
            <a:r>
              <a:rPr lang="en-US" altLang="zh-CN" b="1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)</a:t>
            </a:r>
            <a:endParaRPr lang="en-US" altLang="zh-CN" b="1" dirty="0">
              <a:solidFill>
                <a:schemeClr val="bg2"/>
              </a:solidFill>
              <a:cs typeface="Times New Roman" panose="02020603050405020304" pitchFamily="18" charset="0"/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原始输入：</a:t>
            </a:r>
            <a:r>
              <a:rPr lang="zh-CN" altLang="en-US" b="1" i="1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k</a:t>
            </a:r>
            <a:r>
              <a:rPr lang="zh-CN" altLang="en-US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 = </a:t>
            </a:r>
            <a:r>
              <a:rPr lang="zh-CN" altLang="en-US" b="1" i="1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n</a:t>
            </a:r>
            <a:r>
              <a:rPr lang="zh-CN" altLang="en-US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, </a:t>
            </a:r>
            <a:r>
              <a:rPr lang="zh-CN" altLang="en-US" b="1" i="1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 = </a:t>
            </a:r>
            <a:r>
              <a:rPr lang="zh-CN" altLang="en-US" b="1" i="1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m</a:t>
            </a:r>
            <a:endParaRPr lang="zh-CN" altLang="en-US" dirty="0">
              <a:solidFill>
                <a:schemeClr val="bg2"/>
              </a:solidFill>
              <a:cs typeface="Times New Roman" panose="02020603050405020304" pitchFamily="18" charset="0"/>
              <a:sym typeface="+mn-ea"/>
            </a:endParaRPr>
          </a:p>
          <a:p>
            <a:pPr marL="713105" lvl="2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zh-CN" altLang="en-US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）子问题计算顺序： </a:t>
            </a:r>
            <a:r>
              <a:rPr lang="zh-CN" altLang="en-US" b="1" i="1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k</a:t>
            </a:r>
            <a:r>
              <a:rPr lang="zh-CN" altLang="en-US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 = 1, 2, ... , </a:t>
            </a:r>
            <a:r>
              <a:rPr lang="zh-CN" altLang="en-US" b="1" i="1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n</a:t>
            </a:r>
            <a:endParaRPr lang="zh-CN" altLang="en-US" dirty="0">
              <a:solidFill>
                <a:schemeClr val="bg2"/>
              </a:solidFill>
              <a:cs typeface="Times New Roman" panose="02020603050405020304" pitchFamily="18" charset="0"/>
              <a:sym typeface="+mn-ea"/>
            </a:endParaRPr>
          </a:p>
          <a:p>
            <a:pPr marL="713105" lvl="2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zh-CN" altLang="en-US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）对于给定的 </a:t>
            </a:r>
            <a:r>
              <a:rPr lang="zh-CN" altLang="en-US" b="1" i="1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k</a:t>
            </a:r>
            <a:r>
              <a:rPr lang="zh-CN" altLang="en-US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，</a:t>
            </a:r>
            <a:r>
              <a:rPr lang="zh-CN" altLang="en-US" b="1" i="1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 = 1, 2, ... , </a:t>
            </a:r>
            <a:r>
              <a:rPr lang="zh-CN" altLang="en-US" b="1" i="1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m</a:t>
            </a:r>
            <a:endParaRPr lang="zh-CN" altLang="en-US" b="1" i="1" dirty="0">
              <a:solidFill>
                <a:schemeClr val="bg2"/>
              </a:solidFill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3"/>
          <p:cNvSpPr txBox="1"/>
          <p:nvPr/>
        </p:nvSpPr>
        <p:spPr>
          <a:xfrm>
            <a:off x="347980" y="1576705"/>
            <a:ext cx="8090535" cy="977265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pPr marL="598805" lvl="1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zh-CN" altLang="en-US" dirty="0">
                <a:solidFill>
                  <a:schemeClr val="bg2"/>
                </a:solidFill>
                <a:sym typeface="+mn-ea"/>
              </a:rPr>
              <a:t>优化函数的递推方程</a:t>
            </a:r>
            <a:endParaRPr lang="zh-CN" altLang="en-US" dirty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zh-CN" altLang="en-US" b="1" i="1" dirty="0">
              <a:solidFill>
                <a:schemeClr val="bg2"/>
              </a:solidFill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20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905" y="2137410"/>
            <a:ext cx="5502910" cy="506095"/>
          </a:xfrm>
          <a:prstGeom prst="rect">
            <a:avLst/>
          </a:prstGeom>
        </p:spPr>
      </p:pic>
      <p:pic>
        <p:nvPicPr>
          <p:cNvPr id="5" name="20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745" y="2794000"/>
            <a:ext cx="5405755" cy="1329690"/>
          </a:xfrm>
          <a:prstGeom prst="rect">
            <a:avLst/>
          </a:prstGeom>
        </p:spPr>
      </p:pic>
      <p:pic>
        <p:nvPicPr>
          <p:cNvPr id="6" name="20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980" y="4246880"/>
            <a:ext cx="5429885" cy="172021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3"/>
          <p:cNvSpPr txBox="1"/>
          <p:nvPr/>
        </p:nvSpPr>
        <p:spPr>
          <a:xfrm>
            <a:off x="347980" y="1576705"/>
            <a:ext cx="8090535" cy="977265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pPr marL="598805" lvl="1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zh-CN" altLang="en-US" dirty="0">
                <a:solidFill>
                  <a:schemeClr val="bg2"/>
                </a:solidFill>
                <a:sym typeface="+mn-ea"/>
              </a:rPr>
              <a:t>时间复杂度分析</a:t>
            </a:r>
            <a:endParaRPr lang="zh-CN" altLang="en-US" dirty="0">
              <a:solidFill>
                <a:schemeClr val="bg2"/>
              </a:solidFill>
              <a:sym typeface="+mn-ea"/>
            </a:endParaRPr>
          </a:p>
          <a:p>
            <a:pPr marL="1056005" lvl="2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zh-CN" altLang="en-US" b="1" i="1" dirty="0">
              <a:solidFill>
                <a:schemeClr val="bg2"/>
              </a:solidFill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7" name="20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345" y="2125345"/>
            <a:ext cx="5605145" cy="492760"/>
          </a:xfrm>
          <a:prstGeom prst="rect">
            <a:avLst/>
          </a:prstGeom>
        </p:spPr>
      </p:pic>
      <p:pic>
        <p:nvPicPr>
          <p:cNvPr id="8" name="20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625" y="2697480"/>
            <a:ext cx="5981700" cy="1241425"/>
          </a:xfrm>
          <a:prstGeom prst="rect">
            <a:avLst/>
          </a:prstGeom>
        </p:spPr>
      </p:pic>
      <p:pic>
        <p:nvPicPr>
          <p:cNvPr id="9" name="20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870" y="4087495"/>
            <a:ext cx="5891530" cy="184086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pic>
        <p:nvPicPr>
          <p:cNvPr id="4" name="20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905" y="1699260"/>
            <a:ext cx="4206240" cy="559435"/>
          </a:xfrm>
          <a:prstGeom prst="rect">
            <a:avLst/>
          </a:prstGeom>
        </p:spPr>
      </p:pic>
      <p:pic>
        <p:nvPicPr>
          <p:cNvPr id="5" name="20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0" y="2258695"/>
            <a:ext cx="6101080" cy="1022985"/>
          </a:xfrm>
          <a:prstGeom prst="rect">
            <a:avLst/>
          </a:prstGeom>
        </p:spPr>
      </p:pic>
      <p:pic>
        <p:nvPicPr>
          <p:cNvPr id="6" name="20 5"/>
          <p:cNvPicPr>
            <a:picLocks noChangeAspect="1"/>
          </p:cNvPicPr>
          <p:nvPr/>
        </p:nvPicPr>
        <p:blipFill>
          <a:blip r:embed="rId3"/>
          <a:srcRect t="6514"/>
          <a:stretch>
            <a:fillRect/>
          </a:stretch>
        </p:blipFill>
        <p:spPr>
          <a:xfrm>
            <a:off x="1009650" y="3479800"/>
            <a:ext cx="5667375" cy="1166495"/>
          </a:xfrm>
          <a:prstGeom prst="rect">
            <a:avLst/>
          </a:prstGeom>
        </p:spPr>
      </p:pic>
      <p:pic>
        <p:nvPicPr>
          <p:cNvPr id="10" name="20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8570" y="4912360"/>
            <a:ext cx="2419350" cy="61912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5536" y="1652139"/>
            <a:ext cx="8280920" cy="408111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r>
              <a:rPr lang="zh-CN" altLang="en-US" b="1" dirty="0" smtClean="0">
                <a:solidFill>
                  <a:schemeClr val="bg2"/>
                </a:solidFill>
              </a:rPr>
              <a:t>背包问题</a:t>
            </a:r>
            <a:endParaRPr lang="zh-CN" altLang="en-US" dirty="0">
              <a:solidFill>
                <a:schemeClr val="bg2"/>
              </a:solidFill>
            </a:endParaRPr>
          </a:p>
          <a:p>
            <a:pPr marL="800100" lvl="1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zh-CN" altLang="en-US" b="1" dirty="0" smtClean="0">
                <a:solidFill>
                  <a:schemeClr val="bg2"/>
                </a:solidFill>
                <a:sym typeface="+mn-ea"/>
              </a:rPr>
              <a:t>背包问题的分类</a:t>
            </a:r>
            <a:endParaRPr lang="en-US" altLang="zh-CN" b="1" dirty="0" smtClean="0">
              <a:solidFill>
                <a:schemeClr val="bg2"/>
              </a:solidFill>
              <a:sym typeface="+mn-ea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bg2"/>
                </a:solidFill>
                <a:sym typeface="+mn-ea"/>
              </a:rPr>
              <a:t>（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）</a:t>
            </a:r>
            <a:r>
              <a:rPr lang="en-US" altLang="zh-CN" b="1" dirty="0" smtClean="0">
                <a:solidFill>
                  <a:srgbClr val="FF0000"/>
                </a:solidFill>
                <a:sym typeface="+mn-ea"/>
              </a:rPr>
              <a:t>0-1</a:t>
            </a:r>
            <a:r>
              <a:rPr lang="zh-CN" altLang="en-US" b="1" dirty="0" smtClean="0">
                <a:solidFill>
                  <a:srgbClr val="FF0000"/>
                </a:solidFill>
                <a:sym typeface="+mn-ea"/>
              </a:rPr>
              <a:t>背包问题</a:t>
            </a:r>
            <a:r>
              <a:rPr lang="zh-CN" altLang="en-US" b="1" dirty="0" smtClean="0">
                <a:solidFill>
                  <a:schemeClr val="bg2"/>
                </a:solidFill>
                <a:sym typeface="+mn-ea"/>
              </a:rPr>
              <a:t>：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物品</a:t>
            </a:r>
            <a:r>
              <a:rPr lang="en-US" altLang="zh-CN" b="1" i="1" dirty="0" err="1" smtClean="0">
                <a:solidFill>
                  <a:schemeClr val="bg2"/>
                </a:solidFill>
                <a:sym typeface="+mn-ea"/>
              </a:rPr>
              <a:t>i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要么不装入背包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(0)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，要么就装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(1)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。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bg2"/>
                </a:solidFill>
                <a:sym typeface="+mn-ea"/>
              </a:rPr>
              <a:t>（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）</a:t>
            </a:r>
            <a:r>
              <a:rPr lang="zh-CN" altLang="en-US" b="1" dirty="0" smtClean="0">
                <a:solidFill>
                  <a:srgbClr val="FF0000"/>
                </a:solidFill>
                <a:sym typeface="+mn-ea"/>
              </a:rPr>
              <a:t>完全背包问题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：背包中物品</a:t>
            </a:r>
            <a:r>
              <a:rPr lang="en-US" altLang="zh-CN" b="1" i="1" dirty="0" err="1" smtClean="0">
                <a:solidFill>
                  <a:schemeClr val="bg2"/>
                </a:solidFill>
                <a:sym typeface="+mn-ea"/>
              </a:rPr>
              <a:t>i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可以装入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x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个，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 x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为</a:t>
            </a:r>
            <a:r>
              <a:rPr lang="zh-CN" altLang="en-US" dirty="0" smtClean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≥</a:t>
            </a:r>
            <a:r>
              <a:rPr lang="en-US" altLang="zh-CN" dirty="0" smtClean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sym typeface="+mn-ea"/>
              </a:rPr>
              <a:t>的整数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。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bg2"/>
                </a:solidFill>
                <a:sym typeface="+mn-ea"/>
              </a:rPr>
              <a:t>（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）可拆包的背包问题：按一定顺序装入背包的物品，其中最后一个物品可按比例装入背包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——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贪心策略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bg2"/>
                </a:solidFill>
                <a:sym typeface="+mn-ea"/>
              </a:rPr>
              <a:t>（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4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）</a:t>
            </a:r>
            <a:r>
              <a:rPr lang="zh-CN" altLang="en-US" dirty="0">
                <a:solidFill>
                  <a:schemeClr val="bg2"/>
                </a:solidFill>
              </a:rPr>
              <a:t>物品数受限背包：第 </a:t>
            </a:r>
            <a:r>
              <a:rPr lang="en-US" altLang="zh-CN" b="1" i="1" dirty="0" err="1">
                <a:solidFill>
                  <a:schemeClr val="bg2"/>
                </a:solidFill>
              </a:rPr>
              <a:t>i</a:t>
            </a:r>
            <a:r>
              <a:rPr lang="en-US" altLang="zh-CN" b="1" i="1" dirty="0">
                <a:solidFill>
                  <a:schemeClr val="bg2"/>
                </a:solidFill>
              </a:rPr>
              <a:t> </a:t>
            </a:r>
            <a:r>
              <a:rPr lang="zh-CN" altLang="en-US" dirty="0">
                <a:solidFill>
                  <a:schemeClr val="bg2"/>
                </a:solidFill>
              </a:rPr>
              <a:t>种物品最多用 </a:t>
            </a:r>
            <a:r>
              <a:rPr lang="en-US" altLang="zh-CN" b="1" i="1" dirty="0" err="1" smtClean="0">
                <a:solidFill>
                  <a:schemeClr val="bg2"/>
                </a:solidFill>
              </a:rPr>
              <a:t>n</a:t>
            </a:r>
            <a:r>
              <a:rPr lang="en-US" altLang="zh-CN" b="1" i="1" baseline="-25000" dirty="0" err="1" smtClean="0">
                <a:solidFill>
                  <a:schemeClr val="bg2"/>
                </a:solidFill>
              </a:rPr>
              <a:t>i</a:t>
            </a:r>
            <a:r>
              <a:rPr lang="zh-CN" altLang="en-US" dirty="0" smtClean="0">
                <a:solidFill>
                  <a:schemeClr val="bg2"/>
                </a:solidFill>
              </a:rPr>
              <a:t>个。</a:t>
            </a:r>
            <a:endParaRPr dirty="0">
              <a:solidFill>
                <a:schemeClr val="bg2"/>
              </a:solidFill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5536" y="1685590"/>
            <a:ext cx="8208912" cy="275152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 smtClean="0">
                <a:solidFill>
                  <a:schemeClr val="bg2"/>
                </a:solidFill>
              </a:rPr>
              <a:t>（</a:t>
            </a:r>
            <a:r>
              <a:rPr lang="en-US" altLang="zh-CN" dirty="0">
                <a:solidFill>
                  <a:schemeClr val="bg2"/>
                </a:solidFill>
              </a:rPr>
              <a:t>5</a:t>
            </a:r>
            <a:r>
              <a:rPr lang="zh-CN" altLang="en-US" dirty="0" smtClean="0">
                <a:solidFill>
                  <a:schemeClr val="bg2"/>
                </a:solidFill>
              </a:rPr>
              <a:t>）</a:t>
            </a:r>
            <a:r>
              <a:rPr lang="zh-CN" altLang="en-US" dirty="0">
                <a:solidFill>
                  <a:schemeClr val="bg2"/>
                </a:solidFill>
              </a:rPr>
              <a:t>多背包问题： </a:t>
            </a:r>
            <a:r>
              <a:rPr lang="en-US" altLang="zh-CN" b="1" i="1" dirty="0">
                <a:solidFill>
                  <a:schemeClr val="bg2"/>
                </a:solidFill>
              </a:rPr>
              <a:t>m</a:t>
            </a:r>
            <a:r>
              <a:rPr lang="zh-CN" altLang="en-US" dirty="0">
                <a:solidFill>
                  <a:schemeClr val="bg2"/>
                </a:solidFill>
              </a:rPr>
              <a:t>个背包，背包 </a:t>
            </a:r>
            <a:r>
              <a:rPr lang="en-US" altLang="zh-CN" b="1" i="1" dirty="0">
                <a:solidFill>
                  <a:schemeClr val="bg2"/>
                </a:solidFill>
              </a:rPr>
              <a:t>j </a:t>
            </a:r>
            <a:r>
              <a:rPr lang="zh-CN" altLang="en-US" dirty="0">
                <a:solidFill>
                  <a:schemeClr val="bg2"/>
                </a:solidFill>
              </a:rPr>
              <a:t>装入</a:t>
            </a:r>
            <a:r>
              <a:rPr lang="zh-CN" altLang="en-US" dirty="0" smtClean="0">
                <a:solidFill>
                  <a:schemeClr val="bg2"/>
                </a:solidFill>
              </a:rPr>
              <a:t>最大重量 </a:t>
            </a:r>
            <a:r>
              <a:rPr lang="en-US" altLang="zh-CN" b="1" i="1" dirty="0" err="1" smtClean="0">
                <a:solidFill>
                  <a:schemeClr val="bg2"/>
                </a:solidFill>
              </a:rPr>
              <a:t>B</a:t>
            </a:r>
            <a:r>
              <a:rPr lang="en-US" altLang="zh-CN" b="1" i="1" baseline="-25000" dirty="0" err="1" smtClean="0">
                <a:solidFill>
                  <a:schemeClr val="bg2"/>
                </a:solidFill>
              </a:rPr>
              <a:t>j</a:t>
            </a:r>
            <a:r>
              <a:rPr lang="zh-CN" altLang="en-US" dirty="0" smtClean="0">
                <a:solidFill>
                  <a:schemeClr val="bg2"/>
                </a:solidFill>
              </a:rPr>
              <a:t>，</a:t>
            </a:r>
            <a:r>
              <a:rPr lang="en-US" altLang="zh-CN" b="1" i="1" dirty="0" smtClean="0">
                <a:solidFill>
                  <a:schemeClr val="bg2"/>
                </a:solidFill>
              </a:rPr>
              <a:t>j </a:t>
            </a:r>
            <a:r>
              <a:rPr lang="en-US" altLang="zh-CN" b="1" dirty="0">
                <a:solidFill>
                  <a:schemeClr val="bg2"/>
                </a:solidFill>
              </a:rPr>
              <a:t>=1,2, … , </a:t>
            </a:r>
            <a:r>
              <a:rPr lang="en-US" altLang="zh-CN" b="1" i="1" dirty="0">
                <a:solidFill>
                  <a:schemeClr val="bg2"/>
                </a:solidFill>
              </a:rPr>
              <a:t>m</a:t>
            </a:r>
            <a:r>
              <a:rPr lang="en-US" altLang="zh-CN" b="1" dirty="0">
                <a:solidFill>
                  <a:schemeClr val="bg2"/>
                </a:solidFill>
              </a:rPr>
              <a:t>. </a:t>
            </a:r>
            <a:r>
              <a:rPr lang="zh-CN" altLang="en-US" dirty="0">
                <a:solidFill>
                  <a:schemeClr val="bg2"/>
                </a:solidFill>
              </a:rPr>
              <a:t>在满足所有</a:t>
            </a:r>
            <a:r>
              <a:rPr lang="zh-CN" altLang="en-US" dirty="0" smtClean="0">
                <a:solidFill>
                  <a:schemeClr val="bg2"/>
                </a:solidFill>
              </a:rPr>
              <a:t>背包重量</a:t>
            </a:r>
            <a:r>
              <a:rPr lang="zh-CN" altLang="en-US" dirty="0">
                <a:solidFill>
                  <a:schemeClr val="bg2"/>
                </a:solidFill>
              </a:rPr>
              <a:t>约束条件下使装入物品价值最大 </a:t>
            </a:r>
            <a:r>
              <a:rPr lang="zh-CN" altLang="en-US" dirty="0" smtClean="0">
                <a:solidFill>
                  <a:schemeClr val="bg2"/>
                </a:solidFill>
              </a:rPr>
              <a:t>。</a:t>
            </a:r>
            <a:endParaRPr lang="en-US" altLang="zh-CN" dirty="0" smtClean="0">
              <a:solidFill>
                <a:schemeClr val="bg2"/>
              </a:solidFill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bg2"/>
                </a:solidFill>
              </a:rPr>
              <a:t>（</a:t>
            </a:r>
            <a:r>
              <a:rPr lang="en-US" altLang="zh-CN" dirty="0">
                <a:solidFill>
                  <a:schemeClr val="bg2"/>
                </a:solidFill>
              </a:rPr>
              <a:t>6</a:t>
            </a:r>
            <a:r>
              <a:rPr lang="zh-CN" altLang="en-US" dirty="0" smtClean="0">
                <a:solidFill>
                  <a:schemeClr val="bg2"/>
                </a:solidFill>
              </a:rPr>
              <a:t>）</a:t>
            </a:r>
            <a:r>
              <a:rPr lang="zh-CN" altLang="en-US" dirty="0">
                <a:solidFill>
                  <a:schemeClr val="bg2"/>
                </a:solidFill>
              </a:rPr>
              <a:t>二维背包问题：每件物品有重量 </a:t>
            </a:r>
            <a:r>
              <a:rPr lang="en-US" altLang="zh-CN" b="1" i="1" dirty="0" err="1">
                <a:solidFill>
                  <a:schemeClr val="bg2"/>
                </a:solidFill>
              </a:rPr>
              <a:t>w</a:t>
            </a:r>
            <a:r>
              <a:rPr lang="en-US" altLang="zh-CN" b="1" i="1" baseline="-25000" dirty="0" err="1">
                <a:solidFill>
                  <a:schemeClr val="bg2"/>
                </a:solidFill>
              </a:rPr>
              <a:t>i</a:t>
            </a:r>
            <a:r>
              <a:rPr lang="en-US" altLang="zh-CN" b="1" i="1" dirty="0">
                <a:solidFill>
                  <a:schemeClr val="bg2"/>
                </a:solidFill>
              </a:rPr>
              <a:t> </a:t>
            </a:r>
            <a:r>
              <a:rPr lang="zh-CN" altLang="en-US" dirty="0">
                <a:solidFill>
                  <a:schemeClr val="bg2"/>
                </a:solidFill>
              </a:rPr>
              <a:t>和</a:t>
            </a:r>
            <a:r>
              <a:rPr lang="zh-CN" altLang="en-US" dirty="0" smtClean="0">
                <a:solidFill>
                  <a:schemeClr val="bg2"/>
                </a:solidFill>
              </a:rPr>
              <a:t>体积 </a:t>
            </a:r>
            <a:r>
              <a:rPr lang="en-US" altLang="zh-CN" b="1" i="1" dirty="0" err="1" smtClean="0">
                <a:solidFill>
                  <a:schemeClr val="bg2"/>
                </a:solidFill>
              </a:rPr>
              <a:t>t</a:t>
            </a:r>
            <a:r>
              <a:rPr lang="en-US" altLang="zh-CN" b="1" i="1" baseline="-25000" dirty="0" err="1" smtClean="0">
                <a:solidFill>
                  <a:schemeClr val="bg2"/>
                </a:solidFill>
              </a:rPr>
              <a:t>i</a:t>
            </a:r>
            <a:r>
              <a:rPr lang="zh-CN" altLang="en-US" b="1" dirty="0" smtClean="0">
                <a:solidFill>
                  <a:schemeClr val="bg2"/>
                </a:solidFill>
              </a:rPr>
              <a:t>，</a:t>
            </a:r>
            <a:r>
              <a:rPr lang="en-US" altLang="zh-CN" b="1" i="1" dirty="0" err="1" smtClean="0">
                <a:solidFill>
                  <a:schemeClr val="bg2"/>
                </a:solidFill>
              </a:rPr>
              <a:t>i</a:t>
            </a:r>
            <a:r>
              <a:rPr lang="en-US" altLang="zh-CN" b="1" i="1" dirty="0" smtClean="0">
                <a:solidFill>
                  <a:schemeClr val="bg2"/>
                </a:solidFill>
              </a:rPr>
              <a:t> </a:t>
            </a:r>
            <a:r>
              <a:rPr lang="en-US" altLang="zh-CN" b="1" dirty="0">
                <a:solidFill>
                  <a:schemeClr val="bg2"/>
                </a:solidFill>
              </a:rPr>
              <a:t>=1, 2, … , 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zh-CN" altLang="en-US" dirty="0">
                <a:solidFill>
                  <a:schemeClr val="bg2"/>
                </a:solidFill>
              </a:rPr>
              <a:t>，背包总重不超过 </a:t>
            </a:r>
            <a:r>
              <a:rPr lang="en-US" altLang="zh-CN" b="1" i="1" dirty="0">
                <a:solidFill>
                  <a:schemeClr val="bg2"/>
                </a:solidFill>
              </a:rPr>
              <a:t>b</a:t>
            </a:r>
            <a:r>
              <a:rPr lang="zh-CN" altLang="en-US" dirty="0" smtClean="0">
                <a:solidFill>
                  <a:schemeClr val="bg2"/>
                </a:solidFill>
              </a:rPr>
              <a:t>，体积</a:t>
            </a:r>
            <a:r>
              <a:rPr lang="zh-CN" altLang="en-US" dirty="0">
                <a:solidFill>
                  <a:schemeClr val="bg2"/>
                </a:solidFill>
              </a:rPr>
              <a:t>不超过</a:t>
            </a:r>
            <a:r>
              <a:rPr lang="en-US" altLang="zh-CN" b="1" i="1" dirty="0" smtClean="0">
                <a:solidFill>
                  <a:schemeClr val="bg2"/>
                </a:solidFill>
              </a:rPr>
              <a:t>V</a:t>
            </a:r>
            <a:r>
              <a:rPr lang="zh-CN" altLang="en-US" dirty="0" smtClean="0">
                <a:solidFill>
                  <a:schemeClr val="bg2"/>
                </a:solidFill>
              </a:rPr>
              <a:t>，如何</a:t>
            </a:r>
            <a:r>
              <a:rPr lang="zh-CN" altLang="en-US" dirty="0">
                <a:solidFill>
                  <a:schemeClr val="bg2"/>
                </a:solidFill>
              </a:rPr>
              <a:t>选择物品以得到</a:t>
            </a:r>
            <a:r>
              <a:rPr lang="zh-CN" altLang="en-US" dirty="0" smtClean="0">
                <a:solidFill>
                  <a:schemeClr val="bg2"/>
                </a:solidFill>
              </a:rPr>
              <a:t>最大价值 。</a:t>
            </a:r>
            <a:endParaRPr dirty="0">
              <a:solidFill>
                <a:schemeClr val="bg2"/>
              </a:solidFill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5536" y="1555340"/>
            <a:ext cx="8280920" cy="40786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628650" lvl="1" indent="-355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en-US" altLang="zh-CN" b="1" dirty="0">
                <a:solidFill>
                  <a:schemeClr val="bg2"/>
                </a:solidFill>
                <a:sym typeface="+mn-ea"/>
              </a:rPr>
              <a:t>0-1</a:t>
            </a:r>
            <a:r>
              <a:rPr lang="zh-CN" altLang="en-US" b="1" dirty="0">
                <a:solidFill>
                  <a:schemeClr val="bg2"/>
                </a:solidFill>
                <a:sym typeface="+mn-ea"/>
              </a:rPr>
              <a:t>背包</a:t>
            </a:r>
            <a:r>
              <a:rPr lang="zh-CN" altLang="en-US" b="1" dirty="0" smtClean="0">
                <a:solidFill>
                  <a:schemeClr val="bg2"/>
                </a:solidFill>
                <a:sym typeface="+mn-ea"/>
              </a:rPr>
              <a:t>问题</a:t>
            </a:r>
            <a:endParaRPr lang="en-US" altLang="zh-CN" b="1" dirty="0" smtClean="0">
              <a:solidFill>
                <a:schemeClr val="bg2"/>
              </a:solidFill>
              <a:sym typeface="+mn-ea"/>
            </a:endParaRPr>
          </a:p>
          <a:p>
            <a:pPr marL="628650" lvl="1" indent="-355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问题描述：</a:t>
            </a:r>
            <a:r>
              <a:rPr lang="zh-CN" altLang="pt-BR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有</a:t>
            </a:r>
            <a:r>
              <a:rPr lang="en-US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n</a:t>
            </a:r>
            <a:r>
              <a:rPr lang="zh-CN" altLang="pt-BR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个</a:t>
            </a:r>
            <a:r>
              <a:rPr lang="zh-CN" altLang="pt-BR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重量分别为</a:t>
            </a:r>
            <a:r>
              <a:rPr lang="pt-BR" altLang="zh-CN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{</a:t>
            </a:r>
            <a:r>
              <a:rPr lang="pt-BR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w</a:t>
            </a:r>
            <a:r>
              <a:rPr lang="pt-BR" altLang="zh-CN" baseline="-25000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1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,</a:t>
            </a:r>
            <a:r>
              <a:rPr lang="pt-BR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w</a:t>
            </a:r>
            <a:r>
              <a:rPr lang="pt-BR" altLang="zh-CN" baseline="-25000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2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,</a:t>
            </a:r>
            <a:r>
              <a:rPr lang="pt-BR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…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,</a:t>
            </a:r>
            <a:r>
              <a:rPr lang="pt-BR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w</a:t>
            </a:r>
            <a:r>
              <a:rPr lang="pt-BR" altLang="zh-CN" b="1" i="1" baseline="-25000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n</a:t>
            </a:r>
            <a:r>
              <a:rPr lang="pt-BR" altLang="zh-CN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}</a:t>
            </a:r>
            <a:r>
              <a:rPr lang="zh-CN" altLang="pt-BR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的物品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，</a:t>
            </a:r>
            <a:r>
              <a:rPr lang="zh-CN" altLang="pt-BR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它们的价值分别为</a:t>
            </a:r>
            <a:r>
              <a:rPr lang="pt-BR" altLang="zh-CN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{</a:t>
            </a:r>
            <a:r>
              <a:rPr lang="pt-BR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v</a:t>
            </a:r>
            <a:r>
              <a:rPr lang="pt-BR" altLang="zh-CN" baseline="-25000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1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,</a:t>
            </a:r>
            <a:r>
              <a:rPr lang="pt-BR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v</a:t>
            </a:r>
            <a:r>
              <a:rPr lang="pt-BR" altLang="zh-CN" baseline="-25000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2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,</a:t>
            </a:r>
            <a:r>
              <a:rPr lang="pt-BR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…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,</a:t>
            </a:r>
            <a:r>
              <a:rPr lang="pt-BR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v</a:t>
            </a:r>
            <a:r>
              <a:rPr lang="pt-BR" altLang="zh-CN" b="1" i="1" baseline="-25000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n</a:t>
            </a:r>
            <a:r>
              <a:rPr lang="pt-BR" altLang="zh-CN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}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，</a:t>
            </a:r>
            <a:r>
              <a:rPr lang="zh-CN" altLang="pt-BR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给定一个容量为</a:t>
            </a:r>
            <a:r>
              <a:rPr lang="pt-BR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W</a:t>
            </a:r>
            <a:r>
              <a:rPr lang="zh-CN" altLang="pt-BR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的</a:t>
            </a:r>
            <a:r>
              <a:rPr lang="zh-CN" altLang="pt-BR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背包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，</a:t>
            </a:r>
            <a:r>
              <a:rPr lang="zh-CN" altLang="pt-BR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设计从这些物品中选取一部分物品放入该</a:t>
            </a:r>
            <a:r>
              <a:rPr lang="zh-CN" altLang="pt-BR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背包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，使重量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和不超过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W</a:t>
            </a:r>
            <a:r>
              <a:rPr lang="zh-CN" altLang="pt-BR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具有最大的价值</a:t>
            </a:r>
            <a:r>
              <a:rPr lang="zh-CN" altLang="pt-BR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。</a:t>
            </a:r>
            <a:endParaRPr lang="en-US" altLang="zh-CN" dirty="0" smtClean="0">
              <a:solidFill>
                <a:schemeClr val="bg2"/>
              </a:solidFill>
              <a:latin typeface="+mn-ea"/>
              <a:ea typeface="+mn-ea"/>
              <a:cs typeface="Consolas" panose="020B0609020204030204" pitchFamily="49" charset="0"/>
            </a:endParaRPr>
          </a:p>
          <a:p>
            <a:pPr marL="628650" lvl="1" indent="-355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解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向量：</a:t>
            </a:r>
            <a:r>
              <a:rPr lang="en-US" altLang="zh-CN" b="1" dirty="0">
                <a:solidFill>
                  <a:schemeClr val="bg2"/>
                </a:solidFill>
              </a:rPr>
              <a:t>&lt;</a:t>
            </a:r>
            <a:r>
              <a:rPr lang="en-US" altLang="zh-CN" b="1" i="1" dirty="0" smtClean="0">
                <a:solidFill>
                  <a:schemeClr val="bg2"/>
                </a:solidFill>
              </a:rPr>
              <a:t>x</a:t>
            </a:r>
            <a:r>
              <a:rPr lang="en-US" altLang="zh-CN" b="1" baseline="-25000" dirty="0" smtClean="0">
                <a:solidFill>
                  <a:schemeClr val="bg2"/>
                </a:solidFill>
              </a:rPr>
              <a:t>1</a:t>
            </a:r>
            <a:r>
              <a:rPr lang="en-US" altLang="zh-CN" b="1" dirty="0" smtClean="0">
                <a:solidFill>
                  <a:schemeClr val="bg2"/>
                </a:solidFill>
              </a:rPr>
              <a:t>, </a:t>
            </a:r>
            <a:r>
              <a:rPr lang="en-US" altLang="zh-CN" b="1" i="1" dirty="0" smtClean="0">
                <a:solidFill>
                  <a:schemeClr val="bg2"/>
                </a:solidFill>
              </a:rPr>
              <a:t>x</a:t>
            </a:r>
            <a:r>
              <a:rPr lang="en-US" altLang="zh-CN" b="1" baseline="-25000" dirty="0" smtClean="0">
                <a:solidFill>
                  <a:schemeClr val="bg2"/>
                </a:solidFill>
              </a:rPr>
              <a:t>2</a:t>
            </a:r>
            <a:r>
              <a:rPr lang="en-US" altLang="zh-CN" b="1" dirty="0" smtClean="0">
                <a:solidFill>
                  <a:schemeClr val="bg2"/>
                </a:solidFill>
              </a:rPr>
              <a:t>, ... , </a:t>
            </a:r>
            <a:r>
              <a:rPr lang="en-US" altLang="zh-CN" b="1" i="1" dirty="0" err="1">
                <a:solidFill>
                  <a:schemeClr val="bg2"/>
                </a:solidFill>
              </a:rPr>
              <a:t>x</a:t>
            </a:r>
            <a:r>
              <a:rPr lang="en-US" altLang="zh-CN" b="1" i="1" baseline="-25000" dirty="0" err="1">
                <a:solidFill>
                  <a:schemeClr val="bg2"/>
                </a:solidFill>
              </a:rPr>
              <a:t>n</a:t>
            </a:r>
            <a:r>
              <a:rPr lang="en-US" altLang="zh-CN" b="1" dirty="0">
                <a:solidFill>
                  <a:schemeClr val="bg2"/>
                </a:solidFill>
              </a:rPr>
              <a:t>&gt;</a:t>
            </a:r>
            <a:r>
              <a:rPr lang="zh-CN" altLang="en-US" dirty="0">
                <a:solidFill>
                  <a:schemeClr val="bg2"/>
                </a:solidFill>
              </a:rPr>
              <a:t>，其中</a:t>
            </a:r>
            <a:r>
              <a:rPr lang="en-US" altLang="zh-CN" b="1" i="1" dirty="0">
                <a:solidFill>
                  <a:schemeClr val="bg2"/>
                </a:solidFill>
              </a:rPr>
              <a:t>x</a:t>
            </a:r>
            <a:r>
              <a:rPr lang="en-US" altLang="zh-CN" b="1" i="1" baseline="-25000" dirty="0">
                <a:solidFill>
                  <a:schemeClr val="bg2"/>
                </a:solidFill>
              </a:rPr>
              <a:t>i</a:t>
            </a:r>
            <a:r>
              <a:rPr lang="en-US" altLang="zh-CN" dirty="0">
                <a:solidFill>
                  <a:schemeClr val="bg2"/>
                </a:solidFill>
              </a:rPr>
              <a:t> </a:t>
            </a:r>
            <a:r>
              <a:rPr lang="en-US" altLang="zh-CN" dirty="0" smtClean="0">
                <a:solidFill>
                  <a:schemeClr val="bg2"/>
                </a:solidFill>
              </a:rPr>
              <a:t>=0</a:t>
            </a:r>
            <a:r>
              <a:rPr lang="zh-CN" altLang="en-US" dirty="0" smtClean="0">
                <a:solidFill>
                  <a:schemeClr val="bg2"/>
                </a:solidFill>
              </a:rPr>
              <a:t>或</a:t>
            </a:r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</a:rPr>
              <a:t>，表示物品</a:t>
            </a:r>
            <a:r>
              <a:rPr lang="en-US" altLang="zh-CN" b="1" i="1" dirty="0" err="1" smtClean="0">
                <a:solidFill>
                  <a:schemeClr val="bg2"/>
                </a:solidFill>
              </a:rPr>
              <a:t>i</a:t>
            </a:r>
            <a:r>
              <a:rPr lang="zh-CN" altLang="en-US" dirty="0" smtClean="0">
                <a:solidFill>
                  <a:schemeClr val="bg2"/>
                </a:solidFill>
              </a:rPr>
              <a:t>是否装入背包。</a:t>
            </a:r>
            <a:endParaRPr lang="zh-CN" altLang="en-US" dirty="0" smtClean="0">
              <a:solidFill>
                <a:schemeClr val="bg2"/>
              </a:solidFill>
            </a:endParaRPr>
          </a:p>
          <a:p>
            <a:pPr marL="628650" lvl="1" indent="-355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pt-BR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目标函数：</a:t>
            </a:r>
            <a:r>
              <a:rPr lang="en-US" altLang="zh-CN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max{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x</a:t>
            </a:r>
            <a:r>
              <a:rPr lang="en-US" altLang="zh-CN" b="1" baseline="-25000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pt-BR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v</a:t>
            </a:r>
            <a:r>
              <a:rPr lang="pt-BR" altLang="zh-CN" baseline="-25000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  <a:sym typeface="+mn-ea"/>
              </a:rPr>
              <a:t>1</a:t>
            </a:r>
            <a:r>
              <a:rPr lang="en-US" altLang="pt-BR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  <a:sym typeface="+mn-ea"/>
              </a:rPr>
              <a:t>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x</a:t>
            </a:r>
            <a:r>
              <a:rPr lang="en-US" altLang="zh-CN" b="1" baseline="-25000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pt-BR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pt-BR" baseline="-25000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  <a:sym typeface="+mn-ea"/>
              </a:rPr>
              <a:t>2</a:t>
            </a:r>
            <a:r>
              <a:rPr lang="en-US" altLang="pt-BR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  <a:sym typeface="+mn-ea"/>
              </a:rPr>
              <a:t>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x</a:t>
            </a:r>
            <a:r>
              <a:rPr lang="en-US" altLang="zh-CN" b="1" baseline="-25000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pt-BR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pt-BR" baseline="-25000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  <a:sym typeface="+mn-ea"/>
              </a:rPr>
              <a:t>3</a:t>
            </a:r>
            <a:r>
              <a:rPr lang="en-US" altLang="pt-BR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  <a:sym typeface="+mn-ea"/>
              </a:rPr>
              <a:t>+……+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x</a:t>
            </a:r>
            <a:r>
              <a:rPr lang="en-US" altLang="zh-CN" b="1" i="1" baseline="-25000" dirty="0" smtClean="0">
                <a:solidFill>
                  <a:schemeClr val="bg2"/>
                </a:solidFill>
                <a:sym typeface="+mn-ea"/>
              </a:rPr>
              <a:t>n</a:t>
            </a:r>
            <a:r>
              <a:rPr lang="pt-BR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v</a:t>
            </a:r>
            <a:r>
              <a:rPr lang="en-US" altLang="pt-BR" b="1" i="1" baseline="-25000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pt-BR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  <a:sym typeface="+mn-ea"/>
              </a:rPr>
              <a:t>}</a:t>
            </a:r>
            <a:endParaRPr lang="en-US" altLang="pt-BR" dirty="0" smtClean="0">
              <a:solidFill>
                <a:schemeClr val="bg2"/>
              </a:solidFill>
              <a:latin typeface="+mn-ea"/>
              <a:ea typeface="+mn-ea"/>
              <a:cs typeface="Consolas" panose="020B0609020204030204" pitchFamily="49" charset="0"/>
              <a:sym typeface="+mn-ea"/>
            </a:endParaRPr>
          </a:p>
          <a:p>
            <a:pPr marL="628650" lvl="1" indent="-355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pt-BR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约束条件：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x</a:t>
            </a:r>
            <a:r>
              <a:rPr lang="en-US" altLang="zh-CN" b="1" baseline="-25000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en-US" altLang="pt-BR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w</a:t>
            </a:r>
            <a:r>
              <a:rPr lang="pt-BR" altLang="zh-CN" baseline="-25000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  <a:sym typeface="+mn-ea"/>
              </a:rPr>
              <a:t>1</a:t>
            </a:r>
            <a:r>
              <a:rPr lang="en-US" altLang="pt-BR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  <a:sym typeface="+mn-ea"/>
              </a:rPr>
              <a:t>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x</a:t>
            </a:r>
            <a:r>
              <a:rPr lang="en-US" altLang="zh-CN" b="1" baseline="-25000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en-US" altLang="pt-BR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w</a:t>
            </a:r>
            <a:r>
              <a:rPr lang="en-US" altLang="pt-BR" baseline="-25000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  <a:sym typeface="+mn-ea"/>
              </a:rPr>
              <a:t>2</a:t>
            </a:r>
            <a:r>
              <a:rPr lang="en-US" altLang="pt-BR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  <a:sym typeface="+mn-ea"/>
              </a:rPr>
              <a:t>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x</a:t>
            </a:r>
            <a:r>
              <a:rPr lang="en-US" altLang="zh-CN" b="1" baseline="-25000" dirty="0" smtClean="0">
                <a:solidFill>
                  <a:schemeClr val="bg2"/>
                </a:solidFill>
                <a:sym typeface="+mn-ea"/>
              </a:rPr>
              <a:t>3</a:t>
            </a:r>
            <a:r>
              <a:rPr lang="en-US" altLang="pt-BR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w</a:t>
            </a:r>
            <a:r>
              <a:rPr lang="en-US" altLang="pt-BR" baseline="-25000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  <a:sym typeface="+mn-ea"/>
              </a:rPr>
              <a:t>3</a:t>
            </a:r>
            <a:r>
              <a:rPr lang="en-US" altLang="pt-BR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  <a:sym typeface="+mn-ea"/>
              </a:rPr>
              <a:t>+……+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x</a:t>
            </a:r>
            <a:r>
              <a:rPr lang="en-US" altLang="zh-CN" b="1" i="1" baseline="-25000" dirty="0" smtClean="0">
                <a:solidFill>
                  <a:schemeClr val="bg2"/>
                </a:solidFill>
                <a:sym typeface="+mn-ea"/>
              </a:rPr>
              <a:t>n</a:t>
            </a:r>
            <a:r>
              <a:rPr lang="en-US" altLang="pt-BR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w</a:t>
            </a:r>
            <a:r>
              <a:rPr lang="en-US" altLang="pt-BR" b="1" i="1" baseline="-25000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pt-BR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≤W</a:t>
            </a:r>
            <a:endParaRPr lang="en-US" altLang="pt-BR" b="1" i="1" dirty="0" smtClean="0">
              <a:solidFill>
                <a:schemeClr val="bg2"/>
              </a:solidFill>
              <a:ea typeface="+mn-ea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5536" y="1555340"/>
            <a:ext cx="8280920" cy="45218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628650" lvl="1" indent="-355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阶段划分</a:t>
            </a:r>
            <a:endParaRPr lang="en-US" altLang="zh-CN" dirty="0" smtClean="0">
              <a:solidFill>
                <a:schemeClr val="bg2"/>
              </a:solidFill>
              <a:latin typeface="+mn-ea"/>
              <a:ea typeface="+mn-ea"/>
              <a:cs typeface="Consolas" panose="020B0609020204030204" pitchFamily="49" charset="0"/>
            </a:endParaRPr>
          </a:p>
          <a:p>
            <a:pPr marL="273050" lvl="1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（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）根据物品的个数，将问题划分为</a:t>
            </a:r>
            <a:r>
              <a:rPr lang="en-US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n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个阶段。</a:t>
            </a:r>
            <a:endParaRPr lang="en-US" altLang="zh-CN" dirty="0" smtClean="0">
              <a:solidFill>
                <a:schemeClr val="bg2"/>
              </a:solidFill>
              <a:latin typeface="+mn-ea"/>
              <a:ea typeface="+mn-ea"/>
              <a:cs typeface="Consolas" panose="020B0609020204030204" pitchFamily="49" charset="0"/>
            </a:endParaRPr>
          </a:p>
          <a:p>
            <a:pPr marL="273050" lvl="1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（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）第</a:t>
            </a:r>
            <a:r>
              <a:rPr lang="en-US" altLang="zh-CN" b="1" i="1" dirty="0" err="1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i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阶段：背包容量在不超过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y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(0≤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y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≤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W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)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情况下，装入前</a:t>
            </a:r>
            <a:r>
              <a:rPr lang="en-US" altLang="zh-CN" b="1" i="1" dirty="0" err="1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(0≤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≤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n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)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个物品的最大价值，表示为</a:t>
            </a:r>
            <a:r>
              <a:rPr lang="en-US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F</a:t>
            </a:r>
            <a:r>
              <a:rPr lang="en-US" altLang="zh-CN" b="1" i="1" baseline="-25000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y</a:t>
            </a:r>
            <a:r>
              <a:rPr lang="en-US" altLang="zh-CN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。</a:t>
            </a:r>
            <a:endParaRPr lang="en-US" altLang="zh-CN" dirty="0" smtClean="0">
              <a:solidFill>
                <a:schemeClr val="bg2"/>
              </a:solidFill>
              <a:latin typeface="+mn-ea"/>
              <a:ea typeface="+mn-ea"/>
              <a:cs typeface="Consolas" panose="020B0609020204030204" pitchFamily="49" charset="0"/>
            </a:endParaRPr>
          </a:p>
          <a:p>
            <a:pPr marL="615950" lvl="1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边界条件</a:t>
            </a:r>
            <a:endParaRPr lang="en-US" altLang="zh-CN" dirty="0" smtClean="0">
              <a:solidFill>
                <a:schemeClr val="bg2"/>
              </a:solidFill>
              <a:latin typeface="+mn-ea"/>
              <a:ea typeface="+mn-ea"/>
              <a:cs typeface="Consolas" panose="020B0609020204030204" pitchFamily="49" charset="0"/>
            </a:endParaRPr>
          </a:p>
          <a:p>
            <a:pPr marL="273050" lvl="1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（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）</a:t>
            </a:r>
            <a:r>
              <a:rPr lang="en-US" altLang="zh-CN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F</a:t>
            </a:r>
            <a:r>
              <a:rPr lang="en-US" altLang="zh-CN" b="1" i="1" baseline="-25000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(0)=0   </a:t>
            </a:r>
            <a:r>
              <a:rPr lang="zh-CN" altLang="en-US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背包容量为</a:t>
            </a:r>
            <a:r>
              <a:rPr lang="en-US" altLang="zh-CN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0</a:t>
            </a:r>
            <a:r>
              <a:rPr lang="zh-CN" altLang="en-US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时，背包的总价值为</a:t>
            </a:r>
            <a:r>
              <a:rPr lang="en-US" altLang="zh-CN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0</a:t>
            </a:r>
            <a:r>
              <a:rPr lang="zh-CN" altLang="en-US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。</a:t>
            </a:r>
            <a:endParaRPr lang="en-US" altLang="zh-CN" dirty="0" smtClean="0">
              <a:solidFill>
                <a:schemeClr val="bg2"/>
              </a:solidFill>
              <a:cs typeface="Times New Roman" panose="02020603050405020304" pitchFamily="18" charset="0"/>
            </a:endParaRPr>
          </a:p>
          <a:p>
            <a:pPr marL="273050" lvl="1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）</a:t>
            </a:r>
            <a:r>
              <a:rPr lang="en-US" altLang="zh-CN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F</a:t>
            </a:r>
            <a:r>
              <a:rPr lang="en-US" altLang="zh-CN" b="1" baseline="-25000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0</a:t>
            </a:r>
            <a:r>
              <a:rPr lang="en-US" altLang="zh-CN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y</a:t>
            </a:r>
            <a:r>
              <a:rPr lang="en-US" altLang="zh-CN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)=</a:t>
            </a:r>
            <a:r>
              <a:rPr lang="en-US" altLang="zh-CN" dirty="0">
                <a:solidFill>
                  <a:schemeClr val="bg2"/>
                </a:solidFill>
                <a:cs typeface="Times New Roman" panose="02020603050405020304" pitchFamily="18" charset="0"/>
              </a:rPr>
              <a:t>0 </a:t>
            </a:r>
            <a:r>
              <a:rPr lang="en-US" altLang="zh-CN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  </a:t>
            </a:r>
            <a:r>
              <a:rPr lang="zh-CN" altLang="en-US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背包中没有装入物品时的总价值为</a:t>
            </a:r>
            <a:r>
              <a:rPr lang="en-US" altLang="zh-CN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0</a:t>
            </a:r>
            <a:r>
              <a:rPr lang="zh-CN" altLang="en-US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。</a:t>
            </a:r>
            <a:endParaRPr lang="en-US" altLang="zh-CN" dirty="0" smtClean="0">
              <a:solidFill>
                <a:schemeClr val="bg2"/>
              </a:solidFill>
              <a:cs typeface="Times New Roman" panose="02020603050405020304" pitchFamily="18" charset="0"/>
            </a:endParaRPr>
          </a:p>
          <a:p>
            <a:pPr marL="615950" lvl="1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状态转移方程</a:t>
            </a:r>
            <a:endParaRPr lang="en-US" altLang="zh-CN" dirty="0" smtClean="0">
              <a:solidFill>
                <a:schemeClr val="bg2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73050" lvl="1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）在</a:t>
            </a:r>
            <a:r>
              <a:rPr lang="en-US" altLang="zh-CN" b="1" i="1" dirty="0" err="1" smtClean="0">
                <a:solidFill>
                  <a:schemeClr val="bg2"/>
                </a:solidFill>
                <a:cs typeface="Times New Roman" panose="02020603050405020304" pitchFamily="18" charset="0"/>
              </a:rPr>
              <a:t>i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阶段：决策物品</a:t>
            </a:r>
            <a:r>
              <a:rPr lang="en-US" altLang="zh-CN" b="1" i="1" dirty="0" err="1" smtClean="0">
                <a:solidFill>
                  <a:schemeClr val="bg2"/>
                </a:solidFill>
                <a:cs typeface="Times New Roman" panose="02020603050405020304" pitchFamily="18" charset="0"/>
              </a:rPr>
              <a:t>i</a:t>
            </a:r>
            <a:r>
              <a:rPr lang="zh-CN" altLang="en-US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是否装入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时，前</a:t>
            </a:r>
            <a:r>
              <a:rPr lang="en-US" altLang="zh-CN" b="1" i="1" dirty="0" err="1">
                <a:solidFill>
                  <a:schemeClr val="bg2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-1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个物品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的决策结果已经生成。</a:t>
            </a:r>
            <a:endParaRPr lang="en-US" altLang="zh-CN" dirty="0" smtClean="0">
              <a:solidFill>
                <a:schemeClr val="bg2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5536" y="1555340"/>
            <a:ext cx="8280920" cy="534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73050" lvl="1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）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F</a:t>
            </a:r>
            <a:r>
              <a:rPr lang="en-US" altLang="zh-CN" b="1" i="1" baseline="-25000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y</a:t>
            </a:r>
            <a:r>
              <a:rPr lang="en-US" altLang="zh-CN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)=max{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F</a:t>
            </a:r>
            <a:r>
              <a:rPr lang="en-US" altLang="zh-CN" b="1" i="1" baseline="-25000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i-1</a:t>
            </a:r>
            <a:r>
              <a:rPr lang="en-US" altLang="zh-CN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y</a:t>
            </a:r>
            <a:r>
              <a:rPr lang="en-US" altLang="zh-CN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) , 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F</a:t>
            </a:r>
            <a:r>
              <a:rPr lang="en-US" altLang="zh-CN" b="1" i="1" baseline="-25000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i-1</a:t>
            </a:r>
            <a:r>
              <a:rPr lang="en-US" altLang="zh-CN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y-</a:t>
            </a:r>
            <a:r>
              <a:rPr lang="en-US" altLang="zh-CN" b="1" i="1" dirty="0" err="1" smtClean="0">
                <a:solidFill>
                  <a:schemeClr val="bg2"/>
                </a:solidFill>
                <a:cs typeface="Times New Roman" panose="02020603050405020304" pitchFamily="18" charset="0"/>
              </a:rPr>
              <a:t>w</a:t>
            </a:r>
            <a:r>
              <a:rPr lang="en-US" altLang="zh-CN" b="1" i="1" baseline="-25000" dirty="0" err="1" smtClean="0">
                <a:solidFill>
                  <a:schemeClr val="bg2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)+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v</a:t>
            </a:r>
            <a:r>
              <a:rPr lang="en-US" altLang="zh-CN" b="1" i="1" baseline="-25000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}</a:t>
            </a:r>
            <a:endParaRPr lang="zh-CN" altLang="pt-BR" dirty="0">
              <a:solidFill>
                <a:schemeClr val="bg2"/>
              </a:solidFill>
              <a:latin typeface="+mn-ea"/>
              <a:ea typeface="+mn-ea"/>
              <a:cs typeface="Consolas" panose="020B0609020204030204" pitchFamily="49" charset="0"/>
            </a:endParaRPr>
          </a:p>
        </p:txBody>
      </p:sp>
      <p:sp>
        <p:nvSpPr>
          <p:cNvPr id="3" name="椭圆形标注 2"/>
          <p:cNvSpPr/>
          <p:nvPr/>
        </p:nvSpPr>
        <p:spPr bwMode="auto">
          <a:xfrm>
            <a:off x="1763688" y="2204864"/>
            <a:ext cx="1728192" cy="936104"/>
          </a:xfrm>
          <a:prstGeom prst="wedgeEllipseCallout">
            <a:avLst>
              <a:gd name="adj1" fmla="val 38546"/>
              <a:gd name="adj2" fmla="val -73776"/>
            </a:avLst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不装入物品</a:t>
            </a:r>
            <a:r>
              <a:rPr kumimoji="1" lang="en-US" altLang="zh-CN" sz="2400" b="1" i="1" u="none" strike="noStrike" cap="none" normalizeH="0" baseline="0" dirty="0" err="1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endParaRPr kumimoji="1" lang="zh-CN" altLang="en-US" sz="2400" b="1" i="1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文本框 3"/>
          <p:cNvSpPr txBox="1"/>
          <p:nvPr/>
        </p:nvSpPr>
        <p:spPr>
          <a:xfrm>
            <a:off x="323528" y="3141221"/>
            <a:ext cx="8280920" cy="3194721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pPr marL="615950" lvl="1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解的追踪</a:t>
            </a:r>
            <a:endParaRPr lang="en-US" altLang="zh-CN" dirty="0" smtClean="0">
              <a:solidFill>
                <a:schemeClr val="bg2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73050" lvl="1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）使用一维数组</a:t>
            </a:r>
            <a:r>
              <a:rPr lang="en-US" altLang="zh-CN" b="1" i="1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dp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存储第</a:t>
            </a:r>
            <a:r>
              <a:rPr lang="en-US" altLang="zh-CN" b="1" i="1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i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阶段的决策结果。在</a:t>
            </a:r>
            <a:r>
              <a:rPr lang="zh-CN" altLang="en-US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</a:rPr>
              <a:t>第</a:t>
            </a:r>
            <a:r>
              <a:rPr lang="en-US" altLang="zh-CN" b="1" i="1" dirty="0" err="1">
                <a:solidFill>
                  <a:schemeClr val="bg2"/>
                </a:solidFill>
                <a:cs typeface="Times New Roman" panose="02020603050405020304" pitchFamily="18" charset="0"/>
              </a:rPr>
              <a:t>i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cs typeface="Times New Roman" panose="02020603050405020304" pitchFamily="18" charset="0"/>
              </a:rPr>
              <a:t>阶段可先将决策结果暂存于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temp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cs typeface="Times New Roman" panose="02020603050405020304" pitchFamily="18" charset="0"/>
              </a:rPr>
              <a:t>数组，该阶段结束后再更新</a:t>
            </a:r>
            <a:r>
              <a:rPr lang="en-US" altLang="zh-CN" b="1" i="1" dirty="0" err="1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dp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cs typeface="Times New Roman" panose="02020603050405020304" pitchFamily="18" charset="0"/>
              </a:rPr>
              <a:t>数组中的内容。</a:t>
            </a:r>
            <a:endParaRPr lang="en-US" altLang="zh-CN" dirty="0" smtClean="0">
              <a:solidFill>
                <a:schemeClr val="bg2"/>
              </a:solidFill>
              <a:latin typeface="+mn-ea"/>
              <a:cs typeface="Times New Roman" panose="02020603050405020304" pitchFamily="18" charset="0"/>
            </a:endParaRPr>
          </a:p>
          <a:p>
            <a:pPr marL="273050" lvl="1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）使用二维数组</a:t>
            </a:r>
            <a:r>
              <a:rPr lang="en-US" altLang="zh-CN" b="1" i="1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sel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存储每个阶段对物品</a:t>
            </a:r>
            <a:r>
              <a:rPr lang="en-US" altLang="zh-CN" b="1" i="1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i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是否装入的决策。</a:t>
            </a:r>
            <a:r>
              <a:rPr lang="en-US" altLang="zh-CN" b="1" i="1" dirty="0" err="1" smtClean="0">
                <a:solidFill>
                  <a:schemeClr val="bg2"/>
                </a:solidFill>
                <a:cs typeface="Times New Roman" panose="02020603050405020304" pitchFamily="18" charset="0"/>
              </a:rPr>
              <a:t>sel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Times New Roman" panose="02020603050405020304" pitchFamily="18" charset="0"/>
              </a:rPr>
              <a:t>[</a:t>
            </a:r>
            <a:r>
              <a:rPr lang="en-US" altLang="zh-CN" b="1" i="1" dirty="0" err="1" smtClean="0">
                <a:solidFill>
                  <a:schemeClr val="bg2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dirty="0" err="1" smtClean="0">
                <a:solidFill>
                  <a:schemeClr val="bg2"/>
                </a:solidFill>
                <a:latin typeface="+mn-ea"/>
                <a:cs typeface="Times New Roman" panose="02020603050405020304" pitchFamily="18" charset="0"/>
              </a:rPr>
              <a:t>,</a:t>
            </a:r>
            <a:r>
              <a:rPr lang="en-US" altLang="zh-CN" b="1" i="1" dirty="0" err="1" smtClean="0">
                <a:solidFill>
                  <a:schemeClr val="bg2"/>
                </a:solidFill>
                <a:cs typeface="Times New Roman" panose="02020603050405020304" pitchFamily="18" charset="0"/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Times New Roman" panose="02020603050405020304" pitchFamily="18" charset="0"/>
              </a:rPr>
              <a:t>]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cs typeface="Times New Roman" panose="02020603050405020304" pitchFamily="18" charset="0"/>
              </a:rPr>
              <a:t>就是在背包容量不超过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j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cs typeface="Times New Roman" panose="02020603050405020304" pitchFamily="18" charset="0"/>
              </a:rPr>
              <a:t>时对物品</a:t>
            </a:r>
            <a:r>
              <a:rPr lang="en-US" altLang="zh-CN" b="1" i="1" dirty="0" err="1" smtClean="0">
                <a:solidFill>
                  <a:schemeClr val="bg2"/>
                </a:solidFill>
                <a:cs typeface="Times New Roman" panose="02020603050405020304" pitchFamily="18" charset="0"/>
              </a:rPr>
              <a:t>i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cs typeface="Times New Roman" panose="02020603050405020304" pitchFamily="18" charset="0"/>
              </a:rPr>
              <a:t>的选择</a:t>
            </a:r>
            <a:r>
              <a:rPr lang="zh-CN" altLang="en-US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</a:rPr>
              <a:t>：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Times New Roman" panose="02020603050405020304" pitchFamily="18" charset="0"/>
              </a:rPr>
              <a:t>0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cs typeface="Times New Roman" panose="02020603050405020304" pitchFamily="18" charset="0"/>
              </a:rPr>
              <a:t>或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</a:rPr>
              <a:t>。</a:t>
            </a:r>
            <a:endParaRPr lang="en-US" altLang="zh-CN" dirty="0" smtClean="0">
              <a:solidFill>
                <a:schemeClr val="bg2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椭圆形标注 4"/>
          <p:cNvSpPr/>
          <p:nvPr/>
        </p:nvSpPr>
        <p:spPr bwMode="auto">
          <a:xfrm>
            <a:off x="3670935" y="2209165"/>
            <a:ext cx="4608195" cy="1003935"/>
          </a:xfrm>
          <a:prstGeom prst="wedgeEllipseCallout">
            <a:avLst>
              <a:gd name="adj1" fmla="val -27387"/>
              <a:gd name="adj2" fmla="val -72390"/>
            </a:avLst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0" tIns="0" rIns="0" bIns="0" numCol="1" rtlCol="0" anchor="t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装入物品</a:t>
            </a:r>
            <a:r>
              <a:rPr kumimoji="1" lang="en-US" altLang="zh-CN" sz="2400" b="1" i="1" u="none" strike="noStrike" cap="none" normalizeH="0" baseline="0" dirty="0" err="1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zh-CN" altLang="en-US" sz="2400" b="1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时，前</a:t>
            </a:r>
            <a:r>
              <a:rPr kumimoji="1" lang="en-US" altLang="zh-CN" sz="2400" b="1" i="1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2400" b="1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  <a:r>
              <a:rPr kumimoji="1" lang="zh-CN" altLang="en-US" sz="2400" b="1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个物品的剩余空间。</a:t>
            </a:r>
            <a:endParaRPr kumimoji="1" lang="en-US" altLang="zh-CN" sz="2400" b="1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 uiExpand="1" build="p"/>
      <p:bldP spid="5" grpId="0" bldLvl="0" animBg="1"/>
    </p:bldLst>
  </p:timing>
</p:sld>
</file>

<file path=ppt/tags/tag1.xml><?xml version="1.0" encoding="utf-8"?>
<p:tagLst xmlns:p="http://schemas.openxmlformats.org/presentationml/2006/main">
  <p:tag name="KSO_WM_UNIT_TABLE_BEAUTIFY" val="smartTable{8efa26cb-e844-4e2c-8b83-ee582fa43c12}"/>
</p:tagLst>
</file>

<file path=ppt/tags/tag2.xml><?xml version="1.0" encoding="utf-8"?>
<p:tagLst xmlns:p="http://schemas.openxmlformats.org/presentationml/2006/main">
  <p:tag name="KSO_WM_UNIT_TABLE_BEAUTIFY" val="smartTable{0d798b8b-ea69-4ea6-a733-1f29dfe53a87}"/>
</p:tagLst>
</file>

<file path=ppt/tags/tag3.xml><?xml version="1.0" encoding="utf-8"?>
<p:tagLst xmlns:p="http://schemas.openxmlformats.org/presentationml/2006/main">
  <p:tag name="KSO_WM_UNIT_TABLE_BEAUTIFY" val="smartTable{472aea16-c173-4793-b570-842b057a3729}"/>
</p:tagLst>
</file>

<file path=ppt/tags/tag4.xml><?xml version="1.0" encoding="utf-8"?>
<p:tagLst xmlns:p="http://schemas.openxmlformats.org/presentationml/2006/main">
  <p:tag name="KSO_WM_UNIT_TABLE_BEAUTIFY" val="smartTable{84a01159-5179-4d8f-8765-751e728e6d5c}"/>
</p:tagLst>
</file>

<file path=ppt/tags/tag5.xml><?xml version="1.0" encoding="utf-8"?>
<p:tagLst xmlns:p="http://schemas.openxmlformats.org/presentationml/2006/main">
  <p:tag name="DEFINEDINNAVIGATOR" val="True"/>
  <p:tag name="HOTSPOTTYPE" val="DefinedInNavigator"/>
  <p:tag name="BRANCHTO" val="257"/>
</p:tagLst>
</file>

<file path=ppt/theme/theme1.xml><?xml version="1.0" encoding="utf-8"?>
<a:theme xmlns:a="http://schemas.openxmlformats.org/drawingml/2006/main" name="1_个人主页 (标准)">
  <a:themeElements>
    <a:clrScheme name="个人主页 (标准) 4">
      <a:dk1>
        <a:srgbClr val="000000"/>
      </a:dk1>
      <a:lt1>
        <a:srgbClr val="FFFFFF"/>
      </a:lt1>
      <a:dk2>
        <a:srgbClr val="1E2E53"/>
      </a:dk2>
      <a:lt2>
        <a:srgbClr val="FFCC00"/>
      </a:lt2>
      <a:accent1>
        <a:srgbClr val="FF9933"/>
      </a:accent1>
      <a:accent2>
        <a:srgbClr val="336699"/>
      </a:accent2>
      <a:accent3>
        <a:srgbClr val="ABADB3"/>
      </a:accent3>
      <a:accent4>
        <a:srgbClr val="DADADA"/>
      </a:accent4>
      <a:accent5>
        <a:srgbClr val="FFCAAD"/>
      </a:accent5>
      <a:accent6>
        <a:srgbClr val="2D5C8A"/>
      </a:accent6>
      <a:hlink>
        <a:srgbClr val="0000FF"/>
      </a:hlink>
      <a:folHlink>
        <a:srgbClr val="A73737"/>
      </a:folHlink>
    </a:clrScheme>
    <a:fontScheme name="个人主页 (标准)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个人主页 (标准) 1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EAEAEA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个人主页 (标准) 2">
        <a:dk1>
          <a:srgbClr val="663300"/>
        </a:dk1>
        <a:lt1>
          <a:srgbClr val="FFFFFF"/>
        </a:lt1>
        <a:dk2>
          <a:srgbClr val="996633"/>
        </a:dk2>
        <a:lt2>
          <a:srgbClr val="868686"/>
        </a:lt2>
        <a:accent1>
          <a:srgbClr val="FF9900"/>
        </a:accent1>
        <a:accent2>
          <a:srgbClr val="CC6600"/>
        </a:accent2>
        <a:accent3>
          <a:srgbClr val="FFFFFF"/>
        </a:accent3>
        <a:accent4>
          <a:srgbClr val="562A00"/>
        </a:accent4>
        <a:accent5>
          <a:srgbClr val="FFCAAA"/>
        </a:accent5>
        <a:accent6>
          <a:srgbClr val="B95C00"/>
        </a:accent6>
        <a:hlink>
          <a:srgbClr val="FFCC00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4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0000FF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Office\Templates\演示文稿\个人主页 (标准).pot</Template>
  <TotalTime>0</TotalTime>
  <Words>7623</Words>
  <Application>WPS 演示</Application>
  <PresentationFormat>全屏显示(4:3)</PresentationFormat>
  <Paragraphs>688</Paragraphs>
  <Slides>38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0" baseType="lpstr">
      <vt:lpstr>Arial</vt:lpstr>
      <vt:lpstr>宋体</vt:lpstr>
      <vt:lpstr>Wingdings</vt:lpstr>
      <vt:lpstr>Times New Roman</vt:lpstr>
      <vt:lpstr>Wingdings</vt:lpstr>
      <vt:lpstr>Times New Roman</vt:lpstr>
      <vt:lpstr>黑体</vt:lpstr>
      <vt:lpstr>微软雅黑</vt:lpstr>
      <vt:lpstr>Arial Unicode MS</vt:lpstr>
      <vt:lpstr>Consolas</vt:lpstr>
      <vt:lpstr>Symbol</vt:lpstr>
      <vt:lpstr>1_个人主页 (标准)</vt:lpstr>
      <vt:lpstr>3.2 动态规划算法设计 </vt:lpstr>
      <vt:lpstr>3.2 动态规划算法设计 </vt:lpstr>
      <vt:lpstr>3.2 动态规划算法设计 </vt:lpstr>
      <vt:lpstr>3.2 动态规划算法设计 </vt:lpstr>
      <vt:lpstr>3.2 动态规划算法设计 </vt:lpstr>
      <vt:lpstr>3.2 动态规划算法设计 </vt:lpstr>
      <vt:lpstr>3.2 动态规划算法设计 </vt:lpstr>
      <vt:lpstr>3.2 动态规划算法设计 </vt:lpstr>
      <vt:lpstr>3.2 动态规划算法设计 </vt:lpstr>
      <vt:lpstr>3.2 动态规划算法设计 </vt:lpstr>
      <vt:lpstr>3.3 动态规划算法的典型应用</vt:lpstr>
      <vt:lpstr>3.3 动态规划算法的典型应用</vt:lpstr>
      <vt:lpstr>3.3 动态规划算法的典型应用</vt:lpstr>
      <vt:lpstr>3.3 动态规划算法的典型应用</vt:lpstr>
      <vt:lpstr>3.3 动态规划算法的典型应用</vt:lpstr>
      <vt:lpstr>3.3 动态规划算法的典型应用</vt:lpstr>
      <vt:lpstr>3.3 动态规划算法的典型应用</vt:lpstr>
      <vt:lpstr>3.3 动态规划算法的典型应用</vt:lpstr>
      <vt:lpstr>3.3 动态规划算法的典型应用</vt:lpstr>
      <vt:lpstr>3.3 动态规划算法的典型应用</vt:lpstr>
      <vt:lpstr>3.3 动态规划算法的典型应用</vt:lpstr>
      <vt:lpstr>3.3 动态规划算法的典型应用</vt:lpstr>
      <vt:lpstr>3.3 动态规划算法的典型应用</vt:lpstr>
      <vt:lpstr>3.3 动态规划算法的典型应用</vt:lpstr>
      <vt:lpstr>3.3 动态规划算法的典型应用</vt:lpstr>
      <vt:lpstr>3.3 动态规划算法的典型应用</vt:lpstr>
      <vt:lpstr>3.3 动态规划算法的典型应用</vt:lpstr>
      <vt:lpstr>3.3 动态规划算法的典型应用</vt:lpstr>
      <vt:lpstr>3.3 动态规划算法的典型应用</vt:lpstr>
      <vt:lpstr>3.3 动态规划算法的典型应用</vt:lpstr>
      <vt:lpstr>3.3 动态规划算法的典型应用</vt:lpstr>
      <vt:lpstr>3.3 动态规划算法的典型应用</vt:lpstr>
      <vt:lpstr>3.3 动态规划算法的典型应用</vt:lpstr>
      <vt:lpstr>3.3 动态规划算法的典型应用</vt:lpstr>
      <vt:lpstr>3.3 动态规划算法的典型应用</vt:lpstr>
      <vt:lpstr>3.3 动态规划算法的典型应用</vt:lpstr>
      <vt:lpstr>3.3 动态规划算法的典型应用</vt:lpstr>
      <vt:lpstr>3.3 动态规划算法的典型应用</vt:lpstr>
    </vt:vector>
  </TitlesOfParts>
  <Company>NEU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数据库系统原理</dc:title>
  <dc:creator>songby</dc:creator>
  <cp:lastModifiedBy>红艳</cp:lastModifiedBy>
  <cp:revision>1166</cp:revision>
  <cp:lastPrinted>1995-12-08T18:33:00Z</cp:lastPrinted>
  <dcterms:created xsi:type="dcterms:W3CDTF">2000-10-31T09:27:00Z</dcterms:created>
  <dcterms:modified xsi:type="dcterms:W3CDTF">2022-04-19T14:38:55Z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2052-11.1.0.11365</vt:lpwstr>
  </property>
  <property fmtid="{D5CDD505-2E9C-101B-9397-08002B2CF9AE}" pid="3" name="ICV">
    <vt:lpwstr>D97091215E3244AD96003C13B13EF2B1</vt:lpwstr>
  </property>
</Properties>
</file>