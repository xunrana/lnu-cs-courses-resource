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53"/>
  </p:handoutMasterIdLst>
  <p:sldIdLst>
    <p:sldId id="482" r:id="rId3"/>
    <p:sldId id="483" r:id="rId4"/>
    <p:sldId id="484" r:id="rId6"/>
    <p:sldId id="485" r:id="rId7"/>
    <p:sldId id="486" r:id="rId8"/>
    <p:sldId id="487" r:id="rId9"/>
    <p:sldId id="488" r:id="rId10"/>
    <p:sldId id="489" r:id="rId11"/>
    <p:sldId id="436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1" r:id="rId24"/>
    <p:sldId id="432" r:id="rId25"/>
    <p:sldId id="433" r:id="rId26"/>
    <p:sldId id="434" r:id="rId27"/>
    <p:sldId id="435" r:id="rId28"/>
    <p:sldId id="402" r:id="rId29"/>
    <p:sldId id="403" r:id="rId30"/>
    <p:sldId id="404" r:id="rId31"/>
    <p:sldId id="405" r:id="rId32"/>
    <p:sldId id="407" r:id="rId33"/>
    <p:sldId id="408" r:id="rId34"/>
    <p:sldId id="409" r:id="rId35"/>
    <p:sldId id="411" r:id="rId36"/>
    <p:sldId id="406" r:id="rId37"/>
    <p:sldId id="412" r:id="rId38"/>
    <p:sldId id="413" r:id="rId39"/>
    <p:sldId id="418" r:id="rId40"/>
    <p:sldId id="417" r:id="rId41"/>
    <p:sldId id="419" r:id="rId42"/>
    <p:sldId id="437" r:id="rId43"/>
    <p:sldId id="438" r:id="rId44"/>
    <p:sldId id="439" r:id="rId45"/>
    <p:sldId id="440" r:id="rId46"/>
    <p:sldId id="441" r:id="rId47"/>
    <p:sldId id="442" r:id="rId48"/>
    <p:sldId id="443" r:id="rId49"/>
    <p:sldId id="414" r:id="rId50"/>
    <p:sldId id="415" r:id="rId51"/>
    <p:sldId id="416" r:id="rId52"/>
  </p:sldIdLst>
  <p:sldSz cx="9144000" cy="6858000" type="screen4x3"/>
  <p:notesSz cx="6934200" cy="9398000"/>
  <p:custDataLst>
    <p:tags r:id="rId57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CCFF"/>
    <a:srgbClr val="CC0099"/>
    <a:srgbClr val="CCCCFF"/>
    <a:srgbClr val="CC99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80" d="100"/>
          <a:sy n="80" d="100"/>
        </p:scale>
        <p:origin x="-1188" y="-96"/>
      </p:cViewPr>
      <p:guideLst>
        <p:guide orient="horz" pos="2198"/>
        <p:guide pos="29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gs" Target="tags/tag22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55340"/>
            <a:ext cx="8280920" cy="3636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实例分析：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已知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5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个物品的重量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={2,2,6,5,4}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；价值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={6,3,5,4,6}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。背包容量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=10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。请使用动态规划策略求解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该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0-1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背包问题。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设计数据结构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int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[11]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;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//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存储每个阶段的最优决策结果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int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[5][11]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;//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对物品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在容量不超过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的情况下决策结果（选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1/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不选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）。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初始化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——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背包没有装入物品时的价值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487996" y="519325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1609725"/>
            <a:ext cx="1713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>
                <a:solidFill>
                  <a:schemeClr val="bg2"/>
                </a:solidFill>
              </a:rPr>
              <a:t>阶段划分：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26440" y="1989455"/>
            <a:ext cx="1216660" cy="2949915"/>
            <a:chOff x="1144" y="3359"/>
            <a:chExt cx="1916" cy="4049"/>
          </a:xfrm>
        </p:grpSpPr>
        <p:sp>
          <p:nvSpPr>
            <p:cNvPr id="6" name="矩形 5"/>
            <p:cNvSpPr/>
            <p:nvPr/>
          </p:nvSpPr>
          <p:spPr>
            <a:xfrm>
              <a:off x="1364" y="3494"/>
              <a:ext cx="1474" cy="3418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44" y="6902"/>
              <a:ext cx="1916" cy="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1</a:t>
              </a:r>
              <a:r>
                <a:rPr lang="zh-CN" altLang="en-US" sz="1800" b="1">
                  <a:solidFill>
                    <a:schemeClr val="bg2"/>
                  </a:solidFill>
                </a:rPr>
                <a:t>个物品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438" y="3359"/>
              <a:ext cx="1413" cy="3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</a:rPr>
                <a:t>……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(9)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1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(10)</a:t>
              </a: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768475" y="1997710"/>
            <a:ext cx="1216660" cy="2932430"/>
            <a:chOff x="3237" y="3372"/>
            <a:chExt cx="1916" cy="4618"/>
          </a:xfrm>
        </p:grpSpPr>
        <p:sp>
          <p:nvSpPr>
            <p:cNvPr id="11" name="矩形 10"/>
            <p:cNvSpPr/>
            <p:nvPr/>
          </p:nvSpPr>
          <p:spPr>
            <a:xfrm>
              <a:off x="3457" y="3507"/>
              <a:ext cx="1436" cy="3917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37" y="7382"/>
              <a:ext cx="19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2</a:t>
              </a:r>
              <a:r>
                <a:rPr lang="zh-CN" altLang="en-US" sz="1800" b="1">
                  <a:solidFill>
                    <a:schemeClr val="bg2"/>
                  </a:solidFill>
                </a:rPr>
                <a:t>个物品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531" y="3372"/>
              <a:ext cx="1410" cy="46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……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(9)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2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846705" y="1988820"/>
            <a:ext cx="1216660" cy="2933065"/>
            <a:chOff x="5500" y="3358"/>
            <a:chExt cx="1916" cy="4619"/>
          </a:xfrm>
        </p:grpSpPr>
        <p:sp>
          <p:nvSpPr>
            <p:cNvPr id="14" name="矩形 13"/>
            <p:cNvSpPr/>
            <p:nvPr/>
          </p:nvSpPr>
          <p:spPr>
            <a:xfrm>
              <a:off x="5612" y="3520"/>
              <a:ext cx="1652" cy="3920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500" y="7397"/>
              <a:ext cx="19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3</a:t>
              </a:r>
              <a:r>
                <a:rPr lang="zh-CN" altLang="en-US" sz="1800" b="1">
                  <a:solidFill>
                    <a:schemeClr val="bg2"/>
                  </a:solidFill>
                </a:rPr>
                <a:t>个物品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721" y="3358"/>
              <a:ext cx="1410" cy="46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……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(9)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3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027805" y="1991360"/>
            <a:ext cx="1216660" cy="2932430"/>
            <a:chOff x="7925" y="3362"/>
            <a:chExt cx="1916" cy="4618"/>
          </a:xfrm>
        </p:grpSpPr>
        <p:sp>
          <p:nvSpPr>
            <p:cNvPr id="17" name="矩形 16"/>
            <p:cNvSpPr/>
            <p:nvPr/>
          </p:nvSpPr>
          <p:spPr>
            <a:xfrm>
              <a:off x="7993" y="3494"/>
              <a:ext cx="1490" cy="392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925" y="7382"/>
              <a:ext cx="19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4</a:t>
              </a:r>
              <a:r>
                <a:rPr lang="zh-CN" altLang="en-US" sz="1800" b="1">
                  <a:solidFill>
                    <a:schemeClr val="bg2"/>
                  </a:solidFill>
                </a:rPr>
                <a:t>个物品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082" y="3362"/>
              <a:ext cx="1410" cy="46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……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(9)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4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540385" y="5372735"/>
            <a:ext cx="1300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200">
                <a:solidFill>
                  <a:schemeClr val="bg1"/>
                </a:solidFill>
              </a:rPr>
              <a:t>状态结点</a:t>
            </a:r>
            <a:endParaRPr lang="zh-CN" altLang="en-US" sz="2200">
              <a:solidFill>
                <a:schemeClr val="bg1"/>
              </a:solidFill>
            </a:endParaRPr>
          </a:p>
          <a:p>
            <a:pPr algn="ctr"/>
            <a:r>
              <a:rPr lang="en-US" altLang="zh-CN" sz="22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200" baseline="-25000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 sz="2200">
                <a:solidFill>
                  <a:srgbClr val="FF0000"/>
                </a:solidFill>
                <a:sym typeface="+mn-ea"/>
              </a:rPr>
              <a:t>(8)</a:t>
            </a:r>
            <a:endParaRPr lang="en-US" altLang="zh-CN" sz="2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692910" y="5488940"/>
            <a:ext cx="69532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200" b="1">
                <a:solidFill>
                  <a:srgbClr val="FF0000"/>
                </a:solidFill>
              </a:rPr>
              <a:t>max</a:t>
            </a:r>
            <a:endParaRPr lang="en-US" sz="2200" b="1">
              <a:solidFill>
                <a:srgbClr val="FF0000"/>
              </a:solidFill>
            </a:endParaRPr>
          </a:p>
        </p:txBody>
      </p:sp>
      <p:sp>
        <p:nvSpPr>
          <p:cNvPr id="30" name="左大括号 29"/>
          <p:cNvSpPr/>
          <p:nvPr/>
        </p:nvSpPr>
        <p:spPr>
          <a:xfrm>
            <a:off x="2340610" y="5140960"/>
            <a:ext cx="372745" cy="1096010"/>
          </a:xfrm>
          <a:prstGeom prst="leftBrace">
            <a:avLst>
              <a:gd name="adj1" fmla="val 64000"/>
              <a:gd name="adj2" fmla="val 50000"/>
            </a:avLst>
          </a:prstGeom>
          <a:solidFill>
            <a:schemeClr val="tx1"/>
          </a:solidFill>
          <a:ln w="12700" cap="sq" cmpd="sng" algn="ctr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639695" y="4909820"/>
            <a:ext cx="272351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chemeClr val="bg2"/>
                </a:solidFill>
                <a:sym typeface="+mn-ea"/>
              </a:rPr>
              <a:t>背包中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不装入物品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4</a:t>
            </a:r>
            <a:endParaRPr lang="en-US" altLang="zh-CN" sz="200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>
              <a:solidFill>
                <a:schemeClr val="bg2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chemeClr val="bg2"/>
                </a:solidFill>
                <a:sym typeface="+mn-ea"/>
              </a:rPr>
              <a:t>背包中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装入物品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sz="2000">
                <a:solidFill>
                  <a:schemeClr val="bg2"/>
                </a:solidFill>
                <a:sym typeface="+mn-ea"/>
              </a:rPr>
              <a:t>，则给前</a:t>
            </a:r>
            <a:r>
              <a:rPr lang="en-US" altLang="zh-CN" sz="2000">
                <a:solidFill>
                  <a:schemeClr val="bg2"/>
                </a:solidFill>
                <a:sym typeface="+mn-ea"/>
              </a:rPr>
              <a:t>3</a:t>
            </a:r>
            <a:r>
              <a:rPr lang="zh-CN" altLang="en-US" sz="2000">
                <a:solidFill>
                  <a:schemeClr val="bg2"/>
                </a:solidFill>
                <a:sym typeface="+mn-ea"/>
              </a:rPr>
              <a:t>个物品留的空间为</a:t>
            </a:r>
            <a:r>
              <a:rPr lang="en-US" altLang="zh-CN" sz="2000">
                <a:solidFill>
                  <a:schemeClr val="bg2"/>
                </a:solidFill>
                <a:sym typeface="+mn-ea"/>
              </a:rPr>
              <a:t>8-</a:t>
            </a:r>
            <a:r>
              <a:rPr lang="en-US" altLang="zh-CN" sz="2000" i="1">
                <a:solidFill>
                  <a:schemeClr val="bg2"/>
                </a:solidFill>
                <a:sym typeface="+mn-ea"/>
              </a:rPr>
              <a:t>w</a:t>
            </a:r>
            <a:r>
              <a:rPr lang="en-US" altLang="zh-CN" sz="2000" baseline="-25000">
                <a:solidFill>
                  <a:schemeClr val="bg2"/>
                </a:solidFill>
                <a:sym typeface="+mn-ea"/>
              </a:rPr>
              <a:t>4</a:t>
            </a:r>
            <a:endParaRPr lang="en-US" altLang="zh-CN" sz="2000" baseline="-25000">
              <a:solidFill>
                <a:schemeClr val="bg2"/>
              </a:solidFill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95605" y="2689225"/>
            <a:ext cx="43370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>
                <a:solidFill>
                  <a:schemeClr val="bg1"/>
                </a:solidFill>
              </a:rPr>
              <a:t>阶段</a:t>
            </a:r>
            <a:endParaRPr lang="zh-CN" altLang="en-US" sz="2200">
              <a:solidFill>
                <a:schemeClr val="bg1"/>
              </a:solidFill>
            </a:endParaRPr>
          </a:p>
          <a:p>
            <a:pPr algn="ctr"/>
            <a:r>
              <a:rPr lang="en-US" altLang="zh-CN" sz="2200" i="1">
                <a:solidFill>
                  <a:schemeClr val="bg1"/>
                </a:solidFill>
              </a:rPr>
              <a:t>k</a:t>
            </a:r>
            <a:endParaRPr lang="en-US" altLang="zh-CN" sz="2200" i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48095" y="2060575"/>
            <a:ext cx="249809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CN" altLang="en-US">
                <a:solidFill>
                  <a:schemeClr val="bg1"/>
                </a:solidFill>
                <a:sym typeface="+mn-ea"/>
              </a:rPr>
              <a:t>状态结点</a:t>
            </a:r>
            <a:endParaRPr lang="zh-CN" altLang="en-US">
              <a:solidFill>
                <a:schemeClr val="bg1"/>
              </a:solidFill>
              <a:sym typeface="+mn-ea"/>
            </a:endParaRPr>
          </a:p>
          <a:p>
            <a:pPr algn="just"/>
            <a:r>
              <a:rPr lang="en-US" altLang="zh-CN">
                <a:solidFill>
                  <a:schemeClr val="bg1"/>
                </a:solidFill>
                <a:sym typeface="+mn-ea"/>
              </a:rPr>
              <a:t>F</a:t>
            </a:r>
            <a:r>
              <a:rPr lang="en-US" altLang="zh-CN" i="1" baseline="-25000">
                <a:solidFill>
                  <a:schemeClr val="bg1"/>
                </a:solidFill>
                <a:sym typeface="+mn-ea"/>
              </a:rPr>
              <a:t>k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zh-CN" i="1">
                <a:solidFill>
                  <a:schemeClr val="bg1"/>
                </a:solidFill>
                <a:sym typeface="+mn-ea"/>
              </a:rPr>
              <a:t>j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)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：装入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前</a:t>
            </a:r>
            <a:r>
              <a:rPr lang="en-US" altLang="zh-CN" b="1" i="1">
                <a:solidFill>
                  <a:srgbClr val="FF0000"/>
                </a:solidFill>
                <a:sym typeface="+mn-ea"/>
              </a:rPr>
              <a:t>k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个物品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在背包容量</a:t>
            </a:r>
            <a:r>
              <a:rPr lang="en-US" altLang="zh-CN" i="1">
                <a:solidFill>
                  <a:schemeClr val="bg1"/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时的最大价值。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92090" y="5822315"/>
            <a:ext cx="152146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00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(8-</a:t>
            </a:r>
            <a:r>
              <a:rPr lang="en-US" altLang="zh-CN" sz="2000" i="1">
                <a:solidFill>
                  <a:srgbClr val="FF0000"/>
                </a:solidFill>
                <a:sym typeface="+mn-ea"/>
              </a:rPr>
              <a:t>w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)+</a:t>
            </a:r>
            <a:r>
              <a:rPr lang="en-US" altLang="zh-CN" sz="2000" i="1">
                <a:solidFill>
                  <a:srgbClr val="FF0000"/>
                </a:solidFill>
                <a:sym typeface="+mn-ea"/>
              </a:rPr>
              <a:t>v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4</a:t>
            </a:r>
            <a:endParaRPr lang="en-US" altLang="zh-CN" sz="2000" baseline="-2500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20640" y="1988820"/>
            <a:ext cx="1216660" cy="2932430"/>
            <a:chOff x="7925" y="3362"/>
            <a:chExt cx="1916" cy="4618"/>
          </a:xfrm>
        </p:grpSpPr>
        <p:sp>
          <p:nvSpPr>
            <p:cNvPr id="7" name="矩形 6"/>
            <p:cNvSpPr/>
            <p:nvPr/>
          </p:nvSpPr>
          <p:spPr>
            <a:xfrm>
              <a:off x="7993" y="3494"/>
              <a:ext cx="1490" cy="3929"/>
            </a:xfrm>
            <a:prstGeom prst="rect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925" y="7382"/>
              <a:ext cx="19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800" b="1">
                  <a:solidFill>
                    <a:schemeClr val="bg2"/>
                  </a:solidFill>
                </a:rPr>
                <a:t>前</a:t>
              </a:r>
              <a:r>
                <a:rPr lang="en-US" altLang="zh-CN" sz="1800" b="1">
                  <a:solidFill>
                    <a:schemeClr val="bg2"/>
                  </a:solidFill>
                </a:rPr>
                <a:t>5</a:t>
              </a:r>
              <a:r>
                <a:rPr lang="zh-CN" altLang="en-US" sz="1800" b="1">
                  <a:solidFill>
                    <a:schemeClr val="bg2"/>
                  </a:solidFill>
                </a:rPr>
                <a:t>个物品</a:t>
              </a:r>
              <a:endParaRPr lang="zh-CN" altLang="en-US" sz="1800" b="1">
                <a:solidFill>
                  <a:schemeClr val="bg2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082" y="3362"/>
              <a:ext cx="1410" cy="46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5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5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5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(2)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……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5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(9)</a:t>
              </a:r>
              <a:endParaRPr lang="en-US" altLang="zh-CN" sz="2200">
                <a:solidFill>
                  <a:schemeClr val="bg1"/>
                </a:solidFill>
                <a:sym typeface="+mn-ea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F</a:t>
              </a:r>
              <a:r>
                <a:rPr lang="en-US" altLang="zh-CN" sz="2200" baseline="-25000">
                  <a:solidFill>
                    <a:schemeClr val="bg1"/>
                  </a:solidFill>
                  <a:sym typeface="+mn-ea"/>
                </a:rPr>
                <a:t>5</a:t>
              </a:r>
              <a:r>
                <a:rPr lang="en-US" altLang="zh-CN" sz="2200">
                  <a:solidFill>
                    <a:schemeClr val="bg1"/>
                  </a:solidFill>
                  <a:sym typeface="+mn-ea"/>
                </a:rPr>
                <a:t>(10)</a:t>
              </a:r>
              <a:endParaRPr lang="en-US" altLang="zh-CN" sz="2200">
                <a:solidFill>
                  <a:schemeClr val="bg1"/>
                </a:solidFill>
              </a:endParaRPr>
            </a:p>
            <a:p>
              <a:pPr algn="l">
                <a:lnSpc>
                  <a:spcPct val="120000"/>
                </a:lnSpc>
              </a:pPr>
              <a:endParaRPr lang="en-US" altLang="zh-CN" sz="2200">
                <a:solidFill>
                  <a:schemeClr val="bg1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5292090" y="4965065"/>
            <a:ext cx="84582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rtlCol="0">
            <a:spAutoFit/>
          </a:bodyPr>
          <a:p>
            <a:pPr algn="l">
              <a:lnSpc>
                <a:spcPct val="120000"/>
              </a:lnSpc>
            </a:pPr>
            <a:r>
              <a:rPr lang="en-US" altLang="zh-CN" sz="200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(8)</a:t>
            </a:r>
            <a:endParaRPr lang="en-US" altLang="zh-CN" sz="2000" baseline="-25000">
              <a:solidFill>
                <a:srgbClr val="FF0000"/>
              </a:solidFill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28" grpId="0"/>
      <p:bldP spid="28" grpId="1"/>
      <p:bldP spid="30" grpId="0" bldLvl="0" animBg="1"/>
      <p:bldP spid="30" grpId="1" animBg="1"/>
      <p:bldP spid="31" grpId="0" uiExpand="1" build="p"/>
      <p:bldP spid="10" grpId="0" bldLvl="0" animBg="1"/>
      <p:bldP spid="29" grpId="0"/>
      <p:bldP spid="8" grpId="0"/>
      <p:bldP spid="8" grpId="1"/>
      <p:bldP spid="2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=2,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=6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71972" y="170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99592" y="314096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99592" y="4095074"/>
          <a:ext cx="6624735" cy="22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6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3638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7824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358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13366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17422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1478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5534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9590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3646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702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1758" y="44254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259632" y="170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763688" y="2535287"/>
            <a:ext cx="5561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1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1</a:t>
            </a:r>
            <a:r>
              <a:rPr lang="en-US" altLang="zh-CN" b="1" dirty="0" smtClean="0">
                <a:solidFill>
                  <a:schemeClr val="bg2"/>
                </a:solidFill>
              </a:rPr>
              <a:t>} 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=2,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=3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99592" y="314096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99592" y="4095074"/>
          <a:ext cx="6624735" cy="22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6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3638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7824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358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13366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17422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1478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5534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9590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3646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702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1758" y="478553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331640" y="170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4" name="组合 43"/>
          <p:cNvGrpSpPr/>
          <p:nvPr/>
        </p:nvGrpSpPr>
        <p:grpSpPr>
          <a:xfrm>
            <a:off x="2001198" y="4383106"/>
            <a:ext cx="5379114" cy="461665"/>
            <a:chOff x="2001198" y="4383106"/>
            <a:chExt cx="5379114" cy="461665"/>
          </a:xfrm>
        </p:grpSpPr>
        <p:sp>
          <p:nvSpPr>
            <p:cNvPr id="31" name="TextBox 30"/>
            <p:cNvSpPr txBox="1"/>
            <p:nvPr/>
          </p:nvSpPr>
          <p:spPr>
            <a:xfrm>
              <a:off x="200119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1363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987824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13366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17422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52147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25534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29590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33646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37702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4175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763688" y="2564904"/>
            <a:ext cx="5561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 smtClean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} 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1307976" y="170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=6,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=5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99592" y="314096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99592" y="4095074"/>
          <a:ext cx="6624735" cy="22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6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3638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7824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358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13366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17422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1478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5534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9590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471391"/>
            <a:ext cx="481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3646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471391"/>
            <a:ext cx="481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702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14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1758" y="519958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001198" y="4383106"/>
            <a:ext cx="5379114" cy="461665"/>
            <a:chOff x="2001198" y="4383106"/>
            <a:chExt cx="5379114" cy="461665"/>
          </a:xfrm>
        </p:grpSpPr>
        <p:sp>
          <p:nvSpPr>
            <p:cNvPr id="31" name="TextBox 30"/>
            <p:cNvSpPr txBox="1"/>
            <p:nvPr/>
          </p:nvSpPr>
          <p:spPr>
            <a:xfrm>
              <a:off x="200119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1363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987824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13366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17422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52147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25534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29590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33646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37702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4175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763688" y="2564904"/>
            <a:ext cx="5561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3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 smtClean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3</a:t>
            </a:r>
            <a:r>
              <a:rPr lang="en-US" altLang="zh-CN" b="1" dirty="0" smtClean="0">
                <a:solidFill>
                  <a:schemeClr val="bg2"/>
                </a:solidFill>
              </a:rPr>
              <a:t>} 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1307976" y="16792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979712" y="4797152"/>
            <a:ext cx="5379114" cy="461665"/>
            <a:chOff x="1979712" y="4797152"/>
            <a:chExt cx="5379114" cy="461665"/>
          </a:xfrm>
        </p:grpSpPr>
        <p:sp>
          <p:nvSpPr>
            <p:cNvPr id="45" name="TextBox 44"/>
            <p:cNvSpPr txBox="1"/>
            <p:nvPr/>
          </p:nvSpPr>
          <p:spPr>
            <a:xfrm>
              <a:off x="197971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49215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966338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491880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95936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49999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004048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508104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012160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516216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02027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1331640" y="170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14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=5,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=4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99592" y="314096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99592" y="4095074"/>
          <a:ext cx="6624735" cy="22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6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92152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6338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358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91880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95936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99992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04048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08104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471391"/>
            <a:ext cx="481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12160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16216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14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20272" y="55596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001198" y="4383106"/>
            <a:ext cx="5379114" cy="461665"/>
            <a:chOff x="2001198" y="4383106"/>
            <a:chExt cx="5379114" cy="461665"/>
          </a:xfrm>
        </p:grpSpPr>
        <p:sp>
          <p:nvSpPr>
            <p:cNvPr id="31" name="TextBox 30"/>
            <p:cNvSpPr txBox="1"/>
            <p:nvPr/>
          </p:nvSpPr>
          <p:spPr>
            <a:xfrm>
              <a:off x="200119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1363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987824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13366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17422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52147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25534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29590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33646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37702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4175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404913" y="2564904"/>
            <a:ext cx="5561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4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 smtClean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4</a:t>
            </a:r>
            <a:r>
              <a:rPr lang="en-US" altLang="zh-CN" b="1" dirty="0" smtClean="0">
                <a:solidFill>
                  <a:schemeClr val="bg2"/>
                </a:solidFill>
              </a:rPr>
              <a:t>} 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79712" y="4767535"/>
            <a:ext cx="5400600" cy="461665"/>
            <a:chOff x="1979712" y="4797152"/>
            <a:chExt cx="5400600" cy="461665"/>
          </a:xfrm>
        </p:grpSpPr>
        <p:sp>
          <p:nvSpPr>
            <p:cNvPr id="45" name="TextBox 44"/>
            <p:cNvSpPr txBox="1"/>
            <p:nvPr/>
          </p:nvSpPr>
          <p:spPr>
            <a:xfrm>
              <a:off x="197971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49215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966338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491880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95936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49999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004048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508104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012160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516216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041758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1188889" y="175121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14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001198" y="5127575"/>
            <a:ext cx="5379114" cy="461665"/>
            <a:chOff x="2001198" y="5127575"/>
            <a:chExt cx="5379114" cy="461665"/>
          </a:xfrm>
        </p:grpSpPr>
        <p:sp>
          <p:nvSpPr>
            <p:cNvPr id="57" name="TextBox 56"/>
            <p:cNvSpPr txBox="1"/>
            <p:nvPr/>
          </p:nvSpPr>
          <p:spPr>
            <a:xfrm>
              <a:off x="2001198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513638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987824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513366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017422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21478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5534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529590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033646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537702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041758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68" name="表格 6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88889" y="177281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14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=4,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=6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99592" y="314096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99592" y="4095074"/>
          <a:ext cx="6624735" cy="22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6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92152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6338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358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91880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95936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47139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99992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04048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08104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15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12160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15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16216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4713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15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20272" y="59196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001198" y="4383106"/>
            <a:ext cx="5379114" cy="461665"/>
            <a:chOff x="2001198" y="4383106"/>
            <a:chExt cx="5379114" cy="461665"/>
          </a:xfrm>
        </p:grpSpPr>
        <p:sp>
          <p:nvSpPr>
            <p:cNvPr id="31" name="TextBox 30"/>
            <p:cNvSpPr txBox="1"/>
            <p:nvPr/>
          </p:nvSpPr>
          <p:spPr>
            <a:xfrm>
              <a:off x="200119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1363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987824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13366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17422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52147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25534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29590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33646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37702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41758" y="438310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691680" y="2535287"/>
            <a:ext cx="5715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5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 smtClean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>
                <a:solidFill>
                  <a:schemeClr val="bg2"/>
                </a:solidFill>
              </a:rPr>
              <a:t>5</a:t>
            </a:r>
            <a:r>
              <a:rPr lang="en-US" altLang="zh-CN" b="1" dirty="0" smtClean="0">
                <a:solidFill>
                  <a:schemeClr val="bg2"/>
                </a:solidFill>
              </a:rPr>
              <a:t>}   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79712" y="4767535"/>
            <a:ext cx="5400600" cy="461665"/>
            <a:chOff x="1979712" y="4797152"/>
            <a:chExt cx="5400600" cy="461665"/>
          </a:xfrm>
        </p:grpSpPr>
        <p:sp>
          <p:nvSpPr>
            <p:cNvPr id="45" name="TextBox 44"/>
            <p:cNvSpPr txBox="1"/>
            <p:nvPr/>
          </p:nvSpPr>
          <p:spPr>
            <a:xfrm>
              <a:off x="197971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49215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966338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491880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95936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499992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004048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508104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012160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516216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041758" y="479715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001198" y="5127575"/>
            <a:ext cx="5379114" cy="461665"/>
            <a:chOff x="2001198" y="5127575"/>
            <a:chExt cx="5379114" cy="461665"/>
          </a:xfrm>
        </p:grpSpPr>
        <p:sp>
          <p:nvSpPr>
            <p:cNvPr id="57" name="TextBox 56"/>
            <p:cNvSpPr txBox="1"/>
            <p:nvPr/>
          </p:nvSpPr>
          <p:spPr>
            <a:xfrm>
              <a:off x="2001198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513638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987824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513366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017422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21478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5534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529590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033646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537702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041758" y="512757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1331640" y="16288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14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022684" y="5487615"/>
            <a:ext cx="5357628" cy="461665"/>
            <a:chOff x="2022684" y="5487615"/>
            <a:chExt cx="5357628" cy="461665"/>
          </a:xfrm>
        </p:grpSpPr>
        <p:sp>
          <p:nvSpPr>
            <p:cNvPr id="69" name="TextBox 68"/>
            <p:cNvSpPr txBox="1"/>
            <p:nvPr/>
          </p:nvSpPr>
          <p:spPr>
            <a:xfrm>
              <a:off x="2022684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513638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987824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513366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017422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521478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25534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529590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033646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537702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041758" y="548761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80" name="表格 79"/>
          <p:cNvGraphicFramePr>
            <a:graphicFrameLocks noGrp="1"/>
          </p:cNvGraphicFramePr>
          <p:nvPr/>
        </p:nvGraphicFramePr>
        <p:xfrm>
          <a:off x="1331640" y="16792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3"/>
          <p:cNvSpPr txBox="1"/>
          <p:nvPr/>
        </p:nvSpPr>
        <p:spPr>
          <a:xfrm>
            <a:off x="323528" y="44624"/>
            <a:ext cx="8280920" cy="2751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35305" lvl="1" indent="-262255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解的输出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）满足约束条件的最大价值为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[10]=15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装入物品的输出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80" name="表格 79"/>
          <p:cNvGraphicFramePr>
            <a:graphicFrameLocks noGrp="1"/>
          </p:cNvGraphicFramePr>
          <p:nvPr/>
        </p:nvGraphicFramePr>
        <p:xfrm>
          <a:off x="971600" y="1124744"/>
          <a:ext cx="6432372" cy="84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031"/>
                <a:gridCol w="536031"/>
                <a:gridCol w="536031"/>
                <a:gridCol w="536031"/>
                <a:gridCol w="536031"/>
                <a:gridCol w="536031"/>
                <a:gridCol w="536031"/>
                <a:gridCol w="536031"/>
                <a:gridCol w="536031"/>
                <a:gridCol w="536031"/>
                <a:gridCol w="536031"/>
                <a:gridCol w="536031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00" b="1" dirty="0" smtClean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zh-CN" altLang="en-US" sz="25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874331" y="4221088"/>
          <a:ext cx="6624735" cy="22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6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954451" y="4509120"/>
            <a:ext cx="5400600" cy="1998222"/>
            <a:chOff x="1954451" y="4663098"/>
            <a:chExt cx="5400600" cy="1998222"/>
          </a:xfrm>
        </p:grpSpPr>
        <p:sp>
          <p:nvSpPr>
            <p:cNvPr id="83" name="TextBox 82"/>
            <p:cNvSpPr txBox="1"/>
            <p:nvPr/>
          </p:nvSpPr>
          <p:spPr>
            <a:xfrm>
              <a:off x="1975937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466891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941077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466619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970675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474731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978787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482843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986899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490955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995011" y="619965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grpSp>
          <p:nvGrpSpPr>
            <p:cNvPr id="94" name="组合 93"/>
            <p:cNvGrpSpPr/>
            <p:nvPr/>
          </p:nvGrpSpPr>
          <p:grpSpPr>
            <a:xfrm>
              <a:off x="1975937" y="4663098"/>
              <a:ext cx="5379114" cy="461665"/>
              <a:chOff x="2001198" y="4383106"/>
              <a:chExt cx="5379114" cy="461665"/>
            </a:xfrm>
          </p:grpSpPr>
          <p:sp>
            <p:nvSpPr>
              <p:cNvPr id="95" name="TextBox 94"/>
              <p:cNvSpPr txBox="1"/>
              <p:nvPr/>
            </p:nvSpPr>
            <p:spPr>
              <a:xfrm>
                <a:off x="2001198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2513638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2987824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513366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4017422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4521478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5025534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5529590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6033646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6537702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7041758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1954451" y="5047527"/>
              <a:ext cx="5400600" cy="461665"/>
              <a:chOff x="1979712" y="4797152"/>
              <a:chExt cx="5400600" cy="461665"/>
            </a:xfrm>
          </p:grpSpPr>
          <p:sp>
            <p:nvSpPr>
              <p:cNvPr id="107" name="TextBox 106"/>
              <p:cNvSpPr txBox="1"/>
              <p:nvPr/>
            </p:nvSpPr>
            <p:spPr>
              <a:xfrm>
                <a:off x="1979712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2492152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2966338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3491880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3995936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4499992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5004048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5508104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6012160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6516216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041758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1975937" y="5407567"/>
              <a:ext cx="5379114" cy="461665"/>
              <a:chOff x="2001198" y="5127575"/>
              <a:chExt cx="5379114" cy="461665"/>
            </a:xfrm>
          </p:grpSpPr>
          <p:sp>
            <p:nvSpPr>
              <p:cNvPr id="119" name="TextBox 118"/>
              <p:cNvSpPr txBox="1"/>
              <p:nvPr/>
            </p:nvSpPr>
            <p:spPr>
              <a:xfrm>
                <a:off x="2001198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2513638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2987824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3513366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4017422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4521478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5025534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5529590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6033646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6537702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7041758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1997423" y="5767607"/>
              <a:ext cx="5357628" cy="461665"/>
              <a:chOff x="2022684" y="5487615"/>
              <a:chExt cx="5357628" cy="461665"/>
            </a:xfrm>
          </p:grpSpPr>
          <p:sp>
            <p:nvSpPr>
              <p:cNvPr id="131" name="TextBox 130"/>
              <p:cNvSpPr txBox="1"/>
              <p:nvPr/>
            </p:nvSpPr>
            <p:spPr>
              <a:xfrm>
                <a:off x="2022684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2513638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2987824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3513366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4017422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4521478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5025534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5529590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39" name="TextBox 138"/>
              <p:cNvSpPr txBox="1"/>
              <p:nvPr/>
            </p:nvSpPr>
            <p:spPr>
              <a:xfrm>
                <a:off x="6033646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40" name="TextBox 139"/>
              <p:cNvSpPr txBox="1"/>
              <p:nvPr/>
            </p:nvSpPr>
            <p:spPr>
              <a:xfrm>
                <a:off x="6537702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41" name="TextBox 140"/>
              <p:cNvSpPr txBox="1"/>
              <p:nvPr/>
            </p:nvSpPr>
            <p:spPr>
              <a:xfrm>
                <a:off x="7041758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</p:grpSp>
      </p:grpSp>
      <p:sp>
        <p:nvSpPr>
          <p:cNvPr id="4" name="矩形 3"/>
          <p:cNvSpPr/>
          <p:nvPr/>
        </p:nvSpPr>
        <p:spPr>
          <a:xfrm>
            <a:off x="989856" y="2780928"/>
            <a:ext cx="7182544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[5][10]=1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，说明装入物品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；</a:t>
            </a:r>
            <a:endParaRPr lang="en-US" altLang="zh-CN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前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个物品的装入重量为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10-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的重量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(4)=6</a:t>
            </a:r>
            <a:endParaRPr lang="en-US" altLang="zh-CN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查看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[4][6]=0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，说明不装入物品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4</a:t>
            </a:r>
            <a:endParaRPr lang="en-US" altLang="zh-CN" dirty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6969750" y="6091540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" name="椭圆 141"/>
          <p:cNvSpPr/>
          <p:nvPr/>
        </p:nvSpPr>
        <p:spPr bwMode="auto">
          <a:xfrm>
            <a:off x="4978787" y="5702212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4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96861" y="180053"/>
          <a:ext cx="6624735" cy="221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6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3" name="组合 42"/>
          <p:cNvGrpSpPr/>
          <p:nvPr/>
        </p:nvGrpSpPr>
        <p:grpSpPr>
          <a:xfrm>
            <a:off x="2076981" y="468085"/>
            <a:ext cx="5400600" cy="1998222"/>
            <a:chOff x="1954451" y="3901526"/>
            <a:chExt cx="5400600" cy="1998222"/>
          </a:xfrm>
        </p:grpSpPr>
        <p:sp>
          <p:nvSpPr>
            <p:cNvPr id="9" name="TextBox 8"/>
            <p:cNvSpPr txBox="1"/>
            <p:nvPr/>
          </p:nvSpPr>
          <p:spPr>
            <a:xfrm>
              <a:off x="1975937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66891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941077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66619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70675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74731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978787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482843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86899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90955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995011" y="543808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</a:rPr>
                <a:t>1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975937" y="3901526"/>
              <a:ext cx="5379114" cy="461665"/>
              <a:chOff x="2001198" y="4383106"/>
              <a:chExt cx="5379114" cy="461665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2001198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513638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987824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513366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017422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521478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025534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29590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6033646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6537702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041758" y="4383106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1954451" y="4285955"/>
              <a:ext cx="5400600" cy="461665"/>
              <a:chOff x="1979712" y="4797152"/>
              <a:chExt cx="5400600" cy="461665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1979712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2492152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2966338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3491880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3995936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4499992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5004048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5508104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6012160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6516216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041758" y="4797152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1975937" y="4645995"/>
              <a:ext cx="5379114" cy="461665"/>
              <a:chOff x="2001198" y="5127575"/>
              <a:chExt cx="5379114" cy="461665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2001198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513638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987824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3513366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017422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4521478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025534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529590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6033646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6537702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7041758" y="512757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997423" y="5006035"/>
              <a:ext cx="5357628" cy="461665"/>
              <a:chOff x="2022684" y="5487615"/>
              <a:chExt cx="5357628" cy="461665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2022684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2513638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2987824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3513366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4017422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4521478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5025534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5529590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6033646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6537702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1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7041758" y="54876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2"/>
                    </a:solidFill>
                  </a:rPr>
                  <a:t>0</a:t>
                </a:r>
                <a:endParaRPr lang="zh-CN" altLang="en-US" dirty="0">
                  <a:solidFill>
                    <a:schemeClr val="bg2"/>
                  </a:solidFill>
                </a:endParaRPr>
              </a:p>
            </p:txBody>
          </p:sp>
        </p:grpSp>
      </p:grpSp>
      <p:sp>
        <p:nvSpPr>
          <p:cNvPr id="82" name="文本框 3"/>
          <p:cNvSpPr txBox="1"/>
          <p:nvPr/>
        </p:nvSpPr>
        <p:spPr>
          <a:xfrm>
            <a:off x="647564" y="2421900"/>
            <a:ext cx="8280920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不装，说明前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个物品的容量为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</a:t>
            </a:r>
            <a:endParaRPr lang="zh-CN" altLang="en-US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查看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[3][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6]=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说明不装入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；</a:t>
            </a:r>
            <a:endParaRPr lang="en-US" altLang="zh-CN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继续查看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[2][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]=1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，说明装入物品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2</a:t>
            </a:r>
            <a:endParaRPr lang="en-US" altLang="zh-CN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个物品的容量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=6-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的重量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(2)=4</a:t>
            </a:r>
            <a:endParaRPr lang="en-US" altLang="zh-CN" dirty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查看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[1][4]=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，说明装入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sp>
        <p:nvSpPr>
          <p:cNvPr id="83" name="椭圆 82"/>
          <p:cNvSpPr/>
          <p:nvPr/>
        </p:nvSpPr>
        <p:spPr bwMode="auto">
          <a:xfrm>
            <a:off x="7104603" y="2106267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椭圆 83"/>
          <p:cNvSpPr/>
          <p:nvPr/>
        </p:nvSpPr>
        <p:spPr bwMode="auto">
          <a:xfrm>
            <a:off x="5083300" y="1623406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椭圆 84"/>
          <p:cNvSpPr/>
          <p:nvPr/>
        </p:nvSpPr>
        <p:spPr bwMode="auto">
          <a:xfrm>
            <a:off x="5095395" y="1281713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椭圆 85"/>
          <p:cNvSpPr/>
          <p:nvPr/>
        </p:nvSpPr>
        <p:spPr bwMode="auto">
          <a:xfrm>
            <a:off x="5076056" y="885933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" name="椭圆 86"/>
          <p:cNvSpPr/>
          <p:nvPr/>
        </p:nvSpPr>
        <p:spPr bwMode="auto">
          <a:xfrm>
            <a:off x="4067944" y="550160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403901" y="4728448"/>
            <a:ext cx="6336704" cy="1568450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i=</a:t>
            </a:r>
            <a:r>
              <a:rPr lang="en-US" altLang="zh-CN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n,j</a:t>
            </a:r>
            <a:r>
              <a:rPr lang="en-US" altLang="zh-CN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=W;</a:t>
            </a:r>
            <a:endParaRPr lang="en-US" altLang="zh-CN" i="1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r>
              <a:rPr lang="en-US" altLang="zh-CN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while(i&gt;0)</a:t>
            </a:r>
            <a:endParaRPr lang="en-US" altLang="zh-CN" i="1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r>
              <a:rPr lang="en-US" altLang="zh-CN" i="1" dirty="0">
                <a:solidFill>
                  <a:schemeClr val="bg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 if(</a:t>
            </a:r>
            <a:r>
              <a:rPr lang="en-US" altLang="zh-CN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[i][j]==1)   { </a:t>
            </a:r>
            <a:r>
              <a:rPr lang="en-US" altLang="zh-CN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(“i“);i--,j=j-w[i];}</a:t>
            </a:r>
            <a:endParaRPr lang="en-US" altLang="zh-CN" i="1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r>
              <a:rPr lang="en-US" altLang="zh-CN" i="1" dirty="0">
                <a:solidFill>
                  <a:schemeClr val="bg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 else i--;</a:t>
            </a:r>
            <a:endParaRPr lang="zh-CN" altLang="en-US" i="1" dirty="0">
              <a:solidFill>
                <a:schemeClr val="bg2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3" uiExpand="1" build="p"/>
      <p:bldP spid="82" grpId="1"/>
      <p:bldP spid="85" grpId="0" animBg="1"/>
      <p:bldP spid="85" grpId="1" animBg="1"/>
      <p:bldP spid="86" grpId="0" animBg="1"/>
      <p:bldP spid="86" grpId="1" animBg="1"/>
      <p:bldP spid="87" grpId="0" animBg="1"/>
      <p:bldP spid="88" grpId="0" animBg="1"/>
      <p:bldP spid="8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60" y="1703872"/>
            <a:ext cx="7848872" cy="33093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完全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背包问题：</a:t>
            </a:r>
            <a:r>
              <a:rPr lang="zh-CN" altLang="en-US" dirty="0">
                <a:solidFill>
                  <a:schemeClr val="bg2"/>
                </a:solidFill>
              </a:rPr>
              <a:t>一个旅行者准备随身携带一个</a:t>
            </a:r>
            <a:r>
              <a:rPr lang="zh-CN" altLang="en-US" dirty="0" smtClean="0">
                <a:solidFill>
                  <a:schemeClr val="bg2"/>
                </a:solidFill>
              </a:rPr>
              <a:t>背包。可以</a:t>
            </a:r>
            <a:r>
              <a:rPr lang="zh-CN" altLang="en-US" dirty="0">
                <a:solidFill>
                  <a:schemeClr val="bg2"/>
                </a:solidFill>
              </a:rPr>
              <a:t>放入背包的物品有</a:t>
            </a:r>
            <a:r>
              <a:rPr lang="en-US" altLang="zh-CN" i="1" dirty="0">
                <a:solidFill>
                  <a:schemeClr val="bg2"/>
                </a:solidFill>
              </a:rPr>
              <a:t>n </a:t>
            </a:r>
            <a:r>
              <a:rPr lang="zh-CN" altLang="en-US" dirty="0">
                <a:solidFill>
                  <a:schemeClr val="bg2"/>
                </a:solidFill>
              </a:rPr>
              <a:t>种</a:t>
            </a:r>
            <a:r>
              <a:rPr lang="en-US" altLang="zh-CN" dirty="0">
                <a:solidFill>
                  <a:schemeClr val="bg2"/>
                </a:solidFill>
              </a:rPr>
              <a:t>, </a:t>
            </a:r>
            <a:r>
              <a:rPr lang="zh-CN" altLang="en-US" dirty="0">
                <a:solidFill>
                  <a:schemeClr val="bg2"/>
                </a:solidFill>
              </a:rPr>
              <a:t>每种物品的重量和价值分别为 </a:t>
            </a:r>
            <a:r>
              <a:rPr lang="en-US" altLang="zh-CN" b="1" i="1" dirty="0" err="1">
                <a:solidFill>
                  <a:schemeClr val="bg2"/>
                </a:solidFill>
              </a:rPr>
              <a:t>w</a:t>
            </a:r>
            <a:r>
              <a:rPr lang="en-US" altLang="zh-CN" i="1" baseline="-25000" dirty="0" err="1">
                <a:solidFill>
                  <a:schemeClr val="bg2"/>
                </a:solidFill>
              </a:rPr>
              <a:t>j</a:t>
            </a:r>
            <a:r>
              <a:rPr lang="en-US" altLang="zh-CN" i="1" baseline="-25000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, </a:t>
            </a:r>
            <a:r>
              <a:rPr lang="en-US" altLang="zh-CN" b="1" i="1" dirty="0" err="1">
                <a:solidFill>
                  <a:schemeClr val="bg2"/>
                </a:solidFill>
              </a:rPr>
              <a:t>v</a:t>
            </a:r>
            <a:r>
              <a:rPr lang="en-US" altLang="zh-CN" i="1" baseline="-25000" dirty="0" err="1">
                <a:solidFill>
                  <a:schemeClr val="bg2"/>
                </a:solidFill>
              </a:rPr>
              <a:t>j</a:t>
            </a:r>
            <a:r>
              <a:rPr lang="en-US" altLang="zh-CN" i="1" dirty="0">
                <a:solidFill>
                  <a:schemeClr val="bg2"/>
                </a:solidFill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</a:rPr>
              <a:t>每种物品可以装入多个</a:t>
            </a:r>
            <a:r>
              <a:rPr lang="zh-CN" altLang="en-US" dirty="0" smtClean="0">
                <a:solidFill>
                  <a:schemeClr val="bg2"/>
                </a:solidFill>
              </a:rPr>
              <a:t>。如果</a:t>
            </a:r>
            <a:r>
              <a:rPr lang="zh-CN" altLang="en-US" dirty="0">
                <a:solidFill>
                  <a:schemeClr val="bg2"/>
                </a:solidFill>
              </a:rPr>
              <a:t>背包的最大重量限制是 </a:t>
            </a:r>
            <a:r>
              <a:rPr lang="en-US" altLang="zh-CN" i="1" dirty="0">
                <a:solidFill>
                  <a:schemeClr val="bg2"/>
                </a:solidFill>
              </a:rPr>
              <a:t>b</a:t>
            </a:r>
            <a:r>
              <a:rPr lang="en-US" altLang="zh-CN" dirty="0">
                <a:solidFill>
                  <a:schemeClr val="bg2"/>
                </a:solidFill>
              </a:rPr>
              <a:t>, </a:t>
            </a:r>
            <a:r>
              <a:rPr lang="zh-CN" altLang="en-US" dirty="0">
                <a:solidFill>
                  <a:schemeClr val="bg2"/>
                </a:solidFill>
              </a:rPr>
              <a:t>怎样选择放入背包的物品以使得</a:t>
            </a:r>
            <a:r>
              <a:rPr lang="zh-CN" altLang="en-US" dirty="0" smtClean="0">
                <a:solidFill>
                  <a:schemeClr val="bg2"/>
                </a:solidFill>
              </a:rPr>
              <a:t>背包的</a:t>
            </a:r>
            <a:r>
              <a:rPr lang="zh-CN" altLang="en-US" dirty="0">
                <a:solidFill>
                  <a:schemeClr val="bg2"/>
                </a:solidFill>
              </a:rPr>
              <a:t>价值最大</a:t>
            </a:r>
            <a:r>
              <a:rPr lang="en-US" altLang="zh-CN" dirty="0" smtClean="0">
                <a:solidFill>
                  <a:schemeClr val="bg2"/>
                </a:solidFill>
              </a:rPr>
              <a:t>?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问题建模：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zh-CN" altLang="en-US" dirty="0">
                <a:solidFill>
                  <a:schemeClr val="bg2"/>
                </a:solidFill>
              </a:rPr>
              <a:t>解是</a:t>
            </a:r>
            <a:r>
              <a:rPr lang="en-US" altLang="zh-CN" b="1" dirty="0">
                <a:solidFill>
                  <a:schemeClr val="bg2"/>
                </a:solidFill>
              </a:rPr>
              <a:t>&lt;</a:t>
            </a:r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1 </a:t>
            </a:r>
            <a:r>
              <a:rPr lang="en-US" altLang="zh-CN" b="1" dirty="0" smtClean="0">
                <a:solidFill>
                  <a:schemeClr val="bg2"/>
                </a:solidFill>
              </a:rPr>
              <a:t>,  </a:t>
            </a:r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2 </a:t>
            </a:r>
            <a:r>
              <a:rPr lang="en-US" altLang="zh-CN" b="1" dirty="0" smtClean="0">
                <a:solidFill>
                  <a:schemeClr val="bg2"/>
                </a:solidFill>
              </a:rPr>
              <a:t>, ... , 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x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n</a:t>
            </a:r>
            <a:r>
              <a:rPr lang="en-US" altLang="zh-CN" b="1" dirty="0">
                <a:solidFill>
                  <a:schemeClr val="bg2"/>
                </a:solidFill>
              </a:rPr>
              <a:t>&gt;</a:t>
            </a:r>
            <a:r>
              <a:rPr lang="zh-CN" altLang="en-US" dirty="0">
                <a:solidFill>
                  <a:schemeClr val="bg2"/>
                </a:solidFill>
              </a:rPr>
              <a:t>，其中</a:t>
            </a:r>
            <a:r>
              <a:rPr lang="en-US" altLang="zh-CN" b="1" i="1" dirty="0">
                <a:solidFill>
                  <a:schemeClr val="bg2"/>
                </a:solidFill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</a:rPr>
              <a:t>i</a:t>
            </a:r>
            <a:r>
              <a:rPr lang="zh-CN" altLang="en-US" dirty="0">
                <a:solidFill>
                  <a:schemeClr val="bg2"/>
                </a:solidFill>
              </a:rPr>
              <a:t>是装入背包</a:t>
            </a:r>
            <a:r>
              <a:rPr lang="zh-CN" altLang="en-US" dirty="0" smtClean="0">
                <a:solidFill>
                  <a:schemeClr val="bg2"/>
                </a:solidFill>
              </a:rPr>
              <a:t>的第 </a:t>
            </a:r>
            <a:r>
              <a:rPr lang="en-US" altLang="zh-CN" b="1" i="1" dirty="0" err="1">
                <a:solidFill>
                  <a:schemeClr val="bg2"/>
                </a:solidFill>
              </a:rPr>
              <a:t>i</a:t>
            </a:r>
            <a:r>
              <a:rPr lang="en-US" altLang="zh-CN" b="1" i="1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种物品</a:t>
            </a:r>
            <a:r>
              <a:rPr lang="zh-CN" altLang="en-US" dirty="0" smtClean="0">
                <a:solidFill>
                  <a:schemeClr val="bg2"/>
                </a:solidFill>
              </a:rPr>
              <a:t>个数， </a:t>
            </a:r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</a:rPr>
              <a:t>为</a:t>
            </a:r>
            <a:r>
              <a:rPr lang="en-US" altLang="zh-CN" dirty="0" smtClean="0">
                <a:solidFill>
                  <a:schemeClr val="bg2"/>
                </a:solidFill>
              </a:rPr>
              <a:t>&gt;=0</a:t>
            </a:r>
            <a:r>
              <a:rPr lang="zh-CN" altLang="en-US" dirty="0" smtClean="0">
                <a:solidFill>
                  <a:schemeClr val="bg2"/>
                </a:solidFill>
              </a:rPr>
              <a:t>的整数。</a:t>
            </a:r>
            <a:endParaRPr lang="en-US" altLang="zh-CN" dirty="0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60" y="1652222"/>
            <a:ext cx="7848872" cy="4654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10000"/>
              </a:lnSpc>
            </a:pPr>
            <a:r>
              <a:rPr lang="zh-CN" altLang="en-US" dirty="0" smtClean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</a:rPr>
              <a:t>）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8" t="50000" r="39505" b="29062"/>
          <a:stretch>
            <a:fillRect/>
          </a:stretch>
        </p:blipFill>
        <p:spPr bwMode="auto">
          <a:xfrm>
            <a:off x="1763688" y="2037365"/>
            <a:ext cx="5267038" cy="13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403648" y="3355643"/>
            <a:ext cx="6984776" cy="1822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线性规划问题</a:t>
            </a:r>
            <a:r>
              <a:rPr lang="en-US" altLang="zh-CN" dirty="0">
                <a:solidFill>
                  <a:schemeClr val="bg2"/>
                </a:solidFill>
              </a:rPr>
              <a:t>: </a:t>
            </a:r>
            <a:r>
              <a:rPr lang="zh-CN" altLang="en-US" dirty="0">
                <a:solidFill>
                  <a:schemeClr val="bg2"/>
                </a:solidFill>
              </a:rPr>
              <a:t>由线性条件约束的线性</a:t>
            </a:r>
            <a:r>
              <a:rPr lang="zh-CN" altLang="en-US" dirty="0" smtClean="0">
                <a:solidFill>
                  <a:schemeClr val="bg2"/>
                </a:solidFill>
              </a:rPr>
              <a:t>函数</a:t>
            </a:r>
            <a:r>
              <a:rPr lang="zh-CN" altLang="en-US" dirty="0">
                <a:solidFill>
                  <a:schemeClr val="bg2"/>
                </a:solidFill>
              </a:rPr>
              <a:t>取最大或最小的问题 </a:t>
            </a:r>
            <a:r>
              <a:rPr lang="zh-CN" altLang="en-US" dirty="0" smtClean="0">
                <a:solidFill>
                  <a:schemeClr val="bg2"/>
                </a:solidFill>
              </a:rPr>
              <a:t>。</a:t>
            </a:r>
            <a:endParaRPr lang="en-US" altLang="zh-CN" dirty="0" smtClean="0">
              <a:solidFill>
                <a:schemeClr val="bg2"/>
              </a:solidFill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</a:rPr>
              <a:t>整数规划</a:t>
            </a:r>
            <a:r>
              <a:rPr lang="zh-CN" altLang="en-US" dirty="0">
                <a:solidFill>
                  <a:schemeClr val="bg2"/>
                </a:solidFill>
              </a:rPr>
              <a:t>问题</a:t>
            </a:r>
            <a:r>
              <a:rPr lang="en-US" altLang="zh-CN" dirty="0">
                <a:solidFill>
                  <a:schemeClr val="bg2"/>
                </a:solidFill>
              </a:rPr>
              <a:t>: </a:t>
            </a:r>
            <a:r>
              <a:rPr lang="zh-CN" altLang="en-US" dirty="0">
                <a:solidFill>
                  <a:schemeClr val="bg2"/>
                </a:solidFill>
              </a:rPr>
              <a:t>线性规划问题的变量 </a:t>
            </a:r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</a:rPr>
              <a:t>都是非负整数。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1652222"/>
            <a:ext cx="7992888" cy="455612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阶段划分及每个阶段的状态结点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根据物品的个数，将问题的求解划分成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个阶段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第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个阶段决策出前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个物品在背包容量不超过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y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时的最大价值，记作：</a:t>
            </a:r>
            <a:r>
              <a:rPr lang="en-US" altLang="zh-CN" b="1" i="1" dirty="0" err="1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    (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dirty="0" err="1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err="1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, 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dirty="0" err="1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err="1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dirty="0" smtClean="0">
              <a:solidFill>
                <a:schemeClr val="bg2"/>
              </a:solidFill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子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问题的边界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)=0   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不装入物品时，背包价值为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(0)=0   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背包容量为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时，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背包价值为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0</a:t>
            </a:r>
            <a:endParaRPr lang="en-US" altLang="zh-CN" dirty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)=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 -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∞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 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&lt;0) 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背包容量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为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负数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时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，背包价值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为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-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∞</a:t>
            </a:r>
            <a:endParaRPr lang="en-US" altLang="zh-CN" dirty="0" smtClean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chemeClr val="bg2"/>
                </a:solidFill>
                <a:latin typeface="+mj-ea"/>
                <a:ea typeface="+mj-ea"/>
                <a:sym typeface="+mn-ea"/>
              </a:rPr>
              <a:t>状态转移方程</a:t>
            </a:r>
            <a:endParaRPr lang="en-US" altLang="zh-CN" dirty="0" smtClean="0">
              <a:solidFill>
                <a:schemeClr val="bg2"/>
              </a:solidFill>
              <a:latin typeface="+mj-ea"/>
              <a:ea typeface="+mj-ea"/>
              <a:sym typeface="+mn-ea"/>
            </a:endParaRPr>
          </a:p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在决策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阶段，容量为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的最大价值时，前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-1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阶段以及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阶段小于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的子问题均已经解决。</a:t>
            </a:r>
            <a:endParaRPr lang="zh-CN" altLang="en-US" dirty="0" smtClean="0">
              <a:solidFill>
                <a:schemeClr val="bg2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06730" y="3095625"/>
            <a:ext cx="7987030" cy="3342453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err="1" smtClean="0">
                <a:solidFill>
                  <a:schemeClr val="bg2"/>
                </a:solidFill>
                <a:sym typeface="+mn-ea"/>
              </a:rPr>
              <a:t>说明：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1</a:t>
            </a:r>
            <a:r>
              <a:rPr lang="zh-CN" altLang="en-US" dirty="0">
                <a:solidFill>
                  <a:schemeClr val="bg2"/>
                </a:solidFill>
              </a:rPr>
              <a:t>）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="1" dirty="0" smtClean="0">
                <a:solidFill>
                  <a:schemeClr val="bg2"/>
                </a:solidFill>
                <a:sym typeface="+mn-ea"/>
              </a:rPr>
              <a:t>&lt;0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，说明当前的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不够装入物品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，此时其值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</a:t>
            </a:r>
            <a:r>
              <a:rPr lang="en-US" altLang="zh-CN" b="1" dirty="0" smtClean="0">
                <a:solidFill>
                  <a:schemeClr val="bg2"/>
                </a:solidFill>
                <a:sym typeface="+mn-ea"/>
              </a:rPr>
              <a:t>=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="1" baseline="-25000" dirty="0" err="1" smtClean="0">
                <a:solidFill>
                  <a:schemeClr val="bg2"/>
                </a:solidFill>
                <a:sym typeface="+mn-ea"/>
              </a:rPr>
              <a:t>-1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。</a:t>
            </a:r>
            <a:endParaRPr lang="zh-CN" altLang="en-US" dirty="0" smtClean="0">
              <a:solidFill>
                <a:schemeClr val="bg2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）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≥</a:t>
            </a:r>
            <a:r>
              <a:rPr lang="en-US" altLang="zh-CN" b="1" dirty="0" smtClean="0">
                <a:solidFill>
                  <a:schemeClr val="bg2"/>
                </a:solidFill>
                <a:sym typeface="+mn-ea"/>
              </a:rPr>
              <a:t>0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，说明当前的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能够装入物品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，此时装入物品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，剩余容量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分两种情况：</a:t>
            </a:r>
            <a:endParaRPr lang="zh-CN" altLang="en-US" b="1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首次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装入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尝试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装入物品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，则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)=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sym typeface="+mn-ea"/>
              </a:rPr>
              <a:t>k</a:t>
            </a:r>
            <a:r>
              <a:rPr lang="en-US" altLang="zh-CN" b="1" baseline="-25000" dirty="0" err="1" smtClean="0">
                <a:solidFill>
                  <a:srgbClr val="FF0000"/>
                </a:solidFill>
                <a:sym typeface="+mn-ea"/>
              </a:rPr>
              <a:t>-1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    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再次装入物品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，则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 &gt;= 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sym typeface="+mn-ea"/>
              </a:rPr>
              <a:t>k</a:t>
            </a:r>
            <a:r>
              <a:rPr lang="en-US" altLang="zh-CN" b="1" baseline="-25000" dirty="0" err="1" smtClean="0">
                <a:solidFill>
                  <a:srgbClr val="FF0000"/>
                </a:solidFill>
                <a:sym typeface="+mn-ea"/>
              </a:rPr>
              <a:t>-1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</a:t>
            </a:r>
            <a:endParaRPr lang="en-US" altLang="zh-CN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上述两种情况可统一表示为：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v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endParaRPr lang="zh-CN" altLang="en-US" b="1" dirty="0" smtClean="0">
              <a:solidFill>
                <a:schemeClr val="bg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1580467"/>
            <a:ext cx="7992888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b="1" dirty="0" err="1" smtClean="0">
                <a:solidFill>
                  <a:schemeClr val="bg2"/>
                </a:solidFill>
                <a:sym typeface="+mn-ea"/>
              </a:rPr>
              <a:t>递推方程</a:t>
            </a:r>
            <a:r>
              <a:rPr lang="en-US" altLang="zh-CN" b="1" dirty="0" err="1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b="1" dirty="0" err="1" smtClean="0">
                <a:solidFill>
                  <a:schemeClr val="bg2"/>
                </a:solidFill>
                <a:sym typeface="+mn-ea"/>
              </a:rPr>
              <a:t>：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)=max{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="1" baseline="-25000" dirty="0" err="1" smtClean="0">
                <a:solidFill>
                  <a:schemeClr val="bg2"/>
                </a:solidFill>
                <a:sym typeface="+mn-ea"/>
              </a:rPr>
              <a:t>-1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 , </a:t>
            </a:r>
            <a:r>
              <a:rPr lang="en-US" altLang="zh-CN" b="1" i="1" dirty="0" err="1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)+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v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}</a:t>
            </a:r>
            <a:endParaRPr lang="en-US" altLang="zh-CN" dirty="0" smtClean="0">
              <a:solidFill>
                <a:schemeClr val="bg2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椭圆形标注 2"/>
          <p:cNvSpPr/>
          <p:nvPr/>
        </p:nvSpPr>
        <p:spPr>
          <a:xfrm>
            <a:off x="2886710" y="2197735"/>
            <a:ext cx="1983740" cy="969645"/>
          </a:xfrm>
          <a:prstGeom prst="wedgeEllipseCallout">
            <a:avLst>
              <a:gd name="adj1" fmla="val 55633"/>
              <a:gd name="adj2" fmla="val -71349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没有装入物品</a:t>
            </a:r>
            <a:r>
              <a:rPr kumimoji="1" lang="en-US" altLang="zh-CN" sz="2400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endParaRPr kumimoji="1" lang="en-US" altLang="zh-CN" sz="2400" i="1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椭圆形标注 4"/>
          <p:cNvSpPr/>
          <p:nvPr/>
        </p:nvSpPr>
        <p:spPr>
          <a:xfrm>
            <a:off x="5177155" y="2265045"/>
            <a:ext cx="3355340" cy="970280"/>
          </a:xfrm>
          <a:prstGeom prst="wedgeEllipseCallout">
            <a:avLst>
              <a:gd name="adj1" fmla="val -16616"/>
              <a:gd name="adj2" fmla="val -83049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1" u="none" strike="noStrike" cap="none" normalizeH="0" smtClean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zh-CN" altLang="en-US" sz="2400" b="1" u="none" strike="noStrike" cap="none" normalizeH="0" smtClean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阶段</a:t>
            </a:r>
            <a:r>
              <a:rPr kumimoji="1" lang="zh-CN" altLang="en-US" sz="240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已对物品</a:t>
            </a:r>
            <a:r>
              <a:rPr kumimoji="1" lang="en-US" altLang="zh-CN" sz="24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zh-CN" altLang="en-US" sz="240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决策完的结果。</a:t>
            </a:r>
            <a:endParaRPr kumimoji="1" lang="zh-CN" altLang="en-US" sz="240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37515" y="2804795"/>
            <a:ext cx="8317230" cy="3192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err="1" smtClean="0">
                <a:solidFill>
                  <a:schemeClr val="bg2"/>
                </a:solidFill>
                <a:sym typeface="+mn-ea"/>
              </a:rPr>
              <a:t>说明：</a:t>
            </a:r>
            <a:endParaRPr lang="zh-CN" altLang="en-US" b="1" dirty="0" err="1" smtClean="0">
              <a:solidFill>
                <a:schemeClr val="bg2"/>
              </a:solidFill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）</a:t>
            </a:r>
            <a:r>
              <a:rPr lang="en-US" altLang="zh-CN" b="1" i="1">
                <a:solidFill>
                  <a:schemeClr val="bg2"/>
                </a:solidFill>
              </a:rPr>
              <a:t>x</a:t>
            </a:r>
            <a:r>
              <a:rPr lang="en-US" altLang="zh-CN" b="1" i="1" baseline="-25000">
                <a:solidFill>
                  <a:schemeClr val="bg2"/>
                </a:solidFill>
              </a:rPr>
              <a:t>k</a:t>
            </a:r>
            <a:r>
              <a:rPr lang="zh-CN" altLang="en-US">
                <a:solidFill>
                  <a:schemeClr val="bg2"/>
                </a:solidFill>
              </a:rPr>
              <a:t>为物品</a:t>
            </a:r>
            <a:r>
              <a:rPr lang="en-US" altLang="zh-CN" b="1" i="1">
                <a:solidFill>
                  <a:schemeClr val="bg2"/>
                </a:solidFill>
              </a:rPr>
              <a:t>k</a:t>
            </a:r>
            <a:r>
              <a:rPr lang="zh-CN" altLang="en-US">
                <a:solidFill>
                  <a:schemeClr val="bg2"/>
                </a:solidFill>
              </a:rPr>
              <a:t>的装入个数，从</a:t>
            </a:r>
            <a:r>
              <a:rPr lang="en-US" altLang="zh-CN">
                <a:solidFill>
                  <a:schemeClr val="bg2"/>
                </a:solidFill>
              </a:rPr>
              <a:t>0</a:t>
            </a:r>
            <a:r>
              <a:rPr lang="zh-CN" altLang="en-US">
                <a:solidFill>
                  <a:schemeClr val="bg2"/>
                </a:solidFill>
              </a:rPr>
              <a:t>直到</a:t>
            </a:r>
            <a:r>
              <a:rPr lang="en-US" altLang="zh-CN">
                <a:solidFill>
                  <a:schemeClr val="bg2"/>
                </a:solidFill>
              </a:rPr>
              <a:t>int(</a:t>
            </a:r>
            <a:r>
              <a:rPr lang="en-US" altLang="zh-CN" b="1" i="1">
                <a:solidFill>
                  <a:schemeClr val="bg2"/>
                </a:solidFill>
              </a:rPr>
              <a:t>y</a:t>
            </a:r>
            <a:r>
              <a:rPr lang="en-US" altLang="zh-CN">
                <a:solidFill>
                  <a:schemeClr val="bg2"/>
                </a:solidFill>
              </a:rPr>
              <a:t>/</a:t>
            </a:r>
            <a:r>
              <a:rPr lang="en-US" altLang="zh-CN" b="1" i="1">
                <a:solidFill>
                  <a:schemeClr val="bg2"/>
                </a:solidFill>
              </a:rPr>
              <a:t>w</a:t>
            </a:r>
            <a:r>
              <a:rPr lang="en-US" altLang="zh-CN" b="1" i="1" baseline="-25000">
                <a:solidFill>
                  <a:schemeClr val="bg2"/>
                </a:solidFill>
              </a:rPr>
              <a:t>k</a:t>
            </a:r>
            <a:r>
              <a:rPr lang="en-US" altLang="zh-CN">
                <a:solidFill>
                  <a:schemeClr val="bg2"/>
                </a:solidFill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，取价值最大</a:t>
            </a:r>
            <a:endParaRPr lang="zh-CN" altLang="en-US">
              <a:solidFill>
                <a:schemeClr val="bg2"/>
              </a:solidFill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）写法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和写法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含义相同，但效率相差很大</a:t>
            </a:r>
            <a:endParaRPr lang="zh-CN" altLang="en-US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写法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：计算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时，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b="1" baseline="-25000" dirty="0" smtClean="0">
                <a:solidFill>
                  <a:schemeClr val="bg2"/>
                </a:solidFill>
                <a:sym typeface="+mn-ea"/>
              </a:rPr>
              <a:t>-1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和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已经计算完毕，直接取值使用，因此复杂度为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O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(1)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。</a:t>
            </a:r>
            <a:endParaRPr lang="zh-CN" altLang="en-US" dirty="0" smtClean="0">
              <a:solidFill>
                <a:schemeClr val="bg2"/>
              </a:solidFill>
              <a:sym typeface="+mn-ea"/>
            </a:endParaRPr>
          </a:p>
          <a:p>
            <a:pPr marL="8001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写法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sym typeface="+mn-ea"/>
              </a:rPr>
              <a:t>：要经过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int(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/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w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次循环才能得出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的值，因此若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y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较大，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w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k</a:t>
            </a:r>
            <a:r>
              <a:rPr lang="zh-CN" altLang="en-US">
                <a:solidFill>
                  <a:schemeClr val="bg2"/>
                </a:solidFill>
                <a:sym typeface="+mn-ea"/>
              </a:rPr>
              <a:t>较小时，计算量也是很可观的。</a:t>
            </a:r>
            <a:endParaRPr lang="zh-CN" altLang="en-US" dirty="0" smtClean="0">
              <a:solidFill>
                <a:schemeClr val="bg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1580467"/>
            <a:ext cx="7992888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dirty="0" smtClean="0">
                <a:solidFill>
                  <a:schemeClr val="bg2"/>
                </a:solidFill>
                <a:latin typeface="+mj-ea"/>
                <a:ea typeface="+mj-ea"/>
                <a:sym typeface="+mn-ea"/>
              </a:rPr>
              <a:t>递推方程</a:t>
            </a:r>
            <a:r>
              <a:rPr lang="en-US" altLang="zh-CN" dirty="0" smtClean="0">
                <a:solidFill>
                  <a:schemeClr val="bg2"/>
                </a:solidFill>
                <a:latin typeface="+mj-ea"/>
                <a:ea typeface="+mj-ea"/>
                <a:sym typeface="+mn-ea"/>
              </a:rPr>
              <a:t>2(</a:t>
            </a:r>
            <a:r>
              <a:rPr lang="zh-CN" altLang="en-US" dirty="0" smtClean="0">
                <a:solidFill>
                  <a:schemeClr val="bg2"/>
                </a:solidFill>
                <a:latin typeface="+mj-ea"/>
                <a:ea typeface="+mj-ea"/>
                <a:sym typeface="+mn-ea"/>
              </a:rPr>
              <a:t>形式同资源分配问题）</a:t>
            </a:r>
            <a:endParaRPr lang="zh-CN" altLang="en-US" dirty="0" smtClean="0">
              <a:solidFill>
                <a:schemeClr val="bg2"/>
              </a:solidFill>
              <a:latin typeface="+mj-ea"/>
              <a:ea typeface="+mj-ea"/>
              <a:sym typeface="+mn-ea"/>
            </a:endParaRPr>
          </a:p>
        </p:txBody>
      </p:sp>
      <p:pic>
        <p:nvPicPr>
          <p:cNvPr id="7" name="20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815" y="2149475"/>
            <a:ext cx="4860290" cy="6553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431478" y="1473076"/>
            <a:ext cx="8280920" cy="452183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解的追踪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）使用一维数组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dp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存储第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阶段的决策结果。在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阶段可先将决策结果暂存于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temp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数组，该阶段结束后再更新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dp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</a:rPr>
              <a:t>数组中的内容。</a:t>
            </a:r>
            <a:endParaRPr lang="en-US" altLang="zh-CN" dirty="0" smtClean="0">
              <a:solidFill>
                <a:schemeClr val="bg2"/>
              </a:solidFill>
              <a:latin typeface="+mn-ea"/>
              <a:cs typeface="Times New Roman" panose="02020603050405020304" pitchFamily="18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）使用二维数组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sel</a:t>
            </a:r>
            <a:r>
              <a:rPr lang="zh-CN" altLang="en-US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实现。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Times New Roman" panose="02020603050405020304" pitchFamily="18" charset="0"/>
                <a:sym typeface="+mn-ea"/>
              </a:rPr>
              <a:t>]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存储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阶段容量不超过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且取得最大价值时，</a:t>
            </a:r>
            <a:r>
              <a:rPr lang="zh-CN" altLang="en-US" dirty="0" err="1" smtClean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装入的最后一个物品编号</a:t>
            </a:r>
            <a:r>
              <a:rPr lang="zh-CN" altLang="en-US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。例如：</a:t>
            </a:r>
            <a:endParaRPr lang="zh-CN" altLang="en-US" dirty="0" err="1" smtClean="0">
              <a:solidFill>
                <a:schemeClr val="bg2"/>
              </a:solidFill>
              <a:cs typeface="Times New Roman" panose="02020603050405020304" pitchFamily="18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sel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3,4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]=2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，说明在第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阶段容量不超过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且价值最大时，最后装入的物品是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，即此时没有装入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号物品。</a:t>
            </a:r>
            <a:endParaRPr lang="zh-CN" altLang="en-US" dirty="0" err="1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sel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4,8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]=4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，说明在第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阶段容量不超过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且价值最大时，最后装入的物品是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dirty="0" err="1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216848" y="1457201"/>
            <a:ext cx="8280920" cy="142049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sel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]</a:t>
            </a: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值的选取</a:t>
            </a:r>
            <a:endParaRPr lang="zh-CN" altLang="en-US" dirty="0" err="1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endParaRPr lang="en-US" altLang="zh-CN" b="1" i="1" dirty="0" err="1" smtClean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sel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]=</a:t>
            </a:r>
            <a:endParaRPr lang="zh-CN" altLang="en-US" dirty="0" err="1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2120265" y="2202815"/>
            <a:ext cx="238125" cy="1125855"/>
          </a:xfrm>
          <a:prstGeom prst="leftBrace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29840" y="2138680"/>
            <a:ext cx="63449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i="1">
                <a:solidFill>
                  <a:schemeClr val="bg2"/>
                </a:solidFill>
              </a:rPr>
              <a:t>sel</a:t>
            </a:r>
            <a:r>
              <a:rPr lang="en-US" altLang="zh-CN">
                <a:solidFill>
                  <a:schemeClr val="bg2"/>
                </a:solidFill>
              </a:rPr>
              <a:t>[</a:t>
            </a:r>
            <a:r>
              <a:rPr lang="en-US" altLang="zh-CN" b="1" i="1">
                <a:solidFill>
                  <a:schemeClr val="bg2"/>
                </a:solidFill>
              </a:rPr>
              <a:t>k</a:t>
            </a:r>
            <a:r>
              <a:rPr lang="en-US" altLang="zh-CN">
                <a:solidFill>
                  <a:schemeClr val="bg2"/>
                </a:solidFill>
              </a:rPr>
              <a:t>-1,</a:t>
            </a:r>
            <a:r>
              <a:rPr lang="en-US" altLang="zh-CN" b="1" i="1">
                <a:solidFill>
                  <a:schemeClr val="bg2"/>
                </a:solidFill>
              </a:rPr>
              <a:t>y</a:t>
            </a:r>
            <a:r>
              <a:rPr lang="en-US" altLang="zh-CN">
                <a:solidFill>
                  <a:schemeClr val="bg2"/>
                </a:solidFill>
              </a:rPr>
              <a:t>]      </a:t>
            </a:r>
            <a:r>
              <a:rPr lang="en-US" altLang="zh-CN" b="1" i="1">
                <a:solidFill>
                  <a:schemeClr val="bg2"/>
                </a:solidFill>
              </a:rPr>
              <a:t>F</a:t>
            </a:r>
            <a:r>
              <a:rPr lang="en-US" altLang="zh-CN" b="1" i="1" baseline="-25000">
                <a:solidFill>
                  <a:schemeClr val="bg2"/>
                </a:solidFill>
              </a:rPr>
              <a:t>k</a:t>
            </a:r>
            <a:r>
              <a:rPr lang="en-US" altLang="zh-CN" baseline="-25000">
                <a:solidFill>
                  <a:schemeClr val="bg2"/>
                </a:solidFill>
              </a:rPr>
              <a:t>-1</a:t>
            </a:r>
            <a:r>
              <a:rPr lang="en-US" altLang="zh-CN">
                <a:solidFill>
                  <a:schemeClr val="bg2"/>
                </a:solidFill>
              </a:rPr>
              <a:t>(</a:t>
            </a:r>
            <a:r>
              <a:rPr lang="en-US" altLang="zh-CN" b="1" i="1">
                <a:solidFill>
                  <a:schemeClr val="bg2"/>
                </a:solidFill>
              </a:rPr>
              <a:t>y</a:t>
            </a:r>
            <a:r>
              <a:rPr lang="en-US" altLang="zh-CN">
                <a:solidFill>
                  <a:schemeClr val="bg2"/>
                </a:solidFill>
              </a:rPr>
              <a:t>)&gt;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y-w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)+</a:t>
            </a:r>
            <a:r>
              <a:rPr lang="en-US" altLang="zh-CN" b="1" i="1">
                <a:solidFill>
                  <a:schemeClr val="bg2"/>
                </a:solidFill>
                <a:sym typeface="+mn-ea"/>
              </a:rPr>
              <a:t>v</a:t>
            </a:r>
            <a:r>
              <a:rPr lang="en-US" altLang="zh-CN" b="1" i="1" baseline="-25000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>
                <a:solidFill>
                  <a:schemeClr val="bg2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bg2"/>
                </a:solidFill>
              </a:rPr>
              <a:t>没有装入物品</a:t>
            </a:r>
            <a:r>
              <a:rPr lang="en-US" altLang="zh-CN" i="1">
                <a:solidFill>
                  <a:schemeClr val="bg2"/>
                </a:solidFill>
              </a:rPr>
              <a:t>k</a:t>
            </a:r>
            <a:endParaRPr lang="en-US" altLang="zh-CN" i="1">
              <a:solidFill>
                <a:schemeClr val="bg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59050" y="2877820"/>
            <a:ext cx="6268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i="1" dirty="0">
                <a:solidFill>
                  <a:schemeClr val="bg2"/>
                </a:solidFill>
              </a:rPr>
              <a:t>k</a:t>
            </a:r>
            <a:r>
              <a:rPr lang="en-US" altLang="zh-CN" dirty="0">
                <a:solidFill>
                  <a:schemeClr val="bg2"/>
                </a:solidFill>
              </a:rPr>
              <a:t>      </a:t>
            </a:r>
            <a:r>
              <a:rPr lang="en-US" altLang="zh-CN" dirty="0" smtClean="0">
                <a:solidFill>
                  <a:schemeClr val="bg2"/>
                </a:solidFill>
              </a:rPr>
              <a:t>             </a:t>
            </a:r>
            <a:r>
              <a:rPr lang="en-US" altLang="zh-CN" b="1" i="1" dirty="0" smtClean="0">
                <a:solidFill>
                  <a:schemeClr val="bg2"/>
                </a:solidFill>
              </a:rPr>
              <a:t>F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k</a:t>
            </a:r>
            <a:r>
              <a:rPr lang="en-US" altLang="zh-CN" baseline="-25000" dirty="0" smtClean="0">
                <a:solidFill>
                  <a:schemeClr val="bg2"/>
                </a:solidFill>
              </a:rPr>
              <a:t>-1</a:t>
            </a:r>
            <a:r>
              <a:rPr lang="en-US" altLang="zh-CN" dirty="0" smtClean="0">
                <a:solidFill>
                  <a:schemeClr val="bg2"/>
                </a:solidFill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</a:rPr>
              <a:t>y</a:t>
            </a:r>
            <a:r>
              <a:rPr lang="en-US" altLang="zh-CN" dirty="0">
                <a:solidFill>
                  <a:schemeClr val="bg2"/>
                </a:solidFill>
              </a:rPr>
              <a:t>)&lt;=</a:t>
            </a:r>
            <a:r>
              <a:rPr lang="en-US" altLang="zh-CN" b="1" i="1" dirty="0" err="1">
                <a:solidFill>
                  <a:schemeClr val="bg2"/>
                </a:solidFill>
                <a:sym typeface="+mn-ea"/>
              </a:rPr>
              <a:t>F</a:t>
            </a:r>
            <a:r>
              <a:rPr lang="en-US" altLang="zh-CN" b="1" i="1" baseline="-25000" dirty="0" err="1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y-</a:t>
            </a:r>
            <a:r>
              <a:rPr lang="en-US" altLang="zh-CN" b="1" i="1" dirty="0" err="1">
                <a:solidFill>
                  <a:schemeClr val="bg2"/>
                </a:solidFill>
                <a:sym typeface="+mn-ea"/>
              </a:rPr>
              <a:t>w</a:t>
            </a:r>
            <a:r>
              <a:rPr lang="en-US" altLang="zh-CN" b="1" i="1" baseline="-25000" dirty="0" err="1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) +</a:t>
            </a:r>
            <a:r>
              <a:rPr lang="en-US" altLang="zh-CN" b="1" i="1" dirty="0" err="1">
                <a:solidFill>
                  <a:schemeClr val="bg2"/>
                </a:solidFill>
                <a:sym typeface="+mn-ea"/>
              </a:rPr>
              <a:t>v</a:t>
            </a:r>
            <a:r>
              <a:rPr lang="en-US" altLang="zh-CN" b="1" i="1" baseline="-25000" dirty="0" err="1">
                <a:solidFill>
                  <a:schemeClr val="bg2"/>
                </a:solidFill>
                <a:sym typeface="+mn-ea"/>
              </a:rPr>
              <a:t>k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     </a:t>
            </a:r>
            <a:r>
              <a:rPr lang="zh-CN" altLang="en-US" dirty="0">
                <a:solidFill>
                  <a:schemeClr val="bg2"/>
                </a:solidFill>
              </a:rPr>
              <a:t>装入物品</a:t>
            </a:r>
            <a:r>
              <a:rPr lang="en-US" altLang="zh-CN" i="1" dirty="0">
                <a:solidFill>
                  <a:schemeClr val="bg2"/>
                </a:solidFill>
              </a:rPr>
              <a:t>k</a:t>
            </a:r>
            <a:endParaRPr lang="en-US" altLang="zh-CN" i="1" dirty="0">
              <a:solidFill>
                <a:schemeClr val="bg2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10590" y="4152900"/>
            <a:ext cx="5476875" cy="1155065"/>
            <a:chOff x="1434" y="6540"/>
            <a:chExt cx="8625" cy="1819"/>
          </a:xfrm>
        </p:grpSpPr>
        <p:sp>
          <p:nvSpPr>
            <p:cNvPr id="10" name="文本框 9"/>
            <p:cNvSpPr txBox="1"/>
            <p:nvPr/>
          </p:nvSpPr>
          <p:spPr>
            <a:xfrm>
              <a:off x="1434" y="7110"/>
              <a:ext cx="2114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CN" b="1" i="1" dirty="0" err="1" smtClean="0">
                  <a:solidFill>
                    <a:schemeClr val="bg2"/>
                  </a:solidFill>
                  <a:ea typeface="+mn-ea"/>
                  <a:cs typeface="Times New Roman" panose="02020603050405020304" pitchFamily="18" charset="0"/>
                  <a:sym typeface="+mn-ea"/>
                </a:rPr>
                <a:t>sel</a:t>
              </a:r>
              <a:r>
                <a:rPr lang="en-US" altLang="zh-CN" dirty="0" err="1" smtClean="0">
                  <a:solidFill>
                    <a:schemeClr val="bg2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[</a:t>
              </a:r>
              <a:r>
                <a:rPr lang="en-US" altLang="zh-CN" b="1" dirty="0" err="1" smtClean="0">
                  <a:solidFill>
                    <a:schemeClr val="bg2"/>
                  </a:solidFill>
                  <a:ea typeface="+mn-ea"/>
                  <a:cs typeface="Times New Roman" panose="02020603050405020304" pitchFamily="18" charset="0"/>
                  <a:sym typeface="+mn-ea"/>
                </a:rPr>
                <a:t>1,</a:t>
              </a:r>
              <a:r>
                <a:rPr lang="en-US" altLang="zh-CN" b="1" i="1" dirty="0" err="1" smtClean="0">
                  <a:solidFill>
                    <a:schemeClr val="bg2"/>
                  </a:solidFill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dirty="0" err="1" smtClean="0">
                  <a:solidFill>
                    <a:schemeClr val="bg2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]=</a:t>
              </a:r>
              <a:endParaRPr lang="zh-CN" altLang="en-US"/>
            </a:p>
          </p:txBody>
        </p:sp>
        <p:sp>
          <p:nvSpPr>
            <p:cNvPr id="11" name="左大括号 10"/>
            <p:cNvSpPr/>
            <p:nvPr/>
          </p:nvSpPr>
          <p:spPr>
            <a:xfrm>
              <a:off x="3339" y="6586"/>
              <a:ext cx="375" cy="1773"/>
            </a:xfrm>
            <a:prstGeom prst="leftBrace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891" y="6540"/>
              <a:ext cx="61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b="1">
                  <a:solidFill>
                    <a:schemeClr val="bg2"/>
                  </a:solidFill>
                </a:rPr>
                <a:t>0</a:t>
              </a:r>
              <a:r>
                <a:rPr lang="en-US" altLang="zh-CN">
                  <a:solidFill>
                    <a:schemeClr val="bg2"/>
                  </a:solidFill>
                </a:rPr>
                <a:t>      </a:t>
              </a:r>
              <a:r>
                <a:rPr lang="en-US" altLang="zh-CN" b="1" i="1">
                  <a:solidFill>
                    <a:schemeClr val="bg2"/>
                  </a:solidFill>
                </a:rPr>
                <a:t>y</a:t>
              </a:r>
              <a:r>
                <a:rPr lang="en-US" altLang="zh-CN">
                  <a:solidFill>
                    <a:schemeClr val="bg2"/>
                  </a:solidFill>
                </a:rPr>
                <a:t>&lt;</a:t>
              </a:r>
              <a:r>
                <a:rPr lang="en-US" altLang="zh-CN" b="1" i="1">
                  <a:solidFill>
                    <a:schemeClr val="bg2"/>
                  </a:solidFill>
                </a:rPr>
                <a:t>w</a:t>
              </a:r>
              <a:r>
                <a:rPr lang="en-US" altLang="zh-CN" b="1" baseline="-25000">
                  <a:solidFill>
                    <a:schemeClr val="bg2"/>
                  </a:solidFill>
                </a:rPr>
                <a:t>1</a:t>
              </a:r>
              <a:r>
                <a:rPr lang="en-US" altLang="zh-CN">
                  <a:solidFill>
                    <a:schemeClr val="bg2"/>
                  </a:solidFill>
                  <a:sym typeface="+mn-ea"/>
                </a:rPr>
                <a:t>       </a:t>
              </a:r>
              <a:r>
                <a:rPr lang="zh-CN" altLang="en-US">
                  <a:solidFill>
                    <a:schemeClr val="bg2"/>
                  </a:solidFill>
                  <a:sym typeface="+mn-ea"/>
                </a:rPr>
                <a:t>没有</a:t>
              </a:r>
              <a:r>
                <a:rPr lang="zh-CN" altLang="en-US">
                  <a:solidFill>
                    <a:schemeClr val="bg2"/>
                  </a:solidFill>
                </a:rPr>
                <a:t>装入物品</a:t>
              </a:r>
              <a:r>
                <a:rPr lang="en-US" altLang="zh-CN">
                  <a:solidFill>
                    <a:schemeClr val="bg2"/>
                  </a:solidFill>
                </a:rPr>
                <a:t>1</a:t>
              </a:r>
              <a:endParaRPr lang="en-US" altLang="zh-CN">
                <a:solidFill>
                  <a:schemeClr val="bg2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871" y="7634"/>
              <a:ext cx="524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b="1">
                  <a:solidFill>
                    <a:schemeClr val="bg2"/>
                  </a:solidFill>
                </a:rPr>
                <a:t>1</a:t>
              </a:r>
              <a:r>
                <a:rPr lang="en-US" altLang="zh-CN">
                  <a:solidFill>
                    <a:schemeClr val="bg2"/>
                  </a:solidFill>
                </a:rPr>
                <a:t>      </a:t>
              </a:r>
              <a:r>
                <a:rPr lang="en-US" altLang="zh-CN" b="1" i="1">
                  <a:solidFill>
                    <a:schemeClr val="bg2"/>
                  </a:solidFill>
                </a:rPr>
                <a:t>y</a:t>
              </a:r>
              <a:r>
                <a:rPr lang="en-US" altLang="zh-CN" b="1">
                  <a:solidFill>
                    <a:schemeClr val="bg2"/>
                  </a:solidFill>
                </a:rPr>
                <a:t>&gt;=</a:t>
              </a:r>
              <a:r>
                <a:rPr lang="en-US" altLang="zh-CN" b="1" i="1">
                  <a:solidFill>
                    <a:schemeClr val="bg2"/>
                  </a:solidFill>
                </a:rPr>
                <a:t>w</a:t>
              </a:r>
              <a:r>
                <a:rPr lang="en-US" altLang="zh-CN" b="1" baseline="-25000">
                  <a:solidFill>
                    <a:schemeClr val="bg2"/>
                  </a:solidFill>
                </a:rPr>
                <a:t>1</a:t>
              </a:r>
              <a:r>
                <a:rPr lang="en-US" altLang="zh-CN">
                  <a:solidFill>
                    <a:schemeClr val="bg2"/>
                  </a:solidFill>
                  <a:sym typeface="+mn-ea"/>
                </a:rPr>
                <a:t>     </a:t>
              </a:r>
              <a:r>
                <a:rPr lang="zh-CN" altLang="en-US">
                  <a:solidFill>
                    <a:schemeClr val="bg2"/>
                  </a:solidFill>
                </a:rPr>
                <a:t>装入物品</a:t>
              </a:r>
              <a:r>
                <a:rPr lang="en-US" altLang="zh-CN">
                  <a:solidFill>
                    <a:schemeClr val="bg2"/>
                  </a:solidFill>
                </a:rPr>
                <a:t>1</a:t>
              </a:r>
              <a:endParaRPr lang="en-US" altLang="zh-CN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  <p:bldP spid="8" grpId="1"/>
      <p:bldP spid="9" grpId="0"/>
      <p:bldP spid="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431478" y="1473076"/>
            <a:ext cx="8280920" cy="53403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</a:rPr>
              <a:t>实例</a:t>
            </a:r>
            <a:endParaRPr lang="zh-CN" altLang="en-US" dirty="0" err="1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170" y="1645285"/>
            <a:ext cx="4747895" cy="12153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0208" y="2933576"/>
            <a:ext cx="8280920" cy="274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数据结构</a:t>
            </a:r>
            <a:endParaRPr lang="zh-CN" altLang="en-US" dirty="0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dp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：存储当前阶段求得的最大价值，所有阶段结束后，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[10]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中即为最优值。</a:t>
            </a:r>
            <a:endParaRPr lang="zh-CN" altLang="en-US" dirty="0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sel</a:t>
            </a: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：存储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阶段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容量取得最优值时，</a:t>
            </a:r>
            <a:r>
              <a:rPr lang="zh-CN" altLang="en-US" b="1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  <a:sym typeface="+mn-ea"/>
              </a:rPr>
              <a:t>装入的最后一个物品编号</a:t>
            </a: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dirty="0" smtClean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 初始化</a:t>
            </a:r>
            <a:endParaRPr lang="zh-CN" altLang="en-US" dirty="0" smtClean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880870" y="5581650"/>
          <a:ext cx="639826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188"/>
                <a:gridCol w="533189"/>
                <a:gridCol w="533188"/>
                <a:gridCol w="533400"/>
                <a:gridCol w="532977"/>
                <a:gridCol w="533188"/>
                <a:gridCol w="533188"/>
                <a:gridCol w="533189"/>
                <a:gridCol w="533188"/>
                <a:gridCol w="533188"/>
                <a:gridCol w="533189"/>
                <a:gridCol w="533188"/>
              </a:tblGrid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=2,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=1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71972" y="170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9592" y="328447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99592" y="4310339"/>
          <a:ext cx="6624735" cy="184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5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6149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6149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3638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7824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993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13366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2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17422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2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1478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5534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9590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4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3646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4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702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5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1758" y="464076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32657" y="170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04913" y="2607042"/>
            <a:ext cx="5809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>
                <a:solidFill>
                  <a:srgbClr val="FF0000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1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1</a:t>
            </a:r>
            <a:r>
              <a:rPr lang="en-US" altLang="zh-CN" b="1" dirty="0" smtClean="0">
                <a:solidFill>
                  <a:schemeClr val="bg2"/>
                </a:solidFill>
              </a:rPr>
              <a:t>} 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=3,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=3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9592" y="328447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99592" y="4310339"/>
          <a:ext cx="6624735" cy="184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5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6149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507129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6149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3638" y="507129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7824" y="507129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993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13366" y="507129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3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17422" y="507129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4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1478" y="507129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5534" y="507129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9590" y="507129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7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3646" y="507129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9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702" y="507129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1758" y="507129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212642" y="174462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04913" y="2607042"/>
            <a:ext cx="5809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>
                <a:solidFill>
                  <a:srgbClr val="FF0000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</a:rPr>
              <a:t>} 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2000885" y="4634865"/>
            <a:ext cx="5378450" cy="461010"/>
            <a:chOff x="3012" y="9881"/>
            <a:chExt cx="8470" cy="726"/>
          </a:xfrm>
        </p:grpSpPr>
        <p:sp>
          <p:nvSpPr>
            <p:cNvPr id="5" name="TextBox 8"/>
            <p:cNvSpPr txBox="1"/>
            <p:nvPr/>
          </p:nvSpPr>
          <p:spPr>
            <a:xfrm>
              <a:off x="3012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1" name="TextBox 10"/>
            <p:cNvSpPr txBox="1"/>
            <p:nvPr/>
          </p:nvSpPr>
          <p:spPr>
            <a:xfrm>
              <a:off x="381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2" name="TextBox 12"/>
            <p:cNvSpPr txBox="1"/>
            <p:nvPr/>
          </p:nvSpPr>
          <p:spPr>
            <a:xfrm>
              <a:off x="4566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14"/>
            <p:cNvSpPr txBox="1"/>
            <p:nvPr/>
          </p:nvSpPr>
          <p:spPr>
            <a:xfrm>
              <a:off x="5394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4" name="TextBox 16"/>
            <p:cNvSpPr txBox="1"/>
            <p:nvPr/>
          </p:nvSpPr>
          <p:spPr>
            <a:xfrm>
              <a:off x="6188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18"/>
            <p:cNvSpPr txBox="1"/>
            <p:nvPr/>
          </p:nvSpPr>
          <p:spPr>
            <a:xfrm>
              <a:off x="6981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7775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22"/>
            <p:cNvSpPr txBox="1"/>
            <p:nvPr/>
          </p:nvSpPr>
          <p:spPr>
            <a:xfrm>
              <a:off x="856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24"/>
            <p:cNvSpPr txBox="1"/>
            <p:nvPr/>
          </p:nvSpPr>
          <p:spPr>
            <a:xfrm>
              <a:off x="9363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26"/>
            <p:cNvSpPr txBox="1"/>
            <p:nvPr/>
          </p:nvSpPr>
          <p:spPr>
            <a:xfrm>
              <a:off x="10157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28"/>
            <p:cNvSpPr txBox="1"/>
            <p:nvPr/>
          </p:nvSpPr>
          <p:spPr>
            <a:xfrm>
              <a:off x="10950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42" name="表格 4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280587" y="174462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=4,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=5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9592" y="328447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99592" y="4310339"/>
          <a:ext cx="6624735" cy="184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5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6149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543006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6149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3638" y="543006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7824" y="543006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993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13366" y="543006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17422" y="543006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3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1478" y="543006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5534" y="543006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8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9590" y="543006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614901"/>
            <a:ext cx="48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10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3646" y="543006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614901"/>
            <a:ext cx="48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10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702" y="543006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614901"/>
            <a:ext cx="4762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1758" y="543006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212642" y="174462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04913" y="2607042"/>
            <a:ext cx="5809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>
                <a:solidFill>
                  <a:srgbClr val="FF0000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3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3</a:t>
            </a:r>
            <a:r>
              <a:rPr lang="en-US" altLang="zh-CN" b="1" dirty="0" smtClean="0">
                <a:solidFill>
                  <a:schemeClr val="bg2"/>
                </a:solidFill>
              </a:rPr>
              <a:t>} 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2000885" y="4634865"/>
            <a:ext cx="5378450" cy="461010"/>
            <a:chOff x="3012" y="9881"/>
            <a:chExt cx="8470" cy="726"/>
          </a:xfrm>
        </p:grpSpPr>
        <p:sp>
          <p:nvSpPr>
            <p:cNvPr id="5" name="TextBox 8"/>
            <p:cNvSpPr txBox="1"/>
            <p:nvPr/>
          </p:nvSpPr>
          <p:spPr>
            <a:xfrm>
              <a:off x="3012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1" name="TextBox 10"/>
            <p:cNvSpPr txBox="1"/>
            <p:nvPr/>
          </p:nvSpPr>
          <p:spPr>
            <a:xfrm>
              <a:off x="381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2" name="TextBox 12"/>
            <p:cNvSpPr txBox="1"/>
            <p:nvPr/>
          </p:nvSpPr>
          <p:spPr>
            <a:xfrm>
              <a:off x="4566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14"/>
            <p:cNvSpPr txBox="1"/>
            <p:nvPr/>
          </p:nvSpPr>
          <p:spPr>
            <a:xfrm>
              <a:off x="5394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4" name="TextBox 16"/>
            <p:cNvSpPr txBox="1"/>
            <p:nvPr/>
          </p:nvSpPr>
          <p:spPr>
            <a:xfrm>
              <a:off x="6188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18"/>
            <p:cNvSpPr txBox="1"/>
            <p:nvPr/>
          </p:nvSpPr>
          <p:spPr>
            <a:xfrm>
              <a:off x="6981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7775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22"/>
            <p:cNvSpPr txBox="1"/>
            <p:nvPr/>
          </p:nvSpPr>
          <p:spPr>
            <a:xfrm>
              <a:off x="856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24"/>
            <p:cNvSpPr txBox="1"/>
            <p:nvPr/>
          </p:nvSpPr>
          <p:spPr>
            <a:xfrm>
              <a:off x="9363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26"/>
            <p:cNvSpPr txBox="1"/>
            <p:nvPr/>
          </p:nvSpPr>
          <p:spPr>
            <a:xfrm>
              <a:off x="10157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28"/>
            <p:cNvSpPr txBox="1"/>
            <p:nvPr/>
          </p:nvSpPr>
          <p:spPr>
            <a:xfrm>
              <a:off x="10950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42" name="表格 4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189782" y="174081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3" name="组合 52"/>
          <p:cNvGrpSpPr/>
          <p:nvPr/>
        </p:nvGrpSpPr>
        <p:grpSpPr>
          <a:xfrm>
            <a:off x="1984375" y="4982845"/>
            <a:ext cx="5375910" cy="461010"/>
            <a:chOff x="3351" y="10107"/>
            <a:chExt cx="8466" cy="726"/>
          </a:xfrm>
        </p:grpSpPr>
        <p:sp>
          <p:nvSpPr>
            <p:cNvPr id="3" name="TextBox 8"/>
            <p:cNvSpPr txBox="1"/>
            <p:nvPr/>
          </p:nvSpPr>
          <p:spPr>
            <a:xfrm>
              <a:off x="3351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10"/>
            <p:cNvSpPr txBox="1"/>
            <p:nvPr/>
          </p:nvSpPr>
          <p:spPr>
            <a:xfrm>
              <a:off x="4158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4" name="TextBox 12"/>
            <p:cNvSpPr txBox="1"/>
            <p:nvPr/>
          </p:nvSpPr>
          <p:spPr>
            <a:xfrm>
              <a:off x="4905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5" name="TextBox 14"/>
            <p:cNvSpPr txBox="1"/>
            <p:nvPr/>
          </p:nvSpPr>
          <p:spPr>
            <a:xfrm>
              <a:off x="5733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6" name="TextBox 16"/>
            <p:cNvSpPr txBox="1"/>
            <p:nvPr/>
          </p:nvSpPr>
          <p:spPr>
            <a:xfrm>
              <a:off x="6527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7" name="TextBox 18"/>
            <p:cNvSpPr txBox="1"/>
            <p:nvPr/>
          </p:nvSpPr>
          <p:spPr>
            <a:xfrm>
              <a:off x="7320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8" name="TextBox 20"/>
            <p:cNvSpPr txBox="1"/>
            <p:nvPr/>
          </p:nvSpPr>
          <p:spPr>
            <a:xfrm>
              <a:off x="8114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9" name="TextBox 22"/>
            <p:cNvSpPr txBox="1"/>
            <p:nvPr/>
          </p:nvSpPr>
          <p:spPr>
            <a:xfrm>
              <a:off x="8908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0" name="TextBox 24"/>
            <p:cNvSpPr txBox="1"/>
            <p:nvPr/>
          </p:nvSpPr>
          <p:spPr>
            <a:xfrm>
              <a:off x="9702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26"/>
            <p:cNvSpPr txBox="1"/>
            <p:nvPr/>
          </p:nvSpPr>
          <p:spPr>
            <a:xfrm>
              <a:off x="10496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28"/>
            <p:cNvSpPr txBox="1"/>
            <p:nvPr/>
          </p:nvSpPr>
          <p:spPr>
            <a:xfrm>
              <a:off x="11289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512" y="116632"/>
            <a:ext cx="828092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*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第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阶段决策：前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个物品在背包容量不超过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10)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情况下的决策结果。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w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=7,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=9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9592" y="3284478"/>
          <a:ext cx="6480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700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  <a:gridCol w="503365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temp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99592" y="4310339"/>
          <a:ext cx="6624735" cy="184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  <a:gridCol w="509595"/>
              </a:tblGrid>
              <a:tr h="369041">
                <a:tc rowSpan="5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29190" y="36149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01198" y="58605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3246" y="36149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3638" y="58605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37302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87824" y="586059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1993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13366" y="586059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5414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17422" y="586059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3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49470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1478" y="586059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526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6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5534" y="586059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57582" y="3614901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9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29590" y="586059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61638" y="3614901"/>
            <a:ext cx="48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10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3646" y="586059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65694" y="3614901"/>
            <a:ext cx="48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10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7702" y="586059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4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9750" y="3614901"/>
            <a:ext cx="48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1758" y="586059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212642" y="174462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404913" y="2607042"/>
            <a:ext cx="5809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]=max{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dp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b="1" dirty="0" smtClean="0">
                <a:solidFill>
                  <a:schemeClr val="bg2"/>
                </a:solidFill>
              </a:rPr>
              <a:t>] , </a:t>
            </a:r>
            <a:r>
              <a:rPr lang="en-US" altLang="zh-CN" b="1" i="1" dirty="0" err="1">
                <a:solidFill>
                  <a:srgbClr val="FF0000"/>
                </a:solidFill>
              </a:rPr>
              <a:t>temp</a:t>
            </a:r>
            <a:r>
              <a:rPr lang="en-US" altLang="zh-CN" b="1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j-w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4</a:t>
            </a:r>
            <a:r>
              <a:rPr lang="en-US" altLang="zh-CN" b="1" dirty="0" smtClean="0">
                <a:solidFill>
                  <a:schemeClr val="bg2"/>
                </a:solidFill>
              </a:rPr>
              <a:t>]+</a:t>
            </a:r>
            <a:r>
              <a:rPr lang="en-US" altLang="zh-CN" b="1" i="1" dirty="0">
                <a:solidFill>
                  <a:schemeClr val="bg2"/>
                </a:solidFill>
              </a:rPr>
              <a:t>v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4</a:t>
            </a:r>
            <a:r>
              <a:rPr lang="en-US" altLang="zh-CN" b="1" dirty="0" smtClean="0">
                <a:solidFill>
                  <a:schemeClr val="bg2"/>
                </a:solidFill>
              </a:rPr>
              <a:t>} 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0≤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≤</a:t>
            </a:r>
            <a:r>
              <a:rPr lang="en-US" altLang="zh-CN" dirty="0">
                <a:solidFill>
                  <a:schemeClr val="bg2"/>
                </a:solidFill>
                <a:cs typeface="Times New Roman" panose="02020603050405020304" pitchFamily="18" charset="0"/>
              </a:rPr>
              <a:t>10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2000885" y="4634865"/>
            <a:ext cx="5378450" cy="461010"/>
            <a:chOff x="3012" y="9881"/>
            <a:chExt cx="8470" cy="726"/>
          </a:xfrm>
        </p:grpSpPr>
        <p:sp>
          <p:nvSpPr>
            <p:cNvPr id="5" name="TextBox 8"/>
            <p:cNvSpPr txBox="1"/>
            <p:nvPr/>
          </p:nvSpPr>
          <p:spPr>
            <a:xfrm>
              <a:off x="3012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1" name="TextBox 10"/>
            <p:cNvSpPr txBox="1"/>
            <p:nvPr/>
          </p:nvSpPr>
          <p:spPr>
            <a:xfrm>
              <a:off x="381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2" name="TextBox 12"/>
            <p:cNvSpPr txBox="1"/>
            <p:nvPr/>
          </p:nvSpPr>
          <p:spPr>
            <a:xfrm>
              <a:off x="4566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14"/>
            <p:cNvSpPr txBox="1"/>
            <p:nvPr/>
          </p:nvSpPr>
          <p:spPr>
            <a:xfrm>
              <a:off x="5394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4" name="TextBox 16"/>
            <p:cNvSpPr txBox="1"/>
            <p:nvPr/>
          </p:nvSpPr>
          <p:spPr>
            <a:xfrm>
              <a:off x="6188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18"/>
            <p:cNvSpPr txBox="1"/>
            <p:nvPr/>
          </p:nvSpPr>
          <p:spPr>
            <a:xfrm>
              <a:off x="6981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7775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22"/>
            <p:cNvSpPr txBox="1"/>
            <p:nvPr/>
          </p:nvSpPr>
          <p:spPr>
            <a:xfrm>
              <a:off x="856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24"/>
            <p:cNvSpPr txBox="1"/>
            <p:nvPr/>
          </p:nvSpPr>
          <p:spPr>
            <a:xfrm>
              <a:off x="9363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26"/>
            <p:cNvSpPr txBox="1"/>
            <p:nvPr/>
          </p:nvSpPr>
          <p:spPr>
            <a:xfrm>
              <a:off x="10157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28"/>
            <p:cNvSpPr txBox="1"/>
            <p:nvPr/>
          </p:nvSpPr>
          <p:spPr>
            <a:xfrm>
              <a:off x="10950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42" name="表格 4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212642" y="174462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3" name="组合 52"/>
          <p:cNvGrpSpPr/>
          <p:nvPr/>
        </p:nvGrpSpPr>
        <p:grpSpPr>
          <a:xfrm>
            <a:off x="1984375" y="4982845"/>
            <a:ext cx="5375910" cy="461010"/>
            <a:chOff x="3351" y="10107"/>
            <a:chExt cx="8466" cy="726"/>
          </a:xfrm>
        </p:grpSpPr>
        <p:sp>
          <p:nvSpPr>
            <p:cNvPr id="3" name="TextBox 8"/>
            <p:cNvSpPr txBox="1"/>
            <p:nvPr/>
          </p:nvSpPr>
          <p:spPr>
            <a:xfrm>
              <a:off x="3351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10"/>
            <p:cNvSpPr txBox="1"/>
            <p:nvPr/>
          </p:nvSpPr>
          <p:spPr>
            <a:xfrm>
              <a:off x="4158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4" name="TextBox 12"/>
            <p:cNvSpPr txBox="1"/>
            <p:nvPr/>
          </p:nvSpPr>
          <p:spPr>
            <a:xfrm>
              <a:off x="4905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5" name="TextBox 14"/>
            <p:cNvSpPr txBox="1"/>
            <p:nvPr/>
          </p:nvSpPr>
          <p:spPr>
            <a:xfrm>
              <a:off x="5733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6" name="TextBox 16"/>
            <p:cNvSpPr txBox="1"/>
            <p:nvPr/>
          </p:nvSpPr>
          <p:spPr>
            <a:xfrm>
              <a:off x="6527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7" name="TextBox 18"/>
            <p:cNvSpPr txBox="1"/>
            <p:nvPr/>
          </p:nvSpPr>
          <p:spPr>
            <a:xfrm>
              <a:off x="7320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8" name="TextBox 20"/>
            <p:cNvSpPr txBox="1"/>
            <p:nvPr/>
          </p:nvSpPr>
          <p:spPr>
            <a:xfrm>
              <a:off x="8114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9" name="TextBox 22"/>
            <p:cNvSpPr txBox="1"/>
            <p:nvPr/>
          </p:nvSpPr>
          <p:spPr>
            <a:xfrm>
              <a:off x="8908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0" name="TextBox 24"/>
            <p:cNvSpPr txBox="1"/>
            <p:nvPr/>
          </p:nvSpPr>
          <p:spPr>
            <a:xfrm>
              <a:off x="9702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26"/>
            <p:cNvSpPr txBox="1"/>
            <p:nvPr/>
          </p:nvSpPr>
          <p:spPr>
            <a:xfrm>
              <a:off x="10496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28"/>
            <p:cNvSpPr txBox="1"/>
            <p:nvPr/>
          </p:nvSpPr>
          <p:spPr>
            <a:xfrm>
              <a:off x="11289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2004695" y="5372735"/>
            <a:ext cx="5375910" cy="461010"/>
            <a:chOff x="3351" y="10107"/>
            <a:chExt cx="8466" cy="726"/>
          </a:xfrm>
        </p:grpSpPr>
        <p:sp>
          <p:nvSpPr>
            <p:cNvPr id="54" name="TextBox 8"/>
            <p:cNvSpPr txBox="1"/>
            <p:nvPr/>
          </p:nvSpPr>
          <p:spPr>
            <a:xfrm>
              <a:off x="3351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10"/>
            <p:cNvSpPr txBox="1"/>
            <p:nvPr/>
          </p:nvSpPr>
          <p:spPr>
            <a:xfrm>
              <a:off x="4158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6" name="TextBox 12"/>
            <p:cNvSpPr txBox="1"/>
            <p:nvPr/>
          </p:nvSpPr>
          <p:spPr>
            <a:xfrm>
              <a:off x="4905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7" name="TextBox 14"/>
            <p:cNvSpPr txBox="1"/>
            <p:nvPr/>
          </p:nvSpPr>
          <p:spPr>
            <a:xfrm>
              <a:off x="5733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8" name="TextBox 16"/>
            <p:cNvSpPr txBox="1"/>
            <p:nvPr/>
          </p:nvSpPr>
          <p:spPr>
            <a:xfrm>
              <a:off x="6527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2"/>
                  </a:solidFill>
                </a:rPr>
                <a:t>3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59" name="TextBox 18"/>
            <p:cNvSpPr txBox="1"/>
            <p:nvPr/>
          </p:nvSpPr>
          <p:spPr>
            <a:xfrm>
              <a:off x="7320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0" name="TextBox 20"/>
            <p:cNvSpPr txBox="1"/>
            <p:nvPr/>
          </p:nvSpPr>
          <p:spPr>
            <a:xfrm>
              <a:off x="8114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1" name="TextBox 22"/>
            <p:cNvSpPr txBox="1"/>
            <p:nvPr/>
          </p:nvSpPr>
          <p:spPr>
            <a:xfrm>
              <a:off x="8908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2" name="TextBox 24"/>
            <p:cNvSpPr txBox="1"/>
            <p:nvPr/>
          </p:nvSpPr>
          <p:spPr>
            <a:xfrm>
              <a:off x="9702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3" name="TextBox 26"/>
            <p:cNvSpPr txBox="1"/>
            <p:nvPr/>
          </p:nvSpPr>
          <p:spPr>
            <a:xfrm>
              <a:off x="10496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4" name="TextBox 28"/>
            <p:cNvSpPr txBox="1"/>
            <p:nvPr/>
          </p:nvSpPr>
          <p:spPr>
            <a:xfrm>
              <a:off x="11289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3"/>
          <p:cNvSpPr txBox="1"/>
          <p:nvPr/>
        </p:nvSpPr>
        <p:spPr>
          <a:xfrm>
            <a:off x="359723" y="153844"/>
            <a:ext cx="8280920" cy="2527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35305" lvl="1" indent="-262255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解的输出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）满足约束条件的最大价值为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[10]=12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（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）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装入物品的输出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9965" y="2565400"/>
            <a:ext cx="7497445" cy="186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1" dirty="0" err="1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[4][10]=4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，说明最后一个装入物品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；</a:t>
            </a:r>
            <a:endParaRPr lang="zh-CN" altLang="en-US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因物品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可能多次装入，</a:t>
            </a:r>
            <a:endParaRPr lang="zh-CN" altLang="en-US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继续检查</a:t>
            </a:r>
            <a:r>
              <a:rPr lang="en-US" altLang="zh-CN" b="1" i="1" dirty="0" err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sel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  <a:sym typeface="+mn-ea"/>
              </a:rPr>
              <a:t>[4][10-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zh-CN" baseline="-25000" dirty="0">
                <a:solidFill>
                  <a:schemeClr val="bg2"/>
                </a:solidFill>
                <a:latin typeface="+mn-ea"/>
                <a:cs typeface="Consolas" panose="020B0609020204030204" pitchFamily="49" charset="0"/>
                <a:sym typeface="+mn-ea"/>
              </a:rPr>
              <a:t>4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  <a:sym typeface="+mn-ea"/>
              </a:rPr>
              <a:t>]=</a:t>
            </a:r>
            <a:r>
              <a:rPr lang="en-US" altLang="zh-CN" b="1" i="1" dirty="0" err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sel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  <a:sym typeface="+mn-ea"/>
              </a:rPr>
              <a:t>[4][3]</a:t>
            </a:r>
            <a:endParaRPr lang="en-US" altLang="zh-CN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22142" y="1273453"/>
          <a:ext cx="6096000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dp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42672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n-US" sz="22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80847" y="4102694"/>
          <a:ext cx="6624735" cy="1845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270"/>
                <a:gridCol w="509920"/>
                <a:gridCol w="509595"/>
                <a:gridCol w="509595"/>
                <a:gridCol w="509595"/>
                <a:gridCol w="509595"/>
                <a:gridCol w="509595"/>
                <a:gridCol w="509905"/>
                <a:gridCol w="509285"/>
                <a:gridCol w="509595"/>
              </a:tblGrid>
              <a:tr h="369041">
                <a:tc rowSpan="5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8935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29443" y="557357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41883" y="557357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42881" y="554754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16069" y="557357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45667" y="557357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3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49723" y="557357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53779" y="557357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57835" y="557357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61891" y="557357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65947" y="557357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4</a:t>
            </a:r>
            <a:endParaRPr lang="en-US" dirty="0">
              <a:solidFill>
                <a:schemeClr val="bg2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929130" y="4419600"/>
            <a:ext cx="5378450" cy="461010"/>
            <a:chOff x="3012" y="9881"/>
            <a:chExt cx="8470" cy="726"/>
          </a:xfrm>
        </p:grpSpPr>
        <p:sp>
          <p:nvSpPr>
            <p:cNvPr id="5" name="TextBox 8"/>
            <p:cNvSpPr txBox="1"/>
            <p:nvPr/>
          </p:nvSpPr>
          <p:spPr>
            <a:xfrm>
              <a:off x="3012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1" name="TextBox 10"/>
            <p:cNvSpPr txBox="1"/>
            <p:nvPr/>
          </p:nvSpPr>
          <p:spPr>
            <a:xfrm>
              <a:off x="381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2" name="TextBox 12"/>
            <p:cNvSpPr txBox="1"/>
            <p:nvPr/>
          </p:nvSpPr>
          <p:spPr>
            <a:xfrm>
              <a:off x="4566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3" name="TextBox 14"/>
            <p:cNvSpPr txBox="1"/>
            <p:nvPr/>
          </p:nvSpPr>
          <p:spPr>
            <a:xfrm>
              <a:off x="5394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4" name="TextBox 16"/>
            <p:cNvSpPr txBox="1"/>
            <p:nvPr/>
          </p:nvSpPr>
          <p:spPr>
            <a:xfrm>
              <a:off x="6188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5" name="TextBox 18"/>
            <p:cNvSpPr txBox="1"/>
            <p:nvPr/>
          </p:nvSpPr>
          <p:spPr>
            <a:xfrm>
              <a:off x="6981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7775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7" name="TextBox 22"/>
            <p:cNvSpPr txBox="1"/>
            <p:nvPr/>
          </p:nvSpPr>
          <p:spPr>
            <a:xfrm>
              <a:off x="856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8" name="TextBox 24"/>
            <p:cNvSpPr txBox="1"/>
            <p:nvPr/>
          </p:nvSpPr>
          <p:spPr>
            <a:xfrm>
              <a:off x="9363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26"/>
            <p:cNvSpPr txBox="1"/>
            <p:nvPr/>
          </p:nvSpPr>
          <p:spPr>
            <a:xfrm>
              <a:off x="10157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28"/>
            <p:cNvSpPr txBox="1"/>
            <p:nvPr/>
          </p:nvSpPr>
          <p:spPr>
            <a:xfrm>
              <a:off x="10950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912620" y="4767580"/>
            <a:ext cx="5375910" cy="461010"/>
            <a:chOff x="3351" y="10107"/>
            <a:chExt cx="8466" cy="726"/>
          </a:xfrm>
        </p:grpSpPr>
        <p:sp>
          <p:nvSpPr>
            <p:cNvPr id="3" name="TextBox 8"/>
            <p:cNvSpPr txBox="1"/>
            <p:nvPr/>
          </p:nvSpPr>
          <p:spPr>
            <a:xfrm>
              <a:off x="3351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10"/>
            <p:cNvSpPr txBox="1"/>
            <p:nvPr/>
          </p:nvSpPr>
          <p:spPr>
            <a:xfrm>
              <a:off x="4158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4" name="TextBox 12"/>
            <p:cNvSpPr txBox="1"/>
            <p:nvPr/>
          </p:nvSpPr>
          <p:spPr>
            <a:xfrm>
              <a:off x="4905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5" name="TextBox 14"/>
            <p:cNvSpPr txBox="1"/>
            <p:nvPr/>
          </p:nvSpPr>
          <p:spPr>
            <a:xfrm>
              <a:off x="5733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6" name="TextBox 16"/>
            <p:cNvSpPr txBox="1"/>
            <p:nvPr/>
          </p:nvSpPr>
          <p:spPr>
            <a:xfrm>
              <a:off x="6527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7" name="TextBox 18"/>
            <p:cNvSpPr txBox="1"/>
            <p:nvPr/>
          </p:nvSpPr>
          <p:spPr>
            <a:xfrm>
              <a:off x="7320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8" name="TextBox 20"/>
            <p:cNvSpPr txBox="1"/>
            <p:nvPr/>
          </p:nvSpPr>
          <p:spPr>
            <a:xfrm>
              <a:off x="8114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9" name="TextBox 22"/>
            <p:cNvSpPr txBox="1"/>
            <p:nvPr/>
          </p:nvSpPr>
          <p:spPr>
            <a:xfrm>
              <a:off x="8908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0" name="TextBox 24"/>
            <p:cNvSpPr txBox="1"/>
            <p:nvPr/>
          </p:nvSpPr>
          <p:spPr>
            <a:xfrm>
              <a:off x="9702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26"/>
            <p:cNvSpPr txBox="1"/>
            <p:nvPr/>
          </p:nvSpPr>
          <p:spPr>
            <a:xfrm>
              <a:off x="10496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28"/>
            <p:cNvSpPr txBox="1"/>
            <p:nvPr/>
          </p:nvSpPr>
          <p:spPr>
            <a:xfrm>
              <a:off x="11289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932940" y="5157470"/>
            <a:ext cx="5375910" cy="461010"/>
            <a:chOff x="3351" y="10107"/>
            <a:chExt cx="8466" cy="726"/>
          </a:xfrm>
        </p:grpSpPr>
        <p:sp>
          <p:nvSpPr>
            <p:cNvPr id="54" name="TextBox 8"/>
            <p:cNvSpPr txBox="1"/>
            <p:nvPr/>
          </p:nvSpPr>
          <p:spPr>
            <a:xfrm>
              <a:off x="3351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10"/>
            <p:cNvSpPr txBox="1"/>
            <p:nvPr/>
          </p:nvSpPr>
          <p:spPr>
            <a:xfrm>
              <a:off x="4158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6" name="TextBox 12"/>
            <p:cNvSpPr txBox="1"/>
            <p:nvPr/>
          </p:nvSpPr>
          <p:spPr>
            <a:xfrm>
              <a:off x="4905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7" name="TextBox 14"/>
            <p:cNvSpPr txBox="1"/>
            <p:nvPr/>
          </p:nvSpPr>
          <p:spPr>
            <a:xfrm>
              <a:off x="5733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8" name="TextBox 16"/>
            <p:cNvSpPr txBox="1"/>
            <p:nvPr/>
          </p:nvSpPr>
          <p:spPr>
            <a:xfrm>
              <a:off x="6527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2"/>
                  </a:solidFill>
                </a:rPr>
                <a:t>3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59" name="TextBox 18"/>
            <p:cNvSpPr txBox="1"/>
            <p:nvPr/>
          </p:nvSpPr>
          <p:spPr>
            <a:xfrm>
              <a:off x="7320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0" name="TextBox 20"/>
            <p:cNvSpPr txBox="1"/>
            <p:nvPr/>
          </p:nvSpPr>
          <p:spPr>
            <a:xfrm>
              <a:off x="8114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1" name="TextBox 22"/>
            <p:cNvSpPr txBox="1"/>
            <p:nvPr/>
          </p:nvSpPr>
          <p:spPr>
            <a:xfrm>
              <a:off x="8908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2" name="TextBox 24"/>
            <p:cNvSpPr txBox="1"/>
            <p:nvPr/>
          </p:nvSpPr>
          <p:spPr>
            <a:xfrm>
              <a:off x="9702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3" name="TextBox 26"/>
            <p:cNvSpPr txBox="1"/>
            <p:nvPr/>
          </p:nvSpPr>
          <p:spPr>
            <a:xfrm>
              <a:off x="10496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4" name="TextBox 28"/>
            <p:cNvSpPr txBox="1"/>
            <p:nvPr/>
          </p:nvSpPr>
          <p:spPr>
            <a:xfrm>
              <a:off x="11289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999213" y="552468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6948795" y="5596240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" name="椭圆 141"/>
          <p:cNvSpPr/>
          <p:nvPr/>
        </p:nvSpPr>
        <p:spPr bwMode="auto">
          <a:xfrm>
            <a:off x="3399542" y="5596167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42" grpId="0" bldLvl="0" animBg="1"/>
      <p:bldP spid="14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3"/>
          <p:cNvSpPr txBox="1"/>
          <p:nvPr/>
        </p:nvSpPr>
        <p:spPr>
          <a:xfrm>
            <a:off x="544059" y="3164850"/>
            <a:ext cx="8280920" cy="2751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查看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[4][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3]=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说明该状态下，最后装入的物品编号是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号，即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号只装了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次、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号没有装。</a:t>
            </a:r>
            <a:endParaRPr lang="zh-CN" altLang="en-US" dirty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因为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号物品也可能装入多个，</a:t>
            </a:r>
            <a:endParaRPr lang="en-US" altLang="zh-CN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  <a:sym typeface="+mn-ea"/>
              </a:rPr>
              <a:t>因此</a:t>
            </a:r>
            <a:r>
              <a:rPr lang="zh-CN" altLang="en-US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继续查看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[2][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3-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w</a:t>
            </a:r>
            <a:r>
              <a:rPr lang="en-US" altLang="zh-CN" baseline="-25000" dirty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]=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sel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  <a:sym typeface="+mn-ea"/>
              </a:rPr>
              <a:t>[2][</a:t>
            </a:r>
            <a:r>
              <a:rPr lang="en-US" altLang="zh-CN" dirty="0">
                <a:solidFill>
                  <a:schemeClr val="bg2"/>
                </a:solidFill>
                <a:latin typeface="+mn-ea"/>
                <a:cs typeface="Consolas" panose="020B0609020204030204" pitchFamily="49" charset="0"/>
                <a:sym typeface="+mn-ea"/>
              </a:rPr>
              <a:t>0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  <a:sym typeface="+mn-ea"/>
              </a:rPr>
              <a:t>]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=0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，</a:t>
            </a:r>
            <a:endParaRPr lang="zh-CN" altLang="en-US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cs typeface="Consolas" panose="020B0609020204030204" pitchFamily="49" charset="0"/>
              </a:rPr>
              <a:t>解的追踪结束。</a:t>
            </a:r>
            <a:endParaRPr lang="en-US" altLang="zh-CN" dirty="0" smtClean="0">
              <a:solidFill>
                <a:schemeClr val="bg2"/>
              </a:solidFill>
              <a:latin typeface="+mn-ea"/>
              <a:cs typeface="Consolas" panose="020B0609020204030204" pitchFamily="49" charset="0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背包中装入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和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个物品</a:t>
            </a:r>
            <a:r>
              <a:rPr lang="en-US" altLang="zh-CN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2</a:t>
            </a:r>
            <a:endParaRPr lang="en-US" altLang="zh-CN" dirty="0" smtClean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09092" y="801964"/>
          <a:ext cx="6624735" cy="1845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595"/>
                <a:gridCol w="509595"/>
                <a:gridCol w="509595"/>
                <a:gridCol w="509270"/>
                <a:gridCol w="509920"/>
                <a:gridCol w="509595"/>
                <a:gridCol w="509595"/>
                <a:gridCol w="509595"/>
                <a:gridCol w="509595"/>
                <a:gridCol w="509595"/>
                <a:gridCol w="509905"/>
                <a:gridCol w="509270"/>
                <a:gridCol w="509610"/>
              </a:tblGrid>
              <a:tr h="369041">
                <a:tc rowSpan="5"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bg2"/>
                          </a:solidFill>
                        </a:rPr>
                        <a:t>sel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9041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68935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8"/>
          <p:cNvSpPr txBox="1"/>
          <p:nvPr/>
        </p:nvSpPr>
        <p:spPr>
          <a:xfrm>
            <a:off x="1857688" y="22728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8" name="TextBox 10"/>
          <p:cNvSpPr txBox="1"/>
          <p:nvPr/>
        </p:nvSpPr>
        <p:spPr>
          <a:xfrm>
            <a:off x="2370128" y="22728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3371126" y="224681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44314" y="227284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4" name="TextBox 16"/>
          <p:cNvSpPr txBox="1"/>
          <p:nvPr/>
        </p:nvSpPr>
        <p:spPr>
          <a:xfrm>
            <a:off x="3873912" y="227284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3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6" name="TextBox 18"/>
          <p:cNvSpPr txBox="1"/>
          <p:nvPr/>
        </p:nvSpPr>
        <p:spPr>
          <a:xfrm>
            <a:off x="4377968" y="227284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20"/>
          <p:cNvSpPr txBox="1"/>
          <p:nvPr/>
        </p:nvSpPr>
        <p:spPr>
          <a:xfrm>
            <a:off x="4882024" y="227284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22"/>
          <p:cNvSpPr txBox="1"/>
          <p:nvPr/>
        </p:nvSpPr>
        <p:spPr>
          <a:xfrm>
            <a:off x="5386080" y="227284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4"/>
          <p:cNvSpPr txBox="1"/>
          <p:nvPr/>
        </p:nvSpPr>
        <p:spPr>
          <a:xfrm>
            <a:off x="5890136" y="227284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6"/>
          <p:cNvSpPr txBox="1"/>
          <p:nvPr/>
        </p:nvSpPr>
        <p:spPr>
          <a:xfrm>
            <a:off x="6394192" y="2272847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4</a:t>
            </a:r>
            <a:endParaRPr lang="en-US" dirty="0">
              <a:solidFill>
                <a:schemeClr val="bg2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857375" y="1118870"/>
            <a:ext cx="5378450" cy="461010"/>
            <a:chOff x="3012" y="9881"/>
            <a:chExt cx="8470" cy="726"/>
          </a:xfrm>
        </p:grpSpPr>
        <p:sp>
          <p:nvSpPr>
            <p:cNvPr id="28" name="TextBox 8"/>
            <p:cNvSpPr txBox="1"/>
            <p:nvPr/>
          </p:nvSpPr>
          <p:spPr>
            <a:xfrm>
              <a:off x="3012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10"/>
            <p:cNvSpPr txBox="1"/>
            <p:nvPr/>
          </p:nvSpPr>
          <p:spPr>
            <a:xfrm>
              <a:off x="381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2" name="TextBox 12"/>
            <p:cNvSpPr txBox="1"/>
            <p:nvPr/>
          </p:nvSpPr>
          <p:spPr>
            <a:xfrm>
              <a:off x="4566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6" name="TextBox 14"/>
            <p:cNvSpPr txBox="1"/>
            <p:nvPr/>
          </p:nvSpPr>
          <p:spPr>
            <a:xfrm>
              <a:off x="5394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8" name="TextBox 16"/>
            <p:cNvSpPr txBox="1"/>
            <p:nvPr/>
          </p:nvSpPr>
          <p:spPr>
            <a:xfrm>
              <a:off x="6188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0" name="TextBox 18"/>
            <p:cNvSpPr txBox="1"/>
            <p:nvPr/>
          </p:nvSpPr>
          <p:spPr>
            <a:xfrm>
              <a:off x="6981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1" name="TextBox 20"/>
            <p:cNvSpPr txBox="1"/>
            <p:nvPr/>
          </p:nvSpPr>
          <p:spPr>
            <a:xfrm>
              <a:off x="7775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89" name="TextBox 22"/>
            <p:cNvSpPr txBox="1"/>
            <p:nvPr/>
          </p:nvSpPr>
          <p:spPr>
            <a:xfrm>
              <a:off x="8569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0" name="TextBox 24"/>
            <p:cNvSpPr txBox="1"/>
            <p:nvPr/>
          </p:nvSpPr>
          <p:spPr>
            <a:xfrm>
              <a:off x="9363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1" name="TextBox 26"/>
            <p:cNvSpPr txBox="1"/>
            <p:nvPr/>
          </p:nvSpPr>
          <p:spPr>
            <a:xfrm>
              <a:off x="10157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2" name="TextBox 28"/>
            <p:cNvSpPr txBox="1"/>
            <p:nvPr/>
          </p:nvSpPr>
          <p:spPr>
            <a:xfrm>
              <a:off x="10950" y="9881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1840865" y="1466850"/>
            <a:ext cx="5375910" cy="461010"/>
            <a:chOff x="3351" y="10107"/>
            <a:chExt cx="8466" cy="726"/>
          </a:xfrm>
        </p:grpSpPr>
        <p:sp>
          <p:nvSpPr>
            <p:cNvPr id="94" name="TextBox 8"/>
            <p:cNvSpPr txBox="1"/>
            <p:nvPr/>
          </p:nvSpPr>
          <p:spPr>
            <a:xfrm>
              <a:off x="3351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5" name="TextBox 10"/>
            <p:cNvSpPr txBox="1"/>
            <p:nvPr/>
          </p:nvSpPr>
          <p:spPr>
            <a:xfrm>
              <a:off x="4158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6" name="TextBox 12"/>
            <p:cNvSpPr txBox="1"/>
            <p:nvPr/>
          </p:nvSpPr>
          <p:spPr>
            <a:xfrm>
              <a:off x="4905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7" name="TextBox 14"/>
            <p:cNvSpPr txBox="1"/>
            <p:nvPr/>
          </p:nvSpPr>
          <p:spPr>
            <a:xfrm>
              <a:off x="5733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8" name="TextBox 16"/>
            <p:cNvSpPr txBox="1"/>
            <p:nvPr/>
          </p:nvSpPr>
          <p:spPr>
            <a:xfrm>
              <a:off x="6527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99" name="TextBox 18"/>
            <p:cNvSpPr txBox="1"/>
            <p:nvPr/>
          </p:nvSpPr>
          <p:spPr>
            <a:xfrm>
              <a:off x="7320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00" name="TextBox 20"/>
            <p:cNvSpPr txBox="1"/>
            <p:nvPr/>
          </p:nvSpPr>
          <p:spPr>
            <a:xfrm>
              <a:off x="8114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01" name="TextBox 22"/>
            <p:cNvSpPr txBox="1"/>
            <p:nvPr/>
          </p:nvSpPr>
          <p:spPr>
            <a:xfrm>
              <a:off x="8908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02" name="TextBox 24"/>
            <p:cNvSpPr txBox="1"/>
            <p:nvPr/>
          </p:nvSpPr>
          <p:spPr>
            <a:xfrm>
              <a:off x="9702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03" name="TextBox 26"/>
            <p:cNvSpPr txBox="1"/>
            <p:nvPr/>
          </p:nvSpPr>
          <p:spPr>
            <a:xfrm>
              <a:off x="10496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04" name="TextBox 28"/>
            <p:cNvSpPr txBox="1"/>
            <p:nvPr/>
          </p:nvSpPr>
          <p:spPr>
            <a:xfrm>
              <a:off x="11289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1861185" y="1856740"/>
            <a:ext cx="5375910" cy="461010"/>
            <a:chOff x="3351" y="10107"/>
            <a:chExt cx="8466" cy="726"/>
          </a:xfrm>
        </p:grpSpPr>
        <p:sp>
          <p:nvSpPr>
            <p:cNvPr id="106" name="TextBox 8"/>
            <p:cNvSpPr txBox="1"/>
            <p:nvPr/>
          </p:nvSpPr>
          <p:spPr>
            <a:xfrm>
              <a:off x="3351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07" name="TextBox 10"/>
            <p:cNvSpPr txBox="1"/>
            <p:nvPr/>
          </p:nvSpPr>
          <p:spPr>
            <a:xfrm>
              <a:off x="4158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0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08" name="TextBox 12"/>
            <p:cNvSpPr txBox="1"/>
            <p:nvPr/>
          </p:nvSpPr>
          <p:spPr>
            <a:xfrm>
              <a:off x="4905" y="10107"/>
              <a:ext cx="533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1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09" name="TextBox 14"/>
            <p:cNvSpPr txBox="1"/>
            <p:nvPr/>
          </p:nvSpPr>
          <p:spPr>
            <a:xfrm>
              <a:off x="5733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2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10" name="TextBox 16"/>
            <p:cNvSpPr txBox="1"/>
            <p:nvPr/>
          </p:nvSpPr>
          <p:spPr>
            <a:xfrm>
              <a:off x="6527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2"/>
                  </a:solidFill>
                </a:rPr>
                <a:t>3</a:t>
              </a:r>
              <a:endParaRPr lang="en-US" dirty="0">
                <a:solidFill>
                  <a:schemeClr val="bg2"/>
                </a:solidFill>
              </a:endParaRPr>
            </a:p>
          </p:txBody>
        </p:sp>
        <p:sp>
          <p:nvSpPr>
            <p:cNvPr id="111" name="TextBox 18"/>
            <p:cNvSpPr txBox="1"/>
            <p:nvPr/>
          </p:nvSpPr>
          <p:spPr>
            <a:xfrm>
              <a:off x="7320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12" name="TextBox 20"/>
            <p:cNvSpPr txBox="1"/>
            <p:nvPr/>
          </p:nvSpPr>
          <p:spPr>
            <a:xfrm>
              <a:off x="8114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13" name="TextBox 22"/>
            <p:cNvSpPr txBox="1"/>
            <p:nvPr/>
          </p:nvSpPr>
          <p:spPr>
            <a:xfrm>
              <a:off x="8908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14" name="TextBox 24"/>
            <p:cNvSpPr txBox="1"/>
            <p:nvPr/>
          </p:nvSpPr>
          <p:spPr>
            <a:xfrm>
              <a:off x="9702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15" name="TextBox 26"/>
            <p:cNvSpPr txBox="1"/>
            <p:nvPr/>
          </p:nvSpPr>
          <p:spPr>
            <a:xfrm>
              <a:off x="10496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116" name="TextBox 28"/>
            <p:cNvSpPr txBox="1"/>
            <p:nvPr/>
          </p:nvSpPr>
          <p:spPr>
            <a:xfrm>
              <a:off x="11289" y="10107"/>
              <a:ext cx="5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2"/>
                  </a:solidFill>
                </a:rPr>
                <a:t>3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sp>
        <p:nvSpPr>
          <p:cNvPr id="117" name="TextBox 28"/>
          <p:cNvSpPr txBox="1"/>
          <p:nvPr/>
        </p:nvSpPr>
        <p:spPr>
          <a:xfrm>
            <a:off x="6927458" y="2223952"/>
            <a:ext cx="335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18" name="椭圆 117"/>
          <p:cNvSpPr/>
          <p:nvPr/>
        </p:nvSpPr>
        <p:spPr bwMode="auto">
          <a:xfrm>
            <a:off x="6877040" y="2295510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" name="椭圆 141"/>
          <p:cNvSpPr/>
          <p:nvPr/>
        </p:nvSpPr>
        <p:spPr bwMode="auto">
          <a:xfrm>
            <a:off x="3327787" y="2295437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" name="椭圆 118"/>
          <p:cNvSpPr/>
          <p:nvPr/>
        </p:nvSpPr>
        <p:spPr bwMode="auto">
          <a:xfrm>
            <a:off x="1785372" y="1495337"/>
            <a:ext cx="385301" cy="360040"/>
          </a:xfrm>
          <a:prstGeom prst="ellipse">
            <a:avLst/>
          </a:prstGeom>
          <a:noFill/>
          <a:ln w="381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19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2430" y="302260"/>
            <a:ext cx="35693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根据</a:t>
            </a:r>
            <a:r>
              <a:rPr lang="en-US" altLang="zh-CN" b="1" i="1">
                <a:solidFill>
                  <a:schemeClr val="bg2"/>
                </a:solidFill>
              </a:rPr>
              <a:t>sel</a:t>
            </a:r>
            <a:r>
              <a:rPr lang="zh-CN" altLang="en-US">
                <a:solidFill>
                  <a:schemeClr val="bg2"/>
                </a:solidFill>
              </a:rPr>
              <a:t>矩阵追踪解的算法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62466" name="Rectangle 2"/>
          <p:cNvSpPr/>
          <p:nvPr/>
        </p:nvSpPr>
        <p:spPr>
          <a:xfrm>
            <a:off x="392430" y="763270"/>
            <a:ext cx="5648960" cy="541591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3.3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TrackSolution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输入：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输出：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种物品的装入量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1.   for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  to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2.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 0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3.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b, 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fr-FR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fr-FR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4.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sel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5.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6.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y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w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7.   while  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sel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]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do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8.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w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endParaRPr lang="en-US" altLang="zh-CN" sz="2400" b="1" i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9.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+1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10.  if  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sel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]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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goto  4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3" name="椭圆形标注 12"/>
          <p:cNvSpPr/>
          <p:nvPr/>
        </p:nvSpPr>
        <p:spPr>
          <a:xfrm>
            <a:off x="3526155" y="2388870"/>
            <a:ext cx="4062730" cy="611505"/>
          </a:xfrm>
          <a:prstGeom prst="wedgeEllipseCallout">
            <a:avLst>
              <a:gd name="adj1" fmla="val -85698"/>
              <a:gd name="adj2" fmla="val -21131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将解向量初始化为</a:t>
            </a:r>
            <a:r>
              <a:rPr kumimoji="1" lang="en-US" altLang="zh-CN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en-US" altLang="zh-CN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椭圆形标注 14"/>
          <p:cNvSpPr/>
          <p:nvPr/>
        </p:nvSpPr>
        <p:spPr>
          <a:xfrm>
            <a:off x="3825875" y="3364865"/>
            <a:ext cx="4376420" cy="611505"/>
          </a:xfrm>
          <a:prstGeom prst="wedgeEllipseCallout">
            <a:avLst>
              <a:gd name="adj1" fmla="val -79947"/>
              <a:gd name="adj2" fmla="val -1344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kumimoji="1" lang="en-US" altLang="zh-CN" sz="2400" b="1" i="1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sel</a:t>
            </a:r>
            <a:r>
              <a:rPr kumimoji="1" lang="en-US" altLang="zh-CN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b="1" i="1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400" b="1" i="1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en-US" altLang="zh-CN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开始追踪解</a:t>
            </a: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椭圆形标注 16"/>
          <p:cNvSpPr/>
          <p:nvPr/>
        </p:nvSpPr>
        <p:spPr>
          <a:xfrm>
            <a:off x="3825875" y="5960745"/>
            <a:ext cx="4831080" cy="611505"/>
          </a:xfrm>
          <a:prstGeom prst="wedgeEllipseCallout">
            <a:avLst>
              <a:gd name="adj1" fmla="val -85698"/>
              <a:gd name="adj2" fmla="val -21131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物品编号</a:t>
            </a: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≠</a:t>
            </a:r>
            <a:r>
              <a:rPr kumimoji="1" lang="en-US" altLang="zh-CN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，继续追踪</a:t>
            </a: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椭圆形标注 18"/>
          <p:cNvSpPr/>
          <p:nvPr/>
        </p:nvSpPr>
        <p:spPr>
          <a:xfrm>
            <a:off x="4330700" y="4876800"/>
            <a:ext cx="3871595" cy="611505"/>
          </a:xfrm>
          <a:prstGeom prst="wedgeEllipseCallout">
            <a:avLst>
              <a:gd name="adj1" fmla="val -85698"/>
              <a:gd name="adj2" fmla="val -21131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物品</a:t>
            </a:r>
            <a:r>
              <a:rPr kumimoji="1" lang="en-US" altLang="zh-CN" sz="2400" b="1" i="1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是否多次装入</a:t>
            </a: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24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4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24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24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24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24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4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24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24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5" grpId="0" bldLvl="0" animBg="1"/>
      <p:bldP spid="15" grpId="1" animBg="1"/>
      <p:bldP spid="17" grpId="0" bldLvl="0" animBg="1"/>
      <p:bldP spid="17" grpId="1" animBg="1"/>
      <p:bldP spid="19" grpId="0" bldLvl="0" animBg="1"/>
      <p:bldP spid="1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431478" y="1473076"/>
            <a:ext cx="8280920" cy="53403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 err="1" smtClean="0">
                <a:solidFill>
                  <a:schemeClr val="bg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时间复杂度估算</a:t>
            </a:r>
            <a:endParaRPr lang="zh-CN" altLang="en-US" dirty="0" err="1" smtClean="0">
              <a:solidFill>
                <a:schemeClr val="bg2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35" y="1969135"/>
            <a:ext cx="5526405" cy="1894205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045" y="4021455"/>
            <a:ext cx="5243830" cy="16738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55340"/>
            <a:ext cx="828092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最长公共子序列问题</a:t>
            </a:r>
            <a:endParaRPr lang="en-US" altLang="zh-CN" b="1" dirty="0" smtClean="0">
              <a:solidFill>
                <a:schemeClr val="bg2"/>
              </a:solidFill>
              <a:sym typeface="+mn-ea"/>
            </a:endParaRPr>
          </a:p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pt-BR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子序列：设序列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X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和序列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Z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，</a:t>
            </a:r>
            <a:endParaRPr lang="zh-CN" altLang="pt-BR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pt-BR" dirty="0" smtClean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</a:rPr>
              <a:t>  </a:t>
            </a:r>
            <a:endParaRPr lang="zh-CN" altLang="pt-BR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2693036" y="2665413"/>
          <a:ext cx="2640965" cy="928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1016000" imgH="355600" progId="Equation.3">
                  <p:embed/>
                </p:oleObj>
              </mc:Choice>
              <mc:Fallback>
                <p:oleObj name="" r:id="rId1" imgW="1016000" imgH="355600" progId="Equation.3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93036" y="2665413"/>
                        <a:ext cx="2640965" cy="9283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06095" y="3693160"/>
            <a:ext cx="8308975" cy="2084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</a:pPr>
            <a:r>
              <a:rPr lang="zh-CN" altLang="en-US" b="1" dirty="0" smtClean="0">
                <a:solidFill>
                  <a:srgbClr val="FF0000"/>
                </a:solidFill>
                <a:sym typeface="+mn-ea"/>
              </a:rPr>
              <a:t>严格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按下标递增</a:t>
            </a:r>
            <a:r>
              <a:rPr lang="zh-CN" altLang="en-US" b="1" dirty="0" smtClean="0">
                <a:solidFill>
                  <a:srgbClr val="FF0000"/>
                </a:solidFill>
                <a:sym typeface="+mn-ea"/>
              </a:rPr>
              <a:t>序列从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X </a:t>
            </a:r>
            <a:r>
              <a:rPr lang="zh-CN" altLang="en-US" b="1" dirty="0" smtClean="0">
                <a:solidFill>
                  <a:schemeClr val="bg2"/>
                </a:solidFill>
                <a:sym typeface="+mn-ea"/>
              </a:rPr>
              <a:t>中选出元素构成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40000"/>
              </a:lnSpc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使得                                           ，  则称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Z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是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X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的子序列。</a:t>
            </a:r>
            <a:endParaRPr lang="zh-CN" altLang="en-US" b="1" dirty="0">
              <a:solidFill>
                <a:schemeClr val="bg2"/>
              </a:solidFill>
              <a:sym typeface="+mn-ea"/>
            </a:endParaRPr>
          </a:p>
          <a:p>
            <a:pPr marL="342900" indent="-342900">
              <a:lnSpc>
                <a:spcPct val="140000"/>
              </a:lnSpc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例如：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X</a:t>
            </a:r>
            <a:r>
              <a:rPr lang="en-US" altLang="zh-CN" b="1" dirty="0">
                <a:solidFill>
                  <a:schemeClr val="bg2"/>
                </a:solidFill>
                <a:sym typeface="+mn-ea"/>
              </a:rPr>
              <a:t>={A,B,B,C,A,D,C}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Z</a:t>
            </a:r>
            <a:r>
              <a:rPr lang="en-US" altLang="zh-CN" b="1" dirty="0">
                <a:solidFill>
                  <a:schemeClr val="bg2"/>
                </a:solidFill>
                <a:sym typeface="+mn-ea"/>
              </a:rPr>
              <a:t>={A,B,D,C}</a:t>
            </a:r>
            <a:endParaRPr lang="en-US" altLang="zh-CN" b="1" dirty="0">
              <a:solidFill>
                <a:schemeClr val="bg2"/>
              </a:solidFill>
              <a:sym typeface="+mn-ea"/>
            </a:endParaRPr>
          </a:p>
          <a:p>
            <a:pPr marL="342900" indent="-342900">
              <a:lnSpc>
                <a:spcPct val="140000"/>
              </a:lnSpc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 所以，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Z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是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X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的子序列</a:t>
            </a:r>
            <a:endParaRPr lang="en-US" altLang="zh-CN" b="1" dirty="0">
              <a:solidFill>
                <a:schemeClr val="bg2"/>
              </a:solidFill>
              <a:sym typeface="+mn-ea"/>
            </a:endParaRP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6228184" y="3716338"/>
          <a:ext cx="24130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" imgW="1028700" imgH="228600" progId="Equation.3">
                  <p:embed/>
                </p:oleObj>
              </mc:Choice>
              <mc:Fallback>
                <p:oleObj name="" r:id="rId3" imgW="1028700" imgH="228600" progId="Equation.3">
                  <p:embed/>
                  <p:pic>
                    <p:nvPicPr>
                      <p:cNvPr id="0" name="20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8184" y="3716338"/>
                        <a:ext cx="2413000" cy="534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8"/>
          <p:cNvGraphicFramePr>
            <a:graphicFrameLocks noChangeAspect="1"/>
          </p:cNvGraphicFramePr>
          <p:nvPr/>
        </p:nvGraphicFramePr>
        <p:xfrm>
          <a:off x="1258888" y="4221163"/>
          <a:ext cx="3313112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5" imgW="1117600" imgH="228600" progId="Equation.3">
                  <p:embed/>
                </p:oleObj>
              </mc:Choice>
              <mc:Fallback>
                <p:oleObj name="" r:id="rId5" imgW="1117600" imgH="228600" progId="Equation.3">
                  <p:embed/>
                  <p:pic>
                    <p:nvPicPr>
                      <p:cNvPr id="0" name="20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4221163"/>
                        <a:ext cx="3313112" cy="666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55340"/>
            <a:ext cx="828092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X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与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Y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的公共子序列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Z</a:t>
            </a:r>
            <a:r>
              <a:rPr lang="en-US" altLang="zh-CN" b="1" dirty="0">
                <a:solidFill>
                  <a:schemeClr val="bg2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：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Z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是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X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和 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Y 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的子序列。</a:t>
            </a:r>
            <a:endParaRPr lang="zh-CN" altLang="en-US" b="1" dirty="0">
              <a:solidFill>
                <a:schemeClr val="bg2"/>
              </a:solidFill>
              <a:sym typeface="+mn-ea"/>
            </a:endParaRPr>
          </a:p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子序列的长度：子序列的元素个数</a:t>
            </a:r>
            <a:endParaRPr lang="zh-CN" altLang="en-US" b="1" dirty="0">
              <a:solidFill>
                <a:schemeClr val="bg2"/>
              </a:solidFill>
              <a:sym typeface="+mn-ea"/>
            </a:endParaRPr>
          </a:p>
          <a:p>
            <a:pPr marL="628650" lvl="1" indent="-355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最长公共子序列问题</a:t>
            </a:r>
            <a:endParaRPr lang="zh-CN" altLang="en-US" b="1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）问题描述</a:t>
            </a:r>
            <a:endParaRPr lang="zh-CN" altLang="en-US" b="1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</p:txBody>
      </p:sp>
      <p:sp>
        <p:nvSpPr>
          <p:cNvPr id="66562" name="Rectangle 3"/>
          <p:cNvSpPr/>
          <p:nvPr/>
        </p:nvSpPr>
        <p:spPr>
          <a:xfrm>
            <a:off x="1268730" y="3418840"/>
            <a:ext cx="6548120" cy="902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给定序列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&gt;,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的最长公共子序列。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2940" y="4295140"/>
            <a:ext cx="1559560" cy="4972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b="1" dirty="0">
                <a:solidFill>
                  <a:schemeClr val="bg2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）实例</a:t>
            </a:r>
            <a:endParaRPr lang="zh-CN" altLang="en-US" dirty="0"/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935" y="4503420"/>
            <a:ext cx="4342765" cy="83756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5482590"/>
            <a:ext cx="5107940" cy="46418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1555340"/>
            <a:ext cx="828092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73050" lvl="1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）实现方法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：蛮力算法</a:t>
            </a:r>
            <a:endParaRPr lang="zh-CN" altLang="en-US" b="1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075" y="2160905"/>
            <a:ext cx="4892040" cy="4533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62025" y="2829560"/>
            <a:ext cx="764286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</a:rPr>
              <a:t>蛮力实现：依次检查 </a:t>
            </a:r>
            <a:r>
              <a:rPr lang="zh-CN" altLang="en-US" b="1" i="1" dirty="0">
                <a:solidFill>
                  <a:schemeClr val="bg2"/>
                </a:solidFill>
                <a:uFillTx/>
                <a:cs typeface="Times New Roman" panose="02020603050405020304" pitchFamily="18" charset="0"/>
              </a:rPr>
              <a:t>X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2"/>
                </a:solidFill>
              </a:rPr>
              <a:t>的每个子序列在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chemeClr val="bg2"/>
                </a:solidFill>
              </a:rPr>
              <a:t>中是否出现。</a:t>
            </a:r>
            <a:endParaRPr lang="zh-CN" altLang="en-US" dirty="0">
              <a:solidFill>
                <a:schemeClr val="bg2"/>
              </a:solidFill>
            </a:endParaRPr>
          </a:p>
          <a:p>
            <a:pPr marL="80010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i="1" dirty="0">
                <a:solidFill>
                  <a:schemeClr val="bg2"/>
                </a:solidFill>
                <a:uFillTx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的每个子序列：子集问题，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m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个元素有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2</a:t>
            </a:r>
            <a:r>
              <a:rPr lang="en-US" altLang="zh-CN" b="1" i="1" baseline="30000" dirty="0">
                <a:solidFill>
                  <a:schemeClr val="bg2"/>
                </a:solidFill>
                <a:sym typeface="+mn-ea"/>
              </a:rPr>
              <a:t>m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个子集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  <a:p>
            <a:pPr marL="80010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sym typeface="+mn-ea"/>
              </a:rPr>
              <a:t>检查每个子序列在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Y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中是否出现过，需要遍历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Y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，因此时间为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O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sym typeface="+mn-ea"/>
              </a:rPr>
              <a:t>n</a:t>
            </a:r>
            <a:r>
              <a:rPr lang="en-US" altLang="zh-CN" dirty="0">
                <a:solidFill>
                  <a:schemeClr val="bg2"/>
                </a:solidFill>
                <a:sym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sym typeface="+mn-ea"/>
              </a:rPr>
              <a:t>。</a:t>
            </a:r>
            <a:endParaRPr lang="zh-CN" altLang="en-US" dirty="0">
              <a:solidFill>
                <a:schemeClr val="bg2"/>
              </a:solidFill>
              <a:sym typeface="+mn-ea"/>
            </a:endParaRPr>
          </a:p>
        </p:txBody>
      </p:sp>
      <p:pic>
        <p:nvPicPr>
          <p:cNvPr id="9" name="20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70" y="4898390"/>
            <a:ext cx="4968240" cy="54165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2095" y="1555115"/>
            <a:ext cx="8610600" cy="4078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4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）实现方法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：动态规划算法</a:t>
            </a:r>
            <a:endParaRPr lang="zh-CN" altLang="en-US" b="1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阶段划分及每个阶段中的状态结点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划分成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个阶段，每个阶段决策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中的前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个字符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每个阶段包括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个状态结点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每个状态结点对应：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中的前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个字符与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中前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个字符的最长公共子序列长度。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边界状态（初始值）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=0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时，即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中的前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个字符，此时公共子序列长度为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=0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时，即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中的前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个字符，此时公共子序列长度为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2095" y="1555115"/>
            <a:ext cx="8610600" cy="4078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15950" lvl="1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  <a:cs typeface="Consolas" panose="020B0609020204030204" pitchFamily="49" charset="0"/>
                <a:sym typeface="+mn-ea"/>
              </a:rPr>
              <a:t>状态转移方程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  <a:cs typeface="Consolas" panose="020B0609020204030204" pitchFamily="49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对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个字符与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个字符进行决策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个字符在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个字符的最长公共子序列已经决策结束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，可直接使用。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个字符在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个字符的最长公共子序列已经决策结束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，可直接使用。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参数</a:t>
            </a: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界定子问题：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的终止位置是</a:t>
            </a: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          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b="1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 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的终止位置是 </a:t>
            </a: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         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30" y="1655445"/>
            <a:ext cx="5750560" cy="52197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/>
        </p:nvGraphicFramePr>
        <p:xfrm>
          <a:off x="1638935" y="2236470"/>
          <a:ext cx="5582920" cy="635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865"/>
                <a:gridCol w="697865"/>
                <a:gridCol w="697865"/>
                <a:gridCol w="697865"/>
                <a:gridCol w="697865"/>
                <a:gridCol w="697865"/>
                <a:gridCol w="697865"/>
                <a:gridCol w="697865"/>
              </a:tblGrid>
              <a:tr h="6356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400" baseline="-25000" dirty="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400" baseline="-25000" dirty="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4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4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400" baseline="-25000" dirty="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aseline="-25000" dirty="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…</a:t>
                      </a:r>
                      <a:endParaRPr lang="en-US" altLang="zh-CN" sz="2400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400" i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CN" sz="2400" i="1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US" altLang="zh-CN" sz="2400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i="1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400" i="1" baseline="-25000" dirty="0" err="1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CN" sz="2400" i="1" baseline="-25000" dirty="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991870" y="2800350"/>
          <a:ext cx="65976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765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24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24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endParaRPr lang="zh-CN" altLang="en-US" sz="2400" b="1"/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24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endParaRPr lang="zh-CN" altLang="en-US" sz="2400" b="1"/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24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4</a:t>
                      </a:r>
                      <a:endParaRPr lang="zh-CN" altLang="en-US" sz="2400" b="1"/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…</a:t>
                      </a:r>
                      <a:endParaRPr lang="en-US" altLang="zh-CN" sz="2400" b="1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2400" b="1" i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</a:t>
                      </a:r>
                      <a:endParaRPr lang="en-US" altLang="zh-CN" sz="2400" b="1" i="1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/>
                        <a:t>…</a:t>
                      </a:r>
                      <a:endParaRPr lang="en-US" altLang="zh-CN" sz="2400" b="1"/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2400" b="1" i="1" baseline="-250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</a:t>
                      </a:r>
                      <a:endParaRPr lang="en-US" altLang="zh-CN" sz="2400" b="1" i="1" baseline="-250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619885" y="2853055"/>
            <a:ext cx="4248150" cy="2663825"/>
          </a:xfrm>
          <a:prstGeom prst="rect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30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边界由</a:t>
            </a:r>
            <a:r>
              <a:rPr kumimoji="1" lang="en-US" altLang="zh-CN" sz="3000" b="1" i="1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30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en-US" altLang="zh-CN" sz="3000" b="1" i="1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zh-CN" altLang="en-US" sz="30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界定</a:t>
            </a:r>
            <a:endParaRPr kumimoji="1" lang="zh-CN" altLang="en-US" sz="30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3000" b="1" i="0" u="none" strike="noStrike" cap="none" normalizeH="0" baseline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的子问题</a:t>
            </a:r>
            <a:endParaRPr kumimoji="1" lang="zh-CN" altLang="en-US" sz="30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2095" y="1555115"/>
            <a:ext cx="8610600" cy="230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若子问题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和子问题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的最长公共子序列为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：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=&lt;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2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……,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&gt;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=&lt;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2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……,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&gt;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=&lt;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2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……,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 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&gt;</a:t>
            </a:r>
            <a:endParaRPr lang="en-US" altLang="zh-CN" b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情况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，则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，即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为</a:t>
            </a: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的最长公共子序列，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)=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-1)+1</a:t>
            </a:r>
            <a:endParaRPr lang="en-US" altLang="zh-CN" b="1" baseline="-25000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3164840" y="3861435"/>
          <a:ext cx="3173730" cy="42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5"/>
                <a:gridCol w="528955"/>
                <a:gridCol w="528955"/>
                <a:gridCol w="528955"/>
                <a:gridCol w="528955"/>
                <a:gridCol w="528955"/>
              </a:tblGrid>
              <a:tr h="425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 dirty="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aseline="-25000" dirty="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 dirty="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aseline="-25000" dirty="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…</a:t>
                      </a:r>
                      <a:endParaRPr lang="en-US" altLang="zh-CN" sz="1800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i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CN" sz="1800" i="1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2517775" y="4286885"/>
          <a:ext cx="647065" cy="2365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065"/>
              </a:tblGrid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…</a:t>
                      </a:r>
                      <a:endParaRPr lang="en-US" altLang="zh-CN" sz="1800" b="1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i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</a:t>
                      </a:r>
                      <a:endParaRPr lang="en-US" altLang="zh-CN" sz="1800" b="1" i="1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164840" y="4286885"/>
            <a:ext cx="2643505" cy="1972310"/>
          </a:xfrm>
          <a:prstGeom prst="rect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b="1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b="1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800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endParaRPr kumimoji="1" lang="zh-CN" altLang="en-US" sz="28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2095" y="1555115"/>
            <a:ext cx="861060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情况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i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endParaRPr lang="zh-CN" altLang="en-US" b="1" i="1" baseline="-25000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）若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b="1" i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，即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为</a:t>
            </a: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的最长公共子序列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b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）若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b="1" i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，即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为</a:t>
            </a:r>
            <a:r>
              <a:rPr lang="zh-CN" alt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的最长公共子序列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-1)</a:t>
            </a:r>
            <a:endParaRPr lang="en-US" altLang="zh-CN" b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）此时，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)=max{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),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-1)}</a:t>
            </a:r>
            <a:endParaRPr lang="en-US" altLang="zh-CN" b="1" baseline="-25000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1104900" y="3450590"/>
          <a:ext cx="3173730" cy="42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5"/>
                <a:gridCol w="528955"/>
                <a:gridCol w="528955"/>
                <a:gridCol w="528955"/>
                <a:gridCol w="528955"/>
                <a:gridCol w="528955"/>
              </a:tblGrid>
              <a:tr h="425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 dirty="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aseline="-25000" dirty="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 dirty="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aseline="-25000" dirty="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…</a:t>
                      </a:r>
                      <a:endParaRPr lang="en-US" altLang="zh-CN" sz="1800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i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CN" sz="1800" i="1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457835" y="3876040"/>
          <a:ext cx="647065" cy="2365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065"/>
              </a:tblGrid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…</a:t>
                      </a:r>
                      <a:endParaRPr lang="en-US" altLang="zh-CN" sz="1800" b="1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i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</a:t>
                      </a:r>
                      <a:endParaRPr lang="en-US" altLang="zh-CN" sz="1800" b="1" i="1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104900" y="3876040"/>
            <a:ext cx="3173730" cy="1972310"/>
          </a:xfrm>
          <a:prstGeom prst="rect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b="1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(1)</a:t>
            </a:r>
            <a:endParaRPr lang="en-US" altLang="zh-CN" b="1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800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endParaRPr kumimoji="1" lang="zh-CN" altLang="en-US" sz="28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433695" y="3431540"/>
          <a:ext cx="3173730" cy="42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955"/>
                <a:gridCol w="528955"/>
                <a:gridCol w="528955"/>
                <a:gridCol w="528955"/>
                <a:gridCol w="528955"/>
                <a:gridCol w="528955"/>
              </a:tblGrid>
              <a:tr h="425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…</a:t>
                      </a:r>
                      <a:endParaRPr lang="en-US" altLang="zh-CN" sz="1800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800" i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CN" sz="1800" i="1" baseline="-250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4786630" y="3856990"/>
          <a:ext cx="647065" cy="2365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065"/>
              </a:tblGrid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baseline="-250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4</a:t>
                      </a:r>
                      <a:endParaRPr lang="en-US" altLang="zh-CN" sz="18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…</a:t>
                      </a:r>
                      <a:endParaRPr lang="en-US" altLang="zh-CN" sz="1800" b="1" i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</a:t>
                      </a:r>
                      <a:r>
                        <a:rPr lang="en-US" altLang="zh-CN" sz="1800" b="1" i="1" baseline="-25000" dirty="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</a:t>
                      </a:r>
                      <a:endParaRPr lang="en-US" altLang="zh-CN" sz="1800" b="1" i="1" baseline="-25000" dirty="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433695" y="3856990"/>
            <a:ext cx="2655570" cy="2365375"/>
          </a:xfrm>
          <a:prstGeom prst="rect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b="1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(2)</a:t>
            </a:r>
            <a:endParaRPr lang="en-US" altLang="zh-CN" b="1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Z</a:t>
            </a:r>
            <a:r>
              <a:rPr lang="en-US" altLang="zh-CN" sz="2800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800" b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endParaRPr kumimoji="1" lang="zh-CN" altLang="en-US" sz="28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1555115"/>
            <a:ext cx="86106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优化函数的递推方程</a:t>
            </a:r>
            <a:endParaRPr lang="zh-CN" altLang="en-US" b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7980" y="2089150"/>
            <a:ext cx="5550535" cy="94742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980" y="3036570"/>
            <a:ext cx="4123055" cy="47434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215" y="3510915"/>
            <a:ext cx="5928360" cy="203009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1555115"/>
            <a:ext cx="8610600" cy="4078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数据结构设计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dp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数组：存放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阶段各结点状态的最优值。因为在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阶段需要反复使用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阶段的结果，因此可将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阶段的值暂存于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temp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数组，该阶段结束后用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temp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替换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dp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中的最优值。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）标记函数（数组）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用于追踪解。</a:t>
            </a:r>
            <a:r>
              <a:rPr lang="en-US" altLang="zh-CN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M[i,j]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的值记录缩小子问题的方向，有三种情况：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若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C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 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]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=C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i-1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j-1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]+1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M[i,j]=</a:t>
            </a:r>
            <a:endParaRPr lang="en-US" altLang="zh-CN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若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C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 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]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=C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i-1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]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M[i,j]=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↑</a:t>
            </a:r>
            <a:endParaRPr lang="en-US" altLang="zh-CN" b="1" i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若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C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 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]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=C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-1]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M[i,j]=</a:t>
            </a:r>
            <a:r>
              <a:rPr lang="en-US" altLang="zh-CN" b="1" i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←</a:t>
            </a:r>
            <a:endParaRPr lang="en-US" altLang="zh-CN" b="1" i="1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985" y="4287520"/>
            <a:ext cx="344805" cy="3143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1555115"/>
            <a:ext cx="8610600" cy="3192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解的输出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]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中即为最长公共子序列的长度值。</a:t>
            </a:r>
            <a:endParaRPr lang="zh-CN" altLang="en-US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）使用数组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实现解的追踪，首先查看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m,n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]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endParaRPr lang="zh-CN" altLang="en-US" b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×"/>
            </a:pP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若值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=“     ”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则输出对应字符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i="1" baseline="-25000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，继续在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中追踪解。</a:t>
            </a:r>
            <a:endParaRPr lang="zh-CN" altLang="en-US" b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×"/>
            </a:pP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若值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=“  </a:t>
            </a:r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↑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  ”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则继续在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中追踪解。</a:t>
            </a:r>
            <a:endParaRPr lang="zh-CN" altLang="en-US" b="1" dirty="0">
              <a:solidFill>
                <a:schemeClr val="bg2"/>
              </a:solidFill>
              <a:ea typeface="+mn-ea"/>
              <a:cs typeface="Times New Roman" panose="02020603050405020304" pitchFamily="18" charset="0"/>
              <a:sym typeface="+mn-ea"/>
            </a:endParaRPr>
          </a:p>
          <a:p>
            <a:pPr marL="1530350" lvl="3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×"/>
            </a:pP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若值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=“  </a:t>
            </a:r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  ”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则继续在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-1</a:t>
            </a:r>
            <a:r>
              <a:rPr lang="zh-CN" altLang="en-US" b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中追踪解。</a:t>
            </a:r>
            <a:endParaRPr lang="en-US" altLang="zh-CN" b="1" i="1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845" y="2981960"/>
            <a:ext cx="344805" cy="3143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1555115"/>
            <a:ext cx="86106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实例</a:t>
            </a:r>
            <a:endParaRPr lang="en-US" altLang="zh-CN" b="1" i="1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748155"/>
            <a:ext cx="4359275" cy="753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17981" y="2479040"/>
            <a:ext cx="6914460" cy="4081117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求解：最长公共子序列及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长度</a:t>
            </a:r>
            <a:endParaRPr lang="en-US" altLang="zh-CN" dirty="0" smtClean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数据结构设计：</a:t>
            </a:r>
            <a:endParaRPr lang="en-US" altLang="zh-CN" dirty="0" smtClean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dp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：存放当前阶段的最优解。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阶段求解过程中存放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-1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阶段的最优解，</a:t>
            </a:r>
            <a:r>
              <a:rPr lang="en-US" altLang="zh-CN" b="1" i="1" dirty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 err="1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阶段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决策结束后更新为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阶段最优解。</a:t>
            </a:r>
            <a:endParaRPr lang="en-US" altLang="zh-CN" dirty="0" smtClean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temp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：临时存放当前阶段的最优解</a:t>
            </a:r>
            <a:endParaRPr lang="en-US" altLang="zh-CN" dirty="0" smtClean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  <a:p>
            <a:pPr marL="730250" lvl="2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</a:pP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）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：标记数组，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[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err="1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,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]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中存放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中前</a:t>
            </a:r>
            <a:r>
              <a:rPr lang="en-US" altLang="zh-CN" b="1" i="1" dirty="0" err="1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个字符与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中前</a:t>
            </a:r>
            <a:r>
              <a:rPr lang="en-US" altLang="zh-CN" b="1" i="1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个字符最优解时，</a:t>
            </a: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缩小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子问题的方向。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704" y="226983"/>
            <a:ext cx="4359275" cy="753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8264" y="1082119"/>
            <a:ext cx="8594215" cy="978729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初始化</a:t>
            </a:r>
            <a:endParaRPr lang="en-US" altLang="zh-CN" dirty="0" smtClean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     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=0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1226326"/>
          <a:ext cx="484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3458617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87821" y="3082801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3458614"/>
          <a:ext cx="3264030" cy="263468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66290"/>
                <a:gridCol w="466290"/>
                <a:gridCol w="466290"/>
                <a:gridCol w="466290"/>
                <a:gridCol w="466290"/>
                <a:gridCol w="466290"/>
                <a:gridCol w="466290"/>
              </a:tblGrid>
              <a:tr h="376383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6383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6383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6383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6383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6383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6383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3068960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67744" y="2121416"/>
          <a:ext cx="4998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67744" y="2592263"/>
          <a:ext cx="4998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40343" y="260648"/>
            <a:ext cx="8594215" cy="53553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第一阶段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=1)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≤6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908720"/>
          <a:ext cx="484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3857456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15816" y="3481640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3857457"/>
          <a:ext cx="3192024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004"/>
                <a:gridCol w="532004"/>
                <a:gridCol w="532004"/>
                <a:gridCol w="532004"/>
                <a:gridCol w="532004"/>
                <a:gridCol w="5320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34677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5737" y="1700808"/>
            <a:ext cx="496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aseline="-25000" dirty="0" smtClean="0">
                <a:solidFill>
                  <a:schemeClr val="bg2"/>
                </a:solidFill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err="1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j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-1]+1</a:t>
            </a:r>
            <a:endParaRPr lang="en-US" altLang="zh-CN" dirty="0" smtClean="0">
              <a:solidFill>
                <a:schemeClr val="bg2"/>
              </a:solidFill>
            </a:endParaRPr>
          </a:p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aseline="-25000" dirty="0" smtClean="0">
                <a:solidFill>
                  <a:schemeClr val="bg2"/>
                </a:solidFill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dirty="0">
                <a:solidFill>
                  <a:schemeClr val="bg2"/>
                </a:solidFill>
              </a:rPr>
              <a:t>max</a:t>
            </a:r>
            <a:r>
              <a:rPr lang="en-US" altLang="zh-CN" b="1" i="1" dirty="0">
                <a:solidFill>
                  <a:schemeClr val="bg2"/>
                </a:solidFill>
              </a:rPr>
              <a:t>{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],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</a:rPr>
              <a:t>-1]}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25606" y="2883325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73678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32040" y="2888561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0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97814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56176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49942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5451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491880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995936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572000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6056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←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652120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6" grpId="0"/>
      <p:bldP spid="17" grpId="0"/>
      <p:bldP spid="18" grpId="0"/>
      <p:bldP spid="19" grpId="0"/>
      <p:bldP spid="20" grpId="0"/>
      <p:bldP spid="6" grpId="0"/>
      <p:bldP spid="21" grpId="0"/>
      <p:bldP spid="22" grpId="0"/>
      <p:bldP spid="23" grpId="0"/>
      <p:bldP spid="24" grpId="0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67744" y="2592263"/>
          <a:ext cx="4998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40343" y="260648"/>
            <a:ext cx="8594215" cy="53553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第二阶段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=2)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≤6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908720"/>
          <a:ext cx="484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3857456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15816" y="3481640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3857456"/>
          <a:ext cx="3192024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004"/>
                <a:gridCol w="532004"/>
                <a:gridCol w="532004"/>
                <a:gridCol w="532004"/>
                <a:gridCol w="532004"/>
                <a:gridCol w="5320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34677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5737" y="1700808"/>
            <a:ext cx="496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j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-1]+1</a:t>
            </a:r>
            <a:endParaRPr lang="en-US" altLang="zh-CN" dirty="0" smtClean="0">
              <a:solidFill>
                <a:schemeClr val="bg2"/>
              </a:solidFill>
            </a:endParaRPr>
          </a:p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dirty="0">
                <a:solidFill>
                  <a:schemeClr val="bg2"/>
                </a:solidFill>
              </a:rPr>
              <a:t>max</a:t>
            </a:r>
            <a:r>
              <a:rPr lang="en-US" altLang="zh-CN" b="1" i="1" dirty="0">
                <a:solidFill>
                  <a:schemeClr val="bg2"/>
                </a:solidFill>
              </a:rPr>
              <a:t>{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],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</a:rPr>
              <a:t>-1]}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5451" y="414908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91880" y="414908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←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95936" y="414908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←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414908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076056" y="414908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52120" y="414908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←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76637" y="3789040"/>
            <a:ext cx="3179539" cy="461665"/>
            <a:chOff x="7429947" y="3983831"/>
            <a:chExt cx="3179539" cy="461665"/>
          </a:xfrm>
        </p:grpSpPr>
        <p:sp>
          <p:nvSpPr>
            <p:cNvPr id="26" name="TextBox 25"/>
            <p:cNvSpPr txBox="1"/>
            <p:nvPr/>
          </p:nvSpPr>
          <p:spPr>
            <a:xfrm>
              <a:off x="7429947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5637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6043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649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4055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←</a:t>
              </a:r>
              <a:endParaRPr lang="zh-CN" alt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105430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725606" y="2883325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73678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32040" y="2888561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97814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56176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49942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21" grpId="0"/>
      <p:bldP spid="22" grpId="0"/>
      <p:bldP spid="23" grpId="0"/>
      <p:bldP spid="24" grpId="0"/>
      <p:bldP spid="25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67744" y="2592263"/>
          <a:ext cx="4998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40343" y="260648"/>
            <a:ext cx="8594215" cy="53553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第三阶段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=3)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≤6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908720"/>
          <a:ext cx="484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3857456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15816" y="3481640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3857456"/>
          <a:ext cx="3192024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004"/>
                <a:gridCol w="532004"/>
                <a:gridCol w="532004"/>
                <a:gridCol w="532004"/>
                <a:gridCol w="532004"/>
                <a:gridCol w="5320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34677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5737" y="1700808"/>
            <a:ext cx="496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j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-1]+1</a:t>
            </a:r>
            <a:endParaRPr lang="en-US" altLang="zh-CN" dirty="0" smtClean="0">
              <a:solidFill>
                <a:schemeClr val="bg2"/>
              </a:solidFill>
            </a:endParaRPr>
          </a:p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3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dirty="0">
                <a:solidFill>
                  <a:schemeClr val="bg2"/>
                </a:solidFill>
              </a:rPr>
              <a:t>max</a:t>
            </a:r>
            <a:r>
              <a:rPr lang="en-US" altLang="zh-CN" b="1" i="1" dirty="0">
                <a:solidFill>
                  <a:schemeClr val="bg2"/>
                </a:solidFill>
              </a:rPr>
              <a:t>{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],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</a:rPr>
              <a:t>-1]}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5451" y="450912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491880" y="450912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995936" y="450912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450912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2"/>
                </a:solidFill>
              </a:rPr>
              <a:t>←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6056" y="450912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652120" y="450912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2976637" y="3789040"/>
            <a:ext cx="3179539" cy="461665"/>
            <a:chOff x="7429947" y="3983831"/>
            <a:chExt cx="3179539" cy="461665"/>
          </a:xfrm>
        </p:grpSpPr>
        <p:sp>
          <p:nvSpPr>
            <p:cNvPr id="26" name="TextBox 25"/>
            <p:cNvSpPr txBox="1"/>
            <p:nvPr/>
          </p:nvSpPr>
          <p:spPr>
            <a:xfrm>
              <a:off x="7429947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5637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6043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649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4055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←</a:t>
              </a:r>
              <a:endParaRPr lang="zh-CN" alt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105430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15815" y="4149080"/>
            <a:ext cx="3190725" cy="461665"/>
            <a:chOff x="3117851" y="6279703"/>
            <a:chExt cx="3190725" cy="461665"/>
          </a:xfrm>
        </p:grpSpPr>
        <p:sp>
          <p:nvSpPr>
            <p:cNvPr id="38" name="TextBox 37"/>
            <p:cNvSpPr txBox="1"/>
            <p:nvPr/>
          </p:nvSpPr>
          <p:spPr>
            <a:xfrm>
              <a:off x="3117851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4428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4833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2440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2845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0452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725606" y="2883325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73678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32040" y="2888561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97814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56176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49942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21" grpId="0"/>
      <p:bldP spid="22" grpId="0"/>
      <p:bldP spid="23" grpId="0"/>
      <p:bldP spid="24" grpId="0"/>
      <p:bldP spid="25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67744" y="2592263"/>
          <a:ext cx="4998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40343" y="260648"/>
            <a:ext cx="8594215" cy="53553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第四阶段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=4)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≤6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908720"/>
          <a:ext cx="484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3857456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15816" y="3481640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3857456"/>
          <a:ext cx="3192024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004"/>
                <a:gridCol w="532004"/>
                <a:gridCol w="532004"/>
                <a:gridCol w="532004"/>
                <a:gridCol w="532004"/>
                <a:gridCol w="5320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34677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5737" y="1700808"/>
            <a:ext cx="496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j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-1]+1</a:t>
            </a:r>
            <a:endParaRPr lang="en-US" altLang="zh-CN" dirty="0" smtClean="0">
              <a:solidFill>
                <a:schemeClr val="bg2"/>
              </a:solidFill>
            </a:endParaRPr>
          </a:p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4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dirty="0">
                <a:solidFill>
                  <a:schemeClr val="bg2"/>
                </a:solidFill>
              </a:rPr>
              <a:t>max</a:t>
            </a:r>
            <a:r>
              <a:rPr lang="en-US" altLang="zh-CN" b="1" i="1" dirty="0">
                <a:solidFill>
                  <a:schemeClr val="bg2"/>
                </a:solidFill>
              </a:rPr>
              <a:t>{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],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</a:rPr>
              <a:t>-1]}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5451" y="491155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91880" y="491155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995936" y="491155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491155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6056" y="491155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52120" y="491155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←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76637" y="3789040"/>
            <a:ext cx="3179539" cy="461665"/>
            <a:chOff x="7429947" y="3983831"/>
            <a:chExt cx="3179539" cy="461665"/>
          </a:xfrm>
        </p:grpSpPr>
        <p:sp>
          <p:nvSpPr>
            <p:cNvPr id="26" name="TextBox 25"/>
            <p:cNvSpPr txBox="1"/>
            <p:nvPr/>
          </p:nvSpPr>
          <p:spPr>
            <a:xfrm>
              <a:off x="7429947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5637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6043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649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4055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←</a:t>
              </a:r>
              <a:endParaRPr lang="zh-CN" alt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105430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15815" y="4149080"/>
            <a:ext cx="3190725" cy="461665"/>
            <a:chOff x="3117851" y="6279703"/>
            <a:chExt cx="3190725" cy="461665"/>
          </a:xfrm>
        </p:grpSpPr>
        <p:sp>
          <p:nvSpPr>
            <p:cNvPr id="38" name="TextBox 37"/>
            <p:cNvSpPr txBox="1"/>
            <p:nvPr/>
          </p:nvSpPr>
          <p:spPr>
            <a:xfrm>
              <a:off x="3117851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4428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4833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2440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2845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0452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725606" y="2883325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73678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32040" y="2888561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97814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56176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49942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76637" y="4509120"/>
            <a:ext cx="3190725" cy="461665"/>
            <a:chOff x="6421835" y="5199583"/>
            <a:chExt cx="3190725" cy="461665"/>
          </a:xfrm>
        </p:grpSpPr>
        <p:sp>
          <p:nvSpPr>
            <p:cNvPr id="36" name="TextBox 35"/>
            <p:cNvSpPr txBox="1"/>
            <p:nvPr/>
          </p:nvSpPr>
          <p:spPr>
            <a:xfrm>
              <a:off x="6421835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4826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5232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02838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3244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850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21" grpId="0"/>
      <p:bldP spid="22" grpId="0"/>
      <p:bldP spid="23" grpId="0"/>
      <p:bldP spid="24" grpId="0"/>
      <p:bldP spid="25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67744" y="2592263"/>
          <a:ext cx="4998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40343" y="260648"/>
            <a:ext cx="8594215" cy="53553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第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五</a:t>
            </a: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阶段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=5)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≤6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908720"/>
          <a:ext cx="484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3857456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15816" y="3481640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3857456"/>
          <a:ext cx="3192024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004"/>
                <a:gridCol w="532004"/>
                <a:gridCol w="532004"/>
                <a:gridCol w="532004"/>
                <a:gridCol w="532004"/>
                <a:gridCol w="5320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34677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5737" y="1700808"/>
            <a:ext cx="496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5</a:t>
            </a:r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j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-1]+1</a:t>
            </a:r>
            <a:endParaRPr lang="en-US" altLang="zh-CN" dirty="0" smtClean="0">
              <a:solidFill>
                <a:schemeClr val="bg2"/>
              </a:solidFill>
            </a:endParaRPr>
          </a:p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5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dirty="0">
                <a:solidFill>
                  <a:schemeClr val="bg2"/>
                </a:solidFill>
              </a:rPr>
              <a:t>max</a:t>
            </a:r>
            <a:r>
              <a:rPr lang="en-US" altLang="zh-CN" b="1" i="1" dirty="0">
                <a:solidFill>
                  <a:schemeClr val="bg2"/>
                </a:solidFill>
              </a:rPr>
              <a:t>{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],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</a:rPr>
              <a:t>-1]}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5451" y="530120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91880" y="530120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95936" y="530120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530120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6056" y="530120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52120" y="530120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76637" y="3789040"/>
            <a:ext cx="3179539" cy="461665"/>
            <a:chOff x="7429947" y="3983831"/>
            <a:chExt cx="3179539" cy="461665"/>
          </a:xfrm>
        </p:grpSpPr>
        <p:sp>
          <p:nvSpPr>
            <p:cNvPr id="26" name="TextBox 25"/>
            <p:cNvSpPr txBox="1"/>
            <p:nvPr/>
          </p:nvSpPr>
          <p:spPr>
            <a:xfrm>
              <a:off x="7429947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5637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6043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649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4055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←</a:t>
              </a:r>
              <a:endParaRPr lang="zh-CN" alt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105430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15815" y="4149080"/>
            <a:ext cx="3190725" cy="461665"/>
            <a:chOff x="3117851" y="6279703"/>
            <a:chExt cx="3190725" cy="461665"/>
          </a:xfrm>
        </p:grpSpPr>
        <p:sp>
          <p:nvSpPr>
            <p:cNvPr id="38" name="TextBox 37"/>
            <p:cNvSpPr txBox="1"/>
            <p:nvPr/>
          </p:nvSpPr>
          <p:spPr>
            <a:xfrm>
              <a:off x="3117851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4428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4833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2440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2845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0452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725606" y="2883325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73678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32040" y="2888561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97814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56176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49942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76637" y="4509120"/>
            <a:ext cx="3190725" cy="461665"/>
            <a:chOff x="6421835" y="5199583"/>
            <a:chExt cx="3190725" cy="461665"/>
          </a:xfrm>
        </p:grpSpPr>
        <p:sp>
          <p:nvSpPr>
            <p:cNvPr id="36" name="TextBox 35"/>
            <p:cNvSpPr txBox="1"/>
            <p:nvPr/>
          </p:nvSpPr>
          <p:spPr>
            <a:xfrm>
              <a:off x="6421835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4826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5232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02838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3244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850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987823" y="4911551"/>
            <a:ext cx="3190725" cy="461665"/>
            <a:chOff x="3117851" y="6423719"/>
            <a:chExt cx="3190725" cy="461665"/>
          </a:xfrm>
        </p:grpSpPr>
        <p:sp>
          <p:nvSpPr>
            <p:cNvPr id="54" name="TextBox 53"/>
            <p:cNvSpPr txBox="1"/>
            <p:nvPr/>
          </p:nvSpPr>
          <p:spPr>
            <a:xfrm>
              <a:off x="3117851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64428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148336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2440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28456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0452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21" grpId="0"/>
      <p:bldP spid="22" grpId="0"/>
      <p:bldP spid="23" grpId="0"/>
      <p:bldP spid="24" grpId="0"/>
      <p:bldP spid="25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67744" y="2592263"/>
          <a:ext cx="4998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40343" y="260648"/>
            <a:ext cx="8594215" cy="53553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第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六</a:t>
            </a: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阶段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=6)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≤6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908720"/>
          <a:ext cx="484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3857456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15816" y="3481640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3857456"/>
          <a:ext cx="3192024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004"/>
                <a:gridCol w="532004"/>
                <a:gridCol w="532004"/>
                <a:gridCol w="532004"/>
                <a:gridCol w="532004"/>
                <a:gridCol w="5320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34677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5737" y="1700808"/>
            <a:ext cx="496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6</a:t>
            </a:r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j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-1]+1</a:t>
            </a:r>
            <a:endParaRPr lang="en-US" altLang="zh-CN" dirty="0" smtClean="0">
              <a:solidFill>
                <a:schemeClr val="bg2"/>
              </a:solidFill>
            </a:endParaRPr>
          </a:p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6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dirty="0">
                <a:solidFill>
                  <a:schemeClr val="bg2"/>
                </a:solidFill>
              </a:rPr>
              <a:t>max</a:t>
            </a:r>
            <a:r>
              <a:rPr lang="en-US" altLang="zh-CN" b="1" i="1" dirty="0">
                <a:solidFill>
                  <a:schemeClr val="bg2"/>
                </a:solidFill>
              </a:rPr>
              <a:t>{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],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</a:rPr>
              <a:t>-1]}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5451" y="563163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91880" y="563163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95936" y="563163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563163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6056" y="563163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52120" y="563163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76637" y="3789040"/>
            <a:ext cx="3179539" cy="461665"/>
            <a:chOff x="7429947" y="3983831"/>
            <a:chExt cx="3179539" cy="461665"/>
          </a:xfrm>
        </p:grpSpPr>
        <p:sp>
          <p:nvSpPr>
            <p:cNvPr id="26" name="TextBox 25"/>
            <p:cNvSpPr txBox="1"/>
            <p:nvPr/>
          </p:nvSpPr>
          <p:spPr>
            <a:xfrm>
              <a:off x="7429947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5637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6043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649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4055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←</a:t>
              </a:r>
              <a:endParaRPr lang="zh-CN" alt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105430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15815" y="4149080"/>
            <a:ext cx="3190725" cy="461665"/>
            <a:chOff x="3117851" y="6279703"/>
            <a:chExt cx="3190725" cy="461665"/>
          </a:xfrm>
        </p:grpSpPr>
        <p:sp>
          <p:nvSpPr>
            <p:cNvPr id="38" name="TextBox 37"/>
            <p:cNvSpPr txBox="1"/>
            <p:nvPr/>
          </p:nvSpPr>
          <p:spPr>
            <a:xfrm>
              <a:off x="3117851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4428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4833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2440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2845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0452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725606" y="2883325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73678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32040" y="2888561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97814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56176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49942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76637" y="4509120"/>
            <a:ext cx="3190725" cy="461665"/>
            <a:chOff x="6421835" y="5199583"/>
            <a:chExt cx="3190725" cy="461665"/>
          </a:xfrm>
        </p:grpSpPr>
        <p:sp>
          <p:nvSpPr>
            <p:cNvPr id="36" name="TextBox 35"/>
            <p:cNvSpPr txBox="1"/>
            <p:nvPr/>
          </p:nvSpPr>
          <p:spPr>
            <a:xfrm>
              <a:off x="6421835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4826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5232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02838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3244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850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987823" y="4911551"/>
            <a:ext cx="3190725" cy="461665"/>
            <a:chOff x="3117851" y="6423719"/>
            <a:chExt cx="3190725" cy="461665"/>
          </a:xfrm>
        </p:grpSpPr>
        <p:sp>
          <p:nvSpPr>
            <p:cNvPr id="54" name="TextBox 53"/>
            <p:cNvSpPr txBox="1"/>
            <p:nvPr/>
          </p:nvSpPr>
          <p:spPr>
            <a:xfrm>
              <a:off x="3117851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64428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148336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2440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28456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0452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915815" y="5271591"/>
            <a:ext cx="3190725" cy="461665"/>
            <a:chOff x="6277819" y="5703639"/>
            <a:chExt cx="3190725" cy="461665"/>
          </a:xfrm>
        </p:grpSpPr>
        <p:sp>
          <p:nvSpPr>
            <p:cNvPr id="60" name="TextBox 59"/>
            <p:cNvSpPr txBox="1"/>
            <p:nvPr/>
          </p:nvSpPr>
          <p:spPr>
            <a:xfrm>
              <a:off x="6277819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80424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308304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88436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388424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6448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21" grpId="0"/>
      <p:bldP spid="22" grpId="0"/>
      <p:bldP spid="23" grpId="0"/>
      <p:bldP spid="24" grpId="0"/>
      <p:bldP spid="25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67744" y="2592263"/>
          <a:ext cx="49981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00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40343" y="260648"/>
            <a:ext cx="8594215" cy="53553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第</a:t>
            </a: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七</a:t>
            </a: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阶段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=7)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b="1" i="1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与</a:t>
            </a:r>
            <a:r>
              <a:rPr lang="en-US" altLang="zh-CN" b="1" i="1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(1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b="1" i="1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≤6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908720"/>
          <a:ext cx="484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3857456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15816" y="3481640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3857456"/>
          <a:ext cx="3192024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004"/>
                <a:gridCol w="532004"/>
                <a:gridCol w="532004"/>
                <a:gridCol w="532004"/>
                <a:gridCol w="532004"/>
                <a:gridCol w="5320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34677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95737" y="1700808"/>
            <a:ext cx="496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7</a:t>
            </a:r>
            <a:r>
              <a:rPr lang="en-US" altLang="zh-CN" dirty="0" smtClean="0">
                <a:solidFill>
                  <a:schemeClr val="bg2"/>
                </a:solidFill>
              </a:rPr>
              <a:t>=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j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 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-1]+1</a:t>
            </a:r>
            <a:endParaRPr lang="en-US" altLang="zh-CN" dirty="0" smtClean="0">
              <a:solidFill>
                <a:schemeClr val="bg2"/>
              </a:solidFill>
            </a:endParaRPr>
          </a:p>
          <a:p>
            <a:r>
              <a:rPr lang="en-US" altLang="zh-CN" b="1" i="1" dirty="0" smtClean="0">
                <a:solidFill>
                  <a:schemeClr val="bg2"/>
                </a:solidFill>
              </a:rPr>
              <a:t>x</a:t>
            </a:r>
            <a:r>
              <a:rPr lang="en-US" altLang="zh-CN" b="1" baseline="-25000" dirty="0" smtClean="0">
                <a:solidFill>
                  <a:schemeClr val="bg2"/>
                </a:solidFill>
              </a:rPr>
              <a:t>7</a:t>
            </a:r>
            <a:r>
              <a:rPr lang="en-US" altLang="zh-CN" dirty="0" smtClean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≠</a:t>
            </a:r>
            <a:r>
              <a:rPr lang="en-US" altLang="zh-CN" b="1" i="1" dirty="0">
                <a:solidFill>
                  <a:schemeClr val="bg2"/>
                </a:solidFill>
              </a:rPr>
              <a:t>y</a:t>
            </a:r>
            <a:r>
              <a:rPr lang="en-US" altLang="zh-CN" b="1" i="1" baseline="-25000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     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]=</a:t>
            </a:r>
            <a:r>
              <a:rPr lang="en-US" altLang="zh-CN" dirty="0">
                <a:solidFill>
                  <a:schemeClr val="bg2"/>
                </a:solidFill>
              </a:rPr>
              <a:t>max</a:t>
            </a:r>
            <a:r>
              <a:rPr lang="en-US" altLang="zh-CN" b="1" i="1" dirty="0">
                <a:solidFill>
                  <a:schemeClr val="bg2"/>
                </a:solidFill>
              </a:rPr>
              <a:t>{</a:t>
            </a:r>
            <a:r>
              <a:rPr lang="en-US" altLang="zh-CN" b="1" i="1" dirty="0" err="1">
                <a:solidFill>
                  <a:schemeClr val="bg2"/>
                </a:solidFill>
              </a:rPr>
              <a:t>dp</a:t>
            </a:r>
            <a:r>
              <a:rPr lang="en-US" altLang="zh-CN" dirty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j</a:t>
            </a:r>
            <a:r>
              <a:rPr lang="en-US" altLang="zh-CN" dirty="0" smtClean="0">
                <a:solidFill>
                  <a:schemeClr val="bg2"/>
                </a:solidFill>
              </a:rPr>
              <a:t>],</a:t>
            </a:r>
            <a:r>
              <a:rPr lang="en-US" altLang="zh-CN" b="1" i="1" dirty="0">
                <a:solidFill>
                  <a:schemeClr val="bg2"/>
                </a:solidFill>
              </a:rPr>
              <a:t>temp</a:t>
            </a:r>
            <a:r>
              <a:rPr lang="en-US" altLang="zh-CN" dirty="0" smtClean="0">
                <a:solidFill>
                  <a:schemeClr val="bg2"/>
                </a:solidFill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</a:rPr>
              <a:t>i</a:t>
            </a:r>
            <a:r>
              <a:rPr lang="en-US" altLang="zh-CN" dirty="0" smtClean="0">
                <a:solidFill>
                  <a:schemeClr val="bg2"/>
                </a:solidFill>
              </a:rPr>
              <a:t>-1]}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5451" y="599167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91880" y="599167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95936" y="599167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599167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6056" y="599167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52120" y="599167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76637" y="3789040"/>
            <a:ext cx="3179539" cy="461665"/>
            <a:chOff x="7429947" y="3983831"/>
            <a:chExt cx="3179539" cy="461665"/>
          </a:xfrm>
        </p:grpSpPr>
        <p:sp>
          <p:nvSpPr>
            <p:cNvPr id="26" name="TextBox 25"/>
            <p:cNvSpPr txBox="1"/>
            <p:nvPr/>
          </p:nvSpPr>
          <p:spPr>
            <a:xfrm>
              <a:off x="7429947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5637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6043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649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4055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←</a:t>
              </a:r>
              <a:endParaRPr lang="zh-CN" alt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105430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15815" y="4149080"/>
            <a:ext cx="3190725" cy="461665"/>
            <a:chOff x="3117851" y="6279703"/>
            <a:chExt cx="3190725" cy="461665"/>
          </a:xfrm>
        </p:grpSpPr>
        <p:sp>
          <p:nvSpPr>
            <p:cNvPr id="38" name="TextBox 37"/>
            <p:cNvSpPr txBox="1"/>
            <p:nvPr/>
          </p:nvSpPr>
          <p:spPr>
            <a:xfrm>
              <a:off x="3117851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4428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4833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2440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2845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0452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725606" y="2883325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1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73678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32040" y="2888561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2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97814" y="2895327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3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56176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49942" y="2901860"/>
            <a:ext cx="41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/>
                </a:solidFill>
              </a:rPr>
              <a:t>4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76637" y="4509120"/>
            <a:ext cx="3190725" cy="461665"/>
            <a:chOff x="6421835" y="5199583"/>
            <a:chExt cx="3190725" cy="461665"/>
          </a:xfrm>
        </p:grpSpPr>
        <p:sp>
          <p:nvSpPr>
            <p:cNvPr id="36" name="TextBox 35"/>
            <p:cNvSpPr txBox="1"/>
            <p:nvPr/>
          </p:nvSpPr>
          <p:spPr>
            <a:xfrm>
              <a:off x="6421835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4826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5232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02838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3244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850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987823" y="4911551"/>
            <a:ext cx="3190725" cy="461665"/>
            <a:chOff x="3117851" y="6423719"/>
            <a:chExt cx="3190725" cy="461665"/>
          </a:xfrm>
        </p:grpSpPr>
        <p:sp>
          <p:nvSpPr>
            <p:cNvPr id="54" name="TextBox 53"/>
            <p:cNvSpPr txBox="1"/>
            <p:nvPr/>
          </p:nvSpPr>
          <p:spPr>
            <a:xfrm>
              <a:off x="3117851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64428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148336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2440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28456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0452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915815" y="5271591"/>
            <a:ext cx="3190725" cy="461665"/>
            <a:chOff x="6277819" y="5703639"/>
            <a:chExt cx="3190725" cy="461665"/>
          </a:xfrm>
        </p:grpSpPr>
        <p:sp>
          <p:nvSpPr>
            <p:cNvPr id="60" name="TextBox 59"/>
            <p:cNvSpPr txBox="1"/>
            <p:nvPr/>
          </p:nvSpPr>
          <p:spPr>
            <a:xfrm>
              <a:off x="6277819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80424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308304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88436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388424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6448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915816" y="5631631"/>
            <a:ext cx="3190725" cy="461665"/>
            <a:chOff x="7645971" y="5784031"/>
            <a:chExt cx="3190725" cy="461665"/>
          </a:xfrm>
        </p:grpSpPr>
        <p:sp>
          <p:nvSpPr>
            <p:cNvPr id="66" name="TextBox 65"/>
            <p:cNvSpPr txBox="1"/>
            <p:nvPr/>
          </p:nvSpPr>
          <p:spPr>
            <a:xfrm>
              <a:off x="7645971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172400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76456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252520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756576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332640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21" grpId="0"/>
      <p:bldP spid="22" grpId="0"/>
      <p:bldP spid="23" grpId="0"/>
      <p:bldP spid="24" grpId="0"/>
      <p:bldP spid="25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40343" y="260648"/>
            <a:ext cx="8594215" cy="49148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marL="15875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结果追踪：</a:t>
            </a:r>
            <a:endParaRPr lang="zh-CN" altLang="en-US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11760" y="908720"/>
          <a:ext cx="48482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  <a:gridCol w="606025"/>
              </a:tblGrid>
              <a:tr h="22391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i="1" dirty="0" err="1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altLang="en-US" i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2391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411757" y="2489304"/>
          <a:ext cx="5760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5-D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7-B</a:t>
                      </a:r>
                      <a:endParaRPr lang="zh-CN" altLang="en-US" b="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915816" y="2113488"/>
          <a:ext cx="3240360" cy="37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0"/>
                <a:gridCol w="540060"/>
                <a:gridCol w="540060"/>
                <a:gridCol w="540060"/>
                <a:gridCol w="540060"/>
                <a:gridCol w="540060"/>
              </a:tblGrid>
              <a:tr h="37581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2-D</a:t>
                      </a:r>
                      <a:endParaRPr lang="en-US" altLang="zh-CN" dirty="0" smtClean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3-C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5-B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6-A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964154" y="2489304"/>
          <a:ext cx="3192024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004"/>
                <a:gridCol w="532004"/>
                <a:gridCol w="532004"/>
                <a:gridCol w="532004"/>
                <a:gridCol w="532004"/>
                <a:gridCol w="5320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chemeClr val="bg2"/>
                          </a:solidFill>
                        </a:ln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483768" y="2099647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 smtClean="0">
                <a:solidFill>
                  <a:schemeClr val="bg2"/>
                </a:solidFill>
              </a:rPr>
              <a:t>M</a:t>
            </a:r>
            <a:endParaRPr lang="zh-CN" altLang="en-US" b="1" i="1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65451" y="4623519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91880" y="4623519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95936" y="4623519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4623519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6056" y="4623519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2"/>
                </a:solidFill>
              </a:rPr>
              <a:t>↖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52120" y="4623519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↑</a:t>
            </a:r>
            <a:endParaRPr lang="zh-CN" altLang="en-US" dirty="0">
              <a:solidFill>
                <a:schemeClr val="bg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76637" y="2420888"/>
            <a:ext cx="3179539" cy="461665"/>
            <a:chOff x="7429947" y="3983831"/>
            <a:chExt cx="3179539" cy="461665"/>
          </a:xfrm>
        </p:grpSpPr>
        <p:sp>
          <p:nvSpPr>
            <p:cNvPr id="26" name="TextBox 25"/>
            <p:cNvSpPr txBox="1"/>
            <p:nvPr/>
          </p:nvSpPr>
          <p:spPr>
            <a:xfrm>
              <a:off x="7429947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5637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6043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6496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540552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←</a:t>
              </a:r>
              <a:endParaRPr lang="zh-CN" alt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105430" y="39838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15815" y="2780928"/>
            <a:ext cx="3190725" cy="461665"/>
            <a:chOff x="3117851" y="6279703"/>
            <a:chExt cx="3190725" cy="461665"/>
          </a:xfrm>
        </p:grpSpPr>
        <p:sp>
          <p:nvSpPr>
            <p:cNvPr id="38" name="TextBox 37"/>
            <p:cNvSpPr txBox="1"/>
            <p:nvPr/>
          </p:nvSpPr>
          <p:spPr>
            <a:xfrm>
              <a:off x="3117851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4428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4833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72440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28456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04520" y="627970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76637" y="3140968"/>
            <a:ext cx="3190725" cy="461665"/>
            <a:chOff x="6421835" y="5199583"/>
            <a:chExt cx="3190725" cy="461665"/>
          </a:xfrm>
        </p:grpSpPr>
        <p:sp>
          <p:nvSpPr>
            <p:cNvPr id="36" name="TextBox 35"/>
            <p:cNvSpPr txBox="1"/>
            <p:nvPr/>
          </p:nvSpPr>
          <p:spPr>
            <a:xfrm>
              <a:off x="6421835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4826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5232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02838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32440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8504" y="5199583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987823" y="3543399"/>
            <a:ext cx="3190725" cy="461665"/>
            <a:chOff x="3117851" y="6423719"/>
            <a:chExt cx="3190725" cy="461665"/>
          </a:xfrm>
        </p:grpSpPr>
        <p:sp>
          <p:nvSpPr>
            <p:cNvPr id="54" name="TextBox 53"/>
            <p:cNvSpPr txBox="1"/>
            <p:nvPr/>
          </p:nvSpPr>
          <p:spPr>
            <a:xfrm>
              <a:off x="3117851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64428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148336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72440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28456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04520" y="642371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←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915815" y="3903439"/>
            <a:ext cx="3190725" cy="461665"/>
            <a:chOff x="6277819" y="5703639"/>
            <a:chExt cx="3190725" cy="461665"/>
          </a:xfrm>
        </p:grpSpPr>
        <p:sp>
          <p:nvSpPr>
            <p:cNvPr id="60" name="TextBox 59"/>
            <p:cNvSpPr txBox="1"/>
            <p:nvPr/>
          </p:nvSpPr>
          <p:spPr>
            <a:xfrm>
              <a:off x="6277819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80424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308304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88436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388424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64488" y="5703639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915816" y="4263479"/>
            <a:ext cx="3190725" cy="461665"/>
            <a:chOff x="7645971" y="5784031"/>
            <a:chExt cx="3190725" cy="461665"/>
          </a:xfrm>
        </p:grpSpPr>
        <p:sp>
          <p:nvSpPr>
            <p:cNvPr id="66" name="TextBox 65"/>
            <p:cNvSpPr txBox="1"/>
            <p:nvPr/>
          </p:nvSpPr>
          <p:spPr>
            <a:xfrm>
              <a:off x="7645971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172400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76456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252520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756576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↑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332640" y="5784031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2"/>
                  </a:solidFill>
                </a:rPr>
                <a:t>↖</a:t>
              </a:r>
              <a:endParaRPr lang="zh-CN" altLang="en-US" dirty="0">
                <a:solidFill>
                  <a:schemeClr val="bg2"/>
                </a:solidFill>
              </a:endParaRPr>
            </a:p>
          </p:txBody>
        </p:sp>
      </p:grpSp>
      <p:sp>
        <p:nvSpPr>
          <p:cNvPr id="17" name="椭圆形标注 16"/>
          <p:cNvSpPr/>
          <p:nvPr/>
        </p:nvSpPr>
        <p:spPr bwMode="auto">
          <a:xfrm>
            <a:off x="7020272" y="1475780"/>
            <a:ext cx="1656184" cy="1535980"/>
          </a:xfrm>
          <a:prstGeom prst="wedgeEllipseCallout">
            <a:avLst>
              <a:gd name="adj1" fmla="val -52584"/>
              <a:gd name="adj2" fmla="val -42838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最长公共子序列长度</a:t>
            </a:r>
            <a:endParaRPr kumimoji="1" lang="zh-CN" altLang="en-US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5652853" y="4725144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椭圆 71"/>
          <p:cNvSpPr/>
          <p:nvPr/>
        </p:nvSpPr>
        <p:spPr bwMode="auto">
          <a:xfrm>
            <a:off x="5661904" y="4365104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70012" y="545147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</a:rPr>
              <a:t>A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73" name="椭圆 72"/>
          <p:cNvSpPr/>
          <p:nvPr/>
        </p:nvSpPr>
        <p:spPr bwMode="auto">
          <a:xfrm>
            <a:off x="5112327" y="4005064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椭圆 73"/>
          <p:cNvSpPr/>
          <p:nvPr/>
        </p:nvSpPr>
        <p:spPr bwMode="auto">
          <a:xfrm>
            <a:off x="5134432" y="3609493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228050" y="54630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</a:rPr>
              <a:t>B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76" name="椭圆 75"/>
          <p:cNvSpPr/>
          <p:nvPr/>
        </p:nvSpPr>
        <p:spPr bwMode="auto">
          <a:xfrm>
            <a:off x="4619190" y="3242593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椭圆 76"/>
          <p:cNvSpPr/>
          <p:nvPr/>
        </p:nvSpPr>
        <p:spPr bwMode="auto">
          <a:xfrm>
            <a:off x="4067944" y="3212976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660460" y="5451474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</a:rPr>
              <a:t>C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79" name="椭圆 78"/>
          <p:cNvSpPr/>
          <p:nvPr/>
        </p:nvSpPr>
        <p:spPr bwMode="auto">
          <a:xfrm>
            <a:off x="3527884" y="2882553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椭圆 79"/>
          <p:cNvSpPr/>
          <p:nvPr/>
        </p:nvSpPr>
        <p:spPr bwMode="auto">
          <a:xfrm>
            <a:off x="3001455" y="2831740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156404" y="547548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2"/>
                </a:solidFill>
              </a:rPr>
              <a:t>B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82" name="椭圆 81"/>
          <p:cNvSpPr/>
          <p:nvPr/>
        </p:nvSpPr>
        <p:spPr bwMode="auto">
          <a:xfrm>
            <a:off x="2663757" y="2330479"/>
            <a:ext cx="432048" cy="360040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2" grpId="0" animBg="1"/>
      <p:bldP spid="19" grpId="0"/>
      <p:bldP spid="73" grpId="0" animBg="1"/>
      <p:bldP spid="74" grpId="0" animBg="1"/>
      <p:bldP spid="75" grpId="0"/>
      <p:bldP spid="76" grpId="0" animBg="1"/>
      <p:bldP spid="77" grpId="0" animBg="1"/>
      <p:bldP spid="78" grpId="0"/>
      <p:bldP spid="79" grpId="0" animBg="1"/>
      <p:bldP spid="80" grpId="0" animBg="1"/>
      <p:bldP spid="81" grpId="0"/>
      <p:bldP spid="8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/>
          <p:nvPr/>
        </p:nvSpPr>
        <p:spPr>
          <a:xfrm>
            <a:off x="500063" y="971391"/>
            <a:ext cx="8143875" cy="532320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3.4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LCS(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 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1.  for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0</a:t>
            </a:r>
            <a:r>
              <a:rPr lang="en-US" altLang="zh-CN" sz="2400" b="1" dirty="0" smtClean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do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2.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3.  for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to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do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4.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temp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[0]=0          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5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．  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for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to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do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6.             if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]=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7.             then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temp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1]+1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8.             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i,j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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 9.           else if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dp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]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temp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1]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10.                 then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temp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12.                  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i,j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12.                 else  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temp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[</a:t>
            </a:r>
            <a:r>
              <a:rPr lang="en-US" altLang="zh-CN" b="1" i="1" dirty="0">
                <a:solidFill>
                  <a:schemeClr val="bg2"/>
                </a:solidFill>
                <a:sym typeface="Symbol" panose="05050102010706020507" pitchFamily="18" charset="2"/>
              </a:rPr>
              <a:t>j</a:t>
            </a:r>
            <a:r>
              <a:rPr lang="en-US" altLang="zh-CN" b="1" dirty="0">
                <a:solidFill>
                  <a:schemeClr val="bg2"/>
                </a:solidFill>
                <a:sym typeface="Symbol" panose="05050102010706020507" pitchFamily="18" charset="2"/>
              </a:rPr>
              <a:t>]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temp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1]  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defTabSz="914400">
              <a:tabLst>
                <a:tab pos="685800" algn="l"/>
                <a:tab pos="838200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13.                        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i,j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0380" y="325755"/>
            <a:ext cx="483044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最长公共子序列动态规划算法</a:t>
            </a:r>
            <a:endParaRPr lang="zh-CN" altLang="en-US" sz="2800" b="1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4756" name="Rectangle 6"/>
          <p:cNvSpPr/>
          <p:nvPr/>
        </p:nvSpPr>
        <p:spPr>
          <a:xfrm>
            <a:off x="392430" y="1720533"/>
            <a:ext cx="8358188" cy="34150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3.5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Structure Sequence(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M, i, 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输入：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输出：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的最长公共子序列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 if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  or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  then  return  //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一个序列为空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 if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=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“↖”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 then  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     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Structure Sequence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B, i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j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1) 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  else  if 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then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Structure Sequence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       else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Structure Sequence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1)   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3.3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动态规划算法</a:t>
            </a:r>
            <a:r>
              <a:rPr kumimoji="0" lang="zh-CN" altLang="en-US" kern="1200" dirty="0">
                <a:solidFill>
                  <a:schemeClr val="accent2"/>
                </a:solidFill>
                <a:sym typeface="+mn-ea"/>
              </a:rPr>
              <a:t>的典型应用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1555115"/>
            <a:ext cx="86106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073150" lvl="2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BatangChe" panose="02030609000101010101" charset="-127"/>
              <a:buChar char="-"/>
            </a:pPr>
            <a:r>
              <a:rPr lang="zh-CN" altLang="en-US" dirty="0">
                <a:solidFill>
                  <a:schemeClr val="bg2"/>
                </a:solidFill>
                <a:ea typeface="+mn-ea"/>
                <a:cs typeface="Times New Roman" panose="02020603050405020304" pitchFamily="18" charset="0"/>
                <a:sym typeface="+mn-ea"/>
              </a:rPr>
              <a:t>算法的时空复杂度</a:t>
            </a:r>
            <a:endParaRPr lang="en-US" altLang="zh-CN" b="1" i="1" dirty="0">
              <a:solidFill>
                <a:schemeClr val="bg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060" y="2089150"/>
            <a:ext cx="3626485" cy="56324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910" y="2652395"/>
            <a:ext cx="1642745" cy="438785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165" y="2673985"/>
            <a:ext cx="713740" cy="41719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3144520"/>
            <a:ext cx="4906010" cy="425450"/>
          </a:xfrm>
          <a:prstGeom prst="rect">
            <a:avLst/>
          </a:prstGeom>
        </p:spPr>
      </p:pic>
      <p:pic>
        <p:nvPicPr>
          <p:cNvPr id="9" name="20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0910" y="3641725"/>
            <a:ext cx="3093720" cy="421005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3545" y="2183130"/>
            <a:ext cx="1916430" cy="375920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0085" y="4214495"/>
            <a:ext cx="5387340" cy="783590"/>
          </a:xfrm>
          <a:prstGeom prst="rect">
            <a:avLst/>
          </a:prstGeom>
        </p:spPr>
      </p:pic>
      <p:pic>
        <p:nvPicPr>
          <p:cNvPr id="13" name="20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0085" y="5122545"/>
            <a:ext cx="3927475" cy="9715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TABLE_BEAUTIFY" val="smartTable{89067d7e-0cdd-4900-b8ed-ebea60d1ee68}"/>
</p:tagLst>
</file>

<file path=ppt/tags/tag2.xml><?xml version="1.0" encoding="utf-8"?>
<p:tagLst xmlns:p="http://schemas.openxmlformats.org/presentationml/2006/main">
  <p:tag name="KSO_WM_UNIT_TABLE_BEAUTIFY" val="smartTable{10b7d5b8-b77b-457c-a55d-72587f05c272}"/>
</p:tagLst>
</file>

<file path=ppt/tags/tag3.xml><?xml version="1.0" encoding="utf-8"?>
<p:tagLst xmlns:p="http://schemas.openxmlformats.org/presentationml/2006/main">
  <p:tag name="KSO_WM_UNIT_TABLE_BEAUTIFY" val="smartTable{b85ff2e2-391f-46ea-af90-810f97f498e7}"/>
</p:tagLst>
</file>

<file path=ppt/tags/tag4.xml><?xml version="1.0" encoding="utf-8"?>
<p:tagLst xmlns:p="http://schemas.openxmlformats.org/presentationml/2006/main">
  <p:tag name="KSO_WM_UNIT_TABLE_BEAUTIFY" val="smartTable{eee2d4a5-d810-43d1-8ebe-364254a6c7eb}"/>
</p:tagLst>
</file>

<file path=ppt/tags/tag5.xml><?xml version="1.0" encoding="utf-8"?>
<p:tagLst xmlns:p="http://schemas.openxmlformats.org/presentationml/2006/main">
  <p:tag name="KSO_WM_UNIT_TABLE_BEAUTIFY" val="smartTable{6c137b77-9732-439c-8a30-3d3bb31e1f33}"/>
</p:tagLst>
</file>

<file path=ppt/tags/tag6.xml><?xml version="1.0" encoding="utf-8"?>
<p:tagLst xmlns:p="http://schemas.openxmlformats.org/presentationml/2006/main">
  <p:tag name="KSO_WM_UNIT_TABLE_BEAUTIFY" val="smartTable{7d4967df-840c-4df2-84ac-b583f87144cc}"/>
</p:tagLst>
</file>

<file path=ppt/tags/tag7.xml><?xml version="1.0" encoding="utf-8"?>
<p:tagLst xmlns:p="http://schemas.openxmlformats.org/presentationml/2006/main">
  <p:tag name="KSO_WM_UNIT_TABLE_BEAUTIFY" val="smartTable{eee2d4a5-d810-43d1-8ebe-364254a6c7eb}"/>
</p:tagLst>
</file>

<file path=ppt/tags/tag8.xml><?xml version="1.0" encoding="utf-8"?>
<p:tagLst xmlns:p="http://schemas.openxmlformats.org/presentationml/2006/main">
  <p:tag name="KSO_WM_UNIT_TABLE_BEAUTIFY" val="smartTable{6c137b77-9732-439c-8a30-3d3bb31e1f33}"/>
</p:tagLst>
</file>

<file path=ppt/tags/tag9.xml><?xml version="1.0" encoding="utf-8"?>
<p:tagLst xmlns:p="http://schemas.openxmlformats.org/presentationml/2006/main">
  <p:tag name="KSO_WM_UNIT_TABLE_BEAUTIFY" val="smartTable{7d4967df-840c-4df2-84ac-b583f87144cc}"/>
</p:tagLst>
</file>

<file path=ppt/tags/tag10.xml><?xml version="1.0" encoding="utf-8"?>
<p:tagLst xmlns:p="http://schemas.openxmlformats.org/presentationml/2006/main">
  <p:tag name="KSO_WM_UNIT_TABLE_BEAUTIFY" val="smartTable{7d4967df-840c-4df2-84ac-b583f87144cc}"/>
</p:tagLst>
</file>

<file path=ppt/tags/tag11.xml><?xml version="1.0" encoding="utf-8"?>
<p:tagLst xmlns:p="http://schemas.openxmlformats.org/presentationml/2006/main">
  <p:tag name="KSO_WM_UNIT_TABLE_BEAUTIFY" val="smartTable{eee2d4a5-d810-43d1-8ebe-364254a6c7eb}"/>
</p:tagLst>
</file>

<file path=ppt/tags/tag12.xml><?xml version="1.0" encoding="utf-8"?>
<p:tagLst xmlns:p="http://schemas.openxmlformats.org/presentationml/2006/main">
  <p:tag name="KSO_WM_UNIT_TABLE_BEAUTIFY" val="smartTable{6c137b77-9732-439c-8a30-3d3bb31e1f33}"/>
</p:tagLst>
</file>

<file path=ppt/tags/tag13.xml><?xml version="1.0" encoding="utf-8"?>
<p:tagLst xmlns:p="http://schemas.openxmlformats.org/presentationml/2006/main">
  <p:tag name="KSO_WM_UNIT_TABLE_BEAUTIFY" val="smartTable{7d4967df-840c-4df2-84ac-b583f87144cc}"/>
</p:tagLst>
</file>

<file path=ppt/tags/tag14.xml><?xml version="1.0" encoding="utf-8"?>
<p:tagLst xmlns:p="http://schemas.openxmlformats.org/presentationml/2006/main">
  <p:tag name="KSO_WM_UNIT_TABLE_BEAUTIFY" val="smartTable{7d4967df-840c-4df2-84ac-b583f87144cc}"/>
</p:tagLst>
</file>

<file path=ppt/tags/tag15.xml><?xml version="1.0" encoding="utf-8"?>
<p:tagLst xmlns:p="http://schemas.openxmlformats.org/presentationml/2006/main">
  <p:tag name="KSO_WM_UNIT_TABLE_BEAUTIFY" val="smartTable{eee2d4a5-d810-43d1-8ebe-364254a6c7eb}"/>
</p:tagLst>
</file>

<file path=ppt/tags/tag16.xml><?xml version="1.0" encoding="utf-8"?>
<p:tagLst xmlns:p="http://schemas.openxmlformats.org/presentationml/2006/main">
  <p:tag name="KSO_WM_UNIT_TABLE_BEAUTIFY" val="smartTable{6c137b77-9732-439c-8a30-3d3bb31e1f33}"/>
</p:tagLst>
</file>

<file path=ppt/tags/tag17.xml><?xml version="1.0" encoding="utf-8"?>
<p:tagLst xmlns:p="http://schemas.openxmlformats.org/presentationml/2006/main">
  <p:tag name="KSO_WM_UNIT_TABLE_BEAUTIFY" val="smartTable{7d4967df-840c-4df2-84ac-b583f87144cc}"/>
</p:tagLst>
</file>

<file path=ppt/tags/tag18.xml><?xml version="1.0" encoding="utf-8"?>
<p:tagLst xmlns:p="http://schemas.openxmlformats.org/presentationml/2006/main">
  <p:tag name="KSO_WM_UNIT_TABLE_BEAUTIFY" val="smartTable{7d4967df-840c-4df2-84ac-b583f87144cc}"/>
</p:tagLst>
</file>

<file path=ppt/tags/tag19.xml><?xml version="1.0" encoding="utf-8"?>
<p:tagLst xmlns:p="http://schemas.openxmlformats.org/presentationml/2006/main">
  <p:tag name="KSO_WM_UNIT_TABLE_BEAUTIFY" val="smartTable{7d4967df-840c-4df2-84ac-b583f87144cc}"/>
</p:tagLst>
</file>

<file path=ppt/tags/tag20.xml><?xml version="1.0" encoding="utf-8"?>
<p:tagLst xmlns:p="http://schemas.openxmlformats.org/presentationml/2006/main">
  <p:tag name="KSO_WM_UNIT_TABLE_BEAUTIFY" val="smartTable{6c137b77-9732-439c-8a30-3d3bb31e1f33}"/>
</p:tagLst>
</file>

<file path=ppt/tags/tag21.xml><?xml version="1.0" encoding="utf-8"?>
<p:tagLst xmlns:p="http://schemas.openxmlformats.org/presentationml/2006/main">
  <p:tag name="KSO_WM_UNIT_TABLE_BEAUTIFY" val="smartTable{6c137b77-9732-439c-8a30-3d3bb31e1f33}"/>
</p:tagLst>
</file>

<file path=ppt/tags/tag22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9737</Words>
  <Application>WPS 演示</Application>
  <PresentationFormat>全屏显示(4:3)</PresentationFormat>
  <Paragraphs>4752</Paragraphs>
  <Slides>49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49</vt:i4>
      </vt:variant>
    </vt:vector>
  </HeadingPairs>
  <TitlesOfParts>
    <vt:vector size="65" baseType="lpstr">
      <vt:lpstr>Arial</vt:lpstr>
      <vt:lpstr>宋体</vt:lpstr>
      <vt:lpstr>Wingdings</vt:lpstr>
      <vt:lpstr>Times New Roman</vt:lpstr>
      <vt:lpstr>Consolas</vt:lpstr>
      <vt:lpstr>微软雅黑</vt:lpstr>
      <vt:lpstr>Wingdings</vt:lpstr>
      <vt:lpstr>BatangChe</vt:lpstr>
      <vt:lpstr>Malgun Gothic</vt:lpstr>
      <vt:lpstr>Symbol</vt:lpstr>
      <vt:lpstr>Arial Unicode MS</vt:lpstr>
      <vt:lpstr>幼圆</vt:lpstr>
      <vt:lpstr>1_个人主页 (标准)</vt:lpstr>
      <vt:lpstr>Equation.3</vt:lpstr>
      <vt:lpstr>Equation.3</vt:lpstr>
      <vt:lpstr>Equation.3</vt:lpstr>
      <vt:lpstr>3.3 动态规划算法的典型应用</vt:lpstr>
      <vt:lpstr>3.3 动态规划算法的典型应用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3.3 动态规划算法的典型应用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动态规划算法的典型应用</vt:lpstr>
      <vt:lpstr>3.3 动态规划算法的典型应用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1205</cp:revision>
  <cp:lastPrinted>1995-12-08T18:33:00Z</cp:lastPrinted>
  <dcterms:created xsi:type="dcterms:W3CDTF">2000-10-31T09:27:00Z</dcterms:created>
  <dcterms:modified xsi:type="dcterms:W3CDTF">2022-04-19T14:38:49Z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D97091215E3244AD96003C13B13EF2B1</vt:lpwstr>
  </property>
</Properties>
</file>