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615" r:id="rId3"/>
    <p:sldId id="644" r:id="rId4"/>
    <p:sldId id="645" r:id="rId5"/>
    <p:sldId id="646" r:id="rId6"/>
    <p:sldId id="616" r:id="rId7"/>
    <p:sldId id="647" r:id="rId8"/>
    <p:sldId id="558" r:id="rId9"/>
    <p:sldId id="559" r:id="rId10"/>
    <p:sldId id="560" r:id="rId11"/>
    <p:sldId id="561" r:id="rId12"/>
    <p:sldId id="562" r:id="rId13"/>
    <p:sldId id="563" r:id="rId14"/>
    <p:sldId id="564" r:id="rId15"/>
    <p:sldId id="565" r:id="rId16"/>
    <p:sldId id="566" r:id="rId17"/>
    <p:sldId id="567" r:id="rId18"/>
    <p:sldId id="568" r:id="rId19"/>
    <p:sldId id="569" r:id="rId20"/>
    <p:sldId id="570" r:id="rId21"/>
    <p:sldId id="571" r:id="rId22"/>
    <p:sldId id="572" r:id="rId23"/>
    <p:sldId id="573" r:id="rId24"/>
    <p:sldId id="574" r:id="rId25"/>
    <p:sldId id="575" r:id="rId26"/>
    <p:sldId id="576" r:id="rId27"/>
    <p:sldId id="577" r:id="rId28"/>
    <p:sldId id="578" r:id="rId29"/>
    <p:sldId id="579" r:id="rId30"/>
    <p:sldId id="580" r:id="rId31"/>
    <p:sldId id="541" r:id="rId32"/>
    <p:sldId id="542" r:id="rId33"/>
    <p:sldId id="543" r:id="rId34"/>
    <p:sldId id="544" r:id="rId35"/>
  </p:sldIdLst>
  <p:sldSz cx="9144000" cy="6858000" type="screen4x3"/>
  <p:notesSz cx="6934200" cy="9398000"/>
  <p:custDataLst>
    <p:tags r:id="rId41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0099"/>
    <a:srgbClr val="CCCCFF"/>
    <a:srgbClr val="CC99FF"/>
    <a:srgbClr val="FFCCFF"/>
    <a:srgbClr val="CCECFF"/>
    <a:srgbClr val="DFC0FF"/>
    <a:srgbClr val="9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3"/>
    <p:restoredTop sz="94608"/>
  </p:normalViewPr>
  <p:slideViewPr>
    <p:cSldViewPr showGuides="1">
      <p:cViewPr varScale="1">
        <p:scale>
          <a:sx n="80" d="100"/>
          <a:sy n="80" d="100"/>
        </p:scale>
        <p:origin x="-1188" y="-96"/>
      </p:cViewPr>
      <p:guideLst>
        <p:guide orient="horz" pos="2200"/>
        <p:guide pos="28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gs" Target="tags/tag1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handoutMaster" Target="handoutMasters/handoutMaster1.xml"/><Relationship Id="rId36" Type="http://schemas.openxmlformats.org/officeDocument/2006/relationships/notesMaster" Target="notesMasters/notesMaster1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7" name="Rectangle 3"/>
          <p:cNvSpPr>
            <a:spLocks noGrp="1" noRot="1" noChangeAspect="1"/>
          </p:cNvSpPr>
          <p:nvPr>
            <p:ph type="sldImg" idx="2"/>
          </p:nvPr>
        </p:nvSpPr>
        <p:spPr>
          <a:xfrm>
            <a:off x="1079500" y="685800"/>
            <a:ext cx="4775200" cy="358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95800"/>
            <a:ext cx="5105400" cy="419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3"/>
          <p:cNvSpPr>
            <a:spLocks noChangeArrowheads="1"/>
          </p:cNvSpPr>
          <p:nvPr/>
        </p:nvSpPr>
        <p:spPr bwMode="auto">
          <a:xfrm rot="20940000">
            <a:off x="1828800" y="304800"/>
            <a:ext cx="457200" cy="4572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AutoShape 24"/>
          <p:cNvSpPr>
            <a:spLocks noChangeArrowheads="1"/>
          </p:cNvSpPr>
          <p:nvPr/>
        </p:nvSpPr>
        <p:spPr bwMode="auto">
          <a:xfrm>
            <a:off x="2609850" y="171450"/>
            <a:ext cx="419100" cy="4191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AutoShape 25"/>
          <p:cNvSpPr>
            <a:spLocks noChangeArrowheads="1"/>
          </p:cNvSpPr>
          <p:nvPr/>
        </p:nvSpPr>
        <p:spPr bwMode="auto">
          <a:xfrm rot="20940000">
            <a:off x="1752600" y="228600"/>
            <a:ext cx="457200" cy="4572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AutoShape 26"/>
          <p:cNvSpPr>
            <a:spLocks noChangeArrowheads="1"/>
          </p:cNvSpPr>
          <p:nvPr/>
        </p:nvSpPr>
        <p:spPr bwMode="auto">
          <a:xfrm>
            <a:off x="2533650" y="19050"/>
            <a:ext cx="419100" cy="4191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4" name="Group 27"/>
          <p:cNvGrpSpPr/>
          <p:nvPr/>
        </p:nvGrpSpPr>
        <p:grpSpPr>
          <a:xfrm>
            <a:off x="6934200" y="5181600"/>
            <a:ext cx="2033588" cy="1219200"/>
            <a:chOff x="4368" y="3264"/>
            <a:chExt cx="1281" cy="768"/>
          </a:xfrm>
        </p:grpSpPr>
        <p:sp>
          <p:nvSpPr>
            <p:cNvPr id="24" name="AutoShape 28"/>
            <p:cNvSpPr>
              <a:spLocks noChangeArrowheads="1"/>
            </p:cNvSpPr>
            <p:nvPr/>
          </p:nvSpPr>
          <p:spPr bwMode="auto">
            <a:xfrm rot="20940000">
              <a:off x="4368" y="3681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AutoShape 29"/>
            <p:cNvSpPr>
              <a:spLocks noChangeArrowheads="1"/>
            </p:cNvSpPr>
            <p:nvPr/>
          </p:nvSpPr>
          <p:spPr bwMode="auto">
            <a:xfrm>
              <a:off x="4845" y="3324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 rot="1320000">
              <a:off x="5217" y="3264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AutoShape 31"/>
            <p:cNvSpPr>
              <a:spLocks noChangeArrowheads="1"/>
            </p:cNvSpPr>
            <p:nvPr/>
          </p:nvSpPr>
          <p:spPr bwMode="auto">
            <a:xfrm rot="20940000">
              <a:off x="4449" y="3744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AutoShape 32"/>
            <p:cNvSpPr>
              <a:spLocks noChangeArrowheads="1"/>
            </p:cNvSpPr>
            <p:nvPr/>
          </p:nvSpPr>
          <p:spPr bwMode="auto">
            <a:xfrm>
              <a:off x="4893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AutoShape 33"/>
            <p:cNvSpPr>
              <a:spLocks noChangeArrowheads="1"/>
            </p:cNvSpPr>
            <p:nvPr/>
          </p:nvSpPr>
          <p:spPr bwMode="auto">
            <a:xfrm rot="1320000">
              <a:off x="5265" y="3360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" name="AutoShape 34"/>
          <p:cNvSpPr>
            <a:spLocks noChangeArrowheads="1"/>
          </p:cNvSpPr>
          <p:nvPr/>
        </p:nvSpPr>
        <p:spPr bwMode="auto">
          <a:xfrm rot="1320000">
            <a:off x="168275" y="244475"/>
            <a:ext cx="882650" cy="88265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2667000"/>
            <a:ext cx="6400800" cy="32766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3091" name="Rectangle 1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144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76200" y="6323013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246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228600"/>
            <a:ext cx="7772400" cy="579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0" name="Rectangle 16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1031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2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>
              <a:gd name="T0" fmla="*/ 350 w 351"/>
              <a:gd name="T1" fmla="*/ 1 h 219"/>
              <a:gd name="T2" fmla="*/ 101 w 351"/>
              <a:gd name="T3" fmla="*/ 0 h 219"/>
              <a:gd name="T4" fmla="*/ 81 w 351"/>
              <a:gd name="T5" fmla="*/ 2 h 219"/>
              <a:gd name="T6" fmla="*/ 67 w 351"/>
              <a:gd name="T7" fmla="*/ 6 h 219"/>
              <a:gd name="T8" fmla="*/ 51 w 351"/>
              <a:gd name="T9" fmla="*/ 15 h 219"/>
              <a:gd name="T10" fmla="*/ 38 w 351"/>
              <a:gd name="T11" fmla="*/ 25 h 219"/>
              <a:gd name="T12" fmla="*/ 28 w 351"/>
              <a:gd name="T13" fmla="*/ 35 h 219"/>
              <a:gd name="T14" fmla="*/ 19 w 351"/>
              <a:gd name="T15" fmla="*/ 48 h 219"/>
              <a:gd name="T16" fmla="*/ 12 w 351"/>
              <a:gd name="T17" fmla="*/ 59 h 219"/>
              <a:gd name="T18" fmla="*/ 6 w 351"/>
              <a:gd name="T19" fmla="*/ 73 h 219"/>
              <a:gd name="T20" fmla="*/ 1 w 351"/>
              <a:gd name="T21" fmla="*/ 89 h 219"/>
              <a:gd name="T22" fmla="*/ 1 w 351"/>
              <a:gd name="T23" fmla="*/ 99 h 219"/>
              <a:gd name="T24" fmla="*/ 0 w 351"/>
              <a:gd name="T25" fmla="*/ 119 h 219"/>
              <a:gd name="T26" fmla="*/ 2 w 351"/>
              <a:gd name="T27" fmla="*/ 136 h 219"/>
              <a:gd name="T28" fmla="*/ 9 w 351"/>
              <a:gd name="T29" fmla="*/ 150 h 219"/>
              <a:gd name="T30" fmla="*/ 15 w 351"/>
              <a:gd name="T31" fmla="*/ 164 h 219"/>
              <a:gd name="T32" fmla="*/ 24 w 351"/>
              <a:gd name="T33" fmla="*/ 176 h 219"/>
              <a:gd name="T34" fmla="*/ 33 w 351"/>
              <a:gd name="T35" fmla="*/ 189 h 219"/>
              <a:gd name="T36" fmla="*/ 46 w 351"/>
              <a:gd name="T37" fmla="*/ 198 h 219"/>
              <a:gd name="T38" fmla="*/ 59 w 351"/>
              <a:gd name="T39" fmla="*/ 207 h 219"/>
              <a:gd name="T40" fmla="*/ 72 w 351"/>
              <a:gd name="T41" fmla="*/ 212 h 219"/>
              <a:gd name="T42" fmla="*/ 90 w 351"/>
              <a:gd name="T43" fmla="*/ 218 h 219"/>
              <a:gd name="T44" fmla="*/ 350 w 351"/>
              <a:gd name="T45" fmla="*/ 218 h 219"/>
              <a:gd name="T46" fmla="*/ 35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>
              <a:gd name="T0" fmla="*/ 0 w 351"/>
              <a:gd name="T1" fmla="*/ 1 h 219"/>
              <a:gd name="T2" fmla="*/ 249 w 351"/>
              <a:gd name="T3" fmla="*/ 0 h 219"/>
              <a:gd name="T4" fmla="*/ 268 w 351"/>
              <a:gd name="T5" fmla="*/ 3 h 219"/>
              <a:gd name="T6" fmla="*/ 283 w 351"/>
              <a:gd name="T7" fmla="*/ 6 h 219"/>
              <a:gd name="T8" fmla="*/ 298 w 351"/>
              <a:gd name="T9" fmla="*/ 16 h 219"/>
              <a:gd name="T10" fmla="*/ 311 w 351"/>
              <a:gd name="T11" fmla="*/ 26 h 219"/>
              <a:gd name="T12" fmla="*/ 321 w 351"/>
              <a:gd name="T13" fmla="*/ 35 h 219"/>
              <a:gd name="T14" fmla="*/ 331 w 351"/>
              <a:gd name="T15" fmla="*/ 48 h 219"/>
              <a:gd name="T16" fmla="*/ 337 w 351"/>
              <a:gd name="T17" fmla="*/ 60 h 219"/>
              <a:gd name="T18" fmla="*/ 344 w 351"/>
              <a:gd name="T19" fmla="*/ 74 h 219"/>
              <a:gd name="T20" fmla="*/ 349 w 351"/>
              <a:gd name="T21" fmla="*/ 90 h 219"/>
              <a:gd name="T22" fmla="*/ 349 w 351"/>
              <a:gd name="T23" fmla="*/ 100 h 219"/>
              <a:gd name="T24" fmla="*/ 350 w 351"/>
              <a:gd name="T25" fmla="*/ 119 h 219"/>
              <a:gd name="T26" fmla="*/ 347 w 351"/>
              <a:gd name="T27" fmla="*/ 136 h 219"/>
              <a:gd name="T28" fmla="*/ 341 w 351"/>
              <a:gd name="T29" fmla="*/ 151 h 219"/>
              <a:gd name="T30" fmla="*/ 334 w 351"/>
              <a:gd name="T31" fmla="*/ 165 h 219"/>
              <a:gd name="T32" fmla="*/ 325 w 351"/>
              <a:gd name="T33" fmla="*/ 176 h 219"/>
              <a:gd name="T34" fmla="*/ 316 w 351"/>
              <a:gd name="T35" fmla="*/ 189 h 219"/>
              <a:gd name="T36" fmla="*/ 303 w 351"/>
              <a:gd name="T37" fmla="*/ 199 h 219"/>
              <a:gd name="T38" fmla="*/ 290 w 351"/>
              <a:gd name="T39" fmla="*/ 208 h 219"/>
              <a:gd name="T40" fmla="*/ 277 w 351"/>
              <a:gd name="T41" fmla="*/ 213 h 219"/>
              <a:gd name="T42" fmla="*/ 259 w 351"/>
              <a:gd name="T43" fmla="*/ 218 h 219"/>
              <a:gd name="T44" fmla="*/ 0 w 351"/>
              <a:gd name="T45" fmla="*/ 218 h 219"/>
              <a:gd name="T46" fmla="*/ 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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emf"/><Relationship Id="rId1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2.3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改进分治算法的途径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7109" name="内容占位符 4"/>
          <p:cNvSpPr>
            <a:spLocks noGrp="1"/>
          </p:cNvSpPr>
          <p:nvPr>
            <p:ph idx="1"/>
          </p:nvPr>
        </p:nvSpPr>
        <p:spPr>
          <a:xfrm>
            <a:off x="407035" y="1604963"/>
            <a:ext cx="8329613" cy="4929187"/>
          </a:xfrm>
          <a:solidFill>
            <a:schemeClr val="tx1"/>
          </a:solidFill>
        </p:spPr>
        <p:txBody>
          <a:bodyPr vert="horz" wrap="square" lIns="91440" tIns="45720" rIns="91440" bIns="45720" anchor="t"/>
          <a:lstStyle/>
          <a:p>
            <a:pPr marL="170815" indent="-17081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bg2"/>
                </a:solidFill>
                <a:latin typeface="宋体" panose="02010600030101010101" pitchFamily="2" charset="-122"/>
                <a:sym typeface="+mn-ea"/>
              </a:rPr>
              <a:t>平面点对问题算法描述：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MinDistance(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P,X,Y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400" b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输入：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个点的集合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P,  X 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分别为横、纵坐标数组</a:t>
            </a:r>
            <a:endParaRPr lang="en-US" altLang="zh-CN" sz="2400" b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输出：最近的两个点及距离</a:t>
            </a:r>
            <a:endParaRPr lang="zh-CN" altLang="en-US" sz="2400" b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中点数小于等于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，则直接计算其中的最小距离</a:t>
            </a:r>
            <a:endParaRPr lang="zh-CN" altLang="en-US" sz="2400" b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排序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endParaRPr lang="en-US" altLang="zh-CN" sz="2400" b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8765" indent="-278765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3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．做垂直线 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划分为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的点在 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左边，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的点  </a:t>
            </a:r>
            <a:endParaRPr lang="zh-CN" altLang="en-US" sz="2400" b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在 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右边</a:t>
            </a:r>
            <a:endParaRPr lang="zh-CN" altLang="en-US" sz="2400" b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MinDidtance(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中的最小距离</a:t>
            </a:r>
            <a:endParaRPr lang="zh-CN" altLang="en-US" sz="2400" b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MinDistance(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中的最小距离</a:t>
            </a:r>
            <a:endParaRPr lang="zh-CN" altLang="en-US" sz="2400" b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min (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endParaRPr lang="en-US" altLang="zh-CN" sz="2400" b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7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．对于在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线左边距离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内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每个点， 检查右边是否有与之</a:t>
            </a:r>
            <a:endParaRPr lang="en-US" altLang="zh-CN" sz="2400" b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距离小于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的点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，如果存在则将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修改为新值</a:t>
            </a:r>
            <a:endParaRPr lang="zh-CN" altLang="en-US" sz="2400" b="0" dirty="0">
              <a:solidFill>
                <a:schemeClr val="bg2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7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7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7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7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7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71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71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71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1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对象 2"/>
          <p:cNvGraphicFramePr/>
          <p:nvPr/>
        </p:nvGraphicFramePr>
        <p:xfrm>
          <a:off x="2271395" y="1412875"/>
          <a:ext cx="4744720" cy="4304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4977130" imgH="5058410" progId="Visio.Drawing.11">
                  <p:embed/>
                </p:oleObj>
              </mc:Choice>
              <mc:Fallback>
                <p:oleObj name="" r:id="rId1" imgW="4977130" imgH="5058410" progId="Visio.Drawing.11">
                  <p:embed/>
                  <p:pic>
                    <p:nvPicPr>
                      <p:cNvPr id="0" name="20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71395" y="1412875"/>
                        <a:ext cx="4744720" cy="4304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750" y="260985"/>
            <a:ext cx="7772400" cy="855345"/>
          </a:xfrm>
        </p:spPr>
        <p:txBody>
          <a:bodyPr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2.3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改进分治算法的途径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112010" y="2205990"/>
            <a:ext cx="2371725" cy="2883535"/>
          </a:xfrm>
          <a:prstGeom prst="rect">
            <a:avLst/>
          </a:prstGeom>
          <a:noFill/>
          <a:ln w="12700" cap="sq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12010" y="5089525"/>
            <a:ext cx="21920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1</a:t>
            </a:r>
            <a:r>
              <a:rPr lang="zh-CN" altLang="en-US">
                <a:solidFill>
                  <a:schemeClr val="bg1"/>
                </a:solidFill>
              </a:rPr>
              <a:t>、找出左边点的最短距离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i="1" baseline="-25000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L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44390" y="2205990"/>
            <a:ext cx="2371725" cy="2883535"/>
          </a:xfrm>
          <a:prstGeom prst="rect">
            <a:avLst/>
          </a:prstGeom>
          <a:noFill/>
          <a:ln w="12700" cap="sq" cmpd="sng" algn="ctr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16145" y="5086350"/>
            <a:ext cx="21920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2</a:t>
            </a:r>
            <a:r>
              <a:rPr lang="zh-CN" altLang="en-US">
                <a:solidFill>
                  <a:schemeClr val="bg1"/>
                </a:solidFill>
              </a:rPr>
              <a:t>、找出右边点的最短距离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i="1" baseline="-25000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R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32585" y="5949950"/>
            <a:ext cx="5838190" cy="4603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3</a:t>
            </a:r>
            <a:r>
              <a:rPr lang="zh-CN" altLang="en-US">
                <a:solidFill>
                  <a:schemeClr val="bg1"/>
                </a:solidFill>
              </a:rPr>
              <a:t>、找出左、右边点的最短距离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—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基准</a:t>
            </a:r>
            <a:endParaRPr lang="zh-CN" altLang="en-US" dirty="0">
              <a:solidFill>
                <a:schemeClr val="bg2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36010" y="2205990"/>
            <a:ext cx="1829435" cy="2883535"/>
          </a:xfrm>
          <a:prstGeom prst="rect">
            <a:avLst/>
          </a:prstGeom>
          <a:noFill/>
          <a:ln w="28575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4636135" y="2132330"/>
            <a:ext cx="800100" cy="635"/>
          </a:xfrm>
          <a:prstGeom prst="straightConnector1">
            <a:avLst/>
          </a:prstGeom>
          <a:ln>
            <a:headEnd type="none" w="sm" len="sm"/>
            <a:tailEnd type="arrow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835525" y="1691640"/>
            <a:ext cx="33401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 flipH="1">
            <a:off x="3670935" y="2132330"/>
            <a:ext cx="828675" cy="0"/>
          </a:xfrm>
          <a:prstGeom prst="straightConnector1">
            <a:avLst/>
          </a:prstGeom>
          <a:ln>
            <a:headEnd type="none" w="sm" len="sm"/>
            <a:tailEnd type="arrow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3970020" y="1744345"/>
            <a:ext cx="33401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176770" y="1744345"/>
            <a:ext cx="1948815" cy="119888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4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  <a:r>
              <a:rPr lang="zh-CN">
                <a:solidFill>
                  <a:schemeClr val="bg1"/>
                </a:solidFill>
              </a:rPr>
              <a:t>找出跨</a:t>
            </a:r>
            <a:r>
              <a:rPr lang="en-US" altLang="zh-CN" i="1">
                <a:solidFill>
                  <a:schemeClr val="bg1"/>
                </a:solidFill>
              </a:rPr>
              <a:t>l</a:t>
            </a:r>
            <a:r>
              <a:rPr lang="zh-CN" altLang="en-US">
                <a:solidFill>
                  <a:schemeClr val="bg1"/>
                </a:solidFill>
              </a:rPr>
              <a:t>的距离小于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zh-CN" altLang="en-US">
                <a:solidFill>
                  <a:schemeClr val="bg1"/>
                </a:solidFill>
              </a:rPr>
              <a:t>的点对</a:t>
            </a:r>
            <a:endParaRPr lang="zh-CN" altLang="en-US" dirty="0">
              <a:solidFill>
                <a:schemeClr val="bg1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5" grpId="1" animBg="1"/>
      <p:bldP spid="6" grpId="1"/>
      <p:bldP spid="7" grpId="0" animBg="1"/>
      <p:bldP spid="8" grpId="0"/>
      <p:bldP spid="7" grpId="1" animBg="1"/>
      <p:bldP spid="8" grpId="1"/>
      <p:bldP spid="9" grpId="0" animBg="1"/>
      <p:bldP spid="9" grpId="1" animBg="1"/>
      <p:bldP spid="14" grpId="0"/>
      <p:bldP spid="14" grpId="1"/>
      <p:bldP spid="12" grpId="0"/>
      <p:bldP spid="12" grpId="1"/>
      <p:bldP spid="10" grpId="0" animBg="1"/>
      <p:bldP spid="10" grpId="1" animBg="1"/>
      <p:bldP spid="15" grpId="0" bldLvl="0" animBg="1"/>
      <p:bldP spid="15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322580"/>
            <a:ext cx="7772400" cy="849630"/>
          </a:xfrm>
        </p:spPr>
        <p:txBody>
          <a:bodyPr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2.3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改进分治算法的途径</a:t>
            </a:r>
            <a:endParaRPr lang="zh-CN" altLang="en-US"/>
          </a:p>
        </p:txBody>
      </p:sp>
      <p:graphicFrame>
        <p:nvGraphicFramePr>
          <p:cNvPr id="3" name="对象 2"/>
          <p:cNvGraphicFramePr/>
          <p:nvPr/>
        </p:nvGraphicFramePr>
        <p:xfrm>
          <a:off x="2195830" y="1341120"/>
          <a:ext cx="4744720" cy="4304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4977130" imgH="5058410" progId="Visio.Drawing.11">
                  <p:embed/>
                </p:oleObj>
              </mc:Choice>
              <mc:Fallback>
                <p:oleObj name="" r:id="rId1" imgW="4977130" imgH="5058410" progId="Visio.Drawing.11">
                  <p:embed/>
                  <p:pic>
                    <p:nvPicPr>
                      <p:cNvPr id="0" name="20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95830" y="1341120"/>
                        <a:ext cx="4744720" cy="4304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标注 4"/>
          <p:cNvSpPr/>
          <p:nvPr/>
        </p:nvSpPr>
        <p:spPr>
          <a:xfrm>
            <a:off x="251460" y="4149090"/>
            <a:ext cx="2891155" cy="492760"/>
          </a:xfrm>
          <a:prstGeom prst="wedgeRectCallout">
            <a:avLst>
              <a:gd name="adj1" fmla="val 61750"/>
              <a:gd name="adj2" fmla="val -95973"/>
            </a:avLst>
          </a:prstGeom>
          <a:noFill/>
          <a:ln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左边最多</a:t>
            </a:r>
            <a:r>
              <a:rPr kumimoji="1" lang="en-US" altLang="zh-CN" sz="2400" b="0" i="1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/2</a:t>
            </a:r>
            <a:r>
              <a: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个点。</a:t>
            </a: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835525" y="1763395"/>
            <a:ext cx="33401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886200" y="1746885"/>
            <a:ext cx="33401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endParaRPr lang="zh-CN" altLang="en-US"/>
          </a:p>
        </p:txBody>
      </p:sp>
      <p:sp>
        <p:nvSpPr>
          <p:cNvPr id="7" name="矩形标注 6"/>
          <p:cNvSpPr/>
          <p:nvPr/>
        </p:nvSpPr>
        <p:spPr>
          <a:xfrm>
            <a:off x="6012180" y="4653280"/>
            <a:ext cx="2891790" cy="565150"/>
          </a:xfrm>
          <a:prstGeom prst="wedgeRectCallout">
            <a:avLst>
              <a:gd name="adj1" fmla="val -63228"/>
              <a:gd name="adj2" fmla="val -112079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右边最多</a:t>
            </a:r>
            <a:r>
              <a:rPr kumimoji="1" lang="en-US" altLang="zh-CN" sz="2400" b="0" i="1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/2</a:t>
            </a:r>
            <a:r>
              <a: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个点。</a:t>
            </a: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7210" y="5516880"/>
            <a:ext cx="8070215" cy="4603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2"/>
                </a:solidFill>
              </a:rPr>
              <a:t>思考：是否需要将左边的</a:t>
            </a:r>
            <a:r>
              <a:rPr lang="en-US" altLang="zh-CN" i="1">
                <a:solidFill>
                  <a:schemeClr val="bg2"/>
                </a:solidFill>
              </a:rPr>
              <a:t>n</a:t>
            </a:r>
            <a:r>
              <a:rPr lang="en-US" altLang="zh-CN">
                <a:solidFill>
                  <a:schemeClr val="bg2"/>
                </a:solidFill>
              </a:rPr>
              <a:t>/2</a:t>
            </a:r>
            <a:r>
              <a:rPr lang="zh-CN" altLang="en-US">
                <a:solidFill>
                  <a:schemeClr val="bg2"/>
                </a:solidFill>
              </a:rPr>
              <a:t>个点和右边的</a:t>
            </a:r>
            <a:r>
              <a:rPr lang="en-US" altLang="zh-CN" i="1">
                <a:solidFill>
                  <a:schemeClr val="bg2"/>
                </a:solidFill>
              </a:rPr>
              <a:t>n</a:t>
            </a:r>
            <a:r>
              <a:rPr lang="en-US" altLang="zh-CN">
                <a:solidFill>
                  <a:schemeClr val="bg2"/>
                </a:solidFill>
              </a:rPr>
              <a:t>/2</a:t>
            </a:r>
            <a:r>
              <a:rPr lang="zh-CN" altLang="en-US">
                <a:solidFill>
                  <a:schemeClr val="bg2"/>
                </a:solidFill>
              </a:rPr>
              <a:t>都算一遍呢？</a:t>
            </a:r>
            <a:endParaRPr lang="zh-CN" altLang="en-US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1"/>
      <p:bldP spid="6" grpId="1"/>
      <p:bldP spid="5" grpId="0" animBg="1"/>
      <p:bldP spid="5" grpId="1" animBg="1"/>
      <p:bldP spid="7" grpId="0" animBg="1"/>
      <p:bldP spid="8" grpId="0" animBg="1"/>
      <p:bldP spid="8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360" y="405130"/>
            <a:ext cx="7772400" cy="863600"/>
          </a:xfrm>
        </p:spPr>
        <p:txBody>
          <a:bodyPr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2.3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改进分治算法的途径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11505" y="1701165"/>
            <a:ext cx="7753985" cy="82994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p>
            <a:r>
              <a:rPr lang="zh-CN">
                <a:solidFill>
                  <a:schemeClr val="bg2"/>
                </a:solidFill>
              </a:rPr>
              <a:t>从左边区域任取一点</a:t>
            </a:r>
            <a:r>
              <a:rPr lang="en-US" altLang="zh-CN" i="1">
                <a:solidFill>
                  <a:schemeClr val="bg2"/>
                </a:solidFill>
              </a:rPr>
              <a:t>x</a:t>
            </a:r>
            <a:r>
              <a:rPr lang="en-US" altLang="zh-CN">
                <a:solidFill>
                  <a:schemeClr val="bg2"/>
                </a:solidFill>
              </a:rPr>
              <a:t>(</a:t>
            </a:r>
            <a:r>
              <a:rPr lang="en-US" altLang="zh-CN" i="1">
                <a:solidFill>
                  <a:schemeClr val="bg2"/>
                </a:solidFill>
              </a:rPr>
              <a:t>x</a:t>
            </a:r>
            <a:r>
              <a:rPr lang="en-US" altLang="zh-CN" baseline="-25000">
                <a:solidFill>
                  <a:schemeClr val="bg2"/>
                </a:solidFill>
              </a:rPr>
              <a:t>i</a:t>
            </a:r>
            <a:r>
              <a:rPr lang="en-US" altLang="zh-CN">
                <a:solidFill>
                  <a:schemeClr val="bg2"/>
                </a:solidFill>
              </a:rPr>
              <a:t>,</a:t>
            </a:r>
            <a:r>
              <a:rPr lang="en-US" altLang="zh-CN" i="1">
                <a:solidFill>
                  <a:schemeClr val="bg2"/>
                </a:solidFill>
              </a:rPr>
              <a:t>y</a:t>
            </a:r>
            <a:r>
              <a:rPr lang="en-US" altLang="zh-CN" baseline="-25000">
                <a:solidFill>
                  <a:schemeClr val="bg2"/>
                </a:solidFill>
              </a:rPr>
              <a:t>i</a:t>
            </a:r>
            <a:r>
              <a:rPr lang="en-US" altLang="zh-CN">
                <a:solidFill>
                  <a:schemeClr val="bg2"/>
                </a:solidFill>
              </a:rPr>
              <a:t>)</a:t>
            </a:r>
            <a:r>
              <a:rPr lang="zh-CN" altLang="en-US">
                <a:solidFill>
                  <a:schemeClr val="bg2"/>
                </a:solidFill>
              </a:rPr>
              <a:t>，右边最多有多少个点和</a:t>
            </a:r>
            <a:r>
              <a:rPr lang="en-US" altLang="zh-CN" i="1">
                <a:solidFill>
                  <a:schemeClr val="bg2"/>
                </a:solidFill>
              </a:rPr>
              <a:t>x</a:t>
            </a:r>
            <a:r>
              <a:rPr lang="zh-CN" altLang="en-US">
                <a:solidFill>
                  <a:schemeClr val="bg2"/>
                </a:solidFill>
              </a:rPr>
              <a:t>的距离会小于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zh-CN" altLang="en-US" b="1" dirty="0">
                <a:solidFill>
                  <a:schemeClr val="bg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呢？</a:t>
            </a:r>
            <a:endParaRPr lang="zh-CN" altLang="en-US" b="1" dirty="0">
              <a:solidFill>
                <a:schemeClr val="bg2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2195830" y="1988820"/>
          <a:ext cx="4991735" cy="4462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4977130" imgH="5058410" progId="Visio.Drawing.11">
                  <p:embed/>
                </p:oleObj>
              </mc:Choice>
              <mc:Fallback>
                <p:oleObj name="" r:id="rId1" imgW="4977130" imgH="5058410" progId="Visio.Drawing.11">
                  <p:embed/>
                  <p:pic>
                    <p:nvPicPr>
                      <p:cNvPr id="0" name="20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95830" y="1988820"/>
                        <a:ext cx="4991735" cy="44621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4979035" y="2480945"/>
            <a:ext cx="33401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644390" y="3539490"/>
            <a:ext cx="1157605" cy="126174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634230" y="4215765"/>
            <a:ext cx="2611120" cy="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ot"/>
            <a:headEnd type="none" w="sm" len="sm"/>
            <a:tailEnd type="non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7236460" y="3933190"/>
            <a:ext cx="41719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aseline="-25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zh-CN" baseline="-25000" dirty="0">
              <a:solidFill>
                <a:srgbClr val="FF000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7347585" y="3557905"/>
            <a:ext cx="0" cy="478155"/>
          </a:xfrm>
          <a:prstGeom prst="straightConnector1">
            <a:avLst/>
          </a:prstGeom>
          <a:ln>
            <a:headEnd type="none" w="sm" len="sm"/>
            <a:tailEnd type="arrow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7330440" y="3540760"/>
            <a:ext cx="33401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endParaRPr lang="zh-CN" altLang="en-US"/>
          </a:p>
        </p:txBody>
      </p:sp>
      <p:cxnSp>
        <p:nvCxnSpPr>
          <p:cNvPr id="15" name="直接箭头连接符 14"/>
          <p:cNvCxnSpPr/>
          <p:nvPr/>
        </p:nvCxnSpPr>
        <p:spPr>
          <a:xfrm>
            <a:off x="7380605" y="4342130"/>
            <a:ext cx="0" cy="403860"/>
          </a:xfrm>
          <a:prstGeom prst="straightConnector1">
            <a:avLst/>
          </a:prstGeom>
          <a:ln>
            <a:headEnd type="none" w="sm" len="sm"/>
            <a:tailEnd type="arrow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7385685" y="4241800"/>
            <a:ext cx="33401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83260" y="5661660"/>
            <a:ext cx="7753985" cy="82994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p>
            <a:r>
              <a:rPr lang="zh-CN">
                <a:solidFill>
                  <a:schemeClr val="bg2"/>
                </a:solidFill>
              </a:rPr>
              <a:t>问题转换为：右边的一个长为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高为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2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的区域中有多少个点与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距离小于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？</a:t>
            </a:r>
            <a:endParaRPr lang="zh-CN" altLang="en-US" dirty="0">
              <a:solidFill>
                <a:schemeClr val="bg2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  <p:bldP spid="11" grpId="0"/>
      <p:bldP spid="11" grpId="1"/>
      <p:bldP spid="14" grpId="0"/>
      <p:bldP spid="14" grpId="1"/>
      <p:bldP spid="16" grpId="0"/>
      <p:bldP spid="16" grpId="1"/>
      <p:bldP spid="9" grpId="0" animBg="1"/>
      <p:bldP spid="9" grpId="1" animBg="1"/>
      <p:bldP spid="17" grpId="0" bldLvl="0" animBg="1"/>
      <p:bldP spid="1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2.3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改进分治算法的途径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614805"/>
            <a:ext cx="254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2"/>
                </a:solidFill>
              </a:rPr>
              <a:t>跨边界处理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0985" y="1955800"/>
            <a:ext cx="2833370" cy="2651760"/>
          </a:xfrm>
          <a:prstGeom prst="rect">
            <a:avLst/>
          </a:prstGeom>
        </p:spPr>
      </p:pic>
      <p:pic>
        <p:nvPicPr>
          <p:cNvPr id="11" name="20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635" y="2314575"/>
            <a:ext cx="2924175" cy="193357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83895" y="4725670"/>
            <a:ext cx="7640955" cy="156845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2"/>
                </a:solidFill>
              </a:rPr>
              <a:t>右边每个小方格至多1个点，每个点至多比较对面的6个点， 检查1 个点是常数时间</a:t>
            </a:r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</a:rPr>
              <a:t>O</a:t>
            </a:r>
            <a:r>
              <a:rPr lang="zh-CN" altLang="en-US">
                <a:solidFill>
                  <a:schemeClr val="bg2"/>
                </a:solidFill>
              </a:rPr>
              <a:t>(</a:t>
            </a:r>
            <a:r>
              <a:rPr lang="en-US" altLang="zh-CN" b="1">
                <a:solidFill>
                  <a:schemeClr val="bg2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>
                <a:solidFill>
                  <a:schemeClr val="bg2"/>
                </a:solidFill>
              </a:rPr>
              <a:t>)。</a:t>
            </a:r>
            <a:endParaRPr lang="zh-CN" altLang="en-US">
              <a:solidFill>
                <a:schemeClr val="bg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2"/>
                </a:solidFill>
              </a:rPr>
              <a:t>左边最多</a:t>
            </a:r>
            <a:r>
              <a:rPr lang="en-US" altLang="zh-CN">
                <a:solidFill>
                  <a:schemeClr val="bg2"/>
                </a:solidFill>
              </a:rPr>
              <a:t>n/2</a:t>
            </a:r>
            <a:r>
              <a:rPr lang="zh-CN" altLang="en-US">
                <a:solidFill>
                  <a:schemeClr val="bg2"/>
                </a:solidFill>
              </a:rPr>
              <a:t>个点，每个点都最多需要计算</a:t>
            </a:r>
            <a:r>
              <a:rPr lang="en-US" altLang="zh-CN">
                <a:solidFill>
                  <a:schemeClr val="bg2"/>
                </a:solidFill>
              </a:rPr>
              <a:t>6</a:t>
            </a:r>
            <a:r>
              <a:rPr lang="zh-CN" altLang="en-US">
                <a:solidFill>
                  <a:schemeClr val="bg2"/>
                </a:solidFill>
              </a:rPr>
              <a:t>个点，因此跨两边检测的时间复杂度</a:t>
            </a:r>
            <a:r>
              <a:rPr lang="zh-CN" altLang="en-US">
                <a:solidFill>
                  <a:schemeClr val="bg2"/>
                </a:solidFill>
              </a:rPr>
              <a:t>为</a:t>
            </a:r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</a:rPr>
              <a:t>O</a:t>
            </a:r>
            <a:r>
              <a:rPr lang="zh-CN" altLang="en-US">
                <a:solidFill>
                  <a:schemeClr val="bg2"/>
                </a:solidFill>
              </a:rPr>
              <a:t>(</a:t>
            </a:r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</a:rPr>
              <a:t>n</a:t>
            </a:r>
            <a:r>
              <a:rPr lang="zh-CN" altLang="en-US">
                <a:solidFill>
                  <a:schemeClr val="bg2"/>
                </a:solidFill>
              </a:rPr>
              <a:t>)。</a:t>
            </a:r>
            <a:endParaRPr lang="zh-CN" altLang="en-US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 uiExpand="1" build="p"/>
      <p:bldP spid="1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2.3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改进分治算法的途径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67360" y="1845310"/>
            <a:ext cx="7640955" cy="392811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p>
            <a:pPr marL="342900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>
                <a:solidFill>
                  <a:schemeClr val="bg2"/>
                </a:solidFill>
              </a:rPr>
              <a:t>算法中需要对横纵坐标集合</a:t>
            </a:r>
            <a:r>
              <a:rPr lang="en-US" altLang="zh-CN" i="1">
                <a:solidFill>
                  <a:schemeClr val="bg2"/>
                </a:solidFill>
              </a:rPr>
              <a:t>X</a:t>
            </a:r>
            <a:r>
              <a:rPr lang="zh-CN" altLang="en-US">
                <a:solidFill>
                  <a:schemeClr val="bg2"/>
                </a:solidFill>
              </a:rPr>
              <a:t>、</a:t>
            </a:r>
            <a:r>
              <a:rPr lang="en-US" altLang="zh-CN" i="1">
                <a:solidFill>
                  <a:schemeClr val="bg2"/>
                </a:solidFill>
              </a:rPr>
              <a:t>Y</a:t>
            </a:r>
            <a:r>
              <a:rPr lang="zh-CN" altLang="en-US">
                <a:solidFill>
                  <a:schemeClr val="bg2"/>
                </a:solidFill>
              </a:rPr>
              <a:t>进行排序的</a:t>
            </a:r>
            <a:r>
              <a:rPr lang="zh-CN" altLang="en-US">
                <a:solidFill>
                  <a:schemeClr val="bg2"/>
                </a:solidFill>
              </a:rPr>
              <a:t>原因：</a:t>
            </a:r>
            <a:endParaRPr lang="zh-CN" altLang="en-US">
              <a:solidFill>
                <a:schemeClr val="bg2"/>
              </a:solidFill>
            </a:endParaRPr>
          </a:p>
          <a:p>
            <a:pPr marL="639445" indent="-2984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2"/>
                </a:solidFill>
              </a:rPr>
              <a:t>横坐标</a:t>
            </a:r>
            <a:r>
              <a:rPr lang="en-US" altLang="zh-CN" i="1">
                <a:solidFill>
                  <a:schemeClr val="bg2"/>
                </a:solidFill>
              </a:rPr>
              <a:t>X</a:t>
            </a:r>
            <a:r>
              <a:rPr lang="zh-CN" altLang="en-US">
                <a:solidFill>
                  <a:schemeClr val="bg2"/>
                </a:solidFill>
              </a:rPr>
              <a:t>集合排序的原因是：需要找出所有横坐标的中位数</a:t>
            </a:r>
            <a:r>
              <a:rPr lang="en-US" altLang="zh-CN" i="1">
                <a:solidFill>
                  <a:schemeClr val="bg2"/>
                </a:solidFill>
              </a:rPr>
              <a:t>l</a:t>
            </a:r>
            <a:r>
              <a:rPr lang="zh-CN" altLang="en-US">
                <a:solidFill>
                  <a:schemeClr val="bg2"/>
                </a:solidFill>
              </a:rPr>
              <a:t>，然后将所有点按照</a:t>
            </a:r>
            <a:r>
              <a:rPr lang="en-US" altLang="zh-CN" i="1">
                <a:solidFill>
                  <a:schemeClr val="bg2"/>
                </a:solidFill>
              </a:rPr>
              <a:t>l</a:t>
            </a:r>
            <a:r>
              <a:rPr lang="zh-CN" altLang="en-US">
                <a:solidFill>
                  <a:schemeClr val="bg2"/>
                </a:solidFill>
              </a:rPr>
              <a:t>划分成左右两个大致相当的集合</a:t>
            </a:r>
            <a:r>
              <a:rPr lang="en-US" altLang="zh-CN">
                <a:solidFill>
                  <a:schemeClr val="bg2"/>
                </a:solidFill>
              </a:rPr>
              <a:t>——</a:t>
            </a:r>
            <a:r>
              <a:rPr lang="zh-CN" altLang="en-US">
                <a:solidFill>
                  <a:schemeClr val="bg2"/>
                </a:solidFill>
              </a:rPr>
              <a:t>实现</a:t>
            </a:r>
            <a:r>
              <a:rPr lang="zh-CN" altLang="en-US">
                <a:solidFill>
                  <a:schemeClr val="bg2"/>
                </a:solidFill>
              </a:rPr>
              <a:t>分治。</a:t>
            </a:r>
            <a:endParaRPr lang="zh-CN" altLang="en-US">
              <a:solidFill>
                <a:schemeClr val="bg2"/>
              </a:solidFill>
            </a:endParaRPr>
          </a:p>
          <a:p>
            <a:pPr marL="639445" indent="-2984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2"/>
                </a:solidFill>
              </a:rPr>
              <a:t>纵坐标</a:t>
            </a:r>
            <a:r>
              <a:rPr lang="en-US" altLang="zh-CN" i="1">
                <a:solidFill>
                  <a:schemeClr val="bg2"/>
                </a:solidFill>
              </a:rPr>
              <a:t>Y</a:t>
            </a:r>
            <a:r>
              <a:rPr lang="zh-CN" altLang="en-US">
                <a:solidFill>
                  <a:schemeClr val="bg2"/>
                </a:solidFill>
              </a:rPr>
              <a:t>进行排序的原因就是能够快速找到与左边点</a:t>
            </a:r>
            <a:r>
              <a:rPr lang="en-US" altLang="zh-CN" i="1">
                <a:solidFill>
                  <a:schemeClr val="bg2"/>
                </a:solidFill>
              </a:rPr>
              <a:t>x</a:t>
            </a:r>
            <a:r>
              <a:rPr lang="en-US" altLang="zh-CN">
                <a:solidFill>
                  <a:schemeClr val="bg2"/>
                </a:solidFill>
              </a:rPr>
              <a:t>(</a:t>
            </a:r>
            <a:r>
              <a:rPr lang="en-US" altLang="zh-CN" i="1">
                <a:solidFill>
                  <a:schemeClr val="bg2"/>
                </a:solidFill>
              </a:rPr>
              <a:t>x</a:t>
            </a:r>
            <a:r>
              <a:rPr lang="en-US" altLang="zh-CN" i="1" baseline="-25000">
                <a:solidFill>
                  <a:schemeClr val="bg2"/>
                </a:solidFill>
              </a:rPr>
              <a:t>i</a:t>
            </a:r>
            <a:r>
              <a:rPr lang="en-US" altLang="zh-CN">
                <a:solidFill>
                  <a:schemeClr val="bg2"/>
                </a:solidFill>
              </a:rPr>
              <a:t>,</a:t>
            </a:r>
            <a:r>
              <a:rPr lang="en-US" altLang="zh-CN" i="1">
                <a:solidFill>
                  <a:schemeClr val="bg2"/>
                </a:solidFill>
              </a:rPr>
              <a:t>y</a:t>
            </a:r>
            <a:r>
              <a:rPr lang="en-US" altLang="zh-CN" i="1" baseline="-25000">
                <a:solidFill>
                  <a:schemeClr val="bg2"/>
                </a:solidFill>
              </a:rPr>
              <a:t>i</a:t>
            </a:r>
            <a:r>
              <a:rPr lang="en-US" altLang="zh-CN">
                <a:solidFill>
                  <a:schemeClr val="bg2"/>
                </a:solidFill>
              </a:rPr>
              <a:t>)</a:t>
            </a:r>
            <a:r>
              <a:rPr lang="zh-CN" altLang="en-US">
                <a:solidFill>
                  <a:schemeClr val="bg2"/>
                </a:solidFill>
              </a:rPr>
              <a:t>在纵坐标上距离为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的，即快速找到纵坐标范围在（</a:t>
            </a:r>
            <a:r>
              <a:rPr lang="en-US" altLang="zh-CN" i="1">
                <a:solidFill>
                  <a:schemeClr val="bg2"/>
                </a:solidFill>
                <a:sym typeface="+mn-ea"/>
              </a:rPr>
              <a:t>y</a:t>
            </a:r>
            <a:r>
              <a:rPr lang="en-US" altLang="zh-CN" i="1" baseline="-25000">
                <a:solidFill>
                  <a:schemeClr val="bg2"/>
                </a:solidFill>
                <a:sym typeface="+mn-ea"/>
              </a:rPr>
              <a:t>i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-,</a:t>
            </a:r>
            <a:r>
              <a:rPr lang="en-US" altLang="zh-CN" i="1">
                <a:solidFill>
                  <a:schemeClr val="bg2"/>
                </a:solidFill>
                <a:sym typeface="+mn-ea"/>
              </a:rPr>
              <a:t>y</a:t>
            </a:r>
            <a:r>
              <a:rPr lang="en-US" altLang="zh-CN" i="1" baseline="-25000">
                <a:solidFill>
                  <a:schemeClr val="bg2"/>
                </a:solidFill>
                <a:sym typeface="+mn-ea"/>
              </a:rPr>
              <a:t>i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+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），排序后这些纵坐标是连续排列的。</a:t>
            </a:r>
            <a:endParaRPr lang="zh-CN" altLang="en-US" dirty="0">
              <a:solidFill>
                <a:schemeClr val="bg2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 uiExpand="1" build="p"/>
      <p:bldP spid="13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2.3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改进分治算法的途径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614805"/>
            <a:ext cx="254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2"/>
                </a:solidFill>
              </a:rPr>
              <a:t>算法分析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5" name="20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7760" y="1785620"/>
            <a:ext cx="3990975" cy="2562225"/>
          </a:xfrm>
          <a:prstGeom prst="rect">
            <a:avLst/>
          </a:prstGeom>
        </p:spPr>
      </p:pic>
      <p:pic>
        <p:nvPicPr>
          <p:cNvPr id="6" name="20 5"/>
          <p:cNvPicPr>
            <a:picLocks noChangeAspect="1"/>
          </p:cNvPicPr>
          <p:nvPr/>
        </p:nvPicPr>
        <p:blipFill>
          <a:blip r:embed="rId2"/>
          <a:srcRect b="16175"/>
          <a:stretch>
            <a:fillRect/>
          </a:stretch>
        </p:blipFill>
        <p:spPr>
          <a:xfrm>
            <a:off x="1427480" y="4442460"/>
            <a:ext cx="3648075" cy="974090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480" y="5615940"/>
            <a:ext cx="3867150" cy="4381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528310" y="4586605"/>
            <a:ext cx="291655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Arial" panose="020B0604020202020204" pitchFamily="34" charset="0"/>
            </a:pPr>
            <a:r>
              <a:rPr lang="zh-CN" altLang="en-US">
                <a:solidFill>
                  <a:schemeClr val="bg2"/>
                </a:solidFill>
              </a:rPr>
              <a:t>不能使用主方法求解，不符合情形</a:t>
            </a:r>
            <a:r>
              <a:rPr lang="en-US" altLang="zh-CN">
                <a:solidFill>
                  <a:schemeClr val="bg2"/>
                </a:solidFill>
              </a:rPr>
              <a:t>3</a:t>
            </a:r>
            <a:endParaRPr lang="en-US" altLang="zh-CN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2.3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改进分治算法的途径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614805"/>
            <a:ext cx="8107680" cy="28301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</a:rPr>
              <a:t>改进方法：增加预处理</a:t>
            </a:r>
            <a:endParaRPr lang="zh-CN" altLang="en-US" dirty="0">
              <a:solidFill>
                <a:schemeClr val="bg2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dirty="0">
                <a:solidFill>
                  <a:schemeClr val="bg2"/>
                </a:solidFill>
              </a:rPr>
              <a:t>（</a:t>
            </a:r>
            <a:r>
              <a:rPr lang="en-US" altLang="zh-CN" dirty="0">
                <a:solidFill>
                  <a:schemeClr val="bg2"/>
                </a:solidFill>
              </a:rPr>
              <a:t>1</a:t>
            </a:r>
            <a:r>
              <a:rPr lang="zh-CN" altLang="en-US" dirty="0">
                <a:solidFill>
                  <a:schemeClr val="bg2"/>
                </a:solidFill>
              </a:rPr>
              <a:t>）原算法效率低的原因：在每次划分时对子问题数组重新</a:t>
            </a:r>
            <a:r>
              <a:rPr lang="zh-CN" altLang="en-US" b="1" dirty="0">
                <a:solidFill>
                  <a:srgbClr val="FF0000"/>
                </a:solidFill>
              </a:rPr>
              <a:t>排序</a:t>
            </a:r>
            <a:r>
              <a:rPr lang="zh-CN" altLang="en-US" dirty="0">
                <a:solidFill>
                  <a:schemeClr val="bg2"/>
                </a:solidFill>
              </a:rPr>
              <a:t>。</a:t>
            </a:r>
            <a:endParaRPr lang="zh-CN" altLang="en-US" dirty="0">
              <a:solidFill>
                <a:schemeClr val="bg2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dirty="0">
                <a:solidFill>
                  <a:schemeClr val="bg2"/>
                </a:solidFill>
              </a:rPr>
              <a:t>（</a:t>
            </a:r>
            <a:r>
              <a:rPr lang="en-US" altLang="zh-CN" dirty="0">
                <a:solidFill>
                  <a:schemeClr val="bg2"/>
                </a:solidFill>
              </a:rPr>
              <a:t>2</a:t>
            </a:r>
            <a:r>
              <a:rPr lang="zh-CN" altLang="en-US" dirty="0">
                <a:solidFill>
                  <a:schemeClr val="bg2"/>
                </a:solidFill>
              </a:rPr>
              <a:t>）改进策略</a:t>
            </a:r>
            <a:endParaRPr lang="zh-CN" altLang="en-US" dirty="0">
              <a:solidFill>
                <a:schemeClr val="bg2"/>
              </a:solidFill>
            </a:endParaRPr>
          </a:p>
          <a:p>
            <a:pPr marL="710565" lvl="1" indent="-25273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*"/>
            </a:pP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</a:rPr>
              <a:t>在递归前对 </a:t>
            </a:r>
            <a:r>
              <a:rPr lang="zh-CN" altLang="en-US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</a:rPr>
              <a:t>,</a:t>
            </a:r>
            <a:r>
              <a:rPr lang="zh-CN" altLang="en-US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</a:rPr>
              <a:t>  排序，作为预处理</a:t>
            </a:r>
            <a:endParaRPr lang="zh-CN" altLang="en-US" dirty="0">
              <a:solidFill>
                <a:schemeClr val="bg2"/>
              </a:solidFill>
              <a:cs typeface="Times New Roman" panose="02020603050405020304" pitchFamily="18" charset="0"/>
            </a:endParaRPr>
          </a:p>
          <a:p>
            <a:pPr marL="710565" lvl="1" indent="-25273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*"/>
            </a:pP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</a:rPr>
              <a:t>划分时对排序的数组 </a:t>
            </a:r>
            <a:r>
              <a:rPr lang="zh-CN" altLang="en-US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</a:rPr>
              <a:t>，</a:t>
            </a:r>
            <a:r>
              <a:rPr lang="zh-CN" altLang="en-US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</a:rPr>
              <a:t> 进行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拆分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</a:rPr>
              <a:t>，得到针对子问题 </a:t>
            </a:r>
            <a:r>
              <a:rPr lang="zh-CN" altLang="en-US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b="1" i="1" baseline="-25000" dirty="0">
                <a:solidFill>
                  <a:schemeClr val="bg2"/>
                </a:solidFill>
                <a:cs typeface="Times New Roman" panose="02020603050405020304" pitchFamily="18" charset="0"/>
              </a:rPr>
              <a:t>L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</a:rPr>
              <a:t>的数组 </a:t>
            </a:r>
            <a:r>
              <a:rPr lang="zh-CN" altLang="en-US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 i="1" baseline="-25000" dirty="0">
                <a:solidFill>
                  <a:schemeClr val="bg2"/>
                </a:solidFill>
                <a:cs typeface="Times New Roman" panose="02020603050405020304" pitchFamily="18" charset="0"/>
              </a:rPr>
              <a:t>L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</a:rPr>
              <a:t> ,</a:t>
            </a:r>
            <a:r>
              <a:rPr lang="zh-CN" altLang="en-US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b="1" i="1" baseline="-25000" dirty="0">
                <a:solidFill>
                  <a:schemeClr val="bg2"/>
                </a:solidFill>
                <a:cs typeface="Times New Roman" panose="02020603050405020304" pitchFamily="18" charset="0"/>
              </a:rPr>
              <a:t>L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</a:rPr>
              <a:t>  针对子问题 </a:t>
            </a:r>
            <a:r>
              <a:rPr lang="zh-CN" altLang="en-US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b="1" i="1" baseline="-25000" dirty="0">
                <a:solidFill>
                  <a:schemeClr val="bg2"/>
                </a:solidFill>
                <a:cs typeface="Times New Roman" panose="02020603050405020304" pitchFamily="18" charset="0"/>
              </a:rPr>
              <a:t>R</a:t>
            </a:r>
            <a:r>
              <a:rPr lang="zh-CN" altLang="en-US" baseline="-25000" dirty="0">
                <a:solidFill>
                  <a:schemeClr val="bg2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</a:rPr>
              <a:t>的数组 </a:t>
            </a:r>
            <a:r>
              <a:rPr lang="zh-CN" altLang="en-US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 i="1" baseline="-25000" dirty="0">
                <a:solidFill>
                  <a:schemeClr val="bg2"/>
                </a:solidFill>
                <a:cs typeface="Times New Roman" panose="02020603050405020304" pitchFamily="18" charset="0"/>
              </a:rPr>
              <a:t>R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</a:rPr>
              <a:t> ,</a:t>
            </a:r>
            <a:r>
              <a:rPr lang="zh-CN" altLang="en-US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b="1" i="1" baseline="-25000" dirty="0">
                <a:solidFill>
                  <a:schemeClr val="bg2"/>
                </a:solidFill>
                <a:cs typeface="Times New Roman" panose="02020603050405020304" pitchFamily="18" charset="0"/>
              </a:rPr>
              <a:t>R</a:t>
            </a:r>
            <a:endParaRPr lang="zh-CN" altLang="en-US" b="1" i="1" baseline="-25000" dirty="0">
              <a:solidFill>
                <a:schemeClr val="bg2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42010" y="4622800"/>
            <a:ext cx="58273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原问题规模为 </a:t>
            </a:r>
            <a:r>
              <a:rPr lang="zh-CN" altLang="en-US" b="1" i="1">
                <a:solidFill>
                  <a:schemeClr val="bg2"/>
                </a:solidFill>
              </a:rPr>
              <a:t>n</a:t>
            </a:r>
            <a:r>
              <a:rPr lang="zh-CN" altLang="en-US">
                <a:solidFill>
                  <a:schemeClr val="bg2"/>
                </a:solidFill>
              </a:rPr>
              <a:t> ，拆分的时间为</a:t>
            </a:r>
            <a:r>
              <a:rPr lang="zh-CN" altLang="en-US" b="1" i="1">
                <a:solidFill>
                  <a:schemeClr val="bg2"/>
                </a:solidFill>
              </a:rPr>
              <a:t>O</a:t>
            </a:r>
            <a:r>
              <a:rPr lang="zh-CN" altLang="en-US">
                <a:solidFill>
                  <a:schemeClr val="bg2"/>
                </a:solidFill>
              </a:rPr>
              <a:t>(</a:t>
            </a:r>
            <a:r>
              <a:rPr lang="zh-CN" altLang="en-US" b="1" i="1">
                <a:solidFill>
                  <a:schemeClr val="bg2"/>
                </a:solidFill>
              </a:rPr>
              <a:t>n</a:t>
            </a:r>
            <a:r>
              <a:rPr lang="zh-CN" altLang="en-US">
                <a:solidFill>
                  <a:schemeClr val="bg2"/>
                </a:solidFill>
              </a:rPr>
              <a:t>)</a:t>
            </a:r>
            <a:endParaRPr lang="zh-CN" altLang="en-US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2.3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改进分治算法的途径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614805"/>
            <a:ext cx="81076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>
                <a:solidFill>
                  <a:schemeClr val="bg2"/>
                </a:solidFill>
              </a:rPr>
              <a:t>（</a:t>
            </a:r>
            <a:r>
              <a:rPr lang="en-US" altLang="zh-CN">
                <a:solidFill>
                  <a:schemeClr val="bg2"/>
                </a:solidFill>
              </a:rPr>
              <a:t>3</a:t>
            </a:r>
            <a:r>
              <a:rPr lang="zh-CN" altLang="en-US">
                <a:solidFill>
                  <a:schemeClr val="bg2"/>
                </a:solidFill>
              </a:rPr>
              <a:t>）实例：递归中的拆分</a:t>
            </a:r>
            <a:endParaRPr lang="zh-CN" altLang="en-US" b="1" i="1" baseline="-25000">
              <a:solidFill>
                <a:schemeClr val="bg2"/>
              </a:solidFill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778" y="2108815"/>
            <a:ext cx="2571750" cy="384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922" y="2060848"/>
            <a:ext cx="4114800" cy="145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997" y="3501008"/>
            <a:ext cx="4438650" cy="116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4725144"/>
            <a:ext cx="4867275" cy="10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2.3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改进分治算法的途径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614805"/>
            <a:ext cx="81076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>
                <a:solidFill>
                  <a:schemeClr val="bg2"/>
                </a:solidFill>
              </a:rPr>
              <a:t>（</a:t>
            </a:r>
            <a:r>
              <a:rPr lang="en-US" altLang="zh-CN">
                <a:solidFill>
                  <a:schemeClr val="bg2"/>
                </a:solidFill>
              </a:rPr>
              <a:t>4</a:t>
            </a:r>
            <a:r>
              <a:rPr lang="zh-CN" altLang="en-US">
                <a:solidFill>
                  <a:schemeClr val="bg2"/>
                </a:solidFill>
              </a:rPr>
              <a:t>）改进算法时间复杂度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rcRect t="3164" b="73938"/>
          <a:stretch>
            <a:fillRect/>
          </a:stretch>
        </p:blipFill>
        <p:spPr>
          <a:xfrm>
            <a:off x="1607185" y="2044700"/>
            <a:ext cx="4895850" cy="817880"/>
          </a:xfrm>
          <a:prstGeom prst="rect">
            <a:avLst/>
          </a:prstGeom>
        </p:spPr>
      </p:pic>
      <p:pic>
        <p:nvPicPr>
          <p:cNvPr id="6" name="20 5"/>
          <p:cNvPicPr>
            <a:picLocks noChangeAspect="1"/>
          </p:cNvPicPr>
          <p:nvPr/>
        </p:nvPicPr>
        <p:blipFill>
          <a:blip r:embed="rId1"/>
          <a:srcRect t="72107"/>
          <a:stretch>
            <a:fillRect/>
          </a:stretch>
        </p:blipFill>
        <p:spPr>
          <a:xfrm>
            <a:off x="1607185" y="4620895"/>
            <a:ext cx="4895850" cy="996315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1"/>
          <a:srcRect l="16148" t="32000" r="19144" b="57920"/>
          <a:stretch>
            <a:fillRect/>
          </a:stretch>
        </p:blipFill>
        <p:spPr>
          <a:xfrm>
            <a:off x="2254250" y="3034030"/>
            <a:ext cx="3168015" cy="360045"/>
          </a:xfrm>
          <a:prstGeom prst="rect">
            <a:avLst/>
          </a:prstGeom>
        </p:spPr>
      </p:pic>
      <p:pic>
        <p:nvPicPr>
          <p:cNvPr id="8" name="20 7"/>
          <p:cNvPicPr>
            <a:picLocks noChangeAspect="1"/>
          </p:cNvPicPr>
          <p:nvPr/>
        </p:nvPicPr>
        <p:blipFill>
          <a:blip r:embed="rId1"/>
          <a:srcRect l="17147" t="42738" r="22283" b="33351"/>
          <a:stretch>
            <a:fillRect/>
          </a:stretch>
        </p:blipFill>
        <p:spPr>
          <a:xfrm>
            <a:off x="2254250" y="3521075"/>
            <a:ext cx="2965450" cy="854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2.3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改进分治算法的途径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614805"/>
            <a:ext cx="81076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>
                <a:solidFill>
                  <a:schemeClr val="bg2"/>
                </a:solidFill>
              </a:rPr>
              <a:t>小结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5" name="20 4"/>
          <p:cNvPicPr>
            <a:picLocks noChangeAspect="1"/>
          </p:cNvPicPr>
          <p:nvPr/>
        </p:nvPicPr>
        <p:blipFill>
          <a:blip r:embed="rId1"/>
          <a:srcRect b="66485"/>
          <a:stretch>
            <a:fillRect/>
          </a:stretch>
        </p:blipFill>
        <p:spPr>
          <a:xfrm>
            <a:off x="1575435" y="2075180"/>
            <a:ext cx="4419600" cy="1053465"/>
          </a:xfrm>
          <a:prstGeom prst="rect">
            <a:avLst/>
          </a:prstGeom>
        </p:spPr>
      </p:pic>
      <p:pic>
        <p:nvPicPr>
          <p:cNvPr id="9" name="20 8"/>
          <p:cNvPicPr>
            <a:picLocks noChangeAspect="1"/>
          </p:cNvPicPr>
          <p:nvPr/>
        </p:nvPicPr>
        <p:blipFill>
          <a:blip r:embed="rId1"/>
          <a:srcRect t="37960"/>
          <a:stretch>
            <a:fillRect/>
          </a:stretch>
        </p:blipFill>
        <p:spPr>
          <a:xfrm>
            <a:off x="1575435" y="3228975"/>
            <a:ext cx="4419600" cy="195008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614805"/>
            <a:ext cx="8107680" cy="44964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b="1" dirty="0">
                <a:solidFill>
                  <a:srgbClr val="FF0000"/>
                </a:solidFill>
              </a:rPr>
              <a:t>选择问题</a:t>
            </a:r>
            <a:endParaRPr lang="zh-CN" altLang="en-US" b="1" dirty="0">
              <a:solidFill>
                <a:schemeClr val="bg2"/>
              </a:solidFill>
            </a:endParaRPr>
          </a:p>
          <a:p>
            <a:pPr marL="800100" lvl="1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</a:rPr>
              <a:t>选最大</a:t>
            </a:r>
            <a:endParaRPr lang="zh-CN" altLang="en-US" dirty="0">
              <a:solidFill>
                <a:schemeClr val="bg2"/>
              </a:solidFill>
            </a:endParaRPr>
          </a:p>
          <a:p>
            <a:pPr marL="800100" lvl="1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</a:rPr>
              <a:t>选最大最小</a:t>
            </a:r>
            <a:endParaRPr lang="zh-CN" altLang="en-US" dirty="0">
              <a:solidFill>
                <a:schemeClr val="bg2"/>
              </a:solidFill>
            </a:endParaRPr>
          </a:p>
          <a:p>
            <a:pPr marL="800100" lvl="1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</a:rPr>
              <a:t>选第二大</a:t>
            </a:r>
            <a:endParaRPr lang="zh-CN" altLang="en-US" dirty="0">
              <a:solidFill>
                <a:schemeClr val="bg2"/>
              </a:solidFill>
            </a:endParaRPr>
          </a:p>
          <a:p>
            <a:pPr marL="800100" lvl="1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</a:rPr>
              <a:t>选第</a:t>
            </a:r>
            <a:r>
              <a:rPr lang="en-US" altLang="zh-CN" b="1" i="1" dirty="0">
                <a:solidFill>
                  <a:schemeClr val="bg2"/>
                </a:solidFill>
              </a:rPr>
              <a:t>k</a:t>
            </a:r>
            <a:r>
              <a:rPr lang="zh-CN" altLang="en-US" dirty="0">
                <a:solidFill>
                  <a:schemeClr val="bg2"/>
                </a:solidFill>
              </a:rPr>
              <a:t>小</a:t>
            </a:r>
            <a:endParaRPr lang="zh-CN" altLang="en-US" dirty="0">
              <a:solidFill>
                <a:schemeClr val="bg2"/>
              </a:solidFill>
            </a:endParaRPr>
          </a:p>
          <a:p>
            <a:pPr marL="342900" lvl="0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b="1" dirty="0">
                <a:solidFill>
                  <a:srgbClr val="FF0000"/>
                </a:solidFill>
              </a:rPr>
              <a:t>多项式乘积</a:t>
            </a:r>
            <a:endParaRPr lang="zh-CN" altLang="en-US" dirty="0">
              <a:solidFill>
                <a:schemeClr val="bg2"/>
              </a:solidFill>
            </a:endParaRPr>
          </a:p>
          <a:p>
            <a:pPr marL="800100" lvl="1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</a:rPr>
              <a:t>多项式乘积的应用</a:t>
            </a:r>
            <a:r>
              <a:rPr lang="en-US" altLang="zh-CN" dirty="0">
                <a:solidFill>
                  <a:schemeClr val="bg2"/>
                </a:solidFill>
              </a:rPr>
              <a:t>——</a:t>
            </a:r>
            <a:r>
              <a:rPr lang="zh-CN" altLang="en-US" dirty="0">
                <a:solidFill>
                  <a:schemeClr val="bg2"/>
                </a:solidFill>
              </a:rPr>
              <a:t>卷积计算</a:t>
            </a:r>
            <a:endParaRPr lang="zh-CN" altLang="en-US" dirty="0">
              <a:solidFill>
                <a:schemeClr val="bg2"/>
              </a:solidFill>
            </a:endParaRPr>
          </a:p>
          <a:p>
            <a:pPr marL="800100" lvl="1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</a:rPr>
              <a:t>卷积计算的应用</a:t>
            </a:r>
            <a:r>
              <a:rPr lang="en-US" altLang="zh-CN" dirty="0">
                <a:solidFill>
                  <a:schemeClr val="bg2"/>
                </a:solidFill>
              </a:rPr>
              <a:t>——</a:t>
            </a:r>
            <a:r>
              <a:rPr lang="zh-CN" altLang="en-US" dirty="0">
                <a:solidFill>
                  <a:schemeClr val="bg2"/>
                </a:solidFill>
              </a:rPr>
              <a:t>信号的平滑处理</a:t>
            </a:r>
            <a:endParaRPr lang="zh-CN" altLang="en-US" dirty="0">
              <a:solidFill>
                <a:schemeClr val="bg2"/>
              </a:solidFill>
            </a:endParaRPr>
          </a:p>
          <a:p>
            <a:pPr marL="800100" lvl="1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</a:rPr>
              <a:t>快速傅立叶变换FFT算法</a:t>
            </a:r>
            <a:endParaRPr lang="zh-CN" altLang="en-US" dirty="0">
              <a:solidFill>
                <a:schemeClr val="bg2"/>
              </a:solidFill>
            </a:endParaRPr>
          </a:p>
          <a:p>
            <a:pPr marL="342900" lvl="0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bg2"/>
                </a:solidFill>
              </a:rPr>
              <a:t>计算几何：计算平面点集的凸包（作业）</a:t>
            </a:r>
            <a:endParaRPr lang="en-US" altLang="zh-CN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614805"/>
            <a:ext cx="810768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b="1">
                <a:solidFill>
                  <a:srgbClr val="FF0000"/>
                </a:solidFill>
              </a:rPr>
              <a:t>选择问题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020" y="2245360"/>
            <a:ext cx="4731385" cy="770255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020" y="3262630"/>
            <a:ext cx="2686050" cy="485775"/>
          </a:xfrm>
          <a:prstGeom prst="rect">
            <a:avLst/>
          </a:prstGeom>
        </p:spPr>
      </p:pic>
      <p:pic>
        <p:nvPicPr>
          <p:cNvPr id="6" name="20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935" y="3881755"/>
            <a:ext cx="2771775" cy="381000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2370" y="4537710"/>
            <a:ext cx="5229225" cy="13335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614805"/>
            <a:ext cx="8107680" cy="941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lang="zh-CN" altLang="en-US" b="1">
                <a:solidFill>
                  <a:schemeClr val="bg2"/>
                </a:solidFill>
              </a:rPr>
              <a:t>选最大</a:t>
            </a:r>
            <a:endParaRPr lang="zh-CN" altLang="en-US" b="1">
              <a:solidFill>
                <a:schemeClr val="bg2"/>
              </a:solidFill>
            </a:endParaRPr>
          </a:p>
          <a:p>
            <a:pPr marL="800100" lvl="1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bg2"/>
                </a:solidFill>
              </a:rPr>
              <a:t>实现：顺序比较</a:t>
            </a:r>
            <a:endParaRPr lang="zh-CN" altLang="en-US" b="1">
              <a:solidFill>
                <a:schemeClr val="bg2"/>
              </a:solidFill>
            </a:endParaRPr>
          </a:p>
        </p:txBody>
      </p:sp>
      <p:pic>
        <p:nvPicPr>
          <p:cNvPr id="8" name="20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5480" y="2632075"/>
            <a:ext cx="4914900" cy="600075"/>
          </a:xfrm>
          <a:prstGeom prst="rect">
            <a:avLst/>
          </a:prstGeom>
        </p:spPr>
      </p:pic>
      <p:pic>
        <p:nvPicPr>
          <p:cNvPr id="9" name="20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480" y="3303270"/>
            <a:ext cx="885825" cy="1095375"/>
          </a:xfrm>
          <a:prstGeom prst="rect">
            <a:avLst/>
          </a:prstGeom>
        </p:spPr>
      </p:pic>
      <p:pic>
        <p:nvPicPr>
          <p:cNvPr id="10" name="20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3303270"/>
            <a:ext cx="857250" cy="1114425"/>
          </a:xfrm>
          <a:prstGeom prst="rect">
            <a:avLst/>
          </a:prstGeom>
        </p:spPr>
      </p:pic>
      <p:pic>
        <p:nvPicPr>
          <p:cNvPr id="11" name="20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3725" y="3284220"/>
            <a:ext cx="866775" cy="1114425"/>
          </a:xfrm>
          <a:prstGeom prst="rect">
            <a:avLst/>
          </a:prstGeom>
        </p:spPr>
      </p:pic>
      <p:pic>
        <p:nvPicPr>
          <p:cNvPr id="12" name="20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0075" y="4646295"/>
            <a:ext cx="3400425" cy="438150"/>
          </a:xfrm>
          <a:prstGeom prst="rect">
            <a:avLst/>
          </a:prstGeom>
        </p:spPr>
      </p:pic>
      <p:pic>
        <p:nvPicPr>
          <p:cNvPr id="13" name="20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0075" y="5315585"/>
            <a:ext cx="4981575" cy="409575"/>
          </a:xfrm>
          <a:prstGeom prst="rect">
            <a:avLst/>
          </a:prstGeom>
        </p:spPr>
      </p:pic>
      <p:sp>
        <p:nvSpPr>
          <p:cNvPr id="14" name="椭圆形标注 13"/>
          <p:cNvSpPr/>
          <p:nvPr/>
        </p:nvSpPr>
        <p:spPr>
          <a:xfrm>
            <a:off x="6851650" y="3937000"/>
            <a:ext cx="2046605" cy="611505"/>
          </a:xfrm>
          <a:prstGeom prst="wedgeEllipseCallout">
            <a:avLst>
              <a:gd name="adj1" fmla="val -70167"/>
              <a:gd name="adj2" fmla="val 193613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最好效率</a:t>
            </a: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614805"/>
            <a:ext cx="810768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00100" lvl="1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bg2"/>
                </a:solidFill>
              </a:rPr>
              <a:t>算法实现</a:t>
            </a:r>
            <a:endParaRPr lang="zh-CN" altLang="en-US" b="1">
              <a:solidFill>
                <a:schemeClr val="bg2"/>
              </a:solidFill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8190" y="2210435"/>
            <a:ext cx="3389630" cy="1258570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920" y="3540760"/>
            <a:ext cx="3924300" cy="24955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614805"/>
            <a:ext cx="8107680" cy="941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lang="zh-CN" altLang="en-US" b="1">
                <a:solidFill>
                  <a:schemeClr val="bg2"/>
                </a:solidFill>
              </a:rPr>
              <a:t>选最大最小</a:t>
            </a:r>
            <a:endParaRPr lang="zh-CN" altLang="en-US" b="1">
              <a:solidFill>
                <a:schemeClr val="bg2"/>
              </a:solidFill>
            </a:endParaRPr>
          </a:p>
          <a:p>
            <a:pPr marL="800100" lvl="1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bg2"/>
                </a:solidFill>
              </a:rPr>
              <a:t>实现算法</a:t>
            </a:r>
            <a:r>
              <a:rPr lang="en-US" altLang="zh-CN" b="1">
                <a:solidFill>
                  <a:schemeClr val="bg2"/>
                </a:solidFill>
              </a:rPr>
              <a:t>1</a:t>
            </a:r>
            <a:r>
              <a:rPr lang="zh-CN" altLang="en-US" b="1">
                <a:solidFill>
                  <a:schemeClr val="bg2"/>
                </a:solidFill>
              </a:rPr>
              <a:t>：顺序比较</a:t>
            </a:r>
            <a:endParaRPr lang="zh-CN" altLang="en-US" b="1">
              <a:solidFill>
                <a:schemeClr val="bg2"/>
              </a:solidFill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3510" y="2627630"/>
            <a:ext cx="3972560" cy="452755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305" y="3204210"/>
            <a:ext cx="4613910" cy="1118235"/>
          </a:xfrm>
          <a:prstGeom prst="rect">
            <a:avLst/>
          </a:prstGeom>
        </p:spPr>
      </p:pic>
      <p:pic>
        <p:nvPicPr>
          <p:cNvPr id="6" name="20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765" y="4575810"/>
            <a:ext cx="4210050" cy="9334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614805"/>
            <a:ext cx="8107680" cy="941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00100" lvl="1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bg2"/>
                </a:solidFill>
              </a:rPr>
              <a:t>实现算法</a:t>
            </a:r>
            <a:r>
              <a:rPr lang="en-US" altLang="zh-CN" b="1">
                <a:solidFill>
                  <a:schemeClr val="bg2"/>
                </a:solidFill>
              </a:rPr>
              <a:t>2</a:t>
            </a:r>
            <a:r>
              <a:rPr lang="zh-CN" altLang="en-US" b="1">
                <a:solidFill>
                  <a:schemeClr val="bg2"/>
                </a:solidFill>
              </a:rPr>
              <a:t>：分组算法</a:t>
            </a:r>
            <a:endParaRPr lang="zh-CN" altLang="en-US" b="1">
              <a:solidFill>
                <a:schemeClr val="bg2"/>
              </a:solidFill>
            </a:endParaRPr>
          </a:p>
          <a:p>
            <a:pPr lvl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b="1">
                <a:solidFill>
                  <a:schemeClr val="bg2"/>
                </a:solidFill>
              </a:rPr>
              <a:t>（</a:t>
            </a:r>
            <a:r>
              <a:rPr lang="en-US" altLang="zh-CN" b="1">
                <a:solidFill>
                  <a:schemeClr val="bg2"/>
                </a:solidFill>
              </a:rPr>
              <a:t>1</a:t>
            </a:r>
            <a:r>
              <a:rPr lang="zh-CN" altLang="en-US" b="1">
                <a:solidFill>
                  <a:schemeClr val="bg2"/>
                </a:solidFill>
              </a:rPr>
              <a:t>）将所有的数两两分到一组，剩余的一个元素轮空</a:t>
            </a:r>
            <a:endParaRPr lang="zh-CN" altLang="en-US" b="1">
              <a:solidFill>
                <a:schemeClr val="bg2"/>
              </a:solidFill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1711960" y="2578735"/>
            <a:ext cx="5688965" cy="440055"/>
            <a:chOff x="2696" y="4061"/>
            <a:chExt cx="8959" cy="693"/>
          </a:xfrm>
        </p:grpSpPr>
        <p:sp>
          <p:nvSpPr>
            <p:cNvPr id="7" name="矩形 6"/>
            <p:cNvSpPr/>
            <p:nvPr/>
          </p:nvSpPr>
          <p:spPr>
            <a:xfrm>
              <a:off x="2696" y="4066"/>
              <a:ext cx="802" cy="689"/>
            </a:xfrm>
            <a:prstGeom prst="rect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689" y="4066"/>
              <a:ext cx="802" cy="689"/>
            </a:xfrm>
            <a:prstGeom prst="rect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751" y="4063"/>
              <a:ext cx="802" cy="68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744" y="4063"/>
              <a:ext cx="802" cy="68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738" y="4064"/>
              <a:ext cx="802" cy="68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7731" y="4064"/>
              <a:ext cx="802" cy="68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8793" y="4061"/>
              <a:ext cx="802" cy="689"/>
            </a:xfrm>
            <a:prstGeom prst="rect">
              <a:avLst/>
            </a:prstGeom>
            <a:solidFill>
              <a:srgbClr val="92D050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9786" y="4061"/>
              <a:ext cx="802" cy="689"/>
            </a:xfrm>
            <a:prstGeom prst="rect">
              <a:avLst/>
            </a:prstGeom>
            <a:solidFill>
              <a:srgbClr val="92D050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0853" y="4066"/>
              <a:ext cx="802" cy="689"/>
            </a:xfrm>
            <a:prstGeom prst="rect">
              <a:avLst/>
            </a:prstGeom>
            <a:solidFill>
              <a:schemeClr val="bg1">
                <a:lumMod val="40000"/>
                <a:lumOff val="60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512445" y="3065780"/>
            <a:ext cx="7526020" cy="4972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）比较每组的两个数，大数放在前，小数放在后</a:t>
            </a:r>
            <a:endParaRPr lang="zh-CN" altLang="en-US"/>
          </a:p>
        </p:txBody>
      </p:sp>
      <p:grpSp>
        <p:nvGrpSpPr>
          <p:cNvPr id="57" name="组合 56"/>
          <p:cNvGrpSpPr/>
          <p:nvPr/>
        </p:nvGrpSpPr>
        <p:grpSpPr>
          <a:xfrm>
            <a:off x="1695450" y="3638550"/>
            <a:ext cx="5688965" cy="440055"/>
            <a:chOff x="2670" y="5730"/>
            <a:chExt cx="8959" cy="693"/>
          </a:xfrm>
        </p:grpSpPr>
        <p:sp>
          <p:nvSpPr>
            <p:cNvPr id="18" name="矩形 17"/>
            <p:cNvSpPr/>
            <p:nvPr/>
          </p:nvSpPr>
          <p:spPr>
            <a:xfrm>
              <a:off x="2670" y="5735"/>
              <a:ext cx="802" cy="689"/>
            </a:xfrm>
            <a:prstGeom prst="rect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大</a:t>
              </a: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3663" y="5735"/>
              <a:ext cx="802" cy="689"/>
            </a:xfrm>
            <a:prstGeom prst="rect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小</a:t>
              </a: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725" y="5732"/>
              <a:ext cx="802" cy="68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大</a:t>
              </a: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5718" y="5732"/>
              <a:ext cx="802" cy="68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小</a:t>
              </a: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6712" y="5733"/>
              <a:ext cx="802" cy="68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大</a:t>
              </a: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7705" y="5733"/>
              <a:ext cx="802" cy="68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小</a:t>
              </a: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8767" y="5730"/>
              <a:ext cx="802" cy="689"/>
            </a:xfrm>
            <a:prstGeom prst="rect">
              <a:avLst/>
            </a:prstGeom>
            <a:solidFill>
              <a:srgbClr val="92D050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大</a:t>
              </a: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9760" y="5730"/>
              <a:ext cx="802" cy="689"/>
            </a:xfrm>
            <a:prstGeom prst="rect">
              <a:avLst/>
            </a:prstGeom>
            <a:solidFill>
              <a:srgbClr val="92D050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小</a:t>
              </a: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0827" y="5735"/>
              <a:ext cx="802" cy="689"/>
            </a:xfrm>
            <a:prstGeom prst="rect">
              <a:avLst/>
            </a:prstGeom>
            <a:solidFill>
              <a:schemeClr val="bg1">
                <a:lumMod val="40000"/>
                <a:lumOff val="60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504190" y="4222115"/>
            <a:ext cx="8138160" cy="4972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）在所有大及轮空中选最大，在所有小及轮空中选小</a:t>
            </a:r>
            <a:endParaRPr lang="zh-CN" altLang="en-US"/>
          </a:p>
        </p:txBody>
      </p:sp>
      <p:grpSp>
        <p:nvGrpSpPr>
          <p:cNvPr id="58" name="组合 57"/>
          <p:cNvGrpSpPr/>
          <p:nvPr/>
        </p:nvGrpSpPr>
        <p:grpSpPr>
          <a:xfrm>
            <a:off x="1678940" y="4841875"/>
            <a:ext cx="5688965" cy="440055"/>
            <a:chOff x="2644" y="7625"/>
            <a:chExt cx="8959" cy="693"/>
          </a:xfrm>
        </p:grpSpPr>
        <p:sp>
          <p:nvSpPr>
            <p:cNvPr id="28" name="矩形 27"/>
            <p:cNvSpPr/>
            <p:nvPr/>
          </p:nvSpPr>
          <p:spPr>
            <a:xfrm>
              <a:off x="2644" y="7630"/>
              <a:ext cx="802" cy="689"/>
            </a:xfrm>
            <a:prstGeom prst="rect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大</a:t>
              </a: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3637" y="7630"/>
              <a:ext cx="802" cy="689"/>
            </a:xfrm>
            <a:prstGeom prst="rect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小</a:t>
              </a: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4699" y="7627"/>
              <a:ext cx="802" cy="68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大</a:t>
              </a: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5692" y="7627"/>
              <a:ext cx="802" cy="68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小</a:t>
              </a: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6686" y="7628"/>
              <a:ext cx="802" cy="68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大</a:t>
              </a: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9734" y="7625"/>
              <a:ext cx="802" cy="689"/>
            </a:xfrm>
            <a:prstGeom prst="rect">
              <a:avLst/>
            </a:prstGeom>
            <a:solidFill>
              <a:srgbClr val="92D050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小</a:t>
              </a: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10801" y="7630"/>
              <a:ext cx="802" cy="689"/>
            </a:xfrm>
            <a:prstGeom prst="rect">
              <a:avLst/>
            </a:prstGeom>
            <a:solidFill>
              <a:schemeClr val="bg1">
                <a:lumMod val="40000"/>
                <a:lumOff val="60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7679" y="7628"/>
              <a:ext cx="802" cy="68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小</a:t>
              </a: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8741" y="7625"/>
              <a:ext cx="802" cy="689"/>
            </a:xfrm>
            <a:prstGeom prst="rect">
              <a:avLst/>
            </a:prstGeom>
            <a:solidFill>
              <a:srgbClr val="92D050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大</a:t>
              </a: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1929130" y="5282565"/>
            <a:ext cx="5306060" cy="450215"/>
            <a:chOff x="3038" y="8319"/>
            <a:chExt cx="8356" cy="709"/>
          </a:xfrm>
        </p:grpSpPr>
        <p:cxnSp>
          <p:nvCxnSpPr>
            <p:cNvPr id="41" name="直接连接符 40"/>
            <p:cNvCxnSpPr/>
            <p:nvPr/>
          </p:nvCxnSpPr>
          <p:spPr>
            <a:xfrm flipH="1">
              <a:off x="3038" y="8319"/>
              <a:ext cx="14" cy="652"/>
            </a:xfrm>
            <a:prstGeom prst="line">
              <a:avLst/>
            </a:prstGeom>
            <a:solidFill>
              <a:schemeClr val="accent1"/>
            </a:solidFill>
            <a:ln w="38100" cap="sq" cmpd="sng" algn="ctr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" name="直接连接符 41"/>
            <p:cNvCxnSpPr/>
            <p:nvPr/>
          </p:nvCxnSpPr>
          <p:spPr>
            <a:xfrm flipH="1">
              <a:off x="5093" y="8319"/>
              <a:ext cx="14" cy="652"/>
            </a:xfrm>
            <a:prstGeom prst="line">
              <a:avLst/>
            </a:prstGeom>
            <a:solidFill>
              <a:schemeClr val="accent1"/>
            </a:solidFill>
            <a:ln w="38100" cap="sq" cmpd="sng" algn="ctr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3" name="直接连接符 42"/>
            <p:cNvCxnSpPr/>
            <p:nvPr/>
          </p:nvCxnSpPr>
          <p:spPr>
            <a:xfrm flipH="1">
              <a:off x="7080" y="8357"/>
              <a:ext cx="14" cy="652"/>
            </a:xfrm>
            <a:prstGeom prst="line">
              <a:avLst/>
            </a:prstGeom>
            <a:solidFill>
              <a:schemeClr val="accent1"/>
            </a:solidFill>
            <a:ln w="38100" cap="sq" cmpd="sng" algn="ctr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" name="直接连接符 43"/>
            <p:cNvCxnSpPr/>
            <p:nvPr/>
          </p:nvCxnSpPr>
          <p:spPr>
            <a:xfrm flipH="1">
              <a:off x="9135" y="8357"/>
              <a:ext cx="14" cy="652"/>
            </a:xfrm>
            <a:prstGeom prst="line">
              <a:avLst/>
            </a:prstGeom>
            <a:solidFill>
              <a:schemeClr val="accent1"/>
            </a:solidFill>
            <a:ln w="38100" cap="sq" cmpd="sng" algn="ctr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" name="直接连接符 44"/>
            <p:cNvCxnSpPr/>
            <p:nvPr/>
          </p:nvCxnSpPr>
          <p:spPr>
            <a:xfrm flipH="1">
              <a:off x="11195" y="8357"/>
              <a:ext cx="14" cy="652"/>
            </a:xfrm>
            <a:prstGeom prst="line">
              <a:avLst/>
            </a:prstGeom>
            <a:solidFill>
              <a:schemeClr val="accent1"/>
            </a:solidFill>
            <a:ln w="38100" cap="sq" cmpd="sng" algn="ctr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" name="直接连接符 45"/>
            <p:cNvCxnSpPr/>
            <p:nvPr/>
          </p:nvCxnSpPr>
          <p:spPr>
            <a:xfrm flipH="1" flipV="1">
              <a:off x="3038" y="9022"/>
              <a:ext cx="8357" cy="7"/>
            </a:xfrm>
            <a:prstGeom prst="line">
              <a:avLst/>
            </a:prstGeom>
            <a:solidFill>
              <a:schemeClr val="accent1"/>
            </a:solidFill>
            <a:ln w="38100" cap="sq" cmpd="sng" algn="ctr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60" name="组合 59"/>
          <p:cNvGrpSpPr/>
          <p:nvPr/>
        </p:nvGrpSpPr>
        <p:grpSpPr>
          <a:xfrm>
            <a:off x="2555875" y="5266055"/>
            <a:ext cx="4679950" cy="970280"/>
            <a:chOff x="4025" y="8293"/>
            <a:chExt cx="7370" cy="1528"/>
          </a:xfrm>
        </p:grpSpPr>
        <p:cxnSp>
          <p:nvCxnSpPr>
            <p:cNvPr id="47" name="直接连接符 46"/>
            <p:cNvCxnSpPr/>
            <p:nvPr/>
          </p:nvCxnSpPr>
          <p:spPr>
            <a:xfrm flipH="1">
              <a:off x="4025" y="8293"/>
              <a:ext cx="18" cy="1416"/>
            </a:xfrm>
            <a:prstGeom prst="line">
              <a:avLst/>
            </a:prstGeom>
            <a:solidFill>
              <a:schemeClr val="accent1"/>
            </a:solidFill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" name="直接连接符 50"/>
            <p:cNvCxnSpPr/>
            <p:nvPr/>
          </p:nvCxnSpPr>
          <p:spPr>
            <a:xfrm flipH="1">
              <a:off x="6084" y="8319"/>
              <a:ext cx="18" cy="1416"/>
            </a:xfrm>
            <a:prstGeom prst="line">
              <a:avLst/>
            </a:prstGeom>
            <a:solidFill>
              <a:schemeClr val="accent1"/>
            </a:solidFill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" name="直接连接符 51"/>
            <p:cNvCxnSpPr/>
            <p:nvPr/>
          </p:nvCxnSpPr>
          <p:spPr>
            <a:xfrm flipH="1">
              <a:off x="8097" y="8357"/>
              <a:ext cx="18" cy="1416"/>
            </a:xfrm>
            <a:prstGeom prst="line">
              <a:avLst/>
            </a:prstGeom>
            <a:solidFill>
              <a:schemeClr val="accent1"/>
            </a:solidFill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" name="直接连接符 52"/>
            <p:cNvCxnSpPr/>
            <p:nvPr/>
          </p:nvCxnSpPr>
          <p:spPr>
            <a:xfrm flipH="1">
              <a:off x="10126" y="8357"/>
              <a:ext cx="18" cy="1416"/>
            </a:xfrm>
            <a:prstGeom prst="line">
              <a:avLst/>
            </a:prstGeom>
            <a:solidFill>
              <a:schemeClr val="accent1"/>
            </a:solidFill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" name="直接连接符 53"/>
            <p:cNvCxnSpPr/>
            <p:nvPr/>
          </p:nvCxnSpPr>
          <p:spPr>
            <a:xfrm flipH="1">
              <a:off x="11377" y="8357"/>
              <a:ext cx="18" cy="1416"/>
            </a:xfrm>
            <a:prstGeom prst="line">
              <a:avLst/>
            </a:prstGeom>
            <a:solidFill>
              <a:schemeClr val="accent1"/>
            </a:solidFill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" name="直接连接符 54"/>
            <p:cNvCxnSpPr/>
            <p:nvPr/>
          </p:nvCxnSpPr>
          <p:spPr>
            <a:xfrm flipH="1" flipV="1">
              <a:off x="4043" y="9773"/>
              <a:ext cx="7352" cy="49"/>
            </a:xfrm>
            <a:prstGeom prst="line">
              <a:avLst/>
            </a:prstGeom>
            <a:solidFill>
              <a:schemeClr val="accent1"/>
            </a:solidFill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61" name="椭圆形标注 60"/>
          <p:cNvSpPr/>
          <p:nvPr/>
        </p:nvSpPr>
        <p:spPr>
          <a:xfrm>
            <a:off x="240665" y="4845050"/>
            <a:ext cx="1225550" cy="504190"/>
          </a:xfrm>
          <a:prstGeom prst="wedgeEllipseCallout">
            <a:avLst>
              <a:gd name="adj1" fmla="val 91502"/>
              <a:gd name="adj2" fmla="val 112342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max</a:t>
            </a:r>
            <a:endParaRPr kumimoji="1" lang="en-US" altLang="zh-CN" sz="2400" b="1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" name="椭圆形标注 61"/>
          <p:cNvSpPr/>
          <p:nvPr/>
        </p:nvSpPr>
        <p:spPr>
          <a:xfrm>
            <a:off x="7722870" y="5504180"/>
            <a:ext cx="1225550" cy="504190"/>
          </a:xfrm>
          <a:prstGeom prst="wedgeEllipseCallout">
            <a:avLst>
              <a:gd name="adj1" fmla="val -89481"/>
              <a:gd name="adj2" fmla="val 90554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min</a:t>
            </a:r>
            <a:endParaRPr kumimoji="1" lang="en-US" altLang="zh-CN" sz="2400" b="1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27" grpId="0"/>
      <p:bldP spid="27" grpId="1"/>
      <p:bldP spid="61" grpId="0" bldLvl="0" animBg="1"/>
      <p:bldP spid="61" grpId="1" animBg="1"/>
      <p:bldP spid="62" grpId="0" bldLvl="0" animBg="1"/>
      <p:bldP spid="62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614805"/>
            <a:ext cx="810768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00100" lvl="1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bg2"/>
                </a:solidFill>
              </a:rPr>
              <a:t>算法实现</a:t>
            </a:r>
            <a:endParaRPr lang="zh-CN" altLang="en-US" b="1">
              <a:solidFill>
                <a:schemeClr val="bg2"/>
              </a:solidFill>
            </a:endParaRPr>
          </a:p>
        </p:txBody>
      </p:sp>
      <p:pic>
        <p:nvPicPr>
          <p:cNvPr id="6" name="20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075" y="2112010"/>
            <a:ext cx="3000375" cy="1172210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075" y="3503930"/>
            <a:ext cx="4832985" cy="25082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614805"/>
            <a:ext cx="810768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00100" lvl="1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bg2"/>
                </a:solidFill>
              </a:rPr>
              <a:t>最坏情况时间复杂度</a:t>
            </a:r>
            <a:endParaRPr lang="zh-CN" altLang="en-US" b="1">
              <a:solidFill>
                <a:schemeClr val="bg2"/>
              </a:solidFill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540" y="2306955"/>
            <a:ext cx="3780790" cy="480695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540" y="3051175"/>
            <a:ext cx="3904615" cy="971550"/>
          </a:xfrm>
          <a:prstGeom prst="rect">
            <a:avLst/>
          </a:prstGeom>
        </p:spPr>
      </p:pic>
      <p:pic>
        <p:nvPicPr>
          <p:cNvPr id="8" name="20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330" y="4271010"/>
            <a:ext cx="3962400" cy="16192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614805"/>
            <a:ext cx="810768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00100" lvl="1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bg2"/>
                </a:solidFill>
              </a:rPr>
              <a:t>实现算法</a:t>
            </a:r>
            <a:r>
              <a:rPr lang="en-US" altLang="zh-CN" b="1">
                <a:solidFill>
                  <a:schemeClr val="bg2"/>
                </a:solidFill>
              </a:rPr>
              <a:t>3</a:t>
            </a:r>
            <a:r>
              <a:rPr lang="zh-CN" altLang="en-US" b="1">
                <a:solidFill>
                  <a:schemeClr val="bg2"/>
                </a:solidFill>
              </a:rPr>
              <a:t>：分治算法</a:t>
            </a:r>
            <a:endParaRPr lang="zh-CN" altLang="en-US" b="1">
              <a:solidFill>
                <a:schemeClr val="bg2"/>
              </a:solidFill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2410" y="2289810"/>
            <a:ext cx="4533900" cy="819785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165" y="3260090"/>
            <a:ext cx="4839970" cy="868680"/>
          </a:xfrm>
          <a:prstGeom prst="rect">
            <a:avLst/>
          </a:prstGeom>
        </p:spPr>
      </p:pic>
      <p:pic>
        <p:nvPicPr>
          <p:cNvPr id="6" name="20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165" y="4264660"/>
            <a:ext cx="4724400" cy="919480"/>
          </a:xfrm>
          <a:prstGeom prst="rect">
            <a:avLst/>
          </a:prstGeom>
        </p:spPr>
      </p:pic>
      <p:pic>
        <p:nvPicPr>
          <p:cNvPr id="16" name="20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560" y="5184140"/>
            <a:ext cx="4476750" cy="9334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614805"/>
            <a:ext cx="810768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00100" lvl="1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bg2"/>
                </a:solidFill>
              </a:rPr>
              <a:t>最坏情况时间复杂度</a:t>
            </a:r>
            <a:endParaRPr lang="zh-CN" altLang="en-US" b="1">
              <a:solidFill>
                <a:schemeClr val="bg2"/>
              </a:solidFill>
            </a:endParaRPr>
          </a:p>
        </p:txBody>
      </p:sp>
      <p:pic>
        <p:nvPicPr>
          <p:cNvPr id="6" name="20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0720" y="2112010"/>
            <a:ext cx="3133725" cy="1428750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20" y="3540760"/>
            <a:ext cx="4114800" cy="2695575"/>
          </a:xfrm>
          <a:prstGeom prst="rect">
            <a:avLst/>
          </a:prstGeom>
        </p:spPr>
      </p:pic>
      <p:sp>
        <p:nvSpPr>
          <p:cNvPr id="14" name="椭圆形标注 13"/>
          <p:cNvSpPr/>
          <p:nvPr/>
        </p:nvSpPr>
        <p:spPr>
          <a:xfrm>
            <a:off x="6232525" y="5053965"/>
            <a:ext cx="2046605" cy="611505"/>
          </a:xfrm>
          <a:prstGeom prst="wedgeEllipseCallout">
            <a:avLst>
              <a:gd name="adj1" fmla="val -87852"/>
              <a:gd name="adj2" fmla="val 95794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最好效率</a:t>
            </a: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614805"/>
            <a:ext cx="810768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lang="zh-CN" altLang="en-US" b="1">
                <a:solidFill>
                  <a:schemeClr val="bg2"/>
                </a:solidFill>
              </a:rPr>
              <a:t>选第二大</a:t>
            </a:r>
            <a:endParaRPr lang="zh-CN" altLang="en-US" b="1">
              <a:solidFill>
                <a:schemeClr val="bg2"/>
              </a:solidFill>
            </a:endParaRPr>
          </a:p>
        </p:txBody>
      </p:sp>
      <p:pic>
        <p:nvPicPr>
          <p:cNvPr id="7" name="20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055" y="2107565"/>
            <a:ext cx="3571875" cy="9042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99185" y="3083560"/>
            <a:ext cx="3429000" cy="4972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339090" lvl="1" indent="-31369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实现算法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：顺序比较</a:t>
            </a:r>
            <a:endParaRPr lang="zh-CN" altLang="en-US"/>
          </a:p>
        </p:txBody>
      </p:sp>
      <p:pic>
        <p:nvPicPr>
          <p:cNvPr id="9" name="20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055" y="3652520"/>
            <a:ext cx="4405630" cy="1226820"/>
          </a:xfrm>
          <a:prstGeom prst="rect">
            <a:avLst/>
          </a:prstGeom>
        </p:spPr>
      </p:pic>
      <p:pic>
        <p:nvPicPr>
          <p:cNvPr id="10" name="20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090" y="4973320"/>
            <a:ext cx="4030345" cy="89281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21080" y="1706245"/>
            <a:ext cx="7258050" cy="3491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39090" lvl="1" indent="-31369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1">
                <a:solidFill>
                  <a:schemeClr val="bg2"/>
                </a:solidFill>
                <a:sym typeface="+mn-ea"/>
              </a:rPr>
              <a:t>提高效率的途径</a:t>
            </a:r>
            <a:endParaRPr b="1">
              <a:solidFill>
                <a:schemeClr val="bg2"/>
              </a:solidFill>
              <a:sym typeface="+mn-ea"/>
            </a:endParaRPr>
          </a:p>
          <a:p>
            <a:pPr marL="2540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b="1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）成为第二大数的条件：仅在与最大数的比较中被淘汰。</a:t>
            </a:r>
            <a:endParaRPr lang="zh-CN" altLang="en-US" b="1">
              <a:solidFill>
                <a:schemeClr val="bg2"/>
              </a:solidFill>
              <a:sym typeface="+mn-ea"/>
            </a:endParaRPr>
          </a:p>
          <a:p>
            <a:pPr marL="2540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）要确定第二大数，必须知道最大数。</a:t>
            </a:r>
            <a:endParaRPr lang="zh-CN" altLang="en-US" b="1">
              <a:solidFill>
                <a:schemeClr val="bg2"/>
              </a:solidFill>
              <a:sym typeface="+mn-ea"/>
            </a:endParaRPr>
          </a:p>
          <a:p>
            <a:pPr marL="2540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）在确定最大数的过程中记录下被最大数直接淘汰的元素。</a:t>
            </a:r>
            <a:endParaRPr lang="zh-CN" altLang="en-US" b="1">
              <a:solidFill>
                <a:schemeClr val="bg2"/>
              </a:solidFill>
              <a:sym typeface="+mn-ea"/>
            </a:endParaRPr>
          </a:p>
          <a:p>
            <a:pPr marL="2540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）在被最大数直接淘汰的数中找到的最大数就是第二大数。</a:t>
            </a:r>
            <a:endParaRPr lang="zh-CN" altLang="en-US" b="1">
              <a:solidFill>
                <a:schemeClr val="bg2"/>
              </a:solidFill>
              <a:sym typeface="+mn-ea"/>
            </a:endParaRPr>
          </a:p>
        </p:txBody>
      </p:sp>
      <p:pic>
        <p:nvPicPr>
          <p:cNvPr id="5" name="20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8100" y="5380990"/>
            <a:ext cx="3629025" cy="4381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614805"/>
            <a:ext cx="810768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00100" lvl="1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bg2"/>
                </a:solidFill>
              </a:rPr>
              <a:t>实现算法</a:t>
            </a:r>
            <a:r>
              <a:rPr lang="en-US" altLang="zh-CN" b="1">
                <a:solidFill>
                  <a:schemeClr val="bg2"/>
                </a:solidFill>
              </a:rPr>
              <a:t>2</a:t>
            </a:r>
            <a:r>
              <a:rPr lang="zh-CN" altLang="en-US" b="1">
                <a:solidFill>
                  <a:schemeClr val="bg2"/>
                </a:solidFill>
              </a:rPr>
              <a:t>：锦标赛算法</a:t>
            </a:r>
            <a:endParaRPr lang="zh-CN" altLang="en-US" b="1">
              <a:solidFill>
                <a:schemeClr val="bg2"/>
              </a:solidFill>
            </a:endParaRPr>
          </a:p>
        </p:txBody>
      </p:sp>
      <p:pic>
        <p:nvPicPr>
          <p:cNvPr id="7" name="20 6"/>
          <p:cNvPicPr>
            <a:picLocks noChangeAspect="1"/>
          </p:cNvPicPr>
          <p:nvPr/>
        </p:nvPicPr>
        <p:blipFill>
          <a:blip r:embed="rId1"/>
          <a:srcRect b="70054"/>
          <a:stretch>
            <a:fillRect/>
          </a:stretch>
        </p:blipFill>
        <p:spPr>
          <a:xfrm>
            <a:off x="1680210" y="2183765"/>
            <a:ext cx="5593080" cy="1007110"/>
          </a:xfrm>
          <a:prstGeom prst="rect">
            <a:avLst/>
          </a:prstGeom>
        </p:spPr>
      </p:pic>
      <p:pic>
        <p:nvPicPr>
          <p:cNvPr id="8" name="20 7"/>
          <p:cNvPicPr>
            <a:picLocks noChangeAspect="1"/>
          </p:cNvPicPr>
          <p:nvPr/>
        </p:nvPicPr>
        <p:blipFill>
          <a:blip r:embed="rId1"/>
          <a:srcRect t="30761" b="30091"/>
          <a:stretch>
            <a:fillRect/>
          </a:stretch>
        </p:blipFill>
        <p:spPr>
          <a:xfrm>
            <a:off x="1657350" y="3296285"/>
            <a:ext cx="5615305" cy="1322070"/>
          </a:xfrm>
          <a:prstGeom prst="rect">
            <a:avLst/>
          </a:prstGeom>
        </p:spPr>
      </p:pic>
      <p:pic>
        <p:nvPicPr>
          <p:cNvPr id="9" name="20 8"/>
          <p:cNvPicPr>
            <a:picLocks noChangeAspect="1"/>
          </p:cNvPicPr>
          <p:nvPr/>
        </p:nvPicPr>
        <p:blipFill>
          <a:blip r:embed="rId1"/>
          <a:srcRect t="70217"/>
          <a:stretch>
            <a:fillRect/>
          </a:stretch>
        </p:blipFill>
        <p:spPr>
          <a:xfrm>
            <a:off x="1585595" y="4618355"/>
            <a:ext cx="5687695" cy="101854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614805"/>
            <a:ext cx="810768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b="1">
                <a:solidFill>
                  <a:schemeClr val="bg2"/>
                </a:solidFill>
              </a:rPr>
              <a:t>实例演示</a:t>
            </a:r>
            <a:endParaRPr lang="zh-CN" altLang="en-US" b="1">
              <a:solidFill>
                <a:schemeClr val="bg2"/>
              </a:solidFill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1605" y="2112010"/>
            <a:ext cx="5962650" cy="1171575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605" y="3566795"/>
            <a:ext cx="3829050" cy="1076325"/>
          </a:xfrm>
          <a:prstGeom prst="rect">
            <a:avLst/>
          </a:prstGeom>
        </p:spPr>
      </p:pic>
      <p:pic>
        <p:nvPicPr>
          <p:cNvPr id="6" name="20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605" y="4791710"/>
            <a:ext cx="3057525" cy="12382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pic>
        <p:nvPicPr>
          <p:cNvPr id="7" name="20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6190" y="1687195"/>
            <a:ext cx="2552700" cy="400050"/>
          </a:xfrm>
          <a:prstGeom prst="rect">
            <a:avLst/>
          </a:prstGeom>
        </p:spPr>
      </p:pic>
      <p:pic>
        <p:nvPicPr>
          <p:cNvPr id="8" name="20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945" y="2087245"/>
            <a:ext cx="4991100" cy="419100"/>
          </a:xfrm>
          <a:prstGeom prst="rect">
            <a:avLst/>
          </a:prstGeom>
        </p:spPr>
      </p:pic>
      <p:pic>
        <p:nvPicPr>
          <p:cNvPr id="9" name="20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190" y="2506345"/>
            <a:ext cx="6525260" cy="403352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614805"/>
            <a:ext cx="810768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00100" lvl="1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bg2"/>
                </a:solidFill>
              </a:rPr>
              <a:t>时间复杂度分析</a:t>
            </a:r>
            <a:endParaRPr lang="zh-CN" altLang="en-US" b="1">
              <a:solidFill>
                <a:schemeClr val="bg2"/>
              </a:solidFill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350" y="2112010"/>
            <a:ext cx="5718810" cy="915670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950" y="3156585"/>
            <a:ext cx="5048250" cy="1238250"/>
          </a:xfrm>
          <a:prstGeom prst="rect">
            <a:avLst/>
          </a:prstGeom>
        </p:spPr>
      </p:pic>
      <p:pic>
        <p:nvPicPr>
          <p:cNvPr id="8" name="20 7"/>
          <p:cNvPicPr>
            <a:picLocks noChangeAspect="1"/>
          </p:cNvPicPr>
          <p:nvPr/>
        </p:nvPicPr>
        <p:blipFill>
          <a:blip r:embed="rId3"/>
          <a:srcRect b="67273"/>
          <a:stretch>
            <a:fillRect/>
          </a:stretch>
        </p:blipFill>
        <p:spPr>
          <a:xfrm>
            <a:off x="1758950" y="4563110"/>
            <a:ext cx="5715000" cy="445770"/>
          </a:xfrm>
          <a:prstGeom prst="rect">
            <a:avLst/>
          </a:prstGeom>
        </p:spPr>
      </p:pic>
      <p:pic>
        <p:nvPicPr>
          <p:cNvPr id="9" name="20 8"/>
          <p:cNvPicPr>
            <a:picLocks noChangeAspect="1"/>
          </p:cNvPicPr>
          <p:nvPr/>
        </p:nvPicPr>
        <p:blipFill>
          <a:blip r:embed="rId3"/>
          <a:srcRect t="29930"/>
          <a:stretch>
            <a:fillRect/>
          </a:stretch>
        </p:blipFill>
        <p:spPr>
          <a:xfrm>
            <a:off x="1737360" y="5154930"/>
            <a:ext cx="5715000" cy="95440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pic>
        <p:nvPicPr>
          <p:cNvPr id="6" name="20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5560" y="1665605"/>
            <a:ext cx="5514975" cy="1104900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940" y="2904490"/>
            <a:ext cx="5067300" cy="904875"/>
          </a:xfrm>
          <a:prstGeom prst="rect">
            <a:avLst/>
          </a:prstGeom>
        </p:spPr>
      </p:pic>
      <p:pic>
        <p:nvPicPr>
          <p:cNvPr id="10" name="20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3881120"/>
            <a:ext cx="4029075" cy="1038225"/>
          </a:xfrm>
          <a:prstGeom prst="rect">
            <a:avLst/>
          </a:prstGeom>
        </p:spPr>
      </p:pic>
      <p:pic>
        <p:nvPicPr>
          <p:cNvPr id="11" name="20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420" y="4919345"/>
            <a:ext cx="3962400" cy="109537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780" y="1718310"/>
            <a:ext cx="3467100" cy="1371600"/>
          </a:xfrm>
          <a:prstGeom prst="rect">
            <a:avLst/>
          </a:prstGeom>
        </p:spPr>
      </p:pic>
      <p:sp>
        <p:nvSpPr>
          <p:cNvPr id="4" name="圆角矩形标注 3"/>
          <p:cNvSpPr/>
          <p:nvPr/>
        </p:nvSpPr>
        <p:spPr>
          <a:xfrm>
            <a:off x="5441950" y="2061210"/>
            <a:ext cx="2766060" cy="831215"/>
          </a:xfrm>
          <a:prstGeom prst="wedgeRoundRectCallout">
            <a:avLst>
              <a:gd name="adj1" fmla="val -116804"/>
              <a:gd name="adj2" fmla="val -10580"/>
              <a:gd name="adj3" fmla="val 16667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锦标赛阶段，找最大值</a:t>
            </a: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780" y="3201670"/>
            <a:ext cx="4105275" cy="1314450"/>
          </a:xfrm>
          <a:prstGeom prst="rect">
            <a:avLst/>
          </a:prstGeom>
        </p:spPr>
      </p:pic>
      <p:sp>
        <p:nvSpPr>
          <p:cNvPr id="8" name="圆角矩形标注 7"/>
          <p:cNvSpPr/>
          <p:nvPr/>
        </p:nvSpPr>
        <p:spPr>
          <a:xfrm>
            <a:off x="5931535" y="3635375"/>
            <a:ext cx="2607945" cy="831215"/>
          </a:xfrm>
          <a:prstGeom prst="wedgeRoundRectCallout">
            <a:avLst>
              <a:gd name="adj1" fmla="val -105344"/>
              <a:gd name="adj2" fmla="val -4927"/>
              <a:gd name="adj3" fmla="val 16667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从</a:t>
            </a:r>
            <a:r>
              <a: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max</a:t>
            </a:r>
            <a:r>
              <a: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的淘汰链表中找出最大值</a:t>
            </a: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9" name="20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780" y="4693285"/>
            <a:ext cx="4257675" cy="1381125"/>
          </a:xfrm>
          <a:prstGeom prst="rect">
            <a:avLst/>
          </a:prstGeom>
        </p:spPr>
      </p:pic>
      <p:sp>
        <p:nvSpPr>
          <p:cNvPr id="12" name="圆角矩形标注 11"/>
          <p:cNvSpPr/>
          <p:nvPr/>
        </p:nvSpPr>
        <p:spPr>
          <a:xfrm>
            <a:off x="5775960" y="5461635"/>
            <a:ext cx="1771015" cy="487680"/>
          </a:xfrm>
          <a:prstGeom prst="wedgeRoundRectCallout">
            <a:avLst>
              <a:gd name="adj1" fmla="val -104607"/>
              <a:gd name="adj2" fmla="val 14583"/>
              <a:gd name="adj3" fmla="val 16667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空间换时间</a:t>
            </a: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8" grpId="0" animBg="1"/>
      <p:bldP spid="8" grpId="1" animBg="1"/>
      <p:bldP spid="12" grpId="0" animBg="1"/>
      <p:bldP spid="12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614805"/>
            <a:ext cx="810768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lang="en-US" altLang="zh-CN" b="1">
                <a:solidFill>
                  <a:schemeClr val="bg2"/>
                </a:solidFill>
                <a:sym typeface="+mn-ea"/>
              </a:rPr>
              <a:t>一般性选择问题</a:t>
            </a:r>
            <a:r>
              <a:rPr lang="en-US" altLang="zh-CN" b="1">
                <a:solidFill>
                  <a:schemeClr val="bg2"/>
                </a:solidFill>
              </a:rPr>
              <a:t>——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选第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k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小</a:t>
            </a:r>
            <a:endParaRPr lang="en-US" altLang="zh-CN" b="1">
              <a:solidFill>
                <a:schemeClr val="bg2"/>
              </a:solidFill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6495" y="2112010"/>
            <a:ext cx="4561840" cy="1470025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3717290"/>
            <a:ext cx="4781550" cy="866775"/>
          </a:xfrm>
          <a:prstGeom prst="rect">
            <a:avLst/>
          </a:prstGeom>
        </p:spPr>
      </p:pic>
      <p:pic>
        <p:nvPicPr>
          <p:cNvPr id="6" name="20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4733290"/>
            <a:ext cx="3743325" cy="122872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614805"/>
            <a:ext cx="810768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bg2"/>
                </a:solidFill>
              </a:rPr>
              <a:t>中位数应用举例</a:t>
            </a:r>
            <a:r>
              <a:rPr lang="en-US" altLang="zh-CN" b="1">
                <a:solidFill>
                  <a:schemeClr val="bg2"/>
                </a:solidFill>
              </a:rPr>
              <a:t>——管道位置</a:t>
            </a:r>
            <a:r>
              <a:rPr lang="zh-CN" altLang="en-US" b="1">
                <a:solidFill>
                  <a:schemeClr val="bg2"/>
                </a:solidFill>
              </a:rPr>
              <a:t>选取</a:t>
            </a:r>
            <a:endParaRPr lang="zh-CN" altLang="en-US" b="1">
              <a:solidFill>
                <a:schemeClr val="bg2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8030" y="2112010"/>
            <a:ext cx="779272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zh-CN" altLang="en-US" b="1">
                <a:solidFill>
                  <a:schemeClr val="bg2"/>
                </a:solidFill>
              </a:rPr>
              <a:t>问题</a:t>
            </a:r>
            <a:r>
              <a:rPr lang="zh-CN" altLang="en-US">
                <a:solidFill>
                  <a:schemeClr val="bg2"/>
                </a:solidFill>
              </a:rPr>
              <a:t>：某区域有</a:t>
            </a:r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</a:rPr>
              <a:t>n</a:t>
            </a:r>
            <a:r>
              <a:rPr lang="zh-CN" altLang="en-US">
                <a:solidFill>
                  <a:schemeClr val="bg2"/>
                </a:solidFill>
              </a:rPr>
              <a:t>口油井，需要修建输油管道. 根据设计要求，水平方向有一条主管道，每口油井修一条垂直方向的支管道通向主管道. 如何选择主管道的位置，以使得支管道长度的总和最小？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8" name="20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5950" y="3680460"/>
            <a:ext cx="5372100" cy="22479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5640" y="1725930"/>
            <a:ext cx="45847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zh-CN" altLang="en-US">
                <a:solidFill>
                  <a:schemeClr val="bg2"/>
                </a:solidFill>
              </a:rPr>
              <a:t>问题的最优解：</a:t>
            </a:r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>
                <a:solidFill>
                  <a:schemeClr val="bg2"/>
                </a:solidFill>
              </a:rPr>
              <a:t> 坐标的中位数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220" y="2186305"/>
            <a:ext cx="4968240" cy="36118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60340" y="1725930"/>
            <a:ext cx="3606800" cy="415036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2"/>
                </a:solidFill>
              </a:rPr>
              <a:t>原</a:t>
            </a:r>
            <a:r>
              <a:rPr lang="en-US" altLang="zh-CN" b="1" i="1">
                <a:solidFill>
                  <a:schemeClr val="bg2"/>
                </a:solidFill>
              </a:rPr>
              <a:t>y</a:t>
            </a:r>
            <a:r>
              <a:rPr lang="zh-CN" altLang="en-US">
                <a:solidFill>
                  <a:schemeClr val="bg2"/>
                </a:solidFill>
              </a:rPr>
              <a:t>之上的油井管道，其长度都增加了</a:t>
            </a:r>
            <a:r>
              <a:rPr lang="zh-CN" altLang="en-US" b="1" i="1">
                <a:solidFill>
                  <a:schemeClr val="bg2"/>
                </a:solidFill>
              </a:rPr>
              <a:t>△</a:t>
            </a:r>
            <a:endParaRPr lang="zh-CN" altLang="en-US" b="1" i="1">
              <a:solidFill>
                <a:schemeClr val="bg2"/>
              </a:solidFill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2"/>
                </a:solidFill>
              </a:rPr>
              <a:t>原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y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之下的油井管道</a:t>
            </a:r>
            <a:endParaRPr lang="zh-CN" altLang="en-US">
              <a:solidFill>
                <a:schemeClr val="bg2"/>
              </a:solidFill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>
                <a:solidFill>
                  <a:schemeClr val="bg2"/>
                </a:solidFill>
              </a:rPr>
              <a:t>（</a:t>
            </a:r>
            <a:r>
              <a:rPr lang="en-US" altLang="zh-CN">
                <a:solidFill>
                  <a:schemeClr val="bg2"/>
                </a:solidFill>
              </a:rPr>
              <a:t>1</a:t>
            </a:r>
            <a:r>
              <a:rPr lang="zh-CN" altLang="en-US">
                <a:solidFill>
                  <a:schemeClr val="bg2"/>
                </a:solidFill>
              </a:rPr>
              <a:t>）新位置之下的均减少</a:t>
            </a:r>
            <a:r>
              <a:rPr lang="zh-CN" altLang="en-US" b="1" i="1">
                <a:solidFill>
                  <a:schemeClr val="bg2"/>
                </a:solidFill>
                <a:sym typeface="+mn-ea"/>
              </a:rPr>
              <a:t>△</a:t>
            </a:r>
            <a:endParaRPr lang="zh-CN" altLang="en-US" b="1" i="1">
              <a:solidFill>
                <a:schemeClr val="bg2"/>
              </a:solidFill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>
                <a:solidFill>
                  <a:schemeClr val="bg2"/>
                </a:solidFill>
              </a:rPr>
              <a:t>（</a:t>
            </a:r>
            <a:r>
              <a:rPr lang="en-US" altLang="zh-CN">
                <a:solidFill>
                  <a:schemeClr val="bg2"/>
                </a:solidFill>
              </a:rPr>
              <a:t>2</a:t>
            </a:r>
            <a:r>
              <a:rPr lang="zh-CN" altLang="en-US">
                <a:solidFill>
                  <a:schemeClr val="bg2"/>
                </a:solidFill>
              </a:rPr>
              <a:t>）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y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与新位置之间的或者增加、或者减少至多</a:t>
            </a:r>
            <a:r>
              <a:rPr lang="zh-CN" altLang="en-US" b="1" i="1">
                <a:solidFill>
                  <a:schemeClr val="bg2"/>
                </a:solidFill>
                <a:sym typeface="+mn-ea"/>
              </a:rPr>
              <a:t>△</a:t>
            </a:r>
            <a:endParaRPr lang="zh-CN" altLang="en-US" b="1" i="1">
              <a:solidFill>
                <a:schemeClr val="bg2"/>
              </a:solidFill>
              <a:sym typeface="+mn-ea"/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2"/>
                </a:solidFill>
                <a:sym typeface="+mn-ea"/>
              </a:rPr>
              <a:t>移动到新位置后，长度增加的油井数多于长度减少的油井数。</a:t>
            </a:r>
            <a:endParaRPr lang="zh-CN" altLang="en-US">
              <a:solidFill>
                <a:schemeClr val="bg2"/>
              </a:solidFill>
              <a:sym typeface="+mn-ea"/>
            </a:endParaRPr>
          </a:p>
        </p:txBody>
      </p:sp>
      <p:pic>
        <p:nvPicPr>
          <p:cNvPr id="6" name="20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930" y="5876925"/>
            <a:ext cx="3667125" cy="4762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/>
      <p:bldP spid="5" grpId="0" animBg="1" build="p"/>
      <p:bldP spid="5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5635" y="1630045"/>
            <a:ext cx="8107680" cy="2719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b="1">
                <a:solidFill>
                  <a:schemeClr val="bg2"/>
                </a:solidFill>
              </a:rPr>
              <a:t>实现算法</a:t>
            </a:r>
            <a:endParaRPr lang="zh-CN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b="1">
                <a:solidFill>
                  <a:schemeClr val="bg2"/>
                </a:solidFill>
              </a:rPr>
              <a:t>（</a:t>
            </a:r>
            <a:r>
              <a:rPr lang="en-US" altLang="zh-CN" b="1">
                <a:solidFill>
                  <a:schemeClr val="bg2"/>
                </a:solidFill>
              </a:rPr>
              <a:t>1</a:t>
            </a:r>
            <a:r>
              <a:rPr lang="zh-CN" altLang="en-US" b="1">
                <a:solidFill>
                  <a:schemeClr val="bg2"/>
                </a:solidFill>
              </a:rPr>
              <a:t>）算法一</a:t>
            </a:r>
            <a:endParaRPr lang="zh-CN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</a:pPr>
            <a:endParaRPr lang="zh-CN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</a:pPr>
            <a:endParaRPr lang="zh-CN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</a:pPr>
            <a:endParaRPr lang="zh-CN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b="1">
                <a:solidFill>
                  <a:schemeClr val="bg2"/>
                </a:solidFill>
              </a:rPr>
              <a:t>（</a:t>
            </a:r>
            <a:r>
              <a:rPr lang="en-US" altLang="zh-CN" b="1">
                <a:solidFill>
                  <a:schemeClr val="bg2"/>
                </a:solidFill>
              </a:rPr>
              <a:t>2</a:t>
            </a:r>
            <a:r>
              <a:rPr lang="zh-CN" altLang="en-US" b="1">
                <a:solidFill>
                  <a:schemeClr val="bg2"/>
                </a:solidFill>
              </a:rPr>
              <a:t>）算法二</a:t>
            </a:r>
            <a:endParaRPr lang="zh-CN" altLang="en-US" b="1">
              <a:solidFill>
                <a:schemeClr val="bg2"/>
              </a:solidFill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9445" y="2571115"/>
            <a:ext cx="3248025" cy="990600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445" y="4517390"/>
            <a:ext cx="4400550" cy="100012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DEFINEDINNAVIGATOR" val="True"/>
  <p:tag name="HOTSPOTTYPE" val="DefinedInNavigator"/>
  <p:tag name="BRANCHTO" val="257"/>
</p:tagLst>
</file>

<file path=ppt/theme/theme1.xml><?xml version="1.0" encoding="utf-8"?>
<a:theme xmlns:a="http://schemas.openxmlformats.org/drawingml/2006/main" name="1_个人主页 (标准)">
  <a:themeElements>
    <a:clrScheme name="个人主页 (标准) 4">
      <a:dk1>
        <a:srgbClr val="000000"/>
      </a:dk1>
      <a:lt1>
        <a:srgbClr val="FFFFFF"/>
      </a:lt1>
      <a:dk2>
        <a:srgbClr val="1E2E53"/>
      </a:dk2>
      <a:lt2>
        <a:srgbClr val="FFCC00"/>
      </a:lt2>
      <a:accent1>
        <a:srgbClr val="FF9933"/>
      </a:accent1>
      <a:accent2>
        <a:srgbClr val="336699"/>
      </a:accent2>
      <a:accent3>
        <a:srgbClr val="ABADB3"/>
      </a:accent3>
      <a:accent4>
        <a:srgbClr val="DADADA"/>
      </a:accent4>
      <a:accent5>
        <a:srgbClr val="FFCAAD"/>
      </a:accent5>
      <a:accent6>
        <a:srgbClr val="2D5C8A"/>
      </a:accent6>
      <a:hlink>
        <a:srgbClr val="0000FF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0000FF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Office\Templates\演示文稿\个人主页 (标准).pot</Template>
  <TotalTime>0</TotalTime>
  <Words>1962</Words>
  <Application>WPS 演示</Application>
  <PresentationFormat>全屏显示(4:3)</PresentationFormat>
  <Paragraphs>259</Paragraphs>
  <Slides>33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33</vt:i4>
      </vt:variant>
    </vt:vector>
  </HeadingPairs>
  <TitlesOfParts>
    <vt:vector size="45" baseType="lpstr">
      <vt:lpstr>Arial</vt:lpstr>
      <vt:lpstr>宋体</vt:lpstr>
      <vt:lpstr>Wingdings</vt:lpstr>
      <vt:lpstr>Times New Roman</vt:lpstr>
      <vt:lpstr>Symbol</vt:lpstr>
      <vt:lpstr>Wingdings</vt:lpstr>
      <vt:lpstr>微软雅黑</vt:lpstr>
      <vt:lpstr>Arial Unicode MS</vt:lpstr>
      <vt:lpstr>1_个人主页 (标准)</vt:lpstr>
      <vt:lpstr>Visio.Drawing.11</vt:lpstr>
      <vt:lpstr>Visio.Drawing.11</vt:lpstr>
      <vt:lpstr>Visio.Drawing.11</vt:lpstr>
      <vt:lpstr>2.3 改进分治算法的途径</vt:lpstr>
      <vt:lpstr>2.3 改进分治算法的途径</vt:lpstr>
      <vt:lpstr>2.3 改进分治算法的途径</vt:lpstr>
      <vt:lpstr>2.3 改进分治算法的途径</vt:lpstr>
      <vt:lpstr>2.3 改进分治算法的途径</vt:lpstr>
      <vt:lpstr>2.3 改进分治算法的途径</vt:lpstr>
      <vt:lpstr>2.3 改进分治算法的途径</vt:lpstr>
      <vt:lpstr>2.3 改进分治算法的途径</vt:lpstr>
      <vt:lpstr>2.3 改进分治算法的途径</vt:lpstr>
      <vt:lpstr>2.3 改进分治算法的途径</vt:lpstr>
      <vt:lpstr>2.3 改进分治算法的途径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</vt:vector>
  </TitlesOfParts>
  <Company>NEU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数据库系统原理</dc:title>
  <dc:creator>songby</dc:creator>
  <cp:lastModifiedBy>冯勇</cp:lastModifiedBy>
  <cp:revision>998</cp:revision>
  <cp:lastPrinted>1995-12-08T18:33:00Z</cp:lastPrinted>
  <dcterms:created xsi:type="dcterms:W3CDTF">2000-10-31T09:27:00Z</dcterms:created>
  <dcterms:modified xsi:type="dcterms:W3CDTF">2022-03-29T04:00:54Z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54236F37812940D3B05D6833D073D49B</vt:lpwstr>
  </property>
</Properties>
</file>