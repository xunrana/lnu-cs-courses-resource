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38"/>
  </p:handoutMasterIdLst>
  <p:sldIdLst>
    <p:sldId id="602" r:id="rId3"/>
    <p:sldId id="567" r:id="rId4"/>
    <p:sldId id="568" r:id="rId5"/>
    <p:sldId id="569" r:id="rId6"/>
    <p:sldId id="570" r:id="rId7"/>
    <p:sldId id="571" r:id="rId8"/>
    <p:sldId id="601" r:id="rId9"/>
    <p:sldId id="572" r:id="rId11"/>
    <p:sldId id="573" r:id="rId12"/>
    <p:sldId id="574" r:id="rId13"/>
    <p:sldId id="575" r:id="rId14"/>
    <p:sldId id="576" r:id="rId15"/>
    <p:sldId id="577" r:id="rId16"/>
    <p:sldId id="578" r:id="rId17"/>
    <p:sldId id="558" r:id="rId18"/>
    <p:sldId id="559" r:id="rId19"/>
    <p:sldId id="580" r:id="rId20"/>
    <p:sldId id="579" r:id="rId21"/>
    <p:sldId id="581" r:id="rId22"/>
    <p:sldId id="560" r:id="rId23"/>
    <p:sldId id="582" r:id="rId24"/>
    <p:sldId id="561" r:id="rId25"/>
    <p:sldId id="589" r:id="rId26"/>
    <p:sldId id="566" r:id="rId27"/>
    <p:sldId id="590" r:id="rId28"/>
    <p:sldId id="591" r:id="rId29"/>
    <p:sldId id="592" r:id="rId30"/>
    <p:sldId id="594" r:id="rId31"/>
    <p:sldId id="593" r:id="rId32"/>
    <p:sldId id="595" r:id="rId33"/>
    <p:sldId id="596" r:id="rId34"/>
    <p:sldId id="597" r:id="rId35"/>
    <p:sldId id="598" r:id="rId36"/>
    <p:sldId id="599" r:id="rId37"/>
  </p:sldIdLst>
  <p:sldSz cx="9144000" cy="6858000" type="screen4x3"/>
  <p:notesSz cx="6934200" cy="9398000"/>
  <p:custDataLst>
    <p:tags r:id="rId42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CCFF"/>
    <a:srgbClr val="CC0099"/>
    <a:srgbClr val="CCCCFF"/>
    <a:srgbClr val="CC99FF"/>
    <a:srgbClr val="CCECFF"/>
    <a:srgbClr val="DFC0FF"/>
    <a:srgbClr val="9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3"/>
    <p:restoredTop sz="94608"/>
  </p:normalViewPr>
  <p:slideViewPr>
    <p:cSldViewPr showGuides="1">
      <p:cViewPr varScale="1">
        <p:scale>
          <a:sx n="80" d="100"/>
          <a:sy n="80" d="100"/>
        </p:scale>
        <p:origin x="-1188" y="-96"/>
      </p:cViewPr>
      <p:guideLst>
        <p:guide orient="horz" pos="2183"/>
        <p:guide pos="28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gs" Target="tags/tag1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7" name="Rectangle 3"/>
          <p:cNvSpPr>
            <a:spLocks noGrp="1" noRot="1" noChangeAspect="1"/>
          </p:cNvSpPr>
          <p:nvPr>
            <p:ph type="sldImg" idx="2"/>
          </p:nvPr>
        </p:nvSpPr>
        <p:spPr>
          <a:xfrm>
            <a:off x="1079500" y="685800"/>
            <a:ext cx="4775200" cy="358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95800"/>
            <a:ext cx="5105400" cy="419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2947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3"/>
          <p:cNvSpPr>
            <a:spLocks noChangeArrowheads="1"/>
          </p:cNvSpPr>
          <p:nvPr/>
        </p:nvSpPr>
        <p:spPr bwMode="auto">
          <a:xfrm rot="20940000">
            <a:off x="1828800" y="304800"/>
            <a:ext cx="457200" cy="4572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AutoShape 24"/>
          <p:cNvSpPr>
            <a:spLocks noChangeArrowheads="1"/>
          </p:cNvSpPr>
          <p:nvPr/>
        </p:nvSpPr>
        <p:spPr bwMode="auto">
          <a:xfrm>
            <a:off x="2609850" y="171450"/>
            <a:ext cx="419100" cy="4191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AutoShape 25"/>
          <p:cNvSpPr>
            <a:spLocks noChangeArrowheads="1"/>
          </p:cNvSpPr>
          <p:nvPr/>
        </p:nvSpPr>
        <p:spPr bwMode="auto">
          <a:xfrm rot="20940000">
            <a:off x="1752600" y="228600"/>
            <a:ext cx="457200" cy="4572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AutoShape 26"/>
          <p:cNvSpPr>
            <a:spLocks noChangeArrowheads="1"/>
          </p:cNvSpPr>
          <p:nvPr/>
        </p:nvSpPr>
        <p:spPr bwMode="auto">
          <a:xfrm>
            <a:off x="2533650" y="19050"/>
            <a:ext cx="419100" cy="4191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4" name="Group 27"/>
          <p:cNvGrpSpPr/>
          <p:nvPr/>
        </p:nvGrpSpPr>
        <p:grpSpPr>
          <a:xfrm>
            <a:off x="6934200" y="5181600"/>
            <a:ext cx="2033588" cy="1219200"/>
            <a:chOff x="4368" y="3264"/>
            <a:chExt cx="1281" cy="768"/>
          </a:xfrm>
        </p:grpSpPr>
        <p:sp>
          <p:nvSpPr>
            <p:cNvPr id="24" name="AutoShape 28"/>
            <p:cNvSpPr>
              <a:spLocks noChangeArrowheads="1"/>
            </p:cNvSpPr>
            <p:nvPr/>
          </p:nvSpPr>
          <p:spPr bwMode="auto">
            <a:xfrm rot="20940000">
              <a:off x="4368" y="3681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AutoShape 29"/>
            <p:cNvSpPr>
              <a:spLocks noChangeArrowheads="1"/>
            </p:cNvSpPr>
            <p:nvPr/>
          </p:nvSpPr>
          <p:spPr bwMode="auto">
            <a:xfrm>
              <a:off x="4845" y="3324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 rot="1320000">
              <a:off x="5217" y="3264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AutoShape 31"/>
            <p:cNvSpPr>
              <a:spLocks noChangeArrowheads="1"/>
            </p:cNvSpPr>
            <p:nvPr/>
          </p:nvSpPr>
          <p:spPr bwMode="auto">
            <a:xfrm rot="20940000">
              <a:off x="4449" y="3744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AutoShape 32"/>
            <p:cNvSpPr>
              <a:spLocks noChangeArrowheads="1"/>
            </p:cNvSpPr>
            <p:nvPr/>
          </p:nvSpPr>
          <p:spPr bwMode="auto">
            <a:xfrm>
              <a:off x="4893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AutoShape 33"/>
            <p:cNvSpPr>
              <a:spLocks noChangeArrowheads="1"/>
            </p:cNvSpPr>
            <p:nvPr/>
          </p:nvSpPr>
          <p:spPr bwMode="auto">
            <a:xfrm rot="1320000">
              <a:off x="5265" y="3360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" name="AutoShape 34"/>
          <p:cNvSpPr>
            <a:spLocks noChangeArrowheads="1"/>
          </p:cNvSpPr>
          <p:nvPr/>
        </p:nvSpPr>
        <p:spPr bwMode="auto">
          <a:xfrm rot="1320000">
            <a:off x="168275" y="244475"/>
            <a:ext cx="882650" cy="88265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2667000"/>
            <a:ext cx="6400800" cy="32766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3091" name="Rectangle 1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14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76200" y="6323013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246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228600"/>
            <a:ext cx="7772400" cy="579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0" name="Rectangle 16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1031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2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>
              <a:gd name="T0" fmla="*/ 350 w 351"/>
              <a:gd name="T1" fmla="*/ 1 h 219"/>
              <a:gd name="T2" fmla="*/ 101 w 351"/>
              <a:gd name="T3" fmla="*/ 0 h 219"/>
              <a:gd name="T4" fmla="*/ 81 w 351"/>
              <a:gd name="T5" fmla="*/ 2 h 219"/>
              <a:gd name="T6" fmla="*/ 67 w 351"/>
              <a:gd name="T7" fmla="*/ 6 h 219"/>
              <a:gd name="T8" fmla="*/ 51 w 351"/>
              <a:gd name="T9" fmla="*/ 15 h 219"/>
              <a:gd name="T10" fmla="*/ 38 w 351"/>
              <a:gd name="T11" fmla="*/ 25 h 219"/>
              <a:gd name="T12" fmla="*/ 28 w 351"/>
              <a:gd name="T13" fmla="*/ 35 h 219"/>
              <a:gd name="T14" fmla="*/ 19 w 351"/>
              <a:gd name="T15" fmla="*/ 48 h 219"/>
              <a:gd name="T16" fmla="*/ 12 w 351"/>
              <a:gd name="T17" fmla="*/ 59 h 219"/>
              <a:gd name="T18" fmla="*/ 6 w 351"/>
              <a:gd name="T19" fmla="*/ 73 h 219"/>
              <a:gd name="T20" fmla="*/ 1 w 351"/>
              <a:gd name="T21" fmla="*/ 89 h 219"/>
              <a:gd name="T22" fmla="*/ 1 w 351"/>
              <a:gd name="T23" fmla="*/ 99 h 219"/>
              <a:gd name="T24" fmla="*/ 0 w 351"/>
              <a:gd name="T25" fmla="*/ 119 h 219"/>
              <a:gd name="T26" fmla="*/ 2 w 351"/>
              <a:gd name="T27" fmla="*/ 136 h 219"/>
              <a:gd name="T28" fmla="*/ 9 w 351"/>
              <a:gd name="T29" fmla="*/ 150 h 219"/>
              <a:gd name="T30" fmla="*/ 15 w 351"/>
              <a:gd name="T31" fmla="*/ 164 h 219"/>
              <a:gd name="T32" fmla="*/ 24 w 351"/>
              <a:gd name="T33" fmla="*/ 176 h 219"/>
              <a:gd name="T34" fmla="*/ 33 w 351"/>
              <a:gd name="T35" fmla="*/ 189 h 219"/>
              <a:gd name="T36" fmla="*/ 46 w 351"/>
              <a:gd name="T37" fmla="*/ 198 h 219"/>
              <a:gd name="T38" fmla="*/ 59 w 351"/>
              <a:gd name="T39" fmla="*/ 207 h 219"/>
              <a:gd name="T40" fmla="*/ 72 w 351"/>
              <a:gd name="T41" fmla="*/ 212 h 219"/>
              <a:gd name="T42" fmla="*/ 90 w 351"/>
              <a:gd name="T43" fmla="*/ 218 h 219"/>
              <a:gd name="T44" fmla="*/ 350 w 351"/>
              <a:gd name="T45" fmla="*/ 218 h 219"/>
              <a:gd name="T46" fmla="*/ 35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>
              <a:gd name="T0" fmla="*/ 0 w 351"/>
              <a:gd name="T1" fmla="*/ 1 h 219"/>
              <a:gd name="T2" fmla="*/ 249 w 351"/>
              <a:gd name="T3" fmla="*/ 0 h 219"/>
              <a:gd name="T4" fmla="*/ 268 w 351"/>
              <a:gd name="T5" fmla="*/ 3 h 219"/>
              <a:gd name="T6" fmla="*/ 283 w 351"/>
              <a:gd name="T7" fmla="*/ 6 h 219"/>
              <a:gd name="T8" fmla="*/ 298 w 351"/>
              <a:gd name="T9" fmla="*/ 16 h 219"/>
              <a:gd name="T10" fmla="*/ 311 w 351"/>
              <a:gd name="T11" fmla="*/ 26 h 219"/>
              <a:gd name="T12" fmla="*/ 321 w 351"/>
              <a:gd name="T13" fmla="*/ 35 h 219"/>
              <a:gd name="T14" fmla="*/ 331 w 351"/>
              <a:gd name="T15" fmla="*/ 48 h 219"/>
              <a:gd name="T16" fmla="*/ 337 w 351"/>
              <a:gd name="T17" fmla="*/ 60 h 219"/>
              <a:gd name="T18" fmla="*/ 344 w 351"/>
              <a:gd name="T19" fmla="*/ 74 h 219"/>
              <a:gd name="T20" fmla="*/ 349 w 351"/>
              <a:gd name="T21" fmla="*/ 90 h 219"/>
              <a:gd name="T22" fmla="*/ 349 w 351"/>
              <a:gd name="T23" fmla="*/ 100 h 219"/>
              <a:gd name="T24" fmla="*/ 350 w 351"/>
              <a:gd name="T25" fmla="*/ 119 h 219"/>
              <a:gd name="T26" fmla="*/ 347 w 351"/>
              <a:gd name="T27" fmla="*/ 136 h 219"/>
              <a:gd name="T28" fmla="*/ 341 w 351"/>
              <a:gd name="T29" fmla="*/ 151 h 219"/>
              <a:gd name="T30" fmla="*/ 334 w 351"/>
              <a:gd name="T31" fmla="*/ 165 h 219"/>
              <a:gd name="T32" fmla="*/ 325 w 351"/>
              <a:gd name="T33" fmla="*/ 176 h 219"/>
              <a:gd name="T34" fmla="*/ 316 w 351"/>
              <a:gd name="T35" fmla="*/ 189 h 219"/>
              <a:gd name="T36" fmla="*/ 303 w 351"/>
              <a:gd name="T37" fmla="*/ 199 h 219"/>
              <a:gd name="T38" fmla="*/ 290 w 351"/>
              <a:gd name="T39" fmla="*/ 208 h 219"/>
              <a:gd name="T40" fmla="*/ 277 w 351"/>
              <a:gd name="T41" fmla="*/ 213 h 219"/>
              <a:gd name="T42" fmla="*/ 259 w 351"/>
              <a:gd name="T43" fmla="*/ 218 h 219"/>
              <a:gd name="T44" fmla="*/ 0 w 351"/>
              <a:gd name="T45" fmla="*/ 218 h 219"/>
              <a:gd name="T46" fmla="*/ 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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9.png"/><Relationship Id="rId1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3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77.png"/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8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5635" y="1630045"/>
            <a:ext cx="8107680" cy="2719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b="1" dirty="0">
                <a:solidFill>
                  <a:schemeClr val="bg2"/>
                </a:solidFill>
              </a:rPr>
              <a:t>选择第</a:t>
            </a:r>
            <a:r>
              <a:rPr lang="en-US" altLang="zh-CN" b="1" i="1" dirty="0">
                <a:solidFill>
                  <a:schemeClr val="bg2"/>
                </a:solidFill>
              </a:rPr>
              <a:t>k</a:t>
            </a:r>
            <a:r>
              <a:rPr lang="zh-CN" altLang="en-US" b="1" dirty="0" smtClean="0">
                <a:solidFill>
                  <a:schemeClr val="bg2"/>
                </a:solidFill>
              </a:rPr>
              <a:t>小实现算法：</a:t>
            </a:r>
            <a:endParaRPr lang="zh-CN" altLang="en-US" b="1" dirty="0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b="1" dirty="0">
                <a:solidFill>
                  <a:schemeClr val="bg2"/>
                </a:solidFill>
              </a:rPr>
              <a:t>（</a:t>
            </a:r>
            <a:r>
              <a:rPr lang="en-US" altLang="zh-CN" b="1" dirty="0">
                <a:solidFill>
                  <a:schemeClr val="bg2"/>
                </a:solidFill>
              </a:rPr>
              <a:t>1</a:t>
            </a:r>
            <a:r>
              <a:rPr lang="zh-CN" altLang="en-US" b="1" dirty="0">
                <a:solidFill>
                  <a:schemeClr val="bg2"/>
                </a:solidFill>
              </a:rPr>
              <a:t>）算法一</a:t>
            </a:r>
            <a:endParaRPr lang="zh-CN" altLang="en-US" b="1" dirty="0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endParaRPr lang="zh-CN" altLang="en-US" b="1" dirty="0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endParaRPr lang="zh-CN" altLang="en-US" b="1" dirty="0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endParaRPr lang="zh-CN" altLang="en-US" b="1" dirty="0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b="1" dirty="0">
                <a:solidFill>
                  <a:schemeClr val="bg2"/>
                </a:solidFill>
              </a:rPr>
              <a:t>（</a:t>
            </a:r>
            <a:r>
              <a:rPr lang="en-US" altLang="zh-CN" b="1" dirty="0">
                <a:solidFill>
                  <a:schemeClr val="bg2"/>
                </a:solidFill>
              </a:rPr>
              <a:t>2</a:t>
            </a:r>
            <a:r>
              <a:rPr lang="zh-CN" altLang="en-US" b="1" dirty="0">
                <a:solidFill>
                  <a:schemeClr val="bg2"/>
                </a:solidFill>
              </a:rPr>
              <a:t>）算法二</a:t>
            </a:r>
            <a:endParaRPr lang="zh-CN" altLang="en-US" b="1" dirty="0">
              <a:solidFill>
                <a:schemeClr val="bg2"/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9445" y="2571115"/>
            <a:ext cx="3248025" cy="990600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445" y="4517390"/>
            <a:ext cx="4400550" cy="1000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5635" y="1630045"/>
            <a:ext cx="7116445" cy="4985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b="1" dirty="0">
                <a:solidFill>
                  <a:schemeClr val="bg2"/>
                </a:solidFill>
              </a:rPr>
              <a:t>（</a:t>
            </a:r>
            <a:r>
              <a:rPr lang="en-US" altLang="zh-CN" b="1" dirty="0">
                <a:solidFill>
                  <a:schemeClr val="bg2"/>
                </a:solidFill>
              </a:rPr>
              <a:t>3</a:t>
            </a:r>
            <a:r>
              <a:rPr lang="zh-CN" altLang="en-US" b="1" dirty="0" smtClean="0">
                <a:solidFill>
                  <a:schemeClr val="bg2"/>
                </a:solidFill>
              </a:rPr>
              <a:t>）</a:t>
            </a:r>
            <a:r>
              <a:rPr lang="zh-CN" altLang="en-US" b="1" dirty="0" smtClean="0">
                <a:solidFill>
                  <a:srgbClr val="FF0000"/>
                </a:solidFill>
              </a:rPr>
              <a:t>选择第</a:t>
            </a:r>
            <a:r>
              <a:rPr lang="en-US" altLang="zh-CN" b="1" i="1" dirty="0" smtClean="0">
                <a:solidFill>
                  <a:srgbClr val="FF0000"/>
                </a:solidFill>
              </a:rPr>
              <a:t>k</a:t>
            </a:r>
            <a:r>
              <a:rPr lang="zh-CN" altLang="en-US" b="1" dirty="0" smtClean="0">
                <a:solidFill>
                  <a:srgbClr val="FF0000"/>
                </a:solidFill>
              </a:rPr>
              <a:t>小</a:t>
            </a:r>
            <a:r>
              <a:rPr lang="zh-CN" altLang="en-US" b="1" dirty="0" smtClean="0">
                <a:solidFill>
                  <a:schemeClr val="bg2"/>
                </a:solidFill>
              </a:rPr>
              <a:t>算法</a:t>
            </a:r>
            <a:r>
              <a:rPr lang="zh-CN" altLang="en-US" b="1" dirty="0">
                <a:solidFill>
                  <a:schemeClr val="bg2"/>
                </a:solidFill>
              </a:rPr>
              <a:t>三：分治策略</a:t>
            </a:r>
            <a:endParaRPr lang="zh-CN" altLang="en-US" b="1" dirty="0">
              <a:solidFill>
                <a:schemeClr val="bg2"/>
              </a:solidFill>
            </a:endParaRPr>
          </a:p>
        </p:txBody>
      </p:sp>
      <p:pic>
        <p:nvPicPr>
          <p:cNvPr id="6" name="20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9695" y="2127250"/>
            <a:ext cx="4392295" cy="426720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860" y="2625725"/>
            <a:ext cx="5438775" cy="1314450"/>
          </a:xfrm>
          <a:prstGeom prst="rect">
            <a:avLst/>
          </a:prstGeom>
        </p:spPr>
      </p:pic>
      <p:pic>
        <p:nvPicPr>
          <p:cNvPr id="8" name="20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060" y="4469765"/>
            <a:ext cx="5181600" cy="1647825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1673860" y="3868420"/>
            <a:ext cx="6396355" cy="459740"/>
            <a:chOff x="2636" y="5979"/>
            <a:chExt cx="10073" cy="724"/>
          </a:xfrm>
        </p:grpSpPr>
        <p:sp>
          <p:nvSpPr>
            <p:cNvPr id="9" name="矩形 8"/>
            <p:cNvSpPr/>
            <p:nvPr/>
          </p:nvSpPr>
          <p:spPr>
            <a:xfrm>
              <a:off x="2636" y="5979"/>
              <a:ext cx="3742" cy="681"/>
            </a:xfrm>
            <a:prstGeom prst="rect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1" i="1" u="none" strike="noStrike" cap="none" normalizeH="0" baseline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r>
                <a:rPr kumimoji="1" lang="en-US" altLang="zh-CN" sz="2400" b="0" i="0" u="none" strike="noStrike" cap="none" normalizeH="0" baseline="-2500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400" b="0" i="0" u="none" strike="noStrike" cap="none" normalizeH="0" baseline="-2500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7459" y="5979"/>
              <a:ext cx="5250" cy="681"/>
            </a:xfrm>
            <a:prstGeom prst="rect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1" i="1" u="none" strike="noStrike" cap="none" normalizeH="0" baseline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r>
                <a:rPr kumimoji="1" lang="en-US" altLang="zh-CN" sz="2400" b="0" i="0" u="none" strike="noStrike" cap="none" normalizeH="0" baseline="-2500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kumimoji="1" lang="en-US" altLang="zh-CN" sz="2400" b="0" i="0" u="none" strike="noStrike" cap="none" normalizeH="0" baseline="-2500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468" y="5979"/>
              <a:ext cx="901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>
                  <a:solidFill>
                    <a:schemeClr val="bg2"/>
                  </a:solidFill>
                </a:rPr>
                <a:t>m</a:t>
              </a:r>
              <a:r>
                <a:rPr lang="en-US" altLang="zh-CN">
                  <a:solidFill>
                    <a:schemeClr val="bg2"/>
                  </a:solidFill>
                </a:rPr>
                <a:t>*</a:t>
              </a:r>
              <a:endParaRPr lang="en-US" altLang="zh-CN">
                <a:solidFill>
                  <a:schemeClr val="bg2"/>
                </a:solidFill>
              </a:endParaRPr>
            </a:p>
          </p:txBody>
        </p:sp>
      </p:grpSp>
      <p:pic>
        <p:nvPicPr>
          <p:cNvPr id="14" name="20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2585" y="6117590"/>
            <a:ext cx="3905250" cy="48577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070" y="1659890"/>
            <a:ext cx="354330" cy="438150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35" y="1659890"/>
            <a:ext cx="4229100" cy="4572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67045" y="1659890"/>
            <a:ext cx="254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</a:rPr>
              <a:t>实例：</a:t>
            </a:r>
            <a:r>
              <a:rPr lang="zh-CN" altLang="en-US" b="1" i="1" dirty="0">
                <a:solidFill>
                  <a:schemeClr val="bg2"/>
                </a:solidFill>
              </a:rPr>
              <a:t>n</a:t>
            </a:r>
            <a:r>
              <a:rPr lang="zh-CN" altLang="en-US" dirty="0">
                <a:solidFill>
                  <a:schemeClr val="bg2"/>
                </a:solidFill>
              </a:rPr>
              <a:t>=15, </a:t>
            </a:r>
            <a:r>
              <a:rPr lang="zh-CN" altLang="en-US" b="1" i="1" dirty="0">
                <a:solidFill>
                  <a:schemeClr val="bg2"/>
                </a:solidFill>
              </a:rPr>
              <a:t>k</a:t>
            </a:r>
            <a:r>
              <a:rPr lang="zh-CN" altLang="en-US" dirty="0">
                <a:solidFill>
                  <a:schemeClr val="bg2"/>
                </a:solidFill>
              </a:rPr>
              <a:t>=6</a:t>
            </a:r>
            <a:endParaRPr lang="zh-CN" altLang="en-US" dirty="0">
              <a:solidFill>
                <a:schemeClr val="bg2"/>
              </a:solidFill>
            </a:endParaRPr>
          </a:p>
        </p:txBody>
      </p:sp>
      <p:pic>
        <p:nvPicPr>
          <p:cNvPr id="6" name="20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135" y="2674620"/>
            <a:ext cx="6429375" cy="5048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36625" y="2188845"/>
            <a:ext cx="455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（</a:t>
            </a:r>
            <a:r>
              <a:rPr lang="en-US" altLang="zh-CN">
                <a:solidFill>
                  <a:schemeClr val="bg2"/>
                </a:solidFill>
              </a:rPr>
              <a:t>1</a:t>
            </a:r>
            <a:r>
              <a:rPr lang="zh-CN" altLang="en-US">
                <a:solidFill>
                  <a:schemeClr val="bg2"/>
                </a:solidFill>
              </a:rPr>
              <a:t>）</a:t>
            </a:r>
            <a:r>
              <a:rPr lang="en-US" altLang="zh-CN">
                <a:solidFill>
                  <a:schemeClr val="bg2"/>
                </a:solidFill>
              </a:rPr>
              <a:t>5</a:t>
            </a:r>
            <a:r>
              <a:rPr lang="zh-CN" altLang="en-US">
                <a:solidFill>
                  <a:schemeClr val="bg2"/>
                </a:solidFill>
              </a:rPr>
              <a:t>个数一组，共划分成</a:t>
            </a:r>
            <a:r>
              <a:rPr lang="en-US" altLang="zh-CN" b="1" i="1">
                <a:solidFill>
                  <a:schemeClr val="bg2"/>
                </a:solidFill>
              </a:rPr>
              <a:t>n</a:t>
            </a:r>
            <a:r>
              <a:rPr lang="en-US" altLang="zh-CN">
                <a:solidFill>
                  <a:schemeClr val="bg2"/>
                </a:solidFill>
              </a:rPr>
              <a:t>/5</a:t>
            </a:r>
            <a:r>
              <a:rPr lang="zh-CN" altLang="en-US">
                <a:solidFill>
                  <a:schemeClr val="bg2"/>
                </a:solidFill>
              </a:rPr>
              <a:t>组</a:t>
            </a:r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69645" y="3270885"/>
            <a:ext cx="74676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（</a:t>
            </a:r>
            <a:r>
              <a:rPr lang="en-US" altLang="zh-CN">
                <a:solidFill>
                  <a:schemeClr val="bg2"/>
                </a:solidFill>
              </a:rPr>
              <a:t>2</a:t>
            </a:r>
            <a:r>
              <a:rPr lang="zh-CN" altLang="en-US">
                <a:solidFill>
                  <a:schemeClr val="bg2"/>
                </a:solidFill>
              </a:rPr>
              <a:t>）每组的</a:t>
            </a:r>
            <a:r>
              <a:rPr lang="en-US" altLang="zh-CN">
                <a:solidFill>
                  <a:schemeClr val="bg2"/>
                </a:solidFill>
              </a:rPr>
              <a:t>5</a:t>
            </a:r>
            <a:r>
              <a:rPr lang="zh-CN" altLang="en-US">
                <a:solidFill>
                  <a:schemeClr val="bg2"/>
                </a:solidFill>
              </a:rPr>
              <a:t>个数排序（例如：从大到小），则每组的中位数构成一维数组</a:t>
            </a:r>
            <a:r>
              <a:rPr lang="en-US" altLang="zh-CN" b="1" i="1">
                <a:solidFill>
                  <a:schemeClr val="bg2"/>
                </a:solidFill>
              </a:rPr>
              <a:t>M</a:t>
            </a:r>
            <a:r>
              <a:rPr lang="zh-CN" altLang="en-US">
                <a:solidFill>
                  <a:schemeClr val="bg2"/>
                </a:solidFill>
              </a:rPr>
              <a:t>，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M</a:t>
            </a:r>
            <a:r>
              <a:rPr lang="zh-CN" altLang="en-US">
                <a:solidFill>
                  <a:schemeClr val="bg2"/>
                </a:solidFill>
              </a:rPr>
              <a:t>中共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n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/5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个数。</a:t>
            </a:r>
            <a:endParaRPr lang="zh-CN" altLang="en-US">
              <a:solidFill>
                <a:schemeClr val="bg2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69645" y="4100830"/>
            <a:ext cx="746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</a:rPr>
              <a:t>（</a:t>
            </a:r>
            <a:r>
              <a:rPr lang="en-US" altLang="zh-CN" dirty="0">
                <a:solidFill>
                  <a:schemeClr val="bg2"/>
                </a:solidFill>
              </a:rPr>
              <a:t>3</a:t>
            </a:r>
            <a:r>
              <a:rPr lang="zh-CN" altLang="en-US" dirty="0">
                <a:solidFill>
                  <a:schemeClr val="bg2"/>
                </a:solidFill>
              </a:rPr>
              <a:t>）找到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M</a:t>
            </a:r>
            <a:r>
              <a:rPr lang="zh-CN" altLang="en-US" dirty="0">
                <a:solidFill>
                  <a:schemeClr val="bg2"/>
                </a:solidFill>
              </a:rPr>
              <a:t>的中位数，该数即为</a:t>
            </a:r>
            <a:r>
              <a:rPr lang="en-US" altLang="zh-CN" b="1" i="1" dirty="0">
                <a:solidFill>
                  <a:schemeClr val="bg2"/>
                </a:solidFill>
              </a:rPr>
              <a:t>m</a:t>
            </a:r>
            <a:r>
              <a:rPr lang="en-US" altLang="zh-CN" dirty="0" smtClean="0">
                <a:solidFill>
                  <a:schemeClr val="bg2"/>
                </a:solidFill>
              </a:rPr>
              <a:t>*</a:t>
            </a:r>
            <a:r>
              <a:rPr lang="zh-CN" altLang="en-US" dirty="0" smtClean="0">
                <a:solidFill>
                  <a:schemeClr val="bg2"/>
                </a:solidFill>
              </a:rPr>
              <a:t>，使用</a:t>
            </a:r>
            <a:r>
              <a:rPr lang="en-US" altLang="zh-CN" b="1" i="1" dirty="0">
                <a:solidFill>
                  <a:schemeClr val="bg2"/>
                </a:solidFill>
              </a:rPr>
              <a:t>m</a:t>
            </a:r>
            <a:r>
              <a:rPr lang="en-US" altLang="zh-CN" dirty="0">
                <a:solidFill>
                  <a:schemeClr val="bg2"/>
                </a:solidFill>
              </a:rPr>
              <a:t>*</a:t>
            </a:r>
            <a:r>
              <a:rPr lang="zh-CN" altLang="en-US" dirty="0" smtClean="0">
                <a:solidFill>
                  <a:schemeClr val="bg2"/>
                </a:solidFill>
              </a:rPr>
              <a:t>进行一</a:t>
            </a:r>
            <a:r>
              <a:rPr lang="zh-CN" altLang="en-US" dirty="0">
                <a:solidFill>
                  <a:schemeClr val="bg2"/>
                </a:solidFill>
              </a:rPr>
              <a:t>次分划。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</p:txBody>
      </p:sp>
      <p:pic>
        <p:nvPicPr>
          <p:cNvPr id="10" name="20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5736" y="4561205"/>
            <a:ext cx="6287770" cy="190944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3510" y="1696720"/>
            <a:ext cx="6316980" cy="2479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55875" y="1701800"/>
            <a:ext cx="791845" cy="1080135"/>
          </a:xfrm>
          <a:prstGeom prst="rect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04840" y="3167380"/>
            <a:ext cx="441960" cy="938530"/>
          </a:xfrm>
          <a:prstGeom prst="rect">
            <a:avLst/>
          </a:prstGeom>
          <a:noFill/>
          <a:ln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27020" y="1828800"/>
            <a:ext cx="299720" cy="953135"/>
          </a:xfrm>
          <a:prstGeom prst="rect">
            <a:avLst/>
          </a:prstGeom>
          <a:noFill/>
          <a:ln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2625090" y="2809240"/>
            <a:ext cx="2476500" cy="1470025"/>
          </a:xfrm>
          <a:custGeom>
            <a:avLst/>
            <a:gdLst>
              <a:gd name="connisteX0" fmla="*/ 137205 w 2476298"/>
              <a:gd name="connsiteY0" fmla="*/ 72043 h 1470089"/>
              <a:gd name="connisteX1" fmla="*/ 231820 w 2476298"/>
              <a:gd name="connsiteY1" fmla="*/ 1346488 h 1470089"/>
              <a:gd name="connisteX2" fmla="*/ 2355260 w 2476298"/>
              <a:gd name="connsiteY2" fmla="*/ 1251873 h 1470089"/>
              <a:gd name="connisteX3" fmla="*/ 1946320 w 2476298"/>
              <a:gd name="connsiteY3" fmla="*/ 402243 h 1470089"/>
              <a:gd name="connisteX4" fmla="*/ 923970 w 2476298"/>
              <a:gd name="connsiteY4" fmla="*/ 339378 h 1470089"/>
              <a:gd name="connisteX5" fmla="*/ 467405 w 2476298"/>
              <a:gd name="connsiteY5" fmla="*/ 9178 h 1470089"/>
              <a:gd name="connisteX6" fmla="*/ 106090 w 2476298"/>
              <a:gd name="connsiteY6" fmla="*/ 119668 h 147008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2476298" h="1470089">
                <a:moveTo>
                  <a:pt x="137206" y="72044"/>
                </a:moveTo>
                <a:cubicBezTo>
                  <a:pt x="113711" y="328584"/>
                  <a:pt x="-212044" y="1110269"/>
                  <a:pt x="231821" y="1346489"/>
                </a:cubicBezTo>
                <a:cubicBezTo>
                  <a:pt x="675686" y="1582709"/>
                  <a:pt x="2012361" y="1440469"/>
                  <a:pt x="2355261" y="1251874"/>
                </a:cubicBezTo>
                <a:cubicBezTo>
                  <a:pt x="2698161" y="1063279"/>
                  <a:pt x="2232706" y="584489"/>
                  <a:pt x="1946321" y="402244"/>
                </a:cubicBezTo>
                <a:cubicBezTo>
                  <a:pt x="1659936" y="219999"/>
                  <a:pt x="1219881" y="418119"/>
                  <a:pt x="923971" y="339379"/>
                </a:cubicBezTo>
                <a:cubicBezTo>
                  <a:pt x="628061" y="260639"/>
                  <a:pt x="631236" y="52994"/>
                  <a:pt x="467406" y="9179"/>
                </a:cubicBezTo>
                <a:cubicBezTo>
                  <a:pt x="303576" y="-34636"/>
                  <a:pt x="168956" y="91094"/>
                  <a:pt x="106091" y="119669"/>
                </a:cubicBezTo>
              </a:path>
            </a:pathLst>
          </a:cu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3736975" y="1664335"/>
            <a:ext cx="2858135" cy="1563370"/>
          </a:xfrm>
          <a:custGeom>
            <a:avLst/>
            <a:gdLst>
              <a:gd name="connisteX0" fmla="*/ 283893 w 2858371"/>
              <a:gd name="connsiteY0" fmla="*/ 257162 h 1563678"/>
              <a:gd name="connisteX1" fmla="*/ 2580053 w 2858371"/>
              <a:gd name="connsiteY1" fmla="*/ 115557 h 1563678"/>
              <a:gd name="connisteX2" fmla="*/ 2642918 w 2858371"/>
              <a:gd name="connsiteY2" fmla="*/ 1483982 h 1563678"/>
              <a:gd name="connisteX3" fmla="*/ 1699308 w 2858371"/>
              <a:gd name="connsiteY3" fmla="*/ 1279512 h 1563678"/>
              <a:gd name="connisteX4" fmla="*/ 1007158 w 2858371"/>
              <a:gd name="connsiteY4" fmla="*/ 1012177 h 1563678"/>
              <a:gd name="connisteX5" fmla="*/ 189278 w 2858371"/>
              <a:gd name="connsiteY5" fmla="*/ 1090917 h 1563678"/>
              <a:gd name="connisteX6" fmla="*/ 283893 w 2858371"/>
              <a:gd name="connsiteY6" fmla="*/ 257162 h 15636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2858371" h="1563678">
                <a:moveTo>
                  <a:pt x="283894" y="257162"/>
                </a:moveTo>
                <a:cubicBezTo>
                  <a:pt x="762049" y="62217"/>
                  <a:pt x="2108249" y="-129553"/>
                  <a:pt x="2580054" y="115557"/>
                </a:cubicBezTo>
                <a:cubicBezTo>
                  <a:pt x="3051859" y="360667"/>
                  <a:pt x="2818814" y="1250937"/>
                  <a:pt x="2642919" y="1483982"/>
                </a:cubicBezTo>
                <a:cubicBezTo>
                  <a:pt x="2467024" y="1717027"/>
                  <a:pt x="2026334" y="1374127"/>
                  <a:pt x="1699309" y="1279512"/>
                </a:cubicBezTo>
                <a:cubicBezTo>
                  <a:pt x="1372284" y="1184897"/>
                  <a:pt x="1309419" y="1049642"/>
                  <a:pt x="1007159" y="1012177"/>
                </a:cubicBezTo>
                <a:cubicBezTo>
                  <a:pt x="704899" y="974712"/>
                  <a:pt x="334059" y="1242047"/>
                  <a:pt x="189279" y="1090917"/>
                </a:cubicBezTo>
                <a:cubicBezTo>
                  <a:pt x="44499" y="939787"/>
                  <a:pt x="-194261" y="452107"/>
                  <a:pt x="283894" y="257162"/>
                </a:cubicBezTo>
                <a:close/>
              </a:path>
            </a:pathLst>
          </a:custGeom>
          <a:noFill/>
          <a:ln w="60325"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853565" y="4453255"/>
            <a:ext cx="47415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i="1">
                <a:solidFill>
                  <a:schemeClr val="bg2"/>
                </a:solidFill>
              </a:rPr>
              <a:t>A</a:t>
            </a:r>
            <a:r>
              <a:rPr lang="en-US" altLang="zh-CN">
                <a:solidFill>
                  <a:schemeClr val="bg2"/>
                </a:solidFill>
              </a:rPr>
              <a:t>(</a:t>
            </a:r>
            <a:r>
              <a:rPr lang="zh-CN" altLang="en-US">
                <a:solidFill>
                  <a:schemeClr val="bg2"/>
                </a:solidFill>
              </a:rPr>
              <a:t>8, 7</a:t>
            </a:r>
            <a:r>
              <a:rPr lang="en-US" altLang="zh-CN">
                <a:solidFill>
                  <a:schemeClr val="bg2"/>
                </a:solidFill>
              </a:rPr>
              <a:t>)</a:t>
            </a:r>
            <a:r>
              <a:rPr lang="zh-CN" altLang="en-US">
                <a:solidFill>
                  <a:schemeClr val="bg2"/>
                </a:solidFill>
              </a:rPr>
              <a:t>, </a:t>
            </a:r>
            <a:r>
              <a:rPr lang="en-US" altLang="zh-CN" b="1" i="1">
                <a:solidFill>
                  <a:schemeClr val="bg2"/>
                </a:solidFill>
              </a:rPr>
              <a:t>D</a:t>
            </a:r>
            <a:r>
              <a:rPr lang="en-US" altLang="zh-CN">
                <a:solidFill>
                  <a:schemeClr val="bg2"/>
                </a:solidFill>
              </a:rPr>
              <a:t>(</a:t>
            </a:r>
            <a:r>
              <a:rPr lang="zh-CN" altLang="en-US">
                <a:solidFill>
                  <a:schemeClr val="bg2"/>
                </a:solidFill>
              </a:rPr>
              <a:t>10, 4</a:t>
            </a:r>
            <a:r>
              <a:rPr lang="en-US" altLang="zh-CN">
                <a:solidFill>
                  <a:schemeClr val="bg2"/>
                </a:solidFill>
              </a:rPr>
              <a:t>)</a:t>
            </a:r>
            <a:r>
              <a:rPr lang="zh-CN" altLang="en-US">
                <a:solidFill>
                  <a:schemeClr val="bg2"/>
                </a:solidFill>
              </a:rPr>
              <a:t> 需要与</a:t>
            </a:r>
            <a:r>
              <a:rPr lang="en-US" altLang="zh-CN" b="1" i="1">
                <a:solidFill>
                  <a:schemeClr val="bg2"/>
                </a:solidFill>
              </a:rPr>
              <a:t>m</a:t>
            </a:r>
            <a:r>
              <a:rPr lang="en-US" altLang="zh-CN">
                <a:solidFill>
                  <a:schemeClr val="bg2"/>
                </a:solidFill>
              </a:rPr>
              <a:t>*(</a:t>
            </a:r>
            <a:r>
              <a:rPr lang="zh-CN" altLang="en-US">
                <a:solidFill>
                  <a:schemeClr val="bg2"/>
                </a:solidFill>
              </a:rPr>
              <a:t>9</a:t>
            </a:r>
            <a:r>
              <a:rPr lang="en-US" altLang="zh-CN">
                <a:solidFill>
                  <a:schemeClr val="bg2"/>
                </a:solidFill>
              </a:rPr>
              <a:t>)</a:t>
            </a:r>
            <a:r>
              <a:rPr lang="zh-CN" altLang="en-US">
                <a:solidFill>
                  <a:schemeClr val="bg2"/>
                </a:solidFill>
              </a:rPr>
              <a:t>比较</a:t>
            </a:r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73760" y="5133340"/>
            <a:ext cx="703897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</a:rPr>
              <a:t>归约：将</a:t>
            </a:r>
            <a:r>
              <a:rPr lang="en-US" altLang="zh-CN" b="1" i="1" dirty="0">
                <a:solidFill>
                  <a:schemeClr val="bg2"/>
                </a:solidFill>
              </a:rPr>
              <a:t>A</a:t>
            </a:r>
            <a:r>
              <a:rPr lang="zh-CN" altLang="en-US" dirty="0">
                <a:solidFill>
                  <a:schemeClr val="bg2"/>
                </a:solidFill>
              </a:rPr>
              <a:t>、</a:t>
            </a:r>
            <a:r>
              <a:rPr lang="en-US" altLang="zh-CN" b="1" i="1" dirty="0">
                <a:solidFill>
                  <a:schemeClr val="bg2"/>
                </a:solidFill>
              </a:rPr>
              <a:t>D</a:t>
            </a:r>
            <a:r>
              <a:rPr lang="zh-CN" altLang="en-US" dirty="0">
                <a:solidFill>
                  <a:schemeClr val="bg2"/>
                </a:solidFill>
              </a:rPr>
              <a:t>区域中比</a:t>
            </a:r>
            <a:r>
              <a:rPr lang="en-US" altLang="zh-CN" dirty="0">
                <a:solidFill>
                  <a:schemeClr val="bg2"/>
                </a:solidFill>
              </a:rPr>
              <a:t>9</a:t>
            </a:r>
            <a:r>
              <a:rPr lang="zh-CN" altLang="en-US" dirty="0">
                <a:solidFill>
                  <a:schemeClr val="bg2"/>
                </a:solidFill>
              </a:rPr>
              <a:t>小的放入</a:t>
            </a:r>
            <a:r>
              <a:rPr lang="en-US" altLang="zh-CN" b="1" i="1" dirty="0">
                <a:solidFill>
                  <a:schemeClr val="bg2"/>
                </a:solidFill>
              </a:rPr>
              <a:t>C</a:t>
            </a:r>
            <a:r>
              <a:rPr lang="zh-CN" altLang="en-US" dirty="0">
                <a:solidFill>
                  <a:schemeClr val="bg2"/>
                </a:solidFill>
              </a:rPr>
              <a:t>（</a:t>
            </a:r>
            <a:r>
              <a:rPr lang="en-US" altLang="zh-CN" b="1" i="1" dirty="0">
                <a:solidFill>
                  <a:schemeClr val="bg2"/>
                </a:solidFill>
              </a:rPr>
              <a:t>S</a:t>
            </a:r>
            <a:r>
              <a:rPr lang="en-US" altLang="zh-CN" baseline="-25000" dirty="0">
                <a:solidFill>
                  <a:schemeClr val="bg2"/>
                </a:solidFill>
              </a:rPr>
              <a:t>1</a:t>
            </a:r>
            <a:r>
              <a:rPr lang="zh-CN" altLang="en-US" dirty="0">
                <a:solidFill>
                  <a:schemeClr val="bg2"/>
                </a:solidFill>
              </a:rPr>
              <a:t>）中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，比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9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大的放入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B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S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）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中。</a:t>
            </a:r>
            <a:endParaRPr lang="en-US" altLang="zh-CN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4" grpId="0"/>
      <p:bldP spid="1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20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25" y="4437112"/>
            <a:ext cx="4605020" cy="182943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620" y="1964055"/>
            <a:ext cx="5318760" cy="2535555"/>
          </a:xfrm>
          <a:prstGeom prst="rect">
            <a:avLst/>
          </a:prstGeom>
        </p:spPr>
      </p:pic>
      <p:sp>
        <p:nvSpPr>
          <p:cNvPr id="16" name="任意多边形 15"/>
          <p:cNvSpPr/>
          <p:nvPr/>
        </p:nvSpPr>
        <p:spPr>
          <a:xfrm>
            <a:off x="2587625" y="1743075"/>
            <a:ext cx="3529965" cy="3070225"/>
          </a:xfrm>
          <a:custGeom>
            <a:avLst/>
            <a:gdLst>
              <a:gd name="connisteX0" fmla="*/ 355866 w 3529889"/>
              <a:gd name="connsiteY0" fmla="*/ 112640 h 3069923"/>
              <a:gd name="connisteX1" fmla="*/ 277126 w 3529889"/>
              <a:gd name="connsiteY1" fmla="*/ 2802500 h 3069923"/>
              <a:gd name="connisteX2" fmla="*/ 3501656 w 3529889"/>
              <a:gd name="connsiteY2" fmla="*/ 2723760 h 3069923"/>
              <a:gd name="connisteX3" fmla="*/ 1582686 w 3529889"/>
              <a:gd name="connsiteY3" fmla="*/ 1607430 h 3069923"/>
              <a:gd name="connisteX4" fmla="*/ 701941 w 3529889"/>
              <a:gd name="connsiteY4" fmla="*/ 128515 h 3069923"/>
              <a:gd name="connisteX5" fmla="*/ 324751 w 3529889"/>
              <a:gd name="connsiteY5" fmla="*/ 160265 h 306992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3529889" h="3069923">
                <a:moveTo>
                  <a:pt x="355867" y="112641"/>
                </a:moveTo>
                <a:cubicBezTo>
                  <a:pt x="275857" y="652391"/>
                  <a:pt x="-352158" y="2280531"/>
                  <a:pt x="277127" y="2802501"/>
                </a:cubicBezTo>
                <a:cubicBezTo>
                  <a:pt x="906412" y="3324471"/>
                  <a:pt x="3240672" y="2962521"/>
                  <a:pt x="3501657" y="2723761"/>
                </a:cubicBezTo>
                <a:cubicBezTo>
                  <a:pt x="3762642" y="2485001"/>
                  <a:pt x="2142757" y="2126226"/>
                  <a:pt x="1582687" y="1607431"/>
                </a:cubicBezTo>
                <a:cubicBezTo>
                  <a:pt x="1022617" y="1088636"/>
                  <a:pt x="953402" y="418076"/>
                  <a:pt x="701942" y="128516"/>
                </a:cubicBezTo>
                <a:cubicBezTo>
                  <a:pt x="450482" y="-161044"/>
                  <a:pt x="382537" y="124071"/>
                  <a:pt x="324752" y="160266"/>
                </a:cubicBezTo>
              </a:path>
            </a:pathLst>
          </a:cu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任意多边形 16"/>
          <p:cNvSpPr/>
          <p:nvPr/>
        </p:nvSpPr>
        <p:spPr>
          <a:xfrm>
            <a:off x="3817620" y="1748790"/>
            <a:ext cx="2891790" cy="2462530"/>
          </a:xfrm>
          <a:custGeom>
            <a:avLst/>
            <a:gdLst>
              <a:gd name="connisteX0" fmla="*/ 2601992 w 2891826"/>
              <a:gd name="connsiteY0" fmla="*/ 217248 h 2462366"/>
              <a:gd name="connisteX1" fmla="*/ 2617232 w 2891826"/>
              <a:gd name="connsiteY1" fmla="*/ 2403553 h 2462366"/>
              <a:gd name="connisteX2" fmla="*/ 1264682 w 2891826"/>
              <a:gd name="connsiteY2" fmla="*/ 1616788 h 2462366"/>
              <a:gd name="connisteX3" fmla="*/ 289322 w 2891826"/>
              <a:gd name="connsiteY3" fmla="*/ 1051003 h 2462366"/>
              <a:gd name="connisteX4" fmla="*/ 242332 w 2891826"/>
              <a:gd name="connsiteY4" fmla="*/ 264238 h 2462366"/>
              <a:gd name="connisteX5" fmla="*/ 2601992 w 2891826"/>
              <a:gd name="connsiteY5" fmla="*/ 217248 h 246236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891827" h="2462366">
                <a:moveTo>
                  <a:pt x="2601992" y="217249"/>
                </a:moveTo>
                <a:cubicBezTo>
                  <a:pt x="3076972" y="645239"/>
                  <a:pt x="2884567" y="2123519"/>
                  <a:pt x="2617232" y="2403554"/>
                </a:cubicBezTo>
                <a:cubicBezTo>
                  <a:pt x="2349897" y="2683589"/>
                  <a:pt x="1730137" y="1887299"/>
                  <a:pt x="1264682" y="1616789"/>
                </a:cubicBezTo>
                <a:cubicBezTo>
                  <a:pt x="799227" y="1346279"/>
                  <a:pt x="493792" y="1321514"/>
                  <a:pt x="289322" y="1051004"/>
                </a:cubicBezTo>
                <a:cubicBezTo>
                  <a:pt x="84852" y="780494"/>
                  <a:pt x="-219948" y="431244"/>
                  <a:pt x="242332" y="264239"/>
                </a:cubicBezTo>
                <a:cubicBezTo>
                  <a:pt x="704612" y="97234"/>
                  <a:pt x="2127012" y="-210741"/>
                  <a:pt x="2601992" y="217249"/>
                </a:cubicBezTo>
                <a:close/>
              </a:path>
            </a:pathLst>
          </a:custGeom>
          <a:noFill/>
          <a:ln w="28575" cap="sq" cmpd="sng" algn="ctr">
            <a:solidFill>
              <a:schemeClr val="accent1">
                <a:shade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pic>
        <p:nvPicPr>
          <p:cNvPr id="13" name="20 12"/>
          <p:cNvPicPr>
            <a:picLocks noChangeAspect="1"/>
          </p:cNvPicPr>
          <p:nvPr/>
        </p:nvPicPr>
        <p:blipFill>
          <a:blip r:embed="rId1"/>
          <a:srcRect t="4904"/>
          <a:stretch>
            <a:fillRect/>
          </a:stretch>
        </p:blipFill>
        <p:spPr>
          <a:xfrm>
            <a:off x="1630680" y="1784985"/>
            <a:ext cx="5524500" cy="3288030"/>
          </a:xfrm>
          <a:prstGeom prst="rect">
            <a:avLst/>
          </a:prstGeom>
        </p:spPr>
      </p:pic>
      <p:pic>
        <p:nvPicPr>
          <p:cNvPr id="15" name="20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280" y="5217160"/>
            <a:ext cx="5391150" cy="8477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63888" y="2463279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rgbClr val="FF0000"/>
                </a:solidFill>
              </a:rPr>
              <a:t>A</a:t>
            </a:r>
            <a:endParaRPr lang="zh-CN" altLang="en-US" b="1" i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80112" y="2490137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rgbClr val="FF0000"/>
                </a:solidFill>
              </a:rPr>
              <a:t>B</a:t>
            </a:r>
            <a:endParaRPr lang="zh-CN" altLang="en-US" b="1" i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24936" y="4149080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rgbClr val="FF0000"/>
                </a:solidFill>
              </a:rPr>
              <a:t>C</a:t>
            </a:r>
            <a:endParaRPr lang="zh-CN" altLang="en-US" b="1" i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04676" y="4149080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rgbClr val="FF0000"/>
                </a:solidFill>
              </a:rPr>
              <a:t>D</a:t>
            </a:r>
            <a:endParaRPr lang="zh-CN" alt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6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zh-CN" sz="1800" kern="1200" dirty="0">
                <a:latin typeface="Arial" panose="020B0604020202020204" pitchFamily="34" charset="0"/>
                <a:ea typeface="+mn-ea"/>
                <a:cs typeface="+mn-cs"/>
              </a:rPr>
            </a:fld>
            <a:endParaRPr lang="en-US" altLang="zh-CN" sz="1800" kern="1200" dirty="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1923" name="Rectangle 4"/>
          <p:cNvSpPr/>
          <p:nvPr/>
        </p:nvSpPr>
        <p:spPr>
          <a:xfrm>
            <a:off x="439738" y="1487488"/>
            <a:ext cx="8247062" cy="5149215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ts val="400"/>
              </a:spcBef>
              <a:buNone/>
              <a:tabLst>
                <a:tab pos="733425" algn="l"/>
              </a:tabLst>
            </a:pPr>
            <a:r>
              <a:rPr lang="zh-CN" altLang="en-US" sz="2800" b="1" dirty="0" smtClean="0">
                <a:solidFill>
                  <a:srgbClr val="C00000"/>
                </a:solidFill>
                <a:sym typeface="+mn-ea"/>
              </a:rPr>
              <a:t>选择的分</a:t>
            </a: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治算法</a:t>
            </a:r>
            <a:r>
              <a:rPr lang="en-US" altLang="zh-CN" sz="2800" b="1" dirty="0" smtClean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Select(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S,k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marL="0" lvl="0" indent="0" defTabSz="914400" eaLnBrk="1" hangingPunct="1">
              <a:spcBef>
                <a:spcPts val="400"/>
              </a:spcBef>
              <a:buFontTx/>
              <a:buNone/>
              <a:tabLst>
                <a:tab pos="733425" algn="l"/>
              </a:tabLst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输入：数组 </a:t>
            </a:r>
            <a:r>
              <a:rPr lang="fr-FR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，正整数 </a:t>
            </a:r>
            <a:r>
              <a:rPr lang="fr-FR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b="1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1" hangingPunct="1">
              <a:spcBef>
                <a:spcPts val="400"/>
              </a:spcBef>
              <a:buFontTx/>
              <a:buNone/>
              <a:tabLst>
                <a:tab pos="733425" algn="l"/>
              </a:tabLst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输出：</a:t>
            </a:r>
            <a:r>
              <a:rPr lang="fr-FR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中的第 </a:t>
            </a:r>
            <a:r>
              <a:rPr lang="fr-FR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b="1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小元素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1" hangingPunct="1">
              <a:spcBef>
                <a:spcPts val="400"/>
              </a:spcBef>
              <a:buFontTx/>
              <a:buNone/>
              <a:tabLst>
                <a:tab pos="733425" algn="l"/>
              </a:tabLst>
            </a:pPr>
            <a:r>
              <a:rPr lang="zh-CN" altLang="en-US" sz="20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．将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划分成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个一组，共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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/5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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个</a:t>
            </a:r>
            <a:r>
              <a:rPr lang="zh-CN" altLang="en-US" sz="2400" b="1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组，组内排序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defTabSz="914400" eaLnBrk="1" hangingPunct="1">
              <a:spcBef>
                <a:spcPts val="400"/>
              </a:spcBef>
              <a:buFontTx/>
              <a:buNone/>
              <a:tabLst>
                <a:tab pos="733425" algn="l"/>
              </a:tabLst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．每组找一个中位数，所有个中位数放到集合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defTabSz="914400" eaLnBrk="1" hangingPunct="1">
              <a:spcBef>
                <a:spcPts val="400"/>
              </a:spcBef>
              <a:buFontTx/>
              <a:buNone/>
              <a:tabLst>
                <a:tab pos="733425" algn="l"/>
              </a:tabLst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3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．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*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Select(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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|/2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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//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将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划分成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A,B,C,D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四个集合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defTabSz="914400" eaLnBrk="1" hangingPunct="1">
              <a:spcBef>
                <a:spcPts val="400"/>
              </a:spcBef>
              <a:buFontTx/>
              <a:buNone/>
              <a:tabLst>
                <a:tab pos="733425" algn="l"/>
              </a:tabLst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．把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的每个元素与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比较，小的构成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大的构成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defTabSz="914400" eaLnBrk="1" hangingPunct="1">
              <a:spcBef>
                <a:spcPts val="400"/>
              </a:spcBef>
              <a:buFontTx/>
              <a:buNone/>
              <a:tabLst>
                <a:tab pos="733425" algn="l"/>
              </a:tabLst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5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．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B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defTabSz="914400" eaLnBrk="1" hangingPunct="1">
              <a:spcBef>
                <a:spcPts val="400"/>
              </a:spcBef>
              <a:buFontTx/>
              <a:buNone/>
              <a:tabLst>
                <a:tab pos="733425" algn="l"/>
              </a:tabLst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6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．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if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 |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|+1  then 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输出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*   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defTabSz="914400" eaLnBrk="1" hangingPunct="1">
              <a:spcBef>
                <a:spcPts val="400"/>
              </a:spcBef>
              <a:buFontTx/>
              <a:buNone/>
              <a:tabLst>
                <a:tab pos="733425" algn="l"/>
              </a:tabLst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7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．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else  if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| 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defTabSz="914400" eaLnBrk="1" hangingPunct="1">
              <a:spcBef>
                <a:spcPts val="400"/>
              </a:spcBef>
              <a:buFontTx/>
              <a:buNone/>
              <a:tabLst>
                <a:tab pos="733425" algn="l"/>
              </a:tabLst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8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．       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then  Select(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defTabSz="914400" eaLnBrk="1" hangingPunct="1">
              <a:spcBef>
                <a:spcPts val="400"/>
              </a:spcBef>
              <a:buFontTx/>
              <a:buNone/>
              <a:tabLst>
                <a:tab pos="733425" algn="l"/>
              </a:tabLst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9.           else  Select(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CN" altLang="en-US" sz="1800" b="1" i="1" dirty="0">
                <a:solidFill>
                  <a:schemeClr val="bg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－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zh-CN" altLang="en-US" sz="1800" b="1" dirty="0">
                <a:solidFill>
                  <a:schemeClr val="bg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－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1) 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506730" y="243205"/>
            <a:ext cx="7772400" cy="8445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1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1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19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19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19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6730" y="1597660"/>
            <a:ext cx="32689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>
                <a:solidFill>
                  <a:schemeClr val="bg2"/>
                </a:solidFill>
              </a:rPr>
              <a:t>选择问题的算法分析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6" name="20 5"/>
          <p:cNvPicPr>
            <a:picLocks noChangeAspect="1"/>
          </p:cNvPicPr>
          <p:nvPr/>
        </p:nvPicPr>
        <p:blipFill>
          <a:blip r:embed="rId1"/>
          <a:srcRect t="17772"/>
          <a:stretch>
            <a:fillRect/>
          </a:stretch>
        </p:blipFill>
        <p:spPr>
          <a:xfrm>
            <a:off x="1450340" y="2058035"/>
            <a:ext cx="5633720" cy="3336925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455" y="5394960"/>
            <a:ext cx="5419725" cy="88582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6730" y="1597660"/>
            <a:ext cx="26593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2"/>
                </a:solidFill>
              </a:rPr>
              <a:t>子问题规模估计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785" y="2058035"/>
            <a:ext cx="4591050" cy="457200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785" y="2613025"/>
            <a:ext cx="3152775" cy="971550"/>
          </a:xfrm>
          <a:prstGeom prst="rect">
            <a:avLst/>
          </a:prstGeom>
        </p:spPr>
      </p:pic>
      <p:pic>
        <p:nvPicPr>
          <p:cNvPr id="8" name="20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785" y="3584575"/>
            <a:ext cx="4000500" cy="22860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6730" y="1597660"/>
            <a:ext cx="32689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2"/>
                </a:solidFill>
              </a:rPr>
              <a:t>时间复杂度递推方程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6" name="20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0985" y="2009775"/>
            <a:ext cx="5724525" cy="2838450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050" y="5098415"/>
            <a:ext cx="4733925" cy="56197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6730" y="1597660"/>
            <a:ext cx="32689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2"/>
                </a:solidFill>
              </a:rPr>
              <a:t>时间复杂度递推方程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0125" y="2058035"/>
            <a:ext cx="3629025" cy="590550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055" y="2648585"/>
            <a:ext cx="4857750" cy="2867025"/>
          </a:xfrm>
          <a:prstGeom prst="rect">
            <a:avLst/>
          </a:prstGeom>
        </p:spPr>
      </p:pic>
      <p:pic>
        <p:nvPicPr>
          <p:cNvPr id="8" name="20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955" y="5515610"/>
            <a:ext cx="4933950" cy="60007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6730" y="1669415"/>
            <a:ext cx="82003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2"/>
                </a:solidFill>
              </a:rPr>
              <a:t>讨论：分组时为什么5个元素一组？3个一组或7个一组行不行？</a:t>
            </a:r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83030" y="2789555"/>
            <a:ext cx="254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chemeClr val="bg2"/>
                </a:solidFill>
              </a:rPr>
              <a:t>分析：递归调用</a:t>
            </a:r>
            <a:endParaRPr lang="zh-CN" altLang="en-US" b="1">
              <a:solidFill>
                <a:schemeClr val="bg2"/>
              </a:solidFill>
            </a:endParaRPr>
          </a:p>
        </p:txBody>
      </p:sp>
      <p:pic>
        <p:nvPicPr>
          <p:cNvPr id="7" name="20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535" y="3426460"/>
            <a:ext cx="4657725" cy="790575"/>
          </a:xfrm>
          <a:prstGeom prst="rect">
            <a:avLst/>
          </a:prstGeom>
        </p:spPr>
      </p:pic>
      <p:pic>
        <p:nvPicPr>
          <p:cNvPr id="9" name="20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535" y="4538980"/>
            <a:ext cx="4600575" cy="8001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6730" y="1669415"/>
            <a:ext cx="82003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2"/>
                </a:solidFill>
              </a:rPr>
              <a:t>3分组时的子问题规模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2130" y="2166620"/>
            <a:ext cx="5181600" cy="2238375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900" y="4476750"/>
            <a:ext cx="3771900" cy="971550"/>
          </a:xfrm>
          <a:prstGeom prst="rect">
            <a:avLst/>
          </a:prstGeom>
        </p:spPr>
      </p:pic>
      <p:pic>
        <p:nvPicPr>
          <p:cNvPr id="8" name="20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80" y="5591810"/>
            <a:ext cx="5057775" cy="50482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6730" y="1669415"/>
            <a:ext cx="82003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bg2"/>
                </a:solidFill>
              </a:rPr>
              <a:t>3分组时的时间复杂度</a:t>
            </a:r>
            <a:endParaRPr lang="zh-CN" altLang="en-US" sz="2800" b="1" dirty="0">
              <a:solidFill>
                <a:schemeClr val="bg2"/>
              </a:solidFill>
            </a:endParaRPr>
          </a:p>
        </p:txBody>
      </p:sp>
      <p:pic>
        <p:nvPicPr>
          <p:cNvPr id="6" name="20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265" y="2294890"/>
            <a:ext cx="4505325" cy="1419225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0" y="4057650"/>
            <a:ext cx="5257800" cy="166687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614805"/>
            <a:ext cx="254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</a:rPr>
              <a:t>多项式乘法</a:t>
            </a:r>
            <a:endParaRPr lang="zh-CN" altLang="en-US" dirty="0">
              <a:solidFill>
                <a:schemeClr val="bg2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653519"/>
            <a:ext cx="2160240" cy="335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171300"/>
            <a:ext cx="4752528" cy="82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182636"/>
            <a:ext cx="4752528" cy="89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252598"/>
            <a:ext cx="4608512" cy="1624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556792"/>
            <a:ext cx="7991420" cy="9787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</a:rPr>
              <a:t>多项式乘法的应用</a:t>
            </a:r>
            <a:r>
              <a:rPr lang="en-US" altLang="zh-CN" dirty="0" smtClean="0">
                <a:solidFill>
                  <a:schemeClr val="bg2"/>
                </a:solidFill>
              </a:rPr>
              <a:t>——</a:t>
            </a:r>
            <a:r>
              <a:rPr lang="zh-CN" altLang="en-US" dirty="0" smtClean="0">
                <a:solidFill>
                  <a:schemeClr val="bg2"/>
                </a:solidFill>
              </a:rPr>
              <a:t>向量的卷积计算</a:t>
            </a:r>
            <a:endParaRPr lang="en-US" altLang="zh-CN" dirty="0" smtClean="0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2"/>
                </a:solidFill>
              </a:rPr>
              <a:t>（</a:t>
            </a:r>
            <a:r>
              <a:rPr lang="en-US" altLang="zh-CN" dirty="0">
                <a:solidFill>
                  <a:schemeClr val="bg2"/>
                </a:solidFill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</a:rPr>
              <a:t>）向量的计算</a:t>
            </a:r>
            <a:endParaRPr lang="zh-CN" altLang="en-US" dirty="0">
              <a:solidFill>
                <a:schemeClr val="bg2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614409"/>
            <a:ext cx="3960440" cy="742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387853"/>
            <a:ext cx="4968552" cy="40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1781" y="3918329"/>
            <a:ext cx="4804395" cy="374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390" y="4456138"/>
            <a:ext cx="4680520" cy="1349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556792"/>
            <a:ext cx="8135436" cy="9787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2"/>
                </a:solidFill>
              </a:rPr>
              <a:t>（</a:t>
            </a:r>
            <a:r>
              <a:rPr lang="en-US" altLang="zh-CN" dirty="0">
                <a:solidFill>
                  <a:schemeClr val="bg2"/>
                </a:solidFill>
              </a:rPr>
              <a:t>2</a:t>
            </a:r>
            <a:r>
              <a:rPr lang="zh-CN" altLang="en-US" dirty="0">
                <a:solidFill>
                  <a:schemeClr val="bg2"/>
                </a:solidFill>
              </a:rPr>
              <a:t>）卷积的</a:t>
            </a:r>
            <a:r>
              <a:rPr lang="zh-CN" altLang="en-US" dirty="0" smtClean="0">
                <a:solidFill>
                  <a:schemeClr val="bg2"/>
                </a:solidFill>
              </a:rPr>
              <a:t>含义</a:t>
            </a:r>
            <a:endParaRPr lang="en-US" altLang="zh-CN" dirty="0" smtClean="0">
              <a:solidFill>
                <a:schemeClr val="bg2"/>
              </a:solidFill>
            </a:endParaRPr>
          </a:p>
          <a:p>
            <a:pPr marL="800100" lvl="1" indent="-342900">
              <a:lnSpc>
                <a:spcPct val="120000"/>
              </a:lnSpc>
              <a:buFont typeface="Times New Roman" panose="02020603050405020304" pitchFamily="18" charset="0"/>
              <a:buChar char="–"/>
            </a:pPr>
            <a:r>
              <a:rPr lang="zh-CN" altLang="en-US" dirty="0" smtClean="0">
                <a:solidFill>
                  <a:schemeClr val="bg2"/>
                </a:solidFill>
              </a:rPr>
              <a:t>矩阵</a:t>
            </a:r>
            <a:r>
              <a:rPr lang="zh-CN" altLang="en-US" dirty="0">
                <a:solidFill>
                  <a:schemeClr val="bg2"/>
                </a:solidFill>
              </a:rPr>
              <a:t>中，每个斜线的项之和恰好是卷积中的各个</a:t>
            </a:r>
            <a:r>
              <a:rPr lang="zh-CN" altLang="en-US" dirty="0" smtClean="0">
                <a:solidFill>
                  <a:schemeClr val="bg2"/>
                </a:solidFill>
              </a:rPr>
              <a:t>分量</a:t>
            </a:r>
            <a:endParaRPr lang="zh-CN" altLang="en-US" dirty="0">
              <a:solidFill>
                <a:schemeClr val="bg2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2919" y="2924944"/>
            <a:ext cx="6139441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556792"/>
            <a:ext cx="7991420" cy="5355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00100" lvl="1" indent="-342900">
              <a:lnSpc>
                <a:spcPct val="120000"/>
              </a:lnSpc>
              <a:buFont typeface="Times New Roman" panose="02020603050405020304" pitchFamily="18" charset="0"/>
              <a:buChar char="–"/>
            </a:pPr>
            <a:r>
              <a:rPr lang="zh-CN" altLang="en-US" dirty="0" smtClean="0">
                <a:solidFill>
                  <a:schemeClr val="bg2"/>
                </a:solidFill>
              </a:rPr>
              <a:t>或滑动窗口内</a:t>
            </a:r>
            <a:r>
              <a:rPr lang="zh-CN" altLang="en-US" dirty="0">
                <a:solidFill>
                  <a:schemeClr val="bg2"/>
                </a:solidFill>
              </a:rPr>
              <a:t>对应</a:t>
            </a:r>
            <a:r>
              <a:rPr lang="zh-CN" altLang="en-US" dirty="0" smtClean="0">
                <a:solidFill>
                  <a:schemeClr val="bg2"/>
                </a:solidFill>
              </a:rPr>
              <a:t>数据项的乘积之和</a:t>
            </a:r>
            <a:endParaRPr lang="zh-CN" altLang="en-US" dirty="0">
              <a:solidFill>
                <a:schemeClr val="bg2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355976" y="2175247"/>
          <a:ext cx="452343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429"/>
                <a:gridCol w="565429"/>
                <a:gridCol w="565429"/>
                <a:gridCol w="565429"/>
                <a:gridCol w="565429"/>
                <a:gridCol w="565429"/>
                <a:gridCol w="565429"/>
                <a:gridCol w="565429"/>
              </a:tblGrid>
              <a:tr h="3600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n-3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n-2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n-1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95536" y="2535287"/>
          <a:ext cx="452343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429"/>
                <a:gridCol w="565429"/>
                <a:gridCol w="565429"/>
                <a:gridCol w="565429"/>
                <a:gridCol w="565429"/>
                <a:gridCol w="565429"/>
                <a:gridCol w="565429"/>
                <a:gridCol w="565429"/>
              </a:tblGrid>
              <a:tr h="3600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n-1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aseline="0" dirty="0" smtClean="0"/>
                        <a:t>b</a:t>
                      </a:r>
                      <a:r>
                        <a:rPr lang="en-US" altLang="zh-CN" baseline="-25000" dirty="0" smtClean="0"/>
                        <a:t>n-2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n-3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…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aseline="0" dirty="0" smtClean="0"/>
                        <a:t>b</a:t>
                      </a:r>
                      <a:r>
                        <a:rPr lang="en-US" altLang="zh-CN" baseline="-25000" dirty="0" smtClean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83784" y="2505670"/>
            <a:ext cx="11095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chemeClr val="bg1"/>
                </a:solidFill>
              </a:rPr>
              <a:t>c</a:t>
            </a:r>
            <a:r>
              <a:rPr lang="en-US" altLang="zh-CN" i="1" baseline="-25000" dirty="0" smtClean="0">
                <a:solidFill>
                  <a:schemeClr val="bg1"/>
                </a:solidFill>
              </a:rPr>
              <a:t>0</a:t>
            </a:r>
            <a:r>
              <a:rPr lang="en-US" altLang="zh-CN" dirty="0" smtClean="0">
                <a:solidFill>
                  <a:schemeClr val="bg1"/>
                </a:solidFill>
              </a:rPr>
              <a:t>=</a:t>
            </a:r>
            <a:r>
              <a:rPr lang="en-US" altLang="zh-CN" b="1" i="1" dirty="0" smtClean="0">
                <a:solidFill>
                  <a:schemeClr val="bg1"/>
                </a:solidFill>
              </a:rPr>
              <a:t>a</a:t>
            </a:r>
            <a:r>
              <a:rPr lang="en-US" altLang="zh-CN" baseline="-25000" dirty="0" smtClean="0">
                <a:solidFill>
                  <a:schemeClr val="bg1"/>
                </a:solidFill>
              </a:rPr>
              <a:t>0</a:t>
            </a:r>
            <a:r>
              <a:rPr lang="en-US" altLang="zh-CN" b="1" i="1" dirty="0" smtClean="0">
                <a:solidFill>
                  <a:schemeClr val="bg1"/>
                </a:solidFill>
              </a:rPr>
              <a:t>b</a:t>
            </a:r>
            <a:r>
              <a:rPr lang="en-US" altLang="zh-CN" baseline="-25000" dirty="0" smtClean="0">
                <a:solidFill>
                  <a:schemeClr val="bg1"/>
                </a:solidFill>
              </a:rPr>
              <a:t>0</a:t>
            </a:r>
            <a:endParaRPr lang="zh-CN" altLang="en-US" i="1" baseline="-25000" dirty="0">
              <a:solidFill>
                <a:schemeClr val="bg1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4369048" y="3039343"/>
          <a:ext cx="452343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429"/>
                <a:gridCol w="565429"/>
                <a:gridCol w="565429"/>
                <a:gridCol w="565429"/>
                <a:gridCol w="565429"/>
                <a:gridCol w="565429"/>
                <a:gridCol w="565429"/>
                <a:gridCol w="565429"/>
              </a:tblGrid>
              <a:tr h="3600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n-3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n-2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n-1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971600" y="3399383"/>
          <a:ext cx="452343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429"/>
                <a:gridCol w="565429"/>
                <a:gridCol w="565429"/>
                <a:gridCol w="565429"/>
                <a:gridCol w="565429"/>
                <a:gridCol w="565429"/>
                <a:gridCol w="565429"/>
                <a:gridCol w="565429"/>
              </a:tblGrid>
              <a:tr h="3600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n-1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aseline="0" dirty="0" smtClean="0"/>
                        <a:t>b</a:t>
                      </a:r>
                      <a:r>
                        <a:rPr lang="en-US" altLang="zh-CN" baseline="-25000" dirty="0" smtClean="0"/>
                        <a:t>n-2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n-3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…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aseline="0" dirty="0" smtClean="0"/>
                        <a:t>b</a:t>
                      </a:r>
                      <a:r>
                        <a:rPr lang="en-US" altLang="zh-CN" baseline="-25000" dirty="0" smtClean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4398516" y="3903439"/>
          <a:ext cx="452343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429"/>
                <a:gridCol w="565429"/>
                <a:gridCol w="565429"/>
                <a:gridCol w="565429"/>
                <a:gridCol w="565429"/>
                <a:gridCol w="565429"/>
                <a:gridCol w="565429"/>
                <a:gridCol w="565429"/>
              </a:tblGrid>
              <a:tr h="3600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n-3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n-2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n-1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404234" y="4257759"/>
          <a:ext cx="452343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429"/>
                <a:gridCol w="565429"/>
                <a:gridCol w="565429"/>
                <a:gridCol w="565429"/>
                <a:gridCol w="565429"/>
                <a:gridCol w="565429"/>
                <a:gridCol w="565429"/>
                <a:gridCol w="565429"/>
              </a:tblGrid>
              <a:tr h="3600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n-1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aseline="0" dirty="0" smtClean="0"/>
                        <a:t>b</a:t>
                      </a:r>
                      <a:r>
                        <a:rPr lang="en-US" altLang="zh-CN" baseline="-25000" dirty="0" smtClean="0"/>
                        <a:t>n-2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n-3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…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aseline="0" dirty="0" smtClean="0"/>
                        <a:t>b</a:t>
                      </a:r>
                      <a:r>
                        <a:rPr lang="en-US" altLang="zh-CN" baseline="-25000" dirty="0" smtClean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4027420" y="4761815"/>
          <a:ext cx="452343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429"/>
                <a:gridCol w="565429"/>
                <a:gridCol w="565429"/>
                <a:gridCol w="565429"/>
                <a:gridCol w="565429"/>
                <a:gridCol w="565429"/>
                <a:gridCol w="565429"/>
                <a:gridCol w="565429"/>
              </a:tblGrid>
              <a:tr h="3600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n-3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n-2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n-1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4585072" y="5121855"/>
          <a:ext cx="452343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429"/>
                <a:gridCol w="565429"/>
                <a:gridCol w="565429"/>
                <a:gridCol w="565429"/>
                <a:gridCol w="565429"/>
                <a:gridCol w="565429"/>
                <a:gridCol w="565429"/>
                <a:gridCol w="565429"/>
              </a:tblGrid>
              <a:tr h="3600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n-1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aseline="0" dirty="0" smtClean="0"/>
                        <a:t>b</a:t>
                      </a:r>
                      <a:r>
                        <a:rPr lang="en-US" altLang="zh-CN" baseline="-25000" dirty="0" smtClean="0"/>
                        <a:t>n-2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n-3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…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aseline="0" dirty="0" smtClean="0"/>
                        <a:t>b</a:t>
                      </a:r>
                      <a:r>
                        <a:rPr lang="en-US" altLang="zh-CN" baseline="-25000" dirty="0" smtClean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539552" y="5589240"/>
          <a:ext cx="452343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429"/>
                <a:gridCol w="565429"/>
                <a:gridCol w="565429"/>
                <a:gridCol w="565429"/>
                <a:gridCol w="565429"/>
                <a:gridCol w="565429"/>
                <a:gridCol w="565429"/>
                <a:gridCol w="565429"/>
              </a:tblGrid>
              <a:tr h="3600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n-3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n-2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a</a:t>
                      </a:r>
                      <a:r>
                        <a:rPr lang="en-US" altLang="zh-CN" baseline="-25000" dirty="0" smtClean="0"/>
                        <a:t>n-1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4513064" y="5949280"/>
          <a:ext cx="452343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429"/>
                <a:gridCol w="565429"/>
                <a:gridCol w="565429"/>
                <a:gridCol w="565429"/>
                <a:gridCol w="565429"/>
                <a:gridCol w="565429"/>
                <a:gridCol w="565429"/>
                <a:gridCol w="565429"/>
              </a:tblGrid>
              <a:tr h="3600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n-1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aseline="0" dirty="0" smtClean="0"/>
                        <a:t>b</a:t>
                      </a:r>
                      <a:r>
                        <a:rPr lang="en-US" altLang="zh-CN" baseline="-25000" dirty="0" smtClean="0"/>
                        <a:t>n-2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n-3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…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aseline="0" dirty="0" smtClean="0"/>
                        <a:t>b</a:t>
                      </a:r>
                      <a:r>
                        <a:rPr lang="en-US" altLang="zh-CN" baseline="-25000" dirty="0" smtClean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b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36096" y="3327375"/>
            <a:ext cx="1795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chemeClr val="bg1"/>
                </a:solidFill>
              </a:rPr>
              <a:t>c</a:t>
            </a:r>
            <a:r>
              <a:rPr lang="en-US" altLang="zh-CN" i="1" baseline="-25000" dirty="0" smtClean="0">
                <a:solidFill>
                  <a:schemeClr val="bg1"/>
                </a:solidFill>
              </a:rPr>
              <a:t>1</a:t>
            </a:r>
            <a:r>
              <a:rPr lang="en-US" altLang="zh-CN" dirty="0" smtClean="0">
                <a:solidFill>
                  <a:schemeClr val="bg1"/>
                </a:solidFill>
              </a:rPr>
              <a:t>=</a:t>
            </a:r>
            <a:r>
              <a:rPr lang="en-US" altLang="zh-CN" b="1" i="1" dirty="0" smtClean="0">
                <a:solidFill>
                  <a:schemeClr val="bg1"/>
                </a:solidFill>
              </a:rPr>
              <a:t>a</a:t>
            </a:r>
            <a:r>
              <a:rPr lang="en-US" altLang="zh-CN" baseline="-25000" dirty="0" smtClean="0">
                <a:solidFill>
                  <a:schemeClr val="bg1"/>
                </a:solidFill>
              </a:rPr>
              <a:t>0</a:t>
            </a:r>
            <a:r>
              <a:rPr lang="en-US" altLang="zh-CN" b="1" i="1" dirty="0" smtClean="0">
                <a:solidFill>
                  <a:schemeClr val="bg1"/>
                </a:solidFill>
              </a:rPr>
              <a:t>b</a:t>
            </a:r>
            <a:r>
              <a:rPr lang="en-US" altLang="zh-CN" baseline="-25000" dirty="0" smtClean="0">
                <a:solidFill>
                  <a:schemeClr val="bg1"/>
                </a:solidFill>
              </a:rPr>
              <a:t>1</a:t>
            </a:r>
            <a:r>
              <a:rPr lang="en-US" altLang="zh-CN" dirty="0" smtClean="0">
                <a:solidFill>
                  <a:schemeClr val="bg1"/>
                </a:solidFill>
              </a:rPr>
              <a:t>+</a:t>
            </a:r>
            <a:r>
              <a:rPr lang="en-US" altLang="zh-CN" b="1" i="1" dirty="0" smtClean="0">
                <a:solidFill>
                  <a:schemeClr val="bg1"/>
                </a:solidFill>
              </a:rPr>
              <a:t>a</a:t>
            </a:r>
            <a:r>
              <a:rPr lang="en-US" altLang="zh-CN" baseline="-25000" dirty="0" smtClean="0">
                <a:solidFill>
                  <a:schemeClr val="bg1"/>
                </a:solidFill>
              </a:rPr>
              <a:t>1</a:t>
            </a:r>
            <a:r>
              <a:rPr lang="en-US" altLang="zh-CN" b="1" i="1" dirty="0" smtClean="0">
                <a:solidFill>
                  <a:schemeClr val="bg1"/>
                </a:solidFill>
              </a:rPr>
              <a:t>b</a:t>
            </a:r>
            <a:r>
              <a:rPr lang="en-US" altLang="zh-CN" baseline="-25000" dirty="0" smtClean="0">
                <a:solidFill>
                  <a:schemeClr val="bg1"/>
                </a:solidFill>
              </a:rPr>
              <a:t>0</a:t>
            </a:r>
            <a:endParaRPr lang="zh-CN" altLang="en-US" i="1" baseline="-250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5212" y="4017838"/>
            <a:ext cx="36487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chemeClr val="bg1"/>
                </a:solidFill>
              </a:rPr>
              <a:t>c</a:t>
            </a:r>
            <a:r>
              <a:rPr lang="en-US" altLang="zh-CN" i="1" baseline="-25000" dirty="0" smtClean="0">
                <a:solidFill>
                  <a:schemeClr val="bg1"/>
                </a:solidFill>
              </a:rPr>
              <a:t>n</a:t>
            </a:r>
            <a:r>
              <a:rPr lang="en-US" altLang="zh-CN" baseline="-25000" dirty="0" smtClean="0">
                <a:solidFill>
                  <a:schemeClr val="bg1"/>
                </a:solidFill>
              </a:rPr>
              <a:t>-1</a:t>
            </a:r>
            <a:r>
              <a:rPr lang="en-US" altLang="zh-CN" dirty="0" smtClean="0">
                <a:solidFill>
                  <a:schemeClr val="bg1"/>
                </a:solidFill>
              </a:rPr>
              <a:t>=</a:t>
            </a:r>
            <a:r>
              <a:rPr lang="en-US" altLang="zh-CN" b="1" i="1" dirty="0" smtClean="0">
                <a:solidFill>
                  <a:schemeClr val="bg1"/>
                </a:solidFill>
              </a:rPr>
              <a:t>a</a:t>
            </a:r>
            <a:r>
              <a:rPr lang="en-US" altLang="zh-CN" baseline="-25000" dirty="0" smtClean="0">
                <a:solidFill>
                  <a:schemeClr val="bg1"/>
                </a:solidFill>
              </a:rPr>
              <a:t>0</a:t>
            </a:r>
            <a:r>
              <a:rPr lang="en-US" altLang="zh-CN" b="1" i="1" dirty="0" smtClean="0">
                <a:solidFill>
                  <a:schemeClr val="bg1"/>
                </a:solidFill>
              </a:rPr>
              <a:t>b</a:t>
            </a:r>
            <a:r>
              <a:rPr lang="en-US" altLang="zh-CN" baseline="-25000" dirty="0" smtClean="0">
                <a:solidFill>
                  <a:schemeClr val="bg1"/>
                </a:solidFill>
              </a:rPr>
              <a:t>n-1</a:t>
            </a:r>
            <a:r>
              <a:rPr lang="en-US" altLang="zh-CN" dirty="0" smtClean="0">
                <a:solidFill>
                  <a:schemeClr val="bg1"/>
                </a:solidFill>
              </a:rPr>
              <a:t>+</a:t>
            </a:r>
            <a:r>
              <a:rPr lang="en-US" altLang="zh-CN" b="1" i="1" dirty="0" smtClean="0">
                <a:solidFill>
                  <a:schemeClr val="bg1"/>
                </a:solidFill>
              </a:rPr>
              <a:t>a</a:t>
            </a:r>
            <a:r>
              <a:rPr lang="en-US" altLang="zh-CN" baseline="-25000" dirty="0" smtClean="0">
                <a:solidFill>
                  <a:schemeClr val="bg1"/>
                </a:solidFill>
              </a:rPr>
              <a:t>1</a:t>
            </a:r>
            <a:r>
              <a:rPr lang="en-US" altLang="zh-CN" b="1" i="1" dirty="0" smtClean="0">
                <a:solidFill>
                  <a:schemeClr val="bg1"/>
                </a:solidFill>
              </a:rPr>
              <a:t>b</a:t>
            </a:r>
            <a:r>
              <a:rPr lang="en-US" altLang="zh-CN" baseline="-25000" dirty="0" smtClean="0">
                <a:solidFill>
                  <a:schemeClr val="bg1"/>
                </a:solidFill>
              </a:rPr>
              <a:t>n-2</a:t>
            </a:r>
            <a:r>
              <a:rPr lang="en-US" altLang="zh-CN" dirty="0" smtClean="0">
                <a:solidFill>
                  <a:schemeClr val="bg1"/>
                </a:solidFill>
              </a:rPr>
              <a:t>+…+</a:t>
            </a:r>
            <a:r>
              <a:rPr lang="en-US" altLang="zh-CN" b="1" i="1" dirty="0" smtClean="0">
                <a:solidFill>
                  <a:schemeClr val="bg1"/>
                </a:solidFill>
              </a:rPr>
              <a:t>a</a:t>
            </a:r>
            <a:r>
              <a:rPr lang="en-US" altLang="zh-CN" i="1" baseline="-25000" dirty="0" smtClean="0">
                <a:solidFill>
                  <a:schemeClr val="bg1"/>
                </a:solidFill>
              </a:rPr>
              <a:t>n-1</a:t>
            </a:r>
            <a:r>
              <a:rPr lang="en-US" altLang="zh-CN" b="1" i="1" dirty="0" smtClean="0">
                <a:solidFill>
                  <a:schemeClr val="bg1"/>
                </a:solidFill>
              </a:rPr>
              <a:t>b</a:t>
            </a:r>
            <a:r>
              <a:rPr lang="en-US" altLang="zh-CN" baseline="-25000" dirty="0" smtClean="0">
                <a:solidFill>
                  <a:schemeClr val="bg1"/>
                </a:solidFill>
              </a:rPr>
              <a:t>0</a:t>
            </a:r>
            <a:endParaRPr lang="zh-CN" altLang="en-US" i="1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2718" y="4983559"/>
            <a:ext cx="34772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err="1" smtClean="0">
                <a:solidFill>
                  <a:schemeClr val="bg1"/>
                </a:solidFill>
              </a:rPr>
              <a:t>c</a:t>
            </a:r>
            <a:r>
              <a:rPr lang="en-US" altLang="zh-CN" i="1" baseline="-25000" dirty="0" err="1" smtClean="0">
                <a:solidFill>
                  <a:schemeClr val="bg1"/>
                </a:solidFill>
              </a:rPr>
              <a:t>n</a:t>
            </a:r>
            <a:r>
              <a:rPr lang="en-US" altLang="zh-CN" dirty="0" smtClean="0">
                <a:solidFill>
                  <a:schemeClr val="bg1"/>
                </a:solidFill>
              </a:rPr>
              <a:t>=</a:t>
            </a:r>
            <a:r>
              <a:rPr lang="en-US" altLang="zh-CN" b="1" i="1" dirty="0" smtClean="0">
                <a:solidFill>
                  <a:schemeClr val="bg1"/>
                </a:solidFill>
              </a:rPr>
              <a:t>a</a:t>
            </a:r>
            <a:r>
              <a:rPr lang="en-US" altLang="zh-CN" baseline="-25000" dirty="0" smtClean="0">
                <a:solidFill>
                  <a:schemeClr val="bg1"/>
                </a:solidFill>
              </a:rPr>
              <a:t>1</a:t>
            </a:r>
            <a:r>
              <a:rPr lang="en-US" altLang="zh-CN" b="1" i="1" dirty="0" smtClean="0">
                <a:solidFill>
                  <a:schemeClr val="bg1"/>
                </a:solidFill>
              </a:rPr>
              <a:t>b</a:t>
            </a:r>
            <a:r>
              <a:rPr lang="en-US" altLang="zh-CN" i="1" baseline="-25000" dirty="0" smtClean="0">
                <a:solidFill>
                  <a:schemeClr val="bg1"/>
                </a:solidFill>
              </a:rPr>
              <a:t>n</a:t>
            </a:r>
            <a:r>
              <a:rPr lang="en-US" altLang="zh-CN" baseline="-25000" dirty="0" smtClean="0">
                <a:solidFill>
                  <a:schemeClr val="bg1"/>
                </a:solidFill>
              </a:rPr>
              <a:t>-1</a:t>
            </a:r>
            <a:r>
              <a:rPr lang="en-US" altLang="zh-CN" dirty="0" smtClean="0">
                <a:solidFill>
                  <a:schemeClr val="bg1"/>
                </a:solidFill>
              </a:rPr>
              <a:t>+</a:t>
            </a:r>
            <a:r>
              <a:rPr lang="en-US" altLang="zh-CN" b="1" i="1" dirty="0" smtClean="0">
                <a:solidFill>
                  <a:schemeClr val="bg1"/>
                </a:solidFill>
              </a:rPr>
              <a:t>a</a:t>
            </a:r>
            <a:r>
              <a:rPr lang="en-US" altLang="zh-CN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b="1" i="1" dirty="0" smtClean="0">
                <a:solidFill>
                  <a:schemeClr val="bg1"/>
                </a:solidFill>
              </a:rPr>
              <a:t>b</a:t>
            </a:r>
            <a:r>
              <a:rPr lang="en-US" altLang="zh-CN" i="1" baseline="-25000" dirty="0" smtClean="0">
                <a:solidFill>
                  <a:schemeClr val="bg1"/>
                </a:solidFill>
              </a:rPr>
              <a:t>n</a:t>
            </a:r>
            <a:r>
              <a:rPr lang="en-US" altLang="zh-CN" baseline="-25000" dirty="0" smtClean="0">
                <a:solidFill>
                  <a:schemeClr val="bg1"/>
                </a:solidFill>
              </a:rPr>
              <a:t>-2</a:t>
            </a:r>
            <a:r>
              <a:rPr lang="en-US" altLang="zh-CN" dirty="0" smtClean="0">
                <a:solidFill>
                  <a:schemeClr val="bg1"/>
                </a:solidFill>
              </a:rPr>
              <a:t>+…+</a:t>
            </a:r>
            <a:r>
              <a:rPr lang="en-US" altLang="zh-CN" b="1" i="1" dirty="0" smtClean="0">
                <a:solidFill>
                  <a:schemeClr val="bg1"/>
                </a:solidFill>
              </a:rPr>
              <a:t>a</a:t>
            </a:r>
            <a:r>
              <a:rPr lang="en-US" altLang="zh-CN" i="1" baseline="-25000" dirty="0" smtClean="0">
                <a:solidFill>
                  <a:schemeClr val="bg1"/>
                </a:solidFill>
              </a:rPr>
              <a:t>n-1</a:t>
            </a:r>
            <a:r>
              <a:rPr lang="en-US" altLang="zh-CN" b="1" i="1" dirty="0" smtClean="0">
                <a:solidFill>
                  <a:schemeClr val="bg1"/>
                </a:solidFill>
              </a:rPr>
              <a:t>b</a:t>
            </a:r>
            <a:r>
              <a:rPr lang="en-US" altLang="zh-CN" baseline="-25000" dirty="0">
                <a:solidFill>
                  <a:schemeClr val="bg1"/>
                </a:solidFill>
              </a:rPr>
              <a:t>1</a:t>
            </a:r>
            <a:endParaRPr lang="zh-CN" altLang="en-US" i="1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85205" y="5877272"/>
            <a:ext cx="1726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chemeClr val="bg1"/>
                </a:solidFill>
              </a:rPr>
              <a:t>c</a:t>
            </a:r>
            <a:r>
              <a:rPr lang="en-US" altLang="zh-CN" b="1" i="1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i="1" baseline="-25000" dirty="0" smtClean="0">
                <a:solidFill>
                  <a:schemeClr val="bg1"/>
                </a:solidFill>
              </a:rPr>
              <a:t>n</a:t>
            </a:r>
            <a:r>
              <a:rPr lang="en-US" altLang="zh-CN" baseline="-25000" dirty="0" smtClean="0">
                <a:solidFill>
                  <a:schemeClr val="bg1"/>
                </a:solidFill>
              </a:rPr>
              <a:t>-1</a:t>
            </a:r>
            <a:r>
              <a:rPr lang="en-US" altLang="zh-CN" dirty="0" smtClean="0">
                <a:solidFill>
                  <a:schemeClr val="bg1"/>
                </a:solidFill>
              </a:rPr>
              <a:t>=</a:t>
            </a:r>
            <a:r>
              <a:rPr lang="en-US" altLang="zh-CN" b="1" i="1" dirty="0" smtClean="0">
                <a:solidFill>
                  <a:schemeClr val="bg1"/>
                </a:solidFill>
              </a:rPr>
              <a:t>a</a:t>
            </a:r>
            <a:r>
              <a:rPr lang="en-US" altLang="zh-CN" i="1" baseline="-25000" dirty="0" smtClean="0">
                <a:solidFill>
                  <a:schemeClr val="bg1"/>
                </a:solidFill>
              </a:rPr>
              <a:t>n-</a:t>
            </a:r>
            <a:r>
              <a:rPr lang="en-US" altLang="zh-CN" baseline="-25000" dirty="0" smtClean="0">
                <a:solidFill>
                  <a:schemeClr val="bg1"/>
                </a:solidFill>
              </a:rPr>
              <a:t>1</a:t>
            </a:r>
            <a:r>
              <a:rPr lang="en-US" altLang="zh-CN" b="1" i="1" dirty="0" smtClean="0">
                <a:solidFill>
                  <a:schemeClr val="bg1"/>
                </a:solidFill>
              </a:rPr>
              <a:t>b</a:t>
            </a:r>
            <a:r>
              <a:rPr lang="en-US" altLang="zh-CN" i="1" baseline="-25000" dirty="0" smtClean="0">
                <a:solidFill>
                  <a:schemeClr val="bg1"/>
                </a:solidFill>
              </a:rPr>
              <a:t>n</a:t>
            </a:r>
            <a:r>
              <a:rPr lang="en-US" altLang="zh-CN" baseline="-25000" dirty="0" smtClean="0">
                <a:solidFill>
                  <a:schemeClr val="bg1"/>
                </a:solidFill>
              </a:rPr>
              <a:t>-1</a:t>
            </a:r>
            <a:endParaRPr lang="zh-CN" altLang="en-US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17" grpId="0"/>
      <p:bldP spid="18" grpId="0"/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556792"/>
            <a:ext cx="8135436" cy="4931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chemeClr val="bg2"/>
                </a:solidFill>
              </a:rPr>
              <a:t>（</a:t>
            </a:r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</a:rPr>
              <a:t>）向量计算实例</a:t>
            </a:r>
            <a:endParaRPr lang="zh-CN" altLang="en-US" dirty="0">
              <a:solidFill>
                <a:schemeClr val="bg2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988840"/>
            <a:ext cx="4464496" cy="465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006" y="2576460"/>
            <a:ext cx="968706" cy="1284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3" y="2515822"/>
            <a:ext cx="1728191" cy="409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973130"/>
            <a:ext cx="4752528" cy="1832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02" y="5898281"/>
            <a:ext cx="3257936" cy="400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3" y="3532786"/>
            <a:ext cx="3126854" cy="346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1979930" y="2988310"/>
            <a:ext cx="308102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b="1">
                <a:solidFill>
                  <a:schemeClr val="bg2"/>
                </a:solidFill>
              </a:rPr>
              <a:t>1*4+2*2+4*8+3*=40</a:t>
            </a:r>
            <a:endParaRPr lang="en-US" altLang="zh-CN" sz="2600" b="1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556792"/>
            <a:ext cx="7991420" cy="5355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chemeClr val="bg2"/>
                </a:solidFill>
              </a:rPr>
              <a:t>（</a:t>
            </a:r>
            <a:r>
              <a:rPr lang="en-US" altLang="zh-CN" dirty="0" smtClean="0">
                <a:solidFill>
                  <a:schemeClr val="bg2"/>
                </a:solidFill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</a:rPr>
              <a:t>）卷积的应用</a:t>
            </a:r>
            <a:r>
              <a:rPr lang="en-US" altLang="zh-CN" dirty="0" smtClean="0">
                <a:solidFill>
                  <a:schemeClr val="bg2"/>
                </a:solidFill>
              </a:rPr>
              <a:t>——</a:t>
            </a:r>
            <a:r>
              <a:rPr lang="zh-CN" altLang="en-US" dirty="0">
                <a:solidFill>
                  <a:schemeClr val="bg2"/>
                </a:solidFill>
              </a:rPr>
              <a:t>信号平滑</a:t>
            </a:r>
            <a:r>
              <a:rPr lang="zh-CN" altLang="en-US" dirty="0" smtClean="0">
                <a:solidFill>
                  <a:schemeClr val="bg2"/>
                </a:solidFill>
              </a:rPr>
              <a:t>处理（去除噪音） </a:t>
            </a:r>
            <a:endParaRPr lang="zh-CN" altLang="en-US" dirty="0">
              <a:solidFill>
                <a:schemeClr val="bg2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98" y="2060848"/>
            <a:ext cx="3836396" cy="208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504635" y="213285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2"/>
                </a:solidFill>
              </a:rPr>
              <a:t>原始信号：</a:t>
            </a:r>
            <a:endParaRPr lang="zh-CN" altLang="en-US" dirty="0">
              <a:solidFill>
                <a:schemeClr val="bg2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2173804"/>
            <a:ext cx="2520280" cy="379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499992" y="2636912"/>
            <a:ext cx="4666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2"/>
                </a:solidFill>
              </a:rPr>
              <a:t>权值向量（步长为</a:t>
            </a:r>
            <a:r>
              <a:rPr lang="en-US" altLang="zh-CN" b="1" i="1" dirty="0" smtClean="0">
                <a:solidFill>
                  <a:schemeClr val="bg2"/>
                </a:solidFill>
              </a:rPr>
              <a:t>k</a:t>
            </a:r>
            <a:r>
              <a:rPr lang="zh-CN" altLang="en-US" dirty="0" smtClean="0">
                <a:solidFill>
                  <a:schemeClr val="bg2"/>
                </a:solidFill>
              </a:rPr>
              <a:t>，长度</a:t>
            </a:r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r>
              <a:rPr lang="en-US" altLang="zh-CN" b="1" i="1" dirty="0" smtClean="0">
                <a:solidFill>
                  <a:schemeClr val="bg2"/>
                </a:solidFill>
              </a:rPr>
              <a:t>k</a:t>
            </a:r>
            <a:r>
              <a:rPr lang="en-US" altLang="zh-CN" dirty="0" smtClean="0">
                <a:solidFill>
                  <a:schemeClr val="bg2"/>
                </a:solidFill>
              </a:rPr>
              <a:t>+1</a:t>
            </a:r>
            <a:r>
              <a:rPr lang="zh-CN" altLang="en-US" dirty="0" smtClean="0">
                <a:solidFill>
                  <a:schemeClr val="bg2"/>
                </a:solidFill>
              </a:rPr>
              <a:t>）</a:t>
            </a:r>
            <a:endParaRPr lang="zh-CN" altLang="en-US" dirty="0">
              <a:solidFill>
                <a:schemeClr val="bg2"/>
              </a:solidFill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031" y="3078343"/>
            <a:ext cx="2664296" cy="422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3587900"/>
            <a:ext cx="1996430" cy="417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797959" y="4929239"/>
            <a:ext cx="6654361" cy="1164638"/>
            <a:chOff x="251520" y="4929239"/>
            <a:chExt cx="6654361" cy="1164638"/>
          </a:xfrm>
        </p:grpSpPr>
        <p:pic>
          <p:nvPicPr>
            <p:cNvPr id="19" name="Picture 6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 r="47792" b="1201"/>
            <a:stretch>
              <a:fillRect/>
            </a:stretch>
          </p:blipFill>
          <p:spPr bwMode="auto">
            <a:xfrm>
              <a:off x="251520" y="5336134"/>
              <a:ext cx="2909945" cy="3971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78" name="Picture 6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>
              <a:fillRect/>
            </a:stretch>
          </p:blipFill>
          <p:spPr bwMode="auto">
            <a:xfrm>
              <a:off x="1332190" y="4929239"/>
              <a:ext cx="5573691" cy="4068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0" name="组合 19"/>
            <p:cNvGrpSpPr/>
            <p:nvPr/>
          </p:nvGrpSpPr>
          <p:grpSpPr>
            <a:xfrm>
              <a:off x="281146" y="5220489"/>
              <a:ext cx="2658371" cy="873388"/>
              <a:chOff x="1115616" y="4437112"/>
              <a:chExt cx="2658371" cy="873388"/>
            </a:xfrm>
          </p:grpSpPr>
          <p:sp>
            <p:nvSpPr>
              <p:cNvPr id="21" name="TextBox 20"/>
              <p:cNvSpPr txBox="1"/>
              <p:nvPr/>
            </p:nvSpPr>
            <p:spPr>
              <a:xfrm>
                <a:off x="2279357" y="4479503"/>
                <a:ext cx="49244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i="1" dirty="0" smtClean="0">
                    <a:solidFill>
                      <a:schemeClr val="bg2"/>
                    </a:solidFill>
                  </a:rPr>
                  <a:t>w</a:t>
                </a:r>
                <a:r>
                  <a:rPr lang="en-US" altLang="zh-CN" b="1" baseline="-25000" dirty="0" smtClean="0">
                    <a:solidFill>
                      <a:schemeClr val="bg2"/>
                    </a:solidFill>
                  </a:rPr>
                  <a:t>0</a:t>
                </a:r>
                <a:endParaRPr lang="en-US" altLang="zh-CN" b="1" baseline="-25000" dirty="0" smtClean="0">
                  <a:solidFill>
                    <a:schemeClr val="bg2"/>
                  </a:solidFill>
                </a:endParaRPr>
              </a:p>
              <a:p>
                <a:r>
                  <a:rPr lang="en-US" altLang="zh-CN" b="1" i="1" dirty="0" err="1" smtClean="0">
                    <a:solidFill>
                      <a:schemeClr val="bg2"/>
                    </a:solidFill>
                  </a:rPr>
                  <a:t>b</a:t>
                </a:r>
                <a:r>
                  <a:rPr lang="en-US" altLang="zh-CN" b="1" i="1" baseline="-25000" dirty="0" err="1" smtClean="0">
                    <a:solidFill>
                      <a:schemeClr val="bg2"/>
                    </a:solidFill>
                  </a:rPr>
                  <a:t>k</a:t>
                </a:r>
                <a:endParaRPr lang="zh-CN" altLang="en-US" b="1" i="1" baseline="-250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1733878" y="4437112"/>
                <a:ext cx="38985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baseline="-25000" dirty="0" smtClean="0">
                    <a:solidFill>
                      <a:schemeClr val="bg2"/>
                    </a:solidFill>
                  </a:rPr>
                  <a:t>…</a:t>
                </a:r>
                <a:endParaRPr lang="en-US" altLang="zh-CN" b="1" baseline="-25000" dirty="0" smtClean="0">
                  <a:solidFill>
                    <a:schemeClr val="bg2"/>
                  </a:solidFill>
                </a:endParaRPr>
              </a:p>
              <a:p>
                <a:endParaRPr lang="en-US" altLang="zh-CN" b="1" baseline="-25000" dirty="0" smtClean="0">
                  <a:solidFill>
                    <a:schemeClr val="bg2"/>
                  </a:solidFill>
                </a:endParaRPr>
              </a:p>
              <a:p>
                <a:r>
                  <a:rPr lang="en-US" altLang="zh-CN" b="1" baseline="-25000" dirty="0" smtClean="0">
                    <a:solidFill>
                      <a:schemeClr val="bg2"/>
                    </a:solidFill>
                  </a:rPr>
                  <a:t>…</a:t>
                </a:r>
                <a:endParaRPr lang="zh-CN" altLang="en-US" b="1" baseline="-250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1115616" y="4479503"/>
                <a:ext cx="56137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i="1" dirty="0" smtClean="0">
                    <a:solidFill>
                      <a:schemeClr val="bg2"/>
                    </a:solidFill>
                  </a:rPr>
                  <a:t>w</a:t>
                </a:r>
                <a:r>
                  <a:rPr lang="en-US" altLang="zh-CN" b="1" baseline="-25000" dirty="0" smtClean="0">
                    <a:solidFill>
                      <a:schemeClr val="bg2"/>
                    </a:solidFill>
                  </a:rPr>
                  <a:t>-</a:t>
                </a:r>
                <a:r>
                  <a:rPr lang="en-US" altLang="zh-CN" b="1" i="1" baseline="-25000" dirty="0" smtClean="0">
                    <a:solidFill>
                      <a:schemeClr val="bg2"/>
                    </a:solidFill>
                  </a:rPr>
                  <a:t>k</a:t>
                </a:r>
                <a:endParaRPr lang="en-US" altLang="zh-CN" b="1" i="1" baseline="-25000" dirty="0" smtClean="0">
                  <a:solidFill>
                    <a:schemeClr val="bg2"/>
                  </a:solidFill>
                </a:endParaRPr>
              </a:p>
              <a:p>
                <a:r>
                  <a:rPr lang="en-US" altLang="zh-CN" b="1" i="1" dirty="0" smtClean="0">
                    <a:solidFill>
                      <a:schemeClr val="bg2"/>
                    </a:solidFill>
                  </a:rPr>
                  <a:t>b</a:t>
                </a:r>
                <a:r>
                  <a:rPr lang="en-US" altLang="zh-CN" b="1" i="1" baseline="-25000" dirty="0" smtClean="0">
                    <a:solidFill>
                      <a:schemeClr val="bg2"/>
                    </a:solidFill>
                  </a:rPr>
                  <a:t>2k</a:t>
                </a:r>
                <a:endParaRPr lang="zh-CN" altLang="en-US" b="1" i="1" baseline="-250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2843808" y="4437112"/>
                <a:ext cx="38985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baseline="-25000" dirty="0" smtClean="0">
                    <a:solidFill>
                      <a:schemeClr val="bg2"/>
                    </a:solidFill>
                  </a:rPr>
                  <a:t>…</a:t>
                </a:r>
                <a:endParaRPr lang="en-US" altLang="zh-CN" b="1" baseline="-25000" dirty="0" smtClean="0">
                  <a:solidFill>
                    <a:schemeClr val="bg2"/>
                  </a:solidFill>
                </a:endParaRPr>
              </a:p>
              <a:p>
                <a:endParaRPr lang="en-US" altLang="zh-CN" b="1" baseline="-25000" dirty="0" smtClean="0">
                  <a:solidFill>
                    <a:schemeClr val="bg2"/>
                  </a:solidFill>
                </a:endParaRPr>
              </a:p>
              <a:p>
                <a:r>
                  <a:rPr lang="en-US" altLang="zh-CN" b="1" baseline="-25000" dirty="0" smtClean="0">
                    <a:solidFill>
                      <a:schemeClr val="bg2"/>
                    </a:solidFill>
                  </a:rPr>
                  <a:t>…</a:t>
                </a:r>
                <a:endParaRPr lang="zh-CN" altLang="en-US" b="1" baseline="-250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3281544" y="4479503"/>
                <a:ext cx="49244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i="1" dirty="0" err="1" smtClean="0">
                    <a:solidFill>
                      <a:schemeClr val="bg2"/>
                    </a:solidFill>
                  </a:rPr>
                  <a:t>w</a:t>
                </a:r>
                <a:r>
                  <a:rPr lang="en-US" altLang="zh-CN" b="1" i="1" baseline="-25000" dirty="0" err="1" smtClean="0">
                    <a:solidFill>
                      <a:schemeClr val="bg2"/>
                    </a:solidFill>
                  </a:rPr>
                  <a:t>k</a:t>
                </a:r>
                <a:endParaRPr lang="en-US" altLang="zh-CN" b="1" i="1" baseline="-25000" dirty="0" smtClean="0">
                  <a:solidFill>
                    <a:schemeClr val="bg2"/>
                  </a:solidFill>
                </a:endParaRPr>
              </a:p>
              <a:p>
                <a:r>
                  <a:rPr lang="en-US" altLang="zh-CN" b="1" i="1" dirty="0" smtClean="0">
                    <a:solidFill>
                      <a:schemeClr val="bg2"/>
                    </a:solidFill>
                  </a:rPr>
                  <a:t>b</a:t>
                </a:r>
                <a:r>
                  <a:rPr lang="en-US" altLang="zh-CN" b="1" i="1" baseline="-25000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b="1" i="1" baseline="-25000" dirty="0">
                  <a:solidFill>
                    <a:schemeClr val="bg2"/>
                  </a:solidFill>
                </a:endParaRPr>
              </a:p>
            </p:txBody>
          </p:sp>
        </p:grpSp>
      </p:grpSp>
      <p:sp>
        <p:nvSpPr>
          <p:cNvPr id="26" name="TextBox 25"/>
          <p:cNvSpPr txBox="1"/>
          <p:nvPr/>
        </p:nvSpPr>
        <p:spPr>
          <a:xfrm>
            <a:off x="723525" y="4365104"/>
            <a:ext cx="4642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Times New Roman" panose="02020603050405020304" pitchFamily="18" charset="0"/>
              <a:buChar char="–"/>
            </a:pPr>
            <a:r>
              <a:rPr lang="zh-CN" altLang="en-US" dirty="0" smtClean="0">
                <a:solidFill>
                  <a:schemeClr val="bg2"/>
                </a:solidFill>
              </a:rPr>
              <a:t>将</a:t>
            </a:r>
            <a:r>
              <a:rPr lang="en-US" altLang="zh-CN" b="1" i="1" dirty="0" smtClean="0">
                <a:solidFill>
                  <a:schemeClr val="bg2"/>
                </a:solidFill>
              </a:rPr>
              <a:t>w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</a:rPr>
              <a:t>与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a</a:t>
            </a:r>
            <a:r>
              <a:rPr lang="en-US" altLang="zh-CN" b="1" i="1" baseline="-25000" dirty="0" err="1" smtClean="0">
                <a:solidFill>
                  <a:schemeClr val="bg2"/>
                </a:solidFill>
              </a:rPr>
              <a:t>i</a:t>
            </a:r>
            <a:r>
              <a:rPr lang="zh-CN" altLang="en-US" dirty="0" smtClean="0">
                <a:solidFill>
                  <a:schemeClr val="bg2"/>
                </a:solidFill>
              </a:rPr>
              <a:t>对齐计算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a</a:t>
            </a:r>
            <a:r>
              <a:rPr lang="en-US" altLang="zh-CN" b="1" i="1" baseline="-25000" dirty="0" err="1" smtClean="0">
                <a:solidFill>
                  <a:schemeClr val="bg2"/>
                </a:solidFill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  <a:ea typeface="Arial Unicode MS" panose="020B0604020202020204" charset="-122"/>
                <a:cs typeface="Times New Roman" panose="02020603050405020304" pitchFamily="18" charset="0"/>
              </a:rPr>
              <a:t>’</a:t>
            </a:r>
            <a:endParaRPr lang="zh-CN" altLang="en-US" b="1" baseline="-25000" dirty="0">
              <a:solidFill>
                <a:schemeClr val="bg2"/>
              </a:solidFill>
              <a:ea typeface="Arial Unicode MS" panose="020B0604020202020204" charset="-122"/>
              <a:cs typeface="Times New Roman" panose="02020603050405020304" pitchFamily="18" charset="0"/>
            </a:endParaRPr>
          </a:p>
        </p:txBody>
      </p:sp>
      <p:pic>
        <p:nvPicPr>
          <p:cNvPr id="2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396" y="4225732"/>
            <a:ext cx="4399544" cy="732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2042622" y="4911551"/>
            <a:ext cx="1544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a</a:t>
            </a:r>
            <a:r>
              <a:rPr lang="en-US" altLang="zh-CN" baseline="-25000" dirty="0" smtClean="0">
                <a:solidFill>
                  <a:schemeClr val="bg2"/>
                </a:solidFill>
              </a:rPr>
              <a:t>0     </a:t>
            </a:r>
            <a:r>
              <a:rPr lang="en-US" altLang="zh-CN" dirty="0" smtClean="0">
                <a:solidFill>
                  <a:schemeClr val="bg2"/>
                </a:solidFill>
              </a:rPr>
              <a:t>…   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a</a:t>
            </a:r>
            <a:r>
              <a:rPr lang="en-US" altLang="zh-CN" b="1" i="1" baseline="-25000" dirty="0" err="1" smtClean="0">
                <a:solidFill>
                  <a:schemeClr val="bg2"/>
                </a:solidFill>
              </a:rPr>
              <a:t>k</a:t>
            </a:r>
            <a:endParaRPr lang="zh-CN" altLang="en-US" b="1" i="1" baseline="-25000" dirty="0">
              <a:solidFill>
                <a:schemeClr val="bg2"/>
              </a:solidFill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827585" y="4970880"/>
          <a:ext cx="1115736" cy="396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57868"/>
                <a:gridCol w="557868"/>
              </a:tblGrid>
              <a:tr h="365254">
                <a:tc>
                  <a:txBody>
                    <a:bodyPr/>
                    <a:lstStyle/>
                    <a:p>
                      <a:r>
                        <a:rPr lang="en-US" altLang="zh-CN" sz="2000" b="1" i="1" baseline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000" b="1" i="0" baseline="-250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altLang="zh-CN" sz="2000" b="1" i="1" baseline="-250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CN" altLang="en-US" sz="2000" i="1" dirty="0">
                        <a:ln>
                          <a:solidFill>
                            <a:schemeClr val="bg2"/>
                          </a:solidFill>
                        </a:ln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rgbClr val="FF0000"/>
                          </a:solidFill>
                        </a:rPr>
                        <a:t>…</a:t>
                      </a:r>
                      <a:endParaRPr lang="zh-CN" altLang="en-US" sz="2000" dirty="0">
                        <a:ln>
                          <a:solidFill>
                            <a:schemeClr val="bg2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1" grpId="0"/>
      <p:bldP spid="11" grpId="1"/>
      <p:bldP spid="26" grpId="0"/>
      <p:bldP spid="26" grpId="1"/>
      <p:bldP spid="9" grpId="0"/>
      <p:bldP spid="9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89644" y="5661248"/>
            <a:ext cx="7826772" cy="82994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  <a:latin typeface="+mj-ea"/>
                <a:ea typeface="+mj-ea"/>
              </a:rPr>
              <a:t>把</a:t>
            </a:r>
            <a:r>
              <a:rPr lang="zh-CN" altLang="en-US" dirty="0" smtClean="0">
                <a:solidFill>
                  <a:schemeClr val="bg2"/>
                </a:solidFill>
                <a:latin typeface="+mj-ea"/>
                <a:ea typeface="+mj-ea"/>
              </a:rPr>
              <a:t>向量</a:t>
            </a:r>
            <a:r>
              <a:rPr lang="en-US" altLang="zh-CN" b="1" i="1" dirty="0" smtClean="0">
                <a:solidFill>
                  <a:schemeClr val="bg2"/>
                </a:solidFill>
                <a:ea typeface="+mj-ea"/>
                <a:cs typeface="Times New Roman" panose="02020603050405020304" pitchFamily="18" charset="0"/>
              </a:rPr>
              <a:t>b</a:t>
            </a:r>
            <a:r>
              <a:rPr lang="zh-CN" altLang="en-US" dirty="0" smtClean="0">
                <a:solidFill>
                  <a:schemeClr val="bg2"/>
                </a:solidFill>
                <a:latin typeface="+mj-ea"/>
                <a:ea typeface="+mj-ea"/>
              </a:rPr>
              <a:t>在</a:t>
            </a:r>
            <a:r>
              <a:rPr lang="en-US" altLang="zh-CN" b="1" i="1" dirty="0">
                <a:solidFill>
                  <a:schemeClr val="bg2"/>
                </a:solidFill>
                <a:ea typeface="+mj-ea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chemeClr val="bg2"/>
                </a:solidFill>
                <a:latin typeface="+mj-ea"/>
                <a:ea typeface="+mj-ea"/>
              </a:rPr>
              <a:t>上</a:t>
            </a:r>
            <a:r>
              <a:rPr lang="zh-CN" altLang="en-US" dirty="0" smtClean="0">
                <a:solidFill>
                  <a:schemeClr val="bg2"/>
                </a:solidFill>
                <a:latin typeface="+mj-ea"/>
                <a:ea typeface="+mj-ea"/>
              </a:rPr>
              <a:t>移动计算</a:t>
            </a:r>
            <a:r>
              <a:rPr lang="en-US" altLang="zh-CN" b="1" i="1" dirty="0" smtClean="0">
                <a:solidFill>
                  <a:schemeClr val="bg2"/>
                </a:solidFill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solidFill>
                  <a:schemeClr val="bg2"/>
                </a:solidFill>
                <a:latin typeface="+mj-ea"/>
                <a:ea typeface="+mj-ea"/>
              </a:rPr>
              <a:t>*</a:t>
            </a:r>
            <a:r>
              <a:rPr lang="en-US" altLang="zh-CN" b="1" i="1" dirty="0" smtClean="0">
                <a:solidFill>
                  <a:schemeClr val="bg2"/>
                </a:solidFill>
                <a:ea typeface="+mj-ea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chemeClr val="bg2"/>
                </a:solidFill>
                <a:latin typeface="+mj-ea"/>
                <a:ea typeface="+mj-ea"/>
              </a:rPr>
              <a:t>,</a:t>
            </a:r>
            <a:r>
              <a:rPr lang="en-US" altLang="zh-CN" b="1" i="1" dirty="0">
                <a:solidFill>
                  <a:schemeClr val="bg2"/>
                </a:solidFill>
                <a:latin typeface="+mj-ea"/>
                <a:ea typeface="+mj-ea"/>
              </a:rPr>
              <a:t> </a:t>
            </a:r>
            <a:r>
              <a:rPr lang="zh-CN" altLang="en-US" dirty="0" smtClean="0">
                <a:solidFill>
                  <a:schemeClr val="bg2"/>
                </a:solidFill>
                <a:latin typeface="+mj-ea"/>
                <a:ea typeface="+mj-ea"/>
              </a:rPr>
              <a:t>得到</a:t>
            </a:r>
            <a:r>
              <a:rPr lang="en-US" altLang="zh-CN" b="1" dirty="0" smtClean="0">
                <a:solidFill>
                  <a:schemeClr val="bg2"/>
                </a:solidFill>
                <a:latin typeface="+mj-ea"/>
                <a:ea typeface="+mj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CN" b="1" baseline="-25000" dirty="0" smtClean="0">
                <a:solidFill>
                  <a:schemeClr val="bg2"/>
                </a:solidFill>
                <a:ea typeface="+mj-ea"/>
                <a:cs typeface="Times New Roman" panose="02020603050405020304" pitchFamily="18" charset="0"/>
              </a:rPr>
              <a:t>0</a:t>
            </a:r>
            <a:r>
              <a:rPr lang="en-US" altLang="zh-CN" b="1" dirty="0" smtClean="0">
                <a:solidFill>
                  <a:schemeClr val="bg2"/>
                </a:solidFill>
                <a:latin typeface="+mj-lt"/>
                <a:ea typeface="+mj-ea"/>
                <a:cs typeface="Times New Roman" panose="02020603050405020304" pitchFamily="18" charset="0"/>
              </a:rPr>
              <a:t>’</a:t>
            </a:r>
            <a:r>
              <a:rPr lang="en-US" altLang="zh-CN" b="1" dirty="0" smtClean="0">
                <a:solidFill>
                  <a:schemeClr val="bg2"/>
                </a:solidFill>
                <a:ea typeface="+mj-ea"/>
                <a:cs typeface="Times New Roman" panose="02020603050405020304" pitchFamily="18" charset="0"/>
              </a:rPr>
              <a:t>,</a:t>
            </a:r>
            <a:r>
              <a:rPr lang="en-US" altLang="zh-CN" b="1" i="1" dirty="0" smtClean="0">
                <a:solidFill>
                  <a:schemeClr val="bg2"/>
                </a:solidFill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CN" b="1" baseline="-25000" dirty="0" smtClean="0">
                <a:solidFill>
                  <a:schemeClr val="bg2"/>
                </a:solidFill>
                <a:ea typeface="+mj-ea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chemeClr val="bg2"/>
                </a:solidFill>
                <a:latin typeface="+mj-lt"/>
                <a:ea typeface="+mj-ea"/>
                <a:cs typeface="Times New Roman" panose="02020603050405020304" pitchFamily="18" charset="0"/>
              </a:rPr>
              <a:t>’</a:t>
            </a:r>
            <a:r>
              <a:rPr lang="en-US" altLang="zh-CN" b="1" dirty="0" smtClean="0">
                <a:solidFill>
                  <a:schemeClr val="bg2"/>
                </a:solidFill>
                <a:latin typeface="+mj-ea"/>
                <a:ea typeface="+mj-ea"/>
              </a:rPr>
              <a:t>,</a:t>
            </a:r>
            <a:r>
              <a:rPr lang="en-US" altLang="zh-CN" b="1" dirty="0" smtClean="0">
                <a:solidFill>
                  <a:schemeClr val="bg2"/>
                </a:solidFill>
                <a:ea typeface="+mj-ea"/>
                <a:cs typeface="Times New Roman" panose="02020603050405020304" pitchFamily="18" charset="0"/>
              </a:rPr>
              <a:t>…</a:t>
            </a:r>
            <a:r>
              <a:rPr lang="en-US" altLang="zh-CN" b="1" dirty="0" smtClean="0">
                <a:solidFill>
                  <a:schemeClr val="bg2"/>
                </a:solidFill>
                <a:latin typeface="+mj-ea"/>
                <a:ea typeface="+mj-ea"/>
              </a:rPr>
              <a:t>,</a:t>
            </a:r>
            <a:r>
              <a:rPr lang="en-US" altLang="zh-CN" b="1" i="1" dirty="0" smtClean="0">
                <a:solidFill>
                  <a:schemeClr val="bg2"/>
                </a:solidFill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CN" b="1" i="1" baseline="-25000" dirty="0" smtClean="0">
                <a:solidFill>
                  <a:schemeClr val="bg2"/>
                </a:solidFill>
                <a:ea typeface="+mj-ea"/>
                <a:cs typeface="Times New Roman" panose="02020603050405020304" pitchFamily="18" charset="0"/>
              </a:rPr>
              <a:t>m</a:t>
            </a:r>
            <a:r>
              <a:rPr lang="en-US" altLang="zh-CN" b="1" baseline="-25000" dirty="0" smtClean="0">
                <a:solidFill>
                  <a:schemeClr val="bg2"/>
                </a:solidFill>
                <a:latin typeface="+mj-ea"/>
                <a:ea typeface="+mj-ea"/>
              </a:rPr>
              <a:t>-1</a:t>
            </a:r>
            <a:r>
              <a:rPr lang="en-US" altLang="zh-CN" b="1" dirty="0">
                <a:solidFill>
                  <a:schemeClr val="bg2"/>
                </a:solidFill>
                <a:latin typeface="+mj-lt"/>
                <a:ea typeface="+mj-ea"/>
                <a:cs typeface="Times New Roman" panose="02020603050405020304" pitchFamily="18" charset="0"/>
              </a:rPr>
              <a:t>’</a:t>
            </a:r>
            <a:r>
              <a:rPr lang="en-US" altLang="zh-CN" b="1" dirty="0" smtClean="0">
                <a:solidFill>
                  <a:schemeClr val="bg2"/>
                </a:solidFill>
                <a:latin typeface="+mj-ea"/>
                <a:ea typeface="+mj-ea"/>
              </a:rPr>
              <a:t>)</a:t>
            </a:r>
            <a:r>
              <a:rPr lang="zh-CN" altLang="en-US" b="1" dirty="0" smtClean="0">
                <a:solidFill>
                  <a:schemeClr val="bg2"/>
                </a:solidFill>
                <a:latin typeface="+mj-ea"/>
                <a:ea typeface="+mj-ea"/>
              </a:rPr>
              <a:t>。前、后</a:t>
            </a:r>
            <a:r>
              <a:rPr lang="en-US" altLang="zh-CN" b="1" i="1" dirty="0" smtClean="0">
                <a:solidFill>
                  <a:schemeClr val="bg2"/>
                </a:solidFill>
                <a:ea typeface="+mj-ea"/>
                <a:cs typeface="Times New Roman" panose="02020603050405020304" pitchFamily="18" charset="0"/>
              </a:rPr>
              <a:t>k</a:t>
            </a:r>
            <a:r>
              <a:rPr lang="zh-CN" altLang="en-US" b="1" dirty="0" smtClean="0">
                <a:solidFill>
                  <a:schemeClr val="bg2"/>
                </a:solidFill>
                <a:latin typeface="+mj-ea"/>
                <a:ea typeface="+mj-ea"/>
              </a:rPr>
              <a:t>个</a:t>
            </a:r>
            <a:r>
              <a:rPr lang="zh-CN" altLang="en-US" dirty="0" smtClean="0">
                <a:solidFill>
                  <a:schemeClr val="bg2"/>
                </a:solidFill>
                <a:latin typeface="+mj-ea"/>
                <a:ea typeface="+mj-ea"/>
              </a:rPr>
              <a:t>项会有误差。</a:t>
            </a:r>
            <a:endParaRPr lang="zh-CN" altLang="en-US" dirty="0">
              <a:solidFill>
                <a:schemeClr val="bg2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9552" y="1628800"/>
            <a:ext cx="6552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Times New Roman" panose="02020603050405020304" pitchFamily="18" charset="0"/>
              <a:buChar char="–"/>
            </a:pPr>
            <a:r>
              <a:rPr lang="zh-CN" altLang="en-US" dirty="0" smtClean="0">
                <a:solidFill>
                  <a:schemeClr val="bg2"/>
                </a:solidFill>
              </a:rPr>
              <a:t>当</a:t>
            </a:r>
            <a:r>
              <a:rPr lang="en-US" altLang="zh-CN" b="1" i="1" dirty="0" smtClean="0">
                <a:solidFill>
                  <a:schemeClr val="bg2"/>
                </a:solidFill>
              </a:rPr>
              <a:t>w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</a:rPr>
              <a:t>与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a</a:t>
            </a:r>
            <a:r>
              <a:rPr lang="en-US" altLang="zh-CN" b="1" i="1" baseline="-25000" dirty="0" err="1">
                <a:solidFill>
                  <a:schemeClr val="bg2"/>
                </a:solidFill>
              </a:rPr>
              <a:t>k</a:t>
            </a:r>
            <a:r>
              <a:rPr lang="zh-CN" altLang="en-US" dirty="0" smtClean="0">
                <a:solidFill>
                  <a:schemeClr val="bg2"/>
                </a:solidFill>
              </a:rPr>
              <a:t>对齐时，才能计算出准确的</a:t>
            </a:r>
            <a:r>
              <a:rPr lang="en-US" altLang="zh-CN" b="1" i="1" dirty="0" err="1">
                <a:solidFill>
                  <a:schemeClr val="bg2"/>
                </a:solidFill>
              </a:rPr>
              <a:t>a</a:t>
            </a:r>
            <a:r>
              <a:rPr lang="en-US" altLang="zh-CN" b="1" i="1" baseline="-25000" dirty="0" err="1">
                <a:solidFill>
                  <a:schemeClr val="bg2"/>
                </a:solidFill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  <a:ea typeface="Arial Unicode MS" panose="020B0604020202020204" charset="-122"/>
                <a:cs typeface="Times New Roman" panose="02020603050405020304" pitchFamily="18" charset="0"/>
              </a:rPr>
              <a:t>’</a:t>
            </a:r>
            <a:endParaRPr lang="zh-CN" altLang="en-US" b="1" baseline="-25000" dirty="0">
              <a:solidFill>
                <a:schemeClr val="bg2"/>
              </a:solidFill>
              <a:ea typeface="Arial Unicode MS" panose="020B0604020202020204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41045" y="2060575"/>
            <a:ext cx="5572760" cy="1141095"/>
            <a:chOff x="1167" y="3245"/>
            <a:chExt cx="8776" cy="1797"/>
          </a:xfrm>
        </p:grpSpPr>
        <p:pic>
          <p:nvPicPr>
            <p:cNvPr id="3078" name="Picture 6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7" y="3245"/>
              <a:ext cx="8777" cy="1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0" name="TextBox 19"/>
            <p:cNvSpPr txBox="1"/>
            <p:nvPr/>
          </p:nvSpPr>
          <p:spPr>
            <a:xfrm>
              <a:off x="3136" y="3734"/>
              <a:ext cx="776" cy="13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 smtClean="0">
                  <a:solidFill>
                    <a:schemeClr val="bg2"/>
                  </a:solidFill>
                </a:rPr>
                <a:t>w</a:t>
              </a:r>
              <a:r>
                <a:rPr lang="en-US" altLang="zh-CN" b="1" baseline="-25000" dirty="0" smtClean="0">
                  <a:solidFill>
                    <a:schemeClr val="bg2"/>
                  </a:solidFill>
                </a:rPr>
                <a:t>0</a:t>
              </a:r>
              <a:endParaRPr lang="en-US" altLang="zh-CN" b="1" baseline="-25000" dirty="0" smtClean="0">
                <a:solidFill>
                  <a:schemeClr val="bg2"/>
                </a:solidFill>
              </a:endParaRPr>
            </a:p>
            <a:p>
              <a:r>
                <a:rPr lang="en-US" altLang="zh-CN" b="1" i="1" dirty="0" err="1" smtClean="0">
                  <a:solidFill>
                    <a:schemeClr val="bg2"/>
                  </a:solidFill>
                </a:rPr>
                <a:t>b</a:t>
              </a:r>
              <a:r>
                <a:rPr lang="en-US" altLang="zh-CN" b="1" i="1" baseline="-25000" dirty="0" err="1" smtClean="0">
                  <a:solidFill>
                    <a:schemeClr val="bg2"/>
                  </a:solidFill>
                </a:rPr>
                <a:t>k</a:t>
              </a:r>
              <a:endParaRPr lang="zh-CN" altLang="en-US" b="1" i="1" baseline="-25000" dirty="0">
                <a:solidFill>
                  <a:schemeClr val="bg2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277" y="3668"/>
              <a:ext cx="614" cy="13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baseline="-25000" dirty="0" smtClean="0">
                  <a:solidFill>
                    <a:schemeClr val="bg2"/>
                  </a:solidFill>
                </a:rPr>
                <a:t>…</a:t>
              </a:r>
              <a:endParaRPr lang="en-US" altLang="zh-CN" b="1" baseline="-25000" dirty="0" smtClean="0">
                <a:solidFill>
                  <a:schemeClr val="bg2"/>
                </a:solidFill>
              </a:endParaRPr>
            </a:p>
            <a:p>
              <a:endParaRPr lang="en-US" altLang="zh-CN" b="1" baseline="-25000" dirty="0" smtClean="0">
                <a:solidFill>
                  <a:schemeClr val="bg2"/>
                </a:solidFill>
              </a:endParaRPr>
            </a:p>
            <a:p>
              <a:r>
                <a:rPr lang="en-US" altLang="zh-CN" b="1" baseline="-25000" dirty="0" smtClean="0">
                  <a:solidFill>
                    <a:schemeClr val="bg2"/>
                  </a:solidFill>
                </a:rPr>
                <a:t>…</a:t>
              </a:r>
              <a:endParaRPr lang="zh-CN" altLang="en-US" b="1" baseline="-25000" dirty="0">
                <a:solidFill>
                  <a:schemeClr val="bg2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303" y="3734"/>
              <a:ext cx="884" cy="13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 smtClean="0">
                  <a:solidFill>
                    <a:schemeClr val="bg2"/>
                  </a:solidFill>
                </a:rPr>
                <a:t>w</a:t>
              </a:r>
              <a:r>
                <a:rPr lang="en-US" altLang="zh-CN" b="1" baseline="-25000" dirty="0" smtClean="0">
                  <a:solidFill>
                    <a:schemeClr val="bg2"/>
                  </a:solidFill>
                </a:rPr>
                <a:t>-</a:t>
              </a:r>
              <a:r>
                <a:rPr lang="en-US" altLang="zh-CN" b="1" i="1" baseline="-25000" dirty="0" smtClean="0">
                  <a:solidFill>
                    <a:schemeClr val="bg2"/>
                  </a:solidFill>
                </a:rPr>
                <a:t>k</a:t>
              </a:r>
              <a:endParaRPr lang="en-US" altLang="zh-CN" b="1" i="1" baseline="-25000" dirty="0" smtClean="0">
                <a:solidFill>
                  <a:schemeClr val="bg2"/>
                </a:solidFill>
              </a:endParaRPr>
            </a:p>
            <a:p>
              <a:r>
                <a:rPr lang="en-US" altLang="zh-CN" b="1" i="1" dirty="0" smtClean="0">
                  <a:solidFill>
                    <a:schemeClr val="bg2"/>
                  </a:solidFill>
                </a:rPr>
                <a:t>b</a:t>
              </a:r>
              <a:r>
                <a:rPr lang="en-US" altLang="zh-CN" b="1" i="1" baseline="-25000" dirty="0" smtClean="0">
                  <a:solidFill>
                    <a:schemeClr val="bg2"/>
                  </a:solidFill>
                </a:rPr>
                <a:t>2k</a:t>
              </a:r>
              <a:endParaRPr lang="zh-CN" altLang="en-US" b="1" i="1" baseline="-25000" dirty="0">
                <a:solidFill>
                  <a:schemeClr val="bg2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025" y="3668"/>
              <a:ext cx="614" cy="13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baseline="-25000" dirty="0" smtClean="0">
                  <a:solidFill>
                    <a:schemeClr val="bg2"/>
                  </a:solidFill>
                </a:rPr>
                <a:t>…</a:t>
              </a:r>
              <a:endParaRPr lang="en-US" altLang="zh-CN" b="1" baseline="-25000" dirty="0" smtClean="0">
                <a:solidFill>
                  <a:schemeClr val="bg2"/>
                </a:solidFill>
              </a:endParaRPr>
            </a:p>
            <a:p>
              <a:endParaRPr lang="en-US" altLang="zh-CN" b="1" baseline="-25000" dirty="0" smtClean="0">
                <a:solidFill>
                  <a:schemeClr val="bg2"/>
                </a:solidFill>
              </a:endParaRPr>
            </a:p>
            <a:p>
              <a:r>
                <a:rPr lang="en-US" altLang="zh-CN" b="1" baseline="-25000" dirty="0" smtClean="0">
                  <a:solidFill>
                    <a:schemeClr val="bg2"/>
                  </a:solidFill>
                </a:rPr>
                <a:t>…</a:t>
              </a:r>
              <a:endParaRPr lang="zh-CN" altLang="en-US" b="1" baseline="-25000" dirty="0">
                <a:solidFill>
                  <a:schemeClr val="bg2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714" y="3734"/>
              <a:ext cx="776" cy="13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 err="1" smtClean="0">
                  <a:solidFill>
                    <a:schemeClr val="bg2"/>
                  </a:solidFill>
                </a:rPr>
                <a:t>w</a:t>
              </a:r>
              <a:r>
                <a:rPr lang="en-US" altLang="zh-CN" b="1" i="1" baseline="-25000" dirty="0" err="1" smtClean="0">
                  <a:solidFill>
                    <a:schemeClr val="bg2"/>
                  </a:solidFill>
                </a:rPr>
                <a:t>k</a:t>
              </a:r>
              <a:endParaRPr lang="en-US" altLang="zh-CN" b="1" i="1" baseline="-25000" dirty="0" smtClean="0">
                <a:solidFill>
                  <a:schemeClr val="bg2"/>
                </a:solidFill>
              </a:endParaRPr>
            </a:p>
            <a:p>
              <a:r>
                <a:rPr lang="en-US" altLang="zh-CN" b="1" i="1" dirty="0" smtClean="0">
                  <a:solidFill>
                    <a:schemeClr val="bg2"/>
                  </a:solidFill>
                </a:rPr>
                <a:t>b</a:t>
              </a:r>
              <a:r>
                <a:rPr lang="en-US" altLang="zh-CN" b="1" i="1" baseline="-25000" dirty="0" smtClean="0">
                  <a:solidFill>
                    <a:schemeClr val="bg2"/>
                  </a:solidFill>
                </a:rPr>
                <a:t>0</a:t>
              </a:r>
              <a:endParaRPr lang="zh-CN" altLang="en-US" b="1" i="1" baseline="-250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83260" y="3166110"/>
            <a:ext cx="5641340" cy="1198880"/>
            <a:chOff x="1076" y="4986"/>
            <a:chExt cx="8884" cy="1888"/>
          </a:xfrm>
        </p:grpSpPr>
        <p:pic>
          <p:nvPicPr>
            <p:cNvPr id="31" name="Picture 6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 r="47792" b="1201"/>
            <a:stretch>
              <a:fillRect/>
            </a:stretch>
          </p:blipFill>
          <p:spPr bwMode="auto">
            <a:xfrm>
              <a:off x="5378" y="5666"/>
              <a:ext cx="4583" cy="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5" name="Picture 6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>
              <a:fillRect/>
            </a:stretch>
          </p:blipFill>
          <p:spPr bwMode="auto">
            <a:xfrm>
              <a:off x="1076" y="4986"/>
              <a:ext cx="8777" cy="6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6" name="TextBox 25"/>
            <p:cNvSpPr txBox="1"/>
            <p:nvPr/>
          </p:nvSpPr>
          <p:spPr>
            <a:xfrm>
              <a:off x="7413" y="5566"/>
              <a:ext cx="776" cy="13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 smtClean="0">
                  <a:solidFill>
                    <a:schemeClr val="bg2"/>
                  </a:solidFill>
                </a:rPr>
                <a:t>w</a:t>
              </a:r>
              <a:r>
                <a:rPr lang="en-US" altLang="zh-CN" b="1" baseline="-25000" dirty="0" smtClean="0">
                  <a:solidFill>
                    <a:schemeClr val="bg2"/>
                  </a:solidFill>
                </a:rPr>
                <a:t>0</a:t>
              </a:r>
              <a:endParaRPr lang="en-US" altLang="zh-CN" b="1" baseline="-25000" dirty="0" smtClean="0">
                <a:solidFill>
                  <a:schemeClr val="bg2"/>
                </a:solidFill>
              </a:endParaRPr>
            </a:p>
            <a:p>
              <a:r>
                <a:rPr lang="en-US" altLang="zh-CN" b="1" i="1" dirty="0" err="1" smtClean="0">
                  <a:solidFill>
                    <a:schemeClr val="bg2"/>
                  </a:solidFill>
                </a:rPr>
                <a:t>b</a:t>
              </a:r>
              <a:r>
                <a:rPr lang="en-US" altLang="zh-CN" b="1" i="1" baseline="-25000" dirty="0" err="1" smtClean="0">
                  <a:solidFill>
                    <a:schemeClr val="bg2"/>
                  </a:solidFill>
                </a:rPr>
                <a:t>k</a:t>
              </a:r>
              <a:endParaRPr lang="zh-CN" altLang="en-US" b="1" i="1" baseline="-25000" dirty="0">
                <a:solidFill>
                  <a:schemeClr val="bg2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554" y="5499"/>
              <a:ext cx="614" cy="13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baseline="-25000" dirty="0" smtClean="0">
                  <a:solidFill>
                    <a:schemeClr val="bg2"/>
                  </a:solidFill>
                </a:rPr>
                <a:t>…</a:t>
              </a:r>
              <a:endParaRPr lang="en-US" altLang="zh-CN" b="1" baseline="-25000" dirty="0" smtClean="0">
                <a:solidFill>
                  <a:schemeClr val="bg2"/>
                </a:solidFill>
              </a:endParaRPr>
            </a:p>
            <a:p>
              <a:endParaRPr lang="en-US" altLang="zh-CN" b="1" baseline="-25000" dirty="0" smtClean="0">
                <a:solidFill>
                  <a:schemeClr val="bg2"/>
                </a:solidFill>
              </a:endParaRPr>
            </a:p>
            <a:p>
              <a:r>
                <a:rPr lang="en-US" altLang="zh-CN" b="1" baseline="-25000" dirty="0" smtClean="0">
                  <a:solidFill>
                    <a:schemeClr val="bg2"/>
                  </a:solidFill>
                </a:rPr>
                <a:t>…</a:t>
              </a:r>
              <a:endParaRPr lang="zh-CN" altLang="en-US" b="1" baseline="-25000" dirty="0">
                <a:solidFill>
                  <a:schemeClr val="bg2"/>
                </a:solidFill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581" y="5566"/>
              <a:ext cx="884" cy="13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 smtClean="0">
                  <a:solidFill>
                    <a:schemeClr val="bg2"/>
                  </a:solidFill>
                </a:rPr>
                <a:t>w</a:t>
              </a:r>
              <a:r>
                <a:rPr lang="en-US" altLang="zh-CN" b="1" baseline="-25000" dirty="0" smtClean="0">
                  <a:solidFill>
                    <a:schemeClr val="bg2"/>
                  </a:solidFill>
                </a:rPr>
                <a:t>-</a:t>
              </a:r>
              <a:r>
                <a:rPr lang="en-US" altLang="zh-CN" b="1" i="1" baseline="-25000" dirty="0" smtClean="0">
                  <a:solidFill>
                    <a:schemeClr val="bg2"/>
                  </a:solidFill>
                </a:rPr>
                <a:t>k</a:t>
              </a:r>
              <a:endParaRPr lang="en-US" altLang="zh-CN" b="1" i="1" baseline="-25000" dirty="0" smtClean="0">
                <a:solidFill>
                  <a:schemeClr val="bg2"/>
                </a:solidFill>
              </a:endParaRPr>
            </a:p>
            <a:p>
              <a:r>
                <a:rPr lang="en-US" altLang="zh-CN" b="1" i="1" dirty="0" smtClean="0">
                  <a:solidFill>
                    <a:schemeClr val="bg2"/>
                  </a:solidFill>
                </a:rPr>
                <a:t>b</a:t>
              </a:r>
              <a:r>
                <a:rPr lang="en-US" altLang="zh-CN" b="1" i="1" baseline="-25000" dirty="0" smtClean="0">
                  <a:solidFill>
                    <a:schemeClr val="bg2"/>
                  </a:solidFill>
                </a:rPr>
                <a:t>2k</a:t>
              </a:r>
              <a:endParaRPr lang="zh-CN" altLang="en-US" b="1" i="1" baseline="-25000" dirty="0">
                <a:solidFill>
                  <a:schemeClr val="bg2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302" y="5499"/>
              <a:ext cx="614" cy="13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baseline="-25000" dirty="0" smtClean="0">
                  <a:solidFill>
                    <a:schemeClr val="bg2"/>
                  </a:solidFill>
                </a:rPr>
                <a:t>…</a:t>
              </a:r>
              <a:endParaRPr lang="en-US" altLang="zh-CN" b="1" baseline="-25000" dirty="0" smtClean="0">
                <a:solidFill>
                  <a:schemeClr val="bg2"/>
                </a:solidFill>
              </a:endParaRPr>
            </a:p>
            <a:p>
              <a:endParaRPr lang="en-US" altLang="zh-CN" b="1" baseline="-25000" dirty="0" smtClean="0">
                <a:solidFill>
                  <a:schemeClr val="bg2"/>
                </a:solidFill>
              </a:endParaRPr>
            </a:p>
            <a:p>
              <a:r>
                <a:rPr lang="en-US" altLang="zh-CN" b="1" baseline="-25000" dirty="0" smtClean="0">
                  <a:solidFill>
                    <a:schemeClr val="bg2"/>
                  </a:solidFill>
                </a:rPr>
                <a:t>…</a:t>
              </a:r>
              <a:endParaRPr lang="zh-CN" altLang="en-US" b="1" baseline="-25000" dirty="0">
                <a:solidFill>
                  <a:schemeClr val="bg2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992" y="5566"/>
              <a:ext cx="776" cy="13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 err="1" smtClean="0">
                  <a:solidFill>
                    <a:schemeClr val="bg2"/>
                  </a:solidFill>
                </a:rPr>
                <a:t>w</a:t>
              </a:r>
              <a:r>
                <a:rPr lang="en-US" altLang="zh-CN" b="1" i="1" baseline="-25000" dirty="0" err="1" smtClean="0">
                  <a:solidFill>
                    <a:schemeClr val="bg2"/>
                  </a:solidFill>
                </a:rPr>
                <a:t>k</a:t>
              </a:r>
              <a:endParaRPr lang="en-US" altLang="zh-CN" b="1" i="1" baseline="-25000" dirty="0" smtClean="0">
                <a:solidFill>
                  <a:schemeClr val="bg2"/>
                </a:solidFill>
              </a:endParaRPr>
            </a:p>
            <a:p>
              <a:r>
                <a:rPr lang="en-US" altLang="zh-CN" b="1" i="1" dirty="0" smtClean="0">
                  <a:solidFill>
                    <a:schemeClr val="bg2"/>
                  </a:solidFill>
                </a:rPr>
                <a:t>b</a:t>
              </a:r>
              <a:r>
                <a:rPr lang="en-US" altLang="zh-CN" b="1" i="1" baseline="-25000" dirty="0" smtClean="0">
                  <a:solidFill>
                    <a:schemeClr val="bg2"/>
                  </a:solidFill>
                </a:rPr>
                <a:t>0</a:t>
              </a:r>
              <a:endParaRPr lang="zh-CN" altLang="en-US" b="1" i="1" baseline="-250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83260" y="4437380"/>
            <a:ext cx="6192520" cy="1173480"/>
            <a:chOff x="1076" y="6988"/>
            <a:chExt cx="9752" cy="1848"/>
          </a:xfrm>
        </p:grpSpPr>
        <p:pic>
          <p:nvPicPr>
            <p:cNvPr id="32" name="Picture 6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 r="47792" b="1201"/>
            <a:stretch>
              <a:fillRect/>
            </a:stretch>
          </p:blipFill>
          <p:spPr bwMode="auto">
            <a:xfrm>
              <a:off x="6246" y="7629"/>
              <a:ext cx="4583" cy="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3" name="Picture 6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>
              <a:fillRect/>
            </a:stretch>
          </p:blipFill>
          <p:spPr bwMode="auto">
            <a:xfrm>
              <a:off x="1076" y="6988"/>
              <a:ext cx="8777" cy="6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4" name="TextBox 33"/>
            <p:cNvSpPr txBox="1"/>
            <p:nvPr/>
          </p:nvSpPr>
          <p:spPr>
            <a:xfrm>
              <a:off x="8282" y="7528"/>
              <a:ext cx="776" cy="13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 smtClean="0">
                  <a:solidFill>
                    <a:schemeClr val="bg2"/>
                  </a:solidFill>
                </a:rPr>
                <a:t>w</a:t>
              </a:r>
              <a:r>
                <a:rPr lang="en-US" altLang="zh-CN" b="1" baseline="-25000" dirty="0" smtClean="0">
                  <a:solidFill>
                    <a:schemeClr val="bg2"/>
                  </a:solidFill>
                </a:rPr>
                <a:t>0</a:t>
              </a:r>
              <a:endParaRPr lang="en-US" altLang="zh-CN" b="1" baseline="-25000" dirty="0" smtClean="0">
                <a:solidFill>
                  <a:schemeClr val="bg2"/>
                </a:solidFill>
              </a:endParaRPr>
            </a:p>
            <a:p>
              <a:r>
                <a:rPr lang="en-US" altLang="zh-CN" b="1" i="1" dirty="0" err="1" smtClean="0">
                  <a:solidFill>
                    <a:schemeClr val="bg2"/>
                  </a:solidFill>
                </a:rPr>
                <a:t>b</a:t>
              </a:r>
              <a:r>
                <a:rPr lang="en-US" altLang="zh-CN" b="1" i="1" baseline="-25000" dirty="0" err="1" smtClean="0">
                  <a:solidFill>
                    <a:schemeClr val="bg2"/>
                  </a:solidFill>
                </a:rPr>
                <a:t>k</a:t>
              </a:r>
              <a:endParaRPr lang="zh-CN" altLang="en-US" b="1" i="1" baseline="-25000" dirty="0">
                <a:solidFill>
                  <a:schemeClr val="bg2"/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423" y="7461"/>
              <a:ext cx="614" cy="13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baseline="-25000" dirty="0" smtClean="0">
                  <a:solidFill>
                    <a:schemeClr val="bg2"/>
                  </a:solidFill>
                </a:rPr>
                <a:t>…</a:t>
              </a:r>
              <a:endParaRPr lang="en-US" altLang="zh-CN" b="1" baseline="-25000" dirty="0" smtClean="0">
                <a:solidFill>
                  <a:schemeClr val="bg2"/>
                </a:solidFill>
              </a:endParaRPr>
            </a:p>
            <a:p>
              <a:endParaRPr lang="en-US" altLang="zh-CN" b="1" baseline="-25000" dirty="0" smtClean="0">
                <a:solidFill>
                  <a:schemeClr val="bg2"/>
                </a:solidFill>
              </a:endParaRPr>
            </a:p>
            <a:p>
              <a:r>
                <a:rPr lang="en-US" altLang="zh-CN" b="1" baseline="-25000" dirty="0" smtClean="0">
                  <a:solidFill>
                    <a:schemeClr val="bg2"/>
                  </a:solidFill>
                </a:rPr>
                <a:t>…</a:t>
              </a:r>
              <a:endParaRPr lang="zh-CN" altLang="en-US" b="1" baseline="-25000" dirty="0">
                <a:solidFill>
                  <a:schemeClr val="bg2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449" y="7528"/>
              <a:ext cx="884" cy="13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 smtClean="0">
                  <a:solidFill>
                    <a:schemeClr val="bg2"/>
                  </a:solidFill>
                </a:rPr>
                <a:t>w</a:t>
              </a:r>
              <a:r>
                <a:rPr lang="en-US" altLang="zh-CN" b="1" baseline="-25000" dirty="0" smtClean="0">
                  <a:solidFill>
                    <a:schemeClr val="bg2"/>
                  </a:solidFill>
                </a:rPr>
                <a:t>-</a:t>
              </a:r>
              <a:r>
                <a:rPr lang="en-US" altLang="zh-CN" b="1" i="1" baseline="-25000" dirty="0" smtClean="0">
                  <a:solidFill>
                    <a:schemeClr val="bg2"/>
                  </a:solidFill>
                </a:rPr>
                <a:t>k</a:t>
              </a:r>
              <a:endParaRPr lang="en-US" altLang="zh-CN" b="1" i="1" baseline="-25000" dirty="0" smtClean="0">
                <a:solidFill>
                  <a:schemeClr val="bg2"/>
                </a:solidFill>
              </a:endParaRPr>
            </a:p>
            <a:p>
              <a:r>
                <a:rPr lang="en-US" altLang="zh-CN" b="1" i="1" dirty="0" smtClean="0">
                  <a:solidFill>
                    <a:schemeClr val="bg2"/>
                  </a:solidFill>
                </a:rPr>
                <a:t>b</a:t>
              </a:r>
              <a:r>
                <a:rPr lang="en-US" altLang="zh-CN" b="1" i="1" baseline="-25000" dirty="0" smtClean="0">
                  <a:solidFill>
                    <a:schemeClr val="bg2"/>
                  </a:solidFill>
                </a:rPr>
                <a:t>2k</a:t>
              </a:r>
              <a:endParaRPr lang="zh-CN" altLang="en-US" b="1" i="1" baseline="-25000" dirty="0">
                <a:solidFill>
                  <a:schemeClr val="bg2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171" y="7461"/>
              <a:ext cx="614" cy="13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baseline="-25000" dirty="0" smtClean="0">
                  <a:solidFill>
                    <a:schemeClr val="bg2"/>
                  </a:solidFill>
                </a:rPr>
                <a:t>…</a:t>
              </a:r>
              <a:endParaRPr lang="en-US" altLang="zh-CN" b="1" baseline="-25000" dirty="0" smtClean="0">
                <a:solidFill>
                  <a:schemeClr val="bg2"/>
                </a:solidFill>
              </a:endParaRPr>
            </a:p>
            <a:p>
              <a:endParaRPr lang="en-US" altLang="zh-CN" b="1" baseline="-25000" dirty="0" smtClean="0">
                <a:solidFill>
                  <a:schemeClr val="bg2"/>
                </a:solidFill>
              </a:endParaRPr>
            </a:p>
            <a:p>
              <a:r>
                <a:rPr lang="en-US" altLang="zh-CN" b="1" baseline="-25000" dirty="0" smtClean="0">
                  <a:solidFill>
                    <a:schemeClr val="bg2"/>
                  </a:solidFill>
                </a:rPr>
                <a:t>…</a:t>
              </a:r>
              <a:endParaRPr lang="zh-CN" altLang="en-US" b="1" baseline="-25000" dirty="0">
                <a:solidFill>
                  <a:schemeClr val="bg2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860" y="7528"/>
              <a:ext cx="776" cy="13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 err="1" smtClean="0">
                  <a:solidFill>
                    <a:schemeClr val="bg2"/>
                  </a:solidFill>
                </a:rPr>
                <a:t>w</a:t>
              </a:r>
              <a:r>
                <a:rPr lang="en-US" altLang="zh-CN" b="1" i="1" baseline="-25000" dirty="0" err="1" smtClean="0">
                  <a:solidFill>
                    <a:schemeClr val="bg2"/>
                  </a:solidFill>
                </a:rPr>
                <a:t>k</a:t>
              </a:r>
              <a:endParaRPr lang="en-US" altLang="zh-CN" b="1" i="1" baseline="-25000" dirty="0" smtClean="0">
                <a:solidFill>
                  <a:schemeClr val="bg2"/>
                </a:solidFill>
              </a:endParaRPr>
            </a:p>
            <a:p>
              <a:r>
                <a:rPr lang="en-US" altLang="zh-CN" b="1" i="1" dirty="0" smtClean="0">
                  <a:solidFill>
                    <a:schemeClr val="bg2"/>
                  </a:solidFill>
                </a:rPr>
                <a:t>b</a:t>
              </a:r>
              <a:r>
                <a:rPr lang="en-US" altLang="zh-CN" b="1" i="1" baseline="-25000" dirty="0" smtClean="0">
                  <a:solidFill>
                    <a:schemeClr val="bg2"/>
                  </a:solidFill>
                </a:rPr>
                <a:t>0</a:t>
              </a:r>
              <a:endParaRPr lang="zh-CN" altLang="en-US" b="1" i="1" baseline="-25000" dirty="0">
                <a:solidFill>
                  <a:schemeClr val="bg2"/>
                </a:solidFill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556792"/>
            <a:ext cx="7991420" cy="5355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chemeClr val="bg2"/>
                </a:solidFill>
              </a:rPr>
              <a:t>（</a:t>
            </a:r>
            <a:r>
              <a:rPr lang="en-US" altLang="zh-CN" dirty="0" smtClean="0">
                <a:solidFill>
                  <a:schemeClr val="bg2"/>
                </a:solidFill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</a:rPr>
              <a:t>）卷积计算实例</a:t>
            </a:r>
            <a:endParaRPr lang="zh-CN" altLang="en-US" dirty="0">
              <a:solidFill>
                <a:schemeClr val="bg2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060848"/>
            <a:ext cx="3960440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897" y="3837226"/>
            <a:ext cx="4569327" cy="669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893" y="5199141"/>
            <a:ext cx="4680520" cy="394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组合 5"/>
          <p:cNvGrpSpPr/>
          <p:nvPr/>
        </p:nvGrpSpPr>
        <p:grpSpPr>
          <a:xfrm>
            <a:off x="1545893" y="4715614"/>
            <a:ext cx="2629026" cy="1312979"/>
            <a:chOff x="1043608" y="4572104"/>
            <a:chExt cx="2629026" cy="1312979"/>
          </a:xfrm>
        </p:grpSpPr>
        <p:pic>
          <p:nvPicPr>
            <p:cNvPr id="4100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3608" y="4572104"/>
              <a:ext cx="2629026" cy="461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02" name="Picture 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2579" y="5449984"/>
              <a:ext cx="343197" cy="4350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0" name="组合 19"/>
          <p:cNvGrpSpPr/>
          <p:nvPr/>
        </p:nvGrpSpPr>
        <p:grpSpPr>
          <a:xfrm>
            <a:off x="2013211" y="4724638"/>
            <a:ext cx="2629026" cy="1312979"/>
            <a:chOff x="1043608" y="4572104"/>
            <a:chExt cx="2629026" cy="1312979"/>
          </a:xfrm>
        </p:grpSpPr>
        <p:pic>
          <p:nvPicPr>
            <p:cNvPr id="21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3608" y="4572104"/>
              <a:ext cx="2629026" cy="461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2" name="Picture 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2579" y="5449984"/>
              <a:ext cx="343197" cy="4350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3" name="组合 22"/>
          <p:cNvGrpSpPr/>
          <p:nvPr/>
        </p:nvGrpSpPr>
        <p:grpSpPr>
          <a:xfrm>
            <a:off x="2517267" y="4724638"/>
            <a:ext cx="2629026" cy="1312979"/>
            <a:chOff x="1043608" y="4572104"/>
            <a:chExt cx="2629026" cy="1312979"/>
          </a:xfrm>
        </p:grpSpPr>
        <p:pic>
          <p:nvPicPr>
            <p:cNvPr id="24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3608" y="4572104"/>
              <a:ext cx="2629026" cy="461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5" name="Picture 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2579" y="5449984"/>
              <a:ext cx="343197" cy="4350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6" name="组合 25"/>
          <p:cNvGrpSpPr/>
          <p:nvPr/>
        </p:nvGrpSpPr>
        <p:grpSpPr>
          <a:xfrm>
            <a:off x="3058061" y="4724638"/>
            <a:ext cx="2629026" cy="1312979"/>
            <a:chOff x="1043608" y="4572104"/>
            <a:chExt cx="2629026" cy="1312979"/>
          </a:xfrm>
        </p:grpSpPr>
        <p:pic>
          <p:nvPicPr>
            <p:cNvPr id="27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3608" y="4572104"/>
              <a:ext cx="2629026" cy="461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8" name="Picture 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2579" y="5449984"/>
              <a:ext cx="343197" cy="4350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9" name="组合 28"/>
          <p:cNvGrpSpPr/>
          <p:nvPr/>
        </p:nvGrpSpPr>
        <p:grpSpPr>
          <a:xfrm>
            <a:off x="3597387" y="4724638"/>
            <a:ext cx="2629026" cy="1312979"/>
            <a:chOff x="1043608" y="4572104"/>
            <a:chExt cx="2629026" cy="1312979"/>
          </a:xfrm>
        </p:grpSpPr>
        <p:pic>
          <p:nvPicPr>
            <p:cNvPr id="30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3608" y="4572104"/>
              <a:ext cx="2629026" cy="461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" name="Picture 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2579" y="5449984"/>
              <a:ext cx="343197" cy="4350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070"/>
          <a:stretch>
            <a:fillRect/>
          </a:stretch>
        </p:blipFill>
        <p:spPr bwMode="auto">
          <a:xfrm>
            <a:off x="1911985" y="1875790"/>
            <a:ext cx="4569460" cy="394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055" y="2404745"/>
            <a:ext cx="4973320" cy="373062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556792"/>
            <a:ext cx="7991420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</a:rPr>
              <a:t>求解多项式乘积的算法</a:t>
            </a:r>
            <a:endParaRPr lang="en-US" altLang="zh-CN" dirty="0" smtClean="0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2"/>
                </a:solidFill>
              </a:rPr>
              <a:t>（</a:t>
            </a:r>
            <a:r>
              <a:rPr lang="en-US" altLang="zh-CN" dirty="0">
                <a:solidFill>
                  <a:schemeClr val="bg2"/>
                </a:solidFill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</a:rPr>
              <a:t>）算法</a:t>
            </a:r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</a:rPr>
              <a:t>：蛮力算法</a:t>
            </a:r>
            <a:endParaRPr lang="zh-CN" altLang="en-US" dirty="0" smtClean="0">
              <a:solidFill>
                <a:schemeClr val="bg2"/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4075" y="2565400"/>
            <a:ext cx="4000500" cy="806450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075" y="3429635"/>
            <a:ext cx="2012950" cy="412750"/>
          </a:xfrm>
          <a:prstGeom prst="rect">
            <a:avLst/>
          </a:prstGeom>
        </p:spPr>
      </p:pic>
      <p:pic>
        <p:nvPicPr>
          <p:cNvPr id="6" name="20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0040" y="3842385"/>
            <a:ext cx="5111750" cy="450850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320" y="4293235"/>
            <a:ext cx="3529330" cy="509270"/>
          </a:xfrm>
          <a:prstGeom prst="rect">
            <a:avLst/>
          </a:prstGeom>
        </p:spPr>
      </p:pic>
      <p:pic>
        <p:nvPicPr>
          <p:cNvPr id="8" name="20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5830" y="4949825"/>
            <a:ext cx="3458210" cy="46037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556792"/>
            <a:ext cx="799142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2"/>
                </a:solidFill>
              </a:rPr>
              <a:t>（</a:t>
            </a:r>
            <a:r>
              <a:rPr lang="en-US" altLang="zh-CN" dirty="0">
                <a:solidFill>
                  <a:schemeClr val="bg2"/>
                </a:solidFill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</a:rPr>
              <a:t>）算法</a:t>
            </a:r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</a:rPr>
              <a:t>：</a:t>
            </a:r>
            <a:r>
              <a:rPr dirty="0" smtClean="0">
                <a:solidFill>
                  <a:schemeClr val="bg2"/>
                </a:solidFill>
              </a:rPr>
              <a:t>快速傅立叶变换FFT</a:t>
            </a:r>
            <a:endParaRPr dirty="0" smtClean="0">
              <a:solidFill>
                <a:schemeClr val="bg2"/>
              </a:solidFill>
            </a:endParaRPr>
          </a:p>
        </p:txBody>
      </p:sp>
      <p:pic>
        <p:nvPicPr>
          <p:cNvPr id="9" name="20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155" y="2234565"/>
            <a:ext cx="3540125" cy="52895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20090" y="2685187"/>
            <a:ext cx="7991420" cy="2489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bg2"/>
                </a:solidFill>
              </a:rPr>
              <a:t>    2.</a:t>
            </a:r>
            <a:r>
              <a:rPr lang="zh-CN" altLang="en-US" b="1" dirty="0" smtClean="0">
                <a:solidFill>
                  <a:schemeClr val="bg2"/>
                </a:solidFill>
              </a:rPr>
              <a:t>  </a:t>
            </a:r>
            <a:r>
              <a:rPr lang="en-US" altLang="zh-CN" b="1" dirty="0" smtClean="0">
                <a:solidFill>
                  <a:schemeClr val="bg2"/>
                </a:solidFill>
              </a:rPr>
              <a:t>for 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←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0 to 2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-1 do</a:t>
            </a:r>
            <a:endParaRPr lang="en-US" altLang="zh-CN" b="1" dirty="0" smtClean="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    3.        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b="1" i="1" baseline="-25000" dirty="0" smtClean="0">
                <a:solidFill>
                  <a:schemeClr val="bg2"/>
                </a:solidFill>
                <a:uFillTx/>
                <a:cs typeface="Times New Roman" panose="02020603050405020304" pitchFamily="18" charset="0"/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=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="1" i="1" baseline="-25000" dirty="0" smtClean="0">
                <a:solidFill>
                  <a:schemeClr val="bg2"/>
                </a:solidFill>
                <a:uFillTx/>
                <a:cs typeface="Times New Roman" panose="02020603050405020304" pitchFamily="18" charset="0"/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)</a:t>
            </a:r>
            <a:endParaRPr lang="en-US" altLang="zh-CN" b="1" dirty="0" smtClean="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    4.        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="1" i="1" baseline="-25000" dirty="0" smtClean="0">
                <a:solidFill>
                  <a:schemeClr val="bg2"/>
                </a:solidFill>
                <a:uFillTx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i="1" baseline="-25000" dirty="0" smtClean="0">
                <a:solidFill>
                  <a:schemeClr val="bg2"/>
                </a:solidFill>
                <a:uFillTx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)</a:t>
            </a:r>
            <a:endParaRPr lang="en-US" altLang="zh-CN" b="1" dirty="0" smtClean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    5.        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b="1" i="1" baseline="-25000" dirty="0" smtClean="0">
                <a:solidFill>
                  <a:schemeClr val="bg2"/>
                </a:solidFill>
                <a:uFillTx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b="1" i="1" baseline="-25000" dirty="0" smtClean="0">
                <a:solidFill>
                  <a:schemeClr val="bg2"/>
                </a:solidFill>
                <a:uFillTx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="1" i="1" baseline="-25000" dirty="0" smtClean="0">
                <a:solidFill>
                  <a:schemeClr val="bg2"/>
                </a:solidFill>
                <a:uFillTx/>
                <a:cs typeface="Times New Roman" panose="02020603050405020304" pitchFamily="18" charset="0"/>
                <a:sym typeface="+mn-ea"/>
              </a:rPr>
              <a:t>j</a:t>
            </a:r>
            <a:endParaRPr lang="en-US" altLang="zh-CN" b="1" i="1" baseline="-25000" dirty="0" smtClean="0">
              <a:solidFill>
                <a:schemeClr val="bg2"/>
              </a:solidFill>
              <a:uFillTx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    6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.  </a:t>
            </a:r>
            <a:r>
              <a:rPr lang="zh-CN" altLang="en-US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构造多项式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)=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="1" i="1" baseline="-25000" dirty="0" smtClean="0">
                <a:solidFill>
                  <a:schemeClr val="bg2"/>
                </a:solidFill>
                <a:uFillTx/>
                <a:cs typeface="Times New Roman" panose="02020603050405020304" pitchFamily="18" charset="0"/>
                <a:sym typeface="+mn-ea"/>
              </a:rPr>
              <a:t>0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+d</a:t>
            </a:r>
            <a:r>
              <a:rPr lang="en-US" altLang="zh-CN" b="1" i="1" baseline="-25000" dirty="0" smtClean="0">
                <a:solidFill>
                  <a:schemeClr val="bg2"/>
                </a:solidFill>
                <a:uFillTx/>
                <a:cs typeface="Times New Roman" panose="02020603050405020304" pitchFamily="18" charset="0"/>
                <a:sym typeface="+mn-ea"/>
              </a:rPr>
              <a:t>1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i="1" baseline="30000" dirty="0" smtClean="0">
                <a:solidFill>
                  <a:schemeClr val="bg2"/>
                </a:solidFill>
                <a:uFillTx/>
                <a:cs typeface="Times New Roman" panose="02020603050405020304" pitchFamily="18" charset="0"/>
                <a:sym typeface="+mn-ea"/>
              </a:rPr>
              <a:t>1</a:t>
            </a:r>
            <a:r>
              <a:rPr lang="en-US" altLang="zh-CN" b="1" i="1" dirty="0" smtClean="0">
                <a:solidFill>
                  <a:schemeClr val="bg2"/>
                </a:solidFill>
                <a:uFillTx/>
                <a:cs typeface="Times New Roman" panose="02020603050405020304" pitchFamily="18" charset="0"/>
                <a:sym typeface="+mn-ea"/>
              </a:rPr>
              <a:t>+……+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2n-1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i="1" baseline="30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2n-1</a:t>
            </a:r>
            <a:endParaRPr lang="en-US" altLang="zh-CN" b="1" i="1" dirty="0" smtClean="0">
              <a:solidFill>
                <a:schemeClr val="bg2"/>
              </a:solidFill>
              <a:uFillTx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18000" y="3238500"/>
            <a:ext cx="4876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←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43425" y="3199130"/>
            <a:ext cx="4876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←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07745" y="1771650"/>
            <a:ext cx="7559040" cy="2306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i="1" dirty="0" smtClean="0">
                <a:solidFill>
                  <a:schemeClr val="bg2"/>
                </a:solidFill>
                <a:uFillTx/>
                <a:cs typeface="Times New Roman" panose="02020603050405020304" pitchFamily="18" charset="0"/>
                <a:sym typeface="+mn-ea"/>
              </a:rPr>
              <a:t>  7.  </a:t>
            </a:r>
            <a:r>
              <a:rPr lang="en-US" altLang="zh-CN" b="1" dirty="0" smtClean="0">
                <a:solidFill>
                  <a:schemeClr val="bg2"/>
                </a:solidFill>
                <a:sym typeface="+mn-ea"/>
              </a:rPr>
              <a:t>for 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←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0 to 2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-1 do</a:t>
            </a:r>
            <a:endParaRPr lang="en-US" altLang="zh-CN" b="1" dirty="0" smtClean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b="1" i="1" dirty="0" smtClean="0">
                <a:solidFill>
                  <a:schemeClr val="bg2"/>
                </a:solidFill>
                <a:uFillTx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zh-CN" b="1" dirty="0" smtClean="0">
                <a:solidFill>
                  <a:schemeClr val="bg2"/>
                </a:solidFill>
                <a:uFillTx/>
                <a:cs typeface="Times New Roman" panose="02020603050405020304" pitchFamily="18" charset="0"/>
                <a:sym typeface="+mn-ea"/>
              </a:rPr>
              <a:t>8</a:t>
            </a:r>
            <a:r>
              <a:rPr lang="en-US" altLang="zh-CN" b="1" i="1" dirty="0" smtClean="0">
                <a:solidFill>
                  <a:schemeClr val="bg2"/>
                </a:solidFill>
                <a:uFillTx/>
                <a:cs typeface="Times New Roman" panose="02020603050405020304" pitchFamily="18" charset="0"/>
                <a:sym typeface="+mn-ea"/>
              </a:rPr>
              <a:t>.          D</a:t>
            </a:r>
            <a:r>
              <a:rPr lang="en-US" altLang="zh-CN" b="1" i="1" baseline="-25000" dirty="0" smtClean="0">
                <a:solidFill>
                  <a:schemeClr val="bg2"/>
                </a:solidFill>
                <a:uFillTx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i="1" baseline="-25000" dirty="0" smtClean="0">
                <a:solidFill>
                  <a:schemeClr val="bg2"/>
                </a:solidFill>
                <a:uFillTx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)</a:t>
            </a:r>
            <a:r>
              <a:rPr lang="en-US" b="1" dirty="0">
                <a:solidFill>
                  <a:schemeClr val="bg2"/>
                </a:solidFill>
              </a:rPr>
              <a:t>     </a:t>
            </a:r>
            <a:endParaRPr lang="en-US" b="1" dirty="0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bg2"/>
                </a:solidFill>
              </a:rPr>
              <a:t>  9.   </a:t>
            </a:r>
            <a:r>
              <a:rPr lang="en-US" b="1" i="1" dirty="0">
                <a:solidFill>
                  <a:schemeClr val="bg2"/>
                </a:solidFill>
              </a:rPr>
              <a:t>c</a:t>
            </a:r>
            <a:r>
              <a:rPr lang="en-US" b="1" baseline="-25000" dirty="0">
                <a:solidFill>
                  <a:schemeClr val="bg2"/>
                </a:solidFill>
              </a:rPr>
              <a:t>0</a:t>
            </a:r>
            <a:r>
              <a:rPr lang="en-US" b="1" dirty="0">
                <a:solidFill>
                  <a:schemeClr val="bg2"/>
                </a:solidFill>
              </a:rPr>
              <a:t>=</a:t>
            </a:r>
            <a:r>
              <a:rPr lang="en-US" b="1" i="1" dirty="0">
                <a:solidFill>
                  <a:schemeClr val="bg2"/>
                </a:solidFill>
              </a:rPr>
              <a:t>D</a:t>
            </a:r>
            <a:r>
              <a:rPr lang="en-US" b="1" baseline="-25000" dirty="0">
                <a:solidFill>
                  <a:schemeClr val="bg2"/>
                </a:solidFill>
              </a:rPr>
              <a:t>1 </a:t>
            </a:r>
            <a:r>
              <a:rPr lang="en-US" b="1" dirty="0">
                <a:solidFill>
                  <a:schemeClr val="bg2"/>
                </a:solidFill>
              </a:rPr>
              <a:t>/ 2</a:t>
            </a:r>
            <a:r>
              <a:rPr lang="en-US" b="1" i="1" dirty="0">
                <a:solidFill>
                  <a:schemeClr val="bg2"/>
                </a:solidFill>
              </a:rPr>
              <a:t>n</a:t>
            </a:r>
            <a:endParaRPr lang="en-US" b="1" dirty="0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bg2"/>
                </a:solidFill>
              </a:rPr>
              <a:t> 10.</a:t>
            </a:r>
            <a:r>
              <a:rPr lang="zh-CN" altLang="en-US" b="1" dirty="0" smtClean="0">
                <a:solidFill>
                  <a:schemeClr val="bg2"/>
                </a:solidFill>
              </a:rPr>
              <a:t>  </a:t>
            </a:r>
            <a:r>
              <a:rPr lang="en-US" altLang="zh-CN" b="1" dirty="0" smtClean="0">
                <a:solidFill>
                  <a:schemeClr val="bg2"/>
                </a:solidFill>
              </a:rPr>
              <a:t>for 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←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1 to 2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-1 do</a:t>
            </a:r>
            <a:endParaRPr lang="en-US" altLang="zh-CN" b="1" dirty="0" smtClean="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 11.        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c</a:t>
            </a:r>
            <a:r>
              <a:rPr lang="en-US" altLang="zh-CN" b="1" i="1" baseline="-25000" dirty="0" smtClean="0">
                <a:solidFill>
                  <a:schemeClr val="bg2"/>
                </a:solidFill>
                <a:uFillTx/>
                <a:cs typeface="Times New Roman" panose="02020603050405020304" pitchFamily="18" charset="0"/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=</a:t>
            </a:r>
            <a:r>
              <a:rPr lang="en-US" b="1" i="1" dirty="0">
                <a:solidFill>
                  <a:schemeClr val="bg2"/>
                </a:solidFill>
                <a:sym typeface="+mn-ea"/>
              </a:rPr>
              <a:t>D</a:t>
            </a:r>
            <a:r>
              <a:rPr lang="en-US" b="1" i="1" baseline="-25000" dirty="0">
                <a:solidFill>
                  <a:schemeClr val="bg2"/>
                </a:solidFill>
                <a:sym typeface="+mn-ea"/>
              </a:rPr>
              <a:t>2n-j </a:t>
            </a:r>
            <a:r>
              <a:rPr lang="en-US" b="1" dirty="0">
                <a:solidFill>
                  <a:schemeClr val="bg2"/>
                </a:solidFill>
                <a:sym typeface="+mn-ea"/>
              </a:rPr>
              <a:t>/ 2</a:t>
            </a:r>
            <a:r>
              <a:rPr lang="en-US" b="1" i="1" dirty="0">
                <a:solidFill>
                  <a:schemeClr val="bg2"/>
                </a:solidFill>
                <a:sym typeface="+mn-ea"/>
              </a:rPr>
              <a:t>n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       </a:t>
            </a:r>
            <a:endParaRPr lang="en-US" altLang="zh-CN" b="1" i="1" dirty="0" smtClean="0">
              <a:solidFill>
                <a:schemeClr val="bg2"/>
              </a:solidFill>
              <a:uFillTx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6770" y="1772920"/>
            <a:ext cx="3816350" cy="2447925"/>
          </a:xfrm>
          <a:prstGeom prst="rect">
            <a:avLst/>
          </a:prstGeom>
          <a:noFill/>
          <a:ln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chemeClr val="dk1"/>
                </a:solidFill>
              </a14:hiddenFill>
            </a:ext>
          </a:ex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14875" y="2694940"/>
            <a:ext cx="19411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多项式插值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8335" y="4331970"/>
            <a:ext cx="7918450" cy="171450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b="1">
                <a:solidFill>
                  <a:schemeClr val="bg2"/>
                </a:solidFill>
              </a:rPr>
              <a:t>重点研究问题</a:t>
            </a:r>
            <a:endParaRPr lang="zh-CN" altLang="en-US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zh-CN" altLang="en-US" b="1">
                <a:solidFill>
                  <a:schemeClr val="bg2"/>
                </a:solidFill>
              </a:rPr>
              <a:t>（</a:t>
            </a:r>
            <a:r>
              <a:rPr lang="en-US" altLang="zh-CN" b="1">
                <a:solidFill>
                  <a:schemeClr val="bg2"/>
                </a:solidFill>
              </a:rPr>
              <a:t>1</a:t>
            </a:r>
            <a:r>
              <a:rPr lang="zh-CN" altLang="en-US" b="1">
                <a:solidFill>
                  <a:schemeClr val="bg2"/>
                </a:solidFill>
              </a:rPr>
              <a:t>）如何选取</a:t>
            </a:r>
            <a:r>
              <a:rPr lang="en-US" altLang="zh-CN" b="1">
                <a:solidFill>
                  <a:schemeClr val="bg2"/>
                </a:solidFill>
              </a:rPr>
              <a:t>2</a:t>
            </a:r>
            <a:r>
              <a:rPr lang="en-US" altLang="zh-CN" b="1" i="1">
                <a:solidFill>
                  <a:schemeClr val="bg2"/>
                </a:solidFill>
              </a:rPr>
              <a:t>n</a:t>
            </a:r>
            <a:r>
              <a:rPr lang="zh-CN" altLang="en-US" b="1">
                <a:solidFill>
                  <a:schemeClr val="bg2"/>
                </a:solidFill>
              </a:rPr>
              <a:t>个数值</a:t>
            </a:r>
            <a:r>
              <a:rPr lang="en-US" altLang="zh-CN" b="1">
                <a:solidFill>
                  <a:schemeClr val="bg2"/>
                </a:solidFill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en-US" b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b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b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b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b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……</a:t>
            </a:r>
            <a:r>
              <a:rPr lang="zh-CN" altLang="en-US" b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2n-1</a:t>
            </a:r>
            <a:r>
              <a:rPr lang="zh-CN" altLang="en-US" b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b="1" baseline="-25000" dirty="0" smtClean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zh-CN" altLang="en-US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）算法中求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n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个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)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、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B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)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、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D(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)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，如何高效求得多项式在某个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x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上的值？</a:t>
            </a:r>
            <a:endParaRPr lang="zh-CN" altLang="en-US" b="1" dirty="0" smtClean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112895" y="3342640"/>
            <a:ext cx="4876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←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8130" y="1593215"/>
            <a:ext cx="8437245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b="1">
                <a:solidFill>
                  <a:schemeClr val="bg2"/>
                </a:solidFill>
              </a:rPr>
              <a:t>重点问题</a:t>
            </a:r>
            <a:r>
              <a:rPr lang="en-US" altLang="zh-CN" b="1">
                <a:solidFill>
                  <a:schemeClr val="bg2"/>
                </a:solidFill>
              </a:rPr>
              <a:t>1</a:t>
            </a:r>
            <a:r>
              <a:rPr lang="zh-CN" altLang="en-US" b="1">
                <a:solidFill>
                  <a:schemeClr val="bg2"/>
                </a:solidFill>
              </a:rPr>
              <a:t>：如何选取</a:t>
            </a:r>
            <a:r>
              <a:rPr lang="en-US" altLang="zh-CN" b="1">
                <a:solidFill>
                  <a:schemeClr val="bg2"/>
                </a:solidFill>
              </a:rPr>
              <a:t>2</a:t>
            </a:r>
            <a:r>
              <a:rPr lang="en-US" altLang="zh-CN" b="1" i="1">
                <a:solidFill>
                  <a:schemeClr val="bg2"/>
                </a:solidFill>
              </a:rPr>
              <a:t>n</a:t>
            </a:r>
            <a:r>
              <a:rPr lang="zh-CN" altLang="en-US" b="1">
                <a:solidFill>
                  <a:schemeClr val="bg2"/>
                </a:solidFill>
              </a:rPr>
              <a:t>个数值</a:t>
            </a:r>
            <a:r>
              <a:rPr lang="en-US" altLang="zh-CN" b="1">
                <a:solidFill>
                  <a:schemeClr val="bg2"/>
                </a:solidFill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en-US" b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b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b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b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b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……</a:t>
            </a:r>
            <a:r>
              <a:rPr lang="zh-CN" altLang="en-US" b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2n-</a:t>
            </a:r>
            <a:r>
              <a:rPr lang="en-US" altLang="zh-CN" b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b="1" baseline="-25000" dirty="0" smtClean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zh-CN" altLang="en-US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）选取方法：1的2</a:t>
            </a:r>
            <a:r>
              <a:rPr lang="zh-CN" altLang="en-US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次根</a:t>
            </a:r>
            <a:endParaRPr lang="zh-CN" altLang="en-US" b="1" dirty="0" smtClean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11275" y="3001010"/>
            <a:ext cx="7442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800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sz="2800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=</a:t>
            </a:r>
            <a:endParaRPr lang="en-US" altLang="zh-CN" sz="2800" b="1" i="1" dirty="0" smtClean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695" y="2736215"/>
            <a:ext cx="2438400" cy="1066800"/>
          </a:xfrm>
          <a:prstGeom prst="rect">
            <a:avLst/>
          </a:prstGeom>
        </p:spPr>
      </p:pic>
      <p:pic>
        <p:nvPicPr>
          <p:cNvPr id="9" name="20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340" y="3062605"/>
            <a:ext cx="2872740" cy="812165"/>
          </a:xfrm>
          <a:prstGeom prst="rect">
            <a:avLst/>
          </a:prstGeom>
        </p:spPr>
      </p:pic>
      <p:pic>
        <p:nvPicPr>
          <p:cNvPr id="10" name="20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800" y="3874770"/>
            <a:ext cx="3893185" cy="76581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311275" y="5130165"/>
            <a:ext cx="46253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800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j</a:t>
            </a:r>
            <a:r>
              <a:rPr lang="zh-CN" altLang="en-US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为单位圆上均匀分布的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个点</a:t>
            </a:r>
            <a:endParaRPr lang="zh-CN" altLang="en-US" dirty="0" smtClean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pic>
        <p:nvPicPr>
          <p:cNvPr id="5" name="20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590" y="1812925"/>
            <a:ext cx="2162810" cy="549910"/>
          </a:xfrm>
          <a:prstGeom prst="rect">
            <a:avLst/>
          </a:prstGeom>
        </p:spPr>
      </p:pic>
      <p:pic>
        <p:nvPicPr>
          <p:cNvPr id="6" name="20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85" y="1812925"/>
            <a:ext cx="3238500" cy="2305050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" y="2463800"/>
            <a:ext cx="6229350" cy="33337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43425" y="3199130"/>
            <a:ext cx="4876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←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49885" y="1593215"/>
            <a:ext cx="8342630" cy="13087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b="1">
                <a:solidFill>
                  <a:schemeClr val="bg2"/>
                </a:solidFill>
              </a:rPr>
              <a:t>重点问题</a:t>
            </a:r>
            <a:r>
              <a:rPr lang="en-US" altLang="zh-CN" b="1">
                <a:solidFill>
                  <a:schemeClr val="bg2"/>
                </a:solidFill>
              </a:rPr>
              <a:t>2</a:t>
            </a:r>
            <a:r>
              <a:rPr lang="zh-CN" altLang="en-US" b="1">
                <a:solidFill>
                  <a:schemeClr val="bg2"/>
                </a:solidFill>
              </a:rPr>
              <a:t>：</a:t>
            </a:r>
            <a:r>
              <a:rPr lang="zh-CN" altLang="en-US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算法中求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n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个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)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、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B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)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、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D(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)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，如何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高效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求得多项式在某个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x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上的值？</a:t>
            </a:r>
            <a:endParaRPr lang="zh-CN" altLang="en-US" b="1">
              <a:solidFill>
                <a:schemeClr val="bg2"/>
              </a:solidFill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zh-CN" altLang="en-US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）方法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：蛮力算法</a:t>
            </a:r>
            <a:endParaRPr lang="zh-CN" altLang="en-US" b="1" dirty="0" smtClean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665" y="2901950"/>
            <a:ext cx="5513705" cy="24193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43425" y="3199130"/>
            <a:ext cx="4876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←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49885" y="1593215"/>
            <a:ext cx="834263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zh-CN" altLang="en-US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）方法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：霍纳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(Horner)</a:t>
            </a:r>
            <a:r>
              <a:rPr lang="zh-CN" altLang="en-US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法则</a:t>
            </a:r>
            <a:endParaRPr lang="zh-CN" altLang="en-US" b="1" dirty="0" smtClean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rcRect t="4404"/>
          <a:stretch>
            <a:fillRect/>
          </a:stretch>
        </p:blipFill>
        <p:spPr>
          <a:xfrm>
            <a:off x="1782445" y="2187575"/>
            <a:ext cx="6009005" cy="416306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43425" y="3055620"/>
            <a:ext cx="4876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←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49885" y="1593215"/>
            <a:ext cx="834263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zh-CN" altLang="en-US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）方法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：分治法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——</a:t>
            </a:r>
            <a:r>
              <a:rPr lang="zh-CN" altLang="en-US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快速傅里叶变换算法中使用</a:t>
            </a:r>
            <a:endParaRPr lang="zh-CN" altLang="en-US" b="1" dirty="0" smtClean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rcRect t="16095"/>
          <a:stretch>
            <a:fillRect/>
          </a:stretch>
        </p:blipFill>
        <p:spPr>
          <a:xfrm>
            <a:off x="1172210" y="2113915"/>
            <a:ext cx="5292725" cy="870585"/>
          </a:xfrm>
          <a:prstGeom prst="rect">
            <a:avLst/>
          </a:prstGeom>
        </p:spPr>
      </p:pic>
      <p:pic>
        <p:nvPicPr>
          <p:cNvPr id="4" name="20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210" y="3055620"/>
            <a:ext cx="5396230" cy="1024255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910" y="4070985"/>
            <a:ext cx="4286885" cy="577850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075" y="4823460"/>
            <a:ext cx="4912360" cy="114427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1345" y="1616710"/>
            <a:ext cx="6754495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zh-CN" altLang="en-US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分治策略算法描述</a:t>
            </a:r>
            <a:endParaRPr lang="zh-CN" altLang="en-US" b="1" dirty="0" smtClean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6" name="20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5720" y="2113915"/>
            <a:ext cx="4336415" cy="8985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277620" y="2921000"/>
            <a:ext cx="5717540" cy="2158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chemeClr val="bg2"/>
                </a:solidFill>
                <a:sym typeface="+mn-ea"/>
              </a:rPr>
              <a:t> 2.</a:t>
            </a:r>
            <a:r>
              <a:rPr lang="zh-CN" altLang="en-US" sz="2800" b="1" dirty="0" smtClean="0">
                <a:solidFill>
                  <a:schemeClr val="bg2"/>
                </a:solidFill>
                <a:sym typeface="+mn-ea"/>
              </a:rPr>
              <a:t>  </a:t>
            </a:r>
            <a:r>
              <a:rPr lang="en-US" altLang="zh-CN" sz="2800" b="1" dirty="0" smtClean="0">
                <a:solidFill>
                  <a:schemeClr val="bg2"/>
                </a:solidFill>
                <a:sym typeface="+mn-ea"/>
              </a:rPr>
              <a:t>for </a:t>
            </a:r>
            <a:r>
              <a:rPr lang="en-US" altLang="zh-CN" sz="2800" b="1" i="1" dirty="0" smtClean="0">
                <a:solidFill>
                  <a:schemeClr val="bg2"/>
                </a:solidFill>
                <a:sym typeface="+mn-ea"/>
              </a:rPr>
              <a:t>j</a:t>
            </a:r>
            <a:r>
              <a:rPr lang="en-US" altLang="zh-CN" sz="2800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←</a:t>
            </a:r>
            <a:r>
              <a:rPr lang="en-US" altLang="zh-CN" sz="2800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0 to 2</a:t>
            </a:r>
            <a:r>
              <a:rPr lang="en-US" altLang="zh-CN" sz="2800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2800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-1 do</a:t>
            </a:r>
            <a:endParaRPr lang="en-US" altLang="zh-CN" sz="2800" b="1" dirty="0" smtClean="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 3.        </a:t>
            </a:r>
            <a:r>
              <a:rPr lang="en-US" altLang="zh-CN" sz="2800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 A</a:t>
            </a:r>
            <a:r>
              <a:rPr lang="en-US" altLang="zh-CN" sz="2800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even</a:t>
            </a:r>
            <a:r>
              <a:rPr lang="en-US" altLang="zh-CN" sz="2800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800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w</a:t>
            </a:r>
            <a:r>
              <a:rPr lang="en-US" altLang="zh-CN" sz="2800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sz="2800" b="1" baseline="30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800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)</a:t>
            </a:r>
            <a:endParaRPr lang="en-US" altLang="zh-CN" sz="2800" b="1" dirty="0" smtClean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 4.        </a:t>
            </a:r>
            <a:r>
              <a:rPr lang="en-US" altLang="zh-CN" sz="2800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800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odd</a:t>
            </a:r>
            <a:r>
              <a:rPr lang="en-US" altLang="zh-CN" sz="2800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 (</a:t>
            </a:r>
            <a:r>
              <a:rPr lang="en-US" altLang="zh-CN" sz="2800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w</a:t>
            </a:r>
            <a:r>
              <a:rPr lang="en-US" altLang="zh-CN" sz="2800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sz="2800" b="1" baseline="30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800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)</a:t>
            </a:r>
            <a:endParaRPr lang="en-US" altLang="zh-CN" sz="2800" b="1" dirty="0" smtClean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 5.       </a:t>
            </a:r>
            <a:r>
              <a:rPr lang="en-US" altLang="zh-CN" sz="2800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800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800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800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) = </a:t>
            </a:r>
            <a:r>
              <a:rPr lang="en-US" altLang="zh-CN" sz="2800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800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even</a:t>
            </a:r>
            <a:r>
              <a:rPr lang="en-US" altLang="zh-CN" sz="2800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800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w</a:t>
            </a:r>
            <a:r>
              <a:rPr lang="en-US" altLang="zh-CN" sz="2800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sz="2800" b="1" baseline="30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800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) + </a:t>
            </a:r>
            <a:r>
              <a:rPr lang="en-US" altLang="zh-CN" sz="2800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w</a:t>
            </a:r>
            <a:r>
              <a:rPr lang="en-US" altLang="zh-CN" sz="2800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sz="2800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800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odd</a:t>
            </a:r>
            <a:r>
              <a:rPr lang="en-US" altLang="zh-CN" sz="2800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 (</a:t>
            </a:r>
            <a:r>
              <a:rPr lang="en-US" altLang="zh-CN" sz="2800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w</a:t>
            </a:r>
            <a:r>
              <a:rPr lang="en-US" altLang="zh-CN" sz="2800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sz="2800" b="1" baseline="30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800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)</a:t>
            </a:r>
            <a:endParaRPr lang="en-US" altLang="zh-CN" sz="2800" b="1" dirty="0" smtClean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9590" y="5228590"/>
            <a:ext cx="8268970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r>
              <a:rPr lang="en-US" altLang="zh-CN" sz="2800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w</a:t>
            </a:r>
            <a:r>
              <a:rPr lang="en-US" altLang="zh-CN" sz="2800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sz="2800" b="1" baseline="30000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2600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不需要重新计算</a:t>
            </a:r>
            <a:r>
              <a:rPr lang="zh-CN" altLang="en-US" sz="2600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sz="2600" b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直接</a:t>
            </a:r>
            <a:r>
              <a:rPr lang="zh-CN" altLang="en-US" sz="2600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在</a:t>
            </a:r>
            <a:r>
              <a:rPr lang="zh-CN" altLang="en-US" sz="2600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单位圆</a:t>
            </a:r>
            <a:r>
              <a:rPr lang="zh-CN" altLang="en-US" sz="2600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上取</a:t>
            </a:r>
            <a:r>
              <a:rPr lang="zh-CN" altLang="en-US" sz="2600" b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即可。</a:t>
            </a:r>
            <a:endParaRPr lang="zh-CN" altLang="en-US" sz="2600" b="1" dirty="0" smtClean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556792"/>
            <a:ext cx="799142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</a:rPr>
              <a:t>分治法多项式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求</a:t>
            </a:r>
            <a:r>
              <a:rPr lang="zh-CN" altLang="en-US" dirty="0" smtClean="0">
                <a:solidFill>
                  <a:schemeClr val="bg2"/>
                </a:solidFill>
              </a:rPr>
              <a:t>值的时间复杂度分析</a:t>
            </a:r>
            <a:endParaRPr lang="zh-CN" altLang="en-US" dirty="0" smtClean="0">
              <a:solidFill>
                <a:schemeClr val="bg2"/>
              </a:solidFill>
            </a:endParaRPr>
          </a:p>
        </p:txBody>
      </p:sp>
      <p:pic>
        <p:nvPicPr>
          <p:cNvPr id="9" name="20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945" y="2091055"/>
            <a:ext cx="2753360" cy="572135"/>
          </a:xfrm>
          <a:prstGeom prst="rect">
            <a:avLst/>
          </a:prstGeom>
        </p:spPr>
      </p:pic>
      <p:pic>
        <p:nvPicPr>
          <p:cNvPr id="10" name="20 9"/>
          <p:cNvPicPr>
            <a:picLocks noChangeAspect="1"/>
          </p:cNvPicPr>
          <p:nvPr/>
        </p:nvPicPr>
        <p:blipFill>
          <a:blip r:embed="rId2"/>
          <a:srcRect t="18791"/>
          <a:stretch>
            <a:fillRect/>
          </a:stretch>
        </p:blipFill>
        <p:spPr>
          <a:xfrm>
            <a:off x="3812540" y="2277110"/>
            <a:ext cx="4881880" cy="392430"/>
          </a:xfrm>
          <a:prstGeom prst="rect">
            <a:avLst/>
          </a:prstGeom>
        </p:spPr>
      </p:pic>
      <p:pic>
        <p:nvPicPr>
          <p:cNvPr id="11" name="20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75" y="2663190"/>
            <a:ext cx="4472940" cy="9144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214620" y="2725420"/>
            <a:ext cx="3064510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</a:pPr>
            <a:r>
              <a:rPr lang="en-US" altLang="zh-CN" b="1" i="1" dirty="0" smtClean="0">
                <a:solidFill>
                  <a:schemeClr val="bg2"/>
                </a:solidFill>
              </a:rPr>
              <a:t>g</a:t>
            </a:r>
            <a:r>
              <a:rPr lang="en-US" altLang="zh-CN" dirty="0" smtClean="0">
                <a:solidFill>
                  <a:schemeClr val="bg2"/>
                </a:solidFill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</a:rPr>
              <a:t>n</a:t>
            </a:r>
            <a:r>
              <a:rPr lang="en-US" altLang="zh-CN" dirty="0" smtClean="0">
                <a:solidFill>
                  <a:schemeClr val="bg2"/>
                </a:solidFill>
              </a:rPr>
              <a:t>)</a:t>
            </a:r>
            <a:r>
              <a:rPr lang="zh-CN" altLang="en-US" dirty="0" smtClean="0">
                <a:solidFill>
                  <a:schemeClr val="bg2"/>
                </a:solidFill>
              </a:rPr>
              <a:t>是将奇数部和偶数部组合成解的时间</a:t>
            </a:r>
            <a:endParaRPr lang="zh-CN" altLang="en-US" dirty="0" smtClean="0">
              <a:solidFill>
                <a:schemeClr val="bg2"/>
              </a:solidFill>
            </a:endParaRPr>
          </a:p>
        </p:txBody>
      </p:sp>
      <p:pic>
        <p:nvPicPr>
          <p:cNvPr id="14" name="20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4720" y="3983990"/>
            <a:ext cx="2542540" cy="616585"/>
          </a:xfrm>
          <a:prstGeom prst="rect">
            <a:avLst/>
          </a:prstGeom>
        </p:spPr>
      </p:pic>
      <p:pic>
        <p:nvPicPr>
          <p:cNvPr id="15" name="20 14"/>
          <p:cNvPicPr>
            <a:picLocks noChangeAspect="1"/>
          </p:cNvPicPr>
          <p:nvPr/>
        </p:nvPicPr>
        <p:blipFill>
          <a:blip r:embed="rId5"/>
          <a:srcRect t="15934" b="14835"/>
          <a:stretch>
            <a:fillRect/>
          </a:stretch>
        </p:blipFill>
        <p:spPr>
          <a:xfrm>
            <a:off x="2204085" y="4794885"/>
            <a:ext cx="4930775" cy="48006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>
                <a:solidFill>
                  <a:schemeClr val="accent2"/>
                </a:solidFill>
                <a:sym typeface="+mn-ea"/>
              </a:rPr>
              <a:t>2.4 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典型实例</a:t>
            </a:r>
            <a:endParaRPr kumimoji="0" lang="zh-CN" altLang="en-US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556792"/>
            <a:ext cx="799142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2"/>
                </a:solidFill>
              </a:rPr>
              <a:t>FFT</a:t>
            </a:r>
            <a:r>
              <a:rPr lang="zh-CN" altLang="en-US" dirty="0" smtClean="0">
                <a:solidFill>
                  <a:schemeClr val="bg2"/>
                </a:solidFill>
              </a:rPr>
              <a:t>算法的时间复杂度分析</a:t>
            </a:r>
            <a:endParaRPr lang="zh-CN" altLang="en-US" dirty="0" smtClean="0">
              <a:solidFill>
                <a:schemeClr val="bg2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78230" y="2582545"/>
            <a:ext cx="5025390" cy="2306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步1: 求多项式值 </a:t>
            </a:r>
            <a:r>
              <a:rPr lang="en-US" altLang="zh-CN" b="1" i="1">
                <a:solidFill>
                  <a:schemeClr val="bg2"/>
                </a:solidFill>
              </a:rPr>
              <a:t>a</a:t>
            </a:r>
            <a:r>
              <a:rPr lang="en-US" altLang="zh-CN" b="1" i="1" baseline="-25000">
                <a:solidFill>
                  <a:schemeClr val="bg2"/>
                </a:solidFill>
              </a:rPr>
              <a:t>j</a:t>
            </a:r>
            <a:r>
              <a:rPr lang="en-US" altLang="zh-CN">
                <a:solidFill>
                  <a:schemeClr val="bg2"/>
                </a:solidFill>
              </a:rPr>
              <a:t>=</a:t>
            </a:r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>
                <a:solidFill>
                  <a:schemeClr val="bg2"/>
                </a:solidFill>
              </a:rPr>
              <a:t>(</a:t>
            </a:r>
            <a:r>
              <a:rPr lang="en-US" altLang="zh-CN" b="1" i="1">
                <a:solidFill>
                  <a:schemeClr val="bg2"/>
                </a:solidFill>
              </a:rPr>
              <a:t>x</a:t>
            </a:r>
            <a:r>
              <a:rPr lang="zh-CN" altLang="en-US" b="1" i="1" baseline="-25000">
                <a:solidFill>
                  <a:schemeClr val="bg2"/>
                </a:solidFill>
                <a:cs typeface="Times New Roman" panose="02020603050405020304" pitchFamily="18" charset="0"/>
              </a:rPr>
              <a:t>j</a:t>
            </a:r>
            <a:r>
              <a:rPr lang="zh-CN" altLang="en-US">
                <a:solidFill>
                  <a:schemeClr val="bg2"/>
                </a:solidFill>
              </a:rPr>
              <a:t>) 和 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b</a:t>
            </a:r>
            <a:r>
              <a:rPr lang="en-US" altLang="zh-CN" b="1" i="1" baseline="-25000">
                <a:solidFill>
                  <a:schemeClr val="bg2"/>
                </a:solidFill>
                <a:sym typeface="+mn-ea"/>
              </a:rPr>
              <a:t>j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=</a:t>
            </a:r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>
                <a:solidFill>
                  <a:schemeClr val="bg2"/>
                </a:solidFill>
              </a:rPr>
              <a:t>(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x</a:t>
            </a:r>
            <a:r>
              <a:rPr lang="zh-CN" altLang="en-US" b="1" i="1" baseline="-2500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j</a:t>
            </a:r>
            <a:r>
              <a:rPr lang="zh-CN" altLang="en-US">
                <a:solidFill>
                  <a:schemeClr val="bg2"/>
                </a:solidFill>
              </a:rPr>
              <a:t>)  </a:t>
            </a:r>
            <a:endParaRPr lang="zh-CN" altLang="en-US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步2: 计算所有的 </a:t>
            </a:r>
            <a:r>
              <a:rPr lang="en-US" altLang="zh-CN" b="1" i="1">
                <a:solidFill>
                  <a:schemeClr val="bg2"/>
                </a:solidFill>
              </a:rPr>
              <a:t>d</a:t>
            </a:r>
            <a:r>
              <a:rPr lang="en-US" altLang="zh-CN" b="1" i="1" baseline="-25000">
                <a:solidFill>
                  <a:schemeClr val="bg2"/>
                </a:solidFill>
                <a:sym typeface="+mn-ea"/>
              </a:rPr>
              <a:t>j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=a</a:t>
            </a:r>
            <a:r>
              <a:rPr lang="en-US" altLang="zh-CN" b="1" i="1" baseline="-25000">
                <a:solidFill>
                  <a:schemeClr val="bg2"/>
                </a:solidFill>
                <a:sym typeface="+mn-ea"/>
              </a:rPr>
              <a:t>j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*b</a:t>
            </a:r>
            <a:r>
              <a:rPr lang="en-US" altLang="zh-CN" b="1" i="1" baseline="-25000">
                <a:solidFill>
                  <a:schemeClr val="bg2"/>
                </a:solidFill>
                <a:sym typeface="+mn-ea"/>
              </a:rPr>
              <a:t>j</a:t>
            </a:r>
            <a:endParaRPr lang="zh-CN" altLang="en-US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步3: 构造多项式</a:t>
            </a:r>
            <a:r>
              <a:rPr lang="zh-CN" altLang="en-US" b="1" i="1">
                <a:solidFill>
                  <a:schemeClr val="bg2"/>
                </a:solidFill>
                <a:sym typeface="+mn-ea"/>
              </a:rPr>
              <a:t>D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x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)</a:t>
            </a:r>
            <a:endParaRPr lang="zh-CN" altLang="en-US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步4: 计算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多项式值</a:t>
            </a:r>
            <a:r>
              <a:rPr lang="zh-CN" altLang="en-US">
                <a:solidFill>
                  <a:schemeClr val="bg2"/>
                </a:solidFill>
              </a:rPr>
              <a:t> 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D</a:t>
            </a:r>
            <a:r>
              <a:rPr lang="en-US" altLang="zh-CN" b="1" i="1" baseline="-25000">
                <a:solidFill>
                  <a:schemeClr val="bg2"/>
                </a:solidFill>
                <a:sym typeface="+mn-ea"/>
              </a:rPr>
              <a:t>j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=D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x</a:t>
            </a:r>
            <a:r>
              <a:rPr lang="zh-CN" altLang="en-US" b="1" i="1" baseline="-2500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j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) </a:t>
            </a:r>
            <a:endParaRPr lang="zh-CN" altLang="en-US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步5: 利用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 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D</a:t>
            </a:r>
            <a:r>
              <a:rPr lang="en-US" altLang="zh-CN" b="1" i="1" baseline="-25000">
                <a:solidFill>
                  <a:schemeClr val="bg2"/>
                </a:solidFill>
                <a:sym typeface="+mn-ea"/>
              </a:rPr>
              <a:t>j</a:t>
            </a:r>
            <a:r>
              <a:rPr lang="zh-CN" altLang="en-US">
                <a:solidFill>
                  <a:schemeClr val="bg2"/>
                </a:solidFill>
              </a:rPr>
              <a:t>计算所有的 </a:t>
            </a:r>
            <a:r>
              <a:rPr lang="zh-CN" altLang="en-US" b="1" i="1">
                <a:solidFill>
                  <a:schemeClr val="bg2"/>
                </a:solidFill>
              </a:rPr>
              <a:t>c</a:t>
            </a:r>
            <a:r>
              <a:rPr lang="zh-CN" altLang="en-US" b="1" i="1" baseline="-25000">
                <a:solidFill>
                  <a:schemeClr val="bg2"/>
                </a:solidFill>
              </a:rPr>
              <a:t>j</a:t>
            </a:r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31865" y="2654300"/>
            <a:ext cx="133477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O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(</a:t>
            </a:r>
            <a:r>
              <a:rPr lang="zh-CN" altLang="en-US" b="1" i="1">
                <a:solidFill>
                  <a:schemeClr val="bg2"/>
                </a:solidFill>
                <a:sym typeface="+mn-ea"/>
              </a:rPr>
              <a:t>n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log</a:t>
            </a:r>
            <a:r>
              <a:rPr lang="zh-CN" altLang="en-US" b="1" i="1">
                <a:solidFill>
                  <a:schemeClr val="bg2"/>
                </a:solidFill>
                <a:sym typeface="+mn-ea"/>
              </a:rPr>
              <a:t>n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)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526540" y="5096510"/>
            <a:ext cx="1706880" cy="5340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  <a:sym typeface="+mn-ea"/>
              </a:rPr>
              <a:t>算法时间为 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103620" y="3199130"/>
            <a:ext cx="77597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O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(</a:t>
            </a:r>
            <a:r>
              <a:rPr lang="zh-CN" altLang="en-US" b="1" i="1">
                <a:solidFill>
                  <a:schemeClr val="bg2"/>
                </a:solidFill>
                <a:sym typeface="+mn-ea"/>
              </a:rPr>
              <a:t>n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)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103620" y="3936365"/>
            <a:ext cx="133477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O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(</a:t>
            </a:r>
            <a:r>
              <a:rPr lang="zh-CN" altLang="en-US" b="1" i="1">
                <a:solidFill>
                  <a:schemeClr val="bg2"/>
                </a:solidFill>
                <a:sym typeface="+mn-ea"/>
              </a:rPr>
              <a:t>n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log</a:t>
            </a:r>
            <a:r>
              <a:rPr lang="zh-CN" altLang="en-US" b="1" i="1">
                <a:solidFill>
                  <a:schemeClr val="bg2"/>
                </a:solidFill>
                <a:sym typeface="+mn-ea"/>
              </a:rPr>
              <a:t>n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)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103620" y="4428490"/>
            <a:ext cx="77597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O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(</a:t>
            </a:r>
            <a:r>
              <a:rPr lang="zh-CN" altLang="en-US" b="1" i="1">
                <a:solidFill>
                  <a:schemeClr val="bg2"/>
                </a:solidFill>
                <a:sym typeface="+mn-ea"/>
              </a:rPr>
              <a:t>n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)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415030" y="5170170"/>
            <a:ext cx="133477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O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(</a:t>
            </a:r>
            <a:r>
              <a:rPr lang="zh-CN" altLang="en-US" b="1" i="1">
                <a:solidFill>
                  <a:schemeClr val="bg2"/>
                </a:solidFill>
                <a:sym typeface="+mn-ea"/>
              </a:rPr>
              <a:t>n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log</a:t>
            </a:r>
            <a:r>
              <a:rPr lang="zh-CN" altLang="en-US" b="1" i="1">
                <a:solidFill>
                  <a:schemeClr val="bg2"/>
                </a:solidFill>
                <a:sym typeface="+mn-ea"/>
              </a:rPr>
              <a:t>n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)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8" grpId="0"/>
      <p:bldP spid="8" grpId="1"/>
      <p:bldP spid="12" grpId="0"/>
      <p:bldP spid="12" grpId="1"/>
      <p:bldP spid="16" grpId="0"/>
      <p:bldP spid="16" grpId="1"/>
      <p:bldP spid="17" grpId="0"/>
      <p:bldP spid="17" grpId="1"/>
    </p:bldLst>
  </p:timing>
</p:sld>
</file>

<file path=ppt/tags/tag1.xml><?xml version="1.0" encoding="utf-8"?>
<p:tagLst xmlns:p="http://schemas.openxmlformats.org/presentationml/2006/main">
  <p:tag name="DEFINEDINNAVIGATOR" val="True"/>
  <p:tag name="HOTSPOTTYPE" val="DefinedInNavigator"/>
  <p:tag name="BRANCHTO" val="257"/>
</p:tagLst>
</file>

<file path=ppt/theme/theme1.xml><?xml version="1.0" encoding="utf-8"?>
<a:theme xmlns:a="http://schemas.openxmlformats.org/drawingml/2006/main" name="1_个人主页 (标准)">
  <a:themeElements>
    <a:clrScheme name="个人主页 (标准) 4">
      <a:dk1>
        <a:srgbClr val="000000"/>
      </a:dk1>
      <a:lt1>
        <a:srgbClr val="FFFFFF"/>
      </a:lt1>
      <a:dk2>
        <a:srgbClr val="1E2E53"/>
      </a:dk2>
      <a:lt2>
        <a:srgbClr val="FFCC00"/>
      </a:lt2>
      <a:accent1>
        <a:srgbClr val="FF9933"/>
      </a:accent1>
      <a:accent2>
        <a:srgbClr val="336699"/>
      </a:accent2>
      <a:accent3>
        <a:srgbClr val="ABADB3"/>
      </a:accent3>
      <a:accent4>
        <a:srgbClr val="DADADA"/>
      </a:accent4>
      <a:accent5>
        <a:srgbClr val="FFCAAD"/>
      </a:accent5>
      <a:accent6>
        <a:srgbClr val="2D5C8A"/>
      </a:accent6>
      <a:hlink>
        <a:srgbClr val="0000FF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0000FF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Office\Templates\演示文稿\个人主页 (标准).pot</Template>
  <TotalTime>0</TotalTime>
  <Words>2419</Words>
  <Application>WPS 演示</Application>
  <PresentationFormat>全屏显示(4:3)</PresentationFormat>
  <Paragraphs>488</Paragraphs>
  <Slides>34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4" baseType="lpstr">
      <vt:lpstr>Arial</vt:lpstr>
      <vt:lpstr>宋体</vt:lpstr>
      <vt:lpstr>Wingdings</vt:lpstr>
      <vt:lpstr>Times New Roman</vt:lpstr>
      <vt:lpstr>黑体</vt:lpstr>
      <vt:lpstr>Symbol</vt:lpstr>
      <vt:lpstr>Wingdings</vt:lpstr>
      <vt:lpstr>微软雅黑</vt:lpstr>
      <vt:lpstr>Arial Unicode MS</vt:lpstr>
      <vt:lpstr>1_个人主页 (标准)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PowerPoint 演示文稿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  <vt:lpstr>2.4 典型实例</vt:lpstr>
    </vt:vector>
  </TitlesOfParts>
  <Company>NEU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数据库系统原理</dc:title>
  <dc:creator>songby</dc:creator>
  <cp:lastModifiedBy>冯勇</cp:lastModifiedBy>
  <cp:revision>1040</cp:revision>
  <cp:lastPrinted>1995-12-08T18:33:00Z</cp:lastPrinted>
  <dcterms:created xsi:type="dcterms:W3CDTF">2000-10-31T09:27:00Z</dcterms:created>
  <dcterms:modified xsi:type="dcterms:W3CDTF">2022-04-04T13:09:55Z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D97091215E3244AD96003C13B13EF2B1</vt:lpwstr>
  </property>
</Properties>
</file>