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58" r:id="rId3"/>
    <p:sldId id="559" r:id="rId4"/>
    <p:sldId id="560" r:id="rId5"/>
    <p:sldId id="561" r:id="rId6"/>
    <p:sldId id="562" r:id="rId7"/>
    <p:sldId id="563" r:id="rId8"/>
    <p:sldId id="564" r:id="rId9"/>
    <p:sldId id="565" r:id="rId10"/>
    <p:sldId id="566" r:id="rId11"/>
    <p:sldId id="567" r:id="rId12"/>
    <p:sldId id="568" r:id="rId13"/>
    <p:sldId id="569" r:id="rId14"/>
    <p:sldId id="570" r:id="rId15"/>
    <p:sldId id="571" r:id="rId16"/>
    <p:sldId id="606" r:id="rId17"/>
    <p:sldId id="502" r:id="rId18"/>
    <p:sldId id="503" r:id="rId19"/>
    <p:sldId id="504" r:id="rId20"/>
    <p:sldId id="505" r:id="rId21"/>
    <p:sldId id="506" r:id="rId22"/>
    <p:sldId id="507" r:id="rId23"/>
    <p:sldId id="508" r:id="rId24"/>
    <p:sldId id="509" r:id="rId25"/>
    <p:sldId id="511" r:id="rId26"/>
    <p:sldId id="512" r:id="rId27"/>
    <p:sldId id="513" r:id="rId28"/>
    <p:sldId id="514" r:id="rId29"/>
    <p:sldId id="515" r:id="rId30"/>
    <p:sldId id="517" r:id="rId31"/>
  </p:sldIdLst>
  <p:sldSz cx="9144000" cy="6858000" type="screen4x3"/>
  <p:notesSz cx="6934200" cy="9398000"/>
  <p:custDataLst>
    <p:tags r:id="rId3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99"/>
    <a:srgbClr val="CCCCFF"/>
    <a:srgbClr val="CC99FF"/>
    <a:srgbClr val="FFCC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183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7.pn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60" y="1628800"/>
            <a:ext cx="80648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lang="zh-CN" altLang="en-US" b="1" dirty="0" smtClean="0">
                <a:solidFill>
                  <a:schemeClr val="bg2"/>
                </a:solidFill>
              </a:rPr>
              <a:t>快速排序</a:t>
            </a:r>
            <a:endParaRPr lang="zh-CN" altLang="en-US" b="1" dirty="0" smtClean="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550" y="2089150"/>
            <a:ext cx="7609840" cy="3423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基本思想：</a:t>
            </a:r>
            <a:r>
              <a:rPr dirty="0">
                <a:solidFill>
                  <a:schemeClr val="bg2"/>
                </a:solidFill>
              </a:rPr>
              <a:t>用首元素</a:t>
            </a:r>
            <a:r>
              <a:rPr b="1" i="1" dirty="0">
                <a:solidFill>
                  <a:schemeClr val="bg2"/>
                </a:solidFill>
              </a:rPr>
              <a:t>x</a:t>
            </a:r>
            <a:r>
              <a:rPr dirty="0">
                <a:solidFill>
                  <a:schemeClr val="bg2"/>
                </a:solidFill>
              </a:rPr>
              <a:t>作划分标准，将输入数组 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dirty="0">
                <a:solidFill>
                  <a:schemeClr val="bg2"/>
                </a:solidFill>
              </a:rPr>
              <a:t> 划分成不超过</a:t>
            </a:r>
            <a:r>
              <a:rPr b="1" i="1" dirty="0">
                <a:solidFill>
                  <a:schemeClr val="bg2"/>
                </a:solidFill>
              </a:rPr>
              <a:t>x</a:t>
            </a:r>
            <a:r>
              <a:rPr dirty="0">
                <a:solidFill>
                  <a:schemeClr val="bg2"/>
                </a:solidFill>
              </a:rPr>
              <a:t>的元素构成的数组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b="1" i="1" baseline="-25000" dirty="0">
                <a:solidFill>
                  <a:schemeClr val="bg2"/>
                </a:solidFill>
              </a:rPr>
              <a:t>L</a:t>
            </a:r>
            <a:r>
              <a:rPr dirty="0">
                <a:solidFill>
                  <a:schemeClr val="bg2"/>
                </a:solidFill>
              </a:rPr>
              <a:t>，大于</a:t>
            </a:r>
            <a:r>
              <a:rPr b="1" i="1" dirty="0">
                <a:solidFill>
                  <a:schemeClr val="bg2"/>
                </a:solidFill>
              </a:rPr>
              <a:t>x</a:t>
            </a:r>
            <a:r>
              <a:rPr dirty="0">
                <a:solidFill>
                  <a:schemeClr val="bg2"/>
                </a:solidFill>
              </a:rPr>
              <a:t>的元素构成的数组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b="1" i="1" baseline="-25000" dirty="0">
                <a:solidFill>
                  <a:schemeClr val="bg2"/>
                </a:solidFill>
              </a:rPr>
              <a:t>R</a:t>
            </a:r>
            <a:r>
              <a:rPr lang="zh-CN" dirty="0">
                <a:solidFill>
                  <a:schemeClr val="bg2"/>
                </a:solidFill>
              </a:rPr>
              <a:t>。</a:t>
            </a:r>
            <a:endParaRPr lang="zh-CN" dirty="0">
              <a:solidFill>
                <a:schemeClr val="bg2"/>
              </a:solidFill>
            </a:endParaRPr>
          </a:p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递归地对子问题</a:t>
            </a:r>
            <a:r>
              <a:rPr b="1" i="1" dirty="0" smtClean="0">
                <a:solidFill>
                  <a:schemeClr val="bg2"/>
                </a:solidFill>
                <a:sym typeface="+mn-ea"/>
              </a:rPr>
              <a:t>A</a:t>
            </a:r>
            <a:r>
              <a:rPr b="1" i="1" baseline="-25000" dirty="0" smtClean="0">
                <a:solidFill>
                  <a:schemeClr val="bg2"/>
                </a:solidFill>
                <a:sym typeface="+mn-ea"/>
              </a:rPr>
              <a:t>L</a:t>
            </a:r>
            <a:r>
              <a:rPr lang="zh-CN" dirty="0" smtClean="0">
                <a:solidFill>
                  <a:schemeClr val="bg2"/>
                </a:solidFill>
                <a:sym typeface="+mn-ea"/>
              </a:rPr>
              <a:t>和</a:t>
            </a:r>
            <a:r>
              <a:rPr b="1" i="1" dirty="0" smtClean="0">
                <a:solidFill>
                  <a:schemeClr val="bg2"/>
                </a:solidFill>
                <a:sym typeface="+mn-ea"/>
              </a:rPr>
              <a:t>A</a:t>
            </a:r>
            <a:r>
              <a:rPr b="1" i="1" baseline="-25000" dirty="0" smtClean="0">
                <a:solidFill>
                  <a:schemeClr val="bg2"/>
                </a:solidFill>
                <a:sym typeface="+mn-ea"/>
              </a:rPr>
              <a:t>R</a:t>
            </a:r>
            <a:r>
              <a:rPr lang="zh-CN" dirty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进行排序，直到子问题规模为1时停止。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划分实例：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    27   99   0   8   13    64   86    16    7    10    88    25    90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020" y="1586865"/>
            <a:ext cx="7609840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一次划分的过程：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b="79740"/>
          <a:stretch>
            <a:fillRect/>
          </a:stretch>
        </p:blipFill>
        <p:spPr>
          <a:xfrm>
            <a:off x="1671955" y="2060575"/>
            <a:ext cx="5963920" cy="867772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20335" b="59213"/>
          <a:stretch>
            <a:fillRect/>
          </a:stretch>
        </p:blipFill>
        <p:spPr>
          <a:xfrm>
            <a:off x="1590040" y="2938780"/>
            <a:ext cx="5963920" cy="875938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1"/>
          <a:srcRect t="43255" b="35965"/>
          <a:stretch>
            <a:fillRect/>
          </a:stretch>
        </p:blipFill>
        <p:spPr>
          <a:xfrm>
            <a:off x="1554480" y="3948430"/>
            <a:ext cx="5963920" cy="889908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1"/>
          <a:srcRect t="84056"/>
          <a:stretch>
            <a:fillRect/>
          </a:stretch>
        </p:blipFill>
        <p:spPr>
          <a:xfrm>
            <a:off x="1507490" y="5696947"/>
            <a:ext cx="5963920" cy="682898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1"/>
          <a:srcRect t="62588" b="15875"/>
          <a:stretch>
            <a:fillRect/>
          </a:stretch>
        </p:blipFill>
        <p:spPr>
          <a:xfrm>
            <a:off x="1548130" y="4775200"/>
            <a:ext cx="5963920" cy="92229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6285" y="1658620"/>
            <a:ext cx="7609840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划分算法：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2618105" y="1728470"/>
          <a:ext cx="5433695" cy="441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" r:id="rId1" imgW="6248400" imgH="4410075" progId="Paint.Picture">
                  <p:embed/>
                </p:oleObj>
              </mc:Choice>
              <mc:Fallback>
                <p:oleObj name="" r:id="rId1" imgW="6248400" imgH="4410075" progId="Paint.Picture">
                  <p:embed/>
                  <p:pic>
                    <p:nvPicPr>
                      <p:cNvPr id="0" name="20 8"/>
                      <p:cNvPicPr/>
                      <p:nvPr/>
                    </p:nvPicPr>
                    <p:blipFill>
                      <a:blip r:embed="rId2"/>
                      <a:srcRect r="13109"/>
                      <a:stretch>
                        <a:fillRect/>
                      </a:stretch>
                    </p:blipFill>
                    <p:spPr>
                      <a:xfrm>
                        <a:off x="2618105" y="1728470"/>
                        <a:ext cx="5433695" cy="441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6285" y="1658620"/>
            <a:ext cx="7609840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快速排序算法：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660" y="2159635"/>
            <a:ext cx="4829175" cy="3476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73175" y="5708015"/>
            <a:ext cx="50723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初始置 </a:t>
            </a:r>
            <a:r>
              <a:rPr lang="zh-CN" altLang="en-US" b="1" i="1" dirty="0">
                <a:solidFill>
                  <a:schemeClr val="bg2"/>
                </a:solidFill>
              </a:rPr>
              <a:t>p</a:t>
            </a:r>
            <a:r>
              <a:rPr lang="zh-CN" altLang="en-US" dirty="0">
                <a:solidFill>
                  <a:schemeClr val="bg2"/>
                </a:solidFill>
              </a:rPr>
              <a:t>=1, </a:t>
            </a:r>
            <a:r>
              <a:rPr lang="zh-CN" altLang="en-US" b="1" i="1" dirty="0">
                <a:solidFill>
                  <a:schemeClr val="bg2"/>
                </a:solidFill>
              </a:rPr>
              <a:t>r</a:t>
            </a:r>
            <a:r>
              <a:rPr lang="zh-CN" altLang="en-US" dirty="0">
                <a:solidFill>
                  <a:schemeClr val="bg2"/>
                </a:solidFill>
              </a:rPr>
              <a:t>=</a:t>
            </a:r>
            <a:r>
              <a:rPr lang="zh-CN" altLang="en-US" b="1" i="1" dirty="0">
                <a:solidFill>
                  <a:schemeClr val="bg2"/>
                </a:solidFill>
              </a:rPr>
              <a:t>n</a:t>
            </a:r>
            <a:r>
              <a:rPr lang="zh-CN" altLang="en-US" dirty="0">
                <a:solidFill>
                  <a:schemeClr val="bg2"/>
                </a:solidFill>
              </a:rPr>
              <a:t>，然后调用上述算法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6285" y="1658620"/>
            <a:ext cx="7609840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510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时间复杂度分析：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l="32419" t="23464"/>
          <a:stretch>
            <a:fillRect/>
          </a:stretch>
        </p:blipFill>
        <p:spPr>
          <a:xfrm>
            <a:off x="3644265" y="2440940"/>
            <a:ext cx="3566160" cy="148717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rcRect r="63226" b="61935"/>
          <a:stretch>
            <a:fillRect/>
          </a:stretch>
        </p:blipFill>
        <p:spPr>
          <a:xfrm>
            <a:off x="1768475" y="4424045"/>
            <a:ext cx="1737360" cy="561975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1"/>
          <a:srcRect t="23464" r="66679" b="57778"/>
          <a:stretch>
            <a:fillRect/>
          </a:stretch>
        </p:blipFill>
        <p:spPr>
          <a:xfrm>
            <a:off x="1636395" y="2853690"/>
            <a:ext cx="1758315" cy="36449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/>
          <a:srcRect l="35067"/>
          <a:stretch>
            <a:fillRect/>
          </a:stretch>
        </p:blipFill>
        <p:spPr>
          <a:xfrm>
            <a:off x="3644265" y="4137025"/>
            <a:ext cx="3067685" cy="14763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7510" y="1658620"/>
            <a:ext cx="3362960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</a:rPr>
              <a:t>平均时间复杂度分析：</a:t>
            </a:r>
            <a:endParaRPr lang="zh-CN" altLang="en-US" b="1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6405" y="2222500"/>
            <a:ext cx="496189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首元素排好序后可能放在 1, 2, … , 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各种情况概率都为 1/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endParaRPr lang="zh-CN" altLang="en-US" b="1" i="1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首元素在位置 1 ：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(0),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-1)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首元素在位置 2 ：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(1),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-2)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….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首元素在位置 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-1 ：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-2),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(1)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首元素在位置 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 ：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</a:t>
            </a:r>
            <a:r>
              <a:rPr lang="zh-CN" altLang="en-US" b="1" i="1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-1), </a:t>
            </a:r>
            <a:r>
              <a:rPr lang="zh-CN" altLang="en-US" b="1" i="1" dirty="0">
                <a:solidFill>
                  <a:schemeClr val="bg1"/>
                </a:solidFill>
              </a:rPr>
              <a:t>T</a:t>
            </a:r>
            <a:r>
              <a:rPr lang="zh-CN" altLang="en-US" dirty="0">
                <a:solidFill>
                  <a:schemeClr val="bg1"/>
                </a:solidFill>
              </a:rPr>
              <a:t>(0)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5306695"/>
            <a:ext cx="5572125" cy="438150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5910580"/>
            <a:ext cx="2428875" cy="381000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215" y="2675890"/>
            <a:ext cx="3935730" cy="198183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6285" y="1658620"/>
            <a:ext cx="7609840" cy="1497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</a:rPr>
              <a:t>均衡划分的时间复杂度</a:t>
            </a:r>
            <a:endParaRPr lang="zh-CN" altLang="en-US" dirty="0">
              <a:solidFill>
                <a:schemeClr val="bg2"/>
              </a:solidFill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）均衡划分：每次划分后，子问题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和子问题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的规模比不变。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21932"/>
          <a:stretch>
            <a:fillRect/>
          </a:stretch>
        </p:blipFill>
        <p:spPr>
          <a:xfrm>
            <a:off x="2141855" y="3315335"/>
            <a:ext cx="4838700" cy="15392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l="3063" t="19649"/>
          <a:stretch>
            <a:fillRect/>
          </a:stretch>
        </p:blipFill>
        <p:spPr>
          <a:xfrm>
            <a:off x="412115" y="2141220"/>
            <a:ext cx="5611495" cy="39135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6730" y="1607185"/>
            <a:ext cx="2621280" cy="5340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1"/>
                </a:solidFill>
              </a:rPr>
              <a:t>使用递归树法求解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465" y="4479925"/>
            <a:ext cx="2609850" cy="4953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60" y="1628800"/>
            <a:ext cx="80648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</a:rPr>
              <a:t>：幂乘算法</a:t>
            </a:r>
            <a:endParaRPr lang="zh-CN" altLang="en-US" dirty="0" smtClean="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550" y="2122170"/>
            <a:ext cx="7609840" cy="2614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dirty="0">
                <a:solidFill>
                  <a:schemeClr val="bg2"/>
                </a:solidFill>
              </a:rPr>
              <a:t>输入</a:t>
            </a:r>
            <a:r>
              <a:rPr lang="zh-CN" dirty="0">
                <a:solidFill>
                  <a:schemeClr val="bg2"/>
                </a:solidFill>
              </a:rPr>
              <a:t>：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dirty="0">
                <a:solidFill>
                  <a:schemeClr val="bg2"/>
                </a:solidFill>
              </a:rPr>
              <a:t>为给定实数，</a:t>
            </a:r>
            <a:r>
              <a:rPr b="1" i="1" dirty="0">
                <a:solidFill>
                  <a:schemeClr val="bg2"/>
                </a:solidFill>
              </a:rPr>
              <a:t> n</a:t>
            </a:r>
            <a:r>
              <a:rPr dirty="0">
                <a:solidFill>
                  <a:schemeClr val="bg2"/>
                </a:solidFill>
              </a:rPr>
              <a:t>为自然数</a:t>
            </a:r>
            <a:endParaRPr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dirty="0">
                <a:solidFill>
                  <a:schemeClr val="bg2"/>
                </a:solidFill>
              </a:rPr>
              <a:t>输出：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b="1" i="1" baseline="30000" dirty="0">
                <a:solidFill>
                  <a:schemeClr val="bg2"/>
                </a:solidFill>
              </a:rPr>
              <a:t>n</a:t>
            </a:r>
            <a:endParaRPr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dirty="0">
                <a:solidFill>
                  <a:schemeClr val="bg2"/>
                </a:solidFill>
              </a:rPr>
              <a:t>传统算法: 顺序相乘</a:t>
            </a:r>
            <a:endParaRPr dirty="0">
              <a:solidFill>
                <a:schemeClr val="bg2"/>
              </a:solidFill>
            </a:endParaRPr>
          </a:p>
          <a:p>
            <a:pPr marL="600710" lvl="1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i="1" dirty="0">
                <a:solidFill>
                  <a:schemeClr val="bg2"/>
                </a:solidFill>
              </a:rPr>
              <a:t>a</a:t>
            </a:r>
            <a:r>
              <a:rPr b="1" i="1" baseline="30000" dirty="0">
                <a:solidFill>
                  <a:schemeClr val="bg2"/>
                </a:solidFill>
              </a:rPr>
              <a:t>n</a:t>
            </a:r>
            <a:r>
              <a:rPr dirty="0">
                <a:solidFill>
                  <a:schemeClr val="bg2"/>
                </a:solidFill>
              </a:rPr>
              <a:t> = (…(((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lang="en-US" dirty="0">
                <a:solidFill>
                  <a:schemeClr val="bg2"/>
                </a:solidFill>
              </a:rPr>
              <a:t>*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dirty="0">
                <a:solidFill>
                  <a:schemeClr val="bg2"/>
                </a:solidFill>
              </a:rPr>
              <a:t>)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dirty="0">
                <a:solidFill>
                  <a:schemeClr val="bg2"/>
                </a:solidFill>
              </a:rPr>
              <a:t>)</a:t>
            </a:r>
            <a:r>
              <a:rPr b="1" i="1" dirty="0">
                <a:solidFill>
                  <a:schemeClr val="bg2"/>
                </a:solidFill>
              </a:rPr>
              <a:t>a</a:t>
            </a:r>
            <a:r>
              <a:rPr dirty="0">
                <a:solidFill>
                  <a:schemeClr val="bg2"/>
                </a:solidFill>
              </a:rPr>
              <a:t>)…)</a:t>
            </a:r>
            <a:r>
              <a:rPr b="1" i="1" dirty="0">
                <a:solidFill>
                  <a:schemeClr val="bg2"/>
                </a:solidFill>
              </a:rPr>
              <a:t>a</a:t>
            </a:r>
            <a:endParaRPr dirty="0">
              <a:solidFill>
                <a:schemeClr val="bg2"/>
              </a:solidFill>
            </a:endParaRPr>
          </a:p>
          <a:p>
            <a:pPr marL="600710" lvl="1" indent="-14351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dirty="0">
                <a:solidFill>
                  <a:schemeClr val="bg2"/>
                </a:solidFill>
              </a:rPr>
              <a:t>基本运算：</a:t>
            </a:r>
            <a:r>
              <a:rPr dirty="0">
                <a:solidFill>
                  <a:schemeClr val="bg2"/>
                </a:solidFill>
              </a:rPr>
              <a:t>乘法次数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</a:t>
            </a:r>
            <a:r>
              <a:rPr b="1" i="1" dirty="0">
                <a:solidFill>
                  <a:schemeClr val="bg2"/>
                </a:solidFill>
              </a:rPr>
              <a:t> </a:t>
            </a:r>
            <a:r>
              <a:rPr dirty="0">
                <a:solidFill>
                  <a:schemeClr val="bg2"/>
                </a:solidFill>
              </a:rPr>
              <a:t>(</a:t>
            </a:r>
            <a:r>
              <a:rPr b="1" i="1" dirty="0">
                <a:solidFill>
                  <a:schemeClr val="bg2"/>
                </a:solidFill>
              </a:rPr>
              <a:t>n</a:t>
            </a:r>
            <a:r>
              <a:rPr dirty="0">
                <a:solidFill>
                  <a:schemeClr val="bg2"/>
                </a:solidFill>
              </a:rPr>
              <a:t>)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7545" y="1594485"/>
            <a:ext cx="7939405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dirty="0">
                <a:solidFill>
                  <a:schemeClr val="bg2"/>
                </a:solidFill>
              </a:rPr>
              <a:t>分治算法—— 划分</a:t>
            </a:r>
            <a:endParaRPr dirty="0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t="10461"/>
          <a:stretch>
            <a:fillRect/>
          </a:stretch>
        </p:blipFill>
        <p:spPr>
          <a:xfrm>
            <a:off x="1517015" y="2251075"/>
            <a:ext cx="4505325" cy="104902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2"/>
          <a:srcRect t="11243"/>
          <a:stretch>
            <a:fillRect/>
          </a:stretch>
        </p:blipFill>
        <p:spPr>
          <a:xfrm>
            <a:off x="1517015" y="3354705"/>
            <a:ext cx="4695825" cy="99758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260" y="4678045"/>
            <a:ext cx="4848225" cy="10572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7545" y="1594485"/>
            <a:ext cx="3724910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</a:rPr>
              <a:t>分治</a:t>
            </a:r>
            <a:r>
              <a:rPr lang="zh-CN" dirty="0">
                <a:solidFill>
                  <a:schemeClr val="bg2"/>
                </a:solidFill>
              </a:rPr>
              <a:t>策略算法描述</a:t>
            </a:r>
            <a:endParaRPr lang="zh-CN" dirty="0">
              <a:solidFill>
                <a:schemeClr val="bg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6430" y="2173605"/>
            <a:ext cx="40005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算法：  </a:t>
            </a:r>
            <a:r>
              <a:rPr lang="en-US" altLang="zh-CN" b="1">
                <a:solidFill>
                  <a:schemeClr val="bg1"/>
                </a:solidFill>
              </a:rPr>
              <a:t>MiCheng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 b="1" i="1">
                <a:solidFill>
                  <a:schemeClr val="bg1"/>
                </a:solidFill>
              </a:rPr>
              <a:t>a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en-US" altLang="zh-CN" b="1" i="1">
                <a:solidFill>
                  <a:schemeClr val="bg1"/>
                </a:solidFill>
              </a:rPr>
              <a:t>n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输入： </a:t>
            </a:r>
            <a:r>
              <a:rPr lang="en-US" altLang="zh-CN" b="1" i="1">
                <a:solidFill>
                  <a:schemeClr val="bg1"/>
                </a:solidFill>
              </a:rPr>
              <a:t>a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en-US" altLang="zh-CN" b="1" i="1">
                <a:solidFill>
                  <a:schemeClr val="bg1"/>
                </a:solidFill>
              </a:rPr>
              <a:t>n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输出：</a:t>
            </a:r>
            <a:r>
              <a:rPr lang="en-US" altLang="zh-CN" b="1" i="1">
                <a:solidFill>
                  <a:schemeClr val="bg1"/>
                </a:solidFill>
              </a:rPr>
              <a:t>a</a:t>
            </a:r>
            <a:r>
              <a:rPr lang="en-US" altLang="zh-CN" b="1" i="1" baseline="30000">
                <a:solidFill>
                  <a:schemeClr val="bg1"/>
                </a:solidFill>
              </a:rPr>
              <a:t>n</a:t>
            </a:r>
            <a:endParaRPr lang="en-US" altLang="zh-CN" b="1" i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1.  if </a:t>
            </a:r>
            <a:r>
              <a:rPr lang="en-US" altLang="zh-CN" b="1" i="1">
                <a:solidFill>
                  <a:schemeClr val="bg1"/>
                </a:solidFill>
              </a:rPr>
              <a:t>n</a:t>
            </a:r>
            <a:r>
              <a:rPr lang="en-US" altLang="zh-CN" b="1">
                <a:solidFill>
                  <a:schemeClr val="bg1"/>
                </a:solidFill>
              </a:rPr>
              <a:t>=1 then </a:t>
            </a:r>
            <a:r>
              <a:rPr lang="en-US" altLang="zh-CN" b="1" i="1">
                <a:solidFill>
                  <a:schemeClr val="bg1"/>
                </a:solidFill>
              </a:rPr>
              <a:t>y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b="1" i="1">
                <a:solidFill>
                  <a:schemeClr val="bg1"/>
                </a:solidFill>
              </a:rPr>
              <a:t>a</a:t>
            </a:r>
            <a:endParaRPr lang="en-US" altLang="zh-CN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2.  else</a:t>
            </a:r>
            <a:endParaRPr lang="en-US" altLang="zh-CN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3.      </a:t>
            </a:r>
            <a:r>
              <a:rPr lang="en-US" altLang="zh-CN" b="1" i="1">
                <a:solidFill>
                  <a:schemeClr val="bg1"/>
                </a:solidFill>
              </a:rPr>
              <a:t>y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MiCheng</a:t>
            </a:r>
            <a:r>
              <a:rPr lang="en-US" altLang="zh-CN" b="1">
                <a:solidFill>
                  <a:schemeClr val="bg1"/>
                </a:solidFill>
              </a:rPr>
              <a:t>(</a:t>
            </a:r>
            <a:r>
              <a:rPr lang="en-US" altLang="zh-CN" b="1" i="1">
                <a:solidFill>
                  <a:schemeClr val="bg1"/>
                </a:solidFill>
              </a:rPr>
              <a:t>a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en-US" altLang="zh-CN" b="1" i="1">
                <a:solidFill>
                  <a:schemeClr val="bg1"/>
                </a:solidFill>
              </a:rPr>
              <a:t>n</a:t>
            </a:r>
            <a:r>
              <a:rPr lang="en-US" altLang="zh-CN" b="1">
                <a:solidFill>
                  <a:schemeClr val="bg1"/>
                </a:solidFill>
              </a:rPr>
              <a:t>/2)</a:t>
            </a:r>
            <a:endParaRPr lang="en-US" altLang="zh-CN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4.      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y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y</a:t>
            </a:r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y</a:t>
            </a:r>
            <a:endParaRPr lang="en-US" altLang="zh-CN" b="1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5.      if(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n</a:t>
            </a:r>
            <a:r>
              <a:rPr lang="zh-CN" altLang="en-US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是奇数</a:t>
            </a:r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) then 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y</a:t>
            </a:r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y</a:t>
            </a:r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a</a:t>
            </a:r>
            <a:endParaRPr lang="en-US" altLang="zh-CN" b="1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6.  return(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y</a:t>
            </a:r>
            <a:r>
              <a:rPr lang="en-US" altLang="zh-CN" b="1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80255" y="1894205"/>
            <a:ext cx="4288790" cy="2017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以乘法作为基本运算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• 子问题规模：不超过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/2</a:t>
            </a:r>
            <a:endParaRPr lang="zh-CN" altLang="en-US">
              <a:solidFill>
                <a:schemeClr val="bg2"/>
              </a:solidFill>
            </a:endParaRPr>
          </a:p>
          <a:p>
            <a:pPr marL="215265" indent="-215265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• 两个规模近似 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/2 的子问题完全一样，只要计算1 次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975" y="4067810"/>
            <a:ext cx="3242945" cy="96456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7545" y="1594485"/>
            <a:ext cx="7939405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</a:rPr>
              <a:t>幂乘算法的应用</a:t>
            </a:r>
            <a:r>
              <a:rPr lang="en-US" altLang="zh-CN" dirty="0">
                <a:solidFill>
                  <a:schemeClr val="bg2"/>
                </a:solidFill>
              </a:rPr>
              <a:t>——</a:t>
            </a:r>
            <a:r>
              <a:rPr lang="zh-CN" altLang="en-US" dirty="0">
                <a:solidFill>
                  <a:schemeClr val="bg2"/>
                </a:solidFill>
              </a:rPr>
              <a:t>求Fibonacci 数列的第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zh-CN" altLang="en-US" dirty="0">
                <a:solidFill>
                  <a:schemeClr val="bg2"/>
                </a:solidFill>
              </a:rPr>
              <a:t>项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5205" y="2254250"/>
            <a:ext cx="653478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2255" indent="-262255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Fibonacci 数列： 1, 1, 2, 3, 5, 8, 13, 21, …</a:t>
            </a:r>
            <a:endParaRPr lang="zh-CN" altLang="en-US">
              <a:solidFill>
                <a:schemeClr val="bg2"/>
              </a:solidFill>
            </a:endParaRPr>
          </a:p>
          <a:p>
            <a:pPr indent="293370"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满足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+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-2 </a:t>
            </a:r>
            <a:endParaRPr lang="en-US" altLang="zh-CN" b="1" baseline="-25000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0950" y="3199130"/>
            <a:ext cx="66586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noProof="0" dirty="0">
                <a:solidFill>
                  <a:schemeClr val="bg2"/>
                </a:solidFill>
                <a:latin typeface="+mn-ea"/>
                <a:ea typeface="+mn-ea"/>
                <a:sym typeface="+mn-ea"/>
              </a:rPr>
              <a:t>增加</a:t>
            </a:r>
            <a:r>
              <a:rPr lang="en-US" altLang="zh-CN" b="1" i="1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baseline="-25000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noProof="0" dirty="0">
                <a:solidFill>
                  <a:schemeClr val="bg2"/>
                </a:solidFill>
                <a:latin typeface="+mn-ea"/>
                <a:ea typeface="+mn-ea"/>
                <a:sym typeface="+mn-ea"/>
              </a:rPr>
              <a:t>=0</a:t>
            </a:r>
            <a:r>
              <a:rPr lang="zh-CN" altLang="en-US" noProof="0" dirty="0">
                <a:solidFill>
                  <a:schemeClr val="bg2"/>
                </a:solidFill>
                <a:latin typeface="+mn-ea"/>
                <a:ea typeface="+mn-ea"/>
                <a:sym typeface="+mn-ea"/>
              </a:rPr>
              <a:t>，得到数列：</a:t>
            </a:r>
            <a:r>
              <a:rPr lang="en-US" altLang="zh-CN" b="1" noProof="0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0</a:t>
            </a:r>
            <a:r>
              <a:rPr lang="en-US" altLang="zh-CN" noProof="0" dirty="0">
                <a:solidFill>
                  <a:schemeClr val="bg2"/>
                </a:solidFill>
                <a:latin typeface="+mn-ea"/>
                <a:ea typeface="+mn-ea"/>
                <a:sym typeface="+mn-ea"/>
              </a:rPr>
              <a:t>,</a:t>
            </a:r>
            <a:r>
              <a:rPr lang="en-US" altLang="zh-CN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1, 1, 2, 3, 5, 8, 13, 21,  …</a:t>
            </a:r>
            <a:endParaRPr lang="en-US" altLang="zh-CN" noProof="0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50950" y="3740150"/>
            <a:ext cx="66586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</a:rPr>
              <a:t>问题：</a:t>
            </a:r>
            <a:r>
              <a:rPr lang="zh-CN" altLang="en-US">
                <a:solidFill>
                  <a:schemeClr val="bg2"/>
                </a:solidFill>
              </a:rPr>
              <a:t>已知 </a:t>
            </a:r>
            <a:r>
              <a:rPr lang="en-US" altLang="zh-CN" b="1" i="1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baseline="-25000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>
                <a:solidFill>
                  <a:schemeClr val="bg2"/>
                </a:solidFill>
              </a:rPr>
              <a:t> =0, </a:t>
            </a:r>
            <a:r>
              <a:rPr lang="en-US" altLang="zh-CN" b="1" i="1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baseline="-25000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 =1,  给定</a:t>
            </a:r>
            <a:r>
              <a:rPr lang="zh-CN" altLang="en-US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,  计算 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 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50950" y="4335780"/>
            <a:ext cx="6981825" cy="1054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通常算法</a:t>
            </a:r>
            <a:r>
              <a:rPr lang="zh-CN" altLang="en-US">
                <a:solidFill>
                  <a:schemeClr val="bg2"/>
                </a:solidFill>
              </a:rPr>
              <a:t>： 从 </a:t>
            </a:r>
            <a:r>
              <a:rPr lang="en-US" altLang="zh-CN" b="1" i="1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baseline="-25000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>
                <a:solidFill>
                  <a:schemeClr val="bg2"/>
                </a:solidFill>
              </a:rPr>
              <a:t> , </a:t>
            </a:r>
            <a:r>
              <a:rPr lang="en-US" altLang="zh-CN" b="1" i="1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baseline="-25000" noProof="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 , …  开始，根据递推公式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+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-2 </a:t>
            </a:r>
            <a:r>
              <a:rPr lang="zh-CN" altLang="en-US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>
                <a:solidFill>
                  <a:schemeClr val="bg2"/>
                </a:solidFill>
              </a:rPr>
              <a:t>陆续相加可得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 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22015" y="5621020"/>
            <a:ext cx="20066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R="0" defTabSz="914400" eaLnBrk="1" hangingPunct="1">
              <a:spcBef>
                <a:spcPts val="600"/>
              </a:spcBef>
              <a:buClrTx/>
              <a:buSzTx/>
              <a:buFontTx/>
              <a:defRPr/>
            </a:pPr>
            <a:r>
              <a:rPr lang="zh-CN" altLang="en-US" b="1" noProof="0" dirty="0">
                <a:solidFill>
                  <a:schemeClr val="bg2"/>
                </a:solidFill>
                <a:sym typeface="+mn-ea"/>
              </a:rPr>
              <a:t>时间为：</a:t>
            </a:r>
            <a:r>
              <a:rPr lang="zh-CN" altLang="en-US" b="1" i="1" noProof="0" dirty="0">
                <a:solidFill>
                  <a:schemeClr val="bg2"/>
                </a:solidFill>
                <a:sym typeface="Symbol" panose="05050102010706020507" pitchFamily="18" charset="2"/>
              </a:rPr>
              <a:t></a:t>
            </a:r>
            <a:r>
              <a:rPr lang="en-US" altLang="zh-CN" b="1" noProof="0" dirty="0">
                <a:solidFill>
                  <a:schemeClr val="bg2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noProof="0" dirty="0">
                <a:solidFill>
                  <a:schemeClr val="bg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noProof="0" dirty="0">
                <a:solidFill>
                  <a:schemeClr val="bg2"/>
                </a:solidFill>
                <a:sym typeface="Symbol" panose="05050102010706020507" pitchFamily="18" charset="2"/>
              </a:rPr>
              <a:t>)</a:t>
            </a:r>
            <a:endParaRPr lang="en-US" altLang="zh-CN" b="1" noProof="0" dirty="0">
              <a:solidFill>
                <a:schemeClr val="bg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7545" y="1594485"/>
            <a:ext cx="7939405" cy="534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</a:rPr>
              <a:t>Fibonacci 数列的性质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1695" y="2110740"/>
            <a:ext cx="7509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2255" indent="-262255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定理</a:t>
            </a:r>
            <a:r>
              <a:rPr lang="en-US" altLang="zh-CN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设 </a:t>
            </a:r>
            <a:r>
              <a:rPr lang="en-US" altLang="zh-CN" b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b="1" i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30000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b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为 </a:t>
            </a:r>
            <a:r>
              <a:rPr lang="en-US" altLang="zh-CN" b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Fibonacci </a:t>
            </a:r>
            <a:r>
              <a:rPr lang="zh-CN" altLang="en-US" b="1" noProof="0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数构成的数列，那么</a:t>
            </a:r>
            <a:endParaRPr lang="zh-CN" altLang="en-US" b="1" noProof="0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6870" name="Object 3"/>
          <p:cNvGraphicFramePr>
            <a:graphicFrameLocks noChangeAspect="1"/>
          </p:cNvGraphicFramePr>
          <p:nvPr/>
        </p:nvGraphicFramePr>
        <p:xfrm>
          <a:off x="2953068" y="2596198"/>
          <a:ext cx="273526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485900" imgH="508000" progId="Equation.3">
                  <p:embed/>
                </p:oleObj>
              </mc:Choice>
              <mc:Fallback>
                <p:oleObj name="" r:id="rId1" imgW="1485900" imgH="508000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53068" y="2596198"/>
                        <a:ext cx="2735262" cy="947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05205" y="381190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归纳法证明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915" y="4383405"/>
            <a:ext cx="5828665" cy="94869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9620" y="1665605"/>
            <a:ext cx="61106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假设对任意正整数</a:t>
            </a:r>
            <a:r>
              <a:rPr lang="zh-CN" altLang="en-US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，命题成立，即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195" y="2125980"/>
            <a:ext cx="3258820" cy="113792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/>
          <a:srcRect l="5143" b="58028"/>
          <a:stretch>
            <a:fillRect/>
          </a:stretch>
        </p:blipFill>
        <p:spPr>
          <a:xfrm>
            <a:off x="1146810" y="3528060"/>
            <a:ext cx="5987415" cy="1135380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2"/>
          <a:srcRect l="5143" t="41643"/>
          <a:stretch>
            <a:fillRect/>
          </a:stretch>
        </p:blipFill>
        <p:spPr>
          <a:xfrm>
            <a:off x="1118235" y="4780280"/>
            <a:ext cx="5987415" cy="157861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2.2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分治算法的分析技术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9620" y="1665605"/>
            <a:ext cx="61106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算法实现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2125980"/>
            <a:ext cx="5213350" cy="95567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3291205"/>
            <a:ext cx="5509895" cy="208724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9620" y="1665605"/>
            <a:ext cx="7509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2"/>
                </a:solidFill>
              </a:rPr>
              <a:t>途径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：通过代数变换减少子问题的个数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1570" y="2186940"/>
            <a:ext cx="54343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>
                <a:solidFill>
                  <a:schemeClr val="bg2"/>
                </a:solidFill>
              </a:rPr>
              <a:t>减少子问题个数的依据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710" y="2719070"/>
            <a:ext cx="3895725" cy="8191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710" y="3681730"/>
            <a:ext cx="4467225" cy="74295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0" y="4568190"/>
            <a:ext cx="5295900" cy="8953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744980" y="5535295"/>
            <a:ext cx="5295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减少</a:t>
            </a:r>
            <a:r>
              <a:rPr lang="zh-CN" altLang="en-US" b="1" i="1">
                <a:solidFill>
                  <a:schemeClr val="bg2"/>
                </a:solidFill>
              </a:rPr>
              <a:t>a</a:t>
            </a:r>
            <a:r>
              <a:rPr lang="zh-CN" altLang="en-US">
                <a:solidFill>
                  <a:schemeClr val="bg2"/>
                </a:solidFill>
              </a:rPr>
              <a:t> 是降低函数</a:t>
            </a:r>
            <a:r>
              <a:rPr lang="zh-CN" altLang="en-US" b="1" i="1">
                <a:solidFill>
                  <a:schemeClr val="bg2"/>
                </a:solidFill>
              </a:rPr>
              <a:t>W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zh-CN" altLang="en-US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) 的阶的途径。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4550" y="1684655"/>
            <a:ext cx="76047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>
                <a:solidFill>
                  <a:schemeClr val="bg2"/>
                </a:solidFill>
              </a:rPr>
              <a:t>具体方法：利用子问题的依赖关系，使某些子问题的解通过组合其他子问题的解而得到。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2514600"/>
            <a:ext cx="3766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例1：整数位乘问题 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905" y="3048000"/>
            <a:ext cx="4972050" cy="762000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905" y="3937000"/>
            <a:ext cx="4400550" cy="400050"/>
          </a:xfrm>
          <a:prstGeom prst="rect">
            <a:avLst/>
          </a:prstGeom>
        </p:spPr>
      </p:pic>
      <p:pic>
        <p:nvPicPr>
          <p:cNvPr id="12" name="20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905" y="4473575"/>
            <a:ext cx="1895475" cy="409575"/>
          </a:xfrm>
          <a:prstGeom prst="rect">
            <a:avLst/>
          </a:prstGeom>
        </p:spPr>
      </p:pic>
      <p:pic>
        <p:nvPicPr>
          <p:cNvPr id="13" name="20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920" y="4993005"/>
            <a:ext cx="3970020" cy="110553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390" y="1885315"/>
            <a:ext cx="4831715" cy="51943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2569210"/>
            <a:ext cx="5087620" cy="5207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35405" y="3188970"/>
            <a:ext cx="7107555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说明：原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*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的问题被划分为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</a:t>
            </a:r>
            <a:r>
              <a:rPr lang="en-US" altLang="zh-CN">
                <a:solidFill>
                  <a:schemeClr val="bg2"/>
                </a:solidFill>
              </a:rPr>
              <a:t>4</a:t>
            </a:r>
            <a:r>
              <a:rPr lang="zh-CN" altLang="en-US">
                <a:solidFill>
                  <a:schemeClr val="bg2"/>
                </a:solidFill>
              </a:rPr>
              <a:t>个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/2</a:t>
            </a:r>
            <a:r>
              <a:rPr lang="zh-CN" altLang="en-US">
                <a:solidFill>
                  <a:schemeClr val="bg2"/>
                </a:solidFill>
              </a:rPr>
              <a:t>规模的子问题：</a:t>
            </a:r>
            <a:r>
              <a:rPr lang="en-US" altLang="zh-CN">
                <a:solidFill>
                  <a:schemeClr val="bg2"/>
                </a:solidFill>
              </a:rPr>
              <a:t>4</a:t>
            </a:r>
            <a:r>
              <a:rPr lang="en-US" altLang="zh-CN" b="1" i="1">
                <a:solidFill>
                  <a:schemeClr val="bg2"/>
                </a:solidFill>
              </a:rPr>
              <a:t>W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/2)</a:t>
            </a:r>
            <a:r>
              <a:rPr lang="zh-CN" altLang="en-US">
                <a:solidFill>
                  <a:schemeClr val="bg2"/>
                </a:solidFill>
              </a:rPr>
              <a:t> 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3</a:t>
            </a:r>
            <a:r>
              <a:rPr lang="zh-CN" altLang="en-US">
                <a:solidFill>
                  <a:schemeClr val="bg2"/>
                </a:solidFill>
              </a:rPr>
              <a:t>）</a:t>
            </a:r>
            <a:r>
              <a:rPr lang="en-US" altLang="zh-CN">
                <a:solidFill>
                  <a:schemeClr val="bg2"/>
                </a:solidFill>
              </a:rPr>
              <a:t>3</a:t>
            </a:r>
            <a:r>
              <a:rPr lang="zh-CN" altLang="en-US">
                <a:solidFill>
                  <a:schemeClr val="bg2"/>
                </a:solidFill>
              </a:rPr>
              <a:t>个加法运算，每个加法的时间效率为</a:t>
            </a:r>
            <a:r>
              <a:rPr lang="en-US" altLang="zh-CN" b="1" i="1">
                <a:solidFill>
                  <a:schemeClr val="bg2"/>
                </a:solidFill>
              </a:rPr>
              <a:t>O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endParaRPr lang="en-US" altLang="zh-CN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总时间效率公式为：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4982845"/>
            <a:ext cx="2876550" cy="552450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50" y="5025390"/>
            <a:ext cx="1952625" cy="4667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478915" y="5535295"/>
            <a:ext cx="561086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分治后的策略并没有提高算法的效率。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4" grpId="0"/>
      <p:bldP spid="1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7375" y="1646555"/>
            <a:ext cx="787717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7170" indent="-217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通过代数变换，减少子问题个数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035" y="2214245"/>
            <a:ext cx="5989955" cy="5314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5690" y="2790825"/>
            <a:ext cx="7568565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说明：原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*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的问题被划分为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个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/2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规模的子问题：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W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/2)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 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6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个加法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减运算，每个加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减法的时间效率为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O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</a:t>
            </a:r>
            <a:endParaRPr lang="en-US" altLang="zh-CN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总时间效率公式为：</a:t>
            </a:r>
            <a:endParaRPr lang="zh-CN" altLang="en-US"/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rcRect t="36835"/>
          <a:stretch>
            <a:fillRect/>
          </a:stretch>
        </p:blipFill>
        <p:spPr>
          <a:xfrm>
            <a:off x="2907030" y="4511040"/>
            <a:ext cx="3905250" cy="836295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290" y="5401310"/>
            <a:ext cx="4524375" cy="95821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520" y="1653540"/>
            <a:ext cx="3766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例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：矩阵相乘问题 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980" y="2113915"/>
            <a:ext cx="4305300" cy="89535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80" y="3347720"/>
            <a:ext cx="4446270" cy="23323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520" y="1653540"/>
            <a:ext cx="5638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矩阵相乘问题的简单分治策略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125" y="2113915"/>
            <a:ext cx="4343400" cy="117157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25" y="3357245"/>
            <a:ext cx="4962525" cy="1304925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25" y="4816475"/>
            <a:ext cx="4724400" cy="13144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520" y="1653540"/>
            <a:ext cx="5638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Strassen 矩阵乘法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2113915"/>
            <a:ext cx="4852670" cy="95948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35" y="3183890"/>
            <a:ext cx="3886200" cy="31051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325" y="1758950"/>
            <a:ext cx="4699000" cy="206692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25" y="4032250"/>
            <a:ext cx="4371975" cy="17811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520" y="1653540"/>
            <a:ext cx="5638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矩阵乘法的研究及应用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995" y="2185670"/>
            <a:ext cx="5772150" cy="186690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95" y="4124325"/>
            <a:ext cx="5086350" cy="18097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520" y="1653540"/>
            <a:ext cx="5638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bg2"/>
                </a:solidFill>
              </a:rPr>
              <a:t>改进途径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小结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rcRect b="64456"/>
          <a:stretch>
            <a:fillRect/>
          </a:stretch>
        </p:blipFill>
        <p:spPr>
          <a:xfrm>
            <a:off x="1663700" y="2214245"/>
            <a:ext cx="5314950" cy="126619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1"/>
          <a:srcRect t="38520" b="27148"/>
          <a:stretch>
            <a:fillRect/>
          </a:stretch>
        </p:blipFill>
        <p:spPr>
          <a:xfrm>
            <a:off x="1626870" y="3480435"/>
            <a:ext cx="5314950" cy="122301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1"/>
          <a:srcRect t="74260"/>
          <a:stretch>
            <a:fillRect/>
          </a:stretch>
        </p:blipFill>
        <p:spPr>
          <a:xfrm>
            <a:off x="1626870" y="4971415"/>
            <a:ext cx="5314950" cy="9169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9620" y="1665605"/>
            <a:ext cx="7509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2"/>
                </a:solidFill>
              </a:rPr>
              <a:t>途径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：</a:t>
            </a:r>
            <a:r>
              <a:rPr lang="zh-CN" altLang="en-US" b="1" dirty="0">
                <a:solidFill>
                  <a:schemeClr val="bg2"/>
                </a:solidFill>
                <a:latin typeface="Garamond" panose="02020404030301010803" pitchFamily="18" charset="0"/>
                <a:sym typeface="+mn-ea"/>
              </a:rPr>
              <a:t>利用预处理减少递归内部操作</a:t>
            </a:r>
            <a:endParaRPr lang="zh-CN" altLang="en-US" b="1" dirty="0">
              <a:solidFill>
                <a:schemeClr val="bg2"/>
              </a:solidFill>
              <a:latin typeface="Garamond" panose="02020404030301010803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1570" y="2186940"/>
            <a:ext cx="685038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算法中的处理尽可能提到递归外面作为预处理</a:t>
            </a:r>
            <a:endParaRPr lang="zh-CN" altLang="en-US" dirty="0">
              <a:solidFill>
                <a:schemeClr val="bg2"/>
              </a:solidFill>
              <a:latin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举例：平面点对问题</a:t>
            </a:r>
            <a:endParaRPr lang="zh-CN" altLang="en-US" dirty="0">
              <a:solidFill>
                <a:schemeClr val="bg2"/>
              </a:solidFill>
              <a:latin typeface="宋体" panose="02010600030101010101" pitchFamily="2" charset="-122"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415" y="3089910"/>
            <a:ext cx="4705350" cy="78105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5" y="4282440"/>
            <a:ext cx="4800600" cy="8096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630" y="1717675"/>
            <a:ext cx="8170545" cy="1799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42570" indent="-24257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分治策略: 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chemeClr val="bg2"/>
                </a:solidFill>
              </a:rPr>
              <a:t> 划为大小相等的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>
                <a:solidFill>
                  <a:schemeClr val="bg2"/>
                </a:solidFill>
              </a:rPr>
              <a:t> 和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>
                <a:solidFill>
                  <a:schemeClr val="bg2"/>
                </a:solidFill>
                <a:cs typeface="Times New Roman" panose="02020603050405020304" pitchFamily="18" charset="0"/>
              </a:rPr>
              <a:t>利用横坐标的中位数</a:t>
            </a:r>
            <a:r>
              <a:rPr lang="en-US" altLang="zh-CN">
                <a:solidFill>
                  <a:schemeClr val="bg2"/>
                </a:solidFill>
                <a:cs typeface="Times New Roman" panose="02020603050405020304" pitchFamily="18" charset="0"/>
              </a:rPr>
              <a:t>)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1. 分别计算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>
                <a:solidFill>
                  <a:schemeClr val="bg2"/>
                </a:solidFill>
              </a:rPr>
              <a:t> 、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>
                <a:solidFill>
                  <a:schemeClr val="bg2"/>
                </a:solidFill>
              </a:rPr>
              <a:t>中最近点对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2. 计算 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>
                <a:solidFill>
                  <a:schemeClr val="bg2"/>
                </a:solidFill>
              </a:rPr>
              <a:t> 与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>
                <a:solidFill>
                  <a:schemeClr val="bg2"/>
                </a:solidFill>
              </a:rPr>
              <a:t> 中各一个点的最近点对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3. 上述情况下的最近点对就是整个问题的解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rcRect t="6981"/>
          <a:stretch>
            <a:fillRect/>
          </a:stretch>
        </p:blipFill>
        <p:spPr>
          <a:xfrm>
            <a:off x="2828925" y="3576955"/>
            <a:ext cx="3555365" cy="27076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64895" y="4629150"/>
            <a:ext cx="17068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划分实例： </a:t>
            </a:r>
            <a:endParaRPr lang="zh-CN" altLang="en-US">
              <a:solidFill>
                <a:schemeClr val="bg2"/>
              </a:solidFill>
            </a:endParaRPr>
          </a:p>
          <a:p>
            <a:r>
              <a:rPr lang="zh-CN" altLang="en-US" b="1" i="1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=10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7109" name="内容占位符 4"/>
          <p:cNvSpPr>
            <a:spLocks noGrp="1"/>
          </p:cNvSpPr>
          <p:nvPr>
            <p:ph idx="1"/>
          </p:nvPr>
        </p:nvSpPr>
        <p:spPr>
          <a:xfrm>
            <a:off x="407035" y="1604963"/>
            <a:ext cx="8329613" cy="4929187"/>
          </a:xfrm>
          <a:solidFill>
            <a:schemeClr val="tx1"/>
          </a:solidFill>
        </p:spPr>
        <p:txBody>
          <a:bodyPr vert="horz" wrap="square" lIns="91440" tIns="45720" rIns="91440" bIns="45720" anchor="t"/>
          <a:lstStyle/>
          <a:p>
            <a:pPr marL="170815" indent="-17081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平面点对问题算法描述：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MinDistance(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P,X,Y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个点的集合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  X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分别为横、纵坐标数组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输出：最近的两个点及距离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中点数小于等于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，则直接计算其中的最小距离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765" indent="-278765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3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．做垂直线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划分为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的点在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左边，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  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在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右边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MinDidtance(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中的最小距离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MinDistance(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中的最小距离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min (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0" i="1" baseline="-2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．对于在</a:t>
            </a:r>
            <a:r>
              <a:rPr lang="en-US" altLang="zh-CN" sz="2400" b="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线左边距离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内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每个点， 检查右边是否有与之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距离小于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的点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，如果存在则将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400" b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修改为新值</a:t>
            </a:r>
            <a:endParaRPr lang="zh-CN" altLang="en-US" sz="2400" b="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2.3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改进分治算法的途径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跨边界处理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985" y="1955800"/>
            <a:ext cx="2833370" cy="2651760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35" y="2314575"/>
            <a:ext cx="2924175" cy="19335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38860" y="4752975"/>
            <a:ext cx="67081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右边每个小方格至多1个点，每个点至多比较对面的6个点， 检查1 个点是常数时间，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O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)  个点需要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O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)。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2217</Words>
  <Application>WPS 演示</Application>
  <PresentationFormat>全屏显示(4:3)</PresentationFormat>
  <Paragraphs>205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Wingdings</vt:lpstr>
      <vt:lpstr>Symbol</vt:lpstr>
      <vt:lpstr>微软雅黑</vt:lpstr>
      <vt:lpstr>Arial Unicode MS</vt:lpstr>
      <vt:lpstr>Garamond</vt:lpstr>
      <vt:lpstr>1_个人主页 (标准)</vt:lpstr>
      <vt:lpstr>Paint.Picture</vt:lpstr>
      <vt:lpstr>Equation.3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2.2 分治算法的分析技术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  <vt:lpstr>2.3 改进分治算法的途径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冯勇</cp:lastModifiedBy>
  <cp:revision>991</cp:revision>
  <cp:lastPrinted>1995-12-08T18:33:00Z</cp:lastPrinted>
  <dcterms:created xsi:type="dcterms:W3CDTF">2000-10-31T09:27:00Z</dcterms:created>
  <dcterms:modified xsi:type="dcterms:W3CDTF">2022-03-29T00:13:56Z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3205C19155084087A23CF33B088FE01F</vt:lpwstr>
  </property>
</Properties>
</file>