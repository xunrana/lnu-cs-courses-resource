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handoutMasterIdLst>
    <p:handoutMasterId r:id="rId40"/>
  </p:handoutMasterIdLst>
  <p:sldIdLst>
    <p:sldId id="363" r:id="rId3"/>
    <p:sldId id="457" r:id="rId4"/>
    <p:sldId id="524" r:id="rId5"/>
    <p:sldId id="525" r:id="rId6"/>
    <p:sldId id="526" r:id="rId7"/>
    <p:sldId id="527" r:id="rId8"/>
    <p:sldId id="528" r:id="rId9"/>
    <p:sldId id="529" r:id="rId10"/>
    <p:sldId id="530" r:id="rId11"/>
    <p:sldId id="459" r:id="rId12"/>
    <p:sldId id="458" r:id="rId13"/>
    <p:sldId id="460" r:id="rId14"/>
    <p:sldId id="461" r:id="rId15"/>
    <p:sldId id="462" r:id="rId16"/>
    <p:sldId id="463" r:id="rId17"/>
    <p:sldId id="464" r:id="rId18"/>
    <p:sldId id="465" r:id="rId19"/>
    <p:sldId id="466" r:id="rId20"/>
    <p:sldId id="467" r:id="rId21"/>
    <p:sldId id="468" r:id="rId22"/>
    <p:sldId id="469" r:id="rId23"/>
    <p:sldId id="470" r:id="rId24"/>
    <p:sldId id="471" r:id="rId25"/>
    <p:sldId id="472" r:id="rId26"/>
    <p:sldId id="557" r:id="rId27"/>
    <p:sldId id="473" r:id="rId28"/>
    <p:sldId id="474" r:id="rId29"/>
    <p:sldId id="475" r:id="rId30"/>
    <p:sldId id="476" r:id="rId32"/>
    <p:sldId id="478" r:id="rId33"/>
    <p:sldId id="479" r:id="rId34"/>
    <p:sldId id="480" r:id="rId35"/>
    <p:sldId id="481" r:id="rId36"/>
    <p:sldId id="482" r:id="rId37"/>
    <p:sldId id="484" r:id="rId38"/>
    <p:sldId id="485" r:id="rId39"/>
  </p:sldIdLst>
  <p:sldSz cx="9144000" cy="6858000" type="screen4x3"/>
  <p:notesSz cx="6934200" cy="9398000"/>
  <p:custDataLst>
    <p:tags r:id="rId44"/>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505F2C04-C923-438B-8C0F-E0CD2BADF298}">
      <wppc:fontMis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0099"/>
    <a:srgbClr val="CCCCFF"/>
    <a:srgbClr val="CC99FF"/>
    <a:srgbClr val="FFCCFF"/>
    <a:srgbClr val="CCECFF"/>
    <a:srgbClr val="DFC0FF"/>
    <a:srgbClr val="90D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3"/>
    <p:restoredTop sz="94608"/>
  </p:normalViewPr>
  <p:slideViewPr>
    <p:cSldViewPr showGuides="1">
      <p:cViewPr varScale="1">
        <p:scale>
          <a:sx n="80" d="100"/>
          <a:sy n="80" d="100"/>
        </p:scale>
        <p:origin x="-696" y="-96"/>
      </p:cViewPr>
      <p:guideLst>
        <p:guide orient="horz" pos="2183"/>
        <p:guide pos="28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gs" Target="tags/tag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5" name="Rectangle 3"/>
          <p:cNvSpPr>
            <a:spLocks noGrp="1" noChangeArrowheads="1"/>
          </p:cNvSpPr>
          <p:nvPr>
            <p:ph type="dt" sz="quarter"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6" name="Rectangle 4"/>
          <p:cNvSpPr>
            <a:spLocks noGrp="1" noChangeArrowheads="1"/>
          </p:cNvSpPr>
          <p:nvPr>
            <p:ph type="ftr" sz="quarter" idx="2"/>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Rot="1" noChangeAspect="1"/>
          </p:cNvSpPr>
          <p:nvPr>
            <p:ph type="sldImg" idx="2"/>
          </p:nvPr>
        </p:nvSpPr>
        <p:spPr>
          <a:xfrm>
            <a:off x="1079500" y="685800"/>
            <a:ext cx="4775200" cy="3581400"/>
          </a:xfrm>
          <a:prstGeom prst="rect">
            <a:avLst/>
          </a:prstGeom>
          <a:noFill/>
          <a:ln w="9525" cap="flat" cmpd="sng">
            <a:solidFill>
              <a:srgbClr val="000000"/>
            </a:solidFill>
            <a:prstDash val="solid"/>
            <a:miter/>
            <a:headEnd type="none" w="med" len="med"/>
            <a:tailEnd type="none" w="med" len="med"/>
          </a:ln>
        </p:spPr>
      </p:sp>
      <p:sp>
        <p:nvSpPr>
          <p:cNvPr id="2052" name="Rectangle 4"/>
          <p:cNvSpPr>
            <a:spLocks noGrp="1" noChangeArrowheads="1"/>
          </p:cNvSpPr>
          <p:nvPr>
            <p:ph type="body" sz="quarter" idx="3"/>
          </p:nvPr>
        </p:nvSpPr>
        <p:spPr bwMode="auto">
          <a:xfrm>
            <a:off x="914400" y="4495800"/>
            <a:ext cx="5105400" cy="41910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noChangeArrowheads="1"/>
          </p:cNvSpPr>
          <p:nvPr>
            <p:ph type="dt"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tx1"/>
        </a:solidFill>
        <a:effectLst/>
      </p:bgPr>
    </p:bg>
    <p:spTree>
      <p:nvGrpSpPr>
        <p:cNvPr id="1" name=""/>
        <p:cNvGrpSpPr/>
        <p:nvPr/>
      </p:nvGrpSpPr>
      <p:grpSpPr>
        <a:xfrm>
          <a:off x="0" y="0"/>
          <a:ext cx="0" cy="0"/>
          <a:chOff x="0" y="0"/>
          <a:chExt cx="0" cy="0"/>
        </a:xfrm>
      </p:grpSpPr>
      <p:sp>
        <p:nvSpPr>
          <p:cNvPr id="19" name="AutoShape 23"/>
          <p:cNvSpPr>
            <a:spLocks noChangeArrowheads="1"/>
          </p:cNvSpPr>
          <p:nvPr/>
        </p:nvSpPr>
        <p:spPr bwMode="auto">
          <a:xfrm rot="20940000">
            <a:off x="1828800" y="304800"/>
            <a:ext cx="457200" cy="4572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AutoShape 24"/>
          <p:cNvSpPr>
            <a:spLocks noChangeArrowheads="1"/>
          </p:cNvSpPr>
          <p:nvPr/>
        </p:nvSpPr>
        <p:spPr bwMode="auto">
          <a:xfrm>
            <a:off x="2609850" y="171450"/>
            <a:ext cx="419100" cy="4191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AutoShape 25"/>
          <p:cNvSpPr>
            <a:spLocks noChangeArrowheads="1"/>
          </p:cNvSpPr>
          <p:nvPr/>
        </p:nvSpPr>
        <p:spPr bwMode="auto">
          <a:xfrm rot="20940000">
            <a:off x="1752600" y="228600"/>
            <a:ext cx="457200" cy="4572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AutoShape 26"/>
          <p:cNvSpPr>
            <a:spLocks noChangeArrowheads="1"/>
          </p:cNvSpPr>
          <p:nvPr/>
        </p:nvSpPr>
        <p:spPr bwMode="auto">
          <a:xfrm>
            <a:off x="2533650" y="19050"/>
            <a:ext cx="419100" cy="4191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4" name="Group 27"/>
          <p:cNvGrpSpPr/>
          <p:nvPr/>
        </p:nvGrpSpPr>
        <p:grpSpPr>
          <a:xfrm>
            <a:off x="6934200" y="5181600"/>
            <a:ext cx="2033588" cy="1219200"/>
            <a:chOff x="4368" y="3264"/>
            <a:chExt cx="1281" cy="768"/>
          </a:xfrm>
        </p:grpSpPr>
        <p:sp>
          <p:nvSpPr>
            <p:cNvPr id="24" name="AutoShape 28"/>
            <p:cNvSpPr>
              <a:spLocks noChangeArrowheads="1"/>
            </p:cNvSpPr>
            <p:nvPr/>
          </p:nvSpPr>
          <p:spPr bwMode="auto">
            <a:xfrm rot="20940000">
              <a:off x="4368" y="3681"/>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AutoShape 29"/>
            <p:cNvSpPr>
              <a:spLocks noChangeArrowheads="1"/>
            </p:cNvSpPr>
            <p:nvPr/>
          </p:nvSpPr>
          <p:spPr bwMode="auto">
            <a:xfrm>
              <a:off x="4845" y="3324"/>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AutoShape 30"/>
            <p:cNvSpPr>
              <a:spLocks noChangeArrowheads="1"/>
            </p:cNvSpPr>
            <p:nvPr/>
          </p:nvSpPr>
          <p:spPr bwMode="auto">
            <a:xfrm rot="1320000">
              <a:off x="5217" y="3264"/>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AutoShape 31"/>
            <p:cNvSpPr>
              <a:spLocks noChangeArrowheads="1"/>
            </p:cNvSpPr>
            <p:nvPr/>
          </p:nvSpPr>
          <p:spPr bwMode="auto">
            <a:xfrm rot="20940000">
              <a:off x="4449" y="3744"/>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AutoShape 32"/>
            <p:cNvSpPr>
              <a:spLocks noChangeArrowheads="1"/>
            </p:cNvSpPr>
            <p:nvPr/>
          </p:nvSpPr>
          <p:spPr bwMode="auto">
            <a:xfrm>
              <a:off x="4893" y="3372"/>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AutoShape 33"/>
            <p:cNvSpPr>
              <a:spLocks noChangeArrowheads="1"/>
            </p:cNvSpPr>
            <p:nvPr/>
          </p:nvSpPr>
          <p:spPr bwMode="auto">
            <a:xfrm rot="1320000">
              <a:off x="5265" y="3360"/>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0" name="AutoShape 34"/>
          <p:cNvSpPr>
            <a:spLocks noChangeArrowheads="1"/>
          </p:cNvSpPr>
          <p:nvPr/>
        </p:nvSpPr>
        <p:spPr bwMode="auto">
          <a:xfrm rot="1320000">
            <a:off x="168275" y="244475"/>
            <a:ext cx="882650" cy="88265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7" name="Rectangle 15"/>
          <p:cNvSpPr>
            <a:spLocks noGrp="1" noChangeArrowheads="1"/>
          </p:cNvSpPr>
          <p:nvPr>
            <p:ph type="subTitle" sz="quarter" idx="1"/>
          </p:nvPr>
        </p:nvSpPr>
        <p:spPr>
          <a:xfrm>
            <a:off x="1371600" y="2667000"/>
            <a:ext cx="6400800" cy="3276600"/>
          </a:xfrm>
        </p:spPr>
        <p:txBody>
          <a:bodyPr anchor="ct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3091" name="Rectangle 19"/>
          <p:cNvSpPr>
            <a:spLocks noGrp="1" noChangeArrowheads="1"/>
          </p:cNvSpPr>
          <p:nvPr>
            <p:ph type="ctrTitle" sz="quarter"/>
          </p:nvPr>
        </p:nvSpPr>
        <p:spPr>
          <a:xfrm>
            <a:off x="685800" y="914400"/>
            <a:ext cx="7772400" cy="1143000"/>
          </a:xfrm>
        </p:spPr>
        <p:txBody>
          <a:bodyPr/>
          <a:lstStyle>
            <a:lvl1pPr algn="ctr">
              <a:defRPr/>
            </a:lvl1pPr>
          </a:lstStyle>
          <a:p>
            <a:pPr lvl="0"/>
            <a:r>
              <a:rPr lang="zh-CN" altLang="en-US" noProof="0" smtClean="0"/>
              <a:t>单击此处编辑母版标题样式</a:t>
            </a:r>
            <a:endParaRPr lang="zh-CN" altLang="en-US" noProof="0" smtClean="0"/>
          </a:p>
        </p:txBody>
      </p:sp>
      <p:sp>
        <p:nvSpPr>
          <p:cNvPr id="31" name="Rectangle 16"/>
          <p:cNvSpPr>
            <a:spLocks noGrp="1" noChangeArrowheads="1"/>
          </p:cNvSpPr>
          <p:nvPr>
            <p:ph type="dt" sz="quarter" idx="2"/>
          </p:nvPr>
        </p:nvSpPr>
        <p:spPr bwMode="auto">
          <a:xfrm>
            <a:off x="76200" y="6323013"/>
            <a:ext cx="1905000" cy="457200"/>
          </a:xfrm>
          <a:prstGeom prst="rect">
            <a:avLst/>
          </a:prstGeom>
        </p:spPr>
        <p:txBody>
          <a:bodyPr vert="horz" wrap="non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324600"/>
            <a:ext cx="2895600" cy="457200"/>
          </a:xfrm>
          <a:prstGeom prst="rect">
            <a:avLst/>
          </a:prstGeom>
        </p:spPr>
        <p:txBody>
          <a:bodyPr vert="horz" wrap="none" lIns="92075" tIns="46038" rIns="92075" bIns="46038"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7162800" y="6324600"/>
            <a:ext cx="1905000" cy="457200"/>
          </a:xfrm>
          <a:prstGeom prst="rect">
            <a:avLst/>
          </a:prstGeom>
        </p:spPr>
        <p:txBody>
          <a:bodyPr vert="horz" wrap="none" lIns="92075" tIns="46038" rIns="92075" bIns="46038" numCol="1" anchor="ctr" anchorCtr="0" compatLnSpc="1"/>
          <a:lstStyle/>
          <a:p>
            <a:pPr algn="r"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20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228600"/>
            <a:ext cx="5676900" cy="5791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228600"/>
            <a:ext cx="7772400" cy="579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9"/>
          <p:cNvSpPr>
            <a:spLocks noGrp="1"/>
          </p:cNvSpPr>
          <p:nvPr>
            <p:ph type="body" idx="1"/>
          </p:nvPr>
        </p:nvSpPr>
        <p:spPr>
          <a:xfrm>
            <a:off x="685800" y="1905000"/>
            <a:ext cx="7772400" cy="4114800"/>
          </a:xfrm>
          <a:prstGeom prst="rect">
            <a:avLst/>
          </a:prstGeom>
          <a:noFill/>
          <a:ln w="9525">
            <a:noFill/>
          </a:ln>
        </p:spPr>
        <p:txBody>
          <a:bodyPr lIns="92075" tIns="46038" rIns="92075" bIns="46038"/>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4" name="Rectangle 10"/>
          <p:cNvSpPr>
            <a:spLocks noGrp="1" noChangeArrowheads="1"/>
          </p:cNvSpPr>
          <p:nvPr>
            <p:ph type="dt" sz="half" idx="2"/>
          </p:nvPr>
        </p:nvSpPr>
        <p:spPr bwMode="auto">
          <a:xfrm>
            <a:off x="2209800" y="6400800"/>
            <a:ext cx="1905000" cy="457200"/>
          </a:xfrm>
          <a:prstGeom prst="rect">
            <a:avLst/>
          </a:prstGeom>
          <a:noFill/>
          <a:ln>
            <a:noFill/>
          </a:ln>
          <a:effectLst/>
        </p:spPr>
        <p:txBody>
          <a:bodyPr vert="horz" wrap="none" lIns="92075" tIns="46038" rIns="92075" bIns="46038" numCol="1" anchor="ctr" anchorCtr="0" compatLnSpc="1"/>
          <a:lstStyle>
            <a:lvl1pPr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5" name="Rectangle 11"/>
          <p:cNvSpPr>
            <a:spLocks noGrp="1" noChangeArrowheads="1"/>
          </p:cNvSpPr>
          <p:nvPr>
            <p:ph type="ftr" sz="quarter" idx="3"/>
          </p:nvPr>
        </p:nvSpPr>
        <p:spPr bwMode="auto">
          <a:xfrm>
            <a:off x="4191000" y="6400800"/>
            <a:ext cx="2895600" cy="457200"/>
          </a:xfrm>
          <a:prstGeom prst="rect">
            <a:avLst/>
          </a:prstGeom>
          <a:noFill/>
          <a:ln>
            <a:noFill/>
          </a:ln>
          <a:effectLst/>
        </p:spPr>
        <p:txBody>
          <a:bodyPr vert="horz" wrap="none" lIns="92075" tIns="46038" rIns="92075" bIns="46038" numCol="1" anchor="ctr"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12"/>
          <p:cNvSpPr>
            <a:spLocks noGrp="1" noChangeArrowheads="1"/>
          </p:cNvSpPr>
          <p:nvPr>
            <p:ph type="sldNum" sz="quarter" idx="4"/>
          </p:nvPr>
        </p:nvSpPr>
        <p:spPr bwMode="auto">
          <a:xfrm>
            <a:off x="7162800" y="6324600"/>
            <a:ext cx="1905000" cy="457200"/>
          </a:xfrm>
          <a:prstGeom prst="rect">
            <a:avLst/>
          </a:prstGeom>
          <a:noFill/>
          <a:ln>
            <a:noFill/>
          </a:ln>
          <a:effectLst/>
        </p:spPr>
        <p:txBody>
          <a:bodyPr vert="horz" wrap="none" lIns="92075" tIns="46038" rIns="92075" bIns="46038" numCol="1" anchor="ctr" anchorCtr="0" compatLnSpc="1"/>
          <a:lstStyle>
            <a:lvl1pPr algn="r">
              <a:defRPr sz="1400"/>
            </a:lvl1p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1030" name="Rectangle 16"/>
          <p:cNvSpPr>
            <a:spLocks noGrp="1"/>
          </p:cNvSpPr>
          <p:nvPr>
            <p:ph type="title"/>
          </p:nvPr>
        </p:nvSpPr>
        <p:spPr>
          <a:xfrm>
            <a:off x="685800" y="228600"/>
            <a:ext cx="7772400" cy="1143000"/>
          </a:xfrm>
          <a:prstGeom prst="rect">
            <a:avLst/>
          </a:prstGeom>
          <a:noFill/>
          <a:ln w="9525">
            <a:noFill/>
          </a:ln>
        </p:spPr>
        <p:txBody>
          <a:bodyPr lIns="92075" tIns="46038" rIns="92075" bIns="46038" anchor="b"/>
          <a:lstStyle/>
          <a:p>
            <a:pPr lvl="0"/>
            <a:r>
              <a:rPr lang="zh-CN" altLang="en-US" dirty="0"/>
              <a:t>单击此处编辑母版标题样式</a:t>
            </a:r>
            <a:endParaRPr lang="zh-CN" altLang="en-US" dirty="0"/>
          </a:p>
        </p:txBody>
      </p:sp>
      <p:grpSp>
        <p:nvGrpSpPr>
          <p:cNvPr id="1031" name="Group 20"/>
          <p:cNvGrpSpPr/>
          <p:nvPr/>
        </p:nvGrpSpPr>
        <p:grpSpPr>
          <a:xfrm>
            <a:off x="6934200" y="5257800"/>
            <a:ext cx="2033588" cy="1219200"/>
            <a:chOff x="4368" y="3312"/>
            <a:chExt cx="1281" cy="768"/>
          </a:xfrm>
        </p:grpSpPr>
        <p:sp>
          <p:nvSpPr>
            <p:cNvPr id="1045" name="AutoShape 21"/>
            <p:cNvSpPr>
              <a:spLocks noChangeArrowheads="1"/>
            </p:cNvSpPr>
            <p:nvPr/>
          </p:nvSpPr>
          <p:spPr bwMode="auto">
            <a:xfrm rot="20940000">
              <a:off x="4368" y="3729"/>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6" name="AutoShape 22"/>
            <p:cNvSpPr>
              <a:spLocks noChangeArrowheads="1"/>
            </p:cNvSpPr>
            <p:nvPr/>
          </p:nvSpPr>
          <p:spPr bwMode="auto">
            <a:xfrm>
              <a:off x="4845" y="3372"/>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7" name="AutoShape 23"/>
            <p:cNvSpPr>
              <a:spLocks noChangeArrowheads="1"/>
            </p:cNvSpPr>
            <p:nvPr/>
          </p:nvSpPr>
          <p:spPr bwMode="auto">
            <a:xfrm rot="1320000">
              <a:off x="5217" y="3312"/>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 name="AutoShape 24"/>
            <p:cNvSpPr>
              <a:spLocks noChangeArrowheads="1"/>
            </p:cNvSpPr>
            <p:nvPr/>
          </p:nvSpPr>
          <p:spPr bwMode="auto">
            <a:xfrm rot="20940000">
              <a:off x="4449" y="3792"/>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9" name="AutoShape 25"/>
            <p:cNvSpPr>
              <a:spLocks noChangeArrowheads="1"/>
            </p:cNvSpPr>
            <p:nvPr/>
          </p:nvSpPr>
          <p:spPr bwMode="auto">
            <a:xfrm>
              <a:off x="4893" y="3420"/>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0" name="AutoShape 26"/>
            <p:cNvSpPr>
              <a:spLocks noChangeArrowheads="1"/>
            </p:cNvSpPr>
            <p:nvPr/>
          </p:nvSpPr>
          <p:spPr bwMode="auto">
            <a:xfrm rot="1320000">
              <a:off x="5265" y="3408"/>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32" name="Group 27"/>
          <p:cNvGrpSpPr/>
          <p:nvPr/>
        </p:nvGrpSpPr>
        <p:grpSpPr>
          <a:xfrm>
            <a:off x="381000" y="1219200"/>
            <a:ext cx="8305800" cy="381000"/>
            <a:chOff x="240" y="768"/>
            <a:chExt cx="5232" cy="240"/>
          </a:xfrm>
        </p:grpSpPr>
        <p:sp>
          <p:nvSpPr>
            <p:cNvPr id="1052" name="Rectangle 28"/>
            <p:cNvSpPr>
              <a:spLocks noChangeArrowheads="1"/>
            </p:cNvSpPr>
            <p:nvPr/>
          </p:nvSpPr>
          <p:spPr bwMode="auto">
            <a:xfrm>
              <a:off x="384" y="912"/>
              <a:ext cx="5088" cy="96"/>
            </a:xfrm>
            <a:prstGeom prst="rect">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3" name="Rectangle 29"/>
            <p:cNvSpPr>
              <a:spLocks noChangeArrowheads="1"/>
            </p:cNvSpPr>
            <p:nvPr/>
          </p:nvSpPr>
          <p:spPr bwMode="auto">
            <a:xfrm>
              <a:off x="240" y="768"/>
              <a:ext cx="5088" cy="96"/>
            </a:xfrm>
            <a:prstGeom prst="rect">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54" name="Freeform 30">
            <a:hlinkClick r:id="" action="ppaction://hlinkshowjump?jump=previousslide"/>
          </p:cNvPr>
          <p:cNvSpPr/>
          <p:nvPr/>
        </p:nvSpPr>
        <p:spPr bwMode="auto">
          <a:xfrm>
            <a:off x="781050" y="6416675"/>
            <a:ext cx="557213" cy="347663"/>
          </a:xfrm>
          <a:custGeom>
            <a:avLst/>
            <a:gdLst>
              <a:gd name="T0" fmla="*/ 350 w 351"/>
              <a:gd name="T1" fmla="*/ 1 h 219"/>
              <a:gd name="T2" fmla="*/ 101 w 351"/>
              <a:gd name="T3" fmla="*/ 0 h 219"/>
              <a:gd name="T4" fmla="*/ 81 w 351"/>
              <a:gd name="T5" fmla="*/ 2 h 219"/>
              <a:gd name="T6" fmla="*/ 67 w 351"/>
              <a:gd name="T7" fmla="*/ 6 h 219"/>
              <a:gd name="T8" fmla="*/ 51 w 351"/>
              <a:gd name="T9" fmla="*/ 15 h 219"/>
              <a:gd name="T10" fmla="*/ 38 w 351"/>
              <a:gd name="T11" fmla="*/ 25 h 219"/>
              <a:gd name="T12" fmla="*/ 28 w 351"/>
              <a:gd name="T13" fmla="*/ 35 h 219"/>
              <a:gd name="T14" fmla="*/ 19 w 351"/>
              <a:gd name="T15" fmla="*/ 48 h 219"/>
              <a:gd name="T16" fmla="*/ 12 w 351"/>
              <a:gd name="T17" fmla="*/ 59 h 219"/>
              <a:gd name="T18" fmla="*/ 6 w 351"/>
              <a:gd name="T19" fmla="*/ 73 h 219"/>
              <a:gd name="T20" fmla="*/ 1 w 351"/>
              <a:gd name="T21" fmla="*/ 89 h 219"/>
              <a:gd name="T22" fmla="*/ 1 w 351"/>
              <a:gd name="T23" fmla="*/ 99 h 219"/>
              <a:gd name="T24" fmla="*/ 0 w 351"/>
              <a:gd name="T25" fmla="*/ 119 h 219"/>
              <a:gd name="T26" fmla="*/ 2 w 351"/>
              <a:gd name="T27" fmla="*/ 136 h 219"/>
              <a:gd name="T28" fmla="*/ 9 w 351"/>
              <a:gd name="T29" fmla="*/ 150 h 219"/>
              <a:gd name="T30" fmla="*/ 15 w 351"/>
              <a:gd name="T31" fmla="*/ 164 h 219"/>
              <a:gd name="T32" fmla="*/ 24 w 351"/>
              <a:gd name="T33" fmla="*/ 176 h 219"/>
              <a:gd name="T34" fmla="*/ 33 w 351"/>
              <a:gd name="T35" fmla="*/ 189 h 219"/>
              <a:gd name="T36" fmla="*/ 46 w 351"/>
              <a:gd name="T37" fmla="*/ 198 h 219"/>
              <a:gd name="T38" fmla="*/ 59 w 351"/>
              <a:gd name="T39" fmla="*/ 207 h 219"/>
              <a:gd name="T40" fmla="*/ 72 w 351"/>
              <a:gd name="T41" fmla="*/ 212 h 219"/>
              <a:gd name="T42" fmla="*/ 90 w 351"/>
              <a:gd name="T43" fmla="*/ 218 h 219"/>
              <a:gd name="T44" fmla="*/ 350 w 351"/>
              <a:gd name="T45" fmla="*/ 218 h 219"/>
              <a:gd name="T46" fmla="*/ 35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350" y="1"/>
                </a:moveTo>
                <a:lnTo>
                  <a:pt x="101" y="0"/>
                </a:lnTo>
                <a:lnTo>
                  <a:pt x="81" y="2"/>
                </a:lnTo>
                <a:lnTo>
                  <a:pt x="67" y="6"/>
                </a:lnTo>
                <a:lnTo>
                  <a:pt x="51" y="15"/>
                </a:lnTo>
                <a:lnTo>
                  <a:pt x="38" y="25"/>
                </a:lnTo>
                <a:lnTo>
                  <a:pt x="28" y="35"/>
                </a:lnTo>
                <a:lnTo>
                  <a:pt x="19" y="48"/>
                </a:lnTo>
                <a:lnTo>
                  <a:pt x="12" y="59"/>
                </a:lnTo>
                <a:lnTo>
                  <a:pt x="6" y="73"/>
                </a:lnTo>
                <a:lnTo>
                  <a:pt x="1" y="89"/>
                </a:lnTo>
                <a:lnTo>
                  <a:pt x="1" y="99"/>
                </a:lnTo>
                <a:lnTo>
                  <a:pt x="0" y="119"/>
                </a:lnTo>
                <a:lnTo>
                  <a:pt x="2" y="136"/>
                </a:lnTo>
                <a:lnTo>
                  <a:pt x="9" y="150"/>
                </a:lnTo>
                <a:lnTo>
                  <a:pt x="15" y="164"/>
                </a:lnTo>
                <a:lnTo>
                  <a:pt x="24" y="176"/>
                </a:lnTo>
                <a:lnTo>
                  <a:pt x="33" y="189"/>
                </a:lnTo>
                <a:lnTo>
                  <a:pt x="46" y="198"/>
                </a:lnTo>
                <a:lnTo>
                  <a:pt x="59" y="207"/>
                </a:lnTo>
                <a:lnTo>
                  <a:pt x="72" y="212"/>
                </a:lnTo>
                <a:lnTo>
                  <a:pt x="90" y="218"/>
                </a:lnTo>
                <a:lnTo>
                  <a:pt x="350" y="218"/>
                </a:lnTo>
                <a:lnTo>
                  <a:pt x="35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5" name="Freeform 31">
            <a:hlinkClick r:id="" action="ppaction://hlinkshowjump?jump=nextslide"/>
          </p:cNvPr>
          <p:cNvSpPr/>
          <p:nvPr/>
        </p:nvSpPr>
        <p:spPr bwMode="auto">
          <a:xfrm>
            <a:off x="1447800" y="6416675"/>
            <a:ext cx="557213" cy="347663"/>
          </a:xfrm>
          <a:custGeom>
            <a:avLst/>
            <a:gdLst>
              <a:gd name="T0" fmla="*/ 0 w 351"/>
              <a:gd name="T1" fmla="*/ 1 h 219"/>
              <a:gd name="T2" fmla="*/ 249 w 351"/>
              <a:gd name="T3" fmla="*/ 0 h 219"/>
              <a:gd name="T4" fmla="*/ 268 w 351"/>
              <a:gd name="T5" fmla="*/ 3 h 219"/>
              <a:gd name="T6" fmla="*/ 283 w 351"/>
              <a:gd name="T7" fmla="*/ 6 h 219"/>
              <a:gd name="T8" fmla="*/ 298 w 351"/>
              <a:gd name="T9" fmla="*/ 16 h 219"/>
              <a:gd name="T10" fmla="*/ 311 w 351"/>
              <a:gd name="T11" fmla="*/ 26 h 219"/>
              <a:gd name="T12" fmla="*/ 321 w 351"/>
              <a:gd name="T13" fmla="*/ 35 h 219"/>
              <a:gd name="T14" fmla="*/ 331 w 351"/>
              <a:gd name="T15" fmla="*/ 48 h 219"/>
              <a:gd name="T16" fmla="*/ 337 w 351"/>
              <a:gd name="T17" fmla="*/ 60 h 219"/>
              <a:gd name="T18" fmla="*/ 344 w 351"/>
              <a:gd name="T19" fmla="*/ 74 h 219"/>
              <a:gd name="T20" fmla="*/ 349 w 351"/>
              <a:gd name="T21" fmla="*/ 90 h 219"/>
              <a:gd name="T22" fmla="*/ 349 w 351"/>
              <a:gd name="T23" fmla="*/ 100 h 219"/>
              <a:gd name="T24" fmla="*/ 350 w 351"/>
              <a:gd name="T25" fmla="*/ 119 h 219"/>
              <a:gd name="T26" fmla="*/ 347 w 351"/>
              <a:gd name="T27" fmla="*/ 136 h 219"/>
              <a:gd name="T28" fmla="*/ 341 w 351"/>
              <a:gd name="T29" fmla="*/ 151 h 219"/>
              <a:gd name="T30" fmla="*/ 334 w 351"/>
              <a:gd name="T31" fmla="*/ 165 h 219"/>
              <a:gd name="T32" fmla="*/ 325 w 351"/>
              <a:gd name="T33" fmla="*/ 176 h 219"/>
              <a:gd name="T34" fmla="*/ 316 w 351"/>
              <a:gd name="T35" fmla="*/ 189 h 219"/>
              <a:gd name="T36" fmla="*/ 303 w 351"/>
              <a:gd name="T37" fmla="*/ 199 h 219"/>
              <a:gd name="T38" fmla="*/ 290 w 351"/>
              <a:gd name="T39" fmla="*/ 208 h 219"/>
              <a:gd name="T40" fmla="*/ 277 w 351"/>
              <a:gd name="T41" fmla="*/ 213 h 219"/>
              <a:gd name="T42" fmla="*/ 259 w 351"/>
              <a:gd name="T43" fmla="*/ 218 h 219"/>
              <a:gd name="T44" fmla="*/ 0 w 351"/>
              <a:gd name="T45" fmla="*/ 218 h 219"/>
              <a:gd name="T46" fmla="*/ 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0" y="1"/>
                </a:moveTo>
                <a:lnTo>
                  <a:pt x="249" y="0"/>
                </a:lnTo>
                <a:lnTo>
                  <a:pt x="268" y="3"/>
                </a:lnTo>
                <a:lnTo>
                  <a:pt x="283" y="6"/>
                </a:lnTo>
                <a:lnTo>
                  <a:pt x="298" y="16"/>
                </a:lnTo>
                <a:lnTo>
                  <a:pt x="311" y="26"/>
                </a:lnTo>
                <a:lnTo>
                  <a:pt x="321" y="35"/>
                </a:lnTo>
                <a:lnTo>
                  <a:pt x="331" y="48"/>
                </a:lnTo>
                <a:lnTo>
                  <a:pt x="337" y="60"/>
                </a:lnTo>
                <a:lnTo>
                  <a:pt x="344" y="74"/>
                </a:lnTo>
                <a:lnTo>
                  <a:pt x="349" y="90"/>
                </a:lnTo>
                <a:lnTo>
                  <a:pt x="349" y="100"/>
                </a:lnTo>
                <a:lnTo>
                  <a:pt x="350" y="119"/>
                </a:lnTo>
                <a:lnTo>
                  <a:pt x="347" y="136"/>
                </a:lnTo>
                <a:lnTo>
                  <a:pt x="341" y="151"/>
                </a:lnTo>
                <a:lnTo>
                  <a:pt x="334" y="165"/>
                </a:lnTo>
                <a:lnTo>
                  <a:pt x="325" y="176"/>
                </a:lnTo>
                <a:lnTo>
                  <a:pt x="316" y="189"/>
                </a:lnTo>
                <a:lnTo>
                  <a:pt x="303" y="199"/>
                </a:lnTo>
                <a:lnTo>
                  <a:pt x="290" y="208"/>
                </a:lnTo>
                <a:lnTo>
                  <a:pt x="277" y="213"/>
                </a:lnTo>
                <a:lnTo>
                  <a:pt x="259" y="218"/>
                </a:lnTo>
                <a:lnTo>
                  <a:pt x="0" y="218"/>
                </a:lnTo>
                <a:lnTo>
                  <a:pt x="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vl6pPr marL="25146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6pPr>
      <a:lvl7pPr marL="29718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7pPr>
      <a:lvl8pPr marL="34290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8pPr>
      <a:lvl9pPr marL="38862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zh-CN" altLang="en-US" kern="1200" noProof="0" dirty="0" smtClean="0">
                <a:ln>
                  <a:noFill/>
                </a:ln>
                <a:solidFill>
                  <a:schemeClr val="accent2"/>
                </a:solidFill>
                <a:effectLst/>
                <a:uLnTx/>
                <a:uFillTx/>
                <a:sym typeface="+mn-ea"/>
              </a:rPr>
              <a:t>第</a:t>
            </a:r>
            <a:r>
              <a:rPr kumimoji="0" lang="en-US" altLang="zh-CN" kern="1200" noProof="0" dirty="0" smtClean="0">
                <a:ln>
                  <a:noFill/>
                </a:ln>
                <a:solidFill>
                  <a:schemeClr val="accent2"/>
                </a:solidFill>
                <a:effectLst/>
                <a:uLnTx/>
                <a:uFillTx/>
                <a:latin typeface="Times New Roman" panose="02020603050405020304" pitchFamily="18" charset="0"/>
                <a:cs typeface="Times New Roman" panose="02020603050405020304" pitchFamily="18" charset="0"/>
                <a:sym typeface="+mn-ea"/>
              </a:rPr>
              <a:t>2</a:t>
            </a:r>
            <a:r>
              <a:rPr kumimoji="0" lang="zh-CN" altLang="en-US" kern="1200" noProof="0" dirty="0" smtClean="0">
                <a:ln>
                  <a:noFill/>
                </a:ln>
                <a:solidFill>
                  <a:schemeClr val="accent2"/>
                </a:solidFill>
                <a:effectLst/>
                <a:uLnTx/>
                <a:uFillTx/>
                <a:sym typeface="+mn-ea"/>
              </a:rPr>
              <a:t>章   分治策略</a:t>
            </a:r>
            <a:endParaRPr kumimoji="0" lang="en-US" altLang="zh-CN" kern="1200" noProof="0" dirty="0" smtClean="0">
              <a:ln>
                <a:noFill/>
              </a:ln>
              <a:solidFill>
                <a:schemeClr val="accent2"/>
              </a:solidFill>
              <a:effectLst/>
              <a:uLnTx/>
              <a:uFillTx/>
              <a:sym typeface="+mn-ea"/>
            </a:endParaRPr>
          </a:p>
        </p:txBody>
      </p:sp>
      <p:sp>
        <p:nvSpPr>
          <p:cNvPr id="49155" name="内容占位符 2"/>
          <p:cNvSpPr>
            <a:spLocks noGrp="1"/>
          </p:cNvSpPr>
          <p:nvPr>
            <p:ph idx="1"/>
          </p:nvPr>
        </p:nvSpPr>
        <p:spPr>
          <a:xfrm>
            <a:off x="395536" y="1628800"/>
            <a:ext cx="8640960" cy="4841324"/>
          </a:xfrm>
        </p:spPr>
        <p:txBody>
          <a:bodyPr vert="horz" wrap="square" lIns="91440" tIns="45720" rIns="91440" bIns="45720" numCol="1" anchor="t" anchorCtr="0" compatLnSpc="1"/>
          <a:lstStyle/>
          <a:p>
            <a:pPr marL="342900" marR="0" lvl="0" indent="-342900" algn="l" defTabSz="914400" rtl="0" eaLnBrk="1" fontAlgn="base" latinLnBrk="0" hangingPunct="1">
              <a:spcBef>
                <a:spcPct val="20000"/>
              </a:spcBef>
              <a:spcAft>
                <a:spcPts val="0"/>
              </a:spcAft>
              <a:buClrTx/>
              <a:buSzTx/>
              <a:buFont typeface="Arial" panose="020B0604020202020204" pitchFamily="34" charset="0"/>
              <a:buNone/>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2.1  </a:t>
            </a: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分治策略的基本思想</a:t>
            </a:r>
            <a:endParaRPr kumimoji="0" lang="zh-CN" altLang="en-US" sz="2400" i="0" u="none" strike="noStrike" kern="1200" cap="none" spc="0" normalizeH="0" baseline="0" noProof="0" dirty="0" smtClean="0">
              <a:ln>
                <a:noFill/>
              </a:ln>
              <a:solidFill>
                <a:srgbClr val="FF0000"/>
              </a:solidFill>
              <a:effectLst/>
              <a:uLnTx/>
              <a:uFillTx/>
              <a:latin typeface="+mj-ea"/>
              <a:ea typeface="+mj-ea"/>
              <a:cs typeface="+mj-ea"/>
            </a:endParaRPr>
          </a:p>
          <a:p>
            <a:pPr lvl="2" eaLnBrk="1" hangingPunct="1">
              <a:spcAft>
                <a:spcPts val="0"/>
              </a:spcAft>
              <a:buClrTx/>
              <a:buSzTx/>
              <a:buFont typeface="Arial" panose="020B0604020202020204" pitchFamily="34" charset="0"/>
              <a:buChar char="•"/>
              <a:defRPr/>
            </a:pPr>
            <a:r>
              <a:rPr kumimoji="0" lang="zh-CN" altLang="en-US" i="0" u="none" strike="noStrike" kern="1200" cap="none" spc="0" normalizeH="0" baseline="0" noProof="0" dirty="0" smtClean="0">
                <a:ln>
                  <a:noFill/>
                </a:ln>
                <a:solidFill>
                  <a:schemeClr val="bg2"/>
                </a:solidFill>
                <a:effectLst/>
                <a:uLnTx/>
                <a:uFillTx/>
                <a:latin typeface="+mj-ea"/>
                <a:ea typeface="+mj-ea"/>
                <a:cs typeface="+mj-ea"/>
              </a:rPr>
              <a:t>实例</a:t>
            </a:r>
            <a:r>
              <a:rPr kumimoji="0" lang="en-US" altLang="zh-CN" i="0" u="none" strike="noStrike" kern="1200" cap="none" spc="0" normalizeH="0" baseline="0" noProof="0" dirty="0" smtClean="0">
                <a:ln>
                  <a:noFill/>
                </a:ln>
                <a:solidFill>
                  <a:schemeClr val="bg2"/>
                </a:solidFill>
                <a:effectLst/>
                <a:uLnTx/>
                <a:uFillTx/>
                <a:latin typeface="+mj-ea"/>
                <a:ea typeface="+mj-ea"/>
                <a:cs typeface="+mj-ea"/>
              </a:rPr>
              <a:t>——</a:t>
            </a:r>
            <a:r>
              <a:rPr kumimoji="0" lang="zh-CN" altLang="en-US" i="0" u="none" strike="noStrike" kern="1200" cap="none" spc="0" normalizeH="0" baseline="0" noProof="0" dirty="0" smtClean="0">
                <a:ln>
                  <a:noFill/>
                </a:ln>
                <a:solidFill>
                  <a:schemeClr val="bg2"/>
                </a:solidFill>
                <a:effectLst/>
                <a:uLnTx/>
                <a:uFillTx/>
                <a:latin typeface="+mj-ea"/>
                <a:ea typeface="+mj-ea"/>
                <a:cs typeface="+mj-ea"/>
              </a:rPr>
              <a:t>二分检索、二分归并排序、</a:t>
            </a:r>
            <a:r>
              <a:rPr kumimoji="0" lang="en-US" altLang="zh-CN" i="0" u="none" strike="noStrike" kern="1200" cap="none" spc="0" normalizeH="0" baseline="0" noProof="0" dirty="0" smtClean="0">
                <a:ln>
                  <a:noFill/>
                </a:ln>
                <a:solidFill>
                  <a:schemeClr val="bg2"/>
                </a:solidFill>
                <a:effectLst/>
                <a:uLnTx/>
                <a:uFillTx/>
                <a:latin typeface="+mj-ea"/>
                <a:ea typeface="+mj-ea"/>
                <a:cs typeface="+mj-ea"/>
              </a:rPr>
              <a:t>Hanio</a:t>
            </a:r>
            <a:r>
              <a:rPr kumimoji="0" lang="zh-CN" altLang="en-US" i="0" u="none" strike="noStrike" kern="1200" cap="none" spc="0" normalizeH="0" baseline="0" noProof="0" dirty="0" smtClean="0">
                <a:ln>
                  <a:noFill/>
                </a:ln>
                <a:solidFill>
                  <a:schemeClr val="bg2"/>
                </a:solidFill>
                <a:effectLst/>
                <a:uLnTx/>
                <a:uFillTx/>
                <a:latin typeface="+mj-ea"/>
                <a:ea typeface="+mj-ea"/>
                <a:cs typeface="+mj-ea"/>
              </a:rPr>
              <a:t>塔</a:t>
            </a:r>
            <a:endParaRPr kumimoji="0" lang="zh-CN" altLang="en-US" i="0" u="none" strike="noStrike" kern="1200" cap="none" spc="0" normalizeH="0" baseline="0" noProof="0" dirty="0" smtClean="0">
              <a:ln>
                <a:noFill/>
              </a:ln>
              <a:solidFill>
                <a:schemeClr val="bg2"/>
              </a:solidFill>
              <a:effectLst/>
              <a:uLnTx/>
              <a:uFillTx/>
              <a:latin typeface="+mj-ea"/>
              <a:ea typeface="+mj-ea"/>
              <a:cs typeface="+mj-ea"/>
            </a:endParaRPr>
          </a:p>
          <a:p>
            <a:pPr lvl="2" eaLnBrk="1" hangingPunct="1">
              <a:spcAft>
                <a:spcPts val="0"/>
              </a:spcAft>
              <a:buClrTx/>
              <a:buSzTx/>
              <a:buFont typeface="Arial" panose="020B0604020202020204" pitchFamily="34" charset="0"/>
              <a:buChar char="•"/>
              <a:defRPr/>
            </a:pPr>
            <a:r>
              <a:rPr kumimoji="0" lang="zh-CN" altLang="en-US" i="0" u="none" strike="noStrike" kern="1200" cap="none" spc="0" normalizeH="0" baseline="0" noProof="0" dirty="0" smtClean="0">
                <a:ln>
                  <a:noFill/>
                </a:ln>
                <a:solidFill>
                  <a:schemeClr val="bg2"/>
                </a:solidFill>
                <a:effectLst/>
                <a:uLnTx/>
                <a:uFillTx/>
                <a:latin typeface="+mj-ea"/>
                <a:ea typeface="+mj-ea"/>
                <a:cs typeface="+mj-ea"/>
              </a:rPr>
              <a:t>分治策略的一般性描述</a:t>
            </a:r>
            <a:endParaRPr kumimoji="0" lang="en-US" altLang="zh-CN" i="0" u="none" strike="noStrike" kern="1200" cap="none" spc="0" normalizeH="0" baseline="0" noProof="0" dirty="0" smtClean="0">
              <a:ln>
                <a:noFill/>
              </a:ln>
              <a:solidFill>
                <a:schemeClr val="bg2"/>
              </a:solidFill>
              <a:effectLst/>
              <a:uLnTx/>
              <a:uFillTx/>
              <a:latin typeface="+mj-ea"/>
              <a:ea typeface="+mj-ea"/>
              <a:cs typeface="+mj-ea"/>
            </a:endParaRPr>
          </a:p>
          <a:p>
            <a:pPr marL="342900" marR="0" lvl="0" indent="-342900" algn="l" defTabSz="914400" rtl="0" eaLnBrk="1" fontAlgn="base" latinLnBrk="0" hangingPunct="1">
              <a:spcBef>
                <a:spcPts val="1200"/>
              </a:spcBef>
              <a:spcAft>
                <a:spcPts val="0"/>
              </a:spcAft>
              <a:buClrTx/>
              <a:buSzTx/>
              <a:buFont typeface="Arial" panose="020B0604020202020204" pitchFamily="34" charset="0"/>
              <a:buNone/>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2.2  </a:t>
            </a: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分治算法的分析技术</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lvl="2" eaLnBrk="1" hangingPunct="1">
              <a:spcAft>
                <a:spcPts val="0"/>
              </a:spcAft>
              <a:buClrTx/>
              <a:buSzTx/>
              <a:buFont typeface="Arial" panose="020B0604020202020204" pitchFamily="34" charset="0"/>
              <a:buChar char="•"/>
              <a:defRPr/>
            </a:pPr>
            <a:r>
              <a:rPr kumimoji="0" lang="zh-CN" altLang="en-US" sz="2400" kern="1200" noProof="0" dirty="0" smtClean="0">
                <a:ln>
                  <a:noFill/>
                </a:ln>
                <a:solidFill>
                  <a:schemeClr val="bg2"/>
                </a:solidFill>
                <a:effectLst/>
                <a:uLnTx/>
                <a:uFillTx/>
                <a:latin typeface="+mj-ea"/>
                <a:ea typeface="+mj-ea"/>
                <a:cs typeface="+mj-ea"/>
                <a:sym typeface="+mn-ea"/>
              </a:rPr>
              <a:t>分治策略的时间复杂度分析方法</a:t>
            </a:r>
            <a:endParaRPr kumimoji="0" lang="zh-CN" altLang="en-US" sz="2400" kern="1200" noProof="0" dirty="0" smtClean="0">
              <a:ln>
                <a:noFill/>
              </a:ln>
              <a:solidFill>
                <a:schemeClr val="bg2"/>
              </a:solidFill>
              <a:effectLst/>
              <a:uLnTx/>
              <a:uFillTx/>
              <a:latin typeface="+mj-ea"/>
              <a:ea typeface="+mj-ea"/>
              <a:cs typeface="+mj-ea"/>
              <a:sym typeface="+mn-ea"/>
            </a:endParaRPr>
          </a:p>
          <a:p>
            <a:pPr lvl="2" eaLnBrk="1" hangingPunct="1">
              <a:spcAft>
                <a:spcPts val="0"/>
              </a:spcAft>
              <a:buClrTx/>
              <a:buSzTx/>
              <a:buFont typeface="Arial" panose="020B0604020202020204" pitchFamily="34" charset="0"/>
              <a:buChar char="•"/>
              <a:defRPr/>
            </a:pPr>
            <a:r>
              <a:rPr kumimoji="0" lang="zh-CN" altLang="en-US" sz="2400" kern="1200" noProof="0" dirty="0" smtClean="0">
                <a:ln>
                  <a:noFill/>
                </a:ln>
                <a:solidFill>
                  <a:schemeClr val="bg2"/>
                </a:solidFill>
                <a:effectLst/>
                <a:uLnTx/>
                <a:uFillTx/>
                <a:latin typeface="+mj-ea"/>
                <a:ea typeface="+mj-ea"/>
                <a:cs typeface="+mj-ea"/>
                <a:sym typeface="+mn-ea"/>
              </a:rPr>
              <a:t>实例——芯片测试、幂乘算法、快速排序</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marL="342900" marR="0" lvl="0" indent="-342900" algn="l" defTabSz="914400" rtl="0" eaLnBrk="1" fontAlgn="base" latinLnBrk="0" hangingPunct="1">
              <a:spcBef>
                <a:spcPts val="1200"/>
              </a:spcBef>
              <a:spcAft>
                <a:spcPts val="0"/>
              </a:spcAft>
              <a:buClrTx/>
              <a:buSzTx/>
              <a:buFont typeface="Arial" panose="020B0604020202020204" pitchFamily="34" charset="0"/>
              <a:buNone/>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2.3  </a:t>
            </a: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改进分治算法的途径</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lvl="2" eaLnBrk="1" hangingPunct="1">
              <a:spcAft>
                <a:spcPts val="0"/>
              </a:spcAft>
              <a:buClrTx/>
              <a:buSzTx/>
              <a:buFont typeface="Arial" panose="020B0604020202020204" pitchFamily="34" charset="0"/>
              <a:buChar char="•"/>
              <a:defRPr/>
            </a:pPr>
            <a:r>
              <a:rPr kumimoji="0" lang="zh-CN" altLang="en-US" kern="1200" noProof="0" dirty="0" smtClean="0">
                <a:ln>
                  <a:noFill/>
                </a:ln>
                <a:solidFill>
                  <a:schemeClr val="bg2"/>
                </a:solidFill>
                <a:effectLst/>
                <a:uLnTx/>
                <a:uFillTx/>
                <a:latin typeface="+mj-ea"/>
                <a:ea typeface="+mj-ea"/>
                <a:cs typeface="+mj-ea"/>
                <a:sym typeface="+mn-ea"/>
              </a:rPr>
              <a:t>通过代数变换减少子问题的个数</a:t>
            </a:r>
            <a:endParaRPr kumimoji="0" lang="zh-CN" altLang="en-US" kern="1200" noProof="0" dirty="0" smtClean="0">
              <a:ln>
                <a:noFill/>
              </a:ln>
              <a:solidFill>
                <a:schemeClr val="bg2"/>
              </a:solidFill>
              <a:effectLst/>
              <a:uLnTx/>
              <a:uFillTx/>
              <a:latin typeface="+mj-ea"/>
              <a:ea typeface="+mj-ea"/>
              <a:cs typeface="+mj-ea"/>
              <a:sym typeface="+mn-ea"/>
            </a:endParaRPr>
          </a:p>
          <a:p>
            <a:pPr lvl="2" eaLnBrk="1" hangingPunct="1">
              <a:spcAft>
                <a:spcPts val="0"/>
              </a:spcAft>
              <a:buClrTx/>
              <a:buSzTx/>
              <a:buFont typeface="Arial" panose="020B0604020202020204" pitchFamily="34" charset="0"/>
              <a:buChar char="•"/>
              <a:defRPr/>
            </a:pP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利用预处理减少递归内部的计算量</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marL="342900" marR="0" lvl="0" indent="-342900" algn="l" defTabSz="914400" rtl="0" eaLnBrk="1" fontAlgn="base" latinLnBrk="0" hangingPunct="1">
              <a:spcBef>
                <a:spcPts val="1200"/>
              </a:spcBef>
              <a:spcAft>
                <a:spcPts val="0"/>
              </a:spcAft>
              <a:buClrTx/>
              <a:buSzTx/>
              <a:buFont typeface="Arial" panose="020B0604020202020204" pitchFamily="34" charset="0"/>
              <a:buNone/>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2.4  </a:t>
            </a: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典型实例</a:t>
            </a:r>
            <a:endParaRPr kumimoji="0" lang="en-US" altLang="zh-CN" sz="2400" i="0" u="none" strike="noStrike" kern="1200" cap="none" spc="0" normalizeH="0" baseline="0" noProof="0" dirty="0" smtClean="0">
              <a:ln>
                <a:noFill/>
              </a:ln>
              <a:solidFill>
                <a:schemeClr val="bg2"/>
              </a:solidFill>
              <a:effectLst/>
              <a:uLnTx/>
              <a:uFillTx/>
              <a:latin typeface="+mj-ea"/>
              <a:ea typeface="+mj-ea"/>
              <a:cs typeface="+mj-ea"/>
            </a:endParaRPr>
          </a:p>
          <a:p>
            <a:pPr marL="342900" marR="0" lvl="0" indent="-360045" algn="l" defTabSz="914400" rtl="0" eaLnBrk="1" fontAlgn="base" latinLnBrk="0" hangingPunct="1">
              <a:spcBef>
                <a:spcPts val="600"/>
              </a:spcBef>
              <a:spcAft>
                <a:spcPts val="0"/>
              </a:spcAft>
              <a:buClrTx/>
              <a:buSzTx/>
              <a:buFont typeface="Arial" panose="020B0604020202020204" pitchFamily="34" charset="0"/>
              <a:buNone/>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a:t>
            </a:r>
            <a:endParaRPr kumimoji="0" lang="zh-CN" altLang="en-US" sz="2400" i="0" u="none" strike="noStrike" kern="1200" cap="none" spc="0" normalizeH="0" baseline="0" noProof="0" dirty="0" smtClean="0">
              <a:ln>
                <a:noFill/>
              </a:ln>
              <a:solidFill>
                <a:srgbClr val="FF0000"/>
              </a:solidFill>
              <a:effectLst/>
              <a:uLnTx/>
              <a:uFillTx/>
              <a:latin typeface="+mj-ea"/>
              <a:ea typeface="+mj-ea"/>
              <a:cs typeface="+mj-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Effect transition="in" filter="wipe(left)">
                                      <p:cBhvr>
                                        <p:cTn id="7" dur="500"/>
                                        <p:tgtEl>
                                          <p:spTgt spid="49155">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9155">
                                            <p:txEl>
                                              <p:pRg st="2" end="2"/>
                                            </p:txEl>
                                          </p:spTgt>
                                        </p:tgtEl>
                                        <p:attrNameLst>
                                          <p:attrName>style.visibility</p:attrName>
                                        </p:attrNameLst>
                                      </p:cBhvr>
                                      <p:to>
                                        <p:strVal val="visible"/>
                                      </p:to>
                                    </p:set>
                                    <p:animEffect transition="in" filter="wipe(left)">
                                      <p:cBhvr>
                                        <p:cTn id="10" dur="500"/>
                                        <p:tgtEl>
                                          <p:spTgt spid="4915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9155">
                                            <p:txEl>
                                              <p:pRg st="4" end="4"/>
                                            </p:txEl>
                                          </p:spTgt>
                                        </p:tgtEl>
                                        <p:attrNameLst>
                                          <p:attrName>style.visibility</p:attrName>
                                        </p:attrNameLst>
                                      </p:cBhvr>
                                      <p:to>
                                        <p:strVal val="visible"/>
                                      </p:to>
                                    </p:set>
                                    <p:animEffect transition="in" filter="wipe(left)">
                                      <p:cBhvr>
                                        <p:cTn id="15" dur="500"/>
                                        <p:tgtEl>
                                          <p:spTgt spid="49155">
                                            <p:txEl>
                                              <p:pRg st="4" end="4"/>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49155">
                                            <p:txEl>
                                              <p:pRg st="5" end="5"/>
                                            </p:txEl>
                                          </p:spTgt>
                                        </p:tgtEl>
                                        <p:attrNameLst>
                                          <p:attrName>style.visibility</p:attrName>
                                        </p:attrNameLst>
                                      </p:cBhvr>
                                      <p:to>
                                        <p:strVal val="visible"/>
                                      </p:to>
                                    </p:set>
                                    <p:animEffect transition="in" filter="wipe(left)">
                                      <p:cBhvr>
                                        <p:cTn id="18" dur="500"/>
                                        <p:tgtEl>
                                          <p:spTgt spid="4915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9155">
                                            <p:txEl>
                                              <p:pRg st="7" end="7"/>
                                            </p:txEl>
                                          </p:spTgt>
                                        </p:tgtEl>
                                        <p:attrNameLst>
                                          <p:attrName>style.visibility</p:attrName>
                                        </p:attrNameLst>
                                      </p:cBhvr>
                                      <p:to>
                                        <p:strVal val="visible"/>
                                      </p:to>
                                    </p:set>
                                    <p:animEffect transition="in" filter="wipe(left)">
                                      <p:cBhvr>
                                        <p:cTn id="23" dur="500"/>
                                        <p:tgtEl>
                                          <p:spTgt spid="49155">
                                            <p:txEl>
                                              <p:pRg st="7" end="7"/>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49155">
                                            <p:txEl>
                                              <p:pRg st="8" end="8"/>
                                            </p:txEl>
                                          </p:spTgt>
                                        </p:tgtEl>
                                        <p:attrNameLst>
                                          <p:attrName>style.visibility</p:attrName>
                                        </p:attrNameLst>
                                      </p:cBhvr>
                                      <p:to>
                                        <p:strVal val="visible"/>
                                      </p:to>
                                    </p:set>
                                    <p:animEffect transition="in" filter="wipe(left)">
                                      <p:cBhvr>
                                        <p:cTn id="26" dur="500"/>
                                        <p:tgtEl>
                                          <p:spTgt spid="491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49155" name="内容占位符 2"/>
          <p:cNvSpPr>
            <a:spLocks noGrp="1"/>
          </p:cNvSpPr>
          <p:nvPr>
            <p:ph idx="1"/>
          </p:nvPr>
        </p:nvSpPr>
        <p:spPr>
          <a:xfrm>
            <a:off x="395536" y="1628800"/>
            <a:ext cx="8640960" cy="4841324"/>
          </a:xfrm>
        </p:spPr>
        <p:txBody>
          <a:bodyPr vert="horz" wrap="square" lIns="91440" tIns="45720" rIns="91440" bIns="45720" numCol="1" anchor="t" anchorCtr="0" compatLnSpc="1"/>
          <a:lstStyle/>
          <a:p>
            <a:pPr marR="0" lvl="0" algn="l" defTabSz="914400" rtl="0" eaLnBrk="1" fontAlgn="base" latinLnBrk="0" hangingPunct="1">
              <a:lnSpc>
                <a:spcPct val="130000"/>
              </a:lnSpc>
              <a:spcBef>
                <a:spcPts val="20"/>
              </a:spcBef>
              <a:spcAft>
                <a:spcPts val="0"/>
              </a:spcAft>
              <a:buClrTx/>
              <a:buSzTx/>
              <a:buFont typeface="Wingdings" panose="05000000000000000000" charset="0"/>
              <a:buChar char="n"/>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a:t>
            </a: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分治策略：</a:t>
            </a:r>
            <a:r>
              <a:rPr kumimoji="0" lang="zh-CN" altLang="en-US" sz="2400" i="0" u="none" strike="noStrike" kern="1200" cap="none" spc="0" normalizeH="0" baseline="0" noProof="0" dirty="0" smtClean="0">
                <a:ln>
                  <a:noFill/>
                </a:ln>
                <a:solidFill>
                  <a:srgbClr val="FF0000"/>
                </a:solidFill>
                <a:effectLst/>
                <a:uLnTx/>
                <a:uFillTx/>
                <a:latin typeface="+mj-ea"/>
                <a:ea typeface="+mj-ea"/>
                <a:cs typeface="+mj-ea"/>
              </a:rPr>
              <a:t>（Divide and Conquer）</a:t>
            </a:r>
            <a:endParaRPr kumimoji="0" lang="zh-CN" altLang="en-US" sz="2400" i="0" u="none" strike="noStrike" kern="1200" cap="none" spc="0" normalizeH="0" baseline="0" noProof="0" dirty="0" smtClean="0">
              <a:ln>
                <a:noFill/>
              </a:ln>
              <a:solidFill>
                <a:srgbClr val="FF0000"/>
              </a:solidFill>
              <a:effectLst/>
              <a:uLnTx/>
              <a:uFillTx/>
              <a:latin typeface="+mj-ea"/>
              <a:ea typeface="+mj-ea"/>
              <a:cs typeface="+mj-ea"/>
            </a:endParaRPr>
          </a:p>
          <a:p>
            <a:pPr marR="0" lvl="1" algn="l" defTabSz="914400" rtl="0" eaLnBrk="1" fontAlgn="base" latinLnBrk="0" hangingPunct="1">
              <a:lnSpc>
                <a:spcPct val="130000"/>
              </a:lnSpc>
              <a:spcBef>
                <a:spcPts val="20"/>
              </a:spcBef>
              <a:spcAft>
                <a:spcPts val="0"/>
              </a:spcAft>
              <a:buClrTx/>
              <a:buSzTx/>
              <a:buFont typeface="Arial" panose="020B0604020202020204" pitchFamily="34" charset="0"/>
              <a:buChar char="•"/>
              <a:defRPr/>
            </a:pP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将原始问题划分或者归结为</a:t>
            </a:r>
            <a:r>
              <a:rPr lang="en-US" altLang="zh-CN" sz="2400" b="1" i="1" dirty="0">
                <a:solidFill>
                  <a:schemeClr val="bg2"/>
                </a:solidFill>
                <a:latin typeface="Times New Roman" panose="02020603050405020304" pitchFamily="18" charset="0"/>
                <a:ea typeface="楷体" panose="02010609060101010101" pitchFamily="49" charset="-122"/>
                <a:cs typeface="Times New Roman" panose="02020603050405020304" pitchFamily="18" charset="0"/>
                <a:sym typeface="+mn-ea"/>
              </a:rPr>
              <a:t>k</a:t>
            </a:r>
            <a:r>
              <a:rPr lang="zh-CN" altLang="en-US" sz="2400" dirty="0">
                <a:solidFill>
                  <a:schemeClr val="bg2"/>
                </a:solidFill>
                <a:latin typeface="Consolas" panose="020B0609020204030204" pitchFamily="49" charset="0"/>
                <a:ea typeface="楷体" panose="02010609060101010101" pitchFamily="49" charset="-122"/>
                <a:cs typeface="Consolas" panose="020B0609020204030204" pitchFamily="49" charset="0"/>
                <a:sym typeface="+mn-ea"/>
              </a:rPr>
              <a:t>个</a:t>
            </a: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规模较小的子问题</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marR="0" lvl="1" algn="l" defTabSz="914400" rtl="0" eaLnBrk="1" fontAlgn="base" latinLnBrk="0" hangingPunct="1">
              <a:lnSpc>
                <a:spcPct val="130000"/>
              </a:lnSpc>
              <a:spcBef>
                <a:spcPts val="20"/>
              </a:spcBef>
              <a:spcAft>
                <a:spcPts val="0"/>
              </a:spcAft>
              <a:buClrTx/>
              <a:buSzTx/>
              <a:buFont typeface="Arial" panose="020B0604020202020204" pitchFamily="34" charset="0"/>
              <a:buChar char="•"/>
              <a:defRPr/>
            </a:pP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递归或迭代求解每个子问题</a:t>
            </a:r>
            <a:r>
              <a:rPr kumimoji="0" lang="en-US" altLang="zh-CN" sz="2400" kern="1200" dirty="0">
                <a:solidFill>
                  <a:schemeClr val="bg2"/>
                </a:solidFill>
                <a:latin typeface="+mj-ea"/>
                <a:ea typeface="+mj-ea"/>
                <a:cs typeface="+mj-ea"/>
              </a:rPr>
              <a:t>——</a:t>
            </a:r>
            <a:r>
              <a:rPr kumimoji="0" lang="zh-CN" altLang="en-US" sz="2400" kern="1200" dirty="0" smtClean="0">
                <a:solidFill>
                  <a:schemeClr val="bg2"/>
                </a:solidFill>
                <a:latin typeface="+mj-ea"/>
                <a:ea typeface="+mj-ea"/>
                <a:cs typeface="+mj-ea"/>
              </a:rPr>
              <a:t>独立求解</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marR="0" lvl="1" algn="l" defTabSz="914400" rtl="0" eaLnBrk="1" fontAlgn="base" latinLnBrk="0" hangingPunct="1">
              <a:lnSpc>
                <a:spcPct val="130000"/>
              </a:lnSpc>
              <a:spcBef>
                <a:spcPts val="20"/>
              </a:spcBef>
              <a:spcAft>
                <a:spcPts val="0"/>
              </a:spcAft>
              <a:buClrTx/>
              <a:buSzTx/>
              <a:buFont typeface="Arial" panose="020B0604020202020204" pitchFamily="34" charset="0"/>
              <a:buChar char="•"/>
              <a:defRPr/>
            </a:pP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将子问题的解综合得到原问题的解</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marL="935355" marR="0" lvl="1" indent="-477520" algn="l" defTabSz="914400" rtl="0" eaLnBrk="1" fontAlgn="base" latinLnBrk="0" hangingPunct="1">
              <a:lnSpc>
                <a:spcPct val="130000"/>
              </a:lnSpc>
              <a:spcBef>
                <a:spcPts val="20"/>
              </a:spcBef>
              <a:spcAft>
                <a:spcPts val="0"/>
              </a:spcAft>
              <a:buClrTx/>
              <a:buSzTx/>
              <a:buFont typeface="Wingdings" panose="05000000000000000000" charset="0"/>
              <a:buChar char="u"/>
              <a:defRPr/>
            </a:pPr>
            <a:r>
              <a:rPr kumimoji="0" lang="zh-CN" altLang="en-US" sz="2400" b="1" i="0" u="none" strike="noStrike" kern="1200" cap="none" spc="0" normalizeH="0" baseline="0" noProof="0" dirty="0" smtClean="0">
                <a:ln>
                  <a:noFill/>
                </a:ln>
                <a:solidFill>
                  <a:schemeClr val="bg2"/>
                </a:solidFill>
                <a:effectLst/>
                <a:uLnTx/>
                <a:uFillTx/>
                <a:latin typeface="+mj-ea"/>
                <a:ea typeface="+mj-ea"/>
                <a:cs typeface="+mj-ea"/>
              </a:rPr>
              <a:t>注意</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marR="0" lvl="1" algn="l" defTabSz="914400" rtl="0" eaLnBrk="1" fontAlgn="base" latinLnBrk="0" hangingPunct="1">
              <a:lnSpc>
                <a:spcPct val="130000"/>
              </a:lnSpc>
              <a:spcBef>
                <a:spcPts val="20"/>
              </a:spcBef>
              <a:spcAft>
                <a:spcPts val="0"/>
              </a:spcAft>
              <a:buClrTx/>
              <a:buSzTx/>
              <a:buFont typeface="Arial" panose="020B0604020202020204" pitchFamily="34" charset="0"/>
              <a:buChar char="•"/>
              <a:defRPr/>
            </a:pP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子问题与原始问题性质完全一样</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marR="0" lvl="1" algn="l" defTabSz="914400" rtl="0" eaLnBrk="1" fontAlgn="base" latinLnBrk="0" hangingPunct="1">
              <a:lnSpc>
                <a:spcPct val="130000"/>
              </a:lnSpc>
              <a:spcBef>
                <a:spcPts val="20"/>
              </a:spcBef>
              <a:spcAft>
                <a:spcPts val="0"/>
              </a:spcAft>
              <a:buClrTx/>
              <a:buSzTx/>
              <a:buFont typeface="Arial" panose="020B0604020202020204" pitchFamily="34" charset="0"/>
              <a:buChar char="•"/>
              <a:defRPr/>
            </a:pP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子问题之间可彼此独立地求解</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a:p>
            <a:pPr marR="0" lvl="1" algn="l" defTabSz="914400" rtl="0" eaLnBrk="1" fontAlgn="base" latinLnBrk="0" hangingPunct="1">
              <a:lnSpc>
                <a:spcPct val="130000"/>
              </a:lnSpc>
              <a:spcBef>
                <a:spcPts val="20"/>
              </a:spcBef>
              <a:spcAft>
                <a:spcPts val="0"/>
              </a:spcAft>
              <a:buClrTx/>
              <a:buSzTx/>
              <a:buFont typeface="Arial" panose="020B0604020202020204" pitchFamily="34" charset="0"/>
              <a:buChar char="•"/>
              <a:defRPr/>
            </a:pP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递归停止时子问题可直接求解</a:t>
            </a:r>
            <a:endParaRPr kumimoji="0" lang="zh-CN" altLang="en-US" sz="2400" i="0" u="none" strike="noStrike" kern="1200" cap="none" spc="0" normalizeH="0" baseline="0" noProof="0" dirty="0" smtClean="0">
              <a:ln>
                <a:noFill/>
              </a:ln>
              <a:solidFill>
                <a:schemeClr val="bg2"/>
              </a:solidFill>
              <a:effectLst/>
              <a:uLnTx/>
              <a:uFillTx/>
              <a:latin typeface="+mj-ea"/>
              <a:ea typeface="+mj-ea"/>
              <a:cs typeface="+mj-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Effect transition="in" filter="wipe(left)">
                                      <p:cBhvr>
                                        <p:cTn id="7" dur="500"/>
                                        <p:tgtEl>
                                          <p:spTgt spid="49155">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9155">
                                            <p:txEl>
                                              <p:pRg st="2" end="2"/>
                                            </p:txEl>
                                          </p:spTgt>
                                        </p:tgtEl>
                                        <p:attrNameLst>
                                          <p:attrName>style.visibility</p:attrName>
                                        </p:attrNameLst>
                                      </p:cBhvr>
                                      <p:to>
                                        <p:strVal val="visible"/>
                                      </p:to>
                                    </p:set>
                                    <p:animEffect transition="in" filter="wipe(left)">
                                      <p:cBhvr>
                                        <p:cTn id="10" dur="500"/>
                                        <p:tgtEl>
                                          <p:spTgt spid="49155">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9155">
                                            <p:txEl>
                                              <p:pRg st="3" end="3"/>
                                            </p:txEl>
                                          </p:spTgt>
                                        </p:tgtEl>
                                        <p:attrNameLst>
                                          <p:attrName>style.visibility</p:attrName>
                                        </p:attrNameLst>
                                      </p:cBhvr>
                                      <p:to>
                                        <p:strVal val="visible"/>
                                      </p:to>
                                    </p:set>
                                    <p:animEffect transition="in" filter="wipe(left)">
                                      <p:cBhvr>
                                        <p:cTn id="13" dur="500"/>
                                        <p:tgtEl>
                                          <p:spTgt spid="4915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9155">
                                            <p:txEl>
                                              <p:pRg st="4" end="4"/>
                                            </p:txEl>
                                          </p:spTgt>
                                        </p:tgtEl>
                                        <p:attrNameLst>
                                          <p:attrName>style.visibility</p:attrName>
                                        </p:attrNameLst>
                                      </p:cBhvr>
                                      <p:to>
                                        <p:strVal val="visible"/>
                                      </p:to>
                                    </p:set>
                                    <p:animEffect transition="in" filter="wipe(down)">
                                      <p:cBhvr>
                                        <p:cTn id="18" dur="500"/>
                                        <p:tgtEl>
                                          <p:spTgt spid="4915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9155">
                                            <p:txEl>
                                              <p:pRg st="5" end="5"/>
                                            </p:txEl>
                                          </p:spTgt>
                                        </p:tgtEl>
                                        <p:attrNameLst>
                                          <p:attrName>style.visibility</p:attrName>
                                        </p:attrNameLst>
                                      </p:cBhvr>
                                      <p:to>
                                        <p:strVal val="visible"/>
                                      </p:to>
                                    </p:set>
                                    <p:animEffect transition="in" filter="wipe(left)">
                                      <p:cBhvr>
                                        <p:cTn id="23" dur="500"/>
                                        <p:tgtEl>
                                          <p:spTgt spid="49155">
                                            <p:txEl>
                                              <p:pRg st="5" end="5"/>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49155">
                                            <p:txEl>
                                              <p:pRg st="6" end="6"/>
                                            </p:txEl>
                                          </p:spTgt>
                                        </p:tgtEl>
                                        <p:attrNameLst>
                                          <p:attrName>style.visibility</p:attrName>
                                        </p:attrNameLst>
                                      </p:cBhvr>
                                      <p:to>
                                        <p:strVal val="visible"/>
                                      </p:to>
                                    </p:set>
                                    <p:animEffect transition="in" filter="wipe(left)">
                                      <p:cBhvr>
                                        <p:cTn id="26" dur="500"/>
                                        <p:tgtEl>
                                          <p:spTgt spid="49155">
                                            <p:txEl>
                                              <p:pRg st="6" end="6"/>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49155">
                                            <p:txEl>
                                              <p:pRg st="7" end="7"/>
                                            </p:txEl>
                                          </p:spTgt>
                                        </p:tgtEl>
                                        <p:attrNameLst>
                                          <p:attrName>style.visibility</p:attrName>
                                        </p:attrNameLst>
                                      </p:cBhvr>
                                      <p:to>
                                        <p:strVal val="visible"/>
                                      </p:to>
                                    </p:set>
                                    <p:animEffect transition="in" filter="wipe(left)">
                                      <p:cBhvr>
                                        <p:cTn id="29" dur="500"/>
                                        <p:tgtEl>
                                          <p:spTgt spid="491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p:nvPr/>
        </p:nvSpPr>
        <p:spPr>
          <a:xfrm>
            <a:off x="250825" y="333375"/>
            <a:ext cx="7772400" cy="685800"/>
          </a:xfrm>
          <a:prstGeom prst="rect">
            <a:avLst/>
          </a:prstGeom>
          <a:noFill/>
          <a:ln w="9525">
            <a:noFill/>
          </a:ln>
        </p:spPr>
        <p:txBody>
          <a:bodyPr anchor="ctr"/>
          <a:lstStyle/>
          <a:p>
            <a:endParaRPr lang="zh-CN" altLang="en-US" sz="3600" b="1" dirty="0">
              <a:solidFill>
                <a:schemeClr val="accent1"/>
              </a:solidFill>
              <a:latin typeface="Times New Roman" panose="02020603050405020304" pitchFamily="18" charset="0"/>
              <a:ea typeface="楷体_GB2312" pitchFamily="49" charset="-122"/>
            </a:endParaRPr>
          </a:p>
        </p:txBody>
      </p:sp>
      <p:sp>
        <p:nvSpPr>
          <p:cNvPr id="150533" name="Text Box 5"/>
          <p:cNvSpPr txBox="1">
            <a:spLocks noChangeArrowheads="1"/>
          </p:cNvSpPr>
          <p:nvPr/>
        </p:nvSpPr>
        <p:spPr bwMode="auto">
          <a:xfrm>
            <a:off x="359699" y="1564308"/>
            <a:ext cx="7848600" cy="645160"/>
          </a:xfrm>
          <a:prstGeom prst="rect">
            <a:avLst/>
          </a:prstGeom>
          <a:noFill/>
          <a:ln w="9525">
            <a:noFill/>
            <a:miter lim="800000"/>
          </a:ln>
          <a:effectLst/>
        </p:spPr>
        <p:txBody>
          <a:bodyPr>
            <a:spAutoFit/>
          </a:bodyPr>
          <a:lstStyle/>
          <a:p>
            <a:pPr>
              <a:lnSpc>
                <a:spcPct val="150000"/>
              </a:lnSpc>
              <a:spcBef>
                <a:spcPct val="50000"/>
              </a:spcBef>
            </a:pPr>
            <a:r>
              <a:rPr lang="zh-CN" altLang="en-US" dirty="0">
                <a:solidFill>
                  <a:srgbClr val="0000FF"/>
                </a:solidFill>
                <a:latin typeface="仿宋" panose="02010609060101010101" pitchFamily="49" charset="-122"/>
                <a:ea typeface="仿宋" panose="02010609060101010101" pitchFamily="49" charset="-122"/>
                <a:cs typeface="Times New Roman" panose="02020603050405020304" pitchFamily="18" charset="0"/>
              </a:rPr>
              <a:t>分治法解决的问题一般具有以下四个特征：</a:t>
            </a:r>
            <a:endParaRPr lang="zh-CN" altLang="en-US" dirty="0">
              <a:solidFill>
                <a:srgbClr val="0000FF"/>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50534" name="Text Box 6"/>
          <p:cNvSpPr txBox="1">
            <a:spLocks noChangeArrowheads="1"/>
          </p:cNvSpPr>
          <p:nvPr/>
        </p:nvSpPr>
        <p:spPr bwMode="auto">
          <a:xfrm>
            <a:off x="359410" y="2315845"/>
            <a:ext cx="8582025" cy="3129280"/>
          </a:xfrm>
          <a:prstGeom prst="rect">
            <a:avLst/>
          </a:prstGeom>
        </p:spPr>
        <p:style>
          <a:lnRef idx="2">
            <a:schemeClr val="accent2"/>
          </a:lnRef>
          <a:fillRef idx="1">
            <a:schemeClr val="lt1"/>
          </a:fillRef>
          <a:effectRef idx="0">
            <a:schemeClr val="accent2"/>
          </a:effectRef>
          <a:fontRef idx="minor">
            <a:schemeClr val="dk1"/>
          </a:fontRef>
        </p:style>
        <p:txBody>
          <a:bodyPr wrap="square" lIns="144000" tIns="180000" bIns="180000">
            <a:spAutoFit/>
          </a:bodyPr>
          <a:lstStyle/>
          <a:p>
            <a:pPr indent="-342900">
              <a:lnSpc>
                <a:spcPct val="150000"/>
              </a:lnSpc>
            </a:pPr>
            <a:r>
              <a:rPr lang="zh-CN" altLang="en-US" dirty="0" smtClean="0">
                <a:solidFill>
                  <a:schemeClr val="bg2"/>
                </a:solidFill>
                <a:latin typeface="+mn-ea"/>
                <a:cs typeface="+mn-ea"/>
              </a:rPr>
              <a:t>（</a:t>
            </a:r>
            <a:r>
              <a:rPr lang="en-US" altLang="zh-CN" dirty="0">
                <a:solidFill>
                  <a:schemeClr val="bg2"/>
                </a:solidFill>
                <a:latin typeface="+mn-ea"/>
                <a:cs typeface="+mn-ea"/>
              </a:rPr>
              <a:t>1</a:t>
            </a:r>
            <a:r>
              <a:rPr lang="zh-CN" altLang="en-US" dirty="0">
                <a:solidFill>
                  <a:schemeClr val="bg2"/>
                </a:solidFill>
                <a:latin typeface="+mn-ea"/>
                <a:cs typeface="+mn-ea"/>
              </a:rPr>
              <a:t>）该问题的规模缩小到一定的程度就可以容易地解决。</a:t>
            </a:r>
            <a:endParaRPr lang="zh-CN" altLang="en-US" dirty="0">
              <a:solidFill>
                <a:schemeClr val="bg2"/>
              </a:solidFill>
              <a:latin typeface="+mn-ea"/>
              <a:cs typeface="+mn-ea"/>
            </a:endParaRPr>
          </a:p>
          <a:p>
            <a:pPr indent="-342900">
              <a:lnSpc>
                <a:spcPct val="150000"/>
              </a:lnSpc>
            </a:pPr>
            <a:r>
              <a:rPr lang="zh-CN" altLang="en-US" dirty="0" smtClean="0">
                <a:solidFill>
                  <a:schemeClr val="bg2"/>
                </a:solidFill>
                <a:latin typeface="+mn-ea"/>
                <a:cs typeface="+mn-ea"/>
              </a:rPr>
              <a:t>（</a:t>
            </a:r>
            <a:r>
              <a:rPr lang="en-US" altLang="zh-CN" dirty="0">
                <a:solidFill>
                  <a:schemeClr val="bg2"/>
                </a:solidFill>
                <a:latin typeface="+mn-ea"/>
                <a:cs typeface="+mn-ea"/>
              </a:rPr>
              <a:t>2</a:t>
            </a:r>
            <a:r>
              <a:rPr lang="zh-CN" altLang="en-US" dirty="0">
                <a:solidFill>
                  <a:schemeClr val="bg2"/>
                </a:solidFill>
                <a:latin typeface="+mn-ea"/>
                <a:cs typeface="+mn-ea"/>
              </a:rPr>
              <a:t>）该问题可以分解为若干个规模较小的相同问题。</a:t>
            </a:r>
            <a:endParaRPr lang="zh-CN" altLang="en-US" dirty="0">
              <a:solidFill>
                <a:schemeClr val="bg2"/>
              </a:solidFill>
              <a:latin typeface="+mn-ea"/>
              <a:cs typeface="+mn-ea"/>
            </a:endParaRPr>
          </a:p>
          <a:p>
            <a:pPr indent="-342900">
              <a:lnSpc>
                <a:spcPct val="150000"/>
              </a:lnSpc>
            </a:pPr>
            <a:r>
              <a:rPr lang="zh-CN" altLang="en-US" dirty="0" smtClean="0">
                <a:solidFill>
                  <a:schemeClr val="bg2"/>
                </a:solidFill>
                <a:latin typeface="+mn-ea"/>
                <a:cs typeface="+mn-ea"/>
              </a:rPr>
              <a:t>（</a:t>
            </a:r>
            <a:r>
              <a:rPr lang="en-US" altLang="zh-CN" dirty="0">
                <a:solidFill>
                  <a:schemeClr val="bg2"/>
                </a:solidFill>
                <a:latin typeface="+mn-ea"/>
                <a:cs typeface="+mn-ea"/>
              </a:rPr>
              <a:t>3</a:t>
            </a:r>
            <a:r>
              <a:rPr lang="zh-CN" altLang="en-US" dirty="0">
                <a:solidFill>
                  <a:schemeClr val="bg2"/>
                </a:solidFill>
                <a:latin typeface="+mn-ea"/>
                <a:cs typeface="+mn-ea"/>
              </a:rPr>
              <a:t>）利用该问题分解出的子问题的解可以合并为该问题的解</a:t>
            </a:r>
            <a:endParaRPr lang="zh-CN" altLang="en-US" dirty="0">
              <a:solidFill>
                <a:schemeClr val="bg2"/>
              </a:solidFill>
              <a:latin typeface="+mn-ea"/>
              <a:cs typeface="+mn-ea"/>
            </a:endParaRPr>
          </a:p>
          <a:p>
            <a:pPr indent="-342900">
              <a:lnSpc>
                <a:spcPct val="150000"/>
              </a:lnSpc>
            </a:pPr>
            <a:r>
              <a:rPr lang="zh-CN" altLang="en-US" dirty="0" smtClean="0">
                <a:solidFill>
                  <a:schemeClr val="bg2"/>
                </a:solidFill>
                <a:latin typeface="+mn-ea"/>
                <a:cs typeface="+mn-ea"/>
              </a:rPr>
              <a:t>（</a:t>
            </a:r>
            <a:r>
              <a:rPr lang="en-US" altLang="zh-CN" dirty="0">
                <a:solidFill>
                  <a:schemeClr val="bg2"/>
                </a:solidFill>
                <a:latin typeface="+mn-ea"/>
                <a:cs typeface="+mn-ea"/>
              </a:rPr>
              <a:t>4</a:t>
            </a:r>
            <a:r>
              <a:rPr lang="zh-CN" altLang="en-US" dirty="0">
                <a:solidFill>
                  <a:schemeClr val="bg2"/>
                </a:solidFill>
                <a:latin typeface="+mn-ea"/>
                <a:cs typeface="+mn-ea"/>
              </a:rPr>
              <a:t>）该问题所分解出的各个子问题是相互独立</a:t>
            </a:r>
            <a:r>
              <a:rPr lang="zh-CN" altLang="en-US" dirty="0" smtClean="0">
                <a:solidFill>
                  <a:schemeClr val="bg2"/>
                </a:solidFill>
                <a:latin typeface="+mn-ea"/>
                <a:cs typeface="+mn-ea"/>
              </a:rPr>
              <a:t>的，即</a:t>
            </a:r>
            <a:r>
              <a:rPr lang="zh-CN" altLang="en-US" dirty="0">
                <a:solidFill>
                  <a:schemeClr val="bg2"/>
                </a:solidFill>
                <a:latin typeface="+mn-ea"/>
                <a:cs typeface="+mn-ea"/>
              </a:rPr>
              <a:t>子问题之间不包含公共的子问题。</a:t>
            </a:r>
            <a:endParaRPr lang="zh-CN" altLang="en-US" dirty="0">
              <a:solidFill>
                <a:schemeClr val="bg2"/>
              </a:solidFill>
              <a:latin typeface="+mn-ea"/>
              <a:cs typeface="+mn-ea"/>
            </a:endParaRPr>
          </a:p>
        </p:txBody>
      </p:sp>
      <p:sp>
        <p:nvSpPr>
          <p:cNvPr id="7" name="Rectangle 4"/>
          <p:cNvSpPr>
            <a:spLocks noGrp="1"/>
          </p:cNvSpPr>
          <p:nvPr>
            <p:ph type="title"/>
          </p:nvPr>
        </p:nvSpPr>
        <p:spPr>
          <a:xfrm>
            <a:off x="381000" y="333375"/>
            <a:ext cx="7772400" cy="809625"/>
          </a:xfrm>
        </p:spPr>
        <p:txBody>
          <a:bodyPr vert="horz" wrap="square" lIns="92075" tIns="46038" rIns="92075" bIns="46038" anchor="b"/>
          <a:lstStyle/>
          <a:p>
            <a:r>
              <a:rPr kumimoji="0" lang="en-US" sz="4000" kern="1200" noProof="0" dirty="0" smtClean="0">
                <a:ln>
                  <a:noFill/>
                </a:ln>
                <a:solidFill>
                  <a:schemeClr val="accent2"/>
                </a:solidFill>
                <a:effectLst/>
                <a:uLnTx/>
                <a:uFillTx/>
                <a:sym typeface="+mn-ea"/>
              </a:rPr>
              <a:t>2.1 </a:t>
            </a:r>
            <a:r>
              <a:rPr kumimoji="0" lang="zh-CN" altLang="en-US" sz="4000" kern="1200" noProof="0" dirty="0" smtClean="0">
                <a:ln>
                  <a:noFill/>
                </a:ln>
                <a:solidFill>
                  <a:schemeClr val="accent2"/>
                </a:solidFill>
                <a:effectLst/>
                <a:uLnTx/>
                <a:uFillTx/>
                <a:sym typeface="+mn-ea"/>
              </a:rPr>
              <a:t>分治策略的基本思想</a:t>
            </a:r>
            <a:endParaRPr lang="zh-CN" altLang="en-US" sz="4000" dirty="0">
              <a:solidFill>
                <a:schemeClr val="bg2"/>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5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5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5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5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p:nvPr/>
        </p:nvSpPr>
        <p:spPr>
          <a:xfrm>
            <a:off x="250825" y="333375"/>
            <a:ext cx="7772400" cy="685800"/>
          </a:xfrm>
          <a:prstGeom prst="rect">
            <a:avLst/>
          </a:prstGeom>
          <a:noFill/>
          <a:ln w="9525">
            <a:noFill/>
          </a:ln>
        </p:spPr>
        <p:txBody>
          <a:bodyPr anchor="ctr"/>
          <a:lstStyle/>
          <a:p>
            <a:endParaRPr lang="zh-CN" altLang="en-US" sz="3600" b="1" dirty="0">
              <a:solidFill>
                <a:schemeClr val="accent1"/>
              </a:solidFill>
              <a:latin typeface="Times New Roman" panose="02020603050405020304" pitchFamily="18" charset="0"/>
              <a:ea typeface="楷体_GB2312" pitchFamily="49" charset="-122"/>
            </a:endParaRPr>
          </a:p>
        </p:txBody>
      </p:sp>
      <p:sp>
        <p:nvSpPr>
          <p:cNvPr id="150533" name="Text Box 5"/>
          <p:cNvSpPr txBox="1">
            <a:spLocks noChangeArrowheads="1"/>
          </p:cNvSpPr>
          <p:nvPr/>
        </p:nvSpPr>
        <p:spPr bwMode="auto">
          <a:xfrm>
            <a:off x="359699" y="1563772"/>
            <a:ext cx="7848600" cy="645160"/>
          </a:xfrm>
          <a:prstGeom prst="rect">
            <a:avLst/>
          </a:prstGeom>
          <a:noFill/>
          <a:ln w="9525">
            <a:noFill/>
            <a:miter lim="800000"/>
          </a:ln>
          <a:effectLst/>
        </p:spPr>
        <p:txBody>
          <a:bodyPr>
            <a:spAutoFit/>
          </a:bodyPr>
          <a:lstStyle/>
          <a:p>
            <a:pPr>
              <a:lnSpc>
                <a:spcPct val="150000"/>
              </a:lnSpc>
              <a:spcBef>
                <a:spcPct val="50000"/>
              </a:spcBef>
            </a:pPr>
            <a:r>
              <a:rPr lang="zh-CN" altLang="en-US" dirty="0">
                <a:solidFill>
                  <a:srgbClr val="0000FF"/>
                </a:solidFill>
                <a:latin typeface="+mj-ea"/>
                <a:ea typeface="+mj-ea"/>
                <a:cs typeface="Times New Roman" panose="02020603050405020304" pitchFamily="18" charset="0"/>
              </a:rPr>
              <a:t>分治</a:t>
            </a:r>
            <a:r>
              <a:rPr lang="zh-CN" altLang="en-US" dirty="0" smtClean="0">
                <a:solidFill>
                  <a:srgbClr val="0000FF"/>
                </a:solidFill>
                <a:latin typeface="+mj-ea"/>
                <a:ea typeface="+mj-ea"/>
                <a:cs typeface="Times New Roman" panose="02020603050405020304" pitchFamily="18" charset="0"/>
              </a:rPr>
              <a:t>法特征说明</a:t>
            </a:r>
            <a:endParaRPr lang="zh-CN" altLang="en-US" dirty="0">
              <a:solidFill>
                <a:srgbClr val="0000FF"/>
              </a:solidFill>
              <a:latin typeface="+mj-ea"/>
              <a:ea typeface="+mj-ea"/>
              <a:cs typeface="Times New Roman" panose="02020603050405020304" pitchFamily="18" charset="0"/>
            </a:endParaRPr>
          </a:p>
        </p:txBody>
      </p:sp>
      <p:sp>
        <p:nvSpPr>
          <p:cNvPr id="150534" name="Text Box 6"/>
          <p:cNvSpPr txBox="1">
            <a:spLocks noChangeArrowheads="1"/>
          </p:cNvSpPr>
          <p:nvPr/>
        </p:nvSpPr>
        <p:spPr bwMode="auto">
          <a:xfrm>
            <a:off x="359410" y="2300471"/>
            <a:ext cx="8424863" cy="913130"/>
          </a:xfrm>
          <a:prstGeom prst="rect">
            <a:avLst/>
          </a:prstGeom>
        </p:spPr>
        <p:style>
          <a:lnRef idx="2">
            <a:schemeClr val="accent2"/>
          </a:lnRef>
          <a:fillRef idx="1">
            <a:schemeClr val="lt1"/>
          </a:fillRef>
          <a:effectRef idx="0">
            <a:schemeClr val="accent2"/>
          </a:effectRef>
          <a:fontRef idx="minor">
            <a:schemeClr val="dk1"/>
          </a:fontRef>
        </p:style>
        <p:txBody>
          <a:bodyPr lIns="144000" tIns="180000" bIns="180000">
            <a:spAutoFit/>
          </a:bodyPr>
          <a:lstStyle/>
          <a:p>
            <a:pPr indent="-342900">
              <a:lnSpc>
                <a:spcPct val="150000"/>
              </a:lnSpc>
            </a:pPr>
            <a:r>
              <a:rPr lang="zh-CN" altLang="en-US" dirty="0" smtClean="0">
                <a:solidFill>
                  <a:schemeClr val="bg2"/>
                </a:solidFill>
                <a:latin typeface="+mn-ea"/>
                <a:cs typeface="+mn-ea"/>
              </a:rPr>
              <a:t>特征</a:t>
            </a:r>
            <a:r>
              <a:rPr lang="en-US" altLang="zh-CN" dirty="0" smtClean="0">
                <a:solidFill>
                  <a:schemeClr val="bg2"/>
                </a:solidFill>
                <a:latin typeface="+mn-ea"/>
                <a:cs typeface="+mn-ea"/>
              </a:rPr>
              <a:t>1</a:t>
            </a:r>
            <a:r>
              <a:rPr lang="zh-CN" altLang="en-US" dirty="0" smtClean="0">
                <a:solidFill>
                  <a:schemeClr val="bg2"/>
                </a:solidFill>
                <a:latin typeface="+mn-ea"/>
                <a:cs typeface="+mn-ea"/>
              </a:rPr>
              <a:t>：该</a:t>
            </a:r>
            <a:r>
              <a:rPr lang="zh-CN" altLang="en-US" dirty="0">
                <a:solidFill>
                  <a:schemeClr val="bg2"/>
                </a:solidFill>
                <a:latin typeface="+mn-ea"/>
                <a:cs typeface="+mn-ea"/>
              </a:rPr>
              <a:t>问题的规模缩小到一定的程度就可以容易地解决</a:t>
            </a:r>
            <a:r>
              <a:rPr lang="zh-CN" altLang="en-US" dirty="0" smtClean="0">
                <a:solidFill>
                  <a:schemeClr val="bg2"/>
                </a:solidFill>
                <a:latin typeface="+mn-ea"/>
                <a:cs typeface="+mn-ea"/>
              </a:rPr>
              <a:t>。</a:t>
            </a:r>
            <a:endParaRPr lang="zh-CN" altLang="en-US" dirty="0">
              <a:solidFill>
                <a:schemeClr val="bg2"/>
              </a:solidFill>
              <a:latin typeface="+mn-ea"/>
              <a:cs typeface="+mn-ea"/>
            </a:endParaRPr>
          </a:p>
        </p:txBody>
      </p:sp>
      <p:sp>
        <p:nvSpPr>
          <p:cNvPr id="7" name="Rectangle 4"/>
          <p:cNvSpPr>
            <a:spLocks noGrp="1"/>
          </p:cNvSpPr>
          <p:nvPr>
            <p:ph type="title"/>
          </p:nvPr>
        </p:nvSpPr>
        <p:spPr>
          <a:xfrm>
            <a:off x="381000" y="333375"/>
            <a:ext cx="7772400" cy="809625"/>
          </a:xfrm>
        </p:spPr>
        <p:txBody>
          <a:bodyPr vert="horz" wrap="square" lIns="92075" tIns="46038" rIns="92075" bIns="46038" anchor="b"/>
          <a:lstStyle/>
          <a:p>
            <a:r>
              <a:rPr kumimoji="0" lang="en-US" sz="4000" kern="1200" noProof="0" dirty="0" smtClean="0">
                <a:ln>
                  <a:noFill/>
                </a:ln>
                <a:solidFill>
                  <a:schemeClr val="accent2"/>
                </a:solidFill>
                <a:effectLst/>
                <a:uLnTx/>
                <a:uFillTx/>
                <a:sym typeface="+mn-ea"/>
              </a:rPr>
              <a:t>2.1 </a:t>
            </a:r>
            <a:r>
              <a:rPr kumimoji="0" lang="zh-CN" altLang="en-US" sz="4000" kern="1200" noProof="0" dirty="0" smtClean="0">
                <a:ln>
                  <a:noFill/>
                </a:ln>
                <a:solidFill>
                  <a:schemeClr val="accent2"/>
                </a:solidFill>
                <a:effectLst/>
                <a:uLnTx/>
                <a:uFillTx/>
                <a:sym typeface="+mn-ea"/>
              </a:rPr>
              <a:t>分治策略的基本思想</a:t>
            </a:r>
            <a:endParaRPr lang="zh-CN" altLang="en-US" sz="4000" dirty="0">
              <a:solidFill>
                <a:schemeClr val="bg2"/>
              </a:solidFill>
              <a:latin typeface="楷体_GB2312" pitchFamily="49" charset="-122"/>
              <a:ea typeface="楷体_GB2312" pitchFamily="49" charset="-122"/>
            </a:endParaRPr>
          </a:p>
        </p:txBody>
      </p:sp>
      <p:sp>
        <p:nvSpPr>
          <p:cNvPr id="6" name="Text Box 6"/>
          <p:cNvSpPr txBox="1">
            <a:spLocks noChangeArrowheads="1"/>
          </p:cNvSpPr>
          <p:nvPr/>
        </p:nvSpPr>
        <p:spPr bwMode="auto">
          <a:xfrm>
            <a:off x="374547" y="3356992"/>
            <a:ext cx="8424863" cy="2574925"/>
          </a:xfrm>
          <a:prstGeom prst="rect">
            <a:avLst/>
          </a:prstGeom>
          <a:ln>
            <a:noFill/>
          </a:ln>
        </p:spPr>
        <p:style>
          <a:lnRef idx="2">
            <a:schemeClr val="accent2"/>
          </a:lnRef>
          <a:fillRef idx="1">
            <a:schemeClr val="lt1"/>
          </a:fillRef>
          <a:effectRef idx="0">
            <a:schemeClr val="accent2"/>
          </a:effectRef>
          <a:fontRef idx="minor">
            <a:schemeClr val="dk1"/>
          </a:fontRef>
        </p:style>
        <p:txBody>
          <a:bodyPr lIns="144000" tIns="180000" bIns="180000">
            <a:spAutoFit/>
          </a:bodyPr>
          <a:lstStyle/>
          <a:p>
            <a:pPr indent="-342900">
              <a:lnSpc>
                <a:spcPct val="150000"/>
              </a:lnSpc>
            </a:pPr>
            <a:r>
              <a:rPr lang="zh-CN" altLang="en-US" dirty="0" smtClean="0">
                <a:solidFill>
                  <a:schemeClr val="bg2"/>
                </a:solidFill>
                <a:latin typeface="+mj-ea"/>
                <a:ea typeface="+mj-ea"/>
                <a:cs typeface="+mj-ea"/>
              </a:rPr>
              <a:t>说明：该特征是绝大多数问题都可以满足的，因为问题的计算复杂性都是随着问题规模</a:t>
            </a:r>
            <a:r>
              <a:rPr lang="en-US" altLang="zh-CN" b="1" i="1" dirty="0" smtClean="0">
                <a:solidFill>
                  <a:schemeClr val="bg2"/>
                </a:solidFill>
                <a:latin typeface="Times New Roman" panose="02020603050405020304" pitchFamily="18" charset="0"/>
                <a:ea typeface="+mj-ea"/>
                <a:cs typeface="Times New Roman" panose="02020603050405020304" pitchFamily="18" charset="0"/>
              </a:rPr>
              <a:t>n</a:t>
            </a:r>
            <a:r>
              <a:rPr lang="zh-CN" altLang="en-US" dirty="0" smtClean="0">
                <a:solidFill>
                  <a:schemeClr val="bg2"/>
                </a:solidFill>
                <a:latin typeface="+mj-ea"/>
                <a:ea typeface="+mj-ea"/>
                <a:cs typeface="+mj-ea"/>
              </a:rPr>
              <a:t>的增加而增加的，当问题缩小到较小规模则很容易解决</a:t>
            </a:r>
            <a:r>
              <a:rPr lang="en-US" altLang="zh-CN" dirty="0" smtClean="0">
                <a:solidFill>
                  <a:schemeClr val="bg2"/>
                </a:solidFill>
                <a:latin typeface="+mj-ea"/>
                <a:ea typeface="+mj-ea"/>
                <a:cs typeface="+mj-ea"/>
              </a:rPr>
              <a:t>——</a:t>
            </a:r>
            <a:r>
              <a:rPr lang="zh-CN" altLang="en-US" dirty="0" smtClean="0">
                <a:solidFill>
                  <a:schemeClr val="bg2"/>
                </a:solidFill>
                <a:latin typeface="+mj-ea"/>
                <a:ea typeface="+mj-ea"/>
                <a:cs typeface="+mj-ea"/>
              </a:rPr>
              <a:t>例如</a:t>
            </a:r>
            <a:r>
              <a:rPr lang="en-US" altLang="zh-CN" dirty="0" smtClean="0">
                <a:solidFill>
                  <a:schemeClr val="bg2"/>
                </a:solidFill>
                <a:latin typeface="+mj-ea"/>
                <a:ea typeface="+mj-ea"/>
                <a:cs typeface="+mj-ea"/>
              </a:rPr>
              <a:t>1</a:t>
            </a:r>
            <a:r>
              <a:rPr lang="zh-CN" altLang="en-US" dirty="0" smtClean="0">
                <a:solidFill>
                  <a:schemeClr val="bg2"/>
                </a:solidFill>
                <a:latin typeface="+mj-ea"/>
                <a:ea typeface="+mj-ea"/>
                <a:cs typeface="+mj-ea"/>
              </a:rPr>
              <a:t>个数的排序、</a:t>
            </a:r>
            <a:r>
              <a:rPr lang="en-US" altLang="zh-CN" dirty="0" smtClean="0">
                <a:solidFill>
                  <a:schemeClr val="bg2"/>
                </a:solidFill>
                <a:latin typeface="+mj-ea"/>
                <a:ea typeface="+mj-ea"/>
                <a:cs typeface="+mj-ea"/>
              </a:rPr>
              <a:t>1</a:t>
            </a:r>
            <a:r>
              <a:rPr lang="zh-CN" altLang="en-US" dirty="0" smtClean="0">
                <a:solidFill>
                  <a:schemeClr val="bg2"/>
                </a:solidFill>
                <a:latin typeface="+mj-ea"/>
                <a:ea typeface="+mj-ea"/>
                <a:cs typeface="+mj-ea"/>
              </a:rPr>
              <a:t>个或</a:t>
            </a:r>
            <a:r>
              <a:rPr lang="en-US" altLang="zh-CN" dirty="0" smtClean="0">
                <a:solidFill>
                  <a:schemeClr val="bg2"/>
                </a:solidFill>
                <a:latin typeface="+mj-ea"/>
                <a:ea typeface="+mj-ea"/>
                <a:cs typeface="+mj-ea"/>
              </a:rPr>
              <a:t>2</a:t>
            </a:r>
            <a:r>
              <a:rPr lang="zh-CN" altLang="en-US" dirty="0" smtClean="0">
                <a:solidFill>
                  <a:schemeClr val="bg2"/>
                </a:solidFill>
                <a:latin typeface="+mj-ea"/>
                <a:ea typeface="+mj-ea"/>
                <a:cs typeface="+mj-ea"/>
              </a:rPr>
              <a:t>个数找最大值。</a:t>
            </a:r>
            <a:endParaRPr lang="zh-CN" altLang="en-US" dirty="0">
              <a:solidFill>
                <a:schemeClr val="bg2"/>
              </a:solidFill>
              <a:latin typeface="+mj-ea"/>
              <a:ea typeface="+mj-ea"/>
              <a:cs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p:nvPr/>
        </p:nvSpPr>
        <p:spPr>
          <a:xfrm>
            <a:off x="250825" y="333375"/>
            <a:ext cx="7772400" cy="685800"/>
          </a:xfrm>
          <a:prstGeom prst="rect">
            <a:avLst/>
          </a:prstGeom>
          <a:noFill/>
          <a:ln w="9525">
            <a:noFill/>
          </a:ln>
        </p:spPr>
        <p:txBody>
          <a:bodyPr anchor="ctr"/>
          <a:lstStyle/>
          <a:p>
            <a:endParaRPr lang="zh-CN" altLang="en-US" sz="3600" b="1" dirty="0">
              <a:solidFill>
                <a:schemeClr val="accent1"/>
              </a:solidFill>
              <a:latin typeface="Times New Roman" panose="02020603050405020304" pitchFamily="18" charset="0"/>
              <a:ea typeface="楷体_GB2312" pitchFamily="49" charset="-122"/>
            </a:endParaRPr>
          </a:p>
        </p:txBody>
      </p:sp>
      <p:sp>
        <p:nvSpPr>
          <p:cNvPr id="150534" name="Text Box 6"/>
          <p:cNvSpPr txBox="1">
            <a:spLocks noChangeArrowheads="1"/>
          </p:cNvSpPr>
          <p:nvPr/>
        </p:nvSpPr>
        <p:spPr bwMode="auto">
          <a:xfrm>
            <a:off x="395519" y="1936182"/>
            <a:ext cx="7848889" cy="917513"/>
          </a:xfrm>
          <a:prstGeom prst="rect">
            <a:avLst/>
          </a:prstGeom>
        </p:spPr>
        <p:style>
          <a:lnRef idx="2">
            <a:schemeClr val="accent2"/>
          </a:lnRef>
          <a:fillRef idx="1">
            <a:schemeClr val="lt1"/>
          </a:fillRef>
          <a:effectRef idx="0">
            <a:schemeClr val="accent2"/>
          </a:effectRef>
          <a:fontRef idx="minor">
            <a:schemeClr val="dk1"/>
          </a:fontRef>
        </p:style>
        <p:txBody>
          <a:bodyPr wrap="square" lIns="144000" tIns="180000" bIns="180000">
            <a:spAutoFit/>
          </a:bodyPr>
          <a:lstStyle/>
          <a:p>
            <a:pPr indent="-342900">
              <a:lnSpc>
                <a:spcPct val="150000"/>
              </a:lnSpc>
            </a:pPr>
            <a:r>
              <a:rPr lang="zh-CN" altLang="en-US" dirty="0" smtClean="0">
                <a:solidFill>
                  <a:schemeClr val="bg2"/>
                </a:solidFill>
                <a:latin typeface="+mn-ea"/>
                <a:cs typeface="Consolas" panose="020B0609020204030204" pitchFamily="49" charset="0"/>
              </a:rPr>
              <a:t>特征</a:t>
            </a:r>
            <a:r>
              <a:rPr lang="en-US" altLang="zh-CN" dirty="0" smtClean="0">
                <a:solidFill>
                  <a:schemeClr val="bg2"/>
                </a:solidFill>
                <a:latin typeface="+mn-ea"/>
                <a:cs typeface="Consolas" panose="020B0609020204030204" pitchFamily="49" charset="0"/>
              </a:rPr>
              <a:t>2</a:t>
            </a:r>
            <a:r>
              <a:rPr lang="zh-CN" altLang="en-US" dirty="0" smtClean="0">
                <a:solidFill>
                  <a:schemeClr val="bg2"/>
                </a:solidFill>
                <a:latin typeface="+mn-ea"/>
                <a:cs typeface="Consolas" panose="020B0609020204030204" pitchFamily="49" charset="0"/>
              </a:rPr>
              <a:t>：</a:t>
            </a:r>
            <a:r>
              <a:rPr lang="zh-CN" altLang="en-US" dirty="0">
                <a:solidFill>
                  <a:schemeClr val="bg2"/>
                </a:solidFill>
                <a:latin typeface="+mn-ea"/>
                <a:cs typeface="Consolas" panose="020B0609020204030204" pitchFamily="49" charset="0"/>
              </a:rPr>
              <a:t>该问题可以分解为若干个规模较小的相同问题</a:t>
            </a:r>
            <a:r>
              <a:rPr lang="zh-CN" altLang="en-US" dirty="0" smtClean="0">
                <a:solidFill>
                  <a:schemeClr val="bg2"/>
                </a:solidFill>
                <a:latin typeface="+mn-ea"/>
                <a:cs typeface="Consolas" panose="020B0609020204030204" pitchFamily="49" charset="0"/>
              </a:rPr>
              <a:t>。</a:t>
            </a:r>
            <a:endParaRPr lang="zh-CN" altLang="en-US" dirty="0">
              <a:solidFill>
                <a:schemeClr val="bg2"/>
              </a:solidFill>
              <a:latin typeface="+mn-ea"/>
              <a:cs typeface="Consolas" panose="020B0609020204030204" pitchFamily="49" charset="0"/>
            </a:endParaRPr>
          </a:p>
        </p:txBody>
      </p:sp>
      <p:sp>
        <p:nvSpPr>
          <p:cNvPr id="7" name="Rectangle 4"/>
          <p:cNvSpPr>
            <a:spLocks noGrp="1"/>
          </p:cNvSpPr>
          <p:nvPr>
            <p:ph type="title"/>
          </p:nvPr>
        </p:nvSpPr>
        <p:spPr>
          <a:xfrm>
            <a:off x="381000" y="333375"/>
            <a:ext cx="7772400" cy="809625"/>
          </a:xfrm>
        </p:spPr>
        <p:txBody>
          <a:bodyPr vert="horz" wrap="square" lIns="92075" tIns="46038" rIns="92075" bIns="46038" anchor="b"/>
          <a:lstStyle/>
          <a:p>
            <a:r>
              <a:rPr kumimoji="0" lang="en-US" sz="4000" kern="1200" noProof="0" dirty="0" smtClean="0">
                <a:ln>
                  <a:noFill/>
                </a:ln>
                <a:solidFill>
                  <a:schemeClr val="accent2"/>
                </a:solidFill>
                <a:effectLst/>
                <a:uLnTx/>
                <a:uFillTx/>
                <a:sym typeface="+mn-ea"/>
              </a:rPr>
              <a:t>2.1 </a:t>
            </a:r>
            <a:r>
              <a:rPr kumimoji="0" lang="zh-CN" altLang="en-US" sz="4000" kern="1200" noProof="0" dirty="0" smtClean="0">
                <a:ln>
                  <a:noFill/>
                </a:ln>
                <a:solidFill>
                  <a:schemeClr val="accent2"/>
                </a:solidFill>
                <a:effectLst/>
                <a:uLnTx/>
                <a:uFillTx/>
                <a:sym typeface="+mn-ea"/>
              </a:rPr>
              <a:t>分治策略的基本思想</a:t>
            </a:r>
            <a:endParaRPr lang="zh-CN" altLang="en-US" sz="4000" dirty="0">
              <a:solidFill>
                <a:schemeClr val="bg2"/>
              </a:solidFill>
              <a:latin typeface="楷体_GB2312" pitchFamily="49" charset="-122"/>
              <a:ea typeface="楷体_GB2312" pitchFamily="49" charset="-122"/>
            </a:endParaRPr>
          </a:p>
        </p:txBody>
      </p:sp>
      <p:sp>
        <p:nvSpPr>
          <p:cNvPr id="6" name="Text Box 6"/>
          <p:cNvSpPr txBox="1">
            <a:spLocks noChangeArrowheads="1"/>
          </p:cNvSpPr>
          <p:nvPr/>
        </p:nvSpPr>
        <p:spPr bwMode="auto">
          <a:xfrm>
            <a:off x="327720" y="2875396"/>
            <a:ext cx="8424863" cy="2025509"/>
          </a:xfrm>
          <a:prstGeom prst="rect">
            <a:avLst/>
          </a:prstGeom>
          <a:ln>
            <a:noFill/>
          </a:ln>
        </p:spPr>
        <p:style>
          <a:lnRef idx="2">
            <a:schemeClr val="accent2"/>
          </a:lnRef>
          <a:fillRef idx="1">
            <a:schemeClr val="lt1"/>
          </a:fillRef>
          <a:effectRef idx="0">
            <a:schemeClr val="accent2"/>
          </a:effectRef>
          <a:fontRef idx="minor">
            <a:schemeClr val="dk1"/>
          </a:fontRef>
        </p:style>
        <p:txBody>
          <a:bodyPr lIns="144000" tIns="180000" bIns="180000">
            <a:spAutoFit/>
          </a:bodyPr>
          <a:lstStyle/>
          <a:p>
            <a:pPr indent="-342900">
              <a:lnSpc>
                <a:spcPct val="150000"/>
              </a:lnSpc>
            </a:pPr>
            <a:r>
              <a:rPr lang="zh-CN" altLang="en-US" dirty="0" smtClean="0">
                <a:solidFill>
                  <a:schemeClr val="bg2"/>
                </a:solidFill>
                <a:latin typeface="+mn-ea"/>
                <a:cs typeface="Consolas" panose="020B0609020204030204" pitchFamily="49" charset="0"/>
              </a:rPr>
              <a:t>说明：该特征是使用分治法的前提，它也是大多数问题可以满足的，此特征反映了递归思想的应用。例如：分治法求最大、最小的实现。</a:t>
            </a:r>
            <a:endParaRPr lang="zh-CN" altLang="en-US" dirty="0">
              <a:solidFill>
                <a:schemeClr val="bg2"/>
              </a:solidFill>
              <a:latin typeface="+mn-ea"/>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p:nvPr/>
        </p:nvSpPr>
        <p:spPr>
          <a:xfrm>
            <a:off x="250825" y="333375"/>
            <a:ext cx="7772400" cy="685800"/>
          </a:xfrm>
          <a:prstGeom prst="rect">
            <a:avLst/>
          </a:prstGeom>
          <a:noFill/>
          <a:ln w="9525">
            <a:noFill/>
          </a:ln>
        </p:spPr>
        <p:txBody>
          <a:bodyPr anchor="ctr"/>
          <a:lstStyle/>
          <a:p>
            <a:endParaRPr lang="zh-CN" altLang="en-US" sz="3600" b="1" dirty="0">
              <a:solidFill>
                <a:schemeClr val="accent1"/>
              </a:solidFill>
              <a:latin typeface="Times New Roman" panose="02020603050405020304" pitchFamily="18" charset="0"/>
              <a:ea typeface="楷体_GB2312" pitchFamily="49" charset="-122"/>
            </a:endParaRPr>
          </a:p>
        </p:txBody>
      </p:sp>
      <p:sp>
        <p:nvSpPr>
          <p:cNvPr id="150534" name="Text Box 6"/>
          <p:cNvSpPr txBox="1">
            <a:spLocks noChangeArrowheads="1"/>
          </p:cNvSpPr>
          <p:nvPr/>
        </p:nvSpPr>
        <p:spPr bwMode="auto">
          <a:xfrm>
            <a:off x="359410" y="1916832"/>
            <a:ext cx="8424863" cy="1323779"/>
          </a:xfrm>
          <a:prstGeom prst="rect">
            <a:avLst/>
          </a:prstGeom>
        </p:spPr>
        <p:style>
          <a:lnRef idx="2">
            <a:schemeClr val="accent2"/>
          </a:lnRef>
          <a:fillRef idx="1">
            <a:schemeClr val="lt1"/>
          </a:fillRef>
          <a:effectRef idx="0">
            <a:schemeClr val="accent2"/>
          </a:effectRef>
          <a:fontRef idx="minor">
            <a:schemeClr val="dk1"/>
          </a:fontRef>
        </p:style>
        <p:txBody>
          <a:bodyPr lIns="144000" tIns="180000" bIns="180000">
            <a:spAutoFit/>
          </a:bodyPr>
          <a:lstStyle/>
          <a:p>
            <a:pPr indent="-342900">
              <a:lnSpc>
                <a:spcPct val="130000"/>
              </a:lnSpc>
            </a:pPr>
            <a:r>
              <a:rPr lang="zh-CN" altLang="en-US" dirty="0" smtClean="0">
                <a:solidFill>
                  <a:schemeClr val="bg2"/>
                </a:solidFill>
                <a:latin typeface="+mn-ea"/>
                <a:cs typeface="Consolas" panose="020B0609020204030204" pitchFamily="49" charset="0"/>
              </a:rPr>
              <a:t>特征</a:t>
            </a:r>
            <a:r>
              <a:rPr lang="en-US" altLang="zh-CN" dirty="0" smtClean="0">
                <a:solidFill>
                  <a:schemeClr val="bg2"/>
                </a:solidFill>
                <a:latin typeface="+mn-ea"/>
                <a:cs typeface="Consolas" panose="020B0609020204030204" pitchFamily="49" charset="0"/>
              </a:rPr>
              <a:t>3</a:t>
            </a:r>
            <a:r>
              <a:rPr lang="zh-CN" altLang="en-US" dirty="0" smtClean="0">
                <a:solidFill>
                  <a:schemeClr val="bg2"/>
                </a:solidFill>
                <a:latin typeface="+mn-ea"/>
                <a:cs typeface="Consolas" panose="020B0609020204030204" pitchFamily="49" charset="0"/>
              </a:rPr>
              <a:t>：利用</a:t>
            </a:r>
            <a:r>
              <a:rPr lang="zh-CN" altLang="en-US" dirty="0">
                <a:solidFill>
                  <a:schemeClr val="bg2"/>
                </a:solidFill>
                <a:latin typeface="+mn-ea"/>
                <a:cs typeface="Consolas" panose="020B0609020204030204" pitchFamily="49" charset="0"/>
              </a:rPr>
              <a:t>该问题分解出的子问题的解可以合并为该问题的解</a:t>
            </a:r>
            <a:r>
              <a:rPr lang="zh-CN" altLang="en-US" dirty="0" smtClean="0">
                <a:solidFill>
                  <a:schemeClr val="bg2"/>
                </a:solidFill>
                <a:latin typeface="+mn-ea"/>
                <a:cs typeface="Consolas" panose="020B0609020204030204" pitchFamily="49" charset="0"/>
              </a:rPr>
              <a:t>。</a:t>
            </a:r>
            <a:endParaRPr lang="zh-CN" altLang="en-US" dirty="0">
              <a:solidFill>
                <a:schemeClr val="bg2"/>
              </a:solidFill>
              <a:latin typeface="+mn-ea"/>
              <a:cs typeface="Consolas" panose="020B0609020204030204" pitchFamily="49" charset="0"/>
            </a:endParaRPr>
          </a:p>
        </p:txBody>
      </p:sp>
      <p:sp>
        <p:nvSpPr>
          <p:cNvPr id="7" name="Rectangle 4"/>
          <p:cNvSpPr>
            <a:spLocks noGrp="1"/>
          </p:cNvSpPr>
          <p:nvPr>
            <p:ph type="title"/>
          </p:nvPr>
        </p:nvSpPr>
        <p:spPr>
          <a:xfrm>
            <a:off x="381000" y="333375"/>
            <a:ext cx="7772400" cy="809625"/>
          </a:xfrm>
        </p:spPr>
        <p:txBody>
          <a:bodyPr vert="horz" wrap="square" lIns="92075" tIns="46038" rIns="92075" bIns="46038" anchor="b"/>
          <a:lstStyle/>
          <a:p>
            <a:r>
              <a:rPr kumimoji="0" lang="en-US" sz="4000" kern="1200" noProof="0" dirty="0" smtClean="0">
                <a:ln>
                  <a:noFill/>
                </a:ln>
                <a:solidFill>
                  <a:schemeClr val="accent2"/>
                </a:solidFill>
                <a:effectLst/>
                <a:uLnTx/>
                <a:uFillTx/>
                <a:sym typeface="+mn-ea"/>
              </a:rPr>
              <a:t>2.1 </a:t>
            </a:r>
            <a:r>
              <a:rPr kumimoji="0" lang="zh-CN" altLang="en-US" sz="4000" kern="1200" noProof="0" dirty="0" smtClean="0">
                <a:ln>
                  <a:noFill/>
                </a:ln>
                <a:solidFill>
                  <a:schemeClr val="accent2"/>
                </a:solidFill>
                <a:effectLst/>
                <a:uLnTx/>
                <a:uFillTx/>
                <a:sym typeface="+mn-ea"/>
              </a:rPr>
              <a:t>分治策略的基本思想</a:t>
            </a:r>
            <a:endParaRPr lang="zh-CN" altLang="en-US" sz="4000" dirty="0">
              <a:solidFill>
                <a:schemeClr val="bg2"/>
              </a:solidFill>
              <a:latin typeface="楷体_GB2312" pitchFamily="49" charset="-122"/>
              <a:ea typeface="楷体_GB2312" pitchFamily="49" charset="-122"/>
            </a:endParaRPr>
          </a:p>
        </p:txBody>
      </p:sp>
      <p:sp>
        <p:nvSpPr>
          <p:cNvPr id="6" name="Text Box 6"/>
          <p:cNvSpPr txBox="1">
            <a:spLocks noChangeArrowheads="1"/>
          </p:cNvSpPr>
          <p:nvPr/>
        </p:nvSpPr>
        <p:spPr bwMode="auto">
          <a:xfrm>
            <a:off x="395609" y="3356992"/>
            <a:ext cx="8424863" cy="2579507"/>
          </a:xfrm>
          <a:prstGeom prst="rect">
            <a:avLst/>
          </a:prstGeom>
          <a:ln>
            <a:noFill/>
          </a:ln>
        </p:spPr>
        <p:style>
          <a:lnRef idx="2">
            <a:schemeClr val="accent2"/>
          </a:lnRef>
          <a:fillRef idx="1">
            <a:schemeClr val="lt1"/>
          </a:fillRef>
          <a:effectRef idx="0">
            <a:schemeClr val="accent2"/>
          </a:effectRef>
          <a:fontRef idx="minor">
            <a:schemeClr val="dk1"/>
          </a:fontRef>
        </p:style>
        <p:txBody>
          <a:bodyPr lIns="144000" tIns="180000" bIns="180000">
            <a:spAutoFit/>
          </a:bodyPr>
          <a:lstStyle/>
          <a:p>
            <a:pPr indent="-342900" algn="just">
              <a:lnSpc>
                <a:spcPct val="150000"/>
              </a:lnSpc>
            </a:pPr>
            <a:r>
              <a:rPr lang="zh-CN" altLang="en-US" dirty="0" smtClean="0">
                <a:solidFill>
                  <a:schemeClr val="bg2"/>
                </a:solidFill>
                <a:latin typeface="+mn-ea"/>
                <a:cs typeface="Consolas" panose="020B0609020204030204" pitchFamily="49" charset="0"/>
              </a:rPr>
              <a:t>说明：特征</a:t>
            </a:r>
            <a:r>
              <a:rPr lang="en-US" altLang="zh-CN" dirty="0" smtClean="0">
                <a:solidFill>
                  <a:schemeClr val="bg2"/>
                </a:solidFill>
                <a:latin typeface="+mn-ea"/>
                <a:cs typeface="Consolas" panose="020B0609020204030204" pitchFamily="49" charset="0"/>
              </a:rPr>
              <a:t>3</a:t>
            </a:r>
            <a:r>
              <a:rPr lang="zh-CN" altLang="en-US" dirty="0" smtClean="0">
                <a:solidFill>
                  <a:schemeClr val="bg2"/>
                </a:solidFill>
                <a:latin typeface="+mn-ea"/>
                <a:cs typeface="Consolas" panose="020B0609020204030204" pitchFamily="49" charset="0"/>
              </a:rPr>
              <a:t>是关键。能否使用分治法完全取决于该问题是否通过子问题解的合并构成整个问题的解。如果某问题具备了特征</a:t>
            </a:r>
            <a:r>
              <a:rPr lang="en-US" altLang="zh-CN" dirty="0" smtClean="0">
                <a:solidFill>
                  <a:schemeClr val="bg2"/>
                </a:solidFill>
                <a:latin typeface="+mn-ea"/>
                <a:cs typeface="Consolas" panose="020B0609020204030204" pitchFamily="49" charset="0"/>
              </a:rPr>
              <a:t>1</a:t>
            </a:r>
            <a:r>
              <a:rPr lang="zh-CN" altLang="en-US" dirty="0" smtClean="0">
                <a:solidFill>
                  <a:schemeClr val="bg2"/>
                </a:solidFill>
                <a:latin typeface="+mn-ea"/>
                <a:cs typeface="Consolas" panose="020B0609020204030204" pitchFamily="49" charset="0"/>
              </a:rPr>
              <a:t>、</a:t>
            </a:r>
            <a:r>
              <a:rPr lang="en-US" altLang="zh-CN" dirty="0" smtClean="0">
                <a:solidFill>
                  <a:schemeClr val="bg2"/>
                </a:solidFill>
                <a:latin typeface="+mn-ea"/>
                <a:cs typeface="Consolas" panose="020B0609020204030204" pitchFamily="49" charset="0"/>
              </a:rPr>
              <a:t>2</a:t>
            </a:r>
            <a:r>
              <a:rPr lang="zh-CN" altLang="en-US" dirty="0" smtClean="0">
                <a:solidFill>
                  <a:schemeClr val="bg2"/>
                </a:solidFill>
                <a:latin typeface="+mn-ea"/>
                <a:cs typeface="Consolas" panose="020B0609020204030204" pitchFamily="49" charset="0"/>
              </a:rPr>
              <a:t>，而不具备特征</a:t>
            </a:r>
            <a:r>
              <a:rPr lang="en-US" altLang="zh-CN" dirty="0" smtClean="0">
                <a:solidFill>
                  <a:schemeClr val="bg2"/>
                </a:solidFill>
                <a:latin typeface="+mn-ea"/>
                <a:cs typeface="Consolas" panose="020B0609020204030204" pitchFamily="49" charset="0"/>
              </a:rPr>
              <a:t>3</a:t>
            </a:r>
            <a:r>
              <a:rPr lang="zh-CN" altLang="en-US" dirty="0" smtClean="0">
                <a:solidFill>
                  <a:schemeClr val="bg2"/>
                </a:solidFill>
                <a:latin typeface="+mn-ea"/>
                <a:cs typeface="Consolas" panose="020B0609020204030204" pitchFamily="49" charset="0"/>
              </a:rPr>
              <a:t>，则可以考虑使用贪心算法或动态规划法。</a:t>
            </a:r>
            <a:endParaRPr lang="en-US" altLang="zh-CN" dirty="0" smtClean="0">
              <a:solidFill>
                <a:schemeClr val="bg2"/>
              </a:solidFill>
              <a:latin typeface="+mn-ea"/>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p:nvPr/>
        </p:nvSpPr>
        <p:spPr>
          <a:xfrm>
            <a:off x="250825" y="333375"/>
            <a:ext cx="7772400" cy="685800"/>
          </a:xfrm>
          <a:prstGeom prst="rect">
            <a:avLst/>
          </a:prstGeom>
          <a:noFill/>
          <a:ln w="9525">
            <a:noFill/>
          </a:ln>
        </p:spPr>
        <p:txBody>
          <a:bodyPr anchor="ctr"/>
          <a:lstStyle/>
          <a:p>
            <a:endParaRPr lang="zh-CN" altLang="en-US" sz="3600" b="1" dirty="0">
              <a:solidFill>
                <a:schemeClr val="accent1"/>
              </a:solidFill>
              <a:latin typeface="Times New Roman" panose="02020603050405020304" pitchFamily="18" charset="0"/>
              <a:ea typeface="楷体_GB2312" pitchFamily="49" charset="-122"/>
            </a:endParaRPr>
          </a:p>
        </p:txBody>
      </p:sp>
      <p:sp>
        <p:nvSpPr>
          <p:cNvPr id="150534" name="Text Box 6"/>
          <p:cNvSpPr txBox="1">
            <a:spLocks noChangeArrowheads="1"/>
          </p:cNvSpPr>
          <p:nvPr/>
        </p:nvSpPr>
        <p:spPr bwMode="auto">
          <a:xfrm>
            <a:off x="286385" y="1747029"/>
            <a:ext cx="8424863" cy="1323779"/>
          </a:xfrm>
          <a:prstGeom prst="rect">
            <a:avLst/>
          </a:prstGeom>
        </p:spPr>
        <p:style>
          <a:lnRef idx="2">
            <a:schemeClr val="accent2"/>
          </a:lnRef>
          <a:fillRef idx="1">
            <a:schemeClr val="lt1"/>
          </a:fillRef>
          <a:effectRef idx="0">
            <a:schemeClr val="accent2"/>
          </a:effectRef>
          <a:fontRef idx="minor">
            <a:schemeClr val="dk1"/>
          </a:fontRef>
        </p:style>
        <p:txBody>
          <a:bodyPr lIns="144000" tIns="180000" bIns="180000">
            <a:spAutoFit/>
          </a:bodyPr>
          <a:lstStyle/>
          <a:p>
            <a:pPr indent="-342900">
              <a:lnSpc>
                <a:spcPct val="130000"/>
              </a:lnSpc>
            </a:pPr>
            <a:r>
              <a:rPr lang="zh-CN" altLang="en-US" dirty="0" smtClean="0">
                <a:solidFill>
                  <a:schemeClr val="bg2"/>
                </a:solidFill>
                <a:latin typeface="+mn-ea"/>
                <a:cs typeface="Consolas" panose="020B0609020204030204" pitchFamily="49" charset="0"/>
              </a:rPr>
              <a:t>特征</a:t>
            </a:r>
            <a:r>
              <a:rPr lang="en-US" altLang="zh-CN" dirty="0" smtClean="0">
                <a:solidFill>
                  <a:schemeClr val="bg2"/>
                </a:solidFill>
                <a:latin typeface="+mn-ea"/>
                <a:cs typeface="Consolas" panose="020B0609020204030204" pitchFamily="49" charset="0"/>
              </a:rPr>
              <a:t>4</a:t>
            </a:r>
            <a:r>
              <a:rPr lang="zh-CN" altLang="en-US" dirty="0" smtClean="0">
                <a:solidFill>
                  <a:schemeClr val="bg2"/>
                </a:solidFill>
                <a:latin typeface="+mn-ea"/>
                <a:cs typeface="Consolas" panose="020B0609020204030204" pitchFamily="49" charset="0"/>
              </a:rPr>
              <a:t>：该</a:t>
            </a:r>
            <a:r>
              <a:rPr lang="zh-CN" altLang="en-US" dirty="0">
                <a:solidFill>
                  <a:schemeClr val="bg2"/>
                </a:solidFill>
                <a:latin typeface="+mn-ea"/>
                <a:cs typeface="Consolas" panose="020B0609020204030204" pitchFamily="49" charset="0"/>
              </a:rPr>
              <a:t>问题所分解出的各个子问题是相互独立</a:t>
            </a:r>
            <a:r>
              <a:rPr lang="zh-CN" altLang="en-US" dirty="0" smtClean="0">
                <a:solidFill>
                  <a:schemeClr val="bg2"/>
                </a:solidFill>
                <a:latin typeface="+mn-ea"/>
                <a:cs typeface="Consolas" panose="020B0609020204030204" pitchFamily="49" charset="0"/>
              </a:rPr>
              <a:t>的，即</a:t>
            </a:r>
            <a:r>
              <a:rPr lang="zh-CN" altLang="en-US" dirty="0">
                <a:solidFill>
                  <a:schemeClr val="bg2"/>
                </a:solidFill>
                <a:latin typeface="+mn-ea"/>
                <a:cs typeface="Consolas" panose="020B0609020204030204" pitchFamily="49" charset="0"/>
              </a:rPr>
              <a:t>子问题之间不包含公共的子问题。</a:t>
            </a:r>
            <a:endParaRPr lang="zh-CN" altLang="en-US" dirty="0">
              <a:solidFill>
                <a:schemeClr val="bg2"/>
              </a:solidFill>
              <a:latin typeface="+mn-ea"/>
              <a:cs typeface="Consolas" panose="020B0609020204030204" pitchFamily="49" charset="0"/>
            </a:endParaRPr>
          </a:p>
        </p:txBody>
      </p:sp>
      <p:sp>
        <p:nvSpPr>
          <p:cNvPr id="7" name="Rectangle 4"/>
          <p:cNvSpPr>
            <a:spLocks noGrp="1"/>
          </p:cNvSpPr>
          <p:nvPr>
            <p:ph type="title"/>
          </p:nvPr>
        </p:nvSpPr>
        <p:spPr>
          <a:xfrm>
            <a:off x="381000" y="333375"/>
            <a:ext cx="7772400" cy="809625"/>
          </a:xfrm>
        </p:spPr>
        <p:txBody>
          <a:bodyPr vert="horz" wrap="square" lIns="92075" tIns="46038" rIns="92075" bIns="46038" anchor="b"/>
          <a:lstStyle/>
          <a:p>
            <a:r>
              <a:rPr kumimoji="0" lang="en-US" sz="4000" kern="1200" noProof="0" dirty="0" smtClean="0">
                <a:ln>
                  <a:noFill/>
                </a:ln>
                <a:solidFill>
                  <a:schemeClr val="accent2"/>
                </a:solidFill>
                <a:effectLst/>
                <a:uLnTx/>
                <a:uFillTx/>
                <a:sym typeface="+mn-ea"/>
              </a:rPr>
              <a:t>2.1 </a:t>
            </a:r>
            <a:r>
              <a:rPr kumimoji="0" lang="zh-CN" altLang="en-US" sz="4000" kern="1200" noProof="0" dirty="0" smtClean="0">
                <a:ln>
                  <a:noFill/>
                </a:ln>
                <a:solidFill>
                  <a:schemeClr val="accent2"/>
                </a:solidFill>
                <a:effectLst/>
                <a:uLnTx/>
                <a:uFillTx/>
                <a:sym typeface="+mn-ea"/>
              </a:rPr>
              <a:t>分治策略的基本思想</a:t>
            </a:r>
            <a:endParaRPr lang="zh-CN" altLang="en-US" sz="4000" dirty="0">
              <a:solidFill>
                <a:schemeClr val="bg2"/>
              </a:solidFill>
              <a:latin typeface="楷体_GB2312" pitchFamily="49" charset="-122"/>
              <a:ea typeface="楷体_GB2312" pitchFamily="49" charset="-122"/>
            </a:endParaRPr>
          </a:p>
        </p:txBody>
      </p:sp>
      <p:sp>
        <p:nvSpPr>
          <p:cNvPr id="6" name="Text Box 6"/>
          <p:cNvSpPr txBox="1">
            <a:spLocks noChangeArrowheads="1"/>
          </p:cNvSpPr>
          <p:nvPr/>
        </p:nvSpPr>
        <p:spPr bwMode="auto">
          <a:xfrm>
            <a:off x="325874" y="3214241"/>
            <a:ext cx="8424863" cy="1938947"/>
          </a:xfrm>
          <a:prstGeom prst="rect">
            <a:avLst/>
          </a:prstGeom>
          <a:ln>
            <a:noFill/>
          </a:ln>
        </p:spPr>
        <p:style>
          <a:lnRef idx="2">
            <a:schemeClr val="accent2"/>
          </a:lnRef>
          <a:fillRef idx="1">
            <a:schemeClr val="lt1"/>
          </a:fillRef>
          <a:effectRef idx="0">
            <a:schemeClr val="accent2"/>
          </a:effectRef>
          <a:fontRef idx="minor">
            <a:schemeClr val="dk1"/>
          </a:fontRef>
        </p:style>
        <p:txBody>
          <a:bodyPr lIns="144000" tIns="180000" bIns="180000">
            <a:spAutoFit/>
          </a:bodyPr>
          <a:lstStyle/>
          <a:p>
            <a:pPr indent="-342900" algn="just">
              <a:lnSpc>
                <a:spcPct val="150000"/>
              </a:lnSpc>
            </a:pPr>
            <a:r>
              <a:rPr lang="zh-CN" altLang="en-US" dirty="0" smtClean="0">
                <a:solidFill>
                  <a:schemeClr val="bg2"/>
                </a:solidFill>
                <a:latin typeface="+mn-ea"/>
                <a:cs typeface="Consolas" panose="020B0609020204030204" pitchFamily="49" charset="0"/>
              </a:rPr>
              <a:t>说明：特征</a:t>
            </a:r>
            <a:r>
              <a:rPr lang="en-US" altLang="zh-CN" dirty="0" smtClean="0">
                <a:solidFill>
                  <a:schemeClr val="bg2"/>
                </a:solidFill>
                <a:latin typeface="+mn-ea"/>
                <a:cs typeface="Consolas" panose="020B0609020204030204" pitchFamily="49" charset="0"/>
              </a:rPr>
              <a:t>4</a:t>
            </a:r>
            <a:r>
              <a:rPr lang="zh-CN" altLang="en-US" dirty="0" smtClean="0">
                <a:solidFill>
                  <a:schemeClr val="bg2"/>
                </a:solidFill>
                <a:latin typeface="+mn-ea"/>
                <a:cs typeface="Consolas" panose="020B0609020204030204" pitchFamily="49" charset="0"/>
              </a:rPr>
              <a:t>涉及分治的效率，如果各子问题是不独立的则分治要做许多不必要的工作，重复的解公共的子问题，此时虽然可用分治法，但一般使用动态规划较好。</a:t>
            </a:r>
            <a:endParaRPr lang="en-US" altLang="zh-CN" dirty="0" smtClean="0">
              <a:solidFill>
                <a:schemeClr val="bg2"/>
              </a:solidFill>
              <a:latin typeface="+mn-ea"/>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p:nvPr/>
        </p:nvSpPr>
        <p:spPr>
          <a:xfrm>
            <a:off x="250825" y="333375"/>
            <a:ext cx="7772400" cy="685800"/>
          </a:xfrm>
          <a:prstGeom prst="rect">
            <a:avLst/>
          </a:prstGeom>
          <a:noFill/>
          <a:ln w="9525">
            <a:noFill/>
          </a:ln>
        </p:spPr>
        <p:txBody>
          <a:bodyPr anchor="ctr"/>
          <a:lstStyle/>
          <a:p>
            <a:endParaRPr lang="zh-CN" altLang="en-US" sz="3600" b="1" dirty="0">
              <a:solidFill>
                <a:schemeClr val="accent1"/>
              </a:solidFill>
              <a:latin typeface="Times New Roman" panose="02020603050405020304" pitchFamily="18" charset="0"/>
              <a:ea typeface="楷体_GB2312" pitchFamily="49" charset="-122"/>
            </a:endParaRPr>
          </a:p>
        </p:txBody>
      </p:sp>
      <p:sp>
        <p:nvSpPr>
          <p:cNvPr id="204802" name="Text Box 2"/>
          <p:cNvSpPr txBox="1">
            <a:spLocks noChangeArrowheads="1"/>
          </p:cNvSpPr>
          <p:nvPr/>
        </p:nvSpPr>
        <p:spPr bwMode="auto">
          <a:xfrm>
            <a:off x="323528" y="1700808"/>
            <a:ext cx="8324524" cy="2973122"/>
          </a:xfrm>
          <a:prstGeom prst="rect">
            <a:avLst/>
          </a:prstGeom>
          <a:noFill/>
          <a:ln w="9525">
            <a:noFill/>
            <a:miter lim="800000"/>
          </a:ln>
          <a:effectLst/>
        </p:spPr>
        <p:txBody>
          <a:bodyPr wrap="square">
            <a:spAutoFit/>
          </a:bodyPr>
          <a:lstStyle/>
          <a:p>
            <a:pPr marL="342900" indent="-342900">
              <a:lnSpc>
                <a:spcPct val="130000"/>
              </a:lnSpc>
              <a:spcBef>
                <a:spcPts val="0"/>
              </a:spcBef>
              <a:buFont typeface="Wingdings" panose="05000000000000000000" pitchFamily="2" charset="2"/>
              <a:buChar char="l"/>
            </a:pPr>
            <a:r>
              <a:rPr lang="zh-CN" altLang="en-US" dirty="0" smtClean="0">
                <a:solidFill>
                  <a:schemeClr val="bg2"/>
                </a:solidFill>
                <a:latin typeface="+mj-ea"/>
                <a:ea typeface="+mj-ea"/>
                <a:cs typeface="Consolas" panose="020B0609020204030204" pitchFamily="49" charset="0"/>
              </a:rPr>
              <a:t>根据</a:t>
            </a:r>
            <a:r>
              <a:rPr lang="zh-CN" altLang="en-US" dirty="0">
                <a:solidFill>
                  <a:schemeClr val="bg2"/>
                </a:solidFill>
                <a:latin typeface="+mj-ea"/>
                <a:ea typeface="+mj-ea"/>
                <a:cs typeface="Consolas" panose="020B0609020204030204" pitchFamily="49" charset="0"/>
              </a:rPr>
              <a:t>分治法的分割原</a:t>
            </a:r>
            <a:r>
              <a:rPr lang="zh-CN" altLang="en-US" dirty="0" smtClean="0">
                <a:solidFill>
                  <a:schemeClr val="bg2"/>
                </a:solidFill>
                <a:latin typeface="+mj-ea"/>
                <a:ea typeface="+mj-ea"/>
                <a:cs typeface="Consolas" panose="020B0609020204030204" pitchFamily="49" charset="0"/>
              </a:rPr>
              <a:t>则，原</a:t>
            </a:r>
            <a:r>
              <a:rPr lang="zh-CN" altLang="en-US" dirty="0">
                <a:solidFill>
                  <a:schemeClr val="bg2"/>
                </a:solidFill>
                <a:latin typeface="+mj-ea"/>
                <a:ea typeface="+mj-ea"/>
                <a:cs typeface="Consolas" panose="020B0609020204030204" pitchFamily="49" charset="0"/>
              </a:rPr>
              <a:t>问题应该分为多少个子问题才较适宜？各个子问题的规模应该怎样才为适当？</a:t>
            </a:r>
            <a:endParaRPr lang="zh-CN" altLang="en-US" dirty="0">
              <a:solidFill>
                <a:schemeClr val="bg2"/>
              </a:solidFill>
              <a:latin typeface="+mj-ea"/>
              <a:ea typeface="+mj-ea"/>
              <a:cs typeface="Consolas" panose="020B0609020204030204" pitchFamily="49" charset="0"/>
            </a:endParaRPr>
          </a:p>
          <a:p>
            <a:pPr>
              <a:lnSpc>
                <a:spcPct val="130000"/>
              </a:lnSpc>
              <a:spcBef>
                <a:spcPts val="0"/>
              </a:spcBef>
            </a:pPr>
            <a:r>
              <a:rPr lang="zh-CN" altLang="en-US" dirty="0" smtClean="0">
                <a:solidFill>
                  <a:schemeClr val="bg2"/>
                </a:solidFill>
                <a:latin typeface="+mj-ea"/>
                <a:ea typeface="+mj-ea"/>
                <a:cs typeface="Consolas" panose="020B0609020204030204" pitchFamily="49" charset="0"/>
              </a:rPr>
              <a:t>（</a:t>
            </a:r>
            <a:r>
              <a:rPr lang="en-US" altLang="zh-CN" dirty="0" smtClean="0">
                <a:solidFill>
                  <a:schemeClr val="bg2"/>
                </a:solidFill>
                <a:latin typeface="+mj-ea"/>
                <a:ea typeface="+mj-ea"/>
                <a:cs typeface="Consolas" panose="020B0609020204030204" pitchFamily="49" charset="0"/>
              </a:rPr>
              <a:t>1</a:t>
            </a:r>
            <a:r>
              <a:rPr lang="zh-CN" altLang="en-US" dirty="0" smtClean="0">
                <a:solidFill>
                  <a:schemeClr val="bg2"/>
                </a:solidFill>
                <a:latin typeface="+mj-ea"/>
                <a:ea typeface="+mj-ea"/>
                <a:cs typeface="Consolas" panose="020B0609020204030204" pitchFamily="49" charset="0"/>
              </a:rPr>
              <a:t>）这些</a:t>
            </a:r>
            <a:r>
              <a:rPr lang="zh-CN" altLang="en-US" dirty="0">
                <a:solidFill>
                  <a:schemeClr val="bg2"/>
                </a:solidFill>
                <a:latin typeface="+mj-ea"/>
                <a:ea typeface="+mj-ea"/>
                <a:cs typeface="Consolas" panose="020B0609020204030204" pitchFamily="49" charset="0"/>
              </a:rPr>
              <a:t>问题</a:t>
            </a:r>
            <a:r>
              <a:rPr lang="zh-CN" altLang="en-US" dirty="0" smtClean="0">
                <a:solidFill>
                  <a:schemeClr val="bg2"/>
                </a:solidFill>
                <a:latin typeface="+mj-ea"/>
                <a:ea typeface="+mj-ea"/>
                <a:cs typeface="Consolas" panose="020B0609020204030204" pitchFamily="49" charset="0"/>
              </a:rPr>
              <a:t>很难给出肯定的</a:t>
            </a:r>
            <a:r>
              <a:rPr lang="zh-CN" altLang="en-US" dirty="0">
                <a:solidFill>
                  <a:schemeClr val="bg2"/>
                </a:solidFill>
                <a:latin typeface="+mj-ea"/>
                <a:ea typeface="+mj-ea"/>
                <a:cs typeface="Consolas" panose="020B0609020204030204" pitchFamily="49" charset="0"/>
              </a:rPr>
              <a:t>回答</a:t>
            </a:r>
            <a:r>
              <a:rPr lang="zh-CN" altLang="en-US" dirty="0" smtClean="0">
                <a:solidFill>
                  <a:schemeClr val="bg2"/>
                </a:solidFill>
                <a:latin typeface="+mj-ea"/>
                <a:ea typeface="+mj-ea"/>
                <a:cs typeface="Consolas" panose="020B0609020204030204" pitchFamily="49" charset="0"/>
              </a:rPr>
              <a:t>。</a:t>
            </a:r>
            <a:endParaRPr lang="en-US" altLang="zh-CN" dirty="0" smtClean="0">
              <a:solidFill>
                <a:schemeClr val="bg2"/>
              </a:solidFill>
              <a:latin typeface="+mj-ea"/>
              <a:ea typeface="+mj-ea"/>
              <a:cs typeface="Consolas" panose="020B0609020204030204" pitchFamily="49" charset="0"/>
            </a:endParaRPr>
          </a:p>
          <a:p>
            <a:pPr>
              <a:lnSpc>
                <a:spcPct val="130000"/>
              </a:lnSpc>
              <a:spcBef>
                <a:spcPts val="0"/>
              </a:spcBef>
            </a:pPr>
            <a:r>
              <a:rPr lang="zh-CN" altLang="en-US" dirty="0" smtClean="0">
                <a:solidFill>
                  <a:schemeClr val="bg2"/>
                </a:solidFill>
                <a:latin typeface="+mj-ea"/>
                <a:ea typeface="+mj-ea"/>
                <a:cs typeface="Consolas" panose="020B0609020204030204" pitchFamily="49" charset="0"/>
              </a:rPr>
              <a:t>（</a:t>
            </a:r>
            <a:r>
              <a:rPr lang="en-US" altLang="zh-CN" dirty="0" smtClean="0">
                <a:solidFill>
                  <a:schemeClr val="bg2"/>
                </a:solidFill>
                <a:latin typeface="+mj-ea"/>
                <a:ea typeface="+mj-ea"/>
                <a:cs typeface="Consolas" panose="020B0609020204030204" pitchFamily="49" charset="0"/>
              </a:rPr>
              <a:t>2</a:t>
            </a:r>
            <a:r>
              <a:rPr lang="zh-CN" altLang="en-US" dirty="0" smtClean="0">
                <a:solidFill>
                  <a:schemeClr val="bg2"/>
                </a:solidFill>
                <a:latin typeface="+mj-ea"/>
                <a:ea typeface="+mj-ea"/>
                <a:cs typeface="Consolas" panose="020B0609020204030204" pitchFamily="49" charset="0"/>
              </a:rPr>
              <a:t>）但</a:t>
            </a:r>
            <a:r>
              <a:rPr lang="zh-CN" altLang="en-US" dirty="0">
                <a:solidFill>
                  <a:schemeClr val="bg2"/>
                </a:solidFill>
                <a:latin typeface="+mj-ea"/>
                <a:ea typeface="+mj-ea"/>
                <a:cs typeface="Consolas" panose="020B0609020204030204" pitchFamily="49" charset="0"/>
              </a:rPr>
              <a:t>人们从大量实践中发</a:t>
            </a:r>
            <a:r>
              <a:rPr lang="zh-CN" altLang="en-US" dirty="0" smtClean="0">
                <a:solidFill>
                  <a:schemeClr val="bg2"/>
                </a:solidFill>
                <a:latin typeface="+mj-ea"/>
                <a:ea typeface="+mj-ea"/>
                <a:cs typeface="Consolas" panose="020B0609020204030204" pitchFamily="49" charset="0"/>
              </a:rPr>
              <a:t>现，在</a:t>
            </a:r>
            <a:r>
              <a:rPr lang="zh-CN" altLang="en-US" dirty="0">
                <a:solidFill>
                  <a:schemeClr val="bg2"/>
                </a:solidFill>
                <a:latin typeface="+mj-ea"/>
                <a:ea typeface="+mj-ea"/>
                <a:cs typeface="Consolas" panose="020B0609020204030204" pitchFamily="49" charset="0"/>
              </a:rPr>
              <a:t>用分治法设计算法</a:t>
            </a:r>
            <a:r>
              <a:rPr lang="zh-CN" altLang="en-US" dirty="0" smtClean="0">
                <a:solidFill>
                  <a:schemeClr val="bg2"/>
                </a:solidFill>
                <a:latin typeface="+mj-ea"/>
                <a:ea typeface="+mj-ea"/>
                <a:cs typeface="Consolas" panose="020B0609020204030204" pitchFamily="49" charset="0"/>
              </a:rPr>
              <a:t>时，最</a:t>
            </a:r>
            <a:r>
              <a:rPr lang="zh-CN" altLang="en-US" dirty="0">
                <a:solidFill>
                  <a:schemeClr val="bg2"/>
                </a:solidFill>
                <a:latin typeface="+mj-ea"/>
                <a:ea typeface="+mj-ea"/>
                <a:cs typeface="Consolas" panose="020B0609020204030204" pitchFamily="49" charset="0"/>
              </a:rPr>
              <a:t>好使子问题的规模大致相同。换句话</a:t>
            </a:r>
            <a:r>
              <a:rPr lang="zh-CN" altLang="en-US" dirty="0" smtClean="0">
                <a:solidFill>
                  <a:schemeClr val="bg2"/>
                </a:solidFill>
                <a:latin typeface="+mj-ea"/>
                <a:ea typeface="+mj-ea"/>
                <a:cs typeface="Consolas" panose="020B0609020204030204" pitchFamily="49" charset="0"/>
              </a:rPr>
              <a:t>说，将</a:t>
            </a:r>
            <a:r>
              <a:rPr lang="zh-CN" altLang="en-US" dirty="0">
                <a:solidFill>
                  <a:schemeClr val="bg2"/>
                </a:solidFill>
                <a:latin typeface="+mj-ea"/>
                <a:ea typeface="+mj-ea"/>
                <a:cs typeface="Consolas" panose="020B0609020204030204" pitchFamily="49" charset="0"/>
              </a:rPr>
              <a:t>一个问题分成大小相等的</a:t>
            </a:r>
            <a:r>
              <a:rPr lang="en-US" altLang="zh-CN" i="1" dirty="0">
                <a:solidFill>
                  <a:schemeClr val="bg2"/>
                </a:solidFill>
                <a:latin typeface="+mj-ea"/>
                <a:ea typeface="+mj-ea"/>
                <a:cs typeface="Consolas" panose="020B0609020204030204" pitchFamily="49" charset="0"/>
              </a:rPr>
              <a:t>k</a:t>
            </a:r>
            <a:r>
              <a:rPr lang="zh-CN" altLang="en-US" dirty="0">
                <a:solidFill>
                  <a:schemeClr val="bg2"/>
                </a:solidFill>
                <a:latin typeface="+mj-ea"/>
                <a:ea typeface="+mj-ea"/>
                <a:cs typeface="Consolas" panose="020B0609020204030204" pitchFamily="49" charset="0"/>
              </a:rPr>
              <a:t>个子问题的处理方法是行之有效的</a:t>
            </a:r>
            <a:r>
              <a:rPr lang="zh-CN" altLang="en-US" dirty="0" smtClean="0">
                <a:solidFill>
                  <a:schemeClr val="bg2"/>
                </a:solidFill>
                <a:latin typeface="+mj-ea"/>
                <a:ea typeface="+mj-ea"/>
                <a:cs typeface="Consolas" panose="020B0609020204030204" pitchFamily="49" charset="0"/>
              </a:rPr>
              <a:t>。</a:t>
            </a:r>
            <a:endParaRPr lang="zh-CN" altLang="en-US" dirty="0">
              <a:solidFill>
                <a:schemeClr val="bg2"/>
              </a:solidFill>
              <a:latin typeface="+mj-ea"/>
              <a:ea typeface="+mj-ea"/>
              <a:cs typeface="Consolas" panose="020B0609020204030204" pitchFamily="49" charset="0"/>
            </a:endParaRPr>
          </a:p>
        </p:txBody>
      </p:sp>
      <p:sp>
        <p:nvSpPr>
          <p:cNvPr id="6" name="Text Box 2" descr="纸莎草纸"/>
          <p:cNvSpPr txBox="1">
            <a:spLocks noChangeArrowheads="1"/>
          </p:cNvSpPr>
          <p:nvPr/>
        </p:nvSpPr>
        <p:spPr bwMode="auto">
          <a:xfrm>
            <a:off x="424180" y="415290"/>
            <a:ext cx="7964805" cy="706755"/>
          </a:xfrm>
          <a:prstGeom prst="rect">
            <a:avLst/>
          </a:prstGeom>
          <a:noFill/>
          <a:ln w="9525">
            <a:noFill/>
            <a:miter lim="800000"/>
          </a:ln>
          <a:effectLst/>
          <a:extLst>
            <a:ext uri="{909E8E84-426E-40DD-AFC4-6F175D3DCCD1}">
              <a14:hiddenFill xmlns:a14="http://schemas.microsoft.com/office/drawing/2010/main">
                <a:solidFill>
                  <a:srgbClr val="00B0F0"/>
                </a:solidFill>
              </a14:hiddenFill>
            </a:ext>
          </a:extLst>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spcBef>
                <a:spcPct val="50000"/>
              </a:spcBef>
            </a:pPr>
            <a:r>
              <a:rPr lang="en-US" sz="4000" noProof="0" dirty="0" smtClean="0">
                <a:ln>
                  <a:noFill/>
                </a:ln>
                <a:solidFill>
                  <a:schemeClr val="accent2"/>
                </a:solidFill>
                <a:effectLst/>
                <a:uLnTx/>
                <a:uFillTx/>
                <a:sym typeface="+mn-ea"/>
              </a:rPr>
              <a:t>2.1 </a:t>
            </a:r>
            <a:r>
              <a:rPr lang="zh-CN" altLang="en-US" sz="4000" noProof="0" dirty="0" smtClean="0">
                <a:ln>
                  <a:noFill/>
                </a:ln>
                <a:solidFill>
                  <a:schemeClr val="accent2"/>
                </a:solidFill>
                <a:effectLst/>
                <a:uLnTx/>
                <a:uFillTx/>
                <a:sym typeface="+mn-ea"/>
              </a:rPr>
              <a:t>分治策略的基本思想</a:t>
            </a:r>
            <a:endParaRPr lang="zh-CN" altLang="en-US" sz="4000" b="1" dirty="0">
              <a:solidFill>
                <a:schemeClr val="bg2"/>
              </a:solidFill>
              <a:latin typeface="楷体_GB2312" pitchFamily="49" charset="-122"/>
              <a:ea typeface="楷体_GB2312" pitchFamily="49" charset="-122"/>
              <a:cs typeface="+mj-cs"/>
            </a:endParaRPr>
          </a:p>
        </p:txBody>
      </p:sp>
      <p:sp>
        <p:nvSpPr>
          <p:cNvPr id="3" name="矩形 2"/>
          <p:cNvSpPr/>
          <p:nvPr/>
        </p:nvSpPr>
        <p:spPr>
          <a:xfrm>
            <a:off x="611560" y="4797152"/>
            <a:ext cx="7272808" cy="461665"/>
          </a:xfrm>
          <a:prstGeom prst="rect">
            <a:avLst/>
          </a:prstGeom>
        </p:spPr>
        <p:txBody>
          <a:bodyPr wrap="square">
            <a:spAutoFit/>
          </a:bodyPr>
          <a:lstStyle/>
          <a:p>
            <a:r>
              <a:rPr lang="zh-CN" altLang="en-US" dirty="0" smtClean="0">
                <a:solidFill>
                  <a:schemeClr val="bg2"/>
                </a:solidFill>
                <a:latin typeface="Consolas" panose="020B0609020204030204" pitchFamily="49" charset="0"/>
                <a:ea typeface="楷体" panose="02010609060101010101" pitchFamily="49" charset="-122"/>
                <a:cs typeface="Consolas" panose="020B0609020204030204" pitchFamily="49" charset="0"/>
              </a:rPr>
              <a:t>当</a:t>
            </a:r>
            <a:r>
              <a:rPr lang="en-US" altLang="zh-CN" i="1" dirty="0">
                <a:solidFill>
                  <a:schemeClr val="bg2"/>
                </a:solidFill>
                <a:latin typeface="Consolas" panose="020B0609020204030204" pitchFamily="49" charset="0"/>
                <a:ea typeface="楷体" panose="02010609060101010101" pitchFamily="49" charset="-122"/>
                <a:cs typeface="Consolas" panose="020B0609020204030204" pitchFamily="49" charset="0"/>
              </a:rPr>
              <a:t>k</a:t>
            </a:r>
            <a:r>
              <a:rPr lang="en-US" altLang="zh-CN" dirty="0">
                <a:solidFill>
                  <a:schemeClr val="bg2"/>
                </a:solidFill>
                <a:latin typeface="Consolas" panose="020B0609020204030204" pitchFamily="49" charset="0"/>
                <a:ea typeface="楷体" panose="02010609060101010101" pitchFamily="49" charset="-122"/>
                <a:cs typeface="Consolas" panose="020B0609020204030204" pitchFamily="49" charset="0"/>
              </a:rPr>
              <a:t>=1</a:t>
            </a:r>
            <a:r>
              <a:rPr lang="zh-CN" altLang="en-US" dirty="0">
                <a:solidFill>
                  <a:schemeClr val="bg2"/>
                </a:solidFill>
                <a:latin typeface="Consolas" panose="020B0609020204030204" pitchFamily="49" charset="0"/>
                <a:ea typeface="楷体" panose="02010609060101010101" pitchFamily="49" charset="-122"/>
                <a:cs typeface="Consolas" panose="020B0609020204030204" pitchFamily="49" charset="0"/>
              </a:rPr>
              <a:t>时称为减治法</a:t>
            </a:r>
            <a:r>
              <a:rPr lang="zh-CN" altLang="en-US" dirty="0" smtClean="0">
                <a:solidFill>
                  <a:schemeClr val="bg2"/>
                </a:solidFill>
                <a:latin typeface="Consolas" panose="020B0609020204030204" pitchFamily="49" charset="0"/>
                <a:ea typeface="楷体" panose="02010609060101010101" pitchFamily="49" charset="-122"/>
                <a:cs typeface="Consolas" panose="020B0609020204030204" pitchFamily="49" charset="0"/>
              </a:rPr>
              <a:t>（例如：折半</a:t>
            </a:r>
            <a:r>
              <a:rPr lang="zh-CN" altLang="en-US" dirty="0">
                <a:solidFill>
                  <a:schemeClr val="bg2"/>
                </a:solidFill>
                <a:latin typeface="Consolas" panose="020B0609020204030204" pitchFamily="49" charset="0"/>
                <a:ea typeface="楷体" panose="02010609060101010101" pitchFamily="49" charset="-122"/>
                <a:cs typeface="Consolas" panose="020B0609020204030204" pitchFamily="49" charset="0"/>
              </a:rPr>
              <a:t>查找）。 </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0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0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p:nvPr/>
        </p:nvSpPr>
        <p:spPr>
          <a:xfrm>
            <a:off x="250825" y="333375"/>
            <a:ext cx="7772400" cy="685800"/>
          </a:xfrm>
          <a:prstGeom prst="rect">
            <a:avLst/>
          </a:prstGeom>
          <a:noFill/>
          <a:ln w="9525">
            <a:noFill/>
          </a:ln>
        </p:spPr>
        <p:txBody>
          <a:bodyPr anchor="ctr"/>
          <a:lstStyle/>
          <a:p>
            <a:endParaRPr lang="zh-CN" altLang="en-US" sz="3600" b="1" dirty="0">
              <a:solidFill>
                <a:schemeClr val="accent1"/>
              </a:solidFill>
              <a:latin typeface="Times New Roman" panose="02020603050405020304" pitchFamily="18" charset="0"/>
              <a:ea typeface="楷体_GB2312" pitchFamily="49" charset="-122"/>
            </a:endParaRPr>
          </a:p>
        </p:txBody>
      </p:sp>
      <p:sp>
        <p:nvSpPr>
          <p:cNvPr id="204802" name="Text Box 2"/>
          <p:cNvSpPr txBox="1">
            <a:spLocks noChangeArrowheads="1"/>
          </p:cNvSpPr>
          <p:nvPr/>
        </p:nvSpPr>
        <p:spPr bwMode="auto">
          <a:xfrm>
            <a:off x="323528" y="1560157"/>
            <a:ext cx="8324524" cy="1865126"/>
          </a:xfrm>
          <a:prstGeom prst="rect">
            <a:avLst/>
          </a:prstGeom>
          <a:noFill/>
          <a:ln w="9525">
            <a:noFill/>
            <a:miter lim="800000"/>
          </a:ln>
          <a:effectLst/>
        </p:spPr>
        <p:txBody>
          <a:bodyPr wrap="square">
            <a:spAutoFit/>
          </a:bodyPr>
          <a:lstStyle/>
          <a:p>
            <a:pPr marL="342900" indent="-342900">
              <a:lnSpc>
                <a:spcPct val="120000"/>
              </a:lnSpc>
              <a:spcBef>
                <a:spcPts val="0"/>
              </a:spcBef>
              <a:buFont typeface="Wingdings" panose="05000000000000000000" pitchFamily="2" charset="2"/>
              <a:buChar char="l"/>
            </a:pPr>
            <a:r>
              <a:rPr lang="zh-CN" altLang="en-US" dirty="0" smtClean="0">
                <a:solidFill>
                  <a:schemeClr val="bg2"/>
                </a:solidFill>
                <a:latin typeface="+mj-ea"/>
                <a:ea typeface="+mj-ea"/>
                <a:cs typeface="Consolas" panose="020B0609020204030204" pitchFamily="49" charset="0"/>
              </a:rPr>
              <a:t>减治法</a:t>
            </a:r>
            <a:endParaRPr lang="en-US" altLang="zh-CN" dirty="0" smtClean="0">
              <a:solidFill>
                <a:schemeClr val="bg2"/>
              </a:solidFill>
              <a:latin typeface="+mj-ea"/>
              <a:ea typeface="+mj-ea"/>
              <a:cs typeface="Consolas" panose="020B0609020204030204" pitchFamily="49" charset="0"/>
            </a:endParaRPr>
          </a:p>
          <a:p>
            <a:pPr>
              <a:lnSpc>
                <a:spcPct val="120000"/>
              </a:lnSpc>
              <a:spcBef>
                <a:spcPts val="0"/>
              </a:spcBef>
            </a:pPr>
            <a:r>
              <a:rPr lang="zh-CN" altLang="en-US" dirty="0" smtClean="0">
                <a:solidFill>
                  <a:schemeClr val="bg2"/>
                </a:solidFill>
                <a:latin typeface="+mj-ea"/>
                <a:ea typeface="+mj-ea"/>
                <a:cs typeface="Consolas" panose="020B0609020204030204" pitchFamily="49" charset="0"/>
              </a:rPr>
              <a:t>（</a:t>
            </a:r>
            <a:r>
              <a:rPr lang="en-US" altLang="zh-CN" dirty="0" smtClean="0">
                <a:solidFill>
                  <a:schemeClr val="bg2"/>
                </a:solidFill>
                <a:latin typeface="+mj-ea"/>
                <a:ea typeface="+mj-ea"/>
                <a:cs typeface="Consolas" panose="020B0609020204030204" pitchFamily="49" charset="0"/>
              </a:rPr>
              <a:t>1</a:t>
            </a:r>
            <a:r>
              <a:rPr lang="zh-CN" altLang="en-US" dirty="0" smtClean="0">
                <a:solidFill>
                  <a:schemeClr val="bg2"/>
                </a:solidFill>
                <a:latin typeface="+mj-ea"/>
                <a:ea typeface="+mj-ea"/>
                <a:cs typeface="Consolas" panose="020B0609020204030204" pitchFamily="49" charset="0"/>
              </a:rPr>
              <a:t>）原问题的解只存在于其中一个较小规模的子问题中</a:t>
            </a:r>
            <a:endParaRPr lang="en-US" altLang="zh-CN" dirty="0" smtClean="0">
              <a:solidFill>
                <a:schemeClr val="bg2"/>
              </a:solidFill>
              <a:latin typeface="+mj-ea"/>
              <a:ea typeface="+mj-ea"/>
              <a:cs typeface="Consolas" panose="020B0609020204030204" pitchFamily="49" charset="0"/>
            </a:endParaRPr>
          </a:p>
          <a:p>
            <a:pPr>
              <a:lnSpc>
                <a:spcPct val="120000"/>
              </a:lnSpc>
              <a:spcBef>
                <a:spcPts val="0"/>
              </a:spcBef>
            </a:pPr>
            <a:r>
              <a:rPr lang="zh-CN" altLang="en-US" dirty="0" smtClean="0">
                <a:solidFill>
                  <a:schemeClr val="bg2"/>
                </a:solidFill>
                <a:latin typeface="+mj-ea"/>
                <a:ea typeface="+mj-ea"/>
                <a:cs typeface="Consolas" panose="020B0609020204030204" pitchFamily="49" charset="0"/>
              </a:rPr>
              <a:t>（</a:t>
            </a:r>
            <a:r>
              <a:rPr lang="en-US" altLang="zh-CN" dirty="0" smtClean="0">
                <a:solidFill>
                  <a:schemeClr val="bg2"/>
                </a:solidFill>
                <a:latin typeface="+mj-ea"/>
                <a:ea typeface="+mj-ea"/>
                <a:cs typeface="Consolas" panose="020B0609020204030204" pitchFamily="49" charset="0"/>
              </a:rPr>
              <a:t>2</a:t>
            </a:r>
            <a:r>
              <a:rPr lang="zh-CN" altLang="en-US" dirty="0" smtClean="0">
                <a:solidFill>
                  <a:schemeClr val="bg2"/>
                </a:solidFill>
                <a:latin typeface="+mj-ea"/>
                <a:ea typeface="+mj-ea"/>
                <a:cs typeface="Consolas" panose="020B0609020204030204" pitchFamily="49" charset="0"/>
              </a:rPr>
              <a:t>）原问题的解与其中一个较小规模的解之间存在某种对应关系。</a:t>
            </a:r>
            <a:endParaRPr lang="zh-CN" altLang="en-US" dirty="0">
              <a:solidFill>
                <a:schemeClr val="bg2"/>
              </a:solidFill>
              <a:latin typeface="+mj-ea"/>
              <a:ea typeface="+mj-ea"/>
              <a:cs typeface="Consolas" panose="020B0609020204030204" pitchFamily="49" charset="0"/>
            </a:endParaRPr>
          </a:p>
        </p:txBody>
      </p:sp>
      <p:sp>
        <p:nvSpPr>
          <p:cNvPr id="6" name="Text Box 2" descr="纸莎草纸"/>
          <p:cNvSpPr txBox="1">
            <a:spLocks noChangeArrowheads="1"/>
          </p:cNvSpPr>
          <p:nvPr/>
        </p:nvSpPr>
        <p:spPr bwMode="auto">
          <a:xfrm>
            <a:off x="423941" y="415290"/>
            <a:ext cx="5660227" cy="706755"/>
          </a:xfrm>
          <a:prstGeom prst="rect">
            <a:avLst/>
          </a:prstGeom>
          <a:noFill/>
          <a:ln w="9525">
            <a:noFill/>
            <a:miter lim="800000"/>
          </a:ln>
          <a:effectLst/>
          <a:extLst>
            <a:ext uri="{909E8E84-426E-40DD-AFC4-6F175D3DCCD1}">
              <a14:hiddenFill xmlns:a14="http://schemas.microsoft.com/office/drawing/2010/main">
                <a:solidFill>
                  <a:srgbClr val="00B0F0"/>
                </a:solidFill>
              </a14:hiddenFill>
            </a:ext>
          </a:extLst>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spcBef>
                <a:spcPct val="50000"/>
              </a:spcBef>
            </a:pPr>
            <a:r>
              <a:rPr lang="en-US" sz="4000" noProof="0" dirty="0" smtClean="0">
                <a:ln>
                  <a:noFill/>
                </a:ln>
                <a:solidFill>
                  <a:schemeClr val="accent2"/>
                </a:solidFill>
                <a:effectLst/>
                <a:uLnTx/>
                <a:uFillTx/>
                <a:sym typeface="+mn-ea"/>
              </a:rPr>
              <a:t>2.1 </a:t>
            </a:r>
            <a:r>
              <a:rPr lang="zh-CN" altLang="en-US" sz="4000" noProof="0" dirty="0" smtClean="0">
                <a:ln>
                  <a:noFill/>
                </a:ln>
                <a:solidFill>
                  <a:schemeClr val="accent2"/>
                </a:solidFill>
                <a:effectLst/>
                <a:uLnTx/>
                <a:uFillTx/>
                <a:sym typeface="+mn-ea"/>
              </a:rPr>
              <a:t>分治策略的基本思想</a:t>
            </a:r>
            <a:endParaRPr lang="zh-CN" altLang="en-US" sz="4000" b="1" dirty="0">
              <a:solidFill>
                <a:schemeClr val="bg2"/>
              </a:solidFill>
              <a:latin typeface="楷体_GB2312" pitchFamily="49" charset="-122"/>
              <a:ea typeface="楷体_GB2312" pitchFamily="49" charset="-122"/>
              <a:cs typeface="+mj-cs"/>
            </a:endParaRPr>
          </a:p>
        </p:txBody>
      </p:sp>
      <p:grpSp>
        <p:nvGrpSpPr>
          <p:cNvPr id="15" name="组合 14"/>
          <p:cNvGrpSpPr/>
          <p:nvPr/>
        </p:nvGrpSpPr>
        <p:grpSpPr>
          <a:xfrm>
            <a:off x="1514998" y="3108870"/>
            <a:ext cx="6261118" cy="2047343"/>
            <a:chOff x="938977" y="3181857"/>
            <a:chExt cx="6405134" cy="2335375"/>
          </a:xfrm>
        </p:grpSpPr>
        <p:sp>
          <p:nvSpPr>
            <p:cNvPr id="2" name="椭圆 1"/>
            <p:cNvSpPr/>
            <p:nvPr/>
          </p:nvSpPr>
          <p:spPr>
            <a:xfrm>
              <a:off x="3071009" y="3181857"/>
              <a:ext cx="2132032" cy="1063619"/>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FF0000"/>
                  </a:solidFill>
                </a:rPr>
                <a:t>原问题的规模</a:t>
              </a:r>
              <a:r>
                <a:rPr lang="en-US" altLang="zh-CN" b="1" i="1" dirty="0" smtClean="0">
                  <a:solidFill>
                    <a:srgbClr val="FF0000"/>
                  </a:solidFill>
                  <a:latin typeface="Times New Roman" panose="02020603050405020304" pitchFamily="18" charset="0"/>
                  <a:cs typeface="Times New Roman" panose="02020603050405020304" pitchFamily="18" charset="0"/>
                </a:rPr>
                <a:t>n</a:t>
              </a:r>
              <a:endParaRPr lang="zh-CN" altLang="en-US" b="1" i="1" dirty="0">
                <a:solidFill>
                  <a:srgbClr val="FF0000"/>
                </a:solidFill>
                <a:latin typeface="Times New Roman" panose="02020603050405020304" pitchFamily="18" charset="0"/>
                <a:cs typeface="Times New Roman" panose="02020603050405020304" pitchFamily="18" charset="0"/>
              </a:endParaRPr>
            </a:p>
          </p:txBody>
        </p:sp>
        <p:cxnSp>
          <p:nvCxnSpPr>
            <p:cNvPr id="5" name="直接箭头连接符 4"/>
            <p:cNvCxnSpPr>
              <a:stCxn id="2" idx="3"/>
              <a:endCxn id="9" idx="0"/>
            </p:cNvCxnSpPr>
            <p:nvPr/>
          </p:nvCxnSpPr>
          <p:spPr>
            <a:xfrm flipH="1">
              <a:off x="2004993" y="4089713"/>
              <a:ext cx="1378245" cy="34508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938977" y="4434800"/>
              <a:ext cx="2132032" cy="1063619"/>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子</a:t>
              </a:r>
              <a:r>
                <a:rPr lang="zh-CN" altLang="en-US" b="1" dirty="0" smtClean="0">
                  <a:solidFill>
                    <a:srgbClr val="FF0000"/>
                  </a:solidFill>
                </a:rPr>
                <a:t>问题的规模</a:t>
              </a:r>
              <a:r>
                <a:rPr lang="en-US" altLang="zh-CN" b="1" i="1" dirty="0">
                  <a:solidFill>
                    <a:srgbClr val="FF0000"/>
                  </a:solidFill>
                  <a:latin typeface="Times New Roman" panose="02020603050405020304" pitchFamily="18" charset="0"/>
                  <a:cs typeface="Times New Roman" panose="02020603050405020304" pitchFamily="18" charset="0"/>
                </a:rPr>
                <a:t>n</a:t>
              </a:r>
              <a:r>
                <a:rPr lang="en-US" altLang="zh-CN" b="1" dirty="0" smtClean="0">
                  <a:solidFill>
                    <a:srgbClr val="FF0000"/>
                  </a:solidFill>
                </a:rPr>
                <a:t>/2</a:t>
              </a:r>
              <a:endParaRPr lang="zh-CN" altLang="en-US" b="1" dirty="0">
                <a:solidFill>
                  <a:srgbClr val="FF0000"/>
                </a:solidFill>
              </a:endParaRPr>
            </a:p>
          </p:txBody>
        </p:sp>
        <p:cxnSp>
          <p:nvCxnSpPr>
            <p:cNvPr id="10" name="直接箭头连接符 9"/>
            <p:cNvCxnSpPr/>
            <p:nvPr/>
          </p:nvCxnSpPr>
          <p:spPr>
            <a:xfrm>
              <a:off x="3071009" y="4976873"/>
              <a:ext cx="80609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3868063" y="4602832"/>
              <a:ext cx="1334977" cy="9144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子问题的解</a:t>
              </a:r>
              <a:endParaRPr lang="zh-CN" altLang="en-US" b="1" dirty="0">
                <a:solidFill>
                  <a:srgbClr val="FF0000"/>
                </a:solidFill>
              </a:endParaRPr>
            </a:p>
          </p:txBody>
        </p:sp>
        <p:cxnSp>
          <p:nvCxnSpPr>
            <p:cNvPr id="17" name="直接箭头连接符 16"/>
            <p:cNvCxnSpPr/>
            <p:nvPr/>
          </p:nvCxnSpPr>
          <p:spPr>
            <a:xfrm>
              <a:off x="5203040" y="5007705"/>
              <a:ext cx="80609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6009134" y="4584019"/>
              <a:ext cx="1334977" cy="9144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FF0000"/>
                  </a:solidFill>
                </a:rPr>
                <a:t>原问题</a:t>
              </a:r>
              <a:r>
                <a:rPr lang="zh-CN" altLang="en-US" b="1" dirty="0">
                  <a:solidFill>
                    <a:srgbClr val="FF0000"/>
                  </a:solidFill>
                </a:rPr>
                <a:t>的解</a:t>
              </a:r>
              <a:endParaRPr lang="zh-CN" altLang="en-US" b="1" dirty="0">
                <a:solidFill>
                  <a:srgbClr val="FF0000"/>
                </a:solidFill>
              </a:endParaRPr>
            </a:p>
          </p:txBody>
        </p:sp>
      </p:grpSp>
      <p:sp>
        <p:nvSpPr>
          <p:cNvPr id="20" name="Text Box 2"/>
          <p:cNvSpPr txBox="1">
            <a:spLocks noChangeArrowheads="1"/>
          </p:cNvSpPr>
          <p:nvPr/>
        </p:nvSpPr>
        <p:spPr bwMode="auto">
          <a:xfrm>
            <a:off x="324272" y="5258583"/>
            <a:ext cx="8324524" cy="978729"/>
          </a:xfrm>
          <a:prstGeom prst="rect">
            <a:avLst/>
          </a:prstGeom>
          <a:solidFill>
            <a:schemeClr val="tx1"/>
          </a:solidFill>
          <a:ln w="9525">
            <a:noFill/>
            <a:miter lim="800000"/>
          </a:ln>
          <a:effectLst/>
        </p:spPr>
        <p:txBody>
          <a:bodyPr wrap="square">
            <a:spAutoFit/>
          </a:bodyPr>
          <a:lstStyle/>
          <a:p>
            <a:pPr marL="342900" indent="-342900">
              <a:lnSpc>
                <a:spcPct val="120000"/>
              </a:lnSpc>
              <a:spcBef>
                <a:spcPts val="0"/>
              </a:spcBef>
              <a:buFont typeface="Wingdings" panose="05000000000000000000" pitchFamily="2" charset="2"/>
              <a:buChar char="l"/>
            </a:pPr>
            <a:r>
              <a:rPr lang="zh-CN" altLang="en-US" dirty="0" smtClean="0">
                <a:solidFill>
                  <a:schemeClr val="bg2"/>
                </a:solidFill>
                <a:latin typeface="+mn-ea"/>
                <a:ea typeface="+mn-ea"/>
                <a:cs typeface="Consolas" panose="020B0609020204030204" pitchFamily="49" charset="0"/>
              </a:rPr>
              <a:t>分治法：对分解的子问题分别求解，需要对子问题的解进行合并。</a:t>
            </a:r>
            <a:endParaRPr lang="en-US" altLang="zh-CN" dirty="0" smtClean="0">
              <a:solidFill>
                <a:schemeClr val="bg2"/>
              </a:solidFill>
              <a:latin typeface="+mn-ea"/>
              <a:ea typeface="+mn-ea"/>
              <a:cs typeface="Consolas" panose="020B0609020204030204" pitchFamily="49" charset="0"/>
            </a:endParaRPr>
          </a:p>
        </p:txBody>
      </p:sp>
      <p:sp>
        <p:nvSpPr>
          <p:cNvPr id="21" name="Text Box 2"/>
          <p:cNvSpPr txBox="1">
            <a:spLocks noChangeArrowheads="1"/>
          </p:cNvSpPr>
          <p:nvPr/>
        </p:nvSpPr>
        <p:spPr bwMode="auto">
          <a:xfrm>
            <a:off x="1763688" y="1599183"/>
            <a:ext cx="3017132" cy="461665"/>
          </a:xfrm>
          <a:prstGeom prst="rect">
            <a:avLst/>
          </a:prstGeom>
          <a:solidFill>
            <a:schemeClr val="tx1"/>
          </a:solidFill>
          <a:ln w="9525">
            <a:noFill/>
            <a:miter lim="800000"/>
          </a:ln>
          <a:effectLst/>
        </p:spPr>
        <p:txBody>
          <a:bodyPr wrap="square">
            <a:spAutoFit/>
          </a:bodyPr>
          <a:lstStyle/>
          <a:p>
            <a:pPr>
              <a:spcBef>
                <a:spcPts val="0"/>
              </a:spcBef>
            </a:pPr>
            <a:r>
              <a:rPr lang="en-US" altLang="zh-CN" b="1" dirty="0" smtClean="0">
                <a:solidFill>
                  <a:srgbClr val="7030A0"/>
                </a:solidFill>
                <a:latin typeface="Consolas" panose="020B0609020204030204" pitchFamily="49" charset="0"/>
                <a:ea typeface="楷体" panose="02010609060101010101" pitchFamily="49" charset="-122"/>
                <a:cs typeface="Consolas" panose="020B0609020204030204" pitchFamily="49" charset="0"/>
              </a:rPr>
              <a:t>——</a:t>
            </a:r>
            <a:r>
              <a:rPr lang="zh-CN" altLang="en-US" b="1" dirty="0" smtClean="0">
                <a:solidFill>
                  <a:srgbClr val="7030A0"/>
                </a:solidFill>
                <a:latin typeface="Consolas" panose="020B0609020204030204" pitchFamily="49" charset="0"/>
                <a:ea typeface="楷体" panose="02010609060101010101" pitchFamily="49" charset="-122"/>
                <a:cs typeface="Consolas" panose="020B0609020204030204" pitchFamily="49" charset="0"/>
              </a:rPr>
              <a:t>例如：折半查找</a:t>
            </a:r>
            <a:endParaRPr lang="en-US" altLang="zh-CN" b="1" dirty="0" smtClean="0">
              <a:solidFill>
                <a:srgbClr val="7030A0"/>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1"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49155" name="内容占位符 2"/>
          <p:cNvSpPr>
            <a:spLocks noGrp="1"/>
          </p:cNvSpPr>
          <p:nvPr>
            <p:ph idx="1"/>
          </p:nvPr>
        </p:nvSpPr>
        <p:spPr>
          <a:xfrm>
            <a:off x="395605" y="1557020"/>
            <a:ext cx="8641080" cy="600075"/>
          </a:xfrm>
        </p:spPr>
        <p:txBody>
          <a:bodyPr vert="horz" wrap="square" lIns="91440" tIns="45720" rIns="91440" bIns="45720" numCol="1" anchor="t" anchorCtr="0" compatLnSpc="1"/>
          <a:lstStyle/>
          <a:p>
            <a:pPr marR="0" lvl="0" algn="l" defTabSz="914400" rtl="0" eaLnBrk="1" fontAlgn="base" latinLnBrk="0" hangingPunct="1">
              <a:lnSpc>
                <a:spcPct val="130000"/>
              </a:lnSpc>
              <a:spcBef>
                <a:spcPts val="20"/>
              </a:spcBef>
              <a:spcAft>
                <a:spcPts val="0"/>
              </a:spcAft>
              <a:buClrTx/>
              <a:buSzTx/>
              <a:buFont typeface="Wingdings" panose="05000000000000000000" charset="0"/>
              <a:buChar char="n"/>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a:t>
            </a:r>
            <a:r>
              <a:rPr kumimoji="0" lang="zh-CN" altLang="en-US" sz="2400" i="0" u="none" strike="noStrike" kern="1200" cap="none" spc="0" normalizeH="0" baseline="0" noProof="0" dirty="0" smtClean="0">
                <a:ln>
                  <a:noFill/>
                </a:ln>
                <a:solidFill>
                  <a:schemeClr val="bg2"/>
                </a:solidFill>
                <a:effectLst/>
                <a:uLnTx/>
                <a:uFillTx/>
                <a:latin typeface="+mj-ea"/>
                <a:ea typeface="+mj-ea"/>
                <a:cs typeface="+mj-ea"/>
              </a:rPr>
              <a:t>分治策略举例</a:t>
            </a:r>
            <a:endParaRPr kumimoji="0" lang="zh-CN" altLang="en-US" sz="2400" i="0" u="none" strike="noStrike" kern="1200" cap="none" spc="0" normalizeH="0" baseline="0" noProof="0" dirty="0" smtClean="0">
              <a:ln>
                <a:noFill/>
              </a:ln>
              <a:solidFill>
                <a:schemeClr val="bg1"/>
              </a:solidFill>
              <a:effectLst/>
              <a:uLnTx/>
              <a:uFillTx/>
              <a:latin typeface="+mj-ea"/>
              <a:ea typeface="+mj-ea"/>
              <a:cs typeface="+mj-ea"/>
            </a:endParaRPr>
          </a:p>
        </p:txBody>
      </p:sp>
      <p:sp>
        <p:nvSpPr>
          <p:cNvPr id="3" name="文本框 2"/>
          <p:cNvSpPr txBox="1"/>
          <p:nvPr/>
        </p:nvSpPr>
        <p:spPr>
          <a:xfrm>
            <a:off x="890905" y="2060848"/>
            <a:ext cx="4993675" cy="461665"/>
          </a:xfrm>
          <a:prstGeom prst="rect">
            <a:avLst/>
          </a:prstGeom>
          <a:noFill/>
        </p:spPr>
        <p:txBody>
          <a:bodyPr wrap="none" rtlCol="0">
            <a:spAutoFit/>
          </a:bodyPr>
          <a:lstStyle/>
          <a:p>
            <a:pPr marL="342900" indent="-342900">
              <a:buFont typeface="Arial" panose="020B0604020202020204" pitchFamily="34" charset="0"/>
              <a:buChar char="•"/>
            </a:pPr>
            <a:r>
              <a:rPr lang="zh-CN" altLang="en-US" dirty="0">
                <a:solidFill>
                  <a:schemeClr val="bg2"/>
                </a:solidFill>
              </a:rPr>
              <a:t>例题</a:t>
            </a:r>
            <a:r>
              <a:rPr lang="en-US" altLang="zh-CN" dirty="0">
                <a:solidFill>
                  <a:schemeClr val="bg2"/>
                </a:solidFill>
              </a:rPr>
              <a:t>1</a:t>
            </a:r>
            <a:r>
              <a:rPr lang="zh-CN" altLang="en-US" dirty="0">
                <a:solidFill>
                  <a:schemeClr val="bg2"/>
                </a:solidFill>
              </a:rPr>
              <a:t>：二分检索</a:t>
            </a:r>
            <a:r>
              <a:rPr lang="zh-CN" altLang="en-US" dirty="0" smtClean="0">
                <a:solidFill>
                  <a:schemeClr val="bg2"/>
                </a:solidFill>
              </a:rPr>
              <a:t>法</a:t>
            </a:r>
            <a:r>
              <a:rPr lang="en-US" altLang="zh-CN" dirty="0" smtClean="0">
                <a:solidFill>
                  <a:schemeClr val="bg2"/>
                </a:solidFill>
              </a:rPr>
              <a:t>——</a:t>
            </a:r>
            <a:r>
              <a:rPr lang="zh-CN" altLang="en-US" dirty="0" smtClean="0">
                <a:solidFill>
                  <a:schemeClr val="bg2"/>
                </a:solidFill>
              </a:rPr>
              <a:t>迭代实现</a:t>
            </a:r>
            <a:endParaRPr lang="zh-CN" altLang="en-US" dirty="0">
              <a:solidFill>
                <a:schemeClr val="bg2"/>
              </a:solidFill>
            </a:endParaRPr>
          </a:p>
        </p:txBody>
      </p:sp>
      <p:pic>
        <p:nvPicPr>
          <p:cNvPr id="5" name="20 4"/>
          <p:cNvPicPr>
            <a:picLocks noChangeAspect="1"/>
          </p:cNvPicPr>
          <p:nvPr/>
        </p:nvPicPr>
        <p:blipFill>
          <a:blip r:embed="rId1"/>
          <a:srcRect l="16047" t="30043" r="39414" b="16840"/>
          <a:stretch>
            <a:fillRect/>
          </a:stretch>
        </p:blipFill>
        <p:spPr>
          <a:xfrm>
            <a:off x="1530985" y="2545715"/>
            <a:ext cx="5795010" cy="388556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784225" y="1638300"/>
            <a:ext cx="3878580" cy="460375"/>
          </a:xfrm>
          <a:prstGeom prst="rect">
            <a:avLst/>
          </a:prstGeom>
          <a:noFill/>
        </p:spPr>
        <p:txBody>
          <a:bodyPr wrap="none" rtlCol="0">
            <a:spAutoFit/>
          </a:bodyPr>
          <a:lstStyle/>
          <a:p>
            <a:pPr marL="342900" indent="-342900" algn="l">
              <a:buFont typeface="Arial" panose="020B0604020202020204" pitchFamily="34" charset="0"/>
              <a:buChar char="•"/>
            </a:pPr>
            <a:r>
              <a:rPr lang="zh-CN" altLang="en-US" dirty="0">
                <a:solidFill>
                  <a:schemeClr val="bg2"/>
                </a:solidFill>
              </a:rPr>
              <a:t>二分检索法算法设计思想</a:t>
            </a:r>
            <a:endParaRPr lang="zh-CN" altLang="en-US" dirty="0">
              <a:solidFill>
                <a:schemeClr val="bg2"/>
              </a:solidFill>
            </a:endParaRPr>
          </a:p>
        </p:txBody>
      </p:sp>
      <p:sp>
        <p:nvSpPr>
          <p:cNvPr id="6" name="文本框 5"/>
          <p:cNvSpPr txBox="1"/>
          <p:nvPr/>
        </p:nvSpPr>
        <p:spPr>
          <a:xfrm>
            <a:off x="893445" y="2098675"/>
            <a:ext cx="7557770" cy="2197735"/>
          </a:xfrm>
          <a:prstGeom prst="rect">
            <a:avLst/>
          </a:prstGeom>
          <a:noFill/>
        </p:spPr>
        <p:txBody>
          <a:bodyPr wrap="square" rtlCol="0" anchor="t">
            <a:spAutoFit/>
          </a:bodyPr>
          <a:lstStyle/>
          <a:p>
            <a:pPr>
              <a:lnSpc>
                <a:spcPct val="110000"/>
              </a:lnSpc>
              <a:spcBef>
                <a:spcPts val="600"/>
              </a:spcBef>
              <a:spcAft>
                <a:spcPts val="0"/>
              </a:spcAft>
            </a:pPr>
            <a:r>
              <a:rPr lang="zh-CN" altLang="en-US" dirty="0">
                <a:solidFill>
                  <a:schemeClr val="bg2"/>
                </a:solidFill>
              </a:rPr>
              <a:t>（</a:t>
            </a:r>
            <a:r>
              <a:rPr lang="en-US" altLang="zh-CN" dirty="0">
                <a:solidFill>
                  <a:schemeClr val="bg2"/>
                </a:solidFill>
              </a:rPr>
              <a:t>1</a:t>
            </a:r>
            <a:r>
              <a:rPr lang="zh-CN" altLang="en-US" dirty="0">
                <a:solidFill>
                  <a:schemeClr val="bg2"/>
                </a:solidFill>
              </a:rPr>
              <a:t>）通过 </a:t>
            </a:r>
            <a:r>
              <a:rPr lang="zh-CN" altLang="en-US" b="1" i="1" dirty="0">
                <a:solidFill>
                  <a:schemeClr val="bg2"/>
                </a:solidFill>
              </a:rPr>
              <a:t>x</a:t>
            </a:r>
            <a:r>
              <a:rPr lang="zh-CN" altLang="en-US" dirty="0">
                <a:solidFill>
                  <a:schemeClr val="bg2"/>
                </a:solidFill>
              </a:rPr>
              <a:t> 与</a:t>
            </a:r>
            <a:r>
              <a:rPr lang="zh-CN" altLang="en-US" dirty="0" smtClean="0">
                <a:solidFill>
                  <a:schemeClr val="bg2"/>
                </a:solidFill>
              </a:rPr>
              <a:t>中</a:t>
            </a:r>
            <a:r>
              <a:rPr lang="zh-CN" altLang="en-US" dirty="0">
                <a:solidFill>
                  <a:schemeClr val="bg2"/>
                </a:solidFill>
              </a:rPr>
              <a:t>间</a:t>
            </a:r>
            <a:r>
              <a:rPr lang="zh-CN" altLang="en-US" dirty="0" smtClean="0">
                <a:solidFill>
                  <a:schemeClr val="bg2"/>
                </a:solidFill>
              </a:rPr>
              <a:t>数</a:t>
            </a:r>
            <a:r>
              <a:rPr lang="zh-CN" altLang="en-US" dirty="0">
                <a:solidFill>
                  <a:schemeClr val="bg2"/>
                </a:solidFill>
              </a:rPr>
              <a:t>的比较，将原问题归结为规模减半的子问题，如果 </a:t>
            </a:r>
            <a:r>
              <a:rPr lang="zh-CN" altLang="en-US" b="1" i="1" dirty="0">
                <a:solidFill>
                  <a:schemeClr val="bg2"/>
                </a:solidFill>
                <a:sym typeface="+mn-ea"/>
              </a:rPr>
              <a:t>x</a:t>
            </a:r>
            <a:r>
              <a:rPr lang="zh-CN" altLang="en-US" dirty="0">
                <a:solidFill>
                  <a:schemeClr val="bg2"/>
                </a:solidFill>
              </a:rPr>
              <a:t> 小于</a:t>
            </a:r>
            <a:r>
              <a:rPr lang="zh-CN" altLang="en-US" dirty="0" smtClean="0">
                <a:solidFill>
                  <a:schemeClr val="bg2"/>
                </a:solidFill>
              </a:rPr>
              <a:t>中间数</a:t>
            </a:r>
            <a:r>
              <a:rPr lang="zh-CN" altLang="en-US" dirty="0">
                <a:solidFill>
                  <a:schemeClr val="bg2"/>
                </a:solidFill>
              </a:rPr>
              <a:t>，则子问题由小于</a:t>
            </a:r>
            <a:r>
              <a:rPr lang="zh-CN" altLang="en-US" b="1" i="1" dirty="0">
                <a:solidFill>
                  <a:schemeClr val="bg2"/>
                </a:solidFill>
                <a:sym typeface="+mn-ea"/>
              </a:rPr>
              <a:t>x</a:t>
            </a:r>
            <a:r>
              <a:rPr lang="zh-CN" altLang="en-US" dirty="0">
                <a:solidFill>
                  <a:schemeClr val="bg2"/>
                </a:solidFill>
              </a:rPr>
              <a:t> 的数构成，否则子问题由大于</a:t>
            </a:r>
            <a:r>
              <a:rPr lang="zh-CN" altLang="en-US" b="1" i="1" dirty="0">
                <a:solidFill>
                  <a:schemeClr val="bg2"/>
                </a:solidFill>
                <a:sym typeface="+mn-ea"/>
              </a:rPr>
              <a:t>x</a:t>
            </a:r>
            <a:r>
              <a:rPr lang="zh-CN" altLang="en-US" dirty="0">
                <a:solidFill>
                  <a:schemeClr val="bg2"/>
                </a:solidFill>
              </a:rPr>
              <a:t>的数构成。</a:t>
            </a:r>
            <a:endParaRPr lang="zh-CN" altLang="en-US" dirty="0">
              <a:solidFill>
                <a:schemeClr val="bg2"/>
              </a:solidFill>
            </a:endParaRPr>
          </a:p>
          <a:p>
            <a:pPr algn="just">
              <a:lnSpc>
                <a:spcPct val="110000"/>
              </a:lnSpc>
              <a:spcBef>
                <a:spcPts val="600"/>
              </a:spcBef>
              <a:spcAft>
                <a:spcPts val="0"/>
              </a:spcAft>
            </a:pPr>
            <a:r>
              <a:rPr lang="zh-CN" altLang="en-US" dirty="0">
                <a:solidFill>
                  <a:schemeClr val="bg2"/>
                </a:solidFill>
              </a:rPr>
              <a:t>（</a:t>
            </a:r>
            <a:r>
              <a:rPr lang="en-US" altLang="zh-CN" dirty="0">
                <a:solidFill>
                  <a:schemeClr val="bg2"/>
                </a:solidFill>
              </a:rPr>
              <a:t>2</a:t>
            </a:r>
            <a:r>
              <a:rPr lang="zh-CN" altLang="en-US" dirty="0">
                <a:solidFill>
                  <a:schemeClr val="bg2"/>
                </a:solidFill>
              </a:rPr>
              <a:t>） 当子问题规模为 1  时，直接比较 </a:t>
            </a:r>
            <a:r>
              <a:rPr lang="zh-CN" altLang="en-US" b="1" i="1" dirty="0">
                <a:solidFill>
                  <a:schemeClr val="bg2"/>
                </a:solidFill>
                <a:sym typeface="+mn-ea"/>
              </a:rPr>
              <a:t>x</a:t>
            </a:r>
            <a:r>
              <a:rPr lang="zh-CN" altLang="en-US" dirty="0">
                <a:solidFill>
                  <a:schemeClr val="bg2"/>
                </a:solidFill>
              </a:rPr>
              <a:t> 与</a:t>
            </a:r>
            <a:r>
              <a:rPr lang="zh-CN" altLang="en-US" b="1" i="1" dirty="0">
                <a:solidFill>
                  <a:schemeClr val="bg2"/>
                </a:solidFill>
                <a:cs typeface="Times New Roman" panose="02020603050405020304" pitchFamily="18" charset="0"/>
              </a:rPr>
              <a:t>T</a:t>
            </a:r>
            <a:r>
              <a:rPr lang="zh-CN" altLang="en-US" dirty="0">
                <a:solidFill>
                  <a:schemeClr val="bg2"/>
                </a:solidFill>
              </a:rPr>
              <a:t>[</a:t>
            </a:r>
            <a:r>
              <a:rPr lang="zh-CN" altLang="en-US" b="1" i="1" dirty="0">
                <a:solidFill>
                  <a:schemeClr val="bg2"/>
                </a:solidFill>
              </a:rPr>
              <a:t>m</a:t>
            </a:r>
            <a:r>
              <a:rPr lang="zh-CN" altLang="en-US" dirty="0">
                <a:solidFill>
                  <a:schemeClr val="bg2"/>
                </a:solidFill>
              </a:rPr>
              <a:t>] ，若相等则返回 </a:t>
            </a:r>
            <a:r>
              <a:rPr lang="zh-CN" altLang="en-US" b="1" i="1" dirty="0">
                <a:solidFill>
                  <a:schemeClr val="bg2"/>
                </a:solidFill>
              </a:rPr>
              <a:t>m</a:t>
            </a:r>
            <a:r>
              <a:rPr lang="zh-CN" altLang="en-US" dirty="0">
                <a:solidFill>
                  <a:schemeClr val="bg2"/>
                </a:solidFill>
              </a:rPr>
              <a:t> ，否则返回 0。</a:t>
            </a:r>
            <a:endParaRPr lang="zh-CN" altLang="en-US" dirty="0">
              <a:solidFill>
                <a:schemeClr val="bg2"/>
              </a:solidFill>
            </a:endParaRPr>
          </a:p>
        </p:txBody>
      </p:sp>
      <p:pic>
        <p:nvPicPr>
          <p:cNvPr id="8" name="20 7"/>
          <p:cNvPicPr>
            <a:picLocks noChangeAspect="1"/>
          </p:cNvPicPr>
          <p:nvPr/>
        </p:nvPicPr>
        <p:blipFill>
          <a:blip r:embed="rId1"/>
          <a:stretch>
            <a:fillRect/>
          </a:stretch>
        </p:blipFill>
        <p:spPr>
          <a:xfrm>
            <a:off x="1118870" y="4788535"/>
            <a:ext cx="562610" cy="717550"/>
          </a:xfrm>
          <a:prstGeom prst="rect">
            <a:avLst/>
          </a:prstGeom>
        </p:spPr>
      </p:pic>
      <p:sp>
        <p:nvSpPr>
          <p:cNvPr id="7" name="文本框 6"/>
          <p:cNvSpPr txBox="1"/>
          <p:nvPr/>
        </p:nvSpPr>
        <p:spPr>
          <a:xfrm>
            <a:off x="1948815" y="4916805"/>
            <a:ext cx="4001770" cy="460375"/>
          </a:xfrm>
          <a:prstGeom prst="rect">
            <a:avLst/>
          </a:prstGeom>
          <a:noFill/>
        </p:spPr>
        <p:txBody>
          <a:bodyPr wrap="square" rtlCol="0" anchor="t">
            <a:spAutoFit/>
          </a:bodyPr>
          <a:lstStyle/>
          <a:p>
            <a:r>
              <a:rPr lang="zh-CN" altLang="en-US" dirty="0">
                <a:solidFill>
                  <a:schemeClr val="bg1"/>
                </a:solidFill>
              </a:rPr>
              <a:t>是否</a:t>
            </a:r>
            <a:r>
              <a:rPr lang="zh-CN" altLang="en-US" dirty="0" smtClean="0">
                <a:solidFill>
                  <a:schemeClr val="bg1"/>
                </a:solidFill>
              </a:rPr>
              <a:t>能够</a:t>
            </a:r>
            <a:r>
              <a:rPr lang="zh-CN" altLang="en-US" dirty="0">
                <a:solidFill>
                  <a:schemeClr val="bg1"/>
                </a:solidFill>
              </a:rPr>
              <a:t>递归实现?</a:t>
            </a:r>
            <a:endParaRPr lang="zh-CN" altLang="en-US" dirty="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784225" y="1600473"/>
            <a:ext cx="3573780" cy="460375"/>
          </a:xfrm>
          <a:prstGeom prst="rect">
            <a:avLst/>
          </a:prstGeom>
          <a:noFill/>
        </p:spPr>
        <p:txBody>
          <a:bodyPr wrap="none" rtlCol="0">
            <a:spAutoFit/>
          </a:bodyPr>
          <a:lstStyle/>
          <a:p>
            <a:pPr marL="342900" indent="-342900" algn="l">
              <a:buFont typeface="Arial" panose="020B0604020202020204" pitchFamily="34" charset="0"/>
              <a:buChar char="•"/>
            </a:pPr>
            <a:r>
              <a:rPr lang="zh-CN" altLang="en-US" dirty="0">
                <a:solidFill>
                  <a:schemeClr val="bg2"/>
                </a:solidFill>
              </a:rPr>
              <a:t>二分检索法的递归实现</a:t>
            </a:r>
            <a:endParaRPr lang="zh-CN" altLang="en-US" dirty="0">
              <a:solidFill>
                <a:schemeClr val="bg2"/>
              </a:solidFill>
            </a:endParaRPr>
          </a:p>
        </p:txBody>
      </p:sp>
      <p:sp>
        <p:nvSpPr>
          <p:cNvPr id="4" name="文本框 3"/>
          <p:cNvSpPr txBox="1"/>
          <p:nvPr/>
        </p:nvSpPr>
        <p:spPr>
          <a:xfrm>
            <a:off x="827584" y="2006604"/>
            <a:ext cx="7776864" cy="4300855"/>
          </a:xfrm>
          <a:prstGeom prst="rect">
            <a:avLst/>
          </a:prstGeom>
          <a:noFill/>
        </p:spPr>
        <p:txBody>
          <a:bodyPr wrap="square" rtlCol="0" anchor="t">
            <a:spAutoFit/>
          </a:bodyPr>
          <a:lstStyle/>
          <a:p>
            <a:pPr>
              <a:lnSpc>
                <a:spcPct val="100000"/>
              </a:lnSpc>
              <a:spcAft>
                <a:spcPts val="0"/>
              </a:spcAft>
            </a:pPr>
            <a:r>
              <a:rPr lang="zh-CN" altLang="en-US" dirty="0">
                <a:solidFill>
                  <a:schemeClr val="bg2"/>
                </a:solidFill>
              </a:rPr>
              <a:t>算法 </a:t>
            </a:r>
            <a:r>
              <a:rPr lang="zh-CN" altLang="en-US" dirty="0">
                <a:solidFill>
                  <a:schemeClr val="bg2"/>
                </a:solidFill>
                <a:cs typeface="Times New Roman" panose="02020603050405020304" pitchFamily="18" charset="0"/>
              </a:rPr>
              <a:t>Binary Search</a:t>
            </a:r>
            <a:r>
              <a:rPr lang="zh-CN" altLang="en-US" dirty="0">
                <a:solidFill>
                  <a:schemeClr val="bg2"/>
                </a:solidFill>
              </a:rPr>
              <a:t> (</a:t>
            </a:r>
            <a:r>
              <a:rPr lang="zh-CN" altLang="en-US" b="1" i="1" dirty="0">
                <a:solidFill>
                  <a:schemeClr val="bg2"/>
                </a:solidFill>
                <a:cs typeface="Times New Roman" panose="02020603050405020304" pitchFamily="18" charset="0"/>
              </a:rPr>
              <a:t>T</a:t>
            </a:r>
            <a:r>
              <a:rPr lang="zh-CN" altLang="en-US" dirty="0">
                <a:solidFill>
                  <a:schemeClr val="bg2"/>
                </a:solidFill>
              </a:rPr>
              <a:t>, </a:t>
            </a:r>
            <a:r>
              <a:rPr lang="zh-CN" altLang="en-US" b="1" i="1" dirty="0">
                <a:solidFill>
                  <a:schemeClr val="bg2"/>
                </a:solidFill>
                <a:cs typeface="Times New Roman" panose="02020603050405020304" pitchFamily="18" charset="0"/>
              </a:rPr>
              <a:t>l</a:t>
            </a:r>
            <a:r>
              <a:rPr lang="zh-CN" altLang="en-US" dirty="0">
                <a:solidFill>
                  <a:schemeClr val="bg2"/>
                </a:solidFill>
              </a:rPr>
              <a:t>, </a:t>
            </a:r>
            <a:r>
              <a:rPr lang="zh-CN" altLang="en-US" b="1" i="1" dirty="0">
                <a:solidFill>
                  <a:schemeClr val="bg2"/>
                </a:solidFill>
                <a:cs typeface="Times New Roman" panose="02020603050405020304" pitchFamily="18" charset="0"/>
              </a:rPr>
              <a:t>r</a:t>
            </a:r>
            <a:r>
              <a:rPr lang="zh-CN" altLang="en-US" dirty="0">
                <a:solidFill>
                  <a:schemeClr val="bg2"/>
                </a:solidFill>
              </a:rPr>
              <a:t>, </a:t>
            </a:r>
            <a:r>
              <a:rPr lang="zh-CN" altLang="en-US" b="1" i="1" dirty="0">
                <a:solidFill>
                  <a:schemeClr val="bg2"/>
                </a:solidFill>
                <a:cs typeface="Times New Roman" panose="02020603050405020304" pitchFamily="18" charset="0"/>
              </a:rPr>
              <a:t>x</a:t>
            </a:r>
            <a:r>
              <a:rPr lang="zh-CN" altLang="en-US" dirty="0">
                <a:solidFill>
                  <a:schemeClr val="bg2"/>
                </a:solidFill>
              </a:rPr>
              <a:t>)</a:t>
            </a:r>
            <a:endParaRPr lang="zh-CN" altLang="en-US" dirty="0">
              <a:solidFill>
                <a:schemeClr val="bg2"/>
              </a:solidFill>
            </a:endParaRPr>
          </a:p>
          <a:p>
            <a:pPr>
              <a:lnSpc>
                <a:spcPct val="100000"/>
              </a:lnSpc>
              <a:spcAft>
                <a:spcPts val="0"/>
              </a:spcAft>
            </a:pPr>
            <a:r>
              <a:rPr lang="zh-CN" altLang="en-US" dirty="0">
                <a:solidFill>
                  <a:schemeClr val="bg2"/>
                </a:solidFill>
              </a:rPr>
              <a:t>输入：数组 </a:t>
            </a:r>
            <a:r>
              <a:rPr lang="zh-CN" altLang="en-US" b="1" i="1" dirty="0">
                <a:solidFill>
                  <a:schemeClr val="bg2"/>
                </a:solidFill>
                <a:cs typeface="Times New Roman" panose="02020603050405020304" pitchFamily="18" charset="0"/>
              </a:rPr>
              <a:t>T</a:t>
            </a:r>
            <a:r>
              <a:rPr lang="zh-CN" altLang="en-US" dirty="0">
                <a:solidFill>
                  <a:schemeClr val="bg2"/>
                </a:solidFill>
              </a:rPr>
              <a:t> ，下标从</a:t>
            </a:r>
            <a:r>
              <a:rPr lang="zh-CN" altLang="en-US" b="1" i="1" dirty="0">
                <a:solidFill>
                  <a:schemeClr val="bg2"/>
                </a:solidFill>
                <a:cs typeface="Times New Roman" panose="02020603050405020304" pitchFamily="18" charset="0"/>
              </a:rPr>
              <a:t> </a:t>
            </a:r>
            <a:r>
              <a:rPr lang="zh-CN" altLang="en-US" dirty="0">
                <a:solidFill>
                  <a:schemeClr val="bg2"/>
                </a:solidFill>
              </a:rPr>
              <a:t>l  到 </a:t>
            </a:r>
            <a:r>
              <a:rPr lang="zh-CN" altLang="en-US" b="1" i="1" dirty="0">
                <a:solidFill>
                  <a:schemeClr val="bg2"/>
                </a:solidFill>
                <a:cs typeface="Times New Roman" panose="02020603050405020304" pitchFamily="18" charset="0"/>
              </a:rPr>
              <a:t>r</a:t>
            </a:r>
            <a:r>
              <a:rPr lang="zh-CN" altLang="en-US" dirty="0">
                <a:solidFill>
                  <a:schemeClr val="bg2"/>
                </a:solidFill>
              </a:rPr>
              <a:t> ；数 </a:t>
            </a:r>
            <a:r>
              <a:rPr lang="zh-CN" altLang="en-US" b="1" i="1" dirty="0">
                <a:solidFill>
                  <a:schemeClr val="bg2"/>
                </a:solidFill>
                <a:cs typeface="Times New Roman" panose="02020603050405020304" pitchFamily="18" charset="0"/>
              </a:rPr>
              <a:t>x</a:t>
            </a:r>
            <a:endParaRPr lang="zh-CN" altLang="en-US" dirty="0">
              <a:solidFill>
                <a:schemeClr val="bg2"/>
              </a:solidFill>
            </a:endParaRPr>
          </a:p>
          <a:p>
            <a:pPr>
              <a:lnSpc>
                <a:spcPct val="100000"/>
              </a:lnSpc>
              <a:spcAft>
                <a:spcPts val="0"/>
              </a:spcAft>
            </a:pPr>
            <a:r>
              <a:rPr lang="zh-CN" altLang="en-US" dirty="0">
                <a:solidFill>
                  <a:schemeClr val="bg2"/>
                </a:solidFill>
              </a:rPr>
              <a:t>输出：</a:t>
            </a:r>
            <a:r>
              <a:rPr lang="zh-CN" altLang="en-US" b="1" i="1" dirty="0">
                <a:solidFill>
                  <a:schemeClr val="bg2"/>
                </a:solidFill>
                <a:cs typeface="Times New Roman" panose="02020603050405020304" pitchFamily="18" charset="0"/>
              </a:rPr>
              <a:t>j</a:t>
            </a:r>
            <a:r>
              <a:rPr lang="zh-CN" altLang="en-US" dirty="0">
                <a:solidFill>
                  <a:schemeClr val="bg2"/>
                </a:solidFill>
              </a:rPr>
              <a:t> //  若</a:t>
            </a:r>
            <a:r>
              <a:rPr lang="zh-CN" altLang="en-US" b="1" i="1" dirty="0">
                <a:solidFill>
                  <a:schemeClr val="bg2"/>
                </a:solidFill>
                <a:cs typeface="Times New Roman" panose="02020603050405020304" pitchFamily="18" charset="0"/>
              </a:rPr>
              <a:t>x</a:t>
            </a:r>
            <a:r>
              <a:rPr lang="zh-CN" altLang="en-US" dirty="0">
                <a:solidFill>
                  <a:schemeClr val="bg2"/>
                </a:solidFill>
              </a:rPr>
              <a:t> 在</a:t>
            </a:r>
            <a:r>
              <a:rPr lang="zh-CN" altLang="en-US" b="1" i="1" dirty="0">
                <a:solidFill>
                  <a:schemeClr val="bg2"/>
                </a:solidFill>
                <a:cs typeface="Times New Roman" panose="02020603050405020304" pitchFamily="18" charset="0"/>
              </a:rPr>
              <a:t>T</a:t>
            </a:r>
            <a:r>
              <a:rPr lang="zh-CN" altLang="en-US" dirty="0">
                <a:solidFill>
                  <a:schemeClr val="bg2"/>
                </a:solidFill>
              </a:rPr>
              <a:t>  中, </a:t>
            </a:r>
            <a:r>
              <a:rPr lang="zh-CN" altLang="en-US" b="1" i="1" dirty="0">
                <a:solidFill>
                  <a:schemeClr val="bg2"/>
                </a:solidFill>
                <a:cs typeface="Times New Roman" panose="02020603050405020304" pitchFamily="18" charset="0"/>
              </a:rPr>
              <a:t>j</a:t>
            </a:r>
            <a:r>
              <a:rPr lang="zh-CN" altLang="en-US" dirty="0">
                <a:solidFill>
                  <a:schemeClr val="bg2"/>
                </a:solidFill>
              </a:rPr>
              <a:t>  为下标;  否则为 0</a:t>
            </a:r>
            <a:endParaRPr lang="zh-CN" altLang="en-US" dirty="0">
              <a:solidFill>
                <a:schemeClr val="bg2"/>
              </a:solidFill>
            </a:endParaRPr>
          </a:p>
          <a:p>
            <a:pPr marL="342900" marR="0" lvl="0" indent="-342900" algn="l" defTabSz="914400" rtl="0" eaLnBrk="0" fontAlgn="base" latinLnBrk="0" hangingPunct="0">
              <a:lnSpc>
                <a:spcPct val="100000"/>
              </a:lnSpc>
              <a:spcBef>
                <a:spcPct val="20000"/>
              </a:spcBef>
              <a:spcAft>
                <a:spcPts val="0"/>
              </a:spcAft>
              <a:buClrTx/>
              <a:buSzTx/>
              <a:buFont typeface="Arial" panose="020B0604020202020204" pitchFamily="34" charset="0"/>
              <a:buNone/>
              <a:defRPr/>
            </a:pPr>
            <a:r>
              <a:rPr lang="en-US" b="1" noProof="0" dirty="0" smtClean="0">
                <a:ln>
                  <a:noFill/>
                </a:ln>
                <a:solidFill>
                  <a:schemeClr val="bg2"/>
                </a:solidFill>
                <a:effectLst/>
                <a:uLnTx/>
                <a:uFillTx/>
                <a:ea typeface="+mn-ea"/>
                <a:cs typeface="Times New Roman" panose="02020603050405020304" pitchFamily="18" charset="0"/>
                <a:sym typeface="+mn-ea"/>
              </a:rPr>
              <a:t>1.  </a:t>
            </a:r>
            <a:r>
              <a:rPr lang="en-US" b="1" i="1" noProof="0" dirty="0" smtClean="0">
                <a:ln>
                  <a:noFill/>
                </a:ln>
                <a:solidFill>
                  <a:schemeClr val="bg2"/>
                </a:solidFill>
                <a:effectLst/>
                <a:uLnTx/>
                <a:uFillTx/>
                <a:ea typeface="+mn-ea"/>
                <a:cs typeface="Times New Roman" panose="02020603050405020304" pitchFamily="18" charset="0"/>
                <a:sym typeface="+mn-ea"/>
              </a:rPr>
              <a:t>l</a:t>
            </a:r>
            <a:r>
              <a:rPr lang="en-US" b="1" noProof="0" dirty="0" smtClean="0">
                <a:ln>
                  <a:noFill/>
                </a:ln>
                <a:solidFill>
                  <a:schemeClr val="bg2"/>
                </a:solidFill>
                <a:effectLst/>
                <a:uLnTx/>
                <a:uFillTx/>
                <a:ea typeface="+mn-ea"/>
                <a:cs typeface="Times New Roman" panose="02020603050405020304" pitchFamily="18" charset="0"/>
                <a:sym typeface="Symbol" panose="05050102010706020507"/>
              </a:rPr>
              <a:t></a:t>
            </a:r>
            <a:r>
              <a:rPr lang="en-US" b="1" noProof="0" dirty="0" smtClean="0">
                <a:ln>
                  <a:noFill/>
                </a:ln>
                <a:solidFill>
                  <a:schemeClr val="bg2"/>
                </a:solidFill>
                <a:effectLst/>
                <a:uLnTx/>
                <a:uFillTx/>
                <a:ea typeface="+mn-ea"/>
                <a:cs typeface="Times New Roman" panose="02020603050405020304" pitchFamily="18" charset="0"/>
                <a:sym typeface="+mn-ea"/>
              </a:rPr>
              <a:t>1; </a:t>
            </a:r>
            <a:r>
              <a:rPr lang="en-US" b="1" i="1" noProof="0" dirty="0" err="1" smtClean="0">
                <a:ln>
                  <a:noFill/>
                </a:ln>
                <a:solidFill>
                  <a:schemeClr val="bg2"/>
                </a:solidFill>
                <a:effectLst/>
                <a:uLnTx/>
                <a:uFillTx/>
                <a:ea typeface="+mn-ea"/>
                <a:cs typeface="Times New Roman" panose="02020603050405020304" pitchFamily="18" charset="0"/>
                <a:sym typeface="+mn-ea"/>
              </a:rPr>
              <a:t>r</a:t>
            </a:r>
            <a:r>
              <a:rPr lang="en-US" b="1" noProof="0" dirty="0" err="1" smtClean="0">
                <a:ln>
                  <a:noFill/>
                </a:ln>
                <a:solidFill>
                  <a:schemeClr val="bg2"/>
                </a:solidFill>
                <a:effectLst/>
                <a:uLnTx/>
                <a:uFillTx/>
                <a:ea typeface="+mn-ea"/>
                <a:cs typeface="Times New Roman" panose="02020603050405020304" pitchFamily="18" charset="0"/>
                <a:sym typeface="Symbol" panose="05050102010706020507"/>
              </a:rPr>
              <a:t></a:t>
            </a:r>
            <a:r>
              <a:rPr lang="en-US" b="1" i="1" noProof="0" dirty="0" err="1" smtClean="0">
                <a:ln>
                  <a:noFill/>
                </a:ln>
                <a:solidFill>
                  <a:schemeClr val="bg2"/>
                </a:solidFill>
                <a:effectLst/>
                <a:uLnTx/>
                <a:uFillTx/>
                <a:ea typeface="+mn-ea"/>
                <a:cs typeface="Times New Roman" panose="02020603050405020304" pitchFamily="18" charset="0"/>
                <a:sym typeface="+mn-ea"/>
              </a:rPr>
              <a:t>n</a:t>
            </a:r>
            <a:endParaRPr kumimoji="0" lang="zh-CN" altLang="en-US" b="1" i="0" u="none" strike="noStrike" kern="1200" cap="none" spc="0" normalizeH="0" baseline="0" noProof="0" dirty="0" smtClean="0">
              <a:ln>
                <a:noFill/>
              </a:ln>
              <a:solidFill>
                <a:schemeClr val="bg2"/>
              </a:solidFill>
              <a:effectLst/>
              <a:uLnTx/>
              <a:uFillTx/>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ts val="0"/>
              </a:spcAft>
              <a:buClrTx/>
              <a:buSzTx/>
              <a:buFont typeface="Arial" panose="020B0604020202020204" pitchFamily="34" charset="0"/>
              <a:buNone/>
              <a:defRPr/>
            </a:pPr>
            <a:r>
              <a:rPr lang="en-US" b="1" noProof="0" dirty="0" smtClean="0">
                <a:ln>
                  <a:noFill/>
                </a:ln>
                <a:solidFill>
                  <a:schemeClr val="bg2"/>
                </a:solidFill>
                <a:effectLst/>
                <a:uLnTx/>
                <a:uFillTx/>
                <a:ea typeface="+mn-ea"/>
                <a:cs typeface="Times New Roman" panose="02020603050405020304" pitchFamily="18" charset="0"/>
                <a:sym typeface="+mn-ea"/>
              </a:rPr>
              <a:t>2.  while</a:t>
            </a:r>
            <a:r>
              <a:rPr lang="en-US" b="1" i="1" noProof="0" dirty="0" smtClean="0">
                <a:ln>
                  <a:noFill/>
                </a:ln>
                <a:solidFill>
                  <a:schemeClr val="bg2"/>
                </a:solidFill>
                <a:effectLst/>
                <a:uLnTx/>
                <a:uFillTx/>
                <a:ea typeface="+mn-ea"/>
                <a:cs typeface="Times New Roman" panose="02020603050405020304" pitchFamily="18" charset="0"/>
                <a:sym typeface="+mn-ea"/>
              </a:rPr>
              <a:t> l</a:t>
            </a:r>
            <a:r>
              <a:rPr lang="en-US" b="1" i="1" noProof="0" dirty="0" smtClean="0">
                <a:ln>
                  <a:noFill/>
                </a:ln>
                <a:solidFill>
                  <a:schemeClr val="bg2"/>
                </a:solidFill>
                <a:effectLst/>
                <a:uLnTx/>
                <a:uFillTx/>
                <a:ea typeface="+mn-ea"/>
                <a:cs typeface="Times New Roman" panose="02020603050405020304" pitchFamily="18" charset="0"/>
                <a:sym typeface="Symbol" panose="05050102010706020507"/>
              </a:rPr>
              <a:t></a:t>
            </a:r>
            <a:r>
              <a:rPr lang="en-US" b="1" i="1" noProof="0" dirty="0" smtClean="0">
                <a:ln>
                  <a:noFill/>
                </a:ln>
                <a:solidFill>
                  <a:schemeClr val="bg2"/>
                </a:solidFill>
                <a:effectLst/>
                <a:uLnTx/>
                <a:uFillTx/>
                <a:ea typeface="+mn-ea"/>
                <a:cs typeface="Times New Roman" panose="02020603050405020304" pitchFamily="18" charset="0"/>
                <a:sym typeface="+mn-ea"/>
              </a:rPr>
              <a:t> r</a:t>
            </a:r>
            <a:r>
              <a:rPr lang="en-US" b="1" noProof="0" dirty="0" smtClean="0">
                <a:ln>
                  <a:noFill/>
                </a:ln>
                <a:solidFill>
                  <a:schemeClr val="bg2"/>
                </a:solidFill>
                <a:effectLst/>
                <a:uLnTx/>
                <a:uFillTx/>
                <a:ea typeface="+mn-ea"/>
                <a:cs typeface="Times New Roman" panose="02020603050405020304" pitchFamily="18" charset="0"/>
                <a:sym typeface="+mn-ea"/>
              </a:rPr>
              <a:t> do</a:t>
            </a:r>
            <a:endParaRPr kumimoji="0" lang="zh-CN" altLang="en-US" b="1" i="0" u="none" strike="noStrike" kern="1200" cap="none" spc="0" normalizeH="0" baseline="0" noProof="0" dirty="0" smtClean="0">
              <a:ln>
                <a:noFill/>
              </a:ln>
              <a:solidFill>
                <a:schemeClr val="bg2"/>
              </a:solidFill>
              <a:effectLst/>
              <a:uLnTx/>
              <a:uFillTx/>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ts val="0"/>
              </a:spcAft>
              <a:buClrTx/>
              <a:buSzTx/>
              <a:buFont typeface="Arial" panose="020B0604020202020204" pitchFamily="34" charset="0"/>
              <a:buNone/>
              <a:defRPr/>
            </a:pPr>
            <a:r>
              <a:rPr lang="en-US" b="1" noProof="0" dirty="0" smtClean="0">
                <a:ln>
                  <a:noFill/>
                </a:ln>
                <a:solidFill>
                  <a:schemeClr val="bg2"/>
                </a:solidFill>
                <a:effectLst/>
                <a:uLnTx/>
                <a:uFillTx/>
                <a:ea typeface="+mn-ea"/>
                <a:cs typeface="Times New Roman" panose="02020603050405020304" pitchFamily="18" charset="0"/>
                <a:sym typeface="+mn-ea"/>
              </a:rPr>
              <a:t>3.       </a:t>
            </a:r>
            <a:r>
              <a:rPr lang="en-US" b="1" i="1" noProof="0" dirty="0" smtClean="0">
                <a:ln>
                  <a:noFill/>
                </a:ln>
                <a:solidFill>
                  <a:schemeClr val="bg2"/>
                </a:solidFill>
                <a:effectLst/>
                <a:uLnTx/>
                <a:uFillTx/>
                <a:ea typeface="+mn-ea"/>
                <a:cs typeface="Times New Roman" panose="02020603050405020304" pitchFamily="18" charset="0"/>
                <a:sym typeface="+mn-ea"/>
              </a:rPr>
              <a:t>m</a:t>
            </a:r>
            <a:r>
              <a:rPr lang="en-US" b="1" noProof="0" dirty="0" smtClean="0">
                <a:ln>
                  <a:noFill/>
                </a:ln>
                <a:solidFill>
                  <a:schemeClr val="bg2"/>
                </a:solidFill>
                <a:effectLst/>
                <a:uLnTx/>
                <a:uFillTx/>
                <a:ea typeface="+mn-ea"/>
                <a:cs typeface="Times New Roman" panose="02020603050405020304" pitchFamily="18" charset="0"/>
                <a:sym typeface="Symbol" panose="05050102010706020507"/>
              </a:rPr>
              <a:t></a:t>
            </a:r>
            <a:r>
              <a:rPr lang="en-US" b="1" noProof="0" dirty="0" smtClean="0">
                <a:ln>
                  <a:noFill/>
                </a:ln>
                <a:solidFill>
                  <a:schemeClr val="bg2"/>
                </a:solidFill>
                <a:effectLst/>
                <a:uLnTx/>
                <a:uFillTx/>
                <a:ea typeface="+mn-ea"/>
                <a:cs typeface="Times New Roman" panose="02020603050405020304" pitchFamily="18" charset="0"/>
                <a:sym typeface="+mn-ea"/>
              </a:rPr>
              <a:t>(</a:t>
            </a:r>
            <a:r>
              <a:rPr lang="en-US" b="1" i="1" noProof="0" dirty="0" err="1" smtClean="0">
                <a:ln>
                  <a:noFill/>
                </a:ln>
                <a:solidFill>
                  <a:schemeClr val="bg2"/>
                </a:solidFill>
                <a:effectLst/>
                <a:uLnTx/>
                <a:uFillTx/>
                <a:ea typeface="+mn-ea"/>
                <a:cs typeface="Times New Roman" panose="02020603050405020304" pitchFamily="18" charset="0"/>
                <a:sym typeface="+mn-ea"/>
              </a:rPr>
              <a:t>l</a:t>
            </a:r>
            <a:r>
              <a:rPr lang="en-US" b="1" noProof="0" dirty="0" err="1" smtClean="0">
                <a:ln>
                  <a:noFill/>
                </a:ln>
                <a:solidFill>
                  <a:schemeClr val="bg2"/>
                </a:solidFill>
                <a:effectLst/>
                <a:uLnTx/>
                <a:uFillTx/>
                <a:ea typeface="+mn-ea"/>
                <a:cs typeface="Times New Roman" panose="02020603050405020304" pitchFamily="18" charset="0"/>
                <a:sym typeface="+mn-ea"/>
              </a:rPr>
              <a:t>+</a:t>
            </a:r>
            <a:r>
              <a:rPr lang="en-US" b="1" i="1" noProof="0" dirty="0" err="1" smtClean="0">
                <a:ln>
                  <a:noFill/>
                </a:ln>
                <a:solidFill>
                  <a:schemeClr val="bg2"/>
                </a:solidFill>
                <a:effectLst/>
                <a:uLnTx/>
                <a:uFillTx/>
                <a:ea typeface="+mn-ea"/>
                <a:cs typeface="Times New Roman" panose="02020603050405020304" pitchFamily="18" charset="0"/>
                <a:sym typeface="+mn-ea"/>
              </a:rPr>
              <a:t>r</a:t>
            </a:r>
            <a:r>
              <a:rPr lang="en-US" b="1" noProof="0" dirty="0" smtClean="0">
                <a:ln>
                  <a:noFill/>
                </a:ln>
                <a:solidFill>
                  <a:schemeClr val="bg2"/>
                </a:solidFill>
                <a:effectLst/>
                <a:uLnTx/>
                <a:uFillTx/>
                <a:ea typeface="+mn-ea"/>
                <a:cs typeface="Times New Roman" panose="02020603050405020304" pitchFamily="18" charset="0"/>
                <a:sym typeface="+mn-ea"/>
              </a:rPr>
              <a:t>)/2</a:t>
            </a:r>
            <a:r>
              <a:rPr lang="en-US" b="1" noProof="0" dirty="0" smtClean="0">
                <a:ln>
                  <a:noFill/>
                </a:ln>
                <a:solidFill>
                  <a:schemeClr val="bg2"/>
                </a:solidFill>
                <a:effectLst/>
                <a:uLnTx/>
                <a:uFillTx/>
                <a:ea typeface="+mn-ea"/>
                <a:cs typeface="Times New Roman" panose="02020603050405020304" pitchFamily="18" charset="0"/>
                <a:sym typeface="Symbol" panose="05050102010706020507"/>
              </a:rPr>
              <a:t></a:t>
            </a:r>
            <a:r>
              <a:rPr lang="en-US" b="1" noProof="0" dirty="0" smtClean="0">
                <a:ln>
                  <a:noFill/>
                </a:ln>
                <a:solidFill>
                  <a:schemeClr val="bg2"/>
                </a:solidFill>
                <a:effectLst/>
                <a:uLnTx/>
                <a:uFillTx/>
                <a:ea typeface="+mn-ea"/>
                <a:cs typeface="Times New Roman" panose="02020603050405020304" pitchFamily="18" charset="0"/>
                <a:sym typeface="+mn-ea"/>
              </a:rPr>
              <a:t>    </a:t>
            </a:r>
            <a:endParaRPr kumimoji="0" lang="zh-CN" altLang="en-US" b="1" i="0" u="none" strike="noStrike" kern="1200" cap="none" spc="0" normalizeH="0" baseline="0" noProof="0" dirty="0" smtClean="0">
              <a:ln>
                <a:noFill/>
              </a:ln>
              <a:solidFill>
                <a:schemeClr val="bg2"/>
              </a:solidFill>
              <a:effectLst/>
              <a:uLnTx/>
              <a:uFillTx/>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ts val="0"/>
              </a:spcAft>
              <a:buClrTx/>
              <a:buSzTx/>
              <a:buFont typeface="Arial" panose="020B0604020202020204" pitchFamily="34" charset="0"/>
              <a:buNone/>
              <a:defRPr/>
            </a:pPr>
            <a:r>
              <a:rPr lang="en-US" b="1" noProof="0" dirty="0" smtClean="0">
                <a:ln>
                  <a:noFill/>
                </a:ln>
                <a:solidFill>
                  <a:schemeClr val="bg2"/>
                </a:solidFill>
                <a:effectLst/>
                <a:uLnTx/>
                <a:uFillTx/>
                <a:ea typeface="+mn-ea"/>
                <a:cs typeface="Times New Roman" panose="02020603050405020304" pitchFamily="18" charset="0"/>
                <a:sym typeface="+mn-ea"/>
              </a:rPr>
              <a:t>4.       if </a:t>
            </a:r>
            <a:r>
              <a:rPr lang="en-US" b="1" i="1" noProof="0" dirty="0" smtClean="0">
                <a:ln>
                  <a:noFill/>
                </a:ln>
                <a:solidFill>
                  <a:schemeClr val="bg2"/>
                </a:solidFill>
                <a:effectLst/>
                <a:uLnTx/>
                <a:uFillTx/>
                <a:ea typeface="+mn-ea"/>
                <a:cs typeface="Times New Roman" panose="02020603050405020304" pitchFamily="18" charset="0"/>
                <a:sym typeface="+mn-ea"/>
              </a:rPr>
              <a:t>T</a:t>
            </a:r>
            <a:r>
              <a:rPr lang="en-US" b="1" noProof="0" dirty="0" smtClean="0">
                <a:ln>
                  <a:noFill/>
                </a:ln>
                <a:solidFill>
                  <a:schemeClr val="bg2"/>
                </a:solidFill>
                <a:effectLst/>
                <a:uLnTx/>
                <a:uFillTx/>
                <a:ea typeface="+mn-ea"/>
                <a:cs typeface="Times New Roman" panose="02020603050405020304" pitchFamily="18" charset="0"/>
                <a:sym typeface="+mn-ea"/>
              </a:rPr>
              <a:t>[</a:t>
            </a:r>
            <a:r>
              <a:rPr lang="en-US" b="1" i="1" noProof="0" dirty="0" smtClean="0">
                <a:ln>
                  <a:noFill/>
                </a:ln>
                <a:solidFill>
                  <a:schemeClr val="bg2"/>
                </a:solidFill>
                <a:effectLst/>
                <a:uLnTx/>
                <a:uFillTx/>
                <a:ea typeface="+mn-ea"/>
                <a:cs typeface="Times New Roman" panose="02020603050405020304" pitchFamily="18" charset="0"/>
                <a:sym typeface="+mn-ea"/>
              </a:rPr>
              <a:t>m</a:t>
            </a:r>
            <a:r>
              <a:rPr lang="en-US" b="1" noProof="0" dirty="0" smtClean="0">
                <a:ln>
                  <a:noFill/>
                </a:ln>
                <a:solidFill>
                  <a:schemeClr val="bg2"/>
                </a:solidFill>
                <a:effectLst/>
                <a:uLnTx/>
                <a:uFillTx/>
                <a:ea typeface="+mn-ea"/>
                <a:cs typeface="Times New Roman" panose="02020603050405020304" pitchFamily="18" charset="0"/>
                <a:sym typeface="+mn-ea"/>
              </a:rPr>
              <a:t>]=</a:t>
            </a:r>
            <a:r>
              <a:rPr lang="en-US" b="1" i="1" noProof="0" dirty="0" smtClean="0">
                <a:ln>
                  <a:noFill/>
                </a:ln>
                <a:solidFill>
                  <a:schemeClr val="bg2"/>
                </a:solidFill>
                <a:effectLst/>
                <a:uLnTx/>
                <a:uFillTx/>
                <a:ea typeface="+mn-ea"/>
                <a:cs typeface="Times New Roman" panose="02020603050405020304" pitchFamily="18" charset="0"/>
                <a:sym typeface="+mn-ea"/>
              </a:rPr>
              <a:t>x</a:t>
            </a:r>
            <a:r>
              <a:rPr lang="en-US" b="1" noProof="0" dirty="0" smtClean="0">
                <a:ln>
                  <a:noFill/>
                </a:ln>
                <a:solidFill>
                  <a:schemeClr val="bg2"/>
                </a:solidFill>
                <a:effectLst/>
                <a:uLnTx/>
                <a:uFillTx/>
                <a:ea typeface="+mn-ea"/>
                <a:cs typeface="Times New Roman" panose="02020603050405020304" pitchFamily="18" charset="0"/>
                <a:sym typeface="+mn-ea"/>
              </a:rPr>
              <a:t>  then return </a:t>
            </a:r>
            <a:r>
              <a:rPr lang="en-US" b="1" i="1" noProof="0" dirty="0" smtClean="0">
                <a:ln>
                  <a:noFill/>
                </a:ln>
                <a:solidFill>
                  <a:schemeClr val="bg2"/>
                </a:solidFill>
                <a:effectLst/>
                <a:uLnTx/>
                <a:uFillTx/>
                <a:ea typeface="+mn-ea"/>
                <a:cs typeface="Times New Roman" panose="02020603050405020304" pitchFamily="18" charset="0"/>
                <a:sym typeface="+mn-ea"/>
              </a:rPr>
              <a:t>m </a:t>
            </a:r>
            <a:r>
              <a:rPr lang="en-US" b="1" noProof="0" dirty="0" smtClean="0">
                <a:ln>
                  <a:noFill/>
                </a:ln>
                <a:solidFill>
                  <a:schemeClr val="bg2"/>
                </a:solidFill>
                <a:effectLst/>
                <a:uLnTx/>
                <a:uFillTx/>
                <a:ea typeface="+mn-ea"/>
                <a:cs typeface="Times New Roman" panose="02020603050405020304" pitchFamily="18" charset="0"/>
                <a:sym typeface="+mn-ea"/>
              </a:rPr>
              <a:t>// </a:t>
            </a:r>
            <a:r>
              <a:rPr lang="en-US" b="1" i="1" noProof="0" dirty="0" smtClean="0">
                <a:ln>
                  <a:noFill/>
                </a:ln>
                <a:solidFill>
                  <a:schemeClr val="bg2"/>
                </a:solidFill>
                <a:effectLst/>
                <a:uLnTx/>
                <a:uFillTx/>
                <a:ea typeface="+mn-ea"/>
                <a:cs typeface="Times New Roman" panose="02020603050405020304" pitchFamily="18" charset="0"/>
                <a:sym typeface="+mn-ea"/>
              </a:rPr>
              <a:t>x</a:t>
            </a:r>
            <a:r>
              <a:rPr lang="zh-CN" altLang="en-US" b="1" noProof="0" dirty="0" smtClean="0">
                <a:ln>
                  <a:noFill/>
                </a:ln>
                <a:solidFill>
                  <a:schemeClr val="bg2"/>
                </a:solidFill>
                <a:effectLst/>
                <a:uLnTx/>
                <a:uFillTx/>
                <a:ea typeface="+mn-ea"/>
                <a:cs typeface="Times New Roman" panose="02020603050405020304" pitchFamily="18" charset="0"/>
                <a:sym typeface="+mn-ea"/>
              </a:rPr>
              <a:t>恰好等于中位元素</a:t>
            </a:r>
            <a:endParaRPr kumimoji="0" lang="zh-CN" altLang="en-US" b="1" i="0" u="none" strike="noStrike" kern="1200" cap="none" spc="0" normalizeH="0" baseline="0" noProof="0" dirty="0" smtClean="0">
              <a:ln>
                <a:noFill/>
              </a:ln>
              <a:solidFill>
                <a:schemeClr val="bg2"/>
              </a:solidFill>
              <a:effectLst/>
              <a:uLnTx/>
              <a:uFillTx/>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ts val="0"/>
              </a:spcAft>
              <a:buClrTx/>
              <a:buSzTx/>
              <a:buFont typeface="Arial" panose="020B0604020202020204" pitchFamily="34" charset="0"/>
              <a:buNone/>
              <a:defRPr/>
            </a:pPr>
            <a:r>
              <a:rPr lang="en-US" b="1" noProof="0" dirty="0" smtClean="0">
                <a:ln>
                  <a:noFill/>
                </a:ln>
                <a:solidFill>
                  <a:schemeClr val="bg2"/>
                </a:solidFill>
                <a:effectLst/>
                <a:uLnTx/>
                <a:uFillTx/>
                <a:ea typeface="+mn-ea"/>
                <a:cs typeface="Times New Roman" panose="02020603050405020304" pitchFamily="18" charset="0"/>
                <a:sym typeface="+mn-ea"/>
              </a:rPr>
              <a:t>5.       else if </a:t>
            </a:r>
            <a:r>
              <a:rPr lang="en-US" b="1" i="1" noProof="0" dirty="0" smtClean="0">
                <a:ln>
                  <a:noFill/>
                </a:ln>
                <a:solidFill>
                  <a:schemeClr val="bg2"/>
                </a:solidFill>
                <a:effectLst/>
                <a:uLnTx/>
                <a:uFillTx/>
                <a:ea typeface="+mn-ea"/>
                <a:cs typeface="Times New Roman" panose="02020603050405020304" pitchFamily="18" charset="0"/>
                <a:sym typeface="+mn-ea"/>
              </a:rPr>
              <a:t>T</a:t>
            </a:r>
            <a:r>
              <a:rPr lang="en-US" b="1" noProof="0" dirty="0" smtClean="0">
                <a:ln>
                  <a:noFill/>
                </a:ln>
                <a:solidFill>
                  <a:schemeClr val="bg2"/>
                </a:solidFill>
                <a:effectLst/>
                <a:uLnTx/>
                <a:uFillTx/>
                <a:ea typeface="+mn-ea"/>
                <a:cs typeface="Times New Roman" panose="02020603050405020304" pitchFamily="18" charset="0"/>
                <a:sym typeface="+mn-ea"/>
              </a:rPr>
              <a:t>[</a:t>
            </a:r>
            <a:r>
              <a:rPr lang="en-US" b="1" i="1" noProof="0" dirty="0" smtClean="0">
                <a:ln>
                  <a:noFill/>
                </a:ln>
                <a:solidFill>
                  <a:schemeClr val="bg2"/>
                </a:solidFill>
                <a:effectLst/>
                <a:uLnTx/>
                <a:uFillTx/>
                <a:ea typeface="+mn-ea"/>
                <a:cs typeface="Times New Roman" panose="02020603050405020304" pitchFamily="18" charset="0"/>
                <a:sym typeface="+mn-ea"/>
              </a:rPr>
              <a:t>m</a:t>
            </a:r>
            <a:r>
              <a:rPr lang="en-US" b="1" noProof="0" dirty="0" smtClean="0">
                <a:ln>
                  <a:noFill/>
                </a:ln>
                <a:solidFill>
                  <a:schemeClr val="bg2"/>
                </a:solidFill>
                <a:effectLst/>
                <a:uLnTx/>
                <a:uFillTx/>
                <a:ea typeface="+mn-ea"/>
                <a:cs typeface="Times New Roman" panose="02020603050405020304" pitchFamily="18" charset="0"/>
                <a:sym typeface="+mn-ea"/>
              </a:rPr>
              <a:t>]&gt;</a:t>
            </a:r>
            <a:r>
              <a:rPr lang="en-US" b="1" i="1" noProof="0" dirty="0" smtClean="0">
                <a:ln>
                  <a:noFill/>
                </a:ln>
                <a:solidFill>
                  <a:schemeClr val="bg2"/>
                </a:solidFill>
                <a:effectLst/>
                <a:uLnTx/>
                <a:uFillTx/>
                <a:ea typeface="+mn-ea"/>
                <a:cs typeface="Times New Roman" panose="02020603050405020304" pitchFamily="18" charset="0"/>
                <a:sym typeface="+mn-ea"/>
              </a:rPr>
              <a:t>x</a:t>
            </a:r>
            <a:r>
              <a:rPr lang="en-US" b="1" noProof="0" dirty="0" smtClean="0">
                <a:ln>
                  <a:noFill/>
                </a:ln>
                <a:solidFill>
                  <a:schemeClr val="bg2"/>
                </a:solidFill>
                <a:effectLst/>
                <a:uLnTx/>
                <a:uFillTx/>
                <a:ea typeface="+mn-ea"/>
                <a:cs typeface="Times New Roman" panose="02020603050405020304" pitchFamily="18" charset="0"/>
                <a:sym typeface="+mn-ea"/>
              </a:rPr>
              <a:t>  then</a:t>
            </a:r>
            <a:r>
              <a:rPr lang="en-US" b="1" i="1" noProof="0" dirty="0" smtClean="0">
                <a:ln>
                  <a:noFill/>
                </a:ln>
                <a:solidFill>
                  <a:schemeClr val="bg2"/>
                </a:solidFill>
                <a:effectLst/>
                <a:uLnTx/>
                <a:uFillTx/>
                <a:ea typeface="+mn-ea"/>
                <a:cs typeface="Times New Roman" panose="02020603050405020304" pitchFamily="18" charset="0"/>
                <a:sym typeface="+mn-ea"/>
              </a:rPr>
              <a:t> </a:t>
            </a:r>
            <a:r>
              <a:rPr lang="zh-CN" altLang="en-US" dirty="0">
                <a:solidFill>
                  <a:srgbClr val="FF0000"/>
                </a:solidFill>
                <a:cs typeface="Times New Roman" panose="02020603050405020304" pitchFamily="18" charset="0"/>
                <a:sym typeface="+mn-ea"/>
              </a:rPr>
              <a:t>Binary Search</a:t>
            </a:r>
            <a:r>
              <a:rPr lang="en-US" altLang="zh-CN" dirty="0">
                <a:solidFill>
                  <a:srgbClr val="FF0000"/>
                </a:solidFill>
                <a:cs typeface="Times New Roman" panose="02020603050405020304" pitchFamily="18" charset="0"/>
                <a:sym typeface="+mn-ea"/>
              </a:rPr>
              <a:t>(</a:t>
            </a:r>
            <a:r>
              <a:rPr lang="zh-CN" altLang="en-US" b="1" i="1" dirty="0">
                <a:solidFill>
                  <a:srgbClr val="FF0000"/>
                </a:solidFill>
                <a:cs typeface="Times New Roman" panose="02020603050405020304" pitchFamily="18" charset="0"/>
                <a:sym typeface="+mn-ea"/>
              </a:rPr>
              <a:t>T</a:t>
            </a:r>
            <a:r>
              <a:rPr lang="zh-CN" altLang="en-US" dirty="0">
                <a:solidFill>
                  <a:srgbClr val="FF0000"/>
                </a:solidFill>
                <a:sym typeface="+mn-ea"/>
              </a:rPr>
              <a:t>, </a:t>
            </a:r>
            <a:r>
              <a:rPr lang="zh-CN" altLang="en-US" b="1" i="1" dirty="0">
                <a:solidFill>
                  <a:srgbClr val="FF0000"/>
                </a:solidFill>
                <a:cs typeface="Times New Roman" panose="02020603050405020304" pitchFamily="18" charset="0"/>
                <a:sym typeface="+mn-ea"/>
              </a:rPr>
              <a:t>l</a:t>
            </a:r>
            <a:r>
              <a:rPr lang="zh-CN" altLang="en-US" dirty="0">
                <a:solidFill>
                  <a:srgbClr val="FF0000"/>
                </a:solidFill>
                <a:sym typeface="+mn-ea"/>
              </a:rPr>
              <a:t>, </a:t>
            </a:r>
            <a:r>
              <a:rPr lang="en-US" altLang="zh-CN" b="1" i="1" dirty="0">
                <a:solidFill>
                  <a:srgbClr val="FF0000"/>
                </a:solidFill>
                <a:cs typeface="Times New Roman" panose="02020603050405020304" pitchFamily="18" charset="0"/>
                <a:sym typeface="+mn-ea"/>
              </a:rPr>
              <a:t>m</a:t>
            </a:r>
            <a:r>
              <a:rPr lang="en-US" altLang="zh-CN" b="1" dirty="0">
                <a:solidFill>
                  <a:srgbClr val="FF0000"/>
                </a:solidFill>
                <a:cs typeface="Times New Roman" panose="02020603050405020304" pitchFamily="18" charset="0"/>
                <a:sym typeface="+mn-ea"/>
              </a:rPr>
              <a:t>-1</a:t>
            </a:r>
            <a:r>
              <a:rPr lang="zh-CN" altLang="en-US" dirty="0">
                <a:solidFill>
                  <a:srgbClr val="FF0000"/>
                </a:solidFill>
                <a:sym typeface="+mn-ea"/>
              </a:rPr>
              <a:t>, </a:t>
            </a:r>
            <a:r>
              <a:rPr lang="zh-CN" altLang="en-US" b="1" i="1" dirty="0">
                <a:solidFill>
                  <a:srgbClr val="FF0000"/>
                </a:solidFill>
                <a:cs typeface="Times New Roman" panose="02020603050405020304" pitchFamily="18" charset="0"/>
                <a:sym typeface="+mn-ea"/>
              </a:rPr>
              <a:t>x</a:t>
            </a:r>
            <a:r>
              <a:rPr lang="en-US" altLang="zh-CN" b="1" dirty="0">
                <a:solidFill>
                  <a:srgbClr val="FF0000"/>
                </a:solidFill>
                <a:cs typeface="Times New Roman" panose="02020603050405020304" pitchFamily="18" charset="0"/>
                <a:sym typeface="+mn-ea"/>
              </a:rPr>
              <a:t>);</a:t>
            </a:r>
            <a:endParaRPr kumimoji="0" lang="zh-CN" altLang="en-US" b="1" i="0" u="none" strike="noStrike" kern="1200" cap="none" spc="0" normalizeH="0" baseline="0" noProof="0" dirty="0" smtClean="0">
              <a:ln>
                <a:noFill/>
              </a:ln>
              <a:solidFill>
                <a:srgbClr val="FF0000"/>
              </a:solidFill>
              <a:effectLst/>
              <a:uLnTx/>
              <a:uFillTx/>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ts val="0"/>
              </a:spcAft>
              <a:buClrTx/>
              <a:buSzTx/>
              <a:buFont typeface="Arial" panose="020B0604020202020204" pitchFamily="34" charset="0"/>
              <a:buNone/>
              <a:defRPr/>
            </a:pPr>
            <a:r>
              <a:rPr lang="en-US" b="1" noProof="0" dirty="0" smtClean="0">
                <a:ln>
                  <a:noFill/>
                </a:ln>
                <a:solidFill>
                  <a:schemeClr val="bg2"/>
                </a:solidFill>
                <a:effectLst/>
                <a:uLnTx/>
                <a:uFillTx/>
                <a:ea typeface="+mn-ea"/>
                <a:cs typeface="Times New Roman" panose="02020603050405020304" pitchFamily="18" charset="0"/>
                <a:sym typeface="+mn-ea"/>
              </a:rPr>
              <a:t>6.              else</a:t>
            </a:r>
            <a:r>
              <a:rPr lang="en-US" b="1" i="1" noProof="0" dirty="0" smtClean="0">
                <a:ln>
                  <a:noFill/>
                </a:ln>
                <a:solidFill>
                  <a:schemeClr val="bg2"/>
                </a:solidFill>
                <a:effectLst/>
                <a:uLnTx/>
                <a:uFillTx/>
                <a:ea typeface="+mn-ea"/>
                <a:cs typeface="Times New Roman" panose="02020603050405020304" pitchFamily="18" charset="0"/>
                <a:sym typeface="+mn-ea"/>
              </a:rPr>
              <a:t> </a:t>
            </a:r>
            <a:r>
              <a:rPr lang="zh-CN" altLang="en-US" dirty="0">
                <a:solidFill>
                  <a:srgbClr val="FF0000"/>
                </a:solidFill>
                <a:cs typeface="Times New Roman" panose="02020603050405020304" pitchFamily="18" charset="0"/>
                <a:sym typeface="+mn-ea"/>
              </a:rPr>
              <a:t>Binary Search</a:t>
            </a:r>
            <a:r>
              <a:rPr lang="en-US" altLang="zh-CN" dirty="0">
                <a:solidFill>
                  <a:srgbClr val="FF0000"/>
                </a:solidFill>
                <a:cs typeface="Times New Roman" panose="02020603050405020304" pitchFamily="18" charset="0"/>
                <a:sym typeface="+mn-ea"/>
              </a:rPr>
              <a:t>(</a:t>
            </a:r>
            <a:r>
              <a:rPr lang="zh-CN" altLang="en-US" b="1" i="1" dirty="0">
                <a:solidFill>
                  <a:srgbClr val="FF0000"/>
                </a:solidFill>
                <a:cs typeface="Times New Roman" panose="02020603050405020304" pitchFamily="18" charset="0"/>
                <a:sym typeface="+mn-ea"/>
              </a:rPr>
              <a:t>T</a:t>
            </a:r>
            <a:r>
              <a:rPr lang="zh-CN" altLang="en-US" dirty="0">
                <a:solidFill>
                  <a:srgbClr val="FF0000"/>
                </a:solidFill>
                <a:sym typeface="+mn-ea"/>
              </a:rPr>
              <a:t>, </a:t>
            </a:r>
            <a:r>
              <a:rPr lang="en-US" altLang="zh-CN" b="1" i="1" dirty="0">
                <a:solidFill>
                  <a:srgbClr val="FF0000"/>
                </a:solidFill>
                <a:cs typeface="Times New Roman" panose="02020603050405020304" pitchFamily="18" charset="0"/>
                <a:sym typeface="+mn-ea"/>
              </a:rPr>
              <a:t>m+</a:t>
            </a:r>
            <a:r>
              <a:rPr lang="en-US" altLang="zh-CN" b="1" dirty="0">
                <a:solidFill>
                  <a:srgbClr val="FF0000"/>
                </a:solidFill>
                <a:cs typeface="Times New Roman" panose="02020603050405020304" pitchFamily="18" charset="0"/>
                <a:sym typeface="+mn-ea"/>
              </a:rPr>
              <a:t>1</a:t>
            </a:r>
            <a:r>
              <a:rPr lang="zh-CN" altLang="en-US" dirty="0">
                <a:solidFill>
                  <a:srgbClr val="FF0000"/>
                </a:solidFill>
                <a:sym typeface="+mn-ea"/>
              </a:rPr>
              <a:t>, </a:t>
            </a:r>
            <a:r>
              <a:rPr lang="en-US" altLang="zh-CN" b="1" i="1" dirty="0">
                <a:solidFill>
                  <a:srgbClr val="FF0000"/>
                </a:solidFill>
                <a:cs typeface="Times New Roman" panose="02020603050405020304" pitchFamily="18" charset="0"/>
                <a:sym typeface="+mn-ea"/>
              </a:rPr>
              <a:t>r</a:t>
            </a:r>
            <a:r>
              <a:rPr lang="zh-CN" altLang="en-US" dirty="0">
                <a:solidFill>
                  <a:srgbClr val="FF0000"/>
                </a:solidFill>
                <a:sym typeface="+mn-ea"/>
              </a:rPr>
              <a:t>, </a:t>
            </a:r>
            <a:r>
              <a:rPr lang="zh-CN" altLang="en-US" b="1" i="1" dirty="0">
                <a:solidFill>
                  <a:srgbClr val="FF0000"/>
                </a:solidFill>
                <a:cs typeface="Times New Roman" panose="02020603050405020304" pitchFamily="18" charset="0"/>
                <a:sym typeface="+mn-ea"/>
              </a:rPr>
              <a:t>x</a:t>
            </a:r>
            <a:r>
              <a:rPr lang="en-US" altLang="zh-CN" b="1" dirty="0">
                <a:solidFill>
                  <a:srgbClr val="FF0000"/>
                </a:solidFill>
                <a:cs typeface="Times New Roman" panose="02020603050405020304" pitchFamily="18" charset="0"/>
                <a:sym typeface="+mn-ea"/>
              </a:rPr>
              <a:t>);</a:t>
            </a:r>
            <a:endParaRPr kumimoji="0" lang="zh-CN" altLang="en-US" b="1" i="0" u="none" strike="noStrike" kern="1200" cap="none" spc="0" normalizeH="0" baseline="0" noProof="0" dirty="0" smtClean="0">
              <a:ln>
                <a:noFill/>
              </a:ln>
              <a:solidFill>
                <a:srgbClr val="FF0000"/>
              </a:solidFill>
              <a:effectLst/>
              <a:uLnTx/>
              <a:uFillTx/>
              <a:ea typeface="+mn-ea"/>
              <a:cs typeface="Times New Roman" panose="02020603050405020304" pitchFamily="18" charset="0"/>
            </a:endParaRPr>
          </a:p>
          <a:p>
            <a:pPr marL="457200" marR="0" lvl="0" indent="-457200" algn="l" defTabSz="914400" rtl="0" eaLnBrk="0" fontAlgn="base" latinLnBrk="0" hangingPunct="0">
              <a:lnSpc>
                <a:spcPct val="100000"/>
              </a:lnSpc>
              <a:spcBef>
                <a:spcPct val="20000"/>
              </a:spcBef>
              <a:spcAft>
                <a:spcPts val="0"/>
              </a:spcAft>
              <a:buClrTx/>
              <a:buSzTx/>
              <a:buFont typeface="Arial" panose="020B0604020202020204" pitchFamily="34" charset="0"/>
              <a:buAutoNum type="arabicPeriod" startAt="7"/>
              <a:defRPr/>
            </a:pPr>
            <a:r>
              <a:rPr lang="en-US" b="1" noProof="0" dirty="0" smtClean="0">
                <a:ln>
                  <a:noFill/>
                </a:ln>
                <a:solidFill>
                  <a:schemeClr val="bg2"/>
                </a:solidFill>
                <a:effectLst/>
                <a:uLnTx/>
                <a:uFillTx/>
                <a:ea typeface="+mn-ea"/>
                <a:cs typeface="Times New Roman" panose="02020603050405020304" pitchFamily="18" charset="0"/>
                <a:sym typeface="+mn-ea"/>
              </a:rPr>
              <a:t>return 0</a:t>
            </a:r>
            <a:endParaRPr kumimoji="0" lang="en-US" altLang="en-US" b="1" i="0" u="none" strike="noStrike" kern="1200" cap="none" spc="0" normalizeH="0" baseline="0" noProof="0" dirty="0" smtClean="0">
              <a:ln>
                <a:noFill/>
              </a:ln>
              <a:solidFill>
                <a:schemeClr val="bg2"/>
              </a:solidFill>
              <a:effectLst/>
              <a:uLnTx/>
              <a:uFillTx/>
              <a:ea typeface="+mn-ea"/>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wipe(left)">
                                      <p:cBhvr>
                                        <p:cTn id="7" dur="500"/>
                                        <p:tgtEl>
                                          <p:spTgt spid="4">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wipe(left)">
                                      <p:cBhvr>
                                        <p:cTn id="10" dur="500"/>
                                        <p:tgtEl>
                                          <p:spTgt spid="4">
                                            <p:txEl>
                                              <p:pRg st="4" end="4"/>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wipe(left)">
                                      <p:cBhvr>
                                        <p:cTn id="13" dur="500"/>
                                        <p:tgtEl>
                                          <p:spTgt spid="4">
                                            <p:txEl>
                                              <p:pRg st="5" end="5"/>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4">
                                            <p:txEl>
                                              <p:pRg st="6" end="6"/>
                                            </p:txEl>
                                          </p:spTgt>
                                        </p:tgtEl>
                                        <p:attrNameLst>
                                          <p:attrName>style.visibility</p:attrName>
                                        </p:attrNameLst>
                                      </p:cBhvr>
                                      <p:to>
                                        <p:strVal val="visible"/>
                                      </p:to>
                                    </p:set>
                                    <p:animEffect transition="in" filter="wipe(left)">
                                      <p:cBhvr>
                                        <p:cTn id="16" dur="500"/>
                                        <p:tgtEl>
                                          <p:spTgt spid="4">
                                            <p:txEl>
                                              <p:pRg st="6" end="6"/>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animEffect transition="in" filter="wipe(left)">
                                      <p:cBhvr>
                                        <p:cTn id="19" dur="500"/>
                                        <p:tgtEl>
                                          <p:spTgt spid="4">
                                            <p:txEl>
                                              <p:pRg st="7" end="7"/>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wipe(left)">
                                      <p:cBhvr>
                                        <p:cTn id="22" dur="500"/>
                                        <p:tgtEl>
                                          <p:spTgt spid="4">
                                            <p:txEl>
                                              <p:pRg st="8" end="8"/>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animEffect transition="in" filter="wipe(left)">
                                      <p:cBhvr>
                                        <p:cTn id="25"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784225" y="1638300"/>
            <a:ext cx="4488180" cy="460375"/>
          </a:xfrm>
          <a:prstGeom prst="rect">
            <a:avLst/>
          </a:prstGeom>
          <a:noFill/>
        </p:spPr>
        <p:txBody>
          <a:bodyPr wrap="none" rtlCol="0">
            <a:spAutoFit/>
          </a:bodyPr>
          <a:lstStyle/>
          <a:p>
            <a:pPr marL="342900" indent="-342900" algn="l">
              <a:buFont typeface="Arial" panose="020B0604020202020204" pitchFamily="34" charset="0"/>
              <a:buChar char="•"/>
            </a:pPr>
            <a:r>
              <a:rPr lang="zh-CN" altLang="en-US">
                <a:solidFill>
                  <a:schemeClr val="bg1"/>
                </a:solidFill>
              </a:rPr>
              <a:t>二分检索法的时间复杂度分析</a:t>
            </a:r>
            <a:endParaRPr lang="en-US" altLang="zh-CN">
              <a:solidFill>
                <a:schemeClr val="bg1"/>
              </a:solidFill>
            </a:endParaRPr>
          </a:p>
        </p:txBody>
      </p:sp>
      <p:pic>
        <p:nvPicPr>
          <p:cNvPr id="4" name="20 3"/>
          <p:cNvPicPr>
            <a:picLocks noChangeAspect="1"/>
          </p:cNvPicPr>
          <p:nvPr/>
        </p:nvPicPr>
        <p:blipFill rotWithShape="1">
          <a:blip r:embed="rId1"/>
          <a:srcRect l="18331" t="31172" r="36359" b="45861"/>
          <a:stretch>
            <a:fillRect/>
          </a:stretch>
        </p:blipFill>
        <p:spPr>
          <a:xfrm>
            <a:off x="1283387" y="2132856"/>
            <a:ext cx="5895340" cy="1680084"/>
          </a:xfrm>
          <a:prstGeom prst="rect">
            <a:avLst/>
          </a:prstGeom>
        </p:spPr>
      </p:pic>
      <p:pic>
        <p:nvPicPr>
          <p:cNvPr id="5" name="20 4"/>
          <p:cNvPicPr>
            <a:picLocks noChangeAspect="1"/>
          </p:cNvPicPr>
          <p:nvPr/>
        </p:nvPicPr>
        <p:blipFill rotWithShape="1">
          <a:blip r:embed="rId1"/>
          <a:srcRect l="18331" t="54912" r="36359" b="27691"/>
          <a:stretch>
            <a:fillRect/>
          </a:stretch>
        </p:blipFill>
        <p:spPr>
          <a:xfrm>
            <a:off x="1187624" y="3956551"/>
            <a:ext cx="5895340" cy="1272649"/>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72481"/>
            <a:ext cx="3421380" cy="460375"/>
          </a:xfrm>
          <a:prstGeom prst="rect">
            <a:avLst/>
          </a:prstGeom>
          <a:noFill/>
        </p:spPr>
        <p:txBody>
          <a:bodyPr wrap="none" rtlCol="0">
            <a:spAutoFit/>
          </a:bodyPr>
          <a:lstStyle/>
          <a:p>
            <a:pPr marL="342900" indent="-342900" algn="l">
              <a:buFont typeface="Arial" panose="020B0604020202020204" pitchFamily="34" charset="0"/>
              <a:buChar char="•"/>
            </a:pPr>
            <a:r>
              <a:rPr lang="zh-CN" altLang="en-US" dirty="0">
                <a:solidFill>
                  <a:schemeClr val="bg2"/>
                </a:solidFill>
              </a:rPr>
              <a:t>例题</a:t>
            </a:r>
            <a:r>
              <a:rPr lang="en-US" altLang="zh-CN" dirty="0">
                <a:solidFill>
                  <a:schemeClr val="bg2"/>
                </a:solidFill>
              </a:rPr>
              <a:t>2</a:t>
            </a:r>
            <a:r>
              <a:rPr lang="zh-CN" altLang="en-US" dirty="0">
                <a:solidFill>
                  <a:schemeClr val="bg2"/>
                </a:solidFill>
              </a:rPr>
              <a:t>：二分归并排序</a:t>
            </a:r>
            <a:endParaRPr lang="zh-CN" altLang="en-US" dirty="0">
              <a:solidFill>
                <a:schemeClr val="bg2"/>
              </a:solidFill>
            </a:endParaRPr>
          </a:p>
        </p:txBody>
      </p:sp>
      <p:pic>
        <p:nvPicPr>
          <p:cNvPr id="4" name="20 3"/>
          <p:cNvPicPr>
            <a:picLocks noChangeAspect="1"/>
          </p:cNvPicPr>
          <p:nvPr/>
        </p:nvPicPr>
        <p:blipFill rotWithShape="1">
          <a:blip r:embed="rId1"/>
          <a:srcRect l="17653" t="23576" r="34910" b="58986"/>
          <a:stretch>
            <a:fillRect/>
          </a:stretch>
        </p:blipFill>
        <p:spPr>
          <a:xfrm>
            <a:off x="1306830" y="2186941"/>
            <a:ext cx="5857458" cy="1210541"/>
          </a:xfrm>
          <a:prstGeom prst="rect">
            <a:avLst/>
          </a:prstGeom>
        </p:spPr>
      </p:pic>
      <p:pic>
        <p:nvPicPr>
          <p:cNvPr id="5" name="20 4"/>
          <p:cNvPicPr>
            <a:picLocks noChangeAspect="1"/>
          </p:cNvPicPr>
          <p:nvPr/>
        </p:nvPicPr>
        <p:blipFill rotWithShape="1">
          <a:blip r:embed="rId1"/>
          <a:srcRect l="17653" t="41915" r="34910" b="27144"/>
          <a:stretch>
            <a:fillRect/>
          </a:stretch>
        </p:blipFill>
        <p:spPr>
          <a:xfrm>
            <a:off x="1295711" y="3613882"/>
            <a:ext cx="6012593" cy="2204862"/>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54810"/>
            <a:ext cx="3573780" cy="460375"/>
          </a:xfrm>
          <a:prstGeom prst="rect">
            <a:avLst/>
          </a:prstGeom>
          <a:noFill/>
        </p:spPr>
        <p:txBody>
          <a:bodyPr wrap="none" rtlCol="0">
            <a:spAutoFit/>
          </a:bodyPr>
          <a:lstStyle/>
          <a:p>
            <a:pPr marL="342900" indent="-342900" algn="l">
              <a:buFont typeface="Arial" panose="020B0604020202020204" pitchFamily="34" charset="0"/>
              <a:buChar char="•"/>
            </a:pPr>
            <a:r>
              <a:rPr lang="zh-CN" altLang="en-US" dirty="0">
                <a:solidFill>
                  <a:schemeClr val="bg2"/>
                </a:solidFill>
              </a:rPr>
              <a:t>二分归并排序设计思想</a:t>
            </a:r>
            <a:endParaRPr lang="zh-CN" altLang="en-US" dirty="0">
              <a:solidFill>
                <a:schemeClr val="bg2"/>
              </a:solidFill>
            </a:endParaRPr>
          </a:p>
        </p:txBody>
      </p:sp>
      <p:sp>
        <p:nvSpPr>
          <p:cNvPr id="5" name="文本框 4"/>
          <p:cNvSpPr txBox="1"/>
          <p:nvPr/>
        </p:nvSpPr>
        <p:spPr>
          <a:xfrm>
            <a:off x="661670" y="2115185"/>
            <a:ext cx="7942778" cy="2460625"/>
          </a:xfrm>
          <a:prstGeom prst="rect">
            <a:avLst/>
          </a:prstGeom>
          <a:noFill/>
        </p:spPr>
        <p:txBody>
          <a:bodyPr wrap="square" rtlCol="0" anchor="t">
            <a:spAutoFit/>
          </a:bodyPr>
          <a:lstStyle/>
          <a:p>
            <a:pPr algn="just">
              <a:lnSpc>
                <a:spcPct val="120000"/>
              </a:lnSpc>
              <a:spcBef>
                <a:spcPts val="600"/>
              </a:spcBef>
              <a:spcAft>
                <a:spcPts val="0"/>
              </a:spcAft>
            </a:pPr>
            <a:r>
              <a:rPr lang="zh-CN" altLang="en-US" dirty="0">
                <a:solidFill>
                  <a:schemeClr val="bg2"/>
                </a:solidFill>
              </a:rPr>
              <a:t>（</a:t>
            </a:r>
            <a:r>
              <a:rPr lang="en-US" altLang="zh-CN" dirty="0">
                <a:solidFill>
                  <a:schemeClr val="bg2"/>
                </a:solidFill>
              </a:rPr>
              <a:t>1</a:t>
            </a:r>
            <a:r>
              <a:rPr lang="zh-CN" altLang="en-US" dirty="0">
                <a:solidFill>
                  <a:schemeClr val="bg2"/>
                </a:solidFill>
              </a:rPr>
              <a:t>）划分将原问题归结 为规模 为 </a:t>
            </a:r>
            <a:r>
              <a:rPr lang="zh-CN" altLang="en-US" b="1" i="1" dirty="0">
                <a:solidFill>
                  <a:schemeClr val="bg2"/>
                </a:solidFill>
                <a:cs typeface="Times New Roman" panose="02020603050405020304" pitchFamily="18" charset="0"/>
              </a:rPr>
              <a:t>n</a:t>
            </a:r>
            <a:r>
              <a:rPr lang="zh-CN" altLang="en-US" dirty="0">
                <a:solidFill>
                  <a:schemeClr val="bg2"/>
                </a:solidFill>
              </a:rPr>
              <a:t>/2 的2 个子问题。</a:t>
            </a:r>
            <a:endParaRPr lang="zh-CN" altLang="en-US" dirty="0">
              <a:solidFill>
                <a:schemeClr val="bg2"/>
              </a:solidFill>
            </a:endParaRPr>
          </a:p>
          <a:p>
            <a:pPr algn="just">
              <a:lnSpc>
                <a:spcPct val="120000"/>
              </a:lnSpc>
              <a:spcBef>
                <a:spcPts val="600"/>
              </a:spcBef>
              <a:spcAft>
                <a:spcPts val="0"/>
              </a:spcAft>
            </a:pPr>
            <a:r>
              <a:rPr lang="zh-CN" altLang="en-US" dirty="0">
                <a:solidFill>
                  <a:schemeClr val="bg2"/>
                </a:solidFill>
              </a:rPr>
              <a:t>（</a:t>
            </a:r>
            <a:r>
              <a:rPr lang="en-US" altLang="zh-CN" dirty="0">
                <a:solidFill>
                  <a:schemeClr val="bg2"/>
                </a:solidFill>
              </a:rPr>
              <a:t>2</a:t>
            </a:r>
            <a:r>
              <a:rPr lang="zh-CN" altLang="en-US" dirty="0">
                <a:solidFill>
                  <a:schemeClr val="bg2"/>
                </a:solidFill>
              </a:rPr>
              <a:t>）继续划分，将原问题归结为规模为</a:t>
            </a:r>
            <a:r>
              <a:rPr lang="zh-CN" altLang="en-US" b="1" i="1" dirty="0">
                <a:solidFill>
                  <a:schemeClr val="bg2"/>
                </a:solidFill>
                <a:cs typeface="Times New Roman" panose="02020603050405020304" pitchFamily="18" charset="0"/>
              </a:rPr>
              <a:t>n</a:t>
            </a:r>
            <a:r>
              <a:rPr lang="zh-CN" altLang="en-US" dirty="0">
                <a:solidFill>
                  <a:schemeClr val="bg2"/>
                </a:solidFill>
              </a:rPr>
              <a:t>/4的4个子问题。 继续... ，当子问题规模为1时，划分结束。</a:t>
            </a:r>
            <a:endParaRPr lang="zh-CN" altLang="en-US" dirty="0">
              <a:solidFill>
                <a:schemeClr val="bg2"/>
              </a:solidFill>
            </a:endParaRPr>
          </a:p>
          <a:p>
            <a:pPr algn="just">
              <a:lnSpc>
                <a:spcPct val="120000"/>
              </a:lnSpc>
              <a:spcBef>
                <a:spcPts val="600"/>
              </a:spcBef>
              <a:spcAft>
                <a:spcPts val="0"/>
              </a:spcAft>
            </a:pPr>
            <a:r>
              <a:rPr lang="zh-CN" altLang="en-US" dirty="0">
                <a:solidFill>
                  <a:schemeClr val="bg2"/>
                </a:solidFill>
              </a:rPr>
              <a:t>（</a:t>
            </a:r>
            <a:r>
              <a:rPr lang="en-US" altLang="zh-CN" dirty="0">
                <a:solidFill>
                  <a:schemeClr val="bg2"/>
                </a:solidFill>
              </a:rPr>
              <a:t>3</a:t>
            </a:r>
            <a:r>
              <a:rPr lang="zh-CN" altLang="en-US" dirty="0">
                <a:solidFill>
                  <a:schemeClr val="bg2"/>
                </a:solidFill>
              </a:rPr>
              <a:t>） 从规模1到 </a:t>
            </a:r>
            <a:r>
              <a:rPr lang="zh-CN" altLang="en-US" b="1" i="1" dirty="0">
                <a:solidFill>
                  <a:schemeClr val="bg2"/>
                </a:solidFill>
                <a:cs typeface="Times New Roman" panose="02020603050405020304" pitchFamily="18" charset="0"/>
              </a:rPr>
              <a:t>n</a:t>
            </a:r>
            <a:r>
              <a:rPr lang="zh-CN" altLang="en-US" dirty="0">
                <a:solidFill>
                  <a:schemeClr val="bg2"/>
                </a:solidFill>
              </a:rPr>
              <a:t>/2 ，陆续归并被排好序的两个子数组。每归并一次，数组规模扩大一倍，直到原始数组。</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54810"/>
            <a:ext cx="5121255"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solidFill>
                  <a:schemeClr val="bg2"/>
                </a:solidFill>
              </a:rPr>
              <a:t>二分归并排序</a:t>
            </a:r>
            <a:r>
              <a:rPr lang="zh-CN" altLang="en-US" dirty="0" smtClean="0">
                <a:solidFill>
                  <a:schemeClr val="bg2"/>
                </a:solidFill>
              </a:rPr>
              <a:t>时间</a:t>
            </a:r>
            <a:r>
              <a:rPr lang="zh-CN" altLang="en-US" dirty="0">
                <a:solidFill>
                  <a:schemeClr val="bg2"/>
                </a:solidFill>
              </a:rPr>
              <a:t>复杂度</a:t>
            </a:r>
            <a:r>
              <a:rPr lang="zh-CN" altLang="en-US" dirty="0" smtClean="0">
                <a:solidFill>
                  <a:schemeClr val="bg2"/>
                </a:solidFill>
              </a:rPr>
              <a:t>分析</a:t>
            </a:r>
            <a:endParaRPr lang="zh-CN" altLang="en-US" dirty="0">
              <a:solidFill>
                <a:schemeClr val="bg2"/>
              </a:solidFill>
            </a:endParaRPr>
          </a:p>
        </p:txBody>
      </p:sp>
      <p:sp>
        <p:nvSpPr>
          <p:cNvPr id="4" name="矩形 3"/>
          <p:cNvSpPr/>
          <p:nvPr/>
        </p:nvSpPr>
        <p:spPr>
          <a:xfrm>
            <a:off x="881206" y="2316936"/>
            <a:ext cx="7488832" cy="3046988"/>
          </a:xfrm>
          <a:prstGeom prst="rect">
            <a:avLst/>
          </a:prstGeom>
        </p:spPr>
        <p:txBody>
          <a:bodyPr wrap="square">
            <a:spAutoFit/>
          </a:bodyPr>
          <a:lstStyle/>
          <a:p>
            <a:r>
              <a:rPr lang="zh-CN" altLang="en-US" dirty="0">
                <a:solidFill>
                  <a:schemeClr val="bg2"/>
                </a:solidFill>
              </a:rPr>
              <a:t>假设</a:t>
            </a:r>
            <a:r>
              <a:rPr lang="en-US" altLang="zh-CN" b="1" i="1" dirty="0" smtClean="0">
                <a:solidFill>
                  <a:schemeClr val="bg2"/>
                </a:solidFill>
              </a:rPr>
              <a:t>n=</a:t>
            </a:r>
            <a:r>
              <a:rPr lang="en-US" altLang="zh-CN" b="1" dirty="0" smtClean="0">
                <a:solidFill>
                  <a:schemeClr val="bg2"/>
                </a:solidFill>
              </a:rPr>
              <a:t>2</a:t>
            </a:r>
            <a:r>
              <a:rPr lang="en-US" altLang="zh-CN" b="1" i="1" baseline="30000" dirty="0" smtClean="0">
                <a:solidFill>
                  <a:schemeClr val="bg2"/>
                </a:solidFill>
              </a:rPr>
              <a:t>k</a:t>
            </a:r>
            <a:r>
              <a:rPr lang="zh-CN" altLang="en-US" dirty="0" smtClean="0">
                <a:solidFill>
                  <a:schemeClr val="bg2"/>
                </a:solidFill>
              </a:rPr>
              <a:t>的</a:t>
            </a:r>
            <a:r>
              <a:rPr lang="zh-CN" altLang="en-US" dirty="0">
                <a:solidFill>
                  <a:schemeClr val="bg2"/>
                </a:solidFill>
              </a:rPr>
              <a:t>幂，二分归并排序</a:t>
            </a:r>
            <a:r>
              <a:rPr lang="zh-CN" altLang="en-US" dirty="0" smtClean="0">
                <a:solidFill>
                  <a:schemeClr val="bg2"/>
                </a:solidFill>
              </a:rPr>
              <a:t>最坏情况</a:t>
            </a:r>
            <a:r>
              <a:rPr lang="zh-CN" altLang="en-US" dirty="0">
                <a:solidFill>
                  <a:schemeClr val="bg2"/>
                </a:solidFill>
              </a:rPr>
              <a:t>下时间复杂度</a:t>
            </a:r>
            <a:br>
              <a:rPr lang="zh-CN" altLang="en-US" dirty="0">
                <a:solidFill>
                  <a:schemeClr val="bg2"/>
                </a:solidFill>
              </a:rPr>
            </a:br>
            <a:endParaRPr lang="en-US" altLang="zh-CN" dirty="0" smtClean="0">
              <a:solidFill>
                <a:schemeClr val="bg2"/>
              </a:solidFill>
            </a:endParaRPr>
          </a:p>
          <a:p>
            <a:pPr lvl="2"/>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 = 2</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/2) + </a:t>
            </a:r>
            <a:r>
              <a:rPr lang="en-US" altLang="zh-CN" b="1" i="1" dirty="0" smtClean="0">
                <a:solidFill>
                  <a:schemeClr val="bg2"/>
                </a:solidFill>
              </a:rPr>
              <a:t>n-</a:t>
            </a:r>
            <a:r>
              <a:rPr lang="en-US" altLang="zh-CN" b="1" dirty="0" smtClean="0">
                <a:solidFill>
                  <a:schemeClr val="bg2"/>
                </a:solidFill>
              </a:rPr>
              <a:t>1</a:t>
            </a:r>
            <a:br>
              <a:rPr lang="en-US" altLang="zh-CN" b="1" dirty="0">
                <a:solidFill>
                  <a:schemeClr val="bg2"/>
                </a:solidFill>
              </a:rPr>
            </a:br>
            <a:r>
              <a:rPr lang="en-US" altLang="zh-CN" b="1" i="1" dirty="0">
                <a:solidFill>
                  <a:schemeClr val="bg2"/>
                </a:solidFill>
              </a:rPr>
              <a:t>W</a:t>
            </a:r>
            <a:r>
              <a:rPr lang="en-US" altLang="zh-CN" b="1" dirty="0">
                <a:solidFill>
                  <a:schemeClr val="bg2"/>
                </a:solidFill>
              </a:rPr>
              <a:t>(1) = 0</a:t>
            </a:r>
            <a:br>
              <a:rPr lang="en-US" altLang="zh-CN" b="1" dirty="0">
                <a:solidFill>
                  <a:schemeClr val="bg2"/>
                </a:solidFill>
              </a:rPr>
            </a:br>
            <a:endParaRPr lang="en-US" altLang="zh-CN" b="1" dirty="0" smtClean="0">
              <a:solidFill>
                <a:schemeClr val="bg2"/>
              </a:solidFill>
            </a:endParaRPr>
          </a:p>
          <a:p>
            <a:r>
              <a:rPr lang="zh-CN" altLang="en-US" dirty="0" smtClean="0">
                <a:solidFill>
                  <a:schemeClr val="bg2"/>
                </a:solidFill>
              </a:rPr>
              <a:t>可以</a:t>
            </a:r>
            <a:r>
              <a:rPr lang="zh-CN" altLang="en-US" dirty="0">
                <a:solidFill>
                  <a:schemeClr val="bg2"/>
                </a:solidFill>
              </a:rPr>
              <a:t>解出</a:t>
            </a:r>
            <a:br>
              <a:rPr lang="zh-CN" altLang="en-US" dirty="0">
                <a:solidFill>
                  <a:schemeClr val="bg2"/>
                </a:solidFill>
              </a:rPr>
            </a:br>
            <a:endParaRPr lang="en-US" altLang="zh-CN" dirty="0" smtClean="0">
              <a:solidFill>
                <a:schemeClr val="bg2"/>
              </a:solidFill>
            </a:endParaRPr>
          </a:p>
          <a:p>
            <a:pPr lvl="2"/>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 = </a:t>
            </a:r>
            <a:r>
              <a:rPr lang="en-US" altLang="zh-CN" b="1" i="1" dirty="0" err="1">
                <a:solidFill>
                  <a:schemeClr val="bg2"/>
                </a:solidFill>
              </a:rPr>
              <a:t>n</a:t>
            </a:r>
            <a:r>
              <a:rPr lang="en-US" altLang="zh-CN" b="1" dirty="0" err="1">
                <a:solidFill>
                  <a:schemeClr val="bg2"/>
                </a:solidFill>
              </a:rPr>
              <a:t>log</a:t>
            </a:r>
            <a:r>
              <a:rPr lang="en-US" altLang="zh-CN" b="1" i="1" dirty="0" err="1">
                <a:solidFill>
                  <a:schemeClr val="bg2"/>
                </a:solidFill>
              </a:rPr>
              <a:t>n</a:t>
            </a:r>
            <a:r>
              <a:rPr lang="en-US" altLang="zh-CN" b="1" i="1" dirty="0">
                <a:solidFill>
                  <a:schemeClr val="bg2"/>
                </a:solidFill>
              </a:rPr>
              <a:t> </a:t>
            </a:r>
            <a:r>
              <a:rPr lang="en-US" altLang="zh-CN" b="1" i="1" dirty="0" smtClean="0">
                <a:solidFill>
                  <a:schemeClr val="bg2"/>
                </a:solidFill>
              </a:rPr>
              <a:t>-</a:t>
            </a:r>
            <a:r>
              <a:rPr lang="en-US" altLang="zh-CN" dirty="0" smtClean="0">
                <a:solidFill>
                  <a:schemeClr val="bg2"/>
                </a:solidFill>
              </a:rPr>
              <a:t> </a:t>
            </a:r>
            <a:r>
              <a:rPr lang="en-US" altLang="zh-CN" b="1" i="1" dirty="0">
                <a:solidFill>
                  <a:schemeClr val="bg2"/>
                </a:solidFill>
              </a:rPr>
              <a:t>n </a:t>
            </a:r>
            <a:r>
              <a:rPr lang="en-US" altLang="zh-CN" b="1" dirty="0">
                <a:solidFill>
                  <a:schemeClr val="bg2"/>
                </a:solidFill>
              </a:rPr>
              <a:t>+ 1</a:t>
            </a:r>
            <a:r>
              <a:rPr lang="en-US" altLang="zh-CN" dirty="0">
                <a:solidFill>
                  <a:schemeClr val="bg2"/>
                </a:solidFill>
              </a:rPr>
              <a:t> </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down)">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down)">
                                      <p:cBhvr>
                                        <p:cTn id="15" dur="500"/>
                                        <p:tgtEl>
                                          <p:spTgt spid="4">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down)">
                                      <p:cBhvr>
                                        <p:cTn id="1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72481"/>
            <a:ext cx="2667718" cy="461665"/>
          </a:xfrm>
          <a:prstGeom prst="rect">
            <a:avLst/>
          </a:prstGeom>
          <a:noFill/>
        </p:spPr>
        <p:txBody>
          <a:bodyPr wrap="none" rtlCol="0">
            <a:spAutoFit/>
          </a:bodyPr>
          <a:lstStyle/>
          <a:p>
            <a:pPr marL="342900" indent="-342900" algn="l">
              <a:buFont typeface="Arial" panose="020B0604020202020204" pitchFamily="34" charset="0"/>
              <a:buChar char="•"/>
            </a:pPr>
            <a:r>
              <a:rPr lang="zh-CN" altLang="en-US" dirty="0" smtClean="0">
                <a:solidFill>
                  <a:schemeClr val="bg2"/>
                </a:solidFill>
              </a:rPr>
              <a:t>例题</a:t>
            </a:r>
            <a:r>
              <a:rPr lang="en-US" altLang="zh-CN" dirty="0" smtClean="0">
                <a:solidFill>
                  <a:schemeClr val="bg2"/>
                </a:solidFill>
              </a:rPr>
              <a:t>3</a:t>
            </a:r>
            <a:r>
              <a:rPr lang="zh-CN" altLang="en-US" dirty="0" smtClean="0">
                <a:solidFill>
                  <a:schemeClr val="bg2"/>
                </a:solidFill>
              </a:rPr>
              <a:t>：</a:t>
            </a:r>
            <a:r>
              <a:rPr lang="en-US" altLang="zh-CN" dirty="0" err="1" smtClean="0">
                <a:solidFill>
                  <a:schemeClr val="bg2"/>
                </a:solidFill>
              </a:rPr>
              <a:t>Hanio</a:t>
            </a:r>
            <a:r>
              <a:rPr lang="zh-CN" altLang="en-US" dirty="0" smtClean="0">
                <a:solidFill>
                  <a:schemeClr val="bg2"/>
                </a:solidFill>
              </a:rPr>
              <a:t>塔</a:t>
            </a:r>
            <a:endParaRPr lang="zh-CN" altLang="en-US" dirty="0">
              <a:solidFill>
                <a:schemeClr val="bg2"/>
              </a:solidFill>
            </a:endParaRPr>
          </a:p>
        </p:txBody>
      </p:sp>
      <p:sp>
        <p:nvSpPr>
          <p:cNvPr id="5" name="矩形 4"/>
          <p:cNvSpPr/>
          <p:nvPr/>
        </p:nvSpPr>
        <p:spPr>
          <a:xfrm>
            <a:off x="1547664" y="2313454"/>
            <a:ext cx="5966850" cy="2308324"/>
          </a:xfrm>
          <a:prstGeom prst="rect">
            <a:avLst/>
          </a:prstGeom>
        </p:spPr>
        <p:txBody>
          <a:bodyPr wrap="square">
            <a:spAutoFit/>
          </a:bodyPr>
          <a:lstStyle/>
          <a:p>
            <a:pPr>
              <a:lnSpc>
                <a:spcPct val="120000"/>
              </a:lnSpc>
            </a:pPr>
            <a:r>
              <a:rPr lang="zh-CN" altLang="en-US" dirty="0">
                <a:solidFill>
                  <a:schemeClr val="bg2"/>
                </a:solidFill>
              </a:rPr>
              <a:t>算法 </a:t>
            </a:r>
            <a:r>
              <a:rPr lang="en-US" altLang="zh-CN" b="1" dirty="0">
                <a:solidFill>
                  <a:schemeClr val="bg2"/>
                </a:solidFill>
              </a:rPr>
              <a:t>Hanoi (</a:t>
            </a:r>
            <a:r>
              <a:rPr lang="en-US" altLang="zh-CN" b="1" i="1" dirty="0">
                <a:solidFill>
                  <a:schemeClr val="bg2"/>
                </a:solidFill>
              </a:rPr>
              <a:t>A</a:t>
            </a:r>
            <a:r>
              <a:rPr lang="en-US" altLang="zh-CN" b="1" dirty="0">
                <a:solidFill>
                  <a:schemeClr val="bg2"/>
                </a:solidFill>
              </a:rPr>
              <a:t>, </a:t>
            </a:r>
            <a:r>
              <a:rPr lang="en-US" altLang="zh-CN" b="1" i="1" dirty="0">
                <a:solidFill>
                  <a:schemeClr val="bg2"/>
                </a:solidFill>
              </a:rPr>
              <a:t>C</a:t>
            </a:r>
            <a:r>
              <a:rPr lang="en-US" altLang="zh-CN" b="1" dirty="0">
                <a:solidFill>
                  <a:schemeClr val="bg2"/>
                </a:solidFill>
              </a:rPr>
              <a:t>, </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n</a:t>
            </a:r>
            <a:r>
              <a:rPr lang="zh-CN" altLang="en-US" dirty="0">
                <a:solidFill>
                  <a:schemeClr val="bg2"/>
                </a:solidFill>
              </a:rPr>
              <a:t>个盘子</a:t>
            </a:r>
            <a:r>
              <a:rPr lang="en-US" altLang="zh-CN" b="1" i="1" dirty="0">
                <a:solidFill>
                  <a:schemeClr val="bg2"/>
                </a:solidFill>
              </a:rPr>
              <a:t>A</a:t>
            </a:r>
            <a:r>
              <a:rPr lang="zh-CN" altLang="en-US" dirty="0">
                <a:solidFill>
                  <a:schemeClr val="bg2"/>
                </a:solidFill>
              </a:rPr>
              <a:t>到</a:t>
            </a:r>
            <a:r>
              <a:rPr lang="en-US" altLang="zh-CN" b="1" i="1" dirty="0">
                <a:solidFill>
                  <a:schemeClr val="bg2"/>
                </a:solidFill>
              </a:rPr>
              <a:t>C</a:t>
            </a:r>
            <a:br>
              <a:rPr lang="en-US" altLang="zh-CN" b="1" i="1" dirty="0">
                <a:solidFill>
                  <a:schemeClr val="bg2"/>
                </a:solidFill>
              </a:rPr>
            </a:br>
            <a:r>
              <a:rPr lang="en-US" altLang="zh-CN" b="1" dirty="0">
                <a:solidFill>
                  <a:schemeClr val="bg2"/>
                </a:solidFill>
              </a:rPr>
              <a:t>1. </a:t>
            </a:r>
            <a:r>
              <a:rPr lang="en-US" altLang="zh-CN" b="1" dirty="0" smtClean="0">
                <a:solidFill>
                  <a:schemeClr val="bg2"/>
                </a:solidFill>
              </a:rPr>
              <a:t>  if </a:t>
            </a:r>
            <a:r>
              <a:rPr lang="en-US" altLang="zh-CN" b="1" i="1" dirty="0">
                <a:solidFill>
                  <a:schemeClr val="bg2"/>
                </a:solidFill>
              </a:rPr>
              <a:t>n</a:t>
            </a:r>
            <a:r>
              <a:rPr lang="en-US" altLang="zh-CN" b="1" dirty="0">
                <a:solidFill>
                  <a:schemeClr val="bg2"/>
                </a:solidFill>
              </a:rPr>
              <a:t>=1 then move (</a:t>
            </a:r>
            <a:r>
              <a:rPr lang="en-US" altLang="zh-CN" b="1" i="1" dirty="0">
                <a:solidFill>
                  <a:schemeClr val="bg2"/>
                </a:solidFill>
              </a:rPr>
              <a:t>A</a:t>
            </a:r>
            <a:r>
              <a:rPr lang="en-US" altLang="zh-CN" b="1" dirty="0">
                <a:solidFill>
                  <a:schemeClr val="bg2"/>
                </a:solidFill>
              </a:rPr>
              <a:t>, </a:t>
            </a:r>
            <a:r>
              <a:rPr lang="en-US" altLang="zh-CN" b="1" i="1" dirty="0">
                <a:solidFill>
                  <a:schemeClr val="bg2"/>
                </a:solidFill>
              </a:rPr>
              <a:t>C</a:t>
            </a:r>
            <a:r>
              <a:rPr lang="en-US" altLang="zh-CN" b="1" dirty="0">
                <a:solidFill>
                  <a:schemeClr val="bg2"/>
                </a:solidFill>
              </a:rPr>
              <a:t>) //1</a:t>
            </a:r>
            <a:r>
              <a:rPr lang="zh-CN" altLang="en-US" dirty="0">
                <a:solidFill>
                  <a:schemeClr val="bg2"/>
                </a:solidFill>
              </a:rPr>
              <a:t>个盘子</a:t>
            </a:r>
            <a:r>
              <a:rPr lang="en-US" altLang="zh-CN" b="1" i="1" dirty="0">
                <a:solidFill>
                  <a:schemeClr val="bg2"/>
                </a:solidFill>
              </a:rPr>
              <a:t>A</a:t>
            </a:r>
            <a:r>
              <a:rPr lang="zh-CN" altLang="en-US" dirty="0">
                <a:solidFill>
                  <a:schemeClr val="bg2"/>
                </a:solidFill>
              </a:rPr>
              <a:t>到</a:t>
            </a:r>
            <a:r>
              <a:rPr lang="en-US" altLang="zh-CN" b="1" i="1" dirty="0">
                <a:solidFill>
                  <a:schemeClr val="bg2"/>
                </a:solidFill>
              </a:rPr>
              <a:t>C</a:t>
            </a:r>
            <a:br>
              <a:rPr lang="en-US" altLang="zh-CN" b="1" i="1" dirty="0">
                <a:solidFill>
                  <a:schemeClr val="bg2"/>
                </a:solidFill>
              </a:rPr>
            </a:br>
            <a:r>
              <a:rPr lang="en-US" altLang="zh-CN" b="1" dirty="0">
                <a:solidFill>
                  <a:schemeClr val="bg2"/>
                </a:solidFill>
              </a:rPr>
              <a:t>2. </a:t>
            </a:r>
            <a:r>
              <a:rPr lang="en-US" altLang="zh-CN" b="1" dirty="0" smtClean="0">
                <a:solidFill>
                  <a:schemeClr val="bg2"/>
                </a:solidFill>
              </a:rPr>
              <a:t>  else </a:t>
            </a:r>
            <a:r>
              <a:rPr lang="en-US" altLang="zh-CN" b="1" dirty="0">
                <a:solidFill>
                  <a:schemeClr val="bg2"/>
                </a:solidFill>
              </a:rPr>
              <a:t>Hanoi (</a:t>
            </a:r>
            <a:r>
              <a:rPr lang="en-US" altLang="zh-CN" b="1" i="1" dirty="0">
                <a:solidFill>
                  <a:schemeClr val="bg2"/>
                </a:solidFill>
              </a:rPr>
              <a:t>A</a:t>
            </a:r>
            <a:r>
              <a:rPr lang="en-US" altLang="zh-CN" b="1" dirty="0">
                <a:solidFill>
                  <a:schemeClr val="bg2"/>
                </a:solidFill>
              </a:rPr>
              <a:t>, </a:t>
            </a:r>
            <a:r>
              <a:rPr lang="en-US" altLang="zh-CN" b="1" i="1" dirty="0">
                <a:solidFill>
                  <a:schemeClr val="bg2"/>
                </a:solidFill>
              </a:rPr>
              <a:t>B</a:t>
            </a:r>
            <a:r>
              <a:rPr lang="en-US" altLang="zh-CN" b="1" dirty="0">
                <a:solidFill>
                  <a:schemeClr val="bg2"/>
                </a:solidFill>
              </a:rPr>
              <a:t>, </a:t>
            </a:r>
            <a:r>
              <a:rPr lang="en-US" altLang="zh-CN" b="1" i="1" dirty="0" smtClean="0">
                <a:solidFill>
                  <a:schemeClr val="bg2"/>
                </a:solidFill>
              </a:rPr>
              <a:t>n-</a:t>
            </a:r>
            <a:r>
              <a:rPr lang="en-US" altLang="zh-CN" b="1" dirty="0" smtClean="0">
                <a:solidFill>
                  <a:schemeClr val="bg2"/>
                </a:solidFill>
              </a:rPr>
              <a:t>1</a:t>
            </a:r>
            <a:r>
              <a:rPr lang="en-US" altLang="zh-CN" b="1" dirty="0">
                <a:solidFill>
                  <a:schemeClr val="bg2"/>
                </a:solidFill>
              </a:rPr>
              <a:t>)</a:t>
            </a:r>
            <a:br>
              <a:rPr lang="en-US" altLang="zh-CN" b="1" dirty="0">
                <a:solidFill>
                  <a:schemeClr val="bg2"/>
                </a:solidFill>
              </a:rPr>
            </a:br>
            <a:r>
              <a:rPr lang="en-US" altLang="zh-CN" b="1" dirty="0">
                <a:solidFill>
                  <a:schemeClr val="bg2"/>
                </a:solidFill>
              </a:rPr>
              <a:t>3. </a:t>
            </a:r>
            <a:r>
              <a:rPr lang="en-US" altLang="zh-CN" b="1" dirty="0" smtClean="0">
                <a:solidFill>
                  <a:schemeClr val="bg2"/>
                </a:solidFill>
              </a:rPr>
              <a:t>  </a:t>
            </a:r>
            <a:r>
              <a:rPr lang="en-US" altLang="zh-CN" b="1" dirty="0" smtClean="0">
                <a:solidFill>
                  <a:schemeClr val="bg2"/>
                </a:solidFill>
              </a:rPr>
              <a:t>        move </a:t>
            </a:r>
            <a:r>
              <a:rPr lang="en-US" altLang="zh-CN" b="1" dirty="0">
                <a:solidFill>
                  <a:schemeClr val="bg2"/>
                </a:solidFill>
              </a:rPr>
              <a:t>(</a:t>
            </a:r>
            <a:r>
              <a:rPr lang="en-US" altLang="zh-CN" b="1" i="1" dirty="0">
                <a:solidFill>
                  <a:schemeClr val="bg2"/>
                </a:solidFill>
              </a:rPr>
              <a:t>A</a:t>
            </a:r>
            <a:r>
              <a:rPr lang="en-US" altLang="zh-CN" b="1" dirty="0">
                <a:solidFill>
                  <a:schemeClr val="bg2"/>
                </a:solidFill>
              </a:rPr>
              <a:t>, </a:t>
            </a:r>
            <a:r>
              <a:rPr lang="en-US" altLang="zh-CN" b="1" i="1" dirty="0">
                <a:solidFill>
                  <a:schemeClr val="bg2"/>
                </a:solidFill>
              </a:rPr>
              <a:t>C</a:t>
            </a:r>
            <a:r>
              <a:rPr lang="en-US" altLang="zh-CN" b="1" dirty="0">
                <a:solidFill>
                  <a:schemeClr val="bg2"/>
                </a:solidFill>
              </a:rPr>
              <a:t>)</a:t>
            </a:r>
            <a:br>
              <a:rPr lang="en-US" altLang="zh-CN" b="1" dirty="0">
                <a:solidFill>
                  <a:schemeClr val="bg2"/>
                </a:solidFill>
              </a:rPr>
            </a:br>
            <a:r>
              <a:rPr lang="en-US" altLang="zh-CN" b="1" dirty="0">
                <a:solidFill>
                  <a:schemeClr val="bg2"/>
                </a:solidFill>
              </a:rPr>
              <a:t>4. </a:t>
            </a:r>
            <a:r>
              <a:rPr lang="en-US" altLang="zh-CN" b="1" dirty="0" smtClean="0">
                <a:solidFill>
                  <a:schemeClr val="bg2"/>
                </a:solidFill>
              </a:rPr>
              <a:t>  </a:t>
            </a:r>
            <a:r>
              <a:rPr lang="en-US" altLang="zh-CN" b="1" dirty="0" smtClean="0">
                <a:solidFill>
                  <a:schemeClr val="bg2"/>
                </a:solidFill>
              </a:rPr>
              <a:t>        Hanoi </a:t>
            </a:r>
            <a:r>
              <a:rPr lang="en-US" altLang="zh-CN" b="1" dirty="0">
                <a:solidFill>
                  <a:schemeClr val="bg2"/>
                </a:solidFill>
              </a:rPr>
              <a:t>(</a:t>
            </a:r>
            <a:r>
              <a:rPr lang="en-US" altLang="zh-CN" b="1" i="1" dirty="0">
                <a:solidFill>
                  <a:schemeClr val="bg2"/>
                </a:solidFill>
              </a:rPr>
              <a:t>B</a:t>
            </a:r>
            <a:r>
              <a:rPr lang="en-US" altLang="zh-CN" b="1" dirty="0">
                <a:solidFill>
                  <a:schemeClr val="bg2"/>
                </a:solidFill>
              </a:rPr>
              <a:t>, </a:t>
            </a:r>
            <a:r>
              <a:rPr lang="en-US" altLang="zh-CN" b="1" i="1" dirty="0">
                <a:solidFill>
                  <a:schemeClr val="bg2"/>
                </a:solidFill>
              </a:rPr>
              <a:t>C</a:t>
            </a:r>
            <a:r>
              <a:rPr lang="en-US" altLang="zh-CN" b="1" dirty="0">
                <a:solidFill>
                  <a:schemeClr val="bg2"/>
                </a:solidFill>
              </a:rPr>
              <a:t>, </a:t>
            </a:r>
            <a:r>
              <a:rPr lang="en-US" altLang="zh-CN" b="1" i="1" dirty="0" smtClean="0">
                <a:solidFill>
                  <a:schemeClr val="bg2"/>
                </a:solidFill>
              </a:rPr>
              <a:t>n-</a:t>
            </a:r>
            <a:r>
              <a:rPr lang="en-US" altLang="zh-CN" b="1" dirty="0" smtClean="0">
                <a:solidFill>
                  <a:schemeClr val="bg2"/>
                </a:solidFill>
              </a:rPr>
              <a:t>1</a:t>
            </a:r>
            <a:r>
              <a:rPr lang="en-US" altLang="zh-CN" b="1" dirty="0">
                <a:solidFill>
                  <a:schemeClr val="bg2"/>
                </a:solidFill>
              </a:rPr>
              <a:t>)</a:t>
            </a:r>
            <a:r>
              <a:rPr lang="en-US" altLang="zh-CN" dirty="0">
                <a:solidFill>
                  <a:schemeClr val="bg2"/>
                </a:solidFill>
              </a:rPr>
              <a:t> </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54810"/>
            <a:ext cx="3437159" cy="461665"/>
          </a:xfrm>
          <a:prstGeom prst="rect">
            <a:avLst/>
          </a:prstGeom>
          <a:noFill/>
        </p:spPr>
        <p:txBody>
          <a:bodyPr wrap="none" rtlCol="0">
            <a:spAutoFit/>
          </a:bodyPr>
          <a:lstStyle/>
          <a:p>
            <a:pPr marL="342900" indent="-342900" algn="l">
              <a:buFont typeface="Arial" panose="020B0604020202020204" pitchFamily="34" charset="0"/>
              <a:buChar char="•"/>
            </a:pPr>
            <a:r>
              <a:rPr lang="en-US" altLang="zh-CN" dirty="0" smtClean="0">
                <a:solidFill>
                  <a:schemeClr val="bg2"/>
                </a:solidFill>
              </a:rPr>
              <a:t>Hanoi</a:t>
            </a:r>
            <a:r>
              <a:rPr lang="zh-CN" altLang="en-US" dirty="0" smtClean="0">
                <a:solidFill>
                  <a:schemeClr val="bg2"/>
                </a:solidFill>
              </a:rPr>
              <a:t>塔问题设计</a:t>
            </a:r>
            <a:r>
              <a:rPr lang="zh-CN" altLang="en-US" dirty="0">
                <a:solidFill>
                  <a:schemeClr val="bg2"/>
                </a:solidFill>
              </a:rPr>
              <a:t>思想</a:t>
            </a:r>
            <a:endParaRPr lang="zh-CN" altLang="en-US" dirty="0">
              <a:solidFill>
                <a:schemeClr val="bg2"/>
              </a:solidFill>
            </a:endParaRPr>
          </a:p>
        </p:txBody>
      </p:sp>
      <p:sp>
        <p:nvSpPr>
          <p:cNvPr id="5" name="文本框 4"/>
          <p:cNvSpPr txBox="1"/>
          <p:nvPr/>
        </p:nvSpPr>
        <p:spPr>
          <a:xfrm>
            <a:off x="661670" y="2262931"/>
            <a:ext cx="7871460" cy="2539157"/>
          </a:xfrm>
          <a:prstGeom prst="rect">
            <a:avLst/>
          </a:prstGeom>
          <a:noFill/>
        </p:spPr>
        <p:txBody>
          <a:bodyPr wrap="square" rtlCol="0" anchor="t">
            <a:spAutoFit/>
          </a:bodyPr>
          <a:lstStyle/>
          <a:p>
            <a:pPr>
              <a:lnSpc>
                <a:spcPct val="120000"/>
              </a:lnSpc>
              <a:spcBef>
                <a:spcPts val="600"/>
              </a:spcBef>
              <a:spcAft>
                <a:spcPts val="0"/>
              </a:spcAft>
            </a:pPr>
            <a:r>
              <a:rPr lang="zh-CN" altLang="en-US" dirty="0">
                <a:solidFill>
                  <a:schemeClr val="bg2"/>
                </a:solidFill>
              </a:rPr>
              <a:t>（</a:t>
            </a:r>
            <a:r>
              <a:rPr lang="en-US" altLang="zh-CN" dirty="0">
                <a:solidFill>
                  <a:schemeClr val="bg2"/>
                </a:solidFill>
              </a:rPr>
              <a:t>1</a:t>
            </a:r>
            <a:r>
              <a:rPr lang="zh-CN" altLang="en-US" dirty="0" smtClean="0">
                <a:solidFill>
                  <a:schemeClr val="bg2"/>
                </a:solidFill>
              </a:rPr>
              <a:t>）</a:t>
            </a:r>
            <a:r>
              <a:rPr lang="zh-CN" altLang="en-US" dirty="0">
                <a:solidFill>
                  <a:schemeClr val="bg2"/>
                </a:solidFill>
              </a:rPr>
              <a:t>将原问题归结为规模为 </a:t>
            </a:r>
            <a:r>
              <a:rPr lang="en-US" altLang="zh-CN" b="1" i="1" dirty="0">
                <a:solidFill>
                  <a:schemeClr val="bg2"/>
                </a:solidFill>
              </a:rPr>
              <a:t>n</a:t>
            </a:r>
            <a:r>
              <a:rPr lang="en-US" altLang="zh-CN" b="1" dirty="0">
                <a:solidFill>
                  <a:schemeClr val="bg2"/>
                </a:solidFill>
              </a:rPr>
              <a:t>-1 </a:t>
            </a:r>
            <a:r>
              <a:rPr lang="zh-CN" altLang="en-US" dirty="0">
                <a:solidFill>
                  <a:schemeClr val="bg2"/>
                </a:solidFill>
              </a:rPr>
              <a:t>的</a:t>
            </a:r>
            <a:r>
              <a:rPr lang="en-US" altLang="zh-CN" b="1" dirty="0">
                <a:solidFill>
                  <a:schemeClr val="bg2"/>
                </a:solidFill>
              </a:rPr>
              <a:t>2</a:t>
            </a:r>
            <a:r>
              <a:rPr lang="zh-CN" altLang="en-US" dirty="0" smtClean="0">
                <a:solidFill>
                  <a:schemeClr val="bg2"/>
                </a:solidFill>
              </a:rPr>
              <a:t>个子问题。</a:t>
            </a:r>
            <a:endParaRPr lang="en-US" altLang="zh-CN" dirty="0" smtClean="0">
              <a:solidFill>
                <a:schemeClr val="bg2"/>
              </a:solidFill>
            </a:endParaRPr>
          </a:p>
          <a:p>
            <a:pPr>
              <a:lnSpc>
                <a:spcPct val="120000"/>
              </a:lnSpc>
              <a:spcBef>
                <a:spcPts val="600"/>
              </a:spcBef>
              <a:spcAft>
                <a:spcPts val="0"/>
              </a:spcAft>
            </a:pPr>
            <a:r>
              <a:rPr lang="zh-CN" altLang="en-US" dirty="0" smtClean="0">
                <a:solidFill>
                  <a:schemeClr val="bg2"/>
                </a:solidFill>
              </a:rPr>
              <a:t>（</a:t>
            </a:r>
            <a:r>
              <a:rPr lang="en-US" altLang="zh-CN" dirty="0" smtClean="0">
                <a:solidFill>
                  <a:schemeClr val="bg2"/>
                </a:solidFill>
              </a:rPr>
              <a:t>2</a:t>
            </a:r>
            <a:r>
              <a:rPr lang="zh-CN" altLang="en-US" dirty="0" smtClean="0">
                <a:solidFill>
                  <a:schemeClr val="bg2"/>
                </a:solidFill>
              </a:rPr>
              <a:t>）继续</a:t>
            </a:r>
            <a:r>
              <a:rPr lang="zh-CN" altLang="en-US" dirty="0">
                <a:solidFill>
                  <a:schemeClr val="bg2"/>
                </a:solidFill>
              </a:rPr>
              <a:t>归约，将原问题归结为规模</a:t>
            </a:r>
            <a:r>
              <a:rPr lang="zh-CN" altLang="en-US" dirty="0" smtClean="0">
                <a:solidFill>
                  <a:schemeClr val="bg2"/>
                </a:solidFill>
              </a:rPr>
              <a:t>为</a:t>
            </a:r>
            <a:r>
              <a:rPr lang="en-US" altLang="zh-CN" b="1" i="1" dirty="0" smtClean="0">
                <a:solidFill>
                  <a:schemeClr val="bg2"/>
                </a:solidFill>
              </a:rPr>
              <a:t>n</a:t>
            </a:r>
            <a:r>
              <a:rPr lang="en-US" altLang="zh-CN" b="1" dirty="0" smtClean="0">
                <a:solidFill>
                  <a:schemeClr val="bg2"/>
                </a:solidFill>
              </a:rPr>
              <a:t>-2 </a:t>
            </a:r>
            <a:r>
              <a:rPr lang="zh-CN" altLang="en-US" dirty="0" smtClean="0">
                <a:solidFill>
                  <a:schemeClr val="bg2"/>
                </a:solidFill>
              </a:rPr>
              <a:t>的</a:t>
            </a:r>
            <a:r>
              <a:rPr lang="en-US" altLang="zh-CN" b="1" dirty="0" smtClean="0">
                <a:solidFill>
                  <a:schemeClr val="bg2"/>
                </a:solidFill>
              </a:rPr>
              <a:t>4</a:t>
            </a:r>
            <a:r>
              <a:rPr lang="zh-CN" altLang="en-US" dirty="0" smtClean="0">
                <a:solidFill>
                  <a:schemeClr val="bg2"/>
                </a:solidFill>
              </a:rPr>
              <a:t>个子问题</a:t>
            </a:r>
            <a:endParaRPr lang="en-US" altLang="zh-CN" dirty="0" smtClean="0">
              <a:solidFill>
                <a:schemeClr val="bg2"/>
              </a:solidFill>
            </a:endParaRPr>
          </a:p>
          <a:p>
            <a:pPr>
              <a:lnSpc>
                <a:spcPct val="120000"/>
              </a:lnSpc>
              <a:spcBef>
                <a:spcPts val="600"/>
              </a:spcBef>
              <a:spcAft>
                <a:spcPts val="0"/>
              </a:spcAft>
            </a:pPr>
            <a:r>
              <a:rPr lang="zh-CN" altLang="en-US" dirty="0" smtClean="0">
                <a:solidFill>
                  <a:schemeClr val="bg2"/>
                </a:solidFill>
              </a:rPr>
              <a:t>（</a:t>
            </a:r>
            <a:r>
              <a:rPr lang="en-US" altLang="zh-CN" dirty="0">
                <a:solidFill>
                  <a:schemeClr val="bg2"/>
                </a:solidFill>
              </a:rPr>
              <a:t>3</a:t>
            </a:r>
            <a:r>
              <a:rPr lang="zh-CN" altLang="en-US" dirty="0">
                <a:solidFill>
                  <a:schemeClr val="bg2"/>
                </a:solidFill>
              </a:rPr>
              <a:t>）</a:t>
            </a:r>
            <a:r>
              <a:rPr lang="zh-CN" altLang="en-US" dirty="0" smtClean="0">
                <a:solidFill>
                  <a:schemeClr val="bg2"/>
                </a:solidFill>
              </a:rPr>
              <a:t>继续</a:t>
            </a:r>
            <a:r>
              <a:rPr lang="en-US" altLang="zh-CN" dirty="0">
                <a:solidFill>
                  <a:schemeClr val="bg2"/>
                </a:solidFill>
              </a:rPr>
              <a:t>...</a:t>
            </a:r>
            <a:r>
              <a:rPr lang="zh-CN" altLang="en-US" dirty="0">
                <a:solidFill>
                  <a:schemeClr val="bg2"/>
                </a:solidFill>
              </a:rPr>
              <a:t>，当子</a:t>
            </a:r>
            <a:r>
              <a:rPr lang="zh-CN" altLang="en-US" dirty="0" smtClean="0">
                <a:solidFill>
                  <a:schemeClr val="bg2"/>
                </a:solidFill>
              </a:rPr>
              <a:t>问题</a:t>
            </a:r>
            <a:r>
              <a:rPr lang="zh-CN" altLang="en-US" dirty="0">
                <a:solidFill>
                  <a:schemeClr val="bg2"/>
                </a:solidFill>
              </a:rPr>
              <a:t>规模为</a:t>
            </a:r>
            <a:r>
              <a:rPr lang="en-US" altLang="zh-CN" dirty="0">
                <a:solidFill>
                  <a:schemeClr val="bg2"/>
                </a:solidFill>
              </a:rPr>
              <a:t>1 </a:t>
            </a:r>
            <a:r>
              <a:rPr lang="zh-CN" altLang="en-US" dirty="0">
                <a:solidFill>
                  <a:schemeClr val="bg2"/>
                </a:solidFill>
              </a:rPr>
              <a:t>时，归约过程</a:t>
            </a:r>
            <a:r>
              <a:rPr lang="zh-CN" altLang="en-US" dirty="0" smtClean="0">
                <a:solidFill>
                  <a:schemeClr val="bg2"/>
                </a:solidFill>
              </a:rPr>
              <a:t>截止。</a:t>
            </a:r>
            <a:endParaRPr lang="en-US" altLang="zh-CN" dirty="0" smtClean="0">
              <a:solidFill>
                <a:schemeClr val="bg2"/>
              </a:solidFill>
            </a:endParaRPr>
          </a:p>
          <a:p>
            <a:pPr>
              <a:lnSpc>
                <a:spcPct val="120000"/>
              </a:lnSpc>
              <a:spcBef>
                <a:spcPts val="600"/>
              </a:spcBef>
              <a:spcAft>
                <a:spcPts val="0"/>
              </a:spcAft>
            </a:pPr>
            <a:r>
              <a:rPr lang="zh-CN" altLang="en-US" dirty="0">
                <a:solidFill>
                  <a:schemeClr val="bg2"/>
                </a:solidFill>
              </a:rPr>
              <a:t>（</a:t>
            </a:r>
            <a:r>
              <a:rPr lang="en-US" altLang="zh-CN" dirty="0">
                <a:solidFill>
                  <a:schemeClr val="bg2"/>
                </a:solidFill>
              </a:rPr>
              <a:t>4</a:t>
            </a:r>
            <a:r>
              <a:rPr lang="zh-CN" altLang="en-US" dirty="0" smtClean="0">
                <a:solidFill>
                  <a:schemeClr val="bg2"/>
                </a:solidFill>
              </a:rPr>
              <a:t>）从</a:t>
            </a:r>
            <a:r>
              <a:rPr lang="zh-CN" altLang="en-US" dirty="0">
                <a:solidFill>
                  <a:schemeClr val="bg2"/>
                </a:solidFill>
              </a:rPr>
              <a:t>规模 </a:t>
            </a:r>
            <a:r>
              <a:rPr lang="en-US" altLang="zh-CN" dirty="0">
                <a:solidFill>
                  <a:schemeClr val="bg2"/>
                </a:solidFill>
              </a:rPr>
              <a:t>1</a:t>
            </a:r>
            <a:r>
              <a:rPr lang="zh-CN" altLang="en-US" dirty="0">
                <a:solidFill>
                  <a:schemeClr val="bg2"/>
                </a:solidFill>
              </a:rPr>
              <a:t>到 </a:t>
            </a:r>
            <a:r>
              <a:rPr lang="en-US" altLang="zh-CN" i="1" dirty="0">
                <a:solidFill>
                  <a:schemeClr val="bg2"/>
                </a:solidFill>
              </a:rPr>
              <a:t>n</a:t>
            </a:r>
            <a:r>
              <a:rPr lang="en-US" altLang="zh-CN" dirty="0">
                <a:solidFill>
                  <a:schemeClr val="bg2"/>
                </a:solidFill>
              </a:rPr>
              <a:t>-1</a:t>
            </a:r>
            <a:r>
              <a:rPr lang="zh-CN" altLang="en-US" dirty="0">
                <a:solidFill>
                  <a:schemeClr val="bg2"/>
                </a:solidFill>
              </a:rPr>
              <a:t>，陆续组合两个子</a:t>
            </a:r>
            <a:r>
              <a:rPr lang="zh-CN" altLang="en-US" dirty="0" smtClean="0">
                <a:solidFill>
                  <a:schemeClr val="bg2"/>
                </a:solidFill>
              </a:rPr>
              <a:t>问题</a:t>
            </a:r>
            <a:r>
              <a:rPr lang="zh-CN" altLang="en-US" dirty="0">
                <a:solidFill>
                  <a:schemeClr val="bg2"/>
                </a:solidFill>
              </a:rPr>
              <a:t>的</a:t>
            </a:r>
            <a:r>
              <a:rPr lang="zh-CN" altLang="en-US" dirty="0" smtClean="0">
                <a:solidFill>
                  <a:schemeClr val="bg2"/>
                </a:solidFill>
              </a:rPr>
              <a:t>解。直到</a:t>
            </a:r>
            <a:r>
              <a:rPr lang="zh-CN" altLang="en-US" dirty="0">
                <a:solidFill>
                  <a:schemeClr val="bg2"/>
                </a:solidFill>
              </a:rPr>
              <a:t>规模为</a:t>
            </a:r>
            <a:r>
              <a:rPr lang="en-US" altLang="zh-CN" b="1" i="1" dirty="0">
                <a:solidFill>
                  <a:schemeClr val="bg2"/>
                </a:solidFill>
              </a:rPr>
              <a:t>n</a:t>
            </a:r>
            <a:r>
              <a:rPr lang="en-US" altLang="zh-CN" b="1" dirty="0">
                <a:solidFill>
                  <a:schemeClr val="bg2"/>
                </a:solidFill>
              </a:rPr>
              <a:t>.</a:t>
            </a:r>
            <a:r>
              <a:rPr lang="zh-CN" altLang="en-US" dirty="0">
                <a:solidFill>
                  <a:schemeClr val="bg2"/>
                </a:solidFill>
              </a:rPr>
              <a:t> </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54810"/>
            <a:ext cx="5121255" cy="461665"/>
          </a:xfrm>
          <a:prstGeom prst="rect">
            <a:avLst/>
          </a:prstGeom>
          <a:noFill/>
        </p:spPr>
        <p:txBody>
          <a:bodyPr wrap="square" rtlCol="0">
            <a:spAutoFit/>
          </a:bodyPr>
          <a:lstStyle/>
          <a:p>
            <a:pPr marL="342900" indent="-342900">
              <a:buFont typeface="Arial" panose="020B0604020202020204" pitchFamily="34" charset="0"/>
              <a:buChar char="•"/>
            </a:pPr>
            <a:r>
              <a:rPr lang="en-US" altLang="zh-CN" dirty="0">
                <a:solidFill>
                  <a:schemeClr val="bg2"/>
                </a:solidFill>
              </a:rPr>
              <a:t>Hanoi</a:t>
            </a:r>
            <a:r>
              <a:rPr lang="zh-CN" altLang="en-US" dirty="0">
                <a:solidFill>
                  <a:schemeClr val="bg2"/>
                </a:solidFill>
              </a:rPr>
              <a:t>塔问题时间复杂度</a:t>
            </a:r>
            <a:r>
              <a:rPr lang="zh-CN" altLang="en-US" dirty="0" smtClean="0">
                <a:solidFill>
                  <a:schemeClr val="bg2"/>
                </a:solidFill>
              </a:rPr>
              <a:t>分析</a:t>
            </a:r>
            <a:endParaRPr lang="zh-CN" altLang="en-US" dirty="0">
              <a:solidFill>
                <a:schemeClr val="bg2"/>
              </a:solidFill>
            </a:endParaRPr>
          </a:p>
        </p:txBody>
      </p:sp>
      <p:pic>
        <p:nvPicPr>
          <p:cNvPr id="5"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21829"/>
          <a:stretch>
            <a:fillRect/>
          </a:stretch>
        </p:blipFill>
        <p:spPr bwMode="auto">
          <a:xfrm>
            <a:off x="1766316" y="2204864"/>
            <a:ext cx="4230943" cy="128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组合 3"/>
          <p:cNvGrpSpPr/>
          <p:nvPr/>
        </p:nvGrpSpPr>
        <p:grpSpPr>
          <a:xfrm>
            <a:off x="1709209" y="3687415"/>
            <a:ext cx="4230943" cy="1010603"/>
            <a:chOff x="1709209" y="3687415"/>
            <a:chExt cx="4230943" cy="1010603"/>
          </a:xfrm>
        </p:grpSpPr>
        <p:sp>
          <p:nvSpPr>
            <p:cNvPr id="6" name="矩形 5"/>
            <p:cNvSpPr/>
            <p:nvPr/>
          </p:nvSpPr>
          <p:spPr>
            <a:xfrm>
              <a:off x="1788076" y="3687415"/>
              <a:ext cx="1415772" cy="461665"/>
            </a:xfrm>
            <a:prstGeom prst="rect">
              <a:avLst/>
            </a:prstGeom>
          </p:spPr>
          <p:txBody>
            <a:bodyPr wrap="none">
              <a:spAutoFit/>
            </a:bodyPr>
            <a:lstStyle/>
            <a:p>
              <a:r>
                <a:rPr lang="zh-CN" altLang="en-US" dirty="0">
                  <a:solidFill>
                    <a:schemeClr val="bg2"/>
                  </a:solidFill>
                </a:rPr>
                <a:t>可以解出</a:t>
              </a:r>
              <a:endParaRPr lang="zh-CN" altLang="en-US" dirty="0"/>
            </a:p>
          </p:txBody>
        </p:sp>
        <p:pic>
          <p:nvPicPr>
            <p:cNvPr id="7"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75395"/>
            <a:stretch>
              <a:fillRect/>
            </a:stretch>
          </p:blipFill>
          <p:spPr bwMode="auto">
            <a:xfrm>
              <a:off x="1709209" y="4293096"/>
              <a:ext cx="4230943" cy="404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72481"/>
            <a:ext cx="1146468" cy="461665"/>
          </a:xfrm>
          <a:prstGeom prst="rect">
            <a:avLst/>
          </a:prstGeom>
          <a:noFill/>
        </p:spPr>
        <p:txBody>
          <a:bodyPr wrap="none" rtlCol="0">
            <a:spAutoFit/>
          </a:bodyPr>
          <a:lstStyle/>
          <a:p>
            <a:pPr marL="342900" indent="-342900" algn="l">
              <a:buFont typeface="Arial" panose="020B0604020202020204" pitchFamily="34" charset="0"/>
              <a:buChar char="•"/>
            </a:pPr>
            <a:r>
              <a:rPr lang="zh-CN" altLang="en-US" dirty="0" smtClean="0">
                <a:solidFill>
                  <a:schemeClr val="bg1"/>
                </a:solidFill>
              </a:rPr>
              <a:t>小结</a:t>
            </a:r>
            <a:endParaRPr lang="zh-CN" altLang="en-US" dirty="0">
              <a:solidFill>
                <a:schemeClr val="bg1"/>
              </a:solidFill>
            </a:endParaRPr>
          </a:p>
        </p:txBody>
      </p:sp>
      <p:sp>
        <p:nvSpPr>
          <p:cNvPr id="4" name="矩形 3"/>
          <p:cNvSpPr/>
          <p:nvPr/>
        </p:nvSpPr>
        <p:spPr>
          <a:xfrm>
            <a:off x="971600" y="2232154"/>
            <a:ext cx="7704856" cy="2492990"/>
          </a:xfrm>
          <a:prstGeom prst="rect">
            <a:avLst/>
          </a:prstGeom>
        </p:spPr>
        <p:txBody>
          <a:bodyPr wrap="square">
            <a:spAutoFit/>
          </a:bodyPr>
          <a:lstStyle/>
          <a:p>
            <a:pPr>
              <a:lnSpc>
                <a:spcPct val="130000"/>
              </a:lnSpc>
            </a:pPr>
            <a:r>
              <a:rPr lang="zh-CN" altLang="en-US" dirty="0">
                <a:solidFill>
                  <a:schemeClr val="bg2"/>
                </a:solidFill>
              </a:rPr>
              <a:t>通过几个例子展示分治算法的特点</a:t>
            </a:r>
            <a:r>
              <a:rPr lang="zh-CN" altLang="en-US" dirty="0" smtClean="0">
                <a:solidFill>
                  <a:schemeClr val="bg2"/>
                </a:solidFill>
              </a:rPr>
              <a:t>：</a:t>
            </a:r>
            <a:endParaRPr lang="en-US" altLang="zh-CN" dirty="0">
              <a:solidFill>
                <a:schemeClr val="bg2"/>
              </a:solidFill>
            </a:endParaRPr>
          </a:p>
          <a:p>
            <a:pPr>
              <a:lnSpc>
                <a:spcPct val="130000"/>
              </a:lnSpc>
            </a:pPr>
            <a:r>
              <a:rPr lang="zh-CN" altLang="en-US" dirty="0">
                <a:solidFill>
                  <a:schemeClr val="bg2"/>
                </a:solidFill>
              </a:rPr>
              <a:t>（</a:t>
            </a:r>
            <a:r>
              <a:rPr lang="en-US" altLang="zh-CN" dirty="0">
                <a:solidFill>
                  <a:schemeClr val="bg2"/>
                </a:solidFill>
              </a:rPr>
              <a:t>1</a:t>
            </a:r>
            <a:r>
              <a:rPr lang="zh-CN" altLang="en-US" dirty="0" smtClean="0">
                <a:solidFill>
                  <a:schemeClr val="bg2"/>
                </a:solidFill>
              </a:rPr>
              <a:t>）将</a:t>
            </a:r>
            <a:r>
              <a:rPr lang="zh-CN" altLang="en-US" dirty="0">
                <a:solidFill>
                  <a:schemeClr val="bg2"/>
                </a:solidFill>
              </a:rPr>
              <a:t>原问题归约为规模小的子问题</a:t>
            </a:r>
            <a:r>
              <a:rPr lang="zh-CN" altLang="en-US" dirty="0" smtClean="0">
                <a:solidFill>
                  <a:schemeClr val="bg2"/>
                </a:solidFill>
              </a:rPr>
              <a:t>，</a:t>
            </a:r>
            <a:r>
              <a:rPr lang="zh-CN" altLang="en-US" b="1" dirty="0" smtClean="0">
                <a:solidFill>
                  <a:srgbClr val="FF0000"/>
                </a:solidFill>
              </a:rPr>
              <a:t>子</a:t>
            </a:r>
            <a:r>
              <a:rPr lang="zh-CN" altLang="en-US" b="1" dirty="0">
                <a:solidFill>
                  <a:srgbClr val="FF0000"/>
                </a:solidFill>
              </a:rPr>
              <a:t>问题与原问题具有相同的</a:t>
            </a:r>
            <a:r>
              <a:rPr lang="zh-CN" altLang="en-US" b="1" dirty="0" smtClean="0">
                <a:solidFill>
                  <a:srgbClr val="FF0000"/>
                </a:solidFill>
              </a:rPr>
              <a:t>性质。</a:t>
            </a:r>
            <a:endParaRPr lang="en-US" altLang="zh-CN" b="1" dirty="0" smtClean="0">
              <a:solidFill>
                <a:srgbClr val="FF0000"/>
              </a:solidFill>
            </a:endParaRPr>
          </a:p>
          <a:p>
            <a:pPr>
              <a:lnSpc>
                <a:spcPct val="130000"/>
              </a:lnSpc>
            </a:pPr>
            <a:r>
              <a:rPr lang="zh-CN" altLang="en-US" dirty="0" smtClean="0">
                <a:solidFill>
                  <a:schemeClr val="bg2"/>
                </a:solidFill>
              </a:rPr>
              <a:t>（</a:t>
            </a:r>
            <a:r>
              <a:rPr lang="en-US" altLang="zh-CN" dirty="0" smtClean="0">
                <a:solidFill>
                  <a:schemeClr val="bg2"/>
                </a:solidFill>
              </a:rPr>
              <a:t>2</a:t>
            </a:r>
            <a:r>
              <a:rPr lang="zh-CN" altLang="en-US" dirty="0" smtClean="0">
                <a:solidFill>
                  <a:schemeClr val="bg2"/>
                </a:solidFill>
              </a:rPr>
              <a:t>）算法</a:t>
            </a:r>
            <a:r>
              <a:rPr lang="zh-CN" altLang="en-US" dirty="0">
                <a:solidFill>
                  <a:schemeClr val="bg2"/>
                </a:solidFill>
              </a:rPr>
              <a:t>的分析方法：递推</a:t>
            </a:r>
            <a:r>
              <a:rPr lang="zh-CN" altLang="en-US" dirty="0" smtClean="0">
                <a:solidFill>
                  <a:schemeClr val="bg2"/>
                </a:solidFill>
              </a:rPr>
              <a:t>方程</a:t>
            </a:r>
            <a:r>
              <a:rPr lang="zh-CN" altLang="en-US" b="1" dirty="0" smtClean="0">
                <a:solidFill>
                  <a:schemeClr val="bg2"/>
                </a:solidFill>
              </a:rPr>
              <a:t>。</a:t>
            </a:r>
            <a:endParaRPr lang="en-US" altLang="zh-CN" dirty="0" smtClean="0">
              <a:solidFill>
                <a:schemeClr val="bg2"/>
              </a:solidFill>
            </a:endParaRPr>
          </a:p>
          <a:p>
            <a:pPr>
              <a:lnSpc>
                <a:spcPct val="130000"/>
              </a:lnSpc>
            </a:pPr>
            <a:r>
              <a:rPr lang="zh-CN" altLang="en-US" dirty="0">
                <a:solidFill>
                  <a:schemeClr val="bg2"/>
                </a:solidFill>
              </a:rPr>
              <a:t>（</a:t>
            </a:r>
            <a:r>
              <a:rPr lang="en-US" altLang="zh-CN" dirty="0">
                <a:solidFill>
                  <a:schemeClr val="bg2"/>
                </a:solidFill>
              </a:rPr>
              <a:t>3</a:t>
            </a:r>
            <a:r>
              <a:rPr lang="zh-CN" altLang="en-US" dirty="0" smtClean="0">
                <a:solidFill>
                  <a:schemeClr val="bg2"/>
                </a:solidFill>
              </a:rPr>
              <a:t>）子</a:t>
            </a:r>
            <a:r>
              <a:rPr lang="zh-CN" altLang="en-US" dirty="0">
                <a:solidFill>
                  <a:schemeClr val="bg2"/>
                </a:solidFill>
              </a:rPr>
              <a:t>问题规模足够</a:t>
            </a:r>
            <a:r>
              <a:rPr lang="zh-CN" altLang="en-US" dirty="0" smtClean="0">
                <a:solidFill>
                  <a:schemeClr val="bg2"/>
                </a:solidFill>
              </a:rPr>
              <a:t>小的时侯可</a:t>
            </a:r>
            <a:r>
              <a:rPr lang="zh-CN" altLang="en-US" dirty="0">
                <a:solidFill>
                  <a:schemeClr val="bg2"/>
                </a:solidFill>
              </a:rPr>
              <a:t>直接</a:t>
            </a:r>
            <a:r>
              <a:rPr lang="zh-CN" altLang="en-US" dirty="0" smtClean="0">
                <a:solidFill>
                  <a:schemeClr val="bg2"/>
                </a:solidFill>
              </a:rPr>
              <a:t>求解。 </a:t>
            </a:r>
            <a:endParaRPr lang="zh-CN" altLang="en-US" dirty="0">
              <a:solidFill>
                <a:schemeClr val="bg2"/>
              </a:solidFill>
            </a:endParaRPr>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15195" y="3593604"/>
            <a:ext cx="2352675"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2564904"/>
            <a:ext cx="17145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539552" y="1628800"/>
            <a:ext cx="3608680" cy="461665"/>
          </a:xfrm>
          <a:prstGeom prst="rect">
            <a:avLst/>
          </a:prstGeom>
          <a:noFill/>
        </p:spPr>
        <p:txBody>
          <a:bodyPr wrap="none" rtlCol="0">
            <a:spAutoFit/>
          </a:bodyPr>
          <a:lstStyle/>
          <a:p>
            <a:pPr marL="342900" indent="-342900" algn="l">
              <a:buFont typeface="Wingdings" panose="05000000000000000000" pitchFamily="2" charset="2"/>
              <a:buChar char="n"/>
            </a:pPr>
            <a:r>
              <a:rPr lang="zh-CN" altLang="en-US" dirty="0" smtClean="0">
                <a:solidFill>
                  <a:schemeClr val="bg2"/>
                </a:solidFill>
              </a:rPr>
              <a:t>分治策略算法框架描述</a:t>
            </a:r>
            <a:endParaRPr lang="zh-CN" altLang="en-US" dirty="0">
              <a:solidFill>
                <a:schemeClr val="bg2"/>
              </a:solidFill>
            </a:endParaRPr>
          </a:p>
        </p:txBody>
      </p:sp>
      <p:sp>
        <p:nvSpPr>
          <p:cNvPr id="5" name="矩形 4"/>
          <p:cNvSpPr/>
          <p:nvPr/>
        </p:nvSpPr>
        <p:spPr>
          <a:xfrm>
            <a:off x="1259632" y="2276872"/>
            <a:ext cx="5760640" cy="2973122"/>
          </a:xfrm>
          <a:prstGeom prst="rect">
            <a:avLst/>
          </a:prstGeom>
        </p:spPr>
        <p:txBody>
          <a:bodyPr wrap="square">
            <a:spAutoFit/>
          </a:bodyPr>
          <a:lstStyle/>
          <a:p>
            <a:pPr>
              <a:lnSpc>
                <a:spcPct val="130000"/>
              </a:lnSpc>
            </a:pPr>
            <a:r>
              <a:rPr lang="zh-CN" altLang="en-US" b="1" dirty="0">
                <a:solidFill>
                  <a:schemeClr val="bg2"/>
                </a:solidFill>
                <a:cs typeface="Times New Roman" panose="02020603050405020304" pitchFamily="18" charset="0"/>
                <a:sym typeface="Symbol" panose="05050102010706020507" pitchFamily="18" charset="2"/>
              </a:rPr>
              <a:t>分治算法  </a:t>
            </a:r>
            <a:r>
              <a:rPr lang="en-US" altLang="zh-CN" b="1" dirty="0">
                <a:solidFill>
                  <a:schemeClr val="bg2"/>
                </a:solidFill>
                <a:cs typeface="Times New Roman" panose="02020603050405020304" pitchFamily="18" charset="0"/>
                <a:sym typeface="Symbol" panose="05050102010706020507" pitchFamily="18" charset="2"/>
              </a:rPr>
              <a:t>Divide-and-Conquer(P)   </a:t>
            </a:r>
            <a:endParaRPr lang="en-US" altLang="zh-CN" b="1" dirty="0">
              <a:solidFill>
                <a:schemeClr val="bg2"/>
              </a:solidFill>
              <a:cs typeface="Times New Roman" panose="02020603050405020304" pitchFamily="18" charset="0"/>
              <a:sym typeface="Symbol" panose="05050102010706020507" pitchFamily="18" charset="2"/>
            </a:endParaRPr>
          </a:p>
          <a:p>
            <a:pPr>
              <a:lnSpc>
                <a:spcPct val="130000"/>
              </a:lnSpc>
            </a:pPr>
            <a:r>
              <a:rPr lang="en-US" altLang="zh-CN" b="1" dirty="0">
                <a:solidFill>
                  <a:schemeClr val="bg2"/>
                </a:solidFill>
                <a:cs typeface="Times New Roman" panose="02020603050405020304" pitchFamily="18" charset="0"/>
                <a:sym typeface="Symbol" panose="05050102010706020507" pitchFamily="18" charset="2"/>
              </a:rPr>
              <a:t>    1.  if  |</a:t>
            </a:r>
            <a:r>
              <a:rPr lang="en-US" altLang="zh-CN" b="1" i="1" dirty="0">
                <a:solidFill>
                  <a:schemeClr val="bg2"/>
                </a:solidFill>
                <a:cs typeface="Times New Roman" panose="02020603050405020304" pitchFamily="18" charset="0"/>
                <a:sym typeface="Symbol" panose="05050102010706020507" pitchFamily="18" charset="2"/>
              </a:rPr>
              <a:t>P</a:t>
            </a:r>
            <a:r>
              <a:rPr lang="en-US" altLang="zh-CN" b="1" dirty="0">
                <a:solidFill>
                  <a:schemeClr val="bg2"/>
                </a:solidFill>
                <a:cs typeface="Times New Roman" panose="02020603050405020304" pitchFamily="18" charset="0"/>
                <a:sym typeface="Symbol" panose="05050102010706020507" pitchFamily="18" charset="2"/>
              </a:rPr>
              <a:t>| </a:t>
            </a:r>
            <a:r>
              <a:rPr lang="en-US" altLang="zh-CN" b="1" dirty="0">
                <a:solidFill>
                  <a:schemeClr val="bg2"/>
                </a:solidFill>
                <a:cs typeface="Times New Roman" panose="02020603050405020304" pitchFamily="18" charset="0"/>
              </a:rPr>
              <a:t> </a:t>
            </a:r>
            <a:r>
              <a:rPr lang="en-US" altLang="zh-CN" b="1" i="1" dirty="0">
                <a:solidFill>
                  <a:schemeClr val="bg2"/>
                </a:solidFill>
                <a:cs typeface="Times New Roman" panose="02020603050405020304" pitchFamily="18" charset="0"/>
              </a:rPr>
              <a:t>c</a:t>
            </a:r>
            <a:r>
              <a:rPr lang="en-US" altLang="zh-CN" b="1" dirty="0">
                <a:solidFill>
                  <a:schemeClr val="bg2"/>
                </a:solidFill>
                <a:cs typeface="Times New Roman" panose="02020603050405020304" pitchFamily="18" charset="0"/>
                <a:sym typeface="Symbol" panose="05050102010706020507" pitchFamily="18" charset="2"/>
              </a:rPr>
              <a:t>  then  </a:t>
            </a:r>
            <a:r>
              <a:rPr lang="en-US" altLang="zh-CN" b="1" i="1" dirty="0">
                <a:solidFill>
                  <a:schemeClr val="bg2"/>
                </a:solidFill>
                <a:cs typeface="Times New Roman" panose="02020603050405020304" pitchFamily="18" charset="0"/>
                <a:sym typeface="Symbol" panose="05050102010706020507" pitchFamily="18" charset="2"/>
              </a:rPr>
              <a:t>S</a:t>
            </a:r>
            <a:r>
              <a:rPr lang="en-US" altLang="zh-CN" b="1" dirty="0">
                <a:solidFill>
                  <a:schemeClr val="bg2"/>
                </a:solidFill>
                <a:cs typeface="Times New Roman" panose="02020603050405020304" pitchFamily="18" charset="0"/>
                <a:sym typeface="Symbol" panose="05050102010706020507" pitchFamily="18" charset="2"/>
              </a:rPr>
              <a:t>(</a:t>
            </a:r>
            <a:r>
              <a:rPr lang="en-US" altLang="zh-CN" b="1" i="1" dirty="0">
                <a:solidFill>
                  <a:schemeClr val="bg2"/>
                </a:solidFill>
                <a:cs typeface="Times New Roman" panose="02020603050405020304" pitchFamily="18" charset="0"/>
                <a:sym typeface="Symbol" panose="05050102010706020507" pitchFamily="18" charset="2"/>
              </a:rPr>
              <a:t>P</a:t>
            </a:r>
            <a:r>
              <a:rPr lang="en-US" altLang="zh-CN" b="1" dirty="0">
                <a:solidFill>
                  <a:schemeClr val="bg2"/>
                </a:solidFill>
                <a:cs typeface="Times New Roman" panose="02020603050405020304" pitchFamily="18" charset="0"/>
                <a:sym typeface="Symbol" panose="05050102010706020507" pitchFamily="18" charset="2"/>
              </a:rPr>
              <a:t>).</a:t>
            </a:r>
            <a:endParaRPr lang="en-US" altLang="zh-CN" b="1" dirty="0">
              <a:solidFill>
                <a:schemeClr val="bg2"/>
              </a:solidFill>
              <a:cs typeface="Times New Roman" panose="02020603050405020304" pitchFamily="18" charset="0"/>
              <a:sym typeface="Symbol" panose="05050102010706020507" pitchFamily="18" charset="2"/>
            </a:endParaRPr>
          </a:p>
          <a:p>
            <a:pPr>
              <a:lnSpc>
                <a:spcPct val="130000"/>
              </a:lnSpc>
            </a:pPr>
            <a:r>
              <a:rPr lang="en-US" altLang="zh-CN" b="1" dirty="0">
                <a:solidFill>
                  <a:schemeClr val="bg2"/>
                </a:solidFill>
                <a:cs typeface="Times New Roman" panose="02020603050405020304" pitchFamily="18" charset="0"/>
                <a:sym typeface="Symbol" panose="05050102010706020507" pitchFamily="18" charset="2"/>
              </a:rPr>
              <a:t>    2.  divide</a:t>
            </a:r>
            <a:r>
              <a:rPr lang="en-US" altLang="zh-CN" b="1" i="1" dirty="0">
                <a:solidFill>
                  <a:schemeClr val="bg2"/>
                </a:solidFill>
                <a:cs typeface="Times New Roman" panose="02020603050405020304" pitchFamily="18" charset="0"/>
                <a:sym typeface="Symbol" panose="05050102010706020507" pitchFamily="18" charset="2"/>
              </a:rPr>
              <a:t> P</a:t>
            </a:r>
            <a:r>
              <a:rPr lang="en-US" altLang="zh-CN" b="1" dirty="0">
                <a:solidFill>
                  <a:schemeClr val="bg2"/>
                </a:solidFill>
                <a:cs typeface="Times New Roman" panose="02020603050405020304" pitchFamily="18" charset="0"/>
                <a:sym typeface="Symbol" panose="05050102010706020507" pitchFamily="18" charset="2"/>
              </a:rPr>
              <a:t> into </a:t>
            </a:r>
            <a:r>
              <a:rPr lang="en-US" altLang="zh-CN" b="1" i="1" dirty="0">
                <a:solidFill>
                  <a:schemeClr val="bg2"/>
                </a:solidFill>
                <a:cs typeface="Times New Roman" panose="02020603050405020304" pitchFamily="18" charset="0"/>
                <a:sym typeface="Symbol" panose="05050102010706020507" pitchFamily="18" charset="2"/>
              </a:rPr>
              <a:t>P</a:t>
            </a:r>
            <a:r>
              <a:rPr lang="en-US" altLang="zh-CN" b="1" baseline="-25000" dirty="0">
                <a:solidFill>
                  <a:schemeClr val="bg2"/>
                </a:solidFill>
                <a:cs typeface="Times New Roman" panose="02020603050405020304" pitchFamily="18" charset="0"/>
                <a:sym typeface="Symbol" panose="05050102010706020507" pitchFamily="18" charset="2"/>
              </a:rPr>
              <a:t>1</a:t>
            </a:r>
            <a:r>
              <a:rPr lang="en-US" altLang="zh-CN" b="1" dirty="0">
                <a:solidFill>
                  <a:schemeClr val="bg2"/>
                </a:solidFill>
                <a:cs typeface="Times New Roman" panose="02020603050405020304" pitchFamily="18" charset="0"/>
                <a:sym typeface="Symbol" panose="05050102010706020507" pitchFamily="18" charset="2"/>
              </a:rPr>
              <a:t>, </a:t>
            </a:r>
            <a:r>
              <a:rPr lang="en-US" altLang="zh-CN" b="1" i="1" dirty="0">
                <a:solidFill>
                  <a:schemeClr val="bg2"/>
                </a:solidFill>
                <a:cs typeface="Times New Roman" panose="02020603050405020304" pitchFamily="18" charset="0"/>
                <a:sym typeface="Symbol" panose="05050102010706020507" pitchFamily="18" charset="2"/>
              </a:rPr>
              <a:t>P</a:t>
            </a:r>
            <a:r>
              <a:rPr lang="en-US" altLang="zh-CN" b="1" baseline="-25000" dirty="0">
                <a:solidFill>
                  <a:schemeClr val="bg2"/>
                </a:solidFill>
                <a:cs typeface="Times New Roman" panose="02020603050405020304" pitchFamily="18" charset="0"/>
                <a:sym typeface="Symbol" panose="05050102010706020507" pitchFamily="18" charset="2"/>
              </a:rPr>
              <a:t>2</a:t>
            </a:r>
            <a:r>
              <a:rPr lang="en-US" altLang="zh-CN" b="1" dirty="0">
                <a:solidFill>
                  <a:schemeClr val="bg2"/>
                </a:solidFill>
                <a:cs typeface="Times New Roman" panose="02020603050405020304" pitchFamily="18" charset="0"/>
                <a:sym typeface="Symbol" panose="05050102010706020507" pitchFamily="18" charset="2"/>
              </a:rPr>
              <a:t>, …, </a:t>
            </a:r>
            <a:r>
              <a:rPr lang="en-US" altLang="zh-CN" b="1" i="1" dirty="0" err="1">
                <a:solidFill>
                  <a:schemeClr val="bg2"/>
                </a:solidFill>
                <a:cs typeface="Times New Roman" panose="02020603050405020304" pitchFamily="18" charset="0"/>
                <a:sym typeface="Symbol" panose="05050102010706020507" pitchFamily="18" charset="2"/>
              </a:rPr>
              <a:t>P</a:t>
            </a:r>
            <a:r>
              <a:rPr lang="en-US" altLang="zh-CN" b="1" i="1" baseline="-25000" dirty="0" err="1">
                <a:solidFill>
                  <a:schemeClr val="bg2"/>
                </a:solidFill>
                <a:cs typeface="Times New Roman" panose="02020603050405020304" pitchFamily="18" charset="0"/>
                <a:sym typeface="Symbol" panose="05050102010706020507" pitchFamily="18" charset="2"/>
              </a:rPr>
              <a:t>k</a:t>
            </a:r>
            <a:endParaRPr lang="en-US" altLang="zh-CN" b="1" dirty="0">
              <a:solidFill>
                <a:schemeClr val="bg2"/>
              </a:solidFill>
              <a:cs typeface="Times New Roman" panose="02020603050405020304" pitchFamily="18" charset="0"/>
              <a:sym typeface="Symbol" panose="05050102010706020507" pitchFamily="18" charset="2"/>
            </a:endParaRPr>
          </a:p>
          <a:p>
            <a:pPr>
              <a:lnSpc>
                <a:spcPct val="130000"/>
              </a:lnSpc>
            </a:pPr>
            <a:r>
              <a:rPr lang="en-US" altLang="zh-CN" b="1" dirty="0">
                <a:solidFill>
                  <a:schemeClr val="bg2"/>
                </a:solidFill>
                <a:cs typeface="Times New Roman" panose="02020603050405020304" pitchFamily="18" charset="0"/>
                <a:sym typeface="Symbol" panose="05050102010706020507" pitchFamily="18" charset="2"/>
              </a:rPr>
              <a:t>    3.  for </a:t>
            </a:r>
            <a:r>
              <a:rPr lang="en-US" altLang="zh-CN" b="1" i="1" dirty="0" err="1">
                <a:solidFill>
                  <a:schemeClr val="bg2"/>
                </a:solidFill>
                <a:cs typeface="Times New Roman" panose="02020603050405020304" pitchFamily="18" charset="0"/>
                <a:sym typeface="Symbol" panose="05050102010706020507" pitchFamily="18" charset="2"/>
              </a:rPr>
              <a:t>i</a:t>
            </a:r>
            <a:r>
              <a:rPr lang="en-US" altLang="zh-CN" b="1" i="1" dirty="0">
                <a:solidFill>
                  <a:schemeClr val="bg2"/>
                </a:solidFill>
                <a:cs typeface="Times New Roman" panose="02020603050405020304" pitchFamily="18" charset="0"/>
                <a:sym typeface="Symbol" panose="05050102010706020507" pitchFamily="18" charset="2"/>
              </a:rPr>
              <a:t> </a:t>
            </a:r>
            <a:r>
              <a:rPr lang="en-US" altLang="zh-CN" b="1" dirty="0">
                <a:solidFill>
                  <a:schemeClr val="bg2"/>
                </a:solidFill>
                <a:cs typeface="Times New Roman" panose="02020603050405020304" pitchFamily="18" charset="0"/>
                <a:sym typeface="Symbol" panose="05050102010706020507" pitchFamily="18" charset="2"/>
              </a:rPr>
              <a:t> 1 to</a:t>
            </a:r>
            <a:r>
              <a:rPr lang="en-US" altLang="zh-CN" b="1" i="1" dirty="0">
                <a:solidFill>
                  <a:schemeClr val="bg2"/>
                </a:solidFill>
                <a:cs typeface="Times New Roman" panose="02020603050405020304" pitchFamily="18" charset="0"/>
                <a:sym typeface="Symbol" panose="05050102010706020507" pitchFamily="18" charset="2"/>
              </a:rPr>
              <a:t> k</a:t>
            </a:r>
            <a:r>
              <a:rPr lang="en-US" altLang="zh-CN" b="1" dirty="0">
                <a:solidFill>
                  <a:schemeClr val="bg2"/>
                </a:solidFill>
                <a:cs typeface="Times New Roman" panose="02020603050405020304" pitchFamily="18" charset="0"/>
                <a:sym typeface="Symbol" panose="05050102010706020507" pitchFamily="18" charset="2"/>
              </a:rPr>
              <a:t> </a:t>
            </a:r>
            <a:endParaRPr lang="en-US" altLang="zh-CN" b="1" dirty="0">
              <a:solidFill>
                <a:schemeClr val="bg2"/>
              </a:solidFill>
              <a:cs typeface="Times New Roman" panose="02020603050405020304" pitchFamily="18" charset="0"/>
              <a:sym typeface="Symbol" panose="05050102010706020507" pitchFamily="18" charset="2"/>
            </a:endParaRPr>
          </a:p>
          <a:p>
            <a:pPr>
              <a:lnSpc>
                <a:spcPct val="130000"/>
              </a:lnSpc>
            </a:pPr>
            <a:r>
              <a:rPr lang="en-US" altLang="zh-CN" b="1" dirty="0">
                <a:solidFill>
                  <a:schemeClr val="bg2"/>
                </a:solidFill>
                <a:cs typeface="Times New Roman" panose="02020603050405020304" pitchFamily="18" charset="0"/>
                <a:sym typeface="Symbol" panose="05050102010706020507" pitchFamily="18" charset="2"/>
              </a:rPr>
              <a:t>    4.        </a:t>
            </a:r>
            <a:r>
              <a:rPr lang="en-US" altLang="zh-CN" b="1" i="1" dirty="0" err="1">
                <a:solidFill>
                  <a:schemeClr val="bg2"/>
                </a:solidFill>
                <a:cs typeface="Times New Roman" panose="02020603050405020304" pitchFamily="18" charset="0"/>
                <a:sym typeface="Symbol" panose="05050102010706020507" pitchFamily="18" charset="2"/>
              </a:rPr>
              <a:t>y</a:t>
            </a:r>
            <a:r>
              <a:rPr lang="en-US" altLang="zh-CN" b="1" i="1" baseline="-25000" dirty="0" err="1">
                <a:solidFill>
                  <a:schemeClr val="bg2"/>
                </a:solidFill>
                <a:cs typeface="Times New Roman" panose="02020603050405020304" pitchFamily="18" charset="0"/>
                <a:sym typeface="Symbol" panose="05050102010706020507" pitchFamily="18" charset="2"/>
              </a:rPr>
              <a:t>i</a:t>
            </a:r>
            <a:r>
              <a:rPr lang="en-US" altLang="zh-CN" b="1" i="1" dirty="0">
                <a:solidFill>
                  <a:schemeClr val="bg2"/>
                </a:solidFill>
                <a:cs typeface="Times New Roman" panose="02020603050405020304" pitchFamily="18" charset="0"/>
                <a:sym typeface="Symbol" panose="05050102010706020507" pitchFamily="18" charset="2"/>
              </a:rPr>
              <a:t> </a:t>
            </a:r>
            <a:r>
              <a:rPr lang="en-US" altLang="zh-CN" b="1" dirty="0">
                <a:solidFill>
                  <a:schemeClr val="bg2"/>
                </a:solidFill>
                <a:cs typeface="Times New Roman" panose="02020603050405020304" pitchFamily="18" charset="0"/>
                <a:sym typeface="Symbol" panose="05050102010706020507" pitchFamily="18" charset="2"/>
              </a:rPr>
              <a:t> Divide-and-Conquer(</a:t>
            </a:r>
            <a:r>
              <a:rPr lang="en-US" altLang="zh-CN" b="1" i="1" dirty="0">
                <a:solidFill>
                  <a:schemeClr val="bg2"/>
                </a:solidFill>
                <a:cs typeface="Times New Roman" panose="02020603050405020304" pitchFamily="18" charset="0"/>
                <a:sym typeface="Symbol" panose="05050102010706020507" pitchFamily="18" charset="2"/>
              </a:rPr>
              <a:t>P</a:t>
            </a:r>
            <a:r>
              <a:rPr lang="en-US" altLang="zh-CN" b="1" i="1" baseline="-25000" dirty="0">
                <a:solidFill>
                  <a:schemeClr val="bg2"/>
                </a:solidFill>
                <a:cs typeface="Times New Roman" panose="02020603050405020304" pitchFamily="18" charset="0"/>
                <a:sym typeface="Symbol" panose="05050102010706020507" pitchFamily="18" charset="2"/>
              </a:rPr>
              <a:t>i</a:t>
            </a:r>
            <a:r>
              <a:rPr lang="en-US" altLang="zh-CN" b="1" dirty="0">
                <a:solidFill>
                  <a:schemeClr val="bg2"/>
                </a:solidFill>
                <a:cs typeface="Times New Roman" panose="02020603050405020304" pitchFamily="18" charset="0"/>
                <a:sym typeface="Symbol" panose="05050102010706020507" pitchFamily="18" charset="2"/>
              </a:rPr>
              <a:t>) </a:t>
            </a:r>
            <a:endParaRPr lang="en-US" altLang="zh-CN" b="1" dirty="0">
              <a:solidFill>
                <a:schemeClr val="bg2"/>
              </a:solidFill>
              <a:cs typeface="Times New Roman" panose="02020603050405020304" pitchFamily="18" charset="0"/>
              <a:sym typeface="Symbol" panose="05050102010706020507" pitchFamily="18" charset="2"/>
            </a:endParaRPr>
          </a:p>
          <a:p>
            <a:pPr>
              <a:lnSpc>
                <a:spcPct val="130000"/>
              </a:lnSpc>
            </a:pPr>
            <a:r>
              <a:rPr lang="en-US" altLang="zh-CN" b="1" dirty="0">
                <a:solidFill>
                  <a:schemeClr val="bg2"/>
                </a:solidFill>
                <a:cs typeface="Times New Roman" panose="02020603050405020304" pitchFamily="18" charset="0"/>
                <a:sym typeface="Symbol" panose="05050102010706020507" pitchFamily="18" charset="2"/>
              </a:rPr>
              <a:t>    5</a:t>
            </a:r>
            <a:r>
              <a:rPr lang="zh-CN" altLang="en-US" b="1" dirty="0">
                <a:solidFill>
                  <a:schemeClr val="bg2"/>
                </a:solidFill>
                <a:cs typeface="Times New Roman" panose="02020603050405020304" pitchFamily="18" charset="0"/>
                <a:sym typeface="Symbol" panose="05050102010706020507" pitchFamily="18" charset="2"/>
              </a:rPr>
              <a:t>．</a:t>
            </a:r>
            <a:r>
              <a:rPr lang="en-US" altLang="zh-CN" b="1" dirty="0">
                <a:solidFill>
                  <a:schemeClr val="bg2"/>
                </a:solidFill>
                <a:cs typeface="Times New Roman" panose="02020603050405020304" pitchFamily="18" charset="0"/>
                <a:sym typeface="Symbol" panose="05050102010706020507" pitchFamily="18" charset="2"/>
              </a:rPr>
              <a:t>Return Merge(</a:t>
            </a:r>
            <a:r>
              <a:rPr lang="en-US" altLang="zh-CN" b="1" i="1" dirty="0">
                <a:solidFill>
                  <a:schemeClr val="bg2"/>
                </a:solidFill>
                <a:cs typeface="Times New Roman" panose="02020603050405020304" pitchFamily="18" charset="0"/>
                <a:sym typeface="Symbol" panose="05050102010706020507" pitchFamily="18" charset="2"/>
              </a:rPr>
              <a:t>y</a:t>
            </a:r>
            <a:r>
              <a:rPr lang="en-US" altLang="zh-CN" b="1" baseline="-25000" dirty="0">
                <a:solidFill>
                  <a:schemeClr val="bg2"/>
                </a:solidFill>
                <a:cs typeface="Times New Roman" panose="02020603050405020304" pitchFamily="18" charset="0"/>
                <a:sym typeface="Symbol" panose="05050102010706020507" pitchFamily="18" charset="2"/>
              </a:rPr>
              <a:t>1</a:t>
            </a:r>
            <a:r>
              <a:rPr lang="en-US" altLang="zh-CN" b="1" dirty="0">
                <a:solidFill>
                  <a:schemeClr val="bg2"/>
                </a:solidFill>
                <a:cs typeface="Times New Roman" panose="02020603050405020304" pitchFamily="18" charset="0"/>
                <a:sym typeface="Symbol" panose="05050102010706020507" pitchFamily="18" charset="2"/>
              </a:rPr>
              <a:t>, </a:t>
            </a:r>
            <a:r>
              <a:rPr lang="en-US" altLang="zh-CN" b="1" i="1" dirty="0">
                <a:solidFill>
                  <a:schemeClr val="bg2"/>
                </a:solidFill>
                <a:cs typeface="Times New Roman" panose="02020603050405020304" pitchFamily="18" charset="0"/>
                <a:sym typeface="Symbol" panose="05050102010706020507" pitchFamily="18" charset="2"/>
              </a:rPr>
              <a:t>y</a:t>
            </a:r>
            <a:r>
              <a:rPr lang="en-US" altLang="zh-CN" b="1" baseline="-25000" dirty="0">
                <a:solidFill>
                  <a:schemeClr val="bg2"/>
                </a:solidFill>
                <a:cs typeface="Times New Roman" panose="02020603050405020304" pitchFamily="18" charset="0"/>
                <a:sym typeface="Symbol" panose="05050102010706020507" pitchFamily="18" charset="2"/>
              </a:rPr>
              <a:t>2</a:t>
            </a:r>
            <a:r>
              <a:rPr lang="en-US" altLang="zh-CN" b="1" dirty="0">
                <a:solidFill>
                  <a:schemeClr val="bg2"/>
                </a:solidFill>
                <a:cs typeface="Times New Roman" panose="02020603050405020304" pitchFamily="18" charset="0"/>
                <a:sym typeface="Symbol" panose="05050102010706020507" pitchFamily="18" charset="2"/>
              </a:rPr>
              <a:t>, …, </a:t>
            </a:r>
            <a:r>
              <a:rPr lang="en-US" altLang="zh-CN" b="1" i="1" dirty="0" err="1">
                <a:solidFill>
                  <a:schemeClr val="bg2"/>
                </a:solidFill>
                <a:cs typeface="Times New Roman" panose="02020603050405020304" pitchFamily="18" charset="0"/>
                <a:sym typeface="Symbol" panose="05050102010706020507" pitchFamily="18" charset="2"/>
              </a:rPr>
              <a:t>y</a:t>
            </a:r>
            <a:r>
              <a:rPr lang="en-US" altLang="zh-CN" b="1" i="1" baseline="-25000" dirty="0" err="1">
                <a:solidFill>
                  <a:schemeClr val="bg2"/>
                </a:solidFill>
                <a:cs typeface="Times New Roman" panose="02020603050405020304" pitchFamily="18" charset="0"/>
                <a:sym typeface="Symbol" panose="05050102010706020507" pitchFamily="18" charset="2"/>
              </a:rPr>
              <a:t>k</a:t>
            </a:r>
            <a:r>
              <a:rPr lang="en-US" altLang="zh-CN" b="1" dirty="0">
                <a:solidFill>
                  <a:schemeClr val="bg2"/>
                </a:solidFill>
                <a:cs typeface="Times New Roman" panose="02020603050405020304" pitchFamily="18" charset="0"/>
                <a:sym typeface="Symbol" panose="05050102010706020507" pitchFamily="18" charset="2"/>
              </a:rPr>
              <a:t>)  </a:t>
            </a:r>
            <a:endParaRPr lang="en-US" altLang="zh-CN" b="1" dirty="0">
              <a:solidFill>
                <a:schemeClr val="bg2"/>
              </a:solidFill>
              <a:cs typeface="Times New Roman" panose="02020603050405020304" pitchFamily="18" charset="0"/>
              <a:sym typeface="Symbol" panose="05050102010706020507" pitchFamily="18" charset="2"/>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19437"/>
          <a:stretch>
            <a:fillRect/>
          </a:stretch>
        </p:blipFill>
        <p:spPr bwMode="auto">
          <a:xfrm>
            <a:off x="5508104" y="4781902"/>
            <a:ext cx="1895475" cy="93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left)">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wipe(left)">
                                      <p:cBhvr>
                                        <p:cTn id="12" dur="500"/>
                                        <p:tgtEl>
                                          <p:spTgt spid="20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wipe(left)">
                                      <p:cBhvr>
                                        <p:cTn id="1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kern="1200" noProof="0" dirty="0" smtClean="0">
                <a:ln>
                  <a:noFill/>
                </a:ln>
                <a:solidFill>
                  <a:schemeClr val="accent2"/>
                </a:solidFill>
                <a:effectLst/>
                <a:uLnTx/>
                <a:uFillTx/>
                <a:sym typeface="+mn-ea"/>
              </a:rPr>
              <a:t>2.1 </a:t>
            </a:r>
            <a:r>
              <a:rPr kumimoji="0" lang="zh-CN" altLang="en-US" kern="1200" noProof="0" dirty="0" smtClean="0">
                <a:ln>
                  <a:noFill/>
                </a:ln>
                <a:solidFill>
                  <a:schemeClr val="accent2"/>
                </a:solidFill>
                <a:effectLst/>
                <a:uLnTx/>
                <a:uFillTx/>
                <a:sym typeface="+mn-ea"/>
              </a:rPr>
              <a:t>分治策略的基本思想</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72481"/>
            <a:ext cx="3321055"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solidFill>
                  <a:schemeClr val="bg2"/>
                </a:solidFill>
              </a:rPr>
              <a:t>分治算法</a:t>
            </a:r>
            <a:r>
              <a:rPr lang="zh-CN" altLang="en-US" dirty="0" smtClean="0">
                <a:solidFill>
                  <a:schemeClr val="bg2"/>
                </a:solidFill>
              </a:rPr>
              <a:t>设计要点</a:t>
            </a:r>
            <a:endParaRPr lang="zh-CN" altLang="en-US" dirty="0">
              <a:solidFill>
                <a:schemeClr val="bg2"/>
              </a:solidFill>
            </a:endParaRPr>
          </a:p>
        </p:txBody>
      </p:sp>
      <p:sp>
        <p:nvSpPr>
          <p:cNvPr id="4" name="矩形 3"/>
          <p:cNvSpPr/>
          <p:nvPr/>
        </p:nvSpPr>
        <p:spPr>
          <a:xfrm>
            <a:off x="1449146" y="2204864"/>
            <a:ext cx="6939277" cy="3453253"/>
          </a:xfrm>
          <a:prstGeom prst="rect">
            <a:avLst/>
          </a:prstGeom>
        </p:spPr>
        <p:txBody>
          <a:bodyPr wrap="square">
            <a:spAutoFit/>
          </a:bodyPr>
          <a:lstStyle/>
          <a:p>
            <a:pPr marL="342900" indent="-342900">
              <a:lnSpc>
                <a:spcPct val="130000"/>
              </a:lnSpc>
              <a:buFont typeface="Wingdings" panose="05000000000000000000" pitchFamily="2" charset="2"/>
              <a:buChar char="Ø"/>
            </a:pPr>
            <a:r>
              <a:rPr lang="zh-CN" altLang="en-US" dirty="0">
                <a:solidFill>
                  <a:schemeClr val="bg2"/>
                </a:solidFill>
              </a:rPr>
              <a:t>原问题可以划分或者归约为</a:t>
            </a:r>
            <a:r>
              <a:rPr lang="zh-CN" altLang="en-US" dirty="0" smtClean="0">
                <a:solidFill>
                  <a:schemeClr val="bg2"/>
                </a:solidFill>
              </a:rPr>
              <a:t>规模较小</a:t>
            </a:r>
            <a:r>
              <a:rPr lang="zh-CN" altLang="en-US" dirty="0">
                <a:solidFill>
                  <a:schemeClr val="bg2"/>
                </a:solidFill>
              </a:rPr>
              <a:t>的子</a:t>
            </a:r>
            <a:r>
              <a:rPr lang="zh-CN" altLang="en-US" dirty="0" smtClean="0">
                <a:solidFill>
                  <a:schemeClr val="bg2"/>
                </a:solidFill>
              </a:rPr>
              <a:t>问题</a:t>
            </a:r>
            <a:endParaRPr lang="en-US" altLang="zh-CN" dirty="0" smtClean="0">
              <a:solidFill>
                <a:schemeClr val="bg2"/>
              </a:solidFill>
            </a:endParaRPr>
          </a:p>
          <a:p>
            <a:pPr marL="1257300" lvl="2" indent="-342900">
              <a:lnSpc>
                <a:spcPct val="130000"/>
              </a:lnSpc>
              <a:buFont typeface="Symbol" panose="05050102010706020507" pitchFamily="18" charset="2"/>
              <a:buChar char="*"/>
            </a:pPr>
            <a:r>
              <a:rPr lang="zh-CN" altLang="en-US" dirty="0" smtClean="0">
                <a:solidFill>
                  <a:schemeClr val="bg2"/>
                </a:solidFill>
              </a:rPr>
              <a:t>子</a:t>
            </a:r>
            <a:r>
              <a:rPr lang="zh-CN" altLang="en-US" dirty="0">
                <a:solidFill>
                  <a:schemeClr val="bg2"/>
                </a:solidFill>
              </a:rPr>
              <a:t>问题与原问题具有相同的</a:t>
            </a:r>
            <a:r>
              <a:rPr lang="zh-CN" altLang="en-US" dirty="0" smtClean="0">
                <a:solidFill>
                  <a:schemeClr val="bg2"/>
                </a:solidFill>
              </a:rPr>
              <a:t>性质</a:t>
            </a:r>
            <a:endParaRPr lang="en-US" altLang="zh-CN" dirty="0" smtClean="0">
              <a:solidFill>
                <a:schemeClr val="bg2"/>
              </a:solidFill>
            </a:endParaRPr>
          </a:p>
          <a:p>
            <a:pPr marL="1257300" lvl="2" indent="-342900">
              <a:lnSpc>
                <a:spcPct val="130000"/>
              </a:lnSpc>
              <a:buFont typeface="Symbol" panose="05050102010706020507" pitchFamily="18" charset="2"/>
              <a:buChar char="*"/>
            </a:pPr>
            <a:r>
              <a:rPr lang="zh-CN" altLang="en-US" dirty="0" smtClean="0">
                <a:solidFill>
                  <a:schemeClr val="bg2"/>
                </a:solidFill>
              </a:rPr>
              <a:t>子</a:t>
            </a:r>
            <a:r>
              <a:rPr lang="zh-CN" altLang="en-US" dirty="0">
                <a:solidFill>
                  <a:schemeClr val="bg2"/>
                </a:solidFill>
              </a:rPr>
              <a:t>问题的求解彼此</a:t>
            </a:r>
            <a:r>
              <a:rPr lang="zh-CN" altLang="en-US" dirty="0" smtClean="0">
                <a:solidFill>
                  <a:schemeClr val="bg2"/>
                </a:solidFill>
              </a:rPr>
              <a:t>独立</a:t>
            </a:r>
            <a:endParaRPr lang="en-US" altLang="zh-CN" dirty="0" smtClean="0">
              <a:solidFill>
                <a:schemeClr val="bg2"/>
              </a:solidFill>
            </a:endParaRPr>
          </a:p>
          <a:p>
            <a:pPr marL="1257300" lvl="2" indent="-342900">
              <a:lnSpc>
                <a:spcPct val="130000"/>
              </a:lnSpc>
              <a:buFont typeface="Symbol" panose="05050102010706020507" pitchFamily="18" charset="2"/>
              <a:buChar char="*"/>
            </a:pPr>
            <a:r>
              <a:rPr lang="zh-CN" altLang="en-US" dirty="0" smtClean="0">
                <a:solidFill>
                  <a:schemeClr val="bg2"/>
                </a:solidFill>
              </a:rPr>
              <a:t>划分</a:t>
            </a:r>
            <a:r>
              <a:rPr lang="zh-CN" altLang="en-US" dirty="0">
                <a:solidFill>
                  <a:schemeClr val="bg2"/>
                </a:solidFill>
              </a:rPr>
              <a:t>时子问题的规模尽可能</a:t>
            </a:r>
            <a:r>
              <a:rPr lang="zh-CN" altLang="en-US" dirty="0" smtClean="0">
                <a:solidFill>
                  <a:schemeClr val="bg2"/>
                </a:solidFill>
              </a:rPr>
              <a:t>均衡</a:t>
            </a:r>
            <a:endParaRPr lang="en-US" altLang="zh-CN" dirty="0">
              <a:solidFill>
                <a:schemeClr val="bg2"/>
              </a:solidFill>
            </a:endParaRPr>
          </a:p>
          <a:p>
            <a:pPr marL="342900" indent="-342900">
              <a:lnSpc>
                <a:spcPct val="130000"/>
              </a:lnSpc>
              <a:buFont typeface="Wingdings" panose="05000000000000000000" pitchFamily="2" charset="2"/>
              <a:buChar char="Ø"/>
            </a:pPr>
            <a:r>
              <a:rPr lang="zh-CN" altLang="en-US" dirty="0" smtClean="0">
                <a:solidFill>
                  <a:schemeClr val="bg2"/>
                </a:solidFill>
              </a:rPr>
              <a:t>子</a:t>
            </a:r>
            <a:r>
              <a:rPr lang="zh-CN" altLang="en-US" dirty="0">
                <a:solidFill>
                  <a:schemeClr val="bg2"/>
                </a:solidFill>
              </a:rPr>
              <a:t>问题规模足够小时可直接</a:t>
            </a:r>
            <a:r>
              <a:rPr lang="zh-CN" altLang="en-US" dirty="0" smtClean="0">
                <a:solidFill>
                  <a:schemeClr val="bg2"/>
                </a:solidFill>
              </a:rPr>
              <a:t>求解</a:t>
            </a:r>
            <a:endParaRPr lang="en-US" altLang="zh-CN" dirty="0">
              <a:solidFill>
                <a:schemeClr val="bg2"/>
              </a:solidFill>
            </a:endParaRPr>
          </a:p>
          <a:p>
            <a:pPr marL="342900" indent="-342900">
              <a:lnSpc>
                <a:spcPct val="130000"/>
              </a:lnSpc>
              <a:buFont typeface="Wingdings" panose="05000000000000000000" pitchFamily="2" charset="2"/>
              <a:buChar char="Ø"/>
            </a:pPr>
            <a:r>
              <a:rPr lang="zh-CN" altLang="en-US" dirty="0" smtClean="0">
                <a:solidFill>
                  <a:schemeClr val="bg2"/>
                </a:solidFill>
              </a:rPr>
              <a:t>子</a:t>
            </a:r>
            <a:r>
              <a:rPr lang="zh-CN" altLang="en-US" dirty="0">
                <a:solidFill>
                  <a:schemeClr val="bg2"/>
                </a:solidFill>
              </a:rPr>
              <a:t>问题的解综合得到原问题的</a:t>
            </a:r>
            <a:r>
              <a:rPr lang="zh-CN" altLang="en-US" dirty="0" smtClean="0">
                <a:solidFill>
                  <a:schemeClr val="bg2"/>
                </a:solidFill>
              </a:rPr>
              <a:t>解</a:t>
            </a:r>
            <a:endParaRPr lang="en-US" altLang="zh-CN" dirty="0">
              <a:solidFill>
                <a:schemeClr val="bg2"/>
              </a:solidFill>
            </a:endParaRPr>
          </a:p>
          <a:p>
            <a:pPr marL="342900" indent="-342900">
              <a:lnSpc>
                <a:spcPct val="130000"/>
              </a:lnSpc>
              <a:buFont typeface="Wingdings" panose="05000000000000000000" pitchFamily="2" charset="2"/>
              <a:buChar char="Ø"/>
            </a:pPr>
            <a:r>
              <a:rPr lang="zh-CN" altLang="en-US" dirty="0" smtClean="0">
                <a:solidFill>
                  <a:schemeClr val="bg2"/>
                </a:solidFill>
              </a:rPr>
              <a:t>算法</a:t>
            </a:r>
            <a:r>
              <a:rPr lang="zh-CN" altLang="en-US" dirty="0">
                <a:solidFill>
                  <a:schemeClr val="bg2"/>
                </a:solidFill>
              </a:rPr>
              <a:t>实现：递归或迭代 </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left)">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ipe(left)">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wipe(left)">
                                      <p:cBhvr>
                                        <p:cTn id="28" dur="500"/>
                                        <p:tgtEl>
                                          <p:spTgt spid="4">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wipe(left)">
                                      <p:cBhvr>
                                        <p:cTn id="33"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72481"/>
            <a:ext cx="3825111"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solidFill>
                  <a:schemeClr val="bg2"/>
                </a:solidFill>
              </a:rPr>
              <a:t>分治算法时间</a:t>
            </a:r>
            <a:r>
              <a:rPr lang="zh-CN" altLang="en-US" dirty="0" smtClean="0">
                <a:solidFill>
                  <a:schemeClr val="bg2"/>
                </a:solidFill>
              </a:rPr>
              <a:t>分析</a:t>
            </a:r>
            <a:endParaRPr lang="zh-CN" altLang="en-US" dirty="0">
              <a:solidFill>
                <a:schemeClr val="bg2"/>
              </a:solidFill>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624" y="2195761"/>
            <a:ext cx="5430188" cy="152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971600" y="3791186"/>
            <a:ext cx="7200800" cy="1942070"/>
          </a:xfrm>
          <a:prstGeom prst="rect">
            <a:avLst/>
          </a:prstGeom>
        </p:spPr>
        <p:txBody>
          <a:bodyPr wrap="square">
            <a:spAutoFit/>
          </a:bodyPr>
          <a:lstStyle/>
          <a:p>
            <a:pPr marL="342900" indent="-342900">
              <a:lnSpc>
                <a:spcPct val="120000"/>
              </a:lnSpc>
              <a:spcBef>
                <a:spcPts val="300"/>
              </a:spcBef>
              <a:buFont typeface="Wingdings" panose="05000000000000000000" pitchFamily="2" charset="2"/>
              <a:buChar char="Ø"/>
            </a:pPr>
            <a:r>
              <a:rPr lang="en-US" altLang="zh-CN" b="1" i="1" dirty="0" smtClean="0">
                <a:solidFill>
                  <a:schemeClr val="bg2"/>
                </a:solidFill>
              </a:rPr>
              <a:t>P</a:t>
            </a:r>
            <a:r>
              <a:rPr lang="en-US" altLang="zh-CN" b="1" baseline="-25000" dirty="0" smtClean="0">
                <a:solidFill>
                  <a:schemeClr val="bg2"/>
                </a:solidFill>
              </a:rPr>
              <a:t>1</a:t>
            </a:r>
            <a:r>
              <a:rPr lang="en-US" altLang="zh-CN" b="1" dirty="0">
                <a:solidFill>
                  <a:schemeClr val="bg2"/>
                </a:solidFill>
              </a:rPr>
              <a:t>, </a:t>
            </a:r>
            <a:r>
              <a:rPr lang="en-US" altLang="zh-CN" b="1" i="1" dirty="0">
                <a:solidFill>
                  <a:schemeClr val="bg2"/>
                </a:solidFill>
              </a:rPr>
              <a:t>P</a:t>
            </a:r>
            <a:r>
              <a:rPr lang="en-US" altLang="zh-CN" b="1" baseline="-25000" dirty="0">
                <a:solidFill>
                  <a:schemeClr val="bg2"/>
                </a:solidFill>
              </a:rPr>
              <a:t>2</a:t>
            </a:r>
            <a:r>
              <a:rPr lang="en-US" altLang="zh-CN" b="1" dirty="0">
                <a:solidFill>
                  <a:schemeClr val="bg2"/>
                </a:solidFill>
              </a:rPr>
              <a:t>, …, </a:t>
            </a:r>
            <a:r>
              <a:rPr lang="en-US" altLang="zh-CN" b="1" i="1" dirty="0" err="1">
                <a:solidFill>
                  <a:schemeClr val="bg2"/>
                </a:solidFill>
              </a:rPr>
              <a:t>P</a:t>
            </a:r>
            <a:r>
              <a:rPr lang="en-US" altLang="zh-CN" b="1" baseline="-25000" dirty="0" err="1">
                <a:solidFill>
                  <a:schemeClr val="bg2"/>
                </a:solidFill>
              </a:rPr>
              <a:t>k</a:t>
            </a:r>
            <a:r>
              <a:rPr lang="en-US" altLang="zh-CN" b="1" i="1" dirty="0">
                <a:solidFill>
                  <a:schemeClr val="bg2"/>
                </a:solidFill>
              </a:rPr>
              <a:t> </a:t>
            </a:r>
            <a:r>
              <a:rPr lang="zh-CN" altLang="en-US" dirty="0">
                <a:solidFill>
                  <a:schemeClr val="bg2"/>
                </a:solidFill>
              </a:rPr>
              <a:t>为 划分后产生</a:t>
            </a:r>
            <a:r>
              <a:rPr lang="zh-CN" altLang="en-US" dirty="0" smtClean="0">
                <a:solidFill>
                  <a:schemeClr val="bg2"/>
                </a:solidFill>
              </a:rPr>
              <a:t>的子问题</a:t>
            </a:r>
            <a:endParaRPr lang="en-US" altLang="zh-CN" dirty="0" smtClean="0">
              <a:solidFill>
                <a:schemeClr val="bg2"/>
              </a:solidFill>
            </a:endParaRPr>
          </a:p>
          <a:p>
            <a:pPr marL="342900" indent="-342900">
              <a:lnSpc>
                <a:spcPct val="120000"/>
              </a:lnSpc>
              <a:spcBef>
                <a:spcPts val="300"/>
              </a:spcBef>
              <a:buFont typeface="Wingdings" panose="05000000000000000000" pitchFamily="2" charset="2"/>
              <a:buChar char="Ø"/>
            </a:pPr>
            <a:r>
              <a:rPr lang="en-US" altLang="zh-CN" dirty="0" smtClean="0">
                <a:solidFill>
                  <a:schemeClr val="bg2"/>
                </a:solidFill>
              </a:rPr>
              <a:t> </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zh-CN" altLang="en-US" dirty="0">
                <a:solidFill>
                  <a:schemeClr val="bg2"/>
                </a:solidFill>
              </a:rPr>
              <a:t>为划分子问题以及将子问题的</a:t>
            </a:r>
            <a:r>
              <a:rPr lang="zh-CN" altLang="en-US" dirty="0" smtClean="0">
                <a:solidFill>
                  <a:schemeClr val="bg2"/>
                </a:solidFill>
              </a:rPr>
              <a:t>解综合</a:t>
            </a:r>
            <a:r>
              <a:rPr lang="zh-CN" altLang="en-US" dirty="0">
                <a:solidFill>
                  <a:schemeClr val="bg2"/>
                </a:solidFill>
              </a:rPr>
              <a:t>得到原问题解的总</a:t>
            </a:r>
            <a:r>
              <a:rPr lang="zh-CN" altLang="en-US" dirty="0" smtClean="0">
                <a:solidFill>
                  <a:schemeClr val="bg2"/>
                </a:solidFill>
              </a:rPr>
              <a:t>工作量</a:t>
            </a:r>
            <a:endParaRPr lang="en-US" altLang="zh-CN" dirty="0" smtClean="0">
              <a:solidFill>
                <a:schemeClr val="bg2"/>
              </a:solidFill>
            </a:endParaRPr>
          </a:p>
          <a:p>
            <a:pPr marL="342900" indent="-342900">
              <a:lnSpc>
                <a:spcPct val="120000"/>
              </a:lnSpc>
              <a:spcBef>
                <a:spcPts val="300"/>
              </a:spcBef>
              <a:buFont typeface="Wingdings" panose="05000000000000000000" pitchFamily="2" charset="2"/>
              <a:buChar char="Ø"/>
            </a:pPr>
            <a:r>
              <a:rPr lang="en-US" altLang="zh-CN" dirty="0" smtClean="0">
                <a:solidFill>
                  <a:schemeClr val="bg2"/>
                </a:solidFill>
              </a:rPr>
              <a:t> </a:t>
            </a:r>
            <a:r>
              <a:rPr lang="zh-CN" altLang="en-US" dirty="0">
                <a:solidFill>
                  <a:schemeClr val="bg2"/>
                </a:solidFill>
              </a:rPr>
              <a:t>规模为</a:t>
            </a:r>
            <a:r>
              <a:rPr lang="en-US" altLang="zh-CN" b="1" i="1" dirty="0">
                <a:solidFill>
                  <a:schemeClr val="bg2"/>
                </a:solidFill>
              </a:rPr>
              <a:t>c</a:t>
            </a:r>
            <a:r>
              <a:rPr lang="zh-CN" altLang="en-US" dirty="0">
                <a:solidFill>
                  <a:schemeClr val="bg2"/>
                </a:solidFill>
              </a:rPr>
              <a:t>的最小子问题的工作量为</a:t>
            </a:r>
            <a:r>
              <a:rPr lang="en-US" altLang="zh-CN" b="1" i="1" dirty="0">
                <a:solidFill>
                  <a:schemeClr val="bg2"/>
                </a:solidFill>
              </a:rPr>
              <a:t>C</a:t>
            </a:r>
            <a:r>
              <a:rPr lang="zh-CN" altLang="en-US" dirty="0">
                <a:solidFill>
                  <a:schemeClr val="bg2"/>
                </a:solidFill>
              </a:rPr>
              <a:t> </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down)">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90905" y="1672481"/>
            <a:ext cx="3825111"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solidFill>
                  <a:schemeClr val="bg2"/>
                </a:solidFill>
              </a:rPr>
              <a:t>两类常见的递推</a:t>
            </a:r>
            <a:r>
              <a:rPr lang="zh-CN" altLang="en-US" dirty="0" smtClean="0">
                <a:solidFill>
                  <a:schemeClr val="bg2"/>
                </a:solidFill>
              </a:rPr>
              <a:t>方程</a:t>
            </a:r>
            <a:endParaRPr lang="zh-CN" altLang="en-US" dirty="0">
              <a:solidFill>
                <a:schemeClr val="bg2"/>
              </a:solidFill>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1" y="2348880"/>
            <a:ext cx="3816425" cy="1468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4418211" y="1848189"/>
            <a:ext cx="4316717" cy="2012859"/>
          </a:xfrm>
          <a:prstGeom prst="rect">
            <a:avLst/>
          </a:prstGeom>
        </p:spPr>
        <p:txBody>
          <a:bodyPr wrap="square">
            <a:spAutoFit/>
          </a:bodyPr>
          <a:lstStyle/>
          <a:p>
            <a:pPr>
              <a:lnSpc>
                <a:spcPct val="130000"/>
              </a:lnSpc>
            </a:pPr>
            <a:r>
              <a:rPr lang="zh-CN" altLang="en-US" dirty="0">
                <a:solidFill>
                  <a:schemeClr val="bg2"/>
                </a:solidFill>
              </a:rPr>
              <a:t>例子：</a:t>
            </a:r>
            <a:br>
              <a:rPr lang="zh-CN" altLang="en-US" dirty="0">
                <a:solidFill>
                  <a:schemeClr val="bg2"/>
                </a:solidFill>
              </a:rPr>
            </a:br>
            <a:r>
              <a:rPr lang="en-US" altLang="zh-CN" dirty="0">
                <a:solidFill>
                  <a:schemeClr val="bg2"/>
                </a:solidFill>
              </a:rPr>
              <a:t>Hanoi</a:t>
            </a:r>
            <a:r>
              <a:rPr lang="zh-CN" altLang="en-US" dirty="0">
                <a:solidFill>
                  <a:schemeClr val="bg2"/>
                </a:solidFill>
              </a:rPr>
              <a:t>塔， </a:t>
            </a:r>
            <a:r>
              <a:rPr lang="zh-CN" altLang="en-US" dirty="0" smtClean="0">
                <a:solidFill>
                  <a:schemeClr val="bg2"/>
                </a:solidFill>
              </a:rPr>
              <a:t> </a:t>
            </a: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)=2</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-1)+1</a:t>
            </a:r>
            <a:br>
              <a:rPr lang="en-US" altLang="zh-CN" b="1" dirty="0">
                <a:solidFill>
                  <a:schemeClr val="bg2"/>
                </a:solidFill>
              </a:rPr>
            </a:br>
            <a:r>
              <a:rPr lang="zh-CN" altLang="en-US" dirty="0">
                <a:solidFill>
                  <a:schemeClr val="bg2"/>
                </a:solidFill>
              </a:rPr>
              <a:t>二分检索， </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/2)+1</a:t>
            </a:r>
            <a:br>
              <a:rPr lang="en-US" altLang="zh-CN" b="1" dirty="0">
                <a:solidFill>
                  <a:schemeClr val="bg2"/>
                </a:solidFill>
              </a:rPr>
            </a:br>
            <a:r>
              <a:rPr lang="zh-CN" altLang="en-US" dirty="0">
                <a:solidFill>
                  <a:schemeClr val="bg2"/>
                </a:solidFill>
              </a:rPr>
              <a:t>归并排序， </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)=2</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/2)+ </a:t>
            </a:r>
            <a:r>
              <a:rPr lang="en-US" altLang="zh-CN" b="1" i="1" dirty="0">
                <a:solidFill>
                  <a:schemeClr val="bg2"/>
                </a:solidFill>
              </a:rPr>
              <a:t>n</a:t>
            </a:r>
            <a:r>
              <a:rPr lang="en-US" altLang="zh-CN" b="1" dirty="0">
                <a:solidFill>
                  <a:schemeClr val="bg2"/>
                </a:solidFill>
              </a:rPr>
              <a:t>-1</a:t>
            </a:r>
            <a:r>
              <a:rPr lang="en-US" altLang="zh-CN" dirty="0">
                <a:solidFill>
                  <a:schemeClr val="bg2"/>
                </a:solidFill>
              </a:rPr>
              <a:t> </a:t>
            </a:r>
            <a:endParaRPr lang="zh-CN" altLang="en-US" dirty="0">
              <a:solidFill>
                <a:schemeClr val="bg2"/>
              </a:solidFill>
            </a:endParaRPr>
          </a:p>
        </p:txBody>
      </p:sp>
      <p:pic>
        <p:nvPicPr>
          <p:cNvPr id="307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650"/>
          <a:stretch>
            <a:fillRect/>
          </a:stretch>
        </p:blipFill>
        <p:spPr bwMode="auto">
          <a:xfrm>
            <a:off x="827584" y="3933056"/>
            <a:ext cx="5019325"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left)">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wipe(left)">
                                      <p:cBhvr>
                                        <p:cTn id="12" dur="5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pic>
        <p:nvPicPr>
          <p:cNvPr id="5" name="20 4"/>
          <p:cNvPicPr>
            <a:picLocks noChangeAspect="1"/>
          </p:cNvPicPr>
          <p:nvPr/>
        </p:nvPicPr>
        <p:blipFill>
          <a:blip r:embed="rId1"/>
          <a:srcRect b="84798"/>
          <a:stretch>
            <a:fillRect/>
          </a:stretch>
        </p:blipFill>
        <p:spPr>
          <a:xfrm>
            <a:off x="2025015" y="1957705"/>
            <a:ext cx="5314950" cy="619760"/>
          </a:xfrm>
          <a:prstGeom prst="rect">
            <a:avLst/>
          </a:prstGeom>
        </p:spPr>
      </p:pic>
      <p:sp>
        <p:nvSpPr>
          <p:cNvPr id="6" name="文本框 5"/>
          <p:cNvSpPr txBox="1"/>
          <p:nvPr/>
        </p:nvSpPr>
        <p:spPr>
          <a:xfrm>
            <a:off x="675640" y="1715135"/>
            <a:ext cx="2540000" cy="460375"/>
          </a:xfrm>
          <a:prstGeom prst="rect">
            <a:avLst/>
          </a:prstGeom>
          <a:noFill/>
        </p:spPr>
        <p:txBody>
          <a:bodyPr wrap="square" rtlCol="0" anchor="t">
            <a:spAutoFit/>
          </a:bodyPr>
          <a:p>
            <a:r>
              <a:rPr lang="zh-CN" altLang="en-US" b="1">
                <a:solidFill>
                  <a:schemeClr val="bg2"/>
                </a:solidFill>
              </a:rPr>
              <a:t>方程2的解</a:t>
            </a:r>
            <a:endParaRPr lang="zh-CN" altLang="en-US" b="1">
              <a:solidFill>
                <a:schemeClr val="bg2"/>
              </a:solidFill>
            </a:endParaRPr>
          </a:p>
        </p:txBody>
      </p:sp>
      <p:pic>
        <p:nvPicPr>
          <p:cNvPr id="7" name="20 6"/>
          <p:cNvPicPr>
            <a:picLocks noChangeAspect="1"/>
          </p:cNvPicPr>
          <p:nvPr/>
        </p:nvPicPr>
        <p:blipFill>
          <a:blip r:embed="rId1"/>
          <a:srcRect t="17025" b="44766"/>
          <a:stretch>
            <a:fillRect/>
          </a:stretch>
        </p:blipFill>
        <p:spPr>
          <a:xfrm>
            <a:off x="2119630" y="2650490"/>
            <a:ext cx="5314950" cy="1557655"/>
          </a:xfrm>
          <a:prstGeom prst="rect">
            <a:avLst/>
          </a:prstGeom>
        </p:spPr>
      </p:pic>
      <p:pic>
        <p:nvPicPr>
          <p:cNvPr id="8" name="20 7"/>
          <p:cNvPicPr>
            <a:picLocks noChangeAspect="1"/>
          </p:cNvPicPr>
          <p:nvPr/>
        </p:nvPicPr>
        <p:blipFill>
          <a:blip r:embed="rId1"/>
          <a:srcRect t="54377"/>
          <a:stretch>
            <a:fillRect/>
          </a:stretch>
        </p:blipFill>
        <p:spPr>
          <a:xfrm>
            <a:off x="2119630" y="4351655"/>
            <a:ext cx="5314950" cy="185991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611560" y="1628800"/>
            <a:ext cx="8064896" cy="460375"/>
          </a:xfrm>
          <a:prstGeom prst="rect">
            <a:avLst/>
          </a:prstGeom>
          <a:noFill/>
        </p:spPr>
        <p:txBody>
          <a:bodyPr wrap="square" rtlCol="0">
            <a:spAutoFit/>
          </a:bodyPr>
          <a:lstStyle/>
          <a:p>
            <a:pPr marL="342900" indent="-342900">
              <a:spcBef>
                <a:spcPts val="600"/>
              </a:spcBef>
              <a:buFont typeface="Wingdings" panose="05000000000000000000" pitchFamily="2" charset="2"/>
              <a:buChar char="n"/>
            </a:pPr>
            <a:r>
              <a:rPr lang="zh-CN" altLang="en-US" dirty="0" smtClean="0">
                <a:solidFill>
                  <a:schemeClr val="bg2"/>
                </a:solidFill>
              </a:rPr>
              <a:t>举例</a:t>
            </a:r>
            <a:r>
              <a:rPr lang="en-US" altLang="zh-CN" dirty="0" smtClean="0">
                <a:solidFill>
                  <a:schemeClr val="bg2"/>
                </a:solidFill>
              </a:rPr>
              <a:t>1</a:t>
            </a:r>
            <a:r>
              <a:rPr lang="zh-CN" altLang="en-US" dirty="0" smtClean="0">
                <a:solidFill>
                  <a:schemeClr val="bg2"/>
                </a:solidFill>
              </a:rPr>
              <a:t>：芯片测试问题</a:t>
            </a:r>
            <a:endParaRPr lang="en-US" altLang="zh-CN" dirty="0" smtClean="0">
              <a:solidFill>
                <a:schemeClr val="bg2"/>
              </a:solidFill>
            </a:endParaRPr>
          </a:p>
        </p:txBody>
      </p:sp>
      <p:sp>
        <p:nvSpPr>
          <p:cNvPr id="5" name="矩形 4"/>
          <p:cNvSpPr/>
          <p:nvPr/>
        </p:nvSpPr>
        <p:spPr>
          <a:xfrm>
            <a:off x="1115616" y="2165955"/>
            <a:ext cx="7704856" cy="830997"/>
          </a:xfrm>
          <a:prstGeom prst="rect">
            <a:avLst/>
          </a:prstGeom>
        </p:spPr>
        <p:txBody>
          <a:bodyPr wrap="square">
            <a:spAutoFit/>
          </a:bodyPr>
          <a:lstStyle/>
          <a:p>
            <a:pPr marL="342900" indent="-342900">
              <a:buFont typeface="Arial" panose="020B0604020202020204" pitchFamily="34" charset="0"/>
              <a:buChar char="•"/>
            </a:pPr>
            <a:r>
              <a:rPr lang="zh-CN" altLang="en-US" dirty="0">
                <a:solidFill>
                  <a:schemeClr val="bg2"/>
                </a:solidFill>
              </a:rPr>
              <a:t>测试方法：将</a:t>
            </a:r>
            <a:r>
              <a:rPr lang="en-US" altLang="zh-CN" b="1" dirty="0">
                <a:solidFill>
                  <a:schemeClr val="bg2"/>
                </a:solidFill>
              </a:rPr>
              <a:t>2</a:t>
            </a:r>
            <a:r>
              <a:rPr lang="zh-CN" altLang="en-US" dirty="0">
                <a:solidFill>
                  <a:schemeClr val="bg2"/>
                </a:solidFill>
              </a:rPr>
              <a:t>片芯片（</a:t>
            </a:r>
            <a:r>
              <a:rPr lang="en-US" altLang="zh-CN" b="1" i="1" dirty="0">
                <a:solidFill>
                  <a:schemeClr val="bg2"/>
                </a:solidFill>
              </a:rPr>
              <a:t>A</a:t>
            </a:r>
            <a:r>
              <a:rPr lang="zh-CN" altLang="en-US" dirty="0">
                <a:solidFill>
                  <a:schemeClr val="bg2"/>
                </a:solidFill>
              </a:rPr>
              <a:t>和</a:t>
            </a:r>
            <a:r>
              <a:rPr lang="en-US" altLang="zh-CN" b="1" i="1" dirty="0">
                <a:solidFill>
                  <a:schemeClr val="bg2"/>
                </a:solidFill>
              </a:rPr>
              <a:t>B</a:t>
            </a:r>
            <a:r>
              <a:rPr lang="zh-CN" altLang="en-US" dirty="0">
                <a:solidFill>
                  <a:schemeClr val="bg2"/>
                </a:solidFill>
              </a:rPr>
              <a:t>）</a:t>
            </a:r>
            <a:r>
              <a:rPr lang="zh-CN" altLang="en-US" dirty="0" smtClean="0">
                <a:solidFill>
                  <a:schemeClr val="bg2"/>
                </a:solidFill>
              </a:rPr>
              <a:t>置于测试台</a:t>
            </a:r>
            <a:r>
              <a:rPr lang="zh-CN" altLang="en-US" dirty="0">
                <a:solidFill>
                  <a:schemeClr val="bg2"/>
                </a:solidFill>
              </a:rPr>
              <a:t>上，互相进行测试，</a:t>
            </a:r>
            <a:r>
              <a:rPr lang="zh-CN" altLang="en-US" dirty="0" smtClean="0">
                <a:solidFill>
                  <a:schemeClr val="bg2"/>
                </a:solidFill>
              </a:rPr>
              <a:t>测试报告</a:t>
            </a:r>
            <a:r>
              <a:rPr lang="zh-CN" altLang="en-US" dirty="0">
                <a:solidFill>
                  <a:schemeClr val="bg2"/>
                </a:solidFill>
              </a:rPr>
              <a:t>是“好”或“坏”，只取</a:t>
            </a:r>
            <a:r>
              <a:rPr lang="zh-CN" altLang="en-US" dirty="0" smtClean="0">
                <a:solidFill>
                  <a:schemeClr val="bg2"/>
                </a:solidFill>
              </a:rPr>
              <a:t>其一</a:t>
            </a:r>
            <a:r>
              <a:rPr lang="zh-CN" altLang="en-US" b="1" dirty="0" smtClean="0">
                <a:solidFill>
                  <a:schemeClr val="bg2"/>
                </a:solidFill>
              </a:rPr>
              <a:t>。</a:t>
            </a:r>
            <a:endParaRPr lang="zh-CN" altLang="en-US" dirty="0">
              <a:solidFill>
                <a:schemeClr val="bg2"/>
              </a:solidFill>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44788" y="3140968"/>
            <a:ext cx="5398440"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1091108" y="5013176"/>
            <a:ext cx="7513340" cy="830997"/>
          </a:xfrm>
          <a:prstGeom prst="rect">
            <a:avLst/>
          </a:prstGeom>
          <a:solidFill>
            <a:schemeClr val="tx1"/>
          </a:solidFill>
        </p:spPr>
        <p:txBody>
          <a:bodyPr wrap="square">
            <a:spAutoFit/>
          </a:bodyPr>
          <a:lstStyle/>
          <a:p>
            <a:pPr marL="342900" indent="-342900">
              <a:buFont typeface="Arial" panose="020B0604020202020204" pitchFamily="34" charset="0"/>
              <a:buChar char="•"/>
            </a:pPr>
            <a:r>
              <a:rPr lang="zh-CN" altLang="en-US" dirty="0">
                <a:solidFill>
                  <a:schemeClr val="bg2"/>
                </a:solidFill>
              </a:rPr>
              <a:t>假设：好芯片的报告一定是正确的</a:t>
            </a:r>
            <a:r>
              <a:rPr lang="zh-CN" altLang="en-US" dirty="0" smtClean="0">
                <a:solidFill>
                  <a:schemeClr val="bg2"/>
                </a:solidFill>
              </a:rPr>
              <a:t>，坏</a:t>
            </a:r>
            <a:r>
              <a:rPr lang="zh-CN" altLang="en-US" dirty="0">
                <a:solidFill>
                  <a:schemeClr val="bg2"/>
                </a:solidFill>
              </a:rPr>
              <a:t>芯片的报告是不确定的（可能</a:t>
            </a:r>
            <a:r>
              <a:rPr lang="zh-CN" altLang="en-US" dirty="0" smtClean="0">
                <a:solidFill>
                  <a:schemeClr val="bg2"/>
                </a:solidFill>
              </a:rPr>
              <a:t>会出错</a:t>
            </a:r>
            <a:r>
              <a:rPr lang="zh-CN" altLang="en-US" dirty="0">
                <a:solidFill>
                  <a:schemeClr val="bg2"/>
                </a:solidFill>
              </a:rPr>
              <a:t>） </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4098"/>
                                        </p:tgtEl>
                                        <p:attrNameLst>
                                          <p:attrName>style.visibility</p:attrName>
                                        </p:attrNameLst>
                                      </p:cBhvr>
                                      <p:to>
                                        <p:strVal val="visible"/>
                                      </p:to>
                                    </p:set>
                                    <p:animEffect transition="in" filter="wipe(down)">
                                      <p:cBhvr>
                                        <p:cTn id="11" dur="500"/>
                                        <p:tgtEl>
                                          <p:spTgt spid="409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611560" y="1628800"/>
            <a:ext cx="8064896" cy="461665"/>
          </a:xfrm>
          <a:prstGeom prst="rect">
            <a:avLst/>
          </a:prstGeom>
          <a:noFill/>
        </p:spPr>
        <p:txBody>
          <a:bodyPr wrap="square" rtlCol="0">
            <a:spAutoFit/>
          </a:bodyPr>
          <a:lstStyle/>
          <a:p>
            <a:pPr marL="800100" lvl="1" indent="-342900" eaLnBrk="1" hangingPunct="1">
              <a:spcBef>
                <a:spcPts val="600"/>
              </a:spcBef>
              <a:buFont typeface="Arial" panose="020B0604020202020204" pitchFamily="34" charset="0"/>
              <a:buChar char="•"/>
            </a:pPr>
            <a:r>
              <a:rPr lang="zh-CN" altLang="en-US" b="1" dirty="0" smtClean="0">
                <a:solidFill>
                  <a:schemeClr val="bg2"/>
                </a:solidFill>
                <a:latin typeface="宋体" panose="02010600030101010101" pitchFamily="2" charset="-122"/>
              </a:rPr>
              <a:t>测试结果分析</a:t>
            </a:r>
            <a:endParaRPr lang="zh-CN" altLang="en-US" b="1" dirty="0">
              <a:solidFill>
                <a:schemeClr val="bg2"/>
              </a:solidFill>
              <a:latin typeface="宋体" panose="02010600030101010101" pitchFamily="2" charset="-122"/>
            </a:endParaRPr>
          </a:p>
        </p:txBody>
      </p:sp>
      <p:graphicFrame>
        <p:nvGraphicFramePr>
          <p:cNvPr id="7" name="Group 35"/>
          <p:cNvGraphicFramePr>
            <a:graphicFrameLocks noGrp="1"/>
          </p:cNvGraphicFramePr>
          <p:nvPr/>
        </p:nvGraphicFramePr>
        <p:xfrm>
          <a:off x="1042988" y="2492375"/>
          <a:ext cx="6624637" cy="2322513"/>
        </p:xfrm>
        <a:graphic>
          <a:graphicData uri="http://schemas.openxmlformats.org/drawingml/2006/table">
            <a:tbl>
              <a:tblPr/>
              <a:tblGrid>
                <a:gridCol w="1735137"/>
                <a:gridCol w="1893888"/>
                <a:gridCol w="2995612"/>
              </a:tblGrid>
              <a:tr h="4937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 </a:t>
                      </a:r>
                      <a:r>
                        <a:rPr kumimoji="0" lang="zh-CN" altLang="en-US" sz="24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报告</a:t>
                      </a:r>
                      <a:endParaRPr kumimoji="0" lang="zh-CN" altLang="en-US" sz="24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 </a:t>
                      </a:r>
                      <a:r>
                        <a:rPr kumimoji="0" lang="zh-CN" altLang="en-US" sz="24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报告</a:t>
                      </a:r>
                      <a:endParaRPr kumimoji="0" lang="zh-CN" altLang="en-US" sz="24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结论</a:t>
                      </a:r>
                      <a:endParaRPr kumimoji="0" lang="zh-CN" altLang="en-US" sz="24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83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是好的</a:t>
                      </a:r>
                      <a:endPar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是好的</a:t>
                      </a:r>
                      <a:endPar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是好的</a:t>
                      </a:r>
                      <a:endPar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是坏的</a:t>
                      </a:r>
                      <a:endPar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是坏的</a:t>
                      </a:r>
                      <a:endPar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是好的</a:t>
                      </a:r>
                      <a:endParaRPr kumimoji="0" lang="zh-CN" altLang="en-US" sz="2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是坏的</a:t>
                      </a:r>
                      <a:endPar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是坏的</a:t>
                      </a:r>
                      <a:endPar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dirty="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TextBox 3"/>
          <p:cNvSpPr txBox="1"/>
          <p:nvPr/>
        </p:nvSpPr>
        <p:spPr>
          <a:xfrm>
            <a:off x="4644008" y="2996952"/>
            <a:ext cx="2937022" cy="461665"/>
          </a:xfrm>
          <a:prstGeom prst="rect">
            <a:avLst/>
          </a:prstGeom>
          <a:noFill/>
        </p:spPr>
        <p:txBody>
          <a:bodyPr wrap="none" rtlCol="0">
            <a:spAutoFit/>
          </a:bodyPr>
          <a:lstStyle/>
          <a:p>
            <a:pPr lvl="0"/>
            <a:r>
              <a:rPr lang="en-US" altLang="zh-CN" b="1" i="1" dirty="0">
                <a:solidFill>
                  <a:schemeClr val="bg2"/>
                </a:solidFill>
                <a:cs typeface="Times New Roman" panose="02020603050405020304" pitchFamily="18" charset="0"/>
              </a:rPr>
              <a:t>A,B </a:t>
            </a:r>
            <a:r>
              <a:rPr lang="zh-CN" altLang="en-US" b="1" dirty="0">
                <a:solidFill>
                  <a:schemeClr val="bg2"/>
                </a:solidFill>
                <a:cs typeface="Times New Roman" panose="02020603050405020304" pitchFamily="18" charset="0"/>
              </a:rPr>
              <a:t>都好或 </a:t>
            </a:r>
            <a:r>
              <a:rPr lang="en-US" altLang="zh-CN" b="1" i="1" dirty="0">
                <a:solidFill>
                  <a:schemeClr val="bg2"/>
                </a:solidFill>
                <a:cs typeface="Times New Roman" panose="02020603050405020304" pitchFamily="18" charset="0"/>
              </a:rPr>
              <a:t>A,B </a:t>
            </a:r>
            <a:r>
              <a:rPr lang="zh-CN" altLang="en-US" b="1" dirty="0">
                <a:solidFill>
                  <a:schemeClr val="bg2"/>
                </a:solidFill>
                <a:cs typeface="Times New Roman" panose="02020603050405020304" pitchFamily="18" charset="0"/>
              </a:rPr>
              <a:t>都</a:t>
            </a:r>
            <a:r>
              <a:rPr lang="zh-CN" altLang="en-US" b="1" dirty="0" smtClean="0">
                <a:solidFill>
                  <a:schemeClr val="bg2"/>
                </a:solidFill>
                <a:cs typeface="Times New Roman" panose="02020603050405020304" pitchFamily="18" charset="0"/>
              </a:rPr>
              <a:t>坏</a:t>
            </a:r>
            <a:endParaRPr lang="zh-CN" altLang="en-US" b="1" dirty="0">
              <a:solidFill>
                <a:schemeClr val="bg2"/>
              </a:solidFill>
              <a:cs typeface="Times New Roman" panose="02020603050405020304" pitchFamily="18" charset="0"/>
            </a:endParaRPr>
          </a:p>
        </p:txBody>
      </p:sp>
      <p:sp>
        <p:nvSpPr>
          <p:cNvPr id="5" name="TextBox 4"/>
          <p:cNvSpPr txBox="1"/>
          <p:nvPr/>
        </p:nvSpPr>
        <p:spPr>
          <a:xfrm>
            <a:off x="4957981" y="3458617"/>
            <a:ext cx="2350323" cy="461665"/>
          </a:xfrm>
          <a:prstGeom prst="rect">
            <a:avLst/>
          </a:prstGeom>
          <a:noFill/>
        </p:spPr>
        <p:txBody>
          <a:bodyPr wrap="none" rtlCol="0">
            <a:spAutoFit/>
          </a:bodyPr>
          <a:lstStyle/>
          <a:p>
            <a:pPr lvl="0"/>
            <a:r>
              <a:rPr lang="zh-CN" altLang="en-US" b="1" dirty="0">
                <a:solidFill>
                  <a:schemeClr val="bg2"/>
                </a:solidFill>
                <a:cs typeface="Times New Roman" panose="02020603050405020304" pitchFamily="18" charset="0"/>
              </a:rPr>
              <a:t>至少一片是坏</a:t>
            </a:r>
            <a:r>
              <a:rPr lang="zh-CN" altLang="en-US" b="1" dirty="0" smtClean="0">
                <a:solidFill>
                  <a:schemeClr val="bg2"/>
                </a:solidFill>
                <a:cs typeface="Times New Roman" panose="02020603050405020304" pitchFamily="18" charset="0"/>
              </a:rPr>
              <a:t>的</a:t>
            </a:r>
            <a:endParaRPr lang="zh-CN" altLang="en-US" b="1" dirty="0">
              <a:solidFill>
                <a:schemeClr val="bg2"/>
              </a:solidFill>
              <a:cs typeface="Times New Roman" panose="02020603050405020304" pitchFamily="18" charset="0"/>
            </a:endParaRPr>
          </a:p>
        </p:txBody>
      </p:sp>
      <p:sp>
        <p:nvSpPr>
          <p:cNvPr id="8" name="TextBox 7"/>
          <p:cNvSpPr txBox="1"/>
          <p:nvPr/>
        </p:nvSpPr>
        <p:spPr>
          <a:xfrm>
            <a:off x="4932040" y="3903439"/>
            <a:ext cx="2350323" cy="461665"/>
          </a:xfrm>
          <a:prstGeom prst="rect">
            <a:avLst/>
          </a:prstGeom>
          <a:noFill/>
        </p:spPr>
        <p:txBody>
          <a:bodyPr wrap="none" rtlCol="0">
            <a:spAutoFit/>
          </a:bodyPr>
          <a:lstStyle/>
          <a:p>
            <a:pPr lvl="0"/>
            <a:r>
              <a:rPr lang="zh-CN" altLang="en-US" b="1" dirty="0">
                <a:solidFill>
                  <a:schemeClr val="bg2"/>
                </a:solidFill>
                <a:cs typeface="Times New Roman" panose="02020603050405020304" pitchFamily="18" charset="0"/>
              </a:rPr>
              <a:t>至少一片是坏</a:t>
            </a:r>
            <a:r>
              <a:rPr lang="zh-CN" altLang="en-US" b="1" dirty="0" smtClean="0">
                <a:solidFill>
                  <a:schemeClr val="bg2"/>
                </a:solidFill>
                <a:cs typeface="Times New Roman" panose="02020603050405020304" pitchFamily="18" charset="0"/>
              </a:rPr>
              <a:t>的</a:t>
            </a:r>
            <a:endParaRPr lang="zh-CN" altLang="en-US" b="1" dirty="0">
              <a:solidFill>
                <a:schemeClr val="bg2"/>
              </a:solidFill>
              <a:cs typeface="Times New Roman" panose="02020603050405020304" pitchFamily="18" charset="0"/>
            </a:endParaRPr>
          </a:p>
        </p:txBody>
      </p:sp>
      <p:sp>
        <p:nvSpPr>
          <p:cNvPr id="9" name="TextBox 8"/>
          <p:cNvSpPr txBox="1"/>
          <p:nvPr/>
        </p:nvSpPr>
        <p:spPr>
          <a:xfrm>
            <a:off x="4932040" y="4335487"/>
            <a:ext cx="2350323" cy="461665"/>
          </a:xfrm>
          <a:prstGeom prst="rect">
            <a:avLst/>
          </a:prstGeom>
          <a:noFill/>
        </p:spPr>
        <p:txBody>
          <a:bodyPr wrap="none" rtlCol="0">
            <a:spAutoFit/>
          </a:bodyPr>
          <a:lstStyle/>
          <a:p>
            <a:pPr lvl="0"/>
            <a:r>
              <a:rPr lang="zh-CN" altLang="en-US" b="1" dirty="0">
                <a:solidFill>
                  <a:schemeClr val="bg2"/>
                </a:solidFill>
                <a:cs typeface="Times New Roman" panose="02020603050405020304" pitchFamily="18" charset="0"/>
              </a:rPr>
              <a:t>至少一片是坏</a:t>
            </a:r>
            <a:r>
              <a:rPr lang="zh-CN" altLang="en-US" b="1" dirty="0" smtClean="0">
                <a:solidFill>
                  <a:schemeClr val="bg2"/>
                </a:solidFill>
                <a:cs typeface="Times New Roman" panose="02020603050405020304" pitchFamily="18" charset="0"/>
              </a:rPr>
              <a:t>的</a:t>
            </a:r>
            <a:endParaRPr lang="zh-CN" altLang="en-US" b="1" dirty="0">
              <a:solidFill>
                <a:schemeClr val="bg2"/>
              </a:solidFill>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611560" y="1628800"/>
            <a:ext cx="8064896" cy="461665"/>
          </a:xfrm>
          <a:prstGeom prst="rect">
            <a:avLst/>
          </a:prstGeom>
          <a:noFill/>
        </p:spPr>
        <p:txBody>
          <a:bodyPr wrap="square" rtlCol="0">
            <a:spAutoFit/>
          </a:bodyPr>
          <a:lstStyle/>
          <a:p>
            <a:pPr marL="800100" lvl="1" indent="-342900" eaLnBrk="1" hangingPunct="1">
              <a:spcBef>
                <a:spcPts val="600"/>
              </a:spcBef>
              <a:buFont typeface="Arial" panose="020B0604020202020204" pitchFamily="34" charset="0"/>
              <a:buChar char="•"/>
            </a:pPr>
            <a:r>
              <a:rPr lang="zh-CN" altLang="en-US" b="1" dirty="0" smtClean="0">
                <a:solidFill>
                  <a:schemeClr val="bg2"/>
                </a:solidFill>
                <a:latin typeface="宋体" panose="02010600030101010101" pitchFamily="2" charset="-122"/>
              </a:rPr>
              <a:t>问题描述</a:t>
            </a:r>
            <a:endParaRPr lang="zh-CN" altLang="en-US" b="1" dirty="0">
              <a:solidFill>
                <a:schemeClr val="bg2"/>
              </a:solidFill>
              <a:latin typeface="宋体" panose="02010600030101010101" pitchFamily="2" charset="-122"/>
            </a:endParaRPr>
          </a:p>
        </p:txBody>
      </p:sp>
      <p:sp>
        <p:nvSpPr>
          <p:cNvPr id="4" name="矩形 3"/>
          <p:cNvSpPr/>
          <p:nvPr/>
        </p:nvSpPr>
        <p:spPr>
          <a:xfrm>
            <a:off x="1331640" y="2204864"/>
            <a:ext cx="7056784" cy="3046988"/>
          </a:xfrm>
          <a:prstGeom prst="rect">
            <a:avLst/>
          </a:prstGeom>
        </p:spPr>
        <p:txBody>
          <a:bodyPr wrap="square">
            <a:spAutoFit/>
          </a:bodyPr>
          <a:lstStyle/>
          <a:p>
            <a:r>
              <a:rPr lang="zh-CN" altLang="en-US" dirty="0">
                <a:solidFill>
                  <a:schemeClr val="bg2"/>
                </a:solidFill>
              </a:rPr>
              <a:t>输入</a:t>
            </a:r>
            <a:r>
              <a:rPr lang="zh-CN" altLang="en-US" dirty="0" smtClean="0">
                <a:solidFill>
                  <a:schemeClr val="bg2"/>
                </a:solidFill>
              </a:rPr>
              <a:t>：</a:t>
            </a:r>
            <a:endParaRPr lang="en-US" altLang="zh-CN" dirty="0" smtClean="0">
              <a:solidFill>
                <a:schemeClr val="bg2"/>
              </a:solidFill>
            </a:endParaRPr>
          </a:p>
          <a:p>
            <a:r>
              <a:rPr lang="en-US" altLang="zh-CN" b="1" i="1" dirty="0" smtClean="0">
                <a:solidFill>
                  <a:schemeClr val="bg2"/>
                </a:solidFill>
              </a:rPr>
              <a:t>n </a:t>
            </a:r>
            <a:r>
              <a:rPr lang="zh-CN" altLang="en-US" dirty="0">
                <a:solidFill>
                  <a:schemeClr val="bg2"/>
                </a:solidFill>
              </a:rPr>
              <a:t>片芯片，其中</a:t>
            </a:r>
            <a:r>
              <a:rPr lang="zh-CN" altLang="en-US" dirty="0">
                <a:solidFill>
                  <a:srgbClr val="FF0000"/>
                </a:solidFill>
              </a:rPr>
              <a:t>好芯片至少比</a:t>
            </a:r>
            <a:r>
              <a:rPr lang="zh-CN" altLang="en-US" dirty="0" smtClean="0">
                <a:solidFill>
                  <a:srgbClr val="FF0000"/>
                </a:solidFill>
              </a:rPr>
              <a:t>坏芯片多 </a:t>
            </a:r>
            <a:r>
              <a:rPr lang="en-US" altLang="zh-CN" b="1" dirty="0" smtClean="0">
                <a:solidFill>
                  <a:srgbClr val="FF0000"/>
                </a:solidFill>
              </a:rPr>
              <a:t>1</a:t>
            </a:r>
            <a:r>
              <a:rPr lang="zh-CN" altLang="en-US" dirty="0" smtClean="0">
                <a:solidFill>
                  <a:srgbClr val="FF0000"/>
                </a:solidFill>
              </a:rPr>
              <a:t>片</a:t>
            </a:r>
            <a:r>
              <a:rPr lang="zh-CN" altLang="en-US" b="1" dirty="0" smtClean="0">
                <a:solidFill>
                  <a:schemeClr val="bg2"/>
                </a:solidFill>
              </a:rPr>
              <a:t>。</a:t>
            </a:r>
            <a:endParaRPr lang="en-US" altLang="zh-CN" b="1" dirty="0">
              <a:solidFill>
                <a:schemeClr val="bg2"/>
              </a:solidFill>
            </a:endParaRPr>
          </a:p>
          <a:p>
            <a:br>
              <a:rPr lang="en-US" altLang="zh-CN" b="1" dirty="0" smtClean="0">
                <a:solidFill>
                  <a:schemeClr val="bg2"/>
                </a:solidFill>
              </a:rPr>
            </a:br>
            <a:r>
              <a:rPr lang="zh-CN" altLang="en-US" dirty="0" smtClean="0">
                <a:solidFill>
                  <a:schemeClr val="bg2"/>
                </a:solidFill>
              </a:rPr>
              <a:t>问题：</a:t>
            </a:r>
            <a:br>
              <a:rPr lang="zh-CN" altLang="en-US" dirty="0" smtClean="0">
                <a:solidFill>
                  <a:schemeClr val="bg2"/>
                </a:solidFill>
              </a:rPr>
            </a:br>
            <a:r>
              <a:rPr lang="zh-CN" altLang="en-US" dirty="0" smtClean="0">
                <a:solidFill>
                  <a:schemeClr val="bg2"/>
                </a:solidFill>
              </a:rPr>
              <a:t>设计前面介绍的测试</a:t>
            </a:r>
            <a:r>
              <a:rPr lang="zh-CN" altLang="en-US" dirty="0" smtClean="0">
                <a:solidFill>
                  <a:schemeClr val="bg2"/>
                </a:solidFill>
              </a:rPr>
              <a:t>方法， </a:t>
            </a:r>
            <a:r>
              <a:rPr lang="zh-CN" altLang="en-US" dirty="0" smtClean="0">
                <a:solidFill>
                  <a:schemeClr val="bg2"/>
                </a:solidFill>
              </a:rPr>
              <a:t>从</a:t>
            </a:r>
            <a:r>
              <a:rPr lang="en-US" altLang="zh-CN" b="1" i="1" dirty="0" smtClean="0">
                <a:solidFill>
                  <a:schemeClr val="bg2"/>
                </a:solidFill>
              </a:rPr>
              <a:t>n </a:t>
            </a:r>
            <a:r>
              <a:rPr lang="zh-CN" altLang="en-US" dirty="0" smtClean="0">
                <a:solidFill>
                  <a:schemeClr val="bg2"/>
                </a:solidFill>
              </a:rPr>
              <a:t>片芯片中挑出 </a:t>
            </a:r>
            <a:r>
              <a:rPr lang="en-US" altLang="zh-CN" b="1" dirty="0" smtClean="0">
                <a:solidFill>
                  <a:schemeClr val="bg2"/>
                </a:solidFill>
              </a:rPr>
              <a:t>1 </a:t>
            </a:r>
            <a:r>
              <a:rPr lang="zh-CN" altLang="en-US" dirty="0" smtClean="0">
                <a:solidFill>
                  <a:schemeClr val="bg2"/>
                </a:solidFill>
              </a:rPr>
              <a:t>片好芯片</a:t>
            </a:r>
            <a:r>
              <a:rPr lang="zh-CN" altLang="en-US" b="1" dirty="0">
                <a:solidFill>
                  <a:schemeClr val="bg2"/>
                </a:solidFill>
              </a:rPr>
              <a:t>。</a:t>
            </a:r>
            <a:endParaRPr lang="en-US" altLang="zh-CN" b="1" dirty="0" smtClean="0">
              <a:solidFill>
                <a:schemeClr val="bg2"/>
              </a:solidFill>
            </a:endParaRPr>
          </a:p>
          <a:p>
            <a:br>
              <a:rPr lang="en-US" altLang="zh-CN" b="1" dirty="0" smtClean="0">
                <a:solidFill>
                  <a:schemeClr val="bg2"/>
                </a:solidFill>
              </a:rPr>
            </a:br>
            <a:r>
              <a:rPr lang="zh-CN" altLang="en-US" dirty="0" smtClean="0">
                <a:solidFill>
                  <a:schemeClr val="bg2"/>
                </a:solidFill>
              </a:rPr>
              <a:t>要求： 使用最少的测试</a:t>
            </a:r>
            <a:r>
              <a:rPr lang="zh-CN" altLang="en-US" dirty="0" smtClean="0">
                <a:solidFill>
                  <a:schemeClr val="bg2"/>
                </a:solidFill>
              </a:rPr>
              <a:t>次数</a:t>
            </a:r>
            <a:r>
              <a:rPr lang="en-US" altLang="zh-CN" dirty="0" smtClean="0">
                <a:solidFill>
                  <a:schemeClr val="bg2"/>
                </a:solidFill>
              </a:rPr>
              <a:t>——</a:t>
            </a:r>
            <a:r>
              <a:rPr lang="zh-CN" altLang="en-US" dirty="0" smtClean="0">
                <a:solidFill>
                  <a:schemeClr val="bg2"/>
                </a:solidFill>
              </a:rPr>
              <a:t>效率。</a:t>
            </a:r>
            <a:endParaRPr lang="zh-CN" altLang="en-US" dirty="0">
              <a:solidFill>
                <a:schemeClr val="bg2"/>
              </a:solidFill>
            </a:endParaRPr>
          </a:p>
        </p:txBody>
      </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611560" y="1628800"/>
            <a:ext cx="8064896" cy="461665"/>
          </a:xfrm>
          <a:prstGeom prst="rect">
            <a:avLst/>
          </a:prstGeom>
          <a:noFill/>
        </p:spPr>
        <p:txBody>
          <a:bodyPr wrap="square" rtlCol="0">
            <a:spAutoFit/>
          </a:bodyPr>
          <a:lstStyle/>
          <a:p>
            <a:pPr marL="800100" lvl="1" indent="-342900" eaLnBrk="1" hangingPunct="1">
              <a:spcBef>
                <a:spcPts val="600"/>
              </a:spcBef>
              <a:buFont typeface="Arial" panose="020B0604020202020204" pitchFamily="34" charset="0"/>
              <a:buChar char="•"/>
            </a:pPr>
            <a:r>
              <a:rPr lang="zh-CN" altLang="en-US" dirty="0">
                <a:solidFill>
                  <a:schemeClr val="bg2"/>
                </a:solidFill>
              </a:rPr>
              <a:t>判定芯片</a:t>
            </a:r>
            <a:r>
              <a:rPr lang="en-US" altLang="zh-CN" b="1" i="1" dirty="0">
                <a:solidFill>
                  <a:schemeClr val="bg2"/>
                </a:solidFill>
              </a:rPr>
              <a:t>A </a:t>
            </a:r>
            <a:r>
              <a:rPr lang="zh-CN" altLang="en-US" dirty="0">
                <a:solidFill>
                  <a:schemeClr val="bg2"/>
                </a:solidFill>
              </a:rPr>
              <a:t>的</a:t>
            </a:r>
            <a:r>
              <a:rPr lang="zh-CN" altLang="en-US" dirty="0" smtClean="0">
                <a:solidFill>
                  <a:schemeClr val="bg2"/>
                </a:solidFill>
              </a:rPr>
              <a:t>好坏</a:t>
            </a:r>
            <a:endParaRPr lang="zh-CN" altLang="en-US" b="1" dirty="0">
              <a:solidFill>
                <a:schemeClr val="bg2"/>
              </a:solidFill>
              <a:latin typeface="宋体" panose="02010600030101010101" pitchFamily="2" charset="-122"/>
            </a:endParaRPr>
          </a:p>
        </p:txBody>
      </p:sp>
      <p:sp>
        <p:nvSpPr>
          <p:cNvPr id="5" name="矩形 4"/>
          <p:cNvSpPr/>
          <p:nvPr/>
        </p:nvSpPr>
        <p:spPr>
          <a:xfrm>
            <a:off x="1691680" y="2098313"/>
            <a:ext cx="6462464" cy="907941"/>
          </a:xfrm>
          <a:prstGeom prst="rect">
            <a:avLst/>
          </a:prstGeom>
        </p:spPr>
        <p:txBody>
          <a:bodyPr wrap="square">
            <a:spAutoFit/>
          </a:bodyPr>
          <a:lstStyle/>
          <a:p>
            <a:pPr>
              <a:spcBef>
                <a:spcPts val="600"/>
              </a:spcBef>
            </a:pPr>
            <a:r>
              <a:rPr lang="zh-CN" altLang="en-US" dirty="0">
                <a:solidFill>
                  <a:srgbClr val="FF0000"/>
                </a:solidFill>
              </a:rPr>
              <a:t>问题</a:t>
            </a:r>
            <a:r>
              <a:rPr lang="zh-CN" altLang="en-US" dirty="0">
                <a:solidFill>
                  <a:schemeClr val="bg2"/>
                </a:solidFill>
              </a:rPr>
              <a:t>：给定芯片</a:t>
            </a:r>
            <a:r>
              <a:rPr lang="en-US" altLang="zh-CN" b="1" i="1" dirty="0">
                <a:solidFill>
                  <a:schemeClr val="bg2"/>
                </a:solidFill>
              </a:rPr>
              <a:t>A</a:t>
            </a:r>
            <a:r>
              <a:rPr lang="zh-CN" altLang="en-US" dirty="0">
                <a:solidFill>
                  <a:schemeClr val="bg2"/>
                </a:solidFill>
              </a:rPr>
              <a:t>，判定</a:t>
            </a:r>
            <a:r>
              <a:rPr lang="en-US" altLang="zh-CN" b="1" i="1" dirty="0">
                <a:solidFill>
                  <a:schemeClr val="bg2"/>
                </a:solidFill>
              </a:rPr>
              <a:t>A</a:t>
            </a:r>
            <a:r>
              <a:rPr lang="zh-CN" altLang="en-US" dirty="0">
                <a:solidFill>
                  <a:schemeClr val="bg2"/>
                </a:solidFill>
              </a:rPr>
              <a:t>的</a:t>
            </a:r>
            <a:r>
              <a:rPr lang="zh-CN" altLang="en-US" dirty="0" smtClean="0">
                <a:solidFill>
                  <a:schemeClr val="bg2"/>
                </a:solidFill>
              </a:rPr>
              <a:t>好坏</a:t>
            </a:r>
            <a:endParaRPr lang="en-US" altLang="zh-CN" dirty="0" smtClean="0">
              <a:solidFill>
                <a:schemeClr val="bg2"/>
              </a:solidFill>
            </a:endParaRPr>
          </a:p>
          <a:p>
            <a:pPr>
              <a:spcBef>
                <a:spcPts val="600"/>
              </a:spcBef>
            </a:pPr>
            <a:r>
              <a:rPr lang="zh-CN" altLang="en-US" dirty="0" smtClean="0">
                <a:solidFill>
                  <a:srgbClr val="FF0000"/>
                </a:solidFill>
              </a:rPr>
              <a:t>方法</a:t>
            </a:r>
            <a:r>
              <a:rPr lang="zh-CN" altLang="en-US" dirty="0">
                <a:solidFill>
                  <a:schemeClr val="bg2"/>
                </a:solidFill>
              </a:rPr>
              <a:t>：用其他 </a:t>
            </a:r>
            <a:r>
              <a:rPr lang="en-US" altLang="zh-CN" b="1" i="1" dirty="0">
                <a:solidFill>
                  <a:schemeClr val="bg2"/>
                </a:solidFill>
              </a:rPr>
              <a:t>n</a:t>
            </a:r>
            <a:r>
              <a:rPr lang="en-US" altLang="zh-CN" b="1" dirty="0">
                <a:solidFill>
                  <a:schemeClr val="bg2"/>
                </a:solidFill>
              </a:rPr>
              <a:t>-1</a:t>
            </a:r>
            <a:r>
              <a:rPr lang="zh-CN" altLang="en-US" dirty="0">
                <a:solidFill>
                  <a:schemeClr val="bg2"/>
                </a:solidFill>
              </a:rPr>
              <a:t>片芯片对 </a:t>
            </a:r>
            <a:r>
              <a:rPr lang="en-US" altLang="zh-CN" b="1" i="1" dirty="0">
                <a:solidFill>
                  <a:schemeClr val="bg2"/>
                </a:solidFill>
              </a:rPr>
              <a:t>A </a:t>
            </a:r>
            <a:r>
              <a:rPr lang="zh-CN" altLang="en-US" dirty="0">
                <a:solidFill>
                  <a:schemeClr val="bg2"/>
                </a:solidFill>
              </a:rPr>
              <a:t>测试 </a:t>
            </a:r>
            <a:r>
              <a:rPr lang="en-US" altLang="zh-CN" b="1" dirty="0">
                <a:solidFill>
                  <a:schemeClr val="bg2"/>
                </a:solidFill>
              </a:rPr>
              <a:t>.</a:t>
            </a:r>
            <a:r>
              <a:rPr lang="zh-CN" altLang="en-US" dirty="0">
                <a:solidFill>
                  <a:schemeClr val="bg2"/>
                </a:solidFill>
              </a:rPr>
              <a:t> </a:t>
            </a:r>
            <a:endParaRPr lang="zh-CN" altLang="en-US" dirty="0">
              <a:solidFill>
                <a:schemeClr val="bg2"/>
              </a:solidFill>
            </a:endParaRPr>
          </a:p>
        </p:txBody>
      </p:sp>
      <p:sp>
        <p:nvSpPr>
          <p:cNvPr id="6" name="矩形 5"/>
          <p:cNvSpPr/>
          <p:nvPr/>
        </p:nvSpPr>
        <p:spPr>
          <a:xfrm>
            <a:off x="1675802" y="3048401"/>
            <a:ext cx="5920533" cy="1532727"/>
          </a:xfrm>
          <a:prstGeom prst="rect">
            <a:avLst/>
          </a:prstGeom>
        </p:spPr>
        <p:txBody>
          <a:bodyPr wrap="square">
            <a:spAutoFit/>
          </a:bodyPr>
          <a:lstStyle/>
          <a:p>
            <a:pPr>
              <a:lnSpc>
                <a:spcPct val="130000"/>
              </a:lnSpc>
            </a:pPr>
            <a:r>
              <a:rPr lang="en-US" altLang="zh-CN" b="1" i="1" dirty="0">
                <a:solidFill>
                  <a:schemeClr val="bg2"/>
                </a:solidFill>
              </a:rPr>
              <a:t>n=</a:t>
            </a:r>
            <a:r>
              <a:rPr lang="en-US" altLang="zh-CN" b="1" dirty="0">
                <a:solidFill>
                  <a:schemeClr val="bg2"/>
                </a:solidFill>
              </a:rPr>
              <a:t>7</a:t>
            </a:r>
            <a:r>
              <a:rPr lang="zh-CN" altLang="en-US" dirty="0">
                <a:solidFill>
                  <a:schemeClr val="bg2"/>
                </a:solidFill>
              </a:rPr>
              <a:t>：好芯片数 </a:t>
            </a:r>
            <a:r>
              <a:rPr lang="zh-CN" altLang="en-US" dirty="0">
                <a:solidFill>
                  <a:schemeClr val="bg2"/>
                </a:solidFill>
                <a:latin typeface="微软雅黑" panose="020B0503020204020204" charset="-122"/>
                <a:ea typeface="微软雅黑" panose="020B0503020204020204" charset="-122"/>
              </a:rPr>
              <a:t>≥</a:t>
            </a:r>
            <a:r>
              <a:rPr lang="en-US" altLang="zh-CN" b="1" dirty="0" smtClean="0">
                <a:solidFill>
                  <a:schemeClr val="bg2"/>
                </a:solidFill>
              </a:rPr>
              <a:t>4</a:t>
            </a:r>
            <a:r>
              <a:rPr lang="zh-CN" altLang="en-US" b="1" dirty="0">
                <a:solidFill>
                  <a:schemeClr val="bg2"/>
                </a:solidFill>
              </a:rPr>
              <a:t>。</a:t>
            </a:r>
            <a:br>
              <a:rPr lang="en-US" altLang="zh-CN" b="1" dirty="0">
                <a:solidFill>
                  <a:schemeClr val="bg2"/>
                </a:solidFill>
              </a:rPr>
            </a:br>
            <a:r>
              <a:rPr lang="en-US" altLang="zh-CN" b="1" i="1" dirty="0">
                <a:solidFill>
                  <a:schemeClr val="bg2"/>
                </a:solidFill>
              </a:rPr>
              <a:t>A </a:t>
            </a:r>
            <a:r>
              <a:rPr lang="zh-CN" altLang="en-US" dirty="0" smtClean="0">
                <a:solidFill>
                  <a:schemeClr val="bg2"/>
                </a:solidFill>
              </a:rPr>
              <a:t>好，</a:t>
            </a:r>
            <a:r>
              <a:rPr lang="en-US" altLang="zh-CN" b="1" dirty="0" smtClean="0">
                <a:solidFill>
                  <a:schemeClr val="bg2"/>
                </a:solidFill>
              </a:rPr>
              <a:t> </a:t>
            </a:r>
            <a:r>
              <a:rPr lang="en-US" altLang="zh-CN" b="1" dirty="0">
                <a:solidFill>
                  <a:schemeClr val="bg2"/>
                </a:solidFill>
              </a:rPr>
              <a:t>6</a:t>
            </a:r>
            <a:r>
              <a:rPr lang="zh-CN" altLang="en-US" dirty="0">
                <a:solidFill>
                  <a:schemeClr val="bg2"/>
                </a:solidFill>
              </a:rPr>
              <a:t>个报告中至少 </a:t>
            </a:r>
            <a:r>
              <a:rPr lang="en-US" altLang="zh-CN" b="1" dirty="0">
                <a:solidFill>
                  <a:schemeClr val="bg2"/>
                </a:solidFill>
              </a:rPr>
              <a:t>3 </a:t>
            </a:r>
            <a:r>
              <a:rPr lang="zh-CN" altLang="en-US" dirty="0">
                <a:solidFill>
                  <a:schemeClr val="bg2"/>
                </a:solidFill>
              </a:rPr>
              <a:t>个报“好”</a:t>
            </a:r>
            <a:br>
              <a:rPr lang="zh-CN" altLang="en-US" dirty="0">
                <a:solidFill>
                  <a:schemeClr val="bg2"/>
                </a:solidFill>
              </a:rPr>
            </a:br>
            <a:r>
              <a:rPr lang="en-US" altLang="zh-CN" b="1" i="1" dirty="0">
                <a:solidFill>
                  <a:schemeClr val="bg2"/>
                </a:solidFill>
              </a:rPr>
              <a:t>A </a:t>
            </a:r>
            <a:r>
              <a:rPr lang="zh-CN" altLang="en-US" dirty="0" smtClean="0">
                <a:solidFill>
                  <a:schemeClr val="bg2"/>
                </a:solidFill>
              </a:rPr>
              <a:t>坏，</a:t>
            </a:r>
            <a:r>
              <a:rPr lang="en-US" altLang="zh-CN" b="1" dirty="0" smtClean="0">
                <a:solidFill>
                  <a:schemeClr val="bg2"/>
                </a:solidFill>
              </a:rPr>
              <a:t> </a:t>
            </a:r>
            <a:r>
              <a:rPr lang="en-US" altLang="zh-CN" b="1" dirty="0">
                <a:solidFill>
                  <a:schemeClr val="bg2"/>
                </a:solidFill>
              </a:rPr>
              <a:t>6</a:t>
            </a:r>
            <a:r>
              <a:rPr lang="zh-CN" altLang="en-US" dirty="0">
                <a:solidFill>
                  <a:schemeClr val="bg2"/>
                </a:solidFill>
              </a:rPr>
              <a:t>个报告中至少 </a:t>
            </a:r>
            <a:r>
              <a:rPr lang="en-US" altLang="zh-CN" b="1" dirty="0">
                <a:solidFill>
                  <a:schemeClr val="bg2"/>
                </a:solidFill>
              </a:rPr>
              <a:t>4 </a:t>
            </a:r>
            <a:r>
              <a:rPr lang="zh-CN" altLang="en-US" dirty="0">
                <a:solidFill>
                  <a:schemeClr val="bg2"/>
                </a:solidFill>
              </a:rPr>
              <a:t>个报“坏” </a:t>
            </a:r>
            <a:endParaRPr lang="zh-CN" altLang="en-US" dirty="0">
              <a:solidFill>
                <a:schemeClr val="bg2"/>
              </a:solidFill>
            </a:endParaRPr>
          </a:p>
        </p:txBody>
      </p:sp>
      <p:sp>
        <p:nvSpPr>
          <p:cNvPr id="7" name="矩形 6"/>
          <p:cNvSpPr/>
          <p:nvPr/>
        </p:nvSpPr>
        <p:spPr>
          <a:xfrm>
            <a:off x="1691680" y="4597629"/>
            <a:ext cx="6696744" cy="1532727"/>
          </a:xfrm>
          <a:prstGeom prst="rect">
            <a:avLst/>
          </a:prstGeom>
        </p:spPr>
        <p:txBody>
          <a:bodyPr wrap="square">
            <a:spAutoFit/>
          </a:bodyPr>
          <a:lstStyle/>
          <a:p>
            <a:pPr>
              <a:lnSpc>
                <a:spcPct val="130000"/>
              </a:lnSpc>
            </a:pPr>
            <a:r>
              <a:rPr lang="en-US" altLang="zh-CN" b="1" i="1" dirty="0">
                <a:solidFill>
                  <a:schemeClr val="bg2"/>
                </a:solidFill>
              </a:rPr>
              <a:t>n</a:t>
            </a:r>
            <a:r>
              <a:rPr lang="zh-CN" altLang="en-US" dirty="0">
                <a:solidFill>
                  <a:schemeClr val="bg2"/>
                </a:solidFill>
              </a:rPr>
              <a:t>是奇数：好芯片数 </a:t>
            </a:r>
            <a:r>
              <a:rPr lang="zh-CN" altLang="en-US" dirty="0">
                <a:solidFill>
                  <a:schemeClr val="bg2"/>
                </a:solidFill>
                <a:latin typeface="微软雅黑" panose="020B0503020204020204" charset="-122"/>
                <a:ea typeface="微软雅黑" panose="020B0503020204020204" charset="-122"/>
              </a:rPr>
              <a:t>≥</a:t>
            </a:r>
            <a:r>
              <a:rPr lang="zh-CN" altLang="en-US" dirty="0" smtClean="0">
                <a:solidFill>
                  <a:schemeClr val="bg2"/>
                </a:solidFill>
              </a:rPr>
              <a:t>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+1)/2.</a:t>
            </a:r>
            <a:br>
              <a:rPr lang="en-US" altLang="zh-CN" b="1" dirty="0">
                <a:solidFill>
                  <a:schemeClr val="bg2"/>
                </a:solidFill>
              </a:rPr>
            </a:br>
            <a:r>
              <a:rPr lang="en-US" altLang="zh-CN" b="1" i="1" dirty="0">
                <a:solidFill>
                  <a:schemeClr val="bg2"/>
                </a:solidFill>
              </a:rPr>
              <a:t>A </a:t>
            </a:r>
            <a:r>
              <a:rPr lang="zh-CN" altLang="en-US" dirty="0">
                <a:solidFill>
                  <a:schemeClr val="bg2"/>
                </a:solidFill>
              </a:rPr>
              <a:t>好</a:t>
            </a:r>
            <a:r>
              <a:rPr lang="en-US" altLang="zh-CN" b="1" dirty="0">
                <a:solidFill>
                  <a:schemeClr val="bg2"/>
                </a:solidFill>
              </a:rPr>
              <a:t>, </a:t>
            </a:r>
            <a:r>
              <a:rPr lang="zh-CN" altLang="en-US" dirty="0">
                <a:solidFill>
                  <a:schemeClr val="bg2"/>
                </a:solidFill>
              </a:rPr>
              <a:t>至少有 </a:t>
            </a:r>
            <a:r>
              <a:rPr lang="en-US" altLang="zh-CN" b="1" dirty="0">
                <a:solidFill>
                  <a:schemeClr val="bg2"/>
                </a:solidFill>
              </a:rPr>
              <a:t>(</a:t>
            </a:r>
            <a:r>
              <a:rPr lang="en-US" altLang="zh-CN" b="1" i="1" dirty="0" smtClean="0">
                <a:solidFill>
                  <a:schemeClr val="bg2"/>
                </a:solidFill>
              </a:rPr>
              <a:t>n-</a:t>
            </a:r>
            <a:r>
              <a:rPr lang="en-US" altLang="zh-CN" b="1" dirty="0" smtClean="0">
                <a:solidFill>
                  <a:schemeClr val="bg2"/>
                </a:solidFill>
              </a:rPr>
              <a:t>1</a:t>
            </a:r>
            <a:r>
              <a:rPr lang="en-US" altLang="zh-CN" b="1" dirty="0">
                <a:solidFill>
                  <a:schemeClr val="bg2"/>
                </a:solidFill>
              </a:rPr>
              <a:t>)/2</a:t>
            </a:r>
            <a:r>
              <a:rPr lang="zh-CN" altLang="en-US" dirty="0">
                <a:solidFill>
                  <a:schemeClr val="bg2"/>
                </a:solidFill>
              </a:rPr>
              <a:t>个报“好”</a:t>
            </a:r>
            <a:br>
              <a:rPr lang="zh-CN" altLang="en-US" dirty="0">
                <a:solidFill>
                  <a:schemeClr val="bg2"/>
                </a:solidFill>
              </a:rPr>
            </a:br>
            <a:r>
              <a:rPr lang="en-US" altLang="zh-CN" b="1" i="1" dirty="0">
                <a:solidFill>
                  <a:schemeClr val="bg2"/>
                </a:solidFill>
              </a:rPr>
              <a:t>A </a:t>
            </a:r>
            <a:r>
              <a:rPr lang="zh-CN" altLang="en-US" dirty="0">
                <a:solidFill>
                  <a:schemeClr val="bg2"/>
                </a:solidFill>
              </a:rPr>
              <a:t>坏</a:t>
            </a:r>
            <a:r>
              <a:rPr lang="en-US" altLang="zh-CN" b="1" dirty="0">
                <a:solidFill>
                  <a:schemeClr val="bg2"/>
                </a:solidFill>
              </a:rPr>
              <a:t>, </a:t>
            </a:r>
            <a:r>
              <a:rPr lang="zh-CN" altLang="en-US" dirty="0">
                <a:solidFill>
                  <a:schemeClr val="bg2"/>
                </a:solidFill>
              </a:rPr>
              <a:t>至少有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+1)/2</a:t>
            </a:r>
            <a:r>
              <a:rPr lang="zh-CN" altLang="en-US" dirty="0">
                <a:solidFill>
                  <a:schemeClr val="bg2"/>
                </a:solidFill>
              </a:rPr>
              <a:t>个报告“坏” </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4" name="文本框 3"/>
          <p:cNvSpPr txBox="1"/>
          <p:nvPr/>
        </p:nvSpPr>
        <p:spPr>
          <a:xfrm>
            <a:off x="953968" y="1636395"/>
            <a:ext cx="5562248" cy="1198880"/>
          </a:xfrm>
          <a:prstGeom prst="rect">
            <a:avLst/>
          </a:prstGeom>
          <a:noFill/>
        </p:spPr>
        <p:txBody>
          <a:bodyPr wrap="square" rtlCol="0" anchor="t">
            <a:spAutoFit/>
          </a:bodyPr>
          <a:lstStyle/>
          <a:p>
            <a:r>
              <a:rPr lang="zh-CN" altLang="en-US" b="1" i="1" dirty="0">
                <a:solidFill>
                  <a:schemeClr val="bg2"/>
                </a:solidFill>
              </a:rPr>
              <a:t>n</a:t>
            </a:r>
            <a:r>
              <a:rPr lang="zh-CN" altLang="en-US" dirty="0">
                <a:solidFill>
                  <a:schemeClr val="bg2"/>
                </a:solidFill>
              </a:rPr>
              <a:t>=8 ：好芯片数</a:t>
            </a:r>
            <a:r>
              <a:rPr lang="zh-CN" altLang="en-US" dirty="0">
                <a:solidFill>
                  <a:schemeClr val="bg2"/>
                </a:solidFill>
                <a:latin typeface="微软雅黑" panose="020B0503020204020204" charset="-122"/>
                <a:ea typeface="微软雅黑" panose="020B0503020204020204" charset="-122"/>
                <a:sym typeface="+mn-ea"/>
              </a:rPr>
              <a:t>≥</a:t>
            </a:r>
            <a:r>
              <a:rPr lang="zh-CN" altLang="en-US" dirty="0">
                <a:solidFill>
                  <a:schemeClr val="bg2"/>
                </a:solidFill>
              </a:rPr>
              <a:t> 5.</a:t>
            </a:r>
            <a:endParaRPr lang="zh-CN" altLang="en-US" dirty="0">
              <a:solidFill>
                <a:schemeClr val="bg2"/>
              </a:solidFill>
            </a:endParaRPr>
          </a:p>
          <a:p>
            <a:r>
              <a:rPr lang="zh-CN" altLang="en-US" b="1" i="1" dirty="0">
                <a:solidFill>
                  <a:schemeClr val="bg2"/>
                </a:solidFill>
              </a:rPr>
              <a:t>A </a:t>
            </a:r>
            <a:r>
              <a:rPr lang="zh-CN" altLang="en-US" dirty="0">
                <a:solidFill>
                  <a:schemeClr val="bg2"/>
                </a:solidFill>
              </a:rPr>
              <a:t> </a:t>
            </a:r>
            <a:r>
              <a:rPr lang="zh-CN" altLang="en-US" dirty="0" smtClean="0">
                <a:solidFill>
                  <a:schemeClr val="bg2"/>
                </a:solidFill>
              </a:rPr>
              <a:t>好，7 </a:t>
            </a:r>
            <a:r>
              <a:rPr lang="zh-CN" altLang="en-US" dirty="0">
                <a:solidFill>
                  <a:schemeClr val="bg2"/>
                </a:solidFill>
              </a:rPr>
              <a:t>个报告中至少 4 个报“好”</a:t>
            </a:r>
            <a:endParaRPr lang="zh-CN" altLang="en-US" dirty="0">
              <a:solidFill>
                <a:schemeClr val="bg2"/>
              </a:solidFill>
            </a:endParaRPr>
          </a:p>
          <a:p>
            <a:r>
              <a:rPr lang="zh-CN" altLang="en-US" b="1" i="1" dirty="0">
                <a:solidFill>
                  <a:schemeClr val="bg2"/>
                </a:solidFill>
              </a:rPr>
              <a:t>A</a:t>
            </a:r>
            <a:r>
              <a:rPr lang="zh-CN" altLang="en-US" dirty="0">
                <a:solidFill>
                  <a:schemeClr val="bg2"/>
                </a:solidFill>
              </a:rPr>
              <a:t>  </a:t>
            </a:r>
            <a:r>
              <a:rPr lang="zh-CN" altLang="en-US" dirty="0" smtClean="0">
                <a:solidFill>
                  <a:schemeClr val="bg2"/>
                </a:solidFill>
              </a:rPr>
              <a:t>坏，7 </a:t>
            </a:r>
            <a:r>
              <a:rPr lang="zh-CN" altLang="en-US" dirty="0">
                <a:solidFill>
                  <a:schemeClr val="bg2"/>
                </a:solidFill>
              </a:rPr>
              <a:t>个报告中至少 5 个报“坏”</a:t>
            </a:r>
            <a:endParaRPr lang="zh-CN" altLang="en-US" dirty="0">
              <a:solidFill>
                <a:schemeClr val="bg2"/>
              </a:solidFill>
            </a:endParaRPr>
          </a:p>
        </p:txBody>
      </p:sp>
      <p:sp>
        <p:nvSpPr>
          <p:cNvPr id="8" name="文本框 7"/>
          <p:cNvSpPr txBox="1"/>
          <p:nvPr/>
        </p:nvSpPr>
        <p:spPr>
          <a:xfrm>
            <a:off x="992068" y="2987040"/>
            <a:ext cx="5092100" cy="1198880"/>
          </a:xfrm>
          <a:prstGeom prst="rect">
            <a:avLst/>
          </a:prstGeom>
          <a:noFill/>
        </p:spPr>
        <p:txBody>
          <a:bodyPr wrap="square" rtlCol="0" anchor="t">
            <a:spAutoFit/>
          </a:bodyPr>
          <a:lstStyle/>
          <a:p>
            <a:r>
              <a:rPr lang="zh-CN" altLang="en-US" b="1" i="1" dirty="0">
                <a:solidFill>
                  <a:schemeClr val="bg2"/>
                </a:solidFill>
              </a:rPr>
              <a:t>n</a:t>
            </a:r>
            <a:r>
              <a:rPr lang="zh-CN" altLang="en-US" dirty="0">
                <a:solidFill>
                  <a:schemeClr val="bg2"/>
                </a:solidFill>
              </a:rPr>
              <a:t> 是偶数 ：好芯片数 </a:t>
            </a:r>
            <a:r>
              <a:rPr lang="zh-CN" altLang="en-US" dirty="0">
                <a:solidFill>
                  <a:schemeClr val="bg2"/>
                </a:solidFill>
                <a:latin typeface="微软雅黑" panose="020B0503020204020204" charset="-122"/>
                <a:ea typeface="微软雅黑" panose="020B0503020204020204" charset="-122"/>
                <a:sym typeface="+mn-ea"/>
              </a:rPr>
              <a:t>≥</a:t>
            </a:r>
            <a:r>
              <a:rPr lang="zh-CN" altLang="en-US" dirty="0">
                <a:solidFill>
                  <a:schemeClr val="bg2"/>
                </a:solidFill>
              </a:rPr>
              <a:t> </a:t>
            </a:r>
            <a:r>
              <a:rPr lang="zh-CN" altLang="en-US" b="1" i="1" dirty="0">
                <a:solidFill>
                  <a:schemeClr val="bg2"/>
                </a:solidFill>
              </a:rPr>
              <a:t>n</a:t>
            </a:r>
            <a:r>
              <a:rPr lang="zh-CN" altLang="en-US" dirty="0">
                <a:solidFill>
                  <a:schemeClr val="bg2"/>
                </a:solidFill>
              </a:rPr>
              <a:t>/2+1.</a:t>
            </a:r>
            <a:endParaRPr lang="zh-CN" altLang="en-US" dirty="0">
              <a:solidFill>
                <a:schemeClr val="bg2"/>
              </a:solidFill>
            </a:endParaRPr>
          </a:p>
          <a:p>
            <a:r>
              <a:rPr lang="zh-CN" altLang="en-US" b="1" i="1" dirty="0">
                <a:solidFill>
                  <a:schemeClr val="bg2"/>
                </a:solidFill>
              </a:rPr>
              <a:t>A</a:t>
            </a:r>
            <a:r>
              <a:rPr lang="zh-CN" altLang="en-US" dirty="0">
                <a:solidFill>
                  <a:schemeClr val="bg2"/>
                </a:solidFill>
              </a:rPr>
              <a:t>  </a:t>
            </a:r>
            <a:r>
              <a:rPr lang="zh-CN" altLang="en-US" dirty="0" smtClean="0">
                <a:solidFill>
                  <a:schemeClr val="bg2"/>
                </a:solidFill>
              </a:rPr>
              <a:t>好， </a:t>
            </a:r>
            <a:r>
              <a:rPr lang="zh-CN" altLang="en-US" dirty="0">
                <a:solidFill>
                  <a:schemeClr val="bg2"/>
                </a:solidFill>
              </a:rPr>
              <a:t>至少有 </a:t>
            </a:r>
            <a:r>
              <a:rPr lang="zh-CN" altLang="en-US" b="1" i="1" dirty="0">
                <a:solidFill>
                  <a:schemeClr val="bg2"/>
                </a:solidFill>
              </a:rPr>
              <a:t>n</a:t>
            </a:r>
            <a:r>
              <a:rPr lang="zh-CN" altLang="en-US" dirty="0">
                <a:solidFill>
                  <a:schemeClr val="bg2"/>
                </a:solidFill>
              </a:rPr>
              <a:t>/</a:t>
            </a:r>
            <a:r>
              <a:rPr lang="zh-CN" altLang="en-US" dirty="0" smtClean="0">
                <a:solidFill>
                  <a:schemeClr val="bg2"/>
                </a:solidFill>
              </a:rPr>
              <a:t>2个</a:t>
            </a:r>
            <a:r>
              <a:rPr lang="zh-CN" altLang="en-US" dirty="0">
                <a:solidFill>
                  <a:schemeClr val="bg2"/>
                </a:solidFill>
              </a:rPr>
              <a:t>报告“好”</a:t>
            </a:r>
            <a:endParaRPr lang="zh-CN" altLang="en-US" dirty="0">
              <a:solidFill>
                <a:schemeClr val="bg2"/>
              </a:solidFill>
            </a:endParaRPr>
          </a:p>
          <a:p>
            <a:r>
              <a:rPr lang="zh-CN" altLang="en-US" b="1" i="1" dirty="0">
                <a:solidFill>
                  <a:schemeClr val="bg2"/>
                </a:solidFill>
              </a:rPr>
              <a:t>A  </a:t>
            </a:r>
            <a:r>
              <a:rPr lang="zh-CN" altLang="en-US" dirty="0" smtClean="0">
                <a:solidFill>
                  <a:schemeClr val="bg2"/>
                </a:solidFill>
              </a:rPr>
              <a:t>坏， </a:t>
            </a:r>
            <a:r>
              <a:rPr lang="zh-CN" altLang="en-US" dirty="0">
                <a:solidFill>
                  <a:schemeClr val="bg2"/>
                </a:solidFill>
              </a:rPr>
              <a:t>至少有 </a:t>
            </a:r>
            <a:r>
              <a:rPr lang="zh-CN" altLang="en-US" b="1" i="1" dirty="0">
                <a:solidFill>
                  <a:schemeClr val="bg2"/>
                </a:solidFill>
              </a:rPr>
              <a:t>n</a:t>
            </a:r>
            <a:r>
              <a:rPr lang="zh-CN" altLang="en-US" dirty="0">
                <a:solidFill>
                  <a:schemeClr val="bg2"/>
                </a:solidFill>
              </a:rPr>
              <a:t>/2+</a:t>
            </a:r>
            <a:r>
              <a:rPr lang="zh-CN" altLang="en-US" dirty="0" smtClean="0">
                <a:solidFill>
                  <a:schemeClr val="bg2"/>
                </a:solidFill>
              </a:rPr>
              <a:t>1个</a:t>
            </a:r>
            <a:r>
              <a:rPr lang="zh-CN" altLang="en-US" dirty="0">
                <a:solidFill>
                  <a:schemeClr val="bg2"/>
                </a:solidFill>
              </a:rPr>
              <a:t>报告“坏”</a:t>
            </a:r>
            <a:endParaRPr lang="zh-CN" altLang="en-US" dirty="0">
              <a:solidFill>
                <a:schemeClr val="bg2"/>
              </a:solidFill>
            </a:endParaRPr>
          </a:p>
        </p:txBody>
      </p:sp>
      <p:sp>
        <p:nvSpPr>
          <p:cNvPr id="9" name="文本框 8"/>
          <p:cNvSpPr txBox="1"/>
          <p:nvPr/>
        </p:nvSpPr>
        <p:spPr>
          <a:xfrm>
            <a:off x="1023819" y="4399915"/>
            <a:ext cx="5276374" cy="1198880"/>
          </a:xfrm>
          <a:prstGeom prst="rect">
            <a:avLst/>
          </a:prstGeom>
          <a:noFill/>
        </p:spPr>
        <p:txBody>
          <a:bodyPr wrap="square" rtlCol="0" anchor="t">
            <a:spAutoFit/>
          </a:bodyPr>
          <a:lstStyle/>
          <a:p>
            <a:r>
              <a:rPr lang="zh-CN" altLang="en-US" dirty="0">
                <a:solidFill>
                  <a:schemeClr val="bg2"/>
                </a:solidFill>
              </a:rPr>
              <a:t>结论 ：</a:t>
            </a:r>
            <a:r>
              <a:rPr lang="zh-CN" altLang="en-US" b="1" i="1" dirty="0">
                <a:solidFill>
                  <a:schemeClr val="bg2"/>
                </a:solidFill>
              </a:rPr>
              <a:t>n</a:t>
            </a:r>
            <a:r>
              <a:rPr lang="zh-CN" altLang="en-US" dirty="0">
                <a:solidFill>
                  <a:schemeClr val="bg2"/>
                </a:solidFill>
              </a:rPr>
              <a:t>-1 份报告中，</a:t>
            </a:r>
            <a:endParaRPr lang="zh-CN" altLang="en-US" dirty="0">
              <a:solidFill>
                <a:schemeClr val="bg2"/>
              </a:solidFill>
            </a:endParaRPr>
          </a:p>
          <a:p>
            <a:r>
              <a:rPr lang="zh-CN" altLang="en-US" dirty="0">
                <a:solidFill>
                  <a:schemeClr val="bg2"/>
                </a:solidFill>
              </a:rPr>
              <a:t>至少一半报“好”,  则 </a:t>
            </a:r>
            <a:r>
              <a:rPr lang="zh-CN" altLang="en-US" b="1" i="1" dirty="0">
                <a:solidFill>
                  <a:schemeClr val="bg2"/>
                </a:solidFill>
              </a:rPr>
              <a:t>A</a:t>
            </a:r>
            <a:r>
              <a:rPr lang="zh-CN" altLang="en-US" dirty="0">
                <a:solidFill>
                  <a:schemeClr val="bg2"/>
                </a:solidFill>
              </a:rPr>
              <a:t> </a:t>
            </a:r>
            <a:r>
              <a:rPr lang="zh-CN" altLang="en-US" dirty="0" smtClean="0">
                <a:solidFill>
                  <a:schemeClr val="bg2"/>
                </a:solidFill>
              </a:rPr>
              <a:t>为</a:t>
            </a:r>
            <a:r>
              <a:rPr lang="zh-CN" altLang="en-US" dirty="0">
                <a:solidFill>
                  <a:schemeClr val="bg2"/>
                </a:solidFill>
              </a:rPr>
              <a:t>好芯片</a:t>
            </a:r>
            <a:endParaRPr lang="zh-CN" altLang="en-US" dirty="0">
              <a:solidFill>
                <a:schemeClr val="bg2"/>
              </a:solidFill>
            </a:endParaRPr>
          </a:p>
          <a:p>
            <a:r>
              <a:rPr lang="zh-CN" altLang="en-US" dirty="0">
                <a:solidFill>
                  <a:schemeClr val="bg2"/>
                </a:solidFill>
              </a:rPr>
              <a:t>超过一半报“坏”,  则 </a:t>
            </a:r>
            <a:r>
              <a:rPr lang="zh-CN" altLang="en-US" b="1" i="1" dirty="0">
                <a:solidFill>
                  <a:schemeClr val="bg2"/>
                </a:solidFill>
              </a:rPr>
              <a:t>A </a:t>
            </a:r>
            <a:r>
              <a:rPr lang="zh-CN" altLang="en-US" dirty="0">
                <a:solidFill>
                  <a:schemeClr val="bg2"/>
                </a:solidFill>
              </a:rPr>
              <a:t>为坏芯片</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4" name="文本框 3"/>
          <p:cNvSpPr txBox="1"/>
          <p:nvPr/>
        </p:nvSpPr>
        <p:spPr>
          <a:xfrm>
            <a:off x="628015" y="1636395"/>
            <a:ext cx="7650480" cy="460375"/>
          </a:xfrm>
          <a:prstGeom prst="rect">
            <a:avLst/>
          </a:prstGeom>
          <a:noFill/>
        </p:spPr>
        <p:txBody>
          <a:bodyPr wrap="square" rtlCol="0" anchor="t">
            <a:spAutoFit/>
          </a:bodyPr>
          <a:lstStyle/>
          <a:p>
            <a:pPr marL="342900" indent="-342900">
              <a:buFont typeface="Wingdings" panose="05000000000000000000" charset="0"/>
              <a:buChar char="p"/>
            </a:pPr>
            <a:r>
              <a:rPr lang="zh-CN" altLang="en-US">
                <a:solidFill>
                  <a:schemeClr val="bg2"/>
                </a:solidFill>
              </a:rPr>
              <a:t>解决策略</a:t>
            </a:r>
            <a:r>
              <a:rPr lang="en-US" altLang="zh-CN">
                <a:solidFill>
                  <a:schemeClr val="bg2"/>
                </a:solidFill>
              </a:rPr>
              <a:t>1</a:t>
            </a:r>
            <a:r>
              <a:rPr lang="zh-CN" altLang="en-US">
                <a:solidFill>
                  <a:schemeClr val="bg2"/>
                </a:solidFill>
              </a:rPr>
              <a:t>：蛮力策略</a:t>
            </a:r>
            <a:endParaRPr lang="zh-CN" altLang="en-US">
              <a:solidFill>
                <a:schemeClr val="bg2"/>
              </a:solidFill>
            </a:endParaRPr>
          </a:p>
        </p:txBody>
      </p:sp>
      <p:sp>
        <p:nvSpPr>
          <p:cNvPr id="3" name="文本框 2"/>
          <p:cNvSpPr txBox="1"/>
          <p:nvPr/>
        </p:nvSpPr>
        <p:spPr>
          <a:xfrm>
            <a:off x="821690" y="2232660"/>
            <a:ext cx="7776845" cy="1198880"/>
          </a:xfrm>
          <a:prstGeom prst="rect">
            <a:avLst/>
          </a:prstGeom>
          <a:noFill/>
        </p:spPr>
        <p:txBody>
          <a:bodyPr wrap="square" rtlCol="0" anchor="t">
            <a:spAutoFit/>
          </a:bodyPr>
          <a:lstStyle/>
          <a:p>
            <a:pPr marL="177800" indent="-177800">
              <a:buFont typeface="Arial" panose="020B0604020202020204" pitchFamily="34" charset="0"/>
              <a:buChar char="•"/>
            </a:pPr>
            <a:r>
              <a:rPr lang="zh-CN" altLang="en-US" dirty="0">
                <a:solidFill>
                  <a:schemeClr val="bg2"/>
                </a:solidFill>
              </a:rPr>
              <a:t>测试方法 ：任取 1 片测试，如果是好芯片，测试结束；如果是坏芯片，抛弃，再从剩下芯片中任取 1 片测试</a:t>
            </a:r>
            <a:r>
              <a:rPr lang="zh-CN" altLang="en-US" dirty="0" smtClean="0">
                <a:solidFill>
                  <a:schemeClr val="bg2"/>
                </a:solidFill>
              </a:rPr>
              <a:t>，直到</a:t>
            </a:r>
            <a:r>
              <a:rPr lang="zh-CN" altLang="en-US" dirty="0">
                <a:solidFill>
                  <a:schemeClr val="bg2"/>
                </a:solidFill>
              </a:rPr>
              <a:t>得到 1 片好芯片。</a:t>
            </a:r>
            <a:endParaRPr lang="zh-CN" altLang="en-US" dirty="0">
              <a:solidFill>
                <a:schemeClr val="bg2"/>
              </a:solidFill>
            </a:endParaRPr>
          </a:p>
        </p:txBody>
      </p:sp>
      <p:sp>
        <p:nvSpPr>
          <p:cNvPr id="5" name="文本框 4"/>
          <p:cNvSpPr txBox="1"/>
          <p:nvPr/>
        </p:nvSpPr>
        <p:spPr>
          <a:xfrm>
            <a:off x="902335" y="3563620"/>
            <a:ext cx="7303770" cy="2123658"/>
          </a:xfrm>
          <a:prstGeom prst="rect">
            <a:avLst/>
          </a:prstGeom>
          <a:noFill/>
        </p:spPr>
        <p:txBody>
          <a:bodyPr wrap="square" rtlCol="0" anchor="t">
            <a:spAutoFit/>
          </a:bodyPr>
          <a:lstStyle/>
          <a:p>
            <a:pPr marL="177800" indent="-177800">
              <a:lnSpc>
                <a:spcPct val="110000"/>
              </a:lnSpc>
              <a:buFont typeface="Arial" panose="020B0604020202020204" pitchFamily="34" charset="0"/>
              <a:buChar char="•"/>
            </a:pPr>
            <a:r>
              <a:rPr lang="zh-CN" altLang="en-US" dirty="0">
                <a:solidFill>
                  <a:schemeClr val="bg2"/>
                </a:solidFill>
              </a:rPr>
              <a:t>时间估计 ：</a:t>
            </a:r>
            <a:endParaRPr lang="zh-CN" altLang="en-US" dirty="0">
              <a:solidFill>
                <a:schemeClr val="bg2"/>
              </a:solidFill>
            </a:endParaRPr>
          </a:p>
          <a:p>
            <a:pPr lvl="2">
              <a:lnSpc>
                <a:spcPct val="110000"/>
              </a:lnSpc>
            </a:pPr>
            <a:r>
              <a:rPr lang="zh-CN" altLang="en-US" dirty="0">
                <a:solidFill>
                  <a:schemeClr val="bg2"/>
                </a:solidFill>
              </a:rPr>
              <a:t>第1 片坏芯片，最多测试 </a:t>
            </a:r>
            <a:r>
              <a:rPr lang="zh-CN" altLang="en-US" b="1" i="1" dirty="0">
                <a:solidFill>
                  <a:schemeClr val="bg2"/>
                </a:solidFill>
              </a:rPr>
              <a:t>n</a:t>
            </a:r>
            <a:r>
              <a:rPr lang="zh-CN" altLang="en-US" dirty="0">
                <a:solidFill>
                  <a:schemeClr val="bg2"/>
                </a:solidFill>
              </a:rPr>
              <a:t>-</a:t>
            </a:r>
            <a:r>
              <a:rPr lang="en-US" altLang="zh-CN" dirty="0">
                <a:solidFill>
                  <a:schemeClr val="bg2"/>
                </a:solidFill>
              </a:rPr>
              <a:t>2</a:t>
            </a:r>
            <a:r>
              <a:rPr lang="zh-CN" altLang="en-US" dirty="0">
                <a:solidFill>
                  <a:schemeClr val="bg2"/>
                </a:solidFill>
              </a:rPr>
              <a:t> 次，</a:t>
            </a:r>
            <a:endParaRPr lang="zh-CN" altLang="en-US" dirty="0">
              <a:solidFill>
                <a:schemeClr val="bg2"/>
              </a:solidFill>
            </a:endParaRPr>
          </a:p>
          <a:p>
            <a:pPr lvl="2">
              <a:lnSpc>
                <a:spcPct val="110000"/>
              </a:lnSpc>
            </a:pPr>
            <a:r>
              <a:rPr lang="zh-CN" altLang="en-US" dirty="0">
                <a:solidFill>
                  <a:schemeClr val="bg2"/>
                </a:solidFill>
              </a:rPr>
              <a:t>第2 片坏芯片，最多测试 </a:t>
            </a:r>
            <a:r>
              <a:rPr lang="zh-CN" altLang="en-US" b="1" i="1" dirty="0">
                <a:solidFill>
                  <a:schemeClr val="bg2"/>
                </a:solidFill>
              </a:rPr>
              <a:t>n</a:t>
            </a:r>
            <a:r>
              <a:rPr lang="zh-CN" altLang="en-US" dirty="0">
                <a:solidFill>
                  <a:schemeClr val="bg2"/>
                </a:solidFill>
              </a:rPr>
              <a:t>-</a:t>
            </a:r>
            <a:r>
              <a:rPr lang="en-US" altLang="zh-CN" dirty="0">
                <a:solidFill>
                  <a:schemeClr val="bg2"/>
                </a:solidFill>
              </a:rPr>
              <a:t>3</a:t>
            </a:r>
            <a:r>
              <a:rPr lang="zh-CN" altLang="en-US" dirty="0">
                <a:solidFill>
                  <a:schemeClr val="bg2"/>
                </a:solidFill>
              </a:rPr>
              <a:t> 次，</a:t>
            </a:r>
            <a:endParaRPr lang="zh-CN" altLang="en-US" dirty="0">
              <a:solidFill>
                <a:schemeClr val="bg2"/>
              </a:solidFill>
            </a:endParaRPr>
          </a:p>
          <a:p>
            <a:pPr lvl="2">
              <a:lnSpc>
                <a:spcPct val="110000"/>
              </a:lnSpc>
            </a:pPr>
            <a:r>
              <a:rPr lang="en-US" altLang="zh-CN" dirty="0">
                <a:solidFill>
                  <a:schemeClr val="bg2"/>
                </a:solidFill>
              </a:rPr>
              <a:t>……</a:t>
            </a:r>
            <a:endParaRPr lang="zh-CN" altLang="en-US" dirty="0">
              <a:solidFill>
                <a:schemeClr val="bg2"/>
              </a:solidFill>
            </a:endParaRPr>
          </a:p>
          <a:p>
            <a:pPr>
              <a:lnSpc>
                <a:spcPct val="110000"/>
              </a:lnSpc>
            </a:pPr>
            <a:r>
              <a:rPr lang="zh-CN" altLang="en-US" dirty="0">
                <a:solidFill>
                  <a:schemeClr val="bg2"/>
                </a:solidFill>
              </a:rPr>
              <a:t>总计 </a:t>
            </a:r>
            <a:r>
              <a:rPr lang="en-US" altLang="zh-CN" b="1" i="1" dirty="0">
                <a:solidFill>
                  <a:schemeClr val="bg2"/>
                </a:solidFill>
              </a:rPr>
              <a:t>O</a:t>
            </a:r>
            <a:r>
              <a:rPr lang="zh-CN" altLang="en-US" b="1" i="1" dirty="0">
                <a:solidFill>
                  <a:schemeClr val="bg2"/>
                </a:solidFill>
              </a:rPr>
              <a:t> </a:t>
            </a:r>
            <a:r>
              <a:rPr lang="zh-CN" altLang="en-US" dirty="0">
                <a:solidFill>
                  <a:schemeClr val="bg2"/>
                </a:solidFill>
              </a:rPr>
              <a:t>(</a:t>
            </a:r>
            <a:r>
              <a:rPr lang="zh-CN" altLang="en-US" b="1" i="1" dirty="0">
                <a:solidFill>
                  <a:schemeClr val="bg2"/>
                </a:solidFill>
              </a:rPr>
              <a:t>n</a:t>
            </a:r>
            <a:r>
              <a:rPr lang="zh-CN" altLang="en-US" baseline="30000" dirty="0">
                <a:solidFill>
                  <a:schemeClr val="bg2"/>
                </a:solidFill>
              </a:rPr>
              <a:t>2</a:t>
            </a:r>
            <a:r>
              <a:rPr lang="zh-CN" altLang="en-US" dirty="0">
                <a:solidFill>
                  <a:schemeClr val="bg2"/>
                </a:solidFill>
              </a:rPr>
              <a:t> )</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4" name="文本框 3"/>
          <p:cNvSpPr txBox="1"/>
          <p:nvPr/>
        </p:nvSpPr>
        <p:spPr>
          <a:xfrm>
            <a:off x="628015" y="1636395"/>
            <a:ext cx="7650480" cy="460375"/>
          </a:xfrm>
          <a:prstGeom prst="rect">
            <a:avLst/>
          </a:prstGeom>
          <a:noFill/>
        </p:spPr>
        <p:txBody>
          <a:bodyPr wrap="square" rtlCol="0" anchor="t">
            <a:spAutoFit/>
          </a:bodyPr>
          <a:lstStyle/>
          <a:p>
            <a:pPr marL="342900" indent="-342900">
              <a:buFont typeface="Wingdings" panose="05000000000000000000" charset="0"/>
              <a:buChar char="p"/>
            </a:pPr>
            <a:r>
              <a:rPr lang="zh-CN" altLang="en-US" dirty="0">
                <a:solidFill>
                  <a:schemeClr val="bg2"/>
                </a:solidFill>
              </a:rPr>
              <a:t>解决策略</a:t>
            </a:r>
            <a:r>
              <a:rPr lang="en-US" altLang="zh-CN" dirty="0">
                <a:solidFill>
                  <a:schemeClr val="bg2"/>
                </a:solidFill>
              </a:rPr>
              <a:t>2</a:t>
            </a:r>
            <a:r>
              <a:rPr lang="zh-CN" altLang="en-US" dirty="0">
                <a:solidFill>
                  <a:schemeClr val="bg2"/>
                </a:solidFill>
              </a:rPr>
              <a:t>：分治策略</a:t>
            </a:r>
            <a:endParaRPr lang="zh-CN" altLang="en-US" dirty="0">
              <a:solidFill>
                <a:schemeClr val="bg2"/>
              </a:solidFill>
            </a:endParaRPr>
          </a:p>
        </p:txBody>
      </p:sp>
      <p:sp>
        <p:nvSpPr>
          <p:cNvPr id="3" name="文本框 2"/>
          <p:cNvSpPr txBox="1"/>
          <p:nvPr/>
        </p:nvSpPr>
        <p:spPr>
          <a:xfrm>
            <a:off x="821690" y="2132856"/>
            <a:ext cx="7776845" cy="977265"/>
          </a:xfrm>
          <a:prstGeom prst="rect">
            <a:avLst/>
          </a:prstGeom>
          <a:noFill/>
        </p:spPr>
        <p:txBody>
          <a:bodyPr wrap="square" rtlCol="0" anchor="t">
            <a:spAutoFit/>
          </a:bodyPr>
          <a:lstStyle/>
          <a:p>
            <a:pPr marL="177165" indent="-177165">
              <a:lnSpc>
                <a:spcPct val="120000"/>
              </a:lnSpc>
              <a:spcBef>
                <a:spcPts val="0"/>
              </a:spcBef>
              <a:spcAft>
                <a:spcPts val="0"/>
              </a:spcAft>
              <a:buFont typeface="Arial" panose="020B0604020202020204" pitchFamily="34" charset="0"/>
              <a:buChar char="•"/>
            </a:pPr>
            <a:r>
              <a:rPr lang="zh-CN" altLang="en-US" dirty="0">
                <a:solidFill>
                  <a:schemeClr val="bg2"/>
                </a:solidFill>
              </a:rPr>
              <a:t>基本思想 ：假设</a:t>
            </a:r>
            <a:r>
              <a:rPr lang="zh-CN" altLang="en-US" b="1" i="1" dirty="0">
                <a:solidFill>
                  <a:schemeClr val="bg2"/>
                </a:solidFill>
              </a:rPr>
              <a:t>n</a:t>
            </a:r>
            <a:r>
              <a:rPr lang="zh-CN" altLang="en-US" dirty="0">
                <a:solidFill>
                  <a:schemeClr val="bg2"/>
                </a:solidFill>
              </a:rPr>
              <a:t>为偶数，将 </a:t>
            </a:r>
            <a:r>
              <a:rPr lang="zh-CN" altLang="en-US" b="1" i="1" dirty="0">
                <a:solidFill>
                  <a:schemeClr val="bg2"/>
                </a:solidFill>
                <a:sym typeface="+mn-ea"/>
              </a:rPr>
              <a:t>n</a:t>
            </a:r>
            <a:r>
              <a:rPr lang="zh-CN" altLang="en-US" dirty="0">
                <a:solidFill>
                  <a:schemeClr val="bg2"/>
                </a:solidFill>
              </a:rPr>
              <a:t>片芯片两两一组做测试淘汰，剩下芯片构成子问题，进入下一轮分组淘汰。</a:t>
            </a:r>
            <a:endParaRPr lang="zh-CN" altLang="en-US" dirty="0">
              <a:solidFill>
                <a:schemeClr val="bg2"/>
              </a:solidFill>
            </a:endParaRPr>
          </a:p>
        </p:txBody>
      </p:sp>
      <p:sp>
        <p:nvSpPr>
          <p:cNvPr id="6" name="文本框 5"/>
          <p:cNvSpPr txBox="1"/>
          <p:nvPr/>
        </p:nvSpPr>
        <p:spPr>
          <a:xfrm>
            <a:off x="845820" y="3068960"/>
            <a:ext cx="6692265" cy="1420495"/>
          </a:xfrm>
          <a:prstGeom prst="rect">
            <a:avLst/>
          </a:prstGeom>
          <a:noFill/>
        </p:spPr>
        <p:txBody>
          <a:bodyPr wrap="square" rtlCol="0" anchor="t">
            <a:spAutoFit/>
          </a:bodyPr>
          <a:lstStyle/>
          <a:p>
            <a:pPr marL="184785" indent="-184785">
              <a:lnSpc>
                <a:spcPct val="120000"/>
              </a:lnSpc>
              <a:spcBef>
                <a:spcPts val="0"/>
              </a:spcBef>
              <a:spcAft>
                <a:spcPts val="0"/>
              </a:spcAft>
              <a:buFont typeface="Arial" panose="020B0604020202020204" pitchFamily="34" charset="0"/>
              <a:buChar char="•"/>
            </a:pPr>
            <a:r>
              <a:rPr lang="zh-CN" altLang="en-US" dirty="0">
                <a:solidFill>
                  <a:schemeClr val="bg2"/>
                </a:solidFill>
              </a:rPr>
              <a:t>淘汰规则 ：</a:t>
            </a:r>
            <a:endParaRPr lang="zh-CN" altLang="en-US" dirty="0">
              <a:solidFill>
                <a:schemeClr val="bg2"/>
              </a:solidFill>
            </a:endParaRPr>
          </a:p>
          <a:p>
            <a:pPr lvl="1">
              <a:lnSpc>
                <a:spcPct val="120000"/>
              </a:lnSpc>
              <a:spcBef>
                <a:spcPts val="0"/>
              </a:spcBef>
              <a:spcAft>
                <a:spcPts val="0"/>
              </a:spcAft>
            </a:pPr>
            <a:r>
              <a:rPr lang="zh-CN" altLang="en-US" dirty="0">
                <a:solidFill>
                  <a:schemeClr val="bg2"/>
                </a:solidFill>
              </a:rPr>
              <a:t>" 好,  好" </a:t>
            </a:r>
            <a:r>
              <a:rPr lang="zh-CN" altLang="en-US" dirty="0">
                <a:solidFill>
                  <a:schemeClr val="bg2"/>
                </a:solidFill>
                <a:latin typeface="Arial" panose="020B0604020202020204" pitchFamily="34" charset="0"/>
                <a:cs typeface="Arial" panose="020B0604020202020204" pitchFamily="34" charset="0"/>
              </a:rPr>
              <a:t>→</a:t>
            </a:r>
            <a:r>
              <a:rPr lang="zh-CN" altLang="en-US" dirty="0">
                <a:solidFill>
                  <a:schemeClr val="bg2"/>
                </a:solidFill>
              </a:rPr>
              <a:t>任留 1 片，进入下轮</a:t>
            </a:r>
            <a:endParaRPr lang="zh-CN" altLang="en-US" dirty="0">
              <a:solidFill>
                <a:schemeClr val="bg2"/>
              </a:solidFill>
            </a:endParaRPr>
          </a:p>
          <a:p>
            <a:pPr lvl="1">
              <a:lnSpc>
                <a:spcPct val="120000"/>
              </a:lnSpc>
              <a:spcBef>
                <a:spcPts val="0"/>
              </a:spcBef>
              <a:spcAft>
                <a:spcPts val="0"/>
              </a:spcAft>
            </a:pPr>
            <a:r>
              <a:rPr lang="zh-CN" altLang="en-US" dirty="0">
                <a:solidFill>
                  <a:schemeClr val="bg2"/>
                </a:solidFill>
              </a:rPr>
              <a:t>其他情况 </a:t>
            </a:r>
            <a:r>
              <a:rPr lang="zh-CN" altLang="en-US" dirty="0">
                <a:solidFill>
                  <a:schemeClr val="bg2"/>
                </a:solidFill>
                <a:latin typeface="Arial" panose="020B0604020202020204" pitchFamily="34" charset="0"/>
                <a:cs typeface="Arial" panose="020B0604020202020204" pitchFamily="34" charset="0"/>
              </a:rPr>
              <a:t>→</a:t>
            </a:r>
            <a:r>
              <a:rPr lang="zh-CN" altLang="en-US" dirty="0">
                <a:solidFill>
                  <a:schemeClr val="bg2"/>
                </a:solidFill>
              </a:rPr>
              <a:t> 全部抛弃</a:t>
            </a:r>
            <a:endParaRPr lang="zh-CN" altLang="en-US" dirty="0">
              <a:solidFill>
                <a:schemeClr val="bg2"/>
              </a:solidFill>
            </a:endParaRPr>
          </a:p>
        </p:txBody>
      </p:sp>
      <p:sp>
        <p:nvSpPr>
          <p:cNvPr id="7" name="文本框 6"/>
          <p:cNvSpPr txBox="1"/>
          <p:nvPr/>
        </p:nvSpPr>
        <p:spPr>
          <a:xfrm>
            <a:off x="821689" y="4437112"/>
            <a:ext cx="7776845" cy="1865126"/>
          </a:xfrm>
          <a:prstGeom prst="rect">
            <a:avLst/>
          </a:prstGeom>
          <a:solidFill>
            <a:schemeClr val="tx1"/>
          </a:solidFill>
        </p:spPr>
        <p:txBody>
          <a:bodyPr wrap="square" rtlCol="0" anchor="t">
            <a:spAutoFit/>
          </a:bodyPr>
          <a:lstStyle/>
          <a:p>
            <a:pPr marL="193040" indent="-193040">
              <a:lnSpc>
                <a:spcPct val="120000"/>
              </a:lnSpc>
              <a:spcBef>
                <a:spcPts val="0"/>
              </a:spcBef>
              <a:spcAft>
                <a:spcPts val="0"/>
              </a:spcAft>
              <a:buFont typeface="Arial" panose="020B0604020202020204" pitchFamily="34" charset="0"/>
              <a:buChar char="•"/>
            </a:pPr>
            <a:r>
              <a:rPr lang="zh-CN" altLang="en-US" dirty="0">
                <a:solidFill>
                  <a:schemeClr val="bg2"/>
                </a:solidFill>
              </a:rPr>
              <a:t>递归截止条件：n </a:t>
            </a:r>
            <a:r>
              <a:rPr lang="zh-CN" altLang="en-US" dirty="0">
                <a:solidFill>
                  <a:schemeClr val="bg2"/>
                </a:solidFill>
                <a:latin typeface="Arial" panose="020B0604020202020204" pitchFamily="34" charset="0"/>
                <a:cs typeface="Arial" panose="020B0604020202020204" pitchFamily="34" charset="0"/>
              </a:rPr>
              <a:t>≤</a:t>
            </a:r>
            <a:r>
              <a:rPr lang="zh-CN" altLang="en-US" dirty="0">
                <a:solidFill>
                  <a:schemeClr val="bg2"/>
                </a:solidFill>
              </a:rPr>
              <a:t> 3</a:t>
            </a:r>
            <a:endParaRPr lang="zh-CN" altLang="en-US" dirty="0">
              <a:solidFill>
                <a:schemeClr val="bg2"/>
              </a:solidFill>
            </a:endParaRPr>
          </a:p>
          <a:p>
            <a:pPr lvl="1">
              <a:lnSpc>
                <a:spcPct val="120000"/>
              </a:lnSpc>
              <a:spcBef>
                <a:spcPts val="0"/>
              </a:spcBef>
              <a:spcAft>
                <a:spcPts val="0"/>
              </a:spcAft>
              <a:buFont typeface="Arial" panose="020B0604020202020204" pitchFamily="34" charset="0"/>
            </a:pPr>
            <a:r>
              <a:rPr lang="zh-CN" altLang="en-US" dirty="0">
                <a:solidFill>
                  <a:schemeClr val="bg2"/>
                </a:solidFill>
              </a:rPr>
              <a:t>3片芯片，1次测试可得到好</a:t>
            </a:r>
            <a:r>
              <a:rPr lang="zh-CN" altLang="en-US" dirty="0" smtClean="0">
                <a:solidFill>
                  <a:schemeClr val="bg2"/>
                </a:solidFill>
              </a:rPr>
              <a:t>芯片</a:t>
            </a:r>
            <a:r>
              <a:rPr lang="en-US" altLang="zh-CN" dirty="0" smtClean="0">
                <a:solidFill>
                  <a:schemeClr val="bg2"/>
                </a:solidFill>
              </a:rPr>
              <a:t>——</a:t>
            </a:r>
            <a:r>
              <a:rPr lang="zh-CN" altLang="en-US" dirty="0" smtClean="0">
                <a:solidFill>
                  <a:schemeClr val="bg2"/>
                </a:solidFill>
              </a:rPr>
              <a:t>因为好芯片多于坏芯片。</a:t>
            </a:r>
            <a:endParaRPr lang="zh-CN" altLang="en-US" dirty="0">
              <a:solidFill>
                <a:schemeClr val="bg2"/>
              </a:solidFill>
            </a:endParaRPr>
          </a:p>
          <a:p>
            <a:pPr lvl="1">
              <a:lnSpc>
                <a:spcPct val="120000"/>
              </a:lnSpc>
              <a:spcBef>
                <a:spcPts val="0"/>
              </a:spcBef>
              <a:spcAft>
                <a:spcPts val="0"/>
              </a:spcAft>
              <a:buFont typeface="Arial" panose="020B0604020202020204" pitchFamily="34" charset="0"/>
            </a:pPr>
            <a:r>
              <a:rPr lang="zh-CN" altLang="en-US" dirty="0">
                <a:solidFill>
                  <a:schemeClr val="bg2"/>
                </a:solidFill>
              </a:rPr>
              <a:t>1 或2片芯片，不再需要测试。</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21690" y="1658620"/>
            <a:ext cx="7776845" cy="1420495"/>
          </a:xfrm>
          <a:prstGeom prst="rect">
            <a:avLst/>
          </a:prstGeom>
          <a:noFill/>
        </p:spPr>
        <p:txBody>
          <a:bodyPr wrap="square" rtlCol="0" anchor="t">
            <a:spAutoFit/>
          </a:bodyPr>
          <a:lstStyle/>
          <a:p>
            <a:pPr marL="177165" indent="-177165">
              <a:lnSpc>
                <a:spcPct val="120000"/>
              </a:lnSpc>
              <a:spcBef>
                <a:spcPts val="0"/>
              </a:spcBef>
              <a:spcAft>
                <a:spcPts val="0"/>
              </a:spcAft>
              <a:buFont typeface="Arial" panose="020B0604020202020204" pitchFamily="34" charset="0"/>
              <a:buChar char="•"/>
            </a:pPr>
            <a:r>
              <a:rPr lang="zh-CN" altLang="en-US" dirty="0">
                <a:solidFill>
                  <a:schemeClr val="bg2"/>
                </a:solidFill>
              </a:rPr>
              <a:t>分治算法的正确性 </a:t>
            </a:r>
            <a:endParaRPr lang="zh-CN" altLang="en-US" dirty="0">
              <a:solidFill>
                <a:schemeClr val="bg2"/>
              </a:solidFill>
            </a:endParaRPr>
          </a:p>
          <a:p>
            <a:pPr>
              <a:lnSpc>
                <a:spcPct val="120000"/>
              </a:lnSpc>
              <a:spcBef>
                <a:spcPts val="0"/>
              </a:spcBef>
              <a:spcAft>
                <a:spcPts val="0"/>
              </a:spcAft>
              <a:buFont typeface="Arial" panose="020B0604020202020204" pitchFamily="34" charset="0"/>
            </a:pPr>
            <a:r>
              <a:rPr lang="zh-CN" altLang="en-US" dirty="0">
                <a:solidFill>
                  <a:schemeClr val="bg2"/>
                </a:solidFill>
              </a:rPr>
              <a:t>（</a:t>
            </a:r>
            <a:r>
              <a:rPr lang="en-US" altLang="zh-CN" dirty="0">
                <a:solidFill>
                  <a:schemeClr val="bg2"/>
                </a:solidFill>
              </a:rPr>
              <a:t>1</a:t>
            </a:r>
            <a:r>
              <a:rPr lang="zh-CN" altLang="en-US" dirty="0">
                <a:solidFill>
                  <a:schemeClr val="bg2"/>
                </a:solidFill>
              </a:rPr>
              <a:t>）命题1： 当</a:t>
            </a:r>
            <a:r>
              <a:rPr lang="zh-CN" altLang="en-US" b="1" i="1" dirty="0">
                <a:solidFill>
                  <a:schemeClr val="bg2"/>
                </a:solidFill>
              </a:rPr>
              <a:t>n</a:t>
            </a:r>
            <a:r>
              <a:rPr lang="zh-CN" altLang="en-US" dirty="0">
                <a:solidFill>
                  <a:schemeClr val="bg2"/>
                </a:solidFill>
              </a:rPr>
              <a:t>是偶数时，在上述淘汰规则下，经过一轮淘汰，剩下的好芯片比坏芯片至少多1 片。</a:t>
            </a:r>
            <a:endParaRPr lang="zh-CN" altLang="en-US" dirty="0">
              <a:solidFill>
                <a:schemeClr val="bg2"/>
              </a:solidFill>
            </a:endParaRPr>
          </a:p>
        </p:txBody>
      </p:sp>
      <p:sp>
        <p:nvSpPr>
          <p:cNvPr id="8" name="文本框 7"/>
          <p:cNvSpPr txBox="1"/>
          <p:nvPr/>
        </p:nvSpPr>
        <p:spPr>
          <a:xfrm>
            <a:off x="927100" y="3079115"/>
            <a:ext cx="7573645" cy="829945"/>
          </a:xfrm>
          <a:prstGeom prst="rect">
            <a:avLst/>
          </a:prstGeom>
          <a:noFill/>
        </p:spPr>
        <p:txBody>
          <a:bodyPr wrap="square" rtlCol="0" anchor="t">
            <a:spAutoFit/>
          </a:bodyPr>
          <a:lstStyle/>
          <a:p>
            <a:r>
              <a:rPr lang="zh-CN" altLang="en-US" dirty="0">
                <a:solidFill>
                  <a:schemeClr val="bg2"/>
                </a:solidFill>
              </a:rPr>
              <a:t>证明： 设</a:t>
            </a:r>
            <a:r>
              <a:rPr lang="zh-CN" altLang="en-US" b="1" i="1" dirty="0">
                <a:solidFill>
                  <a:schemeClr val="bg2"/>
                </a:solidFill>
              </a:rPr>
              <a:t>A</a:t>
            </a:r>
            <a:r>
              <a:rPr lang="zh-CN" altLang="en-US" dirty="0">
                <a:solidFill>
                  <a:schemeClr val="bg2"/>
                </a:solidFill>
              </a:rPr>
              <a:t>, </a:t>
            </a:r>
            <a:r>
              <a:rPr lang="zh-CN" altLang="en-US" b="1" i="1" dirty="0">
                <a:solidFill>
                  <a:schemeClr val="bg2"/>
                </a:solidFill>
              </a:rPr>
              <a:t>B </a:t>
            </a:r>
            <a:r>
              <a:rPr lang="zh-CN" altLang="en-US" dirty="0">
                <a:solidFill>
                  <a:schemeClr val="bg2"/>
                </a:solidFill>
              </a:rPr>
              <a:t>都好的芯片</a:t>
            </a:r>
            <a:r>
              <a:rPr lang="zh-CN" altLang="en-US" b="1" i="1" dirty="0">
                <a:solidFill>
                  <a:schemeClr val="bg2"/>
                </a:solidFill>
              </a:rPr>
              <a:t>i </a:t>
            </a:r>
            <a:r>
              <a:rPr lang="zh-CN" altLang="en-US" dirty="0">
                <a:solidFill>
                  <a:schemeClr val="bg2"/>
                </a:solidFill>
              </a:rPr>
              <a:t>组, </a:t>
            </a:r>
            <a:r>
              <a:rPr lang="zh-CN" altLang="en-US" b="1" i="1" dirty="0">
                <a:solidFill>
                  <a:schemeClr val="bg2"/>
                </a:solidFill>
              </a:rPr>
              <a:t>A</a:t>
            </a:r>
            <a:r>
              <a:rPr lang="zh-CN" altLang="en-US" dirty="0">
                <a:solidFill>
                  <a:schemeClr val="bg2"/>
                </a:solidFill>
              </a:rPr>
              <a:t>与</a:t>
            </a:r>
            <a:r>
              <a:rPr lang="zh-CN" altLang="en-US" b="1" i="1" dirty="0">
                <a:solidFill>
                  <a:schemeClr val="bg2"/>
                </a:solidFill>
              </a:rPr>
              <a:t>B</a:t>
            </a:r>
            <a:r>
              <a:rPr lang="zh-CN" altLang="en-US" dirty="0">
                <a:solidFill>
                  <a:schemeClr val="bg2"/>
                </a:solidFill>
              </a:rPr>
              <a:t>一好一坏 </a:t>
            </a:r>
            <a:r>
              <a:rPr lang="zh-CN" altLang="en-US" b="1" i="1" dirty="0">
                <a:solidFill>
                  <a:schemeClr val="bg2"/>
                </a:solidFill>
              </a:rPr>
              <a:t>j </a:t>
            </a:r>
            <a:r>
              <a:rPr lang="zh-CN" altLang="en-US" dirty="0">
                <a:solidFill>
                  <a:schemeClr val="bg2"/>
                </a:solidFill>
              </a:rPr>
              <a:t>组，</a:t>
            </a:r>
            <a:r>
              <a:rPr lang="zh-CN" altLang="en-US" b="1" i="1" dirty="0">
                <a:solidFill>
                  <a:schemeClr val="bg2"/>
                </a:solidFill>
              </a:rPr>
              <a:t>A</a:t>
            </a:r>
            <a:r>
              <a:rPr lang="zh-CN" altLang="en-US" dirty="0">
                <a:solidFill>
                  <a:schemeClr val="bg2"/>
                </a:solidFill>
              </a:rPr>
              <a:t>与</a:t>
            </a:r>
            <a:r>
              <a:rPr lang="zh-CN" altLang="en-US" b="1" i="1" dirty="0">
                <a:solidFill>
                  <a:schemeClr val="bg2"/>
                </a:solidFill>
              </a:rPr>
              <a:t>B</a:t>
            </a:r>
            <a:r>
              <a:rPr lang="zh-CN" altLang="en-US" dirty="0">
                <a:solidFill>
                  <a:schemeClr val="bg2"/>
                </a:solidFill>
              </a:rPr>
              <a:t>都坏的</a:t>
            </a:r>
            <a:r>
              <a:rPr lang="zh-CN" altLang="en-US" b="1" i="1" dirty="0">
                <a:solidFill>
                  <a:schemeClr val="bg2"/>
                </a:solidFill>
              </a:rPr>
              <a:t>k</a:t>
            </a:r>
            <a:r>
              <a:rPr lang="zh-CN" altLang="en-US" dirty="0">
                <a:solidFill>
                  <a:schemeClr val="bg2"/>
                </a:solidFill>
              </a:rPr>
              <a:t>组.  淘汰后好芯片至少</a:t>
            </a:r>
            <a:r>
              <a:rPr lang="zh-CN" altLang="en-US" b="1" i="1" dirty="0">
                <a:solidFill>
                  <a:schemeClr val="bg2"/>
                </a:solidFill>
              </a:rPr>
              <a:t>i</a:t>
            </a:r>
            <a:r>
              <a:rPr lang="zh-CN" altLang="en-US" dirty="0">
                <a:solidFill>
                  <a:schemeClr val="bg2"/>
                </a:solidFill>
              </a:rPr>
              <a:t>片，坏芯片至多</a:t>
            </a:r>
            <a:r>
              <a:rPr lang="zh-CN" altLang="en-US" b="1" i="1" dirty="0">
                <a:solidFill>
                  <a:schemeClr val="bg2"/>
                </a:solidFill>
              </a:rPr>
              <a:t>k</a:t>
            </a:r>
            <a:r>
              <a:rPr lang="zh-CN" altLang="en-US" dirty="0">
                <a:solidFill>
                  <a:schemeClr val="bg2"/>
                </a:solidFill>
              </a:rPr>
              <a:t>片。</a:t>
            </a:r>
            <a:endParaRPr lang="zh-CN" altLang="en-US" dirty="0">
              <a:solidFill>
                <a:schemeClr val="bg2"/>
              </a:solidFill>
            </a:endParaRPr>
          </a:p>
        </p:txBody>
      </p:sp>
      <p:sp>
        <p:nvSpPr>
          <p:cNvPr id="9" name="文本框 8"/>
          <p:cNvSpPr txBox="1"/>
          <p:nvPr/>
        </p:nvSpPr>
        <p:spPr>
          <a:xfrm>
            <a:off x="1607820" y="3940175"/>
            <a:ext cx="6266815" cy="977265"/>
          </a:xfrm>
          <a:prstGeom prst="rect">
            <a:avLst/>
          </a:prstGeom>
          <a:noFill/>
        </p:spPr>
        <p:txBody>
          <a:bodyPr wrap="square" rtlCol="0" anchor="t">
            <a:spAutoFit/>
          </a:bodyPr>
          <a:lstStyle/>
          <a:p>
            <a:pPr>
              <a:lnSpc>
                <a:spcPct val="120000"/>
              </a:lnSpc>
              <a:spcBef>
                <a:spcPts val="0"/>
              </a:spcBef>
              <a:spcAft>
                <a:spcPts val="0"/>
              </a:spcAft>
            </a:pPr>
            <a:r>
              <a:rPr lang="zh-CN" altLang="en-US" dirty="0">
                <a:solidFill>
                  <a:schemeClr val="bg2"/>
                </a:solidFill>
              </a:rPr>
              <a:t>2</a:t>
            </a:r>
            <a:r>
              <a:rPr lang="zh-CN" altLang="en-US" b="1" i="1" dirty="0">
                <a:solidFill>
                  <a:schemeClr val="bg2"/>
                </a:solidFill>
              </a:rPr>
              <a:t>i</a:t>
            </a:r>
            <a:r>
              <a:rPr lang="zh-CN" altLang="en-US" dirty="0">
                <a:solidFill>
                  <a:schemeClr val="bg2"/>
                </a:solidFill>
              </a:rPr>
              <a:t> + 2</a:t>
            </a:r>
            <a:r>
              <a:rPr lang="zh-CN" altLang="en-US" b="1" i="1" dirty="0">
                <a:solidFill>
                  <a:schemeClr val="bg2"/>
                </a:solidFill>
              </a:rPr>
              <a:t>j</a:t>
            </a:r>
            <a:r>
              <a:rPr lang="zh-CN" altLang="en-US" dirty="0">
                <a:solidFill>
                  <a:schemeClr val="bg2"/>
                </a:solidFill>
              </a:rPr>
              <a:t> + 2</a:t>
            </a:r>
            <a:r>
              <a:rPr lang="zh-CN" altLang="en-US" b="1" i="1" dirty="0">
                <a:solidFill>
                  <a:schemeClr val="bg2"/>
                </a:solidFill>
              </a:rPr>
              <a:t>k</a:t>
            </a:r>
            <a:r>
              <a:rPr lang="zh-CN" altLang="en-US" dirty="0">
                <a:solidFill>
                  <a:schemeClr val="bg2"/>
                </a:solidFill>
              </a:rPr>
              <a:t> = </a:t>
            </a:r>
            <a:r>
              <a:rPr lang="zh-CN" altLang="en-US" b="1" i="1" dirty="0">
                <a:solidFill>
                  <a:schemeClr val="bg2"/>
                </a:solidFill>
              </a:rPr>
              <a:t>n       </a:t>
            </a:r>
            <a:r>
              <a:rPr lang="zh-CN" altLang="en-US" dirty="0">
                <a:solidFill>
                  <a:schemeClr val="bg2"/>
                </a:solidFill>
                <a:sym typeface="+mn-ea"/>
              </a:rPr>
              <a:t>初始芯片总数</a:t>
            </a:r>
            <a:r>
              <a:rPr lang="zh-CN" altLang="en-US" b="1" i="1" dirty="0">
                <a:solidFill>
                  <a:schemeClr val="bg2"/>
                </a:solidFill>
                <a:sym typeface="+mn-ea"/>
              </a:rPr>
              <a:t>n</a:t>
            </a:r>
            <a:endParaRPr lang="zh-CN" altLang="en-US" dirty="0">
              <a:solidFill>
                <a:schemeClr val="bg2"/>
              </a:solidFill>
            </a:endParaRPr>
          </a:p>
          <a:p>
            <a:pPr>
              <a:lnSpc>
                <a:spcPct val="120000"/>
              </a:lnSpc>
              <a:spcBef>
                <a:spcPts val="0"/>
              </a:spcBef>
              <a:spcAft>
                <a:spcPts val="0"/>
              </a:spcAft>
            </a:pPr>
            <a:r>
              <a:rPr lang="zh-CN" altLang="en-US" dirty="0">
                <a:solidFill>
                  <a:schemeClr val="bg2"/>
                </a:solidFill>
              </a:rPr>
              <a:t>2</a:t>
            </a:r>
            <a:r>
              <a:rPr lang="zh-CN" altLang="en-US" b="1" i="1" dirty="0">
                <a:solidFill>
                  <a:schemeClr val="bg2"/>
                </a:solidFill>
              </a:rPr>
              <a:t>i</a:t>
            </a:r>
            <a:r>
              <a:rPr lang="zh-CN" altLang="en-US" dirty="0">
                <a:solidFill>
                  <a:schemeClr val="bg2"/>
                </a:solidFill>
              </a:rPr>
              <a:t> + </a:t>
            </a:r>
            <a:r>
              <a:rPr lang="zh-CN" altLang="en-US" b="1" i="1" dirty="0">
                <a:solidFill>
                  <a:schemeClr val="bg2"/>
                </a:solidFill>
              </a:rPr>
              <a:t>j</a:t>
            </a:r>
            <a:r>
              <a:rPr lang="zh-CN" altLang="en-US" dirty="0">
                <a:solidFill>
                  <a:schemeClr val="bg2"/>
                </a:solidFill>
              </a:rPr>
              <a:t> &gt; 2</a:t>
            </a:r>
            <a:r>
              <a:rPr lang="zh-CN" altLang="en-US" b="1" i="1" dirty="0">
                <a:solidFill>
                  <a:schemeClr val="bg2"/>
                </a:solidFill>
              </a:rPr>
              <a:t>k</a:t>
            </a:r>
            <a:r>
              <a:rPr lang="zh-CN" altLang="en-US" dirty="0">
                <a:solidFill>
                  <a:schemeClr val="bg2"/>
                </a:solidFill>
              </a:rPr>
              <a:t> + </a:t>
            </a:r>
            <a:r>
              <a:rPr lang="zh-CN" altLang="en-US" b="1" i="1" dirty="0">
                <a:solidFill>
                  <a:schemeClr val="bg2"/>
                </a:solidFill>
              </a:rPr>
              <a:t>j          </a:t>
            </a:r>
            <a:r>
              <a:rPr lang="zh-CN" altLang="en-US" dirty="0">
                <a:solidFill>
                  <a:schemeClr val="bg2"/>
                </a:solidFill>
                <a:sym typeface="+mn-ea"/>
              </a:rPr>
              <a:t>初始：好芯片多于坏芯片</a:t>
            </a:r>
            <a:endParaRPr lang="zh-CN" altLang="en-US" dirty="0">
              <a:solidFill>
                <a:schemeClr val="bg2"/>
              </a:solidFill>
            </a:endParaRPr>
          </a:p>
        </p:txBody>
      </p:sp>
      <p:sp>
        <p:nvSpPr>
          <p:cNvPr id="10" name="文本框 9"/>
          <p:cNvSpPr txBox="1"/>
          <p:nvPr/>
        </p:nvSpPr>
        <p:spPr>
          <a:xfrm>
            <a:off x="2348865" y="4917440"/>
            <a:ext cx="828675" cy="534035"/>
          </a:xfrm>
          <a:prstGeom prst="rect">
            <a:avLst/>
          </a:prstGeom>
          <a:noFill/>
        </p:spPr>
        <p:txBody>
          <a:bodyPr wrap="none" rtlCol="0" anchor="t">
            <a:spAutoFit/>
          </a:bodyPr>
          <a:lstStyle/>
          <a:p>
            <a:pPr>
              <a:lnSpc>
                <a:spcPct val="120000"/>
              </a:lnSpc>
              <a:spcBef>
                <a:spcPts val="0"/>
              </a:spcBef>
              <a:spcAft>
                <a:spcPts val="0"/>
              </a:spcAft>
            </a:pPr>
            <a:r>
              <a:rPr lang="zh-CN" altLang="en-US" b="1" i="1">
                <a:solidFill>
                  <a:schemeClr val="bg2"/>
                </a:solidFill>
                <a:latin typeface="Arial" panose="020B0604020202020204" pitchFamily="34" charset="0"/>
                <a:cs typeface="Arial" panose="020B0604020202020204" pitchFamily="34" charset="0"/>
                <a:sym typeface="+mn-ea"/>
              </a:rPr>
              <a:t> </a:t>
            </a:r>
            <a:r>
              <a:rPr lang="zh-CN" altLang="en-US" b="1" i="1">
                <a:solidFill>
                  <a:schemeClr val="bg2"/>
                </a:solidFill>
                <a:sym typeface="+mn-ea"/>
              </a:rPr>
              <a:t>i</a:t>
            </a:r>
            <a:r>
              <a:rPr lang="zh-CN" altLang="en-US">
                <a:solidFill>
                  <a:schemeClr val="bg2"/>
                </a:solidFill>
                <a:sym typeface="+mn-ea"/>
              </a:rPr>
              <a:t> &gt; </a:t>
            </a:r>
            <a:r>
              <a:rPr lang="zh-CN" altLang="en-US" b="1" i="1">
                <a:solidFill>
                  <a:schemeClr val="bg2"/>
                </a:solidFill>
                <a:sym typeface="+mn-ea"/>
              </a:rPr>
              <a:t>k</a:t>
            </a:r>
            <a:endParaRPr lang="zh-CN" altLang="en-US"/>
          </a:p>
        </p:txBody>
      </p:sp>
      <p:sp>
        <p:nvSpPr>
          <p:cNvPr id="11" name="右箭头 10"/>
          <p:cNvSpPr/>
          <p:nvPr/>
        </p:nvSpPr>
        <p:spPr>
          <a:xfrm>
            <a:off x="1764030" y="5142865"/>
            <a:ext cx="647700" cy="158115"/>
          </a:xfrm>
          <a:prstGeom prst="rightArrow">
            <a:avLst/>
          </a:prstGeom>
          <a:solidFill>
            <a:schemeClr val="accent1"/>
          </a:solidFill>
          <a:ln w="12700" cap="sq" cmpd="sng" algn="ctr">
            <a:solidFill>
              <a:schemeClr val="tx1"/>
            </a:solidFill>
            <a:prstDash val="solid"/>
            <a:round/>
            <a:headEnd type="none" w="sm" len="sm"/>
            <a:tailEnd type="none" w="sm" len="sm"/>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2" name="文本框 11"/>
          <p:cNvSpPr txBox="1"/>
          <p:nvPr/>
        </p:nvSpPr>
        <p:spPr>
          <a:xfrm>
            <a:off x="3990975" y="4991100"/>
            <a:ext cx="3611880" cy="460375"/>
          </a:xfrm>
          <a:prstGeom prst="rect">
            <a:avLst/>
          </a:prstGeom>
          <a:noFill/>
        </p:spPr>
        <p:txBody>
          <a:bodyPr wrap="none" rtlCol="0" anchor="t">
            <a:spAutoFit/>
          </a:bodyPr>
          <a:lstStyle/>
          <a:p>
            <a:r>
              <a:rPr lang="zh-CN" altLang="en-US">
                <a:solidFill>
                  <a:schemeClr val="bg2"/>
                </a:solidFill>
                <a:sym typeface="+mn-ea"/>
              </a:rPr>
              <a:t> 子问题与原问题性质相同</a:t>
            </a:r>
            <a:endParaRPr lang="zh-CN" altLang="en-US">
              <a:solidFill>
                <a:schemeClr val="bg2"/>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21690" y="1658620"/>
            <a:ext cx="7776845" cy="534035"/>
          </a:xfrm>
          <a:prstGeom prst="rect">
            <a:avLst/>
          </a:prstGeom>
          <a:noFill/>
        </p:spPr>
        <p:txBody>
          <a:bodyPr wrap="square" rtlCol="0" anchor="t">
            <a:spAutoFit/>
          </a:bodyPr>
          <a:lstStyle/>
          <a:p>
            <a:pPr marL="177165" indent="-177165">
              <a:lnSpc>
                <a:spcPct val="120000"/>
              </a:lnSpc>
              <a:spcBef>
                <a:spcPts val="0"/>
              </a:spcBef>
              <a:spcAft>
                <a:spcPts val="0"/>
              </a:spcAft>
              <a:buFont typeface="Arial" panose="020B0604020202020204" pitchFamily="34" charset="0"/>
              <a:buChar char="•"/>
            </a:pPr>
            <a:r>
              <a:rPr lang="zh-CN" altLang="en-US" b="1" i="1" dirty="0">
                <a:solidFill>
                  <a:schemeClr val="bg2"/>
                </a:solidFill>
              </a:rPr>
              <a:t>n</a:t>
            </a:r>
            <a:r>
              <a:rPr lang="zh-CN" altLang="en-US" dirty="0">
                <a:solidFill>
                  <a:schemeClr val="bg2"/>
                </a:solidFill>
              </a:rPr>
              <a:t>为奇数时的特殊处理：当</a:t>
            </a:r>
            <a:r>
              <a:rPr lang="zh-CN" altLang="en-US" b="1" i="1" dirty="0">
                <a:solidFill>
                  <a:schemeClr val="bg2"/>
                </a:solidFill>
              </a:rPr>
              <a:t>n</a:t>
            </a:r>
            <a:r>
              <a:rPr lang="zh-CN" altLang="en-US" dirty="0">
                <a:solidFill>
                  <a:schemeClr val="bg2"/>
                </a:solidFill>
              </a:rPr>
              <a:t>是奇数时，可能出问题 </a:t>
            </a:r>
            <a:endParaRPr lang="zh-CN" altLang="en-US" dirty="0">
              <a:solidFill>
                <a:schemeClr val="bg2"/>
              </a:solidFill>
            </a:endParaRPr>
          </a:p>
        </p:txBody>
      </p:sp>
      <p:pic>
        <p:nvPicPr>
          <p:cNvPr id="4" name="20 3"/>
          <p:cNvPicPr>
            <a:picLocks noChangeAspect="1"/>
          </p:cNvPicPr>
          <p:nvPr/>
        </p:nvPicPr>
        <p:blipFill>
          <a:blip r:embed="rId1"/>
          <a:stretch>
            <a:fillRect/>
          </a:stretch>
        </p:blipFill>
        <p:spPr>
          <a:xfrm>
            <a:off x="1824990" y="2188210"/>
            <a:ext cx="4924425" cy="1419225"/>
          </a:xfrm>
          <a:prstGeom prst="rect">
            <a:avLst/>
          </a:prstGeom>
        </p:spPr>
      </p:pic>
      <p:sp>
        <p:nvSpPr>
          <p:cNvPr id="5" name="文本框 4"/>
          <p:cNvSpPr txBox="1"/>
          <p:nvPr/>
        </p:nvSpPr>
        <p:spPr>
          <a:xfrm>
            <a:off x="868045" y="3674110"/>
            <a:ext cx="7776845" cy="977265"/>
          </a:xfrm>
          <a:prstGeom prst="rect">
            <a:avLst/>
          </a:prstGeom>
          <a:noFill/>
        </p:spPr>
        <p:txBody>
          <a:bodyPr wrap="square" rtlCol="0" anchor="t">
            <a:spAutoFit/>
          </a:bodyPr>
          <a:lstStyle/>
          <a:p>
            <a:pPr marL="177165" indent="-177165">
              <a:lnSpc>
                <a:spcPct val="120000"/>
              </a:lnSpc>
              <a:spcBef>
                <a:spcPts val="0"/>
              </a:spcBef>
              <a:spcAft>
                <a:spcPts val="0"/>
              </a:spcAft>
              <a:buFont typeface="Arial" panose="020B0604020202020204" pitchFamily="34" charset="0"/>
              <a:buChar char="•"/>
            </a:pPr>
            <a:r>
              <a:rPr lang="zh-CN" altLang="en-US" dirty="0">
                <a:solidFill>
                  <a:schemeClr val="bg2"/>
                </a:solidFill>
              </a:rPr>
              <a:t>处理办法：当</a:t>
            </a:r>
            <a:r>
              <a:rPr lang="zh-CN" altLang="en-US" b="1" i="1" dirty="0">
                <a:solidFill>
                  <a:schemeClr val="bg2"/>
                </a:solidFill>
                <a:sym typeface="+mn-ea"/>
              </a:rPr>
              <a:t>n</a:t>
            </a:r>
            <a:r>
              <a:rPr lang="zh-CN" altLang="en-US" dirty="0">
                <a:solidFill>
                  <a:schemeClr val="bg2"/>
                </a:solidFill>
              </a:rPr>
              <a:t>为奇数时，增加一轮对轮空芯片的单独测试.。</a:t>
            </a:r>
            <a:endParaRPr lang="zh-CN" altLang="en-US" dirty="0">
              <a:solidFill>
                <a:schemeClr val="bg2"/>
              </a:solidFill>
            </a:endParaRPr>
          </a:p>
        </p:txBody>
      </p:sp>
      <p:sp>
        <p:nvSpPr>
          <p:cNvPr id="7" name="文本框 6"/>
          <p:cNvSpPr txBox="1"/>
          <p:nvPr/>
        </p:nvSpPr>
        <p:spPr>
          <a:xfrm>
            <a:off x="851535" y="4590415"/>
            <a:ext cx="7776845" cy="977265"/>
          </a:xfrm>
          <a:prstGeom prst="rect">
            <a:avLst/>
          </a:prstGeom>
          <a:noFill/>
        </p:spPr>
        <p:txBody>
          <a:bodyPr wrap="square" rtlCol="0" anchor="t">
            <a:spAutoFit/>
          </a:bodyPr>
          <a:lstStyle/>
          <a:p>
            <a:pPr marL="177165" indent="-177165">
              <a:lnSpc>
                <a:spcPct val="120000"/>
              </a:lnSpc>
              <a:spcBef>
                <a:spcPts val="0"/>
              </a:spcBef>
              <a:spcAft>
                <a:spcPts val="0"/>
              </a:spcAft>
              <a:buFont typeface="Arial" panose="020B0604020202020204" pitchFamily="34" charset="0"/>
              <a:buChar char="•"/>
            </a:pPr>
            <a:r>
              <a:rPr lang="zh-CN" altLang="en-US" dirty="0">
                <a:solidFill>
                  <a:schemeClr val="bg2"/>
                </a:solidFill>
              </a:rPr>
              <a:t>结果：如果该芯片为好芯片，算法结束；如果是坏芯片，则淘汰该芯片。</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内容占位符 9"/>
          <p:cNvSpPr>
            <a:spLocks noGrp="1"/>
          </p:cNvSpPr>
          <p:nvPr>
            <p:ph idx="1"/>
          </p:nvPr>
        </p:nvSpPr>
        <p:spPr>
          <a:xfrm>
            <a:off x="713740" y="1905635"/>
            <a:ext cx="8280400" cy="4497070"/>
          </a:xfrm>
        </p:spPr>
        <p:txBody>
          <a:bodyPr vert="horz" wrap="square" lIns="91440" tIns="45720" rIns="91440" bIns="45720" anchor="t"/>
          <a:lstStyle/>
          <a:p>
            <a:pPr latinLnBrk="0">
              <a:lnSpc>
                <a:spcPct val="90000"/>
              </a:lnSpc>
              <a:spcBef>
                <a:spcPct val="0"/>
              </a:spcBef>
              <a:buNone/>
            </a:pPr>
            <a:r>
              <a:rPr lang="en-US" altLang="zh-CN" sz="2400" b="1" dirty="0">
                <a:solidFill>
                  <a:schemeClr val="bg2"/>
                </a:solidFill>
                <a:latin typeface="Times New Roman" panose="02020603050405020304" pitchFamily="18" charset="0"/>
                <a:cs typeface="Times New Roman" panose="02020603050405020304" pitchFamily="18" charset="0"/>
              </a:rPr>
              <a:t>1</a:t>
            </a:r>
            <a:r>
              <a:rPr lang="zh-CN" altLang="en-US" sz="2400" b="1" dirty="0">
                <a:solidFill>
                  <a:schemeClr val="bg2"/>
                </a:solidFill>
                <a:latin typeface="Times New Roman" panose="02020603050405020304" pitchFamily="18" charset="0"/>
                <a:cs typeface="Times New Roman" panose="02020603050405020304" pitchFamily="18" charset="0"/>
              </a:rPr>
              <a:t>．</a:t>
            </a:r>
            <a:r>
              <a:rPr lang="en-US" altLang="zh-CN" sz="2400" b="1" i="1" dirty="0">
                <a:solidFill>
                  <a:schemeClr val="bg2"/>
                </a:solidFill>
                <a:latin typeface="Times New Roman" panose="02020603050405020304" pitchFamily="18" charset="0"/>
                <a:cs typeface="Times New Roman" panose="02020603050405020304" pitchFamily="18" charset="0"/>
              </a:rPr>
              <a:t>k</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i="1" dirty="0">
                <a:solidFill>
                  <a:schemeClr val="bg2"/>
                </a:solidFill>
                <a:latin typeface="Times New Roman" panose="02020603050405020304" pitchFamily="18" charset="0"/>
                <a:cs typeface="Times New Roman" panose="02020603050405020304" pitchFamily="18" charset="0"/>
              </a:rPr>
              <a:t>n</a:t>
            </a:r>
            <a:r>
              <a:rPr lang="en-US" altLang="zh-CN" sz="2400" b="1" dirty="0">
                <a:solidFill>
                  <a:schemeClr val="bg2"/>
                </a:solidFill>
                <a:latin typeface="Times New Roman" panose="02020603050405020304" pitchFamily="18" charset="0"/>
                <a:cs typeface="Times New Roman" panose="02020603050405020304" pitchFamily="18" charset="0"/>
              </a:rPr>
              <a:t> </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2</a:t>
            </a:r>
            <a:r>
              <a:rPr lang="zh-CN" altLang="en-US" sz="2400" b="1" dirty="0">
                <a:solidFill>
                  <a:schemeClr val="bg2"/>
                </a:solidFill>
                <a:latin typeface="Times New Roman" panose="02020603050405020304" pitchFamily="18" charset="0"/>
                <a:cs typeface="Times New Roman" panose="02020603050405020304" pitchFamily="18" charset="0"/>
              </a:rPr>
              <a:t>．</a:t>
            </a:r>
            <a:r>
              <a:rPr lang="en-US" altLang="zh-CN" sz="2400" b="1" dirty="0">
                <a:solidFill>
                  <a:schemeClr val="bg2"/>
                </a:solidFill>
                <a:latin typeface="Times New Roman" panose="02020603050405020304" pitchFamily="18" charset="0"/>
                <a:cs typeface="Times New Roman" panose="02020603050405020304" pitchFamily="18" charset="0"/>
              </a:rPr>
              <a:t>while  </a:t>
            </a:r>
            <a:r>
              <a:rPr lang="en-US" altLang="zh-CN" sz="2400" b="1" i="1" dirty="0">
                <a:solidFill>
                  <a:schemeClr val="bg2"/>
                </a:solidFill>
                <a:latin typeface="Times New Roman" panose="02020603050405020304" pitchFamily="18" charset="0"/>
                <a:cs typeface="Times New Roman" panose="02020603050405020304" pitchFamily="18" charset="0"/>
              </a:rPr>
              <a:t>k </a:t>
            </a:r>
            <a:r>
              <a:rPr lang="en-US" altLang="zh-CN" sz="2400" b="1" dirty="0">
                <a:solidFill>
                  <a:schemeClr val="bg2"/>
                </a:solidFill>
                <a:latin typeface="Times New Roman" panose="02020603050405020304" pitchFamily="18" charset="0"/>
                <a:cs typeface="Times New Roman" panose="02020603050405020304" pitchFamily="18" charset="0"/>
              </a:rPr>
              <a:t>&gt;3  do </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3</a:t>
            </a:r>
            <a:r>
              <a:rPr lang="zh-CN" altLang="en-US" sz="2400" b="1" dirty="0">
                <a:solidFill>
                  <a:schemeClr val="bg2"/>
                </a:solidFill>
                <a:latin typeface="Times New Roman" panose="02020603050405020304" pitchFamily="18" charset="0"/>
                <a:cs typeface="Times New Roman" panose="02020603050405020304" pitchFamily="18" charset="0"/>
              </a:rPr>
              <a:t>．</a:t>
            </a:r>
            <a:r>
              <a:rPr lang="en-US" altLang="zh-CN" sz="2400" b="1" dirty="0">
                <a:solidFill>
                  <a:schemeClr val="bg2"/>
                </a:solidFill>
                <a:latin typeface="Times New Roman" panose="02020603050405020304" pitchFamily="18" charset="0"/>
                <a:cs typeface="Times New Roman" panose="02020603050405020304" pitchFamily="18" charset="0"/>
              </a:rPr>
              <a:t>    </a:t>
            </a:r>
            <a:r>
              <a:rPr lang="zh-CN" altLang="en-US" sz="2400" b="1" dirty="0">
                <a:solidFill>
                  <a:schemeClr val="bg2"/>
                </a:solidFill>
                <a:latin typeface="Times New Roman" panose="02020603050405020304" pitchFamily="18" charset="0"/>
                <a:cs typeface="Times New Roman" panose="02020603050405020304" pitchFamily="18" charset="0"/>
              </a:rPr>
              <a:t>将芯片分成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chemeClr val="bg2"/>
                </a:solidFill>
                <a:latin typeface="Times New Roman" panose="02020603050405020304" pitchFamily="18" charset="0"/>
                <a:cs typeface="Times New Roman" panose="02020603050405020304" pitchFamily="18" charset="0"/>
              </a:rPr>
              <a:t>k</a:t>
            </a:r>
            <a:r>
              <a:rPr lang="en-US" altLang="zh-CN" sz="2400" b="1" dirty="0">
                <a:solidFill>
                  <a:schemeClr val="bg2"/>
                </a:solidFill>
                <a:latin typeface="Times New Roman" panose="02020603050405020304" pitchFamily="18" charset="0"/>
                <a:cs typeface="Times New Roman" panose="02020603050405020304" pitchFamily="18" charset="0"/>
              </a:rPr>
              <a:t>/2</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 </a:t>
            </a:r>
            <a:r>
              <a:rPr lang="zh-CN" altLang="en-US" sz="2400" b="1" dirty="0">
                <a:solidFill>
                  <a:schemeClr val="bg2"/>
                </a:solidFill>
                <a:latin typeface="Times New Roman" panose="02020603050405020304" pitchFamily="18" charset="0"/>
                <a:cs typeface="Times New Roman" panose="02020603050405020304" pitchFamily="18" charset="0"/>
              </a:rPr>
              <a:t>组</a:t>
            </a:r>
            <a:r>
              <a:rPr lang="en-US" altLang="zh-CN" sz="2400" b="1" dirty="0">
                <a:solidFill>
                  <a:schemeClr val="bg2"/>
                </a:solidFill>
                <a:latin typeface="Times New Roman" panose="02020603050405020304" pitchFamily="18" charset="0"/>
                <a:cs typeface="Times New Roman" panose="02020603050405020304" pitchFamily="18" charset="0"/>
              </a:rPr>
              <a:t>   // </a:t>
            </a:r>
            <a:r>
              <a:rPr lang="zh-CN" altLang="en-US" sz="2400" b="1" dirty="0">
                <a:solidFill>
                  <a:schemeClr val="bg2"/>
                </a:solidFill>
                <a:latin typeface="Times New Roman" panose="02020603050405020304" pitchFamily="18" charset="0"/>
                <a:cs typeface="Times New Roman" panose="02020603050405020304" pitchFamily="18" charset="0"/>
              </a:rPr>
              <a:t>如有轮空芯片，特殊处理</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4</a:t>
            </a:r>
            <a:r>
              <a:rPr lang="zh-CN" altLang="en-US" sz="2400" b="1" dirty="0">
                <a:solidFill>
                  <a:schemeClr val="bg2"/>
                </a:solidFill>
                <a:latin typeface="Times New Roman" panose="02020603050405020304" pitchFamily="18" charset="0"/>
                <a:cs typeface="Times New Roman" panose="02020603050405020304" pitchFamily="18" charset="0"/>
              </a:rPr>
              <a:t>．</a:t>
            </a:r>
            <a:r>
              <a:rPr lang="en-US" altLang="zh-CN" sz="2400" b="1" dirty="0">
                <a:solidFill>
                  <a:schemeClr val="bg2"/>
                </a:solidFill>
                <a:latin typeface="Times New Roman" panose="02020603050405020304" pitchFamily="18" charset="0"/>
                <a:cs typeface="Times New Roman" panose="02020603050405020304" pitchFamily="18" charset="0"/>
              </a:rPr>
              <a:t>    for  </a:t>
            </a:r>
            <a:r>
              <a:rPr lang="en-US" altLang="zh-CN" sz="2400" b="1" i="1" dirty="0">
                <a:solidFill>
                  <a:schemeClr val="bg2"/>
                </a:solidFill>
                <a:latin typeface="Times New Roman" panose="02020603050405020304" pitchFamily="18" charset="0"/>
                <a:cs typeface="Times New Roman" panose="02020603050405020304" pitchFamily="18" charset="0"/>
              </a:rPr>
              <a:t>i </a:t>
            </a:r>
            <a:r>
              <a:rPr lang="en-US" altLang="zh-CN" sz="2400" b="1" dirty="0">
                <a:solidFill>
                  <a:schemeClr val="bg2"/>
                </a:solidFill>
                <a:latin typeface="Times New Roman" panose="02020603050405020304" pitchFamily="18" charset="0"/>
                <a:cs typeface="Times New Roman" panose="02020603050405020304" pitchFamily="18" charset="0"/>
              </a:rPr>
              <a:t>=1  to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chemeClr val="bg2"/>
                </a:solidFill>
                <a:latin typeface="Times New Roman" panose="02020603050405020304" pitchFamily="18" charset="0"/>
                <a:cs typeface="Times New Roman" panose="02020603050405020304" pitchFamily="18" charset="0"/>
              </a:rPr>
              <a:t>k</a:t>
            </a:r>
            <a:r>
              <a:rPr lang="en-US" altLang="zh-CN" sz="2400" b="1" dirty="0">
                <a:solidFill>
                  <a:schemeClr val="bg2"/>
                </a:solidFill>
                <a:latin typeface="Times New Roman" panose="02020603050405020304" pitchFamily="18" charset="0"/>
                <a:cs typeface="Times New Roman" panose="02020603050405020304" pitchFamily="18" charset="0"/>
              </a:rPr>
              <a:t>/2</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cs typeface="Times New Roman" panose="02020603050405020304" pitchFamily="18" charset="0"/>
              </a:rPr>
              <a:t>  do </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                if  2</a:t>
            </a:r>
            <a:r>
              <a:rPr lang="zh-CN" altLang="en-US" sz="2400" b="1" dirty="0">
                <a:solidFill>
                  <a:schemeClr val="bg2"/>
                </a:solidFill>
                <a:latin typeface="Times New Roman" panose="02020603050405020304" pitchFamily="18" charset="0"/>
                <a:cs typeface="Times New Roman" panose="02020603050405020304" pitchFamily="18" charset="0"/>
              </a:rPr>
              <a:t>片</a:t>
            </a:r>
            <a:r>
              <a:rPr lang="zh-CN" altLang="en-US" sz="2400" b="1" dirty="0" smtClean="0">
                <a:solidFill>
                  <a:schemeClr val="bg2"/>
                </a:solidFill>
                <a:latin typeface="Times New Roman" panose="02020603050405020304" pitchFamily="18" charset="0"/>
                <a:cs typeface="Times New Roman" panose="02020603050405020304" pitchFamily="18" charset="0"/>
              </a:rPr>
              <a:t>好  </a:t>
            </a:r>
            <a:r>
              <a:rPr lang="en-US" altLang="zh-CN" sz="2400" b="1" dirty="0" smtClean="0">
                <a:solidFill>
                  <a:schemeClr val="bg2"/>
                </a:solidFill>
                <a:latin typeface="Times New Roman" panose="02020603050405020304" pitchFamily="18" charset="0"/>
                <a:cs typeface="Times New Roman" panose="02020603050405020304" pitchFamily="18" charset="0"/>
              </a:rPr>
              <a:t>then  </a:t>
            </a:r>
            <a:r>
              <a:rPr lang="zh-CN" altLang="en-US" sz="2400" b="1" dirty="0" smtClean="0">
                <a:solidFill>
                  <a:schemeClr val="bg2"/>
                </a:solidFill>
                <a:latin typeface="Times New Roman" panose="02020603050405020304" pitchFamily="18" charset="0"/>
                <a:cs typeface="Times New Roman" panose="02020603050405020304" pitchFamily="18" charset="0"/>
              </a:rPr>
              <a:t>任</a:t>
            </a:r>
            <a:r>
              <a:rPr lang="zh-CN" altLang="en-US" sz="2400" b="1" dirty="0">
                <a:solidFill>
                  <a:schemeClr val="bg2"/>
                </a:solidFill>
                <a:latin typeface="Times New Roman" panose="02020603050405020304" pitchFamily="18" charset="0"/>
                <a:cs typeface="Times New Roman" panose="02020603050405020304" pitchFamily="18" charset="0"/>
              </a:rPr>
              <a:t>取</a:t>
            </a:r>
            <a:r>
              <a:rPr lang="en-US" altLang="zh-CN" sz="2400" b="1" dirty="0">
                <a:solidFill>
                  <a:schemeClr val="bg2"/>
                </a:solidFill>
                <a:latin typeface="Times New Roman" panose="02020603050405020304" pitchFamily="18" charset="0"/>
                <a:cs typeface="Times New Roman" panose="02020603050405020304" pitchFamily="18" charset="0"/>
              </a:rPr>
              <a:t>1</a:t>
            </a:r>
            <a:r>
              <a:rPr lang="zh-CN" altLang="en-US" sz="2400" b="1" dirty="0">
                <a:solidFill>
                  <a:schemeClr val="bg2"/>
                </a:solidFill>
                <a:latin typeface="Times New Roman" panose="02020603050405020304" pitchFamily="18" charset="0"/>
                <a:cs typeface="Times New Roman" panose="02020603050405020304" pitchFamily="18" charset="0"/>
              </a:rPr>
              <a:t>片留下</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                else  2</a:t>
            </a:r>
            <a:r>
              <a:rPr lang="zh-CN" altLang="en-US" sz="2400" b="1" dirty="0">
                <a:solidFill>
                  <a:schemeClr val="bg2"/>
                </a:solidFill>
                <a:latin typeface="Times New Roman" panose="02020603050405020304" pitchFamily="18" charset="0"/>
                <a:cs typeface="Times New Roman" panose="02020603050405020304" pitchFamily="18" charset="0"/>
              </a:rPr>
              <a:t>片同时丢掉</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5</a:t>
            </a:r>
            <a:r>
              <a:rPr lang="zh-CN" altLang="en-US" sz="2400" b="1" dirty="0">
                <a:solidFill>
                  <a:schemeClr val="bg2"/>
                </a:solidFill>
                <a:latin typeface="Times New Roman" panose="02020603050405020304" pitchFamily="18" charset="0"/>
                <a:cs typeface="Times New Roman" panose="02020603050405020304" pitchFamily="18" charset="0"/>
              </a:rPr>
              <a:t>．</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i="1" dirty="0">
                <a:solidFill>
                  <a:schemeClr val="bg2"/>
                </a:solidFill>
                <a:latin typeface="Times New Roman" panose="02020603050405020304" pitchFamily="18" charset="0"/>
                <a:cs typeface="Times New Roman" panose="02020603050405020304" pitchFamily="18" charset="0"/>
              </a:rPr>
              <a:t>k</a:t>
            </a:r>
            <a:r>
              <a:rPr lang="en-US" altLang="zh-CN" sz="2400" b="1" dirty="0">
                <a:solidFill>
                  <a:schemeClr val="bg2"/>
                </a:solidFill>
                <a:latin typeface="Times New Roman" panose="02020603050405020304" pitchFamily="18" charset="0"/>
                <a:cs typeface="Times New Roman" panose="02020603050405020304" pitchFamily="18" charset="0"/>
              </a:rPr>
              <a:t> </a:t>
            </a:r>
            <a:r>
              <a:rPr lang="en-US" altLang="zh-CN"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a:solidFill>
                  <a:schemeClr val="bg2"/>
                </a:solidFill>
                <a:latin typeface="Times New Roman" panose="02020603050405020304" pitchFamily="18" charset="0"/>
                <a:cs typeface="Times New Roman" panose="02020603050405020304" pitchFamily="18" charset="0"/>
              </a:rPr>
              <a:t>剩下的芯片数</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6</a:t>
            </a:r>
            <a:r>
              <a:rPr lang="zh-CN" altLang="en-US" sz="2400" b="1" dirty="0">
                <a:solidFill>
                  <a:schemeClr val="bg2"/>
                </a:solidFill>
                <a:latin typeface="Times New Roman" panose="02020603050405020304" pitchFamily="18" charset="0"/>
                <a:cs typeface="Times New Roman" panose="02020603050405020304" pitchFamily="18" charset="0"/>
              </a:rPr>
              <a:t>．</a:t>
            </a:r>
            <a:r>
              <a:rPr lang="en-US" altLang="zh-CN" sz="2400" b="1" dirty="0">
                <a:solidFill>
                  <a:schemeClr val="bg2"/>
                </a:solidFill>
                <a:latin typeface="Times New Roman" panose="02020603050405020304" pitchFamily="18" charset="0"/>
                <a:cs typeface="Times New Roman" panose="02020603050405020304" pitchFamily="18" charset="0"/>
              </a:rPr>
              <a:t>if  </a:t>
            </a:r>
            <a:r>
              <a:rPr lang="en-US" altLang="zh-CN" sz="2400" b="1" i="1" dirty="0">
                <a:solidFill>
                  <a:schemeClr val="bg2"/>
                </a:solidFill>
                <a:latin typeface="Times New Roman" panose="02020603050405020304" pitchFamily="18" charset="0"/>
                <a:cs typeface="Times New Roman" panose="02020603050405020304" pitchFamily="18" charset="0"/>
              </a:rPr>
              <a:t>k</a:t>
            </a:r>
            <a:r>
              <a:rPr lang="en-US" altLang="zh-CN" sz="2400" b="1" dirty="0">
                <a:solidFill>
                  <a:schemeClr val="bg2"/>
                </a:solidFill>
                <a:latin typeface="Times New Roman" panose="02020603050405020304" pitchFamily="18" charset="0"/>
                <a:cs typeface="Times New Roman" panose="02020603050405020304" pitchFamily="18" charset="0"/>
              </a:rPr>
              <a:t> =3           </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       then  </a:t>
            </a:r>
            <a:r>
              <a:rPr lang="zh-CN" altLang="en-US" sz="2400" b="1" dirty="0">
                <a:solidFill>
                  <a:schemeClr val="bg2"/>
                </a:solidFill>
                <a:latin typeface="Times New Roman" panose="02020603050405020304" pitchFamily="18" charset="0"/>
                <a:cs typeface="Times New Roman" panose="02020603050405020304" pitchFamily="18" charset="0"/>
              </a:rPr>
              <a:t>任取</a:t>
            </a:r>
            <a:r>
              <a:rPr lang="en-US" altLang="zh-CN" sz="2400" b="1" dirty="0">
                <a:solidFill>
                  <a:schemeClr val="bg2"/>
                </a:solidFill>
                <a:latin typeface="Times New Roman" panose="02020603050405020304" pitchFamily="18" charset="0"/>
                <a:cs typeface="Times New Roman" panose="02020603050405020304" pitchFamily="18" charset="0"/>
              </a:rPr>
              <a:t>2</a:t>
            </a:r>
            <a:r>
              <a:rPr lang="zh-CN" altLang="en-US" sz="2400" b="1" dirty="0">
                <a:solidFill>
                  <a:schemeClr val="bg2"/>
                </a:solidFill>
                <a:latin typeface="Times New Roman" panose="02020603050405020304" pitchFamily="18" charset="0"/>
                <a:cs typeface="Times New Roman" panose="02020603050405020304" pitchFamily="18" charset="0"/>
              </a:rPr>
              <a:t>片芯片测试</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            if  1</a:t>
            </a:r>
            <a:r>
              <a:rPr lang="zh-CN" altLang="en-US" sz="2400" b="1" dirty="0">
                <a:solidFill>
                  <a:schemeClr val="bg2"/>
                </a:solidFill>
                <a:latin typeface="Times New Roman" panose="02020603050405020304" pitchFamily="18" charset="0"/>
                <a:cs typeface="Times New Roman" panose="02020603050405020304" pitchFamily="18" charset="0"/>
              </a:rPr>
              <a:t>好</a:t>
            </a:r>
            <a:r>
              <a:rPr lang="en-US" altLang="zh-CN" sz="2400" b="1" dirty="0">
                <a:solidFill>
                  <a:schemeClr val="bg2"/>
                </a:solidFill>
                <a:latin typeface="Times New Roman" panose="02020603050405020304" pitchFamily="18" charset="0"/>
                <a:cs typeface="Times New Roman" panose="02020603050405020304" pitchFamily="18" charset="0"/>
              </a:rPr>
              <a:t>1</a:t>
            </a:r>
            <a:r>
              <a:rPr lang="zh-CN" altLang="en-US" sz="2400" b="1" dirty="0">
                <a:solidFill>
                  <a:schemeClr val="bg2"/>
                </a:solidFill>
                <a:latin typeface="Times New Roman" panose="02020603050405020304" pitchFamily="18" charset="0"/>
                <a:cs typeface="Times New Roman" panose="02020603050405020304" pitchFamily="18" charset="0"/>
              </a:rPr>
              <a:t>坏  </a:t>
            </a:r>
            <a:r>
              <a:rPr lang="en-US" altLang="zh-CN" sz="2400" b="1" dirty="0">
                <a:solidFill>
                  <a:schemeClr val="bg2"/>
                </a:solidFill>
                <a:latin typeface="Times New Roman" panose="02020603050405020304" pitchFamily="18" charset="0"/>
                <a:cs typeface="Times New Roman" panose="02020603050405020304" pitchFamily="18" charset="0"/>
              </a:rPr>
              <a:t>then</a:t>
            </a:r>
            <a:r>
              <a:rPr lang="zh-CN" altLang="en-US" sz="2400" b="1" dirty="0">
                <a:solidFill>
                  <a:schemeClr val="bg2"/>
                </a:solidFill>
                <a:latin typeface="Times New Roman" panose="02020603050405020304" pitchFamily="18" charset="0"/>
                <a:cs typeface="Times New Roman" panose="02020603050405020304" pitchFamily="18" charset="0"/>
              </a:rPr>
              <a:t> 取没测的芯片</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            else  </a:t>
            </a:r>
            <a:r>
              <a:rPr lang="zh-CN" altLang="en-US" sz="2400" b="1" dirty="0">
                <a:solidFill>
                  <a:schemeClr val="bg2"/>
                </a:solidFill>
                <a:latin typeface="Times New Roman" panose="02020603050405020304" pitchFamily="18" charset="0"/>
                <a:cs typeface="Times New Roman" panose="02020603050405020304" pitchFamily="18" charset="0"/>
              </a:rPr>
              <a:t>任取</a:t>
            </a:r>
            <a:r>
              <a:rPr lang="en-US" altLang="zh-CN" sz="2400" b="1" dirty="0">
                <a:solidFill>
                  <a:schemeClr val="bg2"/>
                </a:solidFill>
                <a:latin typeface="Times New Roman" panose="02020603050405020304" pitchFamily="18" charset="0"/>
                <a:cs typeface="Times New Roman" panose="02020603050405020304" pitchFamily="18" charset="0"/>
              </a:rPr>
              <a:t>1</a:t>
            </a:r>
            <a:r>
              <a:rPr lang="zh-CN" altLang="en-US" sz="2400" b="1" dirty="0">
                <a:solidFill>
                  <a:schemeClr val="bg2"/>
                </a:solidFill>
                <a:latin typeface="Times New Roman" panose="02020603050405020304" pitchFamily="18" charset="0"/>
                <a:cs typeface="Times New Roman" panose="02020603050405020304" pitchFamily="18" charset="0"/>
              </a:rPr>
              <a:t>片被测芯片</a:t>
            </a:r>
            <a:endParaRPr lang="zh-CN" altLang="en-US" sz="2400" b="1" dirty="0">
              <a:solidFill>
                <a:schemeClr val="bg2"/>
              </a:solidFill>
              <a:latin typeface="Times New Roman" panose="02020603050405020304" pitchFamily="18" charset="0"/>
              <a:cs typeface="Times New Roman" panose="02020603050405020304" pitchFamily="18" charset="0"/>
            </a:endParaRPr>
          </a:p>
          <a:p>
            <a:pPr latinLnBrk="0">
              <a:lnSpc>
                <a:spcPct val="90000"/>
              </a:lnSpc>
              <a:spcBef>
                <a:spcPts val="300"/>
              </a:spcBef>
              <a:buNone/>
            </a:pPr>
            <a:r>
              <a:rPr lang="en-US" altLang="zh-CN" sz="2400" b="1" dirty="0">
                <a:solidFill>
                  <a:schemeClr val="bg2"/>
                </a:solidFill>
                <a:latin typeface="Times New Roman" panose="02020603050405020304" pitchFamily="18" charset="0"/>
                <a:cs typeface="Times New Roman" panose="02020603050405020304" pitchFamily="18" charset="0"/>
              </a:rPr>
              <a:t>7</a:t>
            </a:r>
            <a:r>
              <a:rPr lang="zh-CN" altLang="en-US" sz="2400" b="1" dirty="0">
                <a:solidFill>
                  <a:schemeClr val="bg2"/>
                </a:solidFill>
                <a:latin typeface="Times New Roman" panose="02020603050405020304" pitchFamily="18" charset="0"/>
                <a:cs typeface="Times New Roman" panose="02020603050405020304" pitchFamily="18" charset="0"/>
              </a:rPr>
              <a:t>．</a:t>
            </a:r>
            <a:r>
              <a:rPr lang="en-US" altLang="zh-CN" sz="2400" b="1" dirty="0">
                <a:solidFill>
                  <a:schemeClr val="bg2"/>
                </a:solidFill>
                <a:latin typeface="Times New Roman" panose="02020603050405020304" pitchFamily="18" charset="0"/>
                <a:cs typeface="Times New Roman" panose="02020603050405020304" pitchFamily="18" charset="0"/>
              </a:rPr>
              <a:t>if  </a:t>
            </a:r>
            <a:r>
              <a:rPr lang="en-US" altLang="zh-CN" sz="2400" b="1" i="1" dirty="0">
                <a:solidFill>
                  <a:schemeClr val="bg2"/>
                </a:solidFill>
                <a:latin typeface="Times New Roman" panose="02020603050405020304" pitchFamily="18" charset="0"/>
                <a:cs typeface="Times New Roman" panose="02020603050405020304" pitchFamily="18" charset="0"/>
              </a:rPr>
              <a:t>k </a:t>
            </a:r>
            <a:r>
              <a:rPr lang="en-US" altLang="zh-CN" sz="2400" b="1" dirty="0">
                <a:solidFill>
                  <a:schemeClr val="bg2"/>
                </a:solidFill>
                <a:latin typeface="Times New Roman" panose="02020603050405020304" pitchFamily="18" charset="0"/>
                <a:cs typeface="Times New Roman" panose="02020603050405020304" pitchFamily="18" charset="0"/>
              </a:rPr>
              <a:t>=2 or 1 then </a:t>
            </a:r>
            <a:r>
              <a:rPr lang="zh-CN" altLang="en-US" sz="2400" b="1" dirty="0">
                <a:solidFill>
                  <a:schemeClr val="bg2"/>
                </a:solidFill>
                <a:latin typeface="Times New Roman" panose="02020603050405020304" pitchFamily="18" charset="0"/>
                <a:cs typeface="Times New Roman" panose="02020603050405020304" pitchFamily="18" charset="0"/>
              </a:rPr>
              <a:t>任取</a:t>
            </a:r>
            <a:r>
              <a:rPr lang="en-US" altLang="zh-CN" sz="2400" b="1" dirty="0">
                <a:solidFill>
                  <a:schemeClr val="bg2"/>
                </a:solidFill>
                <a:latin typeface="Times New Roman" panose="02020603050405020304" pitchFamily="18" charset="0"/>
                <a:cs typeface="Times New Roman" panose="02020603050405020304" pitchFamily="18" charset="0"/>
              </a:rPr>
              <a:t>1</a:t>
            </a:r>
            <a:r>
              <a:rPr lang="zh-CN" altLang="en-US" sz="2400" b="1" dirty="0">
                <a:solidFill>
                  <a:schemeClr val="bg2"/>
                </a:solidFill>
                <a:latin typeface="Times New Roman" panose="02020603050405020304" pitchFamily="18" charset="0"/>
                <a:cs typeface="Times New Roman" panose="02020603050405020304" pitchFamily="18" charset="0"/>
              </a:rPr>
              <a:t>片 </a:t>
            </a:r>
            <a:endParaRPr lang="zh-CN" altLang="en-US" sz="2400" b="1" dirty="0">
              <a:solidFill>
                <a:schemeClr val="bg2"/>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8" name="20 7"/>
          <p:cNvPicPr>
            <a:picLocks noChangeAspect="1"/>
          </p:cNvPicPr>
          <p:nvPr/>
        </p:nvPicPr>
        <p:blipFill>
          <a:blip r:embed="rId1"/>
          <a:stretch>
            <a:fillRect/>
          </a:stretch>
        </p:blipFill>
        <p:spPr>
          <a:xfrm>
            <a:off x="3192780" y="1762125"/>
            <a:ext cx="1933575" cy="847725"/>
          </a:xfrm>
          <a:prstGeom prst="rect">
            <a:avLst/>
          </a:prstGeom>
        </p:spPr>
      </p:pic>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21690" y="1515110"/>
            <a:ext cx="7776845" cy="534035"/>
          </a:xfrm>
          <a:prstGeom prst="rect">
            <a:avLst/>
          </a:prstGeom>
          <a:noFill/>
        </p:spPr>
        <p:txBody>
          <a:bodyPr wrap="square" rtlCol="0" anchor="t">
            <a:spAutoFit/>
          </a:bodyPr>
          <a:lstStyle/>
          <a:p>
            <a:pPr marL="177165" indent="-177165">
              <a:lnSpc>
                <a:spcPct val="120000"/>
              </a:lnSpc>
              <a:spcBef>
                <a:spcPts val="0"/>
              </a:spcBef>
              <a:spcAft>
                <a:spcPts val="0"/>
              </a:spcAft>
              <a:buFont typeface="Arial" panose="020B0604020202020204" pitchFamily="34" charset="0"/>
              <a:buChar char="•"/>
            </a:pPr>
            <a:r>
              <a:rPr lang="zh-CN" altLang="en-US">
                <a:solidFill>
                  <a:schemeClr val="bg2"/>
                </a:solidFill>
              </a:rPr>
              <a:t>伪码描述：</a:t>
            </a:r>
            <a:r>
              <a:rPr lang="zh-CN" altLang="en-US" b="1" dirty="0">
                <a:solidFill>
                  <a:schemeClr val="bg2"/>
                </a:solidFill>
                <a:cs typeface="Times New Roman" panose="02020603050405020304" pitchFamily="18" charset="0"/>
                <a:sym typeface="+mn-ea"/>
              </a:rPr>
              <a:t>算法</a:t>
            </a:r>
            <a:r>
              <a:rPr lang="en-US" altLang="zh-CN" b="1" dirty="0">
                <a:solidFill>
                  <a:schemeClr val="bg2"/>
                </a:solidFill>
                <a:cs typeface="Times New Roman" panose="02020603050405020304" pitchFamily="18" charset="0"/>
                <a:sym typeface="+mn-ea"/>
              </a:rPr>
              <a:t>2.3  Test(</a:t>
            </a:r>
            <a:r>
              <a:rPr lang="en-US" altLang="zh-CN" b="1" i="1" dirty="0">
                <a:solidFill>
                  <a:schemeClr val="bg2"/>
                </a:solidFill>
                <a:cs typeface="Times New Roman" panose="02020603050405020304" pitchFamily="18" charset="0"/>
                <a:sym typeface="+mn-ea"/>
              </a:rPr>
              <a:t>n</a:t>
            </a:r>
            <a:r>
              <a:rPr lang="en-US" altLang="zh-CN" b="1" dirty="0">
                <a:solidFill>
                  <a:schemeClr val="bg2"/>
                </a:solidFill>
                <a:cs typeface="Times New Roman" panose="02020603050405020304" pitchFamily="18" charset="0"/>
                <a:sym typeface="+mn-ea"/>
              </a:rPr>
              <a:t>)</a:t>
            </a:r>
            <a:r>
              <a:rPr lang="zh-CN" altLang="en-US">
                <a:solidFill>
                  <a:schemeClr val="bg2"/>
                </a:solidFill>
              </a:rPr>
              <a:t> </a:t>
            </a:r>
            <a:endParaRPr lang="zh-CN" altLang="en-US">
              <a:solidFill>
                <a:schemeClr val="bg2"/>
              </a:solidFill>
            </a:endParaRPr>
          </a:p>
        </p:txBody>
      </p:sp>
      <p:sp>
        <p:nvSpPr>
          <p:cNvPr id="9" name="椭圆形标注 8"/>
          <p:cNvSpPr/>
          <p:nvPr/>
        </p:nvSpPr>
        <p:spPr>
          <a:xfrm>
            <a:off x="4716145" y="4120515"/>
            <a:ext cx="1417320" cy="988060"/>
          </a:xfrm>
          <a:prstGeom prst="wedgeEllipseCallout">
            <a:avLst>
              <a:gd name="adj1" fmla="val -227060"/>
              <a:gd name="adj2" fmla="val 9704"/>
            </a:avLst>
          </a:prstGeom>
          <a:solidFill>
            <a:schemeClr val="bg1">
              <a:lumMod val="60000"/>
              <a:lumOff val="40000"/>
            </a:schemeClr>
          </a:solidFill>
          <a:ln w="12700" cap="sq" cmpd="sng" algn="ctr">
            <a:solidFill>
              <a:schemeClr val="tx1"/>
            </a:solidFill>
            <a:prstDash val="solid"/>
            <a:round/>
            <a:headEnd type="none" w="sm" len="sm"/>
            <a:tailEnd type="none" w="sm" len="sm"/>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递归结束</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a:solidFill>
                  <a:schemeClr val="accent2"/>
                </a:solidFill>
                <a:sym typeface="+mn-ea"/>
              </a:rPr>
              <a:t>2.2 </a:t>
            </a:r>
            <a:r>
              <a:rPr kumimoji="0" lang="zh-CN" altLang="en-US" kern="1200" dirty="0">
                <a:solidFill>
                  <a:schemeClr val="accent2"/>
                </a:solidFill>
                <a:sym typeface="+mn-ea"/>
              </a:rPr>
              <a:t>分治算法的分析技术</a:t>
            </a:r>
            <a:endParaRPr kumimoji="0" lang="zh-CN" altLang="en-US" kern="1200" noProof="0" dirty="0" smtClean="0">
              <a:ln>
                <a:noFill/>
              </a:ln>
              <a:solidFill>
                <a:schemeClr val="accent2"/>
              </a:solidFill>
              <a:effectLst/>
              <a:uLnTx/>
              <a:uFillTx/>
              <a:sym typeface="+mn-ea"/>
            </a:endParaRPr>
          </a:p>
        </p:txBody>
      </p:sp>
      <p:sp>
        <p:nvSpPr>
          <p:cNvPr id="3" name="文本框 2"/>
          <p:cNvSpPr txBox="1"/>
          <p:nvPr/>
        </p:nvSpPr>
        <p:spPr>
          <a:xfrm>
            <a:off x="821690" y="1515110"/>
            <a:ext cx="7776845" cy="534035"/>
          </a:xfrm>
          <a:prstGeom prst="rect">
            <a:avLst/>
          </a:prstGeom>
          <a:noFill/>
        </p:spPr>
        <p:txBody>
          <a:bodyPr wrap="square" rtlCol="0" anchor="t">
            <a:spAutoFit/>
          </a:bodyPr>
          <a:lstStyle/>
          <a:p>
            <a:pPr marL="177165" indent="-177165">
              <a:lnSpc>
                <a:spcPct val="120000"/>
              </a:lnSpc>
              <a:spcBef>
                <a:spcPts val="0"/>
              </a:spcBef>
              <a:spcAft>
                <a:spcPts val="0"/>
              </a:spcAft>
              <a:buFont typeface="Arial" panose="020B0604020202020204" pitchFamily="34" charset="0"/>
              <a:buChar char="•"/>
            </a:pPr>
            <a:r>
              <a:rPr lang="zh-CN" altLang="en-US">
                <a:solidFill>
                  <a:schemeClr val="bg2"/>
                </a:solidFill>
              </a:rPr>
              <a:t>时间复杂度分析 </a:t>
            </a:r>
            <a:endParaRPr lang="zh-CN" altLang="en-US">
              <a:solidFill>
                <a:schemeClr val="bg2"/>
              </a:solidFill>
            </a:endParaRPr>
          </a:p>
        </p:txBody>
      </p:sp>
      <p:pic>
        <p:nvPicPr>
          <p:cNvPr id="4" name="20 3"/>
          <p:cNvPicPr>
            <a:picLocks noChangeAspect="1"/>
          </p:cNvPicPr>
          <p:nvPr/>
        </p:nvPicPr>
        <p:blipFill>
          <a:blip r:embed="rId1"/>
          <a:stretch>
            <a:fillRect/>
          </a:stretch>
        </p:blipFill>
        <p:spPr>
          <a:xfrm>
            <a:off x="1001395" y="2175510"/>
            <a:ext cx="4198620" cy="1399540"/>
          </a:xfrm>
          <a:prstGeom prst="rect">
            <a:avLst/>
          </a:prstGeom>
        </p:spPr>
      </p:pic>
      <p:pic>
        <p:nvPicPr>
          <p:cNvPr id="5" name="20 4"/>
          <p:cNvPicPr>
            <a:picLocks noChangeAspect="1"/>
          </p:cNvPicPr>
          <p:nvPr/>
        </p:nvPicPr>
        <p:blipFill>
          <a:blip r:embed="rId2"/>
          <a:stretch>
            <a:fillRect/>
          </a:stretch>
        </p:blipFill>
        <p:spPr>
          <a:xfrm>
            <a:off x="1001395" y="3646805"/>
            <a:ext cx="4505325" cy="1457325"/>
          </a:xfrm>
          <a:prstGeom prst="rect">
            <a:avLst/>
          </a:prstGeom>
        </p:spPr>
      </p:pic>
      <p:pic>
        <p:nvPicPr>
          <p:cNvPr id="6" name="20 5"/>
          <p:cNvPicPr>
            <a:picLocks noChangeAspect="1"/>
          </p:cNvPicPr>
          <p:nvPr/>
        </p:nvPicPr>
        <p:blipFill>
          <a:blip r:embed="rId3"/>
          <a:stretch>
            <a:fillRect/>
          </a:stretch>
        </p:blipFill>
        <p:spPr>
          <a:xfrm>
            <a:off x="1073150" y="5175885"/>
            <a:ext cx="3448050" cy="57150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DEFINEDINNAVIGATOR" val="True"/>
  <p:tag name="HOTSPOTTYPE" val="DefinedInNavigator"/>
  <p:tag name="BRANCHTO" val="257"/>
</p:tagLst>
</file>

<file path=ppt/theme/theme1.xml><?xml version="1.0" encoding="utf-8"?>
<a:theme xmlns:a="http://schemas.openxmlformats.org/drawingml/2006/main" name="1_个人主页 (标准)">
  <a:themeElements>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fontScheme name="个人主页 (标准)">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个人主页 (标准) 1">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EAEAEA"/>
        </a:hlink>
        <a:folHlink>
          <a:srgbClr val="A73737"/>
        </a:folHlink>
      </a:clrScheme>
      <a:clrMap bg1="dk2" tx1="lt1" bg2="dk1" tx2="lt2" accent1="accent1" accent2="accent2" accent3="accent3" accent4="accent4" accent5="accent5" accent6="accent6" hlink="hlink" folHlink="folHlink"/>
    </a:extraClrScheme>
    <a:extraClrScheme>
      <a:clrScheme name="个人主页 (标准) 2">
        <a:dk1>
          <a:srgbClr val="663300"/>
        </a:dk1>
        <a:lt1>
          <a:srgbClr val="FFFFFF"/>
        </a:lt1>
        <a:dk2>
          <a:srgbClr val="996633"/>
        </a:dk2>
        <a:lt2>
          <a:srgbClr val="868686"/>
        </a:lt2>
        <a:accent1>
          <a:srgbClr val="FF9900"/>
        </a:accent1>
        <a:accent2>
          <a:srgbClr val="CC6600"/>
        </a:accent2>
        <a:accent3>
          <a:srgbClr val="FFFFFF"/>
        </a:accent3>
        <a:accent4>
          <a:srgbClr val="562A00"/>
        </a:accent4>
        <a:accent5>
          <a:srgbClr val="FFCAAA"/>
        </a:accent5>
        <a:accent6>
          <a:srgbClr val="B95C00"/>
        </a:accent6>
        <a:hlink>
          <a:srgbClr val="FFCC00"/>
        </a:hlink>
        <a:folHlink>
          <a:srgbClr val="CCCCCC"/>
        </a:folHlink>
      </a:clrScheme>
      <a:clrMap bg1="lt1" tx1="dk1" bg2="lt2" tx2="dk2" accent1="accent1" accent2="accent2" accent3="accent3" accent4="accent4" accent5="accent5" accent6="accent6" hlink="hlink" folHlink="folHlink"/>
    </a:extraClrScheme>
    <a:extraClrScheme>
      <a:clrScheme name="个人主页 (标准)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Office\Templates\演示文稿\个人主页 (标准).pot</Template>
  <TotalTime>0</TotalTime>
  <Words>4691</Words>
  <Application>WPS 演示</Application>
  <PresentationFormat>全屏显示(4:3)</PresentationFormat>
  <Paragraphs>359</Paragraphs>
  <Slides>36</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36</vt:i4>
      </vt:variant>
    </vt:vector>
  </HeadingPairs>
  <TitlesOfParts>
    <vt:vector size="51" baseType="lpstr">
      <vt:lpstr>Arial</vt:lpstr>
      <vt:lpstr>宋体</vt:lpstr>
      <vt:lpstr>Wingdings</vt:lpstr>
      <vt:lpstr>Times New Roman</vt:lpstr>
      <vt:lpstr>Wingdings</vt:lpstr>
      <vt:lpstr>楷体</vt:lpstr>
      <vt:lpstr>Consolas</vt:lpstr>
      <vt:lpstr>楷体_GB2312</vt:lpstr>
      <vt:lpstr>仿宋</vt:lpstr>
      <vt:lpstr>新宋体</vt:lpstr>
      <vt:lpstr>微软雅黑</vt:lpstr>
      <vt:lpstr>Arial Unicode MS</vt:lpstr>
      <vt:lpstr>Symbol</vt:lpstr>
      <vt:lpstr>Symbol</vt:lpstr>
      <vt:lpstr>1_个人主页 (标准)</vt:lpstr>
      <vt:lpstr>第2章   分治策略</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PowerPoint 演示文稿</vt:lpstr>
      <vt:lpstr>PowerPoint 演示文稿</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2.1 分治策略的基本思想</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lpstr>2.2 分治算法的分析技术</vt:lpstr>
    </vt:vector>
  </TitlesOfParts>
  <Company>NEU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songby</dc:creator>
  <cp:lastModifiedBy>Administrator</cp:lastModifiedBy>
  <cp:revision>962</cp:revision>
  <cp:lastPrinted>1995-12-08T18:33:00Z</cp:lastPrinted>
  <dcterms:created xsi:type="dcterms:W3CDTF">2000-10-31T09:27:00Z</dcterms:created>
  <dcterms:modified xsi:type="dcterms:W3CDTF">2021-03-30T12:08:31Z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