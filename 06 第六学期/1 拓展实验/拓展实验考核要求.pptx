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sldIdLst>
    <p:sldId id="256" r:id="rId2"/>
    <p:sldId id="258" r:id="rId3"/>
    <p:sldId id="263" r:id="rId4"/>
    <p:sldId id="264" r:id="rId5"/>
    <p:sldId id="262" r:id="rId6"/>
    <p:sldId id="260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FBD7BC1-B88D-444B-8A1D-1746EADA77D6}">
          <p14:sldIdLst>
            <p14:sldId id="256"/>
          </p14:sldIdLst>
        </p14:section>
        <p14:section name="无标题节" id="{DC27F11E-055D-456D-894B-DB1DBFAA9C6E}">
          <p14:sldIdLst>
            <p14:sldId id="258"/>
            <p14:sldId id="263"/>
            <p14:sldId id="264"/>
            <p14:sldId id="262"/>
            <p14:sldId id="260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911" autoAdjust="0"/>
  </p:normalViewPr>
  <p:slideViewPr>
    <p:cSldViewPr snapToGrid="0">
      <p:cViewPr varScale="1">
        <p:scale>
          <a:sx n="90" d="100"/>
          <a:sy n="90" d="100"/>
        </p:scale>
        <p:origin x="132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0DBB-104A-4535-877E-2793706C4128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9584B-5DC3-4C83-9BC1-305F87222D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62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9584B-5DC3-4C83-9BC1-305F87222D7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79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367B6-635C-496C-872B-2D5A95AE5B6C}" type="datetime3">
              <a:rPr lang="zh-CN" altLang="en-US" smtClean="0"/>
              <a:t>2025年3月1日星期六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715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3102"/>
          </a:xfrm>
        </p:spPr>
        <p:txBody>
          <a:bodyPr/>
          <a:lstStyle>
            <a:lvl1pPr>
              <a:defRPr>
                <a:latin typeface="+mn-lt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4645"/>
            <a:ext cx="12192000" cy="568946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>
                <a:latin typeface="+mn-lt"/>
                <a:ea typeface="黑体" pitchFamily="49" charset="-122"/>
              </a:defRPr>
            </a:lvl1pPr>
            <a:lvl2pPr marL="685800" indent="-228600">
              <a:lnSpc>
                <a:spcPct val="100000"/>
              </a:lnSpc>
              <a:buFont typeface="Wingdings" pitchFamily="2" charset="2"/>
              <a:buChar char="ü"/>
              <a:defRPr sz="2800">
                <a:latin typeface="+mn-lt"/>
                <a:ea typeface="黑体" pitchFamily="49" charset="-122"/>
              </a:defRPr>
            </a:lvl2pPr>
            <a:lvl3pPr>
              <a:lnSpc>
                <a:spcPct val="100000"/>
              </a:lnSpc>
              <a:defRPr sz="2400">
                <a:latin typeface="+mn-lt"/>
                <a:ea typeface="黑体" pitchFamily="49" charset="-122"/>
              </a:defRPr>
            </a:lvl3pPr>
            <a:lvl4pPr>
              <a:lnSpc>
                <a:spcPct val="100000"/>
              </a:lnSpc>
              <a:defRPr sz="2400">
                <a:latin typeface="+mn-lt"/>
                <a:ea typeface="黑体" pitchFamily="49" charset="-122"/>
              </a:defRPr>
            </a:lvl4pPr>
            <a:lvl5pPr>
              <a:defRPr sz="2400">
                <a:latin typeface="+mn-lt"/>
                <a:ea typeface="黑体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9920" y="6492239"/>
            <a:ext cx="2743200" cy="365125"/>
          </a:xfrm>
        </p:spPr>
        <p:txBody>
          <a:bodyPr/>
          <a:lstStyle>
            <a:lvl1pPr>
              <a:defRPr sz="1600"/>
            </a:lvl1pPr>
          </a:lstStyle>
          <a:p>
            <a:fld id="{BF27DDBE-5C22-41D1-A9CF-D3558F32BF5C}" type="datetime3">
              <a:rPr lang="zh-CN" altLang="en-US" smtClean="0"/>
              <a:pPr/>
              <a:t>2025年3月1日星期六</a:t>
            </a:fld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26523" y="6492240"/>
            <a:ext cx="2743200" cy="365125"/>
          </a:xfrm>
        </p:spPr>
        <p:txBody>
          <a:bodyPr/>
          <a:lstStyle>
            <a:lvl1pPr algn="ctr">
              <a:defRPr sz="1600"/>
            </a:lvl1pPr>
          </a:lstStyle>
          <a:p>
            <a:r>
              <a:rPr lang="zh-CN" altLang="en-US"/>
              <a:t>第</a:t>
            </a:r>
            <a:fld id="{96694267-F254-4E8E-94D8-1CF8C1DB036D}" type="slidenum">
              <a:rPr lang="zh-CN" altLang="en-US" smtClean="0"/>
              <a:pPr/>
              <a:t>‹#›</a:t>
            </a:fld>
            <a:r>
              <a:rPr lang="zh-CN" altLang="en-US"/>
              <a:t>页</a:t>
            </a:r>
            <a:endParaRPr lang="zh-CN" altLang="en-US" dirty="0"/>
          </a:p>
        </p:txBody>
      </p:sp>
      <p:pic>
        <p:nvPicPr>
          <p:cNvPr id="8" name="20 7">
            <a:extLst>
              <a:ext uri="{FF2B5EF4-FFF2-40B4-BE49-F238E27FC236}">
                <a16:creationId xmlns:a16="http://schemas.microsoft.com/office/drawing/2014/main" id="{80D3657D-55AC-4D12-9957-1D36D70566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049" y="6563653"/>
            <a:ext cx="851394" cy="263932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066D5DE-A80E-417B-A901-F0C0E71B143B}"/>
              </a:ext>
            </a:extLst>
          </p:cNvPr>
          <p:cNvCxnSpPr/>
          <p:nvPr userDrawn="1"/>
        </p:nvCxnSpPr>
        <p:spPr>
          <a:xfrm>
            <a:off x="0" y="804645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 userDrawn="1"/>
        </p:nvCxnSpPr>
        <p:spPr>
          <a:xfrm>
            <a:off x="0" y="647544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85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3F22A-45C6-44EB-8FB0-917DB81314C6}" type="datetime3">
              <a:rPr lang="zh-CN" altLang="en-US" smtClean="0"/>
              <a:t>2025年3月1日星期六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94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8F7C3-090D-44EE-8D57-D076F0A694BF}" type="datetime3">
              <a:rPr lang="zh-CN" altLang="en-US" smtClean="0"/>
              <a:t>2025年3月1日星期六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279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7C44E-F5F7-4F86-A7A6-321399513772}" type="datetime3">
              <a:rPr lang="zh-CN" altLang="en-US" smtClean="0"/>
              <a:t>2025年3月1日星期六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36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621A6-34B4-476F-8D0D-8C1F83BDFC66}" type="datetime3">
              <a:rPr lang="zh-CN" altLang="en-US" smtClean="0"/>
              <a:t>2025年3月1日星期六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72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CF4A-C7DE-4EB0-BE92-09C60D50C371}" type="datetime3">
              <a:rPr lang="zh-CN" altLang="en-US" smtClean="0"/>
              <a:t>2025年3月1日星期六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14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F197-D748-4ECC-8B17-447CF4BD2D06}" type="datetime3">
              <a:rPr lang="zh-CN" altLang="en-US" smtClean="0"/>
              <a:t>2025年3月1日星期六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6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BC467-55DD-40B8-8A89-2B75D0C94B58}" type="datetime3">
              <a:rPr lang="zh-CN" altLang="en-US" smtClean="0"/>
              <a:t>2025年3月1日星期六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895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1FB8A-6F1F-4330-A560-1FD9EC3127B2}" type="datetime3">
              <a:rPr lang="zh-CN" altLang="en-US" smtClean="0"/>
              <a:t>2025年3月1日星期六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53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9DFD-8CB8-459C-8474-882E8D4E3A03}" type="datetime3">
              <a:rPr lang="zh-CN" altLang="en-US" smtClean="0"/>
              <a:t>2025年3月1日星期六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61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2804" y="365760"/>
            <a:ext cx="11830639" cy="7654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804" y="1376314"/>
            <a:ext cx="11830639" cy="4911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130CD44-1DF9-40B3-A5E6-6F1F38B8CABA}" type="datetime3">
              <a:rPr lang="zh-CN" altLang="en-US" smtClean="0"/>
              <a:t>2025年3月1日星期六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94267-F254-4E8E-94D8-1CF8C1DB03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95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&#30001;&#21508;&#29677;&#32423;&#23398;&#20064;&#22996;&#21592;&#25910;&#38598;&#25171;&#21253;&#21457;&#36865;&#21040;793590618@qq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m0_37763891/article/details/104174176" TargetMode="External"/><Relationship Id="rId2" Type="http://schemas.openxmlformats.org/officeDocument/2006/relationships/hyperlink" Target="https://wenku.baidu.com/view/8c411aac31687e21af45b307e87101f69e31fbab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jianshu.com/p/78ba36dddad8" TargetMode="External"/><Relationship Id="rId4" Type="http://schemas.openxmlformats.org/officeDocument/2006/relationships/hyperlink" Target="https://www.runoob.com/python3/python3-tutorial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5B8B0DE9-D46D-40D6-905B-784DDD3C924F}"/>
              </a:ext>
            </a:extLst>
          </p:cNvPr>
          <p:cNvSpPr/>
          <p:nvPr/>
        </p:nvSpPr>
        <p:spPr>
          <a:xfrm>
            <a:off x="0" y="6415953"/>
            <a:ext cx="12191999" cy="4420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8C8B684-6A92-4E85-849E-480166280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7537" y="2982912"/>
            <a:ext cx="8016639" cy="1493969"/>
          </a:xfrm>
        </p:spPr>
        <p:txBody>
          <a:bodyPr anchor="ctr">
            <a:normAutofit/>
          </a:bodyPr>
          <a:lstStyle/>
          <a:p>
            <a:r>
              <a:rPr lang="en-US" altLang="zh-CN" sz="6600">
                <a:latin typeface="黑体" panose="02010609060101010101" pitchFamily="49" charset="-122"/>
                <a:ea typeface="黑体" panose="02010609060101010101" pitchFamily="49" charset="-122"/>
              </a:rPr>
              <a:t>2025《</a:t>
            </a:r>
            <a:r>
              <a:rPr lang="zh-CN" altLang="en-US" sz="6600" dirty="0">
                <a:latin typeface="黑体" panose="02010609060101010101" pitchFamily="49" charset="-122"/>
                <a:ea typeface="黑体" panose="02010609060101010101" pitchFamily="49" charset="-122"/>
              </a:rPr>
              <a:t>拓展实验</a:t>
            </a:r>
            <a:r>
              <a:rPr lang="en-US" altLang="zh-CN" sz="6600" dirty="0">
                <a:latin typeface="黑体" panose="02010609060101010101" pitchFamily="49" charset="-122"/>
                <a:ea typeface="黑体" panose="02010609060101010101" pitchFamily="49" charset="-122"/>
              </a:rPr>
              <a:t>》</a:t>
            </a:r>
            <a:endParaRPr lang="zh-CN" altLang="en-US" sz="6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2BEBF2-00FA-49C6-8248-EA8EC8F00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9984" y="5498362"/>
            <a:ext cx="6619242" cy="642776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辽宁大学 信息学院</a:t>
            </a:r>
          </a:p>
          <a:p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5" name="20 4">
            <a:extLst>
              <a:ext uri="{FF2B5EF4-FFF2-40B4-BE49-F238E27FC236}">
                <a16:creationId xmlns:a16="http://schemas.microsoft.com/office/drawing/2014/main" id="{88B5A76A-696D-4BC0-8B67-591B361FF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982912"/>
          </a:xfrm>
          <a:prstGeom prst="rect">
            <a:avLst/>
          </a:prstGeom>
        </p:spPr>
      </p:pic>
      <p:pic>
        <p:nvPicPr>
          <p:cNvPr id="9" name="20 8">
            <a:extLst>
              <a:ext uri="{FF2B5EF4-FFF2-40B4-BE49-F238E27FC236}">
                <a16:creationId xmlns:a16="http://schemas.microsoft.com/office/drawing/2014/main" id="{66ACBAED-3367-4203-8E6A-97C8781978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760" y="6415952"/>
            <a:ext cx="1424240" cy="442047"/>
          </a:xfrm>
          <a:prstGeom prst="rect">
            <a:avLst/>
          </a:prstGeom>
        </p:spPr>
      </p:pic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C8B9C2FD-ED3C-4C00-9658-F87FD024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4945" y="6411353"/>
            <a:ext cx="2743200" cy="365125"/>
          </a:xfrm>
        </p:spPr>
        <p:txBody>
          <a:bodyPr/>
          <a:lstStyle/>
          <a:p>
            <a:fld id="{08380BF7-FD80-4421-9758-AE919164F8DC}" type="datetime3">
              <a:rPr lang="zh-CN" altLang="en-US" sz="1600" smtClean="0"/>
              <a:t>2025年3月1日星期六</a:t>
            </a:fld>
            <a:endParaRPr lang="zh-CN" altLang="en-US" sz="1600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6BB23229-DCEA-43D0-9621-B45063EA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4267-F254-4E8E-94D8-1CF8C1DB036D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6E2574-1C57-4836-941F-DB42446B2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5577048"/>
            <a:ext cx="1938018" cy="12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5508402" y="4322092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/>
              <a:t>考核要求</a:t>
            </a:r>
          </a:p>
        </p:txBody>
      </p:sp>
    </p:spTree>
    <p:extLst>
      <p:ext uri="{BB962C8B-B14F-4D97-AF65-F5344CB8AC3E}">
        <p14:creationId xmlns:p14="http://schemas.microsoft.com/office/powerpoint/2010/main" val="128352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目标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学会用</a:t>
            </a:r>
            <a:r>
              <a:rPr lang="en-US" altLang="zh-CN" dirty="0"/>
              <a:t>Python</a:t>
            </a:r>
            <a:r>
              <a:rPr lang="zh-CN" altLang="en-US" dirty="0"/>
              <a:t>语言进行实验程序设计和必要的结果分析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对</a:t>
            </a:r>
            <a:r>
              <a:rPr lang="en-US" altLang="zh-CN" dirty="0"/>
              <a:t>《</a:t>
            </a:r>
            <a:r>
              <a:rPr lang="zh-CN" altLang="en-US" dirty="0"/>
              <a:t>数据结构</a:t>
            </a:r>
            <a:r>
              <a:rPr lang="en-US" altLang="zh-CN" dirty="0"/>
              <a:t>》</a:t>
            </a:r>
            <a:r>
              <a:rPr lang="zh-CN" altLang="en-US" dirty="0"/>
              <a:t>、</a:t>
            </a:r>
            <a:r>
              <a:rPr lang="en-US" altLang="zh-CN" dirty="0"/>
              <a:t>《</a:t>
            </a:r>
            <a:r>
              <a:rPr lang="zh-CN" altLang="en-US" dirty="0"/>
              <a:t>算法分析与设计</a:t>
            </a:r>
            <a:r>
              <a:rPr lang="en-US" altLang="zh-CN" dirty="0"/>
              <a:t>》</a:t>
            </a:r>
            <a:r>
              <a:rPr lang="zh-CN" altLang="en-US" dirty="0"/>
              <a:t>、</a:t>
            </a:r>
            <a:r>
              <a:rPr lang="en-US" altLang="zh-CN" dirty="0"/>
              <a:t>《</a:t>
            </a:r>
            <a:r>
              <a:rPr lang="zh-CN" altLang="en-US" dirty="0"/>
              <a:t>最优化理论</a:t>
            </a:r>
            <a:r>
              <a:rPr lang="en-US" altLang="zh-CN" dirty="0"/>
              <a:t>》</a:t>
            </a:r>
            <a:r>
              <a:rPr lang="zh-CN" altLang="en-US" dirty="0"/>
              <a:t>等课程所学知识进行综合应用，编写不少于</a:t>
            </a:r>
            <a:r>
              <a:rPr lang="en-US" altLang="zh-CN" dirty="0"/>
              <a:t>3</a:t>
            </a:r>
            <a:r>
              <a:rPr lang="zh-CN" altLang="en-US" dirty="0"/>
              <a:t>种算法的问题求解程序并对结果进行必要的分析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内容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en-US" altLang="zh-CN" dirty="0"/>
              <a:t>Python3</a:t>
            </a:r>
            <a:r>
              <a:rPr lang="zh-CN" altLang="en-US" dirty="0"/>
              <a:t>基础语法的掌握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en-US" altLang="zh-CN" dirty="0"/>
              <a:t>Python3</a:t>
            </a:r>
            <a:r>
              <a:rPr lang="zh-CN" altLang="en-US" dirty="0"/>
              <a:t>数据分析与绘图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动态规划、贪心、回溯、分治等优化算法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蚁群、遗传、模拟退火等启发式算法</a:t>
            </a:r>
            <a:endParaRPr lang="en-US" altLang="zh-CN" dirty="0"/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dirty="0"/>
              <a:t>背包问题、</a:t>
            </a:r>
            <a:r>
              <a:rPr lang="en-US" altLang="zh-CN" dirty="0"/>
              <a:t>TSP</a:t>
            </a:r>
            <a:r>
              <a:rPr lang="zh-CN" altLang="en-US" dirty="0"/>
              <a:t>等</a:t>
            </a:r>
            <a:r>
              <a:rPr lang="en-US" altLang="zh-CN" dirty="0"/>
              <a:t>NPC</a:t>
            </a:r>
            <a:r>
              <a:rPr lang="zh-CN" altLang="en-US" dirty="0"/>
              <a:t>问题</a:t>
            </a:r>
            <a:endParaRPr lang="en-US" altLang="zh-CN" dirty="0"/>
          </a:p>
          <a:p>
            <a:pPr marL="514350" indent="-514350">
              <a:buFont typeface="+mj-ea"/>
              <a:buAutoNum type="circleNumDbPlain"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DDBE-5C22-41D1-A9CF-D3558F32BF5C}" type="datetime3">
              <a:rPr lang="zh-CN" altLang="en-US" smtClean="0"/>
              <a:pPr/>
              <a:t>2025年3月1日星期六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96694267-F254-4E8E-94D8-1CF8C1DB036D}" type="slidenum">
              <a:rPr lang="zh-CN" altLang="en-US" smtClean="0"/>
              <a:pPr/>
              <a:t>2</a:t>
            </a:fld>
            <a:r>
              <a:rPr lang="zh-CN" altLang="en-US"/>
              <a:t>页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152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978D69-559B-489B-A927-F57D2366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考核方式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79FBE0-2324-48F7-BFF8-31B8BF54F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考核形式</a:t>
            </a:r>
            <a:endParaRPr lang="en-US" altLang="zh-CN" dirty="0"/>
          </a:p>
          <a:p>
            <a:pPr marL="97155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/>
              <a:t>提交一个20</a:t>
            </a:r>
            <a:endParaRPr lang="en-US" altLang="zh-CN" dirty="0"/>
          </a:p>
          <a:p>
            <a:pPr marL="97155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/>
              <a:t>总成绩为等级制：优（</a:t>
            </a:r>
            <a:r>
              <a:rPr lang="en-US" altLang="zh-CN" dirty="0"/>
              <a:t>90-100</a:t>
            </a:r>
            <a:r>
              <a:rPr lang="zh-CN" altLang="en-US" dirty="0"/>
              <a:t>），良（</a:t>
            </a:r>
            <a:r>
              <a:rPr lang="en-US" altLang="zh-CN" dirty="0"/>
              <a:t>80-89</a:t>
            </a:r>
            <a:r>
              <a:rPr lang="zh-CN" altLang="en-US" dirty="0"/>
              <a:t>），中（</a:t>
            </a:r>
            <a:r>
              <a:rPr lang="en-US" altLang="zh-CN" dirty="0"/>
              <a:t>70-79</a:t>
            </a:r>
            <a:r>
              <a:rPr lang="zh-CN" altLang="en-US" dirty="0"/>
              <a:t>），及格（</a:t>
            </a:r>
            <a:r>
              <a:rPr lang="en-US" altLang="zh-CN" dirty="0"/>
              <a:t>60-69</a:t>
            </a:r>
            <a:r>
              <a:rPr lang="zh-CN" altLang="en-US" dirty="0"/>
              <a:t>），不及格（</a:t>
            </a:r>
            <a:r>
              <a:rPr lang="en-US" altLang="zh-CN" dirty="0"/>
              <a:t>0-59</a:t>
            </a:r>
            <a:r>
              <a:rPr lang="zh-CN" altLang="en-US" dirty="0"/>
              <a:t>）</a:t>
            </a:r>
            <a:endParaRPr lang="en-US" altLang="zh-CN" dirty="0"/>
          </a:p>
          <a:p>
            <a:pPr marL="97155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/>
              <a:t>总成绩：总成绩</a:t>
            </a:r>
            <a:r>
              <a:rPr lang="en-US" altLang="zh-CN" dirty="0"/>
              <a:t>=</a:t>
            </a:r>
            <a:r>
              <a:rPr lang="zh-CN" altLang="en-US" dirty="0"/>
              <a:t>平时成绩（</a:t>
            </a:r>
            <a:r>
              <a:rPr lang="en-US" altLang="zh-CN" dirty="0"/>
              <a:t>30%</a:t>
            </a:r>
            <a:r>
              <a:rPr lang="zh-CN" altLang="en-US" dirty="0"/>
              <a:t>）</a:t>
            </a:r>
            <a:r>
              <a:rPr lang="en-US" altLang="zh-CN" dirty="0"/>
              <a:t>+ </a:t>
            </a:r>
            <a:r>
              <a:rPr lang="zh-CN" altLang="en-US" dirty="0"/>
              <a:t>20成绩（</a:t>
            </a:r>
            <a:r>
              <a:rPr lang="en-US" altLang="zh-CN" dirty="0"/>
              <a:t>70%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9A389C-DC03-486B-94B3-6F4540919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DDBE-5C22-41D1-A9CF-D3558F32BF5C}" type="datetime3">
              <a:rPr lang="zh-CN" altLang="en-US" smtClean="0"/>
              <a:pPr/>
              <a:t>2025年3月1日星期六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BD8660-ED6E-49F3-A765-06942DA4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96694267-F254-4E8E-94D8-1CF8C1DB036D}" type="slidenum">
              <a:rPr lang="zh-CN" altLang="en-US" smtClean="0"/>
              <a:pPr/>
              <a:t>3</a:t>
            </a:fld>
            <a:r>
              <a:rPr lang="zh-CN" altLang="en-US"/>
              <a:t>页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4985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978D69-559B-489B-A927-F57D2366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考核方式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79FBE0-2324-48F7-BFF8-31B8BF54F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考核要求</a:t>
            </a:r>
            <a:endParaRPr lang="en-US" altLang="zh-CN" dirty="0"/>
          </a:p>
          <a:p>
            <a:pPr marL="97155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/>
              <a:t>平时成绩</a:t>
            </a:r>
            <a:r>
              <a:rPr lang="en-US" altLang="zh-CN" dirty="0"/>
              <a:t>30</a:t>
            </a:r>
            <a:r>
              <a:rPr lang="zh-CN" altLang="en-US" dirty="0"/>
              <a:t>分：</a:t>
            </a:r>
            <a:endParaRPr lang="en-US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/>
              <a:t>包含</a:t>
            </a:r>
            <a:r>
              <a:rPr lang="en-US" altLang="zh-CN" dirty="0"/>
              <a:t>1</a:t>
            </a:r>
            <a:r>
              <a:rPr lang="zh-CN" altLang="en-US" dirty="0"/>
              <a:t>次20和平时签到</a:t>
            </a:r>
            <a:endParaRPr lang="en-US" altLang="zh-CN" dirty="0"/>
          </a:p>
          <a:p>
            <a:pPr marL="97155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/>
              <a:t>20</a:t>
            </a:r>
            <a:r>
              <a:rPr lang="en-US" altLang="zh-CN" dirty="0"/>
              <a:t>70</a:t>
            </a:r>
            <a:r>
              <a:rPr lang="zh-CN" altLang="en-US" dirty="0"/>
              <a:t>分：</a:t>
            </a:r>
            <a:endParaRPr lang="en-US" altLang="zh-CN" dirty="0"/>
          </a:p>
          <a:p>
            <a:pPr marL="1428750" lvl="2" indent="-514350">
              <a:lnSpc>
                <a:spcPct val="150000"/>
              </a:lnSpc>
              <a:buFont typeface="+mj-ea"/>
              <a:buAutoNum type="ea1JpnChsDbPeriod"/>
            </a:pPr>
            <a:r>
              <a:rPr lang="zh-CN" altLang="en-US" dirty="0"/>
              <a:t>任选一个</a:t>
            </a:r>
            <a:r>
              <a:rPr lang="en-US" altLang="zh-CN" dirty="0"/>
              <a:t>NPC</a:t>
            </a:r>
            <a:r>
              <a:rPr lang="zh-CN" altLang="en-US" dirty="0"/>
              <a:t>问题或实际工程优化问题，采用至少一种优化算法及一种启发式算法来求解所选问题，用</a:t>
            </a:r>
            <a:r>
              <a:rPr lang="en-US" altLang="zh-CN" dirty="0"/>
              <a:t>Python</a:t>
            </a:r>
            <a:r>
              <a:rPr lang="zh-CN" altLang="en-US" dirty="0"/>
              <a:t>写出代码程序和执行结果：</a:t>
            </a:r>
            <a:r>
              <a:rPr lang="en-US" altLang="zh-CN" dirty="0"/>
              <a:t>50</a:t>
            </a:r>
            <a:r>
              <a:rPr lang="zh-CN" altLang="en-US" dirty="0"/>
              <a:t>分</a:t>
            </a:r>
            <a:endParaRPr lang="en-US" altLang="zh-CN" dirty="0"/>
          </a:p>
          <a:p>
            <a:pPr marL="1428750" lvl="2" indent="-514350">
              <a:lnSpc>
                <a:spcPct val="150000"/>
              </a:lnSpc>
              <a:buFont typeface="+mj-ea"/>
              <a:buAutoNum type="ea1JpnChsDbPeriod"/>
            </a:pPr>
            <a:r>
              <a:rPr lang="zh-CN" altLang="en-US" dirty="0"/>
              <a:t>对结果进行必要的分析，用</a:t>
            </a:r>
            <a:r>
              <a:rPr lang="en-US" altLang="zh-CN" dirty="0"/>
              <a:t>Python</a:t>
            </a:r>
            <a:r>
              <a:rPr lang="zh-CN" altLang="en-US" dirty="0"/>
              <a:t>绘图，并对结果进行文字说明：</a:t>
            </a:r>
            <a:r>
              <a:rPr lang="en-US" altLang="zh-CN" dirty="0"/>
              <a:t>10</a:t>
            </a:r>
            <a:r>
              <a:rPr lang="zh-CN" altLang="en-US" dirty="0"/>
              <a:t>分</a:t>
            </a:r>
            <a:endParaRPr lang="en-US" altLang="zh-CN" dirty="0"/>
          </a:p>
          <a:p>
            <a:pPr marL="1428750" lvl="2" indent="-514350">
              <a:lnSpc>
                <a:spcPct val="150000"/>
              </a:lnSpc>
              <a:buFont typeface="+mj-ea"/>
              <a:buAutoNum type="ea1JpnChsDbPeriod"/>
            </a:pPr>
            <a:r>
              <a:rPr lang="zh-CN" altLang="en-US" dirty="0"/>
              <a:t>文档撰写规范，包含流程图、架构图等要素，文字书写规范、逻辑清晰</a:t>
            </a:r>
            <a:r>
              <a:rPr lang="en-US" altLang="zh-CN" dirty="0"/>
              <a:t>10</a:t>
            </a:r>
            <a:r>
              <a:rPr lang="zh-CN" altLang="en-US" dirty="0"/>
              <a:t>分</a:t>
            </a:r>
            <a:endParaRPr lang="en-US" altLang="zh-CN" dirty="0"/>
          </a:p>
          <a:p>
            <a:pPr marL="1428750" lvl="2" indent="-514350">
              <a:buFont typeface="+mj-ea"/>
              <a:buAutoNum type="ea1JpnChsDbPeriod"/>
            </a:pPr>
            <a:endParaRPr lang="en-US" altLang="zh-CN" dirty="0"/>
          </a:p>
          <a:p>
            <a:pPr marL="1428750" lvl="2" indent="-514350">
              <a:buFont typeface="+mj-ea"/>
              <a:buAutoNum type="ea1JpnChsDbPeriod"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9A389C-DC03-486B-94B3-6F4540919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DDBE-5C22-41D1-A9CF-D3558F32BF5C}" type="datetime3">
              <a:rPr lang="zh-CN" altLang="en-US" smtClean="0"/>
              <a:pPr/>
              <a:t>2025年3月1日星期六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BD8660-ED6E-49F3-A765-06942DA4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96694267-F254-4E8E-94D8-1CF8C1DB036D}" type="slidenum">
              <a:rPr lang="zh-CN" altLang="en-US" smtClean="0"/>
              <a:pPr/>
              <a:t>4</a:t>
            </a:fld>
            <a:r>
              <a:rPr lang="zh-CN" altLang="en-US"/>
              <a:t>页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0626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5C882-54A0-40EA-8A31-FAEF71FE9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候选题目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404262-7B25-4981-9C19-96C64C0E5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图着色问题</a:t>
            </a:r>
            <a:r>
              <a:rPr lang="zh-CN" altLang="en-US" dirty="0"/>
              <a:t>（</a:t>
            </a:r>
            <a:r>
              <a:rPr lang="en-US" altLang="zh-CN" dirty="0"/>
              <a:t>Graph Coloring Problem, GCP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旅行商问题（</a:t>
            </a:r>
            <a:r>
              <a:rPr lang="en-US" altLang="zh-CN" dirty="0"/>
              <a:t>Travelling salesman problem, TSP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背包问题（</a:t>
            </a:r>
            <a:r>
              <a:rPr lang="en-US" altLang="zh-CN" dirty="0"/>
              <a:t>Knapsack problem</a:t>
            </a:r>
            <a:r>
              <a:rPr lang="zh-CN" altLang="en-US" dirty="0"/>
              <a:t>）</a:t>
            </a:r>
            <a:r>
              <a:rPr lang="en-US" altLang="zh-CN" dirty="0"/>
              <a:t>——</a:t>
            </a:r>
            <a:r>
              <a:rPr lang="zh-CN" altLang="en-US" dirty="0"/>
              <a:t>得分上限</a:t>
            </a:r>
            <a:r>
              <a:rPr lang="en-US" altLang="zh-CN" dirty="0"/>
              <a:t>90</a:t>
            </a:r>
            <a:r>
              <a:rPr lang="zh-CN" altLang="en-US" dirty="0"/>
              <a:t>分</a:t>
            </a:r>
            <a:endParaRPr lang="en-US" altLang="zh-CN" dirty="0"/>
          </a:p>
          <a:p>
            <a:r>
              <a:rPr lang="zh-CN" altLang="en-US" dirty="0"/>
              <a:t>分团问题（</a:t>
            </a:r>
            <a:r>
              <a:rPr lang="en-US" altLang="zh-CN" dirty="0"/>
              <a:t>clique problem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顶点覆盖问题（</a:t>
            </a:r>
            <a:r>
              <a:rPr lang="en-US" altLang="zh-CN" dirty="0"/>
              <a:t>vertex covering problem 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集合覆盖问题（ </a:t>
            </a:r>
            <a:r>
              <a:rPr lang="en-US" altLang="zh-CN" dirty="0"/>
              <a:t>Set covering problem</a:t>
            </a:r>
            <a:r>
              <a:rPr lang="zh-CN" altLang="en-US" dirty="0"/>
              <a:t>，</a:t>
            </a:r>
            <a:r>
              <a:rPr lang="en-US" altLang="zh-CN" dirty="0"/>
              <a:t>SCP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时间表问题</a:t>
            </a:r>
            <a:r>
              <a:rPr lang="zh-CN" altLang="en-US" dirty="0"/>
              <a:t>（</a:t>
            </a:r>
            <a:r>
              <a:rPr lang="en-US" altLang="zh-CN" dirty="0"/>
              <a:t>Time Table Problem</a:t>
            </a:r>
            <a:r>
              <a:rPr lang="zh-CN" altLang="en-US" dirty="0"/>
              <a:t>，</a:t>
            </a:r>
            <a:r>
              <a:rPr lang="en-US" altLang="zh-CN" dirty="0"/>
              <a:t>TTP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装箱问题</a:t>
            </a:r>
            <a:r>
              <a:rPr lang="zh-CN" altLang="en-US" dirty="0"/>
              <a:t>（</a:t>
            </a:r>
            <a:r>
              <a:rPr lang="en-US" altLang="zh-CN" dirty="0"/>
              <a:t>bin-packing problem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>
                <a:solidFill>
                  <a:srgbClr val="0000FF"/>
                </a:solidFill>
              </a:rPr>
              <a:t>哈密顿回路</a:t>
            </a:r>
            <a:r>
              <a:rPr lang="zh-CN" altLang="en-US" dirty="0"/>
              <a:t>（</a:t>
            </a:r>
            <a:r>
              <a:rPr lang="en-US" altLang="zh-CN" dirty="0"/>
              <a:t>Hamilton cycle problem 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其他</a:t>
            </a:r>
            <a:r>
              <a:rPr lang="en-US" altLang="zh-CN" dirty="0"/>
              <a:t>NPC</a:t>
            </a:r>
            <a:r>
              <a:rPr lang="zh-CN" altLang="en-US" dirty="0"/>
              <a:t>问题（任选）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3E570C-90E1-4D3B-AA77-B940C308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DDBE-5C22-41D1-A9CF-D3558F32BF5C}" type="datetime3">
              <a:rPr lang="zh-CN" altLang="en-US" smtClean="0"/>
              <a:pPr/>
              <a:t>2025年3月1日星期六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45E173-987D-4C8D-8F43-1A3DD7AE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96694267-F254-4E8E-94D8-1CF8C1DB036D}" type="slidenum">
              <a:rPr lang="zh-CN" altLang="en-US" smtClean="0"/>
              <a:pPr/>
              <a:t>5</a:t>
            </a:fld>
            <a:r>
              <a:rPr lang="zh-CN" altLang="en-US"/>
              <a:t>页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684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20提交要求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期限：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2024</a:t>
            </a:r>
            <a:r>
              <a:rPr lang="zh-CN" altLang="en-US" dirty="0"/>
              <a:t>年</a:t>
            </a:r>
            <a:r>
              <a:rPr lang="en-US" altLang="zh-CN" dirty="0"/>
              <a:t>6</a:t>
            </a:r>
            <a:r>
              <a:rPr lang="zh-CN" altLang="en-US" dirty="0"/>
              <a:t>月</a:t>
            </a:r>
            <a:r>
              <a:rPr lang="en-US" altLang="zh-CN" dirty="0"/>
              <a:t>20</a:t>
            </a:r>
            <a:r>
              <a:rPr lang="zh-CN" altLang="en-US" dirty="0"/>
              <a:t>日之前，</a:t>
            </a:r>
            <a:r>
              <a:rPr lang="zh-CN" altLang="en-US" dirty="0">
                <a:hlinkClick r:id="rId2"/>
              </a:rPr>
              <a:t>由各班级学习委员收集打包发送到</a:t>
            </a:r>
            <a:r>
              <a:rPr lang="en-US" altLang="zh-CN" dirty="0">
                <a:hlinkClick r:id="rId2"/>
              </a:rPr>
              <a:t>793590618@qq.com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DDBE-5C22-41D1-A9CF-D3558F32BF5C}" type="datetime3">
              <a:rPr lang="zh-CN" altLang="en-US" smtClean="0"/>
              <a:pPr/>
              <a:t>2025年3月1日星期六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96694267-F254-4E8E-94D8-1CF8C1DB036D}" type="slidenum">
              <a:rPr lang="zh-CN" altLang="en-US" smtClean="0"/>
              <a:pPr/>
              <a:t>6</a:t>
            </a:fld>
            <a:r>
              <a:rPr lang="zh-CN" altLang="en-US"/>
              <a:t>页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600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55DF9-35AD-4B3A-9F70-B0EBF95C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参考资料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DB1247-3FF8-4D8A-916F-525ABC34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https://wenku.baidu.com/view/8c411aac31687e21af45b307e87101f69e31fbab.html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https://blog.csdn.net/m0_37763891/article/details/104174176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https://www.runoob.com/python3/python3-tutorial.html</a:t>
            </a:r>
            <a:endParaRPr lang="en-US" altLang="zh-CN" dirty="0"/>
          </a:p>
          <a:p>
            <a:r>
              <a:rPr lang="en-US" altLang="zh-CN" dirty="0">
                <a:hlinkClick r:id="rId5"/>
              </a:rPr>
              <a:t>https://www.jianshu.com/p/78ba36dddad8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C8A929-0498-4602-AB00-1C23537BF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7DDBE-5C22-41D1-A9CF-D3558F32BF5C}" type="datetime3">
              <a:rPr lang="zh-CN" altLang="en-US" smtClean="0"/>
              <a:pPr/>
              <a:t>2025年3月1日星期六</a:t>
            </a:fld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E33326-9382-4BDC-897A-874494322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96694267-F254-4E8E-94D8-1CF8C1DB036D}" type="slidenum">
              <a:rPr lang="zh-CN" altLang="en-US" smtClean="0"/>
              <a:pPr/>
              <a:t>7</a:t>
            </a:fld>
            <a:r>
              <a:rPr lang="zh-CN" altLang="en-US"/>
              <a:t>页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6704610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TM02892315[[fn=丝状]]</Template>
  <TotalTime>7197</TotalTime>
  <Words>440</Words>
  <Application>Microsoft Office PowerPoint</Application>
  <PresentationFormat>宽屏</PresentationFormat>
  <Paragraphs>60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黑体</vt:lpstr>
      <vt:lpstr>Calibri</vt:lpstr>
      <vt:lpstr>Calibri Light</vt:lpstr>
      <vt:lpstr>Wingdings</vt:lpstr>
      <vt:lpstr>Wingdings 2</vt:lpstr>
      <vt:lpstr>HDOfficeLightV0</vt:lpstr>
      <vt:lpstr>2025《拓展实验》</vt:lpstr>
      <vt:lpstr>课程概述</vt:lpstr>
      <vt:lpstr>考核方式</vt:lpstr>
      <vt:lpstr>考核方式</vt:lpstr>
      <vt:lpstr>候选题目</vt:lpstr>
      <vt:lpstr>20提交要求</vt:lpstr>
      <vt:lpstr>参考资料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谭 爱平</dc:creator>
  <cp:lastModifiedBy>RAN XUN</cp:lastModifiedBy>
  <cp:revision>1871</cp:revision>
  <dcterms:created xsi:type="dcterms:W3CDTF">2020-08-18T01:11:27Z</dcterms:created>
  <dcterms:modified xsi:type="dcterms:W3CDTF">2025-03-01T04:37:23Z</dcterms:modified>
</cp:coreProperties>
</file>