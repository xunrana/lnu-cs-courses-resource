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325" r:id="rId4"/>
    <p:sldId id="299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orient="horz" pos="432" userDrawn="1">
          <p15:clr>
            <a:srgbClr val="A4A3A4"/>
          </p15:clr>
        </p15:guide>
        <p15:guide id="6" orient="horz" pos="472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192"/>
    <a:srgbClr val="529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82" y="125"/>
      </p:cViewPr>
      <p:guideLst>
        <p:guide orient="horz" pos="2264"/>
        <p:guide pos="3840"/>
        <p:guide pos="192"/>
        <p:guide pos="7488"/>
        <p:guide orient="horz" pos="432"/>
        <p:guide orient="horz" pos="472"/>
        <p:guide orient="horz" pos="4104"/>
        <p:guide orient="horz" pos="40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3500"/>
            <a:ext cx="12207240" cy="622300"/>
          </a:xfrm>
          <a:prstGeom prst="rect">
            <a:avLst/>
          </a:prstGeom>
          <a:solidFill>
            <a:srgbClr val="1B7ADA"/>
          </a:solidFill>
          <a:ln>
            <a:solidFill>
              <a:srgbClr val="1B7AD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动手做计算机网络仿真实验</a:t>
            </a:r>
            <a:r>
              <a:rPr lang="zh-CN" altLang="en-US" sz="2400" b="1" dirty="0"/>
              <a:t>（微课视频版）</a:t>
            </a:r>
            <a:endParaRPr lang="zh-CN" altLang="en-US" sz="2400" b="1" dirty="0"/>
          </a:p>
        </p:txBody>
      </p:sp>
      <p:sp>
        <p:nvSpPr>
          <p:cNvPr id="10" name="矩形 9"/>
          <p:cNvSpPr/>
          <p:nvPr userDrawn="1"/>
        </p:nvSpPr>
        <p:spPr>
          <a:xfrm>
            <a:off x="132079" y="-1"/>
            <a:ext cx="732557" cy="732557"/>
          </a:xfrm>
          <a:prstGeom prst="rect">
            <a:avLst/>
          </a:prstGeom>
          <a:solidFill>
            <a:srgbClr val="8ACF57"/>
          </a:solidFill>
          <a:ln>
            <a:solidFill>
              <a:srgbClr val="8ACF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9850806" y="147319"/>
            <a:ext cx="114853" cy="449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965107" y="62115"/>
            <a:ext cx="222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6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章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应用层相关实验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20 13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8" y="6414723"/>
            <a:ext cx="1882140" cy="44196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10365377" y="6486579"/>
            <a:ext cx="18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课件制作：高军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29057" y="1186773"/>
            <a:ext cx="10194588" cy="2935932"/>
            <a:chOff x="629057" y="1186773"/>
            <a:chExt cx="10194588" cy="2935932"/>
          </a:xfrm>
        </p:grpSpPr>
        <p:sp>
          <p:nvSpPr>
            <p:cNvPr id="3" name="文本框 2"/>
            <p:cNvSpPr txBox="1"/>
            <p:nvPr/>
          </p:nvSpPr>
          <p:spPr>
            <a:xfrm>
              <a:off x="629057" y="1186773"/>
              <a:ext cx="24059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spc="600" dirty="0">
                  <a:solidFill>
                    <a:schemeClr val="accent3">
                      <a:lumMod val="75000"/>
                    </a:schemeClr>
                  </a:solidFill>
                </a:rPr>
                <a:t>实验目的</a:t>
              </a:r>
              <a:endParaRPr lang="zh-CN" altLang="en-US" sz="2800" b="1" spc="6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9057" y="1880681"/>
              <a:ext cx="10194588" cy="2242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/>
                <a:t>了解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万维网文档</a:t>
              </a:r>
              <a:r>
                <a:rPr lang="zh-CN" altLang="en-US" sz="2400" b="1" dirty="0"/>
                <a:t>的种类和作用。</a:t>
              </a:r>
              <a:endParaRPr lang="zh-CN" altLang="en-US" sz="24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/>
                <a:t>了解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统一资源定位符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URL</a:t>
              </a:r>
              <a:r>
                <a:rPr lang="zh-CN" altLang="en-US" sz="2400" b="1" dirty="0"/>
                <a:t>。</a:t>
              </a:r>
              <a:endParaRPr lang="zh-CN" altLang="en-US" sz="24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/>
                <a:t>尝试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编写万维网文档</a:t>
              </a:r>
              <a:r>
                <a:rPr lang="zh-CN" altLang="en-US" sz="2400" b="1" dirty="0"/>
                <a:t>。</a:t>
              </a:r>
              <a:endParaRPr lang="zh-CN" altLang="en-US" sz="24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400" b="1" dirty="0"/>
                <a:t>观察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超文本传输协议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HTTP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的基本工作过程</a:t>
              </a:r>
              <a:r>
                <a:rPr lang="zh-CN" altLang="en-US" sz="2400" b="1" dirty="0"/>
                <a:t>。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596" y="1186773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1084" y="1714643"/>
            <a:ext cx="218295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1.  </a:t>
            </a:r>
            <a:r>
              <a:rPr lang="zh-CN" altLang="en-US" sz="2000" b="1" dirty="0"/>
              <a:t>构建网络拓扑</a:t>
            </a:r>
            <a:endParaRPr lang="en-US" altLang="zh-CN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411084" y="2218084"/>
            <a:ext cx="3141261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2.  </a:t>
            </a:r>
            <a:r>
              <a:rPr lang="zh-CN" altLang="en-US" sz="2000" b="1" dirty="0"/>
              <a:t>标注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</a:t>
            </a:r>
            <a:endParaRPr lang="en-US" altLang="zh-CN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11084" y="2721525"/>
            <a:ext cx="3188150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3. 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</a:t>
            </a:r>
            <a:endParaRPr lang="en-US" altLang="zh-CN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411085" y="3224966"/>
            <a:ext cx="2496575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4.  </a:t>
            </a:r>
            <a:r>
              <a:rPr lang="zh-CN" altLang="en-US" sz="2000" b="1" dirty="0"/>
              <a:t>网络连通性测试</a:t>
            </a:r>
            <a:endParaRPr lang="en-US" altLang="zh-CN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411084" y="3728407"/>
            <a:ext cx="3292565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5.  </a:t>
            </a:r>
            <a:r>
              <a:rPr lang="zh-CN" altLang="en-US" sz="2000" b="1" dirty="0"/>
              <a:t>编写万维网文档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411084" y="4735289"/>
            <a:ext cx="3188150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7.  </a:t>
            </a:r>
            <a:r>
              <a:rPr lang="zh-CN" altLang="en-US" sz="2000" b="1" dirty="0"/>
              <a:t>访问</a:t>
            </a:r>
            <a:r>
              <a:rPr lang="en-US" altLang="zh-CN" sz="2000" b="1" dirty="0"/>
              <a:t>Web</a:t>
            </a:r>
            <a:r>
              <a:rPr lang="zh-CN" altLang="en-US" sz="2000" b="1" dirty="0"/>
              <a:t>服务器</a:t>
            </a:r>
            <a:endParaRPr lang="en-US" altLang="zh-CN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411084" y="5238730"/>
            <a:ext cx="3188150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8.  </a:t>
            </a:r>
            <a:r>
              <a:rPr lang="zh-CN" altLang="en-US" sz="2000" b="1" dirty="0"/>
              <a:t>选择要监视的网络协议</a:t>
            </a:r>
            <a:endParaRPr lang="en-US" altLang="zh-CN" sz="2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1084" y="4231848"/>
            <a:ext cx="5516070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6.  </a:t>
            </a:r>
            <a:r>
              <a:rPr lang="zh-CN" altLang="en-US" sz="2000" b="1" dirty="0"/>
              <a:t>将万维网文档导入</a:t>
            </a:r>
            <a:r>
              <a:rPr lang="en-US" altLang="zh-CN" sz="2000" b="1" dirty="0"/>
              <a:t>Web</a:t>
            </a:r>
            <a:r>
              <a:rPr lang="zh-CN" altLang="en-US" sz="2000" b="1" dirty="0"/>
              <a:t>服务器</a:t>
            </a:r>
            <a:endParaRPr lang="en-US" altLang="zh-CN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11083" y="5742174"/>
            <a:ext cx="5055581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9.  </a:t>
            </a:r>
            <a:r>
              <a:rPr lang="zh-CN" altLang="en-US" sz="2000" b="1" dirty="0"/>
              <a:t>观察</a:t>
            </a:r>
            <a:r>
              <a:rPr lang="en-US" altLang="zh-CN" sz="2000" b="1" dirty="0"/>
              <a:t>HTTP</a:t>
            </a:r>
            <a:r>
              <a:rPr lang="zh-CN" altLang="en-US" sz="2000" b="1" dirty="0"/>
              <a:t>的基本工作过程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3831633" y="1464350"/>
            <a:ext cx="4539738" cy="650431"/>
            <a:chOff x="3857945" y="1345942"/>
            <a:chExt cx="4539738" cy="650431"/>
          </a:xfrm>
        </p:grpSpPr>
        <p:pic>
          <p:nvPicPr>
            <p:cNvPr id="2" name="20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5914" y="1416452"/>
              <a:ext cx="322113" cy="513514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7204569" y="1345942"/>
              <a:ext cx="11931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Server-PT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Server0</a:t>
              </a:r>
              <a:endParaRPr lang="zh-CN" altLang="en-US" b="1" dirty="0"/>
            </a:p>
          </p:txBody>
        </p:sp>
        <p:pic>
          <p:nvPicPr>
            <p:cNvPr id="16" name="20 15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955" y="1444222"/>
              <a:ext cx="539132" cy="457973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3857945" y="1350042"/>
              <a:ext cx="9475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3831633" y="1464350"/>
            <a:ext cx="4539738" cy="650431"/>
            <a:chOff x="3857945" y="1345942"/>
            <a:chExt cx="4539738" cy="650431"/>
          </a:xfrm>
        </p:grpSpPr>
        <p:pic>
          <p:nvPicPr>
            <p:cNvPr id="2" name="20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55914" y="1416452"/>
              <a:ext cx="322113" cy="513514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7204569" y="1345942"/>
              <a:ext cx="11931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Server-PT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Server0</a:t>
              </a:r>
              <a:endParaRPr lang="zh-CN" altLang="en-US" b="1" dirty="0"/>
            </a:p>
          </p:txBody>
        </p:sp>
        <p:pic>
          <p:nvPicPr>
            <p:cNvPr id="16" name="20 15" descr="图标&#10;&#10;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955" y="1444222"/>
              <a:ext cx="539132" cy="457973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3857945" y="1350042"/>
              <a:ext cx="9475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</p:grpSp>
      <p:pic>
        <p:nvPicPr>
          <p:cNvPr id="5" name="20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807" y="3480715"/>
            <a:ext cx="8763759" cy="1646063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150517" y="4303746"/>
            <a:ext cx="1925436" cy="1452593"/>
            <a:chOff x="2253106" y="5615868"/>
            <a:chExt cx="1925436" cy="1452593"/>
          </a:xfrm>
        </p:grpSpPr>
        <p:sp>
          <p:nvSpPr>
            <p:cNvPr id="7" name="文本框 6"/>
            <p:cNvSpPr txBox="1"/>
            <p:nvPr/>
          </p:nvSpPr>
          <p:spPr>
            <a:xfrm>
              <a:off x="2253106" y="6668351"/>
              <a:ext cx="19254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选择“连接”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V="1">
              <a:off x="3122926" y="5615868"/>
              <a:ext cx="0" cy="1052483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2580764" y="2724786"/>
            <a:ext cx="3351328" cy="1164349"/>
            <a:chOff x="938046" y="4283818"/>
            <a:chExt cx="3351328" cy="1164349"/>
          </a:xfrm>
        </p:grpSpPr>
        <p:sp>
          <p:nvSpPr>
            <p:cNvPr id="10" name="文本框 9"/>
            <p:cNvSpPr txBox="1"/>
            <p:nvPr/>
          </p:nvSpPr>
          <p:spPr>
            <a:xfrm>
              <a:off x="938046" y="4283818"/>
              <a:ext cx="335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选择“自动选择连接类型”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2613710" y="4738927"/>
              <a:ext cx="0" cy="70924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13405" y="685800"/>
            <a:ext cx="377279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625" y="2811188"/>
            <a:ext cx="3912977" cy="828961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158076" y="3583425"/>
            <a:ext cx="5683317" cy="878377"/>
            <a:chOff x="2872585" y="2267382"/>
            <a:chExt cx="5683317" cy="878377"/>
          </a:xfrm>
        </p:grpSpPr>
        <p:sp>
          <p:nvSpPr>
            <p:cNvPr id="13" name="文本框 7"/>
            <p:cNvSpPr txBox="1"/>
            <p:nvPr/>
          </p:nvSpPr>
          <p:spPr>
            <a:xfrm>
              <a:off x="2872585" y="2499428"/>
              <a:ext cx="56833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使用“放置注释”工具，在计算机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PC0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和服务器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Server0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各自的旁边标注相应的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地址和子网掩码。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V="1">
              <a:off x="4095446" y="2267382"/>
              <a:ext cx="0" cy="28279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13405" y="685800"/>
            <a:ext cx="377279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地址和子网掩码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964905" y="2114781"/>
            <a:ext cx="4329283" cy="4249111"/>
            <a:chOff x="1964905" y="2114781"/>
            <a:chExt cx="4329283" cy="4249111"/>
          </a:xfrm>
        </p:grpSpPr>
        <p:pic>
          <p:nvPicPr>
            <p:cNvPr id="19" name="20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4905" y="2114781"/>
              <a:ext cx="4329283" cy="4249111"/>
            </a:xfrm>
            <a:prstGeom prst="rect">
              <a:avLst/>
            </a:prstGeom>
          </p:spPr>
        </p:pic>
        <p:sp>
          <p:nvSpPr>
            <p:cNvPr id="20" name="矩形 19"/>
            <p:cNvSpPr/>
            <p:nvPr/>
          </p:nvSpPr>
          <p:spPr>
            <a:xfrm>
              <a:off x="3419590" y="3429000"/>
              <a:ext cx="938919" cy="473248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358509" y="3342458"/>
              <a:ext cx="13348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输入</a:t>
              </a:r>
              <a:r>
                <a:rPr lang="en-US" altLang="zh-CN" b="1" dirty="0">
                  <a:solidFill>
                    <a:srgbClr val="FF0000"/>
                  </a:solidFill>
                </a:rPr>
                <a:t>IP</a:t>
              </a:r>
              <a:r>
                <a:rPr lang="zh-CN" altLang="en-US" b="1" dirty="0">
                  <a:solidFill>
                    <a:srgbClr val="FF0000"/>
                  </a:solidFill>
                </a:rPr>
                <a:t>地址、</a:t>
              </a:r>
              <a:endParaRPr lang="en-US" altLang="zh-CN" b="1" dirty="0">
                <a:solidFill>
                  <a:srgbClr val="FF0000"/>
                </a:solidFill>
              </a:endParaRPr>
            </a:p>
            <a:p>
              <a:r>
                <a:rPr lang="zh-CN" altLang="en-US" b="1" dirty="0">
                  <a:solidFill>
                    <a:srgbClr val="FF0000"/>
                  </a:solidFill>
                </a:rPr>
                <a:t>子网掩码</a:t>
              </a:r>
              <a:endParaRPr lang="en-US" altLang="zh-CN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6922721" y="2110680"/>
            <a:ext cx="3240933" cy="928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         不要忘记给服务器</a:t>
            </a:r>
            <a:r>
              <a:rPr lang="en-US" altLang="zh-CN" b="1" dirty="0">
                <a:solidFill>
                  <a:schemeClr val="bg1"/>
                </a:solidFill>
              </a:rPr>
              <a:t>Server0</a:t>
            </a:r>
            <a:r>
              <a:rPr lang="zh-CN" altLang="en-US" b="1" dirty="0">
                <a:solidFill>
                  <a:schemeClr val="bg1"/>
                </a:solidFill>
              </a:rPr>
              <a:t>配置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地址和子网掩码。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00199" y="685800"/>
            <a:ext cx="279918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320" y="3047331"/>
            <a:ext cx="3309761" cy="138732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4712359" y="2576105"/>
            <a:ext cx="3258944" cy="562039"/>
            <a:chOff x="10167773" y="1566908"/>
            <a:chExt cx="3258944" cy="562039"/>
          </a:xfrm>
        </p:grpSpPr>
        <p:cxnSp>
          <p:nvCxnSpPr>
            <p:cNvPr id="13" name="直接箭头连接符 12"/>
            <p:cNvCxnSpPr/>
            <p:nvPr/>
          </p:nvCxnSpPr>
          <p:spPr>
            <a:xfrm>
              <a:off x="11544809" y="1895902"/>
              <a:ext cx="0" cy="233045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10167773" y="1566908"/>
              <a:ext cx="3258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00199" y="685800"/>
            <a:ext cx="279918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8" name="矩形 17"/>
          <p:cNvSpPr/>
          <p:nvPr/>
        </p:nvSpPr>
        <p:spPr>
          <a:xfrm>
            <a:off x="4440586" y="2613717"/>
            <a:ext cx="3310827" cy="13593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         在计算机</a:t>
            </a:r>
            <a:r>
              <a:rPr lang="en-US" altLang="zh-CN" b="1" dirty="0">
                <a:solidFill>
                  <a:schemeClr val="bg1"/>
                </a:solidFill>
              </a:rPr>
              <a:t>PC0</a:t>
            </a:r>
            <a:r>
              <a:rPr lang="zh-CN" altLang="en-US" b="1" dirty="0">
                <a:solidFill>
                  <a:schemeClr val="bg1"/>
                </a:solidFill>
              </a:rPr>
              <a:t>的命令行使用“</a:t>
            </a:r>
            <a:r>
              <a:rPr lang="en-US" altLang="zh-CN" b="1" dirty="0">
                <a:solidFill>
                  <a:schemeClr val="bg1"/>
                </a:solidFill>
              </a:rPr>
              <a:t>ping”</a:t>
            </a:r>
            <a:r>
              <a:rPr lang="zh-CN" altLang="en-US" b="1" dirty="0">
                <a:solidFill>
                  <a:schemeClr val="bg1"/>
                </a:solidFill>
              </a:rPr>
              <a:t>命令，测试</a:t>
            </a:r>
            <a:r>
              <a:rPr lang="en-US" altLang="zh-CN" b="1" dirty="0">
                <a:solidFill>
                  <a:schemeClr val="bg1"/>
                </a:solidFill>
              </a:rPr>
              <a:t>PC0</a:t>
            </a:r>
            <a:r>
              <a:rPr lang="zh-CN" altLang="en-US" b="1" dirty="0">
                <a:solidFill>
                  <a:schemeClr val="bg1"/>
                </a:solidFill>
              </a:rPr>
              <a:t>与服务器</a:t>
            </a:r>
            <a:r>
              <a:rPr lang="en-US" altLang="zh-CN" b="1" dirty="0">
                <a:solidFill>
                  <a:schemeClr val="bg1"/>
                </a:solidFill>
              </a:rPr>
              <a:t>Server0</a:t>
            </a:r>
            <a:r>
              <a:rPr lang="zh-CN" altLang="en-US" b="1" dirty="0">
                <a:solidFill>
                  <a:schemeClr val="bg1"/>
                </a:solidFill>
              </a:rPr>
              <a:t>之间的连通性。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5" name="连接符: 曲线 24"/>
          <p:cNvCxnSpPr>
            <a:stCxn id="16" idx="2"/>
            <a:endCxn id="2" idx="2"/>
          </p:cNvCxnSpPr>
          <p:nvPr/>
        </p:nvCxnSpPr>
        <p:spPr>
          <a:xfrm rot="16200000" flipH="1">
            <a:off x="6001549" y="959263"/>
            <a:ext cx="27771" cy="2150450"/>
          </a:xfrm>
          <a:prstGeom prst="curvedConnector3">
            <a:avLst>
              <a:gd name="adj1" fmla="val 923161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00199" y="685800"/>
            <a:ext cx="279918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grpSp>
        <p:nvGrpSpPr>
          <p:cNvPr id="11" name="组合 10"/>
          <p:cNvGrpSpPr/>
          <p:nvPr/>
        </p:nvGrpSpPr>
        <p:grpSpPr>
          <a:xfrm>
            <a:off x="311448" y="2155002"/>
            <a:ext cx="11015308" cy="4025813"/>
            <a:chOff x="311448" y="2155002"/>
            <a:chExt cx="11015308" cy="4025813"/>
          </a:xfrm>
        </p:grpSpPr>
        <p:pic>
          <p:nvPicPr>
            <p:cNvPr id="12" name="20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448" y="2155002"/>
              <a:ext cx="5784551" cy="4025813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435157" y="3197111"/>
              <a:ext cx="5294644" cy="2309024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163680" y="3107222"/>
              <a:ext cx="5163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//  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测试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PC0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与服务器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Server0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的连通性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6219708" y="3649513"/>
            <a:ext cx="4217062" cy="1924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         如果测试失败，请检查网络拓扑、计算机</a:t>
            </a:r>
            <a:r>
              <a:rPr lang="en-US" altLang="zh-CN" b="1" dirty="0">
                <a:solidFill>
                  <a:schemeClr val="bg1"/>
                </a:solidFill>
              </a:rPr>
              <a:t>PC0</a:t>
            </a:r>
            <a:r>
              <a:rPr lang="zh-CN" altLang="en-US" b="1" dirty="0">
                <a:solidFill>
                  <a:schemeClr val="bg1"/>
                </a:solidFill>
              </a:rPr>
              <a:t>和服务器</a:t>
            </a:r>
            <a:r>
              <a:rPr lang="en-US" altLang="zh-CN" b="1" dirty="0">
                <a:solidFill>
                  <a:schemeClr val="bg1"/>
                </a:solidFill>
              </a:rPr>
              <a:t>Server0</a:t>
            </a:r>
            <a:r>
              <a:rPr lang="zh-CN" altLang="en-US" b="1" dirty="0">
                <a:solidFill>
                  <a:schemeClr val="bg1"/>
                </a:solidFill>
              </a:rPr>
              <a:t>各自的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地址和子网掩码配置是否正确。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6509" y="685800"/>
            <a:ext cx="274252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编写万维网文档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sp>
        <p:nvSpPr>
          <p:cNvPr id="13" name="矩形 12"/>
          <p:cNvSpPr/>
          <p:nvPr/>
        </p:nvSpPr>
        <p:spPr>
          <a:xfrm>
            <a:off x="6096000" y="2535011"/>
            <a:ext cx="5567534" cy="1616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请同学们使用自己熟悉的代码编辑软件分别编写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HTML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文档</a:t>
            </a:r>
            <a:r>
              <a:rPr lang="zh-CN" altLang="en-US" sz="2000" b="1" dirty="0"/>
              <a:t>、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CSS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文档</a:t>
            </a:r>
            <a:r>
              <a:rPr lang="zh-CN" altLang="en-US" sz="2000" b="1" dirty="0"/>
              <a:t>以及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JavaScript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文档</a:t>
            </a:r>
            <a:r>
              <a:rPr lang="zh-CN" altLang="en-US" sz="2000" b="1" dirty="0"/>
              <a:t>。请注意，保存这些文档时选择编码格式为</a:t>
            </a:r>
            <a:r>
              <a:rPr lang="en-US" altLang="zh-CN" sz="2000" b="1" dirty="0"/>
              <a:t>UTF-8</a:t>
            </a:r>
            <a:r>
              <a:rPr lang="zh-CN" altLang="en-US" sz="2000" b="1" dirty="0"/>
              <a:t>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6509" y="685800"/>
            <a:ext cx="274252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编写万维网文档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6096000" y="2079202"/>
            <a:ext cx="5791200" cy="4341338"/>
            <a:chOff x="6096000" y="2079202"/>
            <a:chExt cx="5791200" cy="4341338"/>
          </a:xfrm>
        </p:grpSpPr>
        <p:sp>
          <p:nvSpPr>
            <p:cNvPr id="20" name="文本框 19"/>
            <p:cNvSpPr txBox="1"/>
            <p:nvPr/>
          </p:nvSpPr>
          <p:spPr>
            <a:xfrm>
              <a:off x="6096000" y="2079202"/>
              <a:ext cx="579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编写文件名为“my_index.html”的HTML文档，内容如下：</a:t>
              </a:r>
              <a:endParaRPr lang="zh-CN" altLang="en-US" b="1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6096000" y="2446019"/>
              <a:ext cx="5791200" cy="397452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chemeClr val="tx1"/>
                  </a:solidFill>
                </a:rPr>
                <a:t>&lt;!DOCTYPE html&gt;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&lt;html&gt;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&lt;head&gt;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    &lt;meta charset="UTF-8"&gt;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    &lt;title&gt;</a:t>
              </a:r>
              <a:r>
                <a:rPr lang="zh-CN" altLang="en-US" dirty="0">
                  <a:solidFill>
                    <a:schemeClr val="tx1"/>
                  </a:solidFill>
                </a:rPr>
                <a:t>最简单的网页</a:t>
              </a:r>
              <a:r>
                <a:rPr lang="en-US" altLang="zh-CN" dirty="0">
                  <a:solidFill>
                    <a:schemeClr val="tx1"/>
                  </a:solidFill>
                </a:rPr>
                <a:t>&lt;/title&gt;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    &lt;link rel="stylesheet" type="text/css" href="my_styles.css" /&gt;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    &lt;script type="text/javascript" src="my_js.js" &gt;&lt;/script&gt;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&lt;/head&gt;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&lt;body&gt;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    &lt;p class="pink" id="myId"&gt;Hello world&lt;/p&gt;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    &lt;button type="button" onclick="myFunction()"&gt;</a:t>
              </a:r>
              <a:r>
                <a:rPr lang="zh-CN" altLang="en-US" dirty="0">
                  <a:solidFill>
                    <a:schemeClr val="tx1"/>
                  </a:solidFill>
                </a:rPr>
                <a:t>点个赞吧</a:t>
              </a:r>
              <a:r>
                <a:rPr lang="en-US" altLang="zh-CN" dirty="0">
                  <a:solidFill>
                    <a:schemeClr val="tx1"/>
                  </a:solidFill>
                </a:rPr>
                <a:t>&lt;/button&gt;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 &lt;/body&gt;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&lt;/html&gt;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6509" y="685800"/>
            <a:ext cx="2742522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编写万维网文档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6096000" y="2079202"/>
            <a:ext cx="5791200" cy="1624448"/>
            <a:chOff x="6096000" y="2079202"/>
            <a:chExt cx="5791200" cy="1624448"/>
          </a:xfrm>
        </p:grpSpPr>
        <p:sp>
          <p:nvSpPr>
            <p:cNvPr id="20" name="文本框 19"/>
            <p:cNvSpPr txBox="1"/>
            <p:nvPr/>
          </p:nvSpPr>
          <p:spPr>
            <a:xfrm>
              <a:off x="6096000" y="2079202"/>
              <a:ext cx="579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编写文件名为“</a:t>
              </a:r>
              <a:r>
                <a:rPr lang="en-US" altLang="zh-CN" b="1" dirty="0"/>
                <a:t>my_styles.css”</a:t>
              </a:r>
              <a:r>
                <a:rPr lang="zh-CN" altLang="en-US" b="1" dirty="0"/>
                <a:t>的</a:t>
              </a:r>
              <a:r>
                <a:rPr lang="en-US" altLang="zh-CN" b="1" dirty="0"/>
                <a:t>CSS</a:t>
              </a:r>
              <a:r>
                <a:rPr lang="zh-CN" altLang="en-US" b="1" dirty="0"/>
                <a:t>文档，内容如下：</a:t>
              </a:r>
              <a:endParaRPr lang="zh-CN" altLang="en-US" b="1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6096000" y="2446020"/>
              <a:ext cx="5791200" cy="12576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chemeClr val="tx1"/>
                  </a:solidFill>
                </a:rPr>
                <a:t>.pink {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color: deeppink;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font-size: 36px;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}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096000" y="4284068"/>
            <a:ext cx="5791200" cy="1624448"/>
            <a:chOff x="6096000" y="2079202"/>
            <a:chExt cx="5791200" cy="1624448"/>
          </a:xfrm>
        </p:grpSpPr>
        <p:sp>
          <p:nvSpPr>
            <p:cNvPr id="14" name="文本框 13"/>
            <p:cNvSpPr txBox="1"/>
            <p:nvPr/>
          </p:nvSpPr>
          <p:spPr>
            <a:xfrm>
              <a:off x="6096000" y="2079202"/>
              <a:ext cx="579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编写文件名为“</a:t>
              </a:r>
              <a:r>
                <a:rPr lang="en-US" altLang="zh-CN" b="1" dirty="0"/>
                <a:t>my_js.js”</a:t>
              </a:r>
              <a:r>
                <a:rPr lang="zh-CN" altLang="en-US" b="1" dirty="0"/>
                <a:t>的</a:t>
              </a:r>
              <a:r>
                <a:rPr lang="en-US" altLang="zh-CN" b="1" dirty="0"/>
                <a:t>JavaScript</a:t>
              </a:r>
              <a:r>
                <a:rPr lang="zh-CN" altLang="en-US" b="1" dirty="0"/>
                <a:t>文档，内容如下：</a:t>
              </a:r>
              <a:endParaRPr lang="zh-CN" altLang="en-US" b="1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096000" y="2446020"/>
              <a:ext cx="5791200" cy="12576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solidFill>
                    <a:schemeClr val="tx1"/>
                  </a:solidFill>
                </a:rPr>
                <a:t>function myFunction() {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   document.getElementById("myId").innerHTML="</a:t>
              </a:r>
              <a:r>
                <a:rPr lang="zh-CN" altLang="en-US" dirty="0">
                  <a:solidFill>
                    <a:schemeClr val="tx1"/>
                  </a:solidFill>
                </a:rPr>
                <a:t>谢谢你的赞</a:t>
              </a:r>
              <a:r>
                <a:rPr lang="en-US" altLang="zh-CN" dirty="0">
                  <a:solidFill>
                    <a:schemeClr val="tx1"/>
                  </a:solidFill>
                </a:rPr>
                <a:t>";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}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98953" y="685800"/>
            <a:ext cx="460826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将万维网文档导入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pic>
        <p:nvPicPr>
          <p:cNvPr id="19" name="20 18" descr="表格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087" y="2186363"/>
            <a:ext cx="5795494" cy="4121497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251714" y="2175243"/>
            <a:ext cx="41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❶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61033" y="2815528"/>
            <a:ext cx="25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279294" y="5890878"/>
            <a:ext cx="25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❸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510907" y="4897686"/>
            <a:ext cx="1403869" cy="657519"/>
            <a:chOff x="7510907" y="4897686"/>
            <a:chExt cx="1403869" cy="657519"/>
          </a:xfrm>
        </p:grpSpPr>
        <p:sp>
          <p:nvSpPr>
            <p:cNvPr id="26" name="文本框 25"/>
            <p:cNvSpPr txBox="1"/>
            <p:nvPr/>
          </p:nvSpPr>
          <p:spPr>
            <a:xfrm>
              <a:off x="8489522" y="5041779"/>
              <a:ext cx="4252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❹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907" y="4897686"/>
              <a:ext cx="988407" cy="657519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869140" y="3107079"/>
            <a:ext cx="391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❺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/>
      <p:bldP spid="24" grpId="0"/>
      <p:bldP spid="25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33086" y="685800"/>
            <a:ext cx="272454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访问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pic>
        <p:nvPicPr>
          <p:cNvPr id="13" name="20 12" descr="图形用户界面, 文本, 应用程序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28" y="2236701"/>
            <a:ext cx="4266789" cy="4187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33086" y="685800"/>
            <a:ext cx="272454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访问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pic>
        <p:nvPicPr>
          <p:cNvPr id="13" name="20 12" descr="图形用户界面, 文本, 应用程序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28" y="2236701"/>
            <a:ext cx="4266789" cy="418777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46615" y="3429000"/>
            <a:ext cx="1793609" cy="546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76214" y="3429000"/>
            <a:ext cx="203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1192"/>
                </a:solidFill>
              </a:rPr>
              <a:t>谢谢你的赞</a:t>
            </a:r>
            <a:endParaRPr lang="zh-CN" altLang="en-US" sz="2400" dirty="0">
              <a:solidFill>
                <a:srgbClr val="FF119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33122" y="685800"/>
            <a:ext cx="373991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20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367" y="1689767"/>
            <a:ext cx="2742047" cy="42661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33122" y="685800"/>
            <a:ext cx="373991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4" name="20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96" y="1374844"/>
            <a:ext cx="3043465" cy="489601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3456561" y="5918684"/>
            <a:ext cx="3843075" cy="369332"/>
            <a:chOff x="3456561" y="5918684"/>
            <a:chExt cx="3843075" cy="369332"/>
          </a:xfrm>
        </p:grpSpPr>
        <p:cxnSp>
          <p:nvCxnSpPr>
            <p:cNvPr id="19" name="直接箭头连接符 18"/>
            <p:cNvCxnSpPr/>
            <p:nvPr/>
          </p:nvCxnSpPr>
          <p:spPr>
            <a:xfrm flipH="1">
              <a:off x="3456561" y="6103350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4007795" y="5918684"/>
              <a:ext cx="329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切换到“模拟”工作模式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456561" y="5641685"/>
            <a:ext cx="4507148" cy="369332"/>
            <a:chOff x="3456561" y="5641685"/>
            <a:chExt cx="4507148" cy="369332"/>
          </a:xfrm>
        </p:grpSpPr>
        <p:cxnSp>
          <p:nvCxnSpPr>
            <p:cNvPr id="22" name="直接箭头连接符 21"/>
            <p:cNvCxnSpPr/>
            <p:nvPr/>
          </p:nvCxnSpPr>
          <p:spPr>
            <a:xfrm flipH="1">
              <a:off x="3456561" y="5826351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4007795" y="5641685"/>
              <a:ext cx="395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单击该按钮，清空“事件列表”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293707" y="5236780"/>
            <a:ext cx="7308426" cy="526822"/>
            <a:chOff x="1293707" y="5236780"/>
            <a:chExt cx="7308426" cy="526822"/>
          </a:xfrm>
        </p:grpSpPr>
        <p:sp>
          <p:nvSpPr>
            <p:cNvPr id="25" name="文本框 24"/>
            <p:cNvSpPr txBox="1"/>
            <p:nvPr/>
          </p:nvSpPr>
          <p:spPr>
            <a:xfrm>
              <a:off x="4007795" y="5236780"/>
              <a:ext cx="45943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单击该按钮，打开“协议选择”对话框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6" name="连接符: 肘形 25"/>
            <p:cNvCxnSpPr>
              <a:stCxn id="25" idx="1"/>
            </p:cNvCxnSpPr>
            <p:nvPr/>
          </p:nvCxnSpPr>
          <p:spPr>
            <a:xfrm rot="10800000" flipV="1">
              <a:off x="1293707" y="5421445"/>
              <a:ext cx="2714088" cy="342157"/>
            </a:xfrm>
            <a:prstGeom prst="bentConnector2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4532993" y="1434069"/>
            <a:ext cx="5742495" cy="486829"/>
            <a:chOff x="4513258" y="1434069"/>
            <a:chExt cx="5742495" cy="486829"/>
          </a:xfrm>
        </p:grpSpPr>
        <p:sp>
          <p:nvSpPr>
            <p:cNvPr id="28" name="文本框 27"/>
            <p:cNvSpPr txBox="1"/>
            <p:nvPr/>
          </p:nvSpPr>
          <p:spPr>
            <a:xfrm>
              <a:off x="4513258" y="1434069"/>
              <a:ext cx="2606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❹  选择“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Misc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”选项卡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9" name="连接符: 肘形 28"/>
            <p:cNvCxnSpPr>
              <a:stCxn id="28" idx="3"/>
            </p:cNvCxnSpPr>
            <p:nvPr/>
          </p:nvCxnSpPr>
          <p:spPr>
            <a:xfrm>
              <a:off x="7119669" y="1618735"/>
              <a:ext cx="3136084" cy="302163"/>
            </a:xfrm>
            <a:prstGeom prst="bentConnector2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4532993" y="2045888"/>
            <a:ext cx="6289253" cy="2784081"/>
            <a:chOff x="4513258" y="2045888"/>
            <a:chExt cx="6289253" cy="2784081"/>
          </a:xfrm>
        </p:grpSpPr>
        <p:sp>
          <p:nvSpPr>
            <p:cNvPr id="31" name="文本框 30"/>
            <p:cNvSpPr txBox="1"/>
            <p:nvPr/>
          </p:nvSpPr>
          <p:spPr>
            <a:xfrm>
              <a:off x="4513258" y="2045888"/>
              <a:ext cx="47066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❺  选择监视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TCP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协议和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HTTP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协议的相关事件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2" name="连接符: 肘形 31"/>
            <p:cNvCxnSpPr/>
            <p:nvPr/>
          </p:nvCxnSpPr>
          <p:spPr>
            <a:xfrm rot="16200000" flipH="1">
              <a:off x="6818447" y="1625892"/>
              <a:ext cx="2414750" cy="3993404"/>
            </a:xfrm>
            <a:prstGeom prst="bentConnector2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肘形 32"/>
            <p:cNvCxnSpPr/>
            <p:nvPr/>
          </p:nvCxnSpPr>
          <p:spPr>
            <a:xfrm rot="16200000" flipH="1">
              <a:off x="8750022" y="703867"/>
              <a:ext cx="433472" cy="3671507"/>
            </a:xfrm>
            <a:prstGeom prst="bentConnector2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29190" y="685800"/>
            <a:ext cx="413824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HTTP</a:t>
            </a:r>
            <a:r>
              <a:rPr lang="zh-CN" altLang="en-US" sz="2400" b="1" dirty="0"/>
              <a:t>的基本工作过程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4922379" y="2020602"/>
            <a:ext cx="2168279" cy="4305014"/>
            <a:chOff x="4922379" y="2020602"/>
            <a:chExt cx="2168279" cy="4305014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4922379" y="2020603"/>
              <a:ext cx="0" cy="43050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7090658" y="2020602"/>
              <a:ext cx="0" cy="43050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4930835" y="2447263"/>
            <a:ext cx="2146667" cy="7778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建立</a:t>
            </a:r>
            <a:r>
              <a:rPr lang="en-US" altLang="zh-CN" b="1" dirty="0"/>
              <a:t>TCP</a:t>
            </a:r>
            <a:r>
              <a:rPr lang="zh-CN" altLang="en-US" b="1" dirty="0"/>
              <a:t>连接</a:t>
            </a:r>
            <a:endParaRPr lang="zh-CN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4928543" y="3221417"/>
            <a:ext cx="2146667" cy="163345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基于</a:t>
            </a:r>
            <a:r>
              <a:rPr lang="en-US" altLang="zh-CN" b="1" dirty="0"/>
              <a:t>TCP</a:t>
            </a:r>
            <a:r>
              <a:rPr lang="zh-CN" altLang="en-US" b="1" dirty="0"/>
              <a:t>连接</a:t>
            </a:r>
            <a:endParaRPr lang="en-US" altLang="zh-CN" b="1" dirty="0"/>
          </a:p>
          <a:p>
            <a:pPr algn="ctr">
              <a:lnSpc>
                <a:spcPct val="150000"/>
              </a:lnSpc>
            </a:pPr>
            <a:r>
              <a:rPr lang="zh-CN" altLang="en-US" b="1" dirty="0"/>
              <a:t>交互</a:t>
            </a:r>
            <a:r>
              <a:rPr lang="en-US" altLang="zh-CN" b="1" dirty="0"/>
              <a:t>HTTP</a:t>
            </a:r>
            <a:r>
              <a:rPr lang="zh-CN" altLang="en-US" b="1" dirty="0"/>
              <a:t>报文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4924493" y="4851127"/>
            <a:ext cx="2146667" cy="77789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释放</a:t>
            </a:r>
            <a:r>
              <a:rPr lang="en-US" altLang="zh-CN" b="1" dirty="0"/>
              <a:t>TCP</a:t>
            </a:r>
            <a:r>
              <a:rPr lang="zh-CN" altLang="en-US" b="1" dirty="0"/>
              <a:t>连接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29190" y="685800"/>
            <a:ext cx="413824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HTTP</a:t>
            </a:r>
            <a:r>
              <a:rPr lang="zh-CN" altLang="en-US" sz="2400" b="1" dirty="0"/>
              <a:t>的基本工作过程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932698" y="1491249"/>
            <a:ext cx="3384897" cy="721462"/>
            <a:chOff x="6128166" y="3973498"/>
            <a:chExt cx="3384897" cy="721462"/>
          </a:xfrm>
        </p:grpSpPr>
        <p:sp>
          <p:nvSpPr>
            <p:cNvPr id="14" name="文本框 13"/>
            <p:cNvSpPr txBox="1"/>
            <p:nvPr/>
          </p:nvSpPr>
          <p:spPr>
            <a:xfrm>
              <a:off x="6128166" y="3973498"/>
              <a:ext cx="3384897" cy="498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❶  切换到“模拟”工作模式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4" idx="2"/>
            </p:cNvCxnSpPr>
            <p:nvPr/>
          </p:nvCxnSpPr>
          <p:spPr>
            <a:xfrm>
              <a:off x="7820615" y="4472289"/>
              <a:ext cx="0" cy="222671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20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216653"/>
            <a:ext cx="2775626" cy="1309139"/>
          </a:xfrm>
          <a:prstGeom prst="rect">
            <a:avLst/>
          </a:prstGeom>
        </p:spPr>
      </p:pic>
      <p:pic>
        <p:nvPicPr>
          <p:cNvPr id="26" name="20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78" y="5013497"/>
            <a:ext cx="3674712" cy="1366409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2332325" y="4295977"/>
            <a:ext cx="3623238" cy="717520"/>
            <a:chOff x="4640752" y="5001952"/>
            <a:chExt cx="3623238" cy="717520"/>
          </a:xfrm>
        </p:grpSpPr>
        <p:sp>
          <p:nvSpPr>
            <p:cNvPr id="28" name="文本框 27"/>
            <p:cNvSpPr txBox="1"/>
            <p:nvPr/>
          </p:nvSpPr>
          <p:spPr>
            <a:xfrm>
              <a:off x="4640752" y="5001952"/>
              <a:ext cx="36232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单击该按钮，进行单步模拟。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6084439" y="5461466"/>
              <a:ext cx="0" cy="25800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/>
          <p:cNvGrpSpPr/>
          <p:nvPr/>
        </p:nvGrpSpPr>
        <p:grpSpPr>
          <a:xfrm>
            <a:off x="6702628" y="1907615"/>
            <a:ext cx="4556674" cy="4472291"/>
            <a:chOff x="6702628" y="1907615"/>
            <a:chExt cx="4556674" cy="4472291"/>
          </a:xfrm>
        </p:grpSpPr>
        <p:pic>
          <p:nvPicPr>
            <p:cNvPr id="31" name="20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2628" y="1907615"/>
              <a:ext cx="4556674" cy="4472291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7045485" y="3113872"/>
              <a:ext cx="4009505" cy="960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❷  再次在计算机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PC0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中使用浏览器访问服务器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Server0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提供的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Web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服务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29190" y="685800"/>
            <a:ext cx="413824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观察</a:t>
            </a:r>
            <a:r>
              <a:rPr lang="en-US" altLang="zh-CN" sz="2400" b="1" dirty="0"/>
              <a:t>HTTP</a:t>
            </a:r>
            <a:r>
              <a:rPr lang="zh-CN" altLang="en-US" sz="2400" b="1" dirty="0"/>
              <a:t>的基本工作过程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9602" y="1534860"/>
            <a:ext cx="322113" cy="51351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78257" y="1464350"/>
            <a:ext cx="11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Server-PT</a:t>
            </a:r>
            <a:endParaRPr lang="en-US" altLang="zh-CN" b="1" dirty="0"/>
          </a:p>
          <a:p>
            <a:pPr algn="ctr"/>
            <a:r>
              <a:rPr lang="en-US" altLang="zh-CN" b="1" dirty="0"/>
              <a:t>Server0</a:t>
            </a:r>
            <a:endParaRPr lang="zh-CN" altLang="en-US" b="1" dirty="0"/>
          </a:p>
        </p:txBody>
      </p:sp>
      <p:pic>
        <p:nvPicPr>
          <p:cNvPr id="16" name="20 15" descr="图标&#10;&#10;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43" y="1562630"/>
            <a:ext cx="539132" cy="45797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31633" y="1468450"/>
            <a:ext cx="94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5170308" y="1702110"/>
            <a:ext cx="1769594" cy="98561"/>
            <a:chOff x="5211203" y="1572701"/>
            <a:chExt cx="1769594" cy="98561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211203" y="1623059"/>
              <a:ext cx="1769594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等腰三角形 6"/>
            <p:cNvSpPr/>
            <p:nvPr/>
          </p:nvSpPr>
          <p:spPr>
            <a:xfrm>
              <a:off x="5459859" y="157485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6564395" y="157270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359610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56381" y="1602849"/>
            <a:ext cx="163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192.168.0.2/24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125628" y="1534860"/>
            <a:ext cx="111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浏览器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31294" y="1534860"/>
            <a:ext cx="180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Web</a:t>
            </a:r>
            <a:r>
              <a:rPr lang="zh-CN" altLang="en-US" sz="2400" b="1" dirty="0"/>
              <a:t>服务器</a:t>
            </a:r>
            <a:endParaRPr lang="zh-CN" altLang="en-US" sz="24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4922379" y="2020602"/>
            <a:ext cx="2168279" cy="4305014"/>
            <a:chOff x="4922379" y="2020602"/>
            <a:chExt cx="2168279" cy="4305014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4922379" y="2020603"/>
              <a:ext cx="0" cy="43050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7090658" y="2020602"/>
              <a:ext cx="0" cy="43050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4930835" y="2447263"/>
            <a:ext cx="2146667" cy="7778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建立</a:t>
            </a:r>
            <a:r>
              <a:rPr lang="en-US" altLang="zh-CN" b="1" dirty="0"/>
              <a:t>TCP</a:t>
            </a:r>
            <a:r>
              <a:rPr lang="zh-CN" altLang="en-US" b="1" dirty="0"/>
              <a:t>连接</a:t>
            </a:r>
            <a:endParaRPr lang="zh-CN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4928543" y="3221417"/>
            <a:ext cx="2146667" cy="163345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基于</a:t>
            </a:r>
            <a:r>
              <a:rPr lang="en-US" altLang="zh-CN" b="1" dirty="0"/>
              <a:t>TCP</a:t>
            </a:r>
            <a:r>
              <a:rPr lang="zh-CN" altLang="en-US" b="1" dirty="0"/>
              <a:t>连接</a:t>
            </a:r>
            <a:endParaRPr lang="en-US" altLang="zh-CN" b="1" dirty="0"/>
          </a:p>
          <a:p>
            <a:pPr algn="ctr">
              <a:lnSpc>
                <a:spcPct val="150000"/>
              </a:lnSpc>
            </a:pPr>
            <a:r>
              <a:rPr lang="zh-CN" altLang="en-US" b="1" dirty="0"/>
              <a:t>交互</a:t>
            </a:r>
            <a:r>
              <a:rPr lang="en-US" altLang="zh-CN" b="1" dirty="0"/>
              <a:t>HTTP</a:t>
            </a:r>
            <a:r>
              <a:rPr lang="zh-CN" altLang="en-US" b="1" dirty="0"/>
              <a:t>报文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4924493" y="4851127"/>
            <a:ext cx="2146667" cy="77789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释放</a:t>
            </a:r>
            <a:r>
              <a:rPr lang="en-US" altLang="zh-CN" b="1" dirty="0"/>
              <a:t>TCP</a:t>
            </a:r>
            <a:r>
              <a:rPr lang="zh-CN" altLang="en-US" b="1" dirty="0"/>
              <a:t>连接</a:t>
            </a:r>
            <a:endParaRPr lang="zh-CN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7387567" y="2447262"/>
            <a:ext cx="4387800" cy="3181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重点观察以下内容：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/>
              <a:t>PC0</a:t>
            </a:r>
            <a:r>
              <a:rPr lang="zh-CN" altLang="en-US" b="1" dirty="0"/>
              <a:t>与</a:t>
            </a:r>
            <a:r>
              <a:rPr lang="en-US" altLang="zh-CN" b="1" dirty="0"/>
              <a:t>Web</a:t>
            </a:r>
            <a:r>
              <a:rPr lang="zh-CN" altLang="en-US" b="1" dirty="0"/>
              <a:t>服务器之间建立</a:t>
            </a:r>
            <a:r>
              <a:rPr lang="en-US" altLang="zh-CN" b="1" dirty="0"/>
              <a:t>TCP</a:t>
            </a:r>
            <a:r>
              <a:rPr lang="zh-CN" altLang="en-US" b="1" dirty="0"/>
              <a:t>连接和释放</a:t>
            </a:r>
            <a:r>
              <a:rPr lang="en-US" altLang="zh-CN" b="1" dirty="0"/>
              <a:t>TCP</a:t>
            </a:r>
            <a:r>
              <a:rPr lang="zh-CN" altLang="en-US" b="1" dirty="0"/>
              <a:t>连接的过程。</a:t>
            </a:r>
            <a:endParaRPr lang="zh-CN" altLang="en-US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/>
              <a:t>PC0</a:t>
            </a:r>
            <a:r>
              <a:rPr lang="zh-CN" altLang="en-US" b="1" dirty="0"/>
              <a:t>与</a:t>
            </a:r>
            <a:r>
              <a:rPr lang="en-US" altLang="zh-CN" b="1" dirty="0"/>
              <a:t>Web</a:t>
            </a:r>
            <a:r>
              <a:rPr lang="zh-CN" altLang="en-US" b="1" dirty="0"/>
              <a:t>服务器之间基于</a:t>
            </a:r>
            <a:r>
              <a:rPr lang="en-US" altLang="zh-CN" b="1" dirty="0"/>
              <a:t>TCP</a:t>
            </a:r>
            <a:r>
              <a:rPr lang="zh-CN" altLang="en-US" b="1" dirty="0"/>
              <a:t>连接交互了哪些</a:t>
            </a:r>
            <a:r>
              <a:rPr lang="en-US" altLang="zh-CN" b="1" dirty="0"/>
              <a:t>HTTP</a:t>
            </a:r>
            <a:r>
              <a:rPr lang="zh-CN" altLang="en-US" b="1" dirty="0"/>
              <a:t>报文。</a:t>
            </a:r>
            <a:endParaRPr lang="zh-CN" altLang="en-US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封装</a:t>
            </a:r>
            <a:r>
              <a:rPr lang="en-US" altLang="zh-CN" b="1" dirty="0"/>
              <a:t>HTTP</a:t>
            </a:r>
            <a:r>
              <a:rPr lang="zh-CN" altLang="en-US" b="1" dirty="0"/>
              <a:t>报文的</a:t>
            </a:r>
            <a:r>
              <a:rPr lang="en-US" altLang="zh-CN" b="1" dirty="0"/>
              <a:t>TCP</a:t>
            </a:r>
            <a:r>
              <a:rPr lang="zh-CN" altLang="en-US" b="1" dirty="0"/>
              <a:t>报文段首部中的源端口字段和目的端口字段各自的取值。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ags/tag1.xml><?xml version="1.0" encoding="utf-8"?>
<p:tagLst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mgea0xa4">
      <a:majorFont>
        <a:latin typeface="Arial Narrow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2679</Words>
  <Application>WPS 演示</Application>
  <PresentationFormat>宽屏</PresentationFormat>
  <Paragraphs>395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Narrow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user0703</dc:creator>
  <cp:lastModifiedBy>黄小P</cp:lastModifiedBy>
  <cp:revision>246</cp:revision>
  <dcterms:created xsi:type="dcterms:W3CDTF">2021-12-18T00:21:00Z</dcterms:created>
  <dcterms:modified xsi:type="dcterms:W3CDTF">2025-06-20T14:29:59Z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F6C8572425954639BBFC9887F13EA494_12</vt:lpwstr>
  </property>
  <property fmtid="{D5CDD505-2E9C-101B-9397-08002B2CF9AE}" pid="3" name="KSOProductBuildVer">
    <vt:lpwstr>2052-12.1.0.21541</vt:lpwstr>
  </property>
</Properties>
</file>