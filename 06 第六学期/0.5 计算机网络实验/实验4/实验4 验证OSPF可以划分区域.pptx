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91" r:id="rId3"/>
    <p:sldId id="292" r:id="rId4"/>
    <p:sldId id="299" r:id="rId5"/>
    <p:sldId id="624" r:id="rId6"/>
    <p:sldId id="625" r:id="rId7"/>
    <p:sldId id="627" r:id="rId8"/>
    <p:sldId id="628" r:id="rId9"/>
    <p:sldId id="629" r:id="rId10"/>
    <p:sldId id="630" r:id="rId11"/>
    <p:sldId id="631" r:id="rId12"/>
    <p:sldId id="632" r:id="rId13"/>
    <p:sldId id="633" r:id="rId14"/>
    <p:sldId id="634" r:id="rId15"/>
    <p:sldId id="635" r:id="rId16"/>
    <p:sldId id="636" r:id="rId17"/>
    <p:sldId id="637" r:id="rId18"/>
    <p:sldId id="639" r:id="rId19"/>
    <p:sldId id="638" r:id="rId20"/>
    <p:sldId id="640" r:id="rId21"/>
    <p:sldId id="641" r:id="rId22"/>
    <p:sldId id="642" r:id="rId23"/>
    <p:sldId id="643" r:id="rId24"/>
    <p:sldId id="644" r:id="rId25"/>
    <p:sldId id="645" r:id="rId26"/>
    <p:sldId id="646" r:id="rId27"/>
    <p:sldId id="647" r:id="rId28"/>
    <p:sldId id="648" r:id="rId29"/>
    <p:sldId id="649" r:id="rId30"/>
    <p:sldId id="650" r:id="rId31"/>
    <p:sldId id="651" r:id="rId32"/>
    <p:sldId id="652" r:id="rId33"/>
  </p:sldIdLst>
  <p:sldSz cx="12192000" cy="6858000"/>
  <p:notesSz cx="6858000" cy="9144000"/>
  <p:custDataLst>
    <p:tags r:id="rId3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6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192" userDrawn="1">
          <p15:clr>
            <a:srgbClr val="A4A3A4"/>
          </p15:clr>
        </p15:guide>
        <p15:guide id="4" pos="7488" userDrawn="1">
          <p15:clr>
            <a:srgbClr val="A4A3A4"/>
          </p15:clr>
        </p15:guide>
        <p15:guide id="5" orient="horz" pos="432" userDrawn="1">
          <p15:clr>
            <a:srgbClr val="A4A3A4"/>
          </p15:clr>
        </p15:guide>
        <p15:guide id="6" orient="horz" pos="472" userDrawn="1">
          <p15:clr>
            <a:srgbClr val="A4A3A4"/>
          </p15:clr>
        </p15:guide>
        <p15:guide id="7" orient="horz" pos="4104" userDrawn="1">
          <p15:clr>
            <a:srgbClr val="A4A3A4"/>
          </p15:clr>
        </p15:guide>
        <p15:guide id="8" orient="horz" pos="405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6" autoAdjust="0"/>
    <p:restoredTop sz="94541" autoAdjust="0"/>
  </p:normalViewPr>
  <p:slideViewPr>
    <p:cSldViewPr snapToGrid="0" showGuides="1">
      <p:cViewPr varScale="1">
        <p:scale>
          <a:sx n="114" d="100"/>
          <a:sy n="114" d="100"/>
        </p:scale>
        <p:origin x="82" y="120"/>
      </p:cViewPr>
      <p:guideLst>
        <p:guide orient="horz" pos="2264"/>
        <p:guide pos="3840"/>
        <p:guide pos="192"/>
        <p:guide pos="7488"/>
        <p:guide orient="horz" pos="432"/>
        <p:guide orient="horz" pos="472"/>
        <p:guide orient="horz" pos="4104"/>
        <p:guide orient="horz" pos="405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7" Type="http://schemas.openxmlformats.org/officeDocument/2006/relationships/tags" Target="tags/tag1.xml"/><Relationship Id="rId36" Type="http://schemas.openxmlformats.org/officeDocument/2006/relationships/tableStyles" Target="tableStyles.xml"/><Relationship Id="rId35" Type="http://schemas.openxmlformats.org/officeDocument/2006/relationships/viewProps" Target="viewProps.xml"/><Relationship Id="rId34" Type="http://schemas.openxmlformats.org/officeDocument/2006/relationships/presProps" Target="presProps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0" y="63500"/>
            <a:ext cx="12207240" cy="622300"/>
          </a:xfrm>
          <a:prstGeom prst="rect">
            <a:avLst/>
          </a:prstGeom>
          <a:solidFill>
            <a:srgbClr val="1B7ADA"/>
          </a:solidFill>
          <a:ln>
            <a:solidFill>
              <a:srgbClr val="1B7ADA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200" b="1" dirty="0"/>
              <a:t>动手做计算机网络仿真实验</a:t>
            </a:r>
            <a:r>
              <a:rPr lang="zh-CN" altLang="en-US" sz="2400" b="1" dirty="0"/>
              <a:t>（微课视频版）</a:t>
            </a:r>
            <a:endParaRPr lang="zh-CN" altLang="en-US" sz="2400" b="1" dirty="0"/>
          </a:p>
        </p:txBody>
      </p:sp>
      <p:sp>
        <p:nvSpPr>
          <p:cNvPr id="10" name="矩形 9"/>
          <p:cNvSpPr/>
          <p:nvPr userDrawn="1"/>
        </p:nvSpPr>
        <p:spPr>
          <a:xfrm>
            <a:off x="132079" y="-1"/>
            <a:ext cx="732557" cy="732557"/>
          </a:xfrm>
          <a:prstGeom prst="rect">
            <a:avLst/>
          </a:prstGeom>
          <a:solidFill>
            <a:srgbClr val="8ACF57"/>
          </a:solidFill>
          <a:ln>
            <a:solidFill>
              <a:srgbClr val="8ACF57"/>
            </a:solidFill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1" name="矩形 10"/>
          <p:cNvSpPr/>
          <p:nvPr userDrawn="1"/>
        </p:nvSpPr>
        <p:spPr>
          <a:xfrm>
            <a:off x="9850806" y="147319"/>
            <a:ext cx="114853" cy="44983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/>
          <p:cNvSpPr txBox="1"/>
          <p:nvPr userDrawn="1"/>
        </p:nvSpPr>
        <p:spPr>
          <a:xfrm>
            <a:off x="9965107" y="62115"/>
            <a:ext cx="22268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第</a:t>
            </a:r>
            <a:r>
              <a:rPr lang="en-US" altLang="zh-CN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4</a:t>
            </a:r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章</a:t>
            </a:r>
            <a:endParaRPr lang="en-US" altLang="zh-CN" b="1" dirty="0">
              <a:solidFill>
                <a:schemeClr val="bg1"/>
              </a:solidFill>
              <a:latin typeface="+mj-ea"/>
              <a:ea typeface="+mj-ea"/>
              <a:cs typeface="+mj-ea"/>
            </a:endParaRPr>
          </a:p>
          <a:p>
            <a:pPr algn="ctr"/>
            <a:r>
              <a:rPr lang="zh-CN" altLang="en-US" b="1" dirty="0">
                <a:solidFill>
                  <a:schemeClr val="bg1"/>
                </a:solidFill>
                <a:latin typeface="+mj-ea"/>
                <a:ea typeface="+mj-ea"/>
                <a:cs typeface="+mj-ea"/>
              </a:rPr>
              <a:t>网络层相关实验</a:t>
            </a:r>
            <a:endParaRPr lang="zh-CN" altLang="en-US" b="1" dirty="0">
              <a:solidFill>
                <a:schemeClr val="bg1"/>
              </a:solidFill>
              <a:latin typeface="+mj-ea"/>
              <a:ea typeface="+mj-ea"/>
              <a:cs typeface="+mj-ea"/>
            </a:endParaRPr>
          </a:p>
        </p:txBody>
      </p:sp>
      <p:pic>
        <p:nvPicPr>
          <p:cNvPr id="14" name="20 13" descr="logo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308" y="6414723"/>
            <a:ext cx="1882140" cy="441960"/>
          </a:xfrm>
          <a:prstGeom prst="rect">
            <a:avLst/>
          </a:prstGeom>
        </p:spPr>
      </p:pic>
      <p:sp>
        <p:nvSpPr>
          <p:cNvPr id="15" name="文本框 14"/>
          <p:cNvSpPr txBox="1"/>
          <p:nvPr userDrawn="1"/>
        </p:nvSpPr>
        <p:spPr>
          <a:xfrm>
            <a:off x="10365377" y="6486579"/>
            <a:ext cx="1823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课件制作：高军</a:t>
            </a:r>
            <a:endParaRPr lang="zh-CN" altLang="en-US" b="1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4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5.png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629056" y="1186773"/>
            <a:ext cx="10693939" cy="1192699"/>
            <a:chOff x="629056" y="1186773"/>
            <a:chExt cx="10693939" cy="1192699"/>
          </a:xfrm>
        </p:grpSpPr>
        <p:sp>
          <p:nvSpPr>
            <p:cNvPr id="3" name="文本框 2"/>
            <p:cNvSpPr txBox="1"/>
            <p:nvPr/>
          </p:nvSpPr>
          <p:spPr>
            <a:xfrm>
              <a:off x="629057" y="1186773"/>
              <a:ext cx="2405973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800" b="1" spc="600" dirty="0">
                  <a:solidFill>
                    <a:schemeClr val="accent3">
                      <a:lumMod val="75000"/>
                    </a:schemeClr>
                  </a:solidFill>
                </a:rPr>
                <a:t>实验目的</a:t>
              </a:r>
              <a:endParaRPr lang="zh-CN" altLang="en-US" sz="2800" b="1" spc="600" dirty="0">
                <a:solidFill>
                  <a:schemeClr val="accent3">
                    <a:lumMod val="75000"/>
                  </a:schemeClr>
                </a:solidFill>
              </a:endParaRPr>
            </a:p>
          </p:txBody>
        </p:sp>
        <p:sp>
          <p:nvSpPr>
            <p:cNvPr id="4" name="文本框 3"/>
            <p:cNvSpPr txBox="1"/>
            <p:nvPr/>
          </p:nvSpPr>
          <p:spPr>
            <a:xfrm>
              <a:off x="629056" y="1880681"/>
              <a:ext cx="10693939" cy="49879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indent="-342900">
                <a:lnSpc>
                  <a:spcPct val="150000"/>
                </a:lnSpc>
                <a:buFont typeface="Wingdings" panose="05000000000000000000" pitchFamily="2" charset="2"/>
                <a:buChar char="l"/>
              </a:pPr>
              <a:r>
                <a:rPr lang="zh-CN" altLang="en-US" sz="2000" b="1" dirty="0"/>
                <a:t>验证</a:t>
              </a:r>
              <a:r>
                <a:rPr lang="en-US" altLang="zh-CN" sz="2000" b="1" dirty="0">
                  <a:solidFill>
                    <a:srgbClr val="FF0000"/>
                  </a:solidFill>
                </a:rPr>
                <a:t>OSPF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可以划分区域</a:t>
              </a:r>
              <a:r>
                <a:rPr lang="zh-CN" altLang="en-US" sz="2000" b="1" dirty="0"/>
                <a:t>。</a:t>
              </a:r>
              <a:endParaRPr lang="zh-CN" altLang="en-US" sz="2000" b="1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616086" y="87549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616086" y="1435760"/>
            <a:ext cx="2182959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1.  </a:t>
            </a:r>
            <a:r>
              <a:rPr lang="zh-CN" altLang="en-US" sz="2000" b="1" dirty="0"/>
              <a:t>构建网络拓扑</a:t>
            </a:r>
            <a:endParaRPr lang="en-US" altLang="zh-CN" sz="2000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616086" y="1915004"/>
            <a:ext cx="5456489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2.  </a:t>
            </a:r>
            <a:r>
              <a:rPr lang="zh-CN" altLang="en-US" sz="2000" b="1" dirty="0"/>
              <a:t>查看并标注路由器相关接口名称（接口号）</a:t>
            </a:r>
            <a:endParaRPr lang="en-US" altLang="zh-CN" sz="2000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616086" y="2394248"/>
            <a:ext cx="5456489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3.  </a:t>
            </a:r>
            <a:r>
              <a:rPr lang="zh-CN" altLang="en-US" sz="2000" b="1" dirty="0"/>
              <a:t>标注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地址、子网掩码以及默认网关的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</a:t>
            </a:r>
            <a:endParaRPr lang="en-US" altLang="zh-CN" sz="2000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616086" y="2873492"/>
            <a:ext cx="5456489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4.  </a:t>
            </a:r>
            <a:r>
              <a:rPr lang="zh-CN" altLang="en-US" sz="2000" b="1" dirty="0"/>
              <a:t>配置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地址、子网掩码以及默认网关的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</a:t>
            </a:r>
            <a:endParaRPr lang="en-US" altLang="zh-CN" sz="2000" b="1" dirty="0"/>
          </a:p>
        </p:txBody>
      </p:sp>
      <p:sp>
        <p:nvSpPr>
          <p:cNvPr id="5" name="文本框 4"/>
          <p:cNvSpPr txBox="1"/>
          <p:nvPr/>
        </p:nvSpPr>
        <p:spPr>
          <a:xfrm>
            <a:off x="616086" y="4311224"/>
            <a:ext cx="5456488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7.  </a:t>
            </a:r>
            <a:r>
              <a:rPr lang="zh-CN" altLang="en-US" sz="2000" b="1" dirty="0"/>
              <a:t>选择要监视的网络协议</a:t>
            </a:r>
            <a:endParaRPr lang="en-US" altLang="zh-CN" sz="2000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616086" y="3352736"/>
            <a:ext cx="3512409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5.  </a:t>
            </a:r>
            <a:r>
              <a:rPr lang="zh-CN" altLang="en-US" sz="2000" b="1" dirty="0"/>
              <a:t>启用各路由器的</a:t>
            </a:r>
            <a:r>
              <a:rPr lang="en-US" altLang="zh-CN" sz="2000" b="1" dirty="0"/>
              <a:t>OSPF</a:t>
            </a:r>
            <a:r>
              <a:rPr lang="zh-CN" altLang="en-US" sz="2000" b="1" dirty="0"/>
              <a:t>协议</a:t>
            </a:r>
            <a:endParaRPr lang="en-US" altLang="zh-CN" sz="2000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616086" y="3831980"/>
            <a:ext cx="3188150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6.  </a:t>
            </a:r>
            <a:r>
              <a:rPr lang="zh-CN" altLang="en-US" sz="2000" b="1" dirty="0"/>
              <a:t>查看各路由器的路由表</a:t>
            </a:r>
            <a:endParaRPr lang="en-US" altLang="zh-CN" sz="2000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616086" y="4790468"/>
            <a:ext cx="3980396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8.  </a:t>
            </a:r>
            <a:r>
              <a:rPr lang="zh-CN" altLang="en-US" sz="2000" b="1" dirty="0"/>
              <a:t>网络连通性测试</a:t>
            </a:r>
            <a:endParaRPr lang="en-US" altLang="zh-CN" sz="2000" b="1" dirty="0"/>
          </a:p>
        </p:txBody>
      </p:sp>
      <p:sp>
        <p:nvSpPr>
          <p:cNvPr id="16" name="文本框 15"/>
          <p:cNvSpPr txBox="1"/>
          <p:nvPr/>
        </p:nvSpPr>
        <p:spPr>
          <a:xfrm>
            <a:off x="616086" y="5269714"/>
            <a:ext cx="3980396" cy="4987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000" b="1" dirty="0"/>
              <a:t>9.  </a:t>
            </a:r>
            <a:r>
              <a:rPr lang="zh-CN" altLang="en-US" sz="2000" b="1" dirty="0"/>
              <a:t>观察各路由器的</a:t>
            </a:r>
            <a:r>
              <a:rPr lang="en-US" altLang="zh-CN" sz="2000" b="1" dirty="0"/>
              <a:t>OSPF</a:t>
            </a:r>
            <a:r>
              <a:rPr lang="zh-CN" altLang="en-US" sz="2000" b="1" dirty="0"/>
              <a:t>相关事件</a:t>
            </a:r>
            <a:endParaRPr lang="en-US" altLang="zh-CN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7" grpId="0"/>
      <p:bldP spid="8" grpId="0"/>
      <p:bldP spid="2" grpId="0"/>
      <p:bldP spid="5" grpId="0"/>
      <p:bldP spid="10" grpId="0"/>
      <p:bldP spid="11" grpId="0"/>
      <p:bldP spid="15" grpId="0"/>
      <p:bldP spid="1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05465" y="685800"/>
            <a:ext cx="258107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1.  </a:t>
            </a:r>
            <a:r>
              <a:rPr lang="zh-CN" altLang="en-US" sz="2400" b="1" dirty="0"/>
              <a:t>构建网络拓扑</a:t>
            </a:r>
            <a:endParaRPr lang="en-US" altLang="zh-CN" sz="2400" b="1" dirty="0"/>
          </a:p>
        </p:txBody>
      </p:sp>
      <p:grpSp>
        <p:nvGrpSpPr>
          <p:cNvPr id="79" name="组合 78"/>
          <p:cNvGrpSpPr/>
          <p:nvPr/>
        </p:nvGrpSpPr>
        <p:grpSpPr>
          <a:xfrm>
            <a:off x="404704" y="2422613"/>
            <a:ext cx="11440958" cy="3181909"/>
            <a:chOff x="404704" y="2422613"/>
            <a:chExt cx="11440958" cy="3181909"/>
          </a:xfrm>
        </p:grpSpPr>
        <p:sp>
          <p:nvSpPr>
            <p:cNvPr id="40" name="文本框 39"/>
            <p:cNvSpPr txBox="1"/>
            <p:nvPr/>
          </p:nvSpPr>
          <p:spPr>
            <a:xfrm>
              <a:off x="404704" y="4425321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PC0</a:t>
              </a:r>
              <a:endParaRPr lang="zh-CN" altLang="en-US" b="1" dirty="0"/>
            </a:p>
          </p:txBody>
        </p:sp>
        <p:pic>
          <p:nvPicPr>
            <p:cNvPr id="41" name="20 40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43448" y="5052372"/>
              <a:ext cx="539132" cy="457973"/>
            </a:xfrm>
            <a:prstGeom prst="rect">
              <a:avLst/>
            </a:prstGeom>
          </p:spPr>
        </p:pic>
        <p:pic>
          <p:nvPicPr>
            <p:cNvPr id="84" name="20 83" descr="卡通人物&#10;&#10;中度可信度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0973" y="5090553"/>
              <a:ext cx="530013" cy="381609"/>
            </a:xfrm>
            <a:prstGeom prst="rect">
              <a:avLst/>
            </a:prstGeom>
          </p:spPr>
        </p:pic>
        <p:sp>
          <p:nvSpPr>
            <p:cNvPr id="85" name="文本框 84"/>
            <p:cNvSpPr txBox="1"/>
            <p:nvPr/>
          </p:nvSpPr>
          <p:spPr>
            <a:xfrm>
              <a:off x="4482400" y="4958191"/>
              <a:ext cx="10051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2911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Router2</a:t>
              </a:r>
              <a:endParaRPr lang="zh-CN" altLang="en-US" b="1" dirty="0"/>
            </a:p>
          </p:txBody>
        </p:sp>
        <p:pic>
          <p:nvPicPr>
            <p:cNvPr id="12" name="20 11" descr="卡通人物&#10;&#10;中度可信度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9379" y="5128736"/>
              <a:ext cx="530013" cy="381609"/>
            </a:xfrm>
            <a:prstGeom prst="rect">
              <a:avLst/>
            </a:prstGeom>
          </p:spPr>
        </p:pic>
        <p:pic>
          <p:nvPicPr>
            <p:cNvPr id="13" name="20 12" descr="图标&#10;&#10;描述已自动生成"/>
            <p:cNvPicPr>
              <a:picLocks noChangeAspect="1"/>
            </p:cNvPicPr>
            <p:nvPr/>
          </p:nvPicPr>
          <p:blipFill>
            <a:blip r:embed="rId1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167786" y="5052372"/>
              <a:ext cx="539132" cy="457973"/>
            </a:xfrm>
            <a:prstGeom prst="rect">
              <a:avLst/>
            </a:prstGeom>
          </p:spPr>
        </p:pic>
        <p:pic>
          <p:nvPicPr>
            <p:cNvPr id="23" name="20 22" descr="卡通人物&#10;&#10;中度可信度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90973" y="2557225"/>
              <a:ext cx="530013" cy="381609"/>
            </a:xfrm>
            <a:prstGeom prst="rect">
              <a:avLst/>
            </a:prstGeom>
          </p:spPr>
        </p:pic>
        <p:pic>
          <p:nvPicPr>
            <p:cNvPr id="24" name="20 23" descr="卡通人物&#10;&#10;中度可信度描述已自动生成"/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29379" y="2557225"/>
              <a:ext cx="530013" cy="381609"/>
            </a:xfrm>
            <a:prstGeom prst="rect">
              <a:avLst/>
            </a:prstGeom>
          </p:spPr>
        </p:pic>
        <p:sp>
          <p:nvSpPr>
            <p:cNvPr id="50" name="文本框 49"/>
            <p:cNvSpPr txBox="1"/>
            <p:nvPr/>
          </p:nvSpPr>
          <p:spPr>
            <a:xfrm>
              <a:off x="3222002" y="2422613"/>
              <a:ext cx="10051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2911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Router0</a:t>
              </a:r>
              <a:endParaRPr lang="zh-CN" altLang="en-US" b="1" dirty="0"/>
            </a:p>
          </p:txBody>
        </p:sp>
        <p:sp>
          <p:nvSpPr>
            <p:cNvPr id="51" name="文本框 50"/>
            <p:cNvSpPr txBox="1"/>
            <p:nvPr/>
          </p:nvSpPr>
          <p:spPr>
            <a:xfrm>
              <a:off x="8007838" y="2422613"/>
              <a:ext cx="10051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2911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Router1</a:t>
              </a:r>
              <a:endParaRPr lang="zh-CN" altLang="en-US" b="1" dirty="0"/>
            </a:p>
          </p:txBody>
        </p:sp>
        <p:sp>
          <p:nvSpPr>
            <p:cNvPr id="52" name="文本框 51"/>
            <p:cNvSpPr txBox="1"/>
            <p:nvPr/>
          </p:nvSpPr>
          <p:spPr>
            <a:xfrm>
              <a:off x="6791069" y="4958191"/>
              <a:ext cx="100519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2911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Router3</a:t>
              </a:r>
              <a:endParaRPr lang="zh-CN" altLang="en-US" b="1" dirty="0"/>
            </a:p>
          </p:txBody>
        </p:sp>
        <p:sp>
          <p:nvSpPr>
            <p:cNvPr id="78" name="文本框 77"/>
            <p:cNvSpPr txBox="1"/>
            <p:nvPr/>
          </p:nvSpPr>
          <p:spPr>
            <a:xfrm>
              <a:off x="11029042" y="4425321"/>
              <a:ext cx="816620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b="1" dirty="0"/>
                <a:t>PC-PT</a:t>
              </a:r>
              <a:endParaRPr lang="en-US" altLang="zh-CN" b="1" dirty="0"/>
            </a:p>
            <a:p>
              <a:pPr algn="ctr"/>
              <a:r>
                <a:rPr lang="en-US" altLang="zh-CN" b="1" dirty="0"/>
                <a:t>PC1</a:t>
              </a:r>
              <a:endParaRPr lang="zh-CN" altLang="en-US" b="1" dirty="0"/>
            </a:p>
          </p:txBody>
        </p:sp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05465" y="685800"/>
            <a:ext cx="258107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1.  </a:t>
            </a:r>
            <a:r>
              <a:rPr lang="zh-CN" altLang="en-US" sz="2400" b="1" dirty="0"/>
              <a:t>构建网络拓扑</a:t>
            </a:r>
            <a:endParaRPr lang="en-US" altLang="zh-CN" sz="2400" b="1" dirty="0"/>
          </a:p>
        </p:txBody>
      </p:sp>
      <p:pic>
        <p:nvPicPr>
          <p:cNvPr id="2" name="20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0602" y="2868922"/>
            <a:ext cx="8763759" cy="1646063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2266312" y="3691953"/>
            <a:ext cx="1925436" cy="1452593"/>
            <a:chOff x="2253106" y="5615868"/>
            <a:chExt cx="1925436" cy="1452593"/>
          </a:xfrm>
        </p:grpSpPr>
        <p:sp>
          <p:nvSpPr>
            <p:cNvPr id="6" name="文本框 5"/>
            <p:cNvSpPr txBox="1"/>
            <p:nvPr/>
          </p:nvSpPr>
          <p:spPr>
            <a:xfrm>
              <a:off x="2253106" y="6668351"/>
              <a:ext cx="1925436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❶  选择“连接”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7" name="直接箭头连接符 6"/>
            <p:cNvCxnSpPr/>
            <p:nvPr/>
          </p:nvCxnSpPr>
          <p:spPr>
            <a:xfrm flipV="1">
              <a:off x="3122926" y="5615868"/>
              <a:ext cx="0" cy="1052483"/>
            </a:xfrm>
            <a:prstGeom prst="straightConnector1">
              <a:avLst/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组合 7"/>
          <p:cNvGrpSpPr/>
          <p:nvPr/>
        </p:nvGrpSpPr>
        <p:grpSpPr>
          <a:xfrm>
            <a:off x="2696559" y="2112993"/>
            <a:ext cx="3351328" cy="1164349"/>
            <a:chOff x="938046" y="4283818"/>
            <a:chExt cx="3351328" cy="1164349"/>
          </a:xfrm>
        </p:grpSpPr>
        <p:sp>
          <p:nvSpPr>
            <p:cNvPr id="9" name="文本框 8"/>
            <p:cNvSpPr txBox="1"/>
            <p:nvPr/>
          </p:nvSpPr>
          <p:spPr>
            <a:xfrm>
              <a:off x="938046" y="4283818"/>
              <a:ext cx="3351328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❷  选择“自动选择连接类型”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10" name="直接箭头连接符 9"/>
            <p:cNvCxnSpPr/>
            <p:nvPr/>
          </p:nvCxnSpPr>
          <p:spPr>
            <a:xfrm>
              <a:off x="2613710" y="4738927"/>
              <a:ext cx="0" cy="70924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/>
        </p:nvGrpSpPr>
        <p:grpSpPr>
          <a:xfrm>
            <a:off x="8141408" y="5204460"/>
            <a:ext cx="3110656" cy="96406"/>
            <a:chOff x="8141408" y="5204460"/>
            <a:chExt cx="3110656" cy="96406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8141408" y="5261622"/>
              <a:ext cx="3110656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等腰三角形 5"/>
            <p:cNvSpPr/>
            <p:nvPr/>
          </p:nvSpPr>
          <p:spPr>
            <a:xfrm rot="10800000">
              <a:off x="8386801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等腰三角形 6"/>
            <p:cNvSpPr/>
            <p:nvPr/>
          </p:nvSpPr>
          <p:spPr>
            <a:xfrm rot="10800000">
              <a:off x="10942128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010126" y="5204460"/>
            <a:ext cx="3110656" cy="96406"/>
            <a:chOff x="1010126" y="5204460"/>
            <a:chExt cx="3110656" cy="96406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1010126" y="5261622"/>
              <a:ext cx="3110656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等腰三角形 9"/>
            <p:cNvSpPr/>
            <p:nvPr/>
          </p:nvSpPr>
          <p:spPr>
            <a:xfrm rot="10800000">
              <a:off x="1255519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 rot="10800000">
              <a:off x="3810846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668822" y="2699812"/>
            <a:ext cx="3014769" cy="96406"/>
            <a:chOff x="4668822" y="2699812"/>
            <a:chExt cx="3014769" cy="96406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4668822" y="2748015"/>
              <a:ext cx="3014769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等腰三角形 15"/>
            <p:cNvSpPr/>
            <p:nvPr/>
          </p:nvSpPr>
          <p:spPr>
            <a:xfrm rot="10800000">
              <a:off x="4929079" y="269981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/>
          </p:nvSpPr>
          <p:spPr>
            <a:xfrm rot="10800000">
              <a:off x="7248040" y="269981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300063" y="2904294"/>
            <a:ext cx="111831" cy="2224442"/>
            <a:chOff x="4300063" y="2904294"/>
            <a:chExt cx="111831" cy="2224442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4355979" y="2904294"/>
              <a:ext cx="0" cy="2224442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等腰三角形 19"/>
            <p:cNvSpPr/>
            <p:nvPr/>
          </p:nvSpPr>
          <p:spPr>
            <a:xfrm rot="10800000">
              <a:off x="4300063" y="329094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20"/>
            <p:cNvSpPr/>
            <p:nvPr/>
          </p:nvSpPr>
          <p:spPr>
            <a:xfrm rot="10800000">
              <a:off x="4300063" y="471325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827314" y="2904294"/>
            <a:ext cx="111831" cy="2224442"/>
            <a:chOff x="7827314" y="2904294"/>
            <a:chExt cx="111831" cy="2224442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7885393" y="2904294"/>
              <a:ext cx="0" cy="2224442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等腰三角形 25"/>
            <p:cNvSpPr/>
            <p:nvPr/>
          </p:nvSpPr>
          <p:spPr>
            <a:xfrm rot="10800000">
              <a:off x="7827314" y="329094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10800000">
              <a:off x="7827314" y="471325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05465" y="685800"/>
            <a:ext cx="2581070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1.  </a:t>
            </a:r>
            <a:r>
              <a:rPr lang="zh-CN" altLang="en-US" sz="2400" b="1" dirty="0"/>
              <a:t>构建网络拓扑</a:t>
            </a:r>
            <a:endParaRPr lang="en-US" altLang="zh-CN" sz="2400" b="1" dirty="0"/>
          </a:p>
        </p:txBody>
      </p:sp>
      <p:sp>
        <p:nvSpPr>
          <p:cNvPr id="40" name="文本框 39"/>
          <p:cNvSpPr txBox="1"/>
          <p:nvPr/>
        </p:nvSpPr>
        <p:spPr>
          <a:xfrm>
            <a:off x="404704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48" y="5052372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5090553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4482400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pic>
        <p:nvPicPr>
          <p:cNvPr id="12" name="20 1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5128736"/>
            <a:ext cx="530013" cy="381609"/>
          </a:xfrm>
          <a:prstGeom prst="rect">
            <a:avLst/>
          </a:prstGeom>
        </p:spPr>
      </p:pic>
      <p:pic>
        <p:nvPicPr>
          <p:cNvPr id="13" name="20 1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786" y="5052372"/>
            <a:ext cx="539132" cy="457973"/>
          </a:xfrm>
          <a:prstGeom prst="rect">
            <a:avLst/>
          </a:prstGeom>
        </p:spPr>
      </p:pic>
      <p:pic>
        <p:nvPicPr>
          <p:cNvPr id="23" name="20 22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2557225"/>
            <a:ext cx="530013" cy="381609"/>
          </a:xfrm>
          <a:prstGeom prst="rect">
            <a:avLst/>
          </a:prstGeom>
        </p:spPr>
      </p:pic>
      <p:pic>
        <p:nvPicPr>
          <p:cNvPr id="24" name="20 2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2557225"/>
            <a:ext cx="530013" cy="381609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3222002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8007838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52" name="文本框 51"/>
          <p:cNvSpPr txBox="1"/>
          <p:nvPr/>
        </p:nvSpPr>
        <p:spPr>
          <a:xfrm>
            <a:off x="6791069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Router3</a:t>
            </a:r>
            <a:endParaRPr lang="zh-CN" altLang="en-US" b="1" dirty="0"/>
          </a:p>
        </p:txBody>
      </p:sp>
      <p:sp>
        <p:nvSpPr>
          <p:cNvPr id="78" name="文本框 77"/>
          <p:cNvSpPr txBox="1"/>
          <p:nvPr/>
        </p:nvSpPr>
        <p:spPr>
          <a:xfrm>
            <a:off x="11029042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/>
        </p:nvSpPr>
        <p:spPr>
          <a:xfrm>
            <a:off x="2983249" y="685800"/>
            <a:ext cx="6234093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2.  </a:t>
            </a:r>
            <a:r>
              <a:rPr lang="zh-CN" altLang="en-US" sz="2400" b="1" dirty="0"/>
              <a:t>查看并标注路由器相关接口名称（接口号）</a:t>
            </a:r>
            <a:endParaRPr lang="en-US" altLang="zh-CN" sz="2400" b="1" dirty="0"/>
          </a:p>
        </p:txBody>
      </p:sp>
      <p:grpSp>
        <p:nvGrpSpPr>
          <p:cNvPr id="2" name="组合 1"/>
          <p:cNvGrpSpPr/>
          <p:nvPr/>
        </p:nvGrpSpPr>
        <p:grpSpPr>
          <a:xfrm>
            <a:off x="8141408" y="5204460"/>
            <a:ext cx="3110656" cy="96406"/>
            <a:chOff x="8141408" y="5204460"/>
            <a:chExt cx="3110656" cy="96406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8141408" y="5261622"/>
              <a:ext cx="3110656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等腰三角形 5"/>
            <p:cNvSpPr/>
            <p:nvPr/>
          </p:nvSpPr>
          <p:spPr>
            <a:xfrm rot="10800000">
              <a:off x="8386801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等腰三角形 6"/>
            <p:cNvSpPr/>
            <p:nvPr/>
          </p:nvSpPr>
          <p:spPr>
            <a:xfrm rot="10800000">
              <a:off x="10942128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010126" y="5204460"/>
            <a:ext cx="3110656" cy="96406"/>
            <a:chOff x="1010126" y="5204460"/>
            <a:chExt cx="3110656" cy="96406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1010126" y="5261622"/>
              <a:ext cx="3110656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等腰三角形 9"/>
            <p:cNvSpPr/>
            <p:nvPr/>
          </p:nvSpPr>
          <p:spPr>
            <a:xfrm rot="10800000">
              <a:off x="1255519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 rot="10800000">
              <a:off x="3810846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668822" y="2699812"/>
            <a:ext cx="3014769" cy="96406"/>
            <a:chOff x="4668822" y="2699812"/>
            <a:chExt cx="3014769" cy="96406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4668822" y="2748015"/>
              <a:ext cx="3014769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等腰三角形 15"/>
            <p:cNvSpPr/>
            <p:nvPr/>
          </p:nvSpPr>
          <p:spPr>
            <a:xfrm rot="10800000">
              <a:off x="4929079" y="269981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/>
          </p:nvSpPr>
          <p:spPr>
            <a:xfrm rot="10800000">
              <a:off x="7248040" y="269981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300063" y="2904294"/>
            <a:ext cx="111831" cy="2224442"/>
            <a:chOff x="4300063" y="2904294"/>
            <a:chExt cx="111831" cy="2224442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4355979" y="2904294"/>
              <a:ext cx="0" cy="2224442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等腰三角形 19"/>
            <p:cNvSpPr/>
            <p:nvPr/>
          </p:nvSpPr>
          <p:spPr>
            <a:xfrm rot="10800000">
              <a:off x="4300063" y="329094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20"/>
            <p:cNvSpPr/>
            <p:nvPr/>
          </p:nvSpPr>
          <p:spPr>
            <a:xfrm rot="10800000">
              <a:off x="4300063" y="471325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827314" y="2904294"/>
            <a:ext cx="111831" cy="2224442"/>
            <a:chOff x="7827314" y="2904294"/>
            <a:chExt cx="111831" cy="2224442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7885393" y="2904294"/>
              <a:ext cx="0" cy="2224442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等腰三角形 25"/>
            <p:cNvSpPr/>
            <p:nvPr/>
          </p:nvSpPr>
          <p:spPr>
            <a:xfrm rot="10800000">
              <a:off x="7827314" y="329094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10800000">
              <a:off x="7827314" y="471325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04704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48" y="5052372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5090553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4482400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pic>
        <p:nvPicPr>
          <p:cNvPr id="12" name="20 1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5128736"/>
            <a:ext cx="530013" cy="381609"/>
          </a:xfrm>
          <a:prstGeom prst="rect">
            <a:avLst/>
          </a:prstGeom>
        </p:spPr>
      </p:pic>
      <p:pic>
        <p:nvPicPr>
          <p:cNvPr id="13" name="20 1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786" y="5052372"/>
            <a:ext cx="539132" cy="457973"/>
          </a:xfrm>
          <a:prstGeom prst="rect">
            <a:avLst/>
          </a:prstGeom>
        </p:spPr>
      </p:pic>
      <p:pic>
        <p:nvPicPr>
          <p:cNvPr id="23" name="20 22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2557225"/>
            <a:ext cx="530013" cy="381609"/>
          </a:xfrm>
          <a:prstGeom prst="rect">
            <a:avLst/>
          </a:prstGeom>
        </p:spPr>
      </p:pic>
      <p:pic>
        <p:nvPicPr>
          <p:cNvPr id="24" name="20 2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2557225"/>
            <a:ext cx="530013" cy="381609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3222002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8007838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52" name="文本框 51"/>
          <p:cNvSpPr txBox="1"/>
          <p:nvPr/>
        </p:nvSpPr>
        <p:spPr>
          <a:xfrm>
            <a:off x="6791069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Router3</a:t>
            </a:r>
            <a:endParaRPr lang="zh-CN" altLang="en-US" b="1" dirty="0"/>
          </a:p>
        </p:txBody>
      </p:sp>
      <p:sp>
        <p:nvSpPr>
          <p:cNvPr id="78" name="文本框 77"/>
          <p:cNvSpPr txBox="1"/>
          <p:nvPr/>
        </p:nvSpPr>
        <p:spPr>
          <a:xfrm>
            <a:off x="11029042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/>
        </p:nvSpPr>
        <p:spPr>
          <a:xfrm>
            <a:off x="2983249" y="685800"/>
            <a:ext cx="6234093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2.  </a:t>
            </a:r>
            <a:r>
              <a:rPr lang="zh-CN" altLang="en-US" sz="2400" b="1" dirty="0"/>
              <a:t>查看并标注路由器相关接口名称（接口号）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4803" y="1729715"/>
            <a:ext cx="4275190" cy="1265030"/>
          </a:xfrm>
          <a:prstGeom prst="rect">
            <a:avLst/>
          </a:prstGeom>
        </p:spPr>
      </p:pic>
      <p:pic>
        <p:nvPicPr>
          <p:cNvPr id="29" name="20 2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8381" y="1827181"/>
            <a:ext cx="4778816" cy="4558029"/>
          </a:xfrm>
          <a:prstGeom prst="rect">
            <a:avLst/>
          </a:prstGeom>
        </p:spPr>
      </p:pic>
      <p:grpSp>
        <p:nvGrpSpPr>
          <p:cNvPr id="30" name="组合 29"/>
          <p:cNvGrpSpPr/>
          <p:nvPr/>
        </p:nvGrpSpPr>
        <p:grpSpPr>
          <a:xfrm>
            <a:off x="1731900" y="2153052"/>
            <a:ext cx="2204189" cy="1948430"/>
            <a:chOff x="1731900" y="2153052"/>
            <a:chExt cx="2204189" cy="1948430"/>
          </a:xfrm>
        </p:grpSpPr>
        <p:sp>
          <p:nvSpPr>
            <p:cNvPr id="31" name="文本框 30"/>
            <p:cNvSpPr txBox="1"/>
            <p:nvPr/>
          </p:nvSpPr>
          <p:spPr>
            <a:xfrm>
              <a:off x="1731900" y="3701372"/>
              <a:ext cx="22041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❶  选择该菜单项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2" name="直接箭头连接符 31"/>
            <p:cNvCxnSpPr/>
            <p:nvPr/>
          </p:nvCxnSpPr>
          <p:spPr>
            <a:xfrm flipV="1">
              <a:off x="2833995" y="2153052"/>
              <a:ext cx="0" cy="1472120"/>
            </a:xfrm>
            <a:prstGeom prst="straightConnector1">
              <a:avLst/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3" name="组合 32"/>
          <p:cNvGrpSpPr/>
          <p:nvPr/>
        </p:nvGrpSpPr>
        <p:grpSpPr>
          <a:xfrm>
            <a:off x="6373131" y="1297718"/>
            <a:ext cx="2204189" cy="790486"/>
            <a:chOff x="6373131" y="1297718"/>
            <a:chExt cx="2204189" cy="790486"/>
          </a:xfrm>
        </p:grpSpPr>
        <p:sp>
          <p:nvSpPr>
            <p:cNvPr id="34" name="文本框 33"/>
            <p:cNvSpPr txBox="1"/>
            <p:nvPr/>
          </p:nvSpPr>
          <p:spPr>
            <a:xfrm>
              <a:off x="6373131" y="1297718"/>
              <a:ext cx="2204189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❷  选择该选项卡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5" name="直接箭头连接符 34"/>
            <p:cNvCxnSpPr/>
            <p:nvPr/>
          </p:nvCxnSpPr>
          <p:spPr>
            <a:xfrm>
              <a:off x="7475226" y="1680280"/>
              <a:ext cx="0" cy="407924"/>
            </a:xfrm>
            <a:prstGeom prst="straightConnector1">
              <a:avLst/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6" name="组合 35"/>
          <p:cNvGrpSpPr/>
          <p:nvPr/>
        </p:nvGrpSpPr>
        <p:grpSpPr>
          <a:xfrm>
            <a:off x="5007313" y="2966200"/>
            <a:ext cx="2230066" cy="400110"/>
            <a:chOff x="5007313" y="2966200"/>
            <a:chExt cx="2230066" cy="400110"/>
          </a:xfrm>
        </p:grpSpPr>
        <p:sp>
          <p:nvSpPr>
            <p:cNvPr id="37" name="文本框 36"/>
            <p:cNvSpPr txBox="1"/>
            <p:nvPr/>
          </p:nvSpPr>
          <p:spPr>
            <a:xfrm>
              <a:off x="5007313" y="2966200"/>
              <a:ext cx="184210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❸ 选中该选项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  <p:cxnSp>
          <p:nvCxnSpPr>
            <p:cNvPr id="38" name="直接箭头连接符 37"/>
            <p:cNvCxnSpPr/>
            <p:nvPr/>
          </p:nvCxnSpPr>
          <p:spPr>
            <a:xfrm>
              <a:off x="6849414" y="3166255"/>
              <a:ext cx="387965" cy="0"/>
            </a:xfrm>
            <a:prstGeom prst="straightConnector1">
              <a:avLst/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/>
        </p:nvSpPr>
        <p:spPr>
          <a:xfrm>
            <a:off x="2983249" y="685800"/>
            <a:ext cx="6234093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2.  </a:t>
            </a:r>
            <a:r>
              <a:rPr lang="zh-CN" altLang="en-US" sz="2400" b="1" dirty="0"/>
              <a:t>查看并标注路由器相关接口名称（接口号）</a:t>
            </a:r>
            <a:endParaRPr lang="en-US" altLang="zh-CN" sz="2400" b="1" dirty="0"/>
          </a:p>
        </p:txBody>
      </p:sp>
      <p:grpSp>
        <p:nvGrpSpPr>
          <p:cNvPr id="2" name="组合 1"/>
          <p:cNvGrpSpPr/>
          <p:nvPr/>
        </p:nvGrpSpPr>
        <p:grpSpPr>
          <a:xfrm>
            <a:off x="8141408" y="5204460"/>
            <a:ext cx="3110656" cy="96406"/>
            <a:chOff x="8141408" y="5204460"/>
            <a:chExt cx="3110656" cy="96406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8141408" y="5261622"/>
              <a:ext cx="3110656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等腰三角形 5"/>
            <p:cNvSpPr/>
            <p:nvPr/>
          </p:nvSpPr>
          <p:spPr>
            <a:xfrm rot="10800000">
              <a:off x="8386801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等腰三角形 6"/>
            <p:cNvSpPr/>
            <p:nvPr/>
          </p:nvSpPr>
          <p:spPr>
            <a:xfrm rot="10800000">
              <a:off x="10942128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010126" y="5204460"/>
            <a:ext cx="3110656" cy="96406"/>
            <a:chOff x="1010126" y="5204460"/>
            <a:chExt cx="3110656" cy="96406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1010126" y="5261622"/>
              <a:ext cx="3110656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等腰三角形 9"/>
            <p:cNvSpPr/>
            <p:nvPr/>
          </p:nvSpPr>
          <p:spPr>
            <a:xfrm rot="10800000">
              <a:off x="1255519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 rot="10800000">
              <a:off x="3810846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668822" y="2699812"/>
            <a:ext cx="3014769" cy="96406"/>
            <a:chOff x="4668822" y="2699812"/>
            <a:chExt cx="3014769" cy="96406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4668822" y="2748015"/>
              <a:ext cx="3014769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等腰三角形 15"/>
            <p:cNvSpPr/>
            <p:nvPr/>
          </p:nvSpPr>
          <p:spPr>
            <a:xfrm rot="10800000">
              <a:off x="4929079" y="269981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/>
          </p:nvSpPr>
          <p:spPr>
            <a:xfrm rot="10800000">
              <a:off x="7248040" y="269981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300063" y="2904294"/>
            <a:ext cx="111831" cy="2224442"/>
            <a:chOff x="4300063" y="2904294"/>
            <a:chExt cx="111831" cy="2224442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4355979" y="2904294"/>
              <a:ext cx="0" cy="2224442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等腰三角形 19"/>
            <p:cNvSpPr/>
            <p:nvPr/>
          </p:nvSpPr>
          <p:spPr>
            <a:xfrm rot="10800000">
              <a:off x="4300063" y="329094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20"/>
            <p:cNvSpPr/>
            <p:nvPr/>
          </p:nvSpPr>
          <p:spPr>
            <a:xfrm rot="10800000">
              <a:off x="4300063" y="471325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827314" y="2904294"/>
            <a:ext cx="111831" cy="2224442"/>
            <a:chOff x="7827314" y="2904294"/>
            <a:chExt cx="111831" cy="2224442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7885393" y="2904294"/>
              <a:ext cx="0" cy="2224442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等腰三角形 25"/>
            <p:cNvSpPr/>
            <p:nvPr/>
          </p:nvSpPr>
          <p:spPr>
            <a:xfrm rot="10800000">
              <a:off x="7827314" y="329094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10800000">
              <a:off x="7827314" y="471325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04704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48" y="5052372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5090553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4482400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pic>
        <p:nvPicPr>
          <p:cNvPr id="12" name="20 1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5128736"/>
            <a:ext cx="530013" cy="381609"/>
          </a:xfrm>
          <a:prstGeom prst="rect">
            <a:avLst/>
          </a:prstGeom>
        </p:spPr>
      </p:pic>
      <p:pic>
        <p:nvPicPr>
          <p:cNvPr id="13" name="20 1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786" y="5052372"/>
            <a:ext cx="539132" cy="457973"/>
          </a:xfrm>
          <a:prstGeom prst="rect">
            <a:avLst/>
          </a:prstGeom>
        </p:spPr>
      </p:pic>
      <p:pic>
        <p:nvPicPr>
          <p:cNvPr id="23" name="20 22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2557225"/>
            <a:ext cx="530013" cy="381609"/>
          </a:xfrm>
          <a:prstGeom prst="rect">
            <a:avLst/>
          </a:prstGeom>
        </p:spPr>
      </p:pic>
      <p:pic>
        <p:nvPicPr>
          <p:cNvPr id="24" name="20 2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2557225"/>
            <a:ext cx="530013" cy="381609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3222002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8007838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52" name="文本框 51"/>
          <p:cNvSpPr txBox="1"/>
          <p:nvPr/>
        </p:nvSpPr>
        <p:spPr>
          <a:xfrm>
            <a:off x="6791069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Router3</a:t>
            </a:r>
            <a:endParaRPr lang="zh-CN" altLang="en-US" b="1" dirty="0"/>
          </a:p>
        </p:txBody>
      </p:sp>
      <p:sp>
        <p:nvSpPr>
          <p:cNvPr id="78" name="文本框 77"/>
          <p:cNvSpPr txBox="1"/>
          <p:nvPr/>
        </p:nvSpPr>
        <p:spPr>
          <a:xfrm>
            <a:off x="11029042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8141408" y="5171111"/>
            <a:ext cx="85629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29" name="文本框 28"/>
          <p:cNvSpPr txBox="1"/>
          <p:nvPr/>
        </p:nvSpPr>
        <p:spPr>
          <a:xfrm>
            <a:off x="10538091" y="5171111"/>
            <a:ext cx="64378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1010126" y="5197051"/>
            <a:ext cx="60334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3406809" y="5197051"/>
            <a:ext cx="81465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32" name="文本框 31"/>
          <p:cNvSpPr txBox="1"/>
          <p:nvPr/>
        </p:nvSpPr>
        <p:spPr>
          <a:xfrm>
            <a:off x="4577666" y="2378966"/>
            <a:ext cx="81465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3" name="文本框 32"/>
          <p:cNvSpPr txBox="1"/>
          <p:nvPr/>
        </p:nvSpPr>
        <p:spPr>
          <a:xfrm>
            <a:off x="6896627" y="2378966"/>
            <a:ext cx="81465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4" name="文本框 33"/>
          <p:cNvSpPr txBox="1"/>
          <p:nvPr/>
        </p:nvSpPr>
        <p:spPr>
          <a:xfrm>
            <a:off x="3649947" y="4585911"/>
            <a:ext cx="81465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3649947" y="3154479"/>
            <a:ext cx="81465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7785549" y="4585911"/>
            <a:ext cx="81465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7785549" y="3154479"/>
            <a:ext cx="81465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/>
        </p:nvSpPr>
        <p:spPr>
          <a:xfrm>
            <a:off x="2983249" y="685800"/>
            <a:ext cx="6234093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2.  </a:t>
            </a:r>
            <a:r>
              <a:rPr lang="zh-CN" altLang="en-US" sz="2400" b="1" dirty="0"/>
              <a:t>查看并标注路由器相关接口名称（接口号）</a:t>
            </a:r>
            <a:endParaRPr lang="en-US" altLang="zh-CN" sz="2400" b="1" dirty="0"/>
          </a:p>
        </p:txBody>
      </p:sp>
      <p:grpSp>
        <p:nvGrpSpPr>
          <p:cNvPr id="2" name="组合 1"/>
          <p:cNvGrpSpPr/>
          <p:nvPr/>
        </p:nvGrpSpPr>
        <p:grpSpPr>
          <a:xfrm>
            <a:off x="8141408" y="5204460"/>
            <a:ext cx="3110656" cy="96406"/>
            <a:chOff x="8141408" y="5204460"/>
            <a:chExt cx="3110656" cy="96406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8141408" y="5261622"/>
              <a:ext cx="3110656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等腰三角形 5"/>
            <p:cNvSpPr/>
            <p:nvPr/>
          </p:nvSpPr>
          <p:spPr>
            <a:xfrm rot="10800000">
              <a:off x="8386801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等腰三角形 6"/>
            <p:cNvSpPr/>
            <p:nvPr/>
          </p:nvSpPr>
          <p:spPr>
            <a:xfrm rot="10800000">
              <a:off x="10942128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010126" y="5204460"/>
            <a:ext cx="3110656" cy="96406"/>
            <a:chOff x="1010126" y="5204460"/>
            <a:chExt cx="3110656" cy="96406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1010126" y="5261622"/>
              <a:ext cx="3110656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等腰三角形 9"/>
            <p:cNvSpPr/>
            <p:nvPr/>
          </p:nvSpPr>
          <p:spPr>
            <a:xfrm rot="10800000">
              <a:off x="1255519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 rot="10800000">
              <a:off x="3810846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668822" y="2699812"/>
            <a:ext cx="3014769" cy="96406"/>
            <a:chOff x="4668822" y="2699812"/>
            <a:chExt cx="3014769" cy="96406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4668822" y="2748015"/>
              <a:ext cx="3014769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等腰三角形 15"/>
            <p:cNvSpPr/>
            <p:nvPr/>
          </p:nvSpPr>
          <p:spPr>
            <a:xfrm rot="10800000">
              <a:off x="4929079" y="269981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/>
          </p:nvSpPr>
          <p:spPr>
            <a:xfrm rot="10800000">
              <a:off x="7248040" y="269981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300063" y="2904294"/>
            <a:ext cx="111831" cy="2224442"/>
            <a:chOff x="4300063" y="2904294"/>
            <a:chExt cx="111831" cy="2224442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4355979" y="2904294"/>
              <a:ext cx="0" cy="2224442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等腰三角形 19"/>
            <p:cNvSpPr/>
            <p:nvPr/>
          </p:nvSpPr>
          <p:spPr>
            <a:xfrm rot="10800000">
              <a:off x="4300063" y="329094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20"/>
            <p:cNvSpPr/>
            <p:nvPr/>
          </p:nvSpPr>
          <p:spPr>
            <a:xfrm rot="10800000">
              <a:off x="4300063" y="471325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827314" y="2904294"/>
            <a:ext cx="111831" cy="2224442"/>
            <a:chOff x="7827314" y="2904294"/>
            <a:chExt cx="111831" cy="2224442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7885393" y="2904294"/>
              <a:ext cx="0" cy="2224442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等腰三角形 25"/>
            <p:cNvSpPr/>
            <p:nvPr/>
          </p:nvSpPr>
          <p:spPr>
            <a:xfrm rot="10800000">
              <a:off x="7827314" y="329094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10800000">
              <a:off x="7827314" y="471325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04704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48" y="5052372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5090553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4482400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pic>
        <p:nvPicPr>
          <p:cNvPr id="12" name="20 1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5128736"/>
            <a:ext cx="530013" cy="381609"/>
          </a:xfrm>
          <a:prstGeom prst="rect">
            <a:avLst/>
          </a:prstGeom>
        </p:spPr>
      </p:pic>
      <p:pic>
        <p:nvPicPr>
          <p:cNvPr id="13" name="20 1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786" y="5052372"/>
            <a:ext cx="539132" cy="457973"/>
          </a:xfrm>
          <a:prstGeom prst="rect">
            <a:avLst/>
          </a:prstGeom>
        </p:spPr>
      </p:pic>
      <p:pic>
        <p:nvPicPr>
          <p:cNvPr id="23" name="20 22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2557225"/>
            <a:ext cx="530013" cy="381609"/>
          </a:xfrm>
          <a:prstGeom prst="rect">
            <a:avLst/>
          </a:prstGeom>
        </p:spPr>
      </p:pic>
      <p:pic>
        <p:nvPicPr>
          <p:cNvPr id="24" name="20 2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2557225"/>
            <a:ext cx="530013" cy="381609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3222002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8007838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52" name="文本框 51"/>
          <p:cNvSpPr txBox="1"/>
          <p:nvPr/>
        </p:nvSpPr>
        <p:spPr>
          <a:xfrm>
            <a:off x="6791069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Router3</a:t>
            </a:r>
            <a:endParaRPr lang="zh-CN" altLang="en-US" b="1" dirty="0"/>
          </a:p>
        </p:txBody>
      </p:sp>
      <p:sp>
        <p:nvSpPr>
          <p:cNvPr id="78" name="文本框 77"/>
          <p:cNvSpPr txBox="1"/>
          <p:nvPr/>
        </p:nvSpPr>
        <p:spPr>
          <a:xfrm>
            <a:off x="11029042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8141408" y="5171111"/>
            <a:ext cx="85629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29" name="文本框 28"/>
          <p:cNvSpPr txBox="1"/>
          <p:nvPr/>
        </p:nvSpPr>
        <p:spPr>
          <a:xfrm>
            <a:off x="10538091" y="5171111"/>
            <a:ext cx="643783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1010126" y="5197051"/>
            <a:ext cx="603344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3406809" y="5197051"/>
            <a:ext cx="81465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32" name="文本框 31"/>
          <p:cNvSpPr txBox="1"/>
          <p:nvPr/>
        </p:nvSpPr>
        <p:spPr>
          <a:xfrm>
            <a:off x="4577666" y="2378966"/>
            <a:ext cx="81465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3" name="文本框 32"/>
          <p:cNvSpPr txBox="1"/>
          <p:nvPr/>
        </p:nvSpPr>
        <p:spPr>
          <a:xfrm>
            <a:off x="6896627" y="2378966"/>
            <a:ext cx="81465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4" name="文本框 33"/>
          <p:cNvSpPr txBox="1"/>
          <p:nvPr/>
        </p:nvSpPr>
        <p:spPr>
          <a:xfrm>
            <a:off x="3649947" y="4585911"/>
            <a:ext cx="81465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3649947" y="3154479"/>
            <a:ext cx="81465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7785549" y="4585911"/>
            <a:ext cx="81465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7785549" y="3154479"/>
            <a:ext cx="81465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38" name="矩形 37"/>
          <p:cNvSpPr/>
          <p:nvPr/>
        </p:nvSpPr>
        <p:spPr>
          <a:xfrm>
            <a:off x="304800" y="1521899"/>
            <a:ext cx="11582399" cy="171288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b="1" dirty="0"/>
              <a:t>         Packet Tracer</a:t>
            </a:r>
            <a:r>
              <a:rPr lang="zh-CN" altLang="en-US" b="1" dirty="0"/>
              <a:t>软件显示接口名称、网络设备型号和名称的功能并不完美，有时会遮挡传输媒体、状态指示灯、甚至是网络设备自身，并且会显示网络中所有网络设备相关接口的接口名称，这使得网络拓扑中的信息看起来比较凌乱。</a:t>
            </a:r>
            <a:endParaRPr lang="en-US" altLang="zh-CN" b="1" dirty="0"/>
          </a:p>
          <a:p>
            <a:r>
              <a:rPr lang="zh-CN" altLang="en-US" b="1" dirty="0"/>
              <a:t>         建议同学们首先让</a:t>
            </a:r>
            <a:r>
              <a:rPr lang="en-US" altLang="zh-CN" b="1" dirty="0"/>
              <a:t>Packet Tracer</a:t>
            </a:r>
            <a:r>
              <a:rPr lang="zh-CN" altLang="en-US" b="1" dirty="0"/>
              <a:t>软件显示各网络设备的相关接口名称，然后将需要显示的接口名称记录下来，并作为注释信息标注在相关接口旁边，最后让</a:t>
            </a:r>
            <a:r>
              <a:rPr lang="en-US" altLang="zh-CN" b="1" dirty="0"/>
              <a:t>Packet Tracer</a:t>
            </a:r>
            <a:r>
              <a:rPr lang="zh-CN" altLang="en-US" b="1" dirty="0"/>
              <a:t>软件不显示各网络设备的相关接口名称即可。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9" presetClass="exit" presetSubtype="0" ac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6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8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1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34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46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4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58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4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49" presetClass="exit" presetSubtype="0" ac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36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73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/>
        </p:nvSpPr>
        <p:spPr>
          <a:xfrm>
            <a:off x="2983249" y="685800"/>
            <a:ext cx="6234093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2.  </a:t>
            </a:r>
            <a:r>
              <a:rPr lang="zh-CN" altLang="en-US" sz="2400" b="1" dirty="0"/>
              <a:t>查看并标注路由器相关接口名称（接口号）</a:t>
            </a:r>
            <a:endParaRPr lang="en-US" altLang="zh-CN" sz="2400" b="1" dirty="0"/>
          </a:p>
        </p:txBody>
      </p:sp>
      <p:grpSp>
        <p:nvGrpSpPr>
          <p:cNvPr id="2" name="组合 1"/>
          <p:cNvGrpSpPr/>
          <p:nvPr/>
        </p:nvGrpSpPr>
        <p:grpSpPr>
          <a:xfrm>
            <a:off x="8141408" y="5204460"/>
            <a:ext cx="3110656" cy="96406"/>
            <a:chOff x="8141408" y="5204460"/>
            <a:chExt cx="3110656" cy="96406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8141408" y="5261622"/>
              <a:ext cx="3110656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等腰三角形 5"/>
            <p:cNvSpPr/>
            <p:nvPr/>
          </p:nvSpPr>
          <p:spPr>
            <a:xfrm rot="10800000">
              <a:off x="8386801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等腰三角形 6"/>
            <p:cNvSpPr/>
            <p:nvPr/>
          </p:nvSpPr>
          <p:spPr>
            <a:xfrm rot="10800000">
              <a:off x="10942128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010126" y="5204460"/>
            <a:ext cx="3110656" cy="96406"/>
            <a:chOff x="1010126" y="5204460"/>
            <a:chExt cx="3110656" cy="96406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1010126" y="5261622"/>
              <a:ext cx="3110656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等腰三角形 9"/>
            <p:cNvSpPr/>
            <p:nvPr/>
          </p:nvSpPr>
          <p:spPr>
            <a:xfrm rot="10800000">
              <a:off x="1255519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 rot="10800000">
              <a:off x="3810846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668822" y="2699812"/>
            <a:ext cx="3014769" cy="96406"/>
            <a:chOff x="4668822" y="2699812"/>
            <a:chExt cx="3014769" cy="96406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4668822" y="2748015"/>
              <a:ext cx="3014769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等腰三角形 15"/>
            <p:cNvSpPr/>
            <p:nvPr/>
          </p:nvSpPr>
          <p:spPr>
            <a:xfrm rot="10800000">
              <a:off x="4929079" y="269981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/>
          </p:nvSpPr>
          <p:spPr>
            <a:xfrm rot="10800000">
              <a:off x="7248040" y="269981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300063" y="2904294"/>
            <a:ext cx="111831" cy="2224442"/>
            <a:chOff x="4300063" y="2904294"/>
            <a:chExt cx="111831" cy="2224442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4355979" y="2904294"/>
              <a:ext cx="0" cy="2224442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等腰三角形 19"/>
            <p:cNvSpPr/>
            <p:nvPr/>
          </p:nvSpPr>
          <p:spPr>
            <a:xfrm rot="10800000">
              <a:off x="4300063" y="329094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20"/>
            <p:cNvSpPr/>
            <p:nvPr/>
          </p:nvSpPr>
          <p:spPr>
            <a:xfrm rot="10800000">
              <a:off x="4300063" y="471325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827314" y="2904294"/>
            <a:ext cx="111831" cy="2224442"/>
            <a:chOff x="7827314" y="2904294"/>
            <a:chExt cx="111831" cy="2224442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7885393" y="2904294"/>
              <a:ext cx="0" cy="2224442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等腰三角形 25"/>
            <p:cNvSpPr/>
            <p:nvPr/>
          </p:nvSpPr>
          <p:spPr>
            <a:xfrm rot="10800000">
              <a:off x="7827314" y="329094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10800000">
              <a:off x="7827314" y="471325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04704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48" y="5052372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5090553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4482400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pic>
        <p:nvPicPr>
          <p:cNvPr id="12" name="20 1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5128736"/>
            <a:ext cx="530013" cy="381609"/>
          </a:xfrm>
          <a:prstGeom prst="rect">
            <a:avLst/>
          </a:prstGeom>
        </p:spPr>
      </p:pic>
      <p:pic>
        <p:nvPicPr>
          <p:cNvPr id="13" name="20 1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786" y="5052372"/>
            <a:ext cx="539132" cy="457973"/>
          </a:xfrm>
          <a:prstGeom prst="rect">
            <a:avLst/>
          </a:prstGeom>
        </p:spPr>
      </p:pic>
      <p:pic>
        <p:nvPicPr>
          <p:cNvPr id="23" name="20 22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2557225"/>
            <a:ext cx="530013" cy="381609"/>
          </a:xfrm>
          <a:prstGeom prst="rect">
            <a:avLst/>
          </a:prstGeom>
        </p:spPr>
      </p:pic>
      <p:pic>
        <p:nvPicPr>
          <p:cNvPr id="24" name="20 2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2557225"/>
            <a:ext cx="530013" cy="381609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3222002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8007838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52" name="文本框 51"/>
          <p:cNvSpPr txBox="1"/>
          <p:nvPr/>
        </p:nvSpPr>
        <p:spPr>
          <a:xfrm>
            <a:off x="6791069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Router3</a:t>
            </a:r>
            <a:endParaRPr lang="zh-CN" altLang="en-US" b="1" dirty="0"/>
          </a:p>
        </p:txBody>
      </p:sp>
      <p:sp>
        <p:nvSpPr>
          <p:cNvPr id="78" name="文本框 77"/>
          <p:cNvSpPr txBox="1"/>
          <p:nvPr/>
        </p:nvSpPr>
        <p:spPr>
          <a:xfrm>
            <a:off x="11029042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8141408" y="5281356"/>
            <a:ext cx="856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29" name="文本框 28"/>
          <p:cNvSpPr txBox="1"/>
          <p:nvPr/>
        </p:nvSpPr>
        <p:spPr>
          <a:xfrm>
            <a:off x="10538091" y="5281356"/>
            <a:ext cx="643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1010126" y="5281356"/>
            <a:ext cx="603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3406809" y="528135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32" name="文本框 31"/>
          <p:cNvSpPr txBox="1"/>
          <p:nvPr/>
        </p:nvSpPr>
        <p:spPr>
          <a:xfrm>
            <a:off x="4577666" y="232708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3" name="文本框 32"/>
          <p:cNvSpPr txBox="1"/>
          <p:nvPr/>
        </p:nvSpPr>
        <p:spPr>
          <a:xfrm>
            <a:off x="6896627" y="232708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4" name="文本框 33"/>
          <p:cNvSpPr txBox="1"/>
          <p:nvPr/>
        </p:nvSpPr>
        <p:spPr>
          <a:xfrm>
            <a:off x="3403517" y="4585911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3403517" y="3154479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8083862" y="4585911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8083862" y="3154479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zh-CN" altLang="en-US" b="1" dirty="0"/>
          </a:p>
        </p:txBody>
      </p:sp>
      <p:pic>
        <p:nvPicPr>
          <p:cNvPr id="38" name="20 3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216" y="1324078"/>
            <a:ext cx="3912977" cy="828961"/>
          </a:xfrm>
          <a:prstGeom prst="rect">
            <a:avLst/>
          </a:prstGeom>
        </p:spPr>
      </p:pic>
      <p:grpSp>
        <p:nvGrpSpPr>
          <p:cNvPr id="49" name="组合 48"/>
          <p:cNvGrpSpPr/>
          <p:nvPr/>
        </p:nvGrpSpPr>
        <p:grpSpPr>
          <a:xfrm>
            <a:off x="310274" y="2153039"/>
            <a:ext cx="2678449" cy="1474525"/>
            <a:chOff x="310274" y="2153039"/>
            <a:chExt cx="2678449" cy="1474525"/>
          </a:xfrm>
        </p:grpSpPr>
        <p:sp>
          <p:nvSpPr>
            <p:cNvPr id="42" name="文本框 7"/>
            <p:cNvSpPr txBox="1"/>
            <p:nvPr/>
          </p:nvSpPr>
          <p:spPr>
            <a:xfrm>
              <a:off x="310274" y="2338429"/>
              <a:ext cx="2678449" cy="128913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使用“放置注释”工具，</a:t>
              </a:r>
              <a:endParaRPr lang="en-US" altLang="zh-CN" b="1" dirty="0">
                <a:solidFill>
                  <a:schemeClr val="accent1">
                    <a:lumMod val="7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在各计算机和路由器相</a:t>
              </a:r>
              <a:endParaRPr lang="en-US" altLang="zh-CN" b="1" dirty="0">
                <a:solidFill>
                  <a:schemeClr val="accent1">
                    <a:lumMod val="75000"/>
                  </a:schemeClr>
                </a:solidFill>
              </a:endParaRPr>
            </a:p>
            <a:p>
              <a:pPr>
                <a:lnSpc>
                  <a:spcPct val="150000"/>
                </a:lnSpc>
              </a:pP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关接口旁标注接口名称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48" name="直接箭头连接符 47"/>
            <p:cNvCxnSpPr/>
            <p:nvPr/>
          </p:nvCxnSpPr>
          <p:spPr>
            <a:xfrm flipV="1">
              <a:off x="1670609" y="2153039"/>
              <a:ext cx="0" cy="282796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9" presetClass="entr" presetSubtype="0" decel="10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49" presetClass="entr" presetSubtype="0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9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文本框 56"/>
          <p:cNvSpPr txBox="1"/>
          <p:nvPr/>
        </p:nvSpPr>
        <p:spPr>
          <a:xfrm>
            <a:off x="2812209" y="685800"/>
            <a:ext cx="6589998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3.  </a:t>
            </a:r>
            <a:r>
              <a:rPr lang="zh-CN" altLang="en-US" sz="2400" b="1" dirty="0"/>
              <a:t>标注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地址、子网掩码以及默认网关的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</a:t>
            </a:r>
            <a:endParaRPr lang="en-US" altLang="zh-CN" sz="2400" b="1" dirty="0"/>
          </a:p>
        </p:txBody>
      </p:sp>
      <p:grpSp>
        <p:nvGrpSpPr>
          <p:cNvPr id="2" name="组合 1"/>
          <p:cNvGrpSpPr/>
          <p:nvPr/>
        </p:nvGrpSpPr>
        <p:grpSpPr>
          <a:xfrm>
            <a:off x="8141408" y="5204460"/>
            <a:ext cx="3110656" cy="96406"/>
            <a:chOff x="8141408" y="5204460"/>
            <a:chExt cx="3110656" cy="96406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8141408" y="5261622"/>
              <a:ext cx="3110656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等腰三角形 5"/>
            <p:cNvSpPr/>
            <p:nvPr/>
          </p:nvSpPr>
          <p:spPr>
            <a:xfrm rot="10800000">
              <a:off x="8386801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等腰三角形 6"/>
            <p:cNvSpPr/>
            <p:nvPr/>
          </p:nvSpPr>
          <p:spPr>
            <a:xfrm rot="10800000">
              <a:off x="10942128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010126" y="5204460"/>
            <a:ext cx="3110656" cy="96406"/>
            <a:chOff x="1010126" y="5204460"/>
            <a:chExt cx="3110656" cy="96406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1010126" y="5261622"/>
              <a:ext cx="3110656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等腰三角形 9"/>
            <p:cNvSpPr/>
            <p:nvPr/>
          </p:nvSpPr>
          <p:spPr>
            <a:xfrm rot="10800000">
              <a:off x="1255519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 rot="10800000">
              <a:off x="3810846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668822" y="2699812"/>
            <a:ext cx="3014769" cy="96406"/>
            <a:chOff x="4668822" y="2699812"/>
            <a:chExt cx="3014769" cy="96406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4668822" y="2748015"/>
              <a:ext cx="3014769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等腰三角形 15"/>
            <p:cNvSpPr/>
            <p:nvPr/>
          </p:nvSpPr>
          <p:spPr>
            <a:xfrm rot="10800000">
              <a:off x="4929079" y="269981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/>
          </p:nvSpPr>
          <p:spPr>
            <a:xfrm rot="10800000">
              <a:off x="7248040" y="269981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300063" y="2904294"/>
            <a:ext cx="111831" cy="2224442"/>
            <a:chOff x="4300063" y="2904294"/>
            <a:chExt cx="111831" cy="2224442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4355979" y="2904294"/>
              <a:ext cx="0" cy="2224442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等腰三角形 19"/>
            <p:cNvSpPr/>
            <p:nvPr/>
          </p:nvSpPr>
          <p:spPr>
            <a:xfrm rot="10800000">
              <a:off x="4300063" y="329094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20"/>
            <p:cNvSpPr/>
            <p:nvPr/>
          </p:nvSpPr>
          <p:spPr>
            <a:xfrm rot="10800000">
              <a:off x="4300063" y="471325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827314" y="2904294"/>
            <a:ext cx="111831" cy="2224442"/>
            <a:chOff x="7827314" y="2904294"/>
            <a:chExt cx="111831" cy="2224442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7885393" y="2904294"/>
              <a:ext cx="0" cy="2224442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等腰三角形 25"/>
            <p:cNvSpPr/>
            <p:nvPr/>
          </p:nvSpPr>
          <p:spPr>
            <a:xfrm rot="10800000">
              <a:off x="7827314" y="329094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10800000">
              <a:off x="7827314" y="471325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04704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48" y="5052372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5090553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4482400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pic>
        <p:nvPicPr>
          <p:cNvPr id="12" name="20 1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5128736"/>
            <a:ext cx="530013" cy="381609"/>
          </a:xfrm>
          <a:prstGeom prst="rect">
            <a:avLst/>
          </a:prstGeom>
        </p:spPr>
      </p:pic>
      <p:pic>
        <p:nvPicPr>
          <p:cNvPr id="13" name="20 1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786" y="5052372"/>
            <a:ext cx="539132" cy="457973"/>
          </a:xfrm>
          <a:prstGeom prst="rect">
            <a:avLst/>
          </a:prstGeom>
        </p:spPr>
      </p:pic>
      <p:pic>
        <p:nvPicPr>
          <p:cNvPr id="23" name="20 22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2557225"/>
            <a:ext cx="530013" cy="381609"/>
          </a:xfrm>
          <a:prstGeom prst="rect">
            <a:avLst/>
          </a:prstGeom>
        </p:spPr>
      </p:pic>
      <p:pic>
        <p:nvPicPr>
          <p:cNvPr id="24" name="20 2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2557225"/>
            <a:ext cx="530013" cy="381609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3222002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8007838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52" name="文本框 51"/>
          <p:cNvSpPr txBox="1"/>
          <p:nvPr/>
        </p:nvSpPr>
        <p:spPr>
          <a:xfrm>
            <a:off x="6791069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Router3</a:t>
            </a:r>
            <a:endParaRPr lang="zh-CN" altLang="en-US" b="1" dirty="0"/>
          </a:p>
        </p:txBody>
      </p:sp>
      <p:sp>
        <p:nvSpPr>
          <p:cNvPr id="78" name="文本框 77"/>
          <p:cNvSpPr txBox="1"/>
          <p:nvPr/>
        </p:nvSpPr>
        <p:spPr>
          <a:xfrm>
            <a:off x="11029042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8141408" y="5281356"/>
            <a:ext cx="856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29" name="文本框 28"/>
          <p:cNvSpPr txBox="1"/>
          <p:nvPr/>
        </p:nvSpPr>
        <p:spPr>
          <a:xfrm>
            <a:off x="10538091" y="5281356"/>
            <a:ext cx="643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1010126" y="5281356"/>
            <a:ext cx="603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3406809" y="528135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32" name="文本框 31"/>
          <p:cNvSpPr txBox="1"/>
          <p:nvPr/>
        </p:nvSpPr>
        <p:spPr>
          <a:xfrm>
            <a:off x="4577666" y="232708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3" name="文本框 32"/>
          <p:cNvSpPr txBox="1"/>
          <p:nvPr/>
        </p:nvSpPr>
        <p:spPr>
          <a:xfrm>
            <a:off x="6896627" y="232708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4" name="文本框 33"/>
          <p:cNvSpPr txBox="1"/>
          <p:nvPr/>
        </p:nvSpPr>
        <p:spPr>
          <a:xfrm>
            <a:off x="3403517" y="4585911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3403517" y="3154479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8083862" y="4585911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8083862" y="3154479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308925" y="5641911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43" name="文本框 42"/>
          <p:cNvSpPr txBox="1"/>
          <p:nvPr/>
        </p:nvSpPr>
        <p:spPr>
          <a:xfrm>
            <a:off x="2572032" y="5641911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192.168.0.254/24</a:t>
            </a:r>
            <a:endParaRPr lang="zh-CN" altLang="en-US" b="1" dirty="0"/>
          </a:p>
        </p:txBody>
      </p:sp>
      <p:sp>
        <p:nvSpPr>
          <p:cNvPr id="44" name="文本框 43"/>
          <p:cNvSpPr txBox="1"/>
          <p:nvPr/>
        </p:nvSpPr>
        <p:spPr>
          <a:xfrm>
            <a:off x="4577666" y="2087878"/>
            <a:ext cx="124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10.0.0.1/30</a:t>
            </a:r>
            <a:endParaRPr lang="zh-CN" altLang="en-US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6431183" y="2087878"/>
            <a:ext cx="124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10.0.0.2/30</a:t>
            </a:r>
            <a:endParaRPr lang="zh-CN" altLang="en-US" b="1" dirty="0"/>
          </a:p>
        </p:txBody>
      </p:sp>
      <p:sp>
        <p:nvSpPr>
          <p:cNvPr id="46" name="文本框 45"/>
          <p:cNvSpPr txBox="1"/>
          <p:nvPr/>
        </p:nvSpPr>
        <p:spPr>
          <a:xfrm>
            <a:off x="2566222" y="4331415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172.16.0.2/30</a:t>
            </a:r>
            <a:endParaRPr lang="zh-CN" altLang="en-US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2554836" y="3424776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172.16.0.1/30</a:t>
            </a:r>
            <a:endParaRPr lang="zh-CN" altLang="en-US" b="1" dirty="0"/>
          </a:p>
        </p:txBody>
      </p:sp>
      <p:sp>
        <p:nvSpPr>
          <p:cNvPr id="53" name="文本框 52"/>
          <p:cNvSpPr txBox="1"/>
          <p:nvPr/>
        </p:nvSpPr>
        <p:spPr>
          <a:xfrm>
            <a:off x="8083862" y="4331415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172.19.0.2/30</a:t>
            </a:r>
            <a:endParaRPr lang="zh-CN" altLang="en-US" b="1" dirty="0"/>
          </a:p>
        </p:txBody>
      </p:sp>
      <p:sp>
        <p:nvSpPr>
          <p:cNvPr id="54" name="文本框 53"/>
          <p:cNvSpPr txBox="1"/>
          <p:nvPr/>
        </p:nvSpPr>
        <p:spPr>
          <a:xfrm>
            <a:off x="8083862" y="3424776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172.19.0.1/30</a:t>
            </a:r>
            <a:endParaRPr lang="zh-CN" altLang="en-US" b="1" dirty="0"/>
          </a:p>
        </p:txBody>
      </p:sp>
      <p:sp>
        <p:nvSpPr>
          <p:cNvPr id="55" name="文本框 54"/>
          <p:cNvSpPr txBox="1"/>
          <p:nvPr/>
        </p:nvSpPr>
        <p:spPr>
          <a:xfrm>
            <a:off x="8141408" y="5641911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192.168.1.254/24</a:t>
            </a:r>
            <a:endParaRPr lang="zh-CN" altLang="en-US" b="1" dirty="0"/>
          </a:p>
        </p:txBody>
      </p:sp>
      <p:sp>
        <p:nvSpPr>
          <p:cNvPr id="56" name="文本框 55"/>
          <p:cNvSpPr txBox="1"/>
          <p:nvPr/>
        </p:nvSpPr>
        <p:spPr>
          <a:xfrm>
            <a:off x="10428049" y="5641911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192.168.1.1/24</a:t>
            </a:r>
            <a:endParaRPr lang="zh-CN" altLang="en-US" b="1" dirty="0"/>
          </a:p>
        </p:txBody>
      </p:sp>
      <p:sp>
        <p:nvSpPr>
          <p:cNvPr id="58" name="文本框 57"/>
          <p:cNvSpPr txBox="1"/>
          <p:nvPr/>
        </p:nvSpPr>
        <p:spPr>
          <a:xfrm>
            <a:off x="308925" y="5953754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192.168.0.254</a:t>
            </a:r>
            <a:endParaRPr lang="zh-CN" altLang="en-US" b="1" dirty="0"/>
          </a:p>
        </p:txBody>
      </p:sp>
      <p:sp>
        <p:nvSpPr>
          <p:cNvPr id="59" name="文本框 58"/>
          <p:cNvSpPr txBox="1"/>
          <p:nvPr/>
        </p:nvSpPr>
        <p:spPr>
          <a:xfrm>
            <a:off x="10428049" y="5953754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192.168.1.254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35" presetClass="emph" presetSubtype="0" repeatCount="3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54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00"/>
                            </p:stCondLst>
                            <p:childTnLst>
                              <p:par>
                                <p:cTn id="56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35" presetClass="emph" presetSubtype="0" repeatCount="3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1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/>
      <p:bldP spid="39" grpId="0"/>
      <p:bldP spid="43" grpId="0"/>
      <p:bldP spid="43" grpId="1"/>
      <p:bldP spid="44" grpId="0"/>
      <p:bldP spid="45" grpId="0"/>
      <p:bldP spid="46" grpId="0"/>
      <p:bldP spid="47" grpId="0"/>
      <p:bldP spid="53" grpId="0"/>
      <p:bldP spid="54" grpId="0"/>
      <p:bldP spid="55" grpId="0"/>
      <p:bldP spid="55" grpId="1"/>
      <p:bldP spid="56" grpId="0"/>
      <p:bldP spid="58" grpId="0"/>
      <p:bldP spid="5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/>
        </p:nvSpPr>
        <p:spPr>
          <a:xfrm>
            <a:off x="2812209" y="685800"/>
            <a:ext cx="6589998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4.  </a:t>
            </a:r>
            <a:r>
              <a:rPr lang="zh-CN" altLang="en-US" sz="2400" b="1" dirty="0"/>
              <a:t>配置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地址、子网掩码以及默认网关的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</a:t>
            </a:r>
            <a:endParaRPr lang="en-US" altLang="zh-CN" sz="2400" b="1" dirty="0"/>
          </a:p>
        </p:txBody>
      </p:sp>
      <p:grpSp>
        <p:nvGrpSpPr>
          <p:cNvPr id="2" name="组合 1"/>
          <p:cNvGrpSpPr/>
          <p:nvPr/>
        </p:nvGrpSpPr>
        <p:grpSpPr>
          <a:xfrm>
            <a:off x="8141408" y="5204460"/>
            <a:ext cx="3110656" cy="96406"/>
            <a:chOff x="8141408" y="5204460"/>
            <a:chExt cx="3110656" cy="96406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8141408" y="5261622"/>
              <a:ext cx="3110656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等腰三角形 5"/>
            <p:cNvSpPr/>
            <p:nvPr/>
          </p:nvSpPr>
          <p:spPr>
            <a:xfrm rot="10800000">
              <a:off x="8386801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等腰三角形 6"/>
            <p:cNvSpPr/>
            <p:nvPr/>
          </p:nvSpPr>
          <p:spPr>
            <a:xfrm rot="10800000">
              <a:off x="10942128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010126" y="5204460"/>
            <a:ext cx="3110656" cy="96406"/>
            <a:chOff x="1010126" y="5204460"/>
            <a:chExt cx="3110656" cy="96406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1010126" y="5261622"/>
              <a:ext cx="3110656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等腰三角形 9"/>
            <p:cNvSpPr/>
            <p:nvPr/>
          </p:nvSpPr>
          <p:spPr>
            <a:xfrm rot="10800000">
              <a:off x="1255519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 rot="10800000">
              <a:off x="3810846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668822" y="2699812"/>
            <a:ext cx="3014769" cy="96406"/>
            <a:chOff x="4668822" y="2699812"/>
            <a:chExt cx="3014769" cy="96406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4668822" y="2748015"/>
              <a:ext cx="3014769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等腰三角形 15"/>
            <p:cNvSpPr/>
            <p:nvPr/>
          </p:nvSpPr>
          <p:spPr>
            <a:xfrm rot="10800000">
              <a:off x="4929079" y="269981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/>
          </p:nvSpPr>
          <p:spPr>
            <a:xfrm rot="10800000">
              <a:off x="7248040" y="269981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300063" y="2904294"/>
            <a:ext cx="111831" cy="2224442"/>
            <a:chOff x="4300063" y="2904294"/>
            <a:chExt cx="111831" cy="2224442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4355979" y="2904294"/>
              <a:ext cx="0" cy="2224442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等腰三角形 19"/>
            <p:cNvSpPr/>
            <p:nvPr/>
          </p:nvSpPr>
          <p:spPr>
            <a:xfrm rot="10800000">
              <a:off x="4300063" y="329094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20"/>
            <p:cNvSpPr/>
            <p:nvPr/>
          </p:nvSpPr>
          <p:spPr>
            <a:xfrm rot="10800000">
              <a:off x="4300063" y="471325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827314" y="2904294"/>
            <a:ext cx="111831" cy="2224442"/>
            <a:chOff x="7827314" y="2904294"/>
            <a:chExt cx="111831" cy="2224442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7885393" y="2904294"/>
              <a:ext cx="0" cy="2224442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等腰三角形 25"/>
            <p:cNvSpPr/>
            <p:nvPr/>
          </p:nvSpPr>
          <p:spPr>
            <a:xfrm rot="10800000">
              <a:off x="7827314" y="329094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10800000">
              <a:off x="7827314" y="471325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04704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48" y="5052372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5090553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4482400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pic>
        <p:nvPicPr>
          <p:cNvPr id="12" name="20 1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5128736"/>
            <a:ext cx="530013" cy="381609"/>
          </a:xfrm>
          <a:prstGeom prst="rect">
            <a:avLst/>
          </a:prstGeom>
        </p:spPr>
      </p:pic>
      <p:pic>
        <p:nvPicPr>
          <p:cNvPr id="13" name="20 1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786" y="5052372"/>
            <a:ext cx="539132" cy="457973"/>
          </a:xfrm>
          <a:prstGeom prst="rect">
            <a:avLst/>
          </a:prstGeom>
        </p:spPr>
      </p:pic>
      <p:pic>
        <p:nvPicPr>
          <p:cNvPr id="23" name="20 22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2557225"/>
            <a:ext cx="530013" cy="381609"/>
          </a:xfrm>
          <a:prstGeom prst="rect">
            <a:avLst/>
          </a:prstGeom>
        </p:spPr>
      </p:pic>
      <p:pic>
        <p:nvPicPr>
          <p:cNvPr id="24" name="20 2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2557225"/>
            <a:ext cx="530013" cy="381609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3222002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8007838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52" name="文本框 51"/>
          <p:cNvSpPr txBox="1"/>
          <p:nvPr/>
        </p:nvSpPr>
        <p:spPr>
          <a:xfrm>
            <a:off x="6791069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Router3</a:t>
            </a:r>
            <a:endParaRPr lang="zh-CN" altLang="en-US" b="1" dirty="0"/>
          </a:p>
        </p:txBody>
      </p:sp>
      <p:sp>
        <p:nvSpPr>
          <p:cNvPr id="78" name="文本框 77"/>
          <p:cNvSpPr txBox="1"/>
          <p:nvPr/>
        </p:nvSpPr>
        <p:spPr>
          <a:xfrm>
            <a:off x="11029042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8141408" y="5281356"/>
            <a:ext cx="856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29" name="文本框 28"/>
          <p:cNvSpPr txBox="1"/>
          <p:nvPr/>
        </p:nvSpPr>
        <p:spPr>
          <a:xfrm>
            <a:off x="10538091" y="5281356"/>
            <a:ext cx="643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1010126" y="5281356"/>
            <a:ext cx="603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3406809" y="528135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32" name="文本框 31"/>
          <p:cNvSpPr txBox="1"/>
          <p:nvPr/>
        </p:nvSpPr>
        <p:spPr>
          <a:xfrm>
            <a:off x="4577666" y="232708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3" name="文本框 32"/>
          <p:cNvSpPr txBox="1"/>
          <p:nvPr/>
        </p:nvSpPr>
        <p:spPr>
          <a:xfrm>
            <a:off x="6896627" y="232708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4" name="文本框 33"/>
          <p:cNvSpPr txBox="1"/>
          <p:nvPr/>
        </p:nvSpPr>
        <p:spPr>
          <a:xfrm>
            <a:off x="3403517" y="4585911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3403517" y="3154479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8083862" y="4585911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8083862" y="3154479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308925" y="5641911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43" name="文本框 42"/>
          <p:cNvSpPr txBox="1"/>
          <p:nvPr/>
        </p:nvSpPr>
        <p:spPr>
          <a:xfrm>
            <a:off x="2572032" y="5641911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192.168.0.254/24</a:t>
            </a:r>
            <a:endParaRPr lang="zh-CN" altLang="en-US" b="1" dirty="0"/>
          </a:p>
        </p:txBody>
      </p:sp>
      <p:sp>
        <p:nvSpPr>
          <p:cNvPr id="44" name="文本框 43"/>
          <p:cNvSpPr txBox="1"/>
          <p:nvPr/>
        </p:nvSpPr>
        <p:spPr>
          <a:xfrm>
            <a:off x="4577666" y="2087878"/>
            <a:ext cx="124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10.0.0.1/30</a:t>
            </a:r>
            <a:endParaRPr lang="zh-CN" altLang="en-US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6431183" y="2087878"/>
            <a:ext cx="124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10.0.0.2/30</a:t>
            </a:r>
            <a:endParaRPr lang="zh-CN" altLang="en-US" b="1" dirty="0"/>
          </a:p>
        </p:txBody>
      </p:sp>
      <p:sp>
        <p:nvSpPr>
          <p:cNvPr id="46" name="文本框 45"/>
          <p:cNvSpPr txBox="1"/>
          <p:nvPr/>
        </p:nvSpPr>
        <p:spPr>
          <a:xfrm>
            <a:off x="2566222" y="4331415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172.16.0.2/30</a:t>
            </a:r>
            <a:endParaRPr lang="zh-CN" altLang="en-US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2554836" y="3424776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172.16.0.1/30</a:t>
            </a:r>
            <a:endParaRPr lang="zh-CN" altLang="en-US" b="1" dirty="0"/>
          </a:p>
        </p:txBody>
      </p:sp>
      <p:sp>
        <p:nvSpPr>
          <p:cNvPr id="53" name="文本框 52"/>
          <p:cNvSpPr txBox="1"/>
          <p:nvPr/>
        </p:nvSpPr>
        <p:spPr>
          <a:xfrm>
            <a:off x="8083862" y="4331415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172.19.0.2/30</a:t>
            </a:r>
            <a:endParaRPr lang="zh-CN" altLang="en-US" b="1" dirty="0"/>
          </a:p>
        </p:txBody>
      </p:sp>
      <p:sp>
        <p:nvSpPr>
          <p:cNvPr id="54" name="文本框 53"/>
          <p:cNvSpPr txBox="1"/>
          <p:nvPr/>
        </p:nvSpPr>
        <p:spPr>
          <a:xfrm>
            <a:off x="8083862" y="3424776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172.19.0.1/30</a:t>
            </a:r>
            <a:endParaRPr lang="zh-CN" altLang="en-US" b="1" dirty="0"/>
          </a:p>
        </p:txBody>
      </p:sp>
      <p:sp>
        <p:nvSpPr>
          <p:cNvPr id="55" name="文本框 54"/>
          <p:cNvSpPr txBox="1"/>
          <p:nvPr/>
        </p:nvSpPr>
        <p:spPr>
          <a:xfrm>
            <a:off x="8141408" y="5641911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192.168.1.254/24</a:t>
            </a:r>
            <a:endParaRPr lang="zh-CN" altLang="en-US" b="1" dirty="0"/>
          </a:p>
        </p:txBody>
      </p:sp>
      <p:sp>
        <p:nvSpPr>
          <p:cNvPr id="56" name="文本框 55"/>
          <p:cNvSpPr txBox="1"/>
          <p:nvPr/>
        </p:nvSpPr>
        <p:spPr>
          <a:xfrm>
            <a:off x="10428049" y="5641911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192.168.1.1/24</a:t>
            </a:r>
            <a:endParaRPr lang="zh-CN" altLang="en-US" b="1" dirty="0"/>
          </a:p>
        </p:txBody>
      </p:sp>
      <p:sp>
        <p:nvSpPr>
          <p:cNvPr id="58" name="文本框 57"/>
          <p:cNvSpPr txBox="1"/>
          <p:nvPr/>
        </p:nvSpPr>
        <p:spPr>
          <a:xfrm>
            <a:off x="308925" y="5953754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192.168.0.254</a:t>
            </a:r>
            <a:endParaRPr lang="zh-CN" altLang="en-US" b="1" dirty="0"/>
          </a:p>
        </p:txBody>
      </p:sp>
      <p:sp>
        <p:nvSpPr>
          <p:cNvPr id="59" name="文本框 58"/>
          <p:cNvSpPr txBox="1"/>
          <p:nvPr/>
        </p:nvSpPr>
        <p:spPr>
          <a:xfrm>
            <a:off x="10428049" y="5953754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192.168.1.254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/>
        </p:nvSpPr>
        <p:spPr>
          <a:xfrm>
            <a:off x="2812209" y="685800"/>
            <a:ext cx="6589998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4.  </a:t>
            </a:r>
            <a:r>
              <a:rPr lang="zh-CN" altLang="en-US" sz="2400" b="1" dirty="0"/>
              <a:t>配置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地址、子网掩码以及默认网关的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</a:t>
            </a:r>
            <a:endParaRPr lang="en-US" altLang="zh-CN" sz="2400" b="1" dirty="0"/>
          </a:p>
        </p:txBody>
      </p:sp>
      <p:grpSp>
        <p:nvGrpSpPr>
          <p:cNvPr id="2" name="组合 1"/>
          <p:cNvGrpSpPr/>
          <p:nvPr/>
        </p:nvGrpSpPr>
        <p:grpSpPr>
          <a:xfrm>
            <a:off x="8141408" y="5204460"/>
            <a:ext cx="3110656" cy="96406"/>
            <a:chOff x="8141408" y="5204460"/>
            <a:chExt cx="3110656" cy="96406"/>
          </a:xfrm>
        </p:grpSpPr>
        <p:cxnSp>
          <p:nvCxnSpPr>
            <p:cNvPr id="5" name="直接连接符 4"/>
            <p:cNvCxnSpPr/>
            <p:nvPr/>
          </p:nvCxnSpPr>
          <p:spPr>
            <a:xfrm>
              <a:off x="8141408" y="5261622"/>
              <a:ext cx="3110656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等腰三角形 5"/>
            <p:cNvSpPr/>
            <p:nvPr/>
          </p:nvSpPr>
          <p:spPr>
            <a:xfrm rot="10800000">
              <a:off x="8386801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等腰三角形 6"/>
            <p:cNvSpPr/>
            <p:nvPr/>
          </p:nvSpPr>
          <p:spPr>
            <a:xfrm rot="10800000">
              <a:off x="10942128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1010126" y="5204460"/>
            <a:ext cx="3110656" cy="96406"/>
            <a:chOff x="1010126" y="5204460"/>
            <a:chExt cx="3110656" cy="96406"/>
          </a:xfrm>
        </p:grpSpPr>
        <p:cxnSp>
          <p:nvCxnSpPr>
            <p:cNvPr id="9" name="直接连接符 8"/>
            <p:cNvCxnSpPr/>
            <p:nvPr/>
          </p:nvCxnSpPr>
          <p:spPr>
            <a:xfrm>
              <a:off x="1010126" y="5261622"/>
              <a:ext cx="3110656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等腰三角形 9"/>
            <p:cNvSpPr/>
            <p:nvPr/>
          </p:nvSpPr>
          <p:spPr>
            <a:xfrm rot="10800000">
              <a:off x="1255519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" name="等腰三角形 10"/>
            <p:cNvSpPr/>
            <p:nvPr/>
          </p:nvSpPr>
          <p:spPr>
            <a:xfrm rot="10800000">
              <a:off x="3810846" y="5204460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/>
          <p:cNvGrpSpPr/>
          <p:nvPr/>
        </p:nvGrpSpPr>
        <p:grpSpPr>
          <a:xfrm>
            <a:off x="4668822" y="2699812"/>
            <a:ext cx="3014769" cy="96406"/>
            <a:chOff x="4668822" y="2699812"/>
            <a:chExt cx="3014769" cy="96406"/>
          </a:xfrm>
        </p:grpSpPr>
        <p:cxnSp>
          <p:nvCxnSpPr>
            <p:cNvPr id="15" name="直接连接符 14"/>
            <p:cNvCxnSpPr/>
            <p:nvPr/>
          </p:nvCxnSpPr>
          <p:spPr>
            <a:xfrm>
              <a:off x="4668822" y="2748015"/>
              <a:ext cx="3014769" cy="0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等腰三角形 15"/>
            <p:cNvSpPr/>
            <p:nvPr/>
          </p:nvSpPr>
          <p:spPr>
            <a:xfrm rot="10800000">
              <a:off x="4929079" y="269981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等腰三角形 16"/>
            <p:cNvSpPr/>
            <p:nvPr/>
          </p:nvSpPr>
          <p:spPr>
            <a:xfrm rot="10800000">
              <a:off x="7248040" y="269981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4300063" y="2904294"/>
            <a:ext cx="111831" cy="2224442"/>
            <a:chOff x="4300063" y="2904294"/>
            <a:chExt cx="111831" cy="2224442"/>
          </a:xfrm>
        </p:grpSpPr>
        <p:cxnSp>
          <p:nvCxnSpPr>
            <p:cNvPr id="19" name="直接连接符 18"/>
            <p:cNvCxnSpPr/>
            <p:nvPr/>
          </p:nvCxnSpPr>
          <p:spPr>
            <a:xfrm>
              <a:off x="4355979" y="2904294"/>
              <a:ext cx="0" cy="2224442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等腰三角形 19"/>
            <p:cNvSpPr/>
            <p:nvPr/>
          </p:nvSpPr>
          <p:spPr>
            <a:xfrm rot="10800000">
              <a:off x="4300063" y="329094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等腰三角形 20"/>
            <p:cNvSpPr/>
            <p:nvPr/>
          </p:nvSpPr>
          <p:spPr>
            <a:xfrm rot="10800000">
              <a:off x="4300063" y="471325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7827314" y="2904294"/>
            <a:ext cx="111831" cy="2224442"/>
            <a:chOff x="7827314" y="2904294"/>
            <a:chExt cx="111831" cy="2224442"/>
          </a:xfrm>
        </p:grpSpPr>
        <p:cxnSp>
          <p:nvCxnSpPr>
            <p:cNvPr id="25" name="直接连接符 24"/>
            <p:cNvCxnSpPr/>
            <p:nvPr/>
          </p:nvCxnSpPr>
          <p:spPr>
            <a:xfrm>
              <a:off x="7885393" y="2904294"/>
              <a:ext cx="0" cy="2224442"/>
            </a:xfrm>
            <a:prstGeom prst="line">
              <a:avLst/>
            </a:prstGeom>
            <a:ln w="25400">
              <a:solidFill>
                <a:schemeClr val="tx1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等腰三角形 25"/>
            <p:cNvSpPr/>
            <p:nvPr/>
          </p:nvSpPr>
          <p:spPr>
            <a:xfrm rot="10800000">
              <a:off x="7827314" y="329094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等腰三角形 26"/>
            <p:cNvSpPr/>
            <p:nvPr/>
          </p:nvSpPr>
          <p:spPr>
            <a:xfrm rot="10800000">
              <a:off x="7827314" y="4713252"/>
              <a:ext cx="111831" cy="96406"/>
            </a:xfrm>
            <a:prstGeom prst="triangle">
              <a:avLst/>
            </a:prstGeom>
            <a:solidFill>
              <a:schemeClr val="accent1">
                <a:lumMod val="75000"/>
              </a:schemeClr>
            </a:solidFill>
            <a:ln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04704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48" y="5052372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5090553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4482400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pic>
        <p:nvPicPr>
          <p:cNvPr id="12" name="20 1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5128736"/>
            <a:ext cx="530013" cy="381609"/>
          </a:xfrm>
          <a:prstGeom prst="rect">
            <a:avLst/>
          </a:prstGeom>
        </p:spPr>
      </p:pic>
      <p:pic>
        <p:nvPicPr>
          <p:cNvPr id="13" name="20 1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786" y="5052372"/>
            <a:ext cx="539132" cy="457973"/>
          </a:xfrm>
          <a:prstGeom prst="rect">
            <a:avLst/>
          </a:prstGeom>
        </p:spPr>
      </p:pic>
      <p:pic>
        <p:nvPicPr>
          <p:cNvPr id="23" name="20 22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2557225"/>
            <a:ext cx="530013" cy="381609"/>
          </a:xfrm>
          <a:prstGeom prst="rect">
            <a:avLst/>
          </a:prstGeom>
        </p:spPr>
      </p:pic>
      <p:pic>
        <p:nvPicPr>
          <p:cNvPr id="24" name="20 2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2557225"/>
            <a:ext cx="530013" cy="381609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3222002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8007838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52" name="文本框 51"/>
          <p:cNvSpPr txBox="1"/>
          <p:nvPr/>
        </p:nvSpPr>
        <p:spPr>
          <a:xfrm>
            <a:off x="6791069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Router3</a:t>
            </a:r>
            <a:endParaRPr lang="zh-CN" altLang="en-US" b="1" dirty="0"/>
          </a:p>
        </p:txBody>
      </p:sp>
      <p:sp>
        <p:nvSpPr>
          <p:cNvPr id="78" name="文本框 77"/>
          <p:cNvSpPr txBox="1"/>
          <p:nvPr/>
        </p:nvSpPr>
        <p:spPr>
          <a:xfrm>
            <a:off x="11029042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8141408" y="5281356"/>
            <a:ext cx="856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29" name="文本框 28"/>
          <p:cNvSpPr txBox="1"/>
          <p:nvPr/>
        </p:nvSpPr>
        <p:spPr>
          <a:xfrm>
            <a:off x="10538091" y="5281356"/>
            <a:ext cx="6437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30" name="文本框 29"/>
          <p:cNvSpPr txBox="1"/>
          <p:nvPr/>
        </p:nvSpPr>
        <p:spPr>
          <a:xfrm>
            <a:off x="1010126" y="5281356"/>
            <a:ext cx="603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Fa0</a:t>
            </a:r>
            <a:endParaRPr lang="zh-CN" altLang="en-US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3406809" y="528135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32" name="文本框 31"/>
          <p:cNvSpPr txBox="1"/>
          <p:nvPr/>
        </p:nvSpPr>
        <p:spPr>
          <a:xfrm>
            <a:off x="4577666" y="232708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3" name="文本框 32"/>
          <p:cNvSpPr txBox="1"/>
          <p:nvPr/>
        </p:nvSpPr>
        <p:spPr>
          <a:xfrm>
            <a:off x="6896627" y="232708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4" name="文本框 33"/>
          <p:cNvSpPr txBox="1"/>
          <p:nvPr/>
        </p:nvSpPr>
        <p:spPr>
          <a:xfrm>
            <a:off x="3403517" y="4585911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3403517" y="3154479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8083862" y="4585911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8083862" y="3154479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308925" y="5641911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43" name="文本框 42"/>
          <p:cNvSpPr txBox="1"/>
          <p:nvPr/>
        </p:nvSpPr>
        <p:spPr>
          <a:xfrm>
            <a:off x="2572032" y="5641911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192.168.0.254/24</a:t>
            </a:r>
            <a:endParaRPr lang="zh-CN" altLang="en-US" b="1" dirty="0"/>
          </a:p>
        </p:txBody>
      </p:sp>
      <p:sp>
        <p:nvSpPr>
          <p:cNvPr id="44" name="文本框 43"/>
          <p:cNvSpPr txBox="1"/>
          <p:nvPr/>
        </p:nvSpPr>
        <p:spPr>
          <a:xfrm>
            <a:off x="4577666" y="2087878"/>
            <a:ext cx="124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10.0.0.1/30</a:t>
            </a:r>
            <a:endParaRPr lang="zh-CN" altLang="en-US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6431183" y="2087878"/>
            <a:ext cx="124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10.0.0.2/30</a:t>
            </a:r>
            <a:endParaRPr lang="zh-CN" altLang="en-US" b="1" dirty="0"/>
          </a:p>
        </p:txBody>
      </p:sp>
      <p:sp>
        <p:nvSpPr>
          <p:cNvPr id="46" name="文本框 45"/>
          <p:cNvSpPr txBox="1"/>
          <p:nvPr/>
        </p:nvSpPr>
        <p:spPr>
          <a:xfrm>
            <a:off x="2566222" y="4331415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172.16.0.2/30</a:t>
            </a:r>
            <a:endParaRPr lang="zh-CN" altLang="en-US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2554836" y="3424776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172.16.0.1/30</a:t>
            </a:r>
            <a:endParaRPr lang="zh-CN" altLang="en-US" b="1" dirty="0"/>
          </a:p>
        </p:txBody>
      </p:sp>
      <p:sp>
        <p:nvSpPr>
          <p:cNvPr id="53" name="文本框 52"/>
          <p:cNvSpPr txBox="1"/>
          <p:nvPr/>
        </p:nvSpPr>
        <p:spPr>
          <a:xfrm>
            <a:off x="8083862" y="4331415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172.19.0.2/30</a:t>
            </a:r>
            <a:endParaRPr lang="zh-CN" altLang="en-US" b="1" dirty="0"/>
          </a:p>
        </p:txBody>
      </p:sp>
      <p:sp>
        <p:nvSpPr>
          <p:cNvPr id="54" name="文本框 53"/>
          <p:cNvSpPr txBox="1"/>
          <p:nvPr/>
        </p:nvSpPr>
        <p:spPr>
          <a:xfrm>
            <a:off x="8083862" y="3424776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172.19.0.1/30</a:t>
            </a:r>
            <a:endParaRPr lang="zh-CN" altLang="en-US" b="1" dirty="0"/>
          </a:p>
        </p:txBody>
      </p:sp>
      <p:sp>
        <p:nvSpPr>
          <p:cNvPr id="55" name="文本框 54"/>
          <p:cNvSpPr txBox="1"/>
          <p:nvPr/>
        </p:nvSpPr>
        <p:spPr>
          <a:xfrm>
            <a:off x="8141408" y="5641911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192.168.1.254/24</a:t>
            </a:r>
            <a:endParaRPr lang="zh-CN" altLang="en-US" b="1" dirty="0"/>
          </a:p>
        </p:txBody>
      </p:sp>
      <p:sp>
        <p:nvSpPr>
          <p:cNvPr id="56" name="文本框 55"/>
          <p:cNvSpPr txBox="1"/>
          <p:nvPr/>
        </p:nvSpPr>
        <p:spPr>
          <a:xfrm>
            <a:off x="10428049" y="5641911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192.168.1.1/24</a:t>
            </a:r>
            <a:endParaRPr lang="zh-CN" altLang="en-US" b="1" dirty="0"/>
          </a:p>
        </p:txBody>
      </p:sp>
      <p:sp>
        <p:nvSpPr>
          <p:cNvPr id="58" name="文本框 57"/>
          <p:cNvSpPr txBox="1"/>
          <p:nvPr/>
        </p:nvSpPr>
        <p:spPr>
          <a:xfrm>
            <a:off x="308925" y="5953754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192.168.0.254</a:t>
            </a:r>
            <a:endParaRPr lang="zh-CN" altLang="en-US" b="1" dirty="0"/>
          </a:p>
        </p:txBody>
      </p:sp>
      <p:sp>
        <p:nvSpPr>
          <p:cNvPr id="59" name="文本框 58"/>
          <p:cNvSpPr txBox="1"/>
          <p:nvPr/>
        </p:nvSpPr>
        <p:spPr>
          <a:xfrm>
            <a:off x="10428049" y="5953754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192.168.1.254</a:t>
            </a:r>
            <a:endParaRPr lang="zh-CN" altLang="en-US" b="1" dirty="0"/>
          </a:p>
        </p:txBody>
      </p:sp>
      <p:grpSp>
        <p:nvGrpSpPr>
          <p:cNvPr id="60" name="组合 59"/>
          <p:cNvGrpSpPr/>
          <p:nvPr/>
        </p:nvGrpSpPr>
        <p:grpSpPr>
          <a:xfrm>
            <a:off x="1799891" y="1646119"/>
            <a:ext cx="4822738" cy="4733428"/>
            <a:chOff x="1799891" y="1646119"/>
            <a:chExt cx="4822738" cy="4733428"/>
          </a:xfrm>
        </p:grpSpPr>
        <p:pic>
          <p:nvPicPr>
            <p:cNvPr id="42" name="20 41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99891" y="1646119"/>
              <a:ext cx="4822738" cy="4733428"/>
            </a:xfrm>
            <a:prstGeom prst="rect">
              <a:avLst/>
            </a:prstGeom>
          </p:spPr>
        </p:pic>
        <p:sp>
          <p:nvSpPr>
            <p:cNvPr id="48" name="矩形 47"/>
            <p:cNvSpPr/>
            <p:nvPr/>
          </p:nvSpPr>
          <p:spPr>
            <a:xfrm>
              <a:off x="3383759" y="3121890"/>
              <a:ext cx="1193907" cy="774012"/>
            </a:xfrm>
            <a:prstGeom prst="rect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9" name="文本框 48"/>
            <p:cNvSpPr txBox="1"/>
            <p:nvPr/>
          </p:nvSpPr>
          <p:spPr>
            <a:xfrm>
              <a:off x="3922631" y="2426366"/>
              <a:ext cx="253292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rgbClr val="FF0000"/>
                  </a:solidFill>
                </a:rPr>
                <a:t>输入</a:t>
              </a:r>
              <a:r>
                <a:rPr lang="en-US" altLang="zh-CN" b="1" dirty="0">
                  <a:solidFill>
                    <a:srgbClr val="FF0000"/>
                  </a:solidFill>
                </a:rPr>
                <a:t>IP</a:t>
              </a:r>
              <a:r>
                <a:rPr lang="zh-CN" altLang="en-US" b="1" dirty="0">
                  <a:solidFill>
                    <a:srgbClr val="FF0000"/>
                  </a:solidFill>
                </a:rPr>
                <a:t>地址、子网掩码</a:t>
              </a:r>
              <a:endParaRPr lang="en-US" altLang="zh-CN" b="1" dirty="0">
                <a:solidFill>
                  <a:srgbClr val="FF0000"/>
                </a:solidFill>
              </a:endParaRPr>
            </a:p>
            <a:p>
              <a:r>
                <a:rPr lang="zh-CN" altLang="en-US" b="1" dirty="0">
                  <a:solidFill>
                    <a:srgbClr val="FF0000"/>
                  </a:solidFill>
                </a:rPr>
                <a:t>以及默认网关的</a:t>
              </a:r>
              <a:r>
                <a:rPr lang="en-US" altLang="zh-CN" b="1" dirty="0">
                  <a:solidFill>
                    <a:srgbClr val="FF0000"/>
                  </a:solidFill>
                </a:rPr>
                <a:t>IP</a:t>
              </a:r>
              <a:r>
                <a:rPr lang="zh-CN" altLang="en-US" b="1" dirty="0">
                  <a:solidFill>
                    <a:srgbClr val="FF0000"/>
                  </a:solidFill>
                </a:rPr>
                <a:t>地址</a:t>
              </a:r>
              <a:endParaRPr lang="zh-CN" altLang="en-US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38" name="矩形 37"/>
          <p:cNvSpPr/>
          <p:nvPr/>
        </p:nvSpPr>
        <p:spPr>
          <a:xfrm>
            <a:off x="8159392" y="2826511"/>
            <a:ext cx="3714075" cy="159270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000" b="1" dirty="0"/>
              <a:t>         不要忘记给</a:t>
            </a:r>
            <a:r>
              <a:rPr lang="en-US" altLang="zh-CN" sz="2000" b="1" dirty="0"/>
              <a:t>PC1</a:t>
            </a:r>
            <a:r>
              <a:rPr lang="zh-CN" altLang="en-US" sz="2000" b="1" dirty="0"/>
              <a:t>配置相应的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地址、子网掩码以及默认网关的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地址。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/>
        </p:nvSpPr>
        <p:spPr>
          <a:xfrm>
            <a:off x="2812209" y="685800"/>
            <a:ext cx="6589998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4.  </a:t>
            </a:r>
            <a:r>
              <a:rPr lang="zh-CN" altLang="en-US" sz="2400" b="1" dirty="0"/>
              <a:t>配置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地址、子网掩码以及默认网关的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61" name="20 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791" y="1319685"/>
            <a:ext cx="10499387" cy="5119215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5932111" y="2013538"/>
            <a:ext cx="3852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从用户执行模式进入特权执行模式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32111" y="2340595"/>
            <a:ext cx="3852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从特权执行模式进入全局配置模式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5932111" y="2667652"/>
            <a:ext cx="470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从全局配置模式进入接口</a:t>
            </a:r>
            <a:r>
              <a:rPr lang="en-US" altLang="zh-CN" b="1" dirty="0">
                <a:solidFill>
                  <a:srgbClr val="FF0000"/>
                </a:solidFill>
              </a:rPr>
              <a:t>Gig0/0</a:t>
            </a:r>
            <a:r>
              <a:rPr lang="zh-CN" altLang="en-US" b="1" dirty="0">
                <a:solidFill>
                  <a:srgbClr val="FF0000"/>
                </a:solidFill>
              </a:rPr>
              <a:t>的配置模式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5932111" y="2994709"/>
            <a:ext cx="470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给接口配置</a:t>
            </a:r>
            <a:r>
              <a:rPr lang="en-US" altLang="zh-CN" b="1" dirty="0">
                <a:solidFill>
                  <a:srgbClr val="FF0000"/>
                </a:solidFill>
              </a:rPr>
              <a:t>IP</a:t>
            </a:r>
            <a:r>
              <a:rPr lang="zh-CN" altLang="en-US" b="1" dirty="0">
                <a:solidFill>
                  <a:srgbClr val="FF0000"/>
                </a:solidFill>
              </a:rPr>
              <a:t>地址和子网掩码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32111" y="3321767"/>
            <a:ext cx="470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开启接口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5932111" y="4211714"/>
            <a:ext cx="5262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给接口</a:t>
            </a:r>
            <a:r>
              <a:rPr lang="en-US" altLang="zh-CN" b="1" dirty="0">
                <a:solidFill>
                  <a:srgbClr val="FF0000"/>
                </a:solidFill>
              </a:rPr>
              <a:t>Gig0/1</a:t>
            </a:r>
            <a:r>
              <a:rPr lang="zh-CN" altLang="en-US" b="1" dirty="0">
                <a:solidFill>
                  <a:srgbClr val="FF0000"/>
                </a:solidFill>
              </a:rPr>
              <a:t>配置</a:t>
            </a:r>
            <a:r>
              <a:rPr lang="en-US" altLang="zh-CN" b="1" dirty="0">
                <a:solidFill>
                  <a:srgbClr val="FF0000"/>
                </a:solidFill>
              </a:rPr>
              <a:t>IP</a:t>
            </a:r>
            <a:r>
              <a:rPr lang="zh-CN" altLang="en-US" b="1" dirty="0">
                <a:solidFill>
                  <a:srgbClr val="FF0000"/>
                </a:solidFill>
              </a:rPr>
              <a:t>地址和子网掩码，并开启接口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935871" y="4258267"/>
            <a:ext cx="4998989" cy="580031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框 68"/>
          <p:cNvSpPr txBox="1"/>
          <p:nvPr/>
        </p:nvSpPr>
        <p:spPr>
          <a:xfrm>
            <a:off x="5932111" y="5325307"/>
            <a:ext cx="2638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退出到全局配置模式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"/>
                            </p:stCondLst>
                            <p:childTnLst>
                              <p:par>
                                <p:cTn id="4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8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" grpId="0"/>
      <p:bldP spid="63" grpId="0"/>
      <p:bldP spid="64" grpId="0"/>
      <p:bldP spid="65" grpId="0"/>
      <p:bldP spid="66" grpId="0"/>
      <p:bldP spid="67" grpId="0"/>
      <p:bldP spid="68" grpId="0" animBg="1"/>
      <p:bldP spid="6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/>
        </p:nvSpPr>
        <p:spPr>
          <a:xfrm>
            <a:off x="2812209" y="685800"/>
            <a:ext cx="6589998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4.  </a:t>
            </a:r>
            <a:r>
              <a:rPr lang="zh-CN" altLang="en-US" sz="2400" b="1" dirty="0"/>
              <a:t>配置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地址、子网掩码以及默认网关的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61" name="20 6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2791" y="1319685"/>
            <a:ext cx="10499387" cy="5119215"/>
          </a:xfrm>
          <a:prstGeom prst="rect">
            <a:avLst/>
          </a:prstGeom>
        </p:spPr>
      </p:pic>
      <p:sp>
        <p:nvSpPr>
          <p:cNvPr id="62" name="文本框 61"/>
          <p:cNvSpPr txBox="1"/>
          <p:nvPr/>
        </p:nvSpPr>
        <p:spPr>
          <a:xfrm>
            <a:off x="5932111" y="2013538"/>
            <a:ext cx="3852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从用户执行模式进入特权执行模式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5932111" y="2340595"/>
            <a:ext cx="38521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从特权执行模式进入全局配置模式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4" name="文本框 63"/>
          <p:cNvSpPr txBox="1"/>
          <p:nvPr/>
        </p:nvSpPr>
        <p:spPr>
          <a:xfrm>
            <a:off x="5932111" y="2667652"/>
            <a:ext cx="470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从全局配置模式进入接口</a:t>
            </a:r>
            <a:r>
              <a:rPr lang="en-US" altLang="zh-CN" b="1" dirty="0">
                <a:solidFill>
                  <a:srgbClr val="FF0000"/>
                </a:solidFill>
              </a:rPr>
              <a:t>Gig0/0</a:t>
            </a:r>
            <a:r>
              <a:rPr lang="zh-CN" altLang="en-US" b="1" dirty="0">
                <a:solidFill>
                  <a:srgbClr val="FF0000"/>
                </a:solidFill>
              </a:rPr>
              <a:t>的配置模式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5" name="文本框 64"/>
          <p:cNvSpPr txBox="1"/>
          <p:nvPr/>
        </p:nvSpPr>
        <p:spPr>
          <a:xfrm>
            <a:off x="5932111" y="2994709"/>
            <a:ext cx="470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给接口配置</a:t>
            </a:r>
            <a:r>
              <a:rPr lang="en-US" altLang="zh-CN" b="1" dirty="0">
                <a:solidFill>
                  <a:srgbClr val="FF0000"/>
                </a:solidFill>
              </a:rPr>
              <a:t>IP</a:t>
            </a:r>
            <a:r>
              <a:rPr lang="zh-CN" altLang="en-US" b="1" dirty="0">
                <a:solidFill>
                  <a:srgbClr val="FF0000"/>
                </a:solidFill>
              </a:rPr>
              <a:t>地址和子网掩码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6" name="文本框 65"/>
          <p:cNvSpPr txBox="1"/>
          <p:nvPr/>
        </p:nvSpPr>
        <p:spPr>
          <a:xfrm>
            <a:off x="5932111" y="3321767"/>
            <a:ext cx="4701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开启接口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7" name="文本框 66"/>
          <p:cNvSpPr txBox="1"/>
          <p:nvPr/>
        </p:nvSpPr>
        <p:spPr>
          <a:xfrm>
            <a:off x="5932111" y="4211714"/>
            <a:ext cx="52623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给接口</a:t>
            </a:r>
            <a:r>
              <a:rPr lang="en-US" altLang="zh-CN" b="1" dirty="0">
                <a:solidFill>
                  <a:srgbClr val="FF0000"/>
                </a:solidFill>
              </a:rPr>
              <a:t>Gig0/1</a:t>
            </a:r>
            <a:r>
              <a:rPr lang="zh-CN" altLang="en-US" b="1" dirty="0">
                <a:solidFill>
                  <a:srgbClr val="FF0000"/>
                </a:solidFill>
              </a:rPr>
              <a:t>配置</a:t>
            </a:r>
            <a:r>
              <a:rPr lang="en-US" altLang="zh-CN" b="1" dirty="0">
                <a:solidFill>
                  <a:srgbClr val="FF0000"/>
                </a:solidFill>
              </a:rPr>
              <a:t>IP</a:t>
            </a:r>
            <a:r>
              <a:rPr lang="zh-CN" altLang="en-US" b="1" dirty="0">
                <a:solidFill>
                  <a:srgbClr val="FF0000"/>
                </a:solidFill>
              </a:rPr>
              <a:t>地址和子网掩码，并开启接口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68" name="矩形 67"/>
          <p:cNvSpPr/>
          <p:nvPr/>
        </p:nvSpPr>
        <p:spPr>
          <a:xfrm>
            <a:off x="935871" y="4258267"/>
            <a:ext cx="4998989" cy="580031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文本框 68"/>
          <p:cNvSpPr txBox="1"/>
          <p:nvPr/>
        </p:nvSpPr>
        <p:spPr>
          <a:xfrm>
            <a:off x="5932111" y="5325307"/>
            <a:ext cx="26384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退出到全局配置模式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2" name="矩形 1"/>
          <p:cNvSpPr/>
          <p:nvPr/>
        </p:nvSpPr>
        <p:spPr>
          <a:xfrm>
            <a:off x="852791" y="5893390"/>
            <a:ext cx="10499387" cy="50029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2000" b="1" dirty="0"/>
              <a:t>不要忘记给</a:t>
            </a:r>
            <a:r>
              <a:rPr lang="en-US" altLang="zh-CN" sz="2000" b="1" dirty="0"/>
              <a:t>Router1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Router2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Router3</a:t>
            </a:r>
            <a:r>
              <a:rPr lang="zh-CN" altLang="en-US" sz="2000" b="1" dirty="0"/>
              <a:t>的相关接口配置相应的</a:t>
            </a:r>
            <a:r>
              <a:rPr lang="en-US" altLang="zh-CN" sz="2000" b="1" dirty="0"/>
              <a:t>IP</a:t>
            </a:r>
            <a:r>
              <a:rPr lang="zh-CN" altLang="en-US" sz="2000" b="1" dirty="0"/>
              <a:t>地址和子网掩码，并开启接口。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/>
        </p:nvSpPr>
        <p:spPr>
          <a:xfrm>
            <a:off x="2812209" y="685800"/>
            <a:ext cx="6589998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4.  </a:t>
            </a:r>
            <a:r>
              <a:rPr lang="zh-CN" altLang="en-US" sz="2400" b="1" dirty="0"/>
              <a:t>配置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地址、子网掩码以及默认网关的</a:t>
            </a:r>
            <a:r>
              <a:rPr lang="en-US" altLang="zh-CN" sz="2400" b="1" dirty="0"/>
              <a:t>IP</a:t>
            </a:r>
            <a:r>
              <a:rPr lang="zh-CN" altLang="en-US" sz="2400" b="1" dirty="0"/>
              <a:t>地址</a:t>
            </a:r>
            <a:endParaRPr lang="en-US" altLang="zh-CN" sz="2400" b="1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8141408" y="5261622"/>
            <a:ext cx="3110656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010126" y="5261622"/>
            <a:ext cx="3110656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4668822" y="2748015"/>
            <a:ext cx="3014769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4355979" y="2904294"/>
            <a:ext cx="0" cy="2224442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7885393" y="2904294"/>
            <a:ext cx="0" cy="2224442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04704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48" y="5052372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5090553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4482400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pic>
        <p:nvPicPr>
          <p:cNvPr id="12" name="20 1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5128736"/>
            <a:ext cx="530013" cy="381609"/>
          </a:xfrm>
          <a:prstGeom prst="rect">
            <a:avLst/>
          </a:prstGeom>
        </p:spPr>
      </p:pic>
      <p:pic>
        <p:nvPicPr>
          <p:cNvPr id="13" name="20 1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786" y="5052372"/>
            <a:ext cx="539132" cy="457973"/>
          </a:xfrm>
          <a:prstGeom prst="rect">
            <a:avLst/>
          </a:prstGeom>
        </p:spPr>
      </p:pic>
      <p:pic>
        <p:nvPicPr>
          <p:cNvPr id="23" name="20 22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2557225"/>
            <a:ext cx="530013" cy="381609"/>
          </a:xfrm>
          <a:prstGeom prst="rect">
            <a:avLst/>
          </a:prstGeom>
        </p:spPr>
      </p:pic>
      <p:pic>
        <p:nvPicPr>
          <p:cNvPr id="24" name="20 2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2557225"/>
            <a:ext cx="530013" cy="381609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3222002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8007838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52" name="文本框 51"/>
          <p:cNvSpPr txBox="1"/>
          <p:nvPr/>
        </p:nvSpPr>
        <p:spPr>
          <a:xfrm>
            <a:off x="6791069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Router3</a:t>
            </a:r>
            <a:endParaRPr lang="zh-CN" altLang="en-US" b="1" dirty="0"/>
          </a:p>
        </p:txBody>
      </p:sp>
      <p:sp>
        <p:nvSpPr>
          <p:cNvPr id="78" name="文本框 77"/>
          <p:cNvSpPr txBox="1"/>
          <p:nvPr/>
        </p:nvSpPr>
        <p:spPr>
          <a:xfrm>
            <a:off x="11029042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8141408" y="5281356"/>
            <a:ext cx="856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3406809" y="528135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32" name="文本框 31"/>
          <p:cNvSpPr txBox="1"/>
          <p:nvPr/>
        </p:nvSpPr>
        <p:spPr>
          <a:xfrm>
            <a:off x="4577666" y="232708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3" name="文本框 32"/>
          <p:cNvSpPr txBox="1"/>
          <p:nvPr/>
        </p:nvSpPr>
        <p:spPr>
          <a:xfrm>
            <a:off x="6896627" y="232708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4" name="文本框 33"/>
          <p:cNvSpPr txBox="1"/>
          <p:nvPr/>
        </p:nvSpPr>
        <p:spPr>
          <a:xfrm>
            <a:off x="3403517" y="4585911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3403517" y="3154479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8083862" y="4585911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8083862" y="3154479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308925" y="5641911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43" name="文本框 42"/>
          <p:cNvSpPr txBox="1"/>
          <p:nvPr/>
        </p:nvSpPr>
        <p:spPr>
          <a:xfrm>
            <a:off x="2572032" y="5641911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192.168.0.254/24</a:t>
            </a:r>
            <a:endParaRPr lang="zh-CN" altLang="en-US" b="1" dirty="0"/>
          </a:p>
        </p:txBody>
      </p:sp>
      <p:sp>
        <p:nvSpPr>
          <p:cNvPr id="44" name="文本框 43"/>
          <p:cNvSpPr txBox="1"/>
          <p:nvPr/>
        </p:nvSpPr>
        <p:spPr>
          <a:xfrm>
            <a:off x="4577666" y="2087878"/>
            <a:ext cx="124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10.0.0.1/30</a:t>
            </a:r>
            <a:endParaRPr lang="zh-CN" altLang="en-US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6431183" y="2087878"/>
            <a:ext cx="124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10.0.0.2/30</a:t>
            </a:r>
            <a:endParaRPr lang="zh-CN" altLang="en-US" b="1" dirty="0"/>
          </a:p>
        </p:txBody>
      </p:sp>
      <p:sp>
        <p:nvSpPr>
          <p:cNvPr id="46" name="文本框 45"/>
          <p:cNvSpPr txBox="1"/>
          <p:nvPr/>
        </p:nvSpPr>
        <p:spPr>
          <a:xfrm>
            <a:off x="2566222" y="4331415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172.16.0.2/30</a:t>
            </a:r>
            <a:endParaRPr lang="zh-CN" altLang="en-US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2554836" y="3424776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172.16.0.1/30</a:t>
            </a:r>
            <a:endParaRPr lang="zh-CN" altLang="en-US" b="1" dirty="0"/>
          </a:p>
        </p:txBody>
      </p:sp>
      <p:sp>
        <p:nvSpPr>
          <p:cNvPr id="53" name="文本框 52"/>
          <p:cNvSpPr txBox="1"/>
          <p:nvPr/>
        </p:nvSpPr>
        <p:spPr>
          <a:xfrm>
            <a:off x="8083862" y="4331415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172.19.0.2/30</a:t>
            </a:r>
            <a:endParaRPr lang="zh-CN" altLang="en-US" b="1" dirty="0"/>
          </a:p>
        </p:txBody>
      </p:sp>
      <p:sp>
        <p:nvSpPr>
          <p:cNvPr id="54" name="文本框 53"/>
          <p:cNvSpPr txBox="1"/>
          <p:nvPr/>
        </p:nvSpPr>
        <p:spPr>
          <a:xfrm>
            <a:off x="8083862" y="3424776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172.19.0.1/30</a:t>
            </a:r>
            <a:endParaRPr lang="zh-CN" altLang="en-US" b="1" dirty="0"/>
          </a:p>
        </p:txBody>
      </p:sp>
      <p:sp>
        <p:nvSpPr>
          <p:cNvPr id="55" name="文本框 54"/>
          <p:cNvSpPr txBox="1"/>
          <p:nvPr/>
        </p:nvSpPr>
        <p:spPr>
          <a:xfrm>
            <a:off x="8141408" y="5641911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192.168.1.254/24</a:t>
            </a:r>
            <a:endParaRPr lang="zh-CN" altLang="en-US" b="1" dirty="0"/>
          </a:p>
        </p:txBody>
      </p:sp>
      <p:sp>
        <p:nvSpPr>
          <p:cNvPr id="56" name="文本框 55"/>
          <p:cNvSpPr txBox="1"/>
          <p:nvPr/>
        </p:nvSpPr>
        <p:spPr>
          <a:xfrm>
            <a:off x="10428049" y="5641911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192.168.1.1/24</a:t>
            </a:r>
            <a:endParaRPr lang="zh-CN" altLang="en-US" b="1" dirty="0"/>
          </a:p>
        </p:txBody>
      </p:sp>
      <p:sp>
        <p:nvSpPr>
          <p:cNvPr id="58" name="文本框 57"/>
          <p:cNvSpPr txBox="1"/>
          <p:nvPr/>
        </p:nvSpPr>
        <p:spPr>
          <a:xfrm>
            <a:off x="308925" y="5953754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192.168.0.254</a:t>
            </a:r>
            <a:endParaRPr lang="zh-CN" altLang="en-US" b="1" dirty="0"/>
          </a:p>
        </p:txBody>
      </p:sp>
      <p:sp>
        <p:nvSpPr>
          <p:cNvPr id="59" name="文本框 58"/>
          <p:cNvSpPr txBox="1"/>
          <p:nvPr/>
        </p:nvSpPr>
        <p:spPr>
          <a:xfrm>
            <a:off x="10428049" y="5953754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192.168.1.254</a:t>
            </a:r>
            <a:endParaRPr lang="zh-CN" altLang="en-US" b="1" dirty="0"/>
          </a:p>
        </p:txBody>
      </p:sp>
      <p:sp>
        <p:nvSpPr>
          <p:cNvPr id="38" name="等腰三角形 37"/>
          <p:cNvSpPr/>
          <p:nvPr/>
        </p:nvSpPr>
        <p:spPr>
          <a:xfrm>
            <a:off x="4299256" y="328519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等腰三角形 41"/>
          <p:cNvSpPr/>
          <p:nvPr/>
        </p:nvSpPr>
        <p:spPr>
          <a:xfrm>
            <a:off x="4305741" y="470074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等腰三角形 47"/>
          <p:cNvSpPr/>
          <p:nvPr/>
        </p:nvSpPr>
        <p:spPr>
          <a:xfrm>
            <a:off x="7827528" y="328519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等腰三角形 48"/>
          <p:cNvSpPr/>
          <p:nvPr/>
        </p:nvSpPr>
        <p:spPr>
          <a:xfrm>
            <a:off x="7834013" y="470074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4935973" y="269757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7272403" y="269757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等腰三角形 60"/>
          <p:cNvSpPr/>
          <p:nvPr/>
        </p:nvSpPr>
        <p:spPr>
          <a:xfrm>
            <a:off x="1394165" y="520429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等腰三角形 61"/>
          <p:cNvSpPr/>
          <p:nvPr/>
        </p:nvSpPr>
        <p:spPr>
          <a:xfrm>
            <a:off x="3730595" y="520429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等腰三角形 62"/>
          <p:cNvSpPr/>
          <p:nvPr/>
        </p:nvSpPr>
        <p:spPr>
          <a:xfrm>
            <a:off x="8485013" y="521341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等腰三角形 63"/>
          <p:cNvSpPr/>
          <p:nvPr/>
        </p:nvSpPr>
        <p:spPr>
          <a:xfrm>
            <a:off x="10821443" y="521341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6" dur="5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0" dur="5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2" dur="5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4" dur="5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6" dur="5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1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0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2" dur="5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35" presetClass="emph" presetSubtype="0" repeatCount="3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 calcmode="discrete" valueType="str">
                                      <p:cBhvr>
                                        <p:cTn id="2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hidden"/>
                                          </p:val>
                                        </p:tav>
                                        <p:tav tm="50000">
                                          <p:val>
                                            <p:strVal val="visible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42" grpId="0" animBg="1"/>
      <p:bldP spid="48" grpId="0" animBg="1"/>
      <p:bldP spid="49" grpId="0" animBg="1"/>
      <p:bldP spid="57" grpId="0" animBg="1"/>
      <p:bldP spid="60" grpId="0" animBg="1"/>
      <p:bldP spid="61" grpId="0" animBg="1"/>
      <p:bldP spid="62" grpId="0" animBg="1"/>
      <p:bldP spid="63" grpId="0" animBg="1"/>
      <p:bldP spid="64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98981" y="685800"/>
            <a:ext cx="4185223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5.  </a:t>
            </a:r>
            <a:r>
              <a:rPr lang="zh-CN" altLang="en-US" sz="2400" b="1" dirty="0"/>
              <a:t>启用各路由器的</a:t>
            </a:r>
            <a:r>
              <a:rPr lang="en-US" altLang="zh-CN" sz="2400" b="1" dirty="0"/>
              <a:t>OSPF</a:t>
            </a:r>
            <a:r>
              <a:rPr lang="zh-CN" altLang="en-US" sz="2400" b="1" dirty="0"/>
              <a:t>协议</a:t>
            </a:r>
            <a:endParaRPr lang="en-US" altLang="zh-CN" sz="2400" b="1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8141408" y="5261622"/>
            <a:ext cx="3110656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010126" y="5261622"/>
            <a:ext cx="3110656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4668822" y="2748015"/>
            <a:ext cx="3014769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4355979" y="2904294"/>
            <a:ext cx="0" cy="2224442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7885393" y="2904294"/>
            <a:ext cx="0" cy="2224442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04704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48" y="5052372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5090553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4482400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pic>
        <p:nvPicPr>
          <p:cNvPr id="12" name="20 1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5128736"/>
            <a:ext cx="530013" cy="381609"/>
          </a:xfrm>
          <a:prstGeom prst="rect">
            <a:avLst/>
          </a:prstGeom>
        </p:spPr>
      </p:pic>
      <p:pic>
        <p:nvPicPr>
          <p:cNvPr id="13" name="20 1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786" y="5052372"/>
            <a:ext cx="539132" cy="457973"/>
          </a:xfrm>
          <a:prstGeom prst="rect">
            <a:avLst/>
          </a:prstGeom>
        </p:spPr>
      </p:pic>
      <p:pic>
        <p:nvPicPr>
          <p:cNvPr id="23" name="20 22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2557225"/>
            <a:ext cx="530013" cy="381609"/>
          </a:xfrm>
          <a:prstGeom prst="rect">
            <a:avLst/>
          </a:prstGeom>
        </p:spPr>
      </p:pic>
      <p:pic>
        <p:nvPicPr>
          <p:cNvPr id="24" name="20 2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2557225"/>
            <a:ext cx="530013" cy="381609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3222002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8007838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52" name="文本框 51"/>
          <p:cNvSpPr txBox="1"/>
          <p:nvPr/>
        </p:nvSpPr>
        <p:spPr>
          <a:xfrm>
            <a:off x="6791069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Router3</a:t>
            </a:r>
            <a:endParaRPr lang="zh-CN" altLang="en-US" b="1" dirty="0"/>
          </a:p>
        </p:txBody>
      </p:sp>
      <p:sp>
        <p:nvSpPr>
          <p:cNvPr id="78" name="文本框 77"/>
          <p:cNvSpPr txBox="1"/>
          <p:nvPr/>
        </p:nvSpPr>
        <p:spPr>
          <a:xfrm>
            <a:off x="11029042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8141408" y="5281356"/>
            <a:ext cx="856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3406809" y="528135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32" name="文本框 31"/>
          <p:cNvSpPr txBox="1"/>
          <p:nvPr/>
        </p:nvSpPr>
        <p:spPr>
          <a:xfrm>
            <a:off x="4577666" y="232708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3" name="文本框 32"/>
          <p:cNvSpPr txBox="1"/>
          <p:nvPr/>
        </p:nvSpPr>
        <p:spPr>
          <a:xfrm>
            <a:off x="6896627" y="232708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4" name="文本框 33"/>
          <p:cNvSpPr txBox="1"/>
          <p:nvPr/>
        </p:nvSpPr>
        <p:spPr>
          <a:xfrm>
            <a:off x="3403517" y="4585911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3403517" y="3154479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8083862" y="4585911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8083862" y="3154479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308925" y="5641911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43" name="文本框 42"/>
          <p:cNvSpPr txBox="1"/>
          <p:nvPr/>
        </p:nvSpPr>
        <p:spPr>
          <a:xfrm>
            <a:off x="2572032" y="5641911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192.168.0.254/24</a:t>
            </a:r>
            <a:endParaRPr lang="zh-CN" altLang="en-US" b="1" dirty="0"/>
          </a:p>
        </p:txBody>
      </p:sp>
      <p:sp>
        <p:nvSpPr>
          <p:cNvPr id="44" name="文本框 43"/>
          <p:cNvSpPr txBox="1"/>
          <p:nvPr/>
        </p:nvSpPr>
        <p:spPr>
          <a:xfrm>
            <a:off x="4577666" y="2087878"/>
            <a:ext cx="124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10.0.0.1/30</a:t>
            </a:r>
            <a:endParaRPr lang="zh-CN" altLang="en-US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6431183" y="2087878"/>
            <a:ext cx="124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10.0.0.2/30</a:t>
            </a:r>
            <a:endParaRPr lang="zh-CN" altLang="en-US" b="1" dirty="0"/>
          </a:p>
        </p:txBody>
      </p:sp>
      <p:sp>
        <p:nvSpPr>
          <p:cNvPr id="46" name="文本框 45"/>
          <p:cNvSpPr txBox="1"/>
          <p:nvPr/>
        </p:nvSpPr>
        <p:spPr>
          <a:xfrm>
            <a:off x="2566222" y="4331415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172.16.0.2/30</a:t>
            </a:r>
            <a:endParaRPr lang="zh-CN" altLang="en-US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2554836" y="3424776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172.16.0.1/30</a:t>
            </a:r>
            <a:endParaRPr lang="zh-CN" altLang="en-US" b="1" dirty="0"/>
          </a:p>
        </p:txBody>
      </p:sp>
      <p:sp>
        <p:nvSpPr>
          <p:cNvPr id="53" name="文本框 52"/>
          <p:cNvSpPr txBox="1"/>
          <p:nvPr/>
        </p:nvSpPr>
        <p:spPr>
          <a:xfrm>
            <a:off x="8083862" y="4331415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172.19.0.2/30</a:t>
            </a:r>
            <a:endParaRPr lang="zh-CN" altLang="en-US" b="1" dirty="0"/>
          </a:p>
        </p:txBody>
      </p:sp>
      <p:sp>
        <p:nvSpPr>
          <p:cNvPr id="54" name="文本框 53"/>
          <p:cNvSpPr txBox="1"/>
          <p:nvPr/>
        </p:nvSpPr>
        <p:spPr>
          <a:xfrm>
            <a:off x="8083862" y="3424776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172.19.0.1/30</a:t>
            </a:r>
            <a:endParaRPr lang="zh-CN" altLang="en-US" b="1" dirty="0"/>
          </a:p>
        </p:txBody>
      </p:sp>
      <p:sp>
        <p:nvSpPr>
          <p:cNvPr id="55" name="文本框 54"/>
          <p:cNvSpPr txBox="1"/>
          <p:nvPr/>
        </p:nvSpPr>
        <p:spPr>
          <a:xfrm>
            <a:off x="8141408" y="5641911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192.168.1.254/24</a:t>
            </a:r>
            <a:endParaRPr lang="zh-CN" altLang="en-US" b="1" dirty="0"/>
          </a:p>
        </p:txBody>
      </p:sp>
      <p:sp>
        <p:nvSpPr>
          <p:cNvPr id="56" name="文本框 55"/>
          <p:cNvSpPr txBox="1"/>
          <p:nvPr/>
        </p:nvSpPr>
        <p:spPr>
          <a:xfrm>
            <a:off x="10428049" y="5641911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192.168.1.1/24</a:t>
            </a:r>
            <a:endParaRPr lang="zh-CN" altLang="en-US" b="1" dirty="0"/>
          </a:p>
        </p:txBody>
      </p:sp>
      <p:sp>
        <p:nvSpPr>
          <p:cNvPr id="58" name="文本框 57"/>
          <p:cNvSpPr txBox="1"/>
          <p:nvPr/>
        </p:nvSpPr>
        <p:spPr>
          <a:xfrm>
            <a:off x="308925" y="5953754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192.168.0.254</a:t>
            </a:r>
            <a:endParaRPr lang="zh-CN" altLang="en-US" b="1" dirty="0"/>
          </a:p>
        </p:txBody>
      </p:sp>
      <p:sp>
        <p:nvSpPr>
          <p:cNvPr id="59" name="文本框 58"/>
          <p:cNvSpPr txBox="1"/>
          <p:nvPr/>
        </p:nvSpPr>
        <p:spPr>
          <a:xfrm>
            <a:off x="10428049" y="5953754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192.168.1.254</a:t>
            </a:r>
            <a:endParaRPr lang="zh-CN" altLang="en-US" b="1" dirty="0"/>
          </a:p>
        </p:txBody>
      </p:sp>
      <p:sp>
        <p:nvSpPr>
          <p:cNvPr id="38" name="等腰三角形 37"/>
          <p:cNvSpPr/>
          <p:nvPr/>
        </p:nvSpPr>
        <p:spPr>
          <a:xfrm>
            <a:off x="4299256" y="328519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等腰三角形 41"/>
          <p:cNvSpPr/>
          <p:nvPr/>
        </p:nvSpPr>
        <p:spPr>
          <a:xfrm>
            <a:off x="4305741" y="470074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等腰三角形 47"/>
          <p:cNvSpPr/>
          <p:nvPr/>
        </p:nvSpPr>
        <p:spPr>
          <a:xfrm>
            <a:off x="7827528" y="328519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等腰三角形 48"/>
          <p:cNvSpPr/>
          <p:nvPr/>
        </p:nvSpPr>
        <p:spPr>
          <a:xfrm>
            <a:off x="7834013" y="470074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4935973" y="269757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7272403" y="269757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等腰三角形 60"/>
          <p:cNvSpPr/>
          <p:nvPr/>
        </p:nvSpPr>
        <p:spPr>
          <a:xfrm>
            <a:off x="1394165" y="520429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等腰三角形 61"/>
          <p:cNvSpPr/>
          <p:nvPr/>
        </p:nvSpPr>
        <p:spPr>
          <a:xfrm>
            <a:off x="3730595" y="520429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等腰三角形 62"/>
          <p:cNvSpPr/>
          <p:nvPr/>
        </p:nvSpPr>
        <p:spPr>
          <a:xfrm>
            <a:off x="8485013" y="521341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等腰三角形 63"/>
          <p:cNvSpPr/>
          <p:nvPr/>
        </p:nvSpPr>
        <p:spPr>
          <a:xfrm>
            <a:off x="10821443" y="521341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540676" y="4894330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网络</a:t>
            </a:r>
            <a:r>
              <a:rPr lang="en-US" altLang="zh-CN" b="1" dirty="0"/>
              <a:t>192.168.0.0/24</a:t>
            </a:r>
            <a:endParaRPr lang="zh-CN" altLang="en-US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8671958" y="4894330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网络</a:t>
            </a:r>
            <a:r>
              <a:rPr lang="en-US" altLang="zh-CN" b="1" dirty="0"/>
              <a:t>192.168.1.0/24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5182823" y="2719628"/>
            <a:ext cx="1826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网络</a:t>
            </a:r>
            <a:r>
              <a:rPr lang="en-US" altLang="zh-CN" b="1" dirty="0"/>
              <a:t>10.0.0.0/30</a:t>
            </a:r>
            <a:endParaRPr lang="zh-CN" altLang="en-US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2129179" y="3878095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/>
              <a:t>网络</a:t>
            </a:r>
            <a:r>
              <a:rPr lang="en-US" altLang="zh-CN" b="1" dirty="0"/>
              <a:t>172.16.0.0/30</a:t>
            </a:r>
            <a:endParaRPr lang="zh-CN" altLang="en-US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8083862" y="3878095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网络</a:t>
            </a:r>
            <a:r>
              <a:rPr lang="en-US" altLang="zh-CN" b="1" dirty="0"/>
              <a:t>172.19.0.0/30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6" grpId="0"/>
      <p:bldP spid="7" grpId="0"/>
      <p:bldP spid="8" grpId="0"/>
      <p:bldP spid="10" grpId="0"/>
      <p:bldP spid="11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98981" y="685800"/>
            <a:ext cx="4185223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5.  </a:t>
            </a:r>
            <a:r>
              <a:rPr lang="zh-CN" altLang="en-US" sz="2400" b="1" dirty="0"/>
              <a:t>启用各路由器的</a:t>
            </a:r>
            <a:r>
              <a:rPr lang="en-US" altLang="zh-CN" sz="2400" b="1" dirty="0"/>
              <a:t>OSPF</a:t>
            </a:r>
            <a:r>
              <a:rPr lang="zh-CN" altLang="en-US" sz="2400" b="1" dirty="0"/>
              <a:t>协议</a:t>
            </a:r>
            <a:endParaRPr lang="en-US" altLang="zh-CN" sz="2400" b="1" dirty="0"/>
          </a:p>
        </p:txBody>
      </p:sp>
      <p:cxnSp>
        <p:nvCxnSpPr>
          <p:cNvPr id="5" name="直接连接符 4"/>
          <p:cNvCxnSpPr/>
          <p:nvPr/>
        </p:nvCxnSpPr>
        <p:spPr>
          <a:xfrm>
            <a:off x="8141408" y="5261622"/>
            <a:ext cx="3110656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1010126" y="5261622"/>
            <a:ext cx="3110656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>
            <a:off x="4668822" y="2748015"/>
            <a:ext cx="3014769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/>
        </p:nvCxnSpPr>
        <p:spPr>
          <a:xfrm>
            <a:off x="4355979" y="2904294"/>
            <a:ext cx="0" cy="2224442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>
            <a:off x="7885393" y="2904294"/>
            <a:ext cx="0" cy="2224442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sp>
        <p:nvSpPr>
          <p:cNvPr id="40" name="文本框 39"/>
          <p:cNvSpPr txBox="1"/>
          <p:nvPr/>
        </p:nvSpPr>
        <p:spPr>
          <a:xfrm>
            <a:off x="404704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41" name="20 40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48" y="5052372"/>
            <a:ext cx="539132" cy="457973"/>
          </a:xfrm>
          <a:prstGeom prst="rect">
            <a:avLst/>
          </a:prstGeom>
        </p:spPr>
      </p:pic>
      <p:pic>
        <p:nvPicPr>
          <p:cNvPr id="84" name="20 8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5090553"/>
            <a:ext cx="530013" cy="381609"/>
          </a:xfrm>
          <a:prstGeom prst="rect">
            <a:avLst/>
          </a:prstGeom>
        </p:spPr>
      </p:pic>
      <p:sp>
        <p:nvSpPr>
          <p:cNvPr id="85" name="文本框 84"/>
          <p:cNvSpPr txBox="1"/>
          <p:nvPr/>
        </p:nvSpPr>
        <p:spPr>
          <a:xfrm>
            <a:off x="4482400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pic>
        <p:nvPicPr>
          <p:cNvPr id="12" name="20 11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5128736"/>
            <a:ext cx="530013" cy="381609"/>
          </a:xfrm>
          <a:prstGeom prst="rect">
            <a:avLst/>
          </a:prstGeom>
        </p:spPr>
      </p:pic>
      <p:pic>
        <p:nvPicPr>
          <p:cNvPr id="13" name="20 12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786" y="5052372"/>
            <a:ext cx="539132" cy="457973"/>
          </a:xfrm>
          <a:prstGeom prst="rect">
            <a:avLst/>
          </a:prstGeom>
        </p:spPr>
      </p:pic>
      <p:pic>
        <p:nvPicPr>
          <p:cNvPr id="23" name="20 22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2557225"/>
            <a:ext cx="530013" cy="381609"/>
          </a:xfrm>
          <a:prstGeom prst="rect">
            <a:avLst/>
          </a:prstGeom>
        </p:spPr>
      </p:pic>
      <p:pic>
        <p:nvPicPr>
          <p:cNvPr id="24" name="20 2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2557225"/>
            <a:ext cx="530013" cy="381609"/>
          </a:xfrm>
          <a:prstGeom prst="rect">
            <a:avLst/>
          </a:prstGeom>
        </p:spPr>
      </p:pic>
      <p:sp>
        <p:nvSpPr>
          <p:cNvPr id="50" name="文本框 49"/>
          <p:cNvSpPr txBox="1"/>
          <p:nvPr/>
        </p:nvSpPr>
        <p:spPr>
          <a:xfrm>
            <a:off x="3222002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sp>
        <p:nvSpPr>
          <p:cNvPr id="51" name="文本框 50"/>
          <p:cNvSpPr txBox="1"/>
          <p:nvPr/>
        </p:nvSpPr>
        <p:spPr>
          <a:xfrm>
            <a:off x="8007838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52" name="文本框 51"/>
          <p:cNvSpPr txBox="1"/>
          <p:nvPr/>
        </p:nvSpPr>
        <p:spPr>
          <a:xfrm>
            <a:off x="6791069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Router3</a:t>
            </a:r>
            <a:endParaRPr lang="zh-CN" altLang="en-US" b="1" dirty="0"/>
          </a:p>
        </p:txBody>
      </p:sp>
      <p:sp>
        <p:nvSpPr>
          <p:cNvPr id="78" name="文本框 77"/>
          <p:cNvSpPr txBox="1"/>
          <p:nvPr/>
        </p:nvSpPr>
        <p:spPr>
          <a:xfrm>
            <a:off x="11029042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4" name="文本框 3"/>
          <p:cNvSpPr txBox="1"/>
          <p:nvPr/>
        </p:nvSpPr>
        <p:spPr>
          <a:xfrm>
            <a:off x="8141408" y="5281356"/>
            <a:ext cx="856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31" name="文本框 30"/>
          <p:cNvSpPr txBox="1"/>
          <p:nvPr/>
        </p:nvSpPr>
        <p:spPr>
          <a:xfrm>
            <a:off x="3406809" y="528135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32" name="文本框 31"/>
          <p:cNvSpPr txBox="1"/>
          <p:nvPr/>
        </p:nvSpPr>
        <p:spPr>
          <a:xfrm>
            <a:off x="4577666" y="232708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3" name="文本框 32"/>
          <p:cNvSpPr txBox="1"/>
          <p:nvPr/>
        </p:nvSpPr>
        <p:spPr>
          <a:xfrm>
            <a:off x="6896627" y="232708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4" name="文本框 33"/>
          <p:cNvSpPr txBox="1"/>
          <p:nvPr/>
        </p:nvSpPr>
        <p:spPr>
          <a:xfrm>
            <a:off x="3403517" y="4585911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5" name="文本框 34"/>
          <p:cNvSpPr txBox="1"/>
          <p:nvPr/>
        </p:nvSpPr>
        <p:spPr>
          <a:xfrm>
            <a:off x="3403517" y="3154479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36" name="文本框 35"/>
          <p:cNvSpPr txBox="1"/>
          <p:nvPr/>
        </p:nvSpPr>
        <p:spPr>
          <a:xfrm>
            <a:off x="8083862" y="4585911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37" name="文本框 36"/>
          <p:cNvSpPr txBox="1"/>
          <p:nvPr/>
        </p:nvSpPr>
        <p:spPr>
          <a:xfrm>
            <a:off x="8083862" y="3154479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39" name="文本框 38"/>
          <p:cNvSpPr txBox="1"/>
          <p:nvPr/>
        </p:nvSpPr>
        <p:spPr>
          <a:xfrm>
            <a:off x="308925" y="5641911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43" name="文本框 42"/>
          <p:cNvSpPr txBox="1"/>
          <p:nvPr/>
        </p:nvSpPr>
        <p:spPr>
          <a:xfrm>
            <a:off x="2572032" y="5641911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192.168.0.254/24</a:t>
            </a:r>
            <a:endParaRPr lang="zh-CN" altLang="en-US" b="1" dirty="0"/>
          </a:p>
        </p:txBody>
      </p:sp>
      <p:sp>
        <p:nvSpPr>
          <p:cNvPr id="44" name="文本框 43"/>
          <p:cNvSpPr txBox="1"/>
          <p:nvPr/>
        </p:nvSpPr>
        <p:spPr>
          <a:xfrm>
            <a:off x="4577666" y="2087878"/>
            <a:ext cx="124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10.0.0.1/30</a:t>
            </a:r>
            <a:endParaRPr lang="zh-CN" altLang="en-US" b="1" dirty="0"/>
          </a:p>
        </p:txBody>
      </p:sp>
      <p:sp>
        <p:nvSpPr>
          <p:cNvPr id="45" name="文本框 44"/>
          <p:cNvSpPr txBox="1"/>
          <p:nvPr/>
        </p:nvSpPr>
        <p:spPr>
          <a:xfrm>
            <a:off x="6431183" y="2087878"/>
            <a:ext cx="124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10.0.0.2/30</a:t>
            </a:r>
            <a:endParaRPr lang="zh-CN" altLang="en-US" b="1" dirty="0"/>
          </a:p>
        </p:txBody>
      </p:sp>
      <p:sp>
        <p:nvSpPr>
          <p:cNvPr id="46" name="文本框 45"/>
          <p:cNvSpPr txBox="1"/>
          <p:nvPr/>
        </p:nvSpPr>
        <p:spPr>
          <a:xfrm>
            <a:off x="2566222" y="4331415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172.16.0.2/30</a:t>
            </a:r>
            <a:endParaRPr lang="zh-CN" altLang="en-US" b="1" dirty="0"/>
          </a:p>
        </p:txBody>
      </p:sp>
      <p:sp>
        <p:nvSpPr>
          <p:cNvPr id="47" name="文本框 46"/>
          <p:cNvSpPr txBox="1"/>
          <p:nvPr/>
        </p:nvSpPr>
        <p:spPr>
          <a:xfrm>
            <a:off x="2554836" y="3424776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172.16.0.1/30</a:t>
            </a:r>
            <a:endParaRPr lang="zh-CN" altLang="en-US" b="1" dirty="0"/>
          </a:p>
        </p:txBody>
      </p:sp>
      <p:sp>
        <p:nvSpPr>
          <p:cNvPr id="53" name="文本框 52"/>
          <p:cNvSpPr txBox="1"/>
          <p:nvPr/>
        </p:nvSpPr>
        <p:spPr>
          <a:xfrm>
            <a:off x="8083862" y="4331415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172.19.0.2/30</a:t>
            </a:r>
            <a:endParaRPr lang="zh-CN" altLang="en-US" b="1" dirty="0"/>
          </a:p>
        </p:txBody>
      </p:sp>
      <p:sp>
        <p:nvSpPr>
          <p:cNvPr id="54" name="文本框 53"/>
          <p:cNvSpPr txBox="1"/>
          <p:nvPr/>
        </p:nvSpPr>
        <p:spPr>
          <a:xfrm>
            <a:off x="8083862" y="3424776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172.19.0.1/30</a:t>
            </a:r>
            <a:endParaRPr lang="zh-CN" altLang="en-US" b="1" dirty="0"/>
          </a:p>
        </p:txBody>
      </p:sp>
      <p:sp>
        <p:nvSpPr>
          <p:cNvPr id="55" name="文本框 54"/>
          <p:cNvSpPr txBox="1"/>
          <p:nvPr/>
        </p:nvSpPr>
        <p:spPr>
          <a:xfrm>
            <a:off x="8141408" y="5641911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192.168.1.254/24</a:t>
            </a:r>
            <a:endParaRPr lang="zh-CN" altLang="en-US" b="1" dirty="0"/>
          </a:p>
        </p:txBody>
      </p:sp>
      <p:sp>
        <p:nvSpPr>
          <p:cNvPr id="56" name="文本框 55"/>
          <p:cNvSpPr txBox="1"/>
          <p:nvPr/>
        </p:nvSpPr>
        <p:spPr>
          <a:xfrm>
            <a:off x="10428049" y="5641911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192.168.1.1/24</a:t>
            </a:r>
            <a:endParaRPr lang="zh-CN" altLang="en-US" b="1" dirty="0"/>
          </a:p>
        </p:txBody>
      </p:sp>
      <p:sp>
        <p:nvSpPr>
          <p:cNvPr id="58" name="文本框 57"/>
          <p:cNvSpPr txBox="1"/>
          <p:nvPr/>
        </p:nvSpPr>
        <p:spPr>
          <a:xfrm>
            <a:off x="308925" y="5953754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192.168.0.254</a:t>
            </a:r>
            <a:endParaRPr lang="zh-CN" altLang="en-US" b="1" dirty="0"/>
          </a:p>
        </p:txBody>
      </p:sp>
      <p:sp>
        <p:nvSpPr>
          <p:cNvPr id="59" name="文本框 58"/>
          <p:cNvSpPr txBox="1"/>
          <p:nvPr/>
        </p:nvSpPr>
        <p:spPr>
          <a:xfrm>
            <a:off x="10428049" y="5953754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192.168.1.254</a:t>
            </a:r>
            <a:endParaRPr lang="zh-CN" altLang="en-US" b="1" dirty="0"/>
          </a:p>
        </p:txBody>
      </p:sp>
      <p:sp>
        <p:nvSpPr>
          <p:cNvPr id="38" name="等腰三角形 37"/>
          <p:cNvSpPr/>
          <p:nvPr/>
        </p:nvSpPr>
        <p:spPr>
          <a:xfrm>
            <a:off x="4299256" y="328519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2" name="等腰三角形 41"/>
          <p:cNvSpPr/>
          <p:nvPr/>
        </p:nvSpPr>
        <p:spPr>
          <a:xfrm>
            <a:off x="4305741" y="470074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等腰三角形 47"/>
          <p:cNvSpPr/>
          <p:nvPr/>
        </p:nvSpPr>
        <p:spPr>
          <a:xfrm>
            <a:off x="7827528" y="328519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等腰三角形 48"/>
          <p:cNvSpPr/>
          <p:nvPr/>
        </p:nvSpPr>
        <p:spPr>
          <a:xfrm>
            <a:off x="7834013" y="470074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等腰三角形 56"/>
          <p:cNvSpPr/>
          <p:nvPr/>
        </p:nvSpPr>
        <p:spPr>
          <a:xfrm>
            <a:off x="4935973" y="269757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等腰三角形 59"/>
          <p:cNvSpPr/>
          <p:nvPr/>
        </p:nvSpPr>
        <p:spPr>
          <a:xfrm>
            <a:off x="7272403" y="269757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1" name="等腰三角形 60"/>
          <p:cNvSpPr/>
          <p:nvPr/>
        </p:nvSpPr>
        <p:spPr>
          <a:xfrm>
            <a:off x="1394165" y="520429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等腰三角形 61"/>
          <p:cNvSpPr/>
          <p:nvPr/>
        </p:nvSpPr>
        <p:spPr>
          <a:xfrm>
            <a:off x="3730595" y="520429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3" name="等腰三角形 62"/>
          <p:cNvSpPr/>
          <p:nvPr/>
        </p:nvSpPr>
        <p:spPr>
          <a:xfrm>
            <a:off x="8485013" y="521341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4" name="等腰三角形 63"/>
          <p:cNvSpPr/>
          <p:nvPr/>
        </p:nvSpPr>
        <p:spPr>
          <a:xfrm>
            <a:off x="10821443" y="521341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540676" y="4894330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网络</a:t>
            </a:r>
            <a:r>
              <a:rPr lang="en-US" altLang="zh-CN" b="1" dirty="0"/>
              <a:t>192.168.0.0/24</a:t>
            </a:r>
            <a:endParaRPr lang="zh-CN" altLang="en-US" b="1" dirty="0"/>
          </a:p>
        </p:txBody>
      </p:sp>
      <p:sp>
        <p:nvSpPr>
          <p:cNvPr id="7" name="文本框 6"/>
          <p:cNvSpPr txBox="1"/>
          <p:nvPr/>
        </p:nvSpPr>
        <p:spPr>
          <a:xfrm>
            <a:off x="8671958" y="4894330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网络</a:t>
            </a:r>
            <a:r>
              <a:rPr lang="en-US" altLang="zh-CN" b="1" dirty="0"/>
              <a:t>192.168.1.0/24</a:t>
            </a:r>
            <a:endParaRPr lang="zh-CN" altLang="en-US" b="1" dirty="0"/>
          </a:p>
        </p:txBody>
      </p:sp>
      <p:sp>
        <p:nvSpPr>
          <p:cNvPr id="8" name="文本框 7"/>
          <p:cNvSpPr txBox="1"/>
          <p:nvPr/>
        </p:nvSpPr>
        <p:spPr>
          <a:xfrm>
            <a:off x="5182823" y="2719628"/>
            <a:ext cx="1826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网络</a:t>
            </a:r>
            <a:r>
              <a:rPr lang="en-US" altLang="zh-CN" b="1" dirty="0"/>
              <a:t>10.0.0.0/30</a:t>
            </a:r>
            <a:endParaRPr lang="zh-CN" altLang="en-US" b="1" dirty="0"/>
          </a:p>
        </p:txBody>
      </p:sp>
      <p:sp>
        <p:nvSpPr>
          <p:cNvPr id="10" name="文本框 9"/>
          <p:cNvSpPr txBox="1"/>
          <p:nvPr/>
        </p:nvSpPr>
        <p:spPr>
          <a:xfrm>
            <a:off x="2129179" y="3878095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/>
              <a:t>网络</a:t>
            </a:r>
            <a:r>
              <a:rPr lang="en-US" altLang="zh-CN" b="1" dirty="0"/>
              <a:t>172.16.0.0/30</a:t>
            </a:r>
            <a:endParaRPr lang="zh-CN" altLang="en-US" b="1" dirty="0"/>
          </a:p>
        </p:txBody>
      </p:sp>
      <p:sp>
        <p:nvSpPr>
          <p:cNvPr id="11" name="文本框 10"/>
          <p:cNvSpPr txBox="1"/>
          <p:nvPr/>
        </p:nvSpPr>
        <p:spPr>
          <a:xfrm>
            <a:off x="8083862" y="3878095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网络</a:t>
            </a:r>
            <a:r>
              <a:rPr lang="en-US" altLang="zh-CN" b="1" dirty="0"/>
              <a:t>172.19.0.0/30</a:t>
            </a:r>
            <a:endParaRPr lang="zh-CN" altLang="en-US" b="1" dirty="0"/>
          </a:p>
        </p:txBody>
      </p:sp>
      <p:grpSp>
        <p:nvGrpSpPr>
          <p:cNvPr id="14" name="组合 13"/>
          <p:cNvGrpSpPr/>
          <p:nvPr/>
        </p:nvGrpSpPr>
        <p:grpSpPr>
          <a:xfrm>
            <a:off x="4620986" y="1518195"/>
            <a:ext cx="3014769" cy="1535070"/>
            <a:chOff x="4620986" y="1518195"/>
            <a:chExt cx="3014769" cy="1535070"/>
          </a:xfrm>
        </p:grpSpPr>
        <p:sp>
          <p:nvSpPr>
            <p:cNvPr id="16" name="矩形 15"/>
            <p:cNvSpPr/>
            <p:nvPr/>
          </p:nvSpPr>
          <p:spPr>
            <a:xfrm>
              <a:off x="4620986" y="1537929"/>
              <a:ext cx="3014769" cy="1515336"/>
            </a:xfrm>
            <a:prstGeom prst="rect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5054066" y="1518195"/>
              <a:ext cx="208899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rgbClr val="FF0000"/>
                  </a:solidFill>
                </a:rPr>
                <a:t>OSPF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主干区域</a:t>
              </a:r>
              <a:endParaRPr lang="en-US" altLang="zh-CN" sz="2000" b="1" dirty="0">
                <a:solidFill>
                  <a:srgbClr val="FF0000"/>
                </a:solidFill>
              </a:endParaRPr>
            </a:p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（</a:t>
              </a:r>
              <a:r>
                <a:rPr lang="en-US" altLang="zh-CN" sz="2000" b="1" dirty="0">
                  <a:solidFill>
                    <a:srgbClr val="FF0000"/>
                  </a:solidFill>
                </a:rPr>
                <a:t>area 0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）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04799" y="3188812"/>
            <a:ext cx="5189367" cy="3134274"/>
            <a:chOff x="304799" y="3188812"/>
            <a:chExt cx="5189367" cy="3134274"/>
          </a:xfrm>
        </p:grpSpPr>
        <p:sp>
          <p:nvSpPr>
            <p:cNvPr id="20" name="文本框 19"/>
            <p:cNvSpPr txBox="1"/>
            <p:nvPr/>
          </p:nvSpPr>
          <p:spPr>
            <a:xfrm>
              <a:off x="304799" y="3303651"/>
              <a:ext cx="18366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3"/>
                  </a:solidFill>
                </a:rPr>
                <a:t>OSPF</a:t>
              </a:r>
              <a:r>
                <a:rPr lang="zh-CN" altLang="en-US" sz="2000" b="1" dirty="0">
                  <a:solidFill>
                    <a:schemeClr val="accent3"/>
                  </a:solidFill>
                </a:rPr>
                <a:t>区域</a:t>
              </a:r>
              <a:r>
                <a:rPr lang="en-US" altLang="zh-CN" sz="2000" b="1" dirty="0">
                  <a:solidFill>
                    <a:schemeClr val="accent3"/>
                  </a:solidFill>
                </a:rPr>
                <a:t>100</a:t>
              </a:r>
              <a:endParaRPr lang="en-US" altLang="zh-CN" sz="2000" b="1" dirty="0">
                <a:solidFill>
                  <a:schemeClr val="accent3"/>
                </a:solidFill>
              </a:endParaRPr>
            </a:p>
            <a:p>
              <a:pPr algn="ctr"/>
              <a:r>
                <a:rPr lang="zh-CN" altLang="en-US" sz="2000" b="1" dirty="0">
                  <a:solidFill>
                    <a:schemeClr val="accent3"/>
                  </a:solidFill>
                </a:rPr>
                <a:t>（</a:t>
              </a:r>
              <a:r>
                <a:rPr lang="en-US" altLang="zh-CN" sz="2000" b="1" dirty="0">
                  <a:solidFill>
                    <a:schemeClr val="accent3"/>
                  </a:solidFill>
                </a:rPr>
                <a:t>area 100</a:t>
              </a:r>
              <a:r>
                <a:rPr lang="zh-CN" altLang="en-US" sz="2000" b="1" dirty="0">
                  <a:solidFill>
                    <a:schemeClr val="accent3"/>
                  </a:solidFill>
                </a:rPr>
                <a:t>）</a:t>
              </a:r>
              <a:endParaRPr lang="zh-CN" altLang="en-US" sz="2000" b="1" dirty="0">
                <a:solidFill>
                  <a:schemeClr val="accent3"/>
                </a:solidFill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311377" y="3188812"/>
              <a:ext cx="5182789" cy="3134274"/>
            </a:xfrm>
            <a:prstGeom prst="rect">
              <a:avLst/>
            </a:prstGeom>
            <a:noFill/>
            <a:ln w="2540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6700286" y="3188812"/>
            <a:ext cx="5186461" cy="3134274"/>
            <a:chOff x="6700286" y="3188812"/>
            <a:chExt cx="5186461" cy="3134274"/>
          </a:xfrm>
        </p:grpSpPr>
        <p:sp>
          <p:nvSpPr>
            <p:cNvPr id="26" name="文本框 25"/>
            <p:cNvSpPr txBox="1"/>
            <p:nvPr/>
          </p:nvSpPr>
          <p:spPr>
            <a:xfrm>
              <a:off x="10050132" y="3303651"/>
              <a:ext cx="18366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4"/>
                  </a:solidFill>
                </a:rPr>
                <a:t>OSPF</a:t>
              </a:r>
              <a:r>
                <a:rPr lang="zh-CN" altLang="en-US" sz="2000" b="1" dirty="0">
                  <a:solidFill>
                    <a:schemeClr val="accent4"/>
                  </a:solidFill>
                </a:rPr>
                <a:t>区域</a:t>
              </a:r>
              <a:r>
                <a:rPr lang="en-US" altLang="zh-CN" sz="2000" b="1" dirty="0">
                  <a:solidFill>
                    <a:schemeClr val="accent4"/>
                  </a:solidFill>
                </a:rPr>
                <a:t>200</a:t>
              </a:r>
              <a:endParaRPr lang="en-US" altLang="zh-CN" sz="2000" b="1" dirty="0">
                <a:solidFill>
                  <a:schemeClr val="accent4"/>
                </a:solidFill>
              </a:endParaRPr>
            </a:p>
            <a:p>
              <a:pPr algn="ctr"/>
              <a:r>
                <a:rPr lang="zh-CN" altLang="en-US" sz="2000" b="1" dirty="0">
                  <a:solidFill>
                    <a:schemeClr val="accent4"/>
                  </a:solidFill>
                </a:rPr>
                <a:t>（</a:t>
              </a:r>
              <a:r>
                <a:rPr lang="en-US" altLang="zh-CN" sz="2000" b="1" dirty="0">
                  <a:solidFill>
                    <a:schemeClr val="accent4"/>
                  </a:solidFill>
                </a:rPr>
                <a:t>area 200</a:t>
              </a:r>
              <a:r>
                <a:rPr lang="zh-CN" altLang="en-US" sz="2000" b="1" dirty="0">
                  <a:solidFill>
                    <a:schemeClr val="accent4"/>
                  </a:solidFill>
                </a:rPr>
                <a:t>）</a:t>
              </a:r>
              <a:endParaRPr lang="zh-CN" alt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6700286" y="3188812"/>
              <a:ext cx="5182789" cy="3134274"/>
            </a:xfrm>
            <a:prstGeom prst="rect">
              <a:avLst/>
            </a:prstGeom>
            <a:noFill/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98981" y="685800"/>
            <a:ext cx="4185223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5.  </a:t>
            </a:r>
            <a:r>
              <a:rPr lang="zh-CN" altLang="en-US" sz="2400" b="1" dirty="0"/>
              <a:t>启用各路由器的</a:t>
            </a:r>
            <a:r>
              <a:rPr lang="en-US" altLang="zh-CN" sz="2400" b="1" dirty="0"/>
              <a:t>OSPF</a:t>
            </a:r>
            <a:r>
              <a:rPr lang="zh-CN" altLang="en-US" sz="2400" b="1" dirty="0"/>
              <a:t>协议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69" name="20 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81" y="1366497"/>
            <a:ext cx="10869038" cy="5027008"/>
          </a:xfrm>
          <a:prstGeom prst="rect">
            <a:avLst/>
          </a:prstGeom>
        </p:spPr>
      </p:pic>
      <p:sp>
        <p:nvSpPr>
          <p:cNvPr id="70" name="文本框 69"/>
          <p:cNvSpPr txBox="1"/>
          <p:nvPr/>
        </p:nvSpPr>
        <p:spPr>
          <a:xfrm>
            <a:off x="6499059" y="2205189"/>
            <a:ext cx="3008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配置进程号为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zh-CN" altLang="en-US" b="1" dirty="0">
                <a:solidFill>
                  <a:srgbClr val="FF0000"/>
                </a:solidFill>
              </a:rPr>
              <a:t>的</a:t>
            </a:r>
            <a:r>
              <a:rPr lang="en-US" altLang="zh-CN" b="1" dirty="0">
                <a:solidFill>
                  <a:srgbClr val="FF0000"/>
                </a:solidFill>
              </a:rPr>
              <a:t>OSPF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499059" y="2757757"/>
            <a:ext cx="52778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通告路由器自己的直连网络</a:t>
            </a:r>
            <a:r>
              <a:rPr lang="en-US" altLang="zh-CN" b="1" dirty="0">
                <a:solidFill>
                  <a:srgbClr val="FF0000"/>
                </a:solidFill>
              </a:rPr>
              <a:t>10.0.0.0/30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//  0.0.0.3</a:t>
            </a:r>
            <a:r>
              <a:rPr lang="zh-CN" altLang="en-US" b="1" dirty="0">
                <a:solidFill>
                  <a:srgbClr val="FF0000"/>
                </a:solidFill>
              </a:rPr>
              <a:t>是反子网掩码（子网掩码为</a:t>
            </a:r>
            <a:r>
              <a:rPr lang="en-US" altLang="zh-CN" b="1" dirty="0">
                <a:solidFill>
                  <a:srgbClr val="FF0000"/>
                </a:solidFill>
              </a:rPr>
              <a:t>255.255.255.252</a:t>
            </a:r>
            <a:r>
              <a:rPr lang="zh-CN" altLang="en-US" b="1" dirty="0">
                <a:solidFill>
                  <a:srgbClr val="FF0000"/>
                </a:solidFill>
              </a:rPr>
              <a:t>）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//  OSPF</a:t>
            </a:r>
            <a:r>
              <a:rPr lang="zh-CN" altLang="en-US" b="1" dirty="0">
                <a:solidFill>
                  <a:srgbClr val="FF0000"/>
                </a:solidFill>
              </a:rPr>
              <a:t>区域标识符为</a:t>
            </a:r>
            <a:r>
              <a:rPr lang="en-US" altLang="zh-CN" b="1" dirty="0">
                <a:solidFill>
                  <a:srgbClr val="FF0000"/>
                </a:solidFill>
              </a:rPr>
              <a:t>0</a:t>
            </a:r>
            <a:r>
              <a:rPr lang="zh-CN" altLang="en-US" b="1" dirty="0">
                <a:solidFill>
                  <a:srgbClr val="FF0000"/>
                </a:solidFill>
              </a:rPr>
              <a:t>（主干区域）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6499059" y="4592193"/>
            <a:ext cx="421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退出到特权执行模式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6499059" y="3727228"/>
            <a:ext cx="52778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通告路由器自己的直连网络</a:t>
            </a:r>
            <a:r>
              <a:rPr lang="en-US" altLang="zh-CN" b="1" dirty="0">
                <a:solidFill>
                  <a:srgbClr val="FF0000"/>
                </a:solidFill>
              </a:rPr>
              <a:t>172.16.0.0/30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//  0.0.0.3</a:t>
            </a:r>
            <a:r>
              <a:rPr lang="zh-CN" altLang="en-US" b="1" dirty="0">
                <a:solidFill>
                  <a:srgbClr val="FF0000"/>
                </a:solidFill>
              </a:rPr>
              <a:t>是反子网掩码（子网掩码为</a:t>
            </a:r>
            <a:r>
              <a:rPr lang="en-US" altLang="zh-CN" b="1" dirty="0">
                <a:solidFill>
                  <a:srgbClr val="FF0000"/>
                </a:solidFill>
              </a:rPr>
              <a:t>255.255.255.252</a:t>
            </a:r>
            <a:r>
              <a:rPr lang="zh-CN" altLang="en-US" b="1" dirty="0">
                <a:solidFill>
                  <a:srgbClr val="FF0000"/>
                </a:solidFill>
              </a:rPr>
              <a:t>）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//  OSPF</a:t>
            </a:r>
            <a:r>
              <a:rPr lang="zh-CN" altLang="en-US" b="1" dirty="0">
                <a:solidFill>
                  <a:srgbClr val="FF0000"/>
                </a:solidFill>
              </a:rPr>
              <a:t>区域标识符为</a:t>
            </a:r>
            <a:r>
              <a:rPr lang="en-US" altLang="zh-CN" b="1" dirty="0">
                <a:solidFill>
                  <a:srgbClr val="FF0000"/>
                </a:solidFill>
              </a:rPr>
              <a:t>100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6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0" grpId="0"/>
      <p:bldP spid="71" grpId="0"/>
      <p:bldP spid="74" grpId="0"/>
      <p:bldP spid="7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998981" y="685800"/>
            <a:ext cx="4185223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5.  </a:t>
            </a:r>
            <a:r>
              <a:rPr lang="zh-CN" altLang="en-US" sz="2400" b="1" dirty="0"/>
              <a:t>启用各路由器的</a:t>
            </a:r>
            <a:r>
              <a:rPr lang="en-US" altLang="zh-CN" sz="2400" b="1" dirty="0"/>
              <a:t>OSPF</a:t>
            </a:r>
            <a:r>
              <a:rPr lang="zh-CN" altLang="en-US" sz="2400" b="1" dirty="0"/>
              <a:t>协议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69" name="20 6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81" y="1366497"/>
            <a:ext cx="10869038" cy="5027008"/>
          </a:xfrm>
          <a:prstGeom prst="rect">
            <a:avLst/>
          </a:prstGeom>
        </p:spPr>
      </p:pic>
      <p:sp>
        <p:nvSpPr>
          <p:cNvPr id="70" name="文本框 69"/>
          <p:cNvSpPr txBox="1"/>
          <p:nvPr/>
        </p:nvSpPr>
        <p:spPr>
          <a:xfrm>
            <a:off x="6499059" y="2205189"/>
            <a:ext cx="30081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配置进程号为</a:t>
            </a:r>
            <a:r>
              <a:rPr lang="en-US" altLang="zh-CN" b="1" dirty="0">
                <a:solidFill>
                  <a:srgbClr val="FF0000"/>
                </a:solidFill>
              </a:rPr>
              <a:t>1</a:t>
            </a:r>
            <a:r>
              <a:rPr lang="zh-CN" altLang="en-US" b="1" dirty="0">
                <a:solidFill>
                  <a:srgbClr val="FF0000"/>
                </a:solidFill>
              </a:rPr>
              <a:t>的</a:t>
            </a:r>
            <a:r>
              <a:rPr lang="en-US" altLang="zh-CN" b="1" dirty="0">
                <a:solidFill>
                  <a:srgbClr val="FF0000"/>
                </a:solidFill>
              </a:rPr>
              <a:t>OSPF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1" name="文本框 70"/>
          <p:cNvSpPr txBox="1"/>
          <p:nvPr/>
        </p:nvSpPr>
        <p:spPr>
          <a:xfrm>
            <a:off x="6499059" y="2757757"/>
            <a:ext cx="52778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通告路由器自己的直连网络</a:t>
            </a:r>
            <a:r>
              <a:rPr lang="en-US" altLang="zh-CN" b="1" dirty="0">
                <a:solidFill>
                  <a:srgbClr val="FF0000"/>
                </a:solidFill>
              </a:rPr>
              <a:t>10.0.0.0/30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//  0.0.0.3</a:t>
            </a:r>
            <a:r>
              <a:rPr lang="zh-CN" altLang="en-US" b="1" dirty="0">
                <a:solidFill>
                  <a:srgbClr val="FF0000"/>
                </a:solidFill>
              </a:rPr>
              <a:t>是反子网掩码（子网掩码为</a:t>
            </a:r>
            <a:r>
              <a:rPr lang="en-US" altLang="zh-CN" b="1" dirty="0">
                <a:solidFill>
                  <a:srgbClr val="FF0000"/>
                </a:solidFill>
              </a:rPr>
              <a:t>255.255.255.252</a:t>
            </a:r>
            <a:r>
              <a:rPr lang="zh-CN" altLang="en-US" b="1" dirty="0">
                <a:solidFill>
                  <a:srgbClr val="FF0000"/>
                </a:solidFill>
              </a:rPr>
              <a:t>）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//  OSPF</a:t>
            </a:r>
            <a:r>
              <a:rPr lang="zh-CN" altLang="en-US" b="1" dirty="0">
                <a:solidFill>
                  <a:srgbClr val="FF0000"/>
                </a:solidFill>
              </a:rPr>
              <a:t>区域标识符为</a:t>
            </a:r>
            <a:r>
              <a:rPr lang="en-US" altLang="zh-CN" b="1" dirty="0">
                <a:solidFill>
                  <a:srgbClr val="FF0000"/>
                </a:solidFill>
              </a:rPr>
              <a:t>0</a:t>
            </a:r>
            <a:r>
              <a:rPr lang="zh-CN" altLang="en-US" b="1" dirty="0">
                <a:solidFill>
                  <a:srgbClr val="FF0000"/>
                </a:solidFill>
              </a:rPr>
              <a:t>（主干区域）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4" name="文本框 73"/>
          <p:cNvSpPr txBox="1"/>
          <p:nvPr/>
        </p:nvSpPr>
        <p:spPr>
          <a:xfrm>
            <a:off x="6499059" y="4592193"/>
            <a:ext cx="42143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退出到特权执行模式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5" name="文本框 74"/>
          <p:cNvSpPr txBox="1"/>
          <p:nvPr/>
        </p:nvSpPr>
        <p:spPr>
          <a:xfrm>
            <a:off x="6499059" y="3727228"/>
            <a:ext cx="52778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通告路由器自己的直连网络</a:t>
            </a:r>
            <a:r>
              <a:rPr lang="en-US" altLang="zh-CN" b="1" dirty="0">
                <a:solidFill>
                  <a:srgbClr val="FF0000"/>
                </a:solidFill>
              </a:rPr>
              <a:t>172.16.0.0/30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//  0.0.0.3</a:t>
            </a:r>
            <a:r>
              <a:rPr lang="zh-CN" altLang="en-US" b="1" dirty="0">
                <a:solidFill>
                  <a:srgbClr val="FF0000"/>
                </a:solidFill>
              </a:rPr>
              <a:t>是反子网掩码（子网掩码为</a:t>
            </a:r>
            <a:r>
              <a:rPr lang="en-US" altLang="zh-CN" b="1" dirty="0">
                <a:solidFill>
                  <a:srgbClr val="FF0000"/>
                </a:solidFill>
              </a:rPr>
              <a:t>255.255.255.252</a:t>
            </a:r>
            <a:r>
              <a:rPr lang="zh-CN" altLang="en-US" b="1" dirty="0">
                <a:solidFill>
                  <a:srgbClr val="FF0000"/>
                </a:solidFill>
              </a:rPr>
              <a:t>）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//  OSPF</a:t>
            </a:r>
            <a:r>
              <a:rPr lang="zh-CN" altLang="en-US" b="1" dirty="0">
                <a:solidFill>
                  <a:srgbClr val="FF0000"/>
                </a:solidFill>
              </a:rPr>
              <a:t>区域标识符为</a:t>
            </a:r>
            <a:r>
              <a:rPr lang="en-US" altLang="zh-CN" b="1" dirty="0">
                <a:solidFill>
                  <a:srgbClr val="FF0000"/>
                </a:solidFill>
              </a:rPr>
              <a:t>100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793527" y="5771990"/>
            <a:ext cx="10574863" cy="51799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2000" b="1" dirty="0"/>
              <a:t>请参照此方法分别启用</a:t>
            </a:r>
            <a:r>
              <a:rPr lang="en-US" altLang="zh-CN" sz="2000" b="1" dirty="0"/>
              <a:t>Router1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Router2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Router3</a:t>
            </a:r>
            <a:r>
              <a:rPr lang="zh-CN" altLang="en-US" sz="2000" b="1" dirty="0"/>
              <a:t>的开放最短路径优先</a:t>
            </a:r>
            <a:r>
              <a:rPr lang="en-US" altLang="zh-CN" sz="2000" b="1" dirty="0"/>
              <a:t>OSPF</a:t>
            </a:r>
            <a:r>
              <a:rPr lang="zh-CN" altLang="en-US" sz="2000" b="1" dirty="0"/>
              <a:t>协议。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84323" y="685800"/>
            <a:ext cx="3614534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6.  </a:t>
            </a:r>
            <a:r>
              <a:rPr lang="zh-CN" altLang="en-US" sz="2400" b="1" dirty="0"/>
              <a:t>查看各路由器的路由表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8141408" y="5261622"/>
            <a:ext cx="3110656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010126" y="5261622"/>
            <a:ext cx="3110656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4668822" y="2748015"/>
            <a:ext cx="3014769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4355979" y="2904294"/>
            <a:ext cx="0" cy="2224442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7885393" y="2904294"/>
            <a:ext cx="0" cy="2224442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404704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48" y="5052372"/>
            <a:ext cx="539132" cy="457973"/>
          </a:xfrm>
          <a:prstGeom prst="rect">
            <a:avLst/>
          </a:prstGeom>
        </p:spPr>
      </p:pic>
      <p:pic>
        <p:nvPicPr>
          <p:cNvPr id="69" name="20 68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5090553"/>
            <a:ext cx="530013" cy="381609"/>
          </a:xfrm>
          <a:prstGeom prst="rect">
            <a:avLst/>
          </a:prstGeom>
        </p:spPr>
      </p:pic>
      <p:sp>
        <p:nvSpPr>
          <p:cNvPr id="70" name="文本框 69"/>
          <p:cNvSpPr txBox="1"/>
          <p:nvPr/>
        </p:nvSpPr>
        <p:spPr>
          <a:xfrm>
            <a:off x="4482400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pic>
        <p:nvPicPr>
          <p:cNvPr id="71" name="20 70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5128736"/>
            <a:ext cx="530013" cy="381609"/>
          </a:xfrm>
          <a:prstGeom prst="rect">
            <a:avLst/>
          </a:prstGeom>
        </p:spPr>
      </p:pic>
      <p:pic>
        <p:nvPicPr>
          <p:cNvPr id="72" name="20 71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786" y="5052372"/>
            <a:ext cx="539132" cy="457973"/>
          </a:xfrm>
          <a:prstGeom prst="rect">
            <a:avLst/>
          </a:prstGeom>
        </p:spPr>
      </p:pic>
      <p:pic>
        <p:nvPicPr>
          <p:cNvPr id="73" name="20 72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2557225"/>
            <a:ext cx="530013" cy="381609"/>
          </a:xfrm>
          <a:prstGeom prst="rect">
            <a:avLst/>
          </a:prstGeom>
        </p:spPr>
      </p:pic>
      <p:pic>
        <p:nvPicPr>
          <p:cNvPr id="74" name="20 7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2557225"/>
            <a:ext cx="530013" cy="381609"/>
          </a:xfrm>
          <a:prstGeom prst="rect">
            <a:avLst/>
          </a:prstGeom>
        </p:spPr>
      </p:pic>
      <p:sp>
        <p:nvSpPr>
          <p:cNvPr id="75" name="文本框 74"/>
          <p:cNvSpPr txBox="1"/>
          <p:nvPr/>
        </p:nvSpPr>
        <p:spPr>
          <a:xfrm>
            <a:off x="3222002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8007838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77" name="文本框 76"/>
          <p:cNvSpPr txBox="1"/>
          <p:nvPr/>
        </p:nvSpPr>
        <p:spPr>
          <a:xfrm>
            <a:off x="6791069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Router3</a:t>
            </a:r>
            <a:endParaRPr lang="zh-CN" altLang="en-US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11029042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8141408" y="5281356"/>
            <a:ext cx="856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3406809" y="528135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4577666" y="232708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6896627" y="232708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86" name="文本框 85"/>
          <p:cNvSpPr txBox="1"/>
          <p:nvPr/>
        </p:nvSpPr>
        <p:spPr>
          <a:xfrm>
            <a:off x="3403517" y="4585911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87" name="文本框 86"/>
          <p:cNvSpPr txBox="1"/>
          <p:nvPr/>
        </p:nvSpPr>
        <p:spPr>
          <a:xfrm>
            <a:off x="3403517" y="3154479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8083862" y="4585911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89" name="文本框 88"/>
          <p:cNvSpPr txBox="1"/>
          <p:nvPr/>
        </p:nvSpPr>
        <p:spPr>
          <a:xfrm>
            <a:off x="8083862" y="3154479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90" name="文本框 89"/>
          <p:cNvSpPr txBox="1"/>
          <p:nvPr/>
        </p:nvSpPr>
        <p:spPr>
          <a:xfrm>
            <a:off x="308925" y="5641911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91" name="文本框 90"/>
          <p:cNvSpPr txBox="1"/>
          <p:nvPr/>
        </p:nvSpPr>
        <p:spPr>
          <a:xfrm>
            <a:off x="2572032" y="5641911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192.168.0.254/24</a:t>
            </a:r>
            <a:endParaRPr lang="zh-CN" altLang="en-US" b="1" dirty="0"/>
          </a:p>
        </p:txBody>
      </p:sp>
      <p:sp>
        <p:nvSpPr>
          <p:cNvPr id="92" name="文本框 91"/>
          <p:cNvSpPr txBox="1"/>
          <p:nvPr/>
        </p:nvSpPr>
        <p:spPr>
          <a:xfrm>
            <a:off x="4577666" y="2087878"/>
            <a:ext cx="124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10.0.0.1/30</a:t>
            </a:r>
            <a:endParaRPr lang="zh-CN" altLang="en-US" b="1" dirty="0"/>
          </a:p>
        </p:txBody>
      </p:sp>
      <p:sp>
        <p:nvSpPr>
          <p:cNvPr id="93" name="文本框 92"/>
          <p:cNvSpPr txBox="1"/>
          <p:nvPr/>
        </p:nvSpPr>
        <p:spPr>
          <a:xfrm>
            <a:off x="6431183" y="2087878"/>
            <a:ext cx="124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10.0.0.2/30</a:t>
            </a:r>
            <a:endParaRPr lang="zh-CN" altLang="en-US" b="1" dirty="0"/>
          </a:p>
        </p:txBody>
      </p:sp>
      <p:sp>
        <p:nvSpPr>
          <p:cNvPr id="94" name="文本框 93"/>
          <p:cNvSpPr txBox="1"/>
          <p:nvPr/>
        </p:nvSpPr>
        <p:spPr>
          <a:xfrm>
            <a:off x="2566222" y="4331415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172.16.0.2/30</a:t>
            </a:r>
            <a:endParaRPr lang="zh-CN" altLang="en-US" b="1" dirty="0"/>
          </a:p>
        </p:txBody>
      </p:sp>
      <p:sp>
        <p:nvSpPr>
          <p:cNvPr id="95" name="文本框 94"/>
          <p:cNvSpPr txBox="1"/>
          <p:nvPr/>
        </p:nvSpPr>
        <p:spPr>
          <a:xfrm>
            <a:off x="2554836" y="3424776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172.16.0.1/30</a:t>
            </a:r>
            <a:endParaRPr lang="zh-CN" altLang="en-US" b="1" dirty="0"/>
          </a:p>
        </p:txBody>
      </p:sp>
      <p:sp>
        <p:nvSpPr>
          <p:cNvPr id="96" name="文本框 95"/>
          <p:cNvSpPr txBox="1"/>
          <p:nvPr/>
        </p:nvSpPr>
        <p:spPr>
          <a:xfrm>
            <a:off x="8083862" y="4331415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172.19.0.2/30</a:t>
            </a:r>
            <a:endParaRPr lang="zh-CN" altLang="en-US" b="1" dirty="0"/>
          </a:p>
        </p:txBody>
      </p:sp>
      <p:sp>
        <p:nvSpPr>
          <p:cNvPr id="97" name="文本框 96"/>
          <p:cNvSpPr txBox="1"/>
          <p:nvPr/>
        </p:nvSpPr>
        <p:spPr>
          <a:xfrm>
            <a:off x="8083862" y="3424776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172.19.0.1/30</a:t>
            </a:r>
            <a:endParaRPr lang="zh-CN" altLang="en-US" b="1" dirty="0"/>
          </a:p>
        </p:txBody>
      </p:sp>
      <p:sp>
        <p:nvSpPr>
          <p:cNvPr id="98" name="文本框 97"/>
          <p:cNvSpPr txBox="1"/>
          <p:nvPr/>
        </p:nvSpPr>
        <p:spPr>
          <a:xfrm>
            <a:off x="8141408" y="5641911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192.168.1.254/24</a:t>
            </a:r>
            <a:endParaRPr lang="zh-CN" altLang="en-US" b="1" dirty="0"/>
          </a:p>
        </p:txBody>
      </p:sp>
      <p:sp>
        <p:nvSpPr>
          <p:cNvPr id="99" name="文本框 98"/>
          <p:cNvSpPr txBox="1"/>
          <p:nvPr/>
        </p:nvSpPr>
        <p:spPr>
          <a:xfrm>
            <a:off x="10428049" y="5641911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192.168.1.1/24</a:t>
            </a:r>
            <a:endParaRPr lang="zh-CN" altLang="en-US" b="1" dirty="0"/>
          </a:p>
        </p:txBody>
      </p:sp>
      <p:sp>
        <p:nvSpPr>
          <p:cNvPr id="100" name="文本框 99"/>
          <p:cNvSpPr txBox="1"/>
          <p:nvPr/>
        </p:nvSpPr>
        <p:spPr>
          <a:xfrm>
            <a:off x="308925" y="5953754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192.168.0.254</a:t>
            </a:r>
            <a:endParaRPr lang="zh-CN" altLang="en-US" b="1" dirty="0"/>
          </a:p>
        </p:txBody>
      </p:sp>
      <p:sp>
        <p:nvSpPr>
          <p:cNvPr id="101" name="文本框 100"/>
          <p:cNvSpPr txBox="1"/>
          <p:nvPr/>
        </p:nvSpPr>
        <p:spPr>
          <a:xfrm>
            <a:off x="10428049" y="5953754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192.168.1.254</a:t>
            </a:r>
            <a:endParaRPr lang="zh-CN" altLang="en-US" b="1" dirty="0"/>
          </a:p>
        </p:txBody>
      </p:sp>
      <p:sp>
        <p:nvSpPr>
          <p:cNvPr id="102" name="等腰三角形 101"/>
          <p:cNvSpPr/>
          <p:nvPr/>
        </p:nvSpPr>
        <p:spPr>
          <a:xfrm>
            <a:off x="4299256" y="328519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等腰三角形 102"/>
          <p:cNvSpPr/>
          <p:nvPr/>
        </p:nvSpPr>
        <p:spPr>
          <a:xfrm>
            <a:off x="4305741" y="470074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等腰三角形 103"/>
          <p:cNvSpPr/>
          <p:nvPr/>
        </p:nvSpPr>
        <p:spPr>
          <a:xfrm>
            <a:off x="7827528" y="328519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等腰三角形 104"/>
          <p:cNvSpPr/>
          <p:nvPr/>
        </p:nvSpPr>
        <p:spPr>
          <a:xfrm>
            <a:off x="7834013" y="470074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等腰三角形 105"/>
          <p:cNvSpPr/>
          <p:nvPr/>
        </p:nvSpPr>
        <p:spPr>
          <a:xfrm>
            <a:off x="4935973" y="269757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等腰三角形 106"/>
          <p:cNvSpPr/>
          <p:nvPr/>
        </p:nvSpPr>
        <p:spPr>
          <a:xfrm>
            <a:off x="7272403" y="269757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等腰三角形 107"/>
          <p:cNvSpPr/>
          <p:nvPr/>
        </p:nvSpPr>
        <p:spPr>
          <a:xfrm>
            <a:off x="1394165" y="520429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等腰三角形 108"/>
          <p:cNvSpPr/>
          <p:nvPr/>
        </p:nvSpPr>
        <p:spPr>
          <a:xfrm>
            <a:off x="3730595" y="520429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等腰三角形 109"/>
          <p:cNvSpPr/>
          <p:nvPr/>
        </p:nvSpPr>
        <p:spPr>
          <a:xfrm>
            <a:off x="8485013" y="521341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等腰三角形 110"/>
          <p:cNvSpPr/>
          <p:nvPr/>
        </p:nvSpPr>
        <p:spPr>
          <a:xfrm>
            <a:off x="10821443" y="521341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文本框 111"/>
          <p:cNvSpPr txBox="1"/>
          <p:nvPr/>
        </p:nvSpPr>
        <p:spPr>
          <a:xfrm>
            <a:off x="1540676" y="4894330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网络</a:t>
            </a:r>
            <a:r>
              <a:rPr lang="en-US" altLang="zh-CN" b="1" dirty="0"/>
              <a:t>192.168.0.0/24</a:t>
            </a:r>
            <a:endParaRPr lang="zh-CN" altLang="en-US" b="1" dirty="0"/>
          </a:p>
        </p:txBody>
      </p:sp>
      <p:sp>
        <p:nvSpPr>
          <p:cNvPr id="113" name="文本框 112"/>
          <p:cNvSpPr txBox="1"/>
          <p:nvPr/>
        </p:nvSpPr>
        <p:spPr>
          <a:xfrm>
            <a:off x="8671958" y="4894330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网络</a:t>
            </a:r>
            <a:r>
              <a:rPr lang="en-US" altLang="zh-CN" b="1" dirty="0"/>
              <a:t>192.168.1.0/24</a:t>
            </a:r>
            <a:endParaRPr lang="zh-CN" altLang="en-US" b="1" dirty="0"/>
          </a:p>
        </p:txBody>
      </p:sp>
      <p:sp>
        <p:nvSpPr>
          <p:cNvPr id="114" name="文本框 113"/>
          <p:cNvSpPr txBox="1"/>
          <p:nvPr/>
        </p:nvSpPr>
        <p:spPr>
          <a:xfrm>
            <a:off x="5182823" y="2719628"/>
            <a:ext cx="1826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网络</a:t>
            </a:r>
            <a:r>
              <a:rPr lang="en-US" altLang="zh-CN" b="1" dirty="0"/>
              <a:t>10.0.0.0/30</a:t>
            </a:r>
            <a:endParaRPr lang="zh-CN" altLang="en-US" b="1" dirty="0"/>
          </a:p>
        </p:txBody>
      </p:sp>
      <p:sp>
        <p:nvSpPr>
          <p:cNvPr id="115" name="文本框 114"/>
          <p:cNvSpPr txBox="1"/>
          <p:nvPr/>
        </p:nvSpPr>
        <p:spPr>
          <a:xfrm>
            <a:off x="2129179" y="3878095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/>
              <a:t>网络</a:t>
            </a:r>
            <a:r>
              <a:rPr lang="en-US" altLang="zh-CN" b="1" dirty="0"/>
              <a:t>172.16.0.0/30</a:t>
            </a:r>
            <a:endParaRPr lang="zh-CN" altLang="en-US" b="1" dirty="0"/>
          </a:p>
        </p:txBody>
      </p:sp>
      <p:sp>
        <p:nvSpPr>
          <p:cNvPr id="116" name="文本框 115"/>
          <p:cNvSpPr txBox="1"/>
          <p:nvPr/>
        </p:nvSpPr>
        <p:spPr>
          <a:xfrm>
            <a:off x="8083862" y="3878095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网络</a:t>
            </a:r>
            <a:r>
              <a:rPr lang="en-US" altLang="zh-CN" b="1" dirty="0"/>
              <a:t>172.19.0.0/30</a:t>
            </a:r>
            <a:endParaRPr lang="zh-CN" altLang="en-US" b="1" dirty="0"/>
          </a:p>
        </p:txBody>
      </p:sp>
      <p:grpSp>
        <p:nvGrpSpPr>
          <p:cNvPr id="117" name="组合 116"/>
          <p:cNvGrpSpPr/>
          <p:nvPr/>
        </p:nvGrpSpPr>
        <p:grpSpPr>
          <a:xfrm>
            <a:off x="4620986" y="1518195"/>
            <a:ext cx="3014769" cy="1535070"/>
            <a:chOff x="4620986" y="1518195"/>
            <a:chExt cx="3014769" cy="1535070"/>
          </a:xfrm>
        </p:grpSpPr>
        <p:sp>
          <p:nvSpPr>
            <p:cNvPr id="118" name="矩形 117"/>
            <p:cNvSpPr/>
            <p:nvPr/>
          </p:nvSpPr>
          <p:spPr>
            <a:xfrm>
              <a:off x="4620986" y="1537929"/>
              <a:ext cx="3014769" cy="1515336"/>
            </a:xfrm>
            <a:prstGeom prst="rect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文本框 118"/>
            <p:cNvSpPr txBox="1"/>
            <p:nvPr/>
          </p:nvSpPr>
          <p:spPr>
            <a:xfrm>
              <a:off x="5054066" y="1518195"/>
              <a:ext cx="208899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rgbClr val="FF0000"/>
                  </a:solidFill>
                </a:rPr>
                <a:t>OSPF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主干区域</a:t>
              </a:r>
              <a:endParaRPr lang="en-US" altLang="zh-CN" sz="2000" b="1" dirty="0">
                <a:solidFill>
                  <a:srgbClr val="FF0000"/>
                </a:solidFill>
              </a:endParaRPr>
            </a:p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（</a:t>
              </a:r>
              <a:r>
                <a:rPr lang="en-US" altLang="zh-CN" sz="2000" b="1" dirty="0">
                  <a:solidFill>
                    <a:srgbClr val="FF0000"/>
                  </a:solidFill>
                </a:rPr>
                <a:t>area 0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）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304799" y="3188812"/>
            <a:ext cx="5189367" cy="3134274"/>
            <a:chOff x="304799" y="3188812"/>
            <a:chExt cx="5189367" cy="3134274"/>
          </a:xfrm>
        </p:grpSpPr>
        <p:sp>
          <p:nvSpPr>
            <p:cNvPr id="121" name="文本框 120"/>
            <p:cNvSpPr txBox="1"/>
            <p:nvPr/>
          </p:nvSpPr>
          <p:spPr>
            <a:xfrm>
              <a:off x="304799" y="3303651"/>
              <a:ext cx="18366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3"/>
                  </a:solidFill>
                </a:rPr>
                <a:t>OSPF</a:t>
              </a:r>
              <a:r>
                <a:rPr lang="zh-CN" altLang="en-US" sz="2000" b="1" dirty="0">
                  <a:solidFill>
                    <a:schemeClr val="accent3"/>
                  </a:solidFill>
                </a:rPr>
                <a:t>区域</a:t>
              </a:r>
              <a:r>
                <a:rPr lang="en-US" altLang="zh-CN" sz="2000" b="1" dirty="0">
                  <a:solidFill>
                    <a:schemeClr val="accent3"/>
                  </a:solidFill>
                </a:rPr>
                <a:t>100</a:t>
              </a:r>
              <a:endParaRPr lang="en-US" altLang="zh-CN" sz="2000" b="1" dirty="0">
                <a:solidFill>
                  <a:schemeClr val="accent3"/>
                </a:solidFill>
              </a:endParaRPr>
            </a:p>
            <a:p>
              <a:pPr algn="ctr"/>
              <a:r>
                <a:rPr lang="zh-CN" altLang="en-US" sz="2000" b="1" dirty="0">
                  <a:solidFill>
                    <a:schemeClr val="accent3"/>
                  </a:solidFill>
                </a:rPr>
                <a:t>（</a:t>
              </a:r>
              <a:r>
                <a:rPr lang="en-US" altLang="zh-CN" sz="2000" b="1" dirty="0">
                  <a:solidFill>
                    <a:schemeClr val="accent3"/>
                  </a:solidFill>
                </a:rPr>
                <a:t>area 100</a:t>
              </a:r>
              <a:r>
                <a:rPr lang="zh-CN" altLang="en-US" sz="2000" b="1" dirty="0">
                  <a:solidFill>
                    <a:schemeClr val="accent3"/>
                  </a:solidFill>
                </a:rPr>
                <a:t>）</a:t>
              </a:r>
              <a:endParaRPr lang="zh-CN" altLang="en-US" sz="2000" b="1" dirty="0">
                <a:solidFill>
                  <a:schemeClr val="accent3"/>
                </a:solidFill>
              </a:endParaRPr>
            </a:p>
          </p:txBody>
        </p:sp>
        <p:sp>
          <p:nvSpPr>
            <p:cNvPr id="122" name="矩形 121"/>
            <p:cNvSpPr/>
            <p:nvPr/>
          </p:nvSpPr>
          <p:spPr>
            <a:xfrm>
              <a:off x="311377" y="3188812"/>
              <a:ext cx="5182789" cy="3134274"/>
            </a:xfrm>
            <a:prstGeom prst="rect">
              <a:avLst/>
            </a:prstGeom>
            <a:noFill/>
            <a:ln w="2540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6700286" y="3188812"/>
            <a:ext cx="5186461" cy="3134274"/>
            <a:chOff x="6700286" y="3188812"/>
            <a:chExt cx="5186461" cy="3134274"/>
          </a:xfrm>
        </p:grpSpPr>
        <p:sp>
          <p:nvSpPr>
            <p:cNvPr id="124" name="文本框 123"/>
            <p:cNvSpPr txBox="1"/>
            <p:nvPr/>
          </p:nvSpPr>
          <p:spPr>
            <a:xfrm>
              <a:off x="10050132" y="3303651"/>
              <a:ext cx="18366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4"/>
                  </a:solidFill>
                </a:rPr>
                <a:t>OSPF</a:t>
              </a:r>
              <a:r>
                <a:rPr lang="zh-CN" altLang="en-US" sz="2000" b="1" dirty="0">
                  <a:solidFill>
                    <a:schemeClr val="accent4"/>
                  </a:solidFill>
                </a:rPr>
                <a:t>区域</a:t>
              </a:r>
              <a:r>
                <a:rPr lang="en-US" altLang="zh-CN" sz="2000" b="1" dirty="0">
                  <a:solidFill>
                    <a:schemeClr val="accent4"/>
                  </a:solidFill>
                </a:rPr>
                <a:t>200</a:t>
              </a:r>
              <a:endParaRPr lang="en-US" altLang="zh-CN" sz="2000" b="1" dirty="0">
                <a:solidFill>
                  <a:schemeClr val="accent4"/>
                </a:solidFill>
              </a:endParaRPr>
            </a:p>
            <a:p>
              <a:pPr algn="ctr"/>
              <a:r>
                <a:rPr lang="zh-CN" altLang="en-US" sz="2000" b="1" dirty="0">
                  <a:solidFill>
                    <a:schemeClr val="accent4"/>
                  </a:solidFill>
                </a:rPr>
                <a:t>（</a:t>
              </a:r>
              <a:r>
                <a:rPr lang="en-US" altLang="zh-CN" sz="2000" b="1" dirty="0">
                  <a:solidFill>
                    <a:schemeClr val="accent4"/>
                  </a:solidFill>
                </a:rPr>
                <a:t>area 200</a:t>
              </a:r>
              <a:r>
                <a:rPr lang="zh-CN" altLang="en-US" sz="2000" b="1" dirty="0">
                  <a:solidFill>
                    <a:schemeClr val="accent4"/>
                  </a:solidFill>
                </a:rPr>
                <a:t>）</a:t>
              </a:r>
              <a:endParaRPr lang="zh-CN" alt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125" name="矩形 124"/>
            <p:cNvSpPr/>
            <p:nvPr/>
          </p:nvSpPr>
          <p:spPr>
            <a:xfrm>
              <a:off x="6700286" y="3188812"/>
              <a:ext cx="5182789" cy="3134274"/>
            </a:xfrm>
            <a:prstGeom prst="rect">
              <a:avLst/>
            </a:prstGeom>
            <a:noFill/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84323" y="685800"/>
            <a:ext cx="3614534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6.  </a:t>
            </a:r>
            <a:r>
              <a:rPr lang="zh-CN" altLang="en-US" sz="2400" b="1" dirty="0"/>
              <a:t>查看各路由器的路由表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5" name="20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44" y="1392373"/>
            <a:ext cx="11329481" cy="504652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277273" y="2013751"/>
            <a:ext cx="3455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显示路由表的内容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44750" y="5019472"/>
            <a:ext cx="6251641" cy="505839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796391" y="4878980"/>
            <a:ext cx="5342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通过</a:t>
            </a:r>
            <a:r>
              <a:rPr lang="en-US" altLang="zh-CN" b="1" dirty="0">
                <a:solidFill>
                  <a:srgbClr val="FF0000"/>
                </a:solidFill>
              </a:rPr>
              <a:t>OSPF</a:t>
            </a:r>
            <a:r>
              <a:rPr lang="zh-CN" altLang="en-US" b="1" dirty="0">
                <a:solidFill>
                  <a:srgbClr val="FF0000"/>
                </a:solidFill>
              </a:rPr>
              <a:t>获取到的分别到达网络</a:t>
            </a:r>
            <a:r>
              <a:rPr lang="en-US" altLang="zh-CN" b="1" dirty="0">
                <a:solidFill>
                  <a:srgbClr val="FF0000"/>
                </a:solidFill>
              </a:rPr>
              <a:t>172.19.0.0/30</a:t>
            </a:r>
            <a:r>
              <a:rPr lang="zh-CN" altLang="en-US" b="1" dirty="0">
                <a:solidFill>
                  <a:srgbClr val="FF0000"/>
                </a:solidFill>
              </a:rPr>
              <a:t>、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//  192.168.0.0/24</a:t>
            </a:r>
            <a:r>
              <a:rPr lang="zh-CN" altLang="en-US" b="1" dirty="0">
                <a:solidFill>
                  <a:srgbClr val="FF0000"/>
                </a:solidFill>
              </a:rPr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192.168.1.0/24</a:t>
            </a:r>
            <a:r>
              <a:rPr lang="zh-CN" altLang="en-US" b="1" dirty="0">
                <a:solidFill>
                  <a:srgbClr val="FF0000"/>
                </a:solidFill>
              </a:rPr>
              <a:t>的路由条目，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包括相应的下一跳地址和转发接口。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 animBg="1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84323" y="685800"/>
            <a:ext cx="3614534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6.  </a:t>
            </a:r>
            <a:r>
              <a:rPr lang="zh-CN" altLang="en-US" sz="2400" b="1" dirty="0"/>
              <a:t>查看各路由器的路由表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5" name="20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744" y="1392373"/>
            <a:ext cx="11329481" cy="5046527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7277273" y="2013751"/>
            <a:ext cx="34555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显示路由表的内容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" name="矩形 6"/>
          <p:cNvSpPr/>
          <p:nvPr/>
        </p:nvSpPr>
        <p:spPr>
          <a:xfrm>
            <a:off x="544750" y="5019472"/>
            <a:ext cx="6251641" cy="505839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6796391" y="4878980"/>
            <a:ext cx="534274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通过</a:t>
            </a:r>
            <a:r>
              <a:rPr lang="en-US" altLang="zh-CN" b="1" dirty="0">
                <a:solidFill>
                  <a:srgbClr val="FF0000"/>
                </a:solidFill>
              </a:rPr>
              <a:t>OSPF</a:t>
            </a:r>
            <a:r>
              <a:rPr lang="zh-CN" altLang="en-US" b="1" dirty="0">
                <a:solidFill>
                  <a:srgbClr val="FF0000"/>
                </a:solidFill>
              </a:rPr>
              <a:t>获取到的分别到达网络</a:t>
            </a:r>
            <a:r>
              <a:rPr lang="en-US" altLang="zh-CN" b="1" dirty="0">
                <a:solidFill>
                  <a:srgbClr val="FF0000"/>
                </a:solidFill>
              </a:rPr>
              <a:t>172.19.0.0/30</a:t>
            </a:r>
            <a:r>
              <a:rPr lang="zh-CN" altLang="en-US" b="1" dirty="0">
                <a:solidFill>
                  <a:srgbClr val="FF0000"/>
                </a:solidFill>
              </a:rPr>
              <a:t>、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//  192.168.0.0/24</a:t>
            </a:r>
            <a:r>
              <a:rPr lang="zh-CN" altLang="en-US" b="1" dirty="0">
                <a:solidFill>
                  <a:srgbClr val="FF0000"/>
                </a:solidFill>
              </a:rPr>
              <a:t>、</a:t>
            </a:r>
            <a:r>
              <a:rPr lang="en-US" altLang="zh-CN" b="1" dirty="0">
                <a:solidFill>
                  <a:srgbClr val="FF0000"/>
                </a:solidFill>
              </a:rPr>
              <a:t>192.168.1.0/24</a:t>
            </a:r>
            <a:r>
              <a:rPr lang="zh-CN" altLang="en-US" b="1" dirty="0">
                <a:solidFill>
                  <a:srgbClr val="FF0000"/>
                </a:solidFill>
              </a:rPr>
              <a:t>的路由条目，</a:t>
            </a:r>
            <a:endParaRPr lang="en-US" altLang="zh-CN" b="1" dirty="0">
              <a:solidFill>
                <a:srgbClr val="FF0000"/>
              </a:solidFill>
            </a:endParaRPr>
          </a:p>
          <a:p>
            <a:r>
              <a:rPr lang="en-US" altLang="zh-CN" b="1" dirty="0">
                <a:solidFill>
                  <a:srgbClr val="FF0000"/>
                </a:solidFill>
              </a:rPr>
              <a:t>//  </a:t>
            </a:r>
            <a:r>
              <a:rPr lang="zh-CN" altLang="en-US" b="1" dirty="0">
                <a:solidFill>
                  <a:srgbClr val="FF0000"/>
                </a:solidFill>
              </a:rPr>
              <a:t>包括相应的下一跳地址和转发接口。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4" name="矩形 3"/>
          <p:cNvSpPr/>
          <p:nvPr/>
        </p:nvSpPr>
        <p:spPr>
          <a:xfrm>
            <a:off x="1758625" y="5904103"/>
            <a:ext cx="8675901" cy="50237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zh-CN" altLang="en-US" sz="2000" b="1" dirty="0"/>
              <a:t>请参照此方法分别查看</a:t>
            </a:r>
            <a:r>
              <a:rPr lang="en-US" altLang="zh-CN" sz="2000" b="1" dirty="0"/>
              <a:t>Router1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Router2</a:t>
            </a:r>
            <a:r>
              <a:rPr lang="zh-CN" altLang="en-US" sz="2000" b="1" dirty="0"/>
              <a:t>、</a:t>
            </a:r>
            <a:r>
              <a:rPr lang="en-US" altLang="zh-CN" sz="2000" b="1" dirty="0"/>
              <a:t>Router3</a:t>
            </a:r>
            <a:r>
              <a:rPr lang="zh-CN" altLang="en-US" sz="2000" b="1" dirty="0"/>
              <a:t>的路由表的内容。</a:t>
            </a:r>
            <a:endParaRPr lang="zh-CN" altLang="en-US" sz="20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84323" y="685800"/>
            <a:ext cx="3614534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7.  </a:t>
            </a:r>
            <a:r>
              <a:rPr lang="zh-CN" altLang="en-US" sz="2400" b="1" dirty="0"/>
              <a:t>选择要监视的网络协议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8141408" y="5261622"/>
            <a:ext cx="3110656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010126" y="5261622"/>
            <a:ext cx="3110656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4668822" y="2748015"/>
            <a:ext cx="3014769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4355979" y="2904294"/>
            <a:ext cx="0" cy="2224442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7885393" y="2904294"/>
            <a:ext cx="0" cy="2224442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404704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48" y="5052372"/>
            <a:ext cx="539132" cy="457973"/>
          </a:xfrm>
          <a:prstGeom prst="rect">
            <a:avLst/>
          </a:prstGeom>
        </p:spPr>
      </p:pic>
      <p:pic>
        <p:nvPicPr>
          <p:cNvPr id="69" name="20 68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5090553"/>
            <a:ext cx="530013" cy="381609"/>
          </a:xfrm>
          <a:prstGeom prst="rect">
            <a:avLst/>
          </a:prstGeom>
        </p:spPr>
      </p:pic>
      <p:sp>
        <p:nvSpPr>
          <p:cNvPr id="70" name="文本框 69"/>
          <p:cNvSpPr txBox="1"/>
          <p:nvPr/>
        </p:nvSpPr>
        <p:spPr>
          <a:xfrm>
            <a:off x="4482400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pic>
        <p:nvPicPr>
          <p:cNvPr id="71" name="20 70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5128736"/>
            <a:ext cx="530013" cy="381609"/>
          </a:xfrm>
          <a:prstGeom prst="rect">
            <a:avLst/>
          </a:prstGeom>
        </p:spPr>
      </p:pic>
      <p:pic>
        <p:nvPicPr>
          <p:cNvPr id="72" name="20 71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786" y="5052372"/>
            <a:ext cx="539132" cy="457973"/>
          </a:xfrm>
          <a:prstGeom prst="rect">
            <a:avLst/>
          </a:prstGeom>
        </p:spPr>
      </p:pic>
      <p:pic>
        <p:nvPicPr>
          <p:cNvPr id="73" name="20 72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2557225"/>
            <a:ext cx="530013" cy="381609"/>
          </a:xfrm>
          <a:prstGeom prst="rect">
            <a:avLst/>
          </a:prstGeom>
        </p:spPr>
      </p:pic>
      <p:pic>
        <p:nvPicPr>
          <p:cNvPr id="74" name="20 7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2557225"/>
            <a:ext cx="530013" cy="381609"/>
          </a:xfrm>
          <a:prstGeom prst="rect">
            <a:avLst/>
          </a:prstGeom>
        </p:spPr>
      </p:pic>
      <p:sp>
        <p:nvSpPr>
          <p:cNvPr id="75" name="文本框 74"/>
          <p:cNvSpPr txBox="1"/>
          <p:nvPr/>
        </p:nvSpPr>
        <p:spPr>
          <a:xfrm>
            <a:off x="3222002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8007838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77" name="文本框 76"/>
          <p:cNvSpPr txBox="1"/>
          <p:nvPr/>
        </p:nvSpPr>
        <p:spPr>
          <a:xfrm>
            <a:off x="6791069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Router3</a:t>
            </a:r>
            <a:endParaRPr lang="zh-CN" altLang="en-US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11029042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8141408" y="5281356"/>
            <a:ext cx="856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3406809" y="528135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4577666" y="232708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6896627" y="232708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86" name="文本框 85"/>
          <p:cNvSpPr txBox="1"/>
          <p:nvPr/>
        </p:nvSpPr>
        <p:spPr>
          <a:xfrm>
            <a:off x="3403517" y="4585911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87" name="文本框 86"/>
          <p:cNvSpPr txBox="1"/>
          <p:nvPr/>
        </p:nvSpPr>
        <p:spPr>
          <a:xfrm>
            <a:off x="3403517" y="3154479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8083862" y="4585911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89" name="文本框 88"/>
          <p:cNvSpPr txBox="1"/>
          <p:nvPr/>
        </p:nvSpPr>
        <p:spPr>
          <a:xfrm>
            <a:off x="8083862" y="3154479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90" name="文本框 89"/>
          <p:cNvSpPr txBox="1"/>
          <p:nvPr/>
        </p:nvSpPr>
        <p:spPr>
          <a:xfrm>
            <a:off x="308925" y="5641911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91" name="文本框 90"/>
          <p:cNvSpPr txBox="1"/>
          <p:nvPr/>
        </p:nvSpPr>
        <p:spPr>
          <a:xfrm>
            <a:off x="2572032" y="5641911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192.168.0.254/24</a:t>
            </a:r>
            <a:endParaRPr lang="zh-CN" altLang="en-US" b="1" dirty="0"/>
          </a:p>
        </p:txBody>
      </p:sp>
      <p:sp>
        <p:nvSpPr>
          <p:cNvPr id="92" name="文本框 91"/>
          <p:cNvSpPr txBox="1"/>
          <p:nvPr/>
        </p:nvSpPr>
        <p:spPr>
          <a:xfrm>
            <a:off x="4577666" y="2087878"/>
            <a:ext cx="124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10.0.0.1/30</a:t>
            </a:r>
            <a:endParaRPr lang="zh-CN" altLang="en-US" b="1" dirty="0"/>
          </a:p>
        </p:txBody>
      </p:sp>
      <p:sp>
        <p:nvSpPr>
          <p:cNvPr id="93" name="文本框 92"/>
          <p:cNvSpPr txBox="1"/>
          <p:nvPr/>
        </p:nvSpPr>
        <p:spPr>
          <a:xfrm>
            <a:off x="6431183" y="2087878"/>
            <a:ext cx="124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10.0.0.2/30</a:t>
            </a:r>
            <a:endParaRPr lang="zh-CN" altLang="en-US" b="1" dirty="0"/>
          </a:p>
        </p:txBody>
      </p:sp>
      <p:sp>
        <p:nvSpPr>
          <p:cNvPr id="94" name="文本框 93"/>
          <p:cNvSpPr txBox="1"/>
          <p:nvPr/>
        </p:nvSpPr>
        <p:spPr>
          <a:xfrm>
            <a:off x="2566222" y="4331415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172.16.0.2/30</a:t>
            </a:r>
            <a:endParaRPr lang="zh-CN" altLang="en-US" b="1" dirty="0"/>
          </a:p>
        </p:txBody>
      </p:sp>
      <p:sp>
        <p:nvSpPr>
          <p:cNvPr id="95" name="文本框 94"/>
          <p:cNvSpPr txBox="1"/>
          <p:nvPr/>
        </p:nvSpPr>
        <p:spPr>
          <a:xfrm>
            <a:off x="2554836" y="3424776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172.16.0.1/30</a:t>
            </a:r>
            <a:endParaRPr lang="zh-CN" altLang="en-US" b="1" dirty="0"/>
          </a:p>
        </p:txBody>
      </p:sp>
      <p:sp>
        <p:nvSpPr>
          <p:cNvPr id="96" name="文本框 95"/>
          <p:cNvSpPr txBox="1"/>
          <p:nvPr/>
        </p:nvSpPr>
        <p:spPr>
          <a:xfrm>
            <a:off x="8083862" y="4331415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172.19.0.2/30</a:t>
            </a:r>
            <a:endParaRPr lang="zh-CN" altLang="en-US" b="1" dirty="0"/>
          </a:p>
        </p:txBody>
      </p:sp>
      <p:sp>
        <p:nvSpPr>
          <p:cNvPr id="97" name="文本框 96"/>
          <p:cNvSpPr txBox="1"/>
          <p:nvPr/>
        </p:nvSpPr>
        <p:spPr>
          <a:xfrm>
            <a:off x="8083862" y="3424776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172.19.0.1/30</a:t>
            </a:r>
            <a:endParaRPr lang="zh-CN" altLang="en-US" b="1" dirty="0"/>
          </a:p>
        </p:txBody>
      </p:sp>
      <p:sp>
        <p:nvSpPr>
          <p:cNvPr id="98" name="文本框 97"/>
          <p:cNvSpPr txBox="1"/>
          <p:nvPr/>
        </p:nvSpPr>
        <p:spPr>
          <a:xfrm>
            <a:off x="8141408" y="5641911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192.168.1.254/24</a:t>
            </a:r>
            <a:endParaRPr lang="zh-CN" altLang="en-US" b="1" dirty="0"/>
          </a:p>
        </p:txBody>
      </p:sp>
      <p:sp>
        <p:nvSpPr>
          <p:cNvPr id="99" name="文本框 98"/>
          <p:cNvSpPr txBox="1"/>
          <p:nvPr/>
        </p:nvSpPr>
        <p:spPr>
          <a:xfrm>
            <a:off x="10428049" y="5641911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192.168.1.1/24</a:t>
            </a:r>
            <a:endParaRPr lang="zh-CN" altLang="en-US" b="1" dirty="0"/>
          </a:p>
        </p:txBody>
      </p:sp>
      <p:sp>
        <p:nvSpPr>
          <p:cNvPr id="100" name="文本框 99"/>
          <p:cNvSpPr txBox="1"/>
          <p:nvPr/>
        </p:nvSpPr>
        <p:spPr>
          <a:xfrm>
            <a:off x="308925" y="5953754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192.168.0.254</a:t>
            </a:r>
            <a:endParaRPr lang="zh-CN" altLang="en-US" b="1" dirty="0"/>
          </a:p>
        </p:txBody>
      </p:sp>
      <p:sp>
        <p:nvSpPr>
          <p:cNvPr id="101" name="文本框 100"/>
          <p:cNvSpPr txBox="1"/>
          <p:nvPr/>
        </p:nvSpPr>
        <p:spPr>
          <a:xfrm>
            <a:off x="10428049" y="5953754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192.168.1.254</a:t>
            </a:r>
            <a:endParaRPr lang="zh-CN" altLang="en-US" b="1" dirty="0"/>
          </a:p>
        </p:txBody>
      </p:sp>
      <p:sp>
        <p:nvSpPr>
          <p:cNvPr id="102" name="等腰三角形 101"/>
          <p:cNvSpPr/>
          <p:nvPr/>
        </p:nvSpPr>
        <p:spPr>
          <a:xfrm>
            <a:off x="4299256" y="328519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等腰三角形 102"/>
          <p:cNvSpPr/>
          <p:nvPr/>
        </p:nvSpPr>
        <p:spPr>
          <a:xfrm>
            <a:off x="4305741" y="470074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等腰三角形 103"/>
          <p:cNvSpPr/>
          <p:nvPr/>
        </p:nvSpPr>
        <p:spPr>
          <a:xfrm>
            <a:off x="7827528" y="328519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等腰三角形 104"/>
          <p:cNvSpPr/>
          <p:nvPr/>
        </p:nvSpPr>
        <p:spPr>
          <a:xfrm>
            <a:off x="7834013" y="470074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等腰三角形 105"/>
          <p:cNvSpPr/>
          <p:nvPr/>
        </p:nvSpPr>
        <p:spPr>
          <a:xfrm>
            <a:off x="4935973" y="269757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等腰三角形 106"/>
          <p:cNvSpPr/>
          <p:nvPr/>
        </p:nvSpPr>
        <p:spPr>
          <a:xfrm>
            <a:off x="7272403" y="269757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等腰三角形 107"/>
          <p:cNvSpPr/>
          <p:nvPr/>
        </p:nvSpPr>
        <p:spPr>
          <a:xfrm>
            <a:off x="1394165" y="520429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等腰三角形 108"/>
          <p:cNvSpPr/>
          <p:nvPr/>
        </p:nvSpPr>
        <p:spPr>
          <a:xfrm>
            <a:off x="3730595" y="520429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等腰三角形 109"/>
          <p:cNvSpPr/>
          <p:nvPr/>
        </p:nvSpPr>
        <p:spPr>
          <a:xfrm>
            <a:off x="8485013" y="521341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等腰三角形 110"/>
          <p:cNvSpPr/>
          <p:nvPr/>
        </p:nvSpPr>
        <p:spPr>
          <a:xfrm>
            <a:off x="10821443" y="521341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文本框 111"/>
          <p:cNvSpPr txBox="1"/>
          <p:nvPr/>
        </p:nvSpPr>
        <p:spPr>
          <a:xfrm>
            <a:off x="1540676" y="4894330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网络</a:t>
            </a:r>
            <a:r>
              <a:rPr lang="en-US" altLang="zh-CN" b="1" dirty="0"/>
              <a:t>192.168.0.0/24</a:t>
            </a:r>
            <a:endParaRPr lang="zh-CN" altLang="en-US" b="1" dirty="0"/>
          </a:p>
        </p:txBody>
      </p:sp>
      <p:sp>
        <p:nvSpPr>
          <p:cNvPr id="113" name="文本框 112"/>
          <p:cNvSpPr txBox="1"/>
          <p:nvPr/>
        </p:nvSpPr>
        <p:spPr>
          <a:xfrm>
            <a:off x="8671958" y="4894330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网络</a:t>
            </a:r>
            <a:r>
              <a:rPr lang="en-US" altLang="zh-CN" b="1" dirty="0"/>
              <a:t>192.168.1.0/24</a:t>
            </a:r>
            <a:endParaRPr lang="zh-CN" altLang="en-US" b="1" dirty="0"/>
          </a:p>
        </p:txBody>
      </p:sp>
      <p:sp>
        <p:nvSpPr>
          <p:cNvPr id="114" name="文本框 113"/>
          <p:cNvSpPr txBox="1"/>
          <p:nvPr/>
        </p:nvSpPr>
        <p:spPr>
          <a:xfrm>
            <a:off x="5182823" y="2719628"/>
            <a:ext cx="1826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网络</a:t>
            </a:r>
            <a:r>
              <a:rPr lang="en-US" altLang="zh-CN" b="1" dirty="0"/>
              <a:t>10.0.0.0/30</a:t>
            </a:r>
            <a:endParaRPr lang="zh-CN" altLang="en-US" b="1" dirty="0"/>
          </a:p>
        </p:txBody>
      </p:sp>
      <p:sp>
        <p:nvSpPr>
          <p:cNvPr id="115" name="文本框 114"/>
          <p:cNvSpPr txBox="1"/>
          <p:nvPr/>
        </p:nvSpPr>
        <p:spPr>
          <a:xfrm>
            <a:off x="2129179" y="3878095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/>
              <a:t>网络</a:t>
            </a:r>
            <a:r>
              <a:rPr lang="en-US" altLang="zh-CN" b="1" dirty="0"/>
              <a:t>172.16.0.0/30</a:t>
            </a:r>
            <a:endParaRPr lang="zh-CN" altLang="en-US" b="1" dirty="0"/>
          </a:p>
        </p:txBody>
      </p:sp>
      <p:sp>
        <p:nvSpPr>
          <p:cNvPr id="116" name="文本框 115"/>
          <p:cNvSpPr txBox="1"/>
          <p:nvPr/>
        </p:nvSpPr>
        <p:spPr>
          <a:xfrm>
            <a:off x="8083862" y="3878095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网络</a:t>
            </a:r>
            <a:r>
              <a:rPr lang="en-US" altLang="zh-CN" b="1" dirty="0"/>
              <a:t>172.19.0.0/30</a:t>
            </a:r>
            <a:endParaRPr lang="zh-CN" altLang="en-US" b="1" dirty="0"/>
          </a:p>
        </p:txBody>
      </p:sp>
      <p:grpSp>
        <p:nvGrpSpPr>
          <p:cNvPr id="117" name="组合 116"/>
          <p:cNvGrpSpPr/>
          <p:nvPr/>
        </p:nvGrpSpPr>
        <p:grpSpPr>
          <a:xfrm>
            <a:off x="4620986" y="1518195"/>
            <a:ext cx="3014769" cy="1535070"/>
            <a:chOff x="4620986" y="1518195"/>
            <a:chExt cx="3014769" cy="1535070"/>
          </a:xfrm>
        </p:grpSpPr>
        <p:sp>
          <p:nvSpPr>
            <p:cNvPr id="118" name="矩形 117"/>
            <p:cNvSpPr/>
            <p:nvPr/>
          </p:nvSpPr>
          <p:spPr>
            <a:xfrm>
              <a:off x="4620986" y="1537929"/>
              <a:ext cx="3014769" cy="1515336"/>
            </a:xfrm>
            <a:prstGeom prst="rect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文本框 118"/>
            <p:cNvSpPr txBox="1"/>
            <p:nvPr/>
          </p:nvSpPr>
          <p:spPr>
            <a:xfrm>
              <a:off x="5054066" y="1518195"/>
              <a:ext cx="208899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rgbClr val="FF0000"/>
                  </a:solidFill>
                </a:rPr>
                <a:t>OSPF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主干区域</a:t>
              </a:r>
              <a:endParaRPr lang="en-US" altLang="zh-CN" sz="2000" b="1" dirty="0">
                <a:solidFill>
                  <a:srgbClr val="FF0000"/>
                </a:solidFill>
              </a:endParaRPr>
            </a:p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（</a:t>
              </a:r>
              <a:r>
                <a:rPr lang="en-US" altLang="zh-CN" sz="2000" b="1" dirty="0">
                  <a:solidFill>
                    <a:srgbClr val="FF0000"/>
                  </a:solidFill>
                </a:rPr>
                <a:t>area 0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）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304799" y="3188812"/>
            <a:ext cx="5189367" cy="3134274"/>
            <a:chOff x="304799" y="3188812"/>
            <a:chExt cx="5189367" cy="3134274"/>
          </a:xfrm>
        </p:grpSpPr>
        <p:sp>
          <p:nvSpPr>
            <p:cNvPr id="121" name="文本框 120"/>
            <p:cNvSpPr txBox="1"/>
            <p:nvPr/>
          </p:nvSpPr>
          <p:spPr>
            <a:xfrm>
              <a:off x="304799" y="3303651"/>
              <a:ext cx="18366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3"/>
                  </a:solidFill>
                </a:rPr>
                <a:t>OSPF</a:t>
              </a:r>
              <a:r>
                <a:rPr lang="zh-CN" altLang="en-US" sz="2000" b="1" dirty="0">
                  <a:solidFill>
                    <a:schemeClr val="accent3"/>
                  </a:solidFill>
                </a:rPr>
                <a:t>区域</a:t>
              </a:r>
              <a:r>
                <a:rPr lang="en-US" altLang="zh-CN" sz="2000" b="1" dirty="0">
                  <a:solidFill>
                    <a:schemeClr val="accent3"/>
                  </a:solidFill>
                </a:rPr>
                <a:t>100</a:t>
              </a:r>
              <a:endParaRPr lang="en-US" altLang="zh-CN" sz="2000" b="1" dirty="0">
                <a:solidFill>
                  <a:schemeClr val="accent3"/>
                </a:solidFill>
              </a:endParaRPr>
            </a:p>
            <a:p>
              <a:pPr algn="ctr"/>
              <a:r>
                <a:rPr lang="zh-CN" altLang="en-US" sz="2000" b="1" dirty="0">
                  <a:solidFill>
                    <a:schemeClr val="accent3"/>
                  </a:solidFill>
                </a:rPr>
                <a:t>（</a:t>
              </a:r>
              <a:r>
                <a:rPr lang="en-US" altLang="zh-CN" sz="2000" b="1" dirty="0">
                  <a:solidFill>
                    <a:schemeClr val="accent3"/>
                  </a:solidFill>
                </a:rPr>
                <a:t>area 100</a:t>
              </a:r>
              <a:r>
                <a:rPr lang="zh-CN" altLang="en-US" sz="2000" b="1" dirty="0">
                  <a:solidFill>
                    <a:schemeClr val="accent3"/>
                  </a:solidFill>
                </a:rPr>
                <a:t>）</a:t>
              </a:r>
              <a:endParaRPr lang="zh-CN" altLang="en-US" sz="2000" b="1" dirty="0">
                <a:solidFill>
                  <a:schemeClr val="accent3"/>
                </a:solidFill>
              </a:endParaRPr>
            </a:p>
          </p:txBody>
        </p:sp>
        <p:sp>
          <p:nvSpPr>
            <p:cNvPr id="122" name="矩形 121"/>
            <p:cNvSpPr/>
            <p:nvPr/>
          </p:nvSpPr>
          <p:spPr>
            <a:xfrm>
              <a:off x="311377" y="3188812"/>
              <a:ext cx="5182789" cy="3134274"/>
            </a:xfrm>
            <a:prstGeom prst="rect">
              <a:avLst/>
            </a:prstGeom>
            <a:noFill/>
            <a:ln w="2540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6700286" y="3188812"/>
            <a:ext cx="5186461" cy="3134274"/>
            <a:chOff x="6700286" y="3188812"/>
            <a:chExt cx="5186461" cy="3134274"/>
          </a:xfrm>
        </p:grpSpPr>
        <p:sp>
          <p:nvSpPr>
            <p:cNvPr id="124" name="文本框 123"/>
            <p:cNvSpPr txBox="1"/>
            <p:nvPr/>
          </p:nvSpPr>
          <p:spPr>
            <a:xfrm>
              <a:off x="10050132" y="3303651"/>
              <a:ext cx="18366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4"/>
                  </a:solidFill>
                </a:rPr>
                <a:t>OSPF</a:t>
              </a:r>
              <a:r>
                <a:rPr lang="zh-CN" altLang="en-US" sz="2000" b="1" dirty="0">
                  <a:solidFill>
                    <a:schemeClr val="accent4"/>
                  </a:solidFill>
                </a:rPr>
                <a:t>区域</a:t>
              </a:r>
              <a:r>
                <a:rPr lang="en-US" altLang="zh-CN" sz="2000" b="1" dirty="0">
                  <a:solidFill>
                    <a:schemeClr val="accent4"/>
                  </a:solidFill>
                </a:rPr>
                <a:t>200</a:t>
              </a:r>
              <a:endParaRPr lang="en-US" altLang="zh-CN" sz="2000" b="1" dirty="0">
                <a:solidFill>
                  <a:schemeClr val="accent4"/>
                </a:solidFill>
              </a:endParaRPr>
            </a:p>
            <a:p>
              <a:pPr algn="ctr"/>
              <a:r>
                <a:rPr lang="zh-CN" altLang="en-US" sz="2000" b="1" dirty="0">
                  <a:solidFill>
                    <a:schemeClr val="accent4"/>
                  </a:solidFill>
                </a:rPr>
                <a:t>（</a:t>
              </a:r>
              <a:r>
                <a:rPr lang="en-US" altLang="zh-CN" sz="2000" b="1" dirty="0">
                  <a:solidFill>
                    <a:schemeClr val="accent4"/>
                  </a:solidFill>
                </a:rPr>
                <a:t>area 200</a:t>
              </a:r>
              <a:r>
                <a:rPr lang="zh-CN" altLang="en-US" sz="2000" b="1" dirty="0">
                  <a:solidFill>
                    <a:schemeClr val="accent4"/>
                  </a:solidFill>
                </a:rPr>
                <a:t>）</a:t>
              </a:r>
              <a:endParaRPr lang="zh-CN" alt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125" name="矩形 124"/>
            <p:cNvSpPr/>
            <p:nvPr/>
          </p:nvSpPr>
          <p:spPr>
            <a:xfrm>
              <a:off x="6700286" y="3188812"/>
              <a:ext cx="5182789" cy="3134274"/>
            </a:xfrm>
            <a:prstGeom prst="rect">
              <a:avLst/>
            </a:prstGeom>
            <a:noFill/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284323" y="685800"/>
            <a:ext cx="3614534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7.  </a:t>
            </a:r>
            <a:r>
              <a:rPr lang="zh-CN" altLang="en-US" sz="2400" b="1" dirty="0"/>
              <a:t>选择要监视的网络协议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4" name="20 3" descr="20包含 表格&#10;&#10;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7407" y="1181252"/>
            <a:ext cx="2803411" cy="4495495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096" y="1374844"/>
            <a:ext cx="3043465" cy="4896010"/>
          </a:xfrm>
          <a:prstGeom prst="rect">
            <a:avLst/>
          </a:prstGeom>
        </p:spPr>
      </p:pic>
      <p:grpSp>
        <p:nvGrpSpPr>
          <p:cNvPr id="6" name="组合 5"/>
          <p:cNvGrpSpPr/>
          <p:nvPr/>
        </p:nvGrpSpPr>
        <p:grpSpPr>
          <a:xfrm>
            <a:off x="3456561" y="5918684"/>
            <a:ext cx="3843075" cy="369332"/>
            <a:chOff x="3456561" y="5918684"/>
            <a:chExt cx="3843075" cy="369332"/>
          </a:xfrm>
        </p:grpSpPr>
        <p:cxnSp>
          <p:nvCxnSpPr>
            <p:cNvPr id="7" name="直接箭头连接符 6"/>
            <p:cNvCxnSpPr/>
            <p:nvPr/>
          </p:nvCxnSpPr>
          <p:spPr>
            <a:xfrm flipH="1">
              <a:off x="3456561" y="6103350"/>
              <a:ext cx="551234" cy="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文本框 7"/>
            <p:cNvSpPr txBox="1"/>
            <p:nvPr/>
          </p:nvSpPr>
          <p:spPr>
            <a:xfrm>
              <a:off x="4007795" y="5918684"/>
              <a:ext cx="329184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❶  切换到“模拟”工作模式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9" name="组合 8"/>
          <p:cNvGrpSpPr/>
          <p:nvPr/>
        </p:nvGrpSpPr>
        <p:grpSpPr>
          <a:xfrm>
            <a:off x="3456561" y="5641685"/>
            <a:ext cx="4507148" cy="369332"/>
            <a:chOff x="3456561" y="5641685"/>
            <a:chExt cx="4507148" cy="369332"/>
          </a:xfrm>
        </p:grpSpPr>
        <p:cxnSp>
          <p:nvCxnSpPr>
            <p:cNvPr id="10" name="直接箭头连接符 9"/>
            <p:cNvCxnSpPr/>
            <p:nvPr/>
          </p:nvCxnSpPr>
          <p:spPr>
            <a:xfrm flipH="1">
              <a:off x="3456561" y="5826351"/>
              <a:ext cx="551234" cy="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本框 10"/>
            <p:cNvSpPr txBox="1"/>
            <p:nvPr/>
          </p:nvSpPr>
          <p:spPr>
            <a:xfrm>
              <a:off x="4007795" y="5641685"/>
              <a:ext cx="39559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❷  单击该按钮，清空“事件列表”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293707" y="5236780"/>
            <a:ext cx="7308426" cy="526822"/>
            <a:chOff x="1293707" y="5236780"/>
            <a:chExt cx="7308426" cy="526822"/>
          </a:xfrm>
        </p:grpSpPr>
        <p:sp>
          <p:nvSpPr>
            <p:cNvPr id="13" name="文本框 12"/>
            <p:cNvSpPr txBox="1"/>
            <p:nvPr/>
          </p:nvSpPr>
          <p:spPr>
            <a:xfrm>
              <a:off x="4007795" y="5236780"/>
              <a:ext cx="45943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❸  单击该按钮，打开“协议选择”对话框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  <p:cxnSp>
          <p:nvCxnSpPr>
            <p:cNvPr id="14" name="连接符: 肘形 13"/>
            <p:cNvCxnSpPr>
              <a:stCxn id="13" idx="1"/>
            </p:cNvCxnSpPr>
            <p:nvPr/>
          </p:nvCxnSpPr>
          <p:spPr>
            <a:xfrm rot="10800000" flipV="1">
              <a:off x="1293707" y="5421445"/>
              <a:ext cx="2714088" cy="342157"/>
            </a:xfrm>
            <a:prstGeom prst="bentConnector2">
              <a:avLst/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组合 14"/>
          <p:cNvGrpSpPr/>
          <p:nvPr/>
        </p:nvGrpSpPr>
        <p:grpSpPr>
          <a:xfrm>
            <a:off x="5942389" y="1367020"/>
            <a:ext cx="2955761" cy="369332"/>
            <a:chOff x="5964720" y="1367020"/>
            <a:chExt cx="2955761" cy="369332"/>
          </a:xfrm>
        </p:grpSpPr>
        <p:cxnSp>
          <p:nvCxnSpPr>
            <p:cNvPr id="16" name="直接箭头连接符 15"/>
            <p:cNvCxnSpPr/>
            <p:nvPr/>
          </p:nvCxnSpPr>
          <p:spPr>
            <a:xfrm>
              <a:off x="8494714" y="1551686"/>
              <a:ext cx="425767" cy="0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/>
            <p:cNvSpPr txBox="1"/>
            <p:nvPr/>
          </p:nvSpPr>
          <p:spPr>
            <a:xfrm>
              <a:off x="5964720" y="1367020"/>
              <a:ext cx="25077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❹  选择“</a:t>
              </a:r>
              <a:r>
                <a:rPr lang="en-US" altLang="zh-CN" b="1" dirty="0">
                  <a:solidFill>
                    <a:schemeClr val="accent1">
                      <a:lumMod val="75000"/>
                    </a:schemeClr>
                  </a:solidFill>
                </a:rPr>
                <a:t>IPv4</a:t>
              </a:r>
              <a:r>
                <a:rPr lang="zh-CN" altLang="en-US" b="1" dirty="0">
                  <a:solidFill>
                    <a:schemeClr val="accent1">
                      <a:lumMod val="75000"/>
                    </a:schemeClr>
                  </a:solidFill>
                </a:rPr>
                <a:t>”选项卡</a:t>
              </a:r>
              <a:endParaRPr lang="zh-CN" altLang="en-US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5933440" y="2133999"/>
            <a:ext cx="4228721" cy="646331"/>
            <a:chOff x="5933440" y="2133999"/>
            <a:chExt cx="4228721" cy="646331"/>
          </a:xfrm>
        </p:grpSpPr>
        <p:grpSp>
          <p:nvGrpSpPr>
            <p:cNvPr id="19" name="组合 18"/>
            <p:cNvGrpSpPr/>
            <p:nvPr/>
          </p:nvGrpSpPr>
          <p:grpSpPr>
            <a:xfrm>
              <a:off x="5933440" y="2133999"/>
              <a:ext cx="2964710" cy="646331"/>
              <a:chOff x="5955771" y="1386475"/>
              <a:chExt cx="2964710" cy="646331"/>
            </a:xfrm>
          </p:grpSpPr>
          <p:cxnSp>
            <p:nvCxnSpPr>
              <p:cNvPr id="21" name="直接箭头连接符 20"/>
              <p:cNvCxnSpPr/>
              <p:nvPr/>
            </p:nvCxnSpPr>
            <p:spPr>
              <a:xfrm>
                <a:off x="8494714" y="1551686"/>
                <a:ext cx="425767" cy="0"/>
              </a:xfrm>
              <a:prstGeom prst="straightConnector1">
                <a:avLst/>
              </a:prstGeom>
              <a:ln w="25400">
                <a:solidFill>
                  <a:schemeClr val="accent1">
                    <a:lumMod val="75000"/>
                  </a:schemeClr>
                </a:solidFill>
                <a:tailEnd type="triangle" w="med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文本框 21"/>
              <p:cNvSpPr txBox="1"/>
              <p:nvPr/>
            </p:nvSpPr>
            <p:spPr>
              <a:xfrm>
                <a:off x="5955771" y="1386475"/>
                <a:ext cx="2964710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zh-CN" alt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❺  选择监视</a:t>
                </a:r>
                <a:r>
                  <a:rPr lang="en-US" altLang="zh-CN" b="1" dirty="0">
                    <a:solidFill>
                      <a:schemeClr val="accent1">
                        <a:lumMod val="75000"/>
                      </a:schemeClr>
                    </a:solidFill>
                  </a:rPr>
                  <a:t>ICMP</a:t>
                </a:r>
                <a:r>
                  <a:rPr lang="zh-CN" alt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协议</a:t>
                </a:r>
                <a:endParaRPr lang="en-US" altLang="zh-CN" b="1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r>
                  <a:rPr lang="en-US" altLang="zh-CN" b="1" dirty="0">
                    <a:solidFill>
                      <a:schemeClr val="accent1">
                        <a:lumMod val="75000"/>
                      </a:schemeClr>
                    </a:solidFill>
                  </a:rPr>
                  <a:t>      </a:t>
                </a:r>
                <a:r>
                  <a:rPr lang="zh-CN" alt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和</a:t>
                </a:r>
                <a:r>
                  <a:rPr lang="en-US" altLang="zh-CN" b="1" dirty="0">
                    <a:solidFill>
                      <a:schemeClr val="accent1">
                        <a:lumMod val="75000"/>
                      </a:schemeClr>
                    </a:solidFill>
                  </a:rPr>
                  <a:t>OSPF</a:t>
                </a:r>
                <a:r>
                  <a:rPr lang="zh-CN" altLang="en-US" b="1" dirty="0">
                    <a:solidFill>
                      <a:schemeClr val="accent1">
                        <a:lumMod val="75000"/>
                      </a:schemeClr>
                    </a:solidFill>
                  </a:rPr>
                  <a:t>协议的相关事件</a:t>
                </a:r>
                <a:endParaRPr lang="zh-CN" altLang="en-US" b="1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p:grpSp>
        <p:cxnSp>
          <p:nvCxnSpPr>
            <p:cNvPr id="20" name="连接符: 肘形 19"/>
            <p:cNvCxnSpPr/>
            <p:nvPr/>
          </p:nvCxnSpPr>
          <p:spPr>
            <a:xfrm rot="5400000" flipH="1" flipV="1">
              <a:off x="8407534" y="1014458"/>
              <a:ext cx="251138" cy="3258117"/>
            </a:xfrm>
            <a:prstGeom prst="bentConnector3">
              <a:avLst>
                <a:gd name="adj1" fmla="val -91026"/>
              </a:avLst>
            </a:prstGeom>
            <a:ln w="25400"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92878" y="685800"/>
            <a:ext cx="2797413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8.  </a:t>
            </a:r>
            <a:r>
              <a:rPr lang="zh-CN" altLang="en-US" sz="2400" b="1" dirty="0"/>
              <a:t>网络连通性测试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8141408" y="5261622"/>
            <a:ext cx="3110656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010126" y="5261622"/>
            <a:ext cx="3110656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4668822" y="2748015"/>
            <a:ext cx="3014769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4355979" y="2904294"/>
            <a:ext cx="0" cy="2224442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7885393" y="2904294"/>
            <a:ext cx="0" cy="2224442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404704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48" y="5052372"/>
            <a:ext cx="539132" cy="457973"/>
          </a:xfrm>
          <a:prstGeom prst="rect">
            <a:avLst/>
          </a:prstGeom>
        </p:spPr>
      </p:pic>
      <p:pic>
        <p:nvPicPr>
          <p:cNvPr id="69" name="20 68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5090553"/>
            <a:ext cx="530013" cy="381609"/>
          </a:xfrm>
          <a:prstGeom prst="rect">
            <a:avLst/>
          </a:prstGeom>
        </p:spPr>
      </p:pic>
      <p:sp>
        <p:nvSpPr>
          <p:cNvPr id="70" name="文本框 69"/>
          <p:cNvSpPr txBox="1"/>
          <p:nvPr/>
        </p:nvSpPr>
        <p:spPr>
          <a:xfrm>
            <a:off x="4482400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pic>
        <p:nvPicPr>
          <p:cNvPr id="71" name="20 70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5128736"/>
            <a:ext cx="530013" cy="381609"/>
          </a:xfrm>
          <a:prstGeom prst="rect">
            <a:avLst/>
          </a:prstGeom>
        </p:spPr>
      </p:pic>
      <p:pic>
        <p:nvPicPr>
          <p:cNvPr id="72" name="20 71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786" y="5052372"/>
            <a:ext cx="539132" cy="457973"/>
          </a:xfrm>
          <a:prstGeom prst="rect">
            <a:avLst/>
          </a:prstGeom>
        </p:spPr>
      </p:pic>
      <p:pic>
        <p:nvPicPr>
          <p:cNvPr id="73" name="20 72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2557225"/>
            <a:ext cx="530013" cy="381609"/>
          </a:xfrm>
          <a:prstGeom prst="rect">
            <a:avLst/>
          </a:prstGeom>
        </p:spPr>
      </p:pic>
      <p:pic>
        <p:nvPicPr>
          <p:cNvPr id="74" name="20 7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2557225"/>
            <a:ext cx="530013" cy="381609"/>
          </a:xfrm>
          <a:prstGeom prst="rect">
            <a:avLst/>
          </a:prstGeom>
        </p:spPr>
      </p:pic>
      <p:sp>
        <p:nvSpPr>
          <p:cNvPr id="75" name="文本框 74"/>
          <p:cNvSpPr txBox="1"/>
          <p:nvPr/>
        </p:nvSpPr>
        <p:spPr>
          <a:xfrm>
            <a:off x="3222002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8007838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77" name="文本框 76"/>
          <p:cNvSpPr txBox="1"/>
          <p:nvPr/>
        </p:nvSpPr>
        <p:spPr>
          <a:xfrm>
            <a:off x="6791069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Router3</a:t>
            </a:r>
            <a:endParaRPr lang="zh-CN" altLang="en-US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11029042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8141408" y="5281356"/>
            <a:ext cx="856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3406809" y="528135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4577666" y="232708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6896627" y="232708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86" name="文本框 85"/>
          <p:cNvSpPr txBox="1"/>
          <p:nvPr/>
        </p:nvSpPr>
        <p:spPr>
          <a:xfrm>
            <a:off x="3403517" y="4585911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87" name="文本框 86"/>
          <p:cNvSpPr txBox="1"/>
          <p:nvPr/>
        </p:nvSpPr>
        <p:spPr>
          <a:xfrm>
            <a:off x="3403517" y="3154479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8083862" y="4585911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89" name="文本框 88"/>
          <p:cNvSpPr txBox="1"/>
          <p:nvPr/>
        </p:nvSpPr>
        <p:spPr>
          <a:xfrm>
            <a:off x="8083862" y="3154479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90" name="文本框 89"/>
          <p:cNvSpPr txBox="1"/>
          <p:nvPr/>
        </p:nvSpPr>
        <p:spPr>
          <a:xfrm>
            <a:off x="308925" y="5641911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91" name="文本框 90"/>
          <p:cNvSpPr txBox="1"/>
          <p:nvPr/>
        </p:nvSpPr>
        <p:spPr>
          <a:xfrm>
            <a:off x="2572032" y="5641911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192.168.0.254/24</a:t>
            </a:r>
            <a:endParaRPr lang="zh-CN" altLang="en-US" b="1" dirty="0"/>
          </a:p>
        </p:txBody>
      </p:sp>
      <p:sp>
        <p:nvSpPr>
          <p:cNvPr id="92" name="文本框 91"/>
          <p:cNvSpPr txBox="1"/>
          <p:nvPr/>
        </p:nvSpPr>
        <p:spPr>
          <a:xfrm>
            <a:off x="4577666" y="2087878"/>
            <a:ext cx="124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10.0.0.1/30</a:t>
            </a:r>
            <a:endParaRPr lang="zh-CN" altLang="en-US" b="1" dirty="0"/>
          </a:p>
        </p:txBody>
      </p:sp>
      <p:sp>
        <p:nvSpPr>
          <p:cNvPr id="93" name="文本框 92"/>
          <p:cNvSpPr txBox="1"/>
          <p:nvPr/>
        </p:nvSpPr>
        <p:spPr>
          <a:xfrm>
            <a:off x="6431183" y="2087878"/>
            <a:ext cx="124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10.0.0.2/30</a:t>
            </a:r>
            <a:endParaRPr lang="zh-CN" altLang="en-US" b="1" dirty="0"/>
          </a:p>
        </p:txBody>
      </p:sp>
      <p:sp>
        <p:nvSpPr>
          <p:cNvPr id="94" name="文本框 93"/>
          <p:cNvSpPr txBox="1"/>
          <p:nvPr/>
        </p:nvSpPr>
        <p:spPr>
          <a:xfrm>
            <a:off x="2566222" y="4331415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172.16.0.2/30</a:t>
            </a:r>
            <a:endParaRPr lang="zh-CN" altLang="en-US" b="1" dirty="0"/>
          </a:p>
        </p:txBody>
      </p:sp>
      <p:sp>
        <p:nvSpPr>
          <p:cNvPr id="95" name="文本框 94"/>
          <p:cNvSpPr txBox="1"/>
          <p:nvPr/>
        </p:nvSpPr>
        <p:spPr>
          <a:xfrm>
            <a:off x="2554836" y="3424776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172.16.0.1/30</a:t>
            </a:r>
            <a:endParaRPr lang="zh-CN" altLang="en-US" b="1" dirty="0"/>
          </a:p>
        </p:txBody>
      </p:sp>
      <p:sp>
        <p:nvSpPr>
          <p:cNvPr id="96" name="文本框 95"/>
          <p:cNvSpPr txBox="1"/>
          <p:nvPr/>
        </p:nvSpPr>
        <p:spPr>
          <a:xfrm>
            <a:off x="8083862" y="4331415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172.19.0.2/30</a:t>
            </a:r>
            <a:endParaRPr lang="zh-CN" altLang="en-US" b="1" dirty="0"/>
          </a:p>
        </p:txBody>
      </p:sp>
      <p:sp>
        <p:nvSpPr>
          <p:cNvPr id="97" name="文本框 96"/>
          <p:cNvSpPr txBox="1"/>
          <p:nvPr/>
        </p:nvSpPr>
        <p:spPr>
          <a:xfrm>
            <a:off x="8083862" y="3424776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172.19.0.1/30</a:t>
            </a:r>
            <a:endParaRPr lang="zh-CN" altLang="en-US" b="1" dirty="0"/>
          </a:p>
        </p:txBody>
      </p:sp>
      <p:sp>
        <p:nvSpPr>
          <p:cNvPr id="98" name="文本框 97"/>
          <p:cNvSpPr txBox="1"/>
          <p:nvPr/>
        </p:nvSpPr>
        <p:spPr>
          <a:xfrm>
            <a:off x="8141408" y="5641911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192.168.1.254/24</a:t>
            </a:r>
            <a:endParaRPr lang="zh-CN" altLang="en-US" b="1" dirty="0"/>
          </a:p>
        </p:txBody>
      </p:sp>
      <p:sp>
        <p:nvSpPr>
          <p:cNvPr id="99" name="文本框 98"/>
          <p:cNvSpPr txBox="1"/>
          <p:nvPr/>
        </p:nvSpPr>
        <p:spPr>
          <a:xfrm>
            <a:off x="10428049" y="5641911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192.168.1.1/24</a:t>
            </a:r>
            <a:endParaRPr lang="zh-CN" altLang="en-US" b="1" dirty="0"/>
          </a:p>
        </p:txBody>
      </p:sp>
      <p:sp>
        <p:nvSpPr>
          <p:cNvPr id="100" name="文本框 99"/>
          <p:cNvSpPr txBox="1"/>
          <p:nvPr/>
        </p:nvSpPr>
        <p:spPr>
          <a:xfrm>
            <a:off x="308925" y="5953754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192.168.0.254</a:t>
            </a:r>
            <a:endParaRPr lang="zh-CN" altLang="en-US" b="1" dirty="0"/>
          </a:p>
        </p:txBody>
      </p:sp>
      <p:sp>
        <p:nvSpPr>
          <p:cNvPr id="101" name="文本框 100"/>
          <p:cNvSpPr txBox="1"/>
          <p:nvPr/>
        </p:nvSpPr>
        <p:spPr>
          <a:xfrm>
            <a:off x="10428049" y="5953754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192.168.1.254</a:t>
            </a:r>
            <a:endParaRPr lang="zh-CN" altLang="en-US" b="1" dirty="0"/>
          </a:p>
        </p:txBody>
      </p:sp>
      <p:sp>
        <p:nvSpPr>
          <p:cNvPr id="102" name="等腰三角形 101"/>
          <p:cNvSpPr/>
          <p:nvPr/>
        </p:nvSpPr>
        <p:spPr>
          <a:xfrm>
            <a:off x="4299256" y="328519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等腰三角形 102"/>
          <p:cNvSpPr/>
          <p:nvPr/>
        </p:nvSpPr>
        <p:spPr>
          <a:xfrm>
            <a:off x="4305741" y="470074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等腰三角形 103"/>
          <p:cNvSpPr/>
          <p:nvPr/>
        </p:nvSpPr>
        <p:spPr>
          <a:xfrm>
            <a:off x="7827528" y="328519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等腰三角形 104"/>
          <p:cNvSpPr/>
          <p:nvPr/>
        </p:nvSpPr>
        <p:spPr>
          <a:xfrm>
            <a:off x="7834013" y="470074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等腰三角形 105"/>
          <p:cNvSpPr/>
          <p:nvPr/>
        </p:nvSpPr>
        <p:spPr>
          <a:xfrm>
            <a:off x="4935973" y="269757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等腰三角形 106"/>
          <p:cNvSpPr/>
          <p:nvPr/>
        </p:nvSpPr>
        <p:spPr>
          <a:xfrm>
            <a:off x="7272403" y="269757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等腰三角形 107"/>
          <p:cNvSpPr/>
          <p:nvPr/>
        </p:nvSpPr>
        <p:spPr>
          <a:xfrm>
            <a:off x="1394165" y="520429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等腰三角形 108"/>
          <p:cNvSpPr/>
          <p:nvPr/>
        </p:nvSpPr>
        <p:spPr>
          <a:xfrm>
            <a:off x="3730595" y="520429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等腰三角形 109"/>
          <p:cNvSpPr/>
          <p:nvPr/>
        </p:nvSpPr>
        <p:spPr>
          <a:xfrm>
            <a:off x="8485013" y="521341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等腰三角形 110"/>
          <p:cNvSpPr/>
          <p:nvPr/>
        </p:nvSpPr>
        <p:spPr>
          <a:xfrm>
            <a:off x="10821443" y="521341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文本框 111"/>
          <p:cNvSpPr txBox="1"/>
          <p:nvPr/>
        </p:nvSpPr>
        <p:spPr>
          <a:xfrm>
            <a:off x="1540676" y="4894330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网络</a:t>
            </a:r>
            <a:r>
              <a:rPr lang="en-US" altLang="zh-CN" b="1" dirty="0"/>
              <a:t>192.168.0.0/24</a:t>
            </a:r>
            <a:endParaRPr lang="zh-CN" altLang="en-US" b="1" dirty="0"/>
          </a:p>
        </p:txBody>
      </p:sp>
      <p:sp>
        <p:nvSpPr>
          <p:cNvPr id="113" name="文本框 112"/>
          <p:cNvSpPr txBox="1"/>
          <p:nvPr/>
        </p:nvSpPr>
        <p:spPr>
          <a:xfrm>
            <a:off x="8671958" y="4894330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网络</a:t>
            </a:r>
            <a:r>
              <a:rPr lang="en-US" altLang="zh-CN" b="1" dirty="0"/>
              <a:t>192.168.1.0/24</a:t>
            </a:r>
            <a:endParaRPr lang="zh-CN" altLang="en-US" b="1" dirty="0"/>
          </a:p>
        </p:txBody>
      </p:sp>
      <p:sp>
        <p:nvSpPr>
          <p:cNvPr id="114" name="文本框 113"/>
          <p:cNvSpPr txBox="1"/>
          <p:nvPr/>
        </p:nvSpPr>
        <p:spPr>
          <a:xfrm>
            <a:off x="5182823" y="2719628"/>
            <a:ext cx="1826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网络</a:t>
            </a:r>
            <a:r>
              <a:rPr lang="en-US" altLang="zh-CN" b="1" dirty="0"/>
              <a:t>10.0.0.0/30</a:t>
            </a:r>
            <a:endParaRPr lang="zh-CN" altLang="en-US" b="1" dirty="0"/>
          </a:p>
        </p:txBody>
      </p:sp>
      <p:sp>
        <p:nvSpPr>
          <p:cNvPr id="115" name="文本框 114"/>
          <p:cNvSpPr txBox="1"/>
          <p:nvPr/>
        </p:nvSpPr>
        <p:spPr>
          <a:xfrm>
            <a:off x="2129179" y="3878095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/>
              <a:t>网络</a:t>
            </a:r>
            <a:r>
              <a:rPr lang="en-US" altLang="zh-CN" b="1" dirty="0"/>
              <a:t>172.16.0.0/30</a:t>
            </a:r>
            <a:endParaRPr lang="zh-CN" altLang="en-US" b="1" dirty="0"/>
          </a:p>
        </p:txBody>
      </p:sp>
      <p:sp>
        <p:nvSpPr>
          <p:cNvPr id="116" name="文本框 115"/>
          <p:cNvSpPr txBox="1"/>
          <p:nvPr/>
        </p:nvSpPr>
        <p:spPr>
          <a:xfrm>
            <a:off x="8083862" y="3878095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网络</a:t>
            </a:r>
            <a:r>
              <a:rPr lang="en-US" altLang="zh-CN" b="1" dirty="0"/>
              <a:t>172.19.0.0/30</a:t>
            </a:r>
            <a:endParaRPr lang="zh-CN" altLang="en-US" b="1" dirty="0"/>
          </a:p>
        </p:txBody>
      </p:sp>
      <p:grpSp>
        <p:nvGrpSpPr>
          <p:cNvPr id="117" name="组合 116"/>
          <p:cNvGrpSpPr/>
          <p:nvPr/>
        </p:nvGrpSpPr>
        <p:grpSpPr>
          <a:xfrm>
            <a:off x="4620986" y="1518195"/>
            <a:ext cx="3014769" cy="1535070"/>
            <a:chOff x="4620986" y="1518195"/>
            <a:chExt cx="3014769" cy="1535070"/>
          </a:xfrm>
        </p:grpSpPr>
        <p:sp>
          <p:nvSpPr>
            <p:cNvPr id="118" name="矩形 117"/>
            <p:cNvSpPr/>
            <p:nvPr/>
          </p:nvSpPr>
          <p:spPr>
            <a:xfrm>
              <a:off x="4620986" y="1537929"/>
              <a:ext cx="3014769" cy="1515336"/>
            </a:xfrm>
            <a:prstGeom prst="rect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文本框 118"/>
            <p:cNvSpPr txBox="1"/>
            <p:nvPr/>
          </p:nvSpPr>
          <p:spPr>
            <a:xfrm>
              <a:off x="5054066" y="1518195"/>
              <a:ext cx="208899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rgbClr val="FF0000"/>
                  </a:solidFill>
                </a:rPr>
                <a:t>OSPF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主干区域</a:t>
              </a:r>
              <a:endParaRPr lang="en-US" altLang="zh-CN" sz="2000" b="1" dirty="0">
                <a:solidFill>
                  <a:srgbClr val="FF0000"/>
                </a:solidFill>
              </a:endParaRPr>
            </a:p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（</a:t>
              </a:r>
              <a:r>
                <a:rPr lang="en-US" altLang="zh-CN" sz="2000" b="1" dirty="0">
                  <a:solidFill>
                    <a:srgbClr val="FF0000"/>
                  </a:solidFill>
                </a:rPr>
                <a:t>area 0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）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304799" y="3188812"/>
            <a:ext cx="5189367" cy="3134274"/>
            <a:chOff x="304799" y="3188812"/>
            <a:chExt cx="5189367" cy="3134274"/>
          </a:xfrm>
        </p:grpSpPr>
        <p:sp>
          <p:nvSpPr>
            <p:cNvPr id="121" name="文本框 120"/>
            <p:cNvSpPr txBox="1"/>
            <p:nvPr/>
          </p:nvSpPr>
          <p:spPr>
            <a:xfrm>
              <a:off x="304799" y="3303651"/>
              <a:ext cx="18366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3"/>
                  </a:solidFill>
                </a:rPr>
                <a:t>OSPF</a:t>
              </a:r>
              <a:r>
                <a:rPr lang="zh-CN" altLang="en-US" sz="2000" b="1" dirty="0">
                  <a:solidFill>
                    <a:schemeClr val="accent3"/>
                  </a:solidFill>
                </a:rPr>
                <a:t>区域</a:t>
              </a:r>
              <a:r>
                <a:rPr lang="en-US" altLang="zh-CN" sz="2000" b="1" dirty="0">
                  <a:solidFill>
                    <a:schemeClr val="accent3"/>
                  </a:solidFill>
                </a:rPr>
                <a:t>100</a:t>
              </a:r>
              <a:endParaRPr lang="en-US" altLang="zh-CN" sz="2000" b="1" dirty="0">
                <a:solidFill>
                  <a:schemeClr val="accent3"/>
                </a:solidFill>
              </a:endParaRPr>
            </a:p>
            <a:p>
              <a:pPr algn="ctr"/>
              <a:r>
                <a:rPr lang="zh-CN" altLang="en-US" sz="2000" b="1" dirty="0">
                  <a:solidFill>
                    <a:schemeClr val="accent3"/>
                  </a:solidFill>
                </a:rPr>
                <a:t>（</a:t>
              </a:r>
              <a:r>
                <a:rPr lang="en-US" altLang="zh-CN" sz="2000" b="1" dirty="0">
                  <a:solidFill>
                    <a:schemeClr val="accent3"/>
                  </a:solidFill>
                </a:rPr>
                <a:t>area 100</a:t>
              </a:r>
              <a:r>
                <a:rPr lang="zh-CN" altLang="en-US" sz="2000" b="1" dirty="0">
                  <a:solidFill>
                    <a:schemeClr val="accent3"/>
                  </a:solidFill>
                </a:rPr>
                <a:t>）</a:t>
              </a:r>
              <a:endParaRPr lang="zh-CN" altLang="en-US" sz="2000" b="1" dirty="0">
                <a:solidFill>
                  <a:schemeClr val="accent3"/>
                </a:solidFill>
              </a:endParaRPr>
            </a:p>
          </p:txBody>
        </p:sp>
        <p:sp>
          <p:nvSpPr>
            <p:cNvPr id="122" name="矩形 121"/>
            <p:cNvSpPr/>
            <p:nvPr/>
          </p:nvSpPr>
          <p:spPr>
            <a:xfrm>
              <a:off x="311377" y="3188812"/>
              <a:ext cx="5182789" cy="3134274"/>
            </a:xfrm>
            <a:prstGeom prst="rect">
              <a:avLst/>
            </a:prstGeom>
            <a:noFill/>
            <a:ln w="2540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6700286" y="3188812"/>
            <a:ext cx="5186461" cy="3134274"/>
            <a:chOff x="6700286" y="3188812"/>
            <a:chExt cx="5186461" cy="3134274"/>
          </a:xfrm>
        </p:grpSpPr>
        <p:sp>
          <p:nvSpPr>
            <p:cNvPr id="124" name="文本框 123"/>
            <p:cNvSpPr txBox="1"/>
            <p:nvPr/>
          </p:nvSpPr>
          <p:spPr>
            <a:xfrm>
              <a:off x="10050132" y="3303651"/>
              <a:ext cx="18366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4"/>
                  </a:solidFill>
                </a:rPr>
                <a:t>OSPF</a:t>
              </a:r>
              <a:r>
                <a:rPr lang="zh-CN" altLang="en-US" sz="2000" b="1" dirty="0">
                  <a:solidFill>
                    <a:schemeClr val="accent4"/>
                  </a:solidFill>
                </a:rPr>
                <a:t>区域</a:t>
              </a:r>
              <a:r>
                <a:rPr lang="en-US" altLang="zh-CN" sz="2000" b="1" dirty="0">
                  <a:solidFill>
                    <a:schemeClr val="accent4"/>
                  </a:solidFill>
                </a:rPr>
                <a:t>200</a:t>
              </a:r>
              <a:endParaRPr lang="en-US" altLang="zh-CN" sz="2000" b="1" dirty="0">
                <a:solidFill>
                  <a:schemeClr val="accent4"/>
                </a:solidFill>
              </a:endParaRPr>
            </a:p>
            <a:p>
              <a:pPr algn="ctr"/>
              <a:r>
                <a:rPr lang="zh-CN" altLang="en-US" sz="2000" b="1" dirty="0">
                  <a:solidFill>
                    <a:schemeClr val="accent4"/>
                  </a:solidFill>
                </a:rPr>
                <a:t>（</a:t>
              </a:r>
              <a:r>
                <a:rPr lang="en-US" altLang="zh-CN" sz="2000" b="1" dirty="0">
                  <a:solidFill>
                    <a:schemeClr val="accent4"/>
                  </a:solidFill>
                </a:rPr>
                <a:t>area 200</a:t>
              </a:r>
              <a:r>
                <a:rPr lang="zh-CN" altLang="en-US" sz="2000" b="1" dirty="0">
                  <a:solidFill>
                    <a:schemeClr val="accent4"/>
                  </a:solidFill>
                </a:rPr>
                <a:t>）</a:t>
              </a:r>
              <a:endParaRPr lang="zh-CN" alt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125" name="矩形 124"/>
            <p:cNvSpPr/>
            <p:nvPr/>
          </p:nvSpPr>
          <p:spPr>
            <a:xfrm>
              <a:off x="6700286" y="3188812"/>
              <a:ext cx="5182789" cy="3134274"/>
            </a:xfrm>
            <a:prstGeom prst="rect">
              <a:avLst/>
            </a:prstGeom>
            <a:noFill/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92878" y="685800"/>
            <a:ext cx="2797413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8.  </a:t>
            </a:r>
            <a:r>
              <a:rPr lang="zh-CN" altLang="en-US" sz="2400" b="1" dirty="0"/>
              <a:t>网络连通性测试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1119" y="3077380"/>
            <a:ext cx="3309761" cy="1387325"/>
          </a:xfrm>
          <a:prstGeom prst="rect">
            <a:avLst/>
          </a:prstGeom>
        </p:spPr>
      </p:pic>
      <p:grpSp>
        <p:nvGrpSpPr>
          <p:cNvPr id="5" name="组合 4"/>
          <p:cNvGrpSpPr/>
          <p:nvPr/>
        </p:nvGrpSpPr>
        <p:grpSpPr>
          <a:xfrm>
            <a:off x="4878450" y="2306179"/>
            <a:ext cx="3258944" cy="771201"/>
            <a:chOff x="10167773" y="1392832"/>
            <a:chExt cx="3258944" cy="771201"/>
          </a:xfrm>
        </p:grpSpPr>
        <p:cxnSp>
          <p:nvCxnSpPr>
            <p:cNvPr id="6" name="直接箭头连接符 5"/>
            <p:cNvCxnSpPr/>
            <p:nvPr/>
          </p:nvCxnSpPr>
          <p:spPr>
            <a:xfrm>
              <a:off x="11544809" y="1792942"/>
              <a:ext cx="0" cy="371091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文本框 6"/>
            <p:cNvSpPr txBox="1"/>
            <p:nvPr/>
          </p:nvSpPr>
          <p:spPr>
            <a:xfrm>
              <a:off x="10167773" y="1392832"/>
              <a:ext cx="32589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切换到“实时”工作模式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7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92878" y="685800"/>
            <a:ext cx="2797413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8.  </a:t>
            </a:r>
            <a:r>
              <a:rPr lang="zh-CN" altLang="en-US" sz="2400" b="1" dirty="0"/>
              <a:t>网络连通性测试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8141408" y="5261622"/>
            <a:ext cx="3110656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010126" y="5261622"/>
            <a:ext cx="3110656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4668822" y="2748015"/>
            <a:ext cx="3014769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4355979" y="2904294"/>
            <a:ext cx="0" cy="2224442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7885393" y="2904294"/>
            <a:ext cx="0" cy="2224442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404704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48" y="5052372"/>
            <a:ext cx="539132" cy="457973"/>
          </a:xfrm>
          <a:prstGeom prst="rect">
            <a:avLst/>
          </a:prstGeom>
        </p:spPr>
      </p:pic>
      <p:pic>
        <p:nvPicPr>
          <p:cNvPr id="69" name="20 68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5090553"/>
            <a:ext cx="530013" cy="381609"/>
          </a:xfrm>
          <a:prstGeom prst="rect">
            <a:avLst/>
          </a:prstGeom>
        </p:spPr>
      </p:pic>
      <p:sp>
        <p:nvSpPr>
          <p:cNvPr id="70" name="文本框 69"/>
          <p:cNvSpPr txBox="1"/>
          <p:nvPr/>
        </p:nvSpPr>
        <p:spPr>
          <a:xfrm>
            <a:off x="4482400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pic>
        <p:nvPicPr>
          <p:cNvPr id="71" name="20 70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5128736"/>
            <a:ext cx="530013" cy="381609"/>
          </a:xfrm>
          <a:prstGeom prst="rect">
            <a:avLst/>
          </a:prstGeom>
        </p:spPr>
      </p:pic>
      <p:pic>
        <p:nvPicPr>
          <p:cNvPr id="72" name="20 71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786" y="5052372"/>
            <a:ext cx="539132" cy="457973"/>
          </a:xfrm>
          <a:prstGeom prst="rect">
            <a:avLst/>
          </a:prstGeom>
        </p:spPr>
      </p:pic>
      <p:pic>
        <p:nvPicPr>
          <p:cNvPr id="73" name="20 72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2557225"/>
            <a:ext cx="530013" cy="381609"/>
          </a:xfrm>
          <a:prstGeom prst="rect">
            <a:avLst/>
          </a:prstGeom>
        </p:spPr>
      </p:pic>
      <p:pic>
        <p:nvPicPr>
          <p:cNvPr id="74" name="20 7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2557225"/>
            <a:ext cx="530013" cy="381609"/>
          </a:xfrm>
          <a:prstGeom prst="rect">
            <a:avLst/>
          </a:prstGeom>
        </p:spPr>
      </p:pic>
      <p:sp>
        <p:nvSpPr>
          <p:cNvPr id="75" name="文本框 74"/>
          <p:cNvSpPr txBox="1"/>
          <p:nvPr/>
        </p:nvSpPr>
        <p:spPr>
          <a:xfrm>
            <a:off x="3222002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8007838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77" name="文本框 76"/>
          <p:cNvSpPr txBox="1"/>
          <p:nvPr/>
        </p:nvSpPr>
        <p:spPr>
          <a:xfrm>
            <a:off x="6791069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Router3</a:t>
            </a:r>
            <a:endParaRPr lang="zh-CN" altLang="en-US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11029042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8141408" y="5281356"/>
            <a:ext cx="856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3406809" y="528135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4577666" y="232708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6896627" y="232708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86" name="文本框 85"/>
          <p:cNvSpPr txBox="1"/>
          <p:nvPr/>
        </p:nvSpPr>
        <p:spPr>
          <a:xfrm>
            <a:off x="3403517" y="4585911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87" name="文本框 86"/>
          <p:cNvSpPr txBox="1"/>
          <p:nvPr/>
        </p:nvSpPr>
        <p:spPr>
          <a:xfrm>
            <a:off x="3403517" y="3154479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8083862" y="4585911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89" name="文本框 88"/>
          <p:cNvSpPr txBox="1"/>
          <p:nvPr/>
        </p:nvSpPr>
        <p:spPr>
          <a:xfrm>
            <a:off x="8083862" y="3154479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90" name="文本框 89"/>
          <p:cNvSpPr txBox="1"/>
          <p:nvPr/>
        </p:nvSpPr>
        <p:spPr>
          <a:xfrm>
            <a:off x="308925" y="5641911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91" name="文本框 90"/>
          <p:cNvSpPr txBox="1"/>
          <p:nvPr/>
        </p:nvSpPr>
        <p:spPr>
          <a:xfrm>
            <a:off x="2572032" y="5641911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192.168.0.254/24</a:t>
            </a:r>
            <a:endParaRPr lang="zh-CN" altLang="en-US" b="1" dirty="0"/>
          </a:p>
        </p:txBody>
      </p:sp>
      <p:sp>
        <p:nvSpPr>
          <p:cNvPr id="92" name="文本框 91"/>
          <p:cNvSpPr txBox="1"/>
          <p:nvPr/>
        </p:nvSpPr>
        <p:spPr>
          <a:xfrm>
            <a:off x="4577666" y="2087878"/>
            <a:ext cx="124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10.0.0.1/30</a:t>
            </a:r>
            <a:endParaRPr lang="zh-CN" altLang="en-US" b="1" dirty="0"/>
          </a:p>
        </p:txBody>
      </p:sp>
      <p:sp>
        <p:nvSpPr>
          <p:cNvPr id="93" name="文本框 92"/>
          <p:cNvSpPr txBox="1"/>
          <p:nvPr/>
        </p:nvSpPr>
        <p:spPr>
          <a:xfrm>
            <a:off x="6431183" y="2087878"/>
            <a:ext cx="124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10.0.0.2/30</a:t>
            </a:r>
            <a:endParaRPr lang="zh-CN" altLang="en-US" b="1" dirty="0"/>
          </a:p>
        </p:txBody>
      </p:sp>
      <p:sp>
        <p:nvSpPr>
          <p:cNvPr id="94" name="文本框 93"/>
          <p:cNvSpPr txBox="1"/>
          <p:nvPr/>
        </p:nvSpPr>
        <p:spPr>
          <a:xfrm>
            <a:off x="2566222" y="4331415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172.16.0.2/30</a:t>
            </a:r>
            <a:endParaRPr lang="zh-CN" altLang="en-US" b="1" dirty="0"/>
          </a:p>
        </p:txBody>
      </p:sp>
      <p:sp>
        <p:nvSpPr>
          <p:cNvPr id="95" name="文本框 94"/>
          <p:cNvSpPr txBox="1"/>
          <p:nvPr/>
        </p:nvSpPr>
        <p:spPr>
          <a:xfrm>
            <a:off x="2554836" y="3424776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172.16.0.1/30</a:t>
            </a:r>
            <a:endParaRPr lang="zh-CN" altLang="en-US" b="1" dirty="0"/>
          </a:p>
        </p:txBody>
      </p:sp>
      <p:sp>
        <p:nvSpPr>
          <p:cNvPr id="96" name="文本框 95"/>
          <p:cNvSpPr txBox="1"/>
          <p:nvPr/>
        </p:nvSpPr>
        <p:spPr>
          <a:xfrm>
            <a:off x="8083862" y="4331415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172.19.0.2/30</a:t>
            </a:r>
            <a:endParaRPr lang="zh-CN" altLang="en-US" b="1" dirty="0"/>
          </a:p>
        </p:txBody>
      </p:sp>
      <p:sp>
        <p:nvSpPr>
          <p:cNvPr id="97" name="文本框 96"/>
          <p:cNvSpPr txBox="1"/>
          <p:nvPr/>
        </p:nvSpPr>
        <p:spPr>
          <a:xfrm>
            <a:off x="8083862" y="3424776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172.19.0.1/30</a:t>
            </a:r>
            <a:endParaRPr lang="zh-CN" altLang="en-US" b="1" dirty="0"/>
          </a:p>
        </p:txBody>
      </p:sp>
      <p:sp>
        <p:nvSpPr>
          <p:cNvPr id="98" name="文本框 97"/>
          <p:cNvSpPr txBox="1"/>
          <p:nvPr/>
        </p:nvSpPr>
        <p:spPr>
          <a:xfrm>
            <a:off x="8141408" y="5641911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192.168.1.254/24</a:t>
            </a:r>
            <a:endParaRPr lang="zh-CN" altLang="en-US" b="1" dirty="0"/>
          </a:p>
        </p:txBody>
      </p:sp>
      <p:sp>
        <p:nvSpPr>
          <p:cNvPr id="99" name="文本框 98"/>
          <p:cNvSpPr txBox="1"/>
          <p:nvPr/>
        </p:nvSpPr>
        <p:spPr>
          <a:xfrm>
            <a:off x="10428049" y="5641911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192.168.1.1/24</a:t>
            </a:r>
            <a:endParaRPr lang="zh-CN" altLang="en-US" b="1" dirty="0"/>
          </a:p>
        </p:txBody>
      </p:sp>
      <p:sp>
        <p:nvSpPr>
          <p:cNvPr id="100" name="文本框 99"/>
          <p:cNvSpPr txBox="1"/>
          <p:nvPr/>
        </p:nvSpPr>
        <p:spPr>
          <a:xfrm>
            <a:off x="308925" y="5953754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192.168.0.254</a:t>
            </a:r>
            <a:endParaRPr lang="zh-CN" altLang="en-US" b="1" dirty="0"/>
          </a:p>
        </p:txBody>
      </p:sp>
      <p:sp>
        <p:nvSpPr>
          <p:cNvPr id="101" name="文本框 100"/>
          <p:cNvSpPr txBox="1"/>
          <p:nvPr/>
        </p:nvSpPr>
        <p:spPr>
          <a:xfrm>
            <a:off x="10428049" y="5953754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192.168.1.254</a:t>
            </a:r>
            <a:endParaRPr lang="zh-CN" altLang="en-US" b="1" dirty="0"/>
          </a:p>
        </p:txBody>
      </p:sp>
      <p:sp>
        <p:nvSpPr>
          <p:cNvPr id="102" name="等腰三角形 101"/>
          <p:cNvSpPr/>
          <p:nvPr/>
        </p:nvSpPr>
        <p:spPr>
          <a:xfrm>
            <a:off x="4299256" y="328519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等腰三角形 102"/>
          <p:cNvSpPr/>
          <p:nvPr/>
        </p:nvSpPr>
        <p:spPr>
          <a:xfrm>
            <a:off x="4305741" y="470074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等腰三角形 103"/>
          <p:cNvSpPr/>
          <p:nvPr/>
        </p:nvSpPr>
        <p:spPr>
          <a:xfrm>
            <a:off x="7827528" y="328519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等腰三角形 104"/>
          <p:cNvSpPr/>
          <p:nvPr/>
        </p:nvSpPr>
        <p:spPr>
          <a:xfrm>
            <a:off x="7834013" y="470074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等腰三角形 105"/>
          <p:cNvSpPr/>
          <p:nvPr/>
        </p:nvSpPr>
        <p:spPr>
          <a:xfrm>
            <a:off x="4935973" y="269757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等腰三角形 106"/>
          <p:cNvSpPr/>
          <p:nvPr/>
        </p:nvSpPr>
        <p:spPr>
          <a:xfrm>
            <a:off x="7272403" y="269757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等腰三角形 107"/>
          <p:cNvSpPr/>
          <p:nvPr/>
        </p:nvSpPr>
        <p:spPr>
          <a:xfrm>
            <a:off x="1394165" y="520429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等腰三角形 108"/>
          <p:cNvSpPr/>
          <p:nvPr/>
        </p:nvSpPr>
        <p:spPr>
          <a:xfrm>
            <a:off x="3730595" y="520429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等腰三角形 109"/>
          <p:cNvSpPr/>
          <p:nvPr/>
        </p:nvSpPr>
        <p:spPr>
          <a:xfrm>
            <a:off x="8485013" y="521341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等腰三角形 110"/>
          <p:cNvSpPr/>
          <p:nvPr/>
        </p:nvSpPr>
        <p:spPr>
          <a:xfrm>
            <a:off x="10821443" y="521341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文本框 111"/>
          <p:cNvSpPr txBox="1"/>
          <p:nvPr/>
        </p:nvSpPr>
        <p:spPr>
          <a:xfrm>
            <a:off x="1540676" y="4894330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网络</a:t>
            </a:r>
            <a:r>
              <a:rPr lang="en-US" altLang="zh-CN" b="1" dirty="0"/>
              <a:t>192.168.0.0/24</a:t>
            </a:r>
            <a:endParaRPr lang="zh-CN" altLang="en-US" b="1" dirty="0"/>
          </a:p>
        </p:txBody>
      </p:sp>
      <p:sp>
        <p:nvSpPr>
          <p:cNvPr id="113" name="文本框 112"/>
          <p:cNvSpPr txBox="1"/>
          <p:nvPr/>
        </p:nvSpPr>
        <p:spPr>
          <a:xfrm>
            <a:off x="8671958" y="4894330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网络</a:t>
            </a:r>
            <a:r>
              <a:rPr lang="en-US" altLang="zh-CN" b="1" dirty="0"/>
              <a:t>192.168.1.0/24</a:t>
            </a:r>
            <a:endParaRPr lang="zh-CN" altLang="en-US" b="1" dirty="0"/>
          </a:p>
        </p:txBody>
      </p:sp>
      <p:sp>
        <p:nvSpPr>
          <p:cNvPr id="114" name="文本框 113"/>
          <p:cNvSpPr txBox="1"/>
          <p:nvPr/>
        </p:nvSpPr>
        <p:spPr>
          <a:xfrm>
            <a:off x="5182823" y="2719628"/>
            <a:ext cx="1826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网络</a:t>
            </a:r>
            <a:r>
              <a:rPr lang="en-US" altLang="zh-CN" b="1" dirty="0"/>
              <a:t>10.0.0.0/30</a:t>
            </a:r>
            <a:endParaRPr lang="zh-CN" altLang="en-US" b="1" dirty="0"/>
          </a:p>
        </p:txBody>
      </p:sp>
      <p:sp>
        <p:nvSpPr>
          <p:cNvPr id="115" name="文本框 114"/>
          <p:cNvSpPr txBox="1"/>
          <p:nvPr/>
        </p:nvSpPr>
        <p:spPr>
          <a:xfrm>
            <a:off x="2129179" y="3878095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/>
              <a:t>网络</a:t>
            </a:r>
            <a:r>
              <a:rPr lang="en-US" altLang="zh-CN" b="1" dirty="0"/>
              <a:t>172.16.0.0/30</a:t>
            </a:r>
            <a:endParaRPr lang="zh-CN" altLang="en-US" b="1" dirty="0"/>
          </a:p>
        </p:txBody>
      </p:sp>
      <p:sp>
        <p:nvSpPr>
          <p:cNvPr id="116" name="文本框 115"/>
          <p:cNvSpPr txBox="1"/>
          <p:nvPr/>
        </p:nvSpPr>
        <p:spPr>
          <a:xfrm>
            <a:off x="8083862" y="3878095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网络</a:t>
            </a:r>
            <a:r>
              <a:rPr lang="en-US" altLang="zh-CN" b="1" dirty="0"/>
              <a:t>172.19.0.0/30</a:t>
            </a:r>
            <a:endParaRPr lang="zh-CN" altLang="en-US" b="1" dirty="0"/>
          </a:p>
        </p:txBody>
      </p:sp>
      <p:grpSp>
        <p:nvGrpSpPr>
          <p:cNvPr id="117" name="组合 116"/>
          <p:cNvGrpSpPr/>
          <p:nvPr/>
        </p:nvGrpSpPr>
        <p:grpSpPr>
          <a:xfrm>
            <a:off x="4620986" y="1518195"/>
            <a:ext cx="3014769" cy="1535070"/>
            <a:chOff x="4620986" y="1518195"/>
            <a:chExt cx="3014769" cy="1535070"/>
          </a:xfrm>
        </p:grpSpPr>
        <p:sp>
          <p:nvSpPr>
            <p:cNvPr id="118" name="矩形 117"/>
            <p:cNvSpPr/>
            <p:nvPr/>
          </p:nvSpPr>
          <p:spPr>
            <a:xfrm>
              <a:off x="4620986" y="1537929"/>
              <a:ext cx="3014769" cy="1515336"/>
            </a:xfrm>
            <a:prstGeom prst="rect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文本框 118"/>
            <p:cNvSpPr txBox="1"/>
            <p:nvPr/>
          </p:nvSpPr>
          <p:spPr>
            <a:xfrm>
              <a:off x="5054066" y="1518195"/>
              <a:ext cx="208899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rgbClr val="FF0000"/>
                  </a:solidFill>
                </a:rPr>
                <a:t>OSPF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主干区域</a:t>
              </a:r>
              <a:endParaRPr lang="en-US" altLang="zh-CN" sz="2000" b="1" dirty="0">
                <a:solidFill>
                  <a:srgbClr val="FF0000"/>
                </a:solidFill>
              </a:endParaRPr>
            </a:p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（</a:t>
              </a:r>
              <a:r>
                <a:rPr lang="en-US" altLang="zh-CN" sz="2000" b="1" dirty="0">
                  <a:solidFill>
                    <a:srgbClr val="FF0000"/>
                  </a:solidFill>
                </a:rPr>
                <a:t>area 0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）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304799" y="3188812"/>
            <a:ext cx="5189367" cy="3134274"/>
            <a:chOff x="304799" y="3188812"/>
            <a:chExt cx="5189367" cy="3134274"/>
          </a:xfrm>
        </p:grpSpPr>
        <p:sp>
          <p:nvSpPr>
            <p:cNvPr id="121" name="文本框 120"/>
            <p:cNvSpPr txBox="1"/>
            <p:nvPr/>
          </p:nvSpPr>
          <p:spPr>
            <a:xfrm>
              <a:off x="304799" y="3303651"/>
              <a:ext cx="18366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3"/>
                  </a:solidFill>
                </a:rPr>
                <a:t>OSPF</a:t>
              </a:r>
              <a:r>
                <a:rPr lang="zh-CN" altLang="en-US" sz="2000" b="1" dirty="0">
                  <a:solidFill>
                    <a:schemeClr val="accent3"/>
                  </a:solidFill>
                </a:rPr>
                <a:t>区域</a:t>
              </a:r>
              <a:r>
                <a:rPr lang="en-US" altLang="zh-CN" sz="2000" b="1" dirty="0">
                  <a:solidFill>
                    <a:schemeClr val="accent3"/>
                  </a:solidFill>
                </a:rPr>
                <a:t>100</a:t>
              </a:r>
              <a:endParaRPr lang="en-US" altLang="zh-CN" sz="2000" b="1" dirty="0">
                <a:solidFill>
                  <a:schemeClr val="accent3"/>
                </a:solidFill>
              </a:endParaRPr>
            </a:p>
            <a:p>
              <a:pPr algn="ctr"/>
              <a:r>
                <a:rPr lang="zh-CN" altLang="en-US" sz="2000" b="1" dirty="0">
                  <a:solidFill>
                    <a:schemeClr val="accent3"/>
                  </a:solidFill>
                </a:rPr>
                <a:t>（</a:t>
              </a:r>
              <a:r>
                <a:rPr lang="en-US" altLang="zh-CN" sz="2000" b="1" dirty="0">
                  <a:solidFill>
                    <a:schemeClr val="accent3"/>
                  </a:solidFill>
                </a:rPr>
                <a:t>area 100</a:t>
              </a:r>
              <a:r>
                <a:rPr lang="zh-CN" altLang="en-US" sz="2000" b="1" dirty="0">
                  <a:solidFill>
                    <a:schemeClr val="accent3"/>
                  </a:solidFill>
                </a:rPr>
                <a:t>）</a:t>
              </a:r>
              <a:endParaRPr lang="zh-CN" altLang="en-US" sz="2000" b="1" dirty="0">
                <a:solidFill>
                  <a:schemeClr val="accent3"/>
                </a:solidFill>
              </a:endParaRPr>
            </a:p>
          </p:txBody>
        </p:sp>
        <p:sp>
          <p:nvSpPr>
            <p:cNvPr id="122" name="矩形 121"/>
            <p:cNvSpPr/>
            <p:nvPr/>
          </p:nvSpPr>
          <p:spPr>
            <a:xfrm>
              <a:off x="311377" y="3188812"/>
              <a:ext cx="5182789" cy="3134274"/>
            </a:xfrm>
            <a:prstGeom prst="rect">
              <a:avLst/>
            </a:prstGeom>
            <a:noFill/>
            <a:ln w="2540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6700286" y="3188812"/>
            <a:ext cx="5186461" cy="3134274"/>
            <a:chOff x="6700286" y="3188812"/>
            <a:chExt cx="5186461" cy="3134274"/>
          </a:xfrm>
        </p:grpSpPr>
        <p:sp>
          <p:nvSpPr>
            <p:cNvPr id="124" name="文本框 123"/>
            <p:cNvSpPr txBox="1"/>
            <p:nvPr/>
          </p:nvSpPr>
          <p:spPr>
            <a:xfrm>
              <a:off x="10050132" y="3303651"/>
              <a:ext cx="18366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4"/>
                  </a:solidFill>
                </a:rPr>
                <a:t>OSPF</a:t>
              </a:r>
              <a:r>
                <a:rPr lang="zh-CN" altLang="en-US" sz="2000" b="1" dirty="0">
                  <a:solidFill>
                    <a:schemeClr val="accent4"/>
                  </a:solidFill>
                </a:rPr>
                <a:t>区域</a:t>
              </a:r>
              <a:r>
                <a:rPr lang="en-US" altLang="zh-CN" sz="2000" b="1" dirty="0">
                  <a:solidFill>
                    <a:schemeClr val="accent4"/>
                  </a:solidFill>
                </a:rPr>
                <a:t>200</a:t>
              </a:r>
              <a:endParaRPr lang="en-US" altLang="zh-CN" sz="2000" b="1" dirty="0">
                <a:solidFill>
                  <a:schemeClr val="accent4"/>
                </a:solidFill>
              </a:endParaRPr>
            </a:p>
            <a:p>
              <a:pPr algn="ctr"/>
              <a:r>
                <a:rPr lang="zh-CN" altLang="en-US" sz="2000" b="1" dirty="0">
                  <a:solidFill>
                    <a:schemeClr val="accent4"/>
                  </a:solidFill>
                </a:rPr>
                <a:t>（</a:t>
              </a:r>
              <a:r>
                <a:rPr lang="en-US" altLang="zh-CN" sz="2000" b="1" dirty="0">
                  <a:solidFill>
                    <a:schemeClr val="accent4"/>
                  </a:solidFill>
                </a:rPr>
                <a:t>area 200</a:t>
              </a:r>
              <a:r>
                <a:rPr lang="zh-CN" altLang="en-US" sz="2000" b="1" dirty="0">
                  <a:solidFill>
                    <a:schemeClr val="accent4"/>
                  </a:solidFill>
                </a:rPr>
                <a:t>）</a:t>
              </a:r>
              <a:endParaRPr lang="zh-CN" alt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125" name="矩形 124"/>
            <p:cNvSpPr/>
            <p:nvPr/>
          </p:nvSpPr>
          <p:spPr>
            <a:xfrm>
              <a:off x="6700286" y="3188812"/>
              <a:ext cx="5182789" cy="3134274"/>
            </a:xfrm>
            <a:prstGeom prst="rect">
              <a:avLst/>
            </a:prstGeom>
            <a:noFill/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矩形 3"/>
          <p:cNvSpPr/>
          <p:nvPr/>
        </p:nvSpPr>
        <p:spPr>
          <a:xfrm>
            <a:off x="317709" y="1693046"/>
            <a:ext cx="3080181" cy="1426628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bg1"/>
                </a:solidFill>
              </a:rPr>
              <a:t>         在计算机</a:t>
            </a:r>
            <a:r>
              <a:rPr lang="en-US" altLang="zh-CN" sz="2000" b="1" dirty="0">
                <a:solidFill>
                  <a:schemeClr val="bg1"/>
                </a:solidFill>
              </a:rPr>
              <a:t>PC0</a:t>
            </a:r>
            <a:r>
              <a:rPr lang="zh-CN" altLang="en-US" sz="2000" b="1" dirty="0">
                <a:solidFill>
                  <a:schemeClr val="bg1"/>
                </a:solidFill>
              </a:rPr>
              <a:t>的命令行使用“</a:t>
            </a:r>
            <a:r>
              <a:rPr lang="en-US" altLang="zh-CN" sz="2000" b="1" dirty="0">
                <a:solidFill>
                  <a:schemeClr val="bg1"/>
                </a:solidFill>
              </a:rPr>
              <a:t>ping</a:t>
            </a:r>
            <a:r>
              <a:rPr lang="zh-CN" altLang="en-US" sz="2000" b="1" dirty="0">
                <a:solidFill>
                  <a:schemeClr val="bg1"/>
                </a:solidFill>
              </a:rPr>
              <a:t>”命令，测试</a:t>
            </a:r>
            <a:r>
              <a:rPr lang="en-US" altLang="zh-CN" sz="2000" b="1" dirty="0">
                <a:solidFill>
                  <a:schemeClr val="bg1"/>
                </a:solidFill>
              </a:rPr>
              <a:t>PC0</a:t>
            </a:r>
            <a:r>
              <a:rPr lang="zh-CN" altLang="en-US" sz="2000" b="1" dirty="0">
                <a:solidFill>
                  <a:schemeClr val="bg1"/>
                </a:solidFill>
              </a:rPr>
              <a:t>与</a:t>
            </a:r>
            <a:r>
              <a:rPr lang="en-US" altLang="zh-CN" sz="2000" b="1" dirty="0">
                <a:solidFill>
                  <a:schemeClr val="bg1"/>
                </a:solidFill>
              </a:rPr>
              <a:t>PC1</a:t>
            </a:r>
            <a:r>
              <a:rPr lang="zh-CN" altLang="en-US" sz="2000" b="1" dirty="0">
                <a:solidFill>
                  <a:schemeClr val="bg1"/>
                </a:solidFill>
              </a:rPr>
              <a:t>之间的连通性。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cxnSp>
        <p:nvCxnSpPr>
          <p:cNvPr id="5" name="连接符: 曲线 4"/>
          <p:cNvCxnSpPr>
            <a:stCxn id="68" idx="0"/>
            <a:endCxn id="72" idx="0"/>
          </p:cNvCxnSpPr>
          <p:nvPr/>
        </p:nvCxnSpPr>
        <p:spPr>
          <a:xfrm rot="5400000" flipH="1" flipV="1">
            <a:off x="6125183" y="-259797"/>
            <a:ext cx="12700" cy="10624338"/>
          </a:xfrm>
          <a:prstGeom prst="curvedConnector3">
            <a:avLst>
              <a:gd name="adj1" fmla="val 6651063"/>
            </a:avLst>
          </a:prstGeom>
          <a:ln w="50800">
            <a:solidFill>
              <a:schemeClr val="accent4"/>
            </a:solidFill>
            <a:prstDash val="dash"/>
            <a:headEnd type="triangle" w="med" len="lg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4692878" y="685800"/>
            <a:ext cx="2797413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8.  </a:t>
            </a:r>
            <a:r>
              <a:rPr lang="zh-CN" altLang="en-US" sz="2400" b="1" dirty="0"/>
              <a:t>网络连通性测试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pic>
        <p:nvPicPr>
          <p:cNvPr id="7" name="20 6" descr="文本&#10;&#10;低可信度描述已自动生成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1384147"/>
            <a:ext cx="11582400" cy="4453819"/>
          </a:xfrm>
          <a:prstGeom prst="rect">
            <a:avLst/>
          </a:prstGeom>
        </p:spPr>
      </p:pic>
      <p:sp>
        <p:nvSpPr>
          <p:cNvPr id="8" name="矩形 7"/>
          <p:cNvSpPr/>
          <p:nvPr/>
        </p:nvSpPr>
        <p:spPr>
          <a:xfrm>
            <a:off x="421531" y="2572194"/>
            <a:ext cx="5700408" cy="2466733"/>
          </a:xfrm>
          <a:prstGeom prst="rect">
            <a:avLst/>
          </a:prstGeom>
          <a:noFill/>
          <a:ln w="25400"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6219218" y="2482121"/>
            <a:ext cx="570040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//  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测试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PC0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与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PC1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的连通性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//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（不同网络，需要经过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Router2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、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Router0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、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Router1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、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//     Router3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的转发）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//  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在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Router3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给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PC1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进行直接交付时，需要首先使用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ARP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获取</a:t>
            </a:r>
            <a:endParaRPr lang="en-US" altLang="zh-CN" sz="16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//  PC1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的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MAC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地址，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Router3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会丢弃待转发的</a:t>
            </a:r>
            <a:r>
              <a:rPr lang="en-US" altLang="zh-CN" sz="1600" b="1" dirty="0">
                <a:solidFill>
                  <a:schemeClr val="accent1">
                    <a:lumMod val="75000"/>
                  </a:schemeClr>
                </a:solidFill>
              </a:rPr>
              <a:t>IP</a:t>
            </a:r>
            <a:r>
              <a:rPr lang="zh-CN" altLang="en-US" sz="1600" b="1" dirty="0">
                <a:solidFill>
                  <a:schemeClr val="accent1">
                    <a:lumMod val="75000"/>
                  </a:schemeClr>
                </a:solidFill>
              </a:rPr>
              <a:t>数据报。</a:t>
            </a:r>
            <a:endParaRPr lang="zh-CN" altLang="en-US" sz="1600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flipH="1" flipV="1">
            <a:off x="2321668" y="3367180"/>
            <a:ext cx="3722451" cy="61820"/>
          </a:xfrm>
          <a:prstGeom prst="straightConnector1">
            <a:avLst/>
          </a:prstGeom>
          <a:ln w="38100">
            <a:solidFill>
              <a:schemeClr val="accent1">
                <a:lumMod val="75000"/>
              </a:schemeClr>
            </a:solidFill>
            <a:prstDash val="sys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 10"/>
          <p:cNvSpPr/>
          <p:nvPr/>
        </p:nvSpPr>
        <p:spPr>
          <a:xfrm>
            <a:off x="313432" y="5505856"/>
            <a:ext cx="11582400" cy="89253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chemeClr val="bg1"/>
                </a:solidFill>
              </a:rPr>
              <a:t>         如果测试失败，请检查网络拓扑、主机的</a:t>
            </a:r>
            <a:r>
              <a:rPr lang="en-US" altLang="zh-CN" b="1" dirty="0">
                <a:solidFill>
                  <a:schemeClr val="bg1"/>
                </a:solidFill>
              </a:rPr>
              <a:t>IP</a:t>
            </a:r>
            <a:r>
              <a:rPr lang="zh-CN" altLang="en-US" b="1" dirty="0">
                <a:solidFill>
                  <a:schemeClr val="bg1"/>
                </a:solidFill>
              </a:rPr>
              <a:t>地址、子网掩码以及默认网关的</a:t>
            </a:r>
            <a:r>
              <a:rPr lang="en-US" altLang="zh-CN" b="1" dirty="0">
                <a:solidFill>
                  <a:schemeClr val="bg1"/>
                </a:solidFill>
              </a:rPr>
              <a:t>IP</a:t>
            </a:r>
            <a:r>
              <a:rPr lang="zh-CN" altLang="en-US" b="1" dirty="0">
                <a:solidFill>
                  <a:schemeClr val="bg1"/>
                </a:solidFill>
              </a:rPr>
              <a:t>地址配置、路由器相关接口的</a:t>
            </a:r>
            <a:r>
              <a:rPr lang="en-US" altLang="zh-CN" b="1" dirty="0">
                <a:solidFill>
                  <a:schemeClr val="bg1"/>
                </a:solidFill>
              </a:rPr>
              <a:t>IP</a:t>
            </a:r>
            <a:r>
              <a:rPr lang="zh-CN" altLang="en-US" b="1" dirty="0">
                <a:solidFill>
                  <a:schemeClr val="bg1"/>
                </a:solidFill>
              </a:rPr>
              <a:t>地址和子网掩码配置、路由器的</a:t>
            </a:r>
            <a:r>
              <a:rPr lang="en-US" altLang="zh-CN" b="1" dirty="0">
                <a:solidFill>
                  <a:schemeClr val="bg1"/>
                </a:solidFill>
              </a:rPr>
              <a:t>OSPF</a:t>
            </a:r>
            <a:r>
              <a:rPr lang="zh-CN" altLang="en-US" b="1" dirty="0">
                <a:solidFill>
                  <a:schemeClr val="bg1"/>
                </a:solidFill>
              </a:rPr>
              <a:t>协议启用、网络设备相关接口的状态是否正确。</a:t>
            </a:r>
            <a:endParaRPr lang="zh-CN" alt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/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59024" y="685800"/>
            <a:ext cx="4671616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9.  </a:t>
            </a:r>
            <a:r>
              <a:rPr lang="zh-CN" altLang="en-US" sz="2400" b="1" dirty="0"/>
              <a:t>观察各路由器的</a:t>
            </a:r>
            <a:r>
              <a:rPr lang="en-US" altLang="zh-CN" sz="2400" b="1" dirty="0"/>
              <a:t>OSPF</a:t>
            </a:r>
            <a:r>
              <a:rPr lang="zh-CN" altLang="en-US" sz="2400" b="1" dirty="0"/>
              <a:t>相关事件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8141408" y="5261622"/>
            <a:ext cx="3110656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010126" y="5261622"/>
            <a:ext cx="3110656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4668822" y="2748015"/>
            <a:ext cx="3014769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4355979" y="2904294"/>
            <a:ext cx="0" cy="2224442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7885393" y="2904294"/>
            <a:ext cx="0" cy="2224442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404704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48" y="5052372"/>
            <a:ext cx="539132" cy="457973"/>
          </a:xfrm>
          <a:prstGeom prst="rect">
            <a:avLst/>
          </a:prstGeom>
        </p:spPr>
      </p:pic>
      <p:pic>
        <p:nvPicPr>
          <p:cNvPr id="69" name="20 68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5090553"/>
            <a:ext cx="530013" cy="381609"/>
          </a:xfrm>
          <a:prstGeom prst="rect">
            <a:avLst/>
          </a:prstGeom>
        </p:spPr>
      </p:pic>
      <p:sp>
        <p:nvSpPr>
          <p:cNvPr id="70" name="文本框 69"/>
          <p:cNvSpPr txBox="1"/>
          <p:nvPr/>
        </p:nvSpPr>
        <p:spPr>
          <a:xfrm>
            <a:off x="4482400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pic>
        <p:nvPicPr>
          <p:cNvPr id="71" name="20 70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5128736"/>
            <a:ext cx="530013" cy="381609"/>
          </a:xfrm>
          <a:prstGeom prst="rect">
            <a:avLst/>
          </a:prstGeom>
        </p:spPr>
      </p:pic>
      <p:pic>
        <p:nvPicPr>
          <p:cNvPr id="72" name="20 71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786" y="5052372"/>
            <a:ext cx="539132" cy="457973"/>
          </a:xfrm>
          <a:prstGeom prst="rect">
            <a:avLst/>
          </a:prstGeom>
        </p:spPr>
      </p:pic>
      <p:pic>
        <p:nvPicPr>
          <p:cNvPr id="73" name="20 72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2557225"/>
            <a:ext cx="530013" cy="381609"/>
          </a:xfrm>
          <a:prstGeom prst="rect">
            <a:avLst/>
          </a:prstGeom>
        </p:spPr>
      </p:pic>
      <p:pic>
        <p:nvPicPr>
          <p:cNvPr id="74" name="20 7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2557225"/>
            <a:ext cx="530013" cy="381609"/>
          </a:xfrm>
          <a:prstGeom prst="rect">
            <a:avLst/>
          </a:prstGeom>
        </p:spPr>
      </p:pic>
      <p:sp>
        <p:nvSpPr>
          <p:cNvPr id="75" name="文本框 74"/>
          <p:cNvSpPr txBox="1"/>
          <p:nvPr/>
        </p:nvSpPr>
        <p:spPr>
          <a:xfrm>
            <a:off x="3222002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8007838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77" name="文本框 76"/>
          <p:cNvSpPr txBox="1"/>
          <p:nvPr/>
        </p:nvSpPr>
        <p:spPr>
          <a:xfrm>
            <a:off x="6791069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Router3</a:t>
            </a:r>
            <a:endParaRPr lang="zh-CN" altLang="en-US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11029042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8141408" y="5281356"/>
            <a:ext cx="856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3406809" y="528135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4577666" y="232708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6896627" y="232708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86" name="文本框 85"/>
          <p:cNvSpPr txBox="1"/>
          <p:nvPr/>
        </p:nvSpPr>
        <p:spPr>
          <a:xfrm>
            <a:off x="3403517" y="4585911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87" name="文本框 86"/>
          <p:cNvSpPr txBox="1"/>
          <p:nvPr/>
        </p:nvSpPr>
        <p:spPr>
          <a:xfrm>
            <a:off x="3403517" y="3154479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8083862" y="4585911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89" name="文本框 88"/>
          <p:cNvSpPr txBox="1"/>
          <p:nvPr/>
        </p:nvSpPr>
        <p:spPr>
          <a:xfrm>
            <a:off x="8083862" y="3154479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90" name="文本框 89"/>
          <p:cNvSpPr txBox="1"/>
          <p:nvPr/>
        </p:nvSpPr>
        <p:spPr>
          <a:xfrm>
            <a:off x="308925" y="5641911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91" name="文本框 90"/>
          <p:cNvSpPr txBox="1"/>
          <p:nvPr/>
        </p:nvSpPr>
        <p:spPr>
          <a:xfrm>
            <a:off x="2572032" y="5641911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192.168.0.254/24</a:t>
            </a:r>
            <a:endParaRPr lang="zh-CN" altLang="en-US" b="1" dirty="0"/>
          </a:p>
        </p:txBody>
      </p:sp>
      <p:sp>
        <p:nvSpPr>
          <p:cNvPr id="92" name="文本框 91"/>
          <p:cNvSpPr txBox="1"/>
          <p:nvPr/>
        </p:nvSpPr>
        <p:spPr>
          <a:xfrm>
            <a:off x="4577666" y="2087878"/>
            <a:ext cx="124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10.0.0.1/30</a:t>
            </a:r>
            <a:endParaRPr lang="zh-CN" altLang="en-US" b="1" dirty="0"/>
          </a:p>
        </p:txBody>
      </p:sp>
      <p:sp>
        <p:nvSpPr>
          <p:cNvPr id="93" name="文本框 92"/>
          <p:cNvSpPr txBox="1"/>
          <p:nvPr/>
        </p:nvSpPr>
        <p:spPr>
          <a:xfrm>
            <a:off x="6431183" y="2087878"/>
            <a:ext cx="124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10.0.0.2/30</a:t>
            </a:r>
            <a:endParaRPr lang="zh-CN" altLang="en-US" b="1" dirty="0"/>
          </a:p>
        </p:txBody>
      </p:sp>
      <p:sp>
        <p:nvSpPr>
          <p:cNvPr id="94" name="文本框 93"/>
          <p:cNvSpPr txBox="1"/>
          <p:nvPr/>
        </p:nvSpPr>
        <p:spPr>
          <a:xfrm>
            <a:off x="2566222" y="4331415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172.16.0.2/30</a:t>
            </a:r>
            <a:endParaRPr lang="zh-CN" altLang="en-US" b="1" dirty="0"/>
          </a:p>
        </p:txBody>
      </p:sp>
      <p:sp>
        <p:nvSpPr>
          <p:cNvPr id="95" name="文本框 94"/>
          <p:cNvSpPr txBox="1"/>
          <p:nvPr/>
        </p:nvSpPr>
        <p:spPr>
          <a:xfrm>
            <a:off x="2554836" y="3424776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172.16.0.1/30</a:t>
            </a:r>
            <a:endParaRPr lang="zh-CN" altLang="en-US" b="1" dirty="0"/>
          </a:p>
        </p:txBody>
      </p:sp>
      <p:sp>
        <p:nvSpPr>
          <p:cNvPr id="96" name="文本框 95"/>
          <p:cNvSpPr txBox="1"/>
          <p:nvPr/>
        </p:nvSpPr>
        <p:spPr>
          <a:xfrm>
            <a:off x="8083862" y="4331415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172.19.0.2/30</a:t>
            </a:r>
            <a:endParaRPr lang="zh-CN" altLang="en-US" b="1" dirty="0"/>
          </a:p>
        </p:txBody>
      </p:sp>
      <p:sp>
        <p:nvSpPr>
          <p:cNvPr id="97" name="文本框 96"/>
          <p:cNvSpPr txBox="1"/>
          <p:nvPr/>
        </p:nvSpPr>
        <p:spPr>
          <a:xfrm>
            <a:off x="8083862" y="3424776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172.19.0.1/30</a:t>
            </a:r>
            <a:endParaRPr lang="zh-CN" altLang="en-US" b="1" dirty="0"/>
          </a:p>
        </p:txBody>
      </p:sp>
      <p:sp>
        <p:nvSpPr>
          <p:cNvPr id="98" name="文本框 97"/>
          <p:cNvSpPr txBox="1"/>
          <p:nvPr/>
        </p:nvSpPr>
        <p:spPr>
          <a:xfrm>
            <a:off x="8141408" y="5641911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192.168.1.254/24</a:t>
            </a:r>
            <a:endParaRPr lang="zh-CN" altLang="en-US" b="1" dirty="0"/>
          </a:p>
        </p:txBody>
      </p:sp>
      <p:sp>
        <p:nvSpPr>
          <p:cNvPr id="99" name="文本框 98"/>
          <p:cNvSpPr txBox="1"/>
          <p:nvPr/>
        </p:nvSpPr>
        <p:spPr>
          <a:xfrm>
            <a:off x="10428049" y="5641911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192.168.1.1/24</a:t>
            </a:r>
            <a:endParaRPr lang="zh-CN" altLang="en-US" b="1" dirty="0"/>
          </a:p>
        </p:txBody>
      </p:sp>
      <p:sp>
        <p:nvSpPr>
          <p:cNvPr id="100" name="文本框 99"/>
          <p:cNvSpPr txBox="1"/>
          <p:nvPr/>
        </p:nvSpPr>
        <p:spPr>
          <a:xfrm>
            <a:off x="308925" y="5953754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192.168.0.254</a:t>
            </a:r>
            <a:endParaRPr lang="zh-CN" altLang="en-US" b="1" dirty="0"/>
          </a:p>
        </p:txBody>
      </p:sp>
      <p:sp>
        <p:nvSpPr>
          <p:cNvPr id="101" name="文本框 100"/>
          <p:cNvSpPr txBox="1"/>
          <p:nvPr/>
        </p:nvSpPr>
        <p:spPr>
          <a:xfrm>
            <a:off x="10428049" y="5953754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192.168.1.254</a:t>
            </a:r>
            <a:endParaRPr lang="zh-CN" altLang="en-US" b="1" dirty="0"/>
          </a:p>
        </p:txBody>
      </p:sp>
      <p:sp>
        <p:nvSpPr>
          <p:cNvPr id="102" name="等腰三角形 101"/>
          <p:cNvSpPr/>
          <p:nvPr/>
        </p:nvSpPr>
        <p:spPr>
          <a:xfrm>
            <a:off x="4299256" y="328519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等腰三角形 102"/>
          <p:cNvSpPr/>
          <p:nvPr/>
        </p:nvSpPr>
        <p:spPr>
          <a:xfrm>
            <a:off x="4305741" y="470074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等腰三角形 103"/>
          <p:cNvSpPr/>
          <p:nvPr/>
        </p:nvSpPr>
        <p:spPr>
          <a:xfrm>
            <a:off x="7827528" y="328519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等腰三角形 104"/>
          <p:cNvSpPr/>
          <p:nvPr/>
        </p:nvSpPr>
        <p:spPr>
          <a:xfrm>
            <a:off x="7834013" y="470074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等腰三角形 105"/>
          <p:cNvSpPr/>
          <p:nvPr/>
        </p:nvSpPr>
        <p:spPr>
          <a:xfrm>
            <a:off x="4935973" y="269757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等腰三角形 106"/>
          <p:cNvSpPr/>
          <p:nvPr/>
        </p:nvSpPr>
        <p:spPr>
          <a:xfrm>
            <a:off x="7272403" y="269757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等腰三角形 107"/>
          <p:cNvSpPr/>
          <p:nvPr/>
        </p:nvSpPr>
        <p:spPr>
          <a:xfrm>
            <a:off x="1394165" y="520429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等腰三角形 108"/>
          <p:cNvSpPr/>
          <p:nvPr/>
        </p:nvSpPr>
        <p:spPr>
          <a:xfrm>
            <a:off x="3730595" y="520429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等腰三角形 109"/>
          <p:cNvSpPr/>
          <p:nvPr/>
        </p:nvSpPr>
        <p:spPr>
          <a:xfrm>
            <a:off x="8485013" y="521341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等腰三角形 110"/>
          <p:cNvSpPr/>
          <p:nvPr/>
        </p:nvSpPr>
        <p:spPr>
          <a:xfrm>
            <a:off x="10821443" y="521341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文本框 111"/>
          <p:cNvSpPr txBox="1"/>
          <p:nvPr/>
        </p:nvSpPr>
        <p:spPr>
          <a:xfrm>
            <a:off x="1540676" y="4894330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网络</a:t>
            </a:r>
            <a:r>
              <a:rPr lang="en-US" altLang="zh-CN" b="1" dirty="0"/>
              <a:t>192.168.0.0/24</a:t>
            </a:r>
            <a:endParaRPr lang="zh-CN" altLang="en-US" b="1" dirty="0"/>
          </a:p>
        </p:txBody>
      </p:sp>
      <p:sp>
        <p:nvSpPr>
          <p:cNvPr id="113" name="文本框 112"/>
          <p:cNvSpPr txBox="1"/>
          <p:nvPr/>
        </p:nvSpPr>
        <p:spPr>
          <a:xfrm>
            <a:off x="8671958" y="4894330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网络</a:t>
            </a:r>
            <a:r>
              <a:rPr lang="en-US" altLang="zh-CN" b="1" dirty="0"/>
              <a:t>192.168.1.0/24</a:t>
            </a:r>
            <a:endParaRPr lang="zh-CN" altLang="en-US" b="1" dirty="0"/>
          </a:p>
        </p:txBody>
      </p:sp>
      <p:sp>
        <p:nvSpPr>
          <p:cNvPr id="114" name="文本框 113"/>
          <p:cNvSpPr txBox="1"/>
          <p:nvPr/>
        </p:nvSpPr>
        <p:spPr>
          <a:xfrm>
            <a:off x="5182823" y="2719628"/>
            <a:ext cx="1826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网络</a:t>
            </a:r>
            <a:r>
              <a:rPr lang="en-US" altLang="zh-CN" b="1" dirty="0"/>
              <a:t>10.0.0.0/30</a:t>
            </a:r>
            <a:endParaRPr lang="zh-CN" altLang="en-US" b="1" dirty="0"/>
          </a:p>
        </p:txBody>
      </p:sp>
      <p:sp>
        <p:nvSpPr>
          <p:cNvPr id="115" name="文本框 114"/>
          <p:cNvSpPr txBox="1"/>
          <p:nvPr/>
        </p:nvSpPr>
        <p:spPr>
          <a:xfrm>
            <a:off x="2129179" y="3878095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/>
              <a:t>网络</a:t>
            </a:r>
            <a:r>
              <a:rPr lang="en-US" altLang="zh-CN" b="1" dirty="0"/>
              <a:t>172.16.0.0/30</a:t>
            </a:r>
            <a:endParaRPr lang="zh-CN" altLang="en-US" b="1" dirty="0"/>
          </a:p>
        </p:txBody>
      </p:sp>
      <p:sp>
        <p:nvSpPr>
          <p:cNvPr id="116" name="文本框 115"/>
          <p:cNvSpPr txBox="1"/>
          <p:nvPr/>
        </p:nvSpPr>
        <p:spPr>
          <a:xfrm>
            <a:off x="8083862" y="3878095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网络</a:t>
            </a:r>
            <a:r>
              <a:rPr lang="en-US" altLang="zh-CN" b="1" dirty="0"/>
              <a:t>172.19.0.0/30</a:t>
            </a:r>
            <a:endParaRPr lang="zh-CN" altLang="en-US" b="1" dirty="0"/>
          </a:p>
        </p:txBody>
      </p:sp>
      <p:grpSp>
        <p:nvGrpSpPr>
          <p:cNvPr id="117" name="组合 116"/>
          <p:cNvGrpSpPr/>
          <p:nvPr/>
        </p:nvGrpSpPr>
        <p:grpSpPr>
          <a:xfrm>
            <a:off x="4620986" y="1518195"/>
            <a:ext cx="3014769" cy="1535070"/>
            <a:chOff x="4620986" y="1518195"/>
            <a:chExt cx="3014769" cy="1535070"/>
          </a:xfrm>
        </p:grpSpPr>
        <p:sp>
          <p:nvSpPr>
            <p:cNvPr id="118" name="矩形 117"/>
            <p:cNvSpPr/>
            <p:nvPr/>
          </p:nvSpPr>
          <p:spPr>
            <a:xfrm>
              <a:off x="4620986" y="1537929"/>
              <a:ext cx="3014769" cy="1515336"/>
            </a:xfrm>
            <a:prstGeom prst="rect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文本框 118"/>
            <p:cNvSpPr txBox="1"/>
            <p:nvPr/>
          </p:nvSpPr>
          <p:spPr>
            <a:xfrm>
              <a:off x="5054066" y="1518195"/>
              <a:ext cx="208899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rgbClr val="FF0000"/>
                  </a:solidFill>
                </a:rPr>
                <a:t>OSPF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主干区域</a:t>
              </a:r>
              <a:endParaRPr lang="en-US" altLang="zh-CN" sz="2000" b="1" dirty="0">
                <a:solidFill>
                  <a:srgbClr val="FF0000"/>
                </a:solidFill>
              </a:endParaRPr>
            </a:p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（</a:t>
              </a:r>
              <a:r>
                <a:rPr lang="en-US" altLang="zh-CN" sz="2000" b="1" dirty="0">
                  <a:solidFill>
                    <a:srgbClr val="FF0000"/>
                  </a:solidFill>
                </a:rPr>
                <a:t>area 0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）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304799" y="3188812"/>
            <a:ext cx="5189367" cy="3134274"/>
            <a:chOff x="304799" y="3188812"/>
            <a:chExt cx="5189367" cy="3134274"/>
          </a:xfrm>
        </p:grpSpPr>
        <p:sp>
          <p:nvSpPr>
            <p:cNvPr id="121" name="文本框 120"/>
            <p:cNvSpPr txBox="1"/>
            <p:nvPr/>
          </p:nvSpPr>
          <p:spPr>
            <a:xfrm>
              <a:off x="304799" y="3303651"/>
              <a:ext cx="18366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3"/>
                  </a:solidFill>
                </a:rPr>
                <a:t>OSPF</a:t>
              </a:r>
              <a:r>
                <a:rPr lang="zh-CN" altLang="en-US" sz="2000" b="1" dirty="0">
                  <a:solidFill>
                    <a:schemeClr val="accent3"/>
                  </a:solidFill>
                </a:rPr>
                <a:t>区域</a:t>
              </a:r>
              <a:r>
                <a:rPr lang="en-US" altLang="zh-CN" sz="2000" b="1" dirty="0">
                  <a:solidFill>
                    <a:schemeClr val="accent3"/>
                  </a:solidFill>
                </a:rPr>
                <a:t>100</a:t>
              </a:r>
              <a:endParaRPr lang="en-US" altLang="zh-CN" sz="2000" b="1" dirty="0">
                <a:solidFill>
                  <a:schemeClr val="accent3"/>
                </a:solidFill>
              </a:endParaRPr>
            </a:p>
            <a:p>
              <a:pPr algn="ctr"/>
              <a:r>
                <a:rPr lang="zh-CN" altLang="en-US" sz="2000" b="1" dirty="0">
                  <a:solidFill>
                    <a:schemeClr val="accent3"/>
                  </a:solidFill>
                </a:rPr>
                <a:t>（</a:t>
              </a:r>
              <a:r>
                <a:rPr lang="en-US" altLang="zh-CN" sz="2000" b="1" dirty="0">
                  <a:solidFill>
                    <a:schemeClr val="accent3"/>
                  </a:solidFill>
                </a:rPr>
                <a:t>area 100</a:t>
              </a:r>
              <a:r>
                <a:rPr lang="zh-CN" altLang="en-US" sz="2000" b="1" dirty="0">
                  <a:solidFill>
                    <a:schemeClr val="accent3"/>
                  </a:solidFill>
                </a:rPr>
                <a:t>）</a:t>
              </a:r>
              <a:endParaRPr lang="zh-CN" altLang="en-US" sz="2000" b="1" dirty="0">
                <a:solidFill>
                  <a:schemeClr val="accent3"/>
                </a:solidFill>
              </a:endParaRPr>
            </a:p>
          </p:txBody>
        </p:sp>
        <p:sp>
          <p:nvSpPr>
            <p:cNvPr id="122" name="矩形 121"/>
            <p:cNvSpPr/>
            <p:nvPr/>
          </p:nvSpPr>
          <p:spPr>
            <a:xfrm>
              <a:off x="311377" y="3188812"/>
              <a:ext cx="5182789" cy="3134274"/>
            </a:xfrm>
            <a:prstGeom prst="rect">
              <a:avLst/>
            </a:prstGeom>
            <a:noFill/>
            <a:ln w="2540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6700286" y="3188812"/>
            <a:ext cx="5186461" cy="3134274"/>
            <a:chOff x="6700286" y="3188812"/>
            <a:chExt cx="5186461" cy="3134274"/>
          </a:xfrm>
        </p:grpSpPr>
        <p:sp>
          <p:nvSpPr>
            <p:cNvPr id="124" name="文本框 123"/>
            <p:cNvSpPr txBox="1"/>
            <p:nvPr/>
          </p:nvSpPr>
          <p:spPr>
            <a:xfrm>
              <a:off x="10050132" y="3303651"/>
              <a:ext cx="18366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4"/>
                  </a:solidFill>
                </a:rPr>
                <a:t>OSPF</a:t>
              </a:r>
              <a:r>
                <a:rPr lang="zh-CN" altLang="en-US" sz="2000" b="1" dirty="0">
                  <a:solidFill>
                    <a:schemeClr val="accent4"/>
                  </a:solidFill>
                </a:rPr>
                <a:t>区域</a:t>
              </a:r>
              <a:r>
                <a:rPr lang="en-US" altLang="zh-CN" sz="2000" b="1" dirty="0">
                  <a:solidFill>
                    <a:schemeClr val="accent4"/>
                  </a:solidFill>
                </a:rPr>
                <a:t>200</a:t>
              </a:r>
              <a:endParaRPr lang="en-US" altLang="zh-CN" sz="2000" b="1" dirty="0">
                <a:solidFill>
                  <a:schemeClr val="accent4"/>
                </a:solidFill>
              </a:endParaRPr>
            </a:p>
            <a:p>
              <a:pPr algn="ctr"/>
              <a:r>
                <a:rPr lang="zh-CN" altLang="en-US" sz="2000" b="1" dirty="0">
                  <a:solidFill>
                    <a:schemeClr val="accent4"/>
                  </a:solidFill>
                </a:rPr>
                <a:t>（</a:t>
              </a:r>
              <a:r>
                <a:rPr lang="en-US" altLang="zh-CN" sz="2000" b="1" dirty="0">
                  <a:solidFill>
                    <a:schemeClr val="accent4"/>
                  </a:solidFill>
                </a:rPr>
                <a:t>area 200</a:t>
              </a:r>
              <a:r>
                <a:rPr lang="zh-CN" altLang="en-US" sz="2000" b="1" dirty="0">
                  <a:solidFill>
                    <a:schemeClr val="accent4"/>
                  </a:solidFill>
                </a:rPr>
                <a:t>）</a:t>
              </a:r>
              <a:endParaRPr lang="zh-CN" alt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125" name="矩形 124"/>
            <p:cNvSpPr/>
            <p:nvPr/>
          </p:nvSpPr>
          <p:spPr>
            <a:xfrm>
              <a:off x="6700286" y="3188812"/>
              <a:ext cx="5182789" cy="3134274"/>
            </a:xfrm>
            <a:prstGeom prst="rect">
              <a:avLst/>
            </a:prstGeom>
            <a:noFill/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pic>
        <p:nvPicPr>
          <p:cNvPr id="6" name="20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16153" y="1863031"/>
            <a:ext cx="2874142" cy="120473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8898518" y="1192624"/>
            <a:ext cx="3258944" cy="650674"/>
            <a:chOff x="10167773" y="1513359"/>
            <a:chExt cx="3258944" cy="650674"/>
          </a:xfrm>
        </p:grpSpPr>
        <p:cxnSp>
          <p:nvCxnSpPr>
            <p:cNvPr id="8" name="直接箭头连接符 7"/>
            <p:cNvCxnSpPr/>
            <p:nvPr/>
          </p:nvCxnSpPr>
          <p:spPr>
            <a:xfrm>
              <a:off x="11544809" y="1858664"/>
              <a:ext cx="0" cy="305369"/>
            </a:xfrm>
            <a:prstGeom prst="straightConnector1">
              <a:avLst/>
            </a:prstGeom>
            <a:ln w="25400">
              <a:solidFill>
                <a:schemeClr val="accent1">
                  <a:lumMod val="75000"/>
                </a:schemeClr>
              </a:solidFill>
              <a:tailEnd type="triangl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本框 8"/>
            <p:cNvSpPr txBox="1"/>
            <p:nvPr/>
          </p:nvSpPr>
          <p:spPr>
            <a:xfrm>
              <a:off x="10167773" y="1513359"/>
              <a:ext cx="3258944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2000" b="1" dirty="0">
                  <a:solidFill>
                    <a:schemeClr val="accent1">
                      <a:lumMod val="75000"/>
                    </a:schemeClr>
                  </a:solidFill>
                </a:rPr>
                <a:t>切换到“实时”工作模式</a:t>
              </a:r>
              <a:endParaRPr lang="zh-CN" altLang="en-US" sz="2000" b="1" dirty="0">
                <a:solidFill>
                  <a:schemeClr val="accent1">
                    <a:lumMod val="75000"/>
                  </a:schemeClr>
                </a:solidFill>
              </a:endParaRPr>
            </a:p>
          </p:txBody>
        </p:sp>
      </p:grpSp>
      <p:sp>
        <p:nvSpPr>
          <p:cNvPr id="11" name="矩形 10"/>
          <p:cNvSpPr/>
          <p:nvPr/>
        </p:nvSpPr>
        <p:spPr>
          <a:xfrm>
            <a:off x="296897" y="1540014"/>
            <a:ext cx="4252446" cy="81054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800" b="1" dirty="0"/>
              <a:t>Router#debug ip ospf events</a:t>
            </a:r>
            <a:endParaRPr lang="zh-CN" altLang="en-US" sz="2800" b="1" dirty="0"/>
          </a:p>
        </p:txBody>
      </p:sp>
      <p:sp>
        <p:nvSpPr>
          <p:cNvPr id="12" name="矩形 11"/>
          <p:cNvSpPr/>
          <p:nvPr/>
        </p:nvSpPr>
        <p:spPr>
          <a:xfrm>
            <a:off x="332771" y="3322466"/>
            <a:ext cx="11554429" cy="1358548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50000"/>
              </a:lnSpc>
            </a:pPr>
            <a:r>
              <a:rPr lang="zh-CN" altLang="en-US" sz="2400" b="1" dirty="0"/>
              <a:t>         由于查看</a:t>
            </a:r>
            <a:r>
              <a:rPr lang="en-US" altLang="zh-CN" sz="2400" b="1" dirty="0"/>
              <a:t>OSPF</a:t>
            </a:r>
            <a:r>
              <a:rPr lang="zh-CN" altLang="en-US" sz="2400" b="1" dirty="0"/>
              <a:t>相关事件的过程会永久持续下去，因此在不需要查看该过程时，可在路由器的命令行界面中输入“</a:t>
            </a:r>
            <a:r>
              <a:rPr lang="en-US" altLang="zh-CN" sz="2400" b="1" dirty="0"/>
              <a:t>no debug ip ospf events</a:t>
            </a:r>
            <a:r>
              <a:rPr lang="zh-CN" altLang="en-US" sz="2400" b="1" dirty="0"/>
              <a:t>”命令，关闭该过程。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800" decel="100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800" decel="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1" grpId="0" animBg="1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3759024" y="685800"/>
            <a:ext cx="4671616" cy="5800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/>
              <a:t>9.  </a:t>
            </a:r>
            <a:r>
              <a:rPr lang="zh-CN" altLang="en-US" sz="2400" b="1" dirty="0"/>
              <a:t>观察各路由器的</a:t>
            </a:r>
            <a:r>
              <a:rPr lang="en-US" altLang="zh-CN" sz="2400" b="1" dirty="0"/>
              <a:t>OSPF</a:t>
            </a:r>
            <a:r>
              <a:rPr lang="zh-CN" altLang="en-US" sz="2400" b="1" dirty="0"/>
              <a:t>相关事件</a:t>
            </a:r>
            <a:endParaRPr lang="en-US" altLang="zh-CN" sz="2400" b="1" dirty="0"/>
          </a:p>
        </p:txBody>
      </p:sp>
      <p:sp>
        <p:nvSpPr>
          <p:cNvPr id="3" name="文本框 2"/>
          <p:cNvSpPr txBox="1"/>
          <p:nvPr/>
        </p:nvSpPr>
        <p:spPr>
          <a:xfrm>
            <a:off x="304800" y="749300"/>
            <a:ext cx="240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spc="600" dirty="0">
                <a:solidFill>
                  <a:schemeClr val="accent3">
                    <a:lumMod val="75000"/>
                  </a:schemeClr>
                </a:solidFill>
              </a:rPr>
              <a:t>实验步骤</a:t>
            </a:r>
            <a:endParaRPr lang="zh-CN" altLang="en-US" sz="2800" b="1" spc="600" dirty="0">
              <a:solidFill>
                <a:schemeClr val="accent3">
                  <a:lumMod val="75000"/>
                </a:schemeClr>
              </a:solidFill>
            </a:endParaRPr>
          </a:p>
        </p:txBody>
      </p:sp>
      <p:cxnSp>
        <p:nvCxnSpPr>
          <p:cNvPr id="28" name="直接连接符 27"/>
          <p:cNvCxnSpPr/>
          <p:nvPr/>
        </p:nvCxnSpPr>
        <p:spPr>
          <a:xfrm>
            <a:off x="8141408" y="5261622"/>
            <a:ext cx="3110656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连接符 28"/>
          <p:cNvCxnSpPr/>
          <p:nvPr/>
        </p:nvCxnSpPr>
        <p:spPr>
          <a:xfrm>
            <a:off x="1010126" y="5261622"/>
            <a:ext cx="3110656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连接符 29"/>
          <p:cNvCxnSpPr/>
          <p:nvPr/>
        </p:nvCxnSpPr>
        <p:spPr>
          <a:xfrm>
            <a:off x="4668822" y="2748015"/>
            <a:ext cx="3014769" cy="0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接连接符 64"/>
          <p:cNvCxnSpPr/>
          <p:nvPr/>
        </p:nvCxnSpPr>
        <p:spPr>
          <a:xfrm>
            <a:off x="4355979" y="2904294"/>
            <a:ext cx="0" cy="2224442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>
            <a:off x="7885393" y="2904294"/>
            <a:ext cx="0" cy="2224442"/>
          </a:xfrm>
          <a:prstGeom prst="line">
            <a:avLst/>
          </a:prstGeom>
          <a:ln w="254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本框 66"/>
          <p:cNvSpPr txBox="1"/>
          <p:nvPr/>
        </p:nvSpPr>
        <p:spPr>
          <a:xfrm>
            <a:off x="404704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PC0</a:t>
            </a:r>
            <a:endParaRPr lang="zh-CN" altLang="en-US" b="1" dirty="0"/>
          </a:p>
        </p:txBody>
      </p:sp>
      <p:pic>
        <p:nvPicPr>
          <p:cNvPr id="68" name="20 67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448" y="5052372"/>
            <a:ext cx="539132" cy="457973"/>
          </a:xfrm>
          <a:prstGeom prst="rect">
            <a:avLst/>
          </a:prstGeom>
        </p:spPr>
      </p:pic>
      <p:pic>
        <p:nvPicPr>
          <p:cNvPr id="69" name="20 68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5090553"/>
            <a:ext cx="530013" cy="381609"/>
          </a:xfrm>
          <a:prstGeom prst="rect">
            <a:avLst/>
          </a:prstGeom>
        </p:spPr>
      </p:pic>
      <p:sp>
        <p:nvSpPr>
          <p:cNvPr id="70" name="文本框 69"/>
          <p:cNvSpPr txBox="1"/>
          <p:nvPr/>
        </p:nvSpPr>
        <p:spPr>
          <a:xfrm>
            <a:off x="4482400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Router2</a:t>
            </a:r>
            <a:endParaRPr lang="zh-CN" altLang="en-US" b="1" dirty="0"/>
          </a:p>
        </p:txBody>
      </p:sp>
      <p:pic>
        <p:nvPicPr>
          <p:cNvPr id="71" name="20 70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5128736"/>
            <a:ext cx="530013" cy="381609"/>
          </a:xfrm>
          <a:prstGeom prst="rect">
            <a:avLst/>
          </a:prstGeom>
        </p:spPr>
      </p:pic>
      <p:pic>
        <p:nvPicPr>
          <p:cNvPr id="72" name="20 71" descr="图标&#10;&#10;描述已自动生成"/>
          <p:cNvPicPr>
            <a:picLocks noChangeAspect="1"/>
          </p:cNvPicPr>
          <p:nvPr/>
        </p:nvPicPr>
        <p:blipFill>
          <a:blip r:embed="rId1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67786" y="5052372"/>
            <a:ext cx="539132" cy="457973"/>
          </a:xfrm>
          <a:prstGeom prst="rect">
            <a:avLst/>
          </a:prstGeom>
        </p:spPr>
      </p:pic>
      <p:pic>
        <p:nvPicPr>
          <p:cNvPr id="73" name="20 72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90973" y="2557225"/>
            <a:ext cx="530013" cy="381609"/>
          </a:xfrm>
          <a:prstGeom prst="rect">
            <a:avLst/>
          </a:prstGeom>
        </p:spPr>
      </p:pic>
      <p:pic>
        <p:nvPicPr>
          <p:cNvPr id="74" name="20 73" descr="卡通人物&#10;&#10;中度可信度描述已自动生成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9379" y="2557225"/>
            <a:ext cx="530013" cy="381609"/>
          </a:xfrm>
          <a:prstGeom prst="rect">
            <a:avLst/>
          </a:prstGeom>
        </p:spPr>
      </p:pic>
      <p:sp>
        <p:nvSpPr>
          <p:cNvPr id="75" name="文本框 74"/>
          <p:cNvSpPr txBox="1"/>
          <p:nvPr/>
        </p:nvSpPr>
        <p:spPr>
          <a:xfrm>
            <a:off x="3222002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Router0</a:t>
            </a:r>
            <a:endParaRPr lang="zh-CN" altLang="en-US" b="1" dirty="0"/>
          </a:p>
        </p:txBody>
      </p:sp>
      <p:sp>
        <p:nvSpPr>
          <p:cNvPr id="76" name="文本框 75"/>
          <p:cNvSpPr txBox="1"/>
          <p:nvPr/>
        </p:nvSpPr>
        <p:spPr>
          <a:xfrm>
            <a:off x="8007838" y="2422613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Router1</a:t>
            </a:r>
            <a:endParaRPr lang="zh-CN" altLang="en-US" b="1" dirty="0"/>
          </a:p>
        </p:txBody>
      </p:sp>
      <p:sp>
        <p:nvSpPr>
          <p:cNvPr id="77" name="文本框 76"/>
          <p:cNvSpPr txBox="1"/>
          <p:nvPr/>
        </p:nvSpPr>
        <p:spPr>
          <a:xfrm>
            <a:off x="6791069" y="4958191"/>
            <a:ext cx="100519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2911</a:t>
            </a:r>
            <a:endParaRPr lang="en-US" altLang="zh-CN" b="1" dirty="0"/>
          </a:p>
          <a:p>
            <a:pPr algn="ctr"/>
            <a:r>
              <a:rPr lang="en-US" altLang="zh-CN" b="1" dirty="0"/>
              <a:t>Router3</a:t>
            </a:r>
            <a:endParaRPr lang="zh-CN" altLang="en-US" b="1" dirty="0"/>
          </a:p>
        </p:txBody>
      </p:sp>
      <p:sp>
        <p:nvSpPr>
          <p:cNvPr id="79" name="文本框 78"/>
          <p:cNvSpPr txBox="1"/>
          <p:nvPr/>
        </p:nvSpPr>
        <p:spPr>
          <a:xfrm>
            <a:off x="11029042" y="4425321"/>
            <a:ext cx="81662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PC-PT</a:t>
            </a:r>
            <a:endParaRPr lang="en-US" altLang="zh-CN" b="1" dirty="0"/>
          </a:p>
          <a:p>
            <a:pPr algn="ctr"/>
            <a:r>
              <a:rPr lang="en-US" altLang="zh-CN" b="1" dirty="0"/>
              <a:t>PC1</a:t>
            </a:r>
            <a:endParaRPr lang="zh-CN" altLang="en-US" b="1" dirty="0"/>
          </a:p>
        </p:txBody>
      </p:sp>
      <p:sp>
        <p:nvSpPr>
          <p:cNvPr id="80" name="文本框 79"/>
          <p:cNvSpPr txBox="1"/>
          <p:nvPr/>
        </p:nvSpPr>
        <p:spPr>
          <a:xfrm>
            <a:off x="8141408" y="5281356"/>
            <a:ext cx="8562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81" name="文本框 80"/>
          <p:cNvSpPr txBox="1"/>
          <p:nvPr/>
        </p:nvSpPr>
        <p:spPr>
          <a:xfrm>
            <a:off x="3406809" y="528135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82" name="文本框 81"/>
          <p:cNvSpPr txBox="1"/>
          <p:nvPr/>
        </p:nvSpPr>
        <p:spPr>
          <a:xfrm>
            <a:off x="4577666" y="232708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83" name="文本框 82"/>
          <p:cNvSpPr txBox="1"/>
          <p:nvPr/>
        </p:nvSpPr>
        <p:spPr>
          <a:xfrm>
            <a:off x="6896627" y="2327086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86" name="文本框 85"/>
          <p:cNvSpPr txBox="1"/>
          <p:nvPr/>
        </p:nvSpPr>
        <p:spPr>
          <a:xfrm>
            <a:off x="3403517" y="4585911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87" name="文本框 86"/>
          <p:cNvSpPr txBox="1"/>
          <p:nvPr/>
        </p:nvSpPr>
        <p:spPr>
          <a:xfrm>
            <a:off x="3403517" y="3154479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88" name="文本框 87"/>
          <p:cNvSpPr txBox="1"/>
          <p:nvPr/>
        </p:nvSpPr>
        <p:spPr>
          <a:xfrm>
            <a:off x="8083862" y="4585911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Gig0/0</a:t>
            </a:r>
            <a:endParaRPr lang="zh-CN" altLang="en-US" b="1" dirty="0"/>
          </a:p>
        </p:txBody>
      </p:sp>
      <p:sp>
        <p:nvSpPr>
          <p:cNvPr id="89" name="文本框 88"/>
          <p:cNvSpPr txBox="1"/>
          <p:nvPr/>
        </p:nvSpPr>
        <p:spPr>
          <a:xfrm>
            <a:off x="8083862" y="3154479"/>
            <a:ext cx="81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Gig0/1</a:t>
            </a:r>
            <a:endParaRPr lang="zh-CN" altLang="en-US" b="1" dirty="0"/>
          </a:p>
        </p:txBody>
      </p:sp>
      <p:sp>
        <p:nvSpPr>
          <p:cNvPr id="90" name="文本框 89"/>
          <p:cNvSpPr txBox="1"/>
          <p:nvPr/>
        </p:nvSpPr>
        <p:spPr>
          <a:xfrm>
            <a:off x="308925" y="5641911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192.168.0.1/24</a:t>
            </a:r>
            <a:endParaRPr lang="zh-CN" altLang="en-US" b="1" dirty="0"/>
          </a:p>
        </p:txBody>
      </p:sp>
      <p:sp>
        <p:nvSpPr>
          <p:cNvPr id="91" name="文本框 90"/>
          <p:cNvSpPr txBox="1"/>
          <p:nvPr/>
        </p:nvSpPr>
        <p:spPr>
          <a:xfrm>
            <a:off x="2572032" y="5641911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192.168.0.254/24</a:t>
            </a:r>
            <a:endParaRPr lang="zh-CN" altLang="en-US" b="1" dirty="0"/>
          </a:p>
        </p:txBody>
      </p:sp>
      <p:sp>
        <p:nvSpPr>
          <p:cNvPr id="92" name="文本框 91"/>
          <p:cNvSpPr txBox="1"/>
          <p:nvPr/>
        </p:nvSpPr>
        <p:spPr>
          <a:xfrm>
            <a:off x="4577666" y="2087878"/>
            <a:ext cx="124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10.0.0.1/30</a:t>
            </a:r>
            <a:endParaRPr lang="zh-CN" altLang="en-US" b="1" dirty="0"/>
          </a:p>
        </p:txBody>
      </p:sp>
      <p:sp>
        <p:nvSpPr>
          <p:cNvPr id="93" name="文本框 92"/>
          <p:cNvSpPr txBox="1"/>
          <p:nvPr/>
        </p:nvSpPr>
        <p:spPr>
          <a:xfrm>
            <a:off x="6431183" y="2087878"/>
            <a:ext cx="124893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10.0.0.2/30</a:t>
            </a:r>
            <a:endParaRPr lang="zh-CN" altLang="en-US" b="1" dirty="0"/>
          </a:p>
        </p:txBody>
      </p:sp>
      <p:sp>
        <p:nvSpPr>
          <p:cNvPr id="94" name="文本框 93"/>
          <p:cNvSpPr txBox="1"/>
          <p:nvPr/>
        </p:nvSpPr>
        <p:spPr>
          <a:xfrm>
            <a:off x="2566222" y="4331415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172.16.0.2/30</a:t>
            </a:r>
            <a:endParaRPr lang="zh-CN" altLang="en-US" b="1" dirty="0"/>
          </a:p>
        </p:txBody>
      </p:sp>
      <p:sp>
        <p:nvSpPr>
          <p:cNvPr id="95" name="文本框 94"/>
          <p:cNvSpPr txBox="1"/>
          <p:nvPr/>
        </p:nvSpPr>
        <p:spPr>
          <a:xfrm>
            <a:off x="2554836" y="3424776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172.16.0.1/30</a:t>
            </a:r>
            <a:endParaRPr lang="zh-CN" altLang="en-US" b="1" dirty="0"/>
          </a:p>
        </p:txBody>
      </p:sp>
      <p:sp>
        <p:nvSpPr>
          <p:cNvPr id="96" name="文本框 95"/>
          <p:cNvSpPr txBox="1"/>
          <p:nvPr/>
        </p:nvSpPr>
        <p:spPr>
          <a:xfrm>
            <a:off x="8083862" y="4331415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172.19.0.2/30</a:t>
            </a:r>
            <a:endParaRPr lang="zh-CN" altLang="en-US" b="1" dirty="0"/>
          </a:p>
        </p:txBody>
      </p:sp>
      <p:sp>
        <p:nvSpPr>
          <p:cNvPr id="97" name="文本框 96"/>
          <p:cNvSpPr txBox="1"/>
          <p:nvPr/>
        </p:nvSpPr>
        <p:spPr>
          <a:xfrm>
            <a:off x="8083862" y="3424776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172.19.0.1/30</a:t>
            </a:r>
            <a:endParaRPr lang="zh-CN" altLang="en-US" b="1" dirty="0"/>
          </a:p>
        </p:txBody>
      </p:sp>
      <p:sp>
        <p:nvSpPr>
          <p:cNvPr id="98" name="文本框 97"/>
          <p:cNvSpPr txBox="1"/>
          <p:nvPr/>
        </p:nvSpPr>
        <p:spPr>
          <a:xfrm>
            <a:off x="8141408" y="5641911"/>
            <a:ext cx="16633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b="1" dirty="0"/>
              <a:t>192.168.1.254/24</a:t>
            </a:r>
            <a:endParaRPr lang="zh-CN" altLang="en-US" b="1" dirty="0"/>
          </a:p>
        </p:txBody>
      </p:sp>
      <p:sp>
        <p:nvSpPr>
          <p:cNvPr id="99" name="文本框 98"/>
          <p:cNvSpPr txBox="1"/>
          <p:nvPr/>
        </p:nvSpPr>
        <p:spPr>
          <a:xfrm>
            <a:off x="10428049" y="5641911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192.168.1.1/24</a:t>
            </a:r>
            <a:endParaRPr lang="zh-CN" altLang="en-US" b="1" dirty="0"/>
          </a:p>
        </p:txBody>
      </p:sp>
      <p:sp>
        <p:nvSpPr>
          <p:cNvPr id="100" name="文本框 99"/>
          <p:cNvSpPr txBox="1"/>
          <p:nvPr/>
        </p:nvSpPr>
        <p:spPr>
          <a:xfrm>
            <a:off x="308925" y="5953754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192.168.0.254</a:t>
            </a:r>
            <a:endParaRPr lang="zh-CN" altLang="en-US" b="1" dirty="0"/>
          </a:p>
        </p:txBody>
      </p:sp>
      <p:sp>
        <p:nvSpPr>
          <p:cNvPr id="101" name="文本框 100"/>
          <p:cNvSpPr txBox="1"/>
          <p:nvPr/>
        </p:nvSpPr>
        <p:spPr>
          <a:xfrm>
            <a:off x="10428049" y="5953754"/>
            <a:ext cx="1455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192.168.1.254</a:t>
            </a:r>
            <a:endParaRPr lang="zh-CN" altLang="en-US" b="1" dirty="0"/>
          </a:p>
        </p:txBody>
      </p:sp>
      <p:sp>
        <p:nvSpPr>
          <p:cNvPr id="102" name="等腰三角形 101"/>
          <p:cNvSpPr/>
          <p:nvPr/>
        </p:nvSpPr>
        <p:spPr>
          <a:xfrm>
            <a:off x="4299256" y="328519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3" name="等腰三角形 102"/>
          <p:cNvSpPr/>
          <p:nvPr/>
        </p:nvSpPr>
        <p:spPr>
          <a:xfrm>
            <a:off x="4305741" y="470074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" name="等腰三角形 103"/>
          <p:cNvSpPr/>
          <p:nvPr/>
        </p:nvSpPr>
        <p:spPr>
          <a:xfrm>
            <a:off x="7827528" y="3285191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5" name="等腰三角形 104"/>
          <p:cNvSpPr/>
          <p:nvPr/>
        </p:nvSpPr>
        <p:spPr>
          <a:xfrm>
            <a:off x="7834013" y="4700747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等腰三角形 105"/>
          <p:cNvSpPr/>
          <p:nvPr/>
        </p:nvSpPr>
        <p:spPr>
          <a:xfrm>
            <a:off x="4935973" y="269757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7" name="等腰三角形 106"/>
          <p:cNvSpPr/>
          <p:nvPr/>
        </p:nvSpPr>
        <p:spPr>
          <a:xfrm>
            <a:off x="7272403" y="269757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8" name="等腰三角形 107"/>
          <p:cNvSpPr/>
          <p:nvPr/>
        </p:nvSpPr>
        <p:spPr>
          <a:xfrm>
            <a:off x="1394165" y="520429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9" name="等腰三角形 108"/>
          <p:cNvSpPr/>
          <p:nvPr/>
        </p:nvSpPr>
        <p:spPr>
          <a:xfrm>
            <a:off x="3730595" y="5204295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0" name="等腰三角形 109"/>
          <p:cNvSpPr/>
          <p:nvPr/>
        </p:nvSpPr>
        <p:spPr>
          <a:xfrm>
            <a:off x="8485013" y="521341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1" name="等腰三角形 110"/>
          <p:cNvSpPr/>
          <p:nvPr/>
        </p:nvSpPr>
        <p:spPr>
          <a:xfrm>
            <a:off x="10821443" y="5213419"/>
            <a:ext cx="111831" cy="96406"/>
          </a:xfrm>
          <a:prstGeom prst="triangle">
            <a:avLst/>
          </a:prstGeom>
          <a:solidFill>
            <a:schemeClr val="accent4"/>
          </a:solidFill>
          <a:ln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文本框 111"/>
          <p:cNvSpPr txBox="1"/>
          <p:nvPr/>
        </p:nvSpPr>
        <p:spPr>
          <a:xfrm>
            <a:off x="1540676" y="4894330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网络</a:t>
            </a:r>
            <a:r>
              <a:rPr lang="en-US" altLang="zh-CN" b="1" dirty="0"/>
              <a:t>192.168.0.0/24</a:t>
            </a:r>
            <a:endParaRPr lang="zh-CN" altLang="en-US" b="1" dirty="0"/>
          </a:p>
        </p:txBody>
      </p:sp>
      <p:sp>
        <p:nvSpPr>
          <p:cNvPr id="113" name="文本框 112"/>
          <p:cNvSpPr txBox="1"/>
          <p:nvPr/>
        </p:nvSpPr>
        <p:spPr>
          <a:xfrm>
            <a:off x="8671958" y="4894330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网络</a:t>
            </a:r>
            <a:r>
              <a:rPr lang="en-US" altLang="zh-CN" b="1" dirty="0"/>
              <a:t>192.168.1.0/24</a:t>
            </a:r>
            <a:endParaRPr lang="zh-CN" altLang="en-US" b="1" dirty="0"/>
          </a:p>
        </p:txBody>
      </p:sp>
      <p:sp>
        <p:nvSpPr>
          <p:cNvPr id="114" name="文本框 113"/>
          <p:cNvSpPr txBox="1"/>
          <p:nvPr/>
        </p:nvSpPr>
        <p:spPr>
          <a:xfrm>
            <a:off x="5182823" y="2719628"/>
            <a:ext cx="1826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网络</a:t>
            </a:r>
            <a:r>
              <a:rPr lang="en-US" altLang="zh-CN" b="1" dirty="0"/>
              <a:t>10.0.0.0/30</a:t>
            </a:r>
            <a:endParaRPr lang="zh-CN" altLang="en-US" b="1" dirty="0"/>
          </a:p>
        </p:txBody>
      </p:sp>
      <p:sp>
        <p:nvSpPr>
          <p:cNvPr id="115" name="文本框 114"/>
          <p:cNvSpPr txBox="1"/>
          <p:nvPr/>
        </p:nvSpPr>
        <p:spPr>
          <a:xfrm>
            <a:off x="2129179" y="3878095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b="1" dirty="0"/>
              <a:t>网络</a:t>
            </a:r>
            <a:r>
              <a:rPr lang="en-US" altLang="zh-CN" b="1" dirty="0"/>
              <a:t>172.16.0.0/30</a:t>
            </a:r>
            <a:endParaRPr lang="zh-CN" altLang="en-US" b="1" dirty="0"/>
          </a:p>
        </p:txBody>
      </p:sp>
      <p:sp>
        <p:nvSpPr>
          <p:cNvPr id="116" name="文本框 115"/>
          <p:cNvSpPr txBox="1"/>
          <p:nvPr/>
        </p:nvSpPr>
        <p:spPr>
          <a:xfrm>
            <a:off x="8083862" y="3878095"/>
            <a:ext cx="20889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/>
              <a:t>网络</a:t>
            </a:r>
            <a:r>
              <a:rPr lang="en-US" altLang="zh-CN" b="1" dirty="0"/>
              <a:t>172.19.0.0/30</a:t>
            </a:r>
            <a:endParaRPr lang="zh-CN" altLang="en-US" b="1" dirty="0"/>
          </a:p>
        </p:txBody>
      </p:sp>
      <p:grpSp>
        <p:nvGrpSpPr>
          <p:cNvPr id="117" name="组合 116"/>
          <p:cNvGrpSpPr/>
          <p:nvPr/>
        </p:nvGrpSpPr>
        <p:grpSpPr>
          <a:xfrm>
            <a:off x="4620986" y="1518195"/>
            <a:ext cx="3014769" cy="1535070"/>
            <a:chOff x="4620986" y="1518195"/>
            <a:chExt cx="3014769" cy="1535070"/>
          </a:xfrm>
        </p:grpSpPr>
        <p:sp>
          <p:nvSpPr>
            <p:cNvPr id="118" name="矩形 117"/>
            <p:cNvSpPr/>
            <p:nvPr/>
          </p:nvSpPr>
          <p:spPr>
            <a:xfrm>
              <a:off x="4620986" y="1537929"/>
              <a:ext cx="3014769" cy="1515336"/>
            </a:xfrm>
            <a:prstGeom prst="rect">
              <a:avLst/>
            </a:prstGeom>
            <a:noFill/>
            <a:ln w="254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9" name="文本框 118"/>
            <p:cNvSpPr txBox="1"/>
            <p:nvPr/>
          </p:nvSpPr>
          <p:spPr>
            <a:xfrm>
              <a:off x="5054066" y="1518195"/>
              <a:ext cx="208899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rgbClr val="FF0000"/>
                  </a:solidFill>
                </a:rPr>
                <a:t>OSPF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主干区域</a:t>
              </a:r>
              <a:endParaRPr lang="en-US" altLang="zh-CN" sz="2000" b="1" dirty="0">
                <a:solidFill>
                  <a:srgbClr val="FF0000"/>
                </a:solidFill>
              </a:endParaRPr>
            </a:p>
            <a:p>
              <a:pPr algn="ctr"/>
              <a:r>
                <a:rPr lang="zh-CN" altLang="en-US" sz="2000" b="1" dirty="0">
                  <a:solidFill>
                    <a:srgbClr val="FF0000"/>
                  </a:solidFill>
                </a:rPr>
                <a:t>（</a:t>
              </a:r>
              <a:r>
                <a:rPr lang="en-US" altLang="zh-CN" sz="2000" b="1" dirty="0">
                  <a:solidFill>
                    <a:srgbClr val="FF0000"/>
                  </a:solidFill>
                </a:rPr>
                <a:t>area 0</a:t>
              </a:r>
              <a:r>
                <a:rPr lang="zh-CN" altLang="en-US" sz="2000" b="1" dirty="0">
                  <a:solidFill>
                    <a:srgbClr val="FF0000"/>
                  </a:solidFill>
                </a:rPr>
                <a:t>）</a:t>
              </a:r>
              <a:endParaRPr lang="zh-CN" altLang="en-US" sz="2000" b="1" dirty="0">
                <a:solidFill>
                  <a:srgbClr val="FF0000"/>
                </a:solidFill>
              </a:endParaRPr>
            </a:p>
          </p:txBody>
        </p:sp>
      </p:grpSp>
      <p:grpSp>
        <p:nvGrpSpPr>
          <p:cNvPr id="120" name="组合 119"/>
          <p:cNvGrpSpPr/>
          <p:nvPr/>
        </p:nvGrpSpPr>
        <p:grpSpPr>
          <a:xfrm>
            <a:off x="304799" y="3188812"/>
            <a:ext cx="5189367" cy="3134274"/>
            <a:chOff x="304799" y="3188812"/>
            <a:chExt cx="5189367" cy="3134274"/>
          </a:xfrm>
        </p:grpSpPr>
        <p:sp>
          <p:nvSpPr>
            <p:cNvPr id="121" name="文本框 120"/>
            <p:cNvSpPr txBox="1"/>
            <p:nvPr/>
          </p:nvSpPr>
          <p:spPr>
            <a:xfrm>
              <a:off x="304799" y="3303651"/>
              <a:ext cx="18366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3"/>
                  </a:solidFill>
                </a:rPr>
                <a:t>OSPF</a:t>
              </a:r>
              <a:r>
                <a:rPr lang="zh-CN" altLang="en-US" sz="2000" b="1" dirty="0">
                  <a:solidFill>
                    <a:schemeClr val="accent3"/>
                  </a:solidFill>
                </a:rPr>
                <a:t>区域</a:t>
              </a:r>
              <a:r>
                <a:rPr lang="en-US" altLang="zh-CN" sz="2000" b="1" dirty="0">
                  <a:solidFill>
                    <a:schemeClr val="accent3"/>
                  </a:solidFill>
                </a:rPr>
                <a:t>100</a:t>
              </a:r>
              <a:endParaRPr lang="en-US" altLang="zh-CN" sz="2000" b="1" dirty="0">
                <a:solidFill>
                  <a:schemeClr val="accent3"/>
                </a:solidFill>
              </a:endParaRPr>
            </a:p>
            <a:p>
              <a:pPr algn="ctr"/>
              <a:r>
                <a:rPr lang="zh-CN" altLang="en-US" sz="2000" b="1" dirty="0">
                  <a:solidFill>
                    <a:schemeClr val="accent3"/>
                  </a:solidFill>
                </a:rPr>
                <a:t>（</a:t>
              </a:r>
              <a:r>
                <a:rPr lang="en-US" altLang="zh-CN" sz="2000" b="1" dirty="0">
                  <a:solidFill>
                    <a:schemeClr val="accent3"/>
                  </a:solidFill>
                </a:rPr>
                <a:t>area 100</a:t>
              </a:r>
              <a:r>
                <a:rPr lang="zh-CN" altLang="en-US" sz="2000" b="1" dirty="0">
                  <a:solidFill>
                    <a:schemeClr val="accent3"/>
                  </a:solidFill>
                </a:rPr>
                <a:t>）</a:t>
              </a:r>
              <a:endParaRPr lang="zh-CN" altLang="en-US" sz="2000" b="1" dirty="0">
                <a:solidFill>
                  <a:schemeClr val="accent3"/>
                </a:solidFill>
              </a:endParaRPr>
            </a:p>
          </p:txBody>
        </p:sp>
        <p:sp>
          <p:nvSpPr>
            <p:cNvPr id="122" name="矩形 121"/>
            <p:cNvSpPr/>
            <p:nvPr/>
          </p:nvSpPr>
          <p:spPr>
            <a:xfrm>
              <a:off x="311377" y="3188812"/>
              <a:ext cx="5182789" cy="3134274"/>
            </a:xfrm>
            <a:prstGeom prst="rect">
              <a:avLst/>
            </a:prstGeom>
            <a:noFill/>
            <a:ln w="25400">
              <a:solidFill>
                <a:schemeClr val="accent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3" name="组合 122"/>
          <p:cNvGrpSpPr/>
          <p:nvPr/>
        </p:nvGrpSpPr>
        <p:grpSpPr>
          <a:xfrm>
            <a:off x="6700286" y="3188812"/>
            <a:ext cx="5186461" cy="3134274"/>
            <a:chOff x="6700286" y="3188812"/>
            <a:chExt cx="5186461" cy="3134274"/>
          </a:xfrm>
        </p:grpSpPr>
        <p:sp>
          <p:nvSpPr>
            <p:cNvPr id="124" name="文本框 123"/>
            <p:cNvSpPr txBox="1"/>
            <p:nvPr/>
          </p:nvSpPr>
          <p:spPr>
            <a:xfrm>
              <a:off x="10050132" y="3303651"/>
              <a:ext cx="1836615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000" b="1" dirty="0">
                  <a:solidFill>
                    <a:schemeClr val="accent4"/>
                  </a:solidFill>
                </a:rPr>
                <a:t>OSPF</a:t>
              </a:r>
              <a:r>
                <a:rPr lang="zh-CN" altLang="en-US" sz="2000" b="1" dirty="0">
                  <a:solidFill>
                    <a:schemeClr val="accent4"/>
                  </a:solidFill>
                </a:rPr>
                <a:t>区域</a:t>
              </a:r>
              <a:r>
                <a:rPr lang="en-US" altLang="zh-CN" sz="2000" b="1" dirty="0">
                  <a:solidFill>
                    <a:schemeClr val="accent4"/>
                  </a:solidFill>
                </a:rPr>
                <a:t>200</a:t>
              </a:r>
              <a:endParaRPr lang="en-US" altLang="zh-CN" sz="2000" b="1" dirty="0">
                <a:solidFill>
                  <a:schemeClr val="accent4"/>
                </a:solidFill>
              </a:endParaRPr>
            </a:p>
            <a:p>
              <a:pPr algn="ctr"/>
              <a:r>
                <a:rPr lang="zh-CN" altLang="en-US" sz="2000" b="1" dirty="0">
                  <a:solidFill>
                    <a:schemeClr val="accent4"/>
                  </a:solidFill>
                </a:rPr>
                <a:t>（</a:t>
              </a:r>
              <a:r>
                <a:rPr lang="en-US" altLang="zh-CN" sz="2000" b="1" dirty="0">
                  <a:solidFill>
                    <a:schemeClr val="accent4"/>
                  </a:solidFill>
                </a:rPr>
                <a:t>area 200</a:t>
              </a:r>
              <a:r>
                <a:rPr lang="zh-CN" altLang="en-US" sz="2000" b="1" dirty="0">
                  <a:solidFill>
                    <a:schemeClr val="accent4"/>
                  </a:solidFill>
                </a:rPr>
                <a:t>）</a:t>
              </a:r>
              <a:endParaRPr lang="zh-CN" altLang="en-US" sz="2000" b="1" dirty="0">
                <a:solidFill>
                  <a:schemeClr val="accent4"/>
                </a:solidFill>
              </a:endParaRPr>
            </a:p>
          </p:txBody>
        </p:sp>
        <p:sp>
          <p:nvSpPr>
            <p:cNvPr id="125" name="矩形 124"/>
            <p:cNvSpPr/>
            <p:nvPr/>
          </p:nvSpPr>
          <p:spPr>
            <a:xfrm>
              <a:off x="6700286" y="3188812"/>
              <a:ext cx="5182789" cy="3134274"/>
            </a:xfrm>
            <a:prstGeom prst="rect">
              <a:avLst/>
            </a:prstGeom>
            <a:noFill/>
            <a:ln w="25400">
              <a:solidFill>
                <a:schemeClr val="accent4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4" name="矩形 3"/>
          <p:cNvSpPr/>
          <p:nvPr/>
        </p:nvSpPr>
        <p:spPr>
          <a:xfrm>
            <a:off x="8159392" y="1300164"/>
            <a:ext cx="3727808" cy="174520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2000" b="1" dirty="0"/>
              <a:t>         在不需要路由器运行</a:t>
            </a:r>
            <a:r>
              <a:rPr lang="en-US" altLang="zh-CN" sz="2000" b="1" dirty="0"/>
              <a:t>OSPF</a:t>
            </a:r>
            <a:r>
              <a:rPr lang="zh-CN" altLang="en-US" sz="2000" b="1" dirty="0"/>
              <a:t>时，可在路由器的命令行界面中使用相关命令来关闭</a:t>
            </a:r>
            <a:r>
              <a:rPr lang="en-US" altLang="zh-CN" sz="2000" b="1" dirty="0"/>
              <a:t>OSPF</a:t>
            </a:r>
            <a:r>
              <a:rPr lang="zh-CN" altLang="en-US" sz="2000" b="1" dirty="0"/>
              <a:t>，这同时会删除路由表中的</a:t>
            </a:r>
            <a:r>
              <a:rPr lang="en-US" altLang="zh-CN" sz="2000" b="1" dirty="0"/>
              <a:t>OSPF</a:t>
            </a:r>
            <a:r>
              <a:rPr lang="zh-CN" altLang="en-US" sz="2000" b="1" dirty="0"/>
              <a:t>路由条目。</a:t>
            </a:r>
            <a:endParaRPr lang="zh-CN" altLang="en-US" sz="2000" b="1" dirty="0"/>
          </a:p>
        </p:txBody>
      </p:sp>
      <p:sp>
        <p:nvSpPr>
          <p:cNvPr id="5" name="矩形 4"/>
          <p:cNvSpPr/>
          <p:nvPr/>
        </p:nvSpPr>
        <p:spPr>
          <a:xfrm>
            <a:off x="3039126" y="3742152"/>
            <a:ext cx="6342803" cy="9190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en-US" altLang="zh-CN" sz="2800" b="1" dirty="0"/>
              <a:t>Router(config)#no router ospf </a:t>
            </a:r>
            <a:r>
              <a:rPr lang="zh-CN" altLang="en-US" sz="2800" b="1" dirty="0"/>
              <a:t>进程号</a:t>
            </a:r>
            <a:r>
              <a:rPr lang="en-US" altLang="zh-CN" sz="2800" b="1" dirty="0"/>
              <a:t>x</a:t>
            </a:r>
            <a:endParaRPr lang="zh-CN" altLang="en-US" sz="28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tags/tag1.xml><?xml version="1.0" encoding="utf-8"?>
<p:tagLst xmlns:p="http://schemas.openxmlformats.org/presentationml/2006/main">
  <p:tag name="ISLIDE.GUIDESSETTING" val="{&quot;Id&quot;:&quot;GuidesStyle_Narrow&quot;,&quot;Name&quot;:&quot;GuidesStyle_Narrow&quot;,&quot;Kind&quot;:&quot;System&quot;,&quot;OldGuidesSetting&quot;:{&quot;HeaderHeight&quot;:10.0,&quot;FooterHeight&quot;:5.0,&quot;SideMargin&quot;:2.5,&quot;TopMargin&quot;:0.0,&quot;BottomMargin&quot;:0.0,&quot;IntervalMargin&quot;:1.0}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F84D4D"/>
      </a:accent1>
      <a:accent2>
        <a:srgbClr val="FF6B42"/>
      </a:accent2>
      <a:accent3>
        <a:srgbClr val="5BA3EB"/>
      </a:accent3>
      <a:accent4>
        <a:srgbClr val="06BB9A"/>
      </a:accent4>
      <a:accent5>
        <a:srgbClr val="8E7EF0"/>
      </a:accent5>
      <a:accent6>
        <a:srgbClr val="F4B919"/>
      </a:accent6>
      <a:hlink>
        <a:srgbClr val="4472C4"/>
      </a:hlink>
      <a:folHlink>
        <a:srgbClr val="BFBFBF"/>
      </a:folHlink>
    </a:clrScheme>
    <a:fontScheme name="mgea0xa4">
      <a:majorFont>
        <a:latin typeface="Arial Narrow"/>
        <a:ea typeface="微软雅黑"/>
        <a:cs typeface=""/>
      </a:majorFont>
      <a:minorFont>
        <a:latin typeface="Arial Narrow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7581</Words>
  <Application>WPS 演示</Application>
  <PresentationFormat>宽屏</PresentationFormat>
  <Paragraphs>1284</Paragraphs>
  <Slides>31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39" baseType="lpstr">
      <vt:lpstr>Arial</vt:lpstr>
      <vt:lpstr>宋体</vt:lpstr>
      <vt:lpstr>Wingdings</vt:lpstr>
      <vt:lpstr>微软雅黑</vt:lpstr>
      <vt:lpstr>Arial Narrow</vt:lpstr>
      <vt:lpstr>Arial Unicode MS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user0703</dc:creator>
  <cp:lastModifiedBy>黄小P</cp:lastModifiedBy>
  <cp:revision>589</cp:revision>
  <dcterms:created xsi:type="dcterms:W3CDTF">2021-12-18T00:21:00Z</dcterms:created>
  <dcterms:modified xsi:type="dcterms:W3CDTF">2025-06-20T14:29:35Z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89C1E3B950FB4B47B445F55E2D8C29C3_12</vt:lpwstr>
  </property>
  <property fmtid="{D5CDD505-2E9C-101B-9397-08002B2CF9AE}" pid="3" name="KSOProductBuildVer">
    <vt:lpwstr>2052-12.1.0.21541</vt:lpwstr>
  </property>
</Properties>
</file>