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1" r:id="rId3"/>
    <p:sldId id="292" r:id="rId4"/>
    <p:sldId id="299" r:id="rId5"/>
    <p:sldId id="522" r:id="rId6"/>
    <p:sldId id="523" r:id="rId7"/>
    <p:sldId id="524" r:id="rId8"/>
    <p:sldId id="525" r:id="rId9"/>
    <p:sldId id="526" r:id="rId10"/>
    <p:sldId id="527" r:id="rId11"/>
    <p:sldId id="528" r:id="rId12"/>
    <p:sldId id="529" r:id="rId13"/>
    <p:sldId id="530" r:id="rId14"/>
    <p:sldId id="531" r:id="rId15"/>
    <p:sldId id="532" r:id="rId16"/>
    <p:sldId id="533" r:id="rId17"/>
    <p:sldId id="574" r:id="rId18"/>
    <p:sldId id="575" r:id="rId19"/>
    <p:sldId id="576" r:id="rId20"/>
    <p:sldId id="577" r:id="rId21"/>
    <p:sldId id="578" r:id="rId22"/>
    <p:sldId id="579" r:id="rId23"/>
    <p:sldId id="580" r:id="rId24"/>
    <p:sldId id="602" r:id="rId25"/>
    <p:sldId id="603" r:id="rId26"/>
    <p:sldId id="604" r:id="rId27"/>
    <p:sldId id="605" r:id="rId28"/>
    <p:sldId id="606" r:id="rId29"/>
    <p:sldId id="607" r:id="rId30"/>
    <p:sldId id="608" r:id="rId31"/>
    <p:sldId id="609" r:id="rId32"/>
    <p:sldId id="610" r:id="rId33"/>
    <p:sldId id="611" r:id="rId34"/>
    <p:sldId id="612" r:id="rId35"/>
    <p:sldId id="613" r:id="rId36"/>
    <p:sldId id="614" r:id="rId37"/>
    <p:sldId id="615" r:id="rId38"/>
    <p:sldId id="616" r:id="rId39"/>
    <p:sldId id="617" r:id="rId40"/>
    <p:sldId id="618" r:id="rId41"/>
    <p:sldId id="619" r:id="rId42"/>
    <p:sldId id="620" r:id="rId43"/>
    <p:sldId id="621" r:id="rId44"/>
    <p:sldId id="622" r:id="rId45"/>
  </p:sldIdLst>
  <p:sldSz cx="12192000" cy="6858000"/>
  <p:notesSz cx="6858000" cy="9144000"/>
  <p:custDataLst>
    <p:tags r:id="rId4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92" userDrawn="1">
          <p15:clr>
            <a:srgbClr val="A4A3A4"/>
          </p15:clr>
        </p15:guide>
        <p15:guide id="4" pos="7488" userDrawn="1">
          <p15:clr>
            <a:srgbClr val="A4A3A4"/>
          </p15:clr>
        </p15:guide>
        <p15:guide id="5" orient="horz" pos="432" userDrawn="1">
          <p15:clr>
            <a:srgbClr val="A4A3A4"/>
          </p15:clr>
        </p15:guide>
        <p15:guide id="6" orient="horz" pos="472" userDrawn="1">
          <p15:clr>
            <a:srgbClr val="A4A3A4"/>
          </p15:clr>
        </p15:guide>
        <p15:guide id="7" orient="horz" pos="4104" userDrawn="1">
          <p15:clr>
            <a:srgbClr val="A4A3A4"/>
          </p15:clr>
        </p15:guide>
        <p15:guide id="8" orient="horz" pos="40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6" autoAdjust="0"/>
    <p:restoredTop sz="94541" autoAdjust="0"/>
  </p:normalViewPr>
  <p:slideViewPr>
    <p:cSldViewPr snapToGrid="0" showGuides="1">
      <p:cViewPr varScale="1">
        <p:scale>
          <a:sx n="114" d="100"/>
          <a:sy n="114" d="100"/>
        </p:scale>
        <p:origin x="82" y="120"/>
      </p:cViewPr>
      <p:guideLst>
        <p:guide orient="horz" pos="2264"/>
        <p:guide pos="3840"/>
        <p:guide pos="192"/>
        <p:guide pos="7488"/>
        <p:guide orient="horz" pos="432"/>
        <p:guide orient="horz" pos="472"/>
        <p:guide orient="horz" pos="4104"/>
        <p:guide orient="horz" pos="405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9" Type="http://schemas.openxmlformats.org/officeDocument/2006/relationships/tags" Target="tags/tag1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63500"/>
            <a:ext cx="12207240" cy="622300"/>
          </a:xfrm>
          <a:prstGeom prst="rect">
            <a:avLst/>
          </a:prstGeom>
          <a:solidFill>
            <a:srgbClr val="1B7ADA"/>
          </a:solidFill>
          <a:ln>
            <a:solidFill>
              <a:srgbClr val="1B7AD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/>
              <a:t>动手做计算机网络仿真实验</a:t>
            </a:r>
            <a:r>
              <a:rPr lang="zh-CN" altLang="en-US" sz="2400" b="1" dirty="0"/>
              <a:t>（微课视频版）</a:t>
            </a:r>
            <a:endParaRPr lang="zh-CN" altLang="en-US" sz="2400" b="1" dirty="0"/>
          </a:p>
        </p:txBody>
      </p:sp>
      <p:sp>
        <p:nvSpPr>
          <p:cNvPr id="10" name="矩形 9"/>
          <p:cNvSpPr/>
          <p:nvPr userDrawn="1"/>
        </p:nvSpPr>
        <p:spPr>
          <a:xfrm>
            <a:off x="132079" y="-1"/>
            <a:ext cx="732557" cy="732557"/>
          </a:xfrm>
          <a:prstGeom prst="rect">
            <a:avLst/>
          </a:prstGeom>
          <a:solidFill>
            <a:srgbClr val="8ACF57"/>
          </a:solidFill>
          <a:ln>
            <a:solidFill>
              <a:srgbClr val="8ACF57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/>
          <p:cNvSpPr/>
          <p:nvPr userDrawn="1"/>
        </p:nvSpPr>
        <p:spPr>
          <a:xfrm>
            <a:off x="9850806" y="147319"/>
            <a:ext cx="114853" cy="4498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965107" y="62115"/>
            <a:ext cx="2226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第</a:t>
            </a:r>
            <a:r>
              <a:rPr lang="en-US" altLang="zh-CN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4</a:t>
            </a: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章</a:t>
            </a:r>
            <a:endParaRPr lang="en-US" altLang="zh-CN" b="1" dirty="0">
              <a:solidFill>
                <a:schemeClr val="bg1"/>
              </a:solidFill>
              <a:latin typeface="+mj-ea"/>
              <a:ea typeface="+mj-ea"/>
              <a:cs typeface="+mj-ea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网络层相关实验</a:t>
            </a:r>
            <a:endParaRPr lang="zh-CN" altLang="en-US" b="1" dirty="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14" name="20 13" descr="logo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308" y="6414723"/>
            <a:ext cx="1882140" cy="441960"/>
          </a:xfrm>
          <a:prstGeom prst="rect">
            <a:avLst/>
          </a:prstGeom>
        </p:spPr>
      </p:pic>
      <p:sp>
        <p:nvSpPr>
          <p:cNvPr id="15" name="文本框 14"/>
          <p:cNvSpPr txBox="1"/>
          <p:nvPr userDrawn="1"/>
        </p:nvSpPr>
        <p:spPr>
          <a:xfrm>
            <a:off x="10365377" y="6486579"/>
            <a:ext cx="1823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课件制作：高军</a:t>
            </a:r>
            <a:endParaRPr lang="zh-CN" alt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29056" y="1186773"/>
            <a:ext cx="10693939" cy="2116029"/>
            <a:chOff x="629056" y="1186773"/>
            <a:chExt cx="10693939" cy="2116029"/>
          </a:xfrm>
        </p:grpSpPr>
        <p:sp>
          <p:nvSpPr>
            <p:cNvPr id="3" name="文本框 2"/>
            <p:cNvSpPr txBox="1"/>
            <p:nvPr/>
          </p:nvSpPr>
          <p:spPr>
            <a:xfrm>
              <a:off x="629057" y="1186773"/>
              <a:ext cx="240597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spc="600" dirty="0">
                  <a:solidFill>
                    <a:schemeClr val="accent3">
                      <a:lumMod val="75000"/>
                    </a:schemeClr>
                  </a:solidFill>
                </a:rPr>
                <a:t>实验目的</a:t>
              </a:r>
              <a:endParaRPr lang="zh-CN" altLang="en-US" sz="2800" b="1" spc="600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629056" y="1880681"/>
              <a:ext cx="10693939" cy="14221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000" b="1" dirty="0"/>
                <a:t>掌握开放最短路径优先</a:t>
              </a:r>
              <a:r>
                <a:rPr lang="en-US" altLang="zh-CN" sz="2000" b="1" dirty="0">
                  <a:solidFill>
                    <a:srgbClr val="FF0000"/>
                  </a:solidFill>
                </a:rPr>
                <a:t>OSPF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协议的特点和配置</a:t>
              </a:r>
              <a:r>
                <a:rPr lang="zh-CN" altLang="en-US" sz="2000" b="1" dirty="0"/>
                <a:t>。</a:t>
              </a:r>
              <a:endParaRPr lang="zh-CN" altLang="en-US" sz="2000" b="1" dirty="0"/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000" b="1" dirty="0"/>
                <a:t>验证</a:t>
              </a:r>
              <a:r>
                <a:rPr lang="en-US" altLang="zh-CN" sz="2000" b="1" dirty="0"/>
                <a:t>OSPF</a:t>
              </a:r>
              <a:r>
                <a:rPr lang="zh-CN" altLang="en-US" sz="2000" b="1" dirty="0"/>
                <a:t>是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基于链路状态</a:t>
              </a:r>
              <a:r>
                <a:rPr lang="zh-CN" altLang="en-US" sz="2000" b="1" dirty="0"/>
                <a:t>的，它认为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好的路由是“路径代价最少”的路由</a:t>
              </a:r>
              <a:r>
                <a:rPr lang="zh-CN" altLang="en-US" sz="2000" b="1" dirty="0"/>
                <a:t>。</a:t>
              </a:r>
              <a:endParaRPr lang="zh-CN" altLang="en-US" sz="2000" b="1" dirty="0"/>
            </a:p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000" b="1" dirty="0"/>
                <a:t>验证</a:t>
              </a:r>
              <a:r>
                <a:rPr lang="en-US" altLang="zh-CN" sz="2000" b="1" dirty="0"/>
                <a:t>OSPF</a:t>
              </a:r>
              <a:r>
                <a:rPr lang="zh-CN" altLang="en-US" sz="2000" b="1" dirty="0"/>
                <a:t>的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等价负载均衡</a:t>
              </a:r>
              <a:r>
                <a:rPr lang="zh-CN" altLang="en-US" sz="2000" b="1" dirty="0"/>
                <a:t>。</a:t>
              </a:r>
              <a:endParaRPr lang="zh-CN" altLang="en-US" sz="20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95596" y="1186773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1084" y="1747043"/>
            <a:ext cx="2182959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1.  </a:t>
            </a:r>
            <a:r>
              <a:rPr lang="zh-CN" altLang="en-US" sz="2000" b="1" dirty="0"/>
              <a:t>构建网络拓扑</a:t>
            </a:r>
            <a:endParaRPr lang="en-US" altLang="zh-CN" sz="20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411084" y="2300573"/>
            <a:ext cx="5456489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2.  </a:t>
            </a:r>
            <a:r>
              <a:rPr lang="zh-CN" altLang="en-US" sz="2000" b="1" dirty="0"/>
              <a:t>查看并标注路由器相关接口名称（接口号）</a:t>
            </a:r>
            <a:endParaRPr lang="en-US" altLang="zh-CN" sz="20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411084" y="2854103"/>
            <a:ext cx="5456489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3.  </a:t>
            </a:r>
            <a:r>
              <a:rPr lang="zh-CN" altLang="en-US" sz="2000" b="1" dirty="0"/>
              <a:t>标注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地址、子网掩码以及默认网关的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</a:t>
            </a:r>
            <a:endParaRPr lang="en-US" altLang="zh-CN" sz="20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411084" y="3407633"/>
            <a:ext cx="5456489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4.  </a:t>
            </a:r>
            <a:r>
              <a:rPr lang="zh-CN" altLang="en-US" sz="2000" b="1" dirty="0"/>
              <a:t>配置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地址、子网掩码以及默认网关的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</a:t>
            </a:r>
            <a:endParaRPr lang="en-US" altLang="zh-CN" sz="2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411085" y="5013484"/>
            <a:ext cx="5675908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7.  </a:t>
            </a:r>
            <a:r>
              <a:rPr lang="zh-CN" altLang="en-US" sz="2000" b="1" dirty="0"/>
              <a:t>选择要监视的网络协议</a:t>
            </a:r>
            <a:endParaRPr lang="en-US" altLang="zh-CN" sz="20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6105009" y="2300573"/>
            <a:ext cx="3622651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8.  </a:t>
            </a:r>
            <a:r>
              <a:rPr lang="zh-CN" altLang="en-US" sz="2000" b="1" dirty="0"/>
              <a:t>网络连通性测试</a:t>
            </a:r>
            <a:endParaRPr lang="en-US" altLang="zh-CN" sz="20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6105009" y="2854103"/>
            <a:ext cx="5769222" cy="960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9.  </a:t>
            </a:r>
            <a:r>
              <a:rPr lang="zh-CN" altLang="en-US" sz="2000" b="1" dirty="0"/>
              <a:t>验证</a:t>
            </a:r>
            <a:r>
              <a:rPr lang="en-US" altLang="zh-CN" sz="2000" b="1" dirty="0"/>
              <a:t>OSPF</a:t>
            </a:r>
            <a:r>
              <a:rPr lang="zh-CN" altLang="en-US" sz="2000" b="1" dirty="0"/>
              <a:t>认为好的路由是“路径代价最少”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en-US" altLang="zh-CN" sz="2000" b="1" dirty="0"/>
              <a:t>     </a:t>
            </a:r>
            <a:r>
              <a:rPr lang="zh-CN" altLang="en-US" sz="2000" b="1" dirty="0"/>
              <a:t>的路由</a:t>
            </a:r>
            <a:endParaRPr lang="en-US" altLang="zh-CN" sz="20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411084" y="3961163"/>
            <a:ext cx="5620063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5.  </a:t>
            </a:r>
            <a:r>
              <a:rPr lang="zh-CN" altLang="en-US" sz="2000" b="1" dirty="0"/>
              <a:t>启用各路由器的开放最短路径优先</a:t>
            </a:r>
            <a:r>
              <a:rPr lang="en-US" altLang="zh-CN" sz="2000" b="1" dirty="0"/>
              <a:t>OSPF</a:t>
            </a:r>
            <a:r>
              <a:rPr lang="zh-CN" altLang="en-US" sz="2000" b="1" dirty="0"/>
              <a:t>协议</a:t>
            </a:r>
            <a:endParaRPr lang="en-US" altLang="zh-CN" sz="20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411085" y="4514693"/>
            <a:ext cx="3188150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6.  </a:t>
            </a:r>
            <a:r>
              <a:rPr lang="zh-CN" altLang="en-US" sz="2000" b="1" dirty="0"/>
              <a:t>查看各路由器的路由表</a:t>
            </a:r>
            <a:endParaRPr lang="en-US" altLang="zh-CN" sz="20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6105009" y="3961163"/>
            <a:ext cx="5620063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10.  </a:t>
            </a:r>
            <a:r>
              <a:rPr lang="zh-CN" altLang="en-US" sz="2000" b="1" dirty="0"/>
              <a:t>验证</a:t>
            </a:r>
            <a:r>
              <a:rPr lang="en-US" altLang="zh-CN" sz="2000" b="1" dirty="0"/>
              <a:t>OSPF</a:t>
            </a:r>
            <a:r>
              <a:rPr lang="zh-CN" altLang="en-US" sz="2000" b="1" dirty="0"/>
              <a:t>的等价负载均衡</a:t>
            </a:r>
            <a:endParaRPr lang="en-US" altLang="zh-CN" sz="2000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6105009" y="4514693"/>
            <a:ext cx="5769222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11.  </a:t>
            </a:r>
            <a:r>
              <a:rPr lang="zh-CN" altLang="en-US" sz="2000" b="1" dirty="0"/>
              <a:t>观察各路由器的</a:t>
            </a:r>
            <a:r>
              <a:rPr lang="en-US" altLang="zh-CN" sz="2000" b="1" dirty="0"/>
              <a:t>OSPF</a:t>
            </a:r>
            <a:r>
              <a:rPr lang="zh-CN" altLang="en-US" sz="2000" b="1" dirty="0"/>
              <a:t>相关事件</a:t>
            </a:r>
            <a:endParaRPr lang="en-US" altLang="zh-CN" sz="20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6105009" y="5013484"/>
            <a:ext cx="5769222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12.  </a:t>
            </a:r>
            <a:r>
              <a:rPr lang="zh-CN" altLang="en-US" sz="2000" b="1" dirty="0"/>
              <a:t>关闭路由器的</a:t>
            </a:r>
            <a:r>
              <a:rPr lang="en-US" altLang="zh-CN" sz="2000" b="1" dirty="0"/>
              <a:t>OSPF</a:t>
            </a:r>
            <a:r>
              <a:rPr lang="zh-CN" altLang="en-US" sz="2000" b="1" dirty="0"/>
              <a:t>协议</a:t>
            </a:r>
            <a:endParaRPr lang="en-US" altLang="zh-CN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/>
      <p:bldP spid="2" grpId="0"/>
      <p:bldP spid="5" grpId="0"/>
      <p:bldP spid="6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05465" y="685800"/>
            <a:ext cx="258107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 </a:t>
            </a:r>
            <a:r>
              <a:rPr lang="zh-CN" altLang="en-US" sz="2400" b="1" dirty="0"/>
              <a:t>构建网络拓扑</a:t>
            </a:r>
            <a:endParaRPr lang="en-US" altLang="zh-CN" sz="2400" b="1" dirty="0"/>
          </a:p>
        </p:txBody>
      </p:sp>
      <p:grpSp>
        <p:nvGrpSpPr>
          <p:cNvPr id="131" name="组合 130"/>
          <p:cNvGrpSpPr/>
          <p:nvPr/>
        </p:nvGrpSpPr>
        <p:grpSpPr>
          <a:xfrm>
            <a:off x="805345" y="1518805"/>
            <a:ext cx="10632329" cy="5000078"/>
            <a:chOff x="805345" y="1518805"/>
            <a:chExt cx="10632329" cy="5000078"/>
          </a:xfrm>
        </p:grpSpPr>
        <p:sp>
          <p:nvSpPr>
            <p:cNvPr id="40" name="文本框 39"/>
            <p:cNvSpPr txBox="1"/>
            <p:nvPr/>
          </p:nvSpPr>
          <p:spPr>
            <a:xfrm>
              <a:off x="914403" y="1518805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PC0</a:t>
              </a:r>
              <a:endParaRPr lang="zh-CN" altLang="en-US" b="1" dirty="0"/>
            </a:p>
          </p:txBody>
        </p:sp>
        <p:pic>
          <p:nvPicPr>
            <p:cNvPr id="41" name="20 40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8204" y="1627865"/>
              <a:ext cx="539132" cy="457973"/>
            </a:xfrm>
            <a:prstGeom prst="rect">
              <a:avLst/>
            </a:prstGeom>
          </p:spPr>
        </p:pic>
        <p:pic>
          <p:nvPicPr>
            <p:cNvPr id="84" name="20 83" descr="卡通人物&#10;&#10;中度可信度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8956" y="3747746"/>
              <a:ext cx="530013" cy="381609"/>
            </a:xfrm>
            <a:prstGeom prst="rect">
              <a:avLst/>
            </a:prstGeom>
          </p:spPr>
        </p:pic>
        <p:sp>
          <p:nvSpPr>
            <p:cNvPr id="85" name="文本框 84"/>
            <p:cNvSpPr txBox="1"/>
            <p:nvPr/>
          </p:nvSpPr>
          <p:spPr>
            <a:xfrm>
              <a:off x="805345" y="3615384"/>
              <a:ext cx="10051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2911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Router0</a:t>
              </a:r>
              <a:endParaRPr lang="zh-CN" altLang="en-US" b="1" dirty="0"/>
            </a:p>
          </p:txBody>
        </p:sp>
        <p:pic>
          <p:nvPicPr>
            <p:cNvPr id="2" name="20 1" descr="卡通人物&#10;&#10;中度可信度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0993" y="5512045"/>
              <a:ext cx="530013" cy="381609"/>
            </a:xfrm>
            <a:prstGeom prst="rect">
              <a:avLst/>
            </a:prstGeom>
          </p:spPr>
        </p:pic>
        <p:pic>
          <p:nvPicPr>
            <p:cNvPr id="5" name="20 4" descr="卡通人物&#10;&#10;中度可信度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93031" y="3747746"/>
              <a:ext cx="530013" cy="381609"/>
            </a:xfrm>
            <a:prstGeom prst="rect">
              <a:avLst/>
            </a:prstGeom>
          </p:spPr>
        </p:pic>
        <p:pic>
          <p:nvPicPr>
            <p:cNvPr id="6" name="20 5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88471" y="1627865"/>
              <a:ext cx="539132" cy="457973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10432483" y="3615384"/>
              <a:ext cx="10051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2911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Router1</a:t>
              </a:r>
              <a:endParaRPr lang="zh-CN" altLang="en-US" b="1" dirty="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593403" y="5872552"/>
              <a:ext cx="10051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2911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Router2</a:t>
              </a:r>
              <a:endParaRPr lang="zh-CN" altLang="en-US" b="1" dirty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0461954" y="1518805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PC1</a:t>
              </a:r>
              <a:endParaRPr lang="zh-CN" altLang="en-US" b="1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05465" y="685800"/>
            <a:ext cx="258107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 </a:t>
            </a:r>
            <a:r>
              <a:rPr lang="zh-CN" altLang="en-US" sz="2400" b="1" dirty="0"/>
              <a:t>构建网络拓扑</a:t>
            </a:r>
            <a:endParaRPr lang="en-US" altLang="zh-CN" sz="2400" b="1" dirty="0"/>
          </a:p>
        </p:txBody>
      </p:sp>
      <p:grpSp>
        <p:nvGrpSpPr>
          <p:cNvPr id="131" name="组合 130"/>
          <p:cNvGrpSpPr/>
          <p:nvPr/>
        </p:nvGrpSpPr>
        <p:grpSpPr>
          <a:xfrm>
            <a:off x="805345" y="1518805"/>
            <a:ext cx="10632329" cy="5000078"/>
            <a:chOff x="805345" y="1518805"/>
            <a:chExt cx="10632329" cy="5000078"/>
          </a:xfrm>
        </p:grpSpPr>
        <p:sp>
          <p:nvSpPr>
            <p:cNvPr id="40" name="文本框 39"/>
            <p:cNvSpPr txBox="1"/>
            <p:nvPr/>
          </p:nvSpPr>
          <p:spPr>
            <a:xfrm>
              <a:off x="914403" y="1518805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PC0</a:t>
              </a:r>
              <a:endParaRPr lang="zh-CN" altLang="en-US" b="1" dirty="0"/>
            </a:p>
          </p:txBody>
        </p:sp>
        <p:pic>
          <p:nvPicPr>
            <p:cNvPr id="41" name="20 40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8204" y="1627865"/>
              <a:ext cx="539132" cy="457973"/>
            </a:xfrm>
            <a:prstGeom prst="rect">
              <a:avLst/>
            </a:prstGeom>
          </p:spPr>
        </p:pic>
        <p:pic>
          <p:nvPicPr>
            <p:cNvPr id="84" name="20 83" descr="卡通人物&#10;&#10;中度可信度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8956" y="3747746"/>
              <a:ext cx="530013" cy="381609"/>
            </a:xfrm>
            <a:prstGeom prst="rect">
              <a:avLst/>
            </a:prstGeom>
          </p:spPr>
        </p:pic>
        <p:sp>
          <p:nvSpPr>
            <p:cNvPr id="85" name="文本框 84"/>
            <p:cNvSpPr txBox="1"/>
            <p:nvPr/>
          </p:nvSpPr>
          <p:spPr>
            <a:xfrm>
              <a:off x="805345" y="3615384"/>
              <a:ext cx="10051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2911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Router0</a:t>
              </a:r>
              <a:endParaRPr lang="zh-CN" altLang="en-US" b="1" dirty="0"/>
            </a:p>
          </p:txBody>
        </p:sp>
        <p:pic>
          <p:nvPicPr>
            <p:cNvPr id="2" name="20 1" descr="卡通人物&#10;&#10;中度可信度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0993" y="5512045"/>
              <a:ext cx="530013" cy="381609"/>
            </a:xfrm>
            <a:prstGeom prst="rect">
              <a:avLst/>
            </a:prstGeom>
          </p:spPr>
        </p:pic>
        <p:pic>
          <p:nvPicPr>
            <p:cNvPr id="5" name="20 4" descr="卡通人物&#10;&#10;中度可信度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93031" y="3747746"/>
              <a:ext cx="530013" cy="381609"/>
            </a:xfrm>
            <a:prstGeom prst="rect">
              <a:avLst/>
            </a:prstGeom>
          </p:spPr>
        </p:pic>
        <p:pic>
          <p:nvPicPr>
            <p:cNvPr id="6" name="20 5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88471" y="1627865"/>
              <a:ext cx="539132" cy="457973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10432483" y="3615384"/>
              <a:ext cx="10051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2911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Router1</a:t>
              </a:r>
              <a:endParaRPr lang="zh-CN" altLang="en-US" b="1" dirty="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593403" y="5872552"/>
              <a:ext cx="10051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2911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Router2</a:t>
              </a:r>
              <a:endParaRPr lang="zh-CN" altLang="en-US" b="1" dirty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0461954" y="1518805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PC1</a:t>
              </a:r>
              <a:endParaRPr lang="zh-CN" altLang="en-US" b="1" dirty="0"/>
            </a:p>
          </p:txBody>
        </p:sp>
      </p:grpSp>
      <p:sp>
        <p:nvSpPr>
          <p:cNvPr id="132" name="文本框 131"/>
          <p:cNvSpPr txBox="1"/>
          <p:nvPr/>
        </p:nvSpPr>
        <p:spPr>
          <a:xfrm>
            <a:off x="729365" y="4274277"/>
            <a:ext cx="26329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安装串行接口模块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型号为</a:t>
            </a:r>
            <a:r>
              <a:rPr lang="en-US" altLang="zh-CN" sz="2000" b="1" dirty="0">
                <a:solidFill>
                  <a:srgbClr val="FF0000"/>
                </a:solidFill>
              </a:rPr>
              <a:t>HWIC-2T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8841560" y="4274277"/>
            <a:ext cx="26329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安装串行接口模块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型号为</a:t>
            </a:r>
            <a:r>
              <a:rPr lang="en-US" altLang="zh-CN" sz="2000" b="1" dirty="0">
                <a:solidFill>
                  <a:srgbClr val="FF0000"/>
                </a:solidFill>
              </a:rPr>
              <a:t>HWIC-2T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/>
      <p:bldP spid="1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05465" y="685800"/>
            <a:ext cx="258107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 </a:t>
            </a:r>
            <a:r>
              <a:rPr lang="zh-CN" altLang="en-US" sz="2400" b="1" dirty="0"/>
              <a:t>构建网络拓扑</a:t>
            </a:r>
            <a:endParaRPr lang="en-US" altLang="zh-CN" sz="2400" b="1" dirty="0"/>
          </a:p>
        </p:txBody>
      </p:sp>
      <p:grpSp>
        <p:nvGrpSpPr>
          <p:cNvPr id="131" name="组合 130"/>
          <p:cNvGrpSpPr/>
          <p:nvPr/>
        </p:nvGrpSpPr>
        <p:grpSpPr>
          <a:xfrm>
            <a:off x="805345" y="1518805"/>
            <a:ext cx="10632329" cy="5000078"/>
            <a:chOff x="805345" y="1518805"/>
            <a:chExt cx="10632329" cy="5000078"/>
          </a:xfrm>
        </p:grpSpPr>
        <p:sp>
          <p:nvSpPr>
            <p:cNvPr id="40" name="文本框 39"/>
            <p:cNvSpPr txBox="1"/>
            <p:nvPr/>
          </p:nvSpPr>
          <p:spPr>
            <a:xfrm>
              <a:off x="914403" y="1518805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PC0</a:t>
              </a:r>
              <a:endParaRPr lang="zh-CN" altLang="en-US" b="1" dirty="0"/>
            </a:p>
          </p:txBody>
        </p:sp>
        <p:pic>
          <p:nvPicPr>
            <p:cNvPr id="41" name="20 40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8204" y="1627865"/>
              <a:ext cx="539132" cy="457973"/>
            </a:xfrm>
            <a:prstGeom prst="rect">
              <a:avLst/>
            </a:prstGeom>
          </p:spPr>
        </p:pic>
        <p:pic>
          <p:nvPicPr>
            <p:cNvPr id="84" name="20 83" descr="卡通人物&#10;&#10;中度可信度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8956" y="3747746"/>
              <a:ext cx="530013" cy="381609"/>
            </a:xfrm>
            <a:prstGeom prst="rect">
              <a:avLst/>
            </a:prstGeom>
          </p:spPr>
        </p:pic>
        <p:sp>
          <p:nvSpPr>
            <p:cNvPr id="85" name="文本框 84"/>
            <p:cNvSpPr txBox="1"/>
            <p:nvPr/>
          </p:nvSpPr>
          <p:spPr>
            <a:xfrm>
              <a:off x="805345" y="3615384"/>
              <a:ext cx="10051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2911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Router0</a:t>
              </a:r>
              <a:endParaRPr lang="zh-CN" altLang="en-US" b="1" dirty="0"/>
            </a:p>
          </p:txBody>
        </p:sp>
        <p:pic>
          <p:nvPicPr>
            <p:cNvPr id="2" name="20 1" descr="卡通人物&#10;&#10;中度可信度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0993" y="5512045"/>
              <a:ext cx="530013" cy="381609"/>
            </a:xfrm>
            <a:prstGeom prst="rect">
              <a:avLst/>
            </a:prstGeom>
          </p:spPr>
        </p:pic>
        <p:pic>
          <p:nvPicPr>
            <p:cNvPr id="5" name="20 4" descr="卡通人物&#10;&#10;中度可信度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93031" y="3747746"/>
              <a:ext cx="530013" cy="381609"/>
            </a:xfrm>
            <a:prstGeom prst="rect">
              <a:avLst/>
            </a:prstGeom>
          </p:spPr>
        </p:pic>
        <p:pic>
          <p:nvPicPr>
            <p:cNvPr id="6" name="20 5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88471" y="1627865"/>
              <a:ext cx="539132" cy="457973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10432483" y="3615384"/>
              <a:ext cx="10051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2911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Router1</a:t>
              </a:r>
              <a:endParaRPr lang="zh-CN" altLang="en-US" b="1" dirty="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593403" y="5872552"/>
              <a:ext cx="10051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2911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Router2</a:t>
              </a:r>
              <a:endParaRPr lang="zh-CN" altLang="en-US" b="1" dirty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0461954" y="1518805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PC1</a:t>
              </a:r>
              <a:endParaRPr lang="zh-CN" altLang="en-US" b="1" dirty="0"/>
            </a:p>
          </p:txBody>
        </p:sp>
      </p:grpSp>
      <p:sp>
        <p:nvSpPr>
          <p:cNvPr id="132" name="文本框 131"/>
          <p:cNvSpPr txBox="1"/>
          <p:nvPr/>
        </p:nvSpPr>
        <p:spPr>
          <a:xfrm>
            <a:off x="729365" y="4274277"/>
            <a:ext cx="26329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安装串行接口模块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型号为</a:t>
            </a:r>
            <a:r>
              <a:rPr lang="en-US" altLang="zh-CN" sz="2000" b="1" dirty="0">
                <a:solidFill>
                  <a:srgbClr val="FF0000"/>
                </a:solidFill>
              </a:rPr>
              <a:t>HWIC-2T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8841560" y="4274277"/>
            <a:ext cx="26329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安装串行接口模块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型号为</a:t>
            </a:r>
            <a:r>
              <a:rPr lang="en-US" altLang="zh-CN" sz="2000" b="1" dirty="0">
                <a:solidFill>
                  <a:srgbClr val="FF0000"/>
                </a:solidFill>
              </a:rPr>
              <a:t>HWIC-2T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pic>
        <p:nvPicPr>
          <p:cNvPr id="13" name="20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449619"/>
            <a:ext cx="5051015" cy="4989281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568243" y="4590189"/>
            <a:ext cx="1578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❸  打开电源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568243" y="3594100"/>
            <a:ext cx="1578186" cy="1030522"/>
            <a:chOff x="4016372" y="3147214"/>
            <a:chExt cx="1578186" cy="1030522"/>
          </a:xfrm>
        </p:grpSpPr>
        <p:sp>
          <p:nvSpPr>
            <p:cNvPr id="16" name="文本框 15"/>
            <p:cNvSpPr txBox="1"/>
            <p:nvPr/>
          </p:nvSpPr>
          <p:spPr>
            <a:xfrm>
              <a:off x="4016372" y="3808404"/>
              <a:ext cx="15781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</a:rPr>
                <a:t>❶  关闭电源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17" name="直接箭头连接符 16"/>
            <p:cNvCxnSpPr/>
            <p:nvPr/>
          </p:nvCxnSpPr>
          <p:spPr>
            <a:xfrm flipV="1">
              <a:off x="4879971" y="3147214"/>
              <a:ext cx="0" cy="681509"/>
            </a:xfrm>
            <a:prstGeom prst="straightConnector1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>
            <a:off x="1634245" y="1951172"/>
            <a:ext cx="1952019" cy="657398"/>
            <a:chOff x="1634245" y="1951172"/>
            <a:chExt cx="1952019" cy="657398"/>
          </a:xfrm>
        </p:grpSpPr>
        <p:cxnSp>
          <p:nvCxnSpPr>
            <p:cNvPr id="19" name="直接箭头连接符 18"/>
            <p:cNvCxnSpPr/>
            <p:nvPr/>
          </p:nvCxnSpPr>
          <p:spPr>
            <a:xfrm>
              <a:off x="1634245" y="2608570"/>
              <a:ext cx="1952019" cy="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/>
          </p:nvSpPr>
          <p:spPr>
            <a:xfrm>
              <a:off x="1764397" y="1951172"/>
              <a:ext cx="1016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</a:rPr>
                <a:t>❷  拖入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277766" y="4178346"/>
            <a:ext cx="20594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</a:rPr>
              <a:t>不要忘记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800" decel="100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05465" y="685800"/>
            <a:ext cx="258107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 </a:t>
            </a:r>
            <a:r>
              <a:rPr lang="zh-CN" altLang="en-US" sz="2400" b="1" dirty="0"/>
              <a:t>构建网络拓扑</a:t>
            </a:r>
            <a:endParaRPr lang="en-US" altLang="zh-CN" sz="2400" b="1" dirty="0"/>
          </a:p>
        </p:txBody>
      </p:sp>
      <p:grpSp>
        <p:nvGrpSpPr>
          <p:cNvPr id="131" name="组合 130"/>
          <p:cNvGrpSpPr/>
          <p:nvPr/>
        </p:nvGrpSpPr>
        <p:grpSpPr>
          <a:xfrm>
            <a:off x="805345" y="1518805"/>
            <a:ext cx="10632329" cy="5000078"/>
            <a:chOff x="805345" y="1518805"/>
            <a:chExt cx="10632329" cy="5000078"/>
          </a:xfrm>
        </p:grpSpPr>
        <p:sp>
          <p:nvSpPr>
            <p:cNvPr id="40" name="文本框 39"/>
            <p:cNvSpPr txBox="1"/>
            <p:nvPr/>
          </p:nvSpPr>
          <p:spPr>
            <a:xfrm>
              <a:off x="914403" y="1518805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PC0</a:t>
              </a:r>
              <a:endParaRPr lang="zh-CN" altLang="en-US" b="1" dirty="0"/>
            </a:p>
          </p:txBody>
        </p:sp>
        <p:pic>
          <p:nvPicPr>
            <p:cNvPr id="41" name="20 40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8204" y="1627865"/>
              <a:ext cx="539132" cy="457973"/>
            </a:xfrm>
            <a:prstGeom prst="rect">
              <a:avLst/>
            </a:prstGeom>
          </p:spPr>
        </p:pic>
        <p:pic>
          <p:nvPicPr>
            <p:cNvPr id="84" name="20 83" descr="卡通人物&#10;&#10;中度可信度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8956" y="3747746"/>
              <a:ext cx="530013" cy="381609"/>
            </a:xfrm>
            <a:prstGeom prst="rect">
              <a:avLst/>
            </a:prstGeom>
          </p:spPr>
        </p:pic>
        <p:sp>
          <p:nvSpPr>
            <p:cNvPr id="85" name="文本框 84"/>
            <p:cNvSpPr txBox="1"/>
            <p:nvPr/>
          </p:nvSpPr>
          <p:spPr>
            <a:xfrm>
              <a:off x="805345" y="3615384"/>
              <a:ext cx="10051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2911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Router0</a:t>
              </a:r>
              <a:endParaRPr lang="zh-CN" altLang="en-US" b="1" dirty="0"/>
            </a:p>
          </p:txBody>
        </p:sp>
        <p:pic>
          <p:nvPicPr>
            <p:cNvPr id="2" name="20 1" descr="卡通人物&#10;&#10;中度可信度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0993" y="5512045"/>
              <a:ext cx="530013" cy="381609"/>
            </a:xfrm>
            <a:prstGeom prst="rect">
              <a:avLst/>
            </a:prstGeom>
          </p:spPr>
        </p:pic>
        <p:pic>
          <p:nvPicPr>
            <p:cNvPr id="5" name="20 4" descr="卡通人物&#10;&#10;中度可信度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93031" y="3747746"/>
              <a:ext cx="530013" cy="381609"/>
            </a:xfrm>
            <a:prstGeom prst="rect">
              <a:avLst/>
            </a:prstGeom>
          </p:spPr>
        </p:pic>
        <p:pic>
          <p:nvPicPr>
            <p:cNvPr id="6" name="20 5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88471" y="1627865"/>
              <a:ext cx="539132" cy="457973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10432483" y="3615384"/>
              <a:ext cx="10051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2911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Router1</a:t>
              </a:r>
              <a:endParaRPr lang="zh-CN" altLang="en-US" b="1" dirty="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593403" y="5872552"/>
              <a:ext cx="10051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2911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Router2</a:t>
              </a:r>
              <a:endParaRPr lang="zh-CN" altLang="en-US" b="1" dirty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0461954" y="1518805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PC1</a:t>
              </a:r>
              <a:endParaRPr lang="zh-CN" altLang="en-US" b="1" dirty="0"/>
            </a:p>
          </p:txBody>
        </p:sp>
      </p:grpSp>
      <p:pic>
        <p:nvPicPr>
          <p:cNvPr id="10" name="20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574" y="4823320"/>
            <a:ext cx="8771380" cy="161558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1889422" y="4260505"/>
            <a:ext cx="2466953" cy="1001107"/>
            <a:chOff x="4498051" y="4186978"/>
            <a:chExt cx="2466953" cy="1001107"/>
          </a:xfrm>
        </p:grpSpPr>
        <p:sp>
          <p:nvSpPr>
            <p:cNvPr id="12" name="文本框 11"/>
            <p:cNvSpPr txBox="1"/>
            <p:nvPr/>
          </p:nvSpPr>
          <p:spPr>
            <a:xfrm>
              <a:off x="4498051" y="4186978"/>
              <a:ext cx="24669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❶  选择“连接”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3" name="直接箭头连接符 12"/>
            <p:cNvCxnSpPr/>
            <p:nvPr/>
          </p:nvCxnSpPr>
          <p:spPr>
            <a:xfrm>
              <a:off x="5731527" y="4602235"/>
              <a:ext cx="0" cy="585850"/>
            </a:xfrm>
            <a:prstGeom prst="straightConnector1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6811199" y="4234564"/>
            <a:ext cx="2466953" cy="1027048"/>
            <a:chOff x="4498051" y="4161037"/>
            <a:chExt cx="2466953" cy="1027048"/>
          </a:xfrm>
        </p:grpSpPr>
        <p:sp>
          <p:nvSpPr>
            <p:cNvPr id="15" name="文本框 14"/>
            <p:cNvSpPr txBox="1"/>
            <p:nvPr/>
          </p:nvSpPr>
          <p:spPr>
            <a:xfrm>
              <a:off x="4498051" y="4161037"/>
              <a:ext cx="24669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❷  选择“串行线”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6" name="直接箭头连接符 15"/>
            <p:cNvCxnSpPr/>
            <p:nvPr/>
          </p:nvCxnSpPr>
          <p:spPr>
            <a:xfrm>
              <a:off x="5731527" y="4587088"/>
              <a:ext cx="0" cy="600997"/>
            </a:xfrm>
            <a:prstGeom prst="straightConnector1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>
          <a:xfrm>
            <a:off x="2298969" y="2825613"/>
            <a:ext cx="7594062" cy="1112938"/>
            <a:chOff x="2313367" y="1849787"/>
            <a:chExt cx="7594062" cy="1112938"/>
          </a:xfrm>
        </p:grpSpPr>
        <p:sp>
          <p:nvSpPr>
            <p:cNvPr id="20" name="文本框 19"/>
            <p:cNvSpPr txBox="1"/>
            <p:nvPr/>
          </p:nvSpPr>
          <p:spPr>
            <a:xfrm>
              <a:off x="3721942" y="1849787"/>
              <a:ext cx="47814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❸  连接两个路由器各自的</a:t>
              </a:r>
              <a:r>
                <a:rPr lang="en-US" altLang="zh-CN" sz="2000" b="1" dirty="0">
                  <a:solidFill>
                    <a:srgbClr val="FF0000"/>
                  </a:solidFill>
                </a:rPr>
                <a:t>Serial0/0/0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接口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21" name="直接箭头连接符 20"/>
            <p:cNvCxnSpPr>
              <a:stCxn id="20" idx="2"/>
              <a:endCxn id="84" idx="3"/>
            </p:cNvCxnSpPr>
            <p:nvPr/>
          </p:nvCxnSpPr>
          <p:spPr>
            <a:xfrm flipH="1">
              <a:off x="2313367" y="2249897"/>
              <a:ext cx="3799306" cy="712828"/>
            </a:xfrm>
            <a:prstGeom prst="straightConnector1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>
              <a:stCxn id="20" idx="2"/>
              <a:endCxn id="5" idx="1"/>
            </p:cNvCxnSpPr>
            <p:nvPr/>
          </p:nvCxnSpPr>
          <p:spPr>
            <a:xfrm>
              <a:off x="6112673" y="2249897"/>
              <a:ext cx="3794756" cy="712828"/>
            </a:xfrm>
            <a:prstGeom prst="straightConnector1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2243241" y="3793942"/>
            <a:ext cx="7697844" cy="216445"/>
            <a:chOff x="2243241" y="3793942"/>
            <a:chExt cx="7697844" cy="216445"/>
          </a:xfrm>
        </p:grpSpPr>
        <p:grpSp>
          <p:nvGrpSpPr>
            <p:cNvPr id="17" name="组合 16"/>
            <p:cNvGrpSpPr/>
            <p:nvPr/>
          </p:nvGrpSpPr>
          <p:grpSpPr>
            <a:xfrm>
              <a:off x="2243241" y="3840969"/>
              <a:ext cx="7697844" cy="130472"/>
              <a:chOff x="2243241" y="3518631"/>
              <a:chExt cx="7697844" cy="130472"/>
            </a:xfrm>
          </p:grpSpPr>
          <p:cxnSp>
            <p:nvCxnSpPr>
              <p:cNvPr id="18" name="直接连接符 17"/>
              <p:cNvCxnSpPr/>
              <p:nvPr/>
            </p:nvCxnSpPr>
            <p:spPr>
              <a:xfrm>
                <a:off x="5974300" y="3518631"/>
                <a:ext cx="3966785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" name="组合 22"/>
              <p:cNvGrpSpPr/>
              <p:nvPr/>
            </p:nvGrpSpPr>
            <p:grpSpPr>
              <a:xfrm>
                <a:off x="2243241" y="3518631"/>
                <a:ext cx="3974459" cy="130472"/>
                <a:chOff x="2243241" y="3518631"/>
                <a:chExt cx="3974459" cy="130472"/>
              </a:xfrm>
            </p:grpSpPr>
            <p:cxnSp>
              <p:nvCxnSpPr>
                <p:cNvPr id="24" name="直接连接符 23"/>
                <p:cNvCxnSpPr/>
                <p:nvPr/>
              </p:nvCxnSpPr>
              <p:spPr>
                <a:xfrm>
                  <a:off x="2243241" y="3649103"/>
                  <a:ext cx="3966785" cy="0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>
                  <a:off x="5974300" y="3518631"/>
                  <a:ext cx="243400" cy="130472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6" name="等腰三角形 25"/>
            <p:cNvSpPr/>
            <p:nvPr/>
          </p:nvSpPr>
          <p:spPr>
            <a:xfrm rot="10800000">
              <a:off x="2457143" y="3913981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0800000">
              <a:off x="9511195" y="379394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05465" y="685800"/>
            <a:ext cx="258107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 </a:t>
            </a:r>
            <a:r>
              <a:rPr lang="zh-CN" altLang="en-US" sz="2400" b="1" dirty="0"/>
              <a:t>构建网络拓扑</a:t>
            </a:r>
            <a:endParaRPr lang="en-US" altLang="zh-CN" sz="2400" b="1" dirty="0"/>
          </a:p>
        </p:txBody>
      </p:sp>
      <p:grpSp>
        <p:nvGrpSpPr>
          <p:cNvPr id="131" name="组合 130"/>
          <p:cNvGrpSpPr/>
          <p:nvPr/>
        </p:nvGrpSpPr>
        <p:grpSpPr>
          <a:xfrm>
            <a:off x="805345" y="1518805"/>
            <a:ext cx="10632329" cy="5000078"/>
            <a:chOff x="805345" y="1518805"/>
            <a:chExt cx="10632329" cy="5000078"/>
          </a:xfrm>
        </p:grpSpPr>
        <p:sp>
          <p:nvSpPr>
            <p:cNvPr id="40" name="文本框 39"/>
            <p:cNvSpPr txBox="1"/>
            <p:nvPr/>
          </p:nvSpPr>
          <p:spPr>
            <a:xfrm>
              <a:off x="914403" y="1518805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PC0</a:t>
              </a:r>
              <a:endParaRPr lang="zh-CN" altLang="en-US" b="1" dirty="0"/>
            </a:p>
          </p:txBody>
        </p:sp>
        <p:pic>
          <p:nvPicPr>
            <p:cNvPr id="41" name="20 40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8204" y="1627865"/>
              <a:ext cx="539132" cy="457973"/>
            </a:xfrm>
            <a:prstGeom prst="rect">
              <a:avLst/>
            </a:prstGeom>
          </p:spPr>
        </p:pic>
        <p:pic>
          <p:nvPicPr>
            <p:cNvPr id="84" name="20 83" descr="卡通人物&#10;&#10;中度可信度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8956" y="3747746"/>
              <a:ext cx="530013" cy="381609"/>
            </a:xfrm>
            <a:prstGeom prst="rect">
              <a:avLst/>
            </a:prstGeom>
          </p:spPr>
        </p:pic>
        <p:sp>
          <p:nvSpPr>
            <p:cNvPr id="85" name="文本框 84"/>
            <p:cNvSpPr txBox="1"/>
            <p:nvPr/>
          </p:nvSpPr>
          <p:spPr>
            <a:xfrm>
              <a:off x="805345" y="3615384"/>
              <a:ext cx="10051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2911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Router0</a:t>
              </a:r>
              <a:endParaRPr lang="zh-CN" altLang="en-US" b="1" dirty="0"/>
            </a:p>
          </p:txBody>
        </p:sp>
        <p:pic>
          <p:nvPicPr>
            <p:cNvPr id="2" name="20 1" descr="卡通人物&#10;&#10;中度可信度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0993" y="5512045"/>
              <a:ext cx="530013" cy="381609"/>
            </a:xfrm>
            <a:prstGeom prst="rect">
              <a:avLst/>
            </a:prstGeom>
          </p:spPr>
        </p:pic>
        <p:pic>
          <p:nvPicPr>
            <p:cNvPr id="5" name="20 4" descr="卡通人物&#10;&#10;中度可信度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93031" y="3747746"/>
              <a:ext cx="530013" cy="381609"/>
            </a:xfrm>
            <a:prstGeom prst="rect">
              <a:avLst/>
            </a:prstGeom>
          </p:spPr>
        </p:pic>
        <p:pic>
          <p:nvPicPr>
            <p:cNvPr id="6" name="20 5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88471" y="1627865"/>
              <a:ext cx="539132" cy="457973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10432483" y="3615384"/>
              <a:ext cx="10051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2911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Router1</a:t>
              </a:r>
              <a:endParaRPr lang="zh-CN" altLang="en-US" b="1" dirty="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593403" y="5872552"/>
              <a:ext cx="10051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2911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Router2</a:t>
              </a:r>
              <a:endParaRPr lang="zh-CN" altLang="en-US" b="1" dirty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0461954" y="1518805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PC1</a:t>
              </a:r>
              <a:endParaRPr lang="zh-CN" altLang="en-US" b="1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05465" y="685800"/>
            <a:ext cx="258107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 </a:t>
            </a:r>
            <a:r>
              <a:rPr lang="zh-CN" altLang="en-US" sz="2400" b="1" dirty="0"/>
              <a:t>构建网络拓扑</a:t>
            </a:r>
            <a:endParaRPr lang="en-US" altLang="zh-CN" sz="2400" b="1" dirty="0"/>
          </a:p>
        </p:txBody>
      </p:sp>
      <p:pic>
        <p:nvPicPr>
          <p:cNvPr id="10" name="20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022" y="2868922"/>
            <a:ext cx="8763759" cy="1646063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2084732" y="3691953"/>
            <a:ext cx="1925436" cy="1452593"/>
            <a:chOff x="2253106" y="5615868"/>
            <a:chExt cx="1925436" cy="1452593"/>
          </a:xfrm>
        </p:grpSpPr>
        <p:sp>
          <p:nvSpPr>
            <p:cNvPr id="12" name="文本框 11"/>
            <p:cNvSpPr txBox="1"/>
            <p:nvPr/>
          </p:nvSpPr>
          <p:spPr>
            <a:xfrm>
              <a:off x="2253106" y="6668351"/>
              <a:ext cx="19254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❶  选择“连接”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3" name="直接箭头连接符 12"/>
            <p:cNvCxnSpPr/>
            <p:nvPr/>
          </p:nvCxnSpPr>
          <p:spPr>
            <a:xfrm flipV="1">
              <a:off x="3122926" y="5615868"/>
              <a:ext cx="0" cy="1052483"/>
            </a:xfrm>
            <a:prstGeom prst="straightConnector1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2514979" y="2112993"/>
            <a:ext cx="3351328" cy="1164349"/>
            <a:chOff x="938046" y="4283818"/>
            <a:chExt cx="3351328" cy="1164349"/>
          </a:xfrm>
        </p:grpSpPr>
        <p:sp>
          <p:nvSpPr>
            <p:cNvPr id="15" name="文本框 14"/>
            <p:cNvSpPr txBox="1"/>
            <p:nvPr/>
          </p:nvSpPr>
          <p:spPr>
            <a:xfrm>
              <a:off x="938046" y="4283818"/>
              <a:ext cx="33513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❷  选择“自动选择连接类型”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6" name="直接箭头连接符 15"/>
            <p:cNvCxnSpPr/>
            <p:nvPr/>
          </p:nvCxnSpPr>
          <p:spPr>
            <a:xfrm>
              <a:off x="2613710" y="4738927"/>
              <a:ext cx="0" cy="70924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6292355" y="4129355"/>
            <a:ext cx="3797032" cy="1573495"/>
            <a:chOff x="6361006" y="4129355"/>
            <a:chExt cx="3797032" cy="1573495"/>
          </a:xfrm>
        </p:grpSpPr>
        <p:cxnSp>
          <p:nvCxnSpPr>
            <p:cNvPr id="32" name="直接连接符 31"/>
            <p:cNvCxnSpPr/>
            <p:nvPr/>
          </p:nvCxnSpPr>
          <p:spPr>
            <a:xfrm flipH="1">
              <a:off x="6361006" y="4129355"/>
              <a:ext cx="3797032" cy="1573495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等腰三角形 32"/>
            <p:cNvSpPr/>
            <p:nvPr/>
          </p:nvSpPr>
          <p:spPr>
            <a:xfrm rot="10800000">
              <a:off x="9922519" y="417424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10800000">
              <a:off x="6542678" y="55476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094813" y="4118803"/>
            <a:ext cx="3797030" cy="1573495"/>
            <a:chOff x="2033963" y="4129355"/>
            <a:chExt cx="3797030" cy="1573495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2033963" y="4129355"/>
              <a:ext cx="3797030" cy="1573495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等腰三角形 28"/>
            <p:cNvSpPr/>
            <p:nvPr/>
          </p:nvSpPr>
          <p:spPr>
            <a:xfrm rot="10800000">
              <a:off x="2217330" y="4166817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10800000">
              <a:off x="5562510" y="55476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0089387" y="2057849"/>
            <a:ext cx="111832" cy="1732417"/>
            <a:chOff x="1970918" y="2057849"/>
            <a:chExt cx="111832" cy="1732417"/>
          </a:xfrm>
        </p:grpSpPr>
        <p:cxnSp>
          <p:nvCxnSpPr>
            <p:cNvPr id="16" name="直接连接符 15"/>
            <p:cNvCxnSpPr/>
            <p:nvPr/>
          </p:nvCxnSpPr>
          <p:spPr>
            <a:xfrm>
              <a:off x="2028615" y="2057849"/>
              <a:ext cx="0" cy="1732417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等腰三角形 18"/>
            <p:cNvSpPr/>
            <p:nvPr/>
          </p:nvSpPr>
          <p:spPr>
            <a:xfrm rot="10800000">
              <a:off x="1970919" y="221457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1970918" y="3338216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970918" y="2057849"/>
            <a:ext cx="111832" cy="1732417"/>
            <a:chOff x="1970918" y="2057849"/>
            <a:chExt cx="111832" cy="1732417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2028615" y="2057849"/>
              <a:ext cx="0" cy="1732417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等腰三角形 10"/>
            <p:cNvSpPr/>
            <p:nvPr/>
          </p:nvSpPr>
          <p:spPr>
            <a:xfrm rot="10800000">
              <a:off x="1970919" y="221457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 rot="10800000">
              <a:off x="1970918" y="3338216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243241" y="3793942"/>
            <a:ext cx="7697844" cy="216445"/>
            <a:chOff x="2243241" y="3793942"/>
            <a:chExt cx="7697844" cy="216445"/>
          </a:xfrm>
        </p:grpSpPr>
        <p:grpSp>
          <p:nvGrpSpPr>
            <p:cNvPr id="17" name="组合 16"/>
            <p:cNvGrpSpPr/>
            <p:nvPr/>
          </p:nvGrpSpPr>
          <p:grpSpPr>
            <a:xfrm>
              <a:off x="2243241" y="3840969"/>
              <a:ext cx="7697844" cy="130472"/>
              <a:chOff x="2243241" y="3518631"/>
              <a:chExt cx="7697844" cy="130472"/>
            </a:xfrm>
          </p:grpSpPr>
          <p:cxnSp>
            <p:nvCxnSpPr>
              <p:cNvPr id="18" name="直接连接符 17"/>
              <p:cNvCxnSpPr/>
              <p:nvPr/>
            </p:nvCxnSpPr>
            <p:spPr>
              <a:xfrm>
                <a:off x="5974300" y="3518631"/>
                <a:ext cx="3966785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" name="组合 22"/>
              <p:cNvGrpSpPr/>
              <p:nvPr/>
            </p:nvGrpSpPr>
            <p:grpSpPr>
              <a:xfrm>
                <a:off x="2243241" y="3518631"/>
                <a:ext cx="3974459" cy="130472"/>
                <a:chOff x="2243241" y="3518631"/>
                <a:chExt cx="3974459" cy="130472"/>
              </a:xfrm>
            </p:grpSpPr>
            <p:cxnSp>
              <p:nvCxnSpPr>
                <p:cNvPr id="24" name="直接连接符 23"/>
                <p:cNvCxnSpPr/>
                <p:nvPr/>
              </p:nvCxnSpPr>
              <p:spPr>
                <a:xfrm>
                  <a:off x="2243241" y="3649103"/>
                  <a:ext cx="3966785" cy="0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>
                  <a:off x="5974300" y="3518631"/>
                  <a:ext cx="243400" cy="130472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6" name="等腰三角形 25"/>
            <p:cNvSpPr/>
            <p:nvPr/>
          </p:nvSpPr>
          <p:spPr>
            <a:xfrm rot="10800000">
              <a:off x="2457143" y="3913981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0800000">
              <a:off x="9511195" y="379394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05465" y="685800"/>
            <a:ext cx="258107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 </a:t>
            </a:r>
            <a:r>
              <a:rPr lang="zh-CN" altLang="en-US" sz="2400" b="1" dirty="0"/>
              <a:t>构建网络拓扑</a:t>
            </a:r>
            <a:endParaRPr lang="en-US" altLang="zh-CN" sz="2400" b="1" dirty="0"/>
          </a:p>
        </p:txBody>
      </p:sp>
      <p:grpSp>
        <p:nvGrpSpPr>
          <p:cNvPr id="131" name="组合 130"/>
          <p:cNvGrpSpPr/>
          <p:nvPr/>
        </p:nvGrpSpPr>
        <p:grpSpPr>
          <a:xfrm>
            <a:off x="805345" y="1518805"/>
            <a:ext cx="10632329" cy="5000078"/>
            <a:chOff x="805345" y="1518805"/>
            <a:chExt cx="10632329" cy="5000078"/>
          </a:xfrm>
        </p:grpSpPr>
        <p:sp>
          <p:nvSpPr>
            <p:cNvPr id="40" name="文本框 39"/>
            <p:cNvSpPr txBox="1"/>
            <p:nvPr/>
          </p:nvSpPr>
          <p:spPr>
            <a:xfrm>
              <a:off x="914403" y="1518805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PC0</a:t>
              </a:r>
              <a:endParaRPr lang="zh-CN" altLang="en-US" b="1" dirty="0"/>
            </a:p>
          </p:txBody>
        </p:sp>
        <p:pic>
          <p:nvPicPr>
            <p:cNvPr id="41" name="20 40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8204" y="1627865"/>
              <a:ext cx="539132" cy="457973"/>
            </a:xfrm>
            <a:prstGeom prst="rect">
              <a:avLst/>
            </a:prstGeom>
          </p:spPr>
        </p:pic>
        <p:pic>
          <p:nvPicPr>
            <p:cNvPr id="84" name="20 83" descr="卡通人物&#10;&#10;中度可信度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8956" y="3747746"/>
              <a:ext cx="530013" cy="381609"/>
            </a:xfrm>
            <a:prstGeom prst="rect">
              <a:avLst/>
            </a:prstGeom>
          </p:spPr>
        </p:pic>
        <p:sp>
          <p:nvSpPr>
            <p:cNvPr id="85" name="文本框 84"/>
            <p:cNvSpPr txBox="1"/>
            <p:nvPr/>
          </p:nvSpPr>
          <p:spPr>
            <a:xfrm>
              <a:off x="805345" y="3615384"/>
              <a:ext cx="10051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2911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Router0</a:t>
              </a:r>
              <a:endParaRPr lang="zh-CN" altLang="en-US" b="1" dirty="0"/>
            </a:p>
          </p:txBody>
        </p:sp>
        <p:pic>
          <p:nvPicPr>
            <p:cNvPr id="2" name="20 1" descr="卡通人物&#10;&#10;中度可信度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0993" y="5512045"/>
              <a:ext cx="530013" cy="381609"/>
            </a:xfrm>
            <a:prstGeom prst="rect">
              <a:avLst/>
            </a:prstGeom>
          </p:spPr>
        </p:pic>
        <p:pic>
          <p:nvPicPr>
            <p:cNvPr id="5" name="20 4" descr="卡通人物&#10;&#10;中度可信度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93031" y="3747746"/>
              <a:ext cx="530013" cy="381609"/>
            </a:xfrm>
            <a:prstGeom prst="rect">
              <a:avLst/>
            </a:prstGeom>
          </p:spPr>
        </p:pic>
        <p:pic>
          <p:nvPicPr>
            <p:cNvPr id="6" name="20 5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88471" y="1627865"/>
              <a:ext cx="539132" cy="457973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10432483" y="3615384"/>
              <a:ext cx="10051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2911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Router1</a:t>
              </a:r>
              <a:endParaRPr lang="zh-CN" altLang="en-US" b="1" dirty="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593403" y="5872552"/>
              <a:ext cx="10051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2911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Router2</a:t>
              </a:r>
              <a:endParaRPr lang="zh-CN" altLang="en-US" b="1" dirty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0461954" y="1518805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PC1</a:t>
              </a:r>
              <a:endParaRPr lang="zh-CN" altLang="en-US" b="1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2983249" y="685800"/>
            <a:ext cx="6234093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2.  </a:t>
            </a:r>
            <a:r>
              <a:rPr lang="zh-CN" altLang="en-US" sz="2400" b="1" dirty="0"/>
              <a:t>查看并标注路由器相关接口名称（接口号）</a:t>
            </a:r>
            <a:endParaRPr lang="en-US" altLang="zh-CN" sz="2400" b="1" dirty="0"/>
          </a:p>
        </p:txBody>
      </p:sp>
      <p:grpSp>
        <p:nvGrpSpPr>
          <p:cNvPr id="31" name="组合 30"/>
          <p:cNvGrpSpPr/>
          <p:nvPr/>
        </p:nvGrpSpPr>
        <p:grpSpPr>
          <a:xfrm>
            <a:off x="6292355" y="4129355"/>
            <a:ext cx="3797032" cy="1573495"/>
            <a:chOff x="6361006" y="4129355"/>
            <a:chExt cx="3797032" cy="1573495"/>
          </a:xfrm>
        </p:grpSpPr>
        <p:cxnSp>
          <p:nvCxnSpPr>
            <p:cNvPr id="32" name="直接连接符 31"/>
            <p:cNvCxnSpPr/>
            <p:nvPr/>
          </p:nvCxnSpPr>
          <p:spPr>
            <a:xfrm flipH="1">
              <a:off x="6361006" y="4129355"/>
              <a:ext cx="3797032" cy="1573495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等腰三角形 32"/>
            <p:cNvSpPr/>
            <p:nvPr/>
          </p:nvSpPr>
          <p:spPr>
            <a:xfrm rot="10800000">
              <a:off x="9922519" y="417424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10800000">
              <a:off x="6542678" y="55476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094813" y="4118803"/>
            <a:ext cx="3797030" cy="1573495"/>
            <a:chOff x="2033963" y="4129355"/>
            <a:chExt cx="3797030" cy="1573495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2033963" y="4129355"/>
              <a:ext cx="3797030" cy="1573495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等腰三角形 28"/>
            <p:cNvSpPr/>
            <p:nvPr/>
          </p:nvSpPr>
          <p:spPr>
            <a:xfrm rot="10800000">
              <a:off x="2217330" y="4166817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10800000">
              <a:off x="5562510" y="55476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0089387" y="2057849"/>
            <a:ext cx="111832" cy="1732417"/>
            <a:chOff x="1970918" y="2057849"/>
            <a:chExt cx="111832" cy="1732417"/>
          </a:xfrm>
        </p:grpSpPr>
        <p:cxnSp>
          <p:nvCxnSpPr>
            <p:cNvPr id="16" name="直接连接符 15"/>
            <p:cNvCxnSpPr/>
            <p:nvPr/>
          </p:nvCxnSpPr>
          <p:spPr>
            <a:xfrm>
              <a:off x="2028615" y="2057849"/>
              <a:ext cx="0" cy="1732417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等腰三角形 18"/>
            <p:cNvSpPr/>
            <p:nvPr/>
          </p:nvSpPr>
          <p:spPr>
            <a:xfrm rot="10800000">
              <a:off x="1970919" y="221457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1970918" y="3338216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970918" y="2057849"/>
            <a:ext cx="111832" cy="1732417"/>
            <a:chOff x="1970918" y="2057849"/>
            <a:chExt cx="111832" cy="1732417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2028615" y="2057849"/>
              <a:ext cx="0" cy="1732417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等腰三角形 10"/>
            <p:cNvSpPr/>
            <p:nvPr/>
          </p:nvSpPr>
          <p:spPr>
            <a:xfrm rot="10800000">
              <a:off x="1970919" y="221457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 rot="10800000">
              <a:off x="1970918" y="3338216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243241" y="3793942"/>
            <a:ext cx="7697844" cy="216445"/>
            <a:chOff x="2243241" y="3793942"/>
            <a:chExt cx="7697844" cy="216445"/>
          </a:xfrm>
        </p:grpSpPr>
        <p:grpSp>
          <p:nvGrpSpPr>
            <p:cNvPr id="17" name="组合 16"/>
            <p:cNvGrpSpPr/>
            <p:nvPr/>
          </p:nvGrpSpPr>
          <p:grpSpPr>
            <a:xfrm>
              <a:off x="2243241" y="3840969"/>
              <a:ext cx="7697844" cy="130472"/>
              <a:chOff x="2243241" y="3518631"/>
              <a:chExt cx="7697844" cy="130472"/>
            </a:xfrm>
          </p:grpSpPr>
          <p:cxnSp>
            <p:nvCxnSpPr>
              <p:cNvPr id="18" name="直接连接符 17"/>
              <p:cNvCxnSpPr/>
              <p:nvPr/>
            </p:nvCxnSpPr>
            <p:spPr>
              <a:xfrm>
                <a:off x="5974300" y="3518631"/>
                <a:ext cx="3966785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" name="组合 22"/>
              <p:cNvGrpSpPr/>
              <p:nvPr/>
            </p:nvGrpSpPr>
            <p:grpSpPr>
              <a:xfrm>
                <a:off x="2243241" y="3518631"/>
                <a:ext cx="3974459" cy="130472"/>
                <a:chOff x="2243241" y="3518631"/>
                <a:chExt cx="3974459" cy="130472"/>
              </a:xfrm>
            </p:grpSpPr>
            <p:cxnSp>
              <p:nvCxnSpPr>
                <p:cNvPr id="24" name="直接连接符 23"/>
                <p:cNvCxnSpPr/>
                <p:nvPr/>
              </p:nvCxnSpPr>
              <p:spPr>
                <a:xfrm>
                  <a:off x="2243241" y="3649103"/>
                  <a:ext cx="3966785" cy="0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>
                  <a:off x="5974300" y="3518631"/>
                  <a:ext cx="243400" cy="130472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6" name="等腰三角形 25"/>
            <p:cNvSpPr/>
            <p:nvPr/>
          </p:nvSpPr>
          <p:spPr>
            <a:xfrm rot="10800000">
              <a:off x="2457143" y="3913981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0800000">
              <a:off x="9511195" y="379394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131" name="组合 130"/>
          <p:cNvGrpSpPr/>
          <p:nvPr/>
        </p:nvGrpSpPr>
        <p:grpSpPr>
          <a:xfrm>
            <a:off x="805345" y="1518805"/>
            <a:ext cx="10632329" cy="5000078"/>
            <a:chOff x="805345" y="1518805"/>
            <a:chExt cx="10632329" cy="5000078"/>
          </a:xfrm>
        </p:grpSpPr>
        <p:sp>
          <p:nvSpPr>
            <p:cNvPr id="40" name="文本框 39"/>
            <p:cNvSpPr txBox="1"/>
            <p:nvPr/>
          </p:nvSpPr>
          <p:spPr>
            <a:xfrm>
              <a:off x="914403" y="1518805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PC0</a:t>
              </a:r>
              <a:endParaRPr lang="zh-CN" altLang="en-US" b="1" dirty="0"/>
            </a:p>
          </p:txBody>
        </p:sp>
        <p:pic>
          <p:nvPicPr>
            <p:cNvPr id="41" name="20 40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8204" y="1627865"/>
              <a:ext cx="539132" cy="457973"/>
            </a:xfrm>
            <a:prstGeom prst="rect">
              <a:avLst/>
            </a:prstGeom>
          </p:spPr>
        </p:pic>
        <p:pic>
          <p:nvPicPr>
            <p:cNvPr id="84" name="20 83" descr="卡通人物&#10;&#10;中度可信度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8956" y="3747746"/>
              <a:ext cx="530013" cy="381609"/>
            </a:xfrm>
            <a:prstGeom prst="rect">
              <a:avLst/>
            </a:prstGeom>
          </p:spPr>
        </p:pic>
        <p:sp>
          <p:nvSpPr>
            <p:cNvPr id="85" name="文本框 84"/>
            <p:cNvSpPr txBox="1"/>
            <p:nvPr/>
          </p:nvSpPr>
          <p:spPr>
            <a:xfrm>
              <a:off x="805345" y="3615384"/>
              <a:ext cx="10051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2911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Router0</a:t>
              </a:r>
              <a:endParaRPr lang="zh-CN" altLang="en-US" b="1" dirty="0"/>
            </a:p>
          </p:txBody>
        </p:sp>
        <p:pic>
          <p:nvPicPr>
            <p:cNvPr id="2" name="20 1" descr="卡通人物&#10;&#10;中度可信度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0993" y="5512045"/>
              <a:ext cx="530013" cy="381609"/>
            </a:xfrm>
            <a:prstGeom prst="rect">
              <a:avLst/>
            </a:prstGeom>
          </p:spPr>
        </p:pic>
        <p:pic>
          <p:nvPicPr>
            <p:cNvPr id="5" name="20 4" descr="卡通人物&#10;&#10;中度可信度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93031" y="3747746"/>
              <a:ext cx="530013" cy="381609"/>
            </a:xfrm>
            <a:prstGeom prst="rect">
              <a:avLst/>
            </a:prstGeom>
          </p:spPr>
        </p:pic>
        <p:pic>
          <p:nvPicPr>
            <p:cNvPr id="6" name="20 5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88471" y="1627865"/>
              <a:ext cx="539132" cy="457973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10432483" y="3615384"/>
              <a:ext cx="10051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2911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Router1</a:t>
              </a:r>
              <a:endParaRPr lang="zh-CN" altLang="en-US" b="1" dirty="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593403" y="5872552"/>
              <a:ext cx="10051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2911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Router2</a:t>
              </a:r>
              <a:endParaRPr lang="zh-CN" altLang="en-US" b="1" dirty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0461954" y="1518805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PC1</a:t>
              </a:r>
              <a:endParaRPr lang="zh-CN" altLang="en-US" b="1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2983249" y="685800"/>
            <a:ext cx="6234093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2.  </a:t>
            </a:r>
            <a:r>
              <a:rPr lang="zh-CN" altLang="en-US" sz="2400" b="1" dirty="0"/>
              <a:t>查看并标注路由器相关接口名称（接口号）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3" y="1729715"/>
            <a:ext cx="4275190" cy="1265030"/>
          </a:xfrm>
          <a:prstGeom prst="rect">
            <a:avLst/>
          </a:prstGeom>
        </p:spPr>
      </p:pic>
      <p:pic>
        <p:nvPicPr>
          <p:cNvPr id="35" name="20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381" y="1827181"/>
            <a:ext cx="4778816" cy="4558029"/>
          </a:xfrm>
          <a:prstGeom prst="rect">
            <a:avLst/>
          </a:prstGeom>
        </p:spPr>
      </p:pic>
      <p:grpSp>
        <p:nvGrpSpPr>
          <p:cNvPr id="36" name="组合 35"/>
          <p:cNvGrpSpPr/>
          <p:nvPr/>
        </p:nvGrpSpPr>
        <p:grpSpPr>
          <a:xfrm>
            <a:off x="1731900" y="2153052"/>
            <a:ext cx="2204189" cy="1948430"/>
            <a:chOff x="1731900" y="2153052"/>
            <a:chExt cx="2204189" cy="1948430"/>
          </a:xfrm>
        </p:grpSpPr>
        <p:sp>
          <p:nvSpPr>
            <p:cNvPr id="37" name="文本框 36"/>
            <p:cNvSpPr txBox="1"/>
            <p:nvPr/>
          </p:nvSpPr>
          <p:spPr>
            <a:xfrm>
              <a:off x="1731900" y="3701372"/>
              <a:ext cx="22041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❶  选择该菜单项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8" name="直接箭头连接符 37"/>
            <p:cNvCxnSpPr/>
            <p:nvPr/>
          </p:nvCxnSpPr>
          <p:spPr>
            <a:xfrm flipV="1">
              <a:off x="2833995" y="2153052"/>
              <a:ext cx="0" cy="1472120"/>
            </a:xfrm>
            <a:prstGeom prst="straightConnector1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组合 38"/>
          <p:cNvGrpSpPr/>
          <p:nvPr/>
        </p:nvGrpSpPr>
        <p:grpSpPr>
          <a:xfrm>
            <a:off x="6373131" y="1297718"/>
            <a:ext cx="2204189" cy="790486"/>
            <a:chOff x="6373131" y="1297718"/>
            <a:chExt cx="2204189" cy="790486"/>
          </a:xfrm>
        </p:grpSpPr>
        <p:sp>
          <p:nvSpPr>
            <p:cNvPr id="42" name="文本框 41"/>
            <p:cNvSpPr txBox="1"/>
            <p:nvPr/>
          </p:nvSpPr>
          <p:spPr>
            <a:xfrm>
              <a:off x="6373131" y="1297718"/>
              <a:ext cx="22041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❷  选择该选项卡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43" name="直接箭头连接符 42"/>
            <p:cNvCxnSpPr/>
            <p:nvPr/>
          </p:nvCxnSpPr>
          <p:spPr>
            <a:xfrm>
              <a:off x="7475226" y="1680280"/>
              <a:ext cx="0" cy="407924"/>
            </a:xfrm>
            <a:prstGeom prst="straightConnector1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/>
          <p:cNvGrpSpPr/>
          <p:nvPr/>
        </p:nvGrpSpPr>
        <p:grpSpPr>
          <a:xfrm>
            <a:off x="5007313" y="2966200"/>
            <a:ext cx="2230066" cy="400110"/>
            <a:chOff x="5007313" y="2966200"/>
            <a:chExt cx="2230066" cy="400110"/>
          </a:xfrm>
        </p:grpSpPr>
        <p:sp>
          <p:nvSpPr>
            <p:cNvPr id="45" name="文本框 44"/>
            <p:cNvSpPr txBox="1"/>
            <p:nvPr/>
          </p:nvSpPr>
          <p:spPr>
            <a:xfrm>
              <a:off x="5007313" y="2966200"/>
              <a:ext cx="18421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❸ 选中该选项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46" name="直接箭头连接符 45"/>
            <p:cNvCxnSpPr/>
            <p:nvPr/>
          </p:nvCxnSpPr>
          <p:spPr>
            <a:xfrm>
              <a:off x="6849414" y="3166255"/>
              <a:ext cx="387965" cy="0"/>
            </a:xfrm>
            <a:prstGeom prst="straightConnector1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2983249" y="685800"/>
            <a:ext cx="6234093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2.  </a:t>
            </a:r>
            <a:r>
              <a:rPr lang="zh-CN" altLang="en-US" sz="2400" b="1" dirty="0"/>
              <a:t>查看并标注路由器相关接口名称（接口号）</a:t>
            </a:r>
            <a:endParaRPr lang="en-US" altLang="zh-CN" sz="2400" b="1" dirty="0"/>
          </a:p>
        </p:txBody>
      </p:sp>
      <p:grpSp>
        <p:nvGrpSpPr>
          <p:cNvPr id="31" name="组合 30"/>
          <p:cNvGrpSpPr/>
          <p:nvPr/>
        </p:nvGrpSpPr>
        <p:grpSpPr>
          <a:xfrm>
            <a:off x="6292355" y="4129355"/>
            <a:ext cx="3797032" cy="1573495"/>
            <a:chOff x="6361006" y="4129355"/>
            <a:chExt cx="3797032" cy="1573495"/>
          </a:xfrm>
        </p:grpSpPr>
        <p:cxnSp>
          <p:nvCxnSpPr>
            <p:cNvPr id="32" name="直接连接符 31"/>
            <p:cNvCxnSpPr/>
            <p:nvPr/>
          </p:nvCxnSpPr>
          <p:spPr>
            <a:xfrm flipH="1">
              <a:off x="6361006" y="4129355"/>
              <a:ext cx="3797032" cy="1573495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等腰三角形 32"/>
            <p:cNvSpPr/>
            <p:nvPr/>
          </p:nvSpPr>
          <p:spPr>
            <a:xfrm rot="10800000">
              <a:off x="9922519" y="417424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10800000">
              <a:off x="6542678" y="55476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094813" y="4118803"/>
            <a:ext cx="3797030" cy="1573495"/>
            <a:chOff x="2033963" y="4129355"/>
            <a:chExt cx="3797030" cy="1573495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2033963" y="4129355"/>
              <a:ext cx="3797030" cy="1573495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等腰三角形 28"/>
            <p:cNvSpPr/>
            <p:nvPr/>
          </p:nvSpPr>
          <p:spPr>
            <a:xfrm rot="10800000">
              <a:off x="2217330" y="4166817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10800000">
              <a:off x="5562510" y="55476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0089387" y="2057849"/>
            <a:ext cx="111832" cy="1732417"/>
            <a:chOff x="1970918" y="2057849"/>
            <a:chExt cx="111832" cy="1732417"/>
          </a:xfrm>
        </p:grpSpPr>
        <p:cxnSp>
          <p:nvCxnSpPr>
            <p:cNvPr id="16" name="直接连接符 15"/>
            <p:cNvCxnSpPr/>
            <p:nvPr/>
          </p:nvCxnSpPr>
          <p:spPr>
            <a:xfrm>
              <a:off x="2028615" y="2057849"/>
              <a:ext cx="0" cy="1732417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等腰三角形 18"/>
            <p:cNvSpPr/>
            <p:nvPr/>
          </p:nvSpPr>
          <p:spPr>
            <a:xfrm rot="10800000">
              <a:off x="1970919" y="221457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1970918" y="3338216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970918" y="2057849"/>
            <a:ext cx="111832" cy="1732417"/>
            <a:chOff x="1970918" y="2057849"/>
            <a:chExt cx="111832" cy="1732417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2028615" y="2057849"/>
              <a:ext cx="0" cy="1732417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等腰三角形 10"/>
            <p:cNvSpPr/>
            <p:nvPr/>
          </p:nvSpPr>
          <p:spPr>
            <a:xfrm rot="10800000">
              <a:off x="1970919" y="221457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 rot="10800000">
              <a:off x="1970918" y="3338216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243241" y="3793942"/>
            <a:ext cx="7697844" cy="216445"/>
            <a:chOff x="2243241" y="3793942"/>
            <a:chExt cx="7697844" cy="216445"/>
          </a:xfrm>
        </p:grpSpPr>
        <p:grpSp>
          <p:nvGrpSpPr>
            <p:cNvPr id="17" name="组合 16"/>
            <p:cNvGrpSpPr/>
            <p:nvPr/>
          </p:nvGrpSpPr>
          <p:grpSpPr>
            <a:xfrm>
              <a:off x="2243241" y="3840969"/>
              <a:ext cx="7697844" cy="130472"/>
              <a:chOff x="2243241" y="3518631"/>
              <a:chExt cx="7697844" cy="130472"/>
            </a:xfrm>
          </p:grpSpPr>
          <p:cxnSp>
            <p:nvCxnSpPr>
              <p:cNvPr id="18" name="直接连接符 17"/>
              <p:cNvCxnSpPr/>
              <p:nvPr/>
            </p:nvCxnSpPr>
            <p:spPr>
              <a:xfrm>
                <a:off x="5974300" y="3518631"/>
                <a:ext cx="3966785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" name="组合 22"/>
              <p:cNvGrpSpPr/>
              <p:nvPr/>
            </p:nvGrpSpPr>
            <p:grpSpPr>
              <a:xfrm>
                <a:off x="2243241" y="3518631"/>
                <a:ext cx="3974459" cy="130472"/>
                <a:chOff x="2243241" y="3518631"/>
                <a:chExt cx="3974459" cy="130472"/>
              </a:xfrm>
            </p:grpSpPr>
            <p:cxnSp>
              <p:nvCxnSpPr>
                <p:cNvPr id="24" name="直接连接符 23"/>
                <p:cNvCxnSpPr/>
                <p:nvPr/>
              </p:nvCxnSpPr>
              <p:spPr>
                <a:xfrm>
                  <a:off x="2243241" y="3649103"/>
                  <a:ext cx="3966785" cy="0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>
                  <a:off x="5974300" y="3518631"/>
                  <a:ext cx="243400" cy="130472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6" name="等腰三角形 25"/>
            <p:cNvSpPr/>
            <p:nvPr/>
          </p:nvSpPr>
          <p:spPr>
            <a:xfrm rot="10800000">
              <a:off x="2457143" y="3913981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0800000">
              <a:off x="9511195" y="379394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3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204" y="1627865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56" y="3747746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805345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pic>
        <p:nvPicPr>
          <p:cNvPr id="2" name="20 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993" y="5512045"/>
            <a:ext cx="530013" cy="381609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031" y="3747746"/>
            <a:ext cx="530013" cy="381609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471" y="1627865"/>
            <a:ext cx="539132" cy="45797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432483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5593403" y="5872552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0461954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593692" y="4175811"/>
            <a:ext cx="8221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2005630" y="3176966"/>
            <a:ext cx="8221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2500009" y="3845549"/>
            <a:ext cx="97585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1996190" y="2131282"/>
            <a:ext cx="8221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38" name="文本框 37"/>
          <p:cNvSpPr txBox="1"/>
          <p:nvPr/>
        </p:nvSpPr>
        <p:spPr>
          <a:xfrm>
            <a:off x="4913003" y="5509890"/>
            <a:ext cx="8221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6541236" y="5509890"/>
            <a:ext cx="8221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9845122" y="4175811"/>
            <a:ext cx="8221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3" name="文本框 42"/>
          <p:cNvSpPr txBox="1"/>
          <p:nvPr/>
        </p:nvSpPr>
        <p:spPr>
          <a:xfrm>
            <a:off x="8765859" y="3848768"/>
            <a:ext cx="97585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44" name="文本框 43"/>
          <p:cNvSpPr txBox="1"/>
          <p:nvPr/>
        </p:nvSpPr>
        <p:spPr>
          <a:xfrm>
            <a:off x="9308006" y="3176966"/>
            <a:ext cx="8221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9368524" y="2085838"/>
            <a:ext cx="8221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Fa0</a:t>
            </a:r>
            <a:endParaRPr lang="en-US" altLang="zh-CN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2983249" y="685800"/>
            <a:ext cx="6234093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2.  </a:t>
            </a:r>
            <a:r>
              <a:rPr lang="zh-CN" altLang="en-US" sz="2400" b="1" dirty="0"/>
              <a:t>查看并标注路由器相关接口名称（接口号）</a:t>
            </a:r>
            <a:endParaRPr lang="en-US" altLang="zh-CN" sz="2400" b="1" dirty="0"/>
          </a:p>
        </p:txBody>
      </p:sp>
      <p:grpSp>
        <p:nvGrpSpPr>
          <p:cNvPr id="31" name="组合 30"/>
          <p:cNvGrpSpPr/>
          <p:nvPr/>
        </p:nvGrpSpPr>
        <p:grpSpPr>
          <a:xfrm>
            <a:off x="6292355" y="4129355"/>
            <a:ext cx="3797032" cy="1573495"/>
            <a:chOff x="6361006" y="4129355"/>
            <a:chExt cx="3797032" cy="1573495"/>
          </a:xfrm>
        </p:grpSpPr>
        <p:cxnSp>
          <p:nvCxnSpPr>
            <p:cNvPr id="32" name="直接连接符 31"/>
            <p:cNvCxnSpPr/>
            <p:nvPr/>
          </p:nvCxnSpPr>
          <p:spPr>
            <a:xfrm flipH="1">
              <a:off x="6361006" y="4129355"/>
              <a:ext cx="3797032" cy="1573495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等腰三角形 32"/>
            <p:cNvSpPr/>
            <p:nvPr/>
          </p:nvSpPr>
          <p:spPr>
            <a:xfrm rot="10800000">
              <a:off x="9922519" y="417424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10800000">
              <a:off x="6542678" y="55476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094813" y="4118803"/>
            <a:ext cx="3797030" cy="1573495"/>
            <a:chOff x="2033963" y="4129355"/>
            <a:chExt cx="3797030" cy="1573495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2033963" y="4129355"/>
              <a:ext cx="3797030" cy="1573495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等腰三角形 28"/>
            <p:cNvSpPr/>
            <p:nvPr/>
          </p:nvSpPr>
          <p:spPr>
            <a:xfrm rot="10800000">
              <a:off x="2217330" y="4166817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10800000">
              <a:off x="5562510" y="55476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0089387" y="2057849"/>
            <a:ext cx="111832" cy="1732417"/>
            <a:chOff x="1970918" y="2057849"/>
            <a:chExt cx="111832" cy="1732417"/>
          </a:xfrm>
        </p:grpSpPr>
        <p:cxnSp>
          <p:nvCxnSpPr>
            <p:cNvPr id="16" name="直接连接符 15"/>
            <p:cNvCxnSpPr/>
            <p:nvPr/>
          </p:nvCxnSpPr>
          <p:spPr>
            <a:xfrm>
              <a:off x="2028615" y="2057849"/>
              <a:ext cx="0" cy="1732417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等腰三角形 18"/>
            <p:cNvSpPr/>
            <p:nvPr/>
          </p:nvSpPr>
          <p:spPr>
            <a:xfrm rot="10800000">
              <a:off x="1970919" y="221457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1970918" y="3338216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970918" y="2057849"/>
            <a:ext cx="111832" cy="1732417"/>
            <a:chOff x="1970918" y="2057849"/>
            <a:chExt cx="111832" cy="1732417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2028615" y="2057849"/>
              <a:ext cx="0" cy="1732417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等腰三角形 10"/>
            <p:cNvSpPr/>
            <p:nvPr/>
          </p:nvSpPr>
          <p:spPr>
            <a:xfrm rot="10800000">
              <a:off x="1970919" y="221457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 rot="10800000">
              <a:off x="1970918" y="3338216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243241" y="3793942"/>
            <a:ext cx="7697844" cy="216445"/>
            <a:chOff x="2243241" y="3793942"/>
            <a:chExt cx="7697844" cy="216445"/>
          </a:xfrm>
        </p:grpSpPr>
        <p:grpSp>
          <p:nvGrpSpPr>
            <p:cNvPr id="17" name="组合 16"/>
            <p:cNvGrpSpPr/>
            <p:nvPr/>
          </p:nvGrpSpPr>
          <p:grpSpPr>
            <a:xfrm>
              <a:off x="2243241" y="3840969"/>
              <a:ext cx="7697844" cy="130472"/>
              <a:chOff x="2243241" y="3518631"/>
              <a:chExt cx="7697844" cy="130472"/>
            </a:xfrm>
          </p:grpSpPr>
          <p:cxnSp>
            <p:nvCxnSpPr>
              <p:cNvPr id="18" name="直接连接符 17"/>
              <p:cNvCxnSpPr/>
              <p:nvPr/>
            </p:nvCxnSpPr>
            <p:spPr>
              <a:xfrm>
                <a:off x="5974300" y="3518631"/>
                <a:ext cx="3966785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" name="组合 22"/>
              <p:cNvGrpSpPr/>
              <p:nvPr/>
            </p:nvGrpSpPr>
            <p:grpSpPr>
              <a:xfrm>
                <a:off x="2243241" y="3518631"/>
                <a:ext cx="3974459" cy="130472"/>
                <a:chOff x="2243241" y="3518631"/>
                <a:chExt cx="3974459" cy="130472"/>
              </a:xfrm>
            </p:grpSpPr>
            <p:cxnSp>
              <p:nvCxnSpPr>
                <p:cNvPr id="24" name="直接连接符 23"/>
                <p:cNvCxnSpPr/>
                <p:nvPr/>
              </p:nvCxnSpPr>
              <p:spPr>
                <a:xfrm>
                  <a:off x="2243241" y="3649103"/>
                  <a:ext cx="3966785" cy="0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>
                  <a:off x="5974300" y="3518631"/>
                  <a:ext cx="243400" cy="130472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6" name="等腰三角形 25"/>
            <p:cNvSpPr/>
            <p:nvPr/>
          </p:nvSpPr>
          <p:spPr>
            <a:xfrm rot="10800000">
              <a:off x="2457143" y="3913981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0800000">
              <a:off x="9511195" y="379394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3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204" y="1627865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56" y="3747746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805345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pic>
        <p:nvPicPr>
          <p:cNvPr id="2" name="20 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993" y="5512045"/>
            <a:ext cx="530013" cy="381609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031" y="3747746"/>
            <a:ext cx="530013" cy="381609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471" y="1627865"/>
            <a:ext cx="539132" cy="45797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432483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5593403" y="5872552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0461954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593692" y="4175811"/>
            <a:ext cx="8221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2005630" y="3176966"/>
            <a:ext cx="8221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2500009" y="3845549"/>
            <a:ext cx="97585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1996190" y="2131282"/>
            <a:ext cx="8221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38" name="文本框 37"/>
          <p:cNvSpPr txBox="1"/>
          <p:nvPr/>
        </p:nvSpPr>
        <p:spPr>
          <a:xfrm>
            <a:off x="4913003" y="5509890"/>
            <a:ext cx="8221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6541236" y="5509890"/>
            <a:ext cx="8221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9845122" y="4175811"/>
            <a:ext cx="8221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3" name="文本框 42"/>
          <p:cNvSpPr txBox="1"/>
          <p:nvPr/>
        </p:nvSpPr>
        <p:spPr>
          <a:xfrm>
            <a:off x="8765859" y="3848768"/>
            <a:ext cx="97585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44" name="文本框 43"/>
          <p:cNvSpPr txBox="1"/>
          <p:nvPr/>
        </p:nvSpPr>
        <p:spPr>
          <a:xfrm>
            <a:off x="9308006" y="3176966"/>
            <a:ext cx="8221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9368524" y="2085838"/>
            <a:ext cx="8221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46" name="矩形 45"/>
          <p:cNvSpPr/>
          <p:nvPr/>
        </p:nvSpPr>
        <p:spPr>
          <a:xfrm>
            <a:off x="2749481" y="1296009"/>
            <a:ext cx="6673175" cy="2427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/>
              <a:t>         Packet Tracer</a:t>
            </a:r>
            <a:r>
              <a:rPr lang="zh-CN" altLang="en-US" b="1" dirty="0"/>
              <a:t>软件显示接口名称、网络设备型号和名称的功能并不完美，有时会遮挡传输媒体、状态指示灯、甚至是网络设备自身，并且会显示网络中所有网络设备相关接口的接口名称，这使得网络拓扑中的信息看起来比较凌乱。</a:t>
            </a:r>
            <a:endParaRPr lang="en-US" altLang="zh-CN" b="1" dirty="0"/>
          </a:p>
          <a:p>
            <a:r>
              <a:rPr lang="zh-CN" altLang="en-US" b="1" dirty="0"/>
              <a:t>         建议同学们首先让</a:t>
            </a:r>
            <a:r>
              <a:rPr lang="en-US" altLang="zh-CN" b="1" dirty="0"/>
              <a:t>Packet Tracer</a:t>
            </a:r>
            <a:r>
              <a:rPr lang="zh-CN" altLang="en-US" b="1" dirty="0"/>
              <a:t>软件显示各网络设备的相关接口名称，然后将需要显示的接口名称记录下来，并作为注释信息标注在相关接口旁边，最后让</a:t>
            </a:r>
            <a:r>
              <a:rPr lang="en-US" altLang="zh-CN" b="1" dirty="0"/>
              <a:t>Packet Tracer</a:t>
            </a:r>
            <a:r>
              <a:rPr lang="zh-CN" altLang="en-US" b="1" dirty="0"/>
              <a:t>软件不显示各网络设备的相关接口名称即可。</a:t>
            </a:r>
            <a:endParaRPr lang="zh-CN" altLang="en-US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9" presetClass="exit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2983249" y="685800"/>
            <a:ext cx="6234093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2.  </a:t>
            </a:r>
            <a:r>
              <a:rPr lang="zh-CN" altLang="en-US" sz="2400" b="1" dirty="0"/>
              <a:t>查看并标注路由器相关接口名称（接口号）</a:t>
            </a:r>
            <a:endParaRPr lang="en-US" altLang="zh-CN" sz="2400" b="1" dirty="0"/>
          </a:p>
        </p:txBody>
      </p:sp>
      <p:grpSp>
        <p:nvGrpSpPr>
          <p:cNvPr id="31" name="组合 30"/>
          <p:cNvGrpSpPr/>
          <p:nvPr/>
        </p:nvGrpSpPr>
        <p:grpSpPr>
          <a:xfrm>
            <a:off x="6292355" y="4129355"/>
            <a:ext cx="3797032" cy="1573495"/>
            <a:chOff x="6361006" y="4129355"/>
            <a:chExt cx="3797032" cy="1573495"/>
          </a:xfrm>
        </p:grpSpPr>
        <p:cxnSp>
          <p:nvCxnSpPr>
            <p:cNvPr id="32" name="直接连接符 31"/>
            <p:cNvCxnSpPr/>
            <p:nvPr/>
          </p:nvCxnSpPr>
          <p:spPr>
            <a:xfrm flipH="1">
              <a:off x="6361006" y="4129355"/>
              <a:ext cx="3797032" cy="1573495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等腰三角形 32"/>
            <p:cNvSpPr/>
            <p:nvPr/>
          </p:nvSpPr>
          <p:spPr>
            <a:xfrm rot="10800000">
              <a:off x="9922519" y="417424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10800000">
              <a:off x="6542678" y="55476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094813" y="4118803"/>
            <a:ext cx="3797030" cy="1573495"/>
            <a:chOff x="2033963" y="4129355"/>
            <a:chExt cx="3797030" cy="1573495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2033963" y="4129355"/>
              <a:ext cx="3797030" cy="1573495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等腰三角形 28"/>
            <p:cNvSpPr/>
            <p:nvPr/>
          </p:nvSpPr>
          <p:spPr>
            <a:xfrm rot="10800000">
              <a:off x="2217330" y="4166817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10800000">
              <a:off x="5562510" y="55476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0089387" y="2057849"/>
            <a:ext cx="111832" cy="1732417"/>
            <a:chOff x="1970918" y="2057849"/>
            <a:chExt cx="111832" cy="1732417"/>
          </a:xfrm>
        </p:grpSpPr>
        <p:cxnSp>
          <p:nvCxnSpPr>
            <p:cNvPr id="16" name="直接连接符 15"/>
            <p:cNvCxnSpPr/>
            <p:nvPr/>
          </p:nvCxnSpPr>
          <p:spPr>
            <a:xfrm>
              <a:off x="2028615" y="2057849"/>
              <a:ext cx="0" cy="1732417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等腰三角形 18"/>
            <p:cNvSpPr/>
            <p:nvPr/>
          </p:nvSpPr>
          <p:spPr>
            <a:xfrm rot="10800000">
              <a:off x="1970919" y="221457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1970918" y="3338216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970918" y="2057849"/>
            <a:ext cx="111832" cy="1732417"/>
            <a:chOff x="1970918" y="2057849"/>
            <a:chExt cx="111832" cy="1732417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2028615" y="2057849"/>
              <a:ext cx="0" cy="1732417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等腰三角形 10"/>
            <p:cNvSpPr/>
            <p:nvPr/>
          </p:nvSpPr>
          <p:spPr>
            <a:xfrm rot="10800000">
              <a:off x="1970919" y="221457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 rot="10800000">
              <a:off x="1970918" y="3338216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243241" y="3793942"/>
            <a:ext cx="7697844" cy="216445"/>
            <a:chOff x="2243241" y="3793942"/>
            <a:chExt cx="7697844" cy="216445"/>
          </a:xfrm>
        </p:grpSpPr>
        <p:grpSp>
          <p:nvGrpSpPr>
            <p:cNvPr id="17" name="组合 16"/>
            <p:cNvGrpSpPr/>
            <p:nvPr/>
          </p:nvGrpSpPr>
          <p:grpSpPr>
            <a:xfrm>
              <a:off x="2243241" y="3840969"/>
              <a:ext cx="7697844" cy="130472"/>
              <a:chOff x="2243241" y="3518631"/>
              <a:chExt cx="7697844" cy="130472"/>
            </a:xfrm>
          </p:grpSpPr>
          <p:cxnSp>
            <p:nvCxnSpPr>
              <p:cNvPr id="18" name="直接连接符 17"/>
              <p:cNvCxnSpPr/>
              <p:nvPr/>
            </p:nvCxnSpPr>
            <p:spPr>
              <a:xfrm>
                <a:off x="5974300" y="3518631"/>
                <a:ext cx="3966785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" name="组合 22"/>
              <p:cNvGrpSpPr/>
              <p:nvPr/>
            </p:nvGrpSpPr>
            <p:grpSpPr>
              <a:xfrm>
                <a:off x="2243241" y="3518631"/>
                <a:ext cx="3974459" cy="130472"/>
                <a:chOff x="2243241" y="3518631"/>
                <a:chExt cx="3974459" cy="130472"/>
              </a:xfrm>
            </p:grpSpPr>
            <p:cxnSp>
              <p:nvCxnSpPr>
                <p:cNvPr id="24" name="直接连接符 23"/>
                <p:cNvCxnSpPr/>
                <p:nvPr/>
              </p:nvCxnSpPr>
              <p:spPr>
                <a:xfrm>
                  <a:off x="2243241" y="3649103"/>
                  <a:ext cx="3966785" cy="0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>
                  <a:off x="5974300" y="3518631"/>
                  <a:ext cx="243400" cy="130472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6" name="等腰三角形 25"/>
            <p:cNvSpPr/>
            <p:nvPr/>
          </p:nvSpPr>
          <p:spPr>
            <a:xfrm rot="10800000">
              <a:off x="2457143" y="3913981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0800000">
              <a:off x="9511195" y="379394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3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204" y="1627865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56" y="3747746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805345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pic>
        <p:nvPicPr>
          <p:cNvPr id="2" name="20 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993" y="5512045"/>
            <a:ext cx="530013" cy="381609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031" y="3747746"/>
            <a:ext cx="530013" cy="381609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471" y="1627865"/>
            <a:ext cx="539132" cy="45797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432483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5593403" y="5872552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0461954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59369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2041942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2356665" y="3592754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38" name="文本框 37"/>
          <p:cNvSpPr txBox="1"/>
          <p:nvPr/>
        </p:nvSpPr>
        <p:spPr>
          <a:xfrm>
            <a:off x="4874272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6575276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984512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3" name="文本框 42"/>
          <p:cNvSpPr txBox="1"/>
          <p:nvPr/>
        </p:nvSpPr>
        <p:spPr>
          <a:xfrm>
            <a:off x="8739711" y="3490415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44" name="文本框 43"/>
          <p:cNvSpPr txBox="1"/>
          <p:nvPr/>
        </p:nvSpPr>
        <p:spPr>
          <a:xfrm>
            <a:off x="9308006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pic>
        <p:nvPicPr>
          <p:cNvPr id="47" name="20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757" y="1562272"/>
            <a:ext cx="3912977" cy="828961"/>
          </a:xfrm>
          <a:prstGeom prst="rect">
            <a:avLst/>
          </a:prstGeom>
        </p:spPr>
      </p:pic>
      <p:grpSp>
        <p:nvGrpSpPr>
          <p:cNvPr id="48" name="组合 47"/>
          <p:cNvGrpSpPr/>
          <p:nvPr/>
        </p:nvGrpSpPr>
        <p:grpSpPr>
          <a:xfrm>
            <a:off x="4069796" y="2364458"/>
            <a:ext cx="4873165" cy="981754"/>
            <a:chOff x="2655449" y="2267382"/>
            <a:chExt cx="4873165" cy="981754"/>
          </a:xfrm>
        </p:grpSpPr>
        <p:sp>
          <p:nvSpPr>
            <p:cNvPr id="49" name="文本框 7"/>
            <p:cNvSpPr txBox="1"/>
            <p:nvPr/>
          </p:nvSpPr>
          <p:spPr>
            <a:xfrm>
              <a:off x="2655449" y="2375499"/>
              <a:ext cx="4873165" cy="873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使用“放置注释”工具，</a:t>
              </a:r>
              <a:endParaRPr lang="en-US" altLang="zh-CN" b="1" dirty="0">
                <a:solidFill>
                  <a:schemeClr val="accent1">
                    <a:lumMod val="7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在各计算机和路由器相关接口旁标注接口名称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50" name="直接箭头连接符 49"/>
            <p:cNvCxnSpPr/>
            <p:nvPr/>
          </p:nvCxnSpPr>
          <p:spPr>
            <a:xfrm flipV="1">
              <a:off x="4095446" y="2267382"/>
              <a:ext cx="0" cy="282796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文本框 36"/>
          <p:cNvSpPr txBox="1"/>
          <p:nvPr/>
        </p:nvSpPr>
        <p:spPr>
          <a:xfrm>
            <a:off x="2035100" y="2131282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9329614" y="2085838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Fa0</a:t>
            </a:r>
            <a:endParaRPr lang="en-US" altLang="zh-CN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5" grpId="0"/>
      <p:bldP spid="36" grpId="0"/>
      <p:bldP spid="38" grpId="0"/>
      <p:bldP spid="39" grpId="0"/>
      <p:bldP spid="42" grpId="0"/>
      <p:bldP spid="43" grpId="0"/>
      <p:bldP spid="44" grpId="0"/>
      <p:bldP spid="37" grpId="0" animBg="1"/>
      <p:bldP spid="4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文本框 45"/>
          <p:cNvSpPr txBox="1"/>
          <p:nvPr/>
        </p:nvSpPr>
        <p:spPr>
          <a:xfrm>
            <a:off x="243833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192.168.16.1/25</a:t>
            </a:r>
            <a:endParaRPr lang="en-US" altLang="zh-CN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243833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192.168.16.126</a:t>
            </a:r>
            <a:endParaRPr lang="en-US" altLang="zh-CN" b="1" dirty="0"/>
          </a:p>
        </p:txBody>
      </p:sp>
      <p:sp>
        <p:nvSpPr>
          <p:cNvPr id="53" name="文本框 52"/>
          <p:cNvSpPr txBox="1"/>
          <p:nvPr/>
        </p:nvSpPr>
        <p:spPr>
          <a:xfrm>
            <a:off x="203805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192.168.16.126/25</a:t>
            </a:r>
            <a:endParaRPr lang="en-US" altLang="zh-CN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2812209" y="685800"/>
            <a:ext cx="6589998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3.  </a:t>
            </a:r>
            <a:r>
              <a:rPr lang="zh-CN" altLang="en-US" sz="2400" b="1" dirty="0"/>
              <a:t>标注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地址、子网掩码以及默认网关的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</a:t>
            </a:r>
            <a:endParaRPr lang="en-US" altLang="zh-CN" sz="2400" b="1" dirty="0"/>
          </a:p>
        </p:txBody>
      </p:sp>
      <p:grpSp>
        <p:nvGrpSpPr>
          <p:cNvPr id="31" name="组合 30"/>
          <p:cNvGrpSpPr/>
          <p:nvPr/>
        </p:nvGrpSpPr>
        <p:grpSpPr>
          <a:xfrm>
            <a:off x="6292355" y="4129355"/>
            <a:ext cx="3797032" cy="1573495"/>
            <a:chOff x="6361006" y="4129355"/>
            <a:chExt cx="3797032" cy="1573495"/>
          </a:xfrm>
        </p:grpSpPr>
        <p:cxnSp>
          <p:nvCxnSpPr>
            <p:cNvPr id="32" name="直接连接符 31"/>
            <p:cNvCxnSpPr/>
            <p:nvPr/>
          </p:nvCxnSpPr>
          <p:spPr>
            <a:xfrm flipH="1">
              <a:off x="6361006" y="4129355"/>
              <a:ext cx="3797032" cy="1573495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等腰三角形 32"/>
            <p:cNvSpPr/>
            <p:nvPr/>
          </p:nvSpPr>
          <p:spPr>
            <a:xfrm rot="10800000">
              <a:off x="9922519" y="417424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10800000">
              <a:off x="6542678" y="55476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094813" y="4118803"/>
            <a:ext cx="3797030" cy="1573495"/>
            <a:chOff x="2033963" y="4129355"/>
            <a:chExt cx="3797030" cy="1573495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2033963" y="4129355"/>
              <a:ext cx="3797030" cy="1573495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等腰三角形 28"/>
            <p:cNvSpPr/>
            <p:nvPr/>
          </p:nvSpPr>
          <p:spPr>
            <a:xfrm rot="10800000">
              <a:off x="2217330" y="4166817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10800000">
              <a:off x="5562510" y="55476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0089387" y="2057849"/>
            <a:ext cx="111832" cy="1732417"/>
            <a:chOff x="1970918" y="2057849"/>
            <a:chExt cx="111832" cy="1732417"/>
          </a:xfrm>
        </p:grpSpPr>
        <p:cxnSp>
          <p:nvCxnSpPr>
            <p:cNvPr id="16" name="直接连接符 15"/>
            <p:cNvCxnSpPr/>
            <p:nvPr/>
          </p:nvCxnSpPr>
          <p:spPr>
            <a:xfrm>
              <a:off x="2028615" y="2057849"/>
              <a:ext cx="0" cy="1732417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等腰三角形 18"/>
            <p:cNvSpPr/>
            <p:nvPr/>
          </p:nvSpPr>
          <p:spPr>
            <a:xfrm rot="10800000">
              <a:off x="1970919" y="221457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1970918" y="3338216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970918" y="2057849"/>
            <a:ext cx="111832" cy="1732417"/>
            <a:chOff x="1970918" y="2057849"/>
            <a:chExt cx="111832" cy="1732417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2028615" y="2057849"/>
              <a:ext cx="0" cy="1732417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等腰三角形 10"/>
            <p:cNvSpPr/>
            <p:nvPr/>
          </p:nvSpPr>
          <p:spPr>
            <a:xfrm rot="10800000">
              <a:off x="1970919" y="221457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 rot="10800000">
              <a:off x="1970918" y="3338216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243241" y="3793942"/>
            <a:ext cx="7697844" cy="216445"/>
            <a:chOff x="2243241" y="3793942"/>
            <a:chExt cx="7697844" cy="216445"/>
          </a:xfrm>
        </p:grpSpPr>
        <p:grpSp>
          <p:nvGrpSpPr>
            <p:cNvPr id="17" name="组合 16"/>
            <p:cNvGrpSpPr/>
            <p:nvPr/>
          </p:nvGrpSpPr>
          <p:grpSpPr>
            <a:xfrm>
              <a:off x="2243241" y="3840969"/>
              <a:ext cx="7697844" cy="130472"/>
              <a:chOff x="2243241" y="3518631"/>
              <a:chExt cx="7697844" cy="130472"/>
            </a:xfrm>
          </p:grpSpPr>
          <p:cxnSp>
            <p:nvCxnSpPr>
              <p:cNvPr id="18" name="直接连接符 17"/>
              <p:cNvCxnSpPr/>
              <p:nvPr/>
            </p:nvCxnSpPr>
            <p:spPr>
              <a:xfrm>
                <a:off x="5974300" y="3518631"/>
                <a:ext cx="3966785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" name="组合 22"/>
              <p:cNvGrpSpPr/>
              <p:nvPr/>
            </p:nvGrpSpPr>
            <p:grpSpPr>
              <a:xfrm>
                <a:off x="2243241" y="3518631"/>
                <a:ext cx="3974459" cy="130472"/>
                <a:chOff x="2243241" y="3518631"/>
                <a:chExt cx="3974459" cy="130472"/>
              </a:xfrm>
            </p:grpSpPr>
            <p:cxnSp>
              <p:nvCxnSpPr>
                <p:cNvPr id="24" name="直接连接符 23"/>
                <p:cNvCxnSpPr/>
                <p:nvPr/>
              </p:nvCxnSpPr>
              <p:spPr>
                <a:xfrm>
                  <a:off x="2243241" y="3649103"/>
                  <a:ext cx="3966785" cy="0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>
                  <a:off x="5974300" y="3518631"/>
                  <a:ext cx="243400" cy="130472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6" name="等腰三角形 25"/>
            <p:cNvSpPr/>
            <p:nvPr/>
          </p:nvSpPr>
          <p:spPr>
            <a:xfrm rot="10800000">
              <a:off x="2457143" y="3913981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0800000">
              <a:off x="9511195" y="379394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3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204" y="1627865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56" y="3747746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805345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pic>
        <p:nvPicPr>
          <p:cNvPr id="2" name="20 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993" y="5512045"/>
            <a:ext cx="530013" cy="381609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031" y="3747746"/>
            <a:ext cx="530013" cy="381609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471" y="1627865"/>
            <a:ext cx="539132" cy="45797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432483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5593403" y="5872552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0461954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59369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2041942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2356665" y="3592754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38" name="文本框 37"/>
          <p:cNvSpPr txBox="1"/>
          <p:nvPr/>
        </p:nvSpPr>
        <p:spPr>
          <a:xfrm>
            <a:off x="4874272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6575276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984512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3" name="文本框 42"/>
          <p:cNvSpPr txBox="1"/>
          <p:nvPr/>
        </p:nvSpPr>
        <p:spPr>
          <a:xfrm>
            <a:off x="8739711" y="3490415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44" name="文本框 43"/>
          <p:cNvSpPr txBox="1"/>
          <p:nvPr/>
        </p:nvSpPr>
        <p:spPr>
          <a:xfrm>
            <a:off x="9308006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696282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192.168.16.129/26</a:t>
            </a:r>
            <a:endParaRPr lang="en-US" altLang="zh-CN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696282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192.168.16.190</a:t>
            </a:r>
            <a:endParaRPr lang="en-US" altLang="zh-CN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749387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192.168.16.190/26</a:t>
            </a:r>
            <a:endParaRPr lang="en-US" altLang="zh-CN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2490488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30.0.0.1/30</a:t>
            </a:r>
            <a:endParaRPr lang="en-US" altLang="zh-CN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422883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10.0.0.1/30</a:t>
            </a:r>
            <a:endParaRPr lang="en-US" altLang="zh-CN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3700625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10.0.0.2/30</a:t>
            </a:r>
            <a:endParaRPr lang="en-US" altLang="zh-CN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6585858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20.0.0.2/30</a:t>
            </a:r>
            <a:endParaRPr lang="en-US" altLang="zh-CN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9845122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20.0.0.1/30</a:t>
            </a:r>
            <a:endParaRPr lang="en-US" altLang="zh-CN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7730959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30.0.0.2/30</a:t>
            </a:r>
            <a:endParaRPr lang="en-US" altLang="zh-CN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2035100" y="2131282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48" name="文本框 47"/>
          <p:cNvSpPr txBox="1"/>
          <p:nvPr/>
        </p:nvSpPr>
        <p:spPr>
          <a:xfrm>
            <a:off x="9329614" y="2085838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Fa0</a:t>
            </a:r>
            <a:endParaRPr lang="en-US" altLang="zh-CN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5" presetClass="emph" presetSubtype="0" repeatCount="3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5" presetClass="emph" presetSubtype="0" repeatCount="3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1" grpId="0"/>
      <p:bldP spid="53" grpId="0"/>
      <p:bldP spid="53" grpId="1"/>
      <p:bldP spid="37" grpId="0"/>
      <p:bldP spid="13" grpId="0"/>
      <p:bldP spid="47" grpId="0"/>
      <p:bldP spid="49" grpId="0"/>
      <p:bldP spid="49" grpId="1"/>
      <p:bldP spid="50" grpId="0"/>
      <p:bldP spid="79" grpId="0"/>
      <p:bldP spid="80" grpId="0"/>
      <p:bldP spid="81" grpId="0"/>
      <p:bldP spid="82" grpId="0"/>
      <p:bldP spid="8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文本框 45"/>
          <p:cNvSpPr txBox="1"/>
          <p:nvPr/>
        </p:nvSpPr>
        <p:spPr>
          <a:xfrm>
            <a:off x="243833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192.168.16.1/25</a:t>
            </a:r>
            <a:endParaRPr lang="en-US" altLang="zh-CN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243833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192.168.16.126</a:t>
            </a:r>
            <a:endParaRPr lang="en-US" altLang="zh-CN" b="1" dirty="0"/>
          </a:p>
        </p:txBody>
      </p:sp>
      <p:sp>
        <p:nvSpPr>
          <p:cNvPr id="53" name="文本框 52"/>
          <p:cNvSpPr txBox="1"/>
          <p:nvPr/>
        </p:nvSpPr>
        <p:spPr>
          <a:xfrm>
            <a:off x="203805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192.168.16.126/25</a:t>
            </a:r>
            <a:endParaRPr lang="en-US" altLang="zh-CN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2812209" y="685800"/>
            <a:ext cx="6589998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4.  </a:t>
            </a:r>
            <a:r>
              <a:rPr lang="zh-CN" altLang="en-US" sz="2400" b="1" dirty="0"/>
              <a:t>配置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地址、子网掩码以及默认网关的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</a:t>
            </a:r>
            <a:endParaRPr lang="en-US" altLang="zh-CN" sz="2400" b="1" dirty="0"/>
          </a:p>
        </p:txBody>
      </p:sp>
      <p:grpSp>
        <p:nvGrpSpPr>
          <p:cNvPr id="31" name="组合 30"/>
          <p:cNvGrpSpPr/>
          <p:nvPr/>
        </p:nvGrpSpPr>
        <p:grpSpPr>
          <a:xfrm>
            <a:off x="6292355" y="4129355"/>
            <a:ext cx="3797032" cy="1573495"/>
            <a:chOff x="6361006" y="4129355"/>
            <a:chExt cx="3797032" cy="1573495"/>
          </a:xfrm>
        </p:grpSpPr>
        <p:cxnSp>
          <p:nvCxnSpPr>
            <p:cNvPr id="32" name="直接连接符 31"/>
            <p:cNvCxnSpPr/>
            <p:nvPr/>
          </p:nvCxnSpPr>
          <p:spPr>
            <a:xfrm flipH="1">
              <a:off x="6361006" y="4129355"/>
              <a:ext cx="3797032" cy="1573495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等腰三角形 32"/>
            <p:cNvSpPr/>
            <p:nvPr/>
          </p:nvSpPr>
          <p:spPr>
            <a:xfrm rot="10800000">
              <a:off x="9922519" y="417424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10800000">
              <a:off x="6542678" y="55476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094813" y="4118803"/>
            <a:ext cx="3797030" cy="1573495"/>
            <a:chOff x="2033963" y="4129355"/>
            <a:chExt cx="3797030" cy="1573495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2033963" y="4129355"/>
              <a:ext cx="3797030" cy="1573495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等腰三角形 28"/>
            <p:cNvSpPr/>
            <p:nvPr/>
          </p:nvSpPr>
          <p:spPr>
            <a:xfrm rot="10800000">
              <a:off x="2217330" y="4166817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10800000">
              <a:off x="5562510" y="55476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0089387" y="2057849"/>
            <a:ext cx="111832" cy="1732417"/>
            <a:chOff x="1970918" y="2057849"/>
            <a:chExt cx="111832" cy="1732417"/>
          </a:xfrm>
        </p:grpSpPr>
        <p:cxnSp>
          <p:nvCxnSpPr>
            <p:cNvPr id="16" name="直接连接符 15"/>
            <p:cNvCxnSpPr/>
            <p:nvPr/>
          </p:nvCxnSpPr>
          <p:spPr>
            <a:xfrm>
              <a:off x="2028615" y="2057849"/>
              <a:ext cx="0" cy="1732417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等腰三角形 18"/>
            <p:cNvSpPr/>
            <p:nvPr/>
          </p:nvSpPr>
          <p:spPr>
            <a:xfrm rot="10800000">
              <a:off x="1970919" y="221457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1970918" y="3338216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970918" y="2057849"/>
            <a:ext cx="111832" cy="1732417"/>
            <a:chOff x="1970918" y="2057849"/>
            <a:chExt cx="111832" cy="1732417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2028615" y="2057849"/>
              <a:ext cx="0" cy="1732417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等腰三角形 10"/>
            <p:cNvSpPr/>
            <p:nvPr/>
          </p:nvSpPr>
          <p:spPr>
            <a:xfrm rot="10800000">
              <a:off x="1970919" y="221457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 rot="10800000">
              <a:off x="1970918" y="3338216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243241" y="3793942"/>
            <a:ext cx="7697844" cy="216445"/>
            <a:chOff x="2243241" y="3793942"/>
            <a:chExt cx="7697844" cy="216445"/>
          </a:xfrm>
        </p:grpSpPr>
        <p:grpSp>
          <p:nvGrpSpPr>
            <p:cNvPr id="17" name="组合 16"/>
            <p:cNvGrpSpPr/>
            <p:nvPr/>
          </p:nvGrpSpPr>
          <p:grpSpPr>
            <a:xfrm>
              <a:off x="2243241" y="3840969"/>
              <a:ext cx="7697844" cy="130472"/>
              <a:chOff x="2243241" y="3518631"/>
              <a:chExt cx="7697844" cy="130472"/>
            </a:xfrm>
          </p:grpSpPr>
          <p:cxnSp>
            <p:nvCxnSpPr>
              <p:cNvPr id="18" name="直接连接符 17"/>
              <p:cNvCxnSpPr/>
              <p:nvPr/>
            </p:nvCxnSpPr>
            <p:spPr>
              <a:xfrm>
                <a:off x="5974300" y="3518631"/>
                <a:ext cx="3966785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" name="组合 22"/>
              <p:cNvGrpSpPr/>
              <p:nvPr/>
            </p:nvGrpSpPr>
            <p:grpSpPr>
              <a:xfrm>
                <a:off x="2243241" y="3518631"/>
                <a:ext cx="3974459" cy="130472"/>
                <a:chOff x="2243241" y="3518631"/>
                <a:chExt cx="3974459" cy="130472"/>
              </a:xfrm>
            </p:grpSpPr>
            <p:cxnSp>
              <p:nvCxnSpPr>
                <p:cNvPr id="24" name="直接连接符 23"/>
                <p:cNvCxnSpPr/>
                <p:nvPr/>
              </p:nvCxnSpPr>
              <p:spPr>
                <a:xfrm>
                  <a:off x="2243241" y="3649103"/>
                  <a:ext cx="3966785" cy="0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>
                  <a:off x="5974300" y="3518631"/>
                  <a:ext cx="243400" cy="130472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6" name="等腰三角形 25"/>
            <p:cNvSpPr/>
            <p:nvPr/>
          </p:nvSpPr>
          <p:spPr>
            <a:xfrm rot="10800000">
              <a:off x="2457143" y="3913981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0800000">
              <a:off x="9511195" y="379394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3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204" y="1627865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56" y="3747746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805345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pic>
        <p:nvPicPr>
          <p:cNvPr id="2" name="20 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993" y="5512045"/>
            <a:ext cx="530013" cy="381609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031" y="3747746"/>
            <a:ext cx="530013" cy="381609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471" y="1627865"/>
            <a:ext cx="539132" cy="45797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432483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5593403" y="5872552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0461954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59369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2041942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2356665" y="3592754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38" name="文本框 37"/>
          <p:cNvSpPr txBox="1"/>
          <p:nvPr/>
        </p:nvSpPr>
        <p:spPr>
          <a:xfrm>
            <a:off x="4874272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6575276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984512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3" name="文本框 42"/>
          <p:cNvSpPr txBox="1"/>
          <p:nvPr/>
        </p:nvSpPr>
        <p:spPr>
          <a:xfrm>
            <a:off x="8739711" y="3490415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44" name="文本框 43"/>
          <p:cNvSpPr txBox="1"/>
          <p:nvPr/>
        </p:nvSpPr>
        <p:spPr>
          <a:xfrm>
            <a:off x="9308006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696282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192.168.16.129/26</a:t>
            </a:r>
            <a:endParaRPr lang="en-US" altLang="zh-CN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696282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192.168.16.190</a:t>
            </a:r>
            <a:endParaRPr lang="en-US" altLang="zh-CN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749387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192.168.16.190/26</a:t>
            </a:r>
            <a:endParaRPr lang="en-US" altLang="zh-CN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2490488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30.0.0.1/30</a:t>
            </a:r>
            <a:endParaRPr lang="en-US" altLang="zh-CN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422883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10.0.0.1/30</a:t>
            </a:r>
            <a:endParaRPr lang="en-US" altLang="zh-CN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3700625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10.0.0.2/30</a:t>
            </a:r>
            <a:endParaRPr lang="en-US" altLang="zh-CN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6585858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20.0.0.2/30</a:t>
            </a:r>
            <a:endParaRPr lang="en-US" altLang="zh-CN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9845122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20.0.0.1/30</a:t>
            </a:r>
            <a:endParaRPr lang="en-US" altLang="zh-CN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7730959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30.0.0.2/30</a:t>
            </a:r>
            <a:endParaRPr lang="en-US" altLang="zh-CN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2035100" y="2131282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48" name="文本框 47"/>
          <p:cNvSpPr txBox="1"/>
          <p:nvPr/>
        </p:nvSpPr>
        <p:spPr>
          <a:xfrm>
            <a:off x="9329614" y="2085838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Fa0</a:t>
            </a:r>
            <a:endParaRPr lang="en-US" altLang="zh-CN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 44"/>
          <p:cNvSpPr txBox="1"/>
          <p:nvPr/>
        </p:nvSpPr>
        <p:spPr>
          <a:xfrm>
            <a:off x="2035100" y="2131282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58" name="文本框 57"/>
          <p:cNvSpPr txBox="1"/>
          <p:nvPr/>
        </p:nvSpPr>
        <p:spPr>
          <a:xfrm>
            <a:off x="9329614" y="2085838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46" name="文本框 45"/>
          <p:cNvSpPr txBox="1"/>
          <p:nvPr/>
        </p:nvSpPr>
        <p:spPr>
          <a:xfrm>
            <a:off x="243833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192.168.16.1/25</a:t>
            </a:r>
            <a:endParaRPr lang="en-US" altLang="zh-CN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243833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192.168.16.126</a:t>
            </a:r>
            <a:endParaRPr lang="en-US" altLang="zh-CN" b="1" dirty="0"/>
          </a:p>
        </p:txBody>
      </p:sp>
      <p:sp>
        <p:nvSpPr>
          <p:cNvPr id="53" name="文本框 52"/>
          <p:cNvSpPr txBox="1"/>
          <p:nvPr/>
        </p:nvSpPr>
        <p:spPr>
          <a:xfrm>
            <a:off x="203805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192.168.16.126/25</a:t>
            </a:r>
            <a:endParaRPr lang="en-US" altLang="zh-CN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2812209" y="685800"/>
            <a:ext cx="6589998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4.  </a:t>
            </a:r>
            <a:r>
              <a:rPr lang="zh-CN" altLang="en-US" sz="2400" b="1" dirty="0"/>
              <a:t>配置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地址、子网掩码以及默认网关的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</a:t>
            </a:r>
            <a:endParaRPr lang="en-US" altLang="zh-CN" sz="2400" b="1" dirty="0"/>
          </a:p>
        </p:txBody>
      </p:sp>
      <p:grpSp>
        <p:nvGrpSpPr>
          <p:cNvPr id="31" name="组合 30"/>
          <p:cNvGrpSpPr/>
          <p:nvPr/>
        </p:nvGrpSpPr>
        <p:grpSpPr>
          <a:xfrm>
            <a:off x="6292355" y="4129355"/>
            <a:ext cx="3797032" cy="1573495"/>
            <a:chOff x="6361006" y="4129355"/>
            <a:chExt cx="3797032" cy="1573495"/>
          </a:xfrm>
        </p:grpSpPr>
        <p:cxnSp>
          <p:nvCxnSpPr>
            <p:cNvPr id="32" name="直接连接符 31"/>
            <p:cNvCxnSpPr/>
            <p:nvPr/>
          </p:nvCxnSpPr>
          <p:spPr>
            <a:xfrm flipH="1">
              <a:off x="6361006" y="4129355"/>
              <a:ext cx="3797032" cy="1573495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等腰三角形 32"/>
            <p:cNvSpPr/>
            <p:nvPr/>
          </p:nvSpPr>
          <p:spPr>
            <a:xfrm rot="10800000">
              <a:off x="9922519" y="4174244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10800000">
              <a:off x="6542678" y="55476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094813" y="4118803"/>
            <a:ext cx="3797030" cy="1573495"/>
            <a:chOff x="2033963" y="4129355"/>
            <a:chExt cx="3797030" cy="1573495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2033963" y="4129355"/>
              <a:ext cx="3797030" cy="1573495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等腰三角形 28"/>
            <p:cNvSpPr/>
            <p:nvPr/>
          </p:nvSpPr>
          <p:spPr>
            <a:xfrm rot="10800000">
              <a:off x="2217330" y="4166817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10800000">
              <a:off x="5562510" y="554769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0089387" y="2057849"/>
            <a:ext cx="111832" cy="1732417"/>
            <a:chOff x="1970918" y="2057849"/>
            <a:chExt cx="111832" cy="1732417"/>
          </a:xfrm>
        </p:grpSpPr>
        <p:cxnSp>
          <p:nvCxnSpPr>
            <p:cNvPr id="16" name="直接连接符 15"/>
            <p:cNvCxnSpPr/>
            <p:nvPr/>
          </p:nvCxnSpPr>
          <p:spPr>
            <a:xfrm>
              <a:off x="2028615" y="2057849"/>
              <a:ext cx="0" cy="1732417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等腰三角形 18"/>
            <p:cNvSpPr/>
            <p:nvPr/>
          </p:nvSpPr>
          <p:spPr>
            <a:xfrm rot="10800000">
              <a:off x="1970919" y="221457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0800000">
              <a:off x="1970918" y="3338216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970918" y="2057849"/>
            <a:ext cx="111832" cy="1732417"/>
            <a:chOff x="1970918" y="2057849"/>
            <a:chExt cx="111832" cy="1732417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2028615" y="2057849"/>
              <a:ext cx="0" cy="1732417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等腰三角形 10"/>
            <p:cNvSpPr/>
            <p:nvPr/>
          </p:nvSpPr>
          <p:spPr>
            <a:xfrm rot="10800000">
              <a:off x="1970919" y="2214573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 rot="10800000">
              <a:off x="1970918" y="3338216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243241" y="3793942"/>
            <a:ext cx="7697844" cy="216445"/>
            <a:chOff x="2243241" y="3793942"/>
            <a:chExt cx="7697844" cy="216445"/>
          </a:xfrm>
        </p:grpSpPr>
        <p:grpSp>
          <p:nvGrpSpPr>
            <p:cNvPr id="17" name="组合 16"/>
            <p:cNvGrpSpPr/>
            <p:nvPr/>
          </p:nvGrpSpPr>
          <p:grpSpPr>
            <a:xfrm>
              <a:off x="2243241" y="3840969"/>
              <a:ext cx="7697844" cy="130472"/>
              <a:chOff x="2243241" y="3518631"/>
              <a:chExt cx="7697844" cy="130472"/>
            </a:xfrm>
          </p:grpSpPr>
          <p:cxnSp>
            <p:nvCxnSpPr>
              <p:cNvPr id="18" name="直接连接符 17"/>
              <p:cNvCxnSpPr/>
              <p:nvPr/>
            </p:nvCxnSpPr>
            <p:spPr>
              <a:xfrm>
                <a:off x="5974300" y="3518631"/>
                <a:ext cx="3966785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" name="组合 22"/>
              <p:cNvGrpSpPr/>
              <p:nvPr/>
            </p:nvGrpSpPr>
            <p:grpSpPr>
              <a:xfrm>
                <a:off x="2243241" y="3518631"/>
                <a:ext cx="3974459" cy="130472"/>
                <a:chOff x="2243241" y="3518631"/>
                <a:chExt cx="3974459" cy="130472"/>
              </a:xfrm>
            </p:grpSpPr>
            <p:cxnSp>
              <p:nvCxnSpPr>
                <p:cNvPr id="24" name="直接连接符 23"/>
                <p:cNvCxnSpPr/>
                <p:nvPr/>
              </p:nvCxnSpPr>
              <p:spPr>
                <a:xfrm>
                  <a:off x="2243241" y="3649103"/>
                  <a:ext cx="3966785" cy="0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>
                  <a:off x="5974300" y="3518631"/>
                  <a:ext cx="243400" cy="130472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6" name="等腰三角形 25"/>
            <p:cNvSpPr/>
            <p:nvPr/>
          </p:nvSpPr>
          <p:spPr>
            <a:xfrm rot="10800000">
              <a:off x="2457143" y="3913981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0800000">
              <a:off x="9511195" y="379394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3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204" y="1627865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56" y="3747746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805345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pic>
        <p:nvPicPr>
          <p:cNvPr id="2" name="20 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993" y="5512045"/>
            <a:ext cx="530013" cy="381609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031" y="3747746"/>
            <a:ext cx="530013" cy="381609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471" y="1627865"/>
            <a:ext cx="539132" cy="45797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432483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5593403" y="5872552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0461954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59369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2041942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2356665" y="3592754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38" name="文本框 37"/>
          <p:cNvSpPr txBox="1"/>
          <p:nvPr/>
        </p:nvSpPr>
        <p:spPr>
          <a:xfrm>
            <a:off x="4874272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6575276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984512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3" name="文本框 42"/>
          <p:cNvSpPr txBox="1"/>
          <p:nvPr/>
        </p:nvSpPr>
        <p:spPr>
          <a:xfrm>
            <a:off x="8739711" y="3490415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44" name="文本框 43"/>
          <p:cNvSpPr txBox="1"/>
          <p:nvPr/>
        </p:nvSpPr>
        <p:spPr>
          <a:xfrm>
            <a:off x="9308006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696282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192.168.16.129/26</a:t>
            </a:r>
            <a:endParaRPr lang="en-US" altLang="zh-CN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696282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192.168.16.190</a:t>
            </a:r>
            <a:endParaRPr lang="en-US" altLang="zh-CN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749387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192.168.16.190/26</a:t>
            </a:r>
            <a:endParaRPr lang="en-US" altLang="zh-CN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2490488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30.0.0.1/30</a:t>
            </a:r>
            <a:endParaRPr lang="en-US" altLang="zh-CN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422883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10.0.0.1/30</a:t>
            </a:r>
            <a:endParaRPr lang="en-US" altLang="zh-CN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3700625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10.0.0.2/30</a:t>
            </a:r>
            <a:endParaRPr lang="en-US" altLang="zh-CN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6585858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20.0.0.2/30</a:t>
            </a:r>
            <a:endParaRPr lang="en-US" altLang="zh-CN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9845122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20.0.0.1/30</a:t>
            </a:r>
            <a:endParaRPr lang="en-US" altLang="zh-CN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7730959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30.0.0.2/30</a:t>
            </a:r>
            <a:endParaRPr lang="en-US" altLang="zh-CN" b="1" dirty="0"/>
          </a:p>
        </p:txBody>
      </p:sp>
      <p:grpSp>
        <p:nvGrpSpPr>
          <p:cNvPr id="56" name="组合 55"/>
          <p:cNvGrpSpPr/>
          <p:nvPr/>
        </p:nvGrpSpPr>
        <p:grpSpPr>
          <a:xfrm>
            <a:off x="307920" y="1400653"/>
            <a:ext cx="5073341" cy="4979390"/>
            <a:chOff x="307920" y="1400653"/>
            <a:chExt cx="5073341" cy="4979390"/>
          </a:xfrm>
        </p:grpSpPr>
        <p:pic>
          <p:nvPicPr>
            <p:cNvPr id="48" name="20 47" descr="图形用户界面, 文本, 应用程序, 电子邮件&#10;&#10;描述已自动生成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920" y="1400653"/>
              <a:ext cx="5073341" cy="4979390"/>
            </a:xfrm>
            <a:prstGeom prst="rect">
              <a:avLst/>
            </a:prstGeom>
          </p:spPr>
        </p:pic>
        <p:grpSp>
          <p:nvGrpSpPr>
            <p:cNvPr id="55" name="组合 54"/>
            <p:cNvGrpSpPr/>
            <p:nvPr/>
          </p:nvGrpSpPr>
          <p:grpSpPr>
            <a:xfrm>
              <a:off x="2022706" y="2335259"/>
              <a:ext cx="3054369" cy="1412681"/>
              <a:chOff x="2022706" y="2335259"/>
              <a:chExt cx="3054369" cy="1412681"/>
            </a:xfrm>
          </p:grpSpPr>
          <p:sp>
            <p:nvSpPr>
              <p:cNvPr id="52" name="矩形 51"/>
              <p:cNvSpPr/>
              <p:nvPr/>
            </p:nvSpPr>
            <p:spPr>
              <a:xfrm>
                <a:off x="2022706" y="2973928"/>
                <a:ext cx="1193907" cy="774012"/>
              </a:xfrm>
              <a:prstGeom prst="rect">
                <a:avLst/>
              </a:prstGeom>
              <a:noFill/>
              <a:ln w="25400">
                <a:solidFill>
                  <a:schemeClr val="accent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文本框 53"/>
              <p:cNvSpPr txBox="1"/>
              <p:nvPr/>
            </p:nvSpPr>
            <p:spPr>
              <a:xfrm>
                <a:off x="2544149" y="2335259"/>
                <a:ext cx="253292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rgbClr val="FF0000"/>
                    </a:solidFill>
                  </a:rPr>
                  <a:t>输入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IP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地址、子网掩码</a:t>
                </a:r>
                <a:endParaRPr lang="en-US" altLang="zh-CN" b="1" dirty="0">
                  <a:solidFill>
                    <a:srgbClr val="FF0000"/>
                  </a:solidFill>
                </a:endParaRPr>
              </a:p>
              <a:p>
                <a:r>
                  <a:rPr lang="zh-CN" altLang="en-US" b="1" dirty="0">
                    <a:solidFill>
                      <a:srgbClr val="FF0000"/>
                    </a:solidFill>
                  </a:rPr>
                  <a:t>以及默认网关的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IP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地址</a:t>
                </a:r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</p:grpSp>
      </p:grpSp>
      <p:sp>
        <p:nvSpPr>
          <p:cNvPr id="57" name="矩形 56"/>
          <p:cNvSpPr/>
          <p:nvPr/>
        </p:nvSpPr>
        <p:spPr>
          <a:xfrm>
            <a:off x="6474026" y="2501501"/>
            <a:ext cx="5034045" cy="10886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         不要忘记给</a:t>
            </a:r>
            <a:r>
              <a:rPr lang="en-US" altLang="zh-CN" sz="2000" b="1" dirty="0"/>
              <a:t>PC1</a:t>
            </a:r>
            <a:r>
              <a:rPr lang="zh-CN" altLang="en-US" sz="2000" b="1" dirty="0"/>
              <a:t>配置相应的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地址、子网掩码以及默认网关的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地址。</a:t>
            </a:r>
            <a:endParaRPr lang="zh-CN" altLang="en-US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812209" y="685800"/>
            <a:ext cx="6589998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4.  </a:t>
            </a:r>
            <a:r>
              <a:rPr lang="zh-CN" altLang="en-US" sz="2400" b="1" dirty="0"/>
              <a:t>配置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地址、子网掩码以及默认网关的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62" name="20 6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3145"/>
            <a:ext cx="12192000" cy="672865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279864" y="685800"/>
            <a:ext cx="3852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从用户执行模式进入特权执行模式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79864" y="972013"/>
            <a:ext cx="3852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从特权执行模式进入全局配置模式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79864" y="1258225"/>
            <a:ext cx="470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从全局配置模式进入接口</a:t>
            </a:r>
            <a:r>
              <a:rPr lang="en-US" altLang="zh-CN" b="1" dirty="0">
                <a:solidFill>
                  <a:srgbClr val="FF0000"/>
                </a:solidFill>
              </a:rPr>
              <a:t>Gig0/0</a:t>
            </a:r>
            <a:r>
              <a:rPr lang="zh-CN" altLang="en-US" b="1" dirty="0">
                <a:solidFill>
                  <a:srgbClr val="FF0000"/>
                </a:solidFill>
              </a:rPr>
              <a:t>的配置模式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79864" y="1544437"/>
            <a:ext cx="470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给接口配置</a:t>
            </a:r>
            <a:r>
              <a:rPr lang="en-US" altLang="zh-CN" b="1" dirty="0">
                <a:solidFill>
                  <a:srgbClr val="FF0000"/>
                </a:solidFill>
              </a:rPr>
              <a:t>IP</a:t>
            </a:r>
            <a:r>
              <a:rPr lang="zh-CN" altLang="en-US" b="1" dirty="0">
                <a:solidFill>
                  <a:srgbClr val="FF0000"/>
                </a:solidFill>
              </a:rPr>
              <a:t>地址和子网掩码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79864" y="1830650"/>
            <a:ext cx="470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开启接口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79864" y="2797108"/>
            <a:ext cx="5262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给接口</a:t>
            </a:r>
            <a:r>
              <a:rPr lang="en-US" altLang="zh-CN" b="1" dirty="0">
                <a:solidFill>
                  <a:srgbClr val="FF0000"/>
                </a:solidFill>
              </a:rPr>
              <a:t>Gig0/1</a:t>
            </a:r>
            <a:r>
              <a:rPr lang="zh-CN" altLang="en-US" b="1" dirty="0">
                <a:solidFill>
                  <a:srgbClr val="FF0000"/>
                </a:solidFill>
              </a:rPr>
              <a:t>配置</a:t>
            </a:r>
            <a:r>
              <a:rPr lang="en-US" altLang="zh-CN" b="1" dirty="0">
                <a:solidFill>
                  <a:srgbClr val="FF0000"/>
                </a:solidFill>
              </a:rPr>
              <a:t>IP</a:t>
            </a:r>
            <a:r>
              <a:rPr lang="zh-CN" altLang="en-US" b="1" dirty="0">
                <a:solidFill>
                  <a:srgbClr val="FF0000"/>
                </a:solidFill>
              </a:rPr>
              <a:t>地址和子网掩码，并开启接口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9846" y="2892681"/>
            <a:ext cx="4998989" cy="580031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9846" y="4217289"/>
            <a:ext cx="4998989" cy="580031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279864" y="4128548"/>
            <a:ext cx="5441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给接口</a:t>
            </a:r>
            <a:r>
              <a:rPr lang="en-US" altLang="zh-CN" b="1" dirty="0">
                <a:solidFill>
                  <a:srgbClr val="FF0000"/>
                </a:solidFill>
              </a:rPr>
              <a:t>Se0/0/0</a:t>
            </a:r>
            <a:r>
              <a:rPr lang="zh-CN" altLang="en-US" b="1" dirty="0">
                <a:solidFill>
                  <a:srgbClr val="FF0000"/>
                </a:solidFill>
              </a:rPr>
              <a:t>配置</a:t>
            </a:r>
            <a:r>
              <a:rPr lang="en-US" altLang="zh-CN" b="1" dirty="0">
                <a:solidFill>
                  <a:srgbClr val="FF0000"/>
                </a:solidFill>
              </a:rPr>
              <a:t>IP</a:t>
            </a:r>
            <a:r>
              <a:rPr lang="zh-CN" altLang="en-US" b="1" dirty="0">
                <a:solidFill>
                  <a:srgbClr val="FF0000"/>
                </a:solidFill>
              </a:rPr>
              <a:t>地址和子网掩码，并开启接口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79864" y="5619851"/>
            <a:ext cx="2638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退出到全局配置模式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  <p:bldP spid="8" grpId="0"/>
      <p:bldP spid="9" grpId="0" animBg="1"/>
      <p:bldP spid="10" grpId="0" animBg="1"/>
      <p:bldP spid="11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2812209" y="685800"/>
            <a:ext cx="6589998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4.  </a:t>
            </a:r>
            <a:r>
              <a:rPr lang="zh-CN" altLang="en-US" sz="2400" b="1" dirty="0"/>
              <a:t>配置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地址、子网掩码以及默认网关的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62" name="20 6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3145"/>
            <a:ext cx="12192000" cy="672865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279864" y="685800"/>
            <a:ext cx="3852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从用户执行模式进入特权执行模式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79864" y="972013"/>
            <a:ext cx="3852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从特权执行模式进入全局配置模式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79864" y="1258225"/>
            <a:ext cx="470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从全局配置模式进入接口</a:t>
            </a:r>
            <a:r>
              <a:rPr lang="en-US" altLang="zh-CN" b="1" dirty="0">
                <a:solidFill>
                  <a:srgbClr val="FF0000"/>
                </a:solidFill>
              </a:rPr>
              <a:t>Gig0/0</a:t>
            </a:r>
            <a:r>
              <a:rPr lang="zh-CN" altLang="en-US" b="1" dirty="0">
                <a:solidFill>
                  <a:srgbClr val="FF0000"/>
                </a:solidFill>
              </a:rPr>
              <a:t>的配置模式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79864" y="1544437"/>
            <a:ext cx="470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给接口配置</a:t>
            </a:r>
            <a:r>
              <a:rPr lang="en-US" altLang="zh-CN" b="1" dirty="0">
                <a:solidFill>
                  <a:srgbClr val="FF0000"/>
                </a:solidFill>
              </a:rPr>
              <a:t>IP</a:t>
            </a:r>
            <a:r>
              <a:rPr lang="zh-CN" altLang="en-US" b="1" dirty="0">
                <a:solidFill>
                  <a:srgbClr val="FF0000"/>
                </a:solidFill>
              </a:rPr>
              <a:t>地址和子网掩码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79864" y="1830650"/>
            <a:ext cx="470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开启接口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79864" y="2797108"/>
            <a:ext cx="5262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给接口</a:t>
            </a:r>
            <a:r>
              <a:rPr lang="en-US" altLang="zh-CN" b="1" dirty="0">
                <a:solidFill>
                  <a:srgbClr val="FF0000"/>
                </a:solidFill>
              </a:rPr>
              <a:t>Gig0/1</a:t>
            </a:r>
            <a:r>
              <a:rPr lang="zh-CN" altLang="en-US" b="1" dirty="0">
                <a:solidFill>
                  <a:srgbClr val="FF0000"/>
                </a:solidFill>
              </a:rPr>
              <a:t>配置</a:t>
            </a:r>
            <a:r>
              <a:rPr lang="en-US" altLang="zh-CN" b="1" dirty="0">
                <a:solidFill>
                  <a:srgbClr val="FF0000"/>
                </a:solidFill>
              </a:rPr>
              <a:t>IP</a:t>
            </a:r>
            <a:r>
              <a:rPr lang="zh-CN" altLang="en-US" b="1" dirty="0">
                <a:solidFill>
                  <a:srgbClr val="FF0000"/>
                </a:solidFill>
              </a:rPr>
              <a:t>地址和子网掩码，并开启接口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89846" y="2892681"/>
            <a:ext cx="4998989" cy="580031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9846" y="4217289"/>
            <a:ext cx="4998989" cy="580031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279864" y="4128548"/>
            <a:ext cx="5441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给接口</a:t>
            </a:r>
            <a:r>
              <a:rPr lang="en-US" altLang="zh-CN" b="1" dirty="0">
                <a:solidFill>
                  <a:srgbClr val="FF0000"/>
                </a:solidFill>
              </a:rPr>
              <a:t>Se0/0/0</a:t>
            </a:r>
            <a:r>
              <a:rPr lang="zh-CN" altLang="en-US" b="1" dirty="0">
                <a:solidFill>
                  <a:srgbClr val="FF0000"/>
                </a:solidFill>
              </a:rPr>
              <a:t>配置</a:t>
            </a:r>
            <a:r>
              <a:rPr lang="en-US" altLang="zh-CN" b="1" dirty="0">
                <a:solidFill>
                  <a:srgbClr val="FF0000"/>
                </a:solidFill>
              </a:rPr>
              <a:t>IP</a:t>
            </a:r>
            <a:r>
              <a:rPr lang="zh-CN" altLang="en-US" b="1" dirty="0">
                <a:solidFill>
                  <a:srgbClr val="FF0000"/>
                </a:solidFill>
              </a:rPr>
              <a:t>地址和子网掩码，并开启接口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79864" y="5619851"/>
            <a:ext cx="2638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退出到全局配置模式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562119" y="4554531"/>
            <a:ext cx="5976425" cy="759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/>
              <a:t>不要忘记给</a:t>
            </a:r>
            <a:r>
              <a:rPr lang="en-US" altLang="zh-CN" sz="2000" b="1" dirty="0"/>
              <a:t>Router1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Router2</a:t>
            </a:r>
            <a:r>
              <a:rPr lang="zh-CN" altLang="en-US" sz="2000" b="1" dirty="0"/>
              <a:t>的相关接口配置相应的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地址和子网掩码，并开启接口。</a:t>
            </a:r>
            <a:endParaRPr lang="zh-CN" altLang="en-US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文本框 45"/>
          <p:cNvSpPr txBox="1"/>
          <p:nvPr/>
        </p:nvSpPr>
        <p:spPr>
          <a:xfrm>
            <a:off x="243833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192.168.16.1/25</a:t>
            </a:r>
            <a:endParaRPr lang="en-US" altLang="zh-CN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243833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192.168.16.126</a:t>
            </a:r>
            <a:endParaRPr lang="en-US" altLang="zh-CN" b="1" dirty="0"/>
          </a:p>
        </p:txBody>
      </p:sp>
      <p:sp>
        <p:nvSpPr>
          <p:cNvPr id="53" name="文本框 52"/>
          <p:cNvSpPr txBox="1"/>
          <p:nvPr/>
        </p:nvSpPr>
        <p:spPr>
          <a:xfrm>
            <a:off x="203805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192.168.16.126/25</a:t>
            </a:r>
            <a:endParaRPr lang="en-US" altLang="zh-CN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2812209" y="685800"/>
            <a:ext cx="6589998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4.  </a:t>
            </a:r>
            <a:r>
              <a:rPr lang="zh-CN" altLang="en-US" sz="2400" b="1" dirty="0"/>
              <a:t>配置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地址、子网掩码以及默认网关的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</a:t>
            </a:r>
            <a:endParaRPr lang="en-US" altLang="zh-CN" sz="2400" b="1" dirty="0"/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6292355" y="4129355"/>
            <a:ext cx="3797032" cy="157349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2094813" y="4118803"/>
            <a:ext cx="3797030" cy="157349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0147084" y="2057849"/>
            <a:ext cx="0" cy="17324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028615" y="2057849"/>
            <a:ext cx="0" cy="17324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2243241" y="3840969"/>
            <a:ext cx="7697844" cy="130472"/>
            <a:chOff x="2243241" y="3518631"/>
            <a:chExt cx="7697844" cy="130472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5974300" y="3518631"/>
              <a:ext cx="396678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组合 22"/>
            <p:cNvGrpSpPr/>
            <p:nvPr/>
          </p:nvGrpSpPr>
          <p:grpSpPr>
            <a:xfrm>
              <a:off x="2243241" y="3518631"/>
              <a:ext cx="3974459" cy="130472"/>
              <a:chOff x="2243241" y="3518631"/>
              <a:chExt cx="3974459" cy="130472"/>
            </a:xfrm>
          </p:grpSpPr>
          <p:cxnSp>
            <p:nvCxnSpPr>
              <p:cNvPr id="24" name="直接连接符 23"/>
              <p:cNvCxnSpPr/>
              <p:nvPr/>
            </p:nvCxnSpPr>
            <p:spPr>
              <a:xfrm>
                <a:off x="2243241" y="3649103"/>
                <a:ext cx="3966785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>
                <a:off x="5974300" y="3518631"/>
                <a:ext cx="243400" cy="130472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3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204" y="1627865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56" y="3747746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805345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pic>
        <p:nvPicPr>
          <p:cNvPr id="2" name="20 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993" y="5512045"/>
            <a:ext cx="530013" cy="381609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031" y="3747746"/>
            <a:ext cx="530013" cy="381609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471" y="1627865"/>
            <a:ext cx="539132" cy="45797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432483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5593403" y="5872552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0461954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59369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2041942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2356665" y="3592754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38" name="文本框 37"/>
          <p:cNvSpPr txBox="1"/>
          <p:nvPr/>
        </p:nvSpPr>
        <p:spPr>
          <a:xfrm>
            <a:off x="4874272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6575276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984512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3" name="文本框 42"/>
          <p:cNvSpPr txBox="1"/>
          <p:nvPr/>
        </p:nvSpPr>
        <p:spPr>
          <a:xfrm>
            <a:off x="8739711" y="3490415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44" name="文本框 43"/>
          <p:cNvSpPr txBox="1"/>
          <p:nvPr/>
        </p:nvSpPr>
        <p:spPr>
          <a:xfrm>
            <a:off x="9308006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696282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192.168.16.129/26</a:t>
            </a:r>
            <a:endParaRPr lang="en-US" altLang="zh-CN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696282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192.168.16.190</a:t>
            </a:r>
            <a:endParaRPr lang="en-US" altLang="zh-CN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749387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192.168.16.190/26</a:t>
            </a:r>
            <a:endParaRPr lang="en-US" altLang="zh-CN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2490488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30.0.0.1/30</a:t>
            </a:r>
            <a:endParaRPr lang="en-US" altLang="zh-CN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422883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10.0.0.1/30</a:t>
            </a:r>
            <a:endParaRPr lang="en-US" altLang="zh-CN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3700625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10.0.0.2/30</a:t>
            </a:r>
            <a:endParaRPr lang="en-US" altLang="zh-CN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6585858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20.0.0.2/30</a:t>
            </a:r>
            <a:endParaRPr lang="en-US" altLang="zh-CN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9845122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20.0.0.1/30</a:t>
            </a:r>
            <a:endParaRPr lang="en-US" altLang="zh-CN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7730959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30.0.0.2/30</a:t>
            </a:r>
            <a:endParaRPr lang="en-US" altLang="zh-CN" b="1" dirty="0"/>
          </a:p>
        </p:txBody>
      </p:sp>
      <p:sp>
        <p:nvSpPr>
          <p:cNvPr id="45" name="等腰三角形 44"/>
          <p:cNvSpPr/>
          <p:nvPr/>
        </p:nvSpPr>
        <p:spPr>
          <a:xfrm>
            <a:off x="1968014" y="332073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等腰三角形 47"/>
          <p:cNvSpPr/>
          <p:nvPr/>
        </p:nvSpPr>
        <p:spPr>
          <a:xfrm>
            <a:off x="1968014" y="23248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10090287" y="332073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10090287" y="23248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2479332" y="39184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521550" y="380415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2357854" y="41799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5430481" y="545829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6621019" y="545829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9828893" y="415348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035100" y="2131282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9329614" y="2085838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Fa0</a:t>
            </a:r>
            <a:endParaRPr lang="en-US" altLang="zh-CN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8" grpId="0" animBg="1"/>
      <p:bldP spid="52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844632" y="685800"/>
            <a:ext cx="6505948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5.  </a:t>
            </a:r>
            <a:r>
              <a:rPr lang="zh-CN" altLang="en-US" sz="2400" b="1" dirty="0"/>
              <a:t>启用各路由器的开放最短路径优先</a:t>
            </a:r>
            <a:r>
              <a:rPr lang="en-US" altLang="zh-CN" sz="2400" b="1" dirty="0"/>
              <a:t>OSPF</a:t>
            </a:r>
            <a:r>
              <a:rPr lang="zh-CN" altLang="en-US" sz="2400" b="1" dirty="0"/>
              <a:t>协议</a:t>
            </a:r>
            <a:endParaRPr lang="en-US" altLang="zh-CN" sz="2400" b="1" dirty="0"/>
          </a:p>
        </p:txBody>
      </p:sp>
      <p:sp>
        <p:nvSpPr>
          <p:cNvPr id="46" name="文本框 45"/>
          <p:cNvSpPr txBox="1"/>
          <p:nvPr/>
        </p:nvSpPr>
        <p:spPr>
          <a:xfrm>
            <a:off x="243833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192.168.16.1/25</a:t>
            </a:r>
            <a:endParaRPr lang="en-US" altLang="zh-CN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243833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192.168.16.126</a:t>
            </a:r>
            <a:endParaRPr lang="en-US" altLang="zh-CN" b="1" dirty="0"/>
          </a:p>
        </p:txBody>
      </p:sp>
      <p:sp>
        <p:nvSpPr>
          <p:cNvPr id="53" name="文本框 52"/>
          <p:cNvSpPr txBox="1"/>
          <p:nvPr/>
        </p:nvSpPr>
        <p:spPr>
          <a:xfrm>
            <a:off x="203805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192.168.16.126/25</a:t>
            </a:r>
            <a:endParaRPr lang="en-US" altLang="zh-CN" b="1" dirty="0"/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6292355" y="4129355"/>
            <a:ext cx="3797032" cy="157349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2094813" y="4118803"/>
            <a:ext cx="3797030" cy="157349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0147084" y="2057849"/>
            <a:ext cx="0" cy="17324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028615" y="2057849"/>
            <a:ext cx="0" cy="17324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2243241" y="3840969"/>
            <a:ext cx="7697844" cy="130472"/>
            <a:chOff x="2243241" y="3518631"/>
            <a:chExt cx="7697844" cy="130472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5974300" y="3518631"/>
              <a:ext cx="396678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组合 22"/>
            <p:cNvGrpSpPr/>
            <p:nvPr/>
          </p:nvGrpSpPr>
          <p:grpSpPr>
            <a:xfrm>
              <a:off x="2243241" y="3518631"/>
              <a:ext cx="3974459" cy="130472"/>
              <a:chOff x="2243241" y="3518631"/>
              <a:chExt cx="3974459" cy="130472"/>
            </a:xfrm>
          </p:grpSpPr>
          <p:cxnSp>
            <p:nvCxnSpPr>
              <p:cNvPr id="24" name="直接连接符 23"/>
              <p:cNvCxnSpPr/>
              <p:nvPr/>
            </p:nvCxnSpPr>
            <p:spPr>
              <a:xfrm>
                <a:off x="2243241" y="3649103"/>
                <a:ext cx="3966785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>
                <a:off x="5974300" y="3518631"/>
                <a:ext cx="243400" cy="130472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3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204" y="1627865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56" y="3747746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805345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pic>
        <p:nvPicPr>
          <p:cNvPr id="2" name="20 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993" y="5512045"/>
            <a:ext cx="530013" cy="381609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031" y="3747746"/>
            <a:ext cx="530013" cy="381609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471" y="1627865"/>
            <a:ext cx="539132" cy="45797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432483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5593403" y="5872552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0461954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59369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2041942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2356665" y="3592754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38" name="文本框 37"/>
          <p:cNvSpPr txBox="1"/>
          <p:nvPr/>
        </p:nvSpPr>
        <p:spPr>
          <a:xfrm>
            <a:off x="4874272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6575276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984512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3" name="文本框 42"/>
          <p:cNvSpPr txBox="1"/>
          <p:nvPr/>
        </p:nvSpPr>
        <p:spPr>
          <a:xfrm>
            <a:off x="8739711" y="3490415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44" name="文本框 43"/>
          <p:cNvSpPr txBox="1"/>
          <p:nvPr/>
        </p:nvSpPr>
        <p:spPr>
          <a:xfrm>
            <a:off x="9308006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696282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192.168.16.129/26</a:t>
            </a:r>
            <a:endParaRPr lang="en-US" altLang="zh-CN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696282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192.168.16.190</a:t>
            </a:r>
            <a:endParaRPr lang="en-US" altLang="zh-CN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749387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192.168.16.190/26</a:t>
            </a:r>
            <a:endParaRPr lang="en-US" altLang="zh-CN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2490488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30.0.0.1/30</a:t>
            </a:r>
            <a:endParaRPr lang="en-US" altLang="zh-CN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422883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10.0.0.1/30</a:t>
            </a:r>
            <a:endParaRPr lang="en-US" altLang="zh-CN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3700625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10.0.0.2/30</a:t>
            </a:r>
            <a:endParaRPr lang="en-US" altLang="zh-CN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6585858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20.0.0.2/30</a:t>
            </a:r>
            <a:endParaRPr lang="en-US" altLang="zh-CN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9845122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20.0.0.1/30</a:t>
            </a:r>
            <a:endParaRPr lang="en-US" altLang="zh-CN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7730959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30.0.0.2/30</a:t>
            </a:r>
            <a:endParaRPr lang="en-US" altLang="zh-CN" b="1" dirty="0"/>
          </a:p>
        </p:txBody>
      </p:sp>
      <p:sp>
        <p:nvSpPr>
          <p:cNvPr id="45" name="等腰三角形 44"/>
          <p:cNvSpPr/>
          <p:nvPr/>
        </p:nvSpPr>
        <p:spPr>
          <a:xfrm>
            <a:off x="1968014" y="332073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等腰三角形 47"/>
          <p:cNvSpPr/>
          <p:nvPr/>
        </p:nvSpPr>
        <p:spPr>
          <a:xfrm>
            <a:off x="1968014" y="23248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10090287" y="332073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10090287" y="23248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2479332" y="39184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521550" y="380415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2357854" y="41799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5430481" y="545829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6621019" y="545829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9828893" y="415348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035100" y="2131282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9329614" y="2085838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Fa0</a:t>
            </a:r>
            <a:endParaRPr lang="en-US" altLang="zh-CN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文本框 45"/>
          <p:cNvSpPr txBox="1"/>
          <p:nvPr/>
        </p:nvSpPr>
        <p:spPr>
          <a:xfrm>
            <a:off x="243833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192.168.16.1/25</a:t>
            </a:r>
            <a:endParaRPr lang="en-US" altLang="zh-CN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243833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192.168.16.126</a:t>
            </a:r>
            <a:endParaRPr lang="en-US" altLang="zh-CN" b="1" dirty="0"/>
          </a:p>
        </p:txBody>
      </p:sp>
      <p:sp>
        <p:nvSpPr>
          <p:cNvPr id="53" name="文本框 52"/>
          <p:cNvSpPr txBox="1"/>
          <p:nvPr/>
        </p:nvSpPr>
        <p:spPr>
          <a:xfrm>
            <a:off x="203805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192.168.16.126/25</a:t>
            </a:r>
            <a:endParaRPr lang="en-US" altLang="zh-CN" b="1" dirty="0"/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6292355" y="4129355"/>
            <a:ext cx="3797032" cy="157349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2094813" y="4118803"/>
            <a:ext cx="3797030" cy="157349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0147084" y="2057849"/>
            <a:ext cx="0" cy="17324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028615" y="2057849"/>
            <a:ext cx="0" cy="17324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2243241" y="3840969"/>
            <a:ext cx="7697844" cy="130472"/>
            <a:chOff x="2243241" y="3518631"/>
            <a:chExt cx="7697844" cy="130472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5974300" y="3518631"/>
              <a:ext cx="396678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组合 22"/>
            <p:cNvGrpSpPr/>
            <p:nvPr/>
          </p:nvGrpSpPr>
          <p:grpSpPr>
            <a:xfrm>
              <a:off x="2243241" y="3518631"/>
              <a:ext cx="3974459" cy="130472"/>
              <a:chOff x="2243241" y="3518631"/>
              <a:chExt cx="3974459" cy="130472"/>
            </a:xfrm>
          </p:grpSpPr>
          <p:cxnSp>
            <p:nvCxnSpPr>
              <p:cNvPr id="24" name="直接连接符 23"/>
              <p:cNvCxnSpPr/>
              <p:nvPr/>
            </p:nvCxnSpPr>
            <p:spPr>
              <a:xfrm>
                <a:off x="2243241" y="3649103"/>
                <a:ext cx="3966785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>
                <a:off x="5974300" y="3518631"/>
                <a:ext cx="243400" cy="130472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3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204" y="1627865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56" y="3747746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805345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pic>
        <p:nvPicPr>
          <p:cNvPr id="2" name="20 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993" y="5512045"/>
            <a:ext cx="530013" cy="381609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031" y="3747746"/>
            <a:ext cx="530013" cy="381609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471" y="1627865"/>
            <a:ext cx="539132" cy="45797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432483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5593403" y="5872552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0461954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59369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2041942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2356665" y="3592754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38" name="文本框 37"/>
          <p:cNvSpPr txBox="1"/>
          <p:nvPr/>
        </p:nvSpPr>
        <p:spPr>
          <a:xfrm>
            <a:off x="4874272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6575276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984512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3" name="文本框 42"/>
          <p:cNvSpPr txBox="1"/>
          <p:nvPr/>
        </p:nvSpPr>
        <p:spPr>
          <a:xfrm>
            <a:off x="8739711" y="3490415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44" name="文本框 43"/>
          <p:cNvSpPr txBox="1"/>
          <p:nvPr/>
        </p:nvSpPr>
        <p:spPr>
          <a:xfrm>
            <a:off x="9308006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696282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192.168.16.129/26</a:t>
            </a:r>
            <a:endParaRPr lang="en-US" altLang="zh-CN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696282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192.168.16.190</a:t>
            </a:r>
            <a:endParaRPr lang="en-US" altLang="zh-CN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749387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192.168.16.190/26</a:t>
            </a:r>
            <a:endParaRPr lang="en-US" altLang="zh-CN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2490488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30.0.0.1/30</a:t>
            </a:r>
            <a:endParaRPr lang="en-US" altLang="zh-CN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422883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10.0.0.1/30</a:t>
            </a:r>
            <a:endParaRPr lang="en-US" altLang="zh-CN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3700625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10.0.0.2/30</a:t>
            </a:r>
            <a:endParaRPr lang="en-US" altLang="zh-CN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6585858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20.0.0.2/30</a:t>
            </a:r>
            <a:endParaRPr lang="en-US" altLang="zh-CN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9845122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20.0.0.1/30</a:t>
            </a:r>
            <a:endParaRPr lang="en-US" altLang="zh-CN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7730959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30.0.0.2/30</a:t>
            </a:r>
            <a:endParaRPr lang="en-US" altLang="zh-CN" b="1" dirty="0"/>
          </a:p>
        </p:txBody>
      </p:sp>
      <p:sp>
        <p:nvSpPr>
          <p:cNvPr id="45" name="等腰三角形 44"/>
          <p:cNvSpPr/>
          <p:nvPr/>
        </p:nvSpPr>
        <p:spPr>
          <a:xfrm>
            <a:off x="1968014" y="332073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等腰三角形 47"/>
          <p:cNvSpPr/>
          <p:nvPr/>
        </p:nvSpPr>
        <p:spPr>
          <a:xfrm>
            <a:off x="1968014" y="23248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10090287" y="332073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10090287" y="23248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2479332" y="39184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521550" y="380415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2357854" y="41799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5430481" y="545829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6621019" y="545829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9828893" y="415348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864130" y="2216828"/>
            <a:ext cx="1733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192.168.16.0/25</a:t>
            </a:r>
            <a:endParaRPr lang="en-US" altLang="zh-CN" sz="20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5220727" y="3985021"/>
            <a:ext cx="1753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30.0.0.0/30</a:t>
            </a:r>
            <a:endParaRPr lang="en-US" altLang="zh-CN" sz="20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3879484" y="4228173"/>
            <a:ext cx="13185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10.0.0.0/30</a:t>
            </a:r>
            <a:endParaRPr lang="en-US" altLang="zh-CN" sz="2000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68899" y="4228173"/>
            <a:ext cx="13236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20.0.0.0/30</a:t>
            </a:r>
            <a:endParaRPr lang="en-US" altLang="zh-CN" sz="2000" b="1" dirty="0"/>
          </a:p>
        </p:txBody>
      </p:sp>
      <p:sp>
        <p:nvSpPr>
          <p:cNvPr id="20" name="文本框 19"/>
          <p:cNvSpPr txBox="1"/>
          <p:nvPr/>
        </p:nvSpPr>
        <p:spPr>
          <a:xfrm>
            <a:off x="7670512" y="2216828"/>
            <a:ext cx="19971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192.168.16.128/26</a:t>
            </a:r>
            <a:endParaRPr lang="en-US" altLang="zh-CN" sz="2000" b="1" dirty="0"/>
          </a:p>
        </p:txBody>
      </p:sp>
      <p:sp>
        <p:nvSpPr>
          <p:cNvPr id="21" name="文本框 20"/>
          <p:cNvSpPr txBox="1"/>
          <p:nvPr/>
        </p:nvSpPr>
        <p:spPr>
          <a:xfrm>
            <a:off x="2844632" y="685800"/>
            <a:ext cx="6505948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5.  </a:t>
            </a:r>
            <a:r>
              <a:rPr lang="zh-CN" altLang="en-US" sz="2400" b="1" dirty="0"/>
              <a:t>启用各路由器的开放最短路径优先</a:t>
            </a:r>
            <a:r>
              <a:rPr lang="en-US" altLang="zh-CN" sz="2400" b="1" dirty="0"/>
              <a:t>OSPF</a:t>
            </a:r>
            <a:r>
              <a:rPr lang="zh-CN" altLang="en-US" sz="2400" b="1" dirty="0"/>
              <a:t>协议</a:t>
            </a:r>
            <a:endParaRPr lang="en-US" altLang="zh-CN" sz="2400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2035100" y="2131282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27" name="文本框 26"/>
          <p:cNvSpPr txBox="1"/>
          <p:nvPr/>
        </p:nvSpPr>
        <p:spPr>
          <a:xfrm>
            <a:off x="9329614" y="2085838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Fa0</a:t>
            </a:r>
            <a:endParaRPr lang="en-US" altLang="zh-CN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19" grpId="0"/>
      <p:bldP spid="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844632" y="685800"/>
            <a:ext cx="6505948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5.  </a:t>
            </a:r>
            <a:r>
              <a:rPr lang="zh-CN" altLang="en-US" sz="2400" b="1" dirty="0"/>
              <a:t>启用各路由器的开放最短路径优先</a:t>
            </a:r>
            <a:r>
              <a:rPr lang="en-US" altLang="zh-CN" sz="2400" b="1" dirty="0"/>
              <a:t>OSPF</a:t>
            </a:r>
            <a:r>
              <a:rPr lang="zh-CN" altLang="en-US" sz="2400" b="1" dirty="0"/>
              <a:t>协议</a:t>
            </a:r>
            <a:endParaRPr lang="en-US" altLang="zh-CN" sz="2400" b="1" dirty="0"/>
          </a:p>
        </p:txBody>
      </p:sp>
      <p:pic>
        <p:nvPicPr>
          <p:cNvPr id="28" name="20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459904"/>
            <a:ext cx="11588722" cy="4285899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6615792" y="2456235"/>
            <a:ext cx="3008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配置进程号为</a:t>
            </a:r>
            <a:r>
              <a:rPr lang="en-US" altLang="zh-CN" b="1" dirty="0">
                <a:solidFill>
                  <a:srgbClr val="FF0000"/>
                </a:solidFill>
              </a:rPr>
              <a:t>100</a:t>
            </a:r>
            <a:r>
              <a:rPr lang="zh-CN" altLang="en-US" b="1" dirty="0">
                <a:solidFill>
                  <a:srgbClr val="FF0000"/>
                </a:solidFill>
              </a:rPr>
              <a:t>的</a:t>
            </a:r>
            <a:r>
              <a:rPr lang="en-US" altLang="zh-CN" b="1" dirty="0">
                <a:solidFill>
                  <a:srgbClr val="FF0000"/>
                </a:solidFill>
              </a:rPr>
              <a:t>OSPF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615792" y="2835379"/>
            <a:ext cx="4966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通告路由器自己的直连网络</a:t>
            </a:r>
            <a:r>
              <a:rPr lang="en-US" altLang="zh-CN" b="1" dirty="0">
                <a:solidFill>
                  <a:srgbClr val="FF0000"/>
                </a:solidFill>
              </a:rPr>
              <a:t>192.168.16.0/25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615792" y="3214523"/>
            <a:ext cx="4966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通告路由器自己的直连网络</a:t>
            </a:r>
            <a:r>
              <a:rPr lang="en-US" altLang="zh-CN" b="1" dirty="0">
                <a:solidFill>
                  <a:srgbClr val="FF0000"/>
                </a:solidFill>
              </a:rPr>
              <a:t>10.0.0.0/30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615792" y="3593667"/>
            <a:ext cx="4966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通告路由器自己的直连网络</a:t>
            </a:r>
            <a:r>
              <a:rPr lang="en-US" altLang="zh-CN" b="1" dirty="0">
                <a:solidFill>
                  <a:srgbClr val="FF0000"/>
                </a:solidFill>
              </a:rPr>
              <a:t>30.0.0.0/30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615792" y="3972813"/>
            <a:ext cx="4966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退出到特权执行模式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3" grpId="0"/>
      <p:bldP spid="3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844632" y="685800"/>
            <a:ext cx="6505948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5.  </a:t>
            </a:r>
            <a:r>
              <a:rPr lang="zh-CN" altLang="en-US" sz="2400" b="1" dirty="0"/>
              <a:t>启用各路由器的开放最短路径优先</a:t>
            </a:r>
            <a:r>
              <a:rPr lang="en-US" altLang="zh-CN" sz="2400" b="1" dirty="0"/>
              <a:t>OSPF</a:t>
            </a:r>
            <a:r>
              <a:rPr lang="zh-CN" altLang="en-US" sz="2400" b="1" dirty="0"/>
              <a:t>协议</a:t>
            </a:r>
            <a:endParaRPr lang="en-US" altLang="zh-CN" sz="2400" b="1" dirty="0"/>
          </a:p>
        </p:txBody>
      </p:sp>
      <p:pic>
        <p:nvPicPr>
          <p:cNvPr id="28" name="20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459904"/>
            <a:ext cx="11588722" cy="4285899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6615792" y="2456235"/>
            <a:ext cx="3008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配置进程号为</a:t>
            </a:r>
            <a:r>
              <a:rPr lang="en-US" altLang="zh-CN" b="1" dirty="0">
                <a:solidFill>
                  <a:srgbClr val="FF0000"/>
                </a:solidFill>
              </a:rPr>
              <a:t>100</a:t>
            </a:r>
            <a:r>
              <a:rPr lang="zh-CN" altLang="en-US" b="1" dirty="0">
                <a:solidFill>
                  <a:srgbClr val="FF0000"/>
                </a:solidFill>
              </a:rPr>
              <a:t>的</a:t>
            </a:r>
            <a:r>
              <a:rPr lang="en-US" altLang="zh-CN" b="1" dirty="0">
                <a:solidFill>
                  <a:srgbClr val="FF0000"/>
                </a:solidFill>
              </a:rPr>
              <a:t>OSPF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615792" y="2835379"/>
            <a:ext cx="4966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通告路由器自己的直连网络</a:t>
            </a:r>
            <a:r>
              <a:rPr lang="en-US" altLang="zh-CN" b="1" dirty="0">
                <a:solidFill>
                  <a:srgbClr val="FF0000"/>
                </a:solidFill>
              </a:rPr>
              <a:t>192.168.16.0/25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615792" y="3214523"/>
            <a:ext cx="4966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通告路由器自己的直连网络</a:t>
            </a:r>
            <a:r>
              <a:rPr lang="en-US" altLang="zh-CN" b="1" dirty="0">
                <a:solidFill>
                  <a:srgbClr val="FF0000"/>
                </a:solidFill>
              </a:rPr>
              <a:t>10.0.0.0/30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615792" y="3593667"/>
            <a:ext cx="4966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通告路由器自己的直连网络</a:t>
            </a:r>
            <a:r>
              <a:rPr lang="en-US" altLang="zh-CN" b="1" dirty="0">
                <a:solidFill>
                  <a:srgbClr val="FF0000"/>
                </a:solidFill>
              </a:rPr>
              <a:t>30.0.0.0/30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615792" y="3972813"/>
            <a:ext cx="4966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退出到特权执行模式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973818" y="5761172"/>
            <a:ext cx="8246712" cy="6691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2000" b="1" dirty="0"/>
              <a:t>请参照此方法分别启用</a:t>
            </a:r>
            <a:r>
              <a:rPr lang="en-US" altLang="zh-CN" sz="2000" b="1" dirty="0"/>
              <a:t>Router1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Router2</a:t>
            </a:r>
            <a:r>
              <a:rPr lang="zh-CN" altLang="en-US" sz="2000" b="1" dirty="0"/>
              <a:t>的开放最短路径优先</a:t>
            </a:r>
            <a:r>
              <a:rPr lang="en-US" altLang="zh-CN" sz="2000" b="1" dirty="0"/>
              <a:t>OSPF</a:t>
            </a:r>
            <a:r>
              <a:rPr lang="zh-CN" altLang="en-US" sz="2000" b="1" dirty="0"/>
              <a:t>协议。</a:t>
            </a:r>
            <a:endParaRPr lang="zh-CN" altLang="en-US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4232442" y="685800"/>
            <a:ext cx="3730644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6.  </a:t>
            </a:r>
            <a:r>
              <a:rPr lang="zh-CN" altLang="en-US" sz="2400" b="1" dirty="0"/>
              <a:t>查看各路由器的路由表</a:t>
            </a:r>
            <a:endParaRPr lang="en-US" altLang="zh-CN" sz="2400" b="1" dirty="0"/>
          </a:p>
        </p:txBody>
      </p:sp>
      <p:sp>
        <p:nvSpPr>
          <p:cNvPr id="46" name="文本框 45"/>
          <p:cNvSpPr txBox="1"/>
          <p:nvPr/>
        </p:nvSpPr>
        <p:spPr>
          <a:xfrm>
            <a:off x="243833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192.168.16.1/25</a:t>
            </a:r>
            <a:endParaRPr lang="en-US" altLang="zh-CN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243833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192.168.16.126</a:t>
            </a:r>
            <a:endParaRPr lang="en-US" altLang="zh-CN" b="1" dirty="0"/>
          </a:p>
        </p:txBody>
      </p:sp>
      <p:sp>
        <p:nvSpPr>
          <p:cNvPr id="53" name="文本框 52"/>
          <p:cNvSpPr txBox="1"/>
          <p:nvPr/>
        </p:nvSpPr>
        <p:spPr>
          <a:xfrm>
            <a:off x="203805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192.168.16.126/25</a:t>
            </a:r>
            <a:endParaRPr lang="en-US" altLang="zh-CN" b="1" dirty="0"/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6292355" y="4129355"/>
            <a:ext cx="3797032" cy="157349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2094813" y="4118803"/>
            <a:ext cx="3797030" cy="157349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0147084" y="2057849"/>
            <a:ext cx="0" cy="17324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028615" y="2057849"/>
            <a:ext cx="0" cy="17324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2243241" y="3840969"/>
            <a:ext cx="7697844" cy="130472"/>
            <a:chOff x="2243241" y="3518631"/>
            <a:chExt cx="7697844" cy="130472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5974300" y="3518631"/>
              <a:ext cx="396678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组合 22"/>
            <p:cNvGrpSpPr/>
            <p:nvPr/>
          </p:nvGrpSpPr>
          <p:grpSpPr>
            <a:xfrm>
              <a:off x="2243241" y="3518631"/>
              <a:ext cx="3974459" cy="130472"/>
              <a:chOff x="2243241" y="3518631"/>
              <a:chExt cx="3974459" cy="130472"/>
            </a:xfrm>
          </p:grpSpPr>
          <p:cxnSp>
            <p:nvCxnSpPr>
              <p:cNvPr id="24" name="直接连接符 23"/>
              <p:cNvCxnSpPr/>
              <p:nvPr/>
            </p:nvCxnSpPr>
            <p:spPr>
              <a:xfrm>
                <a:off x="2243241" y="3649103"/>
                <a:ext cx="3966785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>
                <a:off x="5974300" y="3518631"/>
                <a:ext cx="243400" cy="130472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3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204" y="1627865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56" y="3747746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805345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pic>
        <p:nvPicPr>
          <p:cNvPr id="2" name="20 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993" y="5512045"/>
            <a:ext cx="530013" cy="381609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031" y="3747746"/>
            <a:ext cx="530013" cy="381609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471" y="1627865"/>
            <a:ext cx="539132" cy="45797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432483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5593403" y="5872552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0461954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59369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2041942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2356665" y="3592754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38" name="文本框 37"/>
          <p:cNvSpPr txBox="1"/>
          <p:nvPr/>
        </p:nvSpPr>
        <p:spPr>
          <a:xfrm>
            <a:off x="4874272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6575276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984512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3" name="文本框 42"/>
          <p:cNvSpPr txBox="1"/>
          <p:nvPr/>
        </p:nvSpPr>
        <p:spPr>
          <a:xfrm>
            <a:off x="8739711" y="3490415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44" name="文本框 43"/>
          <p:cNvSpPr txBox="1"/>
          <p:nvPr/>
        </p:nvSpPr>
        <p:spPr>
          <a:xfrm>
            <a:off x="9308006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696282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192.168.16.129/26</a:t>
            </a:r>
            <a:endParaRPr lang="en-US" altLang="zh-CN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696282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192.168.16.190</a:t>
            </a:r>
            <a:endParaRPr lang="en-US" altLang="zh-CN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749387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192.168.16.190/26</a:t>
            </a:r>
            <a:endParaRPr lang="en-US" altLang="zh-CN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2490488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30.0.0.1/30</a:t>
            </a:r>
            <a:endParaRPr lang="en-US" altLang="zh-CN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422883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10.0.0.1/30</a:t>
            </a:r>
            <a:endParaRPr lang="en-US" altLang="zh-CN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3700625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10.0.0.2/30</a:t>
            </a:r>
            <a:endParaRPr lang="en-US" altLang="zh-CN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6585858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20.0.0.2/30</a:t>
            </a:r>
            <a:endParaRPr lang="en-US" altLang="zh-CN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9845122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20.0.0.1/30</a:t>
            </a:r>
            <a:endParaRPr lang="en-US" altLang="zh-CN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7730959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30.0.0.2/30</a:t>
            </a:r>
            <a:endParaRPr lang="en-US" altLang="zh-CN" b="1" dirty="0"/>
          </a:p>
        </p:txBody>
      </p:sp>
      <p:sp>
        <p:nvSpPr>
          <p:cNvPr id="45" name="等腰三角形 44"/>
          <p:cNvSpPr/>
          <p:nvPr/>
        </p:nvSpPr>
        <p:spPr>
          <a:xfrm>
            <a:off x="1968014" y="332073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等腰三角形 47"/>
          <p:cNvSpPr/>
          <p:nvPr/>
        </p:nvSpPr>
        <p:spPr>
          <a:xfrm>
            <a:off x="1968014" y="23248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10090287" y="332073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10090287" y="23248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2479332" y="39184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521550" y="380415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2357854" y="41799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5430481" y="545829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6621019" y="545829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9828893" y="415348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864130" y="2216828"/>
            <a:ext cx="1733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192.168.16.0/25</a:t>
            </a:r>
            <a:endParaRPr lang="en-US" altLang="zh-CN" sz="20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5220727" y="3985021"/>
            <a:ext cx="1753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30.0.0.0/30</a:t>
            </a:r>
            <a:endParaRPr lang="en-US" altLang="zh-CN" sz="20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3879484" y="4228173"/>
            <a:ext cx="13185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10.0.0.0/30</a:t>
            </a:r>
            <a:endParaRPr lang="en-US" altLang="zh-CN" sz="2000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68899" y="4228173"/>
            <a:ext cx="13236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20.0.0.0/30</a:t>
            </a:r>
            <a:endParaRPr lang="en-US" altLang="zh-CN" sz="2000" b="1" dirty="0"/>
          </a:p>
        </p:txBody>
      </p:sp>
      <p:sp>
        <p:nvSpPr>
          <p:cNvPr id="20" name="文本框 19"/>
          <p:cNvSpPr txBox="1"/>
          <p:nvPr/>
        </p:nvSpPr>
        <p:spPr>
          <a:xfrm>
            <a:off x="7670512" y="2216828"/>
            <a:ext cx="19971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192.168.16.128/26</a:t>
            </a:r>
            <a:endParaRPr lang="en-US" altLang="zh-CN" sz="20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2035100" y="2131282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329614" y="2085838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Fa0</a:t>
            </a:r>
            <a:endParaRPr lang="en-US" altLang="zh-CN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4232442" y="685800"/>
            <a:ext cx="3730644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6.  </a:t>
            </a:r>
            <a:r>
              <a:rPr lang="zh-CN" altLang="en-US" sz="2400" b="1" dirty="0"/>
              <a:t>查看各路由器的路由表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30" name="20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5589"/>
            <a:ext cx="12192000" cy="5325728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6790890" y="606483"/>
            <a:ext cx="3455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显示路由表的内容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36188" y="3108057"/>
            <a:ext cx="6536986" cy="173407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6790890" y="3010094"/>
            <a:ext cx="5342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通过</a:t>
            </a:r>
            <a:r>
              <a:rPr lang="en-US" altLang="zh-CN" b="1" dirty="0">
                <a:solidFill>
                  <a:srgbClr val="FF0000"/>
                </a:solidFill>
              </a:rPr>
              <a:t>OSPF</a:t>
            </a:r>
            <a:r>
              <a:rPr lang="zh-CN" altLang="en-US" b="1" dirty="0">
                <a:solidFill>
                  <a:srgbClr val="FF0000"/>
                </a:solidFill>
              </a:rPr>
              <a:t>获取到的到达网络</a:t>
            </a:r>
            <a:r>
              <a:rPr lang="en-US" altLang="zh-CN" b="1" dirty="0">
                <a:solidFill>
                  <a:srgbClr val="FF0000"/>
                </a:solidFill>
              </a:rPr>
              <a:t>20.0.0.0/30</a:t>
            </a:r>
            <a:r>
              <a:rPr lang="zh-CN" altLang="en-US" b="1" dirty="0">
                <a:solidFill>
                  <a:srgbClr val="FF0000"/>
                </a:solidFill>
              </a:rPr>
              <a:t>的路由条目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下一跳为</a:t>
            </a:r>
            <a:r>
              <a:rPr lang="en-US" altLang="zh-CN" b="1" dirty="0">
                <a:solidFill>
                  <a:srgbClr val="FF0000"/>
                </a:solidFill>
              </a:rPr>
              <a:t>10.0.0.2</a:t>
            </a:r>
            <a:r>
              <a:rPr lang="zh-CN" altLang="en-US" b="1" dirty="0">
                <a:solidFill>
                  <a:srgbClr val="FF0000"/>
                </a:solidFill>
              </a:rPr>
              <a:t>，从接口</a:t>
            </a:r>
            <a:r>
              <a:rPr lang="en-US" altLang="zh-CN" b="1" dirty="0">
                <a:solidFill>
                  <a:srgbClr val="FF0000"/>
                </a:solidFill>
              </a:rPr>
              <a:t>Gig0/1</a:t>
            </a:r>
            <a:r>
              <a:rPr lang="zh-CN" altLang="en-US" b="1" dirty="0">
                <a:solidFill>
                  <a:srgbClr val="FF0000"/>
                </a:solidFill>
              </a:rPr>
              <a:t>转发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36188" y="4225447"/>
            <a:ext cx="6536986" cy="173407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/>
        </p:nvSpPr>
        <p:spPr>
          <a:xfrm>
            <a:off x="6790890" y="4075688"/>
            <a:ext cx="5342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通过</a:t>
            </a:r>
            <a:r>
              <a:rPr lang="en-US" altLang="zh-CN" b="1" dirty="0">
                <a:solidFill>
                  <a:srgbClr val="FF0000"/>
                </a:solidFill>
              </a:rPr>
              <a:t>OSPF</a:t>
            </a:r>
            <a:r>
              <a:rPr lang="zh-CN" altLang="en-US" b="1" dirty="0">
                <a:solidFill>
                  <a:srgbClr val="FF0000"/>
                </a:solidFill>
              </a:rPr>
              <a:t>获取到的到达网络</a:t>
            </a:r>
            <a:r>
              <a:rPr lang="en-US" altLang="zh-CN" b="1" dirty="0">
                <a:solidFill>
                  <a:srgbClr val="FF0000"/>
                </a:solidFill>
              </a:rPr>
              <a:t>192.168.16.128/26</a:t>
            </a:r>
            <a:r>
              <a:rPr lang="zh-CN" altLang="en-US" b="1" dirty="0">
                <a:solidFill>
                  <a:srgbClr val="FF0000"/>
                </a:solidFill>
              </a:rPr>
              <a:t>的路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由条目，下一跳为</a:t>
            </a:r>
            <a:r>
              <a:rPr lang="en-US" altLang="zh-CN" b="1" dirty="0">
                <a:solidFill>
                  <a:srgbClr val="FF0000"/>
                </a:solidFill>
              </a:rPr>
              <a:t>10.0.0.2</a:t>
            </a:r>
            <a:r>
              <a:rPr lang="zh-CN" altLang="en-US" b="1" dirty="0">
                <a:solidFill>
                  <a:srgbClr val="FF0000"/>
                </a:solidFill>
              </a:rPr>
              <a:t>，从接口</a:t>
            </a:r>
            <a:r>
              <a:rPr lang="en-US" altLang="zh-CN" b="1" dirty="0">
                <a:solidFill>
                  <a:srgbClr val="FF0000"/>
                </a:solidFill>
              </a:rPr>
              <a:t>Gig0/1</a:t>
            </a:r>
            <a:r>
              <a:rPr lang="zh-CN" altLang="en-US" b="1" dirty="0">
                <a:solidFill>
                  <a:srgbClr val="FF0000"/>
                </a:solidFill>
              </a:rPr>
              <a:t>转发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2809222" y="5522766"/>
            <a:ext cx="6573556" cy="6691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2000" b="1" dirty="0"/>
              <a:t>请参照此方法分别查看</a:t>
            </a:r>
            <a:r>
              <a:rPr lang="en-US" altLang="zh-CN" sz="2000" b="1" dirty="0"/>
              <a:t>Router1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Router2</a:t>
            </a:r>
            <a:r>
              <a:rPr lang="zh-CN" altLang="en-US" sz="2000" b="1" dirty="0"/>
              <a:t>的路由表的内容。</a:t>
            </a:r>
            <a:endParaRPr lang="zh-CN" altLang="en-US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800" decel="100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00" decel="100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00" decel="100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 animBg="1"/>
      <p:bldP spid="34" grpId="0"/>
      <p:bldP spid="37" grpId="0" animBg="1"/>
      <p:bldP spid="61" grpId="0"/>
      <p:bldP spid="6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4232442" y="685800"/>
            <a:ext cx="3730644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7.  </a:t>
            </a:r>
            <a:r>
              <a:rPr lang="zh-CN" altLang="en-US" sz="2400" b="1" dirty="0"/>
              <a:t>选择要监视的网络协议</a:t>
            </a:r>
            <a:endParaRPr lang="en-US" altLang="zh-CN" sz="2400" b="1" dirty="0"/>
          </a:p>
        </p:txBody>
      </p:sp>
      <p:sp>
        <p:nvSpPr>
          <p:cNvPr id="46" name="文本框 45"/>
          <p:cNvSpPr txBox="1"/>
          <p:nvPr/>
        </p:nvSpPr>
        <p:spPr>
          <a:xfrm>
            <a:off x="243833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192.168.16.1/25</a:t>
            </a:r>
            <a:endParaRPr lang="en-US" altLang="zh-CN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243833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192.168.16.126</a:t>
            </a:r>
            <a:endParaRPr lang="en-US" altLang="zh-CN" b="1" dirty="0"/>
          </a:p>
        </p:txBody>
      </p:sp>
      <p:sp>
        <p:nvSpPr>
          <p:cNvPr id="53" name="文本框 52"/>
          <p:cNvSpPr txBox="1"/>
          <p:nvPr/>
        </p:nvSpPr>
        <p:spPr>
          <a:xfrm>
            <a:off x="203805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192.168.16.126/25</a:t>
            </a:r>
            <a:endParaRPr lang="en-US" altLang="zh-CN" b="1" dirty="0"/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6292355" y="4129355"/>
            <a:ext cx="3797032" cy="157349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2094813" y="4118803"/>
            <a:ext cx="3797030" cy="157349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0147084" y="2057849"/>
            <a:ext cx="0" cy="17324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028615" y="2057849"/>
            <a:ext cx="0" cy="17324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2243241" y="3840969"/>
            <a:ext cx="7697844" cy="130472"/>
            <a:chOff x="2243241" y="3518631"/>
            <a:chExt cx="7697844" cy="130472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5974300" y="3518631"/>
              <a:ext cx="396678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组合 22"/>
            <p:cNvGrpSpPr/>
            <p:nvPr/>
          </p:nvGrpSpPr>
          <p:grpSpPr>
            <a:xfrm>
              <a:off x="2243241" y="3518631"/>
              <a:ext cx="3974459" cy="130472"/>
              <a:chOff x="2243241" y="3518631"/>
              <a:chExt cx="3974459" cy="130472"/>
            </a:xfrm>
          </p:grpSpPr>
          <p:cxnSp>
            <p:nvCxnSpPr>
              <p:cNvPr id="24" name="直接连接符 23"/>
              <p:cNvCxnSpPr/>
              <p:nvPr/>
            </p:nvCxnSpPr>
            <p:spPr>
              <a:xfrm>
                <a:off x="2243241" y="3649103"/>
                <a:ext cx="3966785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>
                <a:off x="5974300" y="3518631"/>
                <a:ext cx="243400" cy="130472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3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204" y="1627865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56" y="3747746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805345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pic>
        <p:nvPicPr>
          <p:cNvPr id="2" name="20 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993" y="5512045"/>
            <a:ext cx="530013" cy="381609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031" y="3747746"/>
            <a:ext cx="530013" cy="381609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471" y="1627865"/>
            <a:ext cx="539132" cy="45797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432483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5593403" y="5872552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0461954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59369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2041942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2356665" y="3592754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38" name="文本框 37"/>
          <p:cNvSpPr txBox="1"/>
          <p:nvPr/>
        </p:nvSpPr>
        <p:spPr>
          <a:xfrm>
            <a:off x="4874272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6575276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984512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3" name="文本框 42"/>
          <p:cNvSpPr txBox="1"/>
          <p:nvPr/>
        </p:nvSpPr>
        <p:spPr>
          <a:xfrm>
            <a:off x="8739711" y="3490415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44" name="文本框 43"/>
          <p:cNvSpPr txBox="1"/>
          <p:nvPr/>
        </p:nvSpPr>
        <p:spPr>
          <a:xfrm>
            <a:off x="9308006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696282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192.168.16.129/26</a:t>
            </a:r>
            <a:endParaRPr lang="en-US" altLang="zh-CN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696282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192.168.16.190</a:t>
            </a:r>
            <a:endParaRPr lang="en-US" altLang="zh-CN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749387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192.168.16.190/26</a:t>
            </a:r>
            <a:endParaRPr lang="en-US" altLang="zh-CN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2490488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30.0.0.1/30</a:t>
            </a:r>
            <a:endParaRPr lang="en-US" altLang="zh-CN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422883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10.0.0.1/30</a:t>
            </a:r>
            <a:endParaRPr lang="en-US" altLang="zh-CN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3700625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10.0.0.2/30</a:t>
            </a:r>
            <a:endParaRPr lang="en-US" altLang="zh-CN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6585858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20.0.0.2/30</a:t>
            </a:r>
            <a:endParaRPr lang="en-US" altLang="zh-CN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9845122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20.0.0.1/30</a:t>
            </a:r>
            <a:endParaRPr lang="en-US" altLang="zh-CN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7730959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30.0.0.2/30</a:t>
            </a:r>
            <a:endParaRPr lang="en-US" altLang="zh-CN" b="1" dirty="0"/>
          </a:p>
        </p:txBody>
      </p:sp>
      <p:sp>
        <p:nvSpPr>
          <p:cNvPr id="45" name="等腰三角形 44"/>
          <p:cNvSpPr/>
          <p:nvPr/>
        </p:nvSpPr>
        <p:spPr>
          <a:xfrm>
            <a:off x="1968014" y="332073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等腰三角形 47"/>
          <p:cNvSpPr/>
          <p:nvPr/>
        </p:nvSpPr>
        <p:spPr>
          <a:xfrm>
            <a:off x="1968014" y="23248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10090287" y="332073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10090287" y="23248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2479332" y="39184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521550" y="380415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2357854" y="41799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5430481" y="545829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6621019" y="545829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9828893" y="415348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864130" y="2216828"/>
            <a:ext cx="1733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192.168.16.0/25</a:t>
            </a:r>
            <a:endParaRPr lang="en-US" altLang="zh-CN" sz="20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5220727" y="3985021"/>
            <a:ext cx="1753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30.0.0.0/30</a:t>
            </a:r>
            <a:endParaRPr lang="en-US" altLang="zh-CN" sz="20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3879484" y="4228173"/>
            <a:ext cx="13185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10.0.0.0/30</a:t>
            </a:r>
            <a:endParaRPr lang="en-US" altLang="zh-CN" sz="2000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68899" y="4228173"/>
            <a:ext cx="13236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20.0.0.0/30</a:t>
            </a:r>
            <a:endParaRPr lang="en-US" altLang="zh-CN" sz="2000" b="1" dirty="0"/>
          </a:p>
        </p:txBody>
      </p:sp>
      <p:sp>
        <p:nvSpPr>
          <p:cNvPr id="20" name="文本框 19"/>
          <p:cNvSpPr txBox="1"/>
          <p:nvPr/>
        </p:nvSpPr>
        <p:spPr>
          <a:xfrm>
            <a:off x="7670512" y="2216828"/>
            <a:ext cx="19971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192.168.16.128/26</a:t>
            </a:r>
            <a:endParaRPr lang="en-US" altLang="zh-CN" sz="20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2035100" y="2131282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329614" y="2085838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Fa0</a:t>
            </a:r>
            <a:endParaRPr lang="en-US" altLang="zh-CN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20 70" descr="20包含 表格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7407" y="1181252"/>
            <a:ext cx="2803411" cy="449549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4232442" y="685800"/>
            <a:ext cx="3730644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7.  </a:t>
            </a:r>
            <a:r>
              <a:rPr lang="zh-CN" altLang="en-US" sz="2400" b="1" dirty="0"/>
              <a:t>选择要监视的网络协议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1" name="20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96" y="1374844"/>
            <a:ext cx="3043465" cy="4896010"/>
          </a:xfrm>
          <a:prstGeom prst="rect">
            <a:avLst/>
          </a:prstGeom>
        </p:spPr>
      </p:pic>
      <p:grpSp>
        <p:nvGrpSpPr>
          <p:cNvPr id="26" name="组合 25"/>
          <p:cNvGrpSpPr/>
          <p:nvPr/>
        </p:nvGrpSpPr>
        <p:grpSpPr>
          <a:xfrm>
            <a:off x="3456561" y="5918684"/>
            <a:ext cx="3843075" cy="369332"/>
            <a:chOff x="3456561" y="5918684"/>
            <a:chExt cx="3843075" cy="369332"/>
          </a:xfrm>
        </p:grpSpPr>
        <p:cxnSp>
          <p:nvCxnSpPr>
            <p:cNvPr id="27" name="直接箭头连接符 26"/>
            <p:cNvCxnSpPr/>
            <p:nvPr/>
          </p:nvCxnSpPr>
          <p:spPr>
            <a:xfrm flipH="1">
              <a:off x="3456561" y="6103350"/>
              <a:ext cx="551234" cy="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/>
            <p:cNvSpPr txBox="1"/>
            <p:nvPr/>
          </p:nvSpPr>
          <p:spPr>
            <a:xfrm>
              <a:off x="4007795" y="5918684"/>
              <a:ext cx="32918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❶  切换到“模拟”工作模式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456561" y="5641685"/>
            <a:ext cx="4507148" cy="369332"/>
            <a:chOff x="3456561" y="5641685"/>
            <a:chExt cx="4507148" cy="369332"/>
          </a:xfrm>
        </p:grpSpPr>
        <p:cxnSp>
          <p:nvCxnSpPr>
            <p:cNvPr id="30" name="直接箭头连接符 29"/>
            <p:cNvCxnSpPr/>
            <p:nvPr/>
          </p:nvCxnSpPr>
          <p:spPr>
            <a:xfrm flipH="1">
              <a:off x="3456561" y="5826351"/>
              <a:ext cx="551234" cy="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30"/>
            <p:cNvSpPr txBox="1"/>
            <p:nvPr/>
          </p:nvSpPr>
          <p:spPr>
            <a:xfrm>
              <a:off x="4007795" y="5641685"/>
              <a:ext cx="3955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❷  单击该按钮，清空“事件列表”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293707" y="5236780"/>
            <a:ext cx="7308426" cy="526822"/>
            <a:chOff x="1293707" y="5236780"/>
            <a:chExt cx="7308426" cy="526822"/>
          </a:xfrm>
        </p:grpSpPr>
        <p:sp>
          <p:nvSpPr>
            <p:cNvPr id="34" name="文本框 33"/>
            <p:cNvSpPr txBox="1"/>
            <p:nvPr/>
          </p:nvSpPr>
          <p:spPr>
            <a:xfrm>
              <a:off x="4007795" y="5236780"/>
              <a:ext cx="45943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❸  单击该按钮，打开“协议选择”对话框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37" name="连接符: 肘形 36"/>
            <p:cNvCxnSpPr>
              <a:stCxn id="34" idx="1"/>
            </p:cNvCxnSpPr>
            <p:nvPr/>
          </p:nvCxnSpPr>
          <p:spPr>
            <a:xfrm rot="10800000" flipV="1">
              <a:off x="1293707" y="5421445"/>
              <a:ext cx="2714088" cy="342157"/>
            </a:xfrm>
            <a:prstGeom prst="bentConnector2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组合 60"/>
          <p:cNvGrpSpPr/>
          <p:nvPr/>
        </p:nvGrpSpPr>
        <p:grpSpPr>
          <a:xfrm>
            <a:off x="5942389" y="1367020"/>
            <a:ext cx="2955761" cy="369332"/>
            <a:chOff x="5964720" y="1367020"/>
            <a:chExt cx="2955761" cy="369332"/>
          </a:xfrm>
        </p:grpSpPr>
        <p:cxnSp>
          <p:nvCxnSpPr>
            <p:cNvPr id="62" name="直接箭头连接符 61"/>
            <p:cNvCxnSpPr/>
            <p:nvPr/>
          </p:nvCxnSpPr>
          <p:spPr>
            <a:xfrm>
              <a:off x="8494714" y="1551686"/>
              <a:ext cx="425767" cy="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本框 62"/>
            <p:cNvSpPr txBox="1"/>
            <p:nvPr/>
          </p:nvSpPr>
          <p:spPr>
            <a:xfrm>
              <a:off x="5964720" y="1367020"/>
              <a:ext cx="2507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❹  选择“</a:t>
              </a: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</a:rPr>
                <a:t>IPv4</a:t>
              </a: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”选项卡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5933440" y="2133999"/>
            <a:ext cx="4228721" cy="646331"/>
            <a:chOff x="5933440" y="2133999"/>
            <a:chExt cx="4228721" cy="646331"/>
          </a:xfrm>
        </p:grpSpPr>
        <p:grpSp>
          <p:nvGrpSpPr>
            <p:cNvPr id="66" name="组合 65"/>
            <p:cNvGrpSpPr/>
            <p:nvPr/>
          </p:nvGrpSpPr>
          <p:grpSpPr>
            <a:xfrm>
              <a:off x="5933440" y="2133999"/>
              <a:ext cx="2964710" cy="646331"/>
              <a:chOff x="5955771" y="1386475"/>
              <a:chExt cx="2964710" cy="646331"/>
            </a:xfrm>
          </p:grpSpPr>
          <p:cxnSp>
            <p:nvCxnSpPr>
              <p:cNvPr id="68" name="直接箭头连接符 67"/>
              <p:cNvCxnSpPr/>
              <p:nvPr/>
            </p:nvCxnSpPr>
            <p:spPr>
              <a:xfrm>
                <a:off x="8494714" y="1551686"/>
                <a:ext cx="425767" cy="0"/>
              </a:xfrm>
              <a:prstGeom prst="straightConnector1">
                <a:avLst/>
              </a:prstGeom>
              <a:ln w="25400">
                <a:solidFill>
                  <a:schemeClr val="accent1">
                    <a:lumMod val="75000"/>
                  </a:schemeClr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文本框 68"/>
              <p:cNvSpPr txBox="1"/>
              <p:nvPr/>
            </p:nvSpPr>
            <p:spPr>
              <a:xfrm>
                <a:off x="5955771" y="1386475"/>
                <a:ext cx="296471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❺  选择监视</a:t>
                </a:r>
                <a:r>
                  <a:rPr lang="en-US" altLang="zh-CN" b="1" dirty="0">
                    <a:solidFill>
                      <a:schemeClr val="accent1">
                        <a:lumMod val="75000"/>
                      </a:schemeClr>
                    </a:solidFill>
                  </a:rPr>
                  <a:t>ICMP</a:t>
                </a:r>
                <a:r>
                  <a:rPr lang="zh-CN" alt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协议</a:t>
                </a: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r>
                  <a:rPr lang="en-US" altLang="zh-CN" b="1" dirty="0">
                    <a:solidFill>
                      <a:schemeClr val="accent1">
                        <a:lumMod val="75000"/>
                      </a:schemeClr>
                    </a:solidFill>
                  </a:rPr>
                  <a:t>      </a:t>
                </a:r>
                <a:r>
                  <a:rPr lang="zh-CN" alt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和</a:t>
                </a:r>
                <a:r>
                  <a:rPr lang="en-US" altLang="zh-CN" b="1" dirty="0">
                    <a:solidFill>
                      <a:schemeClr val="accent1">
                        <a:lumMod val="75000"/>
                      </a:schemeClr>
                    </a:solidFill>
                  </a:rPr>
                  <a:t>OSPF</a:t>
                </a:r>
                <a:r>
                  <a:rPr lang="zh-CN" alt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协议的相关事件</a:t>
                </a:r>
                <a:endParaRPr lang="zh-CN" altLang="en-US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  <p:cxnSp>
          <p:nvCxnSpPr>
            <p:cNvPr id="67" name="连接符: 肘形 66"/>
            <p:cNvCxnSpPr/>
            <p:nvPr/>
          </p:nvCxnSpPr>
          <p:spPr>
            <a:xfrm rot="5400000" flipH="1" flipV="1">
              <a:off x="8407534" y="1014458"/>
              <a:ext cx="251138" cy="3258117"/>
            </a:xfrm>
            <a:prstGeom prst="bentConnector3">
              <a:avLst>
                <a:gd name="adj1" fmla="val -91026"/>
              </a:avLst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4725311" y="685800"/>
            <a:ext cx="274143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8.  </a:t>
            </a:r>
            <a:r>
              <a:rPr lang="zh-CN" altLang="en-US" sz="2400" b="1" dirty="0"/>
              <a:t>网络连通性测试</a:t>
            </a:r>
            <a:endParaRPr lang="en-US" altLang="zh-CN" sz="2400" b="1" dirty="0"/>
          </a:p>
        </p:txBody>
      </p:sp>
      <p:sp>
        <p:nvSpPr>
          <p:cNvPr id="46" name="文本框 45"/>
          <p:cNvSpPr txBox="1"/>
          <p:nvPr/>
        </p:nvSpPr>
        <p:spPr>
          <a:xfrm>
            <a:off x="243833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192.168.16.1/25</a:t>
            </a:r>
            <a:endParaRPr lang="en-US" altLang="zh-CN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243833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192.168.16.126</a:t>
            </a:r>
            <a:endParaRPr lang="en-US" altLang="zh-CN" b="1" dirty="0"/>
          </a:p>
        </p:txBody>
      </p:sp>
      <p:sp>
        <p:nvSpPr>
          <p:cNvPr id="53" name="文本框 52"/>
          <p:cNvSpPr txBox="1"/>
          <p:nvPr/>
        </p:nvSpPr>
        <p:spPr>
          <a:xfrm>
            <a:off x="203805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192.168.16.126/25</a:t>
            </a:r>
            <a:endParaRPr lang="en-US" altLang="zh-CN" b="1" dirty="0"/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6292355" y="4129355"/>
            <a:ext cx="3797032" cy="157349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2094813" y="4118803"/>
            <a:ext cx="3797030" cy="157349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0147084" y="2057849"/>
            <a:ext cx="0" cy="17324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028615" y="2057849"/>
            <a:ext cx="0" cy="17324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2243241" y="3840969"/>
            <a:ext cx="7697844" cy="130472"/>
            <a:chOff x="2243241" y="3518631"/>
            <a:chExt cx="7697844" cy="130472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5974300" y="3518631"/>
              <a:ext cx="396678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组合 22"/>
            <p:cNvGrpSpPr/>
            <p:nvPr/>
          </p:nvGrpSpPr>
          <p:grpSpPr>
            <a:xfrm>
              <a:off x="2243241" y="3518631"/>
              <a:ext cx="3974459" cy="130472"/>
              <a:chOff x="2243241" y="3518631"/>
              <a:chExt cx="3974459" cy="130472"/>
            </a:xfrm>
          </p:grpSpPr>
          <p:cxnSp>
            <p:nvCxnSpPr>
              <p:cNvPr id="24" name="直接连接符 23"/>
              <p:cNvCxnSpPr/>
              <p:nvPr/>
            </p:nvCxnSpPr>
            <p:spPr>
              <a:xfrm>
                <a:off x="2243241" y="3649103"/>
                <a:ext cx="3966785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>
                <a:off x="5974300" y="3518631"/>
                <a:ext cx="243400" cy="130472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3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204" y="1627865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56" y="3747746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805345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pic>
        <p:nvPicPr>
          <p:cNvPr id="2" name="20 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993" y="5512045"/>
            <a:ext cx="530013" cy="381609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031" y="3747746"/>
            <a:ext cx="530013" cy="381609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471" y="1627865"/>
            <a:ext cx="539132" cy="45797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432483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5593403" y="5872552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0461954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59369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2041942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2356665" y="3592754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38" name="文本框 37"/>
          <p:cNvSpPr txBox="1"/>
          <p:nvPr/>
        </p:nvSpPr>
        <p:spPr>
          <a:xfrm>
            <a:off x="4874272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6575276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984512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3" name="文本框 42"/>
          <p:cNvSpPr txBox="1"/>
          <p:nvPr/>
        </p:nvSpPr>
        <p:spPr>
          <a:xfrm>
            <a:off x="8739711" y="3490415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44" name="文本框 43"/>
          <p:cNvSpPr txBox="1"/>
          <p:nvPr/>
        </p:nvSpPr>
        <p:spPr>
          <a:xfrm>
            <a:off x="9308006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696282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192.168.16.129/26</a:t>
            </a:r>
            <a:endParaRPr lang="en-US" altLang="zh-CN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696282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192.168.16.190</a:t>
            </a:r>
            <a:endParaRPr lang="en-US" altLang="zh-CN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749387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192.168.16.190/26</a:t>
            </a:r>
            <a:endParaRPr lang="en-US" altLang="zh-CN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2490488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30.0.0.1/30</a:t>
            </a:r>
            <a:endParaRPr lang="en-US" altLang="zh-CN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422883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10.0.0.1/30</a:t>
            </a:r>
            <a:endParaRPr lang="en-US" altLang="zh-CN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3700625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10.0.0.2/30</a:t>
            </a:r>
            <a:endParaRPr lang="en-US" altLang="zh-CN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6585858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20.0.0.2/30</a:t>
            </a:r>
            <a:endParaRPr lang="en-US" altLang="zh-CN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9845122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20.0.0.1/30</a:t>
            </a:r>
            <a:endParaRPr lang="en-US" altLang="zh-CN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7730959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30.0.0.2/30</a:t>
            </a:r>
            <a:endParaRPr lang="en-US" altLang="zh-CN" b="1" dirty="0"/>
          </a:p>
        </p:txBody>
      </p:sp>
      <p:sp>
        <p:nvSpPr>
          <p:cNvPr id="45" name="等腰三角形 44"/>
          <p:cNvSpPr/>
          <p:nvPr/>
        </p:nvSpPr>
        <p:spPr>
          <a:xfrm>
            <a:off x="1968014" y="332073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等腰三角形 47"/>
          <p:cNvSpPr/>
          <p:nvPr/>
        </p:nvSpPr>
        <p:spPr>
          <a:xfrm>
            <a:off x="1968014" y="23248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10090287" y="332073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10090287" y="23248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2479332" y="39184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521550" y="380415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2357854" y="41799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5430481" y="545829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6621019" y="545829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9828893" y="415348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864130" y="2216828"/>
            <a:ext cx="1733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192.168.16.0/25</a:t>
            </a:r>
            <a:endParaRPr lang="en-US" altLang="zh-CN" sz="20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5220727" y="3985021"/>
            <a:ext cx="1753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30.0.0.0/30</a:t>
            </a:r>
            <a:endParaRPr lang="en-US" altLang="zh-CN" sz="20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3879484" y="4228173"/>
            <a:ext cx="13185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10.0.0.0/30</a:t>
            </a:r>
            <a:endParaRPr lang="en-US" altLang="zh-CN" sz="2000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68899" y="4228173"/>
            <a:ext cx="13236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20.0.0.0/30</a:t>
            </a:r>
            <a:endParaRPr lang="en-US" altLang="zh-CN" sz="2000" b="1" dirty="0"/>
          </a:p>
        </p:txBody>
      </p:sp>
      <p:sp>
        <p:nvSpPr>
          <p:cNvPr id="20" name="文本框 19"/>
          <p:cNvSpPr txBox="1"/>
          <p:nvPr/>
        </p:nvSpPr>
        <p:spPr>
          <a:xfrm>
            <a:off x="7670512" y="2216828"/>
            <a:ext cx="19971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192.168.16.128/26</a:t>
            </a:r>
            <a:endParaRPr lang="en-US" altLang="zh-CN" sz="20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2035100" y="2131282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329614" y="2085838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Fa0</a:t>
            </a:r>
            <a:endParaRPr lang="en-US" altLang="zh-CN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4725311" y="685800"/>
            <a:ext cx="274143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8.  </a:t>
            </a:r>
            <a:r>
              <a:rPr lang="zh-CN" altLang="en-US" sz="2400" b="1" dirty="0"/>
              <a:t>网络连通性测试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1" name="20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1119" y="3077380"/>
            <a:ext cx="3309761" cy="1387325"/>
          </a:xfrm>
          <a:prstGeom prst="rect">
            <a:avLst/>
          </a:prstGeom>
        </p:spPr>
      </p:pic>
      <p:grpSp>
        <p:nvGrpSpPr>
          <p:cNvPr id="26" name="组合 25"/>
          <p:cNvGrpSpPr/>
          <p:nvPr/>
        </p:nvGrpSpPr>
        <p:grpSpPr>
          <a:xfrm>
            <a:off x="4878450" y="2306179"/>
            <a:ext cx="3258944" cy="771201"/>
            <a:chOff x="10167773" y="1392832"/>
            <a:chExt cx="3258944" cy="771201"/>
          </a:xfrm>
        </p:grpSpPr>
        <p:cxnSp>
          <p:nvCxnSpPr>
            <p:cNvPr id="27" name="直接箭头连接符 26"/>
            <p:cNvCxnSpPr/>
            <p:nvPr/>
          </p:nvCxnSpPr>
          <p:spPr>
            <a:xfrm>
              <a:off x="11544809" y="1792942"/>
              <a:ext cx="0" cy="371091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/>
            <p:cNvSpPr txBox="1"/>
            <p:nvPr/>
          </p:nvSpPr>
          <p:spPr>
            <a:xfrm>
              <a:off x="10167773" y="1392832"/>
              <a:ext cx="32589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切换到“实时”工作模式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/>
        </p:nvSpPr>
        <p:spPr>
          <a:xfrm>
            <a:off x="2035100" y="2131282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28" name="文本框 27"/>
          <p:cNvSpPr txBox="1"/>
          <p:nvPr/>
        </p:nvSpPr>
        <p:spPr>
          <a:xfrm>
            <a:off x="9329614" y="2085838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21" name="文本框 20"/>
          <p:cNvSpPr txBox="1"/>
          <p:nvPr/>
        </p:nvSpPr>
        <p:spPr>
          <a:xfrm>
            <a:off x="4725311" y="685800"/>
            <a:ext cx="274143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8.  </a:t>
            </a:r>
            <a:r>
              <a:rPr lang="zh-CN" altLang="en-US" sz="2400" b="1" dirty="0"/>
              <a:t>网络连通性测试</a:t>
            </a:r>
            <a:endParaRPr lang="en-US" altLang="zh-CN" sz="2400" b="1" dirty="0"/>
          </a:p>
        </p:txBody>
      </p:sp>
      <p:sp>
        <p:nvSpPr>
          <p:cNvPr id="46" name="文本框 45"/>
          <p:cNvSpPr txBox="1"/>
          <p:nvPr/>
        </p:nvSpPr>
        <p:spPr>
          <a:xfrm>
            <a:off x="243833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192.168.16.1/25</a:t>
            </a:r>
            <a:endParaRPr lang="en-US" altLang="zh-CN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243833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192.168.16.126</a:t>
            </a:r>
            <a:endParaRPr lang="en-US" altLang="zh-CN" b="1" dirty="0"/>
          </a:p>
        </p:txBody>
      </p:sp>
      <p:sp>
        <p:nvSpPr>
          <p:cNvPr id="53" name="文本框 52"/>
          <p:cNvSpPr txBox="1"/>
          <p:nvPr/>
        </p:nvSpPr>
        <p:spPr>
          <a:xfrm>
            <a:off x="203805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192.168.16.126/25</a:t>
            </a:r>
            <a:endParaRPr lang="en-US" altLang="zh-CN" b="1" dirty="0"/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6292355" y="4129355"/>
            <a:ext cx="3797032" cy="157349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2094813" y="4118803"/>
            <a:ext cx="3797030" cy="157349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0147084" y="2057849"/>
            <a:ext cx="0" cy="17324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028615" y="2057849"/>
            <a:ext cx="0" cy="17324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2243241" y="3840969"/>
            <a:ext cx="7697844" cy="130472"/>
            <a:chOff x="2243241" y="3518631"/>
            <a:chExt cx="7697844" cy="130472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5974300" y="3518631"/>
              <a:ext cx="396678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组合 22"/>
            <p:cNvGrpSpPr/>
            <p:nvPr/>
          </p:nvGrpSpPr>
          <p:grpSpPr>
            <a:xfrm>
              <a:off x="2243241" y="3518631"/>
              <a:ext cx="3974459" cy="130472"/>
              <a:chOff x="2243241" y="3518631"/>
              <a:chExt cx="3974459" cy="130472"/>
            </a:xfrm>
          </p:grpSpPr>
          <p:cxnSp>
            <p:nvCxnSpPr>
              <p:cNvPr id="24" name="直接连接符 23"/>
              <p:cNvCxnSpPr/>
              <p:nvPr/>
            </p:nvCxnSpPr>
            <p:spPr>
              <a:xfrm>
                <a:off x="2243241" y="3649103"/>
                <a:ext cx="3966785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>
                <a:off x="5974300" y="3518631"/>
                <a:ext cx="243400" cy="130472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3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204" y="1627865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56" y="3747746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805345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pic>
        <p:nvPicPr>
          <p:cNvPr id="2" name="20 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993" y="5512045"/>
            <a:ext cx="530013" cy="381609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031" y="3747746"/>
            <a:ext cx="530013" cy="381609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471" y="1627865"/>
            <a:ext cx="539132" cy="45797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432483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5593403" y="5872552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0461954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59369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2041942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2356665" y="3592754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38" name="文本框 37"/>
          <p:cNvSpPr txBox="1"/>
          <p:nvPr/>
        </p:nvSpPr>
        <p:spPr>
          <a:xfrm>
            <a:off x="4874272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6575276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984512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3" name="文本框 42"/>
          <p:cNvSpPr txBox="1"/>
          <p:nvPr/>
        </p:nvSpPr>
        <p:spPr>
          <a:xfrm>
            <a:off x="8739711" y="3490415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44" name="文本框 43"/>
          <p:cNvSpPr txBox="1"/>
          <p:nvPr/>
        </p:nvSpPr>
        <p:spPr>
          <a:xfrm>
            <a:off x="9308006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696282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192.168.16.129/26</a:t>
            </a:r>
            <a:endParaRPr lang="en-US" altLang="zh-CN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696282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192.168.16.190</a:t>
            </a:r>
            <a:endParaRPr lang="en-US" altLang="zh-CN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749387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192.168.16.190/26</a:t>
            </a:r>
            <a:endParaRPr lang="en-US" altLang="zh-CN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2490488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30.0.0.1/30</a:t>
            </a:r>
            <a:endParaRPr lang="en-US" altLang="zh-CN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422883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10.0.0.1/30</a:t>
            </a:r>
            <a:endParaRPr lang="en-US" altLang="zh-CN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3700625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10.0.0.2/30</a:t>
            </a:r>
            <a:endParaRPr lang="en-US" altLang="zh-CN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6585858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20.0.0.2/30</a:t>
            </a:r>
            <a:endParaRPr lang="en-US" altLang="zh-CN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9845122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20.0.0.1/30</a:t>
            </a:r>
            <a:endParaRPr lang="en-US" altLang="zh-CN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7730959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30.0.0.2/30</a:t>
            </a:r>
            <a:endParaRPr lang="en-US" altLang="zh-CN" b="1" dirty="0"/>
          </a:p>
        </p:txBody>
      </p:sp>
      <p:sp>
        <p:nvSpPr>
          <p:cNvPr id="45" name="等腰三角形 44"/>
          <p:cNvSpPr/>
          <p:nvPr/>
        </p:nvSpPr>
        <p:spPr>
          <a:xfrm>
            <a:off x="1968014" y="332073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等腰三角形 47"/>
          <p:cNvSpPr/>
          <p:nvPr/>
        </p:nvSpPr>
        <p:spPr>
          <a:xfrm>
            <a:off x="1968014" y="23248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10090287" y="332073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10090287" y="23248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2479332" y="39184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521550" y="380415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2357854" y="41799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5430481" y="545829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6621019" y="545829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9828893" y="415348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864130" y="2216828"/>
            <a:ext cx="1733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192.168.16.0/25</a:t>
            </a:r>
            <a:endParaRPr lang="en-US" altLang="zh-CN" sz="20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5220727" y="3985021"/>
            <a:ext cx="1753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30.0.0.0/30</a:t>
            </a:r>
            <a:endParaRPr lang="en-US" altLang="zh-CN" sz="20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3879484" y="4228173"/>
            <a:ext cx="13185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10.0.0.0/30</a:t>
            </a:r>
            <a:endParaRPr lang="en-US" altLang="zh-CN" sz="2000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68899" y="4228173"/>
            <a:ext cx="13236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20.0.0.0/30</a:t>
            </a:r>
            <a:endParaRPr lang="en-US" altLang="zh-CN" sz="2000" b="1" dirty="0"/>
          </a:p>
        </p:txBody>
      </p:sp>
      <p:sp>
        <p:nvSpPr>
          <p:cNvPr id="20" name="文本框 19"/>
          <p:cNvSpPr txBox="1"/>
          <p:nvPr/>
        </p:nvSpPr>
        <p:spPr>
          <a:xfrm>
            <a:off x="7670512" y="2216828"/>
            <a:ext cx="19971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192.168.16.128/26</a:t>
            </a:r>
            <a:endParaRPr lang="en-US" altLang="zh-CN" sz="2000" b="1" dirty="0"/>
          </a:p>
        </p:txBody>
      </p:sp>
      <p:sp>
        <p:nvSpPr>
          <p:cNvPr id="11" name="矩形 10"/>
          <p:cNvSpPr/>
          <p:nvPr/>
        </p:nvSpPr>
        <p:spPr>
          <a:xfrm>
            <a:off x="304039" y="2164520"/>
            <a:ext cx="3356640" cy="19945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</a:rPr>
              <a:t>         在计算机</a:t>
            </a:r>
            <a:r>
              <a:rPr lang="en-US" altLang="zh-CN" sz="2000" b="1" dirty="0">
                <a:solidFill>
                  <a:schemeClr val="bg1"/>
                </a:solidFill>
              </a:rPr>
              <a:t>PC0</a:t>
            </a:r>
            <a:r>
              <a:rPr lang="zh-CN" altLang="en-US" sz="2000" b="1" dirty="0">
                <a:solidFill>
                  <a:schemeClr val="bg1"/>
                </a:solidFill>
              </a:rPr>
              <a:t>的命令行使用“</a:t>
            </a:r>
            <a:r>
              <a:rPr lang="en-US" altLang="zh-CN" sz="2000" b="1" dirty="0">
                <a:solidFill>
                  <a:schemeClr val="bg1"/>
                </a:solidFill>
              </a:rPr>
              <a:t>ping</a:t>
            </a:r>
            <a:r>
              <a:rPr lang="zh-CN" altLang="en-US" sz="2000" b="1" dirty="0">
                <a:solidFill>
                  <a:schemeClr val="bg1"/>
                </a:solidFill>
              </a:rPr>
              <a:t>”命令，测试</a:t>
            </a:r>
            <a:r>
              <a:rPr lang="en-US" altLang="zh-CN" sz="2000" b="1" dirty="0">
                <a:solidFill>
                  <a:schemeClr val="bg1"/>
                </a:solidFill>
              </a:rPr>
              <a:t>PC0</a:t>
            </a:r>
            <a:r>
              <a:rPr lang="zh-CN" altLang="en-US" sz="2000" b="1" dirty="0">
                <a:solidFill>
                  <a:schemeClr val="bg1"/>
                </a:solidFill>
              </a:rPr>
              <a:t>与</a:t>
            </a:r>
            <a:r>
              <a:rPr lang="en-US" altLang="zh-CN" sz="2000" b="1" dirty="0">
                <a:solidFill>
                  <a:schemeClr val="bg1"/>
                </a:solidFill>
              </a:rPr>
              <a:t>PC1</a:t>
            </a:r>
            <a:r>
              <a:rPr lang="zh-CN" altLang="en-US" sz="2000" b="1" dirty="0">
                <a:solidFill>
                  <a:schemeClr val="bg1"/>
                </a:solidFill>
              </a:rPr>
              <a:t>之间的连通性。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cxnSp>
        <p:nvCxnSpPr>
          <p:cNvPr id="26" name="连接符: 曲线 25"/>
          <p:cNvCxnSpPr/>
          <p:nvPr/>
        </p:nvCxnSpPr>
        <p:spPr>
          <a:xfrm rot="5400000" flipH="1" flipV="1">
            <a:off x="6122903" y="-2407268"/>
            <a:ext cx="12700" cy="8070267"/>
          </a:xfrm>
          <a:prstGeom prst="curvedConnector3">
            <a:avLst>
              <a:gd name="adj1" fmla="val 1800000"/>
            </a:avLst>
          </a:prstGeom>
          <a:ln w="25400">
            <a:solidFill>
              <a:schemeClr val="accent4"/>
            </a:solidFill>
            <a:prstDash val="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4725311" y="685800"/>
            <a:ext cx="274143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8.  </a:t>
            </a:r>
            <a:r>
              <a:rPr lang="zh-CN" altLang="en-US" sz="2400" b="1" dirty="0"/>
              <a:t>网络连通性测试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28" name="20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435409"/>
            <a:ext cx="11591032" cy="3999110"/>
          </a:xfrm>
          <a:prstGeom prst="rect">
            <a:avLst/>
          </a:prstGeom>
        </p:spPr>
      </p:pic>
      <p:sp>
        <p:nvSpPr>
          <p:cNvPr id="29" name="矩形 28"/>
          <p:cNvSpPr/>
          <p:nvPr/>
        </p:nvSpPr>
        <p:spPr>
          <a:xfrm>
            <a:off x="421531" y="2448980"/>
            <a:ext cx="5473431" cy="2291634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5894962" y="2377643"/>
            <a:ext cx="57004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//  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测试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PC0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与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PC1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的连通性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//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（不同网络，需要经过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Router0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、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Router2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、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Router1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的转发）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//  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在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Router1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给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PC1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进行直接交付时，需要首先使用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ARP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获取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//  PC1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的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MAC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地址，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Router1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会丢弃待转发的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IP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数据报。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33" name="直接箭头连接符 32"/>
          <p:cNvCxnSpPr/>
          <p:nvPr/>
        </p:nvCxnSpPr>
        <p:spPr>
          <a:xfrm flipH="1">
            <a:off x="2256817" y="3054485"/>
            <a:ext cx="3696511" cy="155643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prstDash val="sys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313432" y="5505856"/>
            <a:ext cx="11582400" cy="892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</a:rPr>
              <a:t>         如果测试失败，请检查网络拓扑、主机的</a:t>
            </a:r>
            <a:r>
              <a:rPr lang="en-US" altLang="zh-CN" b="1" dirty="0">
                <a:solidFill>
                  <a:schemeClr val="bg1"/>
                </a:solidFill>
              </a:rPr>
              <a:t>IP</a:t>
            </a:r>
            <a:r>
              <a:rPr lang="zh-CN" altLang="en-US" b="1" dirty="0">
                <a:solidFill>
                  <a:schemeClr val="bg1"/>
                </a:solidFill>
              </a:rPr>
              <a:t>地址、子网掩码以及默认网关的</a:t>
            </a:r>
            <a:r>
              <a:rPr lang="en-US" altLang="zh-CN" b="1" dirty="0">
                <a:solidFill>
                  <a:schemeClr val="bg1"/>
                </a:solidFill>
              </a:rPr>
              <a:t>IP</a:t>
            </a:r>
            <a:r>
              <a:rPr lang="zh-CN" altLang="en-US" b="1" dirty="0">
                <a:solidFill>
                  <a:schemeClr val="bg1"/>
                </a:solidFill>
              </a:rPr>
              <a:t>地址配置、路由器相关接口的</a:t>
            </a:r>
            <a:r>
              <a:rPr lang="en-US" altLang="zh-CN" b="1" dirty="0">
                <a:solidFill>
                  <a:schemeClr val="bg1"/>
                </a:solidFill>
              </a:rPr>
              <a:t>IP</a:t>
            </a:r>
            <a:r>
              <a:rPr lang="zh-CN" altLang="en-US" b="1" dirty="0">
                <a:solidFill>
                  <a:schemeClr val="bg1"/>
                </a:solidFill>
              </a:rPr>
              <a:t>地址和子网掩码配置、路由器的</a:t>
            </a:r>
            <a:r>
              <a:rPr lang="en-US" altLang="zh-CN" b="1" dirty="0">
                <a:solidFill>
                  <a:schemeClr val="bg1"/>
                </a:solidFill>
              </a:rPr>
              <a:t>OSPF</a:t>
            </a:r>
            <a:r>
              <a:rPr lang="zh-CN" altLang="en-US" b="1" dirty="0">
                <a:solidFill>
                  <a:schemeClr val="bg1"/>
                </a:solidFill>
              </a:rPr>
              <a:t>协议启用、网络设备相关接口的状态是否正确。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/>
      <p:bldP spid="3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2442556" y="685800"/>
            <a:ext cx="7330499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9.  </a:t>
            </a:r>
            <a:r>
              <a:rPr lang="zh-CN" altLang="en-US" sz="2400" b="1" dirty="0"/>
              <a:t>验证</a:t>
            </a:r>
            <a:r>
              <a:rPr lang="en-US" altLang="zh-CN" sz="2400" b="1" dirty="0"/>
              <a:t>OSPF</a:t>
            </a:r>
            <a:r>
              <a:rPr lang="zh-CN" altLang="en-US" sz="2400" b="1" dirty="0"/>
              <a:t>认为好的路由是“路径代价最少”的路由</a:t>
            </a:r>
            <a:endParaRPr lang="en-US" altLang="zh-CN" sz="2400" b="1" dirty="0"/>
          </a:p>
        </p:txBody>
      </p:sp>
      <p:sp>
        <p:nvSpPr>
          <p:cNvPr id="46" name="文本框 45"/>
          <p:cNvSpPr txBox="1"/>
          <p:nvPr/>
        </p:nvSpPr>
        <p:spPr>
          <a:xfrm>
            <a:off x="243833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192.168.16.1/25</a:t>
            </a:r>
            <a:endParaRPr lang="en-US" altLang="zh-CN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243833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192.168.16.126</a:t>
            </a:r>
            <a:endParaRPr lang="en-US" altLang="zh-CN" b="1" dirty="0"/>
          </a:p>
        </p:txBody>
      </p:sp>
      <p:sp>
        <p:nvSpPr>
          <p:cNvPr id="53" name="文本框 52"/>
          <p:cNvSpPr txBox="1"/>
          <p:nvPr/>
        </p:nvSpPr>
        <p:spPr>
          <a:xfrm>
            <a:off x="203805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192.168.16.126/25</a:t>
            </a:r>
            <a:endParaRPr lang="en-US" altLang="zh-CN" b="1" dirty="0"/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6292355" y="4129355"/>
            <a:ext cx="3797032" cy="157349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2094813" y="4118803"/>
            <a:ext cx="3797030" cy="157349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0147084" y="2057849"/>
            <a:ext cx="0" cy="17324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028615" y="2057849"/>
            <a:ext cx="0" cy="17324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2243241" y="3840969"/>
            <a:ext cx="7697844" cy="130472"/>
            <a:chOff x="2243241" y="3518631"/>
            <a:chExt cx="7697844" cy="130472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5974300" y="3518631"/>
              <a:ext cx="396678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组合 22"/>
            <p:cNvGrpSpPr/>
            <p:nvPr/>
          </p:nvGrpSpPr>
          <p:grpSpPr>
            <a:xfrm>
              <a:off x="2243241" y="3518631"/>
              <a:ext cx="3974459" cy="130472"/>
              <a:chOff x="2243241" y="3518631"/>
              <a:chExt cx="3974459" cy="130472"/>
            </a:xfrm>
          </p:grpSpPr>
          <p:cxnSp>
            <p:nvCxnSpPr>
              <p:cNvPr id="24" name="直接连接符 23"/>
              <p:cNvCxnSpPr/>
              <p:nvPr/>
            </p:nvCxnSpPr>
            <p:spPr>
              <a:xfrm>
                <a:off x="2243241" y="3649103"/>
                <a:ext cx="3966785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>
                <a:off x="5974300" y="3518631"/>
                <a:ext cx="243400" cy="130472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3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204" y="1627865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56" y="3747746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805345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pic>
        <p:nvPicPr>
          <p:cNvPr id="2" name="20 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993" y="5512045"/>
            <a:ext cx="530013" cy="381609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031" y="3747746"/>
            <a:ext cx="530013" cy="381609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471" y="1627865"/>
            <a:ext cx="539132" cy="45797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432483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5593403" y="5872552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0461954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59369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2041942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2356665" y="3592754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38" name="文本框 37"/>
          <p:cNvSpPr txBox="1"/>
          <p:nvPr/>
        </p:nvSpPr>
        <p:spPr>
          <a:xfrm>
            <a:off x="4874272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6575276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984512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3" name="文本框 42"/>
          <p:cNvSpPr txBox="1"/>
          <p:nvPr/>
        </p:nvSpPr>
        <p:spPr>
          <a:xfrm>
            <a:off x="8739711" y="3490415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44" name="文本框 43"/>
          <p:cNvSpPr txBox="1"/>
          <p:nvPr/>
        </p:nvSpPr>
        <p:spPr>
          <a:xfrm>
            <a:off x="9308006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696282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192.168.16.129/26</a:t>
            </a:r>
            <a:endParaRPr lang="en-US" altLang="zh-CN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696282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192.168.16.190</a:t>
            </a:r>
            <a:endParaRPr lang="en-US" altLang="zh-CN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749387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192.168.16.190/26</a:t>
            </a:r>
            <a:endParaRPr lang="en-US" altLang="zh-CN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2490488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30.0.0.1/30</a:t>
            </a:r>
            <a:endParaRPr lang="en-US" altLang="zh-CN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422883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10.0.0.1/30</a:t>
            </a:r>
            <a:endParaRPr lang="en-US" altLang="zh-CN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3700625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10.0.0.2/30</a:t>
            </a:r>
            <a:endParaRPr lang="en-US" altLang="zh-CN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6585858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20.0.0.2/30</a:t>
            </a:r>
            <a:endParaRPr lang="en-US" altLang="zh-CN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9845122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20.0.0.1/30</a:t>
            </a:r>
            <a:endParaRPr lang="en-US" altLang="zh-CN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7730959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30.0.0.2/30</a:t>
            </a:r>
            <a:endParaRPr lang="en-US" altLang="zh-CN" b="1" dirty="0"/>
          </a:p>
        </p:txBody>
      </p:sp>
      <p:sp>
        <p:nvSpPr>
          <p:cNvPr id="45" name="等腰三角形 44"/>
          <p:cNvSpPr/>
          <p:nvPr/>
        </p:nvSpPr>
        <p:spPr>
          <a:xfrm>
            <a:off x="1968014" y="332073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等腰三角形 47"/>
          <p:cNvSpPr/>
          <p:nvPr/>
        </p:nvSpPr>
        <p:spPr>
          <a:xfrm>
            <a:off x="1968014" y="23248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10090287" y="332073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10090287" y="23248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2479332" y="39184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521550" y="380415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2357854" y="41799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5430481" y="545829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6621019" y="545829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9828893" y="415348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864130" y="2216828"/>
            <a:ext cx="1733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192.168.16.0/25</a:t>
            </a:r>
            <a:endParaRPr lang="en-US" altLang="zh-CN" sz="20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5220727" y="3985021"/>
            <a:ext cx="1753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30.0.0.0/30</a:t>
            </a:r>
            <a:endParaRPr lang="en-US" altLang="zh-CN" sz="20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3879484" y="4228173"/>
            <a:ext cx="13185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10.0.0.0/30</a:t>
            </a:r>
            <a:endParaRPr lang="en-US" altLang="zh-CN" sz="2000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68899" y="4228173"/>
            <a:ext cx="13236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20.0.0.0/30</a:t>
            </a:r>
            <a:endParaRPr lang="en-US" altLang="zh-CN" sz="2000" b="1" dirty="0"/>
          </a:p>
        </p:txBody>
      </p:sp>
      <p:sp>
        <p:nvSpPr>
          <p:cNvPr id="20" name="文本框 19"/>
          <p:cNvSpPr txBox="1"/>
          <p:nvPr/>
        </p:nvSpPr>
        <p:spPr>
          <a:xfrm>
            <a:off x="7670512" y="2216828"/>
            <a:ext cx="19971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192.168.16.128/26</a:t>
            </a:r>
            <a:endParaRPr lang="en-US" altLang="zh-CN" sz="20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2035100" y="2131282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329614" y="2085838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27" name="矩形 26"/>
          <p:cNvSpPr/>
          <p:nvPr/>
        </p:nvSpPr>
        <p:spPr>
          <a:xfrm>
            <a:off x="2398279" y="1299215"/>
            <a:ext cx="7396032" cy="8202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</a:rPr>
              <a:t>思科路由器中，</a:t>
            </a:r>
            <a:r>
              <a:rPr lang="en-US" altLang="zh-CN" b="1" dirty="0">
                <a:solidFill>
                  <a:schemeClr val="bg1"/>
                </a:solidFill>
              </a:rPr>
              <a:t>OSPF</a:t>
            </a:r>
            <a:r>
              <a:rPr lang="zh-CN" altLang="en-US" b="1" dirty="0">
                <a:solidFill>
                  <a:schemeClr val="bg1"/>
                </a:solidFill>
              </a:rPr>
              <a:t>协议计算代价的方法是：</a:t>
            </a:r>
            <a:r>
              <a:rPr lang="en-US" altLang="zh-CN" b="1" dirty="0">
                <a:solidFill>
                  <a:schemeClr val="bg1"/>
                </a:solidFill>
              </a:rPr>
              <a:t>100Mb/s  </a:t>
            </a:r>
            <a:r>
              <a:rPr lang="zh-CN" altLang="en-US" b="1" dirty="0">
                <a:solidFill>
                  <a:schemeClr val="bg1"/>
                </a:solidFill>
              </a:rPr>
              <a:t>除以  链路带宽</a:t>
            </a:r>
            <a:endParaRPr lang="en-US" altLang="zh-CN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</a:rPr>
              <a:t>计算结果小于</a:t>
            </a:r>
            <a:r>
              <a:rPr lang="en-US" altLang="zh-CN" b="1" dirty="0">
                <a:solidFill>
                  <a:schemeClr val="bg1"/>
                </a:solidFill>
              </a:rPr>
              <a:t>1</a:t>
            </a:r>
            <a:r>
              <a:rPr lang="zh-CN" altLang="en-US" b="1" dirty="0">
                <a:solidFill>
                  <a:schemeClr val="bg1"/>
                </a:solidFill>
              </a:rPr>
              <a:t>的值仍记为</a:t>
            </a:r>
            <a:r>
              <a:rPr lang="en-US" altLang="zh-CN" b="1" dirty="0">
                <a:solidFill>
                  <a:schemeClr val="bg1"/>
                </a:solidFill>
              </a:rPr>
              <a:t>1</a:t>
            </a:r>
            <a:r>
              <a:rPr lang="zh-CN" altLang="en-US" b="1" dirty="0">
                <a:solidFill>
                  <a:schemeClr val="bg1"/>
                </a:solidFill>
              </a:rPr>
              <a:t>；大于</a:t>
            </a:r>
            <a:r>
              <a:rPr lang="en-US" altLang="zh-CN" b="1" dirty="0">
                <a:solidFill>
                  <a:schemeClr val="bg1"/>
                </a:solidFill>
              </a:rPr>
              <a:t>1</a:t>
            </a:r>
            <a:r>
              <a:rPr lang="zh-CN" altLang="en-US" b="1" dirty="0">
                <a:solidFill>
                  <a:schemeClr val="bg1"/>
                </a:solidFill>
              </a:rPr>
              <a:t>且有小数的，舍去小数。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5497" y="2384189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100Mb/s</a:t>
            </a:r>
            <a:endParaRPr lang="en-US" altLang="zh-CN" b="1" dirty="0"/>
          </a:p>
        </p:txBody>
      </p:sp>
      <p:sp>
        <p:nvSpPr>
          <p:cNvPr id="29" name="文本框 28"/>
          <p:cNvSpPr txBox="1"/>
          <p:nvPr/>
        </p:nvSpPr>
        <p:spPr>
          <a:xfrm>
            <a:off x="95497" y="2709407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1</a:t>
            </a:r>
            <a:endParaRPr lang="en-US" altLang="zh-CN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2145170" y="4932251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1000Mb/s</a:t>
            </a:r>
            <a:endParaRPr lang="en-US" altLang="zh-CN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2145170" y="5257469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1</a:t>
            </a:r>
            <a:endParaRPr lang="en-US" altLang="zh-CN" b="1" dirty="0"/>
          </a:p>
        </p:txBody>
      </p:sp>
      <p:sp>
        <p:nvSpPr>
          <p:cNvPr id="33" name="文本框 32"/>
          <p:cNvSpPr txBox="1"/>
          <p:nvPr/>
        </p:nvSpPr>
        <p:spPr>
          <a:xfrm>
            <a:off x="8043388" y="4932251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1000Mb/s</a:t>
            </a:r>
            <a:endParaRPr lang="en-US" altLang="zh-CN" b="1" dirty="0"/>
          </a:p>
        </p:txBody>
      </p:sp>
      <p:sp>
        <p:nvSpPr>
          <p:cNvPr id="34" name="文本框 33"/>
          <p:cNvSpPr txBox="1"/>
          <p:nvPr/>
        </p:nvSpPr>
        <p:spPr>
          <a:xfrm>
            <a:off x="8043388" y="5257469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1</a:t>
            </a:r>
            <a:endParaRPr lang="en-US" altLang="zh-CN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10189151" y="2384189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100Mb/s</a:t>
            </a:r>
            <a:endParaRPr lang="en-US" altLang="zh-CN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10189151" y="2709407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1</a:t>
            </a:r>
            <a:endParaRPr lang="en-US" altLang="zh-CN" b="1" dirty="0"/>
          </a:p>
        </p:txBody>
      </p:sp>
      <p:sp>
        <p:nvSpPr>
          <p:cNvPr id="62" name="文本框 61"/>
          <p:cNvSpPr txBox="1"/>
          <p:nvPr/>
        </p:nvSpPr>
        <p:spPr>
          <a:xfrm>
            <a:off x="5093069" y="2957175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1.544Mb/s</a:t>
            </a:r>
            <a:endParaRPr lang="en-US" altLang="zh-CN" b="1" dirty="0"/>
          </a:p>
        </p:txBody>
      </p:sp>
      <p:sp>
        <p:nvSpPr>
          <p:cNvPr id="63" name="文本框 62"/>
          <p:cNvSpPr txBox="1"/>
          <p:nvPr/>
        </p:nvSpPr>
        <p:spPr>
          <a:xfrm>
            <a:off x="5093069" y="3282393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64</a:t>
            </a:r>
            <a:endParaRPr lang="en-US" altLang="zh-CN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7" grpId="0" animBg="1"/>
      <p:bldP spid="28" grpId="0"/>
      <p:bldP spid="29" grpId="0"/>
      <p:bldP spid="30" grpId="0"/>
      <p:bldP spid="31" grpId="0"/>
      <p:bldP spid="33" grpId="0"/>
      <p:bldP spid="34" grpId="0"/>
      <p:bldP spid="37" grpId="0"/>
      <p:bldP spid="61" grpId="0"/>
      <p:bldP spid="62" grpId="0"/>
      <p:bldP spid="6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2442556" y="685800"/>
            <a:ext cx="7330499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9.  </a:t>
            </a:r>
            <a:r>
              <a:rPr lang="zh-CN" altLang="en-US" sz="2400" b="1" dirty="0"/>
              <a:t>验证</a:t>
            </a:r>
            <a:r>
              <a:rPr lang="en-US" altLang="zh-CN" sz="2400" b="1" dirty="0"/>
              <a:t>OSPF</a:t>
            </a:r>
            <a:r>
              <a:rPr lang="zh-CN" altLang="en-US" sz="2400" b="1" dirty="0"/>
              <a:t>认为好的路由是“路径代价最少”的路由</a:t>
            </a:r>
            <a:endParaRPr lang="en-US" altLang="zh-CN" sz="2400" b="1" dirty="0"/>
          </a:p>
        </p:txBody>
      </p:sp>
      <p:sp>
        <p:nvSpPr>
          <p:cNvPr id="53" name="文本框 52"/>
          <p:cNvSpPr txBox="1"/>
          <p:nvPr/>
        </p:nvSpPr>
        <p:spPr>
          <a:xfrm>
            <a:off x="203805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192.168.16.126/25</a:t>
            </a:r>
            <a:endParaRPr lang="en-US" altLang="zh-CN" b="1" dirty="0"/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6292355" y="4129355"/>
            <a:ext cx="3797032" cy="157349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2094813" y="4118803"/>
            <a:ext cx="3797030" cy="157349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0147084" y="2057849"/>
            <a:ext cx="0" cy="17324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028615" y="2057849"/>
            <a:ext cx="0" cy="17324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2243241" y="3840969"/>
            <a:ext cx="7697844" cy="130472"/>
            <a:chOff x="2243241" y="3518631"/>
            <a:chExt cx="7697844" cy="130472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5974300" y="3518631"/>
              <a:ext cx="396678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组合 22"/>
            <p:cNvGrpSpPr/>
            <p:nvPr/>
          </p:nvGrpSpPr>
          <p:grpSpPr>
            <a:xfrm>
              <a:off x="2243241" y="3518631"/>
              <a:ext cx="3974459" cy="130472"/>
              <a:chOff x="2243241" y="3518631"/>
              <a:chExt cx="3974459" cy="130472"/>
            </a:xfrm>
          </p:grpSpPr>
          <p:cxnSp>
            <p:nvCxnSpPr>
              <p:cNvPr id="24" name="直接连接符 23"/>
              <p:cNvCxnSpPr/>
              <p:nvPr/>
            </p:nvCxnSpPr>
            <p:spPr>
              <a:xfrm>
                <a:off x="2243241" y="3649103"/>
                <a:ext cx="3966785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>
                <a:off x="5974300" y="3518631"/>
                <a:ext cx="243400" cy="130472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3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204" y="1627865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56" y="3747746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805345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pic>
        <p:nvPicPr>
          <p:cNvPr id="2" name="20 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993" y="5512045"/>
            <a:ext cx="530013" cy="381609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031" y="3747746"/>
            <a:ext cx="530013" cy="381609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471" y="1627865"/>
            <a:ext cx="539132" cy="45797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432483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5593403" y="5872552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0461954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59369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2041942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2356665" y="3592754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38" name="文本框 37"/>
          <p:cNvSpPr txBox="1"/>
          <p:nvPr/>
        </p:nvSpPr>
        <p:spPr>
          <a:xfrm>
            <a:off x="4874272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6575276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984512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3" name="文本框 42"/>
          <p:cNvSpPr txBox="1"/>
          <p:nvPr/>
        </p:nvSpPr>
        <p:spPr>
          <a:xfrm>
            <a:off x="8739711" y="3490415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44" name="文本框 43"/>
          <p:cNvSpPr txBox="1"/>
          <p:nvPr/>
        </p:nvSpPr>
        <p:spPr>
          <a:xfrm>
            <a:off x="9308006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749387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192.168.16.190/26</a:t>
            </a:r>
            <a:endParaRPr lang="en-US" altLang="zh-CN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2490488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30.0.0.1/30</a:t>
            </a:r>
            <a:endParaRPr lang="en-US" altLang="zh-CN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422883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10.0.0.1/30</a:t>
            </a:r>
            <a:endParaRPr lang="en-US" altLang="zh-CN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3700625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10.0.0.2/30</a:t>
            </a:r>
            <a:endParaRPr lang="en-US" altLang="zh-CN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6585858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20.0.0.2/30</a:t>
            </a:r>
            <a:endParaRPr lang="en-US" altLang="zh-CN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9845122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20.0.0.1/30</a:t>
            </a:r>
            <a:endParaRPr lang="en-US" altLang="zh-CN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7730959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30.0.0.2/30</a:t>
            </a:r>
            <a:endParaRPr lang="en-US" altLang="zh-CN" b="1" dirty="0"/>
          </a:p>
        </p:txBody>
      </p:sp>
      <p:sp>
        <p:nvSpPr>
          <p:cNvPr id="45" name="等腰三角形 44"/>
          <p:cNvSpPr/>
          <p:nvPr/>
        </p:nvSpPr>
        <p:spPr>
          <a:xfrm>
            <a:off x="1968014" y="332073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等腰三角形 47"/>
          <p:cNvSpPr/>
          <p:nvPr/>
        </p:nvSpPr>
        <p:spPr>
          <a:xfrm>
            <a:off x="1968014" y="23248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10090287" y="332073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10090287" y="23248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2479332" y="39184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521550" y="380415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2357854" y="41799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5430481" y="545829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6621019" y="545829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9828893" y="415348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864130" y="2216828"/>
            <a:ext cx="1733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192.168.16.0/25</a:t>
            </a:r>
            <a:endParaRPr lang="en-US" altLang="zh-CN" sz="20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5220727" y="3985021"/>
            <a:ext cx="1753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30.0.0.0/30</a:t>
            </a:r>
            <a:endParaRPr lang="en-US" altLang="zh-CN" sz="20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3879484" y="4228173"/>
            <a:ext cx="13185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10.0.0.0/30</a:t>
            </a:r>
            <a:endParaRPr lang="en-US" altLang="zh-CN" sz="2000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68899" y="4228173"/>
            <a:ext cx="13236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20.0.0.0/30</a:t>
            </a:r>
            <a:endParaRPr lang="en-US" altLang="zh-CN" sz="2000" b="1" dirty="0"/>
          </a:p>
        </p:txBody>
      </p:sp>
      <p:sp>
        <p:nvSpPr>
          <p:cNvPr id="20" name="文本框 19"/>
          <p:cNvSpPr txBox="1"/>
          <p:nvPr/>
        </p:nvSpPr>
        <p:spPr>
          <a:xfrm>
            <a:off x="7670512" y="2216828"/>
            <a:ext cx="19971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192.168.16.128/26</a:t>
            </a:r>
            <a:endParaRPr lang="en-US" altLang="zh-CN" sz="20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2035100" y="2131282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329614" y="2085838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29" name="文本框 28"/>
          <p:cNvSpPr txBox="1"/>
          <p:nvPr/>
        </p:nvSpPr>
        <p:spPr>
          <a:xfrm>
            <a:off x="95497" y="2709407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1</a:t>
            </a:r>
            <a:endParaRPr lang="en-US" altLang="zh-CN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2145170" y="5257469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1</a:t>
            </a:r>
            <a:endParaRPr lang="en-US" altLang="zh-CN" b="1" dirty="0"/>
          </a:p>
        </p:txBody>
      </p:sp>
      <p:sp>
        <p:nvSpPr>
          <p:cNvPr id="34" name="文本框 33"/>
          <p:cNvSpPr txBox="1"/>
          <p:nvPr/>
        </p:nvSpPr>
        <p:spPr>
          <a:xfrm>
            <a:off x="8043388" y="5257469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1</a:t>
            </a:r>
            <a:endParaRPr lang="en-US" altLang="zh-CN" b="1" dirty="0"/>
          </a:p>
        </p:txBody>
      </p:sp>
      <p:sp>
        <p:nvSpPr>
          <p:cNvPr id="61" name="文本框 60"/>
          <p:cNvSpPr txBox="1"/>
          <p:nvPr/>
        </p:nvSpPr>
        <p:spPr>
          <a:xfrm>
            <a:off x="10189151" y="2709407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1</a:t>
            </a:r>
            <a:endParaRPr lang="en-US" altLang="zh-CN" b="1" dirty="0"/>
          </a:p>
        </p:txBody>
      </p:sp>
      <p:sp>
        <p:nvSpPr>
          <p:cNvPr id="63" name="文本框 62"/>
          <p:cNvSpPr txBox="1"/>
          <p:nvPr/>
        </p:nvSpPr>
        <p:spPr>
          <a:xfrm>
            <a:off x="5093069" y="3282393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64</a:t>
            </a:r>
            <a:endParaRPr lang="en-US" altLang="zh-CN" b="1" dirty="0"/>
          </a:p>
        </p:txBody>
      </p:sp>
      <p:cxnSp>
        <p:nvCxnSpPr>
          <p:cNvPr id="64" name="直接箭头连接符 63"/>
          <p:cNvCxnSpPr/>
          <p:nvPr/>
        </p:nvCxnSpPr>
        <p:spPr>
          <a:xfrm>
            <a:off x="2171792" y="2147922"/>
            <a:ext cx="0" cy="1446178"/>
          </a:xfrm>
          <a:prstGeom prst="straightConnector1">
            <a:avLst/>
          </a:prstGeom>
          <a:ln w="63500">
            <a:solidFill>
              <a:schemeClr val="accent5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>
            <a:off x="2243241" y="3675703"/>
            <a:ext cx="7831813" cy="0"/>
          </a:xfrm>
          <a:prstGeom prst="straightConnector1">
            <a:avLst/>
          </a:prstGeom>
          <a:ln w="63500">
            <a:solidFill>
              <a:schemeClr val="accent5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 flipV="1">
            <a:off x="9971904" y="2118605"/>
            <a:ext cx="0" cy="1427693"/>
          </a:xfrm>
          <a:prstGeom prst="straightConnector1">
            <a:avLst/>
          </a:prstGeom>
          <a:ln w="63500">
            <a:solidFill>
              <a:schemeClr val="accent5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2432520" y="1435435"/>
            <a:ext cx="5064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5"/>
                </a:solidFill>
              </a:rPr>
              <a:t>PC0→Router0→Router1→PC1  </a:t>
            </a:r>
            <a:r>
              <a:rPr lang="zh-CN" altLang="en-US" sz="2000" b="1" dirty="0">
                <a:solidFill>
                  <a:schemeClr val="accent5"/>
                </a:solidFill>
              </a:rPr>
              <a:t>路径代价 </a:t>
            </a:r>
            <a:r>
              <a:rPr lang="en-US" altLang="zh-CN" sz="2000" b="1" dirty="0">
                <a:solidFill>
                  <a:schemeClr val="accent5"/>
                </a:solidFill>
              </a:rPr>
              <a:t>= 66</a:t>
            </a:r>
            <a:endParaRPr lang="zh-CN" altLang="en-US" sz="2000" b="1" dirty="0">
              <a:solidFill>
                <a:schemeClr val="accent5"/>
              </a:solidFill>
            </a:endParaRPr>
          </a:p>
        </p:txBody>
      </p:sp>
      <p:cxnSp>
        <p:nvCxnSpPr>
          <p:cNvPr id="68" name="直接箭头连接符 67"/>
          <p:cNvCxnSpPr/>
          <p:nvPr/>
        </p:nvCxnSpPr>
        <p:spPr>
          <a:xfrm>
            <a:off x="1857151" y="2169206"/>
            <a:ext cx="0" cy="1446178"/>
          </a:xfrm>
          <a:prstGeom prst="straightConnector1">
            <a:avLst/>
          </a:prstGeom>
          <a:ln w="63500">
            <a:solidFill>
              <a:schemeClr val="accent3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>
            <a:off x="2004786" y="4175811"/>
            <a:ext cx="3755427" cy="1663848"/>
          </a:xfrm>
          <a:prstGeom prst="straightConnector1">
            <a:avLst/>
          </a:prstGeom>
          <a:ln w="63500">
            <a:solidFill>
              <a:schemeClr val="accent3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 flipV="1">
            <a:off x="6456931" y="4175811"/>
            <a:ext cx="3799285" cy="1615452"/>
          </a:xfrm>
          <a:prstGeom prst="straightConnector1">
            <a:avLst/>
          </a:prstGeom>
          <a:ln w="63500">
            <a:solidFill>
              <a:schemeClr val="accent3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 flipV="1">
            <a:off x="10256216" y="2104440"/>
            <a:ext cx="0" cy="1429153"/>
          </a:xfrm>
          <a:prstGeom prst="straightConnector1">
            <a:avLst/>
          </a:prstGeom>
          <a:ln w="63500">
            <a:solidFill>
              <a:schemeClr val="accent3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2432520" y="1816706"/>
            <a:ext cx="6191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3"/>
                </a:solidFill>
              </a:rPr>
              <a:t>PC0→Router0→Router2 →Router1 →PC1  </a:t>
            </a:r>
            <a:r>
              <a:rPr lang="zh-CN" altLang="en-US" sz="2000" b="1" dirty="0">
                <a:solidFill>
                  <a:schemeClr val="accent3"/>
                </a:solidFill>
              </a:rPr>
              <a:t>路径代价 </a:t>
            </a:r>
            <a:r>
              <a:rPr lang="en-US" altLang="zh-CN" sz="2000" b="1" dirty="0">
                <a:solidFill>
                  <a:schemeClr val="accent3"/>
                </a:solidFill>
              </a:rPr>
              <a:t>= 4</a:t>
            </a:r>
            <a:endParaRPr lang="zh-CN" altLang="en-US" sz="2000" b="1" dirty="0">
              <a:solidFill>
                <a:schemeClr val="accent3"/>
              </a:solidFill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8321469" y="1802724"/>
            <a:ext cx="17950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</a:rPr>
              <a:t>OSPF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好路由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5497" y="2384189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100Mb/s</a:t>
            </a:r>
            <a:endParaRPr lang="en-US" altLang="zh-CN" b="1" dirty="0"/>
          </a:p>
        </p:txBody>
      </p:sp>
      <p:sp>
        <p:nvSpPr>
          <p:cNvPr id="27" name="文本框 26"/>
          <p:cNvSpPr txBox="1"/>
          <p:nvPr/>
        </p:nvSpPr>
        <p:spPr>
          <a:xfrm>
            <a:off x="2145170" y="4932251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1000Mb/s</a:t>
            </a:r>
            <a:endParaRPr lang="en-US" altLang="zh-CN" b="1" dirty="0"/>
          </a:p>
        </p:txBody>
      </p:sp>
      <p:sp>
        <p:nvSpPr>
          <p:cNvPr id="46" name="文本框 45"/>
          <p:cNvSpPr txBox="1"/>
          <p:nvPr/>
        </p:nvSpPr>
        <p:spPr>
          <a:xfrm>
            <a:off x="8043388" y="4932251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1000Mb/s</a:t>
            </a:r>
            <a:endParaRPr lang="en-US" altLang="zh-CN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10189151" y="2384189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100Mb/s</a:t>
            </a:r>
            <a:endParaRPr lang="en-US" altLang="zh-CN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5093069" y="2957175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1.544Mb/s</a:t>
            </a:r>
            <a:endParaRPr lang="en-US" altLang="zh-CN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72" grpId="0"/>
      <p:bldP spid="7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2442556" y="685800"/>
            <a:ext cx="7330499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9.  </a:t>
            </a:r>
            <a:r>
              <a:rPr lang="zh-CN" altLang="en-US" sz="2400" b="1" dirty="0"/>
              <a:t>验证</a:t>
            </a:r>
            <a:r>
              <a:rPr lang="en-US" altLang="zh-CN" sz="2400" b="1" dirty="0"/>
              <a:t>OSPF</a:t>
            </a:r>
            <a:r>
              <a:rPr lang="zh-CN" altLang="en-US" sz="2400" b="1" dirty="0"/>
              <a:t>认为好的路由是“路径代价最少”的路由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764114" y="1849217"/>
            <a:ext cx="3384897" cy="1158662"/>
            <a:chOff x="8434812" y="4850009"/>
            <a:chExt cx="3384897" cy="1158662"/>
          </a:xfrm>
        </p:grpSpPr>
        <p:sp>
          <p:nvSpPr>
            <p:cNvPr id="27" name="文本框 26"/>
            <p:cNvSpPr txBox="1"/>
            <p:nvPr/>
          </p:nvSpPr>
          <p:spPr>
            <a:xfrm>
              <a:off x="8434812" y="4850009"/>
              <a:ext cx="3384897" cy="4987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❶ 切换到“模拟”工作模式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46" name="直接箭头连接符 45"/>
            <p:cNvCxnSpPr/>
            <p:nvPr/>
          </p:nvCxnSpPr>
          <p:spPr>
            <a:xfrm>
              <a:off x="9982515" y="5414602"/>
              <a:ext cx="0" cy="594069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7" name="20 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679" y="3087714"/>
            <a:ext cx="3158960" cy="1489940"/>
          </a:xfrm>
          <a:prstGeom prst="rect">
            <a:avLst/>
          </a:prstGeom>
        </p:spPr>
      </p:pic>
      <p:pic>
        <p:nvPicPr>
          <p:cNvPr id="51" name="20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15820"/>
            <a:ext cx="4244708" cy="899238"/>
          </a:xfrm>
          <a:prstGeom prst="rect">
            <a:avLst/>
          </a:prstGeom>
        </p:spPr>
      </p:pic>
      <p:grpSp>
        <p:nvGrpSpPr>
          <p:cNvPr id="74" name="组合 73"/>
          <p:cNvGrpSpPr/>
          <p:nvPr/>
        </p:nvGrpSpPr>
        <p:grpSpPr>
          <a:xfrm>
            <a:off x="6874213" y="2348008"/>
            <a:ext cx="5096582" cy="1213915"/>
            <a:chOff x="1094897" y="2211421"/>
            <a:chExt cx="5096582" cy="1213915"/>
          </a:xfrm>
        </p:grpSpPr>
        <p:sp>
          <p:nvSpPr>
            <p:cNvPr id="75" name="文本框 74"/>
            <p:cNvSpPr txBox="1"/>
            <p:nvPr/>
          </p:nvSpPr>
          <p:spPr>
            <a:xfrm>
              <a:off x="1094897" y="2717450"/>
              <a:ext cx="509658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❷  使用“添加简单的</a:t>
              </a:r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PDU</a:t>
              </a:r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”工具，</a:t>
              </a:r>
              <a:endParaRPr lang="en-US" altLang="zh-CN" sz="2000" b="1" dirty="0">
                <a:solidFill>
                  <a:schemeClr val="accent1">
                    <a:lumMod val="75000"/>
                  </a:schemeClr>
                </a:solidFill>
              </a:endParaRPr>
            </a:p>
            <a:p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      让</a:t>
              </a:r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PC0</a:t>
              </a:r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给</a:t>
              </a:r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PC1</a:t>
              </a:r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发送单播</a:t>
              </a:r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IP</a:t>
              </a:r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数据报。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76" name="直接箭头连接符 75"/>
            <p:cNvCxnSpPr/>
            <p:nvPr/>
          </p:nvCxnSpPr>
          <p:spPr>
            <a:xfrm flipV="1">
              <a:off x="3432375" y="2211421"/>
              <a:ext cx="0" cy="487469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7" name="20 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7902" y="4928740"/>
            <a:ext cx="3674712" cy="1366409"/>
          </a:xfrm>
          <a:prstGeom prst="rect">
            <a:avLst/>
          </a:prstGeom>
        </p:spPr>
      </p:pic>
      <p:grpSp>
        <p:nvGrpSpPr>
          <p:cNvPr id="78" name="组合 77"/>
          <p:cNvGrpSpPr/>
          <p:nvPr/>
        </p:nvGrpSpPr>
        <p:grpSpPr>
          <a:xfrm>
            <a:off x="7515946" y="4920440"/>
            <a:ext cx="4371254" cy="400110"/>
            <a:chOff x="4218128" y="5007273"/>
            <a:chExt cx="4371254" cy="400110"/>
          </a:xfrm>
        </p:grpSpPr>
        <p:sp>
          <p:nvSpPr>
            <p:cNvPr id="86" name="文本框 85"/>
            <p:cNvSpPr txBox="1"/>
            <p:nvPr/>
          </p:nvSpPr>
          <p:spPr>
            <a:xfrm>
              <a:off x="4794014" y="5007273"/>
              <a:ext cx="37953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❸  单击该按钮，进行单步模拟。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87" name="直接箭头连接符 86"/>
            <p:cNvCxnSpPr/>
            <p:nvPr/>
          </p:nvCxnSpPr>
          <p:spPr>
            <a:xfrm flipH="1">
              <a:off x="4218128" y="5186618"/>
              <a:ext cx="560504" cy="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标注: 右箭头 63"/>
          <p:cNvSpPr/>
          <p:nvPr/>
        </p:nvSpPr>
        <p:spPr>
          <a:xfrm rot="1374901">
            <a:off x="3010444" y="4914118"/>
            <a:ext cx="1474969" cy="31777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90493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PC0→PC1</a:t>
            </a:r>
            <a:endParaRPr lang="zh-CN" altLang="en-US" sz="2000" b="1" dirty="0"/>
          </a:p>
        </p:txBody>
      </p:sp>
      <p:sp>
        <p:nvSpPr>
          <p:cNvPr id="65" name="标注: 右箭头 64"/>
          <p:cNvSpPr/>
          <p:nvPr/>
        </p:nvSpPr>
        <p:spPr>
          <a:xfrm rot="16200000">
            <a:off x="9682236" y="2767972"/>
            <a:ext cx="1474969" cy="31777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90493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PC0→PC1</a:t>
            </a:r>
            <a:endParaRPr lang="zh-CN" altLang="en-US" sz="2000" b="1" dirty="0"/>
          </a:p>
        </p:txBody>
      </p:sp>
      <p:sp>
        <p:nvSpPr>
          <p:cNvPr id="66" name="标注: 右箭头 65"/>
          <p:cNvSpPr/>
          <p:nvPr/>
        </p:nvSpPr>
        <p:spPr>
          <a:xfrm rot="5400000">
            <a:off x="993538" y="2821685"/>
            <a:ext cx="1474969" cy="31777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90493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PC0→PC1</a:t>
            </a:r>
            <a:endParaRPr lang="zh-CN" altLang="en-US" sz="2000" b="1" dirty="0"/>
          </a:p>
        </p:txBody>
      </p:sp>
      <p:sp>
        <p:nvSpPr>
          <p:cNvPr id="21" name="文本框 20"/>
          <p:cNvSpPr txBox="1"/>
          <p:nvPr/>
        </p:nvSpPr>
        <p:spPr>
          <a:xfrm>
            <a:off x="2442556" y="685800"/>
            <a:ext cx="7330499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9.  </a:t>
            </a:r>
            <a:r>
              <a:rPr lang="zh-CN" altLang="en-US" sz="2400" b="1" dirty="0"/>
              <a:t>验证</a:t>
            </a:r>
            <a:r>
              <a:rPr lang="en-US" altLang="zh-CN" sz="2400" b="1" dirty="0"/>
              <a:t>OSPF</a:t>
            </a:r>
            <a:r>
              <a:rPr lang="zh-CN" altLang="en-US" sz="2400" b="1" dirty="0"/>
              <a:t>认为好的路由是“路径代价最少”的路由</a:t>
            </a:r>
            <a:endParaRPr lang="en-US" altLang="zh-CN" sz="2400" b="1" dirty="0"/>
          </a:p>
        </p:txBody>
      </p:sp>
      <p:sp>
        <p:nvSpPr>
          <p:cNvPr id="46" name="文本框 45"/>
          <p:cNvSpPr txBox="1"/>
          <p:nvPr/>
        </p:nvSpPr>
        <p:spPr>
          <a:xfrm>
            <a:off x="243833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192.168.16.1/25</a:t>
            </a:r>
            <a:endParaRPr lang="en-US" altLang="zh-CN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243833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192.168.16.126</a:t>
            </a:r>
            <a:endParaRPr lang="en-US" altLang="zh-CN" b="1" dirty="0"/>
          </a:p>
        </p:txBody>
      </p:sp>
      <p:sp>
        <p:nvSpPr>
          <p:cNvPr id="53" name="文本框 52"/>
          <p:cNvSpPr txBox="1"/>
          <p:nvPr/>
        </p:nvSpPr>
        <p:spPr>
          <a:xfrm>
            <a:off x="203805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192.168.16.126/25</a:t>
            </a:r>
            <a:endParaRPr lang="en-US" altLang="zh-CN" b="1" dirty="0"/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6292355" y="4129355"/>
            <a:ext cx="3797032" cy="157349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2094813" y="4118803"/>
            <a:ext cx="3797030" cy="157349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0147084" y="2057849"/>
            <a:ext cx="0" cy="17324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028615" y="2057849"/>
            <a:ext cx="0" cy="17324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2243241" y="3840969"/>
            <a:ext cx="7697844" cy="130472"/>
            <a:chOff x="2243241" y="3518631"/>
            <a:chExt cx="7697844" cy="130472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5974300" y="3518631"/>
              <a:ext cx="396678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组合 22"/>
            <p:cNvGrpSpPr/>
            <p:nvPr/>
          </p:nvGrpSpPr>
          <p:grpSpPr>
            <a:xfrm>
              <a:off x="2243241" y="3518631"/>
              <a:ext cx="3974459" cy="130472"/>
              <a:chOff x="2243241" y="3518631"/>
              <a:chExt cx="3974459" cy="130472"/>
            </a:xfrm>
          </p:grpSpPr>
          <p:cxnSp>
            <p:nvCxnSpPr>
              <p:cNvPr id="24" name="直接连接符 23"/>
              <p:cNvCxnSpPr/>
              <p:nvPr/>
            </p:nvCxnSpPr>
            <p:spPr>
              <a:xfrm>
                <a:off x="2243241" y="3649103"/>
                <a:ext cx="3966785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>
                <a:off x="5974300" y="3518631"/>
                <a:ext cx="243400" cy="130472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3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204" y="1627865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56" y="3747746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805345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pic>
        <p:nvPicPr>
          <p:cNvPr id="2" name="20 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993" y="5512045"/>
            <a:ext cx="530013" cy="381609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031" y="3747746"/>
            <a:ext cx="530013" cy="381609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471" y="1627865"/>
            <a:ext cx="539132" cy="45797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432483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5593403" y="5872552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0461954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59369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2041942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2356665" y="3592754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38" name="文本框 37"/>
          <p:cNvSpPr txBox="1"/>
          <p:nvPr/>
        </p:nvSpPr>
        <p:spPr>
          <a:xfrm>
            <a:off x="4874272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6575276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984512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3" name="文本框 42"/>
          <p:cNvSpPr txBox="1"/>
          <p:nvPr/>
        </p:nvSpPr>
        <p:spPr>
          <a:xfrm>
            <a:off x="8739711" y="3490415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44" name="文本框 43"/>
          <p:cNvSpPr txBox="1"/>
          <p:nvPr/>
        </p:nvSpPr>
        <p:spPr>
          <a:xfrm>
            <a:off x="9308006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696282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192.168.16.129/26</a:t>
            </a:r>
            <a:endParaRPr lang="en-US" altLang="zh-CN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696282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192.168.16.190</a:t>
            </a:r>
            <a:endParaRPr lang="en-US" altLang="zh-CN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749387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192.168.16.190/26</a:t>
            </a:r>
            <a:endParaRPr lang="en-US" altLang="zh-CN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2490488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30.0.0.1/30</a:t>
            </a:r>
            <a:endParaRPr lang="en-US" altLang="zh-CN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422883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10.0.0.1/30</a:t>
            </a:r>
            <a:endParaRPr lang="en-US" altLang="zh-CN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3700625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10.0.0.2/30</a:t>
            </a:r>
            <a:endParaRPr lang="en-US" altLang="zh-CN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6585858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20.0.0.2/30</a:t>
            </a:r>
            <a:endParaRPr lang="en-US" altLang="zh-CN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9845122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20.0.0.1/30</a:t>
            </a:r>
            <a:endParaRPr lang="en-US" altLang="zh-CN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7730959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30.0.0.2/30</a:t>
            </a:r>
            <a:endParaRPr lang="en-US" altLang="zh-CN" b="1" dirty="0"/>
          </a:p>
        </p:txBody>
      </p:sp>
      <p:sp>
        <p:nvSpPr>
          <p:cNvPr id="45" name="等腰三角形 44"/>
          <p:cNvSpPr/>
          <p:nvPr/>
        </p:nvSpPr>
        <p:spPr>
          <a:xfrm>
            <a:off x="1968014" y="332073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等腰三角形 47"/>
          <p:cNvSpPr/>
          <p:nvPr/>
        </p:nvSpPr>
        <p:spPr>
          <a:xfrm>
            <a:off x="1968014" y="23248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10090287" y="332073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10090287" y="23248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2479332" y="39184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521550" y="380415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2357854" y="41799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5430481" y="545829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6621019" y="545829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9828893" y="415348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864130" y="2216828"/>
            <a:ext cx="1733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192.168.16.0/25</a:t>
            </a:r>
            <a:endParaRPr lang="en-US" altLang="zh-CN" sz="20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5220727" y="3985021"/>
            <a:ext cx="1753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30.0.0.0/30</a:t>
            </a:r>
            <a:endParaRPr lang="en-US" altLang="zh-CN" sz="20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3879484" y="4228173"/>
            <a:ext cx="13185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10.0.0.0/30</a:t>
            </a:r>
            <a:endParaRPr lang="en-US" altLang="zh-CN" sz="2000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68899" y="4228173"/>
            <a:ext cx="13236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20.0.0.0/30</a:t>
            </a:r>
            <a:endParaRPr lang="en-US" altLang="zh-CN" sz="2000" b="1" dirty="0"/>
          </a:p>
        </p:txBody>
      </p:sp>
      <p:sp>
        <p:nvSpPr>
          <p:cNvPr id="20" name="文本框 19"/>
          <p:cNvSpPr txBox="1"/>
          <p:nvPr/>
        </p:nvSpPr>
        <p:spPr>
          <a:xfrm>
            <a:off x="7670512" y="2216828"/>
            <a:ext cx="19971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192.168.16.128/26</a:t>
            </a:r>
            <a:endParaRPr lang="en-US" altLang="zh-CN" sz="20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2035100" y="2131282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329614" y="2085838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67" name="矩形 66"/>
          <p:cNvSpPr/>
          <p:nvPr/>
        </p:nvSpPr>
        <p:spPr>
          <a:xfrm>
            <a:off x="2693498" y="1493138"/>
            <a:ext cx="6753807" cy="7170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         PC1</a:t>
            </a:r>
            <a:r>
              <a:rPr lang="zh-CN" altLang="en-US" sz="2000" b="1" dirty="0"/>
              <a:t>给</a:t>
            </a:r>
            <a:r>
              <a:rPr lang="en-US" altLang="zh-CN" sz="2000" b="1" dirty="0"/>
              <a:t>PC0</a:t>
            </a:r>
            <a:r>
              <a:rPr lang="zh-CN" altLang="en-US" sz="2000" b="1" dirty="0"/>
              <a:t>发送单播响应数据报的情况，就不再赘述了！</a:t>
            </a:r>
            <a:endParaRPr lang="zh-CN" altLang="en-US" sz="2000" b="1" dirty="0"/>
          </a:p>
        </p:txBody>
      </p:sp>
      <p:sp>
        <p:nvSpPr>
          <p:cNvPr id="27" name="标注: 右箭头 26"/>
          <p:cNvSpPr/>
          <p:nvPr/>
        </p:nvSpPr>
        <p:spPr>
          <a:xfrm rot="20210836">
            <a:off x="7683037" y="4933845"/>
            <a:ext cx="1474969" cy="31777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90493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PC0→PC1</a:t>
            </a:r>
            <a:endParaRPr lang="zh-CN" altLang="en-US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5" grpId="0" animBg="1"/>
      <p:bldP spid="66" grpId="0" animBg="1"/>
      <p:bldP spid="67" grpId="0" animBg="1"/>
      <p:bldP spid="2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3921161" y="685800"/>
            <a:ext cx="434735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10.  </a:t>
            </a:r>
            <a:r>
              <a:rPr lang="zh-CN" altLang="en-US" sz="2400" b="1" dirty="0"/>
              <a:t>验证</a:t>
            </a:r>
            <a:r>
              <a:rPr lang="en-US" altLang="zh-CN" sz="2400" b="1" dirty="0"/>
              <a:t>OSPF</a:t>
            </a:r>
            <a:r>
              <a:rPr lang="zh-CN" altLang="en-US" sz="2400" b="1" dirty="0"/>
              <a:t>的等价负载均衡</a:t>
            </a:r>
            <a:endParaRPr lang="en-US" altLang="zh-CN" sz="2400" b="1" dirty="0"/>
          </a:p>
        </p:txBody>
      </p:sp>
      <p:sp>
        <p:nvSpPr>
          <p:cNvPr id="46" name="文本框 45"/>
          <p:cNvSpPr txBox="1"/>
          <p:nvPr/>
        </p:nvSpPr>
        <p:spPr>
          <a:xfrm>
            <a:off x="243833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192.168.16.1/25</a:t>
            </a:r>
            <a:endParaRPr lang="en-US" altLang="zh-CN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243833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192.168.16.126</a:t>
            </a:r>
            <a:endParaRPr lang="en-US" altLang="zh-CN" b="1" dirty="0"/>
          </a:p>
        </p:txBody>
      </p:sp>
      <p:sp>
        <p:nvSpPr>
          <p:cNvPr id="53" name="文本框 52"/>
          <p:cNvSpPr txBox="1"/>
          <p:nvPr/>
        </p:nvSpPr>
        <p:spPr>
          <a:xfrm>
            <a:off x="203805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192.168.16.126/25</a:t>
            </a:r>
            <a:endParaRPr lang="en-US" altLang="zh-CN" b="1" dirty="0"/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6292355" y="4129355"/>
            <a:ext cx="3797032" cy="157349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2094813" y="4118803"/>
            <a:ext cx="3797030" cy="157349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0147084" y="2057849"/>
            <a:ext cx="0" cy="17324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028615" y="2057849"/>
            <a:ext cx="0" cy="17324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2243241" y="3840969"/>
            <a:ext cx="7697844" cy="130472"/>
            <a:chOff x="2243241" y="3518631"/>
            <a:chExt cx="7697844" cy="130472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5974300" y="3518631"/>
              <a:ext cx="396678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组合 22"/>
            <p:cNvGrpSpPr/>
            <p:nvPr/>
          </p:nvGrpSpPr>
          <p:grpSpPr>
            <a:xfrm>
              <a:off x="2243241" y="3518631"/>
              <a:ext cx="3974459" cy="130472"/>
              <a:chOff x="2243241" y="3518631"/>
              <a:chExt cx="3974459" cy="130472"/>
            </a:xfrm>
          </p:grpSpPr>
          <p:cxnSp>
            <p:nvCxnSpPr>
              <p:cNvPr id="24" name="直接连接符 23"/>
              <p:cNvCxnSpPr/>
              <p:nvPr/>
            </p:nvCxnSpPr>
            <p:spPr>
              <a:xfrm>
                <a:off x="2243241" y="3649103"/>
                <a:ext cx="3966785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>
                <a:off x="5974300" y="3518631"/>
                <a:ext cx="243400" cy="130472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3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204" y="1627865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56" y="3747746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805345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pic>
        <p:nvPicPr>
          <p:cNvPr id="2" name="20 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993" y="5512045"/>
            <a:ext cx="530013" cy="381609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031" y="3747746"/>
            <a:ext cx="530013" cy="381609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471" y="1627865"/>
            <a:ext cx="539132" cy="45797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432483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5593403" y="5872552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0461954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59369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2041942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2356665" y="3592754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38" name="文本框 37"/>
          <p:cNvSpPr txBox="1"/>
          <p:nvPr/>
        </p:nvSpPr>
        <p:spPr>
          <a:xfrm>
            <a:off x="4874272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6575276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984512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3" name="文本框 42"/>
          <p:cNvSpPr txBox="1"/>
          <p:nvPr/>
        </p:nvSpPr>
        <p:spPr>
          <a:xfrm>
            <a:off x="8739711" y="3490415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44" name="文本框 43"/>
          <p:cNvSpPr txBox="1"/>
          <p:nvPr/>
        </p:nvSpPr>
        <p:spPr>
          <a:xfrm>
            <a:off x="9308006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696282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192.168.16.129/26</a:t>
            </a:r>
            <a:endParaRPr lang="en-US" altLang="zh-CN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696282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192.168.16.190</a:t>
            </a:r>
            <a:endParaRPr lang="en-US" altLang="zh-CN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749387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192.168.16.190/26</a:t>
            </a:r>
            <a:endParaRPr lang="en-US" altLang="zh-CN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2490488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30.0.0.1/30</a:t>
            </a:r>
            <a:endParaRPr lang="en-US" altLang="zh-CN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422883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10.0.0.1/30</a:t>
            </a:r>
            <a:endParaRPr lang="en-US" altLang="zh-CN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3700625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10.0.0.2/30</a:t>
            </a:r>
            <a:endParaRPr lang="en-US" altLang="zh-CN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6585858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20.0.0.2/30</a:t>
            </a:r>
            <a:endParaRPr lang="en-US" altLang="zh-CN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9845122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20.0.0.1/30</a:t>
            </a:r>
            <a:endParaRPr lang="en-US" altLang="zh-CN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7730959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30.0.0.2/30</a:t>
            </a:r>
            <a:endParaRPr lang="en-US" altLang="zh-CN" b="1" dirty="0"/>
          </a:p>
        </p:txBody>
      </p:sp>
      <p:sp>
        <p:nvSpPr>
          <p:cNvPr id="45" name="等腰三角形 44"/>
          <p:cNvSpPr/>
          <p:nvPr/>
        </p:nvSpPr>
        <p:spPr>
          <a:xfrm>
            <a:off x="1968014" y="332073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等腰三角形 47"/>
          <p:cNvSpPr/>
          <p:nvPr/>
        </p:nvSpPr>
        <p:spPr>
          <a:xfrm>
            <a:off x="1968014" y="23248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10090287" y="332073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10090287" y="23248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2479332" y="39184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521550" y="380415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2357854" y="41799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5430481" y="545829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6621019" y="545829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9828893" y="415348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864130" y="2216828"/>
            <a:ext cx="1733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192.168.16.0/25</a:t>
            </a:r>
            <a:endParaRPr lang="en-US" altLang="zh-CN" sz="20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5220727" y="3985021"/>
            <a:ext cx="1753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30.0.0.0/30</a:t>
            </a:r>
            <a:endParaRPr lang="en-US" altLang="zh-CN" sz="20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3879484" y="4228173"/>
            <a:ext cx="13185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10.0.0.0/30</a:t>
            </a:r>
            <a:endParaRPr lang="en-US" altLang="zh-CN" sz="2000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68899" y="4228173"/>
            <a:ext cx="13236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20.0.0.0/30</a:t>
            </a:r>
            <a:endParaRPr lang="en-US" altLang="zh-CN" sz="2000" b="1" dirty="0"/>
          </a:p>
        </p:txBody>
      </p:sp>
      <p:sp>
        <p:nvSpPr>
          <p:cNvPr id="20" name="文本框 19"/>
          <p:cNvSpPr txBox="1"/>
          <p:nvPr/>
        </p:nvSpPr>
        <p:spPr>
          <a:xfrm>
            <a:off x="7670512" y="2216828"/>
            <a:ext cx="19971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192.168.16.128/26</a:t>
            </a:r>
            <a:endParaRPr lang="en-US" altLang="zh-CN" sz="20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2035100" y="2131282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329614" y="2085838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28" name="文本框 27"/>
          <p:cNvSpPr txBox="1"/>
          <p:nvPr/>
        </p:nvSpPr>
        <p:spPr>
          <a:xfrm>
            <a:off x="95497" y="2709407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1</a:t>
            </a:r>
            <a:endParaRPr lang="en-US" altLang="zh-CN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2145170" y="5257469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1</a:t>
            </a:r>
            <a:endParaRPr lang="en-US" altLang="zh-CN" b="1" dirty="0"/>
          </a:p>
        </p:txBody>
      </p:sp>
      <p:sp>
        <p:nvSpPr>
          <p:cNvPr id="33" name="文本框 32"/>
          <p:cNvSpPr txBox="1"/>
          <p:nvPr/>
        </p:nvSpPr>
        <p:spPr>
          <a:xfrm>
            <a:off x="8043388" y="5257469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1</a:t>
            </a:r>
            <a:endParaRPr lang="en-US" altLang="zh-CN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10189151" y="2709407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1</a:t>
            </a:r>
            <a:endParaRPr lang="en-US" altLang="zh-CN" b="1" dirty="0"/>
          </a:p>
        </p:txBody>
      </p:sp>
      <p:sp>
        <p:nvSpPr>
          <p:cNvPr id="62" name="文本框 61"/>
          <p:cNvSpPr txBox="1"/>
          <p:nvPr/>
        </p:nvSpPr>
        <p:spPr>
          <a:xfrm>
            <a:off x="5093069" y="3282393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64</a:t>
            </a:r>
            <a:endParaRPr lang="en-US" altLang="zh-CN" b="1" dirty="0"/>
          </a:p>
        </p:txBody>
      </p:sp>
      <p:cxnSp>
        <p:nvCxnSpPr>
          <p:cNvPr id="63" name="直接箭头连接符 62"/>
          <p:cNvCxnSpPr/>
          <p:nvPr/>
        </p:nvCxnSpPr>
        <p:spPr>
          <a:xfrm flipV="1">
            <a:off x="6284060" y="4068295"/>
            <a:ext cx="3551623" cy="1451064"/>
          </a:xfrm>
          <a:prstGeom prst="straightConnector1">
            <a:avLst/>
          </a:prstGeom>
          <a:ln w="38100">
            <a:solidFill>
              <a:schemeClr val="accent4"/>
            </a:solidFill>
            <a:prstDash val="sys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/>
          <p:nvPr/>
        </p:nvCxnSpPr>
        <p:spPr>
          <a:xfrm flipH="1">
            <a:off x="9633381" y="3653663"/>
            <a:ext cx="463806" cy="0"/>
          </a:xfrm>
          <a:prstGeom prst="straightConnector1">
            <a:avLst/>
          </a:prstGeom>
          <a:ln w="38100">
            <a:solidFill>
              <a:schemeClr val="accent4"/>
            </a:solidFill>
            <a:prstDash val="sys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 flipH="1" flipV="1">
            <a:off x="2476436" y="4130293"/>
            <a:ext cx="3449621" cy="1376208"/>
          </a:xfrm>
          <a:prstGeom prst="straightConnector1">
            <a:avLst/>
          </a:prstGeom>
          <a:ln w="38100">
            <a:solidFill>
              <a:schemeClr val="accent3"/>
            </a:solidFill>
            <a:prstDash val="lgDash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 flipV="1">
            <a:off x="2108128" y="3634966"/>
            <a:ext cx="6762128" cy="8821"/>
          </a:xfrm>
          <a:prstGeom prst="straightConnector1">
            <a:avLst/>
          </a:prstGeom>
          <a:ln w="38100">
            <a:solidFill>
              <a:schemeClr val="accent3"/>
            </a:solidFill>
            <a:prstDash val="lgDash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>
            <a:off x="95497" y="2384189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100Mb/s</a:t>
            </a:r>
            <a:endParaRPr lang="en-US" altLang="zh-CN" b="1" dirty="0"/>
          </a:p>
        </p:txBody>
      </p:sp>
      <p:sp>
        <p:nvSpPr>
          <p:cNvPr id="65" name="文本框 64"/>
          <p:cNvSpPr txBox="1"/>
          <p:nvPr/>
        </p:nvSpPr>
        <p:spPr>
          <a:xfrm>
            <a:off x="2145170" y="4932251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1000Mb/s</a:t>
            </a:r>
            <a:endParaRPr lang="en-US" altLang="zh-CN" b="1" dirty="0"/>
          </a:p>
        </p:txBody>
      </p:sp>
      <p:sp>
        <p:nvSpPr>
          <p:cNvPr id="66" name="文本框 65"/>
          <p:cNvSpPr txBox="1"/>
          <p:nvPr/>
        </p:nvSpPr>
        <p:spPr>
          <a:xfrm>
            <a:off x="8043388" y="4932251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1000Mb/s</a:t>
            </a:r>
            <a:endParaRPr lang="en-US" altLang="zh-CN" b="1" dirty="0"/>
          </a:p>
        </p:txBody>
      </p:sp>
      <p:sp>
        <p:nvSpPr>
          <p:cNvPr id="67" name="文本框 66"/>
          <p:cNvSpPr txBox="1"/>
          <p:nvPr/>
        </p:nvSpPr>
        <p:spPr>
          <a:xfrm>
            <a:off x="10189151" y="2384189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100Mb/s</a:t>
            </a:r>
            <a:endParaRPr lang="en-US" altLang="zh-CN" b="1" dirty="0"/>
          </a:p>
        </p:txBody>
      </p:sp>
      <p:sp>
        <p:nvSpPr>
          <p:cNvPr id="71" name="文本框 70"/>
          <p:cNvSpPr txBox="1"/>
          <p:nvPr/>
        </p:nvSpPr>
        <p:spPr>
          <a:xfrm>
            <a:off x="5093069" y="2957175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1.544Mb/s</a:t>
            </a:r>
            <a:endParaRPr lang="en-US" altLang="zh-CN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3921161" y="685800"/>
            <a:ext cx="434735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10.  </a:t>
            </a:r>
            <a:r>
              <a:rPr lang="zh-CN" altLang="en-US" sz="2400" b="1" dirty="0"/>
              <a:t>验证</a:t>
            </a:r>
            <a:r>
              <a:rPr lang="en-US" altLang="zh-CN" sz="2400" b="1" dirty="0"/>
              <a:t>OSPF</a:t>
            </a:r>
            <a:r>
              <a:rPr lang="zh-CN" altLang="en-US" sz="2400" b="1" dirty="0"/>
              <a:t>的等价负载均衡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3664799" y="1580638"/>
            <a:ext cx="3942011" cy="498791"/>
            <a:chOff x="8383480" y="4791433"/>
            <a:chExt cx="3942011" cy="498791"/>
          </a:xfrm>
        </p:grpSpPr>
        <p:sp>
          <p:nvSpPr>
            <p:cNvPr id="65" name="文本框 64"/>
            <p:cNvSpPr txBox="1"/>
            <p:nvPr/>
          </p:nvSpPr>
          <p:spPr>
            <a:xfrm>
              <a:off x="8940594" y="4791433"/>
              <a:ext cx="3384897" cy="4987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❶ 切换到“模拟”工作模式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66" name="直接箭头连接符 65"/>
            <p:cNvCxnSpPr/>
            <p:nvPr/>
          </p:nvCxnSpPr>
          <p:spPr>
            <a:xfrm flipH="1">
              <a:off x="8383480" y="5087786"/>
              <a:ext cx="540336" cy="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7" name="20 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958" y="1685204"/>
            <a:ext cx="3158960" cy="1489940"/>
          </a:xfrm>
          <a:prstGeom prst="rect">
            <a:avLst/>
          </a:prstGeom>
        </p:spPr>
      </p:pic>
      <p:pic>
        <p:nvPicPr>
          <p:cNvPr id="71" name="20 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58" y="4805791"/>
            <a:ext cx="3674712" cy="1366409"/>
          </a:xfrm>
          <a:prstGeom prst="rect">
            <a:avLst/>
          </a:prstGeom>
        </p:spPr>
      </p:pic>
      <p:grpSp>
        <p:nvGrpSpPr>
          <p:cNvPr id="72" name="组合 71"/>
          <p:cNvGrpSpPr/>
          <p:nvPr/>
        </p:nvGrpSpPr>
        <p:grpSpPr>
          <a:xfrm>
            <a:off x="4205135" y="4771864"/>
            <a:ext cx="4455238" cy="400110"/>
            <a:chOff x="-1957715" y="4805848"/>
            <a:chExt cx="4455238" cy="400110"/>
          </a:xfrm>
        </p:grpSpPr>
        <p:sp>
          <p:nvSpPr>
            <p:cNvPr id="73" name="文本框 72"/>
            <p:cNvSpPr txBox="1"/>
            <p:nvPr/>
          </p:nvSpPr>
          <p:spPr>
            <a:xfrm>
              <a:off x="-1297845" y="4805848"/>
              <a:ext cx="37953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❸  单击该按钮，进行单步模拟。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74" name="直接箭头连接符 73"/>
            <p:cNvCxnSpPr/>
            <p:nvPr/>
          </p:nvCxnSpPr>
          <p:spPr>
            <a:xfrm flipH="1">
              <a:off x="-1957715" y="5010070"/>
              <a:ext cx="597581" cy="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矩形 74"/>
          <p:cNvSpPr/>
          <p:nvPr/>
        </p:nvSpPr>
        <p:spPr>
          <a:xfrm>
            <a:off x="453958" y="3539874"/>
            <a:ext cx="3674712" cy="4987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Router#ping 30.0.0.2</a:t>
            </a:r>
            <a:endParaRPr lang="zh-CN" altLang="en-US" sz="2000" b="1" dirty="0"/>
          </a:p>
        </p:txBody>
      </p:sp>
      <p:grpSp>
        <p:nvGrpSpPr>
          <p:cNvPr id="76" name="组合 75"/>
          <p:cNvGrpSpPr/>
          <p:nvPr/>
        </p:nvGrpSpPr>
        <p:grpSpPr>
          <a:xfrm>
            <a:off x="4221913" y="3539871"/>
            <a:ext cx="7665287" cy="956929"/>
            <a:chOff x="8383480" y="4791433"/>
            <a:chExt cx="7665287" cy="956929"/>
          </a:xfrm>
        </p:grpSpPr>
        <p:sp>
          <p:nvSpPr>
            <p:cNvPr id="77" name="文本框 76"/>
            <p:cNvSpPr txBox="1"/>
            <p:nvPr/>
          </p:nvSpPr>
          <p:spPr>
            <a:xfrm>
              <a:off x="8940594" y="4791433"/>
              <a:ext cx="7108173" cy="9569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❷ 在</a:t>
              </a:r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Router2</a:t>
              </a:r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的</a:t>
              </a:r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IOS</a:t>
              </a:r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命令行使用“</a:t>
              </a:r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ping</a:t>
              </a:r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”命令，测试</a:t>
              </a:r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Router2</a:t>
              </a:r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与</a:t>
              </a:r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Router1</a:t>
              </a:r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的接口</a:t>
              </a:r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Se0/0/0</a:t>
              </a:r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（</a:t>
              </a:r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IP</a:t>
              </a:r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地址为</a:t>
              </a:r>
              <a:r>
                <a:rPr lang="en-US" altLang="zh-CN" sz="2000" b="1" dirty="0">
                  <a:solidFill>
                    <a:schemeClr val="accent1">
                      <a:lumMod val="75000"/>
                    </a:schemeClr>
                  </a:solidFill>
                </a:rPr>
                <a:t>30.0.0.2</a:t>
              </a:r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）的连通性。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78" name="直接箭头连接符 77"/>
            <p:cNvCxnSpPr/>
            <p:nvPr/>
          </p:nvCxnSpPr>
          <p:spPr>
            <a:xfrm flipH="1">
              <a:off x="8383480" y="5087786"/>
              <a:ext cx="540336" cy="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/>
          <p:cNvSpPr txBox="1"/>
          <p:nvPr/>
        </p:nvSpPr>
        <p:spPr>
          <a:xfrm>
            <a:off x="5093069" y="3282393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64</a:t>
            </a:r>
            <a:endParaRPr lang="en-US" altLang="zh-CN" b="1" dirty="0"/>
          </a:p>
        </p:txBody>
      </p:sp>
      <p:sp>
        <p:nvSpPr>
          <p:cNvPr id="63" name="文本框 62"/>
          <p:cNvSpPr txBox="1"/>
          <p:nvPr/>
        </p:nvSpPr>
        <p:spPr>
          <a:xfrm>
            <a:off x="95497" y="2384189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100Mb/s</a:t>
            </a:r>
            <a:endParaRPr lang="en-US" altLang="zh-CN" b="1" dirty="0"/>
          </a:p>
        </p:txBody>
      </p:sp>
      <p:sp>
        <p:nvSpPr>
          <p:cNvPr id="68" name="文本框 67"/>
          <p:cNvSpPr txBox="1"/>
          <p:nvPr/>
        </p:nvSpPr>
        <p:spPr>
          <a:xfrm>
            <a:off x="2145170" y="4932251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1000Mb/s</a:t>
            </a:r>
            <a:endParaRPr lang="en-US" altLang="zh-CN" b="1" dirty="0"/>
          </a:p>
        </p:txBody>
      </p:sp>
      <p:sp>
        <p:nvSpPr>
          <p:cNvPr id="69" name="文本框 68"/>
          <p:cNvSpPr txBox="1"/>
          <p:nvPr/>
        </p:nvSpPr>
        <p:spPr>
          <a:xfrm>
            <a:off x="8043388" y="4932251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1000Mb/s</a:t>
            </a:r>
            <a:endParaRPr lang="en-US" altLang="zh-CN" b="1" dirty="0"/>
          </a:p>
        </p:txBody>
      </p:sp>
      <p:sp>
        <p:nvSpPr>
          <p:cNvPr id="70" name="文本框 69"/>
          <p:cNvSpPr txBox="1"/>
          <p:nvPr/>
        </p:nvSpPr>
        <p:spPr>
          <a:xfrm>
            <a:off x="10189151" y="2384189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100Mb/s</a:t>
            </a:r>
            <a:endParaRPr lang="en-US" altLang="zh-CN" b="1" dirty="0"/>
          </a:p>
        </p:txBody>
      </p:sp>
      <p:sp>
        <p:nvSpPr>
          <p:cNvPr id="74" name="文本框 73"/>
          <p:cNvSpPr txBox="1"/>
          <p:nvPr/>
        </p:nvSpPr>
        <p:spPr>
          <a:xfrm>
            <a:off x="5093069" y="2957175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1.544Mb/s</a:t>
            </a:r>
            <a:endParaRPr lang="en-US" altLang="zh-CN" b="1" dirty="0"/>
          </a:p>
        </p:txBody>
      </p:sp>
      <p:sp>
        <p:nvSpPr>
          <p:cNvPr id="21" name="文本框 20"/>
          <p:cNvSpPr txBox="1"/>
          <p:nvPr/>
        </p:nvSpPr>
        <p:spPr>
          <a:xfrm>
            <a:off x="3921161" y="685800"/>
            <a:ext cx="434735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10.  </a:t>
            </a:r>
            <a:r>
              <a:rPr lang="zh-CN" altLang="en-US" sz="2400" b="1" dirty="0"/>
              <a:t>验证</a:t>
            </a:r>
            <a:r>
              <a:rPr lang="en-US" altLang="zh-CN" sz="2400" b="1" dirty="0"/>
              <a:t>OSPF</a:t>
            </a:r>
            <a:r>
              <a:rPr lang="zh-CN" altLang="en-US" sz="2400" b="1" dirty="0"/>
              <a:t>的等价负载均衡</a:t>
            </a:r>
            <a:endParaRPr lang="en-US" altLang="zh-CN" sz="2400" b="1" dirty="0"/>
          </a:p>
        </p:txBody>
      </p:sp>
      <p:sp>
        <p:nvSpPr>
          <p:cNvPr id="46" name="文本框 45"/>
          <p:cNvSpPr txBox="1"/>
          <p:nvPr/>
        </p:nvSpPr>
        <p:spPr>
          <a:xfrm>
            <a:off x="243833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192.168.16.1/25</a:t>
            </a:r>
            <a:endParaRPr lang="en-US" altLang="zh-CN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243833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192.168.16.126</a:t>
            </a:r>
            <a:endParaRPr lang="en-US" altLang="zh-CN" b="1" dirty="0"/>
          </a:p>
        </p:txBody>
      </p:sp>
      <p:sp>
        <p:nvSpPr>
          <p:cNvPr id="53" name="文本框 52"/>
          <p:cNvSpPr txBox="1"/>
          <p:nvPr/>
        </p:nvSpPr>
        <p:spPr>
          <a:xfrm>
            <a:off x="203805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192.168.16.126/25</a:t>
            </a:r>
            <a:endParaRPr lang="en-US" altLang="zh-CN" b="1" dirty="0"/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6292355" y="4129355"/>
            <a:ext cx="3797032" cy="157349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2094813" y="4118803"/>
            <a:ext cx="3797030" cy="157349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0147084" y="2057849"/>
            <a:ext cx="0" cy="17324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028615" y="2057849"/>
            <a:ext cx="0" cy="17324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2243241" y="3840969"/>
            <a:ext cx="7697844" cy="130472"/>
            <a:chOff x="2243241" y="3518631"/>
            <a:chExt cx="7697844" cy="130472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5974300" y="3518631"/>
              <a:ext cx="396678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组合 22"/>
            <p:cNvGrpSpPr/>
            <p:nvPr/>
          </p:nvGrpSpPr>
          <p:grpSpPr>
            <a:xfrm>
              <a:off x="2243241" y="3518631"/>
              <a:ext cx="3974459" cy="130472"/>
              <a:chOff x="2243241" y="3518631"/>
              <a:chExt cx="3974459" cy="130472"/>
            </a:xfrm>
          </p:grpSpPr>
          <p:cxnSp>
            <p:nvCxnSpPr>
              <p:cNvPr id="24" name="直接连接符 23"/>
              <p:cNvCxnSpPr/>
              <p:nvPr/>
            </p:nvCxnSpPr>
            <p:spPr>
              <a:xfrm>
                <a:off x="2243241" y="3649103"/>
                <a:ext cx="3966785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>
                <a:off x="5974300" y="3518631"/>
                <a:ext cx="243400" cy="130472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3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204" y="1627865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56" y="3747746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805345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pic>
        <p:nvPicPr>
          <p:cNvPr id="2" name="20 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993" y="5512045"/>
            <a:ext cx="530013" cy="381609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031" y="3747746"/>
            <a:ext cx="530013" cy="381609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471" y="1627865"/>
            <a:ext cx="539132" cy="45797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432483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5593403" y="5872552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0461954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59369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2041942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2356665" y="3592754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38" name="文本框 37"/>
          <p:cNvSpPr txBox="1"/>
          <p:nvPr/>
        </p:nvSpPr>
        <p:spPr>
          <a:xfrm>
            <a:off x="4874272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6575276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984512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3" name="文本框 42"/>
          <p:cNvSpPr txBox="1"/>
          <p:nvPr/>
        </p:nvSpPr>
        <p:spPr>
          <a:xfrm>
            <a:off x="8739711" y="3490415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44" name="文本框 43"/>
          <p:cNvSpPr txBox="1"/>
          <p:nvPr/>
        </p:nvSpPr>
        <p:spPr>
          <a:xfrm>
            <a:off x="9308006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696282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192.168.16.129/26</a:t>
            </a:r>
            <a:endParaRPr lang="en-US" altLang="zh-CN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696282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192.168.16.190</a:t>
            </a:r>
            <a:endParaRPr lang="en-US" altLang="zh-CN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749387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192.168.16.190/26</a:t>
            </a:r>
            <a:endParaRPr lang="en-US" altLang="zh-CN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2490488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30.0.0.1/30</a:t>
            </a:r>
            <a:endParaRPr lang="en-US" altLang="zh-CN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422883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10.0.0.1/30</a:t>
            </a:r>
            <a:endParaRPr lang="en-US" altLang="zh-CN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3700625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10.0.0.2/30</a:t>
            </a:r>
            <a:endParaRPr lang="en-US" altLang="zh-CN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6585858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20.0.0.2/30</a:t>
            </a:r>
            <a:endParaRPr lang="en-US" altLang="zh-CN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9845122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20.0.0.1/30</a:t>
            </a:r>
            <a:endParaRPr lang="en-US" altLang="zh-CN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7730959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30.0.0.2/30</a:t>
            </a:r>
            <a:endParaRPr lang="en-US" altLang="zh-CN" b="1" dirty="0"/>
          </a:p>
        </p:txBody>
      </p:sp>
      <p:sp>
        <p:nvSpPr>
          <p:cNvPr id="45" name="等腰三角形 44"/>
          <p:cNvSpPr/>
          <p:nvPr/>
        </p:nvSpPr>
        <p:spPr>
          <a:xfrm>
            <a:off x="1968014" y="332073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等腰三角形 47"/>
          <p:cNvSpPr/>
          <p:nvPr/>
        </p:nvSpPr>
        <p:spPr>
          <a:xfrm>
            <a:off x="1968014" y="23248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10090287" y="332073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10090287" y="23248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2479332" y="39184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521550" y="380415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2357854" y="41799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5430481" y="545829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6621019" y="545829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9828893" y="415348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864130" y="2216828"/>
            <a:ext cx="1733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192.168.16.0/25</a:t>
            </a:r>
            <a:endParaRPr lang="en-US" altLang="zh-CN" sz="20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5220727" y="3985021"/>
            <a:ext cx="1753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30.0.0.0/30</a:t>
            </a:r>
            <a:endParaRPr lang="en-US" altLang="zh-CN" sz="20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3879484" y="4228173"/>
            <a:ext cx="13185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10.0.0.0/30</a:t>
            </a:r>
            <a:endParaRPr lang="en-US" altLang="zh-CN" sz="2000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68899" y="4228173"/>
            <a:ext cx="13236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20.0.0.0/30</a:t>
            </a:r>
            <a:endParaRPr lang="en-US" altLang="zh-CN" sz="2000" b="1" dirty="0"/>
          </a:p>
        </p:txBody>
      </p:sp>
      <p:sp>
        <p:nvSpPr>
          <p:cNvPr id="20" name="文本框 19"/>
          <p:cNvSpPr txBox="1"/>
          <p:nvPr/>
        </p:nvSpPr>
        <p:spPr>
          <a:xfrm>
            <a:off x="7670512" y="2216828"/>
            <a:ext cx="19971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192.168.16.128/26</a:t>
            </a:r>
            <a:endParaRPr lang="en-US" altLang="zh-CN" sz="20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2035100" y="2131282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329614" y="2085838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28" name="文本框 27"/>
          <p:cNvSpPr txBox="1"/>
          <p:nvPr/>
        </p:nvSpPr>
        <p:spPr>
          <a:xfrm>
            <a:off x="95497" y="2709407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1</a:t>
            </a:r>
            <a:endParaRPr lang="en-US" altLang="zh-CN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2145170" y="5257469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1</a:t>
            </a:r>
            <a:endParaRPr lang="en-US" altLang="zh-CN" b="1" dirty="0"/>
          </a:p>
        </p:txBody>
      </p:sp>
      <p:sp>
        <p:nvSpPr>
          <p:cNvPr id="33" name="文本框 32"/>
          <p:cNvSpPr txBox="1"/>
          <p:nvPr/>
        </p:nvSpPr>
        <p:spPr>
          <a:xfrm>
            <a:off x="8043388" y="5257469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1</a:t>
            </a:r>
            <a:endParaRPr lang="en-US" altLang="zh-CN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10189151" y="2709407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1</a:t>
            </a:r>
            <a:endParaRPr lang="en-US" altLang="zh-CN" b="1" dirty="0"/>
          </a:p>
        </p:txBody>
      </p:sp>
      <p:grpSp>
        <p:nvGrpSpPr>
          <p:cNvPr id="64" name="组合 63"/>
          <p:cNvGrpSpPr/>
          <p:nvPr/>
        </p:nvGrpSpPr>
        <p:grpSpPr>
          <a:xfrm>
            <a:off x="6284060" y="3653663"/>
            <a:ext cx="3813127" cy="1865696"/>
            <a:chOff x="6284060" y="3653663"/>
            <a:chExt cx="3813127" cy="1865696"/>
          </a:xfrm>
        </p:grpSpPr>
        <p:cxnSp>
          <p:nvCxnSpPr>
            <p:cNvPr id="65" name="直接箭头连接符 64"/>
            <p:cNvCxnSpPr/>
            <p:nvPr/>
          </p:nvCxnSpPr>
          <p:spPr>
            <a:xfrm flipV="1">
              <a:off x="6284060" y="4068295"/>
              <a:ext cx="3551623" cy="1451064"/>
            </a:xfrm>
            <a:prstGeom prst="straightConnector1">
              <a:avLst/>
            </a:prstGeom>
            <a:ln w="38100">
              <a:solidFill>
                <a:schemeClr val="accent4"/>
              </a:solidFill>
              <a:prstDash val="sys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/>
            <p:cNvCxnSpPr/>
            <p:nvPr/>
          </p:nvCxnSpPr>
          <p:spPr>
            <a:xfrm flipH="1">
              <a:off x="9633381" y="3653663"/>
              <a:ext cx="463806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prstDash val="sys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组合 66"/>
          <p:cNvGrpSpPr/>
          <p:nvPr/>
        </p:nvGrpSpPr>
        <p:grpSpPr>
          <a:xfrm>
            <a:off x="2108128" y="3634966"/>
            <a:ext cx="6762128" cy="1871535"/>
            <a:chOff x="2108128" y="3634966"/>
            <a:chExt cx="6762128" cy="1871535"/>
          </a:xfrm>
        </p:grpSpPr>
        <p:cxnSp>
          <p:nvCxnSpPr>
            <p:cNvPr id="71" name="直接箭头连接符 70"/>
            <p:cNvCxnSpPr/>
            <p:nvPr/>
          </p:nvCxnSpPr>
          <p:spPr>
            <a:xfrm flipH="1" flipV="1">
              <a:off x="2476436" y="4130293"/>
              <a:ext cx="3449621" cy="1376208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lgDashDot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1"/>
            <p:cNvCxnSpPr/>
            <p:nvPr/>
          </p:nvCxnSpPr>
          <p:spPr>
            <a:xfrm flipV="1">
              <a:off x="2108128" y="3634966"/>
              <a:ext cx="6762128" cy="8821"/>
            </a:xfrm>
            <a:prstGeom prst="straightConnector1">
              <a:avLst/>
            </a:prstGeom>
            <a:ln w="38100">
              <a:solidFill>
                <a:schemeClr val="accent3"/>
              </a:solidFill>
              <a:prstDash val="lgDashDot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矩形 72"/>
          <p:cNvSpPr/>
          <p:nvPr/>
        </p:nvSpPr>
        <p:spPr>
          <a:xfrm>
            <a:off x="2127352" y="2118664"/>
            <a:ext cx="7964699" cy="10873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         </a:t>
            </a:r>
            <a:r>
              <a:rPr lang="zh-CN" altLang="en-US" sz="2000" b="1" dirty="0"/>
              <a:t>“</a:t>
            </a:r>
            <a:r>
              <a:rPr lang="en-US" altLang="zh-CN" sz="2000" b="1" dirty="0"/>
              <a:t>ping”</a:t>
            </a:r>
            <a:r>
              <a:rPr lang="zh-CN" altLang="en-US" sz="2000" b="1" dirty="0"/>
              <a:t>命令相关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数据报会交替在这两条</a:t>
            </a:r>
            <a:r>
              <a:rPr lang="en-US" altLang="zh-CN" sz="2000" b="1" dirty="0"/>
              <a:t>OSPF</a:t>
            </a:r>
            <a:r>
              <a:rPr lang="zh-CN" altLang="en-US" sz="2000" b="1" dirty="0"/>
              <a:t>路由中传送，这就是所谓的等价负载均衡。</a:t>
            </a:r>
            <a:endParaRPr lang="zh-CN" altLang="en-US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3726607" y="685800"/>
            <a:ext cx="4749425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11.  </a:t>
            </a:r>
            <a:r>
              <a:rPr lang="zh-CN" altLang="en-US" sz="2400" b="1" dirty="0"/>
              <a:t>观察各路由器的</a:t>
            </a:r>
            <a:r>
              <a:rPr lang="en-US" altLang="zh-CN" sz="2400" b="1" dirty="0"/>
              <a:t>OSPF</a:t>
            </a:r>
            <a:r>
              <a:rPr lang="zh-CN" altLang="en-US" sz="2400" b="1" dirty="0"/>
              <a:t>相关事件</a:t>
            </a:r>
            <a:endParaRPr lang="en-US" altLang="zh-CN" sz="2400" b="1" dirty="0"/>
          </a:p>
        </p:txBody>
      </p:sp>
      <p:sp>
        <p:nvSpPr>
          <p:cNvPr id="46" name="文本框 45"/>
          <p:cNvSpPr txBox="1"/>
          <p:nvPr/>
        </p:nvSpPr>
        <p:spPr>
          <a:xfrm>
            <a:off x="243833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192.168.16.1/25</a:t>
            </a:r>
            <a:endParaRPr lang="en-US" altLang="zh-CN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243833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192.168.16.126</a:t>
            </a:r>
            <a:endParaRPr lang="en-US" altLang="zh-CN" b="1" dirty="0"/>
          </a:p>
        </p:txBody>
      </p:sp>
      <p:sp>
        <p:nvSpPr>
          <p:cNvPr id="53" name="文本框 52"/>
          <p:cNvSpPr txBox="1"/>
          <p:nvPr/>
        </p:nvSpPr>
        <p:spPr>
          <a:xfrm>
            <a:off x="203805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192.168.16.126/25</a:t>
            </a:r>
            <a:endParaRPr lang="en-US" altLang="zh-CN" b="1" dirty="0"/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6292355" y="4129355"/>
            <a:ext cx="3797032" cy="157349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2094813" y="4118803"/>
            <a:ext cx="3797030" cy="157349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0147084" y="2057849"/>
            <a:ext cx="0" cy="17324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028615" y="2057849"/>
            <a:ext cx="0" cy="17324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2243241" y="3840969"/>
            <a:ext cx="7697844" cy="130472"/>
            <a:chOff x="2243241" y="3518631"/>
            <a:chExt cx="7697844" cy="130472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5974300" y="3518631"/>
              <a:ext cx="396678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组合 22"/>
            <p:cNvGrpSpPr/>
            <p:nvPr/>
          </p:nvGrpSpPr>
          <p:grpSpPr>
            <a:xfrm>
              <a:off x="2243241" y="3518631"/>
              <a:ext cx="3974459" cy="130472"/>
              <a:chOff x="2243241" y="3518631"/>
              <a:chExt cx="3974459" cy="130472"/>
            </a:xfrm>
          </p:grpSpPr>
          <p:cxnSp>
            <p:nvCxnSpPr>
              <p:cNvPr id="24" name="直接连接符 23"/>
              <p:cNvCxnSpPr/>
              <p:nvPr/>
            </p:nvCxnSpPr>
            <p:spPr>
              <a:xfrm>
                <a:off x="2243241" y="3649103"/>
                <a:ext cx="3966785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>
                <a:off x="5974300" y="3518631"/>
                <a:ext cx="243400" cy="130472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3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204" y="1627865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56" y="3747746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805345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pic>
        <p:nvPicPr>
          <p:cNvPr id="2" name="20 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993" y="5512045"/>
            <a:ext cx="530013" cy="381609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031" y="3747746"/>
            <a:ext cx="530013" cy="381609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471" y="1627865"/>
            <a:ext cx="539132" cy="45797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432483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5593403" y="5872552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0461954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59369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2041942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2356665" y="3592754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38" name="文本框 37"/>
          <p:cNvSpPr txBox="1"/>
          <p:nvPr/>
        </p:nvSpPr>
        <p:spPr>
          <a:xfrm>
            <a:off x="4874272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6575276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984512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3" name="文本框 42"/>
          <p:cNvSpPr txBox="1"/>
          <p:nvPr/>
        </p:nvSpPr>
        <p:spPr>
          <a:xfrm>
            <a:off x="8739711" y="3490415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44" name="文本框 43"/>
          <p:cNvSpPr txBox="1"/>
          <p:nvPr/>
        </p:nvSpPr>
        <p:spPr>
          <a:xfrm>
            <a:off x="9308006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696282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192.168.16.129/26</a:t>
            </a:r>
            <a:endParaRPr lang="en-US" altLang="zh-CN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696282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192.168.16.190</a:t>
            </a:r>
            <a:endParaRPr lang="en-US" altLang="zh-CN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749387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192.168.16.190/26</a:t>
            </a:r>
            <a:endParaRPr lang="en-US" altLang="zh-CN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2490488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30.0.0.1/30</a:t>
            </a:r>
            <a:endParaRPr lang="en-US" altLang="zh-CN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422883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10.0.0.1/30</a:t>
            </a:r>
            <a:endParaRPr lang="en-US" altLang="zh-CN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3700625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10.0.0.2/30</a:t>
            </a:r>
            <a:endParaRPr lang="en-US" altLang="zh-CN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6585858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20.0.0.2/30</a:t>
            </a:r>
            <a:endParaRPr lang="en-US" altLang="zh-CN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9845122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20.0.0.1/30</a:t>
            </a:r>
            <a:endParaRPr lang="en-US" altLang="zh-CN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7730959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30.0.0.2/30</a:t>
            </a:r>
            <a:endParaRPr lang="en-US" altLang="zh-CN" b="1" dirty="0"/>
          </a:p>
        </p:txBody>
      </p:sp>
      <p:sp>
        <p:nvSpPr>
          <p:cNvPr id="45" name="等腰三角形 44"/>
          <p:cNvSpPr/>
          <p:nvPr/>
        </p:nvSpPr>
        <p:spPr>
          <a:xfrm>
            <a:off x="1968014" y="332073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等腰三角形 47"/>
          <p:cNvSpPr/>
          <p:nvPr/>
        </p:nvSpPr>
        <p:spPr>
          <a:xfrm>
            <a:off x="1968014" y="23248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10090287" y="332073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10090287" y="23248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2479332" y="39184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521550" y="380415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2357854" y="41799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5430481" y="545829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6621019" y="545829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9828893" y="415348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864130" y="2216828"/>
            <a:ext cx="1733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192.168.16.0/25</a:t>
            </a:r>
            <a:endParaRPr lang="en-US" altLang="zh-CN" sz="20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5220727" y="3985021"/>
            <a:ext cx="1753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30.0.0.0/30</a:t>
            </a:r>
            <a:endParaRPr lang="en-US" altLang="zh-CN" sz="20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3879484" y="4228173"/>
            <a:ext cx="13185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10.0.0.0/30</a:t>
            </a:r>
            <a:endParaRPr lang="en-US" altLang="zh-CN" sz="2000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68899" y="4228173"/>
            <a:ext cx="13236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20.0.0.0/30</a:t>
            </a:r>
            <a:endParaRPr lang="en-US" altLang="zh-CN" sz="2000" b="1" dirty="0"/>
          </a:p>
        </p:txBody>
      </p:sp>
      <p:sp>
        <p:nvSpPr>
          <p:cNvPr id="20" name="文本框 19"/>
          <p:cNvSpPr txBox="1"/>
          <p:nvPr/>
        </p:nvSpPr>
        <p:spPr>
          <a:xfrm>
            <a:off x="7670512" y="2216828"/>
            <a:ext cx="19971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192.168.16.128/26</a:t>
            </a:r>
            <a:endParaRPr lang="en-US" altLang="zh-CN" sz="20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2035100" y="2131282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329614" y="2085838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28" name="文本框 27"/>
          <p:cNvSpPr txBox="1"/>
          <p:nvPr/>
        </p:nvSpPr>
        <p:spPr>
          <a:xfrm>
            <a:off x="95497" y="2709407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1</a:t>
            </a:r>
            <a:endParaRPr lang="en-US" altLang="zh-CN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2145170" y="5257469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1</a:t>
            </a:r>
            <a:endParaRPr lang="en-US" altLang="zh-CN" b="1" dirty="0"/>
          </a:p>
        </p:txBody>
      </p:sp>
      <p:sp>
        <p:nvSpPr>
          <p:cNvPr id="33" name="文本框 32"/>
          <p:cNvSpPr txBox="1"/>
          <p:nvPr/>
        </p:nvSpPr>
        <p:spPr>
          <a:xfrm>
            <a:off x="8043388" y="5257469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1</a:t>
            </a:r>
            <a:endParaRPr lang="en-US" altLang="zh-CN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10189151" y="2709407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1</a:t>
            </a:r>
            <a:endParaRPr lang="en-US" altLang="zh-CN" b="1" dirty="0"/>
          </a:p>
        </p:txBody>
      </p:sp>
      <p:sp>
        <p:nvSpPr>
          <p:cNvPr id="74" name="文本框 73"/>
          <p:cNvSpPr txBox="1"/>
          <p:nvPr/>
        </p:nvSpPr>
        <p:spPr>
          <a:xfrm>
            <a:off x="95497" y="2384189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100Mb/s</a:t>
            </a:r>
            <a:endParaRPr lang="en-US" altLang="zh-CN" b="1" dirty="0"/>
          </a:p>
        </p:txBody>
      </p:sp>
      <p:sp>
        <p:nvSpPr>
          <p:cNvPr id="75" name="文本框 74"/>
          <p:cNvSpPr txBox="1"/>
          <p:nvPr/>
        </p:nvSpPr>
        <p:spPr>
          <a:xfrm>
            <a:off x="2145170" y="4932251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1000Mb/s</a:t>
            </a:r>
            <a:endParaRPr lang="en-US" altLang="zh-CN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8043388" y="4932251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1000Mb/s</a:t>
            </a:r>
            <a:endParaRPr lang="en-US" altLang="zh-CN" b="1" dirty="0"/>
          </a:p>
        </p:txBody>
      </p:sp>
      <p:sp>
        <p:nvSpPr>
          <p:cNvPr id="77" name="文本框 76"/>
          <p:cNvSpPr txBox="1"/>
          <p:nvPr/>
        </p:nvSpPr>
        <p:spPr>
          <a:xfrm>
            <a:off x="10189151" y="2384189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100Mb/s</a:t>
            </a:r>
            <a:endParaRPr lang="en-US" altLang="zh-CN" b="1" dirty="0"/>
          </a:p>
        </p:txBody>
      </p:sp>
      <p:sp>
        <p:nvSpPr>
          <p:cNvPr id="87" name="文本框 86"/>
          <p:cNvSpPr txBox="1"/>
          <p:nvPr/>
        </p:nvSpPr>
        <p:spPr>
          <a:xfrm>
            <a:off x="5093069" y="2957175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1.544Mb/s</a:t>
            </a:r>
            <a:endParaRPr lang="en-US" altLang="zh-CN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5093069" y="3282393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64</a:t>
            </a:r>
            <a:endParaRPr lang="en-US" altLang="zh-CN" b="1" dirty="0"/>
          </a:p>
        </p:txBody>
      </p:sp>
      <p:sp>
        <p:nvSpPr>
          <p:cNvPr id="63" name="矩形 62"/>
          <p:cNvSpPr/>
          <p:nvPr/>
        </p:nvSpPr>
        <p:spPr>
          <a:xfrm>
            <a:off x="2339720" y="1457180"/>
            <a:ext cx="7309033" cy="21798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         对于以太网或者点对点网络，使用</a:t>
            </a:r>
            <a:r>
              <a:rPr lang="en-US" altLang="zh-CN" sz="2000" b="1" dirty="0"/>
              <a:t>OSPF</a:t>
            </a:r>
            <a:r>
              <a:rPr lang="zh-CN" altLang="en-US" sz="2000" b="1" dirty="0"/>
              <a:t>的路由器会周期性地发送问候（</a:t>
            </a:r>
            <a:r>
              <a:rPr lang="en-US" altLang="zh-CN" sz="2000" b="1" dirty="0"/>
              <a:t>Hello</a:t>
            </a:r>
            <a:r>
              <a:rPr lang="zh-CN" altLang="en-US" sz="2000" b="1" dirty="0"/>
              <a:t>）分组，默认发送周期为</a:t>
            </a:r>
            <a:r>
              <a:rPr lang="en-US" altLang="zh-CN" sz="2000" b="1" dirty="0"/>
              <a:t>10</a:t>
            </a:r>
            <a:r>
              <a:rPr lang="zh-CN" altLang="en-US" sz="2000" b="1" dirty="0"/>
              <a:t>秒（也可使用命令进行修改）。周期性发送</a:t>
            </a:r>
            <a:r>
              <a:rPr lang="en-US" altLang="zh-CN" sz="2000" b="1" dirty="0"/>
              <a:t>Hello</a:t>
            </a:r>
            <a:r>
              <a:rPr lang="zh-CN" altLang="en-US" sz="2000" b="1" dirty="0"/>
              <a:t>分组的目的是：发现和维护邻居路由器的可达性。</a:t>
            </a:r>
            <a:endParaRPr lang="zh-CN" altLang="en-US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6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3726607" y="685800"/>
            <a:ext cx="4749425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11.  </a:t>
            </a:r>
            <a:r>
              <a:rPr lang="zh-CN" altLang="en-US" sz="2400" b="1" dirty="0"/>
              <a:t>观察各路由器的</a:t>
            </a:r>
            <a:r>
              <a:rPr lang="en-US" altLang="zh-CN" sz="2400" b="1" dirty="0"/>
              <a:t>OSPF</a:t>
            </a:r>
            <a:r>
              <a:rPr lang="zh-CN" altLang="en-US" sz="2400" b="1" dirty="0"/>
              <a:t>相关事件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64" name="20 6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1119" y="3077380"/>
            <a:ext cx="3309761" cy="1387325"/>
          </a:xfrm>
          <a:prstGeom prst="rect">
            <a:avLst/>
          </a:prstGeom>
        </p:spPr>
      </p:pic>
      <p:grpSp>
        <p:nvGrpSpPr>
          <p:cNvPr id="65" name="组合 64"/>
          <p:cNvGrpSpPr/>
          <p:nvPr/>
        </p:nvGrpSpPr>
        <p:grpSpPr>
          <a:xfrm>
            <a:off x="4878450" y="2306179"/>
            <a:ext cx="3258944" cy="771201"/>
            <a:chOff x="10167773" y="1392832"/>
            <a:chExt cx="3258944" cy="771201"/>
          </a:xfrm>
        </p:grpSpPr>
        <p:cxnSp>
          <p:nvCxnSpPr>
            <p:cNvPr id="66" name="直接箭头连接符 65"/>
            <p:cNvCxnSpPr/>
            <p:nvPr/>
          </p:nvCxnSpPr>
          <p:spPr>
            <a:xfrm>
              <a:off x="11544809" y="1792942"/>
              <a:ext cx="0" cy="371091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文本框 66"/>
            <p:cNvSpPr txBox="1"/>
            <p:nvPr/>
          </p:nvSpPr>
          <p:spPr>
            <a:xfrm>
              <a:off x="10167773" y="1392832"/>
              <a:ext cx="32589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切换到“实时”工作模式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7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20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333" y="1364043"/>
            <a:ext cx="10837333" cy="5067012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3726607" y="685800"/>
            <a:ext cx="4749425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11.  </a:t>
            </a:r>
            <a:r>
              <a:rPr lang="zh-CN" altLang="en-US" sz="2400" b="1" dirty="0"/>
              <a:t>观察各路由器的</a:t>
            </a:r>
            <a:r>
              <a:rPr lang="en-US" altLang="zh-CN" sz="2400" b="1" dirty="0"/>
              <a:t>OSPF</a:t>
            </a:r>
            <a:r>
              <a:rPr lang="zh-CN" altLang="en-US" sz="2400" b="1" dirty="0"/>
              <a:t>相关事件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849860" y="2174013"/>
            <a:ext cx="3280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查看路由器的</a:t>
            </a:r>
            <a:r>
              <a:rPr lang="en-US" altLang="zh-CN" sz="1600" b="1" dirty="0">
                <a:solidFill>
                  <a:srgbClr val="FF0000"/>
                </a:solidFill>
              </a:rPr>
              <a:t>OSPF</a:t>
            </a:r>
            <a:r>
              <a:rPr lang="zh-CN" altLang="en-US" sz="1600" b="1" dirty="0">
                <a:solidFill>
                  <a:srgbClr val="FF0000"/>
                </a:solidFill>
              </a:rPr>
              <a:t>相关事件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772161" y="2677083"/>
            <a:ext cx="6911512" cy="3100570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849860" y="2578662"/>
            <a:ext cx="32804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路由器</a:t>
            </a:r>
            <a:r>
              <a:rPr lang="en-US" altLang="zh-CN" sz="1600" b="1" dirty="0">
                <a:solidFill>
                  <a:srgbClr val="FF0000"/>
                </a:solidFill>
              </a:rPr>
              <a:t>Router0</a:t>
            </a:r>
            <a:r>
              <a:rPr lang="zh-CN" altLang="en-US" sz="1600" b="1" dirty="0">
                <a:solidFill>
                  <a:srgbClr val="FF0000"/>
                </a:solidFill>
              </a:rPr>
              <a:t>每隔</a:t>
            </a:r>
            <a:r>
              <a:rPr lang="en-US" altLang="zh-CN" sz="1600" b="1" dirty="0">
                <a:solidFill>
                  <a:srgbClr val="FF0000"/>
                </a:solidFill>
              </a:rPr>
              <a:t>10</a:t>
            </a:r>
            <a:r>
              <a:rPr lang="zh-CN" altLang="en-US" sz="1600" b="1" dirty="0">
                <a:solidFill>
                  <a:srgbClr val="FF0000"/>
                </a:solidFill>
              </a:rPr>
              <a:t>秒就会分别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从自己的接口</a:t>
            </a:r>
            <a:r>
              <a:rPr lang="en-US" altLang="zh-CN" sz="1600" b="1" dirty="0">
                <a:solidFill>
                  <a:srgbClr val="FF0000"/>
                </a:solidFill>
              </a:rPr>
              <a:t>Serial0/0/0</a:t>
            </a:r>
            <a:r>
              <a:rPr lang="zh-CN" altLang="en-US" sz="1600" b="1" dirty="0">
                <a:solidFill>
                  <a:srgbClr val="FF0000"/>
                </a:solidFill>
              </a:rPr>
              <a:t>和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r>
              <a:rPr lang="en-US" altLang="zh-CN" sz="1600" b="1" dirty="0">
                <a:solidFill>
                  <a:srgbClr val="FF0000"/>
                </a:solidFill>
              </a:rPr>
              <a:t>//  GigabitEthernet0/1</a:t>
            </a:r>
            <a:r>
              <a:rPr lang="zh-CN" altLang="en-US" sz="1600" b="1" dirty="0">
                <a:solidFill>
                  <a:srgbClr val="FF0000"/>
                </a:solidFill>
              </a:rPr>
              <a:t>收到来自其邻居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路由器</a:t>
            </a:r>
            <a:r>
              <a:rPr lang="en-US" altLang="zh-CN" sz="1600" b="1" dirty="0">
                <a:solidFill>
                  <a:srgbClr val="FF0000"/>
                </a:solidFill>
              </a:rPr>
              <a:t>Router1</a:t>
            </a:r>
            <a:r>
              <a:rPr lang="zh-CN" altLang="en-US" sz="1600" b="1" dirty="0">
                <a:solidFill>
                  <a:srgbClr val="FF0000"/>
                </a:solidFill>
              </a:rPr>
              <a:t>（</a:t>
            </a:r>
            <a:r>
              <a:rPr lang="en-US" altLang="zh-CN" sz="1600" b="1" dirty="0">
                <a:solidFill>
                  <a:srgbClr val="FF0000"/>
                </a:solidFill>
              </a:rPr>
              <a:t>IP</a:t>
            </a:r>
            <a:r>
              <a:rPr lang="zh-CN" altLang="en-US" sz="1600" b="1" dirty="0">
                <a:solidFill>
                  <a:srgbClr val="FF0000"/>
                </a:solidFill>
              </a:rPr>
              <a:t>地址为</a:t>
            </a:r>
            <a:r>
              <a:rPr lang="en-US" altLang="zh-CN" sz="1600" b="1" dirty="0">
                <a:solidFill>
                  <a:srgbClr val="FF0000"/>
                </a:solidFill>
              </a:rPr>
              <a:t>30.0.0.2</a:t>
            </a:r>
            <a:r>
              <a:rPr lang="zh-CN" altLang="en-US" sz="1600" b="1" dirty="0">
                <a:solidFill>
                  <a:srgbClr val="FF0000"/>
                </a:solidFill>
              </a:rPr>
              <a:t>）</a:t>
            </a:r>
            <a:r>
              <a:rPr lang="en-US" altLang="zh-CN" sz="1600" b="1" dirty="0">
                <a:solidFill>
                  <a:srgbClr val="FF0000"/>
                </a:solidFill>
              </a:rPr>
              <a:t>//  </a:t>
            </a:r>
            <a:r>
              <a:rPr lang="zh-CN" altLang="en-US" sz="1600" b="1" dirty="0">
                <a:solidFill>
                  <a:srgbClr val="FF0000"/>
                </a:solidFill>
              </a:rPr>
              <a:t>和</a:t>
            </a:r>
            <a:r>
              <a:rPr lang="en-US" altLang="zh-CN" sz="1600" b="1" dirty="0">
                <a:solidFill>
                  <a:srgbClr val="FF0000"/>
                </a:solidFill>
              </a:rPr>
              <a:t>Router2</a:t>
            </a:r>
            <a:r>
              <a:rPr lang="zh-CN" altLang="en-US" sz="1600" b="1" dirty="0">
                <a:solidFill>
                  <a:srgbClr val="FF0000"/>
                </a:solidFill>
              </a:rPr>
              <a:t>（</a:t>
            </a:r>
            <a:r>
              <a:rPr lang="en-US" altLang="zh-CN" sz="1600" b="1" dirty="0">
                <a:solidFill>
                  <a:srgbClr val="FF0000"/>
                </a:solidFill>
              </a:rPr>
              <a:t>IP</a:t>
            </a:r>
            <a:r>
              <a:rPr lang="zh-CN" altLang="en-US" sz="1600" b="1" dirty="0">
                <a:solidFill>
                  <a:srgbClr val="FF0000"/>
                </a:solidFill>
              </a:rPr>
              <a:t>地址为</a:t>
            </a:r>
            <a:r>
              <a:rPr lang="en-US" altLang="zh-CN" sz="1600" b="1" dirty="0">
                <a:solidFill>
                  <a:srgbClr val="FF0000"/>
                </a:solidFill>
              </a:rPr>
              <a:t>10.0.0.2</a:t>
            </a:r>
            <a:r>
              <a:rPr lang="zh-CN" altLang="en-US" sz="1600" b="1" dirty="0">
                <a:solidFill>
                  <a:srgbClr val="FF0000"/>
                </a:solidFill>
              </a:rPr>
              <a:t>）的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r>
              <a:rPr lang="en-US" altLang="zh-CN" sz="1600" b="1" dirty="0">
                <a:solidFill>
                  <a:srgbClr val="FF0000"/>
                </a:solidFill>
              </a:rPr>
              <a:t>//  Hello</a:t>
            </a:r>
            <a:r>
              <a:rPr lang="zh-CN" altLang="en-US" sz="1600" b="1" dirty="0">
                <a:solidFill>
                  <a:srgbClr val="FF0000"/>
                </a:solidFill>
              </a:rPr>
              <a:t>分组。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72161" y="4669276"/>
            <a:ext cx="10570290" cy="1061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         由于查看</a:t>
            </a:r>
            <a:r>
              <a:rPr lang="en-US" altLang="zh-CN" sz="2000" b="1" dirty="0"/>
              <a:t>OSPF</a:t>
            </a:r>
            <a:r>
              <a:rPr lang="zh-CN" altLang="en-US" sz="2000" b="1" dirty="0"/>
              <a:t>相关事件的过程会永久持续下去，因此在不需要查看该过程时，可在路由器的命令行界面中输入“</a:t>
            </a:r>
            <a:r>
              <a:rPr lang="en-US" altLang="zh-CN" sz="2000" b="1" dirty="0"/>
              <a:t>no debug ip ospf events</a:t>
            </a:r>
            <a:r>
              <a:rPr lang="zh-CN" altLang="en-US" sz="2000" b="1" dirty="0"/>
              <a:t>”命令，关闭该过程。</a:t>
            </a:r>
            <a:endParaRPr lang="zh-CN" altLang="en-US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800" decel="100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1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文本框 62"/>
          <p:cNvSpPr txBox="1"/>
          <p:nvPr/>
        </p:nvSpPr>
        <p:spPr>
          <a:xfrm>
            <a:off x="95497" y="2384189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100Mb/s</a:t>
            </a:r>
            <a:endParaRPr lang="en-US" altLang="zh-CN" b="1" dirty="0"/>
          </a:p>
        </p:txBody>
      </p:sp>
      <p:sp>
        <p:nvSpPr>
          <p:cNvPr id="66" name="文本框 65"/>
          <p:cNvSpPr txBox="1"/>
          <p:nvPr/>
        </p:nvSpPr>
        <p:spPr>
          <a:xfrm>
            <a:off x="2145170" y="4932251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1000Mb/s</a:t>
            </a:r>
            <a:endParaRPr lang="en-US" altLang="zh-CN" b="1" dirty="0"/>
          </a:p>
        </p:txBody>
      </p:sp>
      <p:sp>
        <p:nvSpPr>
          <p:cNvPr id="67" name="文本框 66"/>
          <p:cNvSpPr txBox="1"/>
          <p:nvPr/>
        </p:nvSpPr>
        <p:spPr>
          <a:xfrm>
            <a:off x="8043388" y="4932251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1000Mb/s</a:t>
            </a:r>
            <a:endParaRPr lang="en-US" altLang="zh-CN" b="1" dirty="0"/>
          </a:p>
        </p:txBody>
      </p:sp>
      <p:sp>
        <p:nvSpPr>
          <p:cNvPr id="68" name="文本框 67"/>
          <p:cNvSpPr txBox="1"/>
          <p:nvPr/>
        </p:nvSpPr>
        <p:spPr>
          <a:xfrm>
            <a:off x="10189151" y="2384189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100Mb/s</a:t>
            </a:r>
            <a:endParaRPr lang="en-US" altLang="zh-CN" b="1" dirty="0"/>
          </a:p>
        </p:txBody>
      </p:sp>
      <p:sp>
        <p:nvSpPr>
          <p:cNvPr id="69" name="文本框 68"/>
          <p:cNvSpPr txBox="1"/>
          <p:nvPr/>
        </p:nvSpPr>
        <p:spPr>
          <a:xfrm>
            <a:off x="5093069" y="2957175"/>
            <a:ext cx="228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链路带宽</a:t>
            </a:r>
            <a:r>
              <a:rPr lang="en-US" altLang="zh-CN" b="1" dirty="0"/>
              <a:t>1.544Mb/s</a:t>
            </a:r>
            <a:endParaRPr lang="en-US" altLang="zh-CN" b="1" dirty="0"/>
          </a:p>
        </p:txBody>
      </p:sp>
      <p:sp>
        <p:nvSpPr>
          <p:cNvPr id="21" name="文本框 20"/>
          <p:cNvSpPr txBox="1"/>
          <p:nvPr/>
        </p:nvSpPr>
        <p:spPr>
          <a:xfrm>
            <a:off x="4128680" y="685800"/>
            <a:ext cx="3943905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12.  </a:t>
            </a:r>
            <a:r>
              <a:rPr lang="zh-CN" altLang="en-US" sz="2400" b="1" dirty="0"/>
              <a:t>关闭路由器的</a:t>
            </a:r>
            <a:r>
              <a:rPr lang="en-US" altLang="zh-CN" sz="2400" b="1" dirty="0"/>
              <a:t>OSPF</a:t>
            </a:r>
            <a:r>
              <a:rPr lang="zh-CN" altLang="en-US" sz="2400" b="1" dirty="0"/>
              <a:t>协议</a:t>
            </a:r>
            <a:endParaRPr lang="en-US" altLang="zh-CN" sz="2400" b="1" dirty="0"/>
          </a:p>
        </p:txBody>
      </p:sp>
      <p:sp>
        <p:nvSpPr>
          <p:cNvPr id="46" name="文本框 45"/>
          <p:cNvSpPr txBox="1"/>
          <p:nvPr/>
        </p:nvSpPr>
        <p:spPr>
          <a:xfrm>
            <a:off x="243833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192.168.16.1/25</a:t>
            </a:r>
            <a:endParaRPr lang="en-US" altLang="zh-CN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243833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192.168.16.126</a:t>
            </a:r>
            <a:endParaRPr lang="en-US" altLang="zh-CN" b="1" dirty="0"/>
          </a:p>
        </p:txBody>
      </p:sp>
      <p:sp>
        <p:nvSpPr>
          <p:cNvPr id="53" name="文本框 52"/>
          <p:cNvSpPr txBox="1"/>
          <p:nvPr/>
        </p:nvSpPr>
        <p:spPr>
          <a:xfrm>
            <a:off x="203805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192.168.16.126/25</a:t>
            </a:r>
            <a:endParaRPr lang="en-US" altLang="zh-CN" b="1" dirty="0"/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6292355" y="4129355"/>
            <a:ext cx="3797032" cy="157349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2094813" y="4118803"/>
            <a:ext cx="3797030" cy="157349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0147084" y="2057849"/>
            <a:ext cx="0" cy="17324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028615" y="2057849"/>
            <a:ext cx="0" cy="173241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2243241" y="3840969"/>
            <a:ext cx="7697844" cy="130472"/>
            <a:chOff x="2243241" y="3518631"/>
            <a:chExt cx="7697844" cy="130472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5974300" y="3518631"/>
              <a:ext cx="396678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组合 22"/>
            <p:cNvGrpSpPr/>
            <p:nvPr/>
          </p:nvGrpSpPr>
          <p:grpSpPr>
            <a:xfrm>
              <a:off x="2243241" y="3518631"/>
              <a:ext cx="3974459" cy="130472"/>
              <a:chOff x="2243241" y="3518631"/>
              <a:chExt cx="3974459" cy="130472"/>
            </a:xfrm>
          </p:grpSpPr>
          <p:cxnSp>
            <p:nvCxnSpPr>
              <p:cNvPr id="24" name="直接连接符 23"/>
              <p:cNvCxnSpPr/>
              <p:nvPr/>
            </p:nvCxnSpPr>
            <p:spPr>
              <a:xfrm>
                <a:off x="2243241" y="3649103"/>
                <a:ext cx="3966785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>
                <a:off x="5974300" y="3518631"/>
                <a:ext cx="243400" cy="130472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3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204" y="1627865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56" y="3747746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805345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pic>
        <p:nvPicPr>
          <p:cNvPr id="2" name="20 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993" y="5512045"/>
            <a:ext cx="530013" cy="381609"/>
          </a:xfrm>
          <a:prstGeom prst="rect">
            <a:avLst/>
          </a:prstGeom>
        </p:spPr>
      </p:pic>
      <p:pic>
        <p:nvPicPr>
          <p:cNvPr id="5" name="20 4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031" y="3747746"/>
            <a:ext cx="530013" cy="381609"/>
          </a:xfrm>
          <a:prstGeom prst="rect">
            <a:avLst/>
          </a:prstGeom>
        </p:spPr>
      </p:pic>
      <p:pic>
        <p:nvPicPr>
          <p:cNvPr id="6" name="20 5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471" y="1627865"/>
            <a:ext cx="539132" cy="45797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432483" y="3615384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5593403" y="5872552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10461954" y="1518805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59369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2041942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2356665" y="3592754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38" name="文本框 37"/>
          <p:cNvSpPr txBox="1"/>
          <p:nvPr/>
        </p:nvSpPr>
        <p:spPr>
          <a:xfrm>
            <a:off x="4874272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6575276" y="5539897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9845122" y="4175811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en-US" altLang="zh-CN" b="1" dirty="0"/>
          </a:p>
        </p:txBody>
      </p:sp>
      <p:sp>
        <p:nvSpPr>
          <p:cNvPr id="43" name="文本框 42"/>
          <p:cNvSpPr txBox="1"/>
          <p:nvPr/>
        </p:nvSpPr>
        <p:spPr>
          <a:xfrm>
            <a:off x="8739711" y="3490415"/>
            <a:ext cx="97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Se0/0/0</a:t>
            </a:r>
            <a:endParaRPr lang="en-US" altLang="zh-CN" b="1" dirty="0"/>
          </a:p>
        </p:txBody>
      </p:sp>
      <p:sp>
        <p:nvSpPr>
          <p:cNvPr id="44" name="文本框 43"/>
          <p:cNvSpPr txBox="1"/>
          <p:nvPr/>
        </p:nvSpPr>
        <p:spPr>
          <a:xfrm>
            <a:off x="9308006" y="3176966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en-US" altLang="zh-CN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6962827" y="1518805"/>
            <a:ext cx="2882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     </a:t>
            </a:r>
            <a:r>
              <a:rPr lang="en-US" altLang="zh-CN" b="1" dirty="0"/>
              <a:t>192.168.16.129/26</a:t>
            </a:r>
            <a:endParaRPr lang="en-US" altLang="zh-CN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6962827" y="1804345"/>
            <a:ext cx="281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默认网关：</a:t>
            </a:r>
            <a:r>
              <a:rPr lang="en-US" altLang="zh-CN" b="1" dirty="0"/>
              <a:t>192.168.16.190</a:t>
            </a:r>
            <a:endParaRPr lang="en-US" altLang="zh-CN" b="1" dirty="0"/>
          </a:p>
        </p:txBody>
      </p:sp>
      <p:sp>
        <p:nvSpPr>
          <p:cNvPr id="49" name="文本框 48"/>
          <p:cNvSpPr txBox="1"/>
          <p:nvPr/>
        </p:nvSpPr>
        <p:spPr>
          <a:xfrm>
            <a:off x="7493874" y="2893751"/>
            <a:ext cx="283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192.168.16.190/26</a:t>
            </a:r>
            <a:endParaRPr lang="en-US" altLang="zh-CN" b="1" dirty="0"/>
          </a:p>
        </p:txBody>
      </p:sp>
      <p:sp>
        <p:nvSpPr>
          <p:cNvPr id="50" name="文本框 49"/>
          <p:cNvSpPr txBox="1"/>
          <p:nvPr/>
        </p:nvSpPr>
        <p:spPr>
          <a:xfrm>
            <a:off x="2490488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30.0.0.1/30</a:t>
            </a:r>
            <a:endParaRPr lang="en-US" altLang="zh-CN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422883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10.0.0.1/30</a:t>
            </a:r>
            <a:endParaRPr lang="en-US" altLang="zh-CN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3700625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10.0.0.2/30</a:t>
            </a:r>
            <a:endParaRPr lang="en-US" altLang="zh-CN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6585858" y="5839168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20.0.0.2/30</a:t>
            </a:r>
            <a:endParaRPr lang="en-US" altLang="zh-CN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9845122" y="4517080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20.0.0.1/30</a:t>
            </a:r>
            <a:endParaRPr lang="en-US" altLang="zh-CN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7730959" y="3944695"/>
            <a:ext cx="207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IP</a:t>
            </a:r>
            <a:r>
              <a:rPr lang="zh-CN" altLang="en-US" b="1" dirty="0"/>
              <a:t>地址：</a:t>
            </a:r>
            <a:r>
              <a:rPr lang="en-US" altLang="zh-CN" b="1" dirty="0"/>
              <a:t>30.0.0.2/30</a:t>
            </a:r>
            <a:endParaRPr lang="en-US" altLang="zh-CN" b="1" dirty="0"/>
          </a:p>
        </p:txBody>
      </p:sp>
      <p:sp>
        <p:nvSpPr>
          <p:cNvPr id="45" name="等腰三角形 44"/>
          <p:cNvSpPr/>
          <p:nvPr/>
        </p:nvSpPr>
        <p:spPr>
          <a:xfrm>
            <a:off x="1968014" y="332073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等腰三角形 47"/>
          <p:cNvSpPr/>
          <p:nvPr/>
        </p:nvSpPr>
        <p:spPr>
          <a:xfrm>
            <a:off x="1968014" y="23248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>
            <a:off x="10090287" y="3320732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>
            <a:off x="10090287" y="232486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>
            <a:off x="2479332" y="391843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等腰三角形 55"/>
          <p:cNvSpPr/>
          <p:nvPr/>
        </p:nvSpPr>
        <p:spPr>
          <a:xfrm>
            <a:off x="9521550" y="380415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2357854" y="417997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等腰三角形 57"/>
          <p:cNvSpPr/>
          <p:nvPr/>
        </p:nvSpPr>
        <p:spPr>
          <a:xfrm>
            <a:off x="5430481" y="545829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等腰三角形 58"/>
          <p:cNvSpPr/>
          <p:nvPr/>
        </p:nvSpPr>
        <p:spPr>
          <a:xfrm>
            <a:off x="6621019" y="5458298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9828893" y="4153480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864130" y="2216828"/>
            <a:ext cx="17332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192.168.16.0/25</a:t>
            </a:r>
            <a:endParaRPr lang="en-US" altLang="zh-CN" sz="2000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5220727" y="3985021"/>
            <a:ext cx="1753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30.0.0.0/30</a:t>
            </a:r>
            <a:endParaRPr lang="en-US" altLang="zh-CN" sz="20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3879484" y="4228173"/>
            <a:ext cx="13185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10.0.0.0/30</a:t>
            </a:r>
            <a:endParaRPr lang="en-US" altLang="zh-CN" sz="2000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868899" y="4228173"/>
            <a:ext cx="13236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20.0.0.0/30</a:t>
            </a:r>
            <a:endParaRPr lang="en-US" altLang="zh-CN" sz="2000" b="1" dirty="0"/>
          </a:p>
        </p:txBody>
      </p:sp>
      <p:sp>
        <p:nvSpPr>
          <p:cNvPr id="20" name="文本框 19"/>
          <p:cNvSpPr txBox="1"/>
          <p:nvPr/>
        </p:nvSpPr>
        <p:spPr>
          <a:xfrm>
            <a:off x="7670512" y="2216828"/>
            <a:ext cx="19971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网络</a:t>
            </a:r>
            <a:endParaRPr lang="en-US" altLang="zh-CN" sz="2000" b="1" dirty="0"/>
          </a:p>
          <a:p>
            <a:pPr algn="ctr"/>
            <a:r>
              <a:rPr lang="en-US" altLang="zh-CN" sz="2000" b="1" dirty="0"/>
              <a:t>192.168.16.128/26</a:t>
            </a:r>
            <a:endParaRPr lang="en-US" altLang="zh-CN" sz="20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2035100" y="2131282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9329614" y="2085838"/>
            <a:ext cx="8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Fa0</a:t>
            </a:r>
            <a:endParaRPr lang="en-US" altLang="zh-CN" b="1" dirty="0"/>
          </a:p>
        </p:txBody>
      </p:sp>
      <p:sp>
        <p:nvSpPr>
          <p:cNvPr id="28" name="文本框 27"/>
          <p:cNvSpPr txBox="1"/>
          <p:nvPr/>
        </p:nvSpPr>
        <p:spPr>
          <a:xfrm>
            <a:off x="95497" y="2709407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1</a:t>
            </a:r>
            <a:endParaRPr lang="en-US" altLang="zh-CN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2145170" y="5257469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1</a:t>
            </a:r>
            <a:endParaRPr lang="en-US" altLang="zh-CN" b="1" dirty="0"/>
          </a:p>
        </p:txBody>
      </p:sp>
      <p:sp>
        <p:nvSpPr>
          <p:cNvPr id="33" name="文本框 32"/>
          <p:cNvSpPr txBox="1"/>
          <p:nvPr/>
        </p:nvSpPr>
        <p:spPr>
          <a:xfrm>
            <a:off x="8043388" y="5257469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1</a:t>
            </a:r>
            <a:endParaRPr lang="en-US" altLang="zh-CN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10189151" y="2709407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1</a:t>
            </a:r>
            <a:endParaRPr lang="en-US" altLang="zh-CN" b="1" dirty="0"/>
          </a:p>
        </p:txBody>
      </p:sp>
      <p:sp>
        <p:nvSpPr>
          <p:cNvPr id="62" name="文本框 61"/>
          <p:cNvSpPr txBox="1"/>
          <p:nvPr/>
        </p:nvSpPr>
        <p:spPr>
          <a:xfrm>
            <a:off x="5093069" y="3282393"/>
            <a:ext cx="207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链路代价 </a:t>
            </a:r>
            <a:r>
              <a:rPr lang="en-US" altLang="zh-CN" b="1" dirty="0"/>
              <a:t>= 64</a:t>
            </a:r>
            <a:endParaRPr lang="en-US" altLang="zh-CN" b="1" dirty="0"/>
          </a:p>
        </p:txBody>
      </p:sp>
      <p:sp>
        <p:nvSpPr>
          <p:cNvPr id="64" name="矩形 63"/>
          <p:cNvSpPr/>
          <p:nvPr/>
        </p:nvSpPr>
        <p:spPr>
          <a:xfrm>
            <a:off x="2391178" y="2203248"/>
            <a:ext cx="7460474" cy="10528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         在不需要路由器运行</a:t>
            </a:r>
            <a:r>
              <a:rPr lang="en-US" altLang="zh-CN" sz="2000" b="1" dirty="0"/>
              <a:t>OSPF</a:t>
            </a:r>
            <a:r>
              <a:rPr lang="zh-CN" altLang="en-US" sz="2000" b="1" dirty="0"/>
              <a:t>时，可在路由器的命令行界面中使用相关命令来关闭</a:t>
            </a:r>
            <a:r>
              <a:rPr lang="en-US" altLang="zh-CN" sz="2000" b="1" dirty="0"/>
              <a:t>OSPF</a:t>
            </a:r>
            <a:r>
              <a:rPr lang="zh-CN" altLang="en-US" sz="2000" b="1" dirty="0"/>
              <a:t>，这同时会删除路由表中的</a:t>
            </a:r>
            <a:r>
              <a:rPr lang="en-US" altLang="zh-CN" sz="2000" b="1" dirty="0"/>
              <a:t>OSPF</a:t>
            </a:r>
            <a:r>
              <a:rPr lang="zh-CN" altLang="en-US" sz="2000" b="1" dirty="0"/>
              <a:t>路由条目。</a:t>
            </a:r>
            <a:endParaRPr lang="zh-CN" altLang="en-US" sz="2000" b="1" dirty="0"/>
          </a:p>
        </p:txBody>
      </p:sp>
      <p:sp>
        <p:nvSpPr>
          <p:cNvPr id="65" name="矩形 64"/>
          <p:cNvSpPr/>
          <p:nvPr/>
        </p:nvSpPr>
        <p:spPr>
          <a:xfrm>
            <a:off x="2837434" y="4494281"/>
            <a:ext cx="6342803" cy="919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800" b="1" dirty="0"/>
              <a:t>Router(config)#no router ospf </a:t>
            </a:r>
            <a:r>
              <a:rPr lang="zh-CN" altLang="en-US" sz="2800" b="1" dirty="0"/>
              <a:t>进程号</a:t>
            </a:r>
            <a:r>
              <a:rPr lang="en-US" altLang="zh-CN" sz="2800" b="1" dirty="0"/>
              <a:t>x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00" decel="100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64" grpId="0" animBg="1"/>
      <p:bldP spid="65" grpId="0" animBg="1"/>
    </p:bldLst>
  </p:timing>
</p:sld>
</file>

<file path=ppt/tags/tag1.xml><?xml version="1.0" encoding="utf-8"?>
<p:tagLst xmlns:p="http://schemas.openxmlformats.org/presentationml/2006/main">
  <p:tag name="ISLIDE.GUIDESSETTING" val="{&quot;Id&quot;:&quot;GuidesStyle_Narrow&quot;,&quot;Name&quot;:&quot;GuidesStyle_Narrow&quot;,&quot;Kind&quot;:&quot;System&quot;,&quot;OldGuidesSetting&quot;:{&quot;HeaderHeight&quot;:10.0,&quot;FooterHeight&quot;:5.0,&quot;SideMargin&quot;:2.5,&quot;TopMargin&quot;:0.0,&quot;BottomMargin&quot;:0.0,&quot;IntervalMargin&quot;:1.0}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F84D4D"/>
      </a:accent1>
      <a:accent2>
        <a:srgbClr val="FF6B42"/>
      </a:accent2>
      <a:accent3>
        <a:srgbClr val="5BA3EB"/>
      </a:accent3>
      <a:accent4>
        <a:srgbClr val="06BB9A"/>
      </a:accent4>
      <a:accent5>
        <a:srgbClr val="8E7EF0"/>
      </a:accent5>
      <a:accent6>
        <a:srgbClr val="F4B919"/>
      </a:accent6>
      <a:hlink>
        <a:srgbClr val="4472C4"/>
      </a:hlink>
      <a:folHlink>
        <a:srgbClr val="BFBFBF"/>
      </a:folHlink>
    </a:clrScheme>
    <a:fontScheme name="mgea0xa4">
      <a:majorFont>
        <a:latin typeface="Arial Narrow"/>
        <a:ea typeface="微软雅黑"/>
        <a:cs typeface=""/>
      </a:majorFont>
      <a:minorFont>
        <a:latin typeface="Arial Narrow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11687</Words>
  <Application>WPS 演示</Application>
  <PresentationFormat>宽屏</PresentationFormat>
  <Paragraphs>1891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1" baseType="lpstr">
      <vt:lpstr>Arial</vt:lpstr>
      <vt:lpstr>宋体</vt:lpstr>
      <vt:lpstr>Wingdings</vt:lpstr>
      <vt:lpstr>微软雅黑</vt:lpstr>
      <vt:lpstr>Arial Narrow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user0703</dc:creator>
  <cp:lastModifiedBy>黄小P</cp:lastModifiedBy>
  <cp:revision>568</cp:revision>
  <dcterms:created xsi:type="dcterms:W3CDTF">2021-12-18T00:21:00Z</dcterms:created>
  <dcterms:modified xsi:type="dcterms:W3CDTF">2025-06-20T14:29:23Z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9DDA73FDF2B14AC59306676A43F1A5A6_12</vt:lpwstr>
  </property>
  <property fmtid="{D5CDD505-2E9C-101B-9397-08002B2CF9AE}" pid="3" name="KSOProductBuildVer">
    <vt:lpwstr>2052-12.1.0.21541</vt:lpwstr>
  </property>
</Properties>
</file>