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91" r:id="rId3"/>
    <p:sldId id="292" r:id="rId4"/>
    <p:sldId id="299" r:id="rId5"/>
    <p:sldId id="470" r:id="rId6"/>
    <p:sldId id="471" r:id="rId7"/>
    <p:sldId id="472" r:id="rId8"/>
    <p:sldId id="473" r:id="rId9"/>
    <p:sldId id="474" r:id="rId10"/>
    <p:sldId id="475" r:id="rId11"/>
    <p:sldId id="477" r:id="rId12"/>
    <p:sldId id="476" r:id="rId13"/>
    <p:sldId id="478" r:id="rId14"/>
    <p:sldId id="479" r:id="rId15"/>
    <p:sldId id="480" r:id="rId16"/>
    <p:sldId id="481" r:id="rId17"/>
    <p:sldId id="482" r:id="rId18"/>
    <p:sldId id="483" r:id="rId19"/>
    <p:sldId id="484" r:id="rId20"/>
    <p:sldId id="485" r:id="rId21"/>
    <p:sldId id="486" r:id="rId22"/>
    <p:sldId id="487" r:id="rId23"/>
    <p:sldId id="488" r:id="rId24"/>
    <p:sldId id="489" r:id="rId25"/>
    <p:sldId id="490" r:id="rId26"/>
    <p:sldId id="491" r:id="rId27"/>
    <p:sldId id="492" r:id="rId28"/>
    <p:sldId id="493" r:id="rId29"/>
    <p:sldId id="494" r:id="rId30"/>
    <p:sldId id="495" r:id="rId31"/>
    <p:sldId id="496" r:id="rId32"/>
    <p:sldId id="497" r:id="rId33"/>
    <p:sldId id="498" r:id="rId34"/>
    <p:sldId id="499" r:id="rId35"/>
    <p:sldId id="500" r:id="rId36"/>
    <p:sldId id="501" r:id="rId37"/>
    <p:sldId id="508" r:id="rId38"/>
    <p:sldId id="502" r:id="rId39"/>
    <p:sldId id="503" r:id="rId40"/>
    <p:sldId id="504" r:id="rId41"/>
    <p:sldId id="505" r:id="rId42"/>
    <p:sldId id="506" r:id="rId43"/>
    <p:sldId id="507" r:id="rId44"/>
  </p:sldIdLst>
  <p:sldSz cx="12192000" cy="6858000"/>
  <p:notesSz cx="6858000" cy="9144000"/>
  <p:custDataLst>
    <p:tags r:id="rId4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192" userDrawn="1">
          <p15:clr>
            <a:srgbClr val="A4A3A4"/>
          </p15:clr>
        </p15:guide>
        <p15:guide id="4" pos="7488" userDrawn="1">
          <p15:clr>
            <a:srgbClr val="A4A3A4"/>
          </p15:clr>
        </p15:guide>
        <p15:guide id="5" orient="horz" pos="432" userDrawn="1">
          <p15:clr>
            <a:srgbClr val="A4A3A4"/>
          </p15:clr>
        </p15:guide>
        <p15:guide id="6" orient="horz" pos="472" userDrawn="1">
          <p15:clr>
            <a:srgbClr val="A4A3A4"/>
          </p15:clr>
        </p15:guide>
        <p15:guide id="7" orient="horz" pos="4104" userDrawn="1">
          <p15:clr>
            <a:srgbClr val="A4A3A4"/>
          </p15:clr>
        </p15:guide>
        <p15:guide id="8" orient="horz" pos="40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56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82" y="125"/>
      </p:cViewPr>
      <p:guideLst>
        <p:guide orient="horz" pos="2264"/>
        <p:guide pos="3840"/>
        <p:guide pos="192"/>
        <p:guide pos="7488"/>
        <p:guide orient="horz" pos="432"/>
        <p:guide orient="horz" pos="472"/>
        <p:guide orient="horz" pos="4104"/>
        <p:guide orient="horz" pos="4056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8" Type="http://schemas.openxmlformats.org/officeDocument/2006/relationships/tags" Target="tags/tag1.xml"/><Relationship Id="rId47" Type="http://schemas.openxmlformats.org/officeDocument/2006/relationships/tableStyles" Target="tableStyles.xml"/><Relationship Id="rId46" Type="http://schemas.openxmlformats.org/officeDocument/2006/relationships/viewProps" Target="viewProps.xml"/><Relationship Id="rId45" Type="http://schemas.openxmlformats.org/officeDocument/2006/relationships/presProps" Target="presProps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63500"/>
            <a:ext cx="12207240" cy="622300"/>
          </a:xfrm>
          <a:prstGeom prst="rect">
            <a:avLst/>
          </a:prstGeom>
          <a:solidFill>
            <a:srgbClr val="1B7ADA"/>
          </a:solidFill>
          <a:ln>
            <a:solidFill>
              <a:srgbClr val="1B7AD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/>
              <a:t>动手做计算机网络仿真实验</a:t>
            </a:r>
            <a:r>
              <a:rPr lang="zh-CN" altLang="en-US" sz="2400" b="1" dirty="0"/>
              <a:t>（微课视频版）</a:t>
            </a:r>
            <a:endParaRPr lang="zh-CN" altLang="en-US" sz="2400" b="1" dirty="0"/>
          </a:p>
        </p:txBody>
      </p:sp>
      <p:sp>
        <p:nvSpPr>
          <p:cNvPr id="6" name="矩形 5"/>
          <p:cNvSpPr/>
          <p:nvPr userDrawn="1"/>
        </p:nvSpPr>
        <p:spPr>
          <a:xfrm>
            <a:off x="132079" y="-1"/>
            <a:ext cx="732557" cy="732557"/>
          </a:xfrm>
          <a:prstGeom prst="rect">
            <a:avLst/>
          </a:prstGeom>
          <a:solidFill>
            <a:srgbClr val="8ACF57"/>
          </a:solidFill>
          <a:ln>
            <a:solidFill>
              <a:srgbClr val="8ACF57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/>
          <p:cNvSpPr/>
          <p:nvPr userDrawn="1"/>
        </p:nvSpPr>
        <p:spPr>
          <a:xfrm>
            <a:off x="9850806" y="147319"/>
            <a:ext cx="114853" cy="4498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 userDrawn="1"/>
        </p:nvSpPr>
        <p:spPr>
          <a:xfrm>
            <a:off x="9965107" y="86995"/>
            <a:ext cx="22992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+mj-ea"/>
              </a:rPr>
              <a:t>第</a:t>
            </a:r>
            <a:r>
              <a:rPr lang="en-US" altLang="zh-CN" b="1" dirty="0">
                <a:solidFill>
                  <a:schemeClr val="bg1"/>
                </a:solidFill>
                <a:latin typeface="+mj-ea"/>
                <a:ea typeface="+mj-ea"/>
                <a:cs typeface="+mj-ea"/>
              </a:rPr>
              <a:t>3</a:t>
            </a:r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+mj-ea"/>
              </a:rPr>
              <a:t>章</a:t>
            </a:r>
            <a:endParaRPr lang="en-US" altLang="zh-CN" b="1" dirty="0">
              <a:solidFill>
                <a:schemeClr val="bg1"/>
              </a:solidFill>
              <a:latin typeface="+mj-ea"/>
              <a:ea typeface="+mj-ea"/>
              <a:cs typeface="+mj-ea"/>
            </a:endParaRPr>
          </a:p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+mj-ea"/>
              </a:rPr>
              <a:t>数据链路层相关实验</a:t>
            </a:r>
            <a:endParaRPr lang="zh-CN" altLang="en-US" b="1" dirty="0">
              <a:solidFill>
                <a:schemeClr val="bg1"/>
              </a:solidFill>
              <a:latin typeface="+mj-ea"/>
              <a:ea typeface="+mj-ea"/>
              <a:cs typeface="+mj-ea"/>
            </a:endParaRPr>
          </a:p>
        </p:txBody>
      </p:sp>
      <p:pic>
        <p:nvPicPr>
          <p:cNvPr id="10" name="20 9" descr="logo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308" y="6414723"/>
            <a:ext cx="1882140" cy="441960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10365377" y="6486579"/>
            <a:ext cx="1823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课件制作：高军</a:t>
            </a:r>
            <a:endParaRPr lang="zh-CN" altLang="en-US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image" Target="../media/image1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image" Target="../media/image1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629056" y="1186773"/>
            <a:ext cx="10693939" cy="2116029"/>
            <a:chOff x="629056" y="1186773"/>
            <a:chExt cx="10693939" cy="2116029"/>
          </a:xfrm>
        </p:grpSpPr>
        <p:sp>
          <p:nvSpPr>
            <p:cNvPr id="3" name="文本框 2"/>
            <p:cNvSpPr txBox="1"/>
            <p:nvPr/>
          </p:nvSpPr>
          <p:spPr>
            <a:xfrm>
              <a:off x="629057" y="1186773"/>
              <a:ext cx="240597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spc="600" dirty="0">
                  <a:solidFill>
                    <a:schemeClr val="accent3">
                      <a:lumMod val="75000"/>
                    </a:schemeClr>
                  </a:solidFill>
                </a:rPr>
                <a:t>实验目的</a:t>
              </a:r>
              <a:endParaRPr lang="zh-CN" altLang="en-US" sz="2800" b="1" spc="600" dirty="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629056" y="1880681"/>
              <a:ext cx="10693939" cy="14221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2000" b="1" dirty="0"/>
                <a:t>掌握在以太网交换机上</a:t>
              </a:r>
              <a:r>
                <a:rPr lang="zh-CN" altLang="en-US" sz="2000" b="1" dirty="0">
                  <a:solidFill>
                    <a:srgbClr val="FF0000"/>
                  </a:solidFill>
                </a:rPr>
                <a:t>划分</a:t>
              </a:r>
              <a:r>
                <a:rPr lang="en-US" altLang="zh-CN" sz="2000" b="1" dirty="0">
                  <a:solidFill>
                    <a:srgbClr val="FF0000"/>
                  </a:solidFill>
                </a:rPr>
                <a:t>VLAN</a:t>
              </a:r>
              <a:r>
                <a:rPr lang="zh-CN" altLang="en-US" sz="2000" b="1" dirty="0">
                  <a:solidFill>
                    <a:srgbClr val="FF0000"/>
                  </a:solidFill>
                </a:rPr>
                <a:t>的方法</a:t>
              </a:r>
              <a:r>
                <a:rPr lang="zh-CN" altLang="en-US" sz="2000" b="1" dirty="0"/>
                <a:t>。</a:t>
              </a:r>
              <a:endParaRPr lang="zh-CN" altLang="en-US" sz="2000" b="1" dirty="0"/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2000" b="1" dirty="0"/>
                <a:t>验证划分</a:t>
              </a:r>
              <a:r>
                <a:rPr lang="en-US" altLang="zh-CN" sz="2000" b="1" dirty="0"/>
                <a:t>VLAN</a:t>
              </a:r>
              <a:r>
                <a:rPr lang="zh-CN" altLang="en-US" sz="2000" b="1" dirty="0"/>
                <a:t>可将庞大的</a:t>
              </a:r>
              <a:r>
                <a:rPr lang="zh-CN" altLang="en-US" sz="2000" b="1" dirty="0">
                  <a:solidFill>
                    <a:srgbClr val="FF0000"/>
                  </a:solidFill>
                </a:rPr>
                <a:t>广播域分隔</a:t>
              </a:r>
              <a:r>
                <a:rPr lang="zh-CN" altLang="en-US" sz="2000" b="1" dirty="0"/>
                <a:t>成若干个独立的广播域。</a:t>
              </a:r>
              <a:endParaRPr lang="zh-CN" altLang="en-US" sz="2000" b="1" dirty="0"/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2000" b="1" dirty="0"/>
                <a:t>验证</a:t>
              </a:r>
              <a:r>
                <a:rPr lang="zh-CN" altLang="en-US" sz="2000" b="1" dirty="0">
                  <a:solidFill>
                    <a:srgbClr val="FF0000"/>
                  </a:solidFill>
                </a:rPr>
                <a:t>同一</a:t>
              </a:r>
              <a:r>
                <a:rPr lang="en-US" altLang="zh-CN" sz="2000" b="1" dirty="0">
                  <a:solidFill>
                    <a:srgbClr val="FF0000"/>
                  </a:solidFill>
                </a:rPr>
                <a:t>VLAN</a:t>
              </a:r>
              <a:r>
                <a:rPr lang="zh-CN" altLang="en-US" sz="2000" b="1" dirty="0">
                  <a:solidFill>
                    <a:srgbClr val="FF0000"/>
                  </a:solidFill>
                </a:rPr>
                <a:t>中的计算机之间可以直接通信</a:t>
              </a:r>
              <a:r>
                <a:rPr lang="zh-CN" altLang="en-US" sz="2000" b="1" dirty="0"/>
                <a:t>，</a:t>
              </a:r>
              <a:r>
                <a:rPr lang="zh-CN" altLang="en-US" sz="2000" b="1" dirty="0">
                  <a:solidFill>
                    <a:srgbClr val="FF0000"/>
                  </a:solidFill>
                </a:rPr>
                <a:t>不同</a:t>
              </a:r>
              <a:r>
                <a:rPr lang="en-US" altLang="zh-CN" sz="2000" b="1" dirty="0">
                  <a:solidFill>
                    <a:srgbClr val="FF0000"/>
                  </a:solidFill>
                </a:rPr>
                <a:t>VLAN</a:t>
              </a:r>
              <a:r>
                <a:rPr lang="zh-CN" altLang="en-US" sz="2000" b="1" dirty="0">
                  <a:solidFill>
                    <a:srgbClr val="FF0000"/>
                  </a:solidFill>
                </a:rPr>
                <a:t>中的计算机之间不能直接通信</a:t>
              </a:r>
              <a:r>
                <a:rPr lang="zh-CN" altLang="en-US" sz="2000" b="1" dirty="0"/>
                <a:t>。</a:t>
              </a:r>
              <a:endParaRPr lang="en-US" altLang="zh-CN" sz="2000" b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29057" y="1186773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39511" y="1743825"/>
            <a:ext cx="3047999" cy="498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1.  </a:t>
            </a:r>
            <a:r>
              <a:rPr lang="zh-CN" altLang="en-US" sz="2000" b="1" dirty="0"/>
              <a:t>构建网络拓扑</a:t>
            </a:r>
            <a:endParaRPr lang="en-US" altLang="zh-CN" sz="20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639511" y="2290842"/>
            <a:ext cx="3537336" cy="498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2.  </a:t>
            </a:r>
            <a:r>
              <a:rPr lang="zh-CN" altLang="en-US" sz="2000" b="1" dirty="0"/>
              <a:t>标注</a:t>
            </a:r>
            <a:r>
              <a:rPr lang="en-US" altLang="zh-CN" sz="2000" b="1" dirty="0"/>
              <a:t>IP</a:t>
            </a:r>
            <a:r>
              <a:rPr lang="zh-CN" altLang="en-US" sz="2000" b="1" dirty="0"/>
              <a:t>地址和子网掩码</a:t>
            </a:r>
            <a:endParaRPr lang="en-US" altLang="zh-CN" sz="20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639511" y="2837858"/>
            <a:ext cx="4909225" cy="498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3.  </a:t>
            </a:r>
            <a:r>
              <a:rPr lang="zh-CN" altLang="en-US" sz="2000" b="1" dirty="0"/>
              <a:t>查看并标注交换机接口名称（接口号）</a:t>
            </a:r>
            <a:endParaRPr lang="en-US" altLang="zh-CN" sz="20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639511" y="3384876"/>
            <a:ext cx="3249038" cy="498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4.  </a:t>
            </a:r>
            <a:r>
              <a:rPr lang="zh-CN" altLang="en-US" sz="2000" b="1" dirty="0"/>
              <a:t>配置</a:t>
            </a:r>
            <a:r>
              <a:rPr lang="en-US" altLang="zh-CN" sz="2000" b="1" dirty="0"/>
              <a:t>IP</a:t>
            </a:r>
            <a:r>
              <a:rPr lang="zh-CN" altLang="en-US" sz="2000" b="1" dirty="0"/>
              <a:t>地址和子网掩码</a:t>
            </a:r>
            <a:endParaRPr lang="en-US" altLang="zh-CN" sz="20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639511" y="3931893"/>
            <a:ext cx="3249038" cy="498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5.  </a:t>
            </a:r>
            <a:r>
              <a:rPr lang="zh-CN" altLang="en-US" sz="2000" b="1" dirty="0"/>
              <a:t>选择要监视的网络协议</a:t>
            </a:r>
            <a:endParaRPr lang="en-US" altLang="zh-CN" sz="2000" b="1" dirty="0"/>
          </a:p>
        </p:txBody>
      </p:sp>
      <p:sp>
        <p:nvSpPr>
          <p:cNvPr id="8" name="文本框 7"/>
          <p:cNvSpPr txBox="1"/>
          <p:nvPr/>
        </p:nvSpPr>
        <p:spPr>
          <a:xfrm>
            <a:off x="639511" y="4478910"/>
            <a:ext cx="2405973" cy="498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6.  </a:t>
            </a:r>
            <a:r>
              <a:rPr lang="zh-CN" altLang="en-US" sz="2000" b="1" dirty="0"/>
              <a:t>网络连通性测试</a:t>
            </a:r>
            <a:endParaRPr lang="en-US" altLang="zh-CN" sz="2000" b="1" dirty="0"/>
          </a:p>
        </p:txBody>
      </p:sp>
      <p:sp>
        <p:nvSpPr>
          <p:cNvPr id="9" name="文本框 8"/>
          <p:cNvSpPr txBox="1"/>
          <p:nvPr/>
        </p:nvSpPr>
        <p:spPr>
          <a:xfrm>
            <a:off x="639511" y="5025927"/>
            <a:ext cx="5009017" cy="498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7.  </a:t>
            </a:r>
            <a:r>
              <a:rPr lang="zh-CN" altLang="en-US" sz="2000" b="1" dirty="0"/>
              <a:t>查看交换机的接口（端口）状态汇总表</a:t>
            </a:r>
            <a:endParaRPr lang="en-US" altLang="zh-CN" sz="2000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629057" y="5572946"/>
            <a:ext cx="2863934" cy="498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8.  </a:t>
            </a:r>
            <a:r>
              <a:rPr lang="zh-CN" altLang="en-US" sz="2000" b="1" dirty="0"/>
              <a:t>测试广播域</a:t>
            </a:r>
            <a:endParaRPr lang="en-US" altLang="zh-CN" sz="2000" b="1" dirty="0"/>
          </a:p>
        </p:txBody>
      </p:sp>
      <p:sp>
        <p:nvSpPr>
          <p:cNvPr id="11" name="文本框 10"/>
          <p:cNvSpPr txBox="1"/>
          <p:nvPr/>
        </p:nvSpPr>
        <p:spPr>
          <a:xfrm>
            <a:off x="6096000" y="1742204"/>
            <a:ext cx="3664085" cy="498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9.  </a:t>
            </a:r>
            <a:r>
              <a:rPr lang="zh-CN" altLang="en-US" sz="2000" b="1" dirty="0"/>
              <a:t>在交换机上创建</a:t>
            </a:r>
            <a:r>
              <a:rPr lang="en-US" altLang="zh-CN" sz="2000" b="1" dirty="0"/>
              <a:t>VLAN</a:t>
            </a:r>
            <a:endParaRPr lang="en-US" altLang="zh-CN" sz="2000" b="1" dirty="0"/>
          </a:p>
        </p:txBody>
      </p:sp>
      <p:sp>
        <p:nvSpPr>
          <p:cNvPr id="12" name="文本框 11"/>
          <p:cNvSpPr txBox="1"/>
          <p:nvPr/>
        </p:nvSpPr>
        <p:spPr>
          <a:xfrm>
            <a:off x="6096000" y="2290842"/>
            <a:ext cx="3307404" cy="498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10. </a:t>
            </a:r>
            <a:r>
              <a:rPr lang="zh-CN" altLang="en-US" sz="2000" b="1" dirty="0"/>
              <a:t>在交换机上划分</a:t>
            </a:r>
            <a:r>
              <a:rPr lang="en-US" altLang="zh-CN" sz="2000" b="1" dirty="0"/>
              <a:t>VLAN</a:t>
            </a:r>
            <a:endParaRPr lang="en-US" altLang="zh-CN" sz="2000" b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6096000" y="2837858"/>
            <a:ext cx="5791200" cy="960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11.  </a:t>
            </a:r>
            <a:r>
              <a:rPr lang="zh-CN" altLang="en-US" sz="2000" b="1" dirty="0"/>
              <a:t>验证同一</a:t>
            </a:r>
            <a:r>
              <a:rPr lang="en-US" altLang="zh-CN" sz="2000" b="1" dirty="0"/>
              <a:t>VLAN</a:t>
            </a:r>
            <a:r>
              <a:rPr lang="zh-CN" altLang="en-US" sz="2000" b="1" dirty="0"/>
              <a:t>中的计算机之间可以直接通信，不同</a:t>
            </a:r>
            <a:r>
              <a:rPr lang="en-US" altLang="zh-CN" sz="2000" b="1" dirty="0"/>
              <a:t>VLAN</a:t>
            </a:r>
            <a:r>
              <a:rPr lang="zh-CN" altLang="en-US" sz="2000" b="1" dirty="0"/>
              <a:t>中的计算机之间不能直接通信</a:t>
            </a:r>
            <a:endParaRPr lang="en-US" altLang="zh-CN" sz="2000" b="1" dirty="0"/>
          </a:p>
        </p:txBody>
      </p:sp>
      <p:sp>
        <p:nvSpPr>
          <p:cNvPr id="14" name="文本框 13"/>
          <p:cNvSpPr txBox="1"/>
          <p:nvPr/>
        </p:nvSpPr>
        <p:spPr>
          <a:xfrm>
            <a:off x="6096000" y="3931893"/>
            <a:ext cx="5791200" cy="960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12.  </a:t>
            </a:r>
            <a:r>
              <a:rPr lang="zh-CN" altLang="en-US" sz="2000" b="1" dirty="0"/>
              <a:t>验证划分</a:t>
            </a:r>
            <a:r>
              <a:rPr lang="en-US" altLang="zh-CN" sz="2000" b="1" dirty="0"/>
              <a:t>VLAN</a:t>
            </a:r>
            <a:r>
              <a:rPr lang="zh-CN" altLang="en-US" sz="2000" b="1" dirty="0"/>
              <a:t>可将庞大的广播域分隔成若干个独立的广播域</a:t>
            </a:r>
            <a:endParaRPr lang="en-US" altLang="zh-CN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2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05465" y="685800"/>
            <a:ext cx="2581070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1.  </a:t>
            </a:r>
            <a:r>
              <a:rPr lang="zh-CN" altLang="en-US" sz="2400" b="1" dirty="0"/>
              <a:t>构建网络拓扑</a:t>
            </a:r>
            <a:endParaRPr lang="en-US" altLang="zh-CN" sz="2400" b="1" dirty="0"/>
          </a:p>
        </p:txBody>
      </p:sp>
      <p:grpSp>
        <p:nvGrpSpPr>
          <p:cNvPr id="109" name="组合 108"/>
          <p:cNvGrpSpPr/>
          <p:nvPr/>
        </p:nvGrpSpPr>
        <p:grpSpPr>
          <a:xfrm>
            <a:off x="304800" y="1967237"/>
            <a:ext cx="11596445" cy="3733615"/>
            <a:chOff x="304800" y="1967237"/>
            <a:chExt cx="11596445" cy="3733615"/>
          </a:xfrm>
        </p:grpSpPr>
        <p:pic>
          <p:nvPicPr>
            <p:cNvPr id="9" name="20 8" descr="图标&#10;&#10;描述已自动生成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3544" y="5242879"/>
              <a:ext cx="539132" cy="457973"/>
            </a:xfrm>
            <a:prstGeom prst="rect">
              <a:avLst/>
            </a:prstGeom>
          </p:spPr>
        </p:pic>
        <p:sp>
          <p:nvSpPr>
            <p:cNvPr id="11" name="文本框 10"/>
            <p:cNvSpPr txBox="1"/>
            <p:nvPr/>
          </p:nvSpPr>
          <p:spPr>
            <a:xfrm>
              <a:off x="304800" y="4621954"/>
              <a:ext cx="8166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PC-PT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PC4</a:t>
              </a:r>
              <a:endParaRPr lang="zh-CN" altLang="en-US" b="1" dirty="0"/>
            </a:p>
          </p:txBody>
        </p:sp>
        <p:pic>
          <p:nvPicPr>
            <p:cNvPr id="12" name="20 11" descr="图标&#10;&#10;描述已自动生成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51054" y="3667774"/>
              <a:ext cx="646944" cy="332541"/>
            </a:xfrm>
            <a:prstGeom prst="rect">
              <a:avLst/>
            </a:prstGeom>
          </p:spPr>
        </p:pic>
        <p:sp>
          <p:nvSpPr>
            <p:cNvPr id="16" name="文本框 15"/>
            <p:cNvSpPr txBox="1"/>
            <p:nvPr/>
          </p:nvSpPr>
          <p:spPr>
            <a:xfrm>
              <a:off x="799091" y="3630983"/>
              <a:ext cx="19659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2960-24TT  Switch0</a:t>
              </a:r>
              <a:endParaRPr lang="zh-CN" altLang="en-US" b="1" dirty="0"/>
            </a:p>
          </p:txBody>
        </p:sp>
        <p:pic>
          <p:nvPicPr>
            <p:cNvPr id="5" name="20 4" descr="图标&#10;&#10;描述已自动生成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23724" y="5242879"/>
              <a:ext cx="539132" cy="457973"/>
            </a:xfrm>
            <a:prstGeom prst="rect">
              <a:avLst/>
            </a:prstGeom>
          </p:spPr>
        </p:pic>
        <p:pic>
          <p:nvPicPr>
            <p:cNvPr id="6" name="20 5" descr="图标&#10;&#10;描述已自动生成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3544" y="1967237"/>
              <a:ext cx="539132" cy="457973"/>
            </a:xfrm>
            <a:prstGeom prst="rect">
              <a:avLst/>
            </a:prstGeom>
          </p:spPr>
        </p:pic>
        <p:pic>
          <p:nvPicPr>
            <p:cNvPr id="7" name="20 6" descr="图标&#10;&#10;描述已自动生成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23724" y="1967237"/>
              <a:ext cx="539132" cy="457973"/>
            </a:xfrm>
            <a:prstGeom prst="rect">
              <a:avLst/>
            </a:prstGeom>
          </p:spPr>
        </p:pic>
        <p:sp>
          <p:nvSpPr>
            <p:cNvPr id="34" name="文本框 33"/>
            <p:cNvSpPr txBox="1"/>
            <p:nvPr/>
          </p:nvSpPr>
          <p:spPr>
            <a:xfrm>
              <a:off x="304800" y="2405311"/>
              <a:ext cx="8166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PC-PT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PC0</a:t>
              </a:r>
              <a:endParaRPr lang="zh-CN" altLang="en-US" b="1" dirty="0"/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5184980" y="2405311"/>
              <a:ext cx="8166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PC-PT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PC1</a:t>
              </a:r>
              <a:endParaRPr lang="zh-CN" altLang="en-US" b="1" dirty="0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5136948" y="4621954"/>
              <a:ext cx="8166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PC-PT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PC5</a:t>
              </a:r>
              <a:endParaRPr lang="zh-CN" altLang="en-US" b="1" dirty="0"/>
            </a:p>
          </p:txBody>
        </p:sp>
        <p:pic>
          <p:nvPicPr>
            <p:cNvPr id="63" name="20 62" descr="图标&#10;&#10;描述已自动生成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43189" y="5242879"/>
              <a:ext cx="539132" cy="457973"/>
            </a:xfrm>
            <a:prstGeom prst="rect">
              <a:avLst/>
            </a:prstGeom>
          </p:spPr>
        </p:pic>
        <p:sp>
          <p:nvSpPr>
            <p:cNvPr id="64" name="文本框 63"/>
            <p:cNvSpPr txBox="1"/>
            <p:nvPr/>
          </p:nvSpPr>
          <p:spPr>
            <a:xfrm>
              <a:off x="6204445" y="4621954"/>
              <a:ext cx="8166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PC-PT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PC6</a:t>
              </a:r>
              <a:endParaRPr lang="zh-CN" altLang="en-US" b="1" dirty="0"/>
            </a:p>
          </p:txBody>
        </p:sp>
        <p:pic>
          <p:nvPicPr>
            <p:cNvPr id="65" name="20 64" descr="图标&#10;&#10;描述已自动生成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50699" y="3667774"/>
              <a:ext cx="646944" cy="332541"/>
            </a:xfrm>
            <a:prstGeom prst="rect">
              <a:avLst/>
            </a:prstGeom>
          </p:spPr>
        </p:pic>
        <p:sp>
          <p:nvSpPr>
            <p:cNvPr id="66" name="文本框 65"/>
            <p:cNvSpPr txBox="1"/>
            <p:nvPr/>
          </p:nvSpPr>
          <p:spPr>
            <a:xfrm>
              <a:off x="9390051" y="3630983"/>
              <a:ext cx="19659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2960-24TT  Switch1</a:t>
              </a:r>
              <a:endParaRPr lang="zh-CN" altLang="en-US" b="1" dirty="0"/>
            </a:p>
          </p:txBody>
        </p:sp>
        <p:pic>
          <p:nvPicPr>
            <p:cNvPr id="68" name="20 67" descr="图标&#10;&#10;描述已自动生成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23369" y="5242879"/>
              <a:ext cx="539132" cy="457973"/>
            </a:xfrm>
            <a:prstGeom prst="rect">
              <a:avLst/>
            </a:prstGeom>
          </p:spPr>
        </p:pic>
        <p:pic>
          <p:nvPicPr>
            <p:cNvPr id="69" name="20 68" descr="图标&#10;&#10;描述已自动生成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43189" y="1967237"/>
              <a:ext cx="539132" cy="457973"/>
            </a:xfrm>
            <a:prstGeom prst="rect">
              <a:avLst/>
            </a:prstGeom>
          </p:spPr>
        </p:pic>
        <p:pic>
          <p:nvPicPr>
            <p:cNvPr id="70" name="20 69" descr="图标&#10;&#10;描述已自动生成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23369" y="1967237"/>
              <a:ext cx="539132" cy="457973"/>
            </a:xfrm>
            <a:prstGeom prst="rect">
              <a:avLst/>
            </a:prstGeom>
          </p:spPr>
        </p:pic>
        <p:sp>
          <p:nvSpPr>
            <p:cNvPr id="71" name="文本框 70"/>
            <p:cNvSpPr txBox="1"/>
            <p:nvPr/>
          </p:nvSpPr>
          <p:spPr>
            <a:xfrm>
              <a:off x="6204445" y="2405311"/>
              <a:ext cx="8166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PC-PT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PC2</a:t>
              </a:r>
              <a:endParaRPr lang="zh-CN" altLang="en-US" b="1" dirty="0"/>
            </a:p>
          </p:txBody>
        </p:sp>
        <p:sp>
          <p:nvSpPr>
            <p:cNvPr id="73" name="文本框 72"/>
            <p:cNvSpPr txBox="1"/>
            <p:nvPr/>
          </p:nvSpPr>
          <p:spPr>
            <a:xfrm>
              <a:off x="11084625" y="2405311"/>
              <a:ext cx="8166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PC-PT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PC3</a:t>
              </a:r>
              <a:endParaRPr lang="zh-CN" altLang="en-US" b="1" dirty="0"/>
            </a:p>
          </p:txBody>
        </p:sp>
        <p:sp>
          <p:nvSpPr>
            <p:cNvPr id="76" name="文本框 75"/>
            <p:cNvSpPr txBox="1"/>
            <p:nvPr/>
          </p:nvSpPr>
          <p:spPr>
            <a:xfrm>
              <a:off x="11036593" y="4621954"/>
              <a:ext cx="8166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PC-PT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PC7</a:t>
              </a:r>
              <a:endParaRPr lang="zh-CN" altLang="en-US" b="1" dirty="0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05465" y="685800"/>
            <a:ext cx="2581070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1.  </a:t>
            </a:r>
            <a:r>
              <a:rPr lang="zh-CN" altLang="en-US" sz="2400" b="1" dirty="0"/>
              <a:t>构建网络拓扑</a:t>
            </a:r>
            <a:endParaRPr lang="en-US" altLang="zh-CN" sz="2400" b="1" dirty="0"/>
          </a:p>
        </p:txBody>
      </p:sp>
      <p:pic>
        <p:nvPicPr>
          <p:cNvPr id="2" name="20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9022" y="2868922"/>
            <a:ext cx="8763759" cy="1646063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2084732" y="3691953"/>
            <a:ext cx="1925436" cy="1452593"/>
            <a:chOff x="2253106" y="5615868"/>
            <a:chExt cx="1925436" cy="1452593"/>
          </a:xfrm>
        </p:grpSpPr>
        <p:sp>
          <p:nvSpPr>
            <p:cNvPr id="10" name="文本框 9"/>
            <p:cNvSpPr txBox="1"/>
            <p:nvPr/>
          </p:nvSpPr>
          <p:spPr>
            <a:xfrm>
              <a:off x="2253106" y="6668351"/>
              <a:ext cx="192543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FF0000"/>
                  </a:solidFill>
                </a:rPr>
                <a:t>❶  选择“连接”</a:t>
              </a:r>
              <a:endParaRPr lang="zh-CN" altLang="en-US" sz="20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13" name="直接箭头连接符 12"/>
            <p:cNvCxnSpPr/>
            <p:nvPr/>
          </p:nvCxnSpPr>
          <p:spPr>
            <a:xfrm flipV="1">
              <a:off x="3122926" y="5615868"/>
              <a:ext cx="0" cy="1052483"/>
            </a:xfrm>
            <a:prstGeom prst="straightConnector1">
              <a:avLst/>
            </a:prstGeom>
            <a:ln w="25400"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合 13"/>
          <p:cNvGrpSpPr/>
          <p:nvPr/>
        </p:nvGrpSpPr>
        <p:grpSpPr>
          <a:xfrm>
            <a:off x="2514979" y="2112993"/>
            <a:ext cx="3351328" cy="1164349"/>
            <a:chOff x="938046" y="4283818"/>
            <a:chExt cx="3351328" cy="1164349"/>
          </a:xfrm>
        </p:grpSpPr>
        <p:sp>
          <p:nvSpPr>
            <p:cNvPr id="15" name="文本框 14"/>
            <p:cNvSpPr txBox="1"/>
            <p:nvPr/>
          </p:nvSpPr>
          <p:spPr>
            <a:xfrm>
              <a:off x="938046" y="4283818"/>
              <a:ext cx="335132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FF0000"/>
                  </a:solidFill>
                </a:rPr>
                <a:t>❷  选择“自动选择连接类型”</a:t>
              </a:r>
              <a:endParaRPr lang="zh-CN" altLang="en-US" sz="20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17" name="直接箭头连接符 16"/>
            <p:cNvCxnSpPr/>
            <p:nvPr/>
          </p:nvCxnSpPr>
          <p:spPr>
            <a:xfrm>
              <a:off x="2613710" y="4738927"/>
              <a:ext cx="0" cy="709240"/>
            </a:xfrm>
            <a:prstGeom prst="straightConnector1">
              <a:avLst/>
            </a:prstGeom>
            <a:ln w="25400">
              <a:solidFill>
                <a:schemeClr val="accent1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713110" y="2162267"/>
            <a:ext cx="2341759" cy="1547478"/>
            <a:chOff x="713110" y="2162267"/>
            <a:chExt cx="2341759" cy="1547478"/>
          </a:xfrm>
        </p:grpSpPr>
        <p:cxnSp>
          <p:nvCxnSpPr>
            <p:cNvPr id="8" name="直接连接符 7"/>
            <p:cNvCxnSpPr/>
            <p:nvPr/>
          </p:nvCxnSpPr>
          <p:spPr>
            <a:xfrm>
              <a:off x="713110" y="2162267"/>
              <a:ext cx="2341759" cy="154747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等腰三角形 9"/>
            <p:cNvSpPr/>
            <p:nvPr/>
          </p:nvSpPr>
          <p:spPr>
            <a:xfrm>
              <a:off x="1190792" y="2463018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/>
          </p:nvSpPr>
          <p:spPr>
            <a:xfrm>
              <a:off x="2477932" y="3296616"/>
              <a:ext cx="98676" cy="98676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713110" y="3902316"/>
            <a:ext cx="2283201" cy="1515077"/>
            <a:chOff x="713110" y="3902316"/>
            <a:chExt cx="2283201" cy="1515077"/>
          </a:xfrm>
        </p:grpSpPr>
        <p:cxnSp>
          <p:nvCxnSpPr>
            <p:cNvPr id="15" name="直接连接符 14"/>
            <p:cNvCxnSpPr/>
            <p:nvPr/>
          </p:nvCxnSpPr>
          <p:spPr>
            <a:xfrm flipV="1">
              <a:off x="713110" y="3902316"/>
              <a:ext cx="2283201" cy="151507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等腰三角形 16"/>
            <p:cNvSpPr/>
            <p:nvPr/>
          </p:nvSpPr>
          <p:spPr>
            <a:xfrm>
              <a:off x="1190792" y="4993036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2484107" y="4156767"/>
              <a:ext cx="98676" cy="98676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3370466" y="2108892"/>
            <a:ext cx="2109833" cy="1600853"/>
            <a:chOff x="3370466" y="2108892"/>
            <a:chExt cx="2109833" cy="1600853"/>
          </a:xfrm>
        </p:grpSpPr>
        <p:cxnSp>
          <p:nvCxnSpPr>
            <p:cNvPr id="20" name="直接连接符 19"/>
            <p:cNvCxnSpPr/>
            <p:nvPr/>
          </p:nvCxnSpPr>
          <p:spPr>
            <a:xfrm flipV="1">
              <a:off x="3370466" y="2108892"/>
              <a:ext cx="2109833" cy="160085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等腰三角形 20"/>
            <p:cNvSpPr/>
            <p:nvPr/>
          </p:nvSpPr>
          <p:spPr>
            <a:xfrm>
              <a:off x="4942426" y="2411138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3784371" y="3296616"/>
              <a:ext cx="98676" cy="98676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3300727" y="3859446"/>
            <a:ext cx="2292563" cy="1612419"/>
            <a:chOff x="3300727" y="3859446"/>
            <a:chExt cx="2292563" cy="1612419"/>
          </a:xfrm>
        </p:grpSpPr>
        <p:cxnSp>
          <p:nvCxnSpPr>
            <p:cNvPr id="24" name="直接连接符 23"/>
            <p:cNvCxnSpPr/>
            <p:nvPr/>
          </p:nvCxnSpPr>
          <p:spPr>
            <a:xfrm>
              <a:off x="3300727" y="3859446"/>
              <a:ext cx="2292563" cy="161241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等腰三角形 24"/>
            <p:cNvSpPr/>
            <p:nvPr/>
          </p:nvSpPr>
          <p:spPr>
            <a:xfrm>
              <a:off x="4942426" y="4993036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3777886" y="4156767"/>
              <a:ext cx="98676" cy="98676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6612755" y="2162267"/>
            <a:ext cx="2341759" cy="1547478"/>
            <a:chOff x="6612755" y="2162267"/>
            <a:chExt cx="2341759" cy="1547478"/>
          </a:xfrm>
        </p:grpSpPr>
        <p:cxnSp>
          <p:nvCxnSpPr>
            <p:cNvPr id="28" name="直接连接符 27"/>
            <p:cNvCxnSpPr/>
            <p:nvPr/>
          </p:nvCxnSpPr>
          <p:spPr>
            <a:xfrm>
              <a:off x="6612755" y="2162267"/>
              <a:ext cx="2341759" cy="154747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等腰三角形 28"/>
            <p:cNvSpPr/>
            <p:nvPr/>
          </p:nvSpPr>
          <p:spPr>
            <a:xfrm>
              <a:off x="7090437" y="2463018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8377577" y="3296616"/>
              <a:ext cx="98676" cy="98676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6612755" y="3902316"/>
            <a:ext cx="2283201" cy="1515077"/>
            <a:chOff x="6612755" y="3902316"/>
            <a:chExt cx="2283201" cy="1515077"/>
          </a:xfrm>
        </p:grpSpPr>
        <p:cxnSp>
          <p:nvCxnSpPr>
            <p:cNvPr id="32" name="直接连接符 31"/>
            <p:cNvCxnSpPr/>
            <p:nvPr/>
          </p:nvCxnSpPr>
          <p:spPr>
            <a:xfrm flipV="1">
              <a:off x="6612755" y="3902316"/>
              <a:ext cx="2283201" cy="151507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等腰三角形 32"/>
            <p:cNvSpPr/>
            <p:nvPr/>
          </p:nvSpPr>
          <p:spPr>
            <a:xfrm>
              <a:off x="7090437" y="4993036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8383752" y="4156767"/>
              <a:ext cx="98676" cy="98676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9270111" y="2108892"/>
            <a:ext cx="2109833" cy="1600853"/>
            <a:chOff x="9270111" y="2108892"/>
            <a:chExt cx="2109833" cy="1600853"/>
          </a:xfrm>
        </p:grpSpPr>
        <p:cxnSp>
          <p:nvCxnSpPr>
            <p:cNvPr id="38" name="直接连接符 37"/>
            <p:cNvCxnSpPr/>
            <p:nvPr/>
          </p:nvCxnSpPr>
          <p:spPr>
            <a:xfrm flipV="1">
              <a:off x="9270111" y="2108892"/>
              <a:ext cx="2109833" cy="160085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等腰三角形 39"/>
            <p:cNvSpPr/>
            <p:nvPr/>
          </p:nvSpPr>
          <p:spPr>
            <a:xfrm>
              <a:off x="10842071" y="2411138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9684016" y="3296616"/>
              <a:ext cx="98676" cy="98676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9200372" y="3859446"/>
            <a:ext cx="2292563" cy="1612419"/>
            <a:chOff x="9200372" y="3859446"/>
            <a:chExt cx="2292563" cy="1612419"/>
          </a:xfrm>
        </p:grpSpPr>
        <p:cxnSp>
          <p:nvCxnSpPr>
            <p:cNvPr id="43" name="直接连接符 42"/>
            <p:cNvCxnSpPr/>
            <p:nvPr/>
          </p:nvCxnSpPr>
          <p:spPr>
            <a:xfrm>
              <a:off x="9200372" y="3859446"/>
              <a:ext cx="2292563" cy="161241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等腰三角形 43"/>
            <p:cNvSpPr/>
            <p:nvPr/>
          </p:nvSpPr>
          <p:spPr>
            <a:xfrm>
              <a:off x="10842071" y="4993036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/>
          </p:nvSpPr>
          <p:spPr>
            <a:xfrm>
              <a:off x="9677531" y="4156767"/>
              <a:ext cx="98676" cy="98676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3497998" y="3779481"/>
            <a:ext cx="5333835" cy="98676"/>
            <a:chOff x="3497998" y="3779481"/>
            <a:chExt cx="5333835" cy="98676"/>
          </a:xfrm>
        </p:grpSpPr>
        <p:cxnSp>
          <p:nvCxnSpPr>
            <p:cNvPr id="47" name="直接连接符 46"/>
            <p:cNvCxnSpPr/>
            <p:nvPr/>
          </p:nvCxnSpPr>
          <p:spPr>
            <a:xfrm>
              <a:off x="3497998" y="3826236"/>
              <a:ext cx="5333835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椭圆 47"/>
            <p:cNvSpPr/>
            <p:nvPr/>
          </p:nvSpPr>
          <p:spPr>
            <a:xfrm>
              <a:off x="4088012" y="3779481"/>
              <a:ext cx="98676" cy="98676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/>
          </p:nvSpPr>
          <p:spPr>
            <a:xfrm>
              <a:off x="8017775" y="3779481"/>
              <a:ext cx="98676" cy="98676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05465" y="685800"/>
            <a:ext cx="2581070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1.  </a:t>
            </a:r>
            <a:r>
              <a:rPr lang="zh-CN" altLang="en-US" sz="2400" b="1" dirty="0"/>
              <a:t>构建网络拓扑</a:t>
            </a:r>
            <a:endParaRPr lang="en-US" altLang="zh-CN" sz="2400" b="1" dirty="0"/>
          </a:p>
        </p:txBody>
      </p:sp>
      <p:grpSp>
        <p:nvGrpSpPr>
          <p:cNvPr id="109" name="组合 108"/>
          <p:cNvGrpSpPr/>
          <p:nvPr/>
        </p:nvGrpSpPr>
        <p:grpSpPr>
          <a:xfrm>
            <a:off x="304800" y="1967237"/>
            <a:ext cx="11596445" cy="3733615"/>
            <a:chOff x="304800" y="1967237"/>
            <a:chExt cx="11596445" cy="3733615"/>
          </a:xfrm>
        </p:grpSpPr>
        <p:pic>
          <p:nvPicPr>
            <p:cNvPr id="9" name="20 8" descr="图标&#10;&#10;描述已自动生成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3544" y="5242879"/>
              <a:ext cx="539132" cy="457973"/>
            </a:xfrm>
            <a:prstGeom prst="rect">
              <a:avLst/>
            </a:prstGeom>
          </p:spPr>
        </p:pic>
        <p:sp>
          <p:nvSpPr>
            <p:cNvPr id="11" name="文本框 10"/>
            <p:cNvSpPr txBox="1"/>
            <p:nvPr/>
          </p:nvSpPr>
          <p:spPr>
            <a:xfrm>
              <a:off x="304800" y="4621954"/>
              <a:ext cx="8166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PC-PT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PC4</a:t>
              </a:r>
              <a:endParaRPr lang="zh-CN" altLang="en-US" b="1" dirty="0"/>
            </a:p>
          </p:txBody>
        </p:sp>
        <p:pic>
          <p:nvPicPr>
            <p:cNvPr id="12" name="20 11" descr="图标&#10;&#10;描述已自动生成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51054" y="3667774"/>
              <a:ext cx="646944" cy="332541"/>
            </a:xfrm>
            <a:prstGeom prst="rect">
              <a:avLst/>
            </a:prstGeom>
          </p:spPr>
        </p:pic>
        <p:sp>
          <p:nvSpPr>
            <p:cNvPr id="16" name="文本框 15"/>
            <p:cNvSpPr txBox="1"/>
            <p:nvPr/>
          </p:nvSpPr>
          <p:spPr>
            <a:xfrm>
              <a:off x="799091" y="3630983"/>
              <a:ext cx="19659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2960-24TT  Switch0</a:t>
              </a:r>
              <a:endParaRPr lang="zh-CN" altLang="en-US" b="1" dirty="0"/>
            </a:p>
          </p:txBody>
        </p:sp>
        <p:pic>
          <p:nvPicPr>
            <p:cNvPr id="5" name="20 4" descr="图标&#10;&#10;描述已自动生成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23724" y="5242879"/>
              <a:ext cx="539132" cy="457973"/>
            </a:xfrm>
            <a:prstGeom prst="rect">
              <a:avLst/>
            </a:prstGeom>
          </p:spPr>
        </p:pic>
        <p:pic>
          <p:nvPicPr>
            <p:cNvPr id="6" name="20 5" descr="图标&#10;&#10;描述已自动生成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3544" y="1967237"/>
              <a:ext cx="539132" cy="457973"/>
            </a:xfrm>
            <a:prstGeom prst="rect">
              <a:avLst/>
            </a:prstGeom>
          </p:spPr>
        </p:pic>
        <p:pic>
          <p:nvPicPr>
            <p:cNvPr id="7" name="20 6" descr="图标&#10;&#10;描述已自动生成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23724" y="1967237"/>
              <a:ext cx="539132" cy="457973"/>
            </a:xfrm>
            <a:prstGeom prst="rect">
              <a:avLst/>
            </a:prstGeom>
          </p:spPr>
        </p:pic>
        <p:sp>
          <p:nvSpPr>
            <p:cNvPr id="34" name="文本框 33"/>
            <p:cNvSpPr txBox="1"/>
            <p:nvPr/>
          </p:nvSpPr>
          <p:spPr>
            <a:xfrm>
              <a:off x="304800" y="2405311"/>
              <a:ext cx="8166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PC-PT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PC0</a:t>
              </a:r>
              <a:endParaRPr lang="zh-CN" altLang="en-US" b="1" dirty="0"/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5184980" y="2405311"/>
              <a:ext cx="8166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PC-PT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PC1</a:t>
              </a:r>
              <a:endParaRPr lang="zh-CN" altLang="en-US" b="1" dirty="0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5136948" y="4621954"/>
              <a:ext cx="8166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PC-PT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PC5</a:t>
              </a:r>
              <a:endParaRPr lang="zh-CN" altLang="en-US" b="1" dirty="0"/>
            </a:p>
          </p:txBody>
        </p:sp>
        <p:pic>
          <p:nvPicPr>
            <p:cNvPr id="63" name="20 62" descr="图标&#10;&#10;描述已自动生成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43189" y="5242879"/>
              <a:ext cx="539132" cy="457973"/>
            </a:xfrm>
            <a:prstGeom prst="rect">
              <a:avLst/>
            </a:prstGeom>
          </p:spPr>
        </p:pic>
        <p:sp>
          <p:nvSpPr>
            <p:cNvPr id="64" name="文本框 63"/>
            <p:cNvSpPr txBox="1"/>
            <p:nvPr/>
          </p:nvSpPr>
          <p:spPr>
            <a:xfrm>
              <a:off x="6204445" y="4621954"/>
              <a:ext cx="8166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PC-PT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PC6</a:t>
              </a:r>
              <a:endParaRPr lang="zh-CN" altLang="en-US" b="1" dirty="0"/>
            </a:p>
          </p:txBody>
        </p:sp>
        <p:pic>
          <p:nvPicPr>
            <p:cNvPr id="65" name="20 64" descr="图标&#10;&#10;描述已自动生成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50699" y="3667774"/>
              <a:ext cx="646944" cy="332541"/>
            </a:xfrm>
            <a:prstGeom prst="rect">
              <a:avLst/>
            </a:prstGeom>
          </p:spPr>
        </p:pic>
        <p:sp>
          <p:nvSpPr>
            <p:cNvPr id="66" name="文本框 65"/>
            <p:cNvSpPr txBox="1"/>
            <p:nvPr/>
          </p:nvSpPr>
          <p:spPr>
            <a:xfrm>
              <a:off x="9390051" y="3630983"/>
              <a:ext cx="19659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2960-24TT  Switch1</a:t>
              </a:r>
              <a:endParaRPr lang="zh-CN" altLang="en-US" b="1" dirty="0"/>
            </a:p>
          </p:txBody>
        </p:sp>
        <p:pic>
          <p:nvPicPr>
            <p:cNvPr id="68" name="20 67" descr="图标&#10;&#10;描述已自动生成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23369" y="5242879"/>
              <a:ext cx="539132" cy="457973"/>
            </a:xfrm>
            <a:prstGeom prst="rect">
              <a:avLst/>
            </a:prstGeom>
          </p:spPr>
        </p:pic>
        <p:pic>
          <p:nvPicPr>
            <p:cNvPr id="69" name="20 68" descr="图标&#10;&#10;描述已自动生成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43189" y="1967237"/>
              <a:ext cx="539132" cy="457973"/>
            </a:xfrm>
            <a:prstGeom prst="rect">
              <a:avLst/>
            </a:prstGeom>
          </p:spPr>
        </p:pic>
        <p:pic>
          <p:nvPicPr>
            <p:cNvPr id="70" name="20 69" descr="图标&#10;&#10;描述已自动生成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23369" y="1967237"/>
              <a:ext cx="539132" cy="457973"/>
            </a:xfrm>
            <a:prstGeom prst="rect">
              <a:avLst/>
            </a:prstGeom>
          </p:spPr>
        </p:pic>
        <p:sp>
          <p:nvSpPr>
            <p:cNvPr id="71" name="文本框 70"/>
            <p:cNvSpPr txBox="1"/>
            <p:nvPr/>
          </p:nvSpPr>
          <p:spPr>
            <a:xfrm>
              <a:off x="6204445" y="2405311"/>
              <a:ext cx="8166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PC-PT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PC2</a:t>
              </a:r>
              <a:endParaRPr lang="zh-CN" altLang="en-US" b="1" dirty="0"/>
            </a:p>
          </p:txBody>
        </p:sp>
        <p:sp>
          <p:nvSpPr>
            <p:cNvPr id="73" name="文本框 72"/>
            <p:cNvSpPr txBox="1"/>
            <p:nvPr/>
          </p:nvSpPr>
          <p:spPr>
            <a:xfrm>
              <a:off x="11084625" y="2405311"/>
              <a:ext cx="8166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PC-PT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PC3</a:t>
              </a:r>
              <a:endParaRPr lang="zh-CN" altLang="en-US" b="1" dirty="0"/>
            </a:p>
          </p:txBody>
        </p:sp>
        <p:sp>
          <p:nvSpPr>
            <p:cNvPr id="76" name="文本框 75"/>
            <p:cNvSpPr txBox="1"/>
            <p:nvPr/>
          </p:nvSpPr>
          <p:spPr>
            <a:xfrm>
              <a:off x="11036593" y="4621954"/>
              <a:ext cx="8166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PC-PT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PC7</a:t>
              </a:r>
              <a:endParaRPr lang="zh-CN" altLang="en-US" b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713110" y="2162267"/>
            <a:ext cx="2341759" cy="1547478"/>
            <a:chOff x="713110" y="2162267"/>
            <a:chExt cx="2341759" cy="1547478"/>
          </a:xfrm>
        </p:grpSpPr>
        <p:cxnSp>
          <p:nvCxnSpPr>
            <p:cNvPr id="8" name="直接连接符 7"/>
            <p:cNvCxnSpPr/>
            <p:nvPr/>
          </p:nvCxnSpPr>
          <p:spPr>
            <a:xfrm>
              <a:off x="713110" y="2162267"/>
              <a:ext cx="2341759" cy="154747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等腰三角形 9"/>
            <p:cNvSpPr/>
            <p:nvPr/>
          </p:nvSpPr>
          <p:spPr>
            <a:xfrm>
              <a:off x="1190792" y="2463018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/>
          </p:nvSpPr>
          <p:spPr>
            <a:xfrm>
              <a:off x="2477932" y="3296616"/>
              <a:ext cx="98676" cy="98676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713110" y="3902316"/>
            <a:ext cx="2283201" cy="1515077"/>
            <a:chOff x="713110" y="3902316"/>
            <a:chExt cx="2283201" cy="1515077"/>
          </a:xfrm>
        </p:grpSpPr>
        <p:cxnSp>
          <p:nvCxnSpPr>
            <p:cNvPr id="15" name="直接连接符 14"/>
            <p:cNvCxnSpPr/>
            <p:nvPr/>
          </p:nvCxnSpPr>
          <p:spPr>
            <a:xfrm flipV="1">
              <a:off x="713110" y="3902316"/>
              <a:ext cx="2283201" cy="151507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等腰三角形 16"/>
            <p:cNvSpPr/>
            <p:nvPr/>
          </p:nvSpPr>
          <p:spPr>
            <a:xfrm>
              <a:off x="1190792" y="4993036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2484107" y="4156767"/>
              <a:ext cx="98676" cy="98676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3370466" y="2108892"/>
            <a:ext cx="2109833" cy="1600853"/>
            <a:chOff x="3370466" y="2108892"/>
            <a:chExt cx="2109833" cy="1600853"/>
          </a:xfrm>
        </p:grpSpPr>
        <p:cxnSp>
          <p:nvCxnSpPr>
            <p:cNvPr id="20" name="直接连接符 19"/>
            <p:cNvCxnSpPr/>
            <p:nvPr/>
          </p:nvCxnSpPr>
          <p:spPr>
            <a:xfrm flipV="1">
              <a:off x="3370466" y="2108892"/>
              <a:ext cx="2109833" cy="160085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等腰三角形 20"/>
            <p:cNvSpPr/>
            <p:nvPr/>
          </p:nvSpPr>
          <p:spPr>
            <a:xfrm>
              <a:off x="4942426" y="2411138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3784371" y="3296616"/>
              <a:ext cx="98676" cy="98676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3300727" y="3859446"/>
            <a:ext cx="2292563" cy="1612419"/>
            <a:chOff x="3300727" y="3859446"/>
            <a:chExt cx="2292563" cy="1612419"/>
          </a:xfrm>
        </p:grpSpPr>
        <p:cxnSp>
          <p:nvCxnSpPr>
            <p:cNvPr id="24" name="直接连接符 23"/>
            <p:cNvCxnSpPr/>
            <p:nvPr/>
          </p:nvCxnSpPr>
          <p:spPr>
            <a:xfrm>
              <a:off x="3300727" y="3859446"/>
              <a:ext cx="2292563" cy="161241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等腰三角形 24"/>
            <p:cNvSpPr/>
            <p:nvPr/>
          </p:nvSpPr>
          <p:spPr>
            <a:xfrm>
              <a:off x="4942426" y="4993036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3777886" y="4156767"/>
              <a:ext cx="98676" cy="98676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6612755" y="2162267"/>
            <a:ext cx="2341759" cy="1547478"/>
            <a:chOff x="6612755" y="2162267"/>
            <a:chExt cx="2341759" cy="1547478"/>
          </a:xfrm>
        </p:grpSpPr>
        <p:cxnSp>
          <p:nvCxnSpPr>
            <p:cNvPr id="28" name="直接连接符 27"/>
            <p:cNvCxnSpPr/>
            <p:nvPr/>
          </p:nvCxnSpPr>
          <p:spPr>
            <a:xfrm>
              <a:off x="6612755" y="2162267"/>
              <a:ext cx="2341759" cy="154747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等腰三角形 28"/>
            <p:cNvSpPr/>
            <p:nvPr/>
          </p:nvSpPr>
          <p:spPr>
            <a:xfrm>
              <a:off x="7090437" y="2463018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8377577" y="3296616"/>
              <a:ext cx="98676" cy="98676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6612755" y="3902316"/>
            <a:ext cx="2283201" cy="1515077"/>
            <a:chOff x="6612755" y="3902316"/>
            <a:chExt cx="2283201" cy="1515077"/>
          </a:xfrm>
        </p:grpSpPr>
        <p:cxnSp>
          <p:nvCxnSpPr>
            <p:cNvPr id="32" name="直接连接符 31"/>
            <p:cNvCxnSpPr/>
            <p:nvPr/>
          </p:nvCxnSpPr>
          <p:spPr>
            <a:xfrm flipV="1">
              <a:off x="6612755" y="3902316"/>
              <a:ext cx="2283201" cy="151507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等腰三角形 32"/>
            <p:cNvSpPr/>
            <p:nvPr/>
          </p:nvSpPr>
          <p:spPr>
            <a:xfrm>
              <a:off x="7090437" y="4993036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8383752" y="4156767"/>
              <a:ext cx="98676" cy="98676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9270111" y="2108892"/>
            <a:ext cx="2109833" cy="1600853"/>
            <a:chOff x="9270111" y="2108892"/>
            <a:chExt cx="2109833" cy="1600853"/>
          </a:xfrm>
        </p:grpSpPr>
        <p:cxnSp>
          <p:nvCxnSpPr>
            <p:cNvPr id="38" name="直接连接符 37"/>
            <p:cNvCxnSpPr/>
            <p:nvPr/>
          </p:nvCxnSpPr>
          <p:spPr>
            <a:xfrm flipV="1">
              <a:off x="9270111" y="2108892"/>
              <a:ext cx="2109833" cy="160085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等腰三角形 39"/>
            <p:cNvSpPr/>
            <p:nvPr/>
          </p:nvSpPr>
          <p:spPr>
            <a:xfrm>
              <a:off x="10842071" y="2411138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9684016" y="3296616"/>
              <a:ext cx="98676" cy="98676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9200372" y="3859446"/>
            <a:ext cx="2292563" cy="1612419"/>
            <a:chOff x="9200372" y="3859446"/>
            <a:chExt cx="2292563" cy="1612419"/>
          </a:xfrm>
        </p:grpSpPr>
        <p:cxnSp>
          <p:nvCxnSpPr>
            <p:cNvPr id="43" name="直接连接符 42"/>
            <p:cNvCxnSpPr/>
            <p:nvPr/>
          </p:nvCxnSpPr>
          <p:spPr>
            <a:xfrm>
              <a:off x="9200372" y="3859446"/>
              <a:ext cx="2292563" cy="161241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等腰三角形 43"/>
            <p:cNvSpPr/>
            <p:nvPr/>
          </p:nvSpPr>
          <p:spPr>
            <a:xfrm>
              <a:off x="10842071" y="4993036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/>
          </p:nvSpPr>
          <p:spPr>
            <a:xfrm>
              <a:off x="9677531" y="4156767"/>
              <a:ext cx="98676" cy="98676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3497998" y="3779481"/>
            <a:ext cx="5333835" cy="98676"/>
            <a:chOff x="3497998" y="3779481"/>
            <a:chExt cx="5333835" cy="98676"/>
          </a:xfrm>
        </p:grpSpPr>
        <p:cxnSp>
          <p:nvCxnSpPr>
            <p:cNvPr id="47" name="直接连接符 46"/>
            <p:cNvCxnSpPr/>
            <p:nvPr/>
          </p:nvCxnSpPr>
          <p:spPr>
            <a:xfrm>
              <a:off x="3497998" y="3826236"/>
              <a:ext cx="5333835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椭圆 47"/>
            <p:cNvSpPr/>
            <p:nvPr/>
          </p:nvSpPr>
          <p:spPr>
            <a:xfrm>
              <a:off x="4088012" y="3779481"/>
              <a:ext cx="98676" cy="98676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/>
          </p:nvSpPr>
          <p:spPr>
            <a:xfrm>
              <a:off x="8017775" y="3779481"/>
              <a:ext cx="98676" cy="98676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05465" y="685800"/>
            <a:ext cx="2581070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1.  </a:t>
            </a:r>
            <a:r>
              <a:rPr lang="zh-CN" altLang="en-US" sz="2400" b="1" dirty="0"/>
              <a:t>构建网络拓扑</a:t>
            </a:r>
            <a:endParaRPr lang="en-US" altLang="zh-CN" sz="2400" b="1" dirty="0"/>
          </a:p>
        </p:txBody>
      </p:sp>
      <p:grpSp>
        <p:nvGrpSpPr>
          <p:cNvPr id="109" name="组合 108"/>
          <p:cNvGrpSpPr/>
          <p:nvPr/>
        </p:nvGrpSpPr>
        <p:grpSpPr>
          <a:xfrm>
            <a:off x="304800" y="1967237"/>
            <a:ext cx="11596445" cy="3733615"/>
            <a:chOff x="304800" y="1967237"/>
            <a:chExt cx="11596445" cy="3733615"/>
          </a:xfrm>
        </p:grpSpPr>
        <p:pic>
          <p:nvPicPr>
            <p:cNvPr id="9" name="20 8" descr="图标&#10;&#10;描述已自动生成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3544" y="5242879"/>
              <a:ext cx="539132" cy="457973"/>
            </a:xfrm>
            <a:prstGeom prst="rect">
              <a:avLst/>
            </a:prstGeom>
          </p:spPr>
        </p:pic>
        <p:sp>
          <p:nvSpPr>
            <p:cNvPr id="11" name="文本框 10"/>
            <p:cNvSpPr txBox="1"/>
            <p:nvPr/>
          </p:nvSpPr>
          <p:spPr>
            <a:xfrm>
              <a:off x="304800" y="4621954"/>
              <a:ext cx="8166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PC-PT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PC4</a:t>
              </a:r>
              <a:endParaRPr lang="zh-CN" altLang="en-US" b="1" dirty="0"/>
            </a:p>
          </p:txBody>
        </p:sp>
        <p:pic>
          <p:nvPicPr>
            <p:cNvPr id="12" name="20 11" descr="图标&#10;&#10;描述已自动生成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51054" y="3667774"/>
              <a:ext cx="646944" cy="332541"/>
            </a:xfrm>
            <a:prstGeom prst="rect">
              <a:avLst/>
            </a:prstGeom>
          </p:spPr>
        </p:pic>
        <p:sp>
          <p:nvSpPr>
            <p:cNvPr id="16" name="文本框 15"/>
            <p:cNvSpPr txBox="1"/>
            <p:nvPr/>
          </p:nvSpPr>
          <p:spPr>
            <a:xfrm>
              <a:off x="799091" y="3630983"/>
              <a:ext cx="19659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2960-24TT  Switch0</a:t>
              </a:r>
              <a:endParaRPr lang="zh-CN" altLang="en-US" b="1" dirty="0"/>
            </a:p>
          </p:txBody>
        </p:sp>
        <p:pic>
          <p:nvPicPr>
            <p:cNvPr id="5" name="20 4" descr="图标&#10;&#10;描述已自动生成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23724" y="5242879"/>
              <a:ext cx="539132" cy="457973"/>
            </a:xfrm>
            <a:prstGeom prst="rect">
              <a:avLst/>
            </a:prstGeom>
          </p:spPr>
        </p:pic>
        <p:pic>
          <p:nvPicPr>
            <p:cNvPr id="6" name="20 5" descr="图标&#10;&#10;描述已自动生成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3544" y="1967237"/>
              <a:ext cx="539132" cy="457973"/>
            </a:xfrm>
            <a:prstGeom prst="rect">
              <a:avLst/>
            </a:prstGeom>
          </p:spPr>
        </p:pic>
        <p:pic>
          <p:nvPicPr>
            <p:cNvPr id="7" name="20 6" descr="图标&#10;&#10;描述已自动生成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23724" y="1967237"/>
              <a:ext cx="539132" cy="457973"/>
            </a:xfrm>
            <a:prstGeom prst="rect">
              <a:avLst/>
            </a:prstGeom>
          </p:spPr>
        </p:pic>
        <p:sp>
          <p:nvSpPr>
            <p:cNvPr id="34" name="文本框 33"/>
            <p:cNvSpPr txBox="1"/>
            <p:nvPr/>
          </p:nvSpPr>
          <p:spPr>
            <a:xfrm>
              <a:off x="304800" y="2405311"/>
              <a:ext cx="8166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PC-PT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PC0</a:t>
              </a:r>
              <a:endParaRPr lang="zh-CN" altLang="en-US" b="1" dirty="0"/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5184980" y="2405311"/>
              <a:ext cx="8166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PC-PT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PC1</a:t>
              </a:r>
              <a:endParaRPr lang="zh-CN" altLang="en-US" b="1" dirty="0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5136948" y="4621954"/>
              <a:ext cx="8166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PC-PT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PC5</a:t>
              </a:r>
              <a:endParaRPr lang="zh-CN" altLang="en-US" b="1" dirty="0"/>
            </a:p>
          </p:txBody>
        </p:sp>
        <p:pic>
          <p:nvPicPr>
            <p:cNvPr id="63" name="20 62" descr="图标&#10;&#10;描述已自动生成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43189" y="5242879"/>
              <a:ext cx="539132" cy="457973"/>
            </a:xfrm>
            <a:prstGeom prst="rect">
              <a:avLst/>
            </a:prstGeom>
          </p:spPr>
        </p:pic>
        <p:sp>
          <p:nvSpPr>
            <p:cNvPr id="64" name="文本框 63"/>
            <p:cNvSpPr txBox="1"/>
            <p:nvPr/>
          </p:nvSpPr>
          <p:spPr>
            <a:xfrm>
              <a:off x="6204445" y="4621954"/>
              <a:ext cx="8166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PC-PT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PC6</a:t>
              </a:r>
              <a:endParaRPr lang="zh-CN" altLang="en-US" b="1" dirty="0"/>
            </a:p>
          </p:txBody>
        </p:sp>
        <p:pic>
          <p:nvPicPr>
            <p:cNvPr id="65" name="20 64" descr="图标&#10;&#10;描述已自动生成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50699" y="3667774"/>
              <a:ext cx="646944" cy="332541"/>
            </a:xfrm>
            <a:prstGeom prst="rect">
              <a:avLst/>
            </a:prstGeom>
          </p:spPr>
        </p:pic>
        <p:sp>
          <p:nvSpPr>
            <p:cNvPr id="66" name="文本框 65"/>
            <p:cNvSpPr txBox="1"/>
            <p:nvPr/>
          </p:nvSpPr>
          <p:spPr>
            <a:xfrm>
              <a:off x="9390051" y="3630983"/>
              <a:ext cx="19659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2960-24TT  Switch1</a:t>
              </a:r>
              <a:endParaRPr lang="zh-CN" altLang="en-US" b="1" dirty="0"/>
            </a:p>
          </p:txBody>
        </p:sp>
        <p:pic>
          <p:nvPicPr>
            <p:cNvPr id="68" name="20 67" descr="图标&#10;&#10;描述已自动生成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23369" y="5242879"/>
              <a:ext cx="539132" cy="457973"/>
            </a:xfrm>
            <a:prstGeom prst="rect">
              <a:avLst/>
            </a:prstGeom>
          </p:spPr>
        </p:pic>
        <p:pic>
          <p:nvPicPr>
            <p:cNvPr id="69" name="20 68" descr="图标&#10;&#10;描述已自动生成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43189" y="1967237"/>
              <a:ext cx="539132" cy="457973"/>
            </a:xfrm>
            <a:prstGeom prst="rect">
              <a:avLst/>
            </a:prstGeom>
          </p:spPr>
        </p:pic>
        <p:pic>
          <p:nvPicPr>
            <p:cNvPr id="70" name="20 69" descr="图标&#10;&#10;描述已自动生成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23369" y="1967237"/>
              <a:ext cx="539132" cy="457973"/>
            </a:xfrm>
            <a:prstGeom prst="rect">
              <a:avLst/>
            </a:prstGeom>
          </p:spPr>
        </p:pic>
        <p:sp>
          <p:nvSpPr>
            <p:cNvPr id="71" name="文本框 70"/>
            <p:cNvSpPr txBox="1"/>
            <p:nvPr/>
          </p:nvSpPr>
          <p:spPr>
            <a:xfrm>
              <a:off x="6204445" y="2405311"/>
              <a:ext cx="8166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PC-PT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PC2</a:t>
              </a:r>
              <a:endParaRPr lang="zh-CN" altLang="en-US" b="1" dirty="0"/>
            </a:p>
          </p:txBody>
        </p:sp>
        <p:sp>
          <p:nvSpPr>
            <p:cNvPr id="73" name="文本框 72"/>
            <p:cNvSpPr txBox="1"/>
            <p:nvPr/>
          </p:nvSpPr>
          <p:spPr>
            <a:xfrm>
              <a:off x="11084625" y="2405311"/>
              <a:ext cx="8166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PC-PT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PC3</a:t>
              </a:r>
              <a:endParaRPr lang="zh-CN" altLang="en-US" b="1" dirty="0"/>
            </a:p>
          </p:txBody>
        </p:sp>
        <p:sp>
          <p:nvSpPr>
            <p:cNvPr id="76" name="文本框 75"/>
            <p:cNvSpPr txBox="1"/>
            <p:nvPr/>
          </p:nvSpPr>
          <p:spPr>
            <a:xfrm>
              <a:off x="11036593" y="4621954"/>
              <a:ext cx="8166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PC-PT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PC7</a:t>
              </a:r>
              <a:endParaRPr lang="zh-CN" altLang="en-US" b="1" dirty="0"/>
            </a:p>
          </p:txBody>
        </p:sp>
      </p:grpSp>
      <p:sp>
        <p:nvSpPr>
          <p:cNvPr id="50" name="矩形 49"/>
          <p:cNvSpPr/>
          <p:nvPr/>
        </p:nvSpPr>
        <p:spPr>
          <a:xfrm>
            <a:off x="1421120" y="1510545"/>
            <a:ext cx="3389361" cy="16885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/>
              <a:t>         连接完成后，交换机的相关接口处于阻塞状态，一段时间后才能处于打开状态。我们可以人为加速该过程。</a:t>
            </a:r>
            <a:endParaRPr lang="zh-CN" altLang="en-US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05465" y="685800"/>
            <a:ext cx="2581070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1.  </a:t>
            </a:r>
            <a:r>
              <a:rPr lang="zh-CN" altLang="en-US" sz="2400" b="1" dirty="0"/>
              <a:t>构建网络拓扑</a:t>
            </a:r>
            <a:endParaRPr lang="en-US" altLang="zh-CN" sz="2400" b="1" dirty="0"/>
          </a:p>
        </p:txBody>
      </p:sp>
      <p:sp>
        <p:nvSpPr>
          <p:cNvPr id="50" name="矩形 49"/>
          <p:cNvSpPr/>
          <p:nvPr/>
        </p:nvSpPr>
        <p:spPr>
          <a:xfrm>
            <a:off x="304800" y="1519950"/>
            <a:ext cx="11582400" cy="12816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sz="2400" b="1" dirty="0"/>
              <a:t>         连接完成后，交换机的相关接口处于阻塞状态，一段时间后才能处于打开状态。我们可以人为加速该过程。</a:t>
            </a:r>
            <a:endParaRPr lang="zh-CN" altLang="en-US" sz="2400" b="1" dirty="0"/>
          </a:p>
        </p:txBody>
      </p:sp>
      <p:pic>
        <p:nvPicPr>
          <p:cNvPr id="51" name="20 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623" y="4011039"/>
            <a:ext cx="3309761" cy="1387325"/>
          </a:xfrm>
          <a:prstGeom prst="rect">
            <a:avLst/>
          </a:prstGeom>
        </p:spPr>
      </p:pic>
      <p:grpSp>
        <p:nvGrpSpPr>
          <p:cNvPr id="52" name="组合 51"/>
          <p:cNvGrpSpPr/>
          <p:nvPr/>
        </p:nvGrpSpPr>
        <p:grpSpPr>
          <a:xfrm>
            <a:off x="994639" y="3314230"/>
            <a:ext cx="3195196" cy="640758"/>
            <a:chOff x="4889333" y="1367020"/>
            <a:chExt cx="3195196" cy="640758"/>
          </a:xfrm>
        </p:grpSpPr>
        <p:cxnSp>
          <p:nvCxnSpPr>
            <p:cNvPr id="53" name="直接箭头连接符 52"/>
            <p:cNvCxnSpPr>
              <a:stCxn id="54" idx="2"/>
            </p:cNvCxnSpPr>
            <p:nvPr/>
          </p:nvCxnSpPr>
          <p:spPr>
            <a:xfrm>
              <a:off x="6486931" y="1736352"/>
              <a:ext cx="0" cy="271426"/>
            </a:xfrm>
            <a:prstGeom prst="straightConnector1">
              <a:avLst/>
            </a:prstGeom>
            <a:ln w="25400">
              <a:solidFill>
                <a:schemeClr val="accent1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文本框 53"/>
            <p:cNvSpPr txBox="1"/>
            <p:nvPr/>
          </p:nvSpPr>
          <p:spPr>
            <a:xfrm>
              <a:off x="4889333" y="1367020"/>
              <a:ext cx="31951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</a:rPr>
                <a:t>❶  切换到“实时”工作模式</a:t>
              </a:r>
              <a:endParaRPr lang="zh-CN" altLang="en-US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pic>
        <p:nvPicPr>
          <p:cNvPr id="55" name="20 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0073" y="3996266"/>
            <a:ext cx="2362405" cy="1493649"/>
          </a:xfrm>
          <a:prstGeom prst="rect">
            <a:avLst/>
          </a:prstGeom>
        </p:spPr>
      </p:pic>
      <p:grpSp>
        <p:nvGrpSpPr>
          <p:cNvPr id="56" name="组合 55"/>
          <p:cNvGrpSpPr/>
          <p:nvPr/>
        </p:nvGrpSpPr>
        <p:grpSpPr>
          <a:xfrm>
            <a:off x="8080524" y="3314230"/>
            <a:ext cx="3195196" cy="640758"/>
            <a:chOff x="4889333" y="1367020"/>
            <a:chExt cx="3195196" cy="640758"/>
          </a:xfrm>
        </p:grpSpPr>
        <p:cxnSp>
          <p:nvCxnSpPr>
            <p:cNvPr id="57" name="直接箭头连接符 56"/>
            <p:cNvCxnSpPr>
              <a:stCxn id="58" idx="2"/>
            </p:cNvCxnSpPr>
            <p:nvPr/>
          </p:nvCxnSpPr>
          <p:spPr>
            <a:xfrm>
              <a:off x="6486931" y="1736352"/>
              <a:ext cx="0" cy="271426"/>
            </a:xfrm>
            <a:prstGeom prst="straightConnector1">
              <a:avLst/>
            </a:prstGeom>
            <a:ln w="25400">
              <a:solidFill>
                <a:schemeClr val="accent1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文本框 57"/>
            <p:cNvSpPr txBox="1"/>
            <p:nvPr/>
          </p:nvSpPr>
          <p:spPr>
            <a:xfrm>
              <a:off x="4889333" y="1367020"/>
              <a:ext cx="31951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</a:rPr>
                <a:t>❷  单击该按钮，快进时间</a:t>
              </a:r>
              <a:endParaRPr lang="zh-CN" altLang="en-US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/>
        </p:nvCxnSpPr>
        <p:spPr>
          <a:xfrm>
            <a:off x="713110" y="2162267"/>
            <a:ext cx="2341759" cy="15474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等腰三角形 9"/>
          <p:cNvSpPr/>
          <p:nvPr/>
        </p:nvSpPr>
        <p:spPr>
          <a:xfrm>
            <a:off x="1190792" y="246301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 flipV="1">
            <a:off x="713110" y="3902316"/>
            <a:ext cx="2283201" cy="15150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等腰三角形 16"/>
          <p:cNvSpPr/>
          <p:nvPr/>
        </p:nvSpPr>
        <p:spPr>
          <a:xfrm>
            <a:off x="1190792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连接符 19"/>
          <p:cNvCxnSpPr/>
          <p:nvPr/>
        </p:nvCxnSpPr>
        <p:spPr>
          <a:xfrm flipV="1">
            <a:off x="3370466" y="2108892"/>
            <a:ext cx="2109833" cy="160085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等腰三角形 20"/>
          <p:cNvSpPr/>
          <p:nvPr/>
        </p:nvSpPr>
        <p:spPr>
          <a:xfrm>
            <a:off x="4942426" y="24111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连接符 23"/>
          <p:cNvCxnSpPr/>
          <p:nvPr/>
        </p:nvCxnSpPr>
        <p:spPr>
          <a:xfrm>
            <a:off x="3300727" y="3859446"/>
            <a:ext cx="2292563" cy="161241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等腰三角形 24"/>
          <p:cNvSpPr/>
          <p:nvPr/>
        </p:nvSpPr>
        <p:spPr>
          <a:xfrm>
            <a:off x="4942426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" name="直接连接符 27"/>
          <p:cNvCxnSpPr/>
          <p:nvPr/>
        </p:nvCxnSpPr>
        <p:spPr>
          <a:xfrm>
            <a:off x="6612755" y="2162267"/>
            <a:ext cx="2341759" cy="15474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等腰三角形 28"/>
          <p:cNvSpPr/>
          <p:nvPr/>
        </p:nvSpPr>
        <p:spPr>
          <a:xfrm>
            <a:off x="7090437" y="246301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" name="直接连接符 31"/>
          <p:cNvCxnSpPr/>
          <p:nvPr/>
        </p:nvCxnSpPr>
        <p:spPr>
          <a:xfrm flipV="1">
            <a:off x="6612755" y="3902316"/>
            <a:ext cx="2283201" cy="15150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等腰三角形 32"/>
          <p:cNvSpPr/>
          <p:nvPr/>
        </p:nvSpPr>
        <p:spPr>
          <a:xfrm>
            <a:off x="7090437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8" name="直接连接符 37"/>
          <p:cNvCxnSpPr/>
          <p:nvPr/>
        </p:nvCxnSpPr>
        <p:spPr>
          <a:xfrm flipV="1">
            <a:off x="9270111" y="2108892"/>
            <a:ext cx="2109833" cy="160085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等腰三角形 39"/>
          <p:cNvSpPr/>
          <p:nvPr/>
        </p:nvSpPr>
        <p:spPr>
          <a:xfrm>
            <a:off x="10842071" y="24111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3" name="直接连接符 42"/>
          <p:cNvCxnSpPr/>
          <p:nvPr/>
        </p:nvCxnSpPr>
        <p:spPr>
          <a:xfrm>
            <a:off x="9200372" y="3859446"/>
            <a:ext cx="2292563" cy="161241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等腰三角形 43"/>
          <p:cNvSpPr/>
          <p:nvPr/>
        </p:nvSpPr>
        <p:spPr>
          <a:xfrm>
            <a:off x="10842071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" name="直接连接符 46"/>
          <p:cNvCxnSpPr/>
          <p:nvPr/>
        </p:nvCxnSpPr>
        <p:spPr>
          <a:xfrm>
            <a:off x="3497998" y="3826236"/>
            <a:ext cx="5333835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05465" y="685800"/>
            <a:ext cx="2581070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1.  </a:t>
            </a:r>
            <a:r>
              <a:rPr lang="zh-CN" altLang="en-US" sz="2400" b="1" dirty="0"/>
              <a:t>构建网络拓扑</a:t>
            </a:r>
            <a:endParaRPr lang="en-US" altLang="zh-CN" sz="2400" b="1" dirty="0"/>
          </a:p>
        </p:txBody>
      </p:sp>
      <p:pic>
        <p:nvPicPr>
          <p:cNvPr id="9" name="20 8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544" y="5242879"/>
            <a:ext cx="539132" cy="457973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04800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PC4</a:t>
            </a:r>
            <a:endParaRPr lang="zh-CN" altLang="en-US" b="1" dirty="0"/>
          </a:p>
        </p:txBody>
      </p:sp>
      <p:pic>
        <p:nvPicPr>
          <p:cNvPr id="12" name="20 11" descr="图标&#10;&#10;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1054" y="3667774"/>
            <a:ext cx="646944" cy="332541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799091" y="3630983"/>
            <a:ext cx="1965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2960-24TT  Switch0</a:t>
            </a:r>
            <a:endParaRPr lang="zh-CN" altLang="en-US" b="1" dirty="0"/>
          </a:p>
        </p:txBody>
      </p:sp>
      <p:pic>
        <p:nvPicPr>
          <p:cNvPr id="5" name="20 4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724" y="5242879"/>
            <a:ext cx="539132" cy="457973"/>
          </a:xfrm>
          <a:prstGeom prst="rect">
            <a:avLst/>
          </a:prstGeom>
        </p:spPr>
      </p:pic>
      <p:pic>
        <p:nvPicPr>
          <p:cNvPr id="6" name="20 5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544" y="1967237"/>
            <a:ext cx="539132" cy="457973"/>
          </a:xfrm>
          <a:prstGeom prst="rect">
            <a:avLst/>
          </a:prstGeom>
        </p:spPr>
      </p:pic>
      <p:pic>
        <p:nvPicPr>
          <p:cNvPr id="7" name="20 6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724" y="1967237"/>
            <a:ext cx="539132" cy="457973"/>
          </a:xfrm>
          <a:prstGeom prst="rect">
            <a:avLst/>
          </a:prstGeom>
        </p:spPr>
      </p:pic>
      <p:sp>
        <p:nvSpPr>
          <p:cNvPr id="34" name="文本框 33"/>
          <p:cNvSpPr txBox="1"/>
          <p:nvPr/>
        </p:nvSpPr>
        <p:spPr>
          <a:xfrm>
            <a:off x="304800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sp>
        <p:nvSpPr>
          <p:cNvPr id="36" name="文本框 35"/>
          <p:cNvSpPr txBox="1"/>
          <p:nvPr/>
        </p:nvSpPr>
        <p:spPr>
          <a:xfrm>
            <a:off x="5184980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PC1</a:t>
            </a:r>
            <a:endParaRPr lang="zh-CN" altLang="en-US" b="1" dirty="0"/>
          </a:p>
        </p:txBody>
      </p:sp>
      <p:sp>
        <p:nvSpPr>
          <p:cNvPr id="39" name="文本框 38"/>
          <p:cNvSpPr txBox="1"/>
          <p:nvPr/>
        </p:nvSpPr>
        <p:spPr>
          <a:xfrm>
            <a:off x="5136948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PC5</a:t>
            </a:r>
            <a:endParaRPr lang="zh-CN" altLang="en-US" b="1" dirty="0"/>
          </a:p>
        </p:txBody>
      </p:sp>
      <p:pic>
        <p:nvPicPr>
          <p:cNvPr id="63" name="20 62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189" y="5242879"/>
            <a:ext cx="539132" cy="457973"/>
          </a:xfrm>
          <a:prstGeom prst="rect">
            <a:avLst/>
          </a:prstGeom>
        </p:spPr>
      </p:pic>
      <p:sp>
        <p:nvSpPr>
          <p:cNvPr id="64" name="文本框 63"/>
          <p:cNvSpPr txBox="1"/>
          <p:nvPr/>
        </p:nvSpPr>
        <p:spPr>
          <a:xfrm>
            <a:off x="6204445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PC6</a:t>
            </a:r>
            <a:endParaRPr lang="zh-CN" altLang="en-US" b="1" dirty="0"/>
          </a:p>
        </p:txBody>
      </p:sp>
      <p:pic>
        <p:nvPicPr>
          <p:cNvPr id="65" name="20 64" descr="图标&#10;&#10;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699" y="3667774"/>
            <a:ext cx="646944" cy="332541"/>
          </a:xfrm>
          <a:prstGeom prst="rect">
            <a:avLst/>
          </a:prstGeom>
        </p:spPr>
      </p:pic>
      <p:sp>
        <p:nvSpPr>
          <p:cNvPr id="66" name="文本框 65"/>
          <p:cNvSpPr txBox="1"/>
          <p:nvPr/>
        </p:nvSpPr>
        <p:spPr>
          <a:xfrm>
            <a:off x="9390051" y="3630983"/>
            <a:ext cx="1965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2960-24TT  Switch1</a:t>
            </a:r>
            <a:endParaRPr lang="zh-CN" altLang="en-US" b="1" dirty="0"/>
          </a:p>
        </p:txBody>
      </p:sp>
      <p:pic>
        <p:nvPicPr>
          <p:cNvPr id="68" name="20 67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3369" y="5242879"/>
            <a:ext cx="539132" cy="457973"/>
          </a:xfrm>
          <a:prstGeom prst="rect">
            <a:avLst/>
          </a:prstGeom>
        </p:spPr>
      </p:pic>
      <p:pic>
        <p:nvPicPr>
          <p:cNvPr id="69" name="20 68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189" y="1967237"/>
            <a:ext cx="539132" cy="457973"/>
          </a:xfrm>
          <a:prstGeom prst="rect">
            <a:avLst/>
          </a:prstGeom>
        </p:spPr>
      </p:pic>
      <p:pic>
        <p:nvPicPr>
          <p:cNvPr id="70" name="20 69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3369" y="1967237"/>
            <a:ext cx="539132" cy="457973"/>
          </a:xfrm>
          <a:prstGeom prst="rect">
            <a:avLst/>
          </a:prstGeom>
        </p:spPr>
      </p:pic>
      <p:sp>
        <p:nvSpPr>
          <p:cNvPr id="71" name="文本框 70"/>
          <p:cNvSpPr txBox="1"/>
          <p:nvPr/>
        </p:nvSpPr>
        <p:spPr>
          <a:xfrm>
            <a:off x="6204445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PC2</a:t>
            </a:r>
            <a:endParaRPr lang="zh-CN" altLang="en-US" b="1" dirty="0"/>
          </a:p>
        </p:txBody>
      </p:sp>
      <p:sp>
        <p:nvSpPr>
          <p:cNvPr id="73" name="文本框 72"/>
          <p:cNvSpPr txBox="1"/>
          <p:nvPr/>
        </p:nvSpPr>
        <p:spPr>
          <a:xfrm>
            <a:off x="11084625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PC3</a:t>
            </a:r>
            <a:endParaRPr lang="zh-CN" altLang="en-US" b="1" dirty="0"/>
          </a:p>
        </p:txBody>
      </p:sp>
      <p:sp>
        <p:nvSpPr>
          <p:cNvPr id="76" name="文本框 75"/>
          <p:cNvSpPr txBox="1"/>
          <p:nvPr/>
        </p:nvSpPr>
        <p:spPr>
          <a:xfrm>
            <a:off x="11036593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PC7</a:t>
            </a:r>
            <a:endParaRPr lang="zh-CN" altLang="en-US" b="1" dirty="0"/>
          </a:p>
        </p:txBody>
      </p:sp>
      <p:sp>
        <p:nvSpPr>
          <p:cNvPr id="51" name="等腰三角形 50"/>
          <p:cNvSpPr/>
          <p:nvPr/>
        </p:nvSpPr>
        <p:spPr>
          <a:xfrm>
            <a:off x="2509381" y="3309403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等腰三角形 51"/>
          <p:cNvSpPr/>
          <p:nvPr/>
        </p:nvSpPr>
        <p:spPr>
          <a:xfrm>
            <a:off x="2509381" y="41193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等腰三角形 52"/>
          <p:cNvSpPr/>
          <p:nvPr/>
        </p:nvSpPr>
        <p:spPr>
          <a:xfrm>
            <a:off x="3776559" y="329433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等腰三角形 53"/>
          <p:cNvSpPr/>
          <p:nvPr/>
        </p:nvSpPr>
        <p:spPr>
          <a:xfrm>
            <a:off x="3776558" y="417750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等腰三角形 54"/>
          <p:cNvSpPr/>
          <p:nvPr/>
        </p:nvSpPr>
        <p:spPr>
          <a:xfrm>
            <a:off x="8324469" y="328257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等腰三角形 55"/>
          <p:cNvSpPr/>
          <p:nvPr/>
        </p:nvSpPr>
        <p:spPr>
          <a:xfrm>
            <a:off x="9712901" y="328107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等腰三角形 56"/>
          <p:cNvSpPr/>
          <p:nvPr/>
        </p:nvSpPr>
        <p:spPr>
          <a:xfrm>
            <a:off x="8322853" y="419586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等腰三角形 57"/>
          <p:cNvSpPr/>
          <p:nvPr/>
        </p:nvSpPr>
        <p:spPr>
          <a:xfrm>
            <a:off x="9728117" y="419586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等腰三角形 58"/>
          <p:cNvSpPr/>
          <p:nvPr/>
        </p:nvSpPr>
        <p:spPr>
          <a:xfrm>
            <a:off x="4059017" y="376304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等腰三角形 59"/>
          <p:cNvSpPr/>
          <p:nvPr/>
        </p:nvSpPr>
        <p:spPr>
          <a:xfrm>
            <a:off x="8080650" y="376304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247747" y="685800"/>
            <a:ext cx="3690024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2.  </a:t>
            </a:r>
            <a:r>
              <a:rPr lang="zh-CN" altLang="en-US" sz="2400" b="1" dirty="0"/>
              <a:t>标注</a:t>
            </a:r>
            <a:r>
              <a:rPr lang="en-US" altLang="zh-CN" sz="2400" b="1" dirty="0"/>
              <a:t>IP</a:t>
            </a:r>
            <a:r>
              <a:rPr lang="zh-CN" altLang="en-US" sz="2400" b="1" dirty="0"/>
              <a:t>地址和子网掩码</a:t>
            </a:r>
            <a:endParaRPr lang="en-US" altLang="zh-CN" sz="2400" b="1" dirty="0"/>
          </a:p>
        </p:txBody>
      </p:sp>
      <p:cxnSp>
        <p:nvCxnSpPr>
          <p:cNvPr id="8" name="直接连接符 7"/>
          <p:cNvCxnSpPr/>
          <p:nvPr/>
        </p:nvCxnSpPr>
        <p:spPr>
          <a:xfrm>
            <a:off x="713110" y="2162267"/>
            <a:ext cx="2341759" cy="15474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等腰三角形 9"/>
          <p:cNvSpPr/>
          <p:nvPr/>
        </p:nvSpPr>
        <p:spPr>
          <a:xfrm>
            <a:off x="1190792" y="246301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 flipV="1">
            <a:off x="713110" y="3902316"/>
            <a:ext cx="2283201" cy="15150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等腰三角形 16"/>
          <p:cNvSpPr/>
          <p:nvPr/>
        </p:nvSpPr>
        <p:spPr>
          <a:xfrm>
            <a:off x="1190792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连接符 19"/>
          <p:cNvCxnSpPr/>
          <p:nvPr/>
        </p:nvCxnSpPr>
        <p:spPr>
          <a:xfrm flipV="1">
            <a:off x="3370466" y="2108892"/>
            <a:ext cx="2109833" cy="160085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等腰三角形 20"/>
          <p:cNvSpPr/>
          <p:nvPr/>
        </p:nvSpPr>
        <p:spPr>
          <a:xfrm>
            <a:off x="4942426" y="24111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连接符 23"/>
          <p:cNvCxnSpPr/>
          <p:nvPr/>
        </p:nvCxnSpPr>
        <p:spPr>
          <a:xfrm>
            <a:off x="3300727" y="3859446"/>
            <a:ext cx="2292563" cy="161241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等腰三角形 24"/>
          <p:cNvSpPr/>
          <p:nvPr/>
        </p:nvSpPr>
        <p:spPr>
          <a:xfrm>
            <a:off x="4942426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" name="直接连接符 27"/>
          <p:cNvCxnSpPr/>
          <p:nvPr/>
        </p:nvCxnSpPr>
        <p:spPr>
          <a:xfrm>
            <a:off x="6612755" y="2162267"/>
            <a:ext cx="2341759" cy="15474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等腰三角形 28"/>
          <p:cNvSpPr/>
          <p:nvPr/>
        </p:nvSpPr>
        <p:spPr>
          <a:xfrm>
            <a:off x="7090437" y="246301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" name="直接连接符 31"/>
          <p:cNvCxnSpPr/>
          <p:nvPr/>
        </p:nvCxnSpPr>
        <p:spPr>
          <a:xfrm flipV="1">
            <a:off x="6612755" y="3902316"/>
            <a:ext cx="2283201" cy="15150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等腰三角形 32"/>
          <p:cNvSpPr/>
          <p:nvPr/>
        </p:nvSpPr>
        <p:spPr>
          <a:xfrm>
            <a:off x="7090437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8" name="直接连接符 37"/>
          <p:cNvCxnSpPr/>
          <p:nvPr/>
        </p:nvCxnSpPr>
        <p:spPr>
          <a:xfrm flipV="1">
            <a:off x="9270111" y="2108892"/>
            <a:ext cx="2109833" cy="160085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等腰三角形 39"/>
          <p:cNvSpPr/>
          <p:nvPr/>
        </p:nvSpPr>
        <p:spPr>
          <a:xfrm>
            <a:off x="10842071" y="24111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3" name="直接连接符 42"/>
          <p:cNvCxnSpPr/>
          <p:nvPr/>
        </p:nvCxnSpPr>
        <p:spPr>
          <a:xfrm>
            <a:off x="9200372" y="3859446"/>
            <a:ext cx="2292563" cy="161241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等腰三角形 43"/>
          <p:cNvSpPr/>
          <p:nvPr/>
        </p:nvSpPr>
        <p:spPr>
          <a:xfrm>
            <a:off x="10842071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" name="直接连接符 46"/>
          <p:cNvCxnSpPr/>
          <p:nvPr/>
        </p:nvCxnSpPr>
        <p:spPr>
          <a:xfrm>
            <a:off x="3497998" y="3826236"/>
            <a:ext cx="5333835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9" name="20 8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544" y="5242879"/>
            <a:ext cx="539132" cy="457973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04800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PC4</a:t>
            </a:r>
            <a:endParaRPr lang="zh-CN" altLang="en-US" b="1" dirty="0"/>
          </a:p>
        </p:txBody>
      </p:sp>
      <p:pic>
        <p:nvPicPr>
          <p:cNvPr id="12" name="20 11" descr="图标&#10;&#10;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1054" y="3667774"/>
            <a:ext cx="646944" cy="332541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799091" y="3630983"/>
            <a:ext cx="1965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2960-24TT  Switch0</a:t>
            </a:r>
            <a:endParaRPr lang="zh-CN" altLang="en-US" b="1" dirty="0"/>
          </a:p>
        </p:txBody>
      </p:sp>
      <p:pic>
        <p:nvPicPr>
          <p:cNvPr id="5" name="20 4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724" y="5242879"/>
            <a:ext cx="539132" cy="457973"/>
          </a:xfrm>
          <a:prstGeom prst="rect">
            <a:avLst/>
          </a:prstGeom>
        </p:spPr>
      </p:pic>
      <p:pic>
        <p:nvPicPr>
          <p:cNvPr id="6" name="20 5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544" y="1967237"/>
            <a:ext cx="539132" cy="457973"/>
          </a:xfrm>
          <a:prstGeom prst="rect">
            <a:avLst/>
          </a:prstGeom>
        </p:spPr>
      </p:pic>
      <p:pic>
        <p:nvPicPr>
          <p:cNvPr id="7" name="20 6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724" y="1967237"/>
            <a:ext cx="539132" cy="457973"/>
          </a:xfrm>
          <a:prstGeom prst="rect">
            <a:avLst/>
          </a:prstGeom>
        </p:spPr>
      </p:pic>
      <p:sp>
        <p:nvSpPr>
          <p:cNvPr id="34" name="文本框 33"/>
          <p:cNvSpPr txBox="1"/>
          <p:nvPr/>
        </p:nvSpPr>
        <p:spPr>
          <a:xfrm>
            <a:off x="304800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sp>
        <p:nvSpPr>
          <p:cNvPr id="36" name="文本框 35"/>
          <p:cNvSpPr txBox="1"/>
          <p:nvPr/>
        </p:nvSpPr>
        <p:spPr>
          <a:xfrm>
            <a:off x="5184980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PC1</a:t>
            </a:r>
            <a:endParaRPr lang="zh-CN" altLang="en-US" b="1" dirty="0"/>
          </a:p>
        </p:txBody>
      </p:sp>
      <p:sp>
        <p:nvSpPr>
          <p:cNvPr id="39" name="文本框 38"/>
          <p:cNvSpPr txBox="1"/>
          <p:nvPr/>
        </p:nvSpPr>
        <p:spPr>
          <a:xfrm>
            <a:off x="5136948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PC5</a:t>
            </a:r>
            <a:endParaRPr lang="zh-CN" altLang="en-US" b="1" dirty="0"/>
          </a:p>
        </p:txBody>
      </p:sp>
      <p:pic>
        <p:nvPicPr>
          <p:cNvPr id="63" name="20 62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189" y="5242879"/>
            <a:ext cx="539132" cy="457973"/>
          </a:xfrm>
          <a:prstGeom prst="rect">
            <a:avLst/>
          </a:prstGeom>
        </p:spPr>
      </p:pic>
      <p:sp>
        <p:nvSpPr>
          <p:cNvPr id="64" name="文本框 63"/>
          <p:cNvSpPr txBox="1"/>
          <p:nvPr/>
        </p:nvSpPr>
        <p:spPr>
          <a:xfrm>
            <a:off x="6204445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PC6</a:t>
            </a:r>
            <a:endParaRPr lang="zh-CN" altLang="en-US" b="1" dirty="0"/>
          </a:p>
        </p:txBody>
      </p:sp>
      <p:pic>
        <p:nvPicPr>
          <p:cNvPr id="65" name="20 64" descr="图标&#10;&#10;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699" y="3667774"/>
            <a:ext cx="646944" cy="332541"/>
          </a:xfrm>
          <a:prstGeom prst="rect">
            <a:avLst/>
          </a:prstGeom>
        </p:spPr>
      </p:pic>
      <p:sp>
        <p:nvSpPr>
          <p:cNvPr id="66" name="文本框 65"/>
          <p:cNvSpPr txBox="1"/>
          <p:nvPr/>
        </p:nvSpPr>
        <p:spPr>
          <a:xfrm>
            <a:off x="9390051" y="3630983"/>
            <a:ext cx="1965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2960-24TT  Switch1</a:t>
            </a:r>
            <a:endParaRPr lang="zh-CN" altLang="en-US" b="1" dirty="0"/>
          </a:p>
        </p:txBody>
      </p:sp>
      <p:pic>
        <p:nvPicPr>
          <p:cNvPr id="68" name="20 67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3369" y="5242879"/>
            <a:ext cx="539132" cy="457973"/>
          </a:xfrm>
          <a:prstGeom prst="rect">
            <a:avLst/>
          </a:prstGeom>
        </p:spPr>
      </p:pic>
      <p:pic>
        <p:nvPicPr>
          <p:cNvPr id="69" name="20 68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189" y="1967237"/>
            <a:ext cx="539132" cy="457973"/>
          </a:xfrm>
          <a:prstGeom prst="rect">
            <a:avLst/>
          </a:prstGeom>
        </p:spPr>
      </p:pic>
      <p:pic>
        <p:nvPicPr>
          <p:cNvPr id="70" name="20 69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3369" y="1967237"/>
            <a:ext cx="539132" cy="457973"/>
          </a:xfrm>
          <a:prstGeom prst="rect">
            <a:avLst/>
          </a:prstGeom>
        </p:spPr>
      </p:pic>
      <p:sp>
        <p:nvSpPr>
          <p:cNvPr id="71" name="文本框 70"/>
          <p:cNvSpPr txBox="1"/>
          <p:nvPr/>
        </p:nvSpPr>
        <p:spPr>
          <a:xfrm>
            <a:off x="6204445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PC2</a:t>
            </a:r>
            <a:endParaRPr lang="zh-CN" altLang="en-US" b="1" dirty="0"/>
          </a:p>
        </p:txBody>
      </p:sp>
      <p:sp>
        <p:nvSpPr>
          <p:cNvPr id="73" name="文本框 72"/>
          <p:cNvSpPr txBox="1"/>
          <p:nvPr/>
        </p:nvSpPr>
        <p:spPr>
          <a:xfrm>
            <a:off x="11084625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PC3</a:t>
            </a:r>
            <a:endParaRPr lang="zh-CN" altLang="en-US" b="1" dirty="0"/>
          </a:p>
        </p:txBody>
      </p:sp>
      <p:sp>
        <p:nvSpPr>
          <p:cNvPr id="76" name="文本框 75"/>
          <p:cNvSpPr txBox="1"/>
          <p:nvPr/>
        </p:nvSpPr>
        <p:spPr>
          <a:xfrm>
            <a:off x="11036593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PC7</a:t>
            </a:r>
            <a:endParaRPr lang="zh-CN" altLang="en-US" b="1" dirty="0"/>
          </a:p>
        </p:txBody>
      </p:sp>
      <p:sp>
        <p:nvSpPr>
          <p:cNvPr id="51" name="等腰三角形 50"/>
          <p:cNvSpPr/>
          <p:nvPr/>
        </p:nvSpPr>
        <p:spPr>
          <a:xfrm>
            <a:off x="2509381" y="3309403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等腰三角形 51"/>
          <p:cNvSpPr/>
          <p:nvPr/>
        </p:nvSpPr>
        <p:spPr>
          <a:xfrm>
            <a:off x="2509381" y="41193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等腰三角形 52"/>
          <p:cNvSpPr/>
          <p:nvPr/>
        </p:nvSpPr>
        <p:spPr>
          <a:xfrm>
            <a:off x="3776559" y="329433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等腰三角形 53"/>
          <p:cNvSpPr/>
          <p:nvPr/>
        </p:nvSpPr>
        <p:spPr>
          <a:xfrm>
            <a:off x="3776558" y="417750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等腰三角形 54"/>
          <p:cNvSpPr/>
          <p:nvPr/>
        </p:nvSpPr>
        <p:spPr>
          <a:xfrm>
            <a:off x="8324469" y="328257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等腰三角形 55"/>
          <p:cNvSpPr/>
          <p:nvPr/>
        </p:nvSpPr>
        <p:spPr>
          <a:xfrm>
            <a:off x="9712901" y="328107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等腰三角形 56"/>
          <p:cNvSpPr/>
          <p:nvPr/>
        </p:nvSpPr>
        <p:spPr>
          <a:xfrm>
            <a:off x="8322853" y="419586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等腰三角形 57"/>
          <p:cNvSpPr/>
          <p:nvPr/>
        </p:nvSpPr>
        <p:spPr>
          <a:xfrm>
            <a:off x="9728117" y="419586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等腰三角形 58"/>
          <p:cNvSpPr/>
          <p:nvPr/>
        </p:nvSpPr>
        <p:spPr>
          <a:xfrm>
            <a:off x="4059017" y="376304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等腰三角形 59"/>
          <p:cNvSpPr/>
          <p:nvPr/>
        </p:nvSpPr>
        <p:spPr>
          <a:xfrm>
            <a:off x="8080650" y="376304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247747" y="685800"/>
            <a:ext cx="3690024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2.  </a:t>
            </a:r>
            <a:r>
              <a:rPr lang="zh-CN" altLang="en-US" sz="2400" b="1" dirty="0"/>
              <a:t>标注</a:t>
            </a:r>
            <a:r>
              <a:rPr lang="en-US" altLang="zh-CN" sz="2400" b="1" dirty="0"/>
              <a:t>IP</a:t>
            </a:r>
            <a:r>
              <a:rPr lang="zh-CN" altLang="en-US" sz="2400" b="1" dirty="0"/>
              <a:t>地址和子网掩码</a:t>
            </a:r>
            <a:endParaRPr lang="en-US" altLang="zh-CN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2" name="20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3646" y="1675269"/>
            <a:ext cx="4244708" cy="899238"/>
          </a:xfrm>
          <a:prstGeom prst="rect">
            <a:avLst/>
          </a:prstGeom>
        </p:spPr>
      </p:pic>
      <p:grpSp>
        <p:nvGrpSpPr>
          <p:cNvPr id="13" name="组合 12"/>
          <p:cNvGrpSpPr/>
          <p:nvPr/>
        </p:nvGrpSpPr>
        <p:grpSpPr>
          <a:xfrm>
            <a:off x="3862451" y="2568022"/>
            <a:ext cx="7473515" cy="1507365"/>
            <a:chOff x="1843014" y="2171494"/>
            <a:chExt cx="7473515" cy="1507365"/>
          </a:xfrm>
        </p:grpSpPr>
        <p:sp>
          <p:nvSpPr>
            <p:cNvPr id="14" name="文本框 7"/>
            <p:cNvSpPr txBox="1"/>
            <p:nvPr/>
          </p:nvSpPr>
          <p:spPr>
            <a:xfrm>
              <a:off x="1843014" y="2544831"/>
              <a:ext cx="7473515" cy="11340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accent1">
                      <a:lumMod val="75000"/>
                    </a:schemeClr>
                  </a:solidFill>
                </a:rPr>
                <a:t>使用“放置注释”工具，在各计算机旁标注需要给它们各自配置的</a:t>
              </a:r>
              <a:r>
                <a:rPr lang="en-US" altLang="zh-CN" sz="2400" b="1" dirty="0">
                  <a:solidFill>
                    <a:schemeClr val="accent1">
                      <a:lumMod val="75000"/>
                    </a:schemeClr>
                  </a:solidFill>
                </a:rPr>
                <a:t>IP</a:t>
              </a:r>
              <a:r>
                <a:rPr lang="zh-CN" altLang="en-US" sz="2400" b="1" dirty="0">
                  <a:solidFill>
                    <a:schemeClr val="accent1">
                      <a:lumMod val="75000"/>
                    </a:schemeClr>
                  </a:solidFill>
                </a:rPr>
                <a:t>地址和子网掩码。</a:t>
              </a:r>
              <a:endParaRPr lang="zh-CN" altLang="en-US" sz="24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cxnSp>
          <p:nvCxnSpPr>
            <p:cNvPr id="18" name="直接箭头连接符 17"/>
            <p:cNvCxnSpPr/>
            <p:nvPr/>
          </p:nvCxnSpPr>
          <p:spPr>
            <a:xfrm flipV="1">
              <a:off x="3435403" y="2171494"/>
              <a:ext cx="0" cy="487469"/>
            </a:xfrm>
            <a:prstGeom prst="straightConnector1">
              <a:avLst/>
            </a:prstGeom>
            <a:ln w="25400">
              <a:solidFill>
                <a:schemeClr val="accent1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85104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192.168.0.5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1012771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192.168.0.1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4" name="文本框 13"/>
          <p:cNvSpPr txBox="1"/>
          <p:nvPr/>
        </p:nvSpPr>
        <p:spPr>
          <a:xfrm>
            <a:off x="3670211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192.168.0.2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8" name="文本框 17"/>
          <p:cNvSpPr txBox="1"/>
          <p:nvPr/>
        </p:nvSpPr>
        <p:spPr>
          <a:xfrm>
            <a:off x="4014643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192.168.0.6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9" name="文本框 18"/>
          <p:cNvSpPr txBox="1"/>
          <p:nvPr/>
        </p:nvSpPr>
        <p:spPr>
          <a:xfrm>
            <a:off x="6884749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192.168.0.7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22" name="文本框 21"/>
          <p:cNvSpPr txBox="1"/>
          <p:nvPr/>
        </p:nvSpPr>
        <p:spPr>
          <a:xfrm>
            <a:off x="6912416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192.168.0.3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23" name="文本框 22"/>
          <p:cNvSpPr txBox="1"/>
          <p:nvPr/>
        </p:nvSpPr>
        <p:spPr>
          <a:xfrm>
            <a:off x="9569856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192.168.0.4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26" name="文本框 25"/>
          <p:cNvSpPr txBox="1"/>
          <p:nvPr/>
        </p:nvSpPr>
        <p:spPr>
          <a:xfrm>
            <a:off x="9914288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192.168.0.8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4247747" y="685800"/>
            <a:ext cx="3690024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2.  </a:t>
            </a:r>
            <a:r>
              <a:rPr lang="zh-CN" altLang="en-US" sz="2400" b="1" dirty="0"/>
              <a:t>标注</a:t>
            </a:r>
            <a:r>
              <a:rPr lang="en-US" altLang="zh-CN" sz="2400" b="1" dirty="0"/>
              <a:t>IP</a:t>
            </a:r>
            <a:r>
              <a:rPr lang="zh-CN" altLang="en-US" sz="2400" b="1" dirty="0"/>
              <a:t>地址和子网掩码</a:t>
            </a:r>
            <a:endParaRPr lang="en-US" altLang="zh-CN" sz="2400" b="1" dirty="0"/>
          </a:p>
        </p:txBody>
      </p:sp>
      <p:cxnSp>
        <p:nvCxnSpPr>
          <p:cNvPr id="8" name="直接连接符 7"/>
          <p:cNvCxnSpPr/>
          <p:nvPr/>
        </p:nvCxnSpPr>
        <p:spPr>
          <a:xfrm>
            <a:off x="713110" y="2162267"/>
            <a:ext cx="2341759" cy="15474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等腰三角形 9"/>
          <p:cNvSpPr/>
          <p:nvPr/>
        </p:nvSpPr>
        <p:spPr>
          <a:xfrm>
            <a:off x="1190792" y="246301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 flipV="1">
            <a:off x="713110" y="3902316"/>
            <a:ext cx="2283201" cy="15150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等腰三角形 16"/>
          <p:cNvSpPr/>
          <p:nvPr/>
        </p:nvSpPr>
        <p:spPr>
          <a:xfrm>
            <a:off x="1190792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连接符 19"/>
          <p:cNvCxnSpPr/>
          <p:nvPr/>
        </p:nvCxnSpPr>
        <p:spPr>
          <a:xfrm flipV="1">
            <a:off x="3370466" y="2108892"/>
            <a:ext cx="2109833" cy="160085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等腰三角形 20"/>
          <p:cNvSpPr/>
          <p:nvPr/>
        </p:nvSpPr>
        <p:spPr>
          <a:xfrm>
            <a:off x="4942426" y="24111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连接符 23"/>
          <p:cNvCxnSpPr/>
          <p:nvPr/>
        </p:nvCxnSpPr>
        <p:spPr>
          <a:xfrm>
            <a:off x="3300727" y="3859446"/>
            <a:ext cx="2292563" cy="161241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等腰三角形 24"/>
          <p:cNvSpPr/>
          <p:nvPr/>
        </p:nvSpPr>
        <p:spPr>
          <a:xfrm>
            <a:off x="4942426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" name="直接连接符 27"/>
          <p:cNvCxnSpPr/>
          <p:nvPr/>
        </p:nvCxnSpPr>
        <p:spPr>
          <a:xfrm>
            <a:off x="6612755" y="2162267"/>
            <a:ext cx="2341759" cy="15474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等腰三角形 28"/>
          <p:cNvSpPr/>
          <p:nvPr/>
        </p:nvSpPr>
        <p:spPr>
          <a:xfrm>
            <a:off x="7090437" y="246301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" name="直接连接符 31"/>
          <p:cNvCxnSpPr/>
          <p:nvPr/>
        </p:nvCxnSpPr>
        <p:spPr>
          <a:xfrm flipV="1">
            <a:off x="6612755" y="3902316"/>
            <a:ext cx="2283201" cy="15150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等腰三角形 32"/>
          <p:cNvSpPr/>
          <p:nvPr/>
        </p:nvSpPr>
        <p:spPr>
          <a:xfrm>
            <a:off x="7090437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8" name="直接连接符 37"/>
          <p:cNvCxnSpPr/>
          <p:nvPr/>
        </p:nvCxnSpPr>
        <p:spPr>
          <a:xfrm flipV="1">
            <a:off x="9270111" y="2108892"/>
            <a:ext cx="2109833" cy="160085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等腰三角形 39"/>
          <p:cNvSpPr/>
          <p:nvPr/>
        </p:nvSpPr>
        <p:spPr>
          <a:xfrm>
            <a:off x="10842071" y="24111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3" name="直接连接符 42"/>
          <p:cNvCxnSpPr/>
          <p:nvPr/>
        </p:nvCxnSpPr>
        <p:spPr>
          <a:xfrm>
            <a:off x="9200372" y="3859446"/>
            <a:ext cx="2292563" cy="161241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等腰三角形 43"/>
          <p:cNvSpPr/>
          <p:nvPr/>
        </p:nvSpPr>
        <p:spPr>
          <a:xfrm>
            <a:off x="10842071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" name="直接连接符 46"/>
          <p:cNvCxnSpPr/>
          <p:nvPr/>
        </p:nvCxnSpPr>
        <p:spPr>
          <a:xfrm>
            <a:off x="3497998" y="3826236"/>
            <a:ext cx="5333835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9" name="20 8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544" y="5242879"/>
            <a:ext cx="539132" cy="457973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04800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PC4</a:t>
            </a:r>
            <a:endParaRPr lang="zh-CN" altLang="en-US" b="1" dirty="0"/>
          </a:p>
        </p:txBody>
      </p:sp>
      <p:pic>
        <p:nvPicPr>
          <p:cNvPr id="12" name="20 11" descr="图标&#10;&#10;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1054" y="3667774"/>
            <a:ext cx="646944" cy="332541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799091" y="3630983"/>
            <a:ext cx="1965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2960-24TT  Switch0</a:t>
            </a:r>
            <a:endParaRPr lang="zh-CN" altLang="en-US" b="1" dirty="0"/>
          </a:p>
        </p:txBody>
      </p:sp>
      <p:pic>
        <p:nvPicPr>
          <p:cNvPr id="5" name="20 4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724" y="5242879"/>
            <a:ext cx="539132" cy="457973"/>
          </a:xfrm>
          <a:prstGeom prst="rect">
            <a:avLst/>
          </a:prstGeom>
        </p:spPr>
      </p:pic>
      <p:pic>
        <p:nvPicPr>
          <p:cNvPr id="6" name="20 5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544" y="1967237"/>
            <a:ext cx="539132" cy="457973"/>
          </a:xfrm>
          <a:prstGeom prst="rect">
            <a:avLst/>
          </a:prstGeom>
        </p:spPr>
      </p:pic>
      <p:pic>
        <p:nvPicPr>
          <p:cNvPr id="7" name="20 6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724" y="1967237"/>
            <a:ext cx="539132" cy="457973"/>
          </a:xfrm>
          <a:prstGeom prst="rect">
            <a:avLst/>
          </a:prstGeom>
        </p:spPr>
      </p:pic>
      <p:sp>
        <p:nvSpPr>
          <p:cNvPr id="34" name="文本框 33"/>
          <p:cNvSpPr txBox="1"/>
          <p:nvPr/>
        </p:nvSpPr>
        <p:spPr>
          <a:xfrm>
            <a:off x="304800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sp>
        <p:nvSpPr>
          <p:cNvPr id="36" name="文本框 35"/>
          <p:cNvSpPr txBox="1"/>
          <p:nvPr/>
        </p:nvSpPr>
        <p:spPr>
          <a:xfrm>
            <a:off x="5184980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PC1</a:t>
            </a:r>
            <a:endParaRPr lang="zh-CN" altLang="en-US" b="1" dirty="0"/>
          </a:p>
        </p:txBody>
      </p:sp>
      <p:sp>
        <p:nvSpPr>
          <p:cNvPr id="39" name="文本框 38"/>
          <p:cNvSpPr txBox="1"/>
          <p:nvPr/>
        </p:nvSpPr>
        <p:spPr>
          <a:xfrm>
            <a:off x="5136948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PC5</a:t>
            </a:r>
            <a:endParaRPr lang="zh-CN" altLang="en-US" b="1" dirty="0"/>
          </a:p>
        </p:txBody>
      </p:sp>
      <p:pic>
        <p:nvPicPr>
          <p:cNvPr id="63" name="20 62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189" y="5242879"/>
            <a:ext cx="539132" cy="457973"/>
          </a:xfrm>
          <a:prstGeom prst="rect">
            <a:avLst/>
          </a:prstGeom>
        </p:spPr>
      </p:pic>
      <p:sp>
        <p:nvSpPr>
          <p:cNvPr id="64" name="文本框 63"/>
          <p:cNvSpPr txBox="1"/>
          <p:nvPr/>
        </p:nvSpPr>
        <p:spPr>
          <a:xfrm>
            <a:off x="6204445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PC6</a:t>
            </a:r>
            <a:endParaRPr lang="zh-CN" altLang="en-US" b="1" dirty="0"/>
          </a:p>
        </p:txBody>
      </p:sp>
      <p:pic>
        <p:nvPicPr>
          <p:cNvPr id="65" name="20 64" descr="图标&#10;&#10;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699" y="3667774"/>
            <a:ext cx="646944" cy="332541"/>
          </a:xfrm>
          <a:prstGeom prst="rect">
            <a:avLst/>
          </a:prstGeom>
        </p:spPr>
      </p:pic>
      <p:sp>
        <p:nvSpPr>
          <p:cNvPr id="66" name="文本框 65"/>
          <p:cNvSpPr txBox="1"/>
          <p:nvPr/>
        </p:nvSpPr>
        <p:spPr>
          <a:xfrm>
            <a:off x="9390051" y="3630983"/>
            <a:ext cx="1965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2960-24TT  Switch1</a:t>
            </a:r>
            <a:endParaRPr lang="zh-CN" altLang="en-US" b="1" dirty="0"/>
          </a:p>
        </p:txBody>
      </p:sp>
      <p:pic>
        <p:nvPicPr>
          <p:cNvPr id="68" name="20 67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3369" y="5242879"/>
            <a:ext cx="539132" cy="457973"/>
          </a:xfrm>
          <a:prstGeom prst="rect">
            <a:avLst/>
          </a:prstGeom>
        </p:spPr>
      </p:pic>
      <p:pic>
        <p:nvPicPr>
          <p:cNvPr id="69" name="20 68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189" y="1967237"/>
            <a:ext cx="539132" cy="457973"/>
          </a:xfrm>
          <a:prstGeom prst="rect">
            <a:avLst/>
          </a:prstGeom>
        </p:spPr>
      </p:pic>
      <p:pic>
        <p:nvPicPr>
          <p:cNvPr id="70" name="20 69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3369" y="1967237"/>
            <a:ext cx="539132" cy="457973"/>
          </a:xfrm>
          <a:prstGeom prst="rect">
            <a:avLst/>
          </a:prstGeom>
        </p:spPr>
      </p:pic>
      <p:sp>
        <p:nvSpPr>
          <p:cNvPr id="71" name="文本框 70"/>
          <p:cNvSpPr txBox="1"/>
          <p:nvPr/>
        </p:nvSpPr>
        <p:spPr>
          <a:xfrm>
            <a:off x="6204445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PC2</a:t>
            </a:r>
            <a:endParaRPr lang="zh-CN" altLang="en-US" b="1" dirty="0"/>
          </a:p>
        </p:txBody>
      </p:sp>
      <p:sp>
        <p:nvSpPr>
          <p:cNvPr id="73" name="文本框 72"/>
          <p:cNvSpPr txBox="1"/>
          <p:nvPr/>
        </p:nvSpPr>
        <p:spPr>
          <a:xfrm>
            <a:off x="11084625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PC3</a:t>
            </a:r>
            <a:endParaRPr lang="zh-CN" altLang="en-US" b="1" dirty="0"/>
          </a:p>
        </p:txBody>
      </p:sp>
      <p:sp>
        <p:nvSpPr>
          <p:cNvPr id="76" name="文本框 75"/>
          <p:cNvSpPr txBox="1"/>
          <p:nvPr/>
        </p:nvSpPr>
        <p:spPr>
          <a:xfrm>
            <a:off x="11036593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PC7</a:t>
            </a:r>
            <a:endParaRPr lang="zh-CN" altLang="en-US" b="1" dirty="0"/>
          </a:p>
        </p:txBody>
      </p:sp>
      <p:sp>
        <p:nvSpPr>
          <p:cNvPr id="51" name="等腰三角形 50"/>
          <p:cNvSpPr/>
          <p:nvPr/>
        </p:nvSpPr>
        <p:spPr>
          <a:xfrm>
            <a:off x="2509381" y="3309403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等腰三角形 51"/>
          <p:cNvSpPr/>
          <p:nvPr/>
        </p:nvSpPr>
        <p:spPr>
          <a:xfrm>
            <a:off x="2509381" y="41193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等腰三角形 52"/>
          <p:cNvSpPr/>
          <p:nvPr/>
        </p:nvSpPr>
        <p:spPr>
          <a:xfrm>
            <a:off x="3776559" y="329433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等腰三角形 53"/>
          <p:cNvSpPr/>
          <p:nvPr/>
        </p:nvSpPr>
        <p:spPr>
          <a:xfrm>
            <a:off x="3776558" y="417750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等腰三角形 54"/>
          <p:cNvSpPr/>
          <p:nvPr/>
        </p:nvSpPr>
        <p:spPr>
          <a:xfrm>
            <a:off x="8324469" y="328257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等腰三角形 55"/>
          <p:cNvSpPr/>
          <p:nvPr/>
        </p:nvSpPr>
        <p:spPr>
          <a:xfrm>
            <a:off x="9712901" y="328107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等腰三角形 56"/>
          <p:cNvSpPr/>
          <p:nvPr/>
        </p:nvSpPr>
        <p:spPr>
          <a:xfrm>
            <a:off x="8322853" y="419586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等腰三角形 57"/>
          <p:cNvSpPr/>
          <p:nvPr/>
        </p:nvSpPr>
        <p:spPr>
          <a:xfrm>
            <a:off x="9728117" y="419586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等腰三角形 58"/>
          <p:cNvSpPr/>
          <p:nvPr/>
        </p:nvSpPr>
        <p:spPr>
          <a:xfrm>
            <a:off x="4059017" y="376304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等腰三角形 59"/>
          <p:cNvSpPr/>
          <p:nvPr/>
        </p:nvSpPr>
        <p:spPr>
          <a:xfrm>
            <a:off x="8080650" y="376304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3" grpId="0"/>
      <p:bldP spid="14" grpId="0"/>
      <p:bldP spid="18" grpId="0"/>
      <p:bldP spid="19" grpId="0"/>
      <p:bldP spid="22" grpId="0"/>
      <p:bldP spid="23" grpId="0"/>
      <p:bldP spid="2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190674" y="685800"/>
            <a:ext cx="5810653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3.  </a:t>
            </a:r>
            <a:r>
              <a:rPr lang="zh-CN" altLang="en-US" sz="2400" b="1" dirty="0"/>
              <a:t>查看并标注交换机接口名称（接口号）</a:t>
            </a:r>
            <a:endParaRPr lang="en-US" altLang="zh-CN" sz="24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985104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192.168.0.5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1012771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192.168.0.1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4" name="文本框 13"/>
          <p:cNvSpPr txBox="1"/>
          <p:nvPr/>
        </p:nvSpPr>
        <p:spPr>
          <a:xfrm>
            <a:off x="3670211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192.168.0.2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8" name="文本框 17"/>
          <p:cNvSpPr txBox="1"/>
          <p:nvPr/>
        </p:nvSpPr>
        <p:spPr>
          <a:xfrm>
            <a:off x="4014643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192.168.0.6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9" name="文本框 18"/>
          <p:cNvSpPr txBox="1"/>
          <p:nvPr/>
        </p:nvSpPr>
        <p:spPr>
          <a:xfrm>
            <a:off x="6884749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192.168.0.7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22" name="文本框 21"/>
          <p:cNvSpPr txBox="1"/>
          <p:nvPr/>
        </p:nvSpPr>
        <p:spPr>
          <a:xfrm>
            <a:off x="6912416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192.168.0.3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23" name="文本框 22"/>
          <p:cNvSpPr txBox="1"/>
          <p:nvPr/>
        </p:nvSpPr>
        <p:spPr>
          <a:xfrm>
            <a:off x="9569856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192.168.0.4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26" name="文本框 25"/>
          <p:cNvSpPr txBox="1"/>
          <p:nvPr/>
        </p:nvSpPr>
        <p:spPr>
          <a:xfrm>
            <a:off x="9914288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192.168.0.8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cxnSp>
        <p:nvCxnSpPr>
          <p:cNvPr id="8" name="直接连接符 7"/>
          <p:cNvCxnSpPr/>
          <p:nvPr/>
        </p:nvCxnSpPr>
        <p:spPr>
          <a:xfrm>
            <a:off x="713110" y="2162267"/>
            <a:ext cx="2341759" cy="15474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等腰三角形 9"/>
          <p:cNvSpPr/>
          <p:nvPr/>
        </p:nvSpPr>
        <p:spPr>
          <a:xfrm>
            <a:off x="1190792" y="246301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 flipV="1">
            <a:off x="713110" y="3902316"/>
            <a:ext cx="2283201" cy="15150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等腰三角形 16"/>
          <p:cNvSpPr/>
          <p:nvPr/>
        </p:nvSpPr>
        <p:spPr>
          <a:xfrm>
            <a:off x="1190792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连接符 19"/>
          <p:cNvCxnSpPr/>
          <p:nvPr/>
        </p:nvCxnSpPr>
        <p:spPr>
          <a:xfrm flipV="1">
            <a:off x="3370466" y="2108892"/>
            <a:ext cx="2109833" cy="160085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等腰三角形 20"/>
          <p:cNvSpPr/>
          <p:nvPr/>
        </p:nvSpPr>
        <p:spPr>
          <a:xfrm>
            <a:off x="4942426" y="24111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连接符 23"/>
          <p:cNvCxnSpPr/>
          <p:nvPr/>
        </p:nvCxnSpPr>
        <p:spPr>
          <a:xfrm>
            <a:off x="3300727" y="3859446"/>
            <a:ext cx="2292563" cy="161241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等腰三角形 24"/>
          <p:cNvSpPr/>
          <p:nvPr/>
        </p:nvSpPr>
        <p:spPr>
          <a:xfrm>
            <a:off x="4942426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" name="直接连接符 27"/>
          <p:cNvCxnSpPr/>
          <p:nvPr/>
        </p:nvCxnSpPr>
        <p:spPr>
          <a:xfrm>
            <a:off x="6612755" y="2162267"/>
            <a:ext cx="2341759" cy="15474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等腰三角形 28"/>
          <p:cNvSpPr/>
          <p:nvPr/>
        </p:nvSpPr>
        <p:spPr>
          <a:xfrm>
            <a:off x="7090437" y="246301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" name="直接连接符 31"/>
          <p:cNvCxnSpPr/>
          <p:nvPr/>
        </p:nvCxnSpPr>
        <p:spPr>
          <a:xfrm flipV="1">
            <a:off x="6612755" y="3902316"/>
            <a:ext cx="2283201" cy="15150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等腰三角形 32"/>
          <p:cNvSpPr/>
          <p:nvPr/>
        </p:nvSpPr>
        <p:spPr>
          <a:xfrm>
            <a:off x="7090437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8" name="直接连接符 37"/>
          <p:cNvCxnSpPr/>
          <p:nvPr/>
        </p:nvCxnSpPr>
        <p:spPr>
          <a:xfrm flipV="1">
            <a:off x="9270111" y="2108892"/>
            <a:ext cx="2109833" cy="160085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等腰三角形 39"/>
          <p:cNvSpPr/>
          <p:nvPr/>
        </p:nvSpPr>
        <p:spPr>
          <a:xfrm>
            <a:off x="10842071" y="24111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3" name="直接连接符 42"/>
          <p:cNvCxnSpPr/>
          <p:nvPr/>
        </p:nvCxnSpPr>
        <p:spPr>
          <a:xfrm>
            <a:off x="9200372" y="3859446"/>
            <a:ext cx="2292563" cy="161241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等腰三角形 43"/>
          <p:cNvSpPr/>
          <p:nvPr/>
        </p:nvSpPr>
        <p:spPr>
          <a:xfrm>
            <a:off x="10842071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" name="直接连接符 46"/>
          <p:cNvCxnSpPr/>
          <p:nvPr/>
        </p:nvCxnSpPr>
        <p:spPr>
          <a:xfrm>
            <a:off x="3497998" y="3826236"/>
            <a:ext cx="5333835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9" name="20 8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544" y="5242879"/>
            <a:ext cx="539132" cy="457973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04800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PC4</a:t>
            </a:r>
            <a:endParaRPr lang="zh-CN" altLang="en-US" b="1" dirty="0"/>
          </a:p>
        </p:txBody>
      </p:sp>
      <p:pic>
        <p:nvPicPr>
          <p:cNvPr id="12" name="20 11" descr="图标&#10;&#10;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1054" y="3667774"/>
            <a:ext cx="646944" cy="332541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799091" y="3630983"/>
            <a:ext cx="1965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2960-24TT  Switch0</a:t>
            </a:r>
            <a:endParaRPr lang="zh-CN" altLang="en-US" b="1" dirty="0"/>
          </a:p>
        </p:txBody>
      </p:sp>
      <p:pic>
        <p:nvPicPr>
          <p:cNvPr id="5" name="20 4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724" y="5242879"/>
            <a:ext cx="539132" cy="457973"/>
          </a:xfrm>
          <a:prstGeom prst="rect">
            <a:avLst/>
          </a:prstGeom>
        </p:spPr>
      </p:pic>
      <p:pic>
        <p:nvPicPr>
          <p:cNvPr id="6" name="20 5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544" y="1967237"/>
            <a:ext cx="539132" cy="457973"/>
          </a:xfrm>
          <a:prstGeom prst="rect">
            <a:avLst/>
          </a:prstGeom>
        </p:spPr>
      </p:pic>
      <p:pic>
        <p:nvPicPr>
          <p:cNvPr id="7" name="20 6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724" y="1967237"/>
            <a:ext cx="539132" cy="457973"/>
          </a:xfrm>
          <a:prstGeom prst="rect">
            <a:avLst/>
          </a:prstGeom>
        </p:spPr>
      </p:pic>
      <p:sp>
        <p:nvSpPr>
          <p:cNvPr id="34" name="文本框 33"/>
          <p:cNvSpPr txBox="1"/>
          <p:nvPr/>
        </p:nvSpPr>
        <p:spPr>
          <a:xfrm>
            <a:off x="304800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sp>
        <p:nvSpPr>
          <p:cNvPr id="36" name="文本框 35"/>
          <p:cNvSpPr txBox="1"/>
          <p:nvPr/>
        </p:nvSpPr>
        <p:spPr>
          <a:xfrm>
            <a:off x="5184980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PC1</a:t>
            </a:r>
            <a:endParaRPr lang="zh-CN" altLang="en-US" b="1" dirty="0"/>
          </a:p>
        </p:txBody>
      </p:sp>
      <p:sp>
        <p:nvSpPr>
          <p:cNvPr id="39" name="文本框 38"/>
          <p:cNvSpPr txBox="1"/>
          <p:nvPr/>
        </p:nvSpPr>
        <p:spPr>
          <a:xfrm>
            <a:off x="5136948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PC5</a:t>
            </a:r>
            <a:endParaRPr lang="zh-CN" altLang="en-US" b="1" dirty="0"/>
          </a:p>
        </p:txBody>
      </p:sp>
      <p:pic>
        <p:nvPicPr>
          <p:cNvPr id="63" name="20 62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189" y="5242879"/>
            <a:ext cx="539132" cy="457973"/>
          </a:xfrm>
          <a:prstGeom prst="rect">
            <a:avLst/>
          </a:prstGeom>
        </p:spPr>
      </p:pic>
      <p:sp>
        <p:nvSpPr>
          <p:cNvPr id="64" name="文本框 63"/>
          <p:cNvSpPr txBox="1"/>
          <p:nvPr/>
        </p:nvSpPr>
        <p:spPr>
          <a:xfrm>
            <a:off x="6204445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PC6</a:t>
            </a:r>
            <a:endParaRPr lang="zh-CN" altLang="en-US" b="1" dirty="0"/>
          </a:p>
        </p:txBody>
      </p:sp>
      <p:pic>
        <p:nvPicPr>
          <p:cNvPr id="65" name="20 64" descr="图标&#10;&#10;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699" y="3667774"/>
            <a:ext cx="646944" cy="332541"/>
          </a:xfrm>
          <a:prstGeom prst="rect">
            <a:avLst/>
          </a:prstGeom>
        </p:spPr>
      </p:pic>
      <p:sp>
        <p:nvSpPr>
          <p:cNvPr id="66" name="文本框 65"/>
          <p:cNvSpPr txBox="1"/>
          <p:nvPr/>
        </p:nvSpPr>
        <p:spPr>
          <a:xfrm>
            <a:off x="9390051" y="3630983"/>
            <a:ext cx="1965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2960-24TT  Switch1</a:t>
            </a:r>
            <a:endParaRPr lang="zh-CN" altLang="en-US" b="1" dirty="0"/>
          </a:p>
        </p:txBody>
      </p:sp>
      <p:pic>
        <p:nvPicPr>
          <p:cNvPr id="68" name="20 67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3369" y="5242879"/>
            <a:ext cx="539132" cy="457973"/>
          </a:xfrm>
          <a:prstGeom prst="rect">
            <a:avLst/>
          </a:prstGeom>
        </p:spPr>
      </p:pic>
      <p:pic>
        <p:nvPicPr>
          <p:cNvPr id="69" name="20 68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189" y="1967237"/>
            <a:ext cx="539132" cy="457973"/>
          </a:xfrm>
          <a:prstGeom prst="rect">
            <a:avLst/>
          </a:prstGeom>
        </p:spPr>
      </p:pic>
      <p:pic>
        <p:nvPicPr>
          <p:cNvPr id="70" name="20 69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3369" y="1967237"/>
            <a:ext cx="539132" cy="457973"/>
          </a:xfrm>
          <a:prstGeom prst="rect">
            <a:avLst/>
          </a:prstGeom>
        </p:spPr>
      </p:pic>
      <p:sp>
        <p:nvSpPr>
          <p:cNvPr id="71" name="文本框 70"/>
          <p:cNvSpPr txBox="1"/>
          <p:nvPr/>
        </p:nvSpPr>
        <p:spPr>
          <a:xfrm>
            <a:off x="6204445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PC2</a:t>
            </a:r>
            <a:endParaRPr lang="zh-CN" altLang="en-US" b="1" dirty="0"/>
          </a:p>
        </p:txBody>
      </p:sp>
      <p:sp>
        <p:nvSpPr>
          <p:cNvPr id="73" name="文本框 72"/>
          <p:cNvSpPr txBox="1"/>
          <p:nvPr/>
        </p:nvSpPr>
        <p:spPr>
          <a:xfrm>
            <a:off x="11084625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PC3</a:t>
            </a:r>
            <a:endParaRPr lang="zh-CN" altLang="en-US" b="1" dirty="0"/>
          </a:p>
        </p:txBody>
      </p:sp>
      <p:sp>
        <p:nvSpPr>
          <p:cNvPr id="76" name="文本框 75"/>
          <p:cNvSpPr txBox="1"/>
          <p:nvPr/>
        </p:nvSpPr>
        <p:spPr>
          <a:xfrm>
            <a:off x="11036593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PC7</a:t>
            </a:r>
            <a:endParaRPr lang="zh-CN" altLang="en-US" b="1" dirty="0"/>
          </a:p>
        </p:txBody>
      </p:sp>
      <p:sp>
        <p:nvSpPr>
          <p:cNvPr id="51" name="等腰三角形 50"/>
          <p:cNvSpPr/>
          <p:nvPr/>
        </p:nvSpPr>
        <p:spPr>
          <a:xfrm>
            <a:off x="2509381" y="3309403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等腰三角形 51"/>
          <p:cNvSpPr/>
          <p:nvPr/>
        </p:nvSpPr>
        <p:spPr>
          <a:xfrm>
            <a:off x="2509381" y="41193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等腰三角形 52"/>
          <p:cNvSpPr/>
          <p:nvPr/>
        </p:nvSpPr>
        <p:spPr>
          <a:xfrm>
            <a:off x="3776559" y="329433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等腰三角形 53"/>
          <p:cNvSpPr/>
          <p:nvPr/>
        </p:nvSpPr>
        <p:spPr>
          <a:xfrm>
            <a:off x="3776558" y="417750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等腰三角形 54"/>
          <p:cNvSpPr/>
          <p:nvPr/>
        </p:nvSpPr>
        <p:spPr>
          <a:xfrm>
            <a:off x="8324469" y="328257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等腰三角形 55"/>
          <p:cNvSpPr/>
          <p:nvPr/>
        </p:nvSpPr>
        <p:spPr>
          <a:xfrm>
            <a:off x="9712901" y="328107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等腰三角形 56"/>
          <p:cNvSpPr/>
          <p:nvPr/>
        </p:nvSpPr>
        <p:spPr>
          <a:xfrm>
            <a:off x="8322853" y="419586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等腰三角形 57"/>
          <p:cNvSpPr/>
          <p:nvPr/>
        </p:nvSpPr>
        <p:spPr>
          <a:xfrm>
            <a:off x="9728117" y="419586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等腰三角形 58"/>
          <p:cNvSpPr/>
          <p:nvPr/>
        </p:nvSpPr>
        <p:spPr>
          <a:xfrm>
            <a:off x="4059017" y="376304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等腰三角形 59"/>
          <p:cNvSpPr/>
          <p:nvPr/>
        </p:nvSpPr>
        <p:spPr>
          <a:xfrm>
            <a:off x="8080650" y="376304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190674" y="685800"/>
            <a:ext cx="5810653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3.  </a:t>
            </a:r>
            <a:r>
              <a:rPr lang="zh-CN" altLang="en-US" sz="2400" b="1" dirty="0"/>
              <a:t>查看并标注交换机接口名称（接口号）</a:t>
            </a:r>
            <a:endParaRPr lang="en-US" altLang="zh-CN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27" name="20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3" y="1729715"/>
            <a:ext cx="4275190" cy="1265030"/>
          </a:xfrm>
          <a:prstGeom prst="rect">
            <a:avLst/>
          </a:prstGeom>
        </p:spPr>
      </p:pic>
      <p:pic>
        <p:nvPicPr>
          <p:cNvPr id="30" name="20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8381" y="1827181"/>
            <a:ext cx="4778816" cy="4558029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1731900" y="2153052"/>
            <a:ext cx="2204189" cy="1948430"/>
            <a:chOff x="1731900" y="2153052"/>
            <a:chExt cx="2204189" cy="1948430"/>
          </a:xfrm>
        </p:grpSpPr>
        <p:sp>
          <p:nvSpPr>
            <p:cNvPr id="35" name="文本框 34"/>
            <p:cNvSpPr txBox="1"/>
            <p:nvPr/>
          </p:nvSpPr>
          <p:spPr>
            <a:xfrm>
              <a:off x="1731900" y="3701372"/>
              <a:ext cx="220418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FF0000"/>
                  </a:solidFill>
                </a:rPr>
                <a:t>❶  选择该菜单项</a:t>
              </a:r>
              <a:endParaRPr lang="zh-CN" altLang="en-US" sz="20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37" name="直接箭头连接符 36"/>
            <p:cNvCxnSpPr/>
            <p:nvPr/>
          </p:nvCxnSpPr>
          <p:spPr>
            <a:xfrm flipV="1">
              <a:off x="2833995" y="2153052"/>
              <a:ext cx="0" cy="1472120"/>
            </a:xfrm>
            <a:prstGeom prst="straightConnector1">
              <a:avLst/>
            </a:prstGeom>
            <a:ln w="25400"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组合 40"/>
          <p:cNvGrpSpPr/>
          <p:nvPr/>
        </p:nvGrpSpPr>
        <p:grpSpPr>
          <a:xfrm>
            <a:off x="6373131" y="1297718"/>
            <a:ext cx="2204189" cy="790486"/>
            <a:chOff x="6373131" y="1297718"/>
            <a:chExt cx="2204189" cy="790486"/>
          </a:xfrm>
        </p:grpSpPr>
        <p:sp>
          <p:nvSpPr>
            <p:cNvPr id="42" name="文本框 41"/>
            <p:cNvSpPr txBox="1"/>
            <p:nvPr/>
          </p:nvSpPr>
          <p:spPr>
            <a:xfrm>
              <a:off x="6373131" y="1297718"/>
              <a:ext cx="220418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FF0000"/>
                  </a:solidFill>
                </a:rPr>
                <a:t>❷  选择该选项卡</a:t>
              </a:r>
              <a:endParaRPr lang="zh-CN" altLang="en-US" sz="20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45" name="直接箭头连接符 44"/>
            <p:cNvCxnSpPr/>
            <p:nvPr/>
          </p:nvCxnSpPr>
          <p:spPr>
            <a:xfrm>
              <a:off x="7475226" y="1680280"/>
              <a:ext cx="0" cy="407924"/>
            </a:xfrm>
            <a:prstGeom prst="straightConnector1">
              <a:avLst/>
            </a:prstGeom>
            <a:ln w="25400"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组合 45"/>
          <p:cNvGrpSpPr/>
          <p:nvPr/>
        </p:nvGrpSpPr>
        <p:grpSpPr>
          <a:xfrm>
            <a:off x="5007313" y="2966200"/>
            <a:ext cx="2230066" cy="400110"/>
            <a:chOff x="5007313" y="2966200"/>
            <a:chExt cx="2230066" cy="400110"/>
          </a:xfrm>
        </p:grpSpPr>
        <p:sp>
          <p:nvSpPr>
            <p:cNvPr id="48" name="文本框 47"/>
            <p:cNvSpPr txBox="1"/>
            <p:nvPr/>
          </p:nvSpPr>
          <p:spPr>
            <a:xfrm>
              <a:off x="5007313" y="2966200"/>
              <a:ext cx="18421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FF0000"/>
                  </a:solidFill>
                </a:rPr>
                <a:t>❸ 选中该选项</a:t>
              </a:r>
              <a:endParaRPr lang="zh-CN" altLang="en-US" sz="20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49" name="直接箭头连接符 48"/>
            <p:cNvCxnSpPr/>
            <p:nvPr/>
          </p:nvCxnSpPr>
          <p:spPr>
            <a:xfrm>
              <a:off x="6849414" y="3166255"/>
              <a:ext cx="387965" cy="0"/>
            </a:xfrm>
            <a:prstGeom prst="straightConnector1">
              <a:avLst/>
            </a:prstGeom>
            <a:ln w="25400"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190674" y="685800"/>
            <a:ext cx="5810653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3.  </a:t>
            </a:r>
            <a:r>
              <a:rPr lang="zh-CN" altLang="en-US" sz="2400" b="1" dirty="0"/>
              <a:t>查看并标注交换机接口名称（接口号）</a:t>
            </a:r>
            <a:endParaRPr lang="en-US" altLang="zh-CN" sz="24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985104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192.168.0.5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1012771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192.168.0.1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4" name="文本框 13"/>
          <p:cNvSpPr txBox="1"/>
          <p:nvPr/>
        </p:nvSpPr>
        <p:spPr>
          <a:xfrm>
            <a:off x="3670211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192.168.0.2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8" name="文本框 17"/>
          <p:cNvSpPr txBox="1"/>
          <p:nvPr/>
        </p:nvSpPr>
        <p:spPr>
          <a:xfrm>
            <a:off x="4014643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192.168.0.6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9" name="文本框 18"/>
          <p:cNvSpPr txBox="1"/>
          <p:nvPr/>
        </p:nvSpPr>
        <p:spPr>
          <a:xfrm>
            <a:off x="6884749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192.168.0.7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22" name="文本框 21"/>
          <p:cNvSpPr txBox="1"/>
          <p:nvPr/>
        </p:nvSpPr>
        <p:spPr>
          <a:xfrm>
            <a:off x="6912416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192.168.0.3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23" name="文本框 22"/>
          <p:cNvSpPr txBox="1"/>
          <p:nvPr/>
        </p:nvSpPr>
        <p:spPr>
          <a:xfrm>
            <a:off x="9569856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192.168.0.4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26" name="文本框 25"/>
          <p:cNvSpPr txBox="1"/>
          <p:nvPr/>
        </p:nvSpPr>
        <p:spPr>
          <a:xfrm>
            <a:off x="9914288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192.168.0.8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cxnSp>
        <p:nvCxnSpPr>
          <p:cNvPr id="8" name="直接连接符 7"/>
          <p:cNvCxnSpPr/>
          <p:nvPr/>
        </p:nvCxnSpPr>
        <p:spPr>
          <a:xfrm>
            <a:off x="713110" y="2162267"/>
            <a:ext cx="2341759" cy="15474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等腰三角形 9"/>
          <p:cNvSpPr/>
          <p:nvPr/>
        </p:nvSpPr>
        <p:spPr>
          <a:xfrm>
            <a:off x="1190792" y="246301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 flipV="1">
            <a:off x="713110" y="3902316"/>
            <a:ext cx="2283201" cy="15150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等腰三角形 16"/>
          <p:cNvSpPr/>
          <p:nvPr/>
        </p:nvSpPr>
        <p:spPr>
          <a:xfrm>
            <a:off x="1190792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连接符 19"/>
          <p:cNvCxnSpPr/>
          <p:nvPr/>
        </p:nvCxnSpPr>
        <p:spPr>
          <a:xfrm flipV="1">
            <a:off x="3370466" y="2108892"/>
            <a:ext cx="2109833" cy="160085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等腰三角形 20"/>
          <p:cNvSpPr/>
          <p:nvPr/>
        </p:nvSpPr>
        <p:spPr>
          <a:xfrm>
            <a:off x="4942426" y="24111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连接符 23"/>
          <p:cNvCxnSpPr/>
          <p:nvPr/>
        </p:nvCxnSpPr>
        <p:spPr>
          <a:xfrm>
            <a:off x="3300727" y="3859446"/>
            <a:ext cx="2292563" cy="161241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等腰三角形 24"/>
          <p:cNvSpPr/>
          <p:nvPr/>
        </p:nvSpPr>
        <p:spPr>
          <a:xfrm>
            <a:off x="4942426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" name="直接连接符 27"/>
          <p:cNvCxnSpPr/>
          <p:nvPr/>
        </p:nvCxnSpPr>
        <p:spPr>
          <a:xfrm>
            <a:off x="6612755" y="2162267"/>
            <a:ext cx="2341759" cy="15474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等腰三角形 28"/>
          <p:cNvSpPr/>
          <p:nvPr/>
        </p:nvSpPr>
        <p:spPr>
          <a:xfrm>
            <a:off x="7090437" y="246301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" name="直接连接符 31"/>
          <p:cNvCxnSpPr/>
          <p:nvPr/>
        </p:nvCxnSpPr>
        <p:spPr>
          <a:xfrm flipV="1">
            <a:off x="6612755" y="3902316"/>
            <a:ext cx="2283201" cy="15150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等腰三角形 32"/>
          <p:cNvSpPr/>
          <p:nvPr/>
        </p:nvSpPr>
        <p:spPr>
          <a:xfrm>
            <a:off x="7090437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8" name="直接连接符 37"/>
          <p:cNvCxnSpPr/>
          <p:nvPr/>
        </p:nvCxnSpPr>
        <p:spPr>
          <a:xfrm flipV="1">
            <a:off x="9270111" y="2108892"/>
            <a:ext cx="2109833" cy="160085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等腰三角形 39"/>
          <p:cNvSpPr/>
          <p:nvPr/>
        </p:nvSpPr>
        <p:spPr>
          <a:xfrm>
            <a:off x="10842071" y="24111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3" name="直接连接符 42"/>
          <p:cNvCxnSpPr/>
          <p:nvPr/>
        </p:nvCxnSpPr>
        <p:spPr>
          <a:xfrm>
            <a:off x="9200372" y="3859446"/>
            <a:ext cx="2292563" cy="161241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等腰三角形 43"/>
          <p:cNvSpPr/>
          <p:nvPr/>
        </p:nvSpPr>
        <p:spPr>
          <a:xfrm>
            <a:off x="10842071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" name="直接连接符 46"/>
          <p:cNvCxnSpPr/>
          <p:nvPr/>
        </p:nvCxnSpPr>
        <p:spPr>
          <a:xfrm>
            <a:off x="3497998" y="3826236"/>
            <a:ext cx="5333835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9" name="20 8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544" y="5242879"/>
            <a:ext cx="539132" cy="457973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04800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PC4</a:t>
            </a:r>
            <a:endParaRPr lang="zh-CN" altLang="en-US" b="1" dirty="0"/>
          </a:p>
        </p:txBody>
      </p:sp>
      <p:pic>
        <p:nvPicPr>
          <p:cNvPr id="12" name="20 11" descr="图标&#10;&#10;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1054" y="3667774"/>
            <a:ext cx="646944" cy="332541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799091" y="3630983"/>
            <a:ext cx="1965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2960-24TT  Switch0</a:t>
            </a:r>
            <a:endParaRPr lang="zh-CN" altLang="en-US" b="1" dirty="0"/>
          </a:p>
        </p:txBody>
      </p:sp>
      <p:pic>
        <p:nvPicPr>
          <p:cNvPr id="5" name="20 4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724" y="5242879"/>
            <a:ext cx="539132" cy="457973"/>
          </a:xfrm>
          <a:prstGeom prst="rect">
            <a:avLst/>
          </a:prstGeom>
        </p:spPr>
      </p:pic>
      <p:pic>
        <p:nvPicPr>
          <p:cNvPr id="6" name="20 5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544" y="1967237"/>
            <a:ext cx="539132" cy="457973"/>
          </a:xfrm>
          <a:prstGeom prst="rect">
            <a:avLst/>
          </a:prstGeom>
        </p:spPr>
      </p:pic>
      <p:pic>
        <p:nvPicPr>
          <p:cNvPr id="7" name="20 6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724" y="1967237"/>
            <a:ext cx="539132" cy="457973"/>
          </a:xfrm>
          <a:prstGeom prst="rect">
            <a:avLst/>
          </a:prstGeom>
        </p:spPr>
      </p:pic>
      <p:sp>
        <p:nvSpPr>
          <p:cNvPr id="34" name="文本框 33"/>
          <p:cNvSpPr txBox="1"/>
          <p:nvPr/>
        </p:nvSpPr>
        <p:spPr>
          <a:xfrm>
            <a:off x="304800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sp>
        <p:nvSpPr>
          <p:cNvPr id="36" name="文本框 35"/>
          <p:cNvSpPr txBox="1"/>
          <p:nvPr/>
        </p:nvSpPr>
        <p:spPr>
          <a:xfrm>
            <a:off x="5184980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PC1</a:t>
            </a:r>
            <a:endParaRPr lang="zh-CN" altLang="en-US" b="1" dirty="0"/>
          </a:p>
        </p:txBody>
      </p:sp>
      <p:sp>
        <p:nvSpPr>
          <p:cNvPr id="39" name="文本框 38"/>
          <p:cNvSpPr txBox="1"/>
          <p:nvPr/>
        </p:nvSpPr>
        <p:spPr>
          <a:xfrm>
            <a:off x="5136948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PC5</a:t>
            </a:r>
            <a:endParaRPr lang="zh-CN" altLang="en-US" b="1" dirty="0"/>
          </a:p>
        </p:txBody>
      </p:sp>
      <p:pic>
        <p:nvPicPr>
          <p:cNvPr id="63" name="20 62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189" y="5242879"/>
            <a:ext cx="539132" cy="457973"/>
          </a:xfrm>
          <a:prstGeom prst="rect">
            <a:avLst/>
          </a:prstGeom>
        </p:spPr>
      </p:pic>
      <p:sp>
        <p:nvSpPr>
          <p:cNvPr id="64" name="文本框 63"/>
          <p:cNvSpPr txBox="1"/>
          <p:nvPr/>
        </p:nvSpPr>
        <p:spPr>
          <a:xfrm>
            <a:off x="6204445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PC6</a:t>
            </a:r>
            <a:endParaRPr lang="zh-CN" altLang="en-US" b="1" dirty="0"/>
          </a:p>
        </p:txBody>
      </p:sp>
      <p:pic>
        <p:nvPicPr>
          <p:cNvPr id="65" name="20 64" descr="图标&#10;&#10;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699" y="3667774"/>
            <a:ext cx="646944" cy="332541"/>
          </a:xfrm>
          <a:prstGeom prst="rect">
            <a:avLst/>
          </a:prstGeom>
        </p:spPr>
      </p:pic>
      <p:sp>
        <p:nvSpPr>
          <p:cNvPr id="66" name="文本框 65"/>
          <p:cNvSpPr txBox="1"/>
          <p:nvPr/>
        </p:nvSpPr>
        <p:spPr>
          <a:xfrm>
            <a:off x="9390051" y="3630983"/>
            <a:ext cx="1965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2960-24TT  Switch1</a:t>
            </a:r>
            <a:endParaRPr lang="zh-CN" altLang="en-US" b="1" dirty="0"/>
          </a:p>
        </p:txBody>
      </p:sp>
      <p:pic>
        <p:nvPicPr>
          <p:cNvPr id="68" name="20 67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3369" y="5242879"/>
            <a:ext cx="539132" cy="457973"/>
          </a:xfrm>
          <a:prstGeom prst="rect">
            <a:avLst/>
          </a:prstGeom>
        </p:spPr>
      </p:pic>
      <p:pic>
        <p:nvPicPr>
          <p:cNvPr id="69" name="20 68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189" y="1967237"/>
            <a:ext cx="539132" cy="457973"/>
          </a:xfrm>
          <a:prstGeom prst="rect">
            <a:avLst/>
          </a:prstGeom>
        </p:spPr>
      </p:pic>
      <p:pic>
        <p:nvPicPr>
          <p:cNvPr id="70" name="20 69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3369" y="1967237"/>
            <a:ext cx="539132" cy="457973"/>
          </a:xfrm>
          <a:prstGeom prst="rect">
            <a:avLst/>
          </a:prstGeom>
        </p:spPr>
      </p:pic>
      <p:sp>
        <p:nvSpPr>
          <p:cNvPr id="71" name="文本框 70"/>
          <p:cNvSpPr txBox="1"/>
          <p:nvPr/>
        </p:nvSpPr>
        <p:spPr>
          <a:xfrm>
            <a:off x="6204445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PC2</a:t>
            </a:r>
            <a:endParaRPr lang="zh-CN" altLang="en-US" b="1" dirty="0"/>
          </a:p>
        </p:txBody>
      </p:sp>
      <p:sp>
        <p:nvSpPr>
          <p:cNvPr id="73" name="文本框 72"/>
          <p:cNvSpPr txBox="1"/>
          <p:nvPr/>
        </p:nvSpPr>
        <p:spPr>
          <a:xfrm>
            <a:off x="11084625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PC3</a:t>
            </a:r>
            <a:endParaRPr lang="zh-CN" altLang="en-US" b="1" dirty="0"/>
          </a:p>
        </p:txBody>
      </p:sp>
      <p:sp>
        <p:nvSpPr>
          <p:cNvPr id="76" name="文本框 75"/>
          <p:cNvSpPr txBox="1"/>
          <p:nvPr/>
        </p:nvSpPr>
        <p:spPr>
          <a:xfrm>
            <a:off x="11036593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PC7</a:t>
            </a:r>
            <a:endParaRPr lang="zh-CN" altLang="en-US" b="1" dirty="0"/>
          </a:p>
        </p:txBody>
      </p:sp>
      <p:sp>
        <p:nvSpPr>
          <p:cNvPr id="51" name="等腰三角形 50"/>
          <p:cNvSpPr/>
          <p:nvPr/>
        </p:nvSpPr>
        <p:spPr>
          <a:xfrm>
            <a:off x="2509381" y="3309403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等腰三角形 51"/>
          <p:cNvSpPr/>
          <p:nvPr/>
        </p:nvSpPr>
        <p:spPr>
          <a:xfrm>
            <a:off x="2509381" y="41193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等腰三角形 52"/>
          <p:cNvSpPr/>
          <p:nvPr/>
        </p:nvSpPr>
        <p:spPr>
          <a:xfrm>
            <a:off x="3776559" y="329433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等腰三角形 53"/>
          <p:cNvSpPr/>
          <p:nvPr/>
        </p:nvSpPr>
        <p:spPr>
          <a:xfrm>
            <a:off x="3776558" y="417750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等腰三角形 54"/>
          <p:cNvSpPr/>
          <p:nvPr/>
        </p:nvSpPr>
        <p:spPr>
          <a:xfrm>
            <a:off x="8324469" y="328257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等腰三角形 55"/>
          <p:cNvSpPr/>
          <p:nvPr/>
        </p:nvSpPr>
        <p:spPr>
          <a:xfrm>
            <a:off x="9712901" y="328107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等腰三角形 56"/>
          <p:cNvSpPr/>
          <p:nvPr/>
        </p:nvSpPr>
        <p:spPr>
          <a:xfrm>
            <a:off x="8322853" y="419586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等腰三角形 57"/>
          <p:cNvSpPr/>
          <p:nvPr/>
        </p:nvSpPr>
        <p:spPr>
          <a:xfrm>
            <a:off x="9728117" y="419586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等腰三角形 58"/>
          <p:cNvSpPr/>
          <p:nvPr/>
        </p:nvSpPr>
        <p:spPr>
          <a:xfrm>
            <a:off x="4059017" y="376304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等腰三角形 59"/>
          <p:cNvSpPr/>
          <p:nvPr/>
        </p:nvSpPr>
        <p:spPr>
          <a:xfrm>
            <a:off x="8080650" y="376304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965791" y="2556570"/>
            <a:ext cx="54933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</a:t>
            </a:r>
            <a:endParaRPr lang="zh-CN" altLang="en-US" b="1" dirty="0"/>
          </a:p>
        </p:txBody>
      </p:sp>
      <p:sp>
        <p:nvSpPr>
          <p:cNvPr id="30" name="文本框 29"/>
          <p:cNvSpPr txBox="1"/>
          <p:nvPr/>
        </p:nvSpPr>
        <p:spPr>
          <a:xfrm>
            <a:off x="995062" y="4648496"/>
            <a:ext cx="54933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</a:t>
            </a:r>
            <a:endParaRPr lang="zh-CN" altLang="en-US" b="1" dirty="0"/>
          </a:p>
        </p:txBody>
      </p:sp>
      <p:sp>
        <p:nvSpPr>
          <p:cNvPr id="31" name="文本框 30"/>
          <p:cNvSpPr txBox="1"/>
          <p:nvPr/>
        </p:nvSpPr>
        <p:spPr>
          <a:xfrm>
            <a:off x="4756706" y="2472579"/>
            <a:ext cx="54933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</a:t>
            </a:r>
            <a:endParaRPr lang="zh-CN" altLang="en-US" b="1" dirty="0"/>
          </a:p>
        </p:txBody>
      </p:sp>
      <p:sp>
        <p:nvSpPr>
          <p:cNvPr id="35" name="文本框 34"/>
          <p:cNvSpPr txBox="1"/>
          <p:nvPr/>
        </p:nvSpPr>
        <p:spPr>
          <a:xfrm>
            <a:off x="4723673" y="4699799"/>
            <a:ext cx="54933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</a:t>
            </a:r>
            <a:endParaRPr lang="zh-CN" altLang="en-US" b="1" dirty="0"/>
          </a:p>
        </p:txBody>
      </p:sp>
      <p:sp>
        <p:nvSpPr>
          <p:cNvPr id="37" name="文本框 36"/>
          <p:cNvSpPr txBox="1"/>
          <p:nvPr/>
        </p:nvSpPr>
        <p:spPr>
          <a:xfrm>
            <a:off x="6904196" y="2535684"/>
            <a:ext cx="54933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</a:t>
            </a:r>
            <a:endParaRPr lang="zh-CN" altLang="en-US" b="1" dirty="0"/>
          </a:p>
        </p:txBody>
      </p:sp>
      <p:sp>
        <p:nvSpPr>
          <p:cNvPr id="41" name="文本框 40"/>
          <p:cNvSpPr txBox="1"/>
          <p:nvPr/>
        </p:nvSpPr>
        <p:spPr>
          <a:xfrm>
            <a:off x="6823794" y="4675045"/>
            <a:ext cx="54933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</a:t>
            </a:r>
            <a:endParaRPr lang="zh-CN" altLang="en-US" b="1" dirty="0"/>
          </a:p>
        </p:txBody>
      </p:sp>
      <p:sp>
        <p:nvSpPr>
          <p:cNvPr id="42" name="文本框 41"/>
          <p:cNvSpPr txBox="1"/>
          <p:nvPr/>
        </p:nvSpPr>
        <p:spPr>
          <a:xfrm>
            <a:off x="10585946" y="2482102"/>
            <a:ext cx="54933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</a:t>
            </a:r>
            <a:endParaRPr lang="zh-CN" altLang="en-US" b="1" dirty="0"/>
          </a:p>
        </p:txBody>
      </p:sp>
      <p:sp>
        <p:nvSpPr>
          <p:cNvPr id="45" name="文本框 44"/>
          <p:cNvSpPr txBox="1"/>
          <p:nvPr/>
        </p:nvSpPr>
        <p:spPr>
          <a:xfrm>
            <a:off x="10389140" y="4804411"/>
            <a:ext cx="54933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</a:t>
            </a:r>
            <a:endParaRPr lang="zh-CN" altLang="en-US" b="1" dirty="0"/>
          </a:p>
        </p:txBody>
      </p:sp>
      <p:sp>
        <p:nvSpPr>
          <p:cNvPr id="46" name="文本框 45"/>
          <p:cNvSpPr txBox="1"/>
          <p:nvPr/>
        </p:nvSpPr>
        <p:spPr>
          <a:xfrm>
            <a:off x="8299448" y="3016457"/>
            <a:ext cx="81662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Fa0/1</a:t>
            </a:r>
            <a:endParaRPr lang="zh-CN" altLang="en-US" b="1" dirty="0"/>
          </a:p>
        </p:txBody>
      </p:sp>
      <p:sp>
        <p:nvSpPr>
          <p:cNvPr id="48" name="文本框 47"/>
          <p:cNvSpPr txBox="1"/>
          <p:nvPr/>
        </p:nvSpPr>
        <p:spPr>
          <a:xfrm>
            <a:off x="9050192" y="3016457"/>
            <a:ext cx="81662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Fa0/2</a:t>
            </a:r>
            <a:endParaRPr lang="zh-CN" altLang="en-US" b="1" dirty="0"/>
          </a:p>
        </p:txBody>
      </p:sp>
      <p:sp>
        <p:nvSpPr>
          <p:cNvPr id="49" name="文本框 48"/>
          <p:cNvSpPr txBox="1"/>
          <p:nvPr/>
        </p:nvSpPr>
        <p:spPr>
          <a:xfrm>
            <a:off x="8299448" y="4172213"/>
            <a:ext cx="81662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Fa0/3</a:t>
            </a:r>
            <a:endParaRPr lang="zh-CN" altLang="en-US" b="1" dirty="0"/>
          </a:p>
        </p:txBody>
      </p:sp>
      <p:sp>
        <p:nvSpPr>
          <p:cNvPr id="50" name="文本框 49"/>
          <p:cNvSpPr txBox="1"/>
          <p:nvPr/>
        </p:nvSpPr>
        <p:spPr>
          <a:xfrm>
            <a:off x="9035504" y="4172213"/>
            <a:ext cx="81662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Fa0/4</a:t>
            </a:r>
            <a:endParaRPr lang="zh-CN" altLang="en-US" b="1" dirty="0"/>
          </a:p>
        </p:txBody>
      </p:sp>
      <p:sp>
        <p:nvSpPr>
          <p:cNvPr id="61" name="文本框 60"/>
          <p:cNvSpPr txBox="1"/>
          <p:nvPr/>
        </p:nvSpPr>
        <p:spPr>
          <a:xfrm>
            <a:off x="2399803" y="3016457"/>
            <a:ext cx="81662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Fa0/1</a:t>
            </a:r>
            <a:endParaRPr lang="zh-CN" altLang="en-US" b="1" dirty="0"/>
          </a:p>
        </p:txBody>
      </p:sp>
      <p:sp>
        <p:nvSpPr>
          <p:cNvPr id="62" name="文本框 61"/>
          <p:cNvSpPr txBox="1"/>
          <p:nvPr/>
        </p:nvSpPr>
        <p:spPr>
          <a:xfrm>
            <a:off x="3150547" y="3016457"/>
            <a:ext cx="81662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Fa0/2</a:t>
            </a:r>
            <a:endParaRPr lang="zh-CN" altLang="en-US" b="1" dirty="0"/>
          </a:p>
        </p:txBody>
      </p:sp>
      <p:sp>
        <p:nvSpPr>
          <p:cNvPr id="67" name="文本框 66"/>
          <p:cNvSpPr txBox="1"/>
          <p:nvPr/>
        </p:nvSpPr>
        <p:spPr>
          <a:xfrm>
            <a:off x="2399803" y="4172213"/>
            <a:ext cx="81662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Fa0/3</a:t>
            </a:r>
            <a:endParaRPr lang="zh-CN" altLang="en-US" b="1" dirty="0"/>
          </a:p>
        </p:txBody>
      </p:sp>
      <p:sp>
        <p:nvSpPr>
          <p:cNvPr id="72" name="文本框 71"/>
          <p:cNvSpPr txBox="1"/>
          <p:nvPr/>
        </p:nvSpPr>
        <p:spPr>
          <a:xfrm>
            <a:off x="3135859" y="4172213"/>
            <a:ext cx="81662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Fa0/4</a:t>
            </a:r>
            <a:endParaRPr lang="zh-CN" altLang="en-US" b="1" dirty="0"/>
          </a:p>
        </p:txBody>
      </p:sp>
      <p:sp>
        <p:nvSpPr>
          <p:cNvPr id="74" name="文本框 73"/>
          <p:cNvSpPr txBox="1"/>
          <p:nvPr/>
        </p:nvSpPr>
        <p:spPr>
          <a:xfrm>
            <a:off x="3429825" y="3513397"/>
            <a:ext cx="81662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Fa0/5</a:t>
            </a:r>
            <a:endParaRPr lang="zh-CN" altLang="en-US" b="1" dirty="0"/>
          </a:p>
        </p:txBody>
      </p:sp>
      <p:sp>
        <p:nvSpPr>
          <p:cNvPr id="75" name="文本框 74"/>
          <p:cNvSpPr txBox="1"/>
          <p:nvPr/>
        </p:nvSpPr>
        <p:spPr>
          <a:xfrm>
            <a:off x="8001195" y="3513397"/>
            <a:ext cx="81662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Fa0/5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30" grpId="0" animBg="1"/>
      <p:bldP spid="31" grpId="0" animBg="1"/>
      <p:bldP spid="35" grpId="0" animBg="1"/>
      <p:bldP spid="37" grpId="0" animBg="1"/>
      <p:bldP spid="41" grpId="0" animBg="1"/>
      <p:bldP spid="42" grpId="0" animBg="1"/>
      <p:bldP spid="45" grpId="0" animBg="1"/>
      <p:bldP spid="46" grpId="0" animBg="1"/>
      <p:bldP spid="48" grpId="0" animBg="1"/>
      <p:bldP spid="49" grpId="0" animBg="1"/>
      <p:bldP spid="50" grpId="0" animBg="1"/>
      <p:bldP spid="61" grpId="0" animBg="1"/>
      <p:bldP spid="62" grpId="0" animBg="1"/>
      <p:bldP spid="67" grpId="0" animBg="1"/>
      <p:bldP spid="72" grpId="0" animBg="1"/>
      <p:bldP spid="74" grpId="0" animBg="1"/>
      <p:bldP spid="7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190674" y="685800"/>
            <a:ext cx="5810653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3.  </a:t>
            </a:r>
            <a:r>
              <a:rPr lang="zh-CN" altLang="en-US" sz="2400" b="1" dirty="0"/>
              <a:t>查看并标注交换机接口名称（接口号）</a:t>
            </a:r>
            <a:endParaRPr lang="en-US" altLang="zh-CN" sz="24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985104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192.168.0.5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1012771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192.168.0.1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4" name="文本框 13"/>
          <p:cNvSpPr txBox="1"/>
          <p:nvPr/>
        </p:nvSpPr>
        <p:spPr>
          <a:xfrm>
            <a:off x="3670211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192.168.0.2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8" name="文本框 17"/>
          <p:cNvSpPr txBox="1"/>
          <p:nvPr/>
        </p:nvSpPr>
        <p:spPr>
          <a:xfrm>
            <a:off x="4014643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192.168.0.6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9" name="文本框 18"/>
          <p:cNvSpPr txBox="1"/>
          <p:nvPr/>
        </p:nvSpPr>
        <p:spPr>
          <a:xfrm>
            <a:off x="6884749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192.168.0.7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22" name="文本框 21"/>
          <p:cNvSpPr txBox="1"/>
          <p:nvPr/>
        </p:nvSpPr>
        <p:spPr>
          <a:xfrm>
            <a:off x="6912416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192.168.0.3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23" name="文本框 22"/>
          <p:cNvSpPr txBox="1"/>
          <p:nvPr/>
        </p:nvSpPr>
        <p:spPr>
          <a:xfrm>
            <a:off x="9569856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192.168.0.4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26" name="文本框 25"/>
          <p:cNvSpPr txBox="1"/>
          <p:nvPr/>
        </p:nvSpPr>
        <p:spPr>
          <a:xfrm>
            <a:off x="9914288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192.168.0.8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cxnSp>
        <p:nvCxnSpPr>
          <p:cNvPr id="8" name="直接连接符 7"/>
          <p:cNvCxnSpPr/>
          <p:nvPr/>
        </p:nvCxnSpPr>
        <p:spPr>
          <a:xfrm>
            <a:off x="713110" y="2162267"/>
            <a:ext cx="2341759" cy="15474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等腰三角形 9"/>
          <p:cNvSpPr/>
          <p:nvPr/>
        </p:nvSpPr>
        <p:spPr>
          <a:xfrm>
            <a:off x="1190792" y="246301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 flipV="1">
            <a:off x="713110" y="3902316"/>
            <a:ext cx="2283201" cy="15150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等腰三角形 16"/>
          <p:cNvSpPr/>
          <p:nvPr/>
        </p:nvSpPr>
        <p:spPr>
          <a:xfrm>
            <a:off x="1190792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连接符 19"/>
          <p:cNvCxnSpPr/>
          <p:nvPr/>
        </p:nvCxnSpPr>
        <p:spPr>
          <a:xfrm flipV="1">
            <a:off x="3370466" y="2108892"/>
            <a:ext cx="2109833" cy="160085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等腰三角形 20"/>
          <p:cNvSpPr/>
          <p:nvPr/>
        </p:nvSpPr>
        <p:spPr>
          <a:xfrm>
            <a:off x="4942426" y="24111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连接符 23"/>
          <p:cNvCxnSpPr/>
          <p:nvPr/>
        </p:nvCxnSpPr>
        <p:spPr>
          <a:xfrm>
            <a:off x="3300727" y="3859446"/>
            <a:ext cx="2292563" cy="161241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等腰三角形 24"/>
          <p:cNvSpPr/>
          <p:nvPr/>
        </p:nvSpPr>
        <p:spPr>
          <a:xfrm>
            <a:off x="4942426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" name="直接连接符 27"/>
          <p:cNvCxnSpPr/>
          <p:nvPr/>
        </p:nvCxnSpPr>
        <p:spPr>
          <a:xfrm>
            <a:off x="6612755" y="2162267"/>
            <a:ext cx="2341759" cy="15474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等腰三角形 28"/>
          <p:cNvSpPr/>
          <p:nvPr/>
        </p:nvSpPr>
        <p:spPr>
          <a:xfrm>
            <a:off x="7090437" y="246301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" name="直接连接符 31"/>
          <p:cNvCxnSpPr/>
          <p:nvPr/>
        </p:nvCxnSpPr>
        <p:spPr>
          <a:xfrm flipV="1">
            <a:off x="6612755" y="3902316"/>
            <a:ext cx="2283201" cy="15150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等腰三角形 32"/>
          <p:cNvSpPr/>
          <p:nvPr/>
        </p:nvSpPr>
        <p:spPr>
          <a:xfrm>
            <a:off x="7090437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8" name="直接连接符 37"/>
          <p:cNvCxnSpPr/>
          <p:nvPr/>
        </p:nvCxnSpPr>
        <p:spPr>
          <a:xfrm flipV="1">
            <a:off x="9270111" y="2108892"/>
            <a:ext cx="2109833" cy="160085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等腰三角形 39"/>
          <p:cNvSpPr/>
          <p:nvPr/>
        </p:nvSpPr>
        <p:spPr>
          <a:xfrm>
            <a:off x="10842071" y="24111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3" name="直接连接符 42"/>
          <p:cNvCxnSpPr/>
          <p:nvPr/>
        </p:nvCxnSpPr>
        <p:spPr>
          <a:xfrm>
            <a:off x="9200372" y="3859446"/>
            <a:ext cx="2292563" cy="161241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等腰三角形 43"/>
          <p:cNvSpPr/>
          <p:nvPr/>
        </p:nvSpPr>
        <p:spPr>
          <a:xfrm>
            <a:off x="10842071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" name="直接连接符 46"/>
          <p:cNvCxnSpPr/>
          <p:nvPr/>
        </p:nvCxnSpPr>
        <p:spPr>
          <a:xfrm>
            <a:off x="3497998" y="3826236"/>
            <a:ext cx="5333835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9" name="20 8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544" y="5242879"/>
            <a:ext cx="539132" cy="457973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04800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PC4</a:t>
            </a:r>
            <a:endParaRPr lang="zh-CN" altLang="en-US" b="1" dirty="0"/>
          </a:p>
        </p:txBody>
      </p:sp>
      <p:pic>
        <p:nvPicPr>
          <p:cNvPr id="12" name="20 11" descr="图标&#10;&#10;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1054" y="3667774"/>
            <a:ext cx="646944" cy="332541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799091" y="3630983"/>
            <a:ext cx="1965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2960-24TT  Switch0</a:t>
            </a:r>
            <a:endParaRPr lang="zh-CN" altLang="en-US" b="1" dirty="0"/>
          </a:p>
        </p:txBody>
      </p:sp>
      <p:pic>
        <p:nvPicPr>
          <p:cNvPr id="5" name="20 4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724" y="5242879"/>
            <a:ext cx="539132" cy="457973"/>
          </a:xfrm>
          <a:prstGeom prst="rect">
            <a:avLst/>
          </a:prstGeom>
        </p:spPr>
      </p:pic>
      <p:pic>
        <p:nvPicPr>
          <p:cNvPr id="6" name="20 5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544" y="1967237"/>
            <a:ext cx="539132" cy="457973"/>
          </a:xfrm>
          <a:prstGeom prst="rect">
            <a:avLst/>
          </a:prstGeom>
        </p:spPr>
      </p:pic>
      <p:pic>
        <p:nvPicPr>
          <p:cNvPr id="7" name="20 6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724" y="1967237"/>
            <a:ext cx="539132" cy="457973"/>
          </a:xfrm>
          <a:prstGeom prst="rect">
            <a:avLst/>
          </a:prstGeom>
        </p:spPr>
      </p:pic>
      <p:sp>
        <p:nvSpPr>
          <p:cNvPr id="34" name="文本框 33"/>
          <p:cNvSpPr txBox="1"/>
          <p:nvPr/>
        </p:nvSpPr>
        <p:spPr>
          <a:xfrm>
            <a:off x="304800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sp>
        <p:nvSpPr>
          <p:cNvPr id="36" name="文本框 35"/>
          <p:cNvSpPr txBox="1"/>
          <p:nvPr/>
        </p:nvSpPr>
        <p:spPr>
          <a:xfrm>
            <a:off x="5184980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PC1</a:t>
            </a:r>
            <a:endParaRPr lang="zh-CN" altLang="en-US" b="1" dirty="0"/>
          </a:p>
        </p:txBody>
      </p:sp>
      <p:sp>
        <p:nvSpPr>
          <p:cNvPr id="39" name="文本框 38"/>
          <p:cNvSpPr txBox="1"/>
          <p:nvPr/>
        </p:nvSpPr>
        <p:spPr>
          <a:xfrm>
            <a:off x="5136948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PC5</a:t>
            </a:r>
            <a:endParaRPr lang="zh-CN" altLang="en-US" b="1" dirty="0"/>
          </a:p>
        </p:txBody>
      </p:sp>
      <p:pic>
        <p:nvPicPr>
          <p:cNvPr id="63" name="20 62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189" y="5242879"/>
            <a:ext cx="539132" cy="457973"/>
          </a:xfrm>
          <a:prstGeom prst="rect">
            <a:avLst/>
          </a:prstGeom>
        </p:spPr>
      </p:pic>
      <p:sp>
        <p:nvSpPr>
          <p:cNvPr id="64" name="文本框 63"/>
          <p:cNvSpPr txBox="1"/>
          <p:nvPr/>
        </p:nvSpPr>
        <p:spPr>
          <a:xfrm>
            <a:off x="6204445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PC6</a:t>
            </a:r>
            <a:endParaRPr lang="zh-CN" altLang="en-US" b="1" dirty="0"/>
          </a:p>
        </p:txBody>
      </p:sp>
      <p:pic>
        <p:nvPicPr>
          <p:cNvPr id="65" name="20 64" descr="图标&#10;&#10;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699" y="3667774"/>
            <a:ext cx="646944" cy="332541"/>
          </a:xfrm>
          <a:prstGeom prst="rect">
            <a:avLst/>
          </a:prstGeom>
        </p:spPr>
      </p:pic>
      <p:sp>
        <p:nvSpPr>
          <p:cNvPr id="66" name="文本框 65"/>
          <p:cNvSpPr txBox="1"/>
          <p:nvPr/>
        </p:nvSpPr>
        <p:spPr>
          <a:xfrm>
            <a:off x="9390051" y="3630983"/>
            <a:ext cx="1965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2960-24TT  Switch1</a:t>
            </a:r>
            <a:endParaRPr lang="zh-CN" altLang="en-US" b="1" dirty="0"/>
          </a:p>
        </p:txBody>
      </p:sp>
      <p:pic>
        <p:nvPicPr>
          <p:cNvPr id="68" name="20 67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3369" y="5242879"/>
            <a:ext cx="539132" cy="457973"/>
          </a:xfrm>
          <a:prstGeom prst="rect">
            <a:avLst/>
          </a:prstGeom>
        </p:spPr>
      </p:pic>
      <p:pic>
        <p:nvPicPr>
          <p:cNvPr id="69" name="20 68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189" y="1967237"/>
            <a:ext cx="539132" cy="457973"/>
          </a:xfrm>
          <a:prstGeom prst="rect">
            <a:avLst/>
          </a:prstGeom>
        </p:spPr>
      </p:pic>
      <p:pic>
        <p:nvPicPr>
          <p:cNvPr id="70" name="20 69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3369" y="1967237"/>
            <a:ext cx="539132" cy="457973"/>
          </a:xfrm>
          <a:prstGeom prst="rect">
            <a:avLst/>
          </a:prstGeom>
        </p:spPr>
      </p:pic>
      <p:sp>
        <p:nvSpPr>
          <p:cNvPr id="71" name="文本框 70"/>
          <p:cNvSpPr txBox="1"/>
          <p:nvPr/>
        </p:nvSpPr>
        <p:spPr>
          <a:xfrm>
            <a:off x="6204445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PC2</a:t>
            </a:r>
            <a:endParaRPr lang="zh-CN" altLang="en-US" b="1" dirty="0"/>
          </a:p>
        </p:txBody>
      </p:sp>
      <p:sp>
        <p:nvSpPr>
          <p:cNvPr id="73" name="文本框 72"/>
          <p:cNvSpPr txBox="1"/>
          <p:nvPr/>
        </p:nvSpPr>
        <p:spPr>
          <a:xfrm>
            <a:off x="11084625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PC3</a:t>
            </a:r>
            <a:endParaRPr lang="zh-CN" altLang="en-US" b="1" dirty="0"/>
          </a:p>
        </p:txBody>
      </p:sp>
      <p:sp>
        <p:nvSpPr>
          <p:cNvPr id="76" name="文本框 75"/>
          <p:cNvSpPr txBox="1"/>
          <p:nvPr/>
        </p:nvSpPr>
        <p:spPr>
          <a:xfrm>
            <a:off x="11036593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PC7</a:t>
            </a:r>
            <a:endParaRPr lang="zh-CN" altLang="en-US" b="1" dirty="0"/>
          </a:p>
        </p:txBody>
      </p:sp>
      <p:sp>
        <p:nvSpPr>
          <p:cNvPr id="51" name="等腰三角形 50"/>
          <p:cNvSpPr/>
          <p:nvPr/>
        </p:nvSpPr>
        <p:spPr>
          <a:xfrm>
            <a:off x="2509381" y="3309403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等腰三角形 51"/>
          <p:cNvSpPr/>
          <p:nvPr/>
        </p:nvSpPr>
        <p:spPr>
          <a:xfrm>
            <a:off x="2509381" y="41193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等腰三角形 52"/>
          <p:cNvSpPr/>
          <p:nvPr/>
        </p:nvSpPr>
        <p:spPr>
          <a:xfrm>
            <a:off x="3776559" y="329433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等腰三角形 53"/>
          <p:cNvSpPr/>
          <p:nvPr/>
        </p:nvSpPr>
        <p:spPr>
          <a:xfrm>
            <a:off x="3776558" y="417750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等腰三角形 54"/>
          <p:cNvSpPr/>
          <p:nvPr/>
        </p:nvSpPr>
        <p:spPr>
          <a:xfrm>
            <a:off x="8324469" y="328257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等腰三角形 55"/>
          <p:cNvSpPr/>
          <p:nvPr/>
        </p:nvSpPr>
        <p:spPr>
          <a:xfrm>
            <a:off x="9712901" y="328107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等腰三角形 56"/>
          <p:cNvSpPr/>
          <p:nvPr/>
        </p:nvSpPr>
        <p:spPr>
          <a:xfrm>
            <a:off x="8322853" y="419586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等腰三角形 57"/>
          <p:cNvSpPr/>
          <p:nvPr/>
        </p:nvSpPr>
        <p:spPr>
          <a:xfrm>
            <a:off x="9728117" y="419586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等腰三角形 58"/>
          <p:cNvSpPr/>
          <p:nvPr/>
        </p:nvSpPr>
        <p:spPr>
          <a:xfrm>
            <a:off x="4059017" y="376304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等腰三角形 59"/>
          <p:cNvSpPr/>
          <p:nvPr/>
        </p:nvSpPr>
        <p:spPr>
          <a:xfrm>
            <a:off x="8080650" y="376304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965791" y="2556570"/>
            <a:ext cx="54933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</a:t>
            </a:r>
            <a:endParaRPr lang="zh-CN" altLang="en-US" b="1" dirty="0"/>
          </a:p>
        </p:txBody>
      </p:sp>
      <p:sp>
        <p:nvSpPr>
          <p:cNvPr id="30" name="文本框 29"/>
          <p:cNvSpPr txBox="1"/>
          <p:nvPr/>
        </p:nvSpPr>
        <p:spPr>
          <a:xfrm>
            <a:off x="995062" y="4648496"/>
            <a:ext cx="54933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</a:t>
            </a:r>
            <a:endParaRPr lang="zh-CN" altLang="en-US" b="1" dirty="0"/>
          </a:p>
        </p:txBody>
      </p:sp>
      <p:sp>
        <p:nvSpPr>
          <p:cNvPr id="31" name="文本框 30"/>
          <p:cNvSpPr txBox="1"/>
          <p:nvPr/>
        </p:nvSpPr>
        <p:spPr>
          <a:xfrm>
            <a:off x="4756706" y="2472579"/>
            <a:ext cx="54933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</a:t>
            </a:r>
            <a:endParaRPr lang="zh-CN" altLang="en-US" b="1" dirty="0"/>
          </a:p>
        </p:txBody>
      </p:sp>
      <p:sp>
        <p:nvSpPr>
          <p:cNvPr id="35" name="文本框 34"/>
          <p:cNvSpPr txBox="1"/>
          <p:nvPr/>
        </p:nvSpPr>
        <p:spPr>
          <a:xfrm>
            <a:off x="4723673" y="4699799"/>
            <a:ext cx="54933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</a:t>
            </a:r>
            <a:endParaRPr lang="zh-CN" altLang="en-US" b="1" dirty="0"/>
          </a:p>
        </p:txBody>
      </p:sp>
      <p:sp>
        <p:nvSpPr>
          <p:cNvPr id="37" name="文本框 36"/>
          <p:cNvSpPr txBox="1"/>
          <p:nvPr/>
        </p:nvSpPr>
        <p:spPr>
          <a:xfrm>
            <a:off x="6904196" y="2535684"/>
            <a:ext cx="54933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</a:t>
            </a:r>
            <a:endParaRPr lang="zh-CN" altLang="en-US" b="1" dirty="0"/>
          </a:p>
        </p:txBody>
      </p:sp>
      <p:sp>
        <p:nvSpPr>
          <p:cNvPr id="41" name="文本框 40"/>
          <p:cNvSpPr txBox="1"/>
          <p:nvPr/>
        </p:nvSpPr>
        <p:spPr>
          <a:xfrm>
            <a:off x="6823794" y="4675045"/>
            <a:ext cx="54933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</a:t>
            </a:r>
            <a:endParaRPr lang="zh-CN" altLang="en-US" b="1" dirty="0"/>
          </a:p>
        </p:txBody>
      </p:sp>
      <p:sp>
        <p:nvSpPr>
          <p:cNvPr id="42" name="文本框 41"/>
          <p:cNvSpPr txBox="1"/>
          <p:nvPr/>
        </p:nvSpPr>
        <p:spPr>
          <a:xfrm>
            <a:off x="10585946" y="2482102"/>
            <a:ext cx="54933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</a:t>
            </a:r>
            <a:endParaRPr lang="zh-CN" altLang="en-US" b="1" dirty="0"/>
          </a:p>
        </p:txBody>
      </p:sp>
      <p:sp>
        <p:nvSpPr>
          <p:cNvPr id="45" name="文本框 44"/>
          <p:cNvSpPr txBox="1"/>
          <p:nvPr/>
        </p:nvSpPr>
        <p:spPr>
          <a:xfrm>
            <a:off x="10389140" y="4804411"/>
            <a:ext cx="54933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</a:t>
            </a:r>
            <a:endParaRPr lang="zh-CN" altLang="en-US" b="1" dirty="0"/>
          </a:p>
        </p:txBody>
      </p:sp>
      <p:sp>
        <p:nvSpPr>
          <p:cNvPr id="46" name="文本框 45"/>
          <p:cNvSpPr txBox="1"/>
          <p:nvPr/>
        </p:nvSpPr>
        <p:spPr>
          <a:xfrm>
            <a:off x="8299448" y="3016457"/>
            <a:ext cx="81662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Fa0/1</a:t>
            </a:r>
            <a:endParaRPr lang="zh-CN" altLang="en-US" b="1" dirty="0"/>
          </a:p>
        </p:txBody>
      </p:sp>
      <p:sp>
        <p:nvSpPr>
          <p:cNvPr id="48" name="文本框 47"/>
          <p:cNvSpPr txBox="1"/>
          <p:nvPr/>
        </p:nvSpPr>
        <p:spPr>
          <a:xfrm>
            <a:off x="9050192" y="3016457"/>
            <a:ext cx="81662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Fa0/2</a:t>
            </a:r>
            <a:endParaRPr lang="zh-CN" altLang="en-US" b="1" dirty="0"/>
          </a:p>
        </p:txBody>
      </p:sp>
      <p:sp>
        <p:nvSpPr>
          <p:cNvPr id="49" name="文本框 48"/>
          <p:cNvSpPr txBox="1"/>
          <p:nvPr/>
        </p:nvSpPr>
        <p:spPr>
          <a:xfrm>
            <a:off x="8299448" y="4172213"/>
            <a:ext cx="81662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Fa0/3</a:t>
            </a:r>
            <a:endParaRPr lang="zh-CN" altLang="en-US" b="1" dirty="0"/>
          </a:p>
        </p:txBody>
      </p:sp>
      <p:sp>
        <p:nvSpPr>
          <p:cNvPr id="50" name="文本框 49"/>
          <p:cNvSpPr txBox="1"/>
          <p:nvPr/>
        </p:nvSpPr>
        <p:spPr>
          <a:xfrm>
            <a:off x="9035504" y="4172213"/>
            <a:ext cx="81662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Fa0/4</a:t>
            </a:r>
            <a:endParaRPr lang="zh-CN" altLang="en-US" b="1" dirty="0"/>
          </a:p>
        </p:txBody>
      </p:sp>
      <p:sp>
        <p:nvSpPr>
          <p:cNvPr id="61" name="文本框 60"/>
          <p:cNvSpPr txBox="1"/>
          <p:nvPr/>
        </p:nvSpPr>
        <p:spPr>
          <a:xfrm>
            <a:off x="2399803" y="3016457"/>
            <a:ext cx="81662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Fa0/1</a:t>
            </a:r>
            <a:endParaRPr lang="zh-CN" altLang="en-US" b="1" dirty="0"/>
          </a:p>
        </p:txBody>
      </p:sp>
      <p:sp>
        <p:nvSpPr>
          <p:cNvPr id="62" name="文本框 61"/>
          <p:cNvSpPr txBox="1"/>
          <p:nvPr/>
        </p:nvSpPr>
        <p:spPr>
          <a:xfrm>
            <a:off x="3150547" y="3016457"/>
            <a:ext cx="81662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Fa0/2</a:t>
            </a:r>
            <a:endParaRPr lang="zh-CN" altLang="en-US" b="1" dirty="0"/>
          </a:p>
        </p:txBody>
      </p:sp>
      <p:sp>
        <p:nvSpPr>
          <p:cNvPr id="67" name="文本框 66"/>
          <p:cNvSpPr txBox="1"/>
          <p:nvPr/>
        </p:nvSpPr>
        <p:spPr>
          <a:xfrm>
            <a:off x="2399803" y="4172213"/>
            <a:ext cx="81662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Fa0/3</a:t>
            </a:r>
            <a:endParaRPr lang="zh-CN" altLang="en-US" b="1" dirty="0"/>
          </a:p>
        </p:txBody>
      </p:sp>
      <p:sp>
        <p:nvSpPr>
          <p:cNvPr id="72" name="文本框 71"/>
          <p:cNvSpPr txBox="1"/>
          <p:nvPr/>
        </p:nvSpPr>
        <p:spPr>
          <a:xfrm>
            <a:off x="3135859" y="4172213"/>
            <a:ext cx="81662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Fa0/4</a:t>
            </a:r>
            <a:endParaRPr lang="zh-CN" altLang="en-US" b="1" dirty="0"/>
          </a:p>
        </p:txBody>
      </p:sp>
      <p:sp>
        <p:nvSpPr>
          <p:cNvPr id="74" name="文本框 73"/>
          <p:cNvSpPr txBox="1"/>
          <p:nvPr/>
        </p:nvSpPr>
        <p:spPr>
          <a:xfrm>
            <a:off x="3429825" y="3513397"/>
            <a:ext cx="81662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Fa0/5</a:t>
            </a:r>
            <a:endParaRPr lang="zh-CN" altLang="en-US" b="1" dirty="0"/>
          </a:p>
        </p:txBody>
      </p:sp>
      <p:sp>
        <p:nvSpPr>
          <p:cNvPr id="75" name="文本框 74"/>
          <p:cNvSpPr txBox="1"/>
          <p:nvPr/>
        </p:nvSpPr>
        <p:spPr>
          <a:xfrm>
            <a:off x="8001195" y="3513397"/>
            <a:ext cx="81662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Fa0/5</a:t>
            </a:r>
            <a:endParaRPr lang="zh-CN" altLang="en-US" b="1" dirty="0"/>
          </a:p>
        </p:txBody>
      </p:sp>
      <p:sp>
        <p:nvSpPr>
          <p:cNvPr id="77" name="矩形 76"/>
          <p:cNvSpPr/>
          <p:nvPr/>
        </p:nvSpPr>
        <p:spPr>
          <a:xfrm>
            <a:off x="4610974" y="1438223"/>
            <a:ext cx="3023961" cy="48920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/>
              <a:t>         Packet Tracer</a:t>
            </a:r>
            <a:r>
              <a:rPr lang="zh-CN" altLang="en-US" b="1" dirty="0"/>
              <a:t>软件显示接口名称、网络设备型号和名称的功能并不完美，有时会遮挡传输媒体、状态指示灯、甚至是网络设备自身，并且会显示网络中所有网络设备相关接口的接口名称，这使得网络拓扑中的信息看起来比较凌乱。</a:t>
            </a:r>
            <a:endParaRPr lang="en-US" altLang="zh-CN" b="1" dirty="0"/>
          </a:p>
          <a:p>
            <a:r>
              <a:rPr lang="zh-CN" altLang="en-US" b="1" dirty="0"/>
              <a:t>         建议同学们首先让</a:t>
            </a:r>
            <a:r>
              <a:rPr lang="en-US" altLang="zh-CN" b="1" dirty="0"/>
              <a:t>Packet Tracer</a:t>
            </a:r>
            <a:r>
              <a:rPr lang="zh-CN" altLang="en-US" b="1" dirty="0"/>
              <a:t>软件显示各网络设备的相关接口名称，然后将需要显示的接口名称记录下来，并作为注释信息标注在相关接口旁边，最后让</a:t>
            </a:r>
            <a:r>
              <a:rPr lang="en-US" altLang="zh-CN" b="1" dirty="0"/>
              <a:t>Packet Tracer</a:t>
            </a:r>
            <a:r>
              <a:rPr lang="zh-CN" altLang="en-US" b="1" dirty="0"/>
              <a:t>软件不显示各网络设备的相关接口名称即可。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190674" y="685800"/>
            <a:ext cx="5810653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3.  </a:t>
            </a:r>
            <a:r>
              <a:rPr lang="zh-CN" altLang="en-US" sz="2400" b="1" dirty="0"/>
              <a:t>查看并标注交换机接口名称（接口号）</a:t>
            </a:r>
            <a:endParaRPr lang="en-US" altLang="zh-CN" sz="24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985104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192.168.0.5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1012771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192.168.0.1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4" name="文本框 13"/>
          <p:cNvSpPr txBox="1"/>
          <p:nvPr/>
        </p:nvSpPr>
        <p:spPr>
          <a:xfrm>
            <a:off x="3670211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192.168.0.2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8" name="文本框 17"/>
          <p:cNvSpPr txBox="1"/>
          <p:nvPr/>
        </p:nvSpPr>
        <p:spPr>
          <a:xfrm>
            <a:off x="4014643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192.168.0.6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9" name="文本框 18"/>
          <p:cNvSpPr txBox="1"/>
          <p:nvPr/>
        </p:nvSpPr>
        <p:spPr>
          <a:xfrm>
            <a:off x="6884749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192.168.0.7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22" name="文本框 21"/>
          <p:cNvSpPr txBox="1"/>
          <p:nvPr/>
        </p:nvSpPr>
        <p:spPr>
          <a:xfrm>
            <a:off x="6912416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192.168.0.3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23" name="文本框 22"/>
          <p:cNvSpPr txBox="1"/>
          <p:nvPr/>
        </p:nvSpPr>
        <p:spPr>
          <a:xfrm>
            <a:off x="9569856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192.168.0.4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26" name="文本框 25"/>
          <p:cNvSpPr txBox="1"/>
          <p:nvPr/>
        </p:nvSpPr>
        <p:spPr>
          <a:xfrm>
            <a:off x="9914288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192.168.0.8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cxnSp>
        <p:nvCxnSpPr>
          <p:cNvPr id="8" name="直接连接符 7"/>
          <p:cNvCxnSpPr/>
          <p:nvPr/>
        </p:nvCxnSpPr>
        <p:spPr>
          <a:xfrm>
            <a:off x="713110" y="2162267"/>
            <a:ext cx="2341759" cy="15474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等腰三角形 9"/>
          <p:cNvSpPr/>
          <p:nvPr/>
        </p:nvSpPr>
        <p:spPr>
          <a:xfrm>
            <a:off x="1190792" y="246301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 flipV="1">
            <a:off x="713110" y="3902316"/>
            <a:ext cx="2283201" cy="15150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等腰三角形 16"/>
          <p:cNvSpPr/>
          <p:nvPr/>
        </p:nvSpPr>
        <p:spPr>
          <a:xfrm>
            <a:off x="1190792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连接符 19"/>
          <p:cNvCxnSpPr/>
          <p:nvPr/>
        </p:nvCxnSpPr>
        <p:spPr>
          <a:xfrm flipV="1">
            <a:off x="3370466" y="2108892"/>
            <a:ext cx="2109833" cy="160085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等腰三角形 20"/>
          <p:cNvSpPr/>
          <p:nvPr/>
        </p:nvSpPr>
        <p:spPr>
          <a:xfrm>
            <a:off x="4942426" y="24111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连接符 23"/>
          <p:cNvCxnSpPr/>
          <p:nvPr/>
        </p:nvCxnSpPr>
        <p:spPr>
          <a:xfrm>
            <a:off x="3300727" y="3859446"/>
            <a:ext cx="2292563" cy="161241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等腰三角形 24"/>
          <p:cNvSpPr/>
          <p:nvPr/>
        </p:nvSpPr>
        <p:spPr>
          <a:xfrm>
            <a:off x="4942426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" name="直接连接符 27"/>
          <p:cNvCxnSpPr/>
          <p:nvPr/>
        </p:nvCxnSpPr>
        <p:spPr>
          <a:xfrm>
            <a:off x="6612755" y="2162267"/>
            <a:ext cx="2341759" cy="15474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等腰三角形 28"/>
          <p:cNvSpPr/>
          <p:nvPr/>
        </p:nvSpPr>
        <p:spPr>
          <a:xfrm>
            <a:off x="7090437" y="246301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" name="直接连接符 31"/>
          <p:cNvCxnSpPr/>
          <p:nvPr/>
        </p:nvCxnSpPr>
        <p:spPr>
          <a:xfrm flipV="1">
            <a:off x="6612755" y="3902316"/>
            <a:ext cx="2283201" cy="15150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等腰三角形 32"/>
          <p:cNvSpPr/>
          <p:nvPr/>
        </p:nvSpPr>
        <p:spPr>
          <a:xfrm>
            <a:off x="7090437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8" name="直接连接符 37"/>
          <p:cNvCxnSpPr/>
          <p:nvPr/>
        </p:nvCxnSpPr>
        <p:spPr>
          <a:xfrm flipV="1">
            <a:off x="9270111" y="2108892"/>
            <a:ext cx="2109833" cy="160085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等腰三角形 39"/>
          <p:cNvSpPr/>
          <p:nvPr/>
        </p:nvSpPr>
        <p:spPr>
          <a:xfrm>
            <a:off x="10842071" y="24111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3" name="直接连接符 42"/>
          <p:cNvCxnSpPr/>
          <p:nvPr/>
        </p:nvCxnSpPr>
        <p:spPr>
          <a:xfrm>
            <a:off x="9200372" y="3859446"/>
            <a:ext cx="2292563" cy="161241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等腰三角形 43"/>
          <p:cNvSpPr/>
          <p:nvPr/>
        </p:nvSpPr>
        <p:spPr>
          <a:xfrm>
            <a:off x="10842071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" name="直接连接符 46"/>
          <p:cNvCxnSpPr/>
          <p:nvPr/>
        </p:nvCxnSpPr>
        <p:spPr>
          <a:xfrm>
            <a:off x="3497998" y="3826236"/>
            <a:ext cx="5333835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9" name="20 8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544" y="5242879"/>
            <a:ext cx="539132" cy="457973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04800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PC4</a:t>
            </a:r>
            <a:endParaRPr lang="zh-CN" altLang="en-US" b="1" dirty="0"/>
          </a:p>
        </p:txBody>
      </p:sp>
      <p:pic>
        <p:nvPicPr>
          <p:cNvPr id="12" name="20 11" descr="图标&#10;&#10;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1054" y="3667774"/>
            <a:ext cx="646944" cy="332541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799091" y="3630983"/>
            <a:ext cx="1965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2960-24TT  Switch0</a:t>
            </a:r>
            <a:endParaRPr lang="zh-CN" altLang="en-US" b="1" dirty="0"/>
          </a:p>
        </p:txBody>
      </p:sp>
      <p:pic>
        <p:nvPicPr>
          <p:cNvPr id="5" name="20 4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724" y="5242879"/>
            <a:ext cx="539132" cy="457973"/>
          </a:xfrm>
          <a:prstGeom prst="rect">
            <a:avLst/>
          </a:prstGeom>
        </p:spPr>
      </p:pic>
      <p:pic>
        <p:nvPicPr>
          <p:cNvPr id="6" name="20 5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544" y="1967237"/>
            <a:ext cx="539132" cy="457973"/>
          </a:xfrm>
          <a:prstGeom prst="rect">
            <a:avLst/>
          </a:prstGeom>
        </p:spPr>
      </p:pic>
      <p:pic>
        <p:nvPicPr>
          <p:cNvPr id="7" name="20 6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724" y="1967237"/>
            <a:ext cx="539132" cy="457973"/>
          </a:xfrm>
          <a:prstGeom prst="rect">
            <a:avLst/>
          </a:prstGeom>
        </p:spPr>
      </p:pic>
      <p:sp>
        <p:nvSpPr>
          <p:cNvPr id="34" name="文本框 33"/>
          <p:cNvSpPr txBox="1"/>
          <p:nvPr/>
        </p:nvSpPr>
        <p:spPr>
          <a:xfrm>
            <a:off x="304800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sp>
        <p:nvSpPr>
          <p:cNvPr id="36" name="文本框 35"/>
          <p:cNvSpPr txBox="1"/>
          <p:nvPr/>
        </p:nvSpPr>
        <p:spPr>
          <a:xfrm>
            <a:off x="5184980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PC1</a:t>
            </a:r>
            <a:endParaRPr lang="zh-CN" altLang="en-US" b="1" dirty="0"/>
          </a:p>
        </p:txBody>
      </p:sp>
      <p:sp>
        <p:nvSpPr>
          <p:cNvPr id="39" name="文本框 38"/>
          <p:cNvSpPr txBox="1"/>
          <p:nvPr/>
        </p:nvSpPr>
        <p:spPr>
          <a:xfrm>
            <a:off x="5136948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PC5</a:t>
            </a:r>
            <a:endParaRPr lang="zh-CN" altLang="en-US" b="1" dirty="0"/>
          </a:p>
        </p:txBody>
      </p:sp>
      <p:pic>
        <p:nvPicPr>
          <p:cNvPr id="63" name="20 62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189" y="5242879"/>
            <a:ext cx="539132" cy="457973"/>
          </a:xfrm>
          <a:prstGeom prst="rect">
            <a:avLst/>
          </a:prstGeom>
        </p:spPr>
      </p:pic>
      <p:sp>
        <p:nvSpPr>
          <p:cNvPr id="64" name="文本框 63"/>
          <p:cNvSpPr txBox="1"/>
          <p:nvPr/>
        </p:nvSpPr>
        <p:spPr>
          <a:xfrm>
            <a:off x="6204445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PC6</a:t>
            </a:r>
            <a:endParaRPr lang="zh-CN" altLang="en-US" b="1" dirty="0"/>
          </a:p>
        </p:txBody>
      </p:sp>
      <p:pic>
        <p:nvPicPr>
          <p:cNvPr id="65" name="20 64" descr="图标&#10;&#10;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699" y="3667774"/>
            <a:ext cx="646944" cy="332541"/>
          </a:xfrm>
          <a:prstGeom prst="rect">
            <a:avLst/>
          </a:prstGeom>
        </p:spPr>
      </p:pic>
      <p:sp>
        <p:nvSpPr>
          <p:cNvPr id="66" name="文本框 65"/>
          <p:cNvSpPr txBox="1"/>
          <p:nvPr/>
        </p:nvSpPr>
        <p:spPr>
          <a:xfrm>
            <a:off x="9390051" y="3630983"/>
            <a:ext cx="1965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2960-24TT  Switch1</a:t>
            </a:r>
            <a:endParaRPr lang="zh-CN" altLang="en-US" b="1" dirty="0"/>
          </a:p>
        </p:txBody>
      </p:sp>
      <p:pic>
        <p:nvPicPr>
          <p:cNvPr id="68" name="20 67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3369" y="5242879"/>
            <a:ext cx="539132" cy="457973"/>
          </a:xfrm>
          <a:prstGeom prst="rect">
            <a:avLst/>
          </a:prstGeom>
        </p:spPr>
      </p:pic>
      <p:pic>
        <p:nvPicPr>
          <p:cNvPr id="69" name="20 68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189" y="1967237"/>
            <a:ext cx="539132" cy="457973"/>
          </a:xfrm>
          <a:prstGeom prst="rect">
            <a:avLst/>
          </a:prstGeom>
        </p:spPr>
      </p:pic>
      <p:pic>
        <p:nvPicPr>
          <p:cNvPr id="70" name="20 69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3369" y="1967237"/>
            <a:ext cx="539132" cy="457973"/>
          </a:xfrm>
          <a:prstGeom prst="rect">
            <a:avLst/>
          </a:prstGeom>
        </p:spPr>
      </p:pic>
      <p:sp>
        <p:nvSpPr>
          <p:cNvPr id="71" name="文本框 70"/>
          <p:cNvSpPr txBox="1"/>
          <p:nvPr/>
        </p:nvSpPr>
        <p:spPr>
          <a:xfrm>
            <a:off x="6204445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PC2</a:t>
            </a:r>
            <a:endParaRPr lang="zh-CN" altLang="en-US" b="1" dirty="0"/>
          </a:p>
        </p:txBody>
      </p:sp>
      <p:sp>
        <p:nvSpPr>
          <p:cNvPr id="73" name="文本框 72"/>
          <p:cNvSpPr txBox="1"/>
          <p:nvPr/>
        </p:nvSpPr>
        <p:spPr>
          <a:xfrm>
            <a:off x="11084625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PC3</a:t>
            </a:r>
            <a:endParaRPr lang="zh-CN" altLang="en-US" b="1" dirty="0"/>
          </a:p>
        </p:txBody>
      </p:sp>
      <p:sp>
        <p:nvSpPr>
          <p:cNvPr id="76" name="文本框 75"/>
          <p:cNvSpPr txBox="1"/>
          <p:nvPr/>
        </p:nvSpPr>
        <p:spPr>
          <a:xfrm>
            <a:off x="11036593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PC7</a:t>
            </a:r>
            <a:endParaRPr lang="zh-CN" altLang="en-US" b="1" dirty="0"/>
          </a:p>
        </p:txBody>
      </p:sp>
      <p:sp>
        <p:nvSpPr>
          <p:cNvPr id="51" name="等腰三角形 50"/>
          <p:cNvSpPr/>
          <p:nvPr/>
        </p:nvSpPr>
        <p:spPr>
          <a:xfrm>
            <a:off x="2509381" y="3309403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等腰三角形 51"/>
          <p:cNvSpPr/>
          <p:nvPr/>
        </p:nvSpPr>
        <p:spPr>
          <a:xfrm>
            <a:off x="2509381" y="41193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等腰三角形 52"/>
          <p:cNvSpPr/>
          <p:nvPr/>
        </p:nvSpPr>
        <p:spPr>
          <a:xfrm>
            <a:off x="3776559" y="329433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等腰三角形 53"/>
          <p:cNvSpPr/>
          <p:nvPr/>
        </p:nvSpPr>
        <p:spPr>
          <a:xfrm>
            <a:off x="3776558" y="417750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等腰三角形 54"/>
          <p:cNvSpPr/>
          <p:nvPr/>
        </p:nvSpPr>
        <p:spPr>
          <a:xfrm>
            <a:off x="8324469" y="328257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等腰三角形 55"/>
          <p:cNvSpPr/>
          <p:nvPr/>
        </p:nvSpPr>
        <p:spPr>
          <a:xfrm>
            <a:off x="9712901" y="328107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等腰三角形 56"/>
          <p:cNvSpPr/>
          <p:nvPr/>
        </p:nvSpPr>
        <p:spPr>
          <a:xfrm>
            <a:off x="8322853" y="419586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等腰三角形 57"/>
          <p:cNvSpPr/>
          <p:nvPr/>
        </p:nvSpPr>
        <p:spPr>
          <a:xfrm>
            <a:off x="9728117" y="419586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等腰三角形 58"/>
          <p:cNvSpPr/>
          <p:nvPr/>
        </p:nvSpPr>
        <p:spPr>
          <a:xfrm>
            <a:off x="4059017" y="376304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等腰三角形 59"/>
          <p:cNvSpPr/>
          <p:nvPr/>
        </p:nvSpPr>
        <p:spPr>
          <a:xfrm>
            <a:off x="8080650" y="376304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965791" y="2556570"/>
            <a:ext cx="54933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</a:t>
            </a:r>
            <a:endParaRPr lang="zh-CN" altLang="en-US" b="1" dirty="0"/>
          </a:p>
        </p:txBody>
      </p:sp>
      <p:sp>
        <p:nvSpPr>
          <p:cNvPr id="30" name="文本框 29"/>
          <p:cNvSpPr txBox="1"/>
          <p:nvPr/>
        </p:nvSpPr>
        <p:spPr>
          <a:xfrm>
            <a:off x="995062" y="4648496"/>
            <a:ext cx="54933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</a:t>
            </a:r>
            <a:endParaRPr lang="zh-CN" altLang="en-US" b="1" dirty="0"/>
          </a:p>
        </p:txBody>
      </p:sp>
      <p:sp>
        <p:nvSpPr>
          <p:cNvPr id="31" name="文本框 30"/>
          <p:cNvSpPr txBox="1"/>
          <p:nvPr/>
        </p:nvSpPr>
        <p:spPr>
          <a:xfrm>
            <a:off x="4756706" y="2472579"/>
            <a:ext cx="54933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</a:t>
            </a:r>
            <a:endParaRPr lang="zh-CN" altLang="en-US" b="1" dirty="0"/>
          </a:p>
        </p:txBody>
      </p:sp>
      <p:sp>
        <p:nvSpPr>
          <p:cNvPr id="35" name="文本框 34"/>
          <p:cNvSpPr txBox="1"/>
          <p:nvPr/>
        </p:nvSpPr>
        <p:spPr>
          <a:xfrm>
            <a:off x="4723673" y="4699799"/>
            <a:ext cx="54933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</a:t>
            </a:r>
            <a:endParaRPr lang="zh-CN" altLang="en-US" b="1" dirty="0"/>
          </a:p>
        </p:txBody>
      </p:sp>
      <p:sp>
        <p:nvSpPr>
          <p:cNvPr id="37" name="文本框 36"/>
          <p:cNvSpPr txBox="1"/>
          <p:nvPr/>
        </p:nvSpPr>
        <p:spPr>
          <a:xfrm>
            <a:off x="6904196" y="2535684"/>
            <a:ext cx="54933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</a:t>
            </a:r>
            <a:endParaRPr lang="zh-CN" altLang="en-US" b="1" dirty="0"/>
          </a:p>
        </p:txBody>
      </p:sp>
      <p:sp>
        <p:nvSpPr>
          <p:cNvPr id="41" name="文本框 40"/>
          <p:cNvSpPr txBox="1"/>
          <p:nvPr/>
        </p:nvSpPr>
        <p:spPr>
          <a:xfrm>
            <a:off x="6823794" y="4675045"/>
            <a:ext cx="54933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</a:t>
            </a:r>
            <a:endParaRPr lang="zh-CN" altLang="en-US" b="1" dirty="0"/>
          </a:p>
        </p:txBody>
      </p:sp>
      <p:sp>
        <p:nvSpPr>
          <p:cNvPr id="42" name="文本框 41"/>
          <p:cNvSpPr txBox="1"/>
          <p:nvPr/>
        </p:nvSpPr>
        <p:spPr>
          <a:xfrm>
            <a:off x="10585946" y="2482102"/>
            <a:ext cx="54933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</a:t>
            </a:r>
            <a:endParaRPr lang="zh-CN" altLang="en-US" b="1" dirty="0"/>
          </a:p>
        </p:txBody>
      </p:sp>
      <p:sp>
        <p:nvSpPr>
          <p:cNvPr id="45" name="文本框 44"/>
          <p:cNvSpPr txBox="1"/>
          <p:nvPr/>
        </p:nvSpPr>
        <p:spPr>
          <a:xfrm>
            <a:off x="10389140" y="4804411"/>
            <a:ext cx="54933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</a:t>
            </a:r>
            <a:endParaRPr lang="zh-CN" altLang="en-US" b="1" dirty="0"/>
          </a:p>
        </p:txBody>
      </p:sp>
      <p:sp>
        <p:nvSpPr>
          <p:cNvPr id="46" name="文本框 45"/>
          <p:cNvSpPr txBox="1"/>
          <p:nvPr/>
        </p:nvSpPr>
        <p:spPr>
          <a:xfrm>
            <a:off x="8299448" y="3016457"/>
            <a:ext cx="81662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Fa0/1</a:t>
            </a:r>
            <a:endParaRPr lang="zh-CN" altLang="en-US" b="1" dirty="0"/>
          </a:p>
        </p:txBody>
      </p:sp>
      <p:sp>
        <p:nvSpPr>
          <p:cNvPr id="48" name="文本框 47"/>
          <p:cNvSpPr txBox="1"/>
          <p:nvPr/>
        </p:nvSpPr>
        <p:spPr>
          <a:xfrm>
            <a:off x="9050192" y="3016457"/>
            <a:ext cx="81662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Fa0/2</a:t>
            </a:r>
            <a:endParaRPr lang="zh-CN" altLang="en-US" b="1" dirty="0"/>
          </a:p>
        </p:txBody>
      </p:sp>
      <p:sp>
        <p:nvSpPr>
          <p:cNvPr id="49" name="文本框 48"/>
          <p:cNvSpPr txBox="1"/>
          <p:nvPr/>
        </p:nvSpPr>
        <p:spPr>
          <a:xfrm>
            <a:off x="8299448" y="4172213"/>
            <a:ext cx="81662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Fa0/3</a:t>
            </a:r>
            <a:endParaRPr lang="zh-CN" altLang="en-US" b="1" dirty="0"/>
          </a:p>
        </p:txBody>
      </p:sp>
      <p:sp>
        <p:nvSpPr>
          <p:cNvPr id="50" name="文本框 49"/>
          <p:cNvSpPr txBox="1"/>
          <p:nvPr/>
        </p:nvSpPr>
        <p:spPr>
          <a:xfrm>
            <a:off x="9035504" y="4172213"/>
            <a:ext cx="81662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Fa0/4</a:t>
            </a:r>
            <a:endParaRPr lang="zh-CN" altLang="en-US" b="1" dirty="0"/>
          </a:p>
        </p:txBody>
      </p:sp>
      <p:sp>
        <p:nvSpPr>
          <p:cNvPr id="61" name="文本框 60"/>
          <p:cNvSpPr txBox="1"/>
          <p:nvPr/>
        </p:nvSpPr>
        <p:spPr>
          <a:xfrm>
            <a:off x="2399803" y="3016457"/>
            <a:ext cx="81662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Fa0/1</a:t>
            </a:r>
            <a:endParaRPr lang="zh-CN" altLang="en-US" b="1" dirty="0"/>
          </a:p>
        </p:txBody>
      </p:sp>
      <p:sp>
        <p:nvSpPr>
          <p:cNvPr id="62" name="文本框 61"/>
          <p:cNvSpPr txBox="1"/>
          <p:nvPr/>
        </p:nvSpPr>
        <p:spPr>
          <a:xfrm>
            <a:off x="3150547" y="3016457"/>
            <a:ext cx="81662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Fa0/2</a:t>
            </a:r>
            <a:endParaRPr lang="zh-CN" altLang="en-US" b="1" dirty="0"/>
          </a:p>
        </p:txBody>
      </p:sp>
      <p:sp>
        <p:nvSpPr>
          <p:cNvPr id="67" name="文本框 66"/>
          <p:cNvSpPr txBox="1"/>
          <p:nvPr/>
        </p:nvSpPr>
        <p:spPr>
          <a:xfrm>
            <a:off x="2399803" y="4172213"/>
            <a:ext cx="81662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Fa0/3</a:t>
            </a:r>
            <a:endParaRPr lang="zh-CN" altLang="en-US" b="1" dirty="0"/>
          </a:p>
        </p:txBody>
      </p:sp>
      <p:sp>
        <p:nvSpPr>
          <p:cNvPr id="72" name="文本框 71"/>
          <p:cNvSpPr txBox="1"/>
          <p:nvPr/>
        </p:nvSpPr>
        <p:spPr>
          <a:xfrm>
            <a:off x="3135859" y="4172213"/>
            <a:ext cx="81662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Fa0/4</a:t>
            </a:r>
            <a:endParaRPr lang="zh-CN" altLang="en-US" b="1" dirty="0"/>
          </a:p>
        </p:txBody>
      </p:sp>
      <p:sp>
        <p:nvSpPr>
          <p:cNvPr id="74" name="文本框 73"/>
          <p:cNvSpPr txBox="1"/>
          <p:nvPr/>
        </p:nvSpPr>
        <p:spPr>
          <a:xfrm>
            <a:off x="3429825" y="3513397"/>
            <a:ext cx="81662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Fa0/5</a:t>
            </a:r>
            <a:endParaRPr lang="zh-CN" altLang="en-US" b="1" dirty="0"/>
          </a:p>
        </p:txBody>
      </p:sp>
      <p:sp>
        <p:nvSpPr>
          <p:cNvPr id="75" name="文本框 74"/>
          <p:cNvSpPr txBox="1"/>
          <p:nvPr/>
        </p:nvSpPr>
        <p:spPr>
          <a:xfrm>
            <a:off x="8001195" y="3513397"/>
            <a:ext cx="81662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Fa0/5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xit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49" presetClass="exit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49" presetClass="exit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49" presetClass="exit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4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49" presetClass="exit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49" presetClass="exit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6" dur="5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49" presetClass="exit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49" presetClass="exit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49" presetClass="exit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4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49" presetClass="exit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0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49" presetClass="exit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6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49" presetClass="exit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2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49" presetClass="exit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8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49" presetClass="exit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4" dur="5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49" presetClass="exit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0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49" presetClass="exit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6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49" presetClass="exit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2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49" presetClass="exit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8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30" grpId="0" animBg="1"/>
      <p:bldP spid="31" grpId="0" animBg="1"/>
      <p:bldP spid="35" grpId="0" animBg="1"/>
      <p:bldP spid="37" grpId="0" animBg="1"/>
      <p:bldP spid="41" grpId="0" animBg="1"/>
      <p:bldP spid="42" grpId="0" animBg="1"/>
      <p:bldP spid="45" grpId="0" animBg="1"/>
      <p:bldP spid="46" grpId="0" animBg="1"/>
      <p:bldP spid="48" grpId="0" animBg="1"/>
      <p:bldP spid="49" grpId="0" animBg="1"/>
      <p:bldP spid="50" grpId="0" animBg="1"/>
      <p:bldP spid="61" grpId="0" animBg="1"/>
      <p:bldP spid="62" grpId="0" animBg="1"/>
      <p:bldP spid="67" grpId="0" animBg="1"/>
      <p:bldP spid="72" grpId="0" animBg="1"/>
      <p:bldP spid="74" grpId="0" animBg="1"/>
      <p:bldP spid="7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190674" y="685800"/>
            <a:ext cx="5810653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3.  </a:t>
            </a:r>
            <a:r>
              <a:rPr lang="zh-CN" altLang="en-US" sz="2400" b="1" dirty="0"/>
              <a:t>查看并标注交换机接口名称（接口号）</a:t>
            </a:r>
            <a:endParaRPr lang="en-US" altLang="zh-CN" sz="24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985104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192.168.0.5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1012771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192.168.0.1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4" name="文本框 13"/>
          <p:cNvSpPr txBox="1"/>
          <p:nvPr/>
        </p:nvSpPr>
        <p:spPr>
          <a:xfrm>
            <a:off x="3670211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192.168.0.2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8" name="文本框 17"/>
          <p:cNvSpPr txBox="1"/>
          <p:nvPr/>
        </p:nvSpPr>
        <p:spPr>
          <a:xfrm>
            <a:off x="4014643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192.168.0.6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9" name="文本框 18"/>
          <p:cNvSpPr txBox="1"/>
          <p:nvPr/>
        </p:nvSpPr>
        <p:spPr>
          <a:xfrm>
            <a:off x="6884749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192.168.0.7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22" name="文本框 21"/>
          <p:cNvSpPr txBox="1"/>
          <p:nvPr/>
        </p:nvSpPr>
        <p:spPr>
          <a:xfrm>
            <a:off x="6912416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192.168.0.3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23" name="文本框 22"/>
          <p:cNvSpPr txBox="1"/>
          <p:nvPr/>
        </p:nvSpPr>
        <p:spPr>
          <a:xfrm>
            <a:off x="9569856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192.168.0.4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26" name="文本框 25"/>
          <p:cNvSpPr txBox="1"/>
          <p:nvPr/>
        </p:nvSpPr>
        <p:spPr>
          <a:xfrm>
            <a:off x="9914288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192.168.0.8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cxnSp>
        <p:nvCxnSpPr>
          <p:cNvPr id="8" name="直接连接符 7"/>
          <p:cNvCxnSpPr/>
          <p:nvPr/>
        </p:nvCxnSpPr>
        <p:spPr>
          <a:xfrm>
            <a:off x="713110" y="2162267"/>
            <a:ext cx="2341759" cy="15474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等腰三角形 9"/>
          <p:cNvSpPr/>
          <p:nvPr/>
        </p:nvSpPr>
        <p:spPr>
          <a:xfrm>
            <a:off x="1190792" y="246301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 flipV="1">
            <a:off x="713110" y="3902316"/>
            <a:ext cx="2283201" cy="15150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等腰三角形 16"/>
          <p:cNvSpPr/>
          <p:nvPr/>
        </p:nvSpPr>
        <p:spPr>
          <a:xfrm>
            <a:off x="1190792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连接符 19"/>
          <p:cNvCxnSpPr/>
          <p:nvPr/>
        </p:nvCxnSpPr>
        <p:spPr>
          <a:xfrm flipV="1">
            <a:off x="3370466" y="2108892"/>
            <a:ext cx="2109833" cy="160085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等腰三角形 20"/>
          <p:cNvSpPr/>
          <p:nvPr/>
        </p:nvSpPr>
        <p:spPr>
          <a:xfrm>
            <a:off x="4942426" y="24111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连接符 23"/>
          <p:cNvCxnSpPr/>
          <p:nvPr/>
        </p:nvCxnSpPr>
        <p:spPr>
          <a:xfrm>
            <a:off x="3300727" y="3859446"/>
            <a:ext cx="2292563" cy="161241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等腰三角形 24"/>
          <p:cNvSpPr/>
          <p:nvPr/>
        </p:nvSpPr>
        <p:spPr>
          <a:xfrm>
            <a:off x="4942426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" name="直接连接符 27"/>
          <p:cNvCxnSpPr/>
          <p:nvPr/>
        </p:nvCxnSpPr>
        <p:spPr>
          <a:xfrm>
            <a:off x="6612755" y="2162267"/>
            <a:ext cx="2341759" cy="15474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等腰三角形 28"/>
          <p:cNvSpPr/>
          <p:nvPr/>
        </p:nvSpPr>
        <p:spPr>
          <a:xfrm>
            <a:off x="7090437" y="246301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" name="直接连接符 31"/>
          <p:cNvCxnSpPr/>
          <p:nvPr/>
        </p:nvCxnSpPr>
        <p:spPr>
          <a:xfrm flipV="1">
            <a:off x="6612755" y="3902316"/>
            <a:ext cx="2283201" cy="15150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等腰三角形 32"/>
          <p:cNvSpPr/>
          <p:nvPr/>
        </p:nvSpPr>
        <p:spPr>
          <a:xfrm>
            <a:off x="7090437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8" name="直接连接符 37"/>
          <p:cNvCxnSpPr/>
          <p:nvPr/>
        </p:nvCxnSpPr>
        <p:spPr>
          <a:xfrm flipV="1">
            <a:off x="9270111" y="2108892"/>
            <a:ext cx="2109833" cy="160085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等腰三角形 39"/>
          <p:cNvSpPr/>
          <p:nvPr/>
        </p:nvSpPr>
        <p:spPr>
          <a:xfrm>
            <a:off x="10842071" y="24111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3" name="直接连接符 42"/>
          <p:cNvCxnSpPr/>
          <p:nvPr/>
        </p:nvCxnSpPr>
        <p:spPr>
          <a:xfrm>
            <a:off x="9200372" y="3859446"/>
            <a:ext cx="2292563" cy="161241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等腰三角形 43"/>
          <p:cNvSpPr/>
          <p:nvPr/>
        </p:nvSpPr>
        <p:spPr>
          <a:xfrm>
            <a:off x="10842071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" name="直接连接符 46"/>
          <p:cNvCxnSpPr/>
          <p:nvPr/>
        </p:nvCxnSpPr>
        <p:spPr>
          <a:xfrm>
            <a:off x="3497998" y="3826236"/>
            <a:ext cx="5333835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9" name="20 8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544" y="5242879"/>
            <a:ext cx="539132" cy="457973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04800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PC4</a:t>
            </a:r>
            <a:endParaRPr lang="zh-CN" altLang="en-US" b="1" dirty="0"/>
          </a:p>
        </p:txBody>
      </p:sp>
      <p:pic>
        <p:nvPicPr>
          <p:cNvPr id="12" name="20 11" descr="图标&#10;&#10;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1054" y="3667774"/>
            <a:ext cx="646944" cy="332541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799091" y="3630983"/>
            <a:ext cx="1965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2960-24TT  Switch0</a:t>
            </a:r>
            <a:endParaRPr lang="zh-CN" altLang="en-US" b="1" dirty="0"/>
          </a:p>
        </p:txBody>
      </p:sp>
      <p:pic>
        <p:nvPicPr>
          <p:cNvPr id="5" name="20 4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724" y="5242879"/>
            <a:ext cx="539132" cy="457973"/>
          </a:xfrm>
          <a:prstGeom prst="rect">
            <a:avLst/>
          </a:prstGeom>
        </p:spPr>
      </p:pic>
      <p:pic>
        <p:nvPicPr>
          <p:cNvPr id="6" name="20 5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544" y="1967237"/>
            <a:ext cx="539132" cy="457973"/>
          </a:xfrm>
          <a:prstGeom prst="rect">
            <a:avLst/>
          </a:prstGeom>
        </p:spPr>
      </p:pic>
      <p:pic>
        <p:nvPicPr>
          <p:cNvPr id="7" name="20 6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724" y="1967237"/>
            <a:ext cx="539132" cy="457973"/>
          </a:xfrm>
          <a:prstGeom prst="rect">
            <a:avLst/>
          </a:prstGeom>
        </p:spPr>
      </p:pic>
      <p:sp>
        <p:nvSpPr>
          <p:cNvPr id="34" name="文本框 33"/>
          <p:cNvSpPr txBox="1"/>
          <p:nvPr/>
        </p:nvSpPr>
        <p:spPr>
          <a:xfrm>
            <a:off x="304800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sp>
        <p:nvSpPr>
          <p:cNvPr id="36" name="文本框 35"/>
          <p:cNvSpPr txBox="1"/>
          <p:nvPr/>
        </p:nvSpPr>
        <p:spPr>
          <a:xfrm>
            <a:off x="5184980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PC1</a:t>
            </a:r>
            <a:endParaRPr lang="zh-CN" altLang="en-US" b="1" dirty="0"/>
          </a:p>
        </p:txBody>
      </p:sp>
      <p:sp>
        <p:nvSpPr>
          <p:cNvPr id="39" name="文本框 38"/>
          <p:cNvSpPr txBox="1"/>
          <p:nvPr/>
        </p:nvSpPr>
        <p:spPr>
          <a:xfrm>
            <a:off x="5136948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PC5</a:t>
            </a:r>
            <a:endParaRPr lang="zh-CN" altLang="en-US" b="1" dirty="0"/>
          </a:p>
        </p:txBody>
      </p:sp>
      <p:pic>
        <p:nvPicPr>
          <p:cNvPr id="63" name="20 62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189" y="5242879"/>
            <a:ext cx="539132" cy="457973"/>
          </a:xfrm>
          <a:prstGeom prst="rect">
            <a:avLst/>
          </a:prstGeom>
        </p:spPr>
      </p:pic>
      <p:sp>
        <p:nvSpPr>
          <p:cNvPr id="64" name="文本框 63"/>
          <p:cNvSpPr txBox="1"/>
          <p:nvPr/>
        </p:nvSpPr>
        <p:spPr>
          <a:xfrm>
            <a:off x="6204445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PC6</a:t>
            </a:r>
            <a:endParaRPr lang="zh-CN" altLang="en-US" b="1" dirty="0"/>
          </a:p>
        </p:txBody>
      </p:sp>
      <p:pic>
        <p:nvPicPr>
          <p:cNvPr id="65" name="20 64" descr="图标&#10;&#10;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699" y="3667774"/>
            <a:ext cx="646944" cy="332541"/>
          </a:xfrm>
          <a:prstGeom prst="rect">
            <a:avLst/>
          </a:prstGeom>
        </p:spPr>
      </p:pic>
      <p:sp>
        <p:nvSpPr>
          <p:cNvPr id="66" name="文本框 65"/>
          <p:cNvSpPr txBox="1"/>
          <p:nvPr/>
        </p:nvSpPr>
        <p:spPr>
          <a:xfrm>
            <a:off x="9390051" y="3630983"/>
            <a:ext cx="1965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2960-24TT  Switch1</a:t>
            </a:r>
            <a:endParaRPr lang="zh-CN" altLang="en-US" b="1" dirty="0"/>
          </a:p>
        </p:txBody>
      </p:sp>
      <p:pic>
        <p:nvPicPr>
          <p:cNvPr id="68" name="20 67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3369" y="5242879"/>
            <a:ext cx="539132" cy="457973"/>
          </a:xfrm>
          <a:prstGeom prst="rect">
            <a:avLst/>
          </a:prstGeom>
        </p:spPr>
      </p:pic>
      <p:pic>
        <p:nvPicPr>
          <p:cNvPr id="69" name="20 68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189" y="1967237"/>
            <a:ext cx="539132" cy="457973"/>
          </a:xfrm>
          <a:prstGeom prst="rect">
            <a:avLst/>
          </a:prstGeom>
        </p:spPr>
      </p:pic>
      <p:pic>
        <p:nvPicPr>
          <p:cNvPr id="70" name="20 69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3369" y="1967237"/>
            <a:ext cx="539132" cy="457973"/>
          </a:xfrm>
          <a:prstGeom prst="rect">
            <a:avLst/>
          </a:prstGeom>
        </p:spPr>
      </p:pic>
      <p:sp>
        <p:nvSpPr>
          <p:cNvPr id="71" name="文本框 70"/>
          <p:cNvSpPr txBox="1"/>
          <p:nvPr/>
        </p:nvSpPr>
        <p:spPr>
          <a:xfrm>
            <a:off x="6204445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PC2</a:t>
            </a:r>
            <a:endParaRPr lang="zh-CN" altLang="en-US" b="1" dirty="0"/>
          </a:p>
        </p:txBody>
      </p:sp>
      <p:sp>
        <p:nvSpPr>
          <p:cNvPr id="73" name="文本框 72"/>
          <p:cNvSpPr txBox="1"/>
          <p:nvPr/>
        </p:nvSpPr>
        <p:spPr>
          <a:xfrm>
            <a:off x="11084625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PC3</a:t>
            </a:r>
            <a:endParaRPr lang="zh-CN" altLang="en-US" b="1" dirty="0"/>
          </a:p>
        </p:txBody>
      </p:sp>
      <p:sp>
        <p:nvSpPr>
          <p:cNvPr id="76" name="文本框 75"/>
          <p:cNvSpPr txBox="1"/>
          <p:nvPr/>
        </p:nvSpPr>
        <p:spPr>
          <a:xfrm>
            <a:off x="11036593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PC7</a:t>
            </a:r>
            <a:endParaRPr lang="zh-CN" altLang="en-US" b="1" dirty="0"/>
          </a:p>
        </p:txBody>
      </p:sp>
      <p:sp>
        <p:nvSpPr>
          <p:cNvPr id="51" name="等腰三角形 50"/>
          <p:cNvSpPr/>
          <p:nvPr/>
        </p:nvSpPr>
        <p:spPr>
          <a:xfrm>
            <a:off x="2509381" y="3309403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等腰三角形 51"/>
          <p:cNvSpPr/>
          <p:nvPr/>
        </p:nvSpPr>
        <p:spPr>
          <a:xfrm>
            <a:off x="2509381" y="41193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等腰三角形 52"/>
          <p:cNvSpPr/>
          <p:nvPr/>
        </p:nvSpPr>
        <p:spPr>
          <a:xfrm>
            <a:off x="3776559" y="329433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等腰三角形 53"/>
          <p:cNvSpPr/>
          <p:nvPr/>
        </p:nvSpPr>
        <p:spPr>
          <a:xfrm>
            <a:off x="3776558" y="417750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等腰三角形 54"/>
          <p:cNvSpPr/>
          <p:nvPr/>
        </p:nvSpPr>
        <p:spPr>
          <a:xfrm>
            <a:off x="8324469" y="328257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等腰三角形 55"/>
          <p:cNvSpPr/>
          <p:nvPr/>
        </p:nvSpPr>
        <p:spPr>
          <a:xfrm>
            <a:off x="9712901" y="328107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等腰三角形 56"/>
          <p:cNvSpPr/>
          <p:nvPr/>
        </p:nvSpPr>
        <p:spPr>
          <a:xfrm>
            <a:off x="8322853" y="419586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等腰三角形 57"/>
          <p:cNvSpPr/>
          <p:nvPr/>
        </p:nvSpPr>
        <p:spPr>
          <a:xfrm>
            <a:off x="9728117" y="419586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等腰三角形 58"/>
          <p:cNvSpPr/>
          <p:nvPr/>
        </p:nvSpPr>
        <p:spPr>
          <a:xfrm>
            <a:off x="4059017" y="376304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等腰三角形 59"/>
          <p:cNvSpPr/>
          <p:nvPr/>
        </p:nvSpPr>
        <p:spPr>
          <a:xfrm>
            <a:off x="8080650" y="376304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/>
        </p:nvSpPr>
        <p:spPr>
          <a:xfrm>
            <a:off x="8299448" y="301645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Fa0/1</a:t>
            </a:r>
            <a:endParaRPr lang="zh-CN" altLang="en-US" b="1" dirty="0"/>
          </a:p>
        </p:txBody>
      </p:sp>
      <p:sp>
        <p:nvSpPr>
          <p:cNvPr id="48" name="文本框 47"/>
          <p:cNvSpPr txBox="1"/>
          <p:nvPr/>
        </p:nvSpPr>
        <p:spPr>
          <a:xfrm>
            <a:off x="9050192" y="301645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Fa0/2</a:t>
            </a:r>
            <a:endParaRPr lang="zh-CN" altLang="en-US" b="1" dirty="0"/>
          </a:p>
        </p:txBody>
      </p:sp>
      <p:sp>
        <p:nvSpPr>
          <p:cNvPr id="49" name="文本框 48"/>
          <p:cNvSpPr txBox="1"/>
          <p:nvPr/>
        </p:nvSpPr>
        <p:spPr>
          <a:xfrm>
            <a:off x="8299448" y="4172213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Fa0/3</a:t>
            </a:r>
            <a:endParaRPr lang="zh-CN" altLang="en-US" b="1" dirty="0"/>
          </a:p>
        </p:txBody>
      </p:sp>
      <p:sp>
        <p:nvSpPr>
          <p:cNvPr id="50" name="文本框 49"/>
          <p:cNvSpPr txBox="1"/>
          <p:nvPr/>
        </p:nvSpPr>
        <p:spPr>
          <a:xfrm>
            <a:off x="9035504" y="4172213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Fa0/4</a:t>
            </a:r>
            <a:endParaRPr lang="zh-CN" altLang="en-US" b="1" dirty="0"/>
          </a:p>
        </p:txBody>
      </p:sp>
      <p:sp>
        <p:nvSpPr>
          <p:cNvPr id="61" name="文本框 60"/>
          <p:cNvSpPr txBox="1"/>
          <p:nvPr/>
        </p:nvSpPr>
        <p:spPr>
          <a:xfrm>
            <a:off x="2399803" y="301645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Fa0/1</a:t>
            </a:r>
            <a:endParaRPr lang="zh-CN" altLang="en-US" b="1" dirty="0"/>
          </a:p>
        </p:txBody>
      </p:sp>
      <p:sp>
        <p:nvSpPr>
          <p:cNvPr id="62" name="文本框 61"/>
          <p:cNvSpPr txBox="1"/>
          <p:nvPr/>
        </p:nvSpPr>
        <p:spPr>
          <a:xfrm>
            <a:off x="3150547" y="301645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Fa0/2</a:t>
            </a:r>
            <a:endParaRPr lang="zh-CN" altLang="en-US" b="1" dirty="0"/>
          </a:p>
        </p:txBody>
      </p:sp>
      <p:sp>
        <p:nvSpPr>
          <p:cNvPr id="67" name="文本框 66"/>
          <p:cNvSpPr txBox="1"/>
          <p:nvPr/>
        </p:nvSpPr>
        <p:spPr>
          <a:xfrm>
            <a:off x="2399803" y="4172213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Fa0/3</a:t>
            </a:r>
            <a:endParaRPr lang="zh-CN" altLang="en-US" b="1" dirty="0"/>
          </a:p>
        </p:txBody>
      </p:sp>
      <p:sp>
        <p:nvSpPr>
          <p:cNvPr id="72" name="文本框 71"/>
          <p:cNvSpPr txBox="1"/>
          <p:nvPr/>
        </p:nvSpPr>
        <p:spPr>
          <a:xfrm>
            <a:off x="3135859" y="4172213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Fa0/4</a:t>
            </a:r>
            <a:endParaRPr lang="zh-CN" altLang="en-US" b="1" dirty="0"/>
          </a:p>
        </p:txBody>
      </p:sp>
      <p:sp>
        <p:nvSpPr>
          <p:cNvPr id="74" name="文本框 73"/>
          <p:cNvSpPr txBox="1"/>
          <p:nvPr/>
        </p:nvSpPr>
        <p:spPr>
          <a:xfrm>
            <a:off x="3429825" y="351339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Fa0/5</a:t>
            </a:r>
            <a:endParaRPr lang="zh-CN" altLang="en-US" b="1" dirty="0"/>
          </a:p>
        </p:txBody>
      </p:sp>
      <p:sp>
        <p:nvSpPr>
          <p:cNvPr id="75" name="文本框 74"/>
          <p:cNvSpPr txBox="1"/>
          <p:nvPr/>
        </p:nvSpPr>
        <p:spPr>
          <a:xfrm>
            <a:off x="8001195" y="351339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Fa0/5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8" grpId="0"/>
      <p:bldP spid="49" grpId="0"/>
      <p:bldP spid="50" grpId="0"/>
      <p:bldP spid="61" grpId="0"/>
      <p:bldP spid="62" grpId="0"/>
      <p:bldP spid="67" grpId="0"/>
      <p:bldP spid="72" grpId="0"/>
      <p:bldP spid="74" grpId="0"/>
      <p:bldP spid="7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254231" y="685800"/>
            <a:ext cx="369164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4.  </a:t>
            </a:r>
            <a:r>
              <a:rPr lang="zh-CN" altLang="en-US" sz="2400" b="1" dirty="0"/>
              <a:t>配置</a:t>
            </a:r>
            <a:r>
              <a:rPr lang="en-US" altLang="zh-CN" sz="2400" b="1" dirty="0"/>
              <a:t>IP</a:t>
            </a:r>
            <a:r>
              <a:rPr lang="zh-CN" altLang="en-US" sz="2400" b="1" dirty="0"/>
              <a:t>地址和子网掩码</a:t>
            </a:r>
            <a:endParaRPr lang="en-US" altLang="zh-CN" sz="24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985104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192.168.0.5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1012771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192.168.0.1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4" name="文本框 13"/>
          <p:cNvSpPr txBox="1"/>
          <p:nvPr/>
        </p:nvSpPr>
        <p:spPr>
          <a:xfrm>
            <a:off x="3670211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192.168.0.2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8" name="文本框 17"/>
          <p:cNvSpPr txBox="1"/>
          <p:nvPr/>
        </p:nvSpPr>
        <p:spPr>
          <a:xfrm>
            <a:off x="4014643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192.168.0.6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9" name="文本框 18"/>
          <p:cNvSpPr txBox="1"/>
          <p:nvPr/>
        </p:nvSpPr>
        <p:spPr>
          <a:xfrm>
            <a:off x="6884749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192.168.0.7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22" name="文本框 21"/>
          <p:cNvSpPr txBox="1"/>
          <p:nvPr/>
        </p:nvSpPr>
        <p:spPr>
          <a:xfrm>
            <a:off x="6912416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192.168.0.3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23" name="文本框 22"/>
          <p:cNvSpPr txBox="1"/>
          <p:nvPr/>
        </p:nvSpPr>
        <p:spPr>
          <a:xfrm>
            <a:off x="9569856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192.168.0.4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26" name="文本框 25"/>
          <p:cNvSpPr txBox="1"/>
          <p:nvPr/>
        </p:nvSpPr>
        <p:spPr>
          <a:xfrm>
            <a:off x="9914288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192.168.0.8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cxnSp>
        <p:nvCxnSpPr>
          <p:cNvPr id="8" name="直接连接符 7"/>
          <p:cNvCxnSpPr/>
          <p:nvPr/>
        </p:nvCxnSpPr>
        <p:spPr>
          <a:xfrm>
            <a:off x="713110" y="2162267"/>
            <a:ext cx="2341759" cy="15474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等腰三角形 9"/>
          <p:cNvSpPr/>
          <p:nvPr/>
        </p:nvSpPr>
        <p:spPr>
          <a:xfrm>
            <a:off x="1190792" y="246301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 flipV="1">
            <a:off x="713110" y="3902316"/>
            <a:ext cx="2283201" cy="15150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等腰三角形 16"/>
          <p:cNvSpPr/>
          <p:nvPr/>
        </p:nvSpPr>
        <p:spPr>
          <a:xfrm>
            <a:off x="1190792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连接符 19"/>
          <p:cNvCxnSpPr/>
          <p:nvPr/>
        </p:nvCxnSpPr>
        <p:spPr>
          <a:xfrm flipV="1">
            <a:off x="3370466" y="2108892"/>
            <a:ext cx="2109833" cy="160085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等腰三角形 20"/>
          <p:cNvSpPr/>
          <p:nvPr/>
        </p:nvSpPr>
        <p:spPr>
          <a:xfrm>
            <a:off x="4942426" y="24111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连接符 23"/>
          <p:cNvCxnSpPr/>
          <p:nvPr/>
        </p:nvCxnSpPr>
        <p:spPr>
          <a:xfrm>
            <a:off x="3300727" y="3859446"/>
            <a:ext cx="2292563" cy="161241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等腰三角形 24"/>
          <p:cNvSpPr/>
          <p:nvPr/>
        </p:nvSpPr>
        <p:spPr>
          <a:xfrm>
            <a:off x="4942426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" name="直接连接符 27"/>
          <p:cNvCxnSpPr/>
          <p:nvPr/>
        </p:nvCxnSpPr>
        <p:spPr>
          <a:xfrm>
            <a:off x="6612755" y="2162267"/>
            <a:ext cx="2341759" cy="15474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等腰三角形 28"/>
          <p:cNvSpPr/>
          <p:nvPr/>
        </p:nvSpPr>
        <p:spPr>
          <a:xfrm>
            <a:off x="7090437" y="246301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" name="直接连接符 31"/>
          <p:cNvCxnSpPr/>
          <p:nvPr/>
        </p:nvCxnSpPr>
        <p:spPr>
          <a:xfrm flipV="1">
            <a:off x="6612755" y="3902316"/>
            <a:ext cx="2283201" cy="15150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等腰三角形 32"/>
          <p:cNvSpPr/>
          <p:nvPr/>
        </p:nvSpPr>
        <p:spPr>
          <a:xfrm>
            <a:off x="7090437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8" name="直接连接符 37"/>
          <p:cNvCxnSpPr/>
          <p:nvPr/>
        </p:nvCxnSpPr>
        <p:spPr>
          <a:xfrm flipV="1">
            <a:off x="9270111" y="2108892"/>
            <a:ext cx="2109833" cy="160085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等腰三角形 39"/>
          <p:cNvSpPr/>
          <p:nvPr/>
        </p:nvSpPr>
        <p:spPr>
          <a:xfrm>
            <a:off x="10842071" y="24111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3" name="直接连接符 42"/>
          <p:cNvCxnSpPr/>
          <p:nvPr/>
        </p:nvCxnSpPr>
        <p:spPr>
          <a:xfrm>
            <a:off x="9200372" y="3859446"/>
            <a:ext cx="2292563" cy="161241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等腰三角形 43"/>
          <p:cNvSpPr/>
          <p:nvPr/>
        </p:nvSpPr>
        <p:spPr>
          <a:xfrm>
            <a:off x="10842071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" name="直接连接符 46"/>
          <p:cNvCxnSpPr/>
          <p:nvPr/>
        </p:nvCxnSpPr>
        <p:spPr>
          <a:xfrm>
            <a:off x="3497998" y="3826236"/>
            <a:ext cx="5333835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9" name="20 8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544" y="5242879"/>
            <a:ext cx="539132" cy="457973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04800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PC4</a:t>
            </a:r>
            <a:endParaRPr lang="zh-CN" altLang="en-US" b="1" dirty="0"/>
          </a:p>
        </p:txBody>
      </p:sp>
      <p:pic>
        <p:nvPicPr>
          <p:cNvPr id="12" name="20 11" descr="图标&#10;&#10;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1054" y="3667774"/>
            <a:ext cx="646944" cy="332541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799091" y="3630983"/>
            <a:ext cx="1965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2960-24TT  Switch0</a:t>
            </a:r>
            <a:endParaRPr lang="zh-CN" altLang="en-US" b="1" dirty="0"/>
          </a:p>
        </p:txBody>
      </p:sp>
      <p:pic>
        <p:nvPicPr>
          <p:cNvPr id="5" name="20 4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724" y="5242879"/>
            <a:ext cx="539132" cy="457973"/>
          </a:xfrm>
          <a:prstGeom prst="rect">
            <a:avLst/>
          </a:prstGeom>
        </p:spPr>
      </p:pic>
      <p:pic>
        <p:nvPicPr>
          <p:cNvPr id="6" name="20 5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544" y="1967237"/>
            <a:ext cx="539132" cy="457973"/>
          </a:xfrm>
          <a:prstGeom prst="rect">
            <a:avLst/>
          </a:prstGeom>
        </p:spPr>
      </p:pic>
      <p:pic>
        <p:nvPicPr>
          <p:cNvPr id="7" name="20 6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724" y="1967237"/>
            <a:ext cx="539132" cy="457973"/>
          </a:xfrm>
          <a:prstGeom prst="rect">
            <a:avLst/>
          </a:prstGeom>
        </p:spPr>
      </p:pic>
      <p:sp>
        <p:nvSpPr>
          <p:cNvPr id="34" name="文本框 33"/>
          <p:cNvSpPr txBox="1"/>
          <p:nvPr/>
        </p:nvSpPr>
        <p:spPr>
          <a:xfrm>
            <a:off x="304800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sp>
        <p:nvSpPr>
          <p:cNvPr id="36" name="文本框 35"/>
          <p:cNvSpPr txBox="1"/>
          <p:nvPr/>
        </p:nvSpPr>
        <p:spPr>
          <a:xfrm>
            <a:off x="5184980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PC1</a:t>
            </a:r>
            <a:endParaRPr lang="zh-CN" altLang="en-US" b="1" dirty="0"/>
          </a:p>
        </p:txBody>
      </p:sp>
      <p:sp>
        <p:nvSpPr>
          <p:cNvPr id="39" name="文本框 38"/>
          <p:cNvSpPr txBox="1"/>
          <p:nvPr/>
        </p:nvSpPr>
        <p:spPr>
          <a:xfrm>
            <a:off x="5136948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PC5</a:t>
            </a:r>
            <a:endParaRPr lang="zh-CN" altLang="en-US" b="1" dirty="0"/>
          </a:p>
        </p:txBody>
      </p:sp>
      <p:pic>
        <p:nvPicPr>
          <p:cNvPr id="63" name="20 62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189" y="5242879"/>
            <a:ext cx="539132" cy="457973"/>
          </a:xfrm>
          <a:prstGeom prst="rect">
            <a:avLst/>
          </a:prstGeom>
        </p:spPr>
      </p:pic>
      <p:sp>
        <p:nvSpPr>
          <p:cNvPr id="64" name="文本框 63"/>
          <p:cNvSpPr txBox="1"/>
          <p:nvPr/>
        </p:nvSpPr>
        <p:spPr>
          <a:xfrm>
            <a:off x="6204445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PC6</a:t>
            </a:r>
            <a:endParaRPr lang="zh-CN" altLang="en-US" b="1" dirty="0"/>
          </a:p>
        </p:txBody>
      </p:sp>
      <p:pic>
        <p:nvPicPr>
          <p:cNvPr id="65" name="20 64" descr="图标&#10;&#10;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699" y="3667774"/>
            <a:ext cx="646944" cy="332541"/>
          </a:xfrm>
          <a:prstGeom prst="rect">
            <a:avLst/>
          </a:prstGeom>
        </p:spPr>
      </p:pic>
      <p:sp>
        <p:nvSpPr>
          <p:cNvPr id="66" name="文本框 65"/>
          <p:cNvSpPr txBox="1"/>
          <p:nvPr/>
        </p:nvSpPr>
        <p:spPr>
          <a:xfrm>
            <a:off x="9390051" y="3630983"/>
            <a:ext cx="1965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2960-24TT  Switch1</a:t>
            </a:r>
            <a:endParaRPr lang="zh-CN" altLang="en-US" b="1" dirty="0"/>
          </a:p>
        </p:txBody>
      </p:sp>
      <p:pic>
        <p:nvPicPr>
          <p:cNvPr id="68" name="20 67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3369" y="5242879"/>
            <a:ext cx="539132" cy="457973"/>
          </a:xfrm>
          <a:prstGeom prst="rect">
            <a:avLst/>
          </a:prstGeom>
        </p:spPr>
      </p:pic>
      <p:pic>
        <p:nvPicPr>
          <p:cNvPr id="69" name="20 68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189" y="1967237"/>
            <a:ext cx="539132" cy="457973"/>
          </a:xfrm>
          <a:prstGeom prst="rect">
            <a:avLst/>
          </a:prstGeom>
        </p:spPr>
      </p:pic>
      <p:pic>
        <p:nvPicPr>
          <p:cNvPr id="70" name="20 69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3369" y="1967237"/>
            <a:ext cx="539132" cy="457973"/>
          </a:xfrm>
          <a:prstGeom prst="rect">
            <a:avLst/>
          </a:prstGeom>
        </p:spPr>
      </p:pic>
      <p:sp>
        <p:nvSpPr>
          <p:cNvPr id="71" name="文本框 70"/>
          <p:cNvSpPr txBox="1"/>
          <p:nvPr/>
        </p:nvSpPr>
        <p:spPr>
          <a:xfrm>
            <a:off x="6204445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PC2</a:t>
            </a:r>
            <a:endParaRPr lang="zh-CN" altLang="en-US" b="1" dirty="0"/>
          </a:p>
        </p:txBody>
      </p:sp>
      <p:sp>
        <p:nvSpPr>
          <p:cNvPr id="73" name="文本框 72"/>
          <p:cNvSpPr txBox="1"/>
          <p:nvPr/>
        </p:nvSpPr>
        <p:spPr>
          <a:xfrm>
            <a:off x="11084625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PC3</a:t>
            </a:r>
            <a:endParaRPr lang="zh-CN" altLang="en-US" b="1" dirty="0"/>
          </a:p>
        </p:txBody>
      </p:sp>
      <p:sp>
        <p:nvSpPr>
          <p:cNvPr id="76" name="文本框 75"/>
          <p:cNvSpPr txBox="1"/>
          <p:nvPr/>
        </p:nvSpPr>
        <p:spPr>
          <a:xfrm>
            <a:off x="11036593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PC7</a:t>
            </a:r>
            <a:endParaRPr lang="zh-CN" altLang="en-US" b="1" dirty="0"/>
          </a:p>
        </p:txBody>
      </p:sp>
      <p:sp>
        <p:nvSpPr>
          <p:cNvPr id="51" name="等腰三角形 50"/>
          <p:cNvSpPr/>
          <p:nvPr/>
        </p:nvSpPr>
        <p:spPr>
          <a:xfrm>
            <a:off x="2509381" y="3309403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等腰三角形 51"/>
          <p:cNvSpPr/>
          <p:nvPr/>
        </p:nvSpPr>
        <p:spPr>
          <a:xfrm>
            <a:off x="2509381" y="41193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等腰三角形 52"/>
          <p:cNvSpPr/>
          <p:nvPr/>
        </p:nvSpPr>
        <p:spPr>
          <a:xfrm>
            <a:off x="3776559" y="329433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等腰三角形 53"/>
          <p:cNvSpPr/>
          <p:nvPr/>
        </p:nvSpPr>
        <p:spPr>
          <a:xfrm>
            <a:off x="3776558" y="417750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等腰三角形 54"/>
          <p:cNvSpPr/>
          <p:nvPr/>
        </p:nvSpPr>
        <p:spPr>
          <a:xfrm>
            <a:off x="8324469" y="328257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等腰三角形 55"/>
          <p:cNvSpPr/>
          <p:nvPr/>
        </p:nvSpPr>
        <p:spPr>
          <a:xfrm>
            <a:off x="9712901" y="328107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等腰三角形 56"/>
          <p:cNvSpPr/>
          <p:nvPr/>
        </p:nvSpPr>
        <p:spPr>
          <a:xfrm>
            <a:off x="8322853" y="419586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等腰三角形 57"/>
          <p:cNvSpPr/>
          <p:nvPr/>
        </p:nvSpPr>
        <p:spPr>
          <a:xfrm>
            <a:off x="9728117" y="419586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等腰三角形 58"/>
          <p:cNvSpPr/>
          <p:nvPr/>
        </p:nvSpPr>
        <p:spPr>
          <a:xfrm>
            <a:off x="4059017" y="376304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等腰三角形 59"/>
          <p:cNvSpPr/>
          <p:nvPr/>
        </p:nvSpPr>
        <p:spPr>
          <a:xfrm>
            <a:off x="8080650" y="376304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/>
        </p:nvSpPr>
        <p:spPr>
          <a:xfrm>
            <a:off x="8299448" y="301645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Fa0/1</a:t>
            </a:r>
            <a:endParaRPr lang="zh-CN" altLang="en-US" b="1" dirty="0"/>
          </a:p>
        </p:txBody>
      </p:sp>
      <p:sp>
        <p:nvSpPr>
          <p:cNvPr id="48" name="文本框 47"/>
          <p:cNvSpPr txBox="1"/>
          <p:nvPr/>
        </p:nvSpPr>
        <p:spPr>
          <a:xfrm>
            <a:off x="9050192" y="301645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Fa0/2</a:t>
            </a:r>
            <a:endParaRPr lang="zh-CN" altLang="en-US" b="1" dirty="0"/>
          </a:p>
        </p:txBody>
      </p:sp>
      <p:sp>
        <p:nvSpPr>
          <p:cNvPr id="49" name="文本框 48"/>
          <p:cNvSpPr txBox="1"/>
          <p:nvPr/>
        </p:nvSpPr>
        <p:spPr>
          <a:xfrm>
            <a:off x="8299448" y="4172213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Fa0/3</a:t>
            </a:r>
            <a:endParaRPr lang="zh-CN" altLang="en-US" b="1" dirty="0"/>
          </a:p>
        </p:txBody>
      </p:sp>
      <p:sp>
        <p:nvSpPr>
          <p:cNvPr id="50" name="文本框 49"/>
          <p:cNvSpPr txBox="1"/>
          <p:nvPr/>
        </p:nvSpPr>
        <p:spPr>
          <a:xfrm>
            <a:off x="9035504" y="4172213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Fa0/4</a:t>
            </a:r>
            <a:endParaRPr lang="zh-CN" altLang="en-US" b="1" dirty="0"/>
          </a:p>
        </p:txBody>
      </p:sp>
      <p:sp>
        <p:nvSpPr>
          <p:cNvPr id="61" name="文本框 60"/>
          <p:cNvSpPr txBox="1"/>
          <p:nvPr/>
        </p:nvSpPr>
        <p:spPr>
          <a:xfrm>
            <a:off x="2399803" y="301645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Fa0/1</a:t>
            </a:r>
            <a:endParaRPr lang="zh-CN" altLang="en-US" b="1" dirty="0"/>
          </a:p>
        </p:txBody>
      </p:sp>
      <p:sp>
        <p:nvSpPr>
          <p:cNvPr id="62" name="文本框 61"/>
          <p:cNvSpPr txBox="1"/>
          <p:nvPr/>
        </p:nvSpPr>
        <p:spPr>
          <a:xfrm>
            <a:off x="3150547" y="301645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Fa0/2</a:t>
            </a:r>
            <a:endParaRPr lang="zh-CN" altLang="en-US" b="1" dirty="0"/>
          </a:p>
        </p:txBody>
      </p:sp>
      <p:sp>
        <p:nvSpPr>
          <p:cNvPr id="67" name="文本框 66"/>
          <p:cNvSpPr txBox="1"/>
          <p:nvPr/>
        </p:nvSpPr>
        <p:spPr>
          <a:xfrm>
            <a:off x="2399803" y="4172213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Fa0/3</a:t>
            </a:r>
            <a:endParaRPr lang="zh-CN" altLang="en-US" b="1" dirty="0"/>
          </a:p>
        </p:txBody>
      </p:sp>
      <p:sp>
        <p:nvSpPr>
          <p:cNvPr id="72" name="文本框 71"/>
          <p:cNvSpPr txBox="1"/>
          <p:nvPr/>
        </p:nvSpPr>
        <p:spPr>
          <a:xfrm>
            <a:off x="3135859" y="4172213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Fa0/4</a:t>
            </a:r>
            <a:endParaRPr lang="zh-CN" altLang="en-US" b="1" dirty="0"/>
          </a:p>
        </p:txBody>
      </p:sp>
      <p:sp>
        <p:nvSpPr>
          <p:cNvPr id="74" name="文本框 73"/>
          <p:cNvSpPr txBox="1"/>
          <p:nvPr/>
        </p:nvSpPr>
        <p:spPr>
          <a:xfrm>
            <a:off x="3429825" y="351339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Fa0/5</a:t>
            </a:r>
            <a:endParaRPr lang="zh-CN" altLang="en-US" b="1" dirty="0"/>
          </a:p>
        </p:txBody>
      </p:sp>
      <p:sp>
        <p:nvSpPr>
          <p:cNvPr id="75" name="文本框 74"/>
          <p:cNvSpPr txBox="1"/>
          <p:nvPr/>
        </p:nvSpPr>
        <p:spPr>
          <a:xfrm>
            <a:off x="8001195" y="351339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Fa0/5</a:t>
            </a:r>
            <a:endParaRPr lang="zh-CN" altLang="en-US" b="1" dirty="0"/>
          </a:p>
        </p:txBody>
      </p:sp>
      <p:grpSp>
        <p:nvGrpSpPr>
          <p:cNvPr id="27" name="组合 26"/>
          <p:cNvGrpSpPr/>
          <p:nvPr/>
        </p:nvGrpSpPr>
        <p:grpSpPr>
          <a:xfrm>
            <a:off x="314032" y="1246025"/>
            <a:ext cx="4027601" cy="3953015"/>
            <a:chOff x="370373" y="1543373"/>
            <a:chExt cx="4491639" cy="4408460"/>
          </a:xfrm>
        </p:grpSpPr>
        <p:pic>
          <p:nvPicPr>
            <p:cNvPr id="30" name="20 2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0373" y="1543373"/>
              <a:ext cx="4491639" cy="4408460"/>
            </a:xfrm>
            <a:prstGeom prst="rect">
              <a:avLst/>
            </a:prstGeom>
          </p:spPr>
        </p:pic>
        <p:sp>
          <p:nvSpPr>
            <p:cNvPr id="31" name="矩形 30"/>
            <p:cNvSpPr/>
            <p:nvPr/>
          </p:nvSpPr>
          <p:spPr>
            <a:xfrm>
              <a:off x="1809345" y="2957208"/>
              <a:ext cx="1070042" cy="447472"/>
            </a:xfrm>
            <a:prstGeom prst="rect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2937951" y="2826446"/>
              <a:ext cx="1898687" cy="720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</a:rPr>
                <a:t>输入</a:t>
              </a:r>
              <a:r>
                <a:rPr lang="en-US" altLang="zh-CN" b="1" dirty="0">
                  <a:solidFill>
                    <a:schemeClr val="accent1">
                      <a:lumMod val="75000"/>
                    </a:schemeClr>
                  </a:solidFill>
                </a:rPr>
                <a:t>IP</a:t>
              </a:r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</a:rPr>
                <a:t>地址和</a:t>
              </a:r>
              <a:endParaRPr lang="en-US" altLang="zh-CN" b="1" dirty="0">
                <a:solidFill>
                  <a:schemeClr val="accent1">
                    <a:lumMod val="75000"/>
                  </a:schemeClr>
                </a:solidFill>
              </a:endParaRPr>
            </a:p>
            <a:p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</a:rPr>
                <a:t>子网掩码</a:t>
              </a:r>
              <a:endParaRPr lang="zh-CN" altLang="en-US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37" name="文本框 36"/>
          <p:cNvSpPr txBox="1"/>
          <p:nvPr/>
        </p:nvSpPr>
        <p:spPr>
          <a:xfrm>
            <a:off x="4389552" y="1245841"/>
            <a:ext cx="22505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不要忘记给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PC1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配置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IP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地址和子网掩码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6231008" y="5799750"/>
            <a:ext cx="22036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不要忘记给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PC6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配置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IP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地址和子网掩码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9674292" y="1245841"/>
            <a:ext cx="22036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不要忘记给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PC3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配置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IP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地址和子网掩码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360160" y="5799750"/>
            <a:ext cx="22036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不要忘记给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PC4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配置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IP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地址和子网掩码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3749892" y="5799750"/>
            <a:ext cx="22036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不要忘记给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PC5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配置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IP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地址和子网掩码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6635259" y="1245841"/>
            <a:ext cx="22036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不要忘记给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PC2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配置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IP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地址和子网掩码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9697569" y="5799750"/>
            <a:ext cx="22036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不要忘记给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PC7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配置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IP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地址和子网掩码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7" grpId="0"/>
      <p:bldP spid="41" grpId="0"/>
      <p:bldP spid="42" grpId="0"/>
      <p:bldP spid="45" grpId="0"/>
      <p:bldP spid="77" grpId="0"/>
      <p:bldP spid="78" grpId="0"/>
      <p:bldP spid="7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254231" y="685800"/>
            <a:ext cx="369164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5.  </a:t>
            </a:r>
            <a:r>
              <a:rPr lang="zh-CN" altLang="en-US" sz="2400" b="1" dirty="0"/>
              <a:t>选择要监视的网络协议</a:t>
            </a:r>
            <a:endParaRPr lang="en-US" altLang="zh-CN" sz="24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985104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192.168.0.5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1012771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192.168.0.1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4" name="文本框 13"/>
          <p:cNvSpPr txBox="1"/>
          <p:nvPr/>
        </p:nvSpPr>
        <p:spPr>
          <a:xfrm>
            <a:off x="3670211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192.168.0.2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8" name="文本框 17"/>
          <p:cNvSpPr txBox="1"/>
          <p:nvPr/>
        </p:nvSpPr>
        <p:spPr>
          <a:xfrm>
            <a:off x="4014643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192.168.0.6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9" name="文本框 18"/>
          <p:cNvSpPr txBox="1"/>
          <p:nvPr/>
        </p:nvSpPr>
        <p:spPr>
          <a:xfrm>
            <a:off x="6884749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192.168.0.7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22" name="文本框 21"/>
          <p:cNvSpPr txBox="1"/>
          <p:nvPr/>
        </p:nvSpPr>
        <p:spPr>
          <a:xfrm>
            <a:off x="6912416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192.168.0.3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23" name="文本框 22"/>
          <p:cNvSpPr txBox="1"/>
          <p:nvPr/>
        </p:nvSpPr>
        <p:spPr>
          <a:xfrm>
            <a:off x="9569856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192.168.0.4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26" name="文本框 25"/>
          <p:cNvSpPr txBox="1"/>
          <p:nvPr/>
        </p:nvSpPr>
        <p:spPr>
          <a:xfrm>
            <a:off x="9914288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192.168.0.8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cxnSp>
        <p:nvCxnSpPr>
          <p:cNvPr id="8" name="直接连接符 7"/>
          <p:cNvCxnSpPr/>
          <p:nvPr/>
        </p:nvCxnSpPr>
        <p:spPr>
          <a:xfrm>
            <a:off x="713110" y="2162267"/>
            <a:ext cx="2341759" cy="15474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等腰三角形 9"/>
          <p:cNvSpPr/>
          <p:nvPr/>
        </p:nvSpPr>
        <p:spPr>
          <a:xfrm>
            <a:off x="1190792" y="246301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 flipV="1">
            <a:off x="713110" y="3902316"/>
            <a:ext cx="2283201" cy="15150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等腰三角形 16"/>
          <p:cNvSpPr/>
          <p:nvPr/>
        </p:nvSpPr>
        <p:spPr>
          <a:xfrm>
            <a:off x="1190792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连接符 19"/>
          <p:cNvCxnSpPr/>
          <p:nvPr/>
        </p:nvCxnSpPr>
        <p:spPr>
          <a:xfrm flipV="1">
            <a:off x="3370466" y="2108892"/>
            <a:ext cx="2109833" cy="160085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等腰三角形 20"/>
          <p:cNvSpPr/>
          <p:nvPr/>
        </p:nvSpPr>
        <p:spPr>
          <a:xfrm>
            <a:off x="4942426" y="24111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连接符 23"/>
          <p:cNvCxnSpPr/>
          <p:nvPr/>
        </p:nvCxnSpPr>
        <p:spPr>
          <a:xfrm>
            <a:off x="3300727" y="3859446"/>
            <a:ext cx="2292563" cy="161241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等腰三角形 24"/>
          <p:cNvSpPr/>
          <p:nvPr/>
        </p:nvSpPr>
        <p:spPr>
          <a:xfrm>
            <a:off x="4942426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" name="直接连接符 27"/>
          <p:cNvCxnSpPr/>
          <p:nvPr/>
        </p:nvCxnSpPr>
        <p:spPr>
          <a:xfrm>
            <a:off x="6612755" y="2162267"/>
            <a:ext cx="2341759" cy="15474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等腰三角形 28"/>
          <p:cNvSpPr/>
          <p:nvPr/>
        </p:nvSpPr>
        <p:spPr>
          <a:xfrm>
            <a:off x="7090437" y="246301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" name="直接连接符 31"/>
          <p:cNvCxnSpPr/>
          <p:nvPr/>
        </p:nvCxnSpPr>
        <p:spPr>
          <a:xfrm flipV="1">
            <a:off x="6612755" y="3902316"/>
            <a:ext cx="2283201" cy="15150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等腰三角形 32"/>
          <p:cNvSpPr/>
          <p:nvPr/>
        </p:nvSpPr>
        <p:spPr>
          <a:xfrm>
            <a:off x="7090437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8" name="直接连接符 37"/>
          <p:cNvCxnSpPr/>
          <p:nvPr/>
        </p:nvCxnSpPr>
        <p:spPr>
          <a:xfrm flipV="1">
            <a:off x="9270111" y="2108892"/>
            <a:ext cx="2109833" cy="160085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等腰三角形 39"/>
          <p:cNvSpPr/>
          <p:nvPr/>
        </p:nvSpPr>
        <p:spPr>
          <a:xfrm>
            <a:off x="10842071" y="24111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3" name="直接连接符 42"/>
          <p:cNvCxnSpPr/>
          <p:nvPr/>
        </p:nvCxnSpPr>
        <p:spPr>
          <a:xfrm>
            <a:off x="9200372" y="3859446"/>
            <a:ext cx="2292563" cy="161241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等腰三角形 43"/>
          <p:cNvSpPr/>
          <p:nvPr/>
        </p:nvSpPr>
        <p:spPr>
          <a:xfrm>
            <a:off x="10842071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" name="直接连接符 46"/>
          <p:cNvCxnSpPr/>
          <p:nvPr/>
        </p:nvCxnSpPr>
        <p:spPr>
          <a:xfrm>
            <a:off x="3497998" y="3826236"/>
            <a:ext cx="5333835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9" name="20 8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544" y="5242879"/>
            <a:ext cx="539132" cy="457973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04800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PC4</a:t>
            </a:r>
            <a:endParaRPr lang="zh-CN" altLang="en-US" b="1" dirty="0"/>
          </a:p>
        </p:txBody>
      </p:sp>
      <p:pic>
        <p:nvPicPr>
          <p:cNvPr id="12" name="20 11" descr="图标&#10;&#10;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1054" y="3667774"/>
            <a:ext cx="646944" cy="332541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799091" y="3630983"/>
            <a:ext cx="1965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2960-24TT  Switch0</a:t>
            </a:r>
            <a:endParaRPr lang="zh-CN" altLang="en-US" b="1" dirty="0"/>
          </a:p>
        </p:txBody>
      </p:sp>
      <p:pic>
        <p:nvPicPr>
          <p:cNvPr id="5" name="20 4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724" y="5242879"/>
            <a:ext cx="539132" cy="457973"/>
          </a:xfrm>
          <a:prstGeom prst="rect">
            <a:avLst/>
          </a:prstGeom>
        </p:spPr>
      </p:pic>
      <p:pic>
        <p:nvPicPr>
          <p:cNvPr id="6" name="20 5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544" y="1967237"/>
            <a:ext cx="539132" cy="457973"/>
          </a:xfrm>
          <a:prstGeom prst="rect">
            <a:avLst/>
          </a:prstGeom>
        </p:spPr>
      </p:pic>
      <p:pic>
        <p:nvPicPr>
          <p:cNvPr id="7" name="20 6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724" y="1967237"/>
            <a:ext cx="539132" cy="457973"/>
          </a:xfrm>
          <a:prstGeom prst="rect">
            <a:avLst/>
          </a:prstGeom>
        </p:spPr>
      </p:pic>
      <p:sp>
        <p:nvSpPr>
          <p:cNvPr id="34" name="文本框 33"/>
          <p:cNvSpPr txBox="1"/>
          <p:nvPr/>
        </p:nvSpPr>
        <p:spPr>
          <a:xfrm>
            <a:off x="304800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sp>
        <p:nvSpPr>
          <p:cNvPr id="36" name="文本框 35"/>
          <p:cNvSpPr txBox="1"/>
          <p:nvPr/>
        </p:nvSpPr>
        <p:spPr>
          <a:xfrm>
            <a:off x="5184980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PC1</a:t>
            </a:r>
            <a:endParaRPr lang="zh-CN" altLang="en-US" b="1" dirty="0"/>
          </a:p>
        </p:txBody>
      </p:sp>
      <p:sp>
        <p:nvSpPr>
          <p:cNvPr id="39" name="文本框 38"/>
          <p:cNvSpPr txBox="1"/>
          <p:nvPr/>
        </p:nvSpPr>
        <p:spPr>
          <a:xfrm>
            <a:off x="5136948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PC5</a:t>
            </a:r>
            <a:endParaRPr lang="zh-CN" altLang="en-US" b="1" dirty="0"/>
          </a:p>
        </p:txBody>
      </p:sp>
      <p:pic>
        <p:nvPicPr>
          <p:cNvPr id="63" name="20 62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189" y="5242879"/>
            <a:ext cx="539132" cy="457973"/>
          </a:xfrm>
          <a:prstGeom prst="rect">
            <a:avLst/>
          </a:prstGeom>
        </p:spPr>
      </p:pic>
      <p:sp>
        <p:nvSpPr>
          <p:cNvPr id="64" name="文本框 63"/>
          <p:cNvSpPr txBox="1"/>
          <p:nvPr/>
        </p:nvSpPr>
        <p:spPr>
          <a:xfrm>
            <a:off x="6204445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PC6</a:t>
            </a:r>
            <a:endParaRPr lang="zh-CN" altLang="en-US" b="1" dirty="0"/>
          </a:p>
        </p:txBody>
      </p:sp>
      <p:pic>
        <p:nvPicPr>
          <p:cNvPr id="65" name="20 64" descr="图标&#10;&#10;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699" y="3667774"/>
            <a:ext cx="646944" cy="332541"/>
          </a:xfrm>
          <a:prstGeom prst="rect">
            <a:avLst/>
          </a:prstGeom>
        </p:spPr>
      </p:pic>
      <p:sp>
        <p:nvSpPr>
          <p:cNvPr id="66" name="文本框 65"/>
          <p:cNvSpPr txBox="1"/>
          <p:nvPr/>
        </p:nvSpPr>
        <p:spPr>
          <a:xfrm>
            <a:off x="9390051" y="3630983"/>
            <a:ext cx="1965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2960-24TT  Switch1</a:t>
            </a:r>
            <a:endParaRPr lang="zh-CN" altLang="en-US" b="1" dirty="0"/>
          </a:p>
        </p:txBody>
      </p:sp>
      <p:pic>
        <p:nvPicPr>
          <p:cNvPr id="68" name="20 67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3369" y="5242879"/>
            <a:ext cx="539132" cy="457973"/>
          </a:xfrm>
          <a:prstGeom prst="rect">
            <a:avLst/>
          </a:prstGeom>
        </p:spPr>
      </p:pic>
      <p:pic>
        <p:nvPicPr>
          <p:cNvPr id="69" name="20 68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189" y="1967237"/>
            <a:ext cx="539132" cy="457973"/>
          </a:xfrm>
          <a:prstGeom prst="rect">
            <a:avLst/>
          </a:prstGeom>
        </p:spPr>
      </p:pic>
      <p:pic>
        <p:nvPicPr>
          <p:cNvPr id="70" name="20 69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3369" y="1967237"/>
            <a:ext cx="539132" cy="457973"/>
          </a:xfrm>
          <a:prstGeom prst="rect">
            <a:avLst/>
          </a:prstGeom>
        </p:spPr>
      </p:pic>
      <p:sp>
        <p:nvSpPr>
          <p:cNvPr id="71" name="文本框 70"/>
          <p:cNvSpPr txBox="1"/>
          <p:nvPr/>
        </p:nvSpPr>
        <p:spPr>
          <a:xfrm>
            <a:off x="6204445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PC2</a:t>
            </a:r>
            <a:endParaRPr lang="zh-CN" altLang="en-US" b="1" dirty="0"/>
          </a:p>
        </p:txBody>
      </p:sp>
      <p:sp>
        <p:nvSpPr>
          <p:cNvPr id="73" name="文本框 72"/>
          <p:cNvSpPr txBox="1"/>
          <p:nvPr/>
        </p:nvSpPr>
        <p:spPr>
          <a:xfrm>
            <a:off x="11084625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PC3</a:t>
            </a:r>
            <a:endParaRPr lang="zh-CN" altLang="en-US" b="1" dirty="0"/>
          </a:p>
        </p:txBody>
      </p:sp>
      <p:sp>
        <p:nvSpPr>
          <p:cNvPr id="76" name="文本框 75"/>
          <p:cNvSpPr txBox="1"/>
          <p:nvPr/>
        </p:nvSpPr>
        <p:spPr>
          <a:xfrm>
            <a:off x="11036593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PC7</a:t>
            </a:r>
            <a:endParaRPr lang="zh-CN" altLang="en-US" b="1" dirty="0"/>
          </a:p>
        </p:txBody>
      </p:sp>
      <p:sp>
        <p:nvSpPr>
          <p:cNvPr id="51" name="等腰三角形 50"/>
          <p:cNvSpPr/>
          <p:nvPr/>
        </p:nvSpPr>
        <p:spPr>
          <a:xfrm>
            <a:off x="2509381" y="3309403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等腰三角形 51"/>
          <p:cNvSpPr/>
          <p:nvPr/>
        </p:nvSpPr>
        <p:spPr>
          <a:xfrm>
            <a:off x="2509381" y="41193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等腰三角形 52"/>
          <p:cNvSpPr/>
          <p:nvPr/>
        </p:nvSpPr>
        <p:spPr>
          <a:xfrm>
            <a:off x="3776559" y="329433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等腰三角形 53"/>
          <p:cNvSpPr/>
          <p:nvPr/>
        </p:nvSpPr>
        <p:spPr>
          <a:xfrm>
            <a:off x="3776558" y="417750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等腰三角形 54"/>
          <p:cNvSpPr/>
          <p:nvPr/>
        </p:nvSpPr>
        <p:spPr>
          <a:xfrm>
            <a:off x="8324469" y="328257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等腰三角形 55"/>
          <p:cNvSpPr/>
          <p:nvPr/>
        </p:nvSpPr>
        <p:spPr>
          <a:xfrm>
            <a:off x="9712901" y="328107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等腰三角形 56"/>
          <p:cNvSpPr/>
          <p:nvPr/>
        </p:nvSpPr>
        <p:spPr>
          <a:xfrm>
            <a:off x="8322853" y="419586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等腰三角形 57"/>
          <p:cNvSpPr/>
          <p:nvPr/>
        </p:nvSpPr>
        <p:spPr>
          <a:xfrm>
            <a:off x="9728117" y="419586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等腰三角形 58"/>
          <p:cNvSpPr/>
          <p:nvPr/>
        </p:nvSpPr>
        <p:spPr>
          <a:xfrm>
            <a:off x="4059017" y="376304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等腰三角形 59"/>
          <p:cNvSpPr/>
          <p:nvPr/>
        </p:nvSpPr>
        <p:spPr>
          <a:xfrm>
            <a:off x="8080650" y="376304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/>
        </p:nvSpPr>
        <p:spPr>
          <a:xfrm>
            <a:off x="8299448" y="301645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Fa0/1</a:t>
            </a:r>
            <a:endParaRPr lang="zh-CN" altLang="en-US" b="1" dirty="0"/>
          </a:p>
        </p:txBody>
      </p:sp>
      <p:sp>
        <p:nvSpPr>
          <p:cNvPr id="48" name="文本框 47"/>
          <p:cNvSpPr txBox="1"/>
          <p:nvPr/>
        </p:nvSpPr>
        <p:spPr>
          <a:xfrm>
            <a:off x="9050192" y="301645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Fa0/2</a:t>
            </a:r>
            <a:endParaRPr lang="zh-CN" altLang="en-US" b="1" dirty="0"/>
          </a:p>
        </p:txBody>
      </p:sp>
      <p:sp>
        <p:nvSpPr>
          <p:cNvPr id="49" name="文本框 48"/>
          <p:cNvSpPr txBox="1"/>
          <p:nvPr/>
        </p:nvSpPr>
        <p:spPr>
          <a:xfrm>
            <a:off x="8299448" y="4172213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Fa0/3</a:t>
            </a:r>
            <a:endParaRPr lang="zh-CN" altLang="en-US" b="1" dirty="0"/>
          </a:p>
        </p:txBody>
      </p:sp>
      <p:sp>
        <p:nvSpPr>
          <p:cNvPr id="50" name="文本框 49"/>
          <p:cNvSpPr txBox="1"/>
          <p:nvPr/>
        </p:nvSpPr>
        <p:spPr>
          <a:xfrm>
            <a:off x="9035504" y="4172213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Fa0/4</a:t>
            </a:r>
            <a:endParaRPr lang="zh-CN" altLang="en-US" b="1" dirty="0"/>
          </a:p>
        </p:txBody>
      </p:sp>
      <p:sp>
        <p:nvSpPr>
          <p:cNvPr id="61" name="文本框 60"/>
          <p:cNvSpPr txBox="1"/>
          <p:nvPr/>
        </p:nvSpPr>
        <p:spPr>
          <a:xfrm>
            <a:off x="2399803" y="301645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Fa0/1</a:t>
            </a:r>
            <a:endParaRPr lang="zh-CN" altLang="en-US" b="1" dirty="0"/>
          </a:p>
        </p:txBody>
      </p:sp>
      <p:sp>
        <p:nvSpPr>
          <p:cNvPr id="62" name="文本框 61"/>
          <p:cNvSpPr txBox="1"/>
          <p:nvPr/>
        </p:nvSpPr>
        <p:spPr>
          <a:xfrm>
            <a:off x="3150547" y="301645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Fa0/2</a:t>
            </a:r>
            <a:endParaRPr lang="zh-CN" altLang="en-US" b="1" dirty="0"/>
          </a:p>
        </p:txBody>
      </p:sp>
      <p:sp>
        <p:nvSpPr>
          <p:cNvPr id="67" name="文本框 66"/>
          <p:cNvSpPr txBox="1"/>
          <p:nvPr/>
        </p:nvSpPr>
        <p:spPr>
          <a:xfrm>
            <a:off x="2399803" y="4172213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Fa0/3</a:t>
            </a:r>
            <a:endParaRPr lang="zh-CN" altLang="en-US" b="1" dirty="0"/>
          </a:p>
        </p:txBody>
      </p:sp>
      <p:sp>
        <p:nvSpPr>
          <p:cNvPr id="72" name="文本框 71"/>
          <p:cNvSpPr txBox="1"/>
          <p:nvPr/>
        </p:nvSpPr>
        <p:spPr>
          <a:xfrm>
            <a:off x="3135859" y="4172213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Fa0/4</a:t>
            </a:r>
            <a:endParaRPr lang="zh-CN" altLang="en-US" b="1" dirty="0"/>
          </a:p>
        </p:txBody>
      </p:sp>
      <p:sp>
        <p:nvSpPr>
          <p:cNvPr id="74" name="文本框 73"/>
          <p:cNvSpPr txBox="1"/>
          <p:nvPr/>
        </p:nvSpPr>
        <p:spPr>
          <a:xfrm>
            <a:off x="3429825" y="351339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Fa0/5</a:t>
            </a:r>
            <a:endParaRPr lang="zh-CN" altLang="en-US" b="1" dirty="0"/>
          </a:p>
        </p:txBody>
      </p:sp>
      <p:sp>
        <p:nvSpPr>
          <p:cNvPr id="75" name="文本框 74"/>
          <p:cNvSpPr txBox="1"/>
          <p:nvPr/>
        </p:nvSpPr>
        <p:spPr>
          <a:xfrm>
            <a:off x="8001195" y="351339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Fa0/5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254231" y="685800"/>
            <a:ext cx="369164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5.  </a:t>
            </a:r>
            <a:r>
              <a:rPr lang="zh-CN" altLang="en-US" sz="2400" b="1" dirty="0"/>
              <a:t>选择要监视的网络协议</a:t>
            </a:r>
            <a:endParaRPr lang="en-US" altLang="zh-CN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27" name="20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3096" y="1374844"/>
            <a:ext cx="3043465" cy="4896010"/>
          </a:xfrm>
          <a:prstGeom prst="rect">
            <a:avLst/>
          </a:prstGeom>
        </p:spPr>
      </p:pic>
      <p:grpSp>
        <p:nvGrpSpPr>
          <p:cNvPr id="30" name="组合 29"/>
          <p:cNvGrpSpPr/>
          <p:nvPr/>
        </p:nvGrpSpPr>
        <p:grpSpPr>
          <a:xfrm>
            <a:off x="3456561" y="5918684"/>
            <a:ext cx="3843075" cy="369332"/>
            <a:chOff x="3456561" y="5918684"/>
            <a:chExt cx="3843075" cy="369332"/>
          </a:xfrm>
        </p:grpSpPr>
        <p:cxnSp>
          <p:nvCxnSpPr>
            <p:cNvPr id="31" name="直接箭头连接符 30"/>
            <p:cNvCxnSpPr/>
            <p:nvPr/>
          </p:nvCxnSpPr>
          <p:spPr>
            <a:xfrm flipH="1">
              <a:off x="3456561" y="6103350"/>
              <a:ext cx="551234" cy="0"/>
            </a:xfrm>
            <a:prstGeom prst="straightConnector1">
              <a:avLst/>
            </a:prstGeom>
            <a:ln w="25400">
              <a:solidFill>
                <a:schemeClr val="accent1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/>
            <p:cNvSpPr txBox="1"/>
            <p:nvPr/>
          </p:nvSpPr>
          <p:spPr>
            <a:xfrm>
              <a:off x="4007795" y="5918684"/>
              <a:ext cx="32918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</a:rPr>
                <a:t>❶  切换到“模拟”工作模式</a:t>
              </a:r>
              <a:endParaRPr lang="zh-CN" altLang="en-US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3456561" y="5641685"/>
            <a:ext cx="4507148" cy="369332"/>
            <a:chOff x="3456561" y="5641685"/>
            <a:chExt cx="4507148" cy="369332"/>
          </a:xfrm>
        </p:grpSpPr>
        <p:cxnSp>
          <p:nvCxnSpPr>
            <p:cNvPr id="41" name="直接箭头连接符 40"/>
            <p:cNvCxnSpPr/>
            <p:nvPr/>
          </p:nvCxnSpPr>
          <p:spPr>
            <a:xfrm flipH="1">
              <a:off x="3456561" y="5826351"/>
              <a:ext cx="551234" cy="0"/>
            </a:xfrm>
            <a:prstGeom prst="straightConnector1">
              <a:avLst/>
            </a:prstGeom>
            <a:ln w="25400">
              <a:solidFill>
                <a:schemeClr val="accent1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文本框 41"/>
            <p:cNvSpPr txBox="1"/>
            <p:nvPr/>
          </p:nvSpPr>
          <p:spPr>
            <a:xfrm>
              <a:off x="4007795" y="5641685"/>
              <a:ext cx="39559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</a:rPr>
                <a:t>❷  单击该按钮，清空“事件列表”</a:t>
              </a:r>
              <a:endParaRPr lang="zh-CN" altLang="en-US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1293707" y="5236780"/>
            <a:ext cx="7308426" cy="526822"/>
            <a:chOff x="1293707" y="5236780"/>
            <a:chExt cx="7308426" cy="526822"/>
          </a:xfrm>
        </p:grpSpPr>
        <p:sp>
          <p:nvSpPr>
            <p:cNvPr id="77" name="文本框 76"/>
            <p:cNvSpPr txBox="1"/>
            <p:nvPr/>
          </p:nvSpPr>
          <p:spPr>
            <a:xfrm>
              <a:off x="4007795" y="5236780"/>
              <a:ext cx="45943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</a:rPr>
                <a:t>❸  单击该按钮，打开“协议选择”对话框</a:t>
              </a:r>
              <a:endParaRPr lang="zh-CN" altLang="en-US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cxnSp>
          <p:nvCxnSpPr>
            <p:cNvPr id="78" name="连接符: 肘形 77"/>
            <p:cNvCxnSpPr>
              <a:stCxn id="77" idx="1"/>
            </p:cNvCxnSpPr>
            <p:nvPr/>
          </p:nvCxnSpPr>
          <p:spPr>
            <a:xfrm rot="10800000" flipV="1">
              <a:off x="1293707" y="5421445"/>
              <a:ext cx="2714088" cy="342157"/>
            </a:xfrm>
            <a:prstGeom prst="bentConnector2">
              <a:avLst/>
            </a:prstGeom>
            <a:ln w="25400"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9" name="20 78" descr="图形用户界面&#10;&#10;中度可信度描述已自动生成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8150" y="1154039"/>
            <a:ext cx="2779298" cy="4549921"/>
          </a:xfrm>
          <a:prstGeom prst="rect">
            <a:avLst/>
          </a:prstGeom>
        </p:spPr>
      </p:pic>
      <p:grpSp>
        <p:nvGrpSpPr>
          <p:cNvPr id="80" name="组合 79"/>
          <p:cNvGrpSpPr/>
          <p:nvPr/>
        </p:nvGrpSpPr>
        <p:grpSpPr>
          <a:xfrm>
            <a:off x="5942389" y="1367020"/>
            <a:ext cx="2955761" cy="369332"/>
            <a:chOff x="5964720" y="1367020"/>
            <a:chExt cx="2955761" cy="369332"/>
          </a:xfrm>
        </p:grpSpPr>
        <p:cxnSp>
          <p:nvCxnSpPr>
            <p:cNvPr id="81" name="直接箭头连接符 80"/>
            <p:cNvCxnSpPr/>
            <p:nvPr/>
          </p:nvCxnSpPr>
          <p:spPr>
            <a:xfrm>
              <a:off x="8494714" y="1551686"/>
              <a:ext cx="425767" cy="0"/>
            </a:xfrm>
            <a:prstGeom prst="straightConnector1">
              <a:avLst/>
            </a:prstGeom>
            <a:ln w="25400">
              <a:solidFill>
                <a:schemeClr val="accent1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文本框 81"/>
            <p:cNvSpPr txBox="1"/>
            <p:nvPr/>
          </p:nvSpPr>
          <p:spPr>
            <a:xfrm>
              <a:off x="5964720" y="1367020"/>
              <a:ext cx="25077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</a:rPr>
                <a:t>❹  选择“</a:t>
              </a:r>
              <a:r>
                <a:rPr lang="en-US" altLang="zh-CN" b="1" dirty="0">
                  <a:solidFill>
                    <a:schemeClr val="accent1">
                      <a:lumMod val="75000"/>
                    </a:schemeClr>
                  </a:solidFill>
                </a:rPr>
                <a:t>IPv4</a:t>
              </a:r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</a:rPr>
                <a:t>”选项卡</a:t>
              </a:r>
              <a:endParaRPr lang="zh-CN" altLang="en-US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4951307" y="2114544"/>
            <a:ext cx="3946843" cy="369332"/>
            <a:chOff x="4973638" y="1367020"/>
            <a:chExt cx="3946843" cy="369332"/>
          </a:xfrm>
        </p:grpSpPr>
        <p:cxnSp>
          <p:nvCxnSpPr>
            <p:cNvPr id="84" name="直接箭头连接符 83"/>
            <p:cNvCxnSpPr/>
            <p:nvPr/>
          </p:nvCxnSpPr>
          <p:spPr>
            <a:xfrm>
              <a:off x="8494714" y="1551686"/>
              <a:ext cx="425767" cy="0"/>
            </a:xfrm>
            <a:prstGeom prst="straightConnector1">
              <a:avLst/>
            </a:prstGeom>
            <a:ln w="25400">
              <a:solidFill>
                <a:schemeClr val="accent1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文本框 84"/>
            <p:cNvSpPr txBox="1"/>
            <p:nvPr/>
          </p:nvSpPr>
          <p:spPr>
            <a:xfrm>
              <a:off x="4973638" y="1367020"/>
              <a:ext cx="35481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</a:rPr>
                <a:t>❺  选择监视</a:t>
              </a:r>
              <a:r>
                <a:rPr lang="en-US" altLang="zh-CN" b="1" dirty="0">
                  <a:solidFill>
                    <a:schemeClr val="accent1">
                      <a:lumMod val="75000"/>
                    </a:schemeClr>
                  </a:solidFill>
                </a:rPr>
                <a:t>ICMP</a:t>
              </a:r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</a:rPr>
                <a:t>协议的相关事件</a:t>
              </a:r>
              <a:endParaRPr lang="zh-CN" altLang="en-US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682247" y="685800"/>
            <a:ext cx="2836206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6.  </a:t>
            </a:r>
            <a:r>
              <a:rPr lang="zh-CN" altLang="en-US" sz="2400" b="1" dirty="0"/>
              <a:t>网络连通性测试</a:t>
            </a:r>
            <a:endParaRPr lang="en-US" altLang="zh-CN" sz="24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985104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192.168.0.5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1012771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192.168.0.1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4" name="文本框 13"/>
          <p:cNvSpPr txBox="1"/>
          <p:nvPr/>
        </p:nvSpPr>
        <p:spPr>
          <a:xfrm>
            <a:off x="3670211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192.168.0.2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8" name="文本框 17"/>
          <p:cNvSpPr txBox="1"/>
          <p:nvPr/>
        </p:nvSpPr>
        <p:spPr>
          <a:xfrm>
            <a:off x="4014643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192.168.0.6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9" name="文本框 18"/>
          <p:cNvSpPr txBox="1"/>
          <p:nvPr/>
        </p:nvSpPr>
        <p:spPr>
          <a:xfrm>
            <a:off x="6884749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192.168.0.7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22" name="文本框 21"/>
          <p:cNvSpPr txBox="1"/>
          <p:nvPr/>
        </p:nvSpPr>
        <p:spPr>
          <a:xfrm>
            <a:off x="6912416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192.168.0.3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23" name="文本框 22"/>
          <p:cNvSpPr txBox="1"/>
          <p:nvPr/>
        </p:nvSpPr>
        <p:spPr>
          <a:xfrm>
            <a:off x="9569856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192.168.0.4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26" name="文本框 25"/>
          <p:cNvSpPr txBox="1"/>
          <p:nvPr/>
        </p:nvSpPr>
        <p:spPr>
          <a:xfrm>
            <a:off x="9914288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192.168.0.8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cxnSp>
        <p:nvCxnSpPr>
          <p:cNvPr id="8" name="直接连接符 7"/>
          <p:cNvCxnSpPr/>
          <p:nvPr/>
        </p:nvCxnSpPr>
        <p:spPr>
          <a:xfrm>
            <a:off x="713110" y="2162267"/>
            <a:ext cx="2341759" cy="15474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等腰三角形 9"/>
          <p:cNvSpPr/>
          <p:nvPr/>
        </p:nvSpPr>
        <p:spPr>
          <a:xfrm>
            <a:off x="1190792" y="246301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 flipV="1">
            <a:off x="713110" y="3902316"/>
            <a:ext cx="2283201" cy="15150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等腰三角形 16"/>
          <p:cNvSpPr/>
          <p:nvPr/>
        </p:nvSpPr>
        <p:spPr>
          <a:xfrm>
            <a:off x="1190792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连接符 19"/>
          <p:cNvCxnSpPr/>
          <p:nvPr/>
        </p:nvCxnSpPr>
        <p:spPr>
          <a:xfrm flipV="1">
            <a:off x="3370466" y="2108892"/>
            <a:ext cx="2109833" cy="160085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等腰三角形 20"/>
          <p:cNvSpPr/>
          <p:nvPr/>
        </p:nvSpPr>
        <p:spPr>
          <a:xfrm>
            <a:off x="4942426" y="24111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连接符 23"/>
          <p:cNvCxnSpPr/>
          <p:nvPr/>
        </p:nvCxnSpPr>
        <p:spPr>
          <a:xfrm>
            <a:off x="3300727" y="3859446"/>
            <a:ext cx="2292563" cy="161241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等腰三角形 24"/>
          <p:cNvSpPr/>
          <p:nvPr/>
        </p:nvSpPr>
        <p:spPr>
          <a:xfrm>
            <a:off x="4942426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" name="直接连接符 27"/>
          <p:cNvCxnSpPr/>
          <p:nvPr/>
        </p:nvCxnSpPr>
        <p:spPr>
          <a:xfrm>
            <a:off x="6612755" y="2162267"/>
            <a:ext cx="2341759" cy="15474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等腰三角形 28"/>
          <p:cNvSpPr/>
          <p:nvPr/>
        </p:nvSpPr>
        <p:spPr>
          <a:xfrm>
            <a:off x="7090437" y="246301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" name="直接连接符 31"/>
          <p:cNvCxnSpPr/>
          <p:nvPr/>
        </p:nvCxnSpPr>
        <p:spPr>
          <a:xfrm flipV="1">
            <a:off x="6612755" y="3902316"/>
            <a:ext cx="2283201" cy="15150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等腰三角形 32"/>
          <p:cNvSpPr/>
          <p:nvPr/>
        </p:nvSpPr>
        <p:spPr>
          <a:xfrm>
            <a:off x="7090437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8" name="直接连接符 37"/>
          <p:cNvCxnSpPr/>
          <p:nvPr/>
        </p:nvCxnSpPr>
        <p:spPr>
          <a:xfrm flipV="1">
            <a:off x="9270111" y="2108892"/>
            <a:ext cx="2109833" cy="160085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等腰三角形 39"/>
          <p:cNvSpPr/>
          <p:nvPr/>
        </p:nvSpPr>
        <p:spPr>
          <a:xfrm>
            <a:off x="10842071" y="24111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3" name="直接连接符 42"/>
          <p:cNvCxnSpPr/>
          <p:nvPr/>
        </p:nvCxnSpPr>
        <p:spPr>
          <a:xfrm>
            <a:off x="9200372" y="3859446"/>
            <a:ext cx="2292563" cy="161241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等腰三角形 43"/>
          <p:cNvSpPr/>
          <p:nvPr/>
        </p:nvSpPr>
        <p:spPr>
          <a:xfrm>
            <a:off x="10842071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" name="直接连接符 46"/>
          <p:cNvCxnSpPr/>
          <p:nvPr/>
        </p:nvCxnSpPr>
        <p:spPr>
          <a:xfrm>
            <a:off x="3497998" y="3826236"/>
            <a:ext cx="5333835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9" name="20 8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544" y="5242879"/>
            <a:ext cx="539132" cy="457973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04800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PC4</a:t>
            </a:r>
            <a:endParaRPr lang="zh-CN" altLang="en-US" b="1" dirty="0"/>
          </a:p>
        </p:txBody>
      </p:sp>
      <p:pic>
        <p:nvPicPr>
          <p:cNvPr id="12" name="20 11" descr="图标&#10;&#10;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1054" y="3667774"/>
            <a:ext cx="646944" cy="332541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799091" y="3630983"/>
            <a:ext cx="1965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2960-24TT  Switch0</a:t>
            </a:r>
            <a:endParaRPr lang="zh-CN" altLang="en-US" b="1" dirty="0"/>
          </a:p>
        </p:txBody>
      </p:sp>
      <p:pic>
        <p:nvPicPr>
          <p:cNvPr id="5" name="20 4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724" y="5242879"/>
            <a:ext cx="539132" cy="457973"/>
          </a:xfrm>
          <a:prstGeom prst="rect">
            <a:avLst/>
          </a:prstGeom>
        </p:spPr>
      </p:pic>
      <p:pic>
        <p:nvPicPr>
          <p:cNvPr id="6" name="20 5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544" y="1967237"/>
            <a:ext cx="539132" cy="457973"/>
          </a:xfrm>
          <a:prstGeom prst="rect">
            <a:avLst/>
          </a:prstGeom>
        </p:spPr>
      </p:pic>
      <p:pic>
        <p:nvPicPr>
          <p:cNvPr id="7" name="20 6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724" y="1967237"/>
            <a:ext cx="539132" cy="457973"/>
          </a:xfrm>
          <a:prstGeom prst="rect">
            <a:avLst/>
          </a:prstGeom>
        </p:spPr>
      </p:pic>
      <p:sp>
        <p:nvSpPr>
          <p:cNvPr id="34" name="文本框 33"/>
          <p:cNvSpPr txBox="1"/>
          <p:nvPr/>
        </p:nvSpPr>
        <p:spPr>
          <a:xfrm>
            <a:off x="304800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sp>
        <p:nvSpPr>
          <p:cNvPr id="36" name="文本框 35"/>
          <p:cNvSpPr txBox="1"/>
          <p:nvPr/>
        </p:nvSpPr>
        <p:spPr>
          <a:xfrm>
            <a:off x="5184980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PC1</a:t>
            </a:r>
            <a:endParaRPr lang="zh-CN" altLang="en-US" b="1" dirty="0"/>
          </a:p>
        </p:txBody>
      </p:sp>
      <p:sp>
        <p:nvSpPr>
          <p:cNvPr id="39" name="文本框 38"/>
          <p:cNvSpPr txBox="1"/>
          <p:nvPr/>
        </p:nvSpPr>
        <p:spPr>
          <a:xfrm>
            <a:off x="5136948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PC5</a:t>
            </a:r>
            <a:endParaRPr lang="zh-CN" altLang="en-US" b="1" dirty="0"/>
          </a:p>
        </p:txBody>
      </p:sp>
      <p:pic>
        <p:nvPicPr>
          <p:cNvPr id="63" name="20 62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189" y="5242879"/>
            <a:ext cx="539132" cy="457973"/>
          </a:xfrm>
          <a:prstGeom prst="rect">
            <a:avLst/>
          </a:prstGeom>
        </p:spPr>
      </p:pic>
      <p:sp>
        <p:nvSpPr>
          <p:cNvPr id="64" name="文本框 63"/>
          <p:cNvSpPr txBox="1"/>
          <p:nvPr/>
        </p:nvSpPr>
        <p:spPr>
          <a:xfrm>
            <a:off x="6204445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PC6</a:t>
            </a:r>
            <a:endParaRPr lang="zh-CN" altLang="en-US" b="1" dirty="0"/>
          </a:p>
        </p:txBody>
      </p:sp>
      <p:pic>
        <p:nvPicPr>
          <p:cNvPr id="65" name="20 64" descr="图标&#10;&#10;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699" y="3667774"/>
            <a:ext cx="646944" cy="332541"/>
          </a:xfrm>
          <a:prstGeom prst="rect">
            <a:avLst/>
          </a:prstGeom>
        </p:spPr>
      </p:pic>
      <p:sp>
        <p:nvSpPr>
          <p:cNvPr id="66" name="文本框 65"/>
          <p:cNvSpPr txBox="1"/>
          <p:nvPr/>
        </p:nvSpPr>
        <p:spPr>
          <a:xfrm>
            <a:off x="9390051" y="3630983"/>
            <a:ext cx="1965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2960-24TT  Switch1</a:t>
            </a:r>
            <a:endParaRPr lang="zh-CN" altLang="en-US" b="1" dirty="0"/>
          </a:p>
        </p:txBody>
      </p:sp>
      <p:pic>
        <p:nvPicPr>
          <p:cNvPr id="68" name="20 67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3369" y="5242879"/>
            <a:ext cx="539132" cy="457973"/>
          </a:xfrm>
          <a:prstGeom prst="rect">
            <a:avLst/>
          </a:prstGeom>
        </p:spPr>
      </p:pic>
      <p:pic>
        <p:nvPicPr>
          <p:cNvPr id="69" name="20 68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189" y="1967237"/>
            <a:ext cx="539132" cy="457973"/>
          </a:xfrm>
          <a:prstGeom prst="rect">
            <a:avLst/>
          </a:prstGeom>
        </p:spPr>
      </p:pic>
      <p:pic>
        <p:nvPicPr>
          <p:cNvPr id="70" name="20 69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3369" y="1967237"/>
            <a:ext cx="539132" cy="457973"/>
          </a:xfrm>
          <a:prstGeom prst="rect">
            <a:avLst/>
          </a:prstGeom>
        </p:spPr>
      </p:pic>
      <p:sp>
        <p:nvSpPr>
          <p:cNvPr id="71" name="文本框 70"/>
          <p:cNvSpPr txBox="1"/>
          <p:nvPr/>
        </p:nvSpPr>
        <p:spPr>
          <a:xfrm>
            <a:off x="6204445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PC2</a:t>
            </a:r>
            <a:endParaRPr lang="zh-CN" altLang="en-US" b="1" dirty="0"/>
          </a:p>
        </p:txBody>
      </p:sp>
      <p:sp>
        <p:nvSpPr>
          <p:cNvPr id="73" name="文本框 72"/>
          <p:cNvSpPr txBox="1"/>
          <p:nvPr/>
        </p:nvSpPr>
        <p:spPr>
          <a:xfrm>
            <a:off x="11084625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PC3</a:t>
            </a:r>
            <a:endParaRPr lang="zh-CN" altLang="en-US" b="1" dirty="0"/>
          </a:p>
        </p:txBody>
      </p:sp>
      <p:sp>
        <p:nvSpPr>
          <p:cNvPr id="76" name="文本框 75"/>
          <p:cNvSpPr txBox="1"/>
          <p:nvPr/>
        </p:nvSpPr>
        <p:spPr>
          <a:xfrm>
            <a:off x="11036593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PC7</a:t>
            </a:r>
            <a:endParaRPr lang="zh-CN" altLang="en-US" b="1" dirty="0"/>
          </a:p>
        </p:txBody>
      </p:sp>
      <p:sp>
        <p:nvSpPr>
          <p:cNvPr id="51" name="等腰三角形 50"/>
          <p:cNvSpPr/>
          <p:nvPr/>
        </p:nvSpPr>
        <p:spPr>
          <a:xfrm>
            <a:off x="2509381" y="3309403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等腰三角形 51"/>
          <p:cNvSpPr/>
          <p:nvPr/>
        </p:nvSpPr>
        <p:spPr>
          <a:xfrm>
            <a:off x="2509381" y="41193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等腰三角形 52"/>
          <p:cNvSpPr/>
          <p:nvPr/>
        </p:nvSpPr>
        <p:spPr>
          <a:xfrm>
            <a:off x="3776559" y="329433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等腰三角形 53"/>
          <p:cNvSpPr/>
          <p:nvPr/>
        </p:nvSpPr>
        <p:spPr>
          <a:xfrm>
            <a:off x="3776558" y="417750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等腰三角形 54"/>
          <p:cNvSpPr/>
          <p:nvPr/>
        </p:nvSpPr>
        <p:spPr>
          <a:xfrm>
            <a:off x="8324469" y="328257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等腰三角形 55"/>
          <p:cNvSpPr/>
          <p:nvPr/>
        </p:nvSpPr>
        <p:spPr>
          <a:xfrm>
            <a:off x="9712901" y="328107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等腰三角形 56"/>
          <p:cNvSpPr/>
          <p:nvPr/>
        </p:nvSpPr>
        <p:spPr>
          <a:xfrm>
            <a:off x="8322853" y="419586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等腰三角形 57"/>
          <p:cNvSpPr/>
          <p:nvPr/>
        </p:nvSpPr>
        <p:spPr>
          <a:xfrm>
            <a:off x="9728117" y="419586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等腰三角形 58"/>
          <p:cNvSpPr/>
          <p:nvPr/>
        </p:nvSpPr>
        <p:spPr>
          <a:xfrm>
            <a:off x="4059017" y="376304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等腰三角形 59"/>
          <p:cNvSpPr/>
          <p:nvPr/>
        </p:nvSpPr>
        <p:spPr>
          <a:xfrm>
            <a:off x="8080650" y="376304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/>
        </p:nvSpPr>
        <p:spPr>
          <a:xfrm>
            <a:off x="8299448" y="301645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Fa0/1</a:t>
            </a:r>
            <a:endParaRPr lang="zh-CN" altLang="en-US" b="1" dirty="0"/>
          </a:p>
        </p:txBody>
      </p:sp>
      <p:sp>
        <p:nvSpPr>
          <p:cNvPr id="48" name="文本框 47"/>
          <p:cNvSpPr txBox="1"/>
          <p:nvPr/>
        </p:nvSpPr>
        <p:spPr>
          <a:xfrm>
            <a:off x="9050192" y="301645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Fa0/2</a:t>
            </a:r>
            <a:endParaRPr lang="zh-CN" altLang="en-US" b="1" dirty="0"/>
          </a:p>
        </p:txBody>
      </p:sp>
      <p:sp>
        <p:nvSpPr>
          <p:cNvPr id="49" name="文本框 48"/>
          <p:cNvSpPr txBox="1"/>
          <p:nvPr/>
        </p:nvSpPr>
        <p:spPr>
          <a:xfrm>
            <a:off x="8299448" y="4172213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Fa0/3</a:t>
            </a:r>
            <a:endParaRPr lang="zh-CN" altLang="en-US" b="1" dirty="0"/>
          </a:p>
        </p:txBody>
      </p:sp>
      <p:sp>
        <p:nvSpPr>
          <p:cNvPr id="50" name="文本框 49"/>
          <p:cNvSpPr txBox="1"/>
          <p:nvPr/>
        </p:nvSpPr>
        <p:spPr>
          <a:xfrm>
            <a:off x="9035504" y="4172213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Fa0/4</a:t>
            </a:r>
            <a:endParaRPr lang="zh-CN" altLang="en-US" b="1" dirty="0"/>
          </a:p>
        </p:txBody>
      </p:sp>
      <p:sp>
        <p:nvSpPr>
          <p:cNvPr id="61" name="文本框 60"/>
          <p:cNvSpPr txBox="1"/>
          <p:nvPr/>
        </p:nvSpPr>
        <p:spPr>
          <a:xfrm>
            <a:off x="2399803" y="301645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Fa0/1</a:t>
            </a:r>
            <a:endParaRPr lang="zh-CN" altLang="en-US" b="1" dirty="0"/>
          </a:p>
        </p:txBody>
      </p:sp>
      <p:sp>
        <p:nvSpPr>
          <p:cNvPr id="62" name="文本框 61"/>
          <p:cNvSpPr txBox="1"/>
          <p:nvPr/>
        </p:nvSpPr>
        <p:spPr>
          <a:xfrm>
            <a:off x="3150547" y="301645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Fa0/2</a:t>
            </a:r>
            <a:endParaRPr lang="zh-CN" altLang="en-US" b="1" dirty="0"/>
          </a:p>
        </p:txBody>
      </p:sp>
      <p:sp>
        <p:nvSpPr>
          <p:cNvPr id="67" name="文本框 66"/>
          <p:cNvSpPr txBox="1"/>
          <p:nvPr/>
        </p:nvSpPr>
        <p:spPr>
          <a:xfrm>
            <a:off x="2399803" y="4172213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Fa0/3</a:t>
            </a:r>
            <a:endParaRPr lang="zh-CN" altLang="en-US" b="1" dirty="0"/>
          </a:p>
        </p:txBody>
      </p:sp>
      <p:sp>
        <p:nvSpPr>
          <p:cNvPr id="72" name="文本框 71"/>
          <p:cNvSpPr txBox="1"/>
          <p:nvPr/>
        </p:nvSpPr>
        <p:spPr>
          <a:xfrm>
            <a:off x="3135859" y="4172213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Fa0/4</a:t>
            </a:r>
            <a:endParaRPr lang="zh-CN" altLang="en-US" b="1" dirty="0"/>
          </a:p>
        </p:txBody>
      </p:sp>
      <p:sp>
        <p:nvSpPr>
          <p:cNvPr id="74" name="文本框 73"/>
          <p:cNvSpPr txBox="1"/>
          <p:nvPr/>
        </p:nvSpPr>
        <p:spPr>
          <a:xfrm>
            <a:off x="3429825" y="351339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Fa0/5</a:t>
            </a:r>
            <a:endParaRPr lang="zh-CN" altLang="en-US" b="1" dirty="0"/>
          </a:p>
        </p:txBody>
      </p:sp>
      <p:sp>
        <p:nvSpPr>
          <p:cNvPr id="75" name="文本框 74"/>
          <p:cNvSpPr txBox="1"/>
          <p:nvPr/>
        </p:nvSpPr>
        <p:spPr>
          <a:xfrm>
            <a:off x="8001195" y="351339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Fa0/5</a:t>
            </a:r>
            <a:endParaRPr lang="zh-CN" altLang="en-US" b="1" dirty="0"/>
          </a:p>
        </p:txBody>
      </p:sp>
      <p:pic>
        <p:nvPicPr>
          <p:cNvPr id="27" name="20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5837" y="3572095"/>
            <a:ext cx="3309761" cy="1387325"/>
          </a:xfrm>
          <a:prstGeom prst="rect">
            <a:avLst/>
          </a:prstGeom>
        </p:spPr>
      </p:pic>
      <p:grpSp>
        <p:nvGrpSpPr>
          <p:cNvPr id="30" name="组合 29"/>
          <p:cNvGrpSpPr/>
          <p:nvPr/>
        </p:nvGrpSpPr>
        <p:grpSpPr>
          <a:xfrm>
            <a:off x="4788042" y="2964459"/>
            <a:ext cx="2707351" cy="614796"/>
            <a:chOff x="4810474" y="1769079"/>
            <a:chExt cx="2707351" cy="614796"/>
          </a:xfrm>
        </p:grpSpPr>
        <p:cxnSp>
          <p:nvCxnSpPr>
            <p:cNvPr id="31" name="直接箭头连接符 30"/>
            <p:cNvCxnSpPr/>
            <p:nvPr/>
          </p:nvCxnSpPr>
          <p:spPr>
            <a:xfrm>
              <a:off x="6154958" y="2125903"/>
              <a:ext cx="0" cy="257972"/>
            </a:xfrm>
            <a:prstGeom prst="straightConnector1">
              <a:avLst/>
            </a:prstGeom>
            <a:ln w="25400">
              <a:solidFill>
                <a:schemeClr val="accent1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/>
            <p:cNvSpPr txBox="1"/>
            <p:nvPr/>
          </p:nvSpPr>
          <p:spPr>
            <a:xfrm>
              <a:off x="4810474" y="1769079"/>
              <a:ext cx="27073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</a:rPr>
                <a:t>切换到“实时”工作模式</a:t>
              </a:r>
              <a:endParaRPr lang="zh-CN" altLang="en-US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682247" y="685800"/>
            <a:ext cx="2836206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6.  </a:t>
            </a:r>
            <a:r>
              <a:rPr lang="zh-CN" altLang="en-US" sz="2400" b="1" dirty="0"/>
              <a:t>网络连通性测试</a:t>
            </a:r>
            <a:endParaRPr lang="en-US" altLang="zh-CN" sz="24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985104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192.168.0.5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1012771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192.168.0.1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4" name="文本框 13"/>
          <p:cNvSpPr txBox="1"/>
          <p:nvPr/>
        </p:nvSpPr>
        <p:spPr>
          <a:xfrm>
            <a:off x="3670211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192.168.0.2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8" name="文本框 17"/>
          <p:cNvSpPr txBox="1"/>
          <p:nvPr/>
        </p:nvSpPr>
        <p:spPr>
          <a:xfrm>
            <a:off x="4014643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192.168.0.6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9" name="文本框 18"/>
          <p:cNvSpPr txBox="1"/>
          <p:nvPr/>
        </p:nvSpPr>
        <p:spPr>
          <a:xfrm>
            <a:off x="6884749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192.168.0.7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22" name="文本框 21"/>
          <p:cNvSpPr txBox="1"/>
          <p:nvPr/>
        </p:nvSpPr>
        <p:spPr>
          <a:xfrm>
            <a:off x="6912416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192.168.0.3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23" name="文本框 22"/>
          <p:cNvSpPr txBox="1"/>
          <p:nvPr/>
        </p:nvSpPr>
        <p:spPr>
          <a:xfrm>
            <a:off x="9569856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192.168.0.4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26" name="文本框 25"/>
          <p:cNvSpPr txBox="1"/>
          <p:nvPr/>
        </p:nvSpPr>
        <p:spPr>
          <a:xfrm>
            <a:off x="9914288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192.168.0.8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cxnSp>
        <p:nvCxnSpPr>
          <p:cNvPr id="8" name="直接连接符 7"/>
          <p:cNvCxnSpPr/>
          <p:nvPr/>
        </p:nvCxnSpPr>
        <p:spPr>
          <a:xfrm>
            <a:off x="713110" y="2162267"/>
            <a:ext cx="2341759" cy="15474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等腰三角形 9"/>
          <p:cNvSpPr/>
          <p:nvPr/>
        </p:nvSpPr>
        <p:spPr>
          <a:xfrm>
            <a:off x="1190792" y="246301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 flipV="1">
            <a:off x="713110" y="3902316"/>
            <a:ext cx="2283201" cy="15150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等腰三角形 16"/>
          <p:cNvSpPr/>
          <p:nvPr/>
        </p:nvSpPr>
        <p:spPr>
          <a:xfrm>
            <a:off x="1190792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连接符 19"/>
          <p:cNvCxnSpPr/>
          <p:nvPr/>
        </p:nvCxnSpPr>
        <p:spPr>
          <a:xfrm flipV="1">
            <a:off x="3370466" y="2108892"/>
            <a:ext cx="2109833" cy="160085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等腰三角形 20"/>
          <p:cNvSpPr/>
          <p:nvPr/>
        </p:nvSpPr>
        <p:spPr>
          <a:xfrm>
            <a:off x="4942426" y="24111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连接符 23"/>
          <p:cNvCxnSpPr/>
          <p:nvPr/>
        </p:nvCxnSpPr>
        <p:spPr>
          <a:xfrm>
            <a:off x="3300727" y="3859446"/>
            <a:ext cx="2292563" cy="161241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等腰三角形 24"/>
          <p:cNvSpPr/>
          <p:nvPr/>
        </p:nvSpPr>
        <p:spPr>
          <a:xfrm>
            <a:off x="4942426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" name="直接连接符 27"/>
          <p:cNvCxnSpPr/>
          <p:nvPr/>
        </p:nvCxnSpPr>
        <p:spPr>
          <a:xfrm>
            <a:off x="6612755" y="2162267"/>
            <a:ext cx="2341759" cy="15474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等腰三角形 28"/>
          <p:cNvSpPr/>
          <p:nvPr/>
        </p:nvSpPr>
        <p:spPr>
          <a:xfrm>
            <a:off x="7090437" y="246301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" name="直接连接符 31"/>
          <p:cNvCxnSpPr/>
          <p:nvPr/>
        </p:nvCxnSpPr>
        <p:spPr>
          <a:xfrm flipV="1">
            <a:off x="6612755" y="3902316"/>
            <a:ext cx="2283201" cy="15150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等腰三角形 32"/>
          <p:cNvSpPr/>
          <p:nvPr/>
        </p:nvSpPr>
        <p:spPr>
          <a:xfrm>
            <a:off x="7090437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8" name="直接连接符 37"/>
          <p:cNvCxnSpPr/>
          <p:nvPr/>
        </p:nvCxnSpPr>
        <p:spPr>
          <a:xfrm flipV="1">
            <a:off x="9270111" y="2108892"/>
            <a:ext cx="2109833" cy="160085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等腰三角形 39"/>
          <p:cNvSpPr/>
          <p:nvPr/>
        </p:nvSpPr>
        <p:spPr>
          <a:xfrm>
            <a:off x="10842071" y="24111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3" name="直接连接符 42"/>
          <p:cNvCxnSpPr/>
          <p:nvPr/>
        </p:nvCxnSpPr>
        <p:spPr>
          <a:xfrm>
            <a:off x="9200372" y="3859446"/>
            <a:ext cx="2292563" cy="161241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等腰三角形 43"/>
          <p:cNvSpPr/>
          <p:nvPr/>
        </p:nvSpPr>
        <p:spPr>
          <a:xfrm>
            <a:off x="10842071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" name="直接连接符 46"/>
          <p:cNvCxnSpPr/>
          <p:nvPr/>
        </p:nvCxnSpPr>
        <p:spPr>
          <a:xfrm>
            <a:off x="3497998" y="3826236"/>
            <a:ext cx="5333835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9" name="20 8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544" y="5242879"/>
            <a:ext cx="539132" cy="457973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04800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PC4</a:t>
            </a:r>
            <a:endParaRPr lang="zh-CN" altLang="en-US" b="1" dirty="0"/>
          </a:p>
        </p:txBody>
      </p:sp>
      <p:pic>
        <p:nvPicPr>
          <p:cNvPr id="12" name="20 11" descr="图标&#10;&#10;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1054" y="3667774"/>
            <a:ext cx="646944" cy="332541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799091" y="3630983"/>
            <a:ext cx="1965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2960-24TT  Switch0</a:t>
            </a:r>
            <a:endParaRPr lang="zh-CN" altLang="en-US" b="1" dirty="0"/>
          </a:p>
        </p:txBody>
      </p:sp>
      <p:pic>
        <p:nvPicPr>
          <p:cNvPr id="5" name="20 4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724" y="5242879"/>
            <a:ext cx="539132" cy="457973"/>
          </a:xfrm>
          <a:prstGeom prst="rect">
            <a:avLst/>
          </a:prstGeom>
        </p:spPr>
      </p:pic>
      <p:pic>
        <p:nvPicPr>
          <p:cNvPr id="6" name="20 5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544" y="1967237"/>
            <a:ext cx="539132" cy="457973"/>
          </a:xfrm>
          <a:prstGeom prst="rect">
            <a:avLst/>
          </a:prstGeom>
        </p:spPr>
      </p:pic>
      <p:pic>
        <p:nvPicPr>
          <p:cNvPr id="7" name="20 6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724" y="1967237"/>
            <a:ext cx="539132" cy="457973"/>
          </a:xfrm>
          <a:prstGeom prst="rect">
            <a:avLst/>
          </a:prstGeom>
        </p:spPr>
      </p:pic>
      <p:sp>
        <p:nvSpPr>
          <p:cNvPr id="34" name="文本框 33"/>
          <p:cNvSpPr txBox="1"/>
          <p:nvPr/>
        </p:nvSpPr>
        <p:spPr>
          <a:xfrm>
            <a:off x="304800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sp>
        <p:nvSpPr>
          <p:cNvPr id="36" name="文本框 35"/>
          <p:cNvSpPr txBox="1"/>
          <p:nvPr/>
        </p:nvSpPr>
        <p:spPr>
          <a:xfrm>
            <a:off x="5184980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PC1</a:t>
            </a:r>
            <a:endParaRPr lang="zh-CN" altLang="en-US" b="1" dirty="0"/>
          </a:p>
        </p:txBody>
      </p:sp>
      <p:sp>
        <p:nvSpPr>
          <p:cNvPr id="39" name="文本框 38"/>
          <p:cNvSpPr txBox="1"/>
          <p:nvPr/>
        </p:nvSpPr>
        <p:spPr>
          <a:xfrm>
            <a:off x="5136948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PC5</a:t>
            </a:r>
            <a:endParaRPr lang="zh-CN" altLang="en-US" b="1" dirty="0"/>
          </a:p>
        </p:txBody>
      </p:sp>
      <p:pic>
        <p:nvPicPr>
          <p:cNvPr id="63" name="20 62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189" y="5242879"/>
            <a:ext cx="539132" cy="457973"/>
          </a:xfrm>
          <a:prstGeom prst="rect">
            <a:avLst/>
          </a:prstGeom>
        </p:spPr>
      </p:pic>
      <p:sp>
        <p:nvSpPr>
          <p:cNvPr id="64" name="文本框 63"/>
          <p:cNvSpPr txBox="1"/>
          <p:nvPr/>
        </p:nvSpPr>
        <p:spPr>
          <a:xfrm>
            <a:off x="6204445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PC6</a:t>
            </a:r>
            <a:endParaRPr lang="zh-CN" altLang="en-US" b="1" dirty="0"/>
          </a:p>
        </p:txBody>
      </p:sp>
      <p:pic>
        <p:nvPicPr>
          <p:cNvPr id="65" name="20 64" descr="图标&#10;&#10;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699" y="3667774"/>
            <a:ext cx="646944" cy="332541"/>
          </a:xfrm>
          <a:prstGeom prst="rect">
            <a:avLst/>
          </a:prstGeom>
        </p:spPr>
      </p:pic>
      <p:sp>
        <p:nvSpPr>
          <p:cNvPr id="66" name="文本框 65"/>
          <p:cNvSpPr txBox="1"/>
          <p:nvPr/>
        </p:nvSpPr>
        <p:spPr>
          <a:xfrm>
            <a:off x="9390051" y="3630983"/>
            <a:ext cx="1965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2960-24TT  Switch1</a:t>
            </a:r>
            <a:endParaRPr lang="zh-CN" altLang="en-US" b="1" dirty="0"/>
          </a:p>
        </p:txBody>
      </p:sp>
      <p:pic>
        <p:nvPicPr>
          <p:cNvPr id="68" name="20 67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3369" y="5242879"/>
            <a:ext cx="539132" cy="457973"/>
          </a:xfrm>
          <a:prstGeom prst="rect">
            <a:avLst/>
          </a:prstGeom>
        </p:spPr>
      </p:pic>
      <p:pic>
        <p:nvPicPr>
          <p:cNvPr id="69" name="20 68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189" y="1967237"/>
            <a:ext cx="539132" cy="457973"/>
          </a:xfrm>
          <a:prstGeom prst="rect">
            <a:avLst/>
          </a:prstGeom>
        </p:spPr>
      </p:pic>
      <p:pic>
        <p:nvPicPr>
          <p:cNvPr id="70" name="20 69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3369" y="1967237"/>
            <a:ext cx="539132" cy="457973"/>
          </a:xfrm>
          <a:prstGeom prst="rect">
            <a:avLst/>
          </a:prstGeom>
        </p:spPr>
      </p:pic>
      <p:sp>
        <p:nvSpPr>
          <p:cNvPr id="71" name="文本框 70"/>
          <p:cNvSpPr txBox="1"/>
          <p:nvPr/>
        </p:nvSpPr>
        <p:spPr>
          <a:xfrm>
            <a:off x="6204445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PC2</a:t>
            </a:r>
            <a:endParaRPr lang="zh-CN" altLang="en-US" b="1" dirty="0"/>
          </a:p>
        </p:txBody>
      </p:sp>
      <p:sp>
        <p:nvSpPr>
          <p:cNvPr id="73" name="文本框 72"/>
          <p:cNvSpPr txBox="1"/>
          <p:nvPr/>
        </p:nvSpPr>
        <p:spPr>
          <a:xfrm>
            <a:off x="11084625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PC3</a:t>
            </a:r>
            <a:endParaRPr lang="zh-CN" altLang="en-US" b="1" dirty="0"/>
          </a:p>
        </p:txBody>
      </p:sp>
      <p:sp>
        <p:nvSpPr>
          <p:cNvPr id="76" name="文本框 75"/>
          <p:cNvSpPr txBox="1"/>
          <p:nvPr/>
        </p:nvSpPr>
        <p:spPr>
          <a:xfrm>
            <a:off x="11036593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PC7</a:t>
            </a:r>
            <a:endParaRPr lang="zh-CN" altLang="en-US" b="1" dirty="0"/>
          </a:p>
        </p:txBody>
      </p:sp>
      <p:sp>
        <p:nvSpPr>
          <p:cNvPr id="51" name="等腰三角形 50"/>
          <p:cNvSpPr/>
          <p:nvPr/>
        </p:nvSpPr>
        <p:spPr>
          <a:xfrm>
            <a:off x="2509381" y="3309403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等腰三角形 51"/>
          <p:cNvSpPr/>
          <p:nvPr/>
        </p:nvSpPr>
        <p:spPr>
          <a:xfrm>
            <a:off x="2509381" y="41193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等腰三角形 52"/>
          <p:cNvSpPr/>
          <p:nvPr/>
        </p:nvSpPr>
        <p:spPr>
          <a:xfrm>
            <a:off x="3776559" y="329433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等腰三角形 53"/>
          <p:cNvSpPr/>
          <p:nvPr/>
        </p:nvSpPr>
        <p:spPr>
          <a:xfrm>
            <a:off x="3776558" y="417750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等腰三角形 54"/>
          <p:cNvSpPr/>
          <p:nvPr/>
        </p:nvSpPr>
        <p:spPr>
          <a:xfrm>
            <a:off x="8324469" y="328257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等腰三角形 55"/>
          <p:cNvSpPr/>
          <p:nvPr/>
        </p:nvSpPr>
        <p:spPr>
          <a:xfrm>
            <a:off x="9712901" y="328107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等腰三角形 56"/>
          <p:cNvSpPr/>
          <p:nvPr/>
        </p:nvSpPr>
        <p:spPr>
          <a:xfrm>
            <a:off x="8322853" y="419586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等腰三角形 57"/>
          <p:cNvSpPr/>
          <p:nvPr/>
        </p:nvSpPr>
        <p:spPr>
          <a:xfrm>
            <a:off x="9728117" y="419586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等腰三角形 58"/>
          <p:cNvSpPr/>
          <p:nvPr/>
        </p:nvSpPr>
        <p:spPr>
          <a:xfrm>
            <a:off x="4059017" y="376304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等腰三角形 59"/>
          <p:cNvSpPr/>
          <p:nvPr/>
        </p:nvSpPr>
        <p:spPr>
          <a:xfrm>
            <a:off x="8080650" y="376304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/>
        </p:nvSpPr>
        <p:spPr>
          <a:xfrm>
            <a:off x="8299448" y="301645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Fa0/1</a:t>
            </a:r>
            <a:endParaRPr lang="zh-CN" altLang="en-US" b="1" dirty="0"/>
          </a:p>
        </p:txBody>
      </p:sp>
      <p:sp>
        <p:nvSpPr>
          <p:cNvPr id="48" name="文本框 47"/>
          <p:cNvSpPr txBox="1"/>
          <p:nvPr/>
        </p:nvSpPr>
        <p:spPr>
          <a:xfrm>
            <a:off x="9050192" y="301645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Fa0/2</a:t>
            </a:r>
            <a:endParaRPr lang="zh-CN" altLang="en-US" b="1" dirty="0"/>
          </a:p>
        </p:txBody>
      </p:sp>
      <p:sp>
        <p:nvSpPr>
          <p:cNvPr id="49" name="文本框 48"/>
          <p:cNvSpPr txBox="1"/>
          <p:nvPr/>
        </p:nvSpPr>
        <p:spPr>
          <a:xfrm>
            <a:off x="8299448" y="4172213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Fa0/3</a:t>
            </a:r>
            <a:endParaRPr lang="zh-CN" altLang="en-US" b="1" dirty="0"/>
          </a:p>
        </p:txBody>
      </p:sp>
      <p:sp>
        <p:nvSpPr>
          <p:cNvPr id="50" name="文本框 49"/>
          <p:cNvSpPr txBox="1"/>
          <p:nvPr/>
        </p:nvSpPr>
        <p:spPr>
          <a:xfrm>
            <a:off x="9035504" y="4172213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Fa0/4</a:t>
            </a:r>
            <a:endParaRPr lang="zh-CN" altLang="en-US" b="1" dirty="0"/>
          </a:p>
        </p:txBody>
      </p:sp>
      <p:sp>
        <p:nvSpPr>
          <p:cNvPr id="61" name="文本框 60"/>
          <p:cNvSpPr txBox="1"/>
          <p:nvPr/>
        </p:nvSpPr>
        <p:spPr>
          <a:xfrm>
            <a:off x="2399803" y="301645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Fa0/1</a:t>
            </a:r>
            <a:endParaRPr lang="zh-CN" altLang="en-US" b="1" dirty="0"/>
          </a:p>
        </p:txBody>
      </p:sp>
      <p:sp>
        <p:nvSpPr>
          <p:cNvPr id="62" name="文本框 61"/>
          <p:cNvSpPr txBox="1"/>
          <p:nvPr/>
        </p:nvSpPr>
        <p:spPr>
          <a:xfrm>
            <a:off x="3150547" y="301645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Fa0/2</a:t>
            </a:r>
            <a:endParaRPr lang="zh-CN" altLang="en-US" b="1" dirty="0"/>
          </a:p>
        </p:txBody>
      </p:sp>
      <p:sp>
        <p:nvSpPr>
          <p:cNvPr id="67" name="文本框 66"/>
          <p:cNvSpPr txBox="1"/>
          <p:nvPr/>
        </p:nvSpPr>
        <p:spPr>
          <a:xfrm>
            <a:off x="2399803" y="4172213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Fa0/3</a:t>
            </a:r>
            <a:endParaRPr lang="zh-CN" altLang="en-US" b="1" dirty="0"/>
          </a:p>
        </p:txBody>
      </p:sp>
      <p:sp>
        <p:nvSpPr>
          <p:cNvPr id="72" name="文本框 71"/>
          <p:cNvSpPr txBox="1"/>
          <p:nvPr/>
        </p:nvSpPr>
        <p:spPr>
          <a:xfrm>
            <a:off x="3135859" y="4172213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Fa0/4</a:t>
            </a:r>
            <a:endParaRPr lang="zh-CN" altLang="en-US" b="1" dirty="0"/>
          </a:p>
        </p:txBody>
      </p:sp>
      <p:sp>
        <p:nvSpPr>
          <p:cNvPr id="74" name="文本框 73"/>
          <p:cNvSpPr txBox="1"/>
          <p:nvPr/>
        </p:nvSpPr>
        <p:spPr>
          <a:xfrm>
            <a:off x="3429825" y="351339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Fa0/5</a:t>
            </a:r>
            <a:endParaRPr lang="zh-CN" altLang="en-US" b="1" dirty="0"/>
          </a:p>
        </p:txBody>
      </p:sp>
      <p:sp>
        <p:nvSpPr>
          <p:cNvPr id="75" name="文本框 74"/>
          <p:cNvSpPr txBox="1"/>
          <p:nvPr/>
        </p:nvSpPr>
        <p:spPr>
          <a:xfrm>
            <a:off x="8001195" y="351339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Fa0/5</a:t>
            </a:r>
            <a:endParaRPr lang="zh-CN" altLang="en-US" b="1" dirty="0"/>
          </a:p>
        </p:txBody>
      </p:sp>
      <p:sp>
        <p:nvSpPr>
          <p:cNvPr id="37" name="矩形 36"/>
          <p:cNvSpPr/>
          <p:nvPr/>
        </p:nvSpPr>
        <p:spPr>
          <a:xfrm>
            <a:off x="316202" y="2974393"/>
            <a:ext cx="2651676" cy="177010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sz="1800" b="1" dirty="0">
                <a:solidFill>
                  <a:schemeClr val="bg1"/>
                </a:solidFill>
              </a:rPr>
              <a:t>         在计算机</a:t>
            </a:r>
            <a:r>
              <a:rPr lang="en-US" altLang="zh-CN" sz="1800" b="1" dirty="0">
                <a:solidFill>
                  <a:schemeClr val="bg1"/>
                </a:solidFill>
              </a:rPr>
              <a:t>PC0</a:t>
            </a:r>
            <a:r>
              <a:rPr lang="zh-CN" altLang="en-US" sz="1800" b="1" dirty="0">
                <a:solidFill>
                  <a:schemeClr val="bg1"/>
                </a:solidFill>
              </a:rPr>
              <a:t>的命令行使用“</a:t>
            </a:r>
            <a:r>
              <a:rPr lang="en-US" altLang="zh-CN" sz="1800" b="1" dirty="0">
                <a:solidFill>
                  <a:schemeClr val="bg1"/>
                </a:solidFill>
              </a:rPr>
              <a:t>ping</a:t>
            </a:r>
            <a:r>
              <a:rPr lang="zh-CN" altLang="en-US" sz="1800" b="1" dirty="0">
                <a:solidFill>
                  <a:schemeClr val="bg1"/>
                </a:solidFill>
              </a:rPr>
              <a:t>”命令，分别测试</a:t>
            </a:r>
            <a:r>
              <a:rPr lang="en-US" altLang="zh-CN" sz="1800" b="1" dirty="0">
                <a:solidFill>
                  <a:schemeClr val="bg1"/>
                </a:solidFill>
              </a:rPr>
              <a:t>PC0</a:t>
            </a:r>
            <a:r>
              <a:rPr lang="zh-CN" altLang="en-US" sz="1800" b="1" dirty="0">
                <a:solidFill>
                  <a:schemeClr val="bg1"/>
                </a:solidFill>
              </a:rPr>
              <a:t>与</a:t>
            </a:r>
            <a:r>
              <a:rPr lang="zh-CN" altLang="en-US" b="1" dirty="0">
                <a:solidFill>
                  <a:schemeClr val="bg1"/>
                </a:solidFill>
              </a:rPr>
              <a:t>其他各</a:t>
            </a:r>
            <a:r>
              <a:rPr lang="en-US" altLang="zh-CN" b="1" dirty="0">
                <a:solidFill>
                  <a:schemeClr val="bg1"/>
                </a:solidFill>
              </a:rPr>
              <a:t>PC</a:t>
            </a:r>
            <a:r>
              <a:rPr lang="zh-CN" altLang="en-US" sz="1800" b="1" dirty="0">
                <a:solidFill>
                  <a:schemeClr val="bg1"/>
                </a:solidFill>
              </a:rPr>
              <a:t>之间的连通性。</a:t>
            </a:r>
            <a:endParaRPr lang="zh-CN" altLang="en-US" dirty="0">
              <a:solidFill>
                <a:schemeClr val="bg1"/>
              </a:solidFill>
            </a:endParaRPr>
          </a:p>
        </p:txBody>
      </p:sp>
      <p:cxnSp>
        <p:nvCxnSpPr>
          <p:cNvPr id="42" name="连接符: 曲线 41"/>
          <p:cNvCxnSpPr>
            <a:stCxn id="6" idx="0"/>
            <a:endCxn id="7" idx="0"/>
          </p:cNvCxnSpPr>
          <p:nvPr/>
        </p:nvCxnSpPr>
        <p:spPr>
          <a:xfrm rot="5400000" flipH="1" flipV="1">
            <a:off x="3153200" y="-472853"/>
            <a:ext cx="12700" cy="4880180"/>
          </a:xfrm>
          <a:prstGeom prst="curvedConnector3">
            <a:avLst>
              <a:gd name="adj1" fmla="val 2280000"/>
            </a:avLst>
          </a:prstGeom>
          <a:ln w="25400">
            <a:solidFill>
              <a:schemeClr val="accent4"/>
            </a:solidFill>
            <a:prstDash val="dash"/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连接符: 曲线 76"/>
          <p:cNvCxnSpPr>
            <a:stCxn id="6" idx="0"/>
            <a:endCxn id="69" idx="0"/>
          </p:cNvCxnSpPr>
          <p:nvPr/>
        </p:nvCxnSpPr>
        <p:spPr>
          <a:xfrm rot="5400000" flipH="1" flipV="1">
            <a:off x="3662932" y="-982585"/>
            <a:ext cx="12700" cy="5899645"/>
          </a:xfrm>
          <a:prstGeom prst="curvedConnector3">
            <a:avLst>
              <a:gd name="adj1" fmla="val 3453331"/>
            </a:avLst>
          </a:prstGeom>
          <a:ln w="25400">
            <a:solidFill>
              <a:schemeClr val="accent4"/>
            </a:solidFill>
            <a:prstDash val="dash"/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连接符: 曲线 80"/>
          <p:cNvCxnSpPr>
            <a:stCxn id="6" idx="0"/>
            <a:endCxn id="70" idx="0"/>
          </p:cNvCxnSpPr>
          <p:nvPr/>
        </p:nvCxnSpPr>
        <p:spPr>
          <a:xfrm rot="5400000" flipH="1" flipV="1">
            <a:off x="6103022" y="-3422675"/>
            <a:ext cx="12700" cy="10779825"/>
          </a:xfrm>
          <a:prstGeom prst="curvedConnector3">
            <a:avLst>
              <a:gd name="adj1" fmla="val 4626669"/>
            </a:avLst>
          </a:prstGeom>
          <a:ln w="25400">
            <a:solidFill>
              <a:schemeClr val="accent4"/>
            </a:solidFill>
            <a:prstDash val="dash"/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连接符: 曲线 84"/>
          <p:cNvCxnSpPr>
            <a:stCxn id="6" idx="1"/>
            <a:endCxn id="9" idx="1"/>
          </p:cNvCxnSpPr>
          <p:nvPr/>
        </p:nvCxnSpPr>
        <p:spPr>
          <a:xfrm rot="10800000" flipV="1">
            <a:off x="443544" y="2196224"/>
            <a:ext cx="12700" cy="3275642"/>
          </a:xfrm>
          <a:prstGeom prst="curvedConnector3">
            <a:avLst>
              <a:gd name="adj1" fmla="val 2120000"/>
            </a:avLst>
          </a:prstGeom>
          <a:ln w="25400">
            <a:solidFill>
              <a:schemeClr val="accent4"/>
            </a:solidFill>
            <a:prstDash val="dash"/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连接符: 曲线 90"/>
          <p:cNvCxnSpPr>
            <a:stCxn id="6" idx="3"/>
            <a:endCxn id="5" idx="0"/>
          </p:cNvCxnSpPr>
          <p:nvPr/>
        </p:nvCxnSpPr>
        <p:spPr>
          <a:xfrm>
            <a:off x="982676" y="2196224"/>
            <a:ext cx="4610614" cy="3046655"/>
          </a:xfrm>
          <a:prstGeom prst="curvedConnector2">
            <a:avLst/>
          </a:prstGeom>
          <a:ln w="25400">
            <a:solidFill>
              <a:schemeClr val="accent4"/>
            </a:solidFill>
            <a:prstDash val="dash"/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连接符: 曲线 93"/>
          <p:cNvCxnSpPr>
            <a:stCxn id="6" idx="3"/>
            <a:endCxn id="63" idx="0"/>
          </p:cNvCxnSpPr>
          <p:nvPr/>
        </p:nvCxnSpPr>
        <p:spPr>
          <a:xfrm>
            <a:off x="982676" y="2196224"/>
            <a:ext cx="5630079" cy="3046655"/>
          </a:xfrm>
          <a:prstGeom prst="curvedConnector2">
            <a:avLst/>
          </a:prstGeom>
          <a:ln w="25400">
            <a:solidFill>
              <a:schemeClr val="accent4"/>
            </a:solidFill>
            <a:prstDash val="dash"/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连接符: 曲线 96"/>
          <p:cNvCxnSpPr>
            <a:stCxn id="6" idx="3"/>
            <a:endCxn id="68" idx="0"/>
          </p:cNvCxnSpPr>
          <p:nvPr/>
        </p:nvCxnSpPr>
        <p:spPr>
          <a:xfrm>
            <a:off x="982676" y="2196224"/>
            <a:ext cx="10510259" cy="3046655"/>
          </a:xfrm>
          <a:prstGeom prst="curvedConnector2">
            <a:avLst/>
          </a:prstGeom>
          <a:ln w="25400">
            <a:solidFill>
              <a:schemeClr val="accent4"/>
            </a:solidFill>
            <a:prstDash val="dash"/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682247" y="685800"/>
            <a:ext cx="2836206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6.  </a:t>
            </a:r>
            <a:r>
              <a:rPr lang="zh-CN" altLang="en-US" sz="2400" b="1" dirty="0"/>
              <a:t>网络连通性测试</a:t>
            </a:r>
            <a:endParaRPr lang="en-US" altLang="zh-CN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37" name="20 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9654" y="1352282"/>
            <a:ext cx="4208833" cy="5064032"/>
          </a:xfrm>
          <a:prstGeom prst="rect">
            <a:avLst/>
          </a:prstGeom>
        </p:spPr>
      </p:pic>
      <p:grpSp>
        <p:nvGrpSpPr>
          <p:cNvPr id="41" name="组合 40"/>
          <p:cNvGrpSpPr/>
          <p:nvPr/>
        </p:nvGrpSpPr>
        <p:grpSpPr>
          <a:xfrm>
            <a:off x="376139" y="1819269"/>
            <a:ext cx="4286655" cy="2077172"/>
            <a:chOff x="486383" y="1963049"/>
            <a:chExt cx="4286655" cy="2077172"/>
          </a:xfrm>
        </p:grpSpPr>
        <p:sp>
          <p:nvSpPr>
            <p:cNvPr id="42" name="矩形 41"/>
            <p:cNvSpPr/>
            <p:nvPr/>
          </p:nvSpPr>
          <p:spPr>
            <a:xfrm>
              <a:off x="486383" y="2042811"/>
              <a:ext cx="4208833" cy="1997410"/>
            </a:xfrm>
            <a:prstGeom prst="rect">
              <a:avLst/>
            </a:prstGeom>
            <a:noFill/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1992919" y="1963049"/>
              <a:ext cx="2780119" cy="4174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测试</a:t>
              </a:r>
              <a:r>
                <a:rPr lang="en-US" altLang="zh-CN" sz="1600" b="1" dirty="0">
                  <a:solidFill>
                    <a:schemeClr val="accent1">
                      <a:lumMod val="75000"/>
                    </a:schemeClr>
                  </a:solidFill>
                </a:rPr>
                <a:t>PC0</a:t>
              </a:r>
              <a:r>
                <a:rPr lang="zh-CN" alt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与</a:t>
              </a:r>
              <a:r>
                <a:rPr lang="en-US" altLang="zh-CN" sz="1600" b="1" dirty="0">
                  <a:solidFill>
                    <a:schemeClr val="accent1">
                      <a:lumMod val="75000"/>
                    </a:schemeClr>
                  </a:solidFill>
                </a:rPr>
                <a:t>PC1</a:t>
              </a:r>
              <a:r>
                <a:rPr lang="zh-CN" alt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之间的连通性</a:t>
              </a:r>
              <a:endParaRPr lang="zh-CN" altLang="en-US" sz="16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77" name="组合 76"/>
          <p:cNvGrpSpPr/>
          <p:nvPr/>
        </p:nvGrpSpPr>
        <p:grpSpPr>
          <a:xfrm>
            <a:off x="376138" y="3845388"/>
            <a:ext cx="4273684" cy="2101309"/>
            <a:chOff x="486383" y="3988202"/>
            <a:chExt cx="4273684" cy="2101309"/>
          </a:xfrm>
        </p:grpSpPr>
        <p:sp>
          <p:nvSpPr>
            <p:cNvPr id="78" name="矩形 77"/>
            <p:cNvSpPr/>
            <p:nvPr/>
          </p:nvSpPr>
          <p:spPr>
            <a:xfrm>
              <a:off x="486383" y="4092101"/>
              <a:ext cx="4208833" cy="1997410"/>
            </a:xfrm>
            <a:prstGeom prst="rect">
              <a:avLst/>
            </a:prstGeom>
            <a:noFill/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文本框 78"/>
            <p:cNvSpPr txBox="1"/>
            <p:nvPr/>
          </p:nvSpPr>
          <p:spPr>
            <a:xfrm>
              <a:off x="1979948" y="3988202"/>
              <a:ext cx="2780119" cy="4174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测试</a:t>
              </a:r>
              <a:r>
                <a:rPr lang="en-US" altLang="zh-CN" sz="1600" b="1" dirty="0">
                  <a:solidFill>
                    <a:schemeClr val="accent1">
                      <a:lumMod val="75000"/>
                    </a:schemeClr>
                  </a:solidFill>
                </a:rPr>
                <a:t>PC0</a:t>
              </a:r>
              <a:r>
                <a:rPr lang="zh-CN" alt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与</a:t>
              </a:r>
              <a:r>
                <a:rPr lang="en-US" altLang="zh-CN" sz="1600" b="1" dirty="0">
                  <a:solidFill>
                    <a:schemeClr val="accent1">
                      <a:lumMod val="75000"/>
                    </a:schemeClr>
                  </a:solidFill>
                </a:rPr>
                <a:t>PC2</a:t>
              </a:r>
              <a:r>
                <a:rPr lang="zh-CN" alt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之间的连通性</a:t>
              </a:r>
              <a:endParaRPr lang="zh-CN" altLang="en-US" sz="16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80" name="矩形 79"/>
          <p:cNvSpPr/>
          <p:nvPr/>
        </p:nvSpPr>
        <p:spPr>
          <a:xfrm>
            <a:off x="6096001" y="2812776"/>
            <a:ext cx="5428034" cy="19472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         如果测试失败，请检查网络拓扑、</a:t>
            </a:r>
            <a:r>
              <a:rPr lang="en-US" altLang="zh-CN" sz="2400" b="1" dirty="0">
                <a:solidFill>
                  <a:schemeClr val="bg1"/>
                </a:solidFill>
              </a:rPr>
              <a:t>IP</a:t>
            </a:r>
            <a:r>
              <a:rPr lang="zh-CN" altLang="en-US" sz="2400" b="1" dirty="0">
                <a:solidFill>
                  <a:schemeClr val="bg1"/>
                </a:solidFill>
              </a:rPr>
              <a:t>地址和子网掩码配置、交换机相关接口状态是否正确</a:t>
            </a:r>
            <a:r>
              <a:rPr lang="en-US" altLang="zh-CN" sz="2400" b="1" dirty="0">
                <a:solidFill>
                  <a:schemeClr val="bg1"/>
                </a:solidFill>
              </a:rPr>
              <a:t>!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800" decel="100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800" decel="100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800" decel="100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800" decel="100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022059" y="685800"/>
            <a:ext cx="6158565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7.  </a:t>
            </a:r>
            <a:r>
              <a:rPr lang="zh-CN" altLang="en-US" sz="2400" b="1" dirty="0"/>
              <a:t>查看交换机的接口（端口）状态汇总表</a:t>
            </a:r>
            <a:endParaRPr lang="en-US" altLang="zh-CN" sz="24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985104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192.168.0.5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1012771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192.168.0.1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4" name="文本框 13"/>
          <p:cNvSpPr txBox="1"/>
          <p:nvPr/>
        </p:nvSpPr>
        <p:spPr>
          <a:xfrm>
            <a:off x="3670211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192.168.0.2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8" name="文本框 17"/>
          <p:cNvSpPr txBox="1"/>
          <p:nvPr/>
        </p:nvSpPr>
        <p:spPr>
          <a:xfrm>
            <a:off x="4014643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192.168.0.6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9" name="文本框 18"/>
          <p:cNvSpPr txBox="1"/>
          <p:nvPr/>
        </p:nvSpPr>
        <p:spPr>
          <a:xfrm>
            <a:off x="6884749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192.168.0.7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22" name="文本框 21"/>
          <p:cNvSpPr txBox="1"/>
          <p:nvPr/>
        </p:nvSpPr>
        <p:spPr>
          <a:xfrm>
            <a:off x="6912416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192.168.0.3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23" name="文本框 22"/>
          <p:cNvSpPr txBox="1"/>
          <p:nvPr/>
        </p:nvSpPr>
        <p:spPr>
          <a:xfrm>
            <a:off x="9569856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192.168.0.4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26" name="文本框 25"/>
          <p:cNvSpPr txBox="1"/>
          <p:nvPr/>
        </p:nvSpPr>
        <p:spPr>
          <a:xfrm>
            <a:off x="9914288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192.168.0.8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cxnSp>
        <p:nvCxnSpPr>
          <p:cNvPr id="8" name="直接连接符 7"/>
          <p:cNvCxnSpPr/>
          <p:nvPr/>
        </p:nvCxnSpPr>
        <p:spPr>
          <a:xfrm>
            <a:off x="713110" y="2162267"/>
            <a:ext cx="2341759" cy="15474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等腰三角形 9"/>
          <p:cNvSpPr/>
          <p:nvPr/>
        </p:nvSpPr>
        <p:spPr>
          <a:xfrm>
            <a:off x="1190792" y="246301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 flipV="1">
            <a:off x="713110" y="3902316"/>
            <a:ext cx="2283201" cy="15150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等腰三角形 16"/>
          <p:cNvSpPr/>
          <p:nvPr/>
        </p:nvSpPr>
        <p:spPr>
          <a:xfrm>
            <a:off x="1190792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连接符 19"/>
          <p:cNvCxnSpPr/>
          <p:nvPr/>
        </p:nvCxnSpPr>
        <p:spPr>
          <a:xfrm flipV="1">
            <a:off x="3370466" y="2108892"/>
            <a:ext cx="2109833" cy="160085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等腰三角形 20"/>
          <p:cNvSpPr/>
          <p:nvPr/>
        </p:nvSpPr>
        <p:spPr>
          <a:xfrm>
            <a:off x="4942426" y="24111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连接符 23"/>
          <p:cNvCxnSpPr/>
          <p:nvPr/>
        </p:nvCxnSpPr>
        <p:spPr>
          <a:xfrm>
            <a:off x="3300727" y="3859446"/>
            <a:ext cx="2292563" cy="161241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等腰三角形 24"/>
          <p:cNvSpPr/>
          <p:nvPr/>
        </p:nvSpPr>
        <p:spPr>
          <a:xfrm>
            <a:off x="4942426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" name="直接连接符 27"/>
          <p:cNvCxnSpPr/>
          <p:nvPr/>
        </p:nvCxnSpPr>
        <p:spPr>
          <a:xfrm>
            <a:off x="6612755" y="2162267"/>
            <a:ext cx="2341759" cy="15474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等腰三角形 28"/>
          <p:cNvSpPr/>
          <p:nvPr/>
        </p:nvSpPr>
        <p:spPr>
          <a:xfrm>
            <a:off x="7090437" y="246301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" name="直接连接符 31"/>
          <p:cNvCxnSpPr/>
          <p:nvPr/>
        </p:nvCxnSpPr>
        <p:spPr>
          <a:xfrm flipV="1">
            <a:off x="6612755" y="3902316"/>
            <a:ext cx="2283201" cy="15150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等腰三角形 32"/>
          <p:cNvSpPr/>
          <p:nvPr/>
        </p:nvSpPr>
        <p:spPr>
          <a:xfrm>
            <a:off x="7090437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8" name="直接连接符 37"/>
          <p:cNvCxnSpPr/>
          <p:nvPr/>
        </p:nvCxnSpPr>
        <p:spPr>
          <a:xfrm flipV="1">
            <a:off x="9270111" y="2108892"/>
            <a:ext cx="2109833" cy="160085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等腰三角形 39"/>
          <p:cNvSpPr/>
          <p:nvPr/>
        </p:nvSpPr>
        <p:spPr>
          <a:xfrm>
            <a:off x="10842071" y="24111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3" name="直接连接符 42"/>
          <p:cNvCxnSpPr/>
          <p:nvPr/>
        </p:nvCxnSpPr>
        <p:spPr>
          <a:xfrm>
            <a:off x="9200372" y="3859446"/>
            <a:ext cx="2292563" cy="161241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等腰三角形 43"/>
          <p:cNvSpPr/>
          <p:nvPr/>
        </p:nvSpPr>
        <p:spPr>
          <a:xfrm>
            <a:off x="10842071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" name="直接连接符 46"/>
          <p:cNvCxnSpPr/>
          <p:nvPr/>
        </p:nvCxnSpPr>
        <p:spPr>
          <a:xfrm>
            <a:off x="3497998" y="3826236"/>
            <a:ext cx="5333835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9" name="20 8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544" y="5242879"/>
            <a:ext cx="539132" cy="457973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04800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PC4</a:t>
            </a:r>
            <a:endParaRPr lang="zh-CN" altLang="en-US" b="1" dirty="0"/>
          </a:p>
        </p:txBody>
      </p:sp>
      <p:pic>
        <p:nvPicPr>
          <p:cNvPr id="12" name="20 11" descr="图标&#10;&#10;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1054" y="3667774"/>
            <a:ext cx="646944" cy="332541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799091" y="3630983"/>
            <a:ext cx="1965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2960-24TT  Switch0</a:t>
            </a:r>
            <a:endParaRPr lang="zh-CN" altLang="en-US" b="1" dirty="0"/>
          </a:p>
        </p:txBody>
      </p:sp>
      <p:pic>
        <p:nvPicPr>
          <p:cNvPr id="5" name="20 4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724" y="5242879"/>
            <a:ext cx="539132" cy="457973"/>
          </a:xfrm>
          <a:prstGeom prst="rect">
            <a:avLst/>
          </a:prstGeom>
        </p:spPr>
      </p:pic>
      <p:pic>
        <p:nvPicPr>
          <p:cNvPr id="6" name="20 5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544" y="1967237"/>
            <a:ext cx="539132" cy="457973"/>
          </a:xfrm>
          <a:prstGeom prst="rect">
            <a:avLst/>
          </a:prstGeom>
        </p:spPr>
      </p:pic>
      <p:pic>
        <p:nvPicPr>
          <p:cNvPr id="7" name="20 6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724" y="1967237"/>
            <a:ext cx="539132" cy="457973"/>
          </a:xfrm>
          <a:prstGeom prst="rect">
            <a:avLst/>
          </a:prstGeom>
        </p:spPr>
      </p:pic>
      <p:sp>
        <p:nvSpPr>
          <p:cNvPr id="34" name="文本框 33"/>
          <p:cNvSpPr txBox="1"/>
          <p:nvPr/>
        </p:nvSpPr>
        <p:spPr>
          <a:xfrm>
            <a:off x="304800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sp>
        <p:nvSpPr>
          <p:cNvPr id="36" name="文本框 35"/>
          <p:cNvSpPr txBox="1"/>
          <p:nvPr/>
        </p:nvSpPr>
        <p:spPr>
          <a:xfrm>
            <a:off x="5184980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PC1</a:t>
            </a:r>
            <a:endParaRPr lang="zh-CN" altLang="en-US" b="1" dirty="0"/>
          </a:p>
        </p:txBody>
      </p:sp>
      <p:sp>
        <p:nvSpPr>
          <p:cNvPr id="39" name="文本框 38"/>
          <p:cNvSpPr txBox="1"/>
          <p:nvPr/>
        </p:nvSpPr>
        <p:spPr>
          <a:xfrm>
            <a:off x="5136948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PC5</a:t>
            </a:r>
            <a:endParaRPr lang="zh-CN" altLang="en-US" b="1" dirty="0"/>
          </a:p>
        </p:txBody>
      </p:sp>
      <p:pic>
        <p:nvPicPr>
          <p:cNvPr id="63" name="20 62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189" y="5242879"/>
            <a:ext cx="539132" cy="457973"/>
          </a:xfrm>
          <a:prstGeom prst="rect">
            <a:avLst/>
          </a:prstGeom>
        </p:spPr>
      </p:pic>
      <p:sp>
        <p:nvSpPr>
          <p:cNvPr id="64" name="文本框 63"/>
          <p:cNvSpPr txBox="1"/>
          <p:nvPr/>
        </p:nvSpPr>
        <p:spPr>
          <a:xfrm>
            <a:off x="6204445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PC6</a:t>
            </a:r>
            <a:endParaRPr lang="zh-CN" altLang="en-US" b="1" dirty="0"/>
          </a:p>
        </p:txBody>
      </p:sp>
      <p:pic>
        <p:nvPicPr>
          <p:cNvPr id="65" name="20 64" descr="图标&#10;&#10;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699" y="3667774"/>
            <a:ext cx="646944" cy="332541"/>
          </a:xfrm>
          <a:prstGeom prst="rect">
            <a:avLst/>
          </a:prstGeom>
        </p:spPr>
      </p:pic>
      <p:sp>
        <p:nvSpPr>
          <p:cNvPr id="66" name="文本框 65"/>
          <p:cNvSpPr txBox="1"/>
          <p:nvPr/>
        </p:nvSpPr>
        <p:spPr>
          <a:xfrm>
            <a:off x="9390051" y="3630983"/>
            <a:ext cx="1965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2960-24TT  Switch1</a:t>
            </a:r>
            <a:endParaRPr lang="zh-CN" altLang="en-US" b="1" dirty="0"/>
          </a:p>
        </p:txBody>
      </p:sp>
      <p:pic>
        <p:nvPicPr>
          <p:cNvPr id="68" name="20 67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3369" y="5242879"/>
            <a:ext cx="539132" cy="457973"/>
          </a:xfrm>
          <a:prstGeom prst="rect">
            <a:avLst/>
          </a:prstGeom>
        </p:spPr>
      </p:pic>
      <p:pic>
        <p:nvPicPr>
          <p:cNvPr id="69" name="20 68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189" y="1967237"/>
            <a:ext cx="539132" cy="457973"/>
          </a:xfrm>
          <a:prstGeom prst="rect">
            <a:avLst/>
          </a:prstGeom>
        </p:spPr>
      </p:pic>
      <p:pic>
        <p:nvPicPr>
          <p:cNvPr id="70" name="20 69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3369" y="1967237"/>
            <a:ext cx="539132" cy="457973"/>
          </a:xfrm>
          <a:prstGeom prst="rect">
            <a:avLst/>
          </a:prstGeom>
        </p:spPr>
      </p:pic>
      <p:sp>
        <p:nvSpPr>
          <p:cNvPr id="71" name="文本框 70"/>
          <p:cNvSpPr txBox="1"/>
          <p:nvPr/>
        </p:nvSpPr>
        <p:spPr>
          <a:xfrm>
            <a:off x="6204445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PC2</a:t>
            </a:r>
            <a:endParaRPr lang="zh-CN" altLang="en-US" b="1" dirty="0"/>
          </a:p>
        </p:txBody>
      </p:sp>
      <p:sp>
        <p:nvSpPr>
          <p:cNvPr id="73" name="文本框 72"/>
          <p:cNvSpPr txBox="1"/>
          <p:nvPr/>
        </p:nvSpPr>
        <p:spPr>
          <a:xfrm>
            <a:off x="11084625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PC3</a:t>
            </a:r>
            <a:endParaRPr lang="zh-CN" altLang="en-US" b="1" dirty="0"/>
          </a:p>
        </p:txBody>
      </p:sp>
      <p:sp>
        <p:nvSpPr>
          <p:cNvPr id="76" name="文本框 75"/>
          <p:cNvSpPr txBox="1"/>
          <p:nvPr/>
        </p:nvSpPr>
        <p:spPr>
          <a:xfrm>
            <a:off x="11036593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PC7</a:t>
            </a:r>
            <a:endParaRPr lang="zh-CN" altLang="en-US" b="1" dirty="0"/>
          </a:p>
        </p:txBody>
      </p:sp>
      <p:sp>
        <p:nvSpPr>
          <p:cNvPr id="51" name="等腰三角形 50"/>
          <p:cNvSpPr/>
          <p:nvPr/>
        </p:nvSpPr>
        <p:spPr>
          <a:xfrm>
            <a:off x="2509381" y="3309403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等腰三角形 51"/>
          <p:cNvSpPr/>
          <p:nvPr/>
        </p:nvSpPr>
        <p:spPr>
          <a:xfrm>
            <a:off x="2509381" y="41193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等腰三角形 52"/>
          <p:cNvSpPr/>
          <p:nvPr/>
        </p:nvSpPr>
        <p:spPr>
          <a:xfrm>
            <a:off x="3776559" y="329433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等腰三角形 53"/>
          <p:cNvSpPr/>
          <p:nvPr/>
        </p:nvSpPr>
        <p:spPr>
          <a:xfrm>
            <a:off x="3776558" y="417750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等腰三角形 54"/>
          <p:cNvSpPr/>
          <p:nvPr/>
        </p:nvSpPr>
        <p:spPr>
          <a:xfrm>
            <a:off x="8324469" y="328257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等腰三角形 55"/>
          <p:cNvSpPr/>
          <p:nvPr/>
        </p:nvSpPr>
        <p:spPr>
          <a:xfrm>
            <a:off x="9712901" y="328107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等腰三角形 56"/>
          <p:cNvSpPr/>
          <p:nvPr/>
        </p:nvSpPr>
        <p:spPr>
          <a:xfrm>
            <a:off x="8322853" y="419586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等腰三角形 57"/>
          <p:cNvSpPr/>
          <p:nvPr/>
        </p:nvSpPr>
        <p:spPr>
          <a:xfrm>
            <a:off x="9728117" y="419586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等腰三角形 58"/>
          <p:cNvSpPr/>
          <p:nvPr/>
        </p:nvSpPr>
        <p:spPr>
          <a:xfrm>
            <a:off x="4059017" y="376304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等腰三角形 59"/>
          <p:cNvSpPr/>
          <p:nvPr/>
        </p:nvSpPr>
        <p:spPr>
          <a:xfrm>
            <a:off x="8080650" y="376304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/>
        </p:nvSpPr>
        <p:spPr>
          <a:xfrm>
            <a:off x="8299448" y="301645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Fa0/1</a:t>
            </a:r>
            <a:endParaRPr lang="zh-CN" altLang="en-US" b="1" dirty="0"/>
          </a:p>
        </p:txBody>
      </p:sp>
      <p:sp>
        <p:nvSpPr>
          <p:cNvPr id="48" name="文本框 47"/>
          <p:cNvSpPr txBox="1"/>
          <p:nvPr/>
        </p:nvSpPr>
        <p:spPr>
          <a:xfrm>
            <a:off x="9050192" y="301645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Fa0/2</a:t>
            </a:r>
            <a:endParaRPr lang="zh-CN" altLang="en-US" b="1" dirty="0"/>
          </a:p>
        </p:txBody>
      </p:sp>
      <p:sp>
        <p:nvSpPr>
          <p:cNvPr id="49" name="文本框 48"/>
          <p:cNvSpPr txBox="1"/>
          <p:nvPr/>
        </p:nvSpPr>
        <p:spPr>
          <a:xfrm>
            <a:off x="8299448" y="4172213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Fa0/3</a:t>
            </a:r>
            <a:endParaRPr lang="zh-CN" altLang="en-US" b="1" dirty="0"/>
          </a:p>
        </p:txBody>
      </p:sp>
      <p:sp>
        <p:nvSpPr>
          <p:cNvPr id="50" name="文本框 49"/>
          <p:cNvSpPr txBox="1"/>
          <p:nvPr/>
        </p:nvSpPr>
        <p:spPr>
          <a:xfrm>
            <a:off x="9035504" y="4172213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Fa0/4</a:t>
            </a:r>
            <a:endParaRPr lang="zh-CN" altLang="en-US" b="1" dirty="0"/>
          </a:p>
        </p:txBody>
      </p:sp>
      <p:sp>
        <p:nvSpPr>
          <p:cNvPr id="61" name="文本框 60"/>
          <p:cNvSpPr txBox="1"/>
          <p:nvPr/>
        </p:nvSpPr>
        <p:spPr>
          <a:xfrm>
            <a:off x="2399803" y="301645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Fa0/1</a:t>
            </a:r>
            <a:endParaRPr lang="zh-CN" altLang="en-US" b="1" dirty="0"/>
          </a:p>
        </p:txBody>
      </p:sp>
      <p:sp>
        <p:nvSpPr>
          <p:cNvPr id="62" name="文本框 61"/>
          <p:cNvSpPr txBox="1"/>
          <p:nvPr/>
        </p:nvSpPr>
        <p:spPr>
          <a:xfrm>
            <a:off x="3150547" y="301645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Fa0/2</a:t>
            </a:r>
            <a:endParaRPr lang="zh-CN" altLang="en-US" b="1" dirty="0"/>
          </a:p>
        </p:txBody>
      </p:sp>
      <p:sp>
        <p:nvSpPr>
          <p:cNvPr id="67" name="文本框 66"/>
          <p:cNvSpPr txBox="1"/>
          <p:nvPr/>
        </p:nvSpPr>
        <p:spPr>
          <a:xfrm>
            <a:off x="2399803" y="4172213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Fa0/3</a:t>
            </a:r>
            <a:endParaRPr lang="zh-CN" altLang="en-US" b="1" dirty="0"/>
          </a:p>
        </p:txBody>
      </p:sp>
      <p:sp>
        <p:nvSpPr>
          <p:cNvPr id="72" name="文本框 71"/>
          <p:cNvSpPr txBox="1"/>
          <p:nvPr/>
        </p:nvSpPr>
        <p:spPr>
          <a:xfrm>
            <a:off x="3135859" y="4172213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Fa0/4</a:t>
            </a:r>
            <a:endParaRPr lang="zh-CN" altLang="en-US" b="1" dirty="0"/>
          </a:p>
        </p:txBody>
      </p:sp>
      <p:sp>
        <p:nvSpPr>
          <p:cNvPr id="74" name="文本框 73"/>
          <p:cNvSpPr txBox="1"/>
          <p:nvPr/>
        </p:nvSpPr>
        <p:spPr>
          <a:xfrm>
            <a:off x="3429825" y="351339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Fa0/5</a:t>
            </a:r>
            <a:endParaRPr lang="zh-CN" altLang="en-US" b="1" dirty="0"/>
          </a:p>
        </p:txBody>
      </p:sp>
      <p:sp>
        <p:nvSpPr>
          <p:cNvPr id="75" name="文本框 74"/>
          <p:cNvSpPr txBox="1"/>
          <p:nvPr/>
        </p:nvSpPr>
        <p:spPr>
          <a:xfrm>
            <a:off x="8001195" y="351339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Fa0/5</a:t>
            </a:r>
            <a:endParaRPr lang="zh-CN" altLang="en-US" b="1" dirty="0"/>
          </a:p>
        </p:txBody>
      </p:sp>
      <p:sp>
        <p:nvSpPr>
          <p:cNvPr id="37" name="文本框 36"/>
          <p:cNvSpPr txBox="1"/>
          <p:nvPr/>
        </p:nvSpPr>
        <p:spPr>
          <a:xfrm>
            <a:off x="3174526" y="2786292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41" name="文本框 40"/>
          <p:cNvSpPr txBox="1"/>
          <p:nvPr/>
        </p:nvSpPr>
        <p:spPr>
          <a:xfrm>
            <a:off x="2287891" y="2786292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42" name="文本框 41"/>
          <p:cNvSpPr txBox="1"/>
          <p:nvPr/>
        </p:nvSpPr>
        <p:spPr>
          <a:xfrm>
            <a:off x="3174526" y="4405144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45" name="文本框 44"/>
          <p:cNvSpPr txBox="1"/>
          <p:nvPr/>
        </p:nvSpPr>
        <p:spPr>
          <a:xfrm>
            <a:off x="2287891" y="4405144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77" name="文本框 76"/>
          <p:cNvSpPr txBox="1"/>
          <p:nvPr/>
        </p:nvSpPr>
        <p:spPr>
          <a:xfrm>
            <a:off x="9074171" y="2786292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78" name="文本框 77"/>
          <p:cNvSpPr txBox="1"/>
          <p:nvPr/>
        </p:nvSpPr>
        <p:spPr>
          <a:xfrm>
            <a:off x="8187536" y="2786292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79" name="文本框 78"/>
          <p:cNvSpPr txBox="1"/>
          <p:nvPr/>
        </p:nvSpPr>
        <p:spPr>
          <a:xfrm>
            <a:off x="9074171" y="4405144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80" name="文本框 79"/>
          <p:cNvSpPr txBox="1"/>
          <p:nvPr/>
        </p:nvSpPr>
        <p:spPr>
          <a:xfrm>
            <a:off x="8187536" y="4405144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81" name="文本框 80"/>
          <p:cNvSpPr txBox="1"/>
          <p:nvPr/>
        </p:nvSpPr>
        <p:spPr>
          <a:xfrm>
            <a:off x="4101736" y="3513397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82" name="文本框 81"/>
          <p:cNvSpPr txBox="1"/>
          <p:nvPr/>
        </p:nvSpPr>
        <p:spPr>
          <a:xfrm>
            <a:off x="7362101" y="3513397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83" name="文本框 82"/>
          <p:cNvSpPr txBox="1"/>
          <p:nvPr/>
        </p:nvSpPr>
        <p:spPr>
          <a:xfrm>
            <a:off x="3185592" y="2550840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VLAN1</a:t>
            </a:r>
            <a:endParaRPr lang="zh-CN" altLang="en-US" b="1" dirty="0"/>
          </a:p>
        </p:txBody>
      </p:sp>
      <p:sp>
        <p:nvSpPr>
          <p:cNvPr id="84" name="文本框 83"/>
          <p:cNvSpPr txBox="1"/>
          <p:nvPr/>
        </p:nvSpPr>
        <p:spPr>
          <a:xfrm>
            <a:off x="2298957" y="2550840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VLAN1</a:t>
            </a:r>
            <a:endParaRPr lang="zh-CN" altLang="en-US" b="1" dirty="0"/>
          </a:p>
        </p:txBody>
      </p:sp>
      <p:sp>
        <p:nvSpPr>
          <p:cNvPr id="85" name="文本框 84"/>
          <p:cNvSpPr txBox="1"/>
          <p:nvPr/>
        </p:nvSpPr>
        <p:spPr>
          <a:xfrm>
            <a:off x="9085237" y="2550840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VLAN1</a:t>
            </a:r>
            <a:endParaRPr lang="zh-CN" altLang="en-US" b="1" dirty="0"/>
          </a:p>
        </p:txBody>
      </p:sp>
      <p:sp>
        <p:nvSpPr>
          <p:cNvPr id="86" name="文本框 85"/>
          <p:cNvSpPr txBox="1"/>
          <p:nvPr/>
        </p:nvSpPr>
        <p:spPr>
          <a:xfrm>
            <a:off x="8198602" y="2550840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VLAN1</a:t>
            </a:r>
            <a:endParaRPr lang="zh-CN" altLang="en-US" b="1" dirty="0"/>
          </a:p>
        </p:txBody>
      </p:sp>
      <p:sp>
        <p:nvSpPr>
          <p:cNvPr id="87" name="文本框 86"/>
          <p:cNvSpPr txBox="1"/>
          <p:nvPr/>
        </p:nvSpPr>
        <p:spPr>
          <a:xfrm>
            <a:off x="3174526" y="4633996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VLAN1</a:t>
            </a:r>
            <a:endParaRPr lang="zh-CN" altLang="en-US" b="1" dirty="0"/>
          </a:p>
        </p:txBody>
      </p:sp>
      <p:sp>
        <p:nvSpPr>
          <p:cNvPr id="88" name="文本框 87"/>
          <p:cNvSpPr txBox="1"/>
          <p:nvPr/>
        </p:nvSpPr>
        <p:spPr>
          <a:xfrm>
            <a:off x="2287891" y="4633996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VLAN1</a:t>
            </a:r>
            <a:endParaRPr lang="zh-CN" altLang="en-US" b="1" dirty="0"/>
          </a:p>
        </p:txBody>
      </p:sp>
      <p:sp>
        <p:nvSpPr>
          <p:cNvPr id="89" name="文本框 88"/>
          <p:cNvSpPr txBox="1"/>
          <p:nvPr/>
        </p:nvSpPr>
        <p:spPr>
          <a:xfrm>
            <a:off x="9074171" y="4633996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VLAN1</a:t>
            </a:r>
            <a:endParaRPr lang="zh-CN" altLang="en-US" b="1" dirty="0"/>
          </a:p>
        </p:txBody>
      </p:sp>
      <p:sp>
        <p:nvSpPr>
          <p:cNvPr id="90" name="文本框 89"/>
          <p:cNvSpPr txBox="1"/>
          <p:nvPr/>
        </p:nvSpPr>
        <p:spPr>
          <a:xfrm>
            <a:off x="8187536" y="4633996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VLAN1</a:t>
            </a:r>
            <a:endParaRPr lang="zh-CN" altLang="en-US" b="1" dirty="0"/>
          </a:p>
        </p:txBody>
      </p:sp>
      <p:sp>
        <p:nvSpPr>
          <p:cNvPr id="91" name="文本框 90"/>
          <p:cNvSpPr txBox="1"/>
          <p:nvPr/>
        </p:nvSpPr>
        <p:spPr>
          <a:xfrm>
            <a:off x="4871764" y="3512803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VLAN1</a:t>
            </a:r>
            <a:endParaRPr lang="zh-CN" altLang="en-US" b="1" dirty="0"/>
          </a:p>
        </p:txBody>
      </p:sp>
      <p:sp>
        <p:nvSpPr>
          <p:cNvPr id="93" name="文本框 92"/>
          <p:cNvSpPr txBox="1"/>
          <p:nvPr/>
        </p:nvSpPr>
        <p:spPr>
          <a:xfrm>
            <a:off x="6573894" y="3518652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VLAN1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7" grpId="0"/>
      <p:bldP spid="41" grpId="0"/>
      <p:bldP spid="42" grpId="0"/>
      <p:bldP spid="45" grpId="0"/>
      <p:bldP spid="77" grpId="0"/>
      <p:bldP spid="78" grpId="0"/>
      <p:bldP spid="79" grpId="0"/>
      <p:bldP spid="80" grpId="0"/>
      <p:bldP spid="81" grpId="0"/>
      <p:bldP spid="82" grpId="0"/>
      <p:bldP spid="83" grpId="0"/>
      <p:bldP spid="84" grpId="0"/>
      <p:bldP spid="85" grpId="0"/>
      <p:bldP spid="86" grpId="0"/>
      <p:bldP spid="87" grpId="0"/>
      <p:bldP spid="88" grpId="0"/>
      <p:bldP spid="89" grpId="0"/>
      <p:bldP spid="90" grpId="0"/>
      <p:bldP spid="91" grpId="0"/>
      <p:bldP spid="9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022059" y="685800"/>
            <a:ext cx="6158565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7.  </a:t>
            </a:r>
            <a:r>
              <a:rPr lang="zh-CN" altLang="en-US" sz="2400" b="1" dirty="0"/>
              <a:t>查看交换机的接口（端口）状态汇总表</a:t>
            </a:r>
            <a:endParaRPr lang="en-US" altLang="zh-CN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35" name="20 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379" y="1373609"/>
            <a:ext cx="10349242" cy="5000440"/>
          </a:xfrm>
          <a:prstGeom prst="rect">
            <a:avLst/>
          </a:prstGeom>
        </p:spPr>
      </p:pic>
      <p:sp>
        <p:nvSpPr>
          <p:cNvPr id="92" name="文本框 91"/>
          <p:cNvSpPr txBox="1"/>
          <p:nvPr/>
        </p:nvSpPr>
        <p:spPr>
          <a:xfrm>
            <a:off x="4941651" y="2360579"/>
            <a:ext cx="4163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从用户执行模式进入特权执行模式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4941650" y="2760243"/>
            <a:ext cx="4163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显示接口（端口）状态汇总表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1121923" y="3326860"/>
            <a:ext cx="5278877" cy="1076527"/>
          </a:xfrm>
          <a:prstGeom prst="rect">
            <a:avLst/>
          </a:prstGeom>
          <a:noFill/>
          <a:ln w="2540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0"/>
      <p:bldP spid="94" grpId="0"/>
      <p:bldP spid="9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980561" y="685800"/>
            <a:ext cx="2237362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8.  </a:t>
            </a:r>
            <a:r>
              <a:rPr lang="zh-CN" altLang="en-US" sz="2400" b="1" dirty="0"/>
              <a:t>测试广播域</a:t>
            </a:r>
            <a:endParaRPr lang="en-US" altLang="zh-CN" sz="24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985104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192.168.0.5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1012771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192.168.0.1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4" name="文本框 13"/>
          <p:cNvSpPr txBox="1"/>
          <p:nvPr/>
        </p:nvSpPr>
        <p:spPr>
          <a:xfrm>
            <a:off x="3670211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192.168.0.2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8" name="文本框 17"/>
          <p:cNvSpPr txBox="1"/>
          <p:nvPr/>
        </p:nvSpPr>
        <p:spPr>
          <a:xfrm>
            <a:off x="4014643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192.168.0.6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9" name="文本框 18"/>
          <p:cNvSpPr txBox="1"/>
          <p:nvPr/>
        </p:nvSpPr>
        <p:spPr>
          <a:xfrm>
            <a:off x="6884749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192.168.0.7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22" name="文本框 21"/>
          <p:cNvSpPr txBox="1"/>
          <p:nvPr/>
        </p:nvSpPr>
        <p:spPr>
          <a:xfrm>
            <a:off x="6912416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192.168.0.3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23" name="文本框 22"/>
          <p:cNvSpPr txBox="1"/>
          <p:nvPr/>
        </p:nvSpPr>
        <p:spPr>
          <a:xfrm>
            <a:off x="9569856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192.168.0.4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26" name="文本框 25"/>
          <p:cNvSpPr txBox="1"/>
          <p:nvPr/>
        </p:nvSpPr>
        <p:spPr>
          <a:xfrm>
            <a:off x="9914288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192.168.0.8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cxnSp>
        <p:nvCxnSpPr>
          <p:cNvPr id="8" name="直接连接符 7"/>
          <p:cNvCxnSpPr/>
          <p:nvPr/>
        </p:nvCxnSpPr>
        <p:spPr>
          <a:xfrm>
            <a:off x="713110" y="2162267"/>
            <a:ext cx="2341759" cy="15474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等腰三角形 9"/>
          <p:cNvSpPr/>
          <p:nvPr/>
        </p:nvSpPr>
        <p:spPr>
          <a:xfrm>
            <a:off x="1190792" y="246301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 flipV="1">
            <a:off x="713110" y="3902316"/>
            <a:ext cx="2283201" cy="15150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等腰三角形 16"/>
          <p:cNvSpPr/>
          <p:nvPr/>
        </p:nvSpPr>
        <p:spPr>
          <a:xfrm>
            <a:off x="1190792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连接符 19"/>
          <p:cNvCxnSpPr/>
          <p:nvPr/>
        </p:nvCxnSpPr>
        <p:spPr>
          <a:xfrm flipV="1">
            <a:off x="3370466" y="2108892"/>
            <a:ext cx="2109833" cy="160085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等腰三角形 20"/>
          <p:cNvSpPr/>
          <p:nvPr/>
        </p:nvSpPr>
        <p:spPr>
          <a:xfrm>
            <a:off x="4942426" y="24111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连接符 23"/>
          <p:cNvCxnSpPr/>
          <p:nvPr/>
        </p:nvCxnSpPr>
        <p:spPr>
          <a:xfrm>
            <a:off x="3300727" y="3859446"/>
            <a:ext cx="2292563" cy="161241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等腰三角形 24"/>
          <p:cNvSpPr/>
          <p:nvPr/>
        </p:nvSpPr>
        <p:spPr>
          <a:xfrm>
            <a:off x="4942426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" name="直接连接符 27"/>
          <p:cNvCxnSpPr/>
          <p:nvPr/>
        </p:nvCxnSpPr>
        <p:spPr>
          <a:xfrm>
            <a:off x="6612755" y="2162267"/>
            <a:ext cx="2341759" cy="15474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等腰三角形 28"/>
          <p:cNvSpPr/>
          <p:nvPr/>
        </p:nvSpPr>
        <p:spPr>
          <a:xfrm>
            <a:off x="7090437" y="246301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" name="直接连接符 31"/>
          <p:cNvCxnSpPr/>
          <p:nvPr/>
        </p:nvCxnSpPr>
        <p:spPr>
          <a:xfrm flipV="1">
            <a:off x="6612755" y="3902316"/>
            <a:ext cx="2283201" cy="15150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等腰三角形 32"/>
          <p:cNvSpPr/>
          <p:nvPr/>
        </p:nvSpPr>
        <p:spPr>
          <a:xfrm>
            <a:off x="7090437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8" name="直接连接符 37"/>
          <p:cNvCxnSpPr/>
          <p:nvPr/>
        </p:nvCxnSpPr>
        <p:spPr>
          <a:xfrm flipV="1">
            <a:off x="9270111" y="2108892"/>
            <a:ext cx="2109833" cy="160085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等腰三角形 39"/>
          <p:cNvSpPr/>
          <p:nvPr/>
        </p:nvSpPr>
        <p:spPr>
          <a:xfrm>
            <a:off x="10842071" y="24111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3" name="直接连接符 42"/>
          <p:cNvCxnSpPr/>
          <p:nvPr/>
        </p:nvCxnSpPr>
        <p:spPr>
          <a:xfrm>
            <a:off x="9200372" y="3859446"/>
            <a:ext cx="2292563" cy="161241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等腰三角形 43"/>
          <p:cNvSpPr/>
          <p:nvPr/>
        </p:nvSpPr>
        <p:spPr>
          <a:xfrm>
            <a:off x="10842071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" name="直接连接符 46"/>
          <p:cNvCxnSpPr/>
          <p:nvPr/>
        </p:nvCxnSpPr>
        <p:spPr>
          <a:xfrm>
            <a:off x="3497998" y="3826236"/>
            <a:ext cx="5333835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9" name="20 8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544" y="5242879"/>
            <a:ext cx="539132" cy="457973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04800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PC4</a:t>
            </a:r>
            <a:endParaRPr lang="zh-CN" altLang="en-US" b="1" dirty="0"/>
          </a:p>
        </p:txBody>
      </p:sp>
      <p:pic>
        <p:nvPicPr>
          <p:cNvPr id="12" name="20 11" descr="图标&#10;&#10;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1054" y="3667774"/>
            <a:ext cx="646944" cy="332541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799091" y="3630983"/>
            <a:ext cx="1965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2960-24TT  Switch0</a:t>
            </a:r>
            <a:endParaRPr lang="zh-CN" altLang="en-US" b="1" dirty="0"/>
          </a:p>
        </p:txBody>
      </p:sp>
      <p:pic>
        <p:nvPicPr>
          <p:cNvPr id="5" name="20 4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724" y="5242879"/>
            <a:ext cx="539132" cy="457973"/>
          </a:xfrm>
          <a:prstGeom prst="rect">
            <a:avLst/>
          </a:prstGeom>
        </p:spPr>
      </p:pic>
      <p:pic>
        <p:nvPicPr>
          <p:cNvPr id="6" name="20 5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544" y="1967237"/>
            <a:ext cx="539132" cy="457973"/>
          </a:xfrm>
          <a:prstGeom prst="rect">
            <a:avLst/>
          </a:prstGeom>
        </p:spPr>
      </p:pic>
      <p:pic>
        <p:nvPicPr>
          <p:cNvPr id="7" name="20 6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724" y="1967237"/>
            <a:ext cx="539132" cy="457973"/>
          </a:xfrm>
          <a:prstGeom prst="rect">
            <a:avLst/>
          </a:prstGeom>
        </p:spPr>
      </p:pic>
      <p:sp>
        <p:nvSpPr>
          <p:cNvPr id="34" name="文本框 33"/>
          <p:cNvSpPr txBox="1"/>
          <p:nvPr/>
        </p:nvSpPr>
        <p:spPr>
          <a:xfrm>
            <a:off x="304800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sp>
        <p:nvSpPr>
          <p:cNvPr id="36" name="文本框 35"/>
          <p:cNvSpPr txBox="1"/>
          <p:nvPr/>
        </p:nvSpPr>
        <p:spPr>
          <a:xfrm>
            <a:off x="5184980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PC1</a:t>
            </a:r>
            <a:endParaRPr lang="zh-CN" altLang="en-US" b="1" dirty="0"/>
          </a:p>
        </p:txBody>
      </p:sp>
      <p:sp>
        <p:nvSpPr>
          <p:cNvPr id="39" name="文本框 38"/>
          <p:cNvSpPr txBox="1"/>
          <p:nvPr/>
        </p:nvSpPr>
        <p:spPr>
          <a:xfrm>
            <a:off x="5136948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PC5</a:t>
            </a:r>
            <a:endParaRPr lang="zh-CN" altLang="en-US" b="1" dirty="0"/>
          </a:p>
        </p:txBody>
      </p:sp>
      <p:pic>
        <p:nvPicPr>
          <p:cNvPr id="63" name="20 62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189" y="5242879"/>
            <a:ext cx="539132" cy="457973"/>
          </a:xfrm>
          <a:prstGeom prst="rect">
            <a:avLst/>
          </a:prstGeom>
        </p:spPr>
      </p:pic>
      <p:sp>
        <p:nvSpPr>
          <p:cNvPr id="64" name="文本框 63"/>
          <p:cNvSpPr txBox="1"/>
          <p:nvPr/>
        </p:nvSpPr>
        <p:spPr>
          <a:xfrm>
            <a:off x="6204445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PC6</a:t>
            </a:r>
            <a:endParaRPr lang="zh-CN" altLang="en-US" b="1" dirty="0"/>
          </a:p>
        </p:txBody>
      </p:sp>
      <p:pic>
        <p:nvPicPr>
          <p:cNvPr id="65" name="20 64" descr="图标&#10;&#10;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699" y="3667774"/>
            <a:ext cx="646944" cy="332541"/>
          </a:xfrm>
          <a:prstGeom prst="rect">
            <a:avLst/>
          </a:prstGeom>
        </p:spPr>
      </p:pic>
      <p:sp>
        <p:nvSpPr>
          <p:cNvPr id="66" name="文本框 65"/>
          <p:cNvSpPr txBox="1"/>
          <p:nvPr/>
        </p:nvSpPr>
        <p:spPr>
          <a:xfrm>
            <a:off x="9390051" y="3630983"/>
            <a:ext cx="1965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2960-24TT  Switch1</a:t>
            </a:r>
            <a:endParaRPr lang="zh-CN" altLang="en-US" b="1" dirty="0"/>
          </a:p>
        </p:txBody>
      </p:sp>
      <p:pic>
        <p:nvPicPr>
          <p:cNvPr id="68" name="20 67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3369" y="5242879"/>
            <a:ext cx="539132" cy="457973"/>
          </a:xfrm>
          <a:prstGeom prst="rect">
            <a:avLst/>
          </a:prstGeom>
        </p:spPr>
      </p:pic>
      <p:pic>
        <p:nvPicPr>
          <p:cNvPr id="69" name="20 68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189" y="1967237"/>
            <a:ext cx="539132" cy="457973"/>
          </a:xfrm>
          <a:prstGeom prst="rect">
            <a:avLst/>
          </a:prstGeom>
        </p:spPr>
      </p:pic>
      <p:pic>
        <p:nvPicPr>
          <p:cNvPr id="70" name="20 69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3369" y="1967237"/>
            <a:ext cx="539132" cy="457973"/>
          </a:xfrm>
          <a:prstGeom prst="rect">
            <a:avLst/>
          </a:prstGeom>
        </p:spPr>
      </p:pic>
      <p:sp>
        <p:nvSpPr>
          <p:cNvPr id="71" name="文本框 70"/>
          <p:cNvSpPr txBox="1"/>
          <p:nvPr/>
        </p:nvSpPr>
        <p:spPr>
          <a:xfrm>
            <a:off x="6204445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PC2</a:t>
            </a:r>
            <a:endParaRPr lang="zh-CN" altLang="en-US" b="1" dirty="0"/>
          </a:p>
        </p:txBody>
      </p:sp>
      <p:sp>
        <p:nvSpPr>
          <p:cNvPr id="73" name="文本框 72"/>
          <p:cNvSpPr txBox="1"/>
          <p:nvPr/>
        </p:nvSpPr>
        <p:spPr>
          <a:xfrm>
            <a:off x="11084625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PC3</a:t>
            </a:r>
            <a:endParaRPr lang="zh-CN" altLang="en-US" b="1" dirty="0"/>
          </a:p>
        </p:txBody>
      </p:sp>
      <p:sp>
        <p:nvSpPr>
          <p:cNvPr id="76" name="文本框 75"/>
          <p:cNvSpPr txBox="1"/>
          <p:nvPr/>
        </p:nvSpPr>
        <p:spPr>
          <a:xfrm>
            <a:off x="11036593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PC7</a:t>
            </a:r>
            <a:endParaRPr lang="zh-CN" altLang="en-US" b="1" dirty="0"/>
          </a:p>
        </p:txBody>
      </p:sp>
      <p:sp>
        <p:nvSpPr>
          <p:cNvPr id="51" name="等腰三角形 50"/>
          <p:cNvSpPr/>
          <p:nvPr/>
        </p:nvSpPr>
        <p:spPr>
          <a:xfrm>
            <a:off x="2509381" y="3309403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等腰三角形 51"/>
          <p:cNvSpPr/>
          <p:nvPr/>
        </p:nvSpPr>
        <p:spPr>
          <a:xfrm>
            <a:off x="2509381" y="41193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等腰三角形 52"/>
          <p:cNvSpPr/>
          <p:nvPr/>
        </p:nvSpPr>
        <p:spPr>
          <a:xfrm>
            <a:off x="3776559" y="329433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等腰三角形 53"/>
          <p:cNvSpPr/>
          <p:nvPr/>
        </p:nvSpPr>
        <p:spPr>
          <a:xfrm>
            <a:off x="3776558" y="417750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等腰三角形 54"/>
          <p:cNvSpPr/>
          <p:nvPr/>
        </p:nvSpPr>
        <p:spPr>
          <a:xfrm>
            <a:off x="8324469" y="328257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等腰三角形 55"/>
          <p:cNvSpPr/>
          <p:nvPr/>
        </p:nvSpPr>
        <p:spPr>
          <a:xfrm>
            <a:off x="9712901" y="328107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等腰三角形 56"/>
          <p:cNvSpPr/>
          <p:nvPr/>
        </p:nvSpPr>
        <p:spPr>
          <a:xfrm>
            <a:off x="8322853" y="419586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等腰三角形 57"/>
          <p:cNvSpPr/>
          <p:nvPr/>
        </p:nvSpPr>
        <p:spPr>
          <a:xfrm>
            <a:off x="9728117" y="419586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等腰三角形 58"/>
          <p:cNvSpPr/>
          <p:nvPr/>
        </p:nvSpPr>
        <p:spPr>
          <a:xfrm>
            <a:off x="4059017" y="376304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等腰三角形 59"/>
          <p:cNvSpPr/>
          <p:nvPr/>
        </p:nvSpPr>
        <p:spPr>
          <a:xfrm>
            <a:off x="8080650" y="376304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/>
        </p:nvSpPr>
        <p:spPr>
          <a:xfrm>
            <a:off x="8299448" y="301645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Fa0/1</a:t>
            </a:r>
            <a:endParaRPr lang="zh-CN" altLang="en-US" b="1" dirty="0"/>
          </a:p>
        </p:txBody>
      </p:sp>
      <p:sp>
        <p:nvSpPr>
          <p:cNvPr id="48" name="文本框 47"/>
          <p:cNvSpPr txBox="1"/>
          <p:nvPr/>
        </p:nvSpPr>
        <p:spPr>
          <a:xfrm>
            <a:off x="9050192" y="301645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Fa0/2</a:t>
            </a:r>
            <a:endParaRPr lang="zh-CN" altLang="en-US" b="1" dirty="0"/>
          </a:p>
        </p:txBody>
      </p:sp>
      <p:sp>
        <p:nvSpPr>
          <p:cNvPr id="49" name="文本框 48"/>
          <p:cNvSpPr txBox="1"/>
          <p:nvPr/>
        </p:nvSpPr>
        <p:spPr>
          <a:xfrm>
            <a:off x="8299448" y="4172213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Fa0/3</a:t>
            </a:r>
            <a:endParaRPr lang="zh-CN" altLang="en-US" b="1" dirty="0"/>
          </a:p>
        </p:txBody>
      </p:sp>
      <p:sp>
        <p:nvSpPr>
          <p:cNvPr id="50" name="文本框 49"/>
          <p:cNvSpPr txBox="1"/>
          <p:nvPr/>
        </p:nvSpPr>
        <p:spPr>
          <a:xfrm>
            <a:off x="9035504" y="4172213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Fa0/4</a:t>
            </a:r>
            <a:endParaRPr lang="zh-CN" altLang="en-US" b="1" dirty="0"/>
          </a:p>
        </p:txBody>
      </p:sp>
      <p:sp>
        <p:nvSpPr>
          <p:cNvPr id="61" name="文本框 60"/>
          <p:cNvSpPr txBox="1"/>
          <p:nvPr/>
        </p:nvSpPr>
        <p:spPr>
          <a:xfrm>
            <a:off x="2399803" y="301645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Fa0/1</a:t>
            </a:r>
            <a:endParaRPr lang="zh-CN" altLang="en-US" b="1" dirty="0"/>
          </a:p>
        </p:txBody>
      </p:sp>
      <p:sp>
        <p:nvSpPr>
          <p:cNvPr id="62" name="文本框 61"/>
          <p:cNvSpPr txBox="1"/>
          <p:nvPr/>
        </p:nvSpPr>
        <p:spPr>
          <a:xfrm>
            <a:off x="3150547" y="301645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Fa0/2</a:t>
            </a:r>
            <a:endParaRPr lang="zh-CN" altLang="en-US" b="1" dirty="0"/>
          </a:p>
        </p:txBody>
      </p:sp>
      <p:sp>
        <p:nvSpPr>
          <p:cNvPr id="67" name="文本框 66"/>
          <p:cNvSpPr txBox="1"/>
          <p:nvPr/>
        </p:nvSpPr>
        <p:spPr>
          <a:xfrm>
            <a:off x="2399803" y="4172213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Fa0/3</a:t>
            </a:r>
            <a:endParaRPr lang="zh-CN" altLang="en-US" b="1" dirty="0"/>
          </a:p>
        </p:txBody>
      </p:sp>
      <p:sp>
        <p:nvSpPr>
          <p:cNvPr id="72" name="文本框 71"/>
          <p:cNvSpPr txBox="1"/>
          <p:nvPr/>
        </p:nvSpPr>
        <p:spPr>
          <a:xfrm>
            <a:off x="3135859" y="4172213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Fa0/4</a:t>
            </a:r>
            <a:endParaRPr lang="zh-CN" altLang="en-US" b="1" dirty="0"/>
          </a:p>
        </p:txBody>
      </p:sp>
      <p:sp>
        <p:nvSpPr>
          <p:cNvPr id="74" name="文本框 73"/>
          <p:cNvSpPr txBox="1"/>
          <p:nvPr/>
        </p:nvSpPr>
        <p:spPr>
          <a:xfrm>
            <a:off x="3429825" y="351339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Fa0/5</a:t>
            </a:r>
            <a:endParaRPr lang="zh-CN" altLang="en-US" b="1" dirty="0"/>
          </a:p>
        </p:txBody>
      </p:sp>
      <p:sp>
        <p:nvSpPr>
          <p:cNvPr id="75" name="文本框 74"/>
          <p:cNvSpPr txBox="1"/>
          <p:nvPr/>
        </p:nvSpPr>
        <p:spPr>
          <a:xfrm>
            <a:off x="8001195" y="351339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Fa0/5</a:t>
            </a:r>
            <a:endParaRPr lang="zh-CN" altLang="en-US" b="1" dirty="0"/>
          </a:p>
        </p:txBody>
      </p:sp>
      <p:sp>
        <p:nvSpPr>
          <p:cNvPr id="37" name="文本框 36"/>
          <p:cNvSpPr txBox="1"/>
          <p:nvPr/>
        </p:nvSpPr>
        <p:spPr>
          <a:xfrm>
            <a:off x="3174526" y="2786292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41" name="文本框 40"/>
          <p:cNvSpPr txBox="1"/>
          <p:nvPr/>
        </p:nvSpPr>
        <p:spPr>
          <a:xfrm>
            <a:off x="2287891" y="2786292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42" name="文本框 41"/>
          <p:cNvSpPr txBox="1"/>
          <p:nvPr/>
        </p:nvSpPr>
        <p:spPr>
          <a:xfrm>
            <a:off x="3174526" y="4405144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45" name="文本框 44"/>
          <p:cNvSpPr txBox="1"/>
          <p:nvPr/>
        </p:nvSpPr>
        <p:spPr>
          <a:xfrm>
            <a:off x="2287891" y="4405144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77" name="文本框 76"/>
          <p:cNvSpPr txBox="1"/>
          <p:nvPr/>
        </p:nvSpPr>
        <p:spPr>
          <a:xfrm>
            <a:off x="9074171" y="2786292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78" name="文本框 77"/>
          <p:cNvSpPr txBox="1"/>
          <p:nvPr/>
        </p:nvSpPr>
        <p:spPr>
          <a:xfrm>
            <a:off x="8187536" y="2786292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79" name="文本框 78"/>
          <p:cNvSpPr txBox="1"/>
          <p:nvPr/>
        </p:nvSpPr>
        <p:spPr>
          <a:xfrm>
            <a:off x="9074171" y="4405144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80" name="文本框 79"/>
          <p:cNvSpPr txBox="1"/>
          <p:nvPr/>
        </p:nvSpPr>
        <p:spPr>
          <a:xfrm>
            <a:off x="8187536" y="4405144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81" name="文本框 80"/>
          <p:cNvSpPr txBox="1"/>
          <p:nvPr/>
        </p:nvSpPr>
        <p:spPr>
          <a:xfrm>
            <a:off x="4101736" y="3513397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82" name="文本框 81"/>
          <p:cNvSpPr txBox="1"/>
          <p:nvPr/>
        </p:nvSpPr>
        <p:spPr>
          <a:xfrm>
            <a:off x="7362101" y="3513397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83" name="文本框 82"/>
          <p:cNvSpPr txBox="1"/>
          <p:nvPr/>
        </p:nvSpPr>
        <p:spPr>
          <a:xfrm>
            <a:off x="3185592" y="2550840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VLAN1</a:t>
            </a:r>
            <a:endParaRPr lang="zh-CN" altLang="en-US" b="1" dirty="0"/>
          </a:p>
        </p:txBody>
      </p:sp>
      <p:sp>
        <p:nvSpPr>
          <p:cNvPr id="84" name="文本框 83"/>
          <p:cNvSpPr txBox="1"/>
          <p:nvPr/>
        </p:nvSpPr>
        <p:spPr>
          <a:xfrm>
            <a:off x="2298957" y="2550840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VLAN1</a:t>
            </a:r>
            <a:endParaRPr lang="zh-CN" altLang="en-US" b="1" dirty="0"/>
          </a:p>
        </p:txBody>
      </p:sp>
      <p:sp>
        <p:nvSpPr>
          <p:cNvPr id="85" name="文本框 84"/>
          <p:cNvSpPr txBox="1"/>
          <p:nvPr/>
        </p:nvSpPr>
        <p:spPr>
          <a:xfrm>
            <a:off x="9085237" y="2550840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VLAN1</a:t>
            </a:r>
            <a:endParaRPr lang="zh-CN" altLang="en-US" b="1" dirty="0"/>
          </a:p>
        </p:txBody>
      </p:sp>
      <p:sp>
        <p:nvSpPr>
          <p:cNvPr id="86" name="文本框 85"/>
          <p:cNvSpPr txBox="1"/>
          <p:nvPr/>
        </p:nvSpPr>
        <p:spPr>
          <a:xfrm>
            <a:off x="8198602" y="2550840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VLAN1</a:t>
            </a:r>
            <a:endParaRPr lang="zh-CN" altLang="en-US" b="1" dirty="0"/>
          </a:p>
        </p:txBody>
      </p:sp>
      <p:sp>
        <p:nvSpPr>
          <p:cNvPr id="87" name="文本框 86"/>
          <p:cNvSpPr txBox="1"/>
          <p:nvPr/>
        </p:nvSpPr>
        <p:spPr>
          <a:xfrm>
            <a:off x="3174526" y="4633996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VLAN1</a:t>
            </a:r>
            <a:endParaRPr lang="zh-CN" altLang="en-US" b="1" dirty="0"/>
          </a:p>
        </p:txBody>
      </p:sp>
      <p:sp>
        <p:nvSpPr>
          <p:cNvPr id="88" name="文本框 87"/>
          <p:cNvSpPr txBox="1"/>
          <p:nvPr/>
        </p:nvSpPr>
        <p:spPr>
          <a:xfrm>
            <a:off x="2287891" y="4633996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VLAN1</a:t>
            </a:r>
            <a:endParaRPr lang="zh-CN" altLang="en-US" b="1" dirty="0"/>
          </a:p>
        </p:txBody>
      </p:sp>
      <p:sp>
        <p:nvSpPr>
          <p:cNvPr id="89" name="文本框 88"/>
          <p:cNvSpPr txBox="1"/>
          <p:nvPr/>
        </p:nvSpPr>
        <p:spPr>
          <a:xfrm>
            <a:off x="9074171" y="4633996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VLAN1</a:t>
            </a:r>
            <a:endParaRPr lang="zh-CN" altLang="en-US" b="1" dirty="0"/>
          </a:p>
        </p:txBody>
      </p:sp>
      <p:sp>
        <p:nvSpPr>
          <p:cNvPr id="90" name="文本框 89"/>
          <p:cNvSpPr txBox="1"/>
          <p:nvPr/>
        </p:nvSpPr>
        <p:spPr>
          <a:xfrm>
            <a:off x="8187536" y="4633996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VLAN1</a:t>
            </a:r>
            <a:endParaRPr lang="zh-CN" altLang="en-US" b="1" dirty="0"/>
          </a:p>
        </p:txBody>
      </p:sp>
      <p:sp>
        <p:nvSpPr>
          <p:cNvPr id="91" name="文本框 90"/>
          <p:cNvSpPr txBox="1"/>
          <p:nvPr/>
        </p:nvSpPr>
        <p:spPr>
          <a:xfrm>
            <a:off x="4871764" y="3512803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VLAN1</a:t>
            </a:r>
            <a:endParaRPr lang="zh-CN" altLang="en-US" b="1" dirty="0"/>
          </a:p>
        </p:txBody>
      </p:sp>
      <p:sp>
        <p:nvSpPr>
          <p:cNvPr id="93" name="文本框 92"/>
          <p:cNvSpPr txBox="1"/>
          <p:nvPr/>
        </p:nvSpPr>
        <p:spPr>
          <a:xfrm>
            <a:off x="6573894" y="3518652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VLAN1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5" presetClass="emph" presetSubtype="0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4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6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8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0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2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4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6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8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0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83" grpId="0"/>
      <p:bldP spid="84" grpId="0"/>
      <p:bldP spid="85" grpId="0"/>
      <p:bldP spid="86" grpId="0"/>
      <p:bldP spid="87" grpId="0"/>
      <p:bldP spid="88" grpId="0"/>
      <p:bldP spid="89" grpId="0"/>
      <p:bldP spid="90" grpId="0"/>
      <p:bldP spid="91" grpId="0"/>
      <p:bldP spid="9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304800" y="1439694"/>
            <a:ext cx="11596445" cy="4732506"/>
            <a:chOff x="304800" y="1439694"/>
            <a:chExt cx="11596445" cy="4732506"/>
          </a:xfrm>
        </p:grpSpPr>
        <p:sp>
          <p:nvSpPr>
            <p:cNvPr id="27" name="矩形 26"/>
            <p:cNvSpPr/>
            <p:nvPr/>
          </p:nvSpPr>
          <p:spPr>
            <a:xfrm>
              <a:off x="304800" y="1439694"/>
              <a:ext cx="11596445" cy="4732506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5069560" y="3962106"/>
              <a:ext cx="20510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 b="1" dirty="0"/>
                <a:t>广播域</a:t>
              </a:r>
              <a:endParaRPr lang="zh-CN" altLang="en-US" sz="2800" b="1" dirty="0"/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4980561" y="685800"/>
            <a:ext cx="2237362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8.  </a:t>
            </a:r>
            <a:r>
              <a:rPr lang="zh-CN" altLang="en-US" sz="2400" b="1" dirty="0"/>
              <a:t>测试广播域</a:t>
            </a:r>
            <a:endParaRPr lang="en-US" altLang="zh-CN" sz="24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985104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192.168.0.5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1012771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192.168.0.1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4" name="文本框 13"/>
          <p:cNvSpPr txBox="1"/>
          <p:nvPr/>
        </p:nvSpPr>
        <p:spPr>
          <a:xfrm>
            <a:off x="3670211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192.168.0.2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8" name="文本框 17"/>
          <p:cNvSpPr txBox="1"/>
          <p:nvPr/>
        </p:nvSpPr>
        <p:spPr>
          <a:xfrm>
            <a:off x="4014643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192.168.0.6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9" name="文本框 18"/>
          <p:cNvSpPr txBox="1"/>
          <p:nvPr/>
        </p:nvSpPr>
        <p:spPr>
          <a:xfrm>
            <a:off x="6884749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192.168.0.7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22" name="文本框 21"/>
          <p:cNvSpPr txBox="1"/>
          <p:nvPr/>
        </p:nvSpPr>
        <p:spPr>
          <a:xfrm>
            <a:off x="6912416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192.168.0.3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23" name="文本框 22"/>
          <p:cNvSpPr txBox="1"/>
          <p:nvPr/>
        </p:nvSpPr>
        <p:spPr>
          <a:xfrm>
            <a:off x="9569856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192.168.0.4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26" name="文本框 25"/>
          <p:cNvSpPr txBox="1"/>
          <p:nvPr/>
        </p:nvSpPr>
        <p:spPr>
          <a:xfrm>
            <a:off x="9914288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192.168.0.8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cxnSp>
        <p:nvCxnSpPr>
          <p:cNvPr id="8" name="直接连接符 7"/>
          <p:cNvCxnSpPr/>
          <p:nvPr/>
        </p:nvCxnSpPr>
        <p:spPr>
          <a:xfrm>
            <a:off x="713110" y="2162267"/>
            <a:ext cx="2341759" cy="15474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等腰三角形 9"/>
          <p:cNvSpPr/>
          <p:nvPr/>
        </p:nvSpPr>
        <p:spPr>
          <a:xfrm>
            <a:off x="1190792" y="246301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 flipV="1">
            <a:off x="713110" y="3902316"/>
            <a:ext cx="2283201" cy="15150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等腰三角形 16"/>
          <p:cNvSpPr/>
          <p:nvPr/>
        </p:nvSpPr>
        <p:spPr>
          <a:xfrm>
            <a:off x="1190792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连接符 19"/>
          <p:cNvCxnSpPr/>
          <p:nvPr/>
        </p:nvCxnSpPr>
        <p:spPr>
          <a:xfrm flipV="1">
            <a:off x="3370466" y="2108892"/>
            <a:ext cx="2109833" cy="160085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等腰三角形 20"/>
          <p:cNvSpPr/>
          <p:nvPr/>
        </p:nvSpPr>
        <p:spPr>
          <a:xfrm>
            <a:off x="4942426" y="24111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连接符 23"/>
          <p:cNvCxnSpPr/>
          <p:nvPr/>
        </p:nvCxnSpPr>
        <p:spPr>
          <a:xfrm>
            <a:off x="3300727" y="3859446"/>
            <a:ext cx="2292563" cy="161241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等腰三角形 24"/>
          <p:cNvSpPr/>
          <p:nvPr/>
        </p:nvSpPr>
        <p:spPr>
          <a:xfrm>
            <a:off x="4942426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" name="直接连接符 27"/>
          <p:cNvCxnSpPr/>
          <p:nvPr/>
        </p:nvCxnSpPr>
        <p:spPr>
          <a:xfrm>
            <a:off x="6612755" y="2162267"/>
            <a:ext cx="2341759" cy="15474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等腰三角形 28"/>
          <p:cNvSpPr/>
          <p:nvPr/>
        </p:nvSpPr>
        <p:spPr>
          <a:xfrm>
            <a:off x="7090437" y="246301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" name="直接连接符 31"/>
          <p:cNvCxnSpPr/>
          <p:nvPr/>
        </p:nvCxnSpPr>
        <p:spPr>
          <a:xfrm flipV="1">
            <a:off x="6612755" y="3902316"/>
            <a:ext cx="2283201" cy="15150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等腰三角形 32"/>
          <p:cNvSpPr/>
          <p:nvPr/>
        </p:nvSpPr>
        <p:spPr>
          <a:xfrm>
            <a:off x="7090437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8" name="直接连接符 37"/>
          <p:cNvCxnSpPr/>
          <p:nvPr/>
        </p:nvCxnSpPr>
        <p:spPr>
          <a:xfrm flipV="1">
            <a:off x="9270111" y="2108892"/>
            <a:ext cx="2109833" cy="160085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等腰三角形 39"/>
          <p:cNvSpPr/>
          <p:nvPr/>
        </p:nvSpPr>
        <p:spPr>
          <a:xfrm>
            <a:off x="10842071" y="24111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3" name="直接连接符 42"/>
          <p:cNvCxnSpPr/>
          <p:nvPr/>
        </p:nvCxnSpPr>
        <p:spPr>
          <a:xfrm>
            <a:off x="9200372" y="3859446"/>
            <a:ext cx="2292563" cy="161241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等腰三角形 43"/>
          <p:cNvSpPr/>
          <p:nvPr/>
        </p:nvSpPr>
        <p:spPr>
          <a:xfrm>
            <a:off x="10842071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" name="直接连接符 46"/>
          <p:cNvCxnSpPr/>
          <p:nvPr/>
        </p:nvCxnSpPr>
        <p:spPr>
          <a:xfrm>
            <a:off x="3497998" y="3826236"/>
            <a:ext cx="5333835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9" name="20 8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544" y="5242879"/>
            <a:ext cx="539132" cy="457973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04800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PC4</a:t>
            </a:r>
            <a:endParaRPr lang="zh-CN" altLang="en-US" b="1" dirty="0"/>
          </a:p>
        </p:txBody>
      </p:sp>
      <p:pic>
        <p:nvPicPr>
          <p:cNvPr id="12" name="20 11" descr="图标&#10;&#10;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1054" y="3667774"/>
            <a:ext cx="646944" cy="332541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799091" y="3630983"/>
            <a:ext cx="1965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2960-24TT  Switch0</a:t>
            </a:r>
            <a:endParaRPr lang="zh-CN" altLang="en-US" b="1" dirty="0"/>
          </a:p>
        </p:txBody>
      </p:sp>
      <p:pic>
        <p:nvPicPr>
          <p:cNvPr id="5" name="20 4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724" y="5242879"/>
            <a:ext cx="539132" cy="457973"/>
          </a:xfrm>
          <a:prstGeom prst="rect">
            <a:avLst/>
          </a:prstGeom>
        </p:spPr>
      </p:pic>
      <p:pic>
        <p:nvPicPr>
          <p:cNvPr id="6" name="20 5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544" y="1967237"/>
            <a:ext cx="539132" cy="457973"/>
          </a:xfrm>
          <a:prstGeom prst="rect">
            <a:avLst/>
          </a:prstGeom>
        </p:spPr>
      </p:pic>
      <p:pic>
        <p:nvPicPr>
          <p:cNvPr id="7" name="20 6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724" y="1967237"/>
            <a:ext cx="539132" cy="457973"/>
          </a:xfrm>
          <a:prstGeom prst="rect">
            <a:avLst/>
          </a:prstGeom>
        </p:spPr>
      </p:pic>
      <p:sp>
        <p:nvSpPr>
          <p:cNvPr id="34" name="文本框 33"/>
          <p:cNvSpPr txBox="1"/>
          <p:nvPr/>
        </p:nvSpPr>
        <p:spPr>
          <a:xfrm>
            <a:off x="304800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sp>
        <p:nvSpPr>
          <p:cNvPr id="36" name="文本框 35"/>
          <p:cNvSpPr txBox="1"/>
          <p:nvPr/>
        </p:nvSpPr>
        <p:spPr>
          <a:xfrm>
            <a:off x="5184980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PC1</a:t>
            </a:r>
            <a:endParaRPr lang="zh-CN" altLang="en-US" b="1" dirty="0"/>
          </a:p>
        </p:txBody>
      </p:sp>
      <p:sp>
        <p:nvSpPr>
          <p:cNvPr id="39" name="文本框 38"/>
          <p:cNvSpPr txBox="1"/>
          <p:nvPr/>
        </p:nvSpPr>
        <p:spPr>
          <a:xfrm>
            <a:off x="5136948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PC5</a:t>
            </a:r>
            <a:endParaRPr lang="zh-CN" altLang="en-US" b="1" dirty="0"/>
          </a:p>
        </p:txBody>
      </p:sp>
      <p:pic>
        <p:nvPicPr>
          <p:cNvPr id="63" name="20 62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189" y="5242879"/>
            <a:ext cx="539132" cy="457973"/>
          </a:xfrm>
          <a:prstGeom prst="rect">
            <a:avLst/>
          </a:prstGeom>
        </p:spPr>
      </p:pic>
      <p:sp>
        <p:nvSpPr>
          <p:cNvPr id="64" name="文本框 63"/>
          <p:cNvSpPr txBox="1"/>
          <p:nvPr/>
        </p:nvSpPr>
        <p:spPr>
          <a:xfrm>
            <a:off x="6204445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PC6</a:t>
            </a:r>
            <a:endParaRPr lang="zh-CN" altLang="en-US" b="1" dirty="0"/>
          </a:p>
        </p:txBody>
      </p:sp>
      <p:pic>
        <p:nvPicPr>
          <p:cNvPr id="65" name="20 64" descr="图标&#10;&#10;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699" y="3667774"/>
            <a:ext cx="646944" cy="332541"/>
          </a:xfrm>
          <a:prstGeom prst="rect">
            <a:avLst/>
          </a:prstGeom>
        </p:spPr>
      </p:pic>
      <p:sp>
        <p:nvSpPr>
          <p:cNvPr id="66" name="文本框 65"/>
          <p:cNvSpPr txBox="1"/>
          <p:nvPr/>
        </p:nvSpPr>
        <p:spPr>
          <a:xfrm>
            <a:off x="9390051" y="3630983"/>
            <a:ext cx="1965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2960-24TT  Switch1</a:t>
            </a:r>
            <a:endParaRPr lang="zh-CN" altLang="en-US" b="1" dirty="0"/>
          </a:p>
        </p:txBody>
      </p:sp>
      <p:pic>
        <p:nvPicPr>
          <p:cNvPr id="68" name="20 67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3369" y="5242879"/>
            <a:ext cx="539132" cy="457973"/>
          </a:xfrm>
          <a:prstGeom prst="rect">
            <a:avLst/>
          </a:prstGeom>
        </p:spPr>
      </p:pic>
      <p:pic>
        <p:nvPicPr>
          <p:cNvPr id="69" name="20 68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189" y="1967237"/>
            <a:ext cx="539132" cy="457973"/>
          </a:xfrm>
          <a:prstGeom prst="rect">
            <a:avLst/>
          </a:prstGeom>
        </p:spPr>
      </p:pic>
      <p:pic>
        <p:nvPicPr>
          <p:cNvPr id="70" name="20 69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3369" y="1967237"/>
            <a:ext cx="539132" cy="457973"/>
          </a:xfrm>
          <a:prstGeom prst="rect">
            <a:avLst/>
          </a:prstGeom>
        </p:spPr>
      </p:pic>
      <p:sp>
        <p:nvSpPr>
          <p:cNvPr id="71" name="文本框 70"/>
          <p:cNvSpPr txBox="1"/>
          <p:nvPr/>
        </p:nvSpPr>
        <p:spPr>
          <a:xfrm>
            <a:off x="6204445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PC2</a:t>
            </a:r>
            <a:endParaRPr lang="zh-CN" altLang="en-US" b="1" dirty="0"/>
          </a:p>
        </p:txBody>
      </p:sp>
      <p:sp>
        <p:nvSpPr>
          <p:cNvPr id="73" name="文本框 72"/>
          <p:cNvSpPr txBox="1"/>
          <p:nvPr/>
        </p:nvSpPr>
        <p:spPr>
          <a:xfrm>
            <a:off x="11084625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PC3</a:t>
            </a:r>
            <a:endParaRPr lang="zh-CN" altLang="en-US" b="1" dirty="0"/>
          </a:p>
        </p:txBody>
      </p:sp>
      <p:sp>
        <p:nvSpPr>
          <p:cNvPr id="76" name="文本框 75"/>
          <p:cNvSpPr txBox="1"/>
          <p:nvPr/>
        </p:nvSpPr>
        <p:spPr>
          <a:xfrm>
            <a:off x="11036593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PC7</a:t>
            </a:r>
            <a:endParaRPr lang="zh-CN" altLang="en-US" b="1" dirty="0"/>
          </a:p>
        </p:txBody>
      </p:sp>
      <p:sp>
        <p:nvSpPr>
          <p:cNvPr id="51" name="等腰三角形 50"/>
          <p:cNvSpPr/>
          <p:nvPr/>
        </p:nvSpPr>
        <p:spPr>
          <a:xfrm>
            <a:off x="2509381" y="3309403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等腰三角形 51"/>
          <p:cNvSpPr/>
          <p:nvPr/>
        </p:nvSpPr>
        <p:spPr>
          <a:xfrm>
            <a:off x="2509381" y="41193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等腰三角形 52"/>
          <p:cNvSpPr/>
          <p:nvPr/>
        </p:nvSpPr>
        <p:spPr>
          <a:xfrm>
            <a:off x="3776559" y="329433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等腰三角形 53"/>
          <p:cNvSpPr/>
          <p:nvPr/>
        </p:nvSpPr>
        <p:spPr>
          <a:xfrm>
            <a:off x="3776558" y="417750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等腰三角形 54"/>
          <p:cNvSpPr/>
          <p:nvPr/>
        </p:nvSpPr>
        <p:spPr>
          <a:xfrm>
            <a:off x="8324469" y="328257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等腰三角形 55"/>
          <p:cNvSpPr/>
          <p:nvPr/>
        </p:nvSpPr>
        <p:spPr>
          <a:xfrm>
            <a:off x="9712901" y="328107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等腰三角形 56"/>
          <p:cNvSpPr/>
          <p:nvPr/>
        </p:nvSpPr>
        <p:spPr>
          <a:xfrm>
            <a:off x="8322853" y="419586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等腰三角形 57"/>
          <p:cNvSpPr/>
          <p:nvPr/>
        </p:nvSpPr>
        <p:spPr>
          <a:xfrm>
            <a:off x="9728117" y="419586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等腰三角形 58"/>
          <p:cNvSpPr/>
          <p:nvPr/>
        </p:nvSpPr>
        <p:spPr>
          <a:xfrm>
            <a:off x="4059017" y="376304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等腰三角形 59"/>
          <p:cNvSpPr/>
          <p:nvPr/>
        </p:nvSpPr>
        <p:spPr>
          <a:xfrm>
            <a:off x="8080650" y="376304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/>
        </p:nvSpPr>
        <p:spPr>
          <a:xfrm>
            <a:off x="8299448" y="301645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Fa0/1</a:t>
            </a:r>
            <a:endParaRPr lang="zh-CN" altLang="en-US" b="1" dirty="0"/>
          </a:p>
        </p:txBody>
      </p:sp>
      <p:sp>
        <p:nvSpPr>
          <p:cNvPr id="48" name="文本框 47"/>
          <p:cNvSpPr txBox="1"/>
          <p:nvPr/>
        </p:nvSpPr>
        <p:spPr>
          <a:xfrm>
            <a:off x="9050192" y="301645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Fa0/2</a:t>
            </a:r>
            <a:endParaRPr lang="zh-CN" altLang="en-US" b="1" dirty="0"/>
          </a:p>
        </p:txBody>
      </p:sp>
      <p:sp>
        <p:nvSpPr>
          <p:cNvPr id="49" name="文本框 48"/>
          <p:cNvSpPr txBox="1"/>
          <p:nvPr/>
        </p:nvSpPr>
        <p:spPr>
          <a:xfrm>
            <a:off x="8299448" y="4172213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Fa0/3</a:t>
            </a:r>
            <a:endParaRPr lang="zh-CN" altLang="en-US" b="1" dirty="0"/>
          </a:p>
        </p:txBody>
      </p:sp>
      <p:sp>
        <p:nvSpPr>
          <p:cNvPr id="50" name="文本框 49"/>
          <p:cNvSpPr txBox="1"/>
          <p:nvPr/>
        </p:nvSpPr>
        <p:spPr>
          <a:xfrm>
            <a:off x="9035504" y="4172213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Fa0/4</a:t>
            </a:r>
            <a:endParaRPr lang="zh-CN" altLang="en-US" b="1" dirty="0"/>
          </a:p>
        </p:txBody>
      </p:sp>
      <p:sp>
        <p:nvSpPr>
          <p:cNvPr id="61" name="文本框 60"/>
          <p:cNvSpPr txBox="1"/>
          <p:nvPr/>
        </p:nvSpPr>
        <p:spPr>
          <a:xfrm>
            <a:off x="2399803" y="301645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Fa0/1</a:t>
            </a:r>
            <a:endParaRPr lang="zh-CN" altLang="en-US" b="1" dirty="0"/>
          </a:p>
        </p:txBody>
      </p:sp>
      <p:sp>
        <p:nvSpPr>
          <p:cNvPr id="62" name="文本框 61"/>
          <p:cNvSpPr txBox="1"/>
          <p:nvPr/>
        </p:nvSpPr>
        <p:spPr>
          <a:xfrm>
            <a:off x="3150547" y="301645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Fa0/2</a:t>
            </a:r>
            <a:endParaRPr lang="zh-CN" altLang="en-US" b="1" dirty="0"/>
          </a:p>
        </p:txBody>
      </p:sp>
      <p:sp>
        <p:nvSpPr>
          <p:cNvPr id="67" name="文本框 66"/>
          <p:cNvSpPr txBox="1"/>
          <p:nvPr/>
        </p:nvSpPr>
        <p:spPr>
          <a:xfrm>
            <a:off x="2399803" y="4172213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Fa0/3</a:t>
            </a:r>
            <a:endParaRPr lang="zh-CN" altLang="en-US" b="1" dirty="0"/>
          </a:p>
        </p:txBody>
      </p:sp>
      <p:sp>
        <p:nvSpPr>
          <p:cNvPr id="72" name="文本框 71"/>
          <p:cNvSpPr txBox="1"/>
          <p:nvPr/>
        </p:nvSpPr>
        <p:spPr>
          <a:xfrm>
            <a:off x="3135859" y="4172213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Fa0/4</a:t>
            </a:r>
            <a:endParaRPr lang="zh-CN" altLang="en-US" b="1" dirty="0"/>
          </a:p>
        </p:txBody>
      </p:sp>
      <p:sp>
        <p:nvSpPr>
          <p:cNvPr id="74" name="文本框 73"/>
          <p:cNvSpPr txBox="1"/>
          <p:nvPr/>
        </p:nvSpPr>
        <p:spPr>
          <a:xfrm>
            <a:off x="3429825" y="351339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Fa0/5</a:t>
            </a:r>
            <a:endParaRPr lang="zh-CN" altLang="en-US" b="1" dirty="0"/>
          </a:p>
        </p:txBody>
      </p:sp>
      <p:sp>
        <p:nvSpPr>
          <p:cNvPr id="75" name="文本框 74"/>
          <p:cNvSpPr txBox="1"/>
          <p:nvPr/>
        </p:nvSpPr>
        <p:spPr>
          <a:xfrm>
            <a:off x="8001195" y="351339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Fa0/5</a:t>
            </a:r>
            <a:endParaRPr lang="zh-CN" altLang="en-US" b="1" dirty="0"/>
          </a:p>
        </p:txBody>
      </p:sp>
      <p:sp>
        <p:nvSpPr>
          <p:cNvPr id="37" name="文本框 36"/>
          <p:cNvSpPr txBox="1"/>
          <p:nvPr/>
        </p:nvSpPr>
        <p:spPr>
          <a:xfrm>
            <a:off x="3174526" y="2786292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41" name="文本框 40"/>
          <p:cNvSpPr txBox="1"/>
          <p:nvPr/>
        </p:nvSpPr>
        <p:spPr>
          <a:xfrm>
            <a:off x="2287891" y="2786292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42" name="文本框 41"/>
          <p:cNvSpPr txBox="1"/>
          <p:nvPr/>
        </p:nvSpPr>
        <p:spPr>
          <a:xfrm>
            <a:off x="3174526" y="4405144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45" name="文本框 44"/>
          <p:cNvSpPr txBox="1"/>
          <p:nvPr/>
        </p:nvSpPr>
        <p:spPr>
          <a:xfrm>
            <a:off x="2287891" y="4405144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77" name="文本框 76"/>
          <p:cNvSpPr txBox="1"/>
          <p:nvPr/>
        </p:nvSpPr>
        <p:spPr>
          <a:xfrm>
            <a:off x="9074171" y="2786292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78" name="文本框 77"/>
          <p:cNvSpPr txBox="1"/>
          <p:nvPr/>
        </p:nvSpPr>
        <p:spPr>
          <a:xfrm>
            <a:off x="8187536" y="2786292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79" name="文本框 78"/>
          <p:cNvSpPr txBox="1"/>
          <p:nvPr/>
        </p:nvSpPr>
        <p:spPr>
          <a:xfrm>
            <a:off x="9074171" y="4405144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80" name="文本框 79"/>
          <p:cNvSpPr txBox="1"/>
          <p:nvPr/>
        </p:nvSpPr>
        <p:spPr>
          <a:xfrm>
            <a:off x="8187536" y="4405144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81" name="文本框 80"/>
          <p:cNvSpPr txBox="1"/>
          <p:nvPr/>
        </p:nvSpPr>
        <p:spPr>
          <a:xfrm>
            <a:off x="4101736" y="3513397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82" name="文本框 81"/>
          <p:cNvSpPr txBox="1"/>
          <p:nvPr/>
        </p:nvSpPr>
        <p:spPr>
          <a:xfrm>
            <a:off x="7362101" y="3513397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83" name="文本框 82"/>
          <p:cNvSpPr txBox="1"/>
          <p:nvPr/>
        </p:nvSpPr>
        <p:spPr>
          <a:xfrm>
            <a:off x="3185592" y="2550840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VLAN1</a:t>
            </a:r>
            <a:endParaRPr lang="zh-CN" altLang="en-US" b="1" dirty="0"/>
          </a:p>
        </p:txBody>
      </p:sp>
      <p:sp>
        <p:nvSpPr>
          <p:cNvPr id="84" name="文本框 83"/>
          <p:cNvSpPr txBox="1"/>
          <p:nvPr/>
        </p:nvSpPr>
        <p:spPr>
          <a:xfrm>
            <a:off x="2298957" y="2550840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VLAN1</a:t>
            </a:r>
            <a:endParaRPr lang="zh-CN" altLang="en-US" b="1" dirty="0"/>
          </a:p>
        </p:txBody>
      </p:sp>
      <p:sp>
        <p:nvSpPr>
          <p:cNvPr id="85" name="文本框 84"/>
          <p:cNvSpPr txBox="1"/>
          <p:nvPr/>
        </p:nvSpPr>
        <p:spPr>
          <a:xfrm>
            <a:off x="9085237" y="2550840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VLAN1</a:t>
            </a:r>
            <a:endParaRPr lang="zh-CN" altLang="en-US" b="1" dirty="0"/>
          </a:p>
        </p:txBody>
      </p:sp>
      <p:sp>
        <p:nvSpPr>
          <p:cNvPr id="86" name="文本框 85"/>
          <p:cNvSpPr txBox="1"/>
          <p:nvPr/>
        </p:nvSpPr>
        <p:spPr>
          <a:xfrm>
            <a:off x="8198602" y="2550840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VLAN1</a:t>
            </a:r>
            <a:endParaRPr lang="zh-CN" altLang="en-US" b="1" dirty="0"/>
          </a:p>
        </p:txBody>
      </p:sp>
      <p:sp>
        <p:nvSpPr>
          <p:cNvPr id="87" name="文本框 86"/>
          <p:cNvSpPr txBox="1"/>
          <p:nvPr/>
        </p:nvSpPr>
        <p:spPr>
          <a:xfrm>
            <a:off x="3174526" y="4633996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VLAN1</a:t>
            </a:r>
            <a:endParaRPr lang="zh-CN" altLang="en-US" b="1" dirty="0"/>
          </a:p>
        </p:txBody>
      </p:sp>
      <p:sp>
        <p:nvSpPr>
          <p:cNvPr id="88" name="文本框 87"/>
          <p:cNvSpPr txBox="1"/>
          <p:nvPr/>
        </p:nvSpPr>
        <p:spPr>
          <a:xfrm>
            <a:off x="2287891" y="4633996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VLAN1</a:t>
            </a:r>
            <a:endParaRPr lang="zh-CN" altLang="en-US" b="1" dirty="0"/>
          </a:p>
        </p:txBody>
      </p:sp>
      <p:sp>
        <p:nvSpPr>
          <p:cNvPr id="89" name="文本框 88"/>
          <p:cNvSpPr txBox="1"/>
          <p:nvPr/>
        </p:nvSpPr>
        <p:spPr>
          <a:xfrm>
            <a:off x="9074171" y="4633996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VLAN1</a:t>
            </a:r>
            <a:endParaRPr lang="zh-CN" altLang="en-US" b="1" dirty="0"/>
          </a:p>
        </p:txBody>
      </p:sp>
      <p:sp>
        <p:nvSpPr>
          <p:cNvPr id="90" name="文本框 89"/>
          <p:cNvSpPr txBox="1"/>
          <p:nvPr/>
        </p:nvSpPr>
        <p:spPr>
          <a:xfrm>
            <a:off x="8187536" y="4633996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VLAN1</a:t>
            </a:r>
            <a:endParaRPr lang="zh-CN" altLang="en-US" b="1" dirty="0"/>
          </a:p>
        </p:txBody>
      </p:sp>
      <p:sp>
        <p:nvSpPr>
          <p:cNvPr id="91" name="文本框 90"/>
          <p:cNvSpPr txBox="1"/>
          <p:nvPr/>
        </p:nvSpPr>
        <p:spPr>
          <a:xfrm>
            <a:off x="4871764" y="3512803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VLAN1</a:t>
            </a:r>
            <a:endParaRPr lang="zh-CN" altLang="en-US" b="1" dirty="0"/>
          </a:p>
        </p:txBody>
      </p:sp>
      <p:sp>
        <p:nvSpPr>
          <p:cNvPr id="93" name="文本框 92"/>
          <p:cNvSpPr txBox="1"/>
          <p:nvPr/>
        </p:nvSpPr>
        <p:spPr>
          <a:xfrm>
            <a:off x="6573894" y="3518652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VLAN1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980561" y="685800"/>
            <a:ext cx="2237362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8.  </a:t>
            </a:r>
            <a:r>
              <a:rPr lang="zh-CN" altLang="en-US" sz="2400" b="1" dirty="0"/>
              <a:t>测试广播域</a:t>
            </a:r>
            <a:endParaRPr lang="en-US" altLang="zh-CN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1764114" y="1849217"/>
            <a:ext cx="3384897" cy="1158662"/>
            <a:chOff x="8434812" y="4850009"/>
            <a:chExt cx="3384897" cy="1158662"/>
          </a:xfrm>
        </p:grpSpPr>
        <p:sp>
          <p:nvSpPr>
            <p:cNvPr id="92" name="文本框 91"/>
            <p:cNvSpPr txBox="1"/>
            <p:nvPr/>
          </p:nvSpPr>
          <p:spPr>
            <a:xfrm>
              <a:off x="8434812" y="4850009"/>
              <a:ext cx="3384897" cy="4987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❶ 切换到“模拟”工作模式</a:t>
              </a:r>
              <a:endParaRPr lang="zh-CN" altLang="en-US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cxnSp>
          <p:nvCxnSpPr>
            <p:cNvPr id="94" name="直接箭头连接符 93"/>
            <p:cNvCxnSpPr/>
            <p:nvPr/>
          </p:nvCxnSpPr>
          <p:spPr>
            <a:xfrm>
              <a:off x="9982515" y="5414602"/>
              <a:ext cx="0" cy="594069"/>
            </a:xfrm>
            <a:prstGeom prst="straightConnector1">
              <a:avLst/>
            </a:prstGeom>
            <a:ln w="25400">
              <a:solidFill>
                <a:schemeClr val="accent1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5" name="20 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8679" y="3087714"/>
            <a:ext cx="3158960" cy="1489940"/>
          </a:xfrm>
          <a:prstGeom prst="rect">
            <a:avLst/>
          </a:prstGeom>
        </p:spPr>
      </p:pic>
      <p:pic>
        <p:nvPicPr>
          <p:cNvPr id="96" name="20 9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515820"/>
            <a:ext cx="4244708" cy="899238"/>
          </a:xfrm>
          <a:prstGeom prst="rect">
            <a:avLst/>
          </a:prstGeom>
        </p:spPr>
      </p:pic>
      <p:grpSp>
        <p:nvGrpSpPr>
          <p:cNvPr id="97" name="组合 96"/>
          <p:cNvGrpSpPr/>
          <p:nvPr/>
        </p:nvGrpSpPr>
        <p:grpSpPr>
          <a:xfrm>
            <a:off x="7302452" y="2393555"/>
            <a:ext cx="4486760" cy="1238369"/>
            <a:chOff x="1192395" y="2211421"/>
            <a:chExt cx="4486760" cy="1238369"/>
          </a:xfrm>
        </p:grpSpPr>
        <p:sp>
          <p:nvSpPr>
            <p:cNvPr id="98" name="文本框 97"/>
            <p:cNvSpPr txBox="1"/>
            <p:nvPr/>
          </p:nvSpPr>
          <p:spPr>
            <a:xfrm>
              <a:off x="1192395" y="2741904"/>
              <a:ext cx="448676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❷  使用“添加复杂的</a:t>
              </a:r>
              <a:r>
                <a:rPr lang="en-US" altLang="zh-CN" sz="2000" b="1" dirty="0">
                  <a:solidFill>
                    <a:schemeClr val="accent1">
                      <a:lumMod val="75000"/>
                    </a:schemeClr>
                  </a:solidFill>
                </a:rPr>
                <a:t>PDU</a:t>
              </a:r>
              <a:r>
                <a:rPr lang="zh-CN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”工具，</a:t>
              </a:r>
              <a:endParaRPr lang="en-US" altLang="zh-CN" sz="2000" b="1" dirty="0">
                <a:solidFill>
                  <a:schemeClr val="accent1">
                    <a:lumMod val="75000"/>
                  </a:schemeClr>
                </a:solidFill>
              </a:endParaRPr>
            </a:p>
            <a:p>
              <a:r>
                <a:rPr lang="zh-CN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      让</a:t>
              </a:r>
              <a:r>
                <a:rPr lang="en-US" altLang="zh-CN" sz="2000" b="1" dirty="0">
                  <a:solidFill>
                    <a:schemeClr val="accent1">
                      <a:lumMod val="75000"/>
                    </a:schemeClr>
                  </a:solidFill>
                </a:rPr>
                <a:t>PC0</a:t>
              </a:r>
              <a:r>
                <a:rPr lang="zh-CN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发送广播帧。</a:t>
              </a:r>
              <a:endParaRPr lang="zh-CN" altLang="en-US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cxnSp>
          <p:nvCxnSpPr>
            <p:cNvPr id="99" name="直接箭头连接符 98"/>
            <p:cNvCxnSpPr/>
            <p:nvPr/>
          </p:nvCxnSpPr>
          <p:spPr>
            <a:xfrm flipV="1">
              <a:off x="3432375" y="2211421"/>
              <a:ext cx="0" cy="487469"/>
            </a:xfrm>
            <a:prstGeom prst="straightConnector1">
              <a:avLst/>
            </a:prstGeom>
            <a:ln w="25400">
              <a:solidFill>
                <a:schemeClr val="accent1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0" name="20 9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7902" y="4928740"/>
            <a:ext cx="3674712" cy="1366409"/>
          </a:xfrm>
          <a:prstGeom prst="rect">
            <a:avLst/>
          </a:prstGeom>
        </p:spPr>
      </p:pic>
      <p:grpSp>
        <p:nvGrpSpPr>
          <p:cNvPr id="101" name="组合 100"/>
          <p:cNvGrpSpPr/>
          <p:nvPr/>
        </p:nvGrpSpPr>
        <p:grpSpPr>
          <a:xfrm>
            <a:off x="7515946" y="4920440"/>
            <a:ext cx="4371254" cy="400110"/>
            <a:chOff x="4218128" y="5007273"/>
            <a:chExt cx="4371254" cy="400110"/>
          </a:xfrm>
        </p:grpSpPr>
        <p:sp>
          <p:nvSpPr>
            <p:cNvPr id="102" name="文本框 101"/>
            <p:cNvSpPr txBox="1"/>
            <p:nvPr/>
          </p:nvSpPr>
          <p:spPr>
            <a:xfrm>
              <a:off x="4794014" y="5007273"/>
              <a:ext cx="379536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❸  单击该按钮，进行单步模拟。</a:t>
              </a:r>
              <a:endParaRPr lang="zh-CN" altLang="en-US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cxnSp>
          <p:nvCxnSpPr>
            <p:cNvPr id="103" name="直接箭头连接符 102"/>
            <p:cNvCxnSpPr/>
            <p:nvPr/>
          </p:nvCxnSpPr>
          <p:spPr>
            <a:xfrm flipH="1">
              <a:off x="4218128" y="5186618"/>
              <a:ext cx="560504" cy="0"/>
            </a:xfrm>
            <a:prstGeom prst="straightConnector1">
              <a:avLst/>
            </a:prstGeom>
            <a:ln w="25400">
              <a:solidFill>
                <a:schemeClr val="accent1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304800" y="1439694"/>
            <a:ext cx="11596445" cy="4732506"/>
            <a:chOff x="304800" y="1439694"/>
            <a:chExt cx="11596445" cy="4732506"/>
          </a:xfrm>
        </p:grpSpPr>
        <p:sp>
          <p:nvSpPr>
            <p:cNvPr id="27" name="矩形 26"/>
            <p:cNvSpPr/>
            <p:nvPr/>
          </p:nvSpPr>
          <p:spPr>
            <a:xfrm>
              <a:off x="304800" y="1439694"/>
              <a:ext cx="11596445" cy="4732506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5069560" y="3962106"/>
              <a:ext cx="20510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 b="1" dirty="0"/>
                <a:t>广播域</a:t>
              </a:r>
              <a:endParaRPr lang="zh-CN" altLang="en-US" sz="2800" b="1" dirty="0"/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4980561" y="685800"/>
            <a:ext cx="2237362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8.  </a:t>
            </a:r>
            <a:r>
              <a:rPr lang="zh-CN" altLang="en-US" sz="2400" b="1" dirty="0"/>
              <a:t>测试广播域</a:t>
            </a:r>
            <a:endParaRPr lang="en-US" altLang="zh-CN" sz="24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985104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192.168.0.5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1012771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192.168.0.1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4" name="文本框 13"/>
          <p:cNvSpPr txBox="1"/>
          <p:nvPr/>
        </p:nvSpPr>
        <p:spPr>
          <a:xfrm>
            <a:off x="3670211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192.168.0.2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8" name="文本框 17"/>
          <p:cNvSpPr txBox="1"/>
          <p:nvPr/>
        </p:nvSpPr>
        <p:spPr>
          <a:xfrm>
            <a:off x="4014643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192.168.0.6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9" name="文本框 18"/>
          <p:cNvSpPr txBox="1"/>
          <p:nvPr/>
        </p:nvSpPr>
        <p:spPr>
          <a:xfrm>
            <a:off x="6884749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192.168.0.7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22" name="文本框 21"/>
          <p:cNvSpPr txBox="1"/>
          <p:nvPr/>
        </p:nvSpPr>
        <p:spPr>
          <a:xfrm>
            <a:off x="6912416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192.168.0.3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23" name="文本框 22"/>
          <p:cNvSpPr txBox="1"/>
          <p:nvPr/>
        </p:nvSpPr>
        <p:spPr>
          <a:xfrm>
            <a:off x="9569856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192.168.0.4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26" name="文本框 25"/>
          <p:cNvSpPr txBox="1"/>
          <p:nvPr/>
        </p:nvSpPr>
        <p:spPr>
          <a:xfrm>
            <a:off x="9914288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192.168.0.8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cxnSp>
        <p:nvCxnSpPr>
          <p:cNvPr id="8" name="直接连接符 7"/>
          <p:cNvCxnSpPr/>
          <p:nvPr/>
        </p:nvCxnSpPr>
        <p:spPr>
          <a:xfrm>
            <a:off x="713110" y="2162267"/>
            <a:ext cx="2341759" cy="15474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等腰三角形 9"/>
          <p:cNvSpPr/>
          <p:nvPr/>
        </p:nvSpPr>
        <p:spPr>
          <a:xfrm>
            <a:off x="1190792" y="246301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 flipV="1">
            <a:off x="713110" y="3902316"/>
            <a:ext cx="2283201" cy="15150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等腰三角形 16"/>
          <p:cNvSpPr/>
          <p:nvPr/>
        </p:nvSpPr>
        <p:spPr>
          <a:xfrm>
            <a:off x="1190792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连接符 19"/>
          <p:cNvCxnSpPr/>
          <p:nvPr/>
        </p:nvCxnSpPr>
        <p:spPr>
          <a:xfrm flipV="1">
            <a:off x="3370466" y="2108892"/>
            <a:ext cx="2109833" cy="160085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等腰三角形 20"/>
          <p:cNvSpPr/>
          <p:nvPr/>
        </p:nvSpPr>
        <p:spPr>
          <a:xfrm>
            <a:off x="4942426" y="24111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连接符 23"/>
          <p:cNvCxnSpPr/>
          <p:nvPr/>
        </p:nvCxnSpPr>
        <p:spPr>
          <a:xfrm>
            <a:off x="3300727" y="3859446"/>
            <a:ext cx="2292563" cy="161241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等腰三角形 24"/>
          <p:cNvSpPr/>
          <p:nvPr/>
        </p:nvSpPr>
        <p:spPr>
          <a:xfrm>
            <a:off x="4942426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" name="直接连接符 27"/>
          <p:cNvCxnSpPr/>
          <p:nvPr/>
        </p:nvCxnSpPr>
        <p:spPr>
          <a:xfrm>
            <a:off x="6612755" y="2162267"/>
            <a:ext cx="2341759" cy="15474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等腰三角形 28"/>
          <p:cNvSpPr/>
          <p:nvPr/>
        </p:nvSpPr>
        <p:spPr>
          <a:xfrm>
            <a:off x="7090437" y="246301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" name="直接连接符 31"/>
          <p:cNvCxnSpPr/>
          <p:nvPr/>
        </p:nvCxnSpPr>
        <p:spPr>
          <a:xfrm flipV="1">
            <a:off x="6612755" y="3902316"/>
            <a:ext cx="2283201" cy="15150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等腰三角形 32"/>
          <p:cNvSpPr/>
          <p:nvPr/>
        </p:nvSpPr>
        <p:spPr>
          <a:xfrm>
            <a:off x="7090437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8" name="直接连接符 37"/>
          <p:cNvCxnSpPr/>
          <p:nvPr/>
        </p:nvCxnSpPr>
        <p:spPr>
          <a:xfrm flipV="1">
            <a:off x="9270111" y="2108892"/>
            <a:ext cx="2109833" cy="160085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等腰三角形 39"/>
          <p:cNvSpPr/>
          <p:nvPr/>
        </p:nvSpPr>
        <p:spPr>
          <a:xfrm>
            <a:off x="10842071" y="24111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3" name="直接连接符 42"/>
          <p:cNvCxnSpPr/>
          <p:nvPr/>
        </p:nvCxnSpPr>
        <p:spPr>
          <a:xfrm>
            <a:off x="9200372" y="3859446"/>
            <a:ext cx="2292563" cy="161241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等腰三角形 43"/>
          <p:cNvSpPr/>
          <p:nvPr/>
        </p:nvSpPr>
        <p:spPr>
          <a:xfrm>
            <a:off x="10842071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" name="直接连接符 46"/>
          <p:cNvCxnSpPr/>
          <p:nvPr/>
        </p:nvCxnSpPr>
        <p:spPr>
          <a:xfrm>
            <a:off x="3497998" y="3826236"/>
            <a:ext cx="5333835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9" name="20 8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544" y="5242879"/>
            <a:ext cx="539132" cy="457973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04800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PC4</a:t>
            </a:r>
            <a:endParaRPr lang="zh-CN" altLang="en-US" b="1" dirty="0"/>
          </a:p>
        </p:txBody>
      </p:sp>
      <p:pic>
        <p:nvPicPr>
          <p:cNvPr id="12" name="20 11" descr="图标&#10;&#10;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1054" y="3667774"/>
            <a:ext cx="646944" cy="332541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799091" y="3630983"/>
            <a:ext cx="1965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2960-24TT  Switch0</a:t>
            </a:r>
            <a:endParaRPr lang="zh-CN" altLang="en-US" b="1" dirty="0"/>
          </a:p>
        </p:txBody>
      </p:sp>
      <p:pic>
        <p:nvPicPr>
          <p:cNvPr id="5" name="20 4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724" y="5242879"/>
            <a:ext cx="539132" cy="457973"/>
          </a:xfrm>
          <a:prstGeom prst="rect">
            <a:avLst/>
          </a:prstGeom>
        </p:spPr>
      </p:pic>
      <p:pic>
        <p:nvPicPr>
          <p:cNvPr id="6" name="20 5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544" y="1967237"/>
            <a:ext cx="539132" cy="457973"/>
          </a:xfrm>
          <a:prstGeom prst="rect">
            <a:avLst/>
          </a:prstGeom>
        </p:spPr>
      </p:pic>
      <p:pic>
        <p:nvPicPr>
          <p:cNvPr id="7" name="20 6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724" y="1967237"/>
            <a:ext cx="539132" cy="457973"/>
          </a:xfrm>
          <a:prstGeom prst="rect">
            <a:avLst/>
          </a:prstGeom>
        </p:spPr>
      </p:pic>
      <p:sp>
        <p:nvSpPr>
          <p:cNvPr id="34" name="文本框 33"/>
          <p:cNvSpPr txBox="1"/>
          <p:nvPr/>
        </p:nvSpPr>
        <p:spPr>
          <a:xfrm>
            <a:off x="304800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sp>
        <p:nvSpPr>
          <p:cNvPr id="36" name="文本框 35"/>
          <p:cNvSpPr txBox="1"/>
          <p:nvPr/>
        </p:nvSpPr>
        <p:spPr>
          <a:xfrm>
            <a:off x="5184980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PC1</a:t>
            </a:r>
            <a:endParaRPr lang="zh-CN" altLang="en-US" b="1" dirty="0"/>
          </a:p>
        </p:txBody>
      </p:sp>
      <p:sp>
        <p:nvSpPr>
          <p:cNvPr id="39" name="文本框 38"/>
          <p:cNvSpPr txBox="1"/>
          <p:nvPr/>
        </p:nvSpPr>
        <p:spPr>
          <a:xfrm>
            <a:off x="5136948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PC5</a:t>
            </a:r>
            <a:endParaRPr lang="zh-CN" altLang="en-US" b="1" dirty="0"/>
          </a:p>
        </p:txBody>
      </p:sp>
      <p:pic>
        <p:nvPicPr>
          <p:cNvPr id="63" name="20 62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189" y="5242879"/>
            <a:ext cx="539132" cy="457973"/>
          </a:xfrm>
          <a:prstGeom prst="rect">
            <a:avLst/>
          </a:prstGeom>
        </p:spPr>
      </p:pic>
      <p:sp>
        <p:nvSpPr>
          <p:cNvPr id="64" name="文本框 63"/>
          <p:cNvSpPr txBox="1"/>
          <p:nvPr/>
        </p:nvSpPr>
        <p:spPr>
          <a:xfrm>
            <a:off x="6204445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PC6</a:t>
            </a:r>
            <a:endParaRPr lang="zh-CN" altLang="en-US" b="1" dirty="0"/>
          </a:p>
        </p:txBody>
      </p:sp>
      <p:pic>
        <p:nvPicPr>
          <p:cNvPr id="65" name="20 64" descr="图标&#10;&#10;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699" y="3667774"/>
            <a:ext cx="646944" cy="332541"/>
          </a:xfrm>
          <a:prstGeom prst="rect">
            <a:avLst/>
          </a:prstGeom>
        </p:spPr>
      </p:pic>
      <p:sp>
        <p:nvSpPr>
          <p:cNvPr id="66" name="文本框 65"/>
          <p:cNvSpPr txBox="1"/>
          <p:nvPr/>
        </p:nvSpPr>
        <p:spPr>
          <a:xfrm>
            <a:off x="9390051" y="3630983"/>
            <a:ext cx="1965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2960-24TT  Switch1</a:t>
            </a:r>
            <a:endParaRPr lang="zh-CN" altLang="en-US" b="1" dirty="0"/>
          </a:p>
        </p:txBody>
      </p:sp>
      <p:pic>
        <p:nvPicPr>
          <p:cNvPr id="68" name="20 67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3369" y="5242879"/>
            <a:ext cx="539132" cy="457973"/>
          </a:xfrm>
          <a:prstGeom prst="rect">
            <a:avLst/>
          </a:prstGeom>
        </p:spPr>
      </p:pic>
      <p:pic>
        <p:nvPicPr>
          <p:cNvPr id="69" name="20 68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189" y="1967237"/>
            <a:ext cx="539132" cy="457973"/>
          </a:xfrm>
          <a:prstGeom prst="rect">
            <a:avLst/>
          </a:prstGeom>
        </p:spPr>
      </p:pic>
      <p:pic>
        <p:nvPicPr>
          <p:cNvPr id="70" name="20 69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3369" y="1967237"/>
            <a:ext cx="539132" cy="457973"/>
          </a:xfrm>
          <a:prstGeom prst="rect">
            <a:avLst/>
          </a:prstGeom>
        </p:spPr>
      </p:pic>
      <p:sp>
        <p:nvSpPr>
          <p:cNvPr id="71" name="文本框 70"/>
          <p:cNvSpPr txBox="1"/>
          <p:nvPr/>
        </p:nvSpPr>
        <p:spPr>
          <a:xfrm>
            <a:off x="6204445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PC2</a:t>
            </a:r>
            <a:endParaRPr lang="zh-CN" altLang="en-US" b="1" dirty="0"/>
          </a:p>
        </p:txBody>
      </p:sp>
      <p:sp>
        <p:nvSpPr>
          <p:cNvPr id="73" name="文本框 72"/>
          <p:cNvSpPr txBox="1"/>
          <p:nvPr/>
        </p:nvSpPr>
        <p:spPr>
          <a:xfrm>
            <a:off x="11084625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PC3</a:t>
            </a:r>
            <a:endParaRPr lang="zh-CN" altLang="en-US" b="1" dirty="0"/>
          </a:p>
        </p:txBody>
      </p:sp>
      <p:sp>
        <p:nvSpPr>
          <p:cNvPr id="76" name="文本框 75"/>
          <p:cNvSpPr txBox="1"/>
          <p:nvPr/>
        </p:nvSpPr>
        <p:spPr>
          <a:xfrm>
            <a:off x="11036593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PC7</a:t>
            </a:r>
            <a:endParaRPr lang="zh-CN" altLang="en-US" b="1" dirty="0"/>
          </a:p>
        </p:txBody>
      </p:sp>
      <p:sp>
        <p:nvSpPr>
          <p:cNvPr id="51" name="等腰三角形 50"/>
          <p:cNvSpPr/>
          <p:nvPr/>
        </p:nvSpPr>
        <p:spPr>
          <a:xfrm>
            <a:off x="2509381" y="3309403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等腰三角形 51"/>
          <p:cNvSpPr/>
          <p:nvPr/>
        </p:nvSpPr>
        <p:spPr>
          <a:xfrm>
            <a:off x="2509381" y="41193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等腰三角形 52"/>
          <p:cNvSpPr/>
          <p:nvPr/>
        </p:nvSpPr>
        <p:spPr>
          <a:xfrm>
            <a:off x="3776559" y="329433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等腰三角形 53"/>
          <p:cNvSpPr/>
          <p:nvPr/>
        </p:nvSpPr>
        <p:spPr>
          <a:xfrm>
            <a:off x="3776558" y="417750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等腰三角形 54"/>
          <p:cNvSpPr/>
          <p:nvPr/>
        </p:nvSpPr>
        <p:spPr>
          <a:xfrm>
            <a:off x="8324469" y="328257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等腰三角形 55"/>
          <p:cNvSpPr/>
          <p:nvPr/>
        </p:nvSpPr>
        <p:spPr>
          <a:xfrm>
            <a:off x="9712901" y="328107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等腰三角形 56"/>
          <p:cNvSpPr/>
          <p:nvPr/>
        </p:nvSpPr>
        <p:spPr>
          <a:xfrm>
            <a:off x="8322853" y="419586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等腰三角形 57"/>
          <p:cNvSpPr/>
          <p:nvPr/>
        </p:nvSpPr>
        <p:spPr>
          <a:xfrm>
            <a:off x="9728117" y="419586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等腰三角形 58"/>
          <p:cNvSpPr/>
          <p:nvPr/>
        </p:nvSpPr>
        <p:spPr>
          <a:xfrm>
            <a:off x="4059017" y="376304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等腰三角形 59"/>
          <p:cNvSpPr/>
          <p:nvPr/>
        </p:nvSpPr>
        <p:spPr>
          <a:xfrm>
            <a:off x="8080650" y="376304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/>
        </p:nvSpPr>
        <p:spPr>
          <a:xfrm>
            <a:off x="8299448" y="301645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Fa0/1</a:t>
            </a:r>
            <a:endParaRPr lang="zh-CN" altLang="en-US" b="1" dirty="0"/>
          </a:p>
        </p:txBody>
      </p:sp>
      <p:sp>
        <p:nvSpPr>
          <p:cNvPr id="48" name="文本框 47"/>
          <p:cNvSpPr txBox="1"/>
          <p:nvPr/>
        </p:nvSpPr>
        <p:spPr>
          <a:xfrm>
            <a:off x="9050192" y="301645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Fa0/2</a:t>
            </a:r>
            <a:endParaRPr lang="zh-CN" altLang="en-US" b="1" dirty="0"/>
          </a:p>
        </p:txBody>
      </p:sp>
      <p:sp>
        <p:nvSpPr>
          <p:cNvPr id="49" name="文本框 48"/>
          <p:cNvSpPr txBox="1"/>
          <p:nvPr/>
        </p:nvSpPr>
        <p:spPr>
          <a:xfrm>
            <a:off x="8299448" y="4172213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Fa0/3</a:t>
            </a:r>
            <a:endParaRPr lang="zh-CN" altLang="en-US" b="1" dirty="0"/>
          </a:p>
        </p:txBody>
      </p:sp>
      <p:sp>
        <p:nvSpPr>
          <p:cNvPr id="50" name="文本框 49"/>
          <p:cNvSpPr txBox="1"/>
          <p:nvPr/>
        </p:nvSpPr>
        <p:spPr>
          <a:xfrm>
            <a:off x="9035504" y="4172213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Fa0/4</a:t>
            </a:r>
            <a:endParaRPr lang="zh-CN" altLang="en-US" b="1" dirty="0"/>
          </a:p>
        </p:txBody>
      </p:sp>
      <p:sp>
        <p:nvSpPr>
          <p:cNvPr id="61" name="文本框 60"/>
          <p:cNvSpPr txBox="1"/>
          <p:nvPr/>
        </p:nvSpPr>
        <p:spPr>
          <a:xfrm>
            <a:off x="2399803" y="301645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Fa0/1</a:t>
            </a:r>
            <a:endParaRPr lang="zh-CN" altLang="en-US" b="1" dirty="0"/>
          </a:p>
        </p:txBody>
      </p:sp>
      <p:sp>
        <p:nvSpPr>
          <p:cNvPr id="62" name="文本框 61"/>
          <p:cNvSpPr txBox="1"/>
          <p:nvPr/>
        </p:nvSpPr>
        <p:spPr>
          <a:xfrm>
            <a:off x="3150547" y="301645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Fa0/2</a:t>
            </a:r>
            <a:endParaRPr lang="zh-CN" altLang="en-US" b="1" dirty="0"/>
          </a:p>
        </p:txBody>
      </p:sp>
      <p:sp>
        <p:nvSpPr>
          <p:cNvPr id="67" name="文本框 66"/>
          <p:cNvSpPr txBox="1"/>
          <p:nvPr/>
        </p:nvSpPr>
        <p:spPr>
          <a:xfrm>
            <a:off x="2399803" y="4172213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Fa0/3</a:t>
            </a:r>
            <a:endParaRPr lang="zh-CN" altLang="en-US" b="1" dirty="0"/>
          </a:p>
        </p:txBody>
      </p:sp>
      <p:sp>
        <p:nvSpPr>
          <p:cNvPr id="72" name="文本框 71"/>
          <p:cNvSpPr txBox="1"/>
          <p:nvPr/>
        </p:nvSpPr>
        <p:spPr>
          <a:xfrm>
            <a:off x="3135859" y="4172213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Fa0/4</a:t>
            </a:r>
            <a:endParaRPr lang="zh-CN" altLang="en-US" b="1" dirty="0"/>
          </a:p>
        </p:txBody>
      </p:sp>
      <p:sp>
        <p:nvSpPr>
          <p:cNvPr id="74" name="文本框 73"/>
          <p:cNvSpPr txBox="1"/>
          <p:nvPr/>
        </p:nvSpPr>
        <p:spPr>
          <a:xfrm>
            <a:off x="3429825" y="351339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Fa0/5</a:t>
            </a:r>
            <a:endParaRPr lang="zh-CN" altLang="en-US" b="1" dirty="0"/>
          </a:p>
        </p:txBody>
      </p:sp>
      <p:sp>
        <p:nvSpPr>
          <p:cNvPr id="75" name="文本框 74"/>
          <p:cNvSpPr txBox="1"/>
          <p:nvPr/>
        </p:nvSpPr>
        <p:spPr>
          <a:xfrm>
            <a:off x="8001195" y="351339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Fa0/5</a:t>
            </a:r>
            <a:endParaRPr lang="zh-CN" altLang="en-US" b="1" dirty="0"/>
          </a:p>
        </p:txBody>
      </p:sp>
      <p:sp>
        <p:nvSpPr>
          <p:cNvPr id="37" name="文本框 36"/>
          <p:cNvSpPr txBox="1"/>
          <p:nvPr/>
        </p:nvSpPr>
        <p:spPr>
          <a:xfrm>
            <a:off x="3174526" y="2786292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41" name="文本框 40"/>
          <p:cNvSpPr txBox="1"/>
          <p:nvPr/>
        </p:nvSpPr>
        <p:spPr>
          <a:xfrm>
            <a:off x="2287891" y="2786292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42" name="文本框 41"/>
          <p:cNvSpPr txBox="1"/>
          <p:nvPr/>
        </p:nvSpPr>
        <p:spPr>
          <a:xfrm>
            <a:off x="3174526" y="4405144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45" name="文本框 44"/>
          <p:cNvSpPr txBox="1"/>
          <p:nvPr/>
        </p:nvSpPr>
        <p:spPr>
          <a:xfrm>
            <a:off x="2287891" y="4405144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77" name="文本框 76"/>
          <p:cNvSpPr txBox="1"/>
          <p:nvPr/>
        </p:nvSpPr>
        <p:spPr>
          <a:xfrm>
            <a:off x="9074171" y="2786292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78" name="文本框 77"/>
          <p:cNvSpPr txBox="1"/>
          <p:nvPr/>
        </p:nvSpPr>
        <p:spPr>
          <a:xfrm>
            <a:off x="8187536" y="2786292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79" name="文本框 78"/>
          <p:cNvSpPr txBox="1"/>
          <p:nvPr/>
        </p:nvSpPr>
        <p:spPr>
          <a:xfrm>
            <a:off x="9074171" y="4405144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80" name="文本框 79"/>
          <p:cNvSpPr txBox="1"/>
          <p:nvPr/>
        </p:nvSpPr>
        <p:spPr>
          <a:xfrm>
            <a:off x="8187536" y="4405144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81" name="文本框 80"/>
          <p:cNvSpPr txBox="1"/>
          <p:nvPr/>
        </p:nvSpPr>
        <p:spPr>
          <a:xfrm>
            <a:off x="4101736" y="3513397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82" name="文本框 81"/>
          <p:cNvSpPr txBox="1"/>
          <p:nvPr/>
        </p:nvSpPr>
        <p:spPr>
          <a:xfrm>
            <a:off x="7362101" y="3513397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83" name="文本框 82"/>
          <p:cNvSpPr txBox="1"/>
          <p:nvPr/>
        </p:nvSpPr>
        <p:spPr>
          <a:xfrm>
            <a:off x="3185592" y="2550840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VLAN1</a:t>
            </a:r>
            <a:endParaRPr lang="zh-CN" altLang="en-US" b="1" dirty="0"/>
          </a:p>
        </p:txBody>
      </p:sp>
      <p:sp>
        <p:nvSpPr>
          <p:cNvPr id="84" name="文本框 83"/>
          <p:cNvSpPr txBox="1"/>
          <p:nvPr/>
        </p:nvSpPr>
        <p:spPr>
          <a:xfrm>
            <a:off x="2298957" y="2550840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VLAN1</a:t>
            </a:r>
            <a:endParaRPr lang="zh-CN" altLang="en-US" b="1" dirty="0"/>
          </a:p>
        </p:txBody>
      </p:sp>
      <p:sp>
        <p:nvSpPr>
          <p:cNvPr id="85" name="文本框 84"/>
          <p:cNvSpPr txBox="1"/>
          <p:nvPr/>
        </p:nvSpPr>
        <p:spPr>
          <a:xfrm>
            <a:off x="9085237" y="2550840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VLAN1</a:t>
            </a:r>
            <a:endParaRPr lang="zh-CN" altLang="en-US" b="1" dirty="0"/>
          </a:p>
        </p:txBody>
      </p:sp>
      <p:sp>
        <p:nvSpPr>
          <p:cNvPr id="86" name="文本框 85"/>
          <p:cNvSpPr txBox="1"/>
          <p:nvPr/>
        </p:nvSpPr>
        <p:spPr>
          <a:xfrm>
            <a:off x="8198602" y="2550840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VLAN1</a:t>
            </a:r>
            <a:endParaRPr lang="zh-CN" altLang="en-US" b="1" dirty="0"/>
          </a:p>
        </p:txBody>
      </p:sp>
      <p:sp>
        <p:nvSpPr>
          <p:cNvPr id="87" name="文本框 86"/>
          <p:cNvSpPr txBox="1"/>
          <p:nvPr/>
        </p:nvSpPr>
        <p:spPr>
          <a:xfrm>
            <a:off x="3174526" y="4633996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VLAN1</a:t>
            </a:r>
            <a:endParaRPr lang="zh-CN" altLang="en-US" b="1" dirty="0"/>
          </a:p>
        </p:txBody>
      </p:sp>
      <p:sp>
        <p:nvSpPr>
          <p:cNvPr id="88" name="文本框 87"/>
          <p:cNvSpPr txBox="1"/>
          <p:nvPr/>
        </p:nvSpPr>
        <p:spPr>
          <a:xfrm>
            <a:off x="2287891" y="4633996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VLAN1</a:t>
            </a:r>
            <a:endParaRPr lang="zh-CN" altLang="en-US" b="1" dirty="0"/>
          </a:p>
        </p:txBody>
      </p:sp>
      <p:sp>
        <p:nvSpPr>
          <p:cNvPr id="89" name="文本框 88"/>
          <p:cNvSpPr txBox="1"/>
          <p:nvPr/>
        </p:nvSpPr>
        <p:spPr>
          <a:xfrm>
            <a:off x="9074171" y="4633996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VLAN1</a:t>
            </a:r>
            <a:endParaRPr lang="zh-CN" altLang="en-US" b="1" dirty="0"/>
          </a:p>
        </p:txBody>
      </p:sp>
      <p:sp>
        <p:nvSpPr>
          <p:cNvPr id="90" name="文本框 89"/>
          <p:cNvSpPr txBox="1"/>
          <p:nvPr/>
        </p:nvSpPr>
        <p:spPr>
          <a:xfrm>
            <a:off x="8187536" y="4633996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VLAN1</a:t>
            </a:r>
            <a:endParaRPr lang="zh-CN" altLang="en-US" b="1" dirty="0"/>
          </a:p>
        </p:txBody>
      </p:sp>
      <p:sp>
        <p:nvSpPr>
          <p:cNvPr id="91" name="文本框 90"/>
          <p:cNvSpPr txBox="1"/>
          <p:nvPr/>
        </p:nvSpPr>
        <p:spPr>
          <a:xfrm>
            <a:off x="4871764" y="3512803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VLAN1</a:t>
            </a:r>
            <a:endParaRPr lang="zh-CN" altLang="en-US" b="1" dirty="0"/>
          </a:p>
        </p:txBody>
      </p:sp>
      <p:sp>
        <p:nvSpPr>
          <p:cNvPr id="93" name="文本框 92"/>
          <p:cNvSpPr txBox="1"/>
          <p:nvPr/>
        </p:nvSpPr>
        <p:spPr>
          <a:xfrm>
            <a:off x="6573894" y="3518652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VLAN1</a:t>
            </a:r>
            <a:endParaRPr lang="zh-CN" altLang="en-US" b="1" dirty="0"/>
          </a:p>
        </p:txBody>
      </p:sp>
      <p:sp>
        <p:nvSpPr>
          <p:cNvPr id="31" name="标注: 右箭头 30"/>
          <p:cNvSpPr/>
          <p:nvPr/>
        </p:nvSpPr>
        <p:spPr>
          <a:xfrm rot="2048446">
            <a:off x="1129654" y="2972110"/>
            <a:ext cx="1257333" cy="386769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83744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广播</a:t>
            </a:r>
            <a:endParaRPr lang="zh-CN" altLang="en-US" sz="2000" b="1" dirty="0"/>
          </a:p>
        </p:txBody>
      </p:sp>
      <p:sp>
        <p:nvSpPr>
          <p:cNvPr id="92" name="标注: 右箭头 91"/>
          <p:cNvSpPr/>
          <p:nvPr/>
        </p:nvSpPr>
        <p:spPr>
          <a:xfrm rot="19391648">
            <a:off x="4026019" y="2884486"/>
            <a:ext cx="1257333" cy="386769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83744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广播</a:t>
            </a:r>
            <a:endParaRPr lang="zh-CN" altLang="en-US" sz="2000" b="1" dirty="0"/>
          </a:p>
        </p:txBody>
      </p:sp>
      <p:sp>
        <p:nvSpPr>
          <p:cNvPr id="94" name="标注: 右箭头 93"/>
          <p:cNvSpPr/>
          <p:nvPr/>
        </p:nvSpPr>
        <p:spPr>
          <a:xfrm rot="2048446">
            <a:off x="4037618" y="4285148"/>
            <a:ext cx="1257333" cy="386769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83744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广播</a:t>
            </a:r>
            <a:endParaRPr lang="zh-CN" altLang="en-US" sz="2000" b="1" dirty="0"/>
          </a:p>
        </p:txBody>
      </p:sp>
      <p:sp>
        <p:nvSpPr>
          <p:cNvPr id="95" name="标注: 右箭头 94"/>
          <p:cNvSpPr/>
          <p:nvPr/>
        </p:nvSpPr>
        <p:spPr>
          <a:xfrm>
            <a:off x="5588460" y="3389162"/>
            <a:ext cx="1257333" cy="386769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83744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广播</a:t>
            </a:r>
            <a:endParaRPr lang="zh-CN" altLang="en-US" sz="2000" b="1" dirty="0"/>
          </a:p>
        </p:txBody>
      </p:sp>
      <p:sp>
        <p:nvSpPr>
          <p:cNvPr id="97" name="标注: 右箭头 96"/>
          <p:cNvSpPr/>
          <p:nvPr/>
        </p:nvSpPr>
        <p:spPr>
          <a:xfrm rot="19391648">
            <a:off x="9941056" y="2855013"/>
            <a:ext cx="1257333" cy="386769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83744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广播</a:t>
            </a:r>
            <a:endParaRPr lang="zh-CN" altLang="en-US" sz="2000" b="1" dirty="0"/>
          </a:p>
        </p:txBody>
      </p:sp>
      <p:sp>
        <p:nvSpPr>
          <p:cNvPr id="98" name="标注: 右箭头 97"/>
          <p:cNvSpPr/>
          <p:nvPr/>
        </p:nvSpPr>
        <p:spPr>
          <a:xfrm rot="2048446">
            <a:off x="9949929" y="4308837"/>
            <a:ext cx="1257333" cy="386769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83744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广播</a:t>
            </a:r>
            <a:endParaRPr lang="zh-CN" altLang="en-US" sz="2000" b="1" dirty="0"/>
          </a:p>
        </p:txBody>
      </p:sp>
      <p:sp>
        <p:nvSpPr>
          <p:cNvPr id="100" name="标注: 左箭头 99"/>
          <p:cNvSpPr/>
          <p:nvPr/>
        </p:nvSpPr>
        <p:spPr>
          <a:xfrm rot="19553018">
            <a:off x="1313064" y="4733210"/>
            <a:ext cx="1229098" cy="365988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83972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广播</a:t>
            </a:r>
            <a:endParaRPr lang="zh-CN" altLang="en-US" sz="2000" b="1" dirty="0"/>
          </a:p>
        </p:txBody>
      </p:sp>
      <p:sp>
        <p:nvSpPr>
          <p:cNvPr id="101" name="标注: 左箭头 100"/>
          <p:cNvSpPr/>
          <p:nvPr/>
        </p:nvSpPr>
        <p:spPr>
          <a:xfrm rot="19553018">
            <a:off x="6955869" y="4315693"/>
            <a:ext cx="1229098" cy="365988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83972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广播</a:t>
            </a:r>
            <a:endParaRPr lang="zh-CN" altLang="en-US" sz="2000" b="1" dirty="0"/>
          </a:p>
        </p:txBody>
      </p:sp>
      <p:sp>
        <p:nvSpPr>
          <p:cNvPr id="102" name="标注: 左箭头 101"/>
          <p:cNvSpPr/>
          <p:nvPr/>
        </p:nvSpPr>
        <p:spPr>
          <a:xfrm rot="2052907">
            <a:off x="6984784" y="2914618"/>
            <a:ext cx="1229098" cy="365988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83972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广播</a:t>
            </a:r>
            <a:endParaRPr lang="zh-CN" altLang="en-US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92" grpId="0" animBg="1"/>
      <p:bldP spid="94" grpId="0" animBg="1"/>
      <p:bldP spid="95" grpId="0" animBg="1"/>
      <p:bldP spid="97" grpId="0" animBg="1"/>
      <p:bldP spid="98" grpId="0" animBg="1"/>
      <p:bldP spid="100" grpId="0" animBg="1"/>
      <p:bldP spid="101" grpId="0" animBg="1"/>
      <p:bldP spid="10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370963" y="685800"/>
            <a:ext cx="3454123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9.  </a:t>
            </a:r>
            <a:r>
              <a:rPr lang="zh-CN" altLang="en-US" sz="2400" b="1" dirty="0"/>
              <a:t>在交换机上创建</a:t>
            </a:r>
            <a:r>
              <a:rPr lang="en-US" altLang="zh-CN" sz="2400" b="1" dirty="0"/>
              <a:t>VLAN</a:t>
            </a:r>
            <a:endParaRPr lang="en-US" altLang="zh-CN" sz="2400" b="1" dirty="0"/>
          </a:p>
        </p:txBody>
      </p:sp>
      <p:grpSp>
        <p:nvGrpSpPr>
          <p:cNvPr id="35" name="组合 34"/>
          <p:cNvGrpSpPr/>
          <p:nvPr/>
        </p:nvGrpSpPr>
        <p:grpSpPr>
          <a:xfrm>
            <a:off x="304800" y="1439694"/>
            <a:ext cx="11596445" cy="4732506"/>
            <a:chOff x="304800" y="1439694"/>
            <a:chExt cx="11596445" cy="4732506"/>
          </a:xfrm>
        </p:grpSpPr>
        <p:sp>
          <p:nvSpPr>
            <p:cNvPr id="27" name="矩形 26"/>
            <p:cNvSpPr/>
            <p:nvPr/>
          </p:nvSpPr>
          <p:spPr>
            <a:xfrm>
              <a:off x="304800" y="1439694"/>
              <a:ext cx="11596445" cy="4732506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5069560" y="3962106"/>
              <a:ext cx="20510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 b="1" dirty="0"/>
                <a:t>广播域</a:t>
              </a:r>
              <a:endParaRPr lang="zh-CN" altLang="en-US" sz="2800" b="1" dirty="0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985104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192.168.0.5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1012771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192.168.0.1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4" name="文本框 13"/>
          <p:cNvSpPr txBox="1"/>
          <p:nvPr/>
        </p:nvSpPr>
        <p:spPr>
          <a:xfrm>
            <a:off x="3670211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192.168.0.2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8" name="文本框 17"/>
          <p:cNvSpPr txBox="1"/>
          <p:nvPr/>
        </p:nvSpPr>
        <p:spPr>
          <a:xfrm>
            <a:off x="4014643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192.168.0.6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9" name="文本框 18"/>
          <p:cNvSpPr txBox="1"/>
          <p:nvPr/>
        </p:nvSpPr>
        <p:spPr>
          <a:xfrm>
            <a:off x="6884749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192.168.0.7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22" name="文本框 21"/>
          <p:cNvSpPr txBox="1"/>
          <p:nvPr/>
        </p:nvSpPr>
        <p:spPr>
          <a:xfrm>
            <a:off x="6912416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192.168.0.3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23" name="文本框 22"/>
          <p:cNvSpPr txBox="1"/>
          <p:nvPr/>
        </p:nvSpPr>
        <p:spPr>
          <a:xfrm>
            <a:off x="9569856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192.168.0.4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26" name="文本框 25"/>
          <p:cNvSpPr txBox="1"/>
          <p:nvPr/>
        </p:nvSpPr>
        <p:spPr>
          <a:xfrm>
            <a:off x="9914288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192.168.0.8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cxnSp>
        <p:nvCxnSpPr>
          <p:cNvPr id="8" name="直接连接符 7"/>
          <p:cNvCxnSpPr/>
          <p:nvPr/>
        </p:nvCxnSpPr>
        <p:spPr>
          <a:xfrm>
            <a:off x="713110" y="2162267"/>
            <a:ext cx="2341759" cy="15474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等腰三角形 9"/>
          <p:cNvSpPr/>
          <p:nvPr/>
        </p:nvSpPr>
        <p:spPr>
          <a:xfrm>
            <a:off x="1190792" y="246301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 flipV="1">
            <a:off x="713110" y="3902316"/>
            <a:ext cx="2283201" cy="15150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等腰三角形 16"/>
          <p:cNvSpPr/>
          <p:nvPr/>
        </p:nvSpPr>
        <p:spPr>
          <a:xfrm>
            <a:off x="1190792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连接符 19"/>
          <p:cNvCxnSpPr/>
          <p:nvPr/>
        </p:nvCxnSpPr>
        <p:spPr>
          <a:xfrm flipV="1">
            <a:off x="3370466" y="2108892"/>
            <a:ext cx="2109833" cy="160085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等腰三角形 20"/>
          <p:cNvSpPr/>
          <p:nvPr/>
        </p:nvSpPr>
        <p:spPr>
          <a:xfrm>
            <a:off x="4942426" y="24111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连接符 23"/>
          <p:cNvCxnSpPr/>
          <p:nvPr/>
        </p:nvCxnSpPr>
        <p:spPr>
          <a:xfrm>
            <a:off x="3300727" y="3859446"/>
            <a:ext cx="2292563" cy="161241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等腰三角形 24"/>
          <p:cNvSpPr/>
          <p:nvPr/>
        </p:nvSpPr>
        <p:spPr>
          <a:xfrm>
            <a:off x="4942426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" name="直接连接符 27"/>
          <p:cNvCxnSpPr/>
          <p:nvPr/>
        </p:nvCxnSpPr>
        <p:spPr>
          <a:xfrm>
            <a:off x="6612755" y="2162267"/>
            <a:ext cx="2341759" cy="15474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等腰三角形 28"/>
          <p:cNvSpPr/>
          <p:nvPr/>
        </p:nvSpPr>
        <p:spPr>
          <a:xfrm>
            <a:off x="7090437" y="246301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" name="直接连接符 31"/>
          <p:cNvCxnSpPr/>
          <p:nvPr/>
        </p:nvCxnSpPr>
        <p:spPr>
          <a:xfrm flipV="1">
            <a:off x="6612755" y="3902316"/>
            <a:ext cx="2283201" cy="15150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等腰三角形 32"/>
          <p:cNvSpPr/>
          <p:nvPr/>
        </p:nvSpPr>
        <p:spPr>
          <a:xfrm>
            <a:off x="7090437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8" name="直接连接符 37"/>
          <p:cNvCxnSpPr/>
          <p:nvPr/>
        </p:nvCxnSpPr>
        <p:spPr>
          <a:xfrm flipV="1">
            <a:off x="9270111" y="2108892"/>
            <a:ext cx="2109833" cy="160085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等腰三角形 39"/>
          <p:cNvSpPr/>
          <p:nvPr/>
        </p:nvSpPr>
        <p:spPr>
          <a:xfrm>
            <a:off x="10842071" y="24111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3" name="直接连接符 42"/>
          <p:cNvCxnSpPr/>
          <p:nvPr/>
        </p:nvCxnSpPr>
        <p:spPr>
          <a:xfrm>
            <a:off x="9200372" y="3859446"/>
            <a:ext cx="2292563" cy="161241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等腰三角形 43"/>
          <p:cNvSpPr/>
          <p:nvPr/>
        </p:nvSpPr>
        <p:spPr>
          <a:xfrm>
            <a:off x="10842071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" name="直接连接符 46"/>
          <p:cNvCxnSpPr/>
          <p:nvPr/>
        </p:nvCxnSpPr>
        <p:spPr>
          <a:xfrm>
            <a:off x="3497998" y="3826236"/>
            <a:ext cx="5333835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9" name="20 8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544" y="5242879"/>
            <a:ext cx="539132" cy="457973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04800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PC4</a:t>
            </a:r>
            <a:endParaRPr lang="zh-CN" altLang="en-US" b="1" dirty="0"/>
          </a:p>
        </p:txBody>
      </p:sp>
      <p:pic>
        <p:nvPicPr>
          <p:cNvPr id="12" name="20 11" descr="图标&#10;&#10;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1054" y="3667774"/>
            <a:ext cx="646944" cy="332541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799091" y="3630983"/>
            <a:ext cx="1965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2960-24TT  Switch0</a:t>
            </a:r>
            <a:endParaRPr lang="zh-CN" altLang="en-US" b="1" dirty="0"/>
          </a:p>
        </p:txBody>
      </p:sp>
      <p:pic>
        <p:nvPicPr>
          <p:cNvPr id="5" name="20 4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724" y="5242879"/>
            <a:ext cx="539132" cy="457973"/>
          </a:xfrm>
          <a:prstGeom prst="rect">
            <a:avLst/>
          </a:prstGeom>
        </p:spPr>
      </p:pic>
      <p:pic>
        <p:nvPicPr>
          <p:cNvPr id="6" name="20 5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544" y="1967237"/>
            <a:ext cx="539132" cy="457973"/>
          </a:xfrm>
          <a:prstGeom prst="rect">
            <a:avLst/>
          </a:prstGeom>
        </p:spPr>
      </p:pic>
      <p:pic>
        <p:nvPicPr>
          <p:cNvPr id="7" name="20 6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724" y="1967237"/>
            <a:ext cx="539132" cy="457973"/>
          </a:xfrm>
          <a:prstGeom prst="rect">
            <a:avLst/>
          </a:prstGeom>
        </p:spPr>
      </p:pic>
      <p:sp>
        <p:nvSpPr>
          <p:cNvPr id="34" name="文本框 33"/>
          <p:cNvSpPr txBox="1"/>
          <p:nvPr/>
        </p:nvSpPr>
        <p:spPr>
          <a:xfrm>
            <a:off x="304800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sp>
        <p:nvSpPr>
          <p:cNvPr id="36" name="文本框 35"/>
          <p:cNvSpPr txBox="1"/>
          <p:nvPr/>
        </p:nvSpPr>
        <p:spPr>
          <a:xfrm>
            <a:off x="5184980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PC1</a:t>
            </a:r>
            <a:endParaRPr lang="zh-CN" altLang="en-US" b="1" dirty="0"/>
          </a:p>
        </p:txBody>
      </p:sp>
      <p:sp>
        <p:nvSpPr>
          <p:cNvPr id="39" name="文本框 38"/>
          <p:cNvSpPr txBox="1"/>
          <p:nvPr/>
        </p:nvSpPr>
        <p:spPr>
          <a:xfrm>
            <a:off x="5136948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PC5</a:t>
            </a:r>
            <a:endParaRPr lang="zh-CN" altLang="en-US" b="1" dirty="0"/>
          </a:p>
        </p:txBody>
      </p:sp>
      <p:pic>
        <p:nvPicPr>
          <p:cNvPr id="63" name="20 62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189" y="5242879"/>
            <a:ext cx="539132" cy="457973"/>
          </a:xfrm>
          <a:prstGeom prst="rect">
            <a:avLst/>
          </a:prstGeom>
        </p:spPr>
      </p:pic>
      <p:sp>
        <p:nvSpPr>
          <p:cNvPr id="64" name="文本框 63"/>
          <p:cNvSpPr txBox="1"/>
          <p:nvPr/>
        </p:nvSpPr>
        <p:spPr>
          <a:xfrm>
            <a:off x="6204445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PC6</a:t>
            </a:r>
            <a:endParaRPr lang="zh-CN" altLang="en-US" b="1" dirty="0"/>
          </a:p>
        </p:txBody>
      </p:sp>
      <p:pic>
        <p:nvPicPr>
          <p:cNvPr id="65" name="20 64" descr="图标&#10;&#10;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699" y="3667774"/>
            <a:ext cx="646944" cy="332541"/>
          </a:xfrm>
          <a:prstGeom prst="rect">
            <a:avLst/>
          </a:prstGeom>
        </p:spPr>
      </p:pic>
      <p:sp>
        <p:nvSpPr>
          <p:cNvPr id="66" name="文本框 65"/>
          <p:cNvSpPr txBox="1"/>
          <p:nvPr/>
        </p:nvSpPr>
        <p:spPr>
          <a:xfrm>
            <a:off x="9390051" y="3630983"/>
            <a:ext cx="1965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2960-24TT  Switch1</a:t>
            </a:r>
            <a:endParaRPr lang="zh-CN" altLang="en-US" b="1" dirty="0"/>
          </a:p>
        </p:txBody>
      </p:sp>
      <p:pic>
        <p:nvPicPr>
          <p:cNvPr id="68" name="20 67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3369" y="5242879"/>
            <a:ext cx="539132" cy="457973"/>
          </a:xfrm>
          <a:prstGeom prst="rect">
            <a:avLst/>
          </a:prstGeom>
        </p:spPr>
      </p:pic>
      <p:pic>
        <p:nvPicPr>
          <p:cNvPr id="69" name="20 68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189" y="1967237"/>
            <a:ext cx="539132" cy="457973"/>
          </a:xfrm>
          <a:prstGeom prst="rect">
            <a:avLst/>
          </a:prstGeom>
        </p:spPr>
      </p:pic>
      <p:pic>
        <p:nvPicPr>
          <p:cNvPr id="70" name="20 69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3369" y="1967237"/>
            <a:ext cx="539132" cy="457973"/>
          </a:xfrm>
          <a:prstGeom prst="rect">
            <a:avLst/>
          </a:prstGeom>
        </p:spPr>
      </p:pic>
      <p:sp>
        <p:nvSpPr>
          <p:cNvPr id="71" name="文本框 70"/>
          <p:cNvSpPr txBox="1"/>
          <p:nvPr/>
        </p:nvSpPr>
        <p:spPr>
          <a:xfrm>
            <a:off x="6204445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PC2</a:t>
            </a:r>
            <a:endParaRPr lang="zh-CN" altLang="en-US" b="1" dirty="0"/>
          </a:p>
        </p:txBody>
      </p:sp>
      <p:sp>
        <p:nvSpPr>
          <p:cNvPr id="73" name="文本框 72"/>
          <p:cNvSpPr txBox="1"/>
          <p:nvPr/>
        </p:nvSpPr>
        <p:spPr>
          <a:xfrm>
            <a:off x="11084625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PC3</a:t>
            </a:r>
            <a:endParaRPr lang="zh-CN" altLang="en-US" b="1" dirty="0"/>
          </a:p>
        </p:txBody>
      </p:sp>
      <p:sp>
        <p:nvSpPr>
          <p:cNvPr id="76" name="文本框 75"/>
          <p:cNvSpPr txBox="1"/>
          <p:nvPr/>
        </p:nvSpPr>
        <p:spPr>
          <a:xfrm>
            <a:off x="11036593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PC7</a:t>
            </a:r>
            <a:endParaRPr lang="zh-CN" altLang="en-US" b="1" dirty="0"/>
          </a:p>
        </p:txBody>
      </p:sp>
      <p:sp>
        <p:nvSpPr>
          <p:cNvPr id="51" name="等腰三角形 50"/>
          <p:cNvSpPr/>
          <p:nvPr/>
        </p:nvSpPr>
        <p:spPr>
          <a:xfrm>
            <a:off x="2509381" y="3309403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等腰三角形 51"/>
          <p:cNvSpPr/>
          <p:nvPr/>
        </p:nvSpPr>
        <p:spPr>
          <a:xfrm>
            <a:off x="2509381" y="41193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等腰三角形 52"/>
          <p:cNvSpPr/>
          <p:nvPr/>
        </p:nvSpPr>
        <p:spPr>
          <a:xfrm>
            <a:off x="3776559" y="329433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等腰三角形 53"/>
          <p:cNvSpPr/>
          <p:nvPr/>
        </p:nvSpPr>
        <p:spPr>
          <a:xfrm>
            <a:off x="3776558" y="417750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等腰三角形 54"/>
          <p:cNvSpPr/>
          <p:nvPr/>
        </p:nvSpPr>
        <p:spPr>
          <a:xfrm>
            <a:off x="8324469" y="328257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等腰三角形 55"/>
          <p:cNvSpPr/>
          <p:nvPr/>
        </p:nvSpPr>
        <p:spPr>
          <a:xfrm>
            <a:off x="9712901" y="328107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等腰三角形 56"/>
          <p:cNvSpPr/>
          <p:nvPr/>
        </p:nvSpPr>
        <p:spPr>
          <a:xfrm>
            <a:off x="8322853" y="419586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等腰三角形 57"/>
          <p:cNvSpPr/>
          <p:nvPr/>
        </p:nvSpPr>
        <p:spPr>
          <a:xfrm>
            <a:off x="9728117" y="419586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等腰三角形 58"/>
          <p:cNvSpPr/>
          <p:nvPr/>
        </p:nvSpPr>
        <p:spPr>
          <a:xfrm>
            <a:off x="4059017" y="376304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等腰三角形 59"/>
          <p:cNvSpPr/>
          <p:nvPr/>
        </p:nvSpPr>
        <p:spPr>
          <a:xfrm>
            <a:off x="8080650" y="376304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/>
        </p:nvSpPr>
        <p:spPr>
          <a:xfrm>
            <a:off x="8299448" y="301645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Fa0/1</a:t>
            </a:r>
            <a:endParaRPr lang="zh-CN" altLang="en-US" b="1" dirty="0"/>
          </a:p>
        </p:txBody>
      </p:sp>
      <p:sp>
        <p:nvSpPr>
          <p:cNvPr id="48" name="文本框 47"/>
          <p:cNvSpPr txBox="1"/>
          <p:nvPr/>
        </p:nvSpPr>
        <p:spPr>
          <a:xfrm>
            <a:off x="9050192" y="301645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Fa0/2</a:t>
            </a:r>
            <a:endParaRPr lang="zh-CN" altLang="en-US" b="1" dirty="0"/>
          </a:p>
        </p:txBody>
      </p:sp>
      <p:sp>
        <p:nvSpPr>
          <p:cNvPr id="49" name="文本框 48"/>
          <p:cNvSpPr txBox="1"/>
          <p:nvPr/>
        </p:nvSpPr>
        <p:spPr>
          <a:xfrm>
            <a:off x="8299448" y="4172213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Fa0/3</a:t>
            </a:r>
            <a:endParaRPr lang="zh-CN" altLang="en-US" b="1" dirty="0"/>
          </a:p>
        </p:txBody>
      </p:sp>
      <p:sp>
        <p:nvSpPr>
          <p:cNvPr id="50" name="文本框 49"/>
          <p:cNvSpPr txBox="1"/>
          <p:nvPr/>
        </p:nvSpPr>
        <p:spPr>
          <a:xfrm>
            <a:off x="9035504" y="4172213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Fa0/4</a:t>
            </a:r>
            <a:endParaRPr lang="zh-CN" altLang="en-US" b="1" dirty="0"/>
          </a:p>
        </p:txBody>
      </p:sp>
      <p:sp>
        <p:nvSpPr>
          <p:cNvPr id="61" name="文本框 60"/>
          <p:cNvSpPr txBox="1"/>
          <p:nvPr/>
        </p:nvSpPr>
        <p:spPr>
          <a:xfrm>
            <a:off x="2399803" y="301645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Fa0/1</a:t>
            </a:r>
            <a:endParaRPr lang="zh-CN" altLang="en-US" b="1" dirty="0"/>
          </a:p>
        </p:txBody>
      </p:sp>
      <p:sp>
        <p:nvSpPr>
          <p:cNvPr id="62" name="文本框 61"/>
          <p:cNvSpPr txBox="1"/>
          <p:nvPr/>
        </p:nvSpPr>
        <p:spPr>
          <a:xfrm>
            <a:off x="3150547" y="301645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Fa0/2</a:t>
            </a:r>
            <a:endParaRPr lang="zh-CN" altLang="en-US" b="1" dirty="0"/>
          </a:p>
        </p:txBody>
      </p:sp>
      <p:sp>
        <p:nvSpPr>
          <p:cNvPr id="67" name="文本框 66"/>
          <p:cNvSpPr txBox="1"/>
          <p:nvPr/>
        </p:nvSpPr>
        <p:spPr>
          <a:xfrm>
            <a:off x="2399803" y="4172213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Fa0/3</a:t>
            </a:r>
            <a:endParaRPr lang="zh-CN" altLang="en-US" b="1" dirty="0"/>
          </a:p>
        </p:txBody>
      </p:sp>
      <p:sp>
        <p:nvSpPr>
          <p:cNvPr id="72" name="文本框 71"/>
          <p:cNvSpPr txBox="1"/>
          <p:nvPr/>
        </p:nvSpPr>
        <p:spPr>
          <a:xfrm>
            <a:off x="3135859" y="4172213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Fa0/4</a:t>
            </a:r>
            <a:endParaRPr lang="zh-CN" altLang="en-US" b="1" dirty="0"/>
          </a:p>
        </p:txBody>
      </p:sp>
      <p:sp>
        <p:nvSpPr>
          <p:cNvPr id="74" name="文本框 73"/>
          <p:cNvSpPr txBox="1"/>
          <p:nvPr/>
        </p:nvSpPr>
        <p:spPr>
          <a:xfrm>
            <a:off x="3429825" y="351339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Fa0/5</a:t>
            </a:r>
            <a:endParaRPr lang="zh-CN" altLang="en-US" b="1" dirty="0"/>
          </a:p>
        </p:txBody>
      </p:sp>
      <p:sp>
        <p:nvSpPr>
          <p:cNvPr id="75" name="文本框 74"/>
          <p:cNvSpPr txBox="1"/>
          <p:nvPr/>
        </p:nvSpPr>
        <p:spPr>
          <a:xfrm>
            <a:off x="8001195" y="351339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Fa0/5</a:t>
            </a:r>
            <a:endParaRPr lang="zh-CN" altLang="en-US" b="1" dirty="0"/>
          </a:p>
        </p:txBody>
      </p:sp>
      <p:sp>
        <p:nvSpPr>
          <p:cNvPr id="37" name="文本框 36"/>
          <p:cNvSpPr txBox="1"/>
          <p:nvPr/>
        </p:nvSpPr>
        <p:spPr>
          <a:xfrm>
            <a:off x="3174526" y="2786292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41" name="文本框 40"/>
          <p:cNvSpPr txBox="1"/>
          <p:nvPr/>
        </p:nvSpPr>
        <p:spPr>
          <a:xfrm>
            <a:off x="2287891" y="2786292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42" name="文本框 41"/>
          <p:cNvSpPr txBox="1"/>
          <p:nvPr/>
        </p:nvSpPr>
        <p:spPr>
          <a:xfrm>
            <a:off x="3174526" y="4405144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45" name="文本框 44"/>
          <p:cNvSpPr txBox="1"/>
          <p:nvPr/>
        </p:nvSpPr>
        <p:spPr>
          <a:xfrm>
            <a:off x="2287891" y="4405144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77" name="文本框 76"/>
          <p:cNvSpPr txBox="1"/>
          <p:nvPr/>
        </p:nvSpPr>
        <p:spPr>
          <a:xfrm>
            <a:off x="9074171" y="2786292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78" name="文本框 77"/>
          <p:cNvSpPr txBox="1"/>
          <p:nvPr/>
        </p:nvSpPr>
        <p:spPr>
          <a:xfrm>
            <a:off x="8187536" y="2786292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79" name="文本框 78"/>
          <p:cNvSpPr txBox="1"/>
          <p:nvPr/>
        </p:nvSpPr>
        <p:spPr>
          <a:xfrm>
            <a:off x="9074171" y="4405144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80" name="文本框 79"/>
          <p:cNvSpPr txBox="1"/>
          <p:nvPr/>
        </p:nvSpPr>
        <p:spPr>
          <a:xfrm>
            <a:off x="8187536" y="4405144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81" name="文本框 80"/>
          <p:cNvSpPr txBox="1"/>
          <p:nvPr/>
        </p:nvSpPr>
        <p:spPr>
          <a:xfrm>
            <a:off x="4101736" y="3513397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82" name="文本框 81"/>
          <p:cNvSpPr txBox="1"/>
          <p:nvPr/>
        </p:nvSpPr>
        <p:spPr>
          <a:xfrm>
            <a:off x="7362101" y="3513397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83" name="文本框 82"/>
          <p:cNvSpPr txBox="1"/>
          <p:nvPr/>
        </p:nvSpPr>
        <p:spPr>
          <a:xfrm>
            <a:off x="3185592" y="2550840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VLAN1</a:t>
            </a:r>
            <a:endParaRPr lang="zh-CN" altLang="en-US" b="1" dirty="0"/>
          </a:p>
        </p:txBody>
      </p:sp>
      <p:sp>
        <p:nvSpPr>
          <p:cNvPr id="84" name="文本框 83"/>
          <p:cNvSpPr txBox="1"/>
          <p:nvPr/>
        </p:nvSpPr>
        <p:spPr>
          <a:xfrm>
            <a:off x="2298957" y="2550840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VLAN1</a:t>
            </a:r>
            <a:endParaRPr lang="zh-CN" altLang="en-US" b="1" dirty="0"/>
          </a:p>
        </p:txBody>
      </p:sp>
      <p:sp>
        <p:nvSpPr>
          <p:cNvPr id="85" name="文本框 84"/>
          <p:cNvSpPr txBox="1"/>
          <p:nvPr/>
        </p:nvSpPr>
        <p:spPr>
          <a:xfrm>
            <a:off x="9085237" y="2550840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VLAN1</a:t>
            </a:r>
            <a:endParaRPr lang="zh-CN" altLang="en-US" b="1" dirty="0"/>
          </a:p>
        </p:txBody>
      </p:sp>
      <p:sp>
        <p:nvSpPr>
          <p:cNvPr id="86" name="文本框 85"/>
          <p:cNvSpPr txBox="1"/>
          <p:nvPr/>
        </p:nvSpPr>
        <p:spPr>
          <a:xfrm>
            <a:off x="8198602" y="2550840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VLAN1</a:t>
            </a:r>
            <a:endParaRPr lang="zh-CN" altLang="en-US" b="1" dirty="0"/>
          </a:p>
        </p:txBody>
      </p:sp>
      <p:sp>
        <p:nvSpPr>
          <p:cNvPr id="87" name="文本框 86"/>
          <p:cNvSpPr txBox="1"/>
          <p:nvPr/>
        </p:nvSpPr>
        <p:spPr>
          <a:xfrm>
            <a:off x="3174526" y="4633996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VLAN1</a:t>
            </a:r>
            <a:endParaRPr lang="zh-CN" altLang="en-US" b="1" dirty="0"/>
          </a:p>
        </p:txBody>
      </p:sp>
      <p:sp>
        <p:nvSpPr>
          <p:cNvPr id="88" name="文本框 87"/>
          <p:cNvSpPr txBox="1"/>
          <p:nvPr/>
        </p:nvSpPr>
        <p:spPr>
          <a:xfrm>
            <a:off x="2287891" y="4633996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VLAN1</a:t>
            </a:r>
            <a:endParaRPr lang="zh-CN" altLang="en-US" b="1" dirty="0"/>
          </a:p>
        </p:txBody>
      </p:sp>
      <p:sp>
        <p:nvSpPr>
          <p:cNvPr id="89" name="文本框 88"/>
          <p:cNvSpPr txBox="1"/>
          <p:nvPr/>
        </p:nvSpPr>
        <p:spPr>
          <a:xfrm>
            <a:off x="9074171" y="4633996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VLAN1</a:t>
            </a:r>
            <a:endParaRPr lang="zh-CN" altLang="en-US" b="1" dirty="0"/>
          </a:p>
        </p:txBody>
      </p:sp>
      <p:sp>
        <p:nvSpPr>
          <p:cNvPr id="90" name="文本框 89"/>
          <p:cNvSpPr txBox="1"/>
          <p:nvPr/>
        </p:nvSpPr>
        <p:spPr>
          <a:xfrm>
            <a:off x="8187536" y="4633996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VLAN1</a:t>
            </a:r>
            <a:endParaRPr lang="zh-CN" altLang="en-US" b="1" dirty="0"/>
          </a:p>
        </p:txBody>
      </p:sp>
      <p:sp>
        <p:nvSpPr>
          <p:cNvPr id="91" name="文本框 90"/>
          <p:cNvSpPr txBox="1"/>
          <p:nvPr/>
        </p:nvSpPr>
        <p:spPr>
          <a:xfrm>
            <a:off x="4871764" y="3512803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VLAN1</a:t>
            </a:r>
            <a:endParaRPr lang="zh-CN" altLang="en-US" b="1" dirty="0"/>
          </a:p>
        </p:txBody>
      </p:sp>
      <p:sp>
        <p:nvSpPr>
          <p:cNvPr id="93" name="文本框 92"/>
          <p:cNvSpPr txBox="1"/>
          <p:nvPr/>
        </p:nvSpPr>
        <p:spPr>
          <a:xfrm>
            <a:off x="6573894" y="3518652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VLAN1</a:t>
            </a:r>
            <a:endParaRPr lang="zh-CN" altLang="en-US" b="1" dirty="0"/>
          </a:p>
        </p:txBody>
      </p:sp>
      <p:sp>
        <p:nvSpPr>
          <p:cNvPr id="31" name="标注: 右箭头 30"/>
          <p:cNvSpPr/>
          <p:nvPr/>
        </p:nvSpPr>
        <p:spPr>
          <a:xfrm rot="2048446">
            <a:off x="1129654" y="2972110"/>
            <a:ext cx="1257333" cy="386769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83744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广播</a:t>
            </a:r>
            <a:endParaRPr lang="zh-CN" altLang="en-US" sz="2000" b="1" dirty="0"/>
          </a:p>
        </p:txBody>
      </p:sp>
      <p:sp>
        <p:nvSpPr>
          <p:cNvPr id="92" name="标注: 右箭头 91"/>
          <p:cNvSpPr/>
          <p:nvPr/>
        </p:nvSpPr>
        <p:spPr>
          <a:xfrm rot="19391648">
            <a:off x="4026019" y="2884486"/>
            <a:ext cx="1257333" cy="386769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83744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广播</a:t>
            </a:r>
            <a:endParaRPr lang="zh-CN" altLang="en-US" sz="2000" b="1" dirty="0"/>
          </a:p>
        </p:txBody>
      </p:sp>
      <p:sp>
        <p:nvSpPr>
          <p:cNvPr id="94" name="标注: 右箭头 93"/>
          <p:cNvSpPr/>
          <p:nvPr/>
        </p:nvSpPr>
        <p:spPr>
          <a:xfrm rot="2048446">
            <a:off x="4037618" y="4285148"/>
            <a:ext cx="1257333" cy="386769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83744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广播</a:t>
            </a:r>
            <a:endParaRPr lang="zh-CN" altLang="en-US" sz="2000" b="1" dirty="0"/>
          </a:p>
        </p:txBody>
      </p:sp>
      <p:sp>
        <p:nvSpPr>
          <p:cNvPr id="95" name="标注: 右箭头 94"/>
          <p:cNvSpPr/>
          <p:nvPr/>
        </p:nvSpPr>
        <p:spPr>
          <a:xfrm>
            <a:off x="5588460" y="3389162"/>
            <a:ext cx="1257333" cy="386769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83744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广播</a:t>
            </a:r>
            <a:endParaRPr lang="zh-CN" altLang="en-US" sz="2000" b="1" dirty="0"/>
          </a:p>
        </p:txBody>
      </p:sp>
      <p:sp>
        <p:nvSpPr>
          <p:cNvPr id="97" name="标注: 右箭头 96"/>
          <p:cNvSpPr/>
          <p:nvPr/>
        </p:nvSpPr>
        <p:spPr>
          <a:xfrm rot="19391648">
            <a:off x="9941056" y="2855013"/>
            <a:ext cx="1257333" cy="386769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83744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广播</a:t>
            </a:r>
            <a:endParaRPr lang="zh-CN" altLang="en-US" sz="2000" b="1" dirty="0"/>
          </a:p>
        </p:txBody>
      </p:sp>
      <p:sp>
        <p:nvSpPr>
          <p:cNvPr id="98" name="标注: 右箭头 97"/>
          <p:cNvSpPr/>
          <p:nvPr/>
        </p:nvSpPr>
        <p:spPr>
          <a:xfrm rot="2048446">
            <a:off x="9949929" y="4308837"/>
            <a:ext cx="1257333" cy="386769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83744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广播</a:t>
            </a:r>
            <a:endParaRPr lang="zh-CN" altLang="en-US" sz="2000" b="1" dirty="0"/>
          </a:p>
        </p:txBody>
      </p:sp>
      <p:sp>
        <p:nvSpPr>
          <p:cNvPr id="100" name="标注: 左箭头 99"/>
          <p:cNvSpPr/>
          <p:nvPr/>
        </p:nvSpPr>
        <p:spPr>
          <a:xfrm rot="19553018">
            <a:off x="1313064" y="4733210"/>
            <a:ext cx="1229098" cy="365988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83972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广播</a:t>
            </a:r>
            <a:endParaRPr lang="zh-CN" altLang="en-US" sz="2000" b="1" dirty="0"/>
          </a:p>
        </p:txBody>
      </p:sp>
      <p:sp>
        <p:nvSpPr>
          <p:cNvPr id="101" name="标注: 左箭头 100"/>
          <p:cNvSpPr/>
          <p:nvPr/>
        </p:nvSpPr>
        <p:spPr>
          <a:xfrm rot="19553018">
            <a:off x="6955869" y="4315693"/>
            <a:ext cx="1229098" cy="365988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83972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广播</a:t>
            </a:r>
            <a:endParaRPr lang="zh-CN" altLang="en-US" sz="2000" b="1" dirty="0"/>
          </a:p>
        </p:txBody>
      </p:sp>
      <p:sp>
        <p:nvSpPr>
          <p:cNvPr id="102" name="标注: 左箭头 101"/>
          <p:cNvSpPr/>
          <p:nvPr/>
        </p:nvSpPr>
        <p:spPr>
          <a:xfrm rot="2052907">
            <a:off x="6984784" y="2914618"/>
            <a:ext cx="1229098" cy="365988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83972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广播</a:t>
            </a:r>
            <a:endParaRPr lang="zh-CN" altLang="en-US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组合 104"/>
          <p:cNvGrpSpPr/>
          <p:nvPr/>
        </p:nvGrpSpPr>
        <p:grpSpPr>
          <a:xfrm>
            <a:off x="304800" y="4098138"/>
            <a:ext cx="11596445" cy="1708301"/>
            <a:chOff x="304800" y="4098138"/>
            <a:chExt cx="11596445" cy="1708301"/>
          </a:xfrm>
        </p:grpSpPr>
        <p:sp>
          <p:nvSpPr>
            <p:cNvPr id="96" name="矩形 95"/>
            <p:cNvSpPr/>
            <p:nvPr/>
          </p:nvSpPr>
          <p:spPr>
            <a:xfrm>
              <a:off x="304800" y="4101084"/>
              <a:ext cx="11596445" cy="1705355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" name="文本框 103"/>
            <p:cNvSpPr txBox="1"/>
            <p:nvPr/>
          </p:nvSpPr>
          <p:spPr>
            <a:xfrm>
              <a:off x="5343668" y="4098138"/>
              <a:ext cx="150466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/>
                <a:t>VLAN20</a:t>
              </a:r>
              <a:endParaRPr lang="zh-CN" altLang="en-US" sz="2800" b="1" dirty="0"/>
            </a:p>
          </p:txBody>
        </p:sp>
      </p:grpSp>
      <p:grpSp>
        <p:nvGrpSpPr>
          <p:cNvPr id="106" name="组合 105"/>
          <p:cNvGrpSpPr/>
          <p:nvPr/>
        </p:nvGrpSpPr>
        <p:grpSpPr>
          <a:xfrm>
            <a:off x="304799" y="1744064"/>
            <a:ext cx="11596445" cy="1706612"/>
            <a:chOff x="304799" y="1744064"/>
            <a:chExt cx="11596445" cy="1706612"/>
          </a:xfrm>
        </p:grpSpPr>
        <p:sp>
          <p:nvSpPr>
            <p:cNvPr id="99" name="矩形 98"/>
            <p:cNvSpPr/>
            <p:nvPr/>
          </p:nvSpPr>
          <p:spPr>
            <a:xfrm>
              <a:off x="304799" y="1744064"/>
              <a:ext cx="11596445" cy="1705355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3" name="文本框 102"/>
            <p:cNvSpPr txBox="1"/>
            <p:nvPr/>
          </p:nvSpPr>
          <p:spPr>
            <a:xfrm>
              <a:off x="5343668" y="2927456"/>
              <a:ext cx="150466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/>
                <a:t>VLAN10</a:t>
              </a:r>
              <a:endParaRPr lang="zh-CN" altLang="en-US" sz="2800" b="1" dirty="0"/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4370963" y="685800"/>
            <a:ext cx="3454123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9.  </a:t>
            </a:r>
            <a:r>
              <a:rPr lang="zh-CN" altLang="en-US" sz="2400" b="1" dirty="0"/>
              <a:t>在交换机上创建</a:t>
            </a:r>
            <a:r>
              <a:rPr lang="en-US" altLang="zh-CN" sz="2400" b="1" dirty="0"/>
              <a:t>VLAN</a:t>
            </a:r>
            <a:endParaRPr lang="en-US" altLang="zh-CN" sz="24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985104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192.168.0.5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1012771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192.168.0.1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4" name="文本框 13"/>
          <p:cNvSpPr txBox="1"/>
          <p:nvPr/>
        </p:nvSpPr>
        <p:spPr>
          <a:xfrm>
            <a:off x="3670211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192.168.0.2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8" name="文本框 17"/>
          <p:cNvSpPr txBox="1"/>
          <p:nvPr/>
        </p:nvSpPr>
        <p:spPr>
          <a:xfrm>
            <a:off x="4014643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192.168.0.6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9" name="文本框 18"/>
          <p:cNvSpPr txBox="1"/>
          <p:nvPr/>
        </p:nvSpPr>
        <p:spPr>
          <a:xfrm>
            <a:off x="6884749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192.168.0.7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22" name="文本框 21"/>
          <p:cNvSpPr txBox="1"/>
          <p:nvPr/>
        </p:nvSpPr>
        <p:spPr>
          <a:xfrm>
            <a:off x="6912416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192.168.0.3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23" name="文本框 22"/>
          <p:cNvSpPr txBox="1"/>
          <p:nvPr/>
        </p:nvSpPr>
        <p:spPr>
          <a:xfrm>
            <a:off x="9569856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192.168.0.4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26" name="文本框 25"/>
          <p:cNvSpPr txBox="1"/>
          <p:nvPr/>
        </p:nvSpPr>
        <p:spPr>
          <a:xfrm>
            <a:off x="9914288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192.168.0.8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cxnSp>
        <p:nvCxnSpPr>
          <p:cNvPr id="8" name="直接连接符 7"/>
          <p:cNvCxnSpPr/>
          <p:nvPr/>
        </p:nvCxnSpPr>
        <p:spPr>
          <a:xfrm>
            <a:off x="713110" y="2162267"/>
            <a:ext cx="2341759" cy="15474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等腰三角形 9"/>
          <p:cNvSpPr/>
          <p:nvPr/>
        </p:nvSpPr>
        <p:spPr>
          <a:xfrm>
            <a:off x="1190792" y="246301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 flipV="1">
            <a:off x="713110" y="3902316"/>
            <a:ext cx="2283201" cy="15150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等腰三角形 16"/>
          <p:cNvSpPr/>
          <p:nvPr/>
        </p:nvSpPr>
        <p:spPr>
          <a:xfrm>
            <a:off x="1190792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连接符 19"/>
          <p:cNvCxnSpPr/>
          <p:nvPr/>
        </p:nvCxnSpPr>
        <p:spPr>
          <a:xfrm flipV="1">
            <a:off x="3370466" y="2108892"/>
            <a:ext cx="2109833" cy="160085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等腰三角形 20"/>
          <p:cNvSpPr/>
          <p:nvPr/>
        </p:nvSpPr>
        <p:spPr>
          <a:xfrm>
            <a:off x="4942426" y="24111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连接符 23"/>
          <p:cNvCxnSpPr/>
          <p:nvPr/>
        </p:nvCxnSpPr>
        <p:spPr>
          <a:xfrm>
            <a:off x="3300727" y="3859446"/>
            <a:ext cx="2292563" cy="161241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等腰三角形 24"/>
          <p:cNvSpPr/>
          <p:nvPr/>
        </p:nvSpPr>
        <p:spPr>
          <a:xfrm>
            <a:off x="4942426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" name="直接连接符 27"/>
          <p:cNvCxnSpPr/>
          <p:nvPr/>
        </p:nvCxnSpPr>
        <p:spPr>
          <a:xfrm>
            <a:off x="6612755" y="2162267"/>
            <a:ext cx="2341759" cy="15474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等腰三角形 28"/>
          <p:cNvSpPr/>
          <p:nvPr/>
        </p:nvSpPr>
        <p:spPr>
          <a:xfrm>
            <a:off x="7090437" y="246301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" name="直接连接符 31"/>
          <p:cNvCxnSpPr/>
          <p:nvPr/>
        </p:nvCxnSpPr>
        <p:spPr>
          <a:xfrm flipV="1">
            <a:off x="6612755" y="3902316"/>
            <a:ext cx="2283201" cy="15150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等腰三角形 32"/>
          <p:cNvSpPr/>
          <p:nvPr/>
        </p:nvSpPr>
        <p:spPr>
          <a:xfrm>
            <a:off x="7090437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8" name="直接连接符 37"/>
          <p:cNvCxnSpPr/>
          <p:nvPr/>
        </p:nvCxnSpPr>
        <p:spPr>
          <a:xfrm flipV="1">
            <a:off x="9270111" y="2108892"/>
            <a:ext cx="2109833" cy="160085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等腰三角形 39"/>
          <p:cNvSpPr/>
          <p:nvPr/>
        </p:nvSpPr>
        <p:spPr>
          <a:xfrm>
            <a:off x="10842071" y="24111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3" name="直接连接符 42"/>
          <p:cNvCxnSpPr/>
          <p:nvPr/>
        </p:nvCxnSpPr>
        <p:spPr>
          <a:xfrm>
            <a:off x="9200372" y="3859446"/>
            <a:ext cx="2292563" cy="161241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等腰三角形 43"/>
          <p:cNvSpPr/>
          <p:nvPr/>
        </p:nvSpPr>
        <p:spPr>
          <a:xfrm>
            <a:off x="10842071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" name="直接连接符 46"/>
          <p:cNvCxnSpPr/>
          <p:nvPr/>
        </p:nvCxnSpPr>
        <p:spPr>
          <a:xfrm>
            <a:off x="3497998" y="3826236"/>
            <a:ext cx="5333835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9" name="20 8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544" y="5242879"/>
            <a:ext cx="539132" cy="457973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04800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PC4</a:t>
            </a:r>
            <a:endParaRPr lang="zh-CN" altLang="en-US" b="1" dirty="0"/>
          </a:p>
        </p:txBody>
      </p:sp>
      <p:pic>
        <p:nvPicPr>
          <p:cNvPr id="12" name="20 11" descr="图标&#10;&#10;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1054" y="3667774"/>
            <a:ext cx="646944" cy="332541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799091" y="3630983"/>
            <a:ext cx="1965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2960-24TT  Switch0</a:t>
            </a:r>
            <a:endParaRPr lang="zh-CN" altLang="en-US" b="1" dirty="0"/>
          </a:p>
        </p:txBody>
      </p:sp>
      <p:pic>
        <p:nvPicPr>
          <p:cNvPr id="5" name="20 4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724" y="5242879"/>
            <a:ext cx="539132" cy="457973"/>
          </a:xfrm>
          <a:prstGeom prst="rect">
            <a:avLst/>
          </a:prstGeom>
        </p:spPr>
      </p:pic>
      <p:pic>
        <p:nvPicPr>
          <p:cNvPr id="6" name="20 5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544" y="1967237"/>
            <a:ext cx="539132" cy="457973"/>
          </a:xfrm>
          <a:prstGeom prst="rect">
            <a:avLst/>
          </a:prstGeom>
        </p:spPr>
      </p:pic>
      <p:pic>
        <p:nvPicPr>
          <p:cNvPr id="7" name="20 6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724" y="1967237"/>
            <a:ext cx="539132" cy="457973"/>
          </a:xfrm>
          <a:prstGeom prst="rect">
            <a:avLst/>
          </a:prstGeom>
        </p:spPr>
      </p:pic>
      <p:sp>
        <p:nvSpPr>
          <p:cNvPr id="34" name="文本框 33"/>
          <p:cNvSpPr txBox="1"/>
          <p:nvPr/>
        </p:nvSpPr>
        <p:spPr>
          <a:xfrm>
            <a:off x="304800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sp>
        <p:nvSpPr>
          <p:cNvPr id="36" name="文本框 35"/>
          <p:cNvSpPr txBox="1"/>
          <p:nvPr/>
        </p:nvSpPr>
        <p:spPr>
          <a:xfrm>
            <a:off x="5184980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PC1</a:t>
            </a:r>
            <a:endParaRPr lang="zh-CN" altLang="en-US" b="1" dirty="0"/>
          </a:p>
        </p:txBody>
      </p:sp>
      <p:sp>
        <p:nvSpPr>
          <p:cNvPr id="39" name="文本框 38"/>
          <p:cNvSpPr txBox="1"/>
          <p:nvPr/>
        </p:nvSpPr>
        <p:spPr>
          <a:xfrm>
            <a:off x="5136948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PC5</a:t>
            </a:r>
            <a:endParaRPr lang="zh-CN" altLang="en-US" b="1" dirty="0"/>
          </a:p>
        </p:txBody>
      </p:sp>
      <p:pic>
        <p:nvPicPr>
          <p:cNvPr id="63" name="20 62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189" y="5242879"/>
            <a:ext cx="539132" cy="457973"/>
          </a:xfrm>
          <a:prstGeom prst="rect">
            <a:avLst/>
          </a:prstGeom>
        </p:spPr>
      </p:pic>
      <p:sp>
        <p:nvSpPr>
          <p:cNvPr id="64" name="文本框 63"/>
          <p:cNvSpPr txBox="1"/>
          <p:nvPr/>
        </p:nvSpPr>
        <p:spPr>
          <a:xfrm>
            <a:off x="6204445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PC6</a:t>
            </a:r>
            <a:endParaRPr lang="zh-CN" altLang="en-US" b="1" dirty="0"/>
          </a:p>
        </p:txBody>
      </p:sp>
      <p:pic>
        <p:nvPicPr>
          <p:cNvPr id="65" name="20 64" descr="图标&#10;&#10;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699" y="3667774"/>
            <a:ext cx="646944" cy="332541"/>
          </a:xfrm>
          <a:prstGeom prst="rect">
            <a:avLst/>
          </a:prstGeom>
        </p:spPr>
      </p:pic>
      <p:sp>
        <p:nvSpPr>
          <p:cNvPr id="66" name="文本框 65"/>
          <p:cNvSpPr txBox="1"/>
          <p:nvPr/>
        </p:nvSpPr>
        <p:spPr>
          <a:xfrm>
            <a:off x="9390051" y="3630983"/>
            <a:ext cx="1965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2960-24TT  Switch1</a:t>
            </a:r>
            <a:endParaRPr lang="zh-CN" altLang="en-US" b="1" dirty="0"/>
          </a:p>
        </p:txBody>
      </p:sp>
      <p:pic>
        <p:nvPicPr>
          <p:cNvPr id="68" name="20 67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3369" y="5242879"/>
            <a:ext cx="539132" cy="457973"/>
          </a:xfrm>
          <a:prstGeom prst="rect">
            <a:avLst/>
          </a:prstGeom>
        </p:spPr>
      </p:pic>
      <p:pic>
        <p:nvPicPr>
          <p:cNvPr id="69" name="20 68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189" y="1967237"/>
            <a:ext cx="539132" cy="457973"/>
          </a:xfrm>
          <a:prstGeom prst="rect">
            <a:avLst/>
          </a:prstGeom>
        </p:spPr>
      </p:pic>
      <p:pic>
        <p:nvPicPr>
          <p:cNvPr id="70" name="20 69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3369" y="1967237"/>
            <a:ext cx="539132" cy="457973"/>
          </a:xfrm>
          <a:prstGeom prst="rect">
            <a:avLst/>
          </a:prstGeom>
        </p:spPr>
      </p:pic>
      <p:sp>
        <p:nvSpPr>
          <p:cNvPr id="71" name="文本框 70"/>
          <p:cNvSpPr txBox="1"/>
          <p:nvPr/>
        </p:nvSpPr>
        <p:spPr>
          <a:xfrm>
            <a:off x="6204445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PC2</a:t>
            </a:r>
            <a:endParaRPr lang="zh-CN" altLang="en-US" b="1" dirty="0"/>
          </a:p>
        </p:txBody>
      </p:sp>
      <p:sp>
        <p:nvSpPr>
          <p:cNvPr id="73" name="文本框 72"/>
          <p:cNvSpPr txBox="1"/>
          <p:nvPr/>
        </p:nvSpPr>
        <p:spPr>
          <a:xfrm>
            <a:off x="11084625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PC3</a:t>
            </a:r>
            <a:endParaRPr lang="zh-CN" altLang="en-US" b="1" dirty="0"/>
          </a:p>
        </p:txBody>
      </p:sp>
      <p:sp>
        <p:nvSpPr>
          <p:cNvPr id="76" name="文本框 75"/>
          <p:cNvSpPr txBox="1"/>
          <p:nvPr/>
        </p:nvSpPr>
        <p:spPr>
          <a:xfrm>
            <a:off x="11036593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PC7</a:t>
            </a:r>
            <a:endParaRPr lang="zh-CN" altLang="en-US" b="1" dirty="0"/>
          </a:p>
        </p:txBody>
      </p:sp>
      <p:sp>
        <p:nvSpPr>
          <p:cNvPr id="51" name="等腰三角形 50"/>
          <p:cNvSpPr/>
          <p:nvPr/>
        </p:nvSpPr>
        <p:spPr>
          <a:xfrm>
            <a:off x="2509381" y="3309403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等腰三角形 51"/>
          <p:cNvSpPr/>
          <p:nvPr/>
        </p:nvSpPr>
        <p:spPr>
          <a:xfrm>
            <a:off x="2509381" y="41193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等腰三角形 52"/>
          <p:cNvSpPr/>
          <p:nvPr/>
        </p:nvSpPr>
        <p:spPr>
          <a:xfrm>
            <a:off x="3776559" y="329433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等腰三角形 53"/>
          <p:cNvSpPr/>
          <p:nvPr/>
        </p:nvSpPr>
        <p:spPr>
          <a:xfrm>
            <a:off x="3776558" y="417750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等腰三角形 54"/>
          <p:cNvSpPr/>
          <p:nvPr/>
        </p:nvSpPr>
        <p:spPr>
          <a:xfrm>
            <a:off x="8324469" y="328257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等腰三角形 55"/>
          <p:cNvSpPr/>
          <p:nvPr/>
        </p:nvSpPr>
        <p:spPr>
          <a:xfrm>
            <a:off x="9712901" y="328107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等腰三角形 56"/>
          <p:cNvSpPr/>
          <p:nvPr/>
        </p:nvSpPr>
        <p:spPr>
          <a:xfrm>
            <a:off x="8322853" y="419586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等腰三角形 57"/>
          <p:cNvSpPr/>
          <p:nvPr/>
        </p:nvSpPr>
        <p:spPr>
          <a:xfrm>
            <a:off x="9728117" y="419586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等腰三角形 58"/>
          <p:cNvSpPr/>
          <p:nvPr/>
        </p:nvSpPr>
        <p:spPr>
          <a:xfrm>
            <a:off x="4059017" y="376304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等腰三角形 59"/>
          <p:cNvSpPr/>
          <p:nvPr/>
        </p:nvSpPr>
        <p:spPr>
          <a:xfrm>
            <a:off x="8080650" y="376304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/>
        </p:nvSpPr>
        <p:spPr>
          <a:xfrm>
            <a:off x="8299448" y="301645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Fa0/1</a:t>
            </a:r>
            <a:endParaRPr lang="zh-CN" altLang="en-US" b="1" dirty="0"/>
          </a:p>
        </p:txBody>
      </p:sp>
      <p:sp>
        <p:nvSpPr>
          <p:cNvPr id="48" name="文本框 47"/>
          <p:cNvSpPr txBox="1"/>
          <p:nvPr/>
        </p:nvSpPr>
        <p:spPr>
          <a:xfrm>
            <a:off x="9050192" y="301645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Fa0/2</a:t>
            </a:r>
            <a:endParaRPr lang="zh-CN" altLang="en-US" b="1" dirty="0"/>
          </a:p>
        </p:txBody>
      </p:sp>
      <p:sp>
        <p:nvSpPr>
          <p:cNvPr id="49" name="文本框 48"/>
          <p:cNvSpPr txBox="1"/>
          <p:nvPr/>
        </p:nvSpPr>
        <p:spPr>
          <a:xfrm>
            <a:off x="8299448" y="4172213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Fa0/3</a:t>
            </a:r>
            <a:endParaRPr lang="zh-CN" altLang="en-US" b="1" dirty="0"/>
          </a:p>
        </p:txBody>
      </p:sp>
      <p:sp>
        <p:nvSpPr>
          <p:cNvPr id="50" name="文本框 49"/>
          <p:cNvSpPr txBox="1"/>
          <p:nvPr/>
        </p:nvSpPr>
        <p:spPr>
          <a:xfrm>
            <a:off x="9035504" y="4172213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Fa0/4</a:t>
            </a:r>
            <a:endParaRPr lang="zh-CN" altLang="en-US" b="1" dirty="0"/>
          </a:p>
        </p:txBody>
      </p:sp>
      <p:sp>
        <p:nvSpPr>
          <p:cNvPr id="61" name="文本框 60"/>
          <p:cNvSpPr txBox="1"/>
          <p:nvPr/>
        </p:nvSpPr>
        <p:spPr>
          <a:xfrm>
            <a:off x="2399803" y="301645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Fa0/1</a:t>
            </a:r>
            <a:endParaRPr lang="zh-CN" altLang="en-US" b="1" dirty="0"/>
          </a:p>
        </p:txBody>
      </p:sp>
      <p:sp>
        <p:nvSpPr>
          <p:cNvPr id="62" name="文本框 61"/>
          <p:cNvSpPr txBox="1"/>
          <p:nvPr/>
        </p:nvSpPr>
        <p:spPr>
          <a:xfrm>
            <a:off x="3150547" y="301645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Fa0/2</a:t>
            </a:r>
            <a:endParaRPr lang="zh-CN" altLang="en-US" b="1" dirty="0"/>
          </a:p>
        </p:txBody>
      </p:sp>
      <p:sp>
        <p:nvSpPr>
          <p:cNvPr id="67" name="文本框 66"/>
          <p:cNvSpPr txBox="1"/>
          <p:nvPr/>
        </p:nvSpPr>
        <p:spPr>
          <a:xfrm>
            <a:off x="2399803" y="4172213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Fa0/3</a:t>
            </a:r>
            <a:endParaRPr lang="zh-CN" altLang="en-US" b="1" dirty="0"/>
          </a:p>
        </p:txBody>
      </p:sp>
      <p:sp>
        <p:nvSpPr>
          <p:cNvPr id="72" name="文本框 71"/>
          <p:cNvSpPr txBox="1"/>
          <p:nvPr/>
        </p:nvSpPr>
        <p:spPr>
          <a:xfrm>
            <a:off x="3135859" y="4172213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Fa0/4</a:t>
            </a:r>
            <a:endParaRPr lang="zh-CN" altLang="en-US" b="1" dirty="0"/>
          </a:p>
        </p:txBody>
      </p:sp>
      <p:sp>
        <p:nvSpPr>
          <p:cNvPr id="74" name="文本框 73"/>
          <p:cNvSpPr txBox="1"/>
          <p:nvPr/>
        </p:nvSpPr>
        <p:spPr>
          <a:xfrm>
            <a:off x="3429825" y="351339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Fa0/5</a:t>
            </a:r>
            <a:endParaRPr lang="zh-CN" altLang="en-US" b="1" dirty="0"/>
          </a:p>
        </p:txBody>
      </p:sp>
      <p:sp>
        <p:nvSpPr>
          <p:cNvPr id="75" name="文本框 74"/>
          <p:cNvSpPr txBox="1"/>
          <p:nvPr/>
        </p:nvSpPr>
        <p:spPr>
          <a:xfrm>
            <a:off x="8001195" y="351339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Fa0/5</a:t>
            </a:r>
            <a:endParaRPr lang="zh-CN" altLang="en-US" b="1" dirty="0"/>
          </a:p>
        </p:txBody>
      </p:sp>
      <p:sp>
        <p:nvSpPr>
          <p:cNvPr id="37" name="文本框 36"/>
          <p:cNvSpPr txBox="1"/>
          <p:nvPr/>
        </p:nvSpPr>
        <p:spPr>
          <a:xfrm>
            <a:off x="3174526" y="2786292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41" name="文本框 40"/>
          <p:cNvSpPr txBox="1"/>
          <p:nvPr/>
        </p:nvSpPr>
        <p:spPr>
          <a:xfrm>
            <a:off x="2287891" y="2786292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42" name="文本框 41"/>
          <p:cNvSpPr txBox="1"/>
          <p:nvPr/>
        </p:nvSpPr>
        <p:spPr>
          <a:xfrm>
            <a:off x="3174526" y="4405144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45" name="文本框 44"/>
          <p:cNvSpPr txBox="1"/>
          <p:nvPr/>
        </p:nvSpPr>
        <p:spPr>
          <a:xfrm>
            <a:off x="2287891" y="4405144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77" name="文本框 76"/>
          <p:cNvSpPr txBox="1"/>
          <p:nvPr/>
        </p:nvSpPr>
        <p:spPr>
          <a:xfrm>
            <a:off x="9074171" y="2786292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78" name="文本框 77"/>
          <p:cNvSpPr txBox="1"/>
          <p:nvPr/>
        </p:nvSpPr>
        <p:spPr>
          <a:xfrm>
            <a:off x="8187536" y="2786292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79" name="文本框 78"/>
          <p:cNvSpPr txBox="1"/>
          <p:nvPr/>
        </p:nvSpPr>
        <p:spPr>
          <a:xfrm>
            <a:off x="9074171" y="4405144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80" name="文本框 79"/>
          <p:cNvSpPr txBox="1"/>
          <p:nvPr/>
        </p:nvSpPr>
        <p:spPr>
          <a:xfrm>
            <a:off x="8187536" y="4405144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81" name="文本框 80"/>
          <p:cNvSpPr txBox="1"/>
          <p:nvPr/>
        </p:nvSpPr>
        <p:spPr>
          <a:xfrm>
            <a:off x="4101736" y="3513397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82" name="文本框 81"/>
          <p:cNvSpPr txBox="1"/>
          <p:nvPr/>
        </p:nvSpPr>
        <p:spPr>
          <a:xfrm>
            <a:off x="7362101" y="3513397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Access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370963" y="685800"/>
            <a:ext cx="3454123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9.  </a:t>
            </a:r>
            <a:r>
              <a:rPr lang="zh-CN" altLang="en-US" sz="2400" b="1" dirty="0"/>
              <a:t>在交换机上创建</a:t>
            </a:r>
            <a:r>
              <a:rPr lang="en-US" altLang="zh-CN" sz="2400" b="1" dirty="0"/>
              <a:t>VLAN</a:t>
            </a:r>
            <a:endParaRPr lang="en-US" altLang="zh-CN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84" name="20 8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995" y="0"/>
            <a:ext cx="11294010" cy="6858000"/>
          </a:xfrm>
          <a:prstGeom prst="rect">
            <a:avLst/>
          </a:prstGeom>
        </p:spPr>
      </p:pic>
      <p:sp>
        <p:nvSpPr>
          <p:cNvPr id="85" name="文本框 84"/>
          <p:cNvSpPr txBox="1"/>
          <p:nvPr/>
        </p:nvSpPr>
        <p:spPr>
          <a:xfrm>
            <a:off x="4018328" y="598351"/>
            <a:ext cx="41634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//  </a:t>
            </a:r>
            <a:r>
              <a:rPr lang="zh-CN" altLang="en-US" sz="1600" b="1" dirty="0">
                <a:solidFill>
                  <a:srgbClr val="FF0000"/>
                </a:solidFill>
              </a:rPr>
              <a:t>从用户执行模式进入特权执行模式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4014280" y="868047"/>
            <a:ext cx="41634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//  </a:t>
            </a:r>
            <a:r>
              <a:rPr lang="zh-CN" altLang="en-US" sz="1600" b="1" dirty="0">
                <a:solidFill>
                  <a:srgbClr val="FF0000"/>
                </a:solidFill>
              </a:rPr>
              <a:t>从特权执行模式进入全局配置模式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4014280" y="1206601"/>
            <a:ext cx="41634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//  </a:t>
            </a:r>
            <a:r>
              <a:rPr lang="zh-CN" altLang="en-US" sz="1600" b="1" dirty="0">
                <a:solidFill>
                  <a:srgbClr val="FF0000"/>
                </a:solidFill>
              </a:rPr>
              <a:t>创建</a:t>
            </a:r>
            <a:r>
              <a:rPr lang="en-US" altLang="zh-CN" sz="1600" b="1" dirty="0">
                <a:solidFill>
                  <a:srgbClr val="FF0000"/>
                </a:solidFill>
              </a:rPr>
              <a:t>VLAN</a:t>
            </a:r>
            <a:r>
              <a:rPr lang="zh-CN" altLang="en-US" sz="1600" b="1" dirty="0">
                <a:solidFill>
                  <a:srgbClr val="FF0000"/>
                </a:solidFill>
              </a:rPr>
              <a:t>号为</a:t>
            </a:r>
            <a:r>
              <a:rPr lang="en-US" altLang="zh-CN" sz="1600" b="1" dirty="0">
                <a:solidFill>
                  <a:srgbClr val="FF0000"/>
                </a:solidFill>
              </a:rPr>
              <a:t>10</a:t>
            </a:r>
            <a:r>
              <a:rPr lang="zh-CN" altLang="en-US" sz="1600" b="1" dirty="0">
                <a:solidFill>
                  <a:srgbClr val="FF0000"/>
                </a:solidFill>
              </a:rPr>
              <a:t>的</a:t>
            </a:r>
            <a:r>
              <a:rPr lang="en-US" altLang="zh-CN" sz="1600" b="1" dirty="0">
                <a:solidFill>
                  <a:srgbClr val="FF0000"/>
                </a:solidFill>
              </a:rPr>
              <a:t>VLAN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4014280" y="1489267"/>
            <a:ext cx="41634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//  </a:t>
            </a:r>
            <a:r>
              <a:rPr lang="zh-CN" altLang="en-US" sz="1600" b="1" dirty="0">
                <a:solidFill>
                  <a:srgbClr val="FF0000"/>
                </a:solidFill>
              </a:rPr>
              <a:t>将</a:t>
            </a:r>
            <a:r>
              <a:rPr lang="en-US" altLang="zh-CN" sz="1600" b="1" dirty="0">
                <a:solidFill>
                  <a:srgbClr val="FF0000"/>
                </a:solidFill>
              </a:rPr>
              <a:t>VLAN</a:t>
            </a:r>
            <a:r>
              <a:rPr lang="zh-CN" altLang="en-US" sz="1600" b="1" dirty="0">
                <a:solidFill>
                  <a:srgbClr val="FF0000"/>
                </a:solidFill>
              </a:rPr>
              <a:t>号为</a:t>
            </a:r>
            <a:r>
              <a:rPr lang="en-US" altLang="zh-CN" sz="1600" b="1" dirty="0">
                <a:solidFill>
                  <a:srgbClr val="FF0000"/>
                </a:solidFill>
              </a:rPr>
              <a:t>10</a:t>
            </a:r>
            <a:r>
              <a:rPr lang="zh-CN" altLang="en-US" sz="1600" b="1" dirty="0">
                <a:solidFill>
                  <a:srgbClr val="FF0000"/>
                </a:solidFill>
              </a:rPr>
              <a:t>的</a:t>
            </a:r>
            <a:r>
              <a:rPr lang="en-US" altLang="zh-CN" sz="1600" b="1" dirty="0">
                <a:solidFill>
                  <a:srgbClr val="FF0000"/>
                </a:solidFill>
              </a:rPr>
              <a:t>VLAN</a:t>
            </a:r>
            <a:r>
              <a:rPr lang="zh-CN" altLang="en-US" sz="1600" b="1" dirty="0">
                <a:solidFill>
                  <a:srgbClr val="FF0000"/>
                </a:solidFill>
              </a:rPr>
              <a:t>命名为</a:t>
            </a:r>
            <a:r>
              <a:rPr lang="en-US" altLang="zh-CN" sz="1600" b="1" dirty="0">
                <a:solidFill>
                  <a:srgbClr val="FF0000"/>
                </a:solidFill>
              </a:rPr>
              <a:t>VLAN10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4014280" y="1795324"/>
            <a:ext cx="24967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//  </a:t>
            </a:r>
            <a:r>
              <a:rPr lang="zh-CN" altLang="en-US" sz="1600" b="1" dirty="0">
                <a:solidFill>
                  <a:srgbClr val="FF0000"/>
                </a:solidFill>
              </a:rPr>
              <a:t>退出到全局配置模式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4014280" y="2114036"/>
            <a:ext cx="41634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//  </a:t>
            </a:r>
            <a:r>
              <a:rPr lang="zh-CN" altLang="en-US" sz="1600" b="1" dirty="0">
                <a:solidFill>
                  <a:srgbClr val="FF0000"/>
                </a:solidFill>
              </a:rPr>
              <a:t>创建</a:t>
            </a:r>
            <a:r>
              <a:rPr lang="en-US" altLang="zh-CN" sz="1600" b="1" dirty="0">
                <a:solidFill>
                  <a:srgbClr val="FF0000"/>
                </a:solidFill>
              </a:rPr>
              <a:t>VLAN</a:t>
            </a:r>
            <a:r>
              <a:rPr lang="zh-CN" altLang="en-US" sz="1600" b="1" dirty="0">
                <a:solidFill>
                  <a:srgbClr val="FF0000"/>
                </a:solidFill>
              </a:rPr>
              <a:t>号为</a:t>
            </a:r>
            <a:r>
              <a:rPr lang="en-US" altLang="zh-CN" sz="1600" b="1" dirty="0">
                <a:solidFill>
                  <a:srgbClr val="FF0000"/>
                </a:solidFill>
              </a:rPr>
              <a:t>20</a:t>
            </a:r>
            <a:r>
              <a:rPr lang="zh-CN" altLang="en-US" sz="1600" b="1" dirty="0">
                <a:solidFill>
                  <a:srgbClr val="FF0000"/>
                </a:solidFill>
              </a:rPr>
              <a:t>的</a:t>
            </a:r>
            <a:r>
              <a:rPr lang="en-US" altLang="zh-CN" sz="1600" b="1" dirty="0">
                <a:solidFill>
                  <a:srgbClr val="FF0000"/>
                </a:solidFill>
              </a:rPr>
              <a:t>VLAN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4014280" y="2396702"/>
            <a:ext cx="41634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//  </a:t>
            </a:r>
            <a:r>
              <a:rPr lang="zh-CN" altLang="en-US" sz="1600" b="1" dirty="0">
                <a:solidFill>
                  <a:srgbClr val="FF0000"/>
                </a:solidFill>
              </a:rPr>
              <a:t>将</a:t>
            </a:r>
            <a:r>
              <a:rPr lang="en-US" altLang="zh-CN" sz="1600" b="1" dirty="0">
                <a:solidFill>
                  <a:srgbClr val="FF0000"/>
                </a:solidFill>
              </a:rPr>
              <a:t>VLAN</a:t>
            </a:r>
            <a:r>
              <a:rPr lang="zh-CN" altLang="en-US" sz="1600" b="1" dirty="0">
                <a:solidFill>
                  <a:srgbClr val="FF0000"/>
                </a:solidFill>
              </a:rPr>
              <a:t>号为</a:t>
            </a:r>
            <a:r>
              <a:rPr lang="en-US" altLang="zh-CN" sz="1600" b="1" dirty="0">
                <a:solidFill>
                  <a:srgbClr val="FF0000"/>
                </a:solidFill>
              </a:rPr>
              <a:t>20</a:t>
            </a:r>
            <a:r>
              <a:rPr lang="zh-CN" altLang="en-US" sz="1600" b="1" dirty="0">
                <a:solidFill>
                  <a:srgbClr val="FF0000"/>
                </a:solidFill>
              </a:rPr>
              <a:t>的</a:t>
            </a:r>
            <a:r>
              <a:rPr lang="en-US" altLang="zh-CN" sz="1600" b="1" dirty="0">
                <a:solidFill>
                  <a:srgbClr val="FF0000"/>
                </a:solidFill>
              </a:rPr>
              <a:t>VLAN</a:t>
            </a:r>
            <a:r>
              <a:rPr lang="zh-CN" altLang="en-US" sz="1600" b="1" dirty="0">
                <a:solidFill>
                  <a:srgbClr val="FF0000"/>
                </a:solidFill>
              </a:rPr>
              <a:t>命名为</a:t>
            </a:r>
            <a:r>
              <a:rPr lang="en-US" altLang="zh-CN" sz="1600" b="1" dirty="0">
                <a:solidFill>
                  <a:srgbClr val="FF0000"/>
                </a:solidFill>
              </a:rPr>
              <a:t>VLAN20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92" name="文本框 91"/>
          <p:cNvSpPr txBox="1"/>
          <p:nvPr/>
        </p:nvSpPr>
        <p:spPr>
          <a:xfrm>
            <a:off x="4014280" y="2711508"/>
            <a:ext cx="24967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//  </a:t>
            </a:r>
            <a:r>
              <a:rPr lang="zh-CN" altLang="en-US" sz="1600" b="1" dirty="0">
                <a:solidFill>
                  <a:srgbClr val="FF0000"/>
                </a:solidFill>
              </a:rPr>
              <a:t>退出到特权执行模式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4014279" y="3381362"/>
            <a:ext cx="24967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//  </a:t>
            </a:r>
            <a:r>
              <a:rPr lang="zh-CN" altLang="en-US" sz="1600" b="1" dirty="0">
                <a:solidFill>
                  <a:srgbClr val="FF0000"/>
                </a:solidFill>
              </a:rPr>
              <a:t>显示</a:t>
            </a:r>
            <a:r>
              <a:rPr lang="en-US" altLang="zh-CN" sz="1600" b="1" dirty="0">
                <a:solidFill>
                  <a:srgbClr val="FF0000"/>
                </a:solidFill>
              </a:rPr>
              <a:t>VLAN</a:t>
            </a:r>
            <a:r>
              <a:rPr lang="zh-CN" altLang="en-US" sz="1600" b="1" dirty="0">
                <a:solidFill>
                  <a:srgbClr val="FF0000"/>
                </a:solidFill>
              </a:rPr>
              <a:t>摘要信息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596629" y="4051216"/>
            <a:ext cx="6677931" cy="1128497"/>
          </a:xfrm>
          <a:prstGeom prst="rect">
            <a:avLst/>
          </a:prstGeom>
          <a:noFill/>
          <a:ln w="1270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文本框 94"/>
          <p:cNvSpPr txBox="1"/>
          <p:nvPr/>
        </p:nvSpPr>
        <p:spPr>
          <a:xfrm>
            <a:off x="7418755" y="4389946"/>
            <a:ext cx="34185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//  </a:t>
            </a:r>
            <a:r>
              <a:rPr lang="zh-CN" altLang="en-US" sz="1600" b="1" dirty="0">
                <a:solidFill>
                  <a:srgbClr val="FF0000"/>
                </a:solidFill>
              </a:rPr>
              <a:t>所有接口默认属于</a:t>
            </a:r>
            <a:r>
              <a:rPr lang="en-US" altLang="zh-CN" sz="1600" b="1" dirty="0">
                <a:solidFill>
                  <a:srgbClr val="FF0000"/>
                </a:solidFill>
              </a:rPr>
              <a:t>1</a:t>
            </a:r>
            <a:r>
              <a:rPr lang="zh-CN" altLang="en-US" sz="1600" b="1" dirty="0">
                <a:solidFill>
                  <a:srgbClr val="FF0000"/>
                </a:solidFill>
              </a:rPr>
              <a:t>号</a:t>
            </a:r>
            <a:r>
              <a:rPr lang="en-US" altLang="zh-CN" sz="1600" b="1" dirty="0">
                <a:solidFill>
                  <a:srgbClr val="FF0000"/>
                </a:solidFill>
              </a:rPr>
              <a:t>VLAN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596629" y="5194870"/>
            <a:ext cx="6677931" cy="299649"/>
          </a:xfrm>
          <a:prstGeom prst="rect">
            <a:avLst/>
          </a:prstGeom>
          <a:noFill/>
          <a:ln w="1270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文本框 99"/>
          <p:cNvSpPr txBox="1"/>
          <p:nvPr/>
        </p:nvSpPr>
        <p:spPr>
          <a:xfrm>
            <a:off x="7418755" y="5170266"/>
            <a:ext cx="34185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//  </a:t>
            </a:r>
            <a:r>
              <a:rPr lang="zh-CN" altLang="en-US" sz="1600" b="1" dirty="0">
                <a:solidFill>
                  <a:srgbClr val="FF0000"/>
                </a:solidFill>
              </a:rPr>
              <a:t>刚创建的</a:t>
            </a:r>
            <a:r>
              <a:rPr lang="en-US" altLang="zh-CN" sz="1600" b="1" dirty="0">
                <a:solidFill>
                  <a:srgbClr val="FF0000"/>
                </a:solidFill>
              </a:rPr>
              <a:t>10</a:t>
            </a:r>
            <a:r>
              <a:rPr lang="zh-CN" altLang="en-US" sz="1600" b="1" dirty="0">
                <a:solidFill>
                  <a:srgbClr val="FF0000"/>
                </a:solidFill>
              </a:rPr>
              <a:t>号</a:t>
            </a:r>
            <a:r>
              <a:rPr lang="en-US" altLang="zh-CN" sz="1600" b="1" dirty="0">
                <a:solidFill>
                  <a:srgbClr val="FF0000"/>
                </a:solidFill>
              </a:rPr>
              <a:t>VLAN</a:t>
            </a:r>
            <a:r>
              <a:rPr lang="zh-CN" altLang="en-US" sz="1600" b="1" dirty="0">
                <a:solidFill>
                  <a:srgbClr val="FF0000"/>
                </a:solidFill>
              </a:rPr>
              <a:t>和</a:t>
            </a:r>
            <a:r>
              <a:rPr lang="en-US" altLang="zh-CN" sz="1600" b="1" dirty="0">
                <a:solidFill>
                  <a:srgbClr val="FF0000"/>
                </a:solidFill>
              </a:rPr>
              <a:t>20</a:t>
            </a:r>
            <a:r>
              <a:rPr lang="zh-CN" altLang="en-US" sz="1600" b="1" dirty="0">
                <a:solidFill>
                  <a:srgbClr val="FF0000"/>
                </a:solidFill>
              </a:rPr>
              <a:t>号</a:t>
            </a:r>
            <a:r>
              <a:rPr lang="en-US" altLang="zh-CN" sz="1600" b="1" dirty="0">
                <a:solidFill>
                  <a:srgbClr val="FF0000"/>
                </a:solidFill>
              </a:rPr>
              <a:t>VLAN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101" name="矩形 100"/>
          <p:cNvSpPr/>
          <p:nvPr/>
        </p:nvSpPr>
        <p:spPr>
          <a:xfrm>
            <a:off x="596629" y="5501574"/>
            <a:ext cx="6677931" cy="615044"/>
          </a:xfrm>
          <a:prstGeom prst="rect">
            <a:avLst/>
          </a:prstGeom>
          <a:noFill/>
          <a:ln w="1270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文本框 101"/>
          <p:cNvSpPr txBox="1"/>
          <p:nvPr/>
        </p:nvSpPr>
        <p:spPr>
          <a:xfrm>
            <a:off x="7418755" y="5675579"/>
            <a:ext cx="34185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//  </a:t>
            </a:r>
            <a:r>
              <a:rPr lang="zh-CN" altLang="en-US" sz="1600" b="1" dirty="0">
                <a:solidFill>
                  <a:srgbClr val="FF0000"/>
                </a:solidFill>
              </a:rPr>
              <a:t>其他默认</a:t>
            </a:r>
            <a:r>
              <a:rPr lang="en-US" altLang="zh-CN" sz="1600" b="1" dirty="0">
                <a:solidFill>
                  <a:srgbClr val="FF0000"/>
                </a:solidFill>
              </a:rPr>
              <a:t>VLAN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107" name="矩形 106"/>
          <p:cNvSpPr/>
          <p:nvPr/>
        </p:nvSpPr>
        <p:spPr>
          <a:xfrm>
            <a:off x="7702783" y="813367"/>
            <a:ext cx="3698033" cy="26156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sz="2400" b="1" dirty="0"/>
              <a:t>         在交换机</a:t>
            </a:r>
            <a:r>
              <a:rPr lang="en-US" altLang="zh-CN" sz="2400" b="1" dirty="0"/>
              <a:t>Switch1</a:t>
            </a:r>
            <a:r>
              <a:rPr lang="zh-CN" altLang="en-US" sz="2400" b="1" dirty="0"/>
              <a:t>上也分别创建</a:t>
            </a:r>
            <a:r>
              <a:rPr lang="en-US" altLang="zh-CN" sz="2400" b="1" dirty="0"/>
              <a:t>VLAN</a:t>
            </a:r>
            <a:r>
              <a:rPr lang="zh-CN" altLang="en-US" sz="2400" b="1" dirty="0"/>
              <a:t>号为</a:t>
            </a:r>
            <a:r>
              <a:rPr lang="en-US" altLang="zh-CN" sz="2400" b="1" dirty="0"/>
              <a:t>10</a:t>
            </a:r>
            <a:r>
              <a:rPr lang="zh-CN" altLang="en-US" sz="2400" b="1" dirty="0"/>
              <a:t>和</a:t>
            </a:r>
            <a:r>
              <a:rPr lang="en-US" altLang="zh-CN" sz="2400" b="1" dirty="0"/>
              <a:t>20</a:t>
            </a:r>
            <a:r>
              <a:rPr lang="zh-CN" altLang="en-US" sz="2400" b="1" dirty="0"/>
              <a:t>、相应名称为</a:t>
            </a:r>
            <a:r>
              <a:rPr lang="en-US" altLang="zh-CN" sz="2400" b="1" dirty="0"/>
              <a:t>VLAN10</a:t>
            </a:r>
            <a:r>
              <a:rPr lang="zh-CN" altLang="en-US" sz="2400" b="1" dirty="0"/>
              <a:t>和</a:t>
            </a:r>
            <a:r>
              <a:rPr lang="en-US" altLang="zh-CN" sz="2400" b="1" dirty="0"/>
              <a:t>VLAN20</a:t>
            </a:r>
            <a:r>
              <a:rPr lang="zh-CN" altLang="en-US" sz="2400" b="1" dirty="0"/>
              <a:t>的两个</a:t>
            </a:r>
            <a:r>
              <a:rPr lang="en-US" altLang="zh-CN" sz="2400" b="1" dirty="0"/>
              <a:t>VLAN</a:t>
            </a:r>
            <a:r>
              <a:rPr lang="zh-CN" altLang="en-US" sz="2400" b="1" dirty="0"/>
              <a:t>。</a:t>
            </a:r>
            <a:endParaRPr lang="zh-CN" alt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9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800" decel="100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800" decel="100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800" decel="100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800" decel="100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/>
      <p:bldP spid="86" grpId="0"/>
      <p:bldP spid="87" grpId="0"/>
      <p:bldP spid="88" grpId="0"/>
      <p:bldP spid="89" grpId="0"/>
      <p:bldP spid="90" grpId="0"/>
      <p:bldP spid="91" grpId="0"/>
      <p:bldP spid="92" grpId="0"/>
      <p:bldP spid="93" grpId="0"/>
      <p:bldP spid="94" grpId="0" animBg="1"/>
      <p:bldP spid="95" grpId="0"/>
      <p:bldP spid="97" grpId="0" animBg="1"/>
      <p:bldP spid="100" grpId="0"/>
      <p:bldP spid="101" grpId="0" animBg="1"/>
      <p:bldP spid="102" grpId="0"/>
      <p:bldP spid="10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286659" y="685800"/>
            <a:ext cx="3630232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10.  </a:t>
            </a:r>
            <a:r>
              <a:rPr lang="zh-CN" altLang="en-US" sz="2400" b="1" dirty="0"/>
              <a:t>在交换机上划分</a:t>
            </a:r>
            <a:r>
              <a:rPr lang="en-US" altLang="zh-CN" sz="2400" b="1" dirty="0"/>
              <a:t>VLAN</a:t>
            </a:r>
            <a:endParaRPr lang="en-US" altLang="zh-CN" sz="2400" b="1" dirty="0"/>
          </a:p>
        </p:txBody>
      </p:sp>
      <p:grpSp>
        <p:nvGrpSpPr>
          <p:cNvPr id="105" name="组合 104"/>
          <p:cNvGrpSpPr/>
          <p:nvPr/>
        </p:nvGrpSpPr>
        <p:grpSpPr>
          <a:xfrm>
            <a:off x="304800" y="4098138"/>
            <a:ext cx="11596445" cy="1708301"/>
            <a:chOff x="304800" y="4098138"/>
            <a:chExt cx="11596445" cy="1708301"/>
          </a:xfrm>
        </p:grpSpPr>
        <p:sp>
          <p:nvSpPr>
            <p:cNvPr id="96" name="矩形 95"/>
            <p:cNvSpPr/>
            <p:nvPr/>
          </p:nvSpPr>
          <p:spPr>
            <a:xfrm>
              <a:off x="304800" y="4101084"/>
              <a:ext cx="11596445" cy="1705355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" name="文本框 103"/>
            <p:cNvSpPr txBox="1"/>
            <p:nvPr/>
          </p:nvSpPr>
          <p:spPr>
            <a:xfrm>
              <a:off x="5343668" y="4098138"/>
              <a:ext cx="150466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/>
                <a:t>VLAN20</a:t>
              </a:r>
              <a:endParaRPr lang="zh-CN" altLang="en-US" sz="2800" b="1" dirty="0"/>
            </a:p>
          </p:txBody>
        </p:sp>
      </p:grpSp>
      <p:grpSp>
        <p:nvGrpSpPr>
          <p:cNvPr id="106" name="组合 105"/>
          <p:cNvGrpSpPr/>
          <p:nvPr/>
        </p:nvGrpSpPr>
        <p:grpSpPr>
          <a:xfrm>
            <a:off x="304799" y="1744064"/>
            <a:ext cx="11596445" cy="1706612"/>
            <a:chOff x="304799" y="1744064"/>
            <a:chExt cx="11596445" cy="1706612"/>
          </a:xfrm>
        </p:grpSpPr>
        <p:sp>
          <p:nvSpPr>
            <p:cNvPr id="99" name="矩形 98"/>
            <p:cNvSpPr/>
            <p:nvPr/>
          </p:nvSpPr>
          <p:spPr>
            <a:xfrm>
              <a:off x="304799" y="1744064"/>
              <a:ext cx="11596445" cy="1705355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3" name="文本框 102"/>
            <p:cNvSpPr txBox="1"/>
            <p:nvPr/>
          </p:nvSpPr>
          <p:spPr>
            <a:xfrm>
              <a:off x="5343668" y="2927456"/>
              <a:ext cx="150466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/>
                <a:t>VLAN10</a:t>
              </a:r>
              <a:endParaRPr lang="zh-CN" altLang="en-US" sz="2800" b="1" dirty="0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985104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192.168.0.5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1012771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192.168.0.1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4" name="文本框 13"/>
          <p:cNvSpPr txBox="1"/>
          <p:nvPr/>
        </p:nvSpPr>
        <p:spPr>
          <a:xfrm>
            <a:off x="3670211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192.168.0.2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8" name="文本框 17"/>
          <p:cNvSpPr txBox="1"/>
          <p:nvPr/>
        </p:nvSpPr>
        <p:spPr>
          <a:xfrm>
            <a:off x="4014643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192.168.0.6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9" name="文本框 18"/>
          <p:cNvSpPr txBox="1"/>
          <p:nvPr/>
        </p:nvSpPr>
        <p:spPr>
          <a:xfrm>
            <a:off x="6884749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192.168.0.7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22" name="文本框 21"/>
          <p:cNvSpPr txBox="1"/>
          <p:nvPr/>
        </p:nvSpPr>
        <p:spPr>
          <a:xfrm>
            <a:off x="6912416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192.168.0.3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23" name="文本框 22"/>
          <p:cNvSpPr txBox="1"/>
          <p:nvPr/>
        </p:nvSpPr>
        <p:spPr>
          <a:xfrm>
            <a:off x="9569856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192.168.0.4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26" name="文本框 25"/>
          <p:cNvSpPr txBox="1"/>
          <p:nvPr/>
        </p:nvSpPr>
        <p:spPr>
          <a:xfrm>
            <a:off x="9914288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192.168.0.8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cxnSp>
        <p:nvCxnSpPr>
          <p:cNvPr id="8" name="直接连接符 7"/>
          <p:cNvCxnSpPr/>
          <p:nvPr/>
        </p:nvCxnSpPr>
        <p:spPr>
          <a:xfrm>
            <a:off x="713110" y="2162267"/>
            <a:ext cx="2341759" cy="15474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等腰三角形 9"/>
          <p:cNvSpPr/>
          <p:nvPr/>
        </p:nvSpPr>
        <p:spPr>
          <a:xfrm>
            <a:off x="1190792" y="246301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 flipV="1">
            <a:off x="713110" y="3902316"/>
            <a:ext cx="2283201" cy="15150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等腰三角形 16"/>
          <p:cNvSpPr/>
          <p:nvPr/>
        </p:nvSpPr>
        <p:spPr>
          <a:xfrm>
            <a:off x="1190792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连接符 19"/>
          <p:cNvCxnSpPr/>
          <p:nvPr/>
        </p:nvCxnSpPr>
        <p:spPr>
          <a:xfrm flipV="1">
            <a:off x="3370466" y="2108892"/>
            <a:ext cx="2109833" cy="160085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等腰三角形 20"/>
          <p:cNvSpPr/>
          <p:nvPr/>
        </p:nvSpPr>
        <p:spPr>
          <a:xfrm>
            <a:off x="4942426" y="24111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连接符 23"/>
          <p:cNvCxnSpPr/>
          <p:nvPr/>
        </p:nvCxnSpPr>
        <p:spPr>
          <a:xfrm>
            <a:off x="3300727" y="3859446"/>
            <a:ext cx="2292563" cy="161241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等腰三角形 24"/>
          <p:cNvSpPr/>
          <p:nvPr/>
        </p:nvSpPr>
        <p:spPr>
          <a:xfrm>
            <a:off x="4942426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" name="直接连接符 27"/>
          <p:cNvCxnSpPr/>
          <p:nvPr/>
        </p:nvCxnSpPr>
        <p:spPr>
          <a:xfrm>
            <a:off x="6612755" y="2162267"/>
            <a:ext cx="2341759" cy="15474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等腰三角形 28"/>
          <p:cNvSpPr/>
          <p:nvPr/>
        </p:nvSpPr>
        <p:spPr>
          <a:xfrm>
            <a:off x="7090437" y="246301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" name="直接连接符 31"/>
          <p:cNvCxnSpPr/>
          <p:nvPr/>
        </p:nvCxnSpPr>
        <p:spPr>
          <a:xfrm flipV="1">
            <a:off x="6612755" y="3902316"/>
            <a:ext cx="2283201" cy="15150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等腰三角形 32"/>
          <p:cNvSpPr/>
          <p:nvPr/>
        </p:nvSpPr>
        <p:spPr>
          <a:xfrm>
            <a:off x="7090437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8" name="直接连接符 37"/>
          <p:cNvCxnSpPr/>
          <p:nvPr/>
        </p:nvCxnSpPr>
        <p:spPr>
          <a:xfrm flipV="1">
            <a:off x="9270111" y="2108892"/>
            <a:ext cx="2109833" cy="160085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等腰三角形 39"/>
          <p:cNvSpPr/>
          <p:nvPr/>
        </p:nvSpPr>
        <p:spPr>
          <a:xfrm>
            <a:off x="10842071" y="24111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3" name="直接连接符 42"/>
          <p:cNvCxnSpPr/>
          <p:nvPr/>
        </p:nvCxnSpPr>
        <p:spPr>
          <a:xfrm>
            <a:off x="9200372" y="3859446"/>
            <a:ext cx="2292563" cy="161241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等腰三角形 43"/>
          <p:cNvSpPr/>
          <p:nvPr/>
        </p:nvSpPr>
        <p:spPr>
          <a:xfrm>
            <a:off x="10842071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" name="直接连接符 46"/>
          <p:cNvCxnSpPr/>
          <p:nvPr/>
        </p:nvCxnSpPr>
        <p:spPr>
          <a:xfrm>
            <a:off x="3497998" y="3826236"/>
            <a:ext cx="5333835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9" name="20 8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544" y="5242879"/>
            <a:ext cx="539132" cy="457973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04800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PC4</a:t>
            </a:r>
            <a:endParaRPr lang="zh-CN" altLang="en-US" b="1" dirty="0"/>
          </a:p>
        </p:txBody>
      </p:sp>
      <p:pic>
        <p:nvPicPr>
          <p:cNvPr id="12" name="20 11" descr="图标&#10;&#10;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1054" y="3667774"/>
            <a:ext cx="646944" cy="332541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799091" y="3630983"/>
            <a:ext cx="1965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2960-24TT  Switch0</a:t>
            </a:r>
            <a:endParaRPr lang="zh-CN" altLang="en-US" b="1" dirty="0"/>
          </a:p>
        </p:txBody>
      </p:sp>
      <p:pic>
        <p:nvPicPr>
          <p:cNvPr id="5" name="20 4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724" y="5242879"/>
            <a:ext cx="539132" cy="457973"/>
          </a:xfrm>
          <a:prstGeom prst="rect">
            <a:avLst/>
          </a:prstGeom>
        </p:spPr>
      </p:pic>
      <p:pic>
        <p:nvPicPr>
          <p:cNvPr id="6" name="20 5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544" y="1967237"/>
            <a:ext cx="539132" cy="457973"/>
          </a:xfrm>
          <a:prstGeom prst="rect">
            <a:avLst/>
          </a:prstGeom>
        </p:spPr>
      </p:pic>
      <p:pic>
        <p:nvPicPr>
          <p:cNvPr id="7" name="20 6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724" y="1967237"/>
            <a:ext cx="539132" cy="457973"/>
          </a:xfrm>
          <a:prstGeom prst="rect">
            <a:avLst/>
          </a:prstGeom>
        </p:spPr>
      </p:pic>
      <p:sp>
        <p:nvSpPr>
          <p:cNvPr id="34" name="文本框 33"/>
          <p:cNvSpPr txBox="1"/>
          <p:nvPr/>
        </p:nvSpPr>
        <p:spPr>
          <a:xfrm>
            <a:off x="304800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sp>
        <p:nvSpPr>
          <p:cNvPr id="36" name="文本框 35"/>
          <p:cNvSpPr txBox="1"/>
          <p:nvPr/>
        </p:nvSpPr>
        <p:spPr>
          <a:xfrm>
            <a:off x="5184980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PC1</a:t>
            </a:r>
            <a:endParaRPr lang="zh-CN" altLang="en-US" b="1" dirty="0"/>
          </a:p>
        </p:txBody>
      </p:sp>
      <p:sp>
        <p:nvSpPr>
          <p:cNvPr id="39" name="文本框 38"/>
          <p:cNvSpPr txBox="1"/>
          <p:nvPr/>
        </p:nvSpPr>
        <p:spPr>
          <a:xfrm>
            <a:off x="5136948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PC5</a:t>
            </a:r>
            <a:endParaRPr lang="zh-CN" altLang="en-US" b="1" dirty="0"/>
          </a:p>
        </p:txBody>
      </p:sp>
      <p:pic>
        <p:nvPicPr>
          <p:cNvPr id="63" name="20 62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189" y="5242879"/>
            <a:ext cx="539132" cy="457973"/>
          </a:xfrm>
          <a:prstGeom prst="rect">
            <a:avLst/>
          </a:prstGeom>
        </p:spPr>
      </p:pic>
      <p:sp>
        <p:nvSpPr>
          <p:cNvPr id="64" name="文本框 63"/>
          <p:cNvSpPr txBox="1"/>
          <p:nvPr/>
        </p:nvSpPr>
        <p:spPr>
          <a:xfrm>
            <a:off x="6204445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PC6</a:t>
            </a:r>
            <a:endParaRPr lang="zh-CN" altLang="en-US" b="1" dirty="0"/>
          </a:p>
        </p:txBody>
      </p:sp>
      <p:pic>
        <p:nvPicPr>
          <p:cNvPr id="65" name="20 64" descr="图标&#10;&#10;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699" y="3667774"/>
            <a:ext cx="646944" cy="332541"/>
          </a:xfrm>
          <a:prstGeom prst="rect">
            <a:avLst/>
          </a:prstGeom>
        </p:spPr>
      </p:pic>
      <p:sp>
        <p:nvSpPr>
          <p:cNvPr id="66" name="文本框 65"/>
          <p:cNvSpPr txBox="1"/>
          <p:nvPr/>
        </p:nvSpPr>
        <p:spPr>
          <a:xfrm>
            <a:off x="9390051" y="3630983"/>
            <a:ext cx="1965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2960-24TT  Switch1</a:t>
            </a:r>
            <a:endParaRPr lang="zh-CN" altLang="en-US" b="1" dirty="0"/>
          </a:p>
        </p:txBody>
      </p:sp>
      <p:pic>
        <p:nvPicPr>
          <p:cNvPr id="68" name="20 67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3369" y="5242879"/>
            <a:ext cx="539132" cy="457973"/>
          </a:xfrm>
          <a:prstGeom prst="rect">
            <a:avLst/>
          </a:prstGeom>
        </p:spPr>
      </p:pic>
      <p:pic>
        <p:nvPicPr>
          <p:cNvPr id="69" name="20 68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189" y="1967237"/>
            <a:ext cx="539132" cy="457973"/>
          </a:xfrm>
          <a:prstGeom prst="rect">
            <a:avLst/>
          </a:prstGeom>
        </p:spPr>
      </p:pic>
      <p:pic>
        <p:nvPicPr>
          <p:cNvPr id="70" name="20 69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3369" y="1967237"/>
            <a:ext cx="539132" cy="457973"/>
          </a:xfrm>
          <a:prstGeom prst="rect">
            <a:avLst/>
          </a:prstGeom>
        </p:spPr>
      </p:pic>
      <p:sp>
        <p:nvSpPr>
          <p:cNvPr id="71" name="文本框 70"/>
          <p:cNvSpPr txBox="1"/>
          <p:nvPr/>
        </p:nvSpPr>
        <p:spPr>
          <a:xfrm>
            <a:off x="6204445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PC2</a:t>
            </a:r>
            <a:endParaRPr lang="zh-CN" altLang="en-US" b="1" dirty="0"/>
          </a:p>
        </p:txBody>
      </p:sp>
      <p:sp>
        <p:nvSpPr>
          <p:cNvPr id="73" name="文本框 72"/>
          <p:cNvSpPr txBox="1"/>
          <p:nvPr/>
        </p:nvSpPr>
        <p:spPr>
          <a:xfrm>
            <a:off x="11084625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PC3</a:t>
            </a:r>
            <a:endParaRPr lang="zh-CN" altLang="en-US" b="1" dirty="0"/>
          </a:p>
        </p:txBody>
      </p:sp>
      <p:sp>
        <p:nvSpPr>
          <p:cNvPr id="76" name="文本框 75"/>
          <p:cNvSpPr txBox="1"/>
          <p:nvPr/>
        </p:nvSpPr>
        <p:spPr>
          <a:xfrm>
            <a:off x="11036593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PC7</a:t>
            </a:r>
            <a:endParaRPr lang="zh-CN" altLang="en-US" b="1" dirty="0"/>
          </a:p>
        </p:txBody>
      </p:sp>
      <p:sp>
        <p:nvSpPr>
          <p:cNvPr id="51" name="等腰三角形 50"/>
          <p:cNvSpPr/>
          <p:nvPr/>
        </p:nvSpPr>
        <p:spPr>
          <a:xfrm>
            <a:off x="2509381" y="3309403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等腰三角形 51"/>
          <p:cNvSpPr/>
          <p:nvPr/>
        </p:nvSpPr>
        <p:spPr>
          <a:xfrm>
            <a:off x="2509381" y="41193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等腰三角形 52"/>
          <p:cNvSpPr/>
          <p:nvPr/>
        </p:nvSpPr>
        <p:spPr>
          <a:xfrm>
            <a:off x="3776559" y="329433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等腰三角形 53"/>
          <p:cNvSpPr/>
          <p:nvPr/>
        </p:nvSpPr>
        <p:spPr>
          <a:xfrm>
            <a:off x="3776558" y="417750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等腰三角形 54"/>
          <p:cNvSpPr/>
          <p:nvPr/>
        </p:nvSpPr>
        <p:spPr>
          <a:xfrm>
            <a:off x="8324469" y="328257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等腰三角形 55"/>
          <p:cNvSpPr/>
          <p:nvPr/>
        </p:nvSpPr>
        <p:spPr>
          <a:xfrm>
            <a:off x="9712901" y="328107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等腰三角形 56"/>
          <p:cNvSpPr/>
          <p:nvPr/>
        </p:nvSpPr>
        <p:spPr>
          <a:xfrm>
            <a:off x="8322853" y="419586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等腰三角形 57"/>
          <p:cNvSpPr/>
          <p:nvPr/>
        </p:nvSpPr>
        <p:spPr>
          <a:xfrm>
            <a:off x="9728117" y="419586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等腰三角形 58"/>
          <p:cNvSpPr/>
          <p:nvPr/>
        </p:nvSpPr>
        <p:spPr>
          <a:xfrm>
            <a:off x="4059017" y="376304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等腰三角形 59"/>
          <p:cNvSpPr/>
          <p:nvPr/>
        </p:nvSpPr>
        <p:spPr>
          <a:xfrm>
            <a:off x="8080650" y="376304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/>
        </p:nvSpPr>
        <p:spPr>
          <a:xfrm>
            <a:off x="8299448" y="301645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Fa0/1</a:t>
            </a:r>
            <a:endParaRPr lang="zh-CN" altLang="en-US" b="1" dirty="0"/>
          </a:p>
        </p:txBody>
      </p:sp>
      <p:sp>
        <p:nvSpPr>
          <p:cNvPr id="48" name="文本框 47"/>
          <p:cNvSpPr txBox="1"/>
          <p:nvPr/>
        </p:nvSpPr>
        <p:spPr>
          <a:xfrm>
            <a:off x="9050192" y="301645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Fa0/2</a:t>
            </a:r>
            <a:endParaRPr lang="zh-CN" altLang="en-US" b="1" dirty="0"/>
          </a:p>
        </p:txBody>
      </p:sp>
      <p:sp>
        <p:nvSpPr>
          <p:cNvPr id="49" name="文本框 48"/>
          <p:cNvSpPr txBox="1"/>
          <p:nvPr/>
        </p:nvSpPr>
        <p:spPr>
          <a:xfrm>
            <a:off x="8299448" y="4172213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Fa0/3</a:t>
            </a:r>
            <a:endParaRPr lang="zh-CN" altLang="en-US" b="1" dirty="0"/>
          </a:p>
        </p:txBody>
      </p:sp>
      <p:sp>
        <p:nvSpPr>
          <p:cNvPr id="50" name="文本框 49"/>
          <p:cNvSpPr txBox="1"/>
          <p:nvPr/>
        </p:nvSpPr>
        <p:spPr>
          <a:xfrm>
            <a:off x="9035504" y="4172213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Fa0/4</a:t>
            </a:r>
            <a:endParaRPr lang="zh-CN" altLang="en-US" b="1" dirty="0"/>
          </a:p>
        </p:txBody>
      </p:sp>
      <p:sp>
        <p:nvSpPr>
          <p:cNvPr id="61" name="文本框 60"/>
          <p:cNvSpPr txBox="1"/>
          <p:nvPr/>
        </p:nvSpPr>
        <p:spPr>
          <a:xfrm>
            <a:off x="2399803" y="301645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Fa0/1</a:t>
            </a:r>
            <a:endParaRPr lang="zh-CN" altLang="en-US" b="1" dirty="0"/>
          </a:p>
        </p:txBody>
      </p:sp>
      <p:sp>
        <p:nvSpPr>
          <p:cNvPr id="62" name="文本框 61"/>
          <p:cNvSpPr txBox="1"/>
          <p:nvPr/>
        </p:nvSpPr>
        <p:spPr>
          <a:xfrm>
            <a:off x="3150547" y="301645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Fa0/2</a:t>
            </a:r>
            <a:endParaRPr lang="zh-CN" altLang="en-US" b="1" dirty="0"/>
          </a:p>
        </p:txBody>
      </p:sp>
      <p:sp>
        <p:nvSpPr>
          <p:cNvPr id="67" name="文本框 66"/>
          <p:cNvSpPr txBox="1"/>
          <p:nvPr/>
        </p:nvSpPr>
        <p:spPr>
          <a:xfrm>
            <a:off x="2399803" y="4172213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Fa0/3</a:t>
            </a:r>
            <a:endParaRPr lang="zh-CN" altLang="en-US" b="1" dirty="0"/>
          </a:p>
        </p:txBody>
      </p:sp>
      <p:sp>
        <p:nvSpPr>
          <p:cNvPr id="72" name="文本框 71"/>
          <p:cNvSpPr txBox="1"/>
          <p:nvPr/>
        </p:nvSpPr>
        <p:spPr>
          <a:xfrm>
            <a:off x="3135859" y="4172213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Fa0/4</a:t>
            </a:r>
            <a:endParaRPr lang="zh-CN" altLang="en-US" b="1" dirty="0"/>
          </a:p>
        </p:txBody>
      </p:sp>
      <p:sp>
        <p:nvSpPr>
          <p:cNvPr id="74" name="文本框 73"/>
          <p:cNvSpPr txBox="1"/>
          <p:nvPr/>
        </p:nvSpPr>
        <p:spPr>
          <a:xfrm>
            <a:off x="3429825" y="351339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Fa0/5</a:t>
            </a:r>
            <a:endParaRPr lang="zh-CN" altLang="en-US" b="1" dirty="0"/>
          </a:p>
        </p:txBody>
      </p:sp>
      <p:sp>
        <p:nvSpPr>
          <p:cNvPr id="75" name="文本框 74"/>
          <p:cNvSpPr txBox="1"/>
          <p:nvPr/>
        </p:nvSpPr>
        <p:spPr>
          <a:xfrm>
            <a:off x="8001195" y="351339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Fa0/5</a:t>
            </a:r>
            <a:endParaRPr lang="zh-CN" altLang="en-US" b="1" dirty="0"/>
          </a:p>
        </p:txBody>
      </p:sp>
      <p:sp>
        <p:nvSpPr>
          <p:cNvPr id="37" name="文本框 36"/>
          <p:cNvSpPr txBox="1"/>
          <p:nvPr/>
        </p:nvSpPr>
        <p:spPr>
          <a:xfrm>
            <a:off x="3174526" y="2786292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41" name="文本框 40"/>
          <p:cNvSpPr txBox="1"/>
          <p:nvPr/>
        </p:nvSpPr>
        <p:spPr>
          <a:xfrm>
            <a:off x="2287891" y="2786292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42" name="文本框 41"/>
          <p:cNvSpPr txBox="1"/>
          <p:nvPr/>
        </p:nvSpPr>
        <p:spPr>
          <a:xfrm>
            <a:off x="3174526" y="4405144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45" name="文本框 44"/>
          <p:cNvSpPr txBox="1"/>
          <p:nvPr/>
        </p:nvSpPr>
        <p:spPr>
          <a:xfrm>
            <a:off x="2287891" y="4405144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77" name="文本框 76"/>
          <p:cNvSpPr txBox="1"/>
          <p:nvPr/>
        </p:nvSpPr>
        <p:spPr>
          <a:xfrm>
            <a:off x="9074171" y="2786292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78" name="文本框 77"/>
          <p:cNvSpPr txBox="1"/>
          <p:nvPr/>
        </p:nvSpPr>
        <p:spPr>
          <a:xfrm>
            <a:off x="8187536" y="2786292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79" name="文本框 78"/>
          <p:cNvSpPr txBox="1"/>
          <p:nvPr/>
        </p:nvSpPr>
        <p:spPr>
          <a:xfrm>
            <a:off x="9074171" y="4405144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80" name="文本框 79"/>
          <p:cNvSpPr txBox="1"/>
          <p:nvPr/>
        </p:nvSpPr>
        <p:spPr>
          <a:xfrm>
            <a:off x="8187536" y="4405144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81" name="文本框 80"/>
          <p:cNvSpPr txBox="1"/>
          <p:nvPr/>
        </p:nvSpPr>
        <p:spPr>
          <a:xfrm>
            <a:off x="4101736" y="3513397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82" name="文本框 81"/>
          <p:cNvSpPr txBox="1"/>
          <p:nvPr/>
        </p:nvSpPr>
        <p:spPr>
          <a:xfrm>
            <a:off x="7362101" y="3513397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27" name="文本框 26"/>
          <p:cNvSpPr txBox="1"/>
          <p:nvPr/>
        </p:nvSpPr>
        <p:spPr>
          <a:xfrm>
            <a:off x="3146682" y="2550840"/>
            <a:ext cx="96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VLAN10</a:t>
            </a:r>
            <a:endParaRPr lang="zh-CN" altLang="en-US" b="1" dirty="0"/>
          </a:p>
        </p:txBody>
      </p:sp>
      <p:sp>
        <p:nvSpPr>
          <p:cNvPr id="30" name="文本框 29"/>
          <p:cNvSpPr txBox="1"/>
          <p:nvPr/>
        </p:nvSpPr>
        <p:spPr>
          <a:xfrm>
            <a:off x="2260047" y="2550840"/>
            <a:ext cx="96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VLAN10</a:t>
            </a:r>
            <a:endParaRPr lang="zh-CN" altLang="en-US" b="1" dirty="0"/>
          </a:p>
        </p:txBody>
      </p:sp>
      <p:sp>
        <p:nvSpPr>
          <p:cNvPr id="31" name="文本框 30"/>
          <p:cNvSpPr txBox="1"/>
          <p:nvPr/>
        </p:nvSpPr>
        <p:spPr>
          <a:xfrm>
            <a:off x="9033357" y="2550840"/>
            <a:ext cx="1018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VLAN10</a:t>
            </a:r>
            <a:endParaRPr lang="zh-CN" altLang="en-US" b="1" dirty="0"/>
          </a:p>
        </p:txBody>
      </p:sp>
      <p:sp>
        <p:nvSpPr>
          <p:cNvPr id="35" name="文本框 34"/>
          <p:cNvSpPr txBox="1"/>
          <p:nvPr/>
        </p:nvSpPr>
        <p:spPr>
          <a:xfrm>
            <a:off x="8146722" y="2550840"/>
            <a:ext cx="1018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VLAN10</a:t>
            </a:r>
            <a:endParaRPr lang="zh-CN" altLang="en-US" b="1" dirty="0"/>
          </a:p>
        </p:txBody>
      </p:sp>
      <p:sp>
        <p:nvSpPr>
          <p:cNvPr id="83" name="文本框 82"/>
          <p:cNvSpPr txBox="1"/>
          <p:nvPr/>
        </p:nvSpPr>
        <p:spPr>
          <a:xfrm>
            <a:off x="3155071" y="4633996"/>
            <a:ext cx="944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VLAN20</a:t>
            </a:r>
            <a:endParaRPr lang="zh-CN" altLang="en-US" b="1" dirty="0"/>
          </a:p>
        </p:txBody>
      </p:sp>
      <p:sp>
        <p:nvSpPr>
          <p:cNvPr id="84" name="文本框 83"/>
          <p:cNvSpPr txBox="1"/>
          <p:nvPr/>
        </p:nvSpPr>
        <p:spPr>
          <a:xfrm>
            <a:off x="2268436" y="4633996"/>
            <a:ext cx="944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VLAN20</a:t>
            </a:r>
            <a:endParaRPr lang="zh-CN" altLang="en-US" b="1" dirty="0"/>
          </a:p>
        </p:txBody>
      </p:sp>
      <p:sp>
        <p:nvSpPr>
          <p:cNvPr id="85" name="文本框 84"/>
          <p:cNvSpPr txBox="1"/>
          <p:nvPr/>
        </p:nvSpPr>
        <p:spPr>
          <a:xfrm>
            <a:off x="9054716" y="4633996"/>
            <a:ext cx="944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VLAN20</a:t>
            </a:r>
            <a:endParaRPr lang="zh-CN" altLang="en-US" b="1" dirty="0"/>
          </a:p>
        </p:txBody>
      </p:sp>
      <p:sp>
        <p:nvSpPr>
          <p:cNvPr id="86" name="文本框 85"/>
          <p:cNvSpPr txBox="1"/>
          <p:nvPr/>
        </p:nvSpPr>
        <p:spPr>
          <a:xfrm>
            <a:off x="8168081" y="4633996"/>
            <a:ext cx="944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VLAN20</a:t>
            </a:r>
            <a:endParaRPr lang="zh-CN" altLang="en-US" b="1" dirty="0"/>
          </a:p>
        </p:txBody>
      </p:sp>
      <p:sp>
        <p:nvSpPr>
          <p:cNvPr id="87" name="文本框 86"/>
          <p:cNvSpPr txBox="1"/>
          <p:nvPr/>
        </p:nvSpPr>
        <p:spPr>
          <a:xfrm>
            <a:off x="4871764" y="3512803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VLAN1</a:t>
            </a:r>
            <a:endParaRPr lang="zh-CN" altLang="en-US" b="1" dirty="0"/>
          </a:p>
        </p:txBody>
      </p:sp>
      <p:sp>
        <p:nvSpPr>
          <p:cNvPr id="88" name="文本框 87"/>
          <p:cNvSpPr txBox="1"/>
          <p:nvPr/>
        </p:nvSpPr>
        <p:spPr>
          <a:xfrm>
            <a:off x="6573894" y="3518652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VLAN1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7" grpId="0"/>
      <p:bldP spid="30" grpId="0"/>
      <p:bldP spid="31" grpId="0"/>
      <p:bldP spid="35" grpId="0"/>
      <p:bldP spid="83" grpId="0"/>
      <p:bldP spid="84" grpId="0"/>
      <p:bldP spid="85" grpId="0"/>
      <p:bldP spid="86" grpId="0"/>
      <p:bldP spid="87" grpId="0"/>
      <p:bldP spid="8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286659" y="685800"/>
            <a:ext cx="3630232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10.  </a:t>
            </a:r>
            <a:r>
              <a:rPr lang="zh-CN" altLang="en-US" sz="2400" b="1" dirty="0"/>
              <a:t>在交换机上划分</a:t>
            </a:r>
            <a:r>
              <a:rPr lang="en-US" altLang="zh-CN" sz="2400" b="1" dirty="0"/>
              <a:t>VLAN</a:t>
            </a:r>
            <a:endParaRPr lang="en-US" altLang="zh-CN" sz="2400" b="1" dirty="0"/>
          </a:p>
        </p:txBody>
      </p:sp>
      <p:grpSp>
        <p:nvGrpSpPr>
          <p:cNvPr id="105" name="组合 104"/>
          <p:cNvGrpSpPr/>
          <p:nvPr/>
        </p:nvGrpSpPr>
        <p:grpSpPr>
          <a:xfrm>
            <a:off x="304800" y="4098138"/>
            <a:ext cx="11596445" cy="1708301"/>
            <a:chOff x="304800" y="4098138"/>
            <a:chExt cx="11596445" cy="1708301"/>
          </a:xfrm>
        </p:grpSpPr>
        <p:sp>
          <p:nvSpPr>
            <p:cNvPr id="96" name="矩形 95"/>
            <p:cNvSpPr/>
            <p:nvPr/>
          </p:nvSpPr>
          <p:spPr>
            <a:xfrm>
              <a:off x="304800" y="4101084"/>
              <a:ext cx="11596445" cy="1705355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" name="文本框 103"/>
            <p:cNvSpPr txBox="1"/>
            <p:nvPr/>
          </p:nvSpPr>
          <p:spPr>
            <a:xfrm>
              <a:off x="5343668" y="4098138"/>
              <a:ext cx="150466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/>
                <a:t>VLAN20</a:t>
              </a:r>
              <a:endParaRPr lang="zh-CN" altLang="en-US" sz="2800" b="1" dirty="0"/>
            </a:p>
          </p:txBody>
        </p:sp>
      </p:grpSp>
      <p:grpSp>
        <p:nvGrpSpPr>
          <p:cNvPr id="106" name="组合 105"/>
          <p:cNvGrpSpPr/>
          <p:nvPr/>
        </p:nvGrpSpPr>
        <p:grpSpPr>
          <a:xfrm>
            <a:off x="304799" y="1744064"/>
            <a:ext cx="11596445" cy="1706612"/>
            <a:chOff x="304799" y="1744064"/>
            <a:chExt cx="11596445" cy="1706612"/>
          </a:xfrm>
        </p:grpSpPr>
        <p:sp>
          <p:nvSpPr>
            <p:cNvPr id="99" name="矩形 98"/>
            <p:cNvSpPr/>
            <p:nvPr/>
          </p:nvSpPr>
          <p:spPr>
            <a:xfrm>
              <a:off x="304799" y="1744064"/>
              <a:ext cx="11596445" cy="1705355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3" name="文本框 102"/>
            <p:cNvSpPr txBox="1"/>
            <p:nvPr/>
          </p:nvSpPr>
          <p:spPr>
            <a:xfrm>
              <a:off x="5343668" y="2927456"/>
              <a:ext cx="150466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/>
                <a:t>VLAN10</a:t>
              </a:r>
              <a:endParaRPr lang="zh-CN" altLang="en-US" sz="2800" b="1" dirty="0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985104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192.168.0.5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1012771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192.168.0.1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4" name="文本框 13"/>
          <p:cNvSpPr txBox="1"/>
          <p:nvPr/>
        </p:nvSpPr>
        <p:spPr>
          <a:xfrm>
            <a:off x="3670211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192.168.0.2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8" name="文本框 17"/>
          <p:cNvSpPr txBox="1"/>
          <p:nvPr/>
        </p:nvSpPr>
        <p:spPr>
          <a:xfrm>
            <a:off x="4014643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192.168.0.6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9" name="文本框 18"/>
          <p:cNvSpPr txBox="1"/>
          <p:nvPr/>
        </p:nvSpPr>
        <p:spPr>
          <a:xfrm>
            <a:off x="6884749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192.168.0.7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22" name="文本框 21"/>
          <p:cNvSpPr txBox="1"/>
          <p:nvPr/>
        </p:nvSpPr>
        <p:spPr>
          <a:xfrm>
            <a:off x="6912416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192.168.0.3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23" name="文本框 22"/>
          <p:cNvSpPr txBox="1"/>
          <p:nvPr/>
        </p:nvSpPr>
        <p:spPr>
          <a:xfrm>
            <a:off x="9569856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192.168.0.4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26" name="文本框 25"/>
          <p:cNvSpPr txBox="1"/>
          <p:nvPr/>
        </p:nvSpPr>
        <p:spPr>
          <a:xfrm>
            <a:off x="9914288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192.168.0.8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cxnSp>
        <p:nvCxnSpPr>
          <p:cNvPr id="8" name="直接连接符 7"/>
          <p:cNvCxnSpPr/>
          <p:nvPr/>
        </p:nvCxnSpPr>
        <p:spPr>
          <a:xfrm>
            <a:off x="713110" y="2162267"/>
            <a:ext cx="2341759" cy="15474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等腰三角形 9"/>
          <p:cNvSpPr/>
          <p:nvPr/>
        </p:nvSpPr>
        <p:spPr>
          <a:xfrm>
            <a:off x="1190792" y="246301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 flipV="1">
            <a:off x="713110" y="3902316"/>
            <a:ext cx="2283201" cy="15150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等腰三角形 16"/>
          <p:cNvSpPr/>
          <p:nvPr/>
        </p:nvSpPr>
        <p:spPr>
          <a:xfrm>
            <a:off x="1190792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连接符 19"/>
          <p:cNvCxnSpPr/>
          <p:nvPr/>
        </p:nvCxnSpPr>
        <p:spPr>
          <a:xfrm flipV="1">
            <a:off x="3370466" y="2108892"/>
            <a:ext cx="2109833" cy="160085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等腰三角形 20"/>
          <p:cNvSpPr/>
          <p:nvPr/>
        </p:nvSpPr>
        <p:spPr>
          <a:xfrm>
            <a:off x="4942426" y="24111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连接符 23"/>
          <p:cNvCxnSpPr/>
          <p:nvPr/>
        </p:nvCxnSpPr>
        <p:spPr>
          <a:xfrm>
            <a:off x="3300727" y="3859446"/>
            <a:ext cx="2292563" cy="161241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等腰三角形 24"/>
          <p:cNvSpPr/>
          <p:nvPr/>
        </p:nvSpPr>
        <p:spPr>
          <a:xfrm>
            <a:off x="4942426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" name="直接连接符 27"/>
          <p:cNvCxnSpPr/>
          <p:nvPr/>
        </p:nvCxnSpPr>
        <p:spPr>
          <a:xfrm>
            <a:off x="6612755" y="2162267"/>
            <a:ext cx="2341759" cy="15474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等腰三角形 28"/>
          <p:cNvSpPr/>
          <p:nvPr/>
        </p:nvSpPr>
        <p:spPr>
          <a:xfrm>
            <a:off x="7090437" y="246301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" name="直接连接符 31"/>
          <p:cNvCxnSpPr/>
          <p:nvPr/>
        </p:nvCxnSpPr>
        <p:spPr>
          <a:xfrm flipV="1">
            <a:off x="6612755" y="3902316"/>
            <a:ext cx="2283201" cy="15150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等腰三角形 32"/>
          <p:cNvSpPr/>
          <p:nvPr/>
        </p:nvSpPr>
        <p:spPr>
          <a:xfrm>
            <a:off x="7090437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8" name="直接连接符 37"/>
          <p:cNvCxnSpPr/>
          <p:nvPr/>
        </p:nvCxnSpPr>
        <p:spPr>
          <a:xfrm flipV="1">
            <a:off x="9270111" y="2108892"/>
            <a:ext cx="2109833" cy="160085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等腰三角形 39"/>
          <p:cNvSpPr/>
          <p:nvPr/>
        </p:nvSpPr>
        <p:spPr>
          <a:xfrm>
            <a:off x="10842071" y="24111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3" name="直接连接符 42"/>
          <p:cNvCxnSpPr/>
          <p:nvPr/>
        </p:nvCxnSpPr>
        <p:spPr>
          <a:xfrm>
            <a:off x="9200372" y="3859446"/>
            <a:ext cx="2292563" cy="161241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等腰三角形 43"/>
          <p:cNvSpPr/>
          <p:nvPr/>
        </p:nvSpPr>
        <p:spPr>
          <a:xfrm>
            <a:off x="10842071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" name="直接连接符 46"/>
          <p:cNvCxnSpPr/>
          <p:nvPr/>
        </p:nvCxnSpPr>
        <p:spPr>
          <a:xfrm>
            <a:off x="3497998" y="3826236"/>
            <a:ext cx="5333835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9" name="20 8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544" y="5242879"/>
            <a:ext cx="539132" cy="457973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04800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PC4</a:t>
            </a:r>
            <a:endParaRPr lang="zh-CN" altLang="en-US" b="1" dirty="0"/>
          </a:p>
        </p:txBody>
      </p:sp>
      <p:pic>
        <p:nvPicPr>
          <p:cNvPr id="12" name="20 11" descr="图标&#10;&#10;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1054" y="3667774"/>
            <a:ext cx="646944" cy="332541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799091" y="3630983"/>
            <a:ext cx="1965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2960-24TT  Switch0</a:t>
            </a:r>
            <a:endParaRPr lang="zh-CN" altLang="en-US" b="1" dirty="0"/>
          </a:p>
        </p:txBody>
      </p:sp>
      <p:pic>
        <p:nvPicPr>
          <p:cNvPr id="5" name="20 4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724" y="5242879"/>
            <a:ext cx="539132" cy="457973"/>
          </a:xfrm>
          <a:prstGeom prst="rect">
            <a:avLst/>
          </a:prstGeom>
        </p:spPr>
      </p:pic>
      <p:pic>
        <p:nvPicPr>
          <p:cNvPr id="6" name="20 5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544" y="1967237"/>
            <a:ext cx="539132" cy="457973"/>
          </a:xfrm>
          <a:prstGeom prst="rect">
            <a:avLst/>
          </a:prstGeom>
        </p:spPr>
      </p:pic>
      <p:pic>
        <p:nvPicPr>
          <p:cNvPr id="7" name="20 6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724" y="1967237"/>
            <a:ext cx="539132" cy="457973"/>
          </a:xfrm>
          <a:prstGeom prst="rect">
            <a:avLst/>
          </a:prstGeom>
        </p:spPr>
      </p:pic>
      <p:sp>
        <p:nvSpPr>
          <p:cNvPr id="34" name="文本框 33"/>
          <p:cNvSpPr txBox="1"/>
          <p:nvPr/>
        </p:nvSpPr>
        <p:spPr>
          <a:xfrm>
            <a:off x="304800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sp>
        <p:nvSpPr>
          <p:cNvPr id="36" name="文本框 35"/>
          <p:cNvSpPr txBox="1"/>
          <p:nvPr/>
        </p:nvSpPr>
        <p:spPr>
          <a:xfrm>
            <a:off x="5184980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PC1</a:t>
            </a:r>
            <a:endParaRPr lang="zh-CN" altLang="en-US" b="1" dirty="0"/>
          </a:p>
        </p:txBody>
      </p:sp>
      <p:sp>
        <p:nvSpPr>
          <p:cNvPr id="39" name="文本框 38"/>
          <p:cNvSpPr txBox="1"/>
          <p:nvPr/>
        </p:nvSpPr>
        <p:spPr>
          <a:xfrm>
            <a:off x="5136948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PC5</a:t>
            </a:r>
            <a:endParaRPr lang="zh-CN" altLang="en-US" b="1" dirty="0"/>
          </a:p>
        </p:txBody>
      </p:sp>
      <p:pic>
        <p:nvPicPr>
          <p:cNvPr id="63" name="20 62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189" y="5242879"/>
            <a:ext cx="539132" cy="457973"/>
          </a:xfrm>
          <a:prstGeom prst="rect">
            <a:avLst/>
          </a:prstGeom>
        </p:spPr>
      </p:pic>
      <p:sp>
        <p:nvSpPr>
          <p:cNvPr id="64" name="文本框 63"/>
          <p:cNvSpPr txBox="1"/>
          <p:nvPr/>
        </p:nvSpPr>
        <p:spPr>
          <a:xfrm>
            <a:off x="6204445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PC6</a:t>
            </a:r>
            <a:endParaRPr lang="zh-CN" altLang="en-US" b="1" dirty="0"/>
          </a:p>
        </p:txBody>
      </p:sp>
      <p:pic>
        <p:nvPicPr>
          <p:cNvPr id="65" name="20 64" descr="图标&#10;&#10;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699" y="3667774"/>
            <a:ext cx="646944" cy="332541"/>
          </a:xfrm>
          <a:prstGeom prst="rect">
            <a:avLst/>
          </a:prstGeom>
        </p:spPr>
      </p:pic>
      <p:sp>
        <p:nvSpPr>
          <p:cNvPr id="66" name="文本框 65"/>
          <p:cNvSpPr txBox="1"/>
          <p:nvPr/>
        </p:nvSpPr>
        <p:spPr>
          <a:xfrm>
            <a:off x="9390051" y="3630983"/>
            <a:ext cx="1965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2960-24TT  Switch1</a:t>
            </a:r>
            <a:endParaRPr lang="zh-CN" altLang="en-US" b="1" dirty="0"/>
          </a:p>
        </p:txBody>
      </p:sp>
      <p:pic>
        <p:nvPicPr>
          <p:cNvPr id="68" name="20 67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3369" y="5242879"/>
            <a:ext cx="539132" cy="457973"/>
          </a:xfrm>
          <a:prstGeom prst="rect">
            <a:avLst/>
          </a:prstGeom>
        </p:spPr>
      </p:pic>
      <p:pic>
        <p:nvPicPr>
          <p:cNvPr id="69" name="20 68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189" y="1967237"/>
            <a:ext cx="539132" cy="457973"/>
          </a:xfrm>
          <a:prstGeom prst="rect">
            <a:avLst/>
          </a:prstGeom>
        </p:spPr>
      </p:pic>
      <p:pic>
        <p:nvPicPr>
          <p:cNvPr id="70" name="20 69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3369" y="1967237"/>
            <a:ext cx="539132" cy="457973"/>
          </a:xfrm>
          <a:prstGeom prst="rect">
            <a:avLst/>
          </a:prstGeom>
        </p:spPr>
      </p:pic>
      <p:sp>
        <p:nvSpPr>
          <p:cNvPr id="71" name="文本框 70"/>
          <p:cNvSpPr txBox="1"/>
          <p:nvPr/>
        </p:nvSpPr>
        <p:spPr>
          <a:xfrm>
            <a:off x="6204445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PC2</a:t>
            </a:r>
            <a:endParaRPr lang="zh-CN" altLang="en-US" b="1" dirty="0"/>
          </a:p>
        </p:txBody>
      </p:sp>
      <p:sp>
        <p:nvSpPr>
          <p:cNvPr id="73" name="文本框 72"/>
          <p:cNvSpPr txBox="1"/>
          <p:nvPr/>
        </p:nvSpPr>
        <p:spPr>
          <a:xfrm>
            <a:off x="11084625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PC3</a:t>
            </a:r>
            <a:endParaRPr lang="zh-CN" altLang="en-US" b="1" dirty="0"/>
          </a:p>
        </p:txBody>
      </p:sp>
      <p:sp>
        <p:nvSpPr>
          <p:cNvPr id="76" name="文本框 75"/>
          <p:cNvSpPr txBox="1"/>
          <p:nvPr/>
        </p:nvSpPr>
        <p:spPr>
          <a:xfrm>
            <a:off x="11036593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PC7</a:t>
            </a:r>
            <a:endParaRPr lang="zh-CN" altLang="en-US" b="1" dirty="0"/>
          </a:p>
        </p:txBody>
      </p:sp>
      <p:sp>
        <p:nvSpPr>
          <p:cNvPr id="51" name="等腰三角形 50"/>
          <p:cNvSpPr/>
          <p:nvPr/>
        </p:nvSpPr>
        <p:spPr>
          <a:xfrm>
            <a:off x="2509381" y="3309403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等腰三角形 51"/>
          <p:cNvSpPr/>
          <p:nvPr/>
        </p:nvSpPr>
        <p:spPr>
          <a:xfrm>
            <a:off x="2509381" y="41193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等腰三角形 52"/>
          <p:cNvSpPr/>
          <p:nvPr/>
        </p:nvSpPr>
        <p:spPr>
          <a:xfrm>
            <a:off x="3776559" y="329433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等腰三角形 53"/>
          <p:cNvSpPr/>
          <p:nvPr/>
        </p:nvSpPr>
        <p:spPr>
          <a:xfrm>
            <a:off x="3776558" y="417750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等腰三角形 54"/>
          <p:cNvSpPr/>
          <p:nvPr/>
        </p:nvSpPr>
        <p:spPr>
          <a:xfrm>
            <a:off x="8324469" y="328257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等腰三角形 55"/>
          <p:cNvSpPr/>
          <p:nvPr/>
        </p:nvSpPr>
        <p:spPr>
          <a:xfrm>
            <a:off x="9712901" y="328107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等腰三角形 56"/>
          <p:cNvSpPr/>
          <p:nvPr/>
        </p:nvSpPr>
        <p:spPr>
          <a:xfrm>
            <a:off x="8322853" y="419586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等腰三角形 57"/>
          <p:cNvSpPr/>
          <p:nvPr/>
        </p:nvSpPr>
        <p:spPr>
          <a:xfrm>
            <a:off x="9728117" y="419586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等腰三角形 58"/>
          <p:cNvSpPr/>
          <p:nvPr/>
        </p:nvSpPr>
        <p:spPr>
          <a:xfrm>
            <a:off x="4059017" y="376304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等腰三角形 59"/>
          <p:cNvSpPr/>
          <p:nvPr/>
        </p:nvSpPr>
        <p:spPr>
          <a:xfrm>
            <a:off x="8080650" y="376304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/>
        </p:nvSpPr>
        <p:spPr>
          <a:xfrm>
            <a:off x="8299448" y="301645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Fa0/1</a:t>
            </a:r>
            <a:endParaRPr lang="zh-CN" altLang="en-US" b="1" dirty="0"/>
          </a:p>
        </p:txBody>
      </p:sp>
      <p:sp>
        <p:nvSpPr>
          <p:cNvPr id="48" name="文本框 47"/>
          <p:cNvSpPr txBox="1"/>
          <p:nvPr/>
        </p:nvSpPr>
        <p:spPr>
          <a:xfrm>
            <a:off x="9050192" y="301645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Fa0/2</a:t>
            </a:r>
            <a:endParaRPr lang="zh-CN" altLang="en-US" b="1" dirty="0"/>
          </a:p>
        </p:txBody>
      </p:sp>
      <p:sp>
        <p:nvSpPr>
          <p:cNvPr id="49" name="文本框 48"/>
          <p:cNvSpPr txBox="1"/>
          <p:nvPr/>
        </p:nvSpPr>
        <p:spPr>
          <a:xfrm>
            <a:off x="8299448" y="4172213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Fa0/3</a:t>
            </a:r>
            <a:endParaRPr lang="zh-CN" altLang="en-US" b="1" dirty="0"/>
          </a:p>
        </p:txBody>
      </p:sp>
      <p:sp>
        <p:nvSpPr>
          <p:cNvPr id="50" name="文本框 49"/>
          <p:cNvSpPr txBox="1"/>
          <p:nvPr/>
        </p:nvSpPr>
        <p:spPr>
          <a:xfrm>
            <a:off x="9035504" y="4172213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Fa0/4</a:t>
            </a:r>
            <a:endParaRPr lang="zh-CN" altLang="en-US" b="1" dirty="0"/>
          </a:p>
        </p:txBody>
      </p:sp>
      <p:sp>
        <p:nvSpPr>
          <p:cNvPr id="61" name="文本框 60"/>
          <p:cNvSpPr txBox="1"/>
          <p:nvPr/>
        </p:nvSpPr>
        <p:spPr>
          <a:xfrm>
            <a:off x="2399803" y="301645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Fa0/1</a:t>
            </a:r>
            <a:endParaRPr lang="zh-CN" altLang="en-US" b="1" dirty="0"/>
          </a:p>
        </p:txBody>
      </p:sp>
      <p:sp>
        <p:nvSpPr>
          <p:cNvPr id="62" name="文本框 61"/>
          <p:cNvSpPr txBox="1"/>
          <p:nvPr/>
        </p:nvSpPr>
        <p:spPr>
          <a:xfrm>
            <a:off x="3150547" y="301645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Fa0/2</a:t>
            </a:r>
            <a:endParaRPr lang="zh-CN" altLang="en-US" b="1" dirty="0"/>
          </a:p>
        </p:txBody>
      </p:sp>
      <p:sp>
        <p:nvSpPr>
          <p:cNvPr id="67" name="文本框 66"/>
          <p:cNvSpPr txBox="1"/>
          <p:nvPr/>
        </p:nvSpPr>
        <p:spPr>
          <a:xfrm>
            <a:off x="2399803" y="4172213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Fa0/3</a:t>
            </a:r>
            <a:endParaRPr lang="zh-CN" altLang="en-US" b="1" dirty="0"/>
          </a:p>
        </p:txBody>
      </p:sp>
      <p:sp>
        <p:nvSpPr>
          <p:cNvPr id="72" name="文本框 71"/>
          <p:cNvSpPr txBox="1"/>
          <p:nvPr/>
        </p:nvSpPr>
        <p:spPr>
          <a:xfrm>
            <a:off x="3135859" y="4172213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Fa0/4</a:t>
            </a:r>
            <a:endParaRPr lang="zh-CN" altLang="en-US" b="1" dirty="0"/>
          </a:p>
        </p:txBody>
      </p:sp>
      <p:sp>
        <p:nvSpPr>
          <p:cNvPr id="74" name="文本框 73"/>
          <p:cNvSpPr txBox="1"/>
          <p:nvPr/>
        </p:nvSpPr>
        <p:spPr>
          <a:xfrm>
            <a:off x="3429825" y="351339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Fa0/5</a:t>
            </a:r>
            <a:endParaRPr lang="zh-CN" altLang="en-US" b="1" dirty="0"/>
          </a:p>
        </p:txBody>
      </p:sp>
      <p:sp>
        <p:nvSpPr>
          <p:cNvPr id="75" name="文本框 74"/>
          <p:cNvSpPr txBox="1"/>
          <p:nvPr/>
        </p:nvSpPr>
        <p:spPr>
          <a:xfrm>
            <a:off x="8001195" y="351339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Fa0/5</a:t>
            </a:r>
            <a:endParaRPr lang="zh-CN" altLang="en-US" b="1" dirty="0"/>
          </a:p>
        </p:txBody>
      </p:sp>
      <p:sp>
        <p:nvSpPr>
          <p:cNvPr id="37" name="文本框 36"/>
          <p:cNvSpPr txBox="1"/>
          <p:nvPr/>
        </p:nvSpPr>
        <p:spPr>
          <a:xfrm>
            <a:off x="3174526" y="2786292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41" name="文本框 40"/>
          <p:cNvSpPr txBox="1"/>
          <p:nvPr/>
        </p:nvSpPr>
        <p:spPr>
          <a:xfrm>
            <a:off x="2287891" y="2786292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42" name="文本框 41"/>
          <p:cNvSpPr txBox="1"/>
          <p:nvPr/>
        </p:nvSpPr>
        <p:spPr>
          <a:xfrm>
            <a:off x="3174526" y="4405144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45" name="文本框 44"/>
          <p:cNvSpPr txBox="1"/>
          <p:nvPr/>
        </p:nvSpPr>
        <p:spPr>
          <a:xfrm>
            <a:off x="2287891" y="4405144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77" name="文本框 76"/>
          <p:cNvSpPr txBox="1"/>
          <p:nvPr/>
        </p:nvSpPr>
        <p:spPr>
          <a:xfrm>
            <a:off x="9074171" y="2786292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78" name="文本框 77"/>
          <p:cNvSpPr txBox="1"/>
          <p:nvPr/>
        </p:nvSpPr>
        <p:spPr>
          <a:xfrm>
            <a:off x="8187536" y="2786292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79" name="文本框 78"/>
          <p:cNvSpPr txBox="1"/>
          <p:nvPr/>
        </p:nvSpPr>
        <p:spPr>
          <a:xfrm>
            <a:off x="9074171" y="4405144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80" name="文本框 79"/>
          <p:cNvSpPr txBox="1"/>
          <p:nvPr/>
        </p:nvSpPr>
        <p:spPr>
          <a:xfrm>
            <a:off x="8187536" y="4405144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81" name="文本框 80"/>
          <p:cNvSpPr txBox="1"/>
          <p:nvPr/>
        </p:nvSpPr>
        <p:spPr>
          <a:xfrm>
            <a:off x="4101736" y="3513397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Trunk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7362101" y="3513397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Trunk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146682" y="2550840"/>
            <a:ext cx="96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VLAN10</a:t>
            </a:r>
            <a:endParaRPr lang="zh-CN" altLang="en-US" b="1" dirty="0"/>
          </a:p>
        </p:txBody>
      </p:sp>
      <p:sp>
        <p:nvSpPr>
          <p:cNvPr id="30" name="文本框 29"/>
          <p:cNvSpPr txBox="1"/>
          <p:nvPr/>
        </p:nvSpPr>
        <p:spPr>
          <a:xfrm>
            <a:off x="2260047" y="2550840"/>
            <a:ext cx="96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VLAN10</a:t>
            </a:r>
            <a:endParaRPr lang="zh-CN" altLang="en-US" b="1" dirty="0"/>
          </a:p>
        </p:txBody>
      </p:sp>
      <p:sp>
        <p:nvSpPr>
          <p:cNvPr id="31" name="文本框 30"/>
          <p:cNvSpPr txBox="1"/>
          <p:nvPr/>
        </p:nvSpPr>
        <p:spPr>
          <a:xfrm>
            <a:off x="9033357" y="2550840"/>
            <a:ext cx="1018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VLAN10</a:t>
            </a:r>
            <a:endParaRPr lang="zh-CN" altLang="en-US" b="1" dirty="0"/>
          </a:p>
        </p:txBody>
      </p:sp>
      <p:sp>
        <p:nvSpPr>
          <p:cNvPr id="35" name="文本框 34"/>
          <p:cNvSpPr txBox="1"/>
          <p:nvPr/>
        </p:nvSpPr>
        <p:spPr>
          <a:xfrm>
            <a:off x="8146722" y="2550840"/>
            <a:ext cx="1018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VLAN10</a:t>
            </a:r>
            <a:endParaRPr lang="zh-CN" altLang="en-US" b="1" dirty="0"/>
          </a:p>
        </p:txBody>
      </p:sp>
      <p:sp>
        <p:nvSpPr>
          <p:cNvPr id="83" name="文本框 82"/>
          <p:cNvSpPr txBox="1"/>
          <p:nvPr/>
        </p:nvSpPr>
        <p:spPr>
          <a:xfrm>
            <a:off x="3155071" y="4633996"/>
            <a:ext cx="944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VLAN20</a:t>
            </a:r>
            <a:endParaRPr lang="zh-CN" altLang="en-US" b="1" dirty="0"/>
          </a:p>
        </p:txBody>
      </p:sp>
      <p:sp>
        <p:nvSpPr>
          <p:cNvPr id="84" name="文本框 83"/>
          <p:cNvSpPr txBox="1"/>
          <p:nvPr/>
        </p:nvSpPr>
        <p:spPr>
          <a:xfrm>
            <a:off x="2268436" y="4633996"/>
            <a:ext cx="944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VLAN20</a:t>
            </a:r>
            <a:endParaRPr lang="zh-CN" altLang="en-US" b="1" dirty="0"/>
          </a:p>
        </p:txBody>
      </p:sp>
      <p:sp>
        <p:nvSpPr>
          <p:cNvPr id="85" name="文本框 84"/>
          <p:cNvSpPr txBox="1"/>
          <p:nvPr/>
        </p:nvSpPr>
        <p:spPr>
          <a:xfrm>
            <a:off x="9054716" y="4633996"/>
            <a:ext cx="944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VLAN20</a:t>
            </a:r>
            <a:endParaRPr lang="zh-CN" altLang="en-US" b="1" dirty="0"/>
          </a:p>
        </p:txBody>
      </p:sp>
      <p:sp>
        <p:nvSpPr>
          <p:cNvPr id="86" name="文本框 85"/>
          <p:cNvSpPr txBox="1"/>
          <p:nvPr/>
        </p:nvSpPr>
        <p:spPr>
          <a:xfrm>
            <a:off x="8168081" y="4633996"/>
            <a:ext cx="944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VLAN20</a:t>
            </a:r>
            <a:endParaRPr lang="zh-CN" altLang="en-US" b="1" dirty="0"/>
          </a:p>
        </p:txBody>
      </p:sp>
      <p:sp>
        <p:nvSpPr>
          <p:cNvPr id="87" name="文本框 86"/>
          <p:cNvSpPr txBox="1"/>
          <p:nvPr/>
        </p:nvSpPr>
        <p:spPr>
          <a:xfrm>
            <a:off x="4871764" y="3512803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VLAN1</a:t>
            </a:r>
            <a:endParaRPr lang="zh-CN" altLang="en-US" b="1" dirty="0"/>
          </a:p>
        </p:txBody>
      </p:sp>
      <p:sp>
        <p:nvSpPr>
          <p:cNvPr id="88" name="文本框 87"/>
          <p:cNvSpPr txBox="1"/>
          <p:nvPr/>
        </p:nvSpPr>
        <p:spPr>
          <a:xfrm>
            <a:off x="6573894" y="3518652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VLAN1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/>
      <p:bldP spid="8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286659" y="685800"/>
            <a:ext cx="3630232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10.  </a:t>
            </a:r>
            <a:r>
              <a:rPr lang="zh-CN" altLang="en-US" sz="2400" b="1" dirty="0"/>
              <a:t>在交换机上划分</a:t>
            </a:r>
            <a:r>
              <a:rPr lang="en-US" altLang="zh-CN" sz="2400" b="1" dirty="0"/>
              <a:t>VLAN</a:t>
            </a:r>
            <a:endParaRPr lang="en-US" altLang="zh-CN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126" name="20 1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4153"/>
            <a:ext cx="12192000" cy="6619875"/>
          </a:xfrm>
          <a:prstGeom prst="rect">
            <a:avLst/>
          </a:prstGeom>
        </p:spPr>
      </p:pic>
      <p:sp>
        <p:nvSpPr>
          <p:cNvPr id="127" name="文本框 126"/>
          <p:cNvSpPr txBox="1"/>
          <p:nvPr/>
        </p:nvSpPr>
        <p:spPr>
          <a:xfrm>
            <a:off x="4883286" y="497350"/>
            <a:ext cx="41634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//  </a:t>
            </a:r>
            <a:r>
              <a:rPr lang="zh-CN" altLang="en-US" sz="1600" b="1" dirty="0">
                <a:solidFill>
                  <a:srgbClr val="FF0000"/>
                </a:solidFill>
              </a:rPr>
              <a:t>从用户执行模式进入特权执行模式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128" name="文本框 127"/>
          <p:cNvSpPr txBox="1"/>
          <p:nvPr/>
        </p:nvSpPr>
        <p:spPr>
          <a:xfrm>
            <a:off x="4883286" y="767046"/>
            <a:ext cx="41634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//  </a:t>
            </a:r>
            <a:r>
              <a:rPr lang="zh-CN" altLang="en-US" sz="1600" b="1" dirty="0">
                <a:solidFill>
                  <a:srgbClr val="FF0000"/>
                </a:solidFill>
              </a:rPr>
              <a:t>从特权执行模式进入全局配置模式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129" name="文本框 128"/>
          <p:cNvSpPr txBox="1"/>
          <p:nvPr/>
        </p:nvSpPr>
        <p:spPr>
          <a:xfrm>
            <a:off x="4883286" y="1056305"/>
            <a:ext cx="61867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//  </a:t>
            </a:r>
            <a:r>
              <a:rPr lang="zh-CN" altLang="en-US" sz="1600" b="1" dirty="0">
                <a:solidFill>
                  <a:srgbClr val="FF0000"/>
                </a:solidFill>
              </a:rPr>
              <a:t>从全局配置模式进入批量接口（</a:t>
            </a:r>
            <a:r>
              <a:rPr lang="en-US" altLang="zh-CN" sz="1600" b="1" dirty="0">
                <a:solidFill>
                  <a:srgbClr val="FF0000"/>
                </a:solidFill>
              </a:rPr>
              <a:t>FastEthernet0/1</a:t>
            </a:r>
            <a:r>
              <a:rPr lang="zh-CN" altLang="en-US" sz="1600" b="1" dirty="0">
                <a:solidFill>
                  <a:srgbClr val="FF0000"/>
                </a:solidFill>
              </a:rPr>
              <a:t>和</a:t>
            </a:r>
            <a:r>
              <a:rPr lang="en-US" altLang="zh-CN" sz="1600" b="1" dirty="0">
                <a:solidFill>
                  <a:srgbClr val="FF0000"/>
                </a:solidFill>
              </a:rPr>
              <a:t>0/2</a:t>
            </a:r>
            <a:r>
              <a:rPr lang="zh-CN" altLang="en-US" sz="1600" b="1" dirty="0">
                <a:solidFill>
                  <a:srgbClr val="FF0000"/>
                </a:solidFill>
              </a:rPr>
              <a:t>）的配置模式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130" name="文本框 129"/>
          <p:cNvSpPr txBox="1"/>
          <p:nvPr/>
        </p:nvSpPr>
        <p:spPr>
          <a:xfrm>
            <a:off x="4883286" y="1326001"/>
            <a:ext cx="28080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//  </a:t>
            </a:r>
            <a:r>
              <a:rPr lang="zh-CN" altLang="en-US" sz="1600" b="1" dirty="0">
                <a:solidFill>
                  <a:srgbClr val="FF0000"/>
                </a:solidFill>
              </a:rPr>
              <a:t>设置接口类型为</a:t>
            </a:r>
            <a:r>
              <a:rPr lang="en-US" altLang="zh-CN" sz="1600" b="1" dirty="0">
                <a:solidFill>
                  <a:srgbClr val="FF0000"/>
                </a:solidFill>
              </a:rPr>
              <a:t>Access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131" name="文本框 130"/>
          <p:cNvSpPr txBox="1"/>
          <p:nvPr/>
        </p:nvSpPr>
        <p:spPr>
          <a:xfrm>
            <a:off x="4883286" y="1608775"/>
            <a:ext cx="33917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//  </a:t>
            </a:r>
            <a:r>
              <a:rPr lang="zh-CN" altLang="en-US" sz="1600" b="1" dirty="0">
                <a:solidFill>
                  <a:srgbClr val="FF0000"/>
                </a:solidFill>
              </a:rPr>
              <a:t>将接口划归到</a:t>
            </a:r>
            <a:r>
              <a:rPr lang="en-US" altLang="zh-CN" sz="1600" b="1" dirty="0">
                <a:solidFill>
                  <a:srgbClr val="FF0000"/>
                </a:solidFill>
              </a:rPr>
              <a:t>VLAN</a:t>
            </a:r>
            <a:r>
              <a:rPr lang="zh-CN" altLang="en-US" sz="1600" b="1" dirty="0">
                <a:solidFill>
                  <a:srgbClr val="FF0000"/>
                </a:solidFill>
              </a:rPr>
              <a:t>号为</a:t>
            </a:r>
            <a:r>
              <a:rPr lang="en-US" altLang="zh-CN" sz="1600" b="1" dirty="0">
                <a:solidFill>
                  <a:srgbClr val="FF0000"/>
                </a:solidFill>
              </a:rPr>
              <a:t>10</a:t>
            </a:r>
            <a:r>
              <a:rPr lang="zh-CN" altLang="en-US" sz="1600" b="1" dirty="0">
                <a:solidFill>
                  <a:srgbClr val="FF0000"/>
                </a:solidFill>
              </a:rPr>
              <a:t>的</a:t>
            </a:r>
            <a:r>
              <a:rPr lang="en-US" altLang="zh-CN" sz="1600" b="1" dirty="0">
                <a:solidFill>
                  <a:srgbClr val="FF0000"/>
                </a:solidFill>
              </a:rPr>
              <a:t>VLAN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132" name="文本框 131"/>
          <p:cNvSpPr txBox="1"/>
          <p:nvPr/>
        </p:nvSpPr>
        <p:spPr>
          <a:xfrm>
            <a:off x="4883286" y="1934359"/>
            <a:ext cx="57004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//  </a:t>
            </a:r>
            <a:r>
              <a:rPr lang="zh-CN" altLang="en-US" sz="1600" b="1" dirty="0">
                <a:solidFill>
                  <a:srgbClr val="FF0000"/>
                </a:solidFill>
              </a:rPr>
              <a:t>进入批量接口（</a:t>
            </a:r>
            <a:r>
              <a:rPr lang="en-US" altLang="zh-CN" sz="1600" b="1" dirty="0">
                <a:solidFill>
                  <a:srgbClr val="FF0000"/>
                </a:solidFill>
              </a:rPr>
              <a:t>FastEthernet0/3</a:t>
            </a:r>
            <a:r>
              <a:rPr lang="zh-CN" altLang="en-US" sz="1600" b="1" dirty="0">
                <a:solidFill>
                  <a:srgbClr val="FF0000"/>
                </a:solidFill>
              </a:rPr>
              <a:t>和</a:t>
            </a:r>
            <a:r>
              <a:rPr lang="en-US" altLang="zh-CN" sz="1600" b="1" dirty="0">
                <a:solidFill>
                  <a:srgbClr val="FF0000"/>
                </a:solidFill>
              </a:rPr>
              <a:t>0/4</a:t>
            </a:r>
            <a:r>
              <a:rPr lang="zh-CN" altLang="en-US" sz="1600" b="1" dirty="0">
                <a:solidFill>
                  <a:srgbClr val="FF0000"/>
                </a:solidFill>
              </a:rPr>
              <a:t>）的配置模式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133" name="文本框 132"/>
          <p:cNvSpPr txBox="1"/>
          <p:nvPr/>
        </p:nvSpPr>
        <p:spPr>
          <a:xfrm>
            <a:off x="4883286" y="2178115"/>
            <a:ext cx="24254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//  </a:t>
            </a:r>
            <a:r>
              <a:rPr lang="zh-CN" altLang="en-US" sz="1600" b="1" dirty="0">
                <a:solidFill>
                  <a:srgbClr val="FF0000"/>
                </a:solidFill>
              </a:rPr>
              <a:t>设置接口类型为</a:t>
            </a:r>
            <a:r>
              <a:rPr lang="en-US" altLang="zh-CN" sz="1600" b="1" dirty="0">
                <a:solidFill>
                  <a:srgbClr val="FF0000"/>
                </a:solidFill>
              </a:rPr>
              <a:t>Access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134" name="文本框 133"/>
          <p:cNvSpPr txBox="1"/>
          <p:nvPr/>
        </p:nvSpPr>
        <p:spPr>
          <a:xfrm>
            <a:off x="4883286" y="2480344"/>
            <a:ext cx="35473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//  </a:t>
            </a:r>
            <a:r>
              <a:rPr lang="zh-CN" altLang="en-US" sz="1600" b="1" dirty="0">
                <a:solidFill>
                  <a:srgbClr val="FF0000"/>
                </a:solidFill>
              </a:rPr>
              <a:t>将接口划归到</a:t>
            </a:r>
            <a:r>
              <a:rPr lang="en-US" altLang="zh-CN" sz="1600" b="1" dirty="0">
                <a:solidFill>
                  <a:srgbClr val="FF0000"/>
                </a:solidFill>
              </a:rPr>
              <a:t>VLAN</a:t>
            </a:r>
            <a:r>
              <a:rPr lang="zh-CN" altLang="en-US" sz="1600" b="1" dirty="0">
                <a:solidFill>
                  <a:srgbClr val="FF0000"/>
                </a:solidFill>
              </a:rPr>
              <a:t>号为</a:t>
            </a:r>
            <a:r>
              <a:rPr lang="en-US" altLang="zh-CN" sz="1600" b="1" dirty="0">
                <a:solidFill>
                  <a:srgbClr val="FF0000"/>
                </a:solidFill>
              </a:rPr>
              <a:t>20</a:t>
            </a:r>
            <a:r>
              <a:rPr lang="zh-CN" altLang="en-US" sz="1600" b="1" dirty="0">
                <a:solidFill>
                  <a:srgbClr val="FF0000"/>
                </a:solidFill>
              </a:rPr>
              <a:t>的</a:t>
            </a:r>
            <a:r>
              <a:rPr lang="en-US" altLang="zh-CN" sz="1600" b="1" dirty="0">
                <a:solidFill>
                  <a:srgbClr val="FF0000"/>
                </a:solidFill>
              </a:rPr>
              <a:t>VLAN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136" name="文本框 135"/>
          <p:cNvSpPr txBox="1"/>
          <p:nvPr/>
        </p:nvSpPr>
        <p:spPr>
          <a:xfrm>
            <a:off x="4883286" y="2778738"/>
            <a:ext cx="45266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//  </a:t>
            </a:r>
            <a:r>
              <a:rPr lang="zh-CN" altLang="en-US" sz="1600" b="1" dirty="0">
                <a:solidFill>
                  <a:srgbClr val="FF0000"/>
                </a:solidFill>
              </a:rPr>
              <a:t>进入接口</a:t>
            </a:r>
            <a:r>
              <a:rPr lang="en-US" altLang="zh-CN" sz="1600" b="1" dirty="0">
                <a:solidFill>
                  <a:srgbClr val="FF0000"/>
                </a:solidFill>
              </a:rPr>
              <a:t>FastEthernet0/5</a:t>
            </a:r>
            <a:r>
              <a:rPr lang="zh-CN" altLang="en-US" sz="1600" b="1" dirty="0">
                <a:solidFill>
                  <a:srgbClr val="FF0000"/>
                </a:solidFill>
              </a:rPr>
              <a:t>的配置模式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137" name="文本框 136"/>
          <p:cNvSpPr txBox="1"/>
          <p:nvPr/>
        </p:nvSpPr>
        <p:spPr>
          <a:xfrm>
            <a:off x="4883286" y="3052125"/>
            <a:ext cx="24254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//  </a:t>
            </a:r>
            <a:r>
              <a:rPr lang="zh-CN" altLang="en-US" sz="1600" b="1" dirty="0">
                <a:solidFill>
                  <a:srgbClr val="FF0000"/>
                </a:solidFill>
              </a:rPr>
              <a:t>设置接口类型为</a:t>
            </a:r>
            <a:r>
              <a:rPr lang="en-US" altLang="zh-CN" sz="1600" b="1" dirty="0">
                <a:solidFill>
                  <a:srgbClr val="FF0000"/>
                </a:solidFill>
              </a:rPr>
              <a:t>Trunk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138" name="文本框 137"/>
          <p:cNvSpPr txBox="1"/>
          <p:nvPr/>
        </p:nvSpPr>
        <p:spPr>
          <a:xfrm>
            <a:off x="4883286" y="3328731"/>
            <a:ext cx="24254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//  </a:t>
            </a:r>
            <a:r>
              <a:rPr lang="zh-CN" altLang="en-US" sz="1600" b="1" dirty="0">
                <a:solidFill>
                  <a:srgbClr val="FF0000"/>
                </a:solidFill>
              </a:rPr>
              <a:t>退出到特权执行模式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139" name="文本框 138"/>
          <p:cNvSpPr txBox="1"/>
          <p:nvPr/>
        </p:nvSpPr>
        <p:spPr>
          <a:xfrm>
            <a:off x="4883286" y="3894877"/>
            <a:ext cx="24254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//  </a:t>
            </a:r>
            <a:r>
              <a:rPr lang="zh-CN" altLang="en-US" sz="1600" b="1" dirty="0">
                <a:solidFill>
                  <a:srgbClr val="FF0000"/>
                </a:solidFill>
              </a:rPr>
              <a:t>显示</a:t>
            </a:r>
            <a:r>
              <a:rPr lang="en-US" altLang="zh-CN" sz="1600" b="1" dirty="0">
                <a:solidFill>
                  <a:srgbClr val="FF0000"/>
                </a:solidFill>
              </a:rPr>
              <a:t>VLAN</a:t>
            </a:r>
            <a:r>
              <a:rPr lang="zh-CN" altLang="en-US" sz="1600" b="1" dirty="0">
                <a:solidFill>
                  <a:srgbClr val="FF0000"/>
                </a:solidFill>
              </a:rPr>
              <a:t>摘要信息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140" name="文本框 139"/>
          <p:cNvSpPr txBox="1"/>
          <p:nvPr/>
        </p:nvSpPr>
        <p:spPr>
          <a:xfrm>
            <a:off x="4883286" y="5310841"/>
            <a:ext cx="24254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//  </a:t>
            </a:r>
            <a:r>
              <a:rPr lang="zh-CN" altLang="en-US" sz="1600" b="1" dirty="0">
                <a:solidFill>
                  <a:srgbClr val="FF0000"/>
                </a:solidFill>
              </a:rPr>
              <a:t>属于</a:t>
            </a:r>
            <a:r>
              <a:rPr lang="en-US" altLang="zh-CN" sz="1600" b="1" dirty="0">
                <a:solidFill>
                  <a:srgbClr val="FF0000"/>
                </a:solidFill>
              </a:rPr>
              <a:t>VLAN10</a:t>
            </a:r>
            <a:r>
              <a:rPr lang="zh-CN" altLang="en-US" sz="1600" b="1" dirty="0">
                <a:solidFill>
                  <a:srgbClr val="FF0000"/>
                </a:solidFill>
              </a:rPr>
              <a:t>的接口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141" name="文本框 140"/>
          <p:cNvSpPr txBox="1"/>
          <p:nvPr/>
        </p:nvSpPr>
        <p:spPr>
          <a:xfrm>
            <a:off x="4883286" y="5531999"/>
            <a:ext cx="24254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//  </a:t>
            </a:r>
            <a:r>
              <a:rPr lang="zh-CN" altLang="en-US" sz="1600" b="1" dirty="0">
                <a:solidFill>
                  <a:srgbClr val="FF0000"/>
                </a:solidFill>
              </a:rPr>
              <a:t>属于</a:t>
            </a:r>
            <a:r>
              <a:rPr lang="en-US" altLang="zh-CN" sz="1600" b="1" dirty="0">
                <a:solidFill>
                  <a:srgbClr val="FF0000"/>
                </a:solidFill>
              </a:rPr>
              <a:t>VLAN20</a:t>
            </a:r>
            <a:r>
              <a:rPr lang="zh-CN" altLang="en-US" sz="1600" b="1" dirty="0">
                <a:solidFill>
                  <a:srgbClr val="FF0000"/>
                </a:solidFill>
              </a:rPr>
              <a:t>的接口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142" name="矩形 141"/>
          <p:cNvSpPr/>
          <p:nvPr/>
        </p:nvSpPr>
        <p:spPr>
          <a:xfrm>
            <a:off x="7976681" y="3707237"/>
            <a:ext cx="3698033" cy="16036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sz="2400" b="1" dirty="0"/>
              <a:t>         在交换机</a:t>
            </a:r>
            <a:r>
              <a:rPr lang="en-US" altLang="zh-CN" sz="2400" b="1" dirty="0"/>
              <a:t>Switch1</a:t>
            </a:r>
            <a:r>
              <a:rPr lang="zh-CN" altLang="en-US" sz="2400" b="1" dirty="0"/>
              <a:t>上也进行相同的</a:t>
            </a:r>
            <a:r>
              <a:rPr lang="en-US" altLang="zh-CN" sz="2400" b="1" dirty="0"/>
              <a:t>VLAN</a:t>
            </a:r>
            <a:r>
              <a:rPr lang="zh-CN" altLang="en-US" sz="2400" b="1" dirty="0"/>
              <a:t>划分。</a:t>
            </a:r>
            <a:endParaRPr lang="zh-CN" alt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0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6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800" decel="100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800" decel="1000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800" decel="1000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800" decel="1000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" grpId="0"/>
      <p:bldP spid="128" grpId="0"/>
      <p:bldP spid="129" grpId="0"/>
      <p:bldP spid="130" grpId="0"/>
      <p:bldP spid="131" grpId="0"/>
      <p:bldP spid="132" grpId="0"/>
      <p:bldP spid="133" grpId="0"/>
      <p:bldP spid="134" grpId="0"/>
      <p:bldP spid="136" grpId="0"/>
      <p:bldP spid="137" grpId="0"/>
      <p:bldP spid="138" grpId="0"/>
      <p:bldP spid="139" grpId="0"/>
      <p:bldP spid="140" grpId="0"/>
      <p:bldP spid="141" grpId="0"/>
      <p:bldP spid="14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286659" y="685800"/>
            <a:ext cx="3630232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10.  </a:t>
            </a:r>
            <a:r>
              <a:rPr lang="zh-CN" altLang="en-US" sz="2400" b="1" dirty="0"/>
              <a:t>在交换机上划分</a:t>
            </a:r>
            <a:r>
              <a:rPr lang="en-US" altLang="zh-CN" sz="2400" b="1" dirty="0"/>
              <a:t>VLAN</a:t>
            </a:r>
            <a:endParaRPr lang="en-US" altLang="zh-CN" sz="2400" b="1" dirty="0"/>
          </a:p>
        </p:txBody>
      </p:sp>
      <p:sp>
        <p:nvSpPr>
          <p:cNvPr id="5" name="矩形 4"/>
          <p:cNvSpPr/>
          <p:nvPr/>
        </p:nvSpPr>
        <p:spPr>
          <a:xfrm>
            <a:off x="304800" y="1519950"/>
            <a:ext cx="11582400" cy="12816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sz="2400" b="1" dirty="0"/>
              <a:t>         在各交换机上划分</a:t>
            </a:r>
            <a:r>
              <a:rPr lang="en-US" altLang="zh-CN" sz="2400" b="1" dirty="0"/>
              <a:t>VLAN</a:t>
            </a:r>
            <a:r>
              <a:rPr lang="zh-CN" altLang="en-US" sz="2400" b="1" dirty="0"/>
              <a:t>后，各交换机需要经过一段时间才能正常工作。我们可以人为加速该过程。</a:t>
            </a:r>
            <a:endParaRPr lang="zh-CN" altLang="en-US" sz="2400" b="1" dirty="0"/>
          </a:p>
        </p:txBody>
      </p:sp>
      <p:pic>
        <p:nvPicPr>
          <p:cNvPr id="6" name="20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623" y="4011039"/>
            <a:ext cx="3309761" cy="1387325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994639" y="3314230"/>
            <a:ext cx="3195196" cy="640758"/>
            <a:chOff x="4889333" y="1367020"/>
            <a:chExt cx="3195196" cy="640758"/>
          </a:xfrm>
        </p:grpSpPr>
        <p:cxnSp>
          <p:nvCxnSpPr>
            <p:cNvPr id="8" name="直接箭头连接符 7"/>
            <p:cNvCxnSpPr>
              <a:stCxn id="9" idx="2"/>
            </p:cNvCxnSpPr>
            <p:nvPr/>
          </p:nvCxnSpPr>
          <p:spPr>
            <a:xfrm>
              <a:off x="6486931" y="1736352"/>
              <a:ext cx="0" cy="271426"/>
            </a:xfrm>
            <a:prstGeom prst="straightConnector1">
              <a:avLst/>
            </a:prstGeom>
            <a:ln w="25400">
              <a:solidFill>
                <a:schemeClr val="accent1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/>
            <p:cNvSpPr txBox="1"/>
            <p:nvPr/>
          </p:nvSpPr>
          <p:spPr>
            <a:xfrm>
              <a:off x="4889333" y="1367020"/>
              <a:ext cx="31951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</a:rPr>
                <a:t>❶  切换到“实时”工作模式</a:t>
              </a:r>
              <a:endParaRPr lang="zh-CN" altLang="en-US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pic>
        <p:nvPicPr>
          <p:cNvPr id="10" name="20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0073" y="3996266"/>
            <a:ext cx="2362405" cy="1493649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7801584" y="3314230"/>
            <a:ext cx="3474136" cy="640758"/>
            <a:chOff x="4610393" y="1367020"/>
            <a:chExt cx="3474136" cy="640758"/>
          </a:xfrm>
        </p:grpSpPr>
        <p:cxnSp>
          <p:nvCxnSpPr>
            <p:cNvPr id="12" name="直接箭头连接符 11"/>
            <p:cNvCxnSpPr/>
            <p:nvPr/>
          </p:nvCxnSpPr>
          <p:spPr>
            <a:xfrm>
              <a:off x="6448020" y="1736352"/>
              <a:ext cx="0" cy="271426"/>
            </a:xfrm>
            <a:prstGeom prst="straightConnector1">
              <a:avLst/>
            </a:prstGeom>
            <a:ln w="25400">
              <a:solidFill>
                <a:schemeClr val="accent1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本框 12"/>
            <p:cNvSpPr txBox="1"/>
            <p:nvPr/>
          </p:nvSpPr>
          <p:spPr>
            <a:xfrm>
              <a:off x="4610393" y="1367020"/>
              <a:ext cx="34741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</a:rPr>
                <a:t>❷  单击几次该按钮，快进时间</a:t>
              </a:r>
              <a:endParaRPr lang="zh-CN" altLang="en-US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026308" y="744535"/>
            <a:ext cx="10087872" cy="498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11. </a:t>
            </a:r>
            <a:r>
              <a:rPr lang="zh-CN" altLang="en-US" sz="2000" b="1" dirty="0"/>
              <a:t>验证同一</a:t>
            </a:r>
            <a:r>
              <a:rPr lang="en-US" altLang="zh-CN" sz="2000" b="1" dirty="0"/>
              <a:t>VLAN</a:t>
            </a:r>
            <a:r>
              <a:rPr lang="zh-CN" altLang="en-US" sz="2000" b="1" dirty="0"/>
              <a:t>中的计算机之间可以直接通信，不同</a:t>
            </a:r>
            <a:r>
              <a:rPr lang="en-US" altLang="zh-CN" sz="2000" b="1" dirty="0"/>
              <a:t>VLAN</a:t>
            </a:r>
            <a:r>
              <a:rPr lang="zh-CN" altLang="en-US" sz="2000" b="1" dirty="0"/>
              <a:t>中的计算机之间不能直接通信</a:t>
            </a:r>
            <a:endParaRPr lang="en-US" altLang="zh-CN" sz="2000" b="1" dirty="0"/>
          </a:p>
        </p:txBody>
      </p:sp>
      <p:grpSp>
        <p:nvGrpSpPr>
          <p:cNvPr id="105" name="组合 104"/>
          <p:cNvGrpSpPr/>
          <p:nvPr/>
        </p:nvGrpSpPr>
        <p:grpSpPr>
          <a:xfrm>
            <a:off x="304800" y="4098138"/>
            <a:ext cx="11596445" cy="1708301"/>
            <a:chOff x="304800" y="4098138"/>
            <a:chExt cx="11596445" cy="1708301"/>
          </a:xfrm>
        </p:grpSpPr>
        <p:sp>
          <p:nvSpPr>
            <p:cNvPr id="96" name="矩形 95"/>
            <p:cNvSpPr/>
            <p:nvPr/>
          </p:nvSpPr>
          <p:spPr>
            <a:xfrm>
              <a:off x="304800" y="4101084"/>
              <a:ext cx="11596445" cy="1705355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" name="文本框 103"/>
            <p:cNvSpPr txBox="1"/>
            <p:nvPr/>
          </p:nvSpPr>
          <p:spPr>
            <a:xfrm>
              <a:off x="5343668" y="4098138"/>
              <a:ext cx="150466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/>
                <a:t>VLAN20</a:t>
              </a:r>
              <a:endParaRPr lang="zh-CN" altLang="en-US" sz="2800" b="1" dirty="0"/>
            </a:p>
          </p:txBody>
        </p:sp>
      </p:grpSp>
      <p:grpSp>
        <p:nvGrpSpPr>
          <p:cNvPr id="106" name="组合 105"/>
          <p:cNvGrpSpPr/>
          <p:nvPr/>
        </p:nvGrpSpPr>
        <p:grpSpPr>
          <a:xfrm>
            <a:off x="304799" y="1744064"/>
            <a:ext cx="11596445" cy="1706612"/>
            <a:chOff x="304799" y="1744064"/>
            <a:chExt cx="11596445" cy="1706612"/>
          </a:xfrm>
        </p:grpSpPr>
        <p:sp>
          <p:nvSpPr>
            <p:cNvPr id="99" name="矩形 98"/>
            <p:cNvSpPr/>
            <p:nvPr/>
          </p:nvSpPr>
          <p:spPr>
            <a:xfrm>
              <a:off x="304799" y="1744064"/>
              <a:ext cx="11596445" cy="1705355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3" name="文本框 102"/>
            <p:cNvSpPr txBox="1"/>
            <p:nvPr/>
          </p:nvSpPr>
          <p:spPr>
            <a:xfrm>
              <a:off x="5343668" y="2927456"/>
              <a:ext cx="150466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/>
                <a:t>VLAN10</a:t>
              </a:r>
              <a:endParaRPr lang="zh-CN" altLang="en-US" sz="2800" b="1" dirty="0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985104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192.168.0.5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1012771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192.168.0.1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4" name="文本框 13"/>
          <p:cNvSpPr txBox="1"/>
          <p:nvPr/>
        </p:nvSpPr>
        <p:spPr>
          <a:xfrm>
            <a:off x="3670211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192.168.0.2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8" name="文本框 17"/>
          <p:cNvSpPr txBox="1"/>
          <p:nvPr/>
        </p:nvSpPr>
        <p:spPr>
          <a:xfrm>
            <a:off x="4014643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192.168.0.6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9" name="文本框 18"/>
          <p:cNvSpPr txBox="1"/>
          <p:nvPr/>
        </p:nvSpPr>
        <p:spPr>
          <a:xfrm>
            <a:off x="6884749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192.168.0.7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22" name="文本框 21"/>
          <p:cNvSpPr txBox="1"/>
          <p:nvPr/>
        </p:nvSpPr>
        <p:spPr>
          <a:xfrm>
            <a:off x="6912416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192.168.0.3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23" name="文本框 22"/>
          <p:cNvSpPr txBox="1"/>
          <p:nvPr/>
        </p:nvSpPr>
        <p:spPr>
          <a:xfrm>
            <a:off x="9569856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192.168.0.4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26" name="文本框 25"/>
          <p:cNvSpPr txBox="1"/>
          <p:nvPr/>
        </p:nvSpPr>
        <p:spPr>
          <a:xfrm>
            <a:off x="9914288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192.168.0.8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cxnSp>
        <p:nvCxnSpPr>
          <p:cNvPr id="8" name="直接连接符 7"/>
          <p:cNvCxnSpPr/>
          <p:nvPr/>
        </p:nvCxnSpPr>
        <p:spPr>
          <a:xfrm>
            <a:off x="713110" y="2162267"/>
            <a:ext cx="2341759" cy="15474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等腰三角形 9"/>
          <p:cNvSpPr/>
          <p:nvPr/>
        </p:nvSpPr>
        <p:spPr>
          <a:xfrm>
            <a:off x="1190792" y="246301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 flipV="1">
            <a:off x="713110" y="3902316"/>
            <a:ext cx="2283201" cy="15150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等腰三角形 16"/>
          <p:cNvSpPr/>
          <p:nvPr/>
        </p:nvSpPr>
        <p:spPr>
          <a:xfrm>
            <a:off x="1190792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连接符 19"/>
          <p:cNvCxnSpPr/>
          <p:nvPr/>
        </p:nvCxnSpPr>
        <p:spPr>
          <a:xfrm flipV="1">
            <a:off x="3370466" y="2108892"/>
            <a:ext cx="2109833" cy="160085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等腰三角形 20"/>
          <p:cNvSpPr/>
          <p:nvPr/>
        </p:nvSpPr>
        <p:spPr>
          <a:xfrm>
            <a:off x="4942426" y="24111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连接符 23"/>
          <p:cNvCxnSpPr/>
          <p:nvPr/>
        </p:nvCxnSpPr>
        <p:spPr>
          <a:xfrm>
            <a:off x="3300727" y="3859446"/>
            <a:ext cx="2292563" cy="161241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等腰三角形 24"/>
          <p:cNvSpPr/>
          <p:nvPr/>
        </p:nvSpPr>
        <p:spPr>
          <a:xfrm>
            <a:off x="4942426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" name="直接连接符 27"/>
          <p:cNvCxnSpPr/>
          <p:nvPr/>
        </p:nvCxnSpPr>
        <p:spPr>
          <a:xfrm>
            <a:off x="6612755" y="2162267"/>
            <a:ext cx="2341759" cy="15474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等腰三角形 28"/>
          <p:cNvSpPr/>
          <p:nvPr/>
        </p:nvSpPr>
        <p:spPr>
          <a:xfrm>
            <a:off x="7090437" y="246301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" name="直接连接符 31"/>
          <p:cNvCxnSpPr/>
          <p:nvPr/>
        </p:nvCxnSpPr>
        <p:spPr>
          <a:xfrm flipV="1">
            <a:off x="6612755" y="3902316"/>
            <a:ext cx="2283201" cy="15150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等腰三角形 32"/>
          <p:cNvSpPr/>
          <p:nvPr/>
        </p:nvSpPr>
        <p:spPr>
          <a:xfrm>
            <a:off x="7090437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8" name="直接连接符 37"/>
          <p:cNvCxnSpPr/>
          <p:nvPr/>
        </p:nvCxnSpPr>
        <p:spPr>
          <a:xfrm flipV="1">
            <a:off x="9270111" y="2108892"/>
            <a:ext cx="2109833" cy="160085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等腰三角形 39"/>
          <p:cNvSpPr/>
          <p:nvPr/>
        </p:nvSpPr>
        <p:spPr>
          <a:xfrm>
            <a:off x="10842071" y="24111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3" name="直接连接符 42"/>
          <p:cNvCxnSpPr/>
          <p:nvPr/>
        </p:nvCxnSpPr>
        <p:spPr>
          <a:xfrm>
            <a:off x="9200372" y="3859446"/>
            <a:ext cx="2292563" cy="161241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等腰三角形 43"/>
          <p:cNvSpPr/>
          <p:nvPr/>
        </p:nvSpPr>
        <p:spPr>
          <a:xfrm>
            <a:off x="10842071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" name="直接连接符 46"/>
          <p:cNvCxnSpPr/>
          <p:nvPr/>
        </p:nvCxnSpPr>
        <p:spPr>
          <a:xfrm>
            <a:off x="3497998" y="3826236"/>
            <a:ext cx="5333835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9" name="20 8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544" y="5242879"/>
            <a:ext cx="539132" cy="457973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04800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PC4</a:t>
            </a:r>
            <a:endParaRPr lang="zh-CN" altLang="en-US" b="1" dirty="0"/>
          </a:p>
        </p:txBody>
      </p:sp>
      <p:pic>
        <p:nvPicPr>
          <p:cNvPr id="12" name="20 11" descr="图标&#10;&#10;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1054" y="3667774"/>
            <a:ext cx="646944" cy="332541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799091" y="3630983"/>
            <a:ext cx="1965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2960-24TT  Switch0</a:t>
            </a:r>
            <a:endParaRPr lang="zh-CN" altLang="en-US" b="1" dirty="0"/>
          </a:p>
        </p:txBody>
      </p:sp>
      <p:pic>
        <p:nvPicPr>
          <p:cNvPr id="5" name="20 4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724" y="5242879"/>
            <a:ext cx="539132" cy="457973"/>
          </a:xfrm>
          <a:prstGeom prst="rect">
            <a:avLst/>
          </a:prstGeom>
        </p:spPr>
      </p:pic>
      <p:pic>
        <p:nvPicPr>
          <p:cNvPr id="6" name="20 5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544" y="1967237"/>
            <a:ext cx="539132" cy="457973"/>
          </a:xfrm>
          <a:prstGeom prst="rect">
            <a:avLst/>
          </a:prstGeom>
        </p:spPr>
      </p:pic>
      <p:pic>
        <p:nvPicPr>
          <p:cNvPr id="7" name="20 6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724" y="1967237"/>
            <a:ext cx="539132" cy="457973"/>
          </a:xfrm>
          <a:prstGeom prst="rect">
            <a:avLst/>
          </a:prstGeom>
        </p:spPr>
      </p:pic>
      <p:sp>
        <p:nvSpPr>
          <p:cNvPr id="34" name="文本框 33"/>
          <p:cNvSpPr txBox="1"/>
          <p:nvPr/>
        </p:nvSpPr>
        <p:spPr>
          <a:xfrm>
            <a:off x="304800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sp>
        <p:nvSpPr>
          <p:cNvPr id="36" name="文本框 35"/>
          <p:cNvSpPr txBox="1"/>
          <p:nvPr/>
        </p:nvSpPr>
        <p:spPr>
          <a:xfrm>
            <a:off x="5184980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PC1</a:t>
            </a:r>
            <a:endParaRPr lang="zh-CN" altLang="en-US" b="1" dirty="0"/>
          </a:p>
        </p:txBody>
      </p:sp>
      <p:sp>
        <p:nvSpPr>
          <p:cNvPr id="39" name="文本框 38"/>
          <p:cNvSpPr txBox="1"/>
          <p:nvPr/>
        </p:nvSpPr>
        <p:spPr>
          <a:xfrm>
            <a:off x="5136948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PC5</a:t>
            </a:r>
            <a:endParaRPr lang="zh-CN" altLang="en-US" b="1" dirty="0"/>
          </a:p>
        </p:txBody>
      </p:sp>
      <p:pic>
        <p:nvPicPr>
          <p:cNvPr id="63" name="20 62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189" y="5242879"/>
            <a:ext cx="539132" cy="457973"/>
          </a:xfrm>
          <a:prstGeom prst="rect">
            <a:avLst/>
          </a:prstGeom>
        </p:spPr>
      </p:pic>
      <p:sp>
        <p:nvSpPr>
          <p:cNvPr id="64" name="文本框 63"/>
          <p:cNvSpPr txBox="1"/>
          <p:nvPr/>
        </p:nvSpPr>
        <p:spPr>
          <a:xfrm>
            <a:off x="6204445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PC6</a:t>
            </a:r>
            <a:endParaRPr lang="zh-CN" altLang="en-US" b="1" dirty="0"/>
          </a:p>
        </p:txBody>
      </p:sp>
      <p:pic>
        <p:nvPicPr>
          <p:cNvPr id="65" name="20 64" descr="图标&#10;&#10;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699" y="3667774"/>
            <a:ext cx="646944" cy="332541"/>
          </a:xfrm>
          <a:prstGeom prst="rect">
            <a:avLst/>
          </a:prstGeom>
        </p:spPr>
      </p:pic>
      <p:sp>
        <p:nvSpPr>
          <p:cNvPr id="66" name="文本框 65"/>
          <p:cNvSpPr txBox="1"/>
          <p:nvPr/>
        </p:nvSpPr>
        <p:spPr>
          <a:xfrm>
            <a:off x="9390051" y="3630983"/>
            <a:ext cx="1965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2960-24TT  Switch1</a:t>
            </a:r>
            <a:endParaRPr lang="zh-CN" altLang="en-US" b="1" dirty="0"/>
          </a:p>
        </p:txBody>
      </p:sp>
      <p:pic>
        <p:nvPicPr>
          <p:cNvPr id="68" name="20 67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3369" y="5242879"/>
            <a:ext cx="539132" cy="457973"/>
          </a:xfrm>
          <a:prstGeom prst="rect">
            <a:avLst/>
          </a:prstGeom>
        </p:spPr>
      </p:pic>
      <p:pic>
        <p:nvPicPr>
          <p:cNvPr id="69" name="20 68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189" y="1967237"/>
            <a:ext cx="539132" cy="457973"/>
          </a:xfrm>
          <a:prstGeom prst="rect">
            <a:avLst/>
          </a:prstGeom>
        </p:spPr>
      </p:pic>
      <p:pic>
        <p:nvPicPr>
          <p:cNvPr id="70" name="20 69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3369" y="1967237"/>
            <a:ext cx="539132" cy="457973"/>
          </a:xfrm>
          <a:prstGeom prst="rect">
            <a:avLst/>
          </a:prstGeom>
        </p:spPr>
      </p:pic>
      <p:sp>
        <p:nvSpPr>
          <p:cNvPr id="71" name="文本框 70"/>
          <p:cNvSpPr txBox="1"/>
          <p:nvPr/>
        </p:nvSpPr>
        <p:spPr>
          <a:xfrm>
            <a:off x="6204445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PC2</a:t>
            </a:r>
            <a:endParaRPr lang="zh-CN" altLang="en-US" b="1" dirty="0"/>
          </a:p>
        </p:txBody>
      </p:sp>
      <p:sp>
        <p:nvSpPr>
          <p:cNvPr id="73" name="文本框 72"/>
          <p:cNvSpPr txBox="1"/>
          <p:nvPr/>
        </p:nvSpPr>
        <p:spPr>
          <a:xfrm>
            <a:off x="11084625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PC3</a:t>
            </a:r>
            <a:endParaRPr lang="zh-CN" altLang="en-US" b="1" dirty="0"/>
          </a:p>
        </p:txBody>
      </p:sp>
      <p:sp>
        <p:nvSpPr>
          <p:cNvPr id="76" name="文本框 75"/>
          <p:cNvSpPr txBox="1"/>
          <p:nvPr/>
        </p:nvSpPr>
        <p:spPr>
          <a:xfrm>
            <a:off x="11036593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PC7</a:t>
            </a:r>
            <a:endParaRPr lang="zh-CN" altLang="en-US" b="1" dirty="0"/>
          </a:p>
        </p:txBody>
      </p:sp>
      <p:sp>
        <p:nvSpPr>
          <p:cNvPr id="51" name="等腰三角形 50"/>
          <p:cNvSpPr/>
          <p:nvPr/>
        </p:nvSpPr>
        <p:spPr>
          <a:xfrm>
            <a:off x="2509381" y="3309403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等腰三角形 51"/>
          <p:cNvSpPr/>
          <p:nvPr/>
        </p:nvSpPr>
        <p:spPr>
          <a:xfrm>
            <a:off x="2509381" y="41193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等腰三角形 52"/>
          <p:cNvSpPr/>
          <p:nvPr/>
        </p:nvSpPr>
        <p:spPr>
          <a:xfrm>
            <a:off x="3776559" y="329433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等腰三角形 53"/>
          <p:cNvSpPr/>
          <p:nvPr/>
        </p:nvSpPr>
        <p:spPr>
          <a:xfrm>
            <a:off x="3776558" y="417750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等腰三角形 54"/>
          <p:cNvSpPr/>
          <p:nvPr/>
        </p:nvSpPr>
        <p:spPr>
          <a:xfrm>
            <a:off x="8324469" y="328257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等腰三角形 55"/>
          <p:cNvSpPr/>
          <p:nvPr/>
        </p:nvSpPr>
        <p:spPr>
          <a:xfrm>
            <a:off x="9712901" y="328107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等腰三角形 56"/>
          <p:cNvSpPr/>
          <p:nvPr/>
        </p:nvSpPr>
        <p:spPr>
          <a:xfrm>
            <a:off x="8322853" y="419586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等腰三角形 57"/>
          <p:cNvSpPr/>
          <p:nvPr/>
        </p:nvSpPr>
        <p:spPr>
          <a:xfrm>
            <a:off x="9728117" y="419586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等腰三角形 58"/>
          <p:cNvSpPr/>
          <p:nvPr/>
        </p:nvSpPr>
        <p:spPr>
          <a:xfrm>
            <a:off x="4059017" y="376304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等腰三角形 59"/>
          <p:cNvSpPr/>
          <p:nvPr/>
        </p:nvSpPr>
        <p:spPr>
          <a:xfrm>
            <a:off x="8080650" y="376304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/>
        </p:nvSpPr>
        <p:spPr>
          <a:xfrm>
            <a:off x="8299448" y="301645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Fa0/1</a:t>
            </a:r>
            <a:endParaRPr lang="zh-CN" altLang="en-US" b="1" dirty="0"/>
          </a:p>
        </p:txBody>
      </p:sp>
      <p:sp>
        <p:nvSpPr>
          <p:cNvPr id="48" name="文本框 47"/>
          <p:cNvSpPr txBox="1"/>
          <p:nvPr/>
        </p:nvSpPr>
        <p:spPr>
          <a:xfrm>
            <a:off x="9050192" y="301645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Fa0/2</a:t>
            </a:r>
            <a:endParaRPr lang="zh-CN" altLang="en-US" b="1" dirty="0"/>
          </a:p>
        </p:txBody>
      </p:sp>
      <p:sp>
        <p:nvSpPr>
          <p:cNvPr id="49" name="文本框 48"/>
          <p:cNvSpPr txBox="1"/>
          <p:nvPr/>
        </p:nvSpPr>
        <p:spPr>
          <a:xfrm>
            <a:off x="8299448" y="4172213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Fa0/3</a:t>
            </a:r>
            <a:endParaRPr lang="zh-CN" altLang="en-US" b="1" dirty="0"/>
          </a:p>
        </p:txBody>
      </p:sp>
      <p:sp>
        <p:nvSpPr>
          <p:cNvPr id="50" name="文本框 49"/>
          <p:cNvSpPr txBox="1"/>
          <p:nvPr/>
        </p:nvSpPr>
        <p:spPr>
          <a:xfrm>
            <a:off x="9035504" y="4172213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Fa0/4</a:t>
            </a:r>
            <a:endParaRPr lang="zh-CN" altLang="en-US" b="1" dirty="0"/>
          </a:p>
        </p:txBody>
      </p:sp>
      <p:sp>
        <p:nvSpPr>
          <p:cNvPr id="61" name="文本框 60"/>
          <p:cNvSpPr txBox="1"/>
          <p:nvPr/>
        </p:nvSpPr>
        <p:spPr>
          <a:xfrm>
            <a:off x="2399803" y="301645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Fa0/1</a:t>
            </a:r>
            <a:endParaRPr lang="zh-CN" altLang="en-US" b="1" dirty="0"/>
          </a:p>
        </p:txBody>
      </p:sp>
      <p:sp>
        <p:nvSpPr>
          <p:cNvPr id="62" name="文本框 61"/>
          <p:cNvSpPr txBox="1"/>
          <p:nvPr/>
        </p:nvSpPr>
        <p:spPr>
          <a:xfrm>
            <a:off x="3150547" y="301645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Fa0/2</a:t>
            </a:r>
            <a:endParaRPr lang="zh-CN" altLang="en-US" b="1" dirty="0"/>
          </a:p>
        </p:txBody>
      </p:sp>
      <p:sp>
        <p:nvSpPr>
          <p:cNvPr id="67" name="文本框 66"/>
          <p:cNvSpPr txBox="1"/>
          <p:nvPr/>
        </p:nvSpPr>
        <p:spPr>
          <a:xfrm>
            <a:off x="2399803" y="4172213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Fa0/3</a:t>
            </a:r>
            <a:endParaRPr lang="zh-CN" altLang="en-US" b="1" dirty="0"/>
          </a:p>
        </p:txBody>
      </p:sp>
      <p:sp>
        <p:nvSpPr>
          <p:cNvPr id="72" name="文本框 71"/>
          <p:cNvSpPr txBox="1"/>
          <p:nvPr/>
        </p:nvSpPr>
        <p:spPr>
          <a:xfrm>
            <a:off x="3135859" y="4172213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Fa0/4</a:t>
            </a:r>
            <a:endParaRPr lang="zh-CN" altLang="en-US" b="1" dirty="0"/>
          </a:p>
        </p:txBody>
      </p:sp>
      <p:sp>
        <p:nvSpPr>
          <p:cNvPr id="74" name="文本框 73"/>
          <p:cNvSpPr txBox="1"/>
          <p:nvPr/>
        </p:nvSpPr>
        <p:spPr>
          <a:xfrm>
            <a:off x="3429825" y="351339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Fa0/5</a:t>
            </a:r>
            <a:endParaRPr lang="zh-CN" altLang="en-US" b="1" dirty="0"/>
          </a:p>
        </p:txBody>
      </p:sp>
      <p:sp>
        <p:nvSpPr>
          <p:cNvPr id="75" name="文本框 74"/>
          <p:cNvSpPr txBox="1"/>
          <p:nvPr/>
        </p:nvSpPr>
        <p:spPr>
          <a:xfrm>
            <a:off x="8001195" y="351339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Fa0/5</a:t>
            </a:r>
            <a:endParaRPr lang="zh-CN" altLang="en-US" b="1" dirty="0"/>
          </a:p>
        </p:txBody>
      </p:sp>
      <p:sp>
        <p:nvSpPr>
          <p:cNvPr id="37" name="文本框 36"/>
          <p:cNvSpPr txBox="1"/>
          <p:nvPr/>
        </p:nvSpPr>
        <p:spPr>
          <a:xfrm>
            <a:off x="3174526" y="2786292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41" name="文本框 40"/>
          <p:cNvSpPr txBox="1"/>
          <p:nvPr/>
        </p:nvSpPr>
        <p:spPr>
          <a:xfrm>
            <a:off x="2287891" y="2786292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42" name="文本框 41"/>
          <p:cNvSpPr txBox="1"/>
          <p:nvPr/>
        </p:nvSpPr>
        <p:spPr>
          <a:xfrm>
            <a:off x="3174526" y="4405144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45" name="文本框 44"/>
          <p:cNvSpPr txBox="1"/>
          <p:nvPr/>
        </p:nvSpPr>
        <p:spPr>
          <a:xfrm>
            <a:off x="2287891" y="4405144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77" name="文本框 76"/>
          <p:cNvSpPr txBox="1"/>
          <p:nvPr/>
        </p:nvSpPr>
        <p:spPr>
          <a:xfrm>
            <a:off x="9074171" y="2786292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78" name="文本框 77"/>
          <p:cNvSpPr txBox="1"/>
          <p:nvPr/>
        </p:nvSpPr>
        <p:spPr>
          <a:xfrm>
            <a:off x="8187536" y="2786292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79" name="文本框 78"/>
          <p:cNvSpPr txBox="1"/>
          <p:nvPr/>
        </p:nvSpPr>
        <p:spPr>
          <a:xfrm>
            <a:off x="9074171" y="4405144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80" name="文本框 79"/>
          <p:cNvSpPr txBox="1"/>
          <p:nvPr/>
        </p:nvSpPr>
        <p:spPr>
          <a:xfrm>
            <a:off x="8187536" y="4405144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81" name="文本框 80"/>
          <p:cNvSpPr txBox="1"/>
          <p:nvPr/>
        </p:nvSpPr>
        <p:spPr>
          <a:xfrm>
            <a:off x="4101736" y="3513397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Trunk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7362101" y="3513397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Trunk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146682" y="2550840"/>
            <a:ext cx="96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VLAN10</a:t>
            </a:r>
            <a:endParaRPr lang="zh-CN" altLang="en-US" b="1" dirty="0"/>
          </a:p>
        </p:txBody>
      </p:sp>
      <p:sp>
        <p:nvSpPr>
          <p:cNvPr id="30" name="文本框 29"/>
          <p:cNvSpPr txBox="1"/>
          <p:nvPr/>
        </p:nvSpPr>
        <p:spPr>
          <a:xfrm>
            <a:off x="2260047" y="2550840"/>
            <a:ext cx="96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VLAN10</a:t>
            </a:r>
            <a:endParaRPr lang="zh-CN" altLang="en-US" b="1" dirty="0"/>
          </a:p>
        </p:txBody>
      </p:sp>
      <p:sp>
        <p:nvSpPr>
          <p:cNvPr id="31" name="文本框 30"/>
          <p:cNvSpPr txBox="1"/>
          <p:nvPr/>
        </p:nvSpPr>
        <p:spPr>
          <a:xfrm>
            <a:off x="9033357" y="2550840"/>
            <a:ext cx="1018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VLAN10</a:t>
            </a:r>
            <a:endParaRPr lang="zh-CN" altLang="en-US" b="1" dirty="0"/>
          </a:p>
        </p:txBody>
      </p:sp>
      <p:sp>
        <p:nvSpPr>
          <p:cNvPr id="35" name="文本框 34"/>
          <p:cNvSpPr txBox="1"/>
          <p:nvPr/>
        </p:nvSpPr>
        <p:spPr>
          <a:xfrm>
            <a:off x="8146722" y="2550840"/>
            <a:ext cx="1018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VLAN10</a:t>
            </a:r>
            <a:endParaRPr lang="zh-CN" altLang="en-US" b="1" dirty="0"/>
          </a:p>
        </p:txBody>
      </p:sp>
      <p:sp>
        <p:nvSpPr>
          <p:cNvPr id="83" name="文本框 82"/>
          <p:cNvSpPr txBox="1"/>
          <p:nvPr/>
        </p:nvSpPr>
        <p:spPr>
          <a:xfrm>
            <a:off x="3155071" y="4633996"/>
            <a:ext cx="944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VLAN20</a:t>
            </a:r>
            <a:endParaRPr lang="zh-CN" altLang="en-US" b="1" dirty="0"/>
          </a:p>
        </p:txBody>
      </p:sp>
      <p:sp>
        <p:nvSpPr>
          <p:cNvPr id="84" name="文本框 83"/>
          <p:cNvSpPr txBox="1"/>
          <p:nvPr/>
        </p:nvSpPr>
        <p:spPr>
          <a:xfrm>
            <a:off x="2268436" y="4633996"/>
            <a:ext cx="944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VLAN20</a:t>
            </a:r>
            <a:endParaRPr lang="zh-CN" altLang="en-US" b="1" dirty="0"/>
          </a:p>
        </p:txBody>
      </p:sp>
      <p:sp>
        <p:nvSpPr>
          <p:cNvPr id="85" name="文本框 84"/>
          <p:cNvSpPr txBox="1"/>
          <p:nvPr/>
        </p:nvSpPr>
        <p:spPr>
          <a:xfrm>
            <a:off x="9054716" y="4633996"/>
            <a:ext cx="944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VLAN20</a:t>
            </a:r>
            <a:endParaRPr lang="zh-CN" altLang="en-US" b="1" dirty="0"/>
          </a:p>
        </p:txBody>
      </p:sp>
      <p:sp>
        <p:nvSpPr>
          <p:cNvPr id="86" name="文本框 85"/>
          <p:cNvSpPr txBox="1"/>
          <p:nvPr/>
        </p:nvSpPr>
        <p:spPr>
          <a:xfrm>
            <a:off x="8168081" y="4633996"/>
            <a:ext cx="944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VLAN20</a:t>
            </a:r>
            <a:endParaRPr lang="zh-CN" altLang="en-US" b="1" dirty="0"/>
          </a:p>
        </p:txBody>
      </p:sp>
      <p:sp>
        <p:nvSpPr>
          <p:cNvPr id="87" name="文本框 86"/>
          <p:cNvSpPr txBox="1"/>
          <p:nvPr/>
        </p:nvSpPr>
        <p:spPr>
          <a:xfrm>
            <a:off x="4871764" y="3512803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VLAN1</a:t>
            </a:r>
            <a:endParaRPr lang="zh-CN" altLang="en-US" b="1" dirty="0"/>
          </a:p>
        </p:txBody>
      </p:sp>
      <p:sp>
        <p:nvSpPr>
          <p:cNvPr id="88" name="文本框 87"/>
          <p:cNvSpPr txBox="1"/>
          <p:nvPr/>
        </p:nvSpPr>
        <p:spPr>
          <a:xfrm>
            <a:off x="6573894" y="3518652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VLAN1</a:t>
            </a:r>
            <a:endParaRPr lang="zh-CN" altLang="en-US" b="1" dirty="0"/>
          </a:p>
        </p:txBody>
      </p:sp>
      <p:sp>
        <p:nvSpPr>
          <p:cNvPr id="90" name="文本框 89"/>
          <p:cNvSpPr txBox="1"/>
          <p:nvPr/>
        </p:nvSpPr>
        <p:spPr>
          <a:xfrm>
            <a:off x="1630758" y="1266979"/>
            <a:ext cx="89304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FF0000"/>
                </a:solidFill>
              </a:rPr>
              <a:t>切换到“实时”工作模式，然后在相关计算机的命令行使用“ping”命令进行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026308" y="744535"/>
            <a:ext cx="10087872" cy="498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11. </a:t>
            </a:r>
            <a:r>
              <a:rPr lang="zh-CN" altLang="en-US" sz="2000" b="1" dirty="0"/>
              <a:t>验证同一</a:t>
            </a:r>
            <a:r>
              <a:rPr lang="en-US" altLang="zh-CN" sz="2000" b="1" dirty="0"/>
              <a:t>VLAN</a:t>
            </a:r>
            <a:r>
              <a:rPr lang="zh-CN" altLang="en-US" sz="2000" b="1" dirty="0"/>
              <a:t>中的计算机之间可以直接通信，不同</a:t>
            </a:r>
            <a:r>
              <a:rPr lang="en-US" altLang="zh-CN" sz="2000" b="1" dirty="0"/>
              <a:t>VLAN</a:t>
            </a:r>
            <a:r>
              <a:rPr lang="zh-CN" altLang="en-US" sz="2000" b="1" dirty="0"/>
              <a:t>中的计算机之间不能直接通信</a:t>
            </a:r>
            <a:endParaRPr lang="en-US" altLang="zh-CN" sz="2000" b="1" dirty="0"/>
          </a:p>
        </p:txBody>
      </p:sp>
      <p:grpSp>
        <p:nvGrpSpPr>
          <p:cNvPr id="105" name="组合 104"/>
          <p:cNvGrpSpPr/>
          <p:nvPr/>
        </p:nvGrpSpPr>
        <p:grpSpPr>
          <a:xfrm>
            <a:off x="304800" y="4098138"/>
            <a:ext cx="11596445" cy="1708301"/>
            <a:chOff x="304800" y="4098138"/>
            <a:chExt cx="11596445" cy="1708301"/>
          </a:xfrm>
        </p:grpSpPr>
        <p:sp>
          <p:nvSpPr>
            <p:cNvPr id="96" name="矩形 95"/>
            <p:cNvSpPr/>
            <p:nvPr/>
          </p:nvSpPr>
          <p:spPr>
            <a:xfrm>
              <a:off x="304800" y="4101084"/>
              <a:ext cx="11596445" cy="1705355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" name="文本框 103"/>
            <p:cNvSpPr txBox="1"/>
            <p:nvPr/>
          </p:nvSpPr>
          <p:spPr>
            <a:xfrm>
              <a:off x="5343668" y="4098138"/>
              <a:ext cx="150466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/>
                <a:t>VLAN20</a:t>
              </a:r>
              <a:endParaRPr lang="zh-CN" altLang="en-US" sz="2800" b="1" dirty="0"/>
            </a:p>
          </p:txBody>
        </p:sp>
      </p:grpSp>
      <p:grpSp>
        <p:nvGrpSpPr>
          <p:cNvPr id="106" name="组合 105"/>
          <p:cNvGrpSpPr/>
          <p:nvPr/>
        </p:nvGrpSpPr>
        <p:grpSpPr>
          <a:xfrm>
            <a:off x="304799" y="1744064"/>
            <a:ext cx="11596445" cy="1706612"/>
            <a:chOff x="304799" y="1744064"/>
            <a:chExt cx="11596445" cy="1706612"/>
          </a:xfrm>
        </p:grpSpPr>
        <p:sp>
          <p:nvSpPr>
            <p:cNvPr id="99" name="矩形 98"/>
            <p:cNvSpPr/>
            <p:nvPr/>
          </p:nvSpPr>
          <p:spPr>
            <a:xfrm>
              <a:off x="304799" y="1744064"/>
              <a:ext cx="11596445" cy="1705355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3" name="文本框 102"/>
            <p:cNvSpPr txBox="1"/>
            <p:nvPr/>
          </p:nvSpPr>
          <p:spPr>
            <a:xfrm>
              <a:off x="5343668" y="2927456"/>
              <a:ext cx="150466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/>
                <a:t>VLAN10</a:t>
              </a:r>
              <a:endParaRPr lang="zh-CN" altLang="en-US" sz="2800" b="1" dirty="0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985104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192.168.0.5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1012771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192.168.0.1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4" name="文本框 13"/>
          <p:cNvSpPr txBox="1"/>
          <p:nvPr/>
        </p:nvSpPr>
        <p:spPr>
          <a:xfrm>
            <a:off x="3670211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192.168.0.2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8" name="文本框 17"/>
          <p:cNvSpPr txBox="1"/>
          <p:nvPr/>
        </p:nvSpPr>
        <p:spPr>
          <a:xfrm>
            <a:off x="4014643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192.168.0.6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9" name="文本框 18"/>
          <p:cNvSpPr txBox="1"/>
          <p:nvPr/>
        </p:nvSpPr>
        <p:spPr>
          <a:xfrm>
            <a:off x="6884749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192.168.0.7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22" name="文本框 21"/>
          <p:cNvSpPr txBox="1"/>
          <p:nvPr/>
        </p:nvSpPr>
        <p:spPr>
          <a:xfrm>
            <a:off x="6912416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192.168.0.3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23" name="文本框 22"/>
          <p:cNvSpPr txBox="1"/>
          <p:nvPr/>
        </p:nvSpPr>
        <p:spPr>
          <a:xfrm>
            <a:off x="9569856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192.168.0.4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26" name="文本框 25"/>
          <p:cNvSpPr txBox="1"/>
          <p:nvPr/>
        </p:nvSpPr>
        <p:spPr>
          <a:xfrm>
            <a:off x="9914288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192.168.0.8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cxnSp>
        <p:nvCxnSpPr>
          <p:cNvPr id="8" name="直接连接符 7"/>
          <p:cNvCxnSpPr/>
          <p:nvPr/>
        </p:nvCxnSpPr>
        <p:spPr>
          <a:xfrm>
            <a:off x="713110" y="2162267"/>
            <a:ext cx="2341759" cy="15474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等腰三角形 9"/>
          <p:cNvSpPr/>
          <p:nvPr/>
        </p:nvSpPr>
        <p:spPr>
          <a:xfrm>
            <a:off x="1190792" y="246301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 flipV="1">
            <a:off x="713110" y="3902316"/>
            <a:ext cx="2283201" cy="15150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等腰三角形 16"/>
          <p:cNvSpPr/>
          <p:nvPr/>
        </p:nvSpPr>
        <p:spPr>
          <a:xfrm>
            <a:off x="1190792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连接符 19"/>
          <p:cNvCxnSpPr/>
          <p:nvPr/>
        </p:nvCxnSpPr>
        <p:spPr>
          <a:xfrm flipV="1">
            <a:off x="3370466" y="2108892"/>
            <a:ext cx="2109833" cy="160085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等腰三角形 20"/>
          <p:cNvSpPr/>
          <p:nvPr/>
        </p:nvSpPr>
        <p:spPr>
          <a:xfrm>
            <a:off x="4942426" y="24111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连接符 23"/>
          <p:cNvCxnSpPr/>
          <p:nvPr/>
        </p:nvCxnSpPr>
        <p:spPr>
          <a:xfrm>
            <a:off x="3300727" y="3859446"/>
            <a:ext cx="2292563" cy="161241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等腰三角形 24"/>
          <p:cNvSpPr/>
          <p:nvPr/>
        </p:nvSpPr>
        <p:spPr>
          <a:xfrm>
            <a:off x="4942426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" name="直接连接符 27"/>
          <p:cNvCxnSpPr/>
          <p:nvPr/>
        </p:nvCxnSpPr>
        <p:spPr>
          <a:xfrm>
            <a:off x="6612755" y="2162267"/>
            <a:ext cx="2341759" cy="15474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等腰三角形 28"/>
          <p:cNvSpPr/>
          <p:nvPr/>
        </p:nvSpPr>
        <p:spPr>
          <a:xfrm>
            <a:off x="7090437" y="246301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" name="直接连接符 31"/>
          <p:cNvCxnSpPr/>
          <p:nvPr/>
        </p:nvCxnSpPr>
        <p:spPr>
          <a:xfrm flipV="1">
            <a:off x="6612755" y="3902316"/>
            <a:ext cx="2283201" cy="15150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等腰三角形 32"/>
          <p:cNvSpPr/>
          <p:nvPr/>
        </p:nvSpPr>
        <p:spPr>
          <a:xfrm>
            <a:off x="7090437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8" name="直接连接符 37"/>
          <p:cNvCxnSpPr/>
          <p:nvPr/>
        </p:nvCxnSpPr>
        <p:spPr>
          <a:xfrm flipV="1">
            <a:off x="9270111" y="2108892"/>
            <a:ext cx="2109833" cy="160085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等腰三角形 39"/>
          <p:cNvSpPr/>
          <p:nvPr/>
        </p:nvSpPr>
        <p:spPr>
          <a:xfrm>
            <a:off x="10842071" y="24111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3" name="直接连接符 42"/>
          <p:cNvCxnSpPr/>
          <p:nvPr/>
        </p:nvCxnSpPr>
        <p:spPr>
          <a:xfrm>
            <a:off x="9200372" y="3859446"/>
            <a:ext cx="2292563" cy="161241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等腰三角形 43"/>
          <p:cNvSpPr/>
          <p:nvPr/>
        </p:nvSpPr>
        <p:spPr>
          <a:xfrm>
            <a:off x="10842071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" name="直接连接符 46"/>
          <p:cNvCxnSpPr/>
          <p:nvPr/>
        </p:nvCxnSpPr>
        <p:spPr>
          <a:xfrm>
            <a:off x="3497998" y="3826236"/>
            <a:ext cx="5333835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9" name="20 8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544" y="5242879"/>
            <a:ext cx="539132" cy="457973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04800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PC4</a:t>
            </a:r>
            <a:endParaRPr lang="zh-CN" altLang="en-US" b="1" dirty="0"/>
          </a:p>
        </p:txBody>
      </p:sp>
      <p:pic>
        <p:nvPicPr>
          <p:cNvPr id="12" name="20 11" descr="图标&#10;&#10;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1054" y="3667774"/>
            <a:ext cx="646944" cy="332541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799091" y="3630983"/>
            <a:ext cx="1965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2960-24TT  Switch0</a:t>
            </a:r>
            <a:endParaRPr lang="zh-CN" altLang="en-US" b="1" dirty="0"/>
          </a:p>
        </p:txBody>
      </p:sp>
      <p:pic>
        <p:nvPicPr>
          <p:cNvPr id="5" name="20 4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724" y="5242879"/>
            <a:ext cx="539132" cy="457973"/>
          </a:xfrm>
          <a:prstGeom prst="rect">
            <a:avLst/>
          </a:prstGeom>
        </p:spPr>
      </p:pic>
      <p:pic>
        <p:nvPicPr>
          <p:cNvPr id="6" name="20 5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544" y="1967237"/>
            <a:ext cx="539132" cy="457973"/>
          </a:xfrm>
          <a:prstGeom prst="rect">
            <a:avLst/>
          </a:prstGeom>
        </p:spPr>
      </p:pic>
      <p:pic>
        <p:nvPicPr>
          <p:cNvPr id="7" name="20 6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724" y="1967237"/>
            <a:ext cx="539132" cy="457973"/>
          </a:xfrm>
          <a:prstGeom prst="rect">
            <a:avLst/>
          </a:prstGeom>
        </p:spPr>
      </p:pic>
      <p:sp>
        <p:nvSpPr>
          <p:cNvPr id="34" name="文本框 33"/>
          <p:cNvSpPr txBox="1"/>
          <p:nvPr/>
        </p:nvSpPr>
        <p:spPr>
          <a:xfrm>
            <a:off x="304800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sp>
        <p:nvSpPr>
          <p:cNvPr id="36" name="文本框 35"/>
          <p:cNvSpPr txBox="1"/>
          <p:nvPr/>
        </p:nvSpPr>
        <p:spPr>
          <a:xfrm>
            <a:off x="5184980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PC1</a:t>
            </a:r>
            <a:endParaRPr lang="zh-CN" altLang="en-US" b="1" dirty="0"/>
          </a:p>
        </p:txBody>
      </p:sp>
      <p:sp>
        <p:nvSpPr>
          <p:cNvPr id="39" name="文本框 38"/>
          <p:cNvSpPr txBox="1"/>
          <p:nvPr/>
        </p:nvSpPr>
        <p:spPr>
          <a:xfrm>
            <a:off x="5136948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PC5</a:t>
            </a:r>
            <a:endParaRPr lang="zh-CN" altLang="en-US" b="1" dirty="0"/>
          </a:p>
        </p:txBody>
      </p:sp>
      <p:pic>
        <p:nvPicPr>
          <p:cNvPr id="63" name="20 62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189" y="5242879"/>
            <a:ext cx="539132" cy="457973"/>
          </a:xfrm>
          <a:prstGeom prst="rect">
            <a:avLst/>
          </a:prstGeom>
        </p:spPr>
      </p:pic>
      <p:sp>
        <p:nvSpPr>
          <p:cNvPr id="64" name="文本框 63"/>
          <p:cNvSpPr txBox="1"/>
          <p:nvPr/>
        </p:nvSpPr>
        <p:spPr>
          <a:xfrm>
            <a:off x="6204445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PC6</a:t>
            </a:r>
            <a:endParaRPr lang="zh-CN" altLang="en-US" b="1" dirty="0"/>
          </a:p>
        </p:txBody>
      </p:sp>
      <p:pic>
        <p:nvPicPr>
          <p:cNvPr id="65" name="20 64" descr="图标&#10;&#10;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699" y="3667774"/>
            <a:ext cx="646944" cy="332541"/>
          </a:xfrm>
          <a:prstGeom prst="rect">
            <a:avLst/>
          </a:prstGeom>
        </p:spPr>
      </p:pic>
      <p:sp>
        <p:nvSpPr>
          <p:cNvPr id="66" name="文本框 65"/>
          <p:cNvSpPr txBox="1"/>
          <p:nvPr/>
        </p:nvSpPr>
        <p:spPr>
          <a:xfrm>
            <a:off x="9390051" y="3630983"/>
            <a:ext cx="1965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2960-24TT  Switch1</a:t>
            </a:r>
            <a:endParaRPr lang="zh-CN" altLang="en-US" b="1" dirty="0"/>
          </a:p>
        </p:txBody>
      </p:sp>
      <p:pic>
        <p:nvPicPr>
          <p:cNvPr id="68" name="20 67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3369" y="5242879"/>
            <a:ext cx="539132" cy="457973"/>
          </a:xfrm>
          <a:prstGeom prst="rect">
            <a:avLst/>
          </a:prstGeom>
        </p:spPr>
      </p:pic>
      <p:pic>
        <p:nvPicPr>
          <p:cNvPr id="69" name="20 68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189" y="1967237"/>
            <a:ext cx="539132" cy="457973"/>
          </a:xfrm>
          <a:prstGeom prst="rect">
            <a:avLst/>
          </a:prstGeom>
        </p:spPr>
      </p:pic>
      <p:pic>
        <p:nvPicPr>
          <p:cNvPr id="70" name="20 69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3369" y="1967237"/>
            <a:ext cx="539132" cy="457973"/>
          </a:xfrm>
          <a:prstGeom prst="rect">
            <a:avLst/>
          </a:prstGeom>
        </p:spPr>
      </p:pic>
      <p:sp>
        <p:nvSpPr>
          <p:cNvPr id="71" name="文本框 70"/>
          <p:cNvSpPr txBox="1"/>
          <p:nvPr/>
        </p:nvSpPr>
        <p:spPr>
          <a:xfrm>
            <a:off x="6204445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PC2</a:t>
            </a:r>
            <a:endParaRPr lang="zh-CN" altLang="en-US" b="1" dirty="0"/>
          </a:p>
        </p:txBody>
      </p:sp>
      <p:sp>
        <p:nvSpPr>
          <p:cNvPr id="73" name="文本框 72"/>
          <p:cNvSpPr txBox="1"/>
          <p:nvPr/>
        </p:nvSpPr>
        <p:spPr>
          <a:xfrm>
            <a:off x="11084625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PC3</a:t>
            </a:r>
            <a:endParaRPr lang="zh-CN" altLang="en-US" b="1" dirty="0"/>
          </a:p>
        </p:txBody>
      </p:sp>
      <p:sp>
        <p:nvSpPr>
          <p:cNvPr id="76" name="文本框 75"/>
          <p:cNvSpPr txBox="1"/>
          <p:nvPr/>
        </p:nvSpPr>
        <p:spPr>
          <a:xfrm>
            <a:off x="11036593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PC7</a:t>
            </a:r>
            <a:endParaRPr lang="zh-CN" altLang="en-US" b="1" dirty="0"/>
          </a:p>
        </p:txBody>
      </p:sp>
      <p:sp>
        <p:nvSpPr>
          <p:cNvPr id="51" name="等腰三角形 50"/>
          <p:cNvSpPr/>
          <p:nvPr/>
        </p:nvSpPr>
        <p:spPr>
          <a:xfrm>
            <a:off x="2509381" y="3309403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等腰三角形 51"/>
          <p:cNvSpPr/>
          <p:nvPr/>
        </p:nvSpPr>
        <p:spPr>
          <a:xfrm>
            <a:off x="2509381" y="41193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等腰三角形 52"/>
          <p:cNvSpPr/>
          <p:nvPr/>
        </p:nvSpPr>
        <p:spPr>
          <a:xfrm>
            <a:off x="3776559" y="329433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等腰三角形 53"/>
          <p:cNvSpPr/>
          <p:nvPr/>
        </p:nvSpPr>
        <p:spPr>
          <a:xfrm>
            <a:off x="3776558" y="417750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等腰三角形 54"/>
          <p:cNvSpPr/>
          <p:nvPr/>
        </p:nvSpPr>
        <p:spPr>
          <a:xfrm>
            <a:off x="8324469" y="328257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等腰三角形 55"/>
          <p:cNvSpPr/>
          <p:nvPr/>
        </p:nvSpPr>
        <p:spPr>
          <a:xfrm>
            <a:off x="9712901" y="328107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等腰三角形 56"/>
          <p:cNvSpPr/>
          <p:nvPr/>
        </p:nvSpPr>
        <p:spPr>
          <a:xfrm>
            <a:off x="8322853" y="419586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等腰三角形 57"/>
          <p:cNvSpPr/>
          <p:nvPr/>
        </p:nvSpPr>
        <p:spPr>
          <a:xfrm>
            <a:off x="9728117" y="419586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等腰三角形 58"/>
          <p:cNvSpPr/>
          <p:nvPr/>
        </p:nvSpPr>
        <p:spPr>
          <a:xfrm>
            <a:off x="4059017" y="376304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等腰三角形 59"/>
          <p:cNvSpPr/>
          <p:nvPr/>
        </p:nvSpPr>
        <p:spPr>
          <a:xfrm>
            <a:off x="8080650" y="376304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/>
        </p:nvSpPr>
        <p:spPr>
          <a:xfrm>
            <a:off x="8299448" y="301645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Fa0/1</a:t>
            </a:r>
            <a:endParaRPr lang="zh-CN" altLang="en-US" b="1" dirty="0"/>
          </a:p>
        </p:txBody>
      </p:sp>
      <p:sp>
        <p:nvSpPr>
          <p:cNvPr id="48" name="文本框 47"/>
          <p:cNvSpPr txBox="1"/>
          <p:nvPr/>
        </p:nvSpPr>
        <p:spPr>
          <a:xfrm>
            <a:off x="9050192" y="301645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Fa0/2</a:t>
            </a:r>
            <a:endParaRPr lang="zh-CN" altLang="en-US" b="1" dirty="0"/>
          </a:p>
        </p:txBody>
      </p:sp>
      <p:sp>
        <p:nvSpPr>
          <p:cNvPr id="49" name="文本框 48"/>
          <p:cNvSpPr txBox="1"/>
          <p:nvPr/>
        </p:nvSpPr>
        <p:spPr>
          <a:xfrm>
            <a:off x="8299448" y="4172213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Fa0/3</a:t>
            </a:r>
            <a:endParaRPr lang="zh-CN" altLang="en-US" b="1" dirty="0"/>
          </a:p>
        </p:txBody>
      </p:sp>
      <p:sp>
        <p:nvSpPr>
          <p:cNvPr id="50" name="文本框 49"/>
          <p:cNvSpPr txBox="1"/>
          <p:nvPr/>
        </p:nvSpPr>
        <p:spPr>
          <a:xfrm>
            <a:off x="9035504" y="4172213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Fa0/4</a:t>
            </a:r>
            <a:endParaRPr lang="zh-CN" altLang="en-US" b="1" dirty="0"/>
          </a:p>
        </p:txBody>
      </p:sp>
      <p:sp>
        <p:nvSpPr>
          <p:cNvPr id="61" name="文本框 60"/>
          <p:cNvSpPr txBox="1"/>
          <p:nvPr/>
        </p:nvSpPr>
        <p:spPr>
          <a:xfrm>
            <a:off x="2399803" y="301645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Fa0/1</a:t>
            </a:r>
            <a:endParaRPr lang="zh-CN" altLang="en-US" b="1" dirty="0"/>
          </a:p>
        </p:txBody>
      </p:sp>
      <p:sp>
        <p:nvSpPr>
          <p:cNvPr id="62" name="文本框 61"/>
          <p:cNvSpPr txBox="1"/>
          <p:nvPr/>
        </p:nvSpPr>
        <p:spPr>
          <a:xfrm>
            <a:off x="3150547" y="301645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Fa0/2</a:t>
            </a:r>
            <a:endParaRPr lang="zh-CN" altLang="en-US" b="1" dirty="0"/>
          </a:p>
        </p:txBody>
      </p:sp>
      <p:sp>
        <p:nvSpPr>
          <p:cNvPr id="67" name="文本框 66"/>
          <p:cNvSpPr txBox="1"/>
          <p:nvPr/>
        </p:nvSpPr>
        <p:spPr>
          <a:xfrm>
            <a:off x="2399803" y="4172213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Fa0/3</a:t>
            </a:r>
            <a:endParaRPr lang="zh-CN" altLang="en-US" b="1" dirty="0"/>
          </a:p>
        </p:txBody>
      </p:sp>
      <p:sp>
        <p:nvSpPr>
          <p:cNvPr id="72" name="文本框 71"/>
          <p:cNvSpPr txBox="1"/>
          <p:nvPr/>
        </p:nvSpPr>
        <p:spPr>
          <a:xfrm>
            <a:off x="3135859" y="4172213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Fa0/4</a:t>
            </a:r>
            <a:endParaRPr lang="zh-CN" altLang="en-US" b="1" dirty="0"/>
          </a:p>
        </p:txBody>
      </p:sp>
      <p:sp>
        <p:nvSpPr>
          <p:cNvPr id="74" name="文本框 73"/>
          <p:cNvSpPr txBox="1"/>
          <p:nvPr/>
        </p:nvSpPr>
        <p:spPr>
          <a:xfrm>
            <a:off x="3429825" y="351339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Fa0/5</a:t>
            </a:r>
            <a:endParaRPr lang="zh-CN" altLang="en-US" b="1" dirty="0"/>
          </a:p>
        </p:txBody>
      </p:sp>
      <p:sp>
        <p:nvSpPr>
          <p:cNvPr id="75" name="文本框 74"/>
          <p:cNvSpPr txBox="1"/>
          <p:nvPr/>
        </p:nvSpPr>
        <p:spPr>
          <a:xfrm>
            <a:off x="8001195" y="351339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Fa0/5</a:t>
            </a:r>
            <a:endParaRPr lang="zh-CN" altLang="en-US" b="1" dirty="0"/>
          </a:p>
        </p:txBody>
      </p:sp>
      <p:sp>
        <p:nvSpPr>
          <p:cNvPr id="37" name="文本框 36"/>
          <p:cNvSpPr txBox="1"/>
          <p:nvPr/>
        </p:nvSpPr>
        <p:spPr>
          <a:xfrm>
            <a:off x="3174526" y="2786292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41" name="文本框 40"/>
          <p:cNvSpPr txBox="1"/>
          <p:nvPr/>
        </p:nvSpPr>
        <p:spPr>
          <a:xfrm>
            <a:off x="2287891" y="2786292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42" name="文本框 41"/>
          <p:cNvSpPr txBox="1"/>
          <p:nvPr/>
        </p:nvSpPr>
        <p:spPr>
          <a:xfrm>
            <a:off x="3174526" y="4405144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45" name="文本框 44"/>
          <p:cNvSpPr txBox="1"/>
          <p:nvPr/>
        </p:nvSpPr>
        <p:spPr>
          <a:xfrm>
            <a:off x="2287891" y="4405144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77" name="文本框 76"/>
          <p:cNvSpPr txBox="1"/>
          <p:nvPr/>
        </p:nvSpPr>
        <p:spPr>
          <a:xfrm>
            <a:off x="9074171" y="2786292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78" name="文本框 77"/>
          <p:cNvSpPr txBox="1"/>
          <p:nvPr/>
        </p:nvSpPr>
        <p:spPr>
          <a:xfrm>
            <a:off x="8187536" y="2786292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79" name="文本框 78"/>
          <p:cNvSpPr txBox="1"/>
          <p:nvPr/>
        </p:nvSpPr>
        <p:spPr>
          <a:xfrm>
            <a:off x="9074171" y="4405144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80" name="文本框 79"/>
          <p:cNvSpPr txBox="1"/>
          <p:nvPr/>
        </p:nvSpPr>
        <p:spPr>
          <a:xfrm>
            <a:off x="8187536" y="4405144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81" name="文本框 80"/>
          <p:cNvSpPr txBox="1"/>
          <p:nvPr/>
        </p:nvSpPr>
        <p:spPr>
          <a:xfrm>
            <a:off x="4101736" y="3513397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Trunk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7362101" y="3513397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Trunk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146682" y="2550840"/>
            <a:ext cx="96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VLAN10</a:t>
            </a:r>
            <a:endParaRPr lang="zh-CN" altLang="en-US" b="1" dirty="0"/>
          </a:p>
        </p:txBody>
      </p:sp>
      <p:sp>
        <p:nvSpPr>
          <p:cNvPr id="30" name="文本框 29"/>
          <p:cNvSpPr txBox="1"/>
          <p:nvPr/>
        </p:nvSpPr>
        <p:spPr>
          <a:xfrm>
            <a:off x="2260047" y="2550840"/>
            <a:ext cx="96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VLAN10</a:t>
            </a:r>
            <a:endParaRPr lang="zh-CN" altLang="en-US" b="1" dirty="0"/>
          </a:p>
        </p:txBody>
      </p:sp>
      <p:sp>
        <p:nvSpPr>
          <p:cNvPr id="31" name="文本框 30"/>
          <p:cNvSpPr txBox="1"/>
          <p:nvPr/>
        </p:nvSpPr>
        <p:spPr>
          <a:xfrm>
            <a:off x="9033357" y="2550840"/>
            <a:ext cx="1018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VLAN10</a:t>
            </a:r>
            <a:endParaRPr lang="zh-CN" altLang="en-US" b="1" dirty="0"/>
          </a:p>
        </p:txBody>
      </p:sp>
      <p:sp>
        <p:nvSpPr>
          <p:cNvPr id="35" name="文本框 34"/>
          <p:cNvSpPr txBox="1"/>
          <p:nvPr/>
        </p:nvSpPr>
        <p:spPr>
          <a:xfrm>
            <a:off x="8146722" y="2550840"/>
            <a:ext cx="1018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VLAN10</a:t>
            </a:r>
            <a:endParaRPr lang="zh-CN" altLang="en-US" b="1" dirty="0"/>
          </a:p>
        </p:txBody>
      </p:sp>
      <p:sp>
        <p:nvSpPr>
          <p:cNvPr id="83" name="文本框 82"/>
          <p:cNvSpPr txBox="1"/>
          <p:nvPr/>
        </p:nvSpPr>
        <p:spPr>
          <a:xfrm>
            <a:off x="3155071" y="4633996"/>
            <a:ext cx="944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VLAN20</a:t>
            </a:r>
            <a:endParaRPr lang="zh-CN" altLang="en-US" b="1" dirty="0"/>
          </a:p>
        </p:txBody>
      </p:sp>
      <p:sp>
        <p:nvSpPr>
          <p:cNvPr id="84" name="文本框 83"/>
          <p:cNvSpPr txBox="1"/>
          <p:nvPr/>
        </p:nvSpPr>
        <p:spPr>
          <a:xfrm>
            <a:off x="2268436" y="4633996"/>
            <a:ext cx="944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VLAN20</a:t>
            </a:r>
            <a:endParaRPr lang="zh-CN" altLang="en-US" b="1" dirty="0"/>
          </a:p>
        </p:txBody>
      </p:sp>
      <p:sp>
        <p:nvSpPr>
          <p:cNvPr id="85" name="文本框 84"/>
          <p:cNvSpPr txBox="1"/>
          <p:nvPr/>
        </p:nvSpPr>
        <p:spPr>
          <a:xfrm>
            <a:off x="9054716" y="4633996"/>
            <a:ext cx="944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VLAN20</a:t>
            </a:r>
            <a:endParaRPr lang="zh-CN" altLang="en-US" b="1" dirty="0"/>
          </a:p>
        </p:txBody>
      </p:sp>
      <p:sp>
        <p:nvSpPr>
          <p:cNvPr id="86" name="文本框 85"/>
          <p:cNvSpPr txBox="1"/>
          <p:nvPr/>
        </p:nvSpPr>
        <p:spPr>
          <a:xfrm>
            <a:off x="8168081" y="4633996"/>
            <a:ext cx="944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VLAN20</a:t>
            </a:r>
            <a:endParaRPr lang="zh-CN" altLang="en-US" b="1" dirty="0"/>
          </a:p>
        </p:txBody>
      </p:sp>
      <p:sp>
        <p:nvSpPr>
          <p:cNvPr id="87" name="文本框 86"/>
          <p:cNvSpPr txBox="1"/>
          <p:nvPr/>
        </p:nvSpPr>
        <p:spPr>
          <a:xfrm>
            <a:off x="4871764" y="3512803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VLAN1</a:t>
            </a:r>
            <a:endParaRPr lang="zh-CN" altLang="en-US" b="1" dirty="0"/>
          </a:p>
        </p:txBody>
      </p:sp>
      <p:sp>
        <p:nvSpPr>
          <p:cNvPr id="88" name="文本框 87"/>
          <p:cNvSpPr txBox="1"/>
          <p:nvPr/>
        </p:nvSpPr>
        <p:spPr>
          <a:xfrm>
            <a:off x="6573894" y="3518652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VLAN1</a:t>
            </a:r>
            <a:endParaRPr lang="zh-CN" altLang="en-US" b="1" dirty="0"/>
          </a:p>
        </p:txBody>
      </p:sp>
      <p:cxnSp>
        <p:nvCxnSpPr>
          <p:cNvPr id="89" name="连接符: 曲线 88"/>
          <p:cNvCxnSpPr/>
          <p:nvPr/>
        </p:nvCxnSpPr>
        <p:spPr>
          <a:xfrm rot="5400000" flipH="1" flipV="1">
            <a:off x="3153200" y="-472853"/>
            <a:ext cx="12700" cy="4880180"/>
          </a:xfrm>
          <a:prstGeom prst="curvedConnector3">
            <a:avLst>
              <a:gd name="adj1" fmla="val 2280000"/>
            </a:avLst>
          </a:prstGeom>
          <a:ln w="25400">
            <a:solidFill>
              <a:schemeClr val="accent4"/>
            </a:solidFill>
            <a:prstDash val="dash"/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连接符: 曲线 90"/>
          <p:cNvCxnSpPr>
            <a:stCxn id="6" idx="0"/>
            <a:endCxn id="69" idx="0"/>
          </p:cNvCxnSpPr>
          <p:nvPr/>
        </p:nvCxnSpPr>
        <p:spPr>
          <a:xfrm rot="5400000" flipH="1" flipV="1">
            <a:off x="3662932" y="-982585"/>
            <a:ext cx="12700" cy="5899645"/>
          </a:xfrm>
          <a:prstGeom prst="curvedConnector3">
            <a:avLst>
              <a:gd name="adj1" fmla="val 3689362"/>
            </a:avLst>
          </a:prstGeom>
          <a:ln w="25400">
            <a:solidFill>
              <a:schemeClr val="accent4"/>
            </a:solidFill>
            <a:prstDash val="dash"/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连接符: 曲线 94"/>
          <p:cNvCxnSpPr>
            <a:stCxn id="6" idx="0"/>
            <a:endCxn id="70" idx="0"/>
          </p:cNvCxnSpPr>
          <p:nvPr/>
        </p:nvCxnSpPr>
        <p:spPr>
          <a:xfrm rot="5400000" flipH="1" flipV="1">
            <a:off x="6103022" y="-3422675"/>
            <a:ext cx="12700" cy="10779825"/>
          </a:xfrm>
          <a:prstGeom prst="curvedConnector3">
            <a:avLst>
              <a:gd name="adj1" fmla="val 5119150"/>
            </a:avLst>
          </a:prstGeom>
          <a:ln w="25400">
            <a:solidFill>
              <a:schemeClr val="accent4"/>
            </a:solidFill>
            <a:prstDash val="dash"/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连接符: 曲线 100"/>
          <p:cNvCxnSpPr>
            <a:stCxn id="9" idx="2"/>
            <a:endCxn id="5" idx="2"/>
          </p:cNvCxnSpPr>
          <p:nvPr/>
        </p:nvCxnSpPr>
        <p:spPr>
          <a:xfrm rot="16200000" flipH="1">
            <a:off x="3153200" y="3260762"/>
            <a:ext cx="12700" cy="4880180"/>
          </a:xfrm>
          <a:prstGeom prst="curvedConnector3">
            <a:avLst>
              <a:gd name="adj1" fmla="val 1800000"/>
            </a:avLst>
          </a:prstGeom>
          <a:ln w="25400">
            <a:solidFill>
              <a:schemeClr val="accent4"/>
            </a:solidFill>
            <a:prstDash val="dash"/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连接符: 曲线 107"/>
          <p:cNvCxnSpPr>
            <a:stCxn id="9" idx="2"/>
            <a:endCxn id="63" idx="2"/>
          </p:cNvCxnSpPr>
          <p:nvPr/>
        </p:nvCxnSpPr>
        <p:spPr>
          <a:xfrm rot="16200000" flipH="1">
            <a:off x="3662932" y="2751029"/>
            <a:ext cx="12700" cy="5899645"/>
          </a:xfrm>
          <a:prstGeom prst="curvedConnector3">
            <a:avLst>
              <a:gd name="adj1" fmla="val 3178724"/>
            </a:avLst>
          </a:prstGeom>
          <a:ln w="25400">
            <a:solidFill>
              <a:schemeClr val="accent4"/>
            </a:solidFill>
            <a:prstDash val="dash"/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连接符: 曲线 111"/>
          <p:cNvCxnSpPr>
            <a:stCxn id="9" idx="2"/>
            <a:endCxn id="68" idx="2"/>
          </p:cNvCxnSpPr>
          <p:nvPr/>
        </p:nvCxnSpPr>
        <p:spPr>
          <a:xfrm rot="16200000" flipH="1">
            <a:off x="6103022" y="310939"/>
            <a:ext cx="12700" cy="10779825"/>
          </a:xfrm>
          <a:prstGeom prst="curvedConnector3">
            <a:avLst>
              <a:gd name="adj1" fmla="val 5374472"/>
            </a:avLst>
          </a:prstGeom>
          <a:ln w="25400">
            <a:solidFill>
              <a:schemeClr val="accent4"/>
            </a:solidFill>
            <a:prstDash val="dash"/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连接符: 曲线 115"/>
          <p:cNvCxnSpPr>
            <a:stCxn id="6" idx="1"/>
            <a:endCxn id="9" idx="1"/>
          </p:cNvCxnSpPr>
          <p:nvPr/>
        </p:nvCxnSpPr>
        <p:spPr>
          <a:xfrm rot="10800000" flipV="1">
            <a:off x="443544" y="2196224"/>
            <a:ext cx="12700" cy="3275642"/>
          </a:xfrm>
          <a:prstGeom prst="curvedConnector3">
            <a:avLst>
              <a:gd name="adj1" fmla="val 2463835"/>
            </a:avLst>
          </a:prstGeom>
          <a:ln w="38100">
            <a:solidFill>
              <a:schemeClr val="accent1">
                <a:lumMod val="75000"/>
              </a:schemeClr>
            </a:solidFill>
            <a:prstDash val="dash"/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文本框 119"/>
          <p:cNvSpPr txBox="1"/>
          <p:nvPr/>
        </p:nvSpPr>
        <p:spPr>
          <a:xfrm>
            <a:off x="135706" y="3449419"/>
            <a:ext cx="6493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不能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zh-CN" altLang="en-US" b="1" dirty="0">
                <a:solidFill>
                  <a:srgbClr val="FF0000"/>
                </a:solidFill>
              </a:rPr>
              <a:t>通信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380336" y="707064"/>
            <a:ext cx="9353636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12. </a:t>
            </a:r>
            <a:r>
              <a:rPr lang="zh-CN" altLang="en-US" sz="2400" b="1" dirty="0"/>
              <a:t>验证划分</a:t>
            </a:r>
            <a:r>
              <a:rPr lang="en-US" altLang="zh-CN" sz="2400" b="1" dirty="0"/>
              <a:t>VLAN</a:t>
            </a:r>
            <a:r>
              <a:rPr lang="zh-CN" altLang="en-US" sz="2400" b="1" dirty="0"/>
              <a:t>可将庞大的广播域分隔成若干个独立的广播域</a:t>
            </a:r>
            <a:endParaRPr lang="en-US" altLang="zh-CN" sz="2400" b="1" dirty="0"/>
          </a:p>
        </p:txBody>
      </p:sp>
      <p:grpSp>
        <p:nvGrpSpPr>
          <p:cNvPr id="105" name="组合 104"/>
          <p:cNvGrpSpPr/>
          <p:nvPr/>
        </p:nvGrpSpPr>
        <p:grpSpPr>
          <a:xfrm>
            <a:off x="304800" y="4098138"/>
            <a:ext cx="11596445" cy="1708301"/>
            <a:chOff x="304800" y="4098138"/>
            <a:chExt cx="11596445" cy="1708301"/>
          </a:xfrm>
        </p:grpSpPr>
        <p:sp>
          <p:nvSpPr>
            <p:cNvPr id="96" name="矩形 95"/>
            <p:cNvSpPr/>
            <p:nvPr/>
          </p:nvSpPr>
          <p:spPr>
            <a:xfrm>
              <a:off x="304800" y="4101084"/>
              <a:ext cx="11596445" cy="1705355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" name="文本框 103"/>
            <p:cNvSpPr txBox="1"/>
            <p:nvPr/>
          </p:nvSpPr>
          <p:spPr>
            <a:xfrm>
              <a:off x="5343668" y="4098138"/>
              <a:ext cx="150466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/>
                <a:t>VLAN20</a:t>
              </a:r>
              <a:endParaRPr lang="zh-CN" altLang="en-US" sz="2800" b="1" dirty="0"/>
            </a:p>
          </p:txBody>
        </p:sp>
      </p:grpSp>
      <p:grpSp>
        <p:nvGrpSpPr>
          <p:cNvPr id="106" name="组合 105"/>
          <p:cNvGrpSpPr/>
          <p:nvPr/>
        </p:nvGrpSpPr>
        <p:grpSpPr>
          <a:xfrm>
            <a:off x="304799" y="1744064"/>
            <a:ext cx="11596445" cy="1706612"/>
            <a:chOff x="304799" y="1744064"/>
            <a:chExt cx="11596445" cy="1706612"/>
          </a:xfrm>
        </p:grpSpPr>
        <p:sp>
          <p:nvSpPr>
            <p:cNvPr id="99" name="矩形 98"/>
            <p:cNvSpPr/>
            <p:nvPr/>
          </p:nvSpPr>
          <p:spPr>
            <a:xfrm>
              <a:off x="304799" y="1744064"/>
              <a:ext cx="11596445" cy="1705355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3" name="文本框 102"/>
            <p:cNvSpPr txBox="1"/>
            <p:nvPr/>
          </p:nvSpPr>
          <p:spPr>
            <a:xfrm>
              <a:off x="5343668" y="2927456"/>
              <a:ext cx="150466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/>
                <a:t>VLAN10</a:t>
              </a:r>
              <a:endParaRPr lang="zh-CN" altLang="en-US" sz="2800" b="1" dirty="0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985104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192.168.0.5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1012771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192.168.0.1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4" name="文本框 13"/>
          <p:cNvSpPr txBox="1"/>
          <p:nvPr/>
        </p:nvSpPr>
        <p:spPr>
          <a:xfrm>
            <a:off x="3670211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192.168.0.2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8" name="文本框 17"/>
          <p:cNvSpPr txBox="1"/>
          <p:nvPr/>
        </p:nvSpPr>
        <p:spPr>
          <a:xfrm>
            <a:off x="4014643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192.168.0.6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9" name="文本框 18"/>
          <p:cNvSpPr txBox="1"/>
          <p:nvPr/>
        </p:nvSpPr>
        <p:spPr>
          <a:xfrm>
            <a:off x="6884749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192.168.0.7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22" name="文本框 21"/>
          <p:cNvSpPr txBox="1"/>
          <p:nvPr/>
        </p:nvSpPr>
        <p:spPr>
          <a:xfrm>
            <a:off x="6912416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192.168.0.3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23" name="文本框 22"/>
          <p:cNvSpPr txBox="1"/>
          <p:nvPr/>
        </p:nvSpPr>
        <p:spPr>
          <a:xfrm>
            <a:off x="9569856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192.168.0.4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26" name="文本框 25"/>
          <p:cNvSpPr txBox="1"/>
          <p:nvPr/>
        </p:nvSpPr>
        <p:spPr>
          <a:xfrm>
            <a:off x="9914288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192.168.0.8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cxnSp>
        <p:nvCxnSpPr>
          <p:cNvPr id="8" name="直接连接符 7"/>
          <p:cNvCxnSpPr/>
          <p:nvPr/>
        </p:nvCxnSpPr>
        <p:spPr>
          <a:xfrm>
            <a:off x="713110" y="2162267"/>
            <a:ext cx="2341759" cy="15474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等腰三角形 9"/>
          <p:cNvSpPr/>
          <p:nvPr/>
        </p:nvSpPr>
        <p:spPr>
          <a:xfrm>
            <a:off x="1190792" y="246301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 flipV="1">
            <a:off x="713110" y="3902316"/>
            <a:ext cx="2283201" cy="15150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等腰三角形 16"/>
          <p:cNvSpPr/>
          <p:nvPr/>
        </p:nvSpPr>
        <p:spPr>
          <a:xfrm>
            <a:off x="1190792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连接符 19"/>
          <p:cNvCxnSpPr/>
          <p:nvPr/>
        </p:nvCxnSpPr>
        <p:spPr>
          <a:xfrm flipV="1">
            <a:off x="3370466" y="2108892"/>
            <a:ext cx="2109833" cy="160085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等腰三角形 20"/>
          <p:cNvSpPr/>
          <p:nvPr/>
        </p:nvSpPr>
        <p:spPr>
          <a:xfrm>
            <a:off x="4942426" y="24111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连接符 23"/>
          <p:cNvCxnSpPr/>
          <p:nvPr/>
        </p:nvCxnSpPr>
        <p:spPr>
          <a:xfrm>
            <a:off x="3300727" y="3859446"/>
            <a:ext cx="2292563" cy="161241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等腰三角形 24"/>
          <p:cNvSpPr/>
          <p:nvPr/>
        </p:nvSpPr>
        <p:spPr>
          <a:xfrm>
            <a:off x="4942426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" name="直接连接符 27"/>
          <p:cNvCxnSpPr/>
          <p:nvPr/>
        </p:nvCxnSpPr>
        <p:spPr>
          <a:xfrm>
            <a:off x="6612755" y="2162267"/>
            <a:ext cx="2341759" cy="15474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等腰三角形 28"/>
          <p:cNvSpPr/>
          <p:nvPr/>
        </p:nvSpPr>
        <p:spPr>
          <a:xfrm>
            <a:off x="7090437" y="246301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" name="直接连接符 31"/>
          <p:cNvCxnSpPr/>
          <p:nvPr/>
        </p:nvCxnSpPr>
        <p:spPr>
          <a:xfrm flipV="1">
            <a:off x="6612755" y="3902316"/>
            <a:ext cx="2283201" cy="15150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等腰三角形 32"/>
          <p:cNvSpPr/>
          <p:nvPr/>
        </p:nvSpPr>
        <p:spPr>
          <a:xfrm>
            <a:off x="7090437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8" name="直接连接符 37"/>
          <p:cNvCxnSpPr/>
          <p:nvPr/>
        </p:nvCxnSpPr>
        <p:spPr>
          <a:xfrm flipV="1">
            <a:off x="9270111" y="2108892"/>
            <a:ext cx="2109833" cy="160085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等腰三角形 39"/>
          <p:cNvSpPr/>
          <p:nvPr/>
        </p:nvSpPr>
        <p:spPr>
          <a:xfrm>
            <a:off x="10842071" y="24111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3" name="直接连接符 42"/>
          <p:cNvCxnSpPr/>
          <p:nvPr/>
        </p:nvCxnSpPr>
        <p:spPr>
          <a:xfrm>
            <a:off x="9200372" y="3859446"/>
            <a:ext cx="2292563" cy="161241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等腰三角形 43"/>
          <p:cNvSpPr/>
          <p:nvPr/>
        </p:nvSpPr>
        <p:spPr>
          <a:xfrm>
            <a:off x="10842071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" name="直接连接符 46"/>
          <p:cNvCxnSpPr/>
          <p:nvPr/>
        </p:nvCxnSpPr>
        <p:spPr>
          <a:xfrm>
            <a:off x="3497998" y="3826236"/>
            <a:ext cx="5333835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9" name="20 8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544" y="5242879"/>
            <a:ext cx="539132" cy="457973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04800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PC4</a:t>
            </a:r>
            <a:endParaRPr lang="zh-CN" altLang="en-US" b="1" dirty="0"/>
          </a:p>
        </p:txBody>
      </p:sp>
      <p:pic>
        <p:nvPicPr>
          <p:cNvPr id="12" name="20 11" descr="图标&#10;&#10;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1054" y="3667774"/>
            <a:ext cx="646944" cy="332541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799091" y="3630983"/>
            <a:ext cx="1965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2960-24TT  Switch0</a:t>
            </a:r>
            <a:endParaRPr lang="zh-CN" altLang="en-US" b="1" dirty="0"/>
          </a:p>
        </p:txBody>
      </p:sp>
      <p:pic>
        <p:nvPicPr>
          <p:cNvPr id="5" name="20 4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724" y="5242879"/>
            <a:ext cx="539132" cy="457973"/>
          </a:xfrm>
          <a:prstGeom prst="rect">
            <a:avLst/>
          </a:prstGeom>
        </p:spPr>
      </p:pic>
      <p:pic>
        <p:nvPicPr>
          <p:cNvPr id="6" name="20 5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544" y="1967237"/>
            <a:ext cx="539132" cy="457973"/>
          </a:xfrm>
          <a:prstGeom prst="rect">
            <a:avLst/>
          </a:prstGeom>
        </p:spPr>
      </p:pic>
      <p:pic>
        <p:nvPicPr>
          <p:cNvPr id="7" name="20 6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724" y="1967237"/>
            <a:ext cx="539132" cy="457973"/>
          </a:xfrm>
          <a:prstGeom prst="rect">
            <a:avLst/>
          </a:prstGeom>
        </p:spPr>
      </p:pic>
      <p:sp>
        <p:nvSpPr>
          <p:cNvPr id="34" name="文本框 33"/>
          <p:cNvSpPr txBox="1"/>
          <p:nvPr/>
        </p:nvSpPr>
        <p:spPr>
          <a:xfrm>
            <a:off x="304800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sp>
        <p:nvSpPr>
          <p:cNvPr id="36" name="文本框 35"/>
          <p:cNvSpPr txBox="1"/>
          <p:nvPr/>
        </p:nvSpPr>
        <p:spPr>
          <a:xfrm>
            <a:off x="5184980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PC1</a:t>
            </a:r>
            <a:endParaRPr lang="zh-CN" altLang="en-US" b="1" dirty="0"/>
          </a:p>
        </p:txBody>
      </p:sp>
      <p:sp>
        <p:nvSpPr>
          <p:cNvPr id="39" name="文本框 38"/>
          <p:cNvSpPr txBox="1"/>
          <p:nvPr/>
        </p:nvSpPr>
        <p:spPr>
          <a:xfrm>
            <a:off x="5136948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PC5</a:t>
            </a:r>
            <a:endParaRPr lang="zh-CN" altLang="en-US" b="1" dirty="0"/>
          </a:p>
        </p:txBody>
      </p:sp>
      <p:pic>
        <p:nvPicPr>
          <p:cNvPr id="63" name="20 62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189" y="5242879"/>
            <a:ext cx="539132" cy="457973"/>
          </a:xfrm>
          <a:prstGeom prst="rect">
            <a:avLst/>
          </a:prstGeom>
        </p:spPr>
      </p:pic>
      <p:sp>
        <p:nvSpPr>
          <p:cNvPr id="64" name="文本框 63"/>
          <p:cNvSpPr txBox="1"/>
          <p:nvPr/>
        </p:nvSpPr>
        <p:spPr>
          <a:xfrm>
            <a:off x="6204445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PC6</a:t>
            </a:r>
            <a:endParaRPr lang="zh-CN" altLang="en-US" b="1" dirty="0"/>
          </a:p>
        </p:txBody>
      </p:sp>
      <p:pic>
        <p:nvPicPr>
          <p:cNvPr id="65" name="20 64" descr="图标&#10;&#10;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699" y="3667774"/>
            <a:ext cx="646944" cy="332541"/>
          </a:xfrm>
          <a:prstGeom prst="rect">
            <a:avLst/>
          </a:prstGeom>
        </p:spPr>
      </p:pic>
      <p:sp>
        <p:nvSpPr>
          <p:cNvPr id="66" name="文本框 65"/>
          <p:cNvSpPr txBox="1"/>
          <p:nvPr/>
        </p:nvSpPr>
        <p:spPr>
          <a:xfrm>
            <a:off x="9390051" y="3630983"/>
            <a:ext cx="1965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2960-24TT  Switch1</a:t>
            </a:r>
            <a:endParaRPr lang="zh-CN" altLang="en-US" b="1" dirty="0"/>
          </a:p>
        </p:txBody>
      </p:sp>
      <p:pic>
        <p:nvPicPr>
          <p:cNvPr id="68" name="20 67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3369" y="5242879"/>
            <a:ext cx="539132" cy="457973"/>
          </a:xfrm>
          <a:prstGeom prst="rect">
            <a:avLst/>
          </a:prstGeom>
        </p:spPr>
      </p:pic>
      <p:pic>
        <p:nvPicPr>
          <p:cNvPr id="69" name="20 68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189" y="1967237"/>
            <a:ext cx="539132" cy="457973"/>
          </a:xfrm>
          <a:prstGeom prst="rect">
            <a:avLst/>
          </a:prstGeom>
        </p:spPr>
      </p:pic>
      <p:pic>
        <p:nvPicPr>
          <p:cNvPr id="70" name="20 69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3369" y="1967237"/>
            <a:ext cx="539132" cy="457973"/>
          </a:xfrm>
          <a:prstGeom prst="rect">
            <a:avLst/>
          </a:prstGeom>
        </p:spPr>
      </p:pic>
      <p:sp>
        <p:nvSpPr>
          <p:cNvPr id="71" name="文本框 70"/>
          <p:cNvSpPr txBox="1"/>
          <p:nvPr/>
        </p:nvSpPr>
        <p:spPr>
          <a:xfrm>
            <a:off x="6204445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PC2</a:t>
            </a:r>
            <a:endParaRPr lang="zh-CN" altLang="en-US" b="1" dirty="0"/>
          </a:p>
        </p:txBody>
      </p:sp>
      <p:sp>
        <p:nvSpPr>
          <p:cNvPr id="73" name="文本框 72"/>
          <p:cNvSpPr txBox="1"/>
          <p:nvPr/>
        </p:nvSpPr>
        <p:spPr>
          <a:xfrm>
            <a:off x="11084625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PC3</a:t>
            </a:r>
            <a:endParaRPr lang="zh-CN" altLang="en-US" b="1" dirty="0"/>
          </a:p>
        </p:txBody>
      </p:sp>
      <p:sp>
        <p:nvSpPr>
          <p:cNvPr id="76" name="文本框 75"/>
          <p:cNvSpPr txBox="1"/>
          <p:nvPr/>
        </p:nvSpPr>
        <p:spPr>
          <a:xfrm>
            <a:off x="11036593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PC7</a:t>
            </a:r>
            <a:endParaRPr lang="zh-CN" altLang="en-US" b="1" dirty="0"/>
          </a:p>
        </p:txBody>
      </p:sp>
      <p:sp>
        <p:nvSpPr>
          <p:cNvPr id="51" name="等腰三角形 50"/>
          <p:cNvSpPr/>
          <p:nvPr/>
        </p:nvSpPr>
        <p:spPr>
          <a:xfrm>
            <a:off x="2509381" y="3309403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等腰三角形 51"/>
          <p:cNvSpPr/>
          <p:nvPr/>
        </p:nvSpPr>
        <p:spPr>
          <a:xfrm>
            <a:off x="2509381" y="41193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等腰三角形 52"/>
          <p:cNvSpPr/>
          <p:nvPr/>
        </p:nvSpPr>
        <p:spPr>
          <a:xfrm>
            <a:off x="3776559" y="329433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等腰三角形 53"/>
          <p:cNvSpPr/>
          <p:nvPr/>
        </p:nvSpPr>
        <p:spPr>
          <a:xfrm>
            <a:off x="3776558" y="417750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等腰三角形 54"/>
          <p:cNvSpPr/>
          <p:nvPr/>
        </p:nvSpPr>
        <p:spPr>
          <a:xfrm>
            <a:off x="8324469" y="328257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等腰三角形 55"/>
          <p:cNvSpPr/>
          <p:nvPr/>
        </p:nvSpPr>
        <p:spPr>
          <a:xfrm>
            <a:off x="9712901" y="328107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等腰三角形 56"/>
          <p:cNvSpPr/>
          <p:nvPr/>
        </p:nvSpPr>
        <p:spPr>
          <a:xfrm>
            <a:off x="8322853" y="419586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等腰三角形 57"/>
          <p:cNvSpPr/>
          <p:nvPr/>
        </p:nvSpPr>
        <p:spPr>
          <a:xfrm>
            <a:off x="9728117" y="419586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等腰三角形 58"/>
          <p:cNvSpPr/>
          <p:nvPr/>
        </p:nvSpPr>
        <p:spPr>
          <a:xfrm>
            <a:off x="4059017" y="376304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等腰三角形 59"/>
          <p:cNvSpPr/>
          <p:nvPr/>
        </p:nvSpPr>
        <p:spPr>
          <a:xfrm>
            <a:off x="8080650" y="376304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/>
        </p:nvSpPr>
        <p:spPr>
          <a:xfrm>
            <a:off x="8299448" y="301645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Fa0/1</a:t>
            </a:r>
            <a:endParaRPr lang="zh-CN" altLang="en-US" b="1" dirty="0"/>
          </a:p>
        </p:txBody>
      </p:sp>
      <p:sp>
        <p:nvSpPr>
          <p:cNvPr id="48" name="文本框 47"/>
          <p:cNvSpPr txBox="1"/>
          <p:nvPr/>
        </p:nvSpPr>
        <p:spPr>
          <a:xfrm>
            <a:off x="9050192" y="301645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Fa0/2</a:t>
            </a:r>
            <a:endParaRPr lang="zh-CN" altLang="en-US" b="1" dirty="0"/>
          </a:p>
        </p:txBody>
      </p:sp>
      <p:sp>
        <p:nvSpPr>
          <p:cNvPr id="49" name="文本框 48"/>
          <p:cNvSpPr txBox="1"/>
          <p:nvPr/>
        </p:nvSpPr>
        <p:spPr>
          <a:xfrm>
            <a:off x="8299448" y="4172213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Fa0/3</a:t>
            </a:r>
            <a:endParaRPr lang="zh-CN" altLang="en-US" b="1" dirty="0"/>
          </a:p>
        </p:txBody>
      </p:sp>
      <p:sp>
        <p:nvSpPr>
          <p:cNvPr id="50" name="文本框 49"/>
          <p:cNvSpPr txBox="1"/>
          <p:nvPr/>
        </p:nvSpPr>
        <p:spPr>
          <a:xfrm>
            <a:off x="9035504" y="4172213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Fa0/4</a:t>
            </a:r>
            <a:endParaRPr lang="zh-CN" altLang="en-US" b="1" dirty="0"/>
          </a:p>
        </p:txBody>
      </p:sp>
      <p:sp>
        <p:nvSpPr>
          <p:cNvPr id="61" name="文本框 60"/>
          <p:cNvSpPr txBox="1"/>
          <p:nvPr/>
        </p:nvSpPr>
        <p:spPr>
          <a:xfrm>
            <a:off x="2399803" y="301645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Fa0/1</a:t>
            </a:r>
            <a:endParaRPr lang="zh-CN" altLang="en-US" b="1" dirty="0"/>
          </a:p>
        </p:txBody>
      </p:sp>
      <p:sp>
        <p:nvSpPr>
          <p:cNvPr id="62" name="文本框 61"/>
          <p:cNvSpPr txBox="1"/>
          <p:nvPr/>
        </p:nvSpPr>
        <p:spPr>
          <a:xfrm>
            <a:off x="3150547" y="301645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Fa0/2</a:t>
            </a:r>
            <a:endParaRPr lang="zh-CN" altLang="en-US" b="1" dirty="0"/>
          </a:p>
        </p:txBody>
      </p:sp>
      <p:sp>
        <p:nvSpPr>
          <p:cNvPr id="67" name="文本框 66"/>
          <p:cNvSpPr txBox="1"/>
          <p:nvPr/>
        </p:nvSpPr>
        <p:spPr>
          <a:xfrm>
            <a:off x="2399803" y="4172213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Fa0/3</a:t>
            </a:r>
            <a:endParaRPr lang="zh-CN" altLang="en-US" b="1" dirty="0"/>
          </a:p>
        </p:txBody>
      </p:sp>
      <p:sp>
        <p:nvSpPr>
          <p:cNvPr id="72" name="文本框 71"/>
          <p:cNvSpPr txBox="1"/>
          <p:nvPr/>
        </p:nvSpPr>
        <p:spPr>
          <a:xfrm>
            <a:off x="3135859" y="4172213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Fa0/4</a:t>
            </a:r>
            <a:endParaRPr lang="zh-CN" altLang="en-US" b="1" dirty="0"/>
          </a:p>
        </p:txBody>
      </p:sp>
      <p:sp>
        <p:nvSpPr>
          <p:cNvPr id="74" name="文本框 73"/>
          <p:cNvSpPr txBox="1"/>
          <p:nvPr/>
        </p:nvSpPr>
        <p:spPr>
          <a:xfrm>
            <a:off x="3429825" y="351339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Fa0/5</a:t>
            </a:r>
            <a:endParaRPr lang="zh-CN" altLang="en-US" b="1" dirty="0"/>
          </a:p>
        </p:txBody>
      </p:sp>
      <p:sp>
        <p:nvSpPr>
          <p:cNvPr id="75" name="文本框 74"/>
          <p:cNvSpPr txBox="1"/>
          <p:nvPr/>
        </p:nvSpPr>
        <p:spPr>
          <a:xfrm>
            <a:off x="8001195" y="351339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Fa0/5</a:t>
            </a:r>
            <a:endParaRPr lang="zh-CN" altLang="en-US" b="1" dirty="0"/>
          </a:p>
        </p:txBody>
      </p:sp>
      <p:sp>
        <p:nvSpPr>
          <p:cNvPr id="37" name="文本框 36"/>
          <p:cNvSpPr txBox="1"/>
          <p:nvPr/>
        </p:nvSpPr>
        <p:spPr>
          <a:xfrm>
            <a:off x="3174526" y="2786292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41" name="文本框 40"/>
          <p:cNvSpPr txBox="1"/>
          <p:nvPr/>
        </p:nvSpPr>
        <p:spPr>
          <a:xfrm>
            <a:off x="2287891" y="2786292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42" name="文本框 41"/>
          <p:cNvSpPr txBox="1"/>
          <p:nvPr/>
        </p:nvSpPr>
        <p:spPr>
          <a:xfrm>
            <a:off x="3174526" y="4405144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45" name="文本框 44"/>
          <p:cNvSpPr txBox="1"/>
          <p:nvPr/>
        </p:nvSpPr>
        <p:spPr>
          <a:xfrm>
            <a:off x="2287891" y="4405144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77" name="文本框 76"/>
          <p:cNvSpPr txBox="1"/>
          <p:nvPr/>
        </p:nvSpPr>
        <p:spPr>
          <a:xfrm>
            <a:off x="9074171" y="2786292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78" name="文本框 77"/>
          <p:cNvSpPr txBox="1"/>
          <p:nvPr/>
        </p:nvSpPr>
        <p:spPr>
          <a:xfrm>
            <a:off x="8187536" y="2786292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79" name="文本框 78"/>
          <p:cNvSpPr txBox="1"/>
          <p:nvPr/>
        </p:nvSpPr>
        <p:spPr>
          <a:xfrm>
            <a:off x="9074171" y="4405144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80" name="文本框 79"/>
          <p:cNvSpPr txBox="1"/>
          <p:nvPr/>
        </p:nvSpPr>
        <p:spPr>
          <a:xfrm>
            <a:off x="8187536" y="4405144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81" name="文本框 80"/>
          <p:cNvSpPr txBox="1"/>
          <p:nvPr/>
        </p:nvSpPr>
        <p:spPr>
          <a:xfrm>
            <a:off x="4101736" y="3513397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Trunk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7362101" y="3513397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Trunk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146682" y="2550840"/>
            <a:ext cx="96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VLAN10</a:t>
            </a:r>
            <a:endParaRPr lang="zh-CN" altLang="en-US" b="1" dirty="0"/>
          </a:p>
        </p:txBody>
      </p:sp>
      <p:sp>
        <p:nvSpPr>
          <p:cNvPr id="30" name="文本框 29"/>
          <p:cNvSpPr txBox="1"/>
          <p:nvPr/>
        </p:nvSpPr>
        <p:spPr>
          <a:xfrm>
            <a:off x="2260047" y="2550840"/>
            <a:ext cx="96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VLAN10</a:t>
            </a:r>
            <a:endParaRPr lang="zh-CN" altLang="en-US" b="1" dirty="0"/>
          </a:p>
        </p:txBody>
      </p:sp>
      <p:sp>
        <p:nvSpPr>
          <p:cNvPr id="31" name="文本框 30"/>
          <p:cNvSpPr txBox="1"/>
          <p:nvPr/>
        </p:nvSpPr>
        <p:spPr>
          <a:xfrm>
            <a:off x="9033357" y="2550840"/>
            <a:ext cx="1018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VLAN10</a:t>
            </a:r>
            <a:endParaRPr lang="zh-CN" altLang="en-US" b="1" dirty="0"/>
          </a:p>
        </p:txBody>
      </p:sp>
      <p:sp>
        <p:nvSpPr>
          <p:cNvPr id="35" name="文本框 34"/>
          <p:cNvSpPr txBox="1"/>
          <p:nvPr/>
        </p:nvSpPr>
        <p:spPr>
          <a:xfrm>
            <a:off x="8146722" y="2550840"/>
            <a:ext cx="1018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VLAN10</a:t>
            </a:r>
            <a:endParaRPr lang="zh-CN" altLang="en-US" b="1" dirty="0"/>
          </a:p>
        </p:txBody>
      </p:sp>
      <p:sp>
        <p:nvSpPr>
          <p:cNvPr id="83" name="文本框 82"/>
          <p:cNvSpPr txBox="1"/>
          <p:nvPr/>
        </p:nvSpPr>
        <p:spPr>
          <a:xfrm>
            <a:off x="3155071" y="4633996"/>
            <a:ext cx="944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VLAN20</a:t>
            </a:r>
            <a:endParaRPr lang="zh-CN" altLang="en-US" b="1" dirty="0"/>
          </a:p>
        </p:txBody>
      </p:sp>
      <p:sp>
        <p:nvSpPr>
          <p:cNvPr id="84" name="文本框 83"/>
          <p:cNvSpPr txBox="1"/>
          <p:nvPr/>
        </p:nvSpPr>
        <p:spPr>
          <a:xfrm>
            <a:off x="2268436" y="4633996"/>
            <a:ext cx="944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VLAN20</a:t>
            </a:r>
            <a:endParaRPr lang="zh-CN" altLang="en-US" b="1" dirty="0"/>
          </a:p>
        </p:txBody>
      </p:sp>
      <p:sp>
        <p:nvSpPr>
          <p:cNvPr id="85" name="文本框 84"/>
          <p:cNvSpPr txBox="1"/>
          <p:nvPr/>
        </p:nvSpPr>
        <p:spPr>
          <a:xfrm>
            <a:off x="9054716" y="4633996"/>
            <a:ext cx="944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VLAN20</a:t>
            </a:r>
            <a:endParaRPr lang="zh-CN" altLang="en-US" b="1" dirty="0"/>
          </a:p>
        </p:txBody>
      </p:sp>
      <p:sp>
        <p:nvSpPr>
          <p:cNvPr id="86" name="文本框 85"/>
          <p:cNvSpPr txBox="1"/>
          <p:nvPr/>
        </p:nvSpPr>
        <p:spPr>
          <a:xfrm>
            <a:off x="8168081" y="4633996"/>
            <a:ext cx="944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VLAN20</a:t>
            </a:r>
            <a:endParaRPr lang="zh-CN" altLang="en-US" b="1" dirty="0"/>
          </a:p>
        </p:txBody>
      </p:sp>
      <p:sp>
        <p:nvSpPr>
          <p:cNvPr id="87" name="文本框 86"/>
          <p:cNvSpPr txBox="1"/>
          <p:nvPr/>
        </p:nvSpPr>
        <p:spPr>
          <a:xfrm>
            <a:off x="4871764" y="3512803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VLAN1</a:t>
            </a:r>
            <a:endParaRPr lang="zh-CN" altLang="en-US" b="1" dirty="0"/>
          </a:p>
        </p:txBody>
      </p:sp>
      <p:sp>
        <p:nvSpPr>
          <p:cNvPr id="88" name="文本框 87"/>
          <p:cNvSpPr txBox="1"/>
          <p:nvPr/>
        </p:nvSpPr>
        <p:spPr>
          <a:xfrm>
            <a:off x="6573894" y="3518652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VLAN1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380336" y="707064"/>
            <a:ext cx="9353636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12. </a:t>
            </a:r>
            <a:r>
              <a:rPr lang="zh-CN" altLang="en-US" sz="2400" b="1" dirty="0"/>
              <a:t>验证划分</a:t>
            </a:r>
            <a:r>
              <a:rPr lang="en-US" altLang="zh-CN" sz="2400" b="1" dirty="0"/>
              <a:t>VLAN</a:t>
            </a:r>
            <a:r>
              <a:rPr lang="zh-CN" altLang="en-US" sz="2400" b="1" dirty="0"/>
              <a:t>可将庞大的广播域分隔成若干个独立的广播域</a:t>
            </a:r>
            <a:endParaRPr lang="en-US" altLang="zh-CN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grpSp>
        <p:nvGrpSpPr>
          <p:cNvPr id="89" name="组合 88"/>
          <p:cNvGrpSpPr/>
          <p:nvPr/>
        </p:nvGrpSpPr>
        <p:grpSpPr>
          <a:xfrm>
            <a:off x="1764114" y="1849217"/>
            <a:ext cx="3384897" cy="1158662"/>
            <a:chOff x="8434812" y="4850009"/>
            <a:chExt cx="3384897" cy="1158662"/>
          </a:xfrm>
        </p:grpSpPr>
        <p:sp>
          <p:nvSpPr>
            <p:cNvPr id="90" name="文本框 89"/>
            <p:cNvSpPr txBox="1"/>
            <p:nvPr/>
          </p:nvSpPr>
          <p:spPr>
            <a:xfrm>
              <a:off x="8434812" y="4850009"/>
              <a:ext cx="3384897" cy="4987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❶ 切换到“模拟”工作模式</a:t>
              </a:r>
              <a:endParaRPr lang="zh-CN" altLang="en-US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cxnSp>
          <p:nvCxnSpPr>
            <p:cNvPr id="91" name="直接箭头连接符 90"/>
            <p:cNvCxnSpPr/>
            <p:nvPr/>
          </p:nvCxnSpPr>
          <p:spPr>
            <a:xfrm>
              <a:off x="9982515" y="5414602"/>
              <a:ext cx="0" cy="594069"/>
            </a:xfrm>
            <a:prstGeom prst="straightConnector1">
              <a:avLst/>
            </a:prstGeom>
            <a:ln w="25400">
              <a:solidFill>
                <a:schemeClr val="accent1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2" name="20 9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8679" y="3087714"/>
            <a:ext cx="3158960" cy="1489940"/>
          </a:xfrm>
          <a:prstGeom prst="rect">
            <a:avLst/>
          </a:prstGeom>
        </p:spPr>
      </p:pic>
      <p:pic>
        <p:nvPicPr>
          <p:cNvPr id="93" name="20 9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515820"/>
            <a:ext cx="4244708" cy="899238"/>
          </a:xfrm>
          <a:prstGeom prst="rect">
            <a:avLst/>
          </a:prstGeom>
        </p:spPr>
      </p:pic>
      <p:grpSp>
        <p:nvGrpSpPr>
          <p:cNvPr id="94" name="组合 93"/>
          <p:cNvGrpSpPr/>
          <p:nvPr/>
        </p:nvGrpSpPr>
        <p:grpSpPr>
          <a:xfrm>
            <a:off x="7302452" y="2393555"/>
            <a:ext cx="4486760" cy="1238369"/>
            <a:chOff x="1192395" y="2211421"/>
            <a:chExt cx="4486760" cy="1238369"/>
          </a:xfrm>
        </p:grpSpPr>
        <p:sp>
          <p:nvSpPr>
            <p:cNvPr id="95" name="文本框 94"/>
            <p:cNvSpPr txBox="1"/>
            <p:nvPr/>
          </p:nvSpPr>
          <p:spPr>
            <a:xfrm>
              <a:off x="1192395" y="2741904"/>
              <a:ext cx="448676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❷  使用“添加复杂的</a:t>
              </a:r>
              <a:r>
                <a:rPr lang="en-US" altLang="zh-CN" sz="2000" b="1" dirty="0">
                  <a:solidFill>
                    <a:schemeClr val="accent1">
                      <a:lumMod val="75000"/>
                    </a:schemeClr>
                  </a:solidFill>
                </a:rPr>
                <a:t>PDU</a:t>
              </a:r>
              <a:r>
                <a:rPr lang="zh-CN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”工具，</a:t>
              </a:r>
              <a:endParaRPr lang="en-US" altLang="zh-CN" sz="2000" b="1" dirty="0">
                <a:solidFill>
                  <a:schemeClr val="accent1">
                    <a:lumMod val="75000"/>
                  </a:schemeClr>
                </a:solidFill>
              </a:endParaRPr>
            </a:p>
            <a:p>
              <a:r>
                <a:rPr lang="zh-CN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      让某个</a:t>
              </a:r>
              <a:r>
                <a:rPr lang="en-US" altLang="zh-CN" sz="2000" b="1" dirty="0">
                  <a:solidFill>
                    <a:schemeClr val="accent1">
                      <a:lumMod val="75000"/>
                    </a:schemeClr>
                  </a:solidFill>
                </a:rPr>
                <a:t>PC</a:t>
              </a:r>
              <a:r>
                <a:rPr lang="zh-CN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发送广播帧。</a:t>
              </a:r>
              <a:endParaRPr lang="zh-CN" altLang="en-US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cxnSp>
          <p:nvCxnSpPr>
            <p:cNvPr id="97" name="直接箭头连接符 96"/>
            <p:cNvCxnSpPr/>
            <p:nvPr/>
          </p:nvCxnSpPr>
          <p:spPr>
            <a:xfrm flipV="1">
              <a:off x="3432375" y="2211421"/>
              <a:ext cx="0" cy="487469"/>
            </a:xfrm>
            <a:prstGeom prst="straightConnector1">
              <a:avLst/>
            </a:prstGeom>
            <a:ln w="25400">
              <a:solidFill>
                <a:schemeClr val="accent1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8" name="20 9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7902" y="4928740"/>
            <a:ext cx="3674712" cy="1366409"/>
          </a:xfrm>
          <a:prstGeom prst="rect">
            <a:avLst/>
          </a:prstGeom>
        </p:spPr>
      </p:pic>
      <p:grpSp>
        <p:nvGrpSpPr>
          <p:cNvPr id="100" name="组合 99"/>
          <p:cNvGrpSpPr/>
          <p:nvPr/>
        </p:nvGrpSpPr>
        <p:grpSpPr>
          <a:xfrm>
            <a:off x="7515946" y="4920440"/>
            <a:ext cx="4371254" cy="400110"/>
            <a:chOff x="4218128" y="5007273"/>
            <a:chExt cx="4371254" cy="400110"/>
          </a:xfrm>
        </p:grpSpPr>
        <p:sp>
          <p:nvSpPr>
            <p:cNvPr id="101" name="文本框 100"/>
            <p:cNvSpPr txBox="1"/>
            <p:nvPr/>
          </p:nvSpPr>
          <p:spPr>
            <a:xfrm>
              <a:off x="4794014" y="5007273"/>
              <a:ext cx="379536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❸  单击该按钮，进行单步模拟。</a:t>
              </a:r>
              <a:endParaRPr lang="zh-CN" altLang="en-US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cxnSp>
          <p:nvCxnSpPr>
            <p:cNvPr id="102" name="直接箭头连接符 101"/>
            <p:cNvCxnSpPr/>
            <p:nvPr/>
          </p:nvCxnSpPr>
          <p:spPr>
            <a:xfrm flipH="1">
              <a:off x="4218128" y="5186618"/>
              <a:ext cx="560504" cy="0"/>
            </a:xfrm>
            <a:prstGeom prst="straightConnector1">
              <a:avLst/>
            </a:prstGeom>
            <a:ln w="25400">
              <a:solidFill>
                <a:schemeClr val="accent1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380336" y="707064"/>
            <a:ext cx="9353636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12. </a:t>
            </a:r>
            <a:r>
              <a:rPr lang="zh-CN" altLang="en-US" sz="2400" b="1" dirty="0"/>
              <a:t>验证划分</a:t>
            </a:r>
            <a:r>
              <a:rPr lang="en-US" altLang="zh-CN" sz="2400" b="1" dirty="0"/>
              <a:t>VLAN</a:t>
            </a:r>
            <a:r>
              <a:rPr lang="zh-CN" altLang="en-US" sz="2400" b="1" dirty="0"/>
              <a:t>可将庞大的广播域分隔成若干个独立的广播域</a:t>
            </a:r>
            <a:endParaRPr lang="en-US" altLang="zh-CN" sz="2400" b="1" dirty="0"/>
          </a:p>
        </p:txBody>
      </p:sp>
      <p:grpSp>
        <p:nvGrpSpPr>
          <p:cNvPr id="105" name="组合 104"/>
          <p:cNvGrpSpPr/>
          <p:nvPr/>
        </p:nvGrpSpPr>
        <p:grpSpPr>
          <a:xfrm>
            <a:off x="304800" y="4098138"/>
            <a:ext cx="11596445" cy="1708301"/>
            <a:chOff x="304800" y="4098138"/>
            <a:chExt cx="11596445" cy="1708301"/>
          </a:xfrm>
        </p:grpSpPr>
        <p:sp>
          <p:nvSpPr>
            <p:cNvPr id="96" name="矩形 95"/>
            <p:cNvSpPr/>
            <p:nvPr/>
          </p:nvSpPr>
          <p:spPr>
            <a:xfrm>
              <a:off x="304800" y="4101084"/>
              <a:ext cx="11596445" cy="1705355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" name="文本框 103"/>
            <p:cNvSpPr txBox="1"/>
            <p:nvPr/>
          </p:nvSpPr>
          <p:spPr>
            <a:xfrm>
              <a:off x="5343668" y="4098138"/>
              <a:ext cx="150466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/>
                <a:t>VLAN20</a:t>
              </a:r>
              <a:endParaRPr lang="zh-CN" altLang="en-US" sz="2800" b="1" dirty="0"/>
            </a:p>
          </p:txBody>
        </p:sp>
      </p:grpSp>
      <p:grpSp>
        <p:nvGrpSpPr>
          <p:cNvPr id="106" name="组合 105"/>
          <p:cNvGrpSpPr/>
          <p:nvPr/>
        </p:nvGrpSpPr>
        <p:grpSpPr>
          <a:xfrm>
            <a:off x="304799" y="1744064"/>
            <a:ext cx="11596445" cy="1706612"/>
            <a:chOff x="304799" y="1744064"/>
            <a:chExt cx="11596445" cy="1706612"/>
          </a:xfrm>
        </p:grpSpPr>
        <p:sp>
          <p:nvSpPr>
            <p:cNvPr id="99" name="矩形 98"/>
            <p:cNvSpPr/>
            <p:nvPr/>
          </p:nvSpPr>
          <p:spPr>
            <a:xfrm>
              <a:off x="304799" y="1744064"/>
              <a:ext cx="11596445" cy="1705355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3" name="文本框 102"/>
            <p:cNvSpPr txBox="1"/>
            <p:nvPr/>
          </p:nvSpPr>
          <p:spPr>
            <a:xfrm>
              <a:off x="5343668" y="2927456"/>
              <a:ext cx="150466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/>
                <a:t>VLAN10</a:t>
              </a:r>
              <a:endParaRPr lang="zh-CN" altLang="en-US" sz="2800" b="1" dirty="0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985104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192.168.0.5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1012771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192.168.0.1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4" name="文本框 13"/>
          <p:cNvSpPr txBox="1"/>
          <p:nvPr/>
        </p:nvSpPr>
        <p:spPr>
          <a:xfrm>
            <a:off x="3670211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192.168.0.2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8" name="文本框 17"/>
          <p:cNvSpPr txBox="1"/>
          <p:nvPr/>
        </p:nvSpPr>
        <p:spPr>
          <a:xfrm>
            <a:off x="4014643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192.168.0.6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9" name="文本框 18"/>
          <p:cNvSpPr txBox="1"/>
          <p:nvPr/>
        </p:nvSpPr>
        <p:spPr>
          <a:xfrm>
            <a:off x="6884749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192.168.0.7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22" name="文本框 21"/>
          <p:cNvSpPr txBox="1"/>
          <p:nvPr/>
        </p:nvSpPr>
        <p:spPr>
          <a:xfrm>
            <a:off x="6912416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192.168.0.3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23" name="文本框 22"/>
          <p:cNvSpPr txBox="1"/>
          <p:nvPr/>
        </p:nvSpPr>
        <p:spPr>
          <a:xfrm>
            <a:off x="9569856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192.168.0.4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26" name="文本框 25"/>
          <p:cNvSpPr txBox="1"/>
          <p:nvPr/>
        </p:nvSpPr>
        <p:spPr>
          <a:xfrm>
            <a:off x="9914288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192.168.0.8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cxnSp>
        <p:nvCxnSpPr>
          <p:cNvPr id="8" name="直接连接符 7"/>
          <p:cNvCxnSpPr/>
          <p:nvPr/>
        </p:nvCxnSpPr>
        <p:spPr>
          <a:xfrm>
            <a:off x="713110" y="2162267"/>
            <a:ext cx="2341759" cy="15474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等腰三角形 9"/>
          <p:cNvSpPr/>
          <p:nvPr/>
        </p:nvSpPr>
        <p:spPr>
          <a:xfrm>
            <a:off x="1190792" y="246301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 flipV="1">
            <a:off x="713110" y="3902316"/>
            <a:ext cx="2283201" cy="15150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等腰三角形 16"/>
          <p:cNvSpPr/>
          <p:nvPr/>
        </p:nvSpPr>
        <p:spPr>
          <a:xfrm>
            <a:off x="1190792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连接符 19"/>
          <p:cNvCxnSpPr/>
          <p:nvPr/>
        </p:nvCxnSpPr>
        <p:spPr>
          <a:xfrm flipV="1">
            <a:off x="3370466" y="2108892"/>
            <a:ext cx="2109833" cy="160085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等腰三角形 20"/>
          <p:cNvSpPr/>
          <p:nvPr/>
        </p:nvSpPr>
        <p:spPr>
          <a:xfrm>
            <a:off x="4942426" y="24111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连接符 23"/>
          <p:cNvCxnSpPr/>
          <p:nvPr/>
        </p:nvCxnSpPr>
        <p:spPr>
          <a:xfrm>
            <a:off x="3300727" y="3859446"/>
            <a:ext cx="2292563" cy="161241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等腰三角形 24"/>
          <p:cNvSpPr/>
          <p:nvPr/>
        </p:nvSpPr>
        <p:spPr>
          <a:xfrm>
            <a:off x="4942426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" name="直接连接符 27"/>
          <p:cNvCxnSpPr/>
          <p:nvPr/>
        </p:nvCxnSpPr>
        <p:spPr>
          <a:xfrm>
            <a:off x="6612755" y="2162267"/>
            <a:ext cx="2341759" cy="15474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等腰三角形 28"/>
          <p:cNvSpPr/>
          <p:nvPr/>
        </p:nvSpPr>
        <p:spPr>
          <a:xfrm>
            <a:off x="7090437" y="246301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" name="直接连接符 31"/>
          <p:cNvCxnSpPr/>
          <p:nvPr/>
        </p:nvCxnSpPr>
        <p:spPr>
          <a:xfrm flipV="1">
            <a:off x="6612755" y="3902316"/>
            <a:ext cx="2283201" cy="15150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等腰三角形 32"/>
          <p:cNvSpPr/>
          <p:nvPr/>
        </p:nvSpPr>
        <p:spPr>
          <a:xfrm>
            <a:off x="7090437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8" name="直接连接符 37"/>
          <p:cNvCxnSpPr/>
          <p:nvPr/>
        </p:nvCxnSpPr>
        <p:spPr>
          <a:xfrm flipV="1">
            <a:off x="9270111" y="2108892"/>
            <a:ext cx="2109833" cy="160085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等腰三角形 39"/>
          <p:cNvSpPr/>
          <p:nvPr/>
        </p:nvSpPr>
        <p:spPr>
          <a:xfrm>
            <a:off x="10842071" y="24111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3" name="直接连接符 42"/>
          <p:cNvCxnSpPr/>
          <p:nvPr/>
        </p:nvCxnSpPr>
        <p:spPr>
          <a:xfrm>
            <a:off x="9200372" y="3859446"/>
            <a:ext cx="2292563" cy="161241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等腰三角形 43"/>
          <p:cNvSpPr/>
          <p:nvPr/>
        </p:nvSpPr>
        <p:spPr>
          <a:xfrm>
            <a:off x="10842071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" name="直接连接符 46"/>
          <p:cNvCxnSpPr/>
          <p:nvPr/>
        </p:nvCxnSpPr>
        <p:spPr>
          <a:xfrm>
            <a:off x="3497998" y="3826236"/>
            <a:ext cx="5333835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9" name="20 8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544" y="5242879"/>
            <a:ext cx="539132" cy="457973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04800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PC4</a:t>
            </a:r>
            <a:endParaRPr lang="zh-CN" altLang="en-US" b="1" dirty="0"/>
          </a:p>
        </p:txBody>
      </p:sp>
      <p:pic>
        <p:nvPicPr>
          <p:cNvPr id="12" name="20 11" descr="图标&#10;&#10;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1054" y="3667774"/>
            <a:ext cx="646944" cy="332541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799091" y="3630983"/>
            <a:ext cx="1965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2960-24TT  Switch0</a:t>
            </a:r>
            <a:endParaRPr lang="zh-CN" altLang="en-US" b="1" dirty="0"/>
          </a:p>
        </p:txBody>
      </p:sp>
      <p:pic>
        <p:nvPicPr>
          <p:cNvPr id="5" name="20 4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724" y="5242879"/>
            <a:ext cx="539132" cy="457973"/>
          </a:xfrm>
          <a:prstGeom prst="rect">
            <a:avLst/>
          </a:prstGeom>
        </p:spPr>
      </p:pic>
      <p:pic>
        <p:nvPicPr>
          <p:cNvPr id="6" name="20 5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544" y="1967237"/>
            <a:ext cx="539132" cy="457973"/>
          </a:xfrm>
          <a:prstGeom prst="rect">
            <a:avLst/>
          </a:prstGeom>
        </p:spPr>
      </p:pic>
      <p:pic>
        <p:nvPicPr>
          <p:cNvPr id="7" name="20 6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724" y="1967237"/>
            <a:ext cx="539132" cy="457973"/>
          </a:xfrm>
          <a:prstGeom prst="rect">
            <a:avLst/>
          </a:prstGeom>
        </p:spPr>
      </p:pic>
      <p:sp>
        <p:nvSpPr>
          <p:cNvPr id="34" name="文本框 33"/>
          <p:cNvSpPr txBox="1"/>
          <p:nvPr/>
        </p:nvSpPr>
        <p:spPr>
          <a:xfrm>
            <a:off x="304800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sp>
        <p:nvSpPr>
          <p:cNvPr id="36" name="文本框 35"/>
          <p:cNvSpPr txBox="1"/>
          <p:nvPr/>
        </p:nvSpPr>
        <p:spPr>
          <a:xfrm>
            <a:off x="5184980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PC1</a:t>
            </a:r>
            <a:endParaRPr lang="zh-CN" altLang="en-US" b="1" dirty="0"/>
          </a:p>
        </p:txBody>
      </p:sp>
      <p:sp>
        <p:nvSpPr>
          <p:cNvPr id="39" name="文本框 38"/>
          <p:cNvSpPr txBox="1"/>
          <p:nvPr/>
        </p:nvSpPr>
        <p:spPr>
          <a:xfrm>
            <a:off x="5136948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PC5</a:t>
            </a:r>
            <a:endParaRPr lang="zh-CN" altLang="en-US" b="1" dirty="0"/>
          </a:p>
        </p:txBody>
      </p:sp>
      <p:pic>
        <p:nvPicPr>
          <p:cNvPr id="63" name="20 62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189" y="5242879"/>
            <a:ext cx="539132" cy="457973"/>
          </a:xfrm>
          <a:prstGeom prst="rect">
            <a:avLst/>
          </a:prstGeom>
        </p:spPr>
      </p:pic>
      <p:sp>
        <p:nvSpPr>
          <p:cNvPr id="64" name="文本框 63"/>
          <p:cNvSpPr txBox="1"/>
          <p:nvPr/>
        </p:nvSpPr>
        <p:spPr>
          <a:xfrm>
            <a:off x="6204445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PC6</a:t>
            </a:r>
            <a:endParaRPr lang="zh-CN" altLang="en-US" b="1" dirty="0"/>
          </a:p>
        </p:txBody>
      </p:sp>
      <p:pic>
        <p:nvPicPr>
          <p:cNvPr id="65" name="20 64" descr="图标&#10;&#10;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699" y="3667774"/>
            <a:ext cx="646944" cy="332541"/>
          </a:xfrm>
          <a:prstGeom prst="rect">
            <a:avLst/>
          </a:prstGeom>
        </p:spPr>
      </p:pic>
      <p:sp>
        <p:nvSpPr>
          <p:cNvPr id="66" name="文本框 65"/>
          <p:cNvSpPr txBox="1"/>
          <p:nvPr/>
        </p:nvSpPr>
        <p:spPr>
          <a:xfrm>
            <a:off x="9390051" y="3630983"/>
            <a:ext cx="1965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2960-24TT  Switch1</a:t>
            </a:r>
            <a:endParaRPr lang="zh-CN" altLang="en-US" b="1" dirty="0"/>
          </a:p>
        </p:txBody>
      </p:sp>
      <p:pic>
        <p:nvPicPr>
          <p:cNvPr id="68" name="20 67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3369" y="5242879"/>
            <a:ext cx="539132" cy="457973"/>
          </a:xfrm>
          <a:prstGeom prst="rect">
            <a:avLst/>
          </a:prstGeom>
        </p:spPr>
      </p:pic>
      <p:pic>
        <p:nvPicPr>
          <p:cNvPr id="69" name="20 68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189" y="1967237"/>
            <a:ext cx="539132" cy="457973"/>
          </a:xfrm>
          <a:prstGeom prst="rect">
            <a:avLst/>
          </a:prstGeom>
        </p:spPr>
      </p:pic>
      <p:pic>
        <p:nvPicPr>
          <p:cNvPr id="70" name="20 69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3369" y="1967237"/>
            <a:ext cx="539132" cy="457973"/>
          </a:xfrm>
          <a:prstGeom prst="rect">
            <a:avLst/>
          </a:prstGeom>
        </p:spPr>
      </p:pic>
      <p:sp>
        <p:nvSpPr>
          <p:cNvPr id="71" name="文本框 70"/>
          <p:cNvSpPr txBox="1"/>
          <p:nvPr/>
        </p:nvSpPr>
        <p:spPr>
          <a:xfrm>
            <a:off x="6204445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PC2</a:t>
            </a:r>
            <a:endParaRPr lang="zh-CN" altLang="en-US" b="1" dirty="0"/>
          </a:p>
        </p:txBody>
      </p:sp>
      <p:sp>
        <p:nvSpPr>
          <p:cNvPr id="73" name="文本框 72"/>
          <p:cNvSpPr txBox="1"/>
          <p:nvPr/>
        </p:nvSpPr>
        <p:spPr>
          <a:xfrm>
            <a:off x="11084625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PC3</a:t>
            </a:r>
            <a:endParaRPr lang="zh-CN" altLang="en-US" b="1" dirty="0"/>
          </a:p>
        </p:txBody>
      </p:sp>
      <p:sp>
        <p:nvSpPr>
          <p:cNvPr id="76" name="文本框 75"/>
          <p:cNvSpPr txBox="1"/>
          <p:nvPr/>
        </p:nvSpPr>
        <p:spPr>
          <a:xfrm>
            <a:off x="11036593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PC7</a:t>
            </a:r>
            <a:endParaRPr lang="zh-CN" altLang="en-US" b="1" dirty="0"/>
          </a:p>
        </p:txBody>
      </p:sp>
      <p:sp>
        <p:nvSpPr>
          <p:cNvPr id="51" name="等腰三角形 50"/>
          <p:cNvSpPr/>
          <p:nvPr/>
        </p:nvSpPr>
        <p:spPr>
          <a:xfrm>
            <a:off x="2509381" y="3309403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等腰三角形 51"/>
          <p:cNvSpPr/>
          <p:nvPr/>
        </p:nvSpPr>
        <p:spPr>
          <a:xfrm>
            <a:off x="2509381" y="41193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等腰三角形 52"/>
          <p:cNvSpPr/>
          <p:nvPr/>
        </p:nvSpPr>
        <p:spPr>
          <a:xfrm>
            <a:off x="3776559" y="329433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等腰三角形 53"/>
          <p:cNvSpPr/>
          <p:nvPr/>
        </p:nvSpPr>
        <p:spPr>
          <a:xfrm>
            <a:off x="3776558" y="417750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等腰三角形 54"/>
          <p:cNvSpPr/>
          <p:nvPr/>
        </p:nvSpPr>
        <p:spPr>
          <a:xfrm>
            <a:off x="8324469" y="328257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等腰三角形 55"/>
          <p:cNvSpPr/>
          <p:nvPr/>
        </p:nvSpPr>
        <p:spPr>
          <a:xfrm>
            <a:off x="9712901" y="328107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等腰三角形 56"/>
          <p:cNvSpPr/>
          <p:nvPr/>
        </p:nvSpPr>
        <p:spPr>
          <a:xfrm>
            <a:off x="8322853" y="419586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等腰三角形 57"/>
          <p:cNvSpPr/>
          <p:nvPr/>
        </p:nvSpPr>
        <p:spPr>
          <a:xfrm>
            <a:off x="9728117" y="419586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等腰三角形 58"/>
          <p:cNvSpPr/>
          <p:nvPr/>
        </p:nvSpPr>
        <p:spPr>
          <a:xfrm>
            <a:off x="4059017" y="376304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等腰三角形 59"/>
          <p:cNvSpPr/>
          <p:nvPr/>
        </p:nvSpPr>
        <p:spPr>
          <a:xfrm>
            <a:off x="8080650" y="376304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/>
        </p:nvSpPr>
        <p:spPr>
          <a:xfrm>
            <a:off x="8299448" y="301645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Fa0/1</a:t>
            </a:r>
            <a:endParaRPr lang="zh-CN" altLang="en-US" b="1" dirty="0"/>
          </a:p>
        </p:txBody>
      </p:sp>
      <p:sp>
        <p:nvSpPr>
          <p:cNvPr id="48" name="文本框 47"/>
          <p:cNvSpPr txBox="1"/>
          <p:nvPr/>
        </p:nvSpPr>
        <p:spPr>
          <a:xfrm>
            <a:off x="9050192" y="301645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Fa0/2</a:t>
            </a:r>
            <a:endParaRPr lang="zh-CN" altLang="en-US" b="1" dirty="0"/>
          </a:p>
        </p:txBody>
      </p:sp>
      <p:sp>
        <p:nvSpPr>
          <p:cNvPr id="49" name="文本框 48"/>
          <p:cNvSpPr txBox="1"/>
          <p:nvPr/>
        </p:nvSpPr>
        <p:spPr>
          <a:xfrm>
            <a:off x="8299448" y="4172213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Fa0/3</a:t>
            </a:r>
            <a:endParaRPr lang="zh-CN" altLang="en-US" b="1" dirty="0"/>
          </a:p>
        </p:txBody>
      </p:sp>
      <p:sp>
        <p:nvSpPr>
          <p:cNvPr id="50" name="文本框 49"/>
          <p:cNvSpPr txBox="1"/>
          <p:nvPr/>
        </p:nvSpPr>
        <p:spPr>
          <a:xfrm>
            <a:off x="9035504" y="4172213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Fa0/4</a:t>
            </a:r>
            <a:endParaRPr lang="zh-CN" altLang="en-US" b="1" dirty="0"/>
          </a:p>
        </p:txBody>
      </p:sp>
      <p:sp>
        <p:nvSpPr>
          <p:cNvPr id="61" name="文本框 60"/>
          <p:cNvSpPr txBox="1"/>
          <p:nvPr/>
        </p:nvSpPr>
        <p:spPr>
          <a:xfrm>
            <a:off x="2399803" y="301645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Fa0/1</a:t>
            </a:r>
            <a:endParaRPr lang="zh-CN" altLang="en-US" b="1" dirty="0"/>
          </a:p>
        </p:txBody>
      </p:sp>
      <p:sp>
        <p:nvSpPr>
          <p:cNvPr id="62" name="文本框 61"/>
          <p:cNvSpPr txBox="1"/>
          <p:nvPr/>
        </p:nvSpPr>
        <p:spPr>
          <a:xfrm>
            <a:off x="3150547" y="301645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Fa0/2</a:t>
            </a:r>
            <a:endParaRPr lang="zh-CN" altLang="en-US" b="1" dirty="0"/>
          </a:p>
        </p:txBody>
      </p:sp>
      <p:sp>
        <p:nvSpPr>
          <p:cNvPr id="67" name="文本框 66"/>
          <p:cNvSpPr txBox="1"/>
          <p:nvPr/>
        </p:nvSpPr>
        <p:spPr>
          <a:xfrm>
            <a:off x="2399803" y="4172213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Fa0/3</a:t>
            </a:r>
            <a:endParaRPr lang="zh-CN" altLang="en-US" b="1" dirty="0"/>
          </a:p>
        </p:txBody>
      </p:sp>
      <p:sp>
        <p:nvSpPr>
          <p:cNvPr id="72" name="文本框 71"/>
          <p:cNvSpPr txBox="1"/>
          <p:nvPr/>
        </p:nvSpPr>
        <p:spPr>
          <a:xfrm>
            <a:off x="3135859" y="4172213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Fa0/4</a:t>
            </a:r>
            <a:endParaRPr lang="zh-CN" altLang="en-US" b="1" dirty="0"/>
          </a:p>
        </p:txBody>
      </p:sp>
      <p:sp>
        <p:nvSpPr>
          <p:cNvPr id="74" name="文本框 73"/>
          <p:cNvSpPr txBox="1"/>
          <p:nvPr/>
        </p:nvSpPr>
        <p:spPr>
          <a:xfrm>
            <a:off x="3429825" y="351339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Fa0/5</a:t>
            </a:r>
            <a:endParaRPr lang="zh-CN" altLang="en-US" b="1" dirty="0"/>
          </a:p>
        </p:txBody>
      </p:sp>
      <p:sp>
        <p:nvSpPr>
          <p:cNvPr id="75" name="文本框 74"/>
          <p:cNvSpPr txBox="1"/>
          <p:nvPr/>
        </p:nvSpPr>
        <p:spPr>
          <a:xfrm>
            <a:off x="8001195" y="351339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Fa0/5</a:t>
            </a:r>
            <a:endParaRPr lang="zh-CN" altLang="en-US" b="1" dirty="0"/>
          </a:p>
        </p:txBody>
      </p:sp>
      <p:sp>
        <p:nvSpPr>
          <p:cNvPr id="37" name="文本框 36"/>
          <p:cNvSpPr txBox="1"/>
          <p:nvPr/>
        </p:nvSpPr>
        <p:spPr>
          <a:xfrm>
            <a:off x="3174526" y="2786292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41" name="文本框 40"/>
          <p:cNvSpPr txBox="1"/>
          <p:nvPr/>
        </p:nvSpPr>
        <p:spPr>
          <a:xfrm>
            <a:off x="2287891" y="2786292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42" name="文本框 41"/>
          <p:cNvSpPr txBox="1"/>
          <p:nvPr/>
        </p:nvSpPr>
        <p:spPr>
          <a:xfrm>
            <a:off x="3174526" y="4405144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45" name="文本框 44"/>
          <p:cNvSpPr txBox="1"/>
          <p:nvPr/>
        </p:nvSpPr>
        <p:spPr>
          <a:xfrm>
            <a:off x="2287891" y="4405144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77" name="文本框 76"/>
          <p:cNvSpPr txBox="1"/>
          <p:nvPr/>
        </p:nvSpPr>
        <p:spPr>
          <a:xfrm>
            <a:off x="9074171" y="2786292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78" name="文本框 77"/>
          <p:cNvSpPr txBox="1"/>
          <p:nvPr/>
        </p:nvSpPr>
        <p:spPr>
          <a:xfrm>
            <a:off x="8187536" y="2786292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79" name="文本框 78"/>
          <p:cNvSpPr txBox="1"/>
          <p:nvPr/>
        </p:nvSpPr>
        <p:spPr>
          <a:xfrm>
            <a:off x="9074171" y="4405144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80" name="文本框 79"/>
          <p:cNvSpPr txBox="1"/>
          <p:nvPr/>
        </p:nvSpPr>
        <p:spPr>
          <a:xfrm>
            <a:off x="8187536" y="4405144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81" name="文本框 80"/>
          <p:cNvSpPr txBox="1"/>
          <p:nvPr/>
        </p:nvSpPr>
        <p:spPr>
          <a:xfrm>
            <a:off x="4101736" y="3513397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Trunk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7362101" y="3513397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Trunk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146682" y="2550840"/>
            <a:ext cx="96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VLAN10</a:t>
            </a:r>
            <a:endParaRPr lang="zh-CN" altLang="en-US" b="1" dirty="0"/>
          </a:p>
        </p:txBody>
      </p:sp>
      <p:sp>
        <p:nvSpPr>
          <p:cNvPr id="30" name="文本框 29"/>
          <p:cNvSpPr txBox="1"/>
          <p:nvPr/>
        </p:nvSpPr>
        <p:spPr>
          <a:xfrm>
            <a:off x="2260047" y="2550840"/>
            <a:ext cx="96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VLAN10</a:t>
            </a:r>
            <a:endParaRPr lang="zh-CN" altLang="en-US" b="1" dirty="0"/>
          </a:p>
        </p:txBody>
      </p:sp>
      <p:sp>
        <p:nvSpPr>
          <p:cNvPr id="31" name="文本框 30"/>
          <p:cNvSpPr txBox="1"/>
          <p:nvPr/>
        </p:nvSpPr>
        <p:spPr>
          <a:xfrm>
            <a:off x="9033357" y="2550840"/>
            <a:ext cx="1018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VLAN10</a:t>
            </a:r>
            <a:endParaRPr lang="zh-CN" altLang="en-US" b="1" dirty="0"/>
          </a:p>
        </p:txBody>
      </p:sp>
      <p:sp>
        <p:nvSpPr>
          <p:cNvPr id="35" name="文本框 34"/>
          <p:cNvSpPr txBox="1"/>
          <p:nvPr/>
        </p:nvSpPr>
        <p:spPr>
          <a:xfrm>
            <a:off x="8146722" y="2550840"/>
            <a:ext cx="1018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VLAN10</a:t>
            </a:r>
            <a:endParaRPr lang="zh-CN" altLang="en-US" b="1" dirty="0"/>
          </a:p>
        </p:txBody>
      </p:sp>
      <p:sp>
        <p:nvSpPr>
          <p:cNvPr id="83" name="文本框 82"/>
          <p:cNvSpPr txBox="1"/>
          <p:nvPr/>
        </p:nvSpPr>
        <p:spPr>
          <a:xfrm>
            <a:off x="3155071" y="4633996"/>
            <a:ext cx="944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VLAN20</a:t>
            </a:r>
            <a:endParaRPr lang="zh-CN" altLang="en-US" b="1" dirty="0"/>
          </a:p>
        </p:txBody>
      </p:sp>
      <p:sp>
        <p:nvSpPr>
          <p:cNvPr id="84" name="文本框 83"/>
          <p:cNvSpPr txBox="1"/>
          <p:nvPr/>
        </p:nvSpPr>
        <p:spPr>
          <a:xfrm>
            <a:off x="2268436" y="4633996"/>
            <a:ext cx="944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VLAN20</a:t>
            </a:r>
            <a:endParaRPr lang="zh-CN" altLang="en-US" b="1" dirty="0"/>
          </a:p>
        </p:txBody>
      </p:sp>
      <p:sp>
        <p:nvSpPr>
          <p:cNvPr id="85" name="文本框 84"/>
          <p:cNvSpPr txBox="1"/>
          <p:nvPr/>
        </p:nvSpPr>
        <p:spPr>
          <a:xfrm>
            <a:off x="9054716" y="4633996"/>
            <a:ext cx="944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VLAN20</a:t>
            </a:r>
            <a:endParaRPr lang="zh-CN" altLang="en-US" b="1" dirty="0"/>
          </a:p>
        </p:txBody>
      </p:sp>
      <p:sp>
        <p:nvSpPr>
          <p:cNvPr id="86" name="文本框 85"/>
          <p:cNvSpPr txBox="1"/>
          <p:nvPr/>
        </p:nvSpPr>
        <p:spPr>
          <a:xfrm>
            <a:off x="8168081" y="4633996"/>
            <a:ext cx="944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VLAN20</a:t>
            </a:r>
            <a:endParaRPr lang="zh-CN" altLang="en-US" b="1" dirty="0"/>
          </a:p>
        </p:txBody>
      </p:sp>
      <p:sp>
        <p:nvSpPr>
          <p:cNvPr id="87" name="文本框 86"/>
          <p:cNvSpPr txBox="1"/>
          <p:nvPr/>
        </p:nvSpPr>
        <p:spPr>
          <a:xfrm>
            <a:off x="4871764" y="3512803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VLAN1</a:t>
            </a:r>
            <a:endParaRPr lang="zh-CN" altLang="en-US" b="1" dirty="0"/>
          </a:p>
        </p:txBody>
      </p:sp>
      <p:sp>
        <p:nvSpPr>
          <p:cNvPr id="88" name="文本框 87"/>
          <p:cNvSpPr txBox="1"/>
          <p:nvPr/>
        </p:nvSpPr>
        <p:spPr>
          <a:xfrm>
            <a:off x="6573894" y="3518652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VLAN1</a:t>
            </a:r>
            <a:endParaRPr lang="zh-CN" altLang="en-US" b="1" dirty="0"/>
          </a:p>
        </p:txBody>
      </p:sp>
      <p:sp>
        <p:nvSpPr>
          <p:cNvPr id="89" name="标注: 右箭头 88"/>
          <p:cNvSpPr/>
          <p:nvPr/>
        </p:nvSpPr>
        <p:spPr>
          <a:xfrm rot="2048446">
            <a:off x="1276290" y="2914055"/>
            <a:ext cx="886680" cy="308689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83744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广播</a:t>
            </a:r>
            <a:endParaRPr lang="zh-CN" altLang="en-US" b="1" dirty="0"/>
          </a:p>
        </p:txBody>
      </p:sp>
      <p:sp>
        <p:nvSpPr>
          <p:cNvPr id="94" name="标注: 右箭头 93"/>
          <p:cNvSpPr/>
          <p:nvPr/>
        </p:nvSpPr>
        <p:spPr>
          <a:xfrm rot="19321880">
            <a:off x="4138917" y="2890795"/>
            <a:ext cx="886680" cy="308689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83744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广播</a:t>
            </a:r>
            <a:endParaRPr lang="zh-CN" altLang="en-US" b="1" dirty="0"/>
          </a:p>
        </p:txBody>
      </p:sp>
      <p:sp>
        <p:nvSpPr>
          <p:cNvPr id="95" name="标注: 右箭头 94"/>
          <p:cNvSpPr/>
          <p:nvPr/>
        </p:nvSpPr>
        <p:spPr>
          <a:xfrm>
            <a:off x="5722674" y="3463276"/>
            <a:ext cx="886680" cy="308689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83744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广播</a:t>
            </a:r>
            <a:endParaRPr lang="zh-CN" altLang="en-US" b="1" dirty="0"/>
          </a:p>
        </p:txBody>
      </p:sp>
      <p:sp>
        <p:nvSpPr>
          <p:cNvPr id="98" name="标注: 右箭头 97"/>
          <p:cNvSpPr/>
          <p:nvPr/>
        </p:nvSpPr>
        <p:spPr>
          <a:xfrm rot="19274266">
            <a:off x="10113894" y="2828705"/>
            <a:ext cx="886680" cy="308689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83744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广播</a:t>
            </a:r>
            <a:endParaRPr lang="zh-CN" altLang="en-US" b="1" dirty="0"/>
          </a:p>
        </p:txBody>
      </p:sp>
      <p:sp>
        <p:nvSpPr>
          <p:cNvPr id="100" name="标注: 左箭头 99"/>
          <p:cNvSpPr/>
          <p:nvPr/>
        </p:nvSpPr>
        <p:spPr>
          <a:xfrm rot="2052907">
            <a:off x="7094391" y="2871023"/>
            <a:ext cx="838846" cy="289043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83972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广播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 animBg="1"/>
      <p:bldP spid="94" grpId="0" animBg="1"/>
      <p:bldP spid="95" grpId="0" animBg="1"/>
      <p:bldP spid="98" grpId="0" animBg="1"/>
      <p:bldP spid="100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380336" y="707064"/>
            <a:ext cx="9353636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12. </a:t>
            </a:r>
            <a:r>
              <a:rPr lang="zh-CN" altLang="en-US" sz="2400" b="1" dirty="0"/>
              <a:t>验证划分</a:t>
            </a:r>
            <a:r>
              <a:rPr lang="en-US" altLang="zh-CN" sz="2400" b="1" dirty="0"/>
              <a:t>VLAN</a:t>
            </a:r>
            <a:r>
              <a:rPr lang="zh-CN" altLang="en-US" sz="2400" b="1" dirty="0"/>
              <a:t>可将庞大的广播域分隔成若干个独立的广播域</a:t>
            </a:r>
            <a:endParaRPr lang="en-US" altLang="zh-CN" sz="2400" b="1" dirty="0"/>
          </a:p>
        </p:txBody>
      </p:sp>
      <p:grpSp>
        <p:nvGrpSpPr>
          <p:cNvPr id="105" name="组合 104"/>
          <p:cNvGrpSpPr/>
          <p:nvPr/>
        </p:nvGrpSpPr>
        <p:grpSpPr>
          <a:xfrm>
            <a:off x="304800" y="4098138"/>
            <a:ext cx="11596445" cy="1708301"/>
            <a:chOff x="304800" y="4098138"/>
            <a:chExt cx="11596445" cy="1708301"/>
          </a:xfrm>
        </p:grpSpPr>
        <p:sp>
          <p:nvSpPr>
            <p:cNvPr id="96" name="矩形 95"/>
            <p:cNvSpPr/>
            <p:nvPr/>
          </p:nvSpPr>
          <p:spPr>
            <a:xfrm>
              <a:off x="304800" y="4101084"/>
              <a:ext cx="11596445" cy="1705355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" name="文本框 103"/>
            <p:cNvSpPr txBox="1"/>
            <p:nvPr/>
          </p:nvSpPr>
          <p:spPr>
            <a:xfrm>
              <a:off x="5343668" y="4098138"/>
              <a:ext cx="150466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/>
                <a:t>VLAN20</a:t>
              </a:r>
              <a:endParaRPr lang="zh-CN" altLang="en-US" sz="2800" b="1" dirty="0"/>
            </a:p>
          </p:txBody>
        </p:sp>
      </p:grpSp>
      <p:grpSp>
        <p:nvGrpSpPr>
          <p:cNvPr id="106" name="组合 105"/>
          <p:cNvGrpSpPr/>
          <p:nvPr/>
        </p:nvGrpSpPr>
        <p:grpSpPr>
          <a:xfrm>
            <a:off x="304799" y="1744064"/>
            <a:ext cx="11596445" cy="1706612"/>
            <a:chOff x="304799" y="1744064"/>
            <a:chExt cx="11596445" cy="1706612"/>
          </a:xfrm>
        </p:grpSpPr>
        <p:sp>
          <p:nvSpPr>
            <p:cNvPr id="99" name="矩形 98"/>
            <p:cNvSpPr/>
            <p:nvPr/>
          </p:nvSpPr>
          <p:spPr>
            <a:xfrm>
              <a:off x="304799" y="1744064"/>
              <a:ext cx="11596445" cy="1705355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3" name="文本框 102"/>
            <p:cNvSpPr txBox="1"/>
            <p:nvPr/>
          </p:nvSpPr>
          <p:spPr>
            <a:xfrm>
              <a:off x="5343668" y="2927456"/>
              <a:ext cx="150466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/>
                <a:t>VLAN10</a:t>
              </a:r>
              <a:endParaRPr lang="zh-CN" altLang="en-US" sz="2800" b="1" dirty="0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985104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192.168.0.5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1012771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192.168.0.1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4" name="文本框 13"/>
          <p:cNvSpPr txBox="1"/>
          <p:nvPr/>
        </p:nvSpPr>
        <p:spPr>
          <a:xfrm>
            <a:off x="3670211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192.168.0.2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8" name="文本框 17"/>
          <p:cNvSpPr txBox="1"/>
          <p:nvPr/>
        </p:nvSpPr>
        <p:spPr>
          <a:xfrm>
            <a:off x="4014643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192.168.0.6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19" name="文本框 18"/>
          <p:cNvSpPr txBox="1"/>
          <p:nvPr/>
        </p:nvSpPr>
        <p:spPr>
          <a:xfrm>
            <a:off x="6884749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192.168.0.7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22" name="文本框 21"/>
          <p:cNvSpPr txBox="1"/>
          <p:nvPr/>
        </p:nvSpPr>
        <p:spPr>
          <a:xfrm>
            <a:off x="6912416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192.168.0.3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23" name="文本框 22"/>
          <p:cNvSpPr txBox="1"/>
          <p:nvPr/>
        </p:nvSpPr>
        <p:spPr>
          <a:xfrm>
            <a:off x="9569856" y="1852938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192.168.0.4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sp>
        <p:nvSpPr>
          <p:cNvPr id="26" name="文本框 25"/>
          <p:cNvSpPr txBox="1"/>
          <p:nvPr/>
        </p:nvSpPr>
        <p:spPr>
          <a:xfrm>
            <a:off x="9914288" y="5143981"/>
            <a:ext cx="144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192.168.0.8</a:t>
            </a:r>
            <a:endParaRPr lang="en-US" altLang="zh-CN" b="1" dirty="0"/>
          </a:p>
          <a:p>
            <a:r>
              <a:rPr lang="en-US" altLang="zh-CN" b="1" dirty="0"/>
              <a:t>255.255.255.0</a:t>
            </a:r>
            <a:endParaRPr lang="zh-CN" altLang="en-US" b="1" dirty="0"/>
          </a:p>
        </p:txBody>
      </p:sp>
      <p:cxnSp>
        <p:nvCxnSpPr>
          <p:cNvPr id="8" name="直接连接符 7"/>
          <p:cNvCxnSpPr/>
          <p:nvPr/>
        </p:nvCxnSpPr>
        <p:spPr>
          <a:xfrm>
            <a:off x="713110" y="2162267"/>
            <a:ext cx="2341759" cy="15474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等腰三角形 9"/>
          <p:cNvSpPr/>
          <p:nvPr/>
        </p:nvSpPr>
        <p:spPr>
          <a:xfrm>
            <a:off x="1190792" y="246301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 flipV="1">
            <a:off x="713110" y="3902316"/>
            <a:ext cx="2283201" cy="15150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等腰三角形 16"/>
          <p:cNvSpPr/>
          <p:nvPr/>
        </p:nvSpPr>
        <p:spPr>
          <a:xfrm>
            <a:off x="1190792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连接符 19"/>
          <p:cNvCxnSpPr/>
          <p:nvPr/>
        </p:nvCxnSpPr>
        <p:spPr>
          <a:xfrm flipV="1">
            <a:off x="3370466" y="2108892"/>
            <a:ext cx="2109833" cy="160085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等腰三角形 20"/>
          <p:cNvSpPr/>
          <p:nvPr/>
        </p:nvSpPr>
        <p:spPr>
          <a:xfrm>
            <a:off x="4942426" y="24111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连接符 23"/>
          <p:cNvCxnSpPr/>
          <p:nvPr/>
        </p:nvCxnSpPr>
        <p:spPr>
          <a:xfrm>
            <a:off x="3300727" y="3859446"/>
            <a:ext cx="2292563" cy="161241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等腰三角形 24"/>
          <p:cNvSpPr/>
          <p:nvPr/>
        </p:nvSpPr>
        <p:spPr>
          <a:xfrm>
            <a:off x="4942426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" name="直接连接符 27"/>
          <p:cNvCxnSpPr/>
          <p:nvPr/>
        </p:nvCxnSpPr>
        <p:spPr>
          <a:xfrm>
            <a:off x="6612755" y="2162267"/>
            <a:ext cx="2341759" cy="15474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等腰三角形 28"/>
          <p:cNvSpPr/>
          <p:nvPr/>
        </p:nvSpPr>
        <p:spPr>
          <a:xfrm>
            <a:off x="7090437" y="246301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" name="直接连接符 31"/>
          <p:cNvCxnSpPr/>
          <p:nvPr/>
        </p:nvCxnSpPr>
        <p:spPr>
          <a:xfrm flipV="1">
            <a:off x="6612755" y="3902316"/>
            <a:ext cx="2283201" cy="15150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等腰三角形 32"/>
          <p:cNvSpPr/>
          <p:nvPr/>
        </p:nvSpPr>
        <p:spPr>
          <a:xfrm>
            <a:off x="7090437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8" name="直接连接符 37"/>
          <p:cNvCxnSpPr/>
          <p:nvPr/>
        </p:nvCxnSpPr>
        <p:spPr>
          <a:xfrm flipV="1">
            <a:off x="9270111" y="2108892"/>
            <a:ext cx="2109833" cy="160085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等腰三角形 39"/>
          <p:cNvSpPr/>
          <p:nvPr/>
        </p:nvSpPr>
        <p:spPr>
          <a:xfrm>
            <a:off x="10842071" y="24111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3" name="直接连接符 42"/>
          <p:cNvCxnSpPr/>
          <p:nvPr/>
        </p:nvCxnSpPr>
        <p:spPr>
          <a:xfrm>
            <a:off x="9200372" y="3859446"/>
            <a:ext cx="2292563" cy="161241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等腰三角形 43"/>
          <p:cNvSpPr/>
          <p:nvPr/>
        </p:nvSpPr>
        <p:spPr>
          <a:xfrm>
            <a:off x="10842071" y="499303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" name="直接连接符 46"/>
          <p:cNvCxnSpPr/>
          <p:nvPr/>
        </p:nvCxnSpPr>
        <p:spPr>
          <a:xfrm>
            <a:off x="3497998" y="3826236"/>
            <a:ext cx="5333835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9" name="20 8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544" y="5242879"/>
            <a:ext cx="539132" cy="457973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04800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PC4</a:t>
            </a:r>
            <a:endParaRPr lang="zh-CN" altLang="en-US" b="1" dirty="0"/>
          </a:p>
        </p:txBody>
      </p:sp>
      <p:pic>
        <p:nvPicPr>
          <p:cNvPr id="12" name="20 11" descr="图标&#10;&#10;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1054" y="3667774"/>
            <a:ext cx="646944" cy="332541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799091" y="3630983"/>
            <a:ext cx="1965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2960-24TT  Switch0</a:t>
            </a:r>
            <a:endParaRPr lang="zh-CN" altLang="en-US" b="1" dirty="0"/>
          </a:p>
        </p:txBody>
      </p:sp>
      <p:pic>
        <p:nvPicPr>
          <p:cNvPr id="5" name="20 4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724" y="5242879"/>
            <a:ext cx="539132" cy="457973"/>
          </a:xfrm>
          <a:prstGeom prst="rect">
            <a:avLst/>
          </a:prstGeom>
        </p:spPr>
      </p:pic>
      <p:pic>
        <p:nvPicPr>
          <p:cNvPr id="6" name="20 5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544" y="1967237"/>
            <a:ext cx="539132" cy="457973"/>
          </a:xfrm>
          <a:prstGeom prst="rect">
            <a:avLst/>
          </a:prstGeom>
        </p:spPr>
      </p:pic>
      <p:pic>
        <p:nvPicPr>
          <p:cNvPr id="7" name="20 6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724" y="1967237"/>
            <a:ext cx="539132" cy="457973"/>
          </a:xfrm>
          <a:prstGeom prst="rect">
            <a:avLst/>
          </a:prstGeom>
        </p:spPr>
      </p:pic>
      <p:sp>
        <p:nvSpPr>
          <p:cNvPr id="34" name="文本框 33"/>
          <p:cNvSpPr txBox="1"/>
          <p:nvPr/>
        </p:nvSpPr>
        <p:spPr>
          <a:xfrm>
            <a:off x="304800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sp>
        <p:nvSpPr>
          <p:cNvPr id="36" name="文本框 35"/>
          <p:cNvSpPr txBox="1"/>
          <p:nvPr/>
        </p:nvSpPr>
        <p:spPr>
          <a:xfrm>
            <a:off x="5184980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PC1</a:t>
            </a:r>
            <a:endParaRPr lang="zh-CN" altLang="en-US" b="1" dirty="0"/>
          </a:p>
        </p:txBody>
      </p:sp>
      <p:sp>
        <p:nvSpPr>
          <p:cNvPr id="39" name="文本框 38"/>
          <p:cNvSpPr txBox="1"/>
          <p:nvPr/>
        </p:nvSpPr>
        <p:spPr>
          <a:xfrm>
            <a:off x="5136948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PC5</a:t>
            </a:r>
            <a:endParaRPr lang="zh-CN" altLang="en-US" b="1" dirty="0"/>
          </a:p>
        </p:txBody>
      </p:sp>
      <p:pic>
        <p:nvPicPr>
          <p:cNvPr id="63" name="20 62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189" y="5242879"/>
            <a:ext cx="539132" cy="457973"/>
          </a:xfrm>
          <a:prstGeom prst="rect">
            <a:avLst/>
          </a:prstGeom>
        </p:spPr>
      </p:pic>
      <p:sp>
        <p:nvSpPr>
          <p:cNvPr id="64" name="文本框 63"/>
          <p:cNvSpPr txBox="1"/>
          <p:nvPr/>
        </p:nvSpPr>
        <p:spPr>
          <a:xfrm>
            <a:off x="6204445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PC6</a:t>
            </a:r>
            <a:endParaRPr lang="zh-CN" altLang="en-US" b="1" dirty="0"/>
          </a:p>
        </p:txBody>
      </p:sp>
      <p:pic>
        <p:nvPicPr>
          <p:cNvPr id="65" name="20 64" descr="图标&#10;&#10;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699" y="3667774"/>
            <a:ext cx="646944" cy="332541"/>
          </a:xfrm>
          <a:prstGeom prst="rect">
            <a:avLst/>
          </a:prstGeom>
        </p:spPr>
      </p:pic>
      <p:sp>
        <p:nvSpPr>
          <p:cNvPr id="66" name="文本框 65"/>
          <p:cNvSpPr txBox="1"/>
          <p:nvPr/>
        </p:nvSpPr>
        <p:spPr>
          <a:xfrm>
            <a:off x="9390051" y="3630983"/>
            <a:ext cx="1965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2960-24TT  Switch1</a:t>
            </a:r>
            <a:endParaRPr lang="zh-CN" altLang="en-US" b="1" dirty="0"/>
          </a:p>
        </p:txBody>
      </p:sp>
      <p:pic>
        <p:nvPicPr>
          <p:cNvPr id="68" name="20 67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3369" y="5242879"/>
            <a:ext cx="539132" cy="457973"/>
          </a:xfrm>
          <a:prstGeom prst="rect">
            <a:avLst/>
          </a:prstGeom>
        </p:spPr>
      </p:pic>
      <p:pic>
        <p:nvPicPr>
          <p:cNvPr id="69" name="20 68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189" y="1967237"/>
            <a:ext cx="539132" cy="457973"/>
          </a:xfrm>
          <a:prstGeom prst="rect">
            <a:avLst/>
          </a:prstGeom>
        </p:spPr>
      </p:pic>
      <p:pic>
        <p:nvPicPr>
          <p:cNvPr id="70" name="20 69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3369" y="1967237"/>
            <a:ext cx="539132" cy="457973"/>
          </a:xfrm>
          <a:prstGeom prst="rect">
            <a:avLst/>
          </a:prstGeom>
        </p:spPr>
      </p:pic>
      <p:sp>
        <p:nvSpPr>
          <p:cNvPr id="71" name="文本框 70"/>
          <p:cNvSpPr txBox="1"/>
          <p:nvPr/>
        </p:nvSpPr>
        <p:spPr>
          <a:xfrm>
            <a:off x="6204445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PC2</a:t>
            </a:r>
            <a:endParaRPr lang="zh-CN" altLang="en-US" b="1" dirty="0"/>
          </a:p>
        </p:txBody>
      </p:sp>
      <p:sp>
        <p:nvSpPr>
          <p:cNvPr id="73" name="文本框 72"/>
          <p:cNvSpPr txBox="1"/>
          <p:nvPr/>
        </p:nvSpPr>
        <p:spPr>
          <a:xfrm>
            <a:off x="11084625" y="240531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PC3</a:t>
            </a:r>
            <a:endParaRPr lang="zh-CN" altLang="en-US" b="1" dirty="0"/>
          </a:p>
        </p:txBody>
      </p:sp>
      <p:sp>
        <p:nvSpPr>
          <p:cNvPr id="76" name="文本框 75"/>
          <p:cNvSpPr txBox="1"/>
          <p:nvPr/>
        </p:nvSpPr>
        <p:spPr>
          <a:xfrm>
            <a:off x="11036593" y="4621954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PC7</a:t>
            </a:r>
            <a:endParaRPr lang="zh-CN" altLang="en-US" b="1" dirty="0"/>
          </a:p>
        </p:txBody>
      </p:sp>
      <p:sp>
        <p:nvSpPr>
          <p:cNvPr id="51" name="等腰三角形 50"/>
          <p:cNvSpPr/>
          <p:nvPr/>
        </p:nvSpPr>
        <p:spPr>
          <a:xfrm>
            <a:off x="2509381" y="3309403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等腰三角形 51"/>
          <p:cNvSpPr/>
          <p:nvPr/>
        </p:nvSpPr>
        <p:spPr>
          <a:xfrm>
            <a:off x="2509381" y="41193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等腰三角形 52"/>
          <p:cNvSpPr/>
          <p:nvPr/>
        </p:nvSpPr>
        <p:spPr>
          <a:xfrm>
            <a:off x="3776559" y="329433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等腰三角形 53"/>
          <p:cNvSpPr/>
          <p:nvPr/>
        </p:nvSpPr>
        <p:spPr>
          <a:xfrm>
            <a:off x="3776558" y="417750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等腰三角形 54"/>
          <p:cNvSpPr/>
          <p:nvPr/>
        </p:nvSpPr>
        <p:spPr>
          <a:xfrm>
            <a:off x="8324469" y="328257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等腰三角形 55"/>
          <p:cNvSpPr/>
          <p:nvPr/>
        </p:nvSpPr>
        <p:spPr>
          <a:xfrm>
            <a:off x="9712901" y="328107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等腰三角形 56"/>
          <p:cNvSpPr/>
          <p:nvPr/>
        </p:nvSpPr>
        <p:spPr>
          <a:xfrm>
            <a:off x="8322853" y="419586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等腰三角形 57"/>
          <p:cNvSpPr/>
          <p:nvPr/>
        </p:nvSpPr>
        <p:spPr>
          <a:xfrm>
            <a:off x="9728117" y="419586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等腰三角形 58"/>
          <p:cNvSpPr/>
          <p:nvPr/>
        </p:nvSpPr>
        <p:spPr>
          <a:xfrm>
            <a:off x="4059017" y="376304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等腰三角形 59"/>
          <p:cNvSpPr/>
          <p:nvPr/>
        </p:nvSpPr>
        <p:spPr>
          <a:xfrm>
            <a:off x="8080650" y="376304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/>
        </p:nvSpPr>
        <p:spPr>
          <a:xfrm>
            <a:off x="8299448" y="301645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Fa0/1</a:t>
            </a:r>
            <a:endParaRPr lang="zh-CN" altLang="en-US" b="1" dirty="0"/>
          </a:p>
        </p:txBody>
      </p:sp>
      <p:sp>
        <p:nvSpPr>
          <p:cNvPr id="48" name="文本框 47"/>
          <p:cNvSpPr txBox="1"/>
          <p:nvPr/>
        </p:nvSpPr>
        <p:spPr>
          <a:xfrm>
            <a:off x="9050192" y="301645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Fa0/2</a:t>
            </a:r>
            <a:endParaRPr lang="zh-CN" altLang="en-US" b="1" dirty="0"/>
          </a:p>
        </p:txBody>
      </p:sp>
      <p:sp>
        <p:nvSpPr>
          <p:cNvPr id="49" name="文本框 48"/>
          <p:cNvSpPr txBox="1"/>
          <p:nvPr/>
        </p:nvSpPr>
        <p:spPr>
          <a:xfrm>
            <a:off x="8299448" y="4172213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Fa0/3</a:t>
            </a:r>
            <a:endParaRPr lang="zh-CN" altLang="en-US" b="1" dirty="0"/>
          </a:p>
        </p:txBody>
      </p:sp>
      <p:sp>
        <p:nvSpPr>
          <p:cNvPr id="50" name="文本框 49"/>
          <p:cNvSpPr txBox="1"/>
          <p:nvPr/>
        </p:nvSpPr>
        <p:spPr>
          <a:xfrm>
            <a:off x="9035504" y="4172213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Fa0/4</a:t>
            </a:r>
            <a:endParaRPr lang="zh-CN" altLang="en-US" b="1" dirty="0"/>
          </a:p>
        </p:txBody>
      </p:sp>
      <p:sp>
        <p:nvSpPr>
          <p:cNvPr id="61" name="文本框 60"/>
          <p:cNvSpPr txBox="1"/>
          <p:nvPr/>
        </p:nvSpPr>
        <p:spPr>
          <a:xfrm>
            <a:off x="2399803" y="301645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Fa0/1</a:t>
            </a:r>
            <a:endParaRPr lang="zh-CN" altLang="en-US" b="1" dirty="0"/>
          </a:p>
        </p:txBody>
      </p:sp>
      <p:sp>
        <p:nvSpPr>
          <p:cNvPr id="62" name="文本框 61"/>
          <p:cNvSpPr txBox="1"/>
          <p:nvPr/>
        </p:nvSpPr>
        <p:spPr>
          <a:xfrm>
            <a:off x="3150547" y="301645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Fa0/2</a:t>
            </a:r>
            <a:endParaRPr lang="zh-CN" altLang="en-US" b="1" dirty="0"/>
          </a:p>
        </p:txBody>
      </p:sp>
      <p:sp>
        <p:nvSpPr>
          <p:cNvPr id="67" name="文本框 66"/>
          <p:cNvSpPr txBox="1"/>
          <p:nvPr/>
        </p:nvSpPr>
        <p:spPr>
          <a:xfrm>
            <a:off x="2399803" y="4172213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Fa0/3</a:t>
            </a:r>
            <a:endParaRPr lang="zh-CN" altLang="en-US" b="1" dirty="0"/>
          </a:p>
        </p:txBody>
      </p:sp>
      <p:sp>
        <p:nvSpPr>
          <p:cNvPr id="72" name="文本框 71"/>
          <p:cNvSpPr txBox="1"/>
          <p:nvPr/>
        </p:nvSpPr>
        <p:spPr>
          <a:xfrm>
            <a:off x="3135859" y="4172213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Fa0/4</a:t>
            </a:r>
            <a:endParaRPr lang="zh-CN" altLang="en-US" b="1" dirty="0"/>
          </a:p>
        </p:txBody>
      </p:sp>
      <p:sp>
        <p:nvSpPr>
          <p:cNvPr id="74" name="文本框 73"/>
          <p:cNvSpPr txBox="1"/>
          <p:nvPr/>
        </p:nvSpPr>
        <p:spPr>
          <a:xfrm>
            <a:off x="3429825" y="351339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Fa0/5</a:t>
            </a:r>
            <a:endParaRPr lang="zh-CN" altLang="en-US" b="1" dirty="0"/>
          </a:p>
        </p:txBody>
      </p:sp>
      <p:sp>
        <p:nvSpPr>
          <p:cNvPr id="75" name="文本框 74"/>
          <p:cNvSpPr txBox="1"/>
          <p:nvPr/>
        </p:nvSpPr>
        <p:spPr>
          <a:xfrm>
            <a:off x="8001195" y="3513397"/>
            <a:ext cx="8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Fa0/5</a:t>
            </a:r>
            <a:endParaRPr lang="zh-CN" altLang="en-US" b="1" dirty="0"/>
          </a:p>
        </p:txBody>
      </p:sp>
      <p:sp>
        <p:nvSpPr>
          <p:cNvPr id="37" name="文本框 36"/>
          <p:cNvSpPr txBox="1"/>
          <p:nvPr/>
        </p:nvSpPr>
        <p:spPr>
          <a:xfrm>
            <a:off x="3174526" y="2786292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41" name="文本框 40"/>
          <p:cNvSpPr txBox="1"/>
          <p:nvPr/>
        </p:nvSpPr>
        <p:spPr>
          <a:xfrm>
            <a:off x="2287891" y="2786292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42" name="文本框 41"/>
          <p:cNvSpPr txBox="1"/>
          <p:nvPr/>
        </p:nvSpPr>
        <p:spPr>
          <a:xfrm>
            <a:off x="3174526" y="4405144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45" name="文本框 44"/>
          <p:cNvSpPr txBox="1"/>
          <p:nvPr/>
        </p:nvSpPr>
        <p:spPr>
          <a:xfrm>
            <a:off x="2287891" y="4405144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77" name="文本框 76"/>
          <p:cNvSpPr txBox="1"/>
          <p:nvPr/>
        </p:nvSpPr>
        <p:spPr>
          <a:xfrm>
            <a:off x="9074171" y="2786292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78" name="文本框 77"/>
          <p:cNvSpPr txBox="1"/>
          <p:nvPr/>
        </p:nvSpPr>
        <p:spPr>
          <a:xfrm>
            <a:off x="8187536" y="2786292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79" name="文本框 78"/>
          <p:cNvSpPr txBox="1"/>
          <p:nvPr/>
        </p:nvSpPr>
        <p:spPr>
          <a:xfrm>
            <a:off x="9074171" y="4405144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80" name="文本框 79"/>
          <p:cNvSpPr txBox="1"/>
          <p:nvPr/>
        </p:nvSpPr>
        <p:spPr>
          <a:xfrm>
            <a:off x="8187536" y="4405144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Access</a:t>
            </a:r>
            <a:endParaRPr lang="zh-CN" altLang="en-US" b="1" dirty="0"/>
          </a:p>
        </p:txBody>
      </p:sp>
      <p:sp>
        <p:nvSpPr>
          <p:cNvPr id="81" name="文本框 80"/>
          <p:cNvSpPr txBox="1"/>
          <p:nvPr/>
        </p:nvSpPr>
        <p:spPr>
          <a:xfrm>
            <a:off x="4101736" y="3513397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Trunk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7362101" y="3513397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Trunk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146682" y="2550840"/>
            <a:ext cx="96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VLAN10</a:t>
            </a:r>
            <a:endParaRPr lang="zh-CN" altLang="en-US" b="1" dirty="0"/>
          </a:p>
        </p:txBody>
      </p:sp>
      <p:sp>
        <p:nvSpPr>
          <p:cNvPr id="30" name="文本框 29"/>
          <p:cNvSpPr txBox="1"/>
          <p:nvPr/>
        </p:nvSpPr>
        <p:spPr>
          <a:xfrm>
            <a:off x="2260047" y="2550840"/>
            <a:ext cx="96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VLAN10</a:t>
            </a:r>
            <a:endParaRPr lang="zh-CN" altLang="en-US" b="1" dirty="0"/>
          </a:p>
        </p:txBody>
      </p:sp>
      <p:sp>
        <p:nvSpPr>
          <p:cNvPr id="31" name="文本框 30"/>
          <p:cNvSpPr txBox="1"/>
          <p:nvPr/>
        </p:nvSpPr>
        <p:spPr>
          <a:xfrm>
            <a:off x="9033357" y="2550840"/>
            <a:ext cx="1018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VLAN10</a:t>
            </a:r>
            <a:endParaRPr lang="zh-CN" altLang="en-US" b="1" dirty="0"/>
          </a:p>
        </p:txBody>
      </p:sp>
      <p:sp>
        <p:nvSpPr>
          <p:cNvPr id="35" name="文本框 34"/>
          <p:cNvSpPr txBox="1"/>
          <p:nvPr/>
        </p:nvSpPr>
        <p:spPr>
          <a:xfrm>
            <a:off x="8146722" y="2550840"/>
            <a:ext cx="1018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VLAN10</a:t>
            </a:r>
            <a:endParaRPr lang="zh-CN" altLang="en-US" b="1" dirty="0"/>
          </a:p>
        </p:txBody>
      </p:sp>
      <p:sp>
        <p:nvSpPr>
          <p:cNvPr id="83" name="文本框 82"/>
          <p:cNvSpPr txBox="1"/>
          <p:nvPr/>
        </p:nvSpPr>
        <p:spPr>
          <a:xfrm>
            <a:off x="3155071" y="4633996"/>
            <a:ext cx="944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VLAN20</a:t>
            </a:r>
            <a:endParaRPr lang="zh-CN" altLang="en-US" b="1" dirty="0"/>
          </a:p>
        </p:txBody>
      </p:sp>
      <p:sp>
        <p:nvSpPr>
          <p:cNvPr id="84" name="文本框 83"/>
          <p:cNvSpPr txBox="1"/>
          <p:nvPr/>
        </p:nvSpPr>
        <p:spPr>
          <a:xfrm>
            <a:off x="2268436" y="4633996"/>
            <a:ext cx="944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VLAN20</a:t>
            </a:r>
            <a:endParaRPr lang="zh-CN" altLang="en-US" b="1" dirty="0"/>
          </a:p>
        </p:txBody>
      </p:sp>
      <p:sp>
        <p:nvSpPr>
          <p:cNvPr id="85" name="文本框 84"/>
          <p:cNvSpPr txBox="1"/>
          <p:nvPr/>
        </p:nvSpPr>
        <p:spPr>
          <a:xfrm>
            <a:off x="9054716" y="4633996"/>
            <a:ext cx="944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VLAN20</a:t>
            </a:r>
            <a:endParaRPr lang="zh-CN" altLang="en-US" b="1" dirty="0"/>
          </a:p>
        </p:txBody>
      </p:sp>
      <p:sp>
        <p:nvSpPr>
          <p:cNvPr id="86" name="文本框 85"/>
          <p:cNvSpPr txBox="1"/>
          <p:nvPr/>
        </p:nvSpPr>
        <p:spPr>
          <a:xfrm>
            <a:off x="8168081" y="4633996"/>
            <a:ext cx="944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VLAN20</a:t>
            </a:r>
            <a:endParaRPr lang="zh-CN" altLang="en-US" b="1" dirty="0"/>
          </a:p>
        </p:txBody>
      </p:sp>
      <p:sp>
        <p:nvSpPr>
          <p:cNvPr id="87" name="文本框 86"/>
          <p:cNvSpPr txBox="1"/>
          <p:nvPr/>
        </p:nvSpPr>
        <p:spPr>
          <a:xfrm>
            <a:off x="4871764" y="3512803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VLAN1</a:t>
            </a:r>
            <a:endParaRPr lang="zh-CN" altLang="en-US" b="1" dirty="0"/>
          </a:p>
        </p:txBody>
      </p:sp>
      <p:sp>
        <p:nvSpPr>
          <p:cNvPr id="88" name="文本框 87"/>
          <p:cNvSpPr txBox="1"/>
          <p:nvPr/>
        </p:nvSpPr>
        <p:spPr>
          <a:xfrm>
            <a:off x="6573894" y="3518652"/>
            <a:ext cx="87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VLAN1</a:t>
            </a:r>
            <a:endParaRPr lang="zh-CN" altLang="en-US" b="1" dirty="0"/>
          </a:p>
        </p:txBody>
      </p:sp>
      <p:sp>
        <p:nvSpPr>
          <p:cNvPr id="89" name="标注: 右箭头 88"/>
          <p:cNvSpPr/>
          <p:nvPr/>
        </p:nvSpPr>
        <p:spPr>
          <a:xfrm rot="19615898">
            <a:off x="1272396" y="4354560"/>
            <a:ext cx="886680" cy="308689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83744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广播</a:t>
            </a:r>
            <a:endParaRPr lang="zh-CN" altLang="en-US" b="1" dirty="0"/>
          </a:p>
        </p:txBody>
      </p:sp>
      <p:sp>
        <p:nvSpPr>
          <p:cNvPr id="94" name="标注: 右箭头 93"/>
          <p:cNvSpPr/>
          <p:nvPr/>
        </p:nvSpPr>
        <p:spPr>
          <a:xfrm rot="2074518">
            <a:off x="4205280" y="4402457"/>
            <a:ext cx="886680" cy="308689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83744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广播</a:t>
            </a:r>
            <a:endParaRPr lang="zh-CN" altLang="en-US" b="1" dirty="0"/>
          </a:p>
        </p:txBody>
      </p:sp>
      <p:sp>
        <p:nvSpPr>
          <p:cNvPr id="95" name="标注: 右箭头 94"/>
          <p:cNvSpPr/>
          <p:nvPr/>
        </p:nvSpPr>
        <p:spPr>
          <a:xfrm>
            <a:off x="5722674" y="3489215"/>
            <a:ext cx="886680" cy="308689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83744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广播</a:t>
            </a:r>
            <a:endParaRPr lang="zh-CN" altLang="en-US" b="1" dirty="0"/>
          </a:p>
        </p:txBody>
      </p:sp>
      <p:sp>
        <p:nvSpPr>
          <p:cNvPr id="98" name="标注: 右箭头 97"/>
          <p:cNvSpPr/>
          <p:nvPr/>
        </p:nvSpPr>
        <p:spPr>
          <a:xfrm rot="2190618">
            <a:off x="10125499" y="4425470"/>
            <a:ext cx="886680" cy="308689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83744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广播</a:t>
            </a:r>
            <a:endParaRPr lang="zh-CN" altLang="en-US" b="1" dirty="0"/>
          </a:p>
        </p:txBody>
      </p:sp>
      <p:sp>
        <p:nvSpPr>
          <p:cNvPr id="100" name="标注: 左箭头 99"/>
          <p:cNvSpPr/>
          <p:nvPr/>
        </p:nvSpPr>
        <p:spPr>
          <a:xfrm rot="19655947">
            <a:off x="7134632" y="4380073"/>
            <a:ext cx="838846" cy="322871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83972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广播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 animBg="1"/>
      <p:bldP spid="94" grpId="0" animBg="1"/>
      <p:bldP spid="95" grpId="0" animBg="1"/>
      <p:bldP spid="98" grpId="0" animBg="1"/>
      <p:bldP spid="100" grpId="0" animBg="1"/>
    </p:bldLst>
  </p:timing>
</p:sld>
</file>

<file path=ppt/tags/tag1.xml><?xml version="1.0" encoding="utf-8"?>
<p:tagLst xmlns:p="http://schemas.openxmlformats.org/presentationml/2006/main">
  <p:tag name="ISLIDE.GUIDESSETTING" val="{&quot;Id&quot;:&quot;GuidesStyle_Narrow&quot;,&quot;Name&quot;:&quot;GuidesStyle_Narrow&quot;,&quot;Kind&quot;:&quot;System&quot;,&quot;OldGuidesSetting&quot;:{&quot;HeaderHeight&quot;:10.0,&quot;FooterHeight&quot;:5.0,&quot;SideMargin&quot;:2.5,&quot;TopMargin&quot;:0.0,&quot;BottomMargin&quot;:0.0,&quot;IntervalMargin&quot;:1.0}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F84D4D"/>
      </a:accent1>
      <a:accent2>
        <a:srgbClr val="FF6B42"/>
      </a:accent2>
      <a:accent3>
        <a:srgbClr val="5BA3EB"/>
      </a:accent3>
      <a:accent4>
        <a:srgbClr val="06BB9A"/>
      </a:accent4>
      <a:accent5>
        <a:srgbClr val="8E7EF0"/>
      </a:accent5>
      <a:accent6>
        <a:srgbClr val="F4B919"/>
      </a:accent6>
      <a:hlink>
        <a:srgbClr val="4472C4"/>
      </a:hlink>
      <a:folHlink>
        <a:srgbClr val="BFBFBF"/>
      </a:folHlink>
    </a:clrScheme>
    <a:fontScheme name="mgea0xa4">
      <a:majorFont>
        <a:latin typeface="Arial Narrow"/>
        <a:ea typeface="微软雅黑"/>
        <a:cs typeface=""/>
      </a:majorFont>
      <a:minorFont>
        <a:latin typeface="Arial Narrow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12854</Words>
  <Application>WPS 演示</Application>
  <PresentationFormat>宽屏</PresentationFormat>
  <Paragraphs>2742</Paragraphs>
  <Slides>42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50" baseType="lpstr">
      <vt:lpstr>Arial</vt:lpstr>
      <vt:lpstr>宋体</vt:lpstr>
      <vt:lpstr>Wingdings</vt:lpstr>
      <vt:lpstr>微软雅黑</vt:lpstr>
      <vt:lpstr>Arial Narrow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user0703</dc:creator>
  <cp:lastModifiedBy>黄小P</cp:lastModifiedBy>
  <cp:revision>305</cp:revision>
  <dcterms:created xsi:type="dcterms:W3CDTF">2021-12-18T00:21:00Z</dcterms:created>
  <dcterms:modified xsi:type="dcterms:W3CDTF">2025-06-20T14:28:47Z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C9C460491AD541F4AFF951135C0D03D7_12</vt:lpwstr>
  </property>
  <property fmtid="{D5CDD505-2E9C-101B-9397-08002B2CF9AE}" pid="3" name="KSOProductBuildVer">
    <vt:lpwstr>2052-12.1.0.21541</vt:lpwstr>
  </property>
</Properties>
</file>